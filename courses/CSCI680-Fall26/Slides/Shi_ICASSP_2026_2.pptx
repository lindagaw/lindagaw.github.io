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75507"/>
  </p:normalViewPr>
  <p:slideViewPr>
    <p:cSldViewPr snapToGrid="0" snapToObjects="1">
      <p:cViewPr varScale="1">
        <p:scale>
          <a:sx n="95" d="100"/>
          <a:sy n="95" d="100"/>
        </p:scale>
        <p:origin x="1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CLAP-PANN-14 Average Accuracy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PANN-14 Avg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CLAP</c:v>
                </c:pt>
                <c:pt idx="1">
                  <c:v>CoOp</c:v>
                </c:pt>
                <c:pt idx="2">
                  <c:v>CoCoOp</c:v>
                </c:pt>
                <c:pt idx="3">
                  <c:v>Treff</c:v>
                </c:pt>
                <c:pt idx="4">
                  <c:v>TPT</c:v>
                </c:pt>
                <c:pt idx="5">
                  <c:v>Emo-TTA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31.37</c:v>
                </c:pt>
                <c:pt idx="1">
                  <c:v>31.71</c:v>
                </c:pt>
                <c:pt idx="2">
                  <c:v>33.26</c:v>
                </c:pt>
                <c:pt idx="3">
                  <c:v>36.11</c:v>
                </c:pt>
                <c:pt idx="4">
                  <c:v>34.03</c:v>
                </c:pt>
                <c:pt idx="5">
                  <c:v>38.020000000000003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CF-E64E-BE06-03DF92FDB5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2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CLAP-HTSAT Average Accuracy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HTSAT Avg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CLAP</c:v>
                </c:pt>
                <c:pt idx="1">
                  <c:v>CoOp</c:v>
                </c:pt>
                <c:pt idx="2">
                  <c:v>CoCoOp</c:v>
                </c:pt>
                <c:pt idx="3">
                  <c:v>Treff</c:v>
                </c:pt>
                <c:pt idx="4">
                  <c:v>TPT</c:v>
                </c:pt>
                <c:pt idx="5">
                  <c:v>MTA</c:v>
                </c:pt>
                <c:pt idx="6">
                  <c:v>ZERO</c:v>
                </c:pt>
                <c:pt idx="7">
                  <c:v>Emo-TTA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32.57</c:v>
                </c:pt>
                <c:pt idx="1">
                  <c:v>32.17</c:v>
                </c:pt>
                <c:pt idx="2">
                  <c:v>34.18</c:v>
                </c:pt>
                <c:pt idx="3">
                  <c:v>37.1</c:v>
                </c:pt>
                <c:pt idx="4">
                  <c:v>34.96</c:v>
                </c:pt>
                <c:pt idx="5">
                  <c:v>36.04</c:v>
                </c:pt>
                <c:pt idx="6">
                  <c:v>35.69</c:v>
                </c:pt>
                <c:pt idx="7">
                  <c:v>40.47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80-BF4A-BEA7-0CB3E159A6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"/>
          <c:min val="3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Average OOD Accuracy (3 Datasets)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CLAP</c:v>
                </c:pt>
                <c:pt idx="1">
                  <c:v>Pengi</c:v>
                </c:pt>
                <c:pt idx="2">
                  <c:v>Whisper-v2</c:v>
                </c:pt>
                <c:pt idx="3">
                  <c:v>SELM</c:v>
                </c:pt>
                <c:pt idx="4">
                  <c:v>Emo-TTA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29.09</c:v>
                </c:pt>
                <c:pt idx="1">
                  <c:v>30.72</c:v>
                </c:pt>
                <c:pt idx="2">
                  <c:v>31.16</c:v>
                </c:pt>
                <c:pt idx="3">
                  <c:v>35.770000000000003</c:v>
                </c:pt>
                <c:pt idx="4">
                  <c:v>40.049999999999997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5E-444A-B36D-C25F9E9235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"/>
          <c:min val="2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Average Accuracy After Removing Components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Full</c:v>
                </c:pt>
                <c:pt idx="1">
                  <c:v>No mean update</c:v>
                </c:pt>
                <c:pt idx="2">
                  <c:v>No covariance</c:v>
                </c:pt>
                <c:pt idx="3">
                  <c:v>No ALM priors</c:v>
                </c:pt>
                <c:pt idx="4">
                  <c:v>Zero-shot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40.049999999999997</c:v>
                </c:pt>
                <c:pt idx="1">
                  <c:v>38.4</c:v>
                </c:pt>
                <c:pt idx="2">
                  <c:v>33.64</c:v>
                </c:pt>
                <c:pt idx="3">
                  <c:v>34.51</c:v>
                </c:pt>
                <c:pt idx="4">
                  <c:v>29.09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BF-D446-AEBC-1B7C0B8196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"/>
          <c:min val="2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2659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altLang="zh-CN" dirty="0"/>
            </a:b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563EB"/>
                </a:solidFill>
              </a:rPr>
              <a:t>EMO-TTA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141732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</a:rPr>
              <a:t>Improving Test-Time Adaptation of Audio-Language Models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</a:rPr>
              <a:t>for Speech Emotion Recognition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</a:rPr>
              <a:t>Jiacheng Shi, Hongfei Du, Y. Alicia Hong, Ye Gao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1272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College of William &amp; Mary · George Mason University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3977640"/>
            <a:ext cx="1554480" cy="411480"/>
          </a:xfrm>
          <a:prstGeom prst="roundRect">
            <a:avLst>
              <a:gd name="adj" fmla="val 5555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58952" y="402336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Training-free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3977640"/>
            <a:ext cx="2011680" cy="411480"/>
          </a:xfrm>
          <a:prstGeom prst="roundRect">
            <a:avLst>
              <a:gd name="adj" fmla="val 55556"/>
            </a:avLst>
          </a:prstGeom>
          <a:solidFill>
            <a:srgbClr val="E9F7F3"/>
          </a:solidFill>
          <a:ln w="12700">
            <a:solidFill>
              <a:srgbClr val="E9F7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542032" y="40233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</a:rPr>
              <a:t>Single-sample TTA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3977640"/>
            <a:ext cx="1828800" cy="411480"/>
          </a:xfrm>
          <a:prstGeom prst="roundRect">
            <a:avLst>
              <a:gd name="adj" fmla="val 55556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782312" y="402336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</a:rPr>
              <a:t>No model updates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3977640"/>
            <a:ext cx="1234440" cy="411480"/>
          </a:xfrm>
          <a:prstGeom prst="roundRect">
            <a:avLst>
              <a:gd name="adj" fmla="val 55556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839712" y="4023360"/>
            <a:ext cx="1088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8A00"/>
                </a:solidFill>
              </a:rPr>
              <a:t>OOD SER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4983480"/>
            <a:ext cx="11887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024128" y="5056632"/>
            <a:ext cx="96926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Audio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stream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48840" y="5321808"/>
            <a:ext cx="7315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2926080" y="4983480"/>
            <a:ext cx="11887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3035808" y="5056632"/>
            <a:ext cx="96926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Frozen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ALM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60520" y="5321808"/>
            <a:ext cx="73152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937760" y="4983480"/>
            <a:ext cx="1371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EA8A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047488" y="5056632"/>
            <a:ext cx="115214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Streaming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EM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55080" y="5321808"/>
            <a:ext cx="731520" cy="0"/>
          </a:xfrm>
          <a:prstGeom prst="line">
            <a:avLst/>
          </a:prstGeom>
          <a:noFill/>
          <a:ln w="25400">
            <a:solidFill>
              <a:srgbClr val="EA8A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7132320" y="4983480"/>
            <a:ext cx="146304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242048" y="5056632"/>
            <a:ext cx="124358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Emotion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prediction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6309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ICASSP 2026 Oral Presentation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Background: Audio–Language Models for SER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201400" cy="0"/>
          </a:xfrm>
          <a:prstGeom prst="line">
            <a:avLst/>
          </a:prstGeom>
          <a:noFill/>
          <a:ln w="27940">
            <a:solidFill>
              <a:srgbClr val="2563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CLAP-style models classify emotions by matching audio embeddings with emotion text prototypes.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EMO-TTA: Training-Free Test-Time Adaptation for SER · ICASSP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6716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Zero-shot emotion recognition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636776"/>
            <a:ext cx="41148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40080" y="2139696"/>
            <a:ext cx="1188720" cy="685800"/>
          </a:xfrm>
          <a:prstGeom prst="roundRect">
            <a:avLst>
              <a:gd name="adj" fmla="val 16000"/>
            </a:avLst>
          </a:prstGeom>
          <a:solidFill>
            <a:srgbClr val="EAF3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49808" y="2212848"/>
            <a:ext cx="96926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Test audio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aₜ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423160" y="2139696"/>
            <a:ext cx="12801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532888" y="2212848"/>
            <a:ext cx="106070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Audio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encoder f(·)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828800" y="2487168"/>
            <a:ext cx="57607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251960" y="2139696"/>
            <a:ext cx="1261872" cy="685800"/>
          </a:xfrm>
          <a:prstGeom prst="roundRect">
            <a:avLst>
              <a:gd name="adj" fmla="val 16000"/>
            </a:avLst>
          </a:prstGeom>
          <a:solidFill>
            <a:srgbClr val="EAF3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314378" y="2206488"/>
            <a:ext cx="117043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Embedding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703320" y="2487168"/>
            <a:ext cx="53035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40080" y="3831336"/>
            <a:ext cx="1188720" cy="914400"/>
          </a:xfrm>
          <a:prstGeom prst="roundRect">
            <a:avLst>
              <a:gd name="adj" fmla="val 12000"/>
            </a:avLst>
          </a:prstGeom>
          <a:solidFill>
            <a:srgbClr val="E9F7F3"/>
          </a:solidFill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40080" y="3914427"/>
            <a:ext cx="119786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</a:rPr>
              <a:t>Text prompts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</a:rPr>
              <a:t>“This is a happy sound”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23160" y="3922776"/>
            <a:ext cx="12801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2532888" y="3995928"/>
            <a:ext cx="106070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Text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encoder g(·)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837944" y="4261104"/>
            <a:ext cx="566928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251960" y="3922776"/>
            <a:ext cx="1280160" cy="685800"/>
          </a:xfrm>
          <a:prstGeom prst="roundRect">
            <a:avLst>
              <a:gd name="adj" fmla="val 16000"/>
            </a:avLst>
          </a:prstGeom>
          <a:solidFill>
            <a:srgbClr val="E9F7F3"/>
          </a:solidFill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361688" y="3995928"/>
            <a:ext cx="106070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Class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prototypes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703320" y="4261104"/>
            <a:ext cx="530352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806440" y="2971800"/>
            <a:ext cx="1417320" cy="868680"/>
          </a:xfrm>
          <a:prstGeom prst="roundRect">
            <a:avLst>
              <a:gd name="adj" fmla="val 12632"/>
            </a:avLst>
          </a:prstGeom>
          <a:solidFill>
            <a:srgbClr val="FFF7ED"/>
          </a:solidFill>
          <a:ln w="15240">
            <a:solidFill>
              <a:srgbClr val="EA8A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5916168" y="3044952"/>
            <a:ext cx="1197864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Cosine similarity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+ softmax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532120" y="2459736"/>
            <a:ext cx="272730" cy="91440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 flipV="1">
            <a:off x="5532120" y="3511296"/>
            <a:ext cx="272730" cy="749807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7635240" y="2971800"/>
            <a:ext cx="1188720" cy="868680"/>
          </a:xfrm>
          <a:prstGeom prst="roundRect">
            <a:avLst>
              <a:gd name="adj" fmla="val 12632"/>
            </a:avLst>
          </a:prstGeom>
          <a:solidFill>
            <a:srgbClr val="F0FDF4"/>
          </a:solidFill>
          <a:ln w="152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7744968" y="3044952"/>
            <a:ext cx="969264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Emotion label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223760" y="3401568"/>
            <a:ext cx="384048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144000" y="13258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But deployment is different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144000" y="1636776"/>
            <a:ext cx="2834640" cy="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9144000" y="1920240"/>
            <a:ext cx="274320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</a:rPr>
              <a:t>OOD shifts: </a:t>
            </a:r>
            <a:r>
              <a:rPr lang="en-US" sz="1700" dirty="0">
                <a:solidFill>
                  <a:srgbClr val="111827"/>
                </a:solidFill>
              </a:rPr>
              <a:t>speaker, channel, noise, language, label taxonomy
</a:t>
            </a:r>
            <a:r>
              <a:rPr lang="en-US" sz="1700" b="1" dirty="0">
                <a:solidFill>
                  <a:srgbClr val="111827"/>
                </a:solidFill>
              </a:rPr>
              <a:t>SER is ambiguous: </a:t>
            </a:r>
            <a:r>
              <a:rPr lang="en-US" sz="1700" dirty="0">
                <a:solidFill>
                  <a:srgbClr val="111827"/>
                </a:solidFill>
              </a:rPr>
              <a:t>emotion is less structured than ASR
</a:t>
            </a:r>
            <a:r>
              <a:rPr lang="en-US" sz="1700" b="1" dirty="0">
                <a:solidFill>
                  <a:srgbClr val="111827"/>
                </a:solidFill>
              </a:rPr>
              <a:t>Frozen ALMs degrade: </a:t>
            </a:r>
            <a:r>
              <a:rPr lang="en-US" sz="1700" dirty="0">
                <a:solidFill>
                  <a:srgbClr val="111827"/>
                </a:solidFill>
              </a:rPr>
              <a:t>zero-shot similarity alone is brittle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9144000" y="4709160"/>
            <a:ext cx="2834640" cy="777240"/>
          </a:xfrm>
          <a:prstGeom prst="roundRect">
            <a:avLst>
              <a:gd name="adj" fmla="val 14118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9253728" y="4782312"/>
            <a:ext cx="261518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</a:rPr>
              <a:t>Question: Can we adapt at test time without training or buffering?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Motivation: Practical TTA Has Stricter Requirements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201400" cy="0"/>
          </a:xfrm>
          <a:prstGeom prst="line">
            <a:avLst/>
          </a:prstGeom>
          <a:noFill/>
          <a:ln w="27940">
            <a:solidFill>
              <a:srgbClr val="2563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EMO-TTA: Training-Free Test-Time Adaptation for SER · ICASSP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56716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</a:rPr>
              <a:t>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8A00"/>
                </a:solidFill>
              </a:rPr>
              <a:t>Existing TTA directions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545336"/>
            <a:ext cx="3566160" cy="0"/>
          </a:xfrm>
          <a:prstGeom prst="line">
            <a:avLst/>
          </a:prstGeom>
          <a:noFill/>
          <a:ln w="15240">
            <a:solidFill>
              <a:srgbClr val="EA8A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2560320" cy="640080"/>
          </a:xfrm>
          <a:prstGeom prst="roundRect">
            <a:avLst>
              <a:gd name="adj" fmla="val 17143"/>
            </a:avLst>
          </a:prstGeom>
          <a:solidFill>
            <a:srgbClr val="FFF7ED"/>
          </a:solidFill>
          <a:ln w="15240">
            <a:solidFill>
              <a:srgbClr val="EA8A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41248" y="1901952"/>
            <a:ext cx="234086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Prompt / adapter tuning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2560320" cy="640080"/>
          </a:xfrm>
          <a:prstGeom prst="roundRect">
            <a:avLst>
              <a:gd name="adj" fmla="val 17143"/>
            </a:avLst>
          </a:prstGeom>
          <a:solidFill>
            <a:srgbClr val="FFF7ED"/>
          </a:solidFill>
          <a:ln w="15240">
            <a:solidFill>
              <a:srgbClr val="EA8A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41248" y="2816352"/>
            <a:ext cx="234086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Batch-wise entropy minimization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2560320" cy="640080"/>
          </a:xfrm>
          <a:prstGeom prst="roundRect">
            <a:avLst>
              <a:gd name="adj" fmla="val 17143"/>
            </a:avLst>
          </a:prstGeom>
          <a:solidFill>
            <a:srgbClr val="FFF7ED"/>
          </a:solidFill>
          <a:ln w="15240">
            <a:solidFill>
              <a:srgbClr val="EA8A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41248" y="3730752"/>
            <a:ext cx="234086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Retrieval / heuristic calibration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37560" y="2148840"/>
            <a:ext cx="8686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337560" y="3063240"/>
            <a:ext cx="8686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3337560" y="3977640"/>
            <a:ext cx="8686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434840" y="1234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Deployment friction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34840" y="1545336"/>
            <a:ext cx="2926080" cy="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389120" y="1828800"/>
            <a:ext cx="2377440" cy="685800"/>
          </a:xfrm>
          <a:prstGeom prst="roundRect">
            <a:avLst>
              <a:gd name="adj" fmla="val 16000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498848" y="1901952"/>
            <a:ext cx="215798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Requires updates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→ latency / instability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389120" y="2788920"/>
            <a:ext cx="2377440" cy="685800"/>
          </a:xfrm>
          <a:prstGeom prst="roundRect">
            <a:avLst>
              <a:gd name="adj" fmla="val 16000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498848" y="2862072"/>
            <a:ext cx="215798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Needs test batches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→ buffering / privacy issues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389120" y="3749040"/>
            <a:ext cx="2377440" cy="685800"/>
          </a:xfrm>
          <a:prstGeom prst="roundRect">
            <a:avLst>
              <a:gd name="adj" fmla="val 16000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498848" y="3822192"/>
            <a:ext cx="215798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No explicit distribution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→ weak adaptation signal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818120" y="1234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Emo-TTA target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818120" y="1545336"/>
            <a:ext cx="329184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7726680" y="1874520"/>
            <a:ext cx="2560320" cy="594360"/>
          </a:xfrm>
          <a:prstGeom prst="roundRect">
            <a:avLst>
              <a:gd name="adj" fmla="val 18462"/>
            </a:avLst>
          </a:prstGeom>
          <a:solidFill>
            <a:srgbClr val="E9F7F3"/>
          </a:solidFill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7836408" y="1947672"/>
            <a:ext cx="234086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Training-free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726680" y="2697480"/>
            <a:ext cx="2560320" cy="594360"/>
          </a:xfrm>
          <a:prstGeom prst="roundRect">
            <a:avLst>
              <a:gd name="adj" fmla="val 18462"/>
            </a:avLst>
          </a:prstGeom>
          <a:solidFill>
            <a:srgbClr val="E9F7F3"/>
          </a:solidFill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7836408" y="2770632"/>
            <a:ext cx="234086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Single-sample adaptation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726680" y="3520440"/>
            <a:ext cx="2560320" cy="594360"/>
          </a:xfrm>
          <a:prstGeom prst="roundRect">
            <a:avLst>
              <a:gd name="adj" fmla="val 18462"/>
            </a:avLst>
          </a:prstGeom>
          <a:solidFill>
            <a:srgbClr val="E9F7F3"/>
          </a:solidFill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7836408" y="3593592"/>
            <a:ext cx="234086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Explicit test distribution estimation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726680" y="4636008"/>
            <a:ext cx="3611880" cy="777240"/>
          </a:xfrm>
          <a:prstGeom prst="roundRect">
            <a:avLst>
              <a:gd name="adj" fmla="val 14118"/>
            </a:avLst>
          </a:prstGeom>
          <a:solidFill>
            <a:srgbClr val="F8FAFC"/>
          </a:solidFill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7836408" y="4709160"/>
            <a:ext cx="339242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No source data · No weight updates · No sample storage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Idea: Estimate the Test-Time Emotion Distribution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201400" cy="0"/>
          </a:xfrm>
          <a:prstGeom prst="line">
            <a:avLst/>
          </a:prstGeom>
          <a:noFill/>
          <a:ln w="27940">
            <a:solidFill>
              <a:srgbClr val="2563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EMO-TTA: Training-Free Test-Time Adaptation for SER · ICASSP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56716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</a:rPr>
              <a:t>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10515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updating the model, update the statistics around emotion prototypes.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210312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EAF3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95528" y="2176272"/>
            <a:ext cx="124358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Frozen ALM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embedding Fₜ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194560" y="2487168"/>
            <a:ext cx="7772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017520" y="2103120"/>
            <a:ext cx="1828800" cy="777240"/>
          </a:xfrm>
          <a:prstGeom prst="roundRect">
            <a:avLst>
              <a:gd name="adj" fmla="val 14118"/>
            </a:avLst>
          </a:prstGeom>
          <a:solidFill>
            <a:srgbClr val="E9F7F3"/>
          </a:solidFill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127248" y="2176272"/>
            <a:ext cx="160934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Initialize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μᵧ = text prototype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92040" y="2487168"/>
            <a:ext cx="77724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715000" y="2103120"/>
            <a:ext cx="1874520" cy="777240"/>
          </a:xfrm>
          <a:prstGeom prst="roundRect">
            <a:avLst>
              <a:gd name="adj" fmla="val 14118"/>
            </a:avLst>
          </a:prstGeom>
          <a:solidFill>
            <a:srgbClr val="FFF7ED"/>
          </a:solidFill>
          <a:ln w="15240">
            <a:solidFill>
              <a:srgbClr val="EA8A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824728" y="2176272"/>
            <a:ext cx="165506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E-step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soft responsibility γᵧ,ₜ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635240" y="2487168"/>
            <a:ext cx="777240" cy="0"/>
          </a:xfrm>
          <a:prstGeom prst="line">
            <a:avLst/>
          </a:prstGeom>
          <a:noFill/>
          <a:ln w="25400">
            <a:solidFill>
              <a:srgbClr val="EA8A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458200" y="2103120"/>
            <a:ext cx="1691640" cy="777240"/>
          </a:xfrm>
          <a:prstGeom prst="roundRect">
            <a:avLst>
              <a:gd name="adj" fmla="val 14118"/>
            </a:avLst>
          </a:prstGeom>
          <a:solidFill>
            <a:srgbClr val="F0FDF4"/>
          </a:solidFill>
          <a:ln w="152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567928" y="2176272"/>
            <a:ext cx="147218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M-step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update μ, Σ, π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195560" y="2487168"/>
            <a:ext cx="73152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10789920" y="2103120"/>
            <a:ext cx="1005840" cy="777240"/>
          </a:xfrm>
          <a:prstGeom prst="roundRect">
            <a:avLst>
              <a:gd name="adj" fmla="val 14118"/>
            </a:avLst>
          </a:prstGeom>
          <a:solidFill>
            <a:srgbClr val="F3E8FF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899648" y="2176272"/>
            <a:ext cx="78638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Prediction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CLAP + GDA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703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Streaming EM in CLAP embedding space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4014216"/>
            <a:ext cx="50292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005840" y="4206240"/>
            <a:ext cx="4114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p(Fₜ | y) = 𝒩(Fₜ | μᵧ, Σ)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05840" y="4800600"/>
            <a:ext cx="4206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γᵧ,ₜ ∝ πᵧ · 𝒩(Fₜ | μᵧ, Σ)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92240" y="3703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Why this helps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92240" y="4014216"/>
            <a:ext cx="502920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400800" y="4206240"/>
            <a:ext cx="1737360" cy="777240"/>
          </a:xfrm>
          <a:prstGeom prst="roundRect">
            <a:avLst>
              <a:gd name="adj" fmla="val 14118"/>
            </a:avLst>
          </a:prstGeom>
          <a:solidFill>
            <a:srgbClr val="E9F7F3"/>
          </a:solidFill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510528" y="4279392"/>
            <a:ext cx="151790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Distribution-aware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not just heuristic smoothing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275320" y="4206240"/>
            <a:ext cx="1737360" cy="777240"/>
          </a:xfrm>
          <a:prstGeom prst="roundRect">
            <a:avLst>
              <a:gd name="adj" fmla="val 14118"/>
            </a:avLst>
          </a:prstGeom>
          <a:solidFill>
            <a:srgbClr val="EAF3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385048" y="4279392"/>
            <a:ext cx="151790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Incremental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works with streaming tests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149840" y="4206240"/>
            <a:ext cx="1554480" cy="777240"/>
          </a:xfrm>
          <a:prstGeom prst="roundRect">
            <a:avLst>
              <a:gd name="adj" fmla="val 14118"/>
            </a:avLst>
          </a:prstGeom>
          <a:solidFill>
            <a:srgbClr val="F3E8FF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0259568" y="4279392"/>
            <a:ext cx="133502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Model-preserving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no gradient update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 Overview: Emo-TTA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201400" cy="0"/>
          </a:xfrm>
          <a:prstGeom prst="line">
            <a:avLst/>
          </a:prstGeom>
          <a:noFill/>
          <a:ln w="27940">
            <a:solidFill>
              <a:srgbClr val="2563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EMO-TTA: Training-Free Test-Time Adaptation for SER · ICASSP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56716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</a:rPr>
              <a:t>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0789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frozen ALM provides semantic anchors; streaming EM adapts class statistics online.</a:t>
            </a:r>
            <a:endParaRPr lang="en-US" sz="2000" dirty="0"/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F960EAF0-FA37-7689-8CD7-93BFBA00B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215" y="2062965"/>
            <a:ext cx="8813089" cy="34790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Emo-TTA as Gaussian Discriminant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201400" cy="0"/>
          </a:xfrm>
          <a:prstGeom prst="line">
            <a:avLst/>
          </a:prstGeom>
          <a:noFill/>
          <a:ln w="27940">
            <a:solidFill>
              <a:srgbClr val="2563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EMO-TTA: Training-Free Test-Time Adaptation for SER · ICASSP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56716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</a:rPr>
              <a:t>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0698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estimate class-conditional distributions in the frozen ALM embedding space.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Class likelihood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093976"/>
            <a:ext cx="393192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42062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p(Fₜ | y) = 𝒩(Fₜ | μᵧ, Σ)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3063240"/>
            <a:ext cx="3749040" cy="96012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524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78408" y="3136392"/>
            <a:ext cx="3529584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</a:rPr>
              <a:t>Fₜ = CLAP audio embedding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</a:rPr>
              <a:t>μᵧ = emotion prototype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</a:rPr>
              <a:t>Σ = shared covariance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17830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8A00"/>
                </a:solidFill>
              </a:rPr>
              <a:t>Posterior responsibility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0" y="2093976"/>
            <a:ext cx="5303520" cy="0"/>
          </a:xfrm>
          <a:prstGeom prst="line">
            <a:avLst/>
          </a:prstGeom>
          <a:noFill/>
          <a:ln w="15240">
            <a:solidFill>
              <a:srgbClr val="EA8A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349240" y="2331720"/>
            <a:ext cx="59436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γᵧ,ₜ = πᵧ𝒩(Fₜ|μᵧ,Σ) / Σⱼ πⱼ𝒩(Fₜ|μⱼ,Σ)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9280" y="3154680"/>
            <a:ext cx="4937760" cy="731520"/>
          </a:xfrm>
          <a:prstGeom prst="roundRect">
            <a:avLst>
              <a:gd name="adj" fmla="val 15000"/>
            </a:avLst>
          </a:prstGeom>
          <a:solidFill>
            <a:srgbClr val="FFF7ED"/>
          </a:solidFill>
          <a:ln w="15240">
            <a:solidFill>
              <a:srgbClr val="EA8A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779008" y="3227832"/>
            <a:ext cx="471830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γᵧ,ₜ softly assigns each test sample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to emotion classes during inference.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45262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Prediction rule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837176"/>
            <a:ext cx="438912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85800" y="5148071"/>
            <a:ext cx="46177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y* = argmaxᵧ [ log πᵧ − ½(Fₜ−μᵧ)ᵀΣ⁻¹(Fₜ−μᵧ) ]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88482" y="4741164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E9F7F3"/>
          </a:solidFill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998210" y="4814316"/>
            <a:ext cx="270662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Intuition: nearest emotion distribution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under Mahalanobis distance.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Stabilizing TTA with ALM Priors and Confidence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201400" cy="0"/>
          </a:xfrm>
          <a:prstGeom prst="line">
            <a:avLst/>
          </a:prstGeom>
          <a:noFill/>
          <a:ln w="27940">
            <a:solidFill>
              <a:srgbClr val="2563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EMO-TTA: Training-Free Test-Time Adaptation for SER · ICASSP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56716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</a:rPr>
              <a:t>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698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test samples can be uncertain; Emo-TTA uses CLAP confidence to control how much each sample updates the distribution.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Confidence from entropy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093976"/>
            <a:ext cx="420624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420624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H(aₜ) = −Σᵧ P_CLAP(y|aₜ) log P_CLAP(y|aₜ)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983330"/>
            <a:ext cx="254044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w(H) = exp(−βH)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" y="3749040"/>
            <a:ext cx="4206240" cy="914400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78408" y="3822192"/>
            <a:ext cx="398678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</a:rPr>
              <a:t>Low entropy → confident → stronger update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</a:rPr>
              <a:t>High entropy → uncertain → weaker update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63640" y="17830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Incremental update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2093976"/>
            <a:ext cx="5120640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172200" y="2331720"/>
            <a:ext cx="44805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μᵧ ← (Nᵧμᵧ + w(H)γᵧ,ₜFₜ) / (Nᵧ + w(H)γᵧ,ₜ)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72200" y="3017520"/>
            <a:ext cx="2885784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Nᵧ ← Nᵧ + w(H)γᵧ,ₜ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63640" y="3749040"/>
            <a:ext cx="4480560" cy="91440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152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373368" y="3822192"/>
            <a:ext cx="426110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</a:rPr>
              <a:t>Semantic grounding from text prototypes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</a:rPr>
              <a:t>+ drift control from confidence weighting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5148071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Final fusion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flipV="1">
            <a:off x="868680" y="5443065"/>
            <a:ext cx="420624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206611" y="5641848"/>
            <a:ext cx="4031311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logitsᵧ = TᵧᵀF + α(wᵧᵀF + bᵧ)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Algorithm: Single-Sample Streaming Emo-TTA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201400" cy="0"/>
          </a:xfrm>
          <a:prstGeom prst="line">
            <a:avLst/>
          </a:prstGeom>
          <a:noFill/>
          <a:ln w="27940">
            <a:solidFill>
              <a:srgbClr val="2563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EMO-TTA: Training-Free Test-Time Adaptation for SER · ICASSP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56716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</a:rPr>
              <a:t>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incoming test utterance, Emo-TTA performs one lightweight EM update and predicts immediately.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05256" y="1965960"/>
            <a:ext cx="1828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1783080"/>
            <a:ext cx="553609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481328" y="1856232"/>
            <a:ext cx="541306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</a:rPr>
              <a:t>Encode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</a:rPr>
              <a:t>Extract CLAP audio embedding Fₜ from test audio aₜ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96696" y="2331720"/>
            <a:ext cx="0" cy="32004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77240" y="2788920"/>
            <a:ext cx="438912" cy="438912"/>
          </a:xfrm>
          <a:prstGeom prst="ellipse">
            <a:avLst/>
          </a:prstGeom>
          <a:solidFill>
            <a:srgbClr val="EA8A00"/>
          </a:solidFill>
          <a:ln w="12700">
            <a:solidFill>
              <a:srgbClr val="EA8A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05256" y="2880360"/>
            <a:ext cx="1828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71600" y="2697480"/>
            <a:ext cx="553609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5240">
            <a:solidFill>
              <a:srgbClr val="EA8A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481328" y="2770632"/>
            <a:ext cx="541306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</a:rPr>
              <a:t>E-step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</a:rPr>
              <a:t>Compute responsibility γᵧ,ₜ using current Gaussian statistics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96696" y="3246120"/>
            <a:ext cx="0" cy="32004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77240" y="3703320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05256" y="3794760"/>
            <a:ext cx="1828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371600" y="3611880"/>
            <a:ext cx="553609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481328" y="3685032"/>
            <a:ext cx="541306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</a:rPr>
              <a:t>Confidence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</a:rPr>
              <a:t>Weight the update by entropy-based confidence w(H)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96696" y="4160520"/>
            <a:ext cx="0" cy="32004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77240" y="4617720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05256" y="4709160"/>
            <a:ext cx="1828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371600" y="4526280"/>
            <a:ext cx="553609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481328" y="4599432"/>
            <a:ext cx="541306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</a:rPr>
              <a:t>M-step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</a:rPr>
              <a:t>Update class prior πᵧ, mean μᵧ, and covariance Σ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96696" y="5074920"/>
            <a:ext cx="0" cy="32004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777240" y="5532120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05256" y="5623560"/>
            <a:ext cx="1828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371600" y="5440680"/>
            <a:ext cx="553609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481328" y="5513832"/>
            <a:ext cx="541306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</a:rPr>
              <a:t>Predict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</a:rPr>
              <a:t>Fuse CLAP logits with GDA logits for final emotion label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Experimental Setup: Out-of-Domain SER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201400" cy="0"/>
          </a:xfrm>
          <a:prstGeom prst="line">
            <a:avLst/>
          </a:prstGeom>
          <a:noFill/>
          <a:ln w="27940">
            <a:solidFill>
              <a:srgbClr val="2563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EMO-TTA: Training-Free Test-Time Adaptation for SER · ICASSP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56716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</a:rPr>
              <a:t>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515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focuses on cross-corpus robustness under distribution shift.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Six SER benchmarks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093976"/>
            <a:ext cx="521208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22960" y="2331720"/>
            <a:ext cx="1417320" cy="594360"/>
          </a:xfrm>
          <a:prstGeom prst="roundRect">
            <a:avLst>
              <a:gd name="adj" fmla="val 18462"/>
            </a:avLst>
          </a:prstGeom>
          <a:solidFill>
            <a:srgbClr val="EAF3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32688" y="2404872"/>
            <a:ext cx="119786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IEMOCAP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dialogue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14600" y="2331720"/>
            <a:ext cx="1417320" cy="594360"/>
          </a:xfrm>
          <a:prstGeom prst="roundRect">
            <a:avLst>
              <a:gd name="adj" fmla="val 18462"/>
            </a:avLst>
          </a:prstGeom>
          <a:solidFill>
            <a:srgbClr val="EAF3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624328" y="2404872"/>
            <a:ext cx="119786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MELD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TV dialogue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06240" y="2331720"/>
            <a:ext cx="1417320" cy="594360"/>
          </a:xfrm>
          <a:prstGeom prst="roundRect">
            <a:avLst>
              <a:gd name="adj" fmla="val 18462"/>
            </a:avLst>
          </a:prstGeom>
          <a:solidFill>
            <a:srgbClr val="EAF3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315968" y="2404872"/>
            <a:ext cx="119786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RAVDESS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studio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200400"/>
            <a:ext cx="1417320" cy="594360"/>
          </a:xfrm>
          <a:prstGeom prst="roundRect">
            <a:avLst>
              <a:gd name="adj" fmla="val 18462"/>
            </a:avLst>
          </a:prstGeom>
          <a:solidFill>
            <a:srgbClr val="EAF3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32688" y="3273552"/>
            <a:ext cx="119786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TESS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acted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3200400"/>
            <a:ext cx="1417320" cy="594360"/>
          </a:xfrm>
          <a:prstGeom prst="roundRect">
            <a:avLst>
              <a:gd name="adj" fmla="val 18462"/>
            </a:avLst>
          </a:prstGeom>
          <a:solidFill>
            <a:srgbClr val="EAF3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624328" y="3273552"/>
            <a:ext cx="119786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SAVEE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acted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06240" y="3200400"/>
            <a:ext cx="1417320" cy="594360"/>
          </a:xfrm>
          <a:prstGeom prst="roundRect">
            <a:avLst>
              <a:gd name="adj" fmla="val 18462"/>
            </a:avLst>
          </a:prstGeom>
          <a:solidFill>
            <a:srgbClr val="EAF3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315968" y="3273552"/>
            <a:ext cx="119786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CREMA-D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crowd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17830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Backbones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2093976"/>
            <a:ext cx="448056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583680" y="2331720"/>
            <a:ext cx="1828800" cy="594360"/>
          </a:xfrm>
          <a:prstGeom prst="roundRect">
            <a:avLst>
              <a:gd name="adj" fmla="val 18462"/>
            </a:avLst>
          </a:prstGeom>
          <a:solidFill>
            <a:srgbClr val="E9F7F3"/>
          </a:solidFill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693408" y="2404872"/>
            <a:ext cx="160934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CLAP-PANN-14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732520" y="2331720"/>
            <a:ext cx="1828800" cy="594360"/>
          </a:xfrm>
          <a:prstGeom prst="roundRect">
            <a:avLst>
              <a:gd name="adj" fmla="val 18462"/>
            </a:avLst>
          </a:prstGeom>
          <a:solidFill>
            <a:srgbClr val="E9F7F3"/>
          </a:solidFill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842248" y="2404872"/>
            <a:ext cx="160934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CLAP-HTSAT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1520" y="41605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8A00"/>
                </a:solidFill>
              </a:rPr>
              <a:t>Baselines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" y="4471416"/>
            <a:ext cx="5212080" cy="0"/>
          </a:xfrm>
          <a:prstGeom prst="line">
            <a:avLst/>
          </a:prstGeom>
          <a:noFill/>
          <a:ln w="15240">
            <a:solidFill>
              <a:srgbClr val="EA8A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68680" y="4754880"/>
            <a:ext cx="1508760" cy="365760"/>
          </a:xfrm>
          <a:prstGeom prst="roundRect">
            <a:avLst>
              <a:gd name="adj" fmla="val 625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941832" y="4800600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8A00"/>
                </a:solidFill>
              </a:rPr>
              <a:t>CoOp / CoCoOp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60320" y="4754880"/>
            <a:ext cx="1417320" cy="365760"/>
          </a:xfrm>
          <a:prstGeom prst="roundRect">
            <a:avLst>
              <a:gd name="adj" fmla="val 625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2633472" y="480060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8A00"/>
                </a:solidFill>
              </a:rPr>
              <a:t>Treff-Adapter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60520" y="4754880"/>
            <a:ext cx="685800" cy="365760"/>
          </a:xfrm>
          <a:prstGeom prst="roundRect">
            <a:avLst>
              <a:gd name="adj" fmla="val 625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233672" y="4800600"/>
            <a:ext cx="539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8A00"/>
                </a:solidFill>
              </a:rPr>
              <a:t>TPT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68680" y="5303520"/>
            <a:ext cx="1280160" cy="365760"/>
          </a:xfrm>
          <a:prstGeom prst="roundRect">
            <a:avLst>
              <a:gd name="adj" fmla="val 625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941832" y="534924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8A00"/>
                </a:solidFill>
              </a:rPr>
              <a:t>MTA / ZERO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331720" y="5303520"/>
            <a:ext cx="2148840" cy="365760"/>
          </a:xfrm>
          <a:prstGeom prst="roundRect">
            <a:avLst>
              <a:gd name="adj" fmla="val 625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2404872" y="534924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8A00"/>
                </a:solidFill>
              </a:rPr>
              <a:t>Foundation audio models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41605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Strict setting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00800" y="4471416"/>
            <a:ext cx="4480560" cy="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583680" y="4754880"/>
            <a:ext cx="1325880" cy="502920"/>
          </a:xfrm>
          <a:prstGeom prst="roundRect">
            <a:avLst>
              <a:gd name="adj" fmla="val 21818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693408" y="4828032"/>
            <a:ext cx="110642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Batch size = 1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092440" y="4754880"/>
            <a:ext cx="1691640" cy="502920"/>
          </a:xfrm>
          <a:prstGeom prst="roundRect">
            <a:avLst>
              <a:gd name="adj" fmla="val 21818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202168" y="4828032"/>
            <a:ext cx="147218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No backpropagation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966960" y="4754880"/>
            <a:ext cx="1417320" cy="502920"/>
          </a:xfrm>
          <a:prstGeom prst="roundRect">
            <a:avLst>
              <a:gd name="adj" fmla="val 21818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0076688" y="4828032"/>
            <a:ext cx="119786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No source access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583680" y="5486400"/>
            <a:ext cx="4754880" cy="502920"/>
          </a:xfrm>
          <a:prstGeom prst="roundRect">
            <a:avLst>
              <a:gd name="adj" fmla="val 21818"/>
            </a:avLst>
          </a:prstGeom>
          <a:solidFill>
            <a:srgbClr val="F8FAFC"/>
          </a:solidFill>
          <a:ln w="1524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693408" y="5559552"/>
            <a:ext cx="453542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Metric: mean top-1 accuracy over three runs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Result: Best Training-Free OOD Adaptation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201400" cy="0"/>
          </a:xfrm>
          <a:prstGeom prst="line">
            <a:avLst/>
          </a:prstGeom>
          <a:noFill/>
          <a:ln w="27940">
            <a:solidFill>
              <a:srgbClr val="2563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EMO-TTA: Training-Free Test-Time Adaptation for SER · ICASSP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56716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</a:rPr>
              <a:t>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607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Emo-TTA consistently improves average accuracy over prompt-learning and TTA baselines.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</a:rPr>
              <a:t>+6.65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over zero-shot CLAP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(PANN-14 Avg)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31720" y="1645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</a:rPr>
              <a:t>+7.90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331720" y="2057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over zero-shot CLAP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(HTSAT Avg)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0" y="1645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</a:rPr>
              <a:t>10/12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840480" y="2057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best dataset/backbone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combinations</a:t>
            </a:r>
            <a:endParaRPr lang="en-US" sz="10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731520" y="2788920"/>
          <a:ext cx="502920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"/>
          <p:cNvGraphicFramePr/>
          <p:nvPr/>
        </p:nvGraphicFramePr>
        <p:xfrm>
          <a:off x="6263640" y="2788920"/>
          <a:ext cx="516636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Shape 11"/>
          <p:cNvSpPr/>
          <p:nvPr/>
        </p:nvSpPr>
        <p:spPr>
          <a:xfrm>
            <a:off x="2011680" y="5961888"/>
            <a:ext cx="8138160" cy="384048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524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2"/>
          <p:cNvSpPr/>
          <p:nvPr/>
        </p:nvSpPr>
        <p:spPr>
          <a:xfrm>
            <a:off x="2121408" y="6035040"/>
            <a:ext cx="791870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Key takeaway: explicit test-time distribution estimation outperforms optimization-heavy or heuristic TTA.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Drives the Gain? Foundation Comparison and Ablation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201400" cy="0"/>
          </a:xfrm>
          <a:prstGeom prst="line">
            <a:avLst/>
          </a:prstGeom>
          <a:noFill/>
          <a:ln w="27940">
            <a:solidFill>
              <a:srgbClr val="2563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EMO-TTA: Training-Free Test-Time Adaptation for SER · ICASSP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56716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</a:rPr>
              <a:t>11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Against foundation audio models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545336"/>
            <a:ext cx="521208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" name="Chart 0"/>
          <p:cNvGraphicFramePr/>
          <p:nvPr/>
        </p:nvGraphicFramePr>
        <p:xfrm>
          <a:off x="731520" y="1828800"/>
          <a:ext cx="50292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1188720" y="513892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</a:rPr>
              <a:t>+4.28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188720" y="55504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over SELM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743200" y="513892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</a:rPr>
              <a:t>+10.96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743200" y="55504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over CLAP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00800" y="12344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Ablation: each component matters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0" y="1545336"/>
            <a:ext cx="4846320" cy="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5" name="Chart 1"/>
          <p:cNvGraphicFramePr/>
          <p:nvPr/>
        </p:nvGraphicFramePr>
        <p:xfrm>
          <a:off x="6400800" y="1828800"/>
          <a:ext cx="51206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Shape 12"/>
          <p:cNvSpPr/>
          <p:nvPr/>
        </p:nvSpPr>
        <p:spPr>
          <a:xfrm>
            <a:off x="6720840" y="5138928"/>
            <a:ext cx="4297680" cy="685800"/>
          </a:xfrm>
          <a:prstGeom prst="roundRect">
            <a:avLst>
              <a:gd name="adj" fmla="val 16000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3"/>
          <p:cNvSpPr/>
          <p:nvPr/>
        </p:nvSpPr>
        <p:spPr>
          <a:xfrm>
            <a:off x="6830568" y="5212080"/>
            <a:ext cx="407822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Updating covariance and using ALM priors are critical for stable adaptation under distribution shift.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201400" cy="0"/>
          </a:xfrm>
          <a:prstGeom prst="line">
            <a:avLst/>
          </a:prstGeom>
          <a:noFill/>
          <a:ln w="27940">
            <a:solidFill>
              <a:srgbClr val="2563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EMO-TTA: Training-Free Test-Time Adaptation for SER · ICASSP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567160" y="64648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</a:rPr>
              <a:t>12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10698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Emo-TTA enables practical test-time adaptation for speech emotion recognition under distribution shift.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40280"/>
            <a:ext cx="2834640" cy="109728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24128" y="2313432"/>
            <a:ext cx="2615184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</a:rPr>
              <a:t>1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</a:rPr>
              <a:t>Training-free adaptation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520440"/>
            <a:ext cx="25603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model weight update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source data access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prompt tuning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240280"/>
            <a:ext cx="2834640" cy="1097280"/>
          </a:xfrm>
          <a:prstGeom prst="roundRect">
            <a:avLst>
              <a:gd name="adj" fmla="val 10000"/>
            </a:avLst>
          </a:prstGeom>
          <a:solidFill>
            <a:srgbClr val="E9F7F3"/>
          </a:solidFill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773168" y="2313432"/>
            <a:ext cx="2615184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</a:rPr>
              <a:t>2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</a:rPr>
              <a:t>Streaming distribution estimation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46320" y="3520440"/>
            <a:ext cx="25603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Incremental EM updates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means, covariance, priors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Single-sample operation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12480" y="2240280"/>
            <a:ext cx="2834640" cy="109728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5240">
            <a:solidFill>
              <a:srgbClr val="EA8A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522208" y="2313432"/>
            <a:ext cx="2615184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</a:rPr>
              <a:t>3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</a:rPr>
              <a:t>Robust OOD performance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95360" y="3520440"/>
            <a:ext cx="25603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gains across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SER benchmarks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CLAP backbones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834640" y="5074920"/>
            <a:ext cx="6583680" cy="6858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524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944368" y="5148072"/>
            <a:ext cx="636422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827"/>
                </a:solidFill>
              </a:rPr>
              <a:t>Takeaway: adapt the distribution, not the model.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937760" y="6035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Thank you!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</TotalTime>
  <Words>1058</Words>
  <Application>Microsoft Macintosh PowerPoint</Application>
  <PresentationFormat>宽屏</PresentationFormat>
  <Paragraphs>232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EMO-TTA: Improving Test-Time Adaptation of Audio-Language Models for Speech Emotion Recognition</dc:title>
  <dc:subject>ICASSP 2026 Oral Presentation for Emo-TTA</dc:subject>
  <dc:creator>OpenAI</dc:creator>
  <cp:lastModifiedBy>Jiacheng Shi</cp:lastModifiedBy>
  <cp:revision>15</cp:revision>
  <dcterms:created xsi:type="dcterms:W3CDTF">2026-05-01T14:32:15Z</dcterms:created>
  <dcterms:modified xsi:type="dcterms:W3CDTF">2026-05-22T20:18:47Z</dcterms:modified>
</cp:coreProperties>
</file>