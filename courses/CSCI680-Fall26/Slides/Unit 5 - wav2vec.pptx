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2.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4.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5.xml" ContentType="application/vnd.openxmlformats-officedocument.drawingml.chart+xml"/>
  <Override PartName="/ppt/notesSlides/notesSlide45.xml" ContentType="application/vnd.openxmlformats-officedocument.presentationml.notesSlide+xml"/>
  <Override PartName="/ppt/charts/chart6.xml" ContentType="application/vnd.openxmlformats-officedocument.drawingml.chart+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6B62"/>
                </a:solidFill>
                <a:latin typeface="Calibri"/>
              </a:defRPr>
            </a:pPr>
            <a:r>
              <a:rPr lang="en-US" sz="1200" b="0" i="0" u="none" strike="noStrike">
                <a:solidFill>
                  <a:srgbClr val="4A6B62"/>
                </a:solidFill>
                <a:latin typeface="Calibri"/>
              </a:rPr>
              <a:t>Word error rate against amount of labelled fine-tuning data</a:t>
            </a:r>
          </a:p>
        </c:rich>
      </c:tx>
      <c:overlay val="0"/>
    </c:title>
    <c:autoTitleDeleted val="0"/>
    <c:plotArea>
      <c:layout/>
      <c:barChart>
        <c:barDir val="col"/>
        <c:grouping val="clustered"/>
        <c:varyColors val="0"/>
        <c:ser>
          <c:idx val="0"/>
          <c:order val="0"/>
          <c:tx>
            <c:strRef>
              <c:f>Sheet1!$B$1</c:f>
              <c:strCache>
                <c:ptCount val="1"/>
                <c:pt idx="0">
                  <c:v>test-clean</c:v>
                </c:pt>
              </c:strCache>
            </c:strRef>
          </c:tx>
          <c:spPr>
            <a:solidFill>
              <a:srgbClr val="2E7D5B"/>
            </a:solidFill>
            <a:effectLst/>
          </c:spPr>
          <c:invertIfNegative val="0"/>
          <c:dLbls>
            <c:numFmt formatCode="0.0" sourceLinked="0"/>
            <c:spPr>
              <a:noFill/>
              <a:ln>
                <a:noFill/>
              </a:ln>
              <a:effectLst/>
            </c:spPr>
            <c:txPr>
              <a:bodyPr/>
              <a:lstStyle/>
              <a:p>
                <a:pPr>
                  <a:defRPr sz="105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10 minutes</c:v>
                </c:pt>
                <c:pt idx="1">
                  <c:v>1 hour</c:v>
                </c:pt>
                <c:pt idx="2">
                  <c:v>10 hours</c:v>
                </c:pt>
                <c:pt idx="3">
                  <c:v>100 hours</c:v>
                </c:pt>
              </c:strCache>
            </c:strRef>
          </c:cat>
          <c:val>
            <c:numRef>
              <c:f>Sheet1!$B$2:$B$5</c:f>
              <c:numCache>
                <c:formatCode>General</c:formatCode>
                <c:ptCount val="4"/>
                <c:pt idx="0">
                  <c:v>4.8</c:v>
                </c:pt>
                <c:pt idx="1">
                  <c:v>2.9</c:v>
                </c:pt>
                <c:pt idx="2">
                  <c:v>2.6</c:v>
                </c:pt>
                <c:pt idx="3">
                  <c:v>2</c:v>
                </c:pt>
              </c:numCache>
            </c:numRef>
          </c:val>
          <c:extLst>
            <c:ext xmlns:c16="http://schemas.microsoft.com/office/drawing/2014/chart" uri="{C3380CC4-5D6E-409C-BE32-E72D297353CC}">
              <c16:uniqueId val="{00000000-3131-C248-A478-4EA898D09FFD}"/>
            </c:ext>
          </c:extLst>
        </c:ser>
        <c:ser>
          <c:idx val="1"/>
          <c:order val="1"/>
          <c:tx>
            <c:strRef>
              <c:f>Sheet1!$C$1</c:f>
              <c:strCache>
                <c:ptCount val="1"/>
                <c:pt idx="0">
                  <c:v>test-other</c:v>
                </c:pt>
              </c:strCache>
            </c:strRef>
          </c:tx>
          <c:spPr>
            <a:solidFill>
              <a:srgbClr val="B5623C"/>
            </a:solidFill>
            <a:effectLst/>
          </c:spPr>
          <c:invertIfNegative val="0"/>
          <c:dLbls>
            <c:numFmt formatCode="0.0" sourceLinked="0"/>
            <c:spPr>
              <a:noFill/>
              <a:ln>
                <a:noFill/>
              </a:ln>
              <a:effectLst/>
            </c:spPr>
            <c:txPr>
              <a:bodyPr/>
              <a:lstStyle/>
              <a:p>
                <a:pPr>
                  <a:defRPr sz="105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10 minutes</c:v>
                </c:pt>
                <c:pt idx="1">
                  <c:v>1 hour</c:v>
                </c:pt>
                <c:pt idx="2">
                  <c:v>10 hours</c:v>
                </c:pt>
                <c:pt idx="3">
                  <c:v>100 hours</c:v>
                </c:pt>
              </c:strCache>
            </c:strRef>
          </c:cat>
          <c:val>
            <c:numRef>
              <c:f>Sheet1!$C$2:$C$5</c:f>
              <c:numCache>
                <c:formatCode>General</c:formatCode>
                <c:ptCount val="4"/>
                <c:pt idx="0">
                  <c:v>8.1999999999999993</c:v>
                </c:pt>
                <c:pt idx="1">
                  <c:v>5.8</c:v>
                </c:pt>
                <c:pt idx="2">
                  <c:v>4.9000000000000004</c:v>
                </c:pt>
                <c:pt idx="3">
                  <c:v>4</c:v>
                </c:pt>
              </c:numCache>
            </c:numRef>
          </c:val>
          <c:extLst>
            <c:ext xmlns:c16="http://schemas.microsoft.com/office/drawing/2014/chart" uri="{C3380CC4-5D6E-409C-BE32-E72D297353CC}">
              <c16:uniqueId val="{00000001-3131-C248-A478-4EA898D09FF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C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6B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4A6B62"/>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6B62"/>
                </a:solidFill>
                <a:latin typeface="Calibri"/>
              </a:defRPr>
            </a:pPr>
            <a:r>
              <a:rPr sz="1200" b="0" i="0" u="none" strike="noStrike">
                <a:solidFill>
                  <a:srgbClr val="4A6B62"/>
                </a:solidFill>
                <a:latin typeface="Calibri"/>
              </a:rPr>
              <a:t>Word error rate with the full labelled set (lower is better)</a:t>
            </a:r>
          </a:p>
        </c:rich>
      </c:tx>
      <c:overlay val="0"/>
    </c:title>
    <c:autoTitleDeleted val="0"/>
    <c:plotArea>
      <c:layout/>
      <c:barChart>
        <c:barDir val="col"/>
        <c:grouping val="clustered"/>
        <c:varyColors val="0"/>
        <c:ser>
          <c:idx val="0"/>
          <c:order val="0"/>
          <c:tx>
            <c:strRef>
              <c:f>Sheet1!$B$1</c:f>
              <c:strCache>
                <c:ptCount val="1"/>
                <c:pt idx="0">
                  <c:v>test-clean</c:v>
                </c:pt>
              </c:strCache>
            </c:strRef>
          </c:tx>
          <c:spPr>
            <a:solidFill>
              <a:srgbClr val="2E7D5B"/>
            </a:solidFill>
            <a:effectLst/>
          </c:spPr>
          <c:invertIfNegative val="0"/>
          <c:dLbls>
            <c:numFmt formatCode="0.0" sourceLinked="0"/>
            <c:spPr>
              <a:noFill/>
              <a:ln>
                <a:noFill/>
              </a:ln>
              <a:effectLst/>
            </c:spPr>
            <c:txPr>
              <a:bodyPr/>
              <a:lstStyle/>
              <a:p>
                <a:pPr>
                  <a:defRPr sz="95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Conformer
(supervised)</c:v>
                </c:pt>
                <c:pt idx="1">
                  <c:v>Noisy student
(semi-sup.)</c:v>
                </c:pt>
                <c:pt idx="2">
                  <c:v>LARGE
from scratch</c:v>
                </c:pt>
                <c:pt idx="3">
                  <c:v>BASE
LS-960</c:v>
                </c:pt>
                <c:pt idx="4">
                  <c:v>LARGE
LS-960</c:v>
                </c:pt>
                <c:pt idx="5">
                  <c:v>LARGE
LV-60k</c:v>
                </c:pt>
              </c:strCache>
            </c:strRef>
          </c:cat>
          <c:val>
            <c:numRef>
              <c:f>Sheet1!$B$2:$B$7</c:f>
              <c:numCache>
                <c:formatCode>General</c:formatCode>
                <c:ptCount val="6"/>
                <c:pt idx="0">
                  <c:v>1.9</c:v>
                </c:pt>
                <c:pt idx="1">
                  <c:v>1.7</c:v>
                </c:pt>
                <c:pt idx="2">
                  <c:v>2.1</c:v>
                </c:pt>
                <c:pt idx="3">
                  <c:v>2.1</c:v>
                </c:pt>
                <c:pt idx="4">
                  <c:v>2</c:v>
                </c:pt>
                <c:pt idx="5">
                  <c:v>1.8</c:v>
                </c:pt>
              </c:numCache>
            </c:numRef>
          </c:val>
          <c:extLst>
            <c:ext xmlns:c16="http://schemas.microsoft.com/office/drawing/2014/chart" uri="{C3380CC4-5D6E-409C-BE32-E72D297353CC}">
              <c16:uniqueId val="{00000000-9293-6046-91F7-B0D4EAC4D354}"/>
            </c:ext>
          </c:extLst>
        </c:ser>
        <c:ser>
          <c:idx val="1"/>
          <c:order val="1"/>
          <c:tx>
            <c:strRef>
              <c:f>Sheet1!$C$1</c:f>
              <c:strCache>
                <c:ptCount val="1"/>
                <c:pt idx="0">
                  <c:v>test-other</c:v>
                </c:pt>
              </c:strCache>
            </c:strRef>
          </c:tx>
          <c:spPr>
            <a:solidFill>
              <a:srgbClr val="B5623C"/>
            </a:solidFill>
            <a:effectLst/>
          </c:spPr>
          <c:invertIfNegative val="0"/>
          <c:dLbls>
            <c:numFmt formatCode="0.0" sourceLinked="0"/>
            <c:spPr>
              <a:noFill/>
              <a:ln>
                <a:noFill/>
              </a:ln>
              <a:effectLst/>
            </c:spPr>
            <c:txPr>
              <a:bodyPr/>
              <a:lstStyle/>
              <a:p>
                <a:pPr>
                  <a:defRPr sz="95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Conformer
(supervised)</c:v>
                </c:pt>
                <c:pt idx="1">
                  <c:v>Noisy student
(semi-sup.)</c:v>
                </c:pt>
                <c:pt idx="2">
                  <c:v>LARGE
from scratch</c:v>
                </c:pt>
                <c:pt idx="3">
                  <c:v>BASE
LS-960</c:v>
                </c:pt>
                <c:pt idx="4">
                  <c:v>LARGE
LS-960</c:v>
                </c:pt>
                <c:pt idx="5">
                  <c:v>LARGE
LV-60k</c:v>
                </c:pt>
              </c:strCache>
            </c:strRef>
          </c:cat>
          <c:val>
            <c:numRef>
              <c:f>Sheet1!$C$2:$C$7</c:f>
              <c:numCache>
                <c:formatCode>General</c:formatCode>
                <c:ptCount val="6"/>
                <c:pt idx="0">
                  <c:v>3.9</c:v>
                </c:pt>
                <c:pt idx="1">
                  <c:v>3.4</c:v>
                </c:pt>
                <c:pt idx="2">
                  <c:v>4.5999999999999996</c:v>
                </c:pt>
                <c:pt idx="3">
                  <c:v>4.8</c:v>
                </c:pt>
                <c:pt idx="4">
                  <c:v>4.0999999999999996</c:v>
                </c:pt>
                <c:pt idx="5">
                  <c:v>3.3</c:v>
                </c:pt>
              </c:numCache>
            </c:numRef>
          </c:val>
          <c:extLst>
            <c:ext xmlns:c16="http://schemas.microsoft.com/office/drawing/2014/chart" uri="{C3380CC4-5D6E-409C-BE32-E72D297353CC}">
              <c16:uniqueId val="{00000001-9293-6046-91F7-B0D4EAC4D35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C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6B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4A6B62"/>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6B62"/>
                </a:solidFill>
                <a:latin typeface="Calibri"/>
              </a:defRPr>
            </a:pPr>
            <a:r>
              <a:rPr lang="en-US" sz="1200" b="0" i="0" u="none" strike="noStrike">
                <a:solidFill>
                  <a:srgbClr val="4A6B62"/>
                </a:solidFill>
                <a:latin typeface="Calibri"/>
              </a:rPr>
              <a:t>TIMIT test PER — lower is better</a:t>
            </a:r>
          </a:p>
        </c:rich>
      </c:tx>
      <c:overlay val="0"/>
    </c:title>
    <c:autoTitleDeleted val="0"/>
    <c:plotArea>
      <c:layout/>
      <c:barChart>
        <c:barDir val="bar"/>
        <c:grouping val="clustered"/>
        <c:varyColors val="0"/>
        <c:ser>
          <c:idx val="0"/>
          <c:order val="0"/>
          <c:tx>
            <c:strRef>
              <c:f>Sheet1!$B$1</c:f>
              <c:strCache>
                <c:ptCount val="1"/>
                <c:pt idx="0">
                  <c:v>Test phoneme error rate (%)</c:v>
                </c:pt>
              </c:strCache>
            </c:strRef>
          </c:tx>
          <c:spPr>
            <a:solidFill>
              <a:srgbClr val="2E7D5B"/>
            </a:solidFill>
            <a:effectLst/>
          </c:spPr>
          <c:invertIfNegative val="0"/>
          <c:dLbls>
            <c:numFmt formatCode="0.0" sourceLinked="0"/>
            <c:spPr>
              <a:noFill/>
              <a:ln>
                <a:noFill/>
              </a:ln>
              <a:effectLst/>
            </c:spPr>
            <c:txPr>
              <a:bodyPr/>
              <a:lstStyle/>
              <a:p>
                <a:pPr>
                  <a:defRPr sz="105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CNN + TD-filterbanks</c:v>
                </c:pt>
                <c:pt idx="1">
                  <c:v>PASE+</c:v>
                </c:pt>
                <c:pt idx="2">
                  <c:v>Li-GRU + fMLLR</c:v>
                </c:pt>
                <c:pt idx="3">
                  <c:v>wav2vec</c:v>
                </c:pt>
                <c:pt idx="4">
                  <c:v>vq-wav2vec</c:v>
                </c:pt>
                <c:pt idx="5">
                  <c:v>wav2vec 2.0 LARGE</c:v>
                </c:pt>
              </c:strCache>
            </c:strRef>
          </c:cat>
          <c:val>
            <c:numRef>
              <c:f>Sheet1!$B$2:$B$7</c:f>
              <c:numCache>
                <c:formatCode>General</c:formatCode>
                <c:ptCount val="6"/>
                <c:pt idx="0">
                  <c:v>18</c:v>
                </c:pt>
                <c:pt idx="1">
                  <c:v>17.2</c:v>
                </c:pt>
                <c:pt idx="2">
                  <c:v>14.9</c:v>
                </c:pt>
                <c:pt idx="3">
                  <c:v>14.7</c:v>
                </c:pt>
                <c:pt idx="4">
                  <c:v>11.6</c:v>
                </c:pt>
                <c:pt idx="5">
                  <c:v>8.3000000000000007</c:v>
                </c:pt>
              </c:numCache>
            </c:numRef>
          </c:val>
          <c:extLst>
            <c:ext xmlns:c16="http://schemas.microsoft.com/office/drawing/2014/chart" uri="{C3380CC4-5D6E-409C-BE32-E72D297353CC}">
              <c16:uniqueId val="{00000000-B54B-0E46-B6A3-E53C0DE8270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4EC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4A6B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6B62"/>
                </a:solidFill>
                <a:latin typeface="Calibri"/>
              </a:defRPr>
            </a:pPr>
            <a:r>
              <a:rPr sz="1200" b="0" i="0" u="none" strike="noStrike">
                <a:solidFill>
                  <a:srgbClr val="4A6B62"/>
                </a:solidFill>
                <a:latin typeface="Calibri"/>
              </a:rPr>
              <a:t>Reduced training setup, three seeds — lower is better</a:t>
            </a:r>
          </a:p>
        </c:rich>
      </c:tx>
      <c:overlay val="0"/>
    </c:title>
    <c:autoTitleDeleted val="0"/>
    <c:plotArea>
      <c:layout/>
      <c:barChart>
        <c:barDir val="col"/>
        <c:grouping val="clustered"/>
        <c:varyColors val="0"/>
        <c:ser>
          <c:idx val="0"/>
          <c:order val="0"/>
          <c:tx>
            <c:strRef>
              <c:f>Sheet1!$B$1</c:f>
              <c:strCache>
                <c:ptCount val="1"/>
                <c:pt idx="0">
                  <c:v>Average WER on combined dev sets</c:v>
                </c:pt>
              </c:strCache>
            </c:strRef>
          </c:tx>
          <c:spPr>
            <a:solidFill>
              <a:srgbClr val="2E7D5B"/>
            </a:solidFill>
            <a:effectLst/>
          </c:spPr>
          <c:invertIfNegative val="0"/>
          <c:dLbls>
            <c:numFmt formatCode="0.00" sourceLinked="0"/>
            <c:spPr>
              <a:noFill/>
              <a:ln>
                <a:noFill/>
              </a:ln>
              <a:effectLst/>
            </c:spPr>
            <c:txPr>
              <a:bodyPr/>
              <a:lstStyle/>
              <a:p>
                <a:pPr>
                  <a:defRPr sz="110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Continuous in,
quantised targets</c:v>
                </c:pt>
                <c:pt idx="1">
                  <c:v>Continuous in,
continuous targets</c:v>
                </c:pt>
                <c:pt idx="2">
                  <c:v>Quantised in,
continuous targets</c:v>
                </c:pt>
                <c:pt idx="3">
                  <c:v>Quantised in,
quantised targets</c:v>
                </c:pt>
              </c:strCache>
            </c:strRef>
          </c:cat>
          <c:val>
            <c:numRef>
              <c:f>Sheet1!$B$2:$B$5</c:f>
              <c:numCache>
                <c:formatCode>General</c:formatCode>
                <c:ptCount val="4"/>
                <c:pt idx="0">
                  <c:v>7.97</c:v>
                </c:pt>
                <c:pt idx="1">
                  <c:v>8.58</c:v>
                </c:pt>
                <c:pt idx="2">
                  <c:v>11.18</c:v>
                </c:pt>
                <c:pt idx="3">
                  <c:v>12.18</c:v>
                </c:pt>
              </c:numCache>
            </c:numRef>
          </c:val>
          <c:extLst>
            <c:ext xmlns:c16="http://schemas.microsoft.com/office/drawing/2014/chart" uri="{C3380CC4-5D6E-409C-BE32-E72D297353CC}">
              <c16:uniqueId val="{00000000-71B6-0448-9D16-57E0250397F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C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6B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6B62"/>
                </a:solidFill>
                <a:latin typeface="Calibri"/>
              </a:defRPr>
            </a:pPr>
            <a:r>
              <a:rPr sz="1200" b="0" i="0" u="none" strike="noStrike">
                <a:solidFill>
                  <a:srgbClr val="4A6B62"/>
                </a:solidFill>
                <a:latin typeface="Calibri"/>
              </a:rPr>
              <a:t>Four-class emotion recognition, same downstream classifier throughout</a:t>
            </a:r>
          </a:p>
        </c:rich>
      </c:tx>
      <c:overlay val="0"/>
    </c:title>
    <c:autoTitleDeleted val="0"/>
    <c:plotArea>
      <c:layout/>
      <c:barChart>
        <c:barDir val="col"/>
        <c:grouping val="clustered"/>
        <c:varyColors val="0"/>
        <c:ser>
          <c:idx val="0"/>
          <c:order val="0"/>
          <c:tx>
            <c:strRef>
              <c:f>Sheet1!$B$1</c:f>
              <c:strCache>
                <c:ptCount val="1"/>
                <c:pt idx="0">
                  <c:v>Average recall on IEMOCAP (%)</c:v>
                </c:pt>
              </c:strCache>
            </c:strRef>
          </c:tx>
          <c:spPr>
            <a:solidFill>
              <a:srgbClr val="2E7D5B"/>
            </a:solidFill>
            <a:effectLst/>
          </c:spPr>
          <c:invertIfNegative val="0"/>
          <c:dLbls>
            <c:numFmt formatCode="0.0" sourceLinked="0"/>
            <c:spPr>
              <a:noFill/>
              <a:ln>
                <a:noFill/>
              </a:ln>
              <a:effectLst/>
            </c:spPr>
            <c:txPr>
              <a:bodyPr/>
              <a:lstStyle/>
              <a:p>
                <a:pPr>
                  <a:defRPr sz="110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Spectrogram</c:v>
                </c:pt>
                <c:pt idx="1">
                  <c:v>eGeMAPS</c:v>
                </c:pt>
                <c:pt idx="2">
                  <c:v>w2v2 context
encoder output</c:v>
                </c:pt>
                <c:pt idx="3">
                  <c:v>w2v2 local
encoder output</c:v>
                </c:pt>
                <c:pt idx="4">
                  <c:v>w2v2 all layers,
weighted</c:v>
                </c:pt>
              </c:strCache>
            </c:strRef>
          </c:cat>
          <c:val>
            <c:numRef>
              <c:f>Sheet1!$B$2:$B$6</c:f>
              <c:numCache>
                <c:formatCode>General</c:formatCode>
                <c:ptCount val="5"/>
                <c:pt idx="0">
                  <c:v>49.8</c:v>
                </c:pt>
                <c:pt idx="1">
                  <c:v>52.4</c:v>
                </c:pt>
                <c:pt idx="2">
                  <c:v>58.5</c:v>
                </c:pt>
                <c:pt idx="3">
                  <c:v>60.3</c:v>
                </c:pt>
                <c:pt idx="4">
                  <c:v>67.2</c:v>
                </c:pt>
              </c:numCache>
            </c:numRef>
          </c:val>
          <c:extLst>
            <c:ext xmlns:c16="http://schemas.microsoft.com/office/drawing/2014/chart" uri="{C3380CC4-5D6E-409C-BE32-E72D297353CC}">
              <c16:uniqueId val="{00000000-CAD5-7F49-A598-49DF8C75448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6B62"/>
                </a:solidFill>
                <a:latin typeface="Arial"/>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12700" cap="flat">
              <a:solidFill>
                <a:srgbClr val="E4EC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6B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6B62"/>
                </a:solidFill>
                <a:latin typeface="Calibri"/>
              </a:defRPr>
            </a:pPr>
            <a:r>
              <a:rPr sz="1200" b="0" i="0" u="none" strike="noStrike">
                <a:solidFill>
                  <a:srgbClr val="4A6B62"/>
                </a:solidFill>
                <a:latin typeface="Calibri"/>
              </a:rPr>
              <a:t>Average recall on IEMOCAP, before and after fine-tuning for ASR</a:t>
            </a:r>
          </a:p>
        </c:rich>
      </c:tx>
      <c:overlay val="0"/>
    </c:title>
    <c:autoTitleDeleted val="0"/>
    <c:plotArea>
      <c:layout/>
      <c:barChart>
        <c:barDir val="col"/>
        <c:grouping val="clustered"/>
        <c:varyColors val="0"/>
        <c:ser>
          <c:idx val="0"/>
          <c:order val="0"/>
          <c:tx>
            <c:strRef>
              <c:f>Sheet1!$B$1</c:f>
              <c:strCache>
                <c:ptCount val="1"/>
                <c:pt idx="0">
                  <c:v>Pre-trained only</c:v>
                </c:pt>
              </c:strCache>
            </c:strRef>
          </c:tx>
          <c:spPr>
            <a:solidFill>
              <a:srgbClr val="2E7D5B"/>
            </a:solidFill>
            <a:effectLst/>
          </c:spPr>
          <c:invertIfNegative val="0"/>
          <c:dLbls>
            <c:numFmt formatCode="0.0" sourceLinked="0"/>
            <c:spPr>
              <a:noFill/>
              <a:ln>
                <a:noFill/>
              </a:ln>
              <a:effectLst/>
            </c:spPr>
            <c:txPr>
              <a:bodyPr/>
              <a:lstStyle/>
              <a:p>
                <a:pPr>
                  <a:defRPr sz="105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Local encoder</c:v>
                </c:pt>
                <c:pt idx="1">
                  <c:v>Context encoder</c:v>
                </c:pt>
                <c:pt idx="2">
                  <c:v>All layers, weighted</c:v>
                </c:pt>
              </c:strCache>
            </c:strRef>
          </c:cat>
          <c:val>
            <c:numRef>
              <c:f>Sheet1!$B$2:$B$4</c:f>
              <c:numCache>
                <c:formatCode>General</c:formatCode>
                <c:ptCount val="3"/>
                <c:pt idx="0">
                  <c:v>60.3</c:v>
                </c:pt>
                <c:pt idx="1">
                  <c:v>58.5</c:v>
                </c:pt>
                <c:pt idx="2">
                  <c:v>67.2</c:v>
                </c:pt>
              </c:numCache>
            </c:numRef>
          </c:val>
          <c:extLst>
            <c:ext xmlns:c16="http://schemas.microsoft.com/office/drawing/2014/chart" uri="{C3380CC4-5D6E-409C-BE32-E72D297353CC}">
              <c16:uniqueId val="{00000000-BE88-FD4D-9372-02A9A105DA7C}"/>
            </c:ext>
          </c:extLst>
        </c:ser>
        <c:ser>
          <c:idx val="1"/>
          <c:order val="1"/>
          <c:tx>
            <c:strRef>
              <c:f>Sheet1!$C$1</c:f>
              <c:strCache>
                <c:ptCount val="1"/>
                <c:pt idx="0">
                  <c:v>After ASR fine-tuning</c:v>
                </c:pt>
              </c:strCache>
            </c:strRef>
          </c:tx>
          <c:spPr>
            <a:solidFill>
              <a:srgbClr val="B5623C"/>
            </a:solidFill>
            <a:effectLst/>
          </c:spPr>
          <c:invertIfNegative val="0"/>
          <c:dLbls>
            <c:numFmt formatCode="0.0" sourceLinked="0"/>
            <c:spPr>
              <a:noFill/>
              <a:ln>
                <a:noFill/>
              </a:ln>
              <a:effectLst/>
            </c:spPr>
            <c:txPr>
              <a:bodyPr/>
              <a:lstStyle/>
              <a:p>
                <a:pPr>
                  <a:defRPr sz="1050" b="0" i="0" u="none" strike="noStrike">
                    <a:solidFill>
                      <a:srgbClr val="2C3B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Local encoder</c:v>
                </c:pt>
                <c:pt idx="1">
                  <c:v>Context encoder</c:v>
                </c:pt>
                <c:pt idx="2">
                  <c:v>All layers, weighted</c:v>
                </c:pt>
              </c:strCache>
            </c:strRef>
          </c:cat>
          <c:val>
            <c:numRef>
              <c:f>Sheet1!$C$2:$C$4</c:f>
              <c:numCache>
                <c:formatCode>General</c:formatCode>
                <c:ptCount val="3"/>
                <c:pt idx="0">
                  <c:v>57.3</c:v>
                </c:pt>
                <c:pt idx="1">
                  <c:v>44.6</c:v>
                </c:pt>
                <c:pt idx="2">
                  <c:v>63.8</c:v>
                </c:pt>
              </c:numCache>
            </c:numRef>
          </c:val>
          <c:extLst>
            <c:ext xmlns:c16="http://schemas.microsoft.com/office/drawing/2014/chart" uri="{C3380CC4-5D6E-409C-BE32-E72D297353CC}">
              <c16:uniqueId val="{00000001-BE88-FD4D-9372-02A9A105DA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6B62"/>
                </a:solidFill>
                <a:latin typeface="Arial"/>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12700" cap="flat">
              <a:solidFill>
                <a:srgbClr val="E4EC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6B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4A6B6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008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This is a longer format than our corpus seminars, so set expectations: two forty-five minute halves with a break between them, then discussion.
Opening framing. The two corpora we studied earlier answer the question 'where does labelled emotional speech come from'. This paper answers a different and, in hindsight, more consequential question: what if you do not need much labelled speech at all?
One sentence to plant now and return to at the end: wav2vec 2.0 is the reason a 2021 paper on IEMOCAP looks nothing like a 2019 paper on IEMOCAP. Everything we said about small emotional corpora being hard to model changed when you could start from a model that had already listened to fifty-three thousand hours of audiobooks.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[2:30–4:30] The stakes.
Lead with the ten-minute number. It is the one people remember, and it is genuinely startling: forty-eight recordings averaging twelve and a half seconds, and the resulting system transcribes clean read speech with under five percent word error.
Make the 'conceptually simpler' point too. The method it beat — noisy student self-training — requires repeated cycles of pseudo-labelling, filtering and retraining. wav2vec 2.0 is pre-train once, fine-tune once.
The citation count is now in the thousands and climbing; check a current figure before presenting if you want to quote one. The more useful framing is not the count but the fact that this architecture is the direct ancestor of HuBERT, WavLM, XLS-R and data2vec, which we cover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[4:30–6:30] Motivation.
The third card is worth pausing on, because it is the one that connects to our earlier seminars. The authors are making a claim about learning, not just about engineering economics.
Ask the room to hold a question: if a model can learn the structure of speech without labels, what *is* it learning? That question is section 7 of this talk, and it is where the interpretability literature comes in.
Also worth naming: the broader-impact section of this paper is unusually substantive for 2020. It argues explicitly that low-resource languages are the point. Whether the follow-up work delivered on that is a fair discussion question — XLSR and XLS-R did extend it multilingually, but the benchmark culture stayed firmly anglophone.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[6:30–6:40]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[6:40–8:20] Why speech is hard.
This slide sets up every architectural decision that follows, so do not rush it.
The fourth row is the deepest point and the one that returns in the ablations. If your objective rewards reconstructing the signal faithfully, the easiest way to score well is to encode speaker and channel characteristics — exactly the information you want the representation to abstract away from. We will see this quantitatively later: making the pretext task easier makes the representations worse.
The closing question on the dark bar is the paper's actual research question, stripped of machinery. Everything in section 2 is an answer to it: predict a *quantised* version of your own latents, over an inventory you learn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[8:20–10:20] The lineage.
Three of these four are by overlapping author sets — this is a research programme, not a survey of the field, and the paper reads as the fourth iteration of one idea.
The distinction to make crisply: vq-wav2vec and Discrete BERT quantise the *input* to the context model. wav2vec 2.0 quantises only the *targets*. That one-sentence difference is worth roughly a third of the word error rate, and there is an ablation that measures it precisely. Flag now that we will come back to it in section 6.
If anyone asks about non-contrastive alternatives from the same period — Mockingjay, APC, masked reconstruction — they are cited but not compared against, mostly because they reconstruct filter-bank features rather than working from the raw waveform.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[10:20–12:00] The thesis slide.
Give the audience this as an anchor. Section 2 is decisions one to three, section 3 is decision four plus the objective that implements it.
Worth flagging the second decision explicitly, because it is easy to gloss. BERT masks input tokens. You cannot mask raw audio samples usefully — the model would just interpolate. So the masking happens after the convolutional encoder, on twenty-millisecond latent frames. That is a small change on paper and a large one in effect.
If the room contains people who know BERT well, this is the moment to say: everything else here is a recognisable BERT, and the interesting content is what had to change.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[12:00–12:10]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[12:10–14:20] The architecture.
Walk the upper path first, left to right, then come back for the branch. Do not try to explain the loss yet — just establish that the target comes from the model's own encoder output, quantised.
The single most common misunderstanding to head off: the Transformer never sees quantised vectors. Quantisation happens only on the target side. Point at the diagram while saying it.
Second point to make: the quantiser reads the *unmasked* latents. The paper is explicit that inputs to the quantisation module are not masked — otherwise there would be no target to predict.
This slide is worth returning to whenever someone gets lost later. Consider leaving it up during the objective section.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[14:20–16:10] Feature encoder.
The stride and kernel tuples look arbitrary; the next slide shows they are not, so promise the arithmetic and move on.
The gradient-scaling detail is worth a sentence. It tells you the encoder was a source of training instability, and anyone who has tried to reproduce wav2vec 2.0 pre-training will confirm it is the fragile part. This is the kind of detail that only appears in the experimental-setup section and that determines whether a reimplementation works.
The last bullet is from Pasad and colleagues' later analysis, not from this paper — attribute it. It is a satisfying result: given freedom to learn any front end, the model converges on something spectrogram-like.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[16:10–17:40] Time resolution.
Do the arithmetic out loud: five times two to the sixth is three hundred and twenty samples; at sixteen kilohertz that is twenty milliseconds; the reciprocal is fifty, and the paper reports forty-nine hertz because of edge effects at the sequence boundary.
The comparison with a conventional front end is the point of the slide. The learned encoder lands on essentially the same analysis window that decades of speech engineering converged on — twenty-five milliseconds — but with a twenty-millisecond hop rather than ten, so it is half the frame rate of a standard filter bank.
The dark card is the bridge to our own work; it will pay off at the very end, so plant it 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[17:40–19:20] Context network.
Most of this is a standard Transformer and you can move quickly. The convolutional positional embedding is the one thing worth explaining properly, and the first bullet gives the intuition: absolute position is meaningless in speech in a way it is not in a sentence.
The third bullet often surprises people. A kernel of one hundred and twenty-eight frames at twenty milliseconds each is two and a half seconds — this is not a small local positional nudge, it is a substantial convolutional context path running alongside the attention.
The layer-drop asymmetry is a nice observation if anyone asks about regularisation: the more unlabelled data you have, the less you need it. With fifty-three thousand hours they turn it off entirely.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[19:20–21:20] Quantisation.
Analogy that usually lands: it is like choosing an outfit from two racks rather than from one enormous wardrobe. Two racks of three hundred and twenty items give you a hundred thousand outfits while requiring you to learn only six hundred and forty garments.
The important conceptual point: this is the *inventory* the model is learning. It is the closest thing wav2vec 2.0 has to a phoneme set, and it is discovered rather than specified. Section 7 asks how well it aligns with actual phonemes.
Emphasise the last sentence in the dark card. Codebook collapse — where the model uses a handful of entries and ignores the rest — is the standard failure mode of learned discrete representations, and the diversity loss exists entirely to prevent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[21:20–23:10] Gumbel softmax.
How much detail to give depends on the room. The minimum viable explanation is: adding Gumbel noise to logits and taking the argmax is exactly equivalent to sampling from the softmax distribution — that is the reparameterisation trick for categorical variables. The temperature then interpolates between a smooth relaxation and a hard sample.
The annealing schedule is the part most worth emphasising, because it is a genuine design insight rather than a formality. Early in training a hard codebook choice would be arbitrary and the gradients useless; by the end you want the discreteness to be real.
The different minimum temperatures for BASE and LARGE — 0.5 against 0.1 — say the larger model is trusted to make sharper commitments. Nobody explains why in the paper.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[23:10–24:40] Configurations.
Do not read the table. Point at three rows: parameter count, batch size in hours of audio, and number of updates.
The batch-size-in-hours framing is unusual and worth highlighting — a batch is one and a half to nearly three hours of continuous audio. That is the scale at which this objective works.
Note that BASE at ninety-five million parameters is roughly BERT-base sized, and LARGE at three hundred and seventeen million is roughly BERT-large sized. The analogy is deliberate.
One thing to be careful about when people use these off the shelf: 'wav2vec2-base' on model hubs usually means BASE pre-trained on LS-960, while 'wav2vec2-large-lv60' means LARGE pre-trained on the fifty-three thousand hour set. They behave very differently and are frequently confused.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[24:40–24:50]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[24:50–26:40] Masking.
The dark card is the whole point of this slide. Say it before the numbers if the room is engaged.
Work the arithmetic if asked: sampling six and a half percent of positions as span starts, with spans of ten and overlaps permitted, yields around forty-nine percent of frames masked and a mean contiguous span of 14.7 frames. The overlap is why the mean span exceeds M.
Compare with BERT, which masks fifteen percent of tokens independently. Speech needs both a much higher masking rate and contiguous spans, for the redundancy reason we discussed at the start. SpanBERT made the same discovery for text at roughly the same time.
Note the single shared mask vector: the model is not told which frame was masked, only that something was.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[26:40–28:50] The contrastive loss.
Spend your time on the first two bullets. The choice to sample negatives from within the same utterance is the sort of detail that reads as an implementation note and is actually load-bearing.
Put it to the room as a question first: if you drew distractors from anywhere in the corpus, what would the model learn? The answer — speaker and channel discrimination — is the same failure we flagged in slide six, and it recurs in the ablations.
For anyone who wants the formal connection: this is InfoNCE, and minimising it lower-bounds the mutual information between the context representation and the target. Do not over-claim the mutual information story though; the bound is loose and the connection is more suggestive than explanatory.
The model-selection detail at the bottom of the second card is quietly interesting: there is no labelled validation signal at all during pre-training.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[28:50–30:40] Diversity loss.
The middle card is the conceptual highlight and it is often skipped in summaries of this paper. Make the distinction concrete: we want each frame confidently assigned to one code, and we want the codes collectively to be used evenly. Those are different requirements and only the batch-level formulation gets both.
Codebook collapse is a general problem in learned discrete representations — VQ-VAE has the same issue and solves it differently, with commitment losses and codebook resets. Worth mentioning if anyone in the room works with discrete latents.
Note also that codebook perplexity is the standard diagnostic when pre-training this model: if it drops, your run is failing, and you will see it long before the loss tells you.</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[30:40–32:40] The key asymmetry.
If the audience remembers one slide from Part I, make it this one. Say so.
The intuition to give them: the target defines what counts as 'the same sound'. If the target is a continuous vector, then two utterances of the same phoneme by different speakers have different targets, and the model is being asked to preserve the difference. If the target is a discrete code, they can share a target, and the model is being asked to abstract over the difference.
That is an argument about what a good representation of speech *is*, made through the design of a loss function. It is the most interesting idea in the paper.
Promise the numbers in section 6 and move on — the anticipation is useful.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[32:40–34:40] Fine-tuning.
Three things deserve emphasis.
First, how little is added. A single linear layer and a CTC loss. Compare with the elaborate encoder-decoder architectures that were state of the art at the time — the paper is deliberately showing that the representation does the work.
Second, the frozen encoder. This is now standard practice and it tells you the authors regard the convolutional front end as a fixed signal-processing stage once learned.
Third, the SpecAugment note. With ten minutes of labelled data, augmentation is not a marginal gain — without it the model overfits almost immediately. Any reproduction that omits it will fail to match the low-resource numbers, and this is a common source of confusion.
The ten-thousand-update classifier-only warm start is the same idea as linear probing before full fine-tuning, and it prevents a randomly initialised head from destroying the pre-trained weights with large early gradients.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[34:40–36:10] Compute. This slide can be cut if you are behind.
It is worth keeping if the room includes students deciding what to work on, because the practical message is: you will be a consumer of these checkpoints, not a producer, and the interesting research questions for you are downstream.
The dark card is a fair criticism and should be delivered as an observation rather than an accusation. The authors do release everything, which is the mitigation. But the pattern — capability concentrated where the compute is, distributed only as frozen artefacts — is worth naming, and it has only intensified since 2020.
If someone asks about the carbon or dollar cost: the paper does not report either, which was normal for 2020 and would be criticised now.</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[36:10–38:00] Recap.
Deliver this as a genuine summary — read the five sentences and let people write them down. It is the last thing before the break, so it is what they will carry into Part II.
If there are quick clarifying questions on architecture, take them now rather than after the break. Anything longer, defer.
Then flag what Part II answers: does any of this actually work, which parts of it matter, and what does the model end up knowing?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[48:00–48:10] Section marker. Welcome people back.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[48:10–50:10] Data.
The dark card is the callback to our earlier seminars, and it is worth making pointedly. Libri-light defined the low-resource splits, published them, and everyone uses the same ones. That is why the numbers in the next few slides are actually comparable across papers, and it is exactly what the emotion corpora lack.
Also be clear about a subtlety in the setup: the ten minutes, one hour and ten hours of labelled data are drawn from the same Librispeech audio that was used unlabelled for pre-training. Pre-training has seen this audio; it has just never seen the transcripts. That is legitimate and standard, but it is not the same as fine-tuning on genuinely held-out domain data, and it makes the low-resource numbers a best case.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[50:10–52:00] Decoding. This slide can be cut if you are behind, but it improves how the audience reads everything that follows.
The core caution: when you see 4.8/8.2 for ten minutes of labelled data, that is with a large Transformer language model doing substantial work. It is still a remarkable result, but it is not ten minutes of data producing a transcription system unaided.
The vocabulary-mismatch admission is a good example of the paper being honest against its own interest — they are telling you their numbers would probably be better with word pieces, which strengthens rather than weakens their case.
Draw the parallel to the corpus seminars explicitly. Same structural problem, different field.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[52:00–52:10]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[52:10–54:20] Low-resource results.
Give people a moment with the chart before speaking. The shape is the message.
Third bullet is the one to dwell on. If the curve were still steep at a hundred hours, the story would be 'pre-training helps a bit'. It is nearly flat, which means the representation already encodes almost everything the labels were teaching, and the labels are only attaching a symbol set to structure the model already has.
Note also the Libri-light quirk mentioned in the paper: the low-resource splits contain both clean and noisy data, which is why accuracy on test-other is relatively better in those settings than you might expect from the clean-only hundred-hour subset.
If asked about no-language-model numbers, they are in the appendix and are substantially worse. Say so rather than guessing at values.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[54:20–56:20] The headline result.
This is the slide that teaches careful reading. The number everyone quotes is a system result; the controlled comparison is the BASE-versus-Discrete-BERT one, and it is a third of the error, which is still an excellent result for a single architectural change.
Forty-eight recordings is worth making vivid. It is about the length of one side of a phone call. Anyone could collect and transcribe that for a new language in an afternoon.
That is the practical claim the broader-impact section rests on — and it is worth noting that it rests on already having fifty-three thousand hours of unlabelled audio in a related setting, which for many of the seven thousand languages is itself the hard part.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[56:20–58:40] High-resource results.
This slide answers the obvious sceptical question: fine, but if I have all the labels, do I still need this? Yes.
The from-scratch comparison is the internally controlled one and the most informative bar on the chart. Same architecture, same labels, same decoding, and pre-training on unlabelled audio takes test-other from 4.6 to 3.3.
The third bullet is a point in the authors' favour that is easy to miss. They are not using a better architecture than the competition; they explicitly note theirs is weaker — a plain Transformer with CTC rather than a Conformer or a sequence-to-sequence model. The gain is attributable to pre-training.
If asked why not just use Conformer plus wav2vec 2.0: that combination arrived shortly afterwards in other work and did indeed do better. This paper was demonstrating a principle, not optimising a leaderboard.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[58:40–60:20] Caveats.
Present this as a model of how to write a results section. Every one of these admissions makes the central claim stronger, because each one says 'and we achieved this despite handicapping ourselves'.
The fourth is the most interesting scientifically. Pre-training and self-training attack the same problem from different directions — one learns structure from unlabelled audio, the other manufactures labels for it — and there is no reason they should not compose. Subsequent work confirmed they do.
Ask the room: which of these four would you have tried first? It is a good short discussion if you have a minute in hand.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[60:20–62:20] TIMIT.
This is the most convincing evidence in the paper that the representations are genuinely phonetic, for the reason in the second card: there is no language model here to paper over an acoustically weak system.
It is also the natural bridge to section 7. If the model is this good at phoneme recognition after fine-tuning on five hours, the pre-trained representation must already contain something very close to phonetic category structure. The appendix of the paper contains an analysis of exactly that, relating the learned discrete units to phonemes.
Historical note for anyone from a speech background: TIMIT phoneme error rates had been improving very slowly for years. A jump from 11.6 to 8.3 in one paper is unusually large for this benchmark.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[62:20–63:40] The inconsistency. Cuttable if short of time, but it usually lands well.
Verify this yourself before presenting — open the NeurIPS version, look at the first paragraph of section 5.1, and compare with Table 1. It is a genuine discrepancy in the published version.
Frame it constructively, not as a gotcha. The point is not that the authors were careless; it is that papers are revised documents and the prose and tables can drift apart. Reading both, and noticing when they disagree, is part of what a seminar is for.
If someone asks which is right: the tables and the abstract agree with each other, so 4.8/8.2 is the number to use.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[63:40–63:50]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[63:50–65:50] The ablation.
Point out that this is the paper's only main-body ablation, which is itself informative about what the authors thought the contribution was.
Read the chart as two independent effects. Moving from continuous to quantised *inputs* costs about three points — that is the two-stage penalty. Moving from quantised to continuous *targets* costs about half a point when the input is continuous. Both point the same way, and their combination is the worst configuration by a wide margin.
The seed variance is worth noting for anyone doing this kind of work: the badly designed configuration is twenty times more variable across seeds than the good one. Instability is often an early symptom of a poorly posed objective.
Flag the caveat in the last bullet honestly — these numbers cannot be compared with Table 1.</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[65:50–67:40] The key insight. Protect this slide.
This is the most transferable idea in the paper and it goes well beyond speech. Anyone designing a self-supervised objective in any modality should know it.
Deliver the paradox first — sixteen points better at the training task, several points worse at the real one — and let it sit before explaining.
Connect back to slide six, where we said speech is full of nuisance variation. This is that problem showing up quantitatively. The quantisation bottleneck is a deliberate act of information destruction, and it is destroying exactly the information you want the representation not to encode.
Good discussion prompt if you want one here: what is the equivalent shortcut in your own domain, and what would the equivalent bottleneck be?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[67:40–67:50]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[67:50–69:40] Discrete units and phonemes.
Be disciplined about what is and is not shown here. The paper's appendix presents an analysis; it does not claim a phoneme inventory has been discovered, and neither should we. The last bullet gives the wording to use.
The third bullet is the pivot toward our own field and it is worth saying slowly. The whole design of this model is oriented toward discarding speaker and channel information because it is nuisance for transcription. Emotion lives partly in exactly that discarded material. Hold that thought — it becomes a concrete empirical finding two slides from now.
If someone asks about textless NLP or speech tokenisers: yes, this lineage runs directly to GSLM, to HuBERT units, and to the acoustic token vocabularies used by modern speech language models.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[69:40–72:00] Layer-wise structure.
Be clear that this is not from the wav2vec 2.0 paper. It is Pasad, Chou and Livescu, published at ASRU in 2021, and it is the standard reference for what these representations contain. Attribute it properly.
The autoencoder finding is the surprising one, and the second bullet is the explanation to offer — the objective is self-predictive, so the top of the network has to come back to where the bottom was. Once stated it feels obvious, which is the sign of a good analysis.
The practical consequence is the next slide, so signpost it: if the deepest layers are busy reconstructing the encoder output, then the last hidden layer is not where the most abstract information lives — which is exactly the opposite of the habit we inherited from computer vision.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[72:00–74:00] Practical consequence.
This is the most immediately actionable slide in the talk for anyone in the room who uses these models. Slow down.
The second point is worth developing: if you train layer weights for a task and the mass lands in the middle layers, your task is phonetic; if it lands high, your task is lexical; if it lands low, you are using an expensive model to do the work of a spectrogram. That is a cheap and genuinely informative diagnostic.
The third point sets up the next section directly, and it has a number attached to it. Do not give the number away yet.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[74:00–74:10]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[74:10–76:10] Limitations.
The first is the one that matters most for this audience, so lead with it. Every representation this model learned came from people reading books aloud, calmly, into a microphone. When we later apply it to acted emotional speech or to clinical recordings, we are asking it to generalise well outside its pre-training distribution — and we mostly do not check whether it can.
The third is a fair criticism of the framing rather than the work. The title promises 'speech representations'; the evaluation delivers speech recognition. That the representations turned out to be general is a happy empirical fact established by others.
Connect the last one back to the compute slide before the break if you kept it.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[76:10–78:20] Legacy.
The HuBERT comparison is the one to develop if you have time. It is instructive that the field largely moved from the contrastive objective to masked prediction over clustered targets — the contrastive setup is fiddly, sensitive to negative sampling, and harder to stabilise. wav2vec 2.0's durable contributions turned out to be the architecture, the masking strategy and the raw-waveform front end, more than the specific loss.
The Whisper entry is deliberately included as a counterpoint, and it makes a good discussion prompt. If you can scrape six hundred and eighty thousand hours of weakly labelled audio from the web, do you still need self-supervision? The honest answer is that it depends entirely on whether your language and domain are represented in that scrape — which returns us to the seven-thousand-languages argument.
WavLM is the one most relevant to affective computing, because it was explicitly designed for tasks beyond transcription.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[78:20–80:40] Emotion recognition.
This is where the three seminars converge. Take your time.
Remind the room what IEMOCAP four-class means, because we spent a whole session on it: angry, happy with excitement merged in, sad and neutral, with unlabelled turns discarded. The same caveats about splits apply to these numbers as to any other IEMOCAP result — Pepino and colleagues do report their protocol, which is more than many.
The second bullet is the startling one. eGeMAPS is a carefully designed, theoretically motivated acoustic feature set built by the affective computing community for precisely this problem. A twenty-five millisecond slice of a self-supervised convolutional encoder beats it.
The dark card is the sentence to leave hanging before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[80:40–83:00] The tension. This is the intellectual high point of the talk for this audience.
Build the argument in three steps.
One: in section 6 we saw that quantising the target forces the model to abstract away from speaker and channel, and that this is why the representations are good.
Two: emotion is carried substantially in exactly those speaker-level acoustic properties — voice quality, pitch range, energy, timing.
Three: so the mechanism that makes the model good at transcription is actively removing the signal we care about, and ASR fine-tuning intensifies it. The numbers on this chart are that prediction, confirmed.
Then note what survives: even after fine-tuning, weighted layer aggregation still beats hand-crafted features. The information is attenuated, not erased — and it is concentrated in the layers people usually throw away.
This is where WavLM's design rationale comes from, and it is a natural place for students to look for project ideas.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[83:00–85:20] Synthesis across the series.
This is the payoff for having read all three, so give it room.
The claim in the dark card is arguable and should be offered as an argument, not a conclusion. Some in the room will disagree — plenty of hard representation-learning problems remain, especially for spontaneous, multilingual and clinical speech, and none of it is solved for the domains our pre-training data does not cover.
But the direction of travel is real. Between 2019 and 2022 the marginal value of a better acoustic model on IEMOCAP fell sharply, while the marginal value of a better-defined task and a cleaner evaluation protocol did not fall at all.
Set up the final take-aways slide by saying that.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[85:20–87:30] Take-aways.
Read these; do not paraphrase. They are written to be transcribed.
Numbers three, four and five are the ones people can act on this week. One and two are the ideas worth carrying into other fields.
If you want a single closing line before discussion: the lasting contribution of this paper is not the contrastive loss, which the field largely abandoned, but the demonstration that deliberately withholding information from a self-supervised model is what makes its representations general.</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[87:30–100:00] Discussion.
Five prompts, far more than you need. Pick two or three.
Question 1 is the best one for a group working on affective computing, and it is a genuine open research question rather than a teaching exercise. Plausible answers include: quantise over linguistic content so that prosody is what remains, or contrast across utterances by the same speaker so that speaker identity becomes the nuisance instead of the signal.
Question 5 is the natural closer, because it forces the room to combine all three papers. A good answer probably involves: cross-corpus evaluation, speaker-independent splits stated explicitly, evaluation against the rater distribution rather than a majority label, and a pre-trained checkpoint chosen for the task rather than for its download count.
If time runs short, go straight to question 5 and let it run.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868680" y="1316736"/>
            <a:ext cx="120701" cy="351130"/>
          </a:xfrm>
          <a:prstGeom prst="roundRect">
            <a:avLst>
              <a:gd name="adj" fmla="val 15151"/>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7163" y="1163117"/>
            <a:ext cx="120701" cy="658368"/>
          </a:xfrm>
          <a:prstGeom prst="roundRect">
            <a:avLst>
              <a:gd name="adj" fmla="val 15151"/>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285646" y="1272845"/>
            <a:ext cx="120701" cy="438912"/>
          </a:xfrm>
          <a:prstGeom prst="roundRect">
            <a:avLst>
              <a:gd name="adj" fmla="val 15151"/>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494130" y="1097280"/>
            <a:ext cx="120701" cy="790042"/>
          </a:xfrm>
          <a:prstGeom prst="roundRect">
            <a:avLst>
              <a:gd name="adj" fmla="val 15151"/>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702613" y="1250899"/>
            <a:ext cx="120701" cy="482803"/>
          </a:xfrm>
          <a:prstGeom prst="roundRect">
            <a:avLst>
              <a:gd name="adj" fmla="val 15151"/>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1828800"/>
            <a:ext cx="10515600" cy="914400"/>
          </a:xfrm>
          <a:prstGeom prst="rect">
            <a:avLst/>
          </a:prstGeom>
          <a:noFill/>
          <a:ln/>
        </p:spPr>
        <p:txBody>
          <a:bodyPr wrap="square" lIns="0" tIns="0" rIns="0" bIns="0" rtlCol="0" anchor="ctr"/>
          <a:lstStyle/>
          <a:p>
            <a:pPr marL="0" indent="0">
              <a:buNone/>
            </a:pPr>
            <a:r>
              <a:rPr lang="en-US" sz="5200" b="1" kern="0" spc="100" dirty="0">
                <a:solidFill>
                  <a:srgbClr val="FFFFFF"/>
                </a:solidFill>
                <a:latin typeface="Cambria" pitchFamily="34" charset="0"/>
                <a:ea typeface="Cambria" pitchFamily="34" charset="-122"/>
                <a:cs typeface="Cambria" pitchFamily="34" charset="-120"/>
              </a:rPr>
              <a:t>wav2vec 2.0</a:t>
            </a:r>
            <a:endParaRPr lang="en-US" sz="5200" dirty="0"/>
          </a:p>
        </p:txBody>
      </p:sp>
      <p:sp>
        <p:nvSpPr>
          <p:cNvPr id="8" name="Text 6"/>
          <p:cNvSpPr txBox="1"/>
          <p:nvPr/>
        </p:nvSpPr>
        <p:spPr>
          <a:xfrm>
            <a:off x="822960" y="2743200"/>
            <a:ext cx="10607040" cy="502920"/>
          </a:xfrm>
          <a:prstGeom prst="rect">
            <a:avLst/>
          </a:prstGeom>
          <a:noFill/>
          <a:ln/>
        </p:spPr>
        <p:txBody>
          <a:bodyPr wrap="square" lIns="0" tIns="0" rIns="0" bIns="0" rtlCol="0" anchor="ctr"/>
          <a:lstStyle/>
          <a:p>
            <a:pPr marL="0" indent="0">
              <a:buNone/>
            </a:pPr>
            <a:r>
              <a:rPr lang="en-US" sz="2000" i="1" dirty="0">
                <a:solidFill>
                  <a:srgbClr val="C6DCD2"/>
                </a:solidFill>
                <a:latin typeface="Cambria" pitchFamily="34" charset="0"/>
                <a:ea typeface="Cambria" pitchFamily="34" charset="-122"/>
                <a:cs typeface="Cambria" pitchFamily="34" charset="-120"/>
              </a:rPr>
              <a:t>A Framework for Self-Supervised Learning of Speech Representations</a:t>
            </a:r>
            <a:endParaRPr lang="en-US" sz="2000" dirty="0"/>
          </a:p>
        </p:txBody>
      </p:sp>
      <p:sp>
        <p:nvSpPr>
          <p:cNvPr id="9" name="Text 7"/>
          <p:cNvSpPr txBox="1"/>
          <p:nvPr/>
        </p:nvSpPr>
        <p:spPr>
          <a:xfrm>
            <a:off x="859536" y="3566160"/>
            <a:ext cx="10058400" cy="1005840"/>
          </a:xfrm>
          <a:prstGeom prst="rect">
            <a:avLst/>
          </a:prstGeom>
          <a:noFill/>
          <a:ln/>
        </p:spPr>
        <p:txBody>
          <a:bodyPr wrap="square" lIns="0" tIns="0" rIns="0" bIns="0" rtlCol="0" anchor="ctr"/>
          <a:lstStyle/>
          <a:p>
            <a:pPr marL="0" indent="0">
              <a:lnSpc>
                <a:spcPct val="125000"/>
              </a:lnSpc>
              <a:buNone/>
            </a:pPr>
            <a:r>
              <a:rPr lang="en-US" sz="1350" dirty="0">
                <a:solidFill>
                  <a:srgbClr val="9FB8AC"/>
                </a:solidFill>
                <a:latin typeface="Calibri" pitchFamily="34" charset="0"/>
                <a:ea typeface="Calibri" pitchFamily="34" charset="-122"/>
                <a:cs typeface="Calibri" pitchFamily="34" charset="-120"/>
              </a:rPr>
              <a:t>Alexei Baevski, Henry Zhou, Abdelrahman Mohamed &amp; Michael Auli</a:t>
            </a:r>
            <a:endParaRPr lang="en-US" sz="1350" dirty="0"/>
          </a:p>
          <a:p>
            <a:pPr marL="0" indent="0">
              <a:lnSpc>
                <a:spcPct val="125000"/>
              </a:lnSpc>
              <a:buNone/>
            </a:pPr>
            <a:r>
              <a:rPr lang="en-US" sz="1350" dirty="0">
                <a:solidFill>
                  <a:srgbClr val="9FB8AC"/>
                </a:solidFill>
                <a:latin typeface="Calibri" pitchFamily="34" charset="0"/>
                <a:ea typeface="Calibri" pitchFamily="34" charset="-122"/>
                <a:cs typeface="Calibri" pitchFamily="34" charset="-120"/>
              </a:rPr>
              <a:t>Advances in Neural Information Processing Systems 33 (NeurIPS 2020), pp. 12449–12460</a:t>
            </a:r>
            <a:endParaRPr lang="en-US" sz="1350" dirty="0"/>
          </a:p>
          <a:p>
            <a:pPr marL="0" indent="0">
              <a:lnSpc>
                <a:spcPct val="125000"/>
              </a:lnSpc>
              <a:buNone/>
            </a:pPr>
            <a:r>
              <a:rPr lang="en-US" sz="1350" dirty="0">
                <a:solidFill>
                  <a:srgbClr val="9FB8AC"/>
                </a:solidFill>
                <a:latin typeface="Calibri" pitchFamily="34" charset="0"/>
                <a:ea typeface="Calibri" pitchFamily="34" charset="-122"/>
                <a:cs typeface="Calibri" pitchFamily="34" charset="-120"/>
              </a:rPr>
              <a:t>Facebook AI  ·  arXiv:2006.11477  ·  code and models released in fairseq</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Why this paper matters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The result that changed what a speech dataset needs to look like</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a:t>
            </a:r>
            <a:endParaRPr lang="en-US" sz="900" dirty="0"/>
          </a:p>
        </p:txBody>
      </p:sp>
      <p:sp>
        <p:nvSpPr>
          <p:cNvPr id="10" name="Text 8"/>
          <p:cNvSpPr txBox="1"/>
          <p:nvPr/>
        </p:nvSpPr>
        <p:spPr>
          <a:xfrm>
            <a:off x="566928" y="1536192"/>
            <a:ext cx="2697480"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10 min</a:t>
            </a:r>
            <a:endParaRPr lang="en-US" sz="3600" dirty="0"/>
          </a:p>
        </p:txBody>
      </p:sp>
      <p:sp>
        <p:nvSpPr>
          <p:cNvPr id="11" name="Text 9"/>
          <p:cNvSpPr txBox="1"/>
          <p:nvPr/>
        </p:nvSpPr>
        <p:spPr>
          <a:xfrm>
            <a:off x="566928" y="2231136"/>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of labelled speech — 48 recordings —</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fine-tuned to 4.8/8.2 WER</a:t>
            </a:r>
            <a:endParaRPr lang="en-US" sz="1150" dirty="0"/>
          </a:p>
        </p:txBody>
      </p:sp>
      <p:sp>
        <p:nvSpPr>
          <p:cNvPr id="12" name="Text 10"/>
          <p:cNvSpPr txBox="1"/>
          <p:nvPr/>
        </p:nvSpPr>
        <p:spPr>
          <a:xfrm>
            <a:off x="3392424" y="1536192"/>
            <a:ext cx="2697480"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53.2k h</a:t>
            </a:r>
            <a:endParaRPr lang="en-US" sz="3600" dirty="0"/>
          </a:p>
        </p:txBody>
      </p:sp>
      <p:sp>
        <p:nvSpPr>
          <p:cNvPr id="13" name="Text 11"/>
          <p:cNvSpPr txBox="1"/>
          <p:nvPr/>
        </p:nvSpPr>
        <p:spPr>
          <a:xfrm>
            <a:off x="3392424" y="2231136"/>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of unlabelled audio used for</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pre-training</a:t>
            </a:r>
            <a:endParaRPr lang="en-US" sz="1150" dirty="0"/>
          </a:p>
        </p:txBody>
      </p:sp>
      <p:sp>
        <p:nvSpPr>
          <p:cNvPr id="14" name="Text 12"/>
          <p:cNvSpPr txBox="1"/>
          <p:nvPr/>
        </p:nvSpPr>
        <p:spPr>
          <a:xfrm>
            <a:off x="6217920" y="1536192"/>
            <a:ext cx="2697480"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100×</a:t>
            </a:r>
            <a:endParaRPr lang="en-US" sz="3600" dirty="0"/>
          </a:p>
        </p:txBody>
      </p:sp>
      <p:sp>
        <p:nvSpPr>
          <p:cNvPr id="15" name="Text 13"/>
          <p:cNvSpPr txBox="1"/>
          <p:nvPr/>
        </p:nvSpPr>
        <p:spPr>
          <a:xfrm>
            <a:off x="6217920" y="2231136"/>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less labelled data than the previous</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state of the art it beat</a:t>
            </a:r>
            <a:endParaRPr lang="en-US" sz="1150" dirty="0"/>
          </a:p>
        </p:txBody>
      </p:sp>
      <p:sp>
        <p:nvSpPr>
          <p:cNvPr id="16" name="Text 14"/>
          <p:cNvSpPr txBox="1"/>
          <p:nvPr/>
        </p:nvSpPr>
        <p:spPr>
          <a:xfrm>
            <a:off x="9043416" y="1536192"/>
            <a:ext cx="2587752"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1.8/3.3</a:t>
            </a:r>
            <a:endParaRPr lang="en-US" sz="3600" dirty="0"/>
          </a:p>
        </p:txBody>
      </p:sp>
      <p:sp>
        <p:nvSpPr>
          <p:cNvPr id="17" name="Text 15"/>
          <p:cNvSpPr txBox="1"/>
          <p:nvPr/>
        </p:nvSpPr>
        <p:spPr>
          <a:xfrm>
            <a:off x="9043416" y="2231136"/>
            <a:ext cx="2587752"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WER on Librispeech test-clean/other</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with the full 960 labelled hours</a:t>
            </a:r>
            <a:endParaRPr lang="en-US" sz="1150" dirty="0"/>
          </a:p>
        </p:txBody>
      </p:sp>
      <p:sp>
        <p:nvSpPr>
          <p:cNvPr id="18" name="Shape 16"/>
          <p:cNvSpPr/>
          <p:nvPr/>
        </p:nvSpPr>
        <p:spPr>
          <a:xfrm>
            <a:off x="566928" y="3255264"/>
            <a:ext cx="11064240" cy="1371600"/>
          </a:xfrm>
          <a:prstGeom prst="roundRect">
            <a:avLst>
              <a:gd name="adj" fmla="val 4000"/>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786384" y="3547872"/>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987552" y="3419856"/>
            <a:ext cx="1042416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claim</a:t>
            </a:r>
            <a:endParaRPr lang="en-US" sz="1500" dirty="0"/>
          </a:p>
        </p:txBody>
      </p:sp>
      <p:sp>
        <p:nvSpPr>
          <p:cNvPr id="21" name="Text 19"/>
          <p:cNvSpPr txBox="1"/>
          <p:nvPr/>
        </p:nvSpPr>
        <p:spPr>
          <a:xfrm>
            <a:off x="822960" y="3858768"/>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2C3B36"/>
                </a:solidFill>
                <a:latin typeface="Calibri" pitchFamily="34" charset="0"/>
                <a:ea typeface="Calibri" pitchFamily="34" charset="-122"/>
                <a:cs typeface="Calibri" pitchFamily="34" charset="-120"/>
              </a:rPr>
              <a:t>Learn representations from raw audio alone, then fine-tune on transcribed speech, and you can outperform the best semi-supervised methods while being conceptually simpler. The paper states this as a first: not a marginal gain, but a demonstration that the labelled-data requirement for usable speech recognition can drop by two orders of magnitude.</a:t>
            </a:r>
            <a:endParaRPr lang="en-US" sz="1340" dirty="0"/>
          </a:p>
        </p:txBody>
      </p:sp>
      <p:sp>
        <p:nvSpPr>
          <p:cNvPr id="22" name="Shape 20"/>
          <p:cNvSpPr/>
          <p:nvPr/>
        </p:nvSpPr>
        <p:spPr>
          <a:xfrm>
            <a:off x="566928" y="4754880"/>
            <a:ext cx="11064240" cy="1298448"/>
          </a:xfrm>
          <a:prstGeom prst="roundRect">
            <a:avLst>
              <a:gd name="adj" fmla="val 4225"/>
            </a:avLst>
          </a:prstGeom>
          <a:solidFill>
            <a:srgbClr val="13302A"/>
          </a:solidFill>
          <a:ln w="12700">
            <a:solidFill>
              <a:srgbClr val="13302A"/>
            </a:solidFill>
            <a:prstDash val="solid"/>
          </a:ln>
        </p:spPr>
        <p:txBody>
          <a:bodyPr/>
          <a:lstStyle/>
          <a:p>
            <a:endParaRPr lang="en-US"/>
          </a:p>
        </p:txBody>
      </p:sp>
      <p:sp>
        <p:nvSpPr>
          <p:cNvPr id="23" name="Shape 21"/>
          <p:cNvSpPr/>
          <p:nvPr/>
        </p:nvSpPr>
        <p:spPr>
          <a:xfrm>
            <a:off x="786384" y="5047488"/>
            <a:ext cx="109728" cy="109728"/>
          </a:xfrm>
          <a:prstGeom prst="ellipse">
            <a:avLst/>
          </a:prstGeom>
          <a:solidFill>
            <a:srgbClr val="B7D24A"/>
          </a:solidFill>
          <a:ln w="12700">
            <a:solidFill>
              <a:srgbClr val="333333"/>
            </a:solidFill>
            <a:prstDash val="solid"/>
          </a:ln>
        </p:spPr>
        <p:txBody>
          <a:bodyPr/>
          <a:lstStyle/>
          <a:p>
            <a:endParaRPr lang="en-US"/>
          </a:p>
        </p:txBody>
      </p:sp>
      <p:sp>
        <p:nvSpPr>
          <p:cNvPr id="24" name="Text 22"/>
          <p:cNvSpPr txBox="1"/>
          <p:nvPr/>
        </p:nvSpPr>
        <p:spPr>
          <a:xfrm>
            <a:off x="987552" y="491947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it matters to us specifically</a:t>
            </a:r>
            <a:endParaRPr lang="en-US" sz="1500" dirty="0"/>
          </a:p>
        </p:txBody>
      </p:sp>
      <p:sp>
        <p:nvSpPr>
          <p:cNvPr id="25" name="Text 23"/>
          <p:cNvSpPr txBox="1"/>
          <p:nvPr/>
        </p:nvSpPr>
        <p:spPr>
          <a:xfrm>
            <a:off x="822960" y="5358384"/>
            <a:ext cx="10552176" cy="512064"/>
          </a:xfrm>
          <a:prstGeom prst="rect">
            <a:avLst/>
          </a:prstGeom>
          <a:noFill/>
          <a:ln/>
        </p:spPr>
        <p:txBody>
          <a:bodyPr wrap="square" lIns="0" tIns="0" rIns="0" bIns="0" rtlCol="0" anchor="t"/>
          <a:lstStyle/>
          <a:p>
            <a:pPr marL="0" indent="0">
              <a:lnSpc>
                <a:spcPct val="108000"/>
              </a:lnSpc>
              <a:buNone/>
            </a:pPr>
            <a:r>
              <a:rPr lang="en-US" sz="1340" dirty="0">
                <a:solidFill>
                  <a:srgbClr val="C6DCD2"/>
                </a:solidFill>
                <a:latin typeface="Calibri" pitchFamily="34" charset="0"/>
                <a:ea typeface="Calibri" pitchFamily="34" charset="-122"/>
                <a:cs typeface="Calibri" pitchFamily="34" charset="-120"/>
              </a:rPr>
              <a:t>Nothing in the pre-training objective mentions words, phonemes or transcripts. The representations turn out to be useful far beyond recognition — for emotion, speaker, intent, health screening. In the last section we will see that they are useful for emotion in a way the authors neither designed nor predicted.</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problem the paper starts from</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Labelled speech is scarce; audio is not</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a:t>
            </a:r>
            <a:endParaRPr lang="en-US" sz="900" dirty="0"/>
          </a:p>
        </p:txBody>
      </p:sp>
      <p:sp>
        <p:nvSpPr>
          <p:cNvPr id="10" name="Shape 8"/>
          <p:cNvSpPr/>
          <p:nvPr/>
        </p:nvSpPr>
        <p:spPr>
          <a:xfrm>
            <a:off x="566928" y="1554480"/>
            <a:ext cx="3584448" cy="2194560"/>
          </a:xfrm>
          <a:prstGeom prst="roundRect">
            <a:avLst>
              <a:gd name="adj" fmla="val 2500"/>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supervised bottleneck</a:t>
            </a:r>
            <a:endParaRPr lang="en-US" sz="1500" dirty="0"/>
          </a:p>
        </p:txBody>
      </p:sp>
      <p:sp>
        <p:nvSpPr>
          <p:cNvPr id="13" name="Text 11"/>
          <p:cNvSpPr txBox="1"/>
          <p:nvPr/>
        </p:nvSpPr>
        <p:spPr>
          <a:xfrm>
            <a:off x="822960" y="2157984"/>
            <a:ext cx="3072384" cy="140817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Speech recognition systems of the period needed thousands of hours of transcribed speech to reach acceptable accuracy. Transcription is slow, expensive and requires literate annotators fluent in the target language.</a:t>
            </a:r>
            <a:endParaRPr lang="en-US" sz="1260" dirty="0"/>
          </a:p>
        </p:txBody>
      </p:sp>
      <p:sp>
        <p:nvSpPr>
          <p:cNvPr id="14" name="Shape 12"/>
          <p:cNvSpPr/>
          <p:nvPr/>
        </p:nvSpPr>
        <p:spPr>
          <a:xfrm>
            <a:off x="4279392" y="1554480"/>
            <a:ext cx="3584448" cy="2194560"/>
          </a:xfrm>
          <a:prstGeom prst="roundRect">
            <a:avLst>
              <a:gd name="adj" fmla="val 2500"/>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4498848"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4700016" y="1719072"/>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coverage problem</a:t>
            </a:r>
            <a:endParaRPr lang="en-US" sz="1500" dirty="0"/>
          </a:p>
        </p:txBody>
      </p:sp>
      <p:sp>
        <p:nvSpPr>
          <p:cNvPr id="17" name="Text 15"/>
          <p:cNvSpPr txBox="1"/>
          <p:nvPr/>
        </p:nvSpPr>
        <p:spPr>
          <a:xfrm>
            <a:off x="4535424" y="2157984"/>
            <a:ext cx="3072384" cy="140817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There are around seven thousand languages in the world, and many more dialects. For the vast majority, no such corpus exists and none is likely to be built. The paper makes this its explicit broader-impact argument.</a:t>
            </a:r>
            <a:endParaRPr lang="en-US" sz="1260" dirty="0"/>
          </a:p>
        </p:txBody>
      </p:sp>
      <p:sp>
        <p:nvSpPr>
          <p:cNvPr id="18" name="Shape 16"/>
          <p:cNvSpPr/>
          <p:nvPr/>
        </p:nvSpPr>
        <p:spPr>
          <a:xfrm>
            <a:off x="7991856" y="1554480"/>
            <a:ext cx="3639312" cy="2194560"/>
          </a:xfrm>
          <a:prstGeom prst="roundRect">
            <a:avLst>
              <a:gd name="adj" fmla="val 2500"/>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8211312"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8412480" y="1719072"/>
            <a:ext cx="2999232"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learning-theoretic complaint</a:t>
            </a:r>
            <a:endParaRPr lang="en-US" sz="1500" dirty="0"/>
          </a:p>
        </p:txBody>
      </p:sp>
      <p:sp>
        <p:nvSpPr>
          <p:cNvPr id="21" name="Text 19"/>
          <p:cNvSpPr txBox="1"/>
          <p:nvPr/>
        </p:nvSpPr>
        <p:spPr>
          <a:xfrm>
            <a:off x="8247888" y="2157984"/>
            <a:ext cx="3127248" cy="140817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Learning purely from labelled examples does not resemble human language acquisition. Infants learn by listening to the adults around them — a process that requires building good representations of speech before any labels arrive.</a:t>
            </a:r>
            <a:endParaRPr lang="en-US" sz="1260" dirty="0"/>
          </a:p>
        </p:txBody>
      </p:sp>
      <p:sp>
        <p:nvSpPr>
          <p:cNvPr id="22" name="Shape 20"/>
          <p:cNvSpPr/>
          <p:nvPr/>
        </p:nvSpPr>
        <p:spPr>
          <a:xfrm>
            <a:off x="566928" y="3950208"/>
            <a:ext cx="11064240" cy="960120"/>
          </a:xfrm>
          <a:prstGeom prst="roundRect">
            <a:avLst>
              <a:gd name="adj" fmla="val 5714"/>
            </a:avLst>
          </a:prstGeom>
          <a:solidFill>
            <a:srgbClr val="EFF5F1"/>
          </a:solidFill>
          <a:ln w="12700">
            <a:solidFill>
              <a:srgbClr val="DCE7E1"/>
            </a:solidFill>
            <a:prstDash val="solid"/>
          </a:ln>
        </p:spPr>
        <p:txBody>
          <a:bodyPr/>
          <a:lstStyle/>
          <a:p>
            <a:endParaRPr lang="en-US"/>
          </a:p>
        </p:txBody>
      </p:sp>
      <p:sp>
        <p:nvSpPr>
          <p:cNvPr id="23" name="Text 21"/>
          <p:cNvSpPr txBox="1"/>
          <p:nvPr/>
        </p:nvSpPr>
        <p:spPr>
          <a:xfrm>
            <a:off x="822960" y="4169664"/>
            <a:ext cx="10552176" cy="539496"/>
          </a:xfrm>
          <a:prstGeom prst="rect">
            <a:avLst/>
          </a:prstGeom>
          <a:noFill/>
          <a:ln/>
        </p:spPr>
        <p:txBody>
          <a:bodyPr wrap="square" lIns="0" tIns="0" rIns="0" bIns="0" rtlCol="0" anchor="t"/>
          <a:lstStyle/>
          <a:p>
            <a:pPr marL="0" indent="0">
              <a:lnSpc>
                <a:spcPct val="108000"/>
              </a:lnSpc>
              <a:buNone/>
            </a:pPr>
            <a:r>
              <a:rPr lang="en-US" sz="1340" dirty="0">
                <a:solidFill>
                  <a:srgbClr val="2C3B36"/>
                </a:solidFill>
                <a:latin typeface="Calibri" pitchFamily="34" charset="0"/>
                <a:ea typeface="Calibri" pitchFamily="34" charset="-122"/>
                <a:cs typeface="Calibri" pitchFamily="34" charset="-120"/>
              </a:rPr>
              <a:t>The proposal: use the unlabelled audio, which is abundant, to learn the structure of speech; then use the scarce labelled data only to attach that structure to a symbol set.</a:t>
            </a:r>
            <a:endParaRPr lang="en-US" sz="1340" dirty="0"/>
          </a:p>
        </p:txBody>
      </p:sp>
      <p:sp>
        <p:nvSpPr>
          <p:cNvPr id="24" name="Shape 22"/>
          <p:cNvSpPr/>
          <p:nvPr/>
        </p:nvSpPr>
        <p:spPr>
          <a:xfrm>
            <a:off x="566928" y="5029200"/>
            <a:ext cx="11064240" cy="1024128"/>
          </a:xfrm>
          <a:prstGeom prst="roundRect">
            <a:avLst>
              <a:gd name="adj" fmla="val 5357"/>
            </a:avLst>
          </a:prstGeom>
          <a:solidFill>
            <a:srgbClr val="13302A"/>
          </a:solidFill>
          <a:ln w="12700">
            <a:solidFill>
              <a:srgbClr val="13302A"/>
            </a:solidFill>
            <a:prstDash val="solid"/>
          </a:ln>
        </p:spPr>
        <p:txBody>
          <a:bodyPr/>
          <a:lstStyle/>
          <a:p>
            <a:endParaRPr lang="en-US"/>
          </a:p>
        </p:txBody>
      </p:sp>
      <p:sp>
        <p:nvSpPr>
          <p:cNvPr id="25" name="Text 23"/>
          <p:cNvSpPr txBox="1"/>
          <p:nvPr/>
        </p:nvSpPr>
        <p:spPr>
          <a:xfrm>
            <a:off x="822960" y="5248656"/>
            <a:ext cx="10552176" cy="603504"/>
          </a:xfrm>
          <a:prstGeom prst="rect">
            <a:avLst/>
          </a:prstGeom>
          <a:noFill/>
          <a:ln/>
        </p:spPr>
        <p:txBody>
          <a:bodyPr wrap="square" lIns="0" tIns="0" rIns="0" bIns="0" rtlCol="0" anchor="t"/>
          <a:lstStyle/>
          <a:p>
            <a:pPr marL="0" indent="0">
              <a:lnSpc>
                <a:spcPct val="108000"/>
              </a:lnSpc>
              <a:buNone/>
            </a:pPr>
            <a:r>
              <a:rPr lang="en-US" sz="1340" dirty="0">
                <a:solidFill>
                  <a:srgbClr val="C6DCD2"/>
                </a:solidFill>
                <a:latin typeface="Calibri" pitchFamily="34" charset="0"/>
                <a:ea typeface="Calibri" pitchFamily="34" charset="-122"/>
                <a:cs typeface="Calibri" pitchFamily="34" charset="-120"/>
              </a:rPr>
              <a:t>Note the intellectual debt: this is the recipe that had already reshaped natural language processing through ELMo, GPT and BERT. Much of the paper's contribution is working out what has to change when the input is a continuous waveform rather than a sequence of discrete tokens.</a:t>
            </a:r>
            <a:endParaRPr lang="en-US" sz="13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1</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Background and lineage</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What came before, and what this paper changes</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Why BERT does not simply transfer to speech</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Three properties of audio that break the masked-language-modelling recipe</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6</a:t>
            </a:r>
            <a:endParaRPr lang="en-US" sz="900" dirty="0"/>
          </a:p>
        </p:txBody>
      </p:sp>
      <p:sp>
        <p:nvSpPr>
          <p:cNvPr id="10" name="Shape 8"/>
          <p:cNvSpPr/>
          <p:nvPr/>
        </p:nvSpPr>
        <p:spPr>
          <a:xfrm>
            <a:off x="566928" y="1536192"/>
            <a:ext cx="11064240" cy="914400"/>
          </a:xfrm>
          <a:prstGeom prst="roundRect">
            <a:avLst>
              <a:gd name="adj" fmla="val 3000"/>
            </a:avLst>
          </a:prstGeom>
          <a:solidFill>
            <a:srgbClr val="EFF5F1"/>
          </a:solidFill>
          <a:ln w="12700">
            <a:solidFill>
              <a:srgbClr val="E4ECE7"/>
            </a:solidFill>
            <a:prstDash val="solid"/>
          </a:ln>
        </p:spPr>
        <p:txBody>
          <a:bodyPr/>
          <a:lstStyle/>
          <a:p>
            <a:endParaRPr lang="en-US"/>
          </a:p>
        </p:txBody>
      </p:sp>
      <p:sp>
        <p:nvSpPr>
          <p:cNvPr id="11" name="Shape 9"/>
          <p:cNvSpPr/>
          <p:nvPr/>
        </p:nvSpPr>
        <p:spPr>
          <a:xfrm>
            <a:off x="786384" y="1933956"/>
            <a:ext cx="118872" cy="118872"/>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1024128" y="1627632"/>
            <a:ext cx="21945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No vocabulary</a:t>
            </a:r>
            <a:endParaRPr lang="en-US" sz="1350" dirty="0"/>
          </a:p>
        </p:txBody>
      </p:sp>
      <p:sp>
        <p:nvSpPr>
          <p:cNvPr id="13" name="Text 11"/>
          <p:cNvSpPr txBox="1"/>
          <p:nvPr/>
        </p:nvSpPr>
        <p:spPr>
          <a:xfrm>
            <a:off x="3401568" y="1609344"/>
            <a:ext cx="80467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Text arrives pre-segmented into a finite set of tokens. A waveform is a continuous, real-valued signal with no inventory to predict over and no natural unit boundaries.</a:t>
            </a:r>
            <a:endParaRPr lang="en-US" sz="1240" dirty="0"/>
          </a:p>
        </p:txBody>
      </p:sp>
      <p:sp>
        <p:nvSpPr>
          <p:cNvPr id="14" name="Shape 12"/>
          <p:cNvSpPr/>
          <p:nvPr/>
        </p:nvSpPr>
        <p:spPr>
          <a:xfrm>
            <a:off x="566928" y="2505456"/>
            <a:ext cx="11064240" cy="914400"/>
          </a:xfrm>
          <a:prstGeom prst="roundRect">
            <a:avLst>
              <a:gd name="adj" fmla="val 3000"/>
            </a:avLst>
          </a:prstGeom>
          <a:solidFill>
            <a:srgbClr val="FFFFFF"/>
          </a:solidFill>
          <a:ln w="12700">
            <a:solidFill>
              <a:srgbClr val="E4ECE7"/>
            </a:solidFill>
            <a:prstDash val="solid"/>
          </a:ln>
        </p:spPr>
        <p:txBody>
          <a:bodyPr/>
          <a:lstStyle/>
          <a:p>
            <a:endParaRPr lang="en-US"/>
          </a:p>
        </p:txBody>
      </p:sp>
      <p:sp>
        <p:nvSpPr>
          <p:cNvPr id="15" name="Shape 13"/>
          <p:cNvSpPr/>
          <p:nvPr/>
        </p:nvSpPr>
        <p:spPr>
          <a:xfrm>
            <a:off x="786384" y="2903220"/>
            <a:ext cx="118872" cy="118872"/>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1024128" y="2596896"/>
            <a:ext cx="21945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No segmentation</a:t>
            </a:r>
            <a:endParaRPr lang="en-US" sz="1350" dirty="0"/>
          </a:p>
        </p:txBody>
      </p:sp>
      <p:sp>
        <p:nvSpPr>
          <p:cNvPr id="17" name="Text 15"/>
          <p:cNvSpPr txBox="1"/>
          <p:nvPr/>
        </p:nvSpPr>
        <p:spPr>
          <a:xfrm>
            <a:off x="3401568" y="2578608"/>
            <a:ext cx="80467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Words and phonemes are not delimited in the signal. There is no equivalent of whitespace, and segment durations vary enormously with speaker and rate.</a:t>
            </a:r>
            <a:endParaRPr lang="en-US" sz="1240" dirty="0"/>
          </a:p>
        </p:txBody>
      </p:sp>
      <p:sp>
        <p:nvSpPr>
          <p:cNvPr id="18" name="Shape 16"/>
          <p:cNvSpPr/>
          <p:nvPr/>
        </p:nvSpPr>
        <p:spPr>
          <a:xfrm>
            <a:off x="566928" y="3474720"/>
            <a:ext cx="11064240" cy="914400"/>
          </a:xfrm>
          <a:prstGeom prst="roundRect">
            <a:avLst>
              <a:gd name="adj" fmla="val 3000"/>
            </a:avLst>
          </a:prstGeom>
          <a:solidFill>
            <a:srgbClr val="EFF5F1"/>
          </a:solidFill>
          <a:ln w="12700">
            <a:solidFill>
              <a:srgbClr val="E4ECE7"/>
            </a:solidFill>
            <a:prstDash val="solid"/>
          </a:ln>
        </p:spPr>
        <p:txBody>
          <a:bodyPr/>
          <a:lstStyle/>
          <a:p>
            <a:endParaRPr lang="en-US"/>
          </a:p>
        </p:txBody>
      </p:sp>
      <p:sp>
        <p:nvSpPr>
          <p:cNvPr id="19" name="Shape 17"/>
          <p:cNvSpPr/>
          <p:nvPr/>
        </p:nvSpPr>
        <p:spPr>
          <a:xfrm>
            <a:off x="786384" y="3872484"/>
            <a:ext cx="118872" cy="118872"/>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1024128" y="3566160"/>
            <a:ext cx="21945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Enormous redundancy</a:t>
            </a:r>
            <a:endParaRPr lang="en-US" sz="1350" dirty="0"/>
          </a:p>
        </p:txBody>
      </p:sp>
      <p:sp>
        <p:nvSpPr>
          <p:cNvPr id="21" name="Text 19"/>
          <p:cNvSpPr txBox="1"/>
          <p:nvPr/>
        </p:nvSpPr>
        <p:spPr>
          <a:xfrm>
            <a:off x="3401568" y="3547872"/>
            <a:ext cx="80467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Sixteen thousand samples per second, most of which are predictable from their neighbours. Reconstructing the input is close to trivial and teaches the model almost nothing.</a:t>
            </a:r>
            <a:endParaRPr lang="en-US" sz="1240" dirty="0"/>
          </a:p>
        </p:txBody>
      </p:sp>
      <p:sp>
        <p:nvSpPr>
          <p:cNvPr id="22" name="Shape 20"/>
          <p:cNvSpPr/>
          <p:nvPr/>
        </p:nvSpPr>
        <p:spPr>
          <a:xfrm>
            <a:off x="566928" y="4443984"/>
            <a:ext cx="11064240" cy="914400"/>
          </a:xfrm>
          <a:prstGeom prst="roundRect">
            <a:avLst>
              <a:gd name="adj" fmla="val 3000"/>
            </a:avLst>
          </a:prstGeom>
          <a:solidFill>
            <a:srgbClr val="FFFFFF"/>
          </a:solidFill>
          <a:ln w="12700">
            <a:solidFill>
              <a:srgbClr val="E4ECE7"/>
            </a:solidFill>
            <a:prstDash val="solid"/>
          </a:ln>
        </p:spPr>
        <p:txBody>
          <a:bodyPr/>
          <a:lstStyle/>
          <a:p>
            <a:endParaRPr lang="en-US"/>
          </a:p>
        </p:txBody>
      </p:sp>
      <p:sp>
        <p:nvSpPr>
          <p:cNvPr id="23" name="Shape 21"/>
          <p:cNvSpPr/>
          <p:nvPr/>
        </p:nvSpPr>
        <p:spPr>
          <a:xfrm>
            <a:off x="786384" y="4841748"/>
            <a:ext cx="118872" cy="118872"/>
          </a:xfrm>
          <a:prstGeom prst="ellipse">
            <a:avLst/>
          </a:prstGeom>
          <a:solidFill>
            <a:srgbClr val="2E7D5B"/>
          </a:solidFill>
          <a:ln w="12700">
            <a:solidFill>
              <a:srgbClr val="333333"/>
            </a:solidFill>
            <a:prstDash val="solid"/>
          </a:ln>
        </p:spPr>
        <p:txBody>
          <a:bodyPr/>
          <a:lstStyle/>
          <a:p>
            <a:endParaRPr lang="en-US"/>
          </a:p>
        </p:txBody>
      </p:sp>
      <p:sp>
        <p:nvSpPr>
          <p:cNvPr id="24" name="Text 22"/>
          <p:cNvSpPr txBox="1"/>
          <p:nvPr/>
        </p:nvSpPr>
        <p:spPr>
          <a:xfrm>
            <a:off x="1024128" y="4535424"/>
            <a:ext cx="21945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Nuisance variation</a:t>
            </a:r>
            <a:endParaRPr lang="en-US" sz="1350" dirty="0"/>
          </a:p>
        </p:txBody>
      </p:sp>
      <p:sp>
        <p:nvSpPr>
          <p:cNvPr id="25" name="Text 23"/>
          <p:cNvSpPr txBox="1"/>
          <p:nvPr/>
        </p:nvSpPr>
        <p:spPr>
          <a:xfrm>
            <a:off x="3401568" y="4517136"/>
            <a:ext cx="80467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The same words carry speaker identity, room acoustics, microphone response, background noise. A model that reconstructs faithfully has learned the nuisance along with the content.</a:t>
            </a:r>
            <a:endParaRPr lang="en-US" sz="1240" dirty="0"/>
          </a:p>
        </p:txBody>
      </p:sp>
      <p:sp>
        <p:nvSpPr>
          <p:cNvPr id="26" name="Shape 24"/>
          <p:cNvSpPr/>
          <p:nvPr/>
        </p:nvSpPr>
        <p:spPr>
          <a:xfrm>
            <a:off x="566928" y="5468112"/>
            <a:ext cx="11064240" cy="585216"/>
          </a:xfrm>
          <a:prstGeom prst="roundRect">
            <a:avLst>
              <a:gd name="adj" fmla="val 9375"/>
            </a:avLst>
          </a:prstGeom>
          <a:solidFill>
            <a:srgbClr val="13302A"/>
          </a:solidFill>
          <a:ln w="12700">
            <a:solidFill>
              <a:srgbClr val="13302A"/>
            </a:solidFill>
            <a:prstDash val="solid"/>
          </a:ln>
        </p:spPr>
        <p:txBody>
          <a:bodyPr/>
          <a:lstStyle/>
          <a:p>
            <a:endParaRPr lang="en-US"/>
          </a:p>
        </p:txBody>
      </p:sp>
      <p:sp>
        <p:nvSpPr>
          <p:cNvPr id="27" name="Text 25"/>
          <p:cNvSpPr txBox="1"/>
          <p:nvPr/>
        </p:nvSpPr>
        <p:spPr>
          <a:xfrm>
            <a:off x="822960" y="5687568"/>
            <a:ext cx="10552176" cy="164592"/>
          </a:xfrm>
          <a:prstGeom prst="rect">
            <a:avLst/>
          </a:prstGeom>
          <a:noFill/>
          <a:ln/>
        </p:spPr>
        <p:txBody>
          <a:bodyPr wrap="square" lIns="0" tIns="0" rIns="0" bIns="0" rtlCol="0" anchor="t"/>
          <a:lstStyle/>
          <a:p>
            <a:pPr marL="0" indent="0">
              <a:lnSpc>
                <a:spcPct val="108000"/>
              </a:lnSpc>
              <a:buNone/>
            </a:pPr>
            <a:r>
              <a:rPr lang="en-US" sz="1350" dirty="0">
                <a:solidFill>
                  <a:srgbClr val="B7D24A"/>
                </a:solidFill>
                <a:latin typeface="Calibri" pitchFamily="34" charset="0"/>
                <a:ea typeface="Calibri" pitchFamily="34" charset="-122"/>
                <a:cs typeface="Calibri" pitchFamily="34" charset="-120"/>
              </a:rPr>
              <a:t>So the design problem is: what do you predict, and over what inventory?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lineage</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Four immediate predecessors, all cited in the paper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7</a:t>
            </a:r>
            <a:endParaRPr lang="en-US" sz="900" dirty="0"/>
          </a:p>
        </p:txBody>
      </p:sp>
      <p:sp>
        <p:nvSpPr>
          <p:cNvPr id="10" name="Shape 8"/>
          <p:cNvSpPr/>
          <p:nvPr/>
        </p:nvSpPr>
        <p:spPr>
          <a:xfrm>
            <a:off x="566928" y="1572768"/>
            <a:ext cx="2697480" cy="2743200"/>
          </a:xfrm>
          <a:prstGeom prst="roundRect">
            <a:avLst>
              <a:gd name="adj" fmla="val 2034"/>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37360"/>
            <a:ext cx="2057400" cy="365760"/>
          </a:xfrm>
          <a:prstGeom prst="rect">
            <a:avLst/>
          </a:prstGeom>
          <a:noFill/>
          <a:ln/>
        </p:spPr>
        <p:txBody>
          <a:bodyPr wrap="square" lIns="0" tIns="0" rIns="0" bIns="0" rtlCol="0" anchor="ctr"/>
          <a:lstStyle/>
          <a:p>
            <a:pPr marL="0" indent="0">
              <a:buNone/>
            </a:pPr>
            <a:r>
              <a:rPr lang="en-US" sz="1700" b="1" dirty="0">
                <a:solidFill>
                  <a:srgbClr val="0E241E"/>
                </a:solidFill>
                <a:latin typeface="Cambria" pitchFamily="34" charset="0"/>
                <a:ea typeface="Cambria" pitchFamily="34" charset="-122"/>
                <a:cs typeface="Cambria" pitchFamily="34" charset="-120"/>
              </a:rPr>
              <a:t>CPC</a:t>
            </a:r>
            <a:endParaRPr lang="en-US" sz="1700" dirty="0"/>
          </a:p>
        </p:txBody>
      </p:sp>
      <p:sp>
        <p:nvSpPr>
          <p:cNvPr id="13" name="Text 11"/>
          <p:cNvSpPr txBox="1"/>
          <p:nvPr/>
        </p:nvSpPr>
        <p:spPr>
          <a:xfrm>
            <a:off x="822960" y="2176272"/>
            <a:ext cx="2185416" cy="1956816"/>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Contrastive predictive coding: predict future latents rather than reconstruct. Establishes the contrastive objective for sequential data.</a:t>
            </a:r>
            <a:endParaRPr lang="en-US" sz="1200" dirty="0"/>
          </a:p>
        </p:txBody>
      </p:sp>
      <p:sp>
        <p:nvSpPr>
          <p:cNvPr id="14" name="Text 12"/>
          <p:cNvSpPr txBox="1"/>
          <p:nvPr/>
        </p:nvSpPr>
        <p:spPr>
          <a:xfrm>
            <a:off x="1024128" y="1938528"/>
            <a:ext cx="2194560" cy="256032"/>
          </a:xfrm>
          <a:prstGeom prst="rect">
            <a:avLst/>
          </a:prstGeom>
          <a:noFill/>
          <a:ln/>
        </p:spPr>
        <p:txBody>
          <a:bodyPr wrap="square" lIns="0" tIns="0" rIns="0" bIns="0" rtlCol="0" anchor="ctr"/>
          <a:lstStyle/>
          <a:p>
            <a:pPr marL="0" indent="0">
              <a:buNone/>
            </a:pPr>
            <a:r>
              <a:rPr lang="en-US" sz="1050" i="1" dirty="0">
                <a:solidFill>
                  <a:srgbClr val="4A6B62"/>
                </a:solidFill>
                <a:latin typeface="Calibri" pitchFamily="34" charset="0"/>
                <a:ea typeface="Calibri" pitchFamily="34" charset="-122"/>
                <a:cs typeface="Calibri" pitchFamily="34" charset="-120"/>
              </a:rPr>
              <a:t>van den Oord et al., 2018</a:t>
            </a:r>
            <a:endParaRPr lang="en-US" sz="1050" dirty="0"/>
          </a:p>
        </p:txBody>
      </p:sp>
      <p:sp>
        <p:nvSpPr>
          <p:cNvPr id="15" name="Shape 13"/>
          <p:cNvSpPr/>
          <p:nvPr/>
        </p:nvSpPr>
        <p:spPr>
          <a:xfrm>
            <a:off x="3282696" y="2926080"/>
            <a:ext cx="91440" cy="0"/>
          </a:xfrm>
          <a:prstGeom prst="line">
            <a:avLst/>
          </a:prstGeom>
          <a:noFill/>
          <a:ln w="25400">
            <a:solidFill>
              <a:srgbClr val="4A6B62"/>
            </a:solidFill>
            <a:prstDash val="solid"/>
            <a:tailEnd type="triangle"/>
          </a:ln>
        </p:spPr>
        <p:txBody>
          <a:bodyPr/>
          <a:lstStyle/>
          <a:p>
            <a:endParaRPr lang="en-US"/>
          </a:p>
        </p:txBody>
      </p:sp>
      <p:sp>
        <p:nvSpPr>
          <p:cNvPr id="16" name="Shape 14"/>
          <p:cNvSpPr/>
          <p:nvPr/>
        </p:nvSpPr>
        <p:spPr>
          <a:xfrm>
            <a:off x="3392424" y="1572768"/>
            <a:ext cx="2697480" cy="2743200"/>
          </a:xfrm>
          <a:prstGeom prst="roundRect">
            <a:avLst>
              <a:gd name="adj" fmla="val 2034"/>
            </a:avLst>
          </a:prstGeom>
          <a:solidFill>
            <a:srgbClr val="EFF5F1"/>
          </a:solidFill>
          <a:ln w="12700">
            <a:solidFill>
              <a:srgbClr val="DCE7E1"/>
            </a:solidFill>
            <a:prstDash val="solid"/>
          </a:ln>
        </p:spPr>
        <p:txBody>
          <a:bodyPr/>
          <a:lstStyle/>
          <a:p>
            <a:endParaRPr lang="en-US"/>
          </a:p>
        </p:txBody>
      </p:sp>
      <p:sp>
        <p:nvSpPr>
          <p:cNvPr id="17" name="Shape 15"/>
          <p:cNvSpPr/>
          <p:nvPr/>
        </p:nvSpPr>
        <p:spPr>
          <a:xfrm>
            <a:off x="3611880"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18" name="Text 16"/>
          <p:cNvSpPr txBox="1"/>
          <p:nvPr/>
        </p:nvSpPr>
        <p:spPr>
          <a:xfrm>
            <a:off x="3813048" y="1737360"/>
            <a:ext cx="2057400" cy="365760"/>
          </a:xfrm>
          <a:prstGeom prst="rect">
            <a:avLst/>
          </a:prstGeom>
          <a:noFill/>
          <a:ln/>
        </p:spPr>
        <p:txBody>
          <a:bodyPr wrap="square" lIns="0" tIns="0" rIns="0" bIns="0" rtlCol="0" anchor="ctr"/>
          <a:lstStyle/>
          <a:p>
            <a:pPr marL="0" indent="0">
              <a:buNone/>
            </a:pPr>
            <a:r>
              <a:rPr lang="en-US" sz="1700" b="1" dirty="0">
                <a:solidFill>
                  <a:srgbClr val="0E241E"/>
                </a:solidFill>
                <a:latin typeface="Cambria" pitchFamily="34" charset="0"/>
                <a:ea typeface="Cambria" pitchFamily="34" charset="-122"/>
                <a:cs typeface="Cambria" pitchFamily="34" charset="-120"/>
              </a:rPr>
              <a:t>wav2vec</a:t>
            </a:r>
            <a:endParaRPr lang="en-US" sz="1700" dirty="0"/>
          </a:p>
        </p:txBody>
      </p:sp>
      <p:sp>
        <p:nvSpPr>
          <p:cNvPr id="19" name="Text 17"/>
          <p:cNvSpPr txBox="1"/>
          <p:nvPr/>
        </p:nvSpPr>
        <p:spPr>
          <a:xfrm>
            <a:off x="3648456" y="2176272"/>
            <a:ext cx="2185416" cy="1956816"/>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CPC applied to ASR with a convolutional encoder and context network. Continuous representations, no discretisation, no Transformer.</a:t>
            </a:r>
            <a:endParaRPr lang="en-US" sz="1200" dirty="0"/>
          </a:p>
        </p:txBody>
      </p:sp>
      <p:sp>
        <p:nvSpPr>
          <p:cNvPr id="20" name="Text 18"/>
          <p:cNvSpPr txBox="1"/>
          <p:nvPr/>
        </p:nvSpPr>
        <p:spPr>
          <a:xfrm>
            <a:off x="3849624" y="1938528"/>
            <a:ext cx="2194560" cy="256032"/>
          </a:xfrm>
          <a:prstGeom prst="rect">
            <a:avLst/>
          </a:prstGeom>
          <a:noFill/>
          <a:ln/>
        </p:spPr>
        <p:txBody>
          <a:bodyPr wrap="square" lIns="0" tIns="0" rIns="0" bIns="0" rtlCol="0" anchor="ctr"/>
          <a:lstStyle/>
          <a:p>
            <a:pPr marL="0" indent="0">
              <a:buNone/>
            </a:pPr>
            <a:r>
              <a:rPr lang="en-US" sz="1050" i="1" dirty="0">
                <a:solidFill>
                  <a:srgbClr val="4A6B62"/>
                </a:solidFill>
                <a:latin typeface="Calibri" pitchFamily="34" charset="0"/>
                <a:ea typeface="Calibri" pitchFamily="34" charset="-122"/>
                <a:cs typeface="Calibri" pitchFamily="34" charset="-120"/>
              </a:rPr>
              <a:t>Schneider et al., 2019</a:t>
            </a:r>
            <a:endParaRPr lang="en-US" sz="1050" dirty="0"/>
          </a:p>
        </p:txBody>
      </p:sp>
      <p:sp>
        <p:nvSpPr>
          <p:cNvPr id="21" name="Shape 19"/>
          <p:cNvSpPr/>
          <p:nvPr/>
        </p:nvSpPr>
        <p:spPr>
          <a:xfrm>
            <a:off x="6108192" y="2926080"/>
            <a:ext cx="91440" cy="0"/>
          </a:xfrm>
          <a:prstGeom prst="line">
            <a:avLst/>
          </a:prstGeom>
          <a:noFill/>
          <a:ln w="25400">
            <a:solidFill>
              <a:srgbClr val="4A6B62"/>
            </a:solidFill>
            <a:prstDash val="solid"/>
            <a:tailEnd type="triangle"/>
          </a:ln>
        </p:spPr>
        <p:txBody>
          <a:bodyPr/>
          <a:lstStyle/>
          <a:p>
            <a:endParaRPr lang="en-US"/>
          </a:p>
        </p:txBody>
      </p:sp>
      <p:sp>
        <p:nvSpPr>
          <p:cNvPr id="22" name="Shape 20"/>
          <p:cNvSpPr/>
          <p:nvPr/>
        </p:nvSpPr>
        <p:spPr>
          <a:xfrm>
            <a:off x="6217920" y="1572768"/>
            <a:ext cx="2697480" cy="2743200"/>
          </a:xfrm>
          <a:prstGeom prst="roundRect">
            <a:avLst>
              <a:gd name="adj" fmla="val 2034"/>
            </a:avLst>
          </a:prstGeom>
          <a:solidFill>
            <a:srgbClr val="EFF5F1"/>
          </a:solidFill>
          <a:ln w="12700">
            <a:solidFill>
              <a:srgbClr val="DCE7E1"/>
            </a:solidFill>
            <a:prstDash val="solid"/>
          </a:ln>
        </p:spPr>
        <p:txBody>
          <a:bodyPr/>
          <a:lstStyle/>
          <a:p>
            <a:endParaRPr lang="en-US"/>
          </a:p>
        </p:txBody>
      </p:sp>
      <p:sp>
        <p:nvSpPr>
          <p:cNvPr id="23" name="Shape 21"/>
          <p:cNvSpPr/>
          <p:nvPr/>
        </p:nvSpPr>
        <p:spPr>
          <a:xfrm>
            <a:off x="6437376" y="1865376"/>
            <a:ext cx="109728" cy="109728"/>
          </a:xfrm>
          <a:prstGeom prst="ellipse">
            <a:avLst/>
          </a:prstGeom>
          <a:solidFill>
            <a:srgbClr val="B5623C"/>
          </a:solidFill>
          <a:ln w="12700">
            <a:solidFill>
              <a:srgbClr val="333333"/>
            </a:solidFill>
            <a:prstDash val="solid"/>
          </a:ln>
        </p:spPr>
        <p:txBody>
          <a:bodyPr/>
          <a:lstStyle/>
          <a:p>
            <a:endParaRPr lang="en-US"/>
          </a:p>
        </p:txBody>
      </p:sp>
      <p:sp>
        <p:nvSpPr>
          <p:cNvPr id="24" name="Text 22"/>
          <p:cNvSpPr txBox="1"/>
          <p:nvPr/>
        </p:nvSpPr>
        <p:spPr>
          <a:xfrm>
            <a:off x="6638544" y="1737360"/>
            <a:ext cx="2057400" cy="365760"/>
          </a:xfrm>
          <a:prstGeom prst="rect">
            <a:avLst/>
          </a:prstGeom>
          <a:noFill/>
          <a:ln/>
        </p:spPr>
        <p:txBody>
          <a:bodyPr wrap="square" lIns="0" tIns="0" rIns="0" bIns="0" rtlCol="0" anchor="ctr"/>
          <a:lstStyle/>
          <a:p>
            <a:pPr marL="0" indent="0">
              <a:buNone/>
            </a:pPr>
            <a:r>
              <a:rPr lang="en-US" sz="1700" b="1" dirty="0">
                <a:solidFill>
                  <a:srgbClr val="0E241E"/>
                </a:solidFill>
                <a:latin typeface="Cambria" pitchFamily="34" charset="0"/>
                <a:ea typeface="Cambria" pitchFamily="34" charset="-122"/>
                <a:cs typeface="Cambria" pitchFamily="34" charset="-120"/>
              </a:rPr>
              <a:t>vq-wav2vec</a:t>
            </a:r>
            <a:endParaRPr lang="en-US" sz="1700" dirty="0"/>
          </a:p>
        </p:txBody>
      </p:sp>
      <p:sp>
        <p:nvSpPr>
          <p:cNvPr id="25" name="Text 23"/>
          <p:cNvSpPr txBox="1"/>
          <p:nvPr/>
        </p:nvSpPr>
        <p:spPr>
          <a:xfrm>
            <a:off x="6473952" y="2176272"/>
            <a:ext cx="2185416" cy="1956816"/>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Adds vector quantisation, producing a discrete token sequence — which a BERT model can then be trained on. But in two separate stages.</a:t>
            </a:r>
            <a:endParaRPr lang="en-US" sz="1200" dirty="0"/>
          </a:p>
        </p:txBody>
      </p:sp>
      <p:sp>
        <p:nvSpPr>
          <p:cNvPr id="26" name="Text 24"/>
          <p:cNvSpPr txBox="1"/>
          <p:nvPr/>
        </p:nvSpPr>
        <p:spPr>
          <a:xfrm>
            <a:off x="6675120" y="1938528"/>
            <a:ext cx="2194560" cy="256032"/>
          </a:xfrm>
          <a:prstGeom prst="rect">
            <a:avLst/>
          </a:prstGeom>
          <a:noFill/>
          <a:ln/>
        </p:spPr>
        <p:txBody>
          <a:bodyPr wrap="square" lIns="0" tIns="0" rIns="0" bIns="0" rtlCol="0" anchor="ctr"/>
          <a:lstStyle/>
          <a:p>
            <a:pPr marL="0" indent="0">
              <a:buNone/>
            </a:pPr>
            <a:r>
              <a:rPr lang="en-US" sz="1050" i="1" dirty="0">
                <a:solidFill>
                  <a:srgbClr val="4A6B62"/>
                </a:solidFill>
                <a:latin typeface="Calibri" pitchFamily="34" charset="0"/>
                <a:ea typeface="Calibri" pitchFamily="34" charset="-122"/>
                <a:cs typeface="Calibri" pitchFamily="34" charset="-120"/>
              </a:rPr>
              <a:t>Baevski et al., 2020</a:t>
            </a:r>
            <a:endParaRPr lang="en-US" sz="1050" dirty="0"/>
          </a:p>
        </p:txBody>
      </p:sp>
      <p:sp>
        <p:nvSpPr>
          <p:cNvPr id="27" name="Shape 25"/>
          <p:cNvSpPr/>
          <p:nvPr/>
        </p:nvSpPr>
        <p:spPr>
          <a:xfrm>
            <a:off x="8933688" y="2926080"/>
            <a:ext cx="91440" cy="0"/>
          </a:xfrm>
          <a:prstGeom prst="line">
            <a:avLst/>
          </a:prstGeom>
          <a:noFill/>
          <a:ln w="25400">
            <a:solidFill>
              <a:srgbClr val="4A6B62"/>
            </a:solidFill>
            <a:prstDash val="solid"/>
            <a:tailEnd type="triangle"/>
          </a:ln>
        </p:spPr>
        <p:txBody>
          <a:bodyPr/>
          <a:lstStyle/>
          <a:p>
            <a:endParaRPr lang="en-US"/>
          </a:p>
        </p:txBody>
      </p:sp>
      <p:sp>
        <p:nvSpPr>
          <p:cNvPr id="28" name="Shape 26"/>
          <p:cNvSpPr/>
          <p:nvPr/>
        </p:nvSpPr>
        <p:spPr>
          <a:xfrm>
            <a:off x="9043416" y="1572768"/>
            <a:ext cx="2697480" cy="2743200"/>
          </a:xfrm>
          <a:prstGeom prst="roundRect">
            <a:avLst>
              <a:gd name="adj" fmla="val 2034"/>
            </a:avLst>
          </a:prstGeom>
          <a:solidFill>
            <a:srgbClr val="EFF5F1"/>
          </a:solidFill>
          <a:ln w="12700">
            <a:solidFill>
              <a:srgbClr val="DCE7E1"/>
            </a:solidFill>
            <a:prstDash val="solid"/>
          </a:ln>
        </p:spPr>
        <p:txBody>
          <a:bodyPr/>
          <a:lstStyle/>
          <a:p>
            <a:endParaRPr lang="en-US"/>
          </a:p>
        </p:txBody>
      </p:sp>
      <p:sp>
        <p:nvSpPr>
          <p:cNvPr id="29" name="Shape 27"/>
          <p:cNvSpPr/>
          <p:nvPr/>
        </p:nvSpPr>
        <p:spPr>
          <a:xfrm>
            <a:off x="9262872" y="1865376"/>
            <a:ext cx="109728" cy="109728"/>
          </a:xfrm>
          <a:prstGeom prst="ellipse">
            <a:avLst/>
          </a:prstGeom>
          <a:solidFill>
            <a:srgbClr val="B5623C"/>
          </a:solidFill>
          <a:ln w="12700">
            <a:solidFill>
              <a:srgbClr val="333333"/>
            </a:solidFill>
            <a:prstDash val="solid"/>
          </a:ln>
        </p:spPr>
        <p:txBody>
          <a:bodyPr/>
          <a:lstStyle/>
          <a:p>
            <a:endParaRPr lang="en-US"/>
          </a:p>
        </p:txBody>
      </p:sp>
      <p:sp>
        <p:nvSpPr>
          <p:cNvPr id="30" name="Text 28"/>
          <p:cNvSpPr txBox="1"/>
          <p:nvPr/>
        </p:nvSpPr>
        <p:spPr>
          <a:xfrm>
            <a:off x="9464040" y="1737360"/>
            <a:ext cx="2057400" cy="365760"/>
          </a:xfrm>
          <a:prstGeom prst="rect">
            <a:avLst/>
          </a:prstGeom>
          <a:noFill/>
          <a:ln/>
        </p:spPr>
        <p:txBody>
          <a:bodyPr wrap="square" lIns="0" tIns="0" rIns="0" bIns="0" rtlCol="0" anchor="ctr"/>
          <a:lstStyle/>
          <a:p>
            <a:pPr marL="0" indent="0">
              <a:buNone/>
            </a:pPr>
            <a:r>
              <a:rPr lang="en-US" sz="1700" b="1" dirty="0">
                <a:solidFill>
                  <a:srgbClr val="0E241E"/>
                </a:solidFill>
                <a:latin typeface="Cambria" pitchFamily="34" charset="0"/>
                <a:ea typeface="Cambria" pitchFamily="34" charset="-122"/>
                <a:cs typeface="Cambria" pitchFamily="34" charset="-120"/>
              </a:rPr>
              <a:t>Discrete BERT</a:t>
            </a:r>
            <a:endParaRPr lang="en-US" sz="1700" dirty="0"/>
          </a:p>
        </p:txBody>
      </p:sp>
      <p:sp>
        <p:nvSpPr>
          <p:cNvPr id="31" name="Text 29"/>
          <p:cNvSpPr txBox="1"/>
          <p:nvPr/>
        </p:nvSpPr>
        <p:spPr>
          <a:xfrm>
            <a:off x="9299448" y="2176272"/>
            <a:ext cx="2185416" cy="1956816"/>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The two-stage pipeline realised: quantise first, then run masked language modelling over the frozen units. The direct baseline in every results table.</a:t>
            </a:r>
            <a:endParaRPr lang="en-US" sz="1200" dirty="0"/>
          </a:p>
        </p:txBody>
      </p:sp>
      <p:sp>
        <p:nvSpPr>
          <p:cNvPr id="32" name="Text 30"/>
          <p:cNvSpPr txBox="1"/>
          <p:nvPr/>
        </p:nvSpPr>
        <p:spPr>
          <a:xfrm>
            <a:off x="9500616" y="1938528"/>
            <a:ext cx="2194560" cy="256032"/>
          </a:xfrm>
          <a:prstGeom prst="rect">
            <a:avLst/>
          </a:prstGeom>
          <a:noFill/>
          <a:ln/>
        </p:spPr>
        <p:txBody>
          <a:bodyPr wrap="square" lIns="0" tIns="0" rIns="0" bIns="0" rtlCol="0" anchor="ctr"/>
          <a:lstStyle/>
          <a:p>
            <a:pPr marL="0" indent="0">
              <a:buNone/>
            </a:pPr>
            <a:r>
              <a:rPr lang="en-US" sz="1050" i="1" dirty="0">
                <a:solidFill>
                  <a:srgbClr val="4A6B62"/>
                </a:solidFill>
                <a:latin typeface="Calibri" pitchFamily="34" charset="0"/>
                <a:ea typeface="Calibri" pitchFamily="34" charset="-122"/>
                <a:cs typeface="Calibri" pitchFamily="34" charset="-120"/>
              </a:rPr>
              <a:t>Baevski, Auli &amp; Mohamed, 2019</a:t>
            </a:r>
            <a:endParaRPr lang="en-US" sz="1050" dirty="0"/>
          </a:p>
        </p:txBody>
      </p:sp>
      <p:sp>
        <p:nvSpPr>
          <p:cNvPr id="33" name="Shape 31"/>
          <p:cNvSpPr/>
          <p:nvPr/>
        </p:nvSpPr>
        <p:spPr>
          <a:xfrm>
            <a:off x="566928" y="4498847"/>
            <a:ext cx="11064240" cy="1700779"/>
          </a:xfrm>
          <a:prstGeom prst="roundRect">
            <a:avLst>
              <a:gd name="adj" fmla="val 3529"/>
            </a:avLst>
          </a:prstGeom>
          <a:solidFill>
            <a:srgbClr val="13302A"/>
          </a:solidFill>
          <a:ln w="12700">
            <a:solidFill>
              <a:srgbClr val="13302A"/>
            </a:solidFill>
            <a:prstDash val="solid"/>
          </a:ln>
        </p:spPr>
        <p:txBody>
          <a:bodyPr/>
          <a:lstStyle/>
          <a:p>
            <a:endParaRPr lang="en-US"/>
          </a:p>
        </p:txBody>
      </p:sp>
      <p:sp>
        <p:nvSpPr>
          <p:cNvPr id="34" name="Shape 32"/>
          <p:cNvSpPr/>
          <p:nvPr/>
        </p:nvSpPr>
        <p:spPr>
          <a:xfrm>
            <a:off x="786384" y="4791456"/>
            <a:ext cx="109728" cy="109728"/>
          </a:xfrm>
          <a:prstGeom prst="ellipse">
            <a:avLst/>
          </a:prstGeom>
          <a:solidFill>
            <a:srgbClr val="B7D24A"/>
          </a:solidFill>
          <a:ln w="12700">
            <a:solidFill>
              <a:srgbClr val="333333"/>
            </a:solidFill>
            <a:prstDash val="solid"/>
          </a:ln>
        </p:spPr>
        <p:txBody>
          <a:bodyPr/>
          <a:lstStyle/>
          <a:p>
            <a:endParaRPr lang="en-US"/>
          </a:p>
        </p:txBody>
      </p:sp>
      <p:sp>
        <p:nvSpPr>
          <p:cNvPr id="35" name="Text 33"/>
          <p:cNvSpPr txBox="1"/>
          <p:nvPr/>
        </p:nvSpPr>
        <p:spPr>
          <a:xfrm>
            <a:off x="987552" y="46634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problem with the two-stage pipeline</a:t>
            </a:r>
            <a:endParaRPr lang="en-US" sz="1500" dirty="0"/>
          </a:p>
        </p:txBody>
      </p:sp>
      <p:sp>
        <p:nvSpPr>
          <p:cNvPr id="36" name="Text 34"/>
          <p:cNvSpPr txBox="1"/>
          <p:nvPr/>
        </p:nvSpPr>
        <p:spPr>
          <a:xfrm>
            <a:off x="822960" y="5102352"/>
            <a:ext cx="10552176" cy="768096"/>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In vq-wav2vec and Discrete BERT the codebook is frozen before the context model is ever trained. Whatever the quantiser throws away in stage one is gone for good, and the quantiser has no signal telling it what the context model will need.</a:t>
            </a:r>
            <a:endParaRPr lang="en-US" sz="1300" dirty="0"/>
          </a:p>
          <a:p>
            <a:pPr marL="0" indent="0">
              <a:lnSpc>
                <a:spcPct val="108000"/>
              </a:lnSpc>
              <a:buNone/>
            </a:pPr>
            <a:endParaRPr lang="en-US" sz="1300" dirty="0"/>
          </a:p>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wav2vec 2.0's central move is to learn both at once, end to end — and, as we will see, to feed the Transformer the continuous latents rather than the discrete ones.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paper in one slide</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Four decisions, each of which the rest of the paper defends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8</a:t>
            </a:r>
            <a:endParaRPr lang="en-US" sz="900" dirty="0"/>
          </a:p>
        </p:txBody>
      </p:sp>
      <p:sp>
        <p:nvSpPr>
          <p:cNvPr id="10" name="Shape 8"/>
          <p:cNvSpPr/>
          <p:nvPr/>
        </p:nvSpPr>
        <p:spPr>
          <a:xfrm>
            <a:off x="566928" y="1572768"/>
            <a:ext cx="5440680" cy="1691640"/>
          </a:xfrm>
          <a:prstGeom prst="roundRect">
            <a:avLst>
              <a:gd name="adj" fmla="val 3243"/>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50" b="1" dirty="0">
                <a:solidFill>
                  <a:srgbClr val="0E241E"/>
                </a:solidFill>
                <a:latin typeface="Cambria" pitchFamily="34" charset="0"/>
                <a:ea typeface="Cambria" pitchFamily="34" charset="-122"/>
                <a:cs typeface="Cambria" pitchFamily="34" charset="-120"/>
              </a:rPr>
              <a:t>Work from the raw waveform</a:t>
            </a:r>
            <a:endParaRPr lang="en-US" sz="1550" dirty="0"/>
          </a:p>
        </p:txBody>
      </p:sp>
      <p:sp>
        <p:nvSpPr>
          <p:cNvPr id="13" name="Text 11"/>
          <p:cNvSpPr txBox="1"/>
          <p:nvPr/>
        </p:nvSpPr>
        <p:spPr>
          <a:xfrm>
            <a:off x="822960" y="2176272"/>
            <a:ext cx="4928616" cy="9052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A convolutional encoder learns its own front end instead of consuming mel filter banks. Nothing hand-engineered enters the model.</a:t>
            </a:r>
            <a:endParaRPr lang="en-US" sz="1280" dirty="0"/>
          </a:p>
        </p:txBody>
      </p:sp>
      <p:sp>
        <p:nvSpPr>
          <p:cNvPr id="14" name="Shape 12"/>
          <p:cNvSpPr/>
          <p:nvPr/>
        </p:nvSpPr>
        <p:spPr>
          <a:xfrm>
            <a:off x="6190488" y="1572768"/>
            <a:ext cx="5440680" cy="1691640"/>
          </a:xfrm>
          <a:prstGeom prst="roundRect">
            <a:avLst>
              <a:gd name="adj" fmla="val 3243"/>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409944"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50" b="1" dirty="0">
                <a:solidFill>
                  <a:srgbClr val="0E241E"/>
                </a:solidFill>
                <a:latin typeface="Cambria" pitchFamily="34" charset="0"/>
                <a:ea typeface="Cambria" pitchFamily="34" charset="-122"/>
                <a:cs typeface="Cambria" pitchFamily="34" charset="-120"/>
              </a:rPr>
              <a:t>Mask in latent space, not input space</a:t>
            </a:r>
            <a:endParaRPr lang="en-US" sz="1550" dirty="0"/>
          </a:p>
        </p:txBody>
      </p:sp>
      <p:sp>
        <p:nvSpPr>
          <p:cNvPr id="17" name="Text 15"/>
          <p:cNvSpPr txBox="1"/>
          <p:nvPr/>
        </p:nvSpPr>
        <p:spPr>
          <a:xfrm>
            <a:off x="6446520" y="2176272"/>
            <a:ext cx="4928616" cy="9052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Spans of encoder output are replaced by a learned vector before the Transformer sees them — the BERT recipe, moved one stage later.</a:t>
            </a:r>
            <a:endParaRPr lang="en-US" sz="1280" dirty="0"/>
          </a:p>
        </p:txBody>
      </p:sp>
      <p:sp>
        <p:nvSpPr>
          <p:cNvPr id="18" name="Shape 16"/>
          <p:cNvSpPr/>
          <p:nvPr/>
        </p:nvSpPr>
        <p:spPr>
          <a:xfrm>
            <a:off x="566928" y="3401568"/>
            <a:ext cx="5440680" cy="1691640"/>
          </a:xfrm>
          <a:prstGeom prst="roundRect">
            <a:avLst>
              <a:gd name="adj" fmla="val 3243"/>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786384" y="3694176"/>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987552" y="3566160"/>
            <a:ext cx="4800600" cy="365760"/>
          </a:xfrm>
          <a:prstGeom prst="rect">
            <a:avLst/>
          </a:prstGeom>
          <a:noFill/>
          <a:ln/>
        </p:spPr>
        <p:txBody>
          <a:bodyPr wrap="square" lIns="0" tIns="0" rIns="0" bIns="0" rtlCol="0" anchor="ctr"/>
          <a:lstStyle/>
          <a:p>
            <a:pPr marL="0" indent="0">
              <a:buNone/>
            </a:pPr>
            <a:r>
              <a:rPr lang="en-US" sz="1550" b="1" dirty="0">
                <a:solidFill>
                  <a:srgbClr val="0E241E"/>
                </a:solidFill>
                <a:latin typeface="Cambria" pitchFamily="34" charset="0"/>
                <a:ea typeface="Cambria" pitchFamily="34" charset="-122"/>
                <a:cs typeface="Cambria" pitchFamily="34" charset="-120"/>
              </a:rPr>
              <a:t>Predict a learned discrete inventory</a:t>
            </a:r>
            <a:endParaRPr lang="en-US" sz="1550" dirty="0"/>
          </a:p>
        </p:txBody>
      </p:sp>
      <p:sp>
        <p:nvSpPr>
          <p:cNvPr id="21" name="Text 19"/>
          <p:cNvSpPr txBox="1"/>
          <p:nvPr/>
        </p:nvSpPr>
        <p:spPr>
          <a:xfrm>
            <a:off x="822960" y="4005072"/>
            <a:ext cx="4928616" cy="9052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target is a quantised version of the model's own latent, chosen from codebooks learned during the same training run.</a:t>
            </a:r>
            <a:endParaRPr lang="en-US" sz="1280" dirty="0"/>
          </a:p>
        </p:txBody>
      </p:sp>
      <p:sp>
        <p:nvSpPr>
          <p:cNvPr id="22" name="Shape 20"/>
          <p:cNvSpPr/>
          <p:nvPr/>
        </p:nvSpPr>
        <p:spPr>
          <a:xfrm>
            <a:off x="6190488" y="3401568"/>
            <a:ext cx="5440680" cy="1691640"/>
          </a:xfrm>
          <a:prstGeom prst="roundRect">
            <a:avLst>
              <a:gd name="adj" fmla="val 3243"/>
            </a:avLst>
          </a:prstGeom>
          <a:solidFill>
            <a:srgbClr val="EFF5F1"/>
          </a:solidFill>
          <a:ln w="12700">
            <a:solidFill>
              <a:srgbClr val="DCE7E1"/>
            </a:solidFill>
            <a:prstDash val="solid"/>
          </a:ln>
        </p:spPr>
        <p:txBody>
          <a:bodyPr/>
          <a:lstStyle/>
          <a:p>
            <a:endParaRPr lang="en-US"/>
          </a:p>
        </p:txBody>
      </p:sp>
      <p:sp>
        <p:nvSpPr>
          <p:cNvPr id="23" name="Shape 21"/>
          <p:cNvSpPr/>
          <p:nvPr/>
        </p:nvSpPr>
        <p:spPr>
          <a:xfrm>
            <a:off x="6409944" y="3694176"/>
            <a:ext cx="109728" cy="109728"/>
          </a:xfrm>
          <a:prstGeom prst="ellipse">
            <a:avLst/>
          </a:prstGeom>
          <a:solidFill>
            <a:srgbClr val="2E7D5B"/>
          </a:solidFill>
          <a:ln w="12700">
            <a:solidFill>
              <a:srgbClr val="333333"/>
            </a:solidFill>
            <a:prstDash val="solid"/>
          </a:ln>
        </p:spPr>
        <p:txBody>
          <a:bodyPr/>
          <a:lstStyle/>
          <a:p>
            <a:endParaRPr lang="en-US"/>
          </a:p>
        </p:txBody>
      </p:sp>
      <p:sp>
        <p:nvSpPr>
          <p:cNvPr id="24" name="Text 22"/>
          <p:cNvSpPr txBox="1"/>
          <p:nvPr/>
        </p:nvSpPr>
        <p:spPr>
          <a:xfrm>
            <a:off x="6611112" y="3566160"/>
            <a:ext cx="4800600" cy="365760"/>
          </a:xfrm>
          <a:prstGeom prst="rect">
            <a:avLst/>
          </a:prstGeom>
          <a:noFill/>
          <a:ln/>
        </p:spPr>
        <p:txBody>
          <a:bodyPr wrap="square" lIns="0" tIns="0" rIns="0" bIns="0" rtlCol="0" anchor="ctr"/>
          <a:lstStyle/>
          <a:p>
            <a:pPr marL="0" indent="0">
              <a:buNone/>
            </a:pPr>
            <a:r>
              <a:rPr lang="en-US" sz="1550" b="1" dirty="0">
                <a:solidFill>
                  <a:srgbClr val="0E241E"/>
                </a:solidFill>
                <a:latin typeface="Cambria" pitchFamily="34" charset="0"/>
                <a:ea typeface="Cambria" pitchFamily="34" charset="-122"/>
                <a:cs typeface="Cambria" pitchFamily="34" charset="-120"/>
              </a:rPr>
              <a:t>Train the inventory and the context model jointly</a:t>
            </a:r>
            <a:endParaRPr lang="en-US" sz="1550" dirty="0"/>
          </a:p>
        </p:txBody>
      </p:sp>
      <p:sp>
        <p:nvSpPr>
          <p:cNvPr id="25" name="Text 23"/>
          <p:cNvSpPr txBox="1"/>
          <p:nvPr/>
        </p:nvSpPr>
        <p:spPr>
          <a:xfrm>
            <a:off x="6446520" y="4005072"/>
            <a:ext cx="4928616" cy="9052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One objective, one training run, gradients flowing to the quantiser through a Gumbel softmax.</a:t>
            </a:r>
            <a:endParaRPr lang="en-US" sz="1280" dirty="0"/>
          </a:p>
        </p:txBody>
      </p:sp>
      <p:sp>
        <p:nvSpPr>
          <p:cNvPr id="26" name="Shape 24"/>
          <p:cNvSpPr/>
          <p:nvPr/>
        </p:nvSpPr>
        <p:spPr>
          <a:xfrm>
            <a:off x="566928" y="5285232"/>
            <a:ext cx="11064240" cy="768096"/>
          </a:xfrm>
          <a:prstGeom prst="roundRect">
            <a:avLst>
              <a:gd name="adj" fmla="val 7143"/>
            </a:avLst>
          </a:prstGeom>
          <a:solidFill>
            <a:srgbClr val="EFF5F1"/>
          </a:solidFill>
          <a:ln w="12700">
            <a:solidFill>
              <a:srgbClr val="DCE7E1"/>
            </a:solidFill>
            <a:prstDash val="solid"/>
          </a:ln>
        </p:spPr>
        <p:txBody>
          <a:bodyPr/>
          <a:lstStyle/>
          <a:p>
            <a:endParaRPr lang="en-US"/>
          </a:p>
        </p:txBody>
      </p:sp>
      <p:sp>
        <p:nvSpPr>
          <p:cNvPr id="27" name="Text 25"/>
          <p:cNvSpPr txBox="1"/>
          <p:nvPr/>
        </p:nvSpPr>
        <p:spPr>
          <a:xfrm>
            <a:off x="822960" y="5504688"/>
            <a:ext cx="10552176" cy="347472"/>
          </a:xfrm>
          <a:prstGeom prst="rect">
            <a:avLst/>
          </a:prstGeom>
          <a:noFill/>
          <a:ln/>
        </p:spPr>
        <p:txBody>
          <a:bodyPr wrap="square" lIns="0" tIns="0" rIns="0" bIns="0" rtlCol="0" anchor="t"/>
          <a:lstStyle/>
          <a:p>
            <a:pPr marL="0" indent="0">
              <a:lnSpc>
                <a:spcPct val="108000"/>
              </a:lnSpc>
              <a:buNone/>
            </a:pPr>
            <a:r>
              <a:rPr lang="en-US" sz="1340" dirty="0">
                <a:solidFill>
                  <a:srgbClr val="2C3B36"/>
                </a:solidFill>
                <a:latin typeface="Calibri" pitchFamily="34" charset="0"/>
                <a:ea typeface="Calibri" pitchFamily="34" charset="-122"/>
                <a:cs typeface="Calibri" pitchFamily="34" charset="-120"/>
              </a:rPr>
              <a:t>The rest of Part I is these four decisions in detail. Keep them in view — every hyperparameter we are about to meet exists to make one of them work.</a:t>
            </a:r>
            <a:endParaRPr lang="en-US" sz="13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2</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model</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Feature encoder, context network, quantisation module</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architecture end to end</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Three components, two paths, one loss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10</a:t>
            </a:r>
            <a:endParaRPr lang="en-US" sz="900" dirty="0"/>
          </a:p>
        </p:txBody>
      </p:sp>
      <p:sp>
        <p:nvSpPr>
          <p:cNvPr id="10" name="Shape 8"/>
          <p:cNvSpPr/>
          <p:nvPr/>
        </p:nvSpPr>
        <p:spPr>
          <a:xfrm>
            <a:off x="566928" y="1828800"/>
            <a:ext cx="1828800" cy="1234440"/>
          </a:xfrm>
          <a:prstGeom prst="roundRect">
            <a:avLst>
              <a:gd name="adj" fmla="val 4444"/>
            </a:avLst>
          </a:prstGeom>
          <a:solidFill>
            <a:srgbClr val="EFF5F1"/>
          </a:solidFill>
          <a:ln w="12700">
            <a:solidFill>
              <a:srgbClr val="DCE7E1"/>
            </a:solidFill>
            <a:prstDash val="solid"/>
          </a:ln>
        </p:spPr>
        <p:txBody>
          <a:bodyPr/>
          <a:lstStyle/>
          <a:p>
            <a:endParaRPr lang="en-US"/>
          </a:p>
        </p:txBody>
      </p:sp>
      <p:sp>
        <p:nvSpPr>
          <p:cNvPr id="11" name="Text 9"/>
          <p:cNvSpPr txBox="1"/>
          <p:nvPr/>
        </p:nvSpPr>
        <p:spPr>
          <a:xfrm>
            <a:off x="694944" y="1956816"/>
            <a:ext cx="1572768" cy="310896"/>
          </a:xfrm>
          <a:prstGeom prst="rect">
            <a:avLst/>
          </a:prstGeom>
          <a:noFill/>
          <a:ln/>
        </p:spPr>
        <p:txBody>
          <a:bodyPr wrap="square" lIns="0" tIns="0" rIns="0" bIns="0" rtlCol="0" anchor="ctr"/>
          <a:lstStyle/>
          <a:p>
            <a:pPr marL="0" indent="0" algn="ctr">
              <a:buNone/>
            </a:pPr>
            <a:r>
              <a:rPr lang="en-US" sz="1250" b="1" dirty="0">
                <a:solidFill>
                  <a:srgbClr val="0E241E"/>
                </a:solidFill>
                <a:latin typeface="Cambria" pitchFamily="34" charset="0"/>
                <a:ea typeface="Cambria" pitchFamily="34" charset="-122"/>
                <a:cs typeface="Cambria" pitchFamily="34" charset="-120"/>
              </a:rPr>
              <a:t>Raw waveform</a:t>
            </a:r>
            <a:endParaRPr lang="en-US" sz="1250" dirty="0"/>
          </a:p>
        </p:txBody>
      </p:sp>
      <p:sp>
        <p:nvSpPr>
          <p:cNvPr id="12" name="Text 10"/>
          <p:cNvSpPr txBox="1"/>
          <p:nvPr/>
        </p:nvSpPr>
        <p:spPr>
          <a:xfrm>
            <a:off x="676656" y="2286000"/>
            <a:ext cx="1609344" cy="694944"/>
          </a:xfrm>
          <a:prstGeom prst="rect">
            <a:avLst/>
          </a:prstGeom>
          <a:noFill/>
          <a:ln/>
        </p:spPr>
        <p:txBody>
          <a:bodyPr wrap="square" lIns="0" tIns="0" rIns="0" bIns="0" rtlCol="0" anchor="ctr"/>
          <a:lstStyle/>
          <a:p>
            <a:pPr marL="0" indent="0" algn="ctr">
              <a:buNone/>
            </a:pPr>
            <a:r>
              <a:rPr lang="en-US" sz="1000" dirty="0">
                <a:solidFill>
                  <a:srgbClr val="4A6B62"/>
                </a:solidFill>
                <a:latin typeface="Calibri" pitchFamily="34" charset="0"/>
                <a:ea typeface="Calibri" pitchFamily="34" charset="-122"/>
                <a:cs typeface="Calibri" pitchFamily="34" charset="-120"/>
              </a:rPr>
              <a:t>X</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normalised to zero mean,</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unit variance</a:t>
            </a:r>
            <a:endParaRPr lang="en-US" sz="1000" dirty="0"/>
          </a:p>
        </p:txBody>
      </p:sp>
      <p:sp>
        <p:nvSpPr>
          <p:cNvPr id="13" name="Shape 11"/>
          <p:cNvSpPr/>
          <p:nvPr/>
        </p:nvSpPr>
        <p:spPr>
          <a:xfrm>
            <a:off x="2414016" y="2441448"/>
            <a:ext cx="365760" cy="0"/>
          </a:xfrm>
          <a:prstGeom prst="line">
            <a:avLst/>
          </a:prstGeom>
          <a:noFill/>
          <a:ln w="28575">
            <a:solidFill>
              <a:srgbClr val="2E7D5B"/>
            </a:solidFill>
            <a:prstDash val="solid"/>
            <a:tailEnd type="triangle"/>
          </a:ln>
        </p:spPr>
        <p:txBody>
          <a:bodyPr/>
          <a:lstStyle/>
          <a:p>
            <a:endParaRPr lang="en-US"/>
          </a:p>
        </p:txBody>
      </p:sp>
      <p:sp>
        <p:nvSpPr>
          <p:cNvPr id="14" name="Shape 12"/>
          <p:cNvSpPr/>
          <p:nvPr/>
        </p:nvSpPr>
        <p:spPr>
          <a:xfrm>
            <a:off x="2798064" y="1828800"/>
            <a:ext cx="1828800" cy="1234440"/>
          </a:xfrm>
          <a:prstGeom prst="roundRect">
            <a:avLst>
              <a:gd name="adj" fmla="val 4444"/>
            </a:avLst>
          </a:prstGeom>
          <a:solidFill>
            <a:srgbClr val="EFF5F1"/>
          </a:solidFill>
          <a:ln w="12700">
            <a:solidFill>
              <a:srgbClr val="DCE7E1"/>
            </a:solidFill>
            <a:prstDash val="solid"/>
          </a:ln>
        </p:spPr>
        <p:txBody>
          <a:bodyPr/>
          <a:lstStyle/>
          <a:p>
            <a:endParaRPr lang="en-US"/>
          </a:p>
        </p:txBody>
      </p:sp>
      <p:sp>
        <p:nvSpPr>
          <p:cNvPr id="15" name="Text 13"/>
          <p:cNvSpPr txBox="1"/>
          <p:nvPr/>
        </p:nvSpPr>
        <p:spPr>
          <a:xfrm>
            <a:off x="2926080" y="1956816"/>
            <a:ext cx="1572768" cy="310896"/>
          </a:xfrm>
          <a:prstGeom prst="rect">
            <a:avLst/>
          </a:prstGeom>
          <a:noFill/>
          <a:ln/>
        </p:spPr>
        <p:txBody>
          <a:bodyPr wrap="square" lIns="0" tIns="0" rIns="0" bIns="0" rtlCol="0" anchor="ctr"/>
          <a:lstStyle/>
          <a:p>
            <a:pPr marL="0" indent="0" algn="ctr">
              <a:buNone/>
            </a:pPr>
            <a:r>
              <a:rPr lang="en-US" sz="1250" b="1" dirty="0">
                <a:solidFill>
                  <a:srgbClr val="0E241E"/>
                </a:solidFill>
                <a:latin typeface="Cambria" pitchFamily="34" charset="0"/>
                <a:ea typeface="Cambria" pitchFamily="34" charset="-122"/>
                <a:cs typeface="Cambria" pitchFamily="34" charset="-120"/>
              </a:rPr>
              <a:t>Feature encoder</a:t>
            </a:r>
            <a:endParaRPr lang="en-US" sz="1250" dirty="0"/>
          </a:p>
        </p:txBody>
      </p:sp>
      <p:sp>
        <p:nvSpPr>
          <p:cNvPr id="16" name="Text 14"/>
          <p:cNvSpPr txBox="1"/>
          <p:nvPr/>
        </p:nvSpPr>
        <p:spPr>
          <a:xfrm>
            <a:off x="2907792" y="2286000"/>
            <a:ext cx="1609344" cy="694944"/>
          </a:xfrm>
          <a:prstGeom prst="rect">
            <a:avLst/>
          </a:prstGeom>
          <a:noFill/>
          <a:ln/>
        </p:spPr>
        <p:txBody>
          <a:bodyPr wrap="square" lIns="0" tIns="0" rIns="0" bIns="0" rtlCol="0" anchor="ctr"/>
          <a:lstStyle/>
          <a:p>
            <a:pPr marL="0" indent="0" algn="ctr">
              <a:buNone/>
            </a:pPr>
            <a:r>
              <a:rPr lang="en-US" sz="1000" dirty="0">
                <a:solidFill>
                  <a:srgbClr val="4A6B62"/>
                </a:solidFill>
                <a:latin typeface="Calibri" pitchFamily="34" charset="0"/>
                <a:ea typeface="Calibri" pitchFamily="34" charset="-122"/>
                <a:cs typeface="Calibri" pitchFamily="34" charset="-120"/>
              </a:rPr>
              <a:t>f : X → Z</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7 conv blocks</a:t>
            </a:r>
            <a:endParaRPr lang="en-US" sz="1000" dirty="0"/>
          </a:p>
        </p:txBody>
      </p:sp>
      <p:sp>
        <p:nvSpPr>
          <p:cNvPr id="17" name="Shape 15"/>
          <p:cNvSpPr/>
          <p:nvPr/>
        </p:nvSpPr>
        <p:spPr>
          <a:xfrm>
            <a:off x="4645152" y="2441448"/>
            <a:ext cx="365760" cy="0"/>
          </a:xfrm>
          <a:prstGeom prst="line">
            <a:avLst/>
          </a:prstGeom>
          <a:noFill/>
          <a:ln w="28575">
            <a:solidFill>
              <a:srgbClr val="2E7D5B"/>
            </a:solidFill>
            <a:prstDash val="solid"/>
            <a:tailEnd type="triangle"/>
          </a:ln>
        </p:spPr>
        <p:txBody>
          <a:bodyPr/>
          <a:lstStyle/>
          <a:p>
            <a:endParaRPr lang="en-US"/>
          </a:p>
        </p:txBody>
      </p:sp>
      <p:sp>
        <p:nvSpPr>
          <p:cNvPr id="18" name="Shape 16"/>
          <p:cNvSpPr/>
          <p:nvPr/>
        </p:nvSpPr>
        <p:spPr>
          <a:xfrm>
            <a:off x="5029200" y="1828800"/>
            <a:ext cx="1828800" cy="1234440"/>
          </a:xfrm>
          <a:prstGeom prst="roundRect">
            <a:avLst>
              <a:gd name="adj" fmla="val 4444"/>
            </a:avLst>
          </a:prstGeom>
          <a:solidFill>
            <a:srgbClr val="EFF5F1"/>
          </a:solidFill>
          <a:ln w="12700">
            <a:solidFill>
              <a:srgbClr val="DCE7E1"/>
            </a:solidFill>
            <a:prstDash val="solid"/>
          </a:ln>
        </p:spPr>
        <p:txBody>
          <a:bodyPr/>
          <a:lstStyle/>
          <a:p>
            <a:endParaRPr lang="en-US"/>
          </a:p>
        </p:txBody>
      </p:sp>
      <p:sp>
        <p:nvSpPr>
          <p:cNvPr id="19" name="Text 17"/>
          <p:cNvSpPr txBox="1"/>
          <p:nvPr/>
        </p:nvSpPr>
        <p:spPr>
          <a:xfrm>
            <a:off x="5157216" y="1956816"/>
            <a:ext cx="1572768" cy="310896"/>
          </a:xfrm>
          <a:prstGeom prst="rect">
            <a:avLst/>
          </a:prstGeom>
          <a:noFill/>
          <a:ln/>
        </p:spPr>
        <p:txBody>
          <a:bodyPr wrap="square" lIns="0" tIns="0" rIns="0" bIns="0" rtlCol="0" anchor="ctr"/>
          <a:lstStyle/>
          <a:p>
            <a:pPr marL="0" indent="0" algn="ctr">
              <a:buNone/>
            </a:pPr>
            <a:r>
              <a:rPr lang="en-US" sz="1250" b="1" dirty="0">
                <a:solidFill>
                  <a:srgbClr val="0E241E"/>
                </a:solidFill>
                <a:latin typeface="Cambria" pitchFamily="34" charset="0"/>
                <a:ea typeface="Cambria" pitchFamily="34" charset="-122"/>
                <a:cs typeface="Cambria" pitchFamily="34" charset="-120"/>
              </a:rPr>
              <a:t>Latents, masked</a:t>
            </a:r>
            <a:endParaRPr lang="en-US" sz="1250" dirty="0"/>
          </a:p>
        </p:txBody>
      </p:sp>
      <p:sp>
        <p:nvSpPr>
          <p:cNvPr id="20" name="Text 18"/>
          <p:cNvSpPr txBox="1"/>
          <p:nvPr/>
        </p:nvSpPr>
        <p:spPr>
          <a:xfrm>
            <a:off x="5138928" y="2286000"/>
            <a:ext cx="1609344" cy="694944"/>
          </a:xfrm>
          <a:prstGeom prst="rect">
            <a:avLst/>
          </a:prstGeom>
          <a:noFill/>
          <a:ln/>
        </p:spPr>
        <p:txBody>
          <a:bodyPr wrap="square" lIns="0" tIns="0" rIns="0" bIns="0" rtlCol="0" anchor="ctr"/>
          <a:lstStyle/>
          <a:p>
            <a:pPr marL="0" indent="0" algn="ctr">
              <a:buNone/>
            </a:pPr>
            <a:r>
              <a:rPr lang="en-US" sz="1000" dirty="0">
                <a:solidFill>
                  <a:srgbClr val="4A6B62"/>
                </a:solidFill>
                <a:latin typeface="Calibri" pitchFamily="34" charset="0"/>
                <a:ea typeface="Calibri" pitchFamily="34" charset="-122"/>
                <a:cs typeface="Calibri" pitchFamily="34" charset="-120"/>
              </a:rPr>
              <a:t>Z</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spans replaced by a</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learned vector</a:t>
            </a:r>
            <a:endParaRPr lang="en-US" sz="1000" dirty="0"/>
          </a:p>
        </p:txBody>
      </p:sp>
      <p:sp>
        <p:nvSpPr>
          <p:cNvPr id="21" name="Shape 19"/>
          <p:cNvSpPr/>
          <p:nvPr/>
        </p:nvSpPr>
        <p:spPr>
          <a:xfrm>
            <a:off x="6876288" y="2441448"/>
            <a:ext cx="365760" cy="0"/>
          </a:xfrm>
          <a:prstGeom prst="line">
            <a:avLst/>
          </a:prstGeom>
          <a:noFill/>
          <a:ln w="28575">
            <a:solidFill>
              <a:srgbClr val="2E7D5B"/>
            </a:solidFill>
            <a:prstDash val="solid"/>
            <a:tailEnd type="triangle"/>
          </a:ln>
        </p:spPr>
        <p:txBody>
          <a:bodyPr/>
          <a:lstStyle/>
          <a:p>
            <a:endParaRPr lang="en-US"/>
          </a:p>
        </p:txBody>
      </p:sp>
      <p:sp>
        <p:nvSpPr>
          <p:cNvPr id="22" name="Shape 20"/>
          <p:cNvSpPr/>
          <p:nvPr/>
        </p:nvSpPr>
        <p:spPr>
          <a:xfrm>
            <a:off x="7260336" y="1828800"/>
            <a:ext cx="1828800" cy="1234440"/>
          </a:xfrm>
          <a:prstGeom prst="roundRect">
            <a:avLst>
              <a:gd name="adj" fmla="val 4444"/>
            </a:avLst>
          </a:prstGeom>
          <a:solidFill>
            <a:srgbClr val="13302A"/>
          </a:solidFill>
          <a:ln w="12700">
            <a:solidFill>
              <a:srgbClr val="13302A"/>
            </a:solidFill>
            <a:prstDash val="solid"/>
          </a:ln>
        </p:spPr>
        <p:txBody>
          <a:bodyPr/>
          <a:lstStyle/>
          <a:p>
            <a:endParaRPr lang="en-US"/>
          </a:p>
        </p:txBody>
      </p:sp>
      <p:sp>
        <p:nvSpPr>
          <p:cNvPr id="23" name="Text 21"/>
          <p:cNvSpPr txBox="1"/>
          <p:nvPr/>
        </p:nvSpPr>
        <p:spPr>
          <a:xfrm>
            <a:off x="7388352" y="1956816"/>
            <a:ext cx="1572768"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Context network</a:t>
            </a:r>
            <a:endParaRPr lang="en-US" sz="1250" dirty="0"/>
          </a:p>
        </p:txBody>
      </p:sp>
      <p:sp>
        <p:nvSpPr>
          <p:cNvPr id="24" name="Text 22"/>
          <p:cNvSpPr txBox="1"/>
          <p:nvPr/>
        </p:nvSpPr>
        <p:spPr>
          <a:xfrm>
            <a:off x="7370064" y="2286000"/>
            <a:ext cx="1609344" cy="694944"/>
          </a:xfrm>
          <a:prstGeom prst="rect">
            <a:avLst/>
          </a:prstGeom>
          <a:noFill/>
          <a:ln/>
        </p:spPr>
        <p:txBody>
          <a:bodyPr wrap="square" lIns="0" tIns="0" rIns="0" bIns="0" rtlCol="0" anchor="ctr"/>
          <a:lstStyle/>
          <a:p>
            <a:pPr marL="0" indent="0" algn="ctr">
              <a:buNone/>
            </a:pPr>
            <a:r>
              <a:rPr lang="en-US" sz="1000" dirty="0">
                <a:solidFill>
                  <a:srgbClr val="C6DCD2"/>
                </a:solidFill>
                <a:latin typeface="Calibri" pitchFamily="34" charset="0"/>
                <a:ea typeface="Calibri" pitchFamily="34" charset="-122"/>
                <a:cs typeface="Calibri" pitchFamily="34" charset="-120"/>
              </a:rPr>
              <a:t>g : Z → C</a:t>
            </a:r>
            <a:endParaRPr lang="en-US" sz="1000" dirty="0"/>
          </a:p>
          <a:p>
            <a:pPr marL="0" indent="0" algn="ctr">
              <a:buNone/>
            </a:pPr>
            <a:r>
              <a:rPr lang="en-US" sz="1000" dirty="0">
                <a:solidFill>
                  <a:srgbClr val="C6DCD2"/>
                </a:solidFill>
                <a:latin typeface="Calibri" pitchFamily="34" charset="0"/>
                <a:ea typeface="Calibri" pitchFamily="34" charset="-122"/>
                <a:cs typeface="Calibri" pitchFamily="34" charset="-120"/>
              </a:rPr>
              <a:t>Transformer</a:t>
            </a:r>
            <a:endParaRPr lang="en-US" sz="1000" dirty="0"/>
          </a:p>
        </p:txBody>
      </p:sp>
      <p:sp>
        <p:nvSpPr>
          <p:cNvPr id="25" name="Shape 23"/>
          <p:cNvSpPr/>
          <p:nvPr/>
        </p:nvSpPr>
        <p:spPr>
          <a:xfrm>
            <a:off x="9107424" y="2441448"/>
            <a:ext cx="365760" cy="0"/>
          </a:xfrm>
          <a:prstGeom prst="line">
            <a:avLst/>
          </a:prstGeom>
          <a:noFill/>
          <a:ln w="28575">
            <a:solidFill>
              <a:srgbClr val="2E7D5B"/>
            </a:solidFill>
            <a:prstDash val="solid"/>
            <a:tailEnd type="triangle"/>
          </a:ln>
        </p:spPr>
        <p:txBody>
          <a:bodyPr/>
          <a:lstStyle/>
          <a:p>
            <a:endParaRPr lang="en-US"/>
          </a:p>
        </p:txBody>
      </p:sp>
      <p:sp>
        <p:nvSpPr>
          <p:cNvPr id="26" name="Shape 24"/>
          <p:cNvSpPr/>
          <p:nvPr/>
        </p:nvSpPr>
        <p:spPr>
          <a:xfrm>
            <a:off x="9491472" y="1828800"/>
            <a:ext cx="1828800" cy="1234440"/>
          </a:xfrm>
          <a:prstGeom prst="roundRect">
            <a:avLst>
              <a:gd name="adj" fmla="val 4444"/>
            </a:avLst>
          </a:prstGeom>
          <a:solidFill>
            <a:srgbClr val="EFF5F1"/>
          </a:solidFill>
          <a:ln w="12700">
            <a:solidFill>
              <a:srgbClr val="DCE7E1"/>
            </a:solidFill>
            <a:prstDash val="solid"/>
          </a:ln>
        </p:spPr>
        <p:txBody>
          <a:bodyPr/>
          <a:lstStyle/>
          <a:p>
            <a:endParaRPr lang="en-US"/>
          </a:p>
        </p:txBody>
      </p:sp>
      <p:sp>
        <p:nvSpPr>
          <p:cNvPr id="27" name="Text 25"/>
          <p:cNvSpPr txBox="1"/>
          <p:nvPr/>
        </p:nvSpPr>
        <p:spPr>
          <a:xfrm>
            <a:off x="9619488" y="1956816"/>
            <a:ext cx="1572768" cy="310896"/>
          </a:xfrm>
          <a:prstGeom prst="rect">
            <a:avLst/>
          </a:prstGeom>
          <a:noFill/>
          <a:ln/>
        </p:spPr>
        <p:txBody>
          <a:bodyPr wrap="square" lIns="0" tIns="0" rIns="0" bIns="0" rtlCol="0" anchor="ctr"/>
          <a:lstStyle/>
          <a:p>
            <a:pPr marL="0" indent="0" algn="ctr">
              <a:buNone/>
            </a:pPr>
            <a:r>
              <a:rPr lang="en-US" sz="1250" b="1" dirty="0">
                <a:solidFill>
                  <a:srgbClr val="0E241E"/>
                </a:solidFill>
                <a:latin typeface="Cambria" pitchFamily="34" charset="0"/>
                <a:ea typeface="Cambria" pitchFamily="34" charset="-122"/>
                <a:cs typeface="Cambria" pitchFamily="34" charset="-120"/>
              </a:rPr>
              <a:t>Context vectors</a:t>
            </a:r>
            <a:endParaRPr lang="en-US" sz="1250" dirty="0"/>
          </a:p>
        </p:txBody>
      </p:sp>
      <p:sp>
        <p:nvSpPr>
          <p:cNvPr id="28" name="Text 26"/>
          <p:cNvSpPr txBox="1"/>
          <p:nvPr/>
        </p:nvSpPr>
        <p:spPr>
          <a:xfrm>
            <a:off x="9601200" y="2286000"/>
            <a:ext cx="1609344" cy="694944"/>
          </a:xfrm>
          <a:prstGeom prst="rect">
            <a:avLst/>
          </a:prstGeom>
          <a:noFill/>
          <a:ln/>
        </p:spPr>
        <p:txBody>
          <a:bodyPr wrap="square" lIns="0" tIns="0" rIns="0" bIns="0" rtlCol="0" anchor="ctr"/>
          <a:lstStyle/>
          <a:p>
            <a:pPr marL="0" indent="0" algn="ctr">
              <a:buNone/>
            </a:pPr>
            <a:r>
              <a:rPr lang="en-US" sz="1000" dirty="0">
                <a:solidFill>
                  <a:srgbClr val="4A6B62"/>
                </a:solidFill>
                <a:latin typeface="Calibri" pitchFamily="34" charset="0"/>
                <a:ea typeface="Calibri" pitchFamily="34" charset="-122"/>
                <a:cs typeface="Calibri" pitchFamily="34" charset="-120"/>
              </a:rPr>
              <a:t>C</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one vector per frame</a:t>
            </a:r>
            <a:endParaRPr lang="en-US" sz="1000" dirty="0"/>
          </a:p>
        </p:txBody>
      </p:sp>
      <p:sp>
        <p:nvSpPr>
          <p:cNvPr id="29" name="Shape 27"/>
          <p:cNvSpPr/>
          <p:nvPr/>
        </p:nvSpPr>
        <p:spPr>
          <a:xfrm>
            <a:off x="5029200" y="3977640"/>
            <a:ext cx="1828800" cy="1051560"/>
          </a:xfrm>
          <a:prstGeom prst="roundRect">
            <a:avLst>
              <a:gd name="adj" fmla="val 5217"/>
            </a:avLst>
          </a:prstGeom>
          <a:solidFill>
            <a:srgbClr val="EFF5F1"/>
          </a:solidFill>
          <a:ln w="19050">
            <a:solidFill>
              <a:srgbClr val="B5623C"/>
            </a:solidFill>
            <a:prstDash val="solid"/>
          </a:ln>
        </p:spPr>
        <p:txBody>
          <a:bodyPr/>
          <a:lstStyle/>
          <a:p>
            <a:endParaRPr lang="en-US"/>
          </a:p>
        </p:txBody>
      </p:sp>
      <p:sp>
        <p:nvSpPr>
          <p:cNvPr id="30" name="Text 28"/>
          <p:cNvSpPr txBox="1"/>
          <p:nvPr/>
        </p:nvSpPr>
        <p:spPr>
          <a:xfrm>
            <a:off x="5138928" y="4096512"/>
            <a:ext cx="1609344" cy="292608"/>
          </a:xfrm>
          <a:prstGeom prst="rect">
            <a:avLst/>
          </a:prstGeom>
          <a:noFill/>
          <a:ln/>
        </p:spPr>
        <p:txBody>
          <a:bodyPr wrap="square" lIns="0" tIns="0" rIns="0" bIns="0" rtlCol="0" anchor="ctr"/>
          <a:lstStyle/>
          <a:p>
            <a:pPr marL="0" indent="0" algn="ctr">
              <a:buNone/>
            </a:pPr>
            <a:r>
              <a:rPr lang="en-US" sz="1250" b="1" dirty="0">
                <a:solidFill>
                  <a:srgbClr val="B5623C"/>
                </a:solidFill>
                <a:latin typeface="Cambria" pitchFamily="34" charset="0"/>
                <a:ea typeface="Cambria" pitchFamily="34" charset="-122"/>
                <a:cs typeface="Cambria" pitchFamily="34" charset="-120"/>
              </a:rPr>
              <a:t>Quantiser</a:t>
            </a:r>
            <a:endParaRPr lang="en-US" sz="1250" dirty="0"/>
          </a:p>
        </p:txBody>
      </p:sp>
      <p:sp>
        <p:nvSpPr>
          <p:cNvPr id="31" name="Text 29"/>
          <p:cNvSpPr txBox="1"/>
          <p:nvPr/>
        </p:nvSpPr>
        <p:spPr>
          <a:xfrm>
            <a:off x="5120640" y="4407408"/>
            <a:ext cx="1645920" cy="530352"/>
          </a:xfrm>
          <a:prstGeom prst="rect">
            <a:avLst/>
          </a:prstGeom>
          <a:noFill/>
          <a:ln/>
        </p:spPr>
        <p:txBody>
          <a:bodyPr wrap="square" lIns="0" tIns="0" rIns="0" bIns="0" rtlCol="0" anchor="ctr"/>
          <a:lstStyle/>
          <a:p>
            <a:pPr marL="0" indent="0" algn="ctr">
              <a:buNone/>
            </a:pPr>
            <a:r>
              <a:rPr lang="en-US" sz="1000" dirty="0">
                <a:solidFill>
                  <a:srgbClr val="4A6B62"/>
                </a:solidFill>
                <a:latin typeface="Calibri" pitchFamily="34" charset="0"/>
                <a:ea typeface="Calibri" pitchFamily="34" charset="-122"/>
                <a:cs typeface="Calibri" pitchFamily="34" charset="-120"/>
              </a:rPr>
              <a:t>Z → Q</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product quantisation</a:t>
            </a:r>
            <a:endParaRPr lang="en-US" sz="1000" dirty="0"/>
          </a:p>
        </p:txBody>
      </p:sp>
      <p:sp>
        <p:nvSpPr>
          <p:cNvPr id="32" name="Shape 30"/>
          <p:cNvSpPr/>
          <p:nvPr/>
        </p:nvSpPr>
        <p:spPr>
          <a:xfrm>
            <a:off x="7260336" y="3977640"/>
            <a:ext cx="1828800" cy="1051560"/>
          </a:xfrm>
          <a:prstGeom prst="roundRect">
            <a:avLst>
              <a:gd name="adj" fmla="val 5217"/>
            </a:avLst>
          </a:prstGeom>
          <a:solidFill>
            <a:srgbClr val="EFF5F1"/>
          </a:solidFill>
          <a:ln w="19050">
            <a:solidFill>
              <a:srgbClr val="B5623C"/>
            </a:solidFill>
            <a:prstDash val="solid"/>
          </a:ln>
        </p:spPr>
        <p:txBody>
          <a:bodyPr/>
          <a:lstStyle/>
          <a:p>
            <a:endParaRPr lang="en-US"/>
          </a:p>
        </p:txBody>
      </p:sp>
      <p:sp>
        <p:nvSpPr>
          <p:cNvPr id="33" name="Text 31"/>
          <p:cNvSpPr txBox="1"/>
          <p:nvPr/>
        </p:nvSpPr>
        <p:spPr>
          <a:xfrm>
            <a:off x="7370064" y="4096512"/>
            <a:ext cx="1609344" cy="292608"/>
          </a:xfrm>
          <a:prstGeom prst="rect">
            <a:avLst/>
          </a:prstGeom>
          <a:noFill/>
          <a:ln/>
        </p:spPr>
        <p:txBody>
          <a:bodyPr wrap="square" lIns="0" tIns="0" rIns="0" bIns="0" rtlCol="0" anchor="ctr"/>
          <a:lstStyle/>
          <a:p>
            <a:pPr marL="0" indent="0" algn="ctr">
              <a:buNone/>
            </a:pPr>
            <a:r>
              <a:rPr lang="en-US" sz="1250" b="1" dirty="0">
                <a:solidFill>
                  <a:srgbClr val="B5623C"/>
                </a:solidFill>
                <a:latin typeface="Cambria" pitchFamily="34" charset="0"/>
                <a:ea typeface="Cambria" pitchFamily="34" charset="-122"/>
                <a:cs typeface="Cambria" pitchFamily="34" charset="-120"/>
              </a:rPr>
              <a:t>Targets</a:t>
            </a:r>
            <a:endParaRPr lang="en-US" sz="1250" dirty="0"/>
          </a:p>
        </p:txBody>
      </p:sp>
      <p:sp>
        <p:nvSpPr>
          <p:cNvPr id="34" name="Text 32"/>
          <p:cNvSpPr txBox="1"/>
          <p:nvPr/>
        </p:nvSpPr>
        <p:spPr>
          <a:xfrm>
            <a:off x="7351776" y="4407408"/>
            <a:ext cx="1645920" cy="530352"/>
          </a:xfrm>
          <a:prstGeom prst="rect">
            <a:avLst/>
          </a:prstGeom>
          <a:noFill/>
          <a:ln/>
        </p:spPr>
        <p:txBody>
          <a:bodyPr wrap="square" lIns="0" tIns="0" rIns="0" bIns="0" rtlCol="0" anchor="ctr"/>
          <a:lstStyle/>
          <a:p>
            <a:pPr marL="0" indent="0" algn="ctr">
              <a:buNone/>
            </a:pPr>
            <a:r>
              <a:rPr lang="en-US" sz="1000" dirty="0">
                <a:solidFill>
                  <a:srgbClr val="4A6B62"/>
                </a:solidFill>
                <a:latin typeface="Calibri" pitchFamily="34" charset="0"/>
                <a:ea typeface="Calibri" pitchFamily="34" charset="-122"/>
                <a:cs typeface="Calibri" pitchFamily="34" charset="-120"/>
              </a:rPr>
              <a:t>Q</a:t>
            </a:r>
            <a:endParaRPr lang="en-US" sz="1000" dirty="0"/>
          </a:p>
          <a:p>
            <a:pPr marL="0" indent="0" algn="ctr">
              <a:buNone/>
            </a:pPr>
            <a:r>
              <a:rPr lang="en-US" sz="1000" dirty="0">
                <a:solidFill>
                  <a:srgbClr val="4A6B62"/>
                </a:solidFill>
                <a:latin typeface="Calibri" pitchFamily="34" charset="0"/>
                <a:ea typeface="Calibri" pitchFamily="34" charset="-122"/>
                <a:cs typeface="Calibri" pitchFamily="34" charset="-120"/>
              </a:rPr>
              <a:t>one target per frame</a:t>
            </a:r>
            <a:endParaRPr lang="en-US" sz="1000" dirty="0"/>
          </a:p>
        </p:txBody>
      </p:sp>
      <p:sp>
        <p:nvSpPr>
          <p:cNvPr id="35" name="Shape 33"/>
          <p:cNvSpPr/>
          <p:nvPr/>
        </p:nvSpPr>
        <p:spPr>
          <a:xfrm>
            <a:off x="5943600" y="3081528"/>
            <a:ext cx="0" cy="859536"/>
          </a:xfrm>
          <a:prstGeom prst="line">
            <a:avLst/>
          </a:prstGeom>
          <a:noFill/>
          <a:ln w="28575">
            <a:solidFill>
              <a:srgbClr val="B5623C"/>
            </a:solidFill>
            <a:prstDash val="solid"/>
            <a:tailEnd type="triangle"/>
          </a:ln>
        </p:spPr>
        <p:txBody>
          <a:bodyPr/>
          <a:lstStyle/>
          <a:p>
            <a:endParaRPr lang="en-US"/>
          </a:p>
        </p:txBody>
      </p:sp>
      <p:sp>
        <p:nvSpPr>
          <p:cNvPr id="36" name="Shape 34"/>
          <p:cNvSpPr/>
          <p:nvPr/>
        </p:nvSpPr>
        <p:spPr>
          <a:xfrm>
            <a:off x="6876288" y="4498848"/>
            <a:ext cx="347472" cy="0"/>
          </a:xfrm>
          <a:prstGeom prst="line">
            <a:avLst/>
          </a:prstGeom>
          <a:noFill/>
          <a:ln w="28575">
            <a:solidFill>
              <a:srgbClr val="B5623C"/>
            </a:solidFill>
            <a:prstDash val="solid"/>
            <a:tailEnd type="triangle"/>
          </a:ln>
        </p:spPr>
        <p:txBody>
          <a:bodyPr/>
          <a:lstStyle/>
          <a:p>
            <a:endParaRPr lang="en-US"/>
          </a:p>
        </p:txBody>
      </p:sp>
      <p:sp>
        <p:nvSpPr>
          <p:cNvPr id="37" name="Shape 35"/>
          <p:cNvSpPr/>
          <p:nvPr/>
        </p:nvSpPr>
        <p:spPr>
          <a:xfrm>
            <a:off x="10405872" y="3081528"/>
            <a:ext cx="0" cy="2075688"/>
          </a:xfrm>
          <a:prstGeom prst="line">
            <a:avLst/>
          </a:prstGeom>
          <a:noFill/>
          <a:ln w="28575">
            <a:solidFill>
              <a:srgbClr val="2E7D5B"/>
            </a:solidFill>
            <a:prstDash val="solid"/>
            <a:tailEnd type="triangle"/>
          </a:ln>
        </p:spPr>
        <p:txBody>
          <a:bodyPr/>
          <a:lstStyle/>
          <a:p>
            <a:endParaRPr lang="en-US"/>
          </a:p>
        </p:txBody>
      </p:sp>
      <p:sp>
        <p:nvSpPr>
          <p:cNvPr id="38" name="Shape 36"/>
          <p:cNvSpPr/>
          <p:nvPr/>
        </p:nvSpPr>
        <p:spPr>
          <a:xfrm>
            <a:off x="9491472" y="5175504"/>
            <a:ext cx="2139696" cy="566928"/>
          </a:xfrm>
          <a:prstGeom prst="roundRect">
            <a:avLst>
              <a:gd name="adj" fmla="val 8065"/>
            </a:avLst>
          </a:prstGeom>
          <a:solidFill>
            <a:srgbClr val="13302A"/>
          </a:solidFill>
          <a:ln w="12700">
            <a:solidFill>
              <a:srgbClr val="333333"/>
            </a:solidFill>
            <a:prstDash val="solid"/>
          </a:ln>
        </p:spPr>
        <p:txBody>
          <a:bodyPr/>
          <a:lstStyle/>
          <a:p>
            <a:endParaRPr lang="en-US"/>
          </a:p>
        </p:txBody>
      </p:sp>
      <p:sp>
        <p:nvSpPr>
          <p:cNvPr id="39" name="Text 37"/>
          <p:cNvSpPr txBox="1"/>
          <p:nvPr/>
        </p:nvSpPr>
        <p:spPr>
          <a:xfrm>
            <a:off x="9528048" y="5303520"/>
            <a:ext cx="2066544" cy="310896"/>
          </a:xfrm>
          <a:prstGeom prst="rect">
            <a:avLst/>
          </a:prstGeom>
          <a:noFill/>
          <a:ln/>
        </p:spPr>
        <p:txBody>
          <a:bodyPr wrap="square" lIns="0" tIns="0" rIns="0" bIns="0" rtlCol="0" anchor="ctr"/>
          <a:lstStyle/>
          <a:p>
            <a:pPr marL="0" indent="0" algn="ctr">
              <a:buNone/>
            </a:pPr>
            <a:r>
              <a:rPr lang="en-US" sz="1200" b="1" dirty="0">
                <a:solidFill>
                  <a:srgbClr val="B7D24A"/>
                </a:solidFill>
                <a:latin typeface="Cambria" pitchFamily="34" charset="0"/>
                <a:ea typeface="Cambria" pitchFamily="34" charset="-122"/>
                <a:cs typeface="Cambria" pitchFamily="34" charset="-120"/>
              </a:rPr>
              <a:t>Contrastive loss</a:t>
            </a:r>
            <a:endParaRPr lang="en-US" sz="1200" dirty="0"/>
          </a:p>
        </p:txBody>
      </p:sp>
      <p:sp>
        <p:nvSpPr>
          <p:cNvPr id="40" name="Shape 38"/>
          <p:cNvSpPr/>
          <p:nvPr/>
        </p:nvSpPr>
        <p:spPr>
          <a:xfrm>
            <a:off x="9107424" y="4498848"/>
            <a:ext cx="1280160" cy="0"/>
          </a:xfrm>
          <a:prstGeom prst="line">
            <a:avLst/>
          </a:prstGeom>
          <a:noFill/>
          <a:ln w="28575">
            <a:solidFill>
              <a:srgbClr val="B5623C"/>
            </a:solidFill>
            <a:prstDash val="solid"/>
          </a:ln>
        </p:spPr>
        <p:txBody>
          <a:bodyPr/>
          <a:lstStyle/>
          <a:p>
            <a:endParaRPr lang="en-US"/>
          </a:p>
        </p:txBody>
      </p:sp>
      <p:sp>
        <p:nvSpPr>
          <p:cNvPr id="41" name="Text 39"/>
          <p:cNvSpPr txBox="1"/>
          <p:nvPr/>
        </p:nvSpPr>
        <p:spPr>
          <a:xfrm>
            <a:off x="566928" y="5705856"/>
            <a:ext cx="8686800" cy="548640"/>
          </a:xfrm>
          <a:prstGeom prst="rect">
            <a:avLst/>
          </a:prstGeom>
          <a:noFill/>
          <a:ln/>
        </p:spPr>
        <p:txBody>
          <a:bodyPr wrap="square" lIns="0" tIns="0" rIns="0" bIns="0" rtlCol="0" anchor="ctr"/>
          <a:lstStyle/>
          <a:p>
            <a:pPr marL="0" indent="0">
              <a:buNone/>
            </a:pPr>
            <a:r>
              <a:rPr lang="en-US" sz="1250" dirty="0">
                <a:solidFill>
                  <a:srgbClr val="2C3B36"/>
                </a:solidFill>
                <a:latin typeface="Calibri" pitchFamily="34" charset="0"/>
                <a:ea typeface="Calibri" pitchFamily="34" charset="-122"/>
                <a:cs typeface="Calibri" pitchFamily="34" charset="-120"/>
              </a:rPr>
              <a:t>Read it as two paths from the same latents: the upper path builds context, the lower path builds targets. The loss asks the context vector at a masked position to identify its own quantised latent.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feature encoder</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A learned front end replacing mel filter banks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11</a:t>
            </a:r>
            <a:endParaRPr lang="en-US" sz="900" dirty="0"/>
          </a:p>
        </p:txBody>
      </p:sp>
      <p:sp>
        <p:nvSpPr>
          <p:cNvPr id="10" name="Shape 8"/>
          <p:cNvSpPr/>
          <p:nvPr/>
        </p:nvSpPr>
        <p:spPr>
          <a:xfrm>
            <a:off x="566928" y="1554480"/>
            <a:ext cx="5440680"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Structure</a:t>
            </a:r>
            <a:endParaRPr lang="en-US" sz="1500" dirty="0"/>
          </a:p>
        </p:txBody>
      </p:sp>
      <p:sp>
        <p:nvSpPr>
          <p:cNvPr id="13" name="Text 11"/>
          <p:cNvSpPr txBox="1"/>
          <p:nvPr/>
        </p:nvSpPr>
        <p:spPr>
          <a:xfrm>
            <a:off x="822960" y="215798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Seven blocks, each a temporal convolution followed by layer normalisation and a GELU activation. All blocks have 512 channels.</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Strides: (5, 2, 2, 2, 2, 2, 2)</a:t>
            </a: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Kernel widths: (10, 3, 3, 3, 3, 2, 2)</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raw waveform is normalised to zero mean and unit variance before it enters.</a:t>
            </a:r>
            <a:endParaRPr lang="en-US" sz="1280" dirty="0"/>
          </a:p>
        </p:txBody>
      </p:sp>
      <p:sp>
        <p:nvSpPr>
          <p:cNvPr id="14" name="Shape 12"/>
          <p:cNvSpPr/>
          <p:nvPr/>
        </p:nvSpPr>
        <p:spPr>
          <a:xfrm>
            <a:off x="6190488" y="1554480"/>
            <a:ext cx="5440680"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409944"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Why convolutions here</a:t>
            </a:r>
            <a:endParaRPr lang="en-US" sz="1500" dirty="0"/>
          </a:p>
        </p:txBody>
      </p:sp>
      <p:sp>
        <p:nvSpPr>
          <p:cNvPr id="17" name="Text 15"/>
          <p:cNvSpPr txBox="1"/>
          <p:nvPr/>
        </p:nvSpPr>
        <p:spPr>
          <a:xfrm>
            <a:off x="6446520" y="215798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Two jobs at once. First, downsampling: sixteen thousand samples per second is far too many for self-attention, whose cost is quadratic in sequence length.</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Second, local feature extraction: the receptive field of the stack is short, so each output summarises a small window — the same job a filter bank does, but learned from data.</a:t>
            </a:r>
            <a:endParaRPr lang="en-US" sz="1280" dirty="0"/>
          </a:p>
        </p:txBody>
      </p:sp>
      <p:sp>
        <p:nvSpPr>
          <p:cNvPr id="18" name="Text 16"/>
          <p:cNvSpPr txBox="1"/>
          <p:nvPr/>
        </p:nvSpPr>
        <p:spPr>
          <a:xfrm>
            <a:off x="566928" y="4041648"/>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The encoder is trained during pre-training and then frozen. It is not updated at all during fine-tuning.</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For the smaller Librispeech pre-training runs the authors add an L2 penalty on the final encoder layer's activations and scale encoder gradients down by a factor of ten — a stability measure, and a hint that this component is delicate.</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Those runs also use a variant without layer normalisation, normalising the output of the first encoder layer instead of the raw waveform.</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Later analysis found the final convolutional layers correlate strongly with mel spectrogram features: the model rediscovers something close to the hand-engineered front end it replaced.</a:t>
            </a:r>
            <a:endParaRPr lang="en-US" sz="12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arithmetic that sets the model's time resolution</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Every downstream design choice inherits these three numbers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12</a:t>
            </a:r>
            <a:endParaRPr lang="en-US" sz="900" dirty="0"/>
          </a:p>
        </p:txBody>
      </p:sp>
      <p:sp>
        <p:nvSpPr>
          <p:cNvPr id="10" name="Text 8"/>
          <p:cNvSpPr txBox="1"/>
          <p:nvPr/>
        </p:nvSpPr>
        <p:spPr>
          <a:xfrm>
            <a:off x="566928" y="1572768"/>
            <a:ext cx="3584448"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320</a:t>
            </a:r>
            <a:endParaRPr lang="en-US" sz="3600" dirty="0"/>
          </a:p>
        </p:txBody>
      </p:sp>
      <p:sp>
        <p:nvSpPr>
          <p:cNvPr id="11" name="Text 9"/>
          <p:cNvSpPr txBox="1"/>
          <p:nvPr/>
        </p:nvSpPr>
        <p:spPr>
          <a:xfrm>
            <a:off x="566928" y="2267712"/>
            <a:ext cx="3584448"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samples of total stride</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(5 × 2⁶) between outputs</a:t>
            </a:r>
            <a:endParaRPr lang="en-US" sz="1150" dirty="0"/>
          </a:p>
        </p:txBody>
      </p:sp>
      <p:sp>
        <p:nvSpPr>
          <p:cNvPr id="12" name="Text 10"/>
          <p:cNvSpPr txBox="1"/>
          <p:nvPr/>
        </p:nvSpPr>
        <p:spPr>
          <a:xfrm>
            <a:off x="4279392" y="1572768"/>
            <a:ext cx="3584448"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20 ms</a:t>
            </a:r>
            <a:endParaRPr lang="en-US" sz="3600" dirty="0"/>
          </a:p>
        </p:txBody>
      </p:sp>
      <p:sp>
        <p:nvSpPr>
          <p:cNvPr id="13" name="Text 11"/>
          <p:cNvSpPr txBox="1"/>
          <p:nvPr/>
        </p:nvSpPr>
        <p:spPr>
          <a:xfrm>
            <a:off x="4279392" y="2267712"/>
            <a:ext cx="3584448"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of audio per output frame</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at 16 kHz</a:t>
            </a:r>
            <a:endParaRPr lang="en-US" sz="1150" dirty="0"/>
          </a:p>
        </p:txBody>
      </p:sp>
      <p:sp>
        <p:nvSpPr>
          <p:cNvPr id="14" name="Text 12"/>
          <p:cNvSpPr txBox="1"/>
          <p:nvPr/>
        </p:nvSpPr>
        <p:spPr>
          <a:xfrm>
            <a:off x="7991856" y="1572768"/>
            <a:ext cx="3639312"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49 Hz</a:t>
            </a:r>
            <a:endParaRPr lang="en-US" sz="3600" dirty="0"/>
          </a:p>
        </p:txBody>
      </p:sp>
      <p:sp>
        <p:nvSpPr>
          <p:cNvPr id="15" name="Text 13"/>
          <p:cNvSpPr txBox="1"/>
          <p:nvPr/>
        </p:nvSpPr>
        <p:spPr>
          <a:xfrm>
            <a:off x="7991856" y="2267712"/>
            <a:ext cx="3639312"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output frame rate of the</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encoder</a:t>
            </a:r>
            <a:endParaRPr lang="en-US" sz="1150" dirty="0"/>
          </a:p>
        </p:txBody>
      </p:sp>
      <p:sp>
        <p:nvSpPr>
          <p:cNvPr id="16" name="Shape 14"/>
          <p:cNvSpPr/>
          <p:nvPr/>
        </p:nvSpPr>
        <p:spPr>
          <a:xfrm>
            <a:off x="566928" y="3127248"/>
            <a:ext cx="5440680" cy="1463040"/>
          </a:xfrm>
          <a:prstGeom prst="roundRect">
            <a:avLst>
              <a:gd name="adj" fmla="val 3750"/>
            </a:avLst>
          </a:prstGeom>
          <a:solidFill>
            <a:srgbClr val="EFF5F1"/>
          </a:solidFill>
          <a:ln w="12700">
            <a:solidFill>
              <a:srgbClr val="DCE7E1"/>
            </a:solidFill>
            <a:prstDash val="solid"/>
          </a:ln>
        </p:spPr>
        <p:txBody>
          <a:bodyPr/>
          <a:lstStyle/>
          <a:p>
            <a:endParaRPr lang="en-US"/>
          </a:p>
        </p:txBody>
      </p:sp>
      <p:sp>
        <p:nvSpPr>
          <p:cNvPr id="17" name="Shape 15"/>
          <p:cNvSpPr/>
          <p:nvPr/>
        </p:nvSpPr>
        <p:spPr>
          <a:xfrm>
            <a:off x="786384" y="3419856"/>
            <a:ext cx="109728" cy="109728"/>
          </a:xfrm>
          <a:prstGeom prst="ellipse">
            <a:avLst/>
          </a:prstGeom>
          <a:solidFill>
            <a:srgbClr val="2E7D5B"/>
          </a:solidFill>
          <a:ln w="12700">
            <a:solidFill>
              <a:srgbClr val="333333"/>
            </a:solidFill>
            <a:prstDash val="solid"/>
          </a:ln>
        </p:spPr>
        <p:txBody>
          <a:bodyPr/>
          <a:lstStyle/>
          <a:p>
            <a:endParaRPr lang="en-US"/>
          </a:p>
        </p:txBody>
      </p:sp>
      <p:sp>
        <p:nvSpPr>
          <p:cNvPr id="18" name="Text 16"/>
          <p:cNvSpPr txBox="1"/>
          <p:nvPr/>
        </p:nvSpPr>
        <p:spPr>
          <a:xfrm>
            <a:off x="987552" y="3291840"/>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Receptive field</a:t>
            </a:r>
            <a:endParaRPr lang="en-US" sz="1500" dirty="0"/>
          </a:p>
        </p:txBody>
      </p:sp>
      <p:sp>
        <p:nvSpPr>
          <p:cNvPr id="19" name="Text 17"/>
          <p:cNvSpPr txBox="1"/>
          <p:nvPr/>
        </p:nvSpPr>
        <p:spPr>
          <a:xfrm>
            <a:off x="822960" y="3730752"/>
            <a:ext cx="4928616" cy="6766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400 input samples, or 25 milliseconds of audio, feeds each encoder output. That is close to the standard analysis window used by conventional speech front ends — a 25 ms window with a 10 ms hop.</a:t>
            </a:r>
            <a:endParaRPr lang="en-US" sz="1280" dirty="0"/>
          </a:p>
        </p:txBody>
      </p:sp>
      <p:sp>
        <p:nvSpPr>
          <p:cNvPr id="20" name="Shape 18"/>
          <p:cNvSpPr/>
          <p:nvPr/>
        </p:nvSpPr>
        <p:spPr>
          <a:xfrm>
            <a:off x="6190488" y="3127248"/>
            <a:ext cx="5440680" cy="1463040"/>
          </a:xfrm>
          <a:prstGeom prst="roundRect">
            <a:avLst>
              <a:gd name="adj" fmla="val 3750"/>
            </a:avLst>
          </a:prstGeom>
          <a:solidFill>
            <a:srgbClr val="EFF5F1"/>
          </a:solidFill>
          <a:ln w="12700">
            <a:solidFill>
              <a:srgbClr val="DCE7E1"/>
            </a:solidFill>
            <a:prstDash val="solid"/>
          </a:ln>
        </p:spPr>
        <p:txBody>
          <a:bodyPr/>
          <a:lstStyle/>
          <a:p>
            <a:endParaRPr lang="en-US"/>
          </a:p>
        </p:txBody>
      </p:sp>
      <p:sp>
        <p:nvSpPr>
          <p:cNvPr id="21" name="Shape 19"/>
          <p:cNvSpPr/>
          <p:nvPr/>
        </p:nvSpPr>
        <p:spPr>
          <a:xfrm>
            <a:off x="6409944" y="3419856"/>
            <a:ext cx="109728" cy="109728"/>
          </a:xfrm>
          <a:prstGeom prst="ellipse">
            <a:avLst/>
          </a:prstGeom>
          <a:solidFill>
            <a:srgbClr val="B5623C"/>
          </a:solidFill>
          <a:ln w="12700">
            <a:solidFill>
              <a:srgbClr val="333333"/>
            </a:solidFill>
            <a:prstDash val="solid"/>
          </a:ln>
        </p:spPr>
        <p:txBody>
          <a:bodyPr/>
          <a:lstStyle/>
          <a:p>
            <a:endParaRPr lang="en-US"/>
          </a:p>
        </p:txBody>
      </p:sp>
      <p:sp>
        <p:nvSpPr>
          <p:cNvPr id="22" name="Text 20"/>
          <p:cNvSpPr txBox="1"/>
          <p:nvPr/>
        </p:nvSpPr>
        <p:spPr>
          <a:xfrm>
            <a:off x="6611112" y="3291840"/>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Why it matters downstream</a:t>
            </a:r>
            <a:endParaRPr lang="en-US" sz="1500" dirty="0"/>
          </a:p>
        </p:txBody>
      </p:sp>
      <p:sp>
        <p:nvSpPr>
          <p:cNvPr id="23" name="Text 21"/>
          <p:cNvSpPr txBox="1"/>
          <p:nvPr/>
        </p:nvSpPr>
        <p:spPr>
          <a:xfrm>
            <a:off x="6446520" y="3730752"/>
            <a:ext cx="4928616" cy="6766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20 ms frame is the atom of everything that follows: the masking spans, the contrastive targets, the CTC output rate, and the temporal granularity of any representation you later extract for a downstream task.</a:t>
            </a:r>
            <a:endParaRPr lang="en-US" sz="1280" dirty="0"/>
          </a:p>
        </p:txBody>
      </p:sp>
      <p:sp>
        <p:nvSpPr>
          <p:cNvPr id="24" name="Shape 22"/>
          <p:cNvSpPr/>
          <p:nvPr/>
        </p:nvSpPr>
        <p:spPr>
          <a:xfrm>
            <a:off x="566928" y="4736592"/>
            <a:ext cx="11064240" cy="1316736"/>
          </a:xfrm>
          <a:prstGeom prst="roundRect">
            <a:avLst>
              <a:gd name="adj" fmla="val 4167"/>
            </a:avLst>
          </a:prstGeom>
          <a:solidFill>
            <a:srgbClr val="13302A"/>
          </a:solidFill>
          <a:ln w="12700">
            <a:solidFill>
              <a:srgbClr val="13302A"/>
            </a:solidFill>
            <a:prstDash val="solid"/>
          </a:ln>
        </p:spPr>
        <p:txBody>
          <a:bodyPr/>
          <a:lstStyle/>
          <a:p>
            <a:endParaRPr lang="en-US"/>
          </a:p>
        </p:txBody>
      </p:sp>
      <p:sp>
        <p:nvSpPr>
          <p:cNvPr id="25" name="Shape 23"/>
          <p:cNvSpPr/>
          <p:nvPr/>
        </p:nvSpPr>
        <p:spPr>
          <a:xfrm>
            <a:off x="786384" y="5029200"/>
            <a:ext cx="109728" cy="109728"/>
          </a:xfrm>
          <a:prstGeom prst="ellipse">
            <a:avLst/>
          </a:prstGeom>
          <a:solidFill>
            <a:srgbClr val="B7D24A"/>
          </a:solidFill>
          <a:ln w="12700">
            <a:solidFill>
              <a:srgbClr val="333333"/>
            </a:solidFill>
            <a:prstDash val="solid"/>
          </a:ln>
        </p:spPr>
        <p:txBody>
          <a:bodyPr/>
          <a:lstStyle/>
          <a:p>
            <a:endParaRPr lang="en-US"/>
          </a:p>
        </p:txBody>
      </p:sp>
      <p:sp>
        <p:nvSpPr>
          <p:cNvPr id="26" name="Text 24"/>
          <p:cNvSpPr txBox="1"/>
          <p:nvPr/>
        </p:nvSpPr>
        <p:spPr>
          <a:xfrm>
            <a:off x="987552" y="490118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 practical note for anyone extracting features from this model</a:t>
            </a:r>
            <a:endParaRPr lang="en-US" sz="1500" dirty="0"/>
          </a:p>
        </p:txBody>
      </p:sp>
      <p:sp>
        <p:nvSpPr>
          <p:cNvPr id="27" name="Text 25"/>
          <p:cNvSpPr txBox="1"/>
          <p:nvPr/>
        </p:nvSpPr>
        <p:spPr>
          <a:xfrm>
            <a:off x="822960" y="5340096"/>
            <a:ext cx="10552176" cy="530352"/>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A three-second emotional utterance from CREMA-D yields roughly 150 frames of 768 or 1024 dimensions. How you pool those frames into an utterance-level vector — mean, attention, or a learned weighted sum across layers — turns out to matter as much as which model you started from. We return to this in the final section.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context network</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A Transformer with one non-standard choice</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13</a:t>
            </a:r>
            <a:endParaRPr lang="en-US" sz="900" dirty="0"/>
          </a:p>
        </p:txBody>
      </p:sp>
      <p:sp>
        <p:nvSpPr>
          <p:cNvPr id="10" name="Shape 8"/>
          <p:cNvSpPr/>
          <p:nvPr/>
        </p:nvSpPr>
        <p:spPr>
          <a:xfrm>
            <a:off x="566928" y="1554480"/>
            <a:ext cx="5440680" cy="2148840"/>
          </a:xfrm>
          <a:prstGeom prst="roundRect">
            <a:avLst>
              <a:gd name="adj" fmla="val 2553"/>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Standard parts</a:t>
            </a:r>
            <a:endParaRPr lang="en-US" sz="1500" dirty="0"/>
          </a:p>
        </p:txBody>
      </p:sp>
      <p:sp>
        <p:nvSpPr>
          <p:cNvPr id="13" name="Text 11"/>
          <p:cNvSpPr txBox="1"/>
          <p:nvPr/>
        </p:nvSpPr>
        <p:spPr>
          <a:xfrm>
            <a:off x="822960" y="2157984"/>
            <a:ext cx="4928616" cy="13624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A Transformer encoder in the usual configuration — self-attention over the whole sequence of latent frames, feed-forward blocks, residual connections, layer normalisation.</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Its job is to turn each local 20 ms latent into a contextualised vector that has seen the entire utterance.</a:t>
            </a:r>
            <a:endParaRPr lang="en-US" sz="1280" dirty="0"/>
          </a:p>
        </p:txBody>
      </p:sp>
      <p:sp>
        <p:nvSpPr>
          <p:cNvPr id="14" name="Shape 12"/>
          <p:cNvSpPr/>
          <p:nvPr/>
        </p:nvSpPr>
        <p:spPr>
          <a:xfrm>
            <a:off x="6190488" y="1554480"/>
            <a:ext cx="5440680" cy="2148840"/>
          </a:xfrm>
          <a:prstGeom prst="roundRect">
            <a:avLst>
              <a:gd name="adj" fmla="val 2553"/>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409944"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non-standard part</a:t>
            </a:r>
            <a:endParaRPr lang="en-US" sz="1500" dirty="0"/>
          </a:p>
        </p:txBody>
      </p:sp>
      <p:sp>
        <p:nvSpPr>
          <p:cNvPr id="17" name="Text 15"/>
          <p:cNvSpPr txBox="1"/>
          <p:nvPr/>
        </p:nvSpPr>
        <p:spPr>
          <a:xfrm>
            <a:off x="6446520" y="2157984"/>
            <a:ext cx="4928616" cy="13624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No fixed positional embeddings. Instead a convolutional layer with kernel size 128 and 16 groups is applied to the input; its output, passed through a GELU, is added to the input, and the sum is layer-normalised.</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convolution acts as a relative positional embedding.</a:t>
            </a:r>
            <a:endParaRPr lang="en-US" sz="1280" dirty="0"/>
          </a:p>
        </p:txBody>
      </p:sp>
      <p:sp>
        <p:nvSpPr>
          <p:cNvPr id="18" name="Text 16"/>
          <p:cNvSpPr txBox="1"/>
          <p:nvPr/>
        </p:nvSpPr>
        <p:spPr>
          <a:xfrm>
            <a:off x="566928" y="3913632"/>
            <a:ext cx="11064240" cy="2103120"/>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Why relative rather than absolute: speech has no canonical origin. A vowel forty frames into an utterance is not a different kind of object from the same vowel at frame four hundred — only its neighbourhood matters.</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It also removes any maximum sequence length baked into the model, which matters when utterance durations vary from one second to twenty.</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The kernel of 128 frames spans about 2.5 seconds of audio, so the positional signal itself carries a fairly wide window of context.</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Layer dropout is used during pre-training — 0.05 for BASE and 0.2 for LARGE, and none at all for the largest LibriVox run.</a:t>
            </a:r>
            <a:endParaRPr lang="en-US" sz="12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quantisation module</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Product quantisation over jointly learned codebooks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14</a:t>
            </a:r>
            <a:endParaRPr lang="en-US" sz="900" dirty="0"/>
          </a:p>
        </p:txBody>
      </p:sp>
      <p:sp>
        <p:nvSpPr>
          <p:cNvPr id="10" name="Shape 8"/>
          <p:cNvSpPr/>
          <p:nvPr/>
        </p:nvSpPr>
        <p:spPr>
          <a:xfrm>
            <a:off x="566928" y="1554480"/>
            <a:ext cx="5852160" cy="2651760"/>
          </a:xfrm>
          <a:prstGeom prst="roundRect">
            <a:avLst>
              <a:gd name="adj" fmla="val 2069"/>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521208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How a target is built</a:t>
            </a:r>
            <a:endParaRPr lang="en-US" sz="1500" dirty="0"/>
          </a:p>
        </p:txBody>
      </p:sp>
      <p:sp>
        <p:nvSpPr>
          <p:cNvPr id="13" name="Text 11"/>
          <p:cNvSpPr txBox="1"/>
          <p:nvPr/>
        </p:nvSpPr>
        <p:spPr>
          <a:xfrm>
            <a:off x="822960" y="2157984"/>
            <a:ext cx="5340096" cy="186537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Given G codebooks (or groups), each with V entries, the module picks one entry from each codebook, concatenates the chosen vectors, and applies a linear transformation to produce the target q.</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In both BASE and LARGE: G = 2 and V = 320.</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Entry size is d/G — 128 for BASE, 384 for LARGE.</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Two choices from 320 options each gives a theoretical maximum of 102,400 distinct codewords.</a:t>
            </a:r>
            <a:endParaRPr lang="en-US" sz="1280" dirty="0"/>
          </a:p>
        </p:txBody>
      </p:sp>
      <p:sp>
        <p:nvSpPr>
          <p:cNvPr id="14" name="Shape 12"/>
          <p:cNvSpPr/>
          <p:nvPr/>
        </p:nvSpPr>
        <p:spPr>
          <a:xfrm>
            <a:off x="6620256" y="1554480"/>
            <a:ext cx="5010912" cy="2651760"/>
          </a:xfrm>
          <a:prstGeom prst="roundRect">
            <a:avLst>
              <a:gd name="adj" fmla="val 2069"/>
            </a:avLst>
          </a:prstGeom>
          <a:solidFill>
            <a:srgbClr val="EFF5F1"/>
          </a:solidFill>
          <a:ln w="12700">
            <a:solidFill>
              <a:srgbClr val="DCE7E1"/>
            </a:solidFill>
            <a:prstDash val="solid"/>
          </a:ln>
        </p:spPr>
        <p:txBody>
          <a:bodyPr/>
          <a:lstStyle/>
          <a:p>
            <a:endParaRPr lang="en-US"/>
          </a:p>
        </p:txBody>
      </p:sp>
      <p:sp>
        <p:nvSpPr>
          <p:cNvPr id="15" name="Text 13"/>
          <p:cNvSpPr txBox="1"/>
          <p:nvPr/>
        </p:nvSpPr>
        <p:spPr>
          <a:xfrm>
            <a:off x="6858000" y="1755648"/>
            <a:ext cx="2194560" cy="274320"/>
          </a:xfrm>
          <a:prstGeom prst="rect">
            <a:avLst/>
          </a:prstGeom>
          <a:noFill/>
          <a:ln/>
        </p:spPr>
        <p:txBody>
          <a:bodyPr wrap="square" lIns="0" tIns="0" rIns="0" bIns="0" rtlCol="0" anchor="ctr"/>
          <a:lstStyle/>
          <a:p>
            <a:pPr marL="0" indent="0">
              <a:buNone/>
            </a:pPr>
            <a:r>
              <a:rPr lang="en-US" sz="1150" b="1" dirty="0">
                <a:solidFill>
                  <a:srgbClr val="2E7D5B"/>
                </a:solidFill>
                <a:latin typeface="Calibri" pitchFamily="34" charset="0"/>
                <a:ea typeface="Calibri" pitchFamily="34" charset="-122"/>
                <a:cs typeface="Calibri" pitchFamily="34" charset="-120"/>
              </a:rPr>
              <a:t>Codebook 1  ·  320 entries</a:t>
            </a:r>
            <a:endParaRPr lang="en-US" sz="1150" dirty="0"/>
          </a:p>
        </p:txBody>
      </p:sp>
      <p:sp>
        <p:nvSpPr>
          <p:cNvPr id="16" name="Text 14"/>
          <p:cNvSpPr txBox="1"/>
          <p:nvPr/>
        </p:nvSpPr>
        <p:spPr>
          <a:xfrm>
            <a:off x="9281160" y="1755648"/>
            <a:ext cx="2194560" cy="274320"/>
          </a:xfrm>
          <a:prstGeom prst="rect">
            <a:avLst/>
          </a:prstGeom>
          <a:noFill/>
          <a:ln/>
        </p:spPr>
        <p:txBody>
          <a:bodyPr wrap="square" lIns="0" tIns="0" rIns="0" bIns="0" rtlCol="0" anchor="ctr"/>
          <a:lstStyle/>
          <a:p>
            <a:pPr marL="0" indent="0">
              <a:buNone/>
            </a:pPr>
            <a:r>
              <a:rPr lang="en-US" sz="1150" b="1" dirty="0">
                <a:solidFill>
                  <a:srgbClr val="B5623C"/>
                </a:solidFill>
                <a:latin typeface="Calibri" pitchFamily="34" charset="0"/>
                <a:ea typeface="Calibri" pitchFamily="34" charset="-122"/>
                <a:cs typeface="Calibri" pitchFamily="34" charset="-120"/>
              </a:rPr>
              <a:t>Codebook 2  ·  320 entries</a:t>
            </a:r>
            <a:endParaRPr lang="en-US" sz="1150" dirty="0"/>
          </a:p>
        </p:txBody>
      </p:sp>
      <p:sp>
        <p:nvSpPr>
          <p:cNvPr id="17" name="Shape 15"/>
          <p:cNvSpPr/>
          <p:nvPr/>
        </p:nvSpPr>
        <p:spPr>
          <a:xfrm>
            <a:off x="6858000" y="2103120"/>
            <a:ext cx="1920240" cy="210312"/>
          </a:xfrm>
          <a:prstGeom prst="roundRect">
            <a:avLst>
              <a:gd name="adj" fmla="val 13043"/>
            </a:avLst>
          </a:prstGeom>
          <a:solidFill>
            <a:srgbClr val="D8E5DE"/>
          </a:solidFill>
          <a:ln w="12700">
            <a:solidFill>
              <a:srgbClr val="333333"/>
            </a:solidFill>
            <a:prstDash val="solid"/>
          </a:ln>
        </p:spPr>
        <p:txBody>
          <a:bodyPr/>
          <a:lstStyle/>
          <a:p>
            <a:endParaRPr lang="en-US"/>
          </a:p>
        </p:txBody>
      </p:sp>
      <p:sp>
        <p:nvSpPr>
          <p:cNvPr id="18" name="Shape 16"/>
          <p:cNvSpPr/>
          <p:nvPr/>
        </p:nvSpPr>
        <p:spPr>
          <a:xfrm>
            <a:off x="9281160" y="2103120"/>
            <a:ext cx="1920240" cy="210312"/>
          </a:xfrm>
          <a:prstGeom prst="roundRect">
            <a:avLst>
              <a:gd name="adj" fmla="val 13043"/>
            </a:avLst>
          </a:prstGeom>
          <a:solidFill>
            <a:srgbClr val="B5623C"/>
          </a:solidFill>
          <a:ln w="12700">
            <a:solidFill>
              <a:srgbClr val="333333"/>
            </a:solidFill>
            <a:prstDash val="solid"/>
          </a:ln>
        </p:spPr>
        <p:txBody>
          <a:bodyPr/>
          <a:lstStyle/>
          <a:p>
            <a:endParaRPr lang="en-US"/>
          </a:p>
        </p:txBody>
      </p:sp>
      <p:sp>
        <p:nvSpPr>
          <p:cNvPr id="19" name="Shape 17"/>
          <p:cNvSpPr/>
          <p:nvPr/>
        </p:nvSpPr>
        <p:spPr>
          <a:xfrm>
            <a:off x="6858000" y="2368296"/>
            <a:ext cx="1920240" cy="210312"/>
          </a:xfrm>
          <a:prstGeom prst="roundRect">
            <a:avLst>
              <a:gd name="adj" fmla="val 13043"/>
            </a:avLst>
          </a:prstGeom>
          <a:solidFill>
            <a:srgbClr val="D8E5DE"/>
          </a:solidFill>
          <a:ln w="12700">
            <a:solidFill>
              <a:srgbClr val="333333"/>
            </a:solidFill>
            <a:prstDash val="solid"/>
          </a:ln>
        </p:spPr>
        <p:txBody>
          <a:bodyPr/>
          <a:lstStyle/>
          <a:p>
            <a:endParaRPr lang="en-US"/>
          </a:p>
        </p:txBody>
      </p:sp>
      <p:sp>
        <p:nvSpPr>
          <p:cNvPr id="20" name="Shape 18"/>
          <p:cNvSpPr/>
          <p:nvPr/>
        </p:nvSpPr>
        <p:spPr>
          <a:xfrm>
            <a:off x="9281160" y="2368296"/>
            <a:ext cx="1920240" cy="210312"/>
          </a:xfrm>
          <a:prstGeom prst="roundRect">
            <a:avLst>
              <a:gd name="adj" fmla="val 13043"/>
            </a:avLst>
          </a:prstGeom>
          <a:solidFill>
            <a:srgbClr val="E8DBD3"/>
          </a:solidFill>
          <a:ln w="12700">
            <a:solidFill>
              <a:srgbClr val="333333"/>
            </a:solidFill>
            <a:prstDash val="solid"/>
          </a:ln>
        </p:spPr>
        <p:txBody>
          <a:bodyPr/>
          <a:lstStyle/>
          <a:p>
            <a:endParaRPr lang="en-US"/>
          </a:p>
        </p:txBody>
      </p:sp>
      <p:sp>
        <p:nvSpPr>
          <p:cNvPr id="21" name="Shape 19"/>
          <p:cNvSpPr/>
          <p:nvPr/>
        </p:nvSpPr>
        <p:spPr>
          <a:xfrm>
            <a:off x="6858000" y="2633472"/>
            <a:ext cx="1920240" cy="210312"/>
          </a:xfrm>
          <a:prstGeom prst="roundRect">
            <a:avLst>
              <a:gd name="adj" fmla="val 13043"/>
            </a:avLst>
          </a:prstGeom>
          <a:solidFill>
            <a:srgbClr val="2E7D5B"/>
          </a:solidFill>
          <a:ln w="12700">
            <a:solidFill>
              <a:srgbClr val="333333"/>
            </a:solidFill>
            <a:prstDash val="solid"/>
          </a:ln>
        </p:spPr>
        <p:txBody>
          <a:bodyPr/>
          <a:lstStyle/>
          <a:p>
            <a:endParaRPr lang="en-US"/>
          </a:p>
        </p:txBody>
      </p:sp>
      <p:sp>
        <p:nvSpPr>
          <p:cNvPr id="22" name="Shape 20"/>
          <p:cNvSpPr/>
          <p:nvPr/>
        </p:nvSpPr>
        <p:spPr>
          <a:xfrm>
            <a:off x="9281160" y="2633472"/>
            <a:ext cx="1920240" cy="210312"/>
          </a:xfrm>
          <a:prstGeom prst="roundRect">
            <a:avLst>
              <a:gd name="adj" fmla="val 13043"/>
            </a:avLst>
          </a:prstGeom>
          <a:solidFill>
            <a:srgbClr val="E8DBD3"/>
          </a:solidFill>
          <a:ln w="12700">
            <a:solidFill>
              <a:srgbClr val="333333"/>
            </a:solidFill>
            <a:prstDash val="solid"/>
          </a:ln>
        </p:spPr>
        <p:txBody>
          <a:bodyPr/>
          <a:lstStyle/>
          <a:p>
            <a:endParaRPr lang="en-US"/>
          </a:p>
        </p:txBody>
      </p:sp>
      <p:sp>
        <p:nvSpPr>
          <p:cNvPr id="23" name="Shape 21"/>
          <p:cNvSpPr/>
          <p:nvPr/>
        </p:nvSpPr>
        <p:spPr>
          <a:xfrm>
            <a:off x="6858000" y="2898648"/>
            <a:ext cx="1920240" cy="210312"/>
          </a:xfrm>
          <a:prstGeom prst="roundRect">
            <a:avLst>
              <a:gd name="adj" fmla="val 13043"/>
            </a:avLst>
          </a:prstGeom>
          <a:solidFill>
            <a:srgbClr val="D8E5DE"/>
          </a:solidFill>
          <a:ln w="12700">
            <a:solidFill>
              <a:srgbClr val="333333"/>
            </a:solidFill>
            <a:prstDash val="solid"/>
          </a:ln>
        </p:spPr>
        <p:txBody>
          <a:bodyPr/>
          <a:lstStyle/>
          <a:p>
            <a:endParaRPr lang="en-US"/>
          </a:p>
        </p:txBody>
      </p:sp>
      <p:sp>
        <p:nvSpPr>
          <p:cNvPr id="24" name="Shape 22"/>
          <p:cNvSpPr/>
          <p:nvPr/>
        </p:nvSpPr>
        <p:spPr>
          <a:xfrm>
            <a:off x="9281160" y="2898648"/>
            <a:ext cx="1920240" cy="210312"/>
          </a:xfrm>
          <a:prstGeom prst="roundRect">
            <a:avLst>
              <a:gd name="adj" fmla="val 13043"/>
            </a:avLst>
          </a:prstGeom>
          <a:solidFill>
            <a:srgbClr val="E8DBD3"/>
          </a:solidFill>
          <a:ln w="12700">
            <a:solidFill>
              <a:srgbClr val="333333"/>
            </a:solidFill>
            <a:prstDash val="solid"/>
          </a:ln>
        </p:spPr>
        <p:txBody>
          <a:bodyPr/>
          <a:lstStyle/>
          <a:p>
            <a:endParaRPr lang="en-US"/>
          </a:p>
        </p:txBody>
      </p:sp>
      <p:sp>
        <p:nvSpPr>
          <p:cNvPr id="25" name="Shape 23"/>
          <p:cNvSpPr/>
          <p:nvPr/>
        </p:nvSpPr>
        <p:spPr>
          <a:xfrm>
            <a:off x="6858000" y="3163824"/>
            <a:ext cx="1920240" cy="210312"/>
          </a:xfrm>
          <a:prstGeom prst="roundRect">
            <a:avLst>
              <a:gd name="adj" fmla="val 13043"/>
            </a:avLst>
          </a:prstGeom>
          <a:solidFill>
            <a:srgbClr val="D8E5DE"/>
          </a:solidFill>
          <a:ln w="12700">
            <a:solidFill>
              <a:srgbClr val="333333"/>
            </a:solidFill>
            <a:prstDash val="solid"/>
          </a:ln>
        </p:spPr>
        <p:txBody>
          <a:bodyPr/>
          <a:lstStyle/>
          <a:p>
            <a:endParaRPr lang="en-US"/>
          </a:p>
        </p:txBody>
      </p:sp>
      <p:sp>
        <p:nvSpPr>
          <p:cNvPr id="26" name="Shape 24"/>
          <p:cNvSpPr/>
          <p:nvPr/>
        </p:nvSpPr>
        <p:spPr>
          <a:xfrm>
            <a:off x="9281160" y="3163824"/>
            <a:ext cx="1920240" cy="210312"/>
          </a:xfrm>
          <a:prstGeom prst="roundRect">
            <a:avLst>
              <a:gd name="adj" fmla="val 13043"/>
            </a:avLst>
          </a:prstGeom>
          <a:solidFill>
            <a:srgbClr val="E8DBD3"/>
          </a:solidFill>
          <a:ln w="12700">
            <a:solidFill>
              <a:srgbClr val="333333"/>
            </a:solidFill>
            <a:prstDash val="solid"/>
          </a:ln>
        </p:spPr>
        <p:txBody>
          <a:bodyPr/>
          <a:lstStyle/>
          <a:p>
            <a:endParaRPr lang="en-US"/>
          </a:p>
        </p:txBody>
      </p:sp>
      <p:sp>
        <p:nvSpPr>
          <p:cNvPr id="27" name="Text 25"/>
          <p:cNvSpPr txBox="1"/>
          <p:nvPr/>
        </p:nvSpPr>
        <p:spPr>
          <a:xfrm>
            <a:off x="6858000" y="3566160"/>
            <a:ext cx="4480560" cy="29260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chosen entries are concatenated  →  linear map  →  q</a:t>
            </a:r>
            <a:endParaRPr lang="en-US" sz="1150" dirty="0"/>
          </a:p>
        </p:txBody>
      </p:sp>
      <p:sp>
        <p:nvSpPr>
          <p:cNvPr id="28" name="Text 26"/>
          <p:cNvSpPr txBox="1"/>
          <p:nvPr/>
        </p:nvSpPr>
        <p:spPr>
          <a:xfrm>
            <a:off x="6858000" y="3401568"/>
            <a:ext cx="1920240" cy="182880"/>
          </a:xfrm>
          <a:prstGeom prst="rect">
            <a:avLst/>
          </a:prstGeom>
          <a:noFill/>
          <a:ln/>
        </p:spPr>
        <p:txBody>
          <a:bodyPr wrap="square" lIns="0" tIns="0" rIns="0" bIns="0" rtlCol="0" anchor="ctr"/>
          <a:lstStyle/>
          <a:p>
            <a:pPr marL="0" indent="0" algn="ctr">
              <a:buNone/>
            </a:pPr>
            <a:r>
              <a:rPr lang="en-US" sz="1200" dirty="0">
                <a:solidFill>
                  <a:srgbClr val="4A6B62"/>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9281160" y="3401568"/>
            <a:ext cx="1920240" cy="182880"/>
          </a:xfrm>
          <a:prstGeom prst="rect">
            <a:avLst/>
          </a:prstGeom>
          <a:noFill/>
          <a:ln/>
        </p:spPr>
        <p:txBody>
          <a:bodyPr wrap="square" lIns="0" tIns="0" rIns="0" bIns="0" rtlCol="0" anchor="ctr"/>
          <a:lstStyle/>
          <a:p>
            <a:pPr marL="0" indent="0" algn="ctr">
              <a:buNone/>
            </a:pPr>
            <a:r>
              <a:rPr lang="en-US" sz="1200" dirty="0">
                <a:solidFill>
                  <a:srgbClr val="4A6B62"/>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566928" y="4370832"/>
            <a:ext cx="11064240" cy="1682496"/>
          </a:xfrm>
          <a:prstGeom prst="roundRect">
            <a:avLst>
              <a:gd name="adj" fmla="val 3261"/>
            </a:avLst>
          </a:prstGeom>
          <a:solidFill>
            <a:srgbClr val="13302A"/>
          </a:solidFill>
          <a:ln w="12700">
            <a:solidFill>
              <a:srgbClr val="13302A"/>
            </a:solidFill>
            <a:prstDash val="solid"/>
          </a:ln>
        </p:spPr>
        <p:txBody>
          <a:bodyPr/>
          <a:lstStyle/>
          <a:p>
            <a:endParaRPr lang="en-US"/>
          </a:p>
        </p:txBody>
      </p:sp>
      <p:sp>
        <p:nvSpPr>
          <p:cNvPr id="31" name="Shape 29"/>
          <p:cNvSpPr/>
          <p:nvPr/>
        </p:nvSpPr>
        <p:spPr>
          <a:xfrm>
            <a:off x="786384" y="4663440"/>
            <a:ext cx="109728" cy="109728"/>
          </a:xfrm>
          <a:prstGeom prst="ellipse">
            <a:avLst/>
          </a:prstGeom>
          <a:solidFill>
            <a:srgbClr val="B7D24A"/>
          </a:solidFill>
          <a:ln w="12700">
            <a:solidFill>
              <a:srgbClr val="333333"/>
            </a:solidFill>
            <a:prstDash val="solid"/>
          </a:ln>
        </p:spPr>
        <p:txBody>
          <a:bodyPr/>
          <a:lstStyle/>
          <a:p>
            <a:endParaRPr lang="en-US"/>
          </a:p>
        </p:txBody>
      </p:sp>
      <p:sp>
        <p:nvSpPr>
          <p:cNvPr id="32" name="Text 30"/>
          <p:cNvSpPr txBox="1"/>
          <p:nvPr/>
        </p:nvSpPr>
        <p:spPr>
          <a:xfrm>
            <a:off x="987552" y="453542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product quantisation rather than one big codebook</a:t>
            </a:r>
            <a:endParaRPr lang="en-US" sz="1500" dirty="0"/>
          </a:p>
        </p:txBody>
      </p:sp>
      <p:sp>
        <p:nvSpPr>
          <p:cNvPr id="33" name="Text 31"/>
          <p:cNvSpPr txBox="1"/>
          <p:nvPr/>
        </p:nvSpPr>
        <p:spPr>
          <a:xfrm>
            <a:off x="822960" y="4974336"/>
            <a:ext cx="10552176" cy="896112"/>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A single codebook covering a hundred thousand entries would be unwieldy to learn and most entries would go unused. Factoring the choice into two independent selections of 320 gives the same nominal capacity with 640 vectors to train, and lets each codebook specialise.</a:t>
            </a:r>
            <a:endParaRPr lang="en-US" sz="1300" dirty="0"/>
          </a:p>
          <a:p>
            <a:pPr marL="0" indent="0">
              <a:lnSpc>
                <a:spcPct val="108000"/>
              </a:lnSpc>
              <a:buNone/>
            </a:pPr>
            <a:endParaRPr lang="en-US" sz="1300" dirty="0"/>
          </a:p>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In practice the number of codewords actually used is far below the theoretical maximum — which is precisely why the objective needs the diversity term we meet in the next section.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Making a discrete choice differentiable</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The Gumbel softmax and the straight-through estimator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15</a:t>
            </a:r>
            <a:endParaRPr lang="en-US" sz="900" dirty="0"/>
          </a:p>
        </p:txBody>
      </p:sp>
      <p:sp>
        <p:nvSpPr>
          <p:cNvPr id="10" name="Shape 8"/>
          <p:cNvSpPr/>
          <p:nvPr/>
        </p:nvSpPr>
        <p:spPr>
          <a:xfrm>
            <a:off x="566928" y="1554480"/>
            <a:ext cx="5440680" cy="2194560"/>
          </a:xfrm>
          <a:prstGeom prst="roundRect">
            <a:avLst>
              <a:gd name="adj" fmla="val 2500"/>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problem</a:t>
            </a:r>
            <a:endParaRPr lang="en-US" sz="1500" dirty="0"/>
          </a:p>
        </p:txBody>
      </p:sp>
      <p:sp>
        <p:nvSpPr>
          <p:cNvPr id="13" name="Text 11"/>
          <p:cNvSpPr txBox="1"/>
          <p:nvPr/>
        </p:nvSpPr>
        <p:spPr>
          <a:xfrm>
            <a:off x="822960" y="215798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Choosing a codebook entry is an argmax — a hard, discrete decision with zero gradient almost everywhere. If the choice is not differentiable, no gradient reaches the codebooks and they never learn.</a:t>
            </a:r>
            <a:endParaRPr lang="en-US" sz="1280" dirty="0"/>
          </a:p>
        </p:txBody>
      </p:sp>
      <p:sp>
        <p:nvSpPr>
          <p:cNvPr id="14" name="Shape 12"/>
          <p:cNvSpPr/>
          <p:nvPr/>
        </p:nvSpPr>
        <p:spPr>
          <a:xfrm>
            <a:off x="6190488" y="1554480"/>
            <a:ext cx="5440680" cy="2194560"/>
          </a:xfrm>
          <a:prstGeom prst="roundRect">
            <a:avLst>
              <a:gd name="adj" fmla="val 2500"/>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409944"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solution</a:t>
            </a:r>
            <a:endParaRPr lang="en-US" sz="1500" dirty="0"/>
          </a:p>
        </p:txBody>
      </p:sp>
      <p:sp>
        <p:nvSpPr>
          <p:cNvPr id="17" name="Text 15"/>
          <p:cNvSpPr txBox="1"/>
          <p:nvPr/>
        </p:nvSpPr>
        <p:spPr>
          <a:xfrm>
            <a:off x="6446520" y="2157984"/>
            <a:ext cx="4928616" cy="140817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encoder output z is mapped to logits over the G × V entries. Gumbel noise is added, the result is divided by a temperature τ and passed through a softmax.</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Forward pass: take the hard argmax. Backward pass: use the true gradient of the softmax. This is the straight-through estimator.</a:t>
            </a:r>
            <a:endParaRPr lang="en-US" sz="1280" dirty="0"/>
          </a:p>
        </p:txBody>
      </p:sp>
      <p:sp>
        <p:nvSpPr>
          <p:cNvPr id="18" name="Text 16"/>
          <p:cNvSpPr txBox="1"/>
          <p:nvPr/>
        </p:nvSpPr>
        <p:spPr>
          <a:xfrm>
            <a:off x="566928" y="3950208"/>
            <a:ext cx="11064240" cy="2103120"/>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The temperature τ controls how close the softmax is to a hard one-hot. High temperature means a smooth, high-entropy distribution and informative gradients; low temperature means a near-discrete choice.</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The schedule matters: τ is annealed from 2 down to a minimum of 0.5 for BASE and 0.1 for LARGE, multiplied by 0.999995 at every update.</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So training starts soft — the model explores the codebook — and gradually hardens into genuine discrete selection. It is a curriculum, not a fixed setting.</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This is the machinery that makes 'jointly learned' in the abstract true. Without it the codebook would have to be fitted in a separate stage, which is exactly what vq-wav2vec did.</a:t>
            </a:r>
            <a:endParaRPr lang="en-US" sz="12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Two model configurations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Same encoder, different Transformers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16</a:t>
            </a:r>
            <a:endParaRPr lang="en-US" sz="900" dirty="0"/>
          </a:p>
        </p:txBody>
      </p:sp>
      <p:sp>
        <p:nvSpPr>
          <p:cNvPr id="10" name="Text 8"/>
          <p:cNvSpPr txBox="1"/>
          <p:nvPr/>
        </p:nvSpPr>
        <p:spPr>
          <a:xfrm>
            <a:off x="4937760" y="1335024"/>
            <a:ext cx="2743200" cy="274320"/>
          </a:xfrm>
          <a:prstGeom prst="rect">
            <a:avLst/>
          </a:prstGeom>
          <a:noFill/>
          <a:ln/>
        </p:spPr>
        <p:txBody>
          <a:bodyPr wrap="square" lIns="0" tIns="0" rIns="0" bIns="0" rtlCol="0" anchor="ctr"/>
          <a:lstStyle/>
          <a:p>
            <a:pPr marL="0" indent="0">
              <a:buNone/>
            </a:pPr>
            <a:r>
              <a:rPr lang="en-US" sz="1300" b="1" dirty="0">
                <a:solidFill>
                  <a:srgbClr val="2E7D5B"/>
                </a:solidFill>
                <a:latin typeface="Calibri" pitchFamily="34" charset="0"/>
                <a:ea typeface="Calibri" pitchFamily="34" charset="-122"/>
                <a:cs typeface="Calibri" pitchFamily="34" charset="-120"/>
              </a:rPr>
              <a:t>BASE</a:t>
            </a:r>
            <a:endParaRPr lang="en-US" sz="1300" dirty="0"/>
          </a:p>
        </p:txBody>
      </p:sp>
      <p:sp>
        <p:nvSpPr>
          <p:cNvPr id="11" name="Text 9"/>
          <p:cNvSpPr txBox="1"/>
          <p:nvPr/>
        </p:nvSpPr>
        <p:spPr>
          <a:xfrm>
            <a:off x="7955280" y="1335024"/>
            <a:ext cx="3566160" cy="274320"/>
          </a:xfrm>
          <a:prstGeom prst="rect">
            <a:avLst/>
          </a:prstGeom>
          <a:noFill/>
          <a:ln/>
        </p:spPr>
        <p:txBody>
          <a:bodyPr wrap="square" lIns="0" tIns="0" rIns="0" bIns="0" rtlCol="0" anchor="ctr"/>
          <a:lstStyle/>
          <a:p>
            <a:pPr marL="0" indent="0">
              <a:buNone/>
            </a:pPr>
            <a:r>
              <a:rPr lang="en-US" sz="1300" b="1" dirty="0">
                <a:solidFill>
                  <a:srgbClr val="B5623C"/>
                </a:solidFill>
                <a:latin typeface="Calibri" pitchFamily="34" charset="0"/>
                <a:ea typeface="Calibri" pitchFamily="34" charset="-122"/>
                <a:cs typeface="Calibri" pitchFamily="34" charset="-120"/>
              </a:rPr>
              <a:t>LARGE</a:t>
            </a:r>
            <a:endParaRPr lang="en-US" sz="1300" dirty="0"/>
          </a:p>
        </p:txBody>
      </p:sp>
      <p:sp>
        <p:nvSpPr>
          <p:cNvPr id="12" name="Shape 10"/>
          <p:cNvSpPr/>
          <p:nvPr/>
        </p:nvSpPr>
        <p:spPr>
          <a:xfrm>
            <a:off x="566928" y="1627632"/>
            <a:ext cx="11064240" cy="329184"/>
          </a:xfrm>
          <a:prstGeom prst="roundRect">
            <a:avLst>
              <a:gd name="adj" fmla="val 5556"/>
            </a:avLst>
          </a:prstGeom>
          <a:solidFill>
            <a:srgbClr val="EFF5F1"/>
          </a:solidFill>
          <a:ln w="12700">
            <a:solidFill>
              <a:srgbClr val="E4ECE7"/>
            </a:solidFill>
            <a:prstDash val="solid"/>
          </a:ln>
        </p:spPr>
        <p:txBody>
          <a:bodyPr/>
          <a:lstStyle/>
          <a:p>
            <a:endParaRPr lang="en-US"/>
          </a:p>
        </p:txBody>
      </p:sp>
      <p:sp>
        <p:nvSpPr>
          <p:cNvPr id="13" name="Text 11"/>
          <p:cNvSpPr txBox="1"/>
          <p:nvPr/>
        </p:nvSpPr>
        <p:spPr>
          <a:xfrm>
            <a:off x="749808" y="168249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Transformer blocks</a:t>
            </a:r>
            <a:endParaRPr lang="en-US" sz="1150" dirty="0"/>
          </a:p>
        </p:txBody>
      </p:sp>
      <p:sp>
        <p:nvSpPr>
          <p:cNvPr id="14" name="Text 12"/>
          <p:cNvSpPr txBox="1"/>
          <p:nvPr/>
        </p:nvSpPr>
        <p:spPr>
          <a:xfrm>
            <a:off x="4937760" y="168249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12</a:t>
            </a:r>
            <a:endParaRPr lang="en-US" sz="1150" dirty="0"/>
          </a:p>
        </p:txBody>
      </p:sp>
      <p:sp>
        <p:nvSpPr>
          <p:cNvPr id="15" name="Text 13"/>
          <p:cNvSpPr txBox="1"/>
          <p:nvPr/>
        </p:nvSpPr>
        <p:spPr>
          <a:xfrm>
            <a:off x="7955280" y="168249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24</a:t>
            </a:r>
            <a:endParaRPr lang="en-US" sz="1150" dirty="0"/>
          </a:p>
        </p:txBody>
      </p:sp>
      <p:sp>
        <p:nvSpPr>
          <p:cNvPr id="16" name="Shape 14"/>
          <p:cNvSpPr/>
          <p:nvPr/>
        </p:nvSpPr>
        <p:spPr>
          <a:xfrm>
            <a:off x="566928" y="1993392"/>
            <a:ext cx="11064240" cy="329184"/>
          </a:xfrm>
          <a:prstGeom prst="roundRect">
            <a:avLst>
              <a:gd name="adj" fmla="val 5556"/>
            </a:avLst>
          </a:prstGeom>
          <a:solidFill>
            <a:srgbClr val="FFFFFF"/>
          </a:solidFill>
          <a:ln w="12700">
            <a:solidFill>
              <a:srgbClr val="E4ECE7"/>
            </a:solidFill>
            <a:prstDash val="solid"/>
          </a:ln>
        </p:spPr>
        <p:txBody>
          <a:bodyPr/>
          <a:lstStyle/>
          <a:p>
            <a:endParaRPr lang="en-US"/>
          </a:p>
        </p:txBody>
      </p:sp>
      <p:sp>
        <p:nvSpPr>
          <p:cNvPr id="17" name="Text 15"/>
          <p:cNvSpPr txBox="1"/>
          <p:nvPr/>
        </p:nvSpPr>
        <p:spPr>
          <a:xfrm>
            <a:off x="749808" y="204825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Model dimension</a:t>
            </a:r>
            <a:endParaRPr lang="en-US" sz="1150" dirty="0"/>
          </a:p>
        </p:txBody>
      </p:sp>
      <p:sp>
        <p:nvSpPr>
          <p:cNvPr id="18" name="Text 16"/>
          <p:cNvSpPr txBox="1"/>
          <p:nvPr/>
        </p:nvSpPr>
        <p:spPr>
          <a:xfrm>
            <a:off x="4937760" y="204825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768</a:t>
            </a:r>
            <a:endParaRPr lang="en-US" sz="1150" dirty="0"/>
          </a:p>
        </p:txBody>
      </p:sp>
      <p:sp>
        <p:nvSpPr>
          <p:cNvPr id="19" name="Text 17"/>
          <p:cNvSpPr txBox="1"/>
          <p:nvPr/>
        </p:nvSpPr>
        <p:spPr>
          <a:xfrm>
            <a:off x="7955280" y="204825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1,024</a:t>
            </a:r>
            <a:endParaRPr lang="en-US" sz="1150" dirty="0"/>
          </a:p>
        </p:txBody>
      </p:sp>
      <p:sp>
        <p:nvSpPr>
          <p:cNvPr id="20" name="Shape 18"/>
          <p:cNvSpPr/>
          <p:nvPr/>
        </p:nvSpPr>
        <p:spPr>
          <a:xfrm>
            <a:off x="566928" y="2359152"/>
            <a:ext cx="11064240" cy="329184"/>
          </a:xfrm>
          <a:prstGeom prst="roundRect">
            <a:avLst>
              <a:gd name="adj" fmla="val 5556"/>
            </a:avLst>
          </a:prstGeom>
          <a:solidFill>
            <a:srgbClr val="EFF5F1"/>
          </a:solidFill>
          <a:ln w="12700">
            <a:solidFill>
              <a:srgbClr val="E4ECE7"/>
            </a:solidFill>
            <a:prstDash val="solid"/>
          </a:ln>
        </p:spPr>
        <p:txBody>
          <a:bodyPr/>
          <a:lstStyle/>
          <a:p>
            <a:endParaRPr lang="en-US"/>
          </a:p>
        </p:txBody>
      </p:sp>
      <p:sp>
        <p:nvSpPr>
          <p:cNvPr id="21" name="Text 19"/>
          <p:cNvSpPr txBox="1"/>
          <p:nvPr/>
        </p:nvSpPr>
        <p:spPr>
          <a:xfrm>
            <a:off x="749808" y="241401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Feed-forward dimension</a:t>
            </a:r>
            <a:endParaRPr lang="en-US" sz="1150" dirty="0"/>
          </a:p>
        </p:txBody>
      </p:sp>
      <p:sp>
        <p:nvSpPr>
          <p:cNvPr id="22" name="Text 20"/>
          <p:cNvSpPr txBox="1"/>
          <p:nvPr/>
        </p:nvSpPr>
        <p:spPr>
          <a:xfrm>
            <a:off x="4937760" y="241401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3,072</a:t>
            </a:r>
            <a:endParaRPr lang="en-US" sz="1150" dirty="0"/>
          </a:p>
        </p:txBody>
      </p:sp>
      <p:sp>
        <p:nvSpPr>
          <p:cNvPr id="23" name="Text 21"/>
          <p:cNvSpPr txBox="1"/>
          <p:nvPr/>
        </p:nvSpPr>
        <p:spPr>
          <a:xfrm>
            <a:off x="7955280" y="241401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4,096</a:t>
            </a:r>
            <a:endParaRPr lang="en-US" sz="1150" dirty="0"/>
          </a:p>
        </p:txBody>
      </p:sp>
      <p:sp>
        <p:nvSpPr>
          <p:cNvPr id="24" name="Shape 22"/>
          <p:cNvSpPr/>
          <p:nvPr/>
        </p:nvSpPr>
        <p:spPr>
          <a:xfrm>
            <a:off x="566928" y="2724912"/>
            <a:ext cx="11064240" cy="329184"/>
          </a:xfrm>
          <a:prstGeom prst="roundRect">
            <a:avLst>
              <a:gd name="adj" fmla="val 5556"/>
            </a:avLst>
          </a:prstGeom>
          <a:solidFill>
            <a:srgbClr val="FFFFFF"/>
          </a:solidFill>
          <a:ln w="12700">
            <a:solidFill>
              <a:srgbClr val="E4ECE7"/>
            </a:solidFill>
            <a:prstDash val="solid"/>
          </a:ln>
        </p:spPr>
        <p:txBody>
          <a:bodyPr/>
          <a:lstStyle/>
          <a:p>
            <a:endParaRPr lang="en-US"/>
          </a:p>
        </p:txBody>
      </p:sp>
      <p:sp>
        <p:nvSpPr>
          <p:cNvPr id="25" name="Text 23"/>
          <p:cNvSpPr txBox="1"/>
          <p:nvPr/>
        </p:nvSpPr>
        <p:spPr>
          <a:xfrm>
            <a:off x="749808" y="277977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Attention heads</a:t>
            </a:r>
            <a:endParaRPr lang="en-US" sz="1150" dirty="0"/>
          </a:p>
        </p:txBody>
      </p:sp>
      <p:sp>
        <p:nvSpPr>
          <p:cNvPr id="26" name="Text 24"/>
          <p:cNvSpPr txBox="1"/>
          <p:nvPr/>
        </p:nvSpPr>
        <p:spPr>
          <a:xfrm>
            <a:off x="4937760" y="277977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8</a:t>
            </a:r>
            <a:endParaRPr lang="en-US" sz="1150" dirty="0"/>
          </a:p>
        </p:txBody>
      </p:sp>
      <p:sp>
        <p:nvSpPr>
          <p:cNvPr id="27" name="Text 25"/>
          <p:cNvSpPr txBox="1"/>
          <p:nvPr/>
        </p:nvSpPr>
        <p:spPr>
          <a:xfrm>
            <a:off x="7955280" y="277977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16</a:t>
            </a:r>
            <a:endParaRPr lang="en-US" sz="1150" dirty="0"/>
          </a:p>
        </p:txBody>
      </p:sp>
      <p:sp>
        <p:nvSpPr>
          <p:cNvPr id="28" name="Shape 26"/>
          <p:cNvSpPr/>
          <p:nvPr/>
        </p:nvSpPr>
        <p:spPr>
          <a:xfrm>
            <a:off x="566928" y="3090672"/>
            <a:ext cx="11064240" cy="329184"/>
          </a:xfrm>
          <a:prstGeom prst="roundRect">
            <a:avLst>
              <a:gd name="adj" fmla="val 5556"/>
            </a:avLst>
          </a:prstGeom>
          <a:solidFill>
            <a:srgbClr val="EFF5F1"/>
          </a:solidFill>
          <a:ln w="12700">
            <a:solidFill>
              <a:srgbClr val="E4ECE7"/>
            </a:solidFill>
            <a:prstDash val="solid"/>
          </a:ln>
        </p:spPr>
        <p:txBody>
          <a:bodyPr/>
          <a:lstStyle/>
          <a:p>
            <a:endParaRPr lang="en-US"/>
          </a:p>
        </p:txBody>
      </p:sp>
      <p:sp>
        <p:nvSpPr>
          <p:cNvPr id="29" name="Text 27"/>
          <p:cNvSpPr txBox="1"/>
          <p:nvPr/>
        </p:nvSpPr>
        <p:spPr>
          <a:xfrm>
            <a:off x="749808" y="314553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Parameters</a:t>
            </a:r>
            <a:endParaRPr lang="en-US" sz="1150" dirty="0"/>
          </a:p>
        </p:txBody>
      </p:sp>
      <p:sp>
        <p:nvSpPr>
          <p:cNvPr id="30" name="Text 28"/>
          <p:cNvSpPr txBox="1"/>
          <p:nvPr/>
        </p:nvSpPr>
        <p:spPr>
          <a:xfrm>
            <a:off x="4937760" y="314553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95 million</a:t>
            </a:r>
            <a:endParaRPr lang="en-US" sz="1150" dirty="0"/>
          </a:p>
        </p:txBody>
      </p:sp>
      <p:sp>
        <p:nvSpPr>
          <p:cNvPr id="31" name="Text 29"/>
          <p:cNvSpPr txBox="1"/>
          <p:nvPr/>
        </p:nvSpPr>
        <p:spPr>
          <a:xfrm>
            <a:off x="7955280" y="314553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317 million</a:t>
            </a:r>
            <a:endParaRPr lang="en-US" sz="1150" dirty="0"/>
          </a:p>
        </p:txBody>
      </p:sp>
      <p:sp>
        <p:nvSpPr>
          <p:cNvPr id="32" name="Shape 30"/>
          <p:cNvSpPr/>
          <p:nvPr/>
        </p:nvSpPr>
        <p:spPr>
          <a:xfrm>
            <a:off x="566928" y="3456432"/>
            <a:ext cx="11064240" cy="329184"/>
          </a:xfrm>
          <a:prstGeom prst="roundRect">
            <a:avLst>
              <a:gd name="adj" fmla="val 5556"/>
            </a:avLst>
          </a:prstGeom>
          <a:solidFill>
            <a:srgbClr val="FFFFFF"/>
          </a:solidFill>
          <a:ln w="12700">
            <a:solidFill>
              <a:srgbClr val="E4ECE7"/>
            </a:solidFill>
            <a:prstDash val="solid"/>
          </a:ln>
        </p:spPr>
        <p:txBody>
          <a:bodyPr/>
          <a:lstStyle/>
          <a:p>
            <a:endParaRPr lang="en-US"/>
          </a:p>
        </p:txBody>
      </p:sp>
      <p:sp>
        <p:nvSpPr>
          <p:cNvPr id="33" name="Text 31"/>
          <p:cNvSpPr txBox="1"/>
          <p:nvPr/>
        </p:nvSpPr>
        <p:spPr>
          <a:xfrm>
            <a:off x="749808" y="351129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Codebook entry size</a:t>
            </a:r>
            <a:endParaRPr lang="en-US" sz="1150" dirty="0"/>
          </a:p>
        </p:txBody>
      </p:sp>
      <p:sp>
        <p:nvSpPr>
          <p:cNvPr id="34" name="Text 32"/>
          <p:cNvSpPr txBox="1"/>
          <p:nvPr/>
        </p:nvSpPr>
        <p:spPr>
          <a:xfrm>
            <a:off x="4937760" y="351129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128</a:t>
            </a:r>
            <a:endParaRPr lang="en-US" sz="1150" dirty="0"/>
          </a:p>
        </p:txBody>
      </p:sp>
      <p:sp>
        <p:nvSpPr>
          <p:cNvPr id="35" name="Text 33"/>
          <p:cNvSpPr txBox="1"/>
          <p:nvPr/>
        </p:nvSpPr>
        <p:spPr>
          <a:xfrm>
            <a:off x="7955280" y="351129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384</a:t>
            </a:r>
            <a:endParaRPr lang="en-US" sz="1150" dirty="0"/>
          </a:p>
        </p:txBody>
      </p:sp>
      <p:sp>
        <p:nvSpPr>
          <p:cNvPr id="36" name="Shape 34"/>
          <p:cNvSpPr/>
          <p:nvPr/>
        </p:nvSpPr>
        <p:spPr>
          <a:xfrm>
            <a:off x="566928" y="3822192"/>
            <a:ext cx="11064240" cy="329184"/>
          </a:xfrm>
          <a:prstGeom prst="roundRect">
            <a:avLst>
              <a:gd name="adj" fmla="val 5556"/>
            </a:avLst>
          </a:prstGeom>
          <a:solidFill>
            <a:srgbClr val="EFF5F1"/>
          </a:solidFill>
          <a:ln w="12700">
            <a:solidFill>
              <a:srgbClr val="E4ECE7"/>
            </a:solidFill>
            <a:prstDash val="solid"/>
          </a:ln>
        </p:spPr>
        <p:txBody>
          <a:bodyPr/>
          <a:lstStyle/>
          <a:p>
            <a:endParaRPr lang="en-US"/>
          </a:p>
        </p:txBody>
      </p:sp>
      <p:sp>
        <p:nvSpPr>
          <p:cNvPr id="37" name="Text 35"/>
          <p:cNvSpPr txBox="1"/>
          <p:nvPr/>
        </p:nvSpPr>
        <p:spPr>
          <a:xfrm>
            <a:off x="749808" y="387705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Gumbel temperature floor</a:t>
            </a:r>
            <a:endParaRPr lang="en-US" sz="1150" dirty="0"/>
          </a:p>
        </p:txBody>
      </p:sp>
      <p:sp>
        <p:nvSpPr>
          <p:cNvPr id="38" name="Text 36"/>
          <p:cNvSpPr txBox="1"/>
          <p:nvPr/>
        </p:nvSpPr>
        <p:spPr>
          <a:xfrm>
            <a:off x="4937760" y="387705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0.5</a:t>
            </a:r>
            <a:endParaRPr lang="en-US" sz="1150" dirty="0"/>
          </a:p>
        </p:txBody>
      </p:sp>
      <p:sp>
        <p:nvSpPr>
          <p:cNvPr id="39" name="Text 37"/>
          <p:cNvSpPr txBox="1"/>
          <p:nvPr/>
        </p:nvSpPr>
        <p:spPr>
          <a:xfrm>
            <a:off x="7955280" y="387705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0.1</a:t>
            </a:r>
            <a:endParaRPr lang="en-US" sz="1150" dirty="0"/>
          </a:p>
        </p:txBody>
      </p:sp>
      <p:sp>
        <p:nvSpPr>
          <p:cNvPr id="40" name="Shape 38"/>
          <p:cNvSpPr/>
          <p:nvPr/>
        </p:nvSpPr>
        <p:spPr>
          <a:xfrm>
            <a:off x="566928" y="4187952"/>
            <a:ext cx="11064240" cy="329184"/>
          </a:xfrm>
          <a:prstGeom prst="roundRect">
            <a:avLst>
              <a:gd name="adj" fmla="val 5556"/>
            </a:avLst>
          </a:prstGeom>
          <a:solidFill>
            <a:srgbClr val="FFFFFF"/>
          </a:solidFill>
          <a:ln w="12700">
            <a:solidFill>
              <a:srgbClr val="E4ECE7"/>
            </a:solidFill>
            <a:prstDash val="solid"/>
          </a:ln>
        </p:spPr>
        <p:txBody>
          <a:bodyPr/>
          <a:lstStyle/>
          <a:p>
            <a:endParaRPr lang="en-US"/>
          </a:p>
        </p:txBody>
      </p:sp>
      <p:sp>
        <p:nvSpPr>
          <p:cNvPr id="41" name="Text 39"/>
          <p:cNvSpPr txBox="1"/>
          <p:nvPr/>
        </p:nvSpPr>
        <p:spPr>
          <a:xfrm>
            <a:off x="749808" y="424281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Layer drop</a:t>
            </a:r>
            <a:endParaRPr lang="en-US" sz="1150" dirty="0"/>
          </a:p>
        </p:txBody>
      </p:sp>
      <p:sp>
        <p:nvSpPr>
          <p:cNvPr id="42" name="Text 40"/>
          <p:cNvSpPr txBox="1"/>
          <p:nvPr/>
        </p:nvSpPr>
        <p:spPr>
          <a:xfrm>
            <a:off x="4937760" y="424281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0.05</a:t>
            </a:r>
            <a:endParaRPr lang="en-US" sz="1150" dirty="0"/>
          </a:p>
        </p:txBody>
      </p:sp>
      <p:sp>
        <p:nvSpPr>
          <p:cNvPr id="43" name="Text 41"/>
          <p:cNvSpPr txBox="1"/>
          <p:nvPr/>
        </p:nvSpPr>
        <p:spPr>
          <a:xfrm>
            <a:off x="7955280" y="424281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0.2  (none for LibriVox)</a:t>
            </a:r>
            <a:endParaRPr lang="en-US" sz="1150" dirty="0"/>
          </a:p>
        </p:txBody>
      </p:sp>
      <p:sp>
        <p:nvSpPr>
          <p:cNvPr id="44" name="Shape 42"/>
          <p:cNvSpPr/>
          <p:nvPr/>
        </p:nvSpPr>
        <p:spPr>
          <a:xfrm>
            <a:off x="566928" y="4553712"/>
            <a:ext cx="11064240" cy="329184"/>
          </a:xfrm>
          <a:prstGeom prst="roundRect">
            <a:avLst>
              <a:gd name="adj" fmla="val 5556"/>
            </a:avLst>
          </a:prstGeom>
          <a:solidFill>
            <a:srgbClr val="EFF5F1"/>
          </a:solidFill>
          <a:ln w="12700">
            <a:solidFill>
              <a:srgbClr val="E4ECE7"/>
            </a:solidFill>
            <a:prstDash val="solid"/>
          </a:ln>
        </p:spPr>
        <p:txBody>
          <a:bodyPr/>
          <a:lstStyle/>
          <a:p>
            <a:endParaRPr lang="en-US"/>
          </a:p>
        </p:txBody>
      </p:sp>
      <p:sp>
        <p:nvSpPr>
          <p:cNvPr id="45" name="Text 43"/>
          <p:cNvSpPr txBox="1"/>
          <p:nvPr/>
        </p:nvSpPr>
        <p:spPr>
          <a:xfrm>
            <a:off x="749808" y="460857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Audio crop per example</a:t>
            </a:r>
            <a:endParaRPr lang="en-US" sz="1150" dirty="0"/>
          </a:p>
        </p:txBody>
      </p:sp>
      <p:sp>
        <p:nvSpPr>
          <p:cNvPr id="46" name="Text 44"/>
          <p:cNvSpPr txBox="1"/>
          <p:nvPr/>
        </p:nvSpPr>
        <p:spPr>
          <a:xfrm>
            <a:off x="4937760" y="460857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250k samples ≈ 15.6 s</a:t>
            </a:r>
            <a:endParaRPr lang="en-US" sz="1150" dirty="0"/>
          </a:p>
        </p:txBody>
      </p:sp>
      <p:sp>
        <p:nvSpPr>
          <p:cNvPr id="47" name="Text 45"/>
          <p:cNvSpPr txBox="1"/>
          <p:nvPr/>
        </p:nvSpPr>
        <p:spPr>
          <a:xfrm>
            <a:off x="7955280" y="460857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320k samples ≈ 20 s</a:t>
            </a:r>
            <a:endParaRPr lang="en-US" sz="1150" dirty="0"/>
          </a:p>
        </p:txBody>
      </p:sp>
      <p:sp>
        <p:nvSpPr>
          <p:cNvPr id="48" name="Shape 46"/>
          <p:cNvSpPr/>
          <p:nvPr/>
        </p:nvSpPr>
        <p:spPr>
          <a:xfrm>
            <a:off x="566928" y="4919472"/>
            <a:ext cx="11064240" cy="329184"/>
          </a:xfrm>
          <a:prstGeom prst="roundRect">
            <a:avLst>
              <a:gd name="adj" fmla="val 5556"/>
            </a:avLst>
          </a:prstGeom>
          <a:solidFill>
            <a:srgbClr val="FFFFFF"/>
          </a:solidFill>
          <a:ln w="12700">
            <a:solidFill>
              <a:srgbClr val="E4ECE7"/>
            </a:solidFill>
            <a:prstDash val="solid"/>
          </a:ln>
        </p:spPr>
        <p:txBody>
          <a:bodyPr/>
          <a:lstStyle/>
          <a:p>
            <a:endParaRPr lang="en-US"/>
          </a:p>
        </p:txBody>
      </p:sp>
      <p:sp>
        <p:nvSpPr>
          <p:cNvPr id="49" name="Text 47"/>
          <p:cNvSpPr txBox="1"/>
          <p:nvPr/>
        </p:nvSpPr>
        <p:spPr>
          <a:xfrm>
            <a:off x="749808" y="497433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Effective batch</a:t>
            </a:r>
            <a:endParaRPr lang="en-US" sz="1150" dirty="0"/>
          </a:p>
        </p:txBody>
      </p:sp>
      <p:sp>
        <p:nvSpPr>
          <p:cNvPr id="50" name="Text 48"/>
          <p:cNvSpPr txBox="1"/>
          <p:nvPr/>
        </p:nvSpPr>
        <p:spPr>
          <a:xfrm>
            <a:off x="4937760" y="497433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1.6 hours of audio</a:t>
            </a:r>
            <a:endParaRPr lang="en-US" sz="1150" dirty="0"/>
          </a:p>
        </p:txBody>
      </p:sp>
      <p:sp>
        <p:nvSpPr>
          <p:cNvPr id="51" name="Text 49"/>
          <p:cNvSpPr txBox="1"/>
          <p:nvPr/>
        </p:nvSpPr>
        <p:spPr>
          <a:xfrm>
            <a:off x="7955280" y="497433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2.7 hours of audio</a:t>
            </a:r>
            <a:endParaRPr lang="en-US" sz="1150" dirty="0"/>
          </a:p>
        </p:txBody>
      </p:sp>
      <p:sp>
        <p:nvSpPr>
          <p:cNvPr id="52" name="Shape 50"/>
          <p:cNvSpPr/>
          <p:nvPr/>
        </p:nvSpPr>
        <p:spPr>
          <a:xfrm>
            <a:off x="566928" y="5285232"/>
            <a:ext cx="11064240" cy="329184"/>
          </a:xfrm>
          <a:prstGeom prst="roundRect">
            <a:avLst>
              <a:gd name="adj" fmla="val 5556"/>
            </a:avLst>
          </a:prstGeom>
          <a:solidFill>
            <a:srgbClr val="EFF5F1"/>
          </a:solidFill>
          <a:ln w="12700">
            <a:solidFill>
              <a:srgbClr val="E4ECE7"/>
            </a:solidFill>
            <a:prstDash val="solid"/>
          </a:ln>
        </p:spPr>
        <p:txBody>
          <a:bodyPr/>
          <a:lstStyle/>
          <a:p>
            <a:endParaRPr lang="en-US"/>
          </a:p>
        </p:txBody>
      </p:sp>
      <p:sp>
        <p:nvSpPr>
          <p:cNvPr id="53" name="Text 51"/>
          <p:cNvSpPr txBox="1"/>
          <p:nvPr/>
        </p:nvSpPr>
        <p:spPr>
          <a:xfrm>
            <a:off x="749808" y="534009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Peak learning rate</a:t>
            </a:r>
            <a:endParaRPr lang="en-US" sz="1150" dirty="0"/>
          </a:p>
        </p:txBody>
      </p:sp>
      <p:sp>
        <p:nvSpPr>
          <p:cNvPr id="54" name="Text 52"/>
          <p:cNvSpPr txBox="1"/>
          <p:nvPr/>
        </p:nvSpPr>
        <p:spPr>
          <a:xfrm>
            <a:off x="4937760" y="534009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5 × 10⁻⁴</a:t>
            </a:r>
            <a:endParaRPr lang="en-US" sz="1150" dirty="0"/>
          </a:p>
        </p:txBody>
      </p:sp>
      <p:sp>
        <p:nvSpPr>
          <p:cNvPr id="55" name="Text 53"/>
          <p:cNvSpPr txBox="1"/>
          <p:nvPr/>
        </p:nvSpPr>
        <p:spPr>
          <a:xfrm>
            <a:off x="7955280" y="534009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3 × 10⁻⁴</a:t>
            </a:r>
            <a:endParaRPr lang="en-US" sz="1150" dirty="0"/>
          </a:p>
        </p:txBody>
      </p:sp>
      <p:sp>
        <p:nvSpPr>
          <p:cNvPr id="56" name="Shape 54"/>
          <p:cNvSpPr/>
          <p:nvPr/>
        </p:nvSpPr>
        <p:spPr>
          <a:xfrm>
            <a:off x="566928" y="5650992"/>
            <a:ext cx="11064240" cy="329184"/>
          </a:xfrm>
          <a:prstGeom prst="roundRect">
            <a:avLst>
              <a:gd name="adj" fmla="val 5556"/>
            </a:avLst>
          </a:prstGeom>
          <a:solidFill>
            <a:srgbClr val="FFFFFF"/>
          </a:solidFill>
          <a:ln w="12700">
            <a:solidFill>
              <a:srgbClr val="E4ECE7"/>
            </a:solidFill>
            <a:prstDash val="solid"/>
          </a:ln>
        </p:spPr>
        <p:txBody>
          <a:bodyPr/>
          <a:lstStyle/>
          <a:p>
            <a:endParaRPr lang="en-US"/>
          </a:p>
        </p:txBody>
      </p:sp>
      <p:sp>
        <p:nvSpPr>
          <p:cNvPr id="57" name="Text 55"/>
          <p:cNvSpPr txBox="1"/>
          <p:nvPr/>
        </p:nvSpPr>
        <p:spPr>
          <a:xfrm>
            <a:off x="749808" y="5705856"/>
            <a:ext cx="4023360" cy="246888"/>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Pre-training updates</a:t>
            </a:r>
            <a:endParaRPr lang="en-US" sz="1150" dirty="0"/>
          </a:p>
        </p:txBody>
      </p:sp>
      <p:sp>
        <p:nvSpPr>
          <p:cNvPr id="58" name="Text 56"/>
          <p:cNvSpPr txBox="1"/>
          <p:nvPr/>
        </p:nvSpPr>
        <p:spPr>
          <a:xfrm>
            <a:off x="4937760" y="5705856"/>
            <a:ext cx="283464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400k</a:t>
            </a:r>
            <a:endParaRPr lang="en-US" sz="1150" dirty="0"/>
          </a:p>
        </p:txBody>
      </p:sp>
      <p:sp>
        <p:nvSpPr>
          <p:cNvPr id="59" name="Text 57"/>
          <p:cNvSpPr txBox="1"/>
          <p:nvPr/>
        </p:nvSpPr>
        <p:spPr>
          <a:xfrm>
            <a:off x="7955280" y="5705856"/>
            <a:ext cx="3566160" cy="246888"/>
          </a:xfrm>
          <a:prstGeom prst="rect">
            <a:avLst/>
          </a:prstGeom>
          <a:noFill/>
          <a:ln/>
        </p:spPr>
        <p:txBody>
          <a:bodyPr wrap="square" lIns="0" tIns="0" rIns="0" bIns="0" rtlCol="0" anchor="ctr"/>
          <a:lstStyle/>
          <a:p>
            <a:pPr marL="0" indent="0">
              <a:buNone/>
            </a:pPr>
            <a:r>
              <a:rPr lang="en-US" sz="1150" dirty="0">
                <a:solidFill>
                  <a:srgbClr val="2C3B36"/>
                </a:solidFill>
                <a:latin typeface="Calibri" pitchFamily="34" charset="0"/>
                <a:ea typeface="Calibri" pitchFamily="34" charset="-122"/>
                <a:cs typeface="Calibri" pitchFamily="34" charset="-120"/>
              </a:rPr>
              <a:t>250k on LS-960 · 600k on LV-60k</a:t>
            </a:r>
            <a:endParaRPr lang="en-US" sz="1150" dirty="0"/>
          </a:p>
        </p:txBody>
      </p:sp>
      <p:sp>
        <p:nvSpPr>
          <p:cNvPr id="60" name="Text 58"/>
          <p:cNvSpPr txBox="1"/>
          <p:nvPr/>
        </p:nvSpPr>
        <p:spPr>
          <a:xfrm>
            <a:off x="566928" y="6089904"/>
            <a:ext cx="11064240" cy="274320"/>
          </a:xfrm>
          <a:prstGeom prst="rect">
            <a:avLst/>
          </a:prstGeom>
          <a:noFill/>
          <a:ln/>
        </p:spPr>
        <p:txBody>
          <a:bodyPr wrap="square" lIns="0" tIns="0" rIns="0" bIns="0" rtlCol="0" anchor="ctr"/>
          <a:lstStyle/>
          <a:p>
            <a:pPr marL="0" indent="0">
              <a:buNone/>
            </a:pPr>
            <a:r>
              <a:rPr lang="en-US" sz="1150" i="1" dirty="0">
                <a:solidFill>
                  <a:srgbClr val="4A6B62"/>
                </a:solidFill>
                <a:latin typeface="Calibri" pitchFamily="34" charset="0"/>
                <a:ea typeface="Calibri" pitchFamily="34" charset="-122"/>
                <a:cs typeface="Calibri" pitchFamily="34" charset="-120"/>
              </a:rPr>
              <a:t>Both use the same seven-block convolutional encoder, the same masking, and the same quantiser configuration of two codebooks with 320 entries each.</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3</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Training</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Masking, the objective, and fine-tuning</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Masking</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Spans, not individual frames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18</a:t>
            </a:r>
            <a:endParaRPr lang="en-US" sz="900" dirty="0"/>
          </a:p>
        </p:txBody>
      </p:sp>
      <p:sp>
        <p:nvSpPr>
          <p:cNvPr id="10" name="Shape 8"/>
          <p:cNvSpPr/>
          <p:nvPr/>
        </p:nvSpPr>
        <p:spPr>
          <a:xfrm>
            <a:off x="566928" y="1554480"/>
            <a:ext cx="5440680" cy="2011680"/>
          </a:xfrm>
          <a:prstGeom prst="roundRect">
            <a:avLst>
              <a:gd name="adj" fmla="val 2727"/>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procedure</a:t>
            </a:r>
            <a:endParaRPr lang="en-US" sz="1500" dirty="0"/>
          </a:p>
        </p:txBody>
      </p:sp>
      <p:sp>
        <p:nvSpPr>
          <p:cNvPr id="13" name="Text 11"/>
          <p:cNvSpPr txBox="1"/>
          <p:nvPr/>
        </p:nvSpPr>
        <p:spPr>
          <a:xfrm>
            <a:off x="822960" y="2157984"/>
            <a:ext cx="4928616" cy="122529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Sample a proportion p of all time steps, without replacement, as starting indices. From each sampled index, mask the following M consecutive steps. Spans may overlap.</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Masked frames are replaced by a single trained vector shared across all masked positions.</a:t>
            </a:r>
            <a:endParaRPr lang="en-US" sz="1280" dirty="0"/>
          </a:p>
        </p:txBody>
      </p:sp>
      <p:sp>
        <p:nvSpPr>
          <p:cNvPr id="14" name="Shape 12"/>
          <p:cNvSpPr/>
          <p:nvPr/>
        </p:nvSpPr>
        <p:spPr>
          <a:xfrm>
            <a:off x="6190488" y="1554480"/>
            <a:ext cx="5440680" cy="2011680"/>
          </a:xfrm>
          <a:prstGeom prst="roundRect">
            <a:avLst>
              <a:gd name="adj" fmla="val 2727"/>
            </a:avLst>
          </a:prstGeom>
          <a:solidFill>
            <a:srgbClr val="EFF5F1"/>
          </a:solidFill>
          <a:ln w="12700">
            <a:solidFill>
              <a:srgbClr val="DCE7E1"/>
            </a:solidFill>
            <a:prstDash val="solid"/>
          </a:ln>
        </p:spPr>
        <p:txBody>
          <a:bodyPr/>
          <a:lstStyle/>
          <a:p>
            <a:endParaRPr lang="en-US"/>
          </a:p>
        </p:txBody>
      </p:sp>
      <p:sp>
        <p:nvSpPr>
          <p:cNvPr id="15" name="Text 13"/>
          <p:cNvSpPr txBox="1"/>
          <p:nvPr/>
        </p:nvSpPr>
        <p:spPr>
          <a:xfrm>
            <a:off x="6391656" y="1700784"/>
            <a:ext cx="5029200" cy="274320"/>
          </a:xfrm>
          <a:prstGeom prst="rect">
            <a:avLst/>
          </a:prstGeom>
          <a:noFill/>
          <a:ln/>
        </p:spPr>
        <p:txBody>
          <a:bodyPr wrap="square" lIns="0" tIns="0" rIns="0" bIns="0" rtlCol="0" anchor="ctr"/>
          <a:lstStyle/>
          <a:p>
            <a:pPr marL="0" indent="0">
              <a:buNone/>
            </a:pPr>
            <a:r>
              <a:rPr lang="en-US" sz="1150" b="1" dirty="0">
                <a:solidFill>
                  <a:srgbClr val="0E241E"/>
                </a:solidFill>
                <a:latin typeface="Calibri" pitchFamily="34" charset="0"/>
                <a:ea typeface="Calibri" pitchFamily="34" charset="-122"/>
                <a:cs typeface="Calibri" pitchFamily="34" charset="-120"/>
              </a:rPr>
              <a:t>A stretch of latent frames</a:t>
            </a:r>
            <a:endParaRPr lang="en-US" sz="1150" dirty="0"/>
          </a:p>
        </p:txBody>
      </p:sp>
      <p:sp>
        <p:nvSpPr>
          <p:cNvPr id="16" name="Shape 14"/>
          <p:cNvSpPr/>
          <p:nvPr/>
        </p:nvSpPr>
        <p:spPr>
          <a:xfrm>
            <a:off x="6400800"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17" name="Shape 15"/>
          <p:cNvSpPr/>
          <p:nvPr/>
        </p:nvSpPr>
        <p:spPr>
          <a:xfrm>
            <a:off x="6609283"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18" name="Shape 16"/>
          <p:cNvSpPr/>
          <p:nvPr/>
        </p:nvSpPr>
        <p:spPr>
          <a:xfrm>
            <a:off x="6817766"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19" name="Shape 17"/>
          <p:cNvSpPr/>
          <p:nvPr/>
        </p:nvSpPr>
        <p:spPr>
          <a:xfrm>
            <a:off x="7026250"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20" name="Shape 18"/>
          <p:cNvSpPr/>
          <p:nvPr/>
        </p:nvSpPr>
        <p:spPr>
          <a:xfrm>
            <a:off x="7234733"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21" name="Shape 19"/>
          <p:cNvSpPr/>
          <p:nvPr/>
        </p:nvSpPr>
        <p:spPr>
          <a:xfrm>
            <a:off x="7443216"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22" name="Shape 20"/>
          <p:cNvSpPr/>
          <p:nvPr/>
        </p:nvSpPr>
        <p:spPr>
          <a:xfrm>
            <a:off x="7651699"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23" name="Shape 21"/>
          <p:cNvSpPr/>
          <p:nvPr/>
        </p:nvSpPr>
        <p:spPr>
          <a:xfrm>
            <a:off x="7860182"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24" name="Shape 22"/>
          <p:cNvSpPr/>
          <p:nvPr/>
        </p:nvSpPr>
        <p:spPr>
          <a:xfrm>
            <a:off x="8068666"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25" name="Shape 23"/>
          <p:cNvSpPr/>
          <p:nvPr/>
        </p:nvSpPr>
        <p:spPr>
          <a:xfrm>
            <a:off x="8277149"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26" name="Shape 24"/>
          <p:cNvSpPr/>
          <p:nvPr/>
        </p:nvSpPr>
        <p:spPr>
          <a:xfrm>
            <a:off x="8485632"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27" name="Shape 25"/>
          <p:cNvSpPr/>
          <p:nvPr/>
        </p:nvSpPr>
        <p:spPr>
          <a:xfrm>
            <a:off x="8694115"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28" name="Shape 26"/>
          <p:cNvSpPr/>
          <p:nvPr/>
        </p:nvSpPr>
        <p:spPr>
          <a:xfrm>
            <a:off x="8902598"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29" name="Shape 27"/>
          <p:cNvSpPr/>
          <p:nvPr/>
        </p:nvSpPr>
        <p:spPr>
          <a:xfrm>
            <a:off x="9111082"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30" name="Shape 28"/>
          <p:cNvSpPr/>
          <p:nvPr/>
        </p:nvSpPr>
        <p:spPr>
          <a:xfrm>
            <a:off x="9319565"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31" name="Shape 29"/>
          <p:cNvSpPr/>
          <p:nvPr/>
        </p:nvSpPr>
        <p:spPr>
          <a:xfrm>
            <a:off x="9528048"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32" name="Shape 30"/>
          <p:cNvSpPr/>
          <p:nvPr/>
        </p:nvSpPr>
        <p:spPr>
          <a:xfrm>
            <a:off x="9736531"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33" name="Shape 31"/>
          <p:cNvSpPr/>
          <p:nvPr/>
        </p:nvSpPr>
        <p:spPr>
          <a:xfrm>
            <a:off x="9945014"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34" name="Shape 32"/>
          <p:cNvSpPr/>
          <p:nvPr/>
        </p:nvSpPr>
        <p:spPr>
          <a:xfrm>
            <a:off x="10153498"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35" name="Shape 33"/>
          <p:cNvSpPr/>
          <p:nvPr/>
        </p:nvSpPr>
        <p:spPr>
          <a:xfrm>
            <a:off x="10361981"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36" name="Shape 34"/>
          <p:cNvSpPr/>
          <p:nvPr/>
        </p:nvSpPr>
        <p:spPr>
          <a:xfrm>
            <a:off x="10570464"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37" name="Shape 35"/>
          <p:cNvSpPr/>
          <p:nvPr/>
        </p:nvSpPr>
        <p:spPr>
          <a:xfrm>
            <a:off x="10778947" y="2121408"/>
            <a:ext cx="182880" cy="548640"/>
          </a:xfrm>
          <a:prstGeom prst="roundRect">
            <a:avLst>
              <a:gd name="adj" fmla="val 15000"/>
            </a:avLst>
          </a:prstGeom>
          <a:solidFill>
            <a:srgbClr val="B5623C"/>
          </a:solidFill>
          <a:ln w="12700">
            <a:solidFill>
              <a:srgbClr val="333333"/>
            </a:solidFill>
            <a:prstDash val="solid"/>
          </a:ln>
        </p:spPr>
        <p:txBody>
          <a:bodyPr/>
          <a:lstStyle/>
          <a:p>
            <a:endParaRPr lang="en-US"/>
          </a:p>
        </p:txBody>
      </p:sp>
      <p:sp>
        <p:nvSpPr>
          <p:cNvPr id="38" name="Shape 36"/>
          <p:cNvSpPr/>
          <p:nvPr/>
        </p:nvSpPr>
        <p:spPr>
          <a:xfrm>
            <a:off x="10987430"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39" name="Shape 37"/>
          <p:cNvSpPr/>
          <p:nvPr/>
        </p:nvSpPr>
        <p:spPr>
          <a:xfrm>
            <a:off x="11195914" y="2121408"/>
            <a:ext cx="182880" cy="548640"/>
          </a:xfrm>
          <a:prstGeom prst="roundRect">
            <a:avLst>
              <a:gd name="adj" fmla="val 15000"/>
            </a:avLst>
          </a:prstGeom>
          <a:solidFill>
            <a:srgbClr val="CBDDD3"/>
          </a:solidFill>
          <a:ln w="12700">
            <a:solidFill>
              <a:srgbClr val="333333"/>
            </a:solidFill>
            <a:prstDash val="solid"/>
          </a:ln>
        </p:spPr>
        <p:txBody>
          <a:bodyPr/>
          <a:lstStyle/>
          <a:p>
            <a:endParaRPr lang="en-US"/>
          </a:p>
        </p:txBody>
      </p:sp>
      <p:sp>
        <p:nvSpPr>
          <p:cNvPr id="40" name="Text 38"/>
          <p:cNvSpPr txBox="1"/>
          <p:nvPr/>
        </p:nvSpPr>
        <p:spPr>
          <a:xfrm>
            <a:off x="6400800" y="2761488"/>
            <a:ext cx="1828800" cy="256032"/>
          </a:xfrm>
          <a:prstGeom prst="rect">
            <a:avLst/>
          </a:prstGeom>
          <a:noFill/>
          <a:ln/>
        </p:spPr>
        <p:txBody>
          <a:bodyPr wrap="square" lIns="0" tIns="0" rIns="0" bIns="0" rtlCol="0" anchor="ctr"/>
          <a:lstStyle/>
          <a:p>
            <a:pPr marL="0" indent="0">
              <a:buNone/>
            </a:pPr>
            <a:r>
              <a:rPr lang="en-US" sz="1050" b="1" dirty="0">
                <a:solidFill>
                  <a:srgbClr val="B5623C"/>
                </a:solidFill>
                <a:latin typeface="Calibri" pitchFamily="34" charset="0"/>
                <a:ea typeface="Calibri" pitchFamily="34" charset="-122"/>
                <a:cs typeface="Calibri" pitchFamily="34" charset="-120"/>
              </a:rPr>
              <a:t>masked span</a:t>
            </a:r>
            <a:endParaRPr lang="en-US" sz="1050" dirty="0"/>
          </a:p>
        </p:txBody>
      </p:sp>
      <p:sp>
        <p:nvSpPr>
          <p:cNvPr id="41" name="Text 39"/>
          <p:cNvSpPr txBox="1"/>
          <p:nvPr/>
        </p:nvSpPr>
        <p:spPr>
          <a:xfrm>
            <a:off x="8503920" y="2761488"/>
            <a:ext cx="1463040" cy="256032"/>
          </a:xfrm>
          <a:prstGeom prst="rect">
            <a:avLst/>
          </a:prstGeom>
          <a:noFill/>
          <a:ln/>
        </p:spPr>
        <p:txBody>
          <a:bodyPr wrap="square" lIns="0" tIns="0" rIns="0" bIns="0" rtlCol="0" anchor="ctr"/>
          <a:lstStyle/>
          <a:p>
            <a:pPr marL="0" indent="0">
              <a:buNone/>
            </a:pPr>
            <a:r>
              <a:rPr lang="en-US" sz="1050" b="1" dirty="0">
                <a:solidFill>
                  <a:srgbClr val="4A6B62"/>
                </a:solidFill>
                <a:latin typeface="Calibri" pitchFamily="34" charset="0"/>
                <a:ea typeface="Calibri" pitchFamily="34" charset="-122"/>
                <a:cs typeface="Calibri" pitchFamily="34" charset="-120"/>
              </a:rPr>
              <a:t>visible</a:t>
            </a:r>
            <a:endParaRPr lang="en-US" sz="1050" dirty="0"/>
          </a:p>
        </p:txBody>
      </p:sp>
      <p:sp>
        <p:nvSpPr>
          <p:cNvPr id="42" name="Text 40"/>
          <p:cNvSpPr txBox="1"/>
          <p:nvPr/>
        </p:nvSpPr>
        <p:spPr>
          <a:xfrm>
            <a:off x="6400800" y="3127248"/>
            <a:ext cx="4937760" cy="256032"/>
          </a:xfrm>
          <a:prstGeom prst="rect">
            <a:avLst/>
          </a:prstGeom>
          <a:noFill/>
          <a:ln/>
        </p:spPr>
        <p:txBody>
          <a:bodyPr wrap="square" lIns="0" tIns="0" rIns="0" bIns="0" rtlCol="0" anchor="ctr"/>
          <a:lstStyle/>
          <a:p>
            <a:pPr marL="0" indent="0">
              <a:buNone/>
            </a:pPr>
            <a:r>
              <a:rPr lang="en-US" sz="1100" i="1" dirty="0">
                <a:solidFill>
                  <a:srgbClr val="4A6B62"/>
                </a:solidFill>
                <a:latin typeface="Calibri" pitchFamily="34" charset="0"/>
                <a:ea typeface="Calibri" pitchFamily="34" charset="-122"/>
                <a:cs typeface="Calibri" pitchFamily="34" charset="-120"/>
              </a:rPr>
              <a:t>Each block is one 20 ms frame</a:t>
            </a:r>
            <a:endParaRPr lang="en-US" sz="1100" dirty="0"/>
          </a:p>
        </p:txBody>
      </p:sp>
      <p:sp>
        <p:nvSpPr>
          <p:cNvPr id="43" name="Text 41"/>
          <p:cNvSpPr txBox="1"/>
          <p:nvPr/>
        </p:nvSpPr>
        <p:spPr>
          <a:xfrm>
            <a:off x="566928" y="3767328"/>
            <a:ext cx="2697480"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p = 0.065</a:t>
            </a:r>
            <a:endParaRPr lang="en-US" sz="3600" dirty="0"/>
          </a:p>
        </p:txBody>
      </p:sp>
      <p:sp>
        <p:nvSpPr>
          <p:cNvPr id="44" name="Text 42"/>
          <p:cNvSpPr txBox="1"/>
          <p:nvPr/>
        </p:nvSpPr>
        <p:spPr>
          <a:xfrm>
            <a:off x="566928" y="4462272"/>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of steps sampled as</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starting indices</a:t>
            </a:r>
            <a:endParaRPr lang="en-US" sz="1150" dirty="0"/>
          </a:p>
        </p:txBody>
      </p:sp>
      <p:sp>
        <p:nvSpPr>
          <p:cNvPr id="45" name="Text 43"/>
          <p:cNvSpPr txBox="1"/>
          <p:nvPr/>
        </p:nvSpPr>
        <p:spPr>
          <a:xfrm>
            <a:off x="3392424" y="3767328"/>
            <a:ext cx="2697480"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M = 10</a:t>
            </a:r>
            <a:endParaRPr lang="en-US" sz="3600" dirty="0"/>
          </a:p>
        </p:txBody>
      </p:sp>
      <p:sp>
        <p:nvSpPr>
          <p:cNvPr id="46" name="Text 44"/>
          <p:cNvSpPr txBox="1"/>
          <p:nvPr/>
        </p:nvSpPr>
        <p:spPr>
          <a:xfrm>
            <a:off x="3392424" y="4462272"/>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consecutive steps masked</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from each index</a:t>
            </a:r>
            <a:endParaRPr lang="en-US" sz="1150" dirty="0"/>
          </a:p>
        </p:txBody>
      </p:sp>
      <p:sp>
        <p:nvSpPr>
          <p:cNvPr id="47" name="Text 45"/>
          <p:cNvSpPr txBox="1"/>
          <p:nvPr/>
        </p:nvSpPr>
        <p:spPr>
          <a:xfrm>
            <a:off x="6217920" y="3767328"/>
            <a:ext cx="2697480"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 49%</a:t>
            </a:r>
            <a:endParaRPr lang="en-US" sz="3600" dirty="0"/>
          </a:p>
        </p:txBody>
      </p:sp>
      <p:sp>
        <p:nvSpPr>
          <p:cNvPr id="48" name="Text 46"/>
          <p:cNvSpPr txBox="1"/>
          <p:nvPr/>
        </p:nvSpPr>
        <p:spPr>
          <a:xfrm>
            <a:off x="6217920" y="4462272"/>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of all time steps end up</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masked</a:t>
            </a:r>
            <a:endParaRPr lang="en-US" sz="1150" dirty="0"/>
          </a:p>
        </p:txBody>
      </p:sp>
      <p:sp>
        <p:nvSpPr>
          <p:cNvPr id="49" name="Text 47"/>
          <p:cNvSpPr txBox="1"/>
          <p:nvPr/>
        </p:nvSpPr>
        <p:spPr>
          <a:xfrm>
            <a:off x="9043416" y="3767328"/>
            <a:ext cx="2587752"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299 ms</a:t>
            </a:r>
            <a:endParaRPr lang="en-US" sz="3600" dirty="0"/>
          </a:p>
        </p:txBody>
      </p:sp>
      <p:sp>
        <p:nvSpPr>
          <p:cNvPr id="50" name="Text 48"/>
          <p:cNvSpPr txBox="1"/>
          <p:nvPr/>
        </p:nvSpPr>
        <p:spPr>
          <a:xfrm>
            <a:off x="9043416" y="4462272"/>
            <a:ext cx="2587752"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mean span length —</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14.7 frames</a:t>
            </a:r>
            <a:endParaRPr lang="en-US" sz="1150" dirty="0"/>
          </a:p>
        </p:txBody>
      </p:sp>
      <p:sp>
        <p:nvSpPr>
          <p:cNvPr id="51" name="Shape 49"/>
          <p:cNvSpPr/>
          <p:nvPr/>
        </p:nvSpPr>
        <p:spPr>
          <a:xfrm>
            <a:off x="566928" y="5358384"/>
            <a:ext cx="11064240" cy="694944"/>
          </a:xfrm>
          <a:prstGeom prst="roundRect">
            <a:avLst>
              <a:gd name="adj" fmla="val 7895"/>
            </a:avLst>
          </a:prstGeom>
          <a:solidFill>
            <a:srgbClr val="13302A"/>
          </a:solidFill>
          <a:ln w="12700">
            <a:solidFill>
              <a:srgbClr val="13302A"/>
            </a:solidFill>
            <a:prstDash val="solid"/>
          </a:ln>
        </p:spPr>
        <p:txBody>
          <a:bodyPr/>
          <a:lstStyle/>
          <a:p>
            <a:endParaRPr lang="en-US"/>
          </a:p>
        </p:txBody>
      </p:sp>
      <p:sp>
        <p:nvSpPr>
          <p:cNvPr id="52" name="Text 50"/>
          <p:cNvSpPr txBox="1"/>
          <p:nvPr/>
        </p:nvSpPr>
        <p:spPr>
          <a:xfrm>
            <a:off x="822960" y="5577840"/>
            <a:ext cx="10552176" cy="27432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A 299 ms span is roughly a syllable. Masking individual 20 ms frames would be trivial — neighbouring frames are nearly identical — so the span length is what makes the task require phonetic structure rather than interpolation.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contrastive loss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Identify your own quantised latent among distractors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19</a:t>
            </a:r>
            <a:endParaRPr lang="en-US" sz="900" dirty="0"/>
          </a:p>
        </p:txBody>
      </p:sp>
      <p:sp>
        <p:nvSpPr>
          <p:cNvPr id="10" name="Shape 8"/>
          <p:cNvSpPr/>
          <p:nvPr/>
        </p:nvSpPr>
        <p:spPr>
          <a:xfrm>
            <a:off x="566928" y="1554480"/>
            <a:ext cx="5852160" cy="2423160"/>
          </a:xfrm>
          <a:prstGeom prst="roundRect">
            <a:avLst>
              <a:gd name="adj" fmla="val 2264"/>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521208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task</a:t>
            </a:r>
            <a:endParaRPr lang="en-US" sz="1500" dirty="0"/>
          </a:p>
        </p:txBody>
      </p:sp>
      <p:sp>
        <p:nvSpPr>
          <p:cNvPr id="13" name="Text 11"/>
          <p:cNvSpPr txBox="1"/>
          <p:nvPr/>
        </p:nvSpPr>
        <p:spPr>
          <a:xfrm>
            <a:off x="822960" y="2157984"/>
            <a:ext cx="5340096" cy="163677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For a masked time step t, take the context vector c_t. The model must identify the true quantised latent q_t among a candidate set containing q_t and K distractors.</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Distractors are sampled uniformly from other masked time steps of the same utterance.</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Similarity is cosine similarity between c_t and each candidate, divided by a temperature κ, and the loss is the negative log of the softmax over candidates.</a:t>
            </a:r>
            <a:endParaRPr lang="en-US" sz="1280" dirty="0"/>
          </a:p>
        </p:txBody>
      </p:sp>
      <p:sp>
        <p:nvSpPr>
          <p:cNvPr id="14" name="Shape 12"/>
          <p:cNvSpPr/>
          <p:nvPr/>
        </p:nvSpPr>
        <p:spPr>
          <a:xfrm>
            <a:off x="6620256" y="1554480"/>
            <a:ext cx="5010912" cy="2423160"/>
          </a:xfrm>
          <a:prstGeom prst="roundRect">
            <a:avLst>
              <a:gd name="adj" fmla="val 2264"/>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839712"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7040880" y="1719072"/>
            <a:ext cx="4370832"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settings</a:t>
            </a:r>
            <a:endParaRPr lang="en-US" sz="1500" dirty="0"/>
          </a:p>
        </p:txBody>
      </p:sp>
      <p:sp>
        <p:nvSpPr>
          <p:cNvPr id="17" name="Text 15"/>
          <p:cNvSpPr txBox="1"/>
          <p:nvPr/>
        </p:nvSpPr>
        <p:spPr>
          <a:xfrm>
            <a:off x="6876288" y="2157984"/>
            <a:ext cx="4498848" cy="163677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K = 100 distractors.</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Temperature κ = 0.1.</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Cosine similarity rather than a dot product, so the loss is insensitive to vector magnitude.</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checkpoint used is the one with the lowest contrastive loss on the validation set — the objective itself is the model-selection criterion.</a:t>
            </a:r>
            <a:endParaRPr lang="en-US" sz="1280" dirty="0"/>
          </a:p>
        </p:txBody>
      </p:sp>
      <p:sp>
        <p:nvSpPr>
          <p:cNvPr id="18" name="Text 16"/>
          <p:cNvSpPr txBox="1"/>
          <p:nvPr/>
        </p:nvSpPr>
        <p:spPr>
          <a:xfrm>
            <a:off x="566928" y="4169664"/>
            <a:ext cx="11064240" cy="1883664"/>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Why distractors from the same utterance: it makes the task hard in exactly the right way. Distractors from a different speaker or recording could be rejected on timbre alone, and the model would learn to be a speaker classifier.</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Because negatives share the speaker, the channel and the recording session, the only thing that distinguishes the true target is its phonetic content. The sampling scheme is doing quiet but essential work.</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This is noise-contrastive estimation in the InfoNCE form used by contrastive predictive coding, applied to masked positions rather than future ones.</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The prediction is not of a raw latent but of its quantised form, which is what makes the candidate set a set of discrete units rather than a set of arbitrary vectors.</a:t>
            </a:r>
            <a:endParaRPr lang="en-US" sz="12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diversity loss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A regulariser that stops the codebook from collapsing</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20</a:t>
            </a:r>
            <a:endParaRPr lang="en-US" sz="900" dirty="0"/>
          </a:p>
        </p:txBody>
      </p:sp>
      <p:sp>
        <p:nvSpPr>
          <p:cNvPr id="10" name="Shape 8"/>
          <p:cNvSpPr/>
          <p:nvPr/>
        </p:nvSpPr>
        <p:spPr>
          <a:xfrm>
            <a:off x="566928" y="1554480"/>
            <a:ext cx="5440680"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failure it prevents</a:t>
            </a:r>
            <a:endParaRPr lang="en-US" sz="1500" dirty="0"/>
          </a:p>
        </p:txBody>
      </p:sp>
      <p:sp>
        <p:nvSpPr>
          <p:cNvPr id="13" name="Text 11"/>
          <p:cNvSpPr txBox="1"/>
          <p:nvPr/>
        </p:nvSpPr>
        <p:spPr>
          <a:xfrm>
            <a:off x="822960" y="215798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Nothing in the contrastive objective requires the model to use many codebook entries. A quantiser that maps everything to a handful of codewords would still let the contrastive task be solved, and it is the path of least resistance.</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result would be an inventory with almost no capacity to distinguish speech sounds.</a:t>
            </a:r>
            <a:endParaRPr lang="en-US" sz="1280" dirty="0"/>
          </a:p>
        </p:txBody>
      </p:sp>
      <p:sp>
        <p:nvSpPr>
          <p:cNvPr id="14" name="Shape 12"/>
          <p:cNvSpPr/>
          <p:nvPr/>
        </p:nvSpPr>
        <p:spPr>
          <a:xfrm>
            <a:off x="6190488" y="1554480"/>
            <a:ext cx="5440680"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409944"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mechanism</a:t>
            </a:r>
            <a:endParaRPr lang="en-US" sz="1500" dirty="0"/>
          </a:p>
        </p:txBody>
      </p:sp>
      <p:sp>
        <p:nvSpPr>
          <p:cNvPr id="17" name="Text 15"/>
          <p:cNvSpPr txBox="1"/>
          <p:nvPr/>
        </p:nvSpPr>
        <p:spPr>
          <a:xfrm>
            <a:off x="6446520" y="215798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Maximise the entropy of the averaged softmax distribution over codebook entries, computed across a batch of utterances, for each codebook separately.</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This distribution excludes the Gumbel noise and the temperature. The implementation maximises perplexity, which is equivalent.</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Crucially it is an average over the batch, not per frame.</a:t>
            </a:r>
            <a:endParaRPr lang="en-US" sz="1280" dirty="0"/>
          </a:p>
        </p:txBody>
      </p:sp>
      <p:sp>
        <p:nvSpPr>
          <p:cNvPr id="18" name="Shape 16"/>
          <p:cNvSpPr/>
          <p:nvPr/>
        </p:nvSpPr>
        <p:spPr>
          <a:xfrm>
            <a:off x="566928" y="4041648"/>
            <a:ext cx="11064240" cy="1051560"/>
          </a:xfrm>
          <a:prstGeom prst="roundRect">
            <a:avLst>
              <a:gd name="adj" fmla="val 5217"/>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786384" y="4334256"/>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Why averaging over the batch is the right choice</a:t>
            </a:r>
            <a:endParaRPr lang="en-US" sz="1500" dirty="0"/>
          </a:p>
        </p:txBody>
      </p:sp>
      <p:sp>
        <p:nvSpPr>
          <p:cNvPr id="21" name="Text 19"/>
          <p:cNvSpPr txBox="1"/>
          <p:nvPr/>
        </p:nvSpPr>
        <p:spPr>
          <a:xfrm>
            <a:off x="822960" y="4645152"/>
            <a:ext cx="10552176" cy="26517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Per-frame entropy would push every individual frame toward an ambiguous, spread-out code — the opposite of what a discrete inventory should do. Batch-averaged entropy asks only that all entries get used *somewhere*, leaving each individual frame free to commit sharply to one codeword.</a:t>
            </a:r>
            <a:endParaRPr lang="en-US" sz="1280" dirty="0"/>
          </a:p>
        </p:txBody>
      </p:sp>
      <p:sp>
        <p:nvSpPr>
          <p:cNvPr id="22" name="Shape 20"/>
          <p:cNvSpPr/>
          <p:nvPr/>
        </p:nvSpPr>
        <p:spPr>
          <a:xfrm>
            <a:off x="566928" y="5230368"/>
            <a:ext cx="11064240" cy="822960"/>
          </a:xfrm>
          <a:prstGeom prst="roundRect">
            <a:avLst>
              <a:gd name="adj" fmla="val 6667"/>
            </a:avLst>
          </a:prstGeom>
          <a:solidFill>
            <a:srgbClr val="13302A"/>
          </a:solidFill>
          <a:ln w="12700">
            <a:solidFill>
              <a:srgbClr val="13302A"/>
            </a:solidFill>
            <a:prstDash val="solid"/>
          </a:ln>
        </p:spPr>
        <p:txBody>
          <a:bodyPr/>
          <a:lstStyle/>
          <a:p>
            <a:endParaRPr lang="en-US"/>
          </a:p>
        </p:txBody>
      </p:sp>
      <p:sp>
        <p:nvSpPr>
          <p:cNvPr id="23" name="Text 21"/>
          <p:cNvSpPr txBox="1"/>
          <p:nvPr/>
        </p:nvSpPr>
        <p:spPr>
          <a:xfrm>
            <a:off x="822960" y="5449824"/>
            <a:ext cx="10552176" cy="402336"/>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Total objective:  L = L_m + α L_d,  with α = 0.1. One tuned scalar balances a task term against a regulariser — a reminder that the contrastive loss alone is not enough.</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design decision that matters most</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Continuous representations in, discrete representations out</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21</a:t>
            </a:r>
            <a:endParaRPr lang="en-US" sz="900" dirty="0"/>
          </a:p>
        </p:txBody>
      </p:sp>
      <p:sp>
        <p:nvSpPr>
          <p:cNvPr id="10" name="Shape 8"/>
          <p:cNvSpPr/>
          <p:nvPr/>
        </p:nvSpPr>
        <p:spPr>
          <a:xfrm>
            <a:off x="566928" y="1572768"/>
            <a:ext cx="5440680" cy="2103120"/>
          </a:xfrm>
          <a:prstGeom prst="roundRect">
            <a:avLst>
              <a:gd name="adj" fmla="val 2609"/>
            </a:avLst>
          </a:prstGeom>
          <a:solidFill>
            <a:srgbClr val="EFF5F1"/>
          </a:solidFill>
          <a:ln w="19050">
            <a:solidFill>
              <a:srgbClr val="2E7D5B"/>
            </a:solidFill>
            <a:prstDash val="solid"/>
          </a:ln>
        </p:spPr>
        <p:txBody>
          <a:bodyPr/>
          <a:lstStyle/>
          <a:p>
            <a:endParaRPr lang="en-US"/>
          </a:p>
        </p:txBody>
      </p:sp>
      <p:sp>
        <p:nvSpPr>
          <p:cNvPr id="11" name="Text 9"/>
          <p:cNvSpPr txBox="1"/>
          <p:nvPr/>
        </p:nvSpPr>
        <p:spPr>
          <a:xfrm>
            <a:off x="822960" y="1792224"/>
            <a:ext cx="4937760" cy="274320"/>
          </a:xfrm>
          <a:prstGeom prst="rect">
            <a:avLst/>
          </a:prstGeom>
          <a:noFill/>
          <a:ln/>
        </p:spPr>
        <p:txBody>
          <a:bodyPr wrap="square" lIns="0" tIns="0" rIns="0" bIns="0" rtlCol="0" anchor="ctr"/>
          <a:lstStyle/>
          <a:p>
            <a:pPr marL="0" indent="0">
              <a:buNone/>
            </a:pPr>
            <a:r>
              <a:rPr lang="en-US" sz="1200" b="1" kern="0" spc="50" dirty="0">
                <a:solidFill>
                  <a:srgbClr val="2E7D5B"/>
                </a:solidFill>
                <a:latin typeface="Calibri" pitchFamily="34" charset="0"/>
                <a:ea typeface="Calibri" pitchFamily="34" charset="-122"/>
                <a:cs typeface="Calibri" pitchFamily="34" charset="-120"/>
              </a:rPr>
              <a:t>INPUT to the Transformer</a:t>
            </a:r>
            <a:endParaRPr lang="en-US" sz="1200" dirty="0"/>
          </a:p>
        </p:txBody>
      </p:sp>
      <p:sp>
        <p:nvSpPr>
          <p:cNvPr id="12" name="Text 10"/>
          <p:cNvSpPr txBox="1"/>
          <p:nvPr/>
        </p:nvSpPr>
        <p:spPr>
          <a:xfrm>
            <a:off x="822960" y="2103120"/>
            <a:ext cx="4937760" cy="457200"/>
          </a:xfrm>
          <a:prstGeom prst="rect">
            <a:avLst/>
          </a:prstGeom>
          <a:noFill/>
          <a:ln/>
        </p:spPr>
        <p:txBody>
          <a:bodyPr wrap="square" lIns="0" tIns="0" rIns="0" bIns="0" rtlCol="0" anchor="ctr"/>
          <a:lstStyle/>
          <a:p>
            <a:pPr marL="0" indent="0">
              <a:buNone/>
            </a:pPr>
            <a:r>
              <a:rPr lang="en-US" sz="3000" b="1" dirty="0">
                <a:solidFill>
                  <a:srgbClr val="0E241E"/>
                </a:solidFill>
                <a:latin typeface="Cambria" pitchFamily="34" charset="0"/>
                <a:ea typeface="Cambria" pitchFamily="34" charset="-122"/>
                <a:cs typeface="Cambria" pitchFamily="34" charset="-120"/>
              </a:rPr>
              <a:t>Continuous</a:t>
            </a:r>
            <a:endParaRPr lang="en-US" sz="3000" dirty="0"/>
          </a:p>
        </p:txBody>
      </p:sp>
      <p:sp>
        <p:nvSpPr>
          <p:cNvPr id="13" name="Text 11"/>
          <p:cNvSpPr txBox="1"/>
          <p:nvPr/>
        </p:nvSpPr>
        <p:spPr>
          <a:xfrm>
            <a:off x="822960" y="2688336"/>
            <a:ext cx="4937760" cy="822960"/>
          </a:xfrm>
          <a:prstGeom prst="rect">
            <a:avLst/>
          </a:prstGeom>
          <a:noFill/>
          <a:ln/>
        </p:spPr>
        <p:txBody>
          <a:bodyPr wrap="square" lIns="0" tIns="0" rIns="0" bIns="0" rtlCol="0" anchor="ctr"/>
          <a:lstStyle/>
          <a:p>
            <a:pPr marL="0" indent="0">
              <a:buNone/>
            </a:pPr>
            <a:r>
              <a:rPr lang="en-US" sz="1250" dirty="0">
                <a:solidFill>
                  <a:srgbClr val="2C3B36"/>
                </a:solidFill>
                <a:latin typeface="Calibri" pitchFamily="34" charset="0"/>
                <a:ea typeface="Calibri" pitchFamily="34" charset="-122"/>
                <a:cs typeface="Calibri" pitchFamily="34" charset="-120"/>
              </a:rPr>
              <a:t>Unquantised latents retain more information, which lets the context network build richer representations of the surrounding speech.</a:t>
            </a:r>
            <a:endParaRPr lang="en-US" sz="1250" dirty="0"/>
          </a:p>
        </p:txBody>
      </p:sp>
      <p:sp>
        <p:nvSpPr>
          <p:cNvPr id="14" name="Shape 12"/>
          <p:cNvSpPr/>
          <p:nvPr/>
        </p:nvSpPr>
        <p:spPr>
          <a:xfrm>
            <a:off x="6190488" y="1572768"/>
            <a:ext cx="5440680" cy="2103120"/>
          </a:xfrm>
          <a:prstGeom prst="roundRect">
            <a:avLst>
              <a:gd name="adj" fmla="val 2609"/>
            </a:avLst>
          </a:prstGeom>
          <a:solidFill>
            <a:srgbClr val="EFF5F1"/>
          </a:solidFill>
          <a:ln w="19050">
            <a:solidFill>
              <a:srgbClr val="B5623C"/>
            </a:solidFill>
            <a:prstDash val="solid"/>
          </a:ln>
        </p:spPr>
        <p:txBody>
          <a:bodyPr/>
          <a:lstStyle/>
          <a:p>
            <a:endParaRPr lang="en-US"/>
          </a:p>
        </p:txBody>
      </p:sp>
      <p:sp>
        <p:nvSpPr>
          <p:cNvPr id="15" name="Text 13"/>
          <p:cNvSpPr txBox="1"/>
          <p:nvPr/>
        </p:nvSpPr>
        <p:spPr>
          <a:xfrm>
            <a:off x="6446520" y="1792224"/>
            <a:ext cx="4937760" cy="274320"/>
          </a:xfrm>
          <a:prstGeom prst="rect">
            <a:avLst/>
          </a:prstGeom>
          <a:noFill/>
          <a:ln/>
        </p:spPr>
        <p:txBody>
          <a:bodyPr wrap="square" lIns="0" tIns="0" rIns="0" bIns="0" rtlCol="0" anchor="ctr"/>
          <a:lstStyle/>
          <a:p>
            <a:pPr marL="0" indent="0">
              <a:buNone/>
            </a:pPr>
            <a:r>
              <a:rPr lang="en-US" sz="1200" b="1" kern="0" spc="50" dirty="0">
                <a:solidFill>
                  <a:srgbClr val="B5623C"/>
                </a:solidFill>
                <a:latin typeface="Calibri" pitchFamily="34" charset="0"/>
                <a:ea typeface="Calibri" pitchFamily="34" charset="-122"/>
                <a:cs typeface="Calibri" pitchFamily="34" charset="-120"/>
              </a:rPr>
              <a:t>TARGET in the loss</a:t>
            </a:r>
            <a:endParaRPr lang="en-US" sz="1200" dirty="0"/>
          </a:p>
        </p:txBody>
      </p:sp>
      <p:sp>
        <p:nvSpPr>
          <p:cNvPr id="16" name="Text 14"/>
          <p:cNvSpPr txBox="1"/>
          <p:nvPr/>
        </p:nvSpPr>
        <p:spPr>
          <a:xfrm>
            <a:off x="6446520" y="2103120"/>
            <a:ext cx="4937760" cy="457200"/>
          </a:xfrm>
          <a:prstGeom prst="rect">
            <a:avLst/>
          </a:prstGeom>
          <a:noFill/>
          <a:ln/>
        </p:spPr>
        <p:txBody>
          <a:bodyPr wrap="square" lIns="0" tIns="0" rIns="0" bIns="0" rtlCol="0" anchor="ctr"/>
          <a:lstStyle/>
          <a:p>
            <a:pPr marL="0" indent="0">
              <a:buNone/>
            </a:pPr>
            <a:r>
              <a:rPr lang="en-US" sz="3000" b="1" dirty="0">
                <a:solidFill>
                  <a:srgbClr val="0E241E"/>
                </a:solidFill>
                <a:latin typeface="Cambria" pitchFamily="34" charset="0"/>
                <a:ea typeface="Cambria" pitchFamily="34" charset="-122"/>
                <a:cs typeface="Cambria" pitchFamily="34" charset="-120"/>
              </a:rPr>
              <a:t>Quantised</a:t>
            </a:r>
            <a:endParaRPr lang="en-US" sz="3000" dirty="0"/>
          </a:p>
        </p:txBody>
      </p:sp>
      <p:sp>
        <p:nvSpPr>
          <p:cNvPr id="17" name="Text 15"/>
          <p:cNvSpPr txBox="1"/>
          <p:nvPr/>
        </p:nvSpPr>
        <p:spPr>
          <a:xfrm>
            <a:off x="6446520" y="2688336"/>
            <a:ext cx="4937760" cy="822960"/>
          </a:xfrm>
          <a:prstGeom prst="rect">
            <a:avLst/>
          </a:prstGeom>
          <a:noFill/>
          <a:ln/>
        </p:spPr>
        <p:txBody>
          <a:bodyPr wrap="square" lIns="0" tIns="0" rIns="0" bIns="0" rtlCol="0" anchor="ctr"/>
          <a:lstStyle/>
          <a:p>
            <a:pPr marL="0" indent="0">
              <a:buNone/>
            </a:pPr>
            <a:r>
              <a:rPr lang="en-US" sz="1250" dirty="0">
                <a:solidFill>
                  <a:srgbClr val="2C3B36"/>
                </a:solidFill>
                <a:latin typeface="Calibri" pitchFamily="34" charset="0"/>
                <a:ea typeface="Calibri" pitchFamily="34" charset="-122"/>
                <a:cs typeface="Calibri" pitchFamily="34" charset="-120"/>
              </a:rPr>
              <a:t>Discretising the target removes the fine detail that would otherwise let the model succeed by matching speaker and channel characteristics.</a:t>
            </a:r>
            <a:endParaRPr lang="en-US" sz="1250" dirty="0"/>
          </a:p>
        </p:txBody>
      </p:sp>
      <p:sp>
        <p:nvSpPr>
          <p:cNvPr id="18" name="Shape 16"/>
          <p:cNvSpPr/>
          <p:nvPr/>
        </p:nvSpPr>
        <p:spPr>
          <a:xfrm>
            <a:off x="566928" y="3877056"/>
            <a:ext cx="11064240" cy="2176272"/>
          </a:xfrm>
          <a:prstGeom prst="roundRect">
            <a:avLst>
              <a:gd name="adj" fmla="val 2521"/>
            </a:avLst>
          </a:prstGeom>
          <a:solidFill>
            <a:srgbClr val="13302A"/>
          </a:solidFill>
          <a:ln w="12700">
            <a:solidFill>
              <a:srgbClr val="13302A"/>
            </a:solidFill>
            <a:prstDash val="solid"/>
          </a:ln>
        </p:spPr>
        <p:txBody>
          <a:bodyPr/>
          <a:lstStyle/>
          <a:p>
            <a:endParaRPr lang="en-US"/>
          </a:p>
        </p:txBody>
      </p:sp>
      <p:sp>
        <p:nvSpPr>
          <p:cNvPr id="19" name="Shape 17"/>
          <p:cNvSpPr/>
          <p:nvPr/>
        </p:nvSpPr>
        <p:spPr>
          <a:xfrm>
            <a:off x="786384" y="4169664"/>
            <a:ext cx="109728" cy="109728"/>
          </a:xfrm>
          <a:prstGeom prst="ellipse">
            <a:avLst/>
          </a:prstGeom>
          <a:solidFill>
            <a:srgbClr val="B7D24A"/>
          </a:solidFill>
          <a:ln w="12700">
            <a:solidFill>
              <a:srgbClr val="333333"/>
            </a:solidFill>
            <a:prstDash val="solid"/>
          </a:ln>
        </p:spPr>
        <p:txBody>
          <a:bodyPr/>
          <a:lstStyle/>
          <a:p>
            <a:endParaRPr lang="en-US"/>
          </a:p>
        </p:txBody>
      </p:sp>
      <p:sp>
        <p:nvSpPr>
          <p:cNvPr id="20" name="Text 18"/>
          <p:cNvSpPr txBox="1"/>
          <p:nvPr/>
        </p:nvSpPr>
        <p:spPr>
          <a:xfrm>
            <a:off x="987552" y="404164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This is the whole argument against the two-stage predecessors</a:t>
            </a:r>
            <a:endParaRPr lang="en-US" sz="1500" dirty="0"/>
          </a:p>
        </p:txBody>
      </p:sp>
      <p:sp>
        <p:nvSpPr>
          <p:cNvPr id="21" name="Text 19"/>
          <p:cNvSpPr txBox="1"/>
          <p:nvPr/>
        </p:nvSpPr>
        <p:spPr>
          <a:xfrm>
            <a:off x="822960" y="4480560"/>
            <a:ext cx="10552176" cy="1389888"/>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vq-wav2vec and Discrete BERT quantise on the input side as well, so the context model only ever sees a lossy, discrete view of the audio. wav2vec 2.0 keeps the input rich and the target coarse.</a:t>
            </a:r>
            <a:endParaRPr lang="en-US" sz="1300" dirty="0"/>
          </a:p>
          <a:p>
            <a:pPr marL="0" indent="0">
              <a:lnSpc>
                <a:spcPct val="108000"/>
              </a:lnSpc>
              <a:buNone/>
            </a:pPr>
            <a:endParaRPr lang="en-US" sz="1300" dirty="0"/>
          </a:p>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The paper's justification, in its own terms: continuous latents retain more information and enable better context representations, while quantised targets lead to more robust training. Continuous targets let the model capture detailed artefacts of the current sequence — speaker, background — which make the task easier and prevent the model from learning general representations.</a:t>
            </a:r>
            <a:endParaRPr lang="en-US" sz="1300" dirty="0"/>
          </a:p>
          <a:p>
            <a:pPr marL="0" indent="0">
              <a:lnSpc>
                <a:spcPct val="108000"/>
              </a:lnSpc>
              <a:buNone/>
            </a:pPr>
            <a:endParaRPr lang="en-US" sz="1300" dirty="0"/>
          </a:p>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Section 6 puts numbers on this. It is worth roughly a third of the word error rate.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Fine-tuning for speech recognition</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Where labels finally enter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22</a:t>
            </a:r>
            <a:endParaRPr lang="en-US" sz="900" dirty="0"/>
          </a:p>
        </p:txBody>
      </p:sp>
      <p:sp>
        <p:nvSpPr>
          <p:cNvPr id="10" name="Shape 8"/>
          <p:cNvSpPr/>
          <p:nvPr/>
        </p:nvSpPr>
        <p:spPr>
          <a:xfrm>
            <a:off x="566928" y="1517904"/>
            <a:ext cx="11064240" cy="731520"/>
          </a:xfrm>
          <a:prstGeom prst="roundRect">
            <a:avLst>
              <a:gd name="adj" fmla="val 3750"/>
            </a:avLst>
          </a:prstGeom>
          <a:solidFill>
            <a:srgbClr val="EFF5F1"/>
          </a:solidFill>
          <a:ln w="12700">
            <a:solidFill>
              <a:srgbClr val="E4ECE7"/>
            </a:solidFill>
            <a:prstDash val="solid"/>
          </a:ln>
        </p:spPr>
        <p:txBody>
          <a:bodyPr/>
          <a:lstStyle/>
          <a:p>
            <a:endParaRPr lang="en-US"/>
          </a:p>
        </p:txBody>
      </p:sp>
      <p:sp>
        <p:nvSpPr>
          <p:cNvPr id="11" name="Shape 9"/>
          <p:cNvSpPr/>
          <p:nvPr/>
        </p:nvSpPr>
        <p:spPr>
          <a:xfrm>
            <a:off x="786384" y="1824228"/>
            <a:ext cx="118872" cy="118872"/>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1024128" y="1609344"/>
            <a:ext cx="2011680" cy="54864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Output layer</a:t>
            </a:r>
            <a:endParaRPr lang="en-US" sz="1300" dirty="0"/>
          </a:p>
        </p:txBody>
      </p:sp>
      <p:sp>
        <p:nvSpPr>
          <p:cNvPr id="13" name="Text 11"/>
          <p:cNvSpPr txBox="1"/>
          <p:nvPr/>
        </p:nvSpPr>
        <p:spPr>
          <a:xfrm>
            <a:off x="3218688" y="1591056"/>
            <a:ext cx="8229600" cy="585216"/>
          </a:xfrm>
          <a:prstGeom prst="rect">
            <a:avLst/>
          </a:prstGeom>
          <a:noFill/>
          <a:ln/>
        </p:spPr>
        <p:txBody>
          <a:bodyPr wrap="square" lIns="0" tIns="0" rIns="0" bIns="0" rtlCol="0" anchor="ctr"/>
          <a:lstStyle/>
          <a:p>
            <a:pPr marL="0" indent="0">
              <a:buNone/>
            </a:pPr>
            <a:r>
              <a:rPr lang="en-US" sz="1200" dirty="0">
                <a:solidFill>
                  <a:srgbClr val="2C3B36"/>
                </a:solidFill>
                <a:latin typeface="Calibri" pitchFamily="34" charset="0"/>
                <a:ea typeface="Calibri" pitchFamily="34" charset="-122"/>
                <a:cs typeface="Calibri" pitchFamily="34" charset="-120"/>
              </a:rPr>
              <a:t>A randomly initialised linear projection is added on top of the context network. For Librispeech the target set is 29 tokens for character targets plus a word boundary token.</a:t>
            </a:r>
            <a:endParaRPr lang="en-US" sz="1200" dirty="0"/>
          </a:p>
        </p:txBody>
      </p:sp>
      <p:sp>
        <p:nvSpPr>
          <p:cNvPr id="14" name="Shape 12"/>
          <p:cNvSpPr/>
          <p:nvPr/>
        </p:nvSpPr>
        <p:spPr>
          <a:xfrm>
            <a:off x="566928" y="2304288"/>
            <a:ext cx="11064240" cy="731520"/>
          </a:xfrm>
          <a:prstGeom prst="roundRect">
            <a:avLst>
              <a:gd name="adj" fmla="val 3750"/>
            </a:avLst>
          </a:prstGeom>
          <a:solidFill>
            <a:srgbClr val="FFFFFF"/>
          </a:solidFill>
          <a:ln w="12700">
            <a:solidFill>
              <a:srgbClr val="E4ECE7"/>
            </a:solidFill>
            <a:prstDash val="solid"/>
          </a:ln>
        </p:spPr>
        <p:txBody>
          <a:bodyPr/>
          <a:lstStyle/>
          <a:p>
            <a:endParaRPr lang="en-US"/>
          </a:p>
        </p:txBody>
      </p:sp>
      <p:sp>
        <p:nvSpPr>
          <p:cNvPr id="15" name="Shape 13"/>
          <p:cNvSpPr/>
          <p:nvPr/>
        </p:nvSpPr>
        <p:spPr>
          <a:xfrm>
            <a:off x="786384" y="2610612"/>
            <a:ext cx="118872" cy="118872"/>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1024128" y="2395728"/>
            <a:ext cx="2011680" cy="54864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Loss</a:t>
            </a:r>
            <a:endParaRPr lang="en-US" sz="1300" dirty="0"/>
          </a:p>
        </p:txBody>
      </p:sp>
      <p:sp>
        <p:nvSpPr>
          <p:cNvPr id="17" name="Text 15"/>
          <p:cNvSpPr txBox="1"/>
          <p:nvPr/>
        </p:nvSpPr>
        <p:spPr>
          <a:xfrm>
            <a:off x="3218688" y="2377440"/>
            <a:ext cx="8229600" cy="585216"/>
          </a:xfrm>
          <a:prstGeom prst="rect">
            <a:avLst/>
          </a:prstGeom>
          <a:noFill/>
          <a:ln/>
        </p:spPr>
        <p:txBody>
          <a:bodyPr wrap="square" lIns="0" tIns="0" rIns="0" bIns="0" rtlCol="0" anchor="ctr"/>
          <a:lstStyle/>
          <a:p>
            <a:pPr marL="0" indent="0">
              <a:buNone/>
            </a:pPr>
            <a:r>
              <a:rPr lang="en-US" sz="1200" dirty="0">
                <a:solidFill>
                  <a:srgbClr val="2C3B36"/>
                </a:solidFill>
                <a:latin typeface="Calibri" pitchFamily="34" charset="0"/>
                <a:ea typeface="Calibri" pitchFamily="34" charset="-122"/>
                <a:cs typeface="Calibri" pitchFamily="34" charset="-120"/>
              </a:rPr>
              <a:t>Connectionist temporal classification. No alignment between audio frames and characters is needed — CTC marginalises over all valid alignments.</a:t>
            </a:r>
            <a:endParaRPr lang="en-US" sz="1200" dirty="0"/>
          </a:p>
        </p:txBody>
      </p:sp>
      <p:sp>
        <p:nvSpPr>
          <p:cNvPr id="18" name="Shape 16"/>
          <p:cNvSpPr/>
          <p:nvPr/>
        </p:nvSpPr>
        <p:spPr>
          <a:xfrm>
            <a:off x="566928" y="3090672"/>
            <a:ext cx="11064240" cy="731520"/>
          </a:xfrm>
          <a:prstGeom prst="roundRect">
            <a:avLst>
              <a:gd name="adj" fmla="val 3750"/>
            </a:avLst>
          </a:prstGeom>
          <a:solidFill>
            <a:srgbClr val="EFF5F1"/>
          </a:solidFill>
          <a:ln w="12700">
            <a:solidFill>
              <a:srgbClr val="E4ECE7"/>
            </a:solidFill>
            <a:prstDash val="solid"/>
          </a:ln>
        </p:spPr>
        <p:txBody>
          <a:bodyPr/>
          <a:lstStyle/>
          <a:p>
            <a:endParaRPr lang="en-US"/>
          </a:p>
        </p:txBody>
      </p:sp>
      <p:sp>
        <p:nvSpPr>
          <p:cNvPr id="19" name="Shape 17"/>
          <p:cNvSpPr/>
          <p:nvPr/>
        </p:nvSpPr>
        <p:spPr>
          <a:xfrm>
            <a:off x="786384" y="3396996"/>
            <a:ext cx="118872" cy="118872"/>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1024128" y="3182112"/>
            <a:ext cx="2011680" cy="54864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Frozen encoder</a:t>
            </a:r>
            <a:endParaRPr lang="en-US" sz="1300" dirty="0"/>
          </a:p>
        </p:txBody>
      </p:sp>
      <p:sp>
        <p:nvSpPr>
          <p:cNvPr id="21" name="Text 19"/>
          <p:cNvSpPr txBox="1"/>
          <p:nvPr/>
        </p:nvSpPr>
        <p:spPr>
          <a:xfrm>
            <a:off x="3218688" y="3163824"/>
            <a:ext cx="8229600" cy="585216"/>
          </a:xfrm>
          <a:prstGeom prst="rect">
            <a:avLst/>
          </a:prstGeom>
          <a:noFill/>
          <a:ln/>
        </p:spPr>
        <p:txBody>
          <a:bodyPr wrap="square" lIns="0" tIns="0" rIns="0" bIns="0" rtlCol="0" anchor="ctr"/>
          <a:lstStyle/>
          <a:p>
            <a:pPr marL="0" indent="0">
              <a:buNone/>
            </a:pPr>
            <a:r>
              <a:rPr lang="en-US" sz="1200" dirty="0">
                <a:solidFill>
                  <a:srgbClr val="2C3B36"/>
                </a:solidFill>
                <a:latin typeface="Calibri" pitchFamily="34" charset="0"/>
                <a:ea typeface="Calibri" pitchFamily="34" charset="-122"/>
                <a:cs typeface="Calibri" pitchFamily="34" charset="-120"/>
              </a:rPr>
              <a:t>The convolutional feature encoder is not trained at all during fine-tuning. Only the Transformer and the new output layer are updated.</a:t>
            </a:r>
            <a:endParaRPr lang="en-US" sz="1200" dirty="0"/>
          </a:p>
        </p:txBody>
      </p:sp>
      <p:sp>
        <p:nvSpPr>
          <p:cNvPr id="22" name="Shape 20"/>
          <p:cNvSpPr/>
          <p:nvPr/>
        </p:nvSpPr>
        <p:spPr>
          <a:xfrm>
            <a:off x="566928" y="3877056"/>
            <a:ext cx="11064240" cy="731520"/>
          </a:xfrm>
          <a:prstGeom prst="roundRect">
            <a:avLst>
              <a:gd name="adj" fmla="val 3750"/>
            </a:avLst>
          </a:prstGeom>
          <a:solidFill>
            <a:srgbClr val="FFFFFF"/>
          </a:solidFill>
          <a:ln w="12700">
            <a:solidFill>
              <a:srgbClr val="E4ECE7"/>
            </a:solidFill>
            <a:prstDash val="solid"/>
          </a:ln>
        </p:spPr>
        <p:txBody>
          <a:bodyPr/>
          <a:lstStyle/>
          <a:p>
            <a:endParaRPr lang="en-US"/>
          </a:p>
        </p:txBody>
      </p:sp>
      <p:sp>
        <p:nvSpPr>
          <p:cNvPr id="23" name="Shape 21"/>
          <p:cNvSpPr/>
          <p:nvPr/>
        </p:nvSpPr>
        <p:spPr>
          <a:xfrm>
            <a:off x="786384" y="4183380"/>
            <a:ext cx="118872" cy="118872"/>
          </a:xfrm>
          <a:prstGeom prst="ellipse">
            <a:avLst/>
          </a:prstGeom>
          <a:solidFill>
            <a:srgbClr val="2E7D5B"/>
          </a:solidFill>
          <a:ln w="12700">
            <a:solidFill>
              <a:srgbClr val="333333"/>
            </a:solidFill>
            <a:prstDash val="solid"/>
          </a:ln>
        </p:spPr>
        <p:txBody>
          <a:bodyPr/>
          <a:lstStyle/>
          <a:p>
            <a:endParaRPr lang="en-US"/>
          </a:p>
        </p:txBody>
      </p:sp>
      <p:sp>
        <p:nvSpPr>
          <p:cNvPr id="24" name="Text 22"/>
          <p:cNvSpPr txBox="1"/>
          <p:nvPr/>
        </p:nvSpPr>
        <p:spPr>
          <a:xfrm>
            <a:off x="1024128" y="3968496"/>
            <a:ext cx="2011680" cy="54864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Warm start</a:t>
            </a:r>
            <a:endParaRPr lang="en-US" sz="1300" dirty="0"/>
          </a:p>
        </p:txBody>
      </p:sp>
      <p:sp>
        <p:nvSpPr>
          <p:cNvPr id="25" name="Text 23"/>
          <p:cNvSpPr txBox="1"/>
          <p:nvPr/>
        </p:nvSpPr>
        <p:spPr>
          <a:xfrm>
            <a:off x="3218688" y="3950208"/>
            <a:ext cx="8229600" cy="585216"/>
          </a:xfrm>
          <a:prstGeom prst="rect">
            <a:avLst/>
          </a:prstGeom>
          <a:noFill/>
          <a:ln/>
        </p:spPr>
        <p:txBody>
          <a:bodyPr wrap="square" lIns="0" tIns="0" rIns="0" bIns="0" rtlCol="0" anchor="ctr"/>
          <a:lstStyle/>
          <a:p>
            <a:pPr marL="0" indent="0">
              <a:buNone/>
            </a:pPr>
            <a:r>
              <a:rPr lang="en-US" sz="1200" dirty="0">
                <a:solidFill>
                  <a:srgbClr val="2C3B36"/>
                </a:solidFill>
                <a:latin typeface="Calibri" pitchFamily="34" charset="0"/>
                <a:ea typeface="Calibri" pitchFamily="34" charset="-122"/>
                <a:cs typeface="Calibri" pitchFamily="34" charset="-120"/>
              </a:rPr>
              <a:t>For the first 10,000 updates only the output classifier is trained; the Transformer is held fixed and only afterwards begins to update.</a:t>
            </a:r>
            <a:endParaRPr lang="en-US" sz="1200" dirty="0"/>
          </a:p>
        </p:txBody>
      </p:sp>
      <p:sp>
        <p:nvSpPr>
          <p:cNvPr id="26" name="Shape 24"/>
          <p:cNvSpPr/>
          <p:nvPr/>
        </p:nvSpPr>
        <p:spPr>
          <a:xfrm>
            <a:off x="566928" y="4663440"/>
            <a:ext cx="11064240" cy="731520"/>
          </a:xfrm>
          <a:prstGeom prst="roundRect">
            <a:avLst>
              <a:gd name="adj" fmla="val 3750"/>
            </a:avLst>
          </a:prstGeom>
          <a:solidFill>
            <a:srgbClr val="EFF5F1"/>
          </a:solidFill>
          <a:ln w="12700">
            <a:solidFill>
              <a:srgbClr val="E4ECE7"/>
            </a:solidFill>
            <a:prstDash val="solid"/>
          </a:ln>
        </p:spPr>
        <p:txBody>
          <a:bodyPr/>
          <a:lstStyle/>
          <a:p>
            <a:endParaRPr lang="en-US"/>
          </a:p>
        </p:txBody>
      </p:sp>
      <p:sp>
        <p:nvSpPr>
          <p:cNvPr id="27" name="Shape 25"/>
          <p:cNvSpPr/>
          <p:nvPr/>
        </p:nvSpPr>
        <p:spPr>
          <a:xfrm>
            <a:off x="786384" y="4969764"/>
            <a:ext cx="118872" cy="118872"/>
          </a:xfrm>
          <a:prstGeom prst="ellipse">
            <a:avLst/>
          </a:prstGeom>
          <a:solidFill>
            <a:srgbClr val="2E7D5B"/>
          </a:solidFill>
          <a:ln w="12700">
            <a:solidFill>
              <a:srgbClr val="333333"/>
            </a:solidFill>
            <a:prstDash val="solid"/>
          </a:ln>
        </p:spPr>
        <p:txBody>
          <a:bodyPr/>
          <a:lstStyle/>
          <a:p>
            <a:endParaRPr lang="en-US"/>
          </a:p>
        </p:txBody>
      </p:sp>
      <p:sp>
        <p:nvSpPr>
          <p:cNvPr id="28" name="Text 26"/>
          <p:cNvSpPr txBox="1"/>
          <p:nvPr/>
        </p:nvSpPr>
        <p:spPr>
          <a:xfrm>
            <a:off x="1024128" y="4754880"/>
            <a:ext cx="2011680" cy="54864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Schedule</a:t>
            </a:r>
            <a:endParaRPr lang="en-US" sz="1300" dirty="0"/>
          </a:p>
        </p:txBody>
      </p:sp>
      <p:sp>
        <p:nvSpPr>
          <p:cNvPr id="29" name="Text 27"/>
          <p:cNvSpPr txBox="1"/>
          <p:nvPr/>
        </p:nvSpPr>
        <p:spPr>
          <a:xfrm>
            <a:off x="3218688" y="4736592"/>
            <a:ext cx="8229600" cy="585216"/>
          </a:xfrm>
          <a:prstGeom prst="rect">
            <a:avLst/>
          </a:prstGeom>
          <a:noFill/>
          <a:ln/>
        </p:spPr>
        <p:txBody>
          <a:bodyPr wrap="square" lIns="0" tIns="0" rIns="0" bIns="0" rtlCol="0" anchor="ctr"/>
          <a:lstStyle/>
          <a:p>
            <a:pPr marL="0" indent="0">
              <a:buNone/>
            </a:pPr>
            <a:r>
              <a:rPr lang="en-US" sz="1200" dirty="0">
                <a:solidFill>
                  <a:srgbClr val="2C3B36"/>
                </a:solidFill>
                <a:latin typeface="Calibri" pitchFamily="34" charset="0"/>
                <a:ea typeface="Calibri" pitchFamily="34" charset="-122"/>
                <a:cs typeface="Calibri" pitchFamily="34" charset="-120"/>
              </a:rPr>
              <a:t>Adam with a tri-state rate: warm up over the first 10% of updates, hold constant for the next 40%, then decay linearly for the remainder.</a:t>
            </a:r>
            <a:endParaRPr lang="en-US" sz="1200" dirty="0"/>
          </a:p>
        </p:txBody>
      </p:sp>
      <p:sp>
        <p:nvSpPr>
          <p:cNvPr id="30" name="Shape 28"/>
          <p:cNvSpPr/>
          <p:nvPr/>
        </p:nvSpPr>
        <p:spPr>
          <a:xfrm>
            <a:off x="566928" y="5449824"/>
            <a:ext cx="11064240" cy="731520"/>
          </a:xfrm>
          <a:prstGeom prst="roundRect">
            <a:avLst>
              <a:gd name="adj" fmla="val 3750"/>
            </a:avLst>
          </a:prstGeom>
          <a:solidFill>
            <a:srgbClr val="FFFFFF"/>
          </a:solidFill>
          <a:ln w="12700">
            <a:solidFill>
              <a:srgbClr val="E4ECE7"/>
            </a:solidFill>
            <a:prstDash val="solid"/>
          </a:ln>
        </p:spPr>
        <p:txBody>
          <a:bodyPr/>
          <a:lstStyle/>
          <a:p>
            <a:endParaRPr lang="en-US"/>
          </a:p>
        </p:txBody>
      </p:sp>
      <p:sp>
        <p:nvSpPr>
          <p:cNvPr id="31" name="Shape 29"/>
          <p:cNvSpPr/>
          <p:nvPr/>
        </p:nvSpPr>
        <p:spPr>
          <a:xfrm>
            <a:off x="786384" y="5756148"/>
            <a:ext cx="118872" cy="118872"/>
          </a:xfrm>
          <a:prstGeom prst="ellipse">
            <a:avLst/>
          </a:prstGeom>
          <a:solidFill>
            <a:srgbClr val="2E7D5B"/>
          </a:solidFill>
          <a:ln w="12700">
            <a:solidFill>
              <a:srgbClr val="333333"/>
            </a:solidFill>
            <a:prstDash val="solid"/>
          </a:ln>
        </p:spPr>
        <p:txBody>
          <a:bodyPr/>
          <a:lstStyle/>
          <a:p>
            <a:endParaRPr lang="en-US"/>
          </a:p>
        </p:txBody>
      </p:sp>
      <p:sp>
        <p:nvSpPr>
          <p:cNvPr id="32" name="Text 30"/>
          <p:cNvSpPr txBox="1"/>
          <p:nvPr/>
        </p:nvSpPr>
        <p:spPr>
          <a:xfrm>
            <a:off x="1024128" y="5541264"/>
            <a:ext cx="2011680" cy="54864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Augmentation</a:t>
            </a:r>
            <a:endParaRPr lang="en-US" sz="1300" dirty="0"/>
          </a:p>
        </p:txBody>
      </p:sp>
      <p:sp>
        <p:nvSpPr>
          <p:cNvPr id="33" name="Text 31"/>
          <p:cNvSpPr txBox="1"/>
          <p:nvPr/>
        </p:nvSpPr>
        <p:spPr>
          <a:xfrm>
            <a:off x="3218688" y="5522976"/>
            <a:ext cx="8229600" cy="585216"/>
          </a:xfrm>
          <a:prstGeom prst="rect">
            <a:avLst/>
          </a:prstGeom>
          <a:noFill/>
          <a:ln/>
        </p:spPr>
        <p:txBody>
          <a:bodyPr wrap="square" lIns="0" tIns="0" rIns="0" bIns="0" rtlCol="0" anchor="ctr"/>
          <a:lstStyle/>
          <a:p>
            <a:pPr marL="0" indent="0">
              <a:buNone/>
            </a:pPr>
            <a:r>
              <a:rPr lang="en-US" sz="1200" dirty="0">
                <a:solidFill>
                  <a:srgbClr val="2C3B36"/>
                </a:solidFill>
                <a:latin typeface="Calibri" pitchFamily="34" charset="0"/>
                <a:ea typeface="Calibri" pitchFamily="34" charset="-122"/>
                <a:cs typeface="Calibri" pitchFamily="34" charset="-120"/>
              </a:rPr>
              <a:t>A modified SpecAugment masking both time steps and channels. The paper reports this delays overfitting and significantly improves error rates, especially on the tiny labelled subsets.</a:t>
            </a:r>
            <a:endParaRPr lang="en-US" sz="1200" dirty="0"/>
          </a:p>
        </p:txBody>
      </p:sp>
      <p:sp>
        <p:nvSpPr>
          <p:cNvPr id="34" name="Shape 32"/>
          <p:cNvSpPr/>
          <p:nvPr/>
        </p:nvSpPr>
        <p:spPr>
          <a:xfrm>
            <a:off x="566928" y="6272784"/>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What it cost to train</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A note on who can actually do this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23</a:t>
            </a:r>
            <a:endParaRPr lang="en-US" sz="900" dirty="0"/>
          </a:p>
        </p:txBody>
      </p:sp>
      <p:sp>
        <p:nvSpPr>
          <p:cNvPr id="10" name="Text 8"/>
          <p:cNvSpPr txBox="1"/>
          <p:nvPr/>
        </p:nvSpPr>
        <p:spPr>
          <a:xfrm>
            <a:off x="566928" y="1600200"/>
            <a:ext cx="2697480"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64</a:t>
            </a:r>
            <a:endParaRPr lang="en-US" sz="3600" dirty="0"/>
          </a:p>
        </p:txBody>
      </p:sp>
      <p:sp>
        <p:nvSpPr>
          <p:cNvPr id="11" name="Text 9"/>
          <p:cNvSpPr txBox="1"/>
          <p:nvPr/>
        </p:nvSpPr>
        <p:spPr>
          <a:xfrm>
            <a:off x="566928" y="2295144"/>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V100 GPUs for BASE,</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for 1.6 days</a:t>
            </a:r>
            <a:endParaRPr lang="en-US" sz="1150" dirty="0"/>
          </a:p>
        </p:txBody>
      </p:sp>
      <p:sp>
        <p:nvSpPr>
          <p:cNvPr id="12" name="Text 10"/>
          <p:cNvSpPr txBox="1"/>
          <p:nvPr/>
        </p:nvSpPr>
        <p:spPr>
          <a:xfrm>
            <a:off x="3392424" y="1600200"/>
            <a:ext cx="2697480"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128</a:t>
            </a:r>
            <a:endParaRPr lang="en-US" sz="3600" dirty="0"/>
          </a:p>
        </p:txBody>
      </p:sp>
      <p:sp>
        <p:nvSpPr>
          <p:cNvPr id="13" name="Text 11"/>
          <p:cNvSpPr txBox="1"/>
          <p:nvPr/>
        </p:nvSpPr>
        <p:spPr>
          <a:xfrm>
            <a:off x="3392424" y="2295144"/>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V100 GPUs for LARGE,</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2.3 days on Librispeech</a:t>
            </a:r>
            <a:endParaRPr lang="en-US" sz="1150" dirty="0"/>
          </a:p>
        </p:txBody>
      </p:sp>
      <p:sp>
        <p:nvSpPr>
          <p:cNvPr id="14" name="Text 12"/>
          <p:cNvSpPr txBox="1"/>
          <p:nvPr/>
        </p:nvSpPr>
        <p:spPr>
          <a:xfrm>
            <a:off x="6217920" y="1600200"/>
            <a:ext cx="2697480"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5.2 d</a:t>
            </a:r>
            <a:endParaRPr lang="en-US" sz="3600" dirty="0"/>
          </a:p>
        </p:txBody>
      </p:sp>
      <p:sp>
        <p:nvSpPr>
          <p:cNvPr id="15" name="Text 13"/>
          <p:cNvSpPr txBox="1"/>
          <p:nvPr/>
        </p:nvSpPr>
        <p:spPr>
          <a:xfrm>
            <a:off x="6217920" y="2295144"/>
            <a:ext cx="2697480"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on 128 GPUs for LARGE</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on the LibriVox audio</a:t>
            </a:r>
            <a:endParaRPr lang="en-US" sz="1150" dirty="0"/>
          </a:p>
        </p:txBody>
      </p:sp>
      <p:sp>
        <p:nvSpPr>
          <p:cNvPr id="16" name="Text 14"/>
          <p:cNvSpPr txBox="1"/>
          <p:nvPr/>
        </p:nvSpPr>
        <p:spPr>
          <a:xfrm>
            <a:off x="9043416" y="1600200"/>
            <a:ext cx="2587752"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600k</a:t>
            </a:r>
            <a:endParaRPr lang="en-US" sz="3600" dirty="0"/>
          </a:p>
        </p:txBody>
      </p:sp>
      <p:sp>
        <p:nvSpPr>
          <p:cNvPr id="17" name="Text 15"/>
          <p:cNvSpPr txBox="1"/>
          <p:nvPr/>
        </p:nvSpPr>
        <p:spPr>
          <a:xfrm>
            <a:off x="9043416" y="2295144"/>
            <a:ext cx="2587752"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updates for the largest</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pre-training run</a:t>
            </a:r>
            <a:endParaRPr lang="en-US" sz="1150" dirty="0"/>
          </a:p>
        </p:txBody>
      </p:sp>
      <p:sp>
        <p:nvSpPr>
          <p:cNvPr id="18" name="Shape 16"/>
          <p:cNvSpPr/>
          <p:nvPr/>
        </p:nvSpPr>
        <p:spPr>
          <a:xfrm>
            <a:off x="566928" y="3200400"/>
            <a:ext cx="5440680" cy="1600200"/>
          </a:xfrm>
          <a:prstGeom prst="roundRect">
            <a:avLst>
              <a:gd name="adj" fmla="val 3429"/>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786384" y="3493008"/>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987552" y="336499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asymmetry this creates</a:t>
            </a:r>
            <a:endParaRPr lang="en-US" sz="1500" dirty="0"/>
          </a:p>
        </p:txBody>
      </p:sp>
      <p:sp>
        <p:nvSpPr>
          <p:cNvPr id="21" name="Text 19"/>
          <p:cNvSpPr txBox="1"/>
          <p:nvPr/>
        </p:nvSpPr>
        <p:spPr>
          <a:xfrm>
            <a:off x="822960" y="3803904"/>
            <a:ext cx="4928616" cy="8138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Pre-training is out of reach for most academic groups. Fine-tuning is not — a released checkpoint plus a single GPU and ten minutes of labelled audio reproduces the headline result.</a:t>
            </a:r>
            <a:endParaRPr lang="en-US" sz="1280" dirty="0"/>
          </a:p>
        </p:txBody>
      </p:sp>
      <p:sp>
        <p:nvSpPr>
          <p:cNvPr id="22" name="Shape 20"/>
          <p:cNvSpPr/>
          <p:nvPr/>
        </p:nvSpPr>
        <p:spPr>
          <a:xfrm>
            <a:off x="6190488" y="3200400"/>
            <a:ext cx="5440680" cy="1600200"/>
          </a:xfrm>
          <a:prstGeom prst="roundRect">
            <a:avLst>
              <a:gd name="adj" fmla="val 3429"/>
            </a:avLst>
          </a:prstGeom>
          <a:solidFill>
            <a:srgbClr val="EFF5F1"/>
          </a:solidFill>
          <a:ln w="12700">
            <a:solidFill>
              <a:srgbClr val="DCE7E1"/>
            </a:solidFill>
            <a:prstDash val="solid"/>
          </a:ln>
        </p:spPr>
        <p:txBody>
          <a:bodyPr/>
          <a:lstStyle/>
          <a:p>
            <a:endParaRPr lang="en-US"/>
          </a:p>
        </p:txBody>
      </p:sp>
      <p:sp>
        <p:nvSpPr>
          <p:cNvPr id="23" name="Shape 21"/>
          <p:cNvSpPr/>
          <p:nvPr/>
        </p:nvSpPr>
        <p:spPr>
          <a:xfrm>
            <a:off x="6409944" y="3493008"/>
            <a:ext cx="109728" cy="109728"/>
          </a:xfrm>
          <a:prstGeom prst="ellipse">
            <a:avLst/>
          </a:prstGeom>
          <a:solidFill>
            <a:srgbClr val="B5623C"/>
          </a:solidFill>
          <a:ln w="12700">
            <a:solidFill>
              <a:srgbClr val="333333"/>
            </a:solidFill>
            <a:prstDash val="solid"/>
          </a:ln>
        </p:spPr>
        <p:txBody>
          <a:bodyPr/>
          <a:lstStyle/>
          <a:p>
            <a:endParaRPr lang="en-US"/>
          </a:p>
        </p:txBody>
      </p:sp>
      <p:sp>
        <p:nvSpPr>
          <p:cNvPr id="24" name="Text 22"/>
          <p:cNvSpPr txBox="1"/>
          <p:nvPr/>
        </p:nvSpPr>
        <p:spPr>
          <a:xfrm>
            <a:off x="6611112" y="336499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Which is why the release mattered</a:t>
            </a:r>
            <a:endParaRPr lang="en-US" sz="1500" dirty="0"/>
          </a:p>
        </p:txBody>
      </p:sp>
      <p:sp>
        <p:nvSpPr>
          <p:cNvPr id="25" name="Text 23"/>
          <p:cNvSpPr txBox="1"/>
          <p:nvPr/>
        </p:nvSpPr>
        <p:spPr>
          <a:xfrm>
            <a:off x="6446520" y="3803904"/>
            <a:ext cx="4928616" cy="8138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authors released code and checkpoints in fairseq. Almost all subsequent use of wav2vec 2.0 — including every speech-emotion paper we will see later — starts from those weights rather than repeating the pre-training.</a:t>
            </a:r>
            <a:endParaRPr lang="en-US" sz="1280" dirty="0"/>
          </a:p>
        </p:txBody>
      </p:sp>
      <p:sp>
        <p:nvSpPr>
          <p:cNvPr id="26" name="Shape 24"/>
          <p:cNvSpPr/>
          <p:nvPr/>
        </p:nvSpPr>
        <p:spPr>
          <a:xfrm>
            <a:off x="566928" y="4992624"/>
            <a:ext cx="11064240" cy="1060704"/>
          </a:xfrm>
          <a:prstGeom prst="roundRect">
            <a:avLst>
              <a:gd name="adj" fmla="val 5172"/>
            </a:avLst>
          </a:prstGeom>
          <a:solidFill>
            <a:srgbClr val="13302A"/>
          </a:solidFill>
          <a:ln w="12700">
            <a:solidFill>
              <a:srgbClr val="13302A"/>
            </a:solidFill>
            <a:prstDash val="solid"/>
          </a:ln>
        </p:spPr>
        <p:txBody>
          <a:bodyPr/>
          <a:lstStyle/>
          <a:p>
            <a:endParaRPr lang="en-US"/>
          </a:p>
        </p:txBody>
      </p:sp>
      <p:sp>
        <p:nvSpPr>
          <p:cNvPr id="27" name="Text 25"/>
          <p:cNvSpPr txBox="1"/>
          <p:nvPr/>
        </p:nvSpPr>
        <p:spPr>
          <a:xfrm>
            <a:off x="822960" y="5212080"/>
            <a:ext cx="10552176" cy="64008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Worth sitting with: a paper whose stated motivation is making speech technology available for under-resourced languages requires a hundred and twenty-eight datacentre GPUs to produce. The democratising effect is real, but it runs through model release, not through method accessibility.</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Part I in five sentences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Before the break</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24</a:t>
            </a:r>
            <a:endParaRPr lang="en-US" sz="900" dirty="0"/>
          </a:p>
        </p:txBody>
      </p:sp>
      <p:sp>
        <p:nvSpPr>
          <p:cNvPr id="10" name="Shape 8"/>
          <p:cNvSpPr/>
          <p:nvPr/>
        </p:nvSpPr>
        <p:spPr>
          <a:xfrm>
            <a:off x="566928" y="1554480"/>
            <a:ext cx="11064240" cy="786384"/>
          </a:xfrm>
          <a:prstGeom prst="roundRect">
            <a:avLst>
              <a:gd name="adj" fmla="val 5814"/>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804672" y="1783080"/>
            <a:ext cx="329184" cy="329184"/>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804672" y="18105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1</a:t>
            </a:r>
            <a:endParaRPr lang="en-US" sz="1250" dirty="0"/>
          </a:p>
        </p:txBody>
      </p:sp>
      <p:sp>
        <p:nvSpPr>
          <p:cNvPr id="13" name="Text 11"/>
          <p:cNvSpPr txBox="1"/>
          <p:nvPr/>
        </p:nvSpPr>
        <p:spPr>
          <a:xfrm>
            <a:off x="1298448" y="1682496"/>
            <a:ext cx="10058400" cy="548640"/>
          </a:xfrm>
          <a:prstGeom prst="rect">
            <a:avLst/>
          </a:prstGeom>
          <a:noFill/>
          <a:ln/>
        </p:spPr>
        <p:txBody>
          <a:bodyPr wrap="square" lIns="0" tIns="0" rIns="0" bIns="0" rtlCol="0" anchor="ctr"/>
          <a:lstStyle/>
          <a:p>
            <a:pPr marL="0" indent="0">
              <a:buNone/>
            </a:pPr>
            <a:r>
              <a:rPr lang="en-US" sz="1300" dirty="0">
                <a:solidFill>
                  <a:srgbClr val="2C3B36"/>
                </a:solidFill>
                <a:latin typeface="Calibri" pitchFamily="34" charset="0"/>
                <a:ea typeface="Calibri" pitchFamily="34" charset="-122"/>
                <a:cs typeface="Calibri" pitchFamily="34" charset="-120"/>
              </a:rPr>
              <a:t>A convolutional encoder turns the raw waveform into 20 ms latent frames at 49 Hz, learning its own front end.</a:t>
            </a:r>
            <a:endParaRPr lang="en-US" sz="1300" dirty="0"/>
          </a:p>
        </p:txBody>
      </p:sp>
      <p:sp>
        <p:nvSpPr>
          <p:cNvPr id="14" name="Shape 12"/>
          <p:cNvSpPr/>
          <p:nvPr/>
        </p:nvSpPr>
        <p:spPr>
          <a:xfrm>
            <a:off x="566928" y="2414016"/>
            <a:ext cx="11064240" cy="786384"/>
          </a:xfrm>
          <a:prstGeom prst="roundRect">
            <a:avLst>
              <a:gd name="adj" fmla="val 5814"/>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804672" y="2642616"/>
            <a:ext cx="329184" cy="329184"/>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804672" y="2670048"/>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2</a:t>
            </a:r>
            <a:endParaRPr lang="en-US" sz="1250" dirty="0"/>
          </a:p>
        </p:txBody>
      </p:sp>
      <p:sp>
        <p:nvSpPr>
          <p:cNvPr id="17" name="Text 15"/>
          <p:cNvSpPr txBox="1"/>
          <p:nvPr/>
        </p:nvSpPr>
        <p:spPr>
          <a:xfrm>
            <a:off x="1298448" y="2542032"/>
            <a:ext cx="10058400" cy="548640"/>
          </a:xfrm>
          <a:prstGeom prst="rect">
            <a:avLst/>
          </a:prstGeom>
          <a:noFill/>
          <a:ln/>
        </p:spPr>
        <p:txBody>
          <a:bodyPr wrap="square" lIns="0" tIns="0" rIns="0" bIns="0" rtlCol="0" anchor="ctr"/>
          <a:lstStyle/>
          <a:p>
            <a:pPr marL="0" indent="0">
              <a:buNone/>
            </a:pPr>
            <a:r>
              <a:rPr lang="en-US" sz="1300" dirty="0">
                <a:solidFill>
                  <a:srgbClr val="2C3B36"/>
                </a:solidFill>
                <a:latin typeface="Calibri" pitchFamily="34" charset="0"/>
                <a:ea typeface="Calibri" pitchFamily="34" charset="-122"/>
                <a:cs typeface="Calibri" pitchFamily="34" charset="-120"/>
              </a:rPr>
              <a:t>Roughly half of those frames are masked in contiguous spans averaging 299 ms — about a syllable — and replaced by one learned vector.</a:t>
            </a:r>
            <a:endParaRPr lang="en-US" sz="1300" dirty="0"/>
          </a:p>
        </p:txBody>
      </p:sp>
      <p:sp>
        <p:nvSpPr>
          <p:cNvPr id="18" name="Shape 16"/>
          <p:cNvSpPr/>
          <p:nvPr/>
        </p:nvSpPr>
        <p:spPr>
          <a:xfrm>
            <a:off x="566928" y="3273552"/>
            <a:ext cx="11064240" cy="786384"/>
          </a:xfrm>
          <a:prstGeom prst="roundRect">
            <a:avLst>
              <a:gd name="adj" fmla="val 5814"/>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804672" y="3502152"/>
            <a:ext cx="329184" cy="329184"/>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804672" y="3529584"/>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3</a:t>
            </a:r>
            <a:endParaRPr lang="en-US" sz="1250" dirty="0"/>
          </a:p>
        </p:txBody>
      </p:sp>
      <p:sp>
        <p:nvSpPr>
          <p:cNvPr id="21" name="Text 19"/>
          <p:cNvSpPr txBox="1"/>
          <p:nvPr/>
        </p:nvSpPr>
        <p:spPr>
          <a:xfrm>
            <a:off x="1298448" y="3401568"/>
            <a:ext cx="10058400" cy="548640"/>
          </a:xfrm>
          <a:prstGeom prst="rect">
            <a:avLst/>
          </a:prstGeom>
          <a:noFill/>
          <a:ln/>
        </p:spPr>
        <p:txBody>
          <a:bodyPr wrap="square" lIns="0" tIns="0" rIns="0" bIns="0" rtlCol="0" anchor="ctr"/>
          <a:lstStyle/>
          <a:p>
            <a:pPr marL="0" indent="0">
              <a:buNone/>
            </a:pPr>
            <a:r>
              <a:rPr lang="en-US" sz="1300" dirty="0">
                <a:solidFill>
                  <a:srgbClr val="2C3B36"/>
                </a:solidFill>
                <a:latin typeface="Calibri" pitchFamily="34" charset="0"/>
                <a:ea typeface="Calibri" pitchFamily="34" charset="-122"/>
                <a:cs typeface="Calibri" pitchFamily="34" charset="-120"/>
              </a:rPr>
              <a:t>A Transformer with convolutional relative positional embeddings turns the partially masked sequence into contextualised vectors.</a:t>
            </a:r>
            <a:endParaRPr lang="en-US" sz="1300" dirty="0"/>
          </a:p>
        </p:txBody>
      </p:sp>
      <p:sp>
        <p:nvSpPr>
          <p:cNvPr id="22" name="Shape 20"/>
          <p:cNvSpPr/>
          <p:nvPr/>
        </p:nvSpPr>
        <p:spPr>
          <a:xfrm>
            <a:off x="566928" y="4133088"/>
            <a:ext cx="11064240" cy="786384"/>
          </a:xfrm>
          <a:prstGeom prst="roundRect">
            <a:avLst>
              <a:gd name="adj" fmla="val 5814"/>
            </a:avLst>
          </a:prstGeom>
          <a:solidFill>
            <a:srgbClr val="EFF5F1"/>
          </a:solidFill>
          <a:ln w="12700">
            <a:solidFill>
              <a:srgbClr val="DCE7E1"/>
            </a:solidFill>
            <a:prstDash val="solid"/>
          </a:ln>
        </p:spPr>
        <p:txBody>
          <a:bodyPr/>
          <a:lstStyle/>
          <a:p>
            <a:endParaRPr lang="en-US"/>
          </a:p>
        </p:txBody>
      </p:sp>
      <p:sp>
        <p:nvSpPr>
          <p:cNvPr id="23" name="Shape 21"/>
          <p:cNvSpPr/>
          <p:nvPr/>
        </p:nvSpPr>
        <p:spPr>
          <a:xfrm>
            <a:off x="804672" y="4361688"/>
            <a:ext cx="329184" cy="329184"/>
          </a:xfrm>
          <a:prstGeom prst="ellipse">
            <a:avLst/>
          </a:prstGeom>
          <a:solidFill>
            <a:srgbClr val="2E7D5B"/>
          </a:solidFill>
          <a:ln w="12700">
            <a:solidFill>
              <a:srgbClr val="333333"/>
            </a:solidFill>
            <a:prstDash val="solid"/>
          </a:ln>
        </p:spPr>
        <p:txBody>
          <a:bodyPr/>
          <a:lstStyle/>
          <a:p>
            <a:endParaRPr lang="en-US"/>
          </a:p>
        </p:txBody>
      </p:sp>
      <p:sp>
        <p:nvSpPr>
          <p:cNvPr id="24" name="Text 22"/>
          <p:cNvSpPr txBox="1"/>
          <p:nvPr/>
        </p:nvSpPr>
        <p:spPr>
          <a:xfrm>
            <a:off x="804672" y="4389120"/>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4</a:t>
            </a:r>
            <a:endParaRPr lang="en-US" sz="1250" dirty="0"/>
          </a:p>
        </p:txBody>
      </p:sp>
      <p:sp>
        <p:nvSpPr>
          <p:cNvPr id="25" name="Text 23"/>
          <p:cNvSpPr txBox="1"/>
          <p:nvPr/>
        </p:nvSpPr>
        <p:spPr>
          <a:xfrm>
            <a:off x="1298448" y="4261104"/>
            <a:ext cx="10058400" cy="548640"/>
          </a:xfrm>
          <a:prstGeom prst="rect">
            <a:avLst/>
          </a:prstGeom>
          <a:noFill/>
          <a:ln/>
        </p:spPr>
        <p:txBody>
          <a:bodyPr wrap="square" lIns="0" tIns="0" rIns="0" bIns="0" rtlCol="0" anchor="ctr"/>
          <a:lstStyle/>
          <a:p>
            <a:pPr marL="0" indent="0">
              <a:buNone/>
            </a:pPr>
            <a:r>
              <a:rPr lang="en-US" sz="1300" dirty="0">
                <a:solidFill>
                  <a:srgbClr val="2C3B36"/>
                </a:solidFill>
                <a:latin typeface="Calibri" pitchFamily="34" charset="0"/>
                <a:ea typeface="Calibri" pitchFamily="34" charset="-122"/>
                <a:cs typeface="Calibri" pitchFamily="34" charset="-120"/>
              </a:rPr>
              <a:t>In parallel, the unmasked latents are quantised into a jointly learned inventory of two codebooks with 320 entries each.</a:t>
            </a:r>
            <a:endParaRPr lang="en-US" sz="1300" dirty="0"/>
          </a:p>
        </p:txBody>
      </p:sp>
      <p:sp>
        <p:nvSpPr>
          <p:cNvPr id="26" name="Shape 24"/>
          <p:cNvSpPr/>
          <p:nvPr/>
        </p:nvSpPr>
        <p:spPr>
          <a:xfrm>
            <a:off x="566928" y="4992624"/>
            <a:ext cx="11064240" cy="786384"/>
          </a:xfrm>
          <a:prstGeom prst="roundRect">
            <a:avLst>
              <a:gd name="adj" fmla="val 5814"/>
            </a:avLst>
          </a:prstGeom>
          <a:solidFill>
            <a:srgbClr val="EFF5F1"/>
          </a:solidFill>
          <a:ln w="12700">
            <a:solidFill>
              <a:srgbClr val="DCE7E1"/>
            </a:solidFill>
            <a:prstDash val="solid"/>
          </a:ln>
        </p:spPr>
        <p:txBody>
          <a:bodyPr/>
          <a:lstStyle/>
          <a:p>
            <a:endParaRPr lang="en-US"/>
          </a:p>
        </p:txBody>
      </p:sp>
      <p:sp>
        <p:nvSpPr>
          <p:cNvPr id="27" name="Shape 25"/>
          <p:cNvSpPr/>
          <p:nvPr/>
        </p:nvSpPr>
        <p:spPr>
          <a:xfrm>
            <a:off x="804672" y="5221224"/>
            <a:ext cx="329184" cy="329184"/>
          </a:xfrm>
          <a:prstGeom prst="ellipse">
            <a:avLst/>
          </a:prstGeom>
          <a:solidFill>
            <a:srgbClr val="2E7D5B"/>
          </a:solidFill>
          <a:ln w="12700">
            <a:solidFill>
              <a:srgbClr val="333333"/>
            </a:solidFill>
            <a:prstDash val="solid"/>
          </a:ln>
        </p:spPr>
        <p:txBody>
          <a:bodyPr/>
          <a:lstStyle/>
          <a:p>
            <a:endParaRPr lang="en-US"/>
          </a:p>
        </p:txBody>
      </p:sp>
      <p:sp>
        <p:nvSpPr>
          <p:cNvPr id="28" name="Text 26"/>
          <p:cNvSpPr txBox="1"/>
          <p:nvPr/>
        </p:nvSpPr>
        <p:spPr>
          <a:xfrm>
            <a:off x="804672" y="5248656"/>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5</a:t>
            </a:r>
            <a:endParaRPr lang="en-US" sz="1250" dirty="0"/>
          </a:p>
        </p:txBody>
      </p:sp>
      <p:sp>
        <p:nvSpPr>
          <p:cNvPr id="29" name="Text 27"/>
          <p:cNvSpPr txBox="1"/>
          <p:nvPr/>
        </p:nvSpPr>
        <p:spPr>
          <a:xfrm>
            <a:off x="1298448" y="5120640"/>
            <a:ext cx="10058400" cy="548640"/>
          </a:xfrm>
          <a:prstGeom prst="rect">
            <a:avLst/>
          </a:prstGeom>
          <a:noFill/>
          <a:ln/>
        </p:spPr>
        <p:txBody>
          <a:bodyPr wrap="square" lIns="0" tIns="0" rIns="0" bIns="0" rtlCol="0" anchor="ctr"/>
          <a:lstStyle/>
          <a:p>
            <a:pPr marL="0" indent="0">
              <a:buNone/>
            </a:pPr>
            <a:r>
              <a:rPr lang="en-US" sz="1300" dirty="0">
                <a:solidFill>
                  <a:srgbClr val="2C3B36"/>
                </a:solidFill>
                <a:latin typeface="Calibri" pitchFamily="34" charset="0"/>
                <a:ea typeface="Calibri" pitchFamily="34" charset="-122"/>
                <a:cs typeface="Calibri" pitchFamily="34" charset="-120"/>
              </a:rPr>
              <a:t>The model is trained to pick out the correct quantised latent for each masked position from 100 same-utterance distractors, with a diversity term keeping the codebook in use.</a:t>
            </a:r>
            <a:endParaRPr lang="en-US" sz="1300" dirty="0"/>
          </a:p>
        </p:txBody>
      </p:sp>
      <p:sp>
        <p:nvSpPr>
          <p:cNvPr id="30" name="Shape 28"/>
          <p:cNvSpPr/>
          <p:nvPr/>
        </p:nvSpPr>
        <p:spPr>
          <a:xfrm>
            <a:off x="566928" y="5815584"/>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4</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Experimental setup</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Data, splits, and decoding</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Data</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Unlabelled audio for pre-training, labelled subsets for fine-tuning</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27</a:t>
            </a:r>
            <a:endParaRPr lang="en-US" sz="900" dirty="0"/>
          </a:p>
        </p:txBody>
      </p:sp>
      <p:sp>
        <p:nvSpPr>
          <p:cNvPr id="10" name="Shape 8"/>
          <p:cNvSpPr/>
          <p:nvPr/>
        </p:nvSpPr>
        <p:spPr>
          <a:xfrm>
            <a:off x="566928" y="1554480"/>
            <a:ext cx="5440680" cy="2148840"/>
          </a:xfrm>
          <a:prstGeom prst="roundRect">
            <a:avLst>
              <a:gd name="adj" fmla="val 2553"/>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Unlabelled</a:t>
            </a:r>
            <a:endParaRPr lang="en-US" sz="1500" dirty="0"/>
          </a:p>
        </p:txBody>
      </p:sp>
      <p:sp>
        <p:nvSpPr>
          <p:cNvPr id="13" name="Text 11"/>
          <p:cNvSpPr txBox="1"/>
          <p:nvPr/>
        </p:nvSpPr>
        <p:spPr>
          <a:xfrm>
            <a:off x="822960" y="2157984"/>
            <a:ext cx="4928616" cy="13624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LS-960 — the 960 hours of Librispeech audio, with transcriptions discarded.</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LV-60k — audio from LibriVox, which after the Libri-light preprocessing yields 53.2 thousand hours.</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Both are read audiobook speech. That homogeneity matters and we return to it under limitations.</a:t>
            </a:r>
            <a:endParaRPr lang="en-US" sz="1280" dirty="0"/>
          </a:p>
        </p:txBody>
      </p:sp>
      <p:sp>
        <p:nvSpPr>
          <p:cNvPr id="14" name="Shape 12"/>
          <p:cNvSpPr/>
          <p:nvPr/>
        </p:nvSpPr>
        <p:spPr>
          <a:xfrm>
            <a:off x="6190488" y="1554480"/>
            <a:ext cx="5440680" cy="2148840"/>
          </a:xfrm>
          <a:prstGeom prst="roundRect">
            <a:avLst>
              <a:gd name="adj" fmla="val 2553"/>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409944"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Labelled fine-tuning settings</a:t>
            </a:r>
            <a:endParaRPr lang="en-US" sz="1500" dirty="0"/>
          </a:p>
        </p:txBody>
      </p:sp>
      <p:sp>
        <p:nvSpPr>
          <p:cNvPr id="17" name="Text 15"/>
          <p:cNvSpPr txBox="1"/>
          <p:nvPr/>
        </p:nvSpPr>
        <p:spPr>
          <a:xfrm>
            <a:off x="6446520" y="2157984"/>
            <a:ext cx="4928616" cy="136245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Five settings, spanning three orders of magnitude:</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960 hours (all of Librispeech) · 100 hours (train-clean-100) · 10 hours · 1 hour · 10 minutes.</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last three are the Libri-light limited-resource subsets, evaluated under the Libri-light protocol.</a:t>
            </a:r>
            <a:endParaRPr lang="en-US" sz="1280" dirty="0"/>
          </a:p>
        </p:txBody>
      </p:sp>
      <p:sp>
        <p:nvSpPr>
          <p:cNvPr id="18" name="Shape 16"/>
          <p:cNvSpPr/>
          <p:nvPr/>
        </p:nvSpPr>
        <p:spPr>
          <a:xfrm>
            <a:off x="566928" y="3895344"/>
            <a:ext cx="5440680" cy="1170432"/>
          </a:xfrm>
          <a:prstGeom prst="roundRect">
            <a:avLst>
              <a:gd name="adj" fmla="val 4688"/>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786384" y="4187952"/>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987552" y="4059936"/>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Evaluation</a:t>
            </a:r>
            <a:endParaRPr lang="en-US" sz="1500" dirty="0"/>
          </a:p>
        </p:txBody>
      </p:sp>
      <p:sp>
        <p:nvSpPr>
          <p:cNvPr id="21" name="Text 19"/>
          <p:cNvSpPr txBox="1"/>
          <p:nvPr/>
        </p:nvSpPr>
        <p:spPr>
          <a:xfrm>
            <a:off x="822960" y="4498848"/>
            <a:ext cx="4928616" cy="384048"/>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standard Librispeech dev-clean, dev-other, test-clean and test-other sets throughout, so numbers are comparable with the wider ASR literature.</a:t>
            </a:r>
            <a:endParaRPr lang="en-US" sz="1280" dirty="0"/>
          </a:p>
        </p:txBody>
      </p:sp>
      <p:sp>
        <p:nvSpPr>
          <p:cNvPr id="22" name="Shape 20"/>
          <p:cNvSpPr/>
          <p:nvPr/>
        </p:nvSpPr>
        <p:spPr>
          <a:xfrm>
            <a:off x="6190488" y="3895344"/>
            <a:ext cx="5440680" cy="1170432"/>
          </a:xfrm>
          <a:prstGeom prst="roundRect">
            <a:avLst>
              <a:gd name="adj" fmla="val 4688"/>
            </a:avLst>
          </a:prstGeom>
          <a:solidFill>
            <a:srgbClr val="EFF5F1"/>
          </a:solidFill>
          <a:ln w="12700">
            <a:solidFill>
              <a:srgbClr val="DCE7E1"/>
            </a:solidFill>
            <a:prstDash val="solid"/>
          </a:ln>
        </p:spPr>
        <p:txBody>
          <a:bodyPr/>
          <a:lstStyle/>
          <a:p>
            <a:endParaRPr lang="en-US"/>
          </a:p>
        </p:txBody>
      </p:sp>
      <p:sp>
        <p:nvSpPr>
          <p:cNvPr id="23" name="Shape 21"/>
          <p:cNvSpPr/>
          <p:nvPr/>
        </p:nvSpPr>
        <p:spPr>
          <a:xfrm>
            <a:off x="6409944" y="4187952"/>
            <a:ext cx="109728" cy="109728"/>
          </a:xfrm>
          <a:prstGeom prst="ellipse">
            <a:avLst/>
          </a:prstGeom>
          <a:solidFill>
            <a:srgbClr val="B5623C"/>
          </a:solidFill>
          <a:ln w="12700">
            <a:solidFill>
              <a:srgbClr val="333333"/>
            </a:solidFill>
            <a:prstDash val="solid"/>
          </a:ln>
        </p:spPr>
        <p:txBody>
          <a:bodyPr/>
          <a:lstStyle/>
          <a:p>
            <a:endParaRPr lang="en-US"/>
          </a:p>
        </p:txBody>
      </p:sp>
      <p:sp>
        <p:nvSpPr>
          <p:cNvPr id="24" name="Text 22"/>
          <p:cNvSpPr txBox="1"/>
          <p:nvPr/>
        </p:nvSpPr>
        <p:spPr>
          <a:xfrm>
            <a:off x="6611112" y="4059936"/>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A second task</a:t>
            </a:r>
            <a:endParaRPr lang="en-US" sz="1500" dirty="0"/>
          </a:p>
        </p:txBody>
      </p:sp>
      <p:sp>
        <p:nvSpPr>
          <p:cNvPr id="25" name="Text 23"/>
          <p:cNvSpPr txBox="1"/>
          <p:nvPr/>
        </p:nvSpPr>
        <p:spPr>
          <a:xfrm>
            <a:off x="6446520" y="4498848"/>
            <a:ext cx="4928616" cy="384048"/>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TIMIT phoneme recognition — five hours of audio with detailed phoneme labels, standard splits, phones collapsed to the usual 39 classes.</a:t>
            </a:r>
            <a:endParaRPr lang="en-US" sz="1280" dirty="0"/>
          </a:p>
        </p:txBody>
      </p:sp>
      <p:sp>
        <p:nvSpPr>
          <p:cNvPr id="26" name="Shape 24"/>
          <p:cNvSpPr/>
          <p:nvPr/>
        </p:nvSpPr>
        <p:spPr>
          <a:xfrm>
            <a:off x="566928" y="5266944"/>
            <a:ext cx="11064240" cy="786384"/>
          </a:xfrm>
          <a:prstGeom prst="roundRect">
            <a:avLst>
              <a:gd name="adj" fmla="val 6977"/>
            </a:avLst>
          </a:prstGeom>
          <a:solidFill>
            <a:srgbClr val="13302A"/>
          </a:solidFill>
          <a:ln w="12700">
            <a:solidFill>
              <a:srgbClr val="13302A"/>
            </a:solidFill>
            <a:prstDash val="solid"/>
          </a:ln>
        </p:spPr>
        <p:txBody>
          <a:bodyPr/>
          <a:lstStyle/>
          <a:p>
            <a:endParaRPr lang="en-US"/>
          </a:p>
        </p:txBody>
      </p:sp>
      <p:sp>
        <p:nvSpPr>
          <p:cNvPr id="27" name="Text 25"/>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Note what a well-designed benchmark looks like: the same pre-trained model is evaluated across five labelled-data regimes with published protocols. Compare this with the split-invention problem we found in both IEMOCAP and CREMA-D.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Language models and decoding</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The part of the pipeline that quietly moves the numbers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28</a:t>
            </a:r>
            <a:endParaRPr lang="en-US" sz="900" dirty="0"/>
          </a:p>
        </p:txBody>
      </p:sp>
      <p:sp>
        <p:nvSpPr>
          <p:cNvPr id="10" name="Shape 8"/>
          <p:cNvSpPr/>
          <p:nvPr/>
        </p:nvSpPr>
        <p:spPr>
          <a:xfrm>
            <a:off x="566928" y="1554480"/>
            <a:ext cx="3584448" cy="2148840"/>
          </a:xfrm>
          <a:prstGeom prst="roundRect">
            <a:avLst>
              <a:gd name="adj" fmla="val 2553"/>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Two language models</a:t>
            </a:r>
            <a:endParaRPr lang="en-US" sz="1500" dirty="0"/>
          </a:p>
        </p:txBody>
      </p:sp>
      <p:sp>
        <p:nvSpPr>
          <p:cNvPr id="13" name="Text 11"/>
          <p:cNvSpPr txBox="1"/>
          <p:nvPr/>
        </p:nvSpPr>
        <p:spPr>
          <a:xfrm>
            <a:off x="822960" y="2157984"/>
            <a:ext cx="3072384" cy="136245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A 4-gram model, and a Transformer language model with 20 blocks, model dimension 1,280, inner dimension 6,144 and 16 attention heads. Both are trained on the Librispeech language-model corpus.</a:t>
            </a:r>
            <a:endParaRPr lang="en-US" sz="1260" dirty="0"/>
          </a:p>
        </p:txBody>
      </p:sp>
      <p:sp>
        <p:nvSpPr>
          <p:cNvPr id="14" name="Shape 12"/>
          <p:cNvSpPr/>
          <p:nvPr/>
        </p:nvSpPr>
        <p:spPr>
          <a:xfrm>
            <a:off x="4279392" y="1554480"/>
            <a:ext cx="3584448" cy="2148840"/>
          </a:xfrm>
          <a:prstGeom prst="roundRect">
            <a:avLst>
              <a:gd name="adj" fmla="val 2553"/>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4498848"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4700016" y="1719072"/>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Tuned, not fixed</a:t>
            </a:r>
            <a:endParaRPr lang="en-US" sz="1500" dirty="0"/>
          </a:p>
        </p:txBody>
      </p:sp>
      <p:sp>
        <p:nvSpPr>
          <p:cNvPr id="17" name="Text 15"/>
          <p:cNvSpPr txBox="1"/>
          <p:nvPr/>
        </p:nvSpPr>
        <p:spPr>
          <a:xfrm>
            <a:off x="4535424" y="2157984"/>
            <a:ext cx="3072384" cy="136245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The language-model weight and the word insertion penalty are tuned by Bayesian optimisation over 128 trials, selected on dev-other. Test decoding uses beam 1,500 for the n-gram model and beam 500 for the Transformer.</a:t>
            </a:r>
            <a:endParaRPr lang="en-US" sz="1260" dirty="0"/>
          </a:p>
        </p:txBody>
      </p:sp>
      <p:sp>
        <p:nvSpPr>
          <p:cNvPr id="18" name="Shape 16"/>
          <p:cNvSpPr/>
          <p:nvPr/>
        </p:nvSpPr>
        <p:spPr>
          <a:xfrm>
            <a:off x="7991856" y="1554480"/>
            <a:ext cx="3639312" cy="2148840"/>
          </a:xfrm>
          <a:prstGeom prst="roundRect">
            <a:avLst>
              <a:gd name="adj" fmla="val 2553"/>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8211312"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8412480" y="1719072"/>
            <a:ext cx="2999232"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A vocabulary mismatch</a:t>
            </a:r>
            <a:endParaRPr lang="en-US" sz="1500" dirty="0"/>
          </a:p>
        </p:txBody>
      </p:sp>
      <p:sp>
        <p:nvSpPr>
          <p:cNvPr id="21" name="Text 19"/>
          <p:cNvSpPr txBox="1"/>
          <p:nvPr/>
        </p:nvSpPr>
        <p:spPr>
          <a:xfrm>
            <a:off x="8247888" y="2157984"/>
            <a:ext cx="3127248" cy="136245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The acoustic model outputs characters; the language model operates over words. The authors flag this themselves as delaying feedback from the language model and likely hurting results — most contemporaneous work used word pieces for both.</a:t>
            </a:r>
            <a:endParaRPr lang="en-US" sz="1260" dirty="0"/>
          </a:p>
        </p:txBody>
      </p:sp>
      <p:sp>
        <p:nvSpPr>
          <p:cNvPr id="22" name="Shape 20"/>
          <p:cNvSpPr/>
          <p:nvPr/>
        </p:nvSpPr>
        <p:spPr>
          <a:xfrm>
            <a:off x="566928" y="3913632"/>
            <a:ext cx="11064240" cy="2139696"/>
          </a:xfrm>
          <a:prstGeom prst="roundRect">
            <a:avLst>
              <a:gd name="adj" fmla="val 2564"/>
            </a:avLst>
          </a:prstGeom>
          <a:solidFill>
            <a:srgbClr val="13302A"/>
          </a:solidFill>
          <a:ln w="12700">
            <a:solidFill>
              <a:srgbClr val="13302A"/>
            </a:solidFill>
            <a:prstDash val="solid"/>
          </a:ln>
        </p:spPr>
        <p:txBody>
          <a:bodyPr/>
          <a:lstStyle/>
          <a:p>
            <a:endParaRPr lang="en-US"/>
          </a:p>
        </p:txBody>
      </p:sp>
      <p:sp>
        <p:nvSpPr>
          <p:cNvPr id="23" name="Shape 21"/>
          <p:cNvSpPr/>
          <p:nvPr/>
        </p:nvSpPr>
        <p:spPr>
          <a:xfrm>
            <a:off x="786384" y="4206240"/>
            <a:ext cx="109728" cy="109728"/>
          </a:xfrm>
          <a:prstGeom prst="ellipse">
            <a:avLst/>
          </a:prstGeom>
          <a:solidFill>
            <a:srgbClr val="B7D24A"/>
          </a:solidFill>
          <a:ln w="12700">
            <a:solidFill>
              <a:srgbClr val="333333"/>
            </a:solidFill>
            <a:prstDash val="solid"/>
          </a:ln>
        </p:spPr>
        <p:txBody>
          <a:bodyPr/>
          <a:lstStyle/>
          <a:p>
            <a:endParaRPr lang="en-US"/>
          </a:p>
        </p:txBody>
      </p:sp>
      <p:sp>
        <p:nvSpPr>
          <p:cNvPr id="24" name="Text 22"/>
          <p:cNvSpPr txBox="1"/>
          <p:nvPr/>
        </p:nvSpPr>
        <p:spPr>
          <a:xfrm>
            <a:off x="987552" y="407822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to keep this in view while reading the results tables</a:t>
            </a:r>
            <a:endParaRPr lang="en-US" sz="1500" dirty="0"/>
          </a:p>
        </p:txBody>
      </p:sp>
      <p:sp>
        <p:nvSpPr>
          <p:cNvPr id="25" name="Text 23"/>
          <p:cNvSpPr txBox="1"/>
          <p:nvPr/>
        </p:nvSpPr>
        <p:spPr>
          <a:xfrm>
            <a:off x="822960" y="4517136"/>
            <a:ext cx="10552176" cy="1353312"/>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Most headline numbers use the Transformer language model. A large external language model can recover a great deal of accuracy from a weak acoustic model, so the reported word error rates are a property of the whole pipeline, not of the learned representation alone.</a:t>
            </a:r>
            <a:endParaRPr lang="en-US" sz="1300" dirty="0"/>
          </a:p>
          <a:p>
            <a:pPr marL="0" indent="0">
              <a:lnSpc>
                <a:spcPct val="108000"/>
              </a:lnSpc>
              <a:buNone/>
            </a:pPr>
            <a:endParaRPr lang="en-US" sz="1300" dirty="0"/>
          </a:p>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The paper is upfront about this and reports results with no language model and with the n-gram model in an appendix. When you compare across papers, check which decoding configuration produced each number — the same model can differ by several points.</a:t>
            </a:r>
            <a:endParaRPr lang="en-US" sz="1300" dirty="0"/>
          </a:p>
          <a:p>
            <a:pPr marL="0" indent="0">
              <a:lnSpc>
                <a:spcPct val="108000"/>
              </a:lnSpc>
              <a:buNone/>
            </a:pPr>
            <a:endParaRPr lang="en-US" sz="1300" dirty="0"/>
          </a:p>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This is the same lesson as the split problem in the corpus seminars, in a different costume: the reported number depends on choices that are not the contribution being claimed.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5</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Low-resource, high-resource, and phoneme recognition</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29</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Low-resource results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LARGE pre-trained on LV-60k, decoded with the Transformer language model</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30</a:t>
            </a:r>
            <a:endParaRPr lang="en-US" sz="900" dirty="0"/>
          </a:p>
        </p:txBody>
      </p:sp>
      <p:graphicFrame>
        <p:nvGraphicFramePr>
          <p:cNvPr id="10"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589520" y="1700784"/>
            <a:ext cx="4041648" cy="32918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C3B36"/>
                </a:solidFill>
                <a:latin typeface="Calibri" pitchFamily="34" charset="0"/>
                <a:ea typeface="Calibri" pitchFamily="34" charset="-122"/>
                <a:cs typeface="Calibri" pitchFamily="34" charset="-120"/>
              </a:rPr>
              <a:t>Ten minutes to one hour is the steepest jump — a 40% relative reduction on test-clean for six times the data.</a:t>
            </a:r>
            <a:endParaRPr lang="en-US" sz="1250" dirty="0"/>
          </a:p>
          <a:p>
            <a:pPr marL="342900" indent="-342900">
              <a:spcAft>
                <a:spcPts val="800"/>
              </a:spcAft>
              <a:buSzPct val="100000"/>
              <a:buChar char="●"/>
            </a:pPr>
            <a:r>
              <a:rPr lang="en-US" sz="1250" dirty="0">
                <a:solidFill>
                  <a:srgbClr val="2C3B36"/>
                </a:solidFill>
                <a:latin typeface="Calibri" pitchFamily="34" charset="0"/>
                <a:ea typeface="Calibri" pitchFamily="34" charset="-122"/>
                <a:cs typeface="Calibri" pitchFamily="34" charset="-120"/>
              </a:rPr>
              <a:t>From one hour to a hundred, a hundredfold increase in labels, buys less than three points on test-other.</a:t>
            </a:r>
            <a:endParaRPr lang="en-US" sz="1250" dirty="0"/>
          </a:p>
          <a:p>
            <a:pPr marL="342900" indent="-342900">
              <a:spcAft>
                <a:spcPts val="800"/>
              </a:spcAft>
              <a:buSzPct val="100000"/>
              <a:buChar char="●"/>
            </a:pPr>
            <a:r>
              <a:rPr lang="en-US" sz="1250" dirty="0">
                <a:solidFill>
                  <a:srgbClr val="2C3B36"/>
                </a:solidFill>
                <a:latin typeface="Calibri" pitchFamily="34" charset="0"/>
                <a:ea typeface="Calibri" pitchFamily="34" charset="-122"/>
                <a:cs typeface="Calibri" pitchFamily="34" charset="-120"/>
              </a:rPr>
              <a:t>The curve is flattening long before the labelled data runs out. That shape is the paper's real argument.</a:t>
            </a:r>
            <a:endParaRPr lang="en-US" sz="1250" dirty="0"/>
          </a:p>
          <a:p>
            <a:pPr marL="342900" indent="-342900">
              <a:spcAft>
                <a:spcPts val="800"/>
              </a:spcAft>
              <a:buSzPct val="100000"/>
              <a:buChar char="●"/>
            </a:pPr>
            <a:r>
              <a:rPr lang="en-US" sz="1250" dirty="0">
                <a:solidFill>
                  <a:srgbClr val="2C3B36"/>
                </a:solidFill>
                <a:latin typeface="Calibri" pitchFamily="34" charset="0"/>
                <a:ea typeface="Calibri" pitchFamily="34" charset="-122"/>
                <a:cs typeface="Calibri" pitchFamily="34" charset="-120"/>
              </a:rPr>
              <a:t>test-other is consistently roughly double test-clean. The noisy condition remains much harder at every data scale.</a:t>
            </a:r>
            <a:endParaRPr lang="en-US" sz="1250" dirty="0"/>
          </a:p>
        </p:txBody>
      </p:sp>
      <p:sp>
        <p:nvSpPr>
          <p:cNvPr id="12" name="Shape 9"/>
          <p:cNvSpPr/>
          <p:nvPr/>
        </p:nvSpPr>
        <p:spPr>
          <a:xfrm>
            <a:off x="566928" y="5266944"/>
            <a:ext cx="11064240" cy="786384"/>
          </a:xfrm>
          <a:prstGeom prst="roundRect">
            <a:avLst>
              <a:gd name="adj" fmla="val 6977"/>
            </a:avLst>
          </a:prstGeom>
          <a:solidFill>
            <a:srgbClr val="13302A"/>
          </a:solidFill>
          <a:ln w="12700">
            <a:solidFill>
              <a:srgbClr val="13302A"/>
            </a:solidFill>
            <a:prstDash val="solid"/>
          </a:ln>
        </p:spPr>
        <p:txBody>
          <a:bodyPr/>
          <a:lstStyle/>
          <a:p>
            <a:endParaRPr lang="en-US"/>
          </a:p>
        </p:txBody>
      </p:sp>
      <p:sp>
        <p:nvSpPr>
          <p:cNvPr id="13" name="Text 10"/>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Read the shape, not the individual bars: most of what supervised ASR was buying with thousands of transcribed hours can be obtained from unlabelled audio instead.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ten-minute result, unpacked</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What forty-eight recordings actually means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31</a:t>
            </a:r>
            <a:endParaRPr lang="en-US" sz="900" dirty="0"/>
          </a:p>
        </p:txBody>
      </p:sp>
      <p:sp>
        <p:nvSpPr>
          <p:cNvPr id="10" name="Text 8"/>
          <p:cNvSpPr txBox="1"/>
          <p:nvPr/>
        </p:nvSpPr>
        <p:spPr>
          <a:xfrm>
            <a:off x="566928" y="1600200"/>
            <a:ext cx="3584448"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48</a:t>
            </a:r>
            <a:endParaRPr lang="en-US" sz="3600" dirty="0"/>
          </a:p>
        </p:txBody>
      </p:sp>
      <p:sp>
        <p:nvSpPr>
          <p:cNvPr id="11" name="Text 9"/>
          <p:cNvSpPr txBox="1"/>
          <p:nvPr/>
        </p:nvSpPr>
        <p:spPr>
          <a:xfrm>
            <a:off x="566928" y="2295144"/>
            <a:ext cx="3584448"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recordings in the entire</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labelled training set</a:t>
            </a:r>
            <a:endParaRPr lang="en-US" sz="1150" dirty="0"/>
          </a:p>
        </p:txBody>
      </p:sp>
      <p:sp>
        <p:nvSpPr>
          <p:cNvPr id="12" name="Text 10"/>
          <p:cNvSpPr txBox="1"/>
          <p:nvPr/>
        </p:nvSpPr>
        <p:spPr>
          <a:xfrm>
            <a:off x="4279392" y="1600200"/>
            <a:ext cx="3584448" cy="694944"/>
          </a:xfrm>
          <a:prstGeom prst="rect">
            <a:avLst/>
          </a:prstGeom>
          <a:noFill/>
          <a:ln/>
        </p:spPr>
        <p:txBody>
          <a:bodyPr wrap="square" lIns="0" tIns="0" rIns="0" bIns="0" rtlCol="0" anchor="ctr"/>
          <a:lstStyle/>
          <a:p>
            <a:pPr marL="0" indent="0" algn="ctr">
              <a:buNone/>
            </a:pPr>
            <a:r>
              <a:rPr lang="en-US" sz="3600" b="1" dirty="0">
                <a:solidFill>
                  <a:srgbClr val="B5623C"/>
                </a:solidFill>
                <a:latin typeface="Cambria" pitchFamily="34" charset="0"/>
                <a:ea typeface="Cambria" pitchFamily="34" charset="-122"/>
                <a:cs typeface="Cambria" pitchFamily="34" charset="-120"/>
              </a:rPr>
              <a:t>12.5 s</a:t>
            </a:r>
            <a:endParaRPr lang="en-US" sz="3600" dirty="0"/>
          </a:p>
        </p:txBody>
      </p:sp>
      <p:sp>
        <p:nvSpPr>
          <p:cNvPr id="13" name="Text 11"/>
          <p:cNvSpPr txBox="1"/>
          <p:nvPr/>
        </p:nvSpPr>
        <p:spPr>
          <a:xfrm>
            <a:off x="4279392" y="2295144"/>
            <a:ext cx="3584448"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average length of each</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recording</a:t>
            </a:r>
            <a:endParaRPr lang="en-US" sz="1150" dirty="0"/>
          </a:p>
        </p:txBody>
      </p:sp>
      <p:sp>
        <p:nvSpPr>
          <p:cNvPr id="14" name="Text 12"/>
          <p:cNvSpPr txBox="1"/>
          <p:nvPr/>
        </p:nvSpPr>
        <p:spPr>
          <a:xfrm>
            <a:off x="7991856" y="1600200"/>
            <a:ext cx="3639312" cy="694944"/>
          </a:xfrm>
          <a:prstGeom prst="rect">
            <a:avLst/>
          </a:prstGeom>
          <a:noFill/>
          <a:ln/>
        </p:spPr>
        <p:txBody>
          <a:bodyPr wrap="square" lIns="0" tIns="0" rIns="0" bIns="0" rtlCol="0" anchor="ctr"/>
          <a:lstStyle/>
          <a:p>
            <a:pPr marL="0" indent="0" algn="ctr">
              <a:buNone/>
            </a:pPr>
            <a:r>
              <a:rPr lang="en-US" sz="3600" b="1" dirty="0">
                <a:solidFill>
                  <a:srgbClr val="2E7D5B"/>
                </a:solidFill>
                <a:latin typeface="Cambria" pitchFamily="34" charset="0"/>
                <a:ea typeface="Cambria" pitchFamily="34" charset="-122"/>
                <a:cs typeface="Cambria" pitchFamily="34" charset="-120"/>
              </a:rPr>
              <a:t>4.8 / 8.2</a:t>
            </a:r>
            <a:endParaRPr lang="en-US" sz="3600" dirty="0"/>
          </a:p>
        </p:txBody>
      </p:sp>
      <p:sp>
        <p:nvSpPr>
          <p:cNvPr id="15" name="Text 13"/>
          <p:cNvSpPr txBox="1"/>
          <p:nvPr/>
        </p:nvSpPr>
        <p:spPr>
          <a:xfrm>
            <a:off x="7991856" y="2295144"/>
            <a:ext cx="3639312" cy="566928"/>
          </a:xfrm>
          <a:prstGeom prst="rect">
            <a:avLst/>
          </a:prstGeom>
          <a:noFill/>
          <a:ln/>
        </p:spPr>
        <p:txBody>
          <a:bodyPr wrap="square" lIns="0" tIns="0" rIns="0" bIns="0" rtlCol="0" anchor="ctr"/>
          <a:lstStyle/>
          <a:p>
            <a:pPr marL="0" indent="0" algn="ctr">
              <a:buNone/>
            </a:pPr>
            <a:r>
              <a:rPr lang="en-US" sz="1150" dirty="0">
                <a:solidFill>
                  <a:srgbClr val="4A6B62"/>
                </a:solidFill>
                <a:latin typeface="Calibri" pitchFamily="34" charset="0"/>
                <a:ea typeface="Calibri" pitchFamily="34" charset="-122"/>
                <a:cs typeface="Calibri" pitchFamily="34" charset="-120"/>
              </a:rPr>
              <a:t>WER on test-clean and</a:t>
            </a:r>
            <a:endParaRPr lang="en-US" sz="1150" dirty="0"/>
          </a:p>
          <a:p>
            <a:pPr marL="0" indent="0" algn="ctr">
              <a:buNone/>
            </a:pPr>
            <a:r>
              <a:rPr lang="en-US" sz="1150" dirty="0">
                <a:solidFill>
                  <a:srgbClr val="4A6B62"/>
                </a:solidFill>
                <a:latin typeface="Calibri" pitchFamily="34" charset="0"/>
                <a:ea typeface="Calibri" pitchFamily="34" charset="-122"/>
                <a:cs typeface="Calibri" pitchFamily="34" charset="-120"/>
              </a:rPr>
              <a:t>test-other</a:t>
            </a:r>
            <a:endParaRPr lang="en-US" sz="1150" dirty="0"/>
          </a:p>
        </p:txBody>
      </p:sp>
      <p:sp>
        <p:nvSpPr>
          <p:cNvPr id="16" name="Shape 14"/>
          <p:cNvSpPr/>
          <p:nvPr/>
        </p:nvSpPr>
        <p:spPr>
          <a:xfrm>
            <a:off x="566928" y="3182112"/>
            <a:ext cx="5440680" cy="1737360"/>
          </a:xfrm>
          <a:prstGeom prst="roundRect">
            <a:avLst>
              <a:gd name="adj" fmla="val 3158"/>
            </a:avLst>
          </a:prstGeom>
          <a:solidFill>
            <a:srgbClr val="EFF5F1"/>
          </a:solidFill>
          <a:ln w="12700">
            <a:solidFill>
              <a:srgbClr val="DCE7E1"/>
            </a:solidFill>
            <a:prstDash val="solid"/>
          </a:ln>
        </p:spPr>
        <p:txBody>
          <a:bodyPr/>
          <a:lstStyle/>
          <a:p>
            <a:endParaRPr lang="en-US"/>
          </a:p>
        </p:txBody>
      </p:sp>
      <p:sp>
        <p:nvSpPr>
          <p:cNvPr id="17" name="Shape 15"/>
          <p:cNvSpPr/>
          <p:nvPr/>
        </p:nvSpPr>
        <p:spPr>
          <a:xfrm>
            <a:off x="786384" y="3474720"/>
            <a:ext cx="109728" cy="109728"/>
          </a:xfrm>
          <a:prstGeom prst="ellipse">
            <a:avLst/>
          </a:prstGeom>
          <a:solidFill>
            <a:srgbClr val="2E7D5B"/>
          </a:solidFill>
          <a:ln w="12700">
            <a:solidFill>
              <a:srgbClr val="333333"/>
            </a:solidFill>
            <a:prstDash val="solid"/>
          </a:ln>
        </p:spPr>
        <p:txBody>
          <a:bodyPr/>
          <a:lstStyle/>
          <a:p>
            <a:endParaRPr lang="en-US"/>
          </a:p>
        </p:txBody>
      </p:sp>
      <p:sp>
        <p:nvSpPr>
          <p:cNvPr id="18" name="Text 16"/>
          <p:cNvSpPr txBox="1"/>
          <p:nvPr/>
        </p:nvSpPr>
        <p:spPr>
          <a:xfrm>
            <a:off x="987552" y="3346704"/>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For comparison</a:t>
            </a:r>
            <a:endParaRPr lang="en-US" sz="1500" dirty="0"/>
          </a:p>
        </p:txBody>
      </p:sp>
      <p:sp>
        <p:nvSpPr>
          <p:cNvPr id="19" name="Text 17"/>
          <p:cNvSpPr txBox="1"/>
          <p:nvPr/>
        </p:nvSpPr>
        <p:spPr>
          <a:xfrm>
            <a:off x="822960" y="3785616"/>
            <a:ext cx="4928616" cy="95097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Discrete BERT, the two-stage predecessor, reaches 16.3/25.2 in the same ten-minute setting — though with a 4-gram rather than a Transformer language model, and pre-trained on LS-960 rather than the larger LibriVox set.</a:t>
            </a:r>
            <a:endParaRPr lang="en-US" sz="1260" dirty="0"/>
          </a:p>
          <a:p>
            <a:pPr marL="0" indent="0">
              <a:lnSpc>
                <a:spcPct val="108000"/>
              </a:lnSpc>
              <a:buNone/>
            </a:pPr>
            <a:endParaRPr lang="en-US" sz="1260" dirty="0"/>
          </a:p>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wav2vec 2.0 BASE on the same LS-960 audio with the same 4-gram model reaches 9.1/15.6.</a:t>
            </a:r>
            <a:endParaRPr lang="en-US" sz="1260" dirty="0"/>
          </a:p>
        </p:txBody>
      </p:sp>
      <p:sp>
        <p:nvSpPr>
          <p:cNvPr id="20" name="Shape 18"/>
          <p:cNvSpPr/>
          <p:nvPr/>
        </p:nvSpPr>
        <p:spPr>
          <a:xfrm>
            <a:off x="6190488" y="3182112"/>
            <a:ext cx="5440680" cy="1737360"/>
          </a:xfrm>
          <a:prstGeom prst="roundRect">
            <a:avLst>
              <a:gd name="adj" fmla="val 3158"/>
            </a:avLst>
          </a:prstGeom>
          <a:solidFill>
            <a:srgbClr val="EFF5F1"/>
          </a:solidFill>
          <a:ln w="12700">
            <a:solidFill>
              <a:srgbClr val="DCE7E1"/>
            </a:solidFill>
            <a:prstDash val="solid"/>
          </a:ln>
        </p:spPr>
        <p:txBody>
          <a:bodyPr/>
          <a:lstStyle/>
          <a:p>
            <a:endParaRPr lang="en-US"/>
          </a:p>
        </p:txBody>
      </p:sp>
      <p:sp>
        <p:nvSpPr>
          <p:cNvPr id="21" name="Shape 19"/>
          <p:cNvSpPr/>
          <p:nvPr/>
        </p:nvSpPr>
        <p:spPr>
          <a:xfrm>
            <a:off x="6409944" y="3474720"/>
            <a:ext cx="109728" cy="109728"/>
          </a:xfrm>
          <a:prstGeom prst="ellipse">
            <a:avLst/>
          </a:prstGeom>
          <a:solidFill>
            <a:srgbClr val="B5623C"/>
          </a:solidFill>
          <a:ln w="12700">
            <a:solidFill>
              <a:srgbClr val="333333"/>
            </a:solidFill>
            <a:prstDash val="solid"/>
          </a:ln>
        </p:spPr>
        <p:txBody>
          <a:bodyPr/>
          <a:lstStyle/>
          <a:p>
            <a:endParaRPr lang="en-US"/>
          </a:p>
        </p:txBody>
      </p:sp>
      <p:sp>
        <p:nvSpPr>
          <p:cNvPr id="22" name="Text 20"/>
          <p:cNvSpPr txBox="1"/>
          <p:nvPr/>
        </p:nvSpPr>
        <p:spPr>
          <a:xfrm>
            <a:off x="6611112" y="3346704"/>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What made the difference</a:t>
            </a:r>
            <a:endParaRPr lang="en-US" sz="1500" dirty="0"/>
          </a:p>
        </p:txBody>
      </p:sp>
      <p:sp>
        <p:nvSpPr>
          <p:cNvPr id="23" name="Text 21"/>
          <p:cNvSpPr txBox="1"/>
          <p:nvPr/>
        </p:nvSpPr>
        <p:spPr>
          <a:xfrm>
            <a:off x="6446520" y="3785616"/>
            <a:ext cx="4928616" cy="95097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That BASE-versus-Discrete-BERT comparison is the cleanest one available: same unlabelled data, same language model, same labelled subset. The word error rate falls by roughly a third, and the only substantive change is joint end-to-end learning with continuous inputs.</a:t>
            </a:r>
            <a:endParaRPr lang="en-US" sz="1260" dirty="0"/>
          </a:p>
          <a:p>
            <a:pPr marL="0" indent="0">
              <a:lnSpc>
                <a:spcPct val="108000"/>
              </a:lnSpc>
              <a:buNone/>
            </a:pPr>
            <a:endParaRPr lang="en-US" sz="1260" dirty="0"/>
          </a:p>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Everything beyond that comes from scale — a bigger model, more unlabelled audio, a better language model.</a:t>
            </a:r>
            <a:endParaRPr lang="en-US" sz="1260" dirty="0"/>
          </a:p>
        </p:txBody>
      </p:sp>
      <p:sp>
        <p:nvSpPr>
          <p:cNvPr id="24" name="Shape 22"/>
          <p:cNvSpPr/>
          <p:nvPr/>
        </p:nvSpPr>
        <p:spPr>
          <a:xfrm>
            <a:off x="566928" y="5102352"/>
            <a:ext cx="11064240" cy="950976"/>
          </a:xfrm>
          <a:prstGeom prst="roundRect">
            <a:avLst>
              <a:gd name="adj" fmla="val 5769"/>
            </a:avLst>
          </a:prstGeom>
          <a:solidFill>
            <a:srgbClr val="EFF5F1"/>
          </a:solidFill>
          <a:ln w="12700">
            <a:solidFill>
              <a:srgbClr val="DCE7E1"/>
            </a:solidFill>
            <a:prstDash val="solid"/>
          </a:ln>
        </p:spPr>
        <p:txBody>
          <a:bodyPr/>
          <a:lstStyle/>
          <a:p>
            <a:endParaRPr lang="en-US"/>
          </a:p>
        </p:txBody>
      </p:sp>
      <p:sp>
        <p:nvSpPr>
          <p:cNvPr id="25" name="Text 23"/>
          <p:cNvSpPr txBox="1"/>
          <p:nvPr/>
        </p:nvSpPr>
        <p:spPr>
          <a:xfrm>
            <a:off x="822960" y="5321808"/>
            <a:ext cx="10552176" cy="530352"/>
          </a:xfrm>
          <a:prstGeom prst="rect">
            <a:avLst/>
          </a:prstGeom>
          <a:noFill/>
          <a:ln/>
        </p:spPr>
        <p:txBody>
          <a:bodyPr wrap="square" lIns="0" tIns="0" rIns="0" bIns="0" rtlCol="0" anchor="t"/>
          <a:lstStyle/>
          <a:p>
            <a:pPr marL="0" indent="0">
              <a:lnSpc>
                <a:spcPct val="108000"/>
              </a:lnSpc>
              <a:buNone/>
            </a:pPr>
            <a:r>
              <a:rPr lang="en-US" sz="1300" dirty="0">
                <a:solidFill>
                  <a:srgbClr val="2C3B36"/>
                </a:solidFill>
                <a:latin typeface="Calibri" pitchFamily="34" charset="0"/>
                <a:ea typeface="Calibri" pitchFamily="34" charset="-122"/>
                <a:cs typeface="Calibri" pitchFamily="34" charset="-120"/>
              </a:rPr>
              <a:t>Be precise when quoting this result: the headline 4.8/8.2 combines the method, the LARGE model, 53.2 thousand hours of unlabelled audio and a Transformer language model. Attributing all of it to the objective would be an overstatement — the paper does not make that mistake, and neither should we.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High-resource results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Fine-tuning on all 960 labelled hours of Librispeech</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32</a:t>
            </a:r>
            <a:endParaRPr lang="en-US" sz="900" dirty="0"/>
          </a:p>
        </p:txBody>
      </p:sp>
      <p:graphicFrame>
        <p:nvGraphicFramePr>
          <p:cNvPr id="10" name="Chart 0"/>
          <p:cNvGraphicFramePr/>
          <p:nvPr/>
        </p:nvGraphicFramePr>
        <p:xfrm>
          <a:off x="566928" y="1554480"/>
          <a:ext cx="68580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680960" y="1700784"/>
            <a:ext cx="3950208" cy="3383280"/>
          </a:xfrm>
          <a:prstGeom prst="rect">
            <a:avLst/>
          </a:prstGeom>
          <a:noFill/>
          <a:ln/>
        </p:spPr>
        <p:txBody>
          <a:bodyPr wrap="square" lIns="0" tIns="0" rIns="0" bIns="0" rtlCol="0" anchor="t"/>
          <a:lstStyle/>
          <a:p>
            <a:pPr marL="342900" indent="-342900">
              <a:spcAft>
                <a:spcPts val="800"/>
              </a:spcAft>
              <a:buSzPct val="100000"/>
              <a:buChar char="●"/>
            </a:pPr>
            <a:r>
              <a:rPr lang="en-US" sz="1230" dirty="0">
                <a:solidFill>
                  <a:srgbClr val="2C3B36"/>
                </a:solidFill>
                <a:latin typeface="Calibri" pitchFamily="34" charset="0"/>
                <a:ea typeface="Calibri" pitchFamily="34" charset="-122"/>
                <a:cs typeface="Calibri" pitchFamily="34" charset="-120"/>
              </a:rPr>
              <a:t>1.8/3.3 sets a new state of the art on test-other, the noisy condition.</a:t>
            </a:r>
            <a:endParaRPr lang="en-US" sz="1230" dirty="0"/>
          </a:p>
          <a:p>
            <a:pPr marL="342900" indent="-342900">
              <a:spcAft>
                <a:spcPts val="800"/>
              </a:spcAft>
              <a:buSzPct val="100000"/>
              <a:buChar char="●"/>
            </a:pPr>
            <a:r>
              <a:rPr lang="en-US" sz="1230" dirty="0">
                <a:solidFill>
                  <a:srgbClr val="2C3B36"/>
                </a:solidFill>
                <a:latin typeface="Calibri" pitchFamily="34" charset="0"/>
                <a:ea typeface="Calibri" pitchFamily="34" charset="-122"/>
                <a:cs typeface="Calibri" pitchFamily="34" charset="-120"/>
              </a:rPr>
              <a:t>The same architecture trained from scratch on the same labels reaches only 2.1/4.6 — so pre-training helps even when no labels are missing.</a:t>
            </a:r>
            <a:endParaRPr lang="en-US" sz="1230" dirty="0"/>
          </a:p>
          <a:p>
            <a:pPr marL="342900" indent="-342900">
              <a:spcAft>
                <a:spcPts val="800"/>
              </a:spcAft>
              <a:buSzPct val="100000"/>
              <a:buChar char="●"/>
            </a:pPr>
            <a:r>
              <a:rPr lang="en-US" sz="1230" dirty="0">
                <a:solidFill>
                  <a:srgbClr val="2C3B36"/>
                </a:solidFill>
                <a:latin typeface="Calibri" pitchFamily="34" charset="0"/>
                <a:ea typeface="Calibri" pitchFamily="34" charset="-122"/>
                <a:cs typeface="Calibri" pitchFamily="34" charset="-120"/>
              </a:rPr>
              <a:t>Note the from-scratch baseline is weaker than Conformer at 1.9/4.1. The gain comes from pre-training, on top of a worse starting architecture.</a:t>
            </a:r>
            <a:endParaRPr lang="en-US" sz="1230" dirty="0"/>
          </a:p>
          <a:p>
            <a:pPr marL="342900" indent="-342900">
              <a:spcAft>
                <a:spcPts val="800"/>
              </a:spcAft>
              <a:buSzPct val="100000"/>
              <a:buChar char="●"/>
            </a:pPr>
            <a:r>
              <a:rPr lang="en-US" sz="1230" dirty="0">
                <a:solidFill>
                  <a:srgbClr val="2C3B36"/>
                </a:solidFill>
                <a:latin typeface="Calibri" pitchFamily="34" charset="0"/>
                <a:ea typeface="Calibri" pitchFamily="34" charset="-122"/>
                <a:cs typeface="Calibri" pitchFamily="34" charset="-120"/>
              </a:rPr>
              <a:t>BASE with pre-training roughly matches LARGE without it — a useful way to think about what unlabelled data is worth in parameters.</a:t>
            </a:r>
            <a:endParaRPr lang="en-US" sz="1230" dirty="0"/>
          </a:p>
        </p:txBody>
      </p:sp>
      <p:sp>
        <p:nvSpPr>
          <p:cNvPr id="12" name="Shape 9"/>
          <p:cNvSpPr/>
          <p:nvPr/>
        </p:nvSpPr>
        <p:spPr>
          <a:xfrm>
            <a:off x="566928" y="5303520"/>
            <a:ext cx="11064240" cy="749808"/>
          </a:xfrm>
          <a:prstGeom prst="roundRect">
            <a:avLst>
              <a:gd name="adj" fmla="val 7317"/>
            </a:avLst>
          </a:prstGeom>
          <a:solidFill>
            <a:srgbClr val="13302A"/>
          </a:solidFill>
          <a:ln w="12700">
            <a:solidFill>
              <a:srgbClr val="13302A"/>
            </a:solidFill>
            <a:prstDash val="solid"/>
          </a:ln>
        </p:spPr>
        <p:txBody>
          <a:bodyPr/>
          <a:lstStyle/>
          <a:p>
            <a:endParaRPr lang="en-US"/>
          </a:p>
        </p:txBody>
      </p:sp>
      <p:sp>
        <p:nvSpPr>
          <p:cNvPr id="13" name="Text 10"/>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Self-supervision is not only a low-resource trick. It improves the fully supervised setting too.</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authors' own caveats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A short list of things they say could be better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33</a:t>
            </a:r>
            <a:endParaRPr lang="en-US" sz="900" dirty="0"/>
          </a:p>
        </p:txBody>
      </p:sp>
      <p:sp>
        <p:nvSpPr>
          <p:cNvPr id="10" name="Shape 8"/>
          <p:cNvSpPr/>
          <p:nvPr/>
        </p:nvSpPr>
        <p:spPr>
          <a:xfrm>
            <a:off x="566928" y="1554480"/>
            <a:ext cx="11064240" cy="914400"/>
          </a:xfrm>
          <a:prstGeom prst="roundRect">
            <a:avLst>
              <a:gd name="adj" fmla="val 3000"/>
            </a:avLst>
          </a:prstGeom>
          <a:solidFill>
            <a:srgbClr val="EFF5F1"/>
          </a:solidFill>
          <a:ln w="12700">
            <a:solidFill>
              <a:srgbClr val="E4ECE7"/>
            </a:solidFill>
            <a:prstDash val="solid"/>
          </a:ln>
        </p:spPr>
        <p:txBody>
          <a:bodyPr/>
          <a:lstStyle/>
          <a:p>
            <a:endParaRPr lang="en-US"/>
          </a:p>
        </p:txBody>
      </p:sp>
      <p:sp>
        <p:nvSpPr>
          <p:cNvPr id="11" name="Shape 9"/>
          <p:cNvSpPr/>
          <p:nvPr/>
        </p:nvSpPr>
        <p:spPr>
          <a:xfrm>
            <a:off x="786384" y="1952244"/>
            <a:ext cx="118872" cy="118872"/>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1024128" y="1645920"/>
            <a:ext cx="26517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Weaker architecture</a:t>
            </a:r>
            <a:endParaRPr lang="en-US" sz="1350" dirty="0"/>
          </a:p>
        </p:txBody>
      </p:sp>
      <p:sp>
        <p:nvSpPr>
          <p:cNvPr id="13" name="Text 11"/>
          <p:cNvSpPr txBox="1"/>
          <p:nvPr/>
        </p:nvSpPr>
        <p:spPr>
          <a:xfrm>
            <a:off x="3858768" y="1627632"/>
            <a:ext cx="75895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A plain Transformer with a CTC loss, which does not perform as well as sequence-to-sequence models. They expect gains from switching.</a:t>
            </a:r>
            <a:endParaRPr lang="en-US" sz="1240" dirty="0"/>
          </a:p>
        </p:txBody>
      </p:sp>
      <p:sp>
        <p:nvSpPr>
          <p:cNvPr id="14" name="Shape 12"/>
          <p:cNvSpPr/>
          <p:nvPr/>
        </p:nvSpPr>
        <p:spPr>
          <a:xfrm>
            <a:off x="566928" y="2523744"/>
            <a:ext cx="11064240" cy="914400"/>
          </a:xfrm>
          <a:prstGeom prst="roundRect">
            <a:avLst>
              <a:gd name="adj" fmla="val 3000"/>
            </a:avLst>
          </a:prstGeom>
          <a:solidFill>
            <a:srgbClr val="FFFFFF"/>
          </a:solidFill>
          <a:ln w="12700">
            <a:solidFill>
              <a:srgbClr val="E4ECE7"/>
            </a:solidFill>
            <a:prstDash val="solid"/>
          </a:ln>
        </p:spPr>
        <p:txBody>
          <a:bodyPr/>
          <a:lstStyle/>
          <a:p>
            <a:endParaRPr lang="en-US"/>
          </a:p>
        </p:txBody>
      </p:sp>
      <p:sp>
        <p:nvSpPr>
          <p:cNvPr id="15" name="Shape 13"/>
          <p:cNvSpPr/>
          <p:nvPr/>
        </p:nvSpPr>
        <p:spPr>
          <a:xfrm>
            <a:off x="786384" y="2921508"/>
            <a:ext cx="118872" cy="118872"/>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1024128" y="2615184"/>
            <a:ext cx="26517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Character vocabulary</a:t>
            </a:r>
            <a:endParaRPr lang="en-US" sz="1350" dirty="0"/>
          </a:p>
        </p:txBody>
      </p:sp>
      <p:sp>
        <p:nvSpPr>
          <p:cNvPr id="17" name="Text 15"/>
          <p:cNvSpPr txBox="1"/>
          <p:nvPr/>
        </p:nvSpPr>
        <p:spPr>
          <a:xfrm>
            <a:off x="3858768" y="2596896"/>
            <a:ext cx="75895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The acoustic model predicts characters while the language model works over words, delaying language-model feedback. Word pieces would likely help.</a:t>
            </a:r>
            <a:endParaRPr lang="en-US" sz="1240" dirty="0"/>
          </a:p>
        </p:txBody>
      </p:sp>
      <p:sp>
        <p:nvSpPr>
          <p:cNvPr id="18" name="Shape 16"/>
          <p:cNvSpPr/>
          <p:nvPr/>
        </p:nvSpPr>
        <p:spPr>
          <a:xfrm>
            <a:off x="566928" y="3493008"/>
            <a:ext cx="11064240" cy="914400"/>
          </a:xfrm>
          <a:prstGeom prst="roundRect">
            <a:avLst>
              <a:gd name="adj" fmla="val 3000"/>
            </a:avLst>
          </a:prstGeom>
          <a:solidFill>
            <a:srgbClr val="EFF5F1"/>
          </a:solidFill>
          <a:ln w="12700">
            <a:solidFill>
              <a:srgbClr val="E4ECE7"/>
            </a:solidFill>
            <a:prstDash val="solid"/>
          </a:ln>
        </p:spPr>
        <p:txBody>
          <a:bodyPr/>
          <a:lstStyle/>
          <a:p>
            <a:endParaRPr lang="en-US"/>
          </a:p>
        </p:txBody>
      </p:sp>
      <p:sp>
        <p:nvSpPr>
          <p:cNvPr id="19" name="Shape 17"/>
          <p:cNvSpPr/>
          <p:nvPr/>
        </p:nvSpPr>
        <p:spPr>
          <a:xfrm>
            <a:off x="786384" y="3890772"/>
            <a:ext cx="118872" cy="118872"/>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1024128" y="3584448"/>
            <a:ext cx="26517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No data balancing</a:t>
            </a:r>
            <a:endParaRPr lang="en-US" sz="1350" dirty="0"/>
          </a:p>
        </p:txBody>
      </p:sp>
      <p:sp>
        <p:nvSpPr>
          <p:cNvPr id="21" name="Text 19"/>
          <p:cNvSpPr txBox="1"/>
          <p:nvPr/>
        </p:nvSpPr>
        <p:spPr>
          <a:xfrm>
            <a:off x="3858768" y="3566160"/>
            <a:ext cx="75895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The comparison method applies data balancing during training; this work does not, and the authors note the omission.</a:t>
            </a:r>
            <a:endParaRPr lang="en-US" sz="1240" dirty="0"/>
          </a:p>
        </p:txBody>
      </p:sp>
      <p:sp>
        <p:nvSpPr>
          <p:cNvPr id="22" name="Shape 20"/>
          <p:cNvSpPr/>
          <p:nvPr/>
        </p:nvSpPr>
        <p:spPr>
          <a:xfrm>
            <a:off x="566928" y="4462272"/>
            <a:ext cx="11064240" cy="914400"/>
          </a:xfrm>
          <a:prstGeom prst="roundRect">
            <a:avLst>
              <a:gd name="adj" fmla="val 3000"/>
            </a:avLst>
          </a:prstGeom>
          <a:solidFill>
            <a:srgbClr val="FFFFFF"/>
          </a:solidFill>
          <a:ln w="12700">
            <a:solidFill>
              <a:srgbClr val="E4ECE7"/>
            </a:solidFill>
            <a:prstDash val="solid"/>
          </a:ln>
        </p:spPr>
        <p:txBody>
          <a:bodyPr/>
          <a:lstStyle/>
          <a:p>
            <a:endParaRPr lang="en-US"/>
          </a:p>
        </p:txBody>
      </p:sp>
      <p:sp>
        <p:nvSpPr>
          <p:cNvPr id="23" name="Shape 21"/>
          <p:cNvSpPr/>
          <p:nvPr/>
        </p:nvSpPr>
        <p:spPr>
          <a:xfrm>
            <a:off x="786384" y="4860036"/>
            <a:ext cx="118872" cy="118872"/>
          </a:xfrm>
          <a:prstGeom prst="ellipse">
            <a:avLst/>
          </a:prstGeom>
          <a:solidFill>
            <a:srgbClr val="2E7D5B"/>
          </a:solidFill>
          <a:ln w="12700">
            <a:solidFill>
              <a:srgbClr val="333333"/>
            </a:solidFill>
            <a:prstDash val="solid"/>
          </a:ln>
        </p:spPr>
        <p:txBody>
          <a:bodyPr/>
          <a:lstStyle/>
          <a:p>
            <a:endParaRPr lang="en-US"/>
          </a:p>
        </p:txBody>
      </p:sp>
      <p:sp>
        <p:nvSpPr>
          <p:cNvPr id="24" name="Text 22"/>
          <p:cNvSpPr txBox="1"/>
          <p:nvPr/>
        </p:nvSpPr>
        <p:spPr>
          <a:xfrm>
            <a:off x="1024128" y="4553712"/>
            <a:ext cx="2651760" cy="731520"/>
          </a:xfrm>
          <a:prstGeom prst="rect">
            <a:avLst/>
          </a:prstGeom>
          <a:noFill/>
          <a:ln/>
        </p:spPr>
        <p:txBody>
          <a:bodyPr wrap="square" lIns="0" tIns="0" rIns="0" bIns="0" rtlCol="0" anchor="ctr"/>
          <a:lstStyle/>
          <a:p>
            <a:pPr marL="0" indent="0">
              <a:buNone/>
            </a:pPr>
            <a:r>
              <a:rPr lang="en-US" sz="1350" b="1" dirty="0">
                <a:solidFill>
                  <a:srgbClr val="0E241E"/>
                </a:solidFill>
                <a:latin typeface="Cambria" pitchFamily="34" charset="0"/>
                <a:ea typeface="Cambria" pitchFamily="34" charset="-122"/>
                <a:cs typeface="Cambria" pitchFamily="34" charset="-120"/>
              </a:rPr>
              <a:t>Self-training left on the table</a:t>
            </a:r>
            <a:endParaRPr lang="en-US" sz="1350" dirty="0"/>
          </a:p>
        </p:txBody>
      </p:sp>
      <p:sp>
        <p:nvSpPr>
          <p:cNvPr id="25" name="Text 23"/>
          <p:cNvSpPr txBox="1"/>
          <p:nvPr/>
        </p:nvSpPr>
        <p:spPr>
          <a:xfrm>
            <a:off x="3858768" y="4535424"/>
            <a:ext cx="7589520" cy="768096"/>
          </a:xfrm>
          <a:prstGeom prst="rect">
            <a:avLst/>
          </a:prstGeom>
          <a:noFill/>
          <a:ln/>
        </p:spPr>
        <p:txBody>
          <a:bodyPr wrap="square" lIns="0" tIns="0" rIns="0" bIns="0" rtlCol="0" anchor="ctr"/>
          <a:lstStyle/>
          <a:p>
            <a:pPr marL="0" indent="0">
              <a:buNone/>
            </a:pPr>
            <a:r>
              <a:rPr lang="en-US" sz="1240" dirty="0">
                <a:solidFill>
                  <a:srgbClr val="2C3B36"/>
                </a:solidFill>
                <a:latin typeface="Calibri" pitchFamily="34" charset="0"/>
                <a:ea typeface="Calibri" pitchFamily="34" charset="-122"/>
                <a:cs typeface="Calibri" pitchFamily="34" charset="-120"/>
              </a:rPr>
              <a:t>They observe that self-training is probably complementary to pre-training and that combining the two may do better still.</a:t>
            </a:r>
            <a:endParaRPr lang="en-US" sz="1240" dirty="0"/>
          </a:p>
        </p:txBody>
      </p:sp>
      <p:sp>
        <p:nvSpPr>
          <p:cNvPr id="26" name="Shape 24"/>
          <p:cNvSpPr/>
          <p:nvPr/>
        </p:nvSpPr>
        <p:spPr>
          <a:xfrm>
            <a:off x="566928" y="5541264"/>
            <a:ext cx="11064240" cy="512064"/>
          </a:xfrm>
          <a:prstGeom prst="roundRect">
            <a:avLst>
              <a:gd name="adj" fmla="val 10714"/>
            </a:avLst>
          </a:prstGeom>
          <a:solidFill>
            <a:srgbClr val="EFF5F1"/>
          </a:solidFill>
          <a:ln w="12700">
            <a:solidFill>
              <a:srgbClr val="DCE7E1"/>
            </a:solidFill>
            <a:prstDash val="solid"/>
          </a:ln>
        </p:spPr>
        <p:txBody>
          <a:bodyPr/>
          <a:lstStyle/>
          <a:p>
            <a:endParaRPr lang="en-US"/>
          </a:p>
        </p:txBody>
      </p:sp>
      <p:sp>
        <p:nvSpPr>
          <p:cNvPr id="27" name="Text 25"/>
          <p:cNvSpPr txBox="1"/>
          <p:nvPr/>
        </p:nvSpPr>
        <p:spPr>
          <a:xfrm>
            <a:off x="822960" y="5760720"/>
            <a:ext cx="10552176" cy="91440"/>
          </a:xfrm>
          <a:prstGeom prst="rect">
            <a:avLst/>
          </a:prstGeom>
          <a:noFill/>
          <a:ln/>
        </p:spPr>
        <p:txBody>
          <a:bodyPr wrap="square" lIns="0" tIns="0" rIns="0" bIns="0" rtlCol="0" anchor="t"/>
          <a:lstStyle/>
          <a:p>
            <a:pPr marL="0" indent="0">
              <a:lnSpc>
                <a:spcPct val="108000"/>
              </a:lnSpc>
              <a:buNone/>
            </a:pPr>
            <a:r>
              <a:rPr lang="en-US" sz="1300" dirty="0">
                <a:solidFill>
                  <a:srgbClr val="2C3B36"/>
                </a:solidFill>
                <a:latin typeface="Calibri" pitchFamily="34" charset="0"/>
                <a:ea typeface="Calibri" pitchFamily="34" charset="-122"/>
                <a:cs typeface="Calibri" pitchFamily="34" charset="-120"/>
              </a:rPr>
              <a:t>All four predictions turned out to be right, and all four were taken up within about a year.</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Phoneme recognition on TIMIT</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A second task, no language model</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34</a:t>
            </a:r>
            <a:endParaRPr lang="en-US" sz="900" dirty="0"/>
          </a:p>
        </p:txBody>
      </p:sp>
      <p:graphicFrame>
        <p:nvGraphicFramePr>
          <p:cNvPr id="10" name="Chart 0"/>
          <p:cNvGraphicFramePr/>
          <p:nvPr/>
        </p:nvGraphicFramePr>
        <p:xfrm>
          <a:off x="566928" y="1554480"/>
          <a:ext cx="667512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7498080" y="1554480"/>
            <a:ext cx="4133088" cy="1664208"/>
          </a:xfrm>
          <a:prstGeom prst="roundRect">
            <a:avLst>
              <a:gd name="adj" fmla="val 3297"/>
            </a:avLst>
          </a:prstGeom>
          <a:solidFill>
            <a:srgbClr val="EFF5F1"/>
          </a:solidFill>
          <a:ln w="12700">
            <a:solidFill>
              <a:srgbClr val="DCE7E1"/>
            </a:solidFill>
            <a:prstDash val="solid"/>
          </a:ln>
        </p:spPr>
        <p:txBody>
          <a:bodyPr/>
          <a:lstStyle/>
          <a:p>
            <a:endParaRPr lang="en-US"/>
          </a:p>
        </p:txBody>
      </p:sp>
      <p:sp>
        <p:nvSpPr>
          <p:cNvPr id="12" name="Shape 9"/>
          <p:cNvSpPr/>
          <p:nvPr/>
        </p:nvSpPr>
        <p:spPr>
          <a:xfrm>
            <a:off x="7717536"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3" name="Text 10"/>
          <p:cNvSpPr txBox="1"/>
          <p:nvPr/>
        </p:nvSpPr>
        <p:spPr>
          <a:xfrm>
            <a:off x="7918704" y="1719072"/>
            <a:ext cx="349300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A new state of the art</a:t>
            </a:r>
            <a:endParaRPr lang="en-US" sz="1500" dirty="0"/>
          </a:p>
        </p:txBody>
      </p:sp>
      <p:sp>
        <p:nvSpPr>
          <p:cNvPr id="14" name="Text 11"/>
          <p:cNvSpPr txBox="1"/>
          <p:nvPr/>
        </p:nvSpPr>
        <p:spPr>
          <a:xfrm>
            <a:off x="7754112" y="2157984"/>
            <a:ext cx="3621024" cy="877824"/>
          </a:xfrm>
          <a:prstGeom prst="rect">
            <a:avLst/>
          </a:prstGeom>
          <a:noFill/>
          <a:ln/>
        </p:spPr>
        <p:txBody>
          <a:bodyPr wrap="square" lIns="0" tIns="0" rIns="0" bIns="0" rtlCol="0" anchor="t"/>
          <a:lstStyle/>
          <a:p>
            <a:pPr marL="0" indent="0">
              <a:lnSpc>
                <a:spcPct val="108000"/>
              </a:lnSpc>
              <a:buNone/>
            </a:pPr>
            <a:r>
              <a:rPr lang="en-US" sz="1250" dirty="0">
                <a:solidFill>
                  <a:srgbClr val="2C3B36"/>
                </a:solidFill>
                <a:latin typeface="Calibri" pitchFamily="34" charset="0"/>
                <a:ea typeface="Calibri" pitchFamily="34" charset="-122"/>
                <a:cs typeface="Calibri" pitchFamily="34" charset="-120"/>
              </a:rPr>
              <a:t>8.3% test PER, against 7.4% on dev — a relative reduction of 23% on dev and 29% on test over the next best result, which was vq-wav2vec.</a:t>
            </a:r>
            <a:endParaRPr lang="en-US" sz="1250" dirty="0"/>
          </a:p>
        </p:txBody>
      </p:sp>
      <p:sp>
        <p:nvSpPr>
          <p:cNvPr id="15" name="Shape 12"/>
          <p:cNvSpPr/>
          <p:nvPr/>
        </p:nvSpPr>
        <p:spPr>
          <a:xfrm>
            <a:off x="7498080" y="3364992"/>
            <a:ext cx="4133088" cy="1664208"/>
          </a:xfrm>
          <a:prstGeom prst="roundRect">
            <a:avLst>
              <a:gd name="adj" fmla="val 3297"/>
            </a:avLst>
          </a:prstGeom>
          <a:solidFill>
            <a:srgbClr val="EFF5F1"/>
          </a:solidFill>
          <a:ln w="12700">
            <a:solidFill>
              <a:srgbClr val="DCE7E1"/>
            </a:solidFill>
            <a:prstDash val="solid"/>
          </a:ln>
        </p:spPr>
        <p:txBody>
          <a:bodyPr/>
          <a:lstStyle/>
          <a:p>
            <a:endParaRPr lang="en-US"/>
          </a:p>
        </p:txBody>
      </p:sp>
      <p:sp>
        <p:nvSpPr>
          <p:cNvPr id="16" name="Shape 13"/>
          <p:cNvSpPr/>
          <p:nvPr/>
        </p:nvSpPr>
        <p:spPr>
          <a:xfrm>
            <a:off x="7717536" y="3657600"/>
            <a:ext cx="109728" cy="109728"/>
          </a:xfrm>
          <a:prstGeom prst="ellipse">
            <a:avLst/>
          </a:prstGeom>
          <a:solidFill>
            <a:srgbClr val="B5623C"/>
          </a:solidFill>
          <a:ln w="12700">
            <a:solidFill>
              <a:srgbClr val="333333"/>
            </a:solidFill>
            <a:prstDash val="solid"/>
          </a:ln>
        </p:spPr>
        <p:txBody>
          <a:bodyPr/>
          <a:lstStyle/>
          <a:p>
            <a:endParaRPr lang="en-US"/>
          </a:p>
        </p:txBody>
      </p:sp>
      <p:sp>
        <p:nvSpPr>
          <p:cNvPr id="17" name="Text 14"/>
          <p:cNvSpPr txBox="1"/>
          <p:nvPr/>
        </p:nvSpPr>
        <p:spPr>
          <a:xfrm>
            <a:off x="7918704" y="3529584"/>
            <a:ext cx="349300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Why this result matters</a:t>
            </a:r>
            <a:endParaRPr lang="en-US" sz="1500" dirty="0"/>
          </a:p>
        </p:txBody>
      </p:sp>
      <p:sp>
        <p:nvSpPr>
          <p:cNvPr id="18" name="Text 15"/>
          <p:cNvSpPr txBox="1"/>
          <p:nvPr/>
        </p:nvSpPr>
        <p:spPr>
          <a:xfrm>
            <a:off x="7754112" y="3968496"/>
            <a:ext cx="3621024" cy="877824"/>
          </a:xfrm>
          <a:prstGeom prst="rect">
            <a:avLst/>
          </a:prstGeom>
          <a:noFill/>
          <a:ln/>
        </p:spPr>
        <p:txBody>
          <a:bodyPr wrap="square" lIns="0" tIns="0" rIns="0" bIns="0" rtlCol="0" anchor="t"/>
          <a:lstStyle/>
          <a:p>
            <a:pPr marL="0" indent="0">
              <a:lnSpc>
                <a:spcPct val="108000"/>
              </a:lnSpc>
              <a:buNone/>
            </a:pPr>
            <a:r>
              <a:rPr lang="en-US" sz="1250" dirty="0">
                <a:solidFill>
                  <a:srgbClr val="2C3B36"/>
                </a:solidFill>
                <a:latin typeface="Calibri" pitchFamily="34" charset="0"/>
                <a:ea typeface="Calibri" pitchFamily="34" charset="-122"/>
                <a:cs typeface="Calibri" pitchFamily="34" charset="-120"/>
              </a:rPr>
              <a:t>TIMIT has five hours of data and phoneme-level labels. Doing well here says the representation encodes phonetic structure directly, not just enough word-level regularity to satisfy a language model.</a:t>
            </a:r>
            <a:endParaRPr lang="en-US" sz="1250" dirty="0"/>
          </a:p>
        </p:txBody>
      </p:sp>
      <p:sp>
        <p:nvSpPr>
          <p:cNvPr id="19" name="Shape 16"/>
          <p:cNvSpPr/>
          <p:nvPr/>
        </p:nvSpPr>
        <p:spPr>
          <a:xfrm>
            <a:off x="566928" y="5175504"/>
            <a:ext cx="11064240" cy="877824"/>
          </a:xfrm>
          <a:prstGeom prst="roundRect">
            <a:avLst>
              <a:gd name="adj" fmla="val 6250"/>
            </a:avLst>
          </a:prstGeom>
          <a:solidFill>
            <a:srgbClr val="13302A"/>
          </a:solidFill>
          <a:ln w="12700">
            <a:solidFill>
              <a:srgbClr val="13302A"/>
            </a:solidFill>
            <a:prstDash val="solid"/>
          </a:ln>
        </p:spPr>
        <p:txBody>
          <a:bodyPr/>
          <a:lstStyle/>
          <a:p>
            <a:endParaRPr lang="en-US"/>
          </a:p>
        </p:txBody>
      </p:sp>
      <p:sp>
        <p:nvSpPr>
          <p:cNvPr id="20" name="Text 17"/>
          <p:cNvSpPr txBox="1"/>
          <p:nvPr/>
        </p:nvSpPr>
        <p:spPr>
          <a:xfrm>
            <a:off x="822960" y="5394960"/>
            <a:ext cx="10552176" cy="45720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The progression along this chart is the progression of the wav2vec programme itself: 14.7 for wav2vec, 11.6 for vq-wav2vec, 8.3 here. Three papers, roughly halving the error.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A small inconsistency worth noticing</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An exercise in reading papers carefully</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35</a:t>
            </a:r>
            <a:endParaRPr lang="en-US" sz="900" dirty="0"/>
          </a:p>
        </p:txBody>
      </p:sp>
      <p:sp>
        <p:nvSpPr>
          <p:cNvPr id="10" name="Shape 8"/>
          <p:cNvSpPr/>
          <p:nvPr/>
        </p:nvSpPr>
        <p:spPr>
          <a:xfrm>
            <a:off x="566928" y="1600200"/>
            <a:ext cx="3584448" cy="2011680"/>
          </a:xfrm>
          <a:prstGeom prst="roundRect">
            <a:avLst>
              <a:gd name="adj" fmla="val 2727"/>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9280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64792"/>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abstract says</a:t>
            </a:r>
            <a:endParaRPr lang="en-US" sz="1500" dirty="0"/>
          </a:p>
        </p:txBody>
      </p:sp>
      <p:sp>
        <p:nvSpPr>
          <p:cNvPr id="13" name="Text 11"/>
          <p:cNvSpPr txBox="1"/>
          <p:nvPr/>
        </p:nvSpPr>
        <p:spPr>
          <a:xfrm>
            <a:off x="822960" y="2203704"/>
            <a:ext cx="3072384" cy="122529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Using just ten minutes of labelled data and pre-training on 53k hours of unlabelled data still achieves 4.8/8.2 WER.</a:t>
            </a:r>
            <a:endParaRPr lang="en-US" sz="1280" dirty="0"/>
          </a:p>
        </p:txBody>
      </p:sp>
      <p:sp>
        <p:nvSpPr>
          <p:cNvPr id="14" name="Shape 12"/>
          <p:cNvSpPr/>
          <p:nvPr/>
        </p:nvSpPr>
        <p:spPr>
          <a:xfrm>
            <a:off x="4279392" y="1600200"/>
            <a:ext cx="3584448" cy="2011680"/>
          </a:xfrm>
          <a:prstGeom prst="roundRect">
            <a:avLst>
              <a:gd name="adj" fmla="val 2727"/>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4498848" y="1892808"/>
            <a:ext cx="109728" cy="109728"/>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4700016" y="1764792"/>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Table 1 says</a:t>
            </a:r>
            <a:endParaRPr lang="en-US" sz="1500" dirty="0"/>
          </a:p>
        </p:txBody>
      </p:sp>
      <p:sp>
        <p:nvSpPr>
          <p:cNvPr id="17" name="Text 15"/>
          <p:cNvSpPr txBox="1"/>
          <p:nvPr/>
        </p:nvSpPr>
        <p:spPr>
          <a:xfrm>
            <a:off x="4535424" y="2203704"/>
            <a:ext cx="3072384" cy="122529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LARGE, LV-60k, Transformer language model, 10 minutes labelled: dev 4.6/7.9, test 4.8/8.2.</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Consistent with the abstract.</a:t>
            </a:r>
            <a:endParaRPr lang="en-US" sz="1280" dirty="0"/>
          </a:p>
        </p:txBody>
      </p:sp>
      <p:sp>
        <p:nvSpPr>
          <p:cNvPr id="18" name="Shape 16"/>
          <p:cNvSpPr/>
          <p:nvPr/>
        </p:nvSpPr>
        <p:spPr>
          <a:xfrm>
            <a:off x="7991856" y="1600200"/>
            <a:ext cx="3639312" cy="2011680"/>
          </a:xfrm>
          <a:prstGeom prst="roundRect">
            <a:avLst>
              <a:gd name="adj" fmla="val 2727"/>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8211312" y="1892808"/>
            <a:ext cx="109728" cy="109728"/>
          </a:xfrm>
          <a:prstGeom prst="ellipse">
            <a:avLst/>
          </a:prstGeom>
          <a:solidFill>
            <a:srgbClr val="B5623C"/>
          </a:solidFill>
          <a:ln w="12700">
            <a:solidFill>
              <a:srgbClr val="333333"/>
            </a:solidFill>
            <a:prstDash val="solid"/>
          </a:ln>
        </p:spPr>
        <p:txBody>
          <a:bodyPr/>
          <a:lstStyle/>
          <a:p>
            <a:endParaRPr lang="en-US"/>
          </a:p>
        </p:txBody>
      </p:sp>
      <p:sp>
        <p:nvSpPr>
          <p:cNvPr id="20" name="Text 18"/>
          <p:cNvSpPr txBox="1"/>
          <p:nvPr/>
        </p:nvSpPr>
        <p:spPr>
          <a:xfrm>
            <a:off x="8412480" y="1764792"/>
            <a:ext cx="2999232"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But the running text says</a:t>
            </a:r>
            <a:endParaRPr lang="en-US" sz="1500" dirty="0"/>
          </a:p>
        </p:txBody>
      </p:sp>
      <p:sp>
        <p:nvSpPr>
          <p:cNvPr id="21" name="Text 19"/>
          <p:cNvSpPr txBox="1"/>
          <p:nvPr/>
        </p:nvSpPr>
        <p:spPr>
          <a:xfrm>
            <a:off x="8247888" y="2203704"/>
            <a:ext cx="3127248" cy="122529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In section 5.1, the same configuration is described as achieving 5.2/8.6 on the clean and other test sets.</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That figure appears nowhere in the table.</a:t>
            </a:r>
            <a:endParaRPr lang="en-US" sz="1280" dirty="0"/>
          </a:p>
        </p:txBody>
      </p:sp>
      <p:sp>
        <p:nvSpPr>
          <p:cNvPr id="22" name="Shape 20"/>
          <p:cNvSpPr/>
          <p:nvPr/>
        </p:nvSpPr>
        <p:spPr>
          <a:xfrm>
            <a:off x="566928" y="3822192"/>
            <a:ext cx="11064240" cy="2231136"/>
          </a:xfrm>
          <a:prstGeom prst="roundRect">
            <a:avLst>
              <a:gd name="adj" fmla="val 2459"/>
            </a:avLst>
          </a:prstGeom>
          <a:solidFill>
            <a:srgbClr val="13302A"/>
          </a:solidFill>
          <a:ln w="12700">
            <a:solidFill>
              <a:srgbClr val="13302A"/>
            </a:solidFill>
            <a:prstDash val="solid"/>
          </a:ln>
        </p:spPr>
        <p:txBody>
          <a:bodyPr/>
          <a:lstStyle/>
          <a:p>
            <a:endParaRPr lang="en-US"/>
          </a:p>
        </p:txBody>
      </p:sp>
      <p:sp>
        <p:nvSpPr>
          <p:cNvPr id="23" name="Shape 21"/>
          <p:cNvSpPr/>
          <p:nvPr/>
        </p:nvSpPr>
        <p:spPr>
          <a:xfrm>
            <a:off x="786384" y="4114800"/>
            <a:ext cx="109728" cy="109728"/>
          </a:xfrm>
          <a:prstGeom prst="ellipse">
            <a:avLst/>
          </a:prstGeom>
          <a:solidFill>
            <a:srgbClr val="B7D24A"/>
          </a:solidFill>
          <a:ln w="12700">
            <a:solidFill>
              <a:srgbClr val="333333"/>
            </a:solidFill>
            <a:prstDash val="solid"/>
          </a:ln>
        </p:spPr>
        <p:txBody>
          <a:bodyPr/>
          <a:lstStyle/>
          <a:p>
            <a:endParaRPr lang="en-US"/>
          </a:p>
        </p:txBody>
      </p:sp>
      <p:sp>
        <p:nvSpPr>
          <p:cNvPr id="24" name="Text 22"/>
          <p:cNvSpPr txBox="1"/>
          <p:nvPr/>
        </p:nvSpPr>
        <p:spPr>
          <a:xfrm>
            <a:off x="987552" y="398678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What to make of it</a:t>
            </a:r>
            <a:endParaRPr lang="en-US" sz="1500" dirty="0"/>
          </a:p>
        </p:txBody>
      </p:sp>
      <p:sp>
        <p:nvSpPr>
          <p:cNvPr id="25" name="Text 23"/>
          <p:cNvSpPr txBox="1"/>
          <p:nvPr/>
        </p:nvSpPr>
        <p:spPr>
          <a:xfrm>
            <a:off x="822960" y="4425696"/>
            <a:ext cx="10552176" cy="1444752"/>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Almost certainly a leftover from an earlier version — the paper went through three arXiv revisions between June and October 2020, and the first version's abstract quotes different numbers again. The prose was not fully updated when the tables were.</a:t>
            </a:r>
            <a:endParaRPr lang="en-US" sz="1300" dirty="0"/>
          </a:p>
          <a:p>
            <a:pPr marL="0" indent="0">
              <a:lnSpc>
                <a:spcPct val="108000"/>
              </a:lnSpc>
              <a:buNone/>
            </a:pPr>
            <a:endParaRPr lang="en-US" sz="1300" dirty="0"/>
          </a:p>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Nothing substantive turns on it. But it is a useful reminder for anyone citing this work: quote Table 1, not the sentence in section 5.1, and say which you used. Small discrepancies like this propagate through secondary literature for years, and a seminar is exactly the place to catch them.</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6</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Ablations</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Which design decision is actually doing the work</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quantisation ablation</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Four combinations of continuous and discrete, on inputs and targets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37</a:t>
            </a:r>
            <a:endParaRPr lang="en-US" sz="900" dirty="0"/>
          </a:p>
        </p:txBody>
      </p:sp>
      <p:graphicFrame>
        <p:nvGraphicFramePr>
          <p:cNvPr id="10" name="Chart 0"/>
          <p:cNvGraphicFramePr/>
          <p:nvPr/>
        </p:nvGraphicFramePr>
        <p:xfrm>
          <a:off x="566928" y="1554480"/>
          <a:ext cx="67665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589520" y="1700784"/>
            <a:ext cx="4041648" cy="3291840"/>
          </a:xfrm>
          <a:prstGeom prst="rect">
            <a:avLst/>
          </a:prstGeom>
          <a:noFill/>
          <a:ln/>
        </p:spPr>
        <p:txBody>
          <a:bodyPr wrap="square" lIns="0" tIns="0" rIns="0" bIns="0" rtlCol="0" anchor="t"/>
          <a:lstStyle/>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The configuration wav2vec 2.0 actually uses is the best of the four.</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Quantising the input costs about three points of WER — this is the two-stage penalty that vq-wav2vec and Discrete BERT pay.</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Standard deviations across seeds: 0.02, 0.08, 0.16 and 0.41 respectively. The worst configuration is also the least stable.</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Note this is a reduced setup — BASE, 250k updates, fine-tuned on 10 hours — so the absolute numbers are not comparable with the main tables. The ordering is the result.</a:t>
            </a:r>
            <a:endParaRPr lang="en-US" sz="1240" dirty="0"/>
          </a:p>
        </p:txBody>
      </p:sp>
      <p:sp>
        <p:nvSpPr>
          <p:cNvPr id="12" name="Shape 9"/>
          <p:cNvSpPr/>
          <p:nvPr/>
        </p:nvSpPr>
        <p:spPr>
          <a:xfrm>
            <a:off x="566928" y="5175504"/>
            <a:ext cx="11064240" cy="877824"/>
          </a:xfrm>
          <a:prstGeom prst="roundRect">
            <a:avLst>
              <a:gd name="adj" fmla="val 6250"/>
            </a:avLst>
          </a:prstGeom>
          <a:solidFill>
            <a:srgbClr val="13302A"/>
          </a:solidFill>
          <a:ln w="12700">
            <a:solidFill>
              <a:srgbClr val="13302A"/>
            </a:solidFill>
            <a:prstDash val="solid"/>
          </a:ln>
        </p:spPr>
        <p:txBody>
          <a:bodyPr/>
          <a:lstStyle/>
          <a:p>
            <a:endParaRPr lang="en-US"/>
          </a:p>
        </p:txBody>
      </p:sp>
      <p:sp>
        <p:nvSpPr>
          <p:cNvPr id="13" name="Text 10"/>
          <p:cNvSpPr txBox="1"/>
          <p:nvPr/>
        </p:nvSpPr>
        <p:spPr>
          <a:xfrm>
            <a:off x="822960" y="5394960"/>
            <a:ext cx="10552176" cy="45720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This single table is the empirical justification for the architectural change that separates this paper from its predecessors — and it is the only ablation in the main body.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Why an easier pretext task gives worse representations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The most instructive number in the paper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38</a:t>
            </a:r>
            <a:endParaRPr lang="en-US" sz="900" dirty="0"/>
          </a:p>
        </p:txBody>
      </p:sp>
      <p:sp>
        <p:nvSpPr>
          <p:cNvPr id="10" name="Shape 8"/>
          <p:cNvSpPr/>
          <p:nvPr/>
        </p:nvSpPr>
        <p:spPr>
          <a:xfrm>
            <a:off x="566928" y="1600200"/>
            <a:ext cx="5394960" cy="1783080"/>
          </a:xfrm>
          <a:prstGeom prst="roundRect">
            <a:avLst>
              <a:gd name="adj" fmla="val 3077"/>
            </a:avLst>
          </a:prstGeom>
          <a:solidFill>
            <a:srgbClr val="EFF5F1"/>
          </a:solidFill>
          <a:ln w="19050">
            <a:solidFill>
              <a:srgbClr val="2E7D5B"/>
            </a:solidFill>
            <a:prstDash val="solid"/>
          </a:ln>
        </p:spPr>
        <p:txBody>
          <a:bodyPr/>
          <a:lstStyle/>
          <a:p>
            <a:endParaRPr lang="en-US"/>
          </a:p>
        </p:txBody>
      </p:sp>
      <p:sp>
        <p:nvSpPr>
          <p:cNvPr id="11" name="Text 9"/>
          <p:cNvSpPr txBox="1"/>
          <p:nvPr/>
        </p:nvSpPr>
        <p:spPr>
          <a:xfrm>
            <a:off x="566928" y="1700784"/>
            <a:ext cx="5394960" cy="822960"/>
          </a:xfrm>
          <a:prstGeom prst="rect">
            <a:avLst/>
          </a:prstGeom>
          <a:noFill/>
          <a:ln/>
        </p:spPr>
        <p:txBody>
          <a:bodyPr wrap="square" lIns="0" tIns="0" rIns="0" bIns="0" rtlCol="0" anchor="ctr"/>
          <a:lstStyle/>
          <a:p>
            <a:pPr marL="0" indent="0" algn="ctr">
              <a:buNone/>
            </a:pPr>
            <a:r>
              <a:rPr lang="en-US" sz="5200" b="1" dirty="0">
                <a:solidFill>
                  <a:srgbClr val="2E7D5B"/>
                </a:solidFill>
                <a:latin typeface="Cambria" pitchFamily="34" charset="0"/>
                <a:ea typeface="Cambria" pitchFamily="34" charset="-122"/>
                <a:cs typeface="Cambria" pitchFamily="34" charset="-120"/>
              </a:rPr>
              <a:t>62%</a:t>
            </a:r>
            <a:endParaRPr lang="en-US" sz="5200" dirty="0"/>
          </a:p>
        </p:txBody>
      </p:sp>
      <p:sp>
        <p:nvSpPr>
          <p:cNvPr id="12" name="Text 10"/>
          <p:cNvSpPr txBox="1"/>
          <p:nvPr/>
        </p:nvSpPr>
        <p:spPr>
          <a:xfrm>
            <a:off x="822960" y="2560320"/>
            <a:ext cx="4882896" cy="731520"/>
          </a:xfrm>
          <a:prstGeom prst="rect">
            <a:avLst/>
          </a:prstGeom>
          <a:noFill/>
          <a:ln/>
        </p:spPr>
        <p:txBody>
          <a:bodyPr wrap="square" lIns="0" tIns="0" rIns="0" bIns="0" rtlCol="0" anchor="ctr"/>
          <a:lstStyle/>
          <a:p>
            <a:pPr marL="0" indent="0" algn="ctr">
              <a:buNone/>
            </a:pPr>
            <a:r>
              <a:rPr lang="en-US" sz="1300" dirty="0">
                <a:solidFill>
                  <a:srgbClr val="4A6B62"/>
                </a:solidFill>
                <a:latin typeface="Calibri" pitchFamily="34" charset="0"/>
                <a:ea typeface="Calibri" pitchFamily="34" charset="-122"/>
                <a:cs typeface="Calibri" pitchFamily="34" charset="-120"/>
              </a:rPr>
              <a:t>training accuracy at identifying the correct</a:t>
            </a:r>
            <a:endParaRPr lang="en-US" sz="1300" dirty="0"/>
          </a:p>
          <a:p>
            <a:pPr marL="0" indent="0" algn="ctr">
              <a:buNone/>
            </a:pPr>
            <a:r>
              <a:rPr lang="en-US" sz="1300" dirty="0">
                <a:solidFill>
                  <a:srgbClr val="4A6B62"/>
                </a:solidFill>
                <a:latin typeface="Calibri" pitchFamily="34" charset="0"/>
                <a:ea typeface="Calibri" pitchFamily="34" charset="-122"/>
                <a:cs typeface="Calibri" pitchFamily="34" charset="-120"/>
              </a:rPr>
              <a:t>latent — with quantised targets</a:t>
            </a:r>
            <a:endParaRPr lang="en-US" sz="1300" dirty="0"/>
          </a:p>
        </p:txBody>
      </p:sp>
      <p:sp>
        <p:nvSpPr>
          <p:cNvPr id="13" name="Shape 11"/>
          <p:cNvSpPr/>
          <p:nvPr/>
        </p:nvSpPr>
        <p:spPr>
          <a:xfrm>
            <a:off x="6236208" y="1600200"/>
            <a:ext cx="5394960" cy="1783080"/>
          </a:xfrm>
          <a:prstGeom prst="roundRect">
            <a:avLst>
              <a:gd name="adj" fmla="val 3077"/>
            </a:avLst>
          </a:prstGeom>
          <a:solidFill>
            <a:srgbClr val="F7EEE8"/>
          </a:solidFill>
          <a:ln w="19050">
            <a:solidFill>
              <a:srgbClr val="B5623C"/>
            </a:solidFill>
            <a:prstDash val="solid"/>
          </a:ln>
        </p:spPr>
        <p:txBody>
          <a:bodyPr/>
          <a:lstStyle/>
          <a:p>
            <a:endParaRPr lang="en-US"/>
          </a:p>
        </p:txBody>
      </p:sp>
      <p:sp>
        <p:nvSpPr>
          <p:cNvPr id="14" name="Text 12"/>
          <p:cNvSpPr txBox="1"/>
          <p:nvPr/>
        </p:nvSpPr>
        <p:spPr>
          <a:xfrm>
            <a:off x="6236208" y="1700784"/>
            <a:ext cx="5394960" cy="822960"/>
          </a:xfrm>
          <a:prstGeom prst="rect">
            <a:avLst/>
          </a:prstGeom>
          <a:noFill/>
          <a:ln/>
        </p:spPr>
        <p:txBody>
          <a:bodyPr wrap="square" lIns="0" tIns="0" rIns="0" bIns="0" rtlCol="0" anchor="ctr"/>
          <a:lstStyle/>
          <a:p>
            <a:pPr marL="0" indent="0" algn="ctr">
              <a:buNone/>
            </a:pPr>
            <a:r>
              <a:rPr lang="en-US" sz="5200" b="1" dirty="0">
                <a:solidFill>
                  <a:srgbClr val="B5623C"/>
                </a:solidFill>
                <a:latin typeface="Cambria" pitchFamily="34" charset="0"/>
                <a:ea typeface="Cambria" pitchFamily="34" charset="-122"/>
                <a:cs typeface="Cambria" pitchFamily="34" charset="-120"/>
              </a:rPr>
              <a:t>78%</a:t>
            </a:r>
            <a:endParaRPr lang="en-US" sz="5200" dirty="0"/>
          </a:p>
        </p:txBody>
      </p:sp>
      <p:sp>
        <p:nvSpPr>
          <p:cNvPr id="15" name="Text 13"/>
          <p:cNvSpPr txBox="1"/>
          <p:nvPr/>
        </p:nvSpPr>
        <p:spPr>
          <a:xfrm>
            <a:off x="6492240" y="2560320"/>
            <a:ext cx="4882896" cy="731520"/>
          </a:xfrm>
          <a:prstGeom prst="rect">
            <a:avLst/>
          </a:prstGeom>
          <a:noFill/>
          <a:ln/>
        </p:spPr>
        <p:txBody>
          <a:bodyPr wrap="square" lIns="0" tIns="0" rIns="0" bIns="0" rtlCol="0" anchor="ctr"/>
          <a:lstStyle/>
          <a:p>
            <a:pPr marL="0" indent="0" algn="ctr">
              <a:buNone/>
            </a:pPr>
            <a:r>
              <a:rPr lang="en-US" sz="1300" dirty="0">
                <a:solidFill>
                  <a:srgbClr val="4A6B62"/>
                </a:solidFill>
                <a:latin typeface="Calibri" pitchFamily="34" charset="0"/>
                <a:ea typeface="Calibri" pitchFamily="34" charset="-122"/>
                <a:cs typeface="Calibri" pitchFamily="34" charset="-120"/>
              </a:rPr>
              <a:t>training accuracy with continuous targets</a:t>
            </a:r>
            <a:endParaRPr lang="en-US" sz="1300" dirty="0"/>
          </a:p>
          <a:p>
            <a:pPr marL="0" indent="0" algn="ctr">
              <a:buNone/>
            </a:pPr>
            <a:r>
              <a:rPr lang="en-US" sz="1300" dirty="0">
                <a:solidFill>
                  <a:srgbClr val="4A6B62"/>
                </a:solidFill>
                <a:latin typeface="Calibri" pitchFamily="34" charset="0"/>
                <a:ea typeface="Calibri" pitchFamily="34" charset="-122"/>
                <a:cs typeface="Calibri" pitchFamily="34" charset="-120"/>
              </a:rPr>
              <a:t>— and worse downstream WER</a:t>
            </a:r>
            <a:endParaRPr lang="en-US" sz="1300" dirty="0"/>
          </a:p>
        </p:txBody>
      </p:sp>
      <p:sp>
        <p:nvSpPr>
          <p:cNvPr id="16" name="Shape 14"/>
          <p:cNvSpPr/>
          <p:nvPr/>
        </p:nvSpPr>
        <p:spPr>
          <a:xfrm>
            <a:off x="566928" y="3547872"/>
            <a:ext cx="11064240" cy="2505456"/>
          </a:xfrm>
          <a:prstGeom prst="roundRect">
            <a:avLst>
              <a:gd name="adj" fmla="val 2190"/>
            </a:avLst>
          </a:prstGeom>
          <a:solidFill>
            <a:srgbClr val="13302A"/>
          </a:solidFill>
          <a:ln w="12700">
            <a:solidFill>
              <a:srgbClr val="13302A"/>
            </a:solidFill>
            <a:prstDash val="solid"/>
          </a:ln>
        </p:spPr>
        <p:txBody>
          <a:bodyPr/>
          <a:lstStyle/>
          <a:p>
            <a:endParaRPr lang="en-US"/>
          </a:p>
        </p:txBody>
      </p:sp>
      <p:sp>
        <p:nvSpPr>
          <p:cNvPr id="17" name="Shape 15"/>
          <p:cNvSpPr/>
          <p:nvPr/>
        </p:nvSpPr>
        <p:spPr>
          <a:xfrm>
            <a:off x="786384" y="3840480"/>
            <a:ext cx="109728" cy="109728"/>
          </a:xfrm>
          <a:prstGeom prst="ellipse">
            <a:avLst/>
          </a:prstGeom>
          <a:solidFill>
            <a:srgbClr val="B7D24A"/>
          </a:solidFill>
          <a:ln w="12700">
            <a:solidFill>
              <a:srgbClr val="333333"/>
            </a:solidFill>
            <a:prstDash val="solid"/>
          </a:ln>
        </p:spPr>
        <p:txBody>
          <a:bodyPr/>
          <a:lstStyle/>
          <a:p>
            <a:endParaRPr lang="en-US"/>
          </a:p>
        </p:txBody>
      </p:sp>
      <p:sp>
        <p:nvSpPr>
          <p:cNvPr id="18" name="Text 16"/>
          <p:cNvSpPr txBox="1"/>
          <p:nvPr/>
        </p:nvSpPr>
        <p:spPr>
          <a:xfrm>
            <a:off x="987552" y="3712464"/>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pretext task got easier and the representation got worse</a:t>
            </a:r>
            <a:endParaRPr lang="en-US" sz="1500" dirty="0"/>
          </a:p>
        </p:txBody>
      </p:sp>
      <p:sp>
        <p:nvSpPr>
          <p:cNvPr id="19" name="Text 17"/>
          <p:cNvSpPr txBox="1"/>
          <p:nvPr/>
        </p:nvSpPr>
        <p:spPr>
          <a:xfrm>
            <a:off x="822960" y="4151376"/>
            <a:ext cx="10552176" cy="1719072"/>
          </a:xfrm>
          <a:prstGeom prst="rect">
            <a:avLst/>
          </a:prstGeom>
          <a:noFill/>
          <a:ln/>
        </p:spPr>
        <p:txBody>
          <a:bodyPr wrap="square" lIns="0" tIns="0" rIns="0" bIns="0" rtlCol="0" anchor="t"/>
          <a:lstStyle/>
          <a:p>
            <a:pPr marL="0" indent="0">
              <a:lnSpc>
                <a:spcPct val="108000"/>
              </a:lnSpc>
              <a:buNone/>
            </a:pPr>
            <a:r>
              <a:rPr lang="en-US" sz="1260" dirty="0">
                <a:solidFill>
                  <a:srgbClr val="C6DCD2"/>
                </a:solidFill>
                <a:latin typeface="Calibri" pitchFamily="34" charset="0"/>
                <a:ea typeface="Calibri" pitchFamily="34" charset="-122"/>
                <a:cs typeface="Calibri" pitchFamily="34" charset="-120"/>
              </a:rPr>
              <a:t>With continuous targets the model solves its own training task substantially better — and transcribes speech substantially worse. The authors' explanation: continuous targets capture detailed artefacts of the current sequence, such as speaker identity and background, which make the task easier and prevent general representations.</a:t>
            </a:r>
            <a:endParaRPr lang="en-US" sz="1260" dirty="0"/>
          </a:p>
          <a:p>
            <a:pPr marL="0" indent="0">
              <a:lnSpc>
                <a:spcPct val="108000"/>
              </a:lnSpc>
              <a:buNone/>
            </a:pPr>
            <a:endParaRPr lang="en-US" sz="1260" dirty="0"/>
          </a:p>
          <a:p>
            <a:pPr marL="0" indent="0">
              <a:lnSpc>
                <a:spcPct val="108000"/>
              </a:lnSpc>
              <a:buNone/>
            </a:pPr>
            <a:r>
              <a:rPr lang="en-US" sz="1260" dirty="0">
                <a:solidFill>
                  <a:srgbClr val="C6DCD2"/>
                </a:solidFill>
                <a:latin typeface="Calibri" pitchFamily="34" charset="0"/>
                <a:ea typeface="Calibri" pitchFamily="34" charset="-122"/>
                <a:cs typeface="Calibri" pitchFamily="34" charset="-120"/>
              </a:rPr>
              <a:t>The model finds a shortcut. Matching a continuous target can be done on timbre alone; matching a discrete one cannot, because speakers saying the same sound share a codeword.</a:t>
            </a:r>
            <a:endParaRPr lang="en-US" sz="1260" dirty="0"/>
          </a:p>
          <a:p>
            <a:pPr marL="0" indent="0">
              <a:lnSpc>
                <a:spcPct val="108000"/>
              </a:lnSpc>
              <a:buNone/>
            </a:pPr>
            <a:endParaRPr lang="en-US" sz="1260" dirty="0"/>
          </a:p>
          <a:p>
            <a:pPr marL="0" indent="0">
              <a:lnSpc>
                <a:spcPct val="108000"/>
              </a:lnSpc>
              <a:buNone/>
            </a:pPr>
            <a:r>
              <a:rPr lang="en-US" sz="1260" dirty="0">
                <a:solidFill>
                  <a:srgbClr val="C6DCD2"/>
                </a:solidFill>
                <a:latin typeface="Calibri" pitchFamily="34" charset="0"/>
                <a:ea typeface="Calibri" pitchFamily="34" charset="-122"/>
                <a:cs typeface="Calibri" pitchFamily="34" charset="-120"/>
              </a:rPr>
              <a:t>The lesson generalises: pretext-task accuracy is not a measure of representation quality, and can be inversely related to it.</a:t>
            </a:r>
            <a:endParaRPr lang="en-US" sz="12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7</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What do the representations encode?</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Evidence from the paper, and from the interpretability work that followed</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39</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Do the learned discrete units correspond to phonemes?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The question the quantiser makes it possible to ask</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40</a:t>
            </a:r>
            <a:endParaRPr lang="en-US" sz="900" dirty="0"/>
          </a:p>
        </p:txBody>
      </p:sp>
      <p:sp>
        <p:nvSpPr>
          <p:cNvPr id="10" name="Shape 8"/>
          <p:cNvSpPr/>
          <p:nvPr/>
        </p:nvSpPr>
        <p:spPr>
          <a:xfrm>
            <a:off x="566928" y="1554480"/>
            <a:ext cx="5440680"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What the paper offers</a:t>
            </a:r>
            <a:endParaRPr lang="en-US" sz="1500" dirty="0"/>
          </a:p>
        </p:txBody>
      </p:sp>
      <p:sp>
        <p:nvSpPr>
          <p:cNvPr id="13" name="Text 11"/>
          <p:cNvSpPr txBox="1"/>
          <p:nvPr/>
        </p:nvSpPr>
        <p:spPr>
          <a:xfrm>
            <a:off x="822960" y="215798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An appendix analysis relating the learned discrete latent speech representations to phonemes, alongside the TIMIT result that shows the representation supports phoneme recognition after very little fine-tuning.</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The inventory is not designed to be phonemic — nothing in the objective mentions phonemes — so any alignment is emergent.</a:t>
            </a:r>
            <a:endParaRPr lang="en-US" sz="1280" dirty="0"/>
          </a:p>
        </p:txBody>
      </p:sp>
      <p:sp>
        <p:nvSpPr>
          <p:cNvPr id="14" name="Shape 12"/>
          <p:cNvSpPr/>
          <p:nvPr/>
        </p:nvSpPr>
        <p:spPr>
          <a:xfrm>
            <a:off x="6190488" y="1554480"/>
            <a:ext cx="5440680"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6409944" y="1847088"/>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Why this is interesting beyond ASR</a:t>
            </a:r>
            <a:endParaRPr lang="en-US" sz="1500" dirty="0"/>
          </a:p>
        </p:txBody>
      </p:sp>
      <p:sp>
        <p:nvSpPr>
          <p:cNvPr id="17" name="Text 15"/>
          <p:cNvSpPr txBox="1"/>
          <p:nvPr/>
        </p:nvSpPr>
        <p:spPr>
          <a:xfrm>
            <a:off x="6446520" y="2157984"/>
            <a:ext cx="4928616" cy="1499616"/>
          </a:xfrm>
          <a:prstGeom prst="rect">
            <a:avLst/>
          </a:prstGeom>
          <a:noFill/>
          <a:ln/>
        </p:spPr>
        <p:txBody>
          <a:bodyPr wrap="square" lIns="0" tIns="0" rIns="0" bIns="0" rtlCol="0" anchor="t"/>
          <a:lstStyle/>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A discrete inventory learned from raw audio is a candidate model of how a listener might acquire sound categories without supervision.</a:t>
            </a:r>
            <a:endParaRPr lang="en-US" sz="1280" dirty="0"/>
          </a:p>
          <a:p>
            <a:pPr marL="0" indent="0">
              <a:lnSpc>
                <a:spcPct val="108000"/>
              </a:lnSpc>
              <a:buNone/>
            </a:pPr>
            <a:endParaRPr lang="en-US" sz="1280" dirty="0"/>
          </a:p>
          <a:p>
            <a:pPr marL="0" indent="0">
              <a:lnSpc>
                <a:spcPct val="108000"/>
              </a:lnSpc>
              <a:buNone/>
            </a:pPr>
            <a:r>
              <a:rPr lang="en-US" sz="1280" dirty="0">
                <a:solidFill>
                  <a:srgbClr val="2C3B36"/>
                </a:solidFill>
                <a:latin typeface="Calibri" pitchFamily="34" charset="0"/>
                <a:ea typeface="Calibri" pitchFamily="34" charset="-122"/>
                <a:cs typeface="Calibri" pitchFamily="34" charset="-120"/>
              </a:rPr>
              <a:t>It is also the direct ancestor of the discrete speech units used in textless language modelling and in the token vocabularies of modern speech language models.</a:t>
            </a:r>
            <a:endParaRPr lang="en-US" sz="1280" dirty="0"/>
          </a:p>
        </p:txBody>
      </p:sp>
      <p:sp>
        <p:nvSpPr>
          <p:cNvPr id="18" name="Text 16"/>
          <p:cNvSpPr txBox="1"/>
          <p:nvPr/>
        </p:nvSpPr>
        <p:spPr>
          <a:xfrm>
            <a:off x="566928" y="4041648"/>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The alignment is partial, not clean. There are far more codewords in use than there are phonemes, and the correspondence is many-to-one rather than one-to-one.</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Codewords also carry information the phoneme label does not — context, position within a segment, and some speaker and channel characteristics.</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For our purposes, that residue is the interesting part: information the ASR objective treats as nuisance is exactly the information an affective-computing task wants.</a:t>
            </a:r>
            <a:endParaRPr lang="en-US" sz="1280" dirty="0"/>
          </a:p>
          <a:p>
            <a:pPr marL="342900" indent="-342900">
              <a:spcAft>
                <a:spcPts val="800"/>
              </a:spcAft>
              <a:buSzPct val="100000"/>
              <a:buChar char="●"/>
            </a:pPr>
            <a:r>
              <a:rPr lang="en-US" sz="1280" dirty="0">
                <a:solidFill>
                  <a:srgbClr val="2C3B36"/>
                </a:solidFill>
                <a:latin typeface="Calibri" pitchFamily="34" charset="0"/>
                <a:ea typeface="Calibri" pitchFamily="34" charset="-122"/>
                <a:cs typeface="Calibri" pitchFamily="34" charset="-120"/>
              </a:rPr>
              <a:t>Be careful with the strong claim. 'The model discovers phonemes' is an overstatement of what this analysis supports; 'the units are phonetically structured' is defensible.</a:t>
            </a:r>
            <a:endParaRPr lang="en-US" sz="12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What each layer encodes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From the interpretability work that followed — Pasad, Chou &amp; Livescu (2021)</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41</a:t>
            </a:r>
            <a:endParaRPr lang="en-US" sz="900" dirty="0"/>
          </a:p>
        </p:txBody>
      </p:sp>
      <p:sp>
        <p:nvSpPr>
          <p:cNvPr id="10" name="Shape 8"/>
          <p:cNvSpPr/>
          <p:nvPr/>
        </p:nvSpPr>
        <p:spPr>
          <a:xfrm>
            <a:off x="566928" y="1600200"/>
            <a:ext cx="11064240" cy="1600200"/>
          </a:xfrm>
          <a:prstGeom prst="roundRect">
            <a:avLst>
              <a:gd name="adj" fmla="val 3429"/>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822960" y="2103120"/>
            <a:ext cx="1920240" cy="384048"/>
          </a:xfrm>
          <a:prstGeom prst="roundRect">
            <a:avLst>
              <a:gd name="adj" fmla="val 9524"/>
            </a:avLst>
          </a:prstGeom>
          <a:solidFill>
            <a:srgbClr val="9BBFAE"/>
          </a:solidFill>
          <a:ln w="12700">
            <a:solidFill>
              <a:srgbClr val="333333"/>
            </a:solidFill>
            <a:prstDash val="solid"/>
          </a:ln>
        </p:spPr>
        <p:txBody>
          <a:bodyPr/>
          <a:lstStyle/>
          <a:p>
            <a:endParaRPr lang="en-US"/>
          </a:p>
        </p:txBody>
      </p:sp>
      <p:sp>
        <p:nvSpPr>
          <p:cNvPr id="12" name="Text 10"/>
          <p:cNvSpPr txBox="1"/>
          <p:nvPr/>
        </p:nvSpPr>
        <p:spPr>
          <a:xfrm>
            <a:off x="822960" y="2148840"/>
            <a:ext cx="192024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acoustic</a:t>
            </a:r>
            <a:endParaRPr lang="en-US" sz="1050" dirty="0"/>
          </a:p>
        </p:txBody>
      </p:sp>
      <p:sp>
        <p:nvSpPr>
          <p:cNvPr id="13" name="Text 11"/>
          <p:cNvSpPr txBox="1"/>
          <p:nvPr/>
        </p:nvSpPr>
        <p:spPr>
          <a:xfrm>
            <a:off x="731520" y="2560320"/>
            <a:ext cx="2103120" cy="548640"/>
          </a:xfrm>
          <a:prstGeom prst="rect">
            <a:avLst/>
          </a:prstGeom>
          <a:noFill/>
          <a:ln/>
        </p:spPr>
        <p:txBody>
          <a:bodyPr wrap="square" lIns="0" tIns="0" rIns="0" bIns="0" rtlCol="0" anchor="ctr"/>
          <a:lstStyle/>
          <a:p>
            <a:pPr marL="0" indent="0" algn="ctr">
              <a:buNone/>
            </a:pPr>
            <a:r>
              <a:rPr lang="en-US" sz="1050" dirty="0">
                <a:solidFill>
                  <a:srgbClr val="4A6B62"/>
                </a:solidFill>
                <a:latin typeface="Calibri" pitchFamily="34" charset="0"/>
                <a:ea typeface="Calibri" pitchFamily="34" charset="-122"/>
                <a:cs typeface="Calibri" pitchFamily="34" charset="-120"/>
              </a:rPr>
              <a:t>Convolutional</a:t>
            </a:r>
            <a:endParaRPr lang="en-US" sz="1050" dirty="0"/>
          </a:p>
          <a:p>
            <a:pPr marL="0" indent="0" algn="ctr">
              <a:buNone/>
            </a:pPr>
            <a:r>
              <a:rPr lang="en-US" sz="1050" dirty="0">
                <a:solidFill>
                  <a:srgbClr val="4A6B62"/>
                </a:solidFill>
                <a:latin typeface="Calibri" pitchFamily="34" charset="0"/>
                <a:ea typeface="Calibri" pitchFamily="34" charset="-122"/>
                <a:cs typeface="Calibri" pitchFamily="34" charset="-120"/>
              </a:rPr>
              <a:t>front end</a:t>
            </a:r>
            <a:endParaRPr lang="en-US" sz="1050" dirty="0"/>
          </a:p>
        </p:txBody>
      </p:sp>
      <p:sp>
        <p:nvSpPr>
          <p:cNvPr id="14" name="Shape 12"/>
          <p:cNvSpPr/>
          <p:nvPr/>
        </p:nvSpPr>
        <p:spPr>
          <a:xfrm>
            <a:off x="3017520" y="2103120"/>
            <a:ext cx="1920240" cy="384048"/>
          </a:xfrm>
          <a:prstGeom prst="roundRect">
            <a:avLst>
              <a:gd name="adj" fmla="val 9524"/>
            </a:avLst>
          </a:prstGeom>
          <a:solidFill>
            <a:srgbClr val="7FAF9A"/>
          </a:solidFill>
          <a:ln w="12700">
            <a:solidFill>
              <a:srgbClr val="333333"/>
            </a:solidFill>
            <a:prstDash val="solid"/>
          </a:ln>
        </p:spPr>
        <p:txBody>
          <a:bodyPr/>
          <a:lstStyle/>
          <a:p>
            <a:endParaRPr lang="en-US"/>
          </a:p>
        </p:txBody>
      </p:sp>
      <p:sp>
        <p:nvSpPr>
          <p:cNvPr id="15" name="Text 13"/>
          <p:cNvSpPr txBox="1"/>
          <p:nvPr/>
        </p:nvSpPr>
        <p:spPr>
          <a:xfrm>
            <a:off x="3017520" y="2148840"/>
            <a:ext cx="192024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acoustic</a:t>
            </a:r>
            <a:endParaRPr lang="en-US" sz="1050" dirty="0"/>
          </a:p>
        </p:txBody>
      </p:sp>
      <p:sp>
        <p:nvSpPr>
          <p:cNvPr id="16" name="Text 14"/>
          <p:cNvSpPr txBox="1"/>
          <p:nvPr/>
        </p:nvSpPr>
        <p:spPr>
          <a:xfrm>
            <a:off x="2926080" y="2560320"/>
            <a:ext cx="2103120" cy="548640"/>
          </a:xfrm>
          <a:prstGeom prst="rect">
            <a:avLst/>
          </a:prstGeom>
          <a:noFill/>
          <a:ln/>
        </p:spPr>
        <p:txBody>
          <a:bodyPr wrap="square" lIns="0" tIns="0" rIns="0" bIns="0" rtlCol="0" anchor="ctr"/>
          <a:lstStyle/>
          <a:p>
            <a:pPr marL="0" indent="0" algn="ctr">
              <a:buNone/>
            </a:pPr>
            <a:r>
              <a:rPr lang="en-US" sz="1050" dirty="0">
                <a:solidFill>
                  <a:srgbClr val="4A6B62"/>
                </a:solidFill>
                <a:latin typeface="Calibri" pitchFamily="34" charset="0"/>
                <a:ea typeface="Calibri" pitchFamily="34" charset="-122"/>
                <a:cs typeface="Calibri" pitchFamily="34" charset="-120"/>
              </a:rPr>
              <a:t>Early Transformer</a:t>
            </a:r>
            <a:endParaRPr lang="en-US" sz="1050" dirty="0"/>
          </a:p>
          <a:p>
            <a:pPr marL="0" indent="0" algn="ctr">
              <a:buNone/>
            </a:pPr>
            <a:r>
              <a:rPr lang="en-US" sz="1050" dirty="0">
                <a:solidFill>
                  <a:srgbClr val="4A6B62"/>
                </a:solidFill>
                <a:latin typeface="Calibri" pitchFamily="34" charset="0"/>
                <a:ea typeface="Calibri" pitchFamily="34" charset="-122"/>
                <a:cs typeface="Calibri" pitchFamily="34" charset="-120"/>
              </a:rPr>
              <a:t>layers</a:t>
            </a:r>
            <a:endParaRPr lang="en-US" sz="1050" dirty="0"/>
          </a:p>
        </p:txBody>
      </p:sp>
      <p:sp>
        <p:nvSpPr>
          <p:cNvPr id="17" name="Shape 15"/>
          <p:cNvSpPr/>
          <p:nvPr/>
        </p:nvSpPr>
        <p:spPr>
          <a:xfrm>
            <a:off x="5212080" y="2103120"/>
            <a:ext cx="1920240" cy="384048"/>
          </a:xfrm>
          <a:prstGeom prst="roundRect">
            <a:avLst>
              <a:gd name="adj" fmla="val 9524"/>
            </a:avLst>
          </a:prstGeom>
          <a:solidFill>
            <a:srgbClr val="2E7D5B"/>
          </a:solidFill>
          <a:ln w="12700">
            <a:solidFill>
              <a:srgbClr val="333333"/>
            </a:solidFill>
            <a:prstDash val="solid"/>
          </a:ln>
        </p:spPr>
        <p:txBody>
          <a:bodyPr/>
          <a:lstStyle/>
          <a:p>
            <a:endParaRPr lang="en-US"/>
          </a:p>
        </p:txBody>
      </p:sp>
      <p:sp>
        <p:nvSpPr>
          <p:cNvPr id="18" name="Text 16"/>
          <p:cNvSpPr txBox="1"/>
          <p:nvPr/>
        </p:nvSpPr>
        <p:spPr>
          <a:xfrm>
            <a:off x="5212080" y="2148840"/>
            <a:ext cx="192024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phonetic</a:t>
            </a:r>
            <a:endParaRPr lang="en-US" sz="1050" dirty="0"/>
          </a:p>
        </p:txBody>
      </p:sp>
      <p:sp>
        <p:nvSpPr>
          <p:cNvPr id="19" name="Text 17"/>
          <p:cNvSpPr txBox="1"/>
          <p:nvPr/>
        </p:nvSpPr>
        <p:spPr>
          <a:xfrm>
            <a:off x="5120640" y="2560320"/>
            <a:ext cx="2103120" cy="548640"/>
          </a:xfrm>
          <a:prstGeom prst="rect">
            <a:avLst/>
          </a:prstGeom>
          <a:noFill/>
          <a:ln/>
        </p:spPr>
        <p:txBody>
          <a:bodyPr wrap="square" lIns="0" tIns="0" rIns="0" bIns="0" rtlCol="0" anchor="ctr"/>
          <a:lstStyle/>
          <a:p>
            <a:pPr marL="0" indent="0" algn="ctr">
              <a:buNone/>
            </a:pPr>
            <a:r>
              <a:rPr lang="en-US" sz="1050" dirty="0">
                <a:solidFill>
                  <a:srgbClr val="4A6B62"/>
                </a:solidFill>
                <a:latin typeface="Calibri" pitchFamily="34" charset="0"/>
                <a:ea typeface="Calibri" pitchFamily="34" charset="-122"/>
                <a:cs typeface="Calibri" pitchFamily="34" charset="-120"/>
              </a:rPr>
              <a:t>Middle layers</a:t>
            </a:r>
            <a:endParaRPr lang="en-US" sz="1050" dirty="0"/>
          </a:p>
        </p:txBody>
      </p:sp>
      <p:sp>
        <p:nvSpPr>
          <p:cNvPr id="20" name="Shape 18"/>
          <p:cNvSpPr/>
          <p:nvPr/>
        </p:nvSpPr>
        <p:spPr>
          <a:xfrm>
            <a:off x="7406640" y="2103120"/>
            <a:ext cx="1920240" cy="384048"/>
          </a:xfrm>
          <a:prstGeom prst="roundRect">
            <a:avLst>
              <a:gd name="adj" fmla="val 9524"/>
            </a:avLst>
          </a:prstGeom>
          <a:solidFill>
            <a:srgbClr val="8A7A3E"/>
          </a:solidFill>
          <a:ln w="12700">
            <a:solidFill>
              <a:srgbClr val="333333"/>
            </a:solidFill>
            <a:prstDash val="solid"/>
          </a:ln>
        </p:spPr>
        <p:txBody>
          <a:bodyPr/>
          <a:lstStyle/>
          <a:p>
            <a:endParaRPr lang="en-US"/>
          </a:p>
        </p:txBody>
      </p:sp>
      <p:sp>
        <p:nvSpPr>
          <p:cNvPr id="21" name="Text 19"/>
          <p:cNvSpPr txBox="1"/>
          <p:nvPr/>
        </p:nvSpPr>
        <p:spPr>
          <a:xfrm>
            <a:off x="7406640" y="2148840"/>
            <a:ext cx="192024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word identity</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and meaning</a:t>
            </a:r>
            <a:endParaRPr lang="en-US" sz="1050" dirty="0"/>
          </a:p>
        </p:txBody>
      </p:sp>
      <p:sp>
        <p:nvSpPr>
          <p:cNvPr id="22" name="Text 20"/>
          <p:cNvSpPr txBox="1"/>
          <p:nvPr/>
        </p:nvSpPr>
        <p:spPr>
          <a:xfrm>
            <a:off x="7315200" y="2560320"/>
            <a:ext cx="2103120" cy="548640"/>
          </a:xfrm>
          <a:prstGeom prst="rect">
            <a:avLst/>
          </a:prstGeom>
          <a:noFill/>
          <a:ln/>
        </p:spPr>
        <p:txBody>
          <a:bodyPr wrap="square" lIns="0" tIns="0" rIns="0" bIns="0" rtlCol="0" anchor="ctr"/>
          <a:lstStyle/>
          <a:p>
            <a:pPr marL="0" indent="0" algn="ctr">
              <a:buNone/>
            </a:pPr>
            <a:r>
              <a:rPr lang="en-US" sz="1050" dirty="0">
                <a:solidFill>
                  <a:srgbClr val="4A6B62"/>
                </a:solidFill>
                <a:latin typeface="Calibri" pitchFamily="34" charset="0"/>
                <a:ea typeface="Calibri" pitchFamily="34" charset="-122"/>
                <a:cs typeface="Calibri" pitchFamily="34" charset="-120"/>
              </a:rPr>
              <a:t>Upper-middle layers</a:t>
            </a:r>
            <a:endParaRPr lang="en-US" sz="1050" dirty="0"/>
          </a:p>
        </p:txBody>
      </p:sp>
      <p:sp>
        <p:nvSpPr>
          <p:cNvPr id="23" name="Shape 21"/>
          <p:cNvSpPr/>
          <p:nvPr/>
        </p:nvSpPr>
        <p:spPr>
          <a:xfrm>
            <a:off x="9601200" y="2103120"/>
            <a:ext cx="1920240" cy="384048"/>
          </a:xfrm>
          <a:prstGeom prst="roundRect">
            <a:avLst>
              <a:gd name="adj" fmla="val 9524"/>
            </a:avLst>
          </a:prstGeom>
          <a:solidFill>
            <a:srgbClr val="B5623C"/>
          </a:solidFill>
          <a:ln w="12700">
            <a:solidFill>
              <a:srgbClr val="333333"/>
            </a:solidFill>
            <a:prstDash val="solid"/>
          </a:ln>
        </p:spPr>
        <p:txBody>
          <a:bodyPr/>
          <a:lstStyle/>
          <a:p>
            <a:endParaRPr lang="en-US"/>
          </a:p>
        </p:txBody>
      </p:sp>
      <p:sp>
        <p:nvSpPr>
          <p:cNvPr id="24" name="Text 22"/>
          <p:cNvSpPr txBox="1"/>
          <p:nvPr/>
        </p:nvSpPr>
        <p:spPr>
          <a:xfrm>
            <a:off x="9601200" y="2148840"/>
            <a:ext cx="192024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back toward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the input</a:t>
            </a:r>
            <a:endParaRPr lang="en-US" sz="1050" dirty="0"/>
          </a:p>
        </p:txBody>
      </p:sp>
      <p:sp>
        <p:nvSpPr>
          <p:cNvPr id="25" name="Text 23"/>
          <p:cNvSpPr txBox="1"/>
          <p:nvPr/>
        </p:nvSpPr>
        <p:spPr>
          <a:xfrm>
            <a:off x="9509760" y="2560320"/>
            <a:ext cx="2103120" cy="548640"/>
          </a:xfrm>
          <a:prstGeom prst="rect">
            <a:avLst/>
          </a:prstGeom>
          <a:noFill/>
          <a:ln/>
        </p:spPr>
        <p:txBody>
          <a:bodyPr wrap="square" lIns="0" tIns="0" rIns="0" bIns="0" rtlCol="0" anchor="ctr"/>
          <a:lstStyle/>
          <a:p>
            <a:pPr marL="0" indent="0" algn="ctr">
              <a:buNone/>
            </a:pPr>
            <a:r>
              <a:rPr lang="en-US" sz="1050" dirty="0">
                <a:solidFill>
                  <a:srgbClr val="4A6B62"/>
                </a:solidFill>
                <a:latin typeface="Calibri" pitchFamily="34" charset="0"/>
                <a:ea typeface="Calibri" pitchFamily="34" charset="-122"/>
                <a:cs typeface="Calibri" pitchFamily="34" charset="-120"/>
              </a:rPr>
              <a:t>Deepest layers</a:t>
            </a:r>
            <a:endParaRPr lang="en-US" sz="1050" dirty="0"/>
          </a:p>
        </p:txBody>
      </p:sp>
      <p:sp>
        <p:nvSpPr>
          <p:cNvPr id="26" name="Text 24"/>
          <p:cNvSpPr txBox="1"/>
          <p:nvPr/>
        </p:nvSpPr>
        <p:spPr>
          <a:xfrm>
            <a:off x="822960" y="1737360"/>
            <a:ext cx="2743200" cy="256032"/>
          </a:xfrm>
          <a:prstGeom prst="rect">
            <a:avLst/>
          </a:prstGeom>
          <a:noFill/>
          <a:ln/>
        </p:spPr>
        <p:txBody>
          <a:bodyPr wrap="square" lIns="0" tIns="0" rIns="0" bIns="0" rtlCol="0" anchor="ctr"/>
          <a:lstStyle/>
          <a:p>
            <a:pPr marL="0" indent="0">
              <a:buNone/>
            </a:pPr>
            <a:r>
              <a:rPr lang="en-US" sz="1100" b="1" dirty="0">
                <a:solidFill>
                  <a:srgbClr val="0E241E"/>
                </a:solidFill>
                <a:latin typeface="Calibri" pitchFamily="34" charset="0"/>
                <a:ea typeface="Calibri" pitchFamily="34" charset="-122"/>
                <a:cs typeface="Calibri" pitchFamily="34" charset="-120"/>
              </a:rPr>
              <a:t>shallow  →  deep</a:t>
            </a:r>
            <a:endParaRPr lang="en-US" sz="1100" dirty="0"/>
          </a:p>
        </p:txBody>
      </p:sp>
      <p:sp>
        <p:nvSpPr>
          <p:cNvPr id="27" name="Text 25"/>
          <p:cNvSpPr txBox="1"/>
          <p:nvPr/>
        </p:nvSpPr>
        <p:spPr>
          <a:xfrm>
            <a:off x="566928" y="3383280"/>
            <a:ext cx="11064240" cy="2670048"/>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2C3B36"/>
                </a:solidFill>
                <a:latin typeface="Calibri" pitchFamily="34" charset="0"/>
                <a:ea typeface="Calibri" pitchFamily="34" charset="-122"/>
                <a:cs typeface="Calibri" pitchFamily="34" charset="-120"/>
              </a:rPr>
              <a:t>The Transformer layers behave like an autoencoder: representations move away from the input as depth increases, then move back toward it in the deepest layers, as if reconstructing what they started from.</a:t>
            </a:r>
            <a:endParaRPr lang="en-US" sz="1260" dirty="0"/>
          </a:p>
          <a:p>
            <a:pPr marL="342900" indent="-342900">
              <a:spcAft>
                <a:spcPts val="800"/>
              </a:spcAft>
              <a:buSzPct val="100000"/>
              <a:buChar char="●"/>
            </a:pPr>
            <a:r>
              <a:rPr lang="en-US" sz="1260" dirty="0">
                <a:solidFill>
                  <a:srgbClr val="2C3B36"/>
                </a:solidFill>
                <a:latin typeface="Calibri" pitchFamily="34" charset="0"/>
                <a:ea typeface="Calibri" pitchFamily="34" charset="-122"/>
                <a:cs typeface="Calibri" pitchFamily="34" charset="-120"/>
              </a:rPr>
              <a:t>That reversal is a direct consequence of the objective — the model is trained to predict a quantised version of its own encoder output, so the last layers are pulled back toward that output.</a:t>
            </a:r>
            <a:endParaRPr lang="en-US" sz="1260" dirty="0"/>
          </a:p>
          <a:p>
            <a:pPr marL="342900" indent="-342900">
              <a:spcAft>
                <a:spcPts val="800"/>
              </a:spcAft>
              <a:buSzPct val="100000"/>
              <a:buChar char="●"/>
            </a:pPr>
            <a:r>
              <a:rPr lang="en-US" sz="1260" dirty="0">
                <a:solidFill>
                  <a:srgbClr val="2C3B36"/>
                </a:solidFill>
                <a:latin typeface="Calibri" pitchFamily="34" charset="0"/>
                <a:ea typeface="Calibri" pitchFamily="34" charset="-122"/>
                <a:cs typeface="Calibri" pitchFamily="34" charset="-120"/>
              </a:rPr>
              <a:t>In between, the layer-wise evolution tracks the linguistic hierarchy: acoustic, then phonetic, then word identity and word meaning, in that order.</a:t>
            </a:r>
            <a:endParaRPr lang="en-US" sz="1260" dirty="0"/>
          </a:p>
          <a:p>
            <a:pPr marL="342900" indent="-342900">
              <a:spcAft>
                <a:spcPts val="800"/>
              </a:spcAft>
              <a:buSzPct val="100000"/>
              <a:buChar char="●"/>
            </a:pPr>
            <a:r>
              <a:rPr lang="en-US" sz="1260" dirty="0">
                <a:solidFill>
                  <a:srgbClr val="2C3B36"/>
                </a:solidFill>
                <a:latin typeface="Calibri" pitchFamily="34" charset="0"/>
                <a:ea typeface="Calibri" pitchFamily="34" charset="-122"/>
                <a:cs typeface="Calibri" pitchFamily="34" charset="-120"/>
              </a:rPr>
              <a:t>The final convolutional layers and earliest Transformer layers correlate strongly with mel spectrogram features — the model relearns something like a conventional front end.</a:t>
            </a:r>
            <a:endParaRPr lang="en-US" sz="1260" dirty="0"/>
          </a:p>
          <a:p>
            <a:pPr marL="342900" indent="-342900">
              <a:spcAft>
                <a:spcPts val="800"/>
              </a:spcAft>
              <a:buSzPct val="100000"/>
              <a:buChar char="●"/>
            </a:pPr>
            <a:r>
              <a:rPr lang="en-US" sz="1260" dirty="0">
                <a:solidFill>
                  <a:srgbClr val="2C3B36"/>
                </a:solidFill>
                <a:latin typeface="Calibri" pitchFamily="34" charset="0"/>
                <a:ea typeface="Calibri" pitchFamily="34" charset="-122"/>
                <a:cs typeface="Calibri" pitchFamily="34" charset="-120"/>
              </a:rPr>
              <a:t>Fine-tuning for speech recognition breaks the autoencoder behaviour, especially in the last few layers, which then become much better at encoding word identity.</a:t>
            </a:r>
            <a:endParaRPr lang="en-US" sz="126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practical consequence</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The last layer is usually the wrong layer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42</a:t>
            </a:r>
            <a:endParaRPr lang="en-US" sz="900" dirty="0"/>
          </a:p>
        </p:txBody>
      </p:sp>
      <p:sp>
        <p:nvSpPr>
          <p:cNvPr id="10" name="Shape 8"/>
          <p:cNvSpPr/>
          <p:nvPr/>
        </p:nvSpPr>
        <p:spPr>
          <a:xfrm>
            <a:off x="566928" y="1572768"/>
            <a:ext cx="3584448" cy="1755648"/>
          </a:xfrm>
          <a:prstGeom prst="roundRect">
            <a:avLst>
              <a:gd name="adj" fmla="val 3125"/>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The habit</a:t>
            </a:r>
            <a:endParaRPr lang="en-US" sz="1500" dirty="0"/>
          </a:p>
        </p:txBody>
      </p:sp>
      <p:sp>
        <p:nvSpPr>
          <p:cNvPr id="13" name="Text 11"/>
          <p:cNvSpPr txBox="1"/>
          <p:nvPr/>
        </p:nvSpPr>
        <p:spPr>
          <a:xfrm>
            <a:off x="822960" y="2176272"/>
            <a:ext cx="3072384" cy="969264"/>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Take the final hidden state, pool it, put a classifier on top. Inherited from image models, where the deepest layer is the most abstract.</a:t>
            </a:r>
            <a:endParaRPr lang="en-US" sz="1260" dirty="0"/>
          </a:p>
        </p:txBody>
      </p:sp>
      <p:sp>
        <p:nvSpPr>
          <p:cNvPr id="14" name="Shape 12"/>
          <p:cNvSpPr/>
          <p:nvPr/>
        </p:nvSpPr>
        <p:spPr>
          <a:xfrm>
            <a:off x="4279392" y="1572768"/>
            <a:ext cx="3584448" cy="1755648"/>
          </a:xfrm>
          <a:prstGeom prst="roundRect">
            <a:avLst>
              <a:gd name="adj" fmla="val 3125"/>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4498848" y="1865376"/>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Why it fails here</a:t>
            </a:r>
            <a:endParaRPr lang="en-US" sz="1500" dirty="0"/>
          </a:p>
        </p:txBody>
      </p:sp>
      <p:sp>
        <p:nvSpPr>
          <p:cNvPr id="17" name="Text 15"/>
          <p:cNvSpPr txBox="1"/>
          <p:nvPr/>
        </p:nvSpPr>
        <p:spPr>
          <a:xfrm>
            <a:off x="4535424" y="2176272"/>
            <a:ext cx="3072384" cy="969264"/>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In a pre-trained wav2vec 2.0 the deepest layers are drifting back toward the encoder output. The most linguistically abstract information sits in the middle of the stack, not the top.</a:t>
            </a:r>
            <a:endParaRPr lang="en-US" sz="1260" dirty="0"/>
          </a:p>
        </p:txBody>
      </p:sp>
      <p:sp>
        <p:nvSpPr>
          <p:cNvPr id="18" name="Shape 16"/>
          <p:cNvSpPr/>
          <p:nvPr/>
        </p:nvSpPr>
        <p:spPr>
          <a:xfrm>
            <a:off x="7991856" y="1572768"/>
            <a:ext cx="3639312" cy="1755648"/>
          </a:xfrm>
          <a:prstGeom prst="roundRect">
            <a:avLst>
              <a:gd name="adj" fmla="val 3125"/>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8211312"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What to do instead</a:t>
            </a:r>
            <a:endParaRPr lang="en-US" sz="1500" dirty="0"/>
          </a:p>
        </p:txBody>
      </p:sp>
      <p:sp>
        <p:nvSpPr>
          <p:cNvPr id="21" name="Text 19"/>
          <p:cNvSpPr txBox="1"/>
          <p:nvPr/>
        </p:nvSpPr>
        <p:spPr>
          <a:xfrm>
            <a:off x="8247888" y="2176272"/>
            <a:ext cx="3127248" cy="969264"/>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Learn a weighted sum over all layers, with the weights trained jointly with the downstream head. This is now standard practice in speech benchmark suites.</a:t>
            </a:r>
            <a:endParaRPr lang="en-US" sz="1260" dirty="0"/>
          </a:p>
        </p:txBody>
      </p:sp>
      <p:sp>
        <p:nvSpPr>
          <p:cNvPr id="22" name="Shape 20"/>
          <p:cNvSpPr/>
          <p:nvPr/>
        </p:nvSpPr>
        <p:spPr>
          <a:xfrm>
            <a:off x="566928" y="3529584"/>
            <a:ext cx="11064240" cy="2523744"/>
          </a:xfrm>
          <a:prstGeom prst="roundRect">
            <a:avLst>
              <a:gd name="adj" fmla="val 2174"/>
            </a:avLst>
          </a:prstGeom>
          <a:solidFill>
            <a:srgbClr val="13302A"/>
          </a:solidFill>
          <a:ln w="12700">
            <a:solidFill>
              <a:srgbClr val="13302A"/>
            </a:solidFill>
            <a:prstDash val="solid"/>
          </a:ln>
        </p:spPr>
        <p:txBody>
          <a:bodyPr/>
          <a:lstStyle/>
          <a:p>
            <a:endParaRPr lang="en-US"/>
          </a:p>
        </p:txBody>
      </p:sp>
      <p:sp>
        <p:nvSpPr>
          <p:cNvPr id="23" name="Shape 21"/>
          <p:cNvSpPr/>
          <p:nvPr/>
        </p:nvSpPr>
        <p:spPr>
          <a:xfrm>
            <a:off x="786384" y="3822192"/>
            <a:ext cx="109728" cy="109728"/>
          </a:xfrm>
          <a:prstGeom prst="ellipse">
            <a:avLst/>
          </a:prstGeom>
          <a:solidFill>
            <a:srgbClr val="B7D24A"/>
          </a:solidFill>
          <a:ln w="12700">
            <a:solidFill>
              <a:srgbClr val="333333"/>
            </a:solidFill>
            <a:prstDash val="solid"/>
          </a:ln>
        </p:spPr>
        <p:txBody>
          <a:bodyPr/>
          <a:lstStyle/>
          <a:p>
            <a:endParaRPr lang="en-US"/>
          </a:p>
        </p:txBody>
      </p:sp>
      <p:sp>
        <p:nvSpPr>
          <p:cNvPr id="24" name="Text 22"/>
          <p:cNvSpPr txBox="1"/>
          <p:nvPr/>
        </p:nvSpPr>
        <p:spPr>
          <a:xfrm>
            <a:off x="987552" y="369417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Three things this implies for anyone using these models</a:t>
            </a:r>
            <a:endParaRPr lang="en-US" sz="1500" dirty="0"/>
          </a:p>
        </p:txBody>
      </p:sp>
      <p:sp>
        <p:nvSpPr>
          <p:cNvPr id="25" name="Text 23"/>
          <p:cNvSpPr txBox="1"/>
          <p:nvPr/>
        </p:nvSpPr>
        <p:spPr>
          <a:xfrm>
            <a:off x="822960" y="4133088"/>
            <a:ext cx="10552176" cy="1737360"/>
          </a:xfrm>
          <a:prstGeom prst="rect">
            <a:avLst/>
          </a:prstGeom>
          <a:noFill/>
          <a:ln/>
        </p:spPr>
        <p:txBody>
          <a:bodyPr wrap="square" lIns="0" tIns="0" rIns="0" bIns="0" rtlCol="0" anchor="t"/>
          <a:lstStyle/>
          <a:p>
            <a:pPr marL="0" indent="0">
              <a:lnSpc>
                <a:spcPct val="108000"/>
              </a:lnSpc>
              <a:buNone/>
            </a:pPr>
            <a:r>
              <a:rPr lang="en-US" sz="1260" dirty="0">
                <a:solidFill>
                  <a:srgbClr val="C6DCD2"/>
                </a:solidFill>
                <a:latin typeface="Calibri" pitchFamily="34" charset="0"/>
                <a:ea typeface="Calibri" pitchFamily="34" charset="-122"/>
                <a:cs typeface="Calibri" pitchFamily="34" charset="-120"/>
              </a:rPr>
              <a:t>First, always try layer aggregation before concluding a pre-trained model is unsuited to your task — the difference is often larger than the difference between models.</a:t>
            </a:r>
            <a:endParaRPr lang="en-US" sz="1260" dirty="0"/>
          </a:p>
          <a:p>
            <a:pPr marL="0" indent="0">
              <a:lnSpc>
                <a:spcPct val="108000"/>
              </a:lnSpc>
              <a:buNone/>
            </a:pPr>
            <a:endParaRPr lang="en-US" sz="1260" dirty="0"/>
          </a:p>
          <a:p>
            <a:pPr marL="0" indent="0">
              <a:lnSpc>
                <a:spcPct val="108000"/>
              </a:lnSpc>
              <a:buNone/>
            </a:pPr>
            <a:r>
              <a:rPr lang="en-US" sz="1260" dirty="0">
                <a:solidFill>
                  <a:srgbClr val="C6DCD2"/>
                </a:solidFill>
                <a:latin typeface="Calibri" pitchFamily="34" charset="0"/>
                <a:ea typeface="Calibri" pitchFamily="34" charset="-122"/>
                <a:cs typeface="Calibri" pitchFamily="34" charset="-120"/>
              </a:rPr>
              <a:t>Second, the learned layer weights are themselves an interpretability result: they tell you where in the linguistic hierarchy your task lives.</a:t>
            </a:r>
            <a:endParaRPr lang="en-US" sz="1260" dirty="0"/>
          </a:p>
          <a:p>
            <a:pPr marL="0" indent="0">
              <a:lnSpc>
                <a:spcPct val="108000"/>
              </a:lnSpc>
              <a:buNone/>
            </a:pPr>
            <a:endParaRPr lang="en-US" sz="1260" dirty="0"/>
          </a:p>
          <a:p>
            <a:pPr marL="0" indent="0">
              <a:lnSpc>
                <a:spcPct val="108000"/>
              </a:lnSpc>
              <a:buNone/>
            </a:pPr>
            <a:r>
              <a:rPr lang="en-US" sz="1260" dirty="0">
                <a:solidFill>
                  <a:srgbClr val="C6DCD2"/>
                </a:solidFill>
                <a:latin typeface="Calibri" pitchFamily="34" charset="0"/>
                <a:ea typeface="Calibri" pitchFamily="34" charset="-122"/>
                <a:cs typeface="Calibri" pitchFamily="34" charset="-120"/>
              </a:rPr>
              <a:t>Third, an ASR-fine-tuned checkpoint is not strictly better than a purely pre-trained one. Fine-tuning specialises the upper layers toward word identity; if your task is not transcription, that may be actively harmful.</a:t>
            </a:r>
            <a:endParaRPr lang="en-US" sz="126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5550408"/>
            <a:ext cx="110642" cy="321869"/>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706710" y="5409590"/>
            <a:ext cx="110642" cy="603504"/>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897819" y="5510174"/>
            <a:ext cx="110642" cy="402336"/>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1088929" y="5349240"/>
            <a:ext cx="110642" cy="724205"/>
          </a:xfrm>
          <a:prstGeom prst="roundRect">
            <a:avLst>
              <a:gd name="adj" fmla="val 16529"/>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280038" y="5490058"/>
            <a:ext cx="110642" cy="442570"/>
          </a:xfrm>
          <a:prstGeom prst="roundRect">
            <a:avLst>
              <a:gd name="adj" fmla="val 16529"/>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B7D24A"/>
                </a:solidFill>
                <a:latin typeface="Cambria" pitchFamily="34" charset="0"/>
                <a:ea typeface="Cambria" pitchFamily="34" charset="-122"/>
                <a:cs typeface="Cambria" pitchFamily="34" charset="-120"/>
              </a:rPr>
              <a:t>8</a:t>
            </a:r>
            <a:endParaRPr lang="en-US" sz="6600" dirty="0"/>
          </a:p>
        </p:txBody>
      </p:sp>
      <p:sp>
        <p:nvSpPr>
          <p:cNvPr id="8" name="Text 6"/>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Limits, legacy, and affective computing</a:t>
            </a:r>
            <a:endParaRPr lang="en-US" sz="3300" dirty="0"/>
          </a:p>
        </p:txBody>
      </p:sp>
      <p:sp>
        <p:nvSpPr>
          <p:cNvPr id="9" name="Text 7"/>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C6DCD2"/>
                </a:solidFill>
                <a:latin typeface="Calibri" pitchFamily="34" charset="0"/>
                <a:ea typeface="Calibri" pitchFamily="34" charset="-122"/>
                <a:cs typeface="Calibri" pitchFamily="34" charset="-120"/>
              </a:rPr>
              <a:t>Where the paper falls short, what it started, and what it means for our work</a:t>
            </a:r>
            <a:endParaRPr lang="en-US" sz="1500" dirty="0"/>
          </a:p>
        </p:txBody>
      </p:sp>
      <p:sp>
        <p:nvSpPr>
          <p:cNvPr id="10" name="Text 8"/>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43</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Limitations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Some acknowledged, some structural, some visible only with hindsight</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44</a:t>
            </a:r>
            <a:endParaRPr lang="en-US" sz="900" dirty="0"/>
          </a:p>
        </p:txBody>
      </p:sp>
      <p:sp>
        <p:nvSpPr>
          <p:cNvPr id="10" name="Shape 8"/>
          <p:cNvSpPr/>
          <p:nvPr/>
        </p:nvSpPr>
        <p:spPr>
          <a:xfrm>
            <a:off x="566928" y="1554480"/>
            <a:ext cx="3584448" cy="2084832"/>
          </a:xfrm>
          <a:prstGeom prst="roundRect">
            <a:avLst>
              <a:gd name="adj" fmla="val 2632"/>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19072"/>
            <a:ext cx="2944368" cy="365760"/>
          </a:xfrm>
          <a:prstGeom prst="rect">
            <a:avLst/>
          </a:prstGeom>
          <a:noFill/>
          <a:ln/>
        </p:spPr>
        <p:txBody>
          <a:bodyPr wrap="square" lIns="0" tIns="0" rIns="0" bIns="0" rtlCol="0" anchor="ctr"/>
          <a:lstStyle/>
          <a:p>
            <a:pPr marL="0" indent="0">
              <a:buNone/>
            </a:pPr>
            <a:r>
              <a:rPr lang="en-US" sz="1400" b="1" dirty="0">
                <a:solidFill>
                  <a:srgbClr val="0E241E"/>
                </a:solidFill>
                <a:latin typeface="Cambria" pitchFamily="34" charset="0"/>
                <a:ea typeface="Cambria" pitchFamily="34" charset="-122"/>
                <a:cs typeface="Cambria" pitchFamily="34" charset="-120"/>
              </a:rPr>
              <a:t>One domain of audio</a:t>
            </a:r>
            <a:endParaRPr lang="en-US" sz="1400" dirty="0"/>
          </a:p>
        </p:txBody>
      </p:sp>
      <p:sp>
        <p:nvSpPr>
          <p:cNvPr id="13" name="Text 11"/>
          <p:cNvSpPr txBox="1"/>
          <p:nvPr/>
        </p:nvSpPr>
        <p:spPr>
          <a:xfrm>
            <a:off x="822960" y="2157984"/>
            <a:ext cx="3072384" cy="1298448"/>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Both unlabelled sets are read audiobook speech: clean, fluent, mostly North American, largely a narrow demographic of volunteer readers. Nothing here is conversational, noisy or emotional.</a:t>
            </a:r>
            <a:endParaRPr lang="en-US" sz="1200" dirty="0"/>
          </a:p>
        </p:txBody>
      </p:sp>
      <p:sp>
        <p:nvSpPr>
          <p:cNvPr id="14" name="Shape 12"/>
          <p:cNvSpPr/>
          <p:nvPr/>
        </p:nvSpPr>
        <p:spPr>
          <a:xfrm>
            <a:off x="4279392" y="1554480"/>
            <a:ext cx="3584448" cy="2084832"/>
          </a:xfrm>
          <a:prstGeom prst="roundRect">
            <a:avLst>
              <a:gd name="adj" fmla="val 2632"/>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4498848"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4700016" y="1719072"/>
            <a:ext cx="2944368" cy="365760"/>
          </a:xfrm>
          <a:prstGeom prst="rect">
            <a:avLst/>
          </a:prstGeom>
          <a:noFill/>
          <a:ln/>
        </p:spPr>
        <p:txBody>
          <a:bodyPr wrap="square" lIns="0" tIns="0" rIns="0" bIns="0" rtlCol="0" anchor="ctr"/>
          <a:lstStyle/>
          <a:p>
            <a:pPr marL="0" indent="0">
              <a:buNone/>
            </a:pPr>
            <a:r>
              <a:rPr lang="en-US" sz="1400" b="1" dirty="0">
                <a:solidFill>
                  <a:srgbClr val="0E241E"/>
                </a:solidFill>
                <a:latin typeface="Cambria" pitchFamily="34" charset="0"/>
                <a:ea typeface="Cambria" pitchFamily="34" charset="-122"/>
                <a:cs typeface="Cambria" pitchFamily="34" charset="-120"/>
              </a:rPr>
              <a:t>One language</a:t>
            </a:r>
            <a:endParaRPr lang="en-US" sz="1400" dirty="0"/>
          </a:p>
        </p:txBody>
      </p:sp>
      <p:sp>
        <p:nvSpPr>
          <p:cNvPr id="17" name="Text 15"/>
          <p:cNvSpPr txBox="1"/>
          <p:nvPr/>
        </p:nvSpPr>
        <p:spPr>
          <a:xfrm>
            <a:off x="4535424" y="2157984"/>
            <a:ext cx="3072384" cy="1298448"/>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Everything is English. The multilingual claim in the broader-impact section is a hope, tested only by later work.</a:t>
            </a:r>
            <a:endParaRPr lang="en-US" sz="1200" dirty="0"/>
          </a:p>
        </p:txBody>
      </p:sp>
      <p:sp>
        <p:nvSpPr>
          <p:cNvPr id="18" name="Shape 16"/>
          <p:cNvSpPr/>
          <p:nvPr/>
        </p:nvSpPr>
        <p:spPr>
          <a:xfrm>
            <a:off x="7991856" y="1554480"/>
            <a:ext cx="3584448" cy="2084832"/>
          </a:xfrm>
          <a:prstGeom prst="roundRect">
            <a:avLst>
              <a:gd name="adj" fmla="val 2632"/>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8211312" y="1847088"/>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8412480" y="1719072"/>
            <a:ext cx="2944368" cy="365760"/>
          </a:xfrm>
          <a:prstGeom prst="rect">
            <a:avLst/>
          </a:prstGeom>
          <a:noFill/>
          <a:ln/>
        </p:spPr>
        <p:txBody>
          <a:bodyPr wrap="square" lIns="0" tIns="0" rIns="0" bIns="0" rtlCol="0" anchor="ctr"/>
          <a:lstStyle/>
          <a:p>
            <a:pPr marL="0" indent="0">
              <a:buNone/>
            </a:pPr>
            <a:r>
              <a:rPr lang="en-US" sz="1400" b="1" dirty="0">
                <a:solidFill>
                  <a:srgbClr val="0E241E"/>
                </a:solidFill>
                <a:latin typeface="Cambria" pitchFamily="34" charset="0"/>
                <a:ea typeface="Cambria" pitchFamily="34" charset="-122"/>
                <a:cs typeface="Cambria" pitchFamily="34" charset="-120"/>
              </a:rPr>
              <a:t>Evaluated almost entirely on ASR</a:t>
            </a:r>
            <a:endParaRPr lang="en-US" sz="1400" dirty="0"/>
          </a:p>
        </p:txBody>
      </p:sp>
      <p:sp>
        <p:nvSpPr>
          <p:cNvPr id="21" name="Text 19"/>
          <p:cNvSpPr txBox="1"/>
          <p:nvPr/>
        </p:nvSpPr>
        <p:spPr>
          <a:xfrm>
            <a:off x="8247888" y="2157984"/>
            <a:ext cx="3072384" cy="1298448"/>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Two tasks, both transcription-shaped. The general-purpose claim implied by 'speech representations' is not tested in the paper.</a:t>
            </a:r>
            <a:endParaRPr lang="en-US" sz="1200" dirty="0"/>
          </a:p>
        </p:txBody>
      </p:sp>
      <p:sp>
        <p:nvSpPr>
          <p:cNvPr id="22" name="Shape 20"/>
          <p:cNvSpPr/>
          <p:nvPr/>
        </p:nvSpPr>
        <p:spPr>
          <a:xfrm>
            <a:off x="566928" y="3803904"/>
            <a:ext cx="3584448" cy="2084832"/>
          </a:xfrm>
          <a:prstGeom prst="roundRect">
            <a:avLst>
              <a:gd name="adj" fmla="val 2632"/>
            </a:avLst>
          </a:prstGeom>
          <a:solidFill>
            <a:srgbClr val="EFF5F1"/>
          </a:solidFill>
          <a:ln w="12700">
            <a:solidFill>
              <a:srgbClr val="DCE7E1"/>
            </a:solidFill>
            <a:prstDash val="solid"/>
          </a:ln>
        </p:spPr>
        <p:txBody>
          <a:bodyPr/>
          <a:lstStyle/>
          <a:p>
            <a:endParaRPr lang="en-US"/>
          </a:p>
        </p:txBody>
      </p:sp>
      <p:sp>
        <p:nvSpPr>
          <p:cNvPr id="23" name="Shape 21"/>
          <p:cNvSpPr/>
          <p:nvPr/>
        </p:nvSpPr>
        <p:spPr>
          <a:xfrm>
            <a:off x="786384" y="4096512"/>
            <a:ext cx="109728" cy="109728"/>
          </a:xfrm>
          <a:prstGeom prst="ellipse">
            <a:avLst/>
          </a:prstGeom>
          <a:solidFill>
            <a:srgbClr val="2E7D5B"/>
          </a:solidFill>
          <a:ln w="12700">
            <a:solidFill>
              <a:srgbClr val="333333"/>
            </a:solidFill>
            <a:prstDash val="solid"/>
          </a:ln>
        </p:spPr>
        <p:txBody>
          <a:bodyPr/>
          <a:lstStyle/>
          <a:p>
            <a:endParaRPr lang="en-US"/>
          </a:p>
        </p:txBody>
      </p:sp>
      <p:sp>
        <p:nvSpPr>
          <p:cNvPr id="24" name="Text 22"/>
          <p:cNvSpPr txBox="1"/>
          <p:nvPr/>
        </p:nvSpPr>
        <p:spPr>
          <a:xfrm>
            <a:off x="987552" y="3968496"/>
            <a:ext cx="2944368" cy="365760"/>
          </a:xfrm>
          <a:prstGeom prst="rect">
            <a:avLst/>
          </a:prstGeom>
          <a:noFill/>
          <a:ln/>
        </p:spPr>
        <p:txBody>
          <a:bodyPr wrap="square" lIns="0" tIns="0" rIns="0" bIns="0" rtlCol="0" anchor="ctr"/>
          <a:lstStyle/>
          <a:p>
            <a:pPr marL="0" indent="0">
              <a:buNone/>
            </a:pPr>
            <a:r>
              <a:rPr lang="en-US" sz="1400" b="1" dirty="0">
                <a:solidFill>
                  <a:srgbClr val="0E241E"/>
                </a:solidFill>
                <a:latin typeface="Cambria" pitchFamily="34" charset="0"/>
                <a:ea typeface="Cambria" pitchFamily="34" charset="-122"/>
                <a:cs typeface="Cambria" pitchFamily="34" charset="-120"/>
              </a:rPr>
              <a:t>A single main ablation</a:t>
            </a:r>
            <a:endParaRPr lang="en-US" sz="1400" dirty="0"/>
          </a:p>
        </p:txBody>
      </p:sp>
      <p:sp>
        <p:nvSpPr>
          <p:cNvPr id="25" name="Text 23"/>
          <p:cNvSpPr txBox="1"/>
          <p:nvPr/>
        </p:nvSpPr>
        <p:spPr>
          <a:xfrm>
            <a:off x="822960" y="4407408"/>
            <a:ext cx="3072384" cy="1298448"/>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One table isolating quantisation. Masking parameters, distractor count, codebook size and the diversity weight are explored only in the appendix.</a:t>
            </a:r>
            <a:endParaRPr lang="en-US" sz="1200" dirty="0"/>
          </a:p>
        </p:txBody>
      </p:sp>
      <p:sp>
        <p:nvSpPr>
          <p:cNvPr id="26" name="Shape 24"/>
          <p:cNvSpPr/>
          <p:nvPr/>
        </p:nvSpPr>
        <p:spPr>
          <a:xfrm>
            <a:off x="4279392" y="3803904"/>
            <a:ext cx="3584448" cy="2084832"/>
          </a:xfrm>
          <a:prstGeom prst="roundRect">
            <a:avLst>
              <a:gd name="adj" fmla="val 2632"/>
            </a:avLst>
          </a:prstGeom>
          <a:solidFill>
            <a:srgbClr val="EFF5F1"/>
          </a:solidFill>
          <a:ln w="12700">
            <a:solidFill>
              <a:srgbClr val="DCE7E1"/>
            </a:solidFill>
            <a:prstDash val="solid"/>
          </a:ln>
        </p:spPr>
        <p:txBody>
          <a:bodyPr/>
          <a:lstStyle/>
          <a:p>
            <a:endParaRPr lang="en-US"/>
          </a:p>
        </p:txBody>
      </p:sp>
      <p:sp>
        <p:nvSpPr>
          <p:cNvPr id="27" name="Shape 25"/>
          <p:cNvSpPr/>
          <p:nvPr/>
        </p:nvSpPr>
        <p:spPr>
          <a:xfrm>
            <a:off x="4498848" y="4096512"/>
            <a:ext cx="109728" cy="109728"/>
          </a:xfrm>
          <a:prstGeom prst="ellipse">
            <a:avLst/>
          </a:prstGeom>
          <a:solidFill>
            <a:srgbClr val="2E7D5B"/>
          </a:solidFill>
          <a:ln w="12700">
            <a:solidFill>
              <a:srgbClr val="333333"/>
            </a:solidFill>
            <a:prstDash val="solid"/>
          </a:ln>
        </p:spPr>
        <p:txBody>
          <a:bodyPr/>
          <a:lstStyle/>
          <a:p>
            <a:endParaRPr lang="en-US"/>
          </a:p>
        </p:txBody>
      </p:sp>
      <p:sp>
        <p:nvSpPr>
          <p:cNvPr id="28" name="Text 26"/>
          <p:cNvSpPr txBox="1"/>
          <p:nvPr/>
        </p:nvSpPr>
        <p:spPr>
          <a:xfrm>
            <a:off x="4700016" y="3968496"/>
            <a:ext cx="2944368" cy="365760"/>
          </a:xfrm>
          <a:prstGeom prst="rect">
            <a:avLst/>
          </a:prstGeom>
          <a:noFill/>
          <a:ln/>
        </p:spPr>
        <p:txBody>
          <a:bodyPr wrap="square" lIns="0" tIns="0" rIns="0" bIns="0" rtlCol="0" anchor="ctr"/>
          <a:lstStyle/>
          <a:p>
            <a:pPr marL="0" indent="0">
              <a:buNone/>
            </a:pPr>
            <a:r>
              <a:rPr lang="en-US" sz="1400" b="1" dirty="0">
                <a:solidFill>
                  <a:srgbClr val="0E241E"/>
                </a:solidFill>
                <a:latin typeface="Cambria" pitchFamily="34" charset="0"/>
                <a:ea typeface="Cambria" pitchFamily="34" charset="-122"/>
                <a:cs typeface="Cambria" pitchFamily="34" charset="-120"/>
              </a:rPr>
              <a:t>Results are pipeline results</a:t>
            </a:r>
            <a:endParaRPr lang="en-US" sz="1400" dirty="0"/>
          </a:p>
        </p:txBody>
      </p:sp>
      <p:sp>
        <p:nvSpPr>
          <p:cNvPr id="29" name="Text 27"/>
          <p:cNvSpPr txBox="1"/>
          <p:nvPr/>
        </p:nvSpPr>
        <p:spPr>
          <a:xfrm>
            <a:off x="4535424" y="4407408"/>
            <a:ext cx="3072384" cy="1298448"/>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Headline word error rates involve a large Transformer language model. The contribution of the representation alone is harder to read off.</a:t>
            </a:r>
            <a:endParaRPr lang="en-US" sz="1200" dirty="0"/>
          </a:p>
        </p:txBody>
      </p:sp>
      <p:sp>
        <p:nvSpPr>
          <p:cNvPr id="30" name="Shape 28"/>
          <p:cNvSpPr/>
          <p:nvPr/>
        </p:nvSpPr>
        <p:spPr>
          <a:xfrm>
            <a:off x="7991856" y="3803904"/>
            <a:ext cx="3584448" cy="2084832"/>
          </a:xfrm>
          <a:prstGeom prst="roundRect">
            <a:avLst>
              <a:gd name="adj" fmla="val 2632"/>
            </a:avLst>
          </a:prstGeom>
          <a:solidFill>
            <a:srgbClr val="EFF5F1"/>
          </a:solidFill>
          <a:ln w="12700">
            <a:solidFill>
              <a:srgbClr val="DCE7E1"/>
            </a:solidFill>
            <a:prstDash val="solid"/>
          </a:ln>
        </p:spPr>
        <p:txBody>
          <a:bodyPr/>
          <a:lstStyle/>
          <a:p>
            <a:endParaRPr lang="en-US"/>
          </a:p>
        </p:txBody>
      </p:sp>
      <p:sp>
        <p:nvSpPr>
          <p:cNvPr id="31" name="Shape 29"/>
          <p:cNvSpPr/>
          <p:nvPr/>
        </p:nvSpPr>
        <p:spPr>
          <a:xfrm>
            <a:off x="8211312" y="4096512"/>
            <a:ext cx="109728" cy="109728"/>
          </a:xfrm>
          <a:prstGeom prst="ellipse">
            <a:avLst/>
          </a:prstGeom>
          <a:solidFill>
            <a:srgbClr val="2E7D5B"/>
          </a:solidFill>
          <a:ln w="12700">
            <a:solidFill>
              <a:srgbClr val="333333"/>
            </a:solidFill>
            <a:prstDash val="solid"/>
          </a:ln>
        </p:spPr>
        <p:txBody>
          <a:bodyPr/>
          <a:lstStyle/>
          <a:p>
            <a:endParaRPr lang="en-US"/>
          </a:p>
        </p:txBody>
      </p:sp>
      <p:sp>
        <p:nvSpPr>
          <p:cNvPr id="32" name="Text 30"/>
          <p:cNvSpPr txBox="1"/>
          <p:nvPr/>
        </p:nvSpPr>
        <p:spPr>
          <a:xfrm>
            <a:off x="8412480" y="3968496"/>
            <a:ext cx="2944368" cy="365760"/>
          </a:xfrm>
          <a:prstGeom prst="rect">
            <a:avLst/>
          </a:prstGeom>
          <a:noFill/>
          <a:ln/>
        </p:spPr>
        <p:txBody>
          <a:bodyPr wrap="square" lIns="0" tIns="0" rIns="0" bIns="0" rtlCol="0" anchor="ctr"/>
          <a:lstStyle/>
          <a:p>
            <a:pPr marL="0" indent="0">
              <a:buNone/>
            </a:pPr>
            <a:r>
              <a:rPr lang="en-US" sz="1400" b="1" dirty="0">
                <a:solidFill>
                  <a:srgbClr val="0E241E"/>
                </a:solidFill>
                <a:latin typeface="Cambria" pitchFamily="34" charset="0"/>
                <a:ea typeface="Cambria" pitchFamily="34" charset="-122"/>
                <a:cs typeface="Cambria" pitchFamily="34" charset="-120"/>
              </a:rPr>
              <a:t>Compute inaccessibility</a:t>
            </a:r>
            <a:endParaRPr lang="en-US" sz="1400" dirty="0"/>
          </a:p>
        </p:txBody>
      </p:sp>
      <p:sp>
        <p:nvSpPr>
          <p:cNvPr id="33" name="Text 31"/>
          <p:cNvSpPr txBox="1"/>
          <p:nvPr/>
        </p:nvSpPr>
        <p:spPr>
          <a:xfrm>
            <a:off x="8247888" y="4407408"/>
            <a:ext cx="3072384" cy="1298448"/>
          </a:xfrm>
          <a:prstGeom prst="rect">
            <a:avLst/>
          </a:prstGeom>
          <a:noFill/>
          <a:ln/>
        </p:spPr>
        <p:txBody>
          <a:bodyPr wrap="square" lIns="0" tIns="0" rIns="0" bIns="0" rtlCol="0" anchor="t"/>
          <a:lstStyle/>
          <a:p>
            <a:pPr marL="0" indent="0">
              <a:lnSpc>
                <a:spcPct val="108000"/>
              </a:lnSpc>
              <a:buNone/>
            </a:pPr>
            <a:r>
              <a:rPr lang="en-US" sz="1200" dirty="0">
                <a:solidFill>
                  <a:srgbClr val="2C3B36"/>
                </a:solidFill>
                <a:latin typeface="Calibri" pitchFamily="34" charset="0"/>
                <a:ea typeface="Calibri" pitchFamily="34" charset="-122"/>
                <a:cs typeface="Calibri" pitchFamily="34" charset="-120"/>
              </a:rPr>
              <a:t>The method cannot be reproduced without a hundred-plus GPUs for days. Verification depends on trusting released checkpoints.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What came next</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Five years of direct descendants</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45</a:t>
            </a:r>
            <a:endParaRPr lang="en-US" sz="900" dirty="0"/>
          </a:p>
        </p:txBody>
      </p:sp>
      <p:sp>
        <p:nvSpPr>
          <p:cNvPr id="10" name="Shape 8"/>
          <p:cNvSpPr/>
          <p:nvPr/>
        </p:nvSpPr>
        <p:spPr>
          <a:xfrm>
            <a:off x="566928" y="1536192"/>
            <a:ext cx="11064240" cy="822960"/>
          </a:xfrm>
          <a:prstGeom prst="roundRect">
            <a:avLst>
              <a:gd name="adj" fmla="val 3333"/>
            </a:avLst>
          </a:prstGeom>
          <a:solidFill>
            <a:srgbClr val="EFF5F1"/>
          </a:solidFill>
          <a:ln w="12700">
            <a:solidFill>
              <a:srgbClr val="E4ECE7"/>
            </a:solidFill>
            <a:prstDash val="solid"/>
          </a:ln>
        </p:spPr>
        <p:txBody>
          <a:bodyPr/>
          <a:lstStyle/>
          <a:p>
            <a:endParaRPr lang="en-US"/>
          </a:p>
        </p:txBody>
      </p:sp>
      <p:sp>
        <p:nvSpPr>
          <p:cNvPr id="11" name="Shape 9"/>
          <p:cNvSpPr/>
          <p:nvPr/>
        </p:nvSpPr>
        <p:spPr>
          <a:xfrm>
            <a:off x="786384" y="1888236"/>
            <a:ext cx="118872" cy="118872"/>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1024128" y="1627632"/>
            <a:ext cx="246888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HuBERT (2021)</a:t>
            </a:r>
            <a:endParaRPr lang="en-US" sz="1300" dirty="0"/>
          </a:p>
        </p:txBody>
      </p:sp>
      <p:sp>
        <p:nvSpPr>
          <p:cNvPr id="13" name="Text 11"/>
          <p:cNvSpPr txBox="1"/>
          <p:nvPr/>
        </p:nvSpPr>
        <p:spPr>
          <a:xfrm>
            <a:off x="3675888" y="1609344"/>
            <a:ext cx="77724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Replaces the contrastive loss with masked prediction of offline k-means cluster targets, refreshed over iterations. Same architecture, simpler and more stable objective; now often preferred.</a:t>
            </a:r>
            <a:endParaRPr lang="en-US" sz="1180" dirty="0"/>
          </a:p>
        </p:txBody>
      </p:sp>
      <p:sp>
        <p:nvSpPr>
          <p:cNvPr id="14" name="Shape 12"/>
          <p:cNvSpPr/>
          <p:nvPr/>
        </p:nvSpPr>
        <p:spPr>
          <a:xfrm>
            <a:off x="566928" y="2414016"/>
            <a:ext cx="11064240" cy="822960"/>
          </a:xfrm>
          <a:prstGeom prst="roundRect">
            <a:avLst>
              <a:gd name="adj" fmla="val 3333"/>
            </a:avLst>
          </a:prstGeom>
          <a:solidFill>
            <a:srgbClr val="FFFFFF"/>
          </a:solidFill>
          <a:ln w="12700">
            <a:solidFill>
              <a:srgbClr val="E4ECE7"/>
            </a:solidFill>
            <a:prstDash val="solid"/>
          </a:ln>
        </p:spPr>
        <p:txBody>
          <a:bodyPr/>
          <a:lstStyle/>
          <a:p>
            <a:endParaRPr lang="en-US"/>
          </a:p>
        </p:txBody>
      </p:sp>
      <p:sp>
        <p:nvSpPr>
          <p:cNvPr id="15" name="Shape 13"/>
          <p:cNvSpPr/>
          <p:nvPr/>
        </p:nvSpPr>
        <p:spPr>
          <a:xfrm>
            <a:off x="786384" y="2766060"/>
            <a:ext cx="118872" cy="118872"/>
          </a:xfrm>
          <a:prstGeom prst="ellipse">
            <a:avLst/>
          </a:prstGeom>
          <a:solidFill>
            <a:srgbClr val="2E7D5B"/>
          </a:solidFill>
          <a:ln w="12700">
            <a:solidFill>
              <a:srgbClr val="333333"/>
            </a:solidFill>
            <a:prstDash val="solid"/>
          </a:ln>
        </p:spPr>
        <p:txBody>
          <a:bodyPr/>
          <a:lstStyle/>
          <a:p>
            <a:endParaRPr lang="en-US"/>
          </a:p>
        </p:txBody>
      </p:sp>
      <p:sp>
        <p:nvSpPr>
          <p:cNvPr id="16" name="Text 14"/>
          <p:cNvSpPr txBox="1"/>
          <p:nvPr/>
        </p:nvSpPr>
        <p:spPr>
          <a:xfrm>
            <a:off x="1024128" y="2505456"/>
            <a:ext cx="246888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WavLM (2022)</a:t>
            </a:r>
            <a:endParaRPr lang="en-US" sz="1300" dirty="0"/>
          </a:p>
        </p:txBody>
      </p:sp>
      <p:sp>
        <p:nvSpPr>
          <p:cNvPr id="17" name="Text 15"/>
          <p:cNvSpPr txBox="1"/>
          <p:nvPr/>
        </p:nvSpPr>
        <p:spPr>
          <a:xfrm>
            <a:off x="3675888" y="2487168"/>
            <a:ext cx="77724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Adds simulated overlapped and noisy speech to pre-training, targeting the full stack of speech tasks rather than recognition alone — including speaker and paralinguistic tasks.</a:t>
            </a:r>
            <a:endParaRPr lang="en-US" sz="1180" dirty="0"/>
          </a:p>
        </p:txBody>
      </p:sp>
      <p:sp>
        <p:nvSpPr>
          <p:cNvPr id="18" name="Shape 16"/>
          <p:cNvSpPr/>
          <p:nvPr/>
        </p:nvSpPr>
        <p:spPr>
          <a:xfrm>
            <a:off x="566928" y="3291840"/>
            <a:ext cx="11064240" cy="822960"/>
          </a:xfrm>
          <a:prstGeom prst="roundRect">
            <a:avLst>
              <a:gd name="adj" fmla="val 3333"/>
            </a:avLst>
          </a:prstGeom>
          <a:solidFill>
            <a:srgbClr val="EFF5F1"/>
          </a:solidFill>
          <a:ln w="12700">
            <a:solidFill>
              <a:srgbClr val="E4ECE7"/>
            </a:solidFill>
            <a:prstDash val="solid"/>
          </a:ln>
        </p:spPr>
        <p:txBody>
          <a:bodyPr/>
          <a:lstStyle/>
          <a:p>
            <a:endParaRPr lang="en-US"/>
          </a:p>
        </p:txBody>
      </p:sp>
      <p:sp>
        <p:nvSpPr>
          <p:cNvPr id="19" name="Shape 17"/>
          <p:cNvSpPr/>
          <p:nvPr/>
        </p:nvSpPr>
        <p:spPr>
          <a:xfrm>
            <a:off x="786384" y="3643884"/>
            <a:ext cx="118872" cy="118872"/>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1024128" y="3383280"/>
            <a:ext cx="246888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XLSR-53 and XLS-R</a:t>
            </a:r>
            <a:endParaRPr lang="en-US" sz="1300" dirty="0"/>
          </a:p>
        </p:txBody>
      </p:sp>
      <p:sp>
        <p:nvSpPr>
          <p:cNvPr id="21" name="Text 19"/>
          <p:cNvSpPr txBox="1"/>
          <p:nvPr/>
        </p:nvSpPr>
        <p:spPr>
          <a:xfrm>
            <a:off x="3675888" y="3364992"/>
            <a:ext cx="77724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The multilingual continuation, pre-training on dozens and then over a hundred languages, and delivering on the broader-impact promise made here.</a:t>
            </a:r>
            <a:endParaRPr lang="en-US" sz="1180" dirty="0"/>
          </a:p>
        </p:txBody>
      </p:sp>
      <p:sp>
        <p:nvSpPr>
          <p:cNvPr id="22" name="Shape 20"/>
          <p:cNvSpPr/>
          <p:nvPr/>
        </p:nvSpPr>
        <p:spPr>
          <a:xfrm>
            <a:off x="566928" y="4169664"/>
            <a:ext cx="11064240" cy="822960"/>
          </a:xfrm>
          <a:prstGeom prst="roundRect">
            <a:avLst>
              <a:gd name="adj" fmla="val 3333"/>
            </a:avLst>
          </a:prstGeom>
          <a:solidFill>
            <a:srgbClr val="FFFFFF"/>
          </a:solidFill>
          <a:ln w="12700">
            <a:solidFill>
              <a:srgbClr val="E4ECE7"/>
            </a:solidFill>
            <a:prstDash val="solid"/>
          </a:ln>
        </p:spPr>
        <p:txBody>
          <a:bodyPr/>
          <a:lstStyle/>
          <a:p>
            <a:endParaRPr lang="en-US"/>
          </a:p>
        </p:txBody>
      </p:sp>
      <p:sp>
        <p:nvSpPr>
          <p:cNvPr id="23" name="Shape 21"/>
          <p:cNvSpPr/>
          <p:nvPr/>
        </p:nvSpPr>
        <p:spPr>
          <a:xfrm>
            <a:off x="786384" y="4521708"/>
            <a:ext cx="118872" cy="118872"/>
          </a:xfrm>
          <a:prstGeom prst="ellipse">
            <a:avLst/>
          </a:prstGeom>
          <a:solidFill>
            <a:srgbClr val="2E7D5B"/>
          </a:solidFill>
          <a:ln w="12700">
            <a:solidFill>
              <a:srgbClr val="333333"/>
            </a:solidFill>
            <a:prstDash val="solid"/>
          </a:ln>
        </p:spPr>
        <p:txBody>
          <a:bodyPr/>
          <a:lstStyle/>
          <a:p>
            <a:endParaRPr lang="en-US"/>
          </a:p>
        </p:txBody>
      </p:sp>
      <p:sp>
        <p:nvSpPr>
          <p:cNvPr id="24" name="Text 22"/>
          <p:cNvSpPr txBox="1"/>
          <p:nvPr/>
        </p:nvSpPr>
        <p:spPr>
          <a:xfrm>
            <a:off x="1024128" y="4261104"/>
            <a:ext cx="246888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data2vec (2022)</a:t>
            </a:r>
            <a:endParaRPr lang="en-US" sz="1300" dirty="0"/>
          </a:p>
        </p:txBody>
      </p:sp>
      <p:sp>
        <p:nvSpPr>
          <p:cNvPr id="25" name="Text 23"/>
          <p:cNvSpPr txBox="1"/>
          <p:nvPr/>
        </p:nvSpPr>
        <p:spPr>
          <a:xfrm>
            <a:off x="3675888" y="4242816"/>
            <a:ext cx="77724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From the same group: predict contextualised latent targets from a teacher network, with one recipe shared across speech, vision and text.</a:t>
            </a:r>
            <a:endParaRPr lang="en-US" sz="1180" dirty="0"/>
          </a:p>
        </p:txBody>
      </p:sp>
      <p:sp>
        <p:nvSpPr>
          <p:cNvPr id="26" name="Shape 24"/>
          <p:cNvSpPr/>
          <p:nvPr/>
        </p:nvSpPr>
        <p:spPr>
          <a:xfrm>
            <a:off x="566928" y="5047488"/>
            <a:ext cx="11064240" cy="822960"/>
          </a:xfrm>
          <a:prstGeom prst="roundRect">
            <a:avLst>
              <a:gd name="adj" fmla="val 3333"/>
            </a:avLst>
          </a:prstGeom>
          <a:solidFill>
            <a:srgbClr val="EFF5F1"/>
          </a:solidFill>
          <a:ln w="12700">
            <a:solidFill>
              <a:srgbClr val="E4ECE7"/>
            </a:solidFill>
            <a:prstDash val="solid"/>
          </a:ln>
        </p:spPr>
        <p:txBody>
          <a:bodyPr/>
          <a:lstStyle/>
          <a:p>
            <a:endParaRPr lang="en-US"/>
          </a:p>
        </p:txBody>
      </p:sp>
      <p:sp>
        <p:nvSpPr>
          <p:cNvPr id="27" name="Shape 25"/>
          <p:cNvSpPr/>
          <p:nvPr/>
        </p:nvSpPr>
        <p:spPr>
          <a:xfrm>
            <a:off x="786384" y="5399532"/>
            <a:ext cx="118872" cy="118872"/>
          </a:xfrm>
          <a:prstGeom prst="ellipse">
            <a:avLst/>
          </a:prstGeom>
          <a:solidFill>
            <a:srgbClr val="2E7D5B"/>
          </a:solidFill>
          <a:ln w="12700">
            <a:solidFill>
              <a:srgbClr val="333333"/>
            </a:solidFill>
            <a:prstDash val="solid"/>
          </a:ln>
        </p:spPr>
        <p:txBody>
          <a:bodyPr/>
          <a:lstStyle/>
          <a:p>
            <a:endParaRPr lang="en-US"/>
          </a:p>
        </p:txBody>
      </p:sp>
      <p:sp>
        <p:nvSpPr>
          <p:cNvPr id="28" name="Text 26"/>
          <p:cNvSpPr txBox="1"/>
          <p:nvPr/>
        </p:nvSpPr>
        <p:spPr>
          <a:xfrm>
            <a:off x="1024128" y="5138928"/>
            <a:ext cx="246888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Whisper (2022)</a:t>
            </a:r>
            <a:endParaRPr lang="en-US" sz="1300" dirty="0"/>
          </a:p>
        </p:txBody>
      </p:sp>
      <p:sp>
        <p:nvSpPr>
          <p:cNvPr id="29" name="Text 27"/>
          <p:cNvSpPr txBox="1"/>
          <p:nvPr/>
        </p:nvSpPr>
        <p:spPr>
          <a:xfrm>
            <a:off x="3675888" y="5120640"/>
            <a:ext cx="77724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The counter-argument — large-scale weakly supervised training on 680k hours of paired audio and text. A reminder that self-supervision was not the only route to robustness.</a:t>
            </a:r>
            <a:endParaRPr lang="en-US" sz="1180" dirty="0"/>
          </a:p>
        </p:txBody>
      </p:sp>
      <p:sp>
        <p:nvSpPr>
          <p:cNvPr id="30" name="Shape 28"/>
          <p:cNvSpPr/>
          <p:nvPr/>
        </p:nvSpPr>
        <p:spPr>
          <a:xfrm>
            <a:off x="566928" y="5943600"/>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Back to emotion</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wav2vec 2.0 features on IEMOCAP — Pepino, Riera &amp; Ferrer (2021)</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46</a:t>
            </a:r>
            <a:endParaRPr lang="en-US" sz="900" dirty="0"/>
          </a:p>
        </p:txBody>
      </p:sp>
      <p:graphicFrame>
        <p:nvGraphicFramePr>
          <p:cNvPr id="10" name="Chart 0"/>
          <p:cNvGraphicFramePr/>
          <p:nvPr/>
        </p:nvGraphicFramePr>
        <p:xfrm>
          <a:off x="566928" y="1554480"/>
          <a:ext cx="67665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589520" y="1700784"/>
            <a:ext cx="4041648" cy="3291840"/>
          </a:xfrm>
          <a:prstGeom prst="rect">
            <a:avLst/>
          </a:prstGeom>
          <a:noFill/>
          <a:ln/>
        </p:spPr>
        <p:txBody>
          <a:bodyPr wrap="square" lIns="0" tIns="0" rIns="0" bIns="0" rtlCol="0" anchor="t"/>
          <a:lstStyle/>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The classifier is held constant; only the input features change. This is a representation comparison, not a modelling contest.</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Even the local encoder output — a 25 ms window, no context at all — beats hand-crafted eGeMAPS features designed specifically for paralinguistics.</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Aggregating across layers with learned weights beats any single layer by a wide margin, exactly as the layer-wise analysis predicts.</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On RAVDESS the same weighted-layer approach reaches 84.3% average recall, against 57.0% for eGeMAPS.</a:t>
            </a:r>
            <a:endParaRPr lang="en-US" sz="1240" dirty="0"/>
          </a:p>
        </p:txBody>
      </p:sp>
      <p:sp>
        <p:nvSpPr>
          <p:cNvPr id="12" name="Shape 9"/>
          <p:cNvSpPr/>
          <p:nvPr/>
        </p:nvSpPr>
        <p:spPr>
          <a:xfrm>
            <a:off x="566928" y="5175504"/>
            <a:ext cx="11064240" cy="877824"/>
          </a:xfrm>
          <a:prstGeom prst="roundRect">
            <a:avLst>
              <a:gd name="adj" fmla="val 6250"/>
            </a:avLst>
          </a:prstGeom>
          <a:solidFill>
            <a:srgbClr val="13302A"/>
          </a:solidFill>
          <a:ln w="12700">
            <a:solidFill>
              <a:srgbClr val="13302A"/>
            </a:solidFill>
            <a:prstDash val="solid"/>
          </a:ln>
        </p:spPr>
        <p:txBody>
          <a:bodyPr/>
          <a:lstStyle/>
          <a:p>
            <a:endParaRPr lang="en-US"/>
          </a:p>
        </p:txBody>
      </p:sp>
      <p:sp>
        <p:nvSpPr>
          <p:cNvPr id="13" name="Text 10"/>
          <p:cNvSpPr txBox="1"/>
          <p:nvPr/>
        </p:nvSpPr>
        <p:spPr>
          <a:xfrm>
            <a:off x="822960" y="5394960"/>
            <a:ext cx="10552176" cy="45720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A model trained on audiobooks, with an objective that never mentions emotion, produces better emotional representations than features designed by phoneticians for exactly this task.</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The uncomfortable finding</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Fine-tuning for speech recognition damages emotional information</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47</a:t>
            </a:r>
            <a:endParaRPr lang="en-US" sz="900" dirty="0"/>
          </a:p>
        </p:txBody>
      </p:sp>
      <p:graphicFrame>
        <p:nvGraphicFramePr>
          <p:cNvPr id="10" name="Chart 0"/>
          <p:cNvGraphicFramePr/>
          <p:nvPr/>
        </p:nvGraphicFramePr>
        <p:xfrm>
          <a:off x="566928" y="1554480"/>
          <a:ext cx="67665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7589520" y="1700784"/>
            <a:ext cx="4041648" cy="3291840"/>
          </a:xfrm>
          <a:prstGeom prst="rect">
            <a:avLst/>
          </a:prstGeom>
          <a:noFill/>
          <a:ln/>
        </p:spPr>
        <p:txBody>
          <a:bodyPr wrap="square" lIns="0" tIns="0" rIns="0" bIns="0" rtlCol="0" anchor="t"/>
          <a:lstStyle/>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Every configuration is worse after ASR fine-tuning. The context encoder output collapses by nearly fourteen points.</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This is the design working exactly as intended. Transcription treats speaker state as nuisance, so fine-tuning removes it.</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Which means an ASR-fine-tuned checkpoint is the wrong default for paralinguistic work — a mistake still made routinely, because those checkpoints are the most downloadable.</a:t>
            </a:r>
            <a:endParaRPr lang="en-US" sz="1240" dirty="0"/>
          </a:p>
          <a:p>
            <a:pPr marL="342900" indent="-342900">
              <a:spcAft>
                <a:spcPts val="800"/>
              </a:spcAft>
              <a:buSzPct val="100000"/>
              <a:buChar char="●"/>
            </a:pPr>
            <a:r>
              <a:rPr lang="en-US" sz="1240" dirty="0">
                <a:solidFill>
                  <a:srgbClr val="2C3B36"/>
                </a:solidFill>
                <a:latin typeface="Calibri" pitchFamily="34" charset="0"/>
                <a:ea typeface="Calibri" pitchFamily="34" charset="-122"/>
                <a:cs typeface="Calibri" pitchFamily="34" charset="-120"/>
              </a:rPr>
              <a:t>It also reframes what the objective is doing: the discretisation bottleneck we admired in section 6 is discarding precisely what our field wants to keep.</a:t>
            </a:r>
            <a:endParaRPr lang="en-US" sz="1240" dirty="0"/>
          </a:p>
        </p:txBody>
      </p:sp>
      <p:sp>
        <p:nvSpPr>
          <p:cNvPr id="12" name="Shape 9"/>
          <p:cNvSpPr/>
          <p:nvPr/>
        </p:nvSpPr>
        <p:spPr>
          <a:xfrm>
            <a:off x="566928" y="5175504"/>
            <a:ext cx="11064240" cy="877824"/>
          </a:xfrm>
          <a:prstGeom prst="roundRect">
            <a:avLst>
              <a:gd name="adj" fmla="val 6250"/>
            </a:avLst>
          </a:prstGeom>
          <a:solidFill>
            <a:srgbClr val="13302A"/>
          </a:solidFill>
          <a:ln w="12700">
            <a:solidFill>
              <a:srgbClr val="13302A"/>
            </a:solidFill>
            <a:prstDash val="solid"/>
          </a:ln>
        </p:spPr>
        <p:txBody>
          <a:bodyPr/>
          <a:lstStyle/>
          <a:p>
            <a:endParaRPr lang="en-US"/>
          </a:p>
        </p:txBody>
      </p:sp>
      <p:sp>
        <p:nvSpPr>
          <p:cNvPr id="13" name="Text 10"/>
          <p:cNvSpPr txBox="1"/>
          <p:nvPr/>
        </p:nvSpPr>
        <p:spPr>
          <a:xfrm>
            <a:off x="822960" y="5394960"/>
            <a:ext cx="10552176" cy="457200"/>
          </a:xfrm>
          <a:prstGeom prst="rect">
            <a:avLst/>
          </a:prstGeom>
          <a:noFill/>
          <a:ln/>
        </p:spPr>
        <p:txBody>
          <a:bodyPr wrap="square" lIns="0" tIns="0" rIns="0" bIns="0" rtlCol="0" anchor="t"/>
          <a:lstStyle/>
          <a:p>
            <a:pPr marL="0" indent="0">
              <a:lnSpc>
                <a:spcPct val="108000"/>
              </a:lnSpc>
              <a:buNone/>
            </a:pPr>
            <a:r>
              <a:rPr lang="en-US" sz="1300" dirty="0">
                <a:solidFill>
                  <a:srgbClr val="C6DCD2"/>
                </a:solidFill>
                <a:latin typeface="Calibri" pitchFamily="34" charset="0"/>
                <a:ea typeface="Calibri" pitchFamily="34" charset="-122"/>
                <a:cs typeface="Calibri" pitchFamily="34" charset="-120"/>
              </a:rPr>
              <a:t>The property that makes wav2vec 2.0 an excellent speech recogniser is in tension with the property that would make it an excellent emotion recogniser. That tension is a research programme, not a footnote.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Three papers, one argument</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Pulling the seminar series together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48</a:t>
            </a:r>
            <a:endParaRPr lang="en-US" sz="900" dirty="0"/>
          </a:p>
        </p:txBody>
      </p:sp>
      <p:sp>
        <p:nvSpPr>
          <p:cNvPr id="10" name="Shape 8"/>
          <p:cNvSpPr/>
          <p:nvPr/>
        </p:nvSpPr>
        <p:spPr>
          <a:xfrm>
            <a:off x="566928" y="1572768"/>
            <a:ext cx="3584448"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786384"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987552" y="1737360"/>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IEMOCAP asked</a:t>
            </a:r>
            <a:endParaRPr lang="en-US" sz="1500" dirty="0"/>
          </a:p>
        </p:txBody>
      </p:sp>
      <p:sp>
        <p:nvSpPr>
          <p:cNvPr id="13" name="Text 11"/>
          <p:cNvSpPr txBox="1"/>
          <p:nvPr/>
        </p:nvSpPr>
        <p:spPr>
          <a:xfrm>
            <a:off x="822960" y="2176272"/>
            <a:ext cx="3072384" cy="149961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How do we elicit genuine emotion, and how do we know what a recording contains?</a:t>
            </a:r>
            <a:endParaRPr lang="en-US" sz="1260" dirty="0"/>
          </a:p>
          <a:p>
            <a:pPr marL="0" indent="0">
              <a:lnSpc>
                <a:spcPct val="108000"/>
              </a:lnSpc>
              <a:buNone/>
            </a:pPr>
            <a:endParaRPr lang="en-US" sz="1260" dirty="0"/>
          </a:p>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Answer: dyadic interaction, and labels from human perception rather than the actor's intent.</a:t>
            </a:r>
            <a:endParaRPr lang="en-US" sz="1260" dirty="0"/>
          </a:p>
        </p:txBody>
      </p:sp>
      <p:sp>
        <p:nvSpPr>
          <p:cNvPr id="14" name="Shape 12"/>
          <p:cNvSpPr/>
          <p:nvPr/>
        </p:nvSpPr>
        <p:spPr>
          <a:xfrm>
            <a:off x="4279392" y="1572768"/>
            <a:ext cx="3584448"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5" name="Shape 13"/>
          <p:cNvSpPr/>
          <p:nvPr/>
        </p:nvSpPr>
        <p:spPr>
          <a:xfrm>
            <a:off x="4498848" y="1865376"/>
            <a:ext cx="109728" cy="109728"/>
          </a:xfrm>
          <a:prstGeom prst="ellipse">
            <a:avLst/>
          </a:prstGeom>
          <a:solidFill>
            <a:srgbClr val="B5623C"/>
          </a:solidFill>
          <a:ln w="12700">
            <a:solidFill>
              <a:srgbClr val="333333"/>
            </a:solidFill>
            <a:prstDash val="solid"/>
          </a:ln>
        </p:spPr>
        <p:txBody>
          <a:bodyPr/>
          <a:lstStyle/>
          <a:p>
            <a:endParaRPr lang="en-US"/>
          </a:p>
        </p:txBody>
      </p:sp>
      <p:sp>
        <p:nvSpPr>
          <p:cNvPr id="16" name="Text 14"/>
          <p:cNvSpPr txBox="1"/>
          <p:nvPr/>
        </p:nvSpPr>
        <p:spPr>
          <a:xfrm>
            <a:off x="4700016" y="1737360"/>
            <a:ext cx="2944368"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CREMA-D asked</a:t>
            </a:r>
            <a:endParaRPr lang="en-US" sz="1500" dirty="0"/>
          </a:p>
        </p:txBody>
      </p:sp>
      <p:sp>
        <p:nvSpPr>
          <p:cNvPr id="17" name="Text 15"/>
          <p:cNvSpPr txBox="1"/>
          <p:nvPr/>
        </p:nvSpPr>
        <p:spPr>
          <a:xfrm>
            <a:off x="4535424" y="2176272"/>
            <a:ext cx="3072384" cy="149961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How do we get enough speakers, and how do we know which channel carries the signal?</a:t>
            </a:r>
            <a:endParaRPr lang="en-US" sz="1260" dirty="0"/>
          </a:p>
          <a:p>
            <a:pPr marL="0" indent="0">
              <a:lnSpc>
                <a:spcPct val="108000"/>
              </a:lnSpc>
              <a:buNone/>
            </a:pPr>
            <a:endParaRPr lang="en-US" sz="1260" dirty="0"/>
          </a:p>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Answer: ninety-one actors, fixed sentences, and every clip rated three separate ways.</a:t>
            </a:r>
            <a:endParaRPr lang="en-US" sz="1260" dirty="0"/>
          </a:p>
        </p:txBody>
      </p:sp>
      <p:sp>
        <p:nvSpPr>
          <p:cNvPr id="18" name="Shape 16"/>
          <p:cNvSpPr/>
          <p:nvPr/>
        </p:nvSpPr>
        <p:spPr>
          <a:xfrm>
            <a:off x="7991856" y="1572768"/>
            <a:ext cx="3639312" cy="2286000"/>
          </a:xfrm>
          <a:prstGeom prst="roundRect">
            <a:avLst>
              <a:gd name="adj" fmla="val 2400"/>
            </a:avLst>
          </a:prstGeom>
          <a:solidFill>
            <a:srgbClr val="EFF5F1"/>
          </a:solidFill>
          <a:ln w="12700">
            <a:solidFill>
              <a:srgbClr val="DCE7E1"/>
            </a:solidFill>
            <a:prstDash val="solid"/>
          </a:ln>
        </p:spPr>
        <p:txBody>
          <a:bodyPr/>
          <a:lstStyle/>
          <a:p>
            <a:endParaRPr lang="en-US"/>
          </a:p>
        </p:txBody>
      </p:sp>
      <p:sp>
        <p:nvSpPr>
          <p:cNvPr id="19" name="Shape 17"/>
          <p:cNvSpPr/>
          <p:nvPr/>
        </p:nvSpPr>
        <p:spPr>
          <a:xfrm>
            <a:off x="8211312" y="1865376"/>
            <a:ext cx="109728" cy="109728"/>
          </a:xfrm>
          <a:prstGeom prst="ellipse">
            <a:avLst/>
          </a:prstGeom>
          <a:solidFill>
            <a:srgbClr val="2E7D5B"/>
          </a:solidFill>
          <a:ln w="12700">
            <a:solidFill>
              <a:srgbClr val="333333"/>
            </a:solidFill>
            <a:prstDash val="solid"/>
          </a:ln>
        </p:spPr>
        <p:txBody>
          <a:bodyPr/>
          <a:lstStyle/>
          <a:p>
            <a:endParaRPr lang="en-US"/>
          </a:p>
        </p:txBody>
      </p:sp>
      <p:sp>
        <p:nvSpPr>
          <p:cNvPr id="20" name="Text 18"/>
          <p:cNvSpPr txBox="1"/>
          <p:nvPr/>
        </p:nvSpPr>
        <p:spPr>
          <a:xfrm>
            <a:off x="8412480" y="1737360"/>
            <a:ext cx="2999232" cy="365760"/>
          </a:xfrm>
          <a:prstGeom prst="rect">
            <a:avLst/>
          </a:prstGeom>
          <a:noFill/>
          <a:ln/>
        </p:spPr>
        <p:txBody>
          <a:bodyPr wrap="square" lIns="0" tIns="0" rIns="0" bIns="0" rtlCol="0" anchor="ctr"/>
          <a:lstStyle/>
          <a:p>
            <a:pPr marL="0" indent="0">
              <a:buNone/>
            </a:pPr>
            <a:r>
              <a:rPr lang="en-US" sz="1500" b="1" dirty="0">
                <a:solidFill>
                  <a:srgbClr val="0E241E"/>
                </a:solidFill>
                <a:latin typeface="Cambria" pitchFamily="34" charset="0"/>
                <a:ea typeface="Cambria" pitchFamily="34" charset="-122"/>
                <a:cs typeface="Cambria" pitchFamily="34" charset="-120"/>
              </a:rPr>
              <a:t>wav2vec 2.0 asked</a:t>
            </a:r>
            <a:endParaRPr lang="en-US" sz="1500" dirty="0"/>
          </a:p>
        </p:txBody>
      </p:sp>
      <p:sp>
        <p:nvSpPr>
          <p:cNvPr id="21" name="Text 19"/>
          <p:cNvSpPr txBox="1"/>
          <p:nvPr/>
        </p:nvSpPr>
        <p:spPr>
          <a:xfrm>
            <a:off x="8247888" y="2176272"/>
            <a:ext cx="3127248" cy="1499616"/>
          </a:xfrm>
          <a:prstGeom prst="rect">
            <a:avLst/>
          </a:prstGeom>
          <a:noFill/>
          <a:ln/>
        </p:spPr>
        <p:txBody>
          <a:bodyPr wrap="square" lIns="0" tIns="0" rIns="0" bIns="0" rtlCol="0" anchor="t"/>
          <a:lstStyle/>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What if the bottleneck was never the labels at all?</a:t>
            </a:r>
            <a:endParaRPr lang="en-US" sz="1260" dirty="0"/>
          </a:p>
          <a:p>
            <a:pPr marL="0" indent="0">
              <a:lnSpc>
                <a:spcPct val="108000"/>
              </a:lnSpc>
              <a:buNone/>
            </a:pPr>
            <a:endParaRPr lang="en-US" sz="1260" dirty="0"/>
          </a:p>
          <a:p>
            <a:pPr marL="0" indent="0">
              <a:lnSpc>
                <a:spcPct val="108000"/>
              </a:lnSpc>
              <a:buNone/>
            </a:pPr>
            <a:r>
              <a:rPr lang="en-US" sz="1260" dirty="0">
                <a:solidFill>
                  <a:srgbClr val="2C3B36"/>
                </a:solidFill>
                <a:latin typeface="Calibri" pitchFamily="34" charset="0"/>
                <a:ea typeface="Calibri" pitchFamily="34" charset="-122"/>
                <a:cs typeface="Calibri" pitchFamily="34" charset="-120"/>
              </a:rPr>
              <a:t>Answer: learn the structure of speech from unlabelled audio, and use the scarce labels only to attach a symbol set.</a:t>
            </a:r>
            <a:endParaRPr lang="en-US" sz="1260" dirty="0"/>
          </a:p>
        </p:txBody>
      </p:sp>
      <p:sp>
        <p:nvSpPr>
          <p:cNvPr id="22" name="Shape 20"/>
          <p:cNvSpPr/>
          <p:nvPr/>
        </p:nvSpPr>
        <p:spPr>
          <a:xfrm>
            <a:off x="566928" y="4059936"/>
            <a:ext cx="11064240" cy="1993392"/>
          </a:xfrm>
          <a:prstGeom prst="roundRect">
            <a:avLst>
              <a:gd name="adj" fmla="val 2752"/>
            </a:avLst>
          </a:prstGeom>
          <a:solidFill>
            <a:srgbClr val="13302A"/>
          </a:solidFill>
          <a:ln w="12700">
            <a:solidFill>
              <a:srgbClr val="13302A"/>
            </a:solidFill>
            <a:prstDash val="solid"/>
          </a:ln>
        </p:spPr>
        <p:txBody>
          <a:bodyPr/>
          <a:lstStyle/>
          <a:p>
            <a:endParaRPr lang="en-US"/>
          </a:p>
        </p:txBody>
      </p:sp>
      <p:sp>
        <p:nvSpPr>
          <p:cNvPr id="23" name="Shape 21"/>
          <p:cNvSpPr/>
          <p:nvPr/>
        </p:nvSpPr>
        <p:spPr>
          <a:xfrm>
            <a:off x="786384" y="4352544"/>
            <a:ext cx="109728" cy="109728"/>
          </a:xfrm>
          <a:prstGeom prst="ellipse">
            <a:avLst/>
          </a:prstGeom>
          <a:solidFill>
            <a:srgbClr val="B7D24A"/>
          </a:solidFill>
          <a:ln w="12700">
            <a:solidFill>
              <a:srgbClr val="333333"/>
            </a:solidFill>
            <a:prstDash val="solid"/>
          </a:ln>
        </p:spPr>
        <p:txBody>
          <a:bodyPr/>
          <a:lstStyle/>
          <a:p>
            <a:endParaRPr lang="en-US"/>
          </a:p>
        </p:txBody>
      </p:sp>
      <p:sp>
        <p:nvSpPr>
          <p:cNvPr id="24" name="Text 22"/>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What the three together imply</a:t>
            </a:r>
            <a:endParaRPr lang="en-US" sz="1500" dirty="0"/>
          </a:p>
        </p:txBody>
      </p:sp>
      <p:sp>
        <p:nvSpPr>
          <p:cNvPr id="25" name="Text 23"/>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20" dirty="0">
                <a:solidFill>
                  <a:srgbClr val="C6DCD2"/>
                </a:solidFill>
                <a:latin typeface="Calibri" pitchFamily="34" charset="0"/>
                <a:ea typeface="Calibri" pitchFamily="34" charset="-122"/>
                <a:cs typeface="Calibri" pitchFamily="34" charset="-120"/>
              </a:rPr>
              <a:t>The corpus papers show that emotional labels are noisy, expensive and shaped by design choices that most downstream users never examine. This paper shows that the acoustic modelling problem can be largely solved without labels.</a:t>
            </a:r>
            <a:endParaRPr lang="en-US" sz="1320" dirty="0"/>
          </a:p>
          <a:p>
            <a:pPr marL="0" indent="0">
              <a:lnSpc>
                <a:spcPct val="108000"/>
              </a:lnSpc>
              <a:buNone/>
            </a:pPr>
            <a:endParaRPr lang="en-US" sz="1320" dirty="0"/>
          </a:p>
          <a:p>
            <a:pPr marL="0" indent="0">
              <a:lnSpc>
                <a:spcPct val="108000"/>
              </a:lnSpc>
              <a:buNone/>
            </a:pPr>
            <a:r>
              <a:rPr lang="en-US" sz="1320" dirty="0">
                <a:solidFill>
                  <a:srgbClr val="C6DCD2"/>
                </a:solidFill>
                <a:latin typeface="Calibri" pitchFamily="34" charset="0"/>
                <a:ea typeface="Calibri" pitchFamily="34" charset="-122"/>
                <a:cs typeface="Calibri" pitchFamily="34" charset="-120"/>
              </a:rPr>
              <a:t>Put together, they say something specific about where the remaining difficulty in our field lives: not in learning representations of speech, which is now close to a solved and downloadable problem, but in defining what we are trying to predict, and in evaluating it honestly on data whose construction we understand.</a:t>
            </a:r>
            <a:endParaRPr lang="en-US" sz="132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28832" y="548640"/>
            <a:ext cx="50292" cy="146304"/>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3" name="Shape 1"/>
          <p:cNvSpPr/>
          <p:nvPr/>
        </p:nvSpPr>
        <p:spPr>
          <a:xfrm>
            <a:off x="11315700" y="484632"/>
            <a:ext cx="50292" cy="274320"/>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4" name="Shape 2"/>
          <p:cNvSpPr/>
          <p:nvPr/>
        </p:nvSpPr>
        <p:spPr>
          <a:xfrm>
            <a:off x="11402568" y="530352"/>
            <a:ext cx="50292" cy="182880"/>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5" name="Shape 3"/>
          <p:cNvSpPr/>
          <p:nvPr/>
        </p:nvSpPr>
        <p:spPr>
          <a:xfrm>
            <a:off x="11489436" y="457200"/>
            <a:ext cx="50292" cy="329184"/>
          </a:xfrm>
          <a:prstGeom prst="roundRect">
            <a:avLst>
              <a:gd name="adj" fmla="val 36364"/>
            </a:avLst>
          </a:prstGeom>
          <a:solidFill>
            <a:srgbClr val="2E7D5B"/>
          </a:solidFill>
          <a:ln w="12700">
            <a:solidFill>
              <a:srgbClr val="333333"/>
            </a:solidFill>
            <a:prstDash val="solid"/>
          </a:ln>
        </p:spPr>
        <p:txBody>
          <a:bodyPr/>
          <a:lstStyle/>
          <a:p>
            <a:endParaRPr lang="en-US"/>
          </a:p>
        </p:txBody>
      </p:sp>
      <p:sp>
        <p:nvSpPr>
          <p:cNvPr id="6" name="Shape 4"/>
          <p:cNvSpPr/>
          <p:nvPr/>
        </p:nvSpPr>
        <p:spPr>
          <a:xfrm>
            <a:off x="11576304" y="521208"/>
            <a:ext cx="50292" cy="201168"/>
          </a:xfrm>
          <a:prstGeom prst="roundRect">
            <a:avLst>
              <a:gd name="adj" fmla="val 36364"/>
            </a:avLst>
          </a:prstGeom>
          <a:solidFill>
            <a:srgbClr val="9BBFAE"/>
          </a:solidFill>
          <a:ln w="12700">
            <a:solidFill>
              <a:srgbClr val="333333"/>
            </a:solidFill>
            <a:prstDash val="solid"/>
          </a:ln>
        </p:spPr>
        <p:txBody>
          <a:bodyPr/>
          <a:lstStyle/>
          <a:p>
            <a:endParaRPr lang="en-US"/>
          </a:p>
        </p:txBody>
      </p:sp>
      <p:sp>
        <p:nvSpPr>
          <p:cNvPr id="7" name="Text 5"/>
          <p:cNvSpPr txBox="1"/>
          <p:nvPr/>
        </p:nvSpPr>
        <p:spPr>
          <a:xfrm>
            <a:off x="548640" y="384048"/>
            <a:ext cx="10424160" cy="566928"/>
          </a:xfrm>
          <a:prstGeom prst="rect">
            <a:avLst/>
          </a:prstGeom>
          <a:noFill/>
          <a:ln/>
        </p:spPr>
        <p:txBody>
          <a:bodyPr wrap="square" lIns="0" tIns="0" rIns="0" bIns="0" rtlCol="0" anchor="t"/>
          <a:lstStyle/>
          <a:p>
            <a:pPr marL="0" indent="0">
              <a:buNone/>
            </a:pPr>
            <a:r>
              <a:rPr lang="en-US" sz="2900" b="1" dirty="0">
                <a:solidFill>
                  <a:srgbClr val="0E241E"/>
                </a:solidFill>
                <a:latin typeface="Cambria" pitchFamily="34" charset="0"/>
                <a:ea typeface="Cambria" pitchFamily="34" charset="-122"/>
                <a:cs typeface="Cambria" pitchFamily="34" charset="-120"/>
              </a:rPr>
              <a:t>Take-aways</a:t>
            </a:r>
            <a:endParaRPr lang="en-US" sz="2900" dirty="0"/>
          </a:p>
        </p:txBody>
      </p:sp>
      <p:sp>
        <p:nvSpPr>
          <p:cNvPr id="8" name="Text 6"/>
          <p:cNvSpPr txBox="1"/>
          <p:nvPr/>
        </p:nvSpPr>
        <p:spPr>
          <a:xfrm>
            <a:off x="548640" y="969264"/>
            <a:ext cx="10424160" cy="329184"/>
          </a:xfrm>
          <a:prstGeom prst="rect">
            <a:avLst/>
          </a:prstGeom>
          <a:noFill/>
          <a:ln/>
        </p:spPr>
        <p:txBody>
          <a:bodyPr wrap="square" lIns="0" tIns="0" rIns="0" bIns="0" rtlCol="0" anchor="ctr"/>
          <a:lstStyle/>
          <a:p>
            <a:pPr marL="0" indent="0">
              <a:buNone/>
            </a:pPr>
            <a:r>
              <a:rPr lang="en-US" sz="1350" i="1" dirty="0">
                <a:solidFill>
                  <a:srgbClr val="4A6B62"/>
                </a:solidFill>
                <a:latin typeface="Calibri" pitchFamily="34" charset="0"/>
                <a:ea typeface="Calibri" pitchFamily="34" charset="-122"/>
                <a:cs typeface="Calibri" pitchFamily="34" charset="-120"/>
              </a:rPr>
              <a:t>Five things to carry out of this seminar</a:t>
            </a:r>
            <a:endParaRPr lang="en-US" sz="1350" dirty="0"/>
          </a:p>
        </p:txBody>
      </p:sp>
      <p:sp>
        <p:nvSpPr>
          <p:cNvPr id="9" name="Text 7"/>
          <p:cNvSpPr txBox="1"/>
          <p:nvPr/>
        </p:nvSpPr>
        <p:spPr>
          <a:xfrm>
            <a:off x="9326880" y="6382512"/>
            <a:ext cx="2313432" cy="274320"/>
          </a:xfrm>
          <a:prstGeom prst="rect">
            <a:avLst/>
          </a:prstGeom>
          <a:noFill/>
          <a:ln/>
        </p:spPr>
        <p:txBody>
          <a:bodyPr wrap="square" lIns="0" tIns="0" rIns="0" bIns="0" rtlCol="0" anchor="ctr"/>
          <a:lstStyle/>
          <a:p>
            <a:pPr marL="0" indent="0" algn="r">
              <a:buNone/>
            </a:pPr>
            <a:r>
              <a:rPr lang="en-US" sz="900" dirty="0">
                <a:solidFill>
                  <a:srgbClr val="9AAAA2"/>
                </a:solidFill>
                <a:latin typeface="Calibri" pitchFamily="34" charset="0"/>
                <a:ea typeface="Calibri" pitchFamily="34" charset="-122"/>
                <a:cs typeface="Calibri" pitchFamily="34" charset="-120"/>
              </a:rPr>
              <a:t>wav2vec 2.0 · Baevski et al. 2020  |  49</a:t>
            </a:r>
            <a:endParaRPr lang="en-US" sz="900" dirty="0"/>
          </a:p>
        </p:txBody>
      </p:sp>
      <p:sp>
        <p:nvSpPr>
          <p:cNvPr id="10" name="Shape 8"/>
          <p:cNvSpPr/>
          <p:nvPr/>
        </p:nvSpPr>
        <p:spPr>
          <a:xfrm>
            <a:off x="566928" y="1517904"/>
            <a:ext cx="11064240" cy="859536"/>
          </a:xfrm>
          <a:prstGeom prst="roundRect">
            <a:avLst>
              <a:gd name="adj" fmla="val 5319"/>
            </a:avLst>
          </a:prstGeom>
          <a:solidFill>
            <a:srgbClr val="EFF5F1"/>
          </a:solidFill>
          <a:ln w="12700">
            <a:solidFill>
              <a:srgbClr val="DCE7E1"/>
            </a:solidFill>
            <a:prstDash val="solid"/>
          </a:ln>
        </p:spPr>
        <p:txBody>
          <a:bodyPr/>
          <a:lstStyle/>
          <a:p>
            <a:endParaRPr lang="en-US"/>
          </a:p>
        </p:txBody>
      </p:sp>
      <p:sp>
        <p:nvSpPr>
          <p:cNvPr id="11" name="Shape 9"/>
          <p:cNvSpPr/>
          <p:nvPr/>
        </p:nvSpPr>
        <p:spPr>
          <a:xfrm>
            <a:off x="804672" y="1783080"/>
            <a:ext cx="329184" cy="329184"/>
          </a:xfrm>
          <a:prstGeom prst="ellipse">
            <a:avLst/>
          </a:prstGeom>
          <a:solidFill>
            <a:srgbClr val="2E7D5B"/>
          </a:solidFill>
          <a:ln w="12700">
            <a:solidFill>
              <a:srgbClr val="333333"/>
            </a:solidFill>
            <a:prstDash val="solid"/>
          </a:ln>
        </p:spPr>
        <p:txBody>
          <a:bodyPr/>
          <a:lstStyle/>
          <a:p>
            <a:endParaRPr lang="en-US"/>
          </a:p>
        </p:txBody>
      </p:sp>
      <p:sp>
        <p:nvSpPr>
          <p:cNvPr id="12" name="Text 10"/>
          <p:cNvSpPr txBox="1"/>
          <p:nvPr/>
        </p:nvSpPr>
        <p:spPr>
          <a:xfrm>
            <a:off x="804672" y="18105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1</a:t>
            </a:r>
            <a:endParaRPr lang="en-US" sz="1250" dirty="0"/>
          </a:p>
        </p:txBody>
      </p:sp>
      <p:sp>
        <p:nvSpPr>
          <p:cNvPr id="13" name="Text 11"/>
          <p:cNvSpPr txBox="1"/>
          <p:nvPr/>
        </p:nvSpPr>
        <p:spPr>
          <a:xfrm>
            <a:off x="1298448" y="1627632"/>
            <a:ext cx="402336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The bottleneck matters more than the objective</a:t>
            </a:r>
            <a:endParaRPr lang="en-US" sz="1300" dirty="0"/>
          </a:p>
        </p:txBody>
      </p:sp>
      <p:sp>
        <p:nvSpPr>
          <p:cNvPr id="14" name="Text 12"/>
          <p:cNvSpPr txBox="1"/>
          <p:nvPr/>
        </p:nvSpPr>
        <p:spPr>
          <a:xfrm>
            <a:off x="5486400" y="1609344"/>
            <a:ext cx="59436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Continuous inputs with quantised targets is the whole architectural argument, and the ablation shows it is worth roughly a third of the error. The contrastive loss itself was later replaced.</a:t>
            </a:r>
            <a:endParaRPr lang="en-US" sz="1180" dirty="0"/>
          </a:p>
        </p:txBody>
      </p:sp>
      <p:sp>
        <p:nvSpPr>
          <p:cNvPr id="15" name="Shape 13"/>
          <p:cNvSpPr/>
          <p:nvPr/>
        </p:nvSpPr>
        <p:spPr>
          <a:xfrm>
            <a:off x="566928" y="2432304"/>
            <a:ext cx="11064240" cy="859536"/>
          </a:xfrm>
          <a:prstGeom prst="roundRect">
            <a:avLst>
              <a:gd name="adj" fmla="val 5319"/>
            </a:avLst>
          </a:prstGeom>
          <a:solidFill>
            <a:srgbClr val="FFFFFF"/>
          </a:solidFill>
          <a:ln w="12700">
            <a:solidFill>
              <a:srgbClr val="DCE7E1"/>
            </a:solidFill>
            <a:prstDash val="solid"/>
          </a:ln>
        </p:spPr>
        <p:txBody>
          <a:bodyPr/>
          <a:lstStyle/>
          <a:p>
            <a:endParaRPr lang="en-US"/>
          </a:p>
        </p:txBody>
      </p:sp>
      <p:sp>
        <p:nvSpPr>
          <p:cNvPr id="16" name="Shape 14"/>
          <p:cNvSpPr/>
          <p:nvPr/>
        </p:nvSpPr>
        <p:spPr>
          <a:xfrm>
            <a:off x="804672" y="2697480"/>
            <a:ext cx="329184" cy="329184"/>
          </a:xfrm>
          <a:prstGeom prst="ellipse">
            <a:avLst/>
          </a:prstGeom>
          <a:solidFill>
            <a:srgbClr val="2E7D5B"/>
          </a:solidFill>
          <a:ln w="12700">
            <a:solidFill>
              <a:srgbClr val="333333"/>
            </a:solidFill>
            <a:prstDash val="solid"/>
          </a:ln>
        </p:spPr>
        <p:txBody>
          <a:bodyPr/>
          <a:lstStyle/>
          <a:p>
            <a:endParaRPr lang="en-US"/>
          </a:p>
        </p:txBody>
      </p:sp>
      <p:sp>
        <p:nvSpPr>
          <p:cNvPr id="17" name="Text 15"/>
          <p:cNvSpPr txBox="1"/>
          <p:nvPr/>
        </p:nvSpPr>
        <p:spPr>
          <a:xfrm>
            <a:off x="804672" y="27249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2</a:t>
            </a:r>
            <a:endParaRPr lang="en-US" sz="1250" dirty="0"/>
          </a:p>
        </p:txBody>
      </p:sp>
      <p:sp>
        <p:nvSpPr>
          <p:cNvPr id="18" name="Text 16"/>
          <p:cNvSpPr txBox="1"/>
          <p:nvPr/>
        </p:nvSpPr>
        <p:spPr>
          <a:xfrm>
            <a:off x="1298448" y="2542032"/>
            <a:ext cx="402336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Pretext accuracy is not representation quality</a:t>
            </a:r>
            <a:endParaRPr lang="en-US" sz="1300" dirty="0"/>
          </a:p>
        </p:txBody>
      </p:sp>
      <p:sp>
        <p:nvSpPr>
          <p:cNvPr id="19" name="Text 17"/>
          <p:cNvSpPr txBox="1"/>
          <p:nvPr/>
        </p:nvSpPr>
        <p:spPr>
          <a:xfrm>
            <a:off x="5486400" y="2523744"/>
            <a:ext cx="59436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Sixteen points better at its own training task, several points worse at transcription. In self-supervised learning these can move in opposite directions.</a:t>
            </a:r>
            <a:endParaRPr lang="en-US" sz="1180" dirty="0"/>
          </a:p>
        </p:txBody>
      </p:sp>
      <p:sp>
        <p:nvSpPr>
          <p:cNvPr id="20" name="Shape 18"/>
          <p:cNvSpPr/>
          <p:nvPr/>
        </p:nvSpPr>
        <p:spPr>
          <a:xfrm>
            <a:off x="566928" y="3346704"/>
            <a:ext cx="11064240" cy="859536"/>
          </a:xfrm>
          <a:prstGeom prst="roundRect">
            <a:avLst>
              <a:gd name="adj" fmla="val 5319"/>
            </a:avLst>
          </a:prstGeom>
          <a:solidFill>
            <a:srgbClr val="EFF5F1"/>
          </a:solidFill>
          <a:ln w="12700">
            <a:solidFill>
              <a:srgbClr val="DCE7E1"/>
            </a:solidFill>
            <a:prstDash val="solid"/>
          </a:ln>
        </p:spPr>
        <p:txBody>
          <a:bodyPr/>
          <a:lstStyle/>
          <a:p>
            <a:endParaRPr lang="en-US"/>
          </a:p>
        </p:txBody>
      </p:sp>
      <p:sp>
        <p:nvSpPr>
          <p:cNvPr id="21" name="Shape 19"/>
          <p:cNvSpPr/>
          <p:nvPr/>
        </p:nvSpPr>
        <p:spPr>
          <a:xfrm>
            <a:off x="804672" y="3611880"/>
            <a:ext cx="329184" cy="329184"/>
          </a:xfrm>
          <a:prstGeom prst="ellipse">
            <a:avLst/>
          </a:prstGeom>
          <a:solidFill>
            <a:srgbClr val="2E7D5B"/>
          </a:solidFill>
          <a:ln w="12700">
            <a:solidFill>
              <a:srgbClr val="333333"/>
            </a:solidFill>
            <a:prstDash val="solid"/>
          </a:ln>
        </p:spPr>
        <p:txBody>
          <a:bodyPr/>
          <a:lstStyle/>
          <a:p>
            <a:endParaRPr lang="en-US"/>
          </a:p>
        </p:txBody>
      </p:sp>
      <p:sp>
        <p:nvSpPr>
          <p:cNvPr id="22" name="Text 20"/>
          <p:cNvSpPr txBox="1"/>
          <p:nvPr/>
        </p:nvSpPr>
        <p:spPr>
          <a:xfrm>
            <a:off x="804672" y="36393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3</a:t>
            </a:r>
            <a:endParaRPr lang="en-US" sz="1250" dirty="0"/>
          </a:p>
        </p:txBody>
      </p:sp>
      <p:sp>
        <p:nvSpPr>
          <p:cNvPr id="23" name="Text 21"/>
          <p:cNvSpPr txBox="1"/>
          <p:nvPr/>
        </p:nvSpPr>
        <p:spPr>
          <a:xfrm>
            <a:off x="1298448" y="3456432"/>
            <a:ext cx="402336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Design your negatives</a:t>
            </a:r>
            <a:endParaRPr lang="en-US" sz="1300" dirty="0"/>
          </a:p>
        </p:txBody>
      </p:sp>
      <p:sp>
        <p:nvSpPr>
          <p:cNvPr id="24" name="Text 22"/>
          <p:cNvSpPr txBox="1"/>
          <p:nvPr/>
        </p:nvSpPr>
        <p:spPr>
          <a:xfrm>
            <a:off x="5486400" y="3438144"/>
            <a:ext cx="59436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Sampling distractors from within the same utterance is what forces the model to use phonetic rather than speaker information. An implementation detail doing conceptual work.</a:t>
            </a:r>
            <a:endParaRPr lang="en-US" sz="1180" dirty="0"/>
          </a:p>
        </p:txBody>
      </p:sp>
      <p:sp>
        <p:nvSpPr>
          <p:cNvPr id="25" name="Shape 23"/>
          <p:cNvSpPr/>
          <p:nvPr/>
        </p:nvSpPr>
        <p:spPr>
          <a:xfrm>
            <a:off x="566928" y="4261104"/>
            <a:ext cx="11064240" cy="859536"/>
          </a:xfrm>
          <a:prstGeom prst="roundRect">
            <a:avLst>
              <a:gd name="adj" fmla="val 5319"/>
            </a:avLst>
          </a:prstGeom>
          <a:solidFill>
            <a:srgbClr val="FFFFFF"/>
          </a:solidFill>
          <a:ln w="12700">
            <a:solidFill>
              <a:srgbClr val="DCE7E1"/>
            </a:solidFill>
            <a:prstDash val="solid"/>
          </a:ln>
        </p:spPr>
        <p:txBody>
          <a:bodyPr/>
          <a:lstStyle/>
          <a:p>
            <a:endParaRPr lang="en-US"/>
          </a:p>
        </p:txBody>
      </p:sp>
      <p:sp>
        <p:nvSpPr>
          <p:cNvPr id="26" name="Shape 24"/>
          <p:cNvSpPr/>
          <p:nvPr/>
        </p:nvSpPr>
        <p:spPr>
          <a:xfrm>
            <a:off x="804672" y="4526280"/>
            <a:ext cx="329184" cy="329184"/>
          </a:xfrm>
          <a:prstGeom prst="ellipse">
            <a:avLst/>
          </a:prstGeom>
          <a:solidFill>
            <a:srgbClr val="2E7D5B"/>
          </a:solidFill>
          <a:ln w="12700">
            <a:solidFill>
              <a:srgbClr val="333333"/>
            </a:solidFill>
            <a:prstDash val="solid"/>
          </a:ln>
        </p:spPr>
        <p:txBody>
          <a:bodyPr/>
          <a:lstStyle/>
          <a:p>
            <a:endParaRPr lang="en-US"/>
          </a:p>
        </p:txBody>
      </p:sp>
      <p:sp>
        <p:nvSpPr>
          <p:cNvPr id="27" name="Text 25"/>
          <p:cNvSpPr txBox="1"/>
          <p:nvPr/>
        </p:nvSpPr>
        <p:spPr>
          <a:xfrm>
            <a:off x="804672" y="45537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4</a:t>
            </a:r>
            <a:endParaRPr lang="en-US" sz="1250" dirty="0"/>
          </a:p>
        </p:txBody>
      </p:sp>
      <p:sp>
        <p:nvSpPr>
          <p:cNvPr id="28" name="Text 26"/>
          <p:cNvSpPr txBox="1"/>
          <p:nvPr/>
        </p:nvSpPr>
        <p:spPr>
          <a:xfrm>
            <a:off x="1298448" y="4370832"/>
            <a:ext cx="402336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The last layer is usually the wrong layer</a:t>
            </a:r>
            <a:endParaRPr lang="en-US" sz="1300" dirty="0"/>
          </a:p>
        </p:txBody>
      </p:sp>
      <p:sp>
        <p:nvSpPr>
          <p:cNvPr id="29" name="Text 27"/>
          <p:cNvSpPr txBox="1"/>
          <p:nvPr/>
        </p:nvSpPr>
        <p:spPr>
          <a:xfrm>
            <a:off x="5486400" y="4352544"/>
            <a:ext cx="59436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Pre-trained wav2vec 2.0 layers behave like an autoencoder. Aggregate across layers before concluding a model does not suit your task.</a:t>
            </a:r>
            <a:endParaRPr lang="en-US" sz="1180" dirty="0"/>
          </a:p>
        </p:txBody>
      </p:sp>
      <p:sp>
        <p:nvSpPr>
          <p:cNvPr id="30" name="Shape 28"/>
          <p:cNvSpPr/>
          <p:nvPr/>
        </p:nvSpPr>
        <p:spPr>
          <a:xfrm>
            <a:off x="566928" y="5175504"/>
            <a:ext cx="11064240" cy="859536"/>
          </a:xfrm>
          <a:prstGeom prst="roundRect">
            <a:avLst>
              <a:gd name="adj" fmla="val 5319"/>
            </a:avLst>
          </a:prstGeom>
          <a:solidFill>
            <a:srgbClr val="EFF5F1"/>
          </a:solidFill>
          <a:ln w="12700">
            <a:solidFill>
              <a:srgbClr val="DCE7E1"/>
            </a:solidFill>
            <a:prstDash val="solid"/>
          </a:ln>
        </p:spPr>
        <p:txBody>
          <a:bodyPr/>
          <a:lstStyle/>
          <a:p>
            <a:endParaRPr lang="en-US"/>
          </a:p>
        </p:txBody>
      </p:sp>
      <p:sp>
        <p:nvSpPr>
          <p:cNvPr id="31" name="Shape 29"/>
          <p:cNvSpPr/>
          <p:nvPr/>
        </p:nvSpPr>
        <p:spPr>
          <a:xfrm>
            <a:off x="804672" y="5440680"/>
            <a:ext cx="329184" cy="329184"/>
          </a:xfrm>
          <a:prstGeom prst="ellipse">
            <a:avLst/>
          </a:prstGeom>
          <a:solidFill>
            <a:srgbClr val="2E7D5B"/>
          </a:solidFill>
          <a:ln w="12700">
            <a:solidFill>
              <a:srgbClr val="333333"/>
            </a:solidFill>
            <a:prstDash val="solid"/>
          </a:ln>
        </p:spPr>
        <p:txBody>
          <a:bodyPr/>
          <a:lstStyle/>
          <a:p>
            <a:endParaRPr lang="en-US"/>
          </a:p>
        </p:txBody>
      </p:sp>
      <p:sp>
        <p:nvSpPr>
          <p:cNvPr id="32" name="Text 30"/>
          <p:cNvSpPr txBox="1"/>
          <p:nvPr/>
        </p:nvSpPr>
        <p:spPr>
          <a:xfrm>
            <a:off x="804672" y="5468112"/>
            <a:ext cx="329184" cy="27432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5</a:t>
            </a:r>
            <a:endParaRPr lang="en-US" sz="1250" dirty="0"/>
          </a:p>
        </p:txBody>
      </p:sp>
      <p:sp>
        <p:nvSpPr>
          <p:cNvPr id="33" name="Text 31"/>
          <p:cNvSpPr txBox="1"/>
          <p:nvPr/>
        </p:nvSpPr>
        <p:spPr>
          <a:xfrm>
            <a:off x="1298448" y="5285232"/>
            <a:ext cx="4023360" cy="640080"/>
          </a:xfrm>
          <a:prstGeom prst="rect">
            <a:avLst/>
          </a:prstGeom>
          <a:noFill/>
          <a:ln/>
        </p:spPr>
        <p:txBody>
          <a:bodyPr wrap="square" lIns="0" tIns="0" rIns="0" bIns="0" rtlCol="0" anchor="ctr"/>
          <a:lstStyle/>
          <a:p>
            <a:pPr marL="0" indent="0">
              <a:buNone/>
            </a:pPr>
            <a:r>
              <a:rPr lang="en-US" sz="1300" b="1" dirty="0">
                <a:solidFill>
                  <a:srgbClr val="0E241E"/>
                </a:solidFill>
                <a:latin typeface="Cambria" pitchFamily="34" charset="0"/>
                <a:ea typeface="Cambria" pitchFamily="34" charset="-122"/>
                <a:cs typeface="Cambria" pitchFamily="34" charset="-120"/>
              </a:rPr>
              <a:t>Match the checkpoint to the task</a:t>
            </a:r>
            <a:endParaRPr lang="en-US" sz="1300" dirty="0"/>
          </a:p>
        </p:txBody>
      </p:sp>
      <p:sp>
        <p:nvSpPr>
          <p:cNvPr id="34" name="Text 32"/>
          <p:cNvSpPr txBox="1"/>
          <p:nvPr/>
        </p:nvSpPr>
        <p:spPr>
          <a:xfrm>
            <a:off x="5486400" y="5266944"/>
            <a:ext cx="5943600" cy="676656"/>
          </a:xfrm>
          <a:prstGeom prst="rect">
            <a:avLst/>
          </a:prstGeom>
          <a:noFill/>
          <a:ln/>
        </p:spPr>
        <p:txBody>
          <a:bodyPr wrap="square" lIns="0" tIns="0" rIns="0" bIns="0" rtlCol="0" anchor="ctr"/>
          <a:lstStyle/>
          <a:p>
            <a:pPr marL="0" indent="0">
              <a:buNone/>
            </a:pPr>
            <a:r>
              <a:rPr lang="en-US" sz="1180" dirty="0">
                <a:solidFill>
                  <a:srgbClr val="2C3B36"/>
                </a:solidFill>
                <a:latin typeface="Calibri" pitchFamily="34" charset="0"/>
                <a:ea typeface="Calibri" pitchFamily="34" charset="-122"/>
                <a:cs typeface="Calibri" pitchFamily="34" charset="-120"/>
              </a:rPr>
              <a:t>ASR fine-tuning measurably damages paralinguistic information. For emotion, speaker or health tasks, start from the pre-trained model, not the fine-tuned one.</a:t>
            </a:r>
            <a:endParaRPr lang="en-US" sz="11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0">
    <p:bg>
      <p:bgPr>
        <a:solidFill>
          <a:srgbClr val="13302A"/>
        </a:solidFill>
        <a:effectLst/>
      </p:bgPr>
    </p:bg>
    <p:spTree>
      <p:nvGrpSpPr>
        <p:cNvPr id="1" name=""/>
        <p:cNvGrpSpPr/>
        <p:nvPr/>
      </p:nvGrpSpPr>
      <p:grpSpPr>
        <a:xfrm>
          <a:off x="0" y="0"/>
          <a:ext cx="0" cy="0"/>
          <a:chOff x="0" y="0"/>
          <a:chExt cx="0" cy="0"/>
        </a:xfrm>
      </p:grpSpPr>
      <p:sp>
        <p:nvSpPr>
          <p:cNvPr id="2" name="Shape 0"/>
          <p:cNvSpPr/>
          <p:nvPr/>
        </p:nvSpPr>
        <p:spPr>
          <a:xfrm>
            <a:off x="10515600" y="804672"/>
            <a:ext cx="80467" cy="234086"/>
          </a:xfrm>
          <a:prstGeom prst="roundRect">
            <a:avLst>
              <a:gd name="adj" fmla="val 22727"/>
            </a:avLst>
          </a:prstGeom>
          <a:solidFill>
            <a:srgbClr val="C6DCD2"/>
          </a:solidFill>
          <a:ln w="12700">
            <a:solidFill>
              <a:srgbClr val="333333"/>
            </a:solidFill>
            <a:prstDash val="solid"/>
          </a:ln>
        </p:spPr>
        <p:txBody>
          <a:bodyPr/>
          <a:lstStyle/>
          <a:p>
            <a:endParaRPr lang="en-US"/>
          </a:p>
        </p:txBody>
      </p:sp>
      <p:sp>
        <p:nvSpPr>
          <p:cNvPr id="3" name="Shape 1"/>
          <p:cNvSpPr/>
          <p:nvPr/>
        </p:nvSpPr>
        <p:spPr>
          <a:xfrm>
            <a:off x="10654589" y="702259"/>
            <a:ext cx="80467" cy="438912"/>
          </a:xfrm>
          <a:prstGeom prst="roundRect">
            <a:avLst>
              <a:gd name="adj" fmla="val 22727"/>
            </a:avLst>
          </a:prstGeom>
          <a:solidFill>
            <a:srgbClr val="B7D24A"/>
          </a:solidFill>
          <a:ln w="12700">
            <a:solidFill>
              <a:srgbClr val="333333"/>
            </a:solidFill>
            <a:prstDash val="solid"/>
          </a:ln>
        </p:spPr>
        <p:txBody>
          <a:bodyPr/>
          <a:lstStyle/>
          <a:p>
            <a:endParaRPr lang="en-US"/>
          </a:p>
        </p:txBody>
      </p:sp>
      <p:sp>
        <p:nvSpPr>
          <p:cNvPr id="4" name="Shape 2"/>
          <p:cNvSpPr/>
          <p:nvPr/>
        </p:nvSpPr>
        <p:spPr>
          <a:xfrm>
            <a:off x="10793578" y="775411"/>
            <a:ext cx="80467" cy="292608"/>
          </a:xfrm>
          <a:prstGeom prst="roundRect">
            <a:avLst>
              <a:gd name="adj" fmla="val 22727"/>
            </a:avLst>
          </a:prstGeom>
          <a:solidFill>
            <a:srgbClr val="C6DCD2"/>
          </a:solidFill>
          <a:ln w="12700">
            <a:solidFill>
              <a:srgbClr val="333333"/>
            </a:solidFill>
            <a:prstDash val="solid"/>
          </a:ln>
        </p:spPr>
        <p:txBody>
          <a:bodyPr/>
          <a:lstStyle/>
          <a:p>
            <a:endParaRPr lang="en-US"/>
          </a:p>
        </p:txBody>
      </p:sp>
      <p:sp>
        <p:nvSpPr>
          <p:cNvPr id="5" name="Shape 3"/>
          <p:cNvSpPr/>
          <p:nvPr/>
        </p:nvSpPr>
        <p:spPr>
          <a:xfrm>
            <a:off x="10932566" y="658368"/>
            <a:ext cx="80467" cy="526694"/>
          </a:xfrm>
          <a:prstGeom prst="roundRect">
            <a:avLst>
              <a:gd name="adj" fmla="val 22727"/>
            </a:avLst>
          </a:prstGeom>
          <a:solidFill>
            <a:srgbClr val="B7D24A"/>
          </a:solidFill>
          <a:ln w="12700">
            <a:solidFill>
              <a:srgbClr val="333333"/>
            </a:solidFill>
            <a:prstDash val="solid"/>
          </a:ln>
        </p:spPr>
        <p:txBody>
          <a:bodyPr/>
          <a:lstStyle/>
          <a:p>
            <a:endParaRPr lang="en-US"/>
          </a:p>
        </p:txBody>
      </p:sp>
      <p:sp>
        <p:nvSpPr>
          <p:cNvPr id="6" name="Shape 4"/>
          <p:cNvSpPr/>
          <p:nvPr/>
        </p:nvSpPr>
        <p:spPr>
          <a:xfrm>
            <a:off x="11071555" y="760781"/>
            <a:ext cx="80467" cy="321869"/>
          </a:xfrm>
          <a:prstGeom prst="roundRect">
            <a:avLst>
              <a:gd name="adj" fmla="val 22727"/>
            </a:avLst>
          </a:prstGeom>
          <a:solidFill>
            <a:srgbClr val="C6DCD2"/>
          </a:solidFill>
          <a:ln w="12700">
            <a:solidFill>
              <a:srgbClr val="333333"/>
            </a:solidFill>
            <a:prstDash val="solid"/>
          </a:ln>
        </p:spPr>
        <p:txBody>
          <a:bodyPr/>
          <a:lstStyle/>
          <a:p>
            <a:endParaRPr lang="en-US"/>
          </a:p>
        </p:txBody>
      </p:sp>
      <p:sp>
        <p:nvSpPr>
          <p:cNvPr id="7" name="Text 5"/>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8" name="Shape 6"/>
          <p:cNvSpPr/>
          <p:nvPr/>
        </p:nvSpPr>
        <p:spPr>
          <a:xfrm>
            <a:off x="841248" y="1600200"/>
            <a:ext cx="329184" cy="329184"/>
          </a:xfrm>
          <a:prstGeom prst="ellipse">
            <a:avLst/>
          </a:prstGeom>
          <a:solidFill>
            <a:srgbClr val="B7D24A"/>
          </a:solidFill>
          <a:ln w="12700">
            <a:solidFill>
              <a:srgbClr val="333333"/>
            </a:solidFill>
            <a:prstDash val="solid"/>
          </a:ln>
        </p:spPr>
        <p:txBody>
          <a:bodyPr/>
          <a:lstStyle/>
          <a:p>
            <a:endParaRPr lang="en-US"/>
          </a:p>
        </p:txBody>
      </p:sp>
      <p:sp>
        <p:nvSpPr>
          <p:cNvPr id="9" name="Text 7"/>
          <p:cNvSpPr txBox="1"/>
          <p:nvPr/>
        </p:nvSpPr>
        <p:spPr>
          <a:xfrm>
            <a:off x="841248" y="1627632"/>
            <a:ext cx="329184" cy="274320"/>
          </a:xfrm>
          <a:prstGeom prst="rect">
            <a:avLst/>
          </a:prstGeom>
          <a:noFill/>
          <a:ln/>
        </p:spPr>
        <p:txBody>
          <a:bodyPr wrap="square" lIns="0" tIns="0" rIns="0" bIns="0" rtlCol="0" anchor="ctr"/>
          <a:lstStyle/>
          <a:p>
            <a:pPr marL="0" indent="0" algn="ctr">
              <a:buNone/>
            </a:pPr>
            <a:r>
              <a:rPr lang="en-US" sz="1200" b="1" dirty="0">
                <a:solidFill>
                  <a:srgbClr val="13302A"/>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353312" y="1517904"/>
            <a:ext cx="10058400" cy="914400"/>
          </a:xfrm>
          <a:prstGeom prst="rect">
            <a:avLst/>
          </a:prstGeom>
          <a:noFill/>
          <a:ln/>
        </p:spPr>
        <p:txBody>
          <a:bodyPr wrap="square" lIns="0" tIns="0" rIns="0" bIns="0" rtlCol="0" anchor="ctr"/>
          <a:lstStyle/>
          <a:p>
            <a:pPr marL="0" indent="0">
              <a:buNone/>
            </a:pPr>
            <a:r>
              <a:rPr lang="en-US" sz="1250" dirty="0">
                <a:solidFill>
                  <a:srgbClr val="C6DCD2"/>
                </a:solidFill>
                <a:latin typeface="Calibri" pitchFamily="34" charset="0"/>
                <a:ea typeface="Calibri" pitchFamily="34" charset="-122"/>
                <a:cs typeface="Calibri" pitchFamily="34" charset="-120"/>
              </a:rPr>
              <a:t>The quantisation bottleneck works by throwing away speaker and channel information. If you were designing a self-supervised objective for emotion rather than transcription, what would you throw away instead — and what would the target inventory be over?</a:t>
            </a:r>
            <a:endParaRPr lang="en-US" sz="1250" dirty="0"/>
          </a:p>
        </p:txBody>
      </p:sp>
      <p:sp>
        <p:nvSpPr>
          <p:cNvPr id="11" name="Shape 9"/>
          <p:cNvSpPr/>
          <p:nvPr/>
        </p:nvSpPr>
        <p:spPr>
          <a:xfrm>
            <a:off x="841248" y="2532888"/>
            <a:ext cx="329184" cy="329184"/>
          </a:xfrm>
          <a:prstGeom prst="ellipse">
            <a:avLst/>
          </a:prstGeom>
          <a:solidFill>
            <a:srgbClr val="B7D24A"/>
          </a:solidFill>
          <a:ln w="12700">
            <a:solidFill>
              <a:srgbClr val="333333"/>
            </a:solidFill>
            <a:prstDash val="solid"/>
          </a:ln>
        </p:spPr>
        <p:txBody>
          <a:bodyPr/>
          <a:lstStyle/>
          <a:p>
            <a:endParaRPr lang="en-US"/>
          </a:p>
        </p:txBody>
      </p:sp>
      <p:sp>
        <p:nvSpPr>
          <p:cNvPr id="12" name="Text 10"/>
          <p:cNvSpPr txBox="1"/>
          <p:nvPr/>
        </p:nvSpPr>
        <p:spPr>
          <a:xfrm>
            <a:off x="841248" y="2560320"/>
            <a:ext cx="329184" cy="274320"/>
          </a:xfrm>
          <a:prstGeom prst="rect">
            <a:avLst/>
          </a:prstGeom>
          <a:noFill/>
          <a:ln/>
        </p:spPr>
        <p:txBody>
          <a:bodyPr wrap="square" lIns="0" tIns="0" rIns="0" bIns="0" rtlCol="0" anchor="ctr"/>
          <a:lstStyle/>
          <a:p>
            <a:pPr marL="0" indent="0" algn="ctr">
              <a:buNone/>
            </a:pPr>
            <a:r>
              <a:rPr lang="en-US" sz="1200" b="1" dirty="0">
                <a:solidFill>
                  <a:srgbClr val="13302A"/>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353312" y="2450592"/>
            <a:ext cx="10058400" cy="914400"/>
          </a:xfrm>
          <a:prstGeom prst="rect">
            <a:avLst/>
          </a:prstGeom>
          <a:noFill/>
          <a:ln/>
        </p:spPr>
        <p:txBody>
          <a:bodyPr wrap="square" lIns="0" tIns="0" rIns="0" bIns="0" rtlCol="0" anchor="ctr"/>
          <a:lstStyle/>
          <a:p>
            <a:pPr marL="0" indent="0">
              <a:buNone/>
            </a:pPr>
            <a:r>
              <a:rPr lang="en-US" sz="1250" dirty="0">
                <a:solidFill>
                  <a:srgbClr val="C6DCD2"/>
                </a:solidFill>
                <a:latin typeface="Calibri" pitchFamily="34" charset="0"/>
                <a:ea typeface="Calibri" pitchFamily="34" charset="-122"/>
                <a:cs typeface="Calibri" pitchFamily="34" charset="-120"/>
              </a:rPr>
              <a:t>Pre-training used fifty-three thousand hours of read audiobook speech. How much of what these representations know is a property of speech, and how much is a property of people reading books calmly into a microphone?</a:t>
            </a:r>
            <a:endParaRPr lang="en-US" sz="1250" dirty="0"/>
          </a:p>
        </p:txBody>
      </p:sp>
      <p:sp>
        <p:nvSpPr>
          <p:cNvPr id="14" name="Shape 12"/>
          <p:cNvSpPr/>
          <p:nvPr/>
        </p:nvSpPr>
        <p:spPr>
          <a:xfrm>
            <a:off x="841248" y="3465576"/>
            <a:ext cx="329184" cy="329184"/>
          </a:xfrm>
          <a:prstGeom prst="ellipse">
            <a:avLst/>
          </a:prstGeom>
          <a:solidFill>
            <a:srgbClr val="B7D24A"/>
          </a:solidFill>
          <a:ln w="12700">
            <a:solidFill>
              <a:srgbClr val="333333"/>
            </a:solidFill>
            <a:prstDash val="solid"/>
          </a:ln>
        </p:spPr>
        <p:txBody>
          <a:bodyPr/>
          <a:lstStyle/>
          <a:p>
            <a:endParaRPr lang="en-US"/>
          </a:p>
        </p:txBody>
      </p:sp>
      <p:sp>
        <p:nvSpPr>
          <p:cNvPr id="15" name="Text 13"/>
          <p:cNvSpPr txBox="1"/>
          <p:nvPr/>
        </p:nvSpPr>
        <p:spPr>
          <a:xfrm>
            <a:off x="841248" y="3493008"/>
            <a:ext cx="329184" cy="274320"/>
          </a:xfrm>
          <a:prstGeom prst="rect">
            <a:avLst/>
          </a:prstGeom>
          <a:noFill/>
          <a:ln/>
        </p:spPr>
        <p:txBody>
          <a:bodyPr wrap="square" lIns="0" tIns="0" rIns="0" bIns="0" rtlCol="0" anchor="ctr"/>
          <a:lstStyle/>
          <a:p>
            <a:pPr marL="0" indent="0" algn="ctr">
              <a:buNone/>
            </a:pPr>
            <a:r>
              <a:rPr lang="en-US" sz="1200" b="1" dirty="0">
                <a:solidFill>
                  <a:srgbClr val="13302A"/>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353312" y="3383280"/>
            <a:ext cx="10058400" cy="914400"/>
          </a:xfrm>
          <a:prstGeom prst="rect">
            <a:avLst/>
          </a:prstGeom>
          <a:noFill/>
          <a:ln/>
        </p:spPr>
        <p:txBody>
          <a:bodyPr wrap="square" lIns="0" tIns="0" rIns="0" bIns="0" rtlCol="0" anchor="ctr"/>
          <a:lstStyle/>
          <a:p>
            <a:pPr marL="0" indent="0">
              <a:buNone/>
            </a:pPr>
            <a:r>
              <a:rPr lang="en-US" sz="1250" dirty="0">
                <a:solidFill>
                  <a:srgbClr val="C6DCD2"/>
                </a:solidFill>
                <a:latin typeface="Calibri" pitchFamily="34" charset="0"/>
                <a:ea typeface="Calibri" pitchFamily="34" charset="-122"/>
                <a:cs typeface="Calibri" pitchFamily="34" charset="-120"/>
              </a:rPr>
              <a:t>Making the pretext task easier made the representations worse. Is there a principled way to know in advance which shortcuts to block, or is this necessarily empirical?</a:t>
            </a:r>
            <a:endParaRPr lang="en-US" sz="1250" dirty="0"/>
          </a:p>
        </p:txBody>
      </p:sp>
      <p:sp>
        <p:nvSpPr>
          <p:cNvPr id="17" name="Shape 15"/>
          <p:cNvSpPr/>
          <p:nvPr/>
        </p:nvSpPr>
        <p:spPr>
          <a:xfrm>
            <a:off x="841248" y="4398264"/>
            <a:ext cx="329184" cy="329184"/>
          </a:xfrm>
          <a:prstGeom prst="ellipse">
            <a:avLst/>
          </a:prstGeom>
          <a:solidFill>
            <a:srgbClr val="B7D24A"/>
          </a:solidFill>
          <a:ln w="12700">
            <a:solidFill>
              <a:srgbClr val="333333"/>
            </a:solidFill>
            <a:prstDash val="solid"/>
          </a:ln>
        </p:spPr>
        <p:txBody>
          <a:bodyPr/>
          <a:lstStyle/>
          <a:p>
            <a:endParaRPr lang="en-US"/>
          </a:p>
        </p:txBody>
      </p:sp>
      <p:sp>
        <p:nvSpPr>
          <p:cNvPr id="18" name="Text 16"/>
          <p:cNvSpPr txBox="1"/>
          <p:nvPr/>
        </p:nvSpPr>
        <p:spPr>
          <a:xfrm>
            <a:off x="841248" y="4425696"/>
            <a:ext cx="329184" cy="274320"/>
          </a:xfrm>
          <a:prstGeom prst="rect">
            <a:avLst/>
          </a:prstGeom>
          <a:noFill/>
          <a:ln/>
        </p:spPr>
        <p:txBody>
          <a:bodyPr wrap="square" lIns="0" tIns="0" rIns="0" bIns="0" rtlCol="0" anchor="ctr"/>
          <a:lstStyle/>
          <a:p>
            <a:pPr marL="0" indent="0" algn="ctr">
              <a:buNone/>
            </a:pPr>
            <a:r>
              <a:rPr lang="en-US" sz="1200" b="1" dirty="0">
                <a:solidFill>
                  <a:srgbClr val="13302A"/>
                </a:solidFill>
                <a:latin typeface="Cambria" pitchFamily="34" charset="0"/>
                <a:ea typeface="Cambria" pitchFamily="34" charset="-122"/>
                <a:cs typeface="Cambria" pitchFamily="34" charset="-120"/>
              </a:rPr>
              <a:t>4</a:t>
            </a:r>
            <a:endParaRPr lang="en-US" sz="1200" dirty="0"/>
          </a:p>
        </p:txBody>
      </p:sp>
      <p:sp>
        <p:nvSpPr>
          <p:cNvPr id="19" name="Text 17"/>
          <p:cNvSpPr txBox="1"/>
          <p:nvPr/>
        </p:nvSpPr>
        <p:spPr>
          <a:xfrm>
            <a:off x="1353312" y="4315968"/>
            <a:ext cx="10058400" cy="914400"/>
          </a:xfrm>
          <a:prstGeom prst="rect">
            <a:avLst/>
          </a:prstGeom>
          <a:noFill/>
          <a:ln/>
        </p:spPr>
        <p:txBody>
          <a:bodyPr wrap="square" lIns="0" tIns="0" rIns="0" bIns="0" rtlCol="0" anchor="ctr"/>
          <a:lstStyle/>
          <a:p>
            <a:pPr marL="0" indent="0">
              <a:buNone/>
            </a:pPr>
            <a:r>
              <a:rPr lang="en-US" sz="1250" dirty="0">
                <a:solidFill>
                  <a:srgbClr val="C6DCD2"/>
                </a:solidFill>
                <a:latin typeface="Calibri" pitchFamily="34" charset="0"/>
                <a:ea typeface="Calibri" pitchFamily="34" charset="-122"/>
                <a:cs typeface="Calibri" pitchFamily="34" charset="-120"/>
              </a:rPr>
              <a:t>The broader-impact section argues this work makes speech technology available for under-resourced languages — but reproducing it needs a hundred and twenty-eight datacentre GPUs. Is releasing checkpoints an adequate answer to that tension?</a:t>
            </a:r>
            <a:endParaRPr lang="en-US" sz="1250" dirty="0"/>
          </a:p>
        </p:txBody>
      </p:sp>
      <p:sp>
        <p:nvSpPr>
          <p:cNvPr id="20" name="Shape 18"/>
          <p:cNvSpPr/>
          <p:nvPr/>
        </p:nvSpPr>
        <p:spPr>
          <a:xfrm>
            <a:off x="841248" y="5330952"/>
            <a:ext cx="329184" cy="329184"/>
          </a:xfrm>
          <a:prstGeom prst="ellipse">
            <a:avLst/>
          </a:prstGeom>
          <a:solidFill>
            <a:srgbClr val="B7D24A"/>
          </a:solidFill>
          <a:ln w="12700">
            <a:solidFill>
              <a:srgbClr val="333333"/>
            </a:solidFill>
            <a:prstDash val="solid"/>
          </a:ln>
        </p:spPr>
        <p:txBody>
          <a:bodyPr/>
          <a:lstStyle/>
          <a:p>
            <a:endParaRPr lang="en-US"/>
          </a:p>
        </p:txBody>
      </p:sp>
      <p:sp>
        <p:nvSpPr>
          <p:cNvPr id="21" name="Text 19"/>
          <p:cNvSpPr txBox="1"/>
          <p:nvPr/>
        </p:nvSpPr>
        <p:spPr>
          <a:xfrm>
            <a:off x="841248" y="5358384"/>
            <a:ext cx="329184" cy="274320"/>
          </a:xfrm>
          <a:prstGeom prst="rect">
            <a:avLst/>
          </a:prstGeom>
          <a:noFill/>
          <a:ln/>
        </p:spPr>
        <p:txBody>
          <a:bodyPr wrap="square" lIns="0" tIns="0" rIns="0" bIns="0" rtlCol="0" anchor="ctr"/>
          <a:lstStyle/>
          <a:p>
            <a:pPr marL="0" indent="0" algn="ctr">
              <a:buNone/>
            </a:pPr>
            <a:r>
              <a:rPr lang="en-US" sz="1200" b="1" dirty="0">
                <a:solidFill>
                  <a:srgbClr val="13302A"/>
                </a:solidFill>
                <a:latin typeface="Cambria" pitchFamily="34" charset="0"/>
                <a:ea typeface="Cambria" pitchFamily="34" charset="-122"/>
                <a:cs typeface="Cambria" pitchFamily="34" charset="-120"/>
              </a:rPr>
              <a:t>5</a:t>
            </a:r>
            <a:endParaRPr lang="en-US" sz="1200" dirty="0"/>
          </a:p>
        </p:txBody>
      </p:sp>
      <p:sp>
        <p:nvSpPr>
          <p:cNvPr id="22" name="Text 20"/>
          <p:cNvSpPr txBox="1"/>
          <p:nvPr/>
        </p:nvSpPr>
        <p:spPr>
          <a:xfrm>
            <a:off x="1353312" y="5248656"/>
            <a:ext cx="10058400" cy="914400"/>
          </a:xfrm>
          <a:prstGeom prst="rect">
            <a:avLst/>
          </a:prstGeom>
          <a:noFill/>
          <a:ln/>
        </p:spPr>
        <p:txBody>
          <a:bodyPr wrap="square" lIns="0" tIns="0" rIns="0" bIns="0" rtlCol="0" anchor="ctr"/>
          <a:lstStyle/>
          <a:p>
            <a:pPr marL="0" indent="0">
              <a:buNone/>
            </a:pPr>
            <a:r>
              <a:rPr lang="en-US" sz="1250" dirty="0">
                <a:solidFill>
                  <a:srgbClr val="C6DCD2"/>
                </a:solidFill>
                <a:latin typeface="Calibri" pitchFamily="34" charset="0"/>
                <a:ea typeface="Calibri" pitchFamily="34" charset="-122"/>
                <a:cs typeface="Calibri" pitchFamily="34" charset="-120"/>
              </a:rPr>
              <a:t>Given that ASR fine-tuning damages emotional information, and that IEMOCAP and CREMA-D are small, noisy and without official splits: what would a genuinely convincing speech-emotion result look like in 2026?</a:t>
            </a:r>
            <a:endParaRPr lang="en-US" sz="1250" dirty="0"/>
          </a:p>
        </p:txBody>
      </p:sp>
      <p:sp>
        <p:nvSpPr>
          <p:cNvPr id="23" name="Text 21"/>
          <p:cNvSpPr txBox="1"/>
          <p:nvPr/>
        </p:nvSpPr>
        <p:spPr>
          <a:xfrm>
            <a:off x="822960" y="6236208"/>
            <a:ext cx="10607040" cy="274320"/>
          </a:xfrm>
          <a:prstGeom prst="rect">
            <a:avLst/>
          </a:prstGeom>
          <a:noFill/>
          <a:ln/>
        </p:spPr>
        <p:txBody>
          <a:bodyPr wrap="square" lIns="0" tIns="0" rIns="0" bIns="0" rtlCol="0" anchor="ctr"/>
          <a:lstStyle/>
          <a:p>
            <a:pPr marL="0" indent="0">
              <a:buNone/>
            </a:pPr>
            <a:r>
              <a:rPr lang="en-US" sz="950" dirty="0">
                <a:solidFill>
                  <a:srgbClr val="9FB8AC"/>
                </a:solidFill>
                <a:latin typeface="Calibri" pitchFamily="34" charset="0"/>
                <a:ea typeface="Calibri" pitchFamily="34" charset="-122"/>
                <a:cs typeface="Calibri" pitchFamily="34" charset="-120"/>
              </a:rPr>
              <a:t>Baevski, Zhou, Mohamed &amp; Auli (2020), NeurIPS 33, 12449–12460  ·  arXiv:2006.11477  ·  layer analysis: Pasad, Chou &amp; Livescu (ASRU 2021)  ·  emotion results: Pepino, Riera &amp; Ferrer (Interspeech 2021)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13859</Words>
  <Application>Microsoft Macintosh PowerPoint</Application>
  <PresentationFormat>Widescreen</PresentationFormat>
  <Paragraphs>768</Paragraphs>
  <Slides>48</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wav2vec 2.0 (Baevski et al., 2020)</dc:title>
  <dc:subject>PptxGenJS Presentation</dc:subject>
  <dc:creator>Seminar</dc:creator>
  <cp:lastModifiedBy>Gao, Ashley</cp:lastModifiedBy>
  <cp:revision>3</cp:revision>
  <cp:lastPrinted>2026-09-08T16:34:29Z</cp:lastPrinted>
  <dcterms:created xsi:type="dcterms:W3CDTF">2026-09-08T16:19:14Z</dcterms:created>
  <dcterms:modified xsi:type="dcterms:W3CDTF">2026-09-08T16:34:50Z</dcterms:modified>
</cp:coreProperties>
</file>