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C6675"/>
                </a:solidFill>
                <a:latin typeface="Calibri"/>
              </a:defRPr>
            </a:pPr>
            <a:r>
              <a:rPr sz="1200" b="0" i="0" u="none" strike="noStrike">
                <a:solidFill>
                  <a:srgbClr val="5C6675"/>
                </a:solidFill>
                <a:latin typeface="Calibri"/>
              </a:rPr>
              <a:t>IEMOCAP turns compared with spontaneous telephone corpora</a:t>
            </a:r>
          </a:p>
        </c:rich>
      </c:tx>
      <c:layout/>
      <c:overlay val="0"/>
    </c:title>
    <c:autoTitleDeleted val="0"/>
    <c:plotArea>
      <c:layout/>
      <c:barChart>
        <c:barDir val="col"/>
        <c:grouping val="clustered"/>
        <c:varyColors val="0"/>
        <c:ser>
          <c:idx val="0"/>
          <c:order val="0"/>
          <c:tx>
            <c:strRef>
              <c:f>Sheet1!$B$1</c:f>
              <c:strCache>
                <c:ptCount val="1"/>
                <c:pt idx="0">
                  <c:v>Turn duration (s)</c:v>
                </c:pt>
              </c:strCache>
            </c:strRef>
          </c:tx>
          <c:spPr>
            <a:solidFill>
              <a:srgbClr val="1B2A4A"/>
            </a:solidFill>
            <a:effectLst/>
          </c:spPr>
          <c:invertIfNegative val="0"/>
          <c:dLbls>
            <c:numFmt formatCode="0.0" sourceLinked="0"/>
            <c:txPr>
              <a:bodyPr/>
              <a:lstStyle/>
              <a:p>
                <a:pPr>
                  <a:defRPr b="0" i="0" strike="noStrike" sz="900" u="none">
                    <a:solidFill>
                      <a:srgbClr val="3C4655"/>
                    </a:solidFill>
                    <a:latin typeface="Arial"/>
                  </a:defRPr>
                </a:pPr>
              </a:p>
            </c:txPr>
            <c:showLegendKey val="0"/>
            <c:showVal val="1"/>
            <c:showCatName val="0"/>
            <c:showSerName val="0"/>
            <c:showPercent val="0"/>
            <c:showBubbleSize val="0"/>
            <c:showLeaderLines val="0"/>
          </c:dLbls>
          <c:cat>
            <c:multiLvlStrRef>
              <c:f>Sheet1!$A$2:$A$6</c:f>
              <c:multiLvlStrCache>
                <c:ptCount val="5"/>
                <c:lvl>
                  <c:pt idx="0">
                    <c:v>IEMOCAP all</c:v>
                  </c:pt>
                  <c:pt idx="1">
                    <c:v>Scripted</c:v>
                  </c:pt>
                  <c:pt idx="2">
                    <c:v>Spontaneous</c:v>
                  </c:pt>
                  <c:pt idx="3">
                    <c:v>Switchboard-I</c:v>
                  </c:pt>
                  <c:pt idx="4">
                    <c:v>Fisher</c:v>
                  </c:pt>
                </c:lvl>
              </c:multiLvlStrCache>
            </c:multiLvlStrRef>
          </c:cat>
          <c:val>
            <c:numRef>
              <c:f>Sheet1!$B$2:$B$6</c:f>
              <c:numCache>
                <c:formatCode>General</c:formatCode>
                <c:ptCount val="5"/>
                <c:pt idx="0">
                  <c:v>4.5</c:v>
                </c:pt>
                <c:pt idx="1">
                  <c:v>4.6</c:v>
                </c:pt>
                <c:pt idx="2">
                  <c:v>4.3</c:v>
                </c:pt>
                <c:pt idx="3">
                  <c:v>4.5</c:v>
                </c:pt>
                <c:pt idx="4">
                  <c:v>3.3</c:v>
                </c:pt>
              </c:numCache>
            </c:numRef>
          </c:val>
        </c:ser>
        <c:ser>
          <c:idx val="1"/>
          <c:order val="1"/>
          <c:tx>
            <c:strRef>
              <c:f>Sheet1!$C$1</c:f>
              <c:strCache>
                <c:ptCount val="1"/>
                <c:pt idx="0">
                  <c:v>Words per turn</c:v>
                </c:pt>
              </c:strCache>
            </c:strRef>
          </c:tx>
          <c:spPr>
            <a:solidFill>
              <a:srgbClr val="E4572E"/>
            </a:solidFill>
            <a:effectLst/>
          </c:spPr>
          <c:invertIfNegative val="0"/>
          <c:dLbls>
            <c:numFmt formatCode="0.0" sourceLinked="0"/>
            <c:txPr>
              <a:bodyPr/>
              <a:lstStyle/>
              <a:p>
                <a:pPr>
                  <a:defRPr b="0" i="0" strike="noStrike" sz="900" u="none">
                    <a:solidFill>
                      <a:srgbClr val="3C4655"/>
                    </a:solidFill>
                    <a:latin typeface="Arial"/>
                  </a:defRPr>
                </a:pPr>
              </a:p>
            </c:txPr>
            <c:showLegendKey val="0"/>
            <c:showVal val="1"/>
            <c:showCatName val="0"/>
            <c:showSerName val="0"/>
            <c:showPercent val="0"/>
            <c:showBubbleSize val="0"/>
            <c:showLeaderLines val="0"/>
          </c:dLbls>
          <c:cat>
            <c:multiLvlStrRef>
              <c:f>Sheet1!$A$2:$A$6</c:f>
              <c:multiLvlStrCache>
                <c:ptCount val="5"/>
                <c:lvl>
                  <c:pt idx="0">
                    <c:v>IEMOCAP all</c:v>
                  </c:pt>
                  <c:pt idx="1">
                    <c:v>Scripted</c:v>
                  </c:pt>
                  <c:pt idx="2">
                    <c:v>Spontaneous</c:v>
                  </c:pt>
                  <c:pt idx="3">
                    <c:v>Switchboard-I</c:v>
                  </c:pt>
                  <c:pt idx="4">
                    <c:v>Fisher</c:v>
                  </c:pt>
                </c:lvl>
              </c:multiLvlStrCache>
            </c:multiLvlStrRef>
          </c:cat>
          <c:val>
            <c:numRef>
              <c:f>Sheet1!$C$2:$C$6</c:f>
              <c:numCache>
                <c:formatCode>General</c:formatCode>
                <c:ptCount val="5"/>
                <c:pt idx="0">
                  <c:v>11.4</c:v>
                </c:pt>
                <c:pt idx="1">
                  <c:v>11.4</c:v>
                </c:pt>
                <c:pt idx="2">
                  <c:v>11.3</c:v>
                </c:pt>
                <c:pt idx="3">
                  <c:v>12.3</c:v>
                </c:pt>
                <c:pt idx="4">
                  <c:v>9.9</c:v>
                </c:pt>
              </c:numCache>
            </c:numRef>
          </c:val>
        </c:ser>
        <c:dLbls>
          <c:numFmt formatCode="0.0" sourceLinked="0"/>
          <c:txPr>
            <a:bodyPr/>
            <a:lstStyle/>
            <a:p>
              <a:pPr>
                <a:defRPr b="0" i="0" strike="noStrike" sz="900" u="none">
                  <a:solidFill>
                    <a:srgbClr val="3C46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67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B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67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C6675"/>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C6675"/>
                </a:solidFill>
                <a:latin typeface="Calibri"/>
              </a:defRPr>
            </a:pPr>
            <a:r>
              <a:rPr sz="1200" b="0" i="0" u="none" strike="noStrike">
                <a:solidFill>
                  <a:srgbClr val="5C6675"/>
                </a:solidFill>
                <a:latin typeface="Calibri"/>
              </a:rPr>
              <a:t>Percentage of agreed turns by emotion category</a:t>
            </a:r>
          </a:p>
        </c:rich>
      </c:tx>
      <c:layout/>
      <c:overlay val="0"/>
    </c:title>
    <c:autoTitleDeleted val="0"/>
    <c:plotArea>
      <c:layout/>
      <c:barChart>
        <c:barDir val="col"/>
        <c:grouping val="clustered"/>
        <c:varyColors val="0"/>
        <c:ser>
          <c:idx val="0"/>
          <c:order val="0"/>
          <c:tx>
            <c:strRef>
              <c:f>Sheet1!$B$1</c:f>
              <c:strCache>
                <c:ptCount val="1"/>
                <c:pt idx="0">
                  <c:v>Scripted</c:v>
                </c:pt>
              </c:strCache>
            </c:strRef>
          </c:tx>
          <c:spPr>
            <a:solidFill>
              <a:srgbClr val="1B2A4A"/>
            </a:solidFill>
            <a:effectLst/>
          </c:spPr>
          <c:invertIfNegative val="0"/>
          <c:dLbls>
            <c:numFmt formatCode="0.#" sourceLinked="0"/>
            <c:txPr>
              <a:bodyPr/>
              <a:lstStyle/>
              <a:p>
                <a:pPr>
                  <a:defRPr b="0" i="0" strike="noStrike" sz="850" u="none">
                    <a:solidFill>
                      <a:srgbClr val="3C4655"/>
                    </a:solidFill>
                    <a:latin typeface="Arial"/>
                  </a:defRPr>
                </a:pPr>
              </a:p>
            </c:txPr>
            <c:showLegendKey val="0"/>
            <c:showVal val="1"/>
            <c:showCatName val="0"/>
            <c:showSerName val="0"/>
            <c:showPercent val="0"/>
            <c:showBubbleSize val="0"/>
            <c:showLeaderLines val="0"/>
          </c:dLbls>
          <c:cat>
            <c:multiLvlStrRef>
              <c:f>Sheet1!$A$2:$A$10</c:f>
              <c:multiLvlStrCache>
                <c:ptCount val="9"/>
                <c:lvl>
                  <c:pt idx="0">
                    <c:v>Neutral</c:v>
                  </c:pt>
                  <c:pt idx="1">
                    <c:v>Frustration</c:v>
                  </c:pt>
                  <c:pt idx="2">
                    <c:v>Excitement</c:v>
                  </c:pt>
                  <c:pt idx="3">
                    <c:v>Sadness</c:v>
                  </c:pt>
                  <c:pt idx="4">
                    <c:v>Happiness</c:v>
                  </c:pt>
                  <c:pt idx="5">
                    <c:v>Anger</c:v>
                  </c:pt>
                  <c:pt idx="6">
                    <c:v>Surprise</c:v>
                  </c:pt>
                  <c:pt idx="7">
                    <c:v>Fear</c:v>
                  </c:pt>
                  <c:pt idx="8">
                    <c:v>Disgust</c:v>
                  </c:pt>
                </c:lvl>
              </c:multiLvlStrCache>
            </c:multiLvlStrRef>
          </c:cat>
          <c:val>
            <c:numRef>
              <c:f>Sheet1!$B$2:$B$10</c:f>
              <c:numCache>
                <c:formatCode>General</c:formatCode>
                <c:ptCount val="9"/>
                <c:pt idx="0">
                  <c:v>28</c:v>
                </c:pt>
                <c:pt idx="1">
                  <c:v>24</c:v>
                </c:pt>
                <c:pt idx="2">
                  <c:v>17</c:v>
                </c:pt>
                <c:pt idx="3">
                  <c:v>15</c:v>
                </c:pt>
                <c:pt idx="4">
                  <c:v>7</c:v>
                </c:pt>
                <c:pt idx="5">
                  <c:v>7</c:v>
                </c:pt>
                <c:pt idx="6">
                  <c:v>2</c:v>
                </c:pt>
                <c:pt idx="7">
                  <c:v>0.5</c:v>
                </c:pt>
                <c:pt idx="8">
                  <c:v>0.5</c:v>
                </c:pt>
              </c:numCache>
            </c:numRef>
          </c:val>
        </c:ser>
        <c:ser>
          <c:idx val="1"/>
          <c:order val="1"/>
          <c:tx>
            <c:strRef>
              <c:f>Sheet1!$C$1</c:f>
              <c:strCache>
                <c:ptCount val="1"/>
                <c:pt idx="0">
                  <c:v>Spontaneous</c:v>
                </c:pt>
              </c:strCache>
            </c:strRef>
          </c:tx>
          <c:spPr>
            <a:solidFill>
              <a:srgbClr val="E4572E"/>
            </a:solidFill>
            <a:effectLst/>
          </c:spPr>
          <c:invertIfNegative val="0"/>
          <c:dLbls>
            <c:numFmt formatCode="0.#" sourceLinked="0"/>
            <c:txPr>
              <a:bodyPr/>
              <a:lstStyle/>
              <a:p>
                <a:pPr>
                  <a:defRPr b="0" i="0" strike="noStrike" sz="850" u="none">
                    <a:solidFill>
                      <a:srgbClr val="3C4655"/>
                    </a:solidFill>
                    <a:latin typeface="Arial"/>
                  </a:defRPr>
                </a:pPr>
              </a:p>
            </c:txPr>
            <c:showLegendKey val="0"/>
            <c:showVal val="1"/>
            <c:showCatName val="0"/>
            <c:showSerName val="0"/>
            <c:showPercent val="0"/>
            <c:showBubbleSize val="0"/>
            <c:showLeaderLines val="0"/>
          </c:dLbls>
          <c:cat>
            <c:multiLvlStrRef>
              <c:f>Sheet1!$A$2:$A$10</c:f>
              <c:multiLvlStrCache>
                <c:ptCount val="9"/>
                <c:lvl>
                  <c:pt idx="0">
                    <c:v>Neutral</c:v>
                  </c:pt>
                  <c:pt idx="1">
                    <c:v>Frustration</c:v>
                  </c:pt>
                  <c:pt idx="2">
                    <c:v>Excitement</c:v>
                  </c:pt>
                  <c:pt idx="3">
                    <c:v>Sadness</c:v>
                  </c:pt>
                  <c:pt idx="4">
                    <c:v>Happiness</c:v>
                  </c:pt>
                  <c:pt idx="5">
                    <c:v>Anger</c:v>
                  </c:pt>
                  <c:pt idx="6">
                    <c:v>Surprise</c:v>
                  </c:pt>
                  <c:pt idx="7">
                    <c:v>Fear</c:v>
                  </c:pt>
                  <c:pt idx="8">
                    <c:v>Disgust</c:v>
                  </c:pt>
                </c:lvl>
              </c:multiLvlStrCache>
            </c:multiLvlStrRef>
          </c:cat>
          <c:val>
            <c:numRef>
              <c:f>Sheet1!$C$2:$C$10</c:f>
              <c:numCache>
                <c:formatCode>General</c:formatCode>
                <c:ptCount val="9"/>
                <c:pt idx="0">
                  <c:v>17</c:v>
                </c:pt>
                <c:pt idx="1">
                  <c:v>25</c:v>
                </c:pt>
                <c:pt idx="2">
                  <c:v>11</c:v>
                </c:pt>
                <c:pt idx="3">
                  <c:v>14</c:v>
                </c:pt>
                <c:pt idx="4">
                  <c:v>9</c:v>
                </c:pt>
                <c:pt idx="5">
                  <c:v>23</c:v>
                </c:pt>
                <c:pt idx="6">
                  <c:v>1</c:v>
                </c:pt>
                <c:pt idx="7">
                  <c:v>0.5</c:v>
                </c:pt>
                <c:pt idx="8">
                  <c:v>0.5</c:v>
                </c:pt>
              </c:numCache>
            </c:numRef>
          </c:val>
        </c:ser>
        <c:dLbls>
          <c:numFmt formatCode="0.#" sourceLinked="0"/>
          <c:txPr>
            <a:bodyPr/>
            <a:lstStyle/>
            <a:p>
              <a:pPr>
                <a:defRPr b="0" i="0" strike="noStrike" sz="850" u="none">
                  <a:solidFill>
                    <a:srgbClr val="3C46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950" b="0" i="0" u="none" strike="noStrike">
                <a:solidFill>
                  <a:srgbClr val="5C667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B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67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C6675"/>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C6675"/>
                </a:solidFill>
                <a:latin typeface="Calibri"/>
              </a:defRPr>
            </a:pPr>
            <a:r>
              <a:rPr sz="1200" b="0" i="0" u="none" strike="noStrike">
                <a:solidFill>
                  <a:srgbClr val="5C6675"/>
                </a:solidFill>
                <a:latin typeface="Calibri"/>
              </a:rPr>
              <a:t>Fleiss' kappa with the original nine-category label set</a:t>
            </a:r>
          </a:p>
        </c:rich>
      </c:tx>
      <c:layout/>
      <c:overlay val="0"/>
    </c:title>
    <c:autoTitleDeleted val="0"/>
    <c:plotArea>
      <c:layout/>
      <c:barChart>
        <c:barDir val="col"/>
        <c:grouping val="clustered"/>
        <c:varyColors val="0"/>
        <c:ser>
          <c:idx val="0"/>
          <c:order val="0"/>
          <c:tx>
            <c:strRef>
              <c:f>Sheet1!$B$1</c:f>
              <c:strCache>
                <c:ptCount val="1"/>
                <c:pt idx="0">
                  <c:v>All turns</c:v>
                </c:pt>
              </c:strCache>
            </c:strRef>
          </c:tx>
          <c:spPr>
            <a:solidFill>
              <a:srgbClr val="1B2A4A"/>
            </a:solidFill>
            <a:effectLst/>
          </c:spPr>
          <c:invertIfNegative val="0"/>
          <c:dLbls>
            <c:numFmt formatCode="0.00" sourceLinked="0"/>
            <c:txPr>
              <a:bodyPr/>
              <a:lstStyle/>
              <a:p>
                <a:pPr>
                  <a:defRPr b="0" i="0" strike="noStrike" sz="1000" u="none">
                    <a:solidFill>
                      <a:srgbClr val="3C4655"/>
                    </a:solidFill>
                    <a:latin typeface="Arial"/>
                  </a:defRPr>
                </a:pPr>
              </a:p>
            </c:txPr>
            <c:showLegendKey val="0"/>
            <c:showVal val="1"/>
            <c:showCatName val="0"/>
            <c:showSerName val="0"/>
            <c:showPercent val="0"/>
            <c:showBubbleSize val="0"/>
            <c:showLeaderLines val="0"/>
          </c:dLbls>
          <c:cat>
            <c:multiLvlStrRef>
              <c:f>Sheet1!$A$2:$A$4</c:f>
              <c:multiLvlStrCache>
                <c:ptCount val="3"/>
                <c:lvl>
                  <c:pt idx="0">
                    <c:v>Entire database</c:v>
                  </c:pt>
                  <c:pt idx="1">
                    <c:v>Scripted</c:v>
                  </c:pt>
                  <c:pt idx="2">
                    <c:v>Spontaneous</c:v>
                  </c:pt>
                </c:lvl>
              </c:multiLvlStrCache>
            </c:multiLvlStrRef>
          </c:cat>
          <c:val>
            <c:numRef>
              <c:f>Sheet1!$B$2:$B$4</c:f>
              <c:numCache>
                <c:formatCode>General</c:formatCode>
                <c:ptCount val="3"/>
                <c:pt idx="0">
                  <c:v>0.27</c:v>
                </c:pt>
                <c:pt idx="1">
                  <c:v>0.2</c:v>
                </c:pt>
                <c:pt idx="2">
                  <c:v>0.34</c:v>
                </c:pt>
              </c:numCache>
            </c:numRef>
          </c:val>
        </c:ser>
        <c:ser>
          <c:idx val="1"/>
          <c:order val="1"/>
          <c:tx>
            <c:strRef>
              <c:f>Sheet1!$C$1</c:f>
              <c:strCache>
                <c:ptCount val="1"/>
                <c:pt idx="0">
                  <c:v>Turns reaching agreement</c:v>
                </c:pt>
              </c:strCache>
            </c:strRef>
          </c:tx>
          <c:spPr>
            <a:solidFill>
              <a:srgbClr val="E4572E"/>
            </a:solidFill>
            <a:effectLst/>
          </c:spPr>
          <c:invertIfNegative val="0"/>
          <c:dLbls>
            <c:numFmt formatCode="0.00" sourceLinked="0"/>
            <c:txPr>
              <a:bodyPr/>
              <a:lstStyle/>
              <a:p>
                <a:pPr>
                  <a:defRPr b="0" i="0" strike="noStrike" sz="1000" u="none">
                    <a:solidFill>
                      <a:srgbClr val="3C4655"/>
                    </a:solidFill>
                    <a:latin typeface="Arial"/>
                  </a:defRPr>
                </a:pPr>
              </a:p>
            </c:txPr>
            <c:showLegendKey val="0"/>
            <c:showVal val="1"/>
            <c:showCatName val="0"/>
            <c:showSerName val="0"/>
            <c:showPercent val="0"/>
            <c:showBubbleSize val="0"/>
            <c:showLeaderLines val="0"/>
          </c:dLbls>
          <c:cat>
            <c:multiLvlStrRef>
              <c:f>Sheet1!$A$2:$A$4</c:f>
              <c:multiLvlStrCache>
                <c:ptCount val="3"/>
                <c:lvl>
                  <c:pt idx="0">
                    <c:v>Entire database</c:v>
                  </c:pt>
                  <c:pt idx="1">
                    <c:v>Scripted</c:v>
                  </c:pt>
                  <c:pt idx="2">
                    <c:v>Spontaneous</c:v>
                  </c:pt>
                </c:lvl>
              </c:multiLvlStrCache>
            </c:multiLvlStrRef>
          </c:cat>
          <c:val>
            <c:numRef>
              <c:f>Sheet1!$C$2:$C$4</c:f>
              <c:numCache>
                <c:formatCode>General</c:formatCode>
                <c:ptCount val="3"/>
                <c:pt idx="0">
                  <c:v>0.4</c:v>
                </c:pt>
                <c:pt idx="1">
                  <c:v>0.36</c:v>
                </c:pt>
                <c:pt idx="2">
                  <c:v>0.43</c:v>
                </c:pt>
              </c:numCache>
            </c:numRef>
          </c:val>
        </c:ser>
        <c:dLbls>
          <c:numFmt formatCode="0.00" sourceLinked="0"/>
          <c:txPr>
            <a:bodyPr/>
            <a:lstStyle/>
            <a:p>
              <a:pPr>
                <a:defRPr b="0" i="0" strike="noStrike" sz="1000" u="none">
                  <a:solidFill>
                    <a:srgbClr val="3C46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C667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B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67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C6675"/>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5C6675"/>
                </a:solidFill>
                <a:latin typeface="Calibri"/>
              </a:defRPr>
            </a:pPr>
            <a:r>
              <a:rPr sz="1150" b="0" i="0" u="none" strike="noStrike">
                <a:solidFill>
                  <a:srgbClr val="5C6675"/>
                </a:solidFill>
                <a:latin typeface="Calibri"/>
              </a:rPr>
              <a:t>Inter-rater reliability of the dimensional annotation</a:t>
            </a:r>
          </a:p>
        </c:rich>
      </c:tx>
      <c:layout/>
      <c:overlay val="0"/>
    </c:title>
    <c:autoTitleDeleted val="0"/>
    <c:plotArea>
      <c:layout/>
      <c:barChart>
        <c:barDir val="bar"/>
        <c:grouping val="clustered"/>
        <c:varyColors val="0"/>
        <c:ser>
          <c:idx val="0"/>
          <c:order val="0"/>
          <c:tx>
            <c:strRef>
              <c:f>Sheet1!$B$1</c:f>
              <c:strCache>
                <c:ptCount val="1"/>
                <c:pt idx="0">
                  <c:v>Cronbach's alpha</c:v>
                </c:pt>
              </c:strCache>
            </c:strRef>
          </c:tx>
          <c:spPr>
            <a:solidFill>
              <a:srgbClr val="E4572E"/>
            </a:solidFill>
            <a:effectLst/>
          </c:spPr>
          <c:invertIfNegative val="0"/>
          <c:dLbls>
            <c:numFmt formatCode="0.000" sourceLinked="0"/>
            <c:txPr>
              <a:bodyPr/>
              <a:lstStyle/>
              <a:p>
                <a:pPr>
                  <a:defRPr b="0" i="0" strike="noStrike" sz="1000" u="none">
                    <a:solidFill>
                      <a:srgbClr val="3C4655"/>
                    </a:solidFill>
                    <a:latin typeface="Arial"/>
                  </a:defRPr>
                </a:pPr>
              </a:p>
            </c:txPr>
            <c:showLegendKey val="0"/>
            <c:showVal val="1"/>
            <c:showCatName val="0"/>
            <c:showSerName val="0"/>
            <c:showPercent val="0"/>
            <c:showBubbleSize val="0"/>
            <c:showLeaderLines val="0"/>
          </c:dLbls>
          <c:cat>
            <c:multiLvlStrRef>
              <c:f>Sheet1!$A$2:$A$4</c:f>
              <c:multiLvlStrCache>
                <c:ptCount val="3"/>
                <c:lvl>
                  <c:pt idx="0">
                    <c:v>Valence</c:v>
                  </c:pt>
                  <c:pt idx="1">
                    <c:v>Activation</c:v>
                  </c:pt>
                  <c:pt idx="2">
                    <c:v>Dominance</c:v>
                  </c:pt>
                </c:lvl>
              </c:multiLvlStrCache>
            </c:multiLvlStrRef>
          </c:cat>
          <c:val>
            <c:numRef>
              <c:f>Sheet1!$B$2:$B$4</c:f>
              <c:numCache>
                <c:formatCode>General</c:formatCode>
                <c:ptCount val="3"/>
                <c:pt idx="0">
                  <c:v>0.809</c:v>
                </c:pt>
                <c:pt idx="1">
                  <c:v>0.607</c:v>
                </c:pt>
                <c:pt idx="2">
                  <c:v>0.608</c:v>
                </c:pt>
              </c:numCache>
            </c:numRef>
          </c:val>
        </c:ser>
        <c:dLbls>
          <c:numFmt formatCode="0.000" sourceLinked="0"/>
          <c:txPr>
            <a:bodyPr/>
            <a:lstStyle/>
            <a:p>
              <a:pPr>
                <a:defRPr b="0" i="0" strike="noStrike" sz="1000" u="none">
                  <a:solidFill>
                    <a:srgbClr val="3C46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C6675"/>
                </a:solidFill>
                <a:latin typeface="Arial"/>
              </a:defRPr>
            </a:pPr>
            <a:endParaRPr lang="en-US"/>
          </a:p>
        </c:txPr>
        <c:crossAx val="2094734552"/>
        <c:crosses val="autoZero"/>
        <c:auto val="1"/>
        <c:lblAlgn val="ctr"/>
        <c:noMultiLvlLbl val="1"/>
      </c:catAx>
      <c:valAx>
        <c:axId val="2094734552"/>
        <c:scaling>
          <c:orientation val="minMax"/>
          <c:max val="1"/>
        </c:scaling>
        <c:delete val="0"/>
        <c:axPos val="b"/>
        <c:majorGridlines>
          <c:spPr>
            <a:ln w="12700" cap="flat">
              <a:solidFill>
                <a:srgbClr val="E6EB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C667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[0:00–0:45] Opening.
Frame the pair of talks: today we look at two corpora that between them define how the speech-emotion field gets its data. IEMOCAP (2008) chose depth — few speakers, rich multimodal signal, real dialogue. CREMA-D (2014) chose breadth — many speakers, tight control, massive perceptual validation. Neither is 'better'; they sit at opposite ends of the same design tradeoff, and knowing where a corpus sits on that axis tells you what its numbers mean.
Note for the audience: IEMOCAP took roughly 20 months from design to finished post-processing. That is the real cost of a corpus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[0:45–1:30] Roadmap.
Flag the shape of the talk: the first half is about *design decisions* — the paper is essentially an extended argument about how to elicit emotion. The second half is about *measurement* — how they labelled it and how much we should trust those labels.
Tell the audience the reliability section (item 4) is the one that matters most for anyone who plans to report numbers on this corpus. Keep the pace: roughly 90 seconds per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[1:30–3:00] Set the stakes.
Point out that this is a *resource* paper, which we evaluate differently from a method paper: the questions are 'is the design defensible', 'is the annotation trustworthy', and 'has it enabled work that could not otherwise happen'.
The citation count is approximate and grows — check the current figure before you present. The honest framing: IEMOCAP's dominance is partly quality and partly path dependence. It was free, it was early, and it was big enough to train on. That combination is why it became the benchmark, and why its idiosyncrasies got baked into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[3:00–3:15] Section marker. Keep it brief — one sentence: 'To understand the design, you have to understand what they were reacting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[3:15–5:00] The four-axis framework.
This framework is borrowed from Douglas-Cowie's survey and it is worth adopting for your own reading — it gives you a checklist for any corpus paper.
Key empirical claim to emphasise: models trained on exaggerated acted data degrade sharply on real speech. That is the failure the whole design is trying to avoid. Also note the second criticism, which is less often quoted: isolated utterances strip out context, and context changes both how emotion is expressed and how it is perceived.
Ask the room: which of the four axes do you think is hardest to satisfy? (Answer they usually converge on: naturalness, because it trades directly against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[5:00–6:30] Survey of alternatives.
Walk the table quickly — do not read every cell. The point of the slide is the shape: every row has a red column.
Worth naming the corpora if the audience wants specifics: Belfast Natural and VAM (television), SAFE (film excerpts), CEMO (medical call centre), SmartKom (Wizard of Oz), GEMEP (high-quality acted portrayals), and the authors' own earlier FMCD, which had motion capture but only one actress reading isolated sentences.
The bottom card is the thesis of the whole paper. Land it clearly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[6:30–8:00] The requirements list.
Requirement 6 deserves emphasis and is easy to skate past. In most acted corpora the label is whatever the actor was told to perform. The authors reject that outright: there is no guarantee the performance realises the target, and any display can be perceived differently by different people. So every label in IEMOCAP comes from naive human raters watching the video.
The bottom card is the hinge of the talk. The scripted/spontaneous split is not a compromise they apologise for — it is a built-in experiment, and it produces the paper's most interesting finding. Foreshadow that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[8:00–8:10] 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[8:10–10:00] The central design move.
This is the sentence to remember: emotion is elicited *by another person*, not requested by a director. The actor is reacting rather than performing to camera.
Mention the compromise visible in the diagram: only one of the two is motion-captured at a time. The pair then swap and re-record. We come back to why on a later slide.
Three metres sounds far, but Hall's proxemics puts that inside social distance, so the authors argue it does not disturb the interaction. This is the kind of detail a corpus paper has to defend and a method paper never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[10:00–11:45] The two halves.
Stress that these are not a pilot and a main study — they are two conditions, and the paper compares them throughout.
The frustration decision is worth a comment: it is not one of Ekman's basic emotions, it was included for application reasons, and it turns out to be the single most confusable category in the whole corpus. Anger, neutral and disgust all bleed into it. Foreshadow the confusion matrix.
Also note the sequencing: five target emotions at design time, nine categories at annotation time. The authors let the data tell them the label set was too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[11:45–13:00] The scenarios.
Do not read all eight. Pick two and contrast them: the engagement scenario, where both partners are happy and the interaction escalates naturally, and the lost-baggage scenario, where one partner is furious and the other is a calm employee.
The asymmetry point at the bottom is the one worth making. Because the targets differ, you get affect regulation in the data — one person trying to calm another. That is very hard to obtain any other way, and it is why the corpus supports dyadic-interaction research.
Also: these situations were not invented by the authors. They come from survey work asking people to recall genuinely emotional episodes.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[13:00–14:30] Participants.
The director is a genuinely important methodological element, not a production detail. The explicit instruction was to avoid caricature — the failure mode the whole field was criticising.
The candour here is a mark in the paper's favour. They do not claim naturalness; they claim 'closer to natural than the alternatives' and say why.
Prompt for discussion later: ten actors, all English-speaking, all drawn from one university drama department in Los Angeles. Anything a model learns about 'what anger sounds like' is learned from ten people. Hold that thought until CREMA-D.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[14:30–14:40] 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[14:40–16:10] The rig.
Do not linger on hardware brand names. The two things that matter conceptually:
1. Motion capture gives facial detail that video processing could not reach in 2008 — particularly in the cheeks, where there are no salient feature points to track. That is the specific technical argument for using markers at all.
2. Three markers per hand means you get gross hand movement, not finger articulation. The authors say so. If someone asks about gesture research on IEMOCAP, this is the ceiling.
The clapboard is a nice, low-tech touch worth mentioning — it is visible to both camera systems, which is what makes cross-modal alignment possible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[16:10–17:30] A design constraint worth dwelling on.
This slide is here because it explains a lot of downstream confusion. People say 'IEMOCAP is a multimodal corpus with twelve hours of data', which is true, but the motion capture covers one speaker per take.
Also flag the repetition: because the session is recorded twice with the markers swapped, the same play is performed more than once by the same pair. That has implications for anyone doing utterance-level splits — you can leak near-duplicate content between train and test.
Marker loss is worth a sentence: eyelid and hand markers were most often lost, eyelids because they are occluded when the eyes are open, hands through self-occlusion. Gaps under 30 frames were filled by cubic interpolation.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[17:30–19:00] Data statistics.
The Switchboard and Fisher comparison is the authors' evidence for naturalness — an indirect argument, but a reasonable one: if your acted dialogue has the same turn length distribution as real telephone conversation, it is at least not obviously stilted.
The bottom warning is a practical one for anyone benchmarking. Very short turns carry almost no acoustic evidence, and they skew toward the neutral class.
One simplifying assumption to name: they assume emotion is constant within a turn. They justify it by the 4.5-second average. It is a real assumption and it rules out modelling emotional transitions inside a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[19:00–19:10] 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[19:10–20:40] Annotation protocol.
Three points to make.
First, the label set grew from five to nine because the improvised material produced emotions the designers had not targeted — excitement above all. There is a genuine tension the authors articulate: too many categories and agreement collapses; too few and the description is impoverished.
Second, multi-label annotation is allowed but the released label is a single majority vote. Roughly a quarter of the corpus has no agreed label at all, and most published work simply discards those turns. That is a silent filtering step in every IEMOCAP result you read.
Third, and this is the headline: spontaneous turns are far easier to agree on than scripted ones. That is the opposite of what many people expect. Set up the next slide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[20:40–22:10] Class distribution.
Two things to draw out.
The absence of fear and disgust is a hard limit on the corpus, not a minor imbalance. Under one percent each. Any paper reporting six-way classification on IEMOCAP is doing something questionable.
The scripted/spontaneous asymmetry in anger and excitement shows how strongly the elicitation material determines the contents. Which is exactly the point of a designed corpus — but it also means the emotion distribution reflects the eight scenarios, not the world.
If asked about the fractional values: categories under one percent are reported as '&lt;1%' in the paper; the chart shows them as a nominal 0.5 so the bars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[22:10–24:10] Reliability — the most important slide in the deck.
Say the uncomfortable thing plainly: kappa of 0.27 over the whole corpus is fair agreement at best. These are noisy labels, and every model trained on IEMOCAP inherits that noise. A reported accuracy of, say, 70% has to be read against a ceiling set by human disagreement.
Then make the constructive point. The gap between scripted and spontaneous is a real empirical result about elicitation method, and it runs against the intuition that scripts give you cleaner data. Scripts give you controlled *text*; they give you messier *emotion*.
Finally, note what the class-merging experiment reveals. Kappa rises when you merge happiness with excitement — because raters could not reliably tell them apart in the first place. That is the empirical origin of the merge convention we will see in a few slides.
Pause here for questions if the room is engaged; this is the natural place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[24:10–25:40] Dimensional annotation.
Explain briefly why the field cares about both schemes. Categories are interpretable and map onto applications; dimensions are continuous, avoid arguing about which words count as emotions, and capture intensity. Most modern work on IEMOCAP uses the categorical labels, but the valence–arousal annotations are why the corpus also appears in dimensional-prediction papers.
The valence-versus-arousal reliability gap is a robust finding across corpora, not an IEMOCAP quirk. Worth flagging as such.
Note the honesty of '85.5% evaluated' — this is a paper describing an ongoing annotation effort, and it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[25:40–27:00] Expression versus perception.
This is my favourite result in the paper and it is easy to skip. It is a direct empirical argument against the standard practice of labelling acted corpora with the intended emotion. The person who produced the display is not a reliable judge of what the display communicates.
Two readings, and it is worth putting both to the room:
(a) Perception is what matters — a display that nobody reads as sad is not, communicatively, sad. This favours the naive raters.
(b) The actor knows their own intent, and the raters are simply wrong about the internal state.
The paper takes position (a). Ask whether the audience agrees — it is the question that separates IEMOCAP's labelling philosophy from most acted corpora, and it will come back with CREMA-D, which ships both the intended and the perceived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[27:00–28:20] Confusion structure.
The full nine-by-nine matrix is in Table IV of the paper; I have pulled out the four patterns that matter. Offer to show the full table if anyone wants it.
The big idea: the confusions are not random noise, they are structured, and the structure is interpretable in valence–arousal terms. Happiness and excitement share valence and differ in arousal. Anger and frustration share valence and differ in intensity and control.
The bottom card is the bridge to the final section. Emphasise that the standard four-class IEMOCAP benchmark is a community convention built on top of this table — it is not something the authors specified, which is precisely why implementations of it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[28:20–28:30] 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[28:30–29:50] Appraisal, positive side.
Use the framework we introduced at the start to close the loop — this is why we set it up.
The naturalness row is where to be sceptical. The authors argue their setting produces genuine emotion; they do not demonstrate it. They propose a subjective naturalness study as future work. As far as I know that study was never published for this corpus, so the naturalness claim rests on the indirect evidence we saw — turn statistics resembling spontaneous telephone speech.
Invite disagreement here: is indirect evidence enough for a claim the entire design rests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[29:50–31:20] Limitations.
Order matters here. The first three are the authors' own admissions and should be presented as such — the paper is unusually honest.
The last three are consequences that only became clear once the corpus was widely used, and they are the ones that damage published results.
The missing-splits problem is the most serious and the least discussed. Because there is no official partition, some papers do speaker-independent evaluation, some do session-independent, and some shuffle utterances at random — which leaks the same actor, the same play and sometimes the same dialogue across train and test. Numbers from those three protocols differ by many points and get compared as if they were the same.
If someone asks what to do: leave-one-session-out with the five sessions is the closest thing to a community standard, and it is the one you should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[31:20–31:30] Section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[31:30–33:00] The practical payoff of the whole talk.
This is the slide the audience will actually use. Make it concrete.
The four-class subset with excitement merged is roughly 5,500 utterances — from twelve hours of recorded material and 10,039 turns. So the benchmark everybody reports on is about half the labelled corpus and a small fraction of what was recorded.
Say plainly: this is not the authors' fault. They released a rich, well-documented resource. The convention grew because the corpus was popular and nothing prescribed a protocol. It is a good argument for corpus papers shipping official splits — something CREMA-D does not do either, and later corpora such as MSP-Podcast do.
If time is short, this slide and the kappa slide are the two to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[33:00–34:30] Bridge to the second talk.
Make the handoff explicit so the two presentations read as one seminar.
The 'left open' column is the setup. Emphasise the third item, because it is subtle: in IEMOCAP every rater saw and heard the clip together, so the corpus cannot tell you how much of the emotion was in the voice and how much in the face. CREMA-D's central experimental design exists to answer exactly that question.
And name the price up front: CREMA-D gives up dialogue, context and spontaneity — the three things IEMOCAP's whole design was built around. Neither corpus is a strict improvement on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[34:30–40:00] Discussion.
Five prompts, more than you need — pick two or three depending on where the energy is.
Question 1 usually generates the best conversation and connects directly to CREMA-D, which ships both intended and perceived labels. If discussion is slow, start there.
Question 5 is deliberately provocative. A defensible answer: some progress is certainly real — the jump from hand-crafted acoustic features to self-supervised representations is too large to be protocol artefact — but the last few points of any given leaderboard are not interpretable without matched splits.
Close by handing over to the CREMA-D talk with one sentence: 'the next paper takes the opposite position on almost every design decision we have just discussed.'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868680" y="1051560"/>
            <a:ext cx="128016" cy="128016"/>
          </a:xfrm>
          <a:prstGeom prst="ellipse">
            <a:avLst/>
          </a:prstGeom>
          <a:solidFill>
            <a:srgbClr val="E4572E"/>
          </a:solidFill>
          <a:ln w="12700">
            <a:solidFill>
              <a:srgbClr val="E4572E"/>
            </a:solidFill>
            <a:prstDash val="solid"/>
          </a:ln>
        </p:spPr>
      </p:sp>
      <p:sp>
        <p:nvSpPr>
          <p:cNvPr id="3" name="Shape 1"/>
          <p:cNvSpPr/>
          <p:nvPr/>
        </p:nvSpPr>
        <p:spPr>
          <a:xfrm>
            <a:off x="1179576" y="1170432"/>
            <a:ext cx="128016" cy="128016"/>
          </a:xfrm>
          <a:prstGeom prst="ellipse">
            <a:avLst/>
          </a:prstGeom>
          <a:solidFill>
            <a:srgbClr val="E4572E"/>
          </a:solidFill>
          <a:ln w="12700">
            <a:solidFill>
              <a:srgbClr val="E4572E"/>
            </a:solidFill>
            <a:prstDash val="solid"/>
          </a:ln>
        </p:spPr>
      </p:sp>
      <p:sp>
        <p:nvSpPr>
          <p:cNvPr id="4" name="Shape 2"/>
          <p:cNvSpPr/>
          <p:nvPr/>
        </p:nvSpPr>
        <p:spPr>
          <a:xfrm>
            <a:off x="996696" y="1417320"/>
            <a:ext cx="128016" cy="128016"/>
          </a:xfrm>
          <a:prstGeom prst="ellipse">
            <a:avLst/>
          </a:prstGeom>
          <a:solidFill>
            <a:srgbClr val="E4572E"/>
          </a:solidFill>
          <a:ln w="12700">
            <a:solidFill>
              <a:srgbClr val="E4572E"/>
            </a:solidFill>
            <a:prstDash val="solid"/>
          </a:ln>
        </p:spPr>
      </p:sp>
      <p:sp>
        <p:nvSpPr>
          <p:cNvPr id="5" name="Shape 3"/>
          <p:cNvSpPr/>
          <p:nvPr/>
        </p:nvSpPr>
        <p:spPr>
          <a:xfrm>
            <a:off x="1325880" y="1453896"/>
            <a:ext cx="128016" cy="128016"/>
          </a:xfrm>
          <a:prstGeom prst="ellipse">
            <a:avLst/>
          </a:prstGeom>
          <a:solidFill>
            <a:srgbClr val="E4572E"/>
          </a:solidFill>
          <a:ln w="12700">
            <a:solidFill>
              <a:srgbClr val="E4572E"/>
            </a:solidFill>
            <a:prstDash val="solid"/>
          </a:ln>
        </p:spPr>
      </p:sp>
      <p:sp>
        <p:nvSpPr>
          <p:cNvPr id="6" name="Shape 4"/>
          <p:cNvSpPr/>
          <p:nvPr/>
        </p:nvSpPr>
        <p:spPr>
          <a:xfrm>
            <a:off x="1435608" y="1143000"/>
            <a:ext cx="128016" cy="128016"/>
          </a:xfrm>
          <a:prstGeom prst="ellipse">
            <a:avLst/>
          </a:prstGeom>
          <a:solidFill>
            <a:srgbClr val="E4572E"/>
          </a:solidFill>
          <a:ln w="12700">
            <a:solidFill>
              <a:srgbClr val="E4572E"/>
            </a:solidFill>
            <a:prstDash val="solid"/>
          </a:ln>
        </p:spPr>
      </p:sp>
      <p:sp>
        <p:nvSpPr>
          <p:cNvPr id="7" name="Text 5"/>
          <p:cNvSpPr txBox="1"/>
          <p:nvPr/>
        </p:nvSpPr>
        <p:spPr>
          <a:xfrm>
            <a:off x="822960" y="1874520"/>
            <a:ext cx="10515600" cy="914400"/>
          </a:xfrm>
          <a:prstGeom prst="rect">
            <a:avLst/>
          </a:prstGeom>
          <a:noFill/>
          <a:ln/>
        </p:spPr>
        <p:txBody>
          <a:bodyPr wrap="square" lIns="0" tIns="0" rIns="0" bIns="0" rtlCol="0" anchor="ctr"/>
          <a:lstStyle/>
          <a:p>
            <a:pPr indent="0" marL="0">
              <a:buNone/>
            </a:pPr>
            <a:r>
              <a:rPr lang="en-US" sz="5400" b="1" spc="100" kern="0" dirty="0">
                <a:solidFill>
                  <a:srgbClr val="FFFFFF"/>
                </a:solidFill>
                <a:latin typeface="Cambria" pitchFamily="34" charset="0"/>
                <a:ea typeface="Cambria" pitchFamily="34" charset="-122"/>
                <a:cs typeface="Cambria" pitchFamily="34" charset="-120"/>
              </a:rPr>
              <a:t>IEMOCAP</a:t>
            </a:r>
            <a:endParaRPr lang="en-US" sz="5400" dirty="0"/>
          </a:p>
        </p:txBody>
      </p:sp>
      <p:sp>
        <p:nvSpPr>
          <p:cNvPr id="8" name="Text 6"/>
          <p:cNvSpPr txBox="1"/>
          <p:nvPr/>
        </p:nvSpPr>
        <p:spPr>
          <a:xfrm>
            <a:off x="822960" y="2788920"/>
            <a:ext cx="10515600" cy="502920"/>
          </a:xfrm>
          <a:prstGeom prst="rect">
            <a:avLst/>
          </a:prstGeom>
          <a:noFill/>
          <a:ln/>
        </p:spPr>
        <p:txBody>
          <a:bodyPr wrap="square" lIns="0" tIns="0" rIns="0" bIns="0" rtlCol="0" anchor="ctr"/>
          <a:lstStyle/>
          <a:p>
            <a:pPr indent="0" marL="0">
              <a:buNone/>
            </a:pPr>
            <a:r>
              <a:rPr lang="en-US" sz="2100" i="1" dirty="0">
                <a:solidFill>
                  <a:srgbClr val="C9D6E3"/>
                </a:solidFill>
                <a:latin typeface="Cambria" pitchFamily="34" charset="0"/>
                <a:ea typeface="Cambria" pitchFamily="34" charset="-122"/>
                <a:cs typeface="Cambria" pitchFamily="34" charset="-120"/>
              </a:rPr>
              <a:t>Interactive Emotional Dyadic Motion Capture Database</a:t>
            </a:r>
            <a:endParaRPr lang="en-US" sz="2100" dirty="0"/>
          </a:p>
        </p:txBody>
      </p:sp>
      <p:sp>
        <p:nvSpPr>
          <p:cNvPr id="9" name="Text 7"/>
          <p:cNvSpPr txBox="1"/>
          <p:nvPr/>
        </p:nvSpPr>
        <p:spPr>
          <a:xfrm>
            <a:off x="859536" y="3611880"/>
            <a:ext cx="10058400" cy="1005840"/>
          </a:xfrm>
          <a:prstGeom prst="rect">
            <a:avLst/>
          </a:prstGeom>
          <a:noFill/>
          <a:ln/>
        </p:spPr>
        <p:txBody>
          <a:bodyPr wrap="square" lIns="0" tIns="0" rIns="0" bIns="0" rtlCol="0" anchor="ctr"/>
          <a:lstStyle/>
          <a:p>
            <a:pPr indent="0" marL="0">
              <a:lnSpc>
                <a:spcPct val="125000"/>
              </a:lnSpc>
              <a:buNone/>
            </a:pPr>
            <a:r>
              <a:rPr lang="en-US" sz="1350" dirty="0">
                <a:solidFill>
                  <a:srgbClr val="AFC0D2"/>
                </a:solidFill>
                <a:latin typeface="Calibri" pitchFamily="34" charset="0"/>
                <a:ea typeface="Calibri" pitchFamily="34" charset="-122"/>
                <a:cs typeface="Calibri" pitchFamily="34" charset="-120"/>
              </a:rPr>
              <a:t>Busso, Bulut, Lee, Kazemzadeh, Mower, Kim, Chang, Lee &amp; Narayanan</a:t>
            </a:r>
            <a:endParaRPr lang="en-US" sz="1350" dirty="0"/>
          </a:p>
          <a:p>
            <a:pPr indent="0" marL="0">
              <a:lnSpc>
                <a:spcPct val="125000"/>
              </a:lnSpc>
              <a:buNone/>
            </a:pPr>
            <a:r>
              <a:rPr lang="en-US" sz="1350" dirty="0">
                <a:solidFill>
                  <a:srgbClr val="AFC0D2"/>
                </a:solidFill>
                <a:latin typeface="Calibri" pitchFamily="34" charset="0"/>
                <a:ea typeface="Calibri" pitchFamily="34" charset="-122"/>
                <a:cs typeface="Calibri" pitchFamily="34" charset="-120"/>
              </a:rPr>
              <a:t>Language Resources and Evaluation, 42(4), 335–359 (2008)</a:t>
            </a:r>
            <a:endParaRPr lang="en-US" sz="1350" dirty="0"/>
          </a:p>
          <a:p>
            <a:pPr indent="0" marL="0">
              <a:lnSpc>
                <a:spcPct val="125000"/>
              </a:lnSpc>
              <a:buNone/>
            </a:pPr>
            <a:r>
              <a:rPr lang="en-US" sz="1350" dirty="0">
                <a:solidFill>
                  <a:srgbClr val="AFC0D2"/>
                </a:solidFill>
                <a:latin typeface="Calibri" pitchFamily="34" charset="0"/>
                <a:ea typeface="Calibri" pitchFamily="34" charset="-122"/>
                <a:cs typeface="Calibri" pitchFamily="34" charset="-120"/>
              </a:rPr>
              <a:t>Speech Analysis and Interpretation Laboratory (SAIL), University of Southern California</a:t>
            </a:r>
            <a:endParaRPr lang="en-US" sz="1350" dirty="0"/>
          </a:p>
        </p:txBody>
      </p:sp>
      <p:sp>
        <p:nvSpPr>
          <p:cNvPr id="10" name="Text 8"/>
          <p:cNvSpPr txBox="1"/>
          <p:nvPr/>
        </p:nvSpPr>
        <p:spPr>
          <a:xfrm>
            <a:off x="859536" y="5120640"/>
            <a:ext cx="7315200" cy="365760"/>
          </a:xfrm>
          <a:prstGeom prst="rect">
            <a:avLst/>
          </a:prstGeom>
          <a:noFill/>
          <a:ln/>
        </p:spPr>
        <p:txBody>
          <a:bodyPr wrap="square" lIns="0" tIns="0" rIns="0" bIns="0" rtlCol="0" anchor="ctr"/>
          <a:lstStyle/>
          <a:p>
            <a:pPr indent="0" marL="0">
              <a:buNone/>
            </a:pPr>
            <a:r>
              <a:rPr lang="en-US" sz="1250" b="1" dirty="0">
                <a:solidFill>
                  <a:srgbClr val="E4572E"/>
                </a:solidFill>
                <a:latin typeface="Calibri" pitchFamily="34" charset="0"/>
                <a:ea typeface="Calibri" pitchFamily="34" charset="-122"/>
                <a:cs typeface="Calibri" pitchFamily="34" charset="-120"/>
              </a:rPr>
              <a:t>Seminar presentation  ·  Part 1 of 2  ·  40 minutes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Roadmap</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35 minutes of material, then 5 minutes for discussion</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2</a:t>
            </a:r>
            <a:endParaRPr lang="en-US" sz="900" dirty="0"/>
          </a:p>
        </p:txBody>
      </p:sp>
      <p:sp>
        <p:nvSpPr>
          <p:cNvPr id="8" name="Shape 6"/>
          <p:cNvSpPr/>
          <p:nvPr/>
        </p:nvSpPr>
        <p:spPr>
          <a:xfrm>
            <a:off x="566928" y="1563624"/>
            <a:ext cx="402336" cy="402336"/>
          </a:xfrm>
          <a:prstGeom prst="ellipse">
            <a:avLst/>
          </a:prstGeom>
          <a:solidFill>
            <a:srgbClr val="1B2A4A"/>
          </a:solidFill>
          <a:ln w="12700">
            <a:solidFill>
              <a:srgbClr val="333333"/>
            </a:solidFill>
            <a:prstDash val="solid"/>
          </a:ln>
        </p:spPr>
      </p:sp>
      <p:sp>
        <p:nvSpPr>
          <p:cNvPr id="9" name="Text 7"/>
          <p:cNvSpPr txBox="1"/>
          <p:nvPr/>
        </p:nvSpPr>
        <p:spPr>
          <a:xfrm>
            <a:off x="566928" y="1591056"/>
            <a:ext cx="402336"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txBox="1"/>
          <p:nvPr/>
        </p:nvSpPr>
        <p:spPr>
          <a:xfrm>
            <a:off x="1115568" y="1517904"/>
            <a:ext cx="7498080" cy="310896"/>
          </a:xfrm>
          <a:prstGeom prst="rect">
            <a:avLst/>
          </a:prstGeom>
          <a:noFill/>
          <a:ln/>
        </p:spPr>
        <p:txBody>
          <a:bodyPr wrap="square" lIns="0" tIns="0" rIns="0" bIns="0" rtlCol="0" anchor="ctr"/>
          <a:lstStyle/>
          <a:p>
            <a:pPr indent="0" marL="0">
              <a:buNone/>
            </a:pPr>
            <a:r>
              <a:rPr lang="en-US" sz="1600" b="1" dirty="0">
                <a:solidFill>
                  <a:srgbClr val="16213A"/>
                </a:solidFill>
                <a:latin typeface="Cambria" pitchFamily="34" charset="0"/>
                <a:ea typeface="Cambria" pitchFamily="34" charset="-122"/>
                <a:cs typeface="Cambria" pitchFamily="34" charset="-120"/>
              </a:rPr>
              <a:t>Motivation and the 2008 landscape</a:t>
            </a:r>
            <a:endParaRPr lang="en-US" sz="1600" dirty="0"/>
          </a:p>
        </p:txBody>
      </p:sp>
      <p:sp>
        <p:nvSpPr>
          <p:cNvPr id="11" name="Text 9"/>
          <p:cNvSpPr txBox="1"/>
          <p:nvPr/>
        </p:nvSpPr>
        <p:spPr>
          <a:xfrm>
            <a:off x="1115568" y="1828800"/>
            <a:ext cx="7863840" cy="274320"/>
          </a:xfrm>
          <a:prstGeom prst="rect">
            <a:avLst/>
          </a:prstGeom>
          <a:noFill/>
          <a:ln/>
        </p:spPr>
        <p:txBody>
          <a:bodyPr wrap="square" lIns="0" tIns="0" rIns="0" bIns="0" rtlCol="0" anchor="ctr"/>
          <a:lstStyle/>
          <a:p>
            <a:pPr indent="0" marL="0">
              <a:buNone/>
            </a:pPr>
            <a:r>
              <a:rPr lang="en-US" sz="1200" dirty="0">
                <a:solidFill>
                  <a:srgbClr val="5C6675"/>
                </a:solidFill>
                <a:latin typeface="Calibri" pitchFamily="34" charset="0"/>
                <a:ea typeface="Calibri" pitchFamily="34" charset="-122"/>
                <a:cs typeface="Calibri" pitchFamily="34" charset="-120"/>
              </a:rPr>
              <a:t>Why existing emotional corpora were not usable</a:t>
            </a:r>
            <a:endParaRPr lang="en-US" sz="1200" dirty="0"/>
          </a:p>
        </p:txBody>
      </p:sp>
      <p:sp>
        <p:nvSpPr>
          <p:cNvPr id="12" name="Text 10"/>
          <p:cNvSpPr txBox="1"/>
          <p:nvPr/>
        </p:nvSpPr>
        <p:spPr>
          <a:xfrm>
            <a:off x="9692640" y="1591056"/>
            <a:ext cx="1737360" cy="310896"/>
          </a:xfrm>
          <a:prstGeom prst="rect">
            <a:avLst/>
          </a:prstGeom>
          <a:noFill/>
          <a:ln/>
        </p:spPr>
        <p:txBody>
          <a:bodyPr wrap="square" lIns="0" tIns="0" rIns="0" bIns="0" rtlCol="0" anchor="ctr"/>
          <a:lstStyle/>
          <a:p>
            <a:pPr algn="r" indent="0" marL="0">
              <a:buNone/>
            </a:pPr>
            <a:r>
              <a:rPr lang="en-US" sz="1300" b="1" dirty="0">
                <a:solidFill>
                  <a:srgbClr val="E4572E"/>
                </a:solidFill>
                <a:latin typeface="Calibri" pitchFamily="34" charset="0"/>
                <a:ea typeface="Calibri" pitchFamily="34" charset="-122"/>
                <a:cs typeface="Calibri" pitchFamily="34" charset="-120"/>
              </a:rPr>
              <a:t>6 min</a:t>
            </a:r>
            <a:endParaRPr lang="en-US" sz="1300" dirty="0"/>
          </a:p>
        </p:txBody>
      </p:sp>
      <p:sp>
        <p:nvSpPr>
          <p:cNvPr id="13" name="Shape 11"/>
          <p:cNvSpPr/>
          <p:nvPr/>
        </p:nvSpPr>
        <p:spPr>
          <a:xfrm>
            <a:off x="566928" y="2322576"/>
            <a:ext cx="402336" cy="402336"/>
          </a:xfrm>
          <a:prstGeom prst="ellipse">
            <a:avLst/>
          </a:prstGeom>
          <a:solidFill>
            <a:srgbClr val="1B2A4A"/>
          </a:solidFill>
          <a:ln w="12700">
            <a:solidFill>
              <a:srgbClr val="333333"/>
            </a:solidFill>
            <a:prstDash val="solid"/>
          </a:ln>
        </p:spPr>
      </p:sp>
      <p:sp>
        <p:nvSpPr>
          <p:cNvPr id="14" name="Text 12"/>
          <p:cNvSpPr txBox="1"/>
          <p:nvPr/>
        </p:nvSpPr>
        <p:spPr>
          <a:xfrm>
            <a:off x="566928" y="2350008"/>
            <a:ext cx="402336"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3"/>
          <p:cNvSpPr txBox="1"/>
          <p:nvPr/>
        </p:nvSpPr>
        <p:spPr>
          <a:xfrm>
            <a:off x="1115568" y="2276856"/>
            <a:ext cx="7498080" cy="310896"/>
          </a:xfrm>
          <a:prstGeom prst="rect">
            <a:avLst/>
          </a:prstGeom>
          <a:noFill/>
          <a:ln/>
        </p:spPr>
        <p:txBody>
          <a:bodyPr wrap="square" lIns="0" tIns="0" rIns="0" bIns="0" rtlCol="0" anchor="ctr"/>
          <a:lstStyle/>
          <a:p>
            <a:pPr indent="0" marL="0">
              <a:buNone/>
            </a:pPr>
            <a:r>
              <a:rPr lang="en-US" sz="1600" b="1" dirty="0">
                <a:solidFill>
                  <a:srgbClr val="16213A"/>
                </a:solidFill>
                <a:latin typeface="Cambria" pitchFamily="34" charset="0"/>
                <a:ea typeface="Cambria" pitchFamily="34" charset="-122"/>
                <a:cs typeface="Cambria" pitchFamily="34" charset="-120"/>
              </a:rPr>
              <a:t>Corpus design</a:t>
            </a:r>
            <a:endParaRPr lang="en-US" sz="1600" dirty="0"/>
          </a:p>
        </p:txBody>
      </p:sp>
      <p:sp>
        <p:nvSpPr>
          <p:cNvPr id="16" name="Text 14"/>
          <p:cNvSpPr txBox="1"/>
          <p:nvPr/>
        </p:nvSpPr>
        <p:spPr>
          <a:xfrm>
            <a:off x="1115568" y="2587752"/>
            <a:ext cx="7863840" cy="274320"/>
          </a:xfrm>
          <a:prstGeom prst="rect">
            <a:avLst/>
          </a:prstGeom>
          <a:noFill/>
          <a:ln/>
        </p:spPr>
        <p:txBody>
          <a:bodyPr wrap="square" lIns="0" tIns="0" rIns="0" bIns="0" rtlCol="0" anchor="ctr"/>
          <a:lstStyle/>
          <a:p>
            <a:pPr indent="0" marL="0">
              <a:buNone/>
            </a:pPr>
            <a:r>
              <a:rPr lang="en-US" sz="1200" dirty="0">
                <a:solidFill>
                  <a:srgbClr val="5C6675"/>
                </a:solidFill>
                <a:latin typeface="Calibri" pitchFamily="34" charset="0"/>
                <a:ea typeface="Calibri" pitchFamily="34" charset="-122"/>
                <a:cs typeface="Calibri" pitchFamily="34" charset="-120"/>
              </a:rPr>
              <a:t>Dyads, plays, and improvised scenarios</a:t>
            </a:r>
            <a:endParaRPr lang="en-US" sz="1200" dirty="0"/>
          </a:p>
        </p:txBody>
      </p:sp>
      <p:sp>
        <p:nvSpPr>
          <p:cNvPr id="17" name="Text 15"/>
          <p:cNvSpPr txBox="1"/>
          <p:nvPr/>
        </p:nvSpPr>
        <p:spPr>
          <a:xfrm>
            <a:off x="9692640" y="2350008"/>
            <a:ext cx="1737360" cy="310896"/>
          </a:xfrm>
          <a:prstGeom prst="rect">
            <a:avLst/>
          </a:prstGeom>
          <a:noFill/>
          <a:ln/>
        </p:spPr>
        <p:txBody>
          <a:bodyPr wrap="square" lIns="0" tIns="0" rIns="0" bIns="0" rtlCol="0" anchor="ctr"/>
          <a:lstStyle/>
          <a:p>
            <a:pPr algn="r" indent="0" marL="0">
              <a:buNone/>
            </a:pPr>
            <a:r>
              <a:rPr lang="en-US" sz="1300" b="1" dirty="0">
                <a:solidFill>
                  <a:srgbClr val="E4572E"/>
                </a:solidFill>
                <a:latin typeface="Calibri" pitchFamily="34" charset="0"/>
                <a:ea typeface="Calibri" pitchFamily="34" charset="-122"/>
                <a:cs typeface="Calibri" pitchFamily="34" charset="-120"/>
              </a:rPr>
              <a:t>7 min</a:t>
            </a:r>
            <a:endParaRPr lang="en-US" sz="1300" dirty="0"/>
          </a:p>
        </p:txBody>
      </p:sp>
      <p:sp>
        <p:nvSpPr>
          <p:cNvPr id="18" name="Shape 16"/>
          <p:cNvSpPr/>
          <p:nvPr/>
        </p:nvSpPr>
        <p:spPr>
          <a:xfrm>
            <a:off x="566928" y="3081528"/>
            <a:ext cx="402336" cy="402336"/>
          </a:xfrm>
          <a:prstGeom prst="ellipse">
            <a:avLst/>
          </a:prstGeom>
          <a:solidFill>
            <a:srgbClr val="1B2A4A"/>
          </a:solidFill>
          <a:ln w="12700">
            <a:solidFill>
              <a:srgbClr val="333333"/>
            </a:solidFill>
            <a:prstDash val="solid"/>
          </a:ln>
        </p:spPr>
      </p:sp>
      <p:sp>
        <p:nvSpPr>
          <p:cNvPr id="19" name="Text 17"/>
          <p:cNvSpPr txBox="1"/>
          <p:nvPr/>
        </p:nvSpPr>
        <p:spPr>
          <a:xfrm>
            <a:off x="566928" y="3108960"/>
            <a:ext cx="402336"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0" name="Text 18"/>
          <p:cNvSpPr txBox="1"/>
          <p:nvPr/>
        </p:nvSpPr>
        <p:spPr>
          <a:xfrm>
            <a:off x="1115568" y="3035808"/>
            <a:ext cx="7498080" cy="310896"/>
          </a:xfrm>
          <a:prstGeom prst="rect">
            <a:avLst/>
          </a:prstGeom>
          <a:noFill/>
          <a:ln/>
        </p:spPr>
        <p:txBody>
          <a:bodyPr wrap="square" lIns="0" tIns="0" rIns="0" bIns="0" rtlCol="0" anchor="ctr"/>
          <a:lstStyle/>
          <a:p>
            <a:pPr indent="0" marL="0">
              <a:buNone/>
            </a:pPr>
            <a:r>
              <a:rPr lang="en-US" sz="1600" b="1" dirty="0">
                <a:solidFill>
                  <a:srgbClr val="16213A"/>
                </a:solidFill>
                <a:latin typeface="Cambria" pitchFamily="34" charset="0"/>
                <a:ea typeface="Cambria" pitchFamily="34" charset="-122"/>
                <a:cs typeface="Cambria" pitchFamily="34" charset="-120"/>
              </a:rPr>
              <a:t>Recording and post-processing</a:t>
            </a:r>
            <a:endParaRPr lang="en-US" sz="1600" dirty="0"/>
          </a:p>
        </p:txBody>
      </p:sp>
      <p:sp>
        <p:nvSpPr>
          <p:cNvPr id="21" name="Text 19"/>
          <p:cNvSpPr txBox="1"/>
          <p:nvPr/>
        </p:nvSpPr>
        <p:spPr>
          <a:xfrm>
            <a:off x="1115568" y="3346704"/>
            <a:ext cx="7863840" cy="274320"/>
          </a:xfrm>
          <a:prstGeom prst="rect">
            <a:avLst/>
          </a:prstGeom>
          <a:noFill/>
          <a:ln/>
        </p:spPr>
        <p:txBody>
          <a:bodyPr wrap="square" lIns="0" tIns="0" rIns="0" bIns="0" rtlCol="0" anchor="ctr"/>
          <a:lstStyle/>
          <a:p>
            <a:pPr indent="0" marL="0">
              <a:buNone/>
            </a:pPr>
            <a:r>
              <a:rPr lang="en-US" sz="1200" dirty="0">
                <a:solidFill>
                  <a:srgbClr val="5C6675"/>
                </a:solidFill>
                <a:latin typeface="Calibri" pitchFamily="34" charset="0"/>
                <a:ea typeface="Calibri" pitchFamily="34" charset="-122"/>
                <a:cs typeface="Calibri" pitchFamily="34" charset="-120"/>
              </a:rPr>
              <a:t>Motion capture rig, segmentation, transcription</a:t>
            </a:r>
            <a:endParaRPr lang="en-US" sz="1200" dirty="0"/>
          </a:p>
        </p:txBody>
      </p:sp>
      <p:sp>
        <p:nvSpPr>
          <p:cNvPr id="22" name="Text 20"/>
          <p:cNvSpPr txBox="1"/>
          <p:nvPr/>
        </p:nvSpPr>
        <p:spPr>
          <a:xfrm>
            <a:off x="9692640" y="3108960"/>
            <a:ext cx="1737360" cy="310896"/>
          </a:xfrm>
          <a:prstGeom prst="rect">
            <a:avLst/>
          </a:prstGeom>
          <a:noFill/>
          <a:ln/>
        </p:spPr>
        <p:txBody>
          <a:bodyPr wrap="square" lIns="0" tIns="0" rIns="0" bIns="0" rtlCol="0" anchor="ctr"/>
          <a:lstStyle/>
          <a:p>
            <a:pPr algn="r" indent="0" marL="0">
              <a:buNone/>
            </a:pPr>
            <a:r>
              <a:rPr lang="en-US" sz="1300" b="1" dirty="0">
                <a:solidFill>
                  <a:srgbClr val="E4572E"/>
                </a:solidFill>
                <a:latin typeface="Calibri" pitchFamily="34" charset="0"/>
                <a:ea typeface="Calibri" pitchFamily="34" charset="-122"/>
                <a:cs typeface="Calibri" pitchFamily="34" charset="-120"/>
              </a:rPr>
              <a:t>6 min</a:t>
            </a:r>
            <a:endParaRPr lang="en-US" sz="1300" dirty="0"/>
          </a:p>
        </p:txBody>
      </p:sp>
      <p:sp>
        <p:nvSpPr>
          <p:cNvPr id="23" name="Shape 21"/>
          <p:cNvSpPr/>
          <p:nvPr/>
        </p:nvSpPr>
        <p:spPr>
          <a:xfrm>
            <a:off x="566928" y="3840480"/>
            <a:ext cx="402336" cy="402336"/>
          </a:xfrm>
          <a:prstGeom prst="ellipse">
            <a:avLst/>
          </a:prstGeom>
          <a:solidFill>
            <a:srgbClr val="1B2A4A"/>
          </a:solidFill>
          <a:ln w="12700">
            <a:solidFill>
              <a:srgbClr val="333333"/>
            </a:solidFill>
            <a:prstDash val="solid"/>
          </a:ln>
        </p:spPr>
      </p:sp>
      <p:sp>
        <p:nvSpPr>
          <p:cNvPr id="24" name="Text 22"/>
          <p:cNvSpPr txBox="1"/>
          <p:nvPr/>
        </p:nvSpPr>
        <p:spPr>
          <a:xfrm>
            <a:off x="566928" y="3867912"/>
            <a:ext cx="402336"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5" name="Text 23"/>
          <p:cNvSpPr txBox="1"/>
          <p:nvPr/>
        </p:nvSpPr>
        <p:spPr>
          <a:xfrm>
            <a:off x="1115568" y="3794760"/>
            <a:ext cx="7498080" cy="310896"/>
          </a:xfrm>
          <a:prstGeom prst="rect">
            <a:avLst/>
          </a:prstGeom>
          <a:noFill/>
          <a:ln/>
        </p:spPr>
        <p:txBody>
          <a:bodyPr wrap="square" lIns="0" tIns="0" rIns="0" bIns="0" rtlCol="0" anchor="ctr"/>
          <a:lstStyle/>
          <a:p>
            <a:pPr indent="0" marL="0">
              <a:buNone/>
            </a:pPr>
            <a:r>
              <a:rPr lang="en-US" sz="1600" b="1" dirty="0">
                <a:solidFill>
                  <a:srgbClr val="16213A"/>
                </a:solidFill>
                <a:latin typeface="Cambria" pitchFamily="34" charset="0"/>
                <a:ea typeface="Cambria" pitchFamily="34" charset="-122"/>
                <a:cs typeface="Cambria" pitchFamily="34" charset="-120"/>
              </a:rPr>
              <a:t>Emotional annotation and reliability</a:t>
            </a:r>
            <a:endParaRPr lang="en-US" sz="1600" dirty="0"/>
          </a:p>
        </p:txBody>
      </p:sp>
      <p:sp>
        <p:nvSpPr>
          <p:cNvPr id="26" name="Text 24"/>
          <p:cNvSpPr txBox="1"/>
          <p:nvPr/>
        </p:nvSpPr>
        <p:spPr>
          <a:xfrm>
            <a:off x="1115568" y="4105656"/>
            <a:ext cx="7863840" cy="274320"/>
          </a:xfrm>
          <a:prstGeom prst="rect">
            <a:avLst/>
          </a:prstGeom>
          <a:noFill/>
          <a:ln/>
        </p:spPr>
        <p:txBody>
          <a:bodyPr wrap="square" lIns="0" tIns="0" rIns="0" bIns="0" rtlCol="0" anchor="ctr"/>
          <a:lstStyle/>
          <a:p>
            <a:pPr indent="0" marL="0">
              <a:buNone/>
            </a:pPr>
            <a:r>
              <a:rPr lang="en-US" sz="1200" dirty="0">
                <a:solidFill>
                  <a:srgbClr val="5C6675"/>
                </a:solidFill>
                <a:latin typeface="Calibri" pitchFamily="34" charset="0"/>
                <a:ea typeface="Calibri" pitchFamily="34" charset="-122"/>
                <a:cs typeface="Calibri" pitchFamily="34" charset="-120"/>
              </a:rPr>
              <a:t>Categorical, dimensional, and how well raters agree</a:t>
            </a:r>
            <a:endParaRPr lang="en-US" sz="1200" dirty="0"/>
          </a:p>
        </p:txBody>
      </p:sp>
      <p:sp>
        <p:nvSpPr>
          <p:cNvPr id="27" name="Text 25"/>
          <p:cNvSpPr txBox="1"/>
          <p:nvPr/>
        </p:nvSpPr>
        <p:spPr>
          <a:xfrm>
            <a:off x="9692640" y="3867912"/>
            <a:ext cx="1737360" cy="310896"/>
          </a:xfrm>
          <a:prstGeom prst="rect">
            <a:avLst/>
          </a:prstGeom>
          <a:noFill/>
          <a:ln/>
        </p:spPr>
        <p:txBody>
          <a:bodyPr wrap="square" lIns="0" tIns="0" rIns="0" bIns="0" rtlCol="0" anchor="ctr"/>
          <a:lstStyle/>
          <a:p>
            <a:pPr algn="r" indent="0" marL="0">
              <a:buNone/>
            </a:pPr>
            <a:r>
              <a:rPr lang="en-US" sz="1300" b="1" dirty="0">
                <a:solidFill>
                  <a:srgbClr val="E4572E"/>
                </a:solidFill>
                <a:latin typeface="Calibri" pitchFamily="34" charset="0"/>
                <a:ea typeface="Calibri" pitchFamily="34" charset="-122"/>
                <a:cs typeface="Calibri" pitchFamily="34" charset="-120"/>
              </a:rPr>
              <a:t>8 min</a:t>
            </a:r>
            <a:endParaRPr lang="en-US" sz="1300" dirty="0"/>
          </a:p>
        </p:txBody>
      </p:sp>
      <p:sp>
        <p:nvSpPr>
          <p:cNvPr id="28" name="Shape 26"/>
          <p:cNvSpPr/>
          <p:nvPr/>
        </p:nvSpPr>
        <p:spPr>
          <a:xfrm>
            <a:off x="566928" y="4599432"/>
            <a:ext cx="402336" cy="402336"/>
          </a:xfrm>
          <a:prstGeom prst="ellipse">
            <a:avLst/>
          </a:prstGeom>
          <a:solidFill>
            <a:srgbClr val="1B2A4A"/>
          </a:solidFill>
          <a:ln w="12700">
            <a:solidFill>
              <a:srgbClr val="333333"/>
            </a:solidFill>
            <a:prstDash val="solid"/>
          </a:ln>
        </p:spPr>
      </p:sp>
      <p:sp>
        <p:nvSpPr>
          <p:cNvPr id="29" name="Text 27"/>
          <p:cNvSpPr txBox="1"/>
          <p:nvPr/>
        </p:nvSpPr>
        <p:spPr>
          <a:xfrm>
            <a:off x="566928" y="4626864"/>
            <a:ext cx="402336"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0" name="Text 28"/>
          <p:cNvSpPr txBox="1"/>
          <p:nvPr/>
        </p:nvSpPr>
        <p:spPr>
          <a:xfrm>
            <a:off x="1115568" y="4553712"/>
            <a:ext cx="7498080" cy="310896"/>
          </a:xfrm>
          <a:prstGeom prst="rect">
            <a:avLst/>
          </a:prstGeom>
          <a:noFill/>
          <a:ln/>
        </p:spPr>
        <p:txBody>
          <a:bodyPr wrap="square" lIns="0" tIns="0" rIns="0" bIns="0" rtlCol="0" anchor="ctr"/>
          <a:lstStyle/>
          <a:p>
            <a:pPr indent="0" marL="0">
              <a:buNone/>
            </a:pPr>
            <a:r>
              <a:rPr lang="en-US" sz="1600" b="1" dirty="0">
                <a:solidFill>
                  <a:srgbClr val="16213A"/>
                </a:solidFill>
                <a:latin typeface="Cambria" pitchFamily="34" charset="0"/>
                <a:ea typeface="Cambria" pitchFamily="34" charset="-122"/>
                <a:cs typeface="Cambria" pitchFamily="34" charset="-120"/>
              </a:rPr>
              <a:t>Critical appraisal</a:t>
            </a:r>
            <a:endParaRPr lang="en-US" sz="1600" dirty="0"/>
          </a:p>
        </p:txBody>
      </p:sp>
      <p:sp>
        <p:nvSpPr>
          <p:cNvPr id="31" name="Text 29"/>
          <p:cNvSpPr txBox="1"/>
          <p:nvPr/>
        </p:nvSpPr>
        <p:spPr>
          <a:xfrm>
            <a:off x="1115568" y="4864608"/>
            <a:ext cx="7863840" cy="274320"/>
          </a:xfrm>
          <a:prstGeom prst="rect">
            <a:avLst/>
          </a:prstGeom>
          <a:noFill/>
          <a:ln/>
        </p:spPr>
        <p:txBody>
          <a:bodyPr wrap="square" lIns="0" tIns="0" rIns="0" bIns="0" rtlCol="0" anchor="ctr"/>
          <a:lstStyle/>
          <a:p>
            <a:pPr indent="0" marL="0">
              <a:buNone/>
            </a:pPr>
            <a:r>
              <a:rPr lang="en-US" sz="1200" dirty="0">
                <a:solidFill>
                  <a:srgbClr val="5C6675"/>
                </a:solidFill>
                <a:latin typeface="Calibri" pitchFamily="34" charset="0"/>
                <a:ea typeface="Calibri" pitchFamily="34" charset="-122"/>
                <a:cs typeface="Calibri" pitchFamily="34" charset="-120"/>
              </a:rPr>
              <a:t>What the design buys and what it costs</a:t>
            </a:r>
            <a:endParaRPr lang="en-US" sz="1200" dirty="0"/>
          </a:p>
        </p:txBody>
      </p:sp>
      <p:sp>
        <p:nvSpPr>
          <p:cNvPr id="32" name="Text 30"/>
          <p:cNvSpPr txBox="1"/>
          <p:nvPr/>
        </p:nvSpPr>
        <p:spPr>
          <a:xfrm>
            <a:off x="9692640" y="4626864"/>
            <a:ext cx="1737360" cy="310896"/>
          </a:xfrm>
          <a:prstGeom prst="rect">
            <a:avLst/>
          </a:prstGeom>
          <a:noFill/>
          <a:ln/>
        </p:spPr>
        <p:txBody>
          <a:bodyPr wrap="square" lIns="0" tIns="0" rIns="0" bIns="0" rtlCol="0" anchor="ctr"/>
          <a:lstStyle/>
          <a:p>
            <a:pPr algn="r" indent="0" marL="0">
              <a:buNone/>
            </a:pPr>
            <a:r>
              <a:rPr lang="en-US" sz="1300" b="1" dirty="0">
                <a:solidFill>
                  <a:srgbClr val="E4572E"/>
                </a:solidFill>
                <a:latin typeface="Calibri" pitchFamily="34" charset="0"/>
                <a:ea typeface="Calibri" pitchFamily="34" charset="-122"/>
                <a:cs typeface="Calibri" pitchFamily="34" charset="-120"/>
              </a:rPr>
              <a:t>4 min</a:t>
            </a:r>
            <a:endParaRPr lang="en-US" sz="1300" dirty="0"/>
          </a:p>
        </p:txBody>
      </p:sp>
      <p:sp>
        <p:nvSpPr>
          <p:cNvPr id="33" name="Shape 31"/>
          <p:cNvSpPr/>
          <p:nvPr/>
        </p:nvSpPr>
        <p:spPr>
          <a:xfrm>
            <a:off x="566928" y="5358384"/>
            <a:ext cx="402336" cy="402336"/>
          </a:xfrm>
          <a:prstGeom prst="ellipse">
            <a:avLst/>
          </a:prstGeom>
          <a:solidFill>
            <a:srgbClr val="1B2A4A"/>
          </a:solidFill>
          <a:ln w="12700">
            <a:solidFill>
              <a:srgbClr val="333333"/>
            </a:solidFill>
            <a:prstDash val="solid"/>
          </a:ln>
        </p:spPr>
      </p:sp>
      <p:sp>
        <p:nvSpPr>
          <p:cNvPr id="34" name="Text 32"/>
          <p:cNvSpPr txBox="1"/>
          <p:nvPr/>
        </p:nvSpPr>
        <p:spPr>
          <a:xfrm>
            <a:off x="566928" y="5385816"/>
            <a:ext cx="402336"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5" name="Text 33"/>
          <p:cNvSpPr txBox="1"/>
          <p:nvPr/>
        </p:nvSpPr>
        <p:spPr>
          <a:xfrm>
            <a:off x="1115568" y="5312664"/>
            <a:ext cx="7498080" cy="310896"/>
          </a:xfrm>
          <a:prstGeom prst="rect">
            <a:avLst/>
          </a:prstGeom>
          <a:noFill/>
          <a:ln/>
        </p:spPr>
        <p:txBody>
          <a:bodyPr wrap="square" lIns="0" tIns="0" rIns="0" bIns="0" rtlCol="0" anchor="ctr"/>
          <a:lstStyle/>
          <a:p>
            <a:pPr indent="0" marL="0">
              <a:buNone/>
            </a:pPr>
            <a:r>
              <a:rPr lang="en-US" sz="1600" b="1" dirty="0">
                <a:solidFill>
                  <a:srgbClr val="16213A"/>
                </a:solidFill>
                <a:latin typeface="Cambria" pitchFamily="34" charset="0"/>
                <a:ea typeface="Cambria" pitchFamily="34" charset="-122"/>
                <a:cs typeface="Cambria" pitchFamily="34" charset="-120"/>
              </a:rPr>
              <a:t>Legacy and modern use</a:t>
            </a:r>
            <a:endParaRPr lang="en-US" sz="1600" dirty="0"/>
          </a:p>
        </p:txBody>
      </p:sp>
      <p:sp>
        <p:nvSpPr>
          <p:cNvPr id="36" name="Text 34"/>
          <p:cNvSpPr txBox="1"/>
          <p:nvPr/>
        </p:nvSpPr>
        <p:spPr>
          <a:xfrm>
            <a:off x="1115568" y="5623560"/>
            <a:ext cx="7863840" cy="274320"/>
          </a:xfrm>
          <a:prstGeom prst="rect">
            <a:avLst/>
          </a:prstGeom>
          <a:noFill/>
          <a:ln/>
        </p:spPr>
        <p:txBody>
          <a:bodyPr wrap="square" lIns="0" tIns="0" rIns="0" bIns="0" rtlCol="0" anchor="ctr"/>
          <a:lstStyle/>
          <a:p>
            <a:pPr indent="0" marL="0">
              <a:buNone/>
            </a:pPr>
            <a:r>
              <a:rPr lang="en-US" sz="1200" dirty="0">
                <a:solidFill>
                  <a:srgbClr val="5C6675"/>
                </a:solidFill>
                <a:latin typeface="Calibri" pitchFamily="34" charset="0"/>
                <a:ea typeface="Calibri" pitchFamily="34" charset="-122"/>
                <a:cs typeface="Calibri" pitchFamily="34" charset="-120"/>
              </a:rPr>
              <a:t>The de facto SER benchmark — and its pitfalls</a:t>
            </a:r>
            <a:endParaRPr lang="en-US" sz="1200" dirty="0"/>
          </a:p>
        </p:txBody>
      </p:sp>
      <p:sp>
        <p:nvSpPr>
          <p:cNvPr id="37" name="Text 35"/>
          <p:cNvSpPr txBox="1"/>
          <p:nvPr/>
        </p:nvSpPr>
        <p:spPr>
          <a:xfrm>
            <a:off x="9692640" y="5385816"/>
            <a:ext cx="1737360" cy="310896"/>
          </a:xfrm>
          <a:prstGeom prst="rect">
            <a:avLst/>
          </a:prstGeom>
          <a:noFill/>
          <a:ln/>
        </p:spPr>
        <p:txBody>
          <a:bodyPr wrap="square" lIns="0" tIns="0" rIns="0" bIns="0" rtlCol="0" anchor="ctr"/>
          <a:lstStyle/>
          <a:p>
            <a:pPr algn="r" indent="0" marL="0">
              <a:buNone/>
            </a:pPr>
            <a:r>
              <a:rPr lang="en-US" sz="1300" b="1" dirty="0">
                <a:solidFill>
                  <a:srgbClr val="E4572E"/>
                </a:solidFill>
                <a:latin typeface="Calibri" pitchFamily="34" charset="0"/>
                <a:ea typeface="Calibri" pitchFamily="34" charset="-122"/>
                <a:cs typeface="Calibri" pitchFamily="34" charset="-120"/>
              </a:rPr>
              <a:t>4 min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Why we are reading a 2008 corpus paper</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IEMOCAP is still the default benchmark for speech emotion recognition</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3</a:t>
            </a:r>
            <a:endParaRPr lang="en-US" sz="900" dirty="0"/>
          </a:p>
        </p:txBody>
      </p:sp>
      <p:sp>
        <p:nvSpPr>
          <p:cNvPr id="8" name="Text 6"/>
          <p:cNvSpPr txBox="1"/>
          <p:nvPr/>
        </p:nvSpPr>
        <p:spPr>
          <a:xfrm>
            <a:off x="566928" y="1600200"/>
            <a:ext cx="2468880" cy="713232"/>
          </a:xfrm>
          <a:prstGeom prst="rect">
            <a:avLst/>
          </a:prstGeom>
          <a:noFill/>
          <a:ln/>
        </p:spPr>
        <p:txBody>
          <a:bodyPr wrap="square" lIns="0" tIns="0" rIns="0" bIns="0" rtlCol="0" anchor="ctr"/>
          <a:lstStyle/>
          <a:p>
            <a:pPr algn="ctr" indent="0" marL="0">
              <a:buNone/>
            </a:pPr>
            <a:r>
              <a:rPr lang="en-US" sz="4000" b="1" dirty="0">
                <a:solidFill>
                  <a:srgbClr val="E4572E"/>
                </a:solidFill>
                <a:latin typeface="Cambria" pitchFamily="34" charset="0"/>
                <a:ea typeface="Cambria" pitchFamily="34" charset="-122"/>
                <a:cs typeface="Cambria" pitchFamily="34" charset="-120"/>
              </a:rPr>
              <a:t>~12 h</a:t>
            </a:r>
            <a:endParaRPr lang="en-US" sz="4000" dirty="0"/>
          </a:p>
        </p:txBody>
      </p:sp>
      <p:sp>
        <p:nvSpPr>
          <p:cNvPr id="9" name="Text 7"/>
          <p:cNvSpPr txBox="1"/>
          <p:nvPr/>
        </p:nvSpPr>
        <p:spPr>
          <a:xfrm>
            <a:off x="566928" y="2313432"/>
            <a:ext cx="2468880" cy="548640"/>
          </a:xfrm>
          <a:prstGeom prst="rect">
            <a:avLst/>
          </a:prstGeom>
          <a:noFill/>
          <a:ln/>
        </p:spPr>
        <p:txBody>
          <a:bodyPr wrap="square" lIns="0" tIns="0" rIns="0" bIns="0" rtlCol="0" anchor="ctr"/>
          <a:lstStyle/>
          <a:p>
            <a:pPr algn="ctr" indent="0" marL="0">
              <a:buNone/>
            </a:pPr>
            <a:r>
              <a:rPr lang="en-US" sz="1150" dirty="0">
                <a:solidFill>
                  <a:srgbClr val="5C6675"/>
                </a:solidFill>
                <a:latin typeface="Calibri" pitchFamily="34" charset="0"/>
                <a:ea typeface="Calibri" pitchFamily="34" charset="-122"/>
                <a:cs typeface="Calibri" pitchFamily="34" charset="-120"/>
              </a:rPr>
              <a:t>of synchronised audio, video</a:t>
            </a:r>
            <a:endParaRPr lang="en-US" sz="1150" dirty="0"/>
          </a:p>
          <a:p>
            <a:pPr algn="ctr" indent="0" marL="0">
              <a:buNone/>
            </a:pPr>
            <a:r>
              <a:rPr lang="en-US" sz="1150" dirty="0">
                <a:solidFill>
                  <a:srgbClr val="5C6675"/>
                </a:solidFill>
                <a:latin typeface="Calibri" pitchFamily="34" charset="0"/>
                <a:ea typeface="Calibri" pitchFamily="34" charset="-122"/>
                <a:cs typeface="Calibri" pitchFamily="34" charset="-120"/>
              </a:rPr>
              <a:t>and motion capture</a:t>
            </a:r>
            <a:endParaRPr lang="en-US" sz="1150" dirty="0"/>
          </a:p>
        </p:txBody>
      </p:sp>
      <p:sp>
        <p:nvSpPr>
          <p:cNvPr id="10" name="Text 8"/>
          <p:cNvSpPr txBox="1"/>
          <p:nvPr/>
        </p:nvSpPr>
        <p:spPr>
          <a:xfrm>
            <a:off x="3218688" y="1600200"/>
            <a:ext cx="2468880" cy="713232"/>
          </a:xfrm>
          <a:prstGeom prst="rect">
            <a:avLst/>
          </a:prstGeom>
          <a:noFill/>
          <a:ln/>
        </p:spPr>
        <p:txBody>
          <a:bodyPr wrap="square" lIns="0" tIns="0" rIns="0" bIns="0" rtlCol="0" anchor="ctr"/>
          <a:lstStyle/>
          <a:p>
            <a:pPr algn="ctr" indent="0" marL="0">
              <a:buNone/>
            </a:pPr>
            <a:r>
              <a:rPr lang="en-US" sz="4000" b="1" dirty="0">
                <a:solidFill>
                  <a:srgbClr val="E4572E"/>
                </a:solidFill>
                <a:latin typeface="Cambria" pitchFamily="34" charset="0"/>
                <a:ea typeface="Cambria" pitchFamily="34" charset="-122"/>
                <a:cs typeface="Cambria" pitchFamily="34" charset="-120"/>
              </a:rPr>
              <a:t>10,039</a:t>
            </a:r>
            <a:endParaRPr lang="en-US" sz="4000" dirty="0"/>
          </a:p>
        </p:txBody>
      </p:sp>
      <p:sp>
        <p:nvSpPr>
          <p:cNvPr id="11" name="Text 9"/>
          <p:cNvSpPr txBox="1"/>
          <p:nvPr/>
        </p:nvSpPr>
        <p:spPr>
          <a:xfrm>
            <a:off x="3218688" y="2313432"/>
            <a:ext cx="2468880" cy="548640"/>
          </a:xfrm>
          <a:prstGeom prst="rect">
            <a:avLst/>
          </a:prstGeom>
          <a:noFill/>
          <a:ln/>
        </p:spPr>
        <p:txBody>
          <a:bodyPr wrap="square" lIns="0" tIns="0" rIns="0" bIns="0" rtlCol="0" anchor="ctr"/>
          <a:lstStyle/>
          <a:p>
            <a:pPr algn="ctr" indent="0" marL="0">
              <a:buNone/>
            </a:pPr>
            <a:r>
              <a:rPr lang="en-US" sz="1150" dirty="0">
                <a:solidFill>
                  <a:srgbClr val="5C6675"/>
                </a:solidFill>
                <a:latin typeface="Calibri" pitchFamily="34" charset="0"/>
                <a:ea typeface="Calibri" pitchFamily="34" charset="-122"/>
                <a:cs typeface="Calibri" pitchFamily="34" charset="-120"/>
              </a:rPr>
              <a:t>dialogue turns, hand-segmented</a:t>
            </a:r>
            <a:endParaRPr lang="en-US" sz="1150" dirty="0"/>
          </a:p>
          <a:p>
            <a:pPr algn="ctr" indent="0" marL="0">
              <a:buNone/>
            </a:pPr>
            <a:r>
              <a:rPr lang="en-US" sz="1150" dirty="0">
                <a:solidFill>
                  <a:srgbClr val="5C6675"/>
                </a:solidFill>
                <a:latin typeface="Calibri" pitchFamily="34" charset="0"/>
                <a:ea typeface="Calibri" pitchFamily="34" charset="-122"/>
                <a:cs typeface="Calibri" pitchFamily="34" charset="-120"/>
              </a:rPr>
              <a:t>and professionally transcribed</a:t>
            </a:r>
            <a:endParaRPr lang="en-US" sz="1150" dirty="0"/>
          </a:p>
        </p:txBody>
      </p:sp>
      <p:sp>
        <p:nvSpPr>
          <p:cNvPr id="12" name="Text 10"/>
          <p:cNvSpPr txBox="1"/>
          <p:nvPr/>
        </p:nvSpPr>
        <p:spPr>
          <a:xfrm>
            <a:off x="5870448" y="1600200"/>
            <a:ext cx="2468880" cy="713232"/>
          </a:xfrm>
          <a:prstGeom prst="rect">
            <a:avLst/>
          </a:prstGeom>
          <a:noFill/>
          <a:ln/>
        </p:spPr>
        <p:txBody>
          <a:bodyPr wrap="square" lIns="0" tIns="0" rIns="0" bIns="0" rtlCol="0" anchor="ctr"/>
          <a:lstStyle/>
          <a:p>
            <a:pPr algn="ctr" indent="0" marL="0">
              <a:buNone/>
            </a:pPr>
            <a:r>
              <a:rPr lang="en-US" sz="4000" b="1" dirty="0">
                <a:solidFill>
                  <a:srgbClr val="E4572E"/>
                </a:solidFill>
                <a:latin typeface="Cambria" pitchFamily="34" charset="0"/>
                <a:ea typeface="Cambria" pitchFamily="34" charset="-122"/>
                <a:cs typeface="Cambria" pitchFamily="34" charset="-120"/>
              </a:rPr>
              <a:t>61</a:t>
            </a:r>
            <a:endParaRPr lang="en-US" sz="4000" dirty="0"/>
          </a:p>
        </p:txBody>
      </p:sp>
      <p:sp>
        <p:nvSpPr>
          <p:cNvPr id="13" name="Text 11"/>
          <p:cNvSpPr txBox="1"/>
          <p:nvPr/>
        </p:nvSpPr>
        <p:spPr>
          <a:xfrm>
            <a:off x="5870448" y="2313432"/>
            <a:ext cx="2468880" cy="548640"/>
          </a:xfrm>
          <a:prstGeom prst="rect">
            <a:avLst/>
          </a:prstGeom>
          <a:noFill/>
          <a:ln/>
        </p:spPr>
        <p:txBody>
          <a:bodyPr wrap="square" lIns="0" tIns="0" rIns="0" bIns="0" rtlCol="0" anchor="ctr"/>
          <a:lstStyle/>
          <a:p>
            <a:pPr algn="ctr" indent="0" marL="0">
              <a:buNone/>
            </a:pPr>
            <a:r>
              <a:rPr lang="en-US" sz="1150" dirty="0">
                <a:solidFill>
                  <a:srgbClr val="5C6675"/>
                </a:solidFill>
                <a:latin typeface="Calibri" pitchFamily="34" charset="0"/>
                <a:ea typeface="Calibri" pitchFamily="34" charset="-122"/>
                <a:cs typeface="Calibri" pitchFamily="34" charset="-120"/>
              </a:rPr>
              <a:t>reflective markers on face,</a:t>
            </a:r>
            <a:endParaRPr lang="en-US" sz="1150" dirty="0"/>
          </a:p>
          <a:p>
            <a:pPr algn="ctr" indent="0" marL="0">
              <a:buNone/>
            </a:pPr>
            <a:r>
              <a:rPr lang="en-US" sz="1150" dirty="0">
                <a:solidFill>
                  <a:srgbClr val="5C6675"/>
                </a:solidFill>
                <a:latin typeface="Calibri" pitchFamily="34" charset="0"/>
                <a:ea typeface="Calibri" pitchFamily="34" charset="-122"/>
                <a:cs typeface="Calibri" pitchFamily="34" charset="-120"/>
              </a:rPr>
              <a:t>head and hands</a:t>
            </a:r>
            <a:endParaRPr lang="en-US" sz="1150" dirty="0"/>
          </a:p>
        </p:txBody>
      </p:sp>
      <p:sp>
        <p:nvSpPr>
          <p:cNvPr id="14" name="Text 12"/>
          <p:cNvSpPr txBox="1"/>
          <p:nvPr/>
        </p:nvSpPr>
        <p:spPr>
          <a:xfrm>
            <a:off x="8522208" y="1600200"/>
            <a:ext cx="2468880" cy="713232"/>
          </a:xfrm>
          <a:prstGeom prst="rect">
            <a:avLst/>
          </a:prstGeom>
          <a:noFill/>
          <a:ln/>
        </p:spPr>
        <p:txBody>
          <a:bodyPr wrap="square" lIns="0" tIns="0" rIns="0" bIns="0" rtlCol="0" anchor="ctr"/>
          <a:lstStyle/>
          <a:p>
            <a:pPr algn="ctr" indent="0" marL="0">
              <a:buNone/>
            </a:pPr>
            <a:r>
              <a:rPr lang="en-US" sz="4000" b="1" dirty="0">
                <a:solidFill>
                  <a:srgbClr val="E4572E"/>
                </a:solidFill>
                <a:latin typeface="Cambria" pitchFamily="34" charset="0"/>
                <a:ea typeface="Cambria" pitchFamily="34" charset="-122"/>
                <a:cs typeface="Cambria" pitchFamily="34" charset="-120"/>
              </a:rPr>
              <a:t>3,000+</a:t>
            </a:r>
            <a:endParaRPr lang="en-US" sz="4000" dirty="0"/>
          </a:p>
        </p:txBody>
      </p:sp>
      <p:sp>
        <p:nvSpPr>
          <p:cNvPr id="15" name="Text 13"/>
          <p:cNvSpPr txBox="1"/>
          <p:nvPr/>
        </p:nvSpPr>
        <p:spPr>
          <a:xfrm>
            <a:off x="8522208" y="2313432"/>
            <a:ext cx="2468880" cy="548640"/>
          </a:xfrm>
          <a:prstGeom prst="rect">
            <a:avLst/>
          </a:prstGeom>
          <a:noFill/>
          <a:ln/>
        </p:spPr>
        <p:txBody>
          <a:bodyPr wrap="square" lIns="0" tIns="0" rIns="0" bIns="0" rtlCol="0" anchor="ctr"/>
          <a:lstStyle/>
          <a:p>
            <a:pPr algn="ctr" indent="0" marL="0">
              <a:buNone/>
            </a:pPr>
            <a:r>
              <a:rPr lang="en-US" sz="1150" dirty="0">
                <a:solidFill>
                  <a:srgbClr val="5C6675"/>
                </a:solidFill>
                <a:latin typeface="Calibri" pitchFamily="34" charset="0"/>
                <a:ea typeface="Calibri" pitchFamily="34" charset="-122"/>
                <a:cs typeface="Calibri" pitchFamily="34" charset="-120"/>
              </a:rPr>
              <a:t>citations — the most used</a:t>
            </a:r>
            <a:endParaRPr lang="en-US" sz="1150" dirty="0"/>
          </a:p>
          <a:p>
            <a:pPr algn="ctr" indent="0" marL="0">
              <a:buNone/>
            </a:pPr>
            <a:r>
              <a:rPr lang="en-US" sz="1150" dirty="0">
                <a:solidFill>
                  <a:srgbClr val="5C6675"/>
                </a:solidFill>
                <a:latin typeface="Calibri" pitchFamily="34" charset="0"/>
                <a:ea typeface="Calibri" pitchFamily="34" charset="-122"/>
                <a:cs typeface="Calibri" pitchFamily="34" charset="-120"/>
              </a:rPr>
              <a:t>multimodal emotion corpus</a:t>
            </a:r>
            <a:endParaRPr lang="en-US" sz="1150" dirty="0"/>
          </a:p>
        </p:txBody>
      </p:sp>
      <p:sp>
        <p:nvSpPr>
          <p:cNvPr id="16" name="Shape 14"/>
          <p:cNvSpPr/>
          <p:nvPr/>
        </p:nvSpPr>
        <p:spPr>
          <a:xfrm>
            <a:off x="566928" y="3310128"/>
            <a:ext cx="11064240" cy="1298448"/>
          </a:xfrm>
          <a:prstGeom prst="roundRect">
            <a:avLst>
              <a:gd name="adj" fmla="val 4225"/>
            </a:avLst>
          </a:prstGeom>
          <a:solidFill>
            <a:srgbClr val="F2F5F8"/>
          </a:solidFill>
          <a:ln w="12700">
            <a:solidFill>
              <a:srgbClr val="E1E7EE"/>
            </a:solidFill>
            <a:prstDash val="solid"/>
          </a:ln>
        </p:spPr>
      </p:sp>
      <p:sp>
        <p:nvSpPr>
          <p:cNvPr id="17" name="Shape 15"/>
          <p:cNvSpPr/>
          <p:nvPr/>
        </p:nvSpPr>
        <p:spPr>
          <a:xfrm>
            <a:off x="786384" y="3602736"/>
            <a:ext cx="109728" cy="109728"/>
          </a:xfrm>
          <a:prstGeom prst="ellipse">
            <a:avLst/>
          </a:prstGeom>
          <a:solidFill>
            <a:srgbClr val="E4572E"/>
          </a:solidFill>
          <a:ln w="12700">
            <a:solidFill>
              <a:srgbClr val="333333"/>
            </a:solidFill>
            <a:prstDash val="solid"/>
          </a:ln>
        </p:spPr>
      </p:sp>
      <p:sp>
        <p:nvSpPr>
          <p:cNvPr id="18" name="Text 16"/>
          <p:cNvSpPr txBox="1"/>
          <p:nvPr/>
        </p:nvSpPr>
        <p:spPr>
          <a:xfrm>
            <a:off x="987552" y="3474720"/>
            <a:ext cx="10424160" cy="36576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The claim the paper is making</a:t>
            </a:r>
            <a:endParaRPr lang="en-US" sz="1550" dirty="0"/>
          </a:p>
        </p:txBody>
      </p:sp>
      <p:sp>
        <p:nvSpPr>
          <p:cNvPr id="19" name="Text 17"/>
          <p:cNvSpPr txBox="1"/>
          <p:nvPr/>
        </p:nvSpPr>
        <p:spPr>
          <a:xfrm>
            <a:off x="822960" y="3913632"/>
            <a:ext cx="10552176" cy="512064"/>
          </a:xfrm>
          <a:prstGeom prst="rect">
            <a:avLst/>
          </a:prstGeom>
          <a:noFill/>
          <a:ln/>
        </p:spPr>
        <p:txBody>
          <a:bodyPr wrap="square" lIns="0" tIns="0" rIns="0" bIns="0" rtlCol="0" anchor="t"/>
          <a:lstStyle/>
          <a:p>
            <a:pPr indent="0" marL="0">
              <a:lnSpc>
                <a:spcPct val="108000"/>
              </a:lnSpc>
              <a:buNone/>
            </a:pPr>
            <a:r>
              <a:rPr lang="en-US" sz="1350" dirty="0">
                <a:solidFill>
                  <a:srgbClr val="3C4655"/>
                </a:solidFill>
                <a:latin typeface="Calibri" pitchFamily="34" charset="0"/>
                <a:ea typeface="Calibri" pitchFamily="34" charset="-122"/>
                <a:cs typeface="Calibri" pitchFamily="34" charset="-120"/>
              </a:rPr>
              <a:t>Emotion is carried jointly by speech and gesture, so a corpus that captures only one channel cannot support models of expressive human communication. The contribution is not an algorithm — it is a resource plus a defensible methodology for eliciting emotion that is neither exaggerated acting nor uncontrollable real-world recording.</a:t>
            </a:r>
            <a:endParaRPr lang="en-US" sz="1350" dirty="0"/>
          </a:p>
        </p:txBody>
      </p:sp>
      <p:sp>
        <p:nvSpPr>
          <p:cNvPr id="20" name="Shape 18"/>
          <p:cNvSpPr/>
          <p:nvPr/>
        </p:nvSpPr>
        <p:spPr>
          <a:xfrm>
            <a:off x="566928" y="4773168"/>
            <a:ext cx="11064240" cy="1234440"/>
          </a:xfrm>
          <a:prstGeom prst="roundRect">
            <a:avLst>
              <a:gd name="adj" fmla="val 4444"/>
            </a:avLst>
          </a:prstGeom>
          <a:solidFill>
            <a:srgbClr val="FBF1EC"/>
          </a:solidFill>
          <a:ln w="12700">
            <a:solidFill>
              <a:srgbClr val="F0D5C7"/>
            </a:solidFill>
            <a:prstDash val="solid"/>
          </a:ln>
        </p:spPr>
      </p:sp>
      <p:sp>
        <p:nvSpPr>
          <p:cNvPr id="21" name="Shape 19"/>
          <p:cNvSpPr/>
          <p:nvPr/>
        </p:nvSpPr>
        <p:spPr>
          <a:xfrm>
            <a:off x="786384" y="5065776"/>
            <a:ext cx="109728" cy="109728"/>
          </a:xfrm>
          <a:prstGeom prst="ellipse">
            <a:avLst/>
          </a:prstGeom>
          <a:solidFill>
            <a:srgbClr val="E4572E"/>
          </a:solidFill>
          <a:ln w="12700">
            <a:solidFill>
              <a:srgbClr val="333333"/>
            </a:solidFill>
            <a:prstDash val="solid"/>
          </a:ln>
        </p:spPr>
      </p:sp>
      <p:sp>
        <p:nvSpPr>
          <p:cNvPr id="22" name="Text 20"/>
          <p:cNvSpPr txBox="1"/>
          <p:nvPr/>
        </p:nvSpPr>
        <p:spPr>
          <a:xfrm>
            <a:off x="987552" y="4937760"/>
            <a:ext cx="10424160" cy="36576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Why it still matters to us</a:t>
            </a:r>
            <a:endParaRPr lang="en-US" sz="1550" dirty="0"/>
          </a:p>
        </p:txBody>
      </p:sp>
      <p:sp>
        <p:nvSpPr>
          <p:cNvPr id="23" name="Text 21"/>
          <p:cNvSpPr txBox="1"/>
          <p:nvPr/>
        </p:nvSpPr>
        <p:spPr>
          <a:xfrm>
            <a:off x="822960" y="5376672"/>
            <a:ext cx="10552176" cy="448056"/>
          </a:xfrm>
          <a:prstGeom prst="rect">
            <a:avLst/>
          </a:prstGeom>
          <a:noFill/>
          <a:ln/>
        </p:spPr>
        <p:txBody>
          <a:bodyPr wrap="square" lIns="0" tIns="0" rIns="0" bIns="0" rtlCol="0" anchor="t"/>
          <a:lstStyle/>
          <a:p>
            <a:pPr indent="0" marL="0">
              <a:lnSpc>
                <a:spcPct val="108000"/>
              </a:lnSpc>
              <a:buNone/>
            </a:pPr>
            <a:r>
              <a:rPr lang="en-US" sz="1350" dirty="0">
                <a:solidFill>
                  <a:srgbClr val="3C4655"/>
                </a:solidFill>
                <a:latin typeface="Calibri" pitchFamily="34" charset="0"/>
                <a:ea typeface="Calibri" pitchFamily="34" charset="-122"/>
                <a:cs typeface="Calibri" pitchFamily="34" charset="-120"/>
              </a:rPr>
              <a:t>Almost every speech-emotion result you will read this year — including results from large self-supervised speech models — is reported on IEMOCAP. If you do not understand how these labels were produced, you cannot interpret those numbers.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10607040" y="5120640"/>
            <a:ext cx="118872" cy="118872"/>
          </a:xfrm>
          <a:prstGeom prst="ellipse">
            <a:avLst/>
          </a:prstGeom>
          <a:solidFill>
            <a:srgbClr val="E4572E"/>
          </a:solidFill>
          <a:ln w="12700">
            <a:solidFill>
              <a:srgbClr val="E4572E"/>
            </a:solidFill>
            <a:prstDash val="solid"/>
          </a:ln>
        </p:spPr>
      </p:sp>
      <p:sp>
        <p:nvSpPr>
          <p:cNvPr id="3" name="Shape 1"/>
          <p:cNvSpPr/>
          <p:nvPr/>
        </p:nvSpPr>
        <p:spPr>
          <a:xfrm>
            <a:off x="10917936" y="5239512"/>
            <a:ext cx="118872" cy="118872"/>
          </a:xfrm>
          <a:prstGeom prst="ellipse">
            <a:avLst/>
          </a:prstGeom>
          <a:solidFill>
            <a:srgbClr val="E4572E"/>
          </a:solidFill>
          <a:ln w="12700">
            <a:solidFill>
              <a:srgbClr val="E4572E"/>
            </a:solidFill>
            <a:prstDash val="solid"/>
          </a:ln>
        </p:spPr>
      </p:sp>
      <p:sp>
        <p:nvSpPr>
          <p:cNvPr id="4" name="Shape 2"/>
          <p:cNvSpPr/>
          <p:nvPr/>
        </p:nvSpPr>
        <p:spPr>
          <a:xfrm>
            <a:off x="10735056" y="5486400"/>
            <a:ext cx="118872" cy="118872"/>
          </a:xfrm>
          <a:prstGeom prst="ellipse">
            <a:avLst/>
          </a:prstGeom>
          <a:solidFill>
            <a:srgbClr val="E4572E"/>
          </a:solidFill>
          <a:ln w="12700">
            <a:solidFill>
              <a:srgbClr val="E4572E"/>
            </a:solidFill>
            <a:prstDash val="solid"/>
          </a:ln>
        </p:spPr>
      </p:sp>
      <p:sp>
        <p:nvSpPr>
          <p:cNvPr id="5" name="Shape 3"/>
          <p:cNvSpPr/>
          <p:nvPr/>
        </p:nvSpPr>
        <p:spPr>
          <a:xfrm>
            <a:off x="11064240" y="5522976"/>
            <a:ext cx="118872" cy="118872"/>
          </a:xfrm>
          <a:prstGeom prst="ellipse">
            <a:avLst/>
          </a:prstGeom>
          <a:solidFill>
            <a:srgbClr val="E4572E"/>
          </a:solidFill>
          <a:ln w="12700">
            <a:solidFill>
              <a:srgbClr val="E4572E"/>
            </a:solidFill>
            <a:prstDash val="solid"/>
          </a:ln>
        </p:spPr>
      </p:sp>
      <p:sp>
        <p:nvSpPr>
          <p:cNvPr id="6" name="Shape 4"/>
          <p:cNvSpPr/>
          <p:nvPr/>
        </p:nvSpPr>
        <p:spPr>
          <a:xfrm>
            <a:off x="11173968" y="5212080"/>
            <a:ext cx="118872" cy="118872"/>
          </a:xfrm>
          <a:prstGeom prst="ellipse">
            <a:avLst/>
          </a:prstGeom>
          <a:solidFill>
            <a:srgbClr val="E4572E"/>
          </a:solidFill>
          <a:ln w="12700">
            <a:solidFill>
              <a:srgbClr val="E4572E"/>
            </a:solidFill>
            <a:prstDash val="solid"/>
          </a:ln>
        </p:spPr>
      </p:sp>
      <p:sp>
        <p:nvSpPr>
          <p:cNvPr id="7" name="Text 5"/>
          <p:cNvSpPr txBox="1"/>
          <p:nvPr/>
        </p:nvSpPr>
        <p:spPr>
          <a:xfrm>
            <a:off x="822960" y="2057400"/>
            <a:ext cx="1463040" cy="1005840"/>
          </a:xfrm>
          <a:prstGeom prst="rect">
            <a:avLst/>
          </a:prstGeom>
          <a:noFill/>
          <a:ln/>
        </p:spPr>
        <p:txBody>
          <a:bodyPr wrap="square" lIns="0" tIns="0" rIns="0" bIns="0" rtlCol="0" anchor="ctr"/>
          <a:lstStyle/>
          <a:p>
            <a:pPr indent="0" marL="0">
              <a:buNone/>
            </a:pPr>
            <a:r>
              <a:rPr lang="en-US" sz="6800" b="1" dirty="0">
                <a:solidFill>
                  <a:srgbClr val="E4572E"/>
                </a:solidFill>
                <a:latin typeface="Cambria" pitchFamily="34" charset="0"/>
                <a:ea typeface="Cambria" pitchFamily="34" charset="-122"/>
                <a:cs typeface="Cambria" pitchFamily="34" charset="-120"/>
              </a:rPr>
              <a:t>1</a:t>
            </a:r>
            <a:endParaRPr lang="en-US" sz="6800" dirty="0"/>
          </a:p>
        </p:txBody>
      </p:sp>
      <p:sp>
        <p:nvSpPr>
          <p:cNvPr id="8" name="Text 6"/>
          <p:cNvSpPr txBox="1"/>
          <p:nvPr/>
        </p:nvSpPr>
        <p:spPr>
          <a:xfrm>
            <a:off x="2286000" y="2212848"/>
            <a:ext cx="87782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Motivation and the 2008 landscape</a:t>
            </a:r>
            <a:endParaRPr lang="en-US" sz="3400" dirty="0"/>
          </a:p>
        </p:txBody>
      </p:sp>
      <p:sp>
        <p:nvSpPr>
          <p:cNvPr id="9" name="Text 7"/>
          <p:cNvSpPr txBox="1"/>
          <p:nvPr/>
        </p:nvSpPr>
        <p:spPr>
          <a:xfrm>
            <a:off x="2340864" y="3072384"/>
            <a:ext cx="8595360" cy="731520"/>
          </a:xfrm>
          <a:prstGeom prst="rect">
            <a:avLst/>
          </a:prstGeom>
          <a:noFill/>
          <a:ln/>
        </p:spPr>
        <p:txBody>
          <a:bodyPr wrap="square" lIns="0" tIns="0" rIns="0" bIns="0" rtlCol="0" anchor="ctr"/>
          <a:lstStyle/>
          <a:p>
            <a:pPr indent="0" marL="0">
              <a:buNone/>
            </a:pPr>
            <a:r>
              <a:rPr lang="en-US" sz="1500" dirty="0">
                <a:solidFill>
                  <a:srgbClr val="C9D6E3"/>
                </a:solidFill>
                <a:latin typeface="Calibri" pitchFamily="34" charset="0"/>
                <a:ea typeface="Calibri" pitchFamily="34" charset="-122"/>
                <a:cs typeface="Calibri" pitchFamily="34" charset="-120"/>
              </a:rPr>
              <a:t>Why the authors concluded that no existing corpus would do</a:t>
            </a:r>
            <a:endParaRPr lang="en-US" sz="1500" dirty="0"/>
          </a:p>
        </p:txBody>
      </p:sp>
      <p:sp>
        <p:nvSpPr>
          <p:cNvPr id="10" name="Text 8"/>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The problem, as the authors framed it</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Following Douglas-Cowie et al. (2003), a corpus is judged on four axes</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5</a:t>
            </a:r>
            <a:endParaRPr lang="en-US" sz="900" dirty="0"/>
          </a:p>
        </p:txBody>
      </p:sp>
      <p:sp>
        <p:nvSpPr>
          <p:cNvPr id="8" name="Shape 6"/>
          <p:cNvSpPr/>
          <p:nvPr/>
        </p:nvSpPr>
        <p:spPr>
          <a:xfrm>
            <a:off x="566928" y="1554480"/>
            <a:ext cx="2697480" cy="2788920"/>
          </a:xfrm>
          <a:prstGeom prst="roundRect">
            <a:avLst>
              <a:gd name="adj" fmla="val 2034"/>
            </a:avLst>
          </a:prstGeom>
          <a:solidFill>
            <a:srgbClr val="F2F5F8"/>
          </a:solidFill>
          <a:ln w="12700">
            <a:solidFill>
              <a:srgbClr val="E1E7EE"/>
            </a:solidFill>
            <a:prstDash val="solid"/>
          </a:ln>
        </p:spPr>
      </p:sp>
      <p:sp>
        <p:nvSpPr>
          <p:cNvPr id="9" name="Shape 7"/>
          <p:cNvSpPr/>
          <p:nvPr/>
        </p:nvSpPr>
        <p:spPr>
          <a:xfrm>
            <a:off x="786384" y="1847088"/>
            <a:ext cx="109728" cy="109728"/>
          </a:xfrm>
          <a:prstGeom prst="ellipse">
            <a:avLst/>
          </a:prstGeom>
          <a:solidFill>
            <a:srgbClr val="E4572E"/>
          </a:solidFill>
          <a:ln w="12700">
            <a:solidFill>
              <a:srgbClr val="333333"/>
            </a:solidFill>
            <a:prstDash val="solid"/>
          </a:ln>
        </p:spPr>
      </p:sp>
      <p:sp>
        <p:nvSpPr>
          <p:cNvPr id="10" name="Text 8"/>
          <p:cNvSpPr txBox="1"/>
          <p:nvPr/>
        </p:nvSpPr>
        <p:spPr>
          <a:xfrm>
            <a:off x="987552" y="1719072"/>
            <a:ext cx="2057400" cy="365760"/>
          </a:xfrm>
          <a:prstGeom prst="rect">
            <a:avLst/>
          </a:prstGeom>
          <a:noFill/>
          <a:ln/>
        </p:spPr>
        <p:txBody>
          <a:bodyPr wrap="square" lIns="0" tIns="0" rIns="0" bIns="0" rtlCol="0" anchor="ctr"/>
          <a:lstStyle/>
          <a:p>
            <a:pPr indent="0" marL="0">
              <a:buNone/>
            </a:pPr>
            <a:r>
              <a:rPr lang="en-US" sz="1700" b="1" dirty="0">
                <a:solidFill>
                  <a:srgbClr val="16213A"/>
                </a:solidFill>
                <a:latin typeface="Cambria" pitchFamily="34" charset="0"/>
                <a:ea typeface="Cambria" pitchFamily="34" charset="-122"/>
                <a:cs typeface="Cambria" pitchFamily="34" charset="-120"/>
              </a:rPr>
              <a:t>Scope</a:t>
            </a:r>
            <a:endParaRPr lang="en-US" sz="1700" dirty="0"/>
          </a:p>
        </p:txBody>
      </p:sp>
      <p:sp>
        <p:nvSpPr>
          <p:cNvPr id="11" name="Text 9"/>
          <p:cNvSpPr txBox="1"/>
          <p:nvPr/>
        </p:nvSpPr>
        <p:spPr>
          <a:xfrm>
            <a:off x="822960" y="2157984"/>
            <a:ext cx="2185416" cy="2002536"/>
          </a:xfrm>
          <a:prstGeom prst="rect">
            <a:avLst/>
          </a:prstGeom>
          <a:noFill/>
          <a:ln/>
        </p:spPr>
        <p:txBody>
          <a:bodyPr wrap="square" lIns="0" tIns="0" rIns="0" bIns="0" rtlCol="0" anchor="t"/>
          <a:lstStyle/>
          <a:p>
            <a:pPr indent="0" marL="0">
              <a:lnSpc>
                <a:spcPct val="108000"/>
              </a:lnSpc>
              <a:buNone/>
            </a:pPr>
            <a:r>
              <a:rPr lang="en-US" sz="1200" dirty="0">
                <a:solidFill>
                  <a:srgbClr val="3C4655"/>
                </a:solidFill>
                <a:latin typeface="Calibri" pitchFamily="34" charset="0"/>
                <a:ea typeface="Calibri" pitchFamily="34" charset="-122"/>
                <a:cs typeface="Calibri" pitchFamily="34" charset="-120"/>
              </a:rPr>
              <a:t>How many speakers, which emotions, which language, how much data?</a:t>
            </a:r>
            <a:endParaRPr lang="en-US" sz="1200" dirty="0"/>
          </a:p>
          <a:p>
            <a:pPr indent="0" marL="0">
              <a:lnSpc>
                <a:spcPct val="108000"/>
              </a:lnSpc>
              <a:buNone/>
            </a:pPr>
            <a:endParaRPr lang="en-US" sz="1200" dirty="0"/>
          </a:p>
          <a:p>
            <a:pPr indent="0" marL="0">
              <a:lnSpc>
                <a:spcPct val="108000"/>
              </a:lnSpc>
              <a:buNone/>
            </a:pPr>
            <a:r>
              <a:rPr lang="en-US" sz="1200" dirty="0">
                <a:solidFill>
                  <a:srgbClr val="3C4655"/>
                </a:solidFill>
                <a:latin typeface="Calibri" pitchFamily="34" charset="0"/>
                <a:ea typeface="Calibri" pitchFamily="34" charset="-122"/>
                <a:cs typeface="Calibri" pitchFamily="34" charset="-120"/>
              </a:rPr>
              <a:t>Most corpora: a handful of speakers, a few hundred utterances.</a:t>
            </a:r>
            <a:endParaRPr lang="en-US" sz="1200" dirty="0"/>
          </a:p>
        </p:txBody>
      </p:sp>
      <p:sp>
        <p:nvSpPr>
          <p:cNvPr id="12" name="Shape 10"/>
          <p:cNvSpPr/>
          <p:nvPr/>
        </p:nvSpPr>
        <p:spPr>
          <a:xfrm>
            <a:off x="3392424" y="1554480"/>
            <a:ext cx="2697480" cy="2788920"/>
          </a:xfrm>
          <a:prstGeom prst="roundRect">
            <a:avLst>
              <a:gd name="adj" fmla="val 2034"/>
            </a:avLst>
          </a:prstGeom>
          <a:solidFill>
            <a:srgbClr val="F2F5F8"/>
          </a:solidFill>
          <a:ln w="12700">
            <a:solidFill>
              <a:srgbClr val="E1E7EE"/>
            </a:solidFill>
            <a:prstDash val="solid"/>
          </a:ln>
        </p:spPr>
      </p:sp>
      <p:sp>
        <p:nvSpPr>
          <p:cNvPr id="13" name="Shape 11"/>
          <p:cNvSpPr/>
          <p:nvPr/>
        </p:nvSpPr>
        <p:spPr>
          <a:xfrm>
            <a:off x="3611880" y="1847088"/>
            <a:ext cx="109728" cy="109728"/>
          </a:xfrm>
          <a:prstGeom prst="ellipse">
            <a:avLst/>
          </a:prstGeom>
          <a:solidFill>
            <a:srgbClr val="E4572E"/>
          </a:solidFill>
          <a:ln w="12700">
            <a:solidFill>
              <a:srgbClr val="333333"/>
            </a:solidFill>
            <a:prstDash val="solid"/>
          </a:ln>
        </p:spPr>
      </p:sp>
      <p:sp>
        <p:nvSpPr>
          <p:cNvPr id="14" name="Text 12"/>
          <p:cNvSpPr txBox="1"/>
          <p:nvPr/>
        </p:nvSpPr>
        <p:spPr>
          <a:xfrm>
            <a:off x="3813048" y="1719072"/>
            <a:ext cx="2057400" cy="365760"/>
          </a:xfrm>
          <a:prstGeom prst="rect">
            <a:avLst/>
          </a:prstGeom>
          <a:noFill/>
          <a:ln/>
        </p:spPr>
        <p:txBody>
          <a:bodyPr wrap="square" lIns="0" tIns="0" rIns="0" bIns="0" rtlCol="0" anchor="ctr"/>
          <a:lstStyle/>
          <a:p>
            <a:pPr indent="0" marL="0">
              <a:buNone/>
            </a:pPr>
            <a:r>
              <a:rPr lang="en-US" sz="1700" b="1" dirty="0">
                <a:solidFill>
                  <a:srgbClr val="16213A"/>
                </a:solidFill>
                <a:latin typeface="Cambria" pitchFamily="34" charset="0"/>
                <a:ea typeface="Cambria" pitchFamily="34" charset="-122"/>
                <a:cs typeface="Cambria" pitchFamily="34" charset="-120"/>
              </a:rPr>
              <a:t>Naturalness</a:t>
            </a:r>
            <a:endParaRPr lang="en-US" sz="1700" dirty="0"/>
          </a:p>
        </p:txBody>
      </p:sp>
      <p:sp>
        <p:nvSpPr>
          <p:cNvPr id="15" name="Text 13"/>
          <p:cNvSpPr txBox="1"/>
          <p:nvPr/>
        </p:nvSpPr>
        <p:spPr>
          <a:xfrm>
            <a:off x="3648456" y="2157984"/>
            <a:ext cx="2185416" cy="2002536"/>
          </a:xfrm>
          <a:prstGeom prst="rect">
            <a:avLst/>
          </a:prstGeom>
          <a:noFill/>
          <a:ln/>
        </p:spPr>
        <p:txBody>
          <a:bodyPr wrap="square" lIns="0" tIns="0" rIns="0" bIns="0" rtlCol="0" anchor="t"/>
          <a:lstStyle/>
          <a:p>
            <a:pPr indent="0" marL="0">
              <a:lnSpc>
                <a:spcPct val="108000"/>
              </a:lnSpc>
              <a:buNone/>
            </a:pPr>
            <a:r>
              <a:rPr lang="en-US" sz="1200" dirty="0">
                <a:solidFill>
                  <a:srgbClr val="3C4655"/>
                </a:solidFill>
                <a:latin typeface="Calibri" pitchFamily="34" charset="0"/>
                <a:ea typeface="Calibri" pitchFamily="34" charset="-122"/>
                <a:cs typeface="Calibri" pitchFamily="34" charset="-120"/>
              </a:rPr>
              <a:t>Acted portrayal versus genuinely felt emotion.</a:t>
            </a:r>
            <a:endParaRPr lang="en-US" sz="1200" dirty="0"/>
          </a:p>
          <a:p>
            <a:pPr indent="0" marL="0">
              <a:lnSpc>
                <a:spcPct val="108000"/>
              </a:lnSpc>
              <a:buNone/>
            </a:pPr>
            <a:endParaRPr lang="en-US" sz="1200" dirty="0"/>
          </a:p>
          <a:p>
            <a:pPr indent="0" marL="0">
              <a:lnSpc>
                <a:spcPct val="108000"/>
              </a:lnSpc>
              <a:buNone/>
            </a:pPr>
            <a:r>
              <a:rPr lang="en-US" sz="1200" dirty="0">
                <a:solidFill>
                  <a:srgbClr val="3C4655"/>
                </a:solidFill>
                <a:latin typeface="Calibri" pitchFamily="34" charset="0"/>
                <a:ea typeface="Calibri" pitchFamily="34" charset="-122"/>
                <a:cs typeface="Calibri" pitchFamily="34" charset="-120"/>
              </a:rPr>
              <a:t>Most corpora: actors told to 'be angry', producing caricature.</a:t>
            </a:r>
            <a:endParaRPr lang="en-US" sz="1200" dirty="0"/>
          </a:p>
        </p:txBody>
      </p:sp>
      <p:sp>
        <p:nvSpPr>
          <p:cNvPr id="16" name="Shape 14"/>
          <p:cNvSpPr/>
          <p:nvPr/>
        </p:nvSpPr>
        <p:spPr>
          <a:xfrm>
            <a:off x="6217920" y="1554480"/>
            <a:ext cx="2697480" cy="2788920"/>
          </a:xfrm>
          <a:prstGeom prst="roundRect">
            <a:avLst>
              <a:gd name="adj" fmla="val 2034"/>
            </a:avLst>
          </a:prstGeom>
          <a:solidFill>
            <a:srgbClr val="F2F5F8"/>
          </a:solidFill>
          <a:ln w="12700">
            <a:solidFill>
              <a:srgbClr val="E1E7EE"/>
            </a:solidFill>
            <a:prstDash val="solid"/>
          </a:ln>
        </p:spPr>
      </p:sp>
      <p:sp>
        <p:nvSpPr>
          <p:cNvPr id="17" name="Shape 15"/>
          <p:cNvSpPr/>
          <p:nvPr/>
        </p:nvSpPr>
        <p:spPr>
          <a:xfrm>
            <a:off x="6437376" y="1847088"/>
            <a:ext cx="109728" cy="109728"/>
          </a:xfrm>
          <a:prstGeom prst="ellipse">
            <a:avLst/>
          </a:prstGeom>
          <a:solidFill>
            <a:srgbClr val="E4572E"/>
          </a:solidFill>
          <a:ln w="12700">
            <a:solidFill>
              <a:srgbClr val="333333"/>
            </a:solidFill>
            <a:prstDash val="solid"/>
          </a:ln>
        </p:spPr>
      </p:sp>
      <p:sp>
        <p:nvSpPr>
          <p:cNvPr id="18" name="Text 16"/>
          <p:cNvSpPr txBox="1"/>
          <p:nvPr/>
        </p:nvSpPr>
        <p:spPr>
          <a:xfrm>
            <a:off x="6638544" y="1719072"/>
            <a:ext cx="2057400" cy="365760"/>
          </a:xfrm>
          <a:prstGeom prst="rect">
            <a:avLst/>
          </a:prstGeom>
          <a:noFill/>
          <a:ln/>
        </p:spPr>
        <p:txBody>
          <a:bodyPr wrap="square" lIns="0" tIns="0" rIns="0" bIns="0" rtlCol="0" anchor="ctr"/>
          <a:lstStyle/>
          <a:p>
            <a:pPr indent="0" marL="0">
              <a:buNone/>
            </a:pPr>
            <a:r>
              <a:rPr lang="en-US" sz="1700" b="1" dirty="0">
                <a:solidFill>
                  <a:srgbClr val="16213A"/>
                </a:solidFill>
                <a:latin typeface="Cambria" pitchFamily="34" charset="0"/>
                <a:ea typeface="Cambria" pitchFamily="34" charset="-122"/>
                <a:cs typeface="Cambria" pitchFamily="34" charset="-120"/>
              </a:rPr>
              <a:t>Context</a:t>
            </a:r>
            <a:endParaRPr lang="en-US" sz="1700" dirty="0"/>
          </a:p>
        </p:txBody>
      </p:sp>
      <p:sp>
        <p:nvSpPr>
          <p:cNvPr id="19" name="Text 17"/>
          <p:cNvSpPr txBox="1"/>
          <p:nvPr/>
        </p:nvSpPr>
        <p:spPr>
          <a:xfrm>
            <a:off x="6473952" y="2157984"/>
            <a:ext cx="2185416" cy="2002536"/>
          </a:xfrm>
          <a:prstGeom prst="rect">
            <a:avLst/>
          </a:prstGeom>
          <a:noFill/>
          <a:ln/>
        </p:spPr>
        <p:txBody>
          <a:bodyPr wrap="square" lIns="0" tIns="0" rIns="0" bIns="0" rtlCol="0" anchor="t"/>
          <a:lstStyle/>
          <a:p>
            <a:pPr indent="0" marL="0">
              <a:lnSpc>
                <a:spcPct val="108000"/>
              </a:lnSpc>
              <a:buNone/>
            </a:pPr>
            <a:r>
              <a:rPr lang="en-US" sz="1200" dirty="0">
                <a:solidFill>
                  <a:srgbClr val="3C4655"/>
                </a:solidFill>
                <a:latin typeface="Calibri" pitchFamily="34" charset="0"/>
                <a:ea typeface="Calibri" pitchFamily="34" charset="-122"/>
                <a:cs typeface="Calibri" pitchFamily="34" charset="-120"/>
              </a:rPr>
              <a:t>Isolated sentences versus emotion unfolding in discourse.</a:t>
            </a:r>
            <a:endParaRPr lang="en-US" sz="1200" dirty="0"/>
          </a:p>
          <a:p>
            <a:pPr indent="0" marL="0">
              <a:lnSpc>
                <a:spcPct val="108000"/>
              </a:lnSpc>
              <a:buNone/>
            </a:pPr>
            <a:endParaRPr lang="en-US" sz="1200" dirty="0"/>
          </a:p>
          <a:p>
            <a:pPr indent="0" marL="0">
              <a:lnSpc>
                <a:spcPct val="108000"/>
              </a:lnSpc>
              <a:buNone/>
            </a:pPr>
            <a:r>
              <a:rPr lang="en-US" sz="1200" dirty="0">
                <a:solidFill>
                  <a:srgbClr val="3C4655"/>
                </a:solidFill>
                <a:latin typeface="Calibri" pitchFamily="34" charset="0"/>
                <a:ea typeface="Calibri" pitchFamily="34" charset="-122"/>
                <a:cs typeface="Calibri" pitchFamily="34" charset="-120"/>
              </a:rPr>
              <a:t>Most corpora: read sentences with no interlocutor and no history.</a:t>
            </a:r>
            <a:endParaRPr lang="en-US" sz="1200" dirty="0"/>
          </a:p>
        </p:txBody>
      </p:sp>
      <p:sp>
        <p:nvSpPr>
          <p:cNvPr id="20" name="Shape 18"/>
          <p:cNvSpPr/>
          <p:nvPr/>
        </p:nvSpPr>
        <p:spPr>
          <a:xfrm>
            <a:off x="9043416" y="1554480"/>
            <a:ext cx="2697480" cy="2788920"/>
          </a:xfrm>
          <a:prstGeom prst="roundRect">
            <a:avLst>
              <a:gd name="adj" fmla="val 2034"/>
            </a:avLst>
          </a:prstGeom>
          <a:solidFill>
            <a:srgbClr val="F2F5F8"/>
          </a:solidFill>
          <a:ln w="12700">
            <a:solidFill>
              <a:srgbClr val="E1E7EE"/>
            </a:solidFill>
            <a:prstDash val="solid"/>
          </a:ln>
        </p:spPr>
      </p:sp>
      <p:sp>
        <p:nvSpPr>
          <p:cNvPr id="21" name="Shape 19"/>
          <p:cNvSpPr/>
          <p:nvPr/>
        </p:nvSpPr>
        <p:spPr>
          <a:xfrm>
            <a:off x="9262872" y="1847088"/>
            <a:ext cx="109728" cy="109728"/>
          </a:xfrm>
          <a:prstGeom prst="ellipse">
            <a:avLst/>
          </a:prstGeom>
          <a:solidFill>
            <a:srgbClr val="E4572E"/>
          </a:solidFill>
          <a:ln w="12700">
            <a:solidFill>
              <a:srgbClr val="333333"/>
            </a:solidFill>
            <a:prstDash val="solid"/>
          </a:ln>
        </p:spPr>
      </p:sp>
      <p:sp>
        <p:nvSpPr>
          <p:cNvPr id="22" name="Text 20"/>
          <p:cNvSpPr txBox="1"/>
          <p:nvPr/>
        </p:nvSpPr>
        <p:spPr>
          <a:xfrm>
            <a:off x="9464040" y="1719072"/>
            <a:ext cx="2057400" cy="365760"/>
          </a:xfrm>
          <a:prstGeom prst="rect">
            <a:avLst/>
          </a:prstGeom>
          <a:noFill/>
          <a:ln/>
        </p:spPr>
        <p:txBody>
          <a:bodyPr wrap="square" lIns="0" tIns="0" rIns="0" bIns="0" rtlCol="0" anchor="ctr"/>
          <a:lstStyle/>
          <a:p>
            <a:pPr indent="0" marL="0">
              <a:buNone/>
            </a:pPr>
            <a:r>
              <a:rPr lang="en-US" sz="1700" b="1" dirty="0">
                <a:solidFill>
                  <a:srgbClr val="16213A"/>
                </a:solidFill>
                <a:latin typeface="Cambria" pitchFamily="34" charset="0"/>
                <a:ea typeface="Cambria" pitchFamily="34" charset="-122"/>
                <a:cs typeface="Cambria" pitchFamily="34" charset="-120"/>
              </a:rPr>
              <a:t>Descriptors</a:t>
            </a:r>
            <a:endParaRPr lang="en-US" sz="1700" dirty="0"/>
          </a:p>
        </p:txBody>
      </p:sp>
      <p:sp>
        <p:nvSpPr>
          <p:cNvPr id="23" name="Text 21"/>
          <p:cNvSpPr txBox="1"/>
          <p:nvPr/>
        </p:nvSpPr>
        <p:spPr>
          <a:xfrm>
            <a:off x="9299448" y="2157984"/>
            <a:ext cx="2185416" cy="2002536"/>
          </a:xfrm>
          <a:prstGeom prst="rect">
            <a:avLst/>
          </a:prstGeom>
          <a:noFill/>
          <a:ln/>
        </p:spPr>
        <p:txBody>
          <a:bodyPr wrap="square" lIns="0" tIns="0" rIns="0" bIns="0" rtlCol="0" anchor="t"/>
          <a:lstStyle/>
          <a:p>
            <a:pPr indent="0" marL="0">
              <a:lnSpc>
                <a:spcPct val="108000"/>
              </a:lnSpc>
              <a:buNone/>
            </a:pPr>
            <a:r>
              <a:rPr lang="en-US" sz="1200" dirty="0">
                <a:solidFill>
                  <a:srgbClr val="3C4655"/>
                </a:solidFill>
                <a:latin typeface="Calibri" pitchFamily="34" charset="0"/>
                <a:ea typeface="Calibri" pitchFamily="34" charset="-122"/>
                <a:cs typeface="Calibri" pitchFamily="34" charset="-120"/>
              </a:rPr>
              <a:t>How rich and how reliable is the emotional annotation?</a:t>
            </a:r>
            <a:endParaRPr lang="en-US" sz="1200" dirty="0"/>
          </a:p>
          <a:p>
            <a:pPr indent="0" marL="0">
              <a:lnSpc>
                <a:spcPct val="108000"/>
              </a:lnSpc>
              <a:buNone/>
            </a:pPr>
            <a:endParaRPr lang="en-US" sz="1200" dirty="0"/>
          </a:p>
          <a:p>
            <a:pPr indent="0" marL="0">
              <a:lnSpc>
                <a:spcPct val="108000"/>
              </a:lnSpc>
              <a:buNone/>
            </a:pPr>
            <a:r>
              <a:rPr lang="en-US" sz="1200" dirty="0">
                <a:solidFill>
                  <a:srgbClr val="3C4655"/>
                </a:solidFill>
                <a:latin typeface="Calibri" pitchFamily="34" charset="0"/>
                <a:ea typeface="Calibri" pitchFamily="34" charset="-122"/>
                <a:cs typeface="Calibri" pitchFamily="34" charset="-120"/>
              </a:rPr>
              <a:t>Most corpora: the intended emotion used directly as the label.</a:t>
            </a:r>
            <a:endParaRPr lang="en-US" sz="1200" dirty="0"/>
          </a:p>
        </p:txBody>
      </p:sp>
      <p:sp>
        <p:nvSpPr>
          <p:cNvPr id="24" name="Shape 22"/>
          <p:cNvSpPr/>
          <p:nvPr/>
        </p:nvSpPr>
        <p:spPr>
          <a:xfrm>
            <a:off x="566928" y="4572000"/>
            <a:ext cx="11064240" cy="1417320"/>
          </a:xfrm>
          <a:prstGeom prst="roundRect">
            <a:avLst>
              <a:gd name="adj" fmla="val 3871"/>
            </a:avLst>
          </a:prstGeom>
          <a:solidFill>
            <a:srgbClr val="1B2A4A"/>
          </a:solidFill>
          <a:ln w="12700">
            <a:solidFill>
              <a:srgbClr val="1B2A4A"/>
            </a:solidFill>
            <a:prstDash val="solid"/>
          </a:ln>
        </p:spPr>
      </p:sp>
      <p:sp>
        <p:nvSpPr>
          <p:cNvPr id="25" name="Shape 23"/>
          <p:cNvSpPr/>
          <p:nvPr/>
        </p:nvSpPr>
        <p:spPr>
          <a:xfrm>
            <a:off x="786384" y="4864608"/>
            <a:ext cx="109728" cy="109728"/>
          </a:xfrm>
          <a:prstGeom prst="ellipse">
            <a:avLst/>
          </a:prstGeom>
          <a:solidFill>
            <a:srgbClr val="E4572E"/>
          </a:solidFill>
          <a:ln w="12700">
            <a:solidFill>
              <a:srgbClr val="333333"/>
            </a:solidFill>
            <a:prstDash val="solid"/>
          </a:ln>
        </p:spPr>
      </p:sp>
      <p:sp>
        <p:nvSpPr>
          <p:cNvPr id="26" name="Text 24"/>
          <p:cNvSpPr txBox="1"/>
          <p:nvPr/>
        </p:nvSpPr>
        <p:spPr>
          <a:xfrm>
            <a:off x="987552" y="4736592"/>
            <a:ext cx="104241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The bind</a:t>
            </a:r>
            <a:endParaRPr lang="en-US" sz="1550" dirty="0"/>
          </a:p>
        </p:txBody>
      </p:sp>
      <p:sp>
        <p:nvSpPr>
          <p:cNvPr id="27" name="Text 25"/>
          <p:cNvSpPr txBox="1"/>
          <p:nvPr/>
        </p:nvSpPr>
        <p:spPr>
          <a:xfrm>
            <a:off x="822960" y="5175504"/>
            <a:ext cx="10552176" cy="630936"/>
          </a:xfrm>
          <a:prstGeom prst="rect">
            <a:avLst/>
          </a:prstGeom>
          <a:noFill/>
          <a:ln/>
        </p:spPr>
        <p:txBody>
          <a:bodyPr wrap="square" lIns="0" tIns="0" rIns="0" bIns="0" rtlCol="0" anchor="t"/>
          <a:lstStyle/>
          <a:p>
            <a:pPr indent="0" marL="0">
              <a:lnSpc>
                <a:spcPct val="108000"/>
              </a:lnSpc>
              <a:buNone/>
            </a:pPr>
            <a:r>
              <a:rPr lang="en-US" sz="1300" dirty="0">
                <a:solidFill>
                  <a:srgbClr val="C9D6E3"/>
                </a:solidFill>
                <a:latin typeface="Calibri" pitchFamily="34" charset="0"/>
                <a:ea typeface="Calibri" pitchFamily="34" charset="-122"/>
                <a:cs typeface="Calibri" pitchFamily="34" charset="-120"/>
              </a:rPr>
              <a:t>Acted corpora give control but discard the blends and ambiguity of real affect — recognisers trained on them collapse in deployment. Broadcast and call-centre corpora give naturalness but bring copyright and privacy restrictions, uncontrolled microphone and camera placement, and wildly unbalanced emotion classes. Neither route yields synchronised, high-resolution gesture data.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The elicitation dilemma</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Every option on the table in 2007 failed at least one requirement</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6</a:t>
            </a:r>
            <a:endParaRPr lang="en-US" sz="900" dirty="0"/>
          </a:p>
        </p:txBody>
      </p:sp>
      <p:sp>
        <p:nvSpPr>
          <p:cNvPr id="8" name="Text 6"/>
          <p:cNvSpPr txBox="1"/>
          <p:nvPr/>
        </p:nvSpPr>
        <p:spPr>
          <a:xfrm>
            <a:off x="658368" y="1517904"/>
            <a:ext cx="3108960" cy="274320"/>
          </a:xfrm>
          <a:prstGeom prst="rect">
            <a:avLst/>
          </a:prstGeom>
          <a:noFill/>
          <a:ln/>
        </p:spPr>
        <p:txBody>
          <a:bodyPr wrap="square" lIns="0" tIns="0" rIns="0" bIns="0" rtlCol="0" anchor="ctr"/>
          <a:lstStyle/>
          <a:p>
            <a:pPr indent="0" marL="0">
              <a:buNone/>
            </a:pPr>
            <a:r>
              <a:rPr lang="en-US" sz="1200" b="1" dirty="0">
                <a:solidFill>
                  <a:srgbClr val="5C6675"/>
                </a:solidFill>
                <a:latin typeface="Calibri" pitchFamily="34" charset="0"/>
                <a:ea typeface="Calibri" pitchFamily="34" charset="-122"/>
                <a:cs typeface="Calibri" pitchFamily="34" charset="-120"/>
              </a:rPr>
              <a:t>Approach</a:t>
            </a:r>
            <a:endParaRPr lang="en-US" sz="1200" dirty="0"/>
          </a:p>
        </p:txBody>
      </p:sp>
      <p:sp>
        <p:nvSpPr>
          <p:cNvPr id="9" name="Text 7"/>
          <p:cNvSpPr txBox="1"/>
          <p:nvPr/>
        </p:nvSpPr>
        <p:spPr>
          <a:xfrm>
            <a:off x="3950208" y="1517904"/>
            <a:ext cx="3566160" cy="274320"/>
          </a:xfrm>
          <a:prstGeom prst="rect">
            <a:avLst/>
          </a:prstGeom>
          <a:noFill/>
          <a:ln/>
        </p:spPr>
        <p:txBody>
          <a:bodyPr wrap="square" lIns="0" tIns="0" rIns="0" bIns="0" rtlCol="0" anchor="ctr"/>
          <a:lstStyle/>
          <a:p>
            <a:pPr indent="0" marL="0">
              <a:buNone/>
            </a:pPr>
            <a:r>
              <a:rPr lang="en-US" sz="1200" b="1" dirty="0">
                <a:solidFill>
                  <a:srgbClr val="5C6675"/>
                </a:solidFill>
                <a:latin typeface="Calibri" pitchFamily="34" charset="0"/>
                <a:ea typeface="Calibri" pitchFamily="34" charset="-122"/>
                <a:cs typeface="Calibri" pitchFamily="34" charset="-120"/>
              </a:rPr>
              <a:t>What it gets right</a:t>
            </a:r>
            <a:endParaRPr lang="en-US" sz="1200" dirty="0"/>
          </a:p>
        </p:txBody>
      </p:sp>
      <p:sp>
        <p:nvSpPr>
          <p:cNvPr id="10" name="Text 8"/>
          <p:cNvSpPr txBox="1"/>
          <p:nvPr/>
        </p:nvSpPr>
        <p:spPr>
          <a:xfrm>
            <a:off x="7699248" y="1517904"/>
            <a:ext cx="3840480" cy="274320"/>
          </a:xfrm>
          <a:prstGeom prst="rect">
            <a:avLst/>
          </a:prstGeom>
          <a:noFill/>
          <a:ln/>
        </p:spPr>
        <p:txBody>
          <a:bodyPr wrap="square" lIns="0" tIns="0" rIns="0" bIns="0" rtlCol="0" anchor="ctr"/>
          <a:lstStyle/>
          <a:p>
            <a:pPr indent="0" marL="0">
              <a:buNone/>
            </a:pPr>
            <a:r>
              <a:rPr lang="en-US" sz="1200" b="1" dirty="0">
                <a:solidFill>
                  <a:srgbClr val="5C6675"/>
                </a:solidFill>
                <a:latin typeface="Calibri" pitchFamily="34" charset="0"/>
                <a:ea typeface="Calibri" pitchFamily="34" charset="-122"/>
                <a:cs typeface="Calibri" pitchFamily="34" charset="-120"/>
              </a:rPr>
              <a:t>What it gives up</a:t>
            </a:r>
            <a:endParaRPr lang="en-US" sz="1200" dirty="0"/>
          </a:p>
        </p:txBody>
      </p:sp>
      <p:sp>
        <p:nvSpPr>
          <p:cNvPr id="11" name="Shape 9"/>
          <p:cNvSpPr/>
          <p:nvPr/>
        </p:nvSpPr>
        <p:spPr>
          <a:xfrm>
            <a:off x="566928" y="1847088"/>
            <a:ext cx="11064240" cy="566928"/>
          </a:xfrm>
          <a:prstGeom prst="roundRect">
            <a:avLst>
              <a:gd name="adj" fmla="val 6452"/>
            </a:avLst>
          </a:prstGeom>
          <a:solidFill>
            <a:srgbClr val="F2F5F8"/>
          </a:solidFill>
          <a:ln w="12700">
            <a:solidFill>
              <a:srgbClr val="E6EBF0"/>
            </a:solidFill>
            <a:prstDash val="solid"/>
          </a:ln>
        </p:spPr>
      </p:sp>
      <p:sp>
        <p:nvSpPr>
          <p:cNvPr id="12" name="Text 10"/>
          <p:cNvSpPr txBox="1"/>
          <p:nvPr/>
        </p:nvSpPr>
        <p:spPr>
          <a:xfrm>
            <a:off x="749808" y="1993392"/>
            <a:ext cx="3108960" cy="292608"/>
          </a:xfrm>
          <a:prstGeom prst="rect">
            <a:avLst/>
          </a:prstGeom>
          <a:noFill/>
          <a:ln/>
        </p:spPr>
        <p:txBody>
          <a:bodyPr wrap="square" lIns="0" tIns="0" rIns="0" bIns="0" rtlCol="0" anchor="ctr"/>
          <a:lstStyle/>
          <a:p>
            <a:pPr indent="0" marL="0">
              <a:buNone/>
            </a:pPr>
            <a:r>
              <a:rPr lang="en-US" sz="1250" b="1" dirty="0">
                <a:solidFill>
                  <a:srgbClr val="16213A"/>
                </a:solidFill>
                <a:latin typeface="Calibri" pitchFamily="34" charset="0"/>
                <a:ea typeface="Calibri" pitchFamily="34" charset="-122"/>
                <a:cs typeface="Calibri" pitchFamily="34" charset="-120"/>
              </a:rPr>
              <a:t>Read acted speech</a:t>
            </a:r>
            <a:endParaRPr lang="en-US" sz="1250" dirty="0"/>
          </a:p>
        </p:txBody>
      </p:sp>
      <p:sp>
        <p:nvSpPr>
          <p:cNvPr id="13" name="Text 11"/>
          <p:cNvSpPr txBox="1"/>
          <p:nvPr/>
        </p:nvSpPr>
        <p:spPr>
          <a:xfrm>
            <a:off x="3950208" y="1993392"/>
            <a:ext cx="3566160" cy="292608"/>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Full control of text and emotion</a:t>
            </a:r>
            <a:endParaRPr lang="en-US" sz="1200" dirty="0"/>
          </a:p>
        </p:txBody>
      </p:sp>
      <p:sp>
        <p:nvSpPr>
          <p:cNvPr id="14" name="Text 12"/>
          <p:cNvSpPr txBox="1"/>
          <p:nvPr/>
        </p:nvSpPr>
        <p:spPr>
          <a:xfrm>
            <a:off x="7699248" y="1993392"/>
            <a:ext cx="3749040" cy="292608"/>
          </a:xfrm>
          <a:prstGeom prst="rect">
            <a:avLst/>
          </a:prstGeom>
          <a:noFill/>
          <a:ln/>
        </p:spPr>
        <p:txBody>
          <a:bodyPr wrap="square" lIns="0" tIns="0" rIns="0" bIns="0" rtlCol="0" anchor="ctr"/>
          <a:lstStyle/>
          <a:p>
            <a:pPr indent="0" marL="0">
              <a:buNone/>
            </a:pPr>
            <a:r>
              <a:rPr lang="en-US" sz="1200" dirty="0">
                <a:solidFill>
                  <a:srgbClr val="8A5A4A"/>
                </a:solidFill>
                <a:latin typeface="Calibri" pitchFamily="34" charset="0"/>
                <a:ea typeface="Calibri" pitchFamily="34" charset="-122"/>
                <a:cs typeface="Calibri" pitchFamily="34" charset="-120"/>
              </a:rPr>
              <a:t>Portrayal, not experience; caricature</a:t>
            </a:r>
            <a:endParaRPr lang="en-US" sz="1200" dirty="0"/>
          </a:p>
        </p:txBody>
      </p:sp>
      <p:sp>
        <p:nvSpPr>
          <p:cNvPr id="15" name="Shape 13"/>
          <p:cNvSpPr/>
          <p:nvPr/>
        </p:nvSpPr>
        <p:spPr>
          <a:xfrm>
            <a:off x="566928" y="2487168"/>
            <a:ext cx="11064240" cy="566928"/>
          </a:xfrm>
          <a:prstGeom prst="roundRect">
            <a:avLst>
              <a:gd name="adj" fmla="val 6452"/>
            </a:avLst>
          </a:prstGeom>
          <a:solidFill>
            <a:srgbClr val="FFFFFF"/>
          </a:solidFill>
          <a:ln w="12700">
            <a:solidFill>
              <a:srgbClr val="E6EBF0"/>
            </a:solidFill>
            <a:prstDash val="solid"/>
          </a:ln>
        </p:spPr>
      </p:sp>
      <p:sp>
        <p:nvSpPr>
          <p:cNvPr id="16" name="Text 14"/>
          <p:cNvSpPr txBox="1"/>
          <p:nvPr/>
        </p:nvSpPr>
        <p:spPr>
          <a:xfrm>
            <a:off x="749808" y="2633472"/>
            <a:ext cx="3108960" cy="292608"/>
          </a:xfrm>
          <a:prstGeom prst="rect">
            <a:avLst/>
          </a:prstGeom>
          <a:noFill/>
          <a:ln/>
        </p:spPr>
        <p:txBody>
          <a:bodyPr wrap="square" lIns="0" tIns="0" rIns="0" bIns="0" rtlCol="0" anchor="ctr"/>
          <a:lstStyle/>
          <a:p>
            <a:pPr indent="0" marL="0">
              <a:buNone/>
            </a:pPr>
            <a:r>
              <a:rPr lang="en-US" sz="1250" b="1" dirty="0">
                <a:solidFill>
                  <a:srgbClr val="16213A"/>
                </a:solidFill>
                <a:latin typeface="Calibri" pitchFamily="34" charset="0"/>
                <a:ea typeface="Calibri" pitchFamily="34" charset="-122"/>
                <a:cs typeface="Calibri" pitchFamily="34" charset="-120"/>
              </a:rPr>
              <a:t>Broadcast / TV corpora</a:t>
            </a:r>
            <a:endParaRPr lang="en-US" sz="1250" dirty="0"/>
          </a:p>
        </p:txBody>
      </p:sp>
      <p:sp>
        <p:nvSpPr>
          <p:cNvPr id="17" name="Text 15"/>
          <p:cNvSpPr txBox="1"/>
          <p:nvPr/>
        </p:nvSpPr>
        <p:spPr>
          <a:xfrm>
            <a:off x="3950208" y="2633472"/>
            <a:ext cx="3566160" cy="292608"/>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Genuinely felt, spontaneous affect</a:t>
            </a:r>
            <a:endParaRPr lang="en-US" sz="1200" dirty="0"/>
          </a:p>
        </p:txBody>
      </p:sp>
      <p:sp>
        <p:nvSpPr>
          <p:cNvPr id="18" name="Text 16"/>
          <p:cNvSpPr txBox="1"/>
          <p:nvPr/>
        </p:nvSpPr>
        <p:spPr>
          <a:xfrm>
            <a:off x="7699248" y="2633472"/>
            <a:ext cx="3749040" cy="292608"/>
          </a:xfrm>
          <a:prstGeom prst="rect">
            <a:avLst/>
          </a:prstGeom>
          <a:noFill/>
          <a:ln/>
        </p:spPr>
        <p:txBody>
          <a:bodyPr wrap="square" lIns="0" tIns="0" rIns="0" bIns="0" rtlCol="0" anchor="ctr"/>
          <a:lstStyle/>
          <a:p>
            <a:pPr indent="0" marL="0">
              <a:buNone/>
            </a:pPr>
            <a:r>
              <a:rPr lang="en-US" sz="1200" dirty="0">
                <a:solidFill>
                  <a:srgbClr val="8A5A4A"/>
                </a:solidFill>
                <a:latin typeface="Calibri" pitchFamily="34" charset="0"/>
                <a:ea typeface="Calibri" pitchFamily="34" charset="-122"/>
                <a:cs typeface="Calibri" pitchFamily="34" charset="-120"/>
              </a:rPr>
              <a:t>Copyright, privacy, uncontrolled A/V</a:t>
            </a:r>
            <a:endParaRPr lang="en-US" sz="1200" dirty="0"/>
          </a:p>
        </p:txBody>
      </p:sp>
      <p:sp>
        <p:nvSpPr>
          <p:cNvPr id="19" name="Shape 17"/>
          <p:cNvSpPr/>
          <p:nvPr/>
        </p:nvSpPr>
        <p:spPr>
          <a:xfrm>
            <a:off x="566928" y="3127248"/>
            <a:ext cx="11064240" cy="566928"/>
          </a:xfrm>
          <a:prstGeom prst="roundRect">
            <a:avLst>
              <a:gd name="adj" fmla="val 6452"/>
            </a:avLst>
          </a:prstGeom>
          <a:solidFill>
            <a:srgbClr val="F2F5F8"/>
          </a:solidFill>
          <a:ln w="12700">
            <a:solidFill>
              <a:srgbClr val="E6EBF0"/>
            </a:solidFill>
            <a:prstDash val="solid"/>
          </a:ln>
        </p:spPr>
      </p:sp>
      <p:sp>
        <p:nvSpPr>
          <p:cNvPr id="20" name="Text 18"/>
          <p:cNvSpPr txBox="1"/>
          <p:nvPr/>
        </p:nvSpPr>
        <p:spPr>
          <a:xfrm>
            <a:off x="749808" y="3273552"/>
            <a:ext cx="3108960" cy="292608"/>
          </a:xfrm>
          <a:prstGeom prst="rect">
            <a:avLst/>
          </a:prstGeom>
          <a:noFill/>
          <a:ln/>
        </p:spPr>
        <p:txBody>
          <a:bodyPr wrap="square" lIns="0" tIns="0" rIns="0" bIns="0" rtlCol="0" anchor="ctr"/>
          <a:lstStyle/>
          <a:p>
            <a:pPr indent="0" marL="0">
              <a:buNone/>
            </a:pPr>
            <a:r>
              <a:rPr lang="en-US" sz="1250" b="1" dirty="0">
                <a:solidFill>
                  <a:srgbClr val="16213A"/>
                </a:solidFill>
                <a:latin typeface="Calibri" pitchFamily="34" charset="0"/>
                <a:ea typeface="Calibri" pitchFamily="34" charset="-122"/>
                <a:cs typeface="Calibri" pitchFamily="34" charset="-120"/>
              </a:rPr>
              <a:t>Call-centre recordings</a:t>
            </a:r>
            <a:endParaRPr lang="en-US" sz="1250" dirty="0"/>
          </a:p>
        </p:txBody>
      </p:sp>
      <p:sp>
        <p:nvSpPr>
          <p:cNvPr id="21" name="Text 19"/>
          <p:cNvSpPr txBox="1"/>
          <p:nvPr/>
        </p:nvSpPr>
        <p:spPr>
          <a:xfrm>
            <a:off x="3950208" y="3273552"/>
            <a:ext cx="3566160" cy="292608"/>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Real stakes, real frustration</a:t>
            </a:r>
            <a:endParaRPr lang="en-US" sz="1200" dirty="0"/>
          </a:p>
        </p:txBody>
      </p:sp>
      <p:sp>
        <p:nvSpPr>
          <p:cNvPr id="22" name="Text 20"/>
          <p:cNvSpPr txBox="1"/>
          <p:nvPr/>
        </p:nvSpPr>
        <p:spPr>
          <a:xfrm>
            <a:off x="7699248" y="3273552"/>
            <a:ext cx="3749040" cy="292608"/>
          </a:xfrm>
          <a:prstGeom prst="rect">
            <a:avLst/>
          </a:prstGeom>
          <a:noFill/>
          <a:ln/>
        </p:spPr>
        <p:txBody>
          <a:bodyPr wrap="square" lIns="0" tIns="0" rIns="0" bIns="0" rtlCol="0" anchor="ctr"/>
          <a:lstStyle/>
          <a:p>
            <a:pPr indent="0" marL="0">
              <a:buNone/>
            </a:pPr>
            <a:r>
              <a:rPr lang="en-US" sz="1200" dirty="0">
                <a:solidFill>
                  <a:srgbClr val="8A5A4A"/>
                </a:solidFill>
                <a:latin typeface="Calibri" pitchFamily="34" charset="0"/>
                <a:ea typeface="Calibri" pitchFamily="34" charset="-122"/>
                <a:cs typeface="Calibri" pitchFamily="34" charset="-120"/>
              </a:rPr>
              <a:t>Audio only, unbalanced classes</a:t>
            </a:r>
            <a:endParaRPr lang="en-US" sz="1200" dirty="0"/>
          </a:p>
        </p:txBody>
      </p:sp>
      <p:sp>
        <p:nvSpPr>
          <p:cNvPr id="23" name="Shape 21"/>
          <p:cNvSpPr/>
          <p:nvPr/>
        </p:nvSpPr>
        <p:spPr>
          <a:xfrm>
            <a:off x="566928" y="3767328"/>
            <a:ext cx="11064240" cy="566928"/>
          </a:xfrm>
          <a:prstGeom prst="roundRect">
            <a:avLst>
              <a:gd name="adj" fmla="val 6452"/>
            </a:avLst>
          </a:prstGeom>
          <a:solidFill>
            <a:srgbClr val="FFFFFF"/>
          </a:solidFill>
          <a:ln w="12700">
            <a:solidFill>
              <a:srgbClr val="E6EBF0"/>
            </a:solidFill>
            <a:prstDash val="solid"/>
          </a:ln>
        </p:spPr>
      </p:sp>
      <p:sp>
        <p:nvSpPr>
          <p:cNvPr id="24" name="Text 22"/>
          <p:cNvSpPr txBox="1"/>
          <p:nvPr/>
        </p:nvSpPr>
        <p:spPr>
          <a:xfrm>
            <a:off x="749808" y="3913632"/>
            <a:ext cx="3108960" cy="292608"/>
          </a:xfrm>
          <a:prstGeom prst="rect">
            <a:avLst/>
          </a:prstGeom>
          <a:noFill/>
          <a:ln/>
        </p:spPr>
        <p:txBody>
          <a:bodyPr wrap="square" lIns="0" tIns="0" rIns="0" bIns="0" rtlCol="0" anchor="ctr"/>
          <a:lstStyle/>
          <a:p>
            <a:pPr indent="0" marL="0">
              <a:buNone/>
            </a:pPr>
            <a:r>
              <a:rPr lang="en-US" sz="1250" b="1" dirty="0">
                <a:solidFill>
                  <a:srgbClr val="16213A"/>
                </a:solidFill>
                <a:latin typeface="Calibri" pitchFamily="34" charset="0"/>
                <a:ea typeface="Calibri" pitchFamily="34" charset="-122"/>
                <a:cs typeface="Calibri" pitchFamily="34" charset="-120"/>
              </a:rPr>
              <a:t>Wizard-of-Oz induction</a:t>
            </a:r>
            <a:endParaRPr lang="en-US" sz="1250" dirty="0"/>
          </a:p>
        </p:txBody>
      </p:sp>
      <p:sp>
        <p:nvSpPr>
          <p:cNvPr id="25" name="Text 23"/>
          <p:cNvSpPr txBox="1"/>
          <p:nvPr/>
        </p:nvSpPr>
        <p:spPr>
          <a:xfrm>
            <a:off x="3950208" y="3913632"/>
            <a:ext cx="3566160" cy="292608"/>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Emotion induced, not portrayed</a:t>
            </a:r>
            <a:endParaRPr lang="en-US" sz="1200" dirty="0"/>
          </a:p>
        </p:txBody>
      </p:sp>
      <p:sp>
        <p:nvSpPr>
          <p:cNvPr id="26" name="Text 24"/>
          <p:cNvSpPr txBox="1"/>
          <p:nvPr/>
        </p:nvSpPr>
        <p:spPr>
          <a:xfrm>
            <a:off x="7699248" y="3913632"/>
            <a:ext cx="3749040" cy="292608"/>
          </a:xfrm>
          <a:prstGeom prst="rect">
            <a:avLst/>
          </a:prstGeom>
          <a:noFill/>
          <a:ln/>
        </p:spPr>
        <p:txBody>
          <a:bodyPr wrap="square" lIns="0" tIns="0" rIns="0" bIns="0" rtlCol="0" anchor="ctr"/>
          <a:lstStyle/>
          <a:p>
            <a:pPr indent="0" marL="0">
              <a:buNone/>
            </a:pPr>
            <a:r>
              <a:rPr lang="en-US" sz="1200" dirty="0">
                <a:solidFill>
                  <a:srgbClr val="8A5A4A"/>
                </a:solidFill>
                <a:latin typeface="Calibri" pitchFamily="34" charset="0"/>
                <a:ea typeface="Calibri" pitchFamily="34" charset="-122"/>
                <a:cs typeface="Calibri" pitchFamily="34" charset="-120"/>
              </a:rPr>
              <a:t>Weak, narrow emotional range</a:t>
            </a:r>
            <a:endParaRPr lang="en-US" sz="1200" dirty="0"/>
          </a:p>
        </p:txBody>
      </p:sp>
      <p:sp>
        <p:nvSpPr>
          <p:cNvPr id="27" name="Shape 25"/>
          <p:cNvSpPr/>
          <p:nvPr/>
        </p:nvSpPr>
        <p:spPr>
          <a:xfrm>
            <a:off x="566928" y="4407408"/>
            <a:ext cx="11064240" cy="566928"/>
          </a:xfrm>
          <a:prstGeom prst="roundRect">
            <a:avLst>
              <a:gd name="adj" fmla="val 6452"/>
            </a:avLst>
          </a:prstGeom>
          <a:solidFill>
            <a:srgbClr val="F2F5F8"/>
          </a:solidFill>
          <a:ln w="12700">
            <a:solidFill>
              <a:srgbClr val="E6EBF0"/>
            </a:solidFill>
            <a:prstDash val="solid"/>
          </a:ln>
        </p:spPr>
      </p:sp>
      <p:sp>
        <p:nvSpPr>
          <p:cNvPr id="28" name="Text 26"/>
          <p:cNvSpPr txBox="1"/>
          <p:nvPr/>
        </p:nvSpPr>
        <p:spPr>
          <a:xfrm>
            <a:off x="749808" y="4553712"/>
            <a:ext cx="3108960" cy="292608"/>
          </a:xfrm>
          <a:prstGeom prst="rect">
            <a:avLst/>
          </a:prstGeom>
          <a:noFill/>
          <a:ln/>
        </p:spPr>
        <p:txBody>
          <a:bodyPr wrap="square" lIns="0" tIns="0" rIns="0" bIns="0" rtlCol="0" anchor="ctr"/>
          <a:lstStyle/>
          <a:p>
            <a:pPr indent="0" marL="0">
              <a:buNone/>
            </a:pPr>
            <a:r>
              <a:rPr lang="en-US" sz="1250" b="1" dirty="0">
                <a:solidFill>
                  <a:srgbClr val="16213A"/>
                </a:solidFill>
                <a:latin typeface="Calibri" pitchFamily="34" charset="0"/>
                <a:ea typeface="Calibri" pitchFamily="34" charset="-122"/>
                <a:cs typeface="Calibri" pitchFamily="34" charset="-120"/>
              </a:rPr>
              <a:t>Recall of past experience</a:t>
            </a:r>
            <a:endParaRPr lang="en-US" sz="1250" dirty="0"/>
          </a:p>
        </p:txBody>
      </p:sp>
      <p:sp>
        <p:nvSpPr>
          <p:cNvPr id="29" name="Text 27"/>
          <p:cNvSpPr txBox="1"/>
          <p:nvPr/>
        </p:nvSpPr>
        <p:spPr>
          <a:xfrm>
            <a:off x="3950208" y="4553712"/>
            <a:ext cx="3566160" cy="292608"/>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Authentic emotional memory</a:t>
            </a:r>
            <a:endParaRPr lang="en-US" sz="1200" dirty="0"/>
          </a:p>
        </p:txBody>
      </p:sp>
      <p:sp>
        <p:nvSpPr>
          <p:cNvPr id="30" name="Text 28"/>
          <p:cNvSpPr txBox="1"/>
          <p:nvPr/>
        </p:nvSpPr>
        <p:spPr>
          <a:xfrm>
            <a:off x="7699248" y="4553712"/>
            <a:ext cx="3749040" cy="292608"/>
          </a:xfrm>
          <a:prstGeom prst="rect">
            <a:avLst/>
          </a:prstGeom>
          <a:noFill/>
          <a:ln/>
        </p:spPr>
        <p:txBody>
          <a:bodyPr wrap="square" lIns="0" tIns="0" rIns="0" bIns="0" rtlCol="0" anchor="ctr"/>
          <a:lstStyle/>
          <a:p>
            <a:pPr indent="0" marL="0">
              <a:buNone/>
            </a:pPr>
            <a:r>
              <a:rPr lang="en-US" sz="1200" dirty="0">
                <a:solidFill>
                  <a:srgbClr val="8A5A4A"/>
                </a:solidFill>
                <a:latin typeface="Calibri" pitchFamily="34" charset="0"/>
                <a:ea typeface="Calibri" pitchFamily="34" charset="-122"/>
                <a:cs typeface="Calibri" pitchFamily="34" charset="-120"/>
              </a:rPr>
              <a:t>Monologue; no interaction</a:t>
            </a:r>
            <a:endParaRPr lang="en-US" sz="1200" dirty="0"/>
          </a:p>
        </p:txBody>
      </p:sp>
      <p:sp>
        <p:nvSpPr>
          <p:cNvPr id="31" name="Shape 29"/>
          <p:cNvSpPr/>
          <p:nvPr/>
        </p:nvSpPr>
        <p:spPr>
          <a:xfrm>
            <a:off x="566928" y="5138928"/>
            <a:ext cx="11064240" cy="914400"/>
          </a:xfrm>
          <a:prstGeom prst="roundRect">
            <a:avLst>
              <a:gd name="adj" fmla="val 6000"/>
            </a:avLst>
          </a:prstGeom>
          <a:solidFill>
            <a:srgbClr val="FBF1EC"/>
          </a:solidFill>
          <a:ln w="12700">
            <a:solidFill>
              <a:srgbClr val="F0D5C7"/>
            </a:solidFill>
            <a:prstDash val="solid"/>
          </a:ln>
        </p:spPr>
      </p:sp>
      <p:sp>
        <p:nvSpPr>
          <p:cNvPr id="32" name="Text 30"/>
          <p:cNvSpPr txBox="1"/>
          <p:nvPr/>
        </p:nvSpPr>
        <p:spPr>
          <a:xfrm>
            <a:off x="822960" y="5358384"/>
            <a:ext cx="10552176" cy="493776"/>
          </a:xfrm>
          <a:prstGeom prst="rect">
            <a:avLst/>
          </a:prstGeom>
          <a:noFill/>
          <a:ln/>
        </p:spPr>
        <p:txBody>
          <a:bodyPr wrap="square" lIns="0" tIns="0" rIns="0" bIns="0" rtlCol="0" anchor="t"/>
          <a:lstStyle/>
          <a:p>
            <a:pPr indent="0" marL="0">
              <a:lnSpc>
                <a:spcPct val="108000"/>
              </a:lnSpc>
              <a:buNone/>
            </a:pPr>
            <a:r>
              <a:rPr lang="en-US" sz="1350" dirty="0">
                <a:solidFill>
                  <a:srgbClr val="3C4655"/>
                </a:solidFill>
                <a:latin typeface="Calibri" pitchFamily="34" charset="0"/>
                <a:ea typeface="Calibri" pitchFamily="34" charset="-122"/>
                <a:cs typeface="Calibri" pitchFamily="34" charset="-120"/>
              </a:rPr>
              <a:t>The authors' bet: skilled actors, engaged in interpersonal drama with a real partner, produce something closer to genuine emotion than any of the above — while keeping the recording controllable.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Six design requirements</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Stated explicitly in Section 2 — the paper is unusually clear about this</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7</a:t>
            </a:r>
            <a:endParaRPr lang="en-US" sz="900" dirty="0"/>
          </a:p>
        </p:txBody>
      </p:sp>
      <p:sp>
        <p:nvSpPr>
          <p:cNvPr id="8" name="Shape 6"/>
          <p:cNvSpPr/>
          <p:nvPr/>
        </p:nvSpPr>
        <p:spPr>
          <a:xfrm>
            <a:off x="566928" y="1572768"/>
            <a:ext cx="3584448" cy="1463040"/>
          </a:xfrm>
          <a:prstGeom prst="roundRect">
            <a:avLst>
              <a:gd name="adj" fmla="val 3750"/>
            </a:avLst>
          </a:prstGeom>
          <a:solidFill>
            <a:srgbClr val="F2F5F8"/>
          </a:solidFill>
          <a:ln w="12700">
            <a:solidFill>
              <a:srgbClr val="E1E7EE"/>
            </a:solidFill>
            <a:prstDash val="solid"/>
          </a:ln>
        </p:spPr>
      </p:sp>
      <p:sp>
        <p:nvSpPr>
          <p:cNvPr id="9" name="Shape 7"/>
          <p:cNvSpPr/>
          <p:nvPr/>
        </p:nvSpPr>
        <p:spPr>
          <a:xfrm>
            <a:off x="786384" y="1865376"/>
            <a:ext cx="109728" cy="109728"/>
          </a:xfrm>
          <a:prstGeom prst="ellipse">
            <a:avLst/>
          </a:prstGeom>
          <a:solidFill>
            <a:srgbClr val="E4572E"/>
          </a:solidFill>
          <a:ln w="12700">
            <a:solidFill>
              <a:srgbClr val="333333"/>
            </a:solidFill>
            <a:prstDash val="solid"/>
          </a:ln>
        </p:spPr>
      </p:sp>
      <p:sp>
        <p:nvSpPr>
          <p:cNvPr id="10" name="Text 8"/>
          <p:cNvSpPr txBox="1"/>
          <p:nvPr/>
        </p:nvSpPr>
        <p:spPr>
          <a:xfrm>
            <a:off x="987552" y="1737360"/>
            <a:ext cx="2944368" cy="365760"/>
          </a:xfrm>
          <a:prstGeom prst="rect">
            <a:avLst/>
          </a:prstGeom>
          <a:noFill/>
          <a:ln/>
        </p:spPr>
        <p:txBody>
          <a:bodyPr wrap="square" lIns="0" tIns="0" rIns="0" bIns="0" rtlCol="0" anchor="ctr"/>
          <a:lstStyle/>
          <a:p>
            <a:pPr indent="0" marL="0">
              <a:buNone/>
            </a:pPr>
            <a:r>
              <a:rPr lang="en-US" sz="1500" b="1" dirty="0">
                <a:solidFill>
                  <a:srgbClr val="16213A"/>
                </a:solidFill>
                <a:latin typeface="Cambria" pitchFamily="34" charset="0"/>
                <a:ea typeface="Cambria" pitchFamily="34" charset="-122"/>
                <a:cs typeface="Cambria" pitchFamily="34" charset="-120"/>
              </a:rPr>
              <a:t>Genuine realisations</a:t>
            </a:r>
            <a:endParaRPr lang="en-US" sz="1500" dirty="0"/>
          </a:p>
        </p:txBody>
      </p:sp>
      <p:sp>
        <p:nvSpPr>
          <p:cNvPr id="11" name="Text 9"/>
          <p:cNvSpPr txBox="1"/>
          <p:nvPr/>
        </p:nvSpPr>
        <p:spPr>
          <a:xfrm>
            <a:off x="822960" y="2176272"/>
            <a:ext cx="3072384" cy="676656"/>
          </a:xfrm>
          <a:prstGeom prst="rect">
            <a:avLst/>
          </a:prstGeom>
          <a:noFill/>
          <a:ln/>
        </p:spPr>
        <p:txBody>
          <a:bodyPr wrap="square" lIns="0" tIns="0" rIns="0" bIns="0" rtlCol="0" anchor="t"/>
          <a:lstStyle/>
          <a:p>
            <a:pPr indent="0" marL="0">
              <a:lnSpc>
                <a:spcPct val="108000"/>
              </a:lnSpc>
              <a:buNone/>
            </a:pPr>
            <a:r>
              <a:rPr lang="en-US" sz="1250" dirty="0">
                <a:solidFill>
                  <a:srgbClr val="3C4655"/>
                </a:solidFill>
                <a:latin typeface="Calibri" pitchFamily="34" charset="0"/>
                <a:ea typeface="Calibri" pitchFamily="34" charset="-122"/>
                <a:cs typeface="Calibri" pitchFamily="34" charset="-120"/>
              </a:rPr>
              <a:t>Not simulated emotion on command</a:t>
            </a:r>
            <a:endParaRPr lang="en-US" sz="1250" dirty="0"/>
          </a:p>
        </p:txBody>
      </p:sp>
      <p:sp>
        <p:nvSpPr>
          <p:cNvPr id="12" name="Shape 10"/>
          <p:cNvSpPr/>
          <p:nvPr/>
        </p:nvSpPr>
        <p:spPr>
          <a:xfrm>
            <a:off x="4279392" y="1572768"/>
            <a:ext cx="3584448" cy="1463040"/>
          </a:xfrm>
          <a:prstGeom prst="roundRect">
            <a:avLst>
              <a:gd name="adj" fmla="val 3750"/>
            </a:avLst>
          </a:prstGeom>
          <a:solidFill>
            <a:srgbClr val="F2F5F8"/>
          </a:solidFill>
          <a:ln w="12700">
            <a:solidFill>
              <a:srgbClr val="E1E7EE"/>
            </a:solidFill>
            <a:prstDash val="solid"/>
          </a:ln>
        </p:spPr>
      </p:sp>
      <p:sp>
        <p:nvSpPr>
          <p:cNvPr id="13" name="Shape 11"/>
          <p:cNvSpPr/>
          <p:nvPr/>
        </p:nvSpPr>
        <p:spPr>
          <a:xfrm>
            <a:off x="4498848" y="1865376"/>
            <a:ext cx="109728" cy="109728"/>
          </a:xfrm>
          <a:prstGeom prst="ellipse">
            <a:avLst/>
          </a:prstGeom>
          <a:solidFill>
            <a:srgbClr val="E4572E"/>
          </a:solidFill>
          <a:ln w="12700">
            <a:solidFill>
              <a:srgbClr val="333333"/>
            </a:solidFill>
            <a:prstDash val="solid"/>
          </a:ln>
        </p:spPr>
      </p:sp>
      <p:sp>
        <p:nvSpPr>
          <p:cNvPr id="14" name="Text 12"/>
          <p:cNvSpPr txBox="1"/>
          <p:nvPr/>
        </p:nvSpPr>
        <p:spPr>
          <a:xfrm>
            <a:off x="4700016" y="1737360"/>
            <a:ext cx="2944368" cy="365760"/>
          </a:xfrm>
          <a:prstGeom prst="rect">
            <a:avLst/>
          </a:prstGeom>
          <a:noFill/>
          <a:ln/>
        </p:spPr>
        <p:txBody>
          <a:bodyPr wrap="square" lIns="0" tIns="0" rIns="0" bIns="0" rtlCol="0" anchor="ctr"/>
          <a:lstStyle/>
          <a:p>
            <a:pPr indent="0" marL="0">
              <a:buNone/>
            </a:pPr>
            <a:r>
              <a:rPr lang="en-US" sz="1500" b="1" dirty="0">
                <a:solidFill>
                  <a:srgbClr val="16213A"/>
                </a:solidFill>
                <a:latin typeface="Cambria" pitchFamily="34" charset="0"/>
                <a:ea typeface="Cambria" pitchFamily="34" charset="-122"/>
                <a:cs typeface="Cambria" pitchFamily="34" charset="-120"/>
              </a:rPr>
              <a:t>Dialogue, not monologue</a:t>
            </a:r>
            <a:endParaRPr lang="en-US" sz="1500" dirty="0"/>
          </a:p>
        </p:txBody>
      </p:sp>
      <p:sp>
        <p:nvSpPr>
          <p:cNvPr id="15" name="Text 13"/>
          <p:cNvSpPr txBox="1"/>
          <p:nvPr/>
        </p:nvSpPr>
        <p:spPr>
          <a:xfrm>
            <a:off x="4535424" y="2176272"/>
            <a:ext cx="3072384" cy="676656"/>
          </a:xfrm>
          <a:prstGeom prst="rect">
            <a:avLst/>
          </a:prstGeom>
          <a:noFill/>
          <a:ln/>
        </p:spPr>
        <p:txBody>
          <a:bodyPr wrap="square" lIns="0" tIns="0" rIns="0" bIns="0" rtlCol="0" anchor="t"/>
          <a:lstStyle/>
          <a:p>
            <a:pPr indent="0" marL="0">
              <a:lnSpc>
                <a:spcPct val="108000"/>
              </a:lnSpc>
              <a:buNone/>
            </a:pPr>
            <a:r>
              <a:rPr lang="en-US" sz="1250" dirty="0">
                <a:solidFill>
                  <a:srgbClr val="3C4655"/>
                </a:solidFill>
                <a:latin typeface="Calibri" pitchFamily="34" charset="0"/>
                <a:ea typeface="Calibri" pitchFamily="34" charset="-122"/>
                <a:cs typeface="Calibri" pitchFamily="34" charset="-120"/>
              </a:rPr>
              <a:t>Emotion elicited inside a conversation</a:t>
            </a:r>
            <a:endParaRPr lang="en-US" sz="1250" dirty="0"/>
          </a:p>
        </p:txBody>
      </p:sp>
      <p:sp>
        <p:nvSpPr>
          <p:cNvPr id="16" name="Shape 14"/>
          <p:cNvSpPr/>
          <p:nvPr/>
        </p:nvSpPr>
        <p:spPr>
          <a:xfrm>
            <a:off x="7991856" y="1572768"/>
            <a:ext cx="3584448" cy="1463040"/>
          </a:xfrm>
          <a:prstGeom prst="roundRect">
            <a:avLst>
              <a:gd name="adj" fmla="val 3750"/>
            </a:avLst>
          </a:prstGeom>
          <a:solidFill>
            <a:srgbClr val="F2F5F8"/>
          </a:solidFill>
          <a:ln w="12700">
            <a:solidFill>
              <a:srgbClr val="E1E7EE"/>
            </a:solidFill>
            <a:prstDash val="solid"/>
          </a:ln>
        </p:spPr>
      </p:sp>
      <p:sp>
        <p:nvSpPr>
          <p:cNvPr id="17" name="Shape 15"/>
          <p:cNvSpPr/>
          <p:nvPr/>
        </p:nvSpPr>
        <p:spPr>
          <a:xfrm>
            <a:off x="8211312" y="1865376"/>
            <a:ext cx="109728" cy="109728"/>
          </a:xfrm>
          <a:prstGeom prst="ellipse">
            <a:avLst/>
          </a:prstGeom>
          <a:solidFill>
            <a:srgbClr val="E4572E"/>
          </a:solidFill>
          <a:ln w="12700">
            <a:solidFill>
              <a:srgbClr val="333333"/>
            </a:solidFill>
            <a:prstDash val="solid"/>
          </a:ln>
        </p:spPr>
      </p:sp>
      <p:sp>
        <p:nvSpPr>
          <p:cNvPr id="18" name="Text 16"/>
          <p:cNvSpPr txBox="1"/>
          <p:nvPr/>
        </p:nvSpPr>
        <p:spPr>
          <a:xfrm>
            <a:off x="8412480" y="1737360"/>
            <a:ext cx="2944368" cy="365760"/>
          </a:xfrm>
          <a:prstGeom prst="rect">
            <a:avLst/>
          </a:prstGeom>
          <a:noFill/>
          <a:ln/>
        </p:spPr>
        <p:txBody>
          <a:bodyPr wrap="square" lIns="0" tIns="0" rIns="0" bIns="0" rtlCol="0" anchor="ctr"/>
          <a:lstStyle/>
          <a:p>
            <a:pPr indent="0" marL="0">
              <a:buNone/>
            </a:pPr>
            <a:r>
              <a:rPr lang="en-US" sz="1500" b="1" dirty="0">
                <a:solidFill>
                  <a:srgbClr val="16213A"/>
                </a:solidFill>
                <a:latin typeface="Cambria" pitchFamily="34" charset="0"/>
                <a:ea typeface="Cambria" pitchFamily="34" charset="-122"/>
                <a:cs typeface="Cambria" pitchFamily="34" charset="-120"/>
              </a:rPr>
              <a:t>Many experienced actors</a:t>
            </a:r>
            <a:endParaRPr lang="en-US" sz="1500" dirty="0"/>
          </a:p>
        </p:txBody>
      </p:sp>
      <p:sp>
        <p:nvSpPr>
          <p:cNvPr id="19" name="Text 17"/>
          <p:cNvSpPr txBox="1"/>
          <p:nvPr/>
        </p:nvSpPr>
        <p:spPr>
          <a:xfrm>
            <a:off x="8247888" y="2176272"/>
            <a:ext cx="3072384" cy="676656"/>
          </a:xfrm>
          <a:prstGeom prst="rect">
            <a:avLst/>
          </a:prstGeom>
          <a:noFill/>
          <a:ln/>
        </p:spPr>
        <p:txBody>
          <a:bodyPr wrap="square" lIns="0" tIns="0" rIns="0" bIns="0" rtlCol="0" anchor="t"/>
          <a:lstStyle/>
          <a:p>
            <a:pPr indent="0" marL="0">
              <a:lnSpc>
                <a:spcPct val="108000"/>
              </a:lnSpc>
              <a:buNone/>
            </a:pPr>
            <a:r>
              <a:rPr lang="en-US" sz="1250" dirty="0">
                <a:solidFill>
                  <a:srgbClr val="3C4655"/>
                </a:solidFill>
                <a:latin typeface="Calibri" pitchFamily="34" charset="0"/>
                <a:ea typeface="Calibri" pitchFamily="34" charset="-122"/>
                <a:cs typeface="Calibri" pitchFamily="34" charset="-120"/>
              </a:rPr>
              <a:t>Trained performers, plural, for generality</a:t>
            </a:r>
            <a:endParaRPr lang="en-US" sz="1250" dirty="0"/>
          </a:p>
        </p:txBody>
      </p:sp>
      <p:sp>
        <p:nvSpPr>
          <p:cNvPr id="20" name="Shape 18"/>
          <p:cNvSpPr/>
          <p:nvPr/>
        </p:nvSpPr>
        <p:spPr>
          <a:xfrm>
            <a:off x="566928" y="3200400"/>
            <a:ext cx="3584448" cy="1463040"/>
          </a:xfrm>
          <a:prstGeom prst="roundRect">
            <a:avLst>
              <a:gd name="adj" fmla="val 3750"/>
            </a:avLst>
          </a:prstGeom>
          <a:solidFill>
            <a:srgbClr val="F2F5F8"/>
          </a:solidFill>
          <a:ln w="12700">
            <a:solidFill>
              <a:srgbClr val="E1E7EE"/>
            </a:solidFill>
            <a:prstDash val="solid"/>
          </a:ln>
        </p:spPr>
      </p:sp>
      <p:sp>
        <p:nvSpPr>
          <p:cNvPr id="21" name="Shape 19"/>
          <p:cNvSpPr/>
          <p:nvPr/>
        </p:nvSpPr>
        <p:spPr>
          <a:xfrm>
            <a:off x="786384" y="3493008"/>
            <a:ext cx="109728" cy="109728"/>
          </a:xfrm>
          <a:prstGeom prst="ellipse">
            <a:avLst/>
          </a:prstGeom>
          <a:solidFill>
            <a:srgbClr val="E4572E"/>
          </a:solidFill>
          <a:ln w="12700">
            <a:solidFill>
              <a:srgbClr val="333333"/>
            </a:solidFill>
            <a:prstDash val="solid"/>
          </a:ln>
        </p:spPr>
      </p:sp>
      <p:sp>
        <p:nvSpPr>
          <p:cNvPr id="22" name="Text 20"/>
          <p:cNvSpPr txBox="1"/>
          <p:nvPr/>
        </p:nvSpPr>
        <p:spPr>
          <a:xfrm>
            <a:off x="987552" y="3364992"/>
            <a:ext cx="2944368" cy="365760"/>
          </a:xfrm>
          <a:prstGeom prst="rect">
            <a:avLst/>
          </a:prstGeom>
          <a:noFill/>
          <a:ln/>
        </p:spPr>
        <p:txBody>
          <a:bodyPr wrap="square" lIns="0" tIns="0" rIns="0" bIns="0" rtlCol="0" anchor="ctr"/>
          <a:lstStyle/>
          <a:p>
            <a:pPr indent="0" marL="0">
              <a:buNone/>
            </a:pPr>
            <a:r>
              <a:rPr lang="en-US" sz="1500" b="1" dirty="0">
                <a:solidFill>
                  <a:srgbClr val="16213A"/>
                </a:solidFill>
                <a:latin typeface="Cambria" pitchFamily="34" charset="0"/>
                <a:ea typeface="Cambria" pitchFamily="34" charset="-122"/>
                <a:cs typeface="Cambria" pitchFamily="34" charset="-120"/>
              </a:rPr>
              <a:t>Controlled content</a:t>
            </a:r>
            <a:endParaRPr lang="en-US" sz="1500" dirty="0"/>
          </a:p>
        </p:txBody>
      </p:sp>
      <p:sp>
        <p:nvSpPr>
          <p:cNvPr id="23" name="Text 21"/>
          <p:cNvSpPr txBox="1"/>
          <p:nvPr/>
        </p:nvSpPr>
        <p:spPr>
          <a:xfrm>
            <a:off x="822960" y="3803904"/>
            <a:ext cx="3072384" cy="676656"/>
          </a:xfrm>
          <a:prstGeom prst="rect">
            <a:avLst/>
          </a:prstGeom>
          <a:noFill/>
          <a:ln/>
        </p:spPr>
        <p:txBody>
          <a:bodyPr wrap="square" lIns="0" tIns="0" rIns="0" bIns="0" rtlCol="0" anchor="t"/>
          <a:lstStyle/>
          <a:p>
            <a:pPr indent="0" marL="0">
              <a:lnSpc>
                <a:spcPct val="108000"/>
              </a:lnSpc>
              <a:buNone/>
            </a:pPr>
            <a:r>
              <a:rPr lang="en-US" sz="1250" dirty="0">
                <a:solidFill>
                  <a:srgbClr val="3C4655"/>
                </a:solidFill>
                <a:latin typeface="Calibri" pitchFamily="34" charset="0"/>
                <a:ea typeface="Calibri" pitchFamily="34" charset="-122"/>
                <a:cs typeface="Calibri" pitchFamily="34" charset="-120"/>
              </a:rPr>
              <a:t>Emotional and linguistic content known in advance</a:t>
            </a:r>
            <a:endParaRPr lang="en-US" sz="1250" dirty="0"/>
          </a:p>
        </p:txBody>
      </p:sp>
      <p:sp>
        <p:nvSpPr>
          <p:cNvPr id="24" name="Shape 22"/>
          <p:cNvSpPr/>
          <p:nvPr/>
        </p:nvSpPr>
        <p:spPr>
          <a:xfrm>
            <a:off x="4279392" y="3200400"/>
            <a:ext cx="3584448" cy="1463040"/>
          </a:xfrm>
          <a:prstGeom prst="roundRect">
            <a:avLst>
              <a:gd name="adj" fmla="val 3750"/>
            </a:avLst>
          </a:prstGeom>
          <a:solidFill>
            <a:srgbClr val="F2F5F8"/>
          </a:solidFill>
          <a:ln w="12700">
            <a:solidFill>
              <a:srgbClr val="E1E7EE"/>
            </a:solidFill>
            <a:prstDash val="solid"/>
          </a:ln>
        </p:spPr>
      </p:sp>
      <p:sp>
        <p:nvSpPr>
          <p:cNvPr id="25" name="Shape 23"/>
          <p:cNvSpPr/>
          <p:nvPr/>
        </p:nvSpPr>
        <p:spPr>
          <a:xfrm>
            <a:off x="4498848" y="3493008"/>
            <a:ext cx="109728" cy="109728"/>
          </a:xfrm>
          <a:prstGeom prst="ellipse">
            <a:avLst/>
          </a:prstGeom>
          <a:solidFill>
            <a:srgbClr val="E4572E"/>
          </a:solidFill>
          <a:ln w="12700">
            <a:solidFill>
              <a:srgbClr val="333333"/>
            </a:solidFill>
            <a:prstDash val="solid"/>
          </a:ln>
        </p:spPr>
      </p:sp>
      <p:sp>
        <p:nvSpPr>
          <p:cNvPr id="26" name="Text 24"/>
          <p:cNvSpPr txBox="1"/>
          <p:nvPr/>
        </p:nvSpPr>
        <p:spPr>
          <a:xfrm>
            <a:off x="4700016" y="3364992"/>
            <a:ext cx="2944368" cy="365760"/>
          </a:xfrm>
          <a:prstGeom prst="rect">
            <a:avLst/>
          </a:prstGeom>
          <a:noFill/>
          <a:ln/>
        </p:spPr>
        <p:txBody>
          <a:bodyPr wrap="square" lIns="0" tIns="0" rIns="0" bIns="0" rtlCol="0" anchor="ctr"/>
          <a:lstStyle/>
          <a:p>
            <a:pPr indent="0" marL="0">
              <a:buNone/>
            </a:pPr>
            <a:r>
              <a:rPr lang="en-US" sz="1500" b="1" dirty="0">
                <a:solidFill>
                  <a:srgbClr val="16213A"/>
                </a:solidFill>
                <a:latin typeface="Cambria" pitchFamily="34" charset="0"/>
                <a:ea typeface="Cambria" pitchFamily="34" charset="-122"/>
                <a:cs typeface="Cambria" pitchFamily="34" charset="-120"/>
              </a:rPr>
              <a:t>Synchronised multimodal capture</a:t>
            </a:r>
            <a:endParaRPr lang="en-US" sz="1500" dirty="0"/>
          </a:p>
        </p:txBody>
      </p:sp>
      <p:sp>
        <p:nvSpPr>
          <p:cNvPr id="27" name="Text 25"/>
          <p:cNvSpPr txBox="1"/>
          <p:nvPr/>
        </p:nvSpPr>
        <p:spPr>
          <a:xfrm>
            <a:off x="4535424" y="3803904"/>
            <a:ext cx="3072384" cy="676656"/>
          </a:xfrm>
          <a:prstGeom prst="rect">
            <a:avLst/>
          </a:prstGeom>
          <a:noFill/>
          <a:ln/>
        </p:spPr>
        <p:txBody>
          <a:bodyPr wrap="square" lIns="0" tIns="0" rIns="0" bIns="0" rtlCol="0" anchor="t"/>
          <a:lstStyle/>
          <a:p>
            <a:pPr indent="0" marL="0">
              <a:lnSpc>
                <a:spcPct val="108000"/>
              </a:lnSpc>
              <a:buNone/>
            </a:pPr>
            <a:r>
              <a:rPr lang="en-US" sz="1250" dirty="0">
                <a:solidFill>
                  <a:srgbClr val="3C4655"/>
                </a:solidFill>
                <a:latin typeface="Calibri" pitchFamily="34" charset="0"/>
                <a:ea typeface="Calibri" pitchFamily="34" charset="-122"/>
                <a:cs typeface="Calibri" pitchFamily="34" charset="-120"/>
              </a:rPr>
              <a:t>Detailed gesture data alongside audio</a:t>
            </a:r>
            <a:endParaRPr lang="en-US" sz="1250" dirty="0"/>
          </a:p>
        </p:txBody>
      </p:sp>
      <p:sp>
        <p:nvSpPr>
          <p:cNvPr id="28" name="Shape 26"/>
          <p:cNvSpPr/>
          <p:nvPr/>
        </p:nvSpPr>
        <p:spPr>
          <a:xfrm>
            <a:off x="7991856" y="3200400"/>
            <a:ext cx="3584448" cy="1463040"/>
          </a:xfrm>
          <a:prstGeom prst="roundRect">
            <a:avLst>
              <a:gd name="adj" fmla="val 3750"/>
            </a:avLst>
          </a:prstGeom>
          <a:solidFill>
            <a:srgbClr val="F2F5F8"/>
          </a:solidFill>
          <a:ln w="12700">
            <a:solidFill>
              <a:srgbClr val="E1E7EE"/>
            </a:solidFill>
            <a:prstDash val="solid"/>
          </a:ln>
        </p:spPr>
      </p:sp>
      <p:sp>
        <p:nvSpPr>
          <p:cNvPr id="29" name="Shape 27"/>
          <p:cNvSpPr/>
          <p:nvPr/>
        </p:nvSpPr>
        <p:spPr>
          <a:xfrm>
            <a:off x="8211312" y="3493008"/>
            <a:ext cx="109728" cy="109728"/>
          </a:xfrm>
          <a:prstGeom prst="ellipse">
            <a:avLst/>
          </a:prstGeom>
          <a:solidFill>
            <a:srgbClr val="E4572E"/>
          </a:solidFill>
          <a:ln w="12700">
            <a:solidFill>
              <a:srgbClr val="333333"/>
            </a:solidFill>
            <a:prstDash val="solid"/>
          </a:ln>
        </p:spPr>
      </p:sp>
      <p:sp>
        <p:nvSpPr>
          <p:cNvPr id="30" name="Text 28"/>
          <p:cNvSpPr txBox="1"/>
          <p:nvPr/>
        </p:nvSpPr>
        <p:spPr>
          <a:xfrm>
            <a:off x="8412480" y="3364992"/>
            <a:ext cx="2944368" cy="365760"/>
          </a:xfrm>
          <a:prstGeom prst="rect">
            <a:avLst/>
          </a:prstGeom>
          <a:noFill/>
          <a:ln/>
        </p:spPr>
        <p:txBody>
          <a:bodyPr wrap="square" lIns="0" tIns="0" rIns="0" bIns="0" rtlCol="0" anchor="ctr"/>
          <a:lstStyle/>
          <a:p>
            <a:pPr indent="0" marL="0">
              <a:buNone/>
            </a:pPr>
            <a:r>
              <a:rPr lang="en-US" sz="1500" b="1" dirty="0">
                <a:solidFill>
                  <a:srgbClr val="16213A"/>
                </a:solidFill>
                <a:latin typeface="Cambria" pitchFamily="34" charset="0"/>
                <a:ea typeface="Cambria" pitchFamily="34" charset="-122"/>
                <a:cs typeface="Cambria" pitchFamily="34" charset="-120"/>
              </a:rPr>
              <a:t>Labels from human judgement</a:t>
            </a:r>
            <a:endParaRPr lang="en-US" sz="1500" dirty="0"/>
          </a:p>
        </p:txBody>
      </p:sp>
      <p:sp>
        <p:nvSpPr>
          <p:cNvPr id="31" name="Text 29"/>
          <p:cNvSpPr txBox="1"/>
          <p:nvPr/>
        </p:nvSpPr>
        <p:spPr>
          <a:xfrm>
            <a:off x="8247888" y="3803904"/>
            <a:ext cx="3072384" cy="676656"/>
          </a:xfrm>
          <a:prstGeom prst="rect">
            <a:avLst/>
          </a:prstGeom>
          <a:noFill/>
          <a:ln/>
        </p:spPr>
        <p:txBody>
          <a:bodyPr wrap="square" lIns="0" tIns="0" rIns="0" bIns="0" rtlCol="0" anchor="t"/>
          <a:lstStyle/>
          <a:p>
            <a:pPr indent="0" marL="0">
              <a:lnSpc>
                <a:spcPct val="108000"/>
              </a:lnSpc>
              <a:buNone/>
            </a:pPr>
            <a:r>
              <a:rPr lang="en-US" sz="1250" dirty="0">
                <a:solidFill>
                  <a:srgbClr val="3C4655"/>
                </a:solidFill>
                <a:latin typeface="Calibri" pitchFamily="34" charset="0"/>
                <a:ea typeface="Calibri" pitchFamily="34" charset="-122"/>
                <a:cs typeface="Calibri" pitchFamily="34" charset="-120"/>
              </a:rPr>
              <a:t>Perceived emotion, not the director's intent</a:t>
            </a:r>
            <a:endParaRPr lang="en-US" sz="1250" dirty="0"/>
          </a:p>
        </p:txBody>
      </p:sp>
      <p:sp>
        <p:nvSpPr>
          <p:cNvPr id="32" name="Shape 30"/>
          <p:cNvSpPr/>
          <p:nvPr/>
        </p:nvSpPr>
        <p:spPr>
          <a:xfrm>
            <a:off x="566928" y="4864608"/>
            <a:ext cx="11064240" cy="1133856"/>
          </a:xfrm>
          <a:prstGeom prst="roundRect">
            <a:avLst>
              <a:gd name="adj" fmla="val 4839"/>
            </a:avLst>
          </a:prstGeom>
          <a:solidFill>
            <a:srgbClr val="1B2A4A"/>
          </a:solidFill>
          <a:ln w="12700">
            <a:solidFill>
              <a:srgbClr val="1B2A4A"/>
            </a:solidFill>
            <a:prstDash val="solid"/>
          </a:ln>
        </p:spPr>
      </p:sp>
      <p:sp>
        <p:nvSpPr>
          <p:cNvPr id="33" name="Shape 31"/>
          <p:cNvSpPr/>
          <p:nvPr/>
        </p:nvSpPr>
        <p:spPr>
          <a:xfrm>
            <a:off x="786384" y="5157216"/>
            <a:ext cx="109728" cy="109728"/>
          </a:xfrm>
          <a:prstGeom prst="ellipse">
            <a:avLst/>
          </a:prstGeom>
          <a:solidFill>
            <a:srgbClr val="E4572E"/>
          </a:solidFill>
          <a:ln w="12700">
            <a:solidFill>
              <a:srgbClr val="333333"/>
            </a:solidFill>
            <a:prstDash val="solid"/>
          </a:ln>
        </p:spPr>
      </p:sp>
      <p:sp>
        <p:nvSpPr>
          <p:cNvPr id="34" name="Text 32"/>
          <p:cNvSpPr txBox="1"/>
          <p:nvPr/>
        </p:nvSpPr>
        <p:spPr>
          <a:xfrm>
            <a:off x="987552" y="5029200"/>
            <a:ext cx="104241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Requirements 1 and 4 are in direct conflict</a:t>
            </a:r>
            <a:endParaRPr lang="en-US" sz="1550" dirty="0"/>
          </a:p>
        </p:txBody>
      </p:sp>
      <p:sp>
        <p:nvSpPr>
          <p:cNvPr id="35" name="Text 33"/>
          <p:cNvSpPr txBox="1"/>
          <p:nvPr/>
        </p:nvSpPr>
        <p:spPr>
          <a:xfrm>
            <a:off x="822960" y="5468112"/>
            <a:ext cx="10552176" cy="347472"/>
          </a:xfrm>
          <a:prstGeom prst="rect">
            <a:avLst/>
          </a:prstGeom>
          <a:noFill/>
          <a:ln/>
        </p:spPr>
        <p:txBody>
          <a:bodyPr wrap="square" lIns="0" tIns="0" rIns="0" bIns="0" rtlCol="0" anchor="t"/>
          <a:lstStyle/>
          <a:p>
            <a:pPr indent="0" marL="0">
              <a:lnSpc>
                <a:spcPct val="108000"/>
              </a:lnSpc>
              <a:buNone/>
            </a:pPr>
            <a:r>
              <a:rPr lang="en-US" sz="1300" dirty="0">
                <a:solidFill>
                  <a:srgbClr val="C9D6E3"/>
                </a:solidFill>
                <a:latin typeface="Calibri" pitchFamily="34" charset="0"/>
                <a:ea typeface="Calibri" pitchFamily="34" charset="-122"/>
                <a:cs typeface="Calibri" pitchFamily="34" charset="-120"/>
              </a:rPr>
              <a:t>You cannot have fully spontaneous emotion and fully controlled content at the same time. The corpus resolves this by refusing to choose: half of it is scripted plays (control) and half is improvisation (naturalness). Almost every later analysis in the paper compares those two halves.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10607040" y="5120640"/>
            <a:ext cx="118872" cy="118872"/>
          </a:xfrm>
          <a:prstGeom prst="ellipse">
            <a:avLst/>
          </a:prstGeom>
          <a:solidFill>
            <a:srgbClr val="E4572E"/>
          </a:solidFill>
          <a:ln w="12700">
            <a:solidFill>
              <a:srgbClr val="E4572E"/>
            </a:solidFill>
            <a:prstDash val="solid"/>
          </a:ln>
        </p:spPr>
      </p:sp>
      <p:sp>
        <p:nvSpPr>
          <p:cNvPr id="3" name="Shape 1"/>
          <p:cNvSpPr/>
          <p:nvPr/>
        </p:nvSpPr>
        <p:spPr>
          <a:xfrm>
            <a:off x="10917936" y="5239512"/>
            <a:ext cx="118872" cy="118872"/>
          </a:xfrm>
          <a:prstGeom prst="ellipse">
            <a:avLst/>
          </a:prstGeom>
          <a:solidFill>
            <a:srgbClr val="E4572E"/>
          </a:solidFill>
          <a:ln w="12700">
            <a:solidFill>
              <a:srgbClr val="E4572E"/>
            </a:solidFill>
            <a:prstDash val="solid"/>
          </a:ln>
        </p:spPr>
      </p:sp>
      <p:sp>
        <p:nvSpPr>
          <p:cNvPr id="4" name="Shape 2"/>
          <p:cNvSpPr/>
          <p:nvPr/>
        </p:nvSpPr>
        <p:spPr>
          <a:xfrm>
            <a:off x="10735056" y="5486400"/>
            <a:ext cx="118872" cy="118872"/>
          </a:xfrm>
          <a:prstGeom prst="ellipse">
            <a:avLst/>
          </a:prstGeom>
          <a:solidFill>
            <a:srgbClr val="E4572E"/>
          </a:solidFill>
          <a:ln w="12700">
            <a:solidFill>
              <a:srgbClr val="E4572E"/>
            </a:solidFill>
            <a:prstDash val="solid"/>
          </a:ln>
        </p:spPr>
      </p:sp>
      <p:sp>
        <p:nvSpPr>
          <p:cNvPr id="5" name="Shape 3"/>
          <p:cNvSpPr/>
          <p:nvPr/>
        </p:nvSpPr>
        <p:spPr>
          <a:xfrm>
            <a:off x="11064240" y="5522976"/>
            <a:ext cx="118872" cy="118872"/>
          </a:xfrm>
          <a:prstGeom prst="ellipse">
            <a:avLst/>
          </a:prstGeom>
          <a:solidFill>
            <a:srgbClr val="E4572E"/>
          </a:solidFill>
          <a:ln w="12700">
            <a:solidFill>
              <a:srgbClr val="E4572E"/>
            </a:solidFill>
            <a:prstDash val="solid"/>
          </a:ln>
        </p:spPr>
      </p:sp>
      <p:sp>
        <p:nvSpPr>
          <p:cNvPr id="6" name="Shape 4"/>
          <p:cNvSpPr/>
          <p:nvPr/>
        </p:nvSpPr>
        <p:spPr>
          <a:xfrm>
            <a:off x="11173968" y="5212080"/>
            <a:ext cx="118872" cy="118872"/>
          </a:xfrm>
          <a:prstGeom prst="ellipse">
            <a:avLst/>
          </a:prstGeom>
          <a:solidFill>
            <a:srgbClr val="E4572E"/>
          </a:solidFill>
          <a:ln w="12700">
            <a:solidFill>
              <a:srgbClr val="E4572E"/>
            </a:solidFill>
            <a:prstDash val="solid"/>
          </a:ln>
        </p:spPr>
      </p:sp>
      <p:sp>
        <p:nvSpPr>
          <p:cNvPr id="7" name="Text 5"/>
          <p:cNvSpPr txBox="1"/>
          <p:nvPr/>
        </p:nvSpPr>
        <p:spPr>
          <a:xfrm>
            <a:off x="822960" y="2057400"/>
            <a:ext cx="1463040" cy="1005840"/>
          </a:xfrm>
          <a:prstGeom prst="rect">
            <a:avLst/>
          </a:prstGeom>
          <a:noFill/>
          <a:ln/>
        </p:spPr>
        <p:txBody>
          <a:bodyPr wrap="square" lIns="0" tIns="0" rIns="0" bIns="0" rtlCol="0" anchor="ctr"/>
          <a:lstStyle/>
          <a:p>
            <a:pPr indent="0" marL="0">
              <a:buNone/>
            </a:pPr>
            <a:r>
              <a:rPr lang="en-US" sz="6800" b="1" dirty="0">
                <a:solidFill>
                  <a:srgbClr val="E4572E"/>
                </a:solidFill>
                <a:latin typeface="Cambria" pitchFamily="34" charset="0"/>
                <a:ea typeface="Cambria" pitchFamily="34" charset="-122"/>
                <a:cs typeface="Cambria" pitchFamily="34" charset="-120"/>
              </a:rPr>
              <a:t>2</a:t>
            </a:r>
            <a:endParaRPr lang="en-US" sz="6800" dirty="0"/>
          </a:p>
        </p:txBody>
      </p:sp>
      <p:sp>
        <p:nvSpPr>
          <p:cNvPr id="8" name="Text 6"/>
          <p:cNvSpPr txBox="1"/>
          <p:nvPr/>
        </p:nvSpPr>
        <p:spPr>
          <a:xfrm>
            <a:off x="2286000" y="2212848"/>
            <a:ext cx="87782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Corpus design</a:t>
            </a:r>
            <a:endParaRPr lang="en-US" sz="3400" dirty="0"/>
          </a:p>
        </p:txBody>
      </p:sp>
      <p:sp>
        <p:nvSpPr>
          <p:cNvPr id="9" name="Text 7"/>
          <p:cNvSpPr txBox="1"/>
          <p:nvPr/>
        </p:nvSpPr>
        <p:spPr>
          <a:xfrm>
            <a:off x="2340864" y="3072384"/>
            <a:ext cx="8595360" cy="731520"/>
          </a:xfrm>
          <a:prstGeom prst="rect">
            <a:avLst/>
          </a:prstGeom>
          <a:noFill/>
          <a:ln/>
        </p:spPr>
        <p:txBody>
          <a:bodyPr wrap="square" lIns="0" tIns="0" rIns="0" bIns="0" rtlCol="0" anchor="ctr"/>
          <a:lstStyle/>
          <a:p>
            <a:pPr indent="0" marL="0">
              <a:buNone/>
            </a:pPr>
            <a:r>
              <a:rPr lang="en-US" sz="1500" dirty="0">
                <a:solidFill>
                  <a:srgbClr val="C9D6E3"/>
                </a:solidFill>
                <a:latin typeface="Calibri" pitchFamily="34" charset="0"/>
                <a:ea typeface="Calibri" pitchFamily="34" charset="-122"/>
                <a:cs typeface="Calibri" pitchFamily="34" charset="-120"/>
              </a:rPr>
              <a:t>Ten actors, five dyads, three plays, eight improvised scenarios</a:t>
            </a:r>
            <a:endParaRPr lang="en-US" sz="1500" dirty="0"/>
          </a:p>
        </p:txBody>
      </p:sp>
      <p:sp>
        <p:nvSpPr>
          <p:cNvPr id="10" name="Text 8"/>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The core idea: put the emotion inside an interaction</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One participant is motion-captured; the other is a real conversational partner</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9</a:t>
            </a:r>
            <a:endParaRPr lang="en-US" sz="900" dirty="0"/>
          </a:p>
        </p:txBody>
      </p:sp>
      <p:sp>
        <p:nvSpPr>
          <p:cNvPr id="8" name="Shape 6"/>
          <p:cNvSpPr/>
          <p:nvPr/>
        </p:nvSpPr>
        <p:spPr>
          <a:xfrm>
            <a:off x="566928" y="1572768"/>
            <a:ext cx="5943600" cy="3063240"/>
          </a:xfrm>
          <a:prstGeom prst="roundRect">
            <a:avLst>
              <a:gd name="adj" fmla="val 1791"/>
            </a:avLst>
          </a:prstGeom>
          <a:solidFill>
            <a:srgbClr val="F2F5F8"/>
          </a:solidFill>
          <a:ln w="12700">
            <a:solidFill>
              <a:srgbClr val="E1E7EE"/>
            </a:solidFill>
            <a:prstDash val="solid"/>
          </a:ln>
        </p:spPr>
      </p:sp>
      <p:sp>
        <p:nvSpPr>
          <p:cNvPr id="9" name="Shape 7"/>
          <p:cNvSpPr/>
          <p:nvPr/>
        </p:nvSpPr>
        <p:spPr>
          <a:xfrm>
            <a:off x="1234440" y="2331720"/>
            <a:ext cx="1371600" cy="1371600"/>
          </a:xfrm>
          <a:prstGeom prst="ellipse">
            <a:avLst/>
          </a:prstGeom>
          <a:solidFill>
            <a:srgbClr val="1B2A4A"/>
          </a:solidFill>
          <a:ln w="12700">
            <a:solidFill>
              <a:srgbClr val="333333"/>
            </a:solidFill>
            <a:prstDash val="solid"/>
          </a:ln>
        </p:spPr>
      </p:sp>
      <p:sp>
        <p:nvSpPr>
          <p:cNvPr id="10" name="Text 8"/>
          <p:cNvSpPr txBox="1"/>
          <p:nvPr/>
        </p:nvSpPr>
        <p:spPr>
          <a:xfrm>
            <a:off x="1234440" y="2697480"/>
            <a:ext cx="137160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Subject A</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markers</a:t>
            </a:r>
            <a:endParaRPr lang="en-US" sz="1150" dirty="0"/>
          </a:p>
        </p:txBody>
      </p:sp>
      <p:sp>
        <p:nvSpPr>
          <p:cNvPr id="11" name="Shape 9"/>
          <p:cNvSpPr/>
          <p:nvPr/>
        </p:nvSpPr>
        <p:spPr>
          <a:xfrm>
            <a:off x="4434840" y="2331720"/>
            <a:ext cx="1371600" cy="1371600"/>
          </a:xfrm>
          <a:prstGeom prst="ellipse">
            <a:avLst/>
          </a:prstGeom>
          <a:solidFill>
            <a:srgbClr val="4A7FA5"/>
          </a:solidFill>
          <a:ln w="12700">
            <a:solidFill>
              <a:srgbClr val="333333"/>
            </a:solidFill>
            <a:prstDash val="solid"/>
          </a:ln>
        </p:spPr>
      </p:sp>
      <p:sp>
        <p:nvSpPr>
          <p:cNvPr id="12" name="Text 10"/>
          <p:cNvSpPr txBox="1"/>
          <p:nvPr/>
        </p:nvSpPr>
        <p:spPr>
          <a:xfrm>
            <a:off x="4434840" y="2697480"/>
            <a:ext cx="137160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Subject B</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no markers</a:t>
            </a:r>
            <a:endParaRPr lang="en-US" sz="1150" dirty="0"/>
          </a:p>
        </p:txBody>
      </p:sp>
      <p:sp>
        <p:nvSpPr>
          <p:cNvPr id="13" name="Shape 11"/>
          <p:cNvSpPr/>
          <p:nvPr/>
        </p:nvSpPr>
        <p:spPr>
          <a:xfrm>
            <a:off x="2743200" y="2852928"/>
            <a:ext cx="1554480" cy="0"/>
          </a:xfrm>
          <a:prstGeom prst="line">
            <a:avLst/>
          </a:prstGeom>
          <a:noFill/>
          <a:ln w="31750">
            <a:solidFill>
              <a:srgbClr val="E4572E"/>
            </a:solidFill>
            <a:prstDash val="solid"/>
            <a:headEnd type="triangle"/>
            <a:tailEnd type="triangle"/>
          </a:ln>
        </p:spPr>
      </p:sp>
      <p:sp>
        <p:nvSpPr>
          <p:cNvPr id="14" name="Text 12"/>
          <p:cNvSpPr txBox="1"/>
          <p:nvPr/>
        </p:nvSpPr>
        <p:spPr>
          <a:xfrm>
            <a:off x="914400" y="3913632"/>
            <a:ext cx="5212080" cy="274320"/>
          </a:xfrm>
          <a:prstGeom prst="rect">
            <a:avLst/>
          </a:prstGeom>
          <a:noFill/>
          <a:ln/>
        </p:spPr>
        <p:txBody>
          <a:bodyPr wrap="square" lIns="0" tIns="0" rIns="0" bIns="0" rtlCol="0" anchor="ctr"/>
          <a:lstStyle/>
          <a:p>
            <a:pPr algn="ctr" indent="0" marL="0">
              <a:buNone/>
            </a:pPr>
            <a:r>
              <a:rPr lang="en-US" sz="1200" i="1" dirty="0">
                <a:solidFill>
                  <a:srgbClr val="5C6675"/>
                </a:solidFill>
                <a:latin typeface="Calibri" pitchFamily="34" charset="0"/>
                <a:ea typeface="Calibri" pitchFamily="34" charset="-122"/>
                <a:cs typeface="Calibri" pitchFamily="34" charset="-120"/>
              </a:rPr>
              <a:t>~3 m apart, facing each other</a:t>
            </a:r>
            <a:endParaRPr lang="en-US" sz="1200" dirty="0"/>
          </a:p>
        </p:txBody>
      </p:sp>
      <p:sp>
        <p:nvSpPr>
          <p:cNvPr id="15" name="Text 13"/>
          <p:cNvSpPr txBox="1"/>
          <p:nvPr/>
        </p:nvSpPr>
        <p:spPr>
          <a:xfrm>
            <a:off x="914400" y="1874520"/>
            <a:ext cx="5212080" cy="310896"/>
          </a:xfrm>
          <a:prstGeom prst="rect">
            <a:avLst/>
          </a:prstGeom>
          <a:noFill/>
          <a:ln/>
        </p:spPr>
        <p:txBody>
          <a:bodyPr wrap="square" lIns="0" tIns="0" rIns="0" bIns="0" rtlCol="0" anchor="ctr"/>
          <a:lstStyle/>
          <a:p>
            <a:pPr algn="ctr" indent="0" marL="0">
              <a:buNone/>
            </a:pPr>
            <a:r>
              <a:rPr lang="en-US" sz="1350" b="1" dirty="0">
                <a:solidFill>
                  <a:srgbClr val="E4572E"/>
                </a:solidFill>
                <a:latin typeface="Calibri" pitchFamily="34" charset="0"/>
                <a:ea typeface="Calibri" pitchFamily="34" charset="-122"/>
                <a:cs typeface="Calibri" pitchFamily="34" charset="-120"/>
              </a:rPr>
              <a:t>≈ 5 minutes per dialogue</a:t>
            </a:r>
            <a:endParaRPr lang="en-US" sz="1350" dirty="0"/>
          </a:p>
        </p:txBody>
      </p:sp>
      <p:sp>
        <p:nvSpPr>
          <p:cNvPr id="16" name="Text 14"/>
          <p:cNvSpPr txBox="1"/>
          <p:nvPr/>
        </p:nvSpPr>
        <p:spPr>
          <a:xfrm>
            <a:off x="6766560" y="1700784"/>
            <a:ext cx="4864608" cy="28346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3C4655"/>
                </a:solidFill>
                <a:latin typeface="Calibri" pitchFamily="34" charset="0"/>
                <a:ea typeface="Calibri" pitchFamily="34" charset="-122"/>
                <a:cs typeface="Calibri" pitchFamily="34" charset="-120"/>
              </a:rPr>
              <a:t>An emotion has a cause and an addressee. In a monologue it has neither.</a:t>
            </a:r>
            <a:endParaRPr lang="en-US" sz="1350" dirty="0"/>
          </a:p>
          <a:p>
            <a:pPr marL="342900" indent="-342900">
              <a:spcAft>
                <a:spcPts val="800"/>
              </a:spcAft>
              <a:buSzPct val="100000"/>
              <a:buChar char="●"/>
            </a:pPr>
            <a:r>
              <a:rPr lang="en-US" sz="1350" dirty="0">
                <a:solidFill>
                  <a:srgbClr val="3C4655"/>
                </a:solidFill>
                <a:latin typeface="Calibri" pitchFamily="34" charset="0"/>
                <a:ea typeface="Calibri" pitchFamily="34" charset="-122"/>
                <a:cs typeface="Calibri" pitchFamily="34" charset="-120"/>
              </a:rPr>
              <a:t>The partner supplies real-time uptake: interruption, sympathy, escalation.</a:t>
            </a:r>
            <a:endParaRPr lang="en-US" sz="1350" dirty="0"/>
          </a:p>
          <a:p>
            <a:pPr marL="342900" indent="-342900">
              <a:spcAft>
                <a:spcPts val="800"/>
              </a:spcAft>
              <a:buSzPct val="100000"/>
              <a:buChar char="●"/>
            </a:pPr>
            <a:r>
              <a:rPr lang="en-US" sz="1350" dirty="0">
                <a:solidFill>
                  <a:srgbClr val="3C4655"/>
                </a:solidFill>
                <a:latin typeface="Calibri" pitchFamily="34" charset="0"/>
                <a:ea typeface="Calibri" pitchFamily="34" charset="-122"/>
                <a:cs typeface="Calibri" pitchFamily="34" charset="-120"/>
              </a:rPr>
              <a:t>Dialogues run about five minutes, so emotion arrives with discourse history behind it.</a:t>
            </a:r>
            <a:endParaRPr lang="en-US" sz="1350" dirty="0"/>
          </a:p>
          <a:p>
            <a:pPr marL="342900" indent="-342900">
              <a:spcAft>
                <a:spcPts val="800"/>
              </a:spcAft>
              <a:buSzPct val="100000"/>
              <a:buChar char="●"/>
            </a:pPr>
            <a:r>
              <a:rPr lang="en-US" sz="1350" dirty="0">
                <a:solidFill>
                  <a:srgbClr val="3C4655"/>
                </a:solidFill>
                <a:latin typeface="Calibri" pitchFamily="34" charset="0"/>
                <a:ea typeface="Calibri" pitchFamily="34" charset="-122"/>
                <a:cs typeface="Calibri" pitchFamily="34" charset="-120"/>
              </a:rPr>
              <a:t>Raters later judge each turn in sequence, with that same context available.</a:t>
            </a:r>
            <a:endParaRPr lang="en-US" sz="1350" dirty="0"/>
          </a:p>
          <a:p>
            <a:pPr marL="342900" indent="-342900">
              <a:spcAft>
                <a:spcPts val="800"/>
              </a:spcAft>
              <a:buSzPct val="100000"/>
              <a:buChar char="●"/>
            </a:pPr>
            <a:r>
              <a:rPr lang="en-US" sz="1350" dirty="0">
                <a:solidFill>
                  <a:srgbClr val="3C4655"/>
                </a:solidFill>
                <a:latin typeface="Calibri" pitchFamily="34" charset="0"/>
                <a:ea typeface="Calibri" pitchFamily="34" charset="-122"/>
                <a:cs typeface="Calibri" pitchFamily="34" charset="-120"/>
              </a:rPr>
              <a:t>Actors reported the rig did not interfere with natural interaction.</a:t>
            </a:r>
            <a:endParaRPr lang="en-US" sz="1350" dirty="0"/>
          </a:p>
        </p:txBody>
      </p:sp>
      <p:sp>
        <p:nvSpPr>
          <p:cNvPr id="17" name="Shape 15"/>
          <p:cNvSpPr/>
          <p:nvPr/>
        </p:nvSpPr>
        <p:spPr>
          <a:xfrm>
            <a:off x="566928" y="4846320"/>
            <a:ext cx="11064240" cy="1152144"/>
          </a:xfrm>
          <a:prstGeom prst="roundRect">
            <a:avLst>
              <a:gd name="adj" fmla="val 4762"/>
            </a:avLst>
          </a:prstGeom>
          <a:solidFill>
            <a:srgbClr val="FBF1EC"/>
          </a:solidFill>
          <a:ln w="12700">
            <a:solidFill>
              <a:srgbClr val="F0D5C7"/>
            </a:solidFill>
            <a:prstDash val="solid"/>
          </a:ln>
        </p:spPr>
      </p:sp>
      <p:sp>
        <p:nvSpPr>
          <p:cNvPr id="18" name="Shape 16"/>
          <p:cNvSpPr/>
          <p:nvPr/>
        </p:nvSpPr>
        <p:spPr>
          <a:xfrm>
            <a:off x="786384" y="5138928"/>
            <a:ext cx="109728" cy="109728"/>
          </a:xfrm>
          <a:prstGeom prst="ellipse">
            <a:avLst/>
          </a:prstGeom>
          <a:solidFill>
            <a:srgbClr val="E4572E"/>
          </a:solidFill>
          <a:ln w="12700">
            <a:solidFill>
              <a:srgbClr val="333333"/>
            </a:solidFill>
            <a:prstDash val="solid"/>
          </a:ln>
        </p:spPr>
      </p:sp>
      <p:sp>
        <p:nvSpPr>
          <p:cNvPr id="19" name="Text 17"/>
          <p:cNvSpPr txBox="1"/>
          <p:nvPr/>
        </p:nvSpPr>
        <p:spPr>
          <a:xfrm>
            <a:off x="987552" y="5010912"/>
            <a:ext cx="10424160" cy="36576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Design consequence</a:t>
            </a:r>
            <a:endParaRPr lang="en-US" sz="1550" dirty="0"/>
          </a:p>
        </p:txBody>
      </p:sp>
      <p:sp>
        <p:nvSpPr>
          <p:cNvPr id="20" name="Text 18"/>
          <p:cNvSpPr txBox="1"/>
          <p:nvPr/>
        </p:nvSpPr>
        <p:spPr>
          <a:xfrm>
            <a:off x="822960" y="5449824"/>
            <a:ext cx="10552176" cy="365760"/>
          </a:xfrm>
          <a:prstGeom prst="rect">
            <a:avLst/>
          </a:prstGeom>
          <a:noFill/>
          <a:ln/>
        </p:spPr>
        <p:txBody>
          <a:bodyPr wrap="square" lIns="0" tIns="0" rIns="0" bIns="0" rtlCol="0" anchor="t"/>
          <a:lstStyle/>
          <a:p>
            <a:pPr indent="0" marL="0">
              <a:lnSpc>
                <a:spcPct val="108000"/>
              </a:lnSpc>
              <a:buNone/>
            </a:pPr>
            <a:r>
              <a:rPr lang="en-US" sz="1300" dirty="0">
                <a:solidFill>
                  <a:srgbClr val="3C4655"/>
                </a:solidFill>
                <a:latin typeface="Calibri" pitchFamily="34" charset="0"/>
                <a:ea typeface="Calibri" pitchFamily="34" charset="-122"/>
                <a:cs typeface="Calibri" pitchFamily="34" charset="-120"/>
              </a:rPr>
              <a:t>Because the two speakers are in genuine dialogue, IEMOCAP supports research questions no single-speaker corpus can: entrainment, interruption, listener backchannels, and how one participant's affect drives the other's.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Two elicitation routes, deliberately kept separate</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Roughly half the turns come from each</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10</a:t>
            </a:r>
            <a:endParaRPr lang="en-US" sz="900" dirty="0"/>
          </a:p>
        </p:txBody>
      </p:sp>
      <p:sp>
        <p:nvSpPr>
          <p:cNvPr id="8" name="Shape 6"/>
          <p:cNvSpPr/>
          <p:nvPr/>
        </p:nvSpPr>
        <p:spPr>
          <a:xfrm>
            <a:off x="566928" y="1554480"/>
            <a:ext cx="5440680" cy="3200400"/>
          </a:xfrm>
          <a:prstGeom prst="roundRect">
            <a:avLst>
              <a:gd name="adj" fmla="val 1714"/>
            </a:avLst>
          </a:prstGeom>
          <a:solidFill>
            <a:srgbClr val="F2F5F8"/>
          </a:solidFill>
          <a:ln w="12700">
            <a:solidFill>
              <a:srgbClr val="E1E7EE"/>
            </a:solidFill>
            <a:prstDash val="solid"/>
          </a:ln>
        </p:spPr>
      </p:sp>
      <p:sp>
        <p:nvSpPr>
          <p:cNvPr id="9" name="Shape 7"/>
          <p:cNvSpPr/>
          <p:nvPr/>
        </p:nvSpPr>
        <p:spPr>
          <a:xfrm>
            <a:off x="786384" y="1847088"/>
            <a:ext cx="109728" cy="109728"/>
          </a:xfrm>
          <a:prstGeom prst="ellipse">
            <a:avLst/>
          </a:prstGeom>
          <a:solidFill>
            <a:srgbClr val="E4572E"/>
          </a:solidFill>
          <a:ln w="12700">
            <a:solidFill>
              <a:srgbClr val="333333"/>
            </a:solidFill>
            <a:prstDash val="solid"/>
          </a:ln>
        </p:spPr>
      </p:sp>
      <p:sp>
        <p:nvSpPr>
          <p:cNvPr id="10" name="Text 8"/>
          <p:cNvSpPr txBox="1"/>
          <p:nvPr/>
        </p:nvSpPr>
        <p:spPr>
          <a:xfrm>
            <a:off x="987552" y="1719072"/>
            <a:ext cx="4800600" cy="36576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Scripted sessions   ·   5,255 turns</a:t>
            </a:r>
            <a:endParaRPr lang="en-US" sz="1550" dirty="0"/>
          </a:p>
        </p:txBody>
      </p:sp>
      <p:sp>
        <p:nvSpPr>
          <p:cNvPr id="11" name="Text 9"/>
          <p:cNvSpPr txBox="1"/>
          <p:nvPr/>
        </p:nvSpPr>
        <p:spPr>
          <a:xfrm>
            <a:off x="822960" y="2157984"/>
            <a:ext cx="4928616" cy="2414016"/>
          </a:xfrm>
          <a:prstGeom prst="rect">
            <a:avLst/>
          </a:prstGeom>
          <a:noFill/>
          <a:ln/>
        </p:spPr>
        <p:txBody>
          <a:bodyPr wrap="square" lIns="0" tIns="0" rIns="0" bIns="0" rtlCol="0" anchor="t"/>
          <a:lstStyle/>
          <a:p>
            <a:pPr indent="0" marL="0">
              <a:lnSpc>
                <a:spcPct val="108000"/>
              </a:lnSpc>
              <a:buNone/>
            </a:pPr>
            <a:r>
              <a:rPr lang="en-US" sz="1280" dirty="0">
                <a:solidFill>
                  <a:srgbClr val="3C4655"/>
                </a:solidFill>
                <a:latin typeface="Calibri" pitchFamily="34" charset="0"/>
                <a:ea typeface="Calibri" pitchFamily="34" charset="-122"/>
                <a:cs typeface="Calibri" pitchFamily="34" charset="-120"/>
              </a:rPr>
              <a:t>Three ten-minute plays, selected after reading more than a hundred candidates, each with one male and one female role so the data stays gender-balanced.</a:t>
            </a:r>
            <a:endParaRPr lang="en-US" sz="1280" dirty="0"/>
          </a:p>
          <a:p>
            <a:pPr indent="0" marL="0">
              <a:lnSpc>
                <a:spcPct val="108000"/>
              </a:lnSpc>
              <a:buNone/>
            </a:pPr>
            <a:endParaRPr lang="en-US" sz="1280" dirty="0"/>
          </a:p>
          <a:p>
            <a:pPr indent="0" marL="0">
              <a:lnSpc>
                <a:spcPct val="108000"/>
              </a:lnSpc>
              <a:buNone/>
            </a:pPr>
            <a:r>
              <a:rPr lang="en-US" sz="1280" dirty="0">
                <a:solidFill>
                  <a:srgbClr val="3C4655"/>
                </a:solidFill>
                <a:latin typeface="Calibri" pitchFamily="34" charset="0"/>
                <a:ea typeface="Calibri" pitchFamily="34" charset="-122"/>
                <a:cs typeface="Calibri" pitchFamily="34" charset="-120"/>
              </a:rPr>
              <a:t>A theatre professional supervised selection to ensure the plays covered the five target emotions. Actors memorised and rehearsed the text.</a:t>
            </a:r>
            <a:endParaRPr lang="en-US" sz="1280" dirty="0"/>
          </a:p>
          <a:p>
            <a:pPr indent="0" marL="0">
              <a:lnSpc>
                <a:spcPct val="108000"/>
              </a:lnSpc>
              <a:buNone/>
            </a:pPr>
            <a:endParaRPr lang="en-US" sz="1280" dirty="0"/>
          </a:p>
          <a:p>
            <a:pPr indent="0" marL="0">
              <a:lnSpc>
                <a:spcPct val="108000"/>
              </a:lnSpc>
              <a:buNone/>
            </a:pPr>
            <a:r>
              <a:rPr lang="en-US" sz="1280" dirty="0">
                <a:solidFill>
                  <a:srgbClr val="3C4655"/>
                </a:solidFill>
                <a:latin typeface="Calibri" pitchFamily="34" charset="0"/>
                <a:ea typeface="Calibri" pitchFamily="34" charset="-122"/>
                <a:cs typeface="Calibri" pitchFamily="34" charset="-120"/>
              </a:rPr>
              <a:t>Gives: identical linguistic content across sessions, so lexical effects can be controlled for. Emotion flows and changes as the narrative dictates.</a:t>
            </a:r>
            <a:endParaRPr lang="en-US" sz="1280" dirty="0"/>
          </a:p>
        </p:txBody>
      </p:sp>
      <p:sp>
        <p:nvSpPr>
          <p:cNvPr id="12" name="Shape 10"/>
          <p:cNvSpPr/>
          <p:nvPr/>
        </p:nvSpPr>
        <p:spPr>
          <a:xfrm>
            <a:off x="6190488" y="1554480"/>
            <a:ext cx="5440680" cy="3200400"/>
          </a:xfrm>
          <a:prstGeom prst="roundRect">
            <a:avLst>
              <a:gd name="adj" fmla="val 1714"/>
            </a:avLst>
          </a:prstGeom>
          <a:solidFill>
            <a:srgbClr val="F2F5F8"/>
          </a:solidFill>
          <a:ln w="12700">
            <a:solidFill>
              <a:srgbClr val="E1E7EE"/>
            </a:solidFill>
            <a:prstDash val="solid"/>
          </a:ln>
        </p:spPr>
      </p:sp>
      <p:sp>
        <p:nvSpPr>
          <p:cNvPr id="13" name="Shape 11"/>
          <p:cNvSpPr/>
          <p:nvPr/>
        </p:nvSpPr>
        <p:spPr>
          <a:xfrm>
            <a:off x="6409944" y="1847088"/>
            <a:ext cx="109728" cy="109728"/>
          </a:xfrm>
          <a:prstGeom prst="ellipse">
            <a:avLst/>
          </a:prstGeom>
          <a:solidFill>
            <a:srgbClr val="4A7FA5"/>
          </a:solidFill>
          <a:ln w="12700">
            <a:solidFill>
              <a:srgbClr val="333333"/>
            </a:solidFill>
            <a:prstDash val="solid"/>
          </a:ln>
        </p:spPr>
      </p:sp>
      <p:sp>
        <p:nvSpPr>
          <p:cNvPr id="14" name="Text 12"/>
          <p:cNvSpPr txBox="1"/>
          <p:nvPr/>
        </p:nvSpPr>
        <p:spPr>
          <a:xfrm>
            <a:off x="6611112" y="1719072"/>
            <a:ext cx="4800600" cy="36576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Spontaneous sessions   ·   4,784 turns</a:t>
            </a:r>
            <a:endParaRPr lang="en-US" sz="1550" dirty="0"/>
          </a:p>
        </p:txBody>
      </p:sp>
      <p:sp>
        <p:nvSpPr>
          <p:cNvPr id="15" name="Text 13"/>
          <p:cNvSpPr txBox="1"/>
          <p:nvPr/>
        </p:nvSpPr>
        <p:spPr>
          <a:xfrm>
            <a:off x="6446520" y="2157984"/>
            <a:ext cx="4928616" cy="2414016"/>
          </a:xfrm>
          <a:prstGeom prst="rect">
            <a:avLst/>
          </a:prstGeom>
          <a:noFill/>
          <a:ln/>
        </p:spPr>
        <p:txBody>
          <a:bodyPr wrap="square" lIns="0" tIns="0" rIns="0" bIns="0" rtlCol="0" anchor="t"/>
          <a:lstStyle/>
          <a:p>
            <a:pPr indent="0" marL="0">
              <a:lnSpc>
                <a:spcPct val="108000"/>
              </a:lnSpc>
              <a:buNone/>
            </a:pPr>
            <a:r>
              <a:rPr lang="en-US" sz="1280" dirty="0">
                <a:solidFill>
                  <a:srgbClr val="3C4655"/>
                </a:solidFill>
                <a:latin typeface="Calibri" pitchFamily="34" charset="0"/>
                <a:ea typeface="Calibri" pitchFamily="34" charset="-122"/>
                <a:cs typeface="Calibri" pitchFamily="34" charset="-120"/>
              </a:rPr>
              <a:t>Eight hypothetical scenarios, each assigning a target emotion to each partner. Actors improvised in their own words.</a:t>
            </a:r>
            <a:endParaRPr lang="en-US" sz="1280" dirty="0"/>
          </a:p>
          <a:p>
            <a:pPr indent="0" marL="0">
              <a:lnSpc>
                <a:spcPct val="108000"/>
              </a:lnSpc>
              <a:buNone/>
            </a:pPr>
            <a:endParaRPr lang="en-US" sz="1280" dirty="0"/>
          </a:p>
          <a:p>
            <a:pPr indent="0" marL="0">
              <a:lnSpc>
                <a:spcPct val="108000"/>
              </a:lnSpc>
              <a:buNone/>
            </a:pPr>
            <a:r>
              <a:rPr lang="en-US" sz="1280" dirty="0">
                <a:solidFill>
                  <a:srgbClr val="3C4655"/>
                </a:solidFill>
                <a:latin typeface="Calibri" pitchFamily="34" charset="0"/>
                <a:ea typeface="Calibri" pitchFamily="34" charset="-122"/>
                <a:cs typeface="Calibri" pitchFamily="34" charset="-120"/>
              </a:rPr>
              <a:t>Scenario topics follow Scherer, Wallbott and Summerfield's survey of situations people actually report as emotionally significant — bereavement, separation, bureaucratic obstruction.</a:t>
            </a:r>
            <a:endParaRPr lang="en-US" sz="1280" dirty="0"/>
          </a:p>
          <a:p>
            <a:pPr indent="0" marL="0">
              <a:lnSpc>
                <a:spcPct val="108000"/>
              </a:lnSpc>
              <a:buNone/>
            </a:pPr>
            <a:endParaRPr lang="en-US" sz="1280" dirty="0"/>
          </a:p>
          <a:p>
            <a:pPr indent="0" marL="0">
              <a:lnSpc>
                <a:spcPct val="108000"/>
              </a:lnSpc>
              <a:buNone/>
            </a:pPr>
            <a:r>
              <a:rPr lang="en-US" sz="1280" dirty="0">
                <a:solidFill>
                  <a:srgbClr val="3C4655"/>
                </a:solidFill>
                <a:latin typeface="Calibri" pitchFamily="34" charset="0"/>
                <a:ea typeface="Calibri" pitchFamily="34" charset="-122"/>
                <a:cs typeface="Calibri" pitchFamily="34" charset="-120"/>
              </a:rPr>
              <a:t>Gives: unrehearsed word choice, disfluency, genuine turn-taking. Costs: no control over what is said.</a:t>
            </a:r>
            <a:endParaRPr lang="en-US" sz="1280" dirty="0"/>
          </a:p>
        </p:txBody>
      </p:sp>
      <p:sp>
        <p:nvSpPr>
          <p:cNvPr id="16" name="Shape 14"/>
          <p:cNvSpPr/>
          <p:nvPr/>
        </p:nvSpPr>
        <p:spPr>
          <a:xfrm>
            <a:off x="566928" y="4901184"/>
            <a:ext cx="11064240" cy="1097280"/>
          </a:xfrm>
          <a:prstGeom prst="roundRect">
            <a:avLst>
              <a:gd name="adj" fmla="val 5000"/>
            </a:avLst>
          </a:prstGeom>
          <a:solidFill>
            <a:srgbClr val="1B2A4A"/>
          </a:solidFill>
          <a:ln w="12700">
            <a:solidFill>
              <a:srgbClr val="1B2A4A"/>
            </a:solidFill>
            <a:prstDash val="solid"/>
          </a:ln>
        </p:spPr>
      </p:sp>
      <p:sp>
        <p:nvSpPr>
          <p:cNvPr id="17" name="Shape 15"/>
          <p:cNvSpPr/>
          <p:nvPr/>
        </p:nvSpPr>
        <p:spPr>
          <a:xfrm>
            <a:off x="786384" y="5193792"/>
            <a:ext cx="109728" cy="109728"/>
          </a:xfrm>
          <a:prstGeom prst="ellipse">
            <a:avLst/>
          </a:prstGeom>
          <a:solidFill>
            <a:srgbClr val="E4572E"/>
          </a:solidFill>
          <a:ln w="12700">
            <a:solidFill>
              <a:srgbClr val="333333"/>
            </a:solidFill>
            <a:prstDash val="solid"/>
          </a:ln>
        </p:spPr>
      </p:sp>
      <p:sp>
        <p:nvSpPr>
          <p:cNvPr id="18" name="Text 16"/>
          <p:cNvSpPr txBox="1"/>
          <p:nvPr/>
        </p:nvSpPr>
        <p:spPr>
          <a:xfrm>
            <a:off x="987552" y="5065776"/>
            <a:ext cx="104241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Target emotions designed into the material</a:t>
            </a:r>
            <a:endParaRPr lang="en-US" sz="1550" dirty="0"/>
          </a:p>
        </p:txBody>
      </p:sp>
      <p:sp>
        <p:nvSpPr>
          <p:cNvPr id="19" name="Text 17"/>
          <p:cNvSpPr txBox="1"/>
          <p:nvPr/>
        </p:nvSpPr>
        <p:spPr>
          <a:xfrm>
            <a:off x="822960" y="5504688"/>
            <a:ext cx="10552176" cy="310896"/>
          </a:xfrm>
          <a:prstGeom prst="rect">
            <a:avLst/>
          </a:prstGeom>
          <a:noFill/>
          <a:ln/>
        </p:spPr>
        <p:txBody>
          <a:bodyPr wrap="square" lIns="0" tIns="0" rIns="0" bIns="0" rtlCol="0" anchor="t"/>
          <a:lstStyle/>
          <a:p>
            <a:pPr indent="0" marL="0">
              <a:lnSpc>
                <a:spcPct val="108000"/>
              </a:lnSpc>
              <a:buNone/>
            </a:pPr>
            <a:r>
              <a:rPr lang="en-US" sz="1300" dirty="0">
                <a:solidFill>
                  <a:srgbClr val="C9D6E3"/>
                </a:solidFill>
                <a:latin typeface="Calibri" pitchFamily="34" charset="0"/>
                <a:ea typeface="Calibri" pitchFamily="34" charset="-122"/>
                <a:cs typeface="Calibri" pitchFamily="34" charset="-120"/>
              </a:rPr>
              <a:t>Happiness · Anger · Sadness · Frustration · Neutral.  Frustration was added to the usual four because it dominates real human–machine interaction. Four further categories were added later, at annotation time, to describe what the actors actually produced.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The improvised scenarios</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Each scenario assigns a different target emotion to each partner</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11</a:t>
            </a:r>
            <a:endParaRPr lang="en-US" sz="900" dirty="0"/>
          </a:p>
        </p:txBody>
      </p:sp>
      <p:sp>
        <p:nvSpPr>
          <p:cNvPr id="8" name="Text 6"/>
          <p:cNvSpPr txBox="1"/>
          <p:nvPr/>
        </p:nvSpPr>
        <p:spPr>
          <a:xfrm>
            <a:off x="749808" y="1481328"/>
            <a:ext cx="6949440" cy="256032"/>
          </a:xfrm>
          <a:prstGeom prst="rect">
            <a:avLst/>
          </a:prstGeom>
          <a:noFill/>
          <a:ln/>
        </p:spPr>
        <p:txBody>
          <a:bodyPr wrap="square" lIns="0" tIns="0" rIns="0" bIns="0" rtlCol="0" anchor="ctr"/>
          <a:lstStyle/>
          <a:p>
            <a:pPr indent="0" marL="0">
              <a:buNone/>
            </a:pPr>
            <a:r>
              <a:rPr lang="en-US" sz="1150" b="1" dirty="0">
                <a:solidFill>
                  <a:srgbClr val="5C6675"/>
                </a:solidFill>
                <a:latin typeface="Calibri" pitchFamily="34" charset="0"/>
                <a:ea typeface="Calibri" pitchFamily="34" charset="-122"/>
                <a:cs typeface="Calibri" pitchFamily="34" charset="-120"/>
              </a:rPr>
              <a:t>Scenario</a:t>
            </a:r>
            <a:endParaRPr lang="en-US" sz="1150" dirty="0"/>
          </a:p>
        </p:txBody>
      </p:sp>
      <p:sp>
        <p:nvSpPr>
          <p:cNvPr id="9" name="Text 7"/>
          <p:cNvSpPr txBox="1"/>
          <p:nvPr/>
        </p:nvSpPr>
        <p:spPr>
          <a:xfrm>
            <a:off x="7955280" y="1481328"/>
            <a:ext cx="1737360" cy="256032"/>
          </a:xfrm>
          <a:prstGeom prst="rect">
            <a:avLst/>
          </a:prstGeom>
          <a:noFill/>
          <a:ln/>
        </p:spPr>
        <p:txBody>
          <a:bodyPr wrap="square" lIns="0" tIns="0" rIns="0" bIns="0" rtlCol="0" anchor="ctr"/>
          <a:lstStyle/>
          <a:p>
            <a:pPr indent="0" marL="0">
              <a:buNone/>
            </a:pPr>
            <a:r>
              <a:rPr lang="en-US" sz="1150" b="1" dirty="0">
                <a:solidFill>
                  <a:srgbClr val="5C6675"/>
                </a:solidFill>
                <a:latin typeface="Calibri" pitchFamily="34" charset="0"/>
                <a:ea typeface="Calibri" pitchFamily="34" charset="-122"/>
                <a:cs typeface="Calibri" pitchFamily="34" charset="-120"/>
              </a:rPr>
              <a:t>Marked subject</a:t>
            </a:r>
            <a:endParaRPr lang="en-US" sz="1150" dirty="0"/>
          </a:p>
        </p:txBody>
      </p:sp>
      <p:sp>
        <p:nvSpPr>
          <p:cNvPr id="10" name="Text 8"/>
          <p:cNvSpPr txBox="1"/>
          <p:nvPr/>
        </p:nvSpPr>
        <p:spPr>
          <a:xfrm>
            <a:off x="9966960" y="1481328"/>
            <a:ext cx="1554480" cy="256032"/>
          </a:xfrm>
          <a:prstGeom prst="rect">
            <a:avLst/>
          </a:prstGeom>
          <a:noFill/>
          <a:ln/>
        </p:spPr>
        <p:txBody>
          <a:bodyPr wrap="square" lIns="0" tIns="0" rIns="0" bIns="0" rtlCol="0" anchor="ctr"/>
          <a:lstStyle/>
          <a:p>
            <a:pPr indent="0" marL="0">
              <a:buNone/>
            </a:pPr>
            <a:r>
              <a:rPr lang="en-US" sz="1150" b="1" dirty="0">
                <a:solidFill>
                  <a:srgbClr val="5C6675"/>
                </a:solidFill>
                <a:latin typeface="Calibri" pitchFamily="34" charset="0"/>
                <a:ea typeface="Calibri" pitchFamily="34" charset="-122"/>
                <a:cs typeface="Calibri" pitchFamily="34" charset="-120"/>
              </a:rPr>
              <a:t>Partner</a:t>
            </a:r>
            <a:endParaRPr lang="en-US" sz="1150" dirty="0"/>
          </a:p>
        </p:txBody>
      </p:sp>
      <p:sp>
        <p:nvSpPr>
          <p:cNvPr id="11" name="Shape 9"/>
          <p:cNvSpPr/>
          <p:nvPr/>
        </p:nvSpPr>
        <p:spPr>
          <a:xfrm>
            <a:off x="566928" y="1773936"/>
            <a:ext cx="11064240" cy="475488"/>
          </a:xfrm>
          <a:prstGeom prst="roundRect">
            <a:avLst>
              <a:gd name="adj" fmla="val 5769"/>
            </a:avLst>
          </a:prstGeom>
          <a:solidFill>
            <a:srgbClr val="F2F5F8"/>
          </a:solidFill>
          <a:ln w="12700">
            <a:solidFill>
              <a:srgbClr val="E6EBF0"/>
            </a:solidFill>
            <a:prstDash val="solid"/>
          </a:ln>
        </p:spPr>
      </p:sp>
      <p:sp>
        <p:nvSpPr>
          <p:cNvPr id="12" name="Text 10"/>
          <p:cNvSpPr txBox="1"/>
          <p:nvPr/>
        </p:nvSpPr>
        <p:spPr>
          <a:xfrm>
            <a:off x="749808" y="1883664"/>
            <a:ext cx="7040880" cy="27432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Motor vehicle office rejects an application after an hour of queueing</a:t>
            </a:r>
            <a:endParaRPr lang="en-US" sz="1200" dirty="0"/>
          </a:p>
        </p:txBody>
      </p:sp>
      <p:sp>
        <p:nvSpPr>
          <p:cNvPr id="13" name="Text 11"/>
          <p:cNvSpPr txBox="1"/>
          <p:nvPr/>
        </p:nvSpPr>
        <p:spPr>
          <a:xfrm>
            <a:off x="7955280" y="1883664"/>
            <a:ext cx="1737360" cy="274320"/>
          </a:xfrm>
          <a:prstGeom prst="rect">
            <a:avLst/>
          </a:prstGeom>
          <a:noFill/>
          <a:ln/>
        </p:spPr>
        <p:txBody>
          <a:bodyPr wrap="square" lIns="0" tIns="0" rIns="0" bIns="0" rtlCol="0" anchor="ctr"/>
          <a:lstStyle/>
          <a:p>
            <a:pPr indent="0" marL="0">
              <a:buNone/>
            </a:pPr>
            <a:r>
              <a:rPr lang="en-US" sz="1200" b="1" dirty="0">
                <a:solidFill>
                  <a:srgbClr val="E4572E"/>
                </a:solidFill>
                <a:latin typeface="Calibri" pitchFamily="34" charset="0"/>
                <a:ea typeface="Calibri" pitchFamily="34" charset="-122"/>
                <a:cs typeface="Calibri" pitchFamily="34" charset="-120"/>
              </a:rPr>
              <a:t>Frustration</a:t>
            </a:r>
            <a:endParaRPr lang="en-US" sz="1200" dirty="0"/>
          </a:p>
        </p:txBody>
      </p:sp>
      <p:sp>
        <p:nvSpPr>
          <p:cNvPr id="14" name="Text 12"/>
          <p:cNvSpPr txBox="1"/>
          <p:nvPr/>
        </p:nvSpPr>
        <p:spPr>
          <a:xfrm>
            <a:off x="9966960" y="1883664"/>
            <a:ext cx="1554480" cy="274320"/>
          </a:xfrm>
          <a:prstGeom prst="rect">
            <a:avLst/>
          </a:prstGeom>
          <a:noFill/>
          <a:ln/>
        </p:spPr>
        <p:txBody>
          <a:bodyPr wrap="square" lIns="0" tIns="0" rIns="0" bIns="0" rtlCol="0" anchor="ctr"/>
          <a:lstStyle/>
          <a:p>
            <a:pPr indent="0" marL="0">
              <a:buNone/>
            </a:pPr>
            <a:r>
              <a:rPr lang="en-US" sz="1200" b="1" dirty="0">
                <a:solidFill>
                  <a:srgbClr val="4A7FA5"/>
                </a:solidFill>
                <a:latin typeface="Calibri" pitchFamily="34" charset="0"/>
                <a:ea typeface="Calibri" pitchFamily="34" charset="-122"/>
                <a:cs typeface="Calibri" pitchFamily="34" charset="-120"/>
              </a:rPr>
              <a:t>Anger</a:t>
            </a:r>
            <a:endParaRPr lang="en-US" sz="1200" dirty="0"/>
          </a:p>
        </p:txBody>
      </p:sp>
      <p:sp>
        <p:nvSpPr>
          <p:cNvPr id="15" name="Shape 13"/>
          <p:cNvSpPr/>
          <p:nvPr/>
        </p:nvSpPr>
        <p:spPr>
          <a:xfrm>
            <a:off x="566928" y="2304288"/>
            <a:ext cx="11064240" cy="475488"/>
          </a:xfrm>
          <a:prstGeom prst="roundRect">
            <a:avLst>
              <a:gd name="adj" fmla="val 5769"/>
            </a:avLst>
          </a:prstGeom>
          <a:solidFill>
            <a:srgbClr val="FFFFFF"/>
          </a:solidFill>
          <a:ln w="12700">
            <a:solidFill>
              <a:srgbClr val="E6EBF0"/>
            </a:solidFill>
            <a:prstDash val="solid"/>
          </a:ln>
        </p:spPr>
      </p:sp>
      <p:sp>
        <p:nvSpPr>
          <p:cNvPr id="16" name="Text 14"/>
          <p:cNvSpPr txBox="1"/>
          <p:nvPr/>
        </p:nvSpPr>
        <p:spPr>
          <a:xfrm>
            <a:off x="749808" y="2414016"/>
            <a:ext cx="7040880" cy="27432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New parent deployed abroad; the couple must separate for a year</a:t>
            </a:r>
            <a:endParaRPr lang="en-US" sz="1200" dirty="0"/>
          </a:p>
        </p:txBody>
      </p:sp>
      <p:sp>
        <p:nvSpPr>
          <p:cNvPr id="17" name="Text 15"/>
          <p:cNvSpPr txBox="1"/>
          <p:nvPr/>
        </p:nvSpPr>
        <p:spPr>
          <a:xfrm>
            <a:off x="7955280" y="2414016"/>
            <a:ext cx="1737360" cy="274320"/>
          </a:xfrm>
          <a:prstGeom prst="rect">
            <a:avLst/>
          </a:prstGeom>
          <a:noFill/>
          <a:ln/>
        </p:spPr>
        <p:txBody>
          <a:bodyPr wrap="square" lIns="0" tIns="0" rIns="0" bIns="0" rtlCol="0" anchor="ctr"/>
          <a:lstStyle/>
          <a:p>
            <a:pPr indent="0" marL="0">
              <a:buNone/>
            </a:pPr>
            <a:r>
              <a:rPr lang="en-US" sz="1200" b="1" dirty="0">
                <a:solidFill>
                  <a:srgbClr val="E4572E"/>
                </a:solidFill>
                <a:latin typeface="Calibri" pitchFamily="34" charset="0"/>
                <a:ea typeface="Calibri" pitchFamily="34" charset="-122"/>
                <a:cs typeface="Calibri" pitchFamily="34" charset="-120"/>
              </a:rPr>
              <a:t>Sadness</a:t>
            </a:r>
            <a:endParaRPr lang="en-US" sz="1200" dirty="0"/>
          </a:p>
        </p:txBody>
      </p:sp>
      <p:sp>
        <p:nvSpPr>
          <p:cNvPr id="18" name="Text 16"/>
          <p:cNvSpPr txBox="1"/>
          <p:nvPr/>
        </p:nvSpPr>
        <p:spPr>
          <a:xfrm>
            <a:off x="9966960" y="2414016"/>
            <a:ext cx="1554480" cy="274320"/>
          </a:xfrm>
          <a:prstGeom prst="rect">
            <a:avLst/>
          </a:prstGeom>
          <a:noFill/>
          <a:ln/>
        </p:spPr>
        <p:txBody>
          <a:bodyPr wrap="square" lIns="0" tIns="0" rIns="0" bIns="0" rtlCol="0" anchor="ctr"/>
          <a:lstStyle/>
          <a:p>
            <a:pPr indent="0" marL="0">
              <a:buNone/>
            </a:pPr>
            <a:r>
              <a:rPr lang="en-US" sz="1200" b="1" dirty="0">
                <a:solidFill>
                  <a:srgbClr val="4A7FA5"/>
                </a:solidFill>
                <a:latin typeface="Calibri" pitchFamily="34" charset="0"/>
                <a:ea typeface="Calibri" pitchFamily="34" charset="-122"/>
                <a:cs typeface="Calibri" pitchFamily="34" charset="-120"/>
              </a:rPr>
              <a:t>Sadness</a:t>
            </a:r>
            <a:endParaRPr lang="en-US" sz="1200" dirty="0"/>
          </a:p>
        </p:txBody>
      </p:sp>
      <p:sp>
        <p:nvSpPr>
          <p:cNvPr id="19" name="Shape 17"/>
          <p:cNvSpPr/>
          <p:nvPr/>
        </p:nvSpPr>
        <p:spPr>
          <a:xfrm>
            <a:off x="566928" y="2834640"/>
            <a:ext cx="11064240" cy="475488"/>
          </a:xfrm>
          <a:prstGeom prst="roundRect">
            <a:avLst>
              <a:gd name="adj" fmla="val 5769"/>
            </a:avLst>
          </a:prstGeom>
          <a:solidFill>
            <a:srgbClr val="F2F5F8"/>
          </a:solidFill>
          <a:ln w="12700">
            <a:solidFill>
              <a:srgbClr val="E6EBF0"/>
            </a:solidFill>
            <a:prstDash val="solid"/>
          </a:ln>
        </p:spPr>
      </p:sp>
      <p:sp>
        <p:nvSpPr>
          <p:cNvPr id="20" name="Text 18"/>
          <p:cNvSpPr txBox="1"/>
          <p:nvPr/>
        </p:nvSpPr>
        <p:spPr>
          <a:xfrm>
            <a:off x="749808" y="2944368"/>
            <a:ext cx="7040880" cy="27432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Telling a close friend about an engagement</a:t>
            </a:r>
            <a:endParaRPr lang="en-US" sz="1200" dirty="0"/>
          </a:p>
        </p:txBody>
      </p:sp>
      <p:sp>
        <p:nvSpPr>
          <p:cNvPr id="21" name="Text 19"/>
          <p:cNvSpPr txBox="1"/>
          <p:nvPr/>
        </p:nvSpPr>
        <p:spPr>
          <a:xfrm>
            <a:off x="7955280" y="2944368"/>
            <a:ext cx="1737360" cy="274320"/>
          </a:xfrm>
          <a:prstGeom prst="rect">
            <a:avLst/>
          </a:prstGeom>
          <a:noFill/>
          <a:ln/>
        </p:spPr>
        <p:txBody>
          <a:bodyPr wrap="square" lIns="0" tIns="0" rIns="0" bIns="0" rtlCol="0" anchor="ctr"/>
          <a:lstStyle/>
          <a:p>
            <a:pPr indent="0" marL="0">
              <a:buNone/>
            </a:pPr>
            <a:r>
              <a:rPr lang="en-US" sz="1200" b="1" dirty="0">
                <a:solidFill>
                  <a:srgbClr val="E4572E"/>
                </a:solidFill>
                <a:latin typeface="Calibri" pitchFamily="34" charset="0"/>
                <a:ea typeface="Calibri" pitchFamily="34" charset="-122"/>
                <a:cs typeface="Calibri" pitchFamily="34" charset="-120"/>
              </a:rPr>
              <a:t>Happiness</a:t>
            </a:r>
            <a:endParaRPr lang="en-US" sz="1200" dirty="0"/>
          </a:p>
        </p:txBody>
      </p:sp>
      <p:sp>
        <p:nvSpPr>
          <p:cNvPr id="22" name="Text 20"/>
          <p:cNvSpPr txBox="1"/>
          <p:nvPr/>
        </p:nvSpPr>
        <p:spPr>
          <a:xfrm>
            <a:off x="9966960" y="2944368"/>
            <a:ext cx="1554480" cy="274320"/>
          </a:xfrm>
          <a:prstGeom prst="rect">
            <a:avLst/>
          </a:prstGeom>
          <a:noFill/>
          <a:ln/>
        </p:spPr>
        <p:txBody>
          <a:bodyPr wrap="square" lIns="0" tIns="0" rIns="0" bIns="0" rtlCol="0" anchor="ctr"/>
          <a:lstStyle/>
          <a:p>
            <a:pPr indent="0" marL="0">
              <a:buNone/>
            </a:pPr>
            <a:r>
              <a:rPr lang="en-US" sz="1200" b="1" dirty="0">
                <a:solidFill>
                  <a:srgbClr val="4A7FA5"/>
                </a:solidFill>
                <a:latin typeface="Calibri" pitchFamily="34" charset="0"/>
                <a:ea typeface="Calibri" pitchFamily="34" charset="-122"/>
                <a:cs typeface="Calibri" pitchFamily="34" charset="-120"/>
              </a:rPr>
              <a:t>Happiness</a:t>
            </a:r>
            <a:endParaRPr lang="en-US" sz="1200" dirty="0"/>
          </a:p>
        </p:txBody>
      </p:sp>
      <p:sp>
        <p:nvSpPr>
          <p:cNvPr id="23" name="Shape 21"/>
          <p:cNvSpPr/>
          <p:nvPr/>
        </p:nvSpPr>
        <p:spPr>
          <a:xfrm>
            <a:off x="566928" y="3364992"/>
            <a:ext cx="11064240" cy="475488"/>
          </a:xfrm>
          <a:prstGeom prst="roundRect">
            <a:avLst>
              <a:gd name="adj" fmla="val 5769"/>
            </a:avLst>
          </a:prstGeom>
          <a:solidFill>
            <a:srgbClr val="FFFFFF"/>
          </a:solidFill>
          <a:ln w="12700">
            <a:solidFill>
              <a:srgbClr val="E6EBF0"/>
            </a:solidFill>
            <a:prstDash val="solid"/>
          </a:ln>
        </p:spPr>
      </p:sp>
      <p:sp>
        <p:nvSpPr>
          <p:cNvPr id="24" name="Text 22"/>
          <p:cNvSpPr txBox="1"/>
          <p:nvPr/>
        </p:nvSpPr>
        <p:spPr>
          <a:xfrm>
            <a:off x="749808" y="3474720"/>
            <a:ext cx="7040880" cy="27432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Three years of unsuccessful job-hunting; hope running out</a:t>
            </a:r>
            <a:endParaRPr lang="en-US" sz="1200" dirty="0"/>
          </a:p>
        </p:txBody>
      </p:sp>
      <p:sp>
        <p:nvSpPr>
          <p:cNvPr id="25" name="Text 23"/>
          <p:cNvSpPr txBox="1"/>
          <p:nvPr/>
        </p:nvSpPr>
        <p:spPr>
          <a:xfrm>
            <a:off x="7955280" y="3474720"/>
            <a:ext cx="1737360" cy="274320"/>
          </a:xfrm>
          <a:prstGeom prst="rect">
            <a:avLst/>
          </a:prstGeom>
          <a:noFill/>
          <a:ln/>
        </p:spPr>
        <p:txBody>
          <a:bodyPr wrap="square" lIns="0" tIns="0" rIns="0" bIns="0" rtlCol="0" anchor="ctr"/>
          <a:lstStyle/>
          <a:p>
            <a:pPr indent="0" marL="0">
              <a:buNone/>
            </a:pPr>
            <a:r>
              <a:rPr lang="en-US" sz="1200" b="1" dirty="0">
                <a:solidFill>
                  <a:srgbClr val="E4572E"/>
                </a:solidFill>
                <a:latin typeface="Calibri" pitchFamily="34" charset="0"/>
                <a:ea typeface="Calibri" pitchFamily="34" charset="-122"/>
                <a:cs typeface="Calibri" pitchFamily="34" charset="-120"/>
              </a:rPr>
              <a:t>Frustration</a:t>
            </a:r>
            <a:endParaRPr lang="en-US" sz="1200" dirty="0"/>
          </a:p>
        </p:txBody>
      </p:sp>
      <p:sp>
        <p:nvSpPr>
          <p:cNvPr id="26" name="Text 24"/>
          <p:cNvSpPr txBox="1"/>
          <p:nvPr/>
        </p:nvSpPr>
        <p:spPr>
          <a:xfrm>
            <a:off x="9966960" y="3474720"/>
            <a:ext cx="1554480" cy="274320"/>
          </a:xfrm>
          <a:prstGeom prst="rect">
            <a:avLst/>
          </a:prstGeom>
          <a:noFill/>
          <a:ln/>
        </p:spPr>
        <p:txBody>
          <a:bodyPr wrap="square" lIns="0" tIns="0" rIns="0" bIns="0" rtlCol="0" anchor="ctr"/>
          <a:lstStyle/>
          <a:p>
            <a:pPr indent="0" marL="0">
              <a:buNone/>
            </a:pPr>
            <a:r>
              <a:rPr lang="en-US" sz="1200" b="1" dirty="0">
                <a:solidFill>
                  <a:srgbClr val="4A7FA5"/>
                </a:solidFill>
                <a:latin typeface="Calibri" pitchFamily="34" charset="0"/>
                <a:ea typeface="Calibri" pitchFamily="34" charset="-122"/>
                <a:cs typeface="Calibri" pitchFamily="34" charset="-120"/>
              </a:rPr>
              <a:t>Neutral</a:t>
            </a:r>
            <a:endParaRPr lang="en-US" sz="1200" dirty="0"/>
          </a:p>
        </p:txBody>
      </p:sp>
      <p:sp>
        <p:nvSpPr>
          <p:cNvPr id="27" name="Shape 25"/>
          <p:cNvSpPr/>
          <p:nvPr/>
        </p:nvSpPr>
        <p:spPr>
          <a:xfrm>
            <a:off x="566928" y="3895344"/>
            <a:ext cx="11064240" cy="475488"/>
          </a:xfrm>
          <a:prstGeom prst="roundRect">
            <a:avLst>
              <a:gd name="adj" fmla="val 5769"/>
            </a:avLst>
          </a:prstGeom>
          <a:solidFill>
            <a:srgbClr val="F2F5F8"/>
          </a:solidFill>
          <a:ln w="12700">
            <a:solidFill>
              <a:srgbClr val="E6EBF0"/>
            </a:solidFill>
            <a:prstDash val="solid"/>
          </a:ln>
        </p:spPr>
      </p:sp>
      <p:sp>
        <p:nvSpPr>
          <p:cNvPr id="28" name="Text 26"/>
          <p:cNvSpPr txBox="1"/>
          <p:nvPr/>
        </p:nvSpPr>
        <p:spPr>
          <a:xfrm>
            <a:off x="749808" y="4005072"/>
            <a:ext cx="7040880" cy="27432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Airline loses a bag and offers a fraction of its value</a:t>
            </a:r>
            <a:endParaRPr lang="en-US" sz="1200" dirty="0"/>
          </a:p>
        </p:txBody>
      </p:sp>
      <p:sp>
        <p:nvSpPr>
          <p:cNvPr id="29" name="Text 27"/>
          <p:cNvSpPr txBox="1"/>
          <p:nvPr/>
        </p:nvSpPr>
        <p:spPr>
          <a:xfrm>
            <a:off x="7955280" y="4005072"/>
            <a:ext cx="1737360" cy="274320"/>
          </a:xfrm>
          <a:prstGeom prst="rect">
            <a:avLst/>
          </a:prstGeom>
          <a:noFill/>
          <a:ln/>
        </p:spPr>
        <p:txBody>
          <a:bodyPr wrap="square" lIns="0" tIns="0" rIns="0" bIns="0" rtlCol="0" anchor="ctr"/>
          <a:lstStyle/>
          <a:p>
            <a:pPr indent="0" marL="0">
              <a:buNone/>
            </a:pPr>
            <a:r>
              <a:rPr lang="en-US" sz="1200" b="1" dirty="0">
                <a:solidFill>
                  <a:srgbClr val="E4572E"/>
                </a:solidFill>
                <a:latin typeface="Calibri" pitchFamily="34" charset="0"/>
                <a:ea typeface="Calibri" pitchFamily="34" charset="-122"/>
                <a:cs typeface="Calibri" pitchFamily="34" charset="-120"/>
              </a:rPr>
              <a:t>Anger</a:t>
            </a:r>
            <a:endParaRPr lang="en-US" sz="1200" dirty="0"/>
          </a:p>
        </p:txBody>
      </p:sp>
      <p:sp>
        <p:nvSpPr>
          <p:cNvPr id="30" name="Text 28"/>
          <p:cNvSpPr txBox="1"/>
          <p:nvPr/>
        </p:nvSpPr>
        <p:spPr>
          <a:xfrm>
            <a:off x="9966960" y="4005072"/>
            <a:ext cx="1554480" cy="274320"/>
          </a:xfrm>
          <a:prstGeom prst="rect">
            <a:avLst/>
          </a:prstGeom>
          <a:noFill/>
          <a:ln/>
        </p:spPr>
        <p:txBody>
          <a:bodyPr wrap="square" lIns="0" tIns="0" rIns="0" bIns="0" rtlCol="0" anchor="ctr"/>
          <a:lstStyle/>
          <a:p>
            <a:pPr indent="0" marL="0">
              <a:buNone/>
            </a:pPr>
            <a:r>
              <a:rPr lang="en-US" sz="1200" b="1" dirty="0">
                <a:solidFill>
                  <a:srgbClr val="4A7FA5"/>
                </a:solidFill>
                <a:latin typeface="Calibri" pitchFamily="34" charset="0"/>
                <a:ea typeface="Calibri" pitchFamily="34" charset="-122"/>
                <a:cs typeface="Calibri" pitchFamily="34" charset="-120"/>
              </a:rPr>
              <a:t>Neutral</a:t>
            </a:r>
            <a:endParaRPr lang="en-US" sz="1200" dirty="0"/>
          </a:p>
        </p:txBody>
      </p:sp>
      <p:sp>
        <p:nvSpPr>
          <p:cNvPr id="31" name="Shape 29"/>
          <p:cNvSpPr/>
          <p:nvPr/>
        </p:nvSpPr>
        <p:spPr>
          <a:xfrm>
            <a:off x="566928" y="4425696"/>
            <a:ext cx="11064240" cy="475488"/>
          </a:xfrm>
          <a:prstGeom prst="roundRect">
            <a:avLst>
              <a:gd name="adj" fmla="val 5769"/>
            </a:avLst>
          </a:prstGeom>
          <a:solidFill>
            <a:srgbClr val="FFFFFF"/>
          </a:solidFill>
          <a:ln w="12700">
            <a:solidFill>
              <a:srgbClr val="E6EBF0"/>
            </a:solidFill>
            <a:prstDash val="solid"/>
          </a:ln>
        </p:spPr>
      </p:sp>
      <p:sp>
        <p:nvSpPr>
          <p:cNvPr id="32" name="Text 30"/>
          <p:cNvSpPr txBox="1"/>
          <p:nvPr/>
        </p:nvSpPr>
        <p:spPr>
          <a:xfrm>
            <a:off x="749808" y="4535424"/>
            <a:ext cx="7040880" cy="27432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A close friend has died of cancer diagnosed a year earlier</a:t>
            </a:r>
            <a:endParaRPr lang="en-US" sz="1200" dirty="0"/>
          </a:p>
        </p:txBody>
      </p:sp>
      <p:sp>
        <p:nvSpPr>
          <p:cNvPr id="33" name="Text 31"/>
          <p:cNvSpPr txBox="1"/>
          <p:nvPr/>
        </p:nvSpPr>
        <p:spPr>
          <a:xfrm>
            <a:off x="7955280" y="4535424"/>
            <a:ext cx="1737360" cy="274320"/>
          </a:xfrm>
          <a:prstGeom prst="rect">
            <a:avLst/>
          </a:prstGeom>
          <a:noFill/>
          <a:ln/>
        </p:spPr>
        <p:txBody>
          <a:bodyPr wrap="square" lIns="0" tIns="0" rIns="0" bIns="0" rtlCol="0" anchor="ctr"/>
          <a:lstStyle/>
          <a:p>
            <a:pPr indent="0" marL="0">
              <a:buNone/>
            </a:pPr>
            <a:r>
              <a:rPr lang="en-US" sz="1200" b="1" dirty="0">
                <a:solidFill>
                  <a:srgbClr val="E4572E"/>
                </a:solidFill>
                <a:latin typeface="Calibri" pitchFamily="34" charset="0"/>
                <a:ea typeface="Calibri" pitchFamily="34" charset="-122"/>
                <a:cs typeface="Calibri" pitchFamily="34" charset="-120"/>
              </a:rPr>
              <a:t>Sadness</a:t>
            </a:r>
            <a:endParaRPr lang="en-US" sz="1200" dirty="0"/>
          </a:p>
        </p:txBody>
      </p:sp>
      <p:sp>
        <p:nvSpPr>
          <p:cNvPr id="34" name="Text 32"/>
          <p:cNvSpPr txBox="1"/>
          <p:nvPr/>
        </p:nvSpPr>
        <p:spPr>
          <a:xfrm>
            <a:off x="9966960" y="4535424"/>
            <a:ext cx="1554480" cy="274320"/>
          </a:xfrm>
          <a:prstGeom prst="rect">
            <a:avLst/>
          </a:prstGeom>
          <a:noFill/>
          <a:ln/>
        </p:spPr>
        <p:txBody>
          <a:bodyPr wrap="square" lIns="0" tIns="0" rIns="0" bIns="0" rtlCol="0" anchor="ctr"/>
          <a:lstStyle/>
          <a:p>
            <a:pPr indent="0" marL="0">
              <a:buNone/>
            </a:pPr>
            <a:r>
              <a:rPr lang="en-US" sz="1200" b="1" dirty="0">
                <a:solidFill>
                  <a:srgbClr val="4A7FA5"/>
                </a:solidFill>
                <a:latin typeface="Calibri" pitchFamily="34" charset="0"/>
                <a:ea typeface="Calibri" pitchFamily="34" charset="-122"/>
                <a:cs typeface="Calibri" pitchFamily="34" charset="-120"/>
              </a:rPr>
              <a:t>Neutral</a:t>
            </a:r>
            <a:endParaRPr lang="en-US" sz="1200" dirty="0"/>
          </a:p>
        </p:txBody>
      </p:sp>
      <p:sp>
        <p:nvSpPr>
          <p:cNvPr id="35" name="Shape 33"/>
          <p:cNvSpPr/>
          <p:nvPr/>
        </p:nvSpPr>
        <p:spPr>
          <a:xfrm>
            <a:off x="566928" y="4956048"/>
            <a:ext cx="11064240" cy="475488"/>
          </a:xfrm>
          <a:prstGeom prst="roundRect">
            <a:avLst>
              <a:gd name="adj" fmla="val 5769"/>
            </a:avLst>
          </a:prstGeom>
          <a:solidFill>
            <a:srgbClr val="F2F5F8"/>
          </a:solidFill>
          <a:ln w="12700">
            <a:solidFill>
              <a:srgbClr val="E6EBF0"/>
            </a:solidFill>
            <a:prstDash val="solid"/>
          </a:ln>
        </p:spPr>
      </p:sp>
      <p:sp>
        <p:nvSpPr>
          <p:cNvPr id="36" name="Text 34"/>
          <p:cNvSpPr txBox="1"/>
          <p:nvPr/>
        </p:nvSpPr>
        <p:spPr>
          <a:xfrm>
            <a:off x="749808" y="5065776"/>
            <a:ext cx="7040880" cy="27432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Sharing news of acceptance to university with a best friend</a:t>
            </a:r>
            <a:endParaRPr lang="en-US" sz="1200" dirty="0"/>
          </a:p>
        </p:txBody>
      </p:sp>
      <p:sp>
        <p:nvSpPr>
          <p:cNvPr id="37" name="Text 35"/>
          <p:cNvSpPr txBox="1"/>
          <p:nvPr/>
        </p:nvSpPr>
        <p:spPr>
          <a:xfrm>
            <a:off x="7955280" y="5065776"/>
            <a:ext cx="1737360" cy="274320"/>
          </a:xfrm>
          <a:prstGeom prst="rect">
            <a:avLst/>
          </a:prstGeom>
          <a:noFill/>
          <a:ln/>
        </p:spPr>
        <p:txBody>
          <a:bodyPr wrap="square" lIns="0" tIns="0" rIns="0" bIns="0" rtlCol="0" anchor="ctr"/>
          <a:lstStyle/>
          <a:p>
            <a:pPr indent="0" marL="0">
              <a:buNone/>
            </a:pPr>
            <a:r>
              <a:rPr lang="en-US" sz="1200" b="1" dirty="0">
                <a:solidFill>
                  <a:srgbClr val="E4572E"/>
                </a:solidFill>
                <a:latin typeface="Calibri" pitchFamily="34" charset="0"/>
                <a:ea typeface="Calibri" pitchFamily="34" charset="-122"/>
                <a:cs typeface="Calibri" pitchFamily="34" charset="-120"/>
              </a:rPr>
              <a:t>Happiness</a:t>
            </a:r>
            <a:endParaRPr lang="en-US" sz="1200" dirty="0"/>
          </a:p>
        </p:txBody>
      </p:sp>
      <p:sp>
        <p:nvSpPr>
          <p:cNvPr id="38" name="Text 36"/>
          <p:cNvSpPr txBox="1"/>
          <p:nvPr/>
        </p:nvSpPr>
        <p:spPr>
          <a:xfrm>
            <a:off x="9966960" y="5065776"/>
            <a:ext cx="1554480" cy="274320"/>
          </a:xfrm>
          <a:prstGeom prst="rect">
            <a:avLst/>
          </a:prstGeom>
          <a:noFill/>
          <a:ln/>
        </p:spPr>
        <p:txBody>
          <a:bodyPr wrap="square" lIns="0" tIns="0" rIns="0" bIns="0" rtlCol="0" anchor="ctr"/>
          <a:lstStyle/>
          <a:p>
            <a:pPr indent="0" marL="0">
              <a:buNone/>
            </a:pPr>
            <a:r>
              <a:rPr lang="en-US" sz="1200" b="1" dirty="0">
                <a:solidFill>
                  <a:srgbClr val="4A7FA5"/>
                </a:solidFill>
                <a:latin typeface="Calibri" pitchFamily="34" charset="0"/>
                <a:ea typeface="Calibri" pitchFamily="34" charset="-122"/>
                <a:cs typeface="Calibri" pitchFamily="34" charset="-120"/>
              </a:rPr>
              <a:t>Happiness</a:t>
            </a:r>
            <a:endParaRPr lang="en-US" sz="1200" dirty="0"/>
          </a:p>
        </p:txBody>
      </p:sp>
      <p:sp>
        <p:nvSpPr>
          <p:cNvPr id="39" name="Shape 37"/>
          <p:cNvSpPr/>
          <p:nvPr/>
        </p:nvSpPr>
        <p:spPr>
          <a:xfrm>
            <a:off x="566928" y="5486400"/>
            <a:ext cx="11064240" cy="475488"/>
          </a:xfrm>
          <a:prstGeom prst="roundRect">
            <a:avLst>
              <a:gd name="adj" fmla="val 5769"/>
            </a:avLst>
          </a:prstGeom>
          <a:solidFill>
            <a:srgbClr val="FFFFFF"/>
          </a:solidFill>
          <a:ln w="12700">
            <a:solidFill>
              <a:srgbClr val="E6EBF0"/>
            </a:solidFill>
            <a:prstDash val="solid"/>
          </a:ln>
        </p:spPr>
      </p:sp>
      <p:sp>
        <p:nvSpPr>
          <p:cNvPr id="40" name="Text 38"/>
          <p:cNvSpPr txBox="1"/>
          <p:nvPr/>
        </p:nvSpPr>
        <p:spPr>
          <a:xfrm>
            <a:off x="749808" y="5596128"/>
            <a:ext cx="7040880" cy="27432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Reaching a human operator after thirty minutes with a machine</a:t>
            </a:r>
            <a:endParaRPr lang="en-US" sz="1200" dirty="0"/>
          </a:p>
        </p:txBody>
      </p:sp>
      <p:sp>
        <p:nvSpPr>
          <p:cNvPr id="41" name="Text 39"/>
          <p:cNvSpPr txBox="1"/>
          <p:nvPr/>
        </p:nvSpPr>
        <p:spPr>
          <a:xfrm>
            <a:off x="7955280" y="5596128"/>
            <a:ext cx="1737360" cy="274320"/>
          </a:xfrm>
          <a:prstGeom prst="rect">
            <a:avLst/>
          </a:prstGeom>
          <a:noFill/>
          <a:ln/>
        </p:spPr>
        <p:txBody>
          <a:bodyPr wrap="square" lIns="0" tIns="0" rIns="0" bIns="0" rtlCol="0" anchor="ctr"/>
          <a:lstStyle/>
          <a:p>
            <a:pPr indent="0" marL="0">
              <a:buNone/>
            </a:pPr>
            <a:r>
              <a:rPr lang="en-US" sz="1200" b="1" dirty="0">
                <a:solidFill>
                  <a:srgbClr val="E4572E"/>
                </a:solidFill>
                <a:latin typeface="Calibri" pitchFamily="34" charset="0"/>
                <a:ea typeface="Calibri" pitchFamily="34" charset="-122"/>
                <a:cs typeface="Calibri" pitchFamily="34" charset="-120"/>
              </a:rPr>
              <a:t>Neutral</a:t>
            </a:r>
            <a:endParaRPr lang="en-US" sz="1200" dirty="0"/>
          </a:p>
        </p:txBody>
      </p:sp>
      <p:sp>
        <p:nvSpPr>
          <p:cNvPr id="42" name="Text 40"/>
          <p:cNvSpPr txBox="1"/>
          <p:nvPr/>
        </p:nvSpPr>
        <p:spPr>
          <a:xfrm>
            <a:off x="9966960" y="5596128"/>
            <a:ext cx="1554480" cy="274320"/>
          </a:xfrm>
          <a:prstGeom prst="rect">
            <a:avLst/>
          </a:prstGeom>
          <a:noFill/>
          <a:ln/>
        </p:spPr>
        <p:txBody>
          <a:bodyPr wrap="square" lIns="0" tIns="0" rIns="0" bIns="0" rtlCol="0" anchor="ctr"/>
          <a:lstStyle/>
          <a:p>
            <a:pPr indent="0" marL="0">
              <a:buNone/>
            </a:pPr>
            <a:r>
              <a:rPr lang="en-US" sz="1200" b="1" dirty="0">
                <a:solidFill>
                  <a:srgbClr val="4A7FA5"/>
                </a:solidFill>
                <a:latin typeface="Calibri" pitchFamily="34" charset="0"/>
                <a:ea typeface="Calibri" pitchFamily="34" charset="-122"/>
                <a:cs typeface="Calibri" pitchFamily="34" charset="-120"/>
              </a:rPr>
              <a:t>Anger</a:t>
            </a:r>
            <a:endParaRPr lang="en-US" sz="1200" dirty="0"/>
          </a:p>
        </p:txBody>
      </p:sp>
      <p:sp>
        <p:nvSpPr>
          <p:cNvPr id="43" name="Text 41"/>
          <p:cNvSpPr txBox="1"/>
          <p:nvPr/>
        </p:nvSpPr>
        <p:spPr>
          <a:xfrm>
            <a:off x="566928" y="6053328"/>
            <a:ext cx="11064240" cy="310896"/>
          </a:xfrm>
          <a:prstGeom prst="rect">
            <a:avLst/>
          </a:prstGeom>
          <a:noFill/>
          <a:ln/>
        </p:spPr>
        <p:txBody>
          <a:bodyPr wrap="square" lIns="0" tIns="0" rIns="0" bIns="0" rtlCol="0" anchor="ctr"/>
          <a:lstStyle/>
          <a:p>
            <a:pPr indent="0" marL="0">
              <a:buNone/>
            </a:pPr>
            <a:r>
              <a:rPr lang="en-US" sz="1200" i="1" dirty="0">
                <a:solidFill>
                  <a:srgbClr val="5C6675"/>
                </a:solidFill>
                <a:latin typeface="Calibri" pitchFamily="34" charset="0"/>
                <a:ea typeface="Calibri" pitchFamily="34" charset="-122"/>
                <a:cs typeface="Calibri" pitchFamily="34" charset="-120"/>
              </a:rPr>
              <a:t>Note the asymmetry: in five of the eight scenarios the two partners are given different targets, so the corpus contains emotional mismatch, not just shared mood.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The actors and the sessions</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Ten performers, five mixed-gender dyads</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12</a:t>
            </a:r>
            <a:endParaRPr lang="en-US" sz="900" dirty="0"/>
          </a:p>
        </p:txBody>
      </p:sp>
      <p:sp>
        <p:nvSpPr>
          <p:cNvPr id="8" name="Text 6"/>
          <p:cNvSpPr txBox="1"/>
          <p:nvPr/>
        </p:nvSpPr>
        <p:spPr>
          <a:xfrm>
            <a:off x="566928" y="1572768"/>
            <a:ext cx="2651760" cy="713232"/>
          </a:xfrm>
          <a:prstGeom prst="rect">
            <a:avLst/>
          </a:prstGeom>
          <a:noFill/>
          <a:ln/>
        </p:spPr>
        <p:txBody>
          <a:bodyPr wrap="square" lIns="0" tIns="0" rIns="0" bIns="0" rtlCol="0" anchor="ctr"/>
          <a:lstStyle/>
          <a:p>
            <a:pPr algn="ctr" indent="0" marL="0">
              <a:buNone/>
            </a:pPr>
            <a:r>
              <a:rPr lang="en-US" sz="4000" b="1" dirty="0">
                <a:solidFill>
                  <a:srgbClr val="E4572E"/>
                </a:solidFill>
                <a:latin typeface="Cambria" pitchFamily="34" charset="0"/>
                <a:ea typeface="Cambria" pitchFamily="34" charset="-122"/>
                <a:cs typeface="Cambria" pitchFamily="34" charset="-120"/>
              </a:rPr>
              <a:t>10</a:t>
            </a:r>
            <a:endParaRPr lang="en-US" sz="4000" dirty="0"/>
          </a:p>
        </p:txBody>
      </p:sp>
      <p:sp>
        <p:nvSpPr>
          <p:cNvPr id="9" name="Text 7"/>
          <p:cNvSpPr txBox="1"/>
          <p:nvPr/>
        </p:nvSpPr>
        <p:spPr>
          <a:xfrm>
            <a:off x="566928" y="2286000"/>
            <a:ext cx="2651760" cy="548640"/>
          </a:xfrm>
          <a:prstGeom prst="rect">
            <a:avLst/>
          </a:prstGeom>
          <a:noFill/>
          <a:ln/>
        </p:spPr>
        <p:txBody>
          <a:bodyPr wrap="square" lIns="0" tIns="0" rIns="0" bIns="0" rtlCol="0" anchor="ctr"/>
          <a:lstStyle/>
          <a:p>
            <a:pPr algn="ctr" indent="0" marL="0">
              <a:buNone/>
            </a:pPr>
            <a:r>
              <a:rPr lang="en-US" sz="1150" dirty="0">
                <a:solidFill>
                  <a:srgbClr val="5C6675"/>
                </a:solidFill>
                <a:latin typeface="Calibri" pitchFamily="34" charset="0"/>
                <a:ea typeface="Calibri" pitchFamily="34" charset="-122"/>
                <a:cs typeface="Calibri" pitchFamily="34" charset="-120"/>
              </a:rPr>
              <a:t>actors: 5 female, 5 male</a:t>
            </a:r>
            <a:endParaRPr lang="en-US" sz="1150" dirty="0"/>
          </a:p>
        </p:txBody>
      </p:sp>
      <p:sp>
        <p:nvSpPr>
          <p:cNvPr id="10" name="Text 8"/>
          <p:cNvSpPr txBox="1"/>
          <p:nvPr/>
        </p:nvSpPr>
        <p:spPr>
          <a:xfrm>
            <a:off x="3401568" y="1572768"/>
            <a:ext cx="2651760" cy="713232"/>
          </a:xfrm>
          <a:prstGeom prst="rect">
            <a:avLst/>
          </a:prstGeom>
          <a:noFill/>
          <a:ln/>
        </p:spPr>
        <p:txBody>
          <a:bodyPr wrap="square" lIns="0" tIns="0" rIns="0" bIns="0" rtlCol="0" anchor="ctr"/>
          <a:lstStyle/>
          <a:p>
            <a:pPr algn="ctr" indent="0" marL="0">
              <a:buNone/>
            </a:pPr>
            <a:r>
              <a:rPr lang="en-US" sz="4000" b="1" dirty="0">
                <a:solidFill>
                  <a:srgbClr val="4A7FA5"/>
                </a:solidFill>
                <a:latin typeface="Cambria" pitchFamily="34" charset="0"/>
                <a:ea typeface="Cambria" pitchFamily="34" charset="-122"/>
                <a:cs typeface="Cambria" pitchFamily="34" charset="-120"/>
              </a:rPr>
              <a:t>7 + 3</a:t>
            </a:r>
            <a:endParaRPr lang="en-US" sz="4000" dirty="0"/>
          </a:p>
        </p:txBody>
      </p:sp>
      <p:sp>
        <p:nvSpPr>
          <p:cNvPr id="11" name="Text 9"/>
          <p:cNvSpPr txBox="1"/>
          <p:nvPr/>
        </p:nvSpPr>
        <p:spPr>
          <a:xfrm>
            <a:off x="3401568" y="2286000"/>
            <a:ext cx="2651760" cy="548640"/>
          </a:xfrm>
          <a:prstGeom prst="rect">
            <a:avLst/>
          </a:prstGeom>
          <a:noFill/>
          <a:ln/>
        </p:spPr>
        <p:txBody>
          <a:bodyPr wrap="square" lIns="0" tIns="0" rIns="0" bIns="0" rtlCol="0" anchor="ctr"/>
          <a:lstStyle/>
          <a:p>
            <a:pPr algn="ctr" indent="0" marL="0">
              <a:buNone/>
            </a:pPr>
            <a:r>
              <a:rPr lang="en-US" sz="1150" dirty="0">
                <a:solidFill>
                  <a:srgbClr val="5C6675"/>
                </a:solidFill>
                <a:latin typeface="Calibri" pitchFamily="34" charset="0"/>
                <a:ea typeface="Calibri" pitchFamily="34" charset="-122"/>
                <a:cs typeface="Calibri" pitchFamily="34" charset="-120"/>
              </a:rPr>
              <a:t>professionals plus senior</a:t>
            </a:r>
            <a:endParaRPr lang="en-US" sz="1150" dirty="0"/>
          </a:p>
          <a:p>
            <a:pPr algn="ctr" indent="0" marL="0">
              <a:buNone/>
            </a:pPr>
            <a:r>
              <a:rPr lang="en-US" sz="1150" dirty="0">
                <a:solidFill>
                  <a:srgbClr val="5C6675"/>
                </a:solidFill>
                <a:latin typeface="Calibri" pitchFamily="34" charset="0"/>
                <a:ea typeface="Calibri" pitchFamily="34" charset="-122"/>
                <a:cs typeface="Calibri" pitchFamily="34" charset="-120"/>
              </a:rPr>
              <a:t>drama students (USC)</a:t>
            </a:r>
            <a:endParaRPr lang="en-US" sz="1150" dirty="0"/>
          </a:p>
        </p:txBody>
      </p:sp>
      <p:sp>
        <p:nvSpPr>
          <p:cNvPr id="12" name="Text 10"/>
          <p:cNvSpPr txBox="1"/>
          <p:nvPr/>
        </p:nvSpPr>
        <p:spPr>
          <a:xfrm>
            <a:off x="6236208" y="1572768"/>
            <a:ext cx="2651760" cy="713232"/>
          </a:xfrm>
          <a:prstGeom prst="rect">
            <a:avLst/>
          </a:prstGeom>
          <a:noFill/>
          <a:ln/>
        </p:spPr>
        <p:txBody>
          <a:bodyPr wrap="square" lIns="0" tIns="0" rIns="0" bIns="0" rtlCol="0" anchor="ctr"/>
          <a:lstStyle/>
          <a:p>
            <a:pPr algn="ctr" indent="0" marL="0">
              <a:buNone/>
            </a:pPr>
            <a:r>
              <a:rPr lang="en-US" sz="4000" b="1" dirty="0">
                <a:solidFill>
                  <a:srgbClr val="E4572E"/>
                </a:solidFill>
                <a:latin typeface="Cambria" pitchFamily="34" charset="0"/>
                <a:ea typeface="Cambria" pitchFamily="34" charset="-122"/>
                <a:cs typeface="Cambria" pitchFamily="34" charset="-120"/>
              </a:rPr>
              <a:t>5</a:t>
            </a:r>
            <a:endParaRPr lang="en-US" sz="4000" dirty="0"/>
          </a:p>
        </p:txBody>
      </p:sp>
      <p:sp>
        <p:nvSpPr>
          <p:cNvPr id="13" name="Text 11"/>
          <p:cNvSpPr txBox="1"/>
          <p:nvPr/>
        </p:nvSpPr>
        <p:spPr>
          <a:xfrm>
            <a:off x="6236208" y="2286000"/>
            <a:ext cx="2651760" cy="548640"/>
          </a:xfrm>
          <a:prstGeom prst="rect">
            <a:avLst/>
          </a:prstGeom>
          <a:noFill/>
          <a:ln/>
        </p:spPr>
        <p:txBody>
          <a:bodyPr wrap="square" lIns="0" tIns="0" rIns="0" bIns="0" rtlCol="0" anchor="ctr"/>
          <a:lstStyle/>
          <a:p>
            <a:pPr algn="ctr" indent="0" marL="0">
              <a:buNone/>
            </a:pPr>
            <a:r>
              <a:rPr lang="en-US" sz="1150" dirty="0">
                <a:solidFill>
                  <a:srgbClr val="5C6675"/>
                </a:solidFill>
                <a:latin typeface="Calibri" pitchFamily="34" charset="0"/>
                <a:ea typeface="Calibri" pitchFamily="34" charset="-122"/>
                <a:cs typeface="Calibri" pitchFamily="34" charset="-120"/>
              </a:rPr>
              <a:t>dyadic sessions, one</a:t>
            </a:r>
            <a:endParaRPr lang="en-US" sz="1150" dirty="0"/>
          </a:p>
          <a:p>
            <a:pPr algn="ctr" indent="0" marL="0">
              <a:buNone/>
            </a:pPr>
            <a:r>
              <a:rPr lang="en-US" sz="1150" dirty="0">
                <a:solidFill>
                  <a:srgbClr val="5C6675"/>
                </a:solidFill>
                <a:latin typeface="Calibri" pitchFamily="34" charset="0"/>
                <a:ea typeface="Calibri" pitchFamily="34" charset="-122"/>
                <a:cs typeface="Calibri" pitchFamily="34" charset="-120"/>
              </a:rPr>
              <a:t>actor and one actress each</a:t>
            </a:r>
            <a:endParaRPr lang="en-US" sz="1150" dirty="0"/>
          </a:p>
        </p:txBody>
      </p:sp>
      <p:sp>
        <p:nvSpPr>
          <p:cNvPr id="14" name="Text 12"/>
          <p:cNvSpPr txBox="1"/>
          <p:nvPr/>
        </p:nvSpPr>
        <p:spPr>
          <a:xfrm>
            <a:off x="9070848" y="1572768"/>
            <a:ext cx="2651760" cy="713232"/>
          </a:xfrm>
          <a:prstGeom prst="rect">
            <a:avLst/>
          </a:prstGeom>
          <a:noFill/>
          <a:ln/>
        </p:spPr>
        <p:txBody>
          <a:bodyPr wrap="square" lIns="0" tIns="0" rIns="0" bIns="0" rtlCol="0" anchor="ctr"/>
          <a:lstStyle/>
          <a:p>
            <a:pPr algn="ctr" indent="0" marL="0">
              <a:buNone/>
            </a:pPr>
            <a:r>
              <a:rPr lang="en-US" sz="4000" b="1" dirty="0">
                <a:solidFill>
                  <a:srgbClr val="4A7FA5"/>
                </a:solidFill>
                <a:latin typeface="Cambria" pitchFamily="34" charset="0"/>
                <a:ea typeface="Cambria" pitchFamily="34" charset="-122"/>
                <a:cs typeface="Cambria" pitchFamily="34" charset="-120"/>
              </a:rPr>
              <a:t>≈6 h</a:t>
            </a:r>
            <a:endParaRPr lang="en-US" sz="4000" dirty="0"/>
          </a:p>
        </p:txBody>
      </p:sp>
      <p:sp>
        <p:nvSpPr>
          <p:cNvPr id="15" name="Text 13"/>
          <p:cNvSpPr txBox="1"/>
          <p:nvPr/>
        </p:nvSpPr>
        <p:spPr>
          <a:xfrm>
            <a:off x="9070848" y="2286000"/>
            <a:ext cx="2651760" cy="548640"/>
          </a:xfrm>
          <a:prstGeom prst="rect">
            <a:avLst/>
          </a:prstGeom>
          <a:noFill/>
          <a:ln/>
        </p:spPr>
        <p:txBody>
          <a:bodyPr wrap="square" lIns="0" tIns="0" rIns="0" bIns="0" rtlCol="0" anchor="ctr"/>
          <a:lstStyle/>
          <a:p>
            <a:pPr algn="ctr" indent="0" marL="0">
              <a:buNone/>
            </a:pPr>
            <a:r>
              <a:rPr lang="en-US" sz="1150" dirty="0">
                <a:solidFill>
                  <a:srgbClr val="5C6675"/>
                </a:solidFill>
                <a:latin typeface="Calibri" pitchFamily="34" charset="0"/>
                <a:ea typeface="Calibri" pitchFamily="34" charset="-122"/>
                <a:cs typeface="Calibri" pitchFamily="34" charset="-120"/>
              </a:rPr>
              <a:t>per session, including</a:t>
            </a:r>
            <a:endParaRPr lang="en-US" sz="1150" dirty="0"/>
          </a:p>
          <a:p>
            <a:pPr algn="ctr" indent="0" marL="0">
              <a:buNone/>
            </a:pPr>
            <a:r>
              <a:rPr lang="en-US" sz="1150" dirty="0">
                <a:solidFill>
                  <a:srgbClr val="5C6675"/>
                </a:solidFill>
                <a:latin typeface="Calibri" pitchFamily="34" charset="0"/>
                <a:ea typeface="Calibri" pitchFamily="34" charset="-122"/>
                <a:cs typeface="Calibri" pitchFamily="34" charset="-120"/>
              </a:rPr>
              <a:t>rest periods</a:t>
            </a:r>
            <a:endParaRPr lang="en-US" sz="1150" dirty="0"/>
          </a:p>
        </p:txBody>
      </p:sp>
      <p:sp>
        <p:nvSpPr>
          <p:cNvPr id="16" name="Shape 14"/>
          <p:cNvSpPr/>
          <p:nvPr/>
        </p:nvSpPr>
        <p:spPr>
          <a:xfrm>
            <a:off x="566928" y="3310128"/>
            <a:ext cx="5440680" cy="1874520"/>
          </a:xfrm>
          <a:prstGeom prst="roundRect">
            <a:avLst>
              <a:gd name="adj" fmla="val 2927"/>
            </a:avLst>
          </a:prstGeom>
          <a:solidFill>
            <a:srgbClr val="F2F5F8"/>
          </a:solidFill>
          <a:ln w="12700">
            <a:solidFill>
              <a:srgbClr val="E1E7EE"/>
            </a:solidFill>
            <a:prstDash val="solid"/>
          </a:ln>
        </p:spPr>
      </p:sp>
      <p:sp>
        <p:nvSpPr>
          <p:cNvPr id="17" name="Shape 15"/>
          <p:cNvSpPr/>
          <p:nvPr/>
        </p:nvSpPr>
        <p:spPr>
          <a:xfrm>
            <a:off x="786384" y="3602736"/>
            <a:ext cx="109728" cy="109728"/>
          </a:xfrm>
          <a:prstGeom prst="ellipse">
            <a:avLst/>
          </a:prstGeom>
          <a:solidFill>
            <a:srgbClr val="E4572E"/>
          </a:solidFill>
          <a:ln w="12700">
            <a:solidFill>
              <a:srgbClr val="333333"/>
            </a:solidFill>
            <a:prstDash val="solid"/>
          </a:ln>
        </p:spPr>
      </p:sp>
      <p:sp>
        <p:nvSpPr>
          <p:cNvPr id="18" name="Text 16"/>
          <p:cNvSpPr txBox="1"/>
          <p:nvPr/>
        </p:nvSpPr>
        <p:spPr>
          <a:xfrm>
            <a:off x="987552" y="3474720"/>
            <a:ext cx="4800600" cy="36576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Selection and direction</a:t>
            </a:r>
            <a:endParaRPr lang="en-US" sz="1550" dirty="0"/>
          </a:p>
        </p:txBody>
      </p:sp>
      <p:sp>
        <p:nvSpPr>
          <p:cNvPr id="19" name="Text 17"/>
          <p:cNvSpPr txBox="1"/>
          <p:nvPr/>
        </p:nvSpPr>
        <p:spPr>
          <a:xfrm>
            <a:off x="822960" y="3913632"/>
            <a:ext cx="4928616" cy="1088136"/>
          </a:xfrm>
          <a:prstGeom prst="rect">
            <a:avLst/>
          </a:prstGeom>
          <a:noFill/>
          <a:ln/>
        </p:spPr>
        <p:txBody>
          <a:bodyPr wrap="square" lIns="0" tIns="0" rIns="0" bIns="0" rtlCol="0" anchor="t"/>
          <a:lstStyle/>
          <a:p>
            <a:pPr indent="0" marL="0">
              <a:lnSpc>
                <a:spcPct val="108000"/>
              </a:lnSpc>
              <a:buNone/>
            </a:pPr>
            <a:r>
              <a:rPr lang="en-US" sz="1280" dirty="0">
                <a:solidFill>
                  <a:srgbClr val="3C4655"/>
                </a:solidFill>
                <a:latin typeface="Calibri" pitchFamily="34" charset="0"/>
                <a:ea typeface="Calibri" pitchFamily="34" charset="-122"/>
                <a:cs typeface="Calibri" pitchFamily="34" charset="-120"/>
              </a:rPr>
              <a:t>Actors were chosen after reviewing audition tapes. An experienced professional acted as director throughout, checking that scripts were memorised and — critically — that the intended emotions were expressed genuinely rather than as caricature.</a:t>
            </a:r>
            <a:endParaRPr lang="en-US" sz="1280" dirty="0"/>
          </a:p>
        </p:txBody>
      </p:sp>
      <p:sp>
        <p:nvSpPr>
          <p:cNvPr id="20" name="Shape 18"/>
          <p:cNvSpPr/>
          <p:nvPr/>
        </p:nvSpPr>
        <p:spPr>
          <a:xfrm>
            <a:off x="6190488" y="3310128"/>
            <a:ext cx="5440680" cy="1874520"/>
          </a:xfrm>
          <a:prstGeom prst="roundRect">
            <a:avLst>
              <a:gd name="adj" fmla="val 2927"/>
            </a:avLst>
          </a:prstGeom>
          <a:solidFill>
            <a:srgbClr val="F2F5F8"/>
          </a:solidFill>
          <a:ln w="12700">
            <a:solidFill>
              <a:srgbClr val="E1E7EE"/>
            </a:solidFill>
            <a:prstDash val="solid"/>
          </a:ln>
        </p:spPr>
      </p:sp>
      <p:sp>
        <p:nvSpPr>
          <p:cNvPr id="21" name="Shape 19"/>
          <p:cNvSpPr/>
          <p:nvPr/>
        </p:nvSpPr>
        <p:spPr>
          <a:xfrm>
            <a:off x="6409944" y="3602736"/>
            <a:ext cx="109728" cy="109728"/>
          </a:xfrm>
          <a:prstGeom prst="ellipse">
            <a:avLst/>
          </a:prstGeom>
          <a:solidFill>
            <a:srgbClr val="4A7FA5"/>
          </a:solidFill>
          <a:ln w="12700">
            <a:solidFill>
              <a:srgbClr val="333333"/>
            </a:solidFill>
            <a:prstDash val="solid"/>
          </a:ln>
        </p:spPr>
      </p:sp>
      <p:sp>
        <p:nvSpPr>
          <p:cNvPr id="22" name="Text 20"/>
          <p:cNvSpPr txBox="1"/>
          <p:nvPr/>
        </p:nvSpPr>
        <p:spPr>
          <a:xfrm>
            <a:off x="6611112" y="3474720"/>
            <a:ext cx="4800600" cy="36576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Why 'semi-natural', not 'natural'</a:t>
            </a:r>
            <a:endParaRPr lang="en-US" sz="1550" dirty="0"/>
          </a:p>
        </p:txBody>
      </p:sp>
      <p:sp>
        <p:nvSpPr>
          <p:cNvPr id="23" name="Text 21"/>
          <p:cNvSpPr txBox="1"/>
          <p:nvPr/>
        </p:nvSpPr>
        <p:spPr>
          <a:xfrm>
            <a:off x="6446520" y="3913632"/>
            <a:ext cx="4928616" cy="1088136"/>
          </a:xfrm>
          <a:prstGeom prst="rect">
            <a:avLst/>
          </a:prstGeom>
          <a:noFill/>
          <a:ln/>
        </p:spPr>
        <p:txBody>
          <a:bodyPr wrap="square" lIns="0" tIns="0" rIns="0" bIns="0" rtlCol="0" anchor="t"/>
          <a:lstStyle/>
          <a:p>
            <a:pPr indent="0" marL="0">
              <a:lnSpc>
                <a:spcPct val="108000"/>
              </a:lnSpc>
              <a:buNone/>
            </a:pPr>
            <a:r>
              <a:rPr lang="en-US" sz="1280" dirty="0">
                <a:solidFill>
                  <a:srgbClr val="3C4655"/>
                </a:solidFill>
                <a:latin typeface="Calibri" pitchFamily="34" charset="0"/>
                <a:ea typeface="Calibri" pitchFamily="34" charset="-122"/>
                <a:cs typeface="Calibri" pitchFamily="34" charset="-120"/>
              </a:rPr>
              <a:t>The authors are candid: by Douglas-Cowie's taxonomy this is a semi-natural corpus, because actors may still exaggerate. Their argument is that the elicitation setting pushes it closer to natural than any previous acted corpus — an argument, not a demonstration.</a:t>
            </a:r>
            <a:endParaRPr lang="en-US" sz="1280" dirty="0"/>
          </a:p>
        </p:txBody>
      </p:sp>
      <p:sp>
        <p:nvSpPr>
          <p:cNvPr id="24" name="Shape 22"/>
          <p:cNvSpPr/>
          <p:nvPr/>
        </p:nvSpPr>
        <p:spPr>
          <a:xfrm>
            <a:off x="566928" y="5340096"/>
            <a:ext cx="11064240" cy="685800"/>
          </a:xfrm>
          <a:prstGeom prst="roundRect">
            <a:avLst>
              <a:gd name="adj" fmla="val 8000"/>
            </a:avLst>
          </a:prstGeom>
          <a:solidFill>
            <a:srgbClr val="FBF1EC"/>
          </a:solidFill>
          <a:ln w="12700">
            <a:solidFill>
              <a:srgbClr val="F0D5C7"/>
            </a:solidFill>
            <a:prstDash val="solid"/>
          </a:ln>
        </p:spPr>
      </p:sp>
      <p:sp>
        <p:nvSpPr>
          <p:cNvPr id="25" name="Text 23"/>
          <p:cNvSpPr txBox="1"/>
          <p:nvPr/>
        </p:nvSpPr>
        <p:spPr>
          <a:xfrm>
            <a:off x="822960" y="5559552"/>
            <a:ext cx="10552176" cy="265176"/>
          </a:xfrm>
          <a:prstGeom prst="rect">
            <a:avLst/>
          </a:prstGeom>
          <a:noFill/>
          <a:ln/>
        </p:spPr>
        <p:txBody>
          <a:bodyPr wrap="square" lIns="0" tIns="0" rIns="0" bIns="0" rtlCol="0" anchor="t"/>
          <a:lstStyle/>
          <a:p>
            <a:pPr indent="0" marL="0">
              <a:lnSpc>
                <a:spcPct val="108000"/>
              </a:lnSpc>
              <a:buNone/>
            </a:pPr>
            <a:r>
              <a:rPr lang="en-US" sz="1300" dirty="0">
                <a:solidFill>
                  <a:srgbClr val="3C4655"/>
                </a:solidFill>
                <a:latin typeface="Calibri" pitchFamily="34" charset="0"/>
                <a:ea typeface="Calibri" pitchFamily="34" charset="-122"/>
                <a:cs typeface="Calibri" pitchFamily="34" charset="-120"/>
              </a:rPr>
              <a:t>Ten speakers is below the threshold Douglas-Cowie recommends. The authors acknowledge this directly and defend it as a first step — a limitation we will return to.</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10607040" y="5120640"/>
            <a:ext cx="118872" cy="118872"/>
          </a:xfrm>
          <a:prstGeom prst="ellipse">
            <a:avLst/>
          </a:prstGeom>
          <a:solidFill>
            <a:srgbClr val="E4572E"/>
          </a:solidFill>
          <a:ln w="12700">
            <a:solidFill>
              <a:srgbClr val="E4572E"/>
            </a:solidFill>
            <a:prstDash val="solid"/>
          </a:ln>
        </p:spPr>
      </p:sp>
      <p:sp>
        <p:nvSpPr>
          <p:cNvPr id="3" name="Shape 1"/>
          <p:cNvSpPr/>
          <p:nvPr/>
        </p:nvSpPr>
        <p:spPr>
          <a:xfrm>
            <a:off x="10917936" y="5239512"/>
            <a:ext cx="118872" cy="118872"/>
          </a:xfrm>
          <a:prstGeom prst="ellipse">
            <a:avLst/>
          </a:prstGeom>
          <a:solidFill>
            <a:srgbClr val="E4572E"/>
          </a:solidFill>
          <a:ln w="12700">
            <a:solidFill>
              <a:srgbClr val="E4572E"/>
            </a:solidFill>
            <a:prstDash val="solid"/>
          </a:ln>
        </p:spPr>
      </p:sp>
      <p:sp>
        <p:nvSpPr>
          <p:cNvPr id="4" name="Shape 2"/>
          <p:cNvSpPr/>
          <p:nvPr/>
        </p:nvSpPr>
        <p:spPr>
          <a:xfrm>
            <a:off x="10735056" y="5486400"/>
            <a:ext cx="118872" cy="118872"/>
          </a:xfrm>
          <a:prstGeom prst="ellipse">
            <a:avLst/>
          </a:prstGeom>
          <a:solidFill>
            <a:srgbClr val="E4572E"/>
          </a:solidFill>
          <a:ln w="12700">
            <a:solidFill>
              <a:srgbClr val="E4572E"/>
            </a:solidFill>
            <a:prstDash val="solid"/>
          </a:ln>
        </p:spPr>
      </p:sp>
      <p:sp>
        <p:nvSpPr>
          <p:cNvPr id="5" name="Shape 3"/>
          <p:cNvSpPr/>
          <p:nvPr/>
        </p:nvSpPr>
        <p:spPr>
          <a:xfrm>
            <a:off x="11064240" y="5522976"/>
            <a:ext cx="118872" cy="118872"/>
          </a:xfrm>
          <a:prstGeom prst="ellipse">
            <a:avLst/>
          </a:prstGeom>
          <a:solidFill>
            <a:srgbClr val="E4572E"/>
          </a:solidFill>
          <a:ln w="12700">
            <a:solidFill>
              <a:srgbClr val="E4572E"/>
            </a:solidFill>
            <a:prstDash val="solid"/>
          </a:ln>
        </p:spPr>
      </p:sp>
      <p:sp>
        <p:nvSpPr>
          <p:cNvPr id="6" name="Shape 4"/>
          <p:cNvSpPr/>
          <p:nvPr/>
        </p:nvSpPr>
        <p:spPr>
          <a:xfrm>
            <a:off x="11173968" y="5212080"/>
            <a:ext cx="118872" cy="118872"/>
          </a:xfrm>
          <a:prstGeom prst="ellipse">
            <a:avLst/>
          </a:prstGeom>
          <a:solidFill>
            <a:srgbClr val="E4572E"/>
          </a:solidFill>
          <a:ln w="12700">
            <a:solidFill>
              <a:srgbClr val="E4572E"/>
            </a:solidFill>
            <a:prstDash val="solid"/>
          </a:ln>
        </p:spPr>
      </p:sp>
      <p:sp>
        <p:nvSpPr>
          <p:cNvPr id="7" name="Text 5"/>
          <p:cNvSpPr txBox="1"/>
          <p:nvPr/>
        </p:nvSpPr>
        <p:spPr>
          <a:xfrm>
            <a:off x="822960" y="2057400"/>
            <a:ext cx="1463040" cy="1005840"/>
          </a:xfrm>
          <a:prstGeom prst="rect">
            <a:avLst/>
          </a:prstGeom>
          <a:noFill/>
          <a:ln/>
        </p:spPr>
        <p:txBody>
          <a:bodyPr wrap="square" lIns="0" tIns="0" rIns="0" bIns="0" rtlCol="0" anchor="ctr"/>
          <a:lstStyle/>
          <a:p>
            <a:pPr indent="0" marL="0">
              <a:buNone/>
            </a:pPr>
            <a:r>
              <a:rPr lang="en-US" sz="6800" b="1" dirty="0">
                <a:solidFill>
                  <a:srgbClr val="E4572E"/>
                </a:solidFill>
                <a:latin typeface="Cambria" pitchFamily="34" charset="0"/>
                <a:ea typeface="Cambria" pitchFamily="34" charset="-122"/>
                <a:cs typeface="Cambria" pitchFamily="34" charset="-120"/>
              </a:rPr>
              <a:t>3</a:t>
            </a:r>
            <a:endParaRPr lang="en-US" sz="6800" dirty="0"/>
          </a:p>
        </p:txBody>
      </p:sp>
      <p:sp>
        <p:nvSpPr>
          <p:cNvPr id="8" name="Text 6"/>
          <p:cNvSpPr txBox="1"/>
          <p:nvPr/>
        </p:nvSpPr>
        <p:spPr>
          <a:xfrm>
            <a:off x="2286000" y="2212848"/>
            <a:ext cx="87782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Recording and post-processing</a:t>
            </a:r>
            <a:endParaRPr lang="en-US" sz="3400" dirty="0"/>
          </a:p>
        </p:txBody>
      </p:sp>
      <p:sp>
        <p:nvSpPr>
          <p:cNvPr id="9" name="Text 7"/>
          <p:cNvSpPr txBox="1"/>
          <p:nvPr/>
        </p:nvSpPr>
        <p:spPr>
          <a:xfrm>
            <a:off x="2340864" y="3072384"/>
            <a:ext cx="8595360" cy="731520"/>
          </a:xfrm>
          <a:prstGeom prst="rect">
            <a:avLst/>
          </a:prstGeom>
          <a:noFill/>
          <a:ln/>
        </p:spPr>
        <p:txBody>
          <a:bodyPr wrap="square" lIns="0" tIns="0" rIns="0" bIns="0" rtlCol="0" anchor="ctr"/>
          <a:lstStyle/>
          <a:p>
            <a:pPr indent="0" marL="0">
              <a:buNone/>
            </a:pPr>
            <a:r>
              <a:rPr lang="en-US" sz="1500" dirty="0">
                <a:solidFill>
                  <a:srgbClr val="C9D6E3"/>
                </a:solidFill>
                <a:latin typeface="Calibri" pitchFamily="34" charset="0"/>
                <a:ea typeface="Calibri" pitchFamily="34" charset="-122"/>
                <a:cs typeface="Calibri" pitchFamily="34" charset="-120"/>
              </a:rPr>
              <a:t>Motion capture rig, synchronisation, segmentation, transcription</a:t>
            </a:r>
            <a:endParaRPr lang="en-US" sz="1500" dirty="0"/>
          </a:p>
        </p:txBody>
      </p:sp>
      <p:sp>
        <p:nvSpPr>
          <p:cNvPr id="10" name="Text 8"/>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The capture rig</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Everything is synchronised to a single reference</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14</a:t>
            </a:r>
            <a:endParaRPr lang="en-US" sz="900" dirty="0"/>
          </a:p>
        </p:txBody>
      </p:sp>
      <p:sp>
        <p:nvSpPr>
          <p:cNvPr id="8" name="Shape 6"/>
          <p:cNvSpPr/>
          <p:nvPr/>
        </p:nvSpPr>
        <p:spPr>
          <a:xfrm>
            <a:off x="566928" y="1517904"/>
            <a:ext cx="11064240" cy="722376"/>
          </a:xfrm>
          <a:prstGeom prst="roundRect">
            <a:avLst>
              <a:gd name="adj" fmla="val 5063"/>
            </a:avLst>
          </a:prstGeom>
          <a:solidFill>
            <a:srgbClr val="F2F5F8"/>
          </a:solidFill>
          <a:ln w="12700">
            <a:solidFill>
              <a:srgbClr val="E6EBF0"/>
            </a:solidFill>
            <a:prstDash val="solid"/>
          </a:ln>
        </p:spPr>
      </p:sp>
      <p:sp>
        <p:nvSpPr>
          <p:cNvPr id="9" name="Shape 7"/>
          <p:cNvSpPr/>
          <p:nvPr/>
        </p:nvSpPr>
        <p:spPr>
          <a:xfrm>
            <a:off x="786384" y="1819656"/>
            <a:ext cx="118872" cy="118872"/>
          </a:xfrm>
          <a:prstGeom prst="ellipse">
            <a:avLst/>
          </a:prstGeom>
          <a:solidFill>
            <a:srgbClr val="E4572E"/>
          </a:solidFill>
          <a:ln w="12700">
            <a:solidFill>
              <a:srgbClr val="333333"/>
            </a:solidFill>
            <a:prstDash val="solid"/>
          </a:ln>
        </p:spPr>
      </p:sp>
      <p:sp>
        <p:nvSpPr>
          <p:cNvPr id="10" name="Text 8"/>
          <p:cNvSpPr txBox="1"/>
          <p:nvPr/>
        </p:nvSpPr>
        <p:spPr>
          <a:xfrm>
            <a:off x="1024128" y="1737360"/>
            <a:ext cx="2103120" cy="292608"/>
          </a:xfrm>
          <a:prstGeom prst="rect">
            <a:avLst/>
          </a:prstGeom>
          <a:noFill/>
          <a:ln/>
        </p:spPr>
        <p:txBody>
          <a:bodyPr wrap="square" lIns="0" tIns="0" rIns="0" bIns="0" rtlCol="0" anchor="ctr"/>
          <a:lstStyle/>
          <a:p>
            <a:pPr indent="0" marL="0">
              <a:buNone/>
            </a:pPr>
            <a:r>
              <a:rPr lang="en-US" sz="1300" b="1" dirty="0">
                <a:solidFill>
                  <a:srgbClr val="16213A"/>
                </a:solidFill>
                <a:latin typeface="Cambria" pitchFamily="34" charset="0"/>
                <a:ea typeface="Cambria" pitchFamily="34" charset="-122"/>
                <a:cs typeface="Cambria" pitchFamily="34" charset="-120"/>
              </a:rPr>
              <a:t>Motion capture</a:t>
            </a:r>
            <a:endParaRPr lang="en-US" sz="1300" dirty="0"/>
          </a:p>
        </p:txBody>
      </p:sp>
      <p:sp>
        <p:nvSpPr>
          <p:cNvPr id="11" name="Text 9"/>
          <p:cNvSpPr txBox="1"/>
          <p:nvPr/>
        </p:nvSpPr>
        <p:spPr>
          <a:xfrm>
            <a:off x="3200400" y="1664208"/>
            <a:ext cx="8229600" cy="45720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VICON system, 8 cameras placed about one metre from the marked subject, sampling at 120 frames per second.</a:t>
            </a:r>
            <a:endParaRPr lang="en-US" sz="1200" dirty="0"/>
          </a:p>
        </p:txBody>
      </p:sp>
      <p:sp>
        <p:nvSpPr>
          <p:cNvPr id="12" name="Shape 10"/>
          <p:cNvSpPr/>
          <p:nvPr/>
        </p:nvSpPr>
        <p:spPr>
          <a:xfrm>
            <a:off x="566928" y="2295144"/>
            <a:ext cx="11064240" cy="722376"/>
          </a:xfrm>
          <a:prstGeom prst="roundRect">
            <a:avLst>
              <a:gd name="adj" fmla="val 5063"/>
            </a:avLst>
          </a:prstGeom>
          <a:solidFill>
            <a:srgbClr val="FFFFFF"/>
          </a:solidFill>
          <a:ln w="12700">
            <a:solidFill>
              <a:srgbClr val="E6EBF0"/>
            </a:solidFill>
            <a:prstDash val="solid"/>
          </a:ln>
        </p:spPr>
      </p:sp>
      <p:sp>
        <p:nvSpPr>
          <p:cNvPr id="13" name="Shape 11"/>
          <p:cNvSpPr/>
          <p:nvPr/>
        </p:nvSpPr>
        <p:spPr>
          <a:xfrm>
            <a:off x="786384" y="2596896"/>
            <a:ext cx="118872" cy="118872"/>
          </a:xfrm>
          <a:prstGeom prst="ellipse">
            <a:avLst/>
          </a:prstGeom>
          <a:solidFill>
            <a:srgbClr val="E4572E"/>
          </a:solidFill>
          <a:ln w="12700">
            <a:solidFill>
              <a:srgbClr val="333333"/>
            </a:solidFill>
            <a:prstDash val="solid"/>
          </a:ln>
        </p:spPr>
      </p:sp>
      <p:sp>
        <p:nvSpPr>
          <p:cNvPr id="14" name="Text 12"/>
          <p:cNvSpPr txBox="1"/>
          <p:nvPr/>
        </p:nvSpPr>
        <p:spPr>
          <a:xfrm>
            <a:off x="1024128" y="2514600"/>
            <a:ext cx="2103120" cy="292608"/>
          </a:xfrm>
          <a:prstGeom prst="rect">
            <a:avLst/>
          </a:prstGeom>
          <a:noFill/>
          <a:ln/>
        </p:spPr>
        <p:txBody>
          <a:bodyPr wrap="square" lIns="0" tIns="0" rIns="0" bIns="0" rtlCol="0" anchor="ctr"/>
          <a:lstStyle/>
          <a:p>
            <a:pPr indent="0" marL="0">
              <a:buNone/>
            </a:pPr>
            <a:r>
              <a:rPr lang="en-US" sz="1300" b="1" dirty="0">
                <a:solidFill>
                  <a:srgbClr val="16213A"/>
                </a:solidFill>
                <a:latin typeface="Cambria" pitchFamily="34" charset="0"/>
                <a:ea typeface="Cambria" pitchFamily="34" charset="-122"/>
                <a:cs typeface="Cambria" pitchFamily="34" charset="-120"/>
              </a:rPr>
              <a:t>Facial markers</a:t>
            </a:r>
            <a:endParaRPr lang="en-US" sz="1300" dirty="0"/>
          </a:p>
        </p:txBody>
      </p:sp>
      <p:sp>
        <p:nvSpPr>
          <p:cNvPr id="15" name="Text 13"/>
          <p:cNvSpPr txBox="1"/>
          <p:nvPr/>
        </p:nvSpPr>
        <p:spPr>
          <a:xfrm>
            <a:off x="3200400" y="2441448"/>
            <a:ext cx="8229600" cy="45720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53 markers roughly 4 mm across, positioned mostly on MPEG-4 facial feature points, spaced apart to aid reconstruction.</a:t>
            </a:r>
            <a:endParaRPr lang="en-US" sz="1200" dirty="0"/>
          </a:p>
        </p:txBody>
      </p:sp>
      <p:sp>
        <p:nvSpPr>
          <p:cNvPr id="16" name="Shape 14"/>
          <p:cNvSpPr/>
          <p:nvPr/>
        </p:nvSpPr>
        <p:spPr>
          <a:xfrm>
            <a:off x="566928" y="3072384"/>
            <a:ext cx="11064240" cy="722376"/>
          </a:xfrm>
          <a:prstGeom prst="roundRect">
            <a:avLst>
              <a:gd name="adj" fmla="val 5063"/>
            </a:avLst>
          </a:prstGeom>
          <a:solidFill>
            <a:srgbClr val="F2F5F8"/>
          </a:solidFill>
          <a:ln w="12700">
            <a:solidFill>
              <a:srgbClr val="E6EBF0"/>
            </a:solidFill>
            <a:prstDash val="solid"/>
          </a:ln>
        </p:spPr>
      </p:sp>
      <p:sp>
        <p:nvSpPr>
          <p:cNvPr id="17" name="Shape 15"/>
          <p:cNvSpPr/>
          <p:nvPr/>
        </p:nvSpPr>
        <p:spPr>
          <a:xfrm>
            <a:off x="786384" y="3374136"/>
            <a:ext cx="118872" cy="118872"/>
          </a:xfrm>
          <a:prstGeom prst="ellipse">
            <a:avLst/>
          </a:prstGeom>
          <a:solidFill>
            <a:srgbClr val="E4572E"/>
          </a:solidFill>
          <a:ln w="12700">
            <a:solidFill>
              <a:srgbClr val="333333"/>
            </a:solidFill>
            <a:prstDash val="solid"/>
          </a:ln>
        </p:spPr>
      </p:sp>
      <p:sp>
        <p:nvSpPr>
          <p:cNvPr id="18" name="Text 16"/>
          <p:cNvSpPr txBox="1"/>
          <p:nvPr/>
        </p:nvSpPr>
        <p:spPr>
          <a:xfrm>
            <a:off x="1024128" y="3291840"/>
            <a:ext cx="2103120" cy="292608"/>
          </a:xfrm>
          <a:prstGeom prst="rect">
            <a:avLst/>
          </a:prstGeom>
          <a:noFill/>
          <a:ln/>
        </p:spPr>
        <p:txBody>
          <a:bodyPr wrap="square" lIns="0" tIns="0" rIns="0" bIns="0" rtlCol="0" anchor="ctr"/>
          <a:lstStyle/>
          <a:p>
            <a:pPr indent="0" marL="0">
              <a:buNone/>
            </a:pPr>
            <a:r>
              <a:rPr lang="en-US" sz="1300" b="1" dirty="0">
                <a:solidFill>
                  <a:srgbClr val="16213A"/>
                </a:solidFill>
                <a:latin typeface="Cambria" pitchFamily="34" charset="0"/>
                <a:ea typeface="Cambria" pitchFamily="34" charset="-122"/>
                <a:cs typeface="Cambria" pitchFamily="34" charset="-120"/>
              </a:rPr>
              <a:t>Head and hands</a:t>
            </a:r>
            <a:endParaRPr lang="en-US" sz="1300" dirty="0"/>
          </a:p>
        </p:txBody>
      </p:sp>
      <p:sp>
        <p:nvSpPr>
          <p:cNvPr id="19" name="Text 17"/>
          <p:cNvSpPr txBox="1"/>
          <p:nvPr/>
        </p:nvSpPr>
        <p:spPr>
          <a:xfrm>
            <a:off x="3200400" y="3218688"/>
            <a:ext cx="8229600" cy="45720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A headband with 2 markers compensates for head rotation; wristbands carry 2 markers each, plus one marker per hand — 61 markers in total.</a:t>
            </a:r>
            <a:endParaRPr lang="en-US" sz="1200" dirty="0"/>
          </a:p>
        </p:txBody>
      </p:sp>
      <p:sp>
        <p:nvSpPr>
          <p:cNvPr id="20" name="Shape 18"/>
          <p:cNvSpPr/>
          <p:nvPr/>
        </p:nvSpPr>
        <p:spPr>
          <a:xfrm>
            <a:off x="566928" y="3849624"/>
            <a:ext cx="11064240" cy="722376"/>
          </a:xfrm>
          <a:prstGeom prst="roundRect">
            <a:avLst>
              <a:gd name="adj" fmla="val 5063"/>
            </a:avLst>
          </a:prstGeom>
          <a:solidFill>
            <a:srgbClr val="FFFFFF"/>
          </a:solidFill>
          <a:ln w="12700">
            <a:solidFill>
              <a:srgbClr val="E6EBF0"/>
            </a:solidFill>
            <a:prstDash val="solid"/>
          </a:ln>
        </p:spPr>
      </p:sp>
      <p:sp>
        <p:nvSpPr>
          <p:cNvPr id="21" name="Shape 19"/>
          <p:cNvSpPr/>
          <p:nvPr/>
        </p:nvSpPr>
        <p:spPr>
          <a:xfrm>
            <a:off x="786384" y="4151376"/>
            <a:ext cx="118872" cy="118872"/>
          </a:xfrm>
          <a:prstGeom prst="ellipse">
            <a:avLst/>
          </a:prstGeom>
          <a:solidFill>
            <a:srgbClr val="E4572E"/>
          </a:solidFill>
          <a:ln w="12700">
            <a:solidFill>
              <a:srgbClr val="333333"/>
            </a:solidFill>
            <a:prstDash val="solid"/>
          </a:ln>
        </p:spPr>
      </p:sp>
      <p:sp>
        <p:nvSpPr>
          <p:cNvPr id="22" name="Text 20"/>
          <p:cNvSpPr txBox="1"/>
          <p:nvPr/>
        </p:nvSpPr>
        <p:spPr>
          <a:xfrm>
            <a:off x="1024128" y="4069080"/>
            <a:ext cx="2103120" cy="292608"/>
          </a:xfrm>
          <a:prstGeom prst="rect">
            <a:avLst/>
          </a:prstGeom>
          <a:noFill/>
          <a:ln/>
        </p:spPr>
        <p:txBody>
          <a:bodyPr wrap="square" lIns="0" tIns="0" rIns="0" bIns="0" rtlCol="0" anchor="ctr"/>
          <a:lstStyle/>
          <a:p>
            <a:pPr indent="0" marL="0">
              <a:buNone/>
            </a:pPr>
            <a:r>
              <a:rPr lang="en-US" sz="1300" b="1" dirty="0">
                <a:solidFill>
                  <a:srgbClr val="16213A"/>
                </a:solidFill>
                <a:latin typeface="Cambria" pitchFamily="34" charset="0"/>
                <a:ea typeface="Cambria" pitchFamily="34" charset="-122"/>
                <a:cs typeface="Cambria" pitchFamily="34" charset="-120"/>
              </a:rPr>
              <a:t>Audio</a:t>
            </a:r>
            <a:endParaRPr lang="en-US" sz="1300" dirty="0"/>
          </a:p>
        </p:txBody>
      </p:sp>
      <p:sp>
        <p:nvSpPr>
          <p:cNvPr id="23" name="Text 21"/>
          <p:cNvSpPr txBox="1"/>
          <p:nvPr/>
        </p:nvSpPr>
        <p:spPr>
          <a:xfrm>
            <a:off x="3200400" y="3995928"/>
            <a:ext cx="8229600" cy="45720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Two Schoeps shotgun microphones, one aimed at each participant, recorded at 48 kHz.</a:t>
            </a:r>
            <a:endParaRPr lang="en-US" sz="1200" dirty="0"/>
          </a:p>
        </p:txBody>
      </p:sp>
      <p:sp>
        <p:nvSpPr>
          <p:cNvPr id="24" name="Shape 22"/>
          <p:cNvSpPr/>
          <p:nvPr/>
        </p:nvSpPr>
        <p:spPr>
          <a:xfrm>
            <a:off x="566928" y="4626864"/>
            <a:ext cx="11064240" cy="722376"/>
          </a:xfrm>
          <a:prstGeom prst="roundRect">
            <a:avLst>
              <a:gd name="adj" fmla="val 5063"/>
            </a:avLst>
          </a:prstGeom>
          <a:solidFill>
            <a:srgbClr val="F2F5F8"/>
          </a:solidFill>
          <a:ln w="12700">
            <a:solidFill>
              <a:srgbClr val="E6EBF0"/>
            </a:solidFill>
            <a:prstDash val="solid"/>
          </a:ln>
        </p:spPr>
      </p:sp>
      <p:sp>
        <p:nvSpPr>
          <p:cNvPr id="25" name="Shape 23"/>
          <p:cNvSpPr/>
          <p:nvPr/>
        </p:nvSpPr>
        <p:spPr>
          <a:xfrm>
            <a:off x="786384" y="4928616"/>
            <a:ext cx="118872" cy="118872"/>
          </a:xfrm>
          <a:prstGeom prst="ellipse">
            <a:avLst/>
          </a:prstGeom>
          <a:solidFill>
            <a:srgbClr val="E4572E"/>
          </a:solidFill>
          <a:ln w="12700">
            <a:solidFill>
              <a:srgbClr val="333333"/>
            </a:solidFill>
            <a:prstDash val="solid"/>
          </a:ln>
        </p:spPr>
      </p:sp>
      <p:sp>
        <p:nvSpPr>
          <p:cNvPr id="26" name="Text 24"/>
          <p:cNvSpPr txBox="1"/>
          <p:nvPr/>
        </p:nvSpPr>
        <p:spPr>
          <a:xfrm>
            <a:off x="1024128" y="4846320"/>
            <a:ext cx="2103120" cy="292608"/>
          </a:xfrm>
          <a:prstGeom prst="rect">
            <a:avLst/>
          </a:prstGeom>
          <a:noFill/>
          <a:ln/>
        </p:spPr>
        <p:txBody>
          <a:bodyPr wrap="square" lIns="0" tIns="0" rIns="0" bIns="0" rtlCol="0" anchor="ctr"/>
          <a:lstStyle/>
          <a:p>
            <a:pPr indent="0" marL="0">
              <a:buNone/>
            </a:pPr>
            <a:r>
              <a:rPr lang="en-US" sz="1300" b="1" dirty="0">
                <a:solidFill>
                  <a:srgbClr val="16213A"/>
                </a:solidFill>
                <a:latin typeface="Cambria" pitchFamily="34" charset="0"/>
                <a:ea typeface="Cambria" pitchFamily="34" charset="-122"/>
                <a:cs typeface="Cambria" pitchFamily="34" charset="-120"/>
              </a:rPr>
              <a:t>Video</a:t>
            </a:r>
            <a:endParaRPr lang="en-US" sz="1300" dirty="0"/>
          </a:p>
        </p:txBody>
      </p:sp>
      <p:sp>
        <p:nvSpPr>
          <p:cNvPr id="27" name="Text 25"/>
          <p:cNvSpPr txBox="1"/>
          <p:nvPr/>
        </p:nvSpPr>
        <p:spPr>
          <a:xfrm>
            <a:off x="3200400" y="4773168"/>
            <a:ext cx="8229600" cy="45720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Two digital cameras capturing a semi-frontal view of each participant — these are what the annotators later watched.</a:t>
            </a:r>
            <a:endParaRPr lang="en-US" sz="1200" dirty="0"/>
          </a:p>
        </p:txBody>
      </p:sp>
      <p:sp>
        <p:nvSpPr>
          <p:cNvPr id="28" name="Shape 26"/>
          <p:cNvSpPr/>
          <p:nvPr/>
        </p:nvSpPr>
        <p:spPr>
          <a:xfrm>
            <a:off x="566928" y="5404104"/>
            <a:ext cx="11064240" cy="722376"/>
          </a:xfrm>
          <a:prstGeom prst="roundRect">
            <a:avLst>
              <a:gd name="adj" fmla="val 5063"/>
            </a:avLst>
          </a:prstGeom>
          <a:solidFill>
            <a:srgbClr val="FFFFFF"/>
          </a:solidFill>
          <a:ln w="12700">
            <a:solidFill>
              <a:srgbClr val="E6EBF0"/>
            </a:solidFill>
            <a:prstDash val="solid"/>
          </a:ln>
        </p:spPr>
      </p:sp>
      <p:sp>
        <p:nvSpPr>
          <p:cNvPr id="29" name="Shape 27"/>
          <p:cNvSpPr/>
          <p:nvPr/>
        </p:nvSpPr>
        <p:spPr>
          <a:xfrm>
            <a:off x="786384" y="5705856"/>
            <a:ext cx="118872" cy="118872"/>
          </a:xfrm>
          <a:prstGeom prst="ellipse">
            <a:avLst/>
          </a:prstGeom>
          <a:solidFill>
            <a:srgbClr val="E4572E"/>
          </a:solidFill>
          <a:ln w="12700">
            <a:solidFill>
              <a:srgbClr val="333333"/>
            </a:solidFill>
            <a:prstDash val="solid"/>
          </a:ln>
        </p:spPr>
      </p:sp>
      <p:sp>
        <p:nvSpPr>
          <p:cNvPr id="30" name="Text 28"/>
          <p:cNvSpPr txBox="1"/>
          <p:nvPr/>
        </p:nvSpPr>
        <p:spPr>
          <a:xfrm>
            <a:off x="1024128" y="5623560"/>
            <a:ext cx="2103120" cy="292608"/>
          </a:xfrm>
          <a:prstGeom prst="rect">
            <a:avLst/>
          </a:prstGeom>
          <a:noFill/>
          <a:ln/>
        </p:spPr>
        <p:txBody>
          <a:bodyPr wrap="square" lIns="0" tIns="0" rIns="0" bIns="0" rtlCol="0" anchor="ctr"/>
          <a:lstStyle/>
          <a:p>
            <a:pPr indent="0" marL="0">
              <a:buNone/>
            </a:pPr>
            <a:r>
              <a:rPr lang="en-US" sz="1300" b="1" dirty="0">
                <a:solidFill>
                  <a:srgbClr val="16213A"/>
                </a:solidFill>
                <a:latin typeface="Cambria" pitchFamily="34" charset="0"/>
                <a:ea typeface="Cambria" pitchFamily="34" charset="-122"/>
                <a:cs typeface="Cambria" pitchFamily="34" charset="-120"/>
              </a:rPr>
              <a:t>Synchronisation</a:t>
            </a:r>
            <a:endParaRPr lang="en-US" sz="1300" dirty="0"/>
          </a:p>
        </p:txBody>
      </p:sp>
      <p:sp>
        <p:nvSpPr>
          <p:cNvPr id="31" name="Text 29"/>
          <p:cNvSpPr txBox="1"/>
          <p:nvPr/>
        </p:nvSpPr>
        <p:spPr>
          <a:xfrm>
            <a:off x="3200400" y="5550408"/>
            <a:ext cx="8229600" cy="45720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A clapboard fitted with reflective markers, visible to both the motion capture cameras and the video cameras, aligns every stream.</a:t>
            </a:r>
            <a:endParaRPr lang="en-US" sz="1200" dirty="0"/>
          </a:p>
        </p:txBody>
      </p:sp>
      <p:sp>
        <p:nvSpPr>
          <p:cNvPr id="32" name="Text 30"/>
          <p:cNvSpPr txBox="1"/>
          <p:nvPr/>
        </p:nvSpPr>
        <p:spPr>
          <a:xfrm>
            <a:off x="566928" y="6108192"/>
            <a:ext cx="11064240" cy="292608"/>
          </a:xfrm>
          <a:prstGeom prst="rect">
            <a:avLst/>
          </a:prstGeom>
          <a:noFill/>
          <a:ln/>
        </p:spPr>
        <p:txBody>
          <a:bodyPr wrap="square" lIns="0" tIns="0" rIns="0" bIns="0" rtlCol="0" anchor="ctr"/>
          <a:lstStyle/>
          <a:p>
            <a:pPr indent="0" marL="0">
              <a:buNone/>
            </a:pPr>
            <a:r>
              <a:rPr lang="en-US" sz="1200" i="1" dirty="0">
                <a:solidFill>
                  <a:srgbClr val="5C6675"/>
                </a:solidFill>
                <a:latin typeface="Calibri" pitchFamily="34" charset="0"/>
                <a:ea typeface="Calibri" pitchFamily="34" charset="-122"/>
                <a:cs typeface="Calibri" pitchFamily="34" charset="-120"/>
              </a:rPr>
              <a:t>The subjects were seated so that gestures stayed inside the capture volume, but were told to gesture naturally and to keep their hands away from their faces.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Why only one subject wears markers</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A constraint that shapes what the corpus can be used for</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15</a:t>
            </a:r>
            <a:endParaRPr lang="en-US" sz="900" dirty="0"/>
          </a:p>
        </p:txBody>
      </p:sp>
      <p:sp>
        <p:nvSpPr>
          <p:cNvPr id="8" name="Shape 6"/>
          <p:cNvSpPr/>
          <p:nvPr/>
        </p:nvSpPr>
        <p:spPr>
          <a:xfrm>
            <a:off x="566928" y="1572768"/>
            <a:ext cx="5852160" cy="3566160"/>
          </a:xfrm>
          <a:prstGeom prst="roundRect">
            <a:avLst>
              <a:gd name="adj" fmla="val 1538"/>
            </a:avLst>
          </a:prstGeom>
          <a:solidFill>
            <a:srgbClr val="F2F5F8"/>
          </a:solidFill>
          <a:ln w="12700">
            <a:solidFill>
              <a:srgbClr val="E1E7EE"/>
            </a:solidFill>
            <a:prstDash val="solid"/>
          </a:ln>
        </p:spPr>
      </p:sp>
      <p:sp>
        <p:nvSpPr>
          <p:cNvPr id="9" name="Shape 7"/>
          <p:cNvSpPr/>
          <p:nvPr/>
        </p:nvSpPr>
        <p:spPr>
          <a:xfrm>
            <a:off x="1417320" y="2057400"/>
            <a:ext cx="310896" cy="219456"/>
          </a:xfrm>
          <a:prstGeom prst="roundRect">
            <a:avLst>
              <a:gd name="adj" fmla="val 16667"/>
            </a:avLst>
          </a:prstGeom>
          <a:solidFill>
            <a:srgbClr val="4A7FA5"/>
          </a:solidFill>
          <a:ln w="12700">
            <a:solidFill>
              <a:srgbClr val="333333"/>
            </a:solidFill>
            <a:prstDash val="solid"/>
          </a:ln>
        </p:spPr>
      </p:sp>
      <p:sp>
        <p:nvSpPr>
          <p:cNvPr id="10" name="Shape 8"/>
          <p:cNvSpPr/>
          <p:nvPr/>
        </p:nvSpPr>
        <p:spPr>
          <a:xfrm>
            <a:off x="2148840" y="1847088"/>
            <a:ext cx="310896" cy="219456"/>
          </a:xfrm>
          <a:prstGeom prst="roundRect">
            <a:avLst>
              <a:gd name="adj" fmla="val 16667"/>
            </a:avLst>
          </a:prstGeom>
          <a:solidFill>
            <a:srgbClr val="4A7FA5"/>
          </a:solidFill>
          <a:ln w="12700">
            <a:solidFill>
              <a:srgbClr val="333333"/>
            </a:solidFill>
            <a:prstDash val="solid"/>
          </a:ln>
        </p:spPr>
      </p:sp>
      <p:sp>
        <p:nvSpPr>
          <p:cNvPr id="11" name="Shape 9"/>
          <p:cNvSpPr/>
          <p:nvPr/>
        </p:nvSpPr>
        <p:spPr>
          <a:xfrm>
            <a:off x="2926080" y="1810512"/>
            <a:ext cx="310896" cy="219456"/>
          </a:xfrm>
          <a:prstGeom prst="roundRect">
            <a:avLst>
              <a:gd name="adj" fmla="val 16667"/>
            </a:avLst>
          </a:prstGeom>
          <a:solidFill>
            <a:srgbClr val="4A7FA5"/>
          </a:solidFill>
          <a:ln w="12700">
            <a:solidFill>
              <a:srgbClr val="333333"/>
            </a:solidFill>
            <a:prstDash val="solid"/>
          </a:ln>
        </p:spPr>
      </p:sp>
      <p:sp>
        <p:nvSpPr>
          <p:cNvPr id="12" name="Shape 10"/>
          <p:cNvSpPr/>
          <p:nvPr/>
        </p:nvSpPr>
        <p:spPr>
          <a:xfrm>
            <a:off x="3703320" y="1874520"/>
            <a:ext cx="310896" cy="219456"/>
          </a:xfrm>
          <a:prstGeom prst="roundRect">
            <a:avLst>
              <a:gd name="adj" fmla="val 16667"/>
            </a:avLst>
          </a:prstGeom>
          <a:solidFill>
            <a:srgbClr val="4A7FA5"/>
          </a:solidFill>
          <a:ln w="12700">
            <a:solidFill>
              <a:srgbClr val="333333"/>
            </a:solidFill>
            <a:prstDash val="solid"/>
          </a:ln>
        </p:spPr>
      </p:sp>
      <p:sp>
        <p:nvSpPr>
          <p:cNvPr id="13" name="Shape 11"/>
          <p:cNvSpPr/>
          <p:nvPr/>
        </p:nvSpPr>
        <p:spPr>
          <a:xfrm>
            <a:off x="1280160" y="2834640"/>
            <a:ext cx="310896" cy="219456"/>
          </a:xfrm>
          <a:prstGeom prst="roundRect">
            <a:avLst>
              <a:gd name="adj" fmla="val 16667"/>
            </a:avLst>
          </a:prstGeom>
          <a:solidFill>
            <a:srgbClr val="4A7FA5"/>
          </a:solidFill>
          <a:ln w="12700">
            <a:solidFill>
              <a:srgbClr val="333333"/>
            </a:solidFill>
            <a:prstDash val="solid"/>
          </a:ln>
        </p:spPr>
      </p:sp>
      <p:sp>
        <p:nvSpPr>
          <p:cNvPr id="14" name="Shape 12"/>
          <p:cNvSpPr/>
          <p:nvPr/>
        </p:nvSpPr>
        <p:spPr>
          <a:xfrm>
            <a:off x="1298448" y="3611880"/>
            <a:ext cx="310896" cy="219456"/>
          </a:xfrm>
          <a:prstGeom prst="roundRect">
            <a:avLst>
              <a:gd name="adj" fmla="val 16667"/>
            </a:avLst>
          </a:prstGeom>
          <a:solidFill>
            <a:srgbClr val="4A7FA5"/>
          </a:solidFill>
          <a:ln w="12700">
            <a:solidFill>
              <a:srgbClr val="333333"/>
            </a:solidFill>
            <a:prstDash val="solid"/>
          </a:ln>
        </p:spPr>
      </p:sp>
      <p:sp>
        <p:nvSpPr>
          <p:cNvPr id="15" name="Shape 13"/>
          <p:cNvSpPr/>
          <p:nvPr/>
        </p:nvSpPr>
        <p:spPr>
          <a:xfrm>
            <a:off x="1783080" y="4251960"/>
            <a:ext cx="310896" cy="219456"/>
          </a:xfrm>
          <a:prstGeom prst="roundRect">
            <a:avLst>
              <a:gd name="adj" fmla="val 16667"/>
            </a:avLst>
          </a:prstGeom>
          <a:solidFill>
            <a:srgbClr val="4A7FA5"/>
          </a:solidFill>
          <a:ln w="12700">
            <a:solidFill>
              <a:srgbClr val="333333"/>
            </a:solidFill>
            <a:prstDash val="solid"/>
          </a:ln>
        </p:spPr>
      </p:sp>
      <p:sp>
        <p:nvSpPr>
          <p:cNvPr id="16" name="Shape 14"/>
          <p:cNvSpPr/>
          <p:nvPr/>
        </p:nvSpPr>
        <p:spPr>
          <a:xfrm>
            <a:off x="2651760" y="4526280"/>
            <a:ext cx="310896" cy="219456"/>
          </a:xfrm>
          <a:prstGeom prst="roundRect">
            <a:avLst>
              <a:gd name="adj" fmla="val 16667"/>
            </a:avLst>
          </a:prstGeom>
          <a:solidFill>
            <a:srgbClr val="4A7FA5"/>
          </a:solidFill>
          <a:ln w="12700">
            <a:solidFill>
              <a:srgbClr val="333333"/>
            </a:solidFill>
            <a:prstDash val="solid"/>
          </a:ln>
        </p:spPr>
      </p:sp>
      <p:sp>
        <p:nvSpPr>
          <p:cNvPr id="17" name="Text 15"/>
          <p:cNvSpPr txBox="1"/>
          <p:nvPr/>
        </p:nvSpPr>
        <p:spPr>
          <a:xfrm>
            <a:off x="1188720" y="4791456"/>
            <a:ext cx="2377440" cy="256032"/>
          </a:xfrm>
          <a:prstGeom prst="rect">
            <a:avLst/>
          </a:prstGeom>
          <a:noFill/>
          <a:ln/>
        </p:spPr>
        <p:txBody>
          <a:bodyPr wrap="square" lIns="0" tIns="0" rIns="0" bIns="0" rtlCol="0" anchor="ctr"/>
          <a:lstStyle/>
          <a:p>
            <a:pPr indent="0" marL="0">
              <a:buNone/>
            </a:pPr>
            <a:r>
              <a:rPr lang="en-US" sz="1050" b="1" dirty="0">
                <a:solidFill>
                  <a:srgbClr val="4A7FA5"/>
                </a:solidFill>
                <a:latin typeface="Calibri" pitchFamily="34" charset="0"/>
                <a:ea typeface="Calibri" pitchFamily="34" charset="-122"/>
                <a:cs typeface="Calibri" pitchFamily="34" charset="-120"/>
              </a:rPr>
              <a:t>8 VICON cameras</a:t>
            </a:r>
            <a:endParaRPr lang="en-US" sz="1050" dirty="0"/>
          </a:p>
        </p:txBody>
      </p:sp>
      <p:sp>
        <p:nvSpPr>
          <p:cNvPr id="18" name="Shape 16"/>
          <p:cNvSpPr/>
          <p:nvPr/>
        </p:nvSpPr>
        <p:spPr>
          <a:xfrm>
            <a:off x="2514600" y="2788920"/>
            <a:ext cx="1051560" cy="1051560"/>
          </a:xfrm>
          <a:prstGeom prst="ellipse">
            <a:avLst/>
          </a:prstGeom>
          <a:solidFill>
            <a:srgbClr val="1B2A4A"/>
          </a:solidFill>
          <a:ln w="12700">
            <a:solidFill>
              <a:srgbClr val="333333"/>
            </a:solidFill>
            <a:prstDash val="solid"/>
          </a:ln>
        </p:spPr>
      </p:sp>
      <p:sp>
        <p:nvSpPr>
          <p:cNvPr id="19" name="Text 17"/>
          <p:cNvSpPr txBox="1"/>
          <p:nvPr/>
        </p:nvSpPr>
        <p:spPr>
          <a:xfrm>
            <a:off x="2514600" y="3035808"/>
            <a:ext cx="10515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20" name="Text 18"/>
          <p:cNvSpPr txBox="1"/>
          <p:nvPr/>
        </p:nvSpPr>
        <p:spPr>
          <a:xfrm>
            <a:off x="2377440" y="3877056"/>
            <a:ext cx="1325880" cy="237744"/>
          </a:xfrm>
          <a:prstGeom prst="rect">
            <a:avLst/>
          </a:prstGeom>
          <a:noFill/>
          <a:ln/>
        </p:spPr>
        <p:txBody>
          <a:bodyPr wrap="square" lIns="0" tIns="0" rIns="0" bIns="0" rtlCol="0" anchor="ctr"/>
          <a:lstStyle/>
          <a:p>
            <a:pPr algn="ctr" indent="0" marL="0">
              <a:buNone/>
            </a:pPr>
            <a:r>
              <a:rPr lang="en-US" sz="1050" dirty="0">
                <a:solidFill>
                  <a:srgbClr val="5C6675"/>
                </a:solidFill>
                <a:latin typeface="Calibri" pitchFamily="34" charset="0"/>
                <a:ea typeface="Calibri" pitchFamily="34" charset="-122"/>
                <a:cs typeface="Calibri" pitchFamily="34" charset="-120"/>
              </a:rPr>
              <a:t>marked</a:t>
            </a:r>
            <a:endParaRPr lang="en-US" sz="1050" dirty="0"/>
          </a:p>
        </p:txBody>
      </p:sp>
      <p:sp>
        <p:nvSpPr>
          <p:cNvPr id="21" name="Shape 19"/>
          <p:cNvSpPr/>
          <p:nvPr/>
        </p:nvSpPr>
        <p:spPr>
          <a:xfrm>
            <a:off x="5074920" y="2788920"/>
            <a:ext cx="1051560" cy="1051560"/>
          </a:xfrm>
          <a:prstGeom prst="ellipse">
            <a:avLst/>
          </a:prstGeom>
          <a:solidFill>
            <a:srgbClr val="9AA9BA"/>
          </a:solidFill>
          <a:ln w="12700">
            <a:solidFill>
              <a:srgbClr val="333333"/>
            </a:solidFill>
            <a:prstDash val="solid"/>
          </a:ln>
        </p:spPr>
      </p:sp>
      <p:sp>
        <p:nvSpPr>
          <p:cNvPr id="22" name="Text 20"/>
          <p:cNvSpPr txBox="1"/>
          <p:nvPr/>
        </p:nvSpPr>
        <p:spPr>
          <a:xfrm>
            <a:off x="5074920" y="3035808"/>
            <a:ext cx="10515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23" name="Text 21"/>
          <p:cNvSpPr txBox="1"/>
          <p:nvPr/>
        </p:nvSpPr>
        <p:spPr>
          <a:xfrm>
            <a:off x="4754880" y="3877056"/>
            <a:ext cx="1691640" cy="457200"/>
          </a:xfrm>
          <a:prstGeom prst="rect">
            <a:avLst/>
          </a:prstGeom>
          <a:noFill/>
          <a:ln/>
        </p:spPr>
        <p:txBody>
          <a:bodyPr wrap="square" lIns="0" tIns="0" rIns="0" bIns="0" rtlCol="0" anchor="ctr"/>
          <a:lstStyle/>
          <a:p>
            <a:pPr algn="ctr" indent="0" marL="0">
              <a:buNone/>
            </a:pPr>
            <a:r>
              <a:rPr lang="en-US" sz="1050" dirty="0">
                <a:solidFill>
                  <a:srgbClr val="5C6675"/>
                </a:solidFill>
                <a:latin typeface="Calibri" pitchFamily="34" charset="0"/>
                <a:ea typeface="Calibri" pitchFamily="34" charset="-122"/>
                <a:cs typeface="Calibri" pitchFamily="34" charset="-120"/>
              </a:rPr>
              <a:t>outside</a:t>
            </a:r>
            <a:endParaRPr lang="en-US" sz="1050" dirty="0"/>
          </a:p>
          <a:p>
            <a:pPr algn="ctr" indent="0" marL="0">
              <a:buNone/>
            </a:pPr>
            <a:r>
              <a:rPr lang="en-US" sz="1050" dirty="0">
                <a:solidFill>
                  <a:srgbClr val="5C6675"/>
                </a:solidFill>
                <a:latin typeface="Calibri" pitchFamily="34" charset="0"/>
                <a:ea typeface="Calibri" pitchFamily="34" charset="-122"/>
                <a:cs typeface="Calibri" pitchFamily="34" charset="-120"/>
              </a:rPr>
              <a:t>capture volume</a:t>
            </a:r>
            <a:endParaRPr lang="en-US" sz="1050" dirty="0"/>
          </a:p>
        </p:txBody>
      </p:sp>
      <p:sp>
        <p:nvSpPr>
          <p:cNvPr id="24" name="Shape 22"/>
          <p:cNvSpPr/>
          <p:nvPr/>
        </p:nvSpPr>
        <p:spPr>
          <a:xfrm>
            <a:off x="3611880" y="3310128"/>
            <a:ext cx="1371600" cy="0"/>
          </a:xfrm>
          <a:prstGeom prst="line">
            <a:avLst/>
          </a:prstGeom>
          <a:noFill/>
          <a:ln w="31750">
            <a:solidFill>
              <a:srgbClr val="E4572E"/>
            </a:solidFill>
            <a:prstDash val="solid"/>
            <a:headEnd type="triangle"/>
            <a:tailEnd type="triangle"/>
          </a:ln>
        </p:spPr>
      </p:sp>
      <p:sp>
        <p:nvSpPr>
          <p:cNvPr id="25" name="Text 23"/>
          <p:cNvSpPr txBox="1"/>
          <p:nvPr/>
        </p:nvSpPr>
        <p:spPr>
          <a:xfrm>
            <a:off x="6675120" y="1700784"/>
            <a:ext cx="4956048" cy="3200400"/>
          </a:xfrm>
          <a:prstGeom prst="rect">
            <a:avLst/>
          </a:prstGeom>
          <a:noFill/>
          <a:ln/>
        </p:spPr>
        <p:txBody>
          <a:bodyPr wrap="square" lIns="0" tIns="0" rIns="0" bIns="0" rtlCol="0" anchor="t"/>
          <a:lstStyle/>
          <a:p>
            <a:pPr marL="342900" indent="-342900">
              <a:spcAft>
                <a:spcPts val="800"/>
              </a:spcAft>
              <a:buSzPct val="100000"/>
              <a:buChar char="●"/>
            </a:pPr>
            <a:r>
              <a:rPr lang="en-US" sz="1320" dirty="0">
                <a:solidFill>
                  <a:srgbClr val="3C4655"/>
                </a:solidFill>
                <a:latin typeface="Calibri" pitchFamily="34" charset="0"/>
                <a:ea typeface="Calibri" pitchFamily="34" charset="-122"/>
                <a:cs typeface="Calibri" pitchFamily="34" charset="-120"/>
              </a:rPr>
              <a:t>The motion capture cameras respond to any reflective surface in view, so a second marker rig — plus its microphones, cameras and computer — would corrupt the recording.</a:t>
            </a:r>
            <a:endParaRPr lang="en-US" sz="1320" dirty="0"/>
          </a:p>
          <a:p>
            <a:pPr marL="342900" indent="-342900">
              <a:spcAft>
                <a:spcPts val="800"/>
              </a:spcAft>
              <a:buSzPct val="100000"/>
              <a:buChar char="●"/>
            </a:pPr>
            <a:r>
              <a:rPr lang="en-US" sz="1320" dirty="0">
                <a:solidFill>
                  <a:srgbClr val="3C4655"/>
                </a:solidFill>
                <a:latin typeface="Calibri" pitchFamily="34" charset="0"/>
                <a:ea typeface="Calibri" pitchFamily="34" charset="-122"/>
                <a:cs typeface="Calibri" pitchFamily="34" charset="-120"/>
              </a:rPr>
              <a:t>Aiming all eight cameras at one person also raises the spatial resolution of the capture.</a:t>
            </a:r>
            <a:endParaRPr lang="en-US" sz="1320" dirty="0"/>
          </a:p>
          <a:p>
            <a:pPr marL="342900" indent="-342900">
              <a:spcAft>
                <a:spcPts val="800"/>
              </a:spcAft>
              <a:buSzPct val="100000"/>
              <a:buChar char="●"/>
            </a:pPr>
            <a:r>
              <a:rPr lang="en-US" sz="1320" dirty="0">
                <a:solidFill>
                  <a:srgbClr val="3C4655"/>
                </a:solidFill>
                <a:latin typeface="Calibri" pitchFamily="34" charset="0"/>
                <a:ea typeface="Calibri" pitchFamily="34" charset="-122"/>
                <a:cs typeface="Calibri" pitchFamily="34" charset="-120"/>
              </a:rPr>
              <a:t>The consequence: the pair record the whole session, swap the markers, rest, and record it again.</a:t>
            </a:r>
            <a:endParaRPr lang="en-US" sz="1320" dirty="0"/>
          </a:p>
          <a:p>
            <a:pPr marL="342900" indent="-342900">
              <a:spcAft>
                <a:spcPts val="800"/>
              </a:spcAft>
              <a:buSzPct val="100000"/>
              <a:buChar char="●"/>
            </a:pPr>
            <a:r>
              <a:rPr lang="en-US" sz="1320" dirty="0">
                <a:solidFill>
                  <a:srgbClr val="3C4655"/>
                </a:solidFill>
                <a:latin typeface="Calibri" pitchFamily="34" charset="0"/>
                <a:ea typeface="Calibri" pitchFamily="34" charset="-122"/>
                <a:cs typeface="Calibri" pitchFamily="34" charset="-120"/>
              </a:rPr>
              <a:t>So the corpus has full motion capture for one side of every dialogue, and audio and video for both.</a:t>
            </a:r>
            <a:endParaRPr lang="en-US" sz="1320" dirty="0"/>
          </a:p>
        </p:txBody>
      </p:sp>
      <p:sp>
        <p:nvSpPr>
          <p:cNvPr id="26" name="Shape 24"/>
          <p:cNvSpPr/>
          <p:nvPr/>
        </p:nvSpPr>
        <p:spPr>
          <a:xfrm>
            <a:off x="566928" y="5285232"/>
            <a:ext cx="11064240" cy="777240"/>
          </a:xfrm>
          <a:prstGeom prst="roundRect">
            <a:avLst>
              <a:gd name="adj" fmla="val 7059"/>
            </a:avLst>
          </a:prstGeom>
          <a:solidFill>
            <a:srgbClr val="FBF1EC"/>
          </a:solidFill>
          <a:ln w="12700">
            <a:solidFill>
              <a:srgbClr val="F0D5C7"/>
            </a:solidFill>
            <a:prstDash val="solid"/>
          </a:ln>
        </p:spPr>
      </p:sp>
      <p:sp>
        <p:nvSpPr>
          <p:cNvPr id="27" name="Text 25"/>
          <p:cNvSpPr txBox="1"/>
          <p:nvPr/>
        </p:nvSpPr>
        <p:spPr>
          <a:xfrm>
            <a:off x="822960" y="5504688"/>
            <a:ext cx="10552176" cy="356616"/>
          </a:xfrm>
          <a:prstGeom prst="rect">
            <a:avLst/>
          </a:prstGeom>
          <a:noFill/>
          <a:ln/>
        </p:spPr>
        <p:txBody>
          <a:bodyPr wrap="square" lIns="0" tIns="0" rIns="0" bIns="0" rtlCol="0" anchor="t"/>
          <a:lstStyle/>
          <a:p>
            <a:pPr indent="0" marL="0">
              <a:lnSpc>
                <a:spcPct val="108000"/>
              </a:lnSpc>
              <a:buNone/>
            </a:pPr>
            <a:r>
              <a:rPr lang="en-US" sz="1300" dirty="0">
                <a:solidFill>
                  <a:srgbClr val="3C4655"/>
                </a:solidFill>
                <a:latin typeface="Calibri" pitchFamily="34" charset="0"/>
                <a:ea typeface="Calibri" pitchFamily="34" charset="-122"/>
                <a:cs typeface="Calibri" pitchFamily="34" charset="-120"/>
              </a:rPr>
              <a:t>Practical implication: work using the motion capture channel has roughly half the data available to work using audio alone. Most published SER results on IEMOCAP quietly use only the audio.</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Segmentation and transcription</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Turns are the unit of analysis — and the unit of annotation</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16</a:t>
            </a:r>
            <a:endParaRPr lang="en-US" sz="900" dirty="0"/>
          </a:p>
        </p:txBody>
      </p:sp>
      <p:graphicFrame>
        <p:nvGraphicFramePr>
          <p:cNvPr id="8" name="Chart 0" descr=""/>
          <p:cNvGraphicFramePr/>
          <p:nvPr/>
        </p:nvGraphicFramePr>
        <p:xfrm>
          <a:off x="566928" y="1536192"/>
          <a:ext cx="6675120" cy="35661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7498080" y="1664208"/>
            <a:ext cx="4133088" cy="33832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3C4655"/>
                </a:solidFill>
                <a:latin typeface="Calibri" pitchFamily="34" charset="0"/>
                <a:ea typeface="Calibri" pitchFamily="34" charset="-122"/>
                <a:cs typeface="Calibri" pitchFamily="34" charset="-120"/>
              </a:rPr>
              <a:t>10,039 turns in total — 5,255 scripted and 4,784 spontaneous.</a:t>
            </a:r>
            <a:endParaRPr lang="en-US" sz="1250" dirty="0"/>
          </a:p>
          <a:p>
            <a:pPr marL="342900" indent="-342900">
              <a:spcAft>
                <a:spcPts val="800"/>
              </a:spcAft>
              <a:buSzPct val="100000"/>
              <a:buChar char="●"/>
            </a:pPr>
            <a:r>
              <a:rPr lang="en-US" sz="1250" dirty="0">
                <a:solidFill>
                  <a:srgbClr val="3C4655"/>
                </a:solidFill>
                <a:latin typeface="Calibri" pitchFamily="34" charset="0"/>
                <a:ea typeface="Calibri" pitchFamily="34" charset="-122"/>
                <a:cs typeface="Calibri" pitchFamily="34" charset="-120"/>
              </a:rPr>
              <a:t>A turn is a continuous stretch in which one actor is speaking. Short backchannels such as 'mm-hmm' were not segmented.</a:t>
            </a:r>
            <a:endParaRPr lang="en-US" sz="1250" dirty="0"/>
          </a:p>
          <a:p>
            <a:pPr marL="342900" indent="-342900">
              <a:spcAft>
                <a:spcPts val="800"/>
              </a:spcAft>
              <a:buSzPct val="100000"/>
              <a:buChar char="●"/>
            </a:pPr>
            <a:r>
              <a:rPr lang="en-US" sz="1250" dirty="0">
                <a:solidFill>
                  <a:srgbClr val="3C4655"/>
                </a:solidFill>
                <a:latin typeface="Calibri" pitchFamily="34" charset="0"/>
                <a:ea typeface="Calibri" pitchFamily="34" charset="-122"/>
                <a:cs typeface="Calibri" pitchFamily="34" charset="-120"/>
              </a:rPr>
              <a:t>Transcription was done professionally; word and phoneme boundaries came from forced alignment with Sphinx-III models trained on 360 hours of neutral speech.</a:t>
            </a:r>
            <a:endParaRPr lang="en-US" sz="1250" dirty="0"/>
          </a:p>
          <a:p>
            <a:pPr marL="342900" indent="-342900">
              <a:spcAft>
                <a:spcPts val="800"/>
              </a:spcAft>
              <a:buSzPct val="100000"/>
              <a:buChar char="●"/>
            </a:pPr>
            <a:r>
              <a:rPr lang="en-US" sz="1250" dirty="0">
                <a:solidFill>
                  <a:srgbClr val="3C4655"/>
                </a:solidFill>
                <a:latin typeface="Calibri" pitchFamily="34" charset="0"/>
                <a:ea typeface="Calibri" pitchFamily="34" charset="-122"/>
                <a:cs typeface="Calibri" pitchFamily="34" charset="-120"/>
              </a:rPr>
              <a:t>The comparison is the argument: IEMOCAP turns look statistically like real spontaneous telephone conversation, not like read speech.</a:t>
            </a:r>
            <a:endParaRPr lang="en-US" sz="1250" dirty="0"/>
          </a:p>
        </p:txBody>
      </p:sp>
      <p:sp>
        <p:nvSpPr>
          <p:cNvPr id="10" name="Shape 7"/>
          <p:cNvSpPr/>
          <p:nvPr/>
        </p:nvSpPr>
        <p:spPr>
          <a:xfrm>
            <a:off x="566928" y="5230368"/>
            <a:ext cx="11064240" cy="822960"/>
          </a:xfrm>
          <a:prstGeom prst="roundRect">
            <a:avLst>
              <a:gd name="adj" fmla="val 6667"/>
            </a:avLst>
          </a:prstGeom>
          <a:solidFill>
            <a:srgbClr val="1B2A4A"/>
          </a:solidFill>
          <a:ln w="12700">
            <a:solidFill>
              <a:srgbClr val="1B2A4A"/>
            </a:solidFill>
            <a:prstDash val="solid"/>
          </a:ln>
        </p:spPr>
      </p:sp>
      <p:sp>
        <p:nvSpPr>
          <p:cNvPr id="11" name="Text 8"/>
          <p:cNvSpPr txBox="1"/>
          <p:nvPr/>
        </p:nvSpPr>
        <p:spPr>
          <a:xfrm>
            <a:off x="822960" y="5449824"/>
            <a:ext cx="10552176" cy="402336"/>
          </a:xfrm>
          <a:prstGeom prst="rect">
            <a:avLst/>
          </a:prstGeom>
          <a:noFill/>
          <a:ln/>
        </p:spPr>
        <p:txBody>
          <a:bodyPr wrap="square" lIns="0" tIns="0" rIns="0" bIns="0" rtlCol="0" anchor="t"/>
          <a:lstStyle/>
          <a:p>
            <a:pPr indent="0" marL="0">
              <a:lnSpc>
                <a:spcPct val="108000"/>
              </a:lnSpc>
              <a:buNone/>
            </a:pPr>
            <a:r>
              <a:rPr lang="en-US" sz="1300" dirty="0">
                <a:solidFill>
                  <a:srgbClr val="C9D6E3"/>
                </a:solidFill>
                <a:latin typeface="Calibri" pitchFamily="34" charset="0"/>
                <a:ea typeface="Calibri" pitchFamily="34" charset="-122"/>
                <a:cs typeface="Calibri" pitchFamily="34" charset="-120"/>
              </a:rPr>
              <a:t>Watch the spontaneous column: more than 20% of improvised turns are a single word — 'yeah', 'okay', 'what', 'right'. Backchannel-like turns are trivially easy to label neutral and inflate accuracy if you do not filter them.</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10607040" y="5120640"/>
            <a:ext cx="118872" cy="118872"/>
          </a:xfrm>
          <a:prstGeom prst="ellipse">
            <a:avLst/>
          </a:prstGeom>
          <a:solidFill>
            <a:srgbClr val="E4572E"/>
          </a:solidFill>
          <a:ln w="12700">
            <a:solidFill>
              <a:srgbClr val="E4572E"/>
            </a:solidFill>
            <a:prstDash val="solid"/>
          </a:ln>
        </p:spPr>
      </p:sp>
      <p:sp>
        <p:nvSpPr>
          <p:cNvPr id="3" name="Shape 1"/>
          <p:cNvSpPr/>
          <p:nvPr/>
        </p:nvSpPr>
        <p:spPr>
          <a:xfrm>
            <a:off x="10917936" y="5239512"/>
            <a:ext cx="118872" cy="118872"/>
          </a:xfrm>
          <a:prstGeom prst="ellipse">
            <a:avLst/>
          </a:prstGeom>
          <a:solidFill>
            <a:srgbClr val="E4572E"/>
          </a:solidFill>
          <a:ln w="12700">
            <a:solidFill>
              <a:srgbClr val="E4572E"/>
            </a:solidFill>
            <a:prstDash val="solid"/>
          </a:ln>
        </p:spPr>
      </p:sp>
      <p:sp>
        <p:nvSpPr>
          <p:cNvPr id="4" name="Shape 2"/>
          <p:cNvSpPr/>
          <p:nvPr/>
        </p:nvSpPr>
        <p:spPr>
          <a:xfrm>
            <a:off x="10735056" y="5486400"/>
            <a:ext cx="118872" cy="118872"/>
          </a:xfrm>
          <a:prstGeom prst="ellipse">
            <a:avLst/>
          </a:prstGeom>
          <a:solidFill>
            <a:srgbClr val="E4572E"/>
          </a:solidFill>
          <a:ln w="12700">
            <a:solidFill>
              <a:srgbClr val="E4572E"/>
            </a:solidFill>
            <a:prstDash val="solid"/>
          </a:ln>
        </p:spPr>
      </p:sp>
      <p:sp>
        <p:nvSpPr>
          <p:cNvPr id="5" name="Shape 3"/>
          <p:cNvSpPr/>
          <p:nvPr/>
        </p:nvSpPr>
        <p:spPr>
          <a:xfrm>
            <a:off x="11064240" y="5522976"/>
            <a:ext cx="118872" cy="118872"/>
          </a:xfrm>
          <a:prstGeom prst="ellipse">
            <a:avLst/>
          </a:prstGeom>
          <a:solidFill>
            <a:srgbClr val="E4572E"/>
          </a:solidFill>
          <a:ln w="12700">
            <a:solidFill>
              <a:srgbClr val="E4572E"/>
            </a:solidFill>
            <a:prstDash val="solid"/>
          </a:ln>
        </p:spPr>
      </p:sp>
      <p:sp>
        <p:nvSpPr>
          <p:cNvPr id="6" name="Shape 4"/>
          <p:cNvSpPr/>
          <p:nvPr/>
        </p:nvSpPr>
        <p:spPr>
          <a:xfrm>
            <a:off x="11173968" y="5212080"/>
            <a:ext cx="118872" cy="118872"/>
          </a:xfrm>
          <a:prstGeom prst="ellipse">
            <a:avLst/>
          </a:prstGeom>
          <a:solidFill>
            <a:srgbClr val="E4572E"/>
          </a:solidFill>
          <a:ln w="12700">
            <a:solidFill>
              <a:srgbClr val="E4572E"/>
            </a:solidFill>
            <a:prstDash val="solid"/>
          </a:ln>
        </p:spPr>
      </p:sp>
      <p:sp>
        <p:nvSpPr>
          <p:cNvPr id="7" name="Text 5"/>
          <p:cNvSpPr txBox="1"/>
          <p:nvPr/>
        </p:nvSpPr>
        <p:spPr>
          <a:xfrm>
            <a:off x="822960" y="2057400"/>
            <a:ext cx="1463040" cy="1005840"/>
          </a:xfrm>
          <a:prstGeom prst="rect">
            <a:avLst/>
          </a:prstGeom>
          <a:noFill/>
          <a:ln/>
        </p:spPr>
        <p:txBody>
          <a:bodyPr wrap="square" lIns="0" tIns="0" rIns="0" bIns="0" rtlCol="0" anchor="ctr"/>
          <a:lstStyle/>
          <a:p>
            <a:pPr indent="0" marL="0">
              <a:buNone/>
            </a:pPr>
            <a:r>
              <a:rPr lang="en-US" sz="6800" b="1" dirty="0">
                <a:solidFill>
                  <a:srgbClr val="E4572E"/>
                </a:solidFill>
                <a:latin typeface="Cambria" pitchFamily="34" charset="0"/>
                <a:ea typeface="Cambria" pitchFamily="34" charset="-122"/>
                <a:cs typeface="Cambria" pitchFamily="34" charset="-120"/>
              </a:rPr>
              <a:t>4</a:t>
            </a:r>
            <a:endParaRPr lang="en-US" sz="6800" dirty="0"/>
          </a:p>
        </p:txBody>
      </p:sp>
      <p:sp>
        <p:nvSpPr>
          <p:cNvPr id="8" name="Text 6"/>
          <p:cNvSpPr txBox="1"/>
          <p:nvPr/>
        </p:nvSpPr>
        <p:spPr>
          <a:xfrm>
            <a:off x="2286000" y="2212848"/>
            <a:ext cx="87782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Emotional annotation and reliability</a:t>
            </a:r>
            <a:endParaRPr lang="en-US" sz="3400" dirty="0"/>
          </a:p>
        </p:txBody>
      </p:sp>
      <p:sp>
        <p:nvSpPr>
          <p:cNvPr id="9" name="Text 7"/>
          <p:cNvSpPr txBox="1"/>
          <p:nvPr/>
        </p:nvSpPr>
        <p:spPr>
          <a:xfrm>
            <a:off x="2340864" y="3072384"/>
            <a:ext cx="8595360" cy="731520"/>
          </a:xfrm>
          <a:prstGeom prst="rect">
            <a:avLst/>
          </a:prstGeom>
          <a:noFill/>
          <a:ln/>
        </p:spPr>
        <p:txBody>
          <a:bodyPr wrap="square" lIns="0" tIns="0" rIns="0" bIns="0" rtlCol="0" anchor="ctr"/>
          <a:lstStyle/>
          <a:p>
            <a:pPr indent="0" marL="0">
              <a:buNone/>
            </a:pPr>
            <a:r>
              <a:rPr lang="en-US" sz="1500" dirty="0">
                <a:solidFill>
                  <a:srgbClr val="C9D6E3"/>
                </a:solidFill>
                <a:latin typeface="Calibri" pitchFamily="34" charset="0"/>
                <a:ea typeface="Calibri" pitchFamily="34" charset="-122"/>
                <a:cs typeface="Calibri" pitchFamily="34" charset="-120"/>
              </a:rPr>
              <a:t>Two annotation schemes, six raters, and an uncomfortable kappa</a:t>
            </a:r>
            <a:endParaRPr lang="en-US" sz="1500" dirty="0"/>
          </a:p>
        </p:txBody>
      </p:sp>
      <p:sp>
        <p:nvSpPr>
          <p:cNvPr id="10" name="Text 8"/>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Categorical annotation</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Labels come from perception, never from the actor's instruction</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18</a:t>
            </a:r>
            <a:endParaRPr lang="en-US" sz="900" dirty="0"/>
          </a:p>
        </p:txBody>
      </p:sp>
      <p:sp>
        <p:nvSpPr>
          <p:cNvPr id="8" name="Shape 6"/>
          <p:cNvSpPr/>
          <p:nvPr/>
        </p:nvSpPr>
        <p:spPr>
          <a:xfrm>
            <a:off x="566928" y="1554480"/>
            <a:ext cx="3584448" cy="2194560"/>
          </a:xfrm>
          <a:prstGeom prst="roundRect">
            <a:avLst>
              <a:gd name="adj" fmla="val 2500"/>
            </a:avLst>
          </a:prstGeom>
          <a:solidFill>
            <a:srgbClr val="F2F5F8"/>
          </a:solidFill>
          <a:ln w="12700">
            <a:solidFill>
              <a:srgbClr val="E1E7EE"/>
            </a:solidFill>
            <a:prstDash val="solid"/>
          </a:ln>
        </p:spPr>
      </p:sp>
      <p:sp>
        <p:nvSpPr>
          <p:cNvPr id="9" name="Shape 7"/>
          <p:cNvSpPr/>
          <p:nvPr/>
        </p:nvSpPr>
        <p:spPr>
          <a:xfrm>
            <a:off x="786384" y="1847088"/>
            <a:ext cx="109728" cy="109728"/>
          </a:xfrm>
          <a:prstGeom prst="ellipse">
            <a:avLst/>
          </a:prstGeom>
          <a:solidFill>
            <a:srgbClr val="E4572E"/>
          </a:solidFill>
          <a:ln w="12700">
            <a:solidFill>
              <a:srgbClr val="333333"/>
            </a:solidFill>
            <a:prstDash val="solid"/>
          </a:ln>
        </p:spPr>
      </p:sp>
      <p:sp>
        <p:nvSpPr>
          <p:cNvPr id="10" name="Text 8"/>
          <p:cNvSpPr txBox="1"/>
          <p:nvPr/>
        </p:nvSpPr>
        <p:spPr>
          <a:xfrm>
            <a:off x="987552" y="1719072"/>
            <a:ext cx="2944368" cy="36576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Who</a:t>
            </a:r>
            <a:endParaRPr lang="en-US" sz="1550" dirty="0"/>
          </a:p>
        </p:txBody>
      </p:sp>
      <p:sp>
        <p:nvSpPr>
          <p:cNvPr id="11" name="Text 9"/>
          <p:cNvSpPr txBox="1"/>
          <p:nvPr/>
        </p:nvSpPr>
        <p:spPr>
          <a:xfrm>
            <a:off x="822960" y="2157984"/>
            <a:ext cx="3072384" cy="1408176"/>
          </a:xfrm>
          <a:prstGeom prst="rect">
            <a:avLst/>
          </a:prstGeom>
          <a:noFill/>
          <a:ln/>
        </p:spPr>
        <p:txBody>
          <a:bodyPr wrap="square" lIns="0" tIns="0" rIns="0" bIns="0" rtlCol="0" anchor="t"/>
          <a:lstStyle/>
          <a:p>
            <a:pPr indent="0" marL="0">
              <a:lnSpc>
                <a:spcPct val="108000"/>
              </a:lnSpc>
              <a:buNone/>
            </a:pPr>
            <a:r>
              <a:rPr lang="en-US" sz="1280" dirty="0">
                <a:solidFill>
                  <a:srgbClr val="3C4655"/>
                </a:solidFill>
                <a:latin typeface="Calibri" pitchFamily="34" charset="0"/>
                <a:ea typeface="Calibri" pitchFamily="34" charset="-122"/>
                <a:cs typeface="Calibri" pitchFamily="34" charset="-120"/>
              </a:rPr>
              <a:t>Six evaluators, all fluent English speakers from USC. Sessions were arranged so that three different raters judged every turn. Evaluation ran in roughly 45-minute blocks with breaks.</a:t>
            </a:r>
            <a:endParaRPr lang="en-US" sz="1280" dirty="0"/>
          </a:p>
        </p:txBody>
      </p:sp>
      <p:sp>
        <p:nvSpPr>
          <p:cNvPr id="12" name="Shape 10"/>
          <p:cNvSpPr/>
          <p:nvPr/>
        </p:nvSpPr>
        <p:spPr>
          <a:xfrm>
            <a:off x="4279392" y="1554480"/>
            <a:ext cx="3584448" cy="2194560"/>
          </a:xfrm>
          <a:prstGeom prst="roundRect">
            <a:avLst>
              <a:gd name="adj" fmla="val 2500"/>
            </a:avLst>
          </a:prstGeom>
          <a:solidFill>
            <a:srgbClr val="F2F5F8"/>
          </a:solidFill>
          <a:ln w="12700">
            <a:solidFill>
              <a:srgbClr val="E1E7EE"/>
            </a:solidFill>
            <a:prstDash val="solid"/>
          </a:ln>
        </p:spPr>
      </p:sp>
      <p:sp>
        <p:nvSpPr>
          <p:cNvPr id="13" name="Shape 11"/>
          <p:cNvSpPr/>
          <p:nvPr/>
        </p:nvSpPr>
        <p:spPr>
          <a:xfrm>
            <a:off x="4498848" y="1847088"/>
            <a:ext cx="109728" cy="109728"/>
          </a:xfrm>
          <a:prstGeom prst="ellipse">
            <a:avLst/>
          </a:prstGeom>
          <a:solidFill>
            <a:srgbClr val="4A7FA5"/>
          </a:solidFill>
          <a:ln w="12700">
            <a:solidFill>
              <a:srgbClr val="333333"/>
            </a:solidFill>
            <a:prstDash val="solid"/>
          </a:ln>
        </p:spPr>
      </p:sp>
      <p:sp>
        <p:nvSpPr>
          <p:cNvPr id="14" name="Text 12"/>
          <p:cNvSpPr txBox="1"/>
          <p:nvPr/>
        </p:nvSpPr>
        <p:spPr>
          <a:xfrm>
            <a:off x="4700016" y="1719072"/>
            <a:ext cx="2944368" cy="36576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How</a:t>
            </a:r>
            <a:endParaRPr lang="en-US" sz="1550" dirty="0"/>
          </a:p>
        </p:txBody>
      </p:sp>
      <p:sp>
        <p:nvSpPr>
          <p:cNvPr id="15" name="Text 13"/>
          <p:cNvSpPr txBox="1"/>
          <p:nvPr/>
        </p:nvSpPr>
        <p:spPr>
          <a:xfrm>
            <a:off x="4535424" y="2157984"/>
            <a:ext cx="3072384" cy="1408176"/>
          </a:xfrm>
          <a:prstGeom prst="rect">
            <a:avLst/>
          </a:prstGeom>
          <a:noFill/>
          <a:ln/>
        </p:spPr>
        <p:txBody>
          <a:bodyPr wrap="square" lIns="0" tIns="0" rIns="0" bIns="0" rtlCol="0" anchor="t"/>
          <a:lstStyle/>
          <a:p>
            <a:pPr indent="0" marL="0">
              <a:lnSpc>
                <a:spcPct val="108000"/>
              </a:lnSpc>
              <a:buNone/>
            </a:pPr>
            <a:r>
              <a:rPr lang="en-US" sz="1280" dirty="0">
                <a:solidFill>
                  <a:srgbClr val="3C4655"/>
                </a:solidFill>
                <a:latin typeface="Calibri" pitchFamily="34" charset="0"/>
                <a:ea typeface="Calibri" pitchFamily="34" charset="-122"/>
                <a:cs typeface="Calibri" pitchFamily="34" charset="-120"/>
              </a:rPr>
              <a:t>The ANVIL annotation tool, with the video playing. Turns were judged in sequence so that raters had the audio, the visual channel and the preceding dialogue available — matching the context the actors themselves had.</a:t>
            </a:r>
            <a:endParaRPr lang="en-US" sz="1280" dirty="0"/>
          </a:p>
        </p:txBody>
      </p:sp>
      <p:sp>
        <p:nvSpPr>
          <p:cNvPr id="16" name="Shape 14"/>
          <p:cNvSpPr/>
          <p:nvPr/>
        </p:nvSpPr>
        <p:spPr>
          <a:xfrm>
            <a:off x="7991856" y="1554480"/>
            <a:ext cx="3639312" cy="2194560"/>
          </a:xfrm>
          <a:prstGeom prst="roundRect">
            <a:avLst>
              <a:gd name="adj" fmla="val 2500"/>
            </a:avLst>
          </a:prstGeom>
          <a:solidFill>
            <a:srgbClr val="F2F5F8"/>
          </a:solidFill>
          <a:ln w="12700">
            <a:solidFill>
              <a:srgbClr val="E1E7EE"/>
            </a:solidFill>
            <a:prstDash val="solid"/>
          </a:ln>
        </p:spPr>
      </p:sp>
      <p:sp>
        <p:nvSpPr>
          <p:cNvPr id="17" name="Shape 15"/>
          <p:cNvSpPr/>
          <p:nvPr/>
        </p:nvSpPr>
        <p:spPr>
          <a:xfrm>
            <a:off x="8211312" y="1847088"/>
            <a:ext cx="109728" cy="109728"/>
          </a:xfrm>
          <a:prstGeom prst="ellipse">
            <a:avLst/>
          </a:prstGeom>
          <a:solidFill>
            <a:srgbClr val="E4572E"/>
          </a:solidFill>
          <a:ln w="12700">
            <a:solidFill>
              <a:srgbClr val="333333"/>
            </a:solidFill>
            <a:prstDash val="solid"/>
          </a:ln>
        </p:spPr>
      </p:sp>
      <p:sp>
        <p:nvSpPr>
          <p:cNvPr id="18" name="Text 16"/>
          <p:cNvSpPr txBox="1"/>
          <p:nvPr/>
        </p:nvSpPr>
        <p:spPr>
          <a:xfrm>
            <a:off x="8412480" y="1719072"/>
            <a:ext cx="2999232" cy="36576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What</a:t>
            </a:r>
            <a:endParaRPr lang="en-US" sz="1550" dirty="0"/>
          </a:p>
        </p:txBody>
      </p:sp>
      <p:sp>
        <p:nvSpPr>
          <p:cNvPr id="19" name="Text 17"/>
          <p:cNvSpPr txBox="1"/>
          <p:nvPr/>
        </p:nvSpPr>
        <p:spPr>
          <a:xfrm>
            <a:off x="8247888" y="2157984"/>
            <a:ext cx="3127248" cy="1408176"/>
          </a:xfrm>
          <a:prstGeom prst="rect">
            <a:avLst/>
          </a:prstGeom>
          <a:noFill/>
          <a:ln/>
        </p:spPr>
        <p:txBody>
          <a:bodyPr wrap="square" lIns="0" tIns="0" rIns="0" bIns="0" rtlCol="0" anchor="t"/>
          <a:lstStyle/>
          <a:p>
            <a:pPr indent="0" marL="0">
              <a:lnSpc>
                <a:spcPct val="108000"/>
              </a:lnSpc>
              <a:buNone/>
            </a:pPr>
            <a:r>
              <a:rPr lang="en-US" sz="1280" dirty="0">
                <a:solidFill>
                  <a:srgbClr val="3C4655"/>
                </a:solidFill>
                <a:latin typeface="Calibri" pitchFamily="34" charset="0"/>
                <a:ea typeface="Calibri" pitchFamily="34" charset="-122"/>
                <a:cs typeface="Calibri" pitchFamily="34" charset="-120"/>
              </a:rPr>
              <a:t>Nine categories: anger, sadness, happiness, disgust, fear, surprise, frustration, excitement, neutral — plus a free-text 'other'. Multiple labels were allowed per turn to capture blends.</a:t>
            </a:r>
            <a:endParaRPr lang="en-US" sz="1280" dirty="0"/>
          </a:p>
        </p:txBody>
      </p:sp>
      <p:sp>
        <p:nvSpPr>
          <p:cNvPr id="20" name="Text 18"/>
          <p:cNvSpPr txBox="1"/>
          <p:nvPr/>
        </p:nvSpPr>
        <p:spPr>
          <a:xfrm>
            <a:off x="566928" y="3913632"/>
            <a:ext cx="11064240" cy="329184"/>
          </a:xfrm>
          <a:prstGeom prst="rect">
            <a:avLst/>
          </a:prstGeom>
          <a:noFill/>
          <a:ln/>
        </p:spPr>
        <p:txBody>
          <a:bodyPr wrap="square" lIns="0" tIns="0" rIns="0" bIns="0" rtlCol="0" anchor="ctr"/>
          <a:lstStyle/>
          <a:p>
            <a:pPr indent="0" marL="0">
              <a:buNone/>
            </a:pPr>
            <a:r>
              <a:rPr lang="en-US" sz="1500" b="1" dirty="0">
                <a:solidFill>
                  <a:srgbClr val="16213A"/>
                </a:solidFill>
                <a:latin typeface="Cambria" pitchFamily="34" charset="0"/>
                <a:ea typeface="Cambria" pitchFamily="34" charset="-122"/>
                <a:cs typeface="Cambria" pitchFamily="34" charset="-120"/>
              </a:rPr>
              <a:t>Label assignment: majority vote, and only when the top-voted category is unique.</a:t>
            </a:r>
            <a:endParaRPr lang="en-US" sz="1500" dirty="0"/>
          </a:p>
        </p:txBody>
      </p:sp>
      <p:sp>
        <p:nvSpPr>
          <p:cNvPr id="21" name="Text 19"/>
          <p:cNvSpPr txBox="1"/>
          <p:nvPr/>
        </p:nvSpPr>
        <p:spPr>
          <a:xfrm>
            <a:off x="566928" y="4370832"/>
            <a:ext cx="3584448" cy="713232"/>
          </a:xfrm>
          <a:prstGeom prst="rect">
            <a:avLst/>
          </a:prstGeom>
          <a:noFill/>
          <a:ln/>
        </p:spPr>
        <p:txBody>
          <a:bodyPr wrap="square" lIns="0" tIns="0" rIns="0" bIns="0" rtlCol="0" anchor="ctr"/>
          <a:lstStyle/>
          <a:p>
            <a:pPr algn="ctr" indent="0" marL="0">
              <a:buNone/>
            </a:pPr>
            <a:r>
              <a:rPr lang="en-US" sz="4000" b="1" dirty="0">
                <a:solidFill>
                  <a:srgbClr val="E4572E"/>
                </a:solidFill>
                <a:latin typeface="Cambria" pitchFamily="34" charset="0"/>
                <a:ea typeface="Cambria" pitchFamily="34" charset="-122"/>
                <a:cs typeface="Cambria" pitchFamily="34" charset="-120"/>
              </a:rPr>
              <a:t>74.6%</a:t>
            </a:r>
            <a:endParaRPr lang="en-US" sz="4000" dirty="0"/>
          </a:p>
        </p:txBody>
      </p:sp>
      <p:sp>
        <p:nvSpPr>
          <p:cNvPr id="22" name="Text 20"/>
          <p:cNvSpPr txBox="1"/>
          <p:nvPr/>
        </p:nvSpPr>
        <p:spPr>
          <a:xfrm>
            <a:off x="566928" y="5084064"/>
            <a:ext cx="3584448" cy="548640"/>
          </a:xfrm>
          <a:prstGeom prst="rect">
            <a:avLst/>
          </a:prstGeom>
          <a:noFill/>
          <a:ln/>
        </p:spPr>
        <p:txBody>
          <a:bodyPr wrap="square" lIns="0" tIns="0" rIns="0" bIns="0" rtlCol="0" anchor="ctr"/>
          <a:lstStyle/>
          <a:p>
            <a:pPr algn="ctr" indent="0" marL="0">
              <a:buNone/>
            </a:pPr>
            <a:r>
              <a:rPr lang="en-US" sz="1150" dirty="0">
                <a:solidFill>
                  <a:srgbClr val="5C6675"/>
                </a:solidFill>
                <a:latin typeface="Calibri" pitchFamily="34" charset="0"/>
                <a:ea typeface="Calibri" pitchFamily="34" charset="-122"/>
                <a:cs typeface="Calibri" pitchFamily="34" charset="-120"/>
              </a:rPr>
              <a:t>of all turns reached a</a:t>
            </a:r>
            <a:endParaRPr lang="en-US" sz="1150" dirty="0"/>
          </a:p>
          <a:p>
            <a:pPr algn="ctr" indent="0" marL="0">
              <a:buNone/>
            </a:pPr>
            <a:r>
              <a:rPr lang="en-US" sz="1150" dirty="0">
                <a:solidFill>
                  <a:srgbClr val="5C6675"/>
                </a:solidFill>
                <a:latin typeface="Calibri" pitchFamily="34" charset="0"/>
                <a:ea typeface="Calibri" pitchFamily="34" charset="-122"/>
                <a:cs typeface="Calibri" pitchFamily="34" charset="-120"/>
              </a:rPr>
              <a:t>unique majority label</a:t>
            </a:r>
            <a:endParaRPr lang="en-US" sz="1150" dirty="0"/>
          </a:p>
        </p:txBody>
      </p:sp>
      <p:sp>
        <p:nvSpPr>
          <p:cNvPr id="23" name="Text 21"/>
          <p:cNvSpPr txBox="1"/>
          <p:nvPr/>
        </p:nvSpPr>
        <p:spPr>
          <a:xfrm>
            <a:off x="4279392" y="4370832"/>
            <a:ext cx="3584448" cy="713232"/>
          </a:xfrm>
          <a:prstGeom prst="rect">
            <a:avLst/>
          </a:prstGeom>
          <a:noFill/>
          <a:ln/>
        </p:spPr>
        <p:txBody>
          <a:bodyPr wrap="square" lIns="0" tIns="0" rIns="0" bIns="0" rtlCol="0" anchor="ctr"/>
          <a:lstStyle/>
          <a:p>
            <a:pPr algn="ctr" indent="0" marL="0">
              <a:buNone/>
            </a:pPr>
            <a:r>
              <a:rPr lang="en-US" sz="4000" b="1" dirty="0">
                <a:solidFill>
                  <a:srgbClr val="4A7FA5"/>
                </a:solidFill>
                <a:latin typeface="Cambria" pitchFamily="34" charset="0"/>
                <a:ea typeface="Cambria" pitchFamily="34" charset="-122"/>
                <a:cs typeface="Cambria" pitchFamily="34" charset="-120"/>
              </a:rPr>
              <a:t>66.9%</a:t>
            </a:r>
            <a:endParaRPr lang="en-US" sz="4000" dirty="0"/>
          </a:p>
        </p:txBody>
      </p:sp>
      <p:sp>
        <p:nvSpPr>
          <p:cNvPr id="24" name="Text 22"/>
          <p:cNvSpPr txBox="1"/>
          <p:nvPr/>
        </p:nvSpPr>
        <p:spPr>
          <a:xfrm>
            <a:off x="4279392" y="5084064"/>
            <a:ext cx="3584448" cy="548640"/>
          </a:xfrm>
          <a:prstGeom prst="rect">
            <a:avLst/>
          </a:prstGeom>
          <a:noFill/>
          <a:ln/>
        </p:spPr>
        <p:txBody>
          <a:bodyPr wrap="square" lIns="0" tIns="0" rIns="0" bIns="0" rtlCol="0" anchor="ctr"/>
          <a:lstStyle/>
          <a:p>
            <a:pPr algn="ctr" indent="0" marL="0">
              <a:buNone/>
            </a:pPr>
            <a:r>
              <a:rPr lang="en-US" sz="1150" dirty="0">
                <a:solidFill>
                  <a:srgbClr val="5C6675"/>
                </a:solidFill>
                <a:latin typeface="Calibri" pitchFamily="34" charset="0"/>
                <a:ea typeface="Calibri" pitchFamily="34" charset="-122"/>
                <a:cs typeface="Calibri" pitchFamily="34" charset="-120"/>
              </a:rPr>
              <a:t>of scripted turns</a:t>
            </a:r>
            <a:endParaRPr lang="en-US" sz="1150" dirty="0"/>
          </a:p>
        </p:txBody>
      </p:sp>
      <p:sp>
        <p:nvSpPr>
          <p:cNvPr id="25" name="Text 23"/>
          <p:cNvSpPr txBox="1"/>
          <p:nvPr/>
        </p:nvSpPr>
        <p:spPr>
          <a:xfrm>
            <a:off x="7991856" y="4370832"/>
            <a:ext cx="3639312" cy="713232"/>
          </a:xfrm>
          <a:prstGeom prst="rect">
            <a:avLst/>
          </a:prstGeom>
          <a:noFill/>
          <a:ln/>
        </p:spPr>
        <p:txBody>
          <a:bodyPr wrap="square" lIns="0" tIns="0" rIns="0" bIns="0" rtlCol="0" anchor="ctr"/>
          <a:lstStyle/>
          <a:p>
            <a:pPr algn="ctr" indent="0" marL="0">
              <a:buNone/>
            </a:pPr>
            <a:r>
              <a:rPr lang="en-US" sz="4000" b="1" dirty="0">
                <a:solidFill>
                  <a:srgbClr val="4A7FA5"/>
                </a:solidFill>
                <a:latin typeface="Cambria" pitchFamily="34" charset="0"/>
                <a:ea typeface="Cambria" pitchFamily="34" charset="-122"/>
                <a:cs typeface="Cambria" pitchFamily="34" charset="-120"/>
              </a:rPr>
              <a:t>83.1%</a:t>
            </a:r>
            <a:endParaRPr lang="en-US" sz="4000" dirty="0"/>
          </a:p>
        </p:txBody>
      </p:sp>
      <p:sp>
        <p:nvSpPr>
          <p:cNvPr id="26" name="Text 24"/>
          <p:cNvSpPr txBox="1"/>
          <p:nvPr/>
        </p:nvSpPr>
        <p:spPr>
          <a:xfrm>
            <a:off x="7991856" y="5084064"/>
            <a:ext cx="3639312" cy="548640"/>
          </a:xfrm>
          <a:prstGeom prst="rect">
            <a:avLst/>
          </a:prstGeom>
          <a:noFill/>
          <a:ln/>
        </p:spPr>
        <p:txBody>
          <a:bodyPr wrap="square" lIns="0" tIns="0" rIns="0" bIns="0" rtlCol="0" anchor="ctr"/>
          <a:lstStyle/>
          <a:p>
            <a:pPr algn="ctr" indent="0" marL="0">
              <a:buNone/>
            </a:pPr>
            <a:r>
              <a:rPr lang="en-US" sz="1150" dirty="0">
                <a:solidFill>
                  <a:srgbClr val="5C6675"/>
                </a:solidFill>
                <a:latin typeface="Calibri" pitchFamily="34" charset="0"/>
                <a:ea typeface="Calibri" pitchFamily="34" charset="-122"/>
                <a:cs typeface="Calibri" pitchFamily="34" charset="-120"/>
              </a:rPr>
              <a:t>of spontaneous turns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What emotions the corpus actually contains</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Distribution over turns that reached agreement; values below 1% shown as 0.5%</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19</a:t>
            </a:r>
            <a:endParaRPr lang="en-US" sz="900" dirty="0"/>
          </a:p>
        </p:txBody>
      </p:sp>
      <p:graphicFrame>
        <p:nvGraphicFramePr>
          <p:cNvPr id="8" name="Chart 0" descr=""/>
          <p:cNvGraphicFramePr/>
          <p:nvPr/>
        </p:nvGraphicFramePr>
        <p:xfrm>
          <a:off x="566928" y="1554480"/>
          <a:ext cx="7040880" cy="361188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7845552" y="1700784"/>
            <a:ext cx="3785616" cy="3474720"/>
          </a:xfrm>
          <a:prstGeom prst="rect">
            <a:avLst/>
          </a:prstGeom>
          <a:noFill/>
          <a:ln/>
        </p:spPr>
        <p:txBody>
          <a:bodyPr wrap="square" lIns="0" tIns="0" rIns="0" bIns="0" rtlCol="0" anchor="t"/>
          <a:lstStyle/>
          <a:p>
            <a:pPr marL="342900" indent="-342900">
              <a:spcAft>
                <a:spcPts val="800"/>
              </a:spcAft>
              <a:buSzPct val="100000"/>
              <a:buChar char="●"/>
            </a:pPr>
            <a:r>
              <a:rPr lang="en-US" sz="1220" dirty="0">
                <a:solidFill>
                  <a:srgbClr val="3C4655"/>
                </a:solidFill>
                <a:latin typeface="Calibri" pitchFamily="34" charset="0"/>
                <a:ea typeface="Calibri" pitchFamily="34" charset="-122"/>
                <a:cs typeface="Calibri" pitchFamily="34" charset="-120"/>
              </a:rPr>
              <a:t>The five target emotions dominate, as designed — the corpus is reasonably balanced across them.</a:t>
            </a:r>
            <a:endParaRPr lang="en-US" sz="1220" dirty="0"/>
          </a:p>
          <a:p>
            <a:pPr marL="342900" indent="-342900">
              <a:spcAft>
                <a:spcPts val="800"/>
              </a:spcAft>
              <a:buSzPct val="100000"/>
              <a:buChar char="●"/>
            </a:pPr>
            <a:r>
              <a:rPr lang="en-US" sz="1220" dirty="0">
                <a:solidFill>
                  <a:srgbClr val="3C4655"/>
                </a:solidFill>
                <a:latin typeface="Calibri" pitchFamily="34" charset="0"/>
                <a:ea typeface="Calibri" pitchFamily="34" charset="-122"/>
                <a:cs typeface="Calibri" pitchFamily="34" charset="-120"/>
              </a:rPr>
              <a:t>Fear and disgust are effectively absent. Nobody should train a fear detector on IEMOCAP.</a:t>
            </a:r>
            <a:endParaRPr lang="en-US" sz="1220" dirty="0"/>
          </a:p>
          <a:p>
            <a:pPr marL="342900" indent="-342900">
              <a:spcAft>
                <a:spcPts val="800"/>
              </a:spcAft>
              <a:buSzPct val="100000"/>
              <a:buChar char="●"/>
            </a:pPr>
            <a:r>
              <a:rPr lang="en-US" sz="1220" dirty="0">
                <a:solidFill>
                  <a:srgbClr val="3C4655"/>
                </a:solidFill>
                <a:latin typeface="Calibri" pitchFamily="34" charset="0"/>
                <a:ea typeface="Calibri" pitchFamily="34" charset="-122"/>
                <a:cs typeface="Calibri" pitchFamily="34" charset="-120"/>
              </a:rPr>
              <a:t>Anger is far more frequent in the improvised sessions (23% against 7%): the scenarios simply demanded it.</a:t>
            </a:r>
            <a:endParaRPr lang="en-US" sz="1220" dirty="0"/>
          </a:p>
          <a:p>
            <a:pPr marL="342900" indent="-342900">
              <a:spcAft>
                <a:spcPts val="800"/>
              </a:spcAft>
              <a:buSzPct val="100000"/>
              <a:buChar char="●"/>
            </a:pPr>
            <a:r>
              <a:rPr lang="en-US" sz="1220" dirty="0">
                <a:solidFill>
                  <a:srgbClr val="3C4655"/>
                </a:solidFill>
                <a:latin typeface="Calibri" pitchFamily="34" charset="0"/>
                <a:ea typeface="Calibri" pitchFamily="34" charset="-122"/>
                <a:cs typeface="Calibri" pitchFamily="34" charset="-120"/>
              </a:rPr>
              <a:t>Excitement is the reverse, and it is a category that was not planned for at all.</a:t>
            </a:r>
            <a:endParaRPr lang="en-US" sz="1220" dirty="0"/>
          </a:p>
          <a:p>
            <a:pPr marL="342900" indent="-342900">
              <a:spcAft>
                <a:spcPts val="800"/>
              </a:spcAft>
              <a:buSzPct val="100000"/>
              <a:buChar char="●"/>
            </a:pPr>
            <a:r>
              <a:rPr lang="en-US" sz="1220" dirty="0">
                <a:solidFill>
                  <a:srgbClr val="3C4655"/>
                </a:solidFill>
                <a:latin typeface="Calibri" pitchFamily="34" charset="0"/>
                <a:ea typeface="Calibri" pitchFamily="34" charset="-122"/>
                <a:cs typeface="Calibri" pitchFamily="34" charset="-120"/>
              </a:rPr>
              <a:t>Frustration is the most common non-neutral label in both halves.</a:t>
            </a:r>
            <a:endParaRPr lang="en-US" sz="1220" dirty="0"/>
          </a:p>
        </p:txBody>
      </p:sp>
      <p:sp>
        <p:nvSpPr>
          <p:cNvPr id="10" name="Shape 7"/>
          <p:cNvSpPr/>
          <p:nvPr/>
        </p:nvSpPr>
        <p:spPr>
          <a:xfrm>
            <a:off x="566928" y="5285232"/>
            <a:ext cx="11064240" cy="768096"/>
          </a:xfrm>
          <a:prstGeom prst="roundRect">
            <a:avLst>
              <a:gd name="adj" fmla="val 7143"/>
            </a:avLst>
          </a:prstGeom>
          <a:solidFill>
            <a:srgbClr val="1B2A4A"/>
          </a:solidFill>
          <a:ln w="12700">
            <a:solidFill>
              <a:srgbClr val="1B2A4A"/>
            </a:solidFill>
            <a:prstDash val="solid"/>
          </a:ln>
        </p:spPr>
      </p:sp>
      <p:sp>
        <p:nvSpPr>
          <p:cNvPr id="11" name="Text 8"/>
          <p:cNvSpPr txBox="1"/>
          <p:nvPr/>
        </p:nvSpPr>
        <p:spPr>
          <a:xfrm>
            <a:off x="822960" y="5504688"/>
            <a:ext cx="10552176" cy="347472"/>
          </a:xfrm>
          <a:prstGeom prst="rect">
            <a:avLst/>
          </a:prstGeom>
          <a:noFill/>
          <a:ln/>
        </p:spPr>
        <p:txBody>
          <a:bodyPr wrap="square" lIns="0" tIns="0" rIns="0" bIns="0" rtlCol="0" anchor="t"/>
          <a:lstStyle/>
          <a:p>
            <a:pPr indent="0" marL="0">
              <a:lnSpc>
                <a:spcPct val="108000"/>
              </a:lnSpc>
              <a:buNone/>
            </a:pPr>
            <a:r>
              <a:rPr lang="en-US" sz="1300" dirty="0">
                <a:solidFill>
                  <a:srgbClr val="C9D6E3"/>
                </a:solidFill>
                <a:latin typeface="Calibri" pitchFamily="34" charset="0"/>
                <a:ea typeface="Calibri" pitchFamily="34" charset="-122"/>
                <a:cs typeface="Calibri" pitchFamily="34" charset="-120"/>
              </a:rPr>
              <a:t>Design determines contents: the emotion profile of this corpus is a profile of eight scenarios and three plays, not of human affect in general.</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How much do the raters agree?</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Fleiss' kappa, three raters per turn</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20</a:t>
            </a:r>
            <a:endParaRPr lang="en-US" sz="900" dirty="0"/>
          </a:p>
        </p:txBody>
      </p:sp>
      <p:graphicFrame>
        <p:nvGraphicFramePr>
          <p:cNvPr id="8" name="Chart 0" descr=""/>
          <p:cNvGraphicFramePr/>
          <p:nvPr/>
        </p:nvGraphicFramePr>
        <p:xfrm>
          <a:off x="566928" y="1554480"/>
          <a:ext cx="6492240" cy="329184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315200" y="1554480"/>
            <a:ext cx="4315968" cy="1572768"/>
          </a:xfrm>
          <a:prstGeom prst="roundRect">
            <a:avLst>
              <a:gd name="adj" fmla="val 3488"/>
            </a:avLst>
          </a:prstGeom>
          <a:solidFill>
            <a:srgbClr val="F2F5F8"/>
          </a:solidFill>
          <a:ln w="12700">
            <a:solidFill>
              <a:srgbClr val="E1E7EE"/>
            </a:solidFill>
            <a:prstDash val="solid"/>
          </a:ln>
        </p:spPr>
      </p:sp>
      <p:sp>
        <p:nvSpPr>
          <p:cNvPr id="10" name="Shape 7"/>
          <p:cNvSpPr/>
          <p:nvPr/>
        </p:nvSpPr>
        <p:spPr>
          <a:xfrm>
            <a:off x="7534656" y="1847088"/>
            <a:ext cx="109728" cy="109728"/>
          </a:xfrm>
          <a:prstGeom prst="ellipse">
            <a:avLst/>
          </a:prstGeom>
          <a:solidFill>
            <a:srgbClr val="E4572E"/>
          </a:solidFill>
          <a:ln w="12700">
            <a:solidFill>
              <a:srgbClr val="333333"/>
            </a:solidFill>
            <a:prstDash val="solid"/>
          </a:ln>
        </p:spPr>
      </p:sp>
      <p:sp>
        <p:nvSpPr>
          <p:cNvPr id="11" name="Text 8"/>
          <p:cNvSpPr txBox="1"/>
          <p:nvPr/>
        </p:nvSpPr>
        <p:spPr>
          <a:xfrm>
            <a:off x="7735824" y="1719072"/>
            <a:ext cx="3675888" cy="36576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Merging confusable classes helps</a:t>
            </a:r>
            <a:endParaRPr lang="en-US" sz="1550" dirty="0"/>
          </a:p>
        </p:txBody>
      </p:sp>
      <p:sp>
        <p:nvSpPr>
          <p:cNvPr id="12" name="Text 9"/>
          <p:cNvSpPr txBox="1"/>
          <p:nvPr/>
        </p:nvSpPr>
        <p:spPr>
          <a:xfrm>
            <a:off x="7571232" y="2157984"/>
            <a:ext cx="3803904" cy="786384"/>
          </a:xfrm>
          <a:prstGeom prst="rect">
            <a:avLst/>
          </a:prstGeom>
          <a:noFill/>
          <a:ln/>
        </p:spPr>
        <p:txBody>
          <a:bodyPr wrap="square" lIns="0" tIns="0" rIns="0" bIns="0" rtlCol="0" anchor="t"/>
          <a:lstStyle/>
          <a:p>
            <a:pPr indent="0" marL="0">
              <a:lnSpc>
                <a:spcPct val="108000"/>
              </a:lnSpc>
              <a:buNone/>
            </a:pPr>
            <a:r>
              <a:rPr lang="en-US" sz="1250" dirty="0">
                <a:solidFill>
                  <a:srgbClr val="3C4655"/>
                </a:solidFill>
                <a:latin typeface="Calibri" pitchFamily="34" charset="0"/>
                <a:ea typeface="Calibri" pitchFamily="34" charset="-122"/>
                <a:cs typeface="Calibri" pitchFamily="34" charset="-120"/>
              </a:rPr>
              <a:t>Collapsing happiness with excitement, and folding fear, disgust and surprise into 'other', raises kappa to 0.35 overall and 0.48 on agreed turns.</a:t>
            </a:r>
            <a:endParaRPr lang="en-US" sz="1250" dirty="0"/>
          </a:p>
        </p:txBody>
      </p:sp>
      <p:sp>
        <p:nvSpPr>
          <p:cNvPr id="13" name="Shape 10"/>
          <p:cNvSpPr/>
          <p:nvPr/>
        </p:nvSpPr>
        <p:spPr>
          <a:xfrm>
            <a:off x="7315200" y="3255264"/>
            <a:ext cx="4315968" cy="1591056"/>
          </a:xfrm>
          <a:prstGeom prst="roundRect">
            <a:avLst>
              <a:gd name="adj" fmla="val 3448"/>
            </a:avLst>
          </a:prstGeom>
          <a:solidFill>
            <a:srgbClr val="F2F5F8"/>
          </a:solidFill>
          <a:ln w="12700">
            <a:solidFill>
              <a:srgbClr val="E1E7EE"/>
            </a:solidFill>
            <a:prstDash val="solid"/>
          </a:ln>
        </p:spPr>
      </p:sp>
      <p:sp>
        <p:nvSpPr>
          <p:cNvPr id="14" name="Shape 11"/>
          <p:cNvSpPr/>
          <p:nvPr/>
        </p:nvSpPr>
        <p:spPr>
          <a:xfrm>
            <a:off x="7534656" y="3547872"/>
            <a:ext cx="109728" cy="109728"/>
          </a:xfrm>
          <a:prstGeom prst="ellipse">
            <a:avLst/>
          </a:prstGeom>
          <a:solidFill>
            <a:srgbClr val="4A7FA5"/>
          </a:solidFill>
          <a:ln w="12700">
            <a:solidFill>
              <a:srgbClr val="333333"/>
            </a:solidFill>
            <a:prstDash val="solid"/>
          </a:ln>
        </p:spPr>
      </p:sp>
      <p:sp>
        <p:nvSpPr>
          <p:cNvPr id="15" name="Text 12"/>
          <p:cNvSpPr txBox="1"/>
          <p:nvPr/>
        </p:nvSpPr>
        <p:spPr>
          <a:xfrm>
            <a:off x="7735824" y="3419856"/>
            <a:ext cx="3675888" cy="36576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Landis and Koch scale</a:t>
            </a:r>
            <a:endParaRPr lang="en-US" sz="1550" dirty="0"/>
          </a:p>
        </p:txBody>
      </p:sp>
      <p:sp>
        <p:nvSpPr>
          <p:cNvPr id="16" name="Text 13"/>
          <p:cNvSpPr txBox="1"/>
          <p:nvPr/>
        </p:nvSpPr>
        <p:spPr>
          <a:xfrm>
            <a:off x="7571232" y="3858768"/>
            <a:ext cx="3803904" cy="804672"/>
          </a:xfrm>
          <a:prstGeom prst="rect">
            <a:avLst/>
          </a:prstGeom>
          <a:noFill/>
          <a:ln/>
        </p:spPr>
        <p:txBody>
          <a:bodyPr wrap="square" lIns="0" tIns="0" rIns="0" bIns="0" rtlCol="0" anchor="t"/>
          <a:lstStyle/>
          <a:p>
            <a:pPr indent="0" marL="0">
              <a:lnSpc>
                <a:spcPct val="108000"/>
              </a:lnSpc>
              <a:buNone/>
            </a:pPr>
            <a:r>
              <a:rPr lang="en-US" sz="1250" dirty="0">
                <a:solidFill>
                  <a:srgbClr val="3C4655"/>
                </a:solidFill>
                <a:latin typeface="Calibri" pitchFamily="34" charset="0"/>
                <a:ea typeface="Calibri" pitchFamily="34" charset="-122"/>
                <a:cs typeface="Calibri" pitchFamily="34" charset="-120"/>
              </a:rPr>
              <a:t>0.21–0.40 is 'fair'; 0.41–0.60 is 'moderate'. IEMOCAP sits at the boundary — which is typical for emotion annotation and is reported as such elsewhere in the literature.</a:t>
            </a:r>
            <a:endParaRPr lang="en-US" sz="1250" dirty="0"/>
          </a:p>
        </p:txBody>
      </p:sp>
      <p:sp>
        <p:nvSpPr>
          <p:cNvPr id="17" name="Shape 14"/>
          <p:cNvSpPr/>
          <p:nvPr/>
        </p:nvSpPr>
        <p:spPr>
          <a:xfrm>
            <a:off x="566928" y="4974336"/>
            <a:ext cx="11064240" cy="1051560"/>
          </a:xfrm>
          <a:prstGeom prst="roundRect">
            <a:avLst>
              <a:gd name="adj" fmla="val 5217"/>
            </a:avLst>
          </a:prstGeom>
          <a:solidFill>
            <a:srgbClr val="1B2A4A"/>
          </a:solidFill>
          <a:ln w="12700">
            <a:solidFill>
              <a:srgbClr val="1B2A4A"/>
            </a:solidFill>
            <a:prstDash val="solid"/>
          </a:ln>
        </p:spPr>
      </p:sp>
      <p:sp>
        <p:nvSpPr>
          <p:cNvPr id="18" name="Shape 15"/>
          <p:cNvSpPr/>
          <p:nvPr/>
        </p:nvSpPr>
        <p:spPr>
          <a:xfrm>
            <a:off x="786384" y="5266944"/>
            <a:ext cx="109728" cy="109728"/>
          </a:xfrm>
          <a:prstGeom prst="ellipse">
            <a:avLst/>
          </a:prstGeom>
          <a:solidFill>
            <a:srgbClr val="E4572E"/>
          </a:solidFill>
          <a:ln w="12700">
            <a:solidFill>
              <a:srgbClr val="333333"/>
            </a:solidFill>
            <a:prstDash val="solid"/>
          </a:ln>
        </p:spPr>
      </p:sp>
      <p:sp>
        <p:nvSpPr>
          <p:cNvPr id="19" name="Text 16"/>
          <p:cNvSpPr txBox="1"/>
          <p:nvPr/>
        </p:nvSpPr>
        <p:spPr>
          <a:xfrm>
            <a:off x="987552" y="5138928"/>
            <a:ext cx="104241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The finding worth taking away</a:t>
            </a:r>
            <a:endParaRPr lang="en-US" sz="1550" dirty="0"/>
          </a:p>
        </p:txBody>
      </p:sp>
      <p:sp>
        <p:nvSpPr>
          <p:cNvPr id="20" name="Text 17"/>
          <p:cNvSpPr txBox="1"/>
          <p:nvPr/>
        </p:nvSpPr>
        <p:spPr>
          <a:xfrm>
            <a:off x="822960" y="5577840"/>
            <a:ext cx="10552176" cy="265176"/>
          </a:xfrm>
          <a:prstGeom prst="rect">
            <a:avLst/>
          </a:prstGeom>
          <a:noFill/>
          <a:ln/>
        </p:spPr>
        <p:txBody>
          <a:bodyPr wrap="square" lIns="0" tIns="0" rIns="0" bIns="0" rtlCol="0" anchor="t"/>
          <a:lstStyle/>
          <a:p>
            <a:pPr indent="0" marL="0">
              <a:lnSpc>
                <a:spcPct val="108000"/>
              </a:lnSpc>
              <a:buNone/>
            </a:pPr>
            <a:r>
              <a:rPr lang="en-US" sz="1300" dirty="0">
                <a:solidFill>
                  <a:srgbClr val="C9D6E3"/>
                </a:solidFill>
                <a:latin typeface="Calibri" pitchFamily="34" charset="0"/>
                <a:ea typeface="Calibri" pitchFamily="34" charset="-122"/>
                <a:cs typeface="Calibri" pitchFamily="34" charset="-120"/>
              </a:rPr>
              <a:t>Improvised turns are consistently easier to agree on than scripted ones. The authors' explanation: a play moves gradually between emotional states as the narrative requires, producing ambiguous, blended displays, whereas each improvised scenario aims at one clear target.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The second annotation scheme: dimensional attributes</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Self-assessment manikins for valence, activation and dominance</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21</a:t>
            </a:r>
            <a:endParaRPr lang="en-US" sz="900" dirty="0"/>
          </a:p>
        </p:txBody>
      </p:sp>
      <p:sp>
        <p:nvSpPr>
          <p:cNvPr id="8" name="Shape 6"/>
          <p:cNvSpPr/>
          <p:nvPr/>
        </p:nvSpPr>
        <p:spPr>
          <a:xfrm>
            <a:off x="566928" y="1554480"/>
            <a:ext cx="5486400" cy="2148840"/>
          </a:xfrm>
          <a:prstGeom prst="roundRect">
            <a:avLst>
              <a:gd name="adj" fmla="val 2553"/>
            </a:avLst>
          </a:prstGeom>
          <a:solidFill>
            <a:srgbClr val="F2F5F8"/>
          </a:solidFill>
          <a:ln w="12700">
            <a:solidFill>
              <a:srgbClr val="E1E7EE"/>
            </a:solidFill>
            <a:prstDash val="solid"/>
          </a:ln>
        </p:spPr>
      </p:sp>
      <p:sp>
        <p:nvSpPr>
          <p:cNvPr id="9" name="Shape 7"/>
          <p:cNvSpPr/>
          <p:nvPr/>
        </p:nvSpPr>
        <p:spPr>
          <a:xfrm>
            <a:off x="786384" y="1847088"/>
            <a:ext cx="109728" cy="109728"/>
          </a:xfrm>
          <a:prstGeom prst="ellipse">
            <a:avLst/>
          </a:prstGeom>
          <a:solidFill>
            <a:srgbClr val="E4572E"/>
          </a:solidFill>
          <a:ln w="12700">
            <a:solidFill>
              <a:srgbClr val="333333"/>
            </a:solidFill>
            <a:prstDash val="solid"/>
          </a:ln>
        </p:spPr>
      </p:sp>
      <p:sp>
        <p:nvSpPr>
          <p:cNvPr id="10" name="Text 8"/>
          <p:cNvSpPr txBox="1"/>
          <p:nvPr/>
        </p:nvSpPr>
        <p:spPr>
          <a:xfrm>
            <a:off x="987552" y="1719072"/>
            <a:ext cx="4846320" cy="36576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Protocol</a:t>
            </a:r>
            <a:endParaRPr lang="en-US" sz="1550" dirty="0"/>
          </a:p>
        </p:txBody>
      </p:sp>
      <p:sp>
        <p:nvSpPr>
          <p:cNvPr id="11" name="Text 9"/>
          <p:cNvSpPr txBox="1"/>
          <p:nvPr/>
        </p:nvSpPr>
        <p:spPr>
          <a:xfrm>
            <a:off x="822960" y="2157984"/>
            <a:ext cx="4974336" cy="1362456"/>
          </a:xfrm>
          <a:prstGeom prst="rect">
            <a:avLst/>
          </a:prstGeom>
          <a:noFill/>
          <a:ln/>
        </p:spPr>
        <p:txBody>
          <a:bodyPr wrap="square" lIns="0" tIns="0" rIns="0" bIns="0" rtlCol="0" anchor="t"/>
          <a:lstStyle/>
          <a:p>
            <a:pPr indent="0" marL="0">
              <a:lnSpc>
                <a:spcPct val="108000"/>
              </a:lnSpc>
              <a:buNone/>
            </a:pPr>
            <a:r>
              <a:rPr lang="en-US" sz="1280" dirty="0">
                <a:solidFill>
                  <a:srgbClr val="3C4655"/>
                </a:solidFill>
                <a:latin typeface="Calibri" pitchFamily="34" charset="0"/>
                <a:ea typeface="Calibri" pitchFamily="34" charset="-122"/>
                <a:cs typeface="Calibri" pitchFamily="34" charset="-120"/>
              </a:rPr>
              <a:t>Two further raters scored each turn on three five-point scales using self-assessment manikins: valence from negative to positive, activation from calm to excited, dominance from weak to strong.</a:t>
            </a:r>
            <a:endParaRPr lang="en-US" sz="1280" dirty="0"/>
          </a:p>
          <a:p>
            <a:pPr indent="0" marL="0">
              <a:lnSpc>
                <a:spcPct val="108000"/>
              </a:lnSpc>
              <a:buNone/>
            </a:pPr>
            <a:endParaRPr lang="en-US" sz="1280" dirty="0"/>
          </a:p>
          <a:p>
            <a:pPr indent="0" marL="0">
              <a:lnSpc>
                <a:spcPct val="108000"/>
              </a:lnSpc>
              <a:buNone/>
            </a:pPr>
            <a:r>
              <a:rPr lang="en-US" sz="1280" dirty="0">
                <a:solidFill>
                  <a:srgbClr val="3C4655"/>
                </a:solidFill>
                <a:latin typeface="Calibri" pitchFamily="34" charset="0"/>
                <a:ea typeface="Calibri" pitchFamily="34" charset="-122"/>
                <a:cs typeface="Calibri" pitchFamily="34" charset="-120"/>
              </a:rPr>
              <a:t>About 85.5% of the corpus had been scored at the time of publication. Scores were z-normalised per speaker to compensate for how differently individual raters use the scale.</a:t>
            </a:r>
            <a:endParaRPr lang="en-US" sz="1280" dirty="0"/>
          </a:p>
        </p:txBody>
      </p:sp>
      <p:graphicFrame>
        <p:nvGraphicFramePr>
          <p:cNvPr id="12" name="Chart 0" descr=""/>
          <p:cNvGraphicFramePr/>
          <p:nvPr/>
        </p:nvGraphicFramePr>
        <p:xfrm>
          <a:off x="6217920" y="1554480"/>
          <a:ext cx="5413248" cy="21488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66928" y="3913632"/>
            <a:ext cx="11064240" cy="13716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C4655"/>
                </a:solidFill>
                <a:latin typeface="Calibri" pitchFamily="34" charset="0"/>
                <a:ea typeface="Calibri" pitchFamily="34" charset="-122"/>
                <a:cs typeface="Calibri" pitchFamily="34" charset="-120"/>
              </a:rPr>
              <a:t>Why add a second scheme at all: categories say which emotion, but nothing about how intense it is. Two turns labelled 'anger' can be wildly different displays.</a:t>
            </a:r>
            <a:endParaRPr lang="en-US" sz="1300" dirty="0"/>
          </a:p>
          <a:p>
            <a:pPr marL="342900" indent="-342900">
              <a:spcAft>
                <a:spcPts val="800"/>
              </a:spcAft>
              <a:buSzPct val="100000"/>
              <a:buChar char="●"/>
            </a:pPr>
            <a:r>
              <a:rPr lang="en-US" sz="1300" dirty="0">
                <a:solidFill>
                  <a:srgbClr val="3C4655"/>
                </a:solidFill>
                <a:latin typeface="Calibri" pitchFamily="34" charset="0"/>
                <a:ea typeface="Calibri" pitchFamily="34" charset="-122"/>
                <a:cs typeface="Calibri" pitchFamily="34" charset="-120"/>
              </a:rPr>
              <a:t>Manikins are pictorial, so raters do not have to share a definition of a word like 'frustration' — a real advantage over categorical labels.</a:t>
            </a:r>
            <a:endParaRPr lang="en-US" sz="1300" dirty="0"/>
          </a:p>
          <a:p>
            <a:pPr marL="342900" indent="-342900">
              <a:spcAft>
                <a:spcPts val="800"/>
              </a:spcAft>
              <a:buSzPct val="100000"/>
              <a:buChar char="●"/>
            </a:pPr>
            <a:r>
              <a:rPr lang="en-US" sz="1300" dirty="0">
                <a:solidFill>
                  <a:srgbClr val="3C4655"/>
                </a:solidFill>
                <a:latin typeface="Calibri" pitchFamily="34" charset="0"/>
                <a:ea typeface="Calibri" pitchFamily="34" charset="-122"/>
                <a:cs typeface="Calibri" pitchFamily="34" charset="-120"/>
              </a:rPr>
              <a:t>Valence is markedly more reliable than activation or dominance. Judging pleasantness is easier than judging arousal from a short clip.</a:t>
            </a:r>
            <a:endParaRPr lang="en-US" sz="1300" dirty="0"/>
          </a:p>
          <a:p>
            <a:pPr marL="342900" indent="-342900">
              <a:spcAft>
                <a:spcPts val="800"/>
              </a:spcAft>
              <a:buSzPct val="100000"/>
              <a:buChar char="●"/>
            </a:pPr>
            <a:r>
              <a:rPr lang="en-US" sz="1300" dirty="0">
                <a:solidFill>
                  <a:srgbClr val="3C4655"/>
                </a:solidFill>
                <a:latin typeface="Calibri" pitchFamily="34" charset="0"/>
                <a:ea typeface="Calibri" pitchFamily="34" charset="-122"/>
                <a:cs typeface="Calibri" pitchFamily="34" charset="-120"/>
              </a:rPr>
              <a:t>This annotation is what makes IEMOCAP usable for regression-style emotion prediction, not just classification.</a:t>
            </a:r>
            <a:endParaRPr lang="en-US" sz="1300" dirty="0"/>
          </a:p>
        </p:txBody>
      </p:sp>
      <p:sp>
        <p:nvSpPr>
          <p:cNvPr id="14" name="Shape 11"/>
          <p:cNvSpPr/>
          <p:nvPr/>
        </p:nvSpPr>
        <p:spPr>
          <a:xfrm>
            <a:off x="566928" y="5285232"/>
            <a:ext cx="11064240" cy="768096"/>
          </a:xfrm>
          <a:prstGeom prst="roundRect">
            <a:avLst>
              <a:gd name="adj" fmla="val 7143"/>
            </a:avLst>
          </a:prstGeom>
          <a:solidFill>
            <a:srgbClr val="1B2A4A"/>
          </a:solidFill>
          <a:ln w="12700">
            <a:solidFill>
              <a:srgbClr val="1B2A4A"/>
            </a:solidFill>
            <a:prstDash val="solid"/>
          </a:ln>
        </p:spPr>
      </p:sp>
      <p:sp>
        <p:nvSpPr>
          <p:cNvPr id="15" name="Text 12"/>
          <p:cNvSpPr txBox="1"/>
          <p:nvPr/>
        </p:nvSpPr>
        <p:spPr>
          <a:xfrm>
            <a:off x="822960" y="5504688"/>
            <a:ext cx="10552176" cy="347472"/>
          </a:xfrm>
          <a:prstGeom prst="rect">
            <a:avLst/>
          </a:prstGeom>
          <a:noFill/>
          <a:ln/>
        </p:spPr>
        <p:txBody>
          <a:bodyPr wrap="square" lIns="0" tIns="0" rIns="0" bIns="0" rtlCol="0" anchor="t"/>
          <a:lstStyle/>
          <a:p>
            <a:pPr indent="0" marL="0">
              <a:lnSpc>
                <a:spcPct val="108000"/>
              </a:lnSpc>
              <a:buNone/>
            </a:pPr>
            <a:r>
              <a:rPr lang="en-US" sz="1300" dirty="0">
                <a:solidFill>
                  <a:srgbClr val="C9D6E3"/>
                </a:solidFill>
                <a:latin typeface="Calibri" pitchFamily="34" charset="0"/>
                <a:ea typeface="Calibri" pitchFamily="34" charset="-122"/>
                <a:cs typeface="Calibri" pitchFamily="34" charset="-120"/>
              </a:rPr>
              <a:t>Two schemes, two purposes: categories tell you which emotion, dimensions tell you how strong. Most work uses the categories; the dimensional layer is why IEMOCAP also appears in valence and arousal regression papers.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Actors do not agree with their audience</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Six actors re-evaluated their own improvised turns</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22</a:t>
            </a:r>
            <a:endParaRPr lang="en-US" sz="900" dirty="0"/>
          </a:p>
        </p:txBody>
      </p:sp>
      <p:sp>
        <p:nvSpPr>
          <p:cNvPr id="8" name="Shape 6"/>
          <p:cNvSpPr/>
          <p:nvPr/>
        </p:nvSpPr>
        <p:spPr>
          <a:xfrm>
            <a:off x="566928" y="1627632"/>
            <a:ext cx="5394960" cy="2331720"/>
          </a:xfrm>
          <a:prstGeom prst="roundRect">
            <a:avLst>
              <a:gd name="adj" fmla="val 2353"/>
            </a:avLst>
          </a:prstGeom>
          <a:solidFill>
            <a:srgbClr val="F2F5F8"/>
          </a:solidFill>
          <a:ln w="12700">
            <a:solidFill>
              <a:srgbClr val="E1E7EE"/>
            </a:solidFill>
            <a:prstDash val="solid"/>
          </a:ln>
        </p:spPr>
      </p:sp>
      <p:sp>
        <p:nvSpPr>
          <p:cNvPr id="9" name="Text 7"/>
          <p:cNvSpPr txBox="1"/>
          <p:nvPr/>
        </p:nvSpPr>
        <p:spPr>
          <a:xfrm>
            <a:off x="566928" y="1847088"/>
            <a:ext cx="5394960" cy="914400"/>
          </a:xfrm>
          <a:prstGeom prst="rect">
            <a:avLst/>
          </a:prstGeom>
          <a:noFill/>
          <a:ln/>
        </p:spPr>
        <p:txBody>
          <a:bodyPr wrap="square" lIns="0" tIns="0" rIns="0" bIns="0" rtlCol="0" anchor="ctr"/>
          <a:lstStyle/>
          <a:p>
            <a:pPr algn="ctr" indent="0" marL="0">
              <a:buNone/>
            </a:pPr>
            <a:r>
              <a:rPr lang="en-US" sz="5600" b="1" dirty="0">
                <a:solidFill>
                  <a:srgbClr val="1B2A4A"/>
                </a:solidFill>
                <a:latin typeface="Cambria" pitchFamily="34" charset="0"/>
                <a:ea typeface="Cambria" pitchFamily="34" charset="-122"/>
                <a:cs typeface="Cambria" pitchFamily="34" charset="-120"/>
              </a:rPr>
              <a:t>0.79</a:t>
            </a:r>
            <a:endParaRPr lang="en-US" sz="5600" dirty="0"/>
          </a:p>
        </p:txBody>
      </p:sp>
      <p:sp>
        <p:nvSpPr>
          <p:cNvPr id="10" name="Text 8"/>
          <p:cNvSpPr txBox="1"/>
          <p:nvPr/>
        </p:nvSpPr>
        <p:spPr>
          <a:xfrm>
            <a:off x="822960" y="2816352"/>
            <a:ext cx="4882896" cy="685800"/>
          </a:xfrm>
          <a:prstGeom prst="rect">
            <a:avLst/>
          </a:prstGeom>
          <a:noFill/>
          <a:ln/>
        </p:spPr>
        <p:txBody>
          <a:bodyPr wrap="square" lIns="0" tIns="0" rIns="0" bIns="0" rtlCol="0" anchor="ctr"/>
          <a:lstStyle/>
          <a:p>
            <a:pPr algn="ctr" indent="0" marL="0">
              <a:buNone/>
            </a:pPr>
            <a:r>
              <a:rPr lang="en-US" sz="1300" dirty="0">
                <a:solidFill>
                  <a:srgbClr val="5C6675"/>
                </a:solidFill>
                <a:latin typeface="Calibri" pitchFamily="34" charset="0"/>
                <a:ea typeface="Calibri" pitchFamily="34" charset="-122"/>
                <a:cs typeface="Calibri" pitchFamily="34" charset="-120"/>
              </a:rPr>
              <a:t>average agreement when naive raters</a:t>
            </a:r>
            <a:endParaRPr lang="en-US" sz="1300" dirty="0"/>
          </a:p>
          <a:p>
            <a:pPr algn="ctr" indent="0" marL="0">
              <a:buNone/>
            </a:pPr>
            <a:r>
              <a:rPr lang="en-US" sz="1300" dirty="0">
                <a:solidFill>
                  <a:srgbClr val="5C6675"/>
                </a:solidFill>
                <a:latin typeface="Calibri" pitchFamily="34" charset="0"/>
                <a:ea typeface="Calibri" pitchFamily="34" charset="-122"/>
                <a:cs typeface="Calibri" pitchFamily="34" charset="-120"/>
              </a:rPr>
              <a:t>judge the turns</a:t>
            </a:r>
            <a:endParaRPr lang="en-US" sz="1300" dirty="0"/>
          </a:p>
        </p:txBody>
      </p:sp>
      <p:sp>
        <p:nvSpPr>
          <p:cNvPr id="11" name="Shape 9"/>
          <p:cNvSpPr/>
          <p:nvPr/>
        </p:nvSpPr>
        <p:spPr>
          <a:xfrm>
            <a:off x="6236208" y="1627632"/>
            <a:ext cx="5394960" cy="2331720"/>
          </a:xfrm>
          <a:prstGeom prst="roundRect">
            <a:avLst>
              <a:gd name="adj" fmla="val 2353"/>
            </a:avLst>
          </a:prstGeom>
          <a:solidFill>
            <a:srgbClr val="FBF1EC"/>
          </a:solidFill>
          <a:ln w="12700">
            <a:solidFill>
              <a:srgbClr val="F0D5C7"/>
            </a:solidFill>
            <a:prstDash val="solid"/>
          </a:ln>
        </p:spPr>
      </p:sp>
      <p:sp>
        <p:nvSpPr>
          <p:cNvPr id="12" name="Text 10"/>
          <p:cNvSpPr txBox="1"/>
          <p:nvPr/>
        </p:nvSpPr>
        <p:spPr>
          <a:xfrm>
            <a:off x="6236208" y="1847088"/>
            <a:ext cx="5394960" cy="914400"/>
          </a:xfrm>
          <a:prstGeom prst="rect">
            <a:avLst/>
          </a:prstGeom>
          <a:noFill/>
          <a:ln/>
        </p:spPr>
        <p:txBody>
          <a:bodyPr wrap="square" lIns="0" tIns="0" rIns="0" bIns="0" rtlCol="0" anchor="ctr"/>
          <a:lstStyle/>
          <a:p>
            <a:pPr algn="ctr" indent="0" marL="0">
              <a:buNone/>
            </a:pPr>
            <a:r>
              <a:rPr lang="en-US" sz="5600" b="1" dirty="0">
                <a:solidFill>
                  <a:srgbClr val="E4572E"/>
                </a:solidFill>
                <a:latin typeface="Cambria" pitchFamily="34" charset="0"/>
                <a:ea typeface="Cambria" pitchFamily="34" charset="-122"/>
                <a:cs typeface="Cambria" pitchFamily="34" charset="-120"/>
              </a:rPr>
              <a:t>0.60</a:t>
            </a:r>
            <a:endParaRPr lang="en-US" sz="5600" dirty="0"/>
          </a:p>
        </p:txBody>
      </p:sp>
      <p:sp>
        <p:nvSpPr>
          <p:cNvPr id="13" name="Text 11"/>
          <p:cNvSpPr txBox="1"/>
          <p:nvPr/>
        </p:nvSpPr>
        <p:spPr>
          <a:xfrm>
            <a:off x="6492240" y="2816352"/>
            <a:ext cx="4882896" cy="685800"/>
          </a:xfrm>
          <a:prstGeom prst="rect">
            <a:avLst/>
          </a:prstGeom>
          <a:noFill/>
          <a:ln/>
        </p:spPr>
        <p:txBody>
          <a:bodyPr wrap="square" lIns="0" tIns="0" rIns="0" bIns="0" rtlCol="0" anchor="ctr"/>
          <a:lstStyle/>
          <a:p>
            <a:pPr algn="ctr" indent="0" marL="0">
              <a:buNone/>
            </a:pPr>
            <a:r>
              <a:rPr lang="en-US" sz="1300" dirty="0">
                <a:solidFill>
                  <a:srgbClr val="5C6675"/>
                </a:solidFill>
                <a:latin typeface="Calibri" pitchFamily="34" charset="0"/>
                <a:ea typeface="Calibri" pitchFamily="34" charset="-122"/>
                <a:cs typeface="Calibri" pitchFamily="34" charset="-120"/>
              </a:rPr>
              <a:t>average agreement when the actors</a:t>
            </a:r>
            <a:endParaRPr lang="en-US" sz="1300" dirty="0"/>
          </a:p>
          <a:p>
            <a:pPr algn="ctr" indent="0" marL="0">
              <a:buNone/>
            </a:pPr>
            <a:r>
              <a:rPr lang="en-US" sz="1300" dirty="0">
                <a:solidFill>
                  <a:srgbClr val="5C6675"/>
                </a:solidFill>
                <a:latin typeface="Calibri" pitchFamily="34" charset="0"/>
                <a:ea typeface="Calibri" pitchFamily="34" charset="-122"/>
                <a:cs typeface="Calibri" pitchFamily="34" charset="-120"/>
              </a:rPr>
              <a:t>judge their own turns</a:t>
            </a:r>
            <a:endParaRPr lang="en-US" sz="1300" dirty="0"/>
          </a:p>
        </p:txBody>
      </p:sp>
      <p:sp>
        <p:nvSpPr>
          <p:cNvPr id="14" name="Text 12"/>
          <p:cNvSpPr txBox="1"/>
          <p:nvPr/>
        </p:nvSpPr>
        <p:spPr>
          <a:xfrm>
            <a:off x="566928" y="4133088"/>
            <a:ext cx="11064240" cy="18745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3C4655"/>
                </a:solidFill>
                <a:latin typeface="Calibri" pitchFamily="34" charset="0"/>
                <a:ea typeface="Calibri" pitchFamily="34" charset="-122"/>
                <a:cs typeface="Calibri" pitchFamily="34" charset="-120"/>
              </a:rPr>
              <a:t>The ground truth here is the naive raters' majority vote, so their score is expected to be higher. Even so, a nineteen-point gap is striking.</a:t>
            </a:r>
            <a:endParaRPr lang="en-US" sz="1300" dirty="0"/>
          </a:p>
          <a:p>
            <a:pPr marL="342900" indent="-342900">
              <a:spcAft>
                <a:spcPts val="800"/>
              </a:spcAft>
              <a:buSzPct val="100000"/>
              <a:buChar char="●"/>
            </a:pPr>
            <a:r>
              <a:rPr lang="en-US" sz="1300" dirty="0">
                <a:solidFill>
                  <a:srgbClr val="3C4655"/>
                </a:solidFill>
                <a:latin typeface="Calibri" pitchFamily="34" charset="0"/>
                <a:ea typeface="Calibri" pitchFamily="34" charset="-122"/>
                <a:cs typeface="Calibri" pitchFamily="34" charset="-120"/>
              </a:rPr>
              <a:t>In follow-up work the authors found kappa fell when self-evaluations were added to the pool — the actors were the outliers.</a:t>
            </a:r>
            <a:endParaRPr lang="en-US" sz="1300" dirty="0"/>
          </a:p>
          <a:p>
            <a:pPr marL="342900" indent="-342900">
              <a:spcAft>
                <a:spcPts val="800"/>
              </a:spcAft>
              <a:buSzPct val="100000"/>
              <a:buChar char="●"/>
            </a:pPr>
            <a:r>
              <a:rPr lang="en-US" sz="1300" dirty="0">
                <a:solidFill>
                  <a:srgbClr val="3C4655"/>
                </a:solidFill>
                <a:latin typeface="Calibri" pitchFamily="34" charset="0"/>
                <a:ea typeface="Calibri" pitchFamily="34" charset="-122"/>
                <a:cs typeface="Calibri" pitchFamily="34" charset="-120"/>
              </a:rPr>
              <a:t>Actors were more selective in assigning labels: they knew what they meant to convey, and they knew the recording protocol.</a:t>
            </a:r>
            <a:endParaRPr lang="en-US" sz="1300" dirty="0"/>
          </a:p>
          <a:p>
            <a:pPr marL="342900" indent="-342900">
              <a:spcAft>
                <a:spcPts val="800"/>
              </a:spcAft>
              <a:buSzPct val="100000"/>
              <a:buChar char="●"/>
            </a:pPr>
            <a:r>
              <a:rPr lang="en-US" sz="1300" dirty="0">
                <a:solidFill>
                  <a:srgbClr val="3C4655"/>
                </a:solidFill>
                <a:latin typeface="Calibri" pitchFamily="34" charset="0"/>
                <a:ea typeface="Calibri" pitchFamily="34" charset="-122"/>
                <a:cs typeface="Calibri" pitchFamily="34" charset="-120"/>
              </a:rPr>
              <a:t>Individual variation is wide — one actress agreed with the raters on only 44% of her own turns.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Where human raters go wrong</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Average agreement with the majority label: 72%</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23</a:t>
            </a:r>
            <a:endParaRPr lang="en-US" sz="900" dirty="0"/>
          </a:p>
        </p:txBody>
      </p:sp>
      <p:sp>
        <p:nvSpPr>
          <p:cNvPr id="8" name="Shape 6"/>
          <p:cNvSpPr/>
          <p:nvPr/>
        </p:nvSpPr>
        <p:spPr>
          <a:xfrm>
            <a:off x="566928" y="1572768"/>
            <a:ext cx="2697480" cy="2514600"/>
          </a:xfrm>
          <a:prstGeom prst="roundRect">
            <a:avLst>
              <a:gd name="adj" fmla="val 2182"/>
            </a:avLst>
          </a:prstGeom>
          <a:solidFill>
            <a:srgbClr val="F2F5F8"/>
          </a:solidFill>
          <a:ln w="12700">
            <a:solidFill>
              <a:srgbClr val="E1E7EE"/>
            </a:solidFill>
            <a:prstDash val="solid"/>
          </a:ln>
        </p:spPr>
      </p:sp>
      <p:sp>
        <p:nvSpPr>
          <p:cNvPr id="9" name="Shape 7"/>
          <p:cNvSpPr/>
          <p:nvPr/>
        </p:nvSpPr>
        <p:spPr>
          <a:xfrm>
            <a:off x="786384" y="1865376"/>
            <a:ext cx="109728" cy="109728"/>
          </a:xfrm>
          <a:prstGeom prst="ellipse">
            <a:avLst/>
          </a:prstGeom>
          <a:solidFill>
            <a:srgbClr val="E4572E"/>
          </a:solidFill>
          <a:ln w="12700">
            <a:solidFill>
              <a:srgbClr val="333333"/>
            </a:solidFill>
            <a:prstDash val="solid"/>
          </a:ln>
        </p:spPr>
      </p:sp>
      <p:sp>
        <p:nvSpPr>
          <p:cNvPr id="10" name="Text 8"/>
          <p:cNvSpPr txBox="1"/>
          <p:nvPr/>
        </p:nvSpPr>
        <p:spPr>
          <a:xfrm>
            <a:off x="987552" y="1737360"/>
            <a:ext cx="2057400" cy="365760"/>
          </a:xfrm>
          <a:prstGeom prst="rect">
            <a:avLst/>
          </a:prstGeom>
          <a:noFill/>
          <a:ln/>
        </p:spPr>
        <p:txBody>
          <a:bodyPr wrap="square" lIns="0" tIns="0" rIns="0" bIns="0" rtlCol="0" anchor="ctr"/>
          <a:lstStyle/>
          <a:p>
            <a:pPr indent="0" marL="0">
              <a:buNone/>
            </a:pPr>
            <a:r>
              <a:rPr lang="en-US" sz="1400" b="1" dirty="0">
                <a:solidFill>
                  <a:srgbClr val="16213A"/>
                </a:solidFill>
                <a:latin typeface="Cambria" pitchFamily="34" charset="0"/>
                <a:ea typeface="Cambria" pitchFamily="34" charset="-122"/>
                <a:cs typeface="Cambria" pitchFamily="34" charset="-120"/>
              </a:rPr>
              <a:t>Frustration is the sink</a:t>
            </a:r>
            <a:endParaRPr lang="en-US" sz="1400" dirty="0"/>
          </a:p>
        </p:txBody>
      </p:sp>
      <p:sp>
        <p:nvSpPr>
          <p:cNvPr id="11" name="Text 9"/>
          <p:cNvSpPr txBox="1"/>
          <p:nvPr/>
        </p:nvSpPr>
        <p:spPr>
          <a:xfrm>
            <a:off x="822960" y="2176272"/>
            <a:ext cx="2185416" cy="1728216"/>
          </a:xfrm>
          <a:prstGeom prst="rect">
            <a:avLst/>
          </a:prstGeom>
          <a:noFill/>
          <a:ln/>
        </p:spPr>
        <p:txBody>
          <a:bodyPr wrap="square" lIns="0" tIns="0" rIns="0" bIns="0" rtlCol="0" anchor="t"/>
          <a:lstStyle/>
          <a:p>
            <a:pPr indent="0" marL="0">
              <a:lnSpc>
                <a:spcPct val="108000"/>
              </a:lnSpc>
              <a:buNone/>
            </a:pPr>
            <a:r>
              <a:rPr lang="en-US" sz="1200" dirty="0">
                <a:solidFill>
                  <a:srgbClr val="3C4655"/>
                </a:solidFill>
                <a:latin typeface="Calibri" pitchFamily="34" charset="0"/>
                <a:ea typeface="Calibri" pitchFamily="34" charset="-122"/>
                <a:cs typeface="Calibri" pitchFamily="34" charset="-120"/>
              </a:rPr>
              <a:t>Neutral, anger and disgust all leak into frustration — 13%, 17% and 17% of their instances respectively. It is the least distinct category in the corpus.</a:t>
            </a:r>
            <a:endParaRPr lang="en-US" sz="1200" dirty="0"/>
          </a:p>
        </p:txBody>
      </p:sp>
      <p:sp>
        <p:nvSpPr>
          <p:cNvPr id="12" name="Shape 10"/>
          <p:cNvSpPr/>
          <p:nvPr/>
        </p:nvSpPr>
        <p:spPr>
          <a:xfrm>
            <a:off x="3392424" y="1572768"/>
            <a:ext cx="2697480" cy="2514600"/>
          </a:xfrm>
          <a:prstGeom prst="roundRect">
            <a:avLst>
              <a:gd name="adj" fmla="val 2182"/>
            </a:avLst>
          </a:prstGeom>
          <a:solidFill>
            <a:srgbClr val="F2F5F8"/>
          </a:solidFill>
          <a:ln w="12700">
            <a:solidFill>
              <a:srgbClr val="E1E7EE"/>
            </a:solidFill>
            <a:prstDash val="solid"/>
          </a:ln>
        </p:spPr>
      </p:sp>
      <p:sp>
        <p:nvSpPr>
          <p:cNvPr id="13" name="Shape 11"/>
          <p:cNvSpPr/>
          <p:nvPr/>
        </p:nvSpPr>
        <p:spPr>
          <a:xfrm>
            <a:off x="3611880" y="1865376"/>
            <a:ext cx="109728" cy="109728"/>
          </a:xfrm>
          <a:prstGeom prst="ellipse">
            <a:avLst/>
          </a:prstGeom>
          <a:solidFill>
            <a:srgbClr val="4A7FA5"/>
          </a:solidFill>
          <a:ln w="12700">
            <a:solidFill>
              <a:srgbClr val="333333"/>
            </a:solidFill>
            <a:prstDash val="solid"/>
          </a:ln>
        </p:spPr>
      </p:sp>
      <p:sp>
        <p:nvSpPr>
          <p:cNvPr id="14" name="Text 12"/>
          <p:cNvSpPr txBox="1"/>
          <p:nvPr/>
        </p:nvSpPr>
        <p:spPr>
          <a:xfrm>
            <a:off x="3813048" y="1737360"/>
            <a:ext cx="2057400" cy="365760"/>
          </a:xfrm>
          <a:prstGeom prst="rect">
            <a:avLst/>
          </a:prstGeom>
          <a:noFill/>
          <a:ln/>
        </p:spPr>
        <p:txBody>
          <a:bodyPr wrap="square" lIns="0" tIns="0" rIns="0" bIns="0" rtlCol="0" anchor="ctr"/>
          <a:lstStyle/>
          <a:p>
            <a:pPr indent="0" marL="0">
              <a:buNone/>
            </a:pPr>
            <a:r>
              <a:rPr lang="en-US" sz="1400" b="1" dirty="0">
                <a:solidFill>
                  <a:srgbClr val="16213A"/>
                </a:solidFill>
                <a:latin typeface="Cambria" pitchFamily="34" charset="0"/>
                <a:ea typeface="Cambria" pitchFamily="34" charset="-122"/>
                <a:cs typeface="Cambria" pitchFamily="34" charset="-120"/>
              </a:rPr>
              <a:t>Happiness ↔ excitement</a:t>
            </a:r>
            <a:endParaRPr lang="en-US" sz="1400" dirty="0"/>
          </a:p>
        </p:txBody>
      </p:sp>
      <p:sp>
        <p:nvSpPr>
          <p:cNvPr id="15" name="Text 13"/>
          <p:cNvSpPr txBox="1"/>
          <p:nvPr/>
        </p:nvSpPr>
        <p:spPr>
          <a:xfrm>
            <a:off x="3648456" y="2176272"/>
            <a:ext cx="2185416" cy="1728216"/>
          </a:xfrm>
          <a:prstGeom prst="rect">
            <a:avLst/>
          </a:prstGeom>
          <a:noFill/>
          <a:ln/>
        </p:spPr>
        <p:txBody>
          <a:bodyPr wrap="square" lIns="0" tIns="0" rIns="0" bIns="0" rtlCol="0" anchor="t"/>
          <a:lstStyle/>
          <a:p>
            <a:pPr indent="0" marL="0">
              <a:lnSpc>
                <a:spcPct val="108000"/>
              </a:lnSpc>
              <a:buNone/>
            </a:pPr>
            <a:r>
              <a:rPr lang="en-US" sz="1200" dirty="0">
                <a:solidFill>
                  <a:srgbClr val="3C4655"/>
                </a:solidFill>
                <a:latin typeface="Calibri" pitchFamily="34" charset="0"/>
                <a:ea typeface="Calibri" pitchFamily="34" charset="-122"/>
                <a:cs typeface="Calibri" pitchFamily="34" charset="-120"/>
              </a:rPr>
              <a:t>18% of happiness is read as excitement and 16% of excitement as happiness. The two differ mainly in arousal, not valence.</a:t>
            </a:r>
            <a:endParaRPr lang="en-US" sz="1200" dirty="0"/>
          </a:p>
        </p:txBody>
      </p:sp>
      <p:sp>
        <p:nvSpPr>
          <p:cNvPr id="16" name="Shape 14"/>
          <p:cNvSpPr/>
          <p:nvPr/>
        </p:nvSpPr>
        <p:spPr>
          <a:xfrm>
            <a:off x="6217920" y="1572768"/>
            <a:ext cx="2697480" cy="2514600"/>
          </a:xfrm>
          <a:prstGeom prst="roundRect">
            <a:avLst>
              <a:gd name="adj" fmla="val 2182"/>
            </a:avLst>
          </a:prstGeom>
          <a:solidFill>
            <a:srgbClr val="F2F5F8"/>
          </a:solidFill>
          <a:ln w="12700">
            <a:solidFill>
              <a:srgbClr val="E1E7EE"/>
            </a:solidFill>
            <a:prstDash val="solid"/>
          </a:ln>
        </p:spPr>
      </p:sp>
      <p:sp>
        <p:nvSpPr>
          <p:cNvPr id="17" name="Shape 15"/>
          <p:cNvSpPr/>
          <p:nvPr/>
        </p:nvSpPr>
        <p:spPr>
          <a:xfrm>
            <a:off x="6437376" y="1865376"/>
            <a:ext cx="109728" cy="109728"/>
          </a:xfrm>
          <a:prstGeom prst="ellipse">
            <a:avLst/>
          </a:prstGeom>
          <a:solidFill>
            <a:srgbClr val="1B2A4A"/>
          </a:solidFill>
          <a:ln w="12700">
            <a:solidFill>
              <a:srgbClr val="333333"/>
            </a:solidFill>
            <a:prstDash val="solid"/>
          </a:ln>
        </p:spPr>
      </p:sp>
      <p:sp>
        <p:nvSpPr>
          <p:cNvPr id="18" name="Text 16"/>
          <p:cNvSpPr txBox="1"/>
          <p:nvPr/>
        </p:nvSpPr>
        <p:spPr>
          <a:xfrm>
            <a:off x="6638544" y="1737360"/>
            <a:ext cx="2057400" cy="365760"/>
          </a:xfrm>
          <a:prstGeom prst="rect">
            <a:avLst/>
          </a:prstGeom>
          <a:noFill/>
          <a:ln/>
        </p:spPr>
        <p:txBody>
          <a:bodyPr wrap="square" lIns="0" tIns="0" rIns="0" bIns="0" rtlCol="0" anchor="ctr"/>
          <a:lstStyle/>
          <a:p>
            <a:pPr indent="0" marL="0">
              <a:buNone/>
            </a:pPr>
            <a:r>
              <a:rPr lang="en-US" sz="1400" b="1" dirty="0">
                <a:solidFill>
                  <a:srgbClr val="16213A"/>
                </a:solidFill>
                <a:latin typeface="Cambria" pitchFamily="34" charset="0"/>
                <a:ea typeface="Cambria" pitchFamily="34" charset="-122"/>
                <a:cs typeface="Cambria" pitchFamily="34" charset="-120"/>
              </a:rPr>
              <a:t>Sadness is comparatively safe</a:t>
            </a:r>
            <a:endParaRPr lang="en-US" sz="1400" dirty="0"/>
          </a:p>
        </p:txBody>
      </p:sp>
      <p:sp>
        <p:nvSpPr>
          <p:cNvPr id="19" name="Text 17"/>
          <p:cNvSpPr txBox="1"/>
          <p:nvPr/>
        </p:nvSpPr>
        <p:spPr>
          <a:xfrm>
            <a:off x="6473952" y="2176272"/>
            <a:ext cx="2185416" cy="1728216"/>
          </a:xfrm>
          <a:prstGeom prst="rect">
            <a:avLst/>
          </a:prstGeom>
          <a:noFill/>
          <a:ln/>
        </p:spPr>
        <p:txBody>
          <a:bodyPr wrap="square" lIns="0" tIns="0" rIns="0" bIns="0" rtlCol="0" anchor="t"/>
          <a:lstStyle/>
          <a:p>
            <a:pPr indent="0" marL="0">
              <a:lnSpc>
                <a:spcPct val="108000"/>
              </a:lnSpc>
              <a:buNone/>
            </a:pPr>
            <a:r>
              <a:rPr lang="en-US" sz="1200" dirty="0">
                <a:solidFill>
                  <a:srgbClr val="3C4655"/>
                </a:solidFill>
                <a:latin typeface="Calibri" pitchFamily="34" charset="0"/>
                <a:ea typeface="Calibri" pitchFamily="34" charset="-122"/>
                <a:cs typeface="Calibri" pitchFamily="34" charset="-120"/>
              </a:rPr>
              <a:t>77% agreement, the highest of the emotional categories, and it leaks mostly into neutral.</a:t>
            </a:r>
            <a:endParaRPr lang="en-US" sz="1200" dirty="0"/>
          </a:p>
        </p:txBody>
      </p:sp>
      <p:sp>
        <p:nvSpPr>
          <p:cNvPr id="20" name="Shape 18"/>
          <p:cNvSpPr/>
          <p:nvPr/>
        </p:nvSpPr>
        <p:spPr>
          <a:xfrm>
            <a:off x="9043416" y="1572768"/>
            <a:ext cx="2697480" cy="2514600"/>
          </a:xfrm>
          <a:prstGeom prst="roundRect">
            <a:avLst>
              <a:gd name="adj" fmla="val 2182"/>
            </a:avLst>
          </a:prstGeom>
          <a:solidFill>
            <a:srgbClr val="F2F5F8"/>
          </a:solidFill>
          <a:ln w="12700">
            <a:solidFill>
              <a:srgbClr val="E1E7EE"/>
            </a:solidFill>
            <a:prstDash val="solid"/>
          </a:ln>
        </p:spPr>
      </p:sp>
      <p:sp>
        <p:nvSpPr>
          <p:cNvPr id="21" name="Shape 19"/>
          <p:cNvSpPr/>
          <p:nvPr/>
        </p:nvSpPr>
        <p:spPr>
          <a:xfrm>
            <a:off x="9262872" y="1865376"/>
            <a:ext cx="109728" cy="109728"/>
          </a:xfrm>
          <a:prstGeom prst="ellipse">
            <a:avLst/>
          </a:prstGeom>
          <a:solidFill>
            <a:srgbClr val="8A5A4A"/>
          </a:solidFill>
          <a:ln w="12700">
            <a:solidFill>
              <a:srgbClr val="333333"/>
            </a:solidFill>
            <a:prstDash val="solid"/>
          </a:ln>
        </p:spPr>
      </p:sp>
      <p:sp>
        <p:nvSpPr>
          <p:cNvPr id="22" name="Text 20"/>
          <p:cNvSpPr txBox="1"/>
          <p:nvPr/>
        </p:nvSpPr>
        <p:spPr>
          <a:xfrm>
            <a:off x="9464040" y="1737360"/>
            <a:ext cx="2057400" cy="365760"/>
          </a:xfrm>
          <a:prstGeom prst="rect">
            <a:avLst/>
          </a:prstGeom>
          <a:noFill/>
          <a:ln/>
        </p:spPr>
        <p:txBody>
          <a:bodyPr wrap="square" lIns="0" tIns="0" rIns="0" bIns="0" rtlCol="0" anchor="ctr"/>
          <a:lstStyle/>
          <a:p>
            <a:pPr indent="0" marL="0">
              <a:buNone/>
            </a:pPr>
            <a:r>
              <a:rPr lang="en-US" sz="1400" b="1" dirty="0">
                <a:solidFill>
                  <a:srgbClr val="16213A"/>
                </a:solidFill>
                <a:latin typeface="Cambria" pitchFamily="34" charset="0"/>
                <a:ea typeface="Cambria" pitchFamily="34" charset="-122"/>
                <a:cs typeface="Cambria" pitchFamily="34" charset="-120"/>
              </a:rPr>
              <a:t>Surprise is the weakest</a:t>
            </a:r>
            <a:endParaRPr lang="en-US" sz="1400" dirty="0"/>
          </a:p>
        </p:txBody>
      </p:sp>
      <p:sp>
        <p:nvSpPr>
          <p:cNvPr id="23" name="Text 21"/>
          <p:cNvSpPr txBox="1"/>
          <p:nvPr/>
        </p:nvSpPr>
        <p:spPr>
          <a:xfrm>
            <a:off x="9299448" y="2176272"/>
            <a:ext cx="2185416" cy="1728216"/>
          </a:xfrm>
          <a:prstGeom prst="rect">
            <a:avLst/>
          </a:prstGeom>
          <a:noFill/>
          <a:ln/>
        </p:spPr>
        <p:txBody>
          <a:bodyPr wrap="square" lIns="0" tIns="0" rIns="0" bIns="0" rtlCol="0" anchor="t"/>
          <a:lstStyle/>
          <a:p>
            <a:pPr indent="0" marL="0">
              <a:lnSpc>
                <a:spcPct val="108000"/>
              </a:lnSpc>
              <a:buNone/>
            </a:pPr>
            <a:r>
              <a:rPr lang="en-US" sz="1200" dirty="0">
                <a:solidFill>
                  <a:srgbClr val="3C4655"/>
                </a:solidFill>
                <a:latin typeface="Calibri" pitchFamily="34" charset="0"/>
                <a:ea typeface="Calibri" pitchFamily="34" charset="-122"/>
                <a:cs typeface="Calibri" pitchFamily="34" charset="-120"/>
              </a:rPr>
              <a:t>65% agreement, spread across frustration and excitement — and with only about 2% of the data, it is not usable in practice.</a:t>
            </a:r>
            <a:endParaRPr lang="en-US" sz="1200" dirty="0"/>
          </a:p>
        </p:txBody>
      </p:sp>
      <p:sp>
        <p:nvSpPr>
          <p:cNvPr id="24" name="Shape 22"/>
          <p:cNvSpPr/>
          <p:nvPr/>
        </p:nvSpPr>
        <p:spPr>
          <a:xfrm>
            <a:off x="566928" y="4315968"/>
            <a:ext cx="11064240" cy="1737360"/>
          </a:xfrm>
          <a:prstGeom prst="roundRect">
            <a:avLst>
              <a:gd name="adj" fmla="val 3158"/>
            </a:avLst>
          </a:prstGeom>
          <a:solidFill>
            <a:srgbClr val="1B2A4A"/>
          </a:solidFill>
          <a:ln w="12700">
            <a:solidFill>
              <a:srgbClr val="1B2A4A"/>
            </a:solidFill>
            <a:prstDash val="solid"/>
          </a:ln>
        </p:spPr>
      </p:sp>
      <p:sp>
        <p:nvSpPr>
          <p:cNvPr id="25" name="Shape 23"/>
          <p:cNvSpPr/>
          <p:nvPr/>
        </p:nvSpPr>
        <p:spPr>
          <a:xfrm>
            <a:off x="786384" y="4608576"/>
            <a:ext cx="109728" cy="109728"/>
          </a:xfrm>
          <a:prstGeom prst="ellipse">
            <a:avLst/>
          </a:prstGeom>
          <a:solidFill>
            <a:srgbClr val="E4572E"/>
          </a:solidFill>
          <a:ln w="12700">
            <a:solidFill>
              <a:srgbClr val="333333"/>
            </a:solidFill>
            <a:prstDash val="solid"/>
          </a:ln>
        </p:spPr>
      </p:sp>
      <p:sp>
        <p:nvSpPr>
          <p:cNvPr id="26" name="Text 24"/>
          <p:cNvSpPr txBox="1"/>
          <p:nvPr/>
        </p:nvSpPr>
        <p:spPr>
          <a:xfrm>
            <a:off x="987552" y="4480560"/>
            <a:ext cx="104241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This is the empirical basis for the conventions the field adopted</a:t>
            </a:r>
            <a:endParaRPr lang="en-US" sz="1550" dirty="0"/>
          </a:p>
        </p:txBody>
      </p:sp>
      <p:sp>
        <p:nvSpPr>
          <p:cNvPr id="27" name="Text 25"/>
          <p:cNvSpPr txBox="1"/>
          <p:nvPr/>
        </p:nvSpPr>
        <p:spPr>
          <a:xfrm>
            <a:off x="822960" y="4919472"/>
            <a:ext cx="10552176" cy="950976"/>
          </a:xfrm>
          <a:prstGeom prst="rect">
            <a:avLst/>
          </a:prstGeom>
          <a:noFill/>
          <a:ln/>
        </p:spPr>
        <p:txBody>
          <a:bodyPr wrap="square" lIns="0" tIns="0" rIns="0" bIns="0" rtlCol="0" anchor="t"/>
          <a:lstStyle/>
          <a:p>
            <a:pPr indent="0" marL="0">
              <a:lnSpc>
                <a:spcPct val="108000"/>
              </a:lnSpc>
              <a:buNone/>
            </a:pPr>
            <a:r>
              <a:rPr lang="en-US" sz="1300" dirty="0">
                <a:solidFill>
                  <a:srgbClr val="C9D6E3"/>
                </a:solidFill>
                <a:latin typeface="Calibri" pitchFamily="34" charset="0"/>
                <a:ea typeface="Calibri" pitchFamily="34" charset="-122"/>
                <a:cs typeface="Calibri" pitchFamily="34" charset="-120"/>
              </a:rPr>
              <a:t>Because happiness and excitement are so heavily confused, most later work merges them into a single 'happy' class. Because fear, disgust and surprise are both rare and unreliable, they are dropped. What survives is the four-way task — angry, happy, sad, neutral — on which almost every IEMOCAP result is reported. That task is not defined anywhere in this paper; it emerged from these confusion patterns.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10607040" y="5120640"/>
            <a:ext cx="118872" cy="118872"/>
          </a:xfrm>
          <a:prstGeom prst="ellipse">
            <a:avLst/>
          </a:prstGeom>
          <a:solidFill>
            <a:srgbClr val="E4572E"/>
          </a:solidFill>
          <a:ln w="12700">
            <a:solidFill>
              <a:srgbClr val="E4572E"/>
            </a:solidFill>
            <a:prstDash val="solid"/>
          </a:ln>
        </p:spPr>
      </p:sp>
      <p:sp>
        <p:nvSpPr>
          <p:cNvPr id="3" name="Shape 1"/>
          <p:cNvSpPr/>
          <p:nvPr/>
        </p:nvSpPr>
        <p:spPr>
          <a:xfrm>
            <a:off x="10917936" y="5239512"/>
            <a:ext cx="118872" cy="118872"/>
          </a:xfrm>
          <a:prstGeom prst="ellipse">
            <a:avLst/>
          </a:prstGeom>
          <a:solidFill>
            <a:srgbClr val="E4572E"/>
          </a:solidFill>
          <a:ln w="12700">
            <a:solidFill>
              <a:srgbClr val="E4572E"/>
            </a:solidFill>
            <a:prstDash val="solid"/>
          </a:ln>
        </p:spPr>
      </p:sp>
      <p:sp>
        <p:nvSpPr>
          <p:cNvPr id="4" name="Shape 2"/>
          <p:cNvSpPr/>
          <p:nvPr/>
        </p:nvSpPr>
        <p:spPr>
          <a:xfrm>
            <a:off x="10735056" y="5486400"/>
            <a:ext cx="118872" cy="118872"/>
          </a:xfrm>
          <a:prstGeom prst="ellipse">
            <a:avLst/>
          </a:prstGeom>
          <a:solidFill>
            <a:srgbClr val="E4572E"/>
          </a:solidFill>
          <a:ln w="12700">
            <a:solidFill>
              <a:srgbClr val="E4572E"/>
            </a:solidFill>
            <a:prstDash val="solid"/>
          </a:ln>
        </p:spPr>
      </p:sp>
      <p:sp>
        <p:nvSpPr>
          <p:cNvPr id="5" name="Shape 3"/>
          <p:cNvSpPr/>
          <p:nvPr/>
        </p:nvSpPr>
        <p:spPr>
          <a:xfrm>
            <a:off x="11064240" y="5522976"/>
            <a:ext cx="118872" cy="118872"/>
          </a:xfrm>
          <a:prstGeom prst="ellipse">
            <a:avLst/>
          </a:prstGeom>
          <a:solidFill>
            <a:srgbClr val="E4572E"/>
          </a:solidFill>
          <a:ln w="12700">
            <a:solidFill>
              <a:srgbClr val="E4572E"/>
            </a:solidFill>
            <a:prstDash val="solid"/>
          </a:ln>
        </p:spPr>
      </p:sp>
      <p:sp>
        <p:nvSpPr>
          <p:cNvPr id="6" name="Shape 4"/>
          <p:cNvSpPr/>
          <p:nvPr/>
        </p:nvSpPr>
        <p:spPr>
          <a:xfrm>
            <a:off x="11173968" y="5212080"/>
            <a:ext cx="118872" cy="118872"/>
          </a:xfrm>
          <a:prstGeom prst="ellipse">
            <a:avLst/>
          </a:prstGeom>
          <a:solidFill>
            <a:srgbClr val="E4572E"/>
          </a:solidFill>
          <a:ln w="12700">
            <a:solidFill>
              <a:srgbClr val="E4572E"/>
            </a:solidFill>
            <a:prstDash val="solid"/>
          </a:ln>
        </p:spPr>
      </p:sp>
      <p:sp>
        <p:nvSpPr>
          <p:cNvPr id="7" name="Text 5"/>
          <p:cNvSpPr txBox="1"/>
          <p:nvPr/>
        </p:nvSpPr>
        <p:spPr>
          <a:xfrm>
            <a:off x="822960" y="2057400"/>
            <a:ext cx="1463040" cy="1005840"/>
          </a:xfrm>
          <a:prstGeom prst="rect">
            <a:avLst/>
          </a:prstGeom>
          <a:noFill/>
          <a:ln/>
        </p:spPr>
        <p:txBody>
          <a:bodyPr wrap="square" lIns="0" tIns="0" rIns="0" bIns="0" rtlCol="0" anchor="ctr"/>
          <a:lstStyle/>
          <a:p>
            <a:pPr indent="0" marL="0">
              <a:buNone/>
            </a:pPr>
            <a:r>
              <a:rPr lang="en-US" sz="6800" b="1" dirty="0">
                <a:solidFill>
                  <a:srgbClr val="E4572E"/>
                </a:solidFill>
                <a:latin typeface="Cambria" pitchFamily="34" charset="0"/>
                <a:ea typeface="Cambria" pitchFamily="34" charset="-122"/>
                <a:cs typeface="Cambria" pitchFamily="34" charset="-120"/>
              </a:rPr>
              <a:t>5</a:t>
            </a:r>
            <a:endParaRPr lang="en-US" sz="6800" dirty="0"/>
          </a:p>
        </p:txBody>
      </p:sp>
      <p:sp>
        <p:nvSpPr>
          <p:cNvPr id="8" name="Text 6"/>
          <p:cNvSpPr txBox="1"/>
          <p:nvPr/>
        </p:nvSpPr>
        <p:spPr>
          <a:xfrm>
            <a:off x="2286000" y="2212848"/>
            <a:ext cx="87782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Critical appraisal</a:t>
            </a:r>
            <a:endParaRPr lang="en-US" sz="3400" dirty="0"/>
          </a:p>
        </p:txBody>
      </p:sp>
      <p:sp>
        <p:nvSpPr>
          <p:cNvPr id="9" name="Text 7"/>
          <p:cNvSpPr txBox="1"/>
          <p:nvPr/>
        </p:nvSpPr>
        <p:spPr>
          <a:xfrm>
            <a:off x="2340864" y="3072384"/>
            <a:ext cx="8595360" cy="731520"/>
          </a:xfrm>
          <a:prstGeom prst="rect">
            <a:avLst/>
          </a:prstGeom>
          <a:noFill/>
          <a:ln/>
        </p:spPr>
        <p:txBody>
          <a:bodyPr wrap="square" lIns="0" tIns="0" rIns="0" bIns="0" rtlCol="0" anchor="ctr"/>
          <a:lstStyle/>
          <a:p>
            <a:pPr indent="0" marL="0">
              <a:buNone/>
            </a:pPr>
            <a:r>
              <a:rPr lang="en-US" sz="1500" dirty="0">
                <a:solidFill>
                  <a:srgbClr val="C9D6E3"/>
                </a:solidFill>
                <a:latin typeface="Calibri" pitchFamily="34" charset="0"/>
                <a:ea typeface="Calibri" pitchFamily="34" charset="-122"/>
                <a:cs typeface="Calibri" pitchFamily="34" charset="-120"/>
              </a:rPr>
              <a:t>What the design buys, and what it costs</a:t>
            </a:r>
            <a:endParaRPr lang="en-US" sz="1500" dirty="0"/>
          </a:p>
        </p:txBody>
      </p:sp>
      <p:sp>
        <p:nvSpPr>
          <p:cNvPr id="10" name="Text 8"/>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Scoring IEMOCAP on its own four axes</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The authors' self-assessment, and whether it holds up</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25</a:t>
            </a:r>
            <a:endParaRPr lang="en-US" sz="900" dirty="0"/>
          </a:p>
        </p:txBody>
      </p:sp>
      <p:sp>
        <p:nvSpPr>
          <p:cNvPr id="8" name="Shape 6"/>
          <p:cNvSpPr/>
          <p:nvPr/>
        </p:nvSpPr>
        <p:spPr>
          <a:xfrm>
            <a:off x="566928" y="1517904"/>
            <a:ext cx="11064240" cy="1060704"/>
          </a:xfrm>
          <a:prstGeom prst="roundRect">
            <a:avLst>
              <a:gd name="adj" fmla="val 3448"/>
            </a:avLst>
          </a:prstGeom>
          <a:solidFill>
            <a:srgbClr val="F2F5F8"/>
          </a:solidFill>
          <a:ln w="12700">
            <a:solidFill>
              <a:srgbClr val="E6EBF0"/>
            </a:solidFill>
            <a:prstDash val="solid"/>
          </a:ln>
        </p:spPr>
      </p:sp>
      <p:sp>
        <p:nvSpPr>
          <p:cNvPr id="9" name="Shape 7"/>
          <p:cNvSpPr/>
          <p:nvPr/>
        </p:nvSpPr>
        <p:spPr>
          <a:xfrm>
            <a:off x="786384" y="1975104"/>
            <a:ext cx="118872" cy="118872"/>
          </a:xfrm>
          <a:prstGeom prst="ellipse">
            <a:avLst/>
          </a:prstGeom>
          <a:solidFill>
            <a:srgbClr val="E4572E"/>
          </a:solidFill>
          <a:ln w="12700">
            <a:solidFill>
              <a:srgbClr val="333333"/>
            </a:solidFill>
            <a:prstDash val="solid"/>
          </a:ln>
        </p:spPr>
      </p:sp>
      <p:sp>
        <p:nvSpPr>
          <p:cNvPr id="10" name="Text 8"/>
          <p:cNvSpPr txBox="1"/>
          <p:nvPr/>
        </p:nvSpPr>
        <p:spPr>
          <a:xfrm>
            <a:off x="1024128" y="1901952"/>
            <a:ext cx="1554480" cy="292608"/>
          </a:xfrm>
          <a:prstGeom prst="rect">
            <a:avLst/>
          </a:prstGeom>
          <a:noFill/>
          <a:ln/>
        </p:spPr>
        <p:txBody>
          <a:bodyPr wrap="square" lIns="0" tIns="0" rIns="0" bIns="0" rtlCol="0" anchor="ctr"/>
          <a:lstStyle/>
          <a:p>
            <a:pPr indent="0" marL="0">
              <a:buNone/>
            </a:pPr>
            <a:r>
              <a:rPr lang="en-US" sz="1400" b="1" dirty="0">
                <a:solidFill>
                  <a:srgbClr val="16213A"/>
                </a:solidFill>
                <a:latin typeface="Cambria" pitchFamily="34" charset="0"/>
                <a:ea typeface="Cambria" pitchFamily="34" charset="-122"/>
                <a:cs typeface="Cambria" pitchFamily="34" charset="-120"/>
              </a:rPr>
              <a:t>Scope</a:t>
            </a:r>
            <a:endParaRPr lang="en-US" sz="1400" dirty="0"/>
          </a:p>
        </p:txBody>
      </p:sp>
      <p:sp>
        <p:nvSpPr>
          <p:cNvPr id="11" name="Text 9"/>
          <p:cNvSpPr txBox="1"/>
          <p:nvPr/>
        </p:nvSpPr>
        <p:spPr>
          <a:xfrm>
            <a:off x="2697480" y="1682496"/>
            <a:ext cx="4663440" cy="77724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Ten speakers, twelve hours, five well-populated emotion classes, three modalities in sync.</a:t>
            </a:r>
            <a:endParaRPr lang="en-US" sz="1200" dirty="0"/>
          </a:p>
        </p:txBody>
      </p:sp>
      <p:sp>
        <p:nvSpPr>
          <p:cNvPr id="12" name="Text 10"/>
          <p:cNvSpPr txBox="1"/>
          <p:nvPr/>
        </p:nvSpPr>
        <p:spPr>
          <a:xfrm>
            <a:off x="7543800" y="1682496"/>
            <a:ext cx="3886200" cy="777240"/>
          </a:xfrm>
          <a:prstGeom prst="rect">
            <a:avLst/>
          </a:prstGeom>
          <a:noFill/>
          <a:ln/>
        </p:spPr>
        <p:txBody>
          <a:bodyPr wrap="square" lIns="0" tIns="0" rIns="0" bIns="0" rtlCol="0" anchor="ctr"/>
          <a:lstStyle/>
          <a:p>
            <a:pPr indent="0" marL="0">
              <a:buNone/>
            </a:pPr>
            <a:r>
              <a:rPr lang="en-US" sz="1200" i="1" dirty="0">
                <a:solidFill>
                  <a:srgbClr val="7A5040"/>
                </a:solidFill>
                <a:latin typeface="Calibri" pitchFamily="34" charset="0"/>
                <a:ea typeface="Calibri" pitchFamily="34" charset="-122"/>
                <a:cs typeface="Calibri" pitchFamily="34" charset="-120"/>
              </a:rPr>
              <a:t>Partly met. Ten is below the recommended minimum, and the authors say so.</a:t>
            </a:r>
            <a:endParaRPr lang="en-US" sz="1200" dirty="0"/>
          </a:p>
        </p:txBody>
      </p:sp>
      <p:sp>
        <p:nvSpPr>
          <p:cNvPr id="13" name="Shape 11"/>
          <p:cNvSpPr/>
          <p:nvPr/>
        </p:nvSpPr>
        <p:spPr>
          <a:xfrm>
            <a:off x="566928" y="2651760"/>
            <a:ext cx="11064240" cy="1060704"/>
          </a:xfrm>
          <a:prstGeom prst="roundRect">
            <a:avLst>
              <a:gd name="adj" fmla="val 3448"/>
            </a:avLst>
          </a:prstGeom>
          <a:solidFill>
            <a:srgbClr val="FFFFFF"/>
          </a:solidFill>
          <a:ln w="12700">
            <a:solidFill>
              <a:srgbClr val="E6EBF0"/>
            </a:solidFill>
            <a:prstDash val="solid"/>
          </a:ln>
        </p:spPr>
      </p:sp>
      <p:sp>
        <p:nvSpPr>
          <p:cNvPr id="14" name="Shape 12"/>
          <p:cNvSpPr/>
          <p:nvPr/>
        </p:nvSpPr>
        <p:spPr>
          <a:xfrm>
            <a:off x="786384" y="3108960"/>
            <a:ext cx="118872" cy="118872"/>
          </a:xfrm>
          <a:prstGeom prst="ellipse">
            <a:avLst/>
          </a:prstGeom>
          <a:solidFill>
            <a:srgbClr val="E4572E"/>
          </a:solidFill>
          <a:ln w="12700">
            <a:solidFill>
              <a:srgbClr val="333333"/>
            </a:solidFill>
            <a:prstDash val="solid"/>
          </a:ln>
        </p:spPr>
      </p:sp>
      <p:sp>
        <p:nvSpPr>
          <p:cNvPr id="15" name="Text 13"/>
          <p:cNvSpPr txBox="1"/>
          <p:nvPr/>
        </p:nvSpPr>
        <p:spPr>
          <a:xfrm>
            <a:off x="1024128" y="3035808"/>
            <a:ext cx="1554480" cy="292608"/>
          </a:xfrm>
          <a:prstGeom prst="rect">
            <a:avLst/>
          </a:prstGeom>
          <a:noFill/>
          <a:ln/>
        </p:spPr>
        <p:txBody>
          <a:bodyPr wrap="square" lIns="0" tIns="0" rIns="0" bIns="0" rtlCol="0" anchor="ctr"/>
          <a:lstStyle/>
          <a:p>
            <a:pPr indent="0" marL="0">
              <a:buNone/>
            </a:pPr>
            <a:r>
              <a:rPr lang="en-US" sz="1400" b="1" dirty="0">
                <a:solidFill>
                  <a:srgbClr val="16213A"/>
                </a:solidFill>
                <a:latin typeface="Cambria" pitchFamily="34" charset="0"/>
                <a:ea typeface="Cambria" pitchFamily="34" charset="-122"/>
                <a:cs typeface="Cambria" pitchFamily="34" charset="-120"/>
              </a:rPr>
              <a:t>Naturalness</a:t>
            </a:r>
            <a:endParaRPr lang="en-US" sz="1400" dirty="0"/>
          </a:p>
        </p:txBody>
      </p:sp>
      <p:sp>
        <p:nvSpPr>
          <p:cNvPr id="16" name="Text 14"/>
          <p:cNvSpPr txBox="1"/>
          <p:nvPr/>
        </p:nvSpPr>
        <p:spPr>
          <a:xfrm>
            <a:off x="2697480" y="2816352"/>
            <a:ext cx="4663440" cy="77724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Emotion elicited through interaction with a partner, with a director suppressing caricature.</a:t>
            </a:r>
            <a:endParaRPr lang="en-US" sz="1200" dirty="0"/>
          </a:p>
        </p:txBody>
      </p:sp>
      <p:sp>
        <p:nvSpPr>
          <p:cNvPr id="17" name="Text 15"/>
          <p:cNvSpPr txBox="1"/>
          <p:nvPr/>
        </p:nvSpPr>
        <p:spPr>
          <a:xfrm>
            <a:off x="7543800" y="2816352"/>
            <a:ext cx="3886200" cy="777240"/>
          </a:xfrm>
          <a:prstGeom prst="rect">
            <a:avLst/>
          </a:prstGeom>
          <a:noFill/>
          <a:ln/>
        </p:spPr>
        <p:txBody>
          <a:bodyPr wrap="square" lIns="0" tIns="0" rIns="0" bIns="0" rtlCol="0" anchor="ctr"/>
          <a:lstStyle/>
          <a:p>
            <a:pPr indent="0" marL="0">
              <a:buNone/>
            </a:pPr>
            <a:r>
              <a:rPr lang="en-US" sz="1200" i="1" dirty="0">
                <a:solidFill>
                  <a:srgbClr val="7A5040"/>
                </a:solidFill>
                <a:latin typeface="Calibri" pitchFamily="34" charset="0"/>
                <a:ea typeface="Calibri" pitchFamily="34" charset="-122"/>
                <a:cs typeface="Calibri" pitchFamily="34" charset="-120"/>
              </a:rPr>
              <a:t>Well argued but never measured. The planned naturalness study is not in this paper.</a:t>
            </a:r>
            <a:endParaRPr lang="en-US" sz="1200" dirty="0"/>
          </a:p>
        </p:txBody>
      </p:sp>
      <p:sp>
        <p:nvSpPr>
          <p:cNvPr id="18" name="Shape 16"/>
          <p:cNvSpPr/>
          <p:nvPr/>
        </p:nvSpPr>
        <p:spPr>
          <a:xfrm>
            <a:off x="566928" y="3785616"/>
            <a:ext cx="11064240" cy="1060704"/>
          </a:xfrm>
          <a:prstGeom prst="roundRect">
            <a:avLst>
              <a:gd name="adj" fmla="val 3448"/>
            </a:avLst>
          </a:prstGeom>
          <a:solidFill>
            <a:srgbClr val="F2F5F8"/>
          </a:solidFill>
          <a:ln w="12700">
            <a:solidFill>
              <a:srgbClr val="E6EBF0"/>
            </a:solidFill>
            <a:prstDash val="solid"/>
          </a:ln>
        </p:spPr>
      </p:sp>
      <p:sp>
        <p:nvSpPr>
          <p:cNvPr id="19" name="Shape 17"/>
          <p:cNvSpPr/>
          <p:nvPr/>
        </p:nvSpPr>
        <p:spPr>
          <a:xfrm>
            <a:off x="786384" y="4242816"/>
            <a:ext cx="118872" cy="118872"/>
          </a:xfrm>
          <a:prstGeom prst="ellipse">
            <a:avLst/>
          </a:prstGeom>
          <a:solidFill>
            <a:srgbClr val="E4572E"/>
          </a:solidFill>
          <a:ln w="12700">
            <a:solidFill>
              <a:srgbClr val="333333"/>
            </a:solidFill>
            <a:prstDash val="solid"/>
          </a:ln>
        </p:spPr>
      </p:sp>
      <p:sp>
        <p:nvSpPr>
          <p:cNvPr id="20" name="Text 18"/>
          <p:cNvSpPr txBox="1"/>
          <p:nvPr/>
        </p:nvSpPr>
        <p:spPr>
          <a:xfrm>
            <a:off x="1024128" y="4169664"/>
            <a:ext cx="1554480" cy="292608"/>
          </a:xfrm>
          <a:prstGeom prst="rect">
            <a:avLst/>
          </a:prstGeom>
          <a:noFill/>
          <a:ln/>
        </p:spPr>
        <p:txBody>
          <a:bodyPr wrap="square" lIns="0" tIns="0" rIns="0" bIns="0" rtlCol="0" anchor="ctr"/>
          <a:lstStyle/>
          <a:p>
            <a:pPr indent="0" marL="0">
              <a:buNone/>
            </a:pPr>
            <a:r>
              <a:rPr lang="en-US" sz="1400" b="1" dirty="0">
                <a:solidFill>
                  <a:srgbClr val="16213A"/>
                </a:solidFill>
                <a:latin typeface="Cambria" pitchFamily="34" charset="0"/>
                <a:ea typeface="Cambria" pitchFamily="34" charset="-122"/>
                <a:cs typeface="Cambria" pitchFamily="34" charset="-120"/>
              </a:rPr>
              <a:t>Context</a:t>
            </a:r>
            <a:endParaRPr lang="en-US" sz="1400" dirty="0"/>
          </a:p>
        </p:txBody>
      </p:sp>
      <p:sp>
        <p:nvSpPr>
          <p:cNvPr id="21" name="Text 19"/>
          <p:cNvSpPr txBox="1"/>
          <p:nvPr/>
        </p:nvSpPr>
        <p:spPr>
          <a:xfrm>
            <a:off x="2697480" y="3950208"/>
            <a:ext cx="4663440" cy="77724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Five-minute dialogues; raters judged turns in sequence with the preceding discourse visible.</a:t>
            </a:r>
            <a:endParaRPr lang="en-US" sz="1200" dirty="0"/>
          </a:p>
        </p:txBody>
      </p:sp>
      <p:sp>
        <p:nvSpPr>
          <p:cNvPr id="22" name="Text 20"/>
          <p:cNvSpPr txBox="1"/>
          <p:nvPr/>
        </p:nvSpPr>
        <p:spPr>
          <a:xfrm>
            <a:off x="7543800" y="3950208"/>
            <a:ext cx="3886200" cy="777240"/>
          </a:xfrm>
          <a:prstGeom prst="rect">
            <a:avLst/>
          </a:prstGeom>
          <a:noFill/>
          <a:ln/>
        </p:spPr>
        <p:txBody>
          <a:bodyPr wrap="square" lIns="0" tIns="0" rIns="0" bIns="0" rtlCol="0" anchor="ctr"/>
          <a:lstStyle/>
          <a:p>
            <a:pPr indent="0" marL="0">
              <a:buNone/>
            </a:pPr>
            <a:r>
              <a:rPr lang="en-US" sz="1200" i="1" dirty="0">
                <a:solidFill>
                  <a:srgbClr val="7A5040"/>
                </a:solidFill>
                <a:latin typeface="Calibri" pitchFamily="34" charset="0"/>
                <a:ea typeface="Calibri" pitchFamily="34" charset="-122"/>
                <a:cs typeface="Calibri" pitchFamily="34" charset="-120"/>
              </a:rPr>
              <a:t>Fully met, and it is the corpus's strongest claim over its predecessors.</a:t>
            </a:r>
            <a:endParaRPr lang="en-US" sz="1200" dirty="0"/>
          </a:p>
        </p:txBody>
      </p:sp>
      <p:sp>
        <p:nvSpPr>
          <p:cNvPr id="23" name="Shape 21"/>
          <p:cNvSpPr/>
          <p:nvPr/>
        </p:nvSpPr>
        <p:spPr>
          <a:xfrm>
            <a:off x="566928" y="4919472"/>
            <a:ext cx="11064240" cy="1060704"/>
          </a:xfrm>
          <a:prstGeom prst="roundRect">
            <a:avLst>
              <a:gd name="adj" fmla="val 3448"/>
            </a:avLst>
          </a:prstGeom>
          <a:solidFill>
            <a:srgbClr val="FFFFFF"/>
          </a:solidFill>
          <a:ln w="12700">
            <a:solidFill>
              <a:srgbClr val="E6EBF0"/>
            </a:solidFill>
            <a:prstDash val="solid"/>
          </a:ln>
        </p:spPr>
      </p:sp>
      <p:sp>
        <p:nvSpPr>
          <p:cNvPr id="24" name="Shape 22"/>
          <p:cNvSpPr/>
          <p:nvPr/>
        </p:nvSpPr>
        <p:spPr>
          <a:xfrm>
            <a:off x="786384" y="5376672"/>
            <a:ext cx="118872" cy="118872"/>
          </a:xfrm>
          <a:prstGeom prst="ellipse">
            <a:avLst/>
          </a:prstGeom>
          <a:solidFill>
            <a:srgbClr val="E4572E"/>
          </a:solidFill>
          <a:ln w="12700">
            <a:solidFill>
              <a:srgbClr val="333333"/>
            </a:solidFill>
            <a:prstDash val="solid"/>
          </a:ln>
        </p:spPr>
      </p:sp>
      <p:sp>
        <p:nvSpPr>
          <p:cNvPr id="25" name="Text 23"/>
          <p:cNvSpPr txBox="1"/>
          <p:nvPr/>
        </p:nvSpPr>
        <p:spPr>
          <a:xfrm>
            <a:off x="1024128" y="5303520"/>
            <a:ext cx="1554480" cy="292608"/>
          </a:xfrm>
          <a:prstGeom prst="rect">
            <a:avLst/>
          </a:prstGeom>
          <a:noFill/>
          <a:ln/>
        </p:spPr>
        <p:txBody>
          <a:bodyPr wrap="square" lIns="0" tIns="0" rIns="0" bIns="0" rtlCol="0" anchor="ctr"/>
          <a:lstStyle/>
          <a:p>
            <a:pPr indent="0" marL="0">
              <a:buNone/>
            </a:pPr>
            <a:r>
              <a:rPr lang="en-US" sz="1400" b="1" dirty="0">
                <a:solidFill>
                  <a:srgbClr val="16213A"/>
                </a:solidFill>
                <a:latin typeface="Cambria" pitchFamily="34" charset="0"/>
                <a:ea typeface="Cambria" pitchFamily="34" charset="-122"/>
                <a:cs typeface="Cambria" pitchFamily="34" charset="-120"/>
              </a:rPr>
              <a:t>Descriptors</a:t>
            </a:r>
            <a:endParaRPr lang="en-US" sz="1400" dirty="0"/>
          </a:p>
        </p:txBody>
      </p:sp>
      <p:sp>
        <p:nvSpPr>
          <p:cNvPr id="26" name="Text 24"/>
          <p:cNvSpPr txBox="1"/>
          <p:nvPr/>
        </p:nvSpPr>
        <p:spPr>
          <a:xfrm>
            <a:off x="2697480" y="5084064"/>
            <a:ext cx="4663440" cy="777240"/>
          </a:xfrm>
          <a:prstGeom prst="rect">
            <a:avLst/>
          </a:prstGeom>
          <a:noFill/>
          <a:ln/>
        </p:spPr>
        <p:txBody>
          <a:bodyPr wrap="square" lIns="0" tIns="0" rIns="0" bIns="0" rtlCol="0" anchor="ctr"/>
          <a:lstStyle/>
          <a:p>
            <a:pPr indent="0" marL="0">
              <a:buNone/>
            </a:pPr>
            <a:r>
              <a:rPr lang="en-US" sz="1200" dirty="0">
                <a:solidFill>
                  <a:srgbClr val="3C4655"/>
                </a:solidFill>
                <a:latin typeface="Calibri" pitchFamily="34" charset="0"/>
                <a:ea typeface="Calibri" pitchFamily="34" charset="-122"/>
                <a:cs typeface="Calibri" pitchFamily="34" charset="-120"/>
              </a:rPr>
              <a:t>Categorical and dimensional annotation, both from human raters, plus full transcripts.</a:t>
            </a:r>
            <a:endParaRPr lang="en-US" sz="1200" dirty="0"/>
          </a:p>
        </p:txBody>
      </p:sp>
      <p:sp>
        <p:nvSpPr>
          <p:cNvPr id="27" name="Text 25"/>
          <p:cNvSpPr txBox="1"/>
          <p:nvPr/>
        </p:nvSpPr>
        <p:spPr>
          <a:xfrm>
            <a:off x="7543800" y="5084064"/>
            <a:ext cx="3886200" cy="777240"/>
          </a:xfrm>
          <a:prstGeom prst="rect">
            <a:avLst/>
          </a:prstGeom>
          <a:noFill/>
          <a:ln/>
        </p:spPr>
        <p:txBody>
          <a:bodyPr wrap="square" lIns="0" tIns="0" rIns="0" bIns="0" rtlCol="0" anchor="ctr"/>
          <a:lstStyle/>
          <a:p>
            <a:pPr indent="0" marL="0">
              <a:buNone/>
            </a:pPr>
            <a:r>
              <a:rPr lang="en-US" sz="1200" i="1" dirty="0">
                <a:solidFill>
                  <a:srgbClr val="7A5040"/>
                </a:solidFill>
                <a:latin typeface="Calibri" pitchFamily="34" charset="0"/>
                <a:ea typeface="Calibri" pitchFamily="34" charset="-122"/>
                <a:cs typeface="Calibri" pitchFamily="34" charset="-120"/>
              </a:rPr>
              <a:t>Fully met — richer annotation than any comparable corpus of the period.</a:t>
            </a:r>
            <a:endParaRPr lang="en-US" sz="1200" dirty="0"/>
          </a:p>
        </p:txBody>
      </p:sp>
      <p:sp>
        <p:nvSpPr>
          <p:cNvPr id="28" name="Text 26"/>
          <p:cNvSpPr txBox="1"/>
          <p:nvPr/>
        </p:nvSpPr>
        <p:spPr>
          <a:xfrm>
            <a:off x="2697480" y="1243584"/>
            <a:ext cx="4663440" cy="237744"/>
          </a:xfrm>
          <a:prstGeom prst="rect">
            <a:avLst/>
          </a:prstGeom>
          <a:noFill/>
          <a:ln/>
        </p:spPr>
        <p:txBody>
          <a:bodyPr wrap="square" lIns="0" tIns="0" rIns="0" bIns="0" rtlCol="0" anchor="ctr"/>
          <a:lstStyle/>
          <a:p>
            <a:pPr indent="0" marL="0">
              <a:buNone/>
            </a:pPr>
            <a:r>
              <a:rPr lang="en-US" sz="1100" b="1" dirty="0">
                <a:solidFill>
                  <a:srgbClr val="5C6675"/>
                </a:solidFill>
                <a:latin typeface="Calibri" pitchFamily="34" charset="0"/>
                <a:ea typeface="Calibri" pitchFamily="34" charset="-122"/>
                <a:cs typeface="Calibri" pitchFamily="34" charset="-120"/>
              </a:rPr>
              <a:t>Design claim</a:t>
            </a:r>
            <a:endParaRPr lang="en-US" sz="1100" dirty="0"/>
          </a:p>
        </p:txBody>
      </p:sp>
      <p:sp>
        <p:nvSpPr>
          <p:cNvPr id="29" name="Text 27"/>
          <p:cNvSpPr txBox="1"/>
          <p:nvPr/>
        </p:nvSpPr>
        <p:spPr>
          <a:xfrm>
            <a:off x="7543800" y="1243584"/>
            <a:ext cx="3886200" cy="237744"/>
          </a:xfrm>
          <a:prstGeom prst="rect">
            <a:avLst/>
          </a:prstGeom>
          <a:noFill/>
          <a:ln/>
        </p:spPr>
        <p:txBody>
          <a:bodyPr wrap="square" lIns="0" tIns="0" rIns="0" bIns="0" rtlCol="0" anchor="ctr"/>
          <a:lstStyle/>
          <a:p>
            <a:pPr indent="0" marL="0">
              <a:buNone/>
            </a:pPr>
            <a:r>
              <a:rPr lang="en-US" sz="1100" b="1" dirty="0">
                <a:solidFill>
                  <a:srgbClr val="5C6675"/>
                </a:solidFill>
                <a:latin typeface="Calibri" pitchFamily="34" charset="0"/>
                <a:ea typeface="Calibri" pitchFamily="34" charset="-122"/>
                <a:cs typeface="Calibri" pitchFamily="34" charset="-120"/>
              </a:rPr>
              <a:t>Verdict</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Limitations</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Some acknowledged in the paper, some visible only in hindsight</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26</a:t>
            </a:r>
            <a:endParaRPr lang="en-US" sz="900" dirty="0"/>
          </a:p>
        </p:txBody>
      </p:sp>
      <p:sp>
        <p:nvSpPr>
          <p:cNvPr id="8" name="Shape 6"/>
          <p:cNvSpPr/>
          <p:nvPr/>
        </p:nvSpPr>
        <p:spPr>
          <a:xfrm>
            <a:off x="566928" y="1554480"/>
            <a:ext cx="3584448" cy="2048256"/>
          </a:xfrm>
          <a:prstGeom prst="roundRect">
            <a:avLst>
              <a:gd name="adj" fmla="val 2679"/>
            </a:avLst>
          </a:prstGeom>
          <a:solidFill>
            <a:srgbClr val="F2F5F8"/>
          </a:solidFill>
          <a:ln w="12700">
            <a:solidFill>
              <a:srgbClr val="E1E7EE"/>
            </a:solidFill>
            <a:prstDash val="solid"/>
          </a:ln>
        </p:spPr>
      </p:sp>
      <p:sp>
        <p:nvSpPr>
          <p:cNvPr id="9" name="Shape 7"/>
          <p:cNvSpPr/>
          <p:nvPr/>
        </p:nvSpPr>
        <p:spPr>
          <a:xfrm>
            <a:off x="786384" y="1847088"/>
            <a:ext cx="109728" cy="109728"/>
          </a:xfrm>
          <a:prstGeom prst="ellipse">
            <a:avLst/>
          </a:prstGeom>
          <a:solidFill>
            <a:srgbClr val="E4572E"/>
          </a:solidFill>
          <a:ln w="12700">
            <a:solidFill>
              <a:srgbClr val="333333"/>
            </a:solidFill>
            <a:prstDash val="solid"/>
          </a:ln>
        </p:spPr>
      </p:sp>
      <p:sp>
        <p:nvSpPr>
          <p:cNvPr id="10" name="Text 8"/>
          <p:cNvSpPr txBox="1"/>
          <p:nvPr/>
        </p:nvSpPr>
        <p:spPr>
          <a:xfrm>
            <a:off x="987552" y="1719072"/>
            <a:ext cx="2944368" cy="365760"/>
          </a:xfrm>
          <a:prstGeom prst="rect">
            <a:avLst/>
          </a:prstGeom>
          <a:noFill/>
          <a:ln/>
        </p:spPr>
        <p:txBody>
          <a:bodyPr wrap="square" lIns="0" tIns="0" rIns="0" bIns="0" rtlCol="0" anchor="ctr"/>
          <a:lstStyle/>
          <a:p>
            <a:pPr indent="0" marL="0">
              <a:buNone/>
            </a:pPr>
            <a:r>
              <a:rPr lang="en-US" sz="1450" b="1" dirty="0">
                <a:solidFill>
                  <a:srgbClr val="16213A"/>
                </a:solidFill>
                <a:latin typeface="Cambria" pitchFamily="34" charset="0"/>
                <a:ea typeface="Cambria" pitchFamily="34" charset="-122"/>
                <a:cs typeface="Cambria" pitchFamily="34" charset="-120"/>
              </a:rPr>
              <a:t>Ten speakers, one culture</a:t>
            </a:r>
            <a:endParaRPr lang="en-US" sz="1450" dirty="0"/>
          </a:p>
        </p:txBody>
      </p:sp>
      <p:sp>
        <p:nvSpPr>
          <p:cNvPr id="11" name="Text 9"/>
          <p:cNvSpPr txBox="1"/>
          <p:nvPr/>
        </p:nvSpPr>
        <p:spPr>
          <a:xfrm>
            <a:off x="822960" y="2157984"/>
            <a:ext cx="3072384" cy="1261872"/>
          </a:xfrm>
          <a:prstGeom prst="rect">
            <a:avLst/>
          </a:prstGeom>
          <a:noFill/>
          <a:ln/>
        </p:spPr>
        <p:txBody>
          <a:bodyPr wrap="square" lIns="0" tIns="0" rIns="0" bIns="0" rtlCol="0" anchor="t"/>
          <a:lstStyle/>
          <a:p>
            <a:pPr indent="0" marL="0">
              <a:lnSpc>
                <a:spcPct val="108000"/>
              </a:lnSpc>
              <a:buNone/>
            </a:pPr>
            <a:r>
              <a:rPr lang="en-US" sz="1220" dirty="0">
                <a:solidFill>
                  <a:srgbClr val="3C4655"/>
                </a:solidFill>
                <a:latin typeface="Calibri" pitchFamily="34" charset="0"/>
                <a:ea typeface="Calibri" pitchFamily="34" charset="-122"/>
                <a:cs typeface="Calibri" pitchFamily="34" charset="-120"/>
              </a:rPr>
              <a:t>All actors were English-speaking, recruited from one university drama department. Whatever a model learns about anger, it learns from ten Californians.</a:t>
            </a:r>
            <a:endParaRPr lang="en-US" sz="1220" dirty="0"/>
          </a:p>
        </p:txBody>
      </p:sp>
      <p:sp>
        <p:nvSpPr>
          <p:cNvPr id="12" name="Shape 10"/>
          <p:cNvSpPr/>
          <p:nvPr/>
        </p:nvSpPr>
        <p:spPr>
          <a:xfrm>
            <a:off x="4279392" y="1554480"/>
            <a:ext cx="3584448" cy="2048256"/>
          </a:xfrm>
          <a:prstGeom prst="roundRect">
            <a:avLst>
              <a:gd name="adj" fmla="val 2679"/>
            </a:avLst>
          </a:prstGeom>
          <a:solidFill>
            <a:srgbClr val="F2F5F8"/>
          </a:solidFill>
          <a:ln w="12700">
            <a:solidFill>
              <a:srgbClr val="E1E7EE"/>
            </a:solidFill>
            <a:prstDash val="solid"/>
          </a:ln>
        </p:spPr>
      </p:sp>
      <p:sp>
        <p:nvSpPr>
          <p:cNvPr id="13" name="Shape 11"/>
          <p:cNvSpPr/>
          <p:nvPr/>
        </p:nvSpPr>
        <p:spPr>
          <a:xfrm>
            <a:off x="4498848" y="1847088"/>
            <a:ext cx="109728" cy="109728"/>
          </a:xfrm>
          <a:prstGeom prst="ellipse">
            <a:avLst/>
          </a:prstGeom>
          <a:solidFill>
            <a:srgbClr val="E4572E"/>
          </a:solidFill>
          <a:ln w="12700">
            <a:solidFill>
              <a:srgbClr val="333333"/>
            </a:solidFill>
            <a:prstDash val="solid"/>
          </a:ln>
        </p:spPr>
      </p:sp>
      <p:sp>
        <p:nvSpPr>
          <p:cNvPr id="14" name="Text 12"/>
          <p:cNvSpPr txBox="1"/>
          <p:nvPr/>
        </p:nvSpPr>
        <p:spPr>
          <a:xfrm>
            <a:off x="4700016" y="1719072"/>
            <a:ext cx="2944368" cy="365760"/>
          </a:xfrm>
          <a:prstGeom prst="rect">
            <a:avLst/>
          </a:prstGeom>
          <a:noFill/>
          <a:ln/>
        </p:spPr>
        <p:txBody>
          <a:bodyPr wrap="square" lIns="0" tIns="0" rIns="0" bIns="0" rtlCol="0" anchor="ctr"/>
          <a:lstStyle/>
          <a:p>
            <a:pPr indent="0" marL="0">
              <a:buNone/>
            </a:pPr>
            <a:r>
              <a:rPr lang="en-US" sz="1450" b="1" dirty="0">
                <a:solidFill>
                  <a:srgbClr val="16213A"/>
                </a:solidFill>
                <a:latin typeface="Cambria" pitchFamily="34" charset="0"/>
                <a:ea typeface="Cambria" pitchFamily="34" charset="-122"/>
                <a:cs typeface="Cambria" pitchFamily="34" charset="-120"/>
              </a:rPr>
              <a:t>Still acted</a:t>
            </a:r>
            <a:endParaRPr lang="en-US" sz="1450" dirty="0"/>
          </a:p>
        </p:txBody>
      </p:sp>
      <p:sp>
        <p:nvSpPr>
          <p:cNvPr id="15" name="Text 13"/>
          <p:cNvSpPr txBox="1"/>
          <p:nvPr/>
        </p:nvSpPr>
        <p:spPr>
          <a:xfrm>
            <a:off x="4535424" y="2157984"/>
            <a:ext cx="3072384" cy="1261872"/>
          </a:xfrm>
          <a:prstGeom prst="rect">
            <a:avLst/>
          </a:prstGeom>
          <a:noFill/>
          <a:ln/>
        </p:spPr>
        <p:txBody>
          <a:bodyPr wrap="square" lIns="0" tIns="0" rIns="0" bIns="0" rtlCol="0" anchor="t"/>
          <a:lstStyle/>
          <a:p>
            <a:pPr indent="0" marL="0">
              <a:lnSpc>
                <a:spcPct val="108000"/>
              </a:lnSpc>
              <a:buNone/>
            </a:pPr>
            <a:r>
              <a:rPr lang="en-US" sz="1220" dirty="0">
                <a:solidFill>
                  <a:srgbClr val="3C4655"/>
                </a:solidFill>
                <a:latin typeface="Calibri" pitchFamily="34" charset="0"/>
                <a:ea typeface="Calibri" pitchFamily="34" charset="-122"/>
                <a:cs typeface="Calibri" pitchFamily="34" charset="-120"/>
              </a:rPr>
              <a:t>Semi-natural by the authors' own classification. Portrayal under direction is not felt emotion, however good the elicitation.</a:t>
            </a:r>
            <a:endParaRPr lang="en-US" sz="1220" dirty="0"/>
          </a:p>
        </p:txBody>
      </p:sp>
      <p:sp>
        <p:nvSpPr>
          <p:cNvPr id="16" name="Shape 14"/>
          <p:cNvSpPr/>
          <p:nvPr/>
        </p:nvSpPr>
        <p:spPr>
          <a:xfrm>
            <a:off x="7991856" y="1554480"/>
            <a:ext cx="3584448" cy="2048256"/>
          </a:xfrm>
          <a:prstGeom prst="roundRect">
            <a:avLst>
              <a:gd name="adj" fmla="val 2679"/>
            </a:avLst>
          </a:prstGeom>
          <a:solidFill>
            <a:srgbClr val="F2F5F8"/>
          </a:solidFill>
          <a:ln w="12700">
            <a:solidFill>
              <a:srgbClr val="E1E7EE"/>
            </a:solidFill>
            <a:prstDash val="solid"/>
          </a:ln>
        </p:spPr>
      </p:sp>
      <p:sp>
        <p:nvSpPr>
          <p:cNvPr id="17" name="Shape 15"/>
          <p:cNvSpPr/>
          <p:nvPr/>
        </p:nvSpPr>
        <p:spPr>
          <a:xfrm>
            <a:off x="8211312" y="1847088"/>
            <a:ext cx="109728" cy="109728"/>
          </a:xfrm>
          <a:prstGeom prst="ellipse">
            <a:avLst/>
          </a:prstGeom>
          <a:solidFill>
            <a:srgbClr val="E4572E"/>
          </a:solidFill>
          <a:ln w="12700">
            <a:solidFill>
              <a:srgbClr val="333333"/>
            </a:solidFill>
            <a:prstDash val="solid"/>
          </a:ln>
        </p:spPr>
      </p:sp>
      <p:sp>
        <p:nvSpPr>
          <p:cNvPr id="18" name="Text 16"/>
          <p:cNvSpPr txBox="1"/>
          <p:nvPr/>
        </p:nvSpPr>
        <p:spPr>
          <a:xfrm>
            <a:off x="8412480" y="1719072"/>
            <a:ext cx="2944368" cy="365760"/>
          </a:xfrm>
          <a:prstGeom prst="rect">
            <a:avLst/>
          </a:prstGeom>
          <a:noFill/>
          <a:ln/>
        </p:spPr>
        <p:txBody>
          <a:bodyPr wrap="square" lIns="0" tIns="0" rIns="0" bIns="0" rtlCol="0" anchor="ctr"/>
          <a:lstStyle/>
          <a:p>
            <a:pPr indent="0" marL="0">
              <a:buNone/>
            </a:pPr>
            <a:r>
              <a:rPr lang="en-US" sz="1450" b="1" dirty="0">
                <a:solidFill>
                  <a:srgbClr val="16213A"/>
                </a:solidFill>
                <a:latin typeface="Cambria" pitchFamily="34" charset="0"/>
                <a:ea typeface="Cambria" pitchFamily="34" charset="-122"/>
                <a:cs typeface="Cambria" pitchFamily="34" charset="-120"/>
              </a:rPr>
              <a:t>The rig constrains behaviour</a:t>
            </a:r>
            <a:endParaRPr lang="en-US" sz="1450" dirty="0"/>
          </a:p>
        </p:txBody>
      </p:sp>
      <p:sp>
        <p:nvSpPr>
          <p:cNvPr id="19" name="Text 17"/>
          <p:cNvSpPr txBox="1"/>
          <p:nvPr/>
        </p:nvSpPr>
        <p:spPr>
          <a:xfrm>
            <a:off x="8247888" y="2157984"/>
            <a:ext cx="3072384" cy="1261872"/>
          </a:xfrm>
          <a:prstGeom prst="rect">
            <a:avLst/>
          </a:prstGeom>
          <a:noFill/>
          <a:ln/>
        </p:spPr>
        <p:txBody>
          <a:bodyPr wrap="square" lIns="0" tIns="0" rIns="0" bIns="0" rtlCol="0" anchor="t"/>
          <a:lstStyle/>
          <a:p>
            <a:pPr indent="0" marL="0">
              <a:lnSpc>
                <a:spcPct val="108000"/>
              </a:lnSpc>
              <a:buNone/>
            </a:pPr>
            <a:r>
              <a:rPr lang="en-US" sz="1220" dirty="0">
                <a:solidFill>
                  <a:srgbClr val="3C4655"/>
                </a:solidFill>
                <a:latin typeface="Calibri" pitchFamily="34" charset="0"/>
                <a:ea typeface="Calibri" pitchFamily="34" charset="-122"/>
                <a:cs typeface="Calibri" pitchFamily="34" charset="-120"/>
              </a:rPr>
              <a:t>Subjects were seated, told to keep hands clear of the face, and kept inside the capture volume. Natural gesture is bounded by the equipment.</a:t>
            </a:r>
            <a:endParaRPr lang="en-US" sz="1220" dirty="0"/>
          </a:p>
        </p:txBody>
      </p:sp>
      <p:sp>
        <p:nvSpPr>
          <p:cNvPr id="20" name="Shape 18"/>
          <p:cNvSpPr/>
          <p:nvPr/>
        </p:nvSpPr>
        <p:spPr>
          <a:xfrm>
            <a:off x="566928" y="3767328"/>
            <a:ext cx="3584448" cy="2048256"/>
          </a:xfrm>
          <a:prstGeom prst="roundRect">
            <a:avLst>
              <a:gd name="adj" fmla="val 2679"/>
            </a:avLst>
          </a:prstGeom>
          <a:solidFill>
            <a:srgbClr val="F2F5F8"/>
          </a:solidFill>
          <a:ln w="12700">
            <a:solidFill>
              <a:srgbClr val="E1E7EE"/>
            </a:solidFill>
            <a:prstDash val="solid"/>
          </a:ln>
        </p:spPr>
      </p:sp>
      <p:sp>
        <p:nvSpPr>
          <p:cNvPr id="21" name="Shape 19"/>
          <p:cNvSpPr/>
          <p:nvPr/>
        </p:nvSpPr>
        <p:spPr>
          <a:xfrm>
            <a:off x="786384" y="4059936"/>
            <a:ext cx="109728" cy="109728"/>
          </a:xfrm>
          <a:prstGeom prst="ellipse">
            <a:avLst/>
          </a:prstGeom>
          <a:solidFill>
            <a:srgbClr val="E4572E"/>
          </a:solidFill>
          <a:ln w="12700">
            <a:solidFill>
              <a:srgbClr val="333333"/>
            </a:solidFill>
            <a:prstDash val="solid"/>
          </a:ln>
        </p:spPr>
      </p:sp>
      <p:sp>
        <p:nvSpPr>
          <p:cNvPr id="22" name="Text 20"/>
          <p:cNvSpPr txBox="1"/>
          <p:nvPr/>
        </p:nvSpPr>
        <p:spPr>
          <a:xfrm>
            <a:off x="987552" y="3931920"/>
            <a:ext cx="2944368" cy="365760"/>
          </a:xfrm>
          <a:prstGeom prst="rect">
            <a:avLst/>
          </a:prstGeom>
          <a:noFill/>
          <a:ln/>
        </p:spPr>
        <p:txBody>
          <a:bodyPr wrap="square" lIns="0" tIns="0" rIns="0" bIns="0" rtlCol="0" anchor="ctr"/>
          <a:lstStyle/>
          <a:p>
            <a:pPr indent="0" marL="0">
              <a:buNone/>
            </a:pPr>
            <a:r>
              <a:rPr lang="en-US" sz="1450" b="1" dirty="0">
                <a:solidFill>
                  <a:srgbClr val="16213A"/>
                </a:solidFill>
                <a:latin typeface="Cambria" pitchFamily="34" charset="0"/>
                <a:ea typeface="Cambria" pitchFamily="34" charset="-122"/>
                <a:cs typeface="Cambria" pitchFamily="34" charset="-120"/>
              </a:rPr>
              <a:t>Two classes are unusable</a:t>
            </a:r>
            <a:endParaRPr lang="en-US" sz="1450" dirty="0"/>
          </a:p>
        </p:txBody>
      </p:sp>
      <p:sp>
        <p:nvSpPr>
          <p:cNvPr id="23" name="Text 21"/>
          <p:cNvSpPr txBox="1"/>
          <p:nvPr/>
        </p:nvSpPr>
        <p:spPr>
          <a:xfrm>
            <a:off x="822960" y="4370832"/>
            <a:ext cx="3072384" cy="1261872"/>
          </a:xfrm>
          <a:prstGeom prst="rect">
            <a:avLst/>
          </a:prstGeom>
          <a:noFill/>
          <a:ln/>
        </p:spPr>
        <p:txBody>
          <a:bodyPr wrap="square" lIns="0" tIns="0" rIns="0" bIns="0" rtlCol="0" anchor="t"/>
          <a:lstStyle/>
          <a:p>
            <a:pPr indent="0" marL="0">
              <a:lnSpc>
                <a:spcPct val="108000"/>
              </a:lnSpc>
              <a:buNone/>
            </a:pPr>
            <a:r>
              <a:rPr lang="en-US" sz="1220" dirty="0">
                <a:solidFill>
                  <a:srgbClr val="3C4655"/>
                </a:solidFill>
                <a:latin typeface="Calibri" pitchFamily="34" charset="0"/>
                <a:ea typeface="Calibri" pitchFamily="34" charset="-122"/>
                <a:cs typeface="Calibri" pitchFamily="34" charset="-120"/>
              </a:rPr>
              <a:t>Fear and disgust each account for under one percent. The corpus cannot support the six-way basic-emotion task at all.</a:t>
            </a:r>
            <a:endParaRPr lang="en-US" sz="1220" dirty="0"/>
          </a:p>
        </p:txBody>
      </p:sp>
      <p:sp>
        <p:nvSpPr>
          <p:cNvPr id="24" name="Shape 22"/>
          <p:cNvSpPr/>
          <p:nvPr/>
        </p:nvSpPr>
        <p:spPr>
          <a:xfrm>
            <a:off x="4279392" y="3767328"/>
            <a:ext cx="3584448" cy="2048256"/>
          </a:xfrm>
          <a:prstGeom prst="roundRect">
            <a:avLst>
              <a:gd name="adj" fmla="val 2679"/>
            </a:avLst>
          </a:prstGeom>
          <a:solidFill>
            <a:srgbClr val="F2F5F8"/>
          </a:solidFill>
          <a:ln w="12700">
            <a:solidFill>
              <a:srgbClr val="E1E7EE"/>
            </a:solidFill>
            <a:prstDash val="solid"/>
          </a:ln>
        </p:spPr>
      </p:sp>
      <p:sp>
        <p:nvSpPr>
          <p:cNvPr id="25" name="Shape 23"/>
          <p:cNvSpPr/>
          <p:nvPr/>
        </p:nvSpPr>
        <p:spPr>
          <a:xfrm>
            <a:off x="4498848" y="4059936"/>
            <a:ext cx="109728" cy="109728"/>
          </a:xfrm>
          <a:prstGeom prst="ellipse">
            <a:avLst/>
          </a:prstGeom>
          <a:solidFill>
            <a:srgbClr val="E4572E"/>
          </a:solidFill>
          <a:ln w="12700">
            <a:solidFill>
              <a:srgbClr val="333333"/>
            </a:solidFill>
            <a:prstDash val="solid"/>
          </a:ln>
        </p:spPr>
      </p:sp>
      <p:sp>
        <p:nvSpPr>
          <p:cNvPr id="26" name="Text 24"/>
          <p:cNvSpPr txBox="1"/>
          <p:nvPr/>
        </p:nvSpPr>
        <p:spPr>
          <a:xfrm>
            <a:off x="4700016" y="3931920"/>
            <a:ext cx="2944368" cy="365760"/>
          </a:xfrm>
          <a:prstGeom prst="rect">
            <a:avLst/>
          </a:prstGeom>
          <a:noFill/>
          <a:ln/>
        </p:spPr>
        <p:txBody>
          <a:bodyPr wrap="square" lIns="0" tIns="0" rIns="0" bIns="0" rtlCol="0" anchor="ctr"/>
          <a:lstStyle/>
          <a:p>
            <a:pPr indent="0" marL="0">
              <a:buNone/>
            </a:pPr>
            <a:r>
              <a:rPr lang="en-US" sz="1450" b="1" dirty="0">
                <a:solidFill>
                  <a:srgbClr val="16213A"/>
                </a:solidFill>
                <a:latin typeface="Cambria" pitchFamily="34" charset="0"/>
                <a:ea typeface="Cambria" pitchFamily="34" charset="-122"/>
                <a:cs typeface="Cambria" pitchFamily="34" charset="-120"/>
              </a:rPr>
              <a:t>A quarter has no label</a:t>
            </a:r>
            <a:endParaRPr lang="en-US" sz="1450" dirty="0"/>
          </a:p>
        </p:txBody>
      </p:sp>
      <p:sp>
        <p:nvSpPr>
          <p:cNvPr id="27" name="Text 25"/>
          <p:cNvSpPr txBox="1"/>
          <p:nvPr/>
        </p:nvSpPr>
        <p:spPr>
          <a:xfrm>
            <a:off x="4535424" y="4370832"/>
            <a:ext cx="3072384" cy="1261872"/>
          </a:xfrm>
          <a:prstGeom prst="rect">
            <a:avLst/>
          </a:prstGeom>
          <a:noFill/>
          <a:ln/>
        </p:spPr>
        <p:txBody>
          <a:bodyPr wrap="square" lIns="0" tIns="0" rIns="0" bIns="0" rtlCol="0" anchor="t"/>
          <a:lstStyle/>
          <a:p>
            <a:pPr indent="0" marL="0">
              <a:lnSpc>
                <a:spcPct val="108000"/>
              </a:lnSpc>
              <a:buNone/>
            </a:pPr>
            <a:r>
              <a:rPr lang="en-US" sz="1220" dirty="0">
                <a:solidFill>
                  <a:srgbClr val="3C4655"/>
                </a:solidFill>
                <a:latin typeface="Calibri" pitchFamily="34" charset="0"/>
                <a:ea typeface="Calibri" pitchFamily="34" charset="-122"/>
                <a:cs typeface="Calibri" pitchFamily="34" charset="-120"/>
              </a:rPr>
              <a:t>Turns without a unique majority vote are usually discarded, silently removing the hardest and most ambiguous cases from every evaluation.</a:t>
            </a:r>
            <a:endParaRPr lang="en-US" sz="1220" dirty="0"/>
          </a:p>
        </p:txBody>
      </p:sp>
      <p:sp>
        <p:nvSpPr>
          <p:cNvPr id="28" name="Shape 26"/>
          <p:cNvSpPr/>
          <p:nvPr/>
        </p:nvSpPr>
        <p:spPr>
          <a:xfrm>
            <a:off x="7991856" y="3767328"/>
            <a:ext cx="3584448" cy="2048256"/>
          </a:xfrm>
          <a:prstGeom prst="roundRect">
            <a:avLst>
              <a:gd name="adj" fmla="val 2679"/>
            </a:avLst>
          </a:prstGeom>
          <a:solidFill>
            <a:srgbClr val="F2F5F8"/>
          </a:solidFill>
          <a:ln w="12700">
            <a:solidFill>
              <a:srgbClr val="E1E7EE"/>
            </a:solidFill>
            <a:prstDash val="solid"/>
          </a:ln>
        </p:spPr>
      </p:sp>
      <p:sp>
        <p:nvSpPr>
          <p:cNvPr id="29" name="Shape 27"/>
          <p:cNvSpPr/>
          <p:nvPr/>
        </p:nvSpPr>
        <p:spPr>
          <a:xfrm>
            <a:off x="8211312" y="4059936"/>
            <a:ext cx="109728" cy="109728"/>
          </a:xfrm>
          <a:prstGeom prst="ellipse">
            <a:avLst/>
          </a:prstGeom>
          <a:solidFill>
            <a:srgbClr val="E4572E"/>
          </a:solidFill>
          <a:ln w="12700">
            <a:solidFill>
              <a:srgbClr val="333333"/>
            </a:solidFill>
            <a:prstDash val="solid"/>
          </a:ln>
        </p:spPr>
      </p:sp>
      <p:sp>
        <p:nvSpPr>
          <p:cNvPr id="30" name="Text 28"/>
          <p:cNvSpPr txBox="1"/>
          <p:nvPr/>
        </p:nvSpPr>
        <p:spPr>
          <a:xfrm>
            <a:off x="8412480" y="3931920"/>
            <a:ext cx="2944368" cy="365760"/>
          </a:xfrm>
          <a:prstGeom prst="rect">
            <a:avLst/>
          </a:prstGeom>
          <a:noFill/>
          <a:ln/>
        </p:spPr>
        <p:txBody>
          <a:bodyPr wrap="square" lIns="0" tIns="0" rIns="0" bIns="0" rtlCol="0" anchor="ctr"/>
          <a:lstStyle/>
          <a:p>
            <a:pPr indent="0" marL="0">
              <a:buNone/>
            </a:pPr>
            <a:r>
              <a:rPr lang="en-US" sz="1450" b="1" dirty="0">
                <a:solidFill>
                  <a:srgbClr val="16213A"/>
                </a:solidFill>
                <a:latin typeface="Cambria" pitchFamily="34" charset="0"/>
                <a:ea typeface="Cambria" pitchFamily="34" charset="-122"/>
                <a:cs typeface="Cambria" pitchFamily="34" charset="-120"/>
              </a:rPr>
              <a:t>No official splits</a:t>
            </a:r>
            <a:endParaRPr lang="en-US" sz="1450" dirty="0"/>
          </a:p>
        </p:txBody>
      </p:sp>
      <p:sp>
        <p:nvSpPr>
          <p:cNvPr id="31" name="Text 29"/>
          <p:cNvSpPr txBox="1"/>
          <p:nvPr/>
        </p:nvSpPr>
        <p:spPr>
          <a:xfrm>
            <a:off x="8247888" y="4370832"/>
            <a:ext cx="3072384" cy="1261872"/>
          </a:xfrm>
          <a:prstGeom prst="rect">
            <a:avLst/>
          </a:prstGeom>
          <a:noFill/>
          <a:ln/>
        </p:spPr>
        <p:txBody>
          <a:bodyPr wrap="square" lIns="0" tIns="0" rIns="0" bIns="0" rtlCol="0" anchor="t"/>
          <a:lstStyle/>
          <a:p>
            <a:pPr indent="0" marL="0">
              <a:lnSpc>
                <a:spcPct val="108000"/>
              </a:lnSpc>
              <a:buNone/>
            </a:pPr>
            <a:r>
              <a:rPr lang="en-US" sz="1220" dirty="0">
                <a:solidFill>
                  <a:srgbClr val="3C4655"/>
                </a:solidFill>
                <a:latin typeface="Calibri" pitchFamily="34" charset="0"/>
                <a:ea typeface="Calibri" pitchFamily="34" charset="-122"/>
                <a:cs typeface="Calibri" pitchFamily="34" charset="-120"/>
              </a:rPr>
              <a:t>The paper defines no train, validation or test partition. Every group invents its own, and results are not comparable across papers.</a:t>
            </a:r>
            <a:endParaRPr lang="en-US" sz="12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10607040" y="5120640"/>
            <a:ext cx="118872" cy="118872"/>
          </a:xfrm>
          <a:prstGeom prst="ellipse">
            <a:avLst/>
          </a:prstGeom>
          <a:solidFill>
            <a:srgbClr val="E4572E"/>
          </a:solidFill>
          <a:ln w="12700">
            <a:solidFill>
              <a:srgbClr val="E4572E"/>
            </a:solidFill>
            <a:prstDash val="solid"/>
          </a:ln>
        </p:spPr>
      </p:sp>
      <p:sp>
        <p:nvSpPr>
          <p:cNvPr id="3" name="Shape 1"/>
          <p:cNvSpPr/>
          <p:nvPr/>
        </p:nvSpPr>
        <p:spPr>
          <a:xfrm>
            <a:off x="10917936" y="5239512"/>
            <a:ext cx="118872" cy="118872"/>
          </a:xfrm>
          <a:prstGeom prst="ellipse">
            <a:avLst/>
          </a:prstGeom>
          <a:solidFill>
            <a:srgbClr val="E4572E"/>
          </a:solidFill>
          <a:ln w="12700">
            <a:solidFill>
              <a:srgbClr val="E4572E"/>
            </a:solidFill>
            <a:prstDash val="solid"/>
          </a:ln>
        </p:spPr>
      </p:sp>
      <p:sp>
        <p:nvSpPr>
          <p:cNvPr id="4" name="Shape 2"/>
          <p:cNvSpPr/>
          <p:nvPr/>
        </p:nvSpPr>
        <p:spPr>
          <a:xfrm>
            <a:off x="10735056" y="5486400"/>
            <a:ext cx="118872" cy="118872"/>
          </a:xfrm>
          <a:prstGeom prst="ellipse">
            <a:avLst/>
          </a:prstGeom>
          <a:solidFill>
            <a:srgbClr val="E4572E"/>
          </a:solidFill>
          <a:ln w="12700">
            <a:solidFill>
              <a:srgbClr val="E4572E"/>
            </a:solidFill>
            <a:prstDash val="solid"/>
          </a:ln>
        </p:spPr>
      </p:sp>
      <p:sp>
        <p:nvSpPr>
          <p:cNvPr id="5" name="Shape 3"/>
          <p:cNvSpPr/>
          <p:nvPr/>
        </p:nvSpPr>
        <p:spPr>
          <a:xfrm>
            <a:off x="11064240" y="5522976"/>
            <a:ext cx="118872" cy="118872"/>
          </a:xfrm>
          <a:prstGeom prst="ellipse">
            <a:avLst/>
          </a:prstGeom>
          <a:solidFill>
            <a:srgbClr val="E4572E"/>
          </a:solidFill>
          <a:ln w="12700">
            <a:solidFill>
              <a:srgbClr val="E4572E"/>
            </a:solidFill>
            <a:prstDash val="solid"/>
          </a:ln>
        </p:spPr>
      </p:sp>
      <p:sp>
        <p:nvSpPr>
          <p:cNvPr id="6" name="Shape 4"/>
          <p:cNvSpPr/>
          <p:nvPr/>
        </p:nvSpPr>
        <p:spPr>
          <a:xfrm>
            <a:off x="11173968" y="5212080"/>
            <a:ext cx="118872" cy="118872"/>
          </a:xfrm>
          <a:prstGeom prst="ellipse">
            <a:avLst/>
          </a:prstGeom>
          <a:solidFill>
            <a:srgbClr val="E4572E"/>
          </a:solidFill>
          <a:ln w="12700">
            <a:solidFill>
              <a:srgbClr val="E4572E"/>
            </a:solidFill>
            <a:prstDash val="solid"/>
          </a:ln>
        </p:spPr>
      </p:sp>
      <p:sp>
        <p:nvSpPr>
          <p:cNvPr id="7" name="Text 5"/>
          <p:cNvSpPr txBox="1"/>
          <p:nvPr/>
        </p:nvSpPr>
        <p:spPr>
          <a:xfrm>
            <a:off x="822960" y="2057400"/>
            <a:ext cx="1463040" cy="1005840"/>
          </a:xfrm>
          <a:prstGeom prst="rect">
            <a:avLst/>
          </a:prstGeom>
          <a:noFill/>
          <a:ln/>
        </p:spPr>
        <p:txBody>
          <a:bodyPr wrap="square" lIns="0" tIns="0" rIns="0" bIns="0" rtlCol="0" anchor="ctr"/>
          <a:lstStyle/>
          <a:p>
            <a:pPr indent="0" marL="0">
              <a:buNone/>
            </a:pPr>
            <a:r>
              <a:rPr lang="en-US" sz="6800" b="1" dirty="0">
                <a:solidFill>
                  <a:srgbClr val="E4572E"/>
                </a:solidFill>
                <a:latin typeface="Cambria" pitchFamily="34" charset="0"/>
                <a:ea typeface="Cambria" pitchFamily="34" charset="-122"/>
                <a:cs typeface="Cambria" pitchFamily="34" charset="-120"/>
              </a:rPr>
              <a:t>6</a:t>
            </a:r>
            <a:endParaRPr lang="en-US" sz="6800" dirty="0"/>
          </a:p>
        </p:txBody>
      </p:sp>
      <p:sp>
        <p:nvSpPr>
          <p:cNvPr id="8" name="Text 6"/>
          <p:cNvSpPr txBox="1"/>
          <p:nvPr/>
        </p:nvSpPr>
        <p:spPr>
          <a:xfrm>
            <a:off x="2286000" y="2212848"/>
            <a:ext cx="87782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Legacy and modern use</a:t>
            </a:r>
            <a:endParaRPr lang="en-US" sz="3400" dirty="0"/>
          </a:p>
        </p:txBody>
      </p:sp>
      <p:sp>
        <p:nvSpPr>
          <p:cNvPr id="9" name="Text 7"/>
          <p:cNvSpPr txBox="1"/>
          <p:nvPr/>
        </p:nvSpPr>
        <p:spPr>
          <a:xfrm>
            <a:off x="2340864" y="3072384"/>
            <a:ext cx="8595360" cy="731520"/>
          </a:xfrm>
          <a:prstGeom prst="rect">
            <a:avLst/>
          </a:prstGeom>
          <a:noFill/>
          <a:ln/>
        </p:spPr>
        <p:txBody>
          <a:bodyPr wrap="square" lIns="0" tIns="0" rIns="0" bIns="0" rtlCol="0" anchor="ctr"/>
          <a:lstStyle/>
          <a:p>
            <a:pPr indent="0" marL="0">
              <a:buNone/>
            </a:pPr>
            <a:r>
              <a:rPr lang="en-US" sz="1500" dirty="0">
                <a:solidFill>
                  <a:srgbClr val="C9D6E3"/>
                </a:solidFill>
                <a:latin typeface="Calibri" pitchFamily="34" charset="0"/>
                <a:ea typeface="Calibri" pitchFamily="34" charset="-122"/>
                <a:cs typeface="Calibri" pitchFamily="34" charset="-120"/>
              </a:rPr>
              <a:t>How the field actually uses IEMOCAP — and what to watch for</a:t>
            </a:r>
            <a:endParaRPr lang="en-US" sz="1500" dirty="0"/>
          </a:p>
        </p:txBody>
      </p:sp>
      <p:sp>
        <p:nvSpPr>
          <p:cNvPr id="10" name="Text 8"/>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What the field actually reports on</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A community convention built on top of the released corpus</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28</a:t>
            </a:r>
            <a:endParaRPr lang="en-US" sz="900" dirty="0"/>
          </a:p>
        </p:txBody>
      </p:sp>
      <p:sp>
        <p:nvSpPr>
          <p:cNvPr id="8" name="Shape 6"/>
          <p:cNvSpPr/>
          <p:nvPr/>
        </p:nvSpPr>
        <p:spPr>
          <a:xfrm>
            <a:off x="566928" y="1572768"/>
            <a:ext cx="2697480" cy="2377440"/>
          </a:xfrm>
          <a:prstGeom prst="roundRect">
            <a:avLst>
              <a:gd name="adj" fmla="val 2308"/>
            </a:avLst>
          </a:prstGeom>
          <a:solidFill>
            <a:srgbClr val="F2F5F8"/>
          </a:solidFill>
          <a:ln w="12700">
            <a:solidFill>
              <a:srgbClr val="E1E7EE"/>
            </a:solidFill>
            <a:prstDash val="solid"/>
          </a:ln>
        </p:spPr>
      </p:sp>
      <p:sp>
        <p:nvSpPr>
          <p:cNvPr id="9" name="Shape 7"/>
          <p:cNvSpPr/>
          <p:nvPr/>
        </p:nvSpPr>
        <p:spPr>
          <a:xfrm>
            <a:off x="804672" y="1810512"/>
            <a:ext cx="420624" cy="420624"/>
          </a:xfrm>
          <a:prstGeom prst="ellipse">
            <a:avLst/>
          </a:prstGeom>
          <a:solidFill>
            <a:srgbClr val="1B2A4A"/>
          </a:solidFill>
          <a:ln w="12700">
            <a:solidFill>
              <a:srgbClr val="333333"/>
            </a:solidFill>
            <a:prstDash val="solid"/>
          </a:ln>
        </p:spPr>
      </p:sp>
      <p:sp>
        <p:nvSpPr>
          <p:cNvPr id="10" name="Text 8"/>
          <p:cNvSpPr txBox="1"/>
          <p:nvPr/>
        </p:nvSpPr>
        <p:spPr>
          <a:xfrm>
            <a:off x="804672" y="1847088"/>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1" name="Text 9"/>
          <p:cNvSpPr txBox="1"/>
          <p:nvPr/>
        </p:nvSpPr>
        <p:spPr>
          <a:xfrm>
            <a:off x="804672" y="2340864"/>
            <a:ext cx="2240280" cy="566928"/>
          </a:xfrm>
          <a:prstGeom prst="rect">
            <a:avLst/>
          </a:prstGeom>
          <a:noFill/>
          <a:ln/>
        </p:spPr>
        <p:txBody>
          <a:bodyPr wrap="square" lIns="0" tIns="0" rIns="0" bIns="0" rtlCol="0" anchor="ctr"/>
          <a:lstStyle/>
          <a:p>
            <a:pPr indent="0" marL="0">
              <a:buNone/>
            </a:pPr>
            <a:r>
              <a:rPr lang="en-US" sz="1400" b="1" dirty="0">
                <a:solidFill>
                  <a:srgbClr val="16213A"/>
                </a:solidFill>
                <a:latin typeface="Cambria" pitchFamily="34" charset="0"/>
                <a:ea typeface="Cambria" pitchFamily="34" charset="-122"/>
                <a:cs typeface="Cambria" pitchFamily="34" charset="-120"/>
              </a:rPr>
              <a:t>Keep four classes</a:t>
            </a:r>
            <a:endParaRPr lang="en-US" sz="1400" dirty="0"/>
          </a:p>
        </p:txBody>
      </p:sp>
      <p:sp>
        <p:nvSpPr>
          <p:cNvPr id="12" name="Text 10"/>
          <p:cNvSpPr txBox="1"/>
          <p:nvPr/>
        </p:nvSpPr>
        <p:spPr>
          <a:xfrm>
            <a:off x="804672" y="2926080"/>
            <a:ext cx="2240280" cy="868680"/>
          </a:xfrm>
          <a:prstGeom prst="rect">
            <a:avLst/>
          </a:prstGeom>
          <a:noFill/>
          <a:ln/>
        </p:spPr>
        <p:txBody>
          <a:bodyPr wrap="square" lIns="0" tIns="0" rIns="0" bIns="0" rtlCol="0" anchor="ctr"/>
          <a:lstStyle/>
          <a:p>
            <a:pPr indent="0" marL="0">
              <a:buNone/>
            </a:pPr>
            <a:r>
              <a:rPr lang="en-US" sz="1180" dirty="0">
                <a:solidFill>
                  <a:srgbClr val="3C4655"/>
                </a:solidFill>
                <a:latin typeface="Calibri" pitchFamily="34" charset="0"/>
                <a:ea typeface="Calibri" pitchFamily="34" charset="-122"/>
                <a:cs typeface="Calibri" pitchFamily="34" charset="-120"/>
              </a:rPr>
              <a:t>Angry, happy, sad, neutral. Frustration is dropped despite being the most frequent emotional label in the corpus.</a:t>
            </a:r>
            <a:endParaRPr lang="en-US" sz="1180" dirty="0"/>
          </a:p>
        </p:txBody>
      </p:sp>
      <p:sp>
        <p:nvSpPr>
          <p:cNvPr id="13" name="Shape 11"/>
          <p:cNvSpPr/>
          <p:nvPr/>
        </p:nvSpPr>
        <p:spPr>
          <a:xfrm>
            <a:off x="3392424" y="1572768"/>
            <a:ext cx="2697480" cy="2377440"/>
          </a:xfrm>
          <a:prstGeom prst="roundRect">
            <a:avLst>
              <a:gd name="adj" fmla="val 2308"/>
            </a:avLst>
          </a:prstGeom>
          <a:solidFill>
            <a:srgbClr val="F2F5F8"/>
          </a:solidFill>
          <a:ln w="12700">
            <a:solidFill>
              <a:srgbClr val="E1E7EE"/>
            </a:solidFill>
            <a:prstDash val="solid"/>
          </a:ln>
        </p:spPr>
      </p:sp>
      <p:sp>
        <p:nvSpPr>
          <p:cNvPr id="14" name="Shape 12"/>
          <p:cNvSpPr/>
          <p:nvPr/>
        </p:nvSpPr>
        <p:spPr>
          <a:xfrm>
            <a:off x="3630168" y="1810512"/>
            <a:ext cx="420624" cy="420624"/>
          </a:xfrm>
          <a:prstGeom prst="ellipse">
            <a:avLst/>
          </a:prstGeom>
          <a:solidFill>
            <a:srgbClr val="1B2A4A"/>
          </a:solidFill>
          <a:ln w="12700">
            <a:solidFill>
              <a:srgbClr val="333333"/>
            </a:solidFill>
            <a:prstDash val="solid"/>
          </a:ln>
        </p:spPr>
      </p:sp>
      <p:sp>
        <p:nvSpPr>
          <p:cNvPr id="15" name="Text 13"/>
          <p:cNvSpPr txBox="1"/>
          <p:nvPr/>
        </p:nvSpPr>
        <p:spPr>
          <a:xfrm>
            <a:off x="3630168" y="1847088"/>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4"/>
          <p:cNvSpPr txBox="1"/>
          <p:nvPr/>
        </p:nvSpPr>
        <p:spPr>
          <a:xfrm>
            <a:off x="3630168" y="2340864"/>
            <a:ext cx="2240280" cy="566928"/>
          </a:xfrm>
          <a:prstGeom prst="rect">
            <a:avLst/>
          </a:prstGeom>
          <a:noFill/>
          <a:ln/>
        </p:spPr>
        <p:txBody>
          <a:bodyPr wrap="square" lIns="0" tIns="0" rIns="0" bIns="0" rtlCol="0" anchor="ctr"/>
          <a:lstStyle/>
          <a:p>
            <a:pPr indent="0" marL="0">
              <a:buNone/>
            </a:pPr>
            <a:r>
              <a:rPr lang="en-US" sz="1400" b="1" dirty="0">
                <a:solidFill>
                  <a:srgbClr val="16213A"/>
                </a:solidFill>
                <a:latin typeface="Cambria" pitchFamily="34" charset="0"/>
                <a:ea typeface="Cambria" pitchFamily="34" charset="-122"/>
                <a:cs typeface="Cambria" pitchFamily="34" charset="-120"/>
              </a:rPr>
              <a:t>Merge excitement into happiness</a:t>
            </a:r>
            <a:endParaRPr lang="en-US" sz="1400" dirty="0"/>
          </a:p>
        </p:txBody>
      </p:sp>
      <p:sp>
        <p:nvSpPr>
          <p:cNvPr id="17" name="Text 15"/>
          <p:cNvSpPr txBox="1"/>
          <p:nvPr/>
        </p:nvSpPr>
        <p:spPr>
          <a:xfrm>
            <a:off x="3630168" y="2926080"/>
            <a:ext cx="2240280" cy="868680"/>
          </a:xfrm>
          <a:prstGeom prst="rect">
            <a:avLst/>
          </a:prstGeom>
          <a:noFill/>
          <a:ln/>
        </p:spPr>
        <p:txBody>
          <a:bodyPr wrap="square" lIns="0" tIns="0" rIns="0" bIns="0" rtlCol="0" anchor="ctr"/>
          <a:lstStyle/>
          <a:p>
            <a:pPr indent="0" marL="0">
              <a:buNone/>
            </a:pPr>
            <a:r>
              <a:rPr lang="en-US" sz="1180" dirty="0">
                <a:solidFill>
                  <a:srgbClr val="3C4655"/>
                </a:solidFill>
                <a:latin typeface="Calibri" pitchFamily="34" charset="0"/>
                <a:ea typeface="Calibri" pitchFamily="34" charset="-122"/>
                <a:cs typeface="Calibri" pitchFamily="34" charset="-120"/>
              </a:rPr>
              <a:t>Justified by the confusion matrix — but it roughly doubles the happy class and changes the task.</a:t>
            </a:r>
            <a:endParaRPr lang="en-US" sz="1180" dirty="0"/>
          </a:p>
        </p:txBody>
      </p:sp>
      <p:sp>
        <p:nvSpPr>
          <p:cNvPr id="18" name="Shape 16"/>
          <p:cNvSpPr/>
          <p:nvPr/>
        </p:nvSpPr>
        <p:spPr>
          <a:xfrm>
            <a:off x="6217920" y="1572768"/>
            <a:ext cx="2697480" cy="2377440"/>
          </a:xfrm>
          <a:prstGeom prst="roundRect">
            <a:avLst>
              <a:gd name="adj" fmla="val 2308"/>
            </a:avLst>
          </a:prstGeom>
          <a:solidFill>
            <a:srgbClr val="F2F5F8"/>
          </a:solidFill>
          <a:ln w="12700">
            <a:solidFill>
              <a:srgbClr val="E1E7EE"/>
            </a:solidFill>
            <a:prstDash val="solid"/>
          </a:ln>
        </p:spPr>
      </p:sp>
      <p:sp>
        <p:nvSpPr>
          <p:cNvPr id="19" name="Shape 17"/>
          <p:cNvSpPr/>
          <p:nvPr/>
        </p:nvSpPr>
        <p:spPr>
          <a:xfrm>
            <a:off x="6455664" y="1810512"/>
            <a:ext cx="420624" cy="420624"/>
          </a:xfrm>
          <a:prstGeom prst="ellipse">
            <a:avLst/>
          </a:prstGeom>
          <a:solidFill>
            <a:srgbClr val="1B2A4A"/>
          </a:solidFill>
          <a:ln w="12700">
            <a:solidFill>
              <a:srgbClr val="333333"/>
            </a:solidFill>
            <a:prstDash val="solid"/>
          </a:ln>
        </p:spPr>
      </p:sp>
      <p:sp>
        <p:nvSpPr>
          <p:cNvPr id="20" name="Text 18"/>
          <p:cNvSpPr txBox="1"/>
          <p:nvPr/>
        </p:nvSpPr>
        <p:spPr>
          <a:xfrm>
            <a:off x="6455664" y="1847088"/>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1" name="Text 19"/>
          <p:cNvSpPr txBox="1"/>
          <p:nvPr/>
        </p:nvSpPr>
        <p:spPr>
          <a:xfrm>
            <a:off x="6455664" y="2340864"/>
            <a:ext cx="2240280" cy="566928"/>
          </a:xfrm>
          <a:prstGeom prst="rect">
            <a:avLst/>
          </a:prstGeom>
          <a:noFill/>
          <a:ln/>
        </p:spPr>
        <p:txBody>
          <a:bodyPr wrap="square" lIns="0" tIns="0" rIns="0" bIns="0" rtlCol="0" anchor="ctr"/>
          <a:lstStyle/>
          <a:p>
            <a:pPr indent="0" marL="0">
              <a:buNone/>
            </a:pPr>
            <a:r>
              <a:rPr lang="en-US" sz="1400" b="1" dirty="0">
                <a:solidFill>
                  <a:srgbClr val="16213A"/>
                </a:solidFill>
                <a:latin typeface="Cambria" pitchFamily="34" charset="0"/>
                <a:ea typeface="Cambria" pitchFamily="34" charset="-122"/>
                <a:cs typeface="Cambria" pitchFamily="34" charset="-120"/>
              </a:rPr>
              <a:t>Discard unlabelled turns</a:t>
            </a:r>
            <a:endParaRPr lang="en-US" sz="1400" dirty="0"/>
          </a:p>
        </p:txBody>
      </p:sp>
      <p:sp>
        <p:nvSpPr>
          <p:cNvPr id="22" name="Text 20"/>
          <p:cNvSpPr txBox="1"/>
          <p:nvPr/>
        </p:nvSpPr>
        <p:spPr>
          <a:xfrm>
            <a:off x="6455664" y="2926080"/>
            <a:ext cx="2240280" cy="868680"/>
          </a:xfrm>
          <a:prstGeom prst="rect">
            <a:avLst/>
          </a:prstGeom>
          <a:noFill/>
          <a:ln/>
        </p:spPr>
        <p:txBody>
          <a:bodyPr wrap="square" lIns="0" tIns="0" rIns="0" bIns="0" rtlCol="0" anchor="ctr"/>
          <a:lstStyle/>
          <a:p>
            <a:pPr indent="0" marL="0">
              <a:buNone/>
            </a:pPr>
            <a:r>
              <a:rPr lang="en-US" sz="1180" dirty="0">
                <a:solidFill>
                  <a:srgbClr val="3C4655"/>
                </a:solidFill>
                <a:latin typeface="Calibri" pitchFamily="34" charset="0"/>
                <a:ea typeface="Calibri" pitchFamily="34" charset="-122"/>
                <a:cs typeface="Calibri" pitchFamily="34" charset="-120"/>
              </a:rPr>
              <a:t>Only turns with a unique majority vote survive. The result is about 5,500 utterances.</a:t>
            </a:r>
            <a:endParaRPr lang="en-US" sz="1180" dirty="0"/>
          </a:p>
        </p:txBody>
      </p:sp>
      <p:sp>
        <p:nvSpPr>
          <p:cNvPr id="23" name="Shape 21"/>
          <p:cNvSpPr/>
          <p:nvPr/>
        </p:nvSpPr>
        <p:spPr>
          <a:xfrm>
            <a:off x="9043416" y="1572768"/>
            <a:ext cx="2697480" cy="2377440"/>
          </a:xfrm>
          <a:prstGeom prst="roundRect">
            <a:avLst>
              <a:gd name="adj" fmla="val 2308"/>
            </a:avLst>
          </a:prstGeom>
          <a:solidFill>
            <a:srgbClr val="F2F5F8"/>
          </a:solidFill>
          <a:ln w="12700">
            <a:solidFill>
              <a:srgbClr val="E1E7EE"/>
            </a:solidFill>
            <a:prstDash val="solid"/>
          </a:ln>
        </p:spPr>
      </p:sp>
      <p:sp>
        <p:nvSpPr>
          <p:cNvPr id="24" name="Shape 22"/>
          <p:cNvSpPr/>
          <p:nvPr/>
        </p:nvSpPr>
        <p:spPr>
          <a:xfrm>
            <a:off x="9281160" y="1810512"/>
            <a:ext cx="420624" cy="420624"/>
          </a:xfrm>
          <a:prstGeom prst="ellipse">
            <a:avLst/>
          </a:prstGeom>
          <a:solidFill>
            <a:srgbClr val="1B2A4A"/>
          </a:solidFill>
          <a:ln w="12700">
            <a:solidFill>
              <a:srgbClr val="333333"/>
            </a:solidFill>
            <a:prstDash val="solid"/>
          </a:ln>
        </p:spPr>
      </p:sp>
      <p:sp>
        <p:nvSpPr>
          <p:cNvPr id="25" name="Text 23"/>
          <p:cNvSpPr txBox="1"/>
          <p:nvPr/>
        </p:nvSpPr>
        <p:spPr>
          <a:xfrm>
            <a:off x="9281160" y="1847088"/>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6" name="Text 24"/>
          <p:cNvSpPr txBox="1"/>
          <p:nvPr/>
        </p:nvSpPr>
        <p:spPr>
          <a:xfrm>
            <a:off x="9281160" y="2340864"/>
            <a:ext cx="2240280" cy="566928"/>
          </a:xfrm>
          <a:prstGeom prst="rect">
            <a:avLst/>
          </a:prstGeom>
          <a:noFill/>
          <a:ln/>
        </p:spPr>
        <p:txBody>
          <a:bodyPr wrap="square" lIns="0" tIns="0" rIns="0" bIns="0" rtlCol="0" anchor="ctr"/>
          <a:lstStyle/>
          <a:p>
            <a:pPr indent="0" marL="0">
              <a:buNone/>
            </a:pPr>
            <a:r>
              <a:rPr lang="en-US" sz="1400" b="1" dirty="0">
                <a:solidFill>
                  <a:srgbClr val="16213A"/>
                </a:solidFill>
                <a:latin typeface="Cambria" pitchFamily="34" charset="0"/>
                <a:ea typeface="Cambria" pitchFamily="34" charset="-122"/>
                <a:cs typeface="Cambria" pitchFamily="34" charset="-120"/>
              </a:rPr>
              <a:t>Invent a split</a:t>
            </a:r>
            <a:endParaRPr lang="en-US" sz="1400" dirty="0"/>
          </a:p>
        </p:txBody>
      </p:sp>
      <p:sp>
        <p:nvSpPr>
          <p:cNvPr id="27" name="Text 25"/>
          <p:cNvSpPr txBox="1"/>
          <p:nvPr/>
        </p:nvSpPr>
        <p:spPr>
          <a:xfrm>
            <a:off x="9281160" y="2926080"/>
            <a:ext cx="2240280" cy="868680"/>
          </a:xfrm>
          <a:prstGeom prst="rect">
            <a:avLst/>
          </a:prstGeom>
          <a:noFill/>
          <a:ln/>
        </p:spPr>
        <p:txBody>
          <a:bodyPr wrap="square" lIns="0" tIns="0" rIns="0" bIns="0" rtlCol="0" anchor="ctr"/>
          <a:lstStyle/>
          <a:p>
            <a:pPr indent="0" marL="0">
              <a:buNone/>
            </a:pPr>
            <a:r>
              <a:rPr lang="en-US" sz="1180" dirty="0">
                <a:solidFill>
                  <a:srgbClr val="3C4655"/>
                </a:solidFill>
                <a:latin typeface="Calibri" pitchFamily="34" charset="0"/>
                <a:ea typeface="Calibri" pitchFamily="34" charset="-122"/>
                <a:cs typeface="Calibri" pitchFamily="34" charset="-120"/>
              </a:rPr>
              <a:t>Usually leave-one-session-out over the five sessions, but random utterance splits are still published.</a:t>
            </a:r>
            <a:endParaRPr lang="en-US" sz="1180" dirty="0"/>
          </a:p>
        </p:txBody>
      </p:sp>
      <p:sp>
        <p:nvSpPr>
          <p:cNvPr id="28" name="Shape 26"/>
          <p:cNvSpPr/>
          <p:nvPr/>
        </p:nvSpPr>
        <p:spPr>
          <a:xfrm>
            <a:off x="566928" y="4151376"/>
            <a:ext cx="11064240" cy="1874520"/>
          </a:xfrm>
          <a:prstGeom prst="roundRect">
            <a:avLst>
              <a:gd name="adj" fmla="val 2927"/>
            </a:avLst>
          </a:prstGeom>
          <a:solidFill>
            <a:srgbClr val="FBF1EC"/>
          </a:solidFill>
          <a:ln w="12700">
            <a:solidFill>
              <a:srgbClr val="F0D5C7"/>
            </a:solidFill>
            <a:prstDash val="solid"/>
          </a:ln>
        </p:spPr>
      </p:sp>
      <p:sp>
        <p:nvSpPr>
          <p:cNvPr id="29" name="Shape 27"/>
          <p:cNvSpPr/>
          <p:nvPr/>
        </p:nvSpPr>
        <p:spPr>
          <a:xfrm>
            <a:off x="786384" y="4443984"/>
            <a:ext cx="109728" cy="109728"/>
          </a:xfrm>
          <a:prstGeom prst="ellipse">
            <a:avLst/>
          </a:prstGeom>
          <a:solidFill>
            <a:srgbClr val="E4572E"/>
          </a:solidFill>
          <a:ln w="12700">
            <a:solidFill>
              <a:srgbClr val="333333"/>
            </a:solidFill>
            <a:prstDash val="solid"/>
          </a:ln>
        </p:spPr>
      </p:sp>
      <p:sp>
        <p:nvSpPr>
          <p:cNvPr id="30" name="Text 28"/>
          <p:cNvSpPr txBox="1"/>
          <p:nvPr/>
        </p:nvSpPr>
        <p:spPr>
          <a:xfrm>
            <a:off x="987552" y="4315968"/>
            <a:ext cx="10424160" cy="36576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What this means when you read a results table</a:t>
            </a:r>
            <a:endParaRPr lang="en-US" sz="1550" dirty="0"/>
          </a:p>
        </p:txBody>
      </p:sp>
      <p:sp>
        <p:nvSpPr>
          <p:cNvPr id="31" name="Text 29"/>
          <p:cNvSpPr txBox="1"/>
          <p:nvPr/>
        </p:nvSpPr>
        <p:spPr>
          <a:xfrm>
            <a:off x="822960" y="4754880"/>
            <a:ext cx="10552176" cy="1088136"/>
          </a:xfrm>
          <a:prstGeom prst="rect">
            <a:avLst/>
          </a:prstGeom>
          <a:noFill/>
          <a:ln/>
        </p:spPr>
        <p:txBody>
          <a:bodyPr wrap="square" lIns="0" tIns="0" rIns="0" bIns="0" rtlCol="0" anchor="t"/>
          <a:lstStyle/>
          <a:p>
            <a:pPr indent="0" marL="0">
              <a:lnSpc>
                <a:spcPct val="108000"/>
              </a:lnSpc>
              <a:buNone/>
            </a:pPr>
            <a:r>
              <a:rPr lang="en-US" sz="1320" dirty="0">
                <a:solidFill>
                  <a:srgbClr val="3C4655"/>
                </a:solidFill>
                <a:latin typeface="Calibri" pitchFamily="34" charset="0"/>
                <a:ea typeface="Calibri" pitchFamily="34" charset="-122"/>
                <a:cs typeface="Calibri" pitchFamily="34" charset="-120"/>
              </a:rPr>
              <a:t>Two papers reporting 'weighted accuracy on IEMOCAP' may differ in whether excitement was merged, which turns were kept, and whether the test speaker was ever seen in training. Those choices are worth several accuracy points each — often more than the modelling contribution being claimed. Before comparing numbers, check the preprocessing paragraph. If a paper does not state its split, treat the comparison as uninformative.</a:t>
            </a:r>
            <a:endParaRPr lang="en-US" sz="132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631168" y="420624"/>
            <a:ext cx="118872" cy="118872"/>
          </a:xfrm>
          <a:prstGeom prst="ellipse">
            <a:avLst/>
          </a:prstGeom>
          <a:solidFill>
            <a:srgbClr val="E4572E"/>
          </a:solidFill>
          <a:ln w="12700">
            <a:solidFill>
              <a:srgbClr val="333333"/>
            </a:solidFill>
            <a:prstDash val="solid"/>
          </a:ln>
        </p:spPr>
      </p:sp>
      <p:sp>
        <p:nvSpPr>
          <p:cNvPr id="3" name="Shape 1"/>
          <p:cNvSpPr/>
          <p:nvPr/>
        </p:nvSpPr>
        <p:spPr>
          <a:xfrm>
            <a:off x="11393424" y="603504"/>
            <a:ext cx="82296" cy="82296"/>
          </a:xfrm>
          <a:prstGeom prst="ellipse">
            <a:avLst/>
          </a:prstGeom>
          <a:solidFill>
            <a:srgbClr val="C9D6E3"/>
          </a:solidFill>
          <a:ln w="12700">
            <a:solidFill>
              <a:srgbClr val="333333"/>
            </a:solidFill>
            <a:prstDash val="solid"/>
          </a:ln>
        </p:spPr>
      </p:sp>
      <p:sp>
        <p:nvSpPr>
          <p:cNvPr id="4" name="Shape 2"/>
          <p:cNvSpPr/>
          <p:nvPr/>
        </p:nvSpPr>
        <p:spPr>
          <a:xfrm>
            <a:off x="11759184" y="713232"/>
            <a:ext cx="82296" cy="82296"/>
          </a:xfrm>
          <a:prstGeom prst="ellipse">
            <a:avLst/>
          </a:prstGeom>
          <a:solidFill>
            <a:srgbClr val="C9D6E3"/>
          </a:solidFill>
          <a:ln w="12700">
            <a:solidFill>
              <a:srgbClr val="333333"/>
            </a:solidFill>
            <a:prstDash val="solid"/>
          </a:ln>
        </p:spPr>
      </p:sp>
      <p:sp>
        <p:nvSpPr>
          <p:cNvPr id="5" name="Text 3"/>
          <p:cNvSpPr txBox="1"/>
          <p:nvPr/>
        </p:nvSpPr>
        <p:spPr>
          <a:xfrm>
            <a:off x="548640" y="384048"/>
            <a:ext cx="10515600" cy="566928"/>
          </a:xfrm>
          <a:prstGeom prst="rect">
            <a:avLst/>
          </a:prstGeom>
          <a:noFill/>
          <a:ln/>
        </p:spPr>
        <p:txBody>
          <a:bodyPr wrap="square" lIns="0" tIns="0" rIns="0" bIns="0" rtlCol="0" anchor="t"/>
          <a:lstStyle/>
          <a:p>
            <a:pPr indent="0" marL="0">
              <a:buNone/>
            </a:pPr>
            <a:r>
              <a:rPr lang="en-US" sz="3000" b="1" dirty="0">
                <a:solidFill>
                  <a:srgbClr val="16213A"/>
                </a:solidFill>
                <a:latin typeface="Cambria" pitchFamily="34" charset="0"/>
                <a:ea typeface="Cambria" pitchFamily="34" charset="-122"/>
                <a:cs typeface="Cambria" pitchFamily="34" charset="-120"/>
              </a:rPr>
              <a:t>What IEMOCAP enabled — and what it left open</a:t>
            </a:r>
            <a:endParaRPr lang="en-US" sz="3000" dirty="0"/>
          </a:p>
        </p:txBody>
      </p:sp>
      <p:sp>
        <p:nvSpPr>
          <p:cNvPr id="6" name="Text 4"/>
          <p:cNvSpPr txBox="1"/>
          <p:nvPr/>
        </p:nvSpPr>
        <p:spPr>
          <a:xfrm>
            <a:off x="548640" y="987552"/>
            <a:ext cx="10515600" cy="329184"/>
          </a:xfrm>
          <a:prstGeom prst="rect">
            <a:avLst/>
          </a:prstGeom>
          <a:noFill/>
          <a:ln/>
        </p:spPr>
        <p:txBody>
          <a:bodyPr wrap="square" lIns="0" tIns="0" rIns="0" bIns="0" rtlCol="0" anchor="ctr"/>
          <a:lstStyle/>
          <a:p>
            <a:pPr indent="0" marL="0">
              <a:buNone/>
            </a:pPr>
            <a:r>
              <a:rPr lang="en-US" sz="1350" i="1" dirty="0">
                <a:solidFill>
                  <a:srgbClr val="5C6675"/>
                </a:solidFill>
                <a:latin typeface="Calibri" pitchFamily="34" charset="0"/>
                <a:ea typeface="Calibri" pitchFamily="34" charset="-122"/>
                <a:cs typeface="Calibri" pitchFamily="34" charset="-120"/>
              </a:rPr>
              <a:t>Setting up the second half of the seminar</a:t>
            </a:r>
            <a:endParaRPr lang="en-US" sz="1350" dirty="0"/>
          </a:p>
        </p:txBody>
      </p:sp>
      <p:sp>
        <p:nvSpPr>
          <p:cNvPr id="7" name="Text 5"/>
          <p:cNvSpPr txBox="1"/>
          <p:nvPr/>
        </p:nvSpPr>
        <p:spPr>
          <a:xfrm>
            <a:off x="9692640" y="6382512"/>
            <a:ext cx="1947672"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IEMOCAP · Busso et al. 2008  |  29</a:t>
            </a:r>
            <a:endParaRPr lang="en-US" sz="900" dirty="0"/>
          </a:p>
        </p:txBody>
      </p:sp>
      <p:sp>
        <p:nvSpPr>
          <p:cNvPr id="8" name="Shape 6"/>
          <p:cNvSpPr/>
          <p:nvPr/>
        </p:nvSpPr>
        <p:spPr>
          <a:xfrm>
            <a:off x="566928" y="1554480"/>
            <a:ext cx="5440680" cy="2377440"/>
          </a:xfrm>
          <a:prstGeom prst="roundRect">
            <a:avLst>
              <a:gd name="adj" fmla="val 2308"/>
            </a:avLst>
          </a:prstGeom>
          <a:solidFill>
            <a:srgbClr val="F2F5F8"/>
          </a:solidFill>
          <a:ln w="12700">
            <a:solidFill>
              <a:srgbClr val="E1E7EE"/>
            </a:solidFill>
            <a:prstDash val="solid"/>
          </a:ln>
        </p:spPr>
      </p:sp>
      <p:sp>
        <p:nvSpPr>
          <p:cNvPr id="9" name="Shape 7"/>
          <p:cNvSpPr/>
          <p:nvPr/>
        </p:nvSpPr>
        <p:spPr>
          <a:xfrm>
            <a:off x="786384" y="1847088"/>
            <a:ext cx="109728" cy="109728"/>
          </a:xfrm>
          <a:prstGeom prst="ellipse">
            <a:avLst/>
          </a:prstGeom>
          <a:solidFill>
            <a:srgbClr val="E4572E"/>
          </a:solidFill>
          <a:ln w="12700">
            <a:solidFill>
              <a:srgbClr val="333333"/>
            </a:solidFill>
            <a:prstDash val="solid"/>
          </a:ln>
        </p:spPr>
      </p:sp>
      <p:sp>
        <p:nvSpPr>
          <p:cNvPr id="10" name="Text 8"/>
          <p:cNvSpPr txBox="1"/>
          <p:nvPr/>
        </p:nvSpPr>
        <p:spPr>
          <a:xfrm>
            <a:off x="987552" y="1719072"/>
            <a:ext cx="4800600" cy="36576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Enabled</a:t>
            </a:r>
            <a:endParaRPr lang="en-US" sz="1550" dirty="0"/>
          </a:p>
        </p:txBody>
      </p:sp>
      <p:sp>
        <p:nvSpPr>
          <p:cNvPr id="11" name="Text 9"/>
          <p:cNvSpPr txBox="1"/>
          <p:nvPr/>
        </p:nvSpPr>
        <p:spPr>
          <a:xfrm>
            <a:off x="822960" y="2157984"/>
            <a:ext cx="4928616" cy="1591056"/>
          </a:xfrm>
          <a:prstGeom prst="rect">
            <a:avLst/>
          </a:prstGeom>
          <a:noFill/>
          <a:ln/>
        </p:spPr>
        <p:txBody>
          <a:bodyPr wrap="square" lIns="0" tIns="0" rIns="0" bIns="0" rtlCol="0" anchor="t"/>
          <a:lstStyle/>
          <a:p>
            <a:pPr indent="0" marL="0">
              <a:lnSpc>
                <a:spcPct val="108000"/>
              </a:lnSpc>
              <a:buNone/>
            </a:pPr>
            <a:r>
              <a:rPr lang="en-US" sz="1280" dirty="0">
                <a:solidFill>
                  <a:srgbClr val="3C4655"/>
                </a:solidFill>
                <a:latin typeface="Calibri" pitchFamily="34" charset="0"/>
                <a:ea typeface="Calibri" pitchFamily="34" charset="-122"/>
                <a:cs typeface="Calibri" pitchFamily="34" charset="-120"/>
              </a:rPr>
              <a:t>Multimodal emotion recognition with genuinely synchronised channels. Context-sensitive modelling, where the preceding turns inform the current prediction. Dyadic phenomena: entrainment, interruption, listener behaviour. Speech-driven facial and head-motion synthesis. Dimensional emotion regression alongside classification.</a:t>
            </a:r>
            <a:endParaRPr lang="en-US" sz="1280" dirty="0"/>
          </a:p>
        </p:txBody>
      </p:sp>
      <p:sp>
        <p:nvSpPr>
          <p:cNvPr id="12" name="Shape 10"/>
          <p:cNvSpPr/>
          <p:nvPr/>
        </p:nvSpPr>
        <p:spPr>
          <a:xfrm>
            <a:off x="6190488" y="1554480"/>
            <a:ext cx="5440680" cy="2377440"/>
          </a:xfrm>
          <a:prstGeom prst="roundRect">
            <a:avLst>
              <a:gd name="adj" fmla="val 2308"/>
            </a:avLst>
          </a:prstGeom>
          <a:solidFill>
            <a:srgbClr val="F2F5F8"/>
          </a:solidFill>
          <a:ln w="12700">
            <a:solidFill>
              <a:srgbClr val="E1E7EE"/>
            </a:solidFill>
            <a:prstDash val="solid"/>
          </a:ln>
        </p:spPr>
      </p:sp>
      <p:sp>
        <p:nvSpPr>
          <p:cNvPr id="13" name="Shape 11"/>
          <p:cNvSpPr/>
          <p:nvPr/>
        </p:nvSpPr>
        <p:spPr>
          <a:xfrm>
            <a:off x="6409944" y="1847088"/>
            <a:ext cx="109728" cy="109728"/>
          </a:xfrm>
          <a:prstGeom prst="ellipse">
            <a:avLst/>
          </a:prstGeom>
          <a:solidFill>
            <a:srgbClr val="E4572E"/>
          </a:solidFill>
          <a:ln w="12700">
            <a:solidFill>
              <a:srgbClr val="333333"/>
            </a:solidFill>
            <a:prstDash val="solid"/>
          </a:ln>
        </p:spPr>
      </p:sp>
      <p:sp>
        <p:nvSpPr>
          <p:cNvPr id="14" name="Text 12"/>
          <p:cNvSpPr txBox="1"/>
          <p:nvPr/>
        </p:nvSpPr>
        <p:spPr>
          <a:xfrm>
            <a:off x="6611112" y="1719072"/>
            <a:ext cx="4800600" cy="365760"/>
          </a:xfrm>
          <a:prstGeom prst="rect">
            <a:avLst/>
          </a:prstGeom>
          <a:noFill/>
          <a:ln/>
        </p:spPr>
        <p:txBody>
          <a:bodyPr wrap="square" lIns="0" tIns="0" rIns="0" bIns="0" rtlCol="0" anchor="ctr"/>
          <a:lstStyle/>
          <a:p>
            <a:pPr indent="0" marL="0">
              <a:buNone/>
            </a:pPr>
            <a:r>
              <a:rPr lang="en-US" sz="1550" b="1" dirty="0">
                <a:solidFill>
                  <a:srgbClr val="16213A"/>
                </a:solidFill>
                <a:latin typeface="Cambria" pitchFamily="34" charset="0"/>
                <a:ea typeface="Cambria" pitchFamily="34" charset="-122"/>
                <a:cs typeface="Cambria" pitchFamily="34" charset="-120"/>
              </a:rPr>
              <a:t>Left open</a:t>
            </a:r>
            <a:endParaRPr lang="en-US" sz="1550" dirty="0"/>
          </a:p>
        </p:txBody>
      </p:sp>
      <p:sp>
        <p:nvSpPr>
          <p:cNvPr id="15" name="Text 13"/>
          <p:cNvSpPr txBox="1"/>
          <p:nvPr/>
        </p:nvSpPr>
        <p:spPr>
          <a:xfrm>
            <a:off x="6446520" y="2157984"/>
            <a:ext cx="4928616" cy="1591056"/>
          </a:xfrm>
          <a:prstGeom prst="rect">
            <a:avLst/>
          </a:prstGeom>
          <a:noFill/>
          <a:ln/>
        </p:spPr>
        <p:txBody>
          <a:bodyPr wrap="square" lIns="0" tIns="0" rIns="0" bIns="0" rtlCol="0" anchor="t"/>
          <a:lstStyle/>
          <a:p>
            <a:pPr indent="0" marL="0">
              <a:lnSpc>
                <a:spcPct val="108000"/>
              </a:lnSpc>
              <a:buNone/>
            </a:pPr>
            <a:r>
              <a:rPr lang="en-US" sz="1280" dirty="0">
                <a:solidFill>
                  <a:srgbClr val="3C4655"/>
                </a:solidFill>
                <a:latin typeface="Calibri" pitchFamily="34" charset="0"/>
                <a:ea typeface="Calibri" pitchFamily="34" charset="-122"/>
                <a:cs typeface="Calibri" pitchFamily="34" charset="-120"/>
              </a:rPr>
              <a:t>Ten speakers cannot tell you how emotion expression varies across age, sex or cultural background. Emotion and lexical content are entangled, because what is said differs across emotions. And there is no separate measurement of how well each modality alone conveys emotion — every label was assigned with audio and video together.</a:t>
            </a:r>
            <a:endParaRPr lang="en-US" sz="1280" dirty="0"/>
          </a:p>
        </p:txBody>
      </p:sp>
      <p:sp>
        <p:nvSpPr>
          <p:cNvPr id="16" name="Shape 14"/>
          <p:cNvSpPr/>
          <p:nvPr/>
        </p:nvSpPr>
        <p:spPr>
          <a:xfrm>
            <a:off x="566928" y="4133088"/>
            <a:ext cx="11064240" cy="1892808"/>
          </a:xfrm>
          <a:prstGeom prst="roundRect">
            <a:avLst>
              <a:gd name="adj" fmla="val 2899"/>
            </a:avLst>
          </a:prstGeom>
          <a:solidFill>
            <a:srgbClr val="1B2A4A"/>
          </a:solidFill>
          <a:ln w="12700">
            <a:solidFill>
              <a:srgbClr val="1B2A4A"/>
            </a:solidFill>
            <a:prstDash val="solid"/>
          </a:ln>
        </p:spPr>
      </p:sp>
      <p:sp>
        <p:nvSpPr>
          <p:cNvPr id="17" name="Shape 15"/>
          <p:cNvSpPr/>
          <p:nvPr/>
        </p:nvSpPr>
        <p:spPr>
          <a:xfrm>
            <a:off x="786384" y="4425696"/>
            <a:ext cx="109728" cy="109728"/>
          </a:xfrm>
          <a:prstGeom prst="ellipse">
            <a:avLst/>
          </a:prstGeom>
          <a:solidFill>
            <a:srgbClr val="E4572E"/>
          </a:solidFill>
          <a:ln w="12700">
            <a:solidFill>
              <a:srgbClr val="333333"/>
            </a:solidFill>
            <a:prstDash val="solid"/>
          </a:ln>
        </p:spPr>
      </p:sp>
      <p:sp>
        <p:nvSpPr>
          <p:cNvPr id="18" name="Text 16"/>
          <p:cNvSpPr txBox="1"/>
          <p:nvPr/>
        </p:nvSpPr>
        <p:spPr>
          <a:xfrm>
            <a:off x="987552" y="4297680"/>
            <a:ext cx="104241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Next: CREMA-D (Cao et al., 2014)</a:t>
            </a:r>
            <a:endParaRPr lang="en-US" sz="1550" dirty="0"/>
          </a:p>
        </p:txBody>
      </p:sp>
      <p:sp>
        <p:nvSpPr>
          <p:cNvPr id="19" name="Text 17"/>
          <p:cNvSpPr txBox="1"/>
          <p:nvPr/>
        </p:nvSpPr>
        <p:spPr>
          <a:xfrm>
            <a:off x="822960" y="4736592"/>
            <a:ext cx="10552176" cy="1106424"/>
          </a:xfrm>
          <a:prstGeom prst="rect">
            <a:avLst/>
          </a:prstGeom>
          <a:noFill/>
          <a:ln/>
        </p:spPr>
        <p:txBody>
          <a:bodyPr wrap="square" lIns="0" tIns="0" rIns="0" bIns="0" rtlCol="0" anchor="t"/>
          <a:lstStyle/>
          <a:p>
            <a:pPr indent="0" marL="0">
              <a:lnSpc>
                <a:spcPct val="108000"/>
              </a:lnSpc>
              <a:buNone/>
            </a:pPr>
            <a:r>
              <a:rPr lang="en-US" sz="1300" dirty="0">
                <a:solidFill>
                  <a:srgbClr val="C9D6E3"/>
                </a:solidFill>
                <a:latin typeface="Calibri" pitchFamily="34" charset="0"/>
                <a:ea typeface="Calibri" pitchFamily="34" charset="-122"/>
                <a:cs typeface="Calibri" pitchFamily="34" charset="-120"/>
              </a:rPr>
              <a:t>Six years later, a group at Pennsylvania attacks exactly those three gaps. Ninety-one actors instead of ten, spanning ages twenty to seventy-four and five ethnic groups. Twelve fixed, semantically neutral sentences, so lexical content is held constant. And every clip rated three times over — from audio alone, from video alone, and from both — by more than two thousand raters.</a:t>
            </a:r>
            <a:endParaRPr lang="en-US" sz="1300" dirty="0"/>
          </a:p>
          <a:p>
            <a:pPr indent="0" marL="0">
              <a:lnSpc>
                <a:spcPct val="108000"/>
              </a:lnSpc>
              <a:buNone/>
            </a:pPr>
            <a:endParaRPr lang="en-US" sz="1300" dirty="0"/>
          </a:p>
          <a:p>
            <a:pPr indent="0" marL="0">
              <a:lnSpc>
                <a:spcPct val="108000"/>
              </a:lnSpc>
              <a:buNone/>
            </a:pPr>
            <a:r>
              <a:rPr lang="en-US" sz="1300" dirty="0">
                <a:solidFill>
                  <a:srgbClr val="C9D6E3"/>
                </a:solidFill>
                <a:latin typeface="Calibri" pitchFamily="34" charset="0"/>
                <a:ea typeface="Calibri" pitchFamily="34" charset="-122"/>
                <a:cs typeface="Calibri" pitchFamily="34" charset="-120"/>
              </a:rPr>
              <a:t>The cost of all that control is everything IEMOCAP was built to protect: no dialogue, no partner, no context. That trade is the through-line of the whole seminar.</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10424160" y="640080"/>
            <a:ext cx="118872" cy="118872"/>
          </a:xfrm>
          <a:prstGeom prst="ellipse">
            <a:avLst/>
          </a:prstGeom>
          <a:solidFill>
            <a:srgbClr val="E4572E"/>
          </a:solidFill>
          <a:ln w="12700">
            <a:solidFill>
              <a:srgbClr val="E4572E"/>
            </a:solidFill>
            <a:prstDash val="solid"/>
          </a:ln>
        </p:spPr>
      </p:sp>
      <p:sp>
        <p:nvSpPr>
          <p:cNvPr id="3" name="Shape 1"/>
          <p:cNvSpPr/>
          <p:nvPr/>
        </p:nvSpPr>
        <p:spPr>
          <a:xfrm>
            <a:off x="10735056" y="758952"/>
            <a:ext cx="118872" cy="118872"/>
          </a:xfrm>
          <a:prstGeom prst="ellipse">
            <a:avLst/>
          </a:prstGeom>
          <a:solidFill>
            <a:srgbClr val="E4572E"/>
          </a:solidFill>
          <a:ln w="12700">
            <a:solidFill>
              <a:srgbClr val="E4572E"/>
            </a:solidFill>
            <a:prstDash val="solid"/>
          </a:ln>
        </p:spPr>
      </p:sp>
      <p:sp>
        <p:nvSpPr>
          <p:cNvPr id="4" name="Shape 2"/>
          <p:cNvSpPr/>
          <p:nvPr/>
        </p:nvSpPr>
        <p:spPr>
          <a:xfrm>
            <a:off x="10552176" y="1005840"/>
            <a:ext cx="118872" cy="118872"/>
          </a:xfrm>
          <a:prstGeom prst="ellipse">
            <a:avLst/>
          </a:prstGeom>
          <a:solidFill>
            <a:srgbClr val="E4572E"/>
          </a:solidFill>
          <a:ln w="12700">
            <a:solidFill>
              <a:srgbClr val="E4572E"/>
            </a:solidFill>
            <a:prstDash val="solid"/>
          </a:ln>
        </p:spPr>
      </p:sp>
      <p:sp>
        <p:nvSpPr>
          <p:cNvPr id="5" name="Shape 3"/>
          <p:cNvSpPr/>
          <p:nvPr/>
        </p:nvSpPr>
        <p:spPr>
          <a:xfrm>
            <a:off x="10881360" y="1042416"/>
            <a:ext cx="118872" cy="118872"/>
          </a:xfrm>
          <a:prstGeom prst="ellipse">
            <a:avLst/>
          </a:prstGeom>
          <a:solidFill>
            <a:srgbClr val="E4572E"/>
          </a:solidFill>
          <a:ln w="12700">
            <a:solidFill>
              <a:srgbClr val="E4572E"/>
            </a:solidFill>
            <a:prstDash val="solid"/>
          </a:ln>
        </p:spPr>
      </p:sp>
      <p:sp>
        <p:nvSpPr>
          <p:cNvPr id="6" name="Shape 4"/>
          <p:cNvSpPr/>
          <p:nvPr/>
        </p:nvSpPr>
        <p:spPr>
          <a:xfrm>
            <a:off x="10991088" y="731520"/>
            <a:ext cx="118872" cy="118872"/>
          </a:xfrm>
          <a:prstGeom prst="ellipse">
            <a:avLst/>
          </a:prstGeom>
          <a:solidFill>
            <a:srgbClr val="E4572E"/>
          </a:solidFill>
          <a:ln w="12700">
            <a:solidFill>
              <a:srgbClr val="E4572E"/>
            </a:solidFill>
            <a:prstDash val="solid"/>
          </a:ln>
        </p:spPr>
      </p:sp>
      <p:sp>
        <p:nvSpPr>
          <p:cNvPr id="7" name="Text 5"/>
          <p:cNvSpPr txBox="1"/>
          <p:nvPr/>
        </p:nvSpPr>
        <p:spPr>
          <a:xfrm>
            <a:off x="822960" y="685800"/>
            <a:ext cx="10515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Questions for discussion</a:t>
            </a:r>
            <a:endParaRPr lang="en-US" sz="3200" dirty="0"/>
          </a:p>
        </p:txBody>
      </p:sp>
      <p:sp>
        <p:nvSpPr>
          <p:cNvPr id="8" name="Shape 6"/>
          <p:cNvSpPr/>
          <p:nvPr/>
        </p:nvSpPr>
        <p:spPr>
          <a:xfrm>
            <a:off x="841248" y="1655064"/>
            <a:ext cx="329184" cy="329184"/>
          </a:xfrm>
          <a:prstGeom prst="ellipse">
            <a:avLst/>
          </a:prstGeom>
          <a:solidFill>
            <a:srgbClr val="E4572E"/>
          </a:solidFill>
          <a:ln w="12700">
            <a:solidFill>
              <a:srgbClr val="333333"/>
            </a:solidFill>
            <a:prstDash val="solid"/>
          </a:ln>
        </p:spPr>
      </p:sp>
      <p:sp>
        <p:nvSpPr>
          <p:cNvPr id="9" name="Text 7"/>
          <p:cNvSpPr txBox="1"/>
          <p:nvPr/>
        </p:nvSpPr>
        <p:spPr>
          <a:xfrm>
            <a:off x="841248" y="1682496"/>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0" name="Text 8"/>
          <p:cNvSpPr txBox="1"/>
          <p:nvPr/>
        </p:nvSpPr>
        <p:spPr>
          <a:xfrm>
            <a:off x="1353312" y="1572768"/>
            <a:ext cx="10058400" cy="822960"/>
          </a:xfrm>
          <a:prstGeom prst="rect">
            <a:avLst/>
          </a:prstGeom>
          <a:noFill/>
          <a:ln/>
        </p:spPr>
        <p:txBody>
          <a:bodyPr wrap="square" lIns="0" tIns="0" rIns="0" bIns="0" rtlCol="0" anchor="ctr"/>
          <a:lstStyle/>
          <a:p>
            <a:pPr indent="0" marL="0">
              <a:buNone/>
            </a:pPr>
            <a:r>
              <a:rPr lang="en-US" sz="1300" dirty="0">
                <a:solidFill>
                  <a:srgbClr val="C9D6E3"/>
                </a:solidFill>
                <a:latin typeface="Calibri" pitchFamily="34" charset="0"/>
                <a:ea typeface="Calibri" pitchFamily="34" charset="-122"/>
                <a:cs typeface="Calibri" pitchFamily="34" charset="-120"/>
              </a:rPr>
              <a:t>The paper's labels come from perception, not from the actor's intent — and the two disagree substantially. Which one should count as ground truth, and does the answer depend on the application?</a:t>
            </a:r>
            <a:endParaRPr lang="en-US" sz="1300" dirty="0"/>
          </a:p>
        </p:txBody>
      </p:sp>
      <p:sp>
        <p:nvSpPr>
          <p:cNvPr id="11" name="Shape 9"/>
          <p:cNvSpPr/>
          <p:nvPr/>
        </p:nvSpPr>
        <p:spPr>
          <a:xfrm>
            <a:off x="841248" y="2569464"/>
            <a:ext cx="329184" cy="329184"/>
          </a:xfrm>
          <a:prstGeom prst="ellipse">
            <a:avLst/>
          </a:prstGeom>
          <a:solidFill>
            <a:srgbClr val="E4572E"/>
          </a:solidFill>
          <a:ln w="12700">
            <a:solidFill>
              <a:srgbClr val="333333"/>
            </a:solidFill>
            <a:prstDash val="solid"/>
          </a:ln>
        </p:spPr>
      </p:sp>
      <p:sp>
        <p:nvSpPr>
          <p:cNvPr id="12" name="Text 10"/>
          <p:cNvSpPr txBox="1"/>
          <p:nvPr/>
        </p:nvSpPr>
        <p:spPr>
          <a:xfrm>
            <a:off x="841248" y="2596896"/>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3" name="Text 11"/>
          <p:cNvSpPr txBox="1"/>
          <p:nvPr/>
        </p:nvSpPr>
        <p:spPr>
          <a:xfrm>
            <a:off x="1353312" y="2487168"/>
            <a:ext cx="10058400" cy="822960"/>
          </a:xfrm>
          <a:prstGeom prst="rect">
            <a:avLst/>
          </a:prstGeom>
          <a:noFill/>
          <a:ln/>
        </p:spPr>
        <p:txBody>
          <a:bodyPr wrap="square" lIns="0" tIns="0" rIns="0" bIns="0" rtlCol="0" anchor="ctr"/>
          <a:lstStyle/>
          <a:p>
            <a:pPr indent="0" marL="0">
              <a:buNone/>
            </a:pPr>
            <a:r>
              <a:rPr lang="en-US" sz="1300" dirty="0">
                <a:solidFill>
                  <a:srgbClr val="C9D6E3"/>
                </a:solidFill>
                <a:latin typeface="Calibri" pitchFamily="34" charset="0"/>
                <a:ea typeface="Calibri" pitchFamily="34" charset="-122"/>
                <a:cs typeface="Calibri" pitchFamily="34" charset="-120"/>
              </a:rPr>
              <a:t>Improvised turns were easier to annotate than scripted ones. Does that mean scripts are the wrong tool for emotion elicitation, or that ambiguity is a feature we should be capturing rather than avoiding?</a:t>
            </a:r>
            <a:endParaRPr lang="en-US" sz="1300" dirty="0"/>
          </a:p>
        </p:txBody>
      </p:sp>
      <p:sp>
        <p:nvSpPr>
          <p:cNvPr id="14" name="Shape 12"/>
          <p:cNvSpPr/>
          <p:nvPr/>
        </p:nvSpPr>
        <p:spPr>
          <a:xfrm>
            <a:off x="841248" y="3483864"/>
            <a:ext cx="329184" cy="329184"/>
          </a:xfrm>
          <a:prstGeom prst="ellipse">
            <a:avLst/>
          </a:prstGeom>
          <a:solidFill>
            <a:srgbClr val="E4572E"/>
          </a:solidFill>
          <a:ln w="12700">
            <a:solidFill>
              <a:srgbClr val="333333"/>
            </a:solidFill>
            <a:prstDash val="solid"/>
          </a:ln>
        </p:spPr>
      </p:sp>
      <p:sp>
        <p:nvSpPr>
          <p:cNvPr id="15" name="Text 13"/>
          <p:cNvSpPr txBox="1"/>
          <p:nvPr/>
        </p:nvSpPr>
        <p:spPr>
          <a:xfrm>
            <a:off x="841248" y="3511296"/>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6" name="Text 14"/>
          <p:cNvSpPr txBox="1"/>
          <p:nvPr/>
        </p:nvSpPr>
        <p:spPr>
          <a:xfrm>
            <a:off x="1353312" y="3401568"/>
            <a:ext cx="10058400" cy="822960"/>
          </a:xfrm>
          <a:prstGeom prst="rect">
            <a:avLst/>
          </a:prstGeom>
          <a:noFill/>
          <a:ln/>
        </p:spPr>
        <p:txBody>
          <a:bodyPr wrap="square" lIns="0" tIns="0" rIns="0" bIns="0" rtlCol="0" anchor="ctr"/>
          <a:lstStyle/>
          <a:p>
            <a:pPr indent="0" marL="0">
              <a:buNone/>
            </a:pPr>
            <a:r>
              <a:rPr lang="en-US" sz="1300" dirty="0">
                <a:solidFill>
                  <a:srgbClr val="C9D6E3"/>
                </a:solidFill>
                <a:latin typeface="Calibri" pitchFamily="34" charset="0"/>
                <a:ea typeface="Calibri" pitchFamily="34" charset="-122"/>
                <a:cs typeface="Calibri" pitchFamily="34" charset="-120"/>
              </a:rPr>
              <a:t>A kappa of 0.27 sets a ceiling on what any classifier can meaningfully achieve. How should papers report performance against a noisy human reference?</a:t>
            </a:r>
            <a:endParaRPr lang="en-US" sz="1300" dirty="0"/>
          </a:p>
        </p:txBody>
      </p:sp>
      <p:sp>
        <p:nvSpPr>
          <p:cNvPr id="17" name="Shape 15"/>
          <p:cNvSpPr/>
          <p:nvPr/>
        </p:nvSpPr>
        <p:spPr>
          <a:xfrm>
            <a:off x="841248" y="4398264"/>
            <a:ext cx="329184" cy="329184"/>
          </a:xfrm>
          <a:prstGeom prst="ellipse">
            <a:avLst/>
          </a:prstGeom>
          <a:solidFill>
            <a:srgbClr val="E4572E"/>
          </a:solidFill>
          <a:ln w="12700">
            <a:solidFill>
              <a:srgbClr val="333333"/>
            </a:solidFill>
            <a:prstDash val="solid"/>
          </a:ln>
        </p:spPr>
      </p:sp>
      <p:sp>
        <p:nvSpPr>
          <p:cNvPr id="18" name="Text 16"/>
          <p:cNvSpPr txBox="1"/>
          <p:nvPr/>
        </p:nvSpPr>
        <p:spPr>
          <a:xfrm>
            <a:off x="841248" y="4425696"/>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9" name="Text 17"/>
          <p:cNvSpPr txBox="1"/>
          <p:nvPr/>
        </p:nvSpPr>
        <p:spPr>
          <a:xfrm>
            <a:off x="1353312" y="4315968"/>
            <a:ext cx="10058400" cy="822960"/>
          </a:xfrm>
          <a:prstGeom prst="rect">
            <a:avLst/>
          </a:prstGeom>
          <a:noFill/>
          <a:ln/>
        </p:spPr>
        <p:txBody>
          <a:bodyPr wrap="square" lIns="0" tIns="0" rIns="0" bIns="0" rtlCol="0" anchor="ctr"/>
          <a:lstStyle/>
          <a:p>
            <a:pPr indent="0" marL="0">
              <a:buNone/>
            </a:pPr>
            <a:r>
              <a:rPr lang="en-US" sz="1300" dirty="0">
                <a:solidFill>
                  <a:srgbClr val="C9D6E3"/>
                </a:solidFill>
                <a:latin typeface="Calibri" pitchFamily="34" charset="0"/>
                <a:ea typeface="Calibri" pitchFamily="34" charset="-122"/>
                <a:cs typeface="Calibri" pitchFamily="34" charset="-120"/>
              </a:rPr>
              <a:t>Fear and disgust are essentially absent. Is a corpus that covers only the emotions its scenarios happen to elicit a fair test of emotion recognition?</a:t>
            </a:r>
            <a:endParaRPr lang="en-US" sz="1300" dirty="0"/>
          </a:p>
        </p:txBody>
      </p:sp>
      <p:sp>
        <p:nvSpPr>
          <p:cNvPr id="20" name="Shape 18"/>
          <p:cNvSpPr/>
          <p:nvPr/>
        </p:nvSpPr>
        <p:spPr>
          <a:xfrm>
            <a:off x="841248" y="5312664"/>
            <a:ext cx="329184" cy="329184"/>
          </a:xfrm>
          <a:prstGeom prst="ellipse">
            <a:avLst/>
          </a:prstGeom>
          <a:solidFill>
            <a:srgbClr val="E4572E"/>
          </a:solidFill>
          <a:ln w="12700">
            <a:solidFill>
              <a:srgbClr val="333333"/>
            </a:solidFill>
            <a:prstDash val="solid"/>
          </a:ln>
        </p:spPr>
      </p:sp>
      <p:sp>
        <p:nvSpPr>
          <p:cNvPr id="21" name="Text 19"/>
          <p:cNvSpPr txBox="1"/>
          <p:nvPr/>
        </p:nvSpPr>
        <p:spPr>
          <a:xfrm>
            <a:off x="841248" y="5340096"/>
            <a:ext cx="329184"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2" name="Text 20"/>
          <p:cNvSpPr txBox="1"/>
          <p:nvPr/>
        </p:nvSpPr>
        <p:spPr>
          <a:xfrm>
            <a:off x="1353312" y="5230368"/>
            <a:ext cx="10058400" cy="822960"/>
          </a:xfrm>
          <a:prstGeom prst="rect">
            <a:avLst/>
          </a:prstGeom>
          <a:noFill/>
          <a:ln/>
        </p:spPr>
        <p:txBody>
          <a:bodyPr wrap="square" lIns="0" tIns="0" rIns="0" bIns="0" rtlCol="0" anchor="ctr"/>
          <a:lstStyle/>
          <a:p>
            <a:pPr indent="0" marL="0">
              <a:buNone/>
            </a:pPr>
            <a:r>
              <a:rPr lang="en-US" sz="1300" dirty="0">
                <a:solidFill>
                  <a:srgbClr val="C9D6E3"/>
                </a:solidFill>
                <a:latin typeface="Calibri" pitchFamily="34" charset="0"/>
                <a:ea typeface="Calibri" pitchFamily="34" charset="-122"/>
                <a:cs typeface="Calibri" pitchFamily="34" charset="-120"/>
              </a:rPr>
              <a:t>IEMOCAP ships no train/test split. How much of the last fifteen years of reported progress on this benchmark do you think is real?</a:t>
            </a:r>
            <a:endParaRPr lang="en-US" sz="1300" dirty="0"/>
          </a:p>
        </p:txBody>
      </p:sp>
      <p:sp>
        <p:nvSpPr>
          <p:cNvPr id="23" name="Text 21"/>
          <p:cNvSpPr txBox="1"/>
          <p:nvPr/>
        </p:nvSpPr>
        <p:spPr>
          <a:xfrm>
            <a:off x="822960" y="6236208"/>
            <a:ext cx="10515600" cy="274320"/>
          </a:xfrm>
          <a:prstGeom prst="rect">
            <a:avLst/>
          </a:prstGeom>
          <a:noFill/>
          <a:ln/>
        </p:spPr>
        <p:txBody>
          <a:bodyPr wrap="square" lIns="0" tIns="0" rIns="0" bIns="0" rtlCol="0" anchor="ctr"/>
          <a:lstStyle/>
          <a:p>
            <a:pPr indent="0" marL="0">
              <a:buNone/>
            </a:pPr>
            <a:r>
              <a:rPr lang="en-US" sz="1050" dirty="0">
                <a:solidFill>
                  <a:srgbClr val="8A9AB0"/>
                </a:solidFill>
                <a:latin typeface="Calibri" pitchFamily="34" charset="0"/>
                <a:ea typeface="Calibri" pitchFamily="34" charset="-122"/>
                <a:cs typeface="Calibri" pitchFamily="34" charset="-120"/>
              </a:rPr>
              <a:t>Busso et al. (2008), Language Resources and Evaluation 42(4), 335–359  ·  sail.usc.edu/iemocap</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IEMOCAP (Busso et al., 2008)</dc:title>
  <dc:subject>PptxGenJS Presentation</dc:subject>
  <dc:creator>Seminar</dc:creator>
  <cp:lastModifiedBy>Seminar</cp:lastModifiedBy>
  <cp:revision>1</cp:revision>
  <dcterms:created xsi:type="dcterms:W3CDTF">2026-08-30T12:50:32Z</dcterms:created>
  <dcterms:modified xsi:type="dcterms:W3CDTF">2026-08-30T12:50:32Z</dcterms:modified>
</cp:coreProperties>
</file>