
<file path=[Content_Types].xml><?xml version="1.0" encoding="utf-8"?>
<Types xmlns="http://schemas.openxmlformats.org/package/2006/content-types">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2.xml" ContentType="application/vnd.openxmlformats-officedocument.drawingml.chart+xml"/>
  <Override PartName="/ppt/notesSlides/notesSlide16.xml" ContentType="application/vnd.openxmlformats-officedocument.presentationml.notesSlide+xml"/>
  <Override PartName="/ppt/charts/chart3.xml" ContentType="application/vnd.openxmlformats-officedocument.drawingml.chart+xml"/>
  <Override PartName="/ppt/notesSlides/notesSlide17.xml" ContentType="application/vnd.openxmlformats-officedocument.presentationml.notesSlide+xml"/>
  <Override PartName="/ppt/charts/chart4.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5.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80"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34"/>
    <p:restoredTop sz="94610"/>
  </p:normalViewPr>
  <p:slideViewPr>
    <p:cSldViewPr snapToGrid="0" snapToObjects="1">
      <p:cViewPr varScale="1">
        <p:scale>
          <a:sx n="95" d="100"/>
          <a:sy n="95" d="100"/>
        </p:scale>
        <p:origin x="200" y="6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56646F"/>
                </a:solidFill>
                <a:latin typeface="Calibri"/>
              </a:defRPr>
            </a:pPr>
            <a:r>
              <a:rPr lang="en-US" sz="1200" b="0" i="0" u="none" strike="noStrike">
                <a:solidFill>
                  <a:srgbClr val="56646F"/>
                </a:solidFill>
                <a:latin typeface="Calibri"/>
              </a:rPr>
              <a:t>1.9M closed-ended (33.8%) and 3.7M open-ended (66.2%)</a:t>
            </a:r>
          </a:p>
        </c:rich>
      </c:tx>
      <c:overlay val="0"/>
    </c:title>
    <c:autoTitleDeleted val="0"/>
    <c:plotArea>
      <c:layout/>
      <c:barChart>
        <c:barDir val="bar"/>
        <c:grouping val="clustered"/>
        <c:varyColors val="0"/>
        <c:ser>
          <c:idx val="0"/>
          <c:order val="0"/>
          <c:tx>
            <c:strRef>
              <c:f>Sheet1!$B$1</c:f>
              <c:strCache>
                <c:ptCount val="1"/>
                <c:pt idx="0">
                  <c:v>Question-answer pairs (thousands)</c:v>
                </c:pt>
              </c:strCache>
            </c:strRef>
          </c:tx>
          <c:spPr>
            <a:solidFill>
              <a:srgbClr val="2F5D8C"/>
            </a:solidFill>
            <a:effectLst/>
          </c:spPr>
          <c:invertIfNegative val="0"/>
          <c:dLbls>
            <c:numFmt formatCode="#,##0" sourceLinked="0"/>
            <c:spPr>
              <a:noFill/>
              <a:ln>
                <a:noFill/>
              </a:ln>
              <a:effectLst/>
            </c:spPr>
            <c:txPr>
              <a:bodyPr/>
              <a:lstStyle/>
              <a:p>
                <a:pPr>
                  <a:defRPr sz="950" b="0" i="0" u="none" strike="noStrike">
                    <a:solidFill>
                      <a:srgbClr val="27323C"/>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Open-ended:
VGGSound</c:v>
                </c:pt>
                <c:pt idx="1">
                  <c:v>Open-ended:
AudioSet-Strong</c:v>
                </c:pt>
                <c:pt idx="2">
                  <c:v>Open-ended:
FreeSound</c:v>
                </c:pt>
                <c:pt idx="3">
                  <c:v>Open-ended:
AudioCaps</c:v>
                </c:pt>
                <c:pt idx="4">
                  <c:v>Open-ended:
FSD50K</c:v>
                </c:pt>
                <c:pt idx="5">
                  <c:v>Closed:
AudioSet-Strong</c:v>
                </c:pt>
                <c:pt idx="6">
                  <c:v>Closed:
AudioSet</c:v>
                </c:pt>
                <c:pt idx="7">
                  <c:v>Closed:
VGGSound</c:v>
                </c:pt>
                <c:pt idx="8">
                  <c:v>Closed:
AudioCaps</c:v>
                </c:pt>
              </c:strCache>
            </c:strRef>
          </c:cat>
          <c:val>
            <c:numRef>
              <c:f>Sheet1!$B$2:$B$10</c:f>
              <c:numCache>
                <c:formatCode>General</c:formatCode>
                <c:ptCount val="9"/>
                <c:pt idx="0">
                  <c:v>907</c:v>
                </c:pt>
                <c:pt idx="1">
                  <c:v>901</c:v>
                </c:pt>
                <c:pt idx="2">
                  <c:v>791</c:v>
                </c:pt>
                <c:pt idx="3">
                  <c:v>478</c:v>
                </c:pt>
                <c:pt idx="4">
                  <c:v>403</c:v>
                </c:pt>
                <c:pt idx="5">
                  <c:v>683</c:v>
                </c:pt>
                <c:pt idx="6">
                  <c:v>538</c:v>
                </c:pt>
                <c:pt idx="7">
                  <c:v>367</c:v>
                </c:pt>
                <c:pt idx="8">
                  <c:v>97</c:v>
                </c:pt>
              </c:numCache>
            </c:numRef>
          </c:val>
          <c:extLst>
            <c:ext xmlns:c16="http://schemas.microsoft.com/office/drawing/2014/chart" uri="{C3380CC4-5D6E-409C-BE32-E72D297353CC}">
              <c16:uniqueId val="{00000000-5DF2-0440-A3FC-CA65AB282A3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56646F"/>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12700" cap="flat">
              <a:solidFill>
                <a:srgbClr val="E6ECF2"/>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50" b="0" i="0" u="none" strike="noStrike">
                <a:solidFill>
                  <a:srgbClr val="56646F"/>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56646F"/>
                </a:solidFill>
                <a:latin typeface="Calibri"/>
              </a:defRPr>
            </a:pPr>
            <a:r>
              <a:rPr lang="en-US" sz="1200" b="0" i="0" u="none" strike="noStrike">
                <a:solidFill>
                  <a:srgbClr val="56646F"/>
                </a:solidFill>
                <a:latin typeface="Calibri"/>
              </a:rPr>
              <a:t>Higher is better — an average relative improvement of 23.6%</a:t>
            </a:r>
          </a:p>
        </c:rich>
      </c:tx>
      <c:overlay val="0"/>
    </c:title>
    <c:autoTitleDeleted val="0"/>
    <c:plotArea>
      <c:layout/>
      <c:barChart>
        <c:barDir val="col"/>
        <c:grouping val="clustered"/>
        <c:varyColors val="0"/>
        <c:ser>
          <c:idx val="0"/>
          <c:order val="0"/>
          <c:tx>
            <c:strRef>
              <c:f>Sheet1!$B$1</c:f>
              <c:strCache>
                <c:ptCount val="1"/>
                <c:pt idx="0">
                  <c:v>CLAP</c:v>
                </c:pt>
              </c:strCache>
            </c:strRef>
          </c:tx>
          <c:spPr>
            <a:solidFill>
              <a:srgbClr val="9DB0C2"/>
            </a:solidFill>
            <a:effectLst/>
          </c:spPr>
          <c:invertIfNegative val="0"/>
          <c:dLbls>
            <c:numFmt formatCode="0.0" sourceLinked="0"/>
            <c:spPr>
              <a:noFill/>
              <a:ln>
                <a:noFill/>
              </a:ln>
              <a:effectLst/>
            </c:spPr>
            <c:txPr>
              <a:bodyPr/>
              <a:lstStyle/>
              <a:p>
                <a:pPr>
                  <a:defRPr sz="950" b="0" i="0" u="none" strike="noStrike">
                    <a:solidFill>
                      <a:srgbClr val="27323C"/>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ESC50</c:v>
                </c:pt>
                <c:pt idx="1">
                  <c:v>DCASE</c:v>
                </c:pt>
                <c:pt idx="2">
                  <c:v>VocalSound</c:v>
                </c:pt>
                <c:pt idx="3">
                  <c:v>TUT</c:v>
                </c:pt>
                <c:pt idx="4">
                  <c:v>Beijing Opera</c:v>
                </c:pt>
                <c:pt idx="5">
                  <c:v>AudioSet (mAP)</c:v>
                </c:pt>
                <c:pt idx="6">
                  <c:v>Average</c:v>
                </c:pt>
              </c:strCache>
            </c:strRef>
          </c:cat>
          <c:val>
            <c:numRef>
              <c:f>Sheet1!$B$2:$B$8</c:f>
              <c:numCache>
                <c:formatCode>General</c:formatCode>
                <c:ptCount val="7"/>
                <c:pt idx="0">
                  <c:v>82.6</c:v>
                </c:pt>
                <c:pt idx="1">
                  <c:v>30</c:v>
                </c:pt>
                <c:pt idx="2">
                  <c:v>49.5</c:v>
                </c:pt>
                <c:pt idx="3">
                  <c:v>29.6</c:v>
                </c:pt>
                <c:pt idx="4">
                  <c:v>47.5</c:v>
                </c:pt>
                <c:pt idx="5">
                  <c:v>5.8</c:v>
                </c:pt>
                <c:pt idx="6">
                  <c:v>40.700000000000003</c:v>
                </c:pt>
              </c:numCache>
            </c:numRef>
          </c:val>
          <c:extLst>
            <c:ext xmlns:c16="http://schemas.microsoft.com/office/drawing/2014/chart" uri="{C3380CC4-5D6E-409C-BE32-E72D297353CC}">
              <c16:uniqueId val="{00000000-8F0F-964E-976F-6259A1A8A1E0}"/>
            </c:ext>
          </c:extLst>
        </c:ser>
        <c:ser>
          <c:idx val="1"/>
          <c:order val="1"/>
          <c:tx>
            <c:strRef>
              <c:f>Sheet1!$C$1</c:f>
              <c:strCache>
                <c:ptCount val="1"/>
                <c:pt idx="0">
                  <c:v>LTU</c:v>
                </c:pt>
              </c:strCache>
            </c:strRef>
          </c:tx>
          <c:spPr>
            <a:solidFill>
              <a:srgbClr val="2F5D8C"/>
            </a:solidFill>
            <a:effectLst/>
          </c:spPr>
          <c:invertIfNegative val="0"/>
          <c:dLbls>
            <c:numFmt formatCode="0.0" sourceLinked="0"/>
            <c:spPr>
              <a:noFill/>
              <a:ln>
                <a:noFill/>
              </a:ln>
              <a:effectLst/>
            </c:spPr>
            <c:txPr>
              <a:bodyPr/>
              <a:lstStyle/>
              <a:p>
                <a:pPr>
                  <a:defRPr sz="950" b="0" i="0" u="none" strike="noStrike">
                    <a:solidFill>
                      <a:srgbClr val="27323C"/>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ESC50</c:v>
                </c:pt>
                <c:pt idx="1">
                  <c:v>DCASE</c:v>
                </c:pt>
                <c:pt idx="2">
                  <c:v>VocalSound</c:v>
                </c:pt>
                <c:pt idx="3">
                  <c:v>TUT</c:v>
                </c:pt>
                <c:pt idx="4">
                  <c:v>Beijing Opera</c:v>
                </c:pt>
                <c:pt idx="5">
                  <c:v>AudioSet (mAP)</c:v>
                </c:pt>
                <c:pt idx="6">
                  <c:v>Average</c:v>
                </c:pt>
              </c:strCache>
            </c:strRef>
          </c:cat>
          <c:val>
            <c:numRef>
              <c:f>Sheet1!$C$2:$C$8</c:f>
              <c:numCache>
                <c:formatCode>General</c:formatCode>
                <c:ptCount val="7"/>
                <c:pt idx="0">
                  <c:v>83.1</c:v>
                </c:pt>
                <c:pt idx="1">
                  <c:v>45.9</c:v>
                </c:pt>
                <c:pt idx="2">
                  <c:v>55.6</c:v>
                </c:pt>
                <c:pt idx="3">
                  <c:v>32.5</c:v>
                </c:pt>
                <c:pt idx="4">
                  <c:v>69.900000000000006</c:v>
                </c:pt>
                <c:pt idx="5">
                  <c:v>18.7</c:v>
                </c:pt>
                <c:pt idx="6">
                  <c:v>50.3</c:v>
                </c:pt>
              </c:numCache>
            </c:numRef>
          </c:val>
          <c:extLst>
            <c:ext xmlns:c16="http://schemas.microsoft.com/office/drawing/2014/chart" uri="{C3380CC4-5D6E-409C-BE32-E72D297353CC}">
              <c16:uniqueId val="{00000001-8F0F-964E-976F-6259A1A8A1E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6646F"/>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6EC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6646F"/>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50">
              <a:solidFill>
                <a:srgbClr val="56646F"/>
              </a:solidFill>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56646F"/>
                </a:solidFill>
                <a:latin typeface="Calibri"/>
              </a:defRPr>
            </a:pPr>
            <a:r>
              <a:rPr lang="en-US" sz="1200" b="0" i="0" u="none" strike="noStrike">
                <a:solidFill>
                  <a:srgbClr val="56646F"/>
                </a:solidFill>
                <a:latin typeface="Calibri"/>
              </a:rPr>
              <a:t>Higher is better</a:t>
            </a:r>
          </a:p>
        </c:rich>
      </c:tx>
      <c:overlay val="0"/>
    </c:title>
    <c:autoTitleDeleted val="0"/>
    <c:plotArea>
      <c:layout/>
      <c:barChart>
        <c:barDir val="bar"/>
        <c:grouping val="clustered"/>
        <c:varyColors val="0"/>
        <c:ser>
          <c:idx val="0"/>
          <c:order val="0"/>
          <c:tx>
            <c:strRef>
              <c:f>Sheet1!$B$1</c:f>
              <c:strCache>
                <c:ptCount val="1"/>
                <c:pt idx="0">
                  <c:v>Average classification performance</c:v>
                </c:pt>
              </c:strCache>
            </c:strRef>
          </c:tx>
          <c:spPr>
            <a:solidFill>
              <a:srgbClr val="2F5D8C"/>
            </a:solidFill>
            <a:effectLst/>
          </c:spPr>
          <c:invertIfNegative val="0"/>
          <c:dLbls>
            <c:numFmt formatCode="0.0" sourceLinked="0"/>
            <c:spPr>
              <a:noFill/>
              <a:ln>
                <a:noFill/>
              </a:ln>
              <a:effectLst/>
            </c:spPr>
            <c:txPr>
              <a:bodyPr/>
              <a:lstStyle/>
              <a:p>
                <a:pPr>
                  <a:defRPr sz="1000" b="0" i="0" u="none" strike="noStrike">
                    <a:solidFill>
                      <a:srgbClr val="27323C"/>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LTU (default)</c:v>
                </c:pt>
                <c:pt idx="1">
                  <c:v>No curriculum
(same iterations)</c:v>
                </c:pt>
                <c:pt idx="2">
                  <c:v>No open-ended training
(stages 1-3 only)</c:v>
                </c:pt>
                <c:pt idx="3">
                  <c:v>No open-ended
(same iterations)</c:v>
                </c:pt>
                <c:pt idx="4">
                  <c:v>No LoRA adapters</c:v>
                </c:pt>
                <c:pt idx="5">
                  <c:v>Freeze audio branch</c:v>
                </c:pt>
                <c:pt idx="6">
                  <c:v>Full fine-tuning
(LR 2e-5)</c:v>
                </c:pt>
              </c:strCache>
            </c:strRef>
          </c:cat>
          <c:val>
            <c:numRef>
              <c:f>Sheet1!$B$2:$B$8</c:f>
              <c:numCache>
                <c:formatCode>General</c:formatCode>
                <c:ptCount val="7"/>
                <c:pt idx="0">
                  <c:v>50.3</c:v>
                </c:pt>
                <c:pt idx="1">
                  <c:v>23</c:v>
                </c:pt>
                <c:pt idx="2">
                  <c:v>37.1</c:v>
                </c:pt>
                <c:pt idx="3">
                  <c:v>47.3</c:v>
                </c:pt>
                <c:pt idx="4">
                  <c:v>38.299999999999997</c:v>
                </c:pt>
                <c:pt idx="5">
                  <c:v>33.700000000000003</c:v>
                </c:pt>
                <c:pt idx="6">
                  <c:v>51.3</c:v>
                </c:pt>
              </c:numCache>
            </c:numRef>
          </c:val>
          <c:extLst>
            <c:ext xmlns:c16="http://schemas.microsoft.com/office/drawing/2014/chart" uri="{C3380CC4-5D6E-409C-BE32-E72D297353CC}">
              <c16:uniqueId val="{00000000-A0AA-7E4E-BC3F-4EAF6F09818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56646F"/>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12700" cap="flat">
              <a:solidFill>
                <a:srgbClr val="E6ECF2"/>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50" b="0" i="0" u="none" strike="noStrike">
                <a:solidFill>
                  <a:srgbClr val="56646F"/>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50" b="0" i="0" u="none" strike="noStrike">
                <a:solidFill>
                  <a:srgbClr val="56646F"/>
                </a:solidFill>
                <a:latin typeface="Calibri"/>
              </a:defRPr>
            </a:pPr>
            <a:r>
              <a:rPr lang="en-US" sz="1150" b="0" i="0" u="none" strike="noStrike">
                <a:solidFill>
                  <a:srgbClr val="56646F"/>
                </a:solidFill>
                <a:latin typeface="Calibri"/>
              </a:rPr>
              <a:t>Percentages; comparison is GPT-4 in stage 1 and a human answer in stage 2</a:t>
            </a:r>
          </a:p>
        </c:rich>
      </c:tx>
      <c:overlay val="0"/>
    </c:title>
    <c:autoTitleDeleted val="0"/>
    <c:plotArea>
      <c:layout/>
      <c:barChart>
        <c:barDir val="col"/>
        <c:grouping val="clustered"/>
        <c:varyColors val="0"/>
        <c:ser>
          <c:idx val="0"/>
          <c:order val="0"/>
          <c:tx>
            <c:strRef>
              <c:f>Sheet1!$B$1</c:f>
              <c:strCache>
                <c:ptCount val="1"/>
                <c:pt idx="0">
                  <c:v>Stage 1 — GPT-4 generated questions</c:v>
                </c:pt>
              </c:strCache>
            </c:strRef>
          </c:tx>
          <c:spPr>
            <a:solidFill>
              <a:srgbClr val="9DB0C2"/>
            </a:solidFill>
            <a:effectLst/>
          </c:spPr>
          <c:invertIfNegative val="0"/>
          <c:dLbls>
            <c:numFmt formatCode="0.0" sourceLinked="0"/>
            <c:spPr>
              <a:noFill/>
              <a:ln>
                <a:noFill/>
              </a:ln>
              <a:effectLst/>
            </c:spPr>
            <c:txPr>
              <a:bodyPr/>
              <a:lstStyle/>
              <a:p>
                <a:pPr>
                  <a:defRPr sz="1000" b="0" i="0" u="none" strike="noStrike">
                    <a:solidFill>
                      <a:srgbClr val="27323C"/>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Instruction
following</c:v>
                </c:pt>
                <c:pt idx="1">
                  <c:v>Factually
correct</c:v>
                </c:pt>
                <c:pt idx="2">
                  <c:v>Instruction following
&amp; factually correct</c:v>
                </c:pt>
                <c:pt idx="3">
                  <c:v>Preferred over
the comparison answer</c:v>
                </c:pt>
              </c:strCache>
            </c:strRef>
          </c:cat>
          <c:val>
            <c:numRef>
              <c:f>Sheet1!$B$2:$B$5</c:f>
              <c:numCache>
                <c:formatCode>General</c:formatCode>
                <c:ptCount val="4"/>
                <c:pt idx="0">
                  <c:v>87.1</c:v>
                </c:pt>
                <c:pt idx="1">
                  <c:v>79.3</c:v>
                </c:pt>
                <c:pt idx="2">
                  <c:v>75.900000000000006</c:v>
                </c:pt>
                <c:pt idx="3">
                  <c:v>69.099999999999994</c:v>
                </c:pt>
              </c:numCache>
            </c:numRef>
          </c:val>
          <c:extLst>
            <c:ext xmlns:c16="http://schemas.microsoft.com/office/drawing/2014/chart" uri="{C3380CC4-5D6E-409C-BE32-E72D297353CC}">
              <c16:uniqueId val="{00000000-DB4E-904B-A504-40B53F3C8769}"/>
            </c:ext>
          </c:extLst>
        </c:ser>
        <c:ser>
          <c:idx val="1"/>
          <c:order val="1"/>
          <c:tx>
            <c:strRef>
              <c:f>Sheet1!$C$1</c:f>
              <c:strCache>
                <c:ptCount val="1"/>
                <c:pt idx="0">
                  <c:v>Stage 2 — human generated questions</c:v>
                </c:pt>
              </c:strCache>
            </c:strRef>
          </c:tx>
          <c:spPr>
            <a:solidFill>
              <a:srgbClr val="E4A11B"/>
            </a:solidFill>
            <a:effectLst/>
          </c:spPr>
          <c:invertIfNegative val="0"/>
          <c:dLbls>
            <c:numFmt formatCode="0.0" sourceLinked="0"/>
            <c:spPr>
              <a:noFill/>
              <a:ln>
                <a:noFill/>
              </a:ln>
              <a:effectLst/>
            </c:spPr>
            <c:txPr>
              <a:bodyPr/>
              <a:lstStyle/>
              <a:p>
                <a:pPr>
                  <a:defRPr sz="1000" b="0" i="0" u="none" strike="noStrike">
                    <a:solidFill>
                      <a:srgbClr val="27323C"/>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Instruction
following</c:v>
                </c:pt>
                <c:pt idx="1">
                  <c:v>Factually
correct</c:v>
                </c:pt>
                <c:pt idx="2">
                  <c:v>Instruction following
&amp; factually correct</c:v>
                </c:pt>
                <c:pt idx="3">
                  <c:v>Preferred over
the comparison answer</c:v>
                </c:pt>
              </c:strCache>
            </c:strRef>
          </c:cat>
          <c:val>
            <c:numRef>
              <c:f>Sheet1!$C$2:$C$5</c:f>
              <c:numCache>
                <c:formatCode>General</c:formatCode>
                <c:ptCount val="4"/>
                <c:pt idx="0">
                  <c:v>90</c:v>
                </c:pt>
                <c:pt idx="1">
                  <c:v>83.7</c:v>
                </c:pt>
                <c:pt idx="2">
                  <c:v>82.9</c:v>
                </c:pt>
                <c:pt idx="3">
                  <c:v>74.900000000000006</c:v>
                </c:pt>
              </c:numCache>
            </c:numRef>
          </c:val>
          <c:extLst>
            <c:ext xmlns:c16="http://schemas.microsoft.com/office/drawing/2014/chart" uri="{C3380CC4-5D6E-409C-BE32-E72D297353CC}">
              <c16:uniqueId val="{00000001-DB4E-904B-A504-40B53F3C876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6646F"/>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6EC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6646F"/>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56646F"/>
              </a:solidFill>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56646F"/>
                </a:solidFill>
                <a:latin typeface="Calibri"/>
              </a:defRPr>
            </a:pPr>
            <a:r>
              <a:rPr lang="en-US" sz="1200" b="0" i="0" u="none" strike="noStrike">
                <a:solidFill>
                  <a:srgbClr val="56646F"/>
                </a:solidFill>
                <a:latin typeface="Calibri"/>
              </a:rPr>
              <a:t>Everything else held constant</a:t>
            </a:r>
          </a:p>
        </c:rich>
      </c:tx>
      <c:overlay val="0"/>
    </c:title>
    <c:autoTitleDeleted val="0"/>
    <c:plotArea>
      <c:layout/>
      <c:barChart>
        <c:barDir val="col"/>
        <c:grouping val="clustered"/>
        <c:varyColors val="0"/>
        <c:ser>
          <c:idx val="0"/>
          <c:order val="0"/>
          <c:tx>
            <c:strRef>
              <c:f>Sheet1!$B$1</c:f>
              <c:strCache>
                <c:ptCount val="1"/>
                <c:pt idx="0">
                  <c:v>LLaMA-7B</c:v>
                </c:pt>
              </c:strCache>
            </c:strRef>
          </c:tx>
          <c:spPr>
            <a:solidFill>
              <a:srgbClr val="2F5D8C"/>
            </a:solidFill>
            <a:effectLst/>
          </c:spPr>
          <c:invertIfNegative val="0"/>
          <c:dLbls>
            <c:numFmt formatCode="0.0" sourceLinked="0"/>
            <c:spPr>
              <a:noFill/>
              <a:ln>
                <a:noFill/>
              </a:ln>
              <a:effectLst/>
            </c:spPr>
            <c:txPr>
              <a:bodyPr/>
              <a:lstStyle/>
              <a:p>
                <a:pPr>
                  <a:defRPr sz="1000" b="0" i="0" u="none" strike="noStrike">
                    <a:solidFill>
                      <a:srgbClr val="27323C"/>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Classification
average</c:v>
                </c:pt>
                <c:pt idx="1">
                  <c:v>Captioning
average</c:v>
                </c:pt>
                <c:pt idx="2">
                  <c:v>Audio instruction
following</c:v>
                </c:pt>
                <c:pt idx="3">
                  <c:v>Language instruction
following</c:v>
                </c:pt>
              </c:strCache>
            </c:strRef>
          </c:cat>
          <c:val>
            <c:numRef>
              <c:f>Sheet1!$B$2:$B$5</c:f>
              <c:numCache>
                <c:formatCode>General</c:formatCode>
                <c:ptCount val="4"/>
                <c:pt idx="0">
                  <c:v>50.3</c:v>
                </c:pt>
                <c:pt idx="1">
                  <c:v>14.5</c:v>
                </c:pt>
                <c:pt idx="2">
                  <c:v>96.9</c:v>
                </c:pt>
                <c:pt idx="3">
                  <c:v>87.6</c:v>
                </c:pt>
              </c:numCache>
            </c:numRef>
          </c:val>
          <c:extLst>
            <c:ext xmlns:c16="http://schemas.microsoft.com/office/drawing/2014/chart" uri="{C3380CC4-5D6E-409C-BE32-E72D297353CC}">
              <c16:uniqueId val="{00000000-2DFD-C84E-9B4E-9DA89BC3BED0}"/>
            </c:ext>
          </c:extLst>
        </c:ser>
        <c:ser>
          <c:idx val="1"/>
          <c:order val="1"/>
          <c:tx>
            <c:strRef>
              <c:f>Sheet1!$C$1</c:f>
              <c:strCache>
                <c:ptCount val="1"/>
                <c:pt idx="0">
                  <c:v>LLaMA-13B</c:v>
                </c:pt>
              </c:strCache>
            </c:strRef>
          </c:tx>
          <c:spPr>
            <a:solidFill>
              <a:srgbClr val="9DB0C2"/>
            </a:solidFill>
            <a:effectLst/>
          </c:spPr>
          <c:invertIfNegative val="0"/>
          <c:dLbls>
            <c:numFmt formatCode="0.0" sourceLinked="0"/>
            <c:spPr>
              <a:noFill/>
              <a:ln>
                <a:noFill/>
              </a:ln>
              <a:effectLst/>
            </c:spPr>
            <c:txPr>
              <a:bodyPr/>
              <a:lstStyle/>
              <a:p>
                <a:pPr>
                  <a:defRPr sz="1000" b="0" i="0" u="none" strike="noStrike">
                    <a:solidFill>
                      <a:srgbClr val="27323C"/>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Classification
average</c:v>
                </c:pt>
                <c:pt idx="1">
                  <c:v>Captioning
average</c:v>
                </c:pt>
                <c:pt idx="2">
                  <c:v>Audio instruction
following</c:v>
                </c:pt>
                <c:pt idx="3">
                  <c:v>Language instruction
following</c:v>
                </c:pt>
              </c:strCache>
            </c:strRef>
          </c:cat>
          <c:val>
            <c:numRef>
              <c:f>Sheet1!$C$2:$C$5</c:f>
              <c:numCache>
                <c:formatCode>General</c:formatCode>
                <c:ptCount val="4"/>
                <c:pt idx="0">
                  <c:v>48.9</c:v>
                </c:pt>
                <c:pt idx="1">
                  <c:v>14.5</c:v>
                </c:pt>
                <c:pt idx="2">
                  <c:v>95.4</c:v>
                </c:pt>
                <c:pt idx="3">
                  <c:v>89.6</c:v>
                </c:pt>
              </c:numCache>
            </c:numRef>
          </c:val>
          <c:extLst>
            <c:ext xmlns:c16="http://schemas.microsoft.com/office/drawing/2014/chart" uri="{C3380CC4-5D6E-409C-BE32-E72D297353CC}">
              <c16:uniqueId val="{00000001-2DFD-C84E-9B4E-9DA89BC3BED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6646F"/>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6EC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6646F"/>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50">
              <a:solidFill>
                <a:srgbClr val="56646F"/>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449874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[0:00–1:00] Opening.
Pick up from Qwen-Audio. That paper's model perceives across speech, sound and music better than anything before it, and is never asked to explain anything. Every one of its twelve benchmarks has a right answer from a fixed set.
LTU inverts that. A much smaller language model, no speech capability at all, and a model that can tell you why it thinks a sound is a cricket, what mood an audio clip conveys, and — crucially — when it does not know.
The concrete opening question the paper poses: a model may recognise a clock chime six times but not know that it indicates six o'clock. LTU is about closing that gap.
Note the title is a programme, not a name: listen, then think, then understand, in that order — which turns out to be the training curriculum.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[2:00–4:00] Stakes.
The parameter figure is the striking contrast with the first half. Qwen-Audio trains a 640-million-parameter encoder for 500,000 steps and then fully fine-tunes a 7.7-billion-parameter LLM. LTU trains 4.2 million LoRA parameters plus the audio branch, on four RTX A6000s for three days.
Two very different resource regimes, and the smaller one is the one that produces reasoning.
The 82.9% figure needs a caveat we will develop: it comes from human subjective evaluation on Mechanical Turk, not an automatic metric.</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[4:00–4:10] Section marker.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[4:10–6:00] The gap.
The clock-chime example is the best short statement of the problem in either of this session's papers, and it is worth repeating. A classifier that gets 'bell' right has perceived correctly and understood nothing.
The second card matters for the method: the language model already knows a great deal about sound from text. LTU's job is not to teach it about sound, it is to connect what it already knows to what it can now hear.
That framing is why LoRA suffices — 4.2 million parameters is enough to build a bridge, and not enough to teach a curriculum.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[6:00–6:10] Section marker.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[6:10–8:20] The dataset.
The dark card is the cross-paper observation and worth making explicitly. Both papers face the same problem — heterogeneous label formats across datasets — and solve it in opposite ways. Qwen-Audio keeps the formats and adds tags to disambiguate. LTU converts everything into one format: a question and an answer.
Question-answering as a universal interface is the same move T5 made for text, and it removes the one-to-many problem by construction because the question specifies the task.
The acoustic-features task in the last bullet is the most unusual and we look at it next — it is not a task any of these corpora had labels for.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[8:20–10:20] Closed-ended tasks.
The acoustic-features task is the inventive one and deserves the time. There is no dataset anywhere with labels like 'droning, loud and intrusive'. The authors generated them by asking GPT-3.5 to describe what each AudioSet class sounds like, then attached those descriptions to every clip of that class.
The stated purpose is generalisation: train the model to recognise low-level features rather than memorise class identities, so it can describe a sound it has no label for.
Be appropriately sceptical too. These are GPT's beliefs about what things sound like, applied uniformly to every instance of a class. A quiet distant siren gets the same 'high-pitched and wailing' description as a close one. It is a clever hack and it is not ground truth.</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[10:20–12:40] Audio Instruction Generation. Protect this slide — it is the paper's most reusable idea.
The problem it solves: you want a language model to generate training questions about audio, and no language model can hear. The answer is to give it a textual description of the audio instead, then throw the description away.
The fourth bullet is the subtle and important part. GPT writes the question and answer from the metadata; LTU has to produce that answer from the waveform alone. So LTU is being asked to recover from audio what GPT was told in text — which means the answers are always in principle derivable from the audio, and the model cannot shortcut through metadata.
This is now a standard recipe and almost every audio instruction dataset since uses a version of it.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[12:40–14:40] Unanswerable questions.
This is the anti-hallucination thread and it connects directly to Pengi's stated limitation from last session — Pengi's authors said plainly they did not know how to keep the model grounded when extra text was supplied.
LTU's answer is partly this: 6.5% of the training data explicitly models not knowing. That is a cheap intervention with a measurable effect, and it is the kind of thing that only shows up if you keep what a naive pipeline would filter out.
Be precise about the caveat the paper itself flags: these questions are unanswerable by GPT from the metadata, but might be answerable by LTU from the audio. So the refusal-rate measurement is an estimate, not a clean test.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[14:40–14:50] Section marker.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[14:50–16:50] Architecture.
An appendix observation worth passing on: the authors note that audio embeddings serve as soft prompts for the language model and do not necessarily need to reside in the text embedding space, citing Lester's prompt tuning directly. They then test adding an audio-text alignment pre-training stage and find it does not help — and that scaling the alignment module to a Transformer layer makes things worse.
That is a clean negative result and it connects to our prompt-tuning session: a conditional soft prompt does not have to look like text.
The compute contrast in the last bullet is worth stating. Three days on four consumer-grade GPUs against Alibaba's 500,000-step pre-training run.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[16:50–19:00] The curriculum. Protect this slide.
The dark card is the mechanism and it is the same problem Pengi named and could not solve: without pressure to attend to the audio, a language model answers from its priors.
The fix is a penalty structure. A classification question has one right answer and the model is punished hard for getting it wrong; a question about the mood of a clip has many acceptable answers and the model can drift. Train on the first until the audio pathway is doing work, then open up.
Note stage 1 trains only the randomly initialised projection layer, which is the standard warm-start move — the same idea as wav2vec 2.0's ten-thousand-step classifier-only phase and SALMONN's pre-training stage.
The numbers from the ablation are next and they are large.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C4953-A4CA-E3F8-B11C-AF95994645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6186FB-4BB8-30E9-02D7-9CF7F423ED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C0A30B-196A-752F-0F76-3009505D0E50}"/>
              </a:ext>
            </a:extLst>
          </p:cNvPr>
          <p:cNvSpPr>
            <a:spLocks noGrp="1"/>
          </p:cNvSpPr>
          <p:nvPr>
            <p:ph type="body" idx="1"/>
          </p:nvPr>
        </p:nvSpPr>
        <p:spPr/>
        <p:txBody>
          <a:bodyPr/>
          <a:lstStyle/>
          <a:p>
            <a:r>
              <a:rPr lang="en-US" dirty="0"/>
              <a:t>[16:50–19:00] The curriculum. Protect this slide.
The dark card is the mechanism and it is the same problem Pengi named and could not solve: without pressure to attend to the audio, a language model answers from its priors.
The fix is a penalty structure. A classification question has one right answer and the model is punished hard for getting it wrong; a question about the mood of a clip has many acceptable answers and the model can drift. Train on the first until the audio pathway is doing work, then open up.
Note stage 1 trains only the randomly initialised projection layer, which is the standard warm-start move — the same idea as wav2vec 2.0's ten-thousand-step classifier-only phase and SALMONN's pre-training stage.
The numbers from the ablation are next and they are large.</a:t>
            </a:r>
          </a:p>
        </p:txBody>
      </p:sp>
      <p:sp>
        <p:nvSpPr>
          <p:cNvPr id="4" name="Slide Number Placeholder 3">
            <a:extLst>
              <a:ext uri="{FF2B5EF4-FFF2-40B4-BE49-F238E27FC236}">
                <a16:creationId xmlns:a16="http://schemas.microsoft.com/office/drawing/2014/main" id="{03720966-9DDF-4E84-2B7A-97D9F632097A}"/>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700322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[19:00–19:10] Section marker.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[19:10–21:30] Closed-ended results.
Credit the caveats in the second bullet — both are arguments against the paper's own numbers and both are raised by the authors unprompted.
The third bullet is the honest reading and should not be skipped. LTU is not a state-of-the-art classifier; it is a generalist that beats a contrastive generalist. The supervised specialists are far ahead.
The dark card explains why the section exists at all. The paper puts closed-ended results first deliberately, because the open-ended claims are worthless if perception is broken. That ordering is good scientific hygiene and worth pointing out.
Appendix G compares directly with Pengi: on six shared tasks Pengi averages 55.1 and LTU 55.6 — essentially tied on perception.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[21:30–24:00] The ablations. Protect this slide.
The curriculum result is the headline: 50.3 against 23.0, with total training iterations held constant. That control matters — the gain is from the ordering, not from more compute.
The second bullet is the more surprising finding and the paper states it memorably: learning to understand improves the perception ability. Training on open-ended reasoning questions makes the model better at plain classification. That is not obvious and it is the best argument for the whole approach.
The third bullet is the same trade SALMONN identified from the other direction. Here full fine-tuning buys one point of audio accuracy and costs thirty-four points of language ability. Compare SALMONN, where the adaptor learned a prior strong enough to suppress the language model even though it was frozen.
Contrast openly with Qwen-Audio: the headline claim there was never ablated; here every claim is.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[24:00–26:20] Open-ended evaluation.
The second bullet is the design point worth crediting: training data from GPT-3.5, evaluation questions from GPT-4 and from humans. That is a deliberate separation and it rules out the most obvious confound.
Be sceptical about the preference figures. 'Preferred over a human answer 74.9% of the time' sounds extraordinary until you consider what the human answers were: questions and answers written quickly by Mechanical Turk workers in the previous stage of the study. That is a low bar, and the paper does not present it as anything else, but it is easy to over-read.
The GPT-4 comparison has its own oddity: GPT-4 could not hear the audio and answered from metadata. So 'LTU preferred over GPT-4' means preferred over a model working from a text summary.
Good discussion prompt: what would a fair comparison even look like?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[26:20–28:40] The reasoning demonstrations.
These are from the paper's Table 6 and the audio is in the supplementary material. They are qualitative and hand-picked, so present them as illustrations rather than evidence — the evidence was the previous slide.
The second row is the one most relevant to an interpretability audience: the model gives a reason grounded in an acoustic property, which is exactly what the acoustic-features training task was designed to produce. That connection between a training design and an emergent behaviour is worth naming.
The fourth row is where it gets shakier. Inferring 'evening' from owl calls is world knowledge from LLaMA, not audio perception, and the line between grounded inference and plausible confabulation is thin. The paper's own limitations section concedes hallucination is mitigated rather than eliminated.
There is also a quantitative check: sound event order recognition reaches 70.9% accuracy on 550 constructed ESC-50 pairs.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[28:40–30:40] Scale.
This is an appendix result and it is more interesting than its placement suggests.
The honest reading is that the bottleneck is not the language model. LTU's performance is limited by audio perception and by the 3.2 Hz temporal resolution, not by how much the LLM knows — so doubling the LLM buys nothing measurable.
The second bullet is the tension, and it is worth putting to the room: the authors claim a qualitative improvement that their metrics cannot see. Either the metrics are inadequate or the claim is anecdotal, and there is no way to tell from the paper.
Connect to the previous session: SALMONN's emergent abilities appeared at 13B with a Vicuna instruction-tuned model. Here 13B does nothing. The difference is probably that SALMONN's abilities were being suppressed rather than absent.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[30:40–30:50] Section marker.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[30:50–33:10] Appraisal.
Give the strengths their due, particularly the ablation discipline — this is the best-controlled paper in either of the two audio-LLM sessions.
Among the limitations, the second is the one most likely to be over-read by secondary literature. 'Beats human answers 74.9% of the time' will get quoted without the context that the human answers were MTurk responses written in a few seconds.
The fourth limitation is the subtlest and worth developing: LTU's notion of what a siren sounds like comes from GPT-3.5 writing a ten-word description of the class, not from any acoustic measurement. So the acoustic-feature vocabulary the model learns is a language model's folk phonetics.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[33:10–35:30] The comparison.
Let people read, then walk three rows: task unification, open-ended reasoning, and the highlighted ablation row.
The task-unification row is the intellectual heart of the pairing. Both face heterogeneous labels across many corpora. Qwen-Audio keeps the formats and adds a tag vocabulary to disambiguate; LTU rewrites everything as a question. The second is the approach that won — Qwen2-Audio replaced the tags with natural-language prompts, which is LTU's solution arrived at independently.
The compute row is the one students should notice. The paper with the better-supported claims used roughly a thousandth of the compute.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[35:30–37:00] Take-aways.
Read these; they are written to be transcribed. Numbers one and four are the most directly actionable, and number three is the one most likely to generate project ideas — the claim that training a model to explain makes it better at recognising is testable in other modalities.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[37:00–45:00] Discussion and close.
Five prompts; take two or three. Question 2 is the best for this group and is genuinely open — one plausible mechanism is that open-ended questions force the encoder to preserve information a classification head would discard, which is the same argument as WavLM's denoising objective preserving speaker information.
Question 5 is the natural closer for the session. The honest answer is that they are different bets by groups with very different resources — and that the models which followed, Qwen2-Audio and LTU-AS, each moved toward the other.
Close by naming the arc of the two audio-LLM sessions: Pengi showed the recipe works, SALMONN showed scaling it creates a new failure mode, Qwen-Audio showed how far perception breadth can go, and LTU showed that reasoning has to be trained for deliberately and in the right order.</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833"/>
        </a:solidFill>
        <a:effectLst/>
      </p:bgPr>
    </p:bg>
    <p:spTree>
      <p:nvGrpSpPr>
        <p:cNvPr id="1" name=""/>
        <p:cNvGrpSpPr/>
        <p:nvPr/>
      </p:nvGrpSpPr>
      <p:grpSpPr>
        <a:xfrm>
          <a:off x="0" y="0"/>
          <a:ext cx="0" cy="0"/>
          <a:chOff x="0" y="0"/>
          <a:chExt cx="0" cy="0"/>
        </a:xfrm>
      </p:grpSpPr>
      <p:sp>
        <p:nvSpPr>
          <p:cNvPr id="2" name="Shape 0"/>
          <p:cNvSpPr/>
          <p:nvPr/>
        </p:nvSpPr>
        <p:spPr>
          <a:xfrm>
            <a:off x="868680" y="1204265"/>
            <a:ext cx="213970" cy="213970"/>
          </a:xfrm>
          <a:prstGeom prst="ellipse">
            <a:avLst/>
          </a:prstGeom>
          <a:solidFill>
            <a:srgbClr val="C3D3DE"/>
          </a:solidFill>
          <a:ln w="12700">
            <a:solidFill>
              <a:srgbClr val="333333"/>
            </a:solidFill>
            <a:prstDash val="solid"/>
          </a:ln>
        </p:spPr>
        <p:txBody>
          <a:bodyPr/>
          <a:lstStyle/>
          <a:p>
            <a:endParaRPr lang="en-US"/>
          </a:p>
        </p:txBody>
      </p:sp>
      <p:sp>
        <p:nvSpPr>
          <p:cNvPr id="3" name="Shape 1"/>
          <p:cNvSpPr/>
          <p:nvPr/>
        </p:nvSpPr>
        <p:spPr>
          <a:xfrm>
            <a:off x="1201522" y="1156716"/>
            <a:ext cx="309067" cy="309067"/>
          </a:xfrm>
          <a:prstGeom prst="ellipse">
            <a:avLst/>
          </a:prstGeom>
          <a:solidFill>
            <a:srgbClr val="C3D3DE"/>
          </a:solidFill>
          <a:ln w="12700">
            <a:solidFill>
              <a:srgbClr val="333333"/>
            </a:solidFill>
            <a:prstDash val="solid"/>
          </a:ln>
        </p:spPr>
        <p:txBody>
          <a:bodyPr/>
          <a:lstStyle/>
          <a:p>
            <a:endParaRPr lang="en-US"/>
          </a:p>
        </p:txBody>
      </p:sp>
      <p:sp>
        <p:nvSpPr>
          <p:cNvPr id="4" name="Shape 2"/>
          <p:cNvSpPr/>
          <p:nvPr/>
        </p:nvSpPr>
        <p:spPr>
          <a:xfrm>
            <a:off x="1629461" y="1097280"/>
            <a:ext cx="427939" cy="427939"/>
          </a:xfrm>
          <a:prstGeom prst="ellipse">
            <a:avLst/>
          </a:prstGeom>
          <a:solidFill>
            <a:srgbClr val="E4A11B"/>
          </a:solidFill>
          <a:ln w="12700">
            <a:solidFill>
              <a:srgbClr val="333333"/>
            </a:solidFill>
            <a:prstDash val="solid"/>
          </a:ln>
        </p:spPr>
        <p:txBody>
          <a:bodyPr/>
          <a:lstStyle/>
          <a:p>
            <a:endParaRPr lang="en-US"/>
          </a:p>
        </p:txBody>
      </p:sp>
      <p:sp>
        <p:nvSpPr>
          <p:cNvPr id="5" name="Text 3"/>
          <p:cNvSpPr txBox="1"/>
          <p:nvPr/>
        </p:nvSpPr>
        <p:spPr>
          <a:xfrm>
            <a:off x="822960" y="1874520"/>
            <a:ext cx="10607040" cy="914400"/>
          </a:xfrm>
          <a:prstGeom prst="rect">
            <a:avLst/>
          </a:prstGeom>
          <a:noFill/>
          <a:ln/>
        </p:spPr>
        <p:txBody>
          <a:bodyPr wrap="square" lIns="0" tIns="0" rIns="0" bIns="0" rtlCol="0" anchor="ctr"/>
          <a:lstStyle/>
          <a:p>
            <a:pPr marL="0" indent="0">
              <a:buNone/>
            </a:pPr>
            <a:r>
              <a:rPr lang="en-US" sz="4200" b="1" kern="0" spc="50" dirty="0">
                <a:solidFill>
                  <a:srgbClr val="FFFFFF"/>
                </a:solidFill>
                <a:latin typeface="Cambria" pitchFamily="34" charset="0"/>
                <a:ea typeface="Cambria" pitchFamily="34" charset="-122"/>
                <a:cs typeface="Cambria" pitchFamily="34" charset="-120"/>
              </a:rPr>
              <a:t>Listen, Think, and Understand</a:t>
            </a:r>
            <a:endParaRPr lang="en-US" sz="4200" dirty="0"/>
          </a:p>
        </p:txBody>
      </p:sp>
      <p:sp>
        <p:nvSpPr>
          <p:cNvPr id="6" name="Text 4"/>
          <p:cNvSpPr txBox="1"/>
          <p:nvPr/>
        </p:nvSpPr>
        <p:spPr>
          <a:xfrm>
            <a:off x="822960" y="2788920"/>
            <a:ext cx="10607040" cy="502920"/>
          </a:xfrm>
          <a:prstGeom prst="rect">
            <a:avLst/>
          </a:prstGeom>
          <a:noFill/>
          <a:ln/>
        </p:spPr>
        <p:txBody>
          <a:bodyPr wrap="square" lIns="0" tIns="0" rIns="0" bIns="0" rtlCol="0" anchor="ctr"/>
          <a:lstStyle/>
          <a:p>
            <a:pPr marL="0" indent="0">
              <a:buNone/>
            </a:pPr>
            <a:r>
              <a:rPr lang="en-US" sz="1900" i="1" dirty="0">
                <a:solidFill>
                  <a:srgbClr val="C3D3DE"/>
                </a:solidFill>
                <a:latin typeface="Cambria" pitchFamily="34" charset="0"/>
                <a:ea typeface="Cambria" pitchFamily="34" charset="-122"/>
                <a:cs typeface="Cambria" pitchFamily="34" charset="-120"/>
              </a:rPr>
              <a:t>LTU  ·  an audio foundation model with perception and reasoning</a:t>
            </a:r>
            <a:endParaRPr lang="en-US" sz="1900" dirty="0"/>
          </a:p>
        </p:txBody>
      </p:sp>
      <p:sp>
        <p:nvSpPr>
          <p:cNvPr id="7" name="Text 5"/>
          <p:cNvSpPr txBox="1"/>
          <p:nvPr/>
        </p:nvSpPr>
        <p:spPr>
          <a:xfrm>
            <a:off x="859536" y="3611880"/>
            <a:ext cx="10241280" cy="1005840"/>
          </a:xfrm>
          <a:prstGeom prst="rect">
            <a:avLst/>
          </a:prstGeom>
          <a:noFill/>
          <a:ln/>
        </p:spPr>
        <p:txBody>
          <a:bodyPr wrap="square" lIns="0" tIns="0" rIns="0" bIns="0" rtlCol="0" anchor="ctr"/>
          <a:lstStyle/>
          <a:p>
            <a:pPr marL="0" indent="0">
              <a:lnSpc>
                <a:spcPct val="125000"/>
              </a:lnSpc>
              <a:buNone/>
            </a:pPr>
            <a:r>
              <a:rPr lang="en-US" sz="1300" dirty="0">
                <a:solidFill>
                  <a:srgbClr val="A8BBC9"/>
                </a:solidFill>
                <a:latin typeface="Calibri" pitchFamily="34" charset="0"/>
                <a:ea typeface="Calibri" pitchFamily="34" charset="-122"/>
                <a:cs typeface="Calibri" pitchFamily="34" charset="-120"/>
              </a:rPr>
              <a:t>Yuan Gong, Hongyin Luo, Alexander H. Liu, Leonid Karlinsky &amp; James Glass</a:t>
            </a:r>
            <a:endParaRPr lang="en-US" sz="1300" dirty="0"/>
          </a:p>
          <a:p>
            <a:pPr marL="0" indent="0">
              <a:lnSpc>
                <a:spcPct val="125000"/>
              </a:lnSpc>
              <a:buNone/>
            </a:pPr>
            <a:r>
              <a:rPr lang="en-US" sz="1300" dirty="0">
                <a:solidFill>
                  <a:srgbClr val="A8BBC9"/>
                </a:solidFill>
                <a:latin typeface="Calibri" pitchFamily="34" charset="0"/>
                <a:ea typeface="Calibri" pitchFamily="34" charset="-122"/>
                <a:cs typeface="Calibri" pitchFamily="34" charset="-120"/>
              </a:rPr>
              <a:t>International Conference on Learning Representations (ICLR) 2024  ·  arXiv:2305.10790</a:t>
            </a:r>
            <a:endParaRPr lang="en-US" sz="1300" dirty="0"/>
          </a:p>
          <a:p>
            <a:pPr marL="0" indent="0">
              <a:lnSpc>
                <a:spcPct val="125000"/>
              </a:lnSpc>
              <a:buNone/>
            </a:pPr>
            <a:r>
              <a:rPr lang="en-US" sz="1300" dirty="0">
                <a:solidFill>
                  <a:srgbClr val="A8BBC9"/>
                </a:solidFill>
                <a:latin typeface="Calibri" pitchFamily="34" charset="0"/>
                <a:ea typeface="Calibri" pitchFamily="34" charset="-122"/>
                <a:cs typeface="Calibri" pitchFamily="34" charset="-120"/>
              </a:rPr>
              <a:t>MIT CSAIL and MIT-IBM Watson AI Lab</a:t>
            </a:r>
            <a:endParaRPr lang="en-US" sz="1300" dirty="0"/>
          </a:p>
        </p:txBody>
      </p:sp>
      <p:sp>
        <p:nvSpPr>
          <p:cNvPr id="8" name="Text 6"/>
          <p:cNvSpPr txBox="1"/>
          <p:nvPr/>
        </p:nvSpPr>
        <p:spPr>
          <a:xfrm>
            <a:off x="859536" y="5120640"/>
            <a:ext cx="9144000" cy="365760"/>
          </a:xfrm>
          <a:prstGeom prst="rect">
            <a:avLst/>
          </a:prstGeom>
          <a:noFill/>
          <a:ln/>
        </p:spPr>
        <p:txBody>
          <a:bodyPr wrap="square" lIns="0" tIns="0" rIns="0" bIns="0" rtlCol="0" anchor="ctr"/>
          <a:lstStyle/>
          <a:p>
            <a:pPr marL="0" indent="0">
              <a:buNone/>
            </a:pPr>
            <a:r>
              <a:rPr lang="en-US" sz="1250" b="1" dirty="0">
                <a:solidFill>
                  <a:srgbClr val="E4A11B"/>
                </a:solidFill>
                <a:latin typeface="Calibri" pitchFamily="34" charset="0"/>
                <a:ea typeface="Calibri" pitchFamily="34" charset="-122"/>
                <a:cs typeface="Calibri" pitchFamily="34" charset="-120"/>
              </a:rPr>
              <a:t>Audio-language </a:t>
            </a:r>
            <a:r>
              <a:rPr lang="en-US" sz="1250" b="1">
                <a:solidFill>
                  <a:srgbClr val="E4A11B"/>
                </a:solidFill>
                <a:latin typeface="Calibri" pitchFamily="34" charset="0"/>
                <a:ea typeface="Calibri" pitchFamily="34" charset="-122"/>
                <a:cs typeface="Calibri" pitchFamily="34" charset="-120"/>
              </a:rPr>
              <a:t>models II</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027664" y="516636"/>
            <a:ext cx="82296" cy="82296"/>
          </a:xfrm>
          <a:prstGeom prst="ellipse">
            <a:avLst/>
          </a:prstGeom>
          <a:solidFill>
            <a:srgbClr val="2F5D8C"/>
          </a:solidFill>
          <a:ln w="12700">
            <a:solidFill>
              <a:srgbClr val="333333"/>
            </a:solidFill>
            <a:prstDash val="solid"/>
          </a:ln>
        </p:spPr>
        <p:txBody>
          <a:bodyPr/>
          <a:lstStyle/>
          <a:p>
            <a:endParaRPr lang="en-US"/>
          </a:p>
        </p:txBody>
      </p:sp>
      <p:sp>
        <p:nvSpPr>
          <p:cNvPr id="3" name="Shape 1"/>
          <p:cNvSpPr/>
          <p:nvPr/>
        </p:nvSpPr>
        <p:spPr>
          <a:xfrm>
            <a:off x="11155680" y="498348"/>
            <a:ext cx="118872" cy="118872"/>
          </a:xfrm>
          <a:prstGeom prst="ellipse">
            <a:avLst/>
          </a:prstGeom>
          <a:solidFill>
            <a:srgbClr val="2F5D8C"/>
          </a:solidFill>
          <a:ln w="12700">
            <a:solidFill>
              <a:srgbClr val="333333"/>
            </a:solidFill>
            <a:prstDash val="solid"/>
          </a:ln>
        </p:spPr>
        <p:txBody>
          <a:bodyPr/>
          <a:lstStyle/>
          <a:p>
            <a:endParaRPr lang="en-US"/>
          </a:p>
        </p:txBody>
      </p:sp>
      <p:sp>
        <p:nvSpPr>
          <p:cNvPr id="4" name="Shape 2"/>
          <p:cNvSpPr/>
          <p:nvPr/>
        </p:nvSpPr>
        <p:spPr>
          <a:xfrm>
            <a:off x="11320272" y="475488"/>
            <a:ext cx="164592" cy="164592"/>
          </a:xfrm>
          <a:prstGeom prst="ellipse">
            <a:avLst/>
          </a:prstGeom>
          <a:solidFill>
            <a:srgbClr val="E4A11B"/>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141C24"/>
                </a:solidFill>
                <a:latin typeface="Cambria" pitchFamily="34" charset="0"/>
                <a:ea typeface="Cambria" pitchFamily="34" charset="-122"/>
                <a:cs typeface="Cambria" pitchFamily="34" charset="-120"/>
              </a:rPr>
              <a:t>Why this paper matters</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56646F"/>
                </a:solidFill>
                <a:latin typeface="Calibri" pitchFamily="34" charset="0"/>
                <a:ea typeface="Calibri" pitchFamily="34" charset="-122"/>
                <a:cs typeface="Calibri" pitchFamily="34" charset="-120"/>
              </a:rPr>
              <a:t>The first audio model that can explain itself</a:t>
            </a:r>
            <a:endParaRPr lang="en-US" sz="1350" dirty="0"/>
          </a:p>
        </p:txBody>
      </p:sp>
      <p:sp>
        <p:nvSpPr>
          <p:cNvPr id="7" name="Text 5"/>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93A5B4"/>
                </a:solidFill>
                <a:latin typeface="Calibri" pitchFamily="34" charset="0"/>
                <a:ea typeface="Calibri" pitchFamily="34" charset="-122"/>
                <a:cs typeface="Calibri" pitchFamily="34" charset="-120"/>
              </a:rPr>
              <a:t>LTU · Gong et al. 2024  |  3</a:t>
            </a:r>
            <a:endParaRPr lang="en-US" sz="900" dirty="0"/>
          </a:p>
        </p:txBody>
      </p:sp>
      <p:sp>
        <p:nvSpPr>
          <p:cNvPr id="8" name="Text 6"/>
          <p:cNvSpPr txBox="1"/>
          <p:nvPr/>
        </p:nvSpPr>
        <p:spPr>
          <a:xfrm>
            <a:off x="566928" y="1554480"/>
            <a:ext cx="2697480" cy="694944"/>
          </a:xfrm>
          <a:prstGeom prst="rect">
            <a:avLst/>
          </a:prstGeom>
          <a:noFill/>
          <a:ln/>
        </p:spPr>
        <p:txBody>
          <a:bodyPr wrap="square" lIns="0" tIns="0" rIns="0" bIns="0" rtlCol="0" anchor="ctr"/>
          <a:lstStyle/>
          <a:p>
            <a:pPr marL="0" indent="0" algn="ctr">
              <a:buNone/>
            </a:pPr>
            <a:r>
              <a:rPr lang="en-US" sz="3400" b="1" dirty="0">
                <a:solidFill>
                  <a:srgbClr val="2F5D8C"/>
                </a:solidFill>
                <a:latin typeface="Cambria" pitchFamily="34" charset="0"/>
                <a:ea typeface="Cambria" pitchFamily="34" charset="-122"/>
                <a:cs typeface="Cambria" pitchFamily="34" charset="-120"/>
              </a:rPr>
              <a:t>5.68M</a:t>
            </a:r>
            <a:endParaRPr lang="en-US" sz="3400" dirty="0"/>
          </a:p>
        </p:txBody>
      </p:sp>
      <p:sp>
        <p:nvSpPr>
          <p:cNvPr id="9" name="Text 7"/>
          <p:cNvSpPr txBox="1"/>
          <p:nvPr/>
        </p:nvSpPr>
        <p:spPr>
          <a:xfrm>
            <a:off x="566928" y="2249424"/>
            <a:ext cx="2697480" cy="566928"/>
          </a:xfrm>
          <a:prstGeom prst="rect">
            <a:avLst/>
          </a:prstGeom>
          <a:noFill/>
          <a:ln/>
        </p:spPr>
        <p:txBody>
          <a:bodyPr wrap="square" lIns="0" tIns="0" rIns="0" bIns="0" rtlCol="0" anchor="ctr"/>
          <a:lstStyle/>
          <a:p>
            <a:pPr marL="0" indent="0" algn="ctr">
              <a:buNone/>
            </a:pPr>
            <a:r>
              <a:rPr lang="en-US" sz="1150" dirty="0">
                <a:solidFill>
                  <a:srgbClr val="56646F"/>
                </a:solidFill>
                <a:latin typeface="Calibri" pitchFamily="34" charset="0"/>
                <a:ea typeface="Calibri" pitchFamily="34" charset="-122"/>
                <a:cs typeface="Calibri" pitchFamily="34" charset="-120"/>
              </a:rPr>
              <a:t>audio question-answer tuples</a:t>
            </a:r>
            <a:endParaRPr lang="en-US" sz="1150" dirty="0"/>
          </a:p>
          <a:p>
            <a:pPr marL="0" indent="0" algn="ctr">
              <a:buNone/>
            </a:pPr>
            <a:r>
              <a:rPr lang="en-US" sz="1150" dirty="0">
                <a:solidFill>
                  <a:srgbClr val="56646F"/>
                </a:solidFill>
                <a:latin typeface="Calibri" pitchFamily="34" charset="0"/>
                <a:ea typeface="Calibri" pitchFamily="34" charset="-122"/>
                <a:cs typeface="Calibri" pitchFamily="34" charset="-120"/>
              </a:rPr>
              <a:t>across 845K unique clips</a:t>
            </a:r>
            <a:endParaRPr lang="en-US" sz="1150" dirty="0"/>
          </a:p>
        </p:txBody>
      </p:sp>
      <p:sp>
        <p:nvSpPr>
          <p:cNvPr id="10" name="Text 8"/>
          <p:cNvSpPr txBox="1"/>
          <p:nvPr/>
        </p:nvSpPr>
        <p:spPr>
          <a:xfrm>
            <a:off x="3392424" y="1554480"/>
            <a:ext cx="2697480" cy="694944"/>
          </a:xfrm>
          <a:prstGeom prst="rect">
            <a:avLst/>
          </a:prstGeom>
          <a:noFill/>
          <a:ln/>
        </p:spPr>
        <p:txBody>
          <a:bodyPr wrap="square" lIns="0" tIns="0" rIns="0" bIns="0" rtlCol="0" anchor="ctr"/>
          <a:lstStyle/>
          <a:p>
            <a:pPr marL="0" indent="0" algn="ctr">
              <a:buNone/>
            </a:pPr>
            <a:r>
              <a:rPr lang="en-US" sz="3400" b="1" dirty="0">
                <a:solidFill>
                  <a:srgbClr val="E4A11B"/>
                </a:solidFill>
                <a:latin typeface="Cambria" pitchFamily="34" charset="0"/>
                <a:ea typeface="Cambria" pitchFamily="34" charset="-122"/>
                <a:cs typeface="Cambria" pitchFamily="34" charset="-120"/>
              </a:rPr>
              <a:t>4.2M</a:t>
            </a:r>
            <a:endParaRPr lang="en-US" sz="3400" dirty="0"/>
          </a:p>
        </p:txBody>
      </p:sp>
      <p:sp>
        <p:nvSpPr>
          <p:cNvPr id="11" name="Text 9"/>
          <p:cNvSpPr txBox="1"/>
          <p:nvPr/>
        </p:nvSpPr>
        <p:spPr>
          <a:xfrm>
            <a:off x="3392424" y="2249424"/>
            <a:ext cx="2697480" cy="566928"/>
          </a:xfrm>
          <a:prstGeom prst="rect">
            <a:avLst/>
          </a:prstGeom>
          <a:noFill/>
          <a:ln/>
        </p:spPr>
        <p:txBody>
          <a:bodyPr wrap="square" lIns="0" tIns="0" rIns="0" bIns="0" rtlCol="0" anchor="ctr"/>
          <a:lstStyle/>
          <a:p>
            <a:pPr marL="0" indent="0" algn="ctr">
              <a:buNone/>
            </a:pPr>
            <a:r>
              <a:rPr lang="en-US" sz="1150" dirty="0">
                <a:solidFill>
                  <a:srgbClr val="56646F"/>
                </a:solidFill>
                <a:latin typeface="Calibri" pitchFamily="34" charset="0"/>
                <a:ea typeface="Calibri" pitchFamily="34" charset="-122"/>
                <a:cs typeface="Calibri" pitchFamily="34" charset="-120"/>
              </a:rPr>
              <a:t>learnable parameters —</a:t>
            </a:r>
            <a:endParaRPr lang="en-US" sz="1150" dirty="0"/>
          </a:p>
          <a:p>
            <a:pPr marL="0" indent="0" algn="ctr">
              <a:buNone/>
            </a:pPr>
            <a:r>
              <a:rPr lang="en-US" sz="1150" dirty="0">
                <a:solidFill>
                  <a:srgbClr val="56646F"/>
                </a:solidFill>
                <a:latin typeface="Calibri" pitchFamily="34" charset="0"/>
                <a:ea typeface="Calibri" pitchFamily="34" charset="-122"/>
                <a:cs typeface="Calibri" pitchFamily="34" charset="-120"/>
              </a:rPr>
              <a:t>LoRA only</a:t>
            </a:r>
            <a:endParaRPr lang="en-US" sz="1150" dirty="0"/>
          </a:p>
        </p:txBody>
      </p:sp>
      <p:sp>
        <p:nvSpPr>
          <p:cNvPr id="12" name="Text 10"/>
          <p:cNvSpPr txBox="1"/>
          <p:nvPr/>
        </p:nvSpPr>
        <p:spPr>
          <a:xfrm>
            <a:off x="6217920" y="1554480"/>
            <a:ext cx="2697480" cy="694944"/>
          </a:xfrm>
          <a:prstGeom prst="rect">
            <a:avLst/>
          </a:prstGeom>
          <a:noFill/>
          <a:ln/>
        </p:spPr>
        <p:txBody>
          <a:bodyPr wrap="square" lIns="0" tIns="0" rIns="0" bIns="0" rtlCol="0" anchor="ctr"/>
          <a:lstStyle/>
          <a:p>
            <a:pPr marL="0" indent="0" algn="ctr">
              <a:buNone/>
            </a:pPr>
            <a:r>
              <a:rPr lang="en-US" sz="3400" b="1" dirty="0">
                <a:solidFill>
                  <a:srgbClr val="2F5D8C"/>
                </a:solidFill>
                <a:latin typeface="Cambria" pitchFamily="34" charset="0"/>
                <a:ea typeface="Cambria" pitchFamily="34" charset="-122"/>
                <a:cs typeface="Cambria" pitchFamily="34" charset="-120"/>
              </a:rPr>
              <a:t>82.9%</a:t>
            </a:r>
            <a:endParaRPr lang="en-US" sz="3400" dirty="0"/>
          </a:p>
        </p:txBody>
      </p:sp>
      <p:sp>
        <p:nvSpPr>
          <p:cNvPr id="13" name="Text 11"/>
          <p:cNvSpPr txBox="1"/>
          <p:nvPr/>
        </p:nvSpPr>
        <p:spPr>
          <a:xfrm>
            <a:off x="6217920" y="2249424"/>
            <a:ext cx="2697480" cy="566928"/>
          </a:xfrm>
          <a:prstGeom prst="rect">
            <a:avLst/>
          </a:prstGeom>
          <a:noFill/>
          <a:ln/>
        </p:spPr>
        <p:txBody>
          <a:bodyPr wrap="square" lIns="0" tIns="0" rIns="0" bIns="0" rtlCol="0" anchor="ctr"/>
          <a:lstStyle/>
          <a:p>
            <a:pPr marL="0" indent="0" algn="ctr">
              <a:buNone/>
            </a:pPr>
            <a:r>
              <a:rPr lang="en-US" sz="1150" dirty="0">
                <a:solidFill>
                  <a:srgbClr val="56646F"/>
                </a:solidFill>
                <a:latin typeface="Calibri" pitchFamily="34" charset="0"/>
                <a:ea typeface="Calibri" pitchFamily="34" charset="-122"/>
                <a:cs typeface="Calibri" pitchFamily="34" charset="-120"/>
              </a:rPr>
              <a:t>instruction-following and</a:t>
            </a:r>
            <a:endParaRPr lang="en-US" sz="1150" dirty="0"/>
          </a:p>
          <a:p>
            <a:pPr marL="0" indent="0" algn="ctr">
              <a:buNone/>
            </a:pPr>
            <a:r>
              <a:rPr lang="en-US" sz="1150" dirty="0">
                <a:solidFill>
                  <a:srgbClr val="56646F"/>
                </a:solidFill>
                <a:latin typeface="Calibri" pitchFamily="34" charset="0"/>
                <a:ea typeface="Calibri" pitchFamily="34" charset="-122"/>
                <a:cs typeface="Calibri" pitchFamily="34" charset="-120"/>
              </a:rPr>
              <a:t>factual correctness rate</a:t>
            </a:r>
            <a:endParaRPr lang="en-US" sz="1150" dirty="0"/>
          </a:p>
        </p:txBody>
      </p:sp>
      <p:sp>
        <p:nvSpPr>
          <p:cNvPr id="14" name="Text 12"/>
          <p:cNvSpPr txBox="1"/>
          <p:nvPr/>
        </p:nvSpPr>
        <p:spPr>
          <a:xfrm>
            <a:off x="9043416" y="1554480"/>
            <a:ext cx="2587752" cy="694944"/>
          </a:xfrm>
          <a:prstGeom prst="rect">
            <a:avLst/>
          </a:prstGeom>
          <a:noFill/>
          <a:ln/>
        </p:spPr>
        <p:txBody>
          <a:bodyPr wrap="square" lIns="0" tIns="0" rIns="0" bIns="0" rtlCol="0" anchor="ctr"/>
          <a:lstStyle/>
          <a:p>
            <a:pPr marL="0" indent="0" algn="ctr">
              <a:buNone/>
            </a:pPr>
            <a:r>
              <a:rPr lang="en-US" sz="3400" b="1" dirty="0">
                <a:solidFill>
                  <a:srgbClr val="E4A11B"/>
                </a:solidFill>
                <a:latin typeface="Cambria" pitchFamily="34" charset="0"/>
                <a:ea typeface="Cambria" pitchFamily="34" charset="-122"/>
                <a:cs typeface="Cambria" pitchFamily="34" charset="-120"/>
              </a:rPr>
              <a:t>+23.6%</a:t>
            </a:r>
            <a:endParaRPr lang="en-US" sz="3400" dirty="0"/>
          </a:p>
        </p:txBody>
      </p:sp>
      <p:sp>
        <p:nvSpPr>
          <p:cNvPr id="15" name="Text 13"/>
          <p:cNvSpPr txBox="1"/>
          <p:nvPr/>
        </p:nvSpPr>
        <p:spPr>
          <a:xfrm>
            <a:off x="9043416" y="2249424"/>
            <a:ext cx="2587752" cy="566928"/>
          </a:xfrm>
          <a:prstGeom prst="rect">
            <a:avLst/>
          </a:prstGeom>
          <a:noFill/>
          <a:ln/>
        </p:spPr>
        <p:txBody>
          <a:bodyPr wrap="square" lIns="0" tIns="0" rIns="0" bIns="0" rtlCol="0" anchor="ctr"/>
          <a:lstStyle/>
          <a:p>
            <a:pPr marL="0" indent="0" algn="ctr">
              <a:buNone/>
            </a:pPr>
            <a:r>
              <a:rPr lang="en-US" sz="1150" dirty="0">
                <a:solidFill>
                  <a:srgbClr val="56646F"/>
                </a:solidFill>
                <a:latin typeface="Calibri" pitchFamily="34" charset="0"/>
                <a:ea typeface="Calibri" pitchFamily="34" charset="-122"/>
                <a:cs typeface="Calibri" pitchFamily="34" charset="-120"/>
              </a:rPr>
              <a:t>average relative gain over</a:t>
            </a:r>
            <a:endParaRPr lang="en-US" sz="1150" dirty="0"/>
          </a:p>
          <a:p>
            <a:pPr marL="0" indent="0" algn="ctr">
              <a:buNone/>
            </a:pPr>
            <a:r>
              <a:rPr lang="en-US" sz="1150" dirty="0">
                <a:solidFill>
                  <a:srgbClr val="56646F"/>
                </a:solidFill>
                <a:latin typeface="Calibri" pitchFamily="34" charset="0"/>
                <a:ea typeface="Calibri" pitchFamily="34" charset="-122"/>
                <a:cs typeface="Calibri" pitchFamily="34" charset="-120"/>
              </a:rPr>
              <a:t>CLAP on eight classification sets</a:t>
            </a:r>
            <a:endParaRPr lang="en-US" sz="1150" dirty="0"/>
          </a:p>
        </p:txBody>
      </p:sp>
      <p:sp>
        <p:nvSpPr>
          <p:cNvPr id="16" name="Shape 14"/>
          <p:cNvSpPr/>
          <p:nvPr/>
        </p:nvSpPr>
        <p:spPr>
          <a:xfrm>
            <a:off x="566928" y="3200400"/>
            <a:ext cx="11064240" cy="1371600"/>
          </a:xfrm>
          <a:prstGeom prst="roundRect">
            <a:avLst>
              <a:gd name="adj" fmla="val 4000"/>
            </a:avLst>
          </a:prstGeom>
          <a:solidFill>
            <a:srgbClr val="F0F3F7"/>
          </a:solidFill>
          <a:ln w="12700">
            <a:solidFill>
              <a:srgbClr val="DFE6EE"/>
            </a:solidFill>
            <a:prstDash val="solid"/>
          </a:ln>
        </p:spPr>
        <p:txBody>
          <a:bodyPr/>
          <a:lstStyle/>
          <a:p>
            <a:endParaRPr lang="en-US"/>
          </a:p>
        </p:txBody>
      </p:sp>
      <p:sp>
        <p:nvSpPr>
          <p:cNvPr id="17" name="Shape 15"/>
          <p:cNvSpPr/>
          <p:nvPr/>
        </p:nvSpPr>
        <p:spPr>
          <a:xfrm>
            <a:off x="786384" y="3493008"/>
            <a:ext cx="109728" cy="109728"/>
          </a:xfrm>
          <a:prstGeom prst="ellipse">
            <a:avLst/>
          </a:prstGeom>
          <a:solidFill>
            <a:srgbClr val="2F5D8C"/>
          </a:solidFill>
          <a:ln w="12700">
            <a:solidFill>
              <a:srgbClr val="333333"/>
            </a:solidFill>
            <a:prstDash val="solid"/>
          </a:ln>
        </p:spPr>
        <p:txBody>
          <a:bodyPr/>
          <a:lstStyle/>
          <a:p>
            <a:endParaRPr lang="en-US"/>
          </a:p>
        </p:txBody>
      </p:sp>
      <p:sp>
        <p:nvSpPr>
          <p:cNvPr id="18" name="Text 16"/>
          <p:cNvSpPr txBox="1"/>
          <p:nvPr/>
        </p:nvSpPr>
        <p:spPr>
          <a:xfrm>
            <a:off x="987552" y="3364992"/>
            <a:ext cx="10424160" cy="365760"/>
          </a:xfrm>
          <a:prstGeom prst="rect">
            <a:avLst/>
          </a:prstGeom>
          <a:noFill/>
          <a:ln/>
        </p:spPr>
        <p:txBody>
          <a:bodyPr wrap="square" lIns="0" tIns="0" rIns="0" bIns="0" rtlCol="0" anchor="ctr"/>
          <a:lstStyle/>
          <a:p>
            <a:pPr marL="0" indent="0">
              <a:buNone/>
            </a:pPr>
            <a:r>
              <a:rPr lang="en-US" sz="1500" b="1" dirty="0">
                <a:solidFill>
                  <a:srgbClr val="141C24"/>
                </a:solidFill>
                <a:latin typeface="Cambria" pitchFamily="34" charset="0"/>
                <a:ea typeface="Cambria" pitchFamily="34" charset="-122"/>
                <a:cs typeface="Cambria" pitchFamily="34" charset="-120"/>
              </a:rPr>
              <a:t>The claim</a:t>
            </a:r>
            <a:endParaRPr lang="en-US" sz="1500" dirty="0"/>
          </a:p>
        </p:txBody>
      </p:sp>
      <p:sp>
        <p:nvSpPr>
          <p:cNvPr id="19" name="Text 17"/>
          <p:cNvSpPr txBox="1"/>
          <p:nvPr/>
        </p:nvSpPr>
        <p:spPr>
          <a:xfrm>
            <a:off x="822960" y="3803904"/>
            <a:ext cx="10552176" cy="585216"/>
          </a:xfrm>
          <a:prstGeom prst="rect">
            <a:avLst/>
          </a:prstGeom>
          <a:noFill/>
          <a:ln/>
        </p:spPr>
        <p:txBody>
          <a:bodyPr wrap="square" lIns="0" tIns="0" rIns="0" bIns="0" rtlCol="0" anchor="t"/>
          <a:lstStyle/>
          <a:p>
            <a:pPr marL="0" indent="0">
              <a:lnSpc>
                <a:spcPct val="108000"/>
              </a:lnSpc>
              <a:buNone/>
            </a:pPr>
            <a:r>
              <a:rPr lang="en-US" sz="1340" dirty="0">
                <a:solidFill>
                  <a:srgbClr val="27323C"/>
                </a:solidFill>
                <a:latin typeface="Calibri" pitchFamily="34" charset="0"/>
                <a:ea typeface="Calibri" pitchFamily="34" charset="-122"/>
                <a:cs typeface="Calibri" pitchFamily="34" charset="-120"/>
              </a:rPr>
              <a:t>Conventional audio models map sound to a fixed label set and cannot elaborate. Large language models can reason about sound in the abstract but cannot hear. Connect an audio spectrogram transformer to LLaMA, train on five million generated questions with a perception-first curriculum, and you get a model that classifies well *and* explains, infers, and refuses.</a:t>
            </a:r>
            <a:endParaRPr lang="en-US" sz="1340" dirty="0"/>
          </a:p>
        </p:txBody>
      </p:sp>
      <p:sp>
        <p:nvSpPr>
          <p:cNvPr id="20" name="Shape 18"/>
          <p:cNvSpPr/>
          <p:nvPr/>
        </p:nvSpPr>
        <p:spPr>
          <a:xfrm>
            <a:off x="566928" y="4700016"/>
            <a:ext cx="11064240" cy="1353312"/>
          </a:xfrm>
          <a:prstGeom prst="roundRect">
            <a:avLst>
              <a:gd name="adj" fmla="val 4054"/>
            </a:avLst>
          </a:prstGeom>
          <a:solidFill>
            <a:srgbClr val="1E2833"/>
          </a:solidFill>
          <a:ln w="12700">
            <a:solidFill>
              <a:srgbClr val="1E2833"/>
            </a:solidFill>
            <a:prstDash val="solid"/>
          </a:ln>
        </p:spPr>
        <p:txBody>
          <a:bodyPr/>
          <a:lstStyle/>
          <a:p>
            <a:endParaRPr lang="en-US"/>
          </a:p>
        </p:txBody>
      </p:sp>
      <p:sp>
        <p:nvSpPr>
          <p:cNvPr id="21" name="Shape 19"/>
          <p:cNvSpPr/>
          <p:nvPr/>
        </p:nvSpPr>
        <p:spPr>
          <a:xfrm>
            <a:off x="786384" y="4992624"/>
            <a:ext cx="109728" cy="109728"/>
          </a:xfrm>
          <a:prstGeom prst="ellipse">
            <a:avLst/>
          </a:prstGeom>
          <a:solidFill>
            <a:srgbClr val="E4A11B"/>
          </a:solidFill>
          <a:ln w="12700">
            <a:solidFill>
              <a:srgbClr val="333333"/>
            </a:solidFill>
            <a:prstDash val="solid"/>
          </a:ln>
        </p:spPr>
        <p:txBody>
          <a:bodyPr/>
          <a:lstStyle/>
          <a:p>
            <a:endParaRPr lang="en-US"/>
          </a:p>
        </p:txBody>
      </p:sp>
      <p:sp>
        <p:nvSpPr>
          <p:cNvPr id="22" name="Text 20"/>
          <p:cNvSpPr txBox="1"/>
          <p:nvPr/>
        </p:nvSpPr>
        <p:spPr>
          <a:xfrm>
            <a:off x="987552" y="4864608"/>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The two ingredients the paper says are essential</a:t>
            </a:r>
            <a:endParaRPr lang="en-US" sz="1500" dirty="0"/>
          </a:p>
        </p:txBody>
      </p:sp>
      <p:sp>
        <p:nvSpPr>
          <p:cNvPr id="23" name="Text 21"/>
          <p:cNvSpPr txBox="1"/>
          <p:nvPr/>
        </p:nvSpPr>
        <p:spPr>
          <a:xfrm>
            <a:off x="822960" y="5303520"/>
            <a:ext cx="10552176" cy="566928"/>
          </a:xfrm>
          <a:prstGeom prst="rect">
            <a:avLst/>
          </a:prstGeom>
          <a:noFill/>
          <a:ln/>
        </p:spPr>
        <p:txBody>
          <a:bodyPr wrap="square" lIns="0" tIns="0" rIns="0" bIns="0" rtlCol="0" anchor="t"/>
          <a:lstStyle/>
          <a:p>
            <a:pPr marL="0" indent="0">
              <a:lnSpc>
                <a:spcPct val="108000"/>
              </a:lnSpc>
              <a:buNone/>
            </a:pPr>
            <a:r>
              <a:rPr lang="en-US" sz="1340" dirty="0">
                <a:solidFill>
                  <a:srgbClr val="C3D3DE"/>
                </a:solidFill>
                <a:latin typeface="Calibri" pitchFamily="34" charset="0"/>
                <a:ea typeface="Calibri" pitchFamily="34" charset="-122"/>
                <a:cs typeface="Calibri" pitchFamily="34" charset="-120"/>
              </a:rPr>
              <a:t>A dataset containing both closed-ended and open-ended questions, and a perception-to-understanding curriculum. Remove the curriculum and classification collapses by 27 points. Remove the open-ended data and it drops by 13. Both claims are ablated directly.</a:t>
            </a:r>
            <a:endParaRPr lang="en-US" sz="13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1E2833"/>
        </a:solidFill>
        <a:effectLst/>
      </p:bgPr>
    </p:bg>
    <p:spTree>
      <p:nvGrpSpPr>
        <p:cNvPr id="1" name=""/>
        <p:cNvGrpSpPr/>
        <p:nvPr/>
      </p:nvGrpSpPr>
      <p:grpSpPr>
        <a:xfrm>
          <a:off x="0" y="0"/>
          <a:ext cx="0" cy="0"/>
          <a:chOff x="0" y="0"/>
          <a:chExt cx="0" cy="0"/>
        </a:xfrm>
      </p:grpSpPr>
      <p:sp>
        <p:nvSpPr>
          <p:cNvPr id="2" name="Shape 0"/>
          <p:cNvSpPr/>
          <p:nvPr/>
        </p:nvSpPr>
        <p:spPr>
          <a:xfrm>
            <a:off x="10515600" y="5477256"/>
            <a:ext cx="164592" cy="164592"/>
          </a:xfrm>
          <a:prstGeom prst="ellipse">
            <a:avLst/>
          </a:prstGeom>
          <a:solidFill>
            <a:srgbClr val="C3D3DE"/>
          </a:solidFill>
          <a:ln w="12700">
            <a:solidFill>
              <a:srgbClr val="333333"/>
            </a:solidFill>
            <a:prstDash val="solid"/>
          </a:ln>
        </p:spPr>
        <p:txBody>
          <a:bodyPr/>
          <a:lstStyle/>
          <a:p>
            <a:endParaRPr lang="en-US"/>
          </a:p>
        </p:txBody>
      </p:sp>
      <p:sp>
        <p:nvSpPr>
          <p:cNvPr id="3" name="Shape 1"/>
          <p:cNvSpPr/>
          <p:nvPr/>
        </p:nvSpPr>
        <p:spPr>
          <a:xfrm>
            <a:off x="10771632" y="5440680"/>
            <a:ext cx="237744" cy="237744"/>
          </a:xfrm>
          <a:prstGeom prst="ellipse">
            <a:avLst/>
          </a:prstGeom>
          <a:solidFill>
            <a:srgbClr val="C3D3DE"/>
          </a:solidFill>
          <a:ln w="12700">
            <a:solidFill>
              <a:srgbClr val="333333"/>
            </a:solidFill>
            <a:prstDash val="solid"/>
          </a:ln>
        </p:spPr>
        <p:txBody>
          <a:bodyPr/>
          <a:lstStyle/>
          <a:p>
            <a:endParaRPr lang="en-US"/>
          </a:p>
        </p:txBody>
      </p:sp>
      <p:sp>
        <p:nvSpPr>
          <p:cNvPr id="4" name="Shape 2"/>
          <p:cNvSpPr/>
          <p:nvPr/>
        </p:nvSpPr>
        <p:spPr>
          <a:xfrm>
            <a:off x="11100816" y="5394960"/>
            <a:ext cx="329184" cy="329184"/>
          </a:xfrm>
          <a:prstGeom prst="ellipse">
            <a:avLst/>
          </a:prstGeom>
          <a:solidFill>
            <a:srgbClr val="E4A11B"/>
          </a:solidFill>
          <a:ln w="12700">
            <a:solidFill>
              <a:srgbClr val="333333"/>
            </a:solidFill>
            <a:prstDash val="solid"/>
          </a:ln>
        </p:spPr>
        <p:txBody>
          <a:bodyPr/>
          <a:lstStyle/>
          <a:p>
            <a:endParaRPr lang="en-US"/>
          </a:p>
        </p:txBody>
      </p:sp>
      <p:sp>
        <p:nvSpPr>
          <p:cNvPr id="5" name="Text 3"/>
          <p:cNvSpPr txBox="1"/>
          <p:nvPr/>
        </p:nvSpPr>
        <p:spPr>
          <a:xfrm>
            <a:off x="822960" y="2057400"/>
            <a:ext cx="1554480" cy="1005840"/>
          </a:xfrm>
          <a:prstGeom prst="rect">
            <a:avLst/>
          </a:prstGeom>
          <a:noFill/>
          <a:ln/>
        </p:spPr>
        <p:txBody>
          <a:bodyPr wrap="square" lIns="0" tIns="0" rIns="0" bIns="0" rtlCol="0" anchor="ctr"/>
          <a:lstStyle/>
          <a:p>
            <a:pPr marL="0" indent="0">
              <a:buNone/>
            </a:pPr>
            <a:r>
              <a:rPr lang="en-US" sz="6600" b="1" dirty="0">
                <a:solidFill>
                  <a:srgbClr val="E4A11B"/>
                </a:solidFill>
                <a:latin typeface="Cambria" pitchFamily="34" charset="0"/>
                <a:ea typeface="Cambria" pitchFamily="34" charset="-122"/>
                <a:cs typeface="Cambria" pitchFamily="34" charset="-120"/>
              </a:rPr>
              <a:t>1</a:t>
            </a:r>
            <a:endParaRPr lang="en-US" sz="6600" dirty="0"/>
          </a:p>
        </p:txBody>
      </p:sp>
      <p:sp>
        <p:nvSpPr>
          <p:cNvPr id="6" name="Text 4"/>
          <p:cNvSpPr txBox="1"/>
          <p:nvPr/>
        </p:nvSpPr>
        <p:spPr>
          <a:xfrm>
            <a:off x="2377440" y="2212848"/>
            <a:ext cx="8686800" cy="822960"/>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Perception and understanding</a:t>
            </a:r>
            <a:endParaRPr lang="en-US" sz="3300" dirty="0"/>
          </a:p>
        </p:txBody>
      </p:sp>
      <p:sp>
        <p:nvSpPr>
          <p:cNvPr id="7" name="Text 5"/>
          <p:cNvSpPr txBox="1"/>
          <p:nvPr/>
        </p:nvSpPr>
        <p:spPr>
          <a:xfrm>
            <a:off x="2432304" y="3072384"/>
            <a:ext cx="8503920" cy="731520"/>
          </a:xfrm>
          <a:prstGeom prst="rect">
            <a:avLst/>
          </a:prstGeom>
          <a:noFill/>
          <a:ln/>
        </p:spPr>
        <p:txBody>
          <a:bodyPr wrap="square" lIns="0" tIns="0" rIns="0" bIns="0" rtlCol="0" anchor="ctr"/>
          <a:lstStyle/>
          <a:p>
            <a:pPr marL="0" indent="0">
              <a:buNone/>
            </a:pPr>
            <a:r>
              <a:rPr lang="en-US" sz="1500" dirty="0">
                <a:solidFill>
                  <a:srgbClr val="C3D3DE"/>
                </a:solidFill>
                <a:latin typeface="Calibri" pitchFamily="34" charset="0"/>
                <a:ea typeface="Calibri" pitchFamily="34" charset="-122"/>
                <a:cs typeface="Calibri" pitchFamily="34" charset="-120"/>
              </a:rPr>
              <a:t>The gap, and the question</a:t>
            </a:r>
            <a:endParaRPr lang="en-US" sz="1500" dirty="0"/>
          </a:p>
        </p:txBody>
      </p:sp>
      <p:sp>
        <p:nvSpPr>
          <p:cNvPr id="8" name="Text 6"/>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93A5B4"/>
                </a:solidFill>
                <a:latin typeface="Calibri" pitchFamily="34" charset="0"/>
                <a:ea typeface="Calibri" pitchFamily="34" charset="-122"/>
                <a:cs typeface="Calibri" pitchFamily="34" charset="-120"/>
              </a:rPr>
              <a:t>LTU · Gong et al. 2024  |  4</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027664" y="516636"/>
            <a:ext cx="82296" cy="82296"/>
          </a:xfrm>
          <a:prstGeom prst="ellipse">
            <a:avLst/>
          </a:prstGeom>
          <a:solidFill>
            <a:srgbClr val="2F5D8C"/>
          </a:solidFill>
          <a:ln w="12700">
            <a:solidFill>
              <a:srgbClr val="333333"/>
            </a:solidFill>
            <a:prstDash val="solid"/>
          </a:ln>
        </p:spPr>
        <p:txBody>
          <a:bodyPr/>
          <a:lstStyle/>
          <a:p>
            <a:endParaRPr lang="en-US"/>
          </a:p>
        </p:txBody>
      </p:sp>
      <p:sp>
        <p:nvSpPr>
          <p:cNvPr id="3" name="Shape 1"/>
          <p:cNvSpPr/>
          <p:nvPr/>
        </p:nvSpPr>
        <p:spPr>
          <a:xfrm>
            <a:off x="11155680" y="498348"/>
            <a:ext cx="118872" cy="118872"/>
          </a:xfrm>
          <a:prstGeom prst="ellipse">
            <a:avLst/>
          </a:prstGeom>
          <a:solidFill>
            <a:srgbClr val="2F5D8C"/>
          </a:solidFill>
          <a:ln w="12700">
            <a:solidFill>
              <a:srgbClr val="333333"/>
            </a:solidFill>
            <a:prstDash val="solid"/>
          </a:ln>
        </p:spPr>
        <p:txBody>
          <a:bodyPr/>
          <a:lstStyle/>
          <a:p>
            <a:endParaRPr lang="en-US"/>
          </a:p>
        </p:txBody>
      </p:sp>
      <p:sp>
        <p:nvSpPr>
          <p:cNvPr id="4" name="Shape 2"/>
          <p:cNvSpPr/>
          <p:nvPr/>
        </p:nvSpPr>
        <p:spPr>
          <a:xfrm>
            <a:off x="11320272" y="475488"/>
            <a:ext cx="164592" cy="164592"/>
          </a:xfrm>
          <a:prstGeom prst="ellipse">
            <a:avLst/>
          </a:prstGeom>
          <a:solidFill>
            <a:srgbClr val="E4A11B"/>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141C24"/>
                </a:solidFill>
                <a:latin typeface="Cambria" pitchFamily="34" charset="0"/>
                <a:ea typeface="Cambria" pitchFamily="34" charset="-122"/>
                <a:cs typeface="Cambria" pitchFamily="34" charset="-120"/>
              </a:rPr>
              <a:t>The gap</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56646F"/>
                </a:solidFill>
                <a:latin typeface="Calibri" pitchFamily="34" charset="0"/>
                <a:ea typeface="Calibri" pitchFamily="34" charset="-122"/>
                <a:cs typeface="Calibri" pitchFamily="34" charset="-120"/>
              </a:rPr>
              <a:t>Two kinds of model, each missing what the other has</a:t>
            </a:r>
            <a:endParaRPr lang="en-US" sz="1350" dirty="0"/>
          </a:p>
        </p:txBody>
      </p:sp>
      <p:sp>
        <p:nvSpPr>
          <p:cNvPr id="7" name="Text 5"/>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93A5B4"/>
                </a:solidFill>
                <a:latin typeface="Calibri" pitchFamily="34" charset="0"/>
                <a:ea typeface="Calibri" pitchFamily="34" charset="-122"/>
                <a:cs typeface="Calibri" pitchFamily="34" charset="-120"/>
              </a:rPr>
              <a:t>LTU · Gong et al. 2024  |  5</a:t>
            </a:r>
            <a:endParaRPr lang="en-US" sz="900" dirty="0"/>
          </a:p>
        </p:txBody>
      </p:sp>
      <p:sp>
        <p:nvSpPr>
          <p:cNvPr id="8" name="Shape 6"/>
          <p:cNvSpPr/>
          <p:nvPr/>
        </p:nvSpPr>
        <p:spPr>
          <a:xfrm>
            <a:off x="566928" y="1600200"/>
            <a:ext cx="5440680" cy="2331720"/>
          </a:xfrm>
          <a:prstGeom prst="roundRect">
            <a:avLst>
              <a:gd name="adj" fmla="val 2353"/>
            </a:avLst>
          </a:prstGeom>
          <a:solidFill>
            <a:srgbClr val="F0F3F7"/>
          </a:solidFill>
          <a:ln w="12700">
            <a:solidFill>
              <a:srgbClr val="DFE6EE"/>
            </a:solidFill>
            <a:prstDash val="solid"/>
          </a:ln>
        </p:spPr>
        <p:txBody>
          <a:bodyPr/>
          <a:lstStyle/>
          <a:p>
            <a:endParaRPr lang="en-US"/>
          </a:p>
        </p:txBody>
      </p:sp>
      <p:sp>
        <p:nvSpPr>
          <p:cNvPr id="9" name="Shape 7"/>
          <p:cNvSpPr/>
          <p:nvPr/>
        </p:nvSpPr>
        <p:spPr>
          <a:xfrm>
            <a:off x="786384" y="1892808"/>
            <a:ext cx="109728" cy="109728"/>
          </a:xfrm>
          <a:prstGeom prst="ellipse">
            <a:avLst/>
          </a:prstGeom>
          <a:solidFill>
            <a:srgbClr val="2F5D8C"/>
          </a:solidFill>
          <a:ln w="12700">
            <a:solidFill>
              <a:srgbClr val="333333"/>
            </a:solidFill>
            <a:prstDash val="solid"/>
          </a:ln>
        </p:spPr>
        <p:txBody>
          <a:bodyPr/>
          <a:lstStyle/>
          <a:p>
            <a:endParaRPr lang="en-US"/>
          </a:p>
        </p:txBody>
      </p:sp>
      <p:sp>
        <p:nvSpPr>
          <p:cNvPr id="10" name="Text 8"/>
          <p:cNvSpPr txBox="1"/>
          <p:nvPr/>
        </p:nvSpPr>
        <p:spPr>
          <a:xfrm>
            <a:off x="987552" y="1764792"/>
            <a:ext cx="4800600" cy="365760"/>
          </a:xfrm>
          <a:prstGeom prst="rect">
            <a:avLst/>
          </a:prstGeom>
          <a:noFill/>
          <a:ln/>
        </p:spPr>
        <p:txBody>
          <a:bodyPr wrap="square" lIns="0" tIns="0" rIns="0" bIns="0" rtlCol="0" anchor="ctr"/>
          <a:lstStyle/>
          <a:p>
            <a:pPr marL="0" indent="0">
              <a:buNone/>
            </a:pPr>
            <a:r>
              <a:rPr lang="en-US" sz="1500" b="1" dirty="0">
                <a:solidFill>
                  <a:srgbClr val="141C24"/>
                </a:solidFill>
                <a:latin typeface="Cambria" pitchFamily="34" charset="0"/>
                <a:ea typeface="Cambria" pitchFamily="34" charset="-122"/>
                <a:cs typeface="Cambria" pitchFamily="34" charset="-120"/>
              </a:rPr>
              <a:t>Audio models can perceive</a:t>
            </a:r>
            <a:endParaRPr lang="en-US" sz="1500" dirty="0"/>
          </a:p>
        </p:txBody>
      </p:sp>
      <p:sp>
        <p:nvSpPr>
          <p:cNvPr id="11" name="Text 9"/>
          <p:cNvSpPr txBox="1"/>
          <p:nvPr/>
        </p:nvSpPr>
        <p:spPr>
          <a:xfrm>
            <a:off x="822960" y="2203704"/>
            <a:ext cx="4928616" cy="1545336"/>
          </a:xfrm>
          <a:prstGeom prst="rect">
            <a:avLst/>
          </a:prstGeom>
          <a:noFill/>
          <a:ln/>
        </p:spPr>
        <p:txBody>
          <a:bodyPr wrap="square" lIns="0" tIns="0" rIns="0" bIns="0" rtlCol="0" anchor="t"/>
          <a:lstStyle/>
          <a:p>
            <a:pPr marL="0" indent="0">
              <a:lnSpc>
                <a:spcPct val="108000"/>
              </a:lnSpc>
              <a:buNone/>
            </a:pPr>
            <a:r>
              <a:rPr lang="en-US" sz="1260" dirty="0">
                <a:solidFill>
                  <a:srgbClr val="27323C"/>
                </a:solidFill>
                <a:latin typeface="Calibri" pitchFamily="34" charset="0"/>
                <a:ea typeface="Calibri" pitchFamily="34" charset="-122"/>
                <a:cs typeface="Calibri" pitchFamily="34" charset="-120"/>
              </a:rPr>
              <a:t>Since AudioSet, audio tagging mean average precision has risen from 31.4 to 47.3. Perception is strong and getting stronger.</a:t>
            </a:r>
            <a:endParaRPr lang="en-US" sz="1260" dirty="0"/>
          </a:p>
          <a:p>
            <a:pPr marL="0" indent="0">
              <a:lnSpc>
                <a:spcPct val="108000"/>
              </a:lnSpc>
              <a:buNone/>
            </a:pPr>
            <a:endParaRPr lang="en-US" sz="1260" dirty="0"/>
          </a:p>
          <a:p>
            <a:pPr marL="0" indent="0">
              <a:lnSpc>
                <a:spcPct val="108000"/>
              </a:lnSpc>
              <a:buNone/>
            </a:pPr>
            <a:r>
              <a:rPr lang="en-US" sz="1260" dirty="0">
                <a:solidFill>
                  <a:srgbClr val="27323C"/>
                </a:solidFill>
                <a:latin typeface="Calibri" pitchFamily="34" charset="0"/>
                <a:ea typeface="Calibri" pitchFamily="34" charset="-122"/>
                <a:cs typeface="Calibri" pitchFamily="34" charset="-120"/>
              </a:rPr>
              <a:t>But models trained on discrete label sets — AudioSet's 527 categories — possess very limited reasoning and understanding.</a:t>
            </a:r>
            <a:endParaRPr lang="en-US" sz="1260" dirty="0"/>
          </a:p>
          <a:p>
            <a:pPr marL="0" indent="0">
              <a:lnSpc>
                <a:spcPct val="108000"/>
              </a:lnSpc>
              <a:buNone/>
            </a:pPr>
            <a:endParaRPr lang="en-US" sz="1260" dirty="0"/>
          </a:p>
          <a:p>
            <a:pPr marL="0" indent="0">
              <a:lnSpc>
                <a:spcPct val="108000"/>
              </a:lnSpc>
              <a:buNone/>
            </a:pPr>
            <a:r>
              <a:rPr lang="en-US" sz="1260" dirty="0">
                <a:solidFill>
                  <a:srgbClr val="27323C"/>
                </a:solidFill>
                <a:latin typeface="Calibri" pitchFamily="34" charset="0"/>
                <a:ea typeface="Calibri" pitchFamily="34" charset="-122"/>
                <a:cs typeface="Calibri" pitchFamily="34" charset="-120"/>
              </a:rPr>
              <a:t>The paper's example: the model may recognise a clock chime six times, but not know that it indicates six o'clock.</a:t>
            </a:r>
            <a:endParaRPr lang="en-US" sz="1260" dirty="0"/>
          </a:p>
        </p:txBody>
      </p:sp>
      <p:sp>
        <p:nvSpPr>
          <p:cNvPr id="12" name="Shape 10"/>
          <p:cNvSpPr/>
          <p:nvPr/>
        </p:nvSpPr>
        <p:spPr>
          <a:xfrm>
            <a:off x="6190488" y="1600200"/>
            <a:ext cx="5440680" cy="2331720"/>
          </a:xfrm>
          <a:prstGeom prst="roundRect">
            <a:avLst>
              <a:gd name="adj" fmla="val 2353"/>
            </a:avLst>
          </a:prstGeom>
          <a:solidFill>
            <a:srgbClr val="F0F3F7"/>
          </a:solidFill>
          <a:ln w="12700">
            <a:solidFill>
              <a:srgbClr val="DFE6EE"/>
            </a:solidFill>
            <a:prstDash val="solid"/>
          </a:ln>
        </p:spPr>
        <p:txBody>
          <a:bodyPr/>
          <a:lstStyle/>
          <a:p>
            <a:endParaRPr lang="en-US"/>
          </a:p>
        </p:txBody>
      </p:sp>
      <p:sp>
        <p:nvSpPr>
          <p:cNvPr id="13" name="Shape 11"/>
          <p:cNvSpPr/>
          <p:nvPr/>
        </p:nvSpPr>
        <p:spPr>
          <a:xfrm>
            <a:off x="6409944" y="1892808"/>
            <a:ext cx="109728" cy="109728"/>
          </a:xfrm>
          <a:prstGeom prst="ellipse">
            <a:avLst/>
          </a:prstGeom>
          <a:solidFill>
            <a:srgbClr val="E4A11B"/>
          </a:solidFill>
          <a:ln w="12700">
            <a:solidFill>
              <a:srgbClr val="333333"/>
            </a:solidFill>
            <a:prstDash val="solid"/>
          </a:ln>
        </p:spPr>
        <p:txBody>
          <a:bodyPr/>
          <a:lstStyle/>
          <a:p>
            <a:endParaRPr lang="en-US"/>
          </a:p>
        </p:txBody>
      </p:sp>
      <p:sp>
        <p:nvSpPr>
          <p:cNvPr id="14" name="Text 12"/>
          <p:cNvSpPr txBox="1"/>
          <p:nvPr/>
        </p:nvSpPr>
        <p:spPr>
          <a:xfrm>
            <a:off x="6611112" y="1764792"/>
            <a:ext cx="4800600" cy="365760"/>
          </a:xfrm>
          <a:prstGeom prst="rect">
            <a:avLst/>
          </a:prstGeom>
          <a:noFill/>
          <a:ln/>
        </p:spPr>
        <p:txBody>
          <a:bodyPr wrap="square" lIns="0" tIns="0" rIns="0" bIns="0" rtlCol="0" anchor="ctr"/>
          <a:lstStyle/>
          <a:p>
            <a:pPr marL="0" indent="0">
              <a:buNone/>
            </a:pPr>
            <a:r>
              <a:rPr lang="en-US" sz="1500" b="1" dirty="0">
                <a:solidFill>
                  <a:srgbClr val="141C24"/>
                </a:solidFill>
                <a:latin typeface="Cambria" pitchFamily="34" charset="0"/>
                <a:ea typeface="Cambria" pitchFamily="34" charset="-122"/>
                <a:cs typeface="Cambria" pitchFamily="34" charset="-120"/>
              </a:rPr>
              <a:t>Language models can reason</a:t>
            </a:r>
            <a:endParaRPr lang="en-US" sz="1500" dirty="0"/>
          </a:p>
        </p:txBody>
      </p:sp>
      <p:sp>
        <p:nvSpPr>
          <p:cNvPr id="15" name="Text 13"/>
          <p:cNvSpPr txBox="1"/>
          <p:nvPr/>
        </p:nvSpPr>
        <p:spPr>
          <a:xfrm>
            <a:off x="6446520" y="2203704"/>
            <a:ext cx="4928616" cy="1545336"/>
          </a:xfrm>
          <a:prstGeom prst="rect">
            <a:avLst/>
          </a:prstGeom>
          <a:noFill/>
          <a:ln/>
        </p:spPr>
        <p:txBody>
          <a:bodyPr wrap="square" lIns="0" tIns="0" rIns="0" bIns="0" rtlCol="0" anchor="t"/>
          <a:lstStyle/>
          <a:p>
            <a:pPr marL="0" indent="0">
              <a:lnSpc>
                <a:spcPct val="108000"/>
              </a:lnSpc>
              <a:buNone/>
            </a:pPr>
            <a:r>
              <a:rPr lang="en-US" sz="1260" dirty="0">
                <a:solidFill>
                  <a:srgbClr val="27323C"/>
                </a:solidFill>
                <a:latin typeface="Calibri" pitchFamily="34" charset="0"/>
                <a:ea typeface="Calibri" pitchFamily="34" charset="-122"/>
                <a:cs typeface="Calibri" pitchFamily="34" charset="-120"/>
              </a:rPr>
              <a:t>GPT and LLaMA possess strong audio knowledge and reasoning without any in-domain audio training. Ask ChatGPT what a dog bark sounds like and it will tell you it is short, repetitive and sharp.</a:t>
            </a:r>
            <a:endParaRPr lang="en-US" sz="1260" dirty="0"/>
          </a:p>
          <a:p>
            <a:pPr marL="0" indent="0">
              <a:lnSpc>
                <a:spcPct val="108000"/>
              </a:lnSpc>
              <a:buNone/>
            </a:pPr>
            <a:endParaRPr lang="en-US" sz="1260" dirty="0"/>
          </a:p>
          <a:p>
            <a:pPr marL="0" indent="0">
              <a:lnSpc>
                <a:spcPct val="108000"/>
              </a:lnSpc>
              <a:buNone/>
            </a:pPr>
            <a:r>
              <a:rPr lang="en-US" sz="1260" dirty="0">
                <a:solidFill>
                  <a:srgbClr val="27323C"/>
                </a:solidFill>
                <a:latin typeface="Calibri" pitchFamily="34" charset="0"/>
                <a:ea typeface="Calibri" pitchFamily="34" charset="-122"/>
                <a:cs typeface="Calibri" pitchFamily="34" charset="-120"/>
              </a:rPr>
              <a:t>But even the most advanced language models cannot perceive general audio events.</a:t>
            </a:r>
            <a:endParaRPr lang="en-US" sz="1260" dirty="0"/>
          </a:p>
          <a:p>
            <a:pPr marL="0" indent="0">
              <a:lnSpc>
                <a:spcPct val="108000"/>
              </a:lnSpc>
              <a:buNone/>
            </a:pPr>
            <a:endParaRPr lang="en-US" sz="1260" dirty="0"/>
          </a:p>
          <a:p>
            <a:pPr marL="0" indent="0">
              <a:lnSpc>
                <a:spcPct val="108000"/>
              </a:lnSpc>
              <a:buNone/>
            </a:pPr>
            <a:r>
              <a:rPr lang="en-US" sz="1260" dirty="0">
                <a:solidFill>
                  <a:srgbClr val="27323C"/>
                </a:solidFill>
                <a:latin typeface="Calibri" pitchFamily="34" charset="0"/>
                <a:ea typeface="Calibri" pitchFamily="34" charset="-122"/>
                <a:cs typeface="Calibri" pitchFamily="34" charset="-120"/>
              </a:rPr>
              <a:t>They know about sound without being able to hear it.</a:t>
            </a:r>
            <a:endParaRPr lang="en-US" sz="1260" dirty="0"/>
          </a:p>
        </p:txBody>
      </p:sp>
      <p:sp>
        <p:nvSpPr>
          <p:cNvPr id="16" name="Shape 14"/>
          <p:cNvSpPr/>
          <p:nvPr/>
        </p:nvSpPr>
        <p:spPr>
          <a:xfrm>
            <a:off x="566928" y="4133088"/>
            <a:ext cx="11064240" cy="1920240"/>
          </a:xfrm>
          <a:prstGeom prst="roundRect">
            <a:avLst>
              <a:gd name="adj" fmla="val 2857"/>
            </a:avLst>
          </a:prstGeom>
          <a:solidFill>
            <a:srgbClr val="1E2833"/>
          </a:solidFill>
          <a:ln w="12700">
            <a:solidFill>
              <a:srgbClr val="1E2833"/>
            </a:solidFill>
            <a:prstDash val="solid"/>
          </a:ln>
        </p:spPr>
        <p:txBody>
          <a:bodyPr/>
          <a:lstStyle/>
          <a:p>
            <a:endParaRPr lang="en-US"/>
          </a:p>
        </p:txBody>
      </p:sp>
      <p:sp>
        <p:nvSpPr>
          <p:cNvPr id="17" name="Shape 15"/>
          <p:cNvSpPr/>
          <p:nvPr/>
        </p:nvSpPr>
        <p:spPr>
          <a:xfrm>
            <a:off x="786384" y="4425696"/>
            <a:ext cx="109728" cy="109728"/>
          </a:xfrm>
          <a:prstGeom prst="ellipse">
            <a:avLst/>
          </a:prstGeom>
          <a:solidFill>
            <a:srgbClr val="E4A11B"/>
          </a:solidFill>
          <a:ln w="12700">
            <a:solidFill>
              <a:srgbClr val="333333"/>
            </a:solidFill>
            <a:prstDash val="solid"/>
          </a:ln>
        </p:spPr>
        <p:txBody>
          <a:bodyPr/>
          <a:lstStyle/>
          <a:p>
            <a:endParaRPr lang="en-US"/>
          </a:p>
        </p:txBody>
      </p:sp>
      <p:sp>
        <p:nvSpPr>
          <p:cNvPr id="18" name="Text 16"/>
          <p:cNvSpPr txBox="1"/>
          <p:nvPr/>
        </p:nvSpPr>
        <p:spPr>
          <a:xfrm>
            <a:off x="987552" y="4297680"/>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The question</a:t>
            </a:r>
            <a:endParaRPr lang="en-US" sz="1500" dirty="0"/>
          </a:p>
        </p:txBody>
      </p:sp>
      <p:sp>
        <p:nvSpPr>
          <p:cNvPr id="19" name="Text 17"/>
          <p:cNvSpPr txBox="1"/>
          <p:nvPr/>
        </p:nvSpPr>
        <p:spPr>
          <a:xfrm>
            <a:off x="822960" y="4736592"/>
            <a:ext cx="10552176" cy="1133856"/>
          </a:xfrm>
          <a:prstGeom prst="rect">
            <a:avLst/>
          </a:prstGeom>
          <a:noFill/>
          <a:ln/>
        </p:spPr>
        <p:txBody>
          <a:bodyPr wrap="square" lIns="0" tIns="0" rIns="0" bIns="0" rtlCol="0" anchor="t"/>
          <a:lstStyle/>
          <a:p>
            <a:pPr marL="0" indent="0">
              <a:lnSpc>
                <a:spcPct val="108000"/>
              </a:lnSpc>
              <a:buNone/>
            </a:pPr>
            <a:r>
              <a:rPr lang="en-US" sz="1300" dirty="0">
                <a:solidFill>
                  <a:srgbClr val="C3D3DE"/>
                </a:solidFill>
                <a:latin typeface="Calibri" pitchFamily="34" charset="0"/>
                <a:ea typeface="Calibri" pitchFamily="34" charset="-122"/>
                <a:cs typeface="Calibri" pitchFamily="34" charset="-120"/>
              </a:rPr>
              <a:t>Can we build a model that has both audio perception and a reasoning ability?</a:t>
            </a:r>
            <a:endParaRPr lang="en-US" sz="1300" dirty="0"/>
          </a:p>
          <a:p>
            <a:pPr marL="0" indent="0">
              <a:lnSpc>
                <a:spcPct val="108000"/>
              </a:lnSpc>
              <a:buNone/>
            </a:pPr>
            <a:endParaRPr lang="en-US" sz="1300" dirty="0"/>
          </a:p>
          <a:p>
            <a:pPr marL="0" indent="0">
              <a:lnSpc>
                <a:spcPct val="108000"/>
              </a:lnSpc>
              <a:buNone/>
            </a:pPr>
            <a:r>
              <a:rPr lang="en-US" sz="1300" dirty="0">
                <a:solidFill>
                  <a:srgbClr val="C3D3DE"/>
                </a:solidFill>
                <a:latin typeface="Calibri" pitchFamily="34" charset="0"/>
                <a:ea typeface="Calibri" pitchFamily="34" charset="-122"/>
                <a:cs typeface="Calibri" pitchFamily="34" charset="-120"/>
              </a:rPr>
              <a:t>What humans do that neither side does: listen to the finer details, explain the reason for a prediction, think about what the sound infers, and understand the scene and what action needs to be taken, if any.</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1E2833"/>
        </a:solidFill>
        <a:effectLst/>
      </p:bgPr>
    </p:bg>
    <p:spTree>
      <p:nvGrpSpPr>
        <p:cNvPr id="1" name=""/>
        <p:cNvGrpSpPr/>
        <p:nvPr/>
      </p:nvGrpSpPr>
      <p:grpSpPr>
        <a:xfrm>
          <a:off x="0" y="0"/>
          <a:ext cx="0" cy="0"/>
          <a:chOff x="0" y="0"/>
          <a:chExt cx="0" cy="0"/>
        </a:xfrm>
      </p:grpSpPr>
      <p:sp>
        <p:nvSpPr>
          <p:cNvPr id="2" name="Shape 0"/>
          <p:cNvSpPr/>
          <p:nvPr/>
        </p:nvSpPr>
        <p:spPr>
          <a:xfrm>
            <a:off x="10515600" y="5477256"/>
            <a:ext cx="164592" cy="164592"/>
          </a:xfrm>
          <a:prstGeom prst="ellipse">
            <a:avLst/>
          </a:prstGeom>
          <a:solidFill>
            <a:srgbClr val="C3D3DE"/>
          </a:solidFill>
          <a:ln w="12700">
            <a:solidFill>
              <a:srgbClr val="333333"/>
            </a:solidFill>
            <a:prstDash val="solid"/>
          </a:ln>
        </p:spPr>
        <p:txBody>
          <a:bodyPr/>
          <a:lstStyle/>
          <a:p>
            <a:endParaRPr lang="en-US"/>
          </a:p>
        </p:txBody>
      </p:sp>
      <p:sp>
        <p:nvSpPr>
          <p:cNvPr id="3" name="Shape 1"/>
          <p:cNvSpPr/>
          <p:nvPr/>
        </p:nvSpPr>
        <p:spPr>
          <a:xfrm>
            <a:off x="10771632" y="5440680"/>
            <a:ext cx="237744" cy="237744"/>
          </a:xfrm>
          <a:prstGeom prst="ellipse">
            <a:avLst/>
          </a:prstGeom>
          <a:solidFill>
            <a:srgbClr val="C3D3DE"/>
          </a:solidFill>
          <a:ln w="12700">
            <a:solidFill>
              <a:srgbClr val="333333"/>
            </a:solidFill>
            <a:prstDash val="solid"/>
          </a:ln>
        </p:spPr>
        <p:txBody>
          <a:bodyPr/>
          <a:lstStyle/>
          <a:p>
            <a:endParaRPr lang="en-US"/>
          </a:p>
        </p:txBody>
      </p:sp>
      <p:sp>
        <p:nvSpPr>
          <p:cNvPr id="4" name="Shape 2"/>
          <p:cNvSpPr/>
          <p:nvPr/>
        </p:nvSpPr>
        <p:spPr>
          <a:xfrm>
            <a:off x="11100816" y="5394960"/>
            <a:ext cx="329184" cy="329184"/>
          </a:xfrm>
          <a:prstGeom prst="ellipse">
            <a:avLst/>
          </a:prstGeom>
          <a:solidFill>
            <a:srgbClr val="E4A11B"/>
          </a:solidFill>
          <a:ln w="12700">
            <a:solidFill>
              <a:srgbClr val="333333"/>
            </a:solidFill>
            <a:prstDash val="solid"/>
          </a:ln>
        </p:spPr>
        <p:txBody>
          <a:bodyPr/>
          <a:lstStyle/>
          <a:p>
            <a:endParaRPr lang="en-US"/>
          </a:p>
        </p:txBody>
      </p:sp>
      <p:sp>
        <p:nvSpPr>
          <p:cNvPr id="5" name="Text 3"/>
          <p:cNvSpPr txBox="1"/>
          <p:nvPr/>
        </p:nvSpPr>
        <p:spPr>
          <a:xfrm>
            <a:off x="822960" y="2057400"/>
            <a:ext cx="1554480" cy="1005840"/>
          </a:xfrm>
          <a:prstGeom prst="rect">
            <a:avLst/>
          </a:prstGeom>
          <a:noFill/>
          <a:ln/>
        </p:spPr>
        <p:txBody>
          <a:bodyPr wrap="square" lIns="0" tIns="0" rIns="0" bIns="0" rtlCol="0" anchor="ctr"/>
          <a:lstStyle/>
          <a:p>
            <a:pPr marL="0" indent="0">
              <a:buNone/>
            </a:pPr>
            <a:r>
              <a:rPr lang="en-US" sz="6600" b="1" dirty="0">
                <a:solidFill>
                  <a:srgbClr val="E4A11B"/>
                </a:solidFill>
                <a:latin typeface="Cambria" pitchFamily="34" charset="0"/>
                <a:ea typeface="Cambria" pitchFamily="34" charset="-122"/>
                <a:cs typeface="Cambria" pitchFamily="34" charset="-120"/>
              </a:rPr>
              <a:t>2</a:t>
            </a:r>
            <a:endParaRPr lang="en-US" sz="6600" dirty="0"/>
          </a:p>
        </p:txBody>
      </p:sp>
      <p:sp>
        <p:nvSpPr>
          <p:cNvPr id="6" name="Text 4"/>
          <p:cNvSpPr txBox="1"/>
          <p:nvPr/>
        </p:nvSpPr>
        <p:spPr>
          <a:xfrm>
            <a:off x="2377440" y="2212848"/>
            <a:ext cx="8686800" cy="822960"/>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OpenAQA-5M</a:t>
            </a:r>
            <a:endParaRPr lang="en-US" sz="3300" dirty="0"/>
          </a:p>
        </p:txBody>
      </p:sp>
      <p:sp>
        <p:nvSpPr>
          <p:cNvPr id="7" name="Text 5"/>
          <p:cNvSpPr txBox="1"/>
          <p:nvPr/>
        </p:nvSpPr>
        <p:spPr>
          <a:xfrm>
            <a:off x="2432304" y="3072384"/>
            <a:ext cx="8503920" cy="731520"/>
          </a:xfrm>
          <a:prstGeom prst="rect">
            <a:avLst/>
          </a:prstGeom>
          <a:noFill/>
          <a:ln/>
        </p:spPr>
        <p:txBody>
          <a:bodyPr wrap="square" lIns="0" tIns="0" rIns="0" bIns="0" rtlCol="0" anchor="ctr"/>
          <a:lstStyle/>
          <a:p>
            <a:pPr marL="0" indent="0">
              <a:buNone/>
            </a:pPr>
            <a:r>
              <a:rPr lang="en-US" sz="1500" dirty="0">
                <a:solidFill>
                  <a:srgbClr val="C3D3DE"/>
                </a:solidFill>
                <a:latin typeface="Calibri" pitchFamily="34" charset="0"/>
                <a:ea typeface="Calibri" pitchFamily="34" charset="-122"/>
                <a:cs typeface="Calibri" pitchFamily="34" charset="-120"/>
              </a:rPr>
              <a:t>How you make 3.7 million questions about audio</a:t>
            </a:r>
            <a:endParaRPr lang="en-US" sz="1500" dirty="0"/>
          </a:p>
        </p:txBody>
      </p:sp>
      <p:sp>
        <p:nvSpPr>
          <p:cNvPr id="8" name="Text 6"/>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93A5B4"/>
                </a:solidFill>
                <a:latin typeface="Calibri" pitchFamily="34" charset="0"/>
                <a:ea typeface="Calibri" pitchFamily="34" charset="-122"/>
                <a:cs typeface="Calibri" pitchFamily="34" charset="-120"/>
              </a:rPr>
              <a:t>LTU · Gong et al. 2024  |  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027664" y="516636"/>
            <a:ext cx="82296" cy="82296"/>
          </a:xfrm>
          <a:prstGeom prst="ellipse">
            <a:avLst/>
          </a:prstGeom>
          <a:solidFill>
            <a:srgbClr val="2F5D8C"/>
          </a:solidFill>
          <a:ln w="12700">
            <a:solidFill>
              <a:srgbClr val="333333"/>
            </a:solidFill>
            <a:prstDash val="solid"/>
          </a:ln>
        </p:spPr>
        <p:txBody>
          <a:bodyPr/>
          <a:lstStyle/>
          <a:p>
            <a:endParaRPr lang="en-US"/>
          </a:p>
        </p:txBody>
      </p:sp>
      <p:sp>
        <p:nvSpPr>
          <p:cNvPr id="3" name="Shape 1"/>
          <p:cNvSpPr/>
          <p:nvPr/>
        </p:nvSpPr>
        <p:spPr>
          <a:xfrm>
            <a:off x="11155680" y="498348"/>
            <a:ext cx="118872" cy="118872"/>
          </a:xfrm>
          <a:prstGeom prst="ellipse">
            <a:avLst/>
          </a:prstGeom>
          <a:solidFill>
            <a:srgbClr val="2F5D8C"/>
          </a:solidFill>
          <a:ln w="12700">
            <a:solidFill>
              <a:srgbClr val="333333"/>
            </a:solidFill>
            <a:prstDash val="solid"/>
          </a:ln>
        </p:spPr>
        <p:txBody>
          <a:bodyPr/>
          <a:lstStyle/>
          <a:p>
            <a:endParaRPr lang="en-US"/>
          </a:p>
        </p:txBody>
      </p:sp>
      <p:sp>
        <p:nvSpPr>
          <p:cNvPr id="4" name="Shape 2"/>
          <p:cNvSpPr/>
          <p:nvPr/>
        </p:nvSpPr>
        <p:spPr>
          <a:xfrm>
            <a:off x="11320272" y="475488"/>
            <a:ext cx="164592" cy="164592"/>
          </a:xfrm>
          <a:prstGeom prst="ellipse">
            <a:avLst/>
          </a:prstGeom>
          <a:solidFill>
            <a:srgbClr val="E4A11B"/>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141C24"/>
                </a:solidFill>
                <a:latin typeface="Cambria" pitchFamily="34" charset="0"/>
                <a:ea typeface="Cambria" pitchFamily="34" charset="-122"/>
                <a:cs typeface="Cambria" pitchFamily="34" charset="-120"/>
              </a:rPr>
              <a:t>The dataset</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56646F"/>
                </a:solidFill>
                <a:latin typeface="Calibri" pitchFamily="34" charset="0"/>
                <a:ea typeface="Calibri" pitchFamily="34" charset="-122"/>
                <a:cs typeface="Calibri" pitchFamily="34" charset="-120"/>
              </a:rPr>
              <a:t>Two subsets, eight source corpora, 845,000 clips</a:t>
            </a:r>
            <a:endParaRPr lang="en-US" sz="1350" dirty="0"/>
          </a:p>
        </p:txBody>
      </p:sp>
      <p:sp>
        <p:nvSpPr>
          <p:cNvPr id="7" name="Text 5"/>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93A5B4"/>
                </a:solidFill>
                <a:latin typeface="Calibri" pitchFamily="34" charset="0"/>
                <a:ea typeface="Calibri" pitchFamily="34" charset="-122"/>
                <a:cs typeface="Calibri" pitchFamily="34" charset="-120"/>
              </a:rPr>
              <a:t>LTU · Gong et al. 2024  |  7</a:t>
            </a:r>
            <a:endParaRPr lang="en-US" sz="900" dirty="0"/>
          </a:p>
        </p:txBody>
      </p:sp>
      <p:graphicFrame>
        <p:nvGraphicFramePr>
          <p:cNvPr id="8" name="Chart 0"/>
          <p:cNvGraphicFramePr/>
          <p:nvPr/>
        </p:nvGraphicFramePr>
        <p:xfrm>
          <a:off x="566928" y="1554480"/>
          <a:ext cx="667512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6"/>
          <p:cNvSpPr txBox="1"/>
          <p:nvPr/>
        </p:nvSpPr>
        <p:spPr>
          <a:xfrm>
            <a:off x="7498080" y="1700784"/>
            <a:ext cx="4133088" cy="3383280"/>
          </a:xfrm>
          <a:prstGeom prst="rect">
            <a:avLst/>
          </a:prstGeom>
          <a:noFill/>
          <a:ln/>
        </p:spPr>
        <p:txBody>
          <a:bodyPr wrap="square" lIns="0" tIns="0" rIns="0" bIns="0" rtlCol="0" anchor="t"/>
          <a:lstStyle/>
          <a:p>
            <a:pPr marL="342900" indent="-342900">
              <a:spcAft>
                <a:spcPts val="800"/>
              </a:spcAft>
              <a:buSzPct val="100000"/>
              <a:buChar char="●"/>
            </a:pPr>
            <a:r>
              <a:rPr lang="en-US" sz="1220" dirty="0">
                <a:solidFill>
                  <a:srgbClr val="27323C"/>
                </a:solidFill>
                <a:latin typeface="Calibri" pitchFamily="34" charset="0"/>
                <a:ea typeface="Calibri" pitchFamily="34" charset="-122"/>
                <a:cs typeface="Calibri" pitchFamily="34" charset="-120"/>
              </a:rPr>
              <a:t>No new audio was collected. Eight existing corpora were relabelled into (audio, question, answer) tuples — AudioSet weak and strong, VGGSound, FSD50K, AudioCaps, FreeSound, Clotho, Sound Bible.</a:t>
            </a:r>
            <a:endParaRPr lang="en-US" sz="1220" dirty="0"/>
          </a:p>
          <a:p>
            <a:pPr marL="342900" indent="-342900">
              <a:spcAft>
                <a:spcPts val="800"/>
              </a:spcAft>
              <a:buSzPct val="100000"/>
              <a:buChar char="●"/>
            </a:pPr>
            <a:r>
              <a:rPr lang="en-US" sz="1220" dirty="0">
                <a:solidFill>
                  <a:srgbClr val="27323C"/>
                </a:solidFill>
                <a:latin typeface="Calibri" pitchFamily="34" charset="0"/>
                <a:ea typeface="Calibri" pitchFamily="34" charset="-122"/>
                <a:cs typeface="Calibri" pitchFamily="34" charset="-120"/>
              </a:rPr>
              <a:t>Only training and validation splits were used; anything marked test or evaluation was excluded.</a:t>
            </a:r>
            <a:endParaRPr lang="en-US" sz="1220" dirty="0"/>
          </a:p>
          <a:p>
            <a:pPr marL="342900" indent="-342900">
              <a:spcAft>
                <a:spcPts val="800"/>
              </a:spcAft>
              <a:buSzPct val="100000"/>
              <a:buChar char="●"/>
            </a:pPr>
            <a:r>
              <a:rPr lang="en-US" sz="1220" dirty="0">
                <a:solidFill>
                  <a:srgbClr val="27323C"/>
                </a:solidFill>
                <a:latin typeface="Calibri" pitchFamily="34" charset="0"/>
                <a:ea typeface="Calibri" pitchFamily="34" charset="-122"/>
                <a:cs typeface="Calibri" pitchFamily="34" charset="-120"/>
              </a:rPr>
              <a:t>The closed-ended half covers four tasks: classification, acoustic features, captioning and temporal analysis.</a:t>
            </a:r>
            <a:endParaRPr lang="en-US" sz="1220" dirty="0"/>
          </a:p>
          <a:p>
            <a:pPr marL="342900" indent="-342900">
              <a:spcAft>
                <a:spcPts val="800"/>
              </a:spcAft>
              <a:buSzPct val="100000"/>
              <a:buChar char="●"/>
            </a:pPr>
            <a:r>
              <a:rPr lang="en-US" sz="1220" dirty="0">
                <a:solidFill>
                  <a:srgbClr val="27323C"/>
                </a:solidFill>
                <a:latin typeface="Calibri" pitchFamily="34" charset="0"/>
                <a:ea typeface="Calibri" pitchFamily="34" charset="-122"/>
                <a:cs typeface="Calibri" pitchFamily="34" charset="-120"/>
              </a:rPr>
              <a:t>Acoustic-feature questions are the largest closed-ended category at 845K pairs — 44% of the closed-ended subset.</a:t>
            </a:r>
            <a:endParaRPr lang="en-US" sz="1220" dirty="0"/>
          </a:p>
        </p:txBody>
      </p:sp>
      <p:sp>
        <p:nvSpPr>
          <p:cNvPr id="10" name="Shape 7"/>
          <p:cNvSpPr/>
          <p:nvPr/>
        </p:nvSpPr>
        <p:spPr>
          <a:xfrm>
            <a:off x="566928" y="5266944"/>
            <a:ext cx="11064240" cy="786384"/>
          </a:xfrm>
          <a:prstGeom prst="roundRect">
            <a:avLst>
              <a:gd name="adj" fmla="val 6977"/>
            </a:avLst>
          </a:prstGeom>
          <a:solidFill>
            <a:srgbClr val="1E2833"/>
          </a:solidFill>
          <a:ln w="12700">
            <a:solidFill>
              <a:srgbClr val="1E2833"/>
            </a:solidFill>
            <a:prstDash val="solid"/>
          </a:ln>
        </p:spPr>
        <p:txBody>
          <a:bodyPr/>
          <a:lstStyle/>
          <a:p>
            <a:endParaRPr lang="en-US"/>
          </a:p>
        </p:txBody>
      </p:sp>
      <p:sp>
        <p:nvSpPr>
          <p:cNvPr id="11" name="Text 8"/>
          <p:cNvSpPr txBox="1"/>
          <p:nvPr/>
        </p:nvSpPr>
        <p:spPr>
          <a:xfrm>
            <a:off x="822960" y="5486400"/>
            <a:ext cx="10552176" cy="365760"/>
          </a:xfrm>
          <a:prstGeom prst="rect">
            <a:avLst/>
          </a:prstGeom>
          <a:noFill/>
          <a:ln/>
        </p:spPr>
        <p:txBody>
          <a:bodyPr wrap="square" lIns="0" tIns="0" rIns="0" bIns="0" rtlCol="0" anchor="t"/>
          <a:lstStyle/>
          <a:p>
            <a:pPr marL="0" indent="0">
              <a:lnSpc>
                <a:spcPct val="108000"/>
              </a:lnSpc>
              <a:buNone/>
            </a:pPr>
            <a:r>
              <a:rPr lang="en-US" sz="1300" dirty="0">
                <a:solidFill>
                  <a:srgbClr val="C3D3DE"/>
                </a:solidFill>
                <a:latin typeface="Calibri" pitchFamily="34" charset="0"/>
                <a:ea typeface="Calibri" pitchFamily="34" charset="-122"/>
                <a:cs typeface="Calibri" pitchFamily="34" charset="-120"/>
              </a:rPr>
              <a:t>Formulating every task as audio question answering is what lets eight heterogeneous corpora become one dataset — Qwen-Audio's interference problem, solved by format rather than by tags.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027664" y="516636"/>
            <a:ext cx="82296" cy="82296"/>
          </a:xfrm>
          <a:prstGeom prst="ellipse">
            <a:avLst/>
          </a:prstGeom>
          <a:solidFill>
            <a:srgbClr val="2F5D8C"/>
          </a:solidFill>
          <a:ln w="12700">
            <a:solidFill>
              <a:srgbClr val="333333"/>
            </a:solidFill>
            <a:prstDash val="solid"/>
          </a:ln>
        </p:spPr>
        <p:txBody>
          <a:bodyPr/>
          <a:lstStyle/>
          <a:p>
            <a:endParaRPr lang="en-US"/>
          </a:p>
        </p:txBody>
      </p:sp>
      <p:sp>
        <p:nvSpPr>
          <p:cNvPr id="3" name="Shape 1"/>
          <p:cNvSpPr/>
          <p:nvPr/>
        </p:nvSpPr>
        <p:spPr>
          <a:xfrm>
            <a:off x="11155680" y="498348"/>
            <a:ext cx="118872" cy="118872"/>
          </a:xfrm>
          <a:prstGeom prst="ellipse">
            <a:avLst/>
          </a:prstGeom>
          <a:solidFill>
            <a:srgbClr val="2F5D8C"/>
          </a:solidFill>
          <a:ln w="12700">
            <a:solidFill>
              <a:srgbClr val="333333"/>
            </a:solidFill>
            <a:prstDash val="solid"/>
          </a:ln>
        </p:spPr>
        <p:txBody>
          <a:bodyPr/>
          <a:lstStyle/>
          <a:p>
            <a:endParaRPr lang="en-US"/>
          </a:p>
        </p:txBody>
      </p:sp>
      <p:sp>
        <p:nvSpPr>
          <p:cNvPr id="4" name="Shape 2"/>
          <p:cNvSpPr/>
          <p:nvPr/>
        </p:nvSpPr>
        <p:spPr>
          <a:xfrm>
            <a:off x="11320272" y="475488"/>
            <a:ext cx="164592" cy="164592"/>
          </a:xfrm>
          <a:prstGeom prst="ellipse">
            <a:avLst/>
          </a:prstGeom>
          <a:solidFill>
            <a:srgbClr val="E4A11B"/>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141C24"/>
                </a:solidFill>
                <a:latin typeface="Cambria" pitchFamily="34" charset="0"/>
                <a:ea typeface="Cambria" pitchFamily="34" charset="-122"/>
                <a:cs typeface="Cambria" pitchFamily="34" charset="-120"/>
              </a:rPr>
              <a:t>The four closed-ended tasks</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56646F"/>
                </a:solidFill>
                <a:latin typeface="Calibri" pitchFamily="34" charset="0"/>
                <a:ea typeface="Calibri" pitchFamily="34" charset="-122"/>
                <a:cs typeface="Calibri" pitchFamily="34" charset="-120"/>
              </a:rPr>
              <a:t>Questions paraphrased by GPT; answers generated by rule</a:t>
            </a:r>
            <a:endParaRPr lang="en-US" sz="1350" dirty="0"/>
          </a:p>
        </p:txBody>
      </p:sp>
      <p:sp>
        <p:nvSpPr>
          <p:cNvPr id="7" name="Text 5"/>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93A5B4"/>
                </a:solidFill>
                <a:latin typeface="Calibri" pitchFamily="34" charset="0"/>
                <a:ea typeface="Calibri" pitchFamily="34" charset="-122"/>
                <a:cs typeface="Calibri" pitchFamily="34" charset="-120"/>
              </a:rPr>
              <a:t>LTU · Gong et al. 2024  |  8</a:t>
            </a:r>
            <a:endParaRPr lang="en-US" sz="900" dirty="0"/>
          </a:p>
        </p:txBody>
      </p:sp>
      <p:sp>
        <p:nvSpPr>
          <p:cNvPr id="8" name="Shape 6"/>
          <p:cNvSpPr/>
          <p:nvPr/>
        </p:nvSpPr>
        <p:spPr>
          <a:xfrm>
            <a:off x="566928" y="1554480"/>
            <a:ext cx="11064240" cy="1060704"/>
          </a:xfrm>
          <a:prstGeom prst="roundRect">
            <a:avLst>
              <a:gd name="adj" fmla="val 2586"/>
            </a:avLst>
          </a:prstGeom>
          <a:solidFill>
            <a:srgbClr val="F0F3F7"/>
          </a:solidFill>
          <a:ln w="12700">
            <a:solidFill>
              <a:srgbClr val="E6ECF2"/>
            </a:solidFill>
            <a:prstDash val="solid"/>
          </a:ln>
        </p:spPr>
        <p:txBody>
          <a:bodyPr/>
          <a:lstStyle/>
          <a:p>
            <a:endParaRPr lang="en-US"/>
          </a:p>
        </p:txBody>
      </p:sp>
      <p:sp>
        <p:nvSpPr>
          <p:cNvPr id="9" name="Shape 7"/>
          <p:cNvSpPr/>
          <p:nvPr/>
        </p:nvSpPr>
        <p:spPr>
          <a:xfrm>
            <a:off x="786384" y="2025396"/>
            <a:ext cx="118872" cy="118872"/>
          </a:xfrm>
          <a:prstGeom prst="ellipse">
            <a:avLst/>
          </a:prstGeom>
          <a:solidFill>
            <a:srgbClr val="2F5D8C"/>
          </a:solidFill>
          <a:ln w="12700">
            <a:solidFill>
              <a:srgbClr val="333333"/>
            </a:solidFill>
            <a:prstDash val="solid"/>
          </a:ln>
        </p:spPr>
        <p:txBody>
          <a:bodyPr/>
          <a:lstStyle/>
          <a:p>
            <a:endParaRPr lang="en-US"/>
          </a:p>
        </p:txBody>
      </p:sp>
      <p:sp>
        <p:nvSpPr>
          <p:cNvPr id="10" name="Text 8"/>
          <p:cNvSpPr txBox="1"/>
          <p:nvPr/>
        </p:nvSpPr>
        <p:spPr>
          <a:xfrm>
            <a:off x="1024128" y="1645920"/>
            <a:ext cx="2651760" cy="877824"/>
          </a:xfrm>
          <a:prstGeom prst="rect">
            <a:avLst/>
          </a:prstGeom>
          <a:noFill/>
          <a:ln/>
        </p:spPr>
        <p:txBody>
          <a:bodyPr wrap="square" lIns="0" tIns="0" rIns="0" bIns="0" rtlCol="0" anchor="ctr"/>
          <a:lstStyle/>
          <a:p>
            <a:pPr marL="0" indent="0">
              <a:buNone/>
            </a:pPr>
            <a:r>
              <a:rPr lang="en-US" sz="1300" b="1" dirty="0">
                <a:solidFill>
                  <a:srgbClr val="141C24"/>
                </a:solidFill>
                <a:latin typeface="Cambria" pitchFamily="34" charset="0"/>
                <a:ea typeface="Cambria" pitchFamily="34" charset="-122"/>
                <a:cs typeface="Cambria" pitchFamily="34" charset="-120"/>
              </a:rPr>
              <a:t>Classification</a:t>
            </a:r>
            <a:endParaRPr lang="en-US" sz="1300" dirty="0"/>
          </a:p>
        </p:txBody>
      </p:sp>
      <p:sp>
        <p:nvSpPr>
          <p:cNvPr id="11" name="Text 9"/>
          <p:cNvSpPr txBox="1"/>
          <p:nvPr/>
        </p:nvSpPr>
        <p:spPr>
          <a:xfrm>
            <a:off x="3858768" y="1627632"/>
            <a:ext cx="7589520" cy="914400"/>
          </a:xfrm>
          <a:prstGeom prst="rect">
            <a:avLst/>
          </a:prstGeom>
          <a:noFill/>
          <a:ln/>
        </p:spPr>
        <p:txBody>
          <a:bodyPr wrap="square" lIns="0" tIns="0" rIns="0" bIns="0" rtlCol="0" anchor="ctr"/>
          <a:lstStyle/>
          <a:p>
            <a:pPr marL="0" indent="0">
              <a:buNone/>
            </a:pPr>
            <a:r>
              <a:rPr lang="en-US" sz="1220" dirty="0">
                <a:solidFill>
                  <a:srgbClr val="27323C"/>
                </a:solidFill>
                <a:latin typeface="Calibri" pitchFamily="34" charset="0"/>
                <a:ea typeface="Calibri" pitchFamily="34" charset="-122"/>
                <a:cs typeface="Calibri" pitchFamily="34" charset="-120"/>
              </a:rPr>
              <a:t>'Classify the sound events in the audio clip' and its paraphrases. The answer is the list of sound class names the clip contains.</a:t>
            </a:r>
            <a:endParaRPr lang="en-US" sz="1220" dirty="0"/>
          </a:p>
        </p:txBody>
      </p:sp>
      <p:sp>
        <p:nvSpPr>
          <p:cNvPr id="12" name="Shape 10"/>
          <p:cNvSpPr/>
          <p:nvPr/>
        </p:nvSpPr>
        <p:spPr>
          <a:xfrm>
            <a:off x="566928" y="2670048"/>
            <a:ext cx="11064240" cy="1060704"/>
          </a:xfrm>
          <a:prstGeom prst="roundRect">
            <a:avLst>
              <a:gd name="adj" fmla="val 2586"/>
            </a:avLst>
          </a:prstGeom>
          <a:solidFill>
            <a:srgbClr val="FFFFFF"/>
          </a:solidFill>
          <a:ln w="12700">
            <a:solidFill>
              <a:srgbClr val="E6ECF2"/>
            </a:solidFill>
            <a:prstDash val="solid"/>
          </a:ln>
        </p:spPr>
        <p:txBody>
          <a:bodyPr/>
          <a:lstStyle/>
          <a:p>
            <a:endParaRPr lang="en-US"/>
          </a:p>
        </p:txBody>
      </p:sp>
      <p:sp>
        <p:nvSpPr>
          <p:cNvPr id="13" name="Shape 11"/>
          <p:cNvSpPr/>
          <p:nvPr/>
        </p:nvSpPr>
        <p:spPr>
          <a:xfrm>
            <a:off x="786384" y="3140964"/>
            <a:ext cx="118872" cy="118872"/>
          </a:xfrm>
          <a:prstGeom prst="ellipse">
            <a:avLst/>
          </a:prstGeom>
          <a:solidFill>
            <a:srgbClr val="2F5D8C"/>
          </a:solidFill>
          <a:ln w="12700">
            <a:solidFill>
              <a:srgbClr val="333333"/>
            </a:solidFill>
            <a:prstDash val="solid"/>
          </a:ln>
        </p:spPr>
        <p:txBody>
          <a:bodyPr/>
          <a:lstStyle/>
          <a:p>
            <a:endParaRPr lang="en-US"/>
          </a:p>
        </p:txBody>
      </p:sp>
      <p:sp>
        <p:nvSpPr>
          <p:cNvPr id="14" name="Text 12"/>
          <p:cNvSpPr txBox="1"/>
          <p:nvPr/>
        </p:nvSpPr>
        <p:spPr>
          <a:xfrm>
            <a:off x="1024128" y="2761488"/>
            <a:ext cx="2651760" cy="877824"/>
          </a:xfrm>
          <a:prstGeom prst="rect">
            <a:avLst/>
          </a:prstGeom>
          <a:noFill/>
          <a:ln/>
        </p:spPr>
        <p:txBody>
          <a:bodyPr wrap="square" lIns="0" tIns="0" rIns="0" bIns="0" rtlCol="0" anchor="ctr"/>
          <a:lstStyle/>
          <a:p>
            <a:pPr marL="0" indent="0">
              <a:buNone/>
            </a:pPr>
            <a:r>
              <a:rPr lang="en-US" sz="1300" b="1" dirty="0">
                <a:solidFill>
                  <a:srgbClr val="141C24"/>
                </a:solidFill>
                <a:latin typeface="Cambria" pitchFamily="34" charset="0"/>
                <a:ea typeface="Cambria" pitchFamily="34" charset="-122"/>
                <a:cs typeface="Cambria" pitchFamily="34" charset="-120"/>
              </a:rPr>
              <a:t>Acoustic features</a:t>
            </a:r>
            <a:endParaRPr lang="en-US" sz="1300" dirty="0"/>
          </a:p>
        </p:txBody>
      </p:sp>
      <p:sp>
        <p:nvSpPr>
          <p:cNvPr id="15" name="Text 13"/>
          <p:cNvSpPr txBox="1"/>
          <p:nvPr/>
        </p:nvSpPr>
        <p:spPr>
          <a:xfrm>
            <a:off x="3858768" y="2743200"/>
            <a:ext cx="7589520" cy="914400"/>
          </a:xfrm>
          <a:prstGeom prst="rect">
            <a:avLst/>
          </a:prstGeom>
          <a:noFill/>
          <a:ln/>
        </p:spPr>
        <p:txBody>
          <a:bodyPr wrap="square" lIns="0" tIns="0" rIns="0" bIns="0" rtlCol="0" anchor="ctr"/>
          <a:lstStyle/>
          <a:p>
            <a:pPr marL="0" indent="0">
              <a:buNone/>
            </a:pPr>
            <a:r>
              <a:rPr lang="en-US" sz="1220" dirty="0">
                <a:solidFill>
                  <a:srgbClr val="27323C"/>
                </a:solidFill>
                <a:latin typeface="Calibri" pitchFamily="34" charset="0"/>
                <a:ea typeface="Calibri" pitchFamily="34" charset="-122"/>
                <a:cs typeface="Calibri" pitchFamily="34" charset="-120"/>
              </a:rPr>
              <a:t>The audio corpora have no such labels, so GPT-3.5 was prompted to 'describe the acoustic characteristic of {class} precisely with a sentence less than 10 words', ten descriptions per class. The answer maps features to classes: 'High-pitched, rapidly changing frequency → Ambulance (siren)'.</a:t>
            </a:r>
            <a:endParaRPr lang="en-US" sz="1220" dirty="0"/>
          </a:p>
        </p:txBody>
      </p:sp>
      <p:sp>
        <p:nvSpPr>
          <p:cNvPr id="16" name="Shape 14"/>
          <p:cNvSpPr/>
          <p:nvPr/>
        </p:nvSpPr>
        <p:spPr>
          <a:xfrm>
            <a:off x="566928" y="3785616"/>
            <a:ext cx="11064240" cy="1060704"/>
          </a:xfrm>
          <a:prstGeom prst="roundRect">
            <a:avLst>
              <a:gd name="adj" fmla="val 2586"/>
            </a:avLst>
          </a:prstGeom>
          <a:solidFill>
            <a:srgbClr val="F0F3F7"/>
          </a:solidFill>
          <a:ln w="12700">
            <a:solidFill>
              <a:srgbClr val="E6ECF2"/>
            </a:solidFill>
            <a:prstDash val="solid"/>
          </a:ln>
        </p:spPr>
        <p:txBody>
          <a:bodyPr/>
          <a:lstStyle/>
          <a:p>
            <a:endParaRPr lang="en-US"/>
          </a:p>
        </p:txBody>
      </p:sp>
      <p:sp>
        <p:nvSpPr>
          <p:cNvPr id="17" name="Shape 15"/>
          <p:cNvSpPr/>
          <p:nvPr/>
        </p:nvSpPr>
        <p:spPr>
          <a:xfrm>
            <a:off x="786384" y="4256532"/>
            <a:ext cx="118872" cy="118872"/>
          </a:xfrm>
          <a:prstGeom prst="ellipse">
            <a:avLst/>
          </a:prstGeom>
          <a:solidFill>
            <a:srgbClr val="2F5D8C"/>
          </a:solidFill>
          <a:ln w="12700">
            <a:solidFill>
              <a:srgbClr val="333333"/>
            </a:solidFill>
            <a:prstDash val="solid"/>
          </a:ln>
        </p:spPr>
        <p:txBody>
          <a:bodyPr/>
          <a:lstStyle/>
          <a:p>
            <a:endParaRPr lang="en-US"/>
          </a:p>
        </p:txBody>
      </p:sp>
      <p:sp>
        <p:nvSpPr>
          <p:cNvPr id="18" name="Text 16"/>
          <p:cNvSpPr txBox="1"/>
          <p:nvPr/>
        </p:nvSpPr>
        <p:spPr>
          <a:xfrm>
            <a:off x="1024128" y="3877056"/>
            <a:ext cx="2651760" cy="877824"/>
          </a:xfrm>
          <a:prstGeom prst="rect">
            <a:avLst/>
          </a:prstGeom>
          <a:noFill/>
          <a:ln/>
        </p:spPr>
        <p:txBody>
          <a:bodyPr wrap="square" lIns="0" tIns="0" rIns="0" bIns="0" rtlCol="0" anchor="ctr"/>
          <a:lstStyle/>
          <a:p>
            <a:pPr marL="0" indent="0">
              <a:buNone/>
            </a:pPr>
            <a:r>
              <a:rPr lang="en-US" sz="1300" b="1" dirty="0">
                <a:solidFill>
                  <a:srgbClr val="141C24"/>
                </a:solidFill>
                <a:latin typeface="Cambria" pitchFamily="34" charset="0"/>
                <a:ea typeface="Cambria" pitchFamily="34" charset="-122"/>
                <a:cs typeface="Cambria" pitchFamily="34" charset="-120"/>
              </a:rPr>
              <a:t>Captioning</a:t>
            </a:r>
            <a:endParaRPr lang="en-US" sz="1300" dirty="0"/>
          </a:p>
        </p:txBody>
      </p:sp>
      <p:sp>
        <p:nvSpPr>
          <p:cNvPr id="19" name="Text 17"/>
          <p:cNvSpPr txBox="1"/>
          <p:nvPr/>
        </p:nvSpPr>
        <p:spPr>
          <a:xfrm>
            <a:off x="3858768" y="3858768"/>
            <a:ext cx="7589520" cy="914400"/>
          </a:xfrm>
          <a:prstGeom prst="rect">
            <a:avLst/>
          </a:prstGeom>
          <a:noFill/>
          <a:ln/>
        </p:spPr>
        <p:txBody>
          <a:bodyPr wrap="square" lIns="0" tIns="0" rIns="0" bIns="0" rtlCol="0" anchor="ctr"/>
          <a:lstStyle/>
          <a:p>
            <a:pPr marL="0" indent="0">
              <a:buNone/>
            </a:pPr>
            <a:r>
              <a:rPr lang="en-US" sz="1220" dirty="0">
                <a:solidFill>
                  <a:srgbClr val="27323C"/>
                </a:solidFill>
                <a:latin typeface="Calibri" pitchFamily="34" charset="0"/>
                <a:ea typeface="Calibri" pitchFamily="34" charset="-122"/>
                <a:cs typeface="Calibri" pitchFamily="34" charset="-120"/>
              </a:rPr>
              <a:t>Original human captions for AudioCaps and Clotho; WavCaps GPT-assisted captions for FreeSound and Sound Bible.</a:t>
            </a:r>
            <a:endParaRPr lang="en-US" sz="1220" dirty="0"/>
          </a:p>
        </p:txBody>
      </p:sp>
      <p:sp>
        <p:nvSpPr>
          <p:cNvPr id="20" name="Shape 18"/>
          <p:cNvSpPr/>
          <p:nvPr/>
        </p:nvSpPr>
        <p:spPr>
          <a:xfrm>
            <a:off x="566928" y="4901184"/>
            <a:ext cx="11064240" cy="1060704"/>
          </a:xfrm>
          <a:prstGeom prst="roundRect">
            <a:avLst>
              <a:gd name="adj" fmla="val 2586"/>
            </a:avLst>
          </a:prstGeom>
          <a:solidFill>
            <a:srgbClr val="FFFFFF"/>
          </a:solidFill>
          <a:ln w="12700">
            <a:solidFill>
              <a:srgbClr val="E6ECF2"/>
            </a:solidFill>
            <a:prstDash val="solid"/>
          </a:ln>
        </p:spPr>
        <p:txBody>
          <a:bodyPr/>
          <a:lstStyle/>
          <a:p>
            <a:endParaRPr lang="en-US"/>
          </a:p>
        </p:txBody>
      </p:sp>
      <p:sp>
        <p:nvSpPr>
          <p:cNvPr id="21" name="Shape 19"/>
          <p:cNvSpPr/>
          <p:nvPr/>
        </p:nvSpPr>
        <p:spPr>
          <a:xfrm>
            <a:off x="786384" y="5372100"/>
            <a:ext cx="118872" cy="118872"/>
          </a:xfrm>
          <a:prstGeom prst="ellipse">
            <a:avLst/>
          </a:prstGeom>
          <a:solidFill>
            <a:srgbClr val="2F5D8C"/>
          </a:solidFill>
          <a:ln w="12700">
            <a:solidFill>
              <a:srgbClr val="333333"/>
            </a:solidFill>
            <a:prstDash val="solid"/>
          </a:ln>
        </p:spPr>
        <p:txBody>
          <a:bodyPr/>
          <a:lstStyle/>
          <a:p>
            <a:endParaRPr lang="en-US"/>
          </a:p>
        </p:txBody>
      </p:sp>
      <p:sp>
        <p:nvSpPr>
          <p:cNvPr id="22" name="Text 20"/>
          <p:cNvSpPr txBox="1"/>
          <p:nvPr/>
        </p:nvSpPr>
        <p:spPr>
          <a:xfrm>
            <a:off x="1024128" y="4992624"/>
            <a:ext cx="2651760" cy="877824"/>
          </a:xfrm>
          <a:prstGeom prst="rect">
            <a:avLst/>
          </a:prstGeom>
          <a:noFill/>
          <a:ln/>
        </p:spPr>
        <p:txBody>
          <a:bodyPr wrap="square" lIns="0" tIns="0" rIns="0" bIns="0" rtlCol="0" anchor="ctr"/>
          <a:lstStyle/>
          <a:p>
            <a:pPr marL="0" indent="0">
              <a:buNone/>
            </a:pPr>
            <a:r>
              <a:rPr lang="en-US" sz="1300" b="1" dirty="0">
                <a:solidFill>
                  <a:srgbClr val="141C24"/>
                </a:solidFill>
                <a:latin typeface="Cambria" pitchFamily="34" charset="0"/>
                <a:ea typeface="Cambria" pitchFamily="34" charset="-122"/>
                <a:cs typeface="Cambria" pitchFamily="34" charset="-120"/>
              </a:rPr>
              <a:t>Temporal analysis</a:t>
            </a:r>
            <a:endParaRPr lang="en-US" sz="1300" dirty="0"/>
          </a:p>
        </p:txBody>
      </p:sp>
      <p:sp>
        <p:nvSpPr>
          <p:cNvPr id="23" name="Text 21"/>
          <p:cNvSpPr txBox="1"/>
          <p:nvPr/>
        </p:nvSpPr>
        <p:spPr>
          <a:xfrm>
            <a:off x="3858768" y="4974336"/>
            <a:ext cx="7589520" cy="914400"/>
          </a:xfrm>
          <a:prstGeom prst="rect">
            <a:avLst/>
          </a:prstGeom>
          <a:noFill/>
          <a:ln/>
        </p:spPr>
        <p:txBody>
          <a:bodyPr wrap="square" lIns="0" tIns="0" rIns="0" bIns="0" rtlCol="0" anchor="ctr"/>
          <a:lstStyle/>
          <a:p>
            <a:pPr marL="0" indent="0">
              <a:buNone/>
            </a:pPr>
            <a:r>
              <a:rPr lang="en-US" sz="1220" dirty="0">
                <a:solidFill>
                  <a:srgbClr val="27323C"/>
                </a:solidFill>
                <a:latin typeface="Calibri" pitchFamily="34" charset="0"/>
                <a:ea typeface="Calibri" pitchFamily="34" charset="-122"/>
                <a:cs typeface="Calibri" pitchFamily="34" charset="-120"/>
              </a:rPr>
              <a:t>Built from the temporally strong AudioSet labels with a rule-based algorithm: list all timestamps, ask for a specific sound's timestamp, or ask the order of sounds.</a:t>
            </a:r>
            <a:endParaRPr lang="en-US" sz="1220" dirty="0"/>
          </a:p>
        </p:txBody>
      </p:sp>
      <p:sp>
        <p:nvSpPr>
          <p:cNvPr id="24" name="Shape 22"/>
          <p:cNvSpPr/>
          <p:nvPr/>
        </p:nvSpPr>
        <p:spPr>
          <a:xfrm>
            <a:off x="566928" y="5541264"/>
            <a:ext cx="11064240" cy="512064"/>
          </a:xfrm>
          <a:prstGeom prst="roundRect">
            <a:avLst>
              <a:gd name="adj" fmla="val 10714"/>
            </a:avLst>
          </a:prstGeom>
          <a:solidFill>
            <a:srgbClr val="1E2833"/>
          </a:solidFill>
          <a:ln w="12700">
            <a:solidFill>
              <a:srgbClr val="1E2833"/>
            </a:solidFill>
            <a:prstDash val="solid"/>
          </a:ln>
        </p:spPr>
        <p:txBody>
          <a:bodyPr/>
          <a:lstStyle/>
          <a:p>
            <a:endParaRPr lang="en-US"/>
          </a:p>
        </p:txBody>
      </p:sp>
      <p:sp>
        <p:nvSpPr>
          <p:cNvPr id="25" name="Text 23"/>
          <p:cNvSpPr txBox="1"/>
          <p:nvPr/>
        </p:nvSpPr>
        <p:spPr>
          <a:xfrm>
            <a:off x="822960" y="5760720"/>
            <a:ext cx="10552176" cy="91440"/>
          </a:xfrm>
          <a:prstGeom prst="rect">
            <a:avLst/>
          </a:prstGeom>
          <a:noFill/>
          <a:ln/>
        </p:spPr>
        <p:txBody>
          <a:bodyPr wrap="square" lIns="0" tIns="0" rIns="0" bIns="0" rtlCol="0" anchor="t"/>
          <a:lstStyle/>
          <a:p>
            <a:pPr marL="0" indent="0">
              <a:lnSpc>
                <a:spcPct val="108000"/>
              </a:lnSpc>
              <a:buNone/>
            </a:pPr>
            <a:r>
              <a:rPr lang="en-US" sz="1280" dirty="0">
                <a:solidFill>
                  <a:srgbClr val="C3D3DE"/>
                </a:solidFill>
                <a:latin typeface="Calibri" pitchFamily="34" charset="0"/>
                <a:ea typeface="Calibri" pitchFamily="34" charset="-122"/>
                <a:cs typeface="Calibri" pitchFamily="34" charset="-120"/>
              </a:rPr>
              <a:t>Note the design: questions are diverse so the model does not overfit phrasing, answers are rule-generated so they have a fixed, checkable format.</a:t>
            </a:r>
            <a:endParaRPr lang="en-US" sz="12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027664" y="516636"/>
            <a:ext cx="82296" cy="82296"/>
          </a:xfrm>
          <a:prstGeom prst="ellipse">
            <a:avLst/>
          </a:prstGeom>
          <a:solidFill>
            <a:srgbClr val="2F5D8C"/>
          </a:solidFill>
          <a:ln w="12700">
            <a:solidFill>
              <a:srgbClr val="333333"/>
            </a:solidFill>
            <a:prstDash val="solid"/>
          </a:ln>
        </p:spPr>
        <p:txBody>
          <a:bodyPr/>
          <a:lstStyle/>
          <a:p>
            <a:endParaRPr lang="en-US"/>
          </a:p>
        </p:txBody>
      </p:sp>
      <p:sp>
        <p:nvSpPr>
          <p:cNvPr id="3" name="Shape 1"/>
          <p:cNvSpPr/>
          <p:nvPr/>
        </p:nvSpPr>
        <p:spPr>
          <a:xfrm>
            <a:off x="11155680" y="498348"/>
            <a:ext cx="118872" cy="118872"/>
          </a:xfrm>
          <a:prstGeom prst="ellipse">
            <a:avLst/>
          </a:prstGeom>
          <a:solidFill>
            <a:srgbClr val="2F5D8C"/>
          </a:solidFill>
          <a:ln w="12700">
            <a:solidFill>
              <a:srgbClr val="333333"/>
            </a:solidFill>
            <a:prstDash val="solid"/>
          </a:ln>
        </p:spPr>
        <p:txBody>
          <a:bodyPr/>
          <a:lstStyle/>
          <a:p>
            <a:endParaRPr lang="en-US"/>
          </a:p>
        </p:txBody>
      </p:sp>
      <p:sp>
        <p:nvSpPr>
          <p:cNvPr id="4" name="Shape 2"/>
          <p:cNvSpPr/>
          <p:nvPr/>
        </p:nvSpPr>
        <p:spPr>
          <a:xfrm>
            <a:off x="11320272" y="475488"/>
            <a:ext cx="164592" cy="164592"/>
          </a:xfrm>
          <a:prstGeom prst="ellipse">
            <a:avLst/>
          </a:prstGeom>
          <a:solidFill>
            <a:srgbClr val="E4A11B"/>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141C24"/>
                </a:solidFill>
                <a:latin typeface="Cambria" pitchFamily="34" charset="0"/>
                <a:ea typeface="Cambria" pitchFamily="34" charset="-122"/>
                <a:cs typeface="Cambria" pitchFamily="34" charset="-120"/>
              </a:rPr>
              <a:t>Audio Instruction Generation</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56646F"/>
                </a:solidFill>
                <a:latin typeface="Calibri" pitchFamily="34" charset="0"/>
                <a:ea typeface="Calibri" pitchFamily="34" charset="-122"/>
                <a:cs typeface="Calibri" pitchFamily="34" charset="-120"/>
              </a:rPr>
              <a:t>The trick: GPT never hears the audio</a:t>
            </a:r>
            <a:endParaRPr lang="en-US" sz="1350" dirty="0"/>
          </a:p>
        </p:txBody>
      </p:sp>
      <p:sp>
        <p:nvSpPr>
          <p:cNvPr id="7" name="Text 5"/>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93A5B4"/>
                </a:solidFill>
                <a:latin typeface="Calibri" pitchFamily="34" charset="0"/>
                <a:ea typeface="Calibri" pitchFamily="34" charset="-122"/>
                <a:cs typeface="Calibri" pitchFamily="34" charset="-120"/>
              </a:rPr>
              <a:t>LTU · Gong et al. 2024  |  9</a:t>
            </a:r>
            <a:endParaRPr lang="en-US" sz="900" dirty="0"/>
          </a:p>
        </p:txBody>
      </p:sp>
      <p:sp>
        <p:nvSpPr>
          <p:cNvPr id="8" name="Shape 6"/>
          <p:cNvSpPr/>
          <p:nvPr/>
        </p:nvSpPr>
        <p:spPr>
          <a:xfrm>
            <a:off x="566928" y="1600200"/>
            <a:ext cx="3054096" cy="1737360"/>
          </a:xfrm>
          <a:prstGeom prst="roundRect">
            <a:avLst>
              <a:gd name="adj" fmla="val 3158"/>
            </a:avLst>
          </a:prstGeom>
          <a:solidFill>
            <a:srgbClr val="F0F3F7"/>
          </a:solidFill>
          <a:ln w="19050">
            <a:solidFill>
              <a:srgbClr val="2F5D8C"/>
            </a:solidFill>
            <a:prstDash val="solid"/>
          </a:ln>
        </p:spPr>
        <p:txBody>
          <a:bodyPr/>
          <a:lstStyle/>
          <a:p>
            <a:endParaRPr lang="en-US"/>
          </a:p>
        </p:txBody>
      </p:sp>
      <p:sp>
        <p:nvSpPr>
          <p:cNvPr id="9" name="Text 7"/>
          <p:cNvSpPr txBox="1"/>
          <p:nvPr/>
        </p:nvSpPr>
        <p:spPr>
          <a:xfrm>
            <a:off x="786384" y="1810512"/>
            <a:ext cx="2651760" cy="329184"/>
          </a:xfrm>
          <a:prstGeom prst="rect">
            <a:avLst/>
          </a:prstGeom>
          <a:noFill/>
          <a:ln/>
        </p:spPr>
        <p:txBody>
          <a:bodyPr wrap="square" lIns="0" tIns="0" rIns="0" bIns="0" rtlCol="0" anchor="ctr"/>
          <a:lstStyle/>
          <a:p>
            <a:pPr marL="0" indent="0">
              <a:buNone/>
            </a:pPr>
            <a:r>
              <a:rPr lang="en-US" sz="1500" b="1" dirty="0">
                <a:solidFill>
                  <a:srgbClr val="2F5D8C"/>
                </a:solidFill>
                <a:latin typeface="Cambria" pitchFamily="34" charset="0"/>
                <a:ea typeface="Cambria" pitchFamily="34" charset="-122"/>
                <a:cs typeface="Cambria" pitchFamily="34" charset="-120"/>
              </a:rPr>
              <a:t>Extract meta-info</a:t>
            </a:r>
            <a:endParaRPr lang="en-US" sz="1500" dirty="0"/>
          </a:p>
        </p:txBody>
      </p:sp>
      <p:sp>
        <p:nvSpPr>
          <p:cNvPr id="10" name="Text 8"/>
          <p:cNvSpPr txBox="1"/>
          <p:nvPr/>
        </p:nvSpPr>
        <p:spPr>
          <a:xfrm>
            <a:off x="786384" y="2231136"/>
            <a:ext cx="2651760" cy="914400"/>
          </a:xfrm>
          <a:prstGeom prst="rect">
            <a:avLst/>
          </a:prstGeom>
          <a:noFill/>
          <a:ln/>
        </p:spPr>
        <p:txBody>
          <a:bodyPr wrap="square" lIns="0" tIns="0" rIns="0" bIns="0" rtlCol="0" anchor="ctr"/>
          <a:lstStyle/>
          <a:p>
            <a:pPr marL="0" indent="0">
              <a:buNone/>
            </a:pPr>
            <a:r>
              <a:rPr lang="en-US" sz="1220" dirty="0">
                <a:solidFill>
                  <a:srgbClr val="27323C"/>
                </a:solidFill>
                <a:latin typeface="Calibri" pitchFamily="34" charset="0"/>
                <a:ea typeface="Calibri" pitchFamily="34" charset="-122"/>
                <a:cs typeface="Calibri" pitchFamily="34" charset="-120"/>
              </a:rPr>
              <a:t>events, acoustic features,</a:t>
            </a:r>
            <a:endParaRPr lang="en-US" sz="1220" dirty="0"/>
          </a:p>
          <a:p>
            <a:pPr marL="0" indent="0">
              <a:buNone/>
            </a:pPr>
            <a:r>
              <a:rPr lang="en-US" sz="1220" dirty="0">
                <a:solidFill>
                  <a:srgbClr val="27323C"/>
                </a:solidFill>
                <a:latin typeface="Calibri" pitchFamily="34" charset="0"/>
                <a:ea typeface="Calibri" pitchFamily="34" charset="-122"/>
                <a:cs typeface="Calibri" pitchFamily="34" charset="-120"/>
              </a:rPr>
              <a:t>caption, timestamps</a:t>
            </a:r>
            <a:endParaRPr lang="en-US" sz="1220" dirty="0"/>
          </a:p>
        </p:txBody>
      </p:sp>
      <p:sp>
        <p:nvSpPr>
          <p:cNvPr id="11" name="Shape 9"/>
          <p:cNvSpPr/>
          <p:nvPr/>
        </p:nvSpPr>
        <p:spPr>
          <a:xfrm>
            <a:off x="4572000" y="1600200"/>
            <a:ext cx="3054096" cy="1737360"/>
          </a:xfrm>
          <a:prstGeom prst="roundRect">
            <a:avLst>
              <a:gd name="adj" fmla="val 3158"/>
            </a:avLst>
          </a:prstGeom>
          <a:solidFill>
            <a:srgbClr val="FDF4E2"/>
          </a:solidFill>
          <a:ln w="19050">
            <a:solidFill>
              <a:srgbClr val="E4A11B"/>
            </a:solidFill>
            <a:prstDash val="solid"/>
          </a:ln>
        </p:spPr>
        <p:txBody>
          <a:bodyPr/>
          <a:lstStyle/>
          <a:p>
            <a:endParaRPr lang="en-US"/>
          </a:p>
        </p:txBody>
      </p:sp>
      <p:sp>
        <p:nvSpPr>
          <p:cNvPr id="12" name="Text 10"/>
          <p:cNvSpPr txBox="1"/>
          <p:nvPr/>
        </p:nvSpPr>
        <p:spPr>
          <a:xfrm>
            <a:off x="4791456" y="1810512"/>
            <a:ext cx="2651760" cy="329184"/>
          </a:xfrm>
          <a:prstGeom prst="rect">
            <a:avLst/>
          </a:prstGeom>
          <a:noFill/>
          <a:ln/>
        </p:spPr>
        <p:txBody>
          <a:bodyPr wrap="square" lIns="0" tIns="0" rIns="0" bIns="0" rtlCol="0" anchor="ctr"/>
          <a:lstStyle/>
          <a:p>
            <a:pPr marL="0" indent="0">
              <a:buNone/>
            </a:pPr>
            <a:r>
              <a:rPr lang="en-US" sz="1500" b="1" dirty="0">
                <a:solidFill>
                  <a:srgbClr val="E4A11B"/>
                </a:solidFill>
                <a:latin typeface="Cambria" pitchFamily="34" charset="0"/>
                <a:ea typeface="Cambria" pitchFamily="34" charset="-122"/>
                <a:cs typeface="Cambria" pitchFamily="34" charset="-120"/>
              </a:rPr>
              <a:t>Prompt GPT-3.5</a:t>
            </a:r>
            <a:endParaRPr lang="en-US" sz="1500" dirty="0"/>
          </a:p>
        </p:txBody>
      </p:sp>
      <p:sp>
        <p:nvSpPr>
          <p:cNvPr id="13" name="Text 11"/>
          <p:cNvSpPr txBox="1"/>
          <p:nvPr/>
        </p:nvSpPr>
        <p:spPr>
          <a:xfrm>
            <a:off x="4791456" y="2231136"/>
            <a:ext cx="2651760" cy="914400"/>
          </a:xfrm>
          <a:prstGeom prst="rect">
            <a:avLst/>
          </a:prstGeom>
          <a:noFill/>
          <a:ln/>
        </p:spPr>
        <p:txBody>
          <a:bodyPr wrap="square" lIns="0" tIns="0" rIns="0" bIns="0" rtlCol="0" anchor="ctr"/>
          <a:lstStyle/>
          <a:p>
            <a:pPr marL="0" indent="0">
              <a:buNone/>
            </a:pPr>
            <a:r>
              <a:rPr lang="en-US" sz="1220" dirty="0">
                <a:solidFill>
                  <a:srgbClr val="27323C"/>
                </a:solidFill>
                <a:latin typeface="Calibri" pitchFamily="34" charset="0"/>
                <a:ea typeface="Calibri" pitchFamily="34" charset="-122"/>
                <a:cs typeface="Calibri" pitchFamily="34" charset="-120"/>
              </a:rPr>
              <a:t>as pure text — generate 10</a:t>
            </a:r>
            <a:endParaRPr lang="en-US" sz="1220" dirty="0"/>
          </a:p>
          <a:p>
            <a:pPr marL="0" indent="0">
              <a:buNone/>
            </a:pPr>
            <a:r>
              <a:rPr lang="en-US" sz="1220" dirty="0">
                <a:solidFill>
                  <a:srgbClr val="27323C"/>
                </a:solidFill>
                <a:latin typeface="Calibri" pitchFamily="34" charset="0"/>
                <a:ea typeface="Calibri" pitchFamily="34" charset="-122"/>
                <a:cs typeface="Calibri" pitchFamily="34" charset="-120"/>
              </a:rPr>
              <a:t>complex open-ended QA</a:t>
            </a:r>
            <a:endParaRPr lang="en-US" sz="1220" dirty="0"/>
          </a:p>
        </p:txBody>
      </p:sp>
      <p:sp>
        <p:nvSpPr>
          <p:cNvPr id="14" name="Shape 12"/>
          <p:cNvSpPr/>
          <p:nvPr/>
        </p:nvSpPr>
        <p:spPr>
          <a:xfrm>
            <a:off x="8577072" y="1600200"/>
            <a:ext cx="3054096" cy="1737360"/>
          </a:xfrm>
          <a:prstGeom prst="roundRect">
            <a:avLst>
              <a:gd name="adj" fmla="val 3158"/>
            </a:avLst>
          </a:prstGeom>
          <a:solidFill>
            <a:srgbClr val="F0F3F7"/>
          </a:solidFill>
          <a:ln w="19050">
            <a:solidFill>
              <a:srgbClr val="2F5D8C"/>
            </a:solidFill>
            <a:prstDash val="solid"/>
          </a:ln>
        </p:spPr>
        <p:txBody>
          <a:bodyPr/>
          <a:lstStyle/>
          <a:p>
            <a:endParaRPr lang="en-US"/>
          </a:p>
        </p:txBody>
      </p:sp>
      <p:sp>
        <p:nvSpPr>
          <p:cNvPr id="15" name="Text 13"/>
          <p:cNvSpPr txBox="1"/>
          <p:nvPr/>
        </p:nvSpPr>
        <p:spPr>
          <a:xfrm>
            <a:off x="8796528" y="1810512"/>
            <a:ext cx="2651760" cy="329184"/>
          </a:xfrm>
          <a:prstGeom prst="rect">
            <a:avLst/>
          </a:prstGeom>
          <a:noFill/>
          <a:ln/>
        </p:spPr>
        <p:txBody>
          <a:bodyPr wrap="square" lIns="0" tIns="0" rIns="0" bIns="0" rtlCol="0" anchor="ctr"/>
          <a:lstStyle/>
          <a:p>
            <a:pPr marL="0" indent="0">
              <a:buNone/>
            </a:pPr>
            <a:r>
              <a:rPr lang="en-US" sz="1500" b="1" dirty="0">
                <a:solidFill>
                  <a:srgbClr val="2F5D8C"/>
                </a:solidFill>
                <a:latin typeface="Cambria" pitchFamily="34" charset="0"/>
                <a:ea typeface="Cambria" pitchFamily="34" charset="-122"/>
                <a:cs typeface="Cambria" pitchFamily="34" charset="-120"/>
              </a:rPr>
              <a:t>Train on raw audio</a:t>
            </a:r>
            <a:endParaRPr lang="en-US" sz="1500" dirty="0"/>
          </a:p>
        </p:txBody>
      </p:sp>
      <p:sp>
        <p:nvSpPr>
          <p:cNvPr id="16" name="Text 14"/>
          <p:cNvSpPr txBox="1"/>
          <p:nvPr/>
        </p:nvSpPr>
        <p:spPr>
          <a:xfrm>
            <a:off x="8796528" y="2231136"/>
            <a:ext cx="2651760" cy="914400"/>
          </a:xfrm>
          <a:prstGeom prst="rect">
            <a:avLst/>
          </a:prstGeom>
          <a:noFill/>
          <a:ln/>
        </p:spPr>
        <p:txBody>
          <a:bodyPr wrap="square" lIns="0" tIns="0" rIns="0" bIns="0" rtlCol="0" anchor="ctr"/>
          <a:lstStyle/>
          <a:p>
            <a:pPr marL="0" indent="0">
              <a:buNone/>
            </a:pPr>
            <a:r>
              <a:rPr lang="en-US" sz="1220" dirty="0">
                <a:solidFill>
                  <a:srgbClr val="27323C"/>
                </a:solidFill>
                <a:latin typeface="Calibri" pitchFamily="34" charset="0"/>
                <a:ea typeface="Calibri" pitchFamily="34" charset="-122"/>
                <a:cs typeface="Calibri" pitchFamily="34" charset="-120"/>
              </a:rPr>
              <a:t>meta-info is discarded;</a:t>
            </a:r>
            <a:endParaRPr lang="en-US" sz="1220" dirty="0"/>
          </a:p>
          <a:p>
            <a:pPr marL="0" indent="0">
              <a:buNone/>
            </a:pPr>
            <a:r>
              <a:rPr lang="en-US" sz="1220" dirty="0">
                <a:solidFill>
                  <a:srgbClr val="27323C"/>
                </a:solidFill>
                <a:latin typeface="Calibri" pitchFamily="34" charset="0"/>
                <a:ea typeface="Calibri" pitchFamily="34" charset="-122"/>
                <a:cs typeface="Calibri" pitchFamily="34" charset="-120"/>
              </a:rPr>
              <a:t>LTU sees only the waveform</a:t>
            </a:r>
            <a:endParaRPr lang="en-US" sz="1220" dirty="0"/>
          </a:p>
        </p:txBody>
      </p:sp>
      <p:sp>
        <p:nvSpPr>
          <p:cNvPr id="17" name="Shape 15"/>
          <p:cNvSpPr/>
          <p:nvPr/>
        </p:nvSpPr>
        <p:spPr>
          <a:xfrm>
            <a:off x="3639312" y="2468880"/>
            <a:ext cx="859536" cy="0"/>
          </a:xfrm>
          <a:prstGeom prst="line">
            <a:avLst/>
          </a:prstGeom>
          <a:noFill/>
          <a:ln w="28575">
            <a:solidFill>
              <a:srgbClr val="9DB0C2"/>
            </a:solidFill>
            <a:prstDash val="solid"/>
            <a:tailEnd type="triangle"/>
          </a:ln>
        </p:spPr>
        <p:txBody>
          <a:bodyPr/>
          <a:lstStyle/>
          <a:p>
            <a:endParaRPr lang="en-US"/>
          </a:p>
        </p:txBody>
      </p:sp>
      <p:sp>
        <p:nvSpPr>
          <p:cNvPr id="18" name="Shape 16"/>
          <p:cNvSpPr/>
          <p:nvPr/>
        </p:nvSpPr>
        <p:spPr>
          <a:xfrm>
            <a:off x="7644384" y="2468880"/>
            <a:ext cx="859536" cy="0"/>
          </a:xfrm>
          <a:prstGeom prst="line">
            <a:avLst/>
          </a:prstGeom>
          <a:noFill/>
          <a:ln w="28575">
            <a:solidFill>
              <a:srgbClr val="9DB0C2"/>
            </a:solidFill>
            <a:prstDash val="solid"/>
            <a:tailEnd type="triangle"/>
          </a:ln>
        </p:spPr>
        <p:txBody>
          <a:bodyPr/>
          <a:lstStyle/>
          <a:p>
            <a:endParaRPr lang="en-US"/>
          </a:p>
        </p:txBody>
      </p:sp>
      <p:sp>
        <p:nvSpPr>
          <p:cNvPr id="19" name="Text 17"/>
          <p:cNvSpPr txBox="1"/>
          <p:nvPr/>
        </p:nvSpPr>
        <p:spPr>
          <a:xfrm>
            <a:off x="566928" y="3547872"/>
            <a:ext cx="11064240" cy="2505456"/>
          </a:xfrm>
          <a:prstGeom prst="rect">
            <a:avLst/>
          </a:prstGeom>
          <a:noFill/>
          <a:ln/>
        </p:spPr>
        <p:txBody>
          <a:bodyPr wrap="square" lIns="0" tIns="0" rIns="0" bIns="0" rtlCol="0" anchor="t"/>
          <a:lstStyle/>
          <a:p>
            <a:pPr marL="342900" indent="-342900">
              <a:spcAft>
                <a:spcPts val="800"/>
              </a:spcAft>
              <a:buSzPct val="100000"/>
              <a:buChar char="●"/>
            </a:pPr>
            <a:r>
              <a:rPr lang="en-US" sz="1260" dirty="0">
                <a:solidFill>
                  <a:srgbClr val="27323C"/>
                </a:solidFill>
                <a:latin typeface="Calibri" pitchFamily="34" charset="0"/>
                <a:ea typeface="Calibri" pitchFamily="34" charset="-122"/>
                <a:cs typeface="Calibri" pitchFamily="34" charset="-120"/>
              </a:rPr>
              <a:t>The prompt asks for questions requiring step-by-step thinking: which sound is recognised and why, what the temporal relationship implies, the potential scenario, whether the clip is urgent or funny or abnormal and why, what mood it conveys.</a:t>
            </a:r>
            <a:endParaRPr lang="en-US" sz="1260" dirty="0"/>
          </a:p>
          <a:p>
            <a:pPr marL="342900" indent="-342900">
              <a:spcAft>
                <a:spcPts val="800"/>
              </a:spcAft>
              <a:buSzPct val="100000"/>
              <a:buChar char="●"/>
            </a:pPr>
            <a:r>
              <a:rPr lang="en-US" sz="1260" dirty="0">
                <a:solidFill>
                  <a:srgbClr val="27323C"/>
                </a:solidFill>
                <a:latin typeface="Calibri" pitchFamily="34" charset="0"/>
                <a:ea typeface="Calibri" pitchFamily="34" charset="-122"/>
                <a:cs typeface="Calibri" pitchFamily="34" charset="-120"/>
              </a:rPr>
              <a:t>3.7 million pairs generated — about two orders of magnitude larger than the instruction-tuning sets used for pure language tasks at the time.</a:t>
            </a:r>
            <a:endParaRPr lang="en-US" sz="1260" dirty="0"/>
          </a:p>
          <a:p>
            <a:pPr marL="342900" indent="-342900">
              <a:spcAft>
                <a:spcPts val="800"/>
              </a:spcAft>
              <a:buSzPct val="100000"/>
              <a:buChar char="●"/>
            </a:pPr>
            <a:r>
              <a:rPr lang="en-US" sz="1260" dirty="0">
                <a:solidFill>
                  <a:srgbClr val="27323C"/>
                </a:solidFill>
                <a:latin typeface="Calibri" pitchFamily="34" charset="0"/>
                <a:ea typeface="Calibri" pitchFamily="34" charset="-122"/>
                <a:cs typeface="Calibri" pitchFamily="34" charset="-120"/>
              </a:rPr>
              <a:t>78% of questions and 95% of answers are unique. Most appear exactly once.</a:t>
            </a:r>
            <a:endParaRPr lang="en-US" sz="1260" dirty="0"/>
          </a:p>
          <a:p>
            <a:pPr marL="342900" indent="-342900">
              <a:spcAft>
                <a:spcPts val="800"/>
              </a:spcAft>
              <a:buSzPct val="100000"/>
              <a:buChar char="●"/>
            </a:pPr>
            <a:r>
              <a:rPr lang="en-US" sz="1260" dirty="0">
                <a:solidFill>
                  <a:srgbClr val="27323C"/>
                </a:solidFill>
                <a:latin typeface="Calibri" pitchFamily="34" charset="0"/>
                <a:ea typeface="Calibri" pitchFamily="34" charset="-122"/>
                <a:cs typeface="Calibri" pitchFamily="34" charset="-120"/>
              </a:rPr>
              <a:t>Crucially, the meta-information is used only in generation and is never input to LTU. The model is forced to learn from raw audio, which contains richer and finer-grained information than the extracted labels.</a:t>
            </a:r>
            <a:endParaRPr lang="en-US" sz="126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027664" y="516636"/>
            <a:ext cx="82296" cy="82296"/>
          </a:xfrm>
          <a:prstGeom prst="ellipse">
            <a:avLst/>
          </a:prstGeom>
          <a:solidFill>
            <a:srgbClr val="2F5D8C"/>
          </a:solidFill>
          <a:ln w="12700">
            <a:solidFill>
              <a:srgbClr val="333333"/>
            </a:solidFill>
            <a:prstDash val="solid"/>
          </a:ln>
        </p:spPr>
        <p:txBody>
          <a:bodyPr/>
          <a:lstStyle/>
          <a:p>
            <a:endParaRPr lang="en-US"/>
          </a:p>
        </p:txBody>
      </p:sp>
      <p:sp>
        <p:nvSpPr>
          <p:cNvPr id="3" name="Shape 1"/>
          <p:cNvSpPr/>
          <p:nvPr/>
        </p:nvSpPr>
        <p:spPr>
          <a:xfrm>
            <a:off x="11155680" y="498348"/>
            <a:ext cx="118872" cy="118872"/>
          </a:xfrm>
          <a:prstGeom prst="ellipse">
            <a:avLst/>
          </a:prstGeom>
          <a:solidFill>
            <a:srgbClr val="2F5D8C"/>
          </a:solidFill>
          <a:ln w="12700">
            <a:solidFill>
              <a:srgbClr val="333333"/>
            </a:solidFill>
            <a:prstDash val="solid"/>
          </a:ln>
        </p:spPr>
        <p:txBody>
          <a:bodyPr/>
          <a:lstStyle/>
          <a:p>
            <a:endParaRPr lang="en-US"/>
          </a:p>
        </p:txBody>
      </p:sp>
      <p:sp>
        <p:nvSpPr>
          <p:cNvPr id="4" name="Shape 2"/>
          <p:cNvSpPr/>
          <p:nvPr/>
        </p:nvSpPr>
        <p:spPr>
          <a:xfrm>
            <a:off x="11320272" y="475488"/>
            <a:ext cx="164592" cy="164592"/>
          </a:xfrm>
          <a:prstGeom prst="ellipse">
            <a:avLst/>
          </a:prstGeom>
          <a:solidFill>
            <a:srgbClr val="E4A11B"/>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141C24"/>
                </a:solidFill>
                <a:latin typeface="Cambria" pitchFamily="34" charset="0"/>
                <a:ea typeface="Cambria" pitchFamily="34" charset="-122"/>
                <a:cs typeface="Cambria" pitchFamily="34" charset="-120"/>
              </a:rPr>
              <a:t>The 6.5% that cannot be answered</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56646F"/>
                </a:solidFill>
                <a:latin typeface="Calibri" pitchFamily="34" charset="0"/>
                <a:ea typeface="Calibri" pitchFamily="34" charset="-122"/>
                <a:cs typeface="Calibri" pitchFamily="34" charset="-120"/>
              </a:rPr>
              <a:t>An accident that turned into a feature</a:t>
            </a:r>
            <a:endParaRPr lang="en-US" sz="1350" dirty="0"/>
          </a:p>
        </p:txBody>
      </p:sp>
      <p:sp>
        <p:nvSpPr>
          <p:cNvPr id="7" name="Text 5"/>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93A5B4"/>
                </a:solidFill>
                <a:latin typeface="Calibri" pitchFamily="34" charset="0"/>
                <a:ea typeface="Calibri" pitchFamily="34" charset="-122"/>
                <a:cs typeface="Calibri" pitchFamily="34" charset="-120"/>
              </a:rPr>
              <a:t>LTU · Gong et al. 2024  |  10</a:t>
            </a:r>
            <a:endParaRPr lang="en-US" sz="900" dirty="0"/>
          </a:p>
        </p:txBody>
      </p:sp>
      <p:sp>
        <p:nvSpPr>
          <p:cNvPr id="8" name="Shape 6"/>
          <p:cNvSpPr/>
          <p:nvPr/>
        </p:nvSpPr>
        <p:spPr>
          <a:xfrm>
            <a:off x="566928" y="1600200"/>
            <a:ext cx="5440680" cy="2240280"/>
          </a:xfrm>
          <a:prstGeom prst="roundRect">
            <a:avLst>
              <a:gd name="adj" fmla="val 2449"/>
            </a:avLst>
          </a:prstGeom>
          <a:solidFill>
            <a:srgbClr val="F0F3F7"/>
          </a:solidFill>
          <a:ln w="12700">
            <a:solidFill>
              <a:srgbClr val="DFE6EE"/>
            </a:solidFill>
            <a:prstDash val="solid"/>
          </a:ln>
        </p:spPr>
        <p:txBody>
          <a:bodyPr/>
          <a:lstStyle/>
          <a:p>
            <a:endParaRPr lang="en-US"/>
          </a:p>
        </p:txBody>
      </p:sp>
      <p:sp>
        <p:nvSpPr>
          <p:cNvPr id="9" name="Shape 7"/>
          <p:cNvSpPr/>
          <p:nvPr/>
        </p:nvSpPr>
        <p:spPr>
          <a:xfrm>
            <a:off x="786384" y="1892808"/>
            <a:ext cx="109728" cy="109728"/>
          </a:xfrm>
          <a:prstGeom prst="ellipse">
            <a:avLst/>
          </a:prstGeom>
          <a:solidFill>
            <a:srgbClr val="2F5D8C"/>
          </a:solidFill>
          <a:ln w="12700">
            <a:solidFill>
              <a:srgbClr val="333333"/>
            </a:solidFill>
            <a:prstDash val="solid"/>
          </a:ln>
        </p:spPr>
        <p:txBody>
          <a:bodyPr/>
          <a:lstStyle/>
          <a:p>
            <a:endParaRPr lang="en-US"/>
          </a:p>
        </p:txBody>
      </p:sp>
      <p:sp>
        <p:nvSpPr>
          <p:cNvPr id="10" name="Text 8"/>
          <p:cNvSpPr txBox="1"/>
          <p:nvPr/>
        </p:nvSpPr>
        <p:spPr>
          <a:xfrm>
            <a:off x="987552" y="1764792"/>
            <a:ext cx="4800600" cy="365760"/>
          </a:xfrm>
          <a:prstGeom prst="rect">
            <a:avLst/>
          </a:prstGeom>
          <a:noFill/>
          <a:ln/>
        </p:spPr>
        <p:txBody>
          <a:bodyPr wrap="square" lIns="0" tIns="0" rIns="0" bIns="0" rtlCol="0" anchor="ctr"/>
          <a:lstStyle/>
          <a:p>
            <a:pPr marL="0" indent="0">
              <a:buNone/>
            </a:pPr>
            <a:r>
              <a:rPr lang="en-US" sz="1500" b="1" dirty="0">
                <a:solidFill>
                  <a:srgbClr val="141C24"/>
                </a:solidFill>
                <a:latin typeface="Cambria" pitchFamily="34" charset="0"/>
                <a:ea typeface="Cambria" pitchFamily="34" charset="-122"/>
                <a:cs typeface="Cambria" pitchFamily="34" charset="-120"/>
              </a:rPr>
              <a:t>What happened</a:t>
            </a:r>
            <a:endParaRPr lang="en-US" sz="1500" dirty="0"/>
          </a:p>
        </p:txBody>
      </p:sp>
      <p:sp>
        <p:nvSpPr>
          <p:cNvPr id="11" name="Text 9"/>
          <p:cNvSpPr txBox="1"/>
          <p:nvPr/>
        </p:nvSpPr>
        <p:spPr>
          <a:xfrm>
            <a:off x="822960" y="2203704"/>
            <a:ext cx="4928616" cy="1453896"/>
          </a:xfrm>
          <a:prstGeom prst="rect">
            <a:avLst/>
          </a:prstGeom>
          <a:noFill/>
          <a:ln/>
        </p:spPr>
        <p:txBody>
          <a:bodyPr wrap="square" lIns="0" tIns="0" rIns="0" bIns="0" rtlCol="0" anchor="t"/>
          <a:lstStyle/>
          <a:p>
            <a:pPr marL="0" indent="0">
              <a:lnSpc>
                <a:spcPct val="108000"/>
              </a:lnSpc>
              <a:buNone/>
            </a:pPr>
            <a:r>
              <a:rPr lang="en-US" sz="1260" dirty="0">
                <a:solidFill>
                  <a:srgbClr val="27323C"/>
                </a:solidFill>
                <a:latin typeface="Calibri" pitchFamily="34" charset="0"/>
                <a:ea typeface="Calibri" pitchFamily="34" charset="-122"/>
                <a:cs typeface="Calibri" pitchFamily="34" charset="-120"/>
              </a:rPr>
              <a:t>About 6.5% of the questions GPT-3.5 generated could not be answered from the audio information it was given, so the corresponding answers are of the form 'it cannot be determined from the audio that…'.</a:t>
            </a:r>
            <a:endParaRPr lang="en-US" sz="1260" dirty="0"/>
          </a:p>
          <a:p>
            <a:pPr marL="0" indent="0">
              <a:lnSpc>
                <a:spcPct val="108000"/>
              </a:lnSpc>
              <a:buNone/>
            </a:pPr>
            <a:endParaRPr lang="en-US" sz="1260" dirty="0"/>
          </a:p>
          <a:p>
            <a:pPr marL="0" indent="0">
              <a:lnSpc>
                <a:spcPct val="108000"/>
              </a:lnSpc>
              <a:buNone/>
            </a:pPr>
            <a:r>
              <a:rPr lang="en-US" sz="1260" dirty="0">
                <a:solidFill>
                  <a:srgbClr val="27323C"/>
                </a:solidFill>
                <a:latin typeface="Calibri" pitchFamily="34" charset="0"/>
                <a:ea typeface="Calibri" pitchFamily="34" charset="-122"/>
                <a:cs typeface="Calibri" pitchFamily="34" charset="-120"/>
              </a:rPr>
              <a:t>These were kept rather than filtered out.</a:t>
            </a:r>
            <a:endParaRPr lang="en-US" sz="1260" dirty="0"/>
          </a:p>
        </p:txBody>
      </p:sp>
      <p:sp>
        <p:nvSpPr>
          <p:cNvPr id="12" name="Shape 10"/>
          <p:cNvSpPr/>
          <p:nvPr/>
        </p:nvSpPr>
        <p:spPr>
          <a:xfrm>
            <a:off x="6190488" y="1600200"/>
            <a:ext cx="5440680" cy="2240280"/>
          </a:xfrm>
          <a:prstGeom prst="roundRect">
            <a:avLst>
              <a:gd name="adj" fmla="val 2449"/>
            </a:avLst>
          </a:prstGeom>
          <a:solidFill>
            <a:srgbClr val="F0F3F7"/>
          </a:solidFill>
          <a:ln w="12700">
            <a:solidFill>
              <a:srgbClr val="DFE6EE"/>
            </a:solidFill>
            <a:prstDash val="solid"/>
          </a:ln>
        </p:spPr>
        <p:txBody>
          <a:bodyPr/>
          <a:lstStyle/>
          <a:p>
            <a:endParaRPr lang="en-US"/>
          </a:p>
        </p:txBody>
      </p:sp>
      <p:sp>
        <p:nvSpPr>
          <p:cNvPr id="13" name="Shape 11"/>
          <p:cNvSpPr/>
          <p:nvPr/>
        </p:nvSpPr>
        <p:spPr>
          <a:xfrm>
            <a:off x="6409944" y="1892808"/>
            <a:ext cx="109728" cy="109728"/>
          </a:xfrm>
          <a:prstGeom prst="ellipse">
            <a:avLst/>
          </a:prstGeom>
          <a:solidFill>
            <a:srgbClr val="E4A11B"/>
          </a:solidFill>
          <a:ln w="12700">
            <a:solidFill>
              <a:srgbClr val="333333"/>
            </a:solidFill>
            <a:prstDash val="solid"/>
          </a:ln>
        </p:spPr>
        <p:txBody>
          <a:bodyPr/>
          <a:lstStyle/>
          <a:p>
            <a:endParaRPr lang="en-US"/>
          </a:p>
        </p:txBody>
      </p:sp>
      <p:sp>
        <p:nvSpPr>
          <p:cNvPr id="14" name="Text 12"/>
          <p:cNvSpPr txBox="1"/>
          <p:nvPr/>
        </p:nvSpPr>
        <p:spPr>
          <a:xfrm>
            <a:off x="6611112" y="1764792"/>
            <a:ext cx="4800600" cy="365760"/>
          </a:xfrm>
          <a:prstGeom prst="rect">
            <a:avLst/>
          </a:prstGeom>
          <a:noFill/>
          <a:ln/>
        </p:spPr>
        <p:txBody>
          <a:bodyPr wrap="square" lIns="0" tIns="0" rIns="0" bIns="0" rtlCol="0" anchor="ctr"/>
          <a:lstStyle/>
          <a:p>
            <a:pPr marL="0" indent="0">
              <a:buNone/>
            </a:pPr>
            <a:r>
              <a:rPr lang="en-US" sz="1500" b="1" dirty="0">
                <a:solidFill>
                  <a:srgbClr val="141C24"/>
                </a:solidFill>
                <a:latin typeface="Cambria" pitchFamily="34" charset="0"/>
                <a:ea typeface="Cambria" pitchFamily="34" charset="-122"/>
                <a:cs typeface="Cambria" pitchFamily="34" charset="-120"/>
              </a:rPr>
              <a:t>What they buy</a:t>
            </a:r>
            <a:endParaRPr lang="en-US" sz="1500" dirty="0"/>
          </a:p>
        </p:txBody>
      </p:sp>
      <p:sp>
        <p:nvSpPr>
          <p:cNvPr id="15" name="Text 13"/>
          <p:cNvSpPr txBox="1"/>
          <p:nvPr/>
        </p:nvSpPr>
        <p:spPr>
          <a:xfrm>
            <a:off x="6446520" y="2203704"/>
            <a:ext cx="4928616" cy="1453896"/>
          </a:xfrm>
          <a:prstGeom prst="rect">
            <a:avLst/>
          </a:prstGeom>
          <a:noFill/>
          <a:ln/>
        </p:spPr>
        <p:txBody>
          <a:bodyPr wrap="square" lIns="0" tIns="0" rIns="0" bIns="0" rtlCol="0" anchor="t"/>
          <a:lstStyle/>
          <a:p>
            <a:pPr marL="0" indent="0">
              <a:lnSpc>
                <a:spcPct val="108000"/>
              </a:lnSpc>
              <a:buNone/>
            </a:pPr>
            <a:r>
              <a:rPr lang="en-US" sz="1260" dirty="0">
                <a:solidFill>
                  <a:srgbClr val="27323C"/>
                </a:solidFill>
                <a:latin typeface="Calibri" pitchFamily="34" charset="0"/>
                <a:ea typeface="Calibri" pitchFamily="34" charset="-122"/>
                <a:cs typeface="Calibri" pitchFamily="34" charset="-120"/>
              </a:rPr>
              <a:t>The paper's framing: these questions are equally valuable, because they teach the model to know what it does not know and reduce hallucination.</a:t>
            </a:r>
            <a:endParaRPr lang="en-US" sz="1260" dirty="0"/>
          </a:p>
          <a:p>
            <a:pPr marL="0" indent="0">
              <a:lnSpc>
                <a:spcPct val="108000"/>
              </a:lnSpc>
              <a:buNone/>
            </a:pPr>
            <a:endParaRPr lang="en-US" sz="1260" dirty="0"/>
          </a:p>
          <a:p>
            <a:pPr marL="0" indent="0">
              <a:lnSpc>
                <a:spcPct val="108000"/>
              </a:lnSpc>
              <a:buNone/>
            </a:pPr>
            <a:r>
              <a:rPr lang="en-US" sz="1260" dirty="0">
                <a:solidFill>
                  <a:srgbClr val="27323C"/>
                </a:solidFill>
                <a:latin typeface="Calibri" pitchFamily="34" charset="0"/>
                <a:ea typeface="Calibri" pitchFamily="34" charset="-122"/>
                <a:cs typeface="Calibri" pitchFamily="34" charset="-120"/>
              </a:rPr>
              <a:t>Remove them from training and the refusal rate on unanswerable questions falls from 69.3% to 51.9%, and closed-ended performance drops slightly too, from 50.3 to 50.0.</a:t>
            </a:r>
            <a:endParaRPr lang="en-US" sz="1260" dirty="0"/>
          </a:p>
        </p:txBody>
      </p:sp>
      <p:sp>
        <p:nvSpPr>
          <p:cNvPr id="16" name="Shape 14"/>
          <p:cNvSpPr/>
          <p:nvPr/>
        </p:nvSpPr>
        <p:spPr>
          <a:xfrm>
            <a:off x="566928" y="4041648"/>
            <a:ext cx="11064240" cy="2011680"/>
          </a:xfrm>
          <a:prstGeom prst="roundRect">
            <a:avLst>
              <a:gd name="adj" fmla="val 2727"/>
            </a:avLst>
          </a:prstGeom>
          <a:solidFill>
            <a:srgbClr val="1E2833"/>
          </a:solidFill>
          <a:ln w="12700">
            <a:solidFill>
              <a:srgbClr val="1E2833"/>
            </a:solidFill>
            <a:prstDash val="solid"/>
          </a:ln>
        </p:spPr>
        <p:txBody>
          <a:bodyPr/>
          <a:lstStyle/>
          <a:p>
            <a:endParaRPr lang="en-US"/>
          </a:p>
        </p:txBody>
      </p:sp>
      <p:sp>
        <p:nvSpPr>
          <p:cNvPr id="17" name="Shape 15"/>
          <p:cNvSpPr/>
          <p:nvPr/>
        </p:nvSpPr>
        <p:spPr>
          <a:xfrm>
            <a:off x="786384" y="4334256"/>
            <a:ext cx="109728" cy="109728"/>
          </a:xfrm>
          <a:prstGeom prst="ellipse">
            <a:avLst/>
          </a:prstGeom>
          <a:solidFill>
            <a:srgbClr val="E4A11B"/>
          </a:solidFill>
          <a:ln w="12700">
            <a:solidFill>
              <a:srgbClr val="333333"/>
            </a:solidFill>
            <a:prstDash val="solid"/>
          </a:ln>
        </p:spPr>
        <p:txBody>
          <a:bodyPr/>
          <a:lstStyle/>
          <a:p>
            <a:endParaRPr lang="en-US"/>
          </a:p>
        </p:txBody>
      </p:sp>
      <p:sp>
        <p:nvSpPr>
          <p:cNvPr id="18" name="Text 16"/>
          <p:cNvSpPr txBox="1"/>
          <p:nvPr/>
        </p:nvSpPr>
        <p:spPr>
          <a:xfrm>
            <a:off x="987552" y="4206240"/>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The finding underneath it</a:t>
            </a:r>
            <a:endParaRPr lang="en-US" sz="1500" dirty="0"/>
          </a:p>
        </p:txBody>
      </p:sp>
      <p:sp>
        <p:nvSpPr>
          <p:cNvPr id="19" name="Text 17"/>
          <p:cNvSpPr txBox="1"/>
          <p:nvPr/>
        </p:nvSpPr>
        <p:spPr>
          <a:xfrm>
            <a:off x="822960" y="4645152"/>
            <a:ext cx="10552176" cy="1225296"/>
          </a:xfrm>
          <a:prstGeom prst="rect">
            <a:avLst/>
          </a:prstGeom>
          <a:noFill/>
          <a:ln/>
        </p:spPr>
        <p:txBody>
          <a:bodyPr wrap="square" lIns="0" tIns="0" rIns="0" bIns="0" rtlCol="0" anchor="t"/>
          <a:lstStyle/>
          <a:p>
            <a:pPr marL="0" indent="0">
              <a:lnSpc>
                <a:spcPct val="108000"/>
              </a:lnSpc>
              <a:buNone/>
            </a:pPr>
            <a:r>
              <a:rPr lang="en-US" sz="1300" dirty="0">
                <a:solidFill>
                  <a:srgbClr val="C3D3DE"/>
                </a:solidFill>
                <a:latin typeface="Calibri" pitchFamily="34" charset="0"/>
                <a:ea typeface="Calibri" pitchFamily="34" charset="-122"/>
                <a:cs typeface="Calibri" pitchFamily="34" charset="-120"/>
              </a:rPr>
              <a:t>Even with almost no unanswerable questions in training, LTU still refuses sometimes — just less often. The authors read this as a behaviour partly learned in the language-model pre-training stage and amplified, not created, by these examples.</a:t>
            </a:r>
            <a:endParaRPr lang="en-US" sz="1300" dirty="0"/>
          </a:p>
          <a:p>
            <a:pPr marL="0" indent="0">
              <a:lnSpc>
                <a:spcPct val="108000"/>
              </a:lnSpc>
              <a:buNone/>
            </a:pPr>
            <a:endParaRPr lang="en-US" sz="1300" dirty="0"/>
          </a:p>
          <a:p>
            <a:pPr marL="0" indent="0">
              <a:lnSpc>
                <a:spcPct val="108000"/>
              </a:lnSpc>
              <a:buNone/>
            </a:pPr>
            <a:r>
              <a:rPr lang="en-US" sz="1300" dirty="0">
                <a:solidFill>
                  <a:srgbClr val="C3D3DE"/>
                </a:solidFill>
                <a:latin typeface="Calibri" pitchFamily="34" charset="0"/>
                <a:ea typeface="Calibri" pitchFamily="34" charset="-122"/>
                <a:cs typeface="Calibri" pitchFamily="34" charset="-120"/>
              </a:rPr>
              <a:t>A demonstrated example: asked what type of bell is ringing, LTU declines to give a definite answer and lists possibilities instead.</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1E2833"/>
        </a:solidFill>
        <a:effectLst/>
      </p:bgPr>
    </p:bg>
    <p:spTree>
      <p:nvGrpSpPr>
        <p:cNvPr id="1" name=""/>
        <p:cNvGrpSpPr/>
        <p:nvPr/>
      </p:nvGrpSpPr>
      <p:grpSpPr>
        <a:xfrm>
          <a:off x="0" y="0"/>
          <a:ext cx="0" cy="0"/>
          <a:chOff x="0" y="0"/>
          <a:chExt cx="0" cy="0"/>
        </a:xfrm>
      </p:grpSpPr>
      <p:sp>
        <p:nvSpPr>
          <p:cNvPr id="2" name="Shape 0"/>
          <p:cNvSpPr/>
          <p:nvPr/>
        </p:nvSpPr>
        <p:spPr>
          <a:xfrm>
            <a:off x="10515600" y="5477256"/>
            <a:ext cx="164592" cy="164592"/>
          </a:xfrm>
          <a:prstGeom prst="ellipse">
            <a:avLst/>
          </a:prstGeom>
          <a:solidFill>
            <a:srgbClr val="C3D3DE"/>
          </a:solidFill>
          <a:ln w="12700">
            <a:solidFill>
              <a:srgbClr val="333333"/>
            </a:solidFill>
            <a:prstDash val="solid"/>
          </a:ln>
        </p:spPr>
        <p:txBody>
          <a:bodyPr/>
          <a:lstStyle/>
          <a:p>
            <a:endParaRPr lang="en-US"/>
          </a:p>
        </p:txBody>
      </p:sp>
      <p:sp>
        <p:nvSpPr>
          <p:cNvPr id="3" name="Shape 1"/>
          <p:cNvSpPr/>
          <p:nvPr/>
        </p:nvSpPr>
        <p:spPr>
          <a:xfrm>
            <a:off x="10771632" y="5440680"/>
            <a:ext cx="237744" cy="237744"/>
          </a:xfrm>
          <a:prstGeom prst="ellipse">
            <a:avLst/>
          </a:prstGeom>
          <a:solidFill>
            <a:srgbClr val="C3D3DE"/>
          </a:solidFill>
          <a:ln w="12700">
            <a:solidFill>
              <a:srgbClr val="333333"/>
            </a:solidFill>
            <a:prstDash val="solid"/>
          </a:ln>
        </p:spPr>
        <p:txBody>
          <a:bodyPr/>
          <a:lstStyle/>
          <a:p>
            <a:endParaRPr lang="en-US"/>
          </a:p>
        </p:txBody>
      </p:sp>
      <p:sp>
        <p:nvSpPr>
          <p:cNvPr id="4" name="Shape 2"/>
          <p:cNvSpPr/>
          <p:nvPr/>
        </p:nvSpPr>
        <p:spPr>
          <a:xfrm>
            <a:off x="11100816" y="5394960"/>
            <a:ext cx="329184" cy="329184"/>
          </a:xfrm>
          <a:prstGeom prst="ellipse">
            <a:avLst/>
          </a:prstGeom>
          <a:solidFill>
            <a:srgbClr val="E4A11B"/>
          </a:solidFill>
          <a:ln w="12700">
            <a:solidFill>
              <a:srgbClr val="333333"/>
            </a:solidFill>
            <a:prstDash val="solid"/>
          </a:ln>
        </p:spPr>
        <p:txBody>
          <a:bodyPr/>
          <a:lstStyle/>
          <a:p>
            <a:endParaRPr lang="en-US"/>
          </a:p>
        </p:txBody>
      </p:sp>
      <p:sp>
        <p:nvSpPr>
          <p:cNvPr id="5" name="Text 3"/>
          <p:cNvSpPr txBox="1"/>
          <p:nvPr/>
        </p:nvSpPr>
        <p:spPr>
          <a:xfrm>
            <a:off x="822960" y="2057400"/>
            <a:ext cx="1554480" cy="1005840"/>
          </a:xfrm>
          <a:prstGeom prst="rect">
            <a:avLst/>
          </a:prstGeom>
          <a:noFill/>
          <a:ln/>
        </p:spPr>
        <p:txBody>
          <a:bodyPr wrap="square" lIns="0" tIns="0" rIns="0" bIns="0" rtlCol="0" anchor="ctr"/>
          <a:lstStyle/>
          <a:p>
            <a:pPr marL="0" indent="0">
              <a:buNone/>
            </a:pPr>
            <a:r>
              <a:rPr lang="en-US" sz="6600" b="1" dirty="0">
                <a:solidFill>
                  <a:srgbClr val="E4A11B"/>
                </a:solidFill>
                <a:latin typeface="Cambria" pitchFamily="34" charset="0"/>
                <a:ea typeface="Cambria" pitchFamily="34" charset="-122"/>
                <a:cs typeface="Cambria" pitchFamily="34" charset="-120"/>
              </a:rPr>
              <a:t>3</a:t>
            </a:r>
            <a:endParaRPr lang="en-US" sz="6600" dirty="0"/>
          </a:p>
        </p:txBody>
      </p:sp>
      <p:sp>
        <p:nvSpPr>
          <p:cNvPr id="6" name="Text 4"/>
          <p:cNvSpPr txBox="1"/>
          <p:nvPr/>
        </p:nvSpPr>
        <p:spPr>
          <a:xfrm>
            <a:off x="2377440" y="2212848"/>
            <a:ext cx="8686800" cy="822960"/>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Architecture and curriculum</a:t>
            </a:r>
            <a:endParaRPr lang="en-US" sz="3300" dirty="0"/>
          </a:p>
        </p:txBody>
      </p:sp>
      <p:sp>
        <p:nvSpPr>
          <p:cNvPr id="7" name="Text 5"/>
          <p:cNvSpPr txBox="1"/>
          <p:nvPr/>
        </p:nvSpPr>
        <p:spPr>
          <a:xfrm>
            <a:off x="2432304" y="3072384"/>
            <a:ext cx="8503920" cy="731520"/>
          </a:xfrm>
          <a:prstGeom prst="rect">
            <a:avLst/>
          </a:prstGeom>
          <a:noFill/>
          <a:ln/>
        </p:spPr>
        <p:txBody>
          <a:bodyPr wrap="square" lIns="0" tIns="0" rIns="0" bIns="0" rtlCol="0" anchor="ctr"/>
          <a:lstStyle/>
          <a:p>
            <a:pPr marL="0" indent="0">
              <a:buNone/>
            </a:pPr>
            <a:r>
              <a:rPr lang="en-US" sz="1500" dirty="0">
                <a:solidFill>
                  <a:srgbClr val="C3D3DE"/>
                </a:solidFill>
                <a:latin typeface="Calibri" pitchFamily="34" charset="0"/>
                <a:ea typeface="Calibri" pitchFamily="34" charset="-122"/>
                <a:cs typeface="Calibri" pitchFamily="34" charset="-120"/>
              </a:rPr>
              <a:t>The part that stops hallucination</a:t>
            </a:r>
            <a:endParaRPr lang="en-US" sz="1500" dirty="0"/>
          </a:p>
        </p:txBody>
      </p:sp>
      <p:sp>
        <p:nvSpPr>
          <p:cNvPr id="8" name="Text 6"/>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93A5B4"/>
                </a:solidFill>
                <a:latin typeface="Calibri" pitchFamily="34" charset="0"/>
                <a:ea typeface="Calibri" pitchFamily="34" charset="-122"/>
                <a:cs typeface="Calibri" pitchFamily="34" charset="-120"/>
              </a:rPr>
              <a:t>LTU · Gong et al. 2024  |  11</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027664" y="516636"/>
            <a:ext cx="82296" cy="82296"/>
          </a:xfrm>
          <a:prstGeom prst="ellipse">
            <a:avLst/>
          </a:prstGeom>
          <a:solidFill>
            <a:srgbClr val="2F5D8C"/>
          </a:solidFill>
          <a:ln w="12700">
            <a:solidFill>
              <a:srgbClr val="333333"/>
            </a:solidFill>
            <a:prstDash val="solid"/>
          </a:ln>
        </p:spPr>
        <p:txBody>
          <a:bodyPr/>
          <a:lstStyle/>
          <a:p>
            <a:endParaRPr lang="en-US"/>
          </a:p>
        </p:txBody>
      </p:sp>
      <p:sp>
        <p:nvSpPr>
          <p:cNvPr id="3" name="Shape 1"/>
          <p:cNvSpPr/>
          <p:nvPr/>
        </p:nvSpPr>
        <p:spPr>
          <a:xfrm>
            <a:off x="11155680" y="498348"/>
            <a:ext cx="118872" cy="118872"/>
          </a:xfrm>
          <a:prstGeom prst="ellipse">
            <a:avLst/>
          </a:prstGeom>
          <a:solidFill>
            <a:srgbClr val="2F5D8C"/>
          </a:solidFill>
          <a:ln w="12700">
            <a:solidFill>
              <a:srgbClr val="333333"/>
            </a:solidFill>
            <a:prstDash val="solid"/>
          </a:ln>
        </p:spPr>
        <p:txBody>
          <a:bodyPr/>
          <a:lstStyle/>
          <a:p>
            <a:endParaRPr lang="en-US"/>
          </a:p>
        </p:txBody>
      </p:sp>
      <p:sp>
        <p:nvSpPr>
          <p:cNvPr id="4" name="Shape 2"/>
          <p:cNvSpPr/>
          <p:nvPr/>
        </p:nvSpPr>
        <p:spPr>
          <a:xfrm>
            <a:off x="11320272" y="475488"/>
            <a:ext cx="164592" cy="164592"/>
          </a:xfrm>
          <a:prstGeom prst="ellipse">
            <a:avLst/>
          </a:prstGeom>
          <a:solidFill>
            <a:srgbClr val="E4A11B"/>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141C24"/>
                </a:solidFill>
                <a:latin typeface="Cambria" pitchFamily="34" charset="0"/>
                <a:ea typeface="Cambria" pitchFamily="34" charset="-122"/>
                <a:cs typeface="Cambria" pitchFamily="34" charset="-120"/>
              </a:rPr>
              <a:t>The architecture</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56646F"/>
                </a:solidFill>
                <a:latin typeface="Calibri" pitchFamily="34" charset="0"/>
                <a:ea typeface="Calibri" pitchFamily="34" charset="-122"/>
                <a:cs typeface="Calibri" pitchFamily="34" charset="-120"/>
              </a:rPr>
              <a:t>Thirty-two audio tokens into a frozen LLaMA</a:t>
            </a:r>
            <a:endParaRPr lang="en-US" sz="1350" dirty="0"/>
          </a:p>
        </p:txBody>
      </p:sp>
      <p:sp>
        <p:nvSpPr>
          <p:cNvPr id="7" name="Text 5"/>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93A5B4"/>
                </a:solidFill>
                <a:latin typeface="Calibri" pitchFamily="34" charset="0"/>
                <a:ea typeface="Calibri" pitchFamily="34" charset="-122"/>
                <a:cs typeface="Calibri" pitchFamily="34" charset="-120"/>
              </a:rPr>
              <a:t>LTU · Gong et al. 2024  |  12</a:t>
            </a:r>
            <a:endParaRPr lang="en-US" sz="900" dirty="0"/>
          </a:p>
        </p:txBody>
      </p:sp>
      <p:sp>
        <p:nvSpPr>
          <p:cNvPr id="8" name="Shape 6"/>
          <p:cNvSpPr/>
          <p:nvPr/>
        </p:nvSpPr>
        <p:spPr>
          <a:xfrm>
            <a:off x="566928" y="1627632"/>
            <a:ext cx="3200400" cy="1463040"/>
          </a:xfrm>
          <a:prstGeom prst="roundRect">
            <a:avLst>
              <a:gd name="adj" fmla="val 3750"/>
            </a:avLst>
          </a:prstGeom>
          <a:solidFill>
            <a:srgbClr val="F0F3F7"/>
          </a:solidFill>
          <a:ln w="19050">
            <a:solidFill>
              <a:srgbClr val="2F5D8C"/>
            </a:solidFill>
            <a:prstDash val="solid"/>
          </a:ln>
        </p:spPr>
        <p:txBody>
          <a:bodyPr/>
          <a:lstStyle/>
          <a:p>
            <a:endParaRPr lang="en-US"/>
          </a:p>
        </p:txBody>
      </p:sp>
      <p:sp>
        <p:nvSpPr>
          <p:cNvPr id="9" name="Text 7"/>
          <p:cNvSpPr txBox="1"/>
          <p:nvPr/>
        </p:nvSpPr>
        <p:spPr>
          <a:xfrm>
            <a:off x="676656" y="1792224"/>
            <a:ext cx="2980944" cy="292608"/>
          </a:xfrm>
          <a:prstGeom prst="rect">
            <a:avLst/>
          </a:prstGeom>
          <a:noFill/>
          <a:ln/>
        </p:spPr>
        <p:txBody>
          <a:bodyPr wrap="square" lIns="0" tIns="0" rIns="0" bIns="0" rtlCol="0" anchor="ctr"/>
          <a:lstStyle/>
          <a:p>
            <a:pPr marL="0" indent="0" algn="ctr">
              <a:buNone/>
            </a:pPr>
            <a:r>
              <a:rPr lang="en-US" sz="1350" b="1" dirty="0">
                <a:solidFill>
                  <a:srgbClr val="2F5D8C"/>
                </a:solidFill>
                <a:latin typeface="Cambria" pitchFamily="34" charset="0"/>
                <a:ea typeface="Cambria" pitchFamily="34" charset="-122"/>
                <a:cs typeface="Cambria" pitchFamily="34" charset="-120"/>
              </a:rPr>
              <a:t>AST audio encoder</a:t>
            </a:r>
            <a:endParaRPr lang="en-US" sz="1350" dirty="0"/>
          </a:p>
        </p:txBody>
      </p:sp>
      <p:sp>
        <p:nvSpPr>
          <p:cNvPr id="10" name="Text 8"/>
          <p:cNvSpPr txBox="1"/>
          <p:nvPr/>
        </p:nvSpPr>
        <p:spPr>
          <a:xfrm>
            <a:off x="676656" y="2139696"/>
            <a:ext cx="2980944" cy="822960"/>
          </a:xfrm>
          <a:prstGeom prst="rect">
            <a:avLst/>
          </a:prstGeom>
          <a:noFill/>
          <a:ln/>
        </p:spPr>
        <p:txBody>
          <a:bodyPr wrap="square" lIns="0" tIns="0" rIns="0" bIns="0" rtlCol="0" anchor="ctr"/>
          <a:lstStyle/>
          <a:p>
            <a:pPr marL="0" indent="0" algn="ctr">
              <a:buNone/>
            </a:pPr>
            <a:r>
              <a:rPr lang="en-US" sz="1150" dirty="0">
                <a:solidFill>
                  <a:srgbClr val="56646F"/>
                </a:solidFill>
                <a:latin typeface="Calibri" pitchFamily="34" charset="0"/>
                <a:ea typeface="Calibri" pitchFamily="34" charset="-122"/>
                <a:cs typeface="Calibri" pitchFamily="34" charset="-120"/>
              </a:rPr>
              <a:t>CAV-MAE pretrained,</a:t>
            </a:r>
            <a:endParaRPr lang="en-US" sz="1150" dirty="0"/>
          </a:p>
          <a:p>
            <a:pPr marL="0" indent="0" algn="ctr">
              <a:buNone/>
            </a:pPr>
            <a:r>
              <a:rPr lang="en-US" sz="1150" dirty="0">
                <a:solidFill>
                  <a:srgbClr val="56646F"/>
                </a:solidFill>
                <a:latin typeface="Calibri" pitchFamily="34" charset="0"/>
                <a:ea typeface="Calibri" pitchFamily="34" charset="-122"/>
                <a:cs typeface="Calibri" pitchFamily="34" charset="-120"/>
              </a:rPr>
              <a:t>AudioSet-2M finetuned</a:t>
            </a:r>
            <a:endParaRPr lang="en-US" sz="1150" dirty="0"/>
          </a:p>
          <a:p>
            <a:pPr marL="0" indent="0" algn="ctr">
              <a:buNone/>
            </a:pPr>
            <a:r>
              <a:rPr lang="en-US" sz="1150" dirty="0">
                <a:solidFill>
                  <a:srgbClr val="56646F"/>
                </a:solidFill>
                <a:latin typeface="Calibri" pitchFamily="34" charset="0"/>
                <a:ea typeface="Calibri" pitchFamily="34" charset="-122"/>
                <a:cs typeface="Calibri" pitchFamily="34" charset="-120"/>
              </a:rPr>
              <a:t>trainable</a:t>
            </a:r>
            <a:endParaRPr lang="en-US" sz="1150" dirty="0"/>
          </a:p>
        </p:txBody>
      </p:sp>
      <p:sp>
        <p:nvSpPr>
          <p:cNvPr id="11" name="Shape 9"/>
          <p:cNvSpPr/>
          <p:nvPr/>
        </p:nvSpPr>
        <p:spPr>
          <a:xfrm>
            <a:off x="3840480" y="2359152"/>
            <a:ext cx="457200" cy="0"/>
          </a:xfrm>
          <a:prstGeom prst="line">
            <a:avLst/>
          </a:prstGeom>
          <a:noFill/>
          <a:ln w="28575">
            <a:solidFill>
              <a:srgbClr val="9DB0C2"/>
            </a:solidFill>
            <a:prstDash val="solid"/>
            <a:tailEnd type="triangle"/>
          </a:ln>
        </p:spPr>
        <p:txBody>
          <a:bodyPr/>
          <a:lstStyle/>
          <a:p>
            <a:endParaRPr lang="en-US"/>
          </a:p>
        </p:txBody>
      </p:sp>
      <p:sp>
        <p:nvSpPr>
          <p:cNvPr id="12" name="Shape 10"/>
          <p:cNvSpPr/>
          <p:nvPr/>
        </p:nvSpPr>
        <p:spPr>
          <a:xfrm>
            <a:off x="4389120" y="1627632"/>
            <a:ext cx="3017520" cy="1463040"/>
          </a:xfrm>
          <a:prstGeom prst="roundRect">
            <a:avLst>
              <a:gd name="adj" fmla="val 3750"/>
            </a:avLst>
          </a:prstGeom>
          <a:solidFill>
            <a:srgbClr val="FDF4E2"/>
          </a:solidFill>
          <a:ln w="19050">
            <a:solidFill>
              <a:srgbClr val="E4A11B"/>
            </a:solidFill>
            <a:prstDash val="solid"/>
          </a:ln>
        </p:spPr>
        <p:txBody>
          <a:bodyPr/>
          <a:lstStyle/>
          <a:p>
            <a:endParaRPr lang="en-US"/>
          </a:p>
        </p:txBody>
      </p:sp>
      <p:sp>
        <p:nvSpPr>
          <p:cNvPr id="13" name="Text 11"/>
          <p:cNvSpPr txBox="1"/>
          <p:nvPr/>
        </p:nvSpPr>
        <p:spPr>
          <a:xfrm>
            <a:off x="4498848" y="1792224"/>
            <a:ext cx="2798064" cy="292608"/>
          </a:xfrm>
          <a:prstGeom prst="rect">
            <a:avLst/>
          </a:prstGeom>
          <a:noFill/>
          <a:ln/>
        </p:spPr>
        <p:txBody>
          <a:bodyPr wrap="square" lIns="0" tIns="0" rIns="0" bIns="0" rtlCol="0" anchor="ctr"/>
          <a:lstStyle/>
          <a:p>
            <a:pPr marL="0" indent="0" algn="ctr">
              <a:buNone/>
            </a:pPr>
            <a:r>
              <a:rPr lang="en-US" sz="1350" b="1" dirty="0">
                <a:solidFill>
                  <a:srgbClr val="E4A11B"/>
                </a:solidFill>
                <a:latin typeface="Cambria" pitchFamily="34" charset="0"/>
                <a:ea typeface="Cambria" pitchFamily="34" charset="-122"/>
                <a:cs typeface="Cambria" pitchFamily="34" charset="-120"/>
              </a:rPr>
              <a:t>Linear projection</a:t>
            </a:r>
            <a:endParaRPr lang="en-US" sz="1350" dirty="0"/>
          </a:p>
        </p:txBody>
      </p:sp>
      <p:sp>
        <p:nvSpPr>
          <p:cNvPr id="14" name="Text 12"/>
          <p:cNvSpPr txBox="1"/>
          <p:nvPr/>
        </p:nvSpPr>
        <p:spPr>
          <a:xfrm>
            <a:off x="4498848" y="2139696"/>
            <a:ext cx="2798064" cy="822960"/>
          </a:xfrm>
          <a:prstGeom prst="rect">
            <a:avLst/>
          </a:prstGeom>
          <a:noFill/>
          <a:ln/>
        </p:spPr>
        <p:txBody>
          <a:bodyPr wrap="square" lIns="0" tIns="0" rIns="0" bIns="0" rtlCol="0" anchor="ctr"/>
          <a:lstStyle/>
          <a:p>
            <a:pPr marL="0" indent="0" algn="ctr">
              <a:buNone/>
            </a:pPr>
            <a:r>
              <a:rPr lang="en-US" sz="1150" dirty="0">
                <a:solidFill>
                  <a:srgbClr val="56646F"/>
                </a:solidFill>
                <a:latin typeface="Calibri" pitchFamily="34" charset="0"/>
                <a:ea typeface="Calibri" pitchFamily="34" charset="-122"/>
                <a:cs typeface="Calibri" pitchFamily="34" charset="-120"/>
              </a:rPr>
              <a:t>32 embeddings at 3.2 Hz</a:t>
            </a:r>
            <a:endParaRPr lang="en-US" sz="1150" dirty="0"/>
          </a:p>
          <a:p>
            <a:pPr marL="0" indent="0" algn="ctr">
              <a:buNone/>
            </a:pPr>
            <a:r>
              <a:rPr lang="en-US" sz="1150" dirty="0">
                <a:solidFill>
                  <a:srgbClr val="56646F"/>
                </a:solidFill>
                <a:latin typeface="Calibri" pitchFamily="34" charset="0"/>
                <a:ea typeface="Calibri" pitchFamily="34" charset="-122"/>
                <a:cs typeface="Calibri" pitchFamily="34" charset="-120"/>
              </a:rPr>
              <a:t>768 → 4096 dimensions</a:t>
            </a:r>
            <a:endParaRPr lang="en-US" sz="1150" dirty="0"/>
          </a:p>
          <a:p>
            <a:pPr marL="0" indent="0" algn="ctr">
              <a:buNone/>
            </a:pPr>
            <a:r>
              <a:rPr lang="en-US" sz="1150" dirty="0">
                <a:solidFill>
                  <a:srgbClr val="56646F"/>
                </a:solidFill>
                <a:latin typeface="Calibri" pitchFamily="34" charset="0"/>
                <a:ea typeface="Calibri" pitchFamily="34" charset="-122"/>
                <a:cs typeface="Calibri" pitchFamily="34" charset="-120"/>
              </a:rPr>
              <a:t>trainable</a:t>
            </a:r>
            <a:endParaRPr lang="en-US" sz="1150" dirty="0"/>
          </a:p>
        </p:txBody>
      </p:sp>
      <p:sp>
        <p:nvSpPr>
          <p:cNvPr id="15" name="Shape 13"/>
          <p:cNvSpPr/>
          <p:nvPr/>
        </p:nvSpPr>
        <p:spPr>
          <a:xfrm>
            <a:off x="7479792" y="2359152"/>
            <a:ext cx="457200" cy="0"/>
          </a:xfrm>
          <a:prstGeom prst="line">
            <a:avLst/>
          </a:prstGeom>
          <a:noFill/>
          <a:ln w="28575">
            <a:solidFill>
              <a:srgbClr val="9DB0C2"/>
            </a:solidFill>
            <a:prstDash val="solid"/>
            <a:tailEnd type="triangle"/>
          </a:ln>
        </p:spPr>
        <p:txBody>
          <a:bodyPr/>
          <a:lstStyle/>
          <a:p>
            <a:endParaRPr lang="en-US"/>
          </a:p>
        </p:txBody>
      </p:sp>
      <p:sp>
        <p:nvSpPr>
          <p:cNvPr id="16" name="Shape 14"/>
          <p:cNvSpPr/>
          <p:nvPr/>
        </p:nvSpPr>
        <p:spPr>
          <a:xfrm>
            <a:off x="8028432" y="1627632"/>
            <a:ext cx="3602736" cy="1463040"/>
          </a:xfrm>
          <a:prstGeom prst="roundRect">
            <a:avLst>
              <a:gd name="adj" fmla="val 3750"/>
            </a:avLst>
          </a:prstGeom>
          <a:solidFill>
            <a:srgbClr val="1E2833"/>
          </a:solidFill>
          <a:ln w="12700">
            <a:solidFill>
              <a:srgbClr val="333333"/>
            </a:solidFill>
            <a:prstDash val="solid"/>
          </a:ln>
        </p:spPr>
        <p:txBody>
          <a:bodyPr/>
          <a:lstStyle/>
          <a:p>
            <a:endParaRPr lang="en-US"/>
          </a:p>
        </p:txBody>
      </p:sp>
      <p:sp>
        <p:nvSpPr>
          <p:cNvPr id="17" name="Text 15"/>
          <p:cNvSpPr txBox="1"/>
          <p:nvPr/>
        </p:nvSpPr>
        <p:spPr>
          <a:xfrm>
            <a:off x="8138160" y="1792224"/>
            <a:ext cx="3383280" cy="292608"/>
          </a:xfrm>
          <a:prstGeom prst="rect">
            <a:avLst/>
          </a:prstGeom>
          <a:noFill/>
          <a:ln/>
        </p:spPr>
        <p:txBody>
          <a:bodyPr wrap="square" lIns="0" tIns="0" rIns="0" bIns="0" rtlCol="0" anchor="ctr"/>
          <a:lstStyle/>
          <a:p>
            <a:pPr marL="0" indent="0" algn="ctr">
              <a:buNone/>
            </a:pPr>
            <a:r>
              <a:rPr lang="en-US" sz="1350" b="1" dirty="0">
                <a:solidFill>
                  <a:srgbClr val="FFFFFF"/>
                </a:solidFill>
                <a:latin typeface="Cambria" pitchFamily="34" charset="0"/>
                <a:ea typeface="Cambria" pitchFamily="34" charset="-122"/>
                <a:cs typeface="Cambria" pitchFamily="34" charset="-120"/>
              </a:rPr>
              <a:t>LLaMA-7B + Vicuna</a:t>
            </a:r>
            <a:endParaRPr lang="en-US" sz="1350" dirty="0"/>
          </a:p>
        </p:txBody>
      </p:sp>
      <p:sp>
        <p:nvSpPr>
          <p:cNvPr id="18" name="Text 16"/>
          <p:cNvSpPr txBox="1"/>
          <p:nvPr/>
        </p:nvSpPr>
        <p:spPr>
          <a:xfrm>
            <a:off x="8138160" y="2139696"/>
            <a:ext cx="3383280" cy="822960"/>
          </a:xfrm>
          <a:prstGeom prst="rect">
            <a:avLst/>
          </a:prstGeom>
          <a:noFill/>
          <a:ln/>
        </p:spPr>
        <p:txBody>
          <a:bodyPr wrap="square" lIns="0" tIns="0" rIns="0" bIns="0" rtlCol="0" anchor="ctr"/>
          <a:lstStyle/>
          <a:p>
            <a:pPr marL="0" indent="0" algn="ctr">
              <a:buNone/>
            </a:pPr>
            <a:r>
              <a:rPr lang="en-US" sz="1150" dirty="0">
                <a:solidFill>
                  <a:srgbClr val="C3D3DE"/>
                </a:solidFill>
                <a:latin typeface="Calibri" pitchFamily="34" charset="0"/>
                <a:ea typeface="Calibri" pitchFamily="34" charset="-122"/>
                <a:cs typeface="Calibri" pitchFamily="34" charset="-120"/>
              </a:rPr>
              <a:t>frozen · LoRA rank 8, α=16</a:t>
            </a:r>
            <a:endParaRPr lang="en-US" sz="1150" dirty="0"/>
          </a:p>
          <a:p>
            <a:pPr marL="0" indent="0" algn="ctr">
              <a:buNone/>
            </a:pPr>
            <a:r>
              <a:rPr lang="en-US" sz="1150" dirty="0">
                <a:solidFill>
                  <a:srgbClr val="C3D3DE"/>
                </a:solidFill>
                <a:latin typeface="Calibri" pitchFamily="34" charset="0"/>
                <a:ea typeface="Calibri" pitchFamily="34" charset="-122"/>
                <a:cs typeface="Calibri" pitchFamily="34" charset="-120"/>
              </a:rPr>
              <a:t>on key and query projections</a:t>
            </a:r>
            <a:endParaRPr lang="en-US" sz="1150" dirty="0"/>
          </a:p>
          <a:p>
            <a:pPr marL="0" indent="0" algn="ctr">
              <a:buNone/>
            </a:pPr>
            <a:r>
              <a:rPr lang="en-US" sz="1150" dirty="0">
                <a:solidFill>
                  <a:srgbClr val="C3D3DE"/>
                </a:solidFill>
                <a:latin typeface="Calibri" pitchFamily="34" charset="0"/>
                <a:ea typeface="Calibri" pitchFamily="34" charset="-122"/>
                <a:cs typeface="Calibri" pitchFamily="34" charset="-120"/>
              </a:rPr>
              <a:t>4.2M trainable parameters</a:t>
            </a:r>
            <a:endParaRPr lang="en-US" sz="1150" dirty="0"/>
          </a:p>
        </p:txBody>
      </p:sp>
      <p:sp>
        <p:nvSpPr>
          <p:cNvPr id="19" name="Text 17"/>
          <p:cNvSpPr txBox="1"/>
          <p:nvPr/>
        </p:nvSpPr>
        <p:spPr>
          <a:xfrm>
            <a:off x="566928" y="3291840"/>
            <a:ext cx="11064240" cy="2103120"/>
          </a:xfrm>
          <a:prstGeom prst="rect">
            <a:avLst/>
          </a:prstGeom>
          <a:noFill/>
          <a:ln/>
        </p:spPr>
        <p:txBody>
          <a:bodyPr wrap="square" lIns="0" tIns="0" rIns="0" bIns="0" rtlCol="0" anchor="t"/>
          <a:lstStyle/>
          <a:p>
            <a:pPr marL="342900" indent="-342900">
              <a:spcAft>
                <a:spcPts val="800"/>
              </a:spcAft>
              <a:buSzPct val="100000"/>
              <a:buChar char="●"/>
            </a:pPr>
            <a:r>
              <a:rPr lang="en-US" sz="1260" dirty="0">
                <a:solidFill>
                  <a:srgbClr val="27323C"/>
                </a:solidFill>
                <a:latin typeface="Calibri" pitchFamily="34" charset="0"/>
                <a:ea typeface="Calibri" pitchFamily="34" charset="-122"/>
                <a:cs typeface="Calibri" pitchFamily="34" charset="-120"/>
              </a:rPr>
              <a:t>Ten seconds of audio becomes a 1024 × 128 spectrogram, split into 512 patches, encoded to 512 embeddings, then frequency-mean-pooled and temporally downsampled by two to give 32 embeddings — about 3.2 Hz.</a:t>
            </a:r>
            <a:endParaRPr lang="en-US" sz="1260" dirty="0"/>
          </a:p>
          <a:p>
            <a:pPr marL="342900" indent="-342900">
              <a:spcAft>
                <a:spcPts val="800"/>
              </a:spcAft>
              <a:buSzPct val="100000"/>
              <a:buChar char="●"/>
            </a:pPr>
            <a:r>
              <a:rPr lang="en-US" sz="1260" dirty="0">
                <a:solidFill>
                  <a:srgbClr val="27323C"/>
                </a:solidFill>
                <a:latin typeface="Calibri" pitchFamily="34" charset="0"/>
                <a:ea typeface="Calibri" pitchFamily="34" charset="-122"/>
                <a:cs typeface="Calibri" pitchFamily="34" charset="-120"/>
              </a:rPr>
              <a:t>Compare SALMONN at roughly 3 tokens per second and Pengi's fixed 40-embedding prefix. LTU is in SALMONN's range, and the paper flags the low temporal resolution as a limitation.</a:t>
            </a:r>
            <a:endParaRPr lang="en-US" sz="1260" dirty="0"/>
          </a:p>
          <a:p>
            <a:pPr marL="342900" indent="-342900">
              <a:spcAft>
                <a:spcPts val="800"/>
              </a:spcAft>
              <a:buSzPct val="100000"/>
              <a:buChar char="●"/>
            </a:pPr>
            <a:r>
              <a:rPr lang="en-US" sz="1260" dirty="0">
                <a:solidFill>
                  <a:srgbClr val="27323C"/>
                </a:solidFill>
                <a:latin typeface="Calibri" pitchFamily="34" charset="0"/>
                <a:ea typeface="Calibri" pitchFamily="34" charset="-122"/>
                <a:cs typeface="Calibri" pitchFamily="34" charset="-120"/>
              </a:rPr>
              <a:t>LoRA is used rather than full fine-tuning for two stated reasons: mitigating catastrophic forgetting and overfitting, and training efficiency.</a:t>
            </a:r>
            <a:endParaRPr lang="en-US" sz="1260" dirty="0"/>
          </a:p>
          <a:p>
            <a:pPr marL="342900" indent="-342900">
              <a:spcAft>
                <a:spcPts val="800"/>
              </a:spcAft>
              <a:buSzPct val="100000"/>
              <a:buChar char="●"/>
            </a:pPr>
            <a:r>
              <a:rPr lang="en-US" sz="1260" dirty="0">
                <a:solidFill>
                  <a:srgbClr val="27323C"/>
                </a:solidFill>
                <a:latin typeface="Calibri" pitchFamily="34" charset="0"/>
                <a:ea typeface="Calibri" pitchFamily="34" charset="-122"/>
                <a:cs typeface="Calibri" pitchFamily="34" charset="-120"/>
              </a:rPr>
              <a:t>Trained on four RTX A6000 GPUs for about three days — a fraction of Qwen-Audio's compute.</a:t>
            </a:r>
            <a:endParaRPr lang="en-US" sz="126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027664" y="516636"/>
            <a:ext cx="82296" cy="82296"/>
          </a:xfrm>
          <a:prstGeom prst="ellipse">
            <a:avLst/>
          </a:prstGeom>
          <a:solidFill>
            <a:srgbClr val="2F5D8C"/>
          </a:solidFill>
          <a:ln w="12700">
            <a:solidFill>
              <a:srgbClr val="333333"/>
            </a:solidFill>
            <a:prstDash val="solid"/>
          </a:ln>
        </p:spPr>
        <p:txBody>
          <a:bodyPr/>
          <a:lstStyle/>
          <a:p>
            <a:endParaRPr lang="en-US"/>
          </a:p>
        </p:txBody>
      </p:sp>
      <p:sp>
        <p:nvSpPr>
          <p:cNvPr id="3" name="Shape 1"/>
          <p:cNvSpPr/>
          <p:nvPr/>
        </p:nvSpPr>
        <p:spPr>
          <a:xfrm>
            <a:off x="11155680" y="498348"/>
            <a:ext cx="118872" cy="118872"/>
          </a:xfrm>
          <a:prstGeom prst="ellipse">
            <a:avLst/>
          </a:prstGeom>
          <a:solidFill>
            <a:srgbClr val="2F5D8C"/>
          </a:solidFill>
          <a:ln w="12700">
            <a:solidFill>
              <a:srgbClr val="333333"/>
            </a:solidFill>
            <a:prstDash val="solid"/>
          </a:ln>
        </p:spPr>
        <p:txBody>
          <a:bodyPr/>
          <a:lstStyle/>
          <a:p>
            <a:endParaRPr lang="en-US"/>
          </a:p>
        </p:txBody>
      </p:sp>
      <p:sp>
        <p:nvSpPr>
          <p:cNvPr id="4" name="Shape 2"/>
          <p:cNvSpPr/>
          <p:nvPr/>
        </p:nvSpPr>
        <p:spPr>
          <a:xfrm>
            <a:off x="11320272" y="475488"/>
            <a:ext cx="164592" cy="164592"/>
          </a:xfrm>
          <a:prstGeom prst="ellipse">
            <a:avLst/>
          </a:prstGeom>
          <a:solidFill>
            <a:srgbClr val="E4A11B"/>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141C24"/>
                </a:solidFill>
                <a:latin typeface="Cambria" pitchFamily="34" charset="0"/>
                <a:ea typeface="Cambria" pitchFamily="34" charset="-122"/>
                <a:cs typeface="Cambria" pitchFamily="34" charset="-120"/>
              </a:rPr>
              <a:t>The perception-to-understanding curriculum</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56646F"/>
                </a:solidFill>
                <a:latin typeface="Calibri" pitchFamily="34" charset="0"/>
                <a:ea typeface="Calibri" pitchFamily="34" charset="-122"/>
                <a:cs typeface="Calibri" pitchFamily="34" charset="-120"/>
              </a:rPr>
              <a:t>Four stages of increasing openness</a:t>
            </a:r>
            <a:endParaRPr lang="en-US" sz="1350" dirty="0"/>
          </a:p>
        </p:txBody>
      </p:sp>
      <p:sp>
        <p:nvSpPr>
          <p:cNvPr id="7" name="Text 5"/>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93A5B4"/>
                </a:solidFill>
                <a:latin typeface="Calibri" pitchFamily="34" charset="0"/>
                <a:ea typeface="Calibri" pitchFamily="34" charset="-122"/>
                <a:cs typeface="Calibri" pitchFamily="34" charset="-120"/>
              </a:rPr>
              <a:t>LTU · Gong et al. 2024  |  13</a:t>
            </a:r>
            <a:endParaRPr lang="en-US" sz="900" dirty="0"/>
          </a:p>
        </p:txBody>
      </p:sp>
      <p:sp>
        <p:nvSpPr>
          <p:cNvPr id="8" name="Text 6"/>
          <p:cNvSpPr txBox="1"/>
          <p:nvPr/>
        </p:nvSpPr>
        <p:spPr>
          <a:xfrm>
            <a:off x="786384" y="1444752"/>
            <a:ext cx="914400" cy="274320"/>
          </a:xfrm>
          <a:prstGeom prst="rect">
            <a:avLst/>
          </a:prstGeom>
          <a:noFill/>
          <a:ln/>
        </p:spPr>
        <p:txBody>
          <a:bodyPr wrap="square" lIns="0" tIns="0" rIns="0" bIns="0" rtlCol="0" anchor="ctr"/>
          <a:lstStyle/>
          <a:p>
            <a:pPr marL="0" indent="0">
              <a:buNone/>
            </a:pPr>
            <a:r>
              <a:rPr lang="en-US" sz="1150" b="1" dirty="0">
                <a:solidFill>
                  <a:srgbClr val="56646F"/>
                </a:solidFill>
                <a:latin typeface="Calibri" pitchFamily="34" charset="0"/>
                <a:ea typeface="Calibri" pitchFamily="34" charset="-122"/>
                <a:cs typeface="Calibri" pitchFamily="34" charset="-120"/>
              </a:rPr>
              <a:t>Stage</a:t>
            </a:r>
            <a:endParaRPr lang="en-US" sz="1150" dirty="0"/>
          </a:p>
        </p:txBody>
      </p:sp>
      <p:sp>
        <p:nvSpPr>
          <p:cNvPr id="9" name="Text 7"/>
          <p:cNvSpPr txBox="1"/>
          <p:nvPr/>
        </p:nvSpPr>
        <p:spPr>
          <a:xfrm>
            <a:off x="1828800" y="1444752"/>
            <a:ext cx="2377440" cy="274320"/>
          </a:xfrm>
          <a:prstGeom prst="rect">
            <a:avLst/>
          </a:prstGeom>
          <a:noFill/>
          <a:ln/>
        </p:spPr>
        <p:txBody>
          <a:bodyPr wrap="square" lIns="0" tIns="0" rIns="0" bIns="0" rtlCol="0" anchor="ctr"/>
          <a:lstStyle/>
          <a:p>
            <a:pPr marL="0" indent="0">
              <a:buNone/>
            </a:pPr>
            <a:r>
              <a:rPr lang="en-US" sz="1150" b="1" dirty="0">
                <a:solidFill>
                  <a:srgbClr val="56646F"/>
                </a:solidFill>
                <a:latin typeface="Calibri" pitchFamily="34" charset="0"/>
                <a:ea typeface="Calibri" pitchFamily="34" charset="-122"/>
                <a:cs typeface="Calibri" pitchFamily="34" charset="-120"/>
              </a:rPr>
              <a:t>Trainable</a:t>
            </a:r>
            <a:endParaRPr lang="en-US" sz="1150" dirty="0"/>
          </a:p>
        </p:txBody>
      </p:sp>
      <p:sp>
        <p:nvSpPr>
          <p:cNvPr id="10" name="Text 8"/>
          <p:cNvSpPr txBox="1"/>
          <p:nvPr/>
        </p:nvSpPr>
        <p:spPr>
          <a:xfrm>
            <a:off x="4389120" y="1444752"/>
            <a:ext cx="3383280" cy="274320"/>
          </a:xfrm>
          <a:prstGeom prst="rect">
            <a:avLst/>
          </a:prstGeom>
          <a:noFill/>
          <a:ln/>
        </p:spPr>
        <p:txBody>
          <a:bodyPr wrap="square" lIns="0" tIns="0" rIns="0" bIns="0" rtlCol="0" anchor="ctr"/>
          <a:lstStyle/>
          <a:p>
            <a:pPr marL="0" indent="0">
              <a:buNone/>
            </a:pPr>
            <a:r>
              <a:rPr lang="en-US" sz="1150" b="1" dirty="0">
                <a:solidFill>
                  <a:srgbClr val="56646F"/>
                </a:solidFill>
                <a:latin typeface="Calibri" pitchFamily="34" charset="0"/>
                <a:ea typeface="Calibri" pitchFamily="34" charset="-122"/>
                <a:cs typeface="Calibri" pitchFamily="34" charset="-120"/>
              </a:rPr>
              <a:t>Training task</a:t>
            </a:r>
            <a:endParaRPr lang="en-US" sz="1150" dirty="0"/>
          </a:p>
        </p:txBody>
      </p:sp>
      <p:sp>
        <p:nvSpPr>
          <p:cNvPr id="11" name="Text 9"/>
          <p:cNvSpPr txBox="1"/>
          <p:nvPr/>
        </p:nvSpPr>
        <p:spPr>
          <a:xfrm>
            <a:off x="7955280" y="1444752"/>
            <a:ext cx="1097280" cy="274320"/>
          </a:xfrm>
          <a:prstGeom prst="rect">
            <a:avLst/>
          </a:prstGeom>
          <a:noFill/>
          <a:ln/>
        </p:spPr>
        <p:txBody>
          <a:bodyPr wrap="square" lIns="0" tIns="0" rIns="0" bIns="0" rtlCol="0" anchor="ctr"/>
          <a:lstStyle/>
          <a:p>
            <a:pPr marL="0" indent="0">
              <a:buNone/>
            </a:pPr>
            <a:r>
              <a:rPr lang="en-US" sz="1150" b="1" dirty="0">
                <a:solidFill>
                  <a:srgbClr val="56646F"/>
                </a:solidFill>
                <a:latin typeface="Calibri" pitchFamily="34" charset="0"/>
                <a:ea typeface="Calibri" pitchFamily="34" charset="-122"/>
                <a:cs typeface="Calibri" pitchFamily="34" charset="-120"/>
              </a:rPr>
              <a:t>Samples</a:t>
            </a:r>
            <a:endParaRPr lang="en-US" sz="1150" dirty="0"/>
          </a:p>
        </p:txBody>
      </p:sp>
      <p:sp>
        <p:nvSpPr>
          <p:cNvPr id="12" name="Text 10"/>
          <p:cNvSpPr txBox="1"/>
          <p:nvPr/>
        </p:nvSpPr>
        <p:spPr>
          <a:xfrm>
            <a:off x="9144000" y="1444752"/>
            <a:ext cx="1371600" cy="274320"/>
          </a:xfrm>
          <a:prstGeom prst="rect">
            <a:avLst/>
          </a:prstGeom>
          <a:noFill/>
          <a:ln/>
        </p:spPr>
        <p:txBody>
          <a:bodyPr wrap="square" lIns="0" tIns="0" rIns="0" bIns="0" rtlCol="0" anchor="ctr"/>
          <a:lstStyle/>
          <a:p>
            <a:pPr marL="0" indent="0">
              <a:buNone/>
            </a:pPr>
            <a:r>
              <a:rPr lang="en-US" sz="1150" b="1" dirty="0">
                <a:solidFill>
                  <a:srgbClr val="56646F"/>
                </a:solidFill>
                <a:latin typeface="Calibri" pitchFamily="34" charset="0"/>
                <a:ea typeface="Calibri" pitchFamily="34" charset="-122"/>
                <a:cs typeface="Calibri" pitchFamily="34" charset="-120"/>
              </a:rPr>
              <a:t>Learning rate</a:t>
            </a:r>
            <a:endParaRPr lang="en-US" sz="1150" dirty="0"/>
          </a:p>
        </p:txBody>
      </p:sp>
      <p:sp>
        <p:nvSpPr>
          <p:cNvPr id="13" name="Text 11"/>
          <p:cNvSpPr txBox="1"/>
          <p:nvPr/>
        </p:nvSpPr>
        <p:spPr>
          <a:xfrm>
            <a:off x="10607040" y="1444752"/>
            <a:ext cx="914400" cy="274320"/>
          </a:xfrm>
          <a:prstGeom prst="rect">
            <a:avLst/>
          </a:prstGeom>
          <a:noFill/>
          <a:ln/>
        </p:spPr>
        <p:txBody>
          <a:bodyPr wrap="square" lIns="0" tIns="0" rIns="0" bIns="0" rtlCol="0" anchor="ctr"/>
          <a:lstStyle/>
          <a:p>
            <a:pPr marL="0" indent="0">
              <a:buNone/>
            </a:pPr>
            <a:r>
              <a:rPr lang="en-US" sz="1150" b="1" dirty="0">
                <a:solidFill>
                  <a:srgbClr val="56646F"/>
                </a:solidFill>
                <a:latin typeface="Calibri" pitchFamily="34" charset="0"/>
                <a:ea typeface="Calibri" pitchFamily="34" charset="-122"/>
                <a:cs typeface="Calibri" pitchFamily="34" charset="-120"/>
              </a:rPr>
              <a:t>Epochs</a:t>
            </a:r>
            <a:endParaRPr lang="en-US" sz="1150" dirty="0"/>
          </a:p>
        </p:txBody>
      </p:sp>
      <p:sp>
        <p:nvSpPr>
          <p:cNvPr id="14" name="Shape 12"/>
          <p:cNvSpPr/>
          <p:nvPr/>
        </p:nvSpPr>
        <p:spPr>
          <a:xfrm>
            <a:off x="566928" y="1737360"/>
            <a:ext cx="11064240" cy="512064"/>
          </a:xfrm>
          <a:prstGeom prst="roundRect">
            <a:avLst>
              <a:gd name="adj" fmla="val 3571"/>
            </a:avLst>
          </a:prstGeom>
          <a:solidFill>
            <a:srgbClr val="F0F3F7"/>
          </a:solidFill>
          <a:ln w="12700">
            <a:solidFill>
              <a:srgbClr val="E6ECF2"/>
            </a:solidFill>
            <a:prstDash val="solid"/>
          </a:ln>
        </p:spPr>
        <p:txBody>
          <a:bodyPr/>
          <a:lstStyle/>
          <a:p>
            <a:endParaRPr lang="en-US"/>
          </a:p>
        </p:txBody>
      </p:sp>
      <p:sp>
        <p:nvSpPr>
          <p:cNvPr id="15" name="Text 13"/>
          <p:cNvSpPr txBox="1"/>
          <p:nvPr/>
        </p:nvSpPr>
        <p:spPr>
          <a:xfrm>
            <a:off x="786384" y="1801368"/>
            <a:ext cx="914400" cy="384048"/>
          </a:xfrm>
          <a:prstGeom prst="rect">
            <a:avLst/>
          </a:prstGeom>
          <a:noFill/>
          <a:ln/>
        </p:spPr>
        <p:txBody>
          <a:bodyPr wrap="square" lIns="0" tIns="0" rIns="0" bIns="0" rtlCol="0" anchor="ctr"/>
          <a:lstStyle/>
          <a:p>
            <a:pPr marL="0" indent="0">
              <a:buNone/>
            </a:pPr>
            <a:r>
              <a:rPr lang="en-US" sz="1180" b="1" dirty="0">
                <a:solidFill>
                  <a:srgbClr val="141C24"/>
                </a:solidFill>
                <a:latin typeface="Calibri" pitchFamily="34" charset="0"/>
                <a:ea typeface="Calibri" pitchFamily="34" charset="-122"/>
                <a:cs typeface="Calibri" pitchFamily="34" charset="-120"/>
              </a:rPr>
              <a:t>1</a:t>
            </a:r>
            <a:endParaRPr lang="en-US" sz="1180" dirty="0"/>
          </a:p>
        </p:txBody>
      </p:sp>
      <p:sp>
        <p:nvSpPr>
          <p:cNvPr id="16" name="Text 14"/>
          <p:cNvSpPr txBox="1"/>
          <p:nvPr/>
        </p:nvSpPr>
        <p:spPr>
          <a:xfrm>
            <a:off x="1828800" y="1801368"/>
            <a:ext cx="2377440" cy="384048"/>
          </a:xfrm>
          <a:prstGeom prst="rect">
            <a:avLst/>
          </a:prstGeom>
          <a:noFill/>
          <a:ln/>
        </p:spPr>
        <p:txBody>
          <a:bodyPr wrap="square" lIns="0" tIns="0" rIns="0" bIns="0" rtlCol="0" anchor="ctr"/>
          <a:lstStyle/>
          <a:p>
            <a:pPr marL="0" indent="0">
              <a:buNone/>
            </a:pPr>
            <a:r>
              <a:rPr lang="en-US" sz="1180" dirty="0">
                <a:solidFill>
                  <a:srgbClr val="27323C"/>
                </a:solidFill>
                <a:latin typeface="Calibri" pitchFamily="34" charset="0"/>
                <a:ea typeface="Calibri" pitchFamily="34" charset="-122"/>
                <a:cs typeface="Calibri" pitchFamily="34" charset="-120"/>
              </a:rPr>
              <a:t>Projection layer only</a:t>
            </a:r>
            <a:endParaRPr lang="en-US" sz="1180" dirty="0"/>
          </a:p>
        </p:txBody>
      </p:sp>
      <p:sp>
        <p:nvSpPr>
          <p:cNvPr id="17" name="Text 15"/>
          <p:cNvSpPr txBox="1"/>
          <p:nvPr/>
        </p:nvSpPr>
        <p:spPr>
          <a:xfrm>
            <a:off x="4389120" y="1801368"/>
            <a:ext cx="3383280" cy="384048"/>
          </a:xfrm>
          <a:prstGeom prst="rect">
            <a:avLst/>
          </a:prstGeom>
          <a:noFill/>
          <a:ln/>
        </p:spPr>
        <p:txBody>
          <a:bodyPr wrap="square" lIns="0" tIns="0" rIns="0" bIns="0" rtlCol="0" anchor="ctr"/>
          <a:lstStyle/>
          <a:p>
            <a:pPr marL="0" indent="0">
              <a:buNone/>
            </a:pPr>
            <a:r>
              <a:rPr lang="en-US" sz="1180" dirty="0">
                <a:solidFill>
                  <a:srgbClr val="27323C"/>
                </a:solidFill>
                <a:latin typeface="Calibri" pitchFamily="34" charset="0"/>
                <a:ea typeface="Calibri" pitchFamily="34" charset="-122"/>
                <a:cs typeface="Calibri" pitchFamily="34" charset="-120"/>
              </a:rPr>
              <a:t>Classification + acoustic features</a:t>
            </a:r>
            <a:endParaRPr lang="en-US" sz="1180" dirty="0"/>
          </a:p>
        </p:txBody>
      </p:sp>
      <p:sp>
        <p:nvSpPr>
          <p:cNvPr id="18" name="Text 16"/>
          <p:cNvSpPr txBox="1"/>
          <p:nvPr/>
        </p:nvSpPr>
        <p:spPr>
          <a:xfrm>
            <a:off x="7955280" y="1801368"/>
            <a:ext cx="1097280" cy="384048"/>
          </a:xfrm>
          <a:prstGeom prst="rect">
            <a:avLst/>
          </a:prstGeom>
          <a:noFill/>
          <a:ln/>
        </p:spPr>
        <p:txBody>
          <a:bodyPr wrap="square" lIns="0" tIns="0" rIns="0" bIns="0" rtlCol="0" anchor="ctr"/>
          <a:lstStyle/>
          <a:p>
            <a:pPr marL="0" indent="0">
              <a:buNone/>
            </a:pPr>
            <a:r>
              <a:rPr lang="en-US" sz="1180" dirty="0">
                <a:solidFill>
                  <a:srgbClr val="27323C"/>
                </a:solidFill>
                <a:latin typeface="Calibri" pitchFamily="34" charset="0"/>
                <a:ea typeface="Calibri" pitchFamily="34" charset="-122"/>
                <a:cs typeface="Calibri" pitchFamily="34" charset="-120"/>
              </a:rPr>
              <a:t>1.2M</a:t>
            </a:r>
            <a:endParaRPr lang="en-US" sz="1180" dirty="0"/>
          </a:p>
        </p:txBody>
      </p:sp>
      <p:sp>
        <p:nvSpPr>
          <p:cNvPr id="19" name="Text 17"/>
          <p:cNvSpPr txBox="1"/>
          <p:nvPr/>
        </p:nvSpPr>
        <p:spPr>
          <a:xfrm>
            <a:off x="9144000" y="1801368"/>
            <a:ext cx="1371600" cy="384048"/>
          </a:xfrm>
          <a:prstGeom prst="rect">
            <a:avLst/>
          </a:prstGeom>
          <a:noFill/>
          <a:ln/>
        </p:spPr>
        <p:txBody>
          <a:bodyPr wrap="square" lIns="0" tIns="0" rIns="0" bIns="0" rtlCol="0" anchor="ctr"/>
          <a:lstStyle/>
          <a:p>
            <a:pPr marL="0" indent="0">
              <a:buNone/>
            </a:pPr>
            <a:r>
              <a:rPr lang="en-US" sz="1180" dirty="0">
                <a:solidFill>
                  <a:srgbClr val="27323C"/>
                </a:solidFill>
                <a:latin typeface="Calibri" pitchFamily="34" charset="0"/>
                <a:ea typeface="Calibri" pitchFamily="34" charset="-122"/>
                <a:cs typeface="Calibri" pitchFamily="34" charset="-120"/>
              </a:rPr>
              <a:t>1e-3</a:t>
            </a:r>
            <a:endParaRPr lang="en-US" sz="1180" dirty="0"/>
          </a:p>
        </p:txBody>
      </p:sp>
      <p:sp>
        <p:nvSpPr>
          <p:cNvPr id="20" name="Text 18"/>
          <p:cNvSpPr txBox="1"/>
          <p:nvPr/>
        </p:nvSpPr>
        <p:spPr>
          <a:xfrm>
            <a:off x="10607040" y="1801368"/>
            <a:ext cx="914400" cy="384048"/>
          </a:xfrm>
          <a:prstGeom prst="rect">
            <a:avLst/>
          </a:prstGeom>
          <a:noFill/>
          <a:ln/>
        </p:spPr>
        <p:txBody>
          <a:bodyPr wrap="square" lIns="0" tIns="0" rIns="0" bIns="0" rtlCol="0" anchor="ctr"/>
          <a:lstStyle/>
          <a:p>
            <a:pPr marL="0" indent="0">
              <a:buNone/>
            </a:pPr>
            <a:r>
              <a:rPr lang="en-US" sz="1180" dirty="0">
                <a:solidFill>
                  <a:srgbClr val="27323C"/>
                </a:solidFill>
                <a:latin typeface="Calibri" pitchFamily="34" charset="0"/>
                <a:ea typeface="Calibri" pitchFamily="34" charset="-122"/>
                <a:cs typeface="Calibri" pitchFamily="34" charset="-120"/>
              </a:rPr>
              <a:t>2</a:t>
            </a:r>
            <a:endParaRPr lang="en-US" sz="1180" dirty="0"/>
          </a:p>
        </p:txBody>
      </p:sp>
      <p:sp>
        <p:nvSpPr>
          <p:cNvPr id="21" name="Shape 19"/>
          <p:cNvSpPr/>
          <p:nvPr/>
        </p:nvSpPr>
        <p:spPr>
          <a:xfrm>
            <a:off x="566928" y="2286000"/>
            <a:ext cx="11064240" cy="512064"/>
          </a:xfrm>
          <a:prstGeom prst="roundRect">
            <a:avLst>
              <a:gd name="adj" fmla="val 3571"/>
            </a:avLst>
          </a:prstGeom>
          <a:solidFill>
            <a:srgbClr val="FFFFFF"/>
          </a:solidFill>
          <a:ln w="12700">
            <a:solidFill>
              <a:srgbClr val="E6ECF2"/>
            </a:solidFill>
            <a:prstDash val="solid"/>
          </a:ln>
        </p:spPr>
        <p:txBody>
          <a:bodyPr/>
          <a:lstStyle/>
          <a:p>
            <a:endParaRPr lang="en-US"/>
          </a:p>
        </p:txBody>
      </p:sp>
      <p:sp>
        <p:nvSpPr>
          <p:cNvPr id="22" name="Text 20"/>
          <p:cNvSpPr txBox="1"/>
          <p:nvPr/>
        </p:nvSpPr>
        <p:spPr>
          <a:xfrm>
            <a:off x="786384" y="2350008"/>
            <a:ext cx="914400" cy="384048"/>
          </a:xfrm>
          <a:prstGeom prst="rect">
            <a:avLst/>
          </a:prstGeom>
          <a:noFill/>
          <a:ln/>
        </p:spPr>
        <p:txBody>
          <a:bodyPr wrap="square" lIns="0" tIns="0" rIns="0" bIns="0" rtlCol="0" anchor="ctr"/>
          <a:lstStyle/>
          <a:p>
            <a:pPr marL="0" indent="0">
              <a:buNone/>
            </a:pPr>
            <a:r>
              <a:rPr lang="en-US" sz="1180" b="1" dirty="0">
                <a:solidFill>
                  <a:srgbClr val="141C24"/>
                </a:solidFill>
                <a:latin typeface="Calibri" pitchFamily="34" charset="0"/>
                <a:ea typeface="Calibri" pitchFamily="34" charset="-122"/>
                <a:cs typeface="Calibri" pitchFamily="34" charset="-120"/>
              </a:rPr>
              <a:t>2</a:t>
            </a:r>
            <a:endParaRPr lang="en-US" sz="1180" dirty="0"/>
          </a:p>
        </p:txBody>
      </p:sp>
      <p:sp>
        <p:nvSpPr>
          <p:cNvPr id="23" name="Text 21"/>
          <p:cNvSpPr txBox="1"/>
          <p:nvPr/>
        </p:nvSpPr>
        <p:spPr>
          <a:xfrm>
            <a:off x="1828800" y="2350008"/>
            <a:ext cx="2377440" cy="384048"/>
          </a:xfrm>
          <a:prstGeom prst="rect">
            <a:avLst/>
          </a:prstGeom>
          <a:noFill/>
          <a:ln/>
        </p:spPr>
        <p:txBody>
          <a:bodyPr wrap="square" lIns="0" tIns="0" rIns="0" bIns="0" rtlCol="0" anchor="ctr"/>
          <a:lstStyle/>
          <a:p>
            <a:pPr marL="0" indent="0">
              <a:buNone/>
            </a:pPr>
            <a:r>
              <a:rPr lang="en-US" sz="1180" dirty="0">
                <a:solidFill>
                  <a:srgbClr val="27323C"/>
                </a:solidFill>
                <a:latin typeface="Calibri" pitchFamily="34" charset="0"/>
                <a:ea typeface="Calibri" pitchFamily="34" charset="-122"/>
                <a:cs typeface="Calibri" pitchFamily="34" charset="-120"/>
              </a:rPr>
              <a:t>All (except LLaMA)</a:t>
            </a:r>
            <a:endParaRPr lang="en-US" sz="1180" dirty="0"/>
          </a:p>
        </p:txBody>
      </p:sp>
      <p:sp>
        <p:nvSpPr>
          <p:cNvPr id="24" name="Text 22"/>
          <p:cNvSpPr txBox="1"/>
          <p:nvPr/>
        </p:nvSpPr>
        <p:spPr>
          <a:xfrm>
            <a:off x="4389120" y="2350008"/>
            <a:ext cx="3383280" cy="384048"/>
          </a:xfrm>
          <a:prstGeom prst="rect">
            <a:avLst/>
          </a:prstGeom>
          <a:noFill/>
          <a:ln/>
        </p:spPr>
        <p:txBody>
          <a:bodyPr wrap="square" lIns="0" tIns="0" rIns="0" bIns="0" rtlCol="0" anchor="ctr"/>
          <a:lstStyle/>
          <a:p>
            <a:pPr marL="0" indent="0">
              <a:buNone/>
            </a:pPr>
            <a:r>
              <a:rPr lang="en-US" sz="1180" dirty="0">
                <a:solidFill>
                  <a:srgbClr val="27323C"/>
                </a:solidFill>
                <a:latin typeface="Calibri" pitchFamily="34" charset="0"/>
                <a:ea typeface="Calibri" pitchFamily="34" charset="-122"/>
                <a:cs typeface="Calibri" pitchFamily="34" charset="-120"/>
              </a:rPr>
              <a:t>Classification + acoustic features</a:t>
            </a:r>
            <a:endParaRPr lang="en-US" sz="1180" dirty="0"/>
          </a:p>
        </p:txBody>
      </p:sp>
      <p:sp>
        <p:nvSpPr>
          <p:cNvPr id="25" name="Text 23"/>
          <p:cNvSpPr txBox="1"/>
          <p:nvPr/>
        </p:nvSpPr>
        <p:spPr>
          <a:xfrm>
            <a:off x="7955280" y="2350008"/>
            <a:ext cx="1097280" cy="384048"/>
          </a:xfrm>
          <a:prstGeom prst="rect">
            <a:avLst/>
          </a:prstGeom>
          <a:noFill/>
          <a:ln/>
        </p:spPr>
        <p:txBody>
          <a:bodyPr wrap="square" lIns="0" tIns="0" rIns="0" bIns="0" rtlCol="0" anchor="ctr"/>
          <a:lstStyle/>
          <a:p>
            <a:pPr marL="0" indent="0">
              <a:buNone/>
            </a:pPr>
            <a:r>
              <a:rPr lang="en-US" sz="1180" dirty="0">
                <a:solidFill>
                  <a:srgbClr val="27323C"/>
                </a:solidFill>
                <a:latin typeface="Calibri" pitchFamily="34" charset="0"/>
                <a:ea typeface="Calibri" pitchFamily="34" charset="-122"/>
                <a:cs typeface="Calibri" pitchFamily="34" charset="-120"/>
              </a:rPr>
              <a:t>1.2M</a:t>
            </a:r>
            <a:endParaRPr lang="en-US" sz="1180" dirty="0"/>
          </a:p>
        </p:txBody>
      </p:sp>
      <p:sp>
        <p:nvSpPr>
          <p:cNvPr id="26" name="Text 24"/>
          <p:cNvSpPr txBox="1"/>
          <p:nvPr/>
        </p:nvSpPr>
        <p:spPr>
          <a:xfrm>
            <a:off x="9144000" y="2350008"/>
            <a:ext cx="1371600" cy="384048"/>
          </a:xfrm>
          <a:prstGeom prst="rect">
            <a:avLst/>
          </a:prstGeom>
          <a:noFill/>
          <a:ln/>
        </p:spPr>
        <p:txBody>
          <a:bodyPr wrap="square" lIns="0" tIns="0" rIns="0" bIns="0" rtlCol="0" anchor="ctr"/>
          <a:lstStyle/>
          <a:p>
            <a:pPr marL="0" indent="0">
              <a:buNone/>
            </a:pPr>
            <a:r>
              <a:rPr lang="en-US" sz="1180" dirty="0">
                <a:solidFill>
                  <a:srgbClr val="27323C"/>
                </a:solidFill>
                <a:latin typeface="Calibri" pitchFamily="34" charset="0"/>
                <a:ea typeface="Calibri" pitchFamily="34" charset="-122"/>
                <a:cs typeface="Calibri" pitchFamily="34" charset="-120"/>
              </a:rPr>
              <a:t>1e-4</a:t>
            </a:r>
            <a:endParaRPr lang="en-US" sz="1180" dirty="0"/>
          </a:p>
        </p:txBody>
      </p:sp>
      <p:sp>
        <p:nvSpPr>
          <p:cNvPr id="27" name="Text 25"/>
          <p:cNvSpPr txBox="1"/>
          <p:nvPr/>
        </p:nvSpPr>
        <p:spPr>
          <a:xfrm>
            <a:off x="10607040" y="2350008"/>
            <a:ext cx="914400" cy="384048"/>
          </a:xfrm>
          <a:prstGeom prst="rect">
            <a:avLst/>
          </a:prstGeom>
          <a:noFill/>
          <a:ln/>
        </p:spPr>
        <p:txBody>
          <a:bodyPr wrap="square" lIns="0" tIns="0" rIns="0" bIns="0" rtlCol="0" anchor="ctr"/>
          <a:lstStyle/>
          <a:p>
            <a:pPr marL="0" indent="0">
              <a:buNone/>
            </a:pPr>
            <a:r>
              <a:rPr lang="en-US" sz="1180" dirty="0">
                <a:solidFill>
                  <a:srgbClr val="27323C"/>
                </a:solidFill>
                <a:latin typeface="Calibri" pitchFamily="34" charset="0"/>
                <a:ea typeface="Calibri" pitchFamily="34" charset="-122"/>
                <a:cs typeface="Calibri" pitchFamily="34" charset="-120"/>
              </a:rPr>
              <a:t>2</a:t>
            </a:r>
            <a:endParaRPr lang="en-US" sz="1180" dirty="0"/>
          </a:p>
        </p:txBody>
      </p:sp>
      <p:sp>
        <p:nvSpPr>
          <p:cNvPr id="28" name="Shape 26"/>
          <p:cNvSpPr/>
          <p:nvPr/>
        </p:nvSpPr>
        <p:spPr>
          <a:xfrm>
            <a:off x="566928" y="2834640"/>
            <a:ext cx="11064240" cy="512064"/>
          </a:xfrm>
          <a:prstGeom prst="roundRect">
            <a:avLst>
              <a:gd name="adj" fmla="val 3571"/>
            </a:avLst>
          </a:prstGeom>
          <a:solidFill>
            <a:srgbClr val="F0F3F7"/>
          </a:solidFill>
          <a:ln w="12700">
            <a:solidFill>
              <a:srgbClr val="E6ECF2"/>
            </a:solidFill>
            <a:prstDash val="solid"/>
          </a:ln>
        </p:spPr>
        <p:txBody>
          <a:bodyPr/>
          <a:lstStyle/>
          <a:p>
            <a:endParaRPr lang="en-US"/>
          </a:p>
        </p:txBody>
      </p:sp>
      <p:sp>
        <p:nvSpPr>
          <p:cNvPr id="29" name="Text 27"/>
          <p:cNvSpPr txBox="1"/>
          <p:nvPr/>
        </p:nvSpPr>
        <p:spPr>
          <a:xfrm>
            <a:off x="786384" y="2898648"/>
            <a:ext cx="914400" cy="384048"/>
          </a:xfrm>
          <a:prstGeom prst="rect">
            <a:avLst/>
          </a:prstGeom>
          <a:noFill/>
          <a:ln/>
        </p:spPr>
        <p:txBody>
          <a:bodyPr wrap="square" lIns="0" tIns="0" rIns="0" bIns="0" rtlCol="0" anchor="ctr"/>
          <a:lstStyle/>
          <a:p>
            <a:pPr marL="0" indent="0">
              <a:buNone/>
            </a:pPr>
            <a:r>
              <a:rPr lang="en-US" sz="1180" b="1" dirty="0">
                <a:solidFill>
                  <a:srgbClr val="141C24"/>
                </a:solidFill>
                <a:latin typeface="Calibri" pitchFamily="34" charset="0"/>
                <a:ea typeface="Calibri" pitchFamily="34" charset="-122"/>
                <a:cs typeface="Calibri" pitchFamily="34" charset="-120"/>
              </a:rPr>
              <a:t>3</a:t>
            </a:r>
            <a:endParaRPr lang="en-US" sz="1180" dirty="0"/>
          </a:p>
        </p:txBody>
      </p:sp>
      <p:sp>
        <p:nvSpPr>
          <p:cNvPr id="30" name="Text 28"/>
          <p:cNvSpPr txBox="1"/>
          <p:nvPr/>
        </p:nvSpPr>
        <p:spPr>
          <a:xfrm>
            <a:off x="1828800" y="2898648"/>
            <a:ext cx="2377440" cy="384048"/>
          </a:xfrm>
          <a:prstGeom prst="rect">
            <a:avLst/>
          </a:prstGeom>
          <a:noFill/>
          <a:ln/>
        </p:spPr>
        <p:txBody>
          <a:bodyPr wrap="square" lIns="0" tIns="0" rIns="0" bIns="0" rtlCol="0" anchor="ctr"/>
          <a:lstStyle/>
          <a:p>
            <a:pPr marL="0" indent="0">
              <a:buNone/>
            </a:pPr>
            <a:r>
              <a:rPr lang="en-US" sz="1180" dirty="0">
                <a:solidFill>
                  <a:srgbClr val="27323C"/>
                </a:solidFill>
                <a:latin typeface="Calibri" pitchFamily="34" charset="0"/>
                <a:ea typeface="Calibri" pitchFamily="34" charset="-122"/>
                <a:cs typeface="Calibri" pitchFamily="34" charset="-120"/>
              </a:rPr>
              <a:t>All (except LLaMA)</a:t>
            </a:r>
            <a:endParaRPr lang="en-US" sz="1180" dirty="0"/>
          </a:p>
        </p:txBody>
      </p:sp>
      <p:sp>
        <p:nvSpPr>
          <p:cNvPr id="31" name="Text 29"/>
          <p:cNvSpPr txBox="1"/>
          <p:nvPr/>
        </p:nvSpPr>
        <p:spPr>
          <a:xfrm>
            <a:off x="4389120" y="2898648"/>
            <a:ext cx="3383280" cy="384048"/>
          </a:xfrm>
          <a:prstGeom prst="rect">
            <a:avLst/>
          </a:prstGeom>
          <a:noFill/>
          <a:ln/>
        </p:spPr>
        <p:txBody>
          <a:bodyPr wrap="square" lIns="0" tIns="0" rIns="0" bIns="0" rtlCol="0" anchor="ctr"/>
          <a:lstStyle/>
          <a:p>
            <a:pPr marL="0" indent="0">
              <a:buNone/>
            </a:pPr>
            <a:r>
              <a:rPr lang="en-US" sz="1180" dirty="0">
                <a:solidFill>
                  <a:srgbClr val="27323C"/>
                </a:solidFill>
                <a:latin typeface="Calibri" pitchFamily="34" charset="0"/>
                <a:ea typeface="Calibri" pitchFamily="34" charset="-122"/>
                <a:cs typeface="Calibri" pitchFamily="34" charset="-120"/>
              </a:rPr>
              <a:t>All closed-ended tasks</a:t>
            </a:r>
            <a:endParaRPr lang="en-US" sz="1180" dirty="0"/>
          </a:p>
        </p:txBody>
      </p:sp>
      <p:sp>
        <p:nvSpPr>
          <p:cNvPr id="32" name="Text 30"/>
          <p:cNvSpPr txBox="1"/>
          <p:nvPr/>
        </p:nvSpPr>
        <p:spPr>
          <a:xfrm>
            <a:off x="7955280" y="2898648"/>
            <a:ext cx="1097280" cy="384048"/>
          </a:xfrm>
          <a:prstGeom prst="rect">
            <a:avLst/>
          </a:prstGeom>
          <a:noFill/>
          <a:ln/>
        </p:spPr>
        <p:txBody>
          <a:bodyPr wrap="square" lIns="0" tIns="0" rIns="0" bIns="0" rtlCol="0" anchor="ctr"/>
          <a:lstStyle/>
          <a:p>
            <a:pPr marL="0" indent="0">
              <a:buNone/>
            </a:pPr>
            <a:r>
              <a:rPr lang="en-US" sz="1180" dirty="0">
                <a:solidFill>
                  <a:srgbClr val="27323C"/>
                </a:solidFill>
                <a:latin typeface="Calibri" pitchFamily="34" charset="0"/>
                <a:ea typeface="Calibri" pitchFamily="34" charset="-122"/>
                <a:cs typeface="Calibri" pitchFamily="34" charset="-120"/>
              </a:rPr>
              <a:t>1.9M</a:t>
            </a:r>
            <a:endParaRPr lang="en-US" sz="1180" dirty="0"/>
          </a:p>
        </p:txBody>
      </p:sp>
      <p:sp>
        <p:nvSpPr>
          <p:cNvPr id="33" name="Text 31"/>
          <p:cNvSpPr txBox="1"/>
          <p:nvPr/>
        </p:nvSpPr>
        <p:spPr>
          <a:xfrm>
            <a:off x="9144000" y="2898648"/>
            <a:ext cx="1371600" cy="384048"/>
          </a:xfrm>
          <a:prstGeom prst="rect">
            <a:avLst/>
          </a:prstGeom>
          <a:noFill/>
          <a:ln/>
        </p:spPr>
        <p:txBody>
          <a:bodyPr wrap="square" lIns="0" tIns="0" rIns="0" bIns="0" rtlCol="0" anchor="ctr"/>
          <a:lstStyle/>
          <a:p>
            <a:pPr marL="0" indent="0">
              <a:buNone/>
            </a:pPr>
            <a:r>
              <a:rPr lang="en-US" sz="1180" dirty="0">
                <a:solidFill>
                  <a:srgbClr val="27323C"/>
                </a:solidFill>
                <a:latin typeface="Calibri" pitchFamily="34" charset="0"/>
                <a:ea typeface="Calibri" pitchFamily="34" charset="-122"/>
                <a:cs typeface="Calibri" pitchFamily="34" charset="-120"/>
              </a:rPr>
              <a:t>1e-4</a:t>
            </a:r>
            <a:endParaRPr lang="en-US" sz="1180" dirty="0"/>
          </a:p>
        </p:txBody>
      </p:sp>
      <p:sp>
        <p:nvSpPr>
          <p:cNvPr id="34" name="Text 32"/>
          <p:cNvSpPr txBox="1"/>
          <p:nvPr/>
        </p:nvSpPr>
        <p:spPr>
          <a:xfrm>
            <a:off x="10607040" y="2898648"/>
            <a:ext cx="914400" cy="384048"/>
          </a:xfrm>
          <a:prstGeom prst="rect">
            <a:avLst/>
          </a:prstGeom>
          <a:noFill/>
          <a:ln/>
        </p:spPr>
        <p:txBody>
          <a:bodyPr wrap="square" lIns="0" tIns="0" rIns="0" bIns="0" rtlCol="0" anchor="ctr"/>
          <a:lstStyle/>
          <a:p>
            <a:pPr marL="0" indent="0">
              <a:buNone/>
            </a:pPr>
            <a:r>
              <a:rPr lang="en-US" sz="1180" dirty="0">
                <a:solidFill>
                  <a:srgbClr val="27323C"/>
                </a:solidFill>
                <a:latin typeface="Calibri" pitchFamily="34" charset="0"/>
                <a:ea typeface="Calibri" pitchFamily="34" charset="-122"/>
                <a:cs typeface="Calibri" pitchFamily="34" charset="-120"/>
              </a:rPr>
              <a:t>1</a:t>
            </a:r>
            <a:endParaRPr lang="en-US" sz="1180" dirty="0"/>
          </a:p>
        </p:txBody>
      </p:sp>
      <p:sp>
        <p:nvSpPr>
          <p:cNvPr id="35" name="Shape 33"/>
          <p:cNvSpPr/>
          <p:nvPr/>
        </p:nvSpPr>
        <p:spPr>
          <a:xfrm>
            <a:off x="566928" y="3383280"/>
            <a:ext cx="11064240" cy="512064"/>
          </a:xfrm>
          <a:prstGeom prst="roundRect">
            <a:avLst>
              <a:gd name="adj" fmla="val 3571"/>
            </a:avLst>
          </a:prstGeom>
          <a:solidFill>
            <a:srgbClr val="FFFFFF"/>
          </a:solidFill>
          <a:ln w="12700">
            <a:solidFill>
              <a:srgbClr val="E6ECF2"/>
            </a:solidFill>
            <a:prstDash val="solid"/>
          </a:ln>
        </p:spPr>
        <p:txBody>
          <a:bodyPr/>
          <a:lstStyle/>
          <a:p>
            <a:endParaRPr lang="en-US"/>
          </a:p>
        </p:txBody>
      </p:sp>
      <p:sp>
        <p:nvSpPr>
          <p:cNvPr id="36" name="Text 34"/>
          <p:cNvSpPr txBox="1"/>
          <p:nvPr/>
        </p:nvSpPr>
        <p:spPr>
          <a:xfrm>
            <a:off x="786384" y="3447288"/>
            <a:ext cx="914400" cy="384048"/>
          </a:xfrm>
          <a:prstGeom prst="rect">
            <a:avLst/>
          </a:prstGeom>
          <a:noFill/>
          <a:ln/>
        </p:spPr>
        <p:txBody>
          <a:bodyPr wrap="square" lIns="0" tIns="0" rIns="0" bIns="0" rtlCol="0" anchor="ctr"/>
          <a:lstStyle/>
          <a:p>
            <a:pPr marL="0" indent="0">
              <a:buNone/>
            </a:pPr>
            <a:r>
              <a:rPr lang="en-US" sz="1180" b="1" dirty="0">
                <a:solidFill>
                  <a:srgbClr val="141C24"/>
                </a:solidFill>
                <a:latin typeface="Calibri" pitchFamily="34" charset="0"/>
                <a:ea typeface="Calibri" pitchFamily="34" charset="-122"/>
                <a:cs typeface="Calibri" pitchFamily="34" charset="-120"/>
              </a:rPr>
              <a:t>4</a:t>
            </a:r>
            <a:endParaRPr lang="en-US" sz="1180" dirty="0"/>
          </a:p>
        </p:txBody>
      </p:sp>
      <p:sp>
        <p:nvSpPr>
          <p:cNvPr id="37" name="Text 35"/>
          <p:cNvSpPr txBox="1"/>
          <p:nvPr/>
        </p:nvSpPr>
        <p:spPr>
          <a:xfrm>
            <a:off x="1828800" y="3447288"/>
            <a:ext cx="2377440" cy="384048"/>
          </a:xfrm>
          <a:prstGeom prst="rect">
            <a:avLst/>
          </a:prstGeom>
          <a:noFill/>
          <a:ln/>
        </p:spPr>
        <p:txBody>
          <a:bodyPr wrap="square" lIns="0" tIns="0" rIns="0" bIns="0" rtlCol="0" anchor="ctr"/>
          <a:lstStyle/>
          <a:p>
            <a:pPr marL="0" indent="0">
              <a:buNone/>
            </a:pPr>
            <a:r>
              <a:rPr lang="en-US" sz="1180" dirty="0">
                <a:solidFill>
                  <a:srgbClr val="27323C"/>
                </a:solidFill>
                <a:latin typeface="Calibri" pitchFamily="34" charset="0"/>
                <a:ea typeface="Calibri" pitchFamily="34" charset="-122"/>
                <a:cs typeface="Calibri" pitchFamily="34" charset="-120"/>
              </a:rPr>
              <a:t>All (except LLaMA)</a:t>
            </a:r>
            <a:endParaRPr lang="en-US" sz="1180" dirty="0"/>
          </a:p>
        </p:txBody>
      </p:sp>
      <p:sp>
        <p:nvSpPr>
          <p:cNvPr id="38" name="Text 36"/>
          <p:cNvSpPr txBox="1"/>
          <p:nvPr/>
        </p:nvSpPr>
        <p:spPr>
          <a:xfrm>
            <a:off x="4389120" y="3447288"/>
            <a:ext cx="3383280" cy="384048"/>
          </a:xfrm>
          <a:prstGeom prst="rect">
            <a:avLst/>
          </a:prstGeom>
          <a:noFill/>
          <a:ln/>
        </p:spPr>
        <p:txBody>
          <a:bodyPr wrap="square" lIns="0" tIns="0" rIns="0" bIns="0" rtlCol="0" anchor="ctr"/>
          <a:lstStyle/>
          <a:p>
            <a:pPr marL="0" indent="0">
              <a:buNone/>
            </a:pPr>
            <a:r>
              <a:rPr lang="en-US" sz="1180" dirty="0">
                <a:solidFill>
                  <a:srgbClr val="27323C"/>
                </a:solidFill>
                <a:latin typeface="Calibri" pitchFamily="34" charset="0"/>
                <a:ea typeface="Calibri" pitchFamily="34" charset="-122"/>
                <a:cs typeface="Calibri" pitchFamily="34" charset="-120"/>
              </a:rPr>
              <a:t>All closed- and open-ended tasks</a:t>
            </a:r>
            <a:endParaRPr lang="en-US" sz="1180" dirty="0"/>
          </a:p>
        </p:txBody>
      </p:sp>
      <p:sp>
        <p:nvSpPr>
          <p:cNvPr id="39" name="Text 37"/>
          <p:cNvSpPr txBox="1"/>
          <p:nvPr/>
        </p:nvSpPr>
        <p:spPr>
          <a:xfrm>
            <a:off x="7955280" y="3447288"/>
            <a:ext cx="1097280" cy="384048"/>
          </a:xfrm>
          <a:prstGeom prst="rect">
            <a:avLst/>
          </a:prstGeom>
          <a:noFill/>
          <a:ln/>
        </p:spPr>
        <p:txBody>
          <a:bodyPr wrap="square" lIns="0" tIns="0" rIns="0" bIns="0" rtlCol="0" anchor="ctr"/>
          <a:lstStyle/>
          <a:p>
            <a:pPr marL="0" indent="0">
              <a:buNone/>
            </a:pPr>
            <a:r>
              <a:rPr lang="en-US" sz="1180" dirty="0">
                <a:solidFill>
                  <a:srgbClr val="27323C"/>
                </a:solidFill>
                <a:latin typeface="Calibri" pitchFamily="34" charset="0"/>
                <a:ea typeface="Calibri" pitchFamily="34" charset="-122"/>
                <a:cs typeface="Calibri" pitchFamily="34" charset="-120"/>
              </a:rPr>
              <a:t>5.6M</a:t>
            </a:r>
            <a:endParaRPr lang="en-US" sz="1180" dirty="0"/>
          </a:p>
        </p:txBody>
      </p:sp>
      <p:sp>
        <p:nvSpPr>
          <p:cNvPr id="40" name="Text 38"/>
          <p:cNvSpPr txBox="1"/>
          <p:nvPr/>
        </p:nvSpPr>
        <p:spPr>
          <a:xfrm>
            <a:off x="9144000" y="3447288"/>
            <a:ext cx="1371600" cy="384048"/>
          </a:xfrm>
          <a:prstGeom prst="rect">
            <a:avLst/>
          </a:prstGeom>
          <a:noFill/>
          <a:ln/>
        </p:spPr>
        <p:txBody>
          <a:bodyPr wrap="square" lIns="0" tIns="0" rIns="0" bIns="0" rtlCol="0" anchor="ctr"/>
          <a:lstStyle/>
          <a:p>
            <a:pPr marL="0" indent="0">
              <a:buNone/>
            </a:pPr>
            <a:r>
              <a:rPr lang="en-US" sz="1180" dirty="0">
                <a:solidFill>
                  <a:srgbClr val="27323C"/>
                </a:solidFill>
                <a:latin typeface="Calibri" pitchFamily="34" charset="0"/>
                <a:ea typeface="Calibri" pitchFamily="34" charset="-122"/>
                <a:cs typeface="Calibri" pitchFamily="34" charset="-120"/>
              </a:rPr>
              <a:t>1e-4</a:t>
            </a:r>
            <a:endParaRPr lang="en-US" sz="1180" dirty="0"/>
          </a:p>
        </p:txBody>
      </p:sp>
      <p:sp>
        <p:nvSpPr>
          <p:cNvPr id="41" name="Text 39"/>
          <p:cNvSpPr txBox="1"/>
          <p:nvPr/>
        </p:nvSpPr>
        <p:spPr>
          <a:xfrm>
            <a:off x="10607040" y="3447288"/>
            <a:ext cx="914400" cy="384048"/>
          </a:xfrm>
          <a:prstGeom prst="rect">
            <a:avLst/>
          </a:prstGeom>
          <a:noFill/>
          <a:ln/>
        </p:spPr>
        <p:txBody>
          <a:bodyPr wrap="square" lIns="0" tIns="0" rIns="0" bIns="0" rtlCol="0" anchor="ctr"/>
          <a:lstStyle/>
          <a:p>
            <a:pPr marL="0" indent="0">
              <a:buNone/>
            </a:pPr>
            <a:r>
              <a:rPr lang="en-US" sz="1180" dirty="0">
                <a:solidFill>
                  <a:srgbClr val="27323C"/>
                </a:solidFill>
                <a:latin typeface="Calibri" pitchFamily="34" charset="0"/>
                <a:ea typeface="Calibri" pitchFamily="34" charset="-122"/>
                <a:cs typeface="Calibri" pitchFamily="34" charset="-120"/>
              </a:rPr>
              <a:t>1</a:t>
            </a:r>
            <a:endParaRPr lang="en-US" sz="1180" dirty="0"/>
          </a:p>
        </p:txBody>
      </p:sp>
      <p:sp>
        <p:nvSpPr>
          <p:cNvPr id="42" name="Shape 40"/>
          <p:cNvSpPr/>
          <p:nvPr/>
        </p:nvSpPr>
        <p:spPr>
          <a:xfrm>
            <a:off x="566928" y="4023360"/>
            <a:ext cx="11064240" cy="2029968"/>
          </a:xfrm>
          <a:prstGeom prst="roundRect">
            <a:avLst>
              <a:gd name="adj" fmla="val 2703"/>
            </a:avLst>
          </a:prstGeom>
          <a:solidFill>
            <a:srgbClr val="1E2833"/>
          </a:solidFill>
          <a:ln w="12700">
            <a:solidFill>
              <a:srgbClr val="1E2833"/>
            </a:solidFill>
            <a:prstDash val="solid"/>
          </a:ln>
        </p:spPr>
        <p:txBody>
          <a:bodyPr/>
          <a:lstStyle/>
          <a:p>
            <a:endParaRPr lang="en-US"/>
          </a:p>
        </p:txBody>
      </p:sp>
      <p:sp>
        <p:nvSpPr>
          <p:cNvPr id="43" name="Shape 41"/>
          <p:cNvSpPr/>
          <p:nvPr/>
        </p:nvSpPr>
        <p:spPr>
          <a:xfrm>
            <a:off x="786384" y="4315968"/>
            <a:ext cx="109728" cy="109728"/>
          </a:xfrm>
          <a:prstGeom prst="ellipse">
            <a:avLst/>
          </a:prstGeom>
          <a:solidFill>
            <a:srgbClr val="E4A11B"/>
          </a:solidFill>
          <a:ln w="12700">
            <a:solidFill>
              <a:srgbClr val="333333"/>
            </a:solidFill>
            <a:prstDash val="solid"/>
          </a:ln>
        </p:spPr>
        <p:txBody>
          <a:bodyPr/>
          <a:lstStyle/>
          <a:p>
            <a:endParaRPr lang="en-US"/>
          </a:p>
        </p:txBody>
      </p:sp>
      <p:sp>
        <p:nvSpPr>
          <p:cNvPr id="44" name="Text 42"/>
          <p:cNvSpPr txBox="1"/>
          <p:nvPr/>
        </p:nvSpPr>
        <p:spPr>
          <a:xfrm>
            <a:off x="987552" y="4187952"/>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Why the order matters</a:t>
            </a:r>
            <a:endParaRPr lang="en-US" sz="1500" dirty="0"/>
          </a:p>
        </p:txBody>
      </p:sp>
      <p:sp>
        <p:nvSpPr>
          <p:cNvPr id="45" name="Text 43"/>
          <p:cNvSpPr txBox="1"/>
          <p:nvPr/>
        </p:nvSpPr>
        <p:spPr>
          <a:xfrm>
            <a:off x="822960" y="4626864"/>
            <a:ext cx="10552176" cy="1243584"/>
          </a:xfrm>
          <a:prstGeom prst="rect">
            <a:avLst/>
          </a:prstGeom>
          <a:noFill/>
          <a:ln/>
        </p:spPr>
        <p:txBody>
          <a:bodyPr wrap="square" lIns="0" tIns="0" rIns="0" bIns="0" rtlCol="0" anchor="t"/>
          <a:lstStyle/>
          <a:p>
            <a:pPr marL="0" indent="0">
              <a:lnSpc>
                <a:spcPct val="108000"/>
              </a:lnSpc>
              <a:buNone/>
            </a:pPr>
            <a:r>
              <a:rPr lang="en-US" sz="1300" dirty="0">
                <a:solidFill>
                  <a:srgbClr val="C3D3DE"/>
                </a:solidFill>
                <a:latin typeface="Calibri" pitchFamily="34" charset="0"/>
                <a:ea typeface="Calibri" pitchFamily="34" charset="-122"/>
                <a:cs typeface="Calibri" pitchFamily="34" charset="-120"/>
              </a:rPr>
              <a:t>Open-ended tasks are too difficult for the model at the beginning of training. The model tends to use its language capability to answer the free-form question instead of conditioning on the audio input — that is, to hallucinate.</a:t>
            </a:r>
            <a:endParaRPr lang="en-US" sz="1300" dirty="0"/>
          </a:p>
          <a:p>
            <a:pPr marL="0" indent="0">
              <a:lnSpc>
                <a:spcPct val="108000"/>
              </a:lnSpc>
              <a:buNone/>
            </a:pPr>
            <a:endParaRPr lang="en-US" sz="1300" dirty="0"/>
          </a:p>
          <a:p>
            <a:pPr marL="0" indent="0">
              <a:lnSpc>
                <a:spcPct val="108000"/>
              </a:lnSpc>
              <a:buNone/>
            </a:pPr>
            <a:r>
              <a:rPr lang="en-US" sz="1300" dirty="0">
                <a:solidFill>
                  <a:srgbClr val="C3D3DE"/>
                </a:solidFill>
                <a:latin typeface="Calibri" pitchFamily="34" charset="0"/>
                <a:ea typeface="Calibri" pitchFamily="34" charset="-122"/>
                <a:cs typeface="Calibri" pitchFamily="34" charset="-120"/>
              </a:rPr>
              <a:t>So closed-ended tasks with objective answers come first, where the model gets a high penalty for wrong predictions. This curriculum teaches the model first to perceive, and then to understand.</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0EFD0-5878-9461-5105-5CA00EAFFD9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81566F4-56C9-FCE4-EE84-0F1F25415CE5}"/>
              </a:ext>
            </a:extLst>
          </p:cNvPr>
          <p:cNvSpPr/>
          <p:nvPr/>
        </p:nvSpPr>
        <p:spPr>
          <a:xfrm>
            <a:off x="11027664" y="516636"/>
            <a:ext cx="82296" cy="82296"/>
          </a:xfrm>
          <a:prstGeom prst="ellipse">
            <a:avLst/>
          </a:prstGeom>
          <a:solidFill>
            <a:srgbClr val="2F5D8C"/>
          </a:solidFill>
          <a:ln w="12700">
            <a:solidFill>
              <a:srgbClr val="333333"/>
            </a:solidFill>
            <a:prstDash val="solid"/>
          </a:ln>
        </p:spPr>
        <p:txBody>
          <a:bodyPr/>
          <a:lstStyle/>
          <a:p>
            <a:endParaRPr lang="en-US"/>
          </a:p>
        </p:txBody>
      </p:sp>
      <p:sp>
        <p:nvSpPr>
          <p:cNvPr id="3" name="Shape 1">
            <a:extLst>
              <a:ext uri="{FF2B5EF4-FFF2-40B4-BE49-F238E27FC236}">
                <a16:creationId xmlns:a16="http://schemas.microsoft.com/office/drawing/2014/main" id="{02E81A9F-3E97-5F51-04EB-A333052B3675}"/>
              </a:ext>
            </a:extLst>
          </p:cNvPr>
          <p:cNvSpPr/>
          <p:nvPr/>
        </p:nvSpPr>
        <p:spPr>
          <a:xfrm>
            <a:off x="11155680" y="498348"/>
            <a:ext cx="118872" cy="118872"/>
          </a:xfrm>
          <a:prstGeom prst="ellipse">
            <a:avLst/>
          </a:prstGeom>
          <a:solidFill>
            <a:srgbClr val="2F5D8C"/>
          </a:solidFill>
          <a:ln w="12700">
            <a:solidFill>
              <a:srgbClr val="333333"/>
            </a:solidFill>
            <a:prstDash val="solid"/>
          </a:ln>
        </p:spPr>
        <p:txBody>
          <a:bodyPr/>
          <a:lstStyle/>
          <a:p>
            <a:endParaRPr lang="en-US"/>
          </a:p>
        </p:txBody>
      </p:sp>
      <p:sp>
        <p:nvSpPr>
          <p:cNvPr id="4" name="Shape 2">
            <a:extLst>
              <a:ext uri="{FF2B5EF4-FFF2-40B4-BE49-F238E27FC236}">
                <a16:creationId xmlns:a16="http://schemas.microsoft.com/office/drawing/2014/main" id="{B93E6D9D-3D42-690F-757D-F600DC1A4893}"/>
              </a:ext>
            </a:extLst>
          </p:cNvPr>
          <p:cNvSpPr/>
          <p:nvPr/>
        </p:nvSpPr>
        <p:spPr>
          <a:xfrm>
            <a:off x="11320272" y="475488"/>
            <a:ext cx="164592" cy="164592"/>
          </a:xfrm>
          <a:prstGeom prst="ellipse">
            <a:avLst/>
          </a:prstGeom>
          <a:solidFill>
            <a:srgbClr val="E4A11B"/>
          </a:solidFill>
          <a:ln w="12700">
            <a:solidFill>
              <a:srgbClr val="333333"/>
            </a:solidFill>
            <a:prstDash val="solid"/>
          </a:ln>
        </p:spPr>
        <p:txBody>
          <a:bodyPr/>
          <a:lstStyle/>
          <a:p>
            <a:endParaRPr lang="en-US"/>
          </a:p>
        </p:txBody>
      </p:sp>
      <p:sp>
        <p:nvSpPr>
          <p:cNvPr id="5" name="Text 3">
            <a:extLst>
              <a:ext uri="{FF2B5EF4-FFF2-40B4-BE49-F238E27FC236}">
                <a16:creationId xmlns:a16="http://schemas.microsoft.com/office/drawing/2014/main" id="{420C10F8-F137-B144-1CB5-7CA6CB15E59E}"/>
              </a:ext>
            </a:extLst>
          </p:cNvPr>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141C24"/>
                </a:solidFill>
                <a:latin typeface="Cambria" pitchFamily="34" charset="0"/>
                <a:ea typeface="Cambria" pitchFamily="34" charset="-122"/>
                <a:cs typeface="Cambria" pitchFamily="34" charset="-120"/>
              </a:rPr>
              <a:t>The perception-to-understanding curriculum</a:t>
            </a:r>
            <a:endParaRPr lang="en-US" sz="2900" dirty="0"/>
          </a:p>
        </p:txBody>
      </p:sp>
      <p:pic>
        <p:nvPicPr>
          <p:cNvPr id="47" name="Picture 46">
            <a:extLst>
              <a:ext uri="{FF2B5EF4-FFF2-40B4-BE49-F238E27FC236}">
                <a16:creationId xmlns:a16="http://schemas.microsoft.com/office/drawing/2014/main" id="{AA0D88FB-7369-5515-10D4-4BA664D2177F}"/>
              </a:ext>
            </a:extLst>
          </p:cNvPr>
          <p:cNvPicPr>
            <a:picLocks noChangeAspect="1"/>
          </p:cNvPicPr>
          <p:nvPr/>
        </p:nvPicPr>
        <p:blipFill>
          <a:blip r:embed="rId3"/>
          <a:stretch>
            <a:fillRect/>
          </a:stretch>
        </p:blipFill>
        <p:spPr>
          <a:xfrm>
            <a:off x="466344" y="1115568"/>
            <a:ext cx="11094720" cy="4398635"/>
          </a:xfrm>
          <a:prstGeom prst="rect">
            <a:avLst/>
          </a:prstGeom>
        </p:spPr>
      </p:pic>
    </p:spTree>
    <p:extLst>
      <p:ext uri="{BB962C8B-B14F-4D97-AF65-F5344CB8AC3E}">
        <p14:creationId xmlns:p14="http://schemas.microsoft.com/office/powerpoint/2010/main" val="16284826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2833"/>
        </a:solidFill>
        <a:effectLst/>
      </p:bgPr>
    </p:bg>
    <p:spTree>
      <p:nvGrpSpPr>
        <p:cNvPr id="1" name=""/>
        <p:cNvGrpSpPr/>
        <p:nvPr/>
      </p:nvGrpSpPr>
      <p:grpSpPr>
        <a:xfrm>
          <a:off x="0" y="0"/>
          <a:ext cx="0" cy="0"/>
          <a:chOff x="0" y="0"/>
          <a:chExt cx="0" cy="0"/>
        </a:xfrm>
      </p:grpSpPr>
      <p:sp>
        <p:nvSpPr>
          <p:cNvPr id="2" name="Shape 0"/>
          <p:cNvSpPr/>
          <p:nvPr/>
        </p:nvSpPr>
        <p:spPr>
          <a:xfrm>
            <a:off x="10515600" y="5477256"/>
            <a:ext cx="164592" cy="164592"/>
          </a:xfrm>
          <a:prstGeom prst="ellipse">
            <a:avLst/>
          </a:prstGeom>
          <a:solidFill>
            <a:srgbClr val="C3D3DE"/>
          </a:solidFill>
          <a:ln w="12700">
            <a:solidFill>
              <a:srgbClr val="333333"/>
            </a:solidFill>
            <a:prstDash val="solid"/>
          </a:ln>
        </p:spPr>
        <p:txBody>
          <a:bodyPr/>
          <a:lstStyle/>
          <a:p>
            <a:endParaRPr lang="en-US"/>
          </a:p>
        </p:txBody>
      </p:sp>
      <p:sp>
        <p:nvSpPr>
          <p:cNvPr id="3" name="Shape 1"/>
          <p:cNvSpPr/>
          <p:nvPr/>
        </p:nvSpPr>
        <p:spPr>
          <a:xfrm>
            <a:off x="10771632" y="5440680"/>
            <a:ext cx="237744" cy="237744"/>
          </a:xfrm>
          <a:prstGeom prst="ellipse">
            <a:avLst/>
          </a:prstGeom>
          <a:solidFill>
            <a:srgbClr val="C3D3DE"/>
          </a:solidFill>
          <a:ln w="12700">
            <a:solidFill>
              <a:srgbClr val="333333"/>
            </a:solidFill>
            <a:prstDash val="solid"/>
          </a:ln>
        </p:spPr>
        <p:txBody>
          <a:bodyPr/>
          <a:lstStyle/>
          <a:p>
            <a:endParaRPr lang="en-US"/>
          </a:p>
        </p:txBody>
      </p:sp>
      <p:sp>
        <p:nvSpPr>
          <p:cNvPr id="4" name="Shape 2"/>
          <p:cNvSpPr/>
          <p:nvPr/>
        </p:nvSpPr>
        <p:spPr>
          <a:xfrm>
            <a:off x="11100816" y="5394960"/>
            <a:ext cx="329184" cy="329184"/>
          </a:xfrm>
          <a:prstGeom prst="ellipse">
            <a:avLst/>
          </a:prstGeom>
          <a:solidFill>
            <a:srgbClr val="E4A11B"/>
          </a:solidFill>
          <a:ln w="12700">
            <a:solidFill>
              <a:srgbClr val="333333"/>
            </a:solidFill>
            <a:prstDash val="solid"/>
          </a:ln>
        </p:spPr>
        <p:txBody>
          <a:bodyPr/>
          <a:lstStyle/>
          <a:p>
            <a:endParaRPr lang="en-US"/>
          </a:p>
        </p:txBody>
      </p:sp>
      <p:sp>
        <p:nvSpPr>
          <p:cNvPr id="5" name="Text 3"/>
          <p:cNvSpPr txBox="1"/>
          <p:nvPr/>
        </p:nvSpPr>
        <p:spPr>
          <a:xfrm>
            <a:off x="822960" y="2057400"/>
            <a:ext cx="1554480" cy="1005840"/>
          </a:xfrm>
          <a:prstGeom prst="rect">
            <a:avLst/>
          </a:prstGeom>
          <a:noFill/>
          <a:ln/>
        </p:spPr>
        <p:txBody>
          <a:bodyPr wrap="square" lIns="0" tIns="0" rIns="0" bIns="0" rtlCol="0" anchor="ctr"/>
          <a:lstStyle/>
          <a:p>
            <a:pPr marL="0" indent="0">
              <a:buNone/>
            </a:pPr>
            <a:r>
              <a:rPr lang="en-US" sz="6600" b="1" dirty="0">
                <a:solidFill>
                  <a:srgbClr val="E4A11B"/>
                </a:solidFill>
                <a:latin typeface="Cambria" pitchFamily="34" charset="0"/>
                <a:ea typeface="Cambria" pitchFamily="34" charset="-122"/>
                <a:cs typeface="Cambria" pitchFamily="34" charset="-120"/>
              </a:rPr>
              <a:t>4</a:t>
            </a:r>
            <a:endParaRPr lang="en-US" sz="6600" dirty="0"/>
          </a:p>
        </p:txBody>
      </p:sp>
      <p:sp>
        <p:nvSpPr>
          <p:cNvPr id="6" name="Text 4"/>
          <p:cNvSpPr txBox="1"/>
          <p:nvPr/>
        </p:nvSpPr>
        <p:spPr>
          <a:xfrm>
            <a:off x="2377440" y="2212848"/>
            <a:ext cx="8686800" cy="822960"/>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Results and ablations</a:t>
            </a:r>
            <a:endParaRPr lang="en-US" sz="3300" dirty="0"/>
          </a:p>
        </p:txBody>
      </p:sp>
      <p:sp>
        <p:nvSpPr>
          <p:cNvPr id="7" name="Text 5"/>
          <p:cNvSpPr txBox="1"/>
          <p:nvPr/>
        </p:nvSpPr>
        <p:spPr>
          <a:xfrm>
            <a:off x="2432304" y="3072384"/>
            <a:ext cx="8503920" cy="731520"/>
          </a:xfrm>
          <a:prstGeom prst="rect">
            <a:avLst/>
          </a:prstGeom>
          <a:noFill/>
          <a:ln/>
        </p:spPr>
        <p:txBody>
          <a:bodyPr wrap="square" lIns="0" tIns="0" rIns="0" bIns="0" rtlCol="0" anchor="ctr"/>
          <a:lstStyle/>
          <a:p>
            <a:pPr marL="0" indent="0">
              <a:buNone/>
            </a:pPr>
            <a:r>
              <a:rPr lang="en-US" sz="1500" dirty="0">
                <a:solidFill>
                  <a:srgbClr val="C3D3DE"/>
                </a:solidFill>
                <a:latin typeface="Calibri" pitchFamily="34" charset="0"/>
                <a:ea typeface="Calibri" pitchFamily="34" charset="-122"/>
                <a:cs typeface="Calibri" pitchFamily="34" charset="-120"/>
              </a:rPr>
              <a:t>What works, and what breaks when you remove it</a:t>
            </a:r>
            <a:endParaRPr lang="en-US" sz="1500" dirty="0"/>
          </a:p>
        </p:txBody>
      </p:sp>
      <p:sp>
        <p:nvSpPr>
          <p:cNvPr id="8" name="Text 6"/>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93A5B4"/>
                </a:solidFill>
                <a:latin typeface="Calibri" pitchFamily="34" charset="0"/>
                <a:ea typeface="Calibri" pitchFamily="34" charset="-122"/>
                <a:cs typeface="Calibri" pitchFamily="34" charset="-120"/>
              </a:rPr>
              <a:t>LTU · Gong et al. 2024  |  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027664" y="516636"/>
            <a:ext cx="82296" cy="82296"/>
          </a:xfrm>
          <a:prstGeom prst="ellipse">
            <a:avLst/>
          </a:prstGeom>
          <a:solidFill>
            <a:srgbClr val="2F5D8C"/>
          </a:solidFill>
          <a:ln w="12700">
            <a:solidFill>
              <a:srgbClr val="333333"/>
            </a:solidFill>
            <a:prstDash val="solid"/>
          </a:ln>
        </p:spPr>
        <p:txBody>
          <a:bodyPr/>
          <a:lstStyle/>
          <a:p>
            <a:endParaRPr lang="en-US"/>
          </a:p>
        </p:txBody>
      </p:sp>
      <p:sp>
        <p:nvSpPr>
          <p:cNvPr id="3" name="Shape 1"/>
          <p:cNvSpPr/>
          <p:nvPr/>
        </p:nvSpPr>
        <p:spPr>
          <a:xfrm>
            <a:off x="11155680" y="498348"/>
            <a:ext cx="118872" cy="118872"/>
          </a:xfrm>
          <a:prstGeom prst="ellipse">
            <a:avLst/>
          </a:prstGeom>
          <a:solidFill>
            <a:srgbClr val="2F5D8C"/>
          </a:solidFill>
          <a:ln w="12700">
            <a:solidFill>
              <a:srgbClr val="333333"/>
            </a:solidFill>
            <a:prstDash val="solid"/>
          </a:ln>
        </p:spPr>
        <p:txBody>
          <a:bodyPr/>
          <a:lstStyle/>
          <a:p>
            <a:endParaRPr lang="en-US"/>
          </a:p>
        </p:txBody>
      </p:sp>
      <p:sp>
        <p:nvSpPr>
          <p:cNvPr id="4" name="Shape 2"/>
          <p:cNvSpPr/>
          <p:nvPr/>
        </p:nvSpPr>
        <p:spPr>
          <a:xfrm>
            <a:off x="11320272" y="475488"/>
            <a:ext cx="164592" cy="164592"/>
          </a:xfrm>
          <a:prstGeom prst="ellipse">
            <a:avLst/>
          </a:prstGeom>
          <a:solidFill>
            <a:srgbClr val="E4A11B"/>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141C24"/>
                </a:solidFill>
                <a:latin typeface="Cambria" pitchFamily="34" charset="0"/>
                <a:ea typeface="Cambria" pitchFamily="34" charset="-122"/>
                <a:cs typeface="Cambria" pitchFamily="34" charset="-120"/>
              </a:rPr>
              <a:t>Closed-ended performance</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56646F"/>
                </a:solidFill>
                <a:latin typeface="Calibri" pitchFamily="34" charset="0"/>
                <a:ea typeface="Calibri" pitchFamily="34" charset="-122"/>
                <a:cs typeface="Calibri" pitchFamily="34" charset="-120"/>
              </a:rPr>
              <a:t>Eight classification benchmarks, against CLAP</a:t>
            </a:r>
            <a:endParaRPr lang="en-US" sz="1350" dirty="0"/>
          </a:p>
        </p:txBody>
      </p:sp>
      <p:sp>
        <p:nvSpPr>
          <p:cNvPr id="7" name="Text 5"/>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93A5B4"/>
                </a:solidFill>
                <a:latin typeface="Calibri" pitchFamily="34" charset="0"/>
                <a:ea typeface="Calibri" pitchFamily="34" charset="-122"/>
                <a:cs typeface="Calibri" pitchFamily="34" charset="-120"/>
              </a:rPr>
              <a:t>LTU · Gong et al. 2024  |  15</a:t>
            </a:r>
            <a:endParaRPr lang="en-US" sz="900" dirty="0"/>
          </a:p>
        </p:txBody>
      </p:sp>
      <p:graphicFrame>
        <p:nvGraphicFramePr>
          <p:cNvPr id="8" name="Chart 0"/>
          <p:cNvGraphicFramePr/>
          <p:nvPr/>
        </p:nvGraphicFramePr>
        <p:xfrm>
          <a:off x="566928" y="1554480"/>
          <a:ext cx="676656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6"/>
          <p:cNvSpPr txBox="1"/>
          <p:nvPr/>
        </p:nvSpPr>
        <p:spPr>
          <a:xfrm>
            <a:off x="7589520" y="1700784"/>
            <a:ext cx="4041648" cy="3383280"/>
          </a:xfrm>
          <a:prstGeom prst="rect">
            <a:avLst/>
          </a:prstGeom>
          <a:noFill/>
          <a:ln/>
        </p:spPr>
        <p:txBody>
          <a:bodyPr wrap="square" lIns="0" tIns="0" rIns="0" bIns="0" rtlCol="0" anchor="t"/>
          <a:lstStyle/>
          <a:p>
            <a:pPr marL="342900" indent="-342900">
              <a:spcAft>
                <a:spcPts val="800"/>
              </a:spcAft>
              <a:buSzPct val="100000"/>
              <a:buChar char="●"/>
            </a:pPr>
            <a:r>
              <a:rPr lang="en-US" sz="1220" dirty="0">
                <a:solidFill>
                  <a:srgbClr val="27323C"/>
                </a:solidFill>
                <a:latin typeface="Calibri" pitchFamily="34" charset="0"/>
                <a:ea typeface="Calibri" pitchFamily="34" charset="-122"/>
                <a:cs typeface="Calibri" pitchFamily="34" charset="-120"/>
              </a:rPr>
              <a:t>LTU wins on all eight, and unlike CLAP it needs no predefined label set at inference — it just says what it hears.</a:t>
            </a:r>
            <a:endParaRPr lang="en-US" sz="1220" dirty="0"/>
          </a:p>
          <a:p>
            <a:pPr marL="342900" indent="-342900">
              <a:spcAft>
                <a:spcPts val="800"/>
              </a:spcAft>
              <a:buSzPct val="100000"/>
              <a:buChar char="●"/>
            </a:pPr>
            <a:r>
              <a:rPr lang="en-US" sz="1220" dirty="0">
                <a:solidFill>
                  <a:srgbClr val="27323C"/>
                </a:solidFill>
                <a:latin typeface="Calibri" pitchFamily="34" charset="0"/>
                <a:ea typeface="Calibri" pitchFamily="34" charset="-122"/>
                <a:cs typeface="Calibri" pitchFamily="34" charset="-120"/>
              </a:rPr>
              <a:t>Two honest caveats the paper raises itself: CLAP uses a 44.1 kHz sampling rate against LTU's 16 kHz, which is known to help classification; and mAP underestimates LTU because it only outputs prominent classes rather than a score for all 527.</a:t>
            </a:r>
            <a:endParaRPr lang="en-US" sz="1220" dirty="0"/>
          </a:p>
          <a:p>
            <a:pPr marL="342900" indent="-342900">
              <a:spcAft>
                <a:spcPts val="800"/>
              </a:spcAft>
              <a:buSzPct val="100000"/>
              <a:buChar char="●"/>
            </a:pPr>
            <a:r>
              <a:rPr lang="en-US" sz="1220" dirty="0">
                <a:solidFill>
                  <a:srgbClr val="27323C"/>
                </a:solidFill>
                <a:latin typeface="Calibri" pitchFamily="34" charset="0"/>
                <a:ea typeface="Calibri" pitchFamily="34" charset="-122"/>
                <a:cs typeface="Calibri" pitchFamily="34" charset="-120"/>
              </a:rPr>
              <a:t>Against the best supervised specialist per dataset, LTU is well behind — 50.3 average against 74.3.</a:t>
            </a:r>
            <a:endParaRPr lang="en-US" sz="1220" dirty="0"/>
          </a:p>
          <a:p>
            <a:pPr marL="342900" indent="-342900">
              <a:spcAft>
                <a:spcPts val="800"/>
              </a:spcAft>
              <a:buSzPct val="100000"/>
              <a:buChar char="●"/>
            </a:pPr>
            <a:r>
              <a:rPr lang="en-US" sz="1220" dirty="0">
                <a:solidFill>
                  <a:srgbClr val="27323C"/>
                </a:solidFill>
                <a:latin typeface="Calibri" pitchFamily="34" charset="0"/>
                <a:ea typeface="Calibri" pitchFamily="34" charset="-122"/>
                <a:cs typeface="Calibri" pitchFamily="34" charset="-120"/>
              </a:rPr>
              <a:t>Captioning is competitive: 17.0 SPICE on AudioCaps and 11.9 on Clotho, against specialist bests of 17.7 and 13.5.</a:t>
            </a:r>
            <a:endParaRPr lang="en-US" sz="1220" dirty="0"/>
          </a:p>
        </p:txBody>
      </p:sp>
      <p:sp>
        <p:nvSpPr>
          <p:cNvPr id="10" name="Shape 7"/>
          <p:cNvSpPr/>
          <p:nvPr/>
        </p:nvSpPr>
        <p:spPr>
          <a:xfrm>
            <a:off x="566928" y="5266944"/>
            <a:ext cx="11064240" cy="786384"/>
          </a:xfrm>
          <a:prstGeom prst="roundRect">
            <a:avLst>
              <a:gd name="adj" fmla="val 6977"/>
            </a:avLst>
          </a:prstGeom>
          <a:solidFill>
            <a:srgbClr val="1E2833"/>
          </a:solidFill>
          <a:ln w="12700">
            <a:solidFill>
              <a:srgbClr val="1E2833"/>
            </a:solidFill>
            <a:prstDash val="solid"/>
          </a:ln>
        </p:spPr>
        <p:txBody>
          <a:bodyPr/>
          <a:lstStyle/>
          <a:p>
            <a:endParaRPr lang="en-US"/>
          </a:p>
        </p:txBody>
      </p:sp>
      <p:sp>
        <p:nvSpPr>
          <p:cNvPr id="11" name="Text 8"/>
          <p:cNvSpPr txBox="1"/>
          <p:nvPr/>
        </p:nvSpPr>
        <p:spPr>
          <a:xfrm>
            <a:off x="822960" y="5486400"/>
            <a:ext cx="10552176" cy="365760"/>
          </a:xfrm>
          <a:prstGeom prst="rect">
            <a:avLst/>
          </a:prstGeom>
          <a:noFill/>
          <a:ln/>
        </p:spPr>
        <p:txBody>
          <a:bodyPr wrap="square" lIns="0" tIns="0" rIns="0" bIns="0" rtlCol="0" anchor="t"/>
          <a:lstStyle/>
          <a:p>
            <a:pPr marL="0" indent="0">
              <a:lnSpc>
                <a:spcPct val="108000"/>
              </a:lnSpc>
              <a:buNone/>
            </a:pPr>
            <a:r>
              <a:rPr lang="en-US" sz="1300" dirty="0">
                <a:solidFill>
                  <a:srgbClr val="C3D3DE"/>
                </a:solidFill>
                <a:latin typeface="Calibri" pitchFamily="34" charset="0"/>
                <a:ea typeface="Calibri" pitchFamily="34" charset="-122"/>
                <a:cs typeface="Calibri" pitchFamily="34" charset="-120"/>
              </a:rPr>
              <a:t>The paper's own framing: correct perception is the basis of advanced reasoning. If the model cannot recognise the sounds, its answer to open-ended questions would be nothing but hallucination.</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027664" y="516636"/>
            <a:ext cx="82296" cy="82296"/>
          </a:xfrm>
          <a:prstGeom prst="ellipse">
            <a:avLst/>
          </a:prstGeom>
          <a:solidFill>
            <a:srgbClr val="2F5D8C"/>
          </a:solidFill>
          <a:ln w="12700">
            <a:solidFill>
              <a:srgbClr val="333333"/>
            </a:solidFill>
            <a:prstDash val="solid"/>
          </a:ln>
        </p:spPr>
        <p:txBody>
          <a:bodyPr/>
          <a:lstStyle/>
          <a:p>
            <a:endParaRPr lang="en-US"/>
          </a:p>
        </p:txBody>
      </p:sp>
      <p:sp>
        <p:nvSpPr>
          <p:cNvPr id="3" name="Shape 1"/>
          <p:cNvSpPr/>
          <p:nvPr/>
        </p:nvSpPr>
        <p:spPr>
          <a:xfrm>
            <a:off x="11155680" y="498348"/>
            <a:ext cx="118872" cy="118872"/>
          </a:xfrm>
          <a:prstGeom prst="ellipse">
            <a:avLst/>
          </a:prstGeom>
          <a:solidFill>
            <a:srgbClr val="2F5D8C"/>
          </a:solidFill>
          <a:ln w="12700">
            <a:solidFill>
              <a:srgbClr val="333333"/>
            </a:solidFill>
            <a:prstDash val="solid"/>
          </a:ln>
        </p:spPr>
        <p:txBody>
          <a:bodyPr/>
          <a:lstStyle/>
          <a:p>
            <a:endParaRPr lang="en-US"/>
          </a:p>
        </p:txBody>
      </p:sp>
      <p:sp>
        <p:nvSpPr>
          <p:cNvPr id="4" name="Shape 2"/>
          <p:cNvSpPr/>
          <p:nvPr/>
        </p:nvSpPr>
        <p:spPr>
          <a:xfrm>
            <a:off x="11320272" y="475488"/>
            <a:ext cx="164592" cy="164592"/>
          </a:xfrm>
          <a:prstGeom prst="ellipse">
            <a:avLst/>
          </a:prstGeom>
          <a:solidFill>
            <a:srgbClr val="E4A11B"/>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141C24"/>
                </a:solidFill>
                <a:latin typeface="Cambria" pitchFamily="34" charset="0"/>
                <a:ea typeface="Cambria" pitchFamily="34" charset="-122"/>
                <a:cs typeface="Cambria" pitchFamily="34" charset="-120"/>
              </a:rPr>
              <a:t>The ablations</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56646F"/>
                </a:solidFill>
                <a:latin typeface="Calibri" pitchFamily="34" charset="0"/>
                <a:ea typeface="Calibri" pitchFamily="34" charset="-122"/>
                <a:cs typeface="Calibri" pitchFamily="34" charset="-120"/>
              </a:rPr>
              <a:t>Where the performance actually comes from</a:t>
            </a:r>
            <a:endParaRPr lang="en-US" sz="1350" dirty="0"/>
          </a:p>
        </p:txBody>
      </p:sp>
      <p:sp>
        <p:nvSpPr>
          <p:cNvPr id="7" name="Text 5"/>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93A5B4"/>
                </a:solidFill>
                <a:latin typeface="Calibri" pitchFamily="34" charset="0"/>
                <a:ea typeface="Calibri" pitchFamily="34" charset="-122"/>
                <a:cs typeface="Calibri" pitchFamily="34" charset="-120"/>
              </a:rPr>
              <a:t>LTU · Gong et al. 2024  |  16</a:t>
            </a:r>
            <a:endParaRPr lang="en-US" sz="900" dirty="0"/>
          </a:p>
        </p:txBody>
      </p:sp>
      <p:graphicFrame>
        <p:nvGraphicFramePr>
          <p:cNvPr id="8" name="Chart 0"/>
          <p:cNvGraphicFramePr/>
          <p:nvPr/>
        </p:nvGraphicFramePr>
        <p:xfrm>
          <a:off x="566928" y="1554480"/>
          <a:ext cx="676656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6"/>
          <p:cNvSpPr txBox="1"/>
          <p:nvPr/>
        </p:nvSpPr>
        <p:spPr>
          <a:xfrm>
            <a:off x="7589520" y="1700784"/>
            <a:ext cx="4041648" cy="3383280"/>
          </a:xfrm>
          <a:prstGeom prst="rect">
            <a:avLst/>
          </a:prstGeom>
          <a:noFill/>
          <a:ln/>
        </p:spPr>
        <p:txBody>
          <a:bodyPr wrap="square" lIns="0" tIns="0" rIns="0" bIns="0" rtlCol="0" anchor="t"/>
          <a:lstStyle/>
          <a:p>
            <a:pPr marL="342900" indent="-342900">
              <a:spcAft>
                <a:spcPts val="800"/>
              </a:spcAft>
              <a:buSzPct val="100000"/>
              <a:buChar char="●"/>
            </a:pPr>
            <a:r>
              <a:rPr lang="en-US" sz="1220" dirty="0">
                <a:solidFill>
                  <a:srgbClr val="27323C"/>
                </a:solidFill>
                <a:latin typeface="Calibri" pitchFamily="34" charset="0"/>
                <a:ea typeface="Calibri" pitchFamily="34" charset="-122"/>
                <a:cs typeface="Calibri" pitchFamily="34" charset="-120"/>
              </a:rPr>
              <a:t>Removing the curriculum costs 27.3 points, with the same total number of training iterations. This is the single largest effect in the paper.</a:t>
            </a:r>
            <a:endParaRPr lang="en-US" sz="1220" dirty="0"/>
          </a:p>
          <a:p>
            <a:pPr marL="342900" indent="-342900">
              <a:spcAft>
                <a:spcPts val="800"/>
              </a:spcAft>
              <a:buSzPct val="100000"/>
              <a:buChar char="●"/>
            </a:pPr>
            <a:r>
              <a:rPr lang="en-US" sz="1220" dirty="0">
                <a:solidFill>
                  <a:srgbClr val="27323C"/>
                </a:solidFill>
                <a:latin typeface="Calibri" pitchFamily="34" charset="0"/>
                <a:ea typeface="Calibri" pitchFamily="34" charset="-122"/>
                <a:cs typeface="Calibri" pitchFamily="34" charset="-120"/>
              </a:rPr>
              <a:t>Training only on closed-ended tasks costs 13.2 points — so open-ended training improves closed-ended performance. Learning to understand improves the ability to perceive.</a:t>
            </a:r>
            <a:endParaRPr lang="en-US" sz="1220" dirty="0"/>
          </a:p>
          <a:p>
            <a:pPr marL="342900" indent="-342900">
              <a:spcAft>
                <a:spcPts val="800"/>
              </a:spcAft>
              <a:buSzPct val="100000"/>
              <a:buChar char="●"/>
            </a:pPr>
            <a:r>
              <a:rPr lang="en-US" sz="1220" dirty="0">
                <a:solidFill>
                  <a:srgbClr val="27323C"/>
                </a:solidFill>
                <a:latin typeface="Calibri" pitchFamily="34" charset="0"/>
                <a:ea typeface="Calibri" pitchFamily="34" charset="-122"/>
                <a:cs typeface="Calibri" pitchFamily="34" charset="-120"/>
              </a:rPr>
              <a:t>Full fine-tuning scores slightly higher on audio, 51.3, but the language instruction-following rate collapses from 87.6% to 53.5% — catastrophic forgetting, which is why LLaMA is frozen.</a:t>
            </a:r>
            <a:endParaRPr lang="en-US" sz="1220" dirty="0"/>
          </a:p>
          <a:p>
            <a:pPr marL="342900" indent="-342900">
              <a:spcAft>
                <a:spcPts val="800"/>
              </a:spcAft>
              <a:buSzPct val="100000"/>
              <a:buChar char="●"/>
            </a:pPr>
            <a:r>
              <a:rPr lang="en-US" sz="1220" dirty="0">
                <a:solidFill>
                  <a:srgbClr val="27323C"/>
                </a:solidFill>
                <a:latin typeface="Calibri" pitchFamily="34" charset="0"/>
                <a:ea typeface="Calibri" pitchFamily="34" charset="-122"/>
                <a:cs typeface="Calibri" pitchFamily="34" charset="-120"/>
              </a:rPr>
              <a:t>Removing LoRA entirely costs 12.0 points, so the adapters are doing real work, not just providing capacity.</a:t>
            </a:r>
            <a:endParaRPr lang="en-US" sz="1220" dirty="0"/>
          </a:p>
        </p:txBody>
      </p:sp>
      <p:sp>
        <p:nvSpPr>
          <p:cNvPr id="10" name="Shape 7"/>
          <p:cNvSpPr/>
          <p:nvPr/>
        </p:nvSpPr>
        <p:spPr>
          <a:xfrm>
            <a:off x="566928" y="5266944"/>
            <a:ext cx="11064240" cy="786384"/>
          </a:xfrm>
          <a:prstGeom prst="roundRect">
            <a:avLst>
              <a:gd name="adj" fmla="val 6977"/>
            </a:avLst>
          </a:prstGeom>
          <a:solidFill>
            <a:srgbClr val="1E2833"/>
          </a:solidFill>
          <a:ln w="12700">
            <a:solidFill>
              <a:srgbClr val="1E2833"/>
            </a:solidFill>
            <a:prstDash val="solid"/>
          </a:ln>
        </p:spPr>
        <p:txBody>
          <a:bodyPr/>
          <a:lstStyle/>
          <a:p>
            <a:endParaRPr lang="en-US"/>
          </a:p>
        </p:txBody>
      </p:sp>
      <p:sp>
        <p:nvSpPr>
          <p:cNvPr id="11" name="Text 8"/>
          <p:cNvSpPr txBox="1"/>
          <p:nvPr/>
        </p:nvSpPr>
        <p:spPr>
          <a:xfrm>
            <a:off x="822960" y="5486400"/>
            <a:ext cx="10552176" cy="365760"/>
          </a:xfrm>
          <a:prstGeom prst="rect">
            <a:avLst/>
          </a:prstGeom>
          <a:noFill/>
          <a:ln/>
        </p:spPr>
        <p:txBody>
          <a:bodyPr wrap="square" lIns="0" tIns="0" rIns="0" bIns="0" rtlCol="0" anchor="t"/>
          <a:lstStyle/>
          <a:p>
            <a:pPr marL="0" indent="0">
              <a:lnSpc>
                <a:spcPct val="108000"/>
              </a:lnSpc>
              <a:buNone/>
            </a:pPr>
            <a:r>
              <a:rPr lang="en-US" sz="1300" dirty="0">
                <a:solidFill>
                  <a:srgbClr val="C3D3DE"/>
                </a:solidFill>
                <a:latin typeface="Calibri" pitchFamily="34" charset="0"/>
                <a:ea typeface="Calibri" pitchFamily="34" charset="-122"/>
                <a:cs typeface="Calibri" pitchFamily="34" charset="-120"/>
              </a:rPr>
              <a:t>Four controls, four large effects, each testing a stated design decision. This is what the first half of the session was missing.</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027664" y="516636"/>
            <a:ext cx="82296" cy="82296"/>
          </a:xfrm>
          <a:prstGeom prst="ellipse">
            <a:avLst/>
          </a:prstGeom>
          <a:solidFill>
            <a:srgbClr val="2F5D8C"/>
          </a:solidFill>
          <a:ln w="12700">
            <a:solidFill>
              <a:srgbClr val="333333"/>
            </a:solidFill>
            <a:prstDash val="solid"/>
          </a:ln>
        </p:spPr>
        <p:txBody>
          <a:bodyPr/>
          <a:lstStyle/>
          <a:p>
            <a:endParaRPr lang="en-US"/>
          </a:p>
        </p:txBody>
      </p:sp>
      <p:sp>
        <p:nvSpPr>
          <p:cNvPr id="3" name="Shape 1"/>
          <p:cNvSpPr/>
          <p:nvPr/>
        </p:nvSpPr>
        <p:spPr>
          <a:xfrm>
            <a:off x="11155680" y="498348"/>
            <a:ext cx="118872" cy="118872"/>
          </a:xfrm>
          <a:prstGeom prst="ellipse">
            <a:avLst/>
          </a:prstGeom>
          <a:solidFill>
            <a:srgbClr val="2F5D8C"/>
          </a:solidFill>
          <a:ln w="12700">
            <a:solidFill>
              <a:srgbClr val="333333"/>
            </a:solidFill>
            <a:prstDash val="solid"/>
          </a:ln>
        </p:spPr>
        <p:txBody>
          <a:bodyPr/>
          <a:lstStyle/>
          <a:p>
            <a:endParaRPr lang="en-US"/>
          </a:p>
        </p:txBody>
      </p:sp>
      <p:sp>
        <p:nvSpPr>
          <p:cNvPr id="4" name="Shape 2"/>
          <p:cNvSpPr/>
          <p:nvPr/>
        </p:nvSpPr>
        <p:spPr>
          <a:xfrm>
            <a:off x="11320272" y="475488"/>
            <a:ext cx="164592" cy="164592"/>
          </a:xfrm>
          <a:prstGeom prst="ellipse">
            <a:avLst/>
          </a:prstGeom>
          <a:solidFill>
            <a:srgbClr val="E4A11B"/>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141C24"/>
                </a:solidFill>
                <a:latin typeface="Cambria" pitchFamily="34" charset="0"/>
                <a:ea typeface="Cambria" pitchFamily="34" charset="-122"/>
                <a:cs typeface="Cambria" pitchFamily="34" charset="-120"/>
              </a:rPr>
              <a:t>Evaluating open-ended answers</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56646F"/>
                </a:solidFill>
                <a:latin typeface="Calibri" pitchFamily="34" charset="0"/>
                <a:ea typeface="Calibri" pitchFamily="34" charset="-122"/>
                <a:cs typeface="Calibri" pitchFamily="34" charset="-120"/>
              </a:rPr>
              <a:t>476 human evaluators, two stages</a:t>
            </a:r>
            <a:endParaRPr lang="en-US" sz="1350" dirty="0"/>
          </a:p>
        </p:txBody>
      </p:sp>
      <p:sp>
        <p:nvSpPr>
          <p:cNvPr id="7" name="Text 5"/>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93A5B4"/>
                </a:solidFill>
                <a:latin typeface="Calibri" pitchFamily="34" charset="0"/>
                <a:ea typeface="Calibri" pitchFamily="34" charset="-122"/>
                <a:cs typeface="Calibri" pitchFamily="34" charset="-120"/>
              </a:rPr>
              <a:t>LTU · Gong et al. 2024  |  17</a:t>
            </a:r>
            <a:endParaRPr lang="en-US" sz="900" dirty="0"/>
          </a:p>
        </p:txBody>
      </p:sp>
      <p:graphicFrame>
        <p:nvGraphicFramePr>
          <p:cNvPr id="8" name="Chart 0"/>
          <p:cNvGraphicFramePr/>
          <p:nvPr/>
        </p:nvGraphicFramePr>
        <p:xfrm>
          <a:off x="566928" y="1554480"/>
          <a:ext cx="676656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6"/>
          <p:cNvSpPr txBox="1"/>
          <p:nvPr/>
        </p:nvSpPr>
        <p:spPr>
          <a:xfrm>
            <a:off x="7589520" y="1700784"/>
            <a:ext cx="4041648" cy="3383280"/>
          </a:xfrm>
          <a:prstGeom prst="rect">
            <a:avLst/>
          </a:prstGeom>
          <a:noFill/>
          <a:ln/>
        </p:spPr>
        <p:txBody>
          <a:bodyPr wrap="square" lIns="0" tIns="0" rIns="0" bIns="0" rtlCol="0" anchor="t"/>
          <a:lstStyle/>
          <a:p>
            <a:pPr marL="342900" indent="-342900">
              <a:spcAft>
                <a:spcPts val="800"/>
              </a:spcAft>
              <a:buSzPct val="100000"/>
              <a:buChar char="●"/>
            </a:pPr>
            <a:r>
              <a:rPr lang="en-US" sz="1220" dirty="0">
                <a:solidFill>
                  <a:srgbClr val="27323C"/>
                </a:solidFill>
                <a:latin typeface="Calibri" pitchFamily="34" charset="0"/>
                <a:ea typeface="Calibri" pitchFamily="34" charset="-122"/>
                <a:cs typeface="Calibri" pitchFamily="34" charset="-120"/>
              </a:rPr>
              <a:t>1,352 questionnaires and 476 unique evaluators on Mechanical Turk, independent of the authors.</a:t>
            </a:r>
            <a:endParaRPr lang="en-US" sz="1220" dirty="0"/>
          </a:p>
          <a:p>
            <a:pPr marL="342900" indent="-342900">
              <a:spcAft>
                <a:spcPts val="800"/>
              </a:spcAft>
              <a:buSzPct val="100000"/>
              <a:buChar char="●"/>
            </a:pPr>
            <a:r>
              <a:rPr lang="en-US" sz="1220" dirty="0">
                <a:solidFill>
                  <a:srgbClr val="27323C"/>
                </a:solidFill>
                <a:latin typeface="Calibri" pitchFamily="34" charset="0"/>
                <a:ea typeface="Calibri" pitchFamily="34" charset="-122"/>
                <a:cs typeface="Calibri" pitchFamily="34" charset="-120"/>
              </a:rPr>
              <a:t>Training questions came from GPT-3.5; evaluation questions from GPT-4 and from humans — so the evaluation is not testing memorisation of the generator.</a:t>
            </a:r>
            <a:endParaRPr lang="en-US" sz="1220" dirty="0"/>
          </a:p>
          <a:p>
            <a:pPr marL="342900" indent="-342900">
              <a:spcAft>
                <a:spcPts val="800"/>
              </a:spcAft>
              <a:buSzPct val="100000"/>
              <a:buChar char="●"/>
            </a:pPr>
            <a:r>
              <a:rPr lang="en-US" sz="1220" dirty="0">
                <a:solidFill>
                  <a:srgbClr val="27323C"/>
                </a:solidFill>
                <a:latin typeface="Calibri" pitchFamily="34" charset="0"/>
                <a:ea typeface="Calibri" pitchFamily="34" charset="-122"/>
                <a:cs typeface="Calibri" pitchFamily="34" charset="-120"/>
              </a:rPr>
              <a:t>A separate automatic check with GPT-4 as judge gives an instruction-following rate of 96.9%, against 22.5% for a model trained only on closed-ended tasks.</a:t>
            </a:r>
            <a:endParaRPr lang="en-US" sz="1220" dirty="0"/>
          </a:p>
          <a:p>
            <a:pPr marL="342900" indent="-342900">
              <a:spcAft>
                <a:spcPts val="800"/>
              </a:spcAft>
              <a:buSzPct val="100000"/>
              <a:buChar char="●"/>
            </a:pPr>
            <a:r>
              <a:rPr lang="en-US" sz="1220" dirty="0">
                <a:solidFill>
                  <a:srgbClr val="27323C"/>
                </a:solidFill>
                <a:latin typeface="Calibri" pitchFamily="34" charset="0"/>
                <a:ea typeface="Calibri" pitchFamily="34" charset="-122"/>
                <a:cs typeface="Calibri" pitchFamily="34" charset="-120"/>
              </a:rPr>
              <a:t>Against Pengi, the gap is enormous: Pengi's instruction-following rate on open-ended questions is 7.4%, 3.1% and 28.3% across the three question sources.</a:t>
            </a:r>
            <a:endParaRPr lang="en-US" sz="1220" dirty="0"/>
          </a:p>
        </p:txBody>
      </p:sp>
      <p:sp>
        <p:nvSpPr>
          <p:cNvPr id="10" name="Shape 7"/>
          <p:cNvSpPr/>
          <p:nvPr/>
        </p:nvSpPr>
        <p:spPr>
          <a:xfrm>
            <a:off x="566928" y="5266944"/>
            <a:ext cx="11064240" cy="786384"/>
          </a:xfrm>
          <a:prstGeom prst="roundRect">
            <a:avLst>
              <a:gd name="adj" fmla="val 6977"/>
            </a:avLst>
          </a:prstGeom>
          <a:solidFill>
            <a:srgbClr val="1E2833"/>
          </a:solidFill>
          <a:ln w="12700">
            <a:solidFill>
              <a:srgbClr val="1E2833"/>
            </a:solidFill>
            <a:prstDash val="solid"/>
          </a:ln>
        </p:spPr>
        <p:txBody>
          <a:bodyPr/>
          <a:lstStyle/>
          <a:p>
            <a:endParaRPr lang="en-US"/>
          </a:p>
        </p:txBody>
      </p:sp>
      <p:sp>
        <p:nvSpPr>
          <p:cNvPr id="11" name="Text 8"/>
          <p:cNvSpPr txBox="1"/>
          <p:nvPr/>
        </p:nvSpPr>
        <p:spPr>
          <a:xfrm>
            <a:off x="822960" y="5486400"/>
            <a:ext cx="10552176" cy="365760"/>
          </a:xfrm>
          <a:prstGeom prst="rect">
            <a:avLst/>
          </a:prstGeom>
          <a:noFill/>
          <a:ln/>
        </p:spPr>
        <p:txBody>
          <a:bodyPr wrap="square" lIns="0" tIns="0" rIns="0" bIns="0" rtlCol="0" anchor="t"/>
          <a:lstStyle/>
          <a:p>
            <a:pPr marL="0" indent="0">
              <a:lnSpc>
                <a:spcPct val="108000"/>
              </a:lnSpc>
              <a:buNone/>
            </a:pPr>
            <a:r>
              <a:rPr lang="en-US" sz="1300" dirty="0">
                <a:solidFill>
                  <a:srgbClr val="C3D3DE"/>
                </a:solidFill>
                <a:latin typeface="Calibri" pitchFamily="34" charset="0"/>
                <a:ea typeface="Calibri" pitchFamily="34" charset="-122"/>
                <a:cs typeface="Calibri" pitchFamily="34" charset="-120"/>
              </a:rPr>
              <a:t>The Pengi comparison is the clearest demonstration in either session of what open-ended training buys — and the paper notes Pengi was never designed for this, so the comparison is illustrative rather than fair.</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027664" y="516636"/>
            <a:ext cx="82296" cy="82296"/>
          </a:xfrm>
          <a:prstGeom prst="ellipse">
            <a:avLst/>
          </a:prstGeom>
          <a:solidFill>
            <a:srgbClr val="2F5D8C"/>
          </a:solidFill>
          <a:ln w="12700">
            <a:solidFill>
              <a:srgbClr val="333333"/>
            </a:solidFill>
            <a:prstDash val="solid"/>
          </a:ln>
        </p:spPr>
        <p:txBody>
          <a:bodyPr/>
          <a:lstStyle/>
          <a:p>
            <a:endParaRPr lang="en-US"/>
          </a:p>
        </p:txBody>
      </p:sp>
      <p:sp>
        <p:nvSpPr>
          <p:cNvPr id="3" name="Shape 1"/>
          <p:cNvSpPr/>
          <p:nvPr/>
        </p:nvSpPr>
        <p:spPr>
          <a:xfrm>
            <a:off x="11155680" y="498348"/>
            <a:ext cx="118872" cy="118872"/>
          </a:xfrm>
          <a:prstGeom prst="ellipse">
            <a:avLst/>
          </a:prstGeom>
          <a:solidFill>
            <a:srgbClr val="2F5D8C"/>
          </a:solidFill>
          <a:ln w="12700">
            <a:solidFill>
              <a:srgbClr val="333333"/>
            </a:solidFill>
            <a:prstDash val="solid"/>
          </a:ln>
        </p:spPr>
        <p:txBody>
          <a:bodyPr/>
          <a:lstStyle/>
          <a:p>
            <a:endParaRPr lang="en-US"/>
          </a:p>
        </p:txBody>
      </p:sp>
      <p:sp>
        <p:nvSpPr>
          <p:cNvPr id="4" name="Shape 2"/>
          <p:cNvSpPr/>
          <p:nvPr/>
        </p:nvSpPr>
        <p:spPr>
          <a:xfrm>
            <a:off x="11320272" y="475488"/>
            <a:ext cx="164592" cy="164592"/>
          </a:xfrm>
          <a:prstGeom prst="ellipse">
            <a:avLst/>
          </a:prstGeom>
          <a:solidFill>
            <a:srgbClr val="E4A11B"/>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141C24"/>
                </a:solidFill>
                <a:latin typeface="Cambria" pitchFamily="34" charset="0"/>
                <a:ea typeface="Cambria" pitchFamily="34" charset="-122"/>
                <a:cs typeface="Cambria" pitchFamily="34" charset="-120"/>
              </a:rPr>
              <a:t>What the reasoning looks like</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56646F"/>
                </a:solidFill>
                <a:latin typeface="Calibri" pitchFamily="34" charset="0"/>
                <a:ea typeface="Calibri" pitchFamily="34" charset="-122"/>
                <a:cs typeface="Calibri" pitchFamily="34" charset="-120"/>
              </a:rPr>
              <a:t>Five capabilities the paper demonstrates</a:t>
            </a:r>
            <a:endParaRPr lang="en-US" sz="1350" dirty="0"/>
          </a:p>
        </p:txBody>
      </p:sp>
      <p:sp>
        <p:nvSpPr>
          <p:cNvPr id="7" name="Text 5"/>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93A5B4"/>
                </a:solidFill>
                <a:latin typeface="Calibri" pitchFamily="34" charset="0"/>
                <a:ea typeface="Calibri" pitchFamily="34" charset="-122"/>
                <a:cs typeface="Calibri" pitchFamily="34" charset="-120"/>
              </a:rPr>
              <a:t>LTU · Gong et al. 2024  |  18</a:t>
            </a:r>
            <a:endParaRPr lang="en-US" sz="900" dirty="0"/>
          </a:p>
        </p:txBody>
      </p:sp>
      <p:sp>
        <p:nvSpPr>
          <p:cNvPr id="8" name="Shape 6"/>
          <p:cNvSpPr/>
          <p:nvPr/>
        </p:nvSpPr>
        <p:spPr>
          <a:xfrm>
            <a:off x="566928" y="1554480"/>
            <a:ext cx="11064240" cy="859536"/>
          </a:xfrm>
          <a:prstGeom prst="roundRect">
            <a:avLst>
              <a:gd name="adj" fmla="val 3191"/>
            </a:avLst>
          </a:prstGeom>
          <a:solidFill>
            <a:srgbClr val="F0F3F7"/>
          </a:solidFill>
          <a:ln w="12700">
            <a:solidFill>
              <a:srgbClr val="E6ECF2"/>
            </a:solidFill>
            <a:prstDash val="solid"/>
          </a:ln>
        </p:spPr>
        <p:txBody>
          <a:bodyPr/>
          <a:lstStyle/>
          <a:p>
            <a:endParaRPr lang="en-US"/>
          </a:p>
        </p:txBody>
      </p:sp>
      <p:sp>
        <p:nvSpPr>
          <p:cNvPr id="9" name="Shape 7"/>
          <p:cNvSpPr/>
          <p:nvPr/>
        </p:nvSpPr>
        <p:spPr>
          <a:xfrm>
            <a:off x="786384" y="1924812"/>
            <a:ext cx="118872" cy="118872"/>
          </a:xfrm>
          <a:prstGeom prst="ellipse">
            <a:avLst/>
          </a:prstGeom>
          <a:solidFill>
            <a:srgbClr val="2F5D8C"/>
          </a:solidFill>
          <a:ln w="12700">
            <a:solidFill>
              <a:srgbClr val="333333"/>
            </a:solidFill>
            <a:prstDash val="solid"/>
          </a:ln>
        </p:spPr>
        <p:txBody>
          <a:bodyPr/>
          <a:lstStyle/>
          <a:p>
            <a:endParaRPr lang="en-US"/>
          </a:p>
        </p:txBody>
      </p:sp>
      <p:sp>
        <p:nvSpPr>
          <p:cNvPr id="10" name="Text 8"/>
          <p:cNvSpPr txBox="1"/>
          <p:nvPr/>
        </p:nvSpPr>
        <p:spPr>
          <a:xfrm>
            <a:off x="1024128" y="1645920"/>
            <a:ext cx="3291840" cy="676656"/>
          </a:xfrm>
          <a:prstGeom prst="rect">
            <a:avLst/>
          </a:prstGeom>
          <a:noFill/>
          <a:ln/>
        </p:spPr>
        <p:txBody>
          <a:bodyPr wrap="square" lIns="0" tIns="0" rIns="0" bIns="0" rtlCol="0" anchor="ctr"/>
          <a:lstStyle/>
          <a:p>
            <a:pPr marL="0" indent="0">
              <a:buNone/>
            </a:pPr>
            <a:r>
              <a:rPr lang="en-US" sz="1300" b="1" dirty="0">
                <a:solidFill>
                  <a:srgbClr val="141C24"/>
                </a:solidFill>
                <a:latin typeface="Cambria" pitchFamily="34" charset="0"/>
                <a:ea typeface="Cambria" pitchFamily="34" charset="-122"/>
                <a:cs typeface="Cambria" pitchFamily="34" charset="-120"/>
              </a:rPr>
              <a:t>Answer follow-up detail questions</a:t>
            </a:r>
            <a:endParaRPr lang="en-US" sz="1300" dirty="0"/>
          </a:p>
        </p:txBody>
      </p:sp>
      <p:sp>
        <p:nvSpPr>
          <p:cNvPr id="11" name="Text 9"/>
          <p:cNvSpPr txBox="1"/>
          <p:nvPr/>
        </p:nvSpPr>
        <p:spPr>
          <a:xfrm>
            <a:off x="4498848" y="1627632"/>
            <a:ext cx="6949440" cy="713232"/>
          </a:xfrm>
          <a:prstGeom prst="rect">
            <a:avLst/>
          </a:prstGeom>
          <a:noFill/>
          <a:ln/>
        </p:spPr>
        <p:txBody>
          <a:bodyPr wrap="square" lIns="0" tIns="0" rIns="0" bIns="0" rtlCol="0" anchor="ctr"/>
          <a:lstStyle/>
          <a:p>
            <a:pPr marL="0" indent="0">
              <a:buNone/>
            </a:pPr>
            <a:r>
              <a:rPr lang="en-US" sz="1200" dirty="0">
                <a:solidFill>
                  <a:srgbClr val="27323C"/>
                </a:solidFill>
                <a:latin typeface="Calibri" pitchFamily="34" charset="0"/>
                <a:ea typeface="Calibri" pitchFamily="34" charset="-122"/>
                <a:cs typeface="Calibri" pitchFamily="34" charset="-120"/>
              </a:rPr>
              <a:t>Asked how many times a bell rings, LTU says three; asked to describe it, it reports a bright, high-pitched, short ringing repeated in quick succession.</a:t>
            </a:r>
            <a:endParaRPr lang="en-US" sz="1200" dirty="0"/>
          </a:p>
        </p:txBody>
      </p:sp>
      <p:sp>
        <p:nvSpPr>
          <p:cNvPr id="12" name="Shape 10"/>
          <p:cNvSpPr/>
          <p:nvPr/>
        </p:nvSpPr>
        <p:spPr>
          <a:xfrm>
            <a:off x="566928" y="2468880"/>
            <a:ext cx="11064240" cy="859536"/>
          </a:xfrm>
          <a:prstGeom prst="roundRect">
            <a:avLst>
              <a:gd name="adj" fmla="val 3191"/>
            </a:avLst>
          </a:prstGeom>
          <a:solidFill>
            <a:srgbClr val="FFFFFF"/>
          </a:solidFill>
          <a:ln w="12700">
            <a:solidFill>
              <a:srgbClr val="E6ECF2"/>
            </a:solidFill>
            <a:prstDash val="solid"/>
          </a:ln>
        </p:spPr>
        <p:txBody>
          <a:bodyPr/>
          <a:lstStyle/>
          <a:p>
            <a:endParaRPr lang="en-US"/>
          </a:p>
        </p:txBody>
      </p:sp>
      <p:sp>
        <p:nvSpPr>
          <p:cNvPr id="13" name="Shape 11"/>
          <p:cNvSpPr/>
          <p:nvPr/>
        </p:nvSpPr>
        <p:spPr>
          <a:xfrm>
            <a:off x="786384" y="2839212"/>
            <a:ext cx="118872" cy="118872"/>
          </a:xfrm>
          <a:prstGeom prst="ellipse">
            <a:avLst/>
          </a:prstGeom>
          <a:solidFill>
            <a:srgbClr val="2F5D8C"/>
          </a:solidFill>
          <a:ln w="12700">
            <a:solidFill>
              <a:srgbClr val="333333"/>
            </a:solidFill>
            <a:prstDash val="solid"/>
          </a:ln>
        </p:spPr>
        <p:txBody>
          <a:bodyPr/>
          <a:lstStyle/>
          <a:p>
            <a:endParaRPr lang="en-US"/>
          </a:p>
        </p:txBody>
      </p:sp>
      <p:sp>
        <p:nvSpPr>
          <p:cNvPr id="14" name="Text 12"/>
          <p:cNvSpPr txBox="1"/>
          <p:nvPr/>
        </p:nvSpPr>
        <p:spPr>
          <a:xfrm>
            <a:off x="1024128" y="2560320"/>
            <a:ext cx="3291840" cy="676656"/>
          </a:xfrm>
          <a:prstGeom prst="rect">
            <a:avLst/>
          </a:prstGeom>
          <a:noFill/>
          <a:ln/>
        </p:spPr>
        <p:txBody>
          <a:bodyPr wrap="square" lIns="0" tIns="0" rIns="0" bIns="0" rtlCol="0" anchor="ctr"/>
          <a:lstStyle/>
          <a:p>
            <a:pPr marL="0" indent="0">
              <a:buNone/>
            </a:pPr>
            <a:r>
              <a:rPr lang="en-US" sz="1300" b="1" dirty="0">
                <a:solidFill>
                  <a:srgbClr val="141C24"/>
                </a:solidFill>
                <a:latin typeface="Cambria" pitchFamily="34" charset="0"/>
                <a:ea typeface="Cambria" pitchFamily="34" charset="-122"/>
                <a:cs typeface="Cambria" pitchFamily="34" charset="-120"/>
              </a:rPr>
              <a:t>Explain its predictions</a:t>
            </a:r>
            <a:endParaRPr lang="en-US" sz="1300" dirty="0"/>
          </a:p>
        </p:txBody>
      </p:sp>
      <p:sp>
        <p:nvSpPr>
          <p:cNvPr id="15" name="Text 13"/>
          <p:cNvSpPr txBox="1"/>
          <p:nvPr/>
        </p:nvSpPr>
        <p:spPr>
          <a:xfrm>
            <a:off x="4498848" y="2542032"/>
            <a:ext cx="6949440" cy="713232"/>
          </a:xfrm>
          <a:prstGeom prst="rect">
            <a:avLst/>
          </a:prstGeom>
          <a:noFill/>
          <a:ln/>
        </p:spPr>
        <p:txBody>
          <a:bodyPr wrap="square" lIns="0" tIns="0" rIns="0" bIns="0" rtlCol="0" anchor="ctr"/>
          <a:lstStyle/>
          <a:p>
            <a:pPr marL="0" indent="0">
              <a:buNone/>
            </a:pPr>
            <a:r>
              <a:rPr lang="en-US" sz="1200" dirty="0">
                <a:solidFill>
                  <a:srgbClr val="27323C"/>
                </a:solidFill>
                <a:latin typeface="Calibri" pitchFamily="34" charset="0"/>
                <a:ea typeface="Calibri" pitchFamily="34" charset="-122"/>
                <a:cs typeface="Calibri" pitchFamily="34" charset="-120"/>
              </a:rPr>
              <a:t>Asked what insect is heard and why: 'a cricket — it is high-pitched and chirpy, which is why it is recognised.' In multi-turn conversation it can explain why a wrong prediction was made.</a:t>
            </a:r>
            <a:endParaRPr lang="en-US" sz="1200" dirty="0"/>
          </a:p>
        </p:txBody>
      </p:sp>
      <p:sp>
        <p:nvSpPr>
          <p:cNvPr id="16" name="Shape 14"/>
          <p:cNvSpPr/>
          <p:nvPr/>
        </p:nvSpPr>
        <p:spPr>
          <a:xfrm>
            <a:off x="566928" y="3383280"/>
            <a:ext cx="11064240" cy="859536"/>
          </a:xfrm>
          <a:prstGeom prst="roundRect">
            <a:avLst>
              <a:gd name="adj" fmla="val 3191"/>
            </a:avLst>
          </a:prstGeom>
          <a:solidFill>
            <a:srgbClr val="F0F3F7"/>
          </a:solidFill>
          <a:ln w="12700">
            <a:solidFill>
              <a:srgbClr val="E6ECF2"/>
            </a:solidFill>
            <a:prstDash val="solid"/>
          </a:ln>
        </p:spPr>
        <p:txBody>
          <a:bodyPr/>
          <a:lstStyle/>
          <a:p>
            <a:endParaRPr lang="en-US"/>
          </a:p>
        </p:txBody>
      </p:sp>
      <p:sp>
        <p:nvSpPr>
          <p:cNvPr id="17" name="Shape 15"/>
          <p:cNvSpPr/>
          <p:nvPr/>
        </p:nvSpPr>
        <p:spPr>
          <a:xfrm>
            <a:off x="786384" y="3753612"/>
            <a:ext cx="118872" cy="118872"/>
          </a:xfrm>
          <a:prstGeom prst="ellipse">
            <a:avLst/>
          </a:prstGeom>
          <a:solidFill>
            <a:srgbClr val="2F5D8C"/>
          </a:solidFill>
          <a:ln w="12700">
            <a:solidFill>
              <a:srgbClr val="333333"/>
            </a:solidFill>
            <a:prstDash val="solid"/>
          </a:ln>
        </p:spPr>
        <p:txBody>
          <a:bodyPr/>
          <a:lstStyle/>
          <a:p>
            <a:endParaRPr lang="en-US"/>
          </a:p>
        </p:txBody>
      </p:sp>
      <p:sp>
        <p:nvSpPr>
          <p:cNvPr id="18" name="Text 16"/>
          <p:cNvSpPr txBox="1"/>
          <p:nvPr/>
        </p:nvSpPr>
        <p:spPr>
          <a:xfrm>
            <a:off x="1024128" y="3474720"/>
            <a:ext cx="3291840" cy="676656"/>
          </a:xfrm>
          <a:prstGeom prst="rect">
            <a:avLst/>
          </a:prstGeom>
          <a:noFill/>
          <a:ln/>
        </p:spPr>
        <p:txBody>
          <a:bodyPr wrap="square" lIns="0" tIns="0" rIns="0" bIns="0" rtlCol="0" anchor="ctr"/>
          <a:lstStyle/>
          <a:p>
            <a:pPr marL="0" indent="0">
              <a:buNone/>
            </a:pPr>
            <a:r>
              <a:rPr lang="en-US" sz="1300" b="1" dirty="0">
                <a:solidFill>
                  <a:srgbClr val="141C24"/>
                </a:solidFill>
                <a:latin typeface="Cambria" pitchFamily="34" charset="0"/>
                <a:ea typeface="Cambria" pitchFamily="34" charset="-122"/>
                <a:cs typeface="Cambria" pitchFamily="34" charset="-120"/>
              </a:rPr>
              <a:t>Understand scenes and suggest actions</a:t>
            </a:r>
            <a:endParaRPr lang="en-US" sz="1300" dirty="0"/>
          </a:p>
        </p:txBody>
      </p:sp>
      <p:sp>
        <p:nvSpPr>
          <p:cNvPr id="19" name="Text 17"/>
          <p:cNvSpPr txBox="1"/>
          <p:nvPr/>
        </p:nvSpPr>
        <p:spPr>
          <a:xfrm>
            <a:off x="4498848" y="3456432"/>
            <a:ext cx="6949440" cy="713232"/>
          </a:xfrm>
          <a:prstGeom prst="rect">
            <a:avLst/>
          </a:prstGeom>
          <a:noFill/>
          <a:ln/>
        </p:spPr>
        <p:txBody>
          <a:bodyPr wrap="square" lIns="0" tIns="0" rIns="0" bIns="0" rtlCol="0" anchor="ctr"/>
          <a:lstStyle/>
          <a:p>
            <a:pPr marL="0" indent="0">
              <a:buNone/>
            </a:pPr>
            <a:r>
              <a:rPr lang="en-US" sz="1200" dirty="0">
                <a:solidFill>
                  <a:srgbClr val="27323C"/>
                </a:solidFill>
                <a:latin typeface="Calibri" pitchFamily="34" charset="0"/>
                <a:ea typeface="Calibri" pitchFamily="34" charset="-122"/>
                <a:cs typeface="Calibri" pitchFamily="34" charset="-120"/>
              </a:rPr>
              <a:t>Gunshots and footsteps: LTU infers a war zone or dangerous area, and when asked what to do, says seek shelter and call for help.</a:t>
            </a:r>
            <a:endParaRPr lang="en-US" sz="1200" dirty="0"/>
          </a:p>
        </p:txBody>
      </p:sp>
      <p:sp>
        <p:nvSpPr>
          <p:cNvPr id="20" name="Shape 18"/>
          <p:cNvSpPr/>
          <p:nvPr/>
        </p:nvSpPr>
        <p:spPr>
          <a:xfrm>
            <a:off x="566928" y="4297680"/>
            <a:ext cx="11064240" cy="859536"/>
          </a:xfrm>
          <a:prstGeom prst="roundRect">
            <a:avLst>
              <a:gd name="adj" fmla="val 3191"/>
            </a:avLst>
          </a:prstGeom>
          <a:solidFill>
            <a:srgbClr val="FFFFFF"/>
          </a:solidFill>
          <a:ln w="12700">
            <a:solidFill>
              <a:srgbClr val="E6ECF2"/>
            </a:solidFill>
            <a:prstDash val="solid"/>
          </a:ln>
        </p:spPr>
        <p:txBody>
          <a:bodyPr/>
          <a:lstStyle/>
          <a:p>
            <a:endParaRPr lang="en-US"/>
          </a:p>
        </p:txBody>
      </p:sp>
      <p:sp>
        <p:nvSpPr>
          <p:cNvPr id="21" name="Shape 19"/>
          <p:cNvSpPr/>
          <p:nvPr/>
        </p:nvSpPr>
        <p:spPr>
          <a:xfrm>
            <a:off x="786384" y="4668012"/>
            <a:ext cx="118872" cy="118872"/>
          </a:xfrm>
          <a:prstGeom prst="ellipse">
            <a:avLst/>
          </a:prstGeom>
          <a:solidFill>
            <a:srgbClr val="2F5D8C"/>
          </a:solidFill>
          <a:ln w="12700">
            <a:solidFill>
              <a:srgbClr val="333333"/>
            </a:solidFill>
            <a:prstDash val="solid"/>
          </a:ln>
        </p:spPr>
        <p:txBody>
          <a:bodyPr/>
          <a:lstStyle/>
          <a:p>
            <a:endParaRPr lang="en-US"/>
          </a:p>
        </p:txBody>
      </p:sp>
      <p:sp>
        <p:nvSpPr>
          <p:cNvPr id="22" name="Text 20"/>
          <p:cNvSpPr txBox="1"/>
          <p:nvPr/>
        </p:nvSpPr>
        <p:spPr>
          <a:xfrm>
            <a:off x="1024128" y="4389120"/>
            <a:ext cx="3291840" cy="676656"/>
          </a:xfrm>
          <a:prstGeom prst="rect">
            <a:avLst/>
          </a:prstGeom>
          <a:noFill/>
          <a:ln/>
        </p:spPr>
        <p:txBody>
          <a:bodyPr wrap="square" lIns="0" tIns="0" rIns="0" bIns="0" rtlCol="0" anchor="ctr"/>
          <a:lstStyle/>
          <a:p>
            <a:pPr marL="0" indent="0">
              <a:buNone/>
            </a:pPr>
            <a:r>
              <a:rPr lang="en-US" sz="1300" b="1" dirty="0">
                <a:solidFill>
                  <a:srgbClr val="141C24"/>
                </a:solidFill>
                <a:latin typeface="Cambria" pitchFamily="34" charset="0"/>
                <a:ea typeface="Cambria" pitchFamily="34" charset="-122"/>
                <a:cs typeface="Cambria" pitchFamily="34" charset="-120"/>
              </a:rPr>
              <a:t>Infer beyond the audio</a:t>
            </a:r>
            <a:endParaRPr lang="en-US" sz="1300" dirty="0"/>
          </a:p>
        </p:txBody>
      </p:sp>
      <p:sp>
        <p:nvSpPr>
          <p:cNvPr id="23" name="Text 21"/>
          <p:cNvSpPr txBox="1"/>
          <p:nvPr/>
        </p:nvSpPr>
        <p:spPr>
          <a:xfrm>
            <a:off x="4498848" y="4370832"/>
            <a:ext cx="6949440" cy="713232"/>
          </a:xfrm>
          <a:prstGeom prst="rect">
            <a:avLst/>
          </a:prstGeom>
          <a:noFill/>
          <a:ln/>
        </p:spPr>
        <p:txBody>
          <a:bodyPr wrap="square" lIns="0" tIns="0" rIns="0" bIns="0" rtlCol="0" anchor="ctr"/>
          <a:lstStyle/>
          <a:p>
            <a:pPr marL="0" indent="0">
              <a:buNone/>
            </a:pPr>
            <a:r>
              <a:rPr lang="en-US" sz="1200" dirty="0">
                <a:solidFill>
                  <a:srgbClr val="27323C"/>
                </a:solidFill>
                <a:latin typeface="Calibri" pitchFamily="34" charset="0"/>
                <a:ea typeface="Calibri" pitchFamily="34" charset="-122"/>
                <a:cs typeface="Calibri" pitchFamily="34" charset="-120"/>
              </a:rPr>
              <a:t>Owl calls and wind: LTU judges the recording more likely to be evening because owl hooting is prominent at night, and suggests the clip would suit dubbing a horror film.</a:t>
            </a:r>
            <a:endParaRPr lang="en-US" sz="1200" dirty="0"/>
          </a:p>
        </p:txBody>
      </p:sp>
      <p:sp>
        <p:nvSpPr>
          <p:cNvPr id="24" name="Shape 22"/>
          <p:cNvSpPr/>
          <p:nvPr/>
        </p:nvSpPr>
        <p:spPr>
          <a:xfrm>
            <a:off x="566928" y="5212080"/>
            <a:ext cx="11064240" cy="859536"/>
          </a:xfrm>
          <a:prstGeom prst="roundRect">
            <a:avLst>
              <a:gd name="adj" fmla="val 3191"/>
            </a:avLst>
          </a:prstGeom>
          <a:solidFill>
            <a:srgbClr val="F0F3F7"/>
          </a:solidFill>
          <a:ln w="12700">
            <a:solidFill>
              <a:srgbClr val="E6ECF2"/>
            </a:solidFill>
            <a:prstDash val="solid"/>
          </a:ln>
        </p:spPr>
        <p:txBody>
          <a:bodyPr/>
          <a:lstStyle/>
          <a:p>
            <a:endParaRPr lang="en-US"/>
          </a:p>
        </p:txBody>
      </p:sp>
      <p:sp>
        <p:nvSpPr>
          <p:cNvPr id="25" name="Shape 23"/>
          <p:cNvSpPr/>
          <p:nvPr/>
        </p:nvSpPr>
        <p:spPr>
          <a:xfrm>
            <a:off x="786384" y="5582412"/>
            <a:ext cx="118872" cy="118872"/>
          </a:xfrm>
          <a:prstGeom prst="ellipse">
            <a:avLst/>
          </a:prstGeom>
          <a:solidFill>
            <a:srgbClr val="2F5D8C"/>
          </a:solidFill>
          <a:ln w="12700">
            <a:solidFill>
              <a:srgbClr val="333333"/>
            </a:solidFill>
            <a:prstDash val="solid"/>
          </a:ln>
        </p:spPr>
        <p:txBody>
          <a:bodyPr/>
          <a:lstStyle/>
          <a:p>
            <a:endParaRPr lang="en-US"/>
          </a:p>
        </p:txBody>
      </p:sp>
      <p:sp>
        <p:nvSpPr>
          <p:cNvPr id="26" name="Text 24"/>
          <p:cNvSpPr txBox="1"/>
          <p:nvPr/>
        </p:nvSpPr>
        <p:spPr>
          <a:xfrm>
            <a:off x="1024128" y="5303520"/>
            <a:ext cx="3291840" cy="676656"/>
          </a:xfrm>
          <a:prstGeom prst="rect">
            <a:avLst/>
          </a:prstGeom>
          <a:noFill/>
          <a:ln/>
        </p:spPr>
        <p:txBody>
          <a:bodyPr wrap="square" lIns="0" tIns="0" rIns="0" bIns="0" rtlCol="0" anchor="ctr"/>
          <a:lstStyle/>
          <a:p>
            <a:pPr marL="0" indent="0">
              <a:buNone/>
            </a:pPr>
            <a:r>
              <a:rPr lang="en-US" sz="1300" b="1" dirty="0">
                <a:solidFill>
                  <a:srgbClr val="141C24"/>
                </a:solidFill>
                <a:latin typeface="Cambria" pitchFamily="34" charset="0"/>
                <a:ea typeface="Cambria" pitchFamily="34" charset="-122"/>
                <a:cs typeface="Cambria" pitchFamily="34" charset="-120"/>
              </a:rPr>
              <a:t>Know what it does not know</a:t>
            </a:r>
            <a:endParaRPr lang="en-US" sz="1300" dirty="0"/>
          </a:p>
        </p:txBody>
      </p:sp>
      <p:sp>
        <p:nvSpPr>
          <p:cNvPr id="27" name="Text 25"/>
          <p:cNvSpPr txBox="1"/>
          <p:nvPr/>
        </p:nvSpPr>
        <p:spPr>
          <a:xfrm>
            <a:off x="4498848" y="5285232"/>
            <a:ext cx="6949440" cy="713232"/>
          </a:xfrm>
          <a:prstGeom prst="rect">
            <a:avLst/>
          </a:prstGeom>
          <a:noFill/>
          <a:ln/>
        </p:spPr>
        <p:txBody>
          <a:bodyPr wrap="square" lIns="0" tIns="0" rIns="0" bIns="0" rtlCol="0" anchor="ctr"/>
          <a:lstStyle/>
          <a:p>
            <a:pPr marL="0" indent="0">
              <a:buNone/>
            </a:pPr>
            <a:r>
              <a:rPr lang="en-US" sz="1200" dirty="0">
                <a:solidFill>
                  <a:srgbClr val="27323C"/>
                </a:solidFill>
                <a:latin typeface="Calibri" pitchFamily="34" charset="0"/>
                <a:ea typeface="Calibri" pitchFamily="34" charset="-122"/>
                <a:cs typeface="Calibri" pitchFamily="34" charset="-120"/>
              </a:rPr>
              <a:t>Asked the type of bell, it declines to give a definite answer and lists possibilities — church bell, school bell — rather than guessing.</a:t>
            </a:r>
            <a:endParaRPr lang="en-US" sz="1200" dirty="0"/>
          </a:p>
        </p:txBody>
      </p:sp>
      <p:sp>
        <p:nvSpPr>
          <p:cNvPr id="28" name="Shape 26"/>
          <p:cNvSpPr/>
          <p:nvPr/>
        </p:nvSpPr>
        <p:spPr>
          <a:xfrm>
            <a:off x="566928" y="6144768"/>
            <a:ext cx="11064240" cy="18288"/>
          </a:xfrm>
          <a:prstGeom prst="roundRect">
            <a:avLst>
              <a:gd name="adj" fmla="val 300000"/>
            </a:avLst>
          </a:prstGeom>
          <a:solidFill>
            <a:srgbClr val="FFFFFF"/>
          </a:solidFill>
          <a:ln w="12700">
            <a:solidFill>
              <a:srgbClr val="FFFFFF"/>
            </a:solidFill>
            <a:prstDash val="solid"/>
          </a:ln>
        </p:spPr>
        <p:txBody>
          <a:bodyPr/>
          <a:lstStyle/>
          <a:p>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027664" y="516636"/>
            <a:ext cx="82296" cy="82296"/>
          </a:xfrm>
          <a:prstGeom prst="ellipse">
            <a:avLst/>
          </a:prstGeom>
          <a:solidFill>
            <a:srgbClr val="2F5D8C"/>
          </a:solidFill>
          <a:ln w="12700">
            <a:solidFill>
              <a:srgbClr val="333333"/>
            </a:solidFill>
            <a:prstDash val="solid"/>
          </a:ln>
        </p:spPr>
        <p:txBody>
          <a:bodyPr/>
          <a:lstStyle/>
          <a:p>
            <a:endParaRPr lang="en-US"/>
          </a:p>
        </p:txBody>
      </p:sp>
      <p:sp>
        <p:nvSpPr>
          <p:cNvPr id="3" name="Shape 1"/>
          <p:cNvSpPr/>
          <p:nvPr/>
        </p:nvSpPr>
        <p:spPr>
          <a:xfrm>
            <a:off x="11155680" y="498348"/>
            <a:ext cx="118872" cy="118872"/>
          </a:xfrm>
          <a:prstGeom prst="ellipse">
            <a:avLst/>
          </a:prstGeom>
          <a:solidFill>
            <a:srgbClr val="2F5D8C"/>
          </a:solidFill>
          <a:ln w="12700">
            <a:solidFill>
              <a:srgbClr val="333333"/>
            </a:solidFill>
            <a:prstDash val="solid"/>
          </a:ln>
        </p:spPr>
        <p:txBody>
          <a:bodyPr/>
          <a:lstStyle/>
          <a:p>
            <a:endParaRPr lang="en-US"/>
          </a:p>
        </p:txBody>
      </p:sp>
      <p:sp>
        <p:nvSpPr>
          <p:cNvPr id="4" name="Shape 2"/>
          <p:cNvSpPr/>
          <p:nvPr/>
        </p:nvSpPr>
        <p:spPr>
          <a:xfrm>
            <a:off x="11320272" y="475488"/>
            <a:ext cx="164592" cy="164592"/>
          </a:xfrm>
          <a:prstGeom prst="ellipse">
            <a:avLst/>
          </a:prstGeom>
          <a:solidFill>
            <a:srgbClr val="E4A11B"/>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141C24"/>
                </a:solidFill>
                <a:latin typeface="Cambria" pitchFamily="34" charset="0"/>
                <a:ea typeface="Cambria" pitchFamily="34" charset="-122"/>
                <a:cs typeface="Cambria" pitchFamily="34" charset="-120"/>
              </a:rPr>
              <a:t>Does a bigger language model help?</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56646F"/>
                </a:solidFill>
                <a:latin typeface="Calibri" pitchFamily="34" charset="0"/>
                <a:ea typeface="Calibri" pitchFamily="34" charset="-122"/>
                <a:cs typeface="Calibri" pitchFamily="34" charset="-120"/>
              </a:rPr>
              <a:t>The result that cuts against the scaling narrative</a:t>
            </a:r>
            <a:endParaRPr lang="en-US" sz="1350" dirty="0"/>
          </a:p>
        </p:txBody>
      </p:sp>
      <p:sp>
        <p:nvSpPr>
          <p:cNvPr id="7" name="Text 5"/>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93A5B4"/>
                </a:solidFill>
                <a:latin typeface="Calibri" pitchFamily="34" charset="0"/>
                <a:ea typeface="Calibri" pitchFamily="34" charset="-122"/>
                <a:cs typeface="Calibri" pitchFamily="34" charset="-120"/>
              </a:rPr>
              <a:t>LTU · Gong et al. 2024  |  19</a:t>
            </a:r>
            <a:endParaRPr lang="en-US" sz="900" dirty="0"/>
          </a:p>
        </p:txBody>
      </p:sp>
      <p:graphicFrame>
        <p:nvGraphicFramePr>
          <p:cNvPr id="8" name="Chart 0"/>
          <p:cNvGraphicFramePr/>
          <p:nvPr/>
        </p:nvGraphicFramePr>
        <p:xfrm>
          <a:off x="566928" y="1554480"/>
          <a:ext cx="676656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6"/>
          <p:cNvSpPr txBox="1"/>
          <p:nvPr/>
        </p:nvSpPr>
        <p:spPr>
          <a:xfrm>
            <a:off x="7589520" y="1700784"/>
            <a:ext cx="4041648" cy="3383280"/>
          </a:xfrm>
          <a:prstGeom prst="rect">
            <a:avLst/>
          </a:prstGeom>
          <a:noFill/>
          <a:ln/>
        </p:spPr>
        <p:txBody>
          <a:bodyPr wrap="square" lIns="0" tIns="0" rIns="0" bIns="0" rtlCol="0" anchor="t"/>
          <a:lstStyle/>
          <a:p>
            <a:pPr marL="342900" indent="-342900">
              <a:spcAft>
                <a:spcPts val="800"/>
              </a:spcAft>
              <a:buSzPct val="100000"/>
              <a:buChar char="●"/>
            </a:pPr>
            <a:r>
              <a:rPr lang="en-US" sz="1220" dirty="0">
                <a:solidFill>
                  <a:srgbClr val="27323C"/>
                </a:solidFill>
                <a:latin typeface="Calibri" pitchFamily="34" charset="0"/>
                <a:ea typeface="Calibri" pitchFamily="34" charset="-122"/>
                <a:cs typeface="Calibri" pitchFamily="34" charset="-120"/>
              </a:rPr>
              <a:t>Classification is slightly worse with the larger model; captioning and instruction following are essentially unchanged.</a:t>
            </a:r>
            <a:endParaRPr lang="en-US" sz="1220" dirty="0"/>
          </a:p>
          <a:p>
            <a:pPr marL="342900" indent="-342900">
              <a:spcAft>
                <a:spcPts val="800"/>
              </a:spcAft>
              <a:buSzPct val="100000"/>
              <a:buChar char="●"/>
            </a:pPr>
            <a:r>
              <a:rPr lang="en-US" sz="1220" dirty="0">
                <a:solidFill>
                  <a:srgbClr val="27323C"/>
                </a:solidFill>
                <a:latin typeface="Calibri" pitchFamily="34" charset="0"/>
                <a:ea typeface="Calibri" pitchFamily="34" charset="-122"/>
                <a:cs typeface="Calibri" pitchFamily="34" charset="-120"/>
              </a:rPr>
              <a:t>But the paper reports that the 13B model gives more rational answers thanks to a better knowledge base, with a worked example about how a power tool would sound in a larger space.</a:t>
            </a:r>
            <a:endParaRPr lang="en-US" sz="1220" dirty="0"/>
          </a:p>
          <a:p>
            <a:pPr marL="342900" indent="-342900">
              <a:spcAft>
                <a:spcPts val="800"/>
              </a:spcAft>
              <a:buSzPct val="100000"/>
              <a:buChar char="●"/>
            </a:pPr>
            <a:r>
              <a:rPr lang="en-US" sz="1220" dirty="0">
                <a:solidFill>
                  <a:srgbClr val="27323C"/>
                </a:solidFill>
                <a:latin typeface="Calibri" pitchFamily="34" charset="0"/>
                <a:ea typeface="Calibri" pitchFamily="34" charset="-122"/>
                <a:cs typeface="Calibri" pitchFamily="34" charset="-120"/>
              </a:rPr>
              <a:t>So the benefit of scale shows up in reasoning quality, which none of the automatic metrics capture.</a:t>
            </a:r>
            <a:endParaRPr lang="en-US" sz="1220" dirty="0"/>
          </a:p>
          <a:p>
            <a:pPr marL="342900" indent="-342900">
              <a:spcAft>
                <a:spcPts val="800"/>
              </a:spcAft>
              <a:buSzPct val="100000"/>
              <a:buChar char="●"/>
            </a:pPr>
            <a:r>
              <a:rPr lang="en-US" sz="1220" dirty="0">
                <a:solidFill>
                  <a:srgbClr val="27323C"/>
                </a:solidFill>
                <a:latin typeface="Calibri" pitchFamily="34" charset="0"/>
                <a:ea typeface="Calibri" pitchFamily="34" charset="-122"/>
                <a:cs typeface="Calibri" pitchFamily="34" charset="-120"/>
              </a:rPr>
              <a:t>The authors list the use of LLaMA-7B — the smallest in the family — as a limitation driven by their computational resources.</a:t>
            </a:r>
            <a:endParaRPr lang="en-US" sz="1220" dirty="0"/>
          </a:p>
        </p:txBody>
      </p:sp>
      <p:sp>
        <p:nvSpPr>
          <p:cNvPr id="10" name="Shape 7"/>
          <p:cNvSpPr/>
          <p:nvPr/>
        </p:nvSpPr>
        <p:spPr>
          <a:xfrm>
            <a:off x="566928" y="5266944"/>
            <a:ext cx="11064240" cy="786384"/>
          </a:xfrm>
          <a:prstGeom prst="roundRect">
            <a:avLst>
              <a:gd name="adj" fmla="val 6977"/>
            </a:avLst>
          </a:prstGeom>
          <a:solidFill>
            <a:srgbClr val="1E2833"/>
          </a:solidFill>
          <a:ln w="12700">
            <a:solidFill>
              <a:srgbClr val="1E2833"/>
            </a:solidFill>
            <a:prstDash val="solid"/>
          </a:ln>
        </p:spPr>
        <p:txBody>
          <a:bodyPr/>
          <a:lstStyle/>
          <a:p>
            <a:endParaRPr lang="en-US"/>
          </a:p>
        </p:txBody>
      </p:sp>
      <p:sp>
        <p:nvSpPr>
          <p:cNvPr id="11" name="Text 8"/>
          <p:cNvSpPr txBox="1"/>
          <p:nvPr/>
        </p:nvSpPr>
        <p:spPr>
          <a:xfrm>
            <a:off x="822960" y="5486400"/>
            <a:ext cx="10552176" cy="365760"/>
          </a:xfrm>
          <a:prstGeom prst="rect">
            <a:avLst/>
          </a:prstGeom>
          <a:noFill/>
          <a:ln/>
        </p:spPr>
        <p:txBody>
          <a:bodyPr wrap="square" lIns="0" tIns="0" rIns="0" bIns="0" rtlCol="0" anchor="t"/>
          <a:lstStyle/>
          <a:p>
            <a:pPr marL="0" indent="0">
              <a:lnSpc>
                <a:spcPct val="108000"/>
              </a:lnSpc>
              <a:buNone/>
            </a:pPr>
            <a:r>
              <a:rPr lang="en-US" sz="1300" dirty="0">
                <a:solidFill>
                  <a:srgbClr val="C3D3DE"/>
                </a:solidFill>
                <a:latin typeface="Calibri" pitchFamily="34" charset="0"/>
                <a:ea typeface="Calibri" pitchFamily="34" charset="-122"/>
                <a:cs typeface="Calibri" pitchFamily="34" charset="-120"/>
              </a:rPr>
              <a:t>A useful corrective to the prompt-tuning session's 'power of scale': here, doubling the language model changes almost nothing that anyone can measure.</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E2833"/>
        </a:solidFill>
        <a:effectLst/>
      </p:bgPr>
    </p:bg>
    <p:spTree>
      <p:nvGrpSpPr>
        <p:cNvPr id="1" name=""/>
        <p:cNvGrpSpPr/>
        <p:nvPr/>
      </p:nvGrpSpPr>
      <p:grpSpPr>
        <a:xfrm>
          <a:off x="0" y="0"/>
          <a:ext cx="0" cy="0"/>
          <a:chOff x="0" y="0"/>
          <a:chExt cx="0" cy="0"/>
        </a:xfrm>
      </p:grpSpPr>
      <p:sp>
        <p:nvSpPr>
          <p:cNvPr id="2" name="Shape 0"/>
          <p:cNvSpPr/>
          <p:nvPr/>
        </p:nvSpPr>
        <p:spPr>
          <a:xfrm>
            <a:off x="10515600" y="5477256"/>
            <a:ext cx="164592" cy="164592"/>
          </a:xfrm>
          <a:prstGeom prst="ellipse">
            <a:avLst/>
          </a:prstGeom>
          <a:solidFill>
            <a:srgbClr val="C3D3DE"/>
          </a:solidFill>
          <a:ln w="12700">
            <a:solidFill>
              <a:srgbClr val="333333"/>
            </a:solidFill>
            <a:prstDash val="solid"/>
          </a:ln>
        </p:spPr>
        <p:txBody>
          <a:bodyPr/>
          <a:lstStyle/>
          <a:p>
            <a:endParaRPr lang="en-US"/>
          </a:p>
        </p:txBody>
      </p:sp>
      <p:sp>
        <p:nvSpPr>
          <p:cNvPr id="3" name="Shape 1"/>
          <p:cNvSpPr/>
          <p:nvPr/>
        </p:nvSpPr>
        <p:spPr>
          <a:xfrm>
            <a:off x="10771632" y="5440680"/>
            <a:ext cx="237744" cy="237744"/>
          </a:xfrm>
          <a:prstGeom prst="ellipse">
            <a:avLst/>
          </a:prstGeom>
          <a:solidFill>
            <a:srgbClr val="C3D3DE"/>
          </a:solidFill>
          <a:ln w="12700">
            <a:solidFill>
              <a:srgbClr val="333333"/>
            </a:solidFill>
            <a:prstDash val="solid"/>
          </a:ln>
        </p:spPr>
        <p:txBody>
          <a:bodyPr/>
          <a:lstStyle/>
          <a:p>
            <a:endParaRPr lang="en-US"/>
          </a:p>
        </p:txBody>
      </p:sp>
      <p:sp>
        <p:nvSpPr>
          <p:cNvPr id="4" name="Shape 2"/>
          <p:cNvSpPr/>
          <p:nvPr/>
        </p:nvSpPr>
        <p:spPr>
          <a:xfrm>
            <a:off x="11100816" y="5394960"/>
            <a:ext cx="329184" cy="329184"/>
          </a:xfrm>
          <a:prstGeom prst="ellipse">
            <a:avLst/>
          </a:prstGeom>
          <a:solidFill>
            <a:srgbClr val="E4A11B"/>
          </a:solidFill>
          <a:ln w="12700">
            <a:solidFill>
              <a:srgbClr val="333333"/>
            </a:solidFill>
            <a:prstDash val="solid"/>
          </a:ln>
        </p:spPr>
        <p:txBody>
          <a:bodyPr/>
          <a:lstStyle/>
          <a:p>
            <a:endParaRPr lang="en-US"/>
          </a:p>
        </p:txBody>
      </p:sp>
      <p:sp>
        <p:nvSpPr>
          <p:cNvPr id="5" name="Text 3"/>
          <p:cNvSpPr txBox="1"/>
          <p:nvPr/>
        </p:nvSpPr>
        <p:spPr>
          <a:xfrm>
            <a:off x="822960" y="2057400"/>
            <a:ext cx="1554480" cy="1005840"/>
          </a:xfrm>
          <a:prstGeom prst="rect">
            <a:avLst/>
          </a:prstGeom>
          <a:noFill/>
          <a:ln/>
        </p:spPr>
        <p:txBody>
          <a:bodyPr wrap="square" lIns="0" tIns="0" rIns="0" bIns="0" rtlCol="0" anchor="ctr"/>
          <a:lstStyle/>
          <a:p>
            <a:pPr marL="0" indent="0">
              <a:buNone/>
            </a:pPr>
            <a:r>
              <a:rPr lang="en-US" sz="6600" b="1" dirty="0">
                <a:solidFill>
                  <a:srgbClr val="E4A11B"/>
                </a:solidFill>
                <a:latin typeface="Cambria" pitchFamily="34" charset="0"/>
                <a:ea typeface="Cambria" pitchFamily="34" charset="-122"/>
                <a:cs typeface="Cambria" pitchFamily="34" charset="-120"/>
              </a:rPr>
              <a:t>5</a:t>
            </a:r>
            <a:endParaRPr lang="en-US" sz="6600" dirty="0"/>
          </a:p>
        </p:txBody>
      </p:sp>
      <p:sp>
        <p:nvSpPr>
          <p:cNvPr id="6" name="Text 4"/>
          <p:cNvSpPr txBox="1"/>
          <p:nvPr/>
        </p:nvSpPr>
        <p:spPr>
          <a:xfrm>
            <a:off x="2377440" y="2212848"/>
            <a:ext cx="8686800" cy="822960"/>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Appraisal and synthesis</a:t>
            </a:r>
            <a:endParaRPr lang="en-US" sz="3300" dirty="0"/>
          </a:p>
        </p:txBody>
      </p:sp>
      <p:sp>
        <p:nvSpPr>
          <p:cNvPr id="7" name="Text 5"/>
          <p:cNvSpPr txBox="1"/>
          <p:nvPr/>
        </p:nvSpPr>
        <p:spPr>
          <a:xfrm>
            <a:off x="2432304" y="3072384"/>
            <a:ext cx="8503920" cy="731520"/>
          </a:xfrm>
          <a:prstGeom prst="rect">
            <a:avLst/>
          </a:prstGeom>
          <a:noFill/>
          <a:ln/>
        </p:spPr>
        <p:txBody>
          <a:bodyPr wrap="square" lIns="0" tIns="0" rIns="0" bIns="0" rtlCol="0" anchor="ctr"/>
          <a:lstStyle/>
          <a:p>
            <a:pPr marL="0" indent="0">
              <a:buNone/>
            </a:pPr>
            <a:r>
              <a:rPr lang="en-US" sz="1500" dirty="0">
                <a:solidFill>
                  <a:srgbClr val="C3D3DE"/>
                </a:solidFill>
                <a:latin typeface="Calibri" pitchFamily="34" charset="0"/>
                <a:ea typeface="Calibri" pitchFamily="34" charset="-122"/>
                <a:cs typeface="Calibri" pitchFamily="34" charset="-120"/>
              </a:rPr>
              <a:t>The two papers together</a:t>
            </a:r>
            <a:endParaRPr lang="en-US" sz="1500" dirty="0"/>
          </a:p>
        </p:txBody>
      </p:sp>
      <p:sp>
        <p:nvSpPr>
          <p:cNvPr id="8" name="Text 6"/>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93A5B4"/>
                </a:solidFill>
                <a:latin typeface="Calibri" pitchFamily="34" charset="0"/>
                <a:ea typeface="Calibri" pitchFamily="34" charset="-122"/>
                <a:cs typeface="Calibri" pitchFamily="34" charset="-120"/>
              </a:rPr>
              <a:t>LTU · Gong et al. 2024  |  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027664" y="516636"/>
            <a:ext cx="82296" cy="82296"/>
          </a:xfrm>
          <a:prstGeom prst="ellipse">
            <a:avLst/>
          </a:prstGeom>
          <a:solidFill>
            <a:srgbClr val="2F5D8C"/>
          </a:solidFill>
          <a:ln w="12700">
            <a:solidFill>
              <a:srgbClr val="333333"/>
            </a:solidFill>
            <a:prstDash val="solid"/>
          </a:ln>
        </p:spPr>
        <p:txBody>
          <a:bodyPr/>
          <a:lstStyle/>
          <a:p>
            <a:endParaRPr lang="en-US"/>
          </a:p>
        </p:txBody>
      </p:sp>
      <p:sp>
        <p:nvSpPr>
          <p:cNvPr id="3" name="Shape 1"/>
          <p:cNvSpPr/>
          <p:nvPr/>
        </p:nvSpPr>
        <p:spPr>
          <a:xfrm>
            <a:off x="11155680" y="498348"/>
            <a:ext cx="118872" cy="118872"/>
          </a:xfrm>
          <a:prstGeom prst="ellipse">
            <a:avLst/>
          </a:prstGeom>
          <a:solidFill>
            <a:srgbClr val="2F5D8C"/>
          </a:solidFill>
          <a:ln w="12700">
            <a:solidFill>
              <a:srgbClr val="333333"/>
            </a:solidFill>
            <a:prstDash val="solid"/>
          </a:ln>
        </p:spPr>
        <p:txBody>
          <a:bodyPr/>
          <a:lstStyle/>
          <a:p>
            <a:endParaRPr lang="en-US"/>
          </a:p>
        </p:txBody>
      </p:sp>
      <p:sp>
        <p:nvSpPr>
          <p:cNvPr id="4" name="Shape 2"/>
          <p:cNvSpPr/>
          <p:nvPr/>
        </p:nvSpPr>
        <p:spPr>
          <a:xfrm>
            <a:off x="11320272" y="475488"/>
            <a:ext cx="164592" cy="164592"/>
          </a:xfrm>
          <a:prstGeom prst="ellipse">
            <a:avLst/>
          </a:prstGeom>
          <a:solidFill>
            <a:srgbClr val="E4A11B"/>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141C24"/>
                </a:solidFill>
                <a:latin typeface="Cambria" pitchFamily="34" charset="0"/>
                <a:ea typeface="Cambria" pitchFamily="34" charset="-122"/>
                <a:cs typeface="Cambria" pitchFamily="34" charset="-120"/>
              </a:rPr>
              <a:t>Critical appraisal</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56646F"/>
                </a:solidFill>
                <a:latin typeface="Calibri" pitchFamily="34" charset="0"/>
                <a:ea typeface="Calibri" pitchFamily="34" charset="-122"/>
                <a:cs typeface="Calibri" pitchFamily="34" charset="-120"/>
              </a:rPr>
              <a:t>What the design buys, and what it costs</a:t>
            </a:r>
            <a:endParaRPr lang="en-US" sz="1350" dirty="0"/>
          </a:p>
        </p:txBody>
      </p:sp>
      <p:sp>
        <p:nvSpPr>
          <p:cNvPr id="7" name="Text 5"/>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93A5B4"/>
                </a:solidFill>
                <a:latin typeface="Calibri" pitchFamily="34" charset="0"/>
                <a:ea typeface="Calibri" pitchFamily="34" charset="-122"/>
                <a:cs typeface="Calibri" pitchFamily="34" charset="-120"/>
              </a:rPr>
              <a:t>LTU · Gong et al. 2024  |  21</a:t>
            </a:r>
            <a:endParaRPr lang="en-US" sz="900" dirty="0"/>
          </a:p>
        </p:txBody>
      </p:sp>
      <p:sp>
        <p:nvSpPr>
          <p:cNvPr id="8" name="Shape 6"/>
          <p:cNvSpPr/>
          <p:nvPr/>
        </p:nvSpPr>
        <p:spPr>
          <a:xfrm>
            <a:off x="566928" y="1554480"/>
            <a:ext cx="5440680" cy="4498848"/>
          </a:xfrm>
          <a:prstGeom prst="roundRect">
            <a:avLst>
              <a:gd name="adj" fmla="val 1220"/>
            </a:avLst>
          </a:prstGeom>
          <a:solidFill>
            <a:srgbClr val="F0F3F7"/>
          </a:solidFill>
          <a:ln w="12700">
            <a:solidFill>
              <a:srgbClr val="DFE6EE"/>
            </a:solidFill>
            <a:prstDash val="solid"/>
          </a:ln>
        </p:spPr>
        <p:txBody>
          <a:bodyPr/>
          <a:lstStyle/>
          <a:p>
            <a:endParaRPr lang="en-US"/>
          </a:p>
        </p:txBody>
      </p:sp>
      <p:sp>
        <p:nvSpPr>
          <p:cNvPr id="9" name="Shape 7"/>
          <p:cNvSpPr/>
          <p:nvPr/>
        </p:nvSpPr>
        <p:spPr>
          <a:xfrm>
            <a:off x="786384" y="1847088"/>
            <a:ext cx="109728" cy="109728"/>
          </a:xfrm>
          <a:prstGeom prst="ellipse">
            <a:avLst/>
          </a:prstGeom>
          <a:solidFill>
            <a:srgbClr val="2F5D8C"/>
          </a:solidFill>
          <a:ln w="12700">
            <a:solidFill>
              <a:srgbClr val="333333"/>
            </a:solidFill>
            <a:prstDash val="solid"/>
          </a:ln>
        </p:spPr>
        <p:txBody>
          <a:bodyPr/>
          <a:lstStyle/>
          <a:p>
            <a:endParaRPr lang="en-US"/>
          </a:p>
        </p:txBody>
      </p:sp>
      <p:sp>
        <p:nvSpPr>
          <p:cNvPr id="10" name="Text 8"/>
          <p:cNvSpPr txBox="1"/>
          <p:nvPr/>
        </p:nvSpPr>
        <p:spPr>
          <a:xfrm>
            <a:off x="987552" y="1719072"/>
            <a:ext cx="4800600" cy="365760"/>
          </a:xfrm>
          <a:prstGeom prst="rect">
            <a:avLst/>
          </a:prstGeom>
          <a:noFill/>
          <a:ln/>
        </p:spPr>
        <p:txBody>
          <a:bodyPr wrap="square" lIns="0" tIns="0" rIns="0" bIns="0" rtlCol="0" anchor="ctr"/>
          <a:lstStyle/>
          <a:p>
            <a:pPr marL="0" indent="0">
              <a:buNone/>
            </a:pPr>
            <a:r>
              <a:rPr lang="en-US" sz="1700" b="1" dirty="0">
                <a:solidFill>
                  <a:srgbClr val="141C24"/>
                </a:solidFill>
                <a:latin typeface="Cambria" pitchFamily="34" charset="0"/>
                <a:ea typeface="Cambria" pitchFamily="34" charset="-122"/>
                <a:cs typeface="Cambria" pitchFamily="34" charset="-120"/>
              </a:rPr>
              <a:t>Strengths</a:t>
            </a:r>
            <a:endParaRPr lang="en-US" sz="1700" dirty="0"/>
          </a:p>
        </p:txBody>
      </p:sp>
      <p:sp>
        <p:nvSpPr>
          <p:cNvPr id="11" name="Text 9"/>
          <p:cNvSpPr txBox="1"/>
          <p:nvPr/>
        </p:nvSpPr>
        <p:spPr>
          <a:xfrm>
            <a:off x="822960" y="2157984"/>
            <a:ext cx="4928616" cy="3712464"/>
          </a:xfrm>
          <a:prstGeom prst="rect">
            <a:avLst/>
          </a:prstGeom>
          <a:noFill/>
          <a:ln/>
        </p:spPr>
        <p:txBody>
          <a:bodyPr wrap="square" lIns="0" tIns="0" rIns="0" bIns="0" rtlCol="0" anchor="t"/>
          <a:lstStyle/>
          <a:p>
            <a:pPr marL="0" indent="0">
              <a:lnSpc>
                <a:spcPct val="108000"/>
              </a:lnSpc>
              <a:buNone/>
            </a:pPr>
            <a:r>
              <a:rPr lang="en-US" sz="1220" dirty="0">
                <a:solidFill>
                  <a:srgbClr val="27323C"/>
                </a:solidFill>
                <a:latin typeface="Calibri" pitchFamily="34" charset="0"/>
                <a:ea typeface="Calibri" pitchFamily="34" charset="-122"/>
                <a:cs typeface="Calibri" pitchFamily="34" charset="-120"/>
              </a:rPr>
              <a:t>Audio Instruction Generation is a genuinely reusable idea, and the design detail that matters — metadata is used to generate and then discarded — is what forces the model to learn from audio.</a:t>
            </a:r>
            <a:endParaRPr lang="en-US" sz="1220" dirty="0"/>
          </a:p>
          <a:p>
            <a:pPr marL="0" indent="0">
              <a:lnSpc>
                <a:spcPct val="108000"/>
              </a:lnSpc>
              <a:buNone/>
            </a:pPr>
            <a:endParaRPr lang="en-US" sz="1220" dirty="0"/>
          </a:p>
          <a:p>
            <a:pPr marL="0" indent="0">
              <a:lnSpc>
                <a:spcPct val="108000"/>
              </a:lnSpc>
              <a:buNone/>
            </a:pPr>
            <a:r>
              <a:rPr lang="en-US" sz="1220" dirty="0">
                <a:solidFill>
                  <a:srgbClr val="27323C"/>
                </a:solidFill>
                <a:latin typeface="Calibri" pitchFamily="34" charset="0"/>
                <a:ea typeface="Calibri" pitchFamily="34" charset="-122"/>
                <a:cs typeface="Calibri" pitchFamily="34" charset="-120"/>
              </a:rPr>
              <a:t>Ablations on every stated design decision, with iteration counts held constant, and effects of 12 to 27 points.</a:t>
            </a:r>
            <a:endParaRPr lang="en-US" sz="1220" dirty="0"/>
          </a:p>
          <a:p>
            <a:pPr marL="0" indent="0">
              <a:lnSpc>
                <a:spcPct val="108000"/>
              </a:lnSpc>
              <a:buNone/>
            </a:pPr>
            <a:endParaRPr lang="en-US" sz="1220" dirty="0"/>
          </a:p>
          <a:p>
            <a:pPr marL="0" indent="0">
              <a:lnSpc>
                <a:spcPct val="108000"/>
              </a:lnSpc>
              <a:buNone/>
            </a:pPr>
            <a:r>
              <a:rPr lang="en-US" sz="1220" dirty="0">
                <a:solidFill>
                  <a:srgbClr val="27323C"/>
                </a:solidFill>
                <a:latin typeface="Calibri" pitchFamily="34" charset="0"/>
                <a:ea typeface="Calibri" pitchFamily="34" charset="-122"/>
                <a:cs typeface="Calibri" pitchFamily="34" charset="-120"/>
              </a:rPr>
              <a:t>A real human evaluation with 476 independent evaluators, plus a separate automatic check.</a:t>
            </a:r>
            <a:endParaRPr lang="en-US" sz="1220" dirty="0"/>
          </a:p>
          <a:p>
            <a:pPr marL="0" indent="0">
              <a:lnSpc>
                <a:spcPct val="108000"/>
              </a:lnSpc>
              <a:buNone/>
            </a:pPr>
            <a:endParaRPr lang="en-US" sz="1220" dirty="0"/>
          </a:p>
          <a:p>
            <a:pPr marL="0" indent="0">
              <a:lnSpc>
                <a:spcPct val="108000"/>
              </a:lnSpc>
              <a:buNone/>
            </a:pPr>
            <a:r>
              <a:rPr lang="en-US" sz="1220" dirty="0">
                <a:solidFill>
                  <a:srgbClr val="27323C"/>
                </a:solidFill>
                <a:latin typeface="Calibri" pitchFamily="34" charset="0"/>
                <a:ea typeface="Calibri" pitchFamily="34" charset="-122"/>
                <a:cs typeface="Calibri" pitchFamily="34" charset="-120"/>
              </a:rPr>
              <a:t>Closed-ended results reported first and honestly, with two caveats against the authors' own numbers.</a:t>
            </a:r>
            <a:endParaRPr lang="en-US" sz="1220" dirty="0"/>
          </a:p>
          <a:p>
            <a:pPr marL="0" indent="0">
              <a:lnSpc>
                <a:spcPct val="108000"/>
              </a:lnSpc>
              <a:buNone/>
            </a:pPr>
            <a:endParaRPr lang="en-US" sz="1220" dirty="0"/>
          </a:p>
          <a:p>
            <a:pPr marL="0" indent="0">
              <a:lnSpc>
                <a:spcPct val="108000"/>
              </a:lnSpc>
              <a:buNone/>
            </a:pPr>
            <a:r>
              <a:rPr lang="en-US" sz="1220" dirty="0">
                <a:solidFill>
                  <a:srgbClr val="27323C"/>
                </a:solidFill>
                <a:latin typeface="Calibri" pitchFamily="34" charset="0"/>
                <a:ea typeface="Calibri" pitchFamily="34" charset="-122"/>
                <a:cs typeface="Calibri" pitchFamily="34" charset="-120"/>
              </a:rPr>
              <a:t>Unanswerable questions kept rather than filtered, with a measured effect on refusal rate.</a:t>
            </a:r>
            <a:endParaRPr lang="en-US" sz="1220" dirty="0"/>
          </a:p>
          <a:p>
            <a:pPr marL="0" indent="0">
              <a:lnSpc>
                <a:spcPct val="108000"/>
              </a:lnSpc>
              <a:buNone/>
            </a:pPr>
            <a:endParaRPr lang="en-US" sz="1220" dirty="0"/>
          </a:p>
          <a:p>
            <a:pPr marL="0" indent="0">
              <a:lnSpc>
                <a:spcPct val="108000"/>
              </a:lnSpc>
              <a:buNone/>
            </a:pPr>
            <a:r>
              <a:rPr lang="en-US" sz="1220" dirty="0">
                <a:solidFill>
                  <a:srgbClr val="27323C"/>
                </a:solidFill>
                <a:latin typeface="Calibri" pitchFamily="34" charset="0"/>
                <a:ea typeface="Calibri" pitchFamily="34" charset="-122"/>
                <a:cs typeface="Calibri" pitchFamily="34" charset="-120"/>
              </a:rPr>
              <a:t>Code, dataset and pretrained models released; trained on four consumer GPUs in three days.</a:t>
            </a:r>
            <a:endParaRPr lang="en-US" sz="1220" dirty="0"/>
          </a:p>
        </p:txBody>
      </p:sp>
      <p:sp>
        <p:nvSpPr>
          <p:cNvPr id="12" name="Shape 10"/>
          <p:cNvSpPr/>
          <p:nvPr/>
        </p:nvSpPr>
        <p:spPr>
          <a:xfrm>
            <a:off x="6190488" y="1554480"/>
            <a:ext cx="5440680" cy="4498848"/>
          </a:xfrm>
          <a:prstGeom prst="roundRect">
            <a:avLst>
              <a:gd name="adj" fmla="val 1220"/>
            </a:avLst>
          </a:prstGeom>
          <a:solidFill>
            <a:srgbClr val="F0F3F7"/>
          </a:solidFill>
          <a:ln w="12700">
            <a:solidFill>
              <a:srgbClr val="DFE6EE"/>
            </a:solidFill>
            <a:prstDash val="solid"/>
          </a:ln>
        </p:spPr>
        <p:txBody>
          <a:bodyPr/>
          <a:lstStyle/>
          <a:p>
            <a:endParaRPr lang="en-US"/>
          </a:p>
        </p:txBody>
      </p:sp>
      <p:sp>
        <p:nvSpPr>
          <p:cNvPr id="13" name="Shape 11"/>
          <p:cNvSpPr/>
          <p:nvPr/>
        </p:nvSpPr>
        <p:spPr>
          <a:xfrm>
            <a:off x="6409944" y="1847088"/>
            <a:ext cx="109728" cy="109728"/>
          </a:xfrm>
          <a:prstGeom prst="ellipse">
            <a:avLst/>
          </a:prstGeom>
          <a:solidFill>
            <a:srgbClr val="E4A11B"/>
          </a:solidFill>
          <a:ln w="12700">
            <a:solidFill>
              <a:srgbClr val="333333"/>
            </a:solidFill>
            <a:prstDash val="solid"/>
          </a:ln>
        </p:spPr>
        <p:txBody>
          <a:bodyPr/>
          <a:lstStyle/>
          <a:p>
            <a:endParaRPr lang="en-US"/>
          </a:p>
        </p:txBody>
      </p:sp>
      <p:sp>
        <p:nvSpPr>
          <p:cNvPr id="14" name="Text 12"/>
          <p:cNvSpPr txBox="1"/>
          <p:nvPr/>
        </p:nvSpPr>
        <p:spPr>
          <a:xfrm>
            <a:off x="6611112" y="1719072"/>
            <a:ext cx="4800600" cy="365760"/>
          </a:xfrm>
          <a:prstGeom prst="rect">
            <a:avLst/>
          </a:prstGeom>
          <a:noFill/>
          <a:ln/>
        </p:spPr>
        <p:txBody>
          <a:bodyPr wrap="square" lIns="0" tIns="0" rIns="0" bIns="0" rtlCol="0" anchor="ctr"/>
          <a:lstStyle/>
          <a:p>
            <a:pPr marL="0" indent="0">
              <a:buNone/>
            </a:pPr>
            <a:r>
              <a:rPr lang="en-US" sz="1700" b="1" dirty="0">
                <a:solidFill>
                  <a:srgbClr val="141C24"/>
                </a:solidFill>
                <a:latin typeface="Cambria" pitchFamily="34" charset="0"/>
                <a:ea typeface="Cambria" pitchFamily="34" charset="-122"/>
                <a:cs typeface="Cambria" pitchFamily="34" charset="-120"/>
              </a:rPr>
              <a:t>Limitations</a:t>
            </a:r>
            <a:endParaRPr lang="en-US" sz="1700" dirty="0"/>
          </a:p>
        </p:txBody>
      </p:sp>
      <p:sp>
        <p:nvSpPr>
          <p:cNvPr id="15" name="Text 13"/>
          <p:cNvSpPr txBox="1"/>
          <p:nvPr/>
        </p:nvSpPr>
        <p:spPr>
          <a:xfrm>
            <a:off x="6446520" y="2157984"/>
            <a:ext cx="4928616" cy="3712464"/>
          </a:xfrm>
          <a:prstGeom prst="rect">
            <a:avLst/>
          </a:prstGeom>
          <a:noFill/>
          <a:ln/>
        </p:spPr>
        <p:txBody>
          <a:bodyPr wrap="square" lIns="0" tIns="0" rIns="0" bIns="0" rtlCol="0" anchor="t"/>
          <a:lstStyle/>
          <a:p>
            <a:pPr marL="0" indent="0">
              <a:lnSpc>
                <a:spcPct val="108000"/>
              </a:lnSpc>
              <a:buNone/>
            </a:pPr>
            <a:r>
              <a:rPr lang="en-US" sz="1220" dirty="0">
                <a:solidFill>
                  <a:srgbClr val="27323C"/>
                </a:solidFill>
                <a:latin typeface="Calibri" pitchFamily="34" charset="0"/>
                <a:ea typeface="Calibri" pitchFamily="34" charset="-122"/>
                <a:cs typeface="Calibri" pitchFamily="34" charset="-120"/>
              </a:rPr>
              <a:t>No speech understanding at all — the paper states plainly it is not a speech recognition model. The successor LTU-AS adds it.</a:t>
            </a:r>
            <a:endParaRPr lang="en-US" sz="1220" dirty="0"/>
          </a:p>
          <a:p>
            <a:pPr marL="0" indent="0">
              <a:lnSpc>
                <a:spcPct val="108000"/>
              </a:lnSpc>
              <a:buNone/>
            </a:pPr>
            <a:endParaRPr lang="en-US" sz="1220" dirty="0"/>
          </a:p>
          <a:p>
            <a:pPr marL="0" indent="0">
              <a:lnSpc>
                <a:spcPct val="108000"/>
              </a:lnSpc>
              <a:buNone/>
            </a:pPr>
            <a:r>
              <a:rPr lang="en-US" sz="1220" dirty="0">
                <a:solidFill>
                  <a:srgbClr val="27323C"/>
                </a:solidFill>
                <a:latin typeface="Calibri" pitchFamily="34" charset="0"/>
                <a:ea typeface="Calibri" pitchFamily="34" charset="-122"/>
                <a:cs typeface="Calibri" pitchFamily="34" charset="-120"/>
              </a:rPr>
              <a:t>The 'preferred over human answers' figure compares against quick Mechanical Turk responses, and the GPT-4 comparison is against a model that cannot hear.</a:t>
            </a:r>
            <a:endParaRPr lang="en-US" sz="1220" dirty="0"/>
          </a:p>
          <a:p>
            <a:pPr marL="0" indent="0">
              <a:lnSpc>
                <a:spcPct val="108000"/>
              </a:lnSpc>
              <a:buNone/>
            </a:pPr>
            <a:endParaRPr lang="en-US" sz="1220" dirty="0"/>
          </a:p>
          <a:p>
            <a:pPr marL="0" indent="0">
              <a:lnSpc>
                <a:spcPct val="108000"/>
              </a:lnSpc>
              <a:buNone/>
            </a:pPr>
            <a:r>
              <a:rPr lang="en-US" sz="1220" dirty="0">
                <a:solidFill>
                  <a:srgbClr val="27323C"/>
                </a:solidFill>
                <a:latin typeface="Calibri" pitchFamily="34" charset="0"/>
                <a:ea typeface="Calibri" pitchFamily="34" charset="-122"/>
                <a:cs typeface="Calibri" pitchFamily="34" charset="-120"/>
              </a:rPr>
              <a:t>3.2 Hz audio token rate limits fine-grained temporal reasoning, as the authors note.</a:t>
            </a:r>
            <a:endParaRPr lang="en-US" sz="1220" dirty="0"/>
          </a:p>
          <a:p>
            <a:pPr marL="0" indent="0">
              <a:lnSpc>
                <a:spcPct val="108000"/>
              </a:lnSpc>
              <a:buNone/>
            </a:pPr>
            <a:endParaRPr lang="en-US" sz="1220" dirty="0"/>
          </a:p>
          <a:p>
            <a:pPr marL="0" indent="0">
              <a:lnSpc>
                <a:spcPct val="108000"/>
              </a:lnSpc>
              <a:buNone/>
            </a:pPr>
            <a:r>
              <a:rPr lang="en-US" sz="1220" dirty="0">
                <a:solidFill>
                  <a:srgbClr val="27323C"/>
                </a:solidFill>
                <a:latin typeface="Calibri" pitchFamily="34" charset="0"/>
                <a:ea typeface="Calibri" pitchFamily="34" charset="-122"/>
                <a:cs typeface="Calibri" pitchFamily="34" charset="-120"/>
              </a:rPr>
              <a:t>Training answers reflect GPT-3.5's beliefs about what sounds are like, uniformly applied per class.</a:t>
            </a:r>
            <a:endParaRPr lang="en-US" sz="1220" dirty="0"/>
          </a:p>
          <a:p>
            <a:pPr marL="0" indent="0">
              <a:lnSpc>
                <a:spcPct val="108000"/>
              </a:lnSpc>
              <a:buNone/>
            </a:pPr>
            <a:endParaRPr lang="en-US" sz="1220" dirty="0"/>
          </a:p>
          <a:p>
            <a:pPr marL="0" indent="0">
              <a:lnSpc>
                <a:spcPct val="108000"/>
              </a:lnSpc>
              <a:buNone/>
            </a:pPr>
            <a:r>
              <a:rPr lang="en-US" sz="1220" dirty="0">
                <a:solidFill>
                  <a:srgbClr val="27323C"/>
                </a:solidFill>
                <a:latin typeface="Calibri" pitchFamily="34" charset="0"/>
                <a:ea typeface="Calibri" pitchFamily="34" charset="-122"/>
                <a:cs typeface="Calibri" pitchFamily="34" charset="-120"/>
              </a:rPr>
              <a:t>Classification is well behind supervised specialists — 50.3 against 74.3 average.</a:t>
            </a:r>
            <a:endParaRPr lang="en-US" sz="1220" dirty="0"/>
          </a:p>
          <a:p>
            <a:pPr marL="0" indent="0">
              <a:lnSpc>
                <a:spcPct val="108000"/>
              </a:lnSpc>
              <a:buNone/>
            </a:pPr>
            <a:endParaRPr lang="en-US" sz="1220" dirty="0"/>
          </a:p>
          <a:p>
            <a:pPr marL="0" indent="0">
              <a:lnSpc>
                <a:spcPct val="108000"/>
              </a:lnSpc>
              <a:buNone/>
            </a:pPr>
            <a:r>
              <a:rPr lang="en-US" sz="1220" dirty="0">
                <a:solidFill>
                  <a:srgbClr val="27323C"/>
                </a:solidFill>
                <a:latin typeface="Calibri" pitchFamily="34" charset="0"/>
                <a:ea typeface="Calibri" pitchFamily="34" charset="-122"/>
                <a:cs typeface="Calibri" pitchFamily="34" charset="-120"/>
              </a:rPr>
              <a:t>Hallucination is mitigated, not eliminated, and the refusal-rate measurement is acknowledged as an estimate.</a:t>
            </a:r>
            <a:endParaRPr lang="en-US" sz="122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027664" y="516636"/>
            <a:ext cx="82296" cy="82296"/>
          </a:xfrm>
          <a:prstGeom prst="ellipse">
            <a:avLst/>
          </a:prstGeom>
          <a:solidFill>
            <a:srgbClr val="2F5D8C"/>
          </a:solidFill>
          <a:ln w="12700">
            <a:solidFill>
              <a:srgbClr val="333333"/>
            </a:solidFill>
            <a:prstDash val="solid"/>
          </a:ln>
        </p:spPr>
        <p:txBody>
          <a:bodyPr/>
          <a:lstStyle/>
          <a:p>
            <a:endParaRPr lang="en-US"/>
          </a:p>
        </p:txBody>
      </p:sp>
      <p:sp>
        <p:nvSpPr>
          <p:cNvPr id="3" name="Shape 1"/>
          <p:cNvSpPr/>
          <p:nvPr/>
        </p:nvSpPr>
        <p:spPr>
          <a:xfrm>
            <a:off x="11155680" y="498348"/>
            <a:ext cx="118872" cy="118872"/>
          </a:xfrm>
          <a:prstGeom prst="ellipse">
            <a:avLst/>
          </a:prstGeom>
          <a:solidFill>
            <a:srgbClr val="2F5D8C"/>
          </a:solidFill>
          <a:ln w="12700">
            <a:solidFill>
              <a:srgbClr val="333333"/>
            </a:solidFill>
            <a:prstDash val="solid"/>
          </a:ln>
        </p:spPr>
        <p:txBody>
          <a:bodyPr/>
          <a:lstStyle/>
          <a:p>
            <a:endParaRPr lang="en-US"/>
          </a:p>
        </p:txBody>
      </p:sp>
      <p:sp>
        <p:nvSpPr>
          <p:cNvPr id="4" name="Shape 2"/>
          <p:cNvSpPr/>
          <p:nvPr/>
        </p:nvSpPr>
        <p:spPr>
          <a:xfrm>
            <a:off x="11320272" y="475488"/>
            <a:ext cx="164592" cy="164592"/>
          </a:xfrm>
          <a:prstGeom prst="ellipse">
            <a:avLst/>
          </a:prstGeom>
          <a:solidFill>
            <a:srgbClr val="E4A11B"/>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141C24"/>
                </a:solidFill>
                <a:latin typeface="Cambria" pitchFamily="34" charset="0"/>
                <a:ea typeface="Cambria" pitchFamily="34" charset="-122"/>
                <a:cs typeface="Cambria" pitchFamily="34" charset="-120"/>
              </a:rPr>
              <a:t>Qwen-Audio and LTU side by side</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56646F"/>
                </a:solidFill>
                <a:latin typeface="Calibri" pitchFamily="34" charset="0"/>
                <a:ea typeface="Calibri" pitchFamily="34" charset="-122"/>
                <a:cs typeface="Calibri" pitchFamily="34" charset="-120"/>
              </a:rPr>
              <a:t>Perception breadth against understanding depth</a:t>
            </a:r>
            <a:endParaRPr lang="en-US" sz="1350" dirty="0"/>
          </a:p>
        </p:txBody>
      </p:sp>
      <p:sp>
        <p:nvSpPr>
          <p:cNvPr id="7" name="Text 5"/>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93A5B4"/>
                </a:solidFill>
                <a:latin typeface="Calibri" pitchFamily="34" charset="0"/>
                <a:ea typeface="Calibri" pitchFamily="34" charset="-122"/>
                <a:cs typeface="Calibri" pitchFamily="34" charset="-120"/>
              </a:rPr>
              <a:t>LTU · Gong et al. 2024  |  22</a:t>
            </a:r>
            <a:endParaRPr lang="en-US" sz="900" dirty="0"/>
          </a:p>
        </p:txBody>
      </p:sp>
      <p:sp>
        <p:nvSpPr>
          <p:cNvPr id="8" name="Text 6"/>
          <p:cNvSpPr txBox="1"/>
          <p:nvPr/>
        </p:nvSpPr>
        <p:spPr>
          <a:xfrm>
            <a:off x="4206240" y="1335024"/>
            <a:ext cx="3566160" cy="274320"/>
          </a:xfrm>
          <a:prstGeom prst="rect">
            <a:avLst/>
          </a:prstGeom>
          <a:noFill/>
          <a:ln/>
        </p:spPr>
        <p:txBody>
          <a:bodyPr wrap="square" lIns="0" tIns="0" rIns="0" bIns="0" rtlCol="0" anchor="ctr"/>
          <a:lstStyle/>
          <a:p>
            <a:pPr marL="0" indent="0">
              <a:buNone/>
            </a:pPr>
            <a:r>
              <a:rPr lang="en-US" sz="1250" b="1" dirty="0">
                <a:solidFill>
                  <a:srgbClr val="2F5D8C"/>
                </a:solidFill>
                <a:latin typeface="Calibri" pitchFamily="34" charset="0"/>
                <a:ea typeface="Calibri" pitchFamily="34" charset="-122"/>
                <a:cs typeface="Calibri" pitchFamily="34" charset="-120"/>
              </a:rPr>
              <a:t>Qwen-Audio (2023)</a:t>
            </a:r>
            <a:endParaRPr lang="en-US" sz="1250" dirty="0"/>
          </a:p>
        </p:txBody>
      </p:sp>
      <p:sp>
        <p:nvSpPr>
          <p:cNvPr id="9" name="Text 7"/>
          <p:cNvSpPr txBox="1"/>
          <p:nvPr/>
        </p:nvSpPr>
        <p:spPr>
          <a:xfrm>
            <a:off x="7955280" y="1335024"/>
            <a:ext cx="3566160" cy="274320"/>
          </a:xfrm>
          <a:prstGeom prst="rect">
            <a:avLst/>
          </a:prstGeom>
          <a:noFill/>
          <a:ln/>
        </p:spPr>
        <p:txBody>
          <a:bodyPr wrap="square" lIns="0" tIns="0" rIns="0" bIns="0" rtlCol="0" anchor="ctr"/>
          <a:lstStyle/>
          <a:p>
            <a:pPr marL="0" indent="0">
              <a:buNone/>
            </a:pPr>
            <a:r>
              <a:rPr lang="en-US" sz="1250" b="1" dirty="0">
                <a:solidFill>
                  <a:srgbClr val="E4A11B"/>
                </a:solidFill>
                <a:latin typeface="Calibri" pitchFamily="34" charset="0"/>
                <a:ea typeface="Calibri" pitchFamily="34" charset="-122"/>
                <a:cs typeface="Calibri" pitchFamily="34" charset="-120"/>
              </a:rPr>
              <a:t>LTU (2024)</a:t>
            </a:r>
            <a:endParaRPr lang="en-US" sz="1250" dirty="0"/>
          </a:p>
        </p:txBody>
      </p:sp>
      <p:sp>
        <p:nvSpPr>
          <p:cNvPr id="10" name="Shape 8"/>
          <p:cNvSpPr/>
          <p:nvPr/>
        </p:nvSpPr>
        <p:spPr>
          <a:xfrm>
            <a:off x="566928" y="1627632"/>
            <a:ext cx="11064240" cy="402336"/>
          </a:xfrm>
          <a:prstGeom prst="roundRect">
            <a:avLst>
              <a:gd name="adj" fmla="val 4545"/>
            </a:avLst>
          </a:prstGeom>
          <a:solidFill>
            <a:srgbClr val="F0F3F7"/>
          </a:solidFill>
          <a:ln w="12700">
            <a:solidFill>
              <a:srgbClr val="E6ECF2"/>
            </a:solidFill>
            <a:prstDash val="solid"/>
          </a:ln>
        </p:spPr>
        <p:txBody>
          <a:bodyPr/>
          <a:lstStyle/>
          <a:p>
            <a:endParaRPr lang="en-US"/>
          </a:p>
        </p:txBody>
      </p:sp>
      <p:sp>
        <p:nvSpPr>
          <p:cNvPr id="11" name="Text 9"/>
          <p:cNvSpPr txBox="1"/>
          <p:nvPr/>
        </p:nvSpPr>
        <p:spPr>
          <a:xfrm>
            <a:off x="749808" y="1700784"/>
            <a:ext cx="3291840" cy="274320"/>
          </a:xfrm>
          <a:prstGeom prst="rect">
            <a:avLst/>
          </a:prstGeom>
          <a:noFill/>
          <a:ln/>
        </p:spPr>
        <p:txBody>
          <a:bodyPr wrap="square" lIns="0" tIns="0" rIns="0" bIns="0" rtlCol="0" anchor="ctr"/>
          <a:lstStyle/>
          <a:p>
            <a:pPr marL="0" indent="0">
              <a:buNone/>
            </a:pPr>
            <a:r>
              <a:rPr lang="en-US" sz="1130" b="1" dirty="0">
                <a:solidFill>
                  <a:srgbClr val="141C24"/>
                </a:solidFill>
                <a:latin typeface="Calibri" pitchFamily="34" charset="0"/>
                <a:ea typeface="Calibri" pitchFamily="34" charset="-122"/>
                <a:cs typeface="Calibri" pitchFamily="34" charset="-120"/>
              </a:rPr>
              <a:t>Audio encoder</a:t>
            </a:r>
            <a:endParaRPr lang="en-US" sz="1130" dirty="0"/>
          </a:p>
        </p:txBody>
      </p:sp>
      <p:sp>
        <p:nvSpPr>
          <p:cNvPr id="12" name="Text 10"/>
          <p:cNvSpPr txBox="1"/>
          <p:nvPr/>
        </p:nvSpPr>
        <p:spPr>
          <a:xfrm>
            <a:off x="4206240" y="1700784"/>
            <a:ext cx="3566160" cy="274320"/>
          </a:xfrm>
          <a:prstGeom prst="rect">
            <a:avLst/>
          </a:prstGeom>
          <a:noFill/>
          <a:ln/>
        </p:spPr>
        <p:txBody>
          <a:bodyPr wrap="square" lIns="0" tIns="0" rIns="0" bIns="0" rtlCol="0" anchor="ctr"/>
          <a:lstStyle/>
          <a:p>
            <a:pPr marL="0" indent="0">
              <a:buNone/>
            </a:pPr>
            <a:r>
              <a:rPr lang="en-US" sz="1130" dirty="0">
                <a:solidFill>
                  <a:srgbClr val="27323C"/>
                </a:solidFill>
                <a:latin typeface="Calibri" pitchFamily="34" charset="0"/>
                <a:ea typeface="Calibri" pitchFamily="34" charset="-122"/>
                <a:cs typeface="Calibri" pitchFamily="34" charset="-120"/>
              </a:rPr>
              <a:t>Whisper-large-v2, 640M, trained</a:t>
            </a:r>
            <a:endParaRPr lang="en-US" sz="1130" dirty="0"/>
          </a:p>
        </p:txBody>
      </p:sp>
      <p:sp>
        <p:nvSpPr>
          <p:cNvPr id="13" name="Text 11"/>
          <p:cNvSpPr txBox="1"/>
          <p:nvPr/>
        </p:nvSpPr>
        <p:spPr>
          <a:xfrm>
            <a:off x="7955280" y="1700784"/>
            <a:ext cx="3657600" cy="274320"/>
          </a:xfrm>
          <a:prstGeom prst="rect">
            <a:avLst/>
          </a:prstGeom>
          <a:noFill/>
          <a:ln/>
        </p:spPr>
        <p:txBody>
          <a:bodyPr wrap="square" lIns="0" tIns="0" rIns="0" bIns="0" rtlCol="0" anchor="ctr"/>
          <a:lstStyle/>
          <a:p>
            <a:pPr marL="0" indent="0">
              <a:buNone/>
            </a:pPr>
            <a:r>
              <a:rPr lang="en-US" sz="1130" dirty="0">
                <a:solidFill>
                  <a:srgbClr val="27323C"/>
                </a:solidFill>
                <a:latin typeface="Calibri" pitchFamily="34" charset="0"/>
                <a:ea typeface="Calibri" pitchFamily="34" charset="-122"/>
                <a:cs typeface="Calibri" pitchFamily="34" charset="-120"/>
              </a:rPr>
              <a:t>AST via CAV-MAE, trained</a:t>
            </a:r>
            <a:endParaRPr lang="en-US" sz="1130" dirty="0"/>
          </a:p>
        </p:txBody>
      </p:sp>
      <p:sp>
        <p:nvSpPr>
          <p:cNvPr id="14" name="Shape 12"/>
          <p:cNvSpPr/>
          <p:nvPr/>
        </p:nvSpPr>
        <p:spPr>
          <a:xfrm>
            <a:off x="566928" y="2066544"/>
            <a:ext cx="11064240" cy="402336"/>
          </a:xfrm>
          <a:prstGeom prst="roundRect">
            <a:avLst>
              <a:gd name="adj" fmla="val 4545"/>
            </a:avLst>
          </a:prstGeom>
          <a:solidFill>
            <a:srgbClr val="FFFFFF"/>
          </a:solidFill>
          <a:ln w="12700">
            <a:solidFill>
              <a:srgbClr val="E6ECF2"/>
            </a:solidFill>
            <a:prstDash val="solid"/>
          </a:ln>
        </p:spPr>
        <p:txBody>
          <a:bodyPr/>
          <a:lstStyle/>
          <a:p>
            <a:endParaRPr lang="en-US"/>
          </a:p>
        </p:txBody>
      </p:sp>
      <p:sp>
        <p:nvSpPr>
          <p:cNvPr id="15" name="Text 13"/>
          <p:cNvSpPr txBox="1"/>
          <p:nvPr/>
        </p:nvSpPr>
        <p:spPr>
          <a:xfrm>
            <a:off x="749808" y="2139696"/>
            <a:ext cx="3291840" cy="274320"/>
          </a:xfrm>
          <a:prstGeom prst="rect">
            <a:avLst/>
          </a:prstGeom>
          <a:noFill/>
          <a:ln/>
        </p:spPr>
        <p:txBody>
          <a:bodyPr wrap="square" lIns="0" tIns="0" rIns="0" bIns="0" rtlCol="0" anchor="ctr"/>
          <a:lstStyle/>
          <a:p>
            <a:pPr marL="0" indent="0">
              <a:buNone/>
            </a:pPr>
            <a:r>
              <a:rPr lang="en-US" sz="1130" b="1" dirty="0">
                <a:solidFill>
                  <a:srgbClr val="141C24"/>
                </a:solidFill>
                <a:latin typeface="Calibri" pitchFamily="34" charset="0"/>
                <a:ea typeface="Calibri" pitchFamily="34" charset="-122"/>
                <a:cs typeface="Calibri" pitchFamily="34" charset="-120"/>
              </a:rPr>
              <a:t>Language model</a:t>
            </a:r>
            <a:endParaRPr lang="en-US" sz="1130" dirty="0"/>
          </a:p>
        </p:txBody>
      </p:sp>
      <p:sp>
        <p:nvSpPr>
          <p:cNvPr id="16" name="Text 14"/>
          <p:cNvSpPr txBox="1"/>
          <p:nvPr/>
        </p:nvSpPr>
        <p:spPr>
          <a:xfrm>
            <a:off x="4206240" y="2139696"/>
            <a:ext cx="3566160" cy="274320"/>
          </a:xfrm>
          <a:prstGeom prst="rect">
            <a:avLst/>
          </a:prstGeom>
          <a:noFill/>
          <a:ln/>
        </p:spPr>
        <p:txBody>
          <a:bodyPr wrap="square" lIns="0" tIns="0" rIns="0" bIns="0" rtlCol="0" anchor="ctr"/>
          <a:lstStyle/>
          <a:p>
            <a:pPr marL="0" indent="0">
              <a:buNone/>
            </a:pPr>
            <a:r>
              <a:rPr lang="en-US" sz="1130" dirty="0">
                <a:solidFill>
                  <a:srgbClr val="27323C"/>
                </a:solidFill>
                <a:latin typeface="Calibri" pitchFamily="34" charset="0"/>
                <a:ea typeface="Calibri" pitchFamily="34" charset="-122"/>
                <a:cs typeface="Calibri" pitchFamily="34" charset="-120"/>
              </a:rPr>
              <a:t>Qwen-7B, fully fine-tuned in stage 2</a:t>
            </a:r>
            <a:endParaRPr lang="en-US" sz="1130" dirty="0"/>
          </a:p>
        </p:txBody>
      </p:sp>
      <p:sp>
        <p:nvSpPr>
          <p:cNvPr id="17" name="Text 15"/>
          <p:cNvSpPr txBox="1"/>
          <p:nvPr/>
        </p:nvSpPr>
        <p:spPr>
          <a:xfrm>
            <a:off x="7955280" y="2139696"/>
            <a:ext cx="3657600" cy="274320"/>
          </a:xfrm>
          <a:prstGeom prst="rect">
            <a:avLst/>
          </a:prstGeom>
          <a:noFill/>
          <a:ln/>
        </p:spPr>
        <p:txBody>
          <a:bodyPr wrap="square" lIns="0" tIns="0" rIns="0" bIns="0" rtlCol="0" anchor="ctr"/>
          <a:lstStyle/>
          <a:p>
            <a:pPr marL="0" indent="0">
              <a:buNone/>
            </a:pPr>
            <a:r>
              <a:rPr lang="en-US" sz="1130" dirty="0">
                <a:solidFill>
                  <a:srgbClr val="27323C"/>
                </a:solidFill>
                <a:latin typeface="Calibri" pitchFamily="34" charset="0"/>
                <a:ea typeface="Calibri" pitchFamily="34" charset="-122"/>
                <a:cs typeface="Calibri" pitchFamily="34" charset="-120"/>
              </a:rPr>
              <a:t>LLaMA-7B + Vicuna, frozen with LoRA</a:t>
            </a:r>
            <a:endParaRPr lang="en-US" sz="1130" dirty="0"/>
          </a:p>
        </p:txBody>
      </p:sp>
      <p:sp>
        <p:nvSpPr>
          <p:cNvPr id="18" name="Shape 16"/>
          <p:cNvSpPr/>
          <p:nvPr/>
        </p:nvSpPr>
        <p:spPr>
          <a:xfrm>
            <a:off x="566928" y="2505456"/>
            <a:ext cx="11064240" cy="402336"/>
          </a:xfrm>
          <a:prstGeom prst="roundRect">
            <a:avLst>
              <a:gd name="adj" fmla="val 4545"/>
            </a:avLst>
          </a:prstGeom>
          <a:solidFill>
            <a:srgbClr val="F0F3F7"/>
          </a:solidFill>
          <a:ln w="12700">
            <a:solidFill>
              <a:srgbClr val="E6ECF2"/>
            </a:solidFill>
            <a:prstDash val="solid"/>
          </a:ln>
        </p:spPr>
        <p:txBody>
          <a:bodyPr/>
          <a:lstStyle/>
          <a:p>
            <a:endParaRPr lang="en-US"/>
          </a:p>
        </p:txBody>
      </p:sp>
      <p:sp>
        <p:nvSpPr>
          <p:cNvPr id="19" name="Text 17"/>
          <p:cNvSpPr txBox="1"/>
          <p:nvPr/>
        </p:nvSpPr>
        <p:spPr>
          <a:xfrm>
            <a:off x="749808" y="2578608"/>
            <a:ext cx="3291840" cy="274320"/>
          </a:xfrm>
          <a:prstGeom prst="rect">
            <a:avLst/>
          </a:prstGeom>
          <a:noFill/>
          <a:ln/>
        </p:spPr>
        <p:txBody>
          <a:bodyPr wrap="square" lIns="0" tIns="0" rIns="0" bIns="0" rtlCol="0" anchor="ctr"/>
          <a:lstStyle/>
          <a:p>
            <a:pPr marL="0" indent="0">
              <a:buNone/>
            </a:pPr>
            <a:r>
              <a:rPr lang="en-US" sz="1130" b="1" dirty="0">
                <a:solidFill>
                  <a:srgbClr val="141C24"/>
                </a:solidFill>
                <a:latin typeface="Calibri" pitchFamily="34" charset="0"/>
                <a:ea typeface="Calibri" pitchFamily="34" charset="-122"/>
                <a:cs typeface="Calibri" pitchFamily="34" charset="-120"/>
              </a:rPr>
              <a:t>Trainable parameters</a:t>
            </a:r>
            <a:endParaRPr lang="en-US" sz="1130" dirty="0"/>
          </a:p>
        </p:txBody>
      </p:sp>
      <p:sp>
        <p:nvSpPr>
          <p:cNvPr id="20" name="Text 18"/>
          <p:cNvSpPr txBox="1"/>
          <p:nvPr/>
        </p:nvSpPr>
        <p:spPr>
          <a:xfrm>
            <a:off x="4206240" y="2578608"/>
            <a:ext cx="3566160" cy="274320"/>
          </a:xfrm>
          <a:prstGeom prst="rect">
            <a:avLst/>
          </a:prstGeom>
          <a:noFill/>
          <a:ln/>
        </p:spPr>
        <p:txBody>
          <a:bodyPr wrap="square" lIns="0" tIns="0" rIns="0" bIns="0" rtlCol="0" anchor="ctr"/>
          <a:lstStyle/>
          <a:p>
            <a:pPr marL="0" indent="0">
              <a:buNone/>
            </a:pPr>
            <a:r>
              <a:rPr lang="en-US" sz="1130" dirty="0">
                <a:solidFill>
                  <a:srgbClr val="27323C"/>
                </a:solidFill>
                <a:latin typeface="Calibri" pitchFamily="34" charset="0"/>
                <a:ea typeface="Calibri" pitchFamily="34" charset="-122"/>
                <a:cs typeface="Calibri" pitchFamily="34" charset="-120"/>
              </a:rPr>
              <a:t>Encoder then full LLM — billions</a:t>
            </a:r>
            <a:endParaRPr lang="en-US" sz="1130" dirty="0"/>
          </a:p>
        </p:txBody>
      </p:sp>
      <p:sp>
        <p:nvSpPr>
          <p:cNvPr id="21" name="Text 19"/>
          <p:cNvSpPr txBox="1"/>
          <p:nvPr/>
        </p:nvSpPr>
        <p:spPr>
          <a:xfrm>
            <a:off x="7955280" y="2578608"/>
            <a:ext cx="3657600" cy="274320"/>
          </a:xfrm>
          <a:prstGeom prst="rect">
            <a:avLst/>
          </a:prstGeom>
          <a:noFill/>
          <a:ln/>
        </p:spPr>
        <p:txBody>
          <a:bodyPr wrap="square" lIns="0" tIns="0" rIns="0" bIns="0" rtlCol="0" anchor="ctr"/>
          <a:lstStyle/>
          <a:p>
            <a:pPr marL="0" indent="0">
              <a:buNone/>
            </a:pPr>
            <a:r>
              <a:rPr lang="en-US" sz="1130" dirty="0">
                <a:solidFill>
                  <a:srgbClr val="27323C"/>
                </a:solidFill>
                <a:latin typeface="Calibri" pitchFamily="34" charset="0"/>
                <a:ea typeface="Calibri" pitchFamily="34" charset="-122"/>
                <a:cs typeface="Calibri" pitchFamily="34" charset="-120"/>
              </a:rPr>
              <a:t>4.2M LoRA plus the audio branch</a:t>
            </a:r>
            <a:endParaRPr lang="en-US" sz="1130" dirty="0"/>
          </a:p>
        </p:txBody>
      </p:sp>
      <p:sp>
        <p:nvSpPr>
          <p:cNvPr id="22" name="Shape 20"/>
          <p:cNvSpPr/>
          <p:nvPr/>
        </p:nvSpPr>
        <p:spPr>
          <a:xfrm>
            <a:off x="566928" y="2944368"/>
            <a:ext cx="11064240" cy="402336"/>
          </a:xfrm>
          <a:prstGeom prst="roundRect">
            <a:avLst>
              <a:gd name="adj" fmla="val 4545"/>
            </a:avLst>
          </a:prstGeom>
          <a:solidFill>
            <a:srgbClr val="FFFFFF"/>
          </a:solidFill>
          <a:ln w="12700">
            <a:solidFill>
              <a:srgbClr val="E6ECF2"/>
            </a:solidFill>
            <a:prstDash val="solid"/>
          </a:ln>
        </p:spPr>
        <p:txBody>
          <a:bodyPr/>
          <a:lstStyle/>
          <a:p>
            <a:endParaRPr lang="en-US"/>
          </a:p>
        </p:txBody>
      </p:sp>
      <p:sp>
        <p:nvSpPr>
          <p:cNvPr id="23" name="Text 21"/>
          <p:cNvSpPr txBox="1"/>
          <p:nvPr/>
        </p:nvSpPr>
        <p:spPr>
          <a:xfrm>
            <a:off x="749808" y="3017520"/>
            <a:ext cx="3291840" cy="274320"/>
          </a:xfrm>
          <a:prstGeom prst="rect">
            <a:avLst/>
          </a:prstGeom>
          <a:noFill/>
          <a:ln/>
        </p:spPr>
        <p:txBody>
          <a:bodyPr wrap="square" lIns="0" tIns="0" rIns="0" bIns="0" rtlCol="0" anchor="ctr"/>
          <a:lstStyle/>
          <a:p>
            <a:pPr marL="0" indent="0">
              <a:buNone/>
            </a:pPr>
            <a:r>
              <a:rPr lang="en-US" sz="1130" b="1" dirty="0">
                <a:solidFill>
                  <a:srgbClr val="141C24"/>
                </a:solidFill>
                <a:latin typeface="Calibri" pitchFamily="34" charset="0"/>
                <a:ea typeface="Calibri" pitchFamily="34" charset="-122"/>
                <a:cs typeface="Calibri" pitchFamily="34" charset="-120"/>
              </a:rPr>
              <a:t>Task unification</a:t>
            </a:r>
            <a:endParaRPr lang="en-US" sz="1130" dirty="0"/>
          </a:p>
        </p:txBody>
      </p:sp>
      <p:sp>
        <p:nvSpPr>
          <p:cNvPr id="24" name="Text 22"/>
          <p:cNvSpPr txBox="1"/>
          <p:nvPr/>
        </p:nvSpPr>
        <p:spPr>
          <a:xfrm>
            <a:off x="4206240" y="3017520"/>
            <a:ext cx="3566160" cy="274320"/>
          </a:xfrm>
          <a:prstGeom prst="rect">
            <a:avLst/>
          </a:prstGeom>
          <a:noFill/>
          <a:ln/>
        </p:spPr>
        <p:txBody>
          <a:bodyPr wrap="square" lIns="0" tIns="0" rIns="0" bIns="0" rtlCol="0" anchor="ctr"/>
          <a:lstStyle/>
          <a:p>
            <a:pPr marL="0" indent="0">
              <a:buNone/>
            </a:pPr>
            <a:r>
              <a:rPr lang="en-US" sz="1130" dirty="0">
                <a:solidFill>
                  <a:srgbClr val="27323C"/>
                </a:solidFill>
                <a:latin typeface="Calibri" pitchFamily="34" charset="0"/>
                <a:ea typeface="Calibri" pitchFamily="34" charset="-122"/>
                <a:cs typeface="Calibri" pitchFamily="34" charset="-120"/>
              </a:rPr>
              <a:t>Six hierarchical tags prepended to the decoder</a:t>
            </a:r>
            <a:endParaRPr lang="en-US" sz="1130" dirty="0"/>
          </a:p>
        </p:txBody>
      </p:sp>
      <p:sp>
        <p:nvSpPr>
          <p:cNvPr id="25" name="Text 23"/>
          <p:cNvSpPr txBox="1"/>
          <p:nvPr/>
        </p:nvSpPr>
        <p:spPr>
          <a:xfrm>
            <a:off x="7955280" y="3017520"/>
            <a:ext cx="3657600" cy="274320"/>
          </a:xfrm>
          <a:prstGeom prst="rect">
            <a:avLst/>
          </a:prstGeom>
          <a:noFill/>
          <a:ln/>
        </p:spPr>
        <p:txBody>
          <a:bodyPr wrap="square" lIns="0" tIns="0" rIns="0" bIns="0" rtlCol="0" anchor="ctr"/>
          <a:lstStyle/>
          <a:p>
            <a:pPr marL="0" indent="0">
              <a:buNone/>
            </a:pPr>
            <a:r>
              <a:rPr lang="en-US" sz="1130" dirty="0">
                <a:solidFill>
                  <a:srgbClr val="27323C"/>
                </a:solidFill>
                <a:latin typeface="Calibri" pitchFamily="34" charset="0"/>
                <a:ea typeface="Calibri" pitchFamily="34" charset="-122"/>
                <a:cs typeface="Calibri" pitchFamily="34" charset="-120"/>
              </a:rPr>
              <a:t>Everything reformulated as question answering</a:t>
            </a:r>
            <a:endParaRPr lang="en-US" sz="1130" dirty="0"/>
          </a:p>
        </p:txBody>
      </p:sp>
      <p:sp>
        <p:nvSpPr>
          <p:cNvPr id="26" name="Shape 24"/>
          <p:cNvSpPr/>
          <p:nvPr/>
        </p:nvSpPr>
        <p:spPr>
          <a:xfrm>
            <a:off x="566928" y="3383280"/>
            <a:ext cx="11064240" cy="402336"/>
          </a:xfrm>
          <a:prstGeom prst="roundRect">
            <a:avLst>
              <a:gd name="adj" fmla="val 4545"/>
            </a:avLst>
          </a:prstGeom>
          <a:solidFill>
            <a:srgbClr val="F0F3F7"/>
          </a:solidFill>
          <a:ln w="12700">
            <a:solidFill>
              <a:srgbClr val="E6ECF2"/>
            </a:solidFill>
            <a:prstDash val="solid"/>
          </a:ln>
        </p:spPr>
        <p:txBody>
          <a:bodyPr/>
          <a:lstStyle/>
          <a:p>
            <a:endParaRPr lang="en-US"/>
          </a:p>
        </p:txBody>
      </p:sp>
      <p:sp>
        <p:nvSpPr>
          <p:cNvPr id="27" name="Text 25"/>
          <p:cNvSpPr txBox="1"/>
          <p:nvPr/>
        </p:nvSpPr>
        <p:spPr>
          <a:xfrm>
            <a:off x="749808" y="3456432"/>
            <a:ext cx="3291840" cy="274320"/>
          </a:xfrm>
          <a:prstGeom prst="rect">
            <a:avLst/>
          </a:prstGeom>
          <a:noFill/>
          <a:ln/>
        </p:spPr>
        <p:txBody>
          <a:bodyPr wrap="square" lIns="0" tIns="0" rIns="0" bIns="0" rtlCol="0" anchor="ctr"/>
          <a:lstStyle/>
          <a:p>
            <a:pPr marL="0" indent="0">
              <a:buNone/>
            </a:pPr>
            <a:r>
              <a:rPr lang="en-US" sz="1130" b="1" dirty="0">
                <a:solidFill>
                  <a:srgbClr val="141C24"/>
                </a:solidFill>
                <a:latin typeface="Calibri" pitchFamily="34" charset="0"/>
                <a:ea typeface="Calibri" pitchFamily="34" charset="-122"/>
                <a:cs typeface="Calibri" pitchFamily="34" charset="-120"/>
              </a:rPr>
              <a:t>Training data</a:t>
            </a:r>
            <a:endParaRPr lang="en-US" sz="1130" dirty="0"/>
          </a:p>
        </p:txBody>
      </p:sp>
      <p:sp>
        <p:nvSpPr>
          <p:cNvPr id="28" name="Text 26"/>
          <p:cNvSpPr txBox="1"/>
          <p:nvPr/>
        </p:nvSpPr>
        <p:spPr>
          <a:xfrm>
            <a:off x="4206240" y="3456432"/>
            <a:ext cx="3566160" cy="274320"/>
          </a:xfrm>
          <a:prstGeom prst="rect">
            <a:avLst/>
          </a:prstGeom>
          <a:noFill/>
          <a:ln/>
        </p:spPr>
        <p:txBody>
          <a:bodyPr wrap="square" lIns="0" tIns="0" rIns="0" bIns="0" rtlCol="0" anchor="ctr"/>
          <a:lstStyle/>
          <a:p>
            <a:pPr marL="0" indent="0">
              <a:buNone/>
            </a:pPr>
            <a:r>
              <a:rPr lang="en-US" sz="1130" dirty="0">
                <a:solidFill>
                  <a:srgbClr val="27323C"/>
                </a:solidFill>
                <a:latin typeface="Calibri" pitchFamily="34" charset="0"/>
                <a:ea typeface="Calibri" pitchFamily="34" charset="-122"/>
                <a:cs typeface="Calibri" pitchFamily="34" charset="-120"/>
              </a:rPr>
              <a:t>30+ tasks, 8 languages, 100k+ hours</a:t>
            </a:r>
            <a:endParaRPr lang="en-US" sz="1130" dirty="0"/>
          </a:p>
        </p:txBody>
      </p:sp>
      <p:sp>
        <p:nvSpPr>
          <p:cNvPr id="29" name="Text 27"/>
          <p:cNvSpPr txBox="1"/>
          <p:nvPr/>
        </p:nvSpPr>
        <p:spPr>
          <a:xfrm>
            <a:off x="7955280" y="3456432"/>
            <a:ext cx="3657600" cy="274320"/>
          </a:xfrm>
          <a:prstGeom prst="rect">
            <a:avLst/>
          </a:prstGeom>
          <a:noFill/>
          <a:ln/>
        </p:spPr>
        <p:txBody>
          <a:bodyPr wrap="square" lIns="0" tIns="0" rIns="0" bIns="0" rtlCol="0" anchor="ctr"/>
          <a:lstStyle/>
          <a:p>
            <a:pPr marL="0" indent="0">
              <a:buNone/>
            </a:pPr>
            <a:r>
              <a:rPr lang="en-US" sz="1130" dirty="0">
                <a:solidFill>
                  <a:srgbClr val="27323C"/>
                </a:solidFill>
                <a:latin typeface="Calibri" pitchFamily="34" charset="0"/>
                <a:ea typeface="Calibri" pitchFamily="34" charset="-122"/>
                <a:cs typeface="Calibri" pitchFamily="34" charset="-120"/>
              </a:rPr>
              <a:t>5.68M QA pairs from 845K clips, English</a:t>
            </a:r>
            <a:endParaRPr lang="en-US" sz="1130" dirty="0"/>
          </a:p>
        </p:txBody>
      </p:sp>
      <p:sp>
        <p:nvSpPr>
          <p:cNvPr id="30" name="Shape 28"/>
          <p:cNvSpPr/>
          <p:nvPr/>
        </p:nvSpPr>
        <p:spPr>
          <a:xfrm>
            <a:off x="566928" y="3822192"/>
            <a:ext cx="11064240" cy="402336"/>
          </a:xfrm>
          <a:prstGeom prst="roundRect">
            <a:avLst>
              <a:gd name="adj" fmla="val 4545"/>
            </a:avLst>
          </a:prstGeom>
          <a:solidFill>
            <a:srgbClr val="FFFFFF"/>
          </a:solidFill>
          <a:ln w="12700">
            <a:solidFill>
              <a:srgbClr val="E6ECF2"/>
            </a:solidFill>
            <a:prstDash val="solid"/>
          </a:ln>
        </p:spPr>
        <p:txBody>
          <a:bodyPr/>
          <a:lstStyle/>
          <a:p>
            <a:endParaRPr lang="en-US"/>
          </a:p>
        </p:txBody>
      </p:sp>
      <p:sp>
        <p:nvSpPr>
          <p:cNvPr id="31" name="Text 29"/>
          <p:cNvSpPr txBox="1"/>
          <p:nvPr/>
        </p:nvSpPr>
        <p:spPr>
          <a:xfrm>
            <a:off x="749808" y="3895344"/>
            <a:ext cx="3291840" cy="274320"/>
          </a:xfrm>
          <a:prstGeom prst="rect">
            <a:avLst/>
          </a:prstGeom>
          <a:noFill/>
          <a:ln/>
        </p:spPr>
        <p:txBody>
          <a:bodyPr wrap="square" lIns="0" tIns="0" rIns="0" bIns="0" rtlCol="0" anchor="ctr"/>
          <a:lstStyle/>
          <a:p>
            <a:pPr marL="0" indent="0">
              <a:buNone/>
            </a:pPr>
            <a:r>
              <a:rPr lang="en-US" sz="1130" b="1" dirty="0">
                <a:solidFill>
                  <a:srgbClr val="141C24"/>
                </a:solidFill>
                <a:latin typeface="Calibri" pitchFamily="34" charset="0"/>
                <a:ea typeface="Calibri" pitchFamily="34" charset="-122"/>
                <a:cs typeface="Calibri" pitchFamily="34" charset="-120"/>
              </a:rPr>
              <a:t>Speech ability</a:t>
            </a:r>
            <a:endParaRPr lang="en-US" sz="1130" dirty="0"/>
          </a:p>
        </p:txBody>
      </p:sp>
      <p:sp>
        <p:nvSpPr>
          <p:cNvPr id="32" name="Text 30"/>
          <p:cNvSpPr txBox="1"/>
          <p:nvPr/>
        </p:nvSpPr>
        <p:spPr>
          <a:xfrm>
            <a:off x="4206240" y="3895344"/>
            <a:ext cx="3566160" cy="274320"/>
          </a:xfrm>
          <a:prstGeom prst="rect">
            <a:avLst/>
          </a:prstGeom>
          <a:noFill/>
          <a:ln/>
        </p:spPr>
        <p:txBody>
          <a:bodyPr wrap="square" lIns="0" tIns="0" rIns="0" bIns="0" rtlCol="0" anchor="ctr"/>
          <a:lstStyle/>
          <a:p>
            <a:pPr marL="0" indent="0">
              <a:buNone/>
            </a:pPr>
            <a:r>
              <a:rPr lang="en-US" sz="1130" dirty="0">
                <a:solidFill>
                  <a:srgbClr val="27323C"/>
                </a:solidFill>
                <a:latin typeface="Calibri" pitchFamily="34" charset="0"/>
                <a:ea typeface="Calibri" pitchFamily="34" charset="-122"/>
                <a:cs typeface="Calibri" pitchFamily="34" charset="-120"/>
              </a:rPr>
              <a:t>State of the art: 2.0 / 4.2 WER</a:t>
            </a:r>
            <a:endParaRPr lang="en-US" sz="1130" dirty="0"/>
          </a:p>
        </p:txBody>
      </p:sp>
      <p:sp>
        <p:nvSpPr>
          <p:cNvPr id="33" name="Text 31"/>
          <p:cNvSpPr txBox="1"/>
          <p:nvPr/>
        </p:nvSpPr>
        <p:spPr>
          <a:xfrm>
            <a:off x="7955280" y="3895344"/>
            <a:ext cx="3657600" cy="274320"/>
          </a:xfrm>
          <a:prstGeom prst="rect">
            <a:avLst/>
          </a:prstGeom>
          <a:noFill/>
          <a:ln/>
        </p:spPr>
        <p:txBody>
          <a:bodyPr wrap="square" lIns="0" tIns="0" rIns="0" bIns="0" rtlCol="0" anchor="ctr"/>
          <a:lstStyle/>
          <a:p>
            <a:pPr marL="0" indent="0">
              <a:buNone/>
            </a:pPr>
            <a:r>
              <a:rPr lang="en-US" sz="1130" dirty="0">
                <a:solidFill>
                  <a:srgbClr val="27323C"/>
                </a:solidFill>
                <a:latin typeface="Calibri" pitchFamily="34" charset="0"/>
                <a:ea typeface="Calibri" pitchFamily="34" charset="-122"/>
                <a:cs typeface="Calibri" pitchFamily="34" charset="-120"/>
              </a:rPr>
              <a:t>None — explicitly not an ASR model</a:t>
            </a:r>
            <a:endParaRPr lang="en-US" sz="1130" dirty="0"/>
          </a:p>
        </p:txBody>
      </p:sp>
      <p:sp>
        <p:nvSpPr>
          <p:cNvPr id="34" name="Shape 32"/>
          <p:cNvSpPr/>
          <p:nvPr/>
        </p:nvSpPr>
        <p:spPr>
          <a:xfrm>
            <a:off x="566928" y="4261104"/>
            <a:ext cx="11064240" cy="402336"/>
          </a:xfrm>
          <a:prstGeom prst="roundRect">
            <a:avLst>
              <a:gd name="adj" fmla="val 4545"/>
            </a:avLst>
          </a:prstGeom>
          <a:solidFill>
            <a:srgbClr val="F0F3F7"/>
          </a:solidFill>
          <a:ln w="12700">
            <a:solidFill>
              <a:srgbClr val="E6ECF2"/>
            </a:solidFill>
            <a:prstDash val="solid"/>
          </a:ln>
        </p:spPr>
        <p:txBody>
          <a:bodyPr/>
          <a:lstStyle/>
          <a:p>
            <a:endParaRPr lang="en-US"/>
          </a:p>
        </p:txBody>
      </p:sp>
      <p:sp>
        <p:nvSpPr>
          <p:cNvPr id="35" name="Text 33"/>
          <p:cNvSpPr txBox="1"/>
          <p:nvPr/>
        </p:nvSpPr>
        <p:spPr>
          <a:xfrm>
            <a:off x="749808" y="4334256"/>
            <a:ext cx="3291840" cy="274320"/>
          </a:xfrm>
          <a:prstGeom prst="rect">
            <a:avLst/>
          </a:prstGeom>
          <a:noFill/>
          <a:ln/>
        </p:spPr>
        <p:txBody>
          <a:bodyPr wrap="square" lIns="0" tIns="0" rIns="0" bIns="0" rtlCol="0" anchor="ctr"/>
          <a:lstStyle/>
          <a:p>
            <a:pPr marL="0" indent="0">
              <a:buNone/>
            </a:pPr>
            <a:r>
              <a:rPr lang="en-US" sz="1130" b="1" dirty="0">
                <a:solidFill>
                  <a:srgbClr val="141C24"/>
                </a:solidFill>
                <a:latin typeface="Calibri" pitchFamily="34" charset="0"/>
                <a:ea typeface="Calibri" pitchFamily="34" charset="-122"/>
                <a:cs typeface="Calibri" pitchFamily="34" charset="-120"/>
              </a:rPr>
              <a:t>Open-ended reasoning</a:t>
            </a:r>
            <a:endParaRPr lang="en-US" sz="1130" dirty="0"/>
          </a:p>
        </p:txBody>
      </p:sp>
      <p:sp>
        <p:nvSpPr>
          <p:cNvPr id="36" name="Text 34"/>
          <p:cNvSpPr txBox="1"/>
          <p:nvPr/>
        </p:nvSpPr>
        <p:spPr>
          <a:xfrm>
            <a:off x="4206240" y="4334256"/>
            <a:ext cx="3566160" cy="274320"/>
          </a:xfrm>
          <a:prstGeom prst="rect">
            <a:avLst/>
          </a:prstGeom>
          <a:noFill/>
          <a:ln/>
        </p:spPr>
        <p:txBody>
          <a:bodyPr wrap="square" lIns="0" tIns="0" rIns="0" bIns="0" rtlCol="0" anchor="ctr"/>
          <a:lstStyle/>
          <a:p>
            <a:pPr marL="0" indent="0">
              <a:buNone/>
            </a:pPr>
            <a:r>
              <a:rPr lang="en-US" sz="1130" dirty="0">
                <a:solidFill>
                  <a:srgbClr val="27323C"/>
                </a:solidFill>
                <a:latin typeface="Calibri" pitchFamily="34" charset="0"/>
                <a:ea typeface="Calibri" pitchFamily="34" charset="-122"/>
                <a:cs typeface="Calibri" pitchFamily="34" charset="-120"/>
              </a:rPr>
              <a:t>Not evaluated</a:t>
            </a:r>
            <a:endParaRPr lang="en-US" sz="1130" dirty="0"/>
          </a:p>
        </p:txBody>
      </p:sp>
      <p:sp>
        <p:nvSpPr>
          <p:cNvPr id="37" name="Text 35"/>
          <p:cNvSpPr txBox="1"/>
          <p:nvPr/>
        </p:nvSpPr>
        <p:spPr>
          <a:xfrm>
            <a:off x="7955280" y="4334256"/>
            <a:ext cx="3657600" cy="274320"/>
          </a:xfrm>
          <a:prstGeom prst="rect">
            <a:avLst/>
          </a:prstGeom>
          <a:noFill/>
          <a:ln/>
        </p:spPr>
        <p:txBody>
          <a:bodyPr wrap="square" lIns="0" tIns="0" rIns="0" bIns="0" rtlCol="0" anchor="ctr"/>
          <a:lstStyle/>
          <a:p>
            <a:pPr marL="0" indent="0">
              <a:buNone/>
            </a:pPr>
            <a:r>
              <a:rPr lang="en-US" sz="1130" dirty="0">
                <a:solidFill>
                  <a:srgbClr val="27323C"/>
                </a:solidFill>
                <a:latin typeface="Calibri" pitchFamily="34" charset="0"/>
                <a:ea typeface="Calibri" pitchFamily="34" charset="-122"/>
                <a:cs typeface="Calibri" pitchFamily="34" charset="-120"/>
              </a:rPr>
              <a:t>Human-evaluated: 82.9% correct and on-instruction</a:t>
            </a:r>
            <a:endParaRPr lang="en-US" sz="1130" dirty="0"/>
          </a:p>
        </p:txBody>
      </p:sp>
      <p:sp>
        <p:nvSpPr>
          <p:cNvPr id="38" name="Shape 36"/>
          <p:cNvSpPr/>
          <p:nvPr/>
        </p:nvSpPr>
        <p:spPr>
          <a:xfrm>
            <a:off x="566928" y="4700016"/>
            <a:ext cx="11064240" cy="402336"/>
          </a:xfrm>
          <a:prstGeom prst="roundRect">
            <a:avLst>
              <a:gd name="adj" fmla="val 4545"/>
            </a:avLst>
          </a:prstGeom>
          <a:solidFill>
            <a:srgbClr val="FDF4E2"/>
          </a:solidFill>
          <a:ln w="12700">
            <a:solidFill>
              <a:srgbClr val="E4A11B"/>
            </a:solidFill>
            <a:prstDash val="solid"/>
          </a:ln>
        </p:spPr>
        <p:txBody>
          <a:bodyPr/>
          <a:lstStyle/>
          <a:p>
            <a:endParaRPr lang="en-US"/>
          </a:p>
        </p:txBody>
      </p:sp>
      <p:sp>
        <p:nvSpPr>
          <p:cNvPr id="39" name="Text 37"/>
          <p:cNvSpPr txBox="1"/>
          <p:nvPr/>
        </p:nvSpPr>
        <p:spPr>
          <a:xfrm>
            <a:off x="749808" y="4773168"/>
            <a:ext cx="3291840" cy="274320"/>
          </a:xfrm>
          <a:prstGeom prst="rect">
            <a:avLst/>
          </a:prstGeom>
          <a:noFill/>
          <a:ln/>
        </p:spPr>
        <p:txBody>
          <a:bodyPr wrap="square" lIns="0" tIns="0" rIns="0" bIns="0" rtlCol="0" anchor="ctr"/>
          <a:lstStyle/>
          <a:p>
            <a:pPr marL="0" indent="0">
              <a:buNone/>
            </a:pPr>
            <a:r>
              <a:rPr lang="en-US" sz="1130" b="1" dirty="0">
                <a:solidFill>
                  <a:srgbClr val="141C24"/>
                </a:solidFill>
                <a:latin typeface="Calibri" pitchFamily="34" charset="0"/>
                <a:ea typeface="Calibri" pitchFamily="34" charset="-122"/>
                <a:cs typeface="Calibri" pitchFamily="34" charset="-120"/>
              </a:rPr>
              <a:t>Ablation of headline claim</a:t>
            </a:r>
            <a:endParaRPr lang="en-US" sz="1130" dirty="0"/>
          </a:p>
        </p:txBody>
      </p:sp>
      <p:sp>
        <p:nvSpPr>
          <p:cNvPr id="40" name="Text 38"/>
          <p:cNvSpPr txBox="1"/>
          <p:nvPr/>
        </p:nvSpPr>
        <p:spPr>
          <a:xfrm>
            <a:off x="4206240" y="4773168"/>
            <a:ext cx="3566160" cy="274320"/>
          </a:xfrm>
          <a:prstGeom prst="rect">
            <a:avLst/>
          </a:prstGeom>
          <a:noFill/>
          <a:ln/>
        </p:spPr>
        <p:txBody>
          <a:bodyPr wrap="square" lIns="0" tIns="0" rIns="0" bIns="0" rtlCol="0" anchor="ctr"/>
          <a:lstStyle/>
          <a:p>
            <a:pPr marL="0" indent="0">
              <a:buNone/>
            </a:pPr>
            <a:r>
              <a:rPr lang="en-US" sz="1130" dirty="0">
                <a:solidFill>
                  <a:srgbClr val="27323C"/>
                </a:solidFill>
                <a:latin typeface="Calibri" pitchFamily="34" charset="0"/>
                <a:ea typeface="Calibri" pitchFamily="34" charset="-122"/>
                <a:cs typeface="Calibri" pitchFamily="34" charset="-120"/>
              </a:rPr>
              <a:t>None</a:t>
            </a:r>
            <a:endParaRPr lang="en-US" sz="1130" dirty="0"/>
          </a:p>
        </p:txBody>
      </p:sp>
      <p:sp>
        <p:nvSpPr>
          <p:cNvPr id="41" name="Text 39"/>
          <p:cNvSpPr txBox="1"/>
          <p:nvPr/>
        </p:nvSpPr>
        <p:spPr>
          <a:xfrm>
            <a:off x="7955280" y="4773168"/>
            <a:ext cx="3657600" cy="274320"/>
          </a:xfrm>
          <a:prstGeom prst="rect">
            <a:avLst/>
          </a:prstGeom>
          <a:noFill/>
          <a:ln/>
        </p:spPr>
        <p:txBody>
          <a:bodyPr wrap="square" lIns="0" tIns="0" rIns="0" bIns="0" rtlCol="0" anchor="ctr"/>
          <a:lstStyle/>
          <a:p>
            <a:pPr marL="0" indent="0">
              <a:buNone/>
            </a:pPr>
            <a:r>
              <a:rPr lang="en-US" sz="1130" dirty="0">
                <a:solidFill>
                  <a:srgbClr val="27323C"/>
                </a:solidFill>
                <a:latin typeface="Calibri" pitchFamily="34" charset="0"/>
                <a:ea typeface="Calibri" pitchFamily="34" charset="-122"/>
                <a:cs typeface="Calibri" pitchFamily="34" charset="-120"/>
              </a:rPr>
              <a:t>Curriculum removed: −27.3 points</a:t>
            </a:r>
            <a:endParaRPr lang="en-US" sz="1130" dirty="0"/>
          </a:p>
        </p:txBody>
      </p:sp>
      <p:sp>
        <p:nvSpPr>
          <p:cNvPr id="42" name="Shape 40"/>
          <p:cNvSpPr/>
          <p:nvPr/>
        </p:nvSpPr>
        <p:spPr>
          <a:xfrm>
            <a:off x="566928" y="5138928"/>
            <a:ext cx="11064240" cy="402336"/>
          </a:xfrm>
          <a:prstGeom prst="roundRect">
            <a:avLst>
              <a:gd name="adj" fmla="val 4545"/>
            </a:avLst>
          </a:prstGeom>
          <a:solidFill>
            <a:srgbClr val="F0F3F7"/>
          </a:solidFill>
          <a:ln w="12700">
            <a:solidFill>
              <a:srgbClr val="E6ECF2"/>
            </a:solidFill>
            <a:prstDash val="solid"/>
          </a:ln>
        </p:spPr>
        <p:txBody>
          <a:bodyPr/>
          <a:lstStyle/>
          <a:p>
            <a:endParaRPr lang="en-US"/>
          </a:p>
        </p:txBody>
      </p:sp>
      <p:sp>
        <p:nvSpPr>
          <p:cNvPr id="43" name="Text 41"/>
          <p:cNvSpPr txBox="1"/>
          <p:nvPr/>
        </p:nvSpPr>
        <p:spPr>
          <a:xfrm>
            <a:off x="749808" y="5212080"/>
            <a:ext cx="3291840" cy="274320"/>
          </a:xfrm>
          <a:prstGeom prst="rect">
            <a:avLst/>
          </a:prstGeom>
          <a:noFill/>
          <a:ln/>
        </p:spPr>
        <p:txBody>
          <a:bodyPr wrap="square" lIns="0" tIns="0" rIns="0" bIns="0" rtlCol="0" anchor="ctr"/>
          <a:lstStyle/>
          <a:p>
            <a:pPr marL="0" indent="0">
              <a:buNone/>
            </a:pPr>
            <a:r>
              <a:rPr lang="en-US" sz="1130" b="1" dirty="0">
                <a:solidFill>
                  <a:srgbClr val="141C24"/>
                </a:solidFill>
                <a:latin typeface="Calibri" pitchFamily="34" charset="0"/>
                <a:ea typeface="Calibri" pitchFamily="34" charset="-122"/>
                <a:cs typeface="Calibri" pitchFamily="34" charset="-120"/>
              </a:rPr>
              <a:t>Compute</a:t>
            </a:r>
            <a:endParaRPr lang="en-US" sz="1130" dirty="0"/>
          </a:p>
        </p:txBody>
      </p:sp>
      <p:sp>
        <p:nvSpPr>
          <p:cNvPr id="44" name="Text 42"/>
          <p:cNvSpPr txBox="1"/>
          <p:nvPr/>
        </p:nvSpPr>
        <p:spPr>
          <a:xfrm>
            <a:off x="4206240" y="5212080"/>
            <a:ext cx="3566160" cy="274320"/>
          </a:xfrm>
          <a:prstGeom prst="rect">
            <a:avLst/>
          </a:prstGeom>
          <a:noFill/>
          <a:ln/>
        </p:spPr>
        <p:txBody>
          <a:bodyPr wrap="square" lIns="0" tIns="0" rIns="0" bIns="0" rtlCol="0" anchor="ctr"/>
          <a:lstStyle/>
          <a:p>
            <a:pPr marL="0" indent="0">
              <a:buNone/>
            </a:pPr>
            <a:r>
              <a:rPr lang="en-US" sz="1130" dirty="0">
                <a:solidFill>
                  <a:srgbClr val="27323C"/>
                </a:solidFill>
                <a:latin typeface="Calibri" pitchFamily="34" charset="0"/>
                <a:ea typeface="Calibri" pitchFamily="34" charset="-122"/>
                <a:cs typeface="Calibri" pitchFamily="34" charset="-120"/>
              </a:rPr>
              <a:t>Industrial scale, 500k pre-training steps</a:t>
            </a:r>
            <a:endParaRPr lang="en-US" sz="1130" dirty="0"/>
          </a:p>
        </p:txBody>
      </p:sp>
      <p:sp>
        <p:nvSpPr>
          <p:cNvPr id="45" name="Text 43"/>
          <p:cNvSpPr txBox="1"/>
          <p:nvPr/>
        </p:nvSpPr>
        <p:spPr>
          <a:xfrm>
            <a:off x="7955280" y="5212080"/>
            <a:ext cx="3657600" cy="274320"/>
          </a:xfrm>
          <a:prstGeom prst="rect">
            <a:avLst/>
          </a:prstGeom>
          <a:noFill/>
          <a:ln/>
        </p:spPr>
        <p:txBody>
          <a:bodyPr wrap="square" lIns="0" tIns="0" rIns="0" bIns="0" rtlCol="0" anchor="ctr"/>
          <a:lstStyle/>
          <a:p>
            <a:pPr marL="0" indent="0">
              <a:buNone/>
            </a:pPr>
            <a:r>
              <a:rPr lang="en-US" sz="1130" dirty="0">
                <a:solidFill>
                  <a:srgbClr val="27323C"/>
                </a:solidFill>
                <a:latin typeface="Calibri" pitchFamily="34" charset="0"/>
                <a:ea typeface="Calibri" pitchFamily="34" charset="-122"/>
                <a:cs typeface="Calibri" pitchFamily="34" charset="-120"/>
              </a:rPr>
              <a:t>4 RTX A6000s, 3 days</a:t>
            </a:r>
            <a:endParaRPr lang="en-US" sz="1130" dirty="0"/>
          </a:p>
        </p:txBody>
      </p:sp>
      <p:sp>
        <p:nvSpPr>
          <p:cNvPr id="46" name="Shape 44"/>
          <p:cNvSpPr/>
          <p:nvPr/>
        </p:nvSpPr>
        <p:spPr>
          <a:xfrm>
            <a:off x="566928" y="5577840"/>
            <a:ext cx="11064240" cy="402336"/>
          </a:xfrm>
          <a:prstGeom prst="roundRect">
            <a:avLst>
              <a:gd name="adj" fmla="val 4545"/>
            </a:avLst>
          </a:prstGeom>
          <a:solidFill>
            <a:srgbClr val="FFFFFF"/>
          </a:solidFill>
          <a:ln w="12700">
            <a:solidFill>
              <a:srgbClr val="E6ECF2"/>
            </a:solidFill>
            <a:prstDash val="solid"/>
          </a:ln>
        </p:spPr>
        <p:txBody>
          <a:bodyPr/>
          <a:lstStyle/>
          <a:p>
            <a:endParaRPr lang="en-US"/>
          </a:p>
        </p:txBody>
      </p:sp>
      <p:sp>
        <p:nvSpPr>
          <p:cNvPr id="47" name="Text 45"/>
          <p:cNvSpPr txBox="1"/>
          <p:nvPr/>
        </p:nvSpPr>
        <p:spPr>
          <a:xfrm>
            <a:off x="749808" y="5650992"/>
            <a:ext cx="3291840" cy="274320"/>
          </a:xfrm>
          <a:prstGeom prst="rect">
            <a:avLst/>
          </a:prstGeom>
          <a:noFill/>
          <a:ln/>
        </p:spPr>
        <p:txBody>
          <a:bodyPr wrap="square" lIns="0" tIns="0" rIns="0" bIns="0" rtlCol="0" anchor="ctr"/>
          <a:lstStyle/>
          <a:p>
            <a:pPr marL="0" indent="0">
              <a:buNone/>
            </a:pPr>
            <a:r>
              <a:rPr lang="en-US" sz="1130" b="1" dirty="0">
                <a:solidFill>
                  <a:srgbClr val="141C24"/>
                </a:solidFill>
                <a:latin typeface="Calibri" pitchFamily="34" charset="0"/>
                <a:ea typeface="Calibri" pitchFamily="34" charset="-122"/>
                <a:cs typeface="Calibri" pitchFamily="34" charset="-120"/>
              </a:rPr>
              <a:t>What it demonstrates</a:t>
            </a:r>
            <a:endParaRPr lang="en-US" sz="1130" dirty="0"/>
          </a:p>
        </p:txBody>
      </p:sp>
      <p:sp>
        <p:nvSpPr>
          <p:cNvPr id="48" name="Text 46"/>
          <p:cNvSpPr txBox="1"/>
          <p:nvPr/>
        </p:nvSpPr>
        <p:spPr>
          <a:xfrm>
            <a:off x="4206240" y="5650992"/>
            <a:ext cx="3566160" cy="274320"/>
          </a:xfrm>
          <a:prstGeom prst="rect">
            <a:avLst/>
          </a:prstGeom>
          <a:noFill/>
          <a:ln/>
        </p:spPr>
        <p:txBody>
          <a:bodyPr wrap="square" lIns="0" tIns="0" rIns="0" bIns="0" rtlCol="0" anchor="ctr"/>
          <a:lstStyle/>
          <a:p>
            <a:pPr marL="0" indent="0">
              <a:buNone/>
            </a:pPr>
            <a:r>
              <a:rPr lang="en-US" sz="1130" dirty="0">
                <a:solidFill>
                  <a:srgbClr val="27323C"/>
                </a:solidFill>
                <a:latin typeface="Calibri" pitchFamily="34" charset="0"/>
                <a:ea typeface="Calibri" pitchFamily="34" charset="-122"/>
                <a:cs typeface="Calibri" pitchFamily="34" charset="-120"/>
              </a:rPr>
              <a:t>One model can perceive everything</a:t>
            </a:r>
            <a:endParaRPr lang="en-US" sz="1130" dirty="0"/>
          </a:p>
        </p:txBody>
      </p:sp>
      <p:sp>
        <p:nvSpPr>
          <p:cNvPr id="49" name="Text 47"/>
          <p:cNvSpPr txBox="1"/>
          <p:nvPr/>
        </p:nvSpPr>
        <p:spPr>
          <a:xfrm>
            <a:off x="7955280" y="5650992"/>
            <a:ext cx="3657600" cy="274320"/>
          </a:xfrm>
          <a:prstGeom prst="rect">
            <a:avLst/>
          </a:prstGeom>
          <a:noFill/>
          <a:ln/>
        </p:spPr>
        <p:txBody>
          <a:bodyPr wrap="square" lIns="0" tIns="0" rIns="0" bIns="0" rtlCol="0" anchor="ctr"/>
          <a:lstStyle/>
          <a:p>
            <a:pPr marL="0" indent="0">
              <a:buNone/>
            </a:pPr>
            <a:r>
              <a:rPr lang="en-US" sz="1130" dirty="0">
                <a:solidFill>
                  <a:srgbClr val="27323C"/>
                </a:solidFill>
                <a:latin typeface="Calibri" pitchFamily="34" charset="0"/>
                <a:ea typeface="Calibri" pitchFamily="34" charset="-122"/>
                <a:cs typeface="Calibri" pitchFamily="34" charset="-120"/>
              </a:rPr>
              <a:t>A small model can explain what it hears</a:t>
            </a:r>
            <a:endParaRPr lang="en-US" sz="1130" dirty="0"/>
          </a:p>
        </p:txBody>
      </p:sp>
      <p:sp>
        <p:nvSpPr>
          <p:cNvPr id="50" name="Text 48"/>
          <p:cNvSpPr txBox="1"/>
          <p:nvPr/>
        </p:nvSpPr>
        <p:spPr>
          <a:xfrm>
            <a:off x="566928" y="6053328"/>
            <a:ext cx="11064240" cy="274320"/>
          </a:xfrm>
          <a:prstGeom prst="rect">
            <a:avLst/>
          </a:prstGeom>
          <a:noFill/>
          <a:ln/>
        </p:spPr>
        <p:txBody>
          <a:bodyPr wrap="square" lIns="0" tIns="0" rIns="0" bIns="0" rtlCol="0" anchor="ctr"/>
          <a:lstStyle/>
          <a:p>
            <a:pPr marL="0" indent="0">
              <a:buNone/>
            </a:pPr>
            <a:r>
              <a:rPr lang="en-US" sz="1150" i="1" dirty="0">
                <a:solidFill>
                  <a:srgbClr val="56646F"/>
                </a:solidFill>
                <a:latin typeface="Calibri" pitchFamily="34" charset="0"/>
                <a:ea typeface="Calibri" pitchFamily="34" charset="-122"/>
                <a:cs typeface="Calibri" pitchFamily="34" charset="-120"/>
              </a:rPr>
              <a:t>The highlighted row is the methodological difference that matters most for how much each paper can claim.</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027664" y="516636"/>
            <a:ext cx="82296" cy="82296"/>
          </a:xfrm>
          <a:prstGeom prst="ellipse">
            <a:avLst/>
          </a:prstGeom>
          <a:solidFill>
            <a:srgbClr val="2F5D8C"/>
          </a:solidFill>
          <a:ln w="12700">
            <a:solidFill>
              <a:srgbClr val="333333"/>
            </a:solidFill>
            <a:prstDash val="solid"/>
          </a:ln>
        </p:spPr>
        <p:txBody>
          <a:bodyPr/>
          <a:lstStyle/>
          <a:p>
            <a:endParaRPr lang="en-US"/>
          </a:p>
        </p:txBody>
      </p:sp>
      <p:sp>
        <p:nvSpPr>
          <p:cNvPr id="3" name="Shape 1"/>
          <p:cNvSpPr/>
          <p:nvPr/>
        </p:nvSpPr>
        <p:spPr>
          <a:xfrm>
            <a:off x="11155680" y="498348"/>
            <a:ext cx="118872" cy="118872"/>
          </a:xfrm>
          <a:prstGeom prst="ellipse">
            <a:avLst/>
          </a:prstGeom>
          <a:solidFill>
            <a:srgbClr val="2F5D8C"/>
          </a:solidFill>
          <a:ln w="12700">
            <a:solidFill>
              <a:srgbClr val="333333"/>
            </a:solidFill>
            <a:prstDash val="solid"/>
          </a:ln>
        </p:spPr>
        <p:txBody>
          <a:bodyPr/>
          <a:lstStyle/>
          <a:p>
            <a:endParaRPr lang="en-US"/>
          </a:p>
        </p:txBody>
      </p:sp>
      <p:sp>
        <p:nvSpPr>
          <p:cNvPr id="4" name="Shape 2"/>
          <p:cNvSpPr/>
          <p:nvPr/>
        </p:nvSpPr>
        <p:spPr>
          <a:xfrm>
            <a:off x="11320272" y="475488"/>
            <a:ext cx="164592" cy="164592"/>
          </a:xfrm>
          <a:prstGeom prst="ellipse">
            <a:avLst/>
          </a:prstGeom>
          <a:solidFill>
            <a:srgbClr val="E4A11B"/>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141C24"/>
                </a:solidFill>
                <a:latin typeface="Cambria" pitchFamily="34" charset="0"/>
                <a:ea typeface="Cambria" pitchFamily="34" charset="-122"/>
                <a:cs typeface="Cambria" pitchFamily="34" charset="-120"/>
              </a:rPr>
              <a:t>Take-aways</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56646F"/>
                </a:solidFill>
                <a:latin typeface="Calibri" pitchFamily="34" charset="0"/>
                <a:ea typeface="Calibri" pitchFamily="34" charset="-122"/>
                <a:cs typeface="Calibri" pitchFamily="34" charset="-120"/>
              </a:rPr>
              <a:t>Four things to carry out of this session</a:t>
            </a:r>
            <a:endParaRPr lang="en-US" sz="1350" dirty="0"/>
          </a:p>
        </p:txBody>
      </p:sp>
      <p:sp>
        <p:nvSpPr>
          <p:cNvPr id="7" name="Text 5"/>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93A5B4"/>
                </a:solidFill>
                <a:latin typeface="Calibri" pitchFamily="34" charset="0"/>
                <a:ea typeface="Calibri" pitchFamily="34" charset="-122"/>
                <a:cs typeface="Calibri" pitchFamily="34" charset="-120"/>
              </a:rPr>
              <a:t>LTU · Gong et al. 2024  |  23</a:t>
            </a:r>
            <a:endParaRPr lang="en-US" sz="900" dirty="0"/>
          </a:p>
        </p:txBody>
      </p:sp>
      <p:sp>
        <p:nvSpPr>
          <p:cNvPr id="8" name="Shape 6"/>
          <p:cNvSpPr/>
          <p:nvPr/>
        </p:nvSpPr>
        <p:spPr>
          <a:xfrm>
            <a:off x="566928" y="1572768"/>
            <a:ext cx="11064240" cy="1005840"/>
          </a:xfrm>
          <a:prstGeom prst="roundRect">
            <a:avLst>
              <a:gd name="adj" fmla="val 4545"/>
            </a:avLst>
          </a:prstGeom>
          <a:solidFill>
            <a:srgbClr val="F0F3F7"/>
          </a:solidFill>
          <a:ln w="12700">
            <a:solidFill>
              <a:srgbClr val="DFE6EE"/>
            </a:solidFill>
            <a:prstDash val="solid"/>
          </a:ln>
        </p:spPr>
        <p:txBody>
          <a:bodyPr/>
          <a:lstStyle/>
          <a:p>
            <a:endParaRPr lang="en-US"/>
          </a:p>
        </p:txBody>
      </p:sp>
      <p:sp>
        <p:nvSpPr>
          <p:cNvPr id="9" name="Shape 7"/>
          <p:cNvSpPr/>
          <p:nvPr/>
        </p:nvSpPr>
        <p:spPr>
          <a:xfrm>
            <a:off x="822960" y="1901952"/>
            <a:ext cx="347472" cy="347472"/>
          </a:xfrm>
          <a:prstGeom prst="ellipse">
            <a:avLst/>
          </a:prstGeom>
          <a:solidFill>
            <a:srgbClr val="2F5D8C"/>
          </a:solidFill>
          <a:ln w="12700">
            <a:solidFill>
              <a:srgbClr val="333333"/>
            </a:solidFill>
            <a:prstDash val="solid"/>
          </a:ln>
        </p:spPr>
        <p:txBody>
          <a:bodyPr/>
          <a:lstStyle/>
          <a:p>
            <a:endParaRPr lang="en-US"/>
          </a:p>
        </p:txBody>
      </p:sp>
      <p:sp>
        <p:nvSpPr>
          <p:cNvPr id="10" name="Text 8"/>
          <p:cNvSpPr txBox="1"/>
          <p:nvPr/>
        </p:nvSpPr>
        <p:spPr>
          <a:xfrm>
            <a:off x="822960" y="1929384"/>
            <a:ext cx="347472"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1" name="Text 9"/>
          <p:cNvSpPr txBox="1"/>
          <p:nvPr/>
        </p:nvSpPr>
        <p:spPr>
          <a:xfrm>
            <a:off x="1335024" y="1719072"/>
            <a:ext cx="4114800" cy="731520"/>
          </a:xfrm>
          <a:prstGeom prst="rect">
            <a:avLst/>
          </a:prstGeom>
          <a:noFill/>
          <a:ln/>
        </p:spPr>
        <p:txBody>
          <a:bodyPr wrap="square" lIns="0" tIns="0" rIns="0" bIns="0" rtlCol="0" anchor="ctr"/>
          <a:lstStyle/>
          <a:p>
            <a:pPr marL="0" indent="0">
              <a:buNone/>
            </a:pPr>
            <a:r>
              <a:rPr lang="en-US" sz="1300" b="1" dirty="0">
                <a:solidFill>
                  <a:srgbClr val="141C24"/>
                </a:solidFill>
                <a:latin typeface="Cambria" pitchFamily="34" charset="0"/>
                <a:ea typeface="Cambria" pitchFamily="34" charset="-122"/>
                <a:cs typeface="Cambria" pitchFamily="34" charset="-120"/>
              </a:rPr>
              <a:t>Generate the data you need from metadata</a:t>
            </a:r>
            <a:endParaRPr lang="en-US" sz="1300" dirty="0"/>
          </a:p>
        </p:txBody>
      </p:sp>
      <p:sp>
        <p:nvSpPr>
          <p:cNvPr id="12" name="Text 10"/>
          <p:cNvSpPr txBox="1"/>
          <p:nvPr/>
        </p:nvSpPr>
        <p:spPr>
          <a:xfrm>
            <a:off x="5623560" y="1700784"/>
            <a:ext cx="5852160" cy="768096"/>
          </a:xfrm>
          <a:prstGeom prst="rect">
            <a:avLst/>
          </a:prstGeom>
          <a:noFill/>
          <a:ln/>
        </p:spPr>
        <p:txBody>
          <a:bodyPr wrap="square" lIns="0" tIns="0" rIns="0" bIns="0" rtlCol="0" anchor="ctr"/>
          <a:lstStyle/>
          <a:p>
            <a:pPr marL="0" indent="0">
              <a:buNone/>
            </a:pPr>
            <a:r>
              <a:rPr lang="en-US" sz="1200" dirty="0">
                <a:solidFill>
                  <a:srgbClr val="27323C"/>
                </a:solidFill>
                <a:latin typeface="Calibri" pitchFamily="34" charset="0"/>
                <a:ea typeface="Calibri" pitchFamily="34" charset="-122"/>
                <a:cs typeface="Calibri" pitchFamily="34" charset="-120"/>
              </a:rPr>
              <a:t>GPT never heard the audio; it wrote questions from labels, features and timestamps, and the metadata was then discarded. This is now the standard recipe for audio instruction data.</a:t>
            </a:r>
            <a:endParaRPr lang="en-US" sz="1200" dirty="0"/>
          </a:p>
        </p:txBody>
      </p:sp>
      <p:sp>
        <p:nvSpPr>
          <p:cNvPr id="13" name="Shape 11"/>
          <p:cNvSpPr/>
          <p:nvPr/>
        </p:nvSpPr>
        <p:spPr>
          <a:xfrm>
            <a:off x="566928" y="2651760"/>
            <a:ext cx="11064240" cy="1005840"/>
          </a:xfrm>
          <a:prstGeom prst="roundRect">
            <a:avLst>
              <a:gd name="adj" fmla="val 4545"/>
            </a:avLst>
          </a:prstGeom>
          <a:solidFill>
            <a:srgbClr val="FFFFFF"/>
          </a:solidFill>
          <a:ln w="12700">
            <a:solidFill>
              <a:srgbClr val="DFE6EE"/>
            </a:solidFill>
            <a:prstDash val="solid"/>
          </a:ln>
        </p:spPr>
        <p:txBody>
          <a:bodyPr/>
          <a:lstStyle/>
          <a:p>
            <a:endParaRPr lang="en-US"/>
          </a:p>
        </p:txBody>
      </p:sp>
      <p:sp>
        <p:nvSpPr>
          <p:cNvPr id="14" name="Shape 12"/>
          <p:cNvSpPr/>
          <p:nvPr/>
        </p:nvSpPr>
        <p:spPr>
          <a:xfrm>
            <a:off x="822960" y="2980944"/>
            <a:ext cx="347472" cy="347472"/>
          </a:xfrm>
          <a:prstGeom prst="ellipse">
            <a:avLst/>
          </a:prstGeom>
          <a:solidFill>
            <a:srgbClr val="2F5D8C"/>
          </a:solidFill>
          <a:ln w="12700">
            <a:solidFill>
              <a:srgbClr val="333333"/>
            </a:solidFill>
            <a:prstDash val="solid"/>
          </a:ln>
        </p:spPr>
        <p:txBody>
          <a:bodyPr/>
          <a:lstStyle/>
          <a:p>
            <a:endParaRPr lang="en-US"/>
          </a:p>
        </p:txBody>
      </p:sp>
      <p:sp>
        <p:nvSpPr>
          <p:cNvPr id="15" name="Text 13"/>
          <p:cNvSpPr txBox="1"/>
          <p:nvPr/>
        </p:nvSpPr>
        <p:spPr>
          <a:xfrm>
            <a:off x="822960" y="3008376"/>
            <a:ext cx="347472"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6" name="Text 14"/>
          <p:cNvSpPr txBox="1"/>
          <p:nvPr/>
        </p:nvSpPr>
        <p:spPr>
          <a:xfrm>
            <a:off x="1335024" y="2798064"/>
            <a:ext cx="4114800" cy="731520"/>
          </a:xfrm>
          <a:prstGeom prst="rect">
            <a:avLst/>
          </a:prstGeom>
          <a:noFill/>
          <a:ln/>
        </p:spPr>
        <p:txBody>
          <a:bodyPr wrap="square" lIns="0" tIns="0" rIns="0" bIns="0" rtlCol="0" anchor="ctr"/>
          <a:lstStyle/>
          <a:p>
            <a:pPr marL="0" indent="0">
              <a:buNone/>
            </a:pPr>
            <a:r>
              <a:rPr lang="en-US" sz="1300" b="1" dirty="0">
                <a:solidFill>
                  <a:srgbClr val="141C24"/>
                </a:solidFill>
                <a:latin typeface="Cambria" pitchFamily="34" charset="0"/>
                <a:ea typeface="Cambria" pitchFamily="34" charset="-122"/>
                <a:cs typeface="Cambria" pitchFamily="34" charset="-120"/>
              </a:rPr>
              <a:t>Order the curriculum by openness</a:t>
            </a:r>
            <a:endParaRPr lang="en-US" sz="1300" dirty="0"/>
          </a:p>
        </p:txBody>
      </p:sp>
      <p:sp>
        <p:nvSpPr>
          <p:cNvPr id="17" name="Text 15"/>
          <p:cNvSpPr txBox="1"/>
          <p:nvPr/>
        </p:nvSpPr>
        <p:spPr>
          <a:xfrm>
            <a:off x="5623560" y="2779776"/>
            <a:ext cx="5852160" cy="768096"/>
          </a:xfrm>
          <a:prstGeom prst="rect">
            <a:avLst/>
          </a:prstGeom>
          <a:noFill/>
          <a:ln/>
        </p:spPr>
        <p:txBody>
          <a:bodyPr wrap="square" lIns="0" tIns="0" rIns="0" bIns="0" rtlCol="0" anchor="ctr"/>
          <a:lstStyle/>
          <a:p>
            <a:pPr marL="0" indent="0">
              <a:buNone/>
            </a:pPr>
            <a:r>
              <a:rPr lang="en-US" sz="1200" dirty="0">
                <a:solidFill>
                  <a:srgbClr val="27323C"/>
                </a:solidFill>
                <a:latin typeface="Calibri" pitchFamily="34" charset="0"/>
                <a:ea typeface="Calibri" pitchFamily="34" charset="-122"/>
                <a:cs typeface="Calibri" pitchFamily="34" charset="-120"/>
              </a:rPr>
              <a:t>Closed-ended tasks first, where a wrong answer is punished hard, then open-ended. Removing that ordering costs 27 points with the same compute.</a:t>
            </a:r>
            <a:endParaRPr lang="en-US" sz="1200" dirty="0"/>
          </a:p>
        </p:txBody>
      </p:sp>
      <p:sp>
        <p:nvSpPr>
          <p:cNvPr id="18" name="Shape 16"/>
          <p:cNvSpPr/>
          <p:nvPr/>
        </p:nvSpPr>
        <p:spPr>
          <a:xfrm>
            <a:off x="566928" y="3730752"/>
            <a:ext cx="11064240" cy="1005840"/>
          </a:xfrm>
          <a:prstGeom prst="roundRect">
            <a:avLst>
              <a:gd name="adj" fmla="val 4545"/>
            </a:avLst>
          </a:prstGeom>
          <a:solidFill>
            <a:srgbClr val="F0F3F7"/>
          </a:solidFill>
          <a:ln w="12700">
            <a:solidFill>
              <a:srgbClr val="DFE6EE"/>
            </a:solidFill>
            <a:prstDash val="solid"/>
          </a:ln>
        </p:spPr>
        <p:txBody>
          <a:bodyPr/>
          <a:lstStyle/>
          <a:p>
            <a:endParaRPr lang="en-US"/>
          </a:p>
        </p:txBody>
      </p:sp>
      <p:sp>
        <p:nvSpPr>
          <p:cNvPr id="19" name="Shape 17"/>
          <p:cNvSpPr/>
          <p:nvPr/>
        </p:nvSpPr>
        <p:spPr>
          <a:xfrm>
            <a:off x="822960" y="4059936"/>
            <a:ext cx="347472" cy="347472"/>
          </a:xfrm>
          <a:prstGeom prst="ellipse">
            <a:avLst/>
          </a:prstGeom>
          <a:solidFill>
            <a:srgbClr val="2F5D8C"/>
          </a:solidFill>
          <a:ln w="12700">
            <a:solidFill>
              <a:srgbClr val="333333"/>
            </a:solidFill>
            <a:prstDash val="solid"/>
          </a:ln>
        </p:spPr>
        <p:txBody>
          <a:bodyPr/>
          <a:lstStyle/>
          <a:p>
            <a:endParaRPr lang="en-US"/>
          </a:p>
        </p:txBody>
      </p:sp>
      <p:sp>
        <p:nvSpPr>
          <p:cNvPr id="20" name="Text 18"/>
          <p:cNvSpPr txBox="1"/>
          <p:nvPr/>
        </p:nvSpPr>
        <p:spPr>
          <a:xfrm>
            <a:off x="822960" y="4087368"/>
            <a:ext cx="347472"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1" name="Text 19"/>
          <p:cNvSpPr txBox="1"/>
          <p:nvPr/>
        </p:nvSpPr>
        <p:spPr>
          <a:xfrm>
            <a:off x="1335024" y="3877056"/>
            <a:ext cx="4114800" cy="731520"/>
          </a:xfrm>
          <a:prstGeom prst="rect">
            <a:avLst/>
          </a:prstGeom>
          <a:noFill/>
          <a:ln/>
        </p:spPr>
        <p:txBody>
          <a:bodyPr wrap="square" lIns="0" tIns="0" rIns="0" bIns="0" rtlCol="0" anchor="ctr"/>
          <a:lstStyle/>
          <a:p>
            <a:pPr marL="0" indent="0">
              <a:buNone/>
            </a:pPr>
            <a:r>
              <a:rPr lang="en-US" sz="1300" b="1" dirty="0">
                <a:solidFill>
                  <a:srgbClr val="141C24"/>
                </a:solidFill>
                <a:latin typeface="Cambria" pitchFamily="34" charset="0"/>
                <a:ea typeface="Cambria" pitchFamily="34" charset="-122"/>
                <a:cs typeface="Cambria" pitchFamily="34" charset="-120"/>
              </a:rPr>
              <a:t>Understanding improves perception</a:t>
            </a:r>
            <a:endParaRPr lang="en-US" sz="1300" dirty="0"/>
          </a:p>
        </p:txBody>
      </p:sp>
      <p:sp>
        <p:nvSpPr>
          <p:cNvPr id="22" name="Text 20"/>
          <p:cNvSpPr txBox="1"/>
          <p:nvPr/>
        </p:nvSpPr>
        <p:spPr>
          <a:xfrm>
            <a:off x="5623560" y="3858768"/>
            <a:ext cx="5852160" cy="768096"/>
          </a:xfrm>
          <a:prstGeom prst="rect">
            <a:avLst/>
          </a:prstGeom>
          <a:noFill/>
          <a:ln/>
        </p:spPr>
        <p:txBody>
          <a:bodyPr wrap="square" lIns="0" tIns="0" rIns="0" bIns="0" rtlCol="0" anchor="ctr"/>
          <a:lstStyle/>
          <a:p>
            <a:pPr marL="0" indent="0">
              <a:buNone/>
            </a:pPr>
            <a:r>
              <a:rPr lang="en-US" sz="1200" dirty="0">
                <a:solidFill>
                  <a:srgbClr val="27323C"/>
                </a:solidFill>
                <a:latin typeface="Calibri" pitchFamily="34" charset="0"/>
                <a:ea typeface="Calibri" pitchFamily="34" charset="-122"/>
                <a:cs typeface="Calibri" pitchFamily="34" charset="-120"/>
              </a:rPr>
              <a:t>Training on open-ended reasoning made the model better at plain classification. The direction of transfer is not the obvious one.</a:t>
            </a:r>
            <a:endParaRPr lang="en-US" sz="1200" dirty="0"/>
          </a:p>
        </p:txBody>
      </p:sp>
      <p:sp>
        <p:nvSpPr>
          <p:cNvPr id="23" name="Shape 21"/>
          <p:cNvSpPr/>
          <p:nvPr/>
        </p:nvSpPr>
        <p:spPr>
          <a:xfrm>
            <a:off x="566928" y="4809744"/>
            <a:ext cx="11064240" cy="1005840"/>
          </a:xfrm>
          <a:prstGeom prst="roundRect">
            <a:avLst>
              <a:gd name="adj" fmla="val 4545"/>
            </a:avLst>
          </a:prstGeom>
          <a:solidFill>
            <a:srgbClr val="FFFFFF"/>
          </a:solidFill>
          <a:ln w="12700">
            <a:solidFill>
              <a:srgbClr val="DFE6EE"/>
            </a:solidFill>
            <a:prstDash val="solid"/>
          </a:ln>
        </p:spPr>
        <p:txBody>
          <a:bodyPr/>
          <a:lstStyle/>
          <a:p>
            <a:endParaRPr lang="en-US"/>
          </a:p>
        </p:txBody>
      </p:sp>
      <p:sp>
        <p:nvSpPr>
          <p:cNvPr id="24" name="Shape 22"/>
          <p:cNvSpPr/>
          <p:nvPr/>
        </p:nvSpPr>
        <p:spPr>
          <a:xfrm>
            <a:off x="822960" y="5138928"/>
            <a:ext cx="347472" cy="347472"/>
          </a:xfrm>
          <a:prstGeom prst="ellipse">
            <a:avLst/>
          </a:prstGeom>
          <a:solidFill>
            <a:srgbClr val="2F5D8C"/>
          </a:solidFill>
          <a:ln w="12700">
            <a:solidFill>
              <a:srgbClr val="333333"/>
            </a:solidFill>
            <a:prstDash val="solid"/>
          </a:ln>
        </p:spPr>
        <p:txBody>
          <a:bodyPr/>
          <a:lstStyle/>
          <a:p>
            <a:endParaRPr lang="en-US"/>
          </a:p>
        </p:txBody>
      </p:sp>
      <p:sp>
        <p:nvSpPr>
          <p:cNvPr id="25" name="Text 23"/>
          <p:cNvSpPr txBox="1"/>
          <p:nvPr/>
        </p:nvSpPr>
        <p:spPr>
          <a:xfrm>
            <a:off x="822960" y="5166360"/>
            <a:ext cx="347472"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6" name="Text 24"/>
          <p:cNvSpPr txBox="1"/>
          <p:nvPr/>
        </p:nvSpPr>
        <p:spPr>
          <a:xfrm>
            <a:off x="1335024" y="4956048"/>
            <a:ext cx="4114800" cy="731520"/>
          </a:xfrm>
          <a:prstGeom prst="rect">
            <a:avLst/>
          </a:prstGeom>
          <a:noFill/>
          <a:ln/>
        </p:spPr>
        <p:txBody>
          <a:bodyPr wrap="square" lIns="0" tIns="0" rIns="0" bIns="0" rtlCol="0" anchor="ctr"/>
          <a:lstStyle/>
          <a:p>
            <a:pPr marL="0" indent="0">
              <a:buNone/>
            </a:pPr>
            <a:r>
              <a:rPr lang="en-US" sz="1300" b="1" dirty="0">
                <a:solidFill>
                  <a:srgbClr val="141C24"/>
                </a:solidFill>
                <a:latin typeface="Cambria" pitchFamily="34" charset="0"/>
                <a:ea typeface="Cambria" pitchFamily="34" charset="-122"/>
                <a:cs typeface="Cambria" pitchFamily="34" charset="-120"/>
              </a:rPr>
              <a:t>Teach the model to refuse</a:t>
            </a:r>
            <a:endParaRPr lang="en-US" sz="1300" dirty="0"/>
          </a:p>
        </p:txBody>
      </p:sp>
      <p:sp>
        <p:nvSpPr>
          <p:cNvPr id="27" name="Text 25"/>
          <p:cNvSpPr txBox="1"/>
          <p:nvPr/>
        </p:nvSpPr>
        <p:spPr>
          <a:xfrm>
            <a:off x="5623560" y="4937760"/>
            <a:ext cx="5852160" cy="768096"/>
          </a:xfrm>
          <a:prstGeom prst="rect">
            <a:avLst/>
          </a:prstGeom>
          <a:noFill/>
          <a:ln/>
        </p:spPr>
        <p:txBody>
          <a:bodyPr wrap="square" lIns="0" tIns="0" rIns="0" bIns="0" rtlCol="0" anchor="ctr"/>
          <a:lstStyle/>
          <a:p>
            <a:pPr marL="0" indent="0">
              <a:buNone/>
            </a:pPr>
            <a:r>
              <a:rPr lang="en-US" sz="1200" dirty="0">
                <a:solidFill>
                  <a:srgbClr val="27323C"/>
                </a:solidFill>
                <a:latin typeface="Calibri" pitchFamily="34" charset="0"/>
                <a:ea typeface="Calibri" pitchFamily="34" charset="-122"/>
                <a:cs typeface="Calibri" pitchFamily="34" charset="-120"/>
              </a:rPr>
              <a:t>6.5% unanswerable questions raise the refusal rate from 51.9% to 69.3%. Keeping what a naive pipeline would filter out was the intervention.</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E2833"/>
        </a:solidFill>
        <a:effectLst/>
      </p:bgPr>
    </p:bg>
    <p:spTree>
      <p:nvGrpSpPr>
        <p:cNvPr id="1" name=""/>
        <p:cNvGrpSpPr/>
        <p:nvPr/>
      </p:nvGrpSpPr>
      <p:grpSpPr>
        <a:xfrm>
          <a:off x="0" y="0"/>
          <a:ext cx="0" cy="0"/>
          <a:chOff x="0" y="0"/>
          <a:chExt cx="0" cy="0"/>
        </a:xfrm>
      </p:grpSpPr>
      <p:sp>
        <p:nvSpPr>
          <p:cNvPr id="2" name="Shape 0"/>
          <p:cNvSpPr/>
          <p:nvPr/>
        </p:nvSpPr>
        <p:spPr>
          <a:xfrm>
            <a:off x="10515600" y="742493"/>
            <a:ext cx="131674" cy="131674"/>
          </a:xfrm>
          <a:prstGeom prst="ellipse">
            <a:avLst/>
          </a:prstGeom>
          <a:solidFill>
            <a:srgbClr val="C3D3DE"/>
          </a:solidFill>
          <a:ln w="12700">
            <a:solidFill>
              <a:srgbClr val="333333"/>
            </a:solidFill>
            <a:prstDash val="solid"/>
          </a:ln>
        </p:spPr>
        <p:txBody>
          <a:bodyPr/>
          <a:lstStyle/>
          <a:p>
            <a:endParaRPr lang="en-US"/>
          </a:p>
        </p:txBody>
      </p:sp>
      <p:sp>
        <p:nvSpPr>
          <p:cNvPr id="3" name="Shape 1"/>
          <p:cNvSpPr/>
          <p:nvPr/>
        </p:nvSpPr>
        <p:spPr>
          <a:xfrm>
            <a:off x="10720426" y="713232"/>
            <a:ext cx="190195" cy="190195"/>
          </a:xfrm>
          <a:prstGeom prst="ellipse">
            <a:avLst/>
          </a:prstGeom>
          <a:solidFill>
            <a:srgbClr val="C3D3DE"/>
          </a:solidFill>
          <a:ln w="12700">
            <a:solidFill>
              <a:srgbClr val="333333"/>
            </a:solidFill>
            <a:prstDash val="solid"/>
          </a:ln>
        </p:spPr>
        <p:txBody>
          <a:bodyPr/>
          <a:lstStyle/>
          <a:p>
            <a:endParaRPr lang="en-US"/>
          </a:p>
        </p:txBody>
      </p:sp>
      <p:sp>
        <p:nvSpPr>
          <p:cNvPr id="4" name="Shape 2"/>
          <p:cNvSpPr/>
          <p:nvPr/>
        </p:nvSpPr>
        <p:spPr>
          <a:xfrm>
            <a:off x="10983773" y="676656"/>
            <a:ext cx="263347" cy="263347"/>
          </a:xfrm>
          <a:prstGeom prst="ellipse">
            <a:avLst/>
          </a:prstGeom>
          <a:solidFill>
            <a:srgbClr val="E4A11B"/>
          </a:solidFill>
          <a:ln w="12700">
            <a:solidFill>
              <a:srgbClr val="333333"/>
            </a:solidFill>
            <a:prstDash val="solid"/>
          </a:ln>
        </p:spPr>
        <p:txBody>
          <a:bodyPr/>
          <a:lstStyle/>
          <a:p>
            <a:endParaRPr lang="en-US"/>
          </a:p>
        </p:txBody>
      </p:sp>
      <p:sp>
        <p:nvSpPr>
          <p:cNvPr id="5" name="Text 3"/>
          <p:cNvSpPr txBox="1"/>
          <p:nvPr/>
        </p:nvSpPr>
        <p:spPr>
          <a:xfrm>
            <a:off x="822960" y="658368"/>
            <a:ext cx="10515600" cy="640080"/>
          </a:xfrm>
          <a:prstGeom prst="rect">
            <a:avLst/>
          </a:prstGeom>
          <a:noFill/>
          <a:ln/>
        </p:spPr>
        <p:txBody>
          <a:bodyPr wrap="square" lIns="0" tIns="0" rIns="0" bIns="0" rtlCol="0" anchor="ctr"/>
          <a:lstStyle/>
          <a:p>
            <a:pPr marL="0" indent="0">
              <a:buNone/>
            </a:pPr>
            <a:r>
              <a:rPr lang="en-US" sz="3100" b="1" dirty="0">
                <a:solidFill>
                  <a:srgbClr val="FFFFFF"/>
                </a:solidFill>
                <a:latin typeface="Cambria" pitchFamily="34" charset="0"/>
                <a:ea typeface="Cambria" pitchFamily="34" charset="-122"/>
                <a:cs typeface="Cambria" pitchFamily="34" charset="-120"/>
              </a:rPr>
              <a:t>Questions for discussion</a:t>
            </a:r>
            <a:endParaRPr lang="en-US" sz="3100" dirty="0"/>
          </a:p>
        </p:txBody>
      </p:sp>
      <p:sp>
        <p:nvSpPr>
          <p:cNvPr id="6" name="Shape 4"/>
          <p:cNvSpPr/>
          <p:nvPr/>
        </p:nvSpPr>
        <p:spPr>
          <a:xfrm>
            <a:off x="841248" y="1371600"/>
            <a:ext cx="329184" cy="329184"/>
          </a:xfrm>
          <a:prstGeom prst="ellipse">
            <a:avLst/>
          </a:prstGeom>
          <a:solidFill>
            <a:srgbClr val="E4A11B"/>
          </a:solidFill>
          <a:ln w="12700">
            <a:solidFill>
              <a:srgbClr val="333333"/>
            </a:solidFill>
            <a:prstDash val="solid"/>
          </a:ln>
        </p:spPr>
        <p:txBody>
          <a:bodyPr/>
          <a:lstStyle/>
          <a:p>
            <a:endParaRPr lang="en-US"/>
          </a:p>
        </p:txBody>
      </p:sp>
      <p:sp>
        <p:nvSpPr>
          <p:cNvPr id="7" name="Text 5"/>
          <p:cNvSpPr txBox="1"/>
          <p:nvPr/>
        </p:nvSpPr>
        <p:spPr>
          <a:xfrm>
            <a:off x="841248" y="1399032"/>
            <a:ext cx="329184" cy="274320"/>
          </a:xfrm>
          <a:prstGeom prst="rect">
            <a:avLst/>
          </a:prstGeom>
          <a:noFill/>
          <a:ln/>
        </p:spPr>
        <p:txBody>
          <a:bodyPr wrap="square" lIns="0" tIns="0" rIns="0" bIns="0" rtlCol="0" anchor="ctr"/>
          <a:lstStyle/>
          <a:p>
            <a:pPr marL="0" indent="0" algn="ctr">
              <a:buNone/>
            </a:pPr>
            <a:r>
              <a:rPr lang="en-US" sz="1200" b="1" dirty="0">
                <a:solidFill>
                  <a:srgbClr val="1E2833"/>
                </a:solidFill>
                <a:latin typeface="Cambria" pitchFamily="34" charset="0"/>
                <a:ea typeface="Cambria" pitchFamily="34" charset="-122"/>
                <a:cs typeface="Cambria" pitchFamily="34" charset="-120"/>
              </a:rPr>
              <a:t>1</a:t>
            </a:r>
            <a:endParaRPr lang="en-US" sz="1200" dirty="0"/>
          </a:p>
        </p:txBody>
      </p:sp>
      <p:sp>
        <p:nvSpPr>
          <p:cNvPr id="8" name="Text 6"/>
          <p:cNvSpPr txBox="1"/>
          <p:nvPr/>
        </p:nvSpPr>
        <p:spPr>
          <a:xfrm>
            <a:off x="1353312" y="1316736"/>
            <a:ext cx="10058400" cy="969264"/>
          </a:xfrm>
          <a:prstGeom prst="rect">
            <a:avLst/>
          </a:prstGeom>
          <a:noFill/>
          <a:ln/>
        </p:spPr>
        <p:txBody>
          <a:bodyPr wrap="square" lIns="0" tIns="0" rIns="0" bIns="0" rtlCol="0" anchor="ctr"/>
          <a:lstStyle/>
          <a:p>
            <a:pPr marL="0" indent="0">
              <a:buNone/>
            </a:pPr>
            <a:r>
              <a:rPr lang="en-US" sz="1250" dirty="0">
                <a:solidFill>
                  <a:srgbClr val="C3D3DE"/>
                </a:solidFill>
                <a:latin typeface="Calibri" pitchFamily="34" charset="0"/>
                <a:ea typeface="Calibri" pitchFamily="34" charset="-122"/>
                <a:cs typeface="Calibri" pitchFamily="34" charset="-120"/>
              </a:rPr>
              <a:t>LTU's acoustic-feature vocabulary comes from GPT-3.5 describing what each class sounds like, applied uniformly to every clip of that class. What is the model actually learning, and how would you test whether those descriptions correspond to anything in the signal?</a:t>
            </a:r>
            <a:endParaRPr lang="en-US" sz="1250" dirty="0"/>
          </a:p>
        </p:txBody>
      </p:sp>
      <p:sp>
        <p:nvSpPr>
          <p:cNvPr id="9" name="Shape 7"/>
          <p:cNvSpPr/>
          <p:nvPr/>
        </p:nvSpPr>
        <p:spPr>
          <a:xfrm>
            <a:off x="841248" y="2359152"/>
            <a:ext cx="329184" cy="329184"/>
          </a:xfrm>
          <a:prstGeom prst="ellipse">
            <a:avLst/>
          </a:prstGeom>
          <a:solidFill>
            <a:srgbClr val="E4A11B"/>
          </a:solidFill>
          <a:ln w="12700">
            <a:solidFill>
              <a:srgbClr val="333333"/>
            </a:solidFill>
            <a:prstDash val="solid"/>
          </a:ln>
        </p:spPr>
        <p:txBody>
          <a:bodyPr/>
          <a:lstStyle/>
          <a:p>
            <a:endParaRPr lang="en-US"/>
          </a:p>
        </p:txBody>
      </p:sp>
      <p:sp>
        <p:nvSpPr>
          <p:cNvPr id="10" name="Text 8"/>
          <p:cNvSpPr txBox="1"/>
          <p:nvPr/>
        </p:nvSpPr>
        <p:spPr>
          <a:xfrm>
            <a:off x="841248" y="2386584"/>
            <a:ext cx="329184" cy="274320"/>
          </a:xfrm>
          <a:prstGeom prst="rect">
            <a:avLst/>
          </a:prstGeom>
          <a:noFill/>
          <a:ln/>
        </p:spPr>
        <p:txBody>
          <a:bodyPr wrap="square" lIns="0" tIns="0" rIns="0" bIns="0" rtlCol="0" anchor="ctr"/>
          <a:lstStyle/>
          <a:p>
            <a:pPr marL="0" indent="0" algn="ctr">
              <a:buNone/>
            </a:pPr>
            <a:r>
              <a:rPr lang="en-US" sz="1200" b="1" dirty="0">
                <a:solidFill>
                  <a:srgbClr val="1E2833"/>
                </a:solidFill>
                <a:latin typeface="Cambria" pitchFamily="34" charset="0"/>
                <a:ea typeface="Cambria" pitchFamily="34" charset="-122"/>
                <a:cs typeface="Cambria" pitchFamily="34" charset="-120"/>
              </a:rPr>
              <a:t>2</a:t>
            </a:r>
            <a:endParaRPr lang="en-US" sz="1200" dirty="0"/>
          </a:p>
        </p:txBody>
      </p:sp>
      <p:sp>
        <p:nvSpPr>
          <p:cNvPr id="11" name="Text 9"/>
          <p:cNvSpPr txBox="1"/>
          <p:nvPr/>
        </p:nvSpPr>
        <p:spPr>
          <a:xfrm>
            <a:off x="1353312" y="2304288"/>
            <a:ext cx="10058400" cy="969264"/>
          </a:xfrm>
          <a:prstGeom prst="rect">
            <a:avLst/>
          </a:prstGeom>
          <a:noFill/>
          <a:ln/>
        </p:spPr>
        <p:txBody>
          <a:bodyPr wrap="square" lIns="0" tIns="0" rIns="0" bIns="0" rtlCol="0" anchor="ctr"/>
          <a:lstStyle/>
          <a:p>
            <a:pPr marL="0" indent="0">
              <a:buNone/>
            </a:pPr>
            <a:r>
              <a:rPr lang="en-US" sz="1250" dirty="0">
                <a:solidFill>
                  <a:srgbClr val="C3D3DE"/>
                </a:solidFill>
                <a:latin typeface="Calibri" pitchFamily="34" charset="0"/>
                <a:ea typeface="Calibri" pitchFamily="34" charset="-122"/>
                <a:cs typeface="Calibri" pitchFamily="34" charset="-120"/>
              </a:rPr>
              <a:t>Open-ended training improved closed-ended classification by 13 points. What is the mechanism, and would you expect the same direction of transfer in vision or in speech emotion?</a:t>
            </a:r>
            <a:endParaRPr lang="en-US" sz="1250" dirty="0"/>
          </a:p>
        </p:txBody>
      </p:sp>
      <p:sp>
        <p:nvSpPr>
          <p:cNvPr id="12" name="Shape 10"/>
          <p:cNvSpPr/>
          <p:nvPr/>
        </p:nvSpPr>
        <p:spPr>
          <a:xfrm>
            <a:off x="841248" y="3346704"/>
            <a:ext cx="329184" cy="329184"/>
          </a:xfrm>
          <a:prstGeom prst="ellipse">
            <a:avLst/>
          </a:prstGeom>
          <a:solidFill>
            <a:srgbClr val="E4A11B"/>
          </a:solidFill>
          <a:ln w="12700">
            <a:solidFill>
              <a:srgbClr val="333333"/>
            </a:solidFill>
            <a:prstDash val="solid"/>
          </a:ln>
        </p:spPr>
        <p:txBody>
          <a:bodyPr/>
          <a:lstStyle/>
          <a:p>
            <a:endParaRPr lang="en-US"/>
          </a:p>
        </p:txBody>
      </p:sp>
      <p:sp>
        <p:nvSpPr>
          <p:cNvPr id="13" name="Text 11"/>
          <p:cNvSpPr txBox="1"/>
          <p:nvPr/>
        </p:nvSpPr>
        <p:spPr>
          <a:xfrm>
            <a:off x="841248" y="3374136"/>
            <a:ext cx="329184" cy="274320"/>
          </a:xfrm>
          <a:prstGeom prst="rect">
            <a:avLst/>
          </a:prstGeom>
          <a:noFill/>
          <a:ln/>
        </p:spPr>
        <p:txBody>
          <a:bodyPr wrap="square" lIns="0" tIns="0" rIns="0" bIns="0" rtlCol="0" anchor="ctr"/>
          <a:lstStyle/>
          <a:p>
            <a:pPr marL="0" indent="0" algn="ctr">
              <a:buNone/>
            </a:pPr>
            <a:r>
              <a:rPr lang="en-US" sz="1200" b="1" dirty="0">
                <a:solidFill>
                  <a:srgbClr val="1E2833"/>
                </a:solidFill>
                <a:latin typeface="Cambria" pitchFamily="34" charset="0"/>
                <a:ea typeface="Cambria" pitchFamily="34" charset="-122"/>
                <a:cs typeface="Cambria" pitchFamily="34" charset="-120"/>
              </a:rPr>
              <a:t>3</a:t>
            </a:r>
            <a:endParaRPr lang="en-US" sz="1200" dirty="0"/>
          </a:p>
        </p:txBody>
      </p:sp>
      <p:sp>
        <p:nvSpPr>
          <p:cNvPr id="14" name="Text 12"/>
          <p:cNvSpPr txBox="1"/>
          <p:nvPr/>
        </p:nvSpPr>
        <p:spPr>
          <a:xfrm>
            <a:off x="1353312" y="3291840"/>
            <a:ext cx="10058400" cy="969264"/>
          </a:xfrm>
          <a:prstGeom prst="rect">
            <a:avLst/>
          </a:prstGeom>
          <a:noFill/>
          <a:ln/>
        </p:spPr>
        <p:txBody>
          <a:bodyPr wrap="square" lIns="0" tIns="0" rIns="0" bIns="0" rtlCol="0" anchor="ctr"/>
          <a:lstStyle/>
          <a:p>
            <a:pPr marL="0" indent="0">
              <a:buNone/>
            </a:pPr>
            <a:r>
              <a:rPr lang="en-US" sz="1250" dirty="0">
                <a:solidFill>
                  <a:srgbClr val="C3D3DE"/>
                </a:solidFill>
                <a:latin typeface="Calibri" pitchFamily="34" charset="0"/>
                <a:ea typeface="Calibri" pitchFamily="34" charset="-122"/>
                <a:cs typeface="Calibri" pitchFamily="34" charset="-120"/>
              </a:rPr>
              <a:t>The evaluation compares LTU against GPT-4 answering from metadata and against quick crowd-worker answers. What would a defensible baseline for open-ended audio reasoning look like?</a:t>
            </a:r>
            <a:endParaRPr lang="en-US" sz="1250" dirty="0"/>
          </a:p>
        </p:txBody>
      </p:sp>
      <p:sp>
        <p:nvSpPr>
          <p:cNvPr id="15" name="Shape 13"/>
          <p:cNvSpPr/>
          <p:nvPr/>
        </p:nvSpPr>
        <p:spPr>
          <a:xfrm>
            <a:off x="841248" y="4334256"/>
            <a:ext cx="329184" cy="329184"/>
          </a:xfrm>
          <a:prstGeom prst="ellipse">
            <a:avLst/>
          </a:prstGeom>
          <a:solidFill>
            <a:srgbClr val="E4A11B"/>
          </a:solidFill>
          <a:ln w="12700">
            <a:solidFill>
              <a:srgbClr val="333333"/>
            </a:solidFill>
            <a:prstDash val="solid"/>
          </a:ln>
        </p:spPr>
        <p:txBody>
          <a:bodyPr/>
          <a:lstStyle/>
          <a:p>
            <a:endParaRPr lang="en-US"/>
          </a:p>
        </p:txBody>
      </p:sp>
      <p:sp>
        <p:nvSpPr>
          <p:cNvPr id="16" name="Text 14"/>
          <p:cNvSpPr txBox="1"/>
          <p:nvPr/>
        </p:nvSpPr>
        <p:spPr>
          <a:xfrm>
            <a:off x="841248" y="4361688"/>
            <a:ext cx="329184" cy="274320"/>
          </a:xfrm>
          <a:prstGeom prst="rect">
            <a:avLst/>
          </a:prstGeom>
          <a:noFill/>
          <a:ln/>
        </p:spPr>
        <p:txBody>
          <a:bodyPr wrap="square" lIns="0" tIns="0" rIns="0" bIns="0" rtlCol="0" anchor="ctr"/>
          <a:lstStyle/>
          <a:p>
            <a:pPr marL="0" indent="0" algn="ctr">
              <a:buNone/>
            </a:pPr>
            <a:r>
              <a:rPr lang="en-US" sz="1200" b="1" dirty="0">
                <a:solidFill>
                  <a:srgbClr val="1E2833"/>
                </a:solidFill>
                <a:latin typeface="Cambria" pitchFamily="34" charset="0"/>
                <a:ea typeface="Cambria" pitchFamily="34" charset="-122"/>
                <a:cs typeface="Cambria" pitchFamily="34" charset="-120"/>
              </a:rPr>
              <a:t>4</a:t>
            </a:r>
            <a:endParaRPr lang="en-US" sz="1200" dirty="0"/>
          </a:p>
        </p:txBody>
      </p:sp>
      <p:sp>
        <p:nvSpPr>
          <p:cNvPr id="17" name="Text 15"/>
          <p:cNvSpPr txBox="1"/>
          <p:nvPr/>
        </p:nvSpPr>
        <p:spPr>
          <a:xfrm>
            <a:off x="1353312" y="4279392"/>
            <a:ext cx="10058400" cy="969264"/>
          </a:xfrm>
          <a:prstGeom prst="rect">
            <a:avLst/>
          </a:prstGeom>
          <a:noFill/>
          <a:ln/>
        </p:spPr>
        <p:txBody>
          <a:bodyPr wrap="square" lIns="0" tIns="0" rIns="0" bIns="0" rtlCol="0" anchor="ctr"/>
          <a:lstStyle/>
          <a:p>
            <a:pPr marL="0" indent="0">
              <a:buNone/>
            </a:pPr>
            <a:r>
              <a:rPr lang="en-US" sz="1250" dirty="0">
                <a:solidFill>
                  <a:srgbClr val="C3D3DE"/>
                </a:solidFill>
                <a:latin typeface="Calibri" pitchFamily="34" charset="0"/>
                <a:ea typeface="Calibri" pitchFamily="34" charset="-122"/>
                <a:cs typeface="Calibri" pitchFamily="34" charset="-120"/>
              </a:rPr>
              <a:t>Doubling the language model changed almost nothing measurable, but the authors report better reasoning. Is that a metric failure or an anecdote — and what would settle it?</a:t>
            </a:r>
            <a:endParaRPr lang="en-US" sz="1250" dirty="0"/>
          </a:p>
        </p:txBody>
      </p:sp>
      <p:sp>
        <p:nvSpPr>
          <p:cNvPr id="18" name="Shape 16"/>
          <p:cNvSpPr/>
          <p:nvPr/>
        </p:nvSpPr>
        <p:spPr>
          <a:xfrm>
            <a:off x="841248" y="5321808"/>
            <a:ext cx="329184" cy="329184"/>
          </a:xfrm>
          <a:prstGeom prst="ellipse">
            <a:avLst/>
          </a:prstGeom>
          <a:solidFill>
            <a:srgbClr val="E4A11B"/>
          </a:solidFill>
          <a:ln w="12700">
            <a:solidFill>
              <a:srgbClr val="333333"/>
            </a:solidFill>
            <a:prstDash val="solid"/>
          </a:ln>
        </p:spPr>
        <p:txBody>
          <a:bodyPr/>
          <a:lstStyle/>
          <a:p>
            <a:endParaRPr lang="en-US"/>
          </a:p>
        </p:txBody>
      </p:sp>
      <p:sp>
        <p:nvSpPr>
          <p:cNvPr id="19" name="Text 17"/>
          <p:cNvSpPr txBox="1"/>
          <p:nvPr/>
        </p:nvSpPr>
        <p:spPr>
          <a:xfrm>
            <a:off x="841248" y="5349240"/>
            <a:ext cx="329184" cy="274320"/>
          </a:xfrm>
          <a:prstGeom prst="rect">
            <a:avLst/>
          </a:prstGeom>
          <a:noFill/>
          <a:ln/>
        </p:spPr>
        <p:txBody>
          <a:bodyPr wrap="square" lIns="0" tIns="0" rIns="0" bIns="0" rtlCol="0" anchor="ctr"/>
          <a:lstStyle/>
          <a:p>
            <a:pPr marL="0" indent="0" algn="ctr">
              <a:buNone/>
            </a:pPr>
            <a:r>
              <a:rPr lang="en-US" sz="1200" b="1" dirty="0">
                <a:solidFill>
                  <a:srgbClr val="1E2833"/>
                </a:solidFill>
                <a:latin typeface="Cambria" pitchFamily="34" charset="0"/>
                <a:ea typeface="Cambria" pitchFamily="34" charset="-122"/>
                <a:cs typeface="Cambria" pitchFamily="34" charset="-120"/>
              </a:rPr>
              <a:t>5</a:t>
            </a:r>
            <a:endParaRPr lang="en-US" sz="1200" dirty="0"/>
          </a:p>
        </p:txBody>
      </p:sp>
      <p:sp>
        <p:nvSpPr>
          <p:cNvPr id="20" name="Text 18"/>
          <p:cNvSpPr txBox="1"/>
          <p:nvPr/>
        </p:nvSpPr>
        <p:spPr>
          <a:xfrm>
            <a:off x="1353312" y="5266944"/>
            <a:ext cx="10058400" cy="969264"/>
          </a:xfrm>
          <a:prstGeom prst="rect">
            <a:avLst/>
          </a:prstGeom>
          <a:noFill/>
          <a:ln/>
        </p:spPr>
        <p:txBody>
          <a:bodyPr wrap="square" lIns="0" tIns="0" rIns="0" bIns="0" rtlCol="0" anchor="ctr"/>
          <a:lstStyle/>
          <a:p>
            <a:pPr marL="0" indent="0">
              <a:buNone/>
            </a:pPr>
            <a:r>
              <a:rPr lang="en-US" sz="1250" dirty="0">
                <a:solidFill>
                  <a:srgbClr val="C3D3DE"/>
                </a:solidFill>
                <a:latin typeface="Calibri" pitchFamily="34" charset="0"/>
                <a:ea typeface="Calibri" pitchFamily="34" charset="-122"/>
                <a:cs typeface="Calibri" pitchFamily="34" charset="-120"/>
              </a:rPr>
              <a:t>Qwen-Audio perceives across four audio types and never reasons; LTU reasons and cannot hear speech. Both are 2023-24 systems with the same architecture. Why did nobody build both at once, and what would it take?</a:t>
            </a:r>
            <a:endParaRPr lang="en-US" sz="1250" dirty="0"/>
          </a:p>
        </p:txBody>
      </p:sp>
      <p:sp>
        <p:nvSpPr>
          <p:cNvPr id="21" name="Text 19"/>
          <p:cNvSpPr txBox="1"/>
          <p:nvPr/>
        </p:nvSpPr>
        <p:spPr>
          <a:xfrm>
            <a:off x="822960" y="6309360"/>
            <a:ext cx="10607040" cy="274320"/>
          </a:xfrm>
          <a:prstGeom prst="rect">
            <a:avLst/>
          </a:prstGeom>
          <a:noFill/>
          <a:ln/>
        </p:spPr>
        <p:txBody>
          <a:bodyPr wrap="square" lIns="0" tIns="0" rIns="0" bIns="0" rtlCol="0" anchor="ctr"/>
          <a:lstStyle/>
          <a:p>
            <a:pPr marL="0" indent="0">
              <a:buNone/>
            </a:pPr>
            <a:r>
              <a:rPr lang="en-US" sz="1000" dirty="0">
                <a:solidFill>
                  <a:srgbClr val="A8BBC9"/>
                </a:solidFill>
                <a:latin typeface="Calibri" pitchFamily="34" charset="0"/>
                <a:ea typeface="Calibri" pitchFamily="34" charset="-122"/>
                <a:cs typeface="Calibri" pitchFamily="34" charset="-120"/>
              </a:rPr>
              <a:t>Gong, Luo, Liu, Karlinsky &amp; Glass (2024), ICLR  ·  arXiv:2305.10790  ·  github.com/YuanGongND/ltu</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51</TotalTime>
  <Words>5938</Words>
  <Application>Microsoft Macintosh PowerPoint</Application>
  <PresentationFormat>Widescreen</PresentationFormat>
  <Paragraphs>360</Paragraphs>
  <Slides>24</Slides>
  <Notes>24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LTU (Gong et al., 2024)</dc:title>
  <dc:subject>PptxGenJS Presentation</dc:subject>
  <dc:creator>Seminar</dc:creator>
  <cp:lastModifiedBy>Gao, Ashley</cp:lastModifiedBy>
  <cp:revision>4</cp:revision>
  <dcterms:created xsi:type="dcterms:W3CDTF">2026-09-29T01:00:34Z</dcterms:created>
  <dcterms:modified xsi:type="dcterms:W3CDTF">2026-09-29T14:34:27Z</dcterms:modified>
</cp:coreProperties>
</file>