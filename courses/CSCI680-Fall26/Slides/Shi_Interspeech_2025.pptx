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02870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 snapToGrid="0">
      <p:cViewPr>
        <p:scale>
          <a:sx n="106" d="100"/>
          <a:sy n="106" d="100"/>
        </p:scale>
        <p:origin x="161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9A9EE-79E9-96D3-F121-5111009F3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875" y="2992968"/>
            <a:ext cx="7715250" cy="6366933"/>
          </a:xfrm>
        </p:spPr>
        <p:txBody>
          <a:bodyPr anchor="b"/>
          <a:lstStyle>
            <a:lvl1pPr algn="ctr">
              <a:defRPr sz="506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C4F20-4237-04EE-D30B-843406926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875" y="9605435"/>
            <a:ext cx="7715250" cy="4415365"/>
          </a:xfrm>
        </p:spPr>
        <p:txBody>
          <a:bodyPr/>
          <a:lstStyle>
            <a:lvl1pPr marL="0" indent="0" algn="ctr">
              <a:buNone/>
              <a:defRPr sz="2025"/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A7668-75BA-E490-9894-BC634A2DB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DBE69-E1CF-E86B-D04E-6B10246B0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831B4-7572-7E21-F357-A92B5ECB0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43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04986-952D-4279-5390-560636CA2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95579-9AB6-EB3A-2407-F7D361A80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A5E5F-98A2-E3F0-460A-C11197F7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75835-3971-93E7-A526-FD1535C0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F7BE4-B666-A05E-8369-6474ED8E6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27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ED83E-D7FA-5CAF-3808-FF0FAF2C0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73" y="4559303"/>
            <a:ext cx="8872538" cy="7607299"/>
          </a:xfrm>
        </p:spPr>
        <p:txBody>
          <a:bodyPr anchor="b"/>
          <a:lstStyle>
            <a:lvl1pPr>
              <a:defRPr sz="506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87818-FEF2-1790-B9C1-44CC187CF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873" y="12238569"/>
            <a:ext cx="8872538" cy="4000499"/>
          </a:xfrm>
        </p:spPr>
        <p:txBody>
          <a:bodyPr/>
          <a:lstStyle>
            <a:lvl1pPr marL="0" indent="0">
              <a:buNone/>
              <a:defRPr sz="2025">
                <a:solidFill>
                  <a:schemeClr val="tx1">
                    <a:tint val="82000"/>
                  </a:schemeClr>
                </a:solidFill>
              </a:defRPr>
            </a:lvl1pPr>
            <a:lvl2pPr marL="385785" indent="0">
              <a:buNone/>
              <a:defRPr sz="1688">
                <a:solidFill>
                  <a:schemeClr val="tx1">
                    <a:tint val="82000"/>
                  </a:schemeClr>
                </a:solidFill>
              </a:defRPr>
            </a:lvl2pPr>
            <a:lvl3pPr marL="771571" indent="0">
              <a:buNone/>
              <a:defRPr sz="1519">
                <a:solidFill>
                  <a:schemeClr val="tx1">
                    <a:tint val="82000"/>
                  </a:schemeClr>
                </a:solidFill>
              </a:defRPr>
            </a:lvl3pPr>
            <a:lvl4pPr marL="1157356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4pPr>
            <a:lvl5pPr marL="1543141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5pPr>
            <a:lvl6pPr marL="1928927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6pPr>
            <a:lvl7pPr marL="2314712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7pPr>
            <a:lvl8pPr marL="2700498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8pPr>
            <a:lvl9pPr marL="3086283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3669F-B738-6561-E2D5-B14C7CCBA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CFEFD-58AA-9D6C-677C-824AD324B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FDB4B-2322-42A1-D256-E6789DCB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7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EDA6C-684B-93DE-6BDA-0A2C9DC49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39B90-005C-B3DD-9101-B56708176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7231" y="4868333"/>
            <a:ext cx="4371975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28A54-17A4-A1C6-2A45-60757AB9B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7794" y="4868333"/>
            <a:ext cx="4371975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0C41F-6083-B71E-3C9A-07AFD008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E3E90-1094-5D10-B827-B32352D19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68559-1BF5-5934-8314-D5470DECF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97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1BB35-CEF4-9D96-0DC1-CD2A816B7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71" y="973668"/>
            <a:ext cx="8872538" cy="35348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4A825-4595-9E77-81C3-A643257A0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571" y="4483101"/>
            <a:ext cx="4351883" cy="2197099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CAC80D-7C78-9777-4BC9-E8AB0B44D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8571" y="6680200"/>
            <a:ext cx="4351883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29BB9C-6781-A934-F3E2-4B4365A923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07794" y="4483101"/>
            <a:ext cx="4373315" cy="2197099"/>
          </a:xfrm>
        </p:spPr>
        <p:txBody>
          <a:bodyPr anchor="b"/>
          <a:lstStyle>
            <a:lvl1pPr marL="0" indent="0">
              <a:buNone/>
              <a:defRPr sz="2025" b="1"/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03D23-C167-80FC-063C-8ED3439A2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07794" y="6680200"/>
            <a:ext cx="4373315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69FA0-FC57-ABD6-FF9D-92F85581F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2E435-2A1A-1285-9275-0F5952BC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A163D-65F9-D72E-0B4C-891BF0A0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12372-FDB3-5B3F-0173-9CDEF015B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31BF4-D749-D50B-1B0D-DFD35C8C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3A828-966E-AE8E-2397-DD979F18E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8D748-C8CF-2FBA-3A1C-73F69EB6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695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39B8B1-F0D6-1EFB-4F31-B730BA6A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CF3BDF-85D1-DD51-11F4-D4AE8BFA5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5504E-0ECF-0F57-4FC6-4F7DE4BE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8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E71C-24CC-F3EE-7FC6-C5A368DFC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72" y="1219200"/>
            <a:ext cx="3317825" cy="426720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81129-FC05-4946-224E-A85C9DC0A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315" y="2633135"/>
            <a:ext cx="5207794" cy="12996333"/>
          </a:xfrm>
        </p:spPr>
        <p:txBody>
          <a:bodyPr/>
          <a:lstStyle>
            <a:lvl1pPr>
              <a:defRPr sz="2700"/>
            </a:lvl1pPr>
            <a:lvl2pPr>
              <a:defRPr sz="2363"/>
            </a:lvl2pPr>
            <a:lvl3pPr>
              <a:defRPr sz="2025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0198E-E8C6-D31C-4819-4B3F2861F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572" y="5486400"/>
            <a:ext cx="3317825" cy="10164235"/>
          </a:xfrm>
        </p:spPr>
        <p:txBody>
          <a:bodyPr/>
          <a:lstStyle>
            <a:lvl1pPr marL="0" indent="0">
              <a:buNone/>
              <a:defRPr sz="1350"/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FEE64-E421-F1BB-284C-74843B12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10D02-086E-3651-1384-6112A09D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F609C-9BE1-1FD8-72BA-1608C9325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10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DE635-4473-1E91-E4E3-30D2410BD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72" y="1219200"/>
            <a:ext cx="3317825" cy="4267200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2A80D5-BE11-B3B8-7277-E3B5843B2D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3315" y="2633135"/>
            <a:ext cx="5207794" cy="12996333"/>
          </a:xfrm>
        </p:spPr>
        <p:txBody>
          <a:bodyPr/>
          <a:lstStyle>
            <a:lvl1pPr marL="0" indent="0">
              <a:buNone/>
              <a:defRPr sz="2700"/>
            </a:lvl1pPr>
            <a:lvl2pPr marL="385785" indent="0">
              <a:buNone/>
              <a:defRPr sz="2363"/>
            </a:lvl2pPr>
            <a:lvl3pPr marL="771571" indent="0">
              <a:buNone/>
              <a:defRPr sz="2025"/>
            </a:lvl3pPr>
            <a:lvl4pPr marL="1157356" indent="0">
              <a:buNone/>
              <a:defRPr sz="1688"/>
            </a:lvl4pPr>
            <a:lvl5pPr marL="1543141" indent="0">
              <a:buNone/>
              <a:defRPr sz="1688"/>
            </a:lvl5pPr>
            <a:lvl6pPr marL="1928927" indent="0">
              <a:buNone/>
              <a:defRPr sz="1688"/>
            </a:lvl6pPr>
            <a:lvl7pPr marL="2314712" indent="0">
              <a:buNone/>
              <a:defRPr sz="1688"/>
            </a:lvl7pPr>
            <a:lvl8pPr marL="2700498" indent="0">
              <a:buNone/>
              <a:defRPr sz="1688"/>
            </a:lvl8pPr>
            <a:lvl9pPr marL="3086283" indent="0">
              <a:buNone/>
              <a:defRPr sz="1688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83577-D380-541F-25ED-937F4E548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572" y="5486400"/>
            <a:ext cx="3317825" cy="10164235"/>
          </a:xfrm>
        </p:spPr>
        <p:txBody>
          <a:bodyPr/>
          <a:lstStyle>
            <a:lvl1pPr marL="0" indent="0">
              <a:buNone/>
              <a:defRPr sz="1350"/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39499-A4EE-5CAB-FFB8-6C0C32EE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F8DD2-AFB6-2CFA-7D65-08C6D834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3CCB0-CBE7-B9A8-2075-9775DA2F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46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1896-C565-3D02-2CBA-E88FDCE15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4301D-B336-5B70-1509-E92A2423C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CC37C-9413-FA0E-432E-7057D0ADC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5E4F1-1F91-60D6-8705-EF44CC9B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8110-98F5-E661-11E3-33154D1B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8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129AB-C01E-355E-7E22-25DB02516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61635" y="973666"/>
            <a:ext cx="2218134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E7A18A-B8BB-6548-D360-3C02A32BD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07231" y="973666"/>
            <a:ext cx="6525816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AC273-F6B9-5DC1-D2C4-F6638A2F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12A89-01F2-2212-42D8-547D15D2B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9EFBF-E594-038E-1613-14531F34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61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C8C81-4BCC-4227-4392-27D06B830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31" y="973668"/>
            <a:ext cx="8872538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39437-AA3B-5B97-BAB4-78CDADA4B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231" y="4868333"/>
            <a:ext cx="8872538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D0A95-2146-FE7B-7A75-85AE0EE61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7231" y="16950268"/>
            <a:ext cx="231457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224F7-29A3-4046-9240-6AA03E2C94C0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AC2A5-F5D0-710F-B85B-DCA6464ED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7569" y="16950268"/>
            <a:ext cx="3471863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05230-A0D9-7BEB-623C-2B1108A04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194" y="16950268"/>
            <a:ext cx="231457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2F586-1359-FF41-A331-C18EED021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2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71571" rtl="0" eaLnBrk="1" latinLnBrk="0" hangingPunct="1">
        <a:lnSpc>
          <a:spcPct val="90000"/>
        </a:lnSpc>
        <a:spcBef>
          <a:spcPct val="0"/>
        </a:spcBef>
        <a:buNone/>
        <a:defRPr sz="3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893" indent="-192893" algn="l" defTabSz="771571" rtl="0" eaLnBrk="1" latinLnBrk="0" hangingPunct="1">
        <a:lnSpc>
          <a:spcPct val="90000"/>
        </a:lnSpc>
        <a:spcBef>
          <a:spcPts val="844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+mn-lt"/>
          <a:ea typeface="+mn-ea"/>
          <a:cs typeface="+mn-cs"/>
        </a:defRPr>
      </a:lvl1pPr>
      <a:lvl2pPr marL="578678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964463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+mn-lt"/>
          <a:ea typeface="+mn-ea"/>
          <a:cs typeface="+mn-cs"/>
        </a:defRPr>
      </a:lvl3pPr>
      <a:lvl4pPr marL="135024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736034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212181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507605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893390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279176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85785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77157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3pPr>
      <a:lvl4pPr marL="1157356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54314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1928927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314712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700498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086283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CEE33E95-3D77-ACEF-F359-EBCC3680D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4" y="411188"/>
            <a:ext cx="2140416" cy="9396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ADC5BD-1B48-4AD5-D776-523DF1C24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348" y="196035"/>
            <a:ext cx="7240975" cy="803149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CLEP-DG: Contrastive Learning for Speech Emotion Domain Generalization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 Soft Prompt Tuning</a:t>
            </a:r>
            <a:endParaRPr 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5A2B67-7673-08BE-65C8-97B917EE4819}"/>
              </a:ext>
            </a:extLst>
          </p:cNvPr>
          <p:cNvSpPr txBox="1"/>
          <p:nvPr/>
        </p:nvSpPr>
        <p:spPr>
          <a:xfrm>
            <a:off x="3162008" y="996925"/>
            <a:ext cx="3697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Jiacheng Shi,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Yanfu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Zhang, Ye Gao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College of William &amp; Mary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88304-A1BB-BDCB-9DC1-ED83874F0270}"/>
              </a:ext>
            </a:extLst>
          </p:cNvPr>
          <p:cNvSpPr/>
          <p:nvPr/>
        </p:nvSpPr>
        <p:spPr>
          <a:xfrm>
            <a:off x="244465" y="1689186"/>
            <a:ext cx="9795684" cy="3975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55B65E-8884-9751-8F71-5DA31C7A87F4}"/>
              </a:ext>
            </a:extLst>
          </p:cNvPr>
          <p:cNvSpPr/>
          <p:nvPr/>
        </p:nvSpPr>
        <p:spPr>
          <a:xfrm>
            <a:off x="244465" y="2086753"/>
            <a:ext cx="9795684" cy="28687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8A1DBF-6B47-34D9-9A86-44F9E2D1F51B}"/>
              </a:ext>
            </a:extLst>
          </p:cNvPr>
          <p:cNvSpPr txBox="1"/>
          <p:nvPr/>
        </p:nvSpPr>
        <p:spPr>
          <a:xfrm>
            <a:off x="4035284" y="1701247"/>
            <a:ext cx="1815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1.Motivation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B2A165-0FAE-3922-5172-2BD3C6273D45}"/>
              </a:ext>
            </a:extLst>
          </p:cNvPr>
          <p:cNvSpPr txBox="1"/>
          <p:nvPr/>
        </p:nvSpPr>
        <p:spPr>
          <a:xfrm>
            <a:off x="424065" y="2118995"/>
            <a:ext cx="96160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Gap: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SER models perform poorly under unseen acoustic conditions due to domain shifts (e.g., background noise, recording environment).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CLAP’s Limitation: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CLAP provides strong audio-text alignment, it lacks dedicated mechanisms for modeling fine-grained emotional cues.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Supervision Burden: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adaptations of CLAP for SER require retraining on domain-specific labeled emotional audio, limiting scalability.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Prompt-Based Adaptation Potential: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advances in soft prompt tuning in vision-language models suggest a lightweight alternative for domain generalization without additional labeled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Hypothesis: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Simulating diverse acoustic contexts via textual prompts can enable emotion-aware generalization in CLAP models.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571FC8-6932-FC6C-B25B-8F392DF6C1D5}"/>
              </a:ext>
            </a:extLst>
          </p:cNvPr>
          <p:cNvSpPr/>
          <p:nvPr/>
        </p:nvSpPr>
        <p:spPr>
          <a:xfrm>
            <a:off x="244465" y="5011151"/>
            <a:ext cx="9795684" cy="3975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2698BD-5D73-ED87-E373-BF7D1B959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706" y="5477151"/>
            <a:ext cx="6105190" cy="4219034"/>
          </a:xfrm>
          <a:prstGeom prst="rect">
            <a:avLst/>
          </a:prstGeom>
        </p:spPr>
      </p:pic>
      <p:pic>
        <p:nvPicPr>
          <p:cNvPr id="23" name="Picture 22" descr="A close-up of a document&#10;&#10;AI-generated content may be incorrect.">
            <a:extLst>
              <a:ext uri="{FF2B5EF4-FFF2-40B4-BE49-F238E27FC236}">
                <a16:creationId xmlns:a16="http://schemas.microsoft.com/office/drawing/2014/main" id="{11BD9611-55C4-35F1-8B8C-3FB29BD882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77" y="11217363"/>
            <a:ext cx="8190446" cy="2159299"/>
          </a:xfrm>
          <a:prstGeom prst="rect">
            <a:avLst/>
          </a:prstGeom>
        </p:spPr>
      </p:pic>
      <p:pic>
        <p:nvPicPr>
          <p:cNvPr id="25" name="Picture 2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30BB72EE-9FE7-E9B5-5B62-815CE36F5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0741" y="14005633"/>
            <a:ext cx="4076700" cy="1270000"/>
          </a:xfrm>
          <a:prstGeom prst="rect">
            <a:avLst/>
          </a:prstGeom>
        </p:spPr>
      </p:pic>
      <p:pic>
        <p:nvPicPr>
          <p:cNvPr id="27" name="Picture 2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314C574-4ACD-5684-FCF7-C9C0921803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2491" y="15465476"/>
            <a:ext cx="4013200" cy="1117600"/>
          </a:xfrm>
          <a:prstGeom prst="rect">
            <a:avLst/>
          </a:prstGeom>
        </p:spPr>
      </p:pic>
      <p:pic>
        <p:nvPicPr>
          <p:cNvPr id="29" name="Picture 2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C15A68C-ED86-B318-3A29-70C0E8A4F4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341" y="13991769"/>
            <a:ext cx="4332234" cy="267553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DDF4595-D056-652D-12E4-8233F5F7D202}"/>
              </a:ext>
            </a:extLst>
          </p:cNvPr>
          <p:cNvSpPr txBox="1"/>
          <p:nvPr/>
        </p:nvSpPr>
        <p:spPr>
          <a:xfrm>
            <a:off x="4271950" y="5012489"/>
            <a:ext cx="1237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</a:rPr>
              <a:t>2.Method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B11C75-5AF6-8E3D-EF2F-0D52C423A14C}"/>
              </a:ext>
            </a:extLst>
          </p:cNvPr>
          <p:cNvSpPr txBox="1"/>
          <p:nvPr/>
        </p:nvSpPr>
        <p:spPr>
          <a:xfrm>
            <a:off x="260097" y="5484891"/>
            <a:ext cx="377518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CLEP-DG introduces a unified framework that enhances CLAP’s emotion modeling and cross-domain robustness through three components: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CLEP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CLAP variant fine-tuned on large-scale emotional speech corpora to improve emotion-audio alignment.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ACPT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(Acoustic Context Prompt Tuning): A soft prompt learning method that simulates diverse acoustic conditions using learnable tokens.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Cross-Modal Classifier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linear classifier trained on text-derived emotion representations, applied to audio embeddings during inference.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5FE1C4-33E0-5314-9C12-58330DDCFC50}"/>
              </a:ext>
            </a:extLst>
          </p:cNvPr>
          <p:cNvSpPr/>
          <p:nvPr/>
        </p:nvSpPr>
        <p:spPr>
          <a:xfrm>
            <a:off x="232432" y="5409864"/>
            <a:ext cx="9795685" cy="53025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1A61D0-7861-1253-8D21-373634C1043B}"/>
              </a:ext>
            </a:extLst>
          </p:cNvPr>
          <p:cNvSpPr/>
          <p:nvPr/>
        </p:nvSpPr>
        <p:spPr>
          <a:xfrm>
            <a:off x="231212" y="10751936"/>
            <a:ext cx="9795684" cy="3975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 Experiment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8D96B9-6142-C397-9873-995F1517BDF6}"/>
              </a:ext>
            </a:extLst>
          </p:cNvPr>
          <p:cNvSpPr/>
          <p:nvPr/>
        </p:nvSpPr>
        <p:spPr>
          <a:xfrm>
            <a:off x="231211" y="13528174"/>
            <a:ext cx="9795684" cy="3975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5.Alation Study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B1C4B96-B4A9-7029-61AC-A28570D8490E}"/>
              </a:ext>
            </a:extLst>
          </p:cNvPr>
          <p:cNvSpPr/>
          <p:nvPr/>
        </p:nvSpPr>
        <p:spPr>
          <a:xfrm>
            <a:off x="231211" y="11149502"/>
            <a:ext cx="9795684" cy="23327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0364A4-8C5B-B89A-12D2-44528C6250D1}"/>
              </a:ext>
            </a:extLst>
          </p:cNvPr>
          <p:cNvSpPr/>
          <p:nvPr/>
        </p:nvSpPr>
        <p:spPr>
          <a:xfrm>
            <a:off x="231211" y="13925740"/>
            <a:ext cx="9795684" cy="27415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9158C4-BBBE-4CFE-64DE-AA0075494854}"/>
              </a:ext>
            </a:extLst>
          </p:cNvPr>
          <p:cNvSpPr txBox="1"/>
          <p:nvPr/>
        </p:nvSpPr>
        <p:spPr>
          <a:xfrm>
            <a:off x="461412" y="9696185"/>
            <a:ext cx="5645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Acoustic Context Prompt Tuning for Soundscape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0D0354D-D0C9-A3C0-982C-DC6B22F0A8EA}"/>
              </a:ext>
            </a:extLst>
          </p:cNvPr>
          <p:cNvSpPr/>
          <p:nvPr/>
        </p:nvSpPr>
        <p:spPr>
          <a:xfrm>
            <a:off x="231211" y="16733329"/>
            <a:ext cx="9795684" cy="3975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6.Conclusion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F55D065-B426-E4C7-EBF3-8450BF8814DB}"/>
              </a:ext>
            </a:extLst>
          </p:cNvPr>
          <p:cNvSpPr/>
          <p:nvPr/>
        </p:nvSpPr>
        <p:spPr>
          <a:xfrm>
            <a:off x="231211" y="17133005"/>
            <a:ext cx="9795684" cy="11068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40A2714F-46F2-D242-D523-C5F6C1A653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5908" y="9994391"/>
            <a:ext cx="3632200" cy="6350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50AA5AC-ABE6-9EE0-9C34-6516F3147C1D}"/>
              </a:ext>
            </a:extLst>
          </p:cNvPr>
          <p:cNvSpPr txBox="1"/>
          <p:nvPr/>
        </p:nvSpPr>
        <p:spPr>
          <a:xfrm>
            <a:off x="202782" y="17117051"/>
            <a:ext cx="989106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 CLEP-DG, a CLAP-based framework that enhances speech emotion recognition through soft prompt tuning. By simulating diverse acoustic conditions with Acoustic Context Prompt Tuning (ACPT) and leveraging cross-modal transfer, CLEP-DG achieves strong generalization without requiring labeled audio from new domains, and sets a new state-of-the-art across multiple SER benchmarks.</a:t>
            </a:r>
          </a:p>
        </p:txBody>
      </p:sp>
      <p:pic>
        <p:nvPicPr>
          <p:cNvPr id="46" name="Picture 4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1B8BEA0-107A-5629-1FB4-87996F5C06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1473" y="9888950"/>
            <a:ext cx="4076700" cy="762000"/>
          </a:xfrm>
          <a:prstGeom prst="rect">
            <a:avLst/>
          </a:prstGeom>
        </p:spPr>
      </p:pic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B5285FFF-AF88-BEBC-9F70-F82267DE0F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95651" y="292677"/>
            <a:ext cx="1231244" cy="123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2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1472</TotalTime>
  <Words>290</Words>
  <Application>Microsoft Macintosh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CLEP-DG: Contrastive Learning for Speech Emotion Domain Generalization via Soft Prompt Tuning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Shi, Jiacheng</dc:creator>
  <cp:lastModifiedBy>Shi, Jiacheng</cp:lastModifiedBy>
  <cp:revision>9</cp:revision>
  <dcterms:created xsi:type="dcterms:W3CDTF">2025-07-27T05:07:54Z</dcterms:created>
  <dcterms:modified xsi:type="dcterms:W3CDTF">2025-07-31T02:44:03Z</dcterms:modified>
</cp:coreProperties>
</file>