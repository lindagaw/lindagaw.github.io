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72245"/>
  </p:normalViewPr>
  <p:slideViewPr>
    <p:cSldViewPr snapToGrid="0">
      <p:cViewPr varScale="1">
        <p:scale>
          <a:sx n="90" d="100"/>
          <a:sy n="90" d="100"/>
        </p:scale>
        <p:origin x="19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B6E8C-2209-2042-9491-125BD3781ADD}" type="datetimeFigureOut">
              <a:rPr lang="en-US" smtClean="0"/>
              <a:t>10/9/25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CBF049-5129-4846-B060-51A6E90A8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2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B16AF9-54C4-453E-B378-E27D26EE66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153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BF049-5129-4846-B060-51A6E90A80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27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BF049-5129-4846-B060-51A6E90A80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931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BF049-5129-4846-B060-51A6E90A80C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3956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BF049-5129-4846-B060-51A6E90A80C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075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BF049-5129-4846-B060-51A6E90A80C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16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BF049-5129-4846-B060-51A6E90A80C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3791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BF049-5129-4846-B060-51A6E90A80C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87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BF049-5129-4846-B060-51A6E90A80C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743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BF049-5129-4846-B060-51A6E90A80C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706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图片1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68754"/>
            <a:ext cx="8886092" cy="162489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10/9/25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35992" y="6356350"/>
            <a:ext cx="2743200" cy="365125"/>
          </a:xfrm>
        </p:spPr>
        <p:txBody>
          <a:bodyPr/>
          <a:lstStyle>
            <a:lvl1pPr>
              <a:defRPr sz="1400">
                <a:latin typeface="Arial" charset="0"/>
                <a:ea typeface="Arial" charset="0"/>
                <a:cs typeface="Arial" charset="0"/>
              </a:defRPr>
            </a:lvl1pPr>
          </a:lstStyle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ollege Of William &amp;amp; Mary, HD Png Download - kindpng">
            <a:extLst>
              <a:ext uri="{FF2B5EF4-FFF2-40B4-BE49-F238E27FC236}">
                <a16:creationId xmlns:a16="http://schemas.microsoft.com/office/drawing/2014/main" id="{08421D68-F233-E442-A3C1-246EBA7001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93" y="117132"/>
            <a:ext cx="1307335" cy="1503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6553826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658" y="168177"/>
            <a:ext cx="10515600" cy="478937"/>
          </a:xfrm>
        </p:spPr>
        <p:txBody>
          <a:bodyPr>
            <a:noAutofit/>
          </a:bodyPr>
          <a:lstStyle>
            <a:lvl1pPr>
              <a:defRPr sz="3200" b="1">
                <a:latin typeface="Calibri" panose="020F0502020204030204" pitchFamily="34" charset="0"/>
                <a:ea typeface="Microsoft YaHei" charset="-122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657" y="1055077"/>
            <a:ext cx="10628143" cy="5121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10/9/25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4136" y="6356350"/>
            <a:ext cx="2743200" cy="365125"/>
          </a:xfrm>
        </p:spPr>
        <p:txBody>
          <a:bodyPr/>
          <a:lstStyle>
            <a:lvl1pPr>
              <a:defRPr sz="1400">
                <a:latin typeface="Arial" charset="0"/>
                <a:ea typeface="Arial" charset="0"/>
                <a:cs typeface="Arial" charset="0"/>
              </a:defRPr>
            </a:lvl1pPr>
          </a:lstStyle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725656" y="762704"/>
            <a:ext cx="10607040" cy="63797"/>
          </a:xfrm>
          <a:prstGeom prst="rect">
            <a:avLst/>
          </a:prstGeom>
          <a:gradFill rotWithShape="0">
            <a:gsLst>
              <a:gs pos="0">
                <a:srgbClr val="0072C6"/>
              </a:gs>
              <a:gs pos="100000">
                <a:srgbClr val="E5F1F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3927077815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1023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3218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10/9/25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2234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10/9/25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50944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10/9/25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9971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337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59805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394262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56528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083BF-C15F-4E33-9C1A-7B4D0B21F4EF}" type="datetime1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5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52DE6-F386-4E83-B48F-1738D913012A}" type="slidenum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932" y="3358168"/>
            <a:ext cx="11582133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Calibri" panose="020F0502020204030204" pitchFamily="34" charset="0"/>
                <a:ea typeface="微软雅黑" pitchFamily="34" charset="-122"/>
                <a:cs typeface="Calibri" panose="020F0502020204030204" pitchFamily="34" charset="0"/>
              </a:rPr>
              <a:t>Hongfei Du¹, Jiacheng Shi¹, Jacobo Myerston², Sidi Lu¹, Gang Zhou¹, Ye Gao¹</a:t>
            </a:r>
          </a:p>
          <a:p>
            <a:pPr algn="ctr" defTabSz="457200">
              <a:lnSpc>
                <a:spcPct val="150000"/>
              </a:lnSpc>
              <a:defRPr/>
            </a:pPr>
            <a:r>
              <a:rPr lang="en-US" sz="2400" b="1" dirty="0">
                <a:solidFill>
                  <a:prstClr val="white"/>
                </a:solidFill>
                <a:latin typeface="Calibri" panose="020F0502020204030204" pitchFamily="34" charset="0"/>
                <a:ea typeface="微软雅黑" pitchFamily="34" charset="-122"/>
                <a:cs typeface="Calibri" panose="020F0502020204030204" pitchFamily="34" charset="0"/>
              </a:rPr>
              <a:t>¹The College of William &amp; Mary, ²UC San Diego</a:t>
            </a:r>
            <a:r>
              <a:rPr lang="en-US" altLang="zh-CN" sz="2400" b="1" dirty="0">
                <a:solidFill>
                  <a:prstClr val="white"/>
                </a:solidFill>
                <a:latin typeface="Calibri" panose="020F0502020204030204" pitchFamily="34" charset="0"/>
                <a:ea typeface="微软雅黑" pitchFamily="34" charset="-122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867FF3-9D25-7473-BD0C-C9A626DDB022}"/>
              </a:ext>
            </a:extLst>
          </p:cNvPr>
          <p:cNvSpPr txBox="1"/>
          <p:nvPr/>
        </p:nvSpPr>
        <p:spPr>
          <a:xfrm>
            <a:off x="-152401" y="1652261"/>
            <a:ext cx="1249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Role-Guided Annotation and Prototype-Aligned Representation Learning for Historical Literature Sentiment Classification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05D0E-61C0-8727-BB0D-92F5C32FEA50}"/>
              </a:ext>
            </a:extLst>
          </p:cNvPr>
          <p:cNvSpPr txBox="1"/>
          <p:nvPr/>
        </p:nvSpPr>
        <p:spPr>
          <a:xfrm>
            <a:off x="160470" y="64621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 descr="A black background with yellow text and red letters&#10;&#10;AI-generated content may be incorrect.">
            <a:extLst>
              <a:ext uri="{FF2B5EF4-FFF2-40B4-BE49-F238E27FC236}">
                <a16:creationId xmlns:a16="http://schemas.microsoft.com/office/drawing/2014/main" id="{245EAE96-E013-818A-892F-00B4B034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35" y="344779"/>
            <a:ext cx="2151979" cy="9931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5A6D0D-18F9-60B3-219B-918E95730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7156" y="596574"/>
            <a:ext cx="1819823" cy="42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22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8345-398D-3844-6610-AF3005507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8994B-B588-4A97-8D70-D9987CAA0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658" y="1055077"/>
            <a:ext cx="6160918" cy="5121886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Historical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literary text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Includes newspapers, plays, novels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poems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Record how people once expressed emotion, judgment, and values</a:t>
            </a:r>
          </a:p>
          <a:p>
            <a:pPr marL="457200" lvl="1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Why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matters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Offer a window into the cultural and moral attitudes of the past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Help us understand how these emotions shaped today’s worldviews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F04BD-4386-400E-4F4E-6338DE592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947007-4F42-DE68-AFD6-9DAA215AD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825" y="1966619"/>
            <a:ext cx="3673475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973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DC88E-D574-E105-AF6D-9DE8D2CE9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6B5D1-852A-160F-F6DA-D493431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658" y="1055077"/>
            <a:ext cx="7832556" cy="5121886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Scarcity of annotated data</a:t>
            </a:r>
          </a:p>
          <a:p>
            <a:pPr lvl="1"/>
            <a:r>
              <a:rPr lang="en-US" dirty="0"/>
              <a:t>Annotating historical texts requires both linguistic and literary expertise</a:t>
            </a:r>
          </a:p>
          <a:p>
            <a:pPr lvl="1"/>
            <a:r>
              <a:rPr lang="en-US" dirty="0"/>
              <a:t>Emotional expressions and meanings often depend on period-specific context,</a:t>
            </a:r>
            <a:r>
              <a:rPr lang="zh-CN" altLang="en-US" dirty="0"/>
              <a:t> </a:t>
            </a:r>
            <a:r>
              <a:rPr lang="en-US" dirty="0"/>
              <a:t>making consistent labeling difficult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Limited generalization from modern to historical language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Models trained on modern corpora fail to capture archaic grammar and semantics.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Emotional tone and word usage have shifted over time,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leading to frequent misclassification.</a:t>
            </a:r>
          </a:p>
          <a:p>
            <a:pPr lvl="1"/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B2AA9-7707-6997-9788-EA66CDB5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66AAB9-5006-2002-3EFD-529961C05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788" y="2218446"/>
            <a:ext cx="3453548" cy="256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517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BBAC5-5CB1-A118-0B2B-7B8EBD115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Limits of Prior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4E21B-DC03-3494-64DD-BA9E9C176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Lexicon-based → may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lack</a:t>
            </a:r>
            <a:r>
              <a:rPr lang="en-US" dirty="0"/>
              <a:t> historical sentiment lexicons</a:t>
            </a:r>
          </a:p>
          <a:p>
            <a:pPr lvl="1"/>
            <a:r>
              <a:rPr lang="en-US" dirty="0"/>
              <a:t>No sentiment dictionaries exist for many old languages or styles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LLM-based → labels reflect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modern norms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create noisy supervision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LLMs tend to judge sentiment through modern moral values,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misinterpreting irony or period-specific tone.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518CE-3F38-177C-0ABE-A9A356AFB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3B1E19-392F-B331-FC05-06075A902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57" y="3429000"/>
            <a:ext cx="3960586" cy="25157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C97C52-A266-FD9F-03EE-6385B4FB2A16}"/>
              </a:ext>
            </a:extLst>
          </p:cNvPr>
          <p:cNvSpPr txBox="1"/>
          <p:nvPr/>
        </p:nvSpPr>
        <p:spPr>
          <a:xfrm>
            <a:off x="5253038" y="4517591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Model labels sentiment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using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general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prompt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B05788-4FB3-D06C-4841-AA48EACBFB61}"/>
              </a:ext>
            </a:extLst>
          </p:cNvPr>
          <p:cNvSpPr txBox="1"/>
          <p:nvPr/>
        </p:nvSpPr>
        <p:spPr>
          <a:xfrm>
            <a:off x="4744612" y="4517591"/>
            <a:ext cx="450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482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CE4CA-E5A2-0E54-B60E-87A6F64E1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Method: RAPA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04B8B2-980E-9675-0A7E-FDEB11FFC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2946" y="998871"/>
            <a:ext cx="9652072" cy="396854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90001-E98C-9267-E1DC-117CBBDE9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FC79DF-4D9B-DC4C-A347-73C9F9D08F5B}"/>
              </a:ext>
            </a:extLst>
          </p:cNvPr>
          <p:cNvSpPr txBox="1"/>
          <p:nvPr/>
        </p:nvSpPr>
        <p:spPr>
          <a:xfrm>
            <a:off x="494663" y="4923220"/>
            <a:ext cx="110843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ole-Guided </a:t>
            </a:r>
            <a:r>
              <a:rPr lang="en-US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nnotation: LLMs 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label sentiment as historical readers, guided by role-specific contextual prompts</a:t>
            </a:r>
          </a:p>
          <a:p>
            <a:pPr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rototype-</a:t>
            </a:r>
            <a:r>
              <a:rPr lang="en-US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ligned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Learning:  Aligns low-resource representations with sentiment prototypes from high-resource data</a:t>
            </a:r>
          </a:p>
        </p:txBody>
      </p:sp>
    </p:spTree>
    <p:extLst>
      <p:ext uri="{BB962C8B-B14F-4D97-AF65-F5344CB8AC3E}">
        <p14:creationId xmlns:p14="http://schemas.microsoft.com/office/powerpoint/2010/main" val="381385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6D3CE-36E1-234A-0DA7-07D41E21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Role-Guided Annotation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BEEF00-C227-D295-98EE-8BF1468765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2072" y="1920217"/>
            <a:ext cx="4202688" cy="25990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600FC-816C-DB67-7BEE-B0C84DFD7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041E749-66FC-5F4B-538E-FADFC83AB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477" y="1054908"/>
            <a:ext cx="6832473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Motivation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CN" alt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Sentiment depends on period-specific moral and emotional norms,</a:t>
            </a:r>
            <a:r>
              <a:rPr lang="zh-CN" alt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yet LLMs naturally interpret text through modern worldviews.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CN" alt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prompt the model to act as a historical reader —</a:t>
            </a:r>
            <a:b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e.g., “Be a Roman poet” or “Be an Enlightenment playwright.”</a:t>
            </a:r>
            <a:r>
              <a:rPr lang="zh-CN" alt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prompt explicitly restricts modern knowledge</a:t>
            </a:r>
            <a:r>
              <a:rPr lang="zh-CN" alt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(“You know nothing of modern persons or ideas.”),</a:t>
            </a:r>
            <a:r>
              <a:rPr lang="zh-CN" alt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forcing interpretation within historical context.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setup constrains knowledge to period values</a:t>
            </a:r>
            <a:r>
              <a:rPr lang="zh-CN" alt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reduces modern bias in annotation,</a:t>
            </a:r>
            <a:r>
              <a:rPr lang="zh-CN" alt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enabling more contextually faithful sentiment labels.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3159CB-F140-C0E8-B72E-39D8097CDFC9}"/>
              </a:ext>
            </a:extLst>
          </p:cNvPr>
          <p:cNvSpPr txBox="1"/>
          <p:nvPr/>
        </p:nvSpPr>
        <p:spPr>
          <a:xfrm>
            <a:off x="1472543" y="4519248"/>
            <a:ext cx="2521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Example of Role Prompt</a:t>
            </a:r>
          </a:p>
        </p:txBody>
      </p:sp>
    </p:spTree>
    <p:extLst>
      <p:ext uri="{BB962C8B-B14F-4D97-AF65-F5344CB8AC3E}">
        <p14:creationId xmlns:p14="http://schemas.microsoft.com/office/powerpoint/2010/main" val="3225722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55E74-87A7-0703-5203-0A47073B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Prototype-Aligned Representation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7E5699D-366C-B301-9226-525B359CD6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3162" y="1635645"/>
            <a:ext cx="5090811" cy="358670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BEE1F-60FE-FBEF-A1B5-58CB7D8A9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6E4563-B73B-C5A8-ACD3-BF5BEFA1AC32}"/>
              </a:ext>
            </a:extLst>
          </p:cNvPr>
          <p:cNvSpPr txBox="1"/>
          <p:nvPr/>
        </p:nvSpPr>
        <p:spPr>
          <a:xfrm>
            <a:off x="5306711" y="1397317"/>
            <a:ext cx="6542127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Motivation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Directly fine-tuning low-resource models often yields unstable or inconsistent sentiment spaces.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Method: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Two-Stage Framework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Stage 1 – Train sentiment prototypes on modern, labeled data using cross-entropy loss.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Stage 2 – Map low-resource samples toward these prototypes via a symmetric contrastive loss, ensuring semantic consistency across domains.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947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43677-FEE3-A498-73BB-0EB691756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4488EF-A548-41EC-72EE-FF1CA006E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92458" y="1108075"/>
            <a:ext cx="8382000" cy="32766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ABFDF-8686-2111-714B-11F3CBAFD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9CE1F6-AD9B-EC75-9DDA-CD90EC0FD03F}"/>
              </a:ext>
            </a:extLst>
          </p:cNvPr>
          <p:cNvSpPr txBox="1"/>
          <p:nvPr/>
        </p:nvSpPr>
        <p:spPr>
          <a:xfrm>
            <a:off x="1018660" y="4549596"/>
            <a:ext cx="106786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Overall Performance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RAPA &gt; Direct Finetune on 3 of 4 datasets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Gains: +12.3 on Austrian News, average gain across all datasets is +5.6 F1</a:t>
            </a:r>
          </a:p>
        </p:txBody>
      </p:sp>
    </p:spTree>
    <p:extLst>
      <p:ext uri="{BB962C8B-B14F-4D97-AF65-F5344CB8AC3E}">
        <p14:creationId xmlns:p14="http://schemas.microsoft.com/office/powerpoint/2010/main" val="920815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0067D-9DD2-7483-242C-5DEFFFEBD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Ablation &amp; Visualization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98229-C2FD-53F0-2786-5978219C0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6D9E1F-9512-7297-65EA-0978D1971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58" y="883307"/>
            <a:ext cx="4064000" cy="124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972E6F-6F43-695C-5C30-3265C3F1C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58" y="2370515"/>
            <a:ext cx="3492500" cy="1003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DF9788-E1F9-5389-0978-0688AFFC5A50}"/>
              </a:ext>
            </a:extLst>
          </p:cNvPr>
          <p:cNvSpPr txBox="1"/>
          <p:nvPr/>
        </p:nvSpPr>
        <p:spPr>
          <a:xfrm>
            <a:off x="5057010" y="1178090"/>
            <a:ext cx="64093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Role-guided prompts → better annotation quality (+17 % on Latin)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8214B8-7DC8-3A33-3263-9293E1D1B2F4}"/>
              </a:ext>
            </a:extLst>
          </p:cNvPr>
          <p:cNvSpPr txBox="1"/>
          <p:nvPr/>
        </p:nvSpPr>
        <p:spPr>
          <a:xfrm>
            <a:off x="5057010" y="258991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Prototype alignment → stabilizes low-resource learning (+3 – 5 F1)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35D96C-1A87-6477-A6CC-B194051F8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58" y="3634502"/>
            <a:ext cx="3492500" cy="26247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9C383E-C043-1D14-43F0-22F79D040732}"/>
              </a:ext>
            </a:extLst>
          </p:cNvPr>
          <p:cNvSpPr txBox="1"/>
          <p:nvPr/>
        </p:nvSpPr>
        <p:spPr>
          <a:xfrm>
            <a:off x="5057010" y="4537527"/>
            <a:ext cx="61842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Aligned prototypes → show clearer sentiment separation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9CF256-F51A-D230-CBD7-74472931BB0C}"/>
              </a:ext>
            </a:extLst>
          </p:cNvPr>
          <p:cNvSpPr txBox="1"/>
          <p:nvPr/>
        </p:nvSpPr>
        <p:spPr>
          <a:xfrm>
            <a:off x="1168760" y="3273184"/>
            <a:ext cx="60987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LP = Low-resource Prototypes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52BD3F-056D-278E-2C17-37D84FBA550B}"/>
              </a:ext>
            </a:extLst>
          </p:cNvPr>
          <p:cNvSpPr txBox="1"/>
          <p:nvPr/>
        </p:nvSpPr>
        <p:spPr>
          <a:xfrm>
            <a:off x="1740260" y="2053278"/>
            <a:ext cx="60987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RP =Role-play</a:t>
            </a:r>
          </a:p>
        </p:txBody>
      </p:sp>
    </p:spTree>
    <p:extLst>
      <p:ext uri="{BB962C8B-B14F-4D97-AF65-F5344CB8AC3E}">
        <p14:creationId xmlns:p14="http://schemas.microsoft.com/office/powerpoint/2010/main" val="3506366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BD2A-758A-9924-09A5-BC0FAD62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E3E02-2EE1-1100-05D3-A3B350563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Role-guided annotation</a:t>
            </a:r>
            <a:r>
              <a:rPr lang="en-US" sz="2400" dirty="0"/>
              <a:t> teaches LLMs to interpret sentiment </a:t>
            </a:r>
            <a:r>
              <a:rPr lang="en-US" sz="2400" i="1" dirty="0"/>
              <a:t>as period-specific readers</a:t>
            </a:r>
            <a:r>
              <a:rPr lang="en-US" sz="2400" dirty="0"/>
              <a:t>, improving contextual label quality.</a:t>
            </a:r>
          </a:p>
          <a:p>
            <a:r>
              <a:rPr lang="en-US" sz="2400" b="1" dirty="0"/>
              <a:t>Prototype-aligned learning</a:t>
            </a:r>
            <a:r>
              <a:rPr lang="en-US" sz="2400" dirty="0"/>
              <a:t> connects high- and low-resource domains, reducing both machine- and human-induced label noise.</a:t>
            </a:r>
          </a:p>
          <a:p>
            <a:r>
              <a:rPr lang="en-US" sz="2400" b="1" dirty="0"/>
              <a:t>RAPA generally outperforms direct fine-tuning</a:t>
            </a:r>
            <a:r>
              <a:rPr lang="en-US" sz="2400" dirty="0"/>
              <a:t>, achieving up to </a:t>
            </a:r>
            <a:r>
              <a:rPr lang="en-US" sz="2400" b="1" dirty="0"/>
              <a:t>+12.3 F1</a:t>
            </a:r>
            <a:r>
              <a:rPr lang="en-US" sz="2400" dirty="0"/>
              <a:t> on </a:t>
            </a:r>
            <a:r>
              <a:rPr lang="en-US" sz="2400" i="1" dirty="0"/>
              <a:t>Austrian News</a:t>
            </a:r>
            <a:r>
              <a:rPr lang="en-US" sz="2400" dirty="0"/>
              <a:t> and +5.6 F1 on average across four historical datasets.</a:t>
            </a:r>
          </a:p>
          <a:p>
            <a:r>
              <a:rPr lang="en-US" sz="2400" b="1" dirty="0"/>
              <a:t>Learned prototypes show clear semantic separation</a:t>
            </a:r>
            <a:r>
              <a:rPr lang="en-US" sz="2400" dirty="0"/>
              <a:t>, confirming effective representation alignment.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AE67A-D367-D906-0AA0-4584B23F5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19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56258-E5FC-9563-9842-166978D98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1ACEE-DEB0-C892-0A8E-170ABD5A1E0B}"/>
              </a:ext>
            </a:extLst>
          </p:cNvPr>
          <p:cNvSpPr txBox="1"/>
          <p:nvPr/>
        </p:nvSpPr>
        <p:spPr>
          <a:xfrm>
            <a:off x="4088606" y="2551837"/>
            <a:ext cx="40147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Thank you!</a:t>
            </a:r>
          </a:p>
          <a:p>
            <a:pPr algn="ctr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Any Questions?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76D8259-37F4-394F-F7C3-4B8638EA0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657" y="1055077"/>
            <a:ext cx="10628143" cy="5121886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020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2387</TotalTime>
  <Words>558</Words>
  <Application>Microsoft Macintosh PowerPoint</Application>
  <PresentationFormat>Widescreen</PresentationFormat>
  <Paragraphs>78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主题​​</vt:lpstr>
      <vt:lpstr>PowerPoint Presentation</vt:lpstr>
      <vt:lpstr>Background</vt:lpstr>
      <vt:lpstr>Challenge</vt:lpstr>
      <vt:lpstr>Limits of Prior Work</vt:lpstr>
      <vt:lpstr>Method: RAPA</vt:lpstr>
      <vt:lpstr>Role-Guided Annotation</vt:lpstr>
      <vt:lpstr>Prototype-Aligned Representation</vt:lpstr>
      <vt:lpstr>Results</vt:lpstr>
      <vt:lpstr>Ablation &amp; Visualization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hf du</dc:creator>
  <cp:lastModifiedBy>hf du</cp:lastModifiedBy>
  <cp:revision>65</cp:revision>
  <dcterms:created xsi:type="dcterms:W3CDTF">2025-10-08T01:22:00Z</dcterms:created>
  <dcterms:modified xsi:type="dcterms:W3CDTF">2025-10-09T18:15:21Z</dcterms:modified>
</cp:coreProperties>
</file>