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3.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 vs. expert human FACS coding</c:v>
                </c:pt>
              </c:strCache>
            </c:strRef>
          </c:tx>
          <c:spPr>
            <a:solidFill>
              <a:srgbClr val="3D7068"/>
            </a:solidFill>
            <a:effectLst/>
          </c:spPr>
          <c:invertIfNegative val="0"/>
          <c:dLbls>
            <c:numFmt formatCode="0&quot;%&quot;" sourceLinked="0"/>
            <c:txPr>
              <a:bodyPr/>
              <a:lstStyle/>
              <a:p>
                <a:pPr>
                  <a:defRPr b="1" i="0" strike="noStrike" sz="1300" u="none">
                    <a:solidFill>
                      <a:srgbClr val="16202C"/>
                    </a:solidFill>
                    <a:latin typeface="Calibri"/>
                  </a:defRPr>
                </a:pPr>
              </a:p>
            </c:txPr>
            <c:showLegendKey val="0"/>
            <c:showVal val="1"/>
            <c:showCatName val="0"/>
            <c:showSerName val="0"/>
            <c:showPercent val="0"/>
            <c:showBubbleSize val="0"/>
            <c:showLeaderLines val="0"/>
          </c:dLbls>
          <c:dPt>
            <c:idx val="0"/>
            <c:invertIfNegative val="0"/>
            <c:bubble3D val="0"/>
            <c:spPr>
              <a:solidFill>
                <a:srgbClr val="3D7068"/>
              </a:solidFill>
              <a:effectLst/>
            </c:spPr>
          </c:dPt>
          <c:dPt>
            <c:idx val="1"/>
            <c:invertIfNegative val="0"/>
            <c:bubble3D val="0"/>
            <c:spPr>
              <a:solidFill>
                <a:srgbClr val="D9A441"/>
              </a:solidFill>
              <a:effectLst/>
            </c:spPr>
          </c:dPt>
          <c:dPt>
            <c:idx val="2"/>
            <c:invertIfNegative val="0"/>
            <c:bubble3D val="0"/>
            <c:spPr>
              <a:solidFill>
                <a:srgbClr val="E07A5F"/>
              </a:solidFill>
              <a:effectLst/>
            </c:spPr>
          </c:dPt>
          <c:cat>
            <c:multiLvlStrRef>
              <c:f>Sheet1!$A$2:$A$4</c:f>
              <c:multiLvlStrCache>
                <c:ptCount val="3"/>
                <c:lvl>
                  <c:pt idx="0">
                    <c:v>Trained &amp; tested on
same database</c:v>
                  </c:pt>
                  <c:pt idx="1">
                    <c:v>Cross-database,
ideal conditions</c:v>
                  </c:pt>
                  <c:pt idx="2">
                    <c:v>EmotioNet Challenge,
unconstrained images</c:v>
                  </c:pt>
                </c:lvl>
              </c:multiLvlStrCache>
            </c:multiLvlStrRef>
          </c:cat>
          <c:val>
            <c:numRef>
              <c:f>Sheet1!$B$2:$B$4</c:f>
              <c:numCache>
                <c:formatCode>General</c:formatCode>
                <c:ptCount val="3"/>
                <c:pt idx="0">
                  <c:v>99</c:v>
                </c:pt>
                <c:pt idx="1">
                  <c:v>90</c:v>
                </c:pt>
                <c:pt idx="2">
                  <c:v>83</c:v>
                </c:pt>
              </c:numCache>
            </c:numRef>
          </c:val>
        </c:ser>
        <c:dLbls>
          <c:numFmt formatCode="0&quot;%&quot;" sourceLinked="0"/>
          <c:txPr>
            <a:bodyPr/>
            <a:lstStyle/>
            <a:p>
              <a:pPr>
                <a:defRPr b="1" i="0" strike="noStrike" sz="1300" u="none">
                  <a:solidFill>
                    <a:srgbClr val="16202C"/>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E4057"/>
                </a:solidFill>
                <a:latin typeface="Calibri"/>
              </a:defRPr>
            </a:pPr>
            <a:endParaRPr lang="en-US"/>
          </a:p>
        </c:txPr>
        <c:crossAx val="2094734552"/>
        <c:crosses val="autoZero"/>
        <c:auto val="1"/>
        <c:lblAlgn val="ctr"/>
        <c:noMultiLvlLbl val="1"/>
      </c:catAx>
      <c:valAx>
        <c:axId val="2094734552"/>
        <c:scaling>
          <c:orientation val="minMax"/>
          <c:max val="105"/>
          <c:min val="0"/>
        </c:scaling>
        <c:delete val="0"/>
        <c:axPos val="l"/>
        <c:majorGridlines>
          <c:spPr>
            <a:ln w="12700" cap="flat">
              <a:solidFill>
                <a:srgbClr val="E7EAEC"/>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Winners producing a Duchenne smile</c:v>
                </c:pt>
              </c:strCache>
            </c:strRef>
          </c:tx>
          <c:spPr>
            <a:solidFill>
              <a:srgbClr val="E07A5F"/>
            </a:solidFill>
            <a:effectLst/>
          </c:spPr>
          <c:invertIfNegative val="0"/>
          <c:dLbls>
            <c:numFmt formatCode="0.0&quot;%&quot;" sourceLinked="0"/>
            <c:txPr>
              <a:bodyPr/>
              <a:lstStyle/>
              <a:p>
                <a:pPr>
                  <a:defRPr b="1" i="0" strike="noStrike" sz="1300" u="none">
                    <a:solidFill>
                      <a:srgbClr val="16202C"/>
                    </a:solidFill>
                    <a:latin typeface="Calibri"/>
                  </a:defRPr>
                </a:pPr>
              </a:p>
            </c:txPr>
            <c:showLegendKey val="0"/>
            <c:showVal val="1"/>
            <c:showCatName val="0"/>
            <c:showSerName val="0"/>
            <c:showPercent val="0"/>
            <c:showBubbleSize val="0"/>
            <c:showLeaderLines val="0"/>
          </c:dLbls>
          <c:dPt>
            <c:idx val="0"/>
            <c:invertIfNegative val="0"/>
            <c:bubble3D val="0"/>
            <c:spPr>
              <a:solidFill>
                <a:srgbClr val="E07A5F"/>
              </a:solidFill>
              <a:effectLst/>
            </c:spPr>
          </c:dPt>
          <c:dPt>
            <c:idx val="1"/>
            <c:invertIfNegative val="0"/>
            <c:bubble3D val="0"/>
            <c:spPr>
              <a:solidFill>
                <a:srgbClr val="E07A5F"/>
              </a:solidFill>
              <a:effectLst/>
            </c:spPr>
          </c:dPt>
          <c:cat>
            <c:multiLvlStrRef>
              <c:f>Sheet1!$A$2:$A$3</c:f>
              <c:multiLvlStrCache>
                <c:ptCount val="2"/>
                <c:lvl>
                  <c:pt idx="0">
                    <c:v>Study 1</c:v>
                  </c:pt>
                  <c:pt idx="1">
                    <c:v>Study 2</c:v>
                  </c:pt>
                </c:lvl>
              </c:multiLvlStrCache>
            </c:multiLvlStrRef>
          </c:cat>
          <c:val>
            <c:numRef>
              <c:f>Sheet1!$B$2:$B$3</c:f>
              <c:numCache>
                <c:formatCode>General</c:formatCode>
                <c:ptCount val="2"/>
                <c:pt idx="0">
                  <c:v>14.5</c:v>
                </c:pt>
                <c:pt idx="1">
                  <c:v>21</c:v>
                </c:pt>
              </c:numCache>
            </c:numRef>
          </c:val>
        </c:ser>
        <c:dLbls>
          <c:numFmt formatCode="0.0&quot;%&quot;" sourceLinked="0"/>
          <c:txPr>
            <a:bodyPr/>
            <a:lstStyle/>
            <a:p>
              <a:pPr>
                <a:defRPr b="1" i="0" strike="noStrike" sz="1300" u="none">
                  <a:solidFill>
                    <a:srgbClr val="16202C"/>
                  </a:solidFill>
                  <a:latin typeface="Calibri"/>
                </a:defRPr>
              </a:pPr>
            </a:p>
          </c:txPr>
          <c:showLegendKey val="0"/>
          <c:showVal val="1"/>
          <c:showCatName val="0"/>
          <c:showSerName val="0"/>
          <c:showPercent val="0"/>
          <c:showBubbleSize val="0"/>
          <c:showLeaderLines val="0"/>
        </c:dLbls>
        <c:gapWidth val="1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E4057"/>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7EAEC"/>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Distinct facial configurations mapped to the category</c:v>
                </c:pt>
              </c:strCache>
            </c:strRef>
          </c:tx>
          <c:spPr>
            <a:solidFill>
              <a:srgbClr val="E07A5F"/>
            </a:solidFill>
            <a:effectLst/>
          </c:spPr>
          <c:invertIfNegative val="0"/>
          <c:dLbls>
            <c:numFmt formatCode="#,##0" sourceLinked="0"/>
            <c:txPr>
              <a:bodyPr/>
              <a:lstStyle/>
              <a:p>
                <a:pPr>
                  <a:defRPr b="1" i="0" strike="noStrike" sz="1200" u="none">
                    <a:solidFill>
                      <a:srgbClr val="16202C"/>
                    </a:solidFill>
                    <a:latin typeface="Calibri"/>
                  </a:defRPr>
                </a:pPr>
              </a:p>
            </c:txPr>
            <c:showLegendKey val="0"/>
            <c:showVal val="1"/>
            <c:showCatName val="0"/>
            <c:showSerName val="0"/>
            <c:showPercent val="0"/>
            <c:showBubbleSize val="0"/>
            <c:showLeaderLines val="0"/>
          </c:dLbls>
          <c:cat>
            <c:multiLvlStrRef>
              <c:f>Sheet1!$A$2:$A$7</c:f>
              <c:multiLvlStrCache>
                <c:ptCount val="6"/>
                <c:lvl>
                  <c:pt idx="0">
                    <c:v>Happiness</c:v>
                  </c:pt>
                  <c:pt idx="1">
                    <c:v>Anger</c:v>
                  </c:pt>
                  <c:pt idx="2">
                    <c:v>Sadness</c:v>
                  </c:pt>
                  <c:pt idx="3">
                    <c:v>Surprise</c:v>
                  </c:pt>
                  <c:pt idx="4">
                    <c:v>Fear</c:v>
                  </c:pt>
                  <c:pt idx="5">
                    <c:v>Disgust</c:v>
                  </c:pt>
                </c:lvl>
              </c:multiLvlStrCache>
            </c:multiLvlStrRef>
          </c:cat>
          <c:val>
            <c:numRef>
              <c:f>Sheet1!$B$2:$B$7</c:f>
              <c:numCache>
                <c:formatCode>General</c:formatCode>
                <c:ptCount val="6"/>
                <c:pt idx="0">
                  <c:v>17</c:v>
                </c:pt>
                <c:pt idx="1">
                  <c:v>5</c:v>
                </c:pt>
                <c:pt idx="2">
                  <c:v>4</c:v>
                </c:pt>
                <c:pt idx="3">
                  <c:v>4</c:v>
                </c:pt>
                <c:pt idx="4">
                  <c:v>2</c:v>
                </c:pt>
                <c:pt idx="5">
                  <c:v>1</c:v>
                </c:pt>
              </c:numCache>
            </c:numRef>
          </c:val>
        </c:ser>
        <c:dLbls>
          <c:numFmt formatCode="#,##0" sourceLinked="0"/>
          <c:txPr>
            <a:bodyPr/>
            <a:lstStyle/>
            <a:p>
              <a:pPr>
                <a:defRPr b="1" i="0" strike="noStrike" sz="1200" u="none">
                  <a:solidFill>
                    <a:srgbClr val="16202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2E4057"/>
                </a:solidFill>
                <a:latin typeface="Calibri"/>
              </a:defRPr>
            </a:pPr>
            <a:endParaRPr lang="en-US"/>
          </a:p>
        </c:txPr>
        <c:crossAx val="2094734552"/>
        <c:crosses val="autoZero"/>
        <c:auto val="1"/>
        <c:lblAlgn val="ctr"/>
        <c:noMultiLvlLbl val="1"/>
      </c:catAx>
      <c:valAx>
        <c:axId val="2094734552"/>
        <c:scaling>
          <c:orientation val="minMax"/>
          <c:max val="20"/>
          <c:min val="0"/>
        </c:scaling>
        <c:delete val="0"/>
        <c:axPos val="b"/>
        <c:majorGridlines>
          <c:spPr>
            <a:ln w="12700" cap="flat">
              <a:solidFill>
                <a:srgbClr val="E7EA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for a show of hands: how many people have used, built on, or evaluated an emotion-recognition API? That framing makes the paper personal rather than an abstract psychology critique.
This is a PSPI target article — a genre worth flagging. PSPI commissions reviews aimed at translating psychological science for policymakers and practitioners, and each target article is published alongside commentary. So the paper is deliberately written to be read by exactly the audience in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thesis up front so the rest of the session is evidence rather than suspense.
The important nuance, which students routinely miss on a first read: the authors are NOT claiming the relationship is zero. Above-chance is repeatedly conceded. The claim is about effect size, specificity, and generalizability — and about whether those are sufficient to license the inference that commercial and forensic systems actually make.
If someone says 'so facial expressions are meaningless,' that's the misreading to correct immediately, and we'll return to it on the 'what the paper does not say'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visible for 30 seconds. The three discussion breaks are at roughly the 12-, 40-, and 62-minute marks.
If you're running short on time, the compressible sections are 4 and 5 — the production and perception evidence can be delivered as headline findings only, since students have read the paper. Do not compress section 6; that is the part that connects to their own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author list is the strongest rhetorical move in the paper and worth dwelling on. Aleix Martinez's involvement matters most for this room: he is a computer vision researcher whose lab produced EmotioNet, the million-image AU-annotated database, and who organised the challenge whose disappointing results the paper reports. That is not an outsider taking shots.
Stacy Marsella's involvement matters for anyone working on embodied conversational agents or virtual humans — the paper has a specific section on virtual humans as both a flawed application and a promising research instrument.
On the applications: the Microsoft Emotion API described in the paper was later deprecated, and in 2022 Microsoft announced it was retiring facial emotion inference from Azure Face specifically on the grounds of lack of scientific consensus. That is a genuine downstream effect of this literature and worth mentioning — it's the clearest case of this critique changing a product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rhetorically important point: the paper is not attacking a position nobody holds. It carefully distinguishes what basic emotion theorists actually claim from the folk version.
But then it makes a sharper argument — that the field's practice reinforces the folk version even when its stated theory doesn't. Studies test single core configurations, review papers print one canonical face per category, and consumers reasonably conclude the mapping is diagnostic. The authors call this a gap between scientists' claims and scientists' actions.
The prototype-versus-stereotype distinction on the summary slide later is the payoff of this setup. A prototype is the most typical member of a category. A stereotype is an oversimplification treated as more general than it is. The authors argue the canonical six faces are the latter.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here — one line each. The point is cumulative, not individual.
The legal example repays a pause if the room is interested: the paper cites Riggins v. Nevada and Justice Kennedy's language about knowing the heart and mind of the offender. A defendant's demeanour is treated as evidence in capital sentencing. If the reverse inference is unsound, that is not a minor calibration problem.
The education example is the one students underrate. If children are taught a stereotyped mapping early, and the paper is right that emotion categories are learned from the statistics of what you're exposed to, then the teaching may partly manufacture the regularity that later studies measure. Pollak's work on concept development bears on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placed before the evidence so that students commit to a standard first and can't retrofit one afterwards.
The third prompt is the one to push on. Almost every dataset in this space is validated against human annotators labelling the same images, which means the system is being trained to reproduce human reverse inference, not to detect emotion. If the annotators are doing something unreliable, a model that matches them perfectly has learned the unreliability. Hold that thought until the ground truth slide.
If discussion is slow, ask directly: has anyone here used FER2013, AffectNet, or CK+? What was the labelling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transferable idea in the paper and worth five minutes even if you cut elsewhere.
The structure is identical to the reverse inference problem Poldrack raised in neuroimaging: amygdala activation during fear does not entitle you to infer fear from amygdala activation, because the amygdala responds to many things. Students with a neuroimaging background will recognise it immediately; the analogy usually lands well.
The practical consequence: a literature that only ever reports 'people scowled when angry more than chance' is silent on the question every application asks. You cannot invert it without the false positive rate. And the paper's finding is that specificity is unreported across almost every research domain — which is why the Table 4 column is mostly grey.
Worth stating plainly: this is Bayes. If anger is rare in the population being screened, even a fairly specific scowl detector will produce mostly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what the fourth criterion demands and why it is devastating. Validity requires knowing the person's actual emotional state by some route other than their face. But there is no perceiver-independent measure that does this — which we'll see on the ground truth slide.
So the field is in a bind: the face is being used to index a state that cannot be independently measured, which means the reverse inference cannot be validated even in principle with current methods. The authors are explicit that they restrict their own review to the first three criteria for this reason.
Ask the room: what would you accept as ground truth? Self-report has obvious problems — it's a verbal categorisation, not a direct readout. Physiology, as we'll see, doesn't discriminate categories. Elicitation condition assumes the manipulation worked. Every option is contestable, and this is the deep problem underneath the whole enterprise.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3 recast as a confusion matrix, which is the framing this audience already thinks in.
The asymmetry is the whole argument. Production studies typically induce anger and count scowls: that fills the true positive cell. To get specificity you would need to induce many other states — including non-emotional ones like concentration, confusion, physical exertion, indigestion — and count scowls there too. Very few studies do.
Ask: what does it mean that our field reports accuracy and F1 on datasets where the negative class is 'some other posed emotion' rather than 'the full range of things faces do'? The base rate in deployment is nothing like the base rate in the test set. This is the same critique as evaluating a rare-disease classifier on a balanced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that these thresholds are inherited, not invented by these authors — they come from Haidt and Keltner, who are broadly sympathetic to the basic emotion tradition. That matters because it blocks the objection that the goalposts were set to produce a negative result. This is a fair objection to raise elsewhere, though, and we'll come back to it in the critique section.
The move in the dark box is subtle and important. Weak reliability isn't just a disappointing number. If a scowl accompanies anger only 20-30% of the time, then 70-80% of the time anger is being expressed some other way — and possibly in a patterned, predictable way that nobody has measured because the study wasn't designed to look. That reframes the negative finding as a missed research opportunity, which is how the paper wants it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bridge to the constructive half of the paper. Everything in the grid is measurable — which is precisely the authors' point in their recommendations.
The final line is a methodological critique worth unpacking. If you assume there is a universal expression and then model context as a perturbation of it, you will fit a model with a universal term and a context term, and you will conclude a universal exists. The alternative — that the 'universal' is an artefact of averaging over unmeasured contexts — is not tested by that design. This is a specification problem, and this audience should be able to see it as one.
For a machine learning framing: they're arguing the field has been fitting a heavily misspecified model with a large unmodelled covariate, and interpreting the small stable component as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stating clearly because it is often misunderstood: FACS is not an emotion theory and Ekman was careful about this. It is an anatomical coding scheme. AU 12 is 'zygomaticus major contracted', not 'happy'.
The critique lands on the interpretive layer that sits on top — the tables mapping AU 6 + AU 12 to happiness. Those mappings are hypotheses, and this paper is evaluating them.
The dependency point in the paper is also relevant to anyone building AU detectors: AUs are scored as independent elements, but facial anatomy constrains them so they cannot move independently. So treating AU detection as a set of independent binary classification problems is anatomically wrong, and there is work on modelling the dependencies explicitly.
Note too that the reported .80 inter-rater reliability is for individual AUs among trained experts on good footage. That is the ceiling any automated system is being compared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paper unavoidable for this audience, and it comes from Martinez's own challenge.
Walk the bars. Ninety-nine percent within a single database is essentially a measure of database idiosyncrasy — same lighting, same subjects, same pose distribution. Ninety percent across databases still assumes ideal conditions: frontal, well lit, unoccluded, and posed. Below eighty-three percent on unconstrained images, and F1 below .65, is the number that matters for anything deployed.
Two things to draw out. First, this is AU detection accuracy — the anatomical layer, before any emotion inference is layered on. So the errors compound: an unreliable AU detector feeding a contested AU-to-emotion mapping. Second, the attrition from 38 declared entrants to 4 submissions is itself informative about how hard the unconstrained problem was in 2017.
Fair caveat to offer the room: this snapshot is from 2017 and the paper concedes automated methods will improve. Ask whether better AU detection would actually solve the problem the paper identifies. It would not — improving the measurement of facial movement does nothing about the validity of the inference from movement to emotion. That distinction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fourth criterion — validity — comes home to roost.
The Siegel et al. 2018 meta-analysis is the key citation and the most comprehensive on autonomic specificity. The finding is not merely that effects are small; it is that the patterns don't replicate, including across studies using the same stimuli and sampling the same population. Compare Kragel and LaBar's results across their own studies.
Connect this back to Discussion 1. Every dataset this room has trained on inherits one of these four options as its label source, and each is compromised in a different way. A model achieving high accuracy on such labels has learned to reproduce that label-generating process, whatever it is.
A productive provocation: if there is no perceiver-independent measure of emotional state, is 'emotion recognition' even a well-posed supervised learning problem? Or is the field actually doing something else — modelling human annotator judgements, which is a legitimate but very different task, and should be described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reframing to aim for: much of the field is doing annotator-consensus prediction and calling it emotion recognition. That is not worthless — consensus judgement predicts real social consequences, since juries and interviewers make exactly these inferences — but it should be named accurately, and it carries the annotators' cultural biases into the model.
If someone argues that self-report is good enough ground truth, press them: the paper's constructionist framing says the emotion word itself is a learned category, so self-report is a categorisation act rather than a measurement. That's a substantive theoretical commitment students can reasonably push back on, and the pushback is worth having.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proportion of .19 is the number to leave hanging in the air. Across emotional episodes in the lab, the hypothesised configuration showed up under a fifth of the time.
Why the two metrics differ is worth a sentence: r = .32 correlates intensity of configuration with a measure of emotion, whereas .19 is the raw hit rate. Both land in or below the weak band, which is why the paper reports them together.
The Duchenne smile example is pedagogically valuable because it is the single most widely believed specificity claim in the popular literature — the 'genuine smile' that supposedly cannot be faked. It can be faked, roughly a third to two-thirds of people can produce it voluntarily depending on the study, and it appears in submission and affiliation displays. If the strongest specificity claim in the field fails, that is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is the best single teaching example in the whole paper, so give it a moment.
If you were designing an elicitation for intense, unambiguous, spontaneous happiness, you could hardly do better than the instant an athlete wins an international judo match. The self-reported happiness was high. The smiles largely did not appear — and when they did, the predictor was social: whether the fighter was engaging an audience.
This is evidence for the behavioural ecology view associated with Fridlund — that facial displays are social signals directed at recipients, not readouts of internal state. Worth naming that alternative explicitly, because it is a third position distinct from both basic emotion theory and constructionism, and it has clear implications for HCI: if displays are addressed to someone, then a camera changes what it observes. Ask the room what that means for in-the-wild data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posed-expression point deserves care because it cuts in an interesting direction. That people across many cultures pose similar faces when given an emotion word is a real and replicable finding. The question is what it shows. The authors read it as evidence about shared conceptual knowledge — people know what the cultural symbol for anger looks like — rather than evidence about how anger is expressed.
The dark box is the slide's real payload for this audience. Trace the lineage: early studies culled a small number of maximally distinguishable exaggerated poses from much larger sets of photographs. Those became the canonical stimuli. Later datasets were built to resemble them. Our models are trained on their descendants. The whole pipeline has been selected for separability, and then we report high accuracy on it and call that evidence.
Ask what an unselected dataset of faces during emotional episodes would even look like, and why nobody has built one. The answer is in the recommendations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populations are where the innateness claim should be easiest to see, which is why the paper treats them as critical tests.
The infant finding that lands hardest: infants scowl when crying and when about to cry. If the scowl is a general distress or exertion behaviour rather than an anger display, then adult observers labelling infants as angry are performing the reverse inference on very thin evidence — and that inference then shapes how caregivers respond.
On the blind data, be careful and fair. The finding is not that blind individuals express nothing. It is that they are as variable as sighted people. The paper's argument is that the field has read 'blind and sighted are similar' as support for innate expression, when the shared property being observed is variability rather than a shared prototype. That is a genuinely subtle inferential point and worth checking students followed it.
The caveat about onset and severity is the authors' own and worth repeating — even brief early vision provides scaffolding, so 'congenitally blind' is doing less work in some of these samples than it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terminological recommendation sounds pedantic and is not. 'Expression' presupposes that something internal is being externalised — it embeds the hypothesis under test in the name of the variable. Once you call your data 'expressions of anger', the reverse inference has already been made, in the variable name, before any analysis.
This is an easy, concrete thing students can adopt in their own writing this week. Ask them to check the language in their current papers.
The prototype-stereotype distinction is worth making sure landed. Prototype is a technical term from categorisation research: the most typical or frequent member. The authors' claim is that the canonical six faces are not the most frequent way people express these states — they are Western symbols that have been mistaken for typical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methodological heart of the perception half. The finding in the dark box should stop the room: give people a forced choice among a small set of labels and they will converge, even on categories that were invented for the experiment. Whatever that task measures, it is not recovering a natural mapping.
The deeper mechanism the authors propose: the emotion words in the response array do conceptual work. They activate the category, which shapes the perception. Remove the words and the agreement substantially weakens.
Direct analogy for this audience: forced-choice among six classes with a uniform prior is not the deployment condition. Deployment is open-set, with a highly skewed and unknown prior over states, most of which are not in your label set. A model evaluated the first way and deployed the second way will fail in exactly the way the human literature predicts.
Worth also flagging the other confounds in Table 5 — static rather than dynamic, exaggerated rather than typical, disembodied faces without situational context. Each inflates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draw out.
First, the date. The most recent meta-analysis of this literature was published in 2002. Given how much the field has changed and how heavily this result is cited in support of universality, that is a striking gap.
Second, the design profile. Ninety-five percent posed, all but four choice-from-array. So the strongest evidence for the common view comes overwhelmingly from the one task design that we just saw manufactures agreement, applied to the one stimulus type that measures beliefs rather than behaviour. That conjunction is the authors' central methodological indictment.
The ingroup advantage is interesting on its own terms and worth a moment: agreement is higher within culture than across. Basic emotion theorists explain it via cultural dialects layered on a universal base. Constructionists read it as evidence that the categories themselves are culturally learned. Same data, two readings — a good illustration of theory-ladenness.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seventeen-to-one result for happiness is the number students remember, so let it sit.
Be precise about what it does and does not show. It shows that many distinct configurations attract the same label — a failure of specificity in the perception direction. Combined with the production finding that any given emotion is expressed many ways, you get many-to-many in both directions. That is the paper's central structural claim.
Note the asymmetry across categories, which is interesting and underdiscussed: seventeen for happiness, one for disgust. Partly this reflects happiness being the only positive category in most stimulus sets, so it absorbs everything pleasant. Ask what the numbers would look like with a richer set of positive categories — pride, awe, gratitude, relief, amusement. The paper flags this as a live problem with the six-category framework.
Also worth noting for the room: this result comes from Martinez's lab, using computational methods on a large image set. It is the kind of study the paper's recommendations call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Trobriand fear result is the most vivid finding in the paper: the configuration proposed as the universal fear expression is read in that community as a threat — an intention to attack. Not a weaker version of fear. A different, arguably opposite, social meaning. And the authors note it appears as a threat display in carvings and masks across several unrelated cultures.
The Hadza exposure gradient is methodologically crucial. Agreement tracks contact with the West — schooling, Swahili. That is exactly the pattern you would predict if the mapping is learned and transmitted, and it is hard to reconcile with an innate universal. It also means that as remote communities become less isolated, the critical test becomes progressively unavailable. The Hadza population is itself under severe pressure.
The opacity of mind point is the deepest one and often gets skipped. It is not merely that these participants assign different emotion labels. Some do not treat the inference from face to inner state as a sensible thing to attempt. That challenges the assumption that reading minds from faces is a human universal, rather than a culturally specific practice — and our systems are built on the assumption that it is universal.
Good provocation for the room: whose reverse inference is a deployed emotion AI encoding, and where would it be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leave up longest. If students take one image away, make it this one.
Read the specificity column down. It is grey or dark red essentially all the way. One row — reverse correlation in developed samples — reports moderate specificity. Everywhere else the field has either not measured it or found it wanting. Since specificity is what the reverse inference requires, the column that matters most is the column nobody filled in.
Then read the reliability column and notice where the green is: posed configurations and choice-from-array tasks. The two strongest cells are the two designs that measure beliefs about expression rather than expression itself.
The pre-2008 versus post-2008 split in the remote-culture rows is worth explaining. The older studies used methods later criticised for cueing participants toward the expected answers; the newer ones with tighter controls give weaker results. That is a familiar pattern from the replication literature and students will recognise it.
Ask: which cell would your own system's validation data occupy?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break exists to keep the session from becoming a straightforward endorsement. The paper is persuasive and students tend to over-update on it.
The strongest defence of the field: the paper's target is population-level, context-free reverse inference from a static face to one of six categories. That is indeed what most commercial systems do. But it is not the only thing one could build. A model conditioned on a specific person, in a known context, over time, with a task-relevant target variable is a different proposition, and the paper's own recommendations point that way. Make sure someone in the room makes this argument; if nobody does, make it yourself.
The absence-of-evidence prompt is genuinely open. If false positive rates are simply not reported, we don't know that specificity is poor — we know it is undemonstrated. For a scientific claim that is a serious gap. For a deployment decision, the burden of proof arguably sits with the vendor, so undemonstrated is sufficient grounds for caution. That asymmetry between scientific and applied standards is worth drawing out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this slide. The most common misreading — in seminars and in the press coverage of this paper — is that it shows facial expressions are meaningless. It shows something more specific and more useful: that a particular inference, from a static configuration to one of six named internal states, without context, is not supported.
The last row is the constructive one. The authors explicitly allow that facial movements measured in high-dimensional dynamic context may eventually do the diagnostic work. Their complaint is that the research establishing this has not been done, because the field kept testing a stereotype against chance instead.
This is what makes the paper a research agenda rather than a demolition, and it's the framing to carry into the last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paper's direct address to our field and the emotional centre of the session.
The first card is the one to press hardest, because it runs against this room's instincts. The default response to a hard perception problem is more data and better models. The argument here is that the limiting factor is not model capacity but the absence of a licensed inference: if p(emotion | face) is genuinely low and context-dependent, no architecture recovers what is not there in the input.
Analogy that works well: you cannot improve a barometer into a rain detector by making it more precise, if pressure and rain are only loosely coupled. The instrument is fine. The inference is the problem.
Mention the practical epilogue here: Microsoft retired facial emotion inference from Azure Face in 2022, citing the absence of scientific consensus, and there has been sustained regulatory attention to emotion recognition in the EU AI Act, which restricts its use in workplaces and schools. Whatever one thinks of the paper's arguments, this literature has had regulatory consequences — which is a good reason to read it carefully rather than dismiss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footnote 41 in the paper and it is easy to miss, but it does a lot of work — it shows the critique is scoped rather than blanket, and it gives students a decision rule they can apply to their own projects.
The rule is clean: if your target variable is a facial movement, or a state defined by behavioural consequences you can independently verify, you are on solid ground. If your target variable is a named internal emotional state, you have inherited the whole problem.
Pain is the interesting borderline case and worth flagging honestly. It is arguably an internal state, and it has been studied with FACS extensively. But it has independent verification routes — self-report tied to treatment decisions, observable injury, analgesic response — that anger and surprise do not.
Good exercise if there is time: have students classify their own current project against this line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the part of the paper most likely to generate someone's thesis, and it is the part most students skim.
Notice how much of this agenda is a computing agenda. Deep within-person sampling, multimodal synchronised measurement, unsupervised category discovery from large image corpora, ambulatory sensing — these are engineering problems, and they are the ones this room is equipped to solve. The paper is not telling us to stop; it is telling us we have been pointed at the wrong problem.
Item five is the most radical and the most interesting for machine learning. Every dataset we use encodes the six categories in its label set, so the categories cannot be discovered — only confirmed. Unsupervised structure discovery over large, diverse, in-the-wild face corpora would let the categories fall out of the data. Ask whether anyone knows of work doing this properly, and what the evaluation problem would be — how would you know you had found the right structure?
Item seven is directly actionable this week: report specificity, use detection-theoretic measures, and report your priors.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seminar that only ratifies the reading is a wasted seminar, so make sure this slide gets real time.
The most substantive counterargument comes from the Cowen and Keltner line of work: large-scale studies using naturalistic video and many more than six categories report considerably richer and more reliable structure. There is a genuine empirical dispute here about how many categories there are and how reliably they are signalled — not merely a dispute about standards. Students should know the literature did not stop in 2019.
The last row is the one I find most interesting and it usually splits the room. Almost no behavioural or physiological measure meets a fingerprint standard. Gait doesn't identify intent. Vocal prosody doesn't diagnose state. If we applied this bar consistently, a great deal of behavioural science would fail it. The counter-reply is that we are not asking whether the face is informative in principle — we are asking whether specific deployed systems making specific consequential claims are justified, and for that the bar should be high and should scale with the stakes.
Encourage disagreement here. Both positions are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portable habits rather than conclusions about this paper. Each one is something a student can apply to the next paper they review or the next system they build.
Number three is the one with the most immediate practical bite for anyone writing a methods section this term. Number five is free and costs nothing but changes how you think.
If you have a minute left, close by returning to the opening question: what would have changed your mind, and did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two of these depending on where the room's energy has gone. The second and fourth are the best generators of project ideas; the third is the best if the group leans toward policy.
On the second prompt, take the ethics seriously rather than treating it as a footnote. The research programme the paper recommends is close to total surveillance of willing participants — continuous video, physiology, location, social context. There is a real tension between the methodological fix and the privacy cost, and the paper does not resolve it. That tension is itself a good seminar paper topic.
On the third, the EU AI Act restricts emotion inference in workplaces and educational settings, with carve-outs for medical and safety uses that map interestingly well onto the paper's own footnote 41 carve-out. Worth pointing out that the regulatory line and the scientific line converged on roughly the same place.
Leave two minutes at the end for next week's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supplementary online material is genuinely worth pointing students to — it contains sixteen boxes covering the alternative theoretical positions, the autonomic literature, information-theoretic treatments of emotional communication, and a summary of computer vision methods for AU detection. Box 6 and Box 7 are the ones most relevant to this seminar.
If you assign a follow-up, the peer commentaries published alongside the target article are the efficient way to get the counterarguments in their strongest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1051560"/>
            <a:ext cx="566928" cy="566928"/>
          </a:xfrm>
          <a:prstGeom prst="roundRect">
            <a:avLst>
              <a:gd name="adj" fmla="val 16129"/>
            </a:avLst>
          </a:prstGeom>
          <a:solidFill>
            <a:srgbClr val="E07A5F"/>
          </a:solidFill>
          <a:ln w="12700">
            <a:solidFill>
              <a:srgbClr val="E07A5F"/>
            </a:solidFill>
            <a:prstDash val="solid"/>
          </a:ln>
        </p:spPr>
      </p:sp>
      <p:sp>
        <p:nvSpPr>
          <p:cNvPr id="3" name="Text 1"/>
          <p:cNvSpPr txBox="1"/>
          <p:nvPr/>
        </p:nvSpPr>
        <p:spPr>
          <a:xfrm>
            <a:off x="594360" y="1874520"/>
            <a:ext cx="10241280" cy="1737360"/>
          </a:xfrm>
          <a:prstGeom prst="rect">
            <a:avLst/>
          </a:prstGeom>
          <a:noFill/>
          <a:ln/>
        </p:spPr>
        <p:txBody>
          <a:bodyPr wrap="square" lIns="0" tIns="0" rIns="0" bIns="0" rtlCol="0" anchor="ctr"/>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Emotional Expressions</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Reconsidered</a:t>
            </a:r>
            <a:endParaRPr lang="en-US" sz="4600" dirty="0"/>
          </a:p>
        </p:txBody>
      </p:sp>
      <p:sp>
        <p:nvSpPr>
          <p:cNvPr id="4" name="Text 2"/>
          <p:cNvSpPr txBox="1"/>
          <p:nvPr/>
        </p:nvSpPr>
        <p:spPr>
          <a:xfrm>
            <a:off x="594360" y="3611880"/>
            <a:ext cx="10241280" cy="411480"/>
          </a:xfrm>
          <a:prstGeom prst="rect">
            <a:avLst/>
          </a:prstGeom>
          <a:noFill/>
          <a:ln/>
        </p:spPr>
        <p:txBody>
          <a:bodyPr wrap="square" lIns="0" tIns="0" rIns="0" bIns="0" rtlCol="0" anchor="ctr"/>
          <a:lstStyle/>
          <a:p>
            <a:pPr indent="0" marL="0">
              <a:buNone/>
            </a:pPr>
            <a:r>
              <a:rPr lang="en-US" sz="1800" dirty="0">
                <a:solidFill>
                  <a:srgbClr val="E07A5F"/>
                </a:solidFill>
                <a:latin typeface="Calibri" pitchFamily="34" charset="0"/>
                <a:ea typeface="Calibri" pitchFamily="34" charset="-122"/>
                <a:cs typeface="Calibri" pitchFamily="34" charset="-120"/>
              </a:rPr>
              <a:t>Challenges to Inferring Emotion From Human Facial Movements</a:t>
            </a:r>
            <a:endParaRPr lang="en-US" sz="1800" dirty="0"/>
          </a:p>
        </p:txBody>
      </p:sp>
      <p:sp>
        <p:nvSpPr>
          <p:cNvPr id="5" name="Text 3"/>
          <p:cNvSpPr txBox="1"/>
          <p:nvPr/>
        </p:nvSpPr>
        <p:spPr>
          <a:xfrm>
            <a:off x="594360" y="4297680"/>
            <a:ext cx="7315200" cy="731520"/>
          </a:xfrm>
          <a:prstGeom prst="rect">
            <a:avLst/>
          </a:prstGeom>
          <a:noFill/>
          <a:ln/>
        </p:spPr>
        <p:txBody>
          <a:bodyPr wrap="square" lIns="0" tIns="0" rIns="0" bIns="0" rtlCol="0" anchor="ctr"/>
          <a:lstStyle/>
          <a:p>
            <a:pPr indent="0" marL="0">
              <a:lnSpc>
                <a:spcPct val="115000"/>
              </a:lnSpc>
              <a:buNone/>
            </a:pPr>
            <a:r>
              <a:rPr lang="en-US" sz="1400" dirty="0">
                <a:solidFill>
                  <a:srgbClr val="9AA3AE"/>
                </a:solidFill>
                <a:latin typeface="Calibri" pitchFamily="34" charset="0"/>
                <a:ea typeface="Calibri" pitchFamily="34" charset="-122"/>
                <a:cs typeface="Calibri" pitchFamily="34" charset="-120"/>
              </a:rPr>
              <a:t>Barrett, Adolphs, Marsella, Martinez &amp; Pollak (2019)</a:t>
            </a:r>
            <a:endParaRPr lang="en-US" sz="1400" dirty="0"/>
          </a:p>
          <a:p>
            <a:pPr indent="0" marL="0">
              <a:lnSpc>
                <a:spcPct val="115000"/>
              </a:lnSpc>
              <a:buNone/>
            </a:pPr>
            <a:r>
              <a:rPr lang="en-US" sz="1400" dirty="0">
                <a:solidFill>
                  <a:srgbClr val="9AA3AE"/>
                </a:solidFill>
                <a:latin typeface="Calibri" pitchFamily="34" charset="0"/>
                <a:ea typeface="Calibri" pitchFamily="34" charset="-122"/>
                <a:cs typeface="Calibri" pitchFamily="34" charset="-120"/>
              </a:rPr>
              <a:t>Psychological Science in the Public Interest, 20(1), 1–68</a:t>
            </a:r>
            <a:endParaRPr lang="en-US" sz="1400" dirty="0"/>
          </a:p>
        </p:txBody>
      </p:sp>
      <p:sp>
        <p:nvSpPr>
          <p:cNvPr id="6" name="Text 4"/>
          <p:cNvSpPr txBox="1"/>
          <p:nvPr/>
        </p:nvSpPr>
        <p:spPr>
          <a:xfrm>
            <a:off x="594360" y="5715000"/>
            <a:ext cx="7315200" cy="320040"/>
          </a:xfrm>
          <a:prstGeom prst="rect">
            <a:avLst/>
          </a:prstGeom>
          <a:noFill/>
          <a:ln/>
        </p:spPr>
        <p:txBody>
          <a:bodyPr wrap="square" lIns="0" tIns="0" rIns="0" bIns="0" rtlCol="0" anchor="ctr"/>
          <a:lstStyle/>
          <a:p>
            <a:pPr indent="0" marL="0">
              <a:buNone/>
            </a:pPr>
            <a:r>
              <a:rPr lang="en-US" sz="1250" b="1" dirty="0">
                <a:solidFill>
                  <a:srgbClr val="D6DBE2"/>
                </a:solidFill>
                <a:latin typeface="Calibri" pitchFamily="34" charset="0"/>
                <a:ea typeface="Calibri" pitchFamily="34" charset="-122"/>
                <a:cs typeface="Calibri" pitchFamily="34" charset="-120"/>
              </a:rPr>
              <a:t>Graduate Seminar in Affective Computing  ·  80 minutes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202C"/>
        </a:solidFill>
      </p:bgPr>
    </p:bg>
    <p:spTree>
      <p:nvGrpSpPr>
        <p:cNvPr id="1" name=""/>
        <p:cNvGrpSpPr/>
        <p:nvPr/>
      </p:nvGrpSpPr>
      <p:grpSpPr>
        <a:xfrm>
          <a:off x="0" y="0"/>
          <a:ext cx="0" cy="0"/>
          <a:chOff x="0" y="0"/>
          <a:chExt cx="0" cy="0"/>
        </a:xfrm>
      </p:grpSpPr>
      <p:sp>
        <p:nvSpPr>
          <p:cNvPr id="2" name="Text 0"/>
          <p:cNvSpPr txBox="1"/>
          <p:nvPr/>
        </p:nvSpPr>
        <p:spPr>
          <a:xfrm>
            <a:off x="594360" y="640080"/>
            <a:ext cx="11002975" cy="365760"/>
          </a:xfrm>
          <a:prstGeom prst="rect">
            <a:avLst/>
          </a:prstGeom>
          <a:noFill/>
          <a:ln/>
        </p:spPr>
        <p:txBody>
          <a:bodyPr wrap="square" lIns="0" tIns="0" rIns="0" bIns="0" rtlCol="0" anchor="ctr"/>
          <a:lstStyle/>
          <a:p>
            <a:pPr indent="0" marL="0">
              <a:buNone/>
            </a:pPr>
            <a:r>
              <a:rPr lang="en-US" sz="1150" b="1" spc="160" kern="0" dirty="0">
                <a:solidFill>
                  <a:srgbClr val="E07A5F"/>
                </a:solidFill>
                <a:latin typeface="Calibri" pitchFamily="34" charset="0"/>
                <a:ea typeface="Calibri" pitchFamily="34" charset="-122"/>
                <a:cs typeface="Calibri" pitchFamily="34" charset="-120"/>
              </a:rPr>
              <a:t>The claim, compressed</a:t>
            </a:r>
            <a:endParaRPr lang="en-US" sz="1150" dirty="0"/>
          </a:p>
        </p:txBody>
      </p:sp>
      <p:sp>
        <p:nvSpPr>
          <p:cNvPr id="3" name="Text 1"/>
          <p:cNvSpPr txBox="1"/>
          <p:nvPr/>
        </p:nvSpPr>
        <p:spPr>
          <a:xfrm>
            <a:off x="594360" y="1371600"/>
            <a:ext cx="10607040" cy="2377440"/>
          </a:xfrm>
          <a:prstGeom prst="rect">
            <a:avLst/>
          </a:prstGeom>
          <a:noFill/>
          <a:ln/>
        </p:spPr>
        <p:txBody>
          <a:bodyPr wrap="square" lIns="0" tIns="0" rIns="0" bIns="0" rtlCol="0" anchor="ctr"/>
          <a:lstStyle/>
          <a:p>
            <a:pPr indent="0" marL="0">
              <a:lnSpc>
                <a:spcPct val="114000"/>
              </a:lnSpc>
              <a:buNone/>
            </a:pPr>
            <a:r>
              <a:rPr lang="en-US" sz="3100" dirty="0">
                <a:solidFill>
                  <a:srgbClr val="FFFFFF"/>
                </a:solidFill>
                <a:latin typeface="Cambria" pitchFamily="34" charset="0"/>
                <a:ea typeface="Cambria" pitchFamily="34" charset="-122"/>
                <a:cs typeface="Cambria" pitchFamily="34" charset="-120"/>
              </a:rPr>
              <a:t>People do smile when happy and scowl when angry more often than chance — but not reliably enough, not specifically enough, and not consistently enough across cultures and contexts to read emotion off a face.</a:t>
            </a:r>
            <a:endParaRPr lang="en-US" sz="3100" dirty="0"/>
          </a:p>
        </p:txBody>
      </p:sp>
      <p:sp>
        <p:nvSpPr>
          <p:cNvPr id="4" name="Shape 2"/>
          <p:cNvSpPr/>
          <p:nvPr/>
        </p:nvSpPr>
        <p:spPr>
          <a:xfrm>
            <a:off x="594360" y="4206240"/>
            <a:ext cx="10607040" cy="1417320"/>
          </a:xfrm>
          <a:prstGeom prst="roundRect">
            <a:avLst>
              <a:gd name="adj" fmla="val 5161"/>
            </a:avLst>
          </a:prstGeom>
          <a:solidFill>
            <a:srgbClr val="1F2B3A"/>
          </a:solidFill>
          <a:ln w="12700">
            <a:solidFill>
              <a:srgbClr val="31404F"/>
            </a:solidFill>
            <a:prstDash val="solid"/>
          </a:ln>
        </p:spPr>
      </p:sp>
      <p:sp>
        <p:nvSpPr>
          <p:cNvPr id="5" name="Text 3"/>
          <p:cNvSpPr txBox="1"/>
          <p:nvPr/>
        </p:nvSpPr>
        <p:spPr>
          <a:xfrm>
            <a:off x="914400" y="4407408"/>
            <a:ext cx="9966960" cy="1005840"/>
          </a:xfrm>
          <a:prstGeom prst="rect">
            <a:avLst/>
          </a:prstGeom>
          <a:noFill/>
          <a:ln/>
        </p:spPr>
        <p:txBody>
          <a:bodyPr wrap="square" lIns="0" tIns="0" rIns="0" bIns="0" rtlCol="0" anchor="ctr"/>
          <a:lstStyle/>
          <a:p>
            <a:pPr indent="0" marL="0">
              <a:lnSpc>
                <a:spcPct val="110000"/>
              </a:lnSpc>
              <a:buNone/>
            </a:pPr>
            <a:r>
              <a:rPr lang="en-US" sz="1700" dirty="0">
                <a:solidFill>
                  <a:srgbClr val="D9A441"/>
                </a:solidFill>
                <a:latin typeface="Calibri" pitchFamily="34" charset="0"/>
                <a:ea typeface="Calibri" pitchFamily="34" charset="-122"/>
                <a:cs typeface="Calibri" pitchFamily="34" charset="-120"/>
              </a:rPr>
              <a:t>So a system that maps facial configurations onto emotion labels is not measuring emotion. It is measuring facial movement, and then guessing.</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ROADMAP</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How we'll spend the next 80 minutes</a:t>
            </a:r>
            <a:endParaRPr lang="en-US" sz="3200" dirty="0"/>
          </a:p>
        </p:txBody>
      </p:sp>
      <p:sp>
        <p:nvSpPr>
          <p:cNvPr id="4" name="Shape 2"/>
          <p:cNvSpPr/>
          <p:nvPr/>
        </p:nvSpPr>
        <p:spPr>
          <a:xfrm>
            <a:off x="594360" y="1874520"/>
            <a:ext cx="457200" cy="457200"/>
          </a:xfrm>
          <a:prstGeom prst="roundRect">
            <a:avLst>
              <a:gd name="adj" fmla="val 16000"/>
            </a:avLst>
          </a:prstGeom>
          <a:solidFill>
            <a:srgbClr val="E07A5F"/>
          </a:solidFill>
          <a:ln w="12700">
            <a:solidFill>
              <a:srgbClr val="E07A5F"/>
            </a:solidFill>
            <a:prstDash val="solid"/>
          </a:ln>
        </p:spPr>
      </p:sp>
      <p:sp>
        <p:nvSpPr>
          <p:cNvPr id="5" name="Text 3"/>
          <p:cNvSpPr txBox="1"/>
          <p:nvPr/>
        </p:nvSpPr>
        <p:spPr>
          <a:xfrm>
            <a:off x="594360" y="1874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07592" y="1874520"/>
            <a:ext cx="7863840" cy="45720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The common view and why it matters here</a:t>
            </a:r>
            <a:endParaRPr lang="en-US" sz="1600" dirty="0"/>
          </a:p>
        </p:txBody>
      </p:sp>
      <p:sp>
        <p:nvSpPr>
          <p:cNvPr id="7" name="Text 5"/>
          <p:cNvSpPr txBox="1"/>
          <p:nvPr/>
        </p:nvSpPr>
        <p:spPr>
          <a:xfrm>
            <a:off x="10225735" y="1874520"/>
            <a:ext cx="1371600" cy="45720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10 min</a:t>
            </a:r>
            <a:endParaRPr lang="en-US" sz="1300" dirty="0"/>
          </a:p>
        </p:txBody>
      </p:sp>
      <p:sp>
        <p:nvSpPr>
          <p:cNvPr id="8" name="Shape 6"/>
          <p:cNvSpPr/>
          <p:nvPr/>
        </p:nvSpPr>
        <p:spPr>
          <a:xfrm>
            <a:off x="594360" y="2532888"/>
            <a:ext cx="457200" cy="457200"/>
          </a:xfrm>
          <a:prstGeom prst="roundRect">
            <a:avLst>
              <a:gd name="adj" fmla="val 16000"/>
            </a:avLst>
          </a:prstGeom>
          <a:solidFill>
            <a:srgbClr val="2E4057"/>
          </a:solidFill>
          <a:ln w="12700">
            <a:solidFill>
              <a:srgbClr val="2E4057"/>
            </a:solidFill>
            <a:prstDash val="solid"/>
          </a:ln>
        </p:spPr>
      </p:sp>
      <p:sp>
        <p:nvSpPr>
          <p:cNvPr id="9" name="Text 7"/>
          <p:cNvSpPr txBox="1"/>
          <p:nvPr/>
        </p:nvSpPr>
        <p:spPr>
          <a:xfrm>
            <a:off x="594360" y="253288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307592" y="2532888"/>
            <a:ext cx="7863840" cy="45720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Reverse inference and the four criteria</a:t>
            </a:r>
            <a:endParaRPr lang="en-US" sz="1600" dirty="0"/>
          </a:p>
        </p:txBody>
      </p:sp>
      <p:sp>
        <p:nvSpPr>
          <p:cNvPr id="11" name="Text 9"/>
          <p:cNvSpPr txBox="1"/>
          <p:nvPr/>
        </p:nvSpPr>
        <p:spPr>
          <a:xfrm>
            <a:off x="10225735" y="2532888"/>
            <a:ext cx="1371600" cy="45720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15 min</a:t>
            </a:r>
            <a:endParaRPr lang="en-US" sz="1300" dirty="0"/>
          </a:p>
        </p:txBody>
      </p:sp>
      <p:sp>
        <p:nvSpPr>
          <p:cNvPr id="12" name="Shape 10"/>
          <p:cNvSpPr/>
          <p:nvPr/>
        </p:nvSpPr>
        <p:spPr>
          <a:xfrm>
            <a:off x="594360" y="3191256"/>
            <a:ext cx="457200" cy="457200"/>
          </a:xfrm>
          <a:prstGeom prst="roundRect">
            <a:avLst>
              <a:gd name="adj" fmla="val 16000"/>
            </a:avLst>
          </a:prstGeom>
          <a:solidFill>
            <a:srgbClr val="2E4057"/>
          </a:solidFill>
          <a:ln w="12700">
            <a:solidFill>
              <a:srgbClr val="2E4057"/>
            </a:solidFill>
            <a:prstDash val="solid"/>
          </a:ln>
        </p:spPr>
      </p:sp>
      <p:sp>
        <p:nvSpPr>
          <p:cNvPr id="13" name="Text 11"/>
          <p:cNvSpPr txBox="1"/>
          <p:nvPr/>
        </p:nvSpPr>
        <p:spPr>
          <a:xfrm>
            <a:off x="594360" y="31912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307592" y="3191256"/>
            <a:ext cx="7863840" cy="45720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Measurement: FACS, automation, ground truth</a:t>
            </a:r>
            <a:endParaRPr lang="en-US" sz="1600" dirty="0"/>
          </a:p>
        </p:txBody>
      </p:sp>
      <p:sp>
        <p:nvSpPr>
          <p:cNvPr id="15" name="Text 13"/>
          <p:cNvSpPr txBox="1"/>
          <p:nvPr/>
        </p:nvSpPr>
        <p:spPr>
          <a:xfrm>
            <a:off x="10225735" y="3191256"/>
            <a:ext cx="1371600" cy="45720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12 min</a:t>
            </a:r>
            <a:endParaRPr lang="en-US" sz="1300" dirty="0"/>
          </a:p>
        </p:txBody>
      </p:sp>
      <p:sp>
        <p:nvSpPr>
          <p:cNvPr id="16" name="Shape 14"/>
          <p:cNvSpPr/>
          <p:nvPr/>
        </p:nvSpPr>
        <p:spPr>
          <a:xfrm>
            <a:off x="594360" y="3849624"/>
            <a:ext cx="457200" cy="457200"/>
          </a:xfrm>
          <a:prstGeom prst="roundRect">
            <a:avLst>
              <a:gd name="adj" fmla="val 16000"/>
            </a:avLst>
          </a:prstGeom>
          <a:solidFill>
            <a:srgbClr val="2E4057"/>
          </a:solidFill>
          <a:ln w="12700">
            <a:solidFill>
              <a:srgbClr val="2E4057"/>
            </a:solidFill>
            <a:prstDash val="solid"/>
          </a:ln>
        </p:spPr>
      </p:sp>
      <p:sp>
        <p:nvSpPr>
          <p:cNvPr id="17" name="Text 15"/>
          <p:cNvSpPr txBox="1"/>
          <p:nvPr/>
        </p:nvSpPr>
        <p:spPr>
          <a:xfrm>
            <a:off x="594360" y="3849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307592" y="3849624"/>
            <a:ext cx="7863840" cy="45720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The production evidence</a:t>
            </a:r>
            <a:endParaRPr lang="en-US" sz="1600" dirty="0"/>
          </a:p>
        </p:txBody>
      </p:sp>
      <p:sp>
        <p:nvSpPr>
          <p:cNvPr id="19" name="Text 17"/>
          <p:cNvSpPr txBox="1"/>
          <p:nvPr/>
        </p:nvSpPr>
        <p:spPr>
          <a:xfrm>
            <a:off x="10225735" y="3849624"/>
            <a:ext cx="1371600" cy="45720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12 min</a:t>
            </a:r>
            <a:endParaRPr lang="en-US" sz="1300" dirty="0"/>
          </a:p>
        </p:txBody>
      </p:sp>
      <p:sp>
        <p:nvSpPr>
          <p:cNvPr id="20" name="Shape 18"/>
          <p:cNvSpPr/>
          <p:nvPr/>
        </p:nvSpPr>
        <p:spPr>
          <a:xfrm>
            <a:off x="594360" y="4507992"/>
            <a:ext cx="457200" cy="457200"/>
          </a:xfrm>
          <a:prstGeom prst="roundRect">
            <a:avLst>
              <a:gd name="adj" fmla="val 16000"/>
            </a:avLst>
          </a:prstGeom>
          <a:solidFill>
            <a:srgbClr val="2E4057"/>
          </a:solidFill>
          <a:ln w="12700">
            <a:solidFill>
              <a:srgbClr val="2E4057"/>
            </a:solidFill>
            <a:prstDash val="solid"/>
          </a:ln>
        </p:spPr>
      </p:sp>
      <p:sp>
        <p:nvSpPr>
          <p:cNvPr id="21" name="Text 19"/>
          <p:cNvSpPr txBox="1"/>
          <p:nvPr/>
        </p:nvSpPr>
        <p:spPr>
          <a:xfrm>
            <a:off x="59436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1307592" y="4507992"/>
            <a:ext cx="7863840" cy="45720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The perception evidence</a:t>
            </a:r>
            <a:endParaRPr lang="en-US" sz="1600" dirty="0"/>
          </a:p>
        </p:txBody>
      </p:sp>
      <p:sp>
        <p:nvSpPr>
          <p:cNvPr id="23" name="Text 21"/>
          <p:cNvSpPr txBox="1"/>
          <p:nvPr/>
        </p:nvSpPr>
        <p:spPr>
          <a:xfrm>
            <a:off x="10225735" y="4507992"/>
            <a:ext cx="1371600" cy="45720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13 min</a:t>
            </a:r>
            <a:endParaRPr lang="en-US" sz="1300" dirty="0"/>
          </a:p>
        </p:txBody>
      </p:sp>
      <p:sp>
        <p:nvSpPr>
          <p:cNvPr id="24" name="Shape 22"/>
          <p:cNvSpPr/>
          <p:nvPr/>
        </p:nvSpPr>
        <p:spPr>
          <a:xfrm>
            <a:off x="594360" y="5166360"/>
            <a:ext cx="457200" cy="457200"/>
          </a:xfrm>
          <a:prstGeom prst="roundRect">
            <a:avLst>
              <a:gd name="adj" fmla="val 16000"/>
            </a:avLst>
          </a:prstGeom>
          <a:solidFill>
            <a:srgbClr val="E07A5F"/>
          </a:solidFill>
          <a:ln w="12700">
            <a:solidFill>
              <a:srgbClr val="E07A5F"/>
            </a:solidFill>
            <a:prstDash val="solid"/>
          </a:ln>
        </p:spPr>
      </p:sp>
      <p:sp>
        <p:nvSpPr>
          <p:cNvPr id="25" name="Text 23"/>
          <p:cNvSpPr txBox="1"/>
          <p:nvPr/>
        </p:nvSpPr>
        <p:spPr>
          <a:xfrm>
            <a:off x="594360" y="5166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1307592" y="5166360"/>
            <a:ext cx="7863840" cy="457200"/>
          </a:xfrm>
          <a:prstGeom prst="rect">
            <a:avLst/>
          </a:prstGeom>
          <a:noFill/>
          <a:ln/>
        </p:spPr>
        <p:txBody>
          <a:bodyPr wrap="square" lIns="0" tIns="0" rIns="0" bIns="0" rtlCol="0" anchor="ctr"/>
          <a:lstStyle/>
          <a:p>
            <a:pPr indent="0" marL="0">
              <a:buNone/>
            </a:pPr>
            <a:r>
              <a:rPr lang="en-US" sz="1600" dirty="0">
                <a:solidFill>
                  <a:srgbClr val="16202C"/>
                </a:solidFill>
                <a:latin typeface="Calibri" pitchFamily="34" charset="0"/>
                <a:ea typeface="Calibri" pitchFamily="34" charset="-122"/>
                <a:cs typeface="Calibri" pitchFamily="34" charset="-120"/>
              </a:rPr>
              <a:t>Implications for affective computing</a:t>
            </a:r>
            <a:endParaRPr lang="en-US" sz="1600" dirty="0"/>
          </a:p>
        </p:txBody>
      </p:sp>
      <p:sp>
        <p:nvSpPr>
          <p:cNvPr id="27" name="Text 25"/>
          <p:cNvSpPr txBox="1"/>
          <p:nvPr/>
        </p:nvSpPr>
        <p:spPr>
          <a:xfrm>
            <a:off x="10225735" y="5166360"/>
            <a:ext cx="1371600" cy="457200"/>
          </a:xfrm>
          <a:prstGeom prst="rect">
            <a:avLst/>
          </a:prstGeom>
          <a:noFill/>
          <a:ln/>
        </p:spPr>
        <p:txBody>
          <a:bodyPr wrap="square" lIns="0" tIns="0" rIns="0" bIns="0" rtlCol="0" anchor="ctr"/>
          <a:lstStyle/>
          <a:p>
            <a:pPr algn="r" indent="0" marL="0">
              <a:buNone/>
            </a:pPr>
            <a:r>
              <a:rPr lang="en-US" sz="1300" b="1" dirty="0">
                <a:solidFill>
                  <a:srgbClr val="6B7280"/>
                </a:solidFill>
                <a:latin typeface="Calibri" pitchFamily="34" charset="0"/>
                <a:ea typeface="Calibri" pitchFamily="34" charset="-122"/>
                <a:cs typeface="Calibri" pitchFamily="34" charset="-120"/>
              </a:rPr>
              <a:t>18 min</a:t>
            </a:r>
            <a:endParaRPr lang="en-US" sz="1300" dirty="0"/>
          </a:p>
        </p:txBody>
      </p:sp>
      <p:sp>
        <p:nvSpPr>
          <p:cNvPr id="28" name="Text 26"/>
          <p:cNvSpPr txBox="1"/>
          <p:nvPr/>
        </p:nvSpPr>
        <p:spPr>
          <a:xfrm>
            <a:off x="594360" y="6035040"/>
            <a:ext cx="11002975"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Three discussion breaks are built in. Slides are dense on purpose — skip freely.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Why this paper belongs in an affective computing seminar</a:t>
            </a:r>
            <a:endParaRPr lang="en-US" sz="3200" dirty="0"/>
          </a:p>
        </p:txBody>
      </p:sp>
      <p:sp>
        <p:nvSpPr>
          <p:cNvPr id="4" name="Text 2"/>
          <p:cNvSpPr txBox="1"/>
          <p:nvPr/>
        </p:nvSpPr>
        <p:spPr>
          <a:xfrm>
            <a:off x="594360" y="1828800"/>
            <a:ext cx="6035040" cy="2194560"/>
          </a:xfrm>
          <a:prstGeom prst="rect">
            <a:avLst/>
          </a:prstGeom>
          <a:noFill/>
          <a:ln/>
        </p:spPr>
        <p:txBody>
          <a:bodyPr wrap="square" lIns="0" tIns="0" rIns="0" bIns="0" rtlCol="0" anchor="ctr"/>
          <a:lstStyle/>
          <a:p>
            <a:pPr indent="0" marL="0">
              <a:lnSpc>
                <a:spcPct val="115000"/>
              </a:lnSpc>
              <a:buNone/>
            </a:pPr>
            <a:r>
              <a:rPr lang="en-US" sz="1450" b="1" dirty="0">
                <a:solidFill>
                  <a:srgbClr val="2E4057"/>
                </a:solidFill>
                <a:latin typeface="Calibri" pitchFamily="34" charset="0"/>
                <a:ea typeface="Calibri" pitchFamily="34" charset="-122"/>
                <a:cs typeface="Calibri" pitchFamily="34" charset="-120"/>
              </a:rPr>
              <a:t>Four of the five authors are not critics from outside the field.</a:t>
            </a:r>
            <a:endParaRPr lang="en-US" sz="1450" dirty="0"/>
          </a:p>
          <a:p>
            <a:pPr indent="0" marL="0">
              <a:lnSpc>
                <a:spcPct val="115000"/>
              </a:lnSpc>
              <a:buNone/>
            </a:pPr>
            <a:r>
              <a:rPr lang="en-US" sz="1450" dirty="0">
                <a:solidFill>
                  <a:srgbClr val="2E4057"/>
                </a:solidFill>
                <a:latin typeface="Calibri" pitchFamily="34" charset="0"/>
                <a:ea typeface="Calibri" pitchFamily="34" charset="-122"/>
                <a:cs typeface="Calibri" pitchFamily="34" charset="-120"/>
              </a:rPr>
              <a:t>Barrett is a constructionist emotion theorist. Adolphs is an affective neuroscientist. Marsella builds virtual humans. Martinez builds computer vision systems for facial action detection — he ran the EmotioNet Challenge. Pollak studies emotional development.</a:t>
            </a:r>
            <a:endParaRPr lang="en-US" sz="1450" dirty="0"/>
          </a:p>
          <a:p>
            <a:pPr indent="0" marL="0">
              <a:lnSpc>
                <a:spcPct val="115000"/>
              </a:lnSpc>
              <a:buNone/>
            </a:pPr>
            <a:r>
              <a:rPr lang="en-US" sz="1450" dirty="0">
                <a:solidFill>
                  <a:srgbClr val="2E4057"/>
                </a:solidFill>
                <a:latin typeface="Calibri" pitchFamily="34" charset="0"/>
                <a:ea typeface="Calibri" pitchFamily="34" charset="-122"/>
                <a:cs typeface="Calibri" pitchFamily="34" charset="-120"/>
              </a:rPr>
              <a:t> </a:t>
            </a:r>
            <a:endParaRPr lang="en-US" sz="1450" dirty="0"/>
          </a:p>
          <a:p>
            <a:pPr indent="0" marL="0">
              <a:lnSpc>
                <a:spcPct val="115000"/>
              </a:lnSpc>
              <a:buNone/>
            </a:pPr>
            <a:r>
              <a:rPr lang="en-US" sz="1450" i="1" dirty="0">
                <a:solidFill>
                  <a:srgbClr val="2E4057"/>
                </a:solidFill>
                <a:latin typeface="Calibri" pitchFamily="34" charset="0"/>
                <a:ea typeface="Calibri" pitchFamily="34" charset="-122"/>
                <a:cs typeface="Calibri" pitchFamily="34" charset="-120"/>
              </a:rPr>
              <a:t>This is partly a critique of the field's own measurement stack, written by people who built parts of it.</a:t>
            </a:r>
            <a:endParaRPr lang="en-US" sz="1450" dirty="0"/>
          </a:p>
        </p:txBody>
      </p:sp>
      <p:sp>
        <p:nvSpPr>
          <p:cNvPr id="5" name="Text 3"/>
          <p:cNvSpPr txBox="1"/>
          <p:nvPr/>
        </p:nvSpPr>
        <p:spPr>
          <a:xfrm>
            <a:off x="594360" y="3931920"/>
            <a:ext cx="6035040" cy="1920240"/>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350" dirty="0">
                <a:solidFill>
                  <a:srgbClr val="2E4057"/>
                </a:solidFill>
                <a:latin typeface="Calibri" pitchFamily="34" charset="0"/>
                <a:ea typeface="Calibri" pitchFamily="34" charset="-122"/>
                <a:cs typeface="Calibri" pitchFamily="34" charset="-120"/>
              </a:rPr>
              <a:t>The inference these systems make is the paper's target</a:t>
            </a:r>
            <a:endParaRPr lang="en-US" sz="1350" dirty="0"/>
          </a:p>
          <a:p>
            <a:pPr marL="342900" indent="-342900">
              <a:lnSpc>
                <a:spcPct val="110000"/>
              </a:lnSpc>
              <a:spcAft>
                <a:spcPts val="800"/>
              </a:spcAft>
              <a:buSzPct val="100000"/>
              <a:buChar char="▪"/>
            </a:pPr>
            <a:r>
              <a:rPr lang="en-US" sz="1350" dirty="0">
                <a:solidFill>
                  <a:srgbClr val="2E4057"/>
                </a:solidFill>
                <a:latin typeface="Calibri" pitchFamily="34" charset="0"/>
                <a:ea typeface="Calibri" pitchFamily="34" charset="-122"/>
                <a:cs typeface="Calibri" pitchFamily="34" charset="-120"/>
              </a:rPr>
              <a:t>The paper's negative result is a research agenda for us</a:t>
            </a:r>
            <a:endParaRPr lang="en-US" sz="1350" dirty="0"/>
          </a:p>
          <a:p>
            <a:pPr marL="342900" indent="-342900">
              <a:lnSpc>
                <a:spcPct val="110000"/>
              </a:lnSpc>
              <a:spcAft>
                <a:spcPts val="800"/>
              </a:spcAft>
              <a:buSzPct val="100000"/>
              <a:buChar char="▪"/>
            </a:pPr>
            <a:r>
              <a:rPr lang="en-US" sz="1350" dirty="0">
                <a:solidFill>
                  <a:srgbClr val="2E4057"/>
                </a:solidFill>
                <a:latin typeface="Calibri" pitchFamily="34" charset="0"/>
                <a:ea typeface="Calibri" pitchFamily="34" charset="-122"/>
                <a:cs typeface="Calibri" pitchFamily="34" charset="-120"/>
              </a:rPr>
              <a:t>It names the accuracy cliff between lab and wild</a:t>
            </a:r>
            <a:endParaRPr lang="en-US" sz="1350" dirty="0"/>
          </a:p>
        </p:txBody>
      </p:sp>
      <p:sp>
        <p:nvSpPr>
          <p:cNvPr id="6" name="Shape 4"/>
          <p:cNvSpPr/>
          <p:nvPr/>
        </p:nvSpPr>
        <p:spPr>
          <a:xfrm>
            <a:off x="6949440" y="1828800"/>
            <a:ext cx="4636008" cy="1280160"/>
          </a:xfrm>
          <a:prstGeom prst="roundRect">
            <a:avLst>
              <a:gd name="adj" fmla="val 3571"/>
            </a:avLst>
          </a:prstGeom>
          <a:solidFill>
            <a:srgbClr val="F1F3F5"/>
          </a:solidFill>
          <a:ln w="12700">
            <a:solidFill>
              <a:srgbClr val="F1F3F5"/>
            </a:solidFill>
            <a:prstDash val="solid"/>
          </a:ln>
        </p:spPr>
      </p:sp>
      <p:sp>
        <p:nvSpPr>
          <p:cNvPr id="7" name="Text 5"/>
          <p:cNvSpPr txBox="1"/>
          <p:nvPr/>
        </p:nvSpPr>
        <p:spPr>
          <a:xfrm>
            <a:off x="7187184" y="2011680"/>
            <a:ext cx="4160520"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Affectiva, Microsoft Emotion API, and peers</a:t>
            </a:r>
            <a:endParaRPr lang="en-US" sz="1450" dirty="0"/>
          </a:p>
        </p:txBody>
      </p:sp>
      <p:sp>
        <p:nvSpPr>
          <p:cNvPr id="8" name="Text 6"/>
          <p:cNvSpPr txBox="1"/>
          <p:nvPr/>
        </p:nvSpPr>
        <p:spPr>
          <a:xfrm>
            <a:off x="7187184" y="2359152"/>
            <a:ext cx="4160520" cy="5669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Marketed as detecting a fixed set of emotion categories, on the premise that these are universally signalled by particular facial configurations.</a:t>
            </a:r>
            <a:endParaRPr lang="en-US" sz="1200" dirty="0"/>
          </a:p>
        </p:txBody>
      </p:sp>
      <p:sp>
        <p:nvSpPr>
          <p:cNvPr id="9" name="Shape 7"/>
          <p:cNvSpPr/>
          <p:nvPr/>
        </p:nvSpPr>
        <p:spPr>
          <a:xfrm>
            <a:off x="6949440" y="3246120"/>
            <a:ext cx="4636008" cy="1280160"/>
          </a:xfrm>
          <a:prstGeom prst="roundRect">
            <a:avLst>
              <a:gd name="adj" fmla="val 3571"/>
            </a:avLst>
          </a:prstGeom>
          <a:solidFill>
            <a:srgbClr val="F1F3F5"/>
          </a:solidFill>
          <a:ln w="12700">
            <a:solidFill>
              <a:srgbClr val="F1F3F5"/>
            </a:solidFill>
            <a:prstDash val="solid"/>
          </a:ln>
        </p:spPr>
      </p:sp>
      <p:sp>
        <p:nvSpPr>
          <p:cNvPr id="10" name="Text 8"/>
          <p:cNvSpPr txBox="1"/>
          <p:nvPr/>
        </p:nvSpPr>
        <p:spPr>
          <a:xfrm>
            <a:off x="7187184" y="3429000"/>
            <a:ext cx="4160520"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TSA / FBI screening</a:t>
            </a:r>
            <a:endParaRPr lang="en-US" sz="1450" dirty="0"/>
          </a:p>
        </p:txBody>
      </p:sp>
      <p:sp>
        <p:nvSpPr>
          <p:cNvPr id="11" name="Text 9"/>
          <p:cNvSpPr txBox="1"/>
          <p:nvPr/>
        </p:nvSpPr>
        <p:spPr>
          <a:xfrm>
            <a:off x="7187184" y="3776472"/>
            <a:ext cx="4160520" cy="5669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Agents trained to infer intent and deception from facial configurations, in programmes such as SPOT.</a:t>
            </a:r>
            <a:endParaRPr lang="en-US" sz="1200" dirty="0"/>
          </a:p>
        </p:txBody>
      </p:sp>
      <p:sp>
        <p:nvSpPr>
          <p:cNvPr id="12" name="Shape 10"/>
          <p:cNvSpPr/>
          <p:nvPr/>
        </p:nvSpPr>
        <p:spPr>
          <a:xfrm>
            <a:off x="6949440" y="4663440"/>
            <a:ext cx="4636008" cy="1280160"/>
          </a:xfrm>
          <a:prstGeom prst="roundRect">
            <a:avLst>
              <a:gd name="adj" fmla="val 3571"/>
            </a:avLst>
          </a:prstGeom>
          <a:solidFill>
            <a:srgbClr val="F1F3F5"/>
          </a:solidFill>
          <a:ln w="12700">
            <a:solidFill>
              <a:srgbClr val="F1F3F5"/>
            </a:solidFill>
            <a:prstDash val="solid"/>
          </a:ln>
        </p:spPr>
      </p:sp>
      <p:sp>
        <p:nvSpPr>
          <p:cNvPr id="13" name="Text 11"/>
          <p:cNvSpPr txBox="1"/>
          <p:nvPr/>
        </p:nvSpPr>
        <p:spPr>
          <a:xfrm>
            <a:off x="7187184" y="4846320"/>
            <a:ext cx="4160520"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Clinical and legal use</a:t>
            </a:r>
            <a:endParaRPr lang="en-US" sz="1450" dirty="0"/>
          </a:p>
        </p:txBody>
      </p:sp>
      <p:sp>
        <p:nvSpPr>
          <p:cNvPr id="14" name="Text 12"/>
          <p:cNvSpPr txBox="1"/>
          <p:nvPr/>
        </p:nvSpPr>
        <p:spPr>
          <a:xfrm>
            <a:off x="7187184" y="5193792"/>
            <a:ext cx="4160520" cy="5669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Autism assessment and training tasks; jurors and judges reading remorse from a defendant's face.</a:t>
            </a:r>
            <a:endParaRPr lang="en-US" sz="1200" dirty="0"/>
          </a:p>
        </p:txBody>
      </p:sp>
      <p:sp>
        <p:nvSpPr>
          <p:cNvPr id="15" name="Text 13"/>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Introduction; author affiliations.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DEFINITION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"common view" the paper sets out to test</a:t>
            </a:r>
            <a:endParaRPr lang="en-US" sz="3200" dirty="0"/>
          </a:p>
        </p:txBody>
      </p:sp>
      <p:sp>
        <p:nvSpPr>
          <p:cNvPr id="4" name="Shape 2"/>
          <p:cNvSpPr/>
          <p:nvPr/>
        </p:nvSpPr>
        <p:spPr>
          <a:xfrm>
            <a:off x="594360" y="1783080"/>
            <a:ext cx="11002975" cy="1143000"/>
          </a:xfrm>
          <a:prstGeom prst="roundRect">
            <a:avLst>
              <a:gd name="adj" fmla="val 5600"/>
            </a:avLst>
          </a:prstGeom>
          <a:solidFill>
            <a:srgbClr val="F1F3F5"/>
          </a:solidFill>
          <a:ln w="12700">
            <a:solidFill>
              <a:srgbClr val="E2E6EA"/>
            </a:solidFill>
            <a:prstDash val="solid"/>
          </a:ln>
        </p:spPr>
      </p:sp>
      <p:sp>
        <p:nvSpPr>
          <p:cNvPr id="5" name="Text 3"/>
          <p:cNvSpPr txBox="1"/>
          <p:nvPr/>
        </p:nvSpPr>
        <p:spPr>
          <a:xfrm>
            <a:off x="914400" y="1965960"/>
            <a:ext cx="10362895" cy="822960"/>
          </a:xfrm>
          <a:prstGeom prst="rect">
            <a:avLst/>
          </a:prstGeom>
          <a:noFill/>
          <a:ln/>
        </p:spPr>
        <p:txBody>
          <a:bodyPr wrap="square" lIns="0" tIns="0" rIns="0" bIns="0" rtlCol="0" anchor="ctr"/>
          <a:lstStyle/>
          <a:p>
            <a:pPr indent="0" marL="0">
              <a:lnSpc>
                <a:spcPct val="112000"/>
              </a:lnSpc>
              <a:buNone/>
            </a:pPr>
            <a:r>
              <a:rPr lang="en-US" sz="1600" dirty="0">
                <a:solidFill>
                  <a:srgbClr val="16202C"/>
                </a:solidFill>
                <a:latin typeface="Calibri" pitchFamily="34" charset="0"/>
                <a:ea typeface="Calibri" pitchFamily="34" charset="-122"/>
                <a:cs typeface="Calibri" pitchFamily="34" charset="-120"/>
              </a:rPr>
              <a:t>Each of a small set of emotion categories is expressed by a distinctive configuration of facial muscle movements, reliably enough and specifically enough that observing the configuration diagnoses the emotional state — the way a fingerprint identifies a person.</a:t>
            </a:r>
            <a:endParaRPr lang="en-US" sz="1600" dirty="0"/>
          </a:p>
        </p:txBody>
      </p:sp>
      <p:sp>
        <p:nvSpPr>
          <p:cNvPr id="6" name="Shape 4"/>
          <p:cNvSpPr/>
          <p:nvPr/>
        </p:nvSpPr>
        <p:spPr>
          <a:xfrm>
            <a:off x="594360" y="3246120"/>
            <a:ext cx="3520440" cy="2697480"/>
          </a:xfrm>
          <a:prstGeom prst="roundRect">
            <a:avLst>
              <a:gd name="adj" fmla="val 1695"/>
            </a:avLst>
          </a:prstGeom>
          <a:solidFill>
            <a:srgbClr val="F1F3F5"/>
          </a:solidFill>
          <a:ln w="12700">
            <a:solidFill>
              <a:srgbClr val="F1F3F5"/>
            </a:solidFill>
            <a:prstDash val="solid"/>
          </a:ln>
        </p:spPr>
      </p:sp>
      <p:sp>
        <p:nvSpPr>
          <p:cNvPr id="7" name="Text 5"/>
          <p:cNvSpPr txBox="1"/>
          <p:nvPr/>
        </p:nvSpPr>
        <p:spPr>
          <a:xfrm>
            <a:off x="832104" y="342900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What almost nobody defends</a:t>
            </a:r>
            <a:endParaRPr lang="en-US" sz="1450" dirty="0"/>
          </a:p>
        </p:txBody>
      </p:sp>
      <p:sp>
        <p:nvSpPr>
          <p:cNvPr id="8" name="Text 6"/>
          <p:cNvSpPr txBox="1"/>
          <p:nvPr/>
        </p:nvSpPr>
        <p:spPr>
          <a:xfrm>
            <a:off x="832104" y="3776472"/>
            <a:ext cx="3044952" cy="198424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That every instance of anger is physically identical. Keltner and Cordaro concede there is no one-to-one correspondence between muscle actions and emotional experience.</a:t>
            </a:r>
            <a:endParaRPr lang="en-US" sz="1250" dirty="0"/>
          </a:p>
        </p:txBody>
      </p:sp>
      <p:sp>
        <p:nvSpPr>
          <p:cNvPr id="9" name="Shape 7"/>
          <p:cNvSpPr/>
          <p:nvPr/>
        </p:nvSpPr>
        <p:spPr>
          <a:xfrm>
            <a:off x="4334256" y="3246120"/>
            <a:ext cx="3520440" cy="2697480"/>
          </a:xfrm>
          <a:prstGeom prst="roundRect">
            <a:avLst>
              <a:gd name="adj" fmla="val 1695"/>
            </a:avLst>
          </a:prstGeom>
          <a:solidFill>
            <a:srgbClr val="F1F3F5"/>
          </a:solidFill>
          <a:ln w="12700">
            <a:solidFill>
              <a:srgbClr val="F1F3F5"/>
            </a:solidFill>
            <a:prstDash val="solid"/>
          </a:ln>
        </p:spPr>
      </p:sp>
      <p:sp>
        <p:nvSpPr>
          <p:cNvPr id="10" name="Text 8"/>
          <p:cNvSpPr txBox="1"/>
          <p:nvPr/>
        </p:nvSpPr>
        <p:spPr>
          <a:xfrm>
            <a:off x="4572000" y="342900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The basic emotion position</a:t>
            </a:r>
            <a:endParaRPr lang="en-US" sz="1450" dirty="0"/>
          </a:p>
        </p:txBody>
      </p:sp>
      <p:sp>
        <p:nvSpPr>
          <p:cNvPr id="11" name="Text 9"/>
          <p:cNvSpPr txBox="1"/>
          <p:nvPr/>
        </p:nvSpPr>
        <p:spPr>
          <a:xfrm>
            <a:off x="4572000" y="3776472"/>
            <a:ext cx="3044952" cy="198424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Instances vary around a prototype. Deviation is attributed to display rules, regulation, cultural dialects, or noise — the prototype still diagnoses the state.</a:t>
            </a:r>
            <a:endParaRPr lang="en-US" sz="1250" dirty="0"/>
          </a:p>
        </p:txBody>
      </p:sp>
      <p:sp>
        <p:nvSpPr>
          <p:cNvPr id="12" name="Shape 10"/>
          <p:cNvSpPr/>
          <p:nvPr/>
        </p:nvSpPr>
        <p:spPr>
          <a:xfrm>
            <a:off x="8074152" y="3246120"/>
            <a:ext cx="3520440" cy="2697480"/>
          </a:xfrm>
          <a:prstGeom prst="roundRect">
            <a:avLst>
              <a:gd name="adj" fmla="val 1695"/>
            </a:avLst>
          </a:prstGeom>
          <a:solidFill>
            <a:srgbClr val="FBEDE8"/>
          </a:solidFill>
          <a:ln w="12700">
            <a:solidFill>
              <a:srgbClr val="F0D6CC"/>
            </a:solidFill>
            <a:prstDash val="solid"/>
          </a:ln>
        </p:spPr>
      </p:sp>
      <p:sp>
        <p:nvSpPr>
          <p:cNvPr id="13" name="Text 11"/>
          <p:cNvSpPr txBox="1"/>
          <p:nvPr/>
        </p:nvSpPr>
        <p:spPr>
          <a:xfrm>
            <a:off x="8311896" y="342900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The constructionist position</a:t>
            </a:r>
            <a:endParaRPr lang="en-US" sz="1450" dirty="0"/>
          </a:p>
        </p:txBody>
      </p:sp>
      <p:sp>
        <p:nvSpPr>
          <p:cNvPr id="14" name="Text 12"/>
          <p:cNvSpPr txBox="1"/>
          <p:nvPr/>
        </p:nvSpPr>
        <p:spPr>
          <a:xfrm>
            <a:off x="8311896" y="3776472"/>
            <a:ext cx="3044952" cy="198424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Variation is by design, tailored to context: the situation, the body's internal state, the relationship, the culture. There is no prototype to recover.</a:t>
            </a:r>
            <a:endParaRPr lang="en-US" sz="1250" dirty="0"/>
          </a:p>
        </p:txBody>
      </p:sp>
      <p:sp>
        <p:nvSpPr>
          <p:cNvPr id="15" name="Text 13"/>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"The Common View"; Keltner &amp; Cordaro (2017); see the paper's Figure 1 and Box 2.</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STAKES</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Where the common view is already doing work</a:t>
            </a:r>
            <a:endParaRPr lang="en-US" sz="3200" dirty="0"/>
          </a:p>
        </p:txBody>
      </p:sp>
      <p:sp>
        <p:nvSpPr>
          <p:cNvPr id="4" name="Shape 2"/>
          <p:cNvSpPr/>
          <p:nvPr/>
        </p:nvSpPr>
        <p:spPr>
          <a:xfrm>
            <a:off x="594360" y="1828800"/>
            <a:ext cx="3520440" cy="1737360"/>
          </a:xfrm>
          <a:prstGeom prst="roundRect">
            <a:avLst>
              <a:gd name="adj" fmla="val 2632"/>
            </a:avLst>
          </a:prstGeom>
          <a:solidFill>
            <a:srgbClr val="F1F3F5"/>
          </a:solidFill>
          <a:ln w="12700">
            <a:solidFill>
              <a:srgbClr val="F1F3F5"/>
            </a:solidFill>
            <a:prstDash val="solid"/>
          </a:ln>
        </p:spPr>
      </p:sp>
      <p:sp>
        <p:nvSpPr>
          <p:cNvPr id="5" name="Text 3"/>
          <p:cNvSpPr txBox="1"/>
          <p:nvPr/>
        </p:nvSpPr>
        <p:spPr>
          <a:xfrm>
            <a:off x="832104" y="201168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Commercial emotion AI</a:t>
            </a:r>
            <a:endParaRPr lang="en-US" sz="1450" dirty="0"/>
          </a:p>
        </p:txBody>
      </p:sp>
      <p:sp>
        <p:nvSpPr>
          <p:cNvPr id="6" name="Text 4"/>
          <p:cNvSpPr txBox="1"/>
          <p:nvPr/>
        </p:nvSpPr>
        <p:spPr>
          <a:xfrm>
            <a:off x="832104" y="2359152"/>
            <a:ext cx="3044952" cy="10241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Vendors sell facial emotion detection to advertisers, hiring platforms, and market researchers.</a:t>
            </a:r>
            <a:endParaRPr lang="en-US" sz="1200" dirty="0"/>
          </a:p>
        </p:txBody>
      </p:sp>
      <p:sp>
        <p:nvSpPr>
          <p:cNvPr id="7" name="Shape 5"/>
          <p:cNvSpPr/>
          <p:nvPr/>
        </p:nvSpPr>
        <p:spPr>
          <a:xfrm>
            <a:off x="4334256" y="1828800"/>
            <a:ext cx="3520440" cy="1737360"/>
          </a:xfrm>
          <a:prstGeom prst="roundRect">
            <a:avLst>
              <a:gd name="adj" fmla="val 2632"/>
            </a:avLst>
          </a:prstGeom>
          <a:solidFill>
            <a:srgbClr val="F1F3F5"/>
          </a:solidFill>
          <a:ln w="12700">
            <a:solidFill>
              <a:srgbClr val="F1F3F5"/>
            </a:solidFill>
            <a:prstDash val="solid"/>
          </a:ln>
        </p:spPr>
      </p:sp>
      <p:sp>
        <p:nvSpPr>
          <p:cNvPr id="8" name="Text 6"/>
          <p:cNvSpPr txBox="1"/>
          <p:nvPr/>
        </p:nvSpPr>
        <p:spPr>
          <a:xfrm>
            <a:off x="4572000" y="201168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Border and aviation security</a:t>
            </a:r>
            <a:endParaRPr lang="en-US" sz="1450" dirty="0"/>
          </a:p>
        </p:txBody>
      </p:sp>
      <p:sp>
        <p:nvSpPr>
          <p:cNvPr id="9" name="Text 7"/>
          <p:cNvSpPr txBox="1"/>
          <p:nvPr/>
        </p:nvSpPr>
        <p:spPr>
          <a:xfrm>
            <a:off x="4572000" y="2359152"/>
            <a:ext cx="3044952" cy="10241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Screening programmes trained agents to read intent and deception from facial behaviour.</a:t>
            </a:r>
            <a:endParaRPr lang="en-US" sz="1200" dirty="0"/>
          </a:p>
        </p:txBody>
      </p:sp>
      <p:sp>
        <p:nvSpPr>
          <p:cNvPr id="10" name="Shape 8"/>
          <p:cNvSpPr/>
          <p:nvPr/>
        </p:nvSpPr>
        <p:spPr>
          <a:xfrm>
            <a:off x="8074152" y="1828800"/>
            <a:ext cx="3520440" cy="1737360"/>
          </a:xfrm>
          <a:prstGeom prst="roundRect">
            <a:avLst>
              <a:gd name="adj" fmla="val 2632"/>
            </a:avLst>
          </a:prstGeom>
          <a:solidFill>
            <a:srgbClr val="F1F3F5"/>
          </a:solidFill>
          <a:ln w="12700">
            <a:solidFill>
              <a:srgbClr val="F1F3F5"/>
            </a:solidFill>
            <a:prstDash val="solid"/>
          </a:ln>
        </p:spPr>
      </p:sp>
      <p:sp>
        <p:nvSpPr>
          <p:cNvPr id="11" name="Text 9"/>
          <p:cNvSpPr txBox="1"/>
          <p:nvPr/>
        </p:nvSpPr>
        <p:spPr>
          <a:xfrm>
            <a:off x="8311896" y="201168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Courtrooms</a:t>
            </a:r>
            <a:endParaRPr lang="en-US" sz="1450" dirty="0"/>
          </a:p>
        </p:txBody>
      </p:sp>
      <p:sp>
        <p:nvSpPr>
          <p:cNvPr id="12" name="Text 10"/>
          <p:cNvSpPr txBox="1"/>
          <p:nvPr/>
        </p:nvSpPr>
        <p:spPr>
          <a:xfrm>
            <a:off x="8311896" y="2359152"/>
            <a:ext cx="3044952" cy="10241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Remorse and credibility inferred from a defendant's face; perceived untrustworthiness tracks harsher sentences.</a:t>
            </a:r>
            <a:endParaRPr lang="en-US" sz="1200" dirty="0"/>
          </a:p>
        </p:txBody>
      </p:sp>
      <p:sp>
        <p:nvSpPr>
          <p:cNvPr id="13" name="Shape 11"/>
          <p:cNvSpPr/>
          <p:nvPr/>
        </p:nvSpPr>
        <p:spPr>
          <a:xfrm>
            <a:off x="594360" y="3794760"/>
            <a:ext cx="3520440" cy="1737360"/>
          </a:xfrm>
          <a:prstGeom prst="roundRect">
            <a:avLst>
              <a:gd name="adj" fmla="val 2632"/>
            </a:avLst>
          </a:prstGeom>
          <a:solidFill>
            <a:srgbClr val="F1F3F5"/>
          </a:solidFill>
          <a:ln w="12700">
            <a:solidFill>
              <a:srgbClr val="F1F3F5"/>
            </a:solidFill>
            <a:prstDash val="solid"/>
          </a:ln>
        </p:spPr>
      </p:sp>
      <p:sp>
        <p:nvSpPr>
          <p:cNvPr id="14" name="Text 12"/>
          <p:cNvSpPr txBox="1"/>
          <p:nvPr/>
        </p:nvSpPr>
        <p:spPr>
          <a:xfrm>
            <a:off x="832104" y="397764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Psychiatric assessment</a:t>
            </a:r>
            <a:endParaRPr lang="en-US" sz="1450" dirty="0"/>
          </a:p>
        </p:txBody>
      </p:sp>
      <p:sp>
        <p:nvSpPr>
          <p:cNvPr id="15" name="Text 13"/>
          <p:cNvSpPr txBox="1"/>
          <p:nvPr/>
        </p:nvSpPr>
        <p:spPr>
          <a:xfrm>
            <a:off x="832104" y="4325112"/>
            <a:ext cx="3044952" cy="10241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Emotion-matching tasks used in autism research; training that generalises poorly to real interaction.</a:t>
            </a:r>
            <a:endParaRPr lang="en-US" sz="1200" dirty="0"/>
          </a:p>
        </p:txBody>
      </p:sp>
      <p:sp>
        <p:nvSpPr>
          <p:cNvPr id="16" name="Shape 14"/>
          <p:cNvSpPr/>
          <p:nvPr/>
        </p:nvSpPr>
        <p:spPr>
          <a:xfrm>
            <a:off x="4334256" y="3794760"/>
            <a:ext cx="3520440" cy="1737360"/>
          </a:xfrm>
          <a:prstGeom prst="roundRect">
            <a:avLst>
              <a:gd name="adj" fmla="val 2632"/>
            </a:avLst>
          </a:prstGeom>
          <a:solidFill>
            <a:srgbClr val="F1F3F5"/>
          </a:solidFill>
          <a:ln w="12700">
            <a:solidFill>
              <a:srgbClr val="F1F3F5"/>
            </a:solidFill>
            <a:prstDash val="solid"/>
          </a:ln>
        </p:spPr>
      </p:sp>
      <p:sp>
        <p:nvSpPr>
          <p:cNvPr id="17" name="Text 15"/>
          <p:cNvSpPr txBox="1"/>
          <p:nvPr/>
        </p:nvSpPr>
        <p:spPr>
          <a:xfrm>
            <a:off x="4572000" y="397764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Early education</a:t>
            </a:r>
            <a:endParaRPr lang="en-US" sz="1450" dirty="0"/>
          </a:p>
        </p:txBody>
      </p:sp>
      <p:sp>
        <p:nvSpPr>
          <p:cNvPr id="18" name="Text 16"/>
          <p:cNvSpPr txBox="1"/>
          <p:nvPr/>
        </p:nvSpPr>
        <p:spPr>
          <a:xfrm>
            <a:off x="4572000" y="4325112"/>
            <a:ext cx="3044952" cy="10241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Feeling charts, books, and children's television teaching a canonical face per emotion.</a:t>
            </a:r>
            <a:endParaRPr lang="en-US" sz="1200" dirty="0"/>
          </a:p>
        </p:txBody>
      </p:sp>
      <p:sp>
        <p:nvSpPr>
          <p:cNvPr id="19" name="Shape 17"/>
          <p:cNvSpPr/>
          <p:nvPr/>
        </p:nvSpPr>
        <p:spPr>
          <a:xfrm>
            <a:off x="8074152" y="3794760"/>
            <a:ext cx="3520440" cy="1737360"/>
          </a:xfrm>
          <a:prstGeom prst="roundRect">
            <a:avLst>
              <a:gd name="adj" fmla="val 2632"/>
            </a:avLst>
          </a:prstGeom>
          <a:solidFill>
            <a:srgbClr val="F1F3F5"/>
          </a:solidFill>
          <a:ln w="12700">
            <a:solidFill>
              <a:srgbClr val="F1F3F5"/>
            </a:solidFill>
            <a:prstDash val="solid"/>
          </a:ln>
        </p:spPr>
      </p:sp>
      <p:sp>
        <p:nvSpPr>
          <p:cNvPr id="20" name="Text 18"/>
          <p:cNvSpPr txBox="1"/>
          <p:nvPr/>
        </p:nvSpPr>
        <p:spPr>
          <a:xfrm>
            <a:off x="8311896" y="397764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Adjacent sciences</a:t>
            </a:r>
            <a:endParaRPr lang="en-US" sz="1450" dirty="0"/>
          </a:p>
        </p:txBody>
      </p:sp>
      <p:sp>
        <p:nvSpPr>
          <p:cNvPr id="21" name="Text 19"/>
          <p:cNvSpPr txBox="1"/>
          <p:nvPr/>
        </p:nvSpPr>
        <p:spPr>
          <a:xfrm>
            <a:off x="8311896" y="4325112"/>
            <a:ext cx="3044952" cy="1024128"/>
          </a:xfrm>
          <a:prstGeom prst="rect">
            <a:avLst/>
          </a:prstGeom>
          <a:noFill/>
          <a:ln/>
        </p:spPr>
        <p:txBody>
          <a:bodyPr wrap="square" lIns="0" tIns="0" rIns="0" bIns="0" rtlCol="0" anchor="t"/>
          <a:lstStyle/>
          <a:p>
            <a:pPr indent="0" marL="0">
              <a:lnSpc>
                <a:spcPct val="108000"/>
              </a:lnSpc>
              <a:buNone/>
            </a:pPr>
            <a:r>
              <a:rPr lang="en-US" sz="1200" dirty="0">
                <a:solidFill>
                  <a:srgbClr val="2E4057"/>
                </a:solidFill>
                <a:latin typeface="Calibri" pitchFamily="34" charset="0"/>
                <a:ea typeface="Calibri" pitchFamily="34" charset="-122"/>
                <a:cs typeface="Calibri" pitchFamily="34" charset="-120"/>
              </a:rPr>
              <a:t>Neuroscience, computer vision, and AI inherit the six-category assumption in their stimulus sets.</a:t>
            </a:r>
            <a:endParaRPr lang="en-US" sz="1200" dirty="0"/>
          </a:p>
        </p:txBody>
      </p:sp>
      <p:sp>
        <p:nvSpPr>
          <p:cNvPr id="22" name="Text 20"/>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Introduction.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566928"/>
            <a:ext cx="2468880" cy="384048"/>
          </a:xfrm>
          <a:prstGeom prst="roundRect">
            <a:avLst>
              <a:gd name="adj" fmla="val 23810"/>
            </a:avLst>
          </a:prstGeom>
          <a:solidFill>
            <a:srgbClr val="D9A441"/>
          </a:solidFill>
          <a:ln w="12700">
            <a:solidFill>
              <a:srgbClr val="D9A441"/>
            </a:solidFill>
            <a:prstDash val="solid"/>
          </a:ln>
        </p:spPr>
      </p:sp>
      <p:sp>
        <p:nvSpPr>
          <p:cNvPr id="3" name="Text 1"/>
          <p:cNvSpPr txBox="1"/>
          <p:nvPr/>
        </p:nvSpPr>
        <p:spPr>
          <a:xfrm>
            <a:off x="594360" y="566928"/>
            <a:ext cx="2468880" cy="384048"/>
          </a:xfrm>
          <a:prstGeom prst="rect">
            <a:avLst/>
          </a:prstGeom>
          <a:noFill/>
          <a:ln/>
        </p:spPr>
        <p:txBody>
          <a:bodyPr wrap="square" lIns="0" tIns="0" rIns="0" bIns="0" rtlCol="0" anchor="ctr"/>
          <a:lstStyle/>
          <a:p>
            <a:pPr algn="ctr" indent="0" marL="0">
              <a:buNone/>
            </a:pPr>
            <a:r>
              <a:rPr lang="en-US" sz="1150" b="1" spc="140" kern="0" dirty="0">
                <a:solidFill>
                  <a:srgbClr val="16202C"/>
                </a:solidFill>
                <a:latin typeface="Calibri" pitchFamily="34" charset="0"/>
                <a:ea typeface="Calibri" pitchFamily="34" charset="-122"/>
                <a:cs typeface="Calibri" pitchFamily="34" charset="-120"/>
              </a:rPr>
              <a:t>DISCUSSION 1</a:t>
            </a:r>
            <a:endParaRPr lang="en-US" sz="1150" dirty="0"/>
          </a:p>
        </p:txBody>
      </p:sp>
      <p:sp>
        <p:nvSpPr>
          <p:cNvPr id="4" name="Text 2"/>
          <p:cNvSpPr txBox="1"/>
          <p:nvPr/>
        </p:nvSpPr>
        <p:spPr>
          <a:xfrm>
            <a:off x="9585655" y="566928"/>
            <a:ext cx="2011680" cy="384048"/>
          </a:xfrm>
          <a:prstGeom prst="rect">
            <a:avLst/>
          </a:prstGeom>
          <a:noFill/>
          <a:ln/>
        </p:spPr>
        <p:txBody>
          <a:bodyPr wrap="square" lIns="0" tIns="0" rIns="0" bIns="0" rtlCol="0" anchor="ctr"/>
          <a:lstStyle/>
          <a:p>
            <a:pPr algn="r" indent="0" marL="0">
              <a:buNone/>
            </a:pPr>
            <a:r>
              <a:rPr lang="en-US" sz="1200" dirty="0">
                <a:solidFill>
                  <a:srgbClr val="9AA3AE"/>
                </a:solidFill>
                <a:latin typeface="Calibri" pitchFamily="34" charset="0"/>
                <a:ea typeface="Calibri" pitchFamily="34" charset="-122"/>
                <a:cs typeface="Calibri" pitchFamily="34" charset="-120"/>
              </a:rPr>
              <a:t>~5 minutes</a:t>
            </a:r>
            <a:endParaRPr lang="en-US" sz="1200" dirty="0"/>
          </a:p>
        </p:txBody>
      </p:sp>
      <p:sp>
        <p:nvSpPr>
          <p:cNvPr id="5" name="Text 3"/>
          <p:cNvSpPr txBox="1"/>
          <p:nvPr/>
        </p:nvSpPr>
        <p:spPr>
          <a:xfrm>
            <a:off x="594360" y="1325880"/>
            <a:ext cx="11002975" cy="137160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Before we look at the evidence: what would it take to change your mind?</a:t>
            </a:r>
            <a:endParaRPr lang="en-US" sz="3000" dirty="0"/>
          </a:p>
        </p:txBody>
      </p:sp>
      <p:sp>
        <p:nvSpPr>
          <p:cNvPr id="6" name="Text 4"/>
          <p:cNvSpPr txBox="1"/>
          <p:nvPr/>
        </p:nvSpPr>
        <p:spPr>
          <a:xfrm>
            <a:off x="704088" y="2971800"/>
            <a:ext cx="10783519" cy="310896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If you have built or used an emotion recognition system: what did you take your labels to mean? A felt state, a display, or a facial configuration?</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What accuracy number would you need to see before you'd deploy such a system in hiring? In airport screening? Does the threshold change with the stakes?</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Whose ground truth were you validating against — self-report, actor intent, or another annotator's judgement of the same face?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2331720"/>
            <a:ext cx="960120" cy="960120"/>
          </a:xfrm>
          <a:prstGeom prst="roundRect">
            <a:avLst>
              <a:gd name="adj" fmla="val 13333"/>
            </a:avLst>
          </a:prstGeom>
          <a:solidFill>
            <a:srgbClr val="E07A5F"/>
          </a:solidFill>
          <a:ln w="12700">
            <a:solidFill>
              <a:srgbClr val="E07A5F"/>
            </a:solidFill>
            <a:prstDash val="solid"/>
          </a:ln>
        </p:spPr>
      </p:sp>
      <p:sp>
        <p:nvSpPr>
          <p:cNvPr id="3" name="Text 1"/>
          <p:cNvSpPr txBox="1"/>
          <p:nvPr/>
        </p:nvSpPr>
        <p:spPr>
          <a:xfrm>
            <a:off x="594360" y="2331720"/>
            <a:ext cx="960120" cy="960120"/>
          </a:xfrm>
          <a:prstGeom prst="rect">
            <a:avLst/>
          </a:prstGeom>
          <a:noFill/>
          <a:ln/>
        </p:spPr>
        <p:txBody>
          <a:bodyPr wrap="square" lIns="0" tIns="0" rIns="0" bIns="0" rtlCol="0" anchor="ctr"/>
          <a:lstStyle/>
          <a:p>
            <a:pPr algn="ctr" indent="0" marL="0">
              <a:buNone/>
            </a:pPr>
            <a:r>
              <a:rPr lang="en-US" sz="4000" b="1" dirty="0">
                <a:solidFill>
                  <a:srgbClr val="16202C"/>
                </a:solidFill>
                <a:latin typeface="Cambria" pitchFamily="34" charset="0"/>
                <a:ea typeface="Cambria" pitchFamily="34" charset="-122"/>
                <a:cs typeface="Cambria" pitchFamily="34" charset="-120"/>
              </a:rPr>
              <a:t>1</a:t>
            </a:r>
            <a:endParaRPr lang="en-US" sz="4000" dirty="0"/>
          </a:p>
        </p:txBody>
      </p:sp>
      <p:sp>
        <p:nvSpPr>
          <p:cNvPr id="4" name="Text 2"/>
          <p:cNvSpPr txBox="1"/>
          <p:nvPr/>
        </p:nvSpPr>
        <p:spPr>
          <a:xfrm>
            <a:off x="1965960" y="2331720"/>
            <a:ext cx="9631375"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Reverse inference and the four criteria</a:t>
            </a:r>
            <a:endParaRPr lang="en-US" sz="3800" dirty="0"/>
          </a:p>
        </p:txBody>
      </p:sp>
      <p:sp>
        <p:nvSpPr>
          <p:cNvPr id="5" name="Text 3"/>
          <p:cNvSpPr txBox="1"/>
          <p:nvPr/>
        </p:nvSpPr>
        <p:spPr>
          <a:xfrm>
            <a:off x="1965960" y="3035808"/>
            <a:ext cx="9631375" cy="365760"/>
          </a:xfrm>
          <a:prstGeom prst="rect">
            <a:avLst/>
          </a:prstGeom>
          <a:noFill/>
          <a:ln/>
        </p:spPr>
        <p:txBody>
          <a:bodyPr wrap="square" lIns="0" tIns="0" rIns="0" bIns="0" rtlCol="0" anchor="t"/>
          <a:lstStyle/>
          <a:p>
            <a:pPr indent="0" marL="0">
              <a:buNone/>
            </a:pPr>
            <a:r>
              <a:rPr lang="en-US" sz="1500" dirty="0">
                <a:solidFill>
                  <a:srgbClr val="9AA3AE"/>
                </a:solidFill>
                <a:latin typeface="Calibri" pitchFamily="34" charset="0"/>
                <a:ea typeface="Calibri" pitchFamily="34" charset="-122"/>
                <a:cs typeface="Calibri" pitchFamily="34" charset="-120"/>
              </a:rPr>
              <a:t>The conceptual apparatus that does the work in this paper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Two different questions, routinely conflated</a:t>
            </a:r>
            <a:endParaRPr lang="en-US" sz="3200" dirty="0"/>
          </a:p>
        </p:txBody>
      </p:sp>
      <p:sp>
        <p:nvSpPr>
          <p:cNvPr id="4" name="Shape 2"/>
          <p:cNvSpPr/>
          <p:nvPr/>
        </p:nvSpPr>
        <p:spPr>
          <a:xfrm>
            <a:off x="594360" y="1783080"/>
            <a:ext cx="5349240" cy="2286000"/>
          </a:xfrm>
          <a:prstGeom prst="roundRect">
            <a:avLst>
              <a:gd name="adj" fmla="val 2800"/>
            </a:avLst>
          </a:prstGeom>
          <a:solidFill>
            <a:srgbClr val="F1F3F5"/>
          </a:solidFill>
          <a:ln w="12700">
            <a:solidFill>
              <a:srgbClr val="E2E6EA"/>
            </a:solidFill>
            <a:prstDash val="solid"/>
          </a:ln>
        </p:spPr>
      </p:sp>
      <p:sp>
        <p:nvSpPr>
          <p:cNvPr id="5" name="Text 3"/>
          <p:cNvSpPr txBox="1"/>
          <p:nvPr/>
        </p:nvSpPr>
        <p:spPr>
          <a:xfrm>
            <a:off x="868680" y="1965960"/>
            <a:ext cx="4800600" cy="274320"/>
          </a:xfrm>
          <a:prstGeom prst="rect">
            <a:avLst/>
          </a:prstGeom>
          <a:noFill/>
          <a:ln/>
        </p:spPr>
        <p:txBody>
          <a:bodyPr wrap="square" lIns="0" tIns="0" rIns="0" bIns="0" rtlCol="0" anchor="ctr"/>
          <a:lstStyle/>
          <a:p>
            <a:pPr indent="0" marL="0">
              <a:buNone/>
            </a:pPr>
            <a:r>
              <a:rPr lang="en-US" sz="1100" b="1" spc="140" kern="0" dirty="0">
                <a:solidFill>
                  <a:srgbClr val="3D7068"/>
                </a:solidFill>
                <a:latin typeface="Calibri" pitchFamily="34" charset="0"/>
                <a:ea typeface="Calibri" pitchFamily="34" charset="-122"/>
                <a:cs typeface="Calibri" pitchFamily="34" charset="-120"/>
              </a:rPr>
              <a:t>FORWARD INFERENCE</a:t>
            </a:r>
            <a:endParaRPr lang="en-US" sz="1100" dirty="0"/>
          </a:p>
        </p:txBody>
      </p:sp>
      <p:sp>
        <p:nvSpPr>
          <p:cNvPr id="6" name="Text 4"/>
          <p:cNvSpPr txBox="1"/>
          <p:nvPr/>
        </p:nvSpPr>
        <p:spPr>
          <a:xfrm>
            <a:off x="868680" y="2331720"/>
            <a:ext cx="4800600" cy="457200"/>
          </a:xfrm>
          <a:prstGeom prst="rect">
            <a:avLst/>
          </a:prstGeom>
          <a:noFill/>
          <a:ln/>
        </p:spPr>
        <p:txBody>
          <a:bodyPr wrap="square" lIns="0" tIns="0" rIns="0" bIns="0" rtlCol="0" anchor="ctr"/>
          <a:lstStyle/>
          <a:p>
            <a:pPr indent="0" marL="0">
              <a:buNone/>
            </a:pPr>
            <a:r>
              <a:rPr lang="en-US" sz="1900" b="1" dirty="0">
                <a:solidFill>
                  <a:srgbClr val="16202C"/>
                </a:solidFill>
                <a:latin typeface="Cambria" pitchFamily="34" charset="0"/>
                <a:ea typeface="Cambria" pitchFamily="34" charset="-122"/>
                <a:cs typeface="Cambria" pitchFamily="34" charset="-120"/>
              </a:rPr>
              <a:t>p ( facial configuration | emotion )</a:t>
            </a:r>
            <a:endParaRPr lang="en-US" sz="1900" dirty="0"/>
          </a:p>
        </p:txBody>
      </p:sp>
      <p:sp>
        <p:nvSpPr>
          <p:cNvPr id="7" name="Text 5"/>
          <p:cNvSpPr txBox="1"/>
          <p:nvPr/>
        </p:nvSpPr>
        <p:spPr>
          <a:xfrm>
            <a:off x="868680" y="2880360"/>
            <a:ext cx="4800600" cy="1005840"/>
          </a:xfrm>
          <a:prstGeom prst="rect">
            <a:avLst/>
          </a:prstGeom>
          <a:noFill/>
          <a:ln/>
        </p:spPr>
        <p:txBody>
          <a:bodyPr wrap="square" lIns="0" tIns="0" rIns="0" bIns="0" rtlCol="0" anchor="ctr"/>
          <a:lstStyle/>
          <a:p>
            <a:pPr indent="0" marL="0">
              <a:lnSpc>
                <a:spcPct val="110000"/>
              </a:lnSpc>
              <a:buNone/>
            </a:pPr>
            <a:r>
              <a:rPr lang="en-US" sz="1350" dirty="0">
                <a:solidFill>
                  <a:srgbClr val="2E4057"/>
                </a:solidFill>
                <a:latin typeface="Calibri" pitchFamily="34" charset="0"/>
                <a:ea typeface="Calibri" pitchFamily="34" charset="-122"/>
                <a:cs typeface="Calibri" pitchFamily="34" charset="-120"/>
              </a:rPr>
              <a:t>Given that someone is angry, how likely are they to scowl?</a:t>
            </a:r>
            <a:endParaRPr lang="en-US" sz="1350" dirty="0"/>
          </a:p>
          <a:p>
            <a:pPr indent="0" marL="0">
              <a:lnSpc>
                <a:spcPct val="110000"/>
              </a:lnSpc>
              <a:buNone/>
            </a:pPr>
            <a:endParaRPr lang="en-US" sz="1350" dirty="0"/>
          </a:p>
          <a:p>
            <a:pPr indent="0" marL="0">
              <a:lnSpc>
                <a:spcPct val="110000"/>
              </a:lnSpc>
              <a:buNone/>
            </a:pPr>
            <a:r>
              <a:rPr lang="en-US" sz="1350" dirty="0">
                <a:solidFill>
                  <a:srgbClr val="2E4057"/>
                </a:solidFill>
                <a:latin typeface="Calibri" pitchFamily="34" charset="0"/>
                <a:ea typeface="Calibri" pitchFamily="34" charset="-122"/>
                <a:cs typeface="Calibri" pitchFamily="34" charset="-120"/>
              </a:rPr>
              <a:t>This is what production studies measure.</a:t>
            </a:r>
            <a:endParaRPr lang="en-US" sz="1350" dirty="0"/>
          </a:p>
        </p:txBody>
      </p:sp>
      <p:sp>
        <p:nvSpPr>
          <p:cNvPr id="8" name="Shape 6"/>
          <p:cNvSpPr/>
          <p:nvPr/>
        </p:nvSpPr>
        <p:spPr>
          <a:xfrm>
            <a:off x="6245352" y="1783080"/>
            <a:ext cx="5349240" cy="2286000"/>
          </a:xfrm>
          <a:prstGeom prst="roundRect">
            <a:avLst>
              <a:gd name="adj" fmla="val 2800"/>
            </a:avLst>
          </a:prstGeom>
          <a:solidFill>
            <a:srgbClr val="FBEDE8"/>
          </a:solidFill>
          <a:ln w="12700">
            <a:solidFill>
              <a:srgbClr val="F0D6CC"/>
            </a:solidFill>
            <a:prstDash val="solid"/>
          </a:ln>
        </p:spPr>
      </p:sp>
      <p:sp>
        <p:nvSpPr>
          <p:cNvPr id="9" name="Text 7"/>
          <p:cNvSpPr txBox="1"/>
          <p:nvPr/>
        </p:nvSpPr>
        <p:spPr>
          <a:xfrm>
            <a:off x="6519672" y="1965960"/>
            <a:ext cx="4800600" cy="274320"/>
          </a:xfrm>
          <a:prstGeom prst="rect">
            <a:avLst/>
          </a:prstGeom>
          <a:noFill/>
          <a:ln/>
        </p:spPr>
        <p:txBody>
          <a:bodyPr wrap="square" lIns="0" tIns="0" rIns="0" bIns="0" rtlCol="0" anchor="ctr"/>
          <a:lstStyle/>
          <a:p>
            <a:pPr indent="0" marL="0">
              <a:buNone/>
            </a:pPr>
            <a:r>
              <a:rPr lang="en-US" sz="1100" b="1" spc="140" kern="0" dirty="0">
                <a:solidFill>
                  <a:srgbClr val="E07A5F"/>
                </a:solidFill>
                <a:latin typeface="Calibri" pitchFamily="34" charset="0"/>
                <a:ea typeface="Calibri" pitchFamily="34" charset="-122"/>
                <a:cs typeface="Calibri" pitchFamily="34" charset="-120"/>
              </a:rPr>
              <a:t>REVERSE INFERENCE</a:t>
            </a:r>
            <a:endParaRPr lang="en-US" sz="1100" dirty="0"/>
          </a:p>
        </p:txBody>
      </p:sp>
      <p:sp>
        <p:nvSpPr>
          <p:cNvPr id="10" name="Text 8"/>
          <p:cNvSpPr txBox="1"/>
          <p:nvPr/>
        </p:nvSpPr>
        <p:spPr>
          <a:xfrm>
            <a:off x="6519672" y="2331720"/>
            <a:ext cx="4800600" cy="457200"/>
          </a:xfrm>
          <a:prstGeom prst="rect">
            <a:avLst/>
          </a:prstGeom>
          <a:noFill/>
          <a:ln/>
        </p:spPr>
        <p:txBody>
          <a:bodyPr wrap="square" lIns="0" tIns="0" rIns="0" bIns="0" rtlCol="0" anchor="ctr"/>
          <a:lstStyle/>
          <a:p>
            <a:pPr indent="0" marL="0">
              <a:buNone/>
            </a:pPr>
            <a:r>
              <a:rPr lang="en-US" sz="1900" b="1" dirty="0">
                <a:solidFill>
                  <a:srgbClr val="16202C"/>
                </a:solidFill>
                <a:latin typeface="Cambria" pitchFamily="34" charset="0"/>
                <a:ea typeface="Cambria" pitchFamily="34" charset="-122"/>
                <a:cs typeface="Cambria" pitchFamily="34" charset="-120"/>
              </a:rPr>
              <a:t>p ( emotion | facial configuration )</a:t>
            </a:r>
            <a:endParaRPr lang="en-US" sz="1900" dirty="0"/>
          </a:p>
        </p:txBody>
      </p:sp>
      <p:sp>
        <p:nvSpPr>
          <p:cNvPr id="11" name="Text 9"/>
          <p:cNvSpPr txBox="1"/>
          <p:nvPr/>
        </p:nvSpPr>
        <p:spPr>
          <a:xfrm>
            <a:off x="6519672" y="2880360"/>
            <a:ext cx="4800600" cy="1005840"/>
          </a:xfrm>
          <a:prstGeom prst="rect">
            <a:avLst/>
          </a:prstGeom>
          <a:noFill/>
          <a:ln/>
        </p:spPr>
        <p:txBody>
          <a:bodyPr wrap="square" lIns="0" tIns="0" rIns="0" bIns="0" rtlCol="0" anchor="ctr"/>
          <a:lstStyle/>
          <a:p>
            <a:pPr indent="0" marL="0">
              <a:lnSpc>
                <a:spcPct val="110000"/>
              </a:lnSpc>
              <a:buNone/>
            </a:pPr>
            <a:r>
              <a:rPr lang="en-US" sz="1350" dirty="0">
                <a:solidFill>
                  <a:srgbClr val="2E4057"/>
                </a:solidFill>
                <a:latin typeface="Calibri" pitchFamily="34" charset="0"/>
                <a:ea typeface="Calibri" pitchFamily="34" charset="-122"/>
                <a:cs typeface="Calibri" pitchFamily="34" charset="-120"/>
              </a:rPr>
              <a:t>Given that someone is scowling, how likely are they to be angry?</a:t>
            </a:r>
            <a:endParaRPr lang="en-US" sz="1350" dirty="0"/>
          </a:p>
          <a:p>
            <a:pPr indent="0" marL="0">
              <a:lnSpc>
                <a:spcPct val="110000"/>
              </a:lnSpc>
              <a:buNone/>
            </a:pPr>
            <a:endParaRPr lang="en-US" sz="1350" dirty="0"/>
          </a:p>
          <a:p>
            <a:pPr indent="0" marL="0">
              <a:lnSpc>
                <a:spcPct val="110000"/>
              </a:lnSpc>
              <a:buNone/>
            </a:pPr>
            <a:r>
              <a:rPr lang="en-US" sz="1350" dirty="0">
                <a:solidFill>
                  <a:srgbClr val="2E4057"/>
                </a:solidFill>
                <a:latin typeface="Calibri" pitchFamily="34" charset="0"/>
                <a:ea typeface="Calibri" pitchFamily="34" charset="-122"/>
                <a:cs typeface="Calibri" pitchFamily="34" charset="-120"/>
              </a:rPr>
              <a:t>This is what every deployed system does.</a:t>
            </a:r>
            <a:endParaRPr lang="en-US" sz="1350" dirty="0"/>
          </a:p>
        </p:txBody>
      </p:sp>
      <p:sp>
        <p:nvSpPr>
          <p:cNvPr id="12" name="Shape 10"/>
          <p:cNvSpPr/>
          <p:nvPr/>
        </p:nvSpPr>
        <p:spPr>
          <a:xfrm>
            <a:off x="594360" y="4434840"/>
            <a:ext cx="11002975" cy="1463040"/>
          </a:xfrm>
          <a:prstGeom prst="roundRect">
            <a:avLst>
              <a:gd name="adj" fmla="val 4375"/>
            </a:avLst>
          </a:prstGeom>
          <a:solidFill>
            <a:srgbClr val="16202C"/>
          </a:solidFill>
          <a:ln w="12700">
            <a:solidFill>
              <a:srgbClr val="16202C"/>
            </a:solidFill>
            <a:prstDash val="solid"/>
          </a:ln>
        </p:spPr>
      </p:sp>
      <p:sp>
        <p:nvSpPr>
          <p:cNvPr id="13" name="Text 11"/>
          <p:cNvSpPr txBox="1"/>
          <p:nvPr/>
        </p:nvSpPr>
        <p:spPr>
          <a:xfrm>
            <a:off x="960120" y="4617720"/>
            <a:ext cx="10271455" cy="1097280"/>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Calibri" pitchFamily="34" charset="0"/>
                <a:ea typeface="Calibri" pitchFamily="34" charset="-122"/>
                <a:cs typeface="Calibri" pitchFamily="34" charset="-120"/>
              </a:rPr>
              <a:t>Evidence for the forward direction does not license the reverse. Getting from one to the other requires the base rate of the emotion and the base rate of the configuration — and the configuration's false positive rate, which most published studies never report.</a:t>
            </a:r>
            <a:endParaRPr lang="en-US" sz="1500" dirty="0"/>
          </a:p>
        </p:txBody>
      </p:sp>
      <p:sp>
        <p:nvSpPr>
          <p:cNvPr id="14" name="Text 12"/>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"A Systematic Approach for Evaluating the Scientific Evidence"; see Figure 3.</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FRAMEWORK</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Four criteria a facial configuration must meet</a:t>
            </a:r>
            <a:endParaRPr lang="en-US" sz="3200" dirty="0"/>
          </a:p>
        </p:txBody>
      </p:sp>
      <p:sp>
        <p:nvSpPr>
          <p:cNvPr id="4" name="Shape 2"/>
          <p:cNvSpPr/>
          <p:nvPr/>
        </p:nvSpPr>
        <p:spPr>
          <a:xfrm>
            <a:off x="594360" y="1783080"/>
            <a:ext cx="5349240" cy="2011680"/>
          </a:xfrm>
          <a:prstGeom prst="roundRect">
            <a:avLst>
              <a:gd name="adj" fmla="val 3182"/>
            </a:avLst>
          </a:prstGeom>
          <a:solidFill>
            <a:srgbClr val="F1F3F5"/>
          </a:solidFill>
          <a:ln w="12700">
            <a:solidFill>
              <a:srgbClr val="E2E6EA"/>
            </a:solidFill>
            <a:prstDash val="solid"/>
          </a:ln>
        </p:spPr>
      </p:sp>
      <p:sp>
        <p:nvSpPr>
          <p:cNvPr id="5" name="Shape 3"/>
          <p:cNvSpPr/>
          <p:nvPr/>
        </p:nvSpPr>
        <p:spPr>
          <a:xfrm>
            <a:off x="868680" y="2039112"/>
            <a:ext cx="310896" cy="310896"/>
          </a:xfrm>
          <a:prstGeom prst="roundRect">
            <a:avLst>
              <a:gd name="adj" fmla="val 17647"/>
            </a:avLst>
          </a:prstGeom>
          <a:solidFill>
            <a:srgbClr val="3D7068"/>
          </a:solidFill>
          <a:ln w="12700">
            <a:solidFill>
              <a:srgbClr val="3D7068"/>
            </a:solidFill>
            <a:prstDash val="solid"/>
          </a:ln>
        </p:spPr>
      </p:sp>
      <p:sp>
        <p:nvSpPr>
          <p:cNvPr id="6" name="Text 4"/>
          <p:cNvSpPr txBox="1"/>
          <p:nvPr/>
        </p:nvSpPr>
        <p:spPr>
          <a:xfrm>
            <a:off x="1307592" y="2020824"/>
            <a:ext cx="2926080" cy="347472"/>
          </a:xfrm>
          <a:prstGeom prst="rect">
            <a:avLst/>
          </a:prstGeom>
          <a:noFill/>
          <a:ln/>
        </p:spPr>
        <p:txBody>
          <a:bodyPr wrap="square" lIns="0" tIns="0" rIns="0" bIns="0" rtlCol="0" anchor="ctr"/>
          <a:lstStyle/>
          <a:p>
            <a:pPr indent="0" marL="0">
              <a:buNone/>
            </a:pPr>
            <a:r>
              <a:rPr lang="en-US" sz="1700" b="1" dirty="0">
                <a:solidFill>
                  <a:srgbClr val="16202C"/>
                </a:solidFill>
                <a:latin typeface="Calibri" pitchFamily="34" charset="0"/>
                <a:ea typeface="Calibri" pitchFamily="34" charset="-122"/>
                <a:cs typeface="Calibri" pitchFamily="34" charset="-120"/>
              </a:rPr>
              <a:t>Reliability</a:t>
            </a:r>
            <a:endParaRPr lang="en-US" sz="1700" dirty="0"/>
          </a:p>
        </p:txBody>
      </p:sp>
      <p:sp>
        <p:nvSpPr>
          <p:cNvPr id="7" name="Text 5"/>
          <p:cNvSpPr txBox="1"/>
          <p:nvPr/>
        </p:nvSpPr>
        <p:spPr>
          <a:xfrm>
            <a:off x="4160520" y="2020824"/>
            <a:ext cx="1554480" cy="347472"/>
          </a:xfrm>
          <a:prstGeom prst="rect">
            <a:avLst/>
          </a:prstGeom>
          <a:noFill/>
          <a:ln/>
        </p:spPr>
        <p:txBody>
          <a:bodyPr wrap="square" lIns="0" tIns="0" rIns="0" bIns="0" rtlCol="0" anchor="ctr"/>
          <a:lstStyle/>
          <a:p>
            <a:pPr algn="r" indent="0" marL="0">
              <a:buNone/>
            </a:pPr>
            <a:r>
              <a:rPr lang="en-US" sz="950" i="1" dirty="0">
                <a:solidFill>
                  <a:srgbClr val="6B7280"/>
                </a:solidFill>
                <a:latin typeface="Calibri" pitchFamily="34" charset="0"/>
                <a:ea typeface="Calibri" pitchFamily="34" charset="-122"/>
                <a:cs typeface="Calibri" pitchFamily="34" charset="-120"/>
              </a:rPr>
              <a:t>Evaluated</a:t>
            </a:r>
            <a:endParaRPr lang="en-US" sz="950" dirty="0"/>
          </a:p>
        </p:txBody>
      </p:sp>
      <p:sp>
        <p:nvSpPr>
          <p:cNvPr id="8" name="Text 6"/>
          <p:cNvSpPr txBox="1"/>
          <p:nvPr/>
        </p:nvSpPr>
        <p:spPr>
          <a:xfrm>
            <a:off x="868680" y="2514600"/>
            <a:ext cx="4800600" cy="1097280"/>
          </a:xfrm>
          <a:prstGeom prst="rect">
            <a:avLst/>
          </a:prstGeom>
          <a:noFill/>
          <a:ln/>
        </p:spPr>
        <p:txBody>
          <a:bodyPr wrap="square" lIns="0" tIns="0" rIns="0" bIns="0" rtlCol="0" anchor="t"/>
          <a:lstStyle/>
          <a:p>
            <a:pPr indent="0" marL="0">
              <a:lnSpc>
                <a:spcPct val="110000"/>
              </a:lnSpc>
              <a:buNone/>
            </a:pPr>
            <a:r>
              <a:rPr lang="en-US" sz="1300" dirty="0">
                <a:solidFill>
                  <a:srgbClr val="2E4057"/>
                </a:solidFill>
                <a:latin typeface="Calibri" pitchFamily="34" charset="0"/>
                <a:ea typeface="Calibri" pitchFamily="34" charset="-122"/>
                <a:cs typeface="Calibri" pitchFamily="34" charset="-120"/>
              </a:rPr>
              <a:t>Does the configuration occur when the emotion occurs, more often than chance? Consistency of the association.</a:t>
            </a:r>
            <a:endParaRPr lang="en-US" sz="1300" dirty="0"/>
          </a:p>
        </p:txBody>
      </p:sp>
      <p:sp>
        <p:nvSpPr>
          <p:cNvPr id="9" name="Shape 7"/>
          <p:cNvSpPr/>
          <p:nvPr/>
        </p:nvSpPr>
        <p:spPr>
          <a:xfrm>
            <a:off x="6245352" y="1783080"/>
            <a:ext cx="5349240" cy="2011680"/>
          </a:xfrm>
          <a:prstGeom prst="roundRect">
            <a:avLst>
              <a:gd name="adj" fmla="val 3182"/>
            </a:avLst>
          </a:prstGeom>
          <a:solidFill>
            <a:srgbClr val="F1F3F5"/>
          </a:solidFill>
          <a:ln w="12700">
            <a:solidFill>
              <a:srgbClr val="E2E6EA"/>
            </a:solidFill>
            <a:prstDash val="solid"/>
          </a:ln>
        </p:spPr>
      </p:sp>
      <p:sp>
        <p:nvSpPr>
          <p:cNvPr id="10" name="Shape 8"/>
          <p:cNvSpPr/>
          <p:nvPr/>
        </p:nvSpPr>
        <p:spPr>
          <a:xfrm>
            <a:off x="6519672" y="2039112"/>
            <a:ext cx="310896" cy="310896"/>
          </a:xfrm>
          <a:prstGeom prst="roundRect">
            <a:avLst>
              <a:gd name="adj" fmla="val 17647"/>
            </a:avLst>
          </a:prstGeom>
          <a:solidFill>
            <a:srgbClr val="E07A5F"/>
          </a:solidFill>
          <a:ln w="12700">
            <a:solidFill>
              <a:srgbClr val="E07A5F"/>
            </a:solidFill>
            <a:prstDash val="solid"/>
          </a:ln>
        </p:spPr>
      </p:sp>
      <p:sp>
        <p:nvSpPr>
          <p:cNvPr id="11" name="Text 9"/>
          <p:cNvSpPr txBox="1"/>
          <p:nvPr/>
        </p:nvSpPr>
        <p:spPr>
          <a:xfrm>
            <a:off x="6958584" y="2020824"/>
            <a:ext cx="2926080" cy="347472"/>
          </a:xfrm>
          <a:prstGeom prst="rect">
            <a:avLst/>
          </a:prstGeom>
          <a:noFill/>
          <a:ln/>
        </p:spPr>
        <p:txBody>
          <a:bodyPr wrap="square" lIns="0" tIns="0" rIns="0" bIns="0" rtlCol="0" anchor="ctr"/>
          <a:lstStyle/>
          <a:p>
            <a:pPr indent="0" marL="0">
              <a:buNone/>
            </a:pPr>
            <a:r>
              <a:rPr lang="en-US" sz="1700" b="1" dirty="0">
                <a:solidFill>
                  <a:srgbClr val="16202C"/>
                </a:solidFill>
                <a:latin typeface="Calibri" pitchFamily="34" charset="0"/>
                <a:ea typeface="Calibri" pitchFamily="34" charset="-122"/>
                <a:cs typeface="Calibri" pitchFamily="34" charset="-120"/>
              </a:rPr>
              <a:t>Specificity</a:t>
            </a:r>
            <a:endParaRPr lang="en-US" sz="1700" dirty="0"/>
          </a:p>
        </p:txBody>
      </p:sp>
      <p:sp>
        <p:nvSpPr>
          <p:cNvPr id="12" name="Text 10"/>
          <p:cNvSpPr txBox="1"/>
          <p:nvPr/>
        </p:nvSpPr>
        <p:spPr>
          <a:xfrm>
            <a:off x="9811512" y="2020824"/>
            <a:ext cx="1554480" cy="347472"/>
          </a:xfrm>
          <a:prstGeom prst="rect">
            <a:avLst/>
          </a:prstGeom>
          <a:noFill/>
          <a:ln/>
        </p:spPr>
        <p:txBody>
          <a:bodyPr wrap="square" lIns="0" tIns="0" rIns="0" bIns="0" rtlCol="0" anchor="ctr"/>
          <a:lstStyle/>
          <a:p>
            <a:pPr algn="r" indent="0" marL="0">
              <a:buNone/>
            </a:pPr>
            <a:r>
              <a:rPr lang="en-US" sz="950" i="1" dirty="0">
                <a:solidFill>
                  <a:srgbClr val="6B7280"/>
                </a:solidFill>
                <a:latin typeface="Calibri" pitchFamily="34" charset="0"/>
                <a:ea typeface="Calibri" pitchFamily="34" charset="-122"/>
                <a:cs typeface="Calibri" pitchFamily="34" charset="-120"/>
              </a:rPr>
              <a:t>Evaluated</a:t>
            </a:r>
            <a:endParaRPr lang="en-US" sz="950" dirty="0"/>
          </a:p>
        </p:txBody>
      </p:sp>
      <p:sp>
        <p:nvSpPr>
          <p:cNvPr id="13" name="Text 11"/>
          <p:cNvSpPr txBox="1"/>
          <p:nvPr/>
        </p:nvSpPr>
        <p:spPr>
          <a:xfrm>
            <a:off x="6519672" y="2514600"/>
            <a:ext cx="4800600" cy="1097280"/>
          </a:xfrm>
          <a:prstGeom prst="rect">
            <a:avLst/>
          </a:prstGeom>
          <a:noFill/>
          <a:ln/>
        </p:spPr>
        <p:txBody>
          <a:bodyPr wrap="square" lIns="0" tIns="0" rIns="0" bIns="0" rtlCol="0" anchor="t"/>
          <a:lstStyle/>
          <a:p>
            <a:pPr indent="0" marL="0">
              <a:lnSpc>
                <a:spcPct val="110000"/>
              </a:lnSpc>
              <a:buNone/>
            </a:pPr>
            <a:r>
              <a:rPr lang="en-US" sz="1300" dirty="0">
                <a:solidFill>
                  <a:srgbClr val="2E4057"/>
                </a:solidFill>
                <a:latin typeface="Calibri" pitchFamily="34" charset="0"/>
                <a:ea typeface="Calibri" pitchFamily="34" charset="-122"/>
                <a:cs typeface="Calibri" pitchFamily="34" charset="-120"/>
              </a:rPr>
              <a:t>Does it occur only for that emotion — and not for other emotions, or for non-emotional states? Uniqueness.</a:t>
            </a:r>
            <a:endParaRPr lang="en-US" sz="1300" dirty="0"/>
          </a:p>
        </p:txBody>
      </p:sp>
      <p:sp>
        <p:nvSpPr>
          <p:cNvPr id="14" name="Shape 12"/>
          <p:cNvSpPr/>
          <p:nvPr/>
        </p:nvSpPr>
        <p:spPr>
          <a:xfrm>
            <a:off x="594360" y="3995928"/>
            <a:ext cx="5349240" cy="2011680"/>
          </a:xfrm>
          <a:prstGeom prst="roundRect">
            <a:avLst>
              <a:gd name="adj" fmla="val 3182"/>
            </a:avLst>
          </a:prstGeom>
          <a:solidFill>
            <a:srgbClr val="F1F3F5"/>
          </a:solidFill>
          <a:ln w="12700">
            <a:solidFill>
              <a:srgbClr val="E2E6EA"/>
            </a:solidFill>
            <a:prstDash val="solid"/>
          </a:ln>
        </p:spPr>
      </p:sp>
      <p:sp>
        <p:nvSpPr>
          <p:cNvPr id="15" name="Shape 13"/>
          <p:cNvSpPr/>
          <p:nvPr/>
        </p:nvSpPr>
        <p:spPr>
          <a:xfrm>
            <a:off x="868680" y="4251960"/>
            <a:ext cx="310896" cy="310896"/>
          </a:xfrm>
          <a:prstGeom prst="roundRect">
            <a:avLst>
              <a:gd name="adj" fmla="val 17647"/>
            </a:avLst>
          </a:prstGeom>
          <a:solidFill>
            <a:srgbClr val="D9A441"/>
          </a:solidFill>
          <a:ln w="12700">
            <a:solidFill>
              <a:srgbClr val="D9A441"/>
            </a:solidFill>
            <a:prstDash val="solid"/>
          </a:ln>
        </p:spPr>
      </p:sp>
      <p:sp>
        <p:nvSpPr>
          <p:cNvPr id="16" name="Text 14"/>
          <p:cNvSpPr txBox="1"/>
          <p:nvPr/>
        </p:nvSpPr>
        <p:spPr>
          <a:xfrm>
            <a:off x="1307592" y="4233672"/>
            <a:ext cx="2926080" cy="347472"/>
          </a:xfrm>
          <a:prstGeom prst="rect">
            <a:avLst/>
          </a:prstGeom>
          <a:noFill/>
          <a:ln/>
        </p:spPr>
        <p:txBody>
          <a:bodyPr wrap="square" lIns="0" tIns="0" rIns="0" bIns="0" rtlCol="0" anchor="ctr"/>
          <a:lstStyle/>
          <a:p>
            <a:pPr indent="0" marL="0">
              <a:buNone/>
            </a:pPr>
            <a:r>
              <a:rPr lang="en-US" sz="1700" b="1" dirty="0">
                <a:solidFill>
                  <a:srgbClr val="16202C"/>
                </a:solidFill>
                <a:latin typeface="Calibri" pitchFamily="34" charset="0"/>
                <a:ea typeface="Calibri" pitchFamily="34" charset="-122"/>
                <a:cs typeface="Calibri" pitchFamily="34" charset="-120"/>
              </a:rPr>
              <a:t>Generalizability</a:t>
            </a:r>
            <a:endParaRPr lang="en-US" sz="1700" dirty="0"/>
          </a:p>
        </p:txBody>
      </p:sp>
      <p:sp>
        <p:nvSpPr>
          <p:cNvPr id="17" name="Text 15"/>
          <p:cNvSpPr txBox="1"/>
          <p:nvPr/>
        </p:nvSpPr>
        <p:spPr>
          <a:xfrm>
            <a:off x="4160520" y="4233672"/>
            <a:ext cx="1554480" cy="347472"/>
          </a:xfrm>
          <a:prstGeom prst="rect">
            <a:avLst/>
          </a:prstGeom>
          <a:noFill/>
          <a:ln/>
        </p:spPr>
        <p:txBody>
          <a:bodyPr wrap="square" lIns="0" tIns="0" rIns="0" bIns="0" rtlCol="0" anchor="ctr"/>
          <a:lstStyle/>
          <a:p>
            <a:pPr algn="r" indent="0" marL="0">
              <a:buNone/>
            </a:pPr>
            <a:r>
              <a:rPr lang="en-US" sz="950" i="1" dirty="0">
                <a:solidFill>
                  <a:srgbClr val="6B7280"/>
                </a:solidFill>
                <a:latin typeface="Calibri" pitchFamily="34" charset="0"/>
                <a:ea typeface="Calibri" pitchFamily="34" charset="-122"/>
                <a:cs typeface="Calibri" pitchFamily="34" charset="-120"/>
              </a:rPr>
              <a:t>Evaluated</a:t>
            </a:r>
            <a:endParaRPr lang="en-US" sz="950" dirty="0"/>
          </a:p>
        </p:txBody>
      </p:sp>
      <p:sp>
        <p:nvSpPr>
          <p:cNvPr id="18" name="Text 16"/>
          <p:cNvSpPr txBox="1"/>
          <p:nvPr/>
        </p:nvSpPr>
        <p:spPr>
          <a:xfrm>
            <a:off x="868680" y="4727448"/>
            <a:ext cx="4800600" cy="1097280"/>
          </a:xfrm>
          <a:prstGeom prst="rect">
            <a:avLst/>
          </a:prstGeom>
          <a:noFill/>
          <a:ln/>
        </p:spPr>
        <p:txBody>
          <a:bodyPr wrap="square" lIns="0" tIns="0" rIns="0" bIns="0" rtlCol="0" anchor="t"/>
          <a:lstStyle/>
          <a:p>
            <a:pPr indent="0" marL="0">
              <a:lnSpc>
                <a:spcPct val="110000"/>
              </a:lnSpc>
              <a:buNone/>
            </a:pPr>
            <a:r>
              <a:rPr lang="en-US" sz="1300" dirty="0">
                <a:solidFill>
                  <a:srgbClr val="2E4057"/>
                </a:solidFill>
                <a:latin typeface="Calibri" pitchFamily="34" charset="0"/>
                <a:ea typeface="Calibri" pitchFamily="34" charset="-122"/>
                <a:cs typeface="Calibri" pitchFamily="34" charset="-120"/>
              </a:rPr>
              <a:t>Does the pattern replicate across cultures, ages, methods, and populations — infants, blind individuals, remote societies?</a:t>
            </a:r>
            <a:endParaRPr lang="en-US" sz="1300" dirty="0"/>
          </a:p>
        </p:txBody>
      </p:sp>
      <p:sp>
        <p:nvSpPr>
          <p:cNvPr id="19" name="Shape 17"/>
          <p:cNvSpPr/>
          <p:nvPr/>
        </p:nvSpPr>
        <p:spPr>
          <a:xfrm>
            <a:off x="6245352" y="3995928"/>
            <a:ext cx="5349240" cy="2011680"/>
          </a:xfrm>
          <a:prstGeom prst="roundRect">
            <a:avLst>
              <a:gd name="adj" fmla="val 3182"/>
            </a:avLst>
          </a:prstGeom>
          <a:solidFill>
            <a:srgbClr val="F1F3F5"/>
          </a:solidFill>
          <a:ln w="12700">
            <a:solidFill>
              <a:srgbClr val="E2E6EA"/>
            </a:solidFill>
            <a:prstDash val="solid"/>
          </a:ln>
        </p:spPr>
      </p:sp>
      <p:sp>
        <p:nvSpPr>
          <p:cNvPr id="20" name="Shape 18"/>
          <p:cNvSpPr/>
          <p:nvPr/>
        </p:nvSpPr>
        <p:spPr>
          <a:xfrm>
            <a:off x="6519672" y="4251960"/>
            <a:ext cx="310896" cy="310896"/>
          </a:xfrm>
          <a:prstGeom prst="roundRect">
            <a:avLst>
              <a:gd name="adj" fmla="val 17647"/>
            </a:avLst>
          </a:prstGeom>
          <a:solidFill>
            <a:srgbClr val="2E4057"/>
          </a:solidFill>
          <a:ln w="12700">
            <a:solidFill>
              <a:srgbClr val="2E4057"/>
            </a:solidFill>
            <a:prstDash val="solid"/>
          </a:ln>
        </p:spPr>
      </p:sp>
      <p:sp>
        <p:nvSpPr>
          <p:cNvPr id="21" name="Text 19"/>
          <p:cNvSpPr txBox="1"/>
          <p:nvPr/>
        </p:nvSpPr>
        <p:spPr>
          <a:xfrm>
            <a:off x="6958584" y="4233672"/>
            <a:ext cx="2926080" cy="347472"/>
          </a:xfrm>
          <a:prstGeom prst="rect">
            <a:avLst/>
          </a:prstGeom>
          <a:noFill/>
          <a:ln/>
        </p:spPr>
        <p:txBody>
          <a:bodyPr wrap="square" lIns="0" tIns="0" rIns="0" bIns="0" rtlCol="0" anchor="ctr"/>
          <a:lstStyle/>
          <a:p>
            <a:pPr indent="0" marL="0">
              <a:buNone/>
            </a:pPr>
            <a:r>
              <a:rPr lang="en-US" sz="1700" b="1" dirty="0">
                <a:solidFill>
                  <a:srgbClr val="16202C"/>
                </a:solidFill>
                <a:latin typeface="Calibri" pitchFamily="34" charset="0"/>
                <a:ea typeface="Calibri" pitchFamily="34" charset="-122"/>
                <a:cs typeface="Calibri" pitchFamily="34" charset="-120"/>
              </a:rPr>
              <a:t>Validity</a:t>
            </a:r>
            <a:endParaRPr lang="en-US" sz="1700" dirty="0"/>
          </a:p>
        </p:txBody>
      </p:sp>
      <p:sp>
        <p:nvSpPr>
          <p:cNvPr id="22" name="Text 20"/>
          <p:cNvSpPr txBox="1"/>
          <p:nvPr/>
        </p:nvSpPr>
        <p:spPr>
          <a:xfrm>
            <a:off x="9811512" y="4233672"/>
            <a:ext cx="1554480" cy="347472"/>
          </a:xfrm>
          <a:prstGeom prst="rect">
            <a:avLst/>
          </a:prstGeom>
          <a:noFill/>
          <a:ln/>
        </p:spPr>
        <p:txBody>
          <a:bodyPr wrap="square" lIns="0" tIns="0" rIns="0" bIns="0" rtlCol="0" anchor="ctr"/>
          <a:lstStyle/>
          <a:p>
            <a:pPr algn="r" indent="0" marL="0">
              <a:buNone/>
            </a:pPr>
            <a:r>
              <a:rPr lang="en-US" sz="950" i="1" dirty="0">
                <a:solidFill>
                  <a:srgbClr val="6B7280"/>
                </a:solidFill>
                <a:latin typeface="Calibri" pitchFamily="34" charset="0"/>
                <a:ea typeface="Calibri" pitchFamily="34" charset="-122"/>
                <a:cs typeface="Calibri" pitchFamily="34" charset="-120"/>
              </a:rPr>
              <a:t>Almost never addressed</a:t>
            </a:r>
            <a:endParaRPr lang="en-US" sz="950" dirty="0"/>
          </a:p>
        </p:txBody>
      </p:sp>
      <p:sp>
        <p:nvSpPr>
          <p:cNvPr id="23" name="Text 21"/>
          <p:cNvSpPr txBox="1"/>
          <p:nvPr/>
        </p:nvSpPr>
        <p:spPr>
          <a:xfrm>
            <a:off x="6519672" y="4727448"/>
            <a:ext cx="4800600" cy="1097280"/>
          </a:xfrm>
          <a:prstGeom prst="rect">
            <a:avLst/>
          </a:prstGeom>
          <a:noFill/>
          <a:ln/>
        </p:spPr>
        <p:txBody>
          <a:bodyPr wrap="square" lIns="0" tIns="0" rIns="0" bIns="0" rtlCol="0" anchor="t"/>
          <a:lstStyle/>
          <a:p>
            <a:pPr indent="0" marL="0">
              <a:lnSpc>
                <a:spcPct val="110000"/>
              </a:lnSpc>
              <a:buNone/>
            </a:pPr>
            <a:r>
              <a:rPr lang="en-US" sz="1300" dirty="0">
                <a:solidFill>
                  <a:srgbClr val="2E4057"/>
                </a:solidFill>
                <a:latin typeface="Calibri" pitchFamily="34" charset="0"/>
                <a:ea typeface="Calibri" pitchFamily="34" charset="-122"/>
                <a:cs typeface="Calibri" pitchFamily="34" charset="-120"/>
              </a:rPr>
              <a:t>Is the person actually in the emotional state? Requires a measure of emotion independent of the face itself.</a:t>
            </a:r>
            <a:endParaRPr lang="en-US" sz="1300" dirty="0"/>
          </a:p>
        </p:txBody>
      </p:sp>
      <p:sp>
        <p:nvSpPr>
          <p:cNvPr id="24" name="Text 22"/>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Table 2; criteria adapted from Haidt &amp; Keltner (1999).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FRAMEWORK</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same criteria as a detection problem</a:t>
            </a:r>
            <a:endParaRPr lang="en-US" sz="3200" dirty="0"/>
          </a:p>
        </p:txBody>
      </p:sp>
      <p:sp>
        <p:nvSpPr>
          <p:cNvPr id="4" name="Text 2"/>
          <p:cNvSpPr txBox="1"/>
          <p:nvPr/>
        </p:nvSpPr>
        <p:spPr>
          <a:xfrm>
            <a:off x="2880360" y="2039112"/>
            <a:ext cx="3291840" cy="320040"/>
          </a:xfrm>
          <a:prstGeom prst="rect">
            <a:avLst/>
          </a:prstGeom>
          <a:noFill/>
          <a:ln/>
        </p:spPr>
        <p:txBody>
          <a:bodyPr wrap="square" lIns="0" tIns="0" rIns="0" bIns="0" rtlCol="0" anchor="ctr"/>
          <a:lstStyle/>
          <a:p>
            <a:pPr algn="ctr" indent="0" marL="0">
              <a:buNone/>
            </a:pPr>
            <a:r>
              <a:rPr lang="en-US" sz="1050" b="1" spc="100" kern="0" dirty="0">
                <a:solidFill>
                  <a:srgbClr val="2E4057"/>
                </a:solidFill>
                <a:latin typeface="Calibri" pitchFamily="34" charset="0"/>
                <a:ea typeface="Calibri" pitchFamily="34" charset="-122"/>
                <a:cs typeface="Calibri" pitchFamily="34" charset="-120"/>
              </a:rPr>
              <a:t>PERSON IS ANGRY</a:t>
            </a:r>
            <a:endParaRPr lang="en-US" sz="1050" dirty="0"/>
          </a:p>
        </p:txBody>
      </p:sp>
      <p:sp>
        <p:nvSpPr>
          <p:cNvPr id="5" name="Text 3"/>
          <p:cNvSpPr txBox="1"/>
          <p:nvPr/>
        </p:nvSpPr>
        <p:spPr>
          <a:xfrm>
            <a:off x="6336792" y="2039112"/>
            <a:ext cx="3291840" cy="320040"/>
          </a:xfrm>
          <a:prstGeom prst="rect">
            <a:avLst/>
          </a:prstGeom>
          <a:noFill/>
          <a:ln/>
        </p:spPr>
        <p:txBody>
          <a:bodyPr wrap="square" lIns="0" tIns="0" rIns="0" bIns="0" rtlCol="0" anchor="ctr"/>
          <a:lstStyle/>
          <a:p>
            <a:pPr algn="ctr" indent="0" marL="0">
              <a:buNone/>
            </a:pPr>
            <a:r>
              <a:rPr lang="en-US" sz="1050" b="1" spc="100" kern="0" dirty="0">
                <a:solidFill>
                  <a:srgbClr val="2E4057"/>
                </a:solidFill>
                <a:latin typeface="Calibri" pitchFamily="34" charset="0"/>
                <a:ea typeface="Calibri" pitchFamily="34" charset="-122"/>
                <a:cs typeface="Calibri" pitchFamily="34" charset="-120"/>
              </a:rPr>
              <a:t>PERSON IS NOT ANGRY</a:t>
            </a:r>
            <a:endParaRPr lang="en-US" sz="1050" dirty="0"/>
          </a:p>
        </p:txBody>
      </p:sp>
      <p:sp>
        <p:nvSpPr>
          <p:cNvPr id="6" name="Text 4"/>
          <p:cNvSpPr txBox="1"/>
          <p:nvPr/>
        </p:nvSpPr>
        <p:spPr>
          <a:xfrm>
            <a:off x="594360" y="2423160"/>
            <a:ext cx="2103120" cy="1234440"/>
          </a:xfrm>
          <a:prstGeom prst="rect">
            <a:avLst/>
          </a:prstGeom>
          <a:noFill/>
          <a:ln/>
        </p:spPr>
        <p:txBody>
          <a:bodyPr wrap="square" lIns="0" tIns="0" rIns="0" bIns="0" rtlCol="0" anchor="ctr"/>
          <a:lstStyle/>
          <a:p>
            <a:pPr algn="r" indent="0" marL="0">
              <a:buNone/>
            </a:pPr>
            <a:r>
              <a:rPr lang="en-US" sz="1150" b="1" dirty="0">
                <a:solidFill>
                  <a:srgbClr val="2E4057"/>
                </a:solidFill>
                <a:latin typeface="Calibri" pitchFamily="34" charset="0"/>
                <a:ea typeface="Calibri" pitchFamily="34" charset="-122"/>
                <a:cs typeface="Calibri" pitchFamily="34" charset="-120"/>
              </a:rPr>
              <a:t>SCOWL</a:t>
            </a:r>
            <a:endParaRPr lang="en-US" sz="1150" dirty="0"/>
          </a:p>
          <a:p>
            <a:pPr algn="r" indent="0" marL="0">
              <a:buNone/>
            </a:pPr>
            <a:r>
              <a:rPr lang="en-US" sz="1150" b="1" dirty="0">
                <a:solidFill>
                  <a:srgbClr val="2E4057"/>
                </a:solidFill>
                <a:latin typeface="Calibri" pitchFamily="34" charset="0"/>
                <a:ea typeface="Calibri" pitchFamily="34" charset="-122"/>
                <a:cs typeface="Calibri" pitchFamily="34" charset="-120"/>
              </a:rPr>
              <a:t>OBSERVED</a:t>
            </a:r>
            <a:endParaRPr lang="en-US" sz="1150" dirty="0"/>
          </a:p>
        </p:txBody>
      </p:sp>
      <p:sp>
        <p:nvSpPr>
          <p:cNvPr id="7" name="Text 5"/>
          <p:cNvSpPr txBox="1"/>
          <p:nvPr/>
        </p:nvSpPr>
        <p:spPr>
          <a:xfrm>
            <a:off x="594360" y="3822192"/>
            <a:ext cx="2103120" cy="1234440"/>
          </a:xfrm>
          <a:prstGeom prst="rect">
            <a:avLst/>
          </a:prstGeom>
          <a:noFill/>
          <a:ln/>
        </p:spPr>
        <p:txBody>
          <a:bodyPr wrap="square" lIns="0" tIns="0" rIns="0" bIns="0" rtlCol="0" anchor="ctr"/>
          <a:lstStyle/>
          <a:p>
            <a:pPr algn="r" indent="0" marL="0">
              <a:buNone/>
            </a:pPr>
            <a:r>
              <a:rPr lang="en-US" sz="1150" b="1" dirty="0">
                <a:solidFill>
                  <a:srgbClr val="2E4057"/>
                </a:solidFill>
                <a:latin typeface="Calibri" pitchFamily="34" charset="0"/>
                <a:ea typeface="Calibri" pitchFamily="34" charset="-122"/>
                <a:cs typeface="Calibri" pitchFamily="34" charset="-120"/>
              </a:rPr>
              <a:t>NO SCOWL</a:t>
            </a:r>
            <a:endParaRPr lang="en-US" sz="1150" dirty="0"/>
          </a:p>
          <a:p>
            <a:pPr algn="r" indent="0" marL="0">
              <a:buNone/>
            </a:pPr>
            <a:r>
              <a:rPr lang="en-US" sz="1150" b="1" dirty="0">
                <a:solidFill>
                  <a:srgbClr val="2E4057"/>
                </a:solidFill>
                <a:latin typeface="Calibri" pitchFamily="34" charset="0"/>
                <a:ea typeface="Calibri" pitchFamily="34" charset="-122"/>
                <a:cs typeface="Calibri" pitchFamily="34" charset="-120"/>
              </a:rPr>
              <a:t>OBSERVED</a:t>
            </a:r>
            <a:endParaRPr lang="en-US" sz="1150" dirty="0"/>
          </a:p>
        </p:txBody>
      </p:sp>
      <p:sp>
        <p:nvSpPr>
          <p:cNvPr id="8" name="Shape 6"/>
          <p:cNvSpPr/>
          <p:nvPr/>
        </p:nvSpPr>
        <p:spPr>
          <a:xfrm>
            <a:off x="2880360" y="2423160"/>
            <a:ext cx="3291840" cy="1234440"/>
          </a:xfrm>
          <a:prstGeom prst="roundRect">
            <a:avLst>
              <a:gd name="adj" fmla="val 4444"/>
            </a:avLst>
          </a:prstGeom>
          <a:solidFill>
            <a:srgbClr val="3D7068"/>
          </a:solidFill>
          <a:ln w="12700">
            <a:solidFill>
              <a:srgbClr val="3D7068"/>
            </a:solidFill>
            <a:prstDash val="solid"/>
          </a:ln>
        </p:spPr>
      </p:sp>
      <p:sp>
        <p:nvSpPr>
          <p:cNvPr id="9" name="Text 7"/>
          <p:cNvSpPr txBox="1"/>
          <p:nvPr/>
        </p:nvSpPr>
        <p:spPr>
          <a:xfrm>
            <a:off x="3108960" y="2606040"/>
            <a:ext cx="2834640" cy="32004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True positive</a:t>
            </a:r>
            <a:endParaRPr lang="en-US" sz="1450" dirty="0"/>
          </a:p>
        </p:txBody>
      </p:sp>
      <p:sp>
        <p:nvSpPr>
          <p:cNvPr id="10" name="Text 8"/>
          <p:cNvSpPr txBox="1"/>
          <p:nvPr/>
        </p:nvSpPr>
        <p:spPr>
          <a:xfrm>
            <a:off x="3108960" y="2990088"/>
            <a:ext cx="2834640" cy="548640"/>
          </a:xfrm>
          <a:prstGeom prst="rect">
            <a:avLst/>
          </a:prstGeom>
          <a:noFill/>
          <a:ln/>
        </p:spPr>
        <p:txBody>
          <a:bodyPr wrap="square" lIns="0" tIns="0" rIns="0" bIns="0" rtlCol="0" anchor="t"/>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Reliability lives here.</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Widely reported.</a:t>
            </a:r>
            <a:endParaRPr lang="en-US" sz="1150" dirty="0"/>
          </a:p>
        </p:txBody>
      </p:sp>
      <p:sp>
        <p:nvSpPr>
          <p:cNvPr id="11" name="Shape 9"/>
          <p:cNvSpPr/>
          <p:nvPr/>
        </p:nvSpPr>
        <p:spPr>
          <a:xfrm>
            <a:off x="6336792" y="2423160"/>
            <a:ext cx="3291840" cy="1234440"/>
          </a:xfrm>
          <a:prstGeom prst="roundRect">
            <a:avLst>
              <a:gd name="adj" fmla="val 4444"/>
            </a:avLst>
          </a:prstGeom>
          <a:solidFill>
            <a:srgbClr val="E07A5F"/>
          </a:solidFill>
          <a:ln w="12700">
            <a:solidFill>
              <a:srgbClr val="E07A5F"/>
            </a:solidFill>
            <a:prstDash val="solid"/>
          </a:ln>
        </p:spPr>
      </p:sp>
      <p:sp>
        <p:nvSpPr>
          <p:cNvPr id="12" name="Text 10"/>
          <p:cNvSpPr txBox="1"/>
          <p:nvPr/>
        </p:nvSpPr>
        <p:spPr>
          <a:xfrm>
            <a:off x="6565392" y="2606040"/>
            <a:ext cx="2834640" cy="32004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False positive</a:t>
            </a:r>
            <a:endParaRPr lang="en-US" sz="1450" dirty="0"/>
          </a:p>
        </p:txBody>
      </p:sp>
      <p:sp>
        <p:nvSpPr>
          <p:cNvPr id="13" name="Text 11"/>
          <p:cNvSpPr txBox="1"/>
          <p:nvPr/>
        </p:nvSpPr>
        <p:spPr>
          <a:xfrm>
            <a:off x="6565392" y="2990088"/>
            <a:ext cx="2834640" cy="548640"/>
          </a:xfrm>
          <a:prstGeom prst="rect">
            <a:avLst/>
          </a:prstGeom>
          <a:noFill/>
          <a:ln/>
        </p:spPr>
        <p:txBody>
          <a:bodyPr wrap="square" lIns="0" tIns="0" rIns="0" bIns="0" rtlCol="0" anchor="t"/>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Specificity lives here.</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Almost never reported.</a:t>
            </a:r>
            <a:endParaRPr lang="en-US" sz="1150" dirty="0"/>
          </a:p>
        </p:txBody>
      </p:sp>
      <p:sp>
        <p:nvSpPr>
          <p:cNvPr id="14" name="Shape 12"/>
          <p:cNvSpPr/>
          <p:nvPr/>
        </p:nvSpPr>
        <p:spPr>
          <a:xfrm>
            <a:off x="2880360" y="3822192"/>
            <a:ext cx="3291840" cy="1234440"/>
          </a:xfrm>
          <a:prstGeom prst="roundRect">
            <a:avLst>
              <a:gd name="adj" fmla="val 4444"/>
            </a:avLst>
          </a:prstGeom>
          <a:solidFill>
            <a:srgbClr val="E7EAEC"/>
          </a:solidFill>
          <a:ln w="12700">
            <a:solidFill>
              <a:srgbClr val="E7EAEC"/>
            </a:solidFill>
            <a:prstDash val="solid"/>
          </a:ln>
        </p:spPr>
      </p:sp>
      <p:sp>
        <p:nvSpPr>
          <p:cNvPr id="15" name="Text 13"/>
          <p:cNvSpPr txBox="1"/>
          <p:nvPr/>
        </p:nvSpPr>
        <p:spPr>
          <a:xfrm>
            <a:off x="3108960" y="4005072"/>
            <a:ext cx="2834640" cy="320040"/>
          </a:xfrm>
          <a:prstGeom prst="rect">
            <a:avLst/>
          </a:prstGeom>
          <a:noFill/>
          <a:ln/>
        </p:spPr>
        <p:txBody>
          <a:bodyPr wrap="square" lIns="0" tIns="0" rIns="0" bIns="0" rtlCol="0" anchor="t"/>
          <a:lstStyle/>
          <a:p>
            <a:pPr indent="0" marL="0">
              <a:buNone/>
            </a:pPr>
            <a:r>
              <a:rPr lang="en-US" sz="1450" b="1" dirty="0">
                <a:solidFill>
                  <a:srgbClr val="2E4057"/>
                </a:solidFill>
                <a:latin typeface="Calibri" pitchFamily="34" charset="0"/>
                <a:ea typeface="Calibri" pitchFamily="34" charset="-122"/>
                <a:cs typeface="Calibri" pitchFamily="34" charset="-120"/>
              </a:rPr>
              <a:t>False negative</a:t>
            </a:r>
            <a:endParaRPr lang="en-US" sz="1450" dirty="0"/>
          </a:p>
        </p:txBody>
      </p:sp>
      <p:sp>
        <p:nvSpPr>
          <p:cNvPr id="16" name="Text 14"/>
          <p:cNvSpPr txBox="1"/>
          <p:nvPr/>
        </p:nvSpPr>
        <p:spPr>
          <a:xfrm>
            <a:off x="3108960" y="4389120"/>
            <a:ext cx="2834640" cy="548640"/>
          </a:xfrm>
          <a:prstGeom prst="rect">
            <a:avLst/>
          </a:prstGeom>
          <a:noFill/>
          <a:ln/>
        </p:spPr>
        <p:txBody>
          <a:bodyPr wrap="square" lIns="0" tIns="0" rIns="0" bIns="0" rtlCol="0" anchor="t"/>
          <a:lstStyle/>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Anger expressed some</a:t>
            </a:r>
            <a:endParaRPr lang="en-US" sz="1150" dirty="0"/>
          </a:p>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other way.</a:t>
            </a:r>
            <a:endParaRPr lang="en-US" sz="1150" dirty="0"/>
          </a:p>
        </p:txBody>
      </p:sp>
      <p:sp>
        <p:nvSpPr>
          <p:cNvPr id="17" name="Shape 15"/>
          <p:cNvSpPr/>
          <p:nvPr/>
        </p:nvSpPr>
        <p:spPr>
          <a:xfrm>
            <a:off x="6336792" y="3822192"/>
            <a:ext cx="3291840" cy="1234440"/>
          </a:xfrm>
          <a:prstGeom prst="roundRect">
            <a:avLst>
              <a:gd name="adj" fmla="val 4444"/>
            </a:avLst>
          </a:prstGeom>
          <a:solidFill>
            <a:srgbClr val="E7EAEC"/>
          </a:solidFill>
          <a:ln w="12700">
            <a:solidFill>
              <a:srgbClr val="E7EAEC"/>
            </a:solidFill>
            <a:prstDash val="solid"/>
          </a:ln>
        </p:spPr>
      </p:sp>
      <p:sp>
        <p:nvSpPr>
          <p:cNvPr id="18" name="Text 16"/>
          <p:cNvSpPr txBox="1"/>
          <p:nvPr/>
        </p:nvSpPr>
        <p:spPr>
          <a:xfrm>
            <a:off x="6565392" y="4005072"/>
            <a:ext cx="2834640" cy="320040"/>
          </a:xfrm>
          <a:prstGeom prst="rect">
            <a:avLst/>
          </a:prstGeom>
          <a:noFill/>
          <a:ln/>
        </p:spPr>
        <p:txBody>
          <a:bodyPr wrap="square" lIns="0" tIns="0" rIns="0" bIns="0" rtlCol="0" anchor="t"/>
          <a:lstStyle/>
          <a:p>
            <a:pPr indent="0" marL="0">
              <a:buNone/>
            </a:pPr>
            <a:r>
              <a:rPr lang="en-US" sz="1450" b="1" dirty="0">
                <a:solidFill>
                  <a:srgbClr val="2E4057"/>
                </a:solidFill>
                <a:latin typeface="Calibri" pitchFamily="34" charset="0"/>
                <a:ea typeface="Calibri" pitchFamily="34" charset="-122"/>
                <a:cs typeface="Calibri" pitchFamily="34" charset="-120"/>
              </a:rPr>
              <a:t>True negative</a:t>
            </a:r>
            <a:endParaRPr lang="en-US" sz="1450" dirty="0"/>
          </a:p>
        </p:txBody>
      </p:sp>
      <p:sp>
        <p:nvSpPr>
          <p:cNvPr id="19" name="Text 17"/>
          <p:cNvSpPr txBox="1"/>
          <p:nvPr/>
        </p:nvSpPr>
        <p:spPr>
          <a:xfrm>
            <a:off x="6565392" y="4389120"/>
            <a:ext cx="2834640" cy="548640"/>
          </a:xfrm>
          <a:prstGeom prst="rect">
            <a:avLst/>
          </a:prstGeom>
          <a:noFill/>
          <a:ln/>
        </p:spPr>
        <p:txBody>
          <a:bodyPr wrap="square" lIns="0" tIns="0" rIns="0" bIns="0" rtlCol="0" anchor="t"/>
          <a:lstStyle/>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Correct rejection.</a:t>
            </a:r>
            <a:endParaRPr lang="en-US" sz="1150" dirty="0"/>
          </a:p>
        </p:txBody>
      </p:sp>
      <p:sp>
        <p:nvSpPr>
          <p:cNvPr id="20" name="Text 18"/>
          <p:cNvSpPr txBox="1"/>
          <p:nvPr/>
        </p:nvSpPr>
        <p:spPr>
          <a:xfrm>
            <a:off x="594360" y="5440680"/>
            <a:ext cx="11002975" cy="640080"/>
          </a:xfrm>
          <a:prstGeom prst="rect">
            <a:avLst/>
          </a:prstGeom>
          <a:noFill/>
          <a:ln/>
        </p:spPr>
        <p:txBody>
          <a:bodyPr wrap="square" lIns="0" tIns="0" rIns="0" bIns="0" rtlCol="0" anchor="ctr"/>
          <a:lstStyle/>
          <a:p>
            <a:pPr indent="0" marL="0">
              <a:buNone/>
            </a:pPr>
            <a:r>
              <a:rPr lang="en-US" sz="1450" i="1" dirty="0">
                <a:solidFill>
                  <a:srgbClr val="16202C"/>
                </a:solidFill>
                <a:latin typeface="Calibri" pitchFamily="34" charset="0"/>
                <a:ea typeface="Calibri" pitchFamily="34" charset="-122"/>
                <a:cs typeface="Calibri" pitchFamily="34" charset="-120"/>
              </a:rPr>
              <a:t>The literature has thoroughly characterised one cell of this table and largely ignored the one that determines whether the inference works.</a:t>
            </a:r>
            <a:endParaRPr lang="en-US" sz="1450" dirty="0"/>
          </a:p>
        </p:txBody>
      </p:sp>
      <p:sp>
        <p:nvSpPr>
          <p:cNvPr id="21" name="Text 19"/>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Figure 3 and Table 2, notes 8–9.</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STANDARDS</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What counts as strong evidence</a:t>
            </a:r>
            <a:endParaRPr lang="en-US" sz="3200" dirty="0"/>
          </a:p>
        </p:txBody>
      </p:sp>
      <p:sp>
        <p:nvSpPr>
          <p:cNvPr id="4" name="Shape 2"/>
          <p:cNvSpPr/>
          <p:nvPr/>
        </p:nvSpPr>
        <p:spPr>
          <a:xfrm>
            <a:off x="594360" y="1920240"/>
            <a:ext cx="2084832" cy="960120"/>
          </a:xfrm>
          <a:prstGeom prst="roundRect">
            <a:avLst>
              <a:gd name="adj" fmla="val 5714"/>
            </a:avLst>
          </a:prstGeom>
          <a:solidFill>
            <a:srgbClr val="A63D2F"/>
          </a:solidFill>
          <a:ln w="12700">
            <a:solidFill>
              <a:srgbClr val="A63D2F"/>
            </a:solidFill>
            <a:prstDash val="solid"/>
          </a:ln>
        </p:spPr>
      </p:sp>
      <p:sp>
        <p:nvSpPr>
          <p:cNvPr id="5" name="Text 3"/>
          <p:cNvSpPr txBox="1"/>
          <p:nvPr/>
        </p:nvSpPr>
        <p:spPr>
          <a:xfrm>
            <a:off x="594360" y="2029968"/>
            <a:ext cx="208483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Unsupported</a:t>
            </a:r>
            <a:endParaRPr lang="en-US" sz="1500" dirty="0"/>
          </a:p>
        </p:txBody>
      </p:sp>
      <p:sp>
        <p:nvSpPr>
          <p:cNvPr id="6" name="Text 4"/>
          <p:cNvSpPr txBox="1"/>
          <p:nvPr/>
        </p:nvSpPr>
        <p:spPr>
          <a:xfrm>
            <a:off x="594360" y="2414016"/>
            <a:ext cx="2084832" cy="347472"/>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below 20%</a:t>
            </a:r>
            <a:endParaRPr lang="en-US" sz="1250" dirty="0"/>
          </a:p>
        </p:txBody>
      </p:sp>
      <p:sp>
        <p:nvSpPr>
          <p:cNvPr id="7" name="Shape 5"/>
          <p:cNvSpPr/>
          <p:nvPr/>
        </p:nvSpPr>
        <p:spPr>
          <a:xfrm>
            <a:off x="2788920" y="1920240"/>
            <a:ext cx="2542032" cy="960120"/>
          </a:xfrm>
          <a:prstGeom prst="roundRect">
            <a:avLst>
              <a:gd name="adj" fmla="val 5714"/>
            </a:avLst>
          </a:prstGeom>
          <a:solidFill>
            <a:srgbClr val="E07A5F"/>
          </a:solidFill>
          <a:ln w="12700">
            <a:solidFill>
              <a:srgbClr val="E07A5F"/>
            </a:solidFill>
            <a:prstDash val="solid"/>
          </a:ln>
        </p:spPr>
      </p:sp>
      <p:sp>
        <p:nvSpPr>
          <p:cNvPr id="8" name="Text 6"/>
          <p:cNvSpPr txBox="1"/>
          <p:nvPr/>
        </p:nvSpPr>
        <p:spPr>
          <a:xfrm>
            <a:off x="2788920" y="2029968"/>
            <a:ext cx="254203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Weak</a:t>
            </a:r>
            <a:endParaRPr lang="en-US" sz="1500" dirty="0"/>
          </a:p>
        </p:txBody>
      </p:sp>
      <p:sp>
        <p:nvSpPr>
          <p:cNvPr id="9" name="Text 7"/>
          <p:cNvSpPr txBox="1"/>
          <p:nvPr/>
        </p:nvSpPr>
        <p:spPr>
          <a:xfrm>
            <a:off x="2788920" y="2414016"/>
            <a:ext cx="2542032" cy="347472"/>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20 – 39%</a:t>
            </a:r>
            <a:endParaRPr lang="en-US" sz="1250" dirty="0"/>
          </a:p>
        </p:txBody>
      </p:sp>
      <p:sp>
        <p:nvSpPr>
          <p:cNvPr id="10" name="Shape 8"/>
          <p:cNvSpPr/>
          <p:nvPr/>
        </p:nvSpPr>
        <p:spPr>
          <a:xfrm>
            <a:off x="5440680" y="1920240"/>
            <a:ext cx="2999232" cy="960120"/>
          </a:xfrm>
          <a:prstGeom prst="roundRect">
            <a:avLst>
              <a:gd name="adj" fmla="val 5714"/>
            </a:avLst>
          </a:prstGeom>
          <a:solidFill>
            <a:srgbClr val="D9A441"/>
          </a:solidFill>
          <a:ln w="12700">
            <a:solidFill>
              <a:srgbClr val="D9A441"/>
            </a:solidFill>
            <a:prstDash val="solid"/>
          </a:ln>
        </p:spPr>
      </p:sp>
      <p:sp>
        <p:nvSpPr>
          <p:cNvPr id="11" name="Text 9"/>
          <p:cNvSpPr txBox="1"/>
          <p:nvPr/>
        </p:nvSpPr>
        <p:spPr>
          <a:xfrm>
            <a:off x="5440680" y="2029968"/>
            <a:ext cx="2999232"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Moderate</a:t>
            </a:r>
            <a:endParaRPr lang="en-US" sz="1500" dirty="0"/>
          </a:p>
        </p:txBody>
      </p:sp>
      <p:sp>
        <p:nvSpPr>
          <p:cNvPr id="12" name="Text 10"/>
          <p:cNvSpPr txBox="1"/>
          <p:nvPr/>
        </p:nvSpPr>
        <p:spPr>
          <a:xfrm>
            <a:off x="5440680" y="2414016"/>
            <a:ext cx="2999232" cy="347472"/>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40 – 69%</a:t>
            </a:r>
            <a:endParaRPr lang="en-US" sz="1250" dirty="0"/>
          </a:p>
        </p:txBody>
      </p:sp>
      <p:sp>
        <p:nvSpPr>
          <p:cNvPr id="13" name="Shape 11"/>
          <p:cNvSpPr/>
          <p:nvPr/>
        </p:nvSpPr>
        <p:spPr>
          <a:xfrm>
            <a:off x="8549640" y="1920240"/>
            <a:ext cx="2935224" cy="960120"/>
          </a:xfrm>
          <a:prstGeom prst="roundRect">
            <a:avLst>
              <a:gd name="adj" fmla="val 5714"/>
            </a:avLst>
          </a:prstGeom>
          <a:solidFill>
            <a:srgbClr val="3D7068"/>
          </a:solidFill>
          <a:ln w="12700">
            <a:solidFill>
              <a:srgbClr val="3D7068"/>
            </a:solidFill>
            <a:prstDash val="solid"/>
          </a:ln>
        </p:spPr>
      </p:sp>
      <p:sp>
        <p:nvSpPr>
          <p:cNvPr id="14" name="Text 12"/>
          <p:cNvSpPr txBox="1"/>
          <p:nvPr/>
        </p:nvSpPr>
        <p:spPr>
          <a:xfrm>
            <a:off x="8549640" y="2029968"/>
            <a:ext cx="2935224"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Strong</a:t>
            </a:r>
            <a:endParaRPr lang="en-US" sz="1500" dirty="0"/>
          </a:p>
        </p:txBody>
      </p:sp>
      <p:sp>
        <p:nvSpPr>
          <p:cNvPr id="15" name="Text 13"/>
          <p:cNvSpPr txBox="1"/>
          <p:nvPr/>
        </p:nvSpPr>
        <p:spPr>
          <a:xfrm>
            <a:off x="8549640" y="2414016"/>
            <a:ext cx="2935224" cy="347472"/>
          </a:xfrm>
          <a:prstGeom prst="rect">
            <a:avLst/>
          </a:prstGeom>
          <a:noFill/>
          <a:ln/>
        </p:spPr>
        <p:txBody>
          <a:bodyPr wrap="square" lIns="0" tIns="0" rIns="0" bIns="0"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70 – 90%</a:t>
            </a:r>
            <a:endParaRPr lang="en-US" sz="1250" dirty="0"/>
          </a:p>
        </p:txBody>
      </p:sp>
      <p:sp>
        <p:nvSpPr>
          <p:cNvPr id="16" name="Shape 14"/>
          <p:cNvSpPr/>
          <p:nvPr/>
        </p:nvSpPr>
        <p:spPr>
          <a:xfrm>
            <a:off x="594360" y="3291840"/>
            <a:ext cx="5349240" cy="1371600"/>
          </a:xfrm>
          <a:prstGeom prst="roundRect">
            <a:avLst>
              <a:gd name="adj" fmla="val 3333"/>
            </a:avLst>
          </a:prstGeom>
          <a:solidFill>
            <a:srgbClr val="F1F3F5"/>
          </a:solidFill>
          <a:ln w="12700">
            <a:solidFill>
              <a:srgbClr val="F1F3F5"/>
            </a:solidFill>
            <a:prstDash val="solid"/>
          </a:ln>
        </p:spPr>
      </p:sp>
      <p:sp>
        <p:nvSpPr>
          <p:cNvPr id="17" name="Text 15"/>
          <p:cNvSpPr txBox="1"/>
          <p:nvPr/>
        </p:nvSpPr>
        <p:spPr>
          <a:xfrm>
            <a:off x="832104" y="3474720"/>
            <a:ext cx="48737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Where production evidence lands</a:t>
            </a:r>
            <a:endParaRPr lang="en-US" sz="1450" dirty="0"/>
          </a:p>
        </p:txBody>
      </p:sp>
      <p:sp>
        <p:nvSpPr>
          <p:cNvPr id="18" name="Text 16"/>
          <p:cNvSpPr txBox="1"/>
          <p:nvPr/>
        </p:nvSpPr>
        <p:spPr>
          <a:xfrm>
            <a:off x="832104" y="3822192"/>
            <a:ext cx="4873752" cy="658368"/>
          </a:xfrm>
          <a:prstGeom prst="rect">
            <a:avLst/>
          </a:prstGeom>
          <a:noFill/>
          <a:ln/>
        </p:spPr>
        <p:txBody>
          <a:bodyPr wrap="square" lIns="0" tIns="0" rIns="0" bIns="0" rtlCol="0" anchor="t"/>
          <a:lstStyle/>
          <a:p>
            <a:pPr indent="0" marL="0">
              <a:lnSpc>
                <a:spcPct val="108000"/>
              </a:lnSpc>
              <a:buNone/>
            </a:pPr>
            <a:r>
              <a:rPr lang="en-US" sz="1300" dirty="0">
                <a:solidFill>
                  <a:srgbClr val="2E4057"/>
                </a:solidFill>
                <a:latin typeface="Calibri" pitchFamily="34" charset="0"/>
                <a:ea typeface="Calibri" pitchFamily="34" charset="-122"/>
                <a:cs typeface="Calibri" pitchFamily="34" charset="-120"/>
              </a:rPr>
              <a:t>Spontaneous facial movement during emotional episodes sits in the weak band, and below it for infants and congenitally blind individuals.</a:t>
            </a:r>
            <a:endParaRPr lang="en-US" sz="1300" dirty="0"/>
          </a:p>
        </p:txBody>
      </p:sp>
      <p:sp>
        <p:nvSpPr>
          <p:cNvPr id="19" name="Shape 17"/>
          <p:cNvSpPr/>
          <p:nvPr/>
        </p:nvSpPr>
        <p:spPr>
          <a:xfrm>
            <a:off x="6245352" y="3291840"/>
            <a:ext cx="5349240" cy="1371600"/>
          </a:xfrm>
          <a:prstGeom prst="roundRect">
            <a:avLst>
              <a:gd name="adj" fmla="val 3333"/>
            </a:avLst>
          </a:prstGeom>
          <a:solidFill>
            <a:srgbClr val="FBEDE8"/>
          </a:solidFill>
          <a:ln w="12700">
            <a:solidFill>
              <a:srgbClr val="F0D6CC"/>
            </a:solidFill>
            <a:prstDash val="solid"/>
          </a:ln>
        </p:spPr>
      </p:sp>
      <p:sp>
        <p:nvSpPr>
          <p:cNvPr id="20" name="Text 18"/>
          <p:cNvSpPr txBox="1"/>
          <p:nvPr/>
        </p:nvSpPr>
        <p:spPr>
          <a:xfrm>
            <a:off x="6483096" y="3474720"/>
            <a:ext cx="48737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Where perception evidence lands</a:t>
            </a:r>
            <a:endParaRPr lang="en-US" sz="1450" dirty="0"/>
          </a:p>
        </p:txBody>
      </p:sp>
      <p:sp>
        <p:nvSpPr>
          <p:cNvPr id="21" name="Text 19"/>
          <p:cNvSpPr txBox="1"/>
          <p:nvPr/>
        </p:nvSpPr>
        <p:spPr>
          <a:xfrm>
            <a:off x="6483096" y="3822192"/>
            <a:ext cx="4873752" cy="658368"/>
          </a:xfrm>
          <a:prstGeom prst="rect">
            <a:avLst/>
          </a:prstGeom>
          <a:noFill/>
          <a:ln/>
        </p:spPr>
        <p:txBody>
          <a:bodyPr wrap="square" lIns="0" tIns="0" rIns="0" bIns="0" rtlCol="0" anchor="t"/>
          <a:lstStyle/>
          <a:p>
            <a:pPr indent="0" marL="0">
              <a:lnSpc>
                <a:spcPct val="108000"/>
              </a:lnSpc>
              <a:buNone/>
            </a:pPr>
            <a:r>
              <a:rPr lang="en-US" sz="1300" dirty="0">
                <a:solidFill>
                  <a:srgbClr val="2E4057"/>
                </a:solidFill>
                <a:latin typeface="Calibri" pitchFamily="34" charset="0"/>
                <a:ea typeface="Calibri" pitchFamily="34" charset="-122"/>
                <a:cs typeface="Calibri" pitchFamily="34" charset="-120"/>
              </a:rPr>
              <a:t>Strong — but only in the specific task that supplies participants with a short menu of emotion words to choose from.</a:t>
            </a:r>
            <a:endParaRPr lang="en-US" sz="1300" dirty="0"/>
          </a:p>
        </p:txBody>
      </p:sp>
      <p:sp>
        <p:nvSpPr>
          <p:cNvPr id="22" name="Shape 20"/>
          <p:cNvSpPr/>
          <p:nvPr/>
        </p:nvSpPr>
        <p:spPr>
          <a:xfrm>
            <a:off x="594360" y="4846320"/>
            <a:ext cx="11002975" cy="1234440"/>
          </a:xfrm>
          <a:prstGeom prst="roundRect">
            <a:avLst>
              <a:gd name="adj" fmla="val 5185"/>
            </a:avLst>
          </a:prstGeom>
          <a:solidFill>
            <a:srgbClr val="16202C"/>
          </a:solidFill>
          <a:ln w="12700">
            <a:solidFill>
              <a:srgbClr val="16202C"/>
            </a:solidFill>
            <a:prstDash val="solid"/>
          </a:ln>
        </p:spPr>
      </p:sp>
      <p:sp>
        <p:nvSpPr>
          <p:cNvPr id="23" name="Text 21"/>
          <p:cNvSpPr txBox="1"/>
          <p:nvPr/>
        </p:nvSpPr>
        <p:spPr>
          <a:xfrm>
            <a:off x="960120" y="5010912"/>
            <a:ext cx="10271455" cy="914400"/>
          </a:xfrm>
          <a:prstGeom prst="rect">
            <a:avLst/>
          </a:prstGeom>
          <a:noFill/>
          <a:ln/>
        </p:spPr>
        <p:txBody>
          <a:bodyPr wrap="square" lIns="0" tIns="0" rIns="0" bIns="0" rtlCol="0" anchor="ctr"/>
          <a:lstStyle/>
          <a:p>
            <a:pPr indent="0" marL="0">
              <a:lnSpc>
                <a:spcPct val="112000"/>
              </a:lnSpc>
              <a:buNone/>
            </a:pPr>
            <a:r>
              <a:rPr lang="en-US" sz="1450" dirty="0">
                <a:solidFill>
                  <a:srgbClr val="FFFFFF"/>
                </a:solidFill>
                <a:latin typeface="Calibri" pitchFamily="34" charset="0"/>
                <a:ea typeface="Calibri" pitchFamily="34" charset="-122"/>
                <a:cs typeface="Calibri" pitchFamily="34" charset="-120"/>
              </a:rPr>
              <a:t>A correlation of r ≈ .20–.39 means a person sometimes scowls in anger — not most of the time. Weak reliability is itself evidence that unmeasured factors are driving the face. The authors call those factors context.</a:t>
            </a:r>
            <a:endParaRPr lang="en-US" sz="1450" dirty="0"/>
          </a:p>
        </p:txBody>
      </p:sp>
      <p:sp>
        <p:nvSpPr>
          <p:cNvPr id="24" name="Text 22"/>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Table 2; thresholds from Haidt &amp; Keltner (1999), Ekman (1994), Russell (1994).</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ALTERNATIVE HYPOTHESIS</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What "context" actually stands for</a:t>
            </a:r>
            <a:endParaRPr lang="en-US" sz="3200" dirty="0"/>
          </a:p>
        </p:txBody>
      </p:sp>
      <p:sp>
        <p:nvSpPr>
          <p:cNvPr id="4" name="Text 2"/>
          <p:cNvSpPr txBox="1"/>
          <p:nvPr/>
        </p:nvSpPr>
        <p:spPr>
          <a:xfrm>
            <a:off x="594360" y="1783080"/>
            <a:ext cx="11002975" cy="548640"/>
          </a:xfrm>
          <a:prstGeom prst="rect">
            <a:avLst/>
          </a:prstGeom>
          <a:noFill/>
          <a:ln/>
        </p:spPr>
        <p:txBody>
          <a:bodyPr wrap="square" lIns="0" tIns="0" rIns="0" bIns="0" rtlCol="0" anchor="ctr"/>
          <a:lstStyle/>
          <a:p>
            <a:pPr indent="0" marL="0">
              <a:lnSpc>
                <a:spcPct val="110000"/>
              </a:lnSpc>
              <a:buNone/>
            </a:pPr>
            <a:r>
              <a:rPr lang="en-US" sz="1500" dirty="0">
                <a:solidFill>
                  <a:srgbClr val="2E4057"/>
                </a:solidFill>
                <a:latin typeface="Calibri" pitchFamily="34" charset="0"/>
                <a:ea typeface="Calibri" pitchFamily="34" charset="-122"/>
                <a:cs typeface="Calibri" pitchFamily="34" charset="-120"/>
              </a:rPr>
              <a:t>Most studies test the common view against chance. Very few test it against a specific alternative — that facial movements are systematically shaped by measurable factors.</a:t>
            </a:r>
            <a:endParaRPr lang="en-US" sz="1500" dirty="0"/>
          </a:p>
        </p:txBody>
      </p:sp>
      <p:sp>
        <p:nvSpPr>
          <p:cNvPr id="5" name="Shape 3"/>
          <p:cNvSpPr/>
          <p:nvPr/>
        </p:nvSpPr>
        <p:spPr>
          <a:xfrm>
            <a:off x="594360" y="2514600"/>
            <a:ext cx="3520440" cy="1051560"/>
          </a:xfrm>
          <a:prstGeom prst="roundRect">
            <a:avLst>
              <a:gd name="adj" fmla="val 5217"/>
            </a:avLst>
          </a:prstGeom>
          <a:solidFill>
            <a:srgbClr val="F1F3F5"/>
          </a:solidFill>
          <a:ln w="12700">
            <a:solidFill>
              <a:srgbClr val="E2E6EA"/>
            </a:solidFill>
            <a:prstDash val="solid"/>
          </a:ln>
        </p:spPr>
      </p:sp>
      <p:sp>
        <p:nvSpPr>
          <p:cNvPr id="6" name="Text 4"/>
          <p:cNvSpPr txBox="1"/>
          <p:nvPr/>
        </p:nvSpPr>
        <p:spPr>
          <a:xfrm>
            <a:off x="822960" y="2679192"/>
            <a:ext cx="3063240" cy="292608"/>
          </a:xfrm>
          <a:prstGeom prst="rect">
            <a:avLst/>
          </a:prstGeom>
          <a:noFill/>
          <a:ln/>
        </p:spPr>
        <p:txBody>
          <a:bodyPr wrap="square" lIns="0" tIns="0" rIns="0" bIns="0" rtlCol="0" anchor="t"/>
          <a:lstStyle/>
          <a:p>
            <a:pPr indent="0" marL="0">
              <a:buNone/>
            </a:pPr>
            <a:r>
              <a:rPr lang="en-US" sz="1400" b="1" dirty="0">
                <a:solidFill>
                  <a:srgbClr val="E07A5F"/>
                </a:solidFill>
                <a:latin typeface="Calibri" pitchFamily="34" charset="0"/>
                <a:ea typeface="Calibri" pitchFamily="34" charset="-122"/>
                <a:cs typeface="Calibri" pitchFamily="34" charset="-120"/>
              </a:rPr>
              <a:t>Situational</a:t>
            </a:r>
            <a:endParaRPr lang="en-US" sz="1400" dirty="0"/>
          </a:p>
        </p:txBody>
      </p:sp>
      <p:sp>
        <p:nvSpPr>
          <p:cNvPr id="7" name="Text 5"/>
          <p:cNvSpPr txBox="1"/>
          <p:nvPr/>
        </p:nvSpPr>
        <p:spPr>
          <a:xfrm>
            <a:off x="822960" y="3017520"/>
            <a:ext cx="3063240" cy="457200"/>
          </a:xfrm>
          <a:prstGeom prst="rect">
            <a:avLst/>
          </a:prstGeom>
          <a:noFill/>
          <a:ln/>
        </p:spPr>
        <p:txBody>
          <a:bodyPr wrap="square" lIns="0" tIns="0" rIns="0" bIns="0" rtlCol="0" anchor="t"/>
          <a:lstStyle/>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At work, at school, at home; what the situation affords</a:t>
            </a:r>
            <a:endParaRPr lang="en-US" sz="1150" dirty="0"/>
          </a:p>
        </p:txBody>
      </p:sp>
      <p:sp>
        <p:nvSpPr>
          <p:cNvPr id="8" name="Shape 6"/>
          <p:cNvSpPr/>
          <p:nvPr/>
        </p:nvSpPr>
        <p:spPr>
          <a:xfrm>
            <a:off x="4334256" y="2514600"/>
            <a:ext cx="3520440" cy="1051560"/>
          </a:xfrm>
          <a:prstGeom prst="roundRect">
            <a:avLst>
              <a:gd name="adj" fmla="val 5217"/>
            </a:avLst>
          </a:prstGeom>
          <a:solidFill>
            <a:srgbClr val="F1F3F5"/>
          </a:solidFill>
          <a:ln w="12700">
            <a:solidFill>
              <a:srgbClr val="E2E6EA"/>
            </a:solidFill>
            <a:prstDash val="solid"/>
          </a:ln>
        </p:spPr>
      </p:sp>
      <p:sp>
        <p:nvSpPr>
          <p:cNvPr id="9" name="Text 7"/>
          <p:cNvSpPr txBox="1"/>
          <p:nvPr/>
        </p:nvSpPr>
        <p:spPr>
          <a:xfrm>
            <a:off x="4562856" y="2679192"/>
            <a:ext cx="3063240" cy="292608"/>
          </a:xfrm>
          <a:prstGeom prst="rect">
            <a:avLst/>
          </a:prstGeom>
          <a:noFill/>
          <a:ln/>
        </p:spPr>
        <p:txBody>
          <a:bodyPr wrap="square" lIns="0" tIns="0" rIns="0" bIns="0" rtlCol="0" anchor="t"/>
          <a:lstStyle/>
          <a:p>
            <a:pPr indent="0" marL="0">
              <a:buNone/>
            </a:pPr>
            <a:r>
              <a:rPr lang="en-US" sz="1400" b="1" dirty="0">
                <a:solidFill>
                  <a:srgbClr val="E07A5F"/>
                </a:solidFill>
                <a:latin typeface="Calibri" pitchFamily="34" charset="0"/>
                <a:ea typeface="Calibri" pitchFamily="34" charset="-122"/>
                <a:cs typeface="Calibri" pitchFamily="34" charset="-120"/>
              </a:rPr>
              <a:t>Social</a:t>
            </a:r>
            <a:endParaRPr lang="en-US" sz="1400" dirty="0"/>
          </a:p>
        </p:txBody>
      </p:sp>
      <p:sp>
        <p:nvSpPr>
          <p:cNvPr id="10" name="Text 8"/>
          <p:cNvSpPr txBox="1"/>
          <p:nvPr/>
        </p:nvSpPr>
        <p:spPr>
          <a:xfrm>
            <a:off x="4562856" y="3017520"/>
            <a:ext cx="3063240" cy="457200"/>
          </a:xfrm>
          <a:prstGeom prst="rect">
            <a:avLst/>
          </a:prstGeom>
          <a:noFill/>
          <a:ln/>
        </p:spPr>
        <p:txBody>
          <a:bodyPr wrap="square" lIns="0" tIns="0" rIns="0" bIns="0" rtlCol="0" anchor="t"/>
          <a:lstStyle/>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Who else is present, and the relationship to them</a:t>
            </a:r>
            <a:endParaRPr lang="en-US" sz="1150" dirty="0"/>
          </a:p>
        </p:txBody>
      </p:sp>
      <p:sp>
        <p:nvSpPr>
          <p:cNvPr id="11" name="Shape 9"/>
          <p:cNvSpPr/>
          <p:nvPr/>
        </p:nvSpPr>
        <p:spPr>
          <a:xfrm>
            <a:off x="8074152" y="2514600"/>
            <a:ext cx="3520440" cy="1051560"/>
          </a:xfrm>
          <a:prstGeom prst="roundRect">
            <a:avLst>
              <a:gd name="adj" fmla="val 5217"/>
            </a:avLst>
          </a:prstGeom>
          <a:solidFill>
            <a:srgbClr val="F1F3F5"/>
          </a:solidFill>
          <a:ln w="12700">
            <a:solidFill>
              <a:srgbClr val="E2E6EA"/>
            </a:solidFill>
            <a:prstDash val="solid"/>
          </a:ln>
        </p:spPr>
      </p:sp>
      <p:sp>
        <p:nvSpPr>
          <p:cNvPr id="12" name="Text 10"/>
          <p:cNvSpPr txBox="1"/>
          <p:nvPr/>
        </p:nvSpPr>
        <p:spPr>
          <a:xfrm>
            <a:off x="8302752" y="2679192"/>
            <a:ext cx="3063240" cy="292608"/>
          </a:xfrm>
          <a:prstGeom prst="rect">
            <a:avLst/>
          </a:prstGeom>
          <a:noFill/>
          <a:ln/>
        </p:spPr>
        <p:txBody>
          <a:bodyPr wrap="square" lIns="0" tIns="0" rIns="0" bIns="0" rtlCol="0" anchor="t"/>
          <a:lstStyle/>
          <a:p>
            <a:pPr indent="0" marL="0">
              <a:buNone/>
            </a:pPr>
            <a:r>
              <a:rPr lang="en-US" sz="1400" b="1" dirty="0">
                <a:solidFill>
                  <a:srgbClr val="E07A5F"/>
                </a:solidFill>
                <a:latin typeface="Calibri" pitchFamily="34" charset="0"/>
                <a:ea typeface="Calibri" pitchFamily="34" charset="-122"/>
                <a:cs typeface="Calibri" pitchFamily="34" charset="-120"/>
              </a:rPr>
              <a:t>Internal physical</a:t>
            </a:r>
            <a:endParaRPr lang="en-US" sz="1400" dirty="0"/>
          </a:p>
        </p:txBody>
      </p:sp>
      <p:sp>
        <p:nvSpPr>
          <p:cNvPr id="13" name="Text 11"/>
          <p:cNvSpPr txBox="1"/>
          <p:nvPr/>
        </p:nvSpPr>
        <p:spPr>
          <a:xfrm>
            <a:off x="8302752" y="3017520"/>
            <a:ext cx="3063240" cy="457200"/>
          </a:xfrm>
          <a:prstGeom prst="rect">
            <a:avLst/>
          </a:prstGeom>
          <a:noFill/>
          <a:ln/>
        </p:spPr>
        <p:txBody>
          <a:bodyPr wrap="square" lIns="0" tIns="0" rIns="0" bIns="0" rtlCol="0" anchor="t"/>
          <a:lstStyle/>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Metabolic state, fatigue, hunger, illness</a:t>
            </a:r>
            <a:endParaRPr lang="en-US" sz="1150" dirty="0"/>
          </a:p>
        </p:txBody>
      </p:sp>
      <p:sp>
        <p:nvSpPr>
          <p:cNvPr id="14" name="Shape 12"/>
          <p:cNvSpPr/>
          <p:nvPr/>
        </p:nvSpPr>
        <p:spPr>
          <a:xfrm>
            <a:off x="594360" y="3721608"/>
            <a:ext cx="3520440" cy="1051560"/>
          </a:xfrm>
          <a:prstGeom prst="roundRect">
            <a:avLst>
              <a:gd name="adj" fmla="val 5217"/>
            </a:avLst>
          </a:prstGeom>
          <a:solidFill>
            <a:srgbClr val="F1F3F5"/>
          </a:solidFill>
          <a:ln w="12700">
            <a:solidFill>
              <a:srgbClr val="E2E6EA"/>
            </a:solidFill>
            <a:prstDash val="solid"/>
          </a:ln>
        </p:spPr>
      </p:sp>
      <p:sp>
        <p:nvSpPr>
          <p:cNvPr id="15" name="Text 13"/>
          <p:cNvSpPr txBox="1"/>
          <p:nvPr/>
        </p:nvSpPr>
        <p:spPr>
          <a:xfrm>
            <a:off x="822960" y="3886200"/>
            <a:ext cx="3063240" cy="292608"/>
          </a:xfrm>
          <a:prstGeom prst="rect">
            <a:avLst/>
          </a:prstGeom>
          <a:noFill/>
          <a:ln/>
        </p:spPr>
        <p:txBody>
          <a:bodyPr wrap="square" lIns="0" tIns="0" rIns="0" bIns="0" rtlCol="0" anchor="t"/>
          <a:lstStyle/>
          <a:p>
            <a:pPr indent="0" marL="0">
              <a:buNone/>
            </a:pPr>
            <a:r>
              <a:rPr lang="en-US" sz="1400" b="1" dirty="0">
                <a:solidFill>
                  <a:srgbClr val="E07A5F"/>
                </a:solidFill>
                <a:latin typeface="Calibri" pitchFamily="34" charset="0"/>
                <a:ea typeface="Calibri" pitchFamily="34" charset="-122"/>
                <a:cs typeface="Calibri" pitchFamily="34" charset="-120"/>
              </a:rPr>
              <a:t>Internal mental</a:t>
            </a:r>
            <a:endParaRPr lang="en-US" sz="1400" dirty="0"/>
          </a:p>
        </p:txBody>
      </p:sp>
      <p:sp>
        <p:nvSpPr>
          <p:cNvPr id="16" name="Text 14"/>
          <p:cNvSpPr txBox="1"/>
          <p:nvPr/>
        </p:nvSpPr>
        <p:spPr>
          <a:xfrm>
            <a:off x="822960" y="4224528"/>
            <a:ext cx="3063240" cy="457200"/>
          </a:xfrm>
          <a:prstGeom prst="rect">
            <a:avLst/>
          </a:prstGeom>
          <a:noFill/>
          <a:ln/>
        </p:spPr>
        <p:txBody>
          <a:bodyPr wrap="square" lIns="0" tIns="0" rIns="0" bIns="0" rtlCol="0" anchor="t"/>
          <a:lstStyle/>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What is remembered, expected, appraised</a:t>
            </a:r>
            <a:endParaRPr lang="en-US" sz="1150" dirty="0"/>
          </a:p>
        </p:txBody>
      </p:sp>
      <p:sp>
        <p:nvSpPr>
          <p:cNvPr id="17" name="Shape 15"/>
          <p:cNvSpPr/>
          <p:nvPr/>
        </p:nvSpPr>
        <p:spPr>
          <a:xfrm>
            <a:off x="4334256" y="3721608"/>
            <a:ext cx="3520440" cy="1051560"/>
          </a:xfrm>
          <a:prstGeom prst="roundRect">
            <a:avLst>
              <a:gd name="adj" fmla="val 5217"/>
            </a:avLst>
          </a:prstGeom>
          <a:solidFill>
            <a:srgbClr val="F1F3F5"/>
          </a:solidFill>
          <a:ln w="12700">
            <a:solidFill>
              <a:srgbClr val="E2E6EA"/>
            </a:solidFill>
            <a:prstDash val="solid"/>
          </a:ln>
        </p:spPr>
      </p:sp>
      <p:sp>
        <p:nvSpPr>
          <p:cNvPr id="18" name="Text 16"/>
          <p:cNvSpPr txBox="1"/>
          <p:nvPr/>
        </p:nvSpPr>
        <p:spPr>
          <a:xfrm>
            <a:off x="4562856" y="3886200"/>
            <a:ext cx="3063240" cy="292608"/>
          </a:xfrm>
          <a:prstGeom prst="rect">
            <a:avLst/>
          </a:prstGeom>
          <a:noFill/>
          <a:ln/>
        </p:spPr>
        <p:txBody>
          <a:bodyPr wrap="square" lIns="0" tIns="0" rIns="0" bIns="0" rtlCol="0" anchor="t"/>
          <a:lstStyle/>
          <a:p>
            <a:pPr indent="0" marL="0">
              <a:buNone/>
            </a:pPr>
            <a:r>
              <a:rPr lang="en-US" sz="1400" b="1" dirty="0">
                <a:solidFill>
                  <a:srgbClr val="E07A5F"/>
                </a:solidFill>
                <a:latin typeface="Calibri" pitchFamily="34" charset="0"/>
                <a:ea typeface="Calibri" pitchFamily="34" charset="-122"/>
                <a:cs typeface="Calibri" pitchFamily="34" charset="-120"/>
              </a:rPr>
              <a:t>Temporal</a:t>
            </a:r>
            <a:endParaRPr lang="en-US" sz="1400" dirty="0"/>
          </a:p>
        </p:txBody>
      </p:sp>
      <p:sp>
        <p:nvSpPr>
          <p:cNvPr id="19" name="Text 17"/>
          <p:cNvSpPr txBox="1"/>
          <p:nvPr/>
        </p:nvSpPr>
        <p:spPr>
          <a:xfrm>
            <a:off x="4562856" y="4224528"/>
            <a:ext cx="3063240" cy="457200"/>
          </a:xfrm>
          <a:prstGeom prst="rect">
            <a:avLst/>
          </a:prstGeom>
          <a:noFill/>
          <a:ln/>
        </p:spPr>
        <p:txBody>
          <a:bodyPr wrap="square" lIns="0" tIns="0" rIns="0" bIns="0" rtlCol="0" anchor="t"/>
          <a:lstStyle/>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What happened a moment ago; where in the episode</a:t>
            </a:r>
            <a:endParaRPr lang="en-US" sz="1150" dirty="0"/>
          </a:p>
        </p:txBody>
      </p:sp>
      <p:sp>
        <p:nvSpPr>
          <p:cNvPr id="20" name="Shape 18"/>
          <p:cNvSpPr/>
          <p:nvPr/>
        </p:nvSpPr>
        <p:spPr>
          <a:xfrm>
            <a:off x="8074152" y="3721608"/>
            <a:ext cx="3520440" cy="1051560"/>
          </a:xfrm>
          <a:prstGeom prst="roundRect">
            <a:avLst>
              <a:gd name="adj" fmla="val 5217"/>
            </a:avLst>
          </a:prstGeom>
          <a:solidFill>
            <a:srgbClr val="F1F3F5"/>
          </a:solidFill>
          <a:ln w="12700">
            <a:solidFill>
              <a:srgbClr val="E2E6EA"/>
            </a:solidFill>
            <a:prstDash val="solid"/>
          </a:ln>
        </p:spPr>
      </p:sp>
      <p:sp>
        <p:nvSpPr>
          <p:cNvPr id="21" name="Text 19"/>
          <p:cNvSpPr txBox="1"/>
          <p:nvPr/>
        </p:nvSpPr>
        <p:spPr>
          <a:xfrm>
            <a:off x="8302752" y="3886200"/>
            <a:ext cx="3063240" cy="292608"/>
          </a:xfrm>
          <a:prstGeom prst="rect">
            <a:avLst/>
          </a:prstGeom>
          <a:noFill/>
          <a:ln/>
        </p:spPr>
        <p:txBody>
          <a:bodyPr wrap="square" lIns="0" tIns="0" rIns="0" bIns="0" rtlCol="0" anchor="t"/>
          <a:lstStyle/>
          <a:p>
            <a:pPr indent="0" marL="0">
              <a:buNone/>
            </a:pPr>
            <a:r>
              <a:rPr lang="en-US" sz="1400" b="1" dirty="0">
                <a:solidFill>
                  <a:srgbClr val="E07A5F"/>
                </a:solidFill>
                <a:latin typeface="Calibri" pitchFamily="34" charset="0"/>
                <a:ea typeface="Calibri" pitchFamily="34" charset="-122"/>
                <a:cs typeface="Calibri" pitchFamily="34" charset="-120"/>
              </a:rPr>
              <a:t>Cultural</a:t>
            </a:r>
            <a:endParaRPr lang="en-US" sz="1400" dirty="0"/>
          </a:p>
        </p:txBody>
      </p:sp>
      <p:sp>
        <p:nvSpPr>
          <p:cNvPr id="22" name="Text 20"/>
          <p:cNvSpPr txBox="1"/>
          <p:nvPr/>
        </p:nvSpPr>
        <p:spPr>
          <a:xfrm>
            <a:off x="8302752" y="4224528"/>
            <a:ext cx="3063240" cy="457200"/>
          </a:xfrm>
          <a:prstGeom prst="rect">
            <a:avLst/>
          </a:prstGeom>
          <a:noFill/>
          <a:ln/>
        </p:spPr>
        <p:txBody>
          <a:bodyPr wrap="square" lIns="0" tIns="0" rIns="0" bIns="0" rtlCol="0" anchor="t"/>
          <a:lstStyle/>
          <a:p>
            <a:pPr indent="0" marL="0">
              <a:lnSpc>
                <a:spcPct val="105000"/>
              </a:lnSpc>
              <a:buNone/>
            </a:pPr>
            <a:r>
              <a:rPr lang="en-US" sz="1150" dirty="0">
                <a:solidFill>
                  <a:srgbClr val="2E4057"/>
                </a:solidFill>
                <a:latin typeface="Calibri" pitchFamily="34" charset="0"/>
                <a:ea typeface="Calibri" pitchFamily="34" charset="-122"/>
                <a:cs typeface="Calibri" pitchFamily="34" charset="-120"/>
              </a:rPr>
              <a:t>Individualist or collectivist, open or rule-bound</a:t>
            </a:r>
            <a:endParaRPr lang="en-US" sz="1150" dirty="0"/>
          </a:p>
        </p:txBody>
      </p:sp>
      <p:sp>
        <p:nvSpPr>
          <p:cNvPr id="23" name="Text 21"/>
          <p:cNvSpPr txBox="1"/>
          <p:nvPr/>
        </p:nvSpPr>
        <p:spPr>
          <a:xfrm>
            <a:off x="594360" y="5166360"/>
            <a:ext cx="11002975" cy="640080"/>
          </a:xfrm>
          <a:prstGeom prst="rect">
            <a:avLst/>
          </a:prstGeom>
          <a:noFill/>
          <a:ln/>
        </p:spPr>
        <p:txBody>
          <a:bodyPr wrap="square" lIns="0" tIns="0" rIns="0" bIns="0" rtlCol="0" anchor="ctr"/>
          <a:lstStyle/>
          <a:p>
            <a:pPr indent="0" marL="0">
              <a:buNone/>
            </a:pPr>
            <a:r>
              <a:rPr lang="en-US" sz="1450" i="1" dirty="0">
                <a:solidFill>
                  <a:srgbClr val="16202C"/>
                </a:solidFill>
                <a:latin typeface="Calibri" pitchFamily="34" charset="0"/>
                <a:ea typeface="Calibri" pitchFamily="34" charset="-122"/>
                <a:cs typeface="Calibri" pitchFamily="34" charset="-120"/>
              </a:rPr>
              <a:t>When context is studied at all, it is usually cast as a moderator of a universal expression — which preserves the assumption rather than testing it.</a:t>
            </a:r>
            <a:endParaRPr lang="en-US" sz="1450" dirty="0"/>
          </a:p>
        </p:txBody>
      </p:sp>
      <p:sp>
        <p:nvSpPr>
          <p:cNvPr id="24" name="Text 22"/>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"The Null Hypothesis and the Role of Context"; Boxes 2–3, SOM.</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2331720"/>
            <a:ext cx="960120" cy="960120"/>
          </a:xfrm>
          <a:prstGeom prst="roundRect">
            <a:avLst>
              <a:gd name="adj" fmla="val 13333"/>
            </a:avLst>
          </a:prstGeom>
          <a:solidFill>
            <a:srgbClr val="E07A5F"/>
          </a:solidFill>
          <a:ln w="12700">
            <a:solidFill>
              <a:srgbClr val="E07A5F"/>
            </a:solidFill>
            <a:prstDash val="solid"/>
          </a:ln>
        </p:spPr>
      </p:sp>
      <p:sp>
        <p:nvSpPr>
          <p:cNvPr id="3" name="Text 1"/>
          <p:cNvSpPr txBox="1"/>
          <p:nvPr/>
        </p:nvSpPr>
        <p:spPr>
          <a:xfrm>
            <a:off x="594360" y="2331720"/>
            <a:ext cx="960120" cy="960120"/>
          </a:xfrm>
          <a:prstGeom prst="rect">
            <a:avLst/>
          </a:prstGeom>
          <a:noFill/>
          <a:ln/>
        </p:spPr>
        <p:txBody>
          <a:bodyPr wrap="square" lIns="0" tIns="0" rIns="0" bIns="0" rtlCol="0" anchor="ctr"/>
          <a:lstStyle/>
          <a:p>
            <a:pPr algn="ctr" indent="0" marL="0">
              <a:buNone/>
            </a:pPr>
            <a:r>
              <a:rPr lang="en-US" sz="4000" b="1" dirty="0">
                <a:solidFill>
                  <a:srgbClr val="16202C"/>
                </a:solidFill>
                <a:latin typeface="Cambria" pitchFamily="34" charset="0"/>
                <a:ea typeface="Cambria" pitchFamily="34" charset="-122"/>
                <a:cs typeface="Cambria" pitchFamily="34" charset="-120"/>
              </a:rPr>
              <a:t>2</a:t>
            </a:r>
            <a:endParaRPr lang="en-US" sz="4000" dirty="0"/>
          </a:p>
        </p:txBody>
      </p:sp>
      <p:sp>
        <p:nvSpPr>
          <p:cNvPr id="4" name="Text 2"/>
          <p:cNvSpPr txBox="1"/>
          <p:nvPr/>
        </p:nvSpPr>
        <p:spPr>
          <a:xfrm>
            <a:off x="1965960" y="2331720"/>
            <a:ext cx="9631375"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Measurement</a:t>
            </a:r>
            <a:endParaRPr lang="en-US" sz="3800" dirty="0"/>
          </a:p>
        </p:txBody>
      </p:sp>
      <p:sp>
        <p:nvSpPr>
          <p:cNvPr id="5" name="Text 3"/>
          <p:cNvSpPr txBox="1"/>
          <p:nvPr/>
        </p:nvSpPr>
        <p:spPr>
          <a:xfrm>
            <a:off x="1965960" y="3035808"/>
            <a:ext cx="9631375" cy="365760"/>
          </a:xfrm>
          <a:prstGeom prst="rect">
            <a:avLst/>
          </a:prstGeom>
          <a:noFill/>
          <a:ln/>
        </p:spPr>
        <p:txBody>
          <a:bodyPr wrap="square" lIns="0" tIns="0" rIns="0" bIns="0" rtlCol="0" anchor="t"/>
          <a:lstStyle/>
          <a:p>
            <a:pPr indent="0" marL="0">
              <a:buNone/>
            </a:pPr>
            <a:r>
              <a:rPr lang="en-US" sz="1500" dirty="0">
                <a:solidFill>
                  <a:srgbClr val="9AA3AE"/>
                </a:solidFill>
                <a:latin typeface="Calibri" pitchFamily="34" charset="0"/>
                <a:ea typeface="Calibri" pitchFamily="34" charset="-122"/>
                <a:cs typeface="Calibri" pitchFamily="34" charset="-120"/>
              </a:rPr>
              <a:t>FACS, automated coding, and the ground truth problem</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INSTRUMENTATION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FACS: the measurement layer everything rests on</a:t>
            </a:r>
            <a:endParaRPr lang="en-US" sz="3200" dirty="0"/>
          </a:p>
        </p:txBody>
      </p:sp>
      <p:sp>
        <p:nvSpPr>
          <p:cNvPr id="4" name="Text 2"/>
          <p:cNvSpPr txBox="1"/>
          <p:nvPr/>
        </p:nvSpPr>
        <p:spPr>
          <a:xfrm>
            <a:off x="594360" y="1783080"/>
            <a:ext cx="5760720" cy="2286000"/>
          </a:xfrm>
          <a:prstGeom prst="rect">
            <a:avLst/>
          </a:prstGeom>
          <a:noFill/>
          <a:ln/>
        </p:spPr>
        <p:txBody>
          <a:bodyPr wrap="square" lIns="0" tIns="0" rIns="0" bIns="0" rtlCol="0" anchor="ctr"/>
          <a:lstStyle/>
          <a:p>
            <a:pPr marL="342900" indent="-342900">
              <a:lnSpc>
                <a:spcPct val="110000"/>
              </a:lnSpc>
              <a:spcAft>
                <a:spcPts val="1000"/>
              </a:spcAft>
              <a:buSzPct val="100000"/>
              <a:buChar char="▪"/>
            </a:pPr>
            <a:r>
              <a:rPr lang="en-US" sz="1400" dirty="0">
                <a:solidFill>
                  <a:srgbClr val="2E4057"/>
                </a:solidFill>
                <a:latin typeface="Calibri" pitchFamily="34" charset="0"/>
                <a:ea typeface="Calibri" pitchFamily="34" charset="-122"/>
                <a:cs typeface="Calibri" pitchFamily="34" charset="-120"/>
              </a:rPr>
              <a:t>Anatomically grounded: action units map to muscle contractions, not to emotion labels</a:t>
            </a:r>
            <a:endParaRPr lang="en-US" sz="1400" dirty="0"/>
          </a:p>
          <a:p>
            <a:pPr marL="342900" indent="-342900">
              <a:lnSpc>
                <a:spcPct val="110000"/>
              </a:lnSpc>
              <a:spcAft>
                <a:spcPts val="1000"/>
              </a:spcAft>
              <a:buSzPct val="100000"/>
              <a:buChar char="▪"/>
            </a:pPr>
            <a:r>
              <a:rPr lang="en-US" sz="1400" dirty="0">
                <a:solidFill>
                  <a:srgbClr val="2E4057"/>
                </a:solidFill>
                <a:latin typeface="Calibri" pitchFamily="34" charset="0"/>
                <a:ea typeface="Calibri" pitchFamily="34" charset="-122"/>
                <a:cs typeface="Calibri" pitchFamily="34" charset="-120"/>
              </a:rPr>
              <a:t>Expert human coders reach inter-rater reliability near .80 for individual AUs</a:t>
            </a:r>
            <a:endParaRPr lang="en-US" sz="1400" dirty="0"/>
          </a:p>
          <a:p>
            <a:pPr marL="342900" indent="-342900">
              <a:lnSpc>
                <a:spcPct val="110000"/>
              </a:lnSpc>
              <a:spcAft>
                <a:spcPts val="1000"/>
              </a:spcAft>
              <a:buSzPct val="100000"/>
              <a:buChar char="▪"/>
            </a:pPr>
            <a:r>
              <a:rPr lang="en-US" sz="1400" dirty="0">
                <a:solidFill>
                  <a:srgbClr val="2E4057"/>
                </a:solidFill>
                <a:latin typeface="Calibri" pitchFamily="34" charset="0"/>
                <a:ea typeface="Calibri" pitchFamily="34" charset="-122"/>
                <a:cs typeface="Calibri" pitchFamily="34" charset="-120"/>
              </a:rPr>
              <a:t>Descriptive by design — Rosenberg and others prefer "facial events" precisely because most facial behaviour expresses no internal state</a:t>
            </a:r>
            <a:endParaRPr lang="en-US" sz="1400" dirty="0"/>
          </a:p>
        </p:txBody>
      </p:sp>
      <p:sp>
        <p:nvSpPr>
          <p:cNvPr id="5" name="Shape 3"/>
          <p:cNvSpPr/>
          <p:nvPr/>
        </p:nvSpPr>
        <p:spPr>
          <a:xfrm>
            <a:off x="594360" y="4297680"/>
            <a:ext cx="5760720" cy="1554480"/>
          </a:xfrm>
          <a:prstGeom prst="roundRect">
            <a:avLst>
              <a:gd name="adj" fmla="val 4118"/>
            </a:avLst>
          </a:prstGeom>
          <a:solidFill>
            <a:srgbClr val="FBEDE8"/>
          </a:solidFill>
          <a:ln w="12700">
            <a:solidFill>
              <a:srgbClr val="F0D6CC"/>
            </a:solidFill>
            <a:prstDash val="solid"/>
          </a:ln>
        </p:spPr>
      </p:sp>
      <p:sp>
        <p:nvSpPr>
          <p:cNvPr id="6" name="Text 4"/>
          <p:cNvSpPr txBox="1"/>
          <p:nvPr/>
        </p:nvSpPr>
        <p:spPr>
          <a:xfrm>
            <a:off x="886968" y="4480560"/>
            <a:ext cx="5175504" cy="1188720"/>
          </a:xfrm>
          <a:prstGeom prst="rect">
            <a:avLst/>
          </a:prstGeom>
          <a:noFill/>
          <a:ln/>
        </p:spPr>
        <p:txBody>
          <a:bodyPr wrap="square" lIns="0" tIns="0" rIns="0" bIns="0" rtlCol="0" anchor="ctr"/>
          <a:lstStyle/>
          <a:p>
            <a:pPr indent="0" marL="0">
              <a:lnSpc>
                <a:spcPct val="112000"/>
              </a:lnSpc>
              <a:buNone/>
            </a:pPr>
            <a:r>
              <a:rPr lang="en-US" sz="1400" dirty="0">
                <a:solidFill>
                  <a:srgbClr val="16202C"/>
                </a:solidFill>
                <a:latin typeface="Calibri" pitchFamily="34" charset="0"/>
                <a:ea typeface="Calibri" pitchFamily="34" charset="-122"/>
                <a:cs typeface="Calibri" pitchFamily="34" charset="-120"/>
              </a:rPr>
              <a:t>The slippage happens one level up: AUs are anatomical, but the configurations assembled from them are then named as emotions. FACS itself makes no such claim.</a:t>
            </a:r>
            <a:endParaRPr lang="en-US" sz="1400" dirty="0"/>
          </a:p>
        </p:txBody>
      </p:sp>
      <p:sp>
        <p:nvSpPr>
          <p:cNvPr id="7" name="Text 5"/>
          <p:cNvSpPr txBox="1"/>
          <p:nvPr/>
        </p:nvSpPr>
        <p:spPr>
          <a:xfrm>
            <a:off x="6720840" y="1783080"/>
            <a:ext cx="4846320" cy="274320"/>
          </a:xfrm>
          <a:prstGeom prst="rect">
            <a:avLst/>
          </a:prstGeom>
          <a:noFill/>
          <a:ln/>
        </p:spPr>
        <p:txBody>
          <a:bodyPr wrap="square" lIns="0" tIns="0" rIns="0" bIns="0" rtlCol="0" anchor="ctr"/>
          <a:lstStyle/>
          <a:p>
            <a:pPr indent="0" marL="0">
              <a:buNone/>
            </a:pPr>
            <a:r>
              <a:rPr lang="en-US" sz="1050" b="1" spc="130" kern="0" dirty="0">
                <a:solidFill>
                  <a:srgbClr val="6B7280"/>
                </a:solidFill>
                <a:latin typeface="Calibri" pitchFamily="34" charset="0"/>
                <a:ea typeface="Calibri" pitchFamily="34" charset="-122"/>
                <a:cs typeface="Calibri" pitchFamily="34" charset="-120"/>
              </a:rPr>
              <a:t>A FEW ACTION UNITS</a:t>
            </a:r>
            <a:endParaRPr lang="en-US" sz="1050" dirty="0"/>
          </a:p>
        </p:txBody>
      </p:sp>
      <p:sp>
        <p:nvSpPr>
          <p:cNvPr id="8" name="Shape 6"/>
          <p:cNvSpPr/>
          <p:nvPr/>
        </p:nvSpPr>
        <p:spPr>
          <a:xfrm>
            <a:off x="6720840" y="2176272"/>
            <a:ext cx="4846320" cy="713232"/>
          </a:xfrm>
          <a:prstGeom prst="roundRect">
            <a:avLst>
              <a:gd name="adj" fmla="val 6410"/>
            </a:avLst>
          </a:prstGeom>
          <a:solidFill>
            <a:srgbClr val="F1F3F5"/>
          </a:solidFill>
          <a:ln w="12700">
            <a:solidFill>
              <a:srgbClr val="E2E6EA"/>
            </a:solidFill>
            <a:prstDash val="solid"/>
          </a:ln>
        </p:spPr>
      </p:sp>
      <p:sp>
        <p:nvSpPr>
          <p:cNvPr id="9" name="Text 7"/>
          <p:cNvSpPr txBox="1"/>
          <p:nvPr/>
        </p:nvSpPr>
        <p:spPr>
          <a:xfrm>
            <a:off x="6903720" y="2176272"/>
            <a:ext cx="73152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AU 4</a:t>
            </a:r>
            <a:endParaRPr lang="en-US" sz="1300" dirty="0"/>
          </a:p>
        </p:txBody>
      </p:sp>
      <p:sp>
        <p:nvSpPr>
          <p:cNvPr id="10" name="Text 8"/>
          <p:cNvSpPr txBox="1"/>
          <p:nvPr/>
        </p:nvSpPr>
        <p:spPr>
          <a:xfrm>
            <a:off x="7635240" y="2267712"/>
            <a:ext cx="1828800" cy="292608"/>
          </a:xfrm>
          <a:prstGeom prst="rect">
            <a:avLst/>
          </a:prstGeom>
          <a:noFill/>
          <a:ln/>
        </p:spPr>
        <p:txBody>
          <a:bodyPr wrap="square" lIns="0" tIns="0" rIns="0" bIns="0" rtlCol="0" anchor="ctr"/>
          <a:lstStyle/>
          <a:p>
            <a:pPr indent="0" marL="0">
              <a:buNone/>
            </a:pPr>
            <a:r>
              <a:rPr lang="en-US" sz="1200" b="1" dirty="0">
                <a:solidFill>
                  <a:srgbClr val="16202C"/>
                </a:solidFill>
                <a:latin typeface="Calibri" pitchFamily="34" charset="0"/>
                <a:ea typeface="Calibri" pitchFamily="34" charset="-122"/>
                <a:cs typeface="Calibri" pitchFamily="34" charset="-120"/>
              </a:rPr>
              <a:t>Brow lowerer</a:t>
            </a:r>
            <a:endParaRPr lang="en-US" sz="1200" dirty="0"/>
          </a:p>
        </p:txBody>
      </p:sp>
      <p:sp>
        <p:nvSpPr>
          <p:cNvPr id="11" name="Text 9"/>
          <p:cNvSpPr txBox="1"/>
          <p:nvPr/>
        </p:nvSpPr>
        <p:spPr>
          <a:xfrm>
            <a:off x="7635240" y="2542032"/>
            <a:ext cx="37490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Corrugator supercilii</a:t>
            </a:r>
            <a:endParaRPr lang="en-US" sz="1000" dirty="0"/>
          </a:p>
        </p:txBody>
      </p:sp>
      <p:sp>
        <p:nvSpPr>
          <p:cNvPr id="12" name="Shape 10"/>
          <p:cNvSpPr/>
          <p:nvPr/>
        </p:nvSpPr>
        <p:spPr>
          <a:xfrm>
            <a:off x="6720840" y="2962656"/>
            <a:ext cx="4846320" cy="713232"/>
          </a:xfrm>
          <a:prstGeom prst="roundRect">
            <a:avLst>
              <a:gd name="adj" fmla="val 6410"/>
            </a:avLst>
          </a:prstGeom>
          <a:solidFill>
            <a:srgbClr val="F1F3F5"/>
          </a:solidFill>
          <a:ln w="12700">
            <a:solidFill>
              <a:srgbClr val="E2E6EA"/>
            </a:solidFill>
            <a:prstDash val="solid"/>
          </a:ln>
        </p:spPr>
      </p:sp>
      <p:sp>
        <p:nvSpPr>
          <p:cNvPr id="13" name="Text 11"/>
          <p:cNvSpPr txBox="1"/>
          <p:nvPr/>
        </p:nvSpPr>
        <p:spPr>
          <a:xfrm>
            <a:off x="6903720" y="2962656"/>
            <a:ext cx="73152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AU 6</a:t>
            </a:r>
            <a:endParaRPr lang="en-US" sz="1300" dirty="0"/>
          </a:p>
        </p:txBody>
      </p:sp>
      <p:sp>
        <p:nvSpPr>
          <p:cNvPr id="14" name="Text 12"/>
          <p:cNvSpPr txBox="1"/>
          <p:nvPr/>
        </p:nvSpPr>
        <p:spPr>
          <a:xfrm>
            <a:off x="7635240" y="3054096"/>
            <a:ext cx="1828800" cy="292608"/>
          </a:xfrm>
          <a:prstGeom prst="rect">
            <a:avLst/>
          </a:prstGeom>
          <a:noFill/>
          <a:ln/>
        </p:spPr>
        <p:txBody>
          <a:bodyPr wrap="square" lIns="0" tIns="0" rIns="0" bIns="0" rtlCol="0" anchor="ctr"/>
          <a:lstStyle/>
          <a:p>
            <a:pPr indent="0" marL="0">
              <a:buNone/>
            </a:pPr>
            <a:r>
              <a:rPr lang="en-US" sz="1200" b="1" dirty="0">
                <a:solidFill>
                  <a:srgbClr val="16202C"/>
                </a:solidFill>
                <a:latin typeface="Calibri" pitchFamily="34" charset="0"/>
                <a:ea typeface="Calibri" pitchFamily="34" charset="-122"/>
                <a:cs typeface="Calibri" pitchFamily="34" charset="-120"/>
              </a:rPr>
              <a:t>Cheek raiser</a:t>
            </a:r>
            <a:endParaRPr lang="en-US" sz="1200" dirty="0"/>
          </a:p>
        </p:txBody>
      </p:sp>
      <p:sp>
        <p:nvSpPr>
          <p:cNvPr id="15" name="Text 13"/>
          <p:cNvSpPr txBox="1"/>
          <p:nvPr/>
        </p:nvSpPr>
        <p:spPr>
          <a:xfrm>
            <a:off x="7635240" y="3328416"/>
            <a:ext cx="37490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Orbicularis oculi (orbitalis)</a:t>
            </a:r>
            <a:endParaRPr lang="en-US" sz="1000" dirty="0"/>
          </a:p>
        </p:txBody>
      </p:sp>
      <p:sp>
        <p:nvSpPr>
          <p:cNvPr id="16" name="Shape 14"/>
          <p:cNvSpPr/>
          <p:nvPr/>
        </p:nvSpPr>
        <p:spPr>
          <a:xfrm>
            <a:off x="6720840" y="3749040"/>
            <a:ext cx="4846320" cy="713232"/>
          </a:xfrm>
          <a:prstGeom prst="roundRect">
            <a:avLst>
              <a:gd name="adj" fmla="val 6410"/>
            </a:avLst>
          </a:prstGeom>
          <a:solidFill>
            <a:srgbClr val="F1F3F5"/>
          </a:solidFill>
          <a:ln w="12700">
            <a:solidFill>
              <a:srgbClr val="E2E6EA"/>
            </a:solidFill>
            <a:prstDash val="solid"/>
          </a:ln>
        </p:spPr>
      </p:sp>
      <p:sp>
        <p:nvSpPr>
          <p:cNvPr id="17" name="Text 15"/>
          <p:cNvSpPr txBox="1"/>
          <p:nvPr/>
        </p:nvSpPr>
        <p:spPr>
          <a:xfrm>
            <a:off x="6903720" y="3749040"/>
            <a:ext cx="73152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AU 9</a:t>
            </a:r>
            <a:endParaRPr lang="en-US" sz="1300" dirty="0"/>
          </a:p>
        </p:txBody>
      </p:sp>
      <p:sp>
        <p:nvSpPr>
          <p:cNvPr id="18" name="Text 16"/>
          <p:cNvSpPr txBox="1"/>
          <p:nvPr/>
        </p:nvSpPr>
        <p:spPr>
          <a:xfrm>
            <a:off x="7635240" y="3840480"/>
            <a:ext cx="1828800" cy="292608"/>
          </a:xfrm>
          <a:prstGeom prst="rect">
            <a:avLst/>
          </a:prstGeom>
          <a:noFill/>
          <a:ln/>
        </p:spPr>
        <p:txBody>
          <a:bodyPr wrap="square" lIns="0" tIns="0" rIns="0" bIns="0" rtlCol="0" anchor="ctr"/>
          <a:lstStyle/>
          <a:p>
            <a:pPr indent="0" marL="0">
              <a:buNone/>
            </a:pPr>
            <a:r>
              <a:rPr lang="en-US" sz="1200" b="1" dirty="0">
                <a:solidFill>
                  <a:srgbClr val="16202C"/>
                </a:solidFill>
                <a:latin typeface="Calibri" pitchFamily="34" charset="0"/>
                <a:ea typeface="Calibri" pitchFamily="34" charset="-122"/>
                <a:cs typeface="Calibri" pitchFamily="34" charset="-120"/>
              </a:rPr>
              <a:t>Nose wrinkle</a:t>
            </a:r>
            <a:endParaRPr lang="en-US" sz="1200" dirty="0"/>
          </a:p>
        </p:txBody>
      </p:sp>
      <p:sp>
        <p:nvSpPr>
          <p:cNvPr id="19" name="Text 17"/>
          <p:cNvSpPr txBox="1"/>
          <p:nvPr/>
        </p:nvSpPr>
        <p:spPr>
          <a:xfrm>
            <a:off x="7635240" y="4114800"/>
            <a:ext cx="37490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Levator labii sup. alaquae nasi</a:t>
            </a:r>
            <a:endParaRPr lang="en-US" sz="1000" dirty="0"/>
          </a:p>
        </p:txBody>
      </p:sp>
      <p:sp>
        <p:nvSpPr>
          <p:cNvPr id="20" name="Shape 18"/>
          <p:cNvSpPr/>
          <p:nvPr/>
        </p:nvSpPr>
        <p:spPr>
          <a:xfrm>
            <a:off x="6720840" y="4535424"/>
            <a:ext cx="4846320" cy="713232"/>
          </a:xfrm>
          <a:prstGeom prst="roundRect">
            <a:avLst>
              <a:gd name="adj" fmla="val 6410"/>
            </a:avLst>
          </a:prstGeom>
          <a:solidFill>
            <a:srgbClr val="F1F3F5"/>
          </a:solidFill>
          <a:ln w="12700">
            <a:solidFill>
              <a:srgbClr val="E2E6EA"/>
            </a:solidFill>
            <a:prstDash val="solid"/>
          </a:ln>
        </p:spPr>
      </p:sp>
      <p:sp>
        <p:nvSpPr>
          <p:cNvPr id="21" name="Text 19"/>
          <p:cNvSpPr txBox="1"/>
          <p:nvPr/>
        </p:nvSpPr>
        <p:spPr>
          <a:xfrm>
            <a:off x="6903720" y="4535424"/>
            <a:ext cx="73152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AU 12</a:t>
            </a:r>
            <a:endParaRPr lang="en-US" sz="1300" dirty="0"/>
          </a:p>
        </p:txBody>
      </p:sp>
      <p:sp>
        <p:nvSpPr>
          <p:cNvPr id="22" name="Text 20"/>
          <p:cNvSpPr txBox="1"/>
          <p:nvPr/>
        </p:nvSpPr>
        <p:spPr>
          <a:xfrm>
            <a:off x="7635240" y="4626864"/>
            <a:ext cx="1828800" cy="292608"/>
          </a:xfrm>
          <a:prstGeom prst="rect">
            <a:avLst/>
          </a:prstGeom>
          <a:noFill/>
          <a:ln/>
        </p:spPr>
        <p:txBody>
          <a:bodyPr wrap="square" lIns="0" tIns="0" rIns="0" bIns="0" rtlCol="0" anchor="ctr"/>
          <a:lstStyle/>
          <a:p>
            <a:pPr indent="0" marL="0">
              <a:buNone/>
            </a:pPr>
            <a:r>
              <a:rPr lang="en-US" sz="1200" b="1" dirty="0">
                <a:solidFill>
                  <a:srgbClr val="16202C"/>
                </a:solidFill>
                <a:latin typeface="Calibri" pitchFamily="34" charset="0"/>
                <a:ea typeface="Calibri" pitchFamily="34" charset="-122"/>
                <a:cs typeface="Calibri" pitchFamily="34" charset="-120"/>
              </a:rPr>
              <a:t>Lip corner puller</a:t>
            </a:r>
            <a:endParaRPr lang="en-US" sz="1200" dirty="0"/>
          </a:p>
        </p:txBody>
      </p:sp>
      <p:sp>
        <p:nvSpPr>
          <p:cNvPr id="23" name="Text 21"/>
          <p:cNvSpPr txBox="1"/>
          <p:nvPr/>
        </p:nvSpPr>
        <p:spPr>
          <a:xfrm>
            <a:off x="7635240" y="4901184"/>
            <a:ext cx="37490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Zygomaticus major</a:t>
            </a:r>
            <a:endParaRPr lang="en-US" sz="1000" dirty="0"/>
          </a:p>
        </p:txBody>
      </p:sp>
      <p:sp>
        <p:nvSpPr>
          <p:cNvPr id="24" name="Shape 22"/>
          <p:cNvSpPr/>
          <p:nvPr/>
        </p:nvSpPr>
        <p:spPr>
          <a:xfrm>
            <a:off x="6720840" y="5321808"/>
            <a:ext cx="4846320" cy="713232"/>
          </a:xfrm>
          <a:prstGeom prst="roundRect">
            <a:avLst>
              <a:gd name="adj" fmla="val 6410"/>
            </a:avLst>
          </a:prstGeom>
          <a:solidFill>
            <a:srgbClr val="F1F3F5"/>
          </a:solidFill>
          <a:ln w="12700">
            <a:solidFill>
              <a:srgbClr val="E2E6EA"/>
            </a:solidFill>
            <a:prstDash val="solid"/>
          </a:ln>
        </p:spPr>
      </p:sp>
      <p:sp>
        <p:nvSpPr>
          <p:cNvPr id="25" name="Text 23"/>
          <p:cNvSpPr txBox="1"/>
          <p:nvPr/>
        </p:nvSpPr>
        <p:spPr>
          <a:xfrm>
            <a:off x="6903720" y="5321808"/>
            <a:ext cx="73152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AU 15</a:t>
            </a:r>
            <a:endParaRPr lang="en-US" sz="1300" dirty="0"/>
          </a:p>
        </p:txBody>
      </p:sp>
      <p:sp>
        <p:nvSpPr>
          <p:cNvPr id="26" name="Text 24"/>
          <p:cNvSpPr txBox="1"/>
          <p:nvPr/>
        </p:nvSpPr>
        <p:spPr>
          <a:xfrm>
            <a:off x="7635240" y="5413248"/>
            <a:ext cx="1828800" cy="292608"/>
          </a:xfrm>
          <a:prstGeom prst="rect">
            <a:avLst/>
          </a:prstGeom>
          <a:noFill/>
          <a:ln/>
        </p:spPr>
        <p:txBody>
          <a:bodyPr wrap="square" lIns="0" tIns="0" rIns="0" bIns="0" rtlCol="0" anchor="ctr"/>
          <a:lstStyle/>
          <a:p>
            <a:pPr indent="0" marL="0">
              <a:buNone/>
            </a:pPr>
            <a:r>
              <a:rPr lang="en-US" sz="1200" b="1" dirty="0">
                <a:solidFill>
                  <a:srgbClr val="16202C"/>
                </a:solidFill>
                <a:latin typeface="Calibri" pitchFamily="34" charset="0"/>
                <a:ea typeface="Calibri" pitchFamily="34" charset="-122"/>
                <a:cs typeface="Calibri" pitchFamily="34" charset="-120"/>
              </a:rPr>
              <a:t>Lip corner depressor</a:t>
            </a:r>
            <a:endParaRPr lang="en-US" sz="1200" dirty="0"/>
          </a:p>
        </p:txBody>
      </p:sp>
      <p:sp>
        <p:nvSpPr>
          <p:cNvPr id="27" name="Text 25"/>
          <p:cNvSpPr txBox="1"/>
          <p:nvPr/>
        </p:nvSpPr>
        <p:spPr>
          <a:xfrm>
            <a:off x="7635240" y="5687568"/>
            <a:ext cx="3749040" cy="27432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Depressor anguli oris</a:t>
            </a:r>
            <a:endParaRPr lang="en-US" sz="1000" dirty="0"/>
          </a:p>
        </p:txBody>
      </p:sp>
      <p:sp>
        <p:nvSpPr>
          <p:cNvPr id="28" name="Text 26"/>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Table 3 and "Measuring facial movements"; Ekman &amp; Friesen (1978); Jeni, Cohn &amp; De la Torre (2013).</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AUTOMATION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Automated AU coding: the drop from lab to world</a:t>
            </a:r>
            <a:endParaRPr lang="en-US" sz="3200" dirty="0"/>
          </a:p>
        </p:txBody>
      </p:sp>
      <p:graphicFrame>
        <p:nvGraphicFramePr>
          <p:cNvPr id="4" name="Chart 0" descr=""/>
          <p:cNvGraphicFramePr/>
          <p:nvPr/>
        </p:nvGraphicFramePr>
        <p:xfrm>
          <a:off x="594360" y="17830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635240" y="1783080"/>
            <a:ext cx="3959352" cy="1600200"/>
          </a:xfrm>
          <a:prstGeom prst="roundRect">
            <a:avLst>
              <a:gd name="adj" fmla="val 2857"/>
            </a:avLst>
          </a:prstGeom>
          <a:solidFill>
            <a:srgbClr val="FBEDE8"/>
          </a:solidFill>
          <a:ln w="12700">
            <a:solidFill>
              <a:srgbClr val="F0D6CC"/>
            </a:solidFill>
            <a:prstDash val="solid"/>
          </a:ln>
        </p:spPr>
      </p:sp>
      <p:sp>
        <p:nvSpPr>
          <p:cNvPr id="6" name="Text 3"/>
          <p:cNvSpPr txBox="1"/>
          <p:nvPr/>
        </p:nvSpPr>
        <p:spPr>
          <a:xfrm>
            <a:off x="7872984" y="1965960"/>
            <a:ext cx="348386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F1 below .65</a:t>
            </a:r>
            <a:endParaRPr lang="en-US" sz="1450" dirty="0"/>
          </a:p>
        </p:txBody>
      </p:sp>
      <p:sp>
        <p:nvSpPr>
          <p:cNvPr id="7" name="Text 4"/>
          <p:cNvSpPr txBox="1"/>
          <p:nvPr/>
        </p:nvSpPr>
        <p:spPr>
          <a:xfrm>
            <a:off x="7872984" y="2313432"/>
            <a:ext cx="3483864" cy="88696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In the challenge, the combined precision-and-recall measure fell below .65 on unconstrained images.</a:t>
            </a:r>
            <a:endParaRPr lang="en-US" sz="1250" dirty="0"/>
          </a:p>
        </p:txBody>
      </p:sp>
      <p:sp>
        <p:nvSpPr>
          <p:cNvPr id="8" name="Shape 5"/>
          <p:cNvSpPr/>
          <p:nvPr/>
        </p:nvSpPr>
        <p:spPr>
          <a:xfrm>
            <a:off x="7635240" y="3566160"/>
            <a:ext cx="3959352" cy="1280160"/>
          </a:xfrm>
          <a:prstGeom prst="roundRect">
            <a:avLst>
              <a:gd name="adj" fmla="val 3571"/>
            </a:avLst>
          </a:prstGeom>
          <a:solidFill>
            <a:srgbClr val="F1F3F5"/>
          </a:solidFill>
          <a:ln w="12700">
            <a:solidFill>
              <a:srgbClr val="F1F3F5"/>
            </a:solidFill>
            <a:prstDash val="solid"/>
          </a:ln>
        </p:spPr>
      </p:sp>
      <p:sp>
        <p:nvSpPr>
          <p:cNvPr id="9" name="Text 6"/>
          <p:cNvSpPr txBox="1"/>
          <p:nvPr/>
        </p:nvSpPr>
        <p:spPr>
          <a:xfrm>
            <a:off x="7872984" y="3749040"/>
            <a:ext cx="348386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38 entered, 4 finished</a:t>
            </a:r>
            <a:endParaRPr lang="en-US" sz="1450" dirty="0"/>
          </a:p>
        </p:txBody>
      </p:sp>
      <p:sp>
        <p:nvSpPr>
          <p:cNvPr id="10" name="Text 7"/>
          <p:cNvSpPr txBox="1"/>
          <p:nvPr/>
        </p:nvSpPr>
        <p:spPr>
          <a:xfrm>
            <a:off x="7872984" y="4096512"/>
            <a:ext cx="3483864" cy="56692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Thirty-eight groups declared for the 2017 challenge, trained on one million images. Four submitted results.</a:t>
            </a:r>
            <a:endParaRPr lang="en-US" sz="1250" dirty="0"/>
          </a:p>
        </p:txBody>
      </p:sp>
      <p:sp>
        <p:nvSpPr>
          <p:cNvPr id="11" name="Shape 8"/>
          <p:cNvSpPr/>
          <p:nvPr/>
        </p:nvSpPr>
        <p:spPr>
          <a:xfrm>
            <a:off x="7635240" y="5029200"/>
            <a:ext cx="3959352" cy="1143000"/>
          </a:xfrm>
          <a:prstGeom prst="roundRect">
            <a:avLst>
              <a:gd name="adj" fmla="val 4000"/>
            </a:avLst>
          </a:prstGeom>
          <a:solidFill>
            <a:srgbClr val="F1F3F5"/>
          </a:solidFill>
          <a:ln w="12700">
            <a:solidFill>
              <a:srgbClr val="F1F3F5"/>
            </a:solidFill>
            <a:prstDash val="solid"/>
          </a:ln>
        </p:spPr>
      </p:sp>
      <p:sp>
        <p:nvSpPr>
          <p:cNvPr id="12" name="Text 9"/>
          <p:cNvSpPr txBox="1"/>
          <p:nvPr/>
        </p:nvSpPr>
        <p:spPr>
          <a:xfrm>
            <a:off x="7872984" y="5212080"/>
            <a:ext cx="348386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The ceiling is soft</a:t>
            </a:r>
            <a:endParaRPr lang="en-US" sz="1450" dirty="0"/>
          </a:p>
        </p:txBody>
      </p:sp>
      <p:sp>
        <p:nvSpPr>
          <p:cNvPr id="13" name="Text 10"/>
          <p:cNvSpPr txBox="1"/>
          <p:nvPr/>
        </p:nvSpPr>
        <p:spPr>
          <a:xfrm>
            <a:off x="7872984" y="5559552"/>
            <a:ext cx="3483864" cy="42976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Manual verification of the reference images was itself estimated at around 81%.</a:t>
            </a:r>
            <a:endParaRPr lang="en-US" sz="1250" dirty="0"/>
          </a:p>
        </p:txBody>
      </p:sp>
      <p:sp>
        <p:nvSpPr>
          <p:cNvPr id="14" name="Text 11"/>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"Measuring facial movements with automated algorithms"; Benitez-Quiroz et al. (2016, 2017a); note 17.</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VALIDITY</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ground truth problem</a:t>
            </a:r>
            <a:endParaRPr lang="en-US" sz="3200" dirty="0"/>
          </a:p>
        </p:txBody>
      </p:sp>
      <p:sp>
        <p:nvSpPr>
          <p:cNvPr id="4" name="Text 2"/>
          <p:cNvSpPr txBox="1"/>
          <p:nvPr/>
        </p:nvSpPr>
        <p:spPr>
          <a:xfrm>
            <a:off x="594360" y="1783080"/>
            <a:ext cx="11002975" cy="411480"/>
          </a:xfrm>
          <a:prstGeom prst="rect">
            <a:avLst/>
          </a:prstGeom>
          <a:noFill/>
          <a:ln/>
        </p:spPr>
        <p:txBody>
          <a:bodyPr wrap="square" lIns="0" tIns="0" rIns="0" bIns="0" rtlCol="0" anchor="ctr"/>
          <a:lstStyle/>
          <a:p>
            <a:pPr indent="0" marL="0">
              <a:buNone/>
            </a:pPr>
            <a:r>
              <a:rPr lang="en-US" sz="1600" b="1" dirty="0">
                <a:solidFill>
                  <a:srgbClr val="16202C"/>
                </a:solidFill>
                <a:latin typeface="Calibri" pitchFamily="34" charset="0"/>
                <a:ea typeface="Calibri" pitchFamily="34" charset="-122"/>
                <a:cs typeface="Calibri" pitchFamily="34" charset="-120"/>
              </a:rPr>
              <a:t>Suppose AU detection were perfect. You would still need to know what the person actually felt.</a:t>
            </a:r>
            <a:endParaRPr lang="en-US" sz="1600" dirty="0"/>
          </a:p>
        </p:txBody>
      </p:sp>
      <p:sp>
        <p:nvSpPr>
          <p:cNvPr id="5" name="Shape 3"/>
          <p:cNvSpPr/>
          <p:nvPr/>
        </p:nvSpPr>
        <p:spPr>
          <a:xfrm>
            <a:off x="594360" y="2304288"/>
            <a:ext cx="11002975" cy="877824"/>
          </a:xfrm>
          <a:prstGeom prst="roundRect">
            <a:avLst>
              <a:gd name="adj" fmla="val 5208"/>
            </a:avLst>
          </a:prstGeom>
          <a:solidFill>
            <a:srgbClr val="F1F3F5"/>
          </a:solidFill>
          <a:ln w="12700">
            <a:solidFill>
              <a:srgbClr val="E2E6EA"/>
            </a:solidFill>
            <a:prstDash val="solid"/>
          </a:ln>
        </p:spPr>
      </p:sp>
      <p:sp>
        <p:nvSpPr>
          <p:cNvPr id="6" name="Text 4"/>
          <p:cNvSpPr txBox="1"/>
          <p:nvPr/>
        </p:nvSpPr>
        <p:spPr>
          <a:xfrm>
            <a:off x="850392" y="2423160"/>
            <a:ext cx="2834640" cy="301752"/>
          </a:xfrm>
          <a:prstGeom prst="rect">
            <a:avLst/>
          </a:prstGeom>
          <a:noFill/>
          <a:ln/>
        </p:spPr>
        <p:txBody>
          <a:bodyPr wrap="square" lIns="0" tIns="0" rIns="0" bIns="0" rtlCol="0" anchor="ctr"/>
          <a:lstStyle/>
          <a:p>
            <a:pPr indent="0" marL="0">
              <a:buNone/>
            </a:pPr>
            <a:r>
              <a:rPr lang="en-US" sz="1350" b="1" dirty="0">
                <a:solidFill>
                  <a:srgbClr val="16202C"/>
                </a:solidFill>
                <a:latin typeface="Calibri" pitchFamily="34" charset="0"/>
                <a:ea typeface="Calibri" pitchFamily="34" charset="-122"/>
                <a:cs typeface="Calibri" pitchFamily="34" charset="-120"/>
              </a:rPr>
              <a:t>Autonomic physiology</a:t>
            </a:r>
            <a:endParaRPr lang="en-US" sz="1350" dirty="0"/>
          </a:p>
        </p:txBody>
      </p:sp>
      <p:sp>
        <p:nvSpPr>
          <p:cNvPr id="7" name="Text 5"/>
          <p:cNvSpPr txBox="1"/>
          <p:nvPr/>
        </p:nvSpPr>
        <p:spPr>
          <a:xfrm>
            <a:off x="850392" y="2724912"/>
            <a:ext cx="2834640" cy="29260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Heart rate, skin conductance, respiration</a:t>
            </a:r>
            <a:endParaRPr lang="en-US" sz="1050" dirty="0"/>
          </a:p>
        </p:txBody>
      </p:sp>
      <p:sp>
        <p:nvSpPr>
          <p:cNvPr id="8" name="Text 6"/>
          <p:cNvSpPr txBox="1"/>
          <p:nvPr/>
        </p:nvSpPr>
        <p:spPr>
          <a:xfrm>
            <a:off x="3886200" y="2414016"/>
            <a:ext cx="7391095" cy="676656"/>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Meta-analyses find no consistent, category-specific autonomic signature. In anger, blood pressure can rise, fall, or hold steady — and a rise is not unique to anger.</a:t>
            </a:r>
            <a:endParaRPr lang="en-US" sz="1200" dirty="0"/>
          </a:p>
        </p:txBody>
      </p:sp>
      <p:sp>
        <p:nvSpPr>
          <p:cNvPr id="9" name="Shape 7"/>
          <p:cNvSpPr/>
          <p:nvPr/>
        </p:nvSpPr>
        <p:spPr>
          <a:xfrm>
            <a:off x="594360" y="3273552"/>
            <a:ext cx="11002975" cy="877824"/>
          </a:xfrm>
          <a:prstGeom prst="roundRect">
            <a:avLst>
              <a:gd name="adj" fmla="val 5208"/>
            </a:avLst>
          </a:prstGeom>
          <a:solidFill>
            <a:srgbClr val="F1F3F5"/>
          </a:solidFill>
          <a:ln w="12700">
            <a:solidFill>
              <a:srgbClr val="E2E6EA"/>
            </a:solidFill>
            <a:prstDash val="solid"/>
          </a:ln>
        </p:spPr>
      </p:sp>
      <p:sp>
        <p:nvSpPr>
          <p:cNvPr id="10" name="Text 8"/>
          <p:cNvSpPr txBox="1"/>
          <p:nvPr/>
        </p:nvSpPr>
        <p:spPr>
          <a:xfrm>
            <a:off x="850392" y="3392424"/>
            <a:ext cx="2834640" cy="301752"/>
          </a:xfrm>
          <a:prstGeom prst="rect">
            <a:avLst/>
          </a:prstGeom>
          <a:noFill/>
          <a:ln/>
        </p:spPr>
        <p:txBody>
          <a:bodyPr wrap="square" lIns="0" tIns="0" rIns="0" bIns="0" rtlCol="0" anchor="ctr"/>
          <a:lstStyle/>
          <a:p>
            <a:pPr indent="0" marL="0">
              <a:buNone/>
            </a:pPr>
            <a:r>
              <a:rPr lang="en-US" sz="1350" b="1" dirty="0">
                <a:solidFill>
                  <a:srgbClr val="16202C"/>
                </a:solidFill>
                <a:latin typeface="Calibri" pitchFamily="34" charset="0"/>
                <a:ea typeface="Calibri" pitchFamily="34" charset="-122"/>
                <a:cs typeface="Calibri" pitchFamily="34" charset="-120"/>
              </a:rPr>
              <a:t>Central nervous system</a:t>
            </a:r>
            <a:endParaRPr lang="en-US" sz="1350" dirty="0"/>
          </a:p>
        </p:txBody>
      </p:sp>
      <p:sp>
        <p:nvSpPr>
          <p:cNvPr id="11" name="Text 9"/>
          <p:cNvSpPr txBox="1"/>
          <p:nvPr/>
        </p:nvSpPr>
        <p:spPr>
          <a:xfrm>
            <a:off x="850392" y="3694176"/>
            <a:ext cx="2834640" cy="29260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Neural activity, blood flow</a:t>
            </a:r>
            <a:endParaRPr lang="en-US" sz="1050" dirty="0"/>
          </a:p>
        </p:txBody>
      </p:sp>
      <p:sp>
        <p:nvSpPr>
          <p:cNvPr id="12" name="Text 10"/>
          <p:cNvSpPr txBox="1"/>
          <p:nvPr/>
        </p:nvSpPr>
        <p:spPr>
          <a:xfrm>
            <a:off x="3886200" y="3383280"/>
            <a:ext cx="7391095" cy="676656"/>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Individual studies report discriminating patterns; those patterns do not replicate across studies, even with matched methods and populations.</a:t>
            </a:r>
            <a:endParaRPr lang="en-US" sz="1200" dirty="0"/>
          </a:p>
        </p:txBody>
      </p:sp>
      <p:sp>
        <p:nvSpPr>
          <p:cNvPr id="13" name="Shape 11"/>
          <p:cNvSpPr/>
          <p:nvPr/>
        </p:nvSpPr>
        <p:spPr>
          <a:xfrm>
            <a:off x="594360" y="4242816"/>
            <a:ext cx="11002975" cy="877824"/>
          </a:xfrm>
          <a:prstGeom prst="roundRect">
            <a:avLst>
              <a:gd name="adj" fmla="val 5208"/>
            </a:avLst>
          </a:prstGeom>
          <a:solidFill>
            <a:srgbClr val="F1F3F5"/>
          </a:solidFill>
          <a:ln w="12700">
            <a:solidFill>
              <a:srgbClr val="E2E6EA"/>
            </a:solidFill>
            <a:prstDash val="solid"/>
          </a:ln>
        </p:spPr>
      </p:sp>
      <p:sp>
        <p:nvSpPr>
          <p:cNvPr id="14" name="Text 12"/>
          <p:cNvSpPr txBox="1"/>
          <p:nvPr/>
        </p:nvSpPr>
        <p:spPr>
          <a:xfrm>
            <a:off x="850392" y="4361688"/>
            <a:ext cx="2834640" cy="301752"/>
          </a:xfrm>
          <a:prstGeom prst="rect">
            <a:avLst/>
          </a:prstGeom>
          <a:noFill/>
          <a:ln/>
        </p:spPr>
        <p:txBody>
          <a:bodyPr wrap="square" lIns="0" tIns="0" rIns="0" bIns="0" rtlCol="0" anchor="ctr"/>
          <a:lstStyle/>
          <a:p>
            <a:pPr indent="0" marL="0">
              <a:buNone/>
            </a:pPr>
            <a:r>
              <a:rPr lang="en-US" sz="1350" b="1" dirty="0">
                <a:solidFill>
                  <a:srgbClr val="16202C"/>
                </a:solidFill>
                <a:latin typeface="Calibri" pitchFamily="34" charset="0"/>
                <a:ea typeface="Calibri" pitchFamily="34" charset="-122"/>
                <a:cs typeface="Calibri" pitchFamily="34" charset="-120"/>
              </a:rPr>
              <a:t>Self-report</a:t>
            </a:r>
            <a:endParaRPr lang="en-US" sz="1350" dirty="0"/>
          </a:p>
        </p:txBody>
      </p:sp>
      <p:sp>
        <p:nvSpPr>
          <p:cNvPr id="15" name="Text 13"/>
          <p:cNvSpPr txBox="1"/>
          <p:nvPr/>
        </p:nvSpPr>
        <p:spPr>
          <a:xfrm>
            <a:off x="850392" y="4663440"/>
            <a:ext cx="2834640" cy="29260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Asking the person</a:t>
            </a:r>
            <a:endParaRPr lang="en-US" sz="1050" dirty="0"/>
          </a:p>
        </p:txBody>
      </p:sp>
      <p:sp>
        <p:nvSpPr>
          <p:cNvPr id="16" name="Text 14"/>
          <p:cNvSpPr txBox="1"/>
          <p:nvPr/>
        </p:nvSpPr>
        <p:spPr>
          <a:xfrm>
            <a:off x="3886200" y="4352544"/>
            <a:ext cx="7391095" cy="676656"/>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A verbal categorisation of experience, not a direct readout of state — and it uses the same folk categories under test.</a:t>
            </a:r>
            <a:endParaRPr lang="en-US" sz="1200" dirty="0"/>
          </a:p>
        </p:txBody>
      </p:sp>
      <p:sp>
        <p:nvSpPr>
          <p:cNvPr id="17" name="Shape 15"/>
          <p:cNvSpPr/>
          <p:nvPr/>
        </p:nvSpPr>
        <p:spPr>
          <a:xfrm>
            <a:off x="594360" y="5212080"/>
            <a:ext cx="11002975" cy="877824"/>
          </a:xfrm>
          <a:prstGeom prst="roundRect">
            <a:avLst>
              <a:gd name="adj" fmla="val 5208"/>
            </a:avLst>
          </a:prstGeom>
          <a:solidFill>
            <a:srgbClr val="F1F3F5"/>
          </a:solidFill>
          <a:ln w="12700">
            <a:solidFill>
              <a:srgbClr val="E2E6EA"/>
            </a:solidFill>
            <a:prstDash val="solid"/>
          </a:ln>
        </p:spPr>
      </p:sp>
      <p:sp>
        <p:nvSpPr>
          <p:cNvPr id="18" name="Text 16"/>
          <p:cNvSpPr txBox="1"/>
          <p:nvPr/>
        </p:nvSpPr>
        <p:spPr>
          <a:xfrm>
            <a:off x="850392" y="5330952"/>
            <a:ext cx="2834640" cy="301752"/>
          </a:xfrm>
          <a:prstGeom prst="rect">
            <a:avLst/>
          </a:prstGeom>
          <a:noFill/>
          <a:ln/>
        </p:spPr>
        <p:txBody>
          <a:bodyPr wrap="square" lIns="0" tIns="0" rIns="0" bIns="0" rtlCol="0" anchor="ctr"/>
          <a:lstStyle/>
          <a:p>
            <a:pPr indent="0" marL="0">
              <a:buNone/>
            </a:pPr>
            <a:r>
              <a:rPr lang="en-US" sz="1350" b="1" dirty="0">
                <a:solidFill>
                  <a:srgbClr val="16202C"/>
                </a:solidFill>
                <a:latin typeface="Calibri" pitchFamily="34" charset="0"/>
                <a:ea typeface="Calibri" pitchFamily="34" charset="-122"/>
                <a:cs typeface="Calibri" pitchFamily="34" charset="-120"/>
              </a:rPr>
              <a:t>Elicitation condition</a:t>
            </a:r>
            <a:endParaRPr lang="en-US" sz="1350" dirty="0"/>
          </a:p>
        </p:txBody>
      </p:sp>
      <p:sp>
        <p:nvSpPr>
          <p:cNvPr id="19" name="Text 17"/>
          <p:cNvSpPr txBox="1"/>
          <p:nvPr/>
        </p:nvSpPr>
        <p:spPr>
          <a:xfrm>
            <a:off x="850392" y="5632704"/>
            <a:ext cx="2834640" cy="292608"/>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Assuming the manipulation worked</a:t>
            </a:r>
            <a:endParaRPr lang="en-US" sz="1050" dirty="0"/>
          </a:p>
        </p:txBody>
      </p:sp>
      <p:sp>
        <p:nvSpPr>
          <p:cNvPr id="20" name="Text 18"/>
          <p:cNvSpPr txBox="1"/>
          <p:nvPr/>
        </p:nvSpPr>
        <p:spPr>
          <a:xfrm>
            <a:off x="3886200" y="5321808"/>
            <a:ext cx="7391095" cy="676656"/>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Assumes the film clip or scenario produced the intended state in every participant.</a:t>
            </a:r>
            <a:endParaRPr lang="en-US" sz="1200" dirty="0"/>
          </a:p>
        </p:txBody>
      </p:sp>
      <p:sp>
        <p:nvSpPr>
          <p:cNvPr id="21" name="Text 19"/>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"Measuring an emotional state"; Siegel et al. (2018); Box 8, SOM.</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566928"/>
            <a:ext cx="2468880" cy="384048"/>
          </a:xfrm>
          <a:prstGeom prst="roundRect">
            <a:avLst>
              <a:gd name="adj" fmla="val 23810"/>
            </a:avLst>
          </a:prstGeom>
          <a:solidFill>
            <a:srgbClr val="D9A441"/>
          </a:solidFill>
          <a:ln w="12700">
            <a:solidFill>
              <a:srgbClr val="D9A441"/>
            </a:solidFill>
            <a:prstDash val="solid"/>
          </a:ln>
        </p:spPr>
      </p:sp>
      <p:sp>
        <p:nvSpPr>
          <p:cNvPr id="3" name="Text 1"/>
          <p:cNvSpPr txBox="1"/>
          <p:nvPr/>
        </p:nvSpPr>
        <p:spPr>
          <a:xfrm>
            <a:off x="594360" y="566928"/>
            <a:ext cx="2468880" cy="384048"/>
          </a:xfrm>
          <a:prstGeom prst="rect">
            <a:avLst/>
          </a:prstGeom>
          <a:noFill/>
          <a:ln/>
        </p:spPr>
        <p:txBody>
          <a:bodyPr wrap="square" lIns="0" tIns="0" rIns="0" bIns="0" rtlCol="0" anchor="ctr"/>
          <a:lstStyle/>
          <a:p>
            <a:pPr algn="ctr" indent="0" marL="0">
              <a:buNone/>
            </a:pPr>
            <a:r>
              <a:rPr lang="en-US" sz="1150" b="1" spc="140" kern="0" dirty="0">
                <a:solidFill>
                  <a:srgbClr val="16202C"/>
                </a:solidFill>
                <a:latin typeface="Calibri" pitchFamily="34" charset="0"/>
                <a:ea typeface="Calibri" pitchFamily="34" charset="-122"/>
                <a:cs typeface="Calibri" pitchFamily="34" charset="-120"/>
              </a:rPr>
              <a:t>DISCUSSION 2</a:t>
            </a:r>
            <a:endParaRPr lang="en-US" sz="1150" dirty="0"/>
          </a:p>
        </p:txBody>
      </p:sp>
      <p:sp>
        <p:nvSpPr>
          <p:cNvPr id="4" name="Text 2"/>
          <p:cNvSpPr txBox="1"/>
          <p:nvPr/>
        </p:nvSpPr>
        <p:spPr>
          <a:xfrm>
            <a:off x="9585655" y="566928"/>
            <a:ext cx="2011680" cy="384048"/>
          </a:xfrm>
          <a:prstGeom prst="rect">
            <a:avLst/>
          </a:prstGeom>
          <a:noFill/>
          <a:ln/>
        </p:spPr>
        <p:txBody>
          <a:bodyPr wrap="square" lIns="0" tIns="0" rIns="0" bIns="0" rtlCol="0" anchor="ctr"/>
          <a:lstStyle/>
          <a:p>
            <a:pPr algn="r" indent="0" marL="0">
              <a:buNone/>
            </a:pPr>
            <a:r>
              <a:rPr lang="en-US" sz="1200" dirty="0">
                <a:solidFill>
                  <a:srgbClr val="9AA3AE"/>
                </a:solidFill>
                <a:latin typeface="Calibri" pitchFamily="34" charset="0"/>
                <a:ea typeface="Calibri" pitchFamily="34" charset="-122"/>
                <a:cs typeface="Calibri" pitchFamily="34" charset="-120"/>
              </a:rPr>
              <a:t>~6 minutes</a:t>
            </a:r>
            <a:endParaRPr lang="en-US" sz="1200" dirty="0"/>
          </a:p>
        </p:txBody>
      </p:sp>
      <p:sp>
        <p:nvSpPr>
          <p:cNvPr id="5" name="Text 3"/>
          <p:cNvSpPr txBox="1"/>
          <p:nvPr/>
        </p:nvSpPr>
        <p:spPr>
          <a:xfrm>
            <a:off x="594360" y="1325880"/>
            <a:ext cx="11002975" cy="137160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If there is no independent measure of emotional state, what exactly is an emotion classifier learning?</a:t>
            </a:r>
            <a:endParaRPr lang="en-US" sz="3000" dirty="0"/>
          </a:p>
        </p:txBody>
      </p:sp>
      <p:sp>
        <p:nvSpPr>
          <p:cNvPr id="6" name="Text 4"/>
          <p:cNvSpPr txBox="1"/>
          <p:nvPr/>
        </p:nvSpPr>
        <p:spPr>
          <a:xfrm>
            <a:off x="704088" y="2971800"/>
            <a:ext cx="10783519" cy="310896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Is "emotion recognition" a supervised learning problem with a corrupted label set, or a task that has been misdescribed from the start?</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Would a perfect AU detector fix any of this? What would it fix, and what would it leave untouched?</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Is predicting annotator consensus a legitimate objective, if we say that is what we are doing? What could such a system honestly be used for?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2331720"/>
            <a:ext cx="960120" cy="960120"/>
          </a:xfrm>
          <a:prstGeom prst="roundRect">
            <a:avLst>
              <a:gd name="adj" fmla="val 13333"/>
            </a:avLst>
          </a:prstGeom>
          <a:solidFill>
            <a:srgbClr val="E07A5F"/>
          </a:solidFill>
          <a:ln w="12700">
            <a:solidFill>
              <a:srgbClr val="E07A5F"/>
            </a:solidFill>
            <a:prstDash val="solid"/>
          </a:ln>
        </p:spPr>
      </p:sp>
      <p:sp>
        <p:nvSpPr>
          <p:cNvPr id="3" name="Text 1"/>
          <p:cNvSpPr txBox="1"/>
          <p:nvPr/>
        </p:nvSpPr>
        <p:spPr>
          <a:xfrm>
            <a:off x="594360" y="2331720"/>
            <a:ext cx="960120" cy="960120"/>
          </a:xfrm>
          <a:prstGeom prst="rect">
            <a:avLst/>
          </a:prstGeom>
          <a:noFill/>
          <a:ln/>
        </p:spPr>
        <p:txBody>
          <a:bodyPr wrap="square" lIns="0" tIns="0" rIns="0" bIns="0" rtlCol="0" anchor="ctr"/>
          <a:lstStyle/>
          <a:p>
            <a:pPr algn="ctr" indent="0" marL="0">
              <a:buNone/>
            </a:pPr>
            <a:r>
              <a:rPr lang="en-US" sz="4000" b="1" dirty="0">
                <a:solidFill>
                  <a:srgbClr val="16202C"/>
                </a:solidFill>
                <a:latin typeface="Cambria" pitchFamily="34" charset="0"/>
                <a:ea typeface="Cambria" pitchFamily="34" charset="-122"/>
                <a:cs typeface="Cambria" pitchFamily="34" charset="-120"/>
              </a:rPr>
              <a:t>3</a:t>
            </a:r>
            <a:endParaRPr lang="en-US" sz="4000" dirty="0"/>
          </a:p>
        </p:txBody>
      </p:sp>
      <p:sp>
        <p:nvSpPr>
          <p:cNvPr id="4" name="Text 2"/>
          <p:cNvSpPr txBox="1"/>
          <p:nvPr/>
        </p:nvSpPr>
        <p:spPr>
          <a:xfrm>
            <a:off x="1965960" y="2331720"/>
            <a:ext cx="9631375"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production evidence</a:t>
            </a:r>
            <a:endParaRPr lang="en-US" sz="3800" dirty="0"/>
          </a:p>
        </p:txBody>
      </p:sp>
      <p:sp>
        <p:nvSpPr>
          <p:cNvPr id="5" name="Text 3"/>
          <p:cNvSpPr txBox="1"/>
          <p:nvPr/>
        </p:nvSpPr>
        <p:spPr>
          <a:xfrm>
            <a:off x="1965960" y="3035808"/>
            <a:ext cx="9631375" cy="365760"/>
          </a:xfrm>
          <a:prstGeom prst="rect">
            <a:avLst/>
          </a:prstGeom>
          <a:noFill/>
          <a:ln/>
        </p:spPr>
        <p:txBody>
          <a:bodyPr wrap="square" lIns="0" tIns="0" rIns="0" bIns="0" rtlCol="0" anchor="t"/>
          <a:lstStyle/>
          <a:p>
            <a:pPr indent="0" marL="0">
              <a:buNone/>
            </a:pPr>
            <a:r>
              <a:rPr lang="en-US" sz="1500" dirty="0">
                <a:solidFill>
                  <a:srgbClr val="9AA3AE"/>
                </a:solidFill>
                <a:latin typeface="Calibri" pitchFamily="34" charset="0"/>
                <a:ea typeface="Calibri" pitchFamily="34" charset="-122"/>
                <a:cs typeface="Calibri" pitchFamily="34" charset="-120"/>
              </a:rPr>
              <a:t>How do people actually move their faces during emotional episodes?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PRODUCTION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Spontaneous facial movement in the laboratory</a:t>
            </a:r>
            <a:endParaRPr lang="en-US" sz="3200" dirty="0"/>
          </a:p>
        </p:txBody>
      </p:sp>
      <p:sp>
        <p:nvSpPr>
          <p:cNvPr id="4" name="Text 2"/>
          <p:cNvSpPr txBox="1"/>
          <p:nvPr/>
        </p:nvSpPr>
        <p:spPr>
          <a:xfrm>
            <a:off x="594360" y="1783080"/>
            <a:ext cx="11002975" cy="411480"/>
          </a:xfrm>
          <a:prstGeom prst="rect">
            <a:avLst/>
          </a:prstGeom>
          <a:noFill/>
          <a:ln/>
        </p:spPr>
        <p:txBody>
          <a:bodyPr wrap="square" lIns="0" tIns="0" rIns="0" bIns="0" rtlCol="0" anchor="ctr"/>
          <a:lstStyle/>
          <a:p>
            <a:pPr indent="0" marL="0">
              <a:buNone/>
            </a:pPr>
            <a:r>
              <a:rPr lang="en-US" sz="1500" dirty="0">
                <a:solidFill>
                  <a:srgbClr val="2E4057"/>
                </a:solidFill>
                <a:latin typeface="Calibri" pitchFamily="34" charset="0"/>
                <a:ea typeface="Calibri" pitchFamily="34" charset="-122"/>
                <a:cs typeface="Calibri" pitchFamily="34" charset="-120"/>
              </a:rPr>
              <a:t>An expanded meta-analysis of studies observing how people moved their faces when exposed to emotion-eliciting events:</a:t>
            </a:r>
            <a:endParaRPr lang="en-US" sz="1500" dirty="0"/>
          </a:p>
        </p:txBody>
      </p:sp>
      <p:sp>
        <p:nvSpPr>
          <p:cNvPr id="5" name="Text 3"/>
          <p:cNvSpPr txBox="1"/>
          <p:nvPr/>
        </p:nvSpPr>
        <p:spPr>
          <a:xfrm>
            <a:off x="594360" y="2377440"/>
            <a:ext cx="2377440" cy="749808"/>
          </a:xfrm>
          <a:prstGeom prst="rect">
            <a:avLst/>
          </a:prstGeom>
          <a:noFill/>
          <a:ln/>
        </p:spPr>
        <p:txBody>
          <a:bodyPr wrap="square" lIns="0" tIns="0" rIns="0" bIns="0" rtlCol="0" anchor="ctr"/>
          <a:lstStyle/>
          <a:p>
            <a:pPr indent="0" marL="0">
              <a:lnSpc>
                <a:spcPct val="92000"/>
              </a:lnSpc>
              <a:buNone/>
            </a:pPr>
            <a:r>
              <a:rPr lang="en-US" sz="4600" b="1" dirty="0">
                <a:solidFill>
                  <a:srgbClr val="2E4057"/>
                </a:solidFill>
                <a:latin typeface="Cambria" pitchFamily="34" charset="0"/>
                <a:ea typeface="Cambria" pitchFamily="34" charset="-122"/>
                <a:cs typeface="Cambria" pitchFamily="34" charset="-120"/>
              </a:rPr>
              <a:t>47</a:t>
            </a:r>
            <a:endParaRPr lang="en-US" sz="4600" dirty="0"/>
          </a:p>
        </p:txBody>
      </p:sp>
      <p:sp>
        <p:nvSpPr>
          <p:cNvPr id="6" name="Text 4"/>
          <p:cNvSpPr txBox="1"/>
          <p:nvPr/>
        </p:nvSpPr>
        <p:spPr>
          <a:xfrm>
            <a:off x="594360" y="3145536"/>
            <a:ext cx="2377440" cy="658368"/>
          </a:xfrm>
          <a:prstGeom prst="rect">
            <a:avLst/>
          </a:prstGeom>
          <a:noFill/>
          <a:ln/>
        </p:spPr>
        <p:txBody>
          <a:bodyPr wrap="square" lIns="0" tIns="0" rIns="0" bIns="0" rtlCol="0" anchor="t"/>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studies, 89 effect sizes,</a:t>
            </a:r>
            <a:endParaRPr lang="en-US" sz="1250" dirty="0"/>
          </a:p>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3,599 participants</a:t>
            </a:r>
            <a:endParaRPr lang="en-US" sz="1250" dirty="0"/>
          </a:p>
        </p:txBody>
      </p:sp>
      <p:sp>
        <p:nvSpPr>
          <p:cNvPr id="7" name="Text 5"/>
          <p:cNvSpPr txBox="1"/>
          <p:nvPr/>
        </p:nvSpPr>
        <p:spPr>
          <a:xfrm>
            <a:off x="3429000" y="2377440"/>
            <a:ext cx="2377440" cy="749808"/>
          </a:xfrm>
          <a:prstGeom prst="rect">
            <a:avLst/>
          </a:prstGeom>
          <a:noFill/>
          <a:ln/>
        </p:spPr>
        <p:txBody>
          <a:bodyPr wrap="square" lIns="0" tIns="0" rIns="0" bIns="0" rtlCol="0" anchor="ctr"/>
          <a:lstStyle/>
          <a:p>
            <a:pPr indent="0" marL="0">
              <a:lnSpc>
                <a:spcPct val="92000"/>
              </a:lnSpc>
              <a:buNone/>
            </a:pPr>
            <a:r>
              <a:rPr lang="en-US" sz="4600" b="1" dirty="0">
                <a:solidFill>
                  <a:srgbClr val="E07A5F"/>
                </a:solidFill>
                <a:latin typeface="Cambria" pitchFamily="34" charset="0"/>
                <a:ea typeface="Cambria" pitchFamily="34" charset="-122"/>
                <a:cs typeface="Cambria" pitchFamily="34" charset="-120"/>
              </a:rPr>
              <a:t>r = .32</a:t>
            </a:r>
            <a:endParaRPr lang="en-US" sz="4600" dirty="0"/>
          </a:p>
        </p:txBody>
      </p:sp>
      <p:sp>
        <p:nvSpPr>
          <p:cNvPr id="8" name="Text 6"/>
          <p:cNvSpPr txBox="1"/>
          <p:nvPr/>
        </p:nvSpPr>
        <p:spPr>
          <a:xfrm>
            <a:off x="3429000" y="3145536"/>
            <a:ext cx="2377440" cy="658368"/>
          </a:xfrm>
          <a:prstGeom prst="rect">
            <a:avLst/>
          </a:prstGeom>
          <a:noFill/>
          <a:ln/>
        </p:spPr>
        <p:txBody>
          <a:bodyPr wrap="square" lIns="0" tIns="0" rIns="0" bIns="0" rtlCol="0" anchor="t"/>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average correlation between</a:t>
            </a:r>
            <a:endParaRPr lang="en-US" sz="1250" dirty="0"/>
          </a:p>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configuration and emotion</a:t>
            </a:r>
            <a:endParaRPr lang="en-US" sz="1250" dirty="0"/>
          </a:p>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(range .25–.38)</a:t>
            </a:r>
            <a:endParaRPr lang="en-US" sz="1250" dirty="0"/>
          </a:p>
        </p:txBody>
      </p:sp>
      <p:sp>
        <p:nvSpPr>
          <p:cNvPr id="9" name="Text 7"/>
          <p:cNvSpPr txBox="1"/>
          <p:nvPr/>
        </p:nvSpPr>
        <p:spPr>
          <a:xfrm>
            <a:off x="6263640" y="2377440"/>
            <a:ext cx="2377440" cy="749808"/>
          </a:xfrm>
          <a:prstGeom prst="rect">
            <a:avLst/>
          </a:prstGeom>
          <a:noFill/>
          <a:ln/>
        </p:spPr>
        <p:txBody>
          <a:bodyPr wrap="square" lIns="0" tIns="0" rIns="0" bIns="0" rtlCol="0" anchor="ctr"/>
          <a:lstStyle/>
          <a:p>
            <a:pPr indent="0" marL="0">
              <a:lnSpc>
                <a:spcPct val="92000"/>
              </a:lnSpc>
              <a:buNone/>
            </a:pPr>
            <a:r>
              <a:rPr lang="en-US" sz="4600" b="1" dirty="0">
                <a:solidFill>
                  <a:srgbClr val="E07A5F"/>
                </a:solidFill>
                <a:latin typeface="Cambria" pitchFamily="34" charset="0"/>
                <a:ea typeface="Cambria" pitchFamily="34" charset="-122"/>
                <a:cs typeface="Cambria" pitchFamily="34" charset="-120"/>
              </a:rPr>
              <a:t>.19</a:t>
            </a:r>
            <a:endParaRPr lang="en-US" sz="4600" dirty="0"/>
          </a:p>
        </p:txBody>
      </p:sp>
      <p:sp>
        <p:nvSpPr>
          <p:cNvPr id="10" name="Text 8"/>
          <p:cNvSpPr txBox="1"/>
          <p:nvPr/>
        </p:nvSpPr>
        <p:spPr>
          <a:xfrm>
            <a:off x="6263640" y="3145536"/>
            <a:ext cx="2377440" cy="658368"/>
          </a:xfrm>
          <a:prstGeom prst="rect">
            <a:avLst/>
          </a:prstGeom>
          <a:noFill/>
          <a:ln/>
        </p:spPr>
        <p:txBody>
          <a:bodyPr wrap="square" lIns="0" tIns="0" rIns="0" bIns="0" rtlCol="0" anchor="t"/>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average proportion of emotional</a:t>
            </a:r>
            <a:endParaRPr lang="en-US" sz="1250" dirty="0"/>
          </a:p>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episodes showing the predicted</a:t>
            </a:r>
            <a:endParaRPr lang="en-US" sz="1250" dirty="0"/>
          </a:p>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configuration (range .15–.25)</a:t>
            </a:r>
            <a:endParaRPr lang="en-US" sz="1250" dirty="0"/>
          </a:p>
        </p:txBody>
      </p:sp>
      <p:sp>
        <p:nvSpPr>
          <p:cNvPr id="11" name="Text 9"/>
          <p:cNvSpPr txBox="1"/>
          <p:nvPr/>
        </p:nvSpPr>
        <p:spPr>
          <a:xfrm>
            <a:off x="9098280" y="2377440"/>
            <a:ext cx="2468880" cy="749808"/>
          </a:xfrm>
          <a:prstGeom prst="rect">
            <a:avLst/>
          </a:prstGeom>
          <a:noFill/>
          <a:ln/>
        </p:spPr>
        <p:txBody>
          <a:bodyPr wrap="square" lIns="0" tIns="0" rIns="0" bIns="0" rtlCol="0" anchor="ctr"/>
          <a:lstStyle/>
          <a:p>
            <a:pPr indent="0" marL="0">
              <a:lnSpc>
                <a:spcPct val="92000"/>
              </a:lnSpc>
              <a:buNone/>
            </a:pPr>
            <a:r>
              <a:rPr lang="en-US" sz="2600" b="1" dirty="0">
                <a:solidFill>
                  <a:srgbClr val="6B7280"/>
                </a:solidFill>
                <a:latin typeface="Cambria" pitchFamily="34" charset="0"/>
                <a:ea typeface="Cambria" pitchFamily="34" charset="-122"/>
                <a:cs typeface="Cambria" pitchFamily="34" charset="-120"/>
              </a:rPr>
              <a:t>not reported</a:t>
            </a:r>
            <a:endParaRPr lang="en-US" sz="2600" dirty="0"/>
          </a:p>
        </p:txBody>
      </p:sp>
      <p:sp>
        <p:nvSpPr>
          <p:cNvPr id="12" name="Text 10"/>
          <p:cNvSpPr txBox="1"/>
          <p:nvPr/>
        </p:nvSpPr>
        <p:spPr>
          <a:xfrm>
            <a:off x="9098280" y="3145536"/>
            <a:ext cx="2468880" cy="658368"/>
          </a:xfrm>
          <a:prstGeom prst="rect">
            <a:avLst/>
          </a:prstGeom>
          <a:noFill/>
          <a:ln/>
        </p:spPr>
        <p:txBody>
          <a:bodyPr wrap="square" lIns="0" tIns="0" rIns="0" bIns="0" rtlCol="0" anchor="t"/>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no overall specificity estimate:</a:t>
            </a:r>
            <a:endParaRPr lang="en-US" sz="1250" dirty="0"/>
          </a:p>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published studies omit the</a:t>
            </a:r>
            <a:endParaRPr lang="en-US" sz="1250" dirty="0"/>
          </a:p>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false positive rate</a:t>
            </a:r>
            <a:endParaRPr lang="en-US" sz="1250" dirty="0"/>
          </a:p>
        </p:txBody>
      </p:sp>
      <p:sp>
        <p:nvSpPr>
          <p:cNvPr id="13" name="Shape 11"/>
          <p:cNvSpPr/>
          <p:nvPr/>
        </p:nvSpPr>
        <p:spPr>
          <a:xfrm>
            <a:off x="594360" y="4343400"/>
            <a:ext cx="5349240" cy="1600200"/>
          </a:xfrm>
          <a:prstGeom prst="roundRect">
            <a:avLst>
              <a:gd name="adj" fmla="val 4000"/>
            </a:avLst>
          </a:prstGeom>
          <a:solidFill>
            <a:srgbClr val="F1F3F5"/>
          </a:solidFill>
          <a:ln w="12700">
            <a:solidFill>
              <a:srgbClr val="E2E6EA"/>
            </a:solidFill>
            <a:prstDash val="solid"/>
          </a:ln>
        </p:spPr>
      </p:sp>
      <p:sp>
        <p:nvSpPr>
          <p:cNvPr id="14" name="Text 12"/>
          <p:cNvSpPr txBox="1"/>
          <p:nvPr/>
        </p:nvSpPr>
        <p:spPr>
          <a:xfrm>
            <a:off x="868680" y="4526280"/>
            <a:ext cx="4800600" cy="1234440"/>
          </a:xfrm>
          <a:prstGeom prst="rect">
            <a:avLst/>
          </a:prstGeom>
          <a:noFill/>
          <a:ln/>
        </p:spPr>
        <p:txBody>
          <a:bodyPr wrap="square" lIns="0" tIns="0" rIns="0" bIns="0" rtlCol="0" anchor="ctr"/>
          <a:lstStyle/>
          <a:p>
            <a:pPr indent="0" marL="0">
              <a:lnSpc>
                <a:spcPct val="110000"/>
              </a:lnSpc>
              <a:buNone/>
            </a:pPr>
            <a:r>
              <a:rPr lang="en-US" sz="1350" dirty="0">
                <a:solidFill>
                  <a:srgbClr val="2E4057"/>
                </a:solidFill>
                <a:latin typeface="Calibri" pitchFamily="34" charset="0"/>
                <a:ea typeface="Calibri" pitchFamily="34" charset="-122"/>
                <a:cs typeface="Calibri" pitchFamily="34" charset="-120"/>
              </a:rPr>
              <a:t>Every category except fear exceeded chance. All sat in the weak band. More often than not, people moved their faces in ways the common view does not predict.</a:t>
            </a:r>
            <a:endParaRPr lang="en-US" sz="1350" dirty="0"/>
          </a:p>
        </p:txBody>
      </p:sp>
      <p:sp>
        <p:nvSpPr>
          <p:cNvPr id="15" name="Shape 13"/>
          <p:cNvSpPr/>
          <p:nvPr/>
        </p:nvSpPr>
        <p:spPr>
          <a:xfrm>
            <a:off x="6245352" y="4343400"/>
            <a:ext cx="5349240" cy="1600200"/>
          </a:xfrm>
          <a:prstGeom prst="roundRect">
            <a:avLst>
              <a:gd name="adj" fmla="val 4000"/>
            </a:avLst>
          </a:prstGeom>
          <a:solidFill>
            <a:srgbClr val="FBEDE8"/>
          </a:solidFill>
          <a:ln w="12700">
            <a:solidFill>
              <a:srgbClr val="F0D6CC"/>
            </a:solidFill>
            <a:prstDash val="solid"/>
          </a:ln>
        </p:spPr>
      </p:sp>
      <p:sp>
        <p:nvSpPr>
          <p:cNvPr id="16" name="Text 14"/>
          <p:cNvSpPr txBox="1"/>
          <p:nvPr/>
        </p:nvSpPr>
        <p:spPr>
          <a:xfrm>
            <a:off x="6519672" y="4526280"/>
            <a:ext cx="4800600" cy="1234440"/>
          </a:xfrm>
          <a:prstGeom prst="rect">
            <a:avLst/>
          </a:prstGeom>
          <a:noFill/>
          <a:ln/>
        </p:spPr>
        <p:txBody>
          <a:bodyPr wrap="square" lIns="0" tIns="0" rIns="0" bIns="0" rtlCol="0" anchor="ctr"/>
          <a:lstStyle/>
          <a:p>
            <a:pPr indent="0" marL="0">
              <a:lnSpc>
                <a:spcPct val="110000"/>
              </a:lnSpc>
              <a:buNone/>
            </a:pPr>
            <a:r>
              <a:rPr lang="en-US" sz="1350" dirty="0">
                <a:solidFill>
                  <a:srgbClr val="2E4057"/>
                </a:solidFill>
                <a:latin typeface="Calibri" pitchFamily="34" charset="0"/>
                <a:ea typeface="Calibri" pitchFamily="34" charset="-122"/>
                <a:cs typeface="Calibri" pitchFamily="34" charset="-120"/>
              </a:rPr>
              <a:t>A specificity failure by name: the Duchenne smile, long treated as the marker of authentic happiness, can be produced deliberately when unhappy, and often signals submission or affiliation instead.</a:t>
            </a:r>
            <a:endParaRPr lang="en-US" sz="1350" dirty="0"/>
          </a:p>
        </p:txBody>
      </p:sp>
      <p:sp>
        <p:nvSpPr>
          <p:cNvPr id="17" name="Text 15"/>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Duran et al. (2017); Duran &amp; Fernández-Dols (2018); Gunnery &amp; Hall (2014); Rychlowska et al. (2017).</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PRODUCTION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Out of the lab: winning judo fighters</a:t>
            </a:r>
            <a:endParaRPr lang="en-US" sz="3200" dirty="0"/>
          </a:p>
        </p:txBody>
      </p:sp>
      <p:sp>
        <p:nvSpPr>
          <p:cNvPr id="4" name="Text 2"/>
          <p:cNvSpPr txBox="1"/>
          <p:nvPr/>
        </p:nvSpPr>
        <p:spPr>
          <a:xfrm>
            <a:off x="594360" y="1783080"/>
            <a:ext cx="6675120" cy="685800"/>
          </a:xfrm>
          <a:prstGeom prst="rect">
            <a:avLst/>
          </a:prstGeom>
          <a:noFill/>
          <a:ln/>
        </p:spPr>
        <p:txBody>
          <a:bodyPr wrap="square" lIns="0" tIns="0" rIns="0" bIns="0" rtlCol="0" anchor="ctr"/>
          <a:lstStyle/>
          <a:p>
            <a:pPr indent="0" marL="0">
              <a:lnSpc>
                <a:spcPct val="110000"/>
              </a:lnSpc>
              <a:buNone/>
            </a:pPr>
            <a:r>
              <a:rPr lang="en-US" sz="1500" dirty="0">
                <a:solidFill>
                  <a:srgbClr val="2E4057"/>
                </a:solidFill>
                <a:latin typeface="Calibri" pitchFamily="34" charset="0"/>
                <a:ea typeface="Calibri" pitchFamily="34" charset="-122"/>
                <a:cs typeface="Calibri" pitchFamily="34" charset="-120"/>
              </a:rPr>
              <a:t>Two field studies of Olympic and international judo competitors, photographed at the moment of victory — arguably the cleanest naturalistic happiness elicitation available.</a:t>
            </a:r>
            <a:endParaRPr lang="en-US" sz="1500" dirty="0"/>
          </a:p>
        </p:txBody>
      </p:sp>
      <p:graphicFrame>
        <p:nvGraphicFramePr>
          <p:cNvPr id="5" name="Chart 0" descr=""/>
          <p:cNvGraphicFramePr/>
          <p:nvPr/>
        </p:nvGraphicFramePr>
        <p:xfrm>
          <a:off x="594360" y="2697480"/>
          <a:ext cx="667512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543800" y="1828800"/>
            <a:ext cx="4050792" cy="1371600"/>
          </a:xfrm>
          <a:prstGeom prst="roundRect">
            <a:avLst>
              <a:gd name="adj" fmla="val 3333"/>
            </a:avLst>
          </a:prstGeom>
          <a:solidFill>
            <a:srgbClr val="F1F3F5"/>
          </a:solidFill>
          <a:ln w="12700">
            <a:solidFill>
              <a:srgbClr val="F1F3F5"/>
            </a:solidFill>
            <a:prstDash val="solid"/>
          </a:ln>
        </p:spPr>
      </p:sp>
      <p:sp>
        <p:nvSpPr>
          <p:cNvPr id="7" name="Text 4"/>
          <p:cNvSpPr txBox="1"/>
          <p:nvPr/>
        </p:nvSpPr>
        <p:spPr>
          <a:xfrm>
            <a:off x="7781544" y="2011680"/>
            <a:ext cx="357530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Study 1</a:t>
            </a:r>
            <a:endParaRPr lang="en-US" sz="1450" dirty="0"/>
          </a:p>
        </p:txBody>
      </p:sp>
      <p:sp>
        <p:nvSpPr>
          <p:cNvPr id="8" name="Text 5"/>
          <p:cNvSpPr txBox="1"/>
          <p:nvPr/>
        </p:nvSpPr>
        <p:spPr>
          <a:xfrm>
            <a:off x="7781544" y="2359152"/>
            <a:ext cx="3575304" cy="65836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Eight of 55 winning fighters produced a Duchenne smile. Every one occurred during a social interaction.</a:t>
            </a:r>
            <a:endParaRPr lang="en-US" sz="1250" dirty="0"/>
          </a:p>
        </p:txBody>
      </p:sp>
      <p:sp>
        <p:nvSpPr>
          <p:cNvPr id="9" name="Shape 6"/>
          <p:cNvSpPr/>
          <p:nvPr/>
        </p:nvSpPr>
        <p:spPr>
          <a:xfrm>
            <a:off x="7543800" y="3337560"/>
            <a:ext cx="4050792" cy="1371600"/>
          </a:xfrm>
          <a:prstGeom prst="roundRect">
            <a:avLst>
              <a:gd name="adj" fmla="val 3333"/>
            </a:avLst>
          </a:prstGeom>
          <a:solidFill>
            <a:srgbClr val="F1F3F5"/>
          </a:solidFill>
          <a:ln w="12700">
            <a:solidFill>
              <a:srgbClr val="F1F3F5"/>
            </a:solidFill>
            <a:prstDash val="solid"/>
          </a:ln>
        </p:spPr>
      </p:sp>
      <p:sp>
        <p:nvSpPr>
          <p:cNvPr id="10" name="Text 7"/>
          <p:cNvSpPr txBox="1"/>
          <p:nvPr/>
        </p:nvSpPr>
        <p:spPr>
          <a:xfrm>
            <a:off x="7781544" y="3520440"/>
            <a:ext cx="357530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Study 2</a:t>
            </a:r>
            <a:endParaRPr lang="en-US" sz="1450" dirty="0"/>
          </a:p>
        </p:txBody>
      </p:sp>
      <p:sp>
        <p:nvSpPr>
          <p:cNvPr id="11" name="Text 8"/>
          <p:cNvSpPr txBox="1"/>
          <p:nvPr/>
        </p:nvSpPr>
        <p:spPr>
          <a:xfrm>
            <a:off x="7781544" y="3867912"/>
            <a:ext cx="3575304" cy="65836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Twenty-five of 119 winning fighters produced one.</a:t>
            </a:r>
            <a:endParaRPr lang="en-US" sz="1250" dirty="0"/>
          </a:p>
        </p:txBody>
      </p:sp>
      <p:sp>
        <p:nvSpPr>
          <p:cNvPr id="12" name="Shape 9"/>
          <p:cNvSpPr/>
          <p:nvPr/>
        </p:nvSpPr>
        <p:spPr>
          <a:xfrm>
            <a:off x="7543800" y="4846320"/>
            <a:ext cx="4050792" cy="1325880"/>
          </a:xfrm>
          <a:prstGeom prst="roundRect">
            <a:avLst>
              <a:gd name="adj" fmla="val 3448"/>
            </a:avLst>
          </a:prstGeom>
          <a:solidFill>
            <a:srgbClr val="FBEDE8"/>
          </a:solidFill>
          <a:ln w="12700">
            <a:solidFill>
              <a:srgbClr val="F0D6CC"/>
            </a:solidFill>
            <a:prstDash val="solid"/>
          </a:ln>
        </p:spPr>
      </p:sp>
      <p:sp>
        <p:nvSpPr>
          <p:cNvPr id="13" name="Text 10"/>
          <p:cNvSpPr txBox="1"/>
          <p:nvPr/>
        </p:nvSpPr>
        <p:spPr>
          <a:xfrm>
            <a:off x="7781544" y="5029200"/>
            <a:ext cx="357530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What predicted the smile</a:t>
            </a:r>
            <a:endParaRPr lang="en-US" sz="1450" dirty="0"/>
          </a:p>
        </p:txBody>
      </p:sp>
      <p:sp>
        <p:nvSpPr>
          <p:cNvPr id="14" name="Text 11"/>
          <p:cNvSpPr txBox="1"/>
          <p:nvPr/>
        </p:nvSpPr>
        <p:spPr>
          <a:xfrm>
            <a:off x="7781544" y="5376672"/>
            <a:ext cx="3575304" cy="61264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Whether an audience was being addressed — not self-reported happiness after the win.</a:t>
            </a:r>
            <a:endParaRPr lang="en-US" sz="1250" dirty="0"/>
          </a:p>
        </p:txBody>
      </p:sp>
      <p:sp>
        <p:nvSpPr>
          <p:cNvPr id="15" name="Text 12"/>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Crivelli, Carrera &amp; Fernández-Dols (2015).</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PRODUCTION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Posed configurations and remote cultures</a:t>
            </a:r>
            <a:endParaRPr lang="en-US" sz="3200" dirty="0"/>
          </a:p>
        </p:txBody>
      </p:sp>
      <p:sp>
        <p:nvSpPr>
          <p:cNvPr id="4" name="Shape 2"/>
          <p:cNvSpPr/>
          <p:nvPr/>
        </p:nvSpPr>
        <p:spPr>
          <a:xfrm>
            <a:off x="594360" y="1783080"/>
            <a:ext cx="5349240" cy="1965960"/>
          </a:xfrm>
          <a:prstGeom prst="roundRect">
            <a:avLst>
              <a:gd name="adj" fmla="val 2326"/>
            </a:avLst>
          </a:prstGeom>
          <a:solidFill>
            <a:srgbClr val="F1F3F5"/>
          </a:solidFill>
          <a:ln w="12700">
            <a:solidFill>
              <a:srgbClr val="F1F3F5"/>
            </a:solidFill>
            <a:prstDash val="solid"/>
          </a:ln>
        </p:spPr>
      </p:sp>
      <p:sp>
        <p:nvSpPr>
          <p:cNvPr id="5" name="Text 3"/>
          <p:cNvSpPr txBox="1"/>
          <p:nvPr/>
        </p:nvSpPr>
        <p:spPr>
          <a:xfrm>
            <a:off x="832104" y="1965960"/>
            <a:ext cx="48737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Posing produces the strongest support — and means the least</a:t>
            </a:r>
            <a:endParaRPr lang="en-US" sz="1450" dirty="0"/>
          </a:p>
        </p:txBody>
      </p:sp>
      <p:sp>
        <p:nvSpPr>
          <p:cNvPr id="6" name="Text 4"/>
          <p:cNvSpPr txBox="1"/>
          <p:nvPr/>
        </p:nvSpPr>
        <p:spPr>
          <a:xfrm>
            <a:off x="832104" y="2313432"/>
            <a:ext cx="4873752" cy="125272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When people are given an emotion word and asked to pose how they would express it, the canonical configurations appear, sometimes strongly. But this measures shared beliefs about expression, not how people spontaneously move. The authors read it as consensus, not evidence for a mechanism.</a:t>
            </a:r>
            <a:endParaRPr lang="en-US" sz="1250" dirty="0"/>
          </a:p>
        </p:txBody>
      </p:sp>
      <p:sp>
        <p:nvSpPr>
          <p:cNvPr id="7" name="Shape 5"/>
          <p:cNvSpPr/>
          <p:nvPr/>
        </p:nvSpPr>
        <p:spPr>
          <a:xfrm>
            <a:off x="6245352" y="1783080"/>
            <a:ext cx="5349240" cy="1965960"/>
          </a:xfrm>
          <a:prstGeom prst="roundRect">
            <a:avLst>
              <a:gd name="adj" fmla="val 2326"/>
            </a:avLst>
          </a:prstGeom>
          <a:solidFill>
            <a:srgbClr val="FBEDE8"/>
          </a:solidFill>
          <a:ln w="12700">
            <a:solidFill>
              <a:srgbClr val="F0D6CC"/>
            </a:solidFill>
            <a:prstDash val="solid"/>
          </a:ln>
        </p:spPr>
      </p:sp>
      <p:sp>
        <p:nvSpPr>
          <p:cNvPr id="8" name="Text 6"/>
          <p:cNvSpPr txBox="1"/>
          <p:nvPr/>
        </p:nvSpPr>
        <p:spPr>
          <a:xfrm>
            <a:off x="6483096" y="1965960"/>
            <a:ext cx="48737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Small-scale, remote societies</a:t>
            </a:r>
            <a:endParaRPr lang="en-US" sz="1450" dirty="0"/>
          </a:p>
        </p:txBody>
      </p:sp>
      <p:sp>
        <p:nvSpPr>
          <p:cNvPr id="9" name="Text 7"/>
          <p:cNvSpPr txBox="1"/>
          <p:nvPr/>
        </p:nvSpPr>
        <p:spPr>
          <a:xfrm>
            <a:off x="6483096" y="2313432"/>
            <a:ext cx="4873752" cy="125272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The evidence for spontaneous production is unclear rather than negative — there is very little of it. The foundational cross-cultural work of the 1970s, including the Fore studies, did not systematically measure how people in these communities actually moved their faces during emotional episodes.</a:t>
            </a:r>
            <a:endParaRPr lang="en-US" sz="1250" dirty="0"/>
          </a:p>
        </p:txBody>
      </p:sp>
      <p:sp>
        <p:nvSpPr>
          <p:cNvPr id="10" name="Shape 8"/>
          <p:cNvSpPr/>
          <p:nvPr/>
        </p:nvSpPr>
        <p:spPr>
          <a:xfrm>
            <a:off x="594360" y="4023360"/>
            <a:ext cx="11002975" cy="1874520"/>
          </a:xfrm>
          <a:prstGeom prst="roundRect">
            <a:avLst>
              <a:gd name="adj" fmla="val 3415"/>
            </a:avLst>
          </a:prstGeom>
          <a:solidFill>
            <a:srgbClr val="16202C"/>
          </a:solidFill>
          <a:ln w="12700">
            <a:solidFill>
              <a:srgbClr val="16202C"/>
            </a:solidFill>
            <a:prstDash val="solid"/>
          </a:ln>
        </p:spPr>
      </p:sp>
      <p:sp>
        <p:nvSpPr>
          <p:cNvPr id="11" name="Text 9"/>
          <p:cNvSpPr txBox="1"/>
          <p:nvPr/>
        </p:nvSpPr>
        <p:spPr>
          <a:xfrm>
            <a:off x="960120" y="4206240"/>
            <a:ext cx="10271455" cy="320040"/>
          </a:xfrm>
          <a:prstGeom prst="rect">
            <a:avLst/>
          </a:prstGeom>
          <a:noFill/>
          <a:ln/>
        </p:spPr>
        <p:txBody>
          <a:bodyPr wrap="square" lIns="0" tIns="0" rIns="0" bIns="0" rtlCol="0" anchor="ctr"/>
          <a:lstStyle/>
          <a:p>
            <a:pPr indent="0" marL="0">
              <a:buNone/>
            </a:pPr>
            <a:r>
              <a:rPr lang="en-US" sz="1400" b="1" dirty="0">
                <a:solidFill>
                  <a:srgbClr val="D9A441"/>
                </a:solidFill>
                <a:latin typeface="Calibri" pitchFamily="34" charset="0"/>
                <a:ea typeface="Calibri" pitchFamily="34" charset="-122"/>
                <a:cs typeface="Calibri" pitchFamily="34" charset="-120"/>
              </a:rPr>
              <a:t>A structural problem worth noticing</a:t>
            </a:r>
            <a:endParaRPr lang="en-US" sz="1400" dirty="0"/>
          </a:p>
        </p:txBody>
      </p:sp>
      <p:sp>
        <p:nvSpPr>
          <p:cNvPr id="12" name="Text 10"/>
          <p:cNvSpPr txBox="1"/>
          <p:nvPr/>
        </p:nvSpPr>
        <p:spPr>
          <a:xfrm>
            <a:off x="960120" y="4572000"/>
            <a:ext cx="10271455" cy="1143000"/>
          </a:xfrm>
          <a:prstGeom prst="rect">
            <a:avLst/>
          </a:prstGeom>
          <a:noFill/>
          <a:ln/>
        </p:spPr>
        <p:txBody>
          <a:bodyPr wrap="square" lIns="0" tIns="0" rIns="0" bIns="0" rtlCol="0" anchor="t"/>
          <a:lstStyle/>
          <a:p>
            <a:pPr indent="0" marL="0">
              <a:lnSpc>
                <a:spcPct val="112000"/>
              </a:lnSpc>
              <a:buNone/>
            </a:pPr>
            <a:r>
              <a:rPr lang="en-US" sz="1400" dirty="0">
                <a:solidFill>
                  <a:srgbClr val="FFFFFF"/>
                </a:solidFill>
                <a:latin typeface="Calibri" pitchFamily="34" charset="0"/>
                <a:ea typeface="Calibri" pitchFamily="34" charset="-122"/>
                <a:cs typeface="Calibri" pitchFamily="34" charset="-120"/>
              </a:rPr>
              <a:t>The stimulus sets used across this literature — including the ones our datasets inherit — descend from a small number of posed photograph collections, selected decades ago for maximal distinguishability. They are caricatures, chosen because they are easy to categorise. Support for the common view rises with how posed and exaggerated the stimulus is.</a:t>
            </a:r>
            <a:endParaRPr lang="en-US" sz="1400" dirty="0"/>
          </a:p>
        </p:txBody>
      </p:sp>
      <p:sp>
        <p:nvSpPr>
          <p:cNvPr id="13" name="Text 11"/>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production sections and Table 5; Gendron &amp; Barrett (2017); Russell (1994).</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PRODUCTION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two populations that should show it most clearly</a:t>
            </a:r>
            <a:endParaRPr lang="en-US" sz="3200" dirty="0"/>
          </a:p>
        </p:txBody>
      </p:sp>
      <p:sp>
        <p:nvSpPr>
          <p:cNvPr id="4" name="Shape 2"/>
          <p:cNvSpPr/>
          <p:nvPr/>
        </p:nvSpPr>
        <p:spPr>
          <a:xfrm>
            <a:off x="594360" y="1783080"/>
            <a:ext cx="5349240" cy="502920"/>
          </a:xfrm>
          <a:prstGeom prst="roundRect">
            <a:avLst>
              <a:gd name="adj" fmla="val 10909"/>
            </a:avLst>
          </a:prstGeom>
          <a:solidFill>
            <a:srgbClr val="2E4057"/>
          </a:solidFill>
          <a:ln w="12700">
            <a:solidFill>
              <a:srgbClr val="2E4057"/>
            </a:solidFill>
            <a:prstDash val="solid"/>
          </a:ln>
        </p:spPr>
      </p:sp>
      <p:sp>
        <p:nvSpPr>
          <p:cNvPr id="5" name="Text 3"/>
          <p:cNvSpPr txBox="1"/>
          <p:nvPr/>
        </p:nvSpPr>
        <p:spPr>
          <a:xfrm>
            <a:off x="868680" y="1783080"/>
            <a:ext cx="4800600" cy="502920"/>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INFANTS AND YOUNG CHILDREN</a:t>
            </a:r>
            <a:endParaRPr lang="en-US" sz="1200" dirty="0"/>
          </a:p>
        </p:txBody>
      </p:sp>
      <p:sp>
        <p:nvSpPr>
          <p:cNvPr id="6" name="Text 4"/>
          <p:cNvSpPr txBox="1"/>
          <p:nvPr/>
        </p:nvSpPr>
        <p:spPr>
          <a:xfrm>
            <a:off x="640080" y="2450592"/>
            <a:ext cx="5257800" cy="329184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Reliability and specificity are unsupported: the hypothesised configurations are not what infants reliably do</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The proposed fear configuration is rarely observed in young infants at all</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Infants scowl while crying and when about to cry — not distinctively in anger</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In one naturalistic study, children playing a deliberately frightening game produced the predicted fear configuration only rarely</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Adult observers still judge infants as angry or fearful — the perceiver supplies the category</a:t>
            </a:r>
            <a:endParaRPr lang="en-US" sz="1250" dirty="0"/>
          </a:p>
        </p:txBody>
      </p:sp>
      <p:sp>
        <p:nvSpPr>
          <p:cNvPr id="7" name="Shape 5"/>
          <p:cNvSpPr/>
          <p:nvPr/>
        </p:nvSpPr>
        <p:spPr>
          <a:xfrm>
            <a:off x="6245352" y="1783080"/>
            <a:ext cx="5349240" cy="502920"/>
          </a:xfrm>
          <a:prstGeom prst="roundRect">
            <a:avLst>
              <a:gd name="adj" fmla="val 10909"/>
            </a:avLst>
          </a:prstGeom>
          <a:solidFill>
            <a:srgbClr val="E07A5F"/>
          </a:solidFill>
          <a:ln w="12700">
            <a:solidFill>
              <a:srgbClr val="E07A5F"/>
            </a:solidFill>
            <a:prstDash val="solid"/>
          </a:ln>
        </p:spPr>
      </p:sp>
      <p:sp>
        <p:nvSpPr>
          <p:cNvPr id="8" name="Text 6"/>
          <p:cNvSpPr txBox="1"/>
          <p:nvPr/>
        </p:nvSpPr>
        <p:spPr>
          <a:xfrm>
            <a:off x="6519672" y="1783080"/>
            <a:ext cx="4800600" cy="502920"/>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CONGENITALLY BLIND INDIVIDUALS</a:t>
            </a:r>
            <a:endParaRPr lang="en-US" sz="1200" dirty="0"/>
          </a:p>
        </p:txBody>
      </p:sp>
      <p:sp>
        <p:nvSpPr>
          <p:cNvPr id="9" name="Text 7"/>
          <p:cNvSpPr txBox="1"/>
          <p:nvPr/>
        </p:nvSpPr>
        <p:spPr>
          <a:xfrm>
            <a:off x="6291072" y="2450592"/>
            <a:ext cx="5257800" cy="329184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The strongest available test of an innate, non-imitative expressive programme</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Blind and sighted individuals moved their faces in broadly similar ways during emotional episodes</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But both groups produced the hypothesised configurations with weak reliability or none, and neither with specificity</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Similarity between the groups is often reported as support for universality — it is equally consistent with both groups simply being variable</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Onset and severity of blindness vary widely across these studies</a:t>
            </a:r>
            <a:endParaRPr lang="en-US" sz="1250" dirty="0"/>
          </a:p>
        </p:txBody>
      </p:sp>
      <p:sp>
        <p:nvSpPr>
          <p:cNvPr id="10" name="Text 8"/>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infant, child and congenital blindness sections; Camras et al.; Galati et al. (1997, 2001, 2003); Valente et al. (2017).</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INTERIM SUMMARY</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Where the production evidence leaves us</a:t>
            </a:r>
            <a:endParaRPr lang="en-US" sz="3200" dirty="0"/>
          </a:p>
        </p:txBody>
      </p:sp>
      <p:sp>
        <p:nvSpPr>
          <p:cNvPr id="4" name="Shape 2"/>
          <p:cNvSpPr/>
          <p:nvPr/>
        </p:nvSpPr>
        <p:spPr>
          <a:xfrm>
            <a:off x="594360" y="1783080"/>
            <a:ext cx="11002975" cy="1234440"/>
          </a:xfrm>
          <a:prstGeom prst="roundRect">
            <a:avLst>
              <a:gd name="adj" fmla="val 5185"/>
            </a:avLst>
          </a:prstGeom>
          <a:solidFill>
            <a:srgbClr val="F1F3F5"/>
          </a:solidFill>
          <a:ln w="12700">
            <a:solidFill>
              <a:srgbClr val="E2E6EA"/>
            </a:solidFill>
            <a:prstDash val="solid"/>
          </a:ln>
        </p:spPr>
      </p:sp>
      <p:sp>
        <p:nvSpPr>
          <p:cNvPr id="5" name="Text 3"/>
          <p:cNvSpPr txBox="1"/>
          <p:nvPr/>
        </p:nvSpPr>
        <p:spPr>
          <a:xfrm>
            <a:off x="960120" y="1965960"/>
            <a:ext cx="10271455" cy="868680"/>
          </a:xfrm>
          <a:prstGeom prst="rect">
            <a:avLst/>
          </a:prstGeom>
          <a:noFill/>
          <a:ln/>
        </p:spPr>
        <p:txBody>
          <a:bodyPr wrap="square" lIns="0" tIns="0" rIns="0" bIns="0" rtlCol="0" anchor="ctr"/>
          <a:lstStyle/>
          <a:p>
            <a:pPr indent="0" marL="0">
              <a:lnSpc>
                <a:spcPct val="112000"/>
              </a:lnSpc>
              <a:buNone/>
            </a:pPr>
            <a:r>
              <a:rPr lang="en-US" sz="1600" dirty="0">
                <a:solidFill>
                  <a:srgbClr val="16202C"/>
                </a:solidFill>
                <a:latin typeface="Calibri" pitchFamily="34" charset="0"/>
                <a:ea typeface="Calibri" pitchFamily="34" charset="-122"/>
                <a:cs typeface="Calibri" pitchFamily="34" charset="-120"/>
              </a:rPr>
              <a:t>Adults across cultures, infants and children, and congenitally blind individuals all show substantially more variability in how they move their faces during emotional episodes than the common view allows.</a:t>
            </a:r>
            <a:endParaRPr lang="en-US" sz="1600" dirty="0"/>
          </a:p>
        </p:txBody>
      </p:sp>
      <p:sp>
        <p:nvSpPr>
          <p:cNvPr id="6" name="Shape 4"/>
          <p:cNvSpPr/>
          <p:nvPr/>
        </p:nvSpPr>
        <p:spPr>
          <a:xfrm>
            <a:off x="594360" y="3291840"/>
            <a:ext cx="3520440" cy="1600200"/>
          </a:xfrm>
          <a:prstGeom prst="roundRect">
            <a:avLst>
              <a:gd name="adj" fmla="val 2857"/>
            </a:avLst>
          </a:prstGeom>
          <a:solidFill>
            <a:srgbClr val="F1F3F5"/>
          </a:solidFill>
          <a:ln w="12700">
            <a:solidFill>
              <a:srgbClr val="F1F3F5"/>
            </a:solidFill>
            <a:prstDash val="solid"/>
          </a:ln>
        </p:spPr>
      </p:sp>
      <p:sp>
        <p:nvSpPr>
          <p:cNvPr id="7" name="Text 5"/>
          <p:cNvSpPr txBox="1"/>
          <p:nvPr/>
        </p:nvSpPr>
        <p:spPr>
          <a:xfrm>
            <a:off x="832104" y="347472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Many-to-many, not one-to-one</a:t>
            </a:r>
            <a:endParaRPr lang="en-US" sz="1450" dirty="0"/>
          </a:p>
        </p:txBody>
      </p:sp>
      <p:sp>
        <p:nvSpPr>
          <p:cNvPr id="8" name="Text 6"/>
          <p:cNvSpPr txBox="1"/>
          <p:nvPr/>
        </p:nvSpPr>
        <p:spPr>
          <a:xfrm>
            <a:off x="832104" y="3822192"/>
            <a:ext cx="3044952" cy="886968"/>
          </a:xfrm>
          <a:prstGeom prst="rect">
            <a:avLst/>
          </a:prstGeom>
          <a:noFill/>
          <a:ln/>
        </p:spPr>
        <p:txBody>
          <a:bodyPr wrap="square" lIns="0" tIns="0" rIns="0" bIns="0" rtlCol="0" anchor="t"/>
          <a:lstStyle/>
          <a:p>
            <a:pPr indent="0" marL="0">
              <a:lnSpc>
                <a:spcPct val="108000"/>
              </a:lnSpc>
              <a:buNone/>
            </a:pPr>
            <a:r>
              <a:rPr lang="en-US" sz="1300" dirty="0">
                <a:solidFill>
                  <a:srgbClr val="2E4057"/>
                </a:solidFill>
                <a:latin typeface="Calibri" pitchFamily="34" charset="0"/>
                <a:ea typeface="Calibri" pitchFamily="34" charset="-122"/>
                <a:cs typeface="Calibri" pitchFamily="34" charset="-120"/>
              </a:rPr>
              <a:t>Anger is expressed with a wider range of movements than a scowl, and scowls express more than anger.</a:t>
            </a:r>
            <a:endParaRPr lang="en-US" sz="1300" dirty="0"/>
          </a:p>
        </p:txBody>
      </p:sp>
      <p:sp>
        <p:nvSpPr>
          <p:cNvPr id="9" name="Shape 7"/>
          <p:cNvSpPr/>
          <p:nvPr/>
        </p:nvSpPr>
        <p:spPr>
          <a:xfrm>
            <a:off x="4334256" y="3291840"/>
            <a:ext cx="3520440" cy="1600200"/>
          </a:xfrm>
          <a:prstGeom prst="roundRect">
            <a:avLst>
              <a:gd name="adj" fmla="val 2857"/>
            </a:avLst>
          </a:prstGeom>
          <a:solidFill>
            <a:srgbClr val="F1F3F5"/>
          </a:solidFill>
          <a:ln w="12700">
            <a:solidFill>
              <a:srgbClr val="F1F3F5"/>
            </a:solidFill>
            <a:prstDash val="solid"/>
          </a:ln>
        </p:spPr>
      </p:sp>
      <p:sp>
        <p:nvSpPr>
          <p:cNvPr id="10" name="Text 8"/>
          <p:cNvSpPr txBox="1"/>
          <p:nvPr/>
        </p:nvSpPr>
        <p:spPr>
          <a:xfrm>
            <a:off x="4572000" y="347472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A scowl, not the scowl</a:t>
            </a:r>
            <a:endParaRPr lang="en-US" sz="1450" dirty="0"/>
          </a:p>
        </p:txBody>
      </p:sp>
      <p:sp>
        <p:nvSpPr>
          <p:cNvPr id="11" name="Text 9"/>
          <p:cNvSpPr txBox="1"/>
          <p:nvPr/>
        </p:nvSpPr>
        <p:spPr>
          <a:xfrm>
            <a:off x="4572000" y="3822192"/>
            <a:ext cx="3044952" cy="886968"/>
          </a:xfrm>
          <a:prstGeom prst="rect">
            <a:avLst/>
          </a:prstGeom>
          <a:noFill/>
          <a:ln/>
        </p:spPr>
        <p:txBody>
          <a:bodyPr wrap="square" lIns="0" tIns="0" rIns="0" bIns="0" rtlCol="0" anchor="t"/>
          <a:lstStyle/>
          <a:p>
            <a:pPr indent="0" marL="0">
              <a:lnSpc>
                <a:spcPct val="108000"/>
              </a:lnSpc>
              <a:buNone/>
            </a:pPr>
            <a:r>
              <a:rPr lang="en-US" sz="1300" dirty="0">
                <a:solidFill>
                  <a:srgbClr val="2E4057"/>
                </a:solidFill>
                <a:latin typeface="Calibri" pitchFamily="34" charset="0"/>
                <a:ea typeface="Calibri" pitchFamily="34" charset="-122"/>
                <a:cs typeface="Calibri" pitchFamily="34" charset="-120"/>
              </a:rPr>
              <a:t>A scowl can be part of an instance of anger. It is not the expression of anger in any generalisable way.</a:t>
            </a:r>
            <a:endParaRPr lang="en-US" sz="1300" dirty="0"/>
          </a:p>
        </p:txBody>
      </p:sp>
      <p:sp>
        <p:nvSpPr>
          <p:cNvPr id="12" name="Shape 10"/>
          <p:cNvSpPr/>
          <p:nvPr/>
        </p:nvSpPr>
        <p:spPr>
          <a:xfrm>
            <a:off x="8074152" y="3291840"/>
            <a:ext cx="3520440" cy="1600200"/>
          </a:xfrm>
          <a:prstGeom prst="roundRect">
            <a:avLst>
              <a:gd name="adj" fmla="val 2857"/>
            </a:avLst>
          </a:prstGeom>
          <a:solidFill>
            <a:srgbClr val="FBEDE8"/>
          </a:solidFill>
          <a:ln w="12700">
            <a:solidFill>
              <a:srgbClr val="F0D6CC"/>
            </a:solidFill>
            <a:prstDash val="solid"/>
          </a:ln>
        </p:spPr>
      </p:sp>
      <p:sp>
        <p:nvSpPr>
          <p:cNvPr id="13" name="Text 11"/>
          <p:cNvSpPr txBox="1"/>
          <p:nvPr/>
        </p:nvSpPr>
        <p:spPr>
          <a:xfrm>
            <a:off x="8311896" y="3474720"/>
            <a:ext cx="30449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Stereotype, not prototype</a:t>
            </a:r>
            <a:endParaRPr lang="en-US" sz="1450" dirty="0"/>
          </a:p>
        </p:txBody>
      </p:sp>
      <p:sp>
        <p:nvSpPr>
          <p:cNvPr id="14" name="Text 12"/>
          <p:cNvSpPr txBox="1"/>
          <p:nvPr/>
        </p:nvSpPr>
        <p:spPr>
          <a:xfrm>
            <a:off x="8311896" y="3822192"/>
            <a:ext cx="3044952" cy="886968"/>
          </a:xfrm>
          <a:prstGeom prst="rect">
            <a:avLst/>
          </a:prstGeom>
          <a:noFill/>
          <a:ln/>
        </p:spPr>
        <p:txBody>
          <a:bodyPr wrap="square" lIns="0" tIns="0" rIns="0" bIns="0" rtlCol="0" anchor="t"/>
          <a:lstStyle/>
          <a:p>
            <a:pPr indent="0" marL="0">
              <a:lnSpc>
                <a:spcPct val="108000"/>
              </a:lnSpc>
              <a:buNone/>
            </a:pPr>
            <a:r>
              <a:rPr lang="en-US" sz="1300" dirty="0">
                <a:solidFill>
                  <a:srgbClr val="2E4057"/>
                </a:solidFill>
                <a:latin typeface="Calibri" pitchFamily="34" charset="0"/>
                <a:ea typeface="Calibri" pitchFamily="34" charset="-122"/>
                <a:cs typeface="Calibri" pitchFamily="34" charset="-120"/>
              </a:rPr>
              <a:t>A prototype is a category's most typical member. A stereotype is an oversimplification treated as more general than it is.</a:t>
            </a:r>
            <a:endParaRPr lang="en-US" sz="1300" dirty="0"/>
          </a:p>
        </p:txBody>
      </p:sp>
      <p:sp>
        <p:nvSpPr>
          <p:cNvPr id="15" name="Shape 13"/>
          <p:cNvSpPr/>
          <p:nvPr/>
        </p:nvSpPr>
        <p:spPr>
          <a:xfrm>
            <a:off x="594360" y="5120640"/>
            <a:ext cx="11002975" cy="914400"/>
          </a:xfrm>
          <a:prstGeom prst="roundRect">
            <a:avLst>
              <a:gd name="adj" fmla="val 7000"/>
            </a:avLst>
          </a:prstGeom>
          <a:solidFill>
            <a:srgbClr val="16202C"/>
          </a:solidFill>
          <a:ln w="12700">
            <a:solidFill>
              <a:srgbClr val="16202C"/>
            </a:solidFill>
            <a:prstDash val="solid"/>
          </a:ln>
        </p:spPr>
      </p:sp>
      <p:sp>
        <p:nvSpPr>
          <p:cNvPr id="16" name="Text 14"/>
          <p:cNvSpPr txBox="1"/>
          <p:nvPr/>
        </p:nvSpPr>
        <p:spPr>
          <a:xfrm>
            <a:off x="960120" y="5230368"/>
            <a:ext cx="10271455" cy="694944"/>
          </a:xfrm>
          <a:prstGeom prst="rect">
            <a:avLst/>
          </a:prstGeom>
          <a:noFill/>
          <a:ln/>
        </p:spPr>
        <p:txBody>
          <a:bodyPr wrap="square" lIns="0" tIns="0" rIns="0" bIns="0" rtlCol="0" anchor="ctr"/>
          <a:lstStyle/>
          <a:p>
            <a:pPr indent="0" marL="0">
              <a:lnSpc>
                <a:spcPct val="110000"/>
              </a:lnSpc>
              <a:buNone/>
            </a:pPr>
            <a:r>
              <a:rPr lang="en-US" sz="1400" dirty="0">
                <a:solidFill>
                  <a:srgbClr val="D9A441"/>
                </a:solidFill>
                <a:latin typeface="Calibri" pitchFamily="34" charset="0"/>
                <a:ea typeface="Calibri" pitchFamily="34" charset="-122"/>
                <a:cs typeface="Calibri" pitchFamily="34" charset="-120"/>
              </a:rPr>
              <a:t>Terminological consequence: prefer facial configuration, pattern of facial movements, or facial actions over emotional expression, which smuggles in the conclusion.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2331720"/>
            <a:ext cx="960120" cy="960120"/>
          </a:xfrm>
          <a:prstGeom prst="roundRect">
            <a:avLst>
              <a:gd name="adj" fmla="val 13333"/>
            </a:avLst>
          </a:prstGeom>
          <a:solidFill>
            <a:srgbClr val="E07A5F"/>
          </a:solidFill>
          <a:ln w="12700">
            <a:solidFill>
              <a:srgbClr val="E07A5F"/>
            </a:solidFill>
            <a:prstDash val="solid"/>
          </a:ln>
        </p:spPr>
      </p:sp>
      <p:sp>
        <p:nvSpPr>
          <p:cNvPr id="3" name="Text 1"/>
          <p:cNvSpPr txBox="1"/>
          <p:nvPr/>
        </p:nvSpPr>
        <p:spPr>
          <a:xfrm>
            <a:off x="594360" y="2331720"/>
            <a:ext cx="960120" cy="960120"/>
          </a:xfrm>
          <a:prstGeom prst="rect">
            <a:avLst/>
          </a:prstGeom>
          <a:noFill/>
          <a:ln/>
        </p:spPr>
        <p:txBody>
          <a:bodyPr wrap="square" lIns="0" tIns="0" rIns="0" bIns="0" rtlCol="0" anchor="ctr"/>
          <a:lstStyle/>
          <a:p>
            <a:pPr algn="ctr" indent="0" marL="0">
              <a:buNone/>
            </a:pPr>
            <a:r>
              <a:rPr lang="en-US" sz="4000" b="1" dirty="0">
                <a:solidFill>
                  <a:srgbClr val="16202C"/>
                </a:solidFill>
                <a:latin typeface="Cambria" pitchFamily="34" charset="0"/>
                <a:ea typeface="Cambria" pitchFamily="34" charset="-122"/>
                <a:cs typeface="Cambria" pitchFamily="34" charset="-120"/>
              </a:rPr>
              <a:t>4</a:t>
            </a:r>
            <a:endParaRPr lang="en-US" sz="4000" dirty="0"/>
          </a:p>
        </p:txBody>
      </p:sp>
      <p:sp>
        <p:nvSpPr>
          <p:cNvPr id="4" name="Text 2"/>
          <p:cNvSpPr txBox="1"/>
          <p:nvPr/>
        </p:nvSpPr>
        <p:spPr>
          <a:xfrm>
            <a:off x="1965960" y="2331720"/>
            <a:ext cx="9631375"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perception evidence</a:t>
            </a:r>
            <a:endParaRPr lang="en-US" sz="3800" dirty="0"/>
          </a:p>
        </p:txBody>
      </p:sp>
      <p:sp>
        <p:nvSpPr>
          <p:cNvPr id="5" name="Text 3"/>
          <p:cNvSpPr txBox="1"/>
          <p:nvPr/>
        </p:nvSpPr>
        <p:spPr>
          <a:xfrm>
            <a:off x="1965960" y="3035808"/>
            <a:ext cx="9631375" cy="365760"/>
          </a:xfrm>
          <a:prstGeom prst="rect">
            <a:avLst/>
          </a:prstGeom>
          <a:noFill/>
          <a:ln/>
        </p:spPr>
        <p:txBody>
          <a:bodyPr wrap="square" lIns="0" tIns="0" rIns="0" bIns="0" rtlCol="0" anchor="t"/>
          <a:lstStyle/>
          <a:p>
            <a:pPr indent="0" marL="0">
              <a:buNone/>
            </a:pPr>
            <a:r>
              <a:rPr lang="en-US" sz="1500" dirty="0">
                <a:solidFill>
                  <a:srgbClr val="9AA3AE"/>
                </a:solidFill>
                <a:latin typeface="Calibri" pitchFamily="34" charset="0"/>
                <a:ea typeface="Calibri" pitchFamily="34" charset="-122"/>
                <a:cs typeface="Calibri" pitchFamily="34" charset="-120"/>
              </a:rPr>
              <a:t>Do people reliably infer emotion from facial movements?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PERCEPTION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task you choose determines the answer you get</a:t>
            </a:r>
            <a:endParaRPr lang="en-US" sz="3200" dirty="0"/>
          </a:p>
        </p:txBody>
      </p:sp>
      <p:sp>
        <p:nvSpPr>
          <p:cNvPr id="4" name="Shape 2"/>
          <p:cNvSpPr/>
          <p:nvPr/>
        </p:nvSpPr>
        <p:spPr>
          <a:xfrm>
            <a:off x="594360" y="1783080"/>
            <a:ext cx="5349240" cy="2514600"/>
          </a:xfrm>
          <a:prstGeom prst="roundRect">
            <a:avLst>
              <a:gd name="adj" fmla="val 2545"/>
            </a:avLst>
          </a:prstGeom>
          <a:solidFill>
            <a:srgbClr val="F1F3F5"/>
          </a:solidFill>
          <a:ln w="12700">
            <a:solidFill>
              <a:srgbClr val="E2E6EA"/>
            </a:solidFill>
            <a:prstDash val="solid"/>
          </a:ln>
        </p:spPr>
      </p:sp>
      <p:sp>
        <p:nvSpPr>
          <p:cNvPr id="5" name="Text 3"/>
          <p:cNvSpPr txBox="1"/>
          <p:nvPr/>
        </p:nvSpPr>
        <p:spPr>
          <a:xfrm>
            <a:off x="868680" y="1965960"/>
            <a:ext cx="4800600" cy="274320"/>
          </a:xfrm>
          <a:prstGeom prst="rect">
            <a:avLst/>
          </a:prstGeom>
          <a:noFill/>
          <a:ln/>
        </p:spPr>
        <p:txBody>
          <a:bodyPr wrap="square" lIns="0" tIns="0" rIns="0" bIns="0" rtlCol="0" anchor="ctr"/>
          <a:lstStyle/>
          <a:p>
            <a:pPr indent="0" marL="0">
              <a:buNone/>
            </a:pPr>
            <a:r>
              <a:rPr lang="en-US" sz="1100" b="1" spc="140" kern="0" dirty="0">
                <a:solidFill>
                  <a:srgbClr val="3D7068"/>
                </a:solidFill>
                <a:latin typeface="Calibri" pitchFamily="34" charset="0"/>
                <a:ea typeface="Calibri" pitchFamily="34" charset="-122"/>
                <a:cs typeface="Calibri" pitchFamily="34" charset="-120"/>
              </a:rPr>
              <a:t>CHOICE FROM ARRAY</a:t>
            </a:r>
            <a:endParaRPr lang="en-US" sz="1100" dirty="0"/>
          </a:p>
        </p:txBody>
      </p:sp>
      <p:sp>
        <p:nvSpPr>
          <p:cNvPr id="6" name="Text 4"/>
          <p:cNvSpPr txBox="1"/>
          <p:nvPr/>
        </p:nvSpPr>
        <p:spPr>
          <a:xfrm>
            <a:off x="868680" y="2286000"/>
            <a:ext cx="4800600" cy="594360"/>
          </a:xfrm>
          <a:prstGeom prst="rect">
            <a:avLst/>
          </a:prstGeom>
          <a:noFill/>
          <a:ln/>
        </p:spPr>
        <p:txBody>
          <a:bodyPr wrap="square" lIns="0" tIns="0" rIns="0" bIns="0" rtlCol="0" anchor="ctr"/>
          <a:lstStyle/>
          <a:p>
            <a:pPr indent="0" marL="0">
              <a:lnSpc>
                <a:spcPct val="108000"/>
              </a:lnSpc>
              <a:buNone/>
            </a:pPr>
            <a:r>
              <a:rPr lang="en-US" sz="1350" dirty="0">
                <a:solidFill>
                  <a:srgbClr val="16202C"/>
                </a:solidFill>
                <a:latin typeface="Calibri" pitchFamily="34" charset="0"/>
                <a:ea typeface="Calibri" pitchFamily="34" charset="-122"/>
                <a:cs typeface="Calibri" pitchFamily="34" charset="-120"/>
              </a:rPr>
              <a:t>Participant sees a face and picks from a short list of emotion words supplied by the experimenter.</a:t>
            </a:r>
            <a:endParaRPr lang="en-US" sz="1350" dirty="0"/>
          </a:p>
        </p:txBody>
      </p:sp>
      <p:sp>
        <p:nvSpPr>
          <p:cNvPr id="7" name="Text 5"/>
          <p:cNvSpPr txBox="1"/>
          <p:nvPr/>
        </p:nvSpPr>
        <p:spPr>
          <a:xfrm>
            <a:off x="914400" y="2971800"/>
            <a:ext cx="4709160" cy="118872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200" dirty="0">
                <a:solidFill>
                  <a:srgbClr val="2E4057"/>
                </a:solidFill>
                <a:latin typeface="Calibri" pitchFamily="34" charset="0"/>
                <a:ea typeface="Calibri" pitchFamily="34" charset="-122"/>
                <a:cs typeface="Calibri" pitchFamily="34" charset="-120"/>
              </a:rPr>
              <a:t>Produces strong, replicable agreement</a:t>
            </a:r>
            <a:endParaRPr lang="en-US" sz="1200" dirty="0"/>
          </a:p>
          <a:p>
            <a:pPr marL="342900" indent="-342900">
              <a:lnSpc>
                <a:spcPct val="110000"/>
              </a:lnSpc>
              <a:spcAft>
                <a:spcPts val="500"/>
              </a:spcAft>
              <a:buSzPct val="100000"/>
              <a:buChar char="▪"/>
            </a:pPr>
            <a:r>
              <a:rPr lang="en-US" sz="1200" dirty="0">
                <a:solidFill>
                  <a:srgbClr val="2E4057"/>
                </a:solidFill>
                <a:latin typeface="Calibri" pitchFamily="34" charset="0"/>
                <a:ea typeface="Calibri" pitchFamily="34" charset="-122"/>
                <a:cs typeface="Calibri" pitchFamily="34" charset="-120"/>
              </a:rPr>
              <a:t>Supplies the categories it then confirms</a:t>
            </a:r>
            <a:endParaRPr lang="en-US" sz="1200" dirty="0"/>
          </a:p>
          <a:p>
            <a:pPr marL="342900" indent="-342900">
              <a:lnSpc>
                <a:spcPct val="110000"/>
              </a:lnSpc>
              <a:spcAft>
                <a:spcPts val="500"/>
              </a:spcAft>
              <a:buSzPct val="100000"/>
              <a:buChar char="▪"/>
            </a:pPr>
            <a:r>
              <a:rPr lang="en-US" sz="1200" dirty="0">
                <a:solidFill>
                  <a:srgbClr val="2E4057"/>
                </a:solidFill>
                <a:latin typeface="Calibri" pitchFamily="34" charset="0"/>
                <a:ea typeface="Calibri" pitchFamily="34" charset="-122"/>
                <a:cs typeface="Calibri" pitchFamily="34" charset="-120"/>
              </a:rPr>
              <a:t>Chance is high — six options, not open-ended</a:t>
            </a:r>
            <a:endParaRPr lang="en-US" sz="1200" dirty="0"/>
          </a:p>
        </p:txBody>
      </p:sp>
      <p:sp>
        <p:nvSpPr>
          <p:cNvPr id="8" name="Shape 6"/>
          <p:cNvSpPr/>
          <p:nvPr/>
        </p:nvSpPr>
        <p:spPr>
          <a:xfrm>
            <a:off x="6245352" y="1783080"/>
            <a:ext cx="5349240" cy="2514600"/>
          </a:xfrm>
          <a:prstGeom prst="roundRect">
            <a:avLst>
              <a:gd name="adj" fmla="val 2545"/>
            </a:avLst>
          </a:prstGeom>
          <a:solidFill>
            <a:srgbClr val="FBEDE8"/>
          </a:solidFill>
          <a:ln w="12700">
            <a:solidFill>
              <a:srgbClr val="F0D6CC"/>
            </a:solidFill>
            <a:prstDash val="solid"/>
          </a:ln>
        </p:spPr>
      </p:sp>
      <p:sp>
        <p:nvSpPr>
          <p:cNvPr id="9" name="Text 7"/>
          <p:cNvSpPr txBox="1"/>
          <p:nvPr/>
        </p:nvSpPr>
        <p:spPr>
          <a:xfrm>
            <a:off x="6519672" y="1965960"/>
            <a:ext cx="4800600" cy="274320"/>
          </a:xfrm>
          <a:prstGeom prst="rect">
            <a:avLst/>
          </a:prstGeom>
          <a:noFill/>
          <a:ln/>
        </p:spPr>
        <p:txBody>
          <a:bodyPr wrap="square" lIns="0" tIns="0" rIns="0" bIns="0" rtlCol="0" anchor="ctr"/>
          <a:lstStyle/>
          <a:p>
            <a:pPr indent="0" marL="0">
              <a:buNone/>
            </a:pPr>
            <a:r>
              <a:rPr lang="en-US" sz="1100" b="1" spc="140" kern="0" dirty="0">
                <a:solidFill>
                  <a:srgbClr val="E07A5F"/>
                </a:solidFill>
                <a:latin typeface="Calibri" pitchFamily="34" charset="0"/>
                <a:ea typeface="Calibri" pitchFamily="34" charset="-122"/>
                <a:cs typeface="Calibri" pitchFamily="34" charset="-120"/>
              </a:rPr>
              <a:t>FREE LABELLING</a:t>
            </a:r>
            <a:endParaRPr lang="en-US" sz="1100" dirty="0"/>
          </a:p>
        </p:txBody>
      </p:sp>
      <p:sp>
        <p:nvSpPr>
          <p:cNvPr id="10" name="Text 8"/>
          <p:cNvSpPr txBox="1"/>
          <p:nvPr/>
        </p:nvSpPr>
        <p:spPr>
          <a:xfrm>
            <a:off x="6519672" y="2286000"/>
            <a:ext cx="4800600" cy="594360"/>
          </a:xfrm>
          <a:prstGeom prst="rect">
            <a:avLst/>
          </a:prstGeom>
          <a:noFill/>
          <a:ln/>
        </p:spPr>
        <p:txBody>
          <a:bodyPr wrap="square" lIns="0" tIns="0" rIns="0" bIns="0" rtlCol="0" anchor="ctr"/>
          <a:lstStyle/>
          <a:p>
            <a:pPr indent="0" marL="0">
              <a:lnSpc>
                <a:spcPct val="108000"/>
              </a:lnSpc>
              <a:buNone/>
            </a:pPr>
            <a:r>
              <a:rPr lang="en-US" sz="1350" dirty="0">
                <a:solidFill>
                  <a:srgbClr val="16202C"/>
                </a:solidFill>
                <a:latin typeface="Calibri" pitchFamily="34" charset="0"/>
                <a:ea typeface="Calibri" pitchFamily="34" charset="-122"/>
                <a:cs typeface="Calibri" pitchFamily="34" charset="-120"/>
              </a:rPr>
              <a:t>Participant volunteers whatever word best captures the face — emotion word or not.</a:t>
            </a:r>
            <a:endParaRPr lang="en-US" sz="1350" dirty="0"/>
          </a:p>
        </p:txBody>
      </p:sp>
      <p:sp>
        <p:nvSpPr>
          <p:cNvPr id="11" name="Text 9"/>
          <p:cNvSpPr txBox="1"/>
          <p:nvPr/>
        </p:nvSpPr>
        <p:spPr>
          <a:xfrm>
            <a:off x="6565392" y="2971800"/>
            <a:ext cx="4709160" cy="1188720"/>
          </a:xfrm>
          <a:prstGeom prst="rect">
            <a:avLst/>
          </a:prstGeom>
          <a:noFill/>
          <a:ln/>
        </p:spPr>
        <p:txBody>
          <a:bodyPr wrap="square" lIns="0" tIns="0" rIns="0" bIns="0" rtlCol="0" anchor="ctr"/>
          <a:lstStyle/>
          <a:p>
            <a:pPr marL="342900" indent="-342900">
              <a:lnSpc>
                <a:spcPct val="110000"/>
              </a:lnSpc>
              <a:spcAft>
                <a:spcPts val="500"/>
              </a:spcAft>
              <a:buSzPct val="100000"/>
              <a:buChar char="▪"/>
            </a:pPr>
            <a:r>
              <a:rPr lang="en-US" sz="1200" dirty="0">
                <a:solidFill>
                  <a:srgbClr val="2E4057"/>
                </a:solidFill>
                <a:latin typeface="Calibri" pitchFamily="34" charset="0"/>
                <a:ea typeface="Calibri" pitchFamily="34" charset="-122"/>
                <a:cs typeface="Calibri" pitchFamily="34" charset="-120"/>
              </a:rPr>
              <a:t>Agreement falls to weak or moderate</a:t>
            </a:r>
            <a:endParaRPr lang="en-US" sz="1200" dirty="0"/>
          </a:p>
          <a:p>
            <a:pPr marL="342900" indent="-342900">
              <a:lnSpc>
                <a:spcPct val="110000"/>
              </a:lnSpc>
              <a:spcAft>
                <a:spcPts val="500"/>
              </a:spcAft>
              <a:buSzPct val="100000"/>
              <a:buChar char="▪"/>
            </a:pPr>
            <a:r>
              <a:rPr lang="en-US" sz="1200" dirty="0">
                <a:solidFill>
                  <a:srgbClr val="2E4057"/>
                </a:solidFill>
                <a:latin typeface="Calibri" pitchFamily="34" charset="0"/>
                <a:ea typeface="Calibri" pitchFamily="34" charset="-122"/>
                <a:cs typeface="Calibri" pitchFamily="34" charset="-120"/>
              </a:rPr>
              <a:t>Specificity, where measured, is weak</a:t>
            </a:r>
            <a:endParaRPr lang="en-US" sz="1200" dirty="0"/>
          </a:p>
          <a:p>
            <a:pPr marL="342900" indent="-342900">
              <a:lnSpc>
                <a:spcPct val="110000"/>
              </a:lnSpc>
              <a:spcAft>
                <a:spcPts val="500"/>
              </a:spcAft>
              <a:buSzPct val="100000"/>
              <a:buChar char="▪"/>
            </a:pPr>
            <a:r>
              <a:rPr lang="en-US" sz="1200" dirty="0">
                <a:solidFill>
                  <a:srgbClr val="2E4057"/>
                </a:solidFill>
                <a:latin typeface="Calibri" pitchFamily="34" charset="0"/>
                <a:ea typeface="Calibri" pitchFamily="34" charset="-122"/>
                <a:cs typeface="Calibri" pitchFamily="34" charset="-120"/>
              </a:rPr>
              <a:t>Participants often volunteer actions, not states</a:t>
            </a:r>
            <a:endParaRPr lang="en-US" sz="1200" dirty="0"/>
          </a:p>
        </p:txBody>
      </p:sp>
      <p:sp>
        <p:nvSpPr>
          <p:cNvPr id="12" name="Shape 10"/>
          <p:cNvSpPr/>
          <p:nvPr/>
        </p:nvSpPr>
        <p:spPr>
          <a:xfrm>
            <a:off x="594360" y="4526280"/>
            <a:ext cx="11002975" cy="1417320"/>
          </a:xfrm>
          <a:prstGeom prst="roundRect">
            <a:avLst>
              <a:gd name="adj" fmla="val 4516"/>
            </a:avLst>
          </a:prstGeom>
          <a:solidFill>
            <a:srgbClr val="16202C"/>
          </a:solidFill>
          <a:ln w="12700">
            <a:solidFill>
              <a:srgbClr val="16202C"/>
            </a:solidFill>
            <a:prstDash val="solid"/>
          </a:ln>
        </p:spPr>
      </p:sp>
      <p:sp>
        <p:nvSpPr>
          <p:cNvPr id="13" name="Text 11"/>
          <p:cNvSpPr txBox="1"/>
          <p:nvPr/>
        </p:nvSpPr>
        <p:spPr>
          <a:xfrm>
            <a:off x="960120" y="4709160"/>
            <a:ext cx="10271455" cy="1051560"/>
          </a:xfrm>
          <a:prstGeom prst="rect">
            <a:avLst/>
          </a:prstGeom>
          <a:noFill/>
          <a:ln/>
        </p:spPr>
        <p:txBody>
          <a:bodyPr wrap="square" lIns="0" tIns="0" rIns="0" bIns="0" rtlCol="0" anchor="ctr"/>
          <a:lstStyle/>
          <a:p>
            <a:pPr indent="0" marL="0">
              <a:lnSpc>
                <a:spcPct val="112000"/>
              </a:lnSpc>
              <a:buNone/>
            </a:pPr>
            <a:r>
              <a:rPr lang="en-US" sz="1500" dirty="0">
                <a:solidFill>
                  <a:srgbClr val="FFFFFF"/>
                </a:solidFill>
                <a:latin typeface="Calibri" pitchFamily="34" charset="0"/>
                <a:ea typeface="Calibri" pitchFamily="34" charset="-122"/>
                <a:cs typeface="Calibri" pitchFamily="34" charset="-120"/>
              </a:rPr>
              <a:t>The most striking demonstration: the choice-from-array design produces apparent recognition even for invented emotion categories paired with made-up expressive cues. The task itself manufactures agreement.</a:t>
            </a:r>
            <a:endParaRPr lang="en-US" sz="1500" dirty="0"/>
          </a:p>
        </p:txBody>
      </p:sp>
      <p:sp>
        <p:nvSpPr>
          <p:cNvPr id="14" name="Text 12"/>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Table 5 and "Summary of Scientific Evidence on the Perception of Emotion in Faces".</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PERCEPTION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evidence base that built the consensus</a:t>
            </a:r>
            <a:endParaRPr lang="en-US" sz="3200" dirty="0"/>
          </a:p>
        </p:txBody>
      </p:sp>
      <p:sp>
        <p:nvSpPr>
          <p:cNvPr id="4" name="Text 2"/>
          <p:cNvSpPr txBox="1"/>
          <p:nvPr/>
        </p:nvSpPr>
        <p:spPr>
          <a:xfrm>
            <a:off x="594360" y="1783080"/>
            <a:ext cx="11002975" cy="365760"/>
          </a:xfrm>
          <a:prstGeom prst="rect">
            <a:avLst/>
          </a:prstGeom>
          <a:noFill/>
          <a:ln/>
        </p:spPr>
        <p:txBody>
          <a:bodyPr wrap="square" lIns="0" tIns="0" rIns="0" bIns="0" rtlCol="0" anchor="ctr"/>
          <a:lstStyle/>
          <a:p>
            <a:pPr indent="0" marL="0">
              <a:buNone/>
            </a:pPr>
            <a:r>
              <a:rPr lang="en-US" sz="1500" dirty="0">
                <a:solidFill>
                  <a:srgbClr val="2E4057"/>
                </a:solidFill>
                <a:latin typeface="Calibri" pitchFamily="34" charset="0"/>
                <a:ea typeface="Calibri" pitchFamily="34" charset="-122"/>
                <a:cs typeface="Calibri" pitchFamily="34" charset="-120"/>
              </a:rPr>
              <a:t>The most recent meta-analysis of emotion perception studies remains the 2002 summary by Elfenbein and Ambady.</a:t>
            </a:r>
            <a:endParaRPr lang="en-US" sz="1500" dirty="0"/>
          </a:p>
        </p:txBody>
      </p:sp>
      <p:sp>
        <p:nvSpPr>
          <p:cNvPr id="5" name="Text 3"/>
          <p:cNvSpPr txBox="1"/>
          <p:nvPr/>
        </p:nvSpPr>
        <p:spPr>
          <a:xfrm>
            <a:off x="594360" y="2331720"/>
            <a:ext cx="2377440" cy="749808"/>
          </a:xfrm>
          <a:prstGeom prst="rect">
            <a:avLst/>
          </a:prstGeom>
          <a:noFill/>
          <a:ln/>
        </p:spPr>
        <p:txBody>
          <a:bodyPr wrap="square" lIns="0" tIns="0" rIns="0" bIns="0" rtlCol="0" anchor="ctr"/>
          <a:lstStyle/>
          <a:p>
            <a:pPr indent="0" marL="0">
              <a:lnSpc>
                <a:spcPct val="92000"/>
              </a:lnSpc>
              <a:buNone/>
            </a:pPr>
            <a:r>
              <a:rPr lang="en-US" sz="4600" b="1" dirty="0">
                <a:solidFill>
                  <a:srgbClr val="2E4057"/>
                </a:solidFill>
                <a:latin typeface="Cambria" pitchFamily="34" charset="0"/>
                <a:ea typeface="Cambria" pitchFamily="34" charset="-122"/>
                <a:cs typeface="Cambria" pitchFamily="34" charset="-120"/>
              </a:rPr>
              <a:t>87</a:t>
            </a:r>
            <a:endParaRPr lang="en-US" sz="4600" dirty="0"/>
          </a:p>
        </p:txBody>
      </p:sp>
      <p:sp>
        <p:nvSpPr>
          <p:cNvPr id="6" name="Text 4"/>
          <p:cNvSpPr txBox="1"/>
          <p:nvPr/>
        </p:nvSpPr>
        <p:spPr>
          <a:xfrm>
            <a:off x="594360" y="3099816"/>
            <a:ext cx="2377440" cy="658368"/>
          </a:xfrm>
          <a:prstGeom prst="rect">
            <a:avLst/>
          </a:prstGeom>
          <a:noFill/>
          <a:ln/>
        </p:spPr>
        <p:txBody>
          <a:bodyPr wrap="square" lIns="0" tIns="0" rIns="0" bIns="0" rtlCol="0" anchor="t"/>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experiments summarised</a:t>
            </a:r>
            <a:endParaRPr lang="en-US" sz="1250" dirty="0"/>
          </a:p>
        </p:txBody>
      </p:sp>
      <p:sp>
        <p:nvSpPr>
          <p:cNvPr id="7" name="Text 5"/>
          <p:cNvSpPr txBox="1"/>
          <p:nvPr/>
        </p:nvSpPr>
        <p:spPr>
          <a:xfrm>
            <a:off x="3429000" y="2331720"/>
            <a:ext cx="2377440" cy="749808"/>
          </a:xfrm>
          <a:prstGeom prst="rect">
            <a:avLst/>
          </a:prstGeom>
          <a:noFill/>
          <a:ln/>
        </p:spPr>
        <p:txBody>
          <a:bodyPr wrap="square" lIns="0" tIns="0" rIns="0" bIns="0" rtlCol="0" anchor="ctr"/>
          <a:lstStyle/>
          <a:p>
            <a:pPr indent="0" marL="0">
              <a:lnSpc>
                <a:spcPct val="92000"/>
              </a:lnSpc>
              <a:buNone/>
            </a:pPr>
            <a:r>
              <a:rPr lang="en-US" sz="4600" b="1" dirty="0">
                <a:solidFill>
                  <a:srgbClr val="2E4057"/>
                </a:solidFill>
                <a:latin typeface="Cambria" pitchFamily="34" charset="0"/>
                <a:ea typeface="Cambria" pitchFamily="34" charset="-122"/>
                <a:cs typeface="Cambria" pitchFamily="34" charset="-120"/>
              </a:rPr>
              <a:t>22,000+</a:t>
            </a:r>
            <a:endParaRPr lang="en-US" sz="4600" dirty="0"/>
          </a:p>
        </p:txBody>
      </p:sp>
      <p:sp>
        <p:nvSpPr>
          <p:cNvPr id="8" name="Text 6"/>
          <p:cNvSpPr txBox="1"/>
          <p:nvPr/>
        </p:nvSpPr>
        <p:spPr>
          <a:xfrm>
            <a:off x="3429000" y="3099816"/>
            <a:ext cx="2377440" cy="658368"/>
          </a:xfrm>
          <a:prstGeom prst="rect">
            <a:avLst/>
          </a:prstGeom>
          <a:noFill/>
          <a:ln/>
        </p:spPr>
        <p:txBody>
          <a:bodyPr wrap="square" lIns="0" tIns="0" rIns="0" bIns="0" rtlCol="0" anchor="t"/>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participants</a:t>
            </a:r>
            <a:endParaRPr lang="en-US" sz="1250" dirty="0"/>
          </a:p>
        </p:txBody>
      </p:sp>
      <p:sp>
        <p:nvSpPr>
          <p:cNvPr id="9" name="Text 7"/>
          <p:cNvSpPr txBox="1"/>
          <p:nvPr/>
        </p:nvSpPr>
        <p:spPr>
          <a:xfrm>
            <a:off x="6263640" y="2331720"/>
            <a:ext cx="2377440" cy="749808"/>
          </a:xfrm>
          <a:prstGeom prst="rect">
            <a:avLst/>
          </a:prstGeom>
          <a:noFill/>
          <a:ln/>
        </p:spPr>
        <p:txBody>
          <a:bodyPr wrap="square" lIns="0" tIns="0" rIns="0" bIns="0" rtlCol="0" anchor="ctr"/>
          <a:lstStyle/>
          <a:p>
            <a:pPr indent="0" marL="0">
              <a:lnSpc>
                <a:spcPct val="92000"/>
              </a:lnSpc>
              <a:buNone/>
            </a:pPr>
            <a:r>
              <a:rPr lang="en-US" sz="4600" b="1" dirty="0">
                <a:solidFill>
                  <a:srgbClr val="2E4057"/>
                </a:solidFill>
                <a:latin typeface="Cambria" pitchFamily="34" charset="0"/>
                <a:ea typeface="Cambria" pitchFamily="34" charset="-122"/>
                <a:cs typeface="Cambria" pitchFamily="34" charset="-120"/>
              </a:rPr>
              <a:t>20+</a:t>
            </a:r>
            <a:endParaRPr lang="en-US" sz="4600" dirty="0"/>
          </a:p>
        </p:txBody>
      </p:sp>
      <p:sp>
        <p:nvSpPr>
          <p:cNvPr id="10" name="Text 8"/>
          <p:cNvSpPr txBox="1"/>
          <p:nvPr/>
        </p:nvSpPr>
        <p:spPr>
          <a:xfrm>
            <a:off x="6263640" y="3099816"/>
            <a:ext cx="2377440" cy="658368"/>
          </a:xfrm>
          <a:prstGeom prst="rect">
            <a:avLst/>
          </a:prstGeom>
          <a:noFill/>
          <a:ln/>
        </p:spPr>
        <p:txBody>
          <a:bodyPr wrap="square" lIns="0" tIns="0" rIns="0" bIns="0" rtlCol="0" anchor="t"/>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cultures sampled</a:t>
            </a:r>
            <a:endParaRPr lang="en-US" sz="1250" dirty="0"/>
          </a:p>
        </p:txBody>
      </p:sp>
      <p:sp>
        <p:nvSpPr>
          <p:cNvPr id="11" name="Text 9"/>
          <p:cNvSpPr txBox="1"/>
          <p:nvPr/>
        </p:nvSpPr>
        <p:spPr>
          <a:xfrm>
            <a:off x="9098280" y="2331720"/>
            <a:ext cx="2468880" cy="749808"/>
          </a:xfrm>
          <a:prstGeom prst="rect">
            <a:avLst/>
          </a:prstGeom>
          <a:noFill/>
          <a:ln/>
        </p:spPr>
        <p:txBody>
          <a:bodyPr wrap="square" lIns="0" tIns="0" rIns="0" bIns="0" rtlCol="0" anchor="ctr"/>
          <a:lstStyle/>
          <a:p>
            <a:pPr indent="0" marL="0">
              <a:lnSpc>
                <a:spcPct val="92000"/>
              </a:lnSpc>
              <a:buNone/>
            </a:pPr>
            <a:r>
              <a:rPr lang="en-US" sz="4600" b="1" dirty="0">
                <a:solidFill>
                  <a:srgbClr val="E07A5F"/>
                </a:solidFill>
                <a:latin typeface="Cambria" pitchFamily="34" charset="0"/>
                <a:ea typeface="Cambria" pitchFamily="34" charset="-122"/>
                <a:cs typeface="Cambria" pitchFamily="34" charset="-120"/>
              </a:rPr>
              <a:t>4</a:t>
            </a:r>
            <a:endParaRPr lang="en-US" sz="4600" dirty="0"/>
          </a:p>
        </p:txBody>
      </p:sp>
      <p:sp>
        <p:nvSpPr>
          <p:cNvPr id="12" name="Text 10"/>
          <p:cNvSpPr txBox="1"/>
          <p:nvPr/>
        </p:nvSpPr>
        <p:spPr>
          <a:xfrm>
            <a:off x="9098280" y="3099816"/>
            <a:ext cx="2468880" cy="658368"/>
          </a:xfrm>
          <a:prstGeom prst="rect">
            <a:avLst/>
          </a:prstGeom>
          <a:noFill/>
          <a:ln/>
        </p:spPr>
        <p:txBody>
          <a:bodyPr wrap="square" lIns="0" tIns="0" rIns="0" bIns="0" rtlCol="0" anchor="t"/>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studies using spontaneous</a:t>
            </a:r>
            <a:endParaRPr lang="en-US" sz="1250" dirty="0"/>
          </a:p>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rather than posed faces</a:t>
            </a:r>
            <a:endParaRPr lang="en-US" sz="1250" dirty="0"/>
          </a:p>
        </p:txBody>
      </p:sp>
      <p:sp>
        <p:nvSpPr>
          <p:cNvPr id="13" name="Shape 11"/>
          <p:cNvSpPr/>
          <p:nvPr/>
        </p:nvSpPr>
        <p:spPr>
          <a:xfrm>
            <a:off x="594360" y="4023360"/>
            <a:ext cx="5349240" cy="1051560"/>
          </a:xfrm>
          <a:prstGeom prst="roundRect">
            <a:avLst>
              <a:gd name="adj" fmla="val 4348"/>
            </a:avLst>
          </a:prstGeom>
          <a:solidFill>
            <a:srgbClr val="F1F3F5"/>
          </a:solidFill>
          <a:ln w="12700">
            <a:solidFill>
              <a:srgbClr val="F1F3F5"/>
            </a:solidFill>
            <a:prstDash val="solid"/>
          </a:ln>
        </p:spPr>
      </p:sp>
      <p:sp>
        <p:nvSpPr>
          <p:cNvPr id="14" name="Text 12"/>
          <p:cNvSpPr txBox="1"/>
          <p:nvPr/>
        </p:nvSpPr>
        <p:spPr>
          <a:xfrm>
            <a:off x="832104" y="4206240"/>
            <a:ext cx="48737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The headline result</a:t>
            </a:r>
            <a:endParaRPr lang="en-US" sz="1450" dirty="0"/>
          </a:p>
        </p:txBody>
      </p:sp>
      <p:sp>
        <p:nvSpPr>
          <p:cNvPr id="15" name="Text 13"/>
          <p:cNvSpPr txBox="1"/>
          <p:nvPr/>
        </p:nvSpPr>
        <p:spPr>
          <a:xfrm>
            <a:off x="832104" y="4553712"/>
            <a:ext cx="4873752" cy="33832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Within-culture agreement was strong; cross-culture agreement moderate — the ingroup advantage.</a:t>
            </a:r>
            <a:endParaRPr lang="en-US" sz="1250" dirty="0"/>
          </a:p>
        </p:txBody>
      </p:sp>
      <p:sp>
        <p:nvSpPr>
          <p:cNvPr id="16" name="Shape 14"/>
          <p:cNvSpPr/>
          <p:nvPr/>
        </p:nvSpPr>
        <p:spPr>
          <a:xfrm>
            <a:off x="6245352" y="4023360"/>
            <a:ext cx="5349240" cy="1051560"/>
          </a:xfrm>
          <a:prstGeom prst="roundRect">
            <a:avLst>
              <a:gd name="adj" fmla="val 4348"/>
            </a:avLst>
          </a:prstGeom>
          <a:solidFill>
            <a:srgbClr val="FBEDE8"/>
          </a:solidFill>
          <a:ln w="12700">
            <a:solidFill>
              <a:srgbClr val="F0D6CC"/>
            </a:solidFill>
            <a:prstDash val="solid"/>
          </a:ln>
        </p:spPr>
      </p:sp>
      <p:sp>
        <p:nvSpPr>
          <p:cNvPr id="17" name="Text 15"/>
          <p:cNvSpPr txBox="1"/>
          <p:nvPr/>
        </p:nvSpPr>
        <p:spPr>
          <a:xfrm>
            <a:off x="6483096" y="4206240"/>
            <a:ext cx="4873752"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The design</a:t>
            </a:r>
            <a:endParaRPr lang="en-US" sz="1450" dirty="0"/>
          </a:p>
        </p:txBody>
      </p:sp>
      <p:sp>
        <p:nvSpPr>
          <p:cNvPr id="18" name="Text 16"/>
          <p:cNvSpPr txBox="1"/>
          <p:nvPr/>
        </p:nvSpPr>
        <p:spPr>
          <a:xfrm>
            <a:off x="6483096" y="4553712"/>
            <a:ext cx="4873752" cy="33832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Ninety-five percent of studies used posed configurations; all but four used choice from array.</a:t>
            </a:r>
            <a:endParaRPr lang="en-US" sz="1250" dirty="0"/>
          </a:p>
        </p:txBody>
      </p:sp>
      <p:sp>
        <p:nvSpPr>
          <p:cNvPr id="19" name="Shape 17"/>
          <p:cNvSpPr/>
          <p:nvPr/>
        </p:nvSpPr>
        <p:spPr>
          <a:xfrm>
            <a:off x="594360" y="5303520"/>
            <a:ext cx="11002975" cy="868680"/>
          </a:xfrm>
          <a:prstGeom prst="roundRect">
            <a:avLst>
              <a:gd name="adj" fmla="val 7368"/>
            </a:avLst>
          </a:prstGeom>
          <a:solidFill>
            <a:srgbClr val="16202C"/>
          </a:solidFill>
          <a:ln w="12700">
            <a:solidFill>
              <a:srgbClr val="16202C"/>
            </a:solidFill>
            <a:prstDash val="solid"/>
          </a:ln>
        </p:spPr>
      </p:sp>
      <p:sp>
        <p:nvSpPr>
          <p:cNvPr id="20" name="Text 18"/>
          <p:cNvSpPr txBox="1"/>
          <p:nvPr/>
        </p:nvSpPr>
        <p:spPr>
          <a:xfrm>
            <a:off x="960120" y="5413248"/>
            <a:ext cx="10271455" cy="649224"/>
          </a:xfrm>
          <a:prstGeom prst="rect">
            <a:avLst/>
          </a:prstGeom>
          <a:noFill/>
          <a:ln/>
        </p:spPr>
        <p:txBody>
          <a:bodyPr wrap="square" lIns="0" tIns="0" rIns="0" bIns="0" rtlCol="0" anchor="ctr"/>
          <a:lstStyle/>
          <a:p>
            <a:pPr indent="0" marL="0">
              <a:lnSpc>
                <a:spcPct val="108000"/>
              </a:lnSpc>
              <a:buNone/>
            </a:pPr>
            <a:r>
              <a:rPr lang="en-US" sz="1400" dirty="0">
                <a:solidFill>
                  <a:srgbClr val="D9A441"/>
                </a:solidFill>
                <a:latin typeface="Calibri" pitchFamily="34" charset="0"/>
                <a:ea typeface="Calibri" pitchFamily="34" charset="-122"/>
                <a:cs typeface="Calibri" pitchFamily="34" charset="-120"/>
              </a:rPr>
              <a:t>Most of these studies never report how often a scowl was perceived as something other than anger. Reliability without specificity does not license the reverse inference.</a:t>
            </a:r>
            <a:endParaRPr lang="en-US" sz="1400" dirty="0"/>
          </a:p>
        </p:txBody>
      </p:sp>
      <p:sp>
        <p:nvSpPr>
          <p:cNvPr id="21" name="Text 19"/>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Elfenbein &amp; Ambady (2002).</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PERCEPTION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Free labelling reveals a many-to-many mapping</a:t>
            </a:r>
            <a:endParaRPr lang="en-US" sz="3200" dirty="0"/>
          </a:p>
        </p:txBody>
      </p:sp>
      <p:sp>
        <p:nvSpPr>
          <p:cNvPr id="4" name="Text 2"/>
          <p:cNvSpPr txBox="1"/>
          <p:nvPr/>
        </p:nvSpPr>
        <p:spPr>
          <a:xfrm>
            <a:off x="594360" y="1737360"/>
            <a:ext cx="6035040" cy="1005840"/>
          </a:xfrm>
          <a:prstGeom prst="rect">
            <a:avLst/>
          </a:prstGeom>
          <a:noFill/>
          <a:ln/>
        </p:spPr>
        <p:txBody>
          <a:bodyPr wrap="square" lIns="0" tIns="0" rIns="0" bIns="0" rtlCol="0" anchor="ctr"/>
          <a:lstStyle/>
          <a:p>
            <a:pPr indent="0" marL="0">
              <a:lnSpc>
                <a:spcPct val="112000"/>
              </a:lnSpc>
              <a:buNone/>
            </a:pPr>
            <a:r>
              <a:rPr lang="en-US" sz="1400" dirty="0">
                <a:solidFill>
                  <a:srgbClr val="2E4057"/>
                </a:solidFill>
                <a:latin typeface="Calibri" pitchFamily="34" charset="0"/>
                <a:ea typeface="Calibri" pitchFamily="34" charset="-122"/>
                <a:cs typeface="Calibri" pitchFamily="34" charset="-120"/>
              </a:rPr>
              <a:t>Speakers of English, Spanish, Mandarin, Farsi, Arabic and Russian freely labelled 35 cross-culturally identified facial configurations. Reliability was moderate. Specificity was absent — multiple distinct configurations were labelled with the same emotion word.</a:t>
            </a:r>
            <a:endParaRPr lang="en-US" sz="1400" dirty="0"/>
          </a:p>
        </p:txBody>
      </p:sp>
      <p:graphicFrame>
        <p:nvGraphicFramePr>
          <p:cNvPr id="5" name="Chart 0" descr=""/>
          <p:cNvGraphicFramePr/>
          <p:nvPr/>
        </p:nvGraphicFramePr>
        <p:xfrm>
          <a:off x="594360" y="2834640"/>
          <a:ext cx="6035040" cy="28803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086600" y="1737360"/>
            <a:ext cx="4507992" cy="1691640"/>
          </a:xfrm>
          <a:prstGeom prst="roundRect">
            <a:avLst>
              <a:gd name="adj" fmla="val 2703"/>
            </a:avLst>
          </a:prstGeom>
          <a:solidFill>
            <a:srgbClr val="FBEDE8"/>
          </a:solidFill>
          <a:ln w="12700">
            <a:solidFill>
              <a:srgbClr val="F0D6CC"/>
            </a:solidFill>
            <a:prstDash val="solid"/>
          </a:ln>
        </p:spPr>
      </p:sp>
      <p:sp>
        <p:nvSpPr>
          <p:cNvPr id="7" name="Text 4"/>
          <p:cNvSpPr txBox="1"/>
          <p:nvPr/>
        </p:nvSpPr>
        <p:spPr>
          <a:xfrm>
            <a:off x="7324344" y="1920240"/>
            <a:ext cx="403250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Seventeen faces for happiness</a:t>
            </a:r>
            <a:endParaRPr lang="en-US" sz="1450" dirty="0"/>
          </a:p>
        </p:txBody>
      </p:sp>
      <p:sp>
        <p:nvSpPr>
          <p:cNvPr id="8" name="Text 5"/>
          <p:cNvSpPr txBox="1"/>
          <p:nvPr/>
        </p:nvSpPr>
        <p:spPr>
          <a:xfrm>
            <a:off x="7324344" y="2267712"/>
            <a:ext cx="4032504" cy="97840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If seventeen distinct configurations are all labelled happiness, no single one of them is the expression of happiness — and observing any one of them tells you little.</a:t>
            </a:r>
            <a:endParaRPr lang="en-US" sz="1250" dirty="0"/>
          </a:p>
        </p:txBody>
      </p:sp>
      <p:sp>
        <p:nvSpPr>
          <p:cNvPr id="9" name="Shape 6"/>
          <p:cNvSpPr/>
          <p:nvPr/>
        </p:nvSpPr>
        <p:spPr>
          <a:xfrm>
            <a:off x="7086600" y="3611880"/>
            <a:ext cx="4507992" cy="1280160"/>
          </a:xfrm>
          <a:prstGeom prst="roundRect">
            <a:avLst>
              <a:gd name="adj" fmla="val 3571"/>
            </a:avLst>
          </a:prstGeom>
          <a:solidFill>
            <a:srgbClr val="F1F3F5"/>
          </a:solidFill>
          <a:ln w="12700">
            <a:solidFill>
              <a:srgbClr val="F1F3F5"/>
            </a:solidFill>
            <a:prstDash val="solid"/>
          </a:ln>
        </p:spPr>
      </p:sp>
      <p:sp>
        <p:nvSpPr>
          <p:cNvPr id="10" name="Text 7"/>
          <p:cNvSpPr txBox="1"/>
          <p:nvPr/>
        </p:nvSpPr>
        <p:spPr>
          <a:xfrm>
            <a:off x="7324344" y="3794760"/>
            <a:ext cx="403250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Not just cross-cultural noise</a:t>
            </a:r>
            <a:endParaRPr lang="en-US" sz="1450" dirty="0"/>
          </a:p>
        </p:txBody>
      </p:sp>
      <p:sp>
        <p:nvSpPr>
          <p:cNvPr id="11" name="Text 8"/>
          <p:cNvSpPr txBox="1"/>
          <p:nvPr/>
        </p:nvSpPr>
        <p:spPr>
          <a:xfrm>
            <a:off x="7324344" y="4142232"/>
            <a:ext cx="4032504" cy="56692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The variability appears within a single culture and a single language, not only across them.</a:t>
            </a:r>
            <a:endParaRPr lang="en-US" sz="1250" dirty="0"/>
          </a:p>
        </p:txBody>
      </p:sp>
      <p:sp>
        <p:nvSpPr>
          <p:cNvPr id="12" name="Shape 9"/>
          <p:cNvSpPr/>
          <p:nvPr/>
        </p:nvSpPr>
        <p:spPr>
          <a:xfrm>
            <a:off x="7086600" y="5074920"/>
            <a:ext cx="4507992" cy="1097280"/>
          </a:xfrm>
          <a:prstGeom prst="roundRect">
            <a:avLst>
              <a:gd name="adj" fmla="val 4167"/>
            </a:avLst>
          </a:prstGeom>
          <a:solidFill>
            <a:srgbClr val="F1F3F5"/>
          </a:solidFill>
          <a:ln w="12700">
            <a:solidFill>
              <a:srgbClr val="F1F3F5"/>
            </a:solidFill>
            <a:prstDash val="solid"/>
          </a:ln>
        </p:spPr>
      </p:sp>
      <p:sp>
        <p:nvSpPr>
          <p:cNvPr id="13" name="Text 10"/>
          <p:cNvSpPr txBox="1"/>
          <p:nvPr/>
        </p:nvSpPr>
        <p:spPr>
          <a:xfrm>
            <a:off x="7324344" y="5257800"/>
            <a:ext cx="4032504" cy="310896"/>
          </a:xfrm>
          <a:prstGeom prst="rect">
            <a:avLst/>
          </a:prstGeom>
          <a:noFill/>
          <a:ln/>
        </p:spPr>
        <p:txBody>
          <a:bodyPr wrap="square" lIns="0" tIns="0" rIns="0" bIns="0" rtlCol="0" anchor="t"/>
          <a:lstStyle/>
          <a:p>
            <a:pPr indent="0" marL="0">
              <a:buNone/>
            </a:pPr>
            <a:r>
              <a:rPr lang="en-US" sz="1450" b="1" dirty="0">
                <a:solidFill>
                  <a:srgbClr val="16202C"/>
                </a:solidFill>
                <a:latin typeface="Calibri" pitchFamily="34" charset="0"/>
                <a:ea typeface="Calibri" pitchFamily="34" charset="-122"/>
                <a:cs typeface="Calibri" pitchFamily="34" charset="-120"/>
              </a:rPr>
              <a:t>Beyond dialects</a:t>
            </a:r>
            <a:endParaRPr lang="en-US" sz="1450" dirty="0"/>
          </a:p>
        </p:txBody>
      </p:sp>
      <p:sp>
        <p:nvSpPr>
          <p:cNvPr id="14" name="Text 11"/>
          <p:cNvSpPr txBox="1"/>
          <p:nvPr/>
        </p:nvSpPr>
        <p:spPr>
          <a:xfrm>
            <a:off x="7324344" y="5605272"/>
            <a:ext cx="4032504" cy="38404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This exceeds what accent or display-rule accounts predict.</a:t>
            </a:r>
            <a:endParaRPr lang="en-US" sz="1250" dirty="0"/>
          </a:p>
        </p:txBody>
      </p:sp>
      <p:sp>
        <p:nvSpPr>
          <p:cNvPr id="15" name="Text 12"/>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Figure 8b; Srinivasan &amp; Martinez (2018).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PERCEPTION</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Small-scale, remote societies</a:t>
            </a:r>
            <a:endParaRPr lang="en-US" sz="3200" dirty="0"/>
          </a:p>
        </p:txBody>
      </p:sp>
      <p:sp>
        <p:nvSpPr>
          <p:cNvPr id="4" name="Shape 2"/>
          <p:cNvSpPr/>
          <p:nvPr/>
        </p:nvSpPr>
        <p:spPr>
          <a:xfrm>
            <a:off x="594360" y="1783080"/>
            <a:ext cx="5349240" cy="475488"/>
          </a:xfrm>
          <a:prstGeom prst="roundRect">
            <a:avLst>
              <a:gd name="adj" fmla="val 11538"/>
            </a:avLst>
          </a:prstGeom>
          <a:solidFill>
            <a:srgbClr val="2E4057"/>
          </a:solidFill>
          <a:ln w="12700">
            <a:solidFill>
              <a:srgbClr val="2E4057"/>
            </a:solidFill>
            <a:prstDash val="solid"/>
          </a:ln>
        </p:spPr>
      </p:sp>
      <p:sp>
        <p:nvSpPr>
          <p:cNvPr id="5" name="Text 3"/>
          <p:cNvSpPr txBox="1"/>
          <p:nvPr/>
        </p:nvSpPr>
        <p:spPr>
          <a:xfrm>
            <a:off x="868680" y="1783080"/>
            <a:ext cx="4800600" cy="475488"/>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HADZA  ·  TANZANIA</a:t>
            </a:r>
            <a:endParaRPr lang="en-US" sz="1200" dirty="0"/>
          </a:p>
        </p:txBody>
      </p:sp>
      <p:sp>
        <p:nvSpPr>
          <p:cNvPr id="6" name="Text 4"/>
          <p:cNvSpPr txBox="1"/>
          <p:nvPr/>
        </p:nvSpPr>
        <p:spPr>
          <a:xfrm>
            <a:off x="640080" y="2395728"/>
            <a:ext cx="5257800" cy="228600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Hunter-gatherers in an ecology resembling the one in which universal expressions are said to have evolved</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Above-chance matching occurred mainly when the target and foil differed in pleasantness — valence, not category</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Of 27 participants with minimal outside contact, only 12 matched the wide-eyed gasping face to the fear story above chance</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Participants with schooling or Swahili chose the canonical face more consistently — exposure predicts agreement</a:t>
            </a:r>
            <a:endParaRPr lang="en-US" sz="1250" dirty="0"/>
          </a:p>
        </p:txBody>
      </p:sp>
      <p:sp>
        <p:nvSpPr>
          <p:cNvPr id="7" name="Shape 5"/>
          <p:cNvSpPr/>
          <p:nvPr/>
        </p:nvSpPr>
        <p:spPr>
          <a:xfrm>
            <a:off x="6245352" y="1783080"/>
            <a:ext cx="5349240" cy="475488"/>
          </a:xfrm>
          <a:prstGeom prst="roundRect">
            <a:avLst>
              <a:gd name="adj" fmla="val 11538"/>
            </a:avLst>
          </a:prstGeom>
          <a:solidFill>
            <a:srgbClr val="E07A5F"/>
          </a:solidFill>
          <a:ln w="12700">
            <a:solidFill>
              <a:srgbClr val="E07A5F"/>
            </a:solidFill>
            <a:prstDash val="solid"/>
          </a:ln>
        </p:spPr>
      </p:sp>
      <p:sp>
        <p:nvSpPr>
          <p:cNvPr id="8" name="Text 6"/>
          <p:cNvSpPr txBox="1"/>
          <p:nvPr/>
        </p:nvSpPr>
        <p:spPr>
          <a:xfrm>
            <a:off x="6519672" y="1783080"/>
            <a:ext cx="4800600" cy="47548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TROBRIAND ISLANDS  ·  PAPUA NEW GUINEA</a:t>
            </a:r>
            <a:endParaRPr lang="en-US" sz="1100" dirty="0"/>
          </a:p>
        </p:txBody>
      </p:sp>
      <p:sp>
        <p:nvSpPr>
          <p:cNvPr id="9" name="Text 7"/>
          <p:cNvSpPr txBox="1"/>
          <p:nvPr/>
        </p:nvSpPr>
        <p:spPr>
          <a:xfrm>
            <a:off x="6291072" y="2395728"/>
            <a:ext cx="5257800" cy="228600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The wide-eyed gasping configuration — the proposed universal fear face — is read as a threat display, an intent to attack</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The scowl was most often described as wanting to avoid a social interaction</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In free labelling, none of the proposed configurations drew the expected label above chance</a:t>
            </a:r>
            <a:endParaRPr lang="en-US" sz="1250" dirty="0"/>
          </a:p>
          <a:p>
            <a:pPr marL="342900" indent="-342900">
              <a:lnSpc>
                <a:spcPct val="110000"/>
              </a:lnSpc>
              <a:spcAft>
                <a:spcPts val="700"/>
              </a:spcAft>
              <a:buSzPct val="100000"/>
              <a:buChar char="▪"/>
            </a:pPr>
            <a:r>
              <a:rPr lang="en-US" sz="1250" dirty="0">
                <a:solidFill>
                  <a:srgbClr val="2E4057"/>
                </a:solidFill>
                <a:latin typeface="Calibri" pitchFamily="34" charset="0"/>
                <a:ea typeface="Calibri" pitchFamily="34" charset="-122"/>
                <a:cs typeface="Calibri" pitchFamily="34" charset="-120"/>
              </a:rPr>
              <a:t>Faces were labelled consistently — just with different words than predicted</a:t>
            </a:r>
            <a:endParaRPr lang="en-US" sz="1250" dirty="0"/>
          </a:p>
        </p:txBody>
      </p:sp>
      <p:sp>
        <p:nvSpPr>
          <p:cNvPr id="10" name="Shape 8"/>
          <p:cNvSpPr/>
          <p:nvPr/>
        </p:nvSpPr>
        <p:spPr>
          <a:xfrm>
            <a:off x="594360" y="4846320"/>
            <a:ext cx="11002975" cy="1188720"/>
          </a:xfrm>
          <a:prstGeom prst="roundRect">
            <a:avLst>
              <a:gd name="adj" fmla="val 5385"/>
            </a:avLst>
          </a:prstGeom>
          <a:solidFill>
            <a:srgbClr val="16202C"/>
          </a:solidFill>
          <a:ln w="12700">
            <a:solidFill>
              <a:srgbClr val="16202C"/>
            </a:solidFill>
            <a:prstDash val="solid"/>
          </a:ln>
        </p:spPr>
      </p:sp>
      <p:sp>
        <p:nvSpPr>
          <p:cNvPr id="11" name="Text 9"/>
          <p:cNvSpPr txBox="1"/>
          <p:nvPr/>
        </p:nvSpPr>
        <p:spPr>
          <a:xfrm>
            <a:off x="960120" y="4983480"/>
            <a:ext cx="10271455" cy="914400"/>
          </a:xfrm>
          <a:prstGeom prst="rect">
            <a:avLst/>
          </a:prstGeom>
          <a:noFill/>
          <a:ln/>
        </p:spPr>
        <p:txBody>
          <a:bodyPr wrap="square" lIns="0" tIns="0" rIns="0" bIns="0" rtlCol="0" anchor="ctr"/>
          <a:lstStyle/>
          <a:p>
            <a:pPr indent="0" marL="0">
              <a:lnSpc>
                <a:spcPct val="110000"/>
              </a:lnSpc>
              <a:buNone/>
            </a:pPr>
            <a:r>
              <a:rPr lang="en-US" sz="1400" dirty="0">
                <a:solidFill>
                  <a:srgbClr val="FFFFFF"/>
                </a:solidFill>
                <a:latin typeface="Calibri" pitchFamily="34" charset="0"/>
                <a:ea typeface="Calibri" pitchFamily="34" charset="-122"/>
                <a:cs typeface="Calibri" pitchFamily="34" charset="-120"/>
              </a:rPr>
              <a:t>Participants frequently described actions rather than inner states — a gasping face is someone looking. In several of these communities another person's mind is not assumed to be readable at all, a stance anthropologists call opacity of mind.</a:t>
            </a:r>
            <a:endParaRPr lang="en-US" sz="1400" dirty="0"/>
          </a:p>
        </p:txBody>
      </p:sp>
      <p:sp>
        <p:nvSpPr>
          <p:cNvPr id="12" name="Text 10"/>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Gendron et al. (2014, 2018); Crivelli, Jarillo &amp; Fridlund (2016, 2017); Crivelli, Russell et al. (2016).</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THE VERDICT</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Reliability and specificity: the paper's own summary</a:t>
            </a:r>
            <a:endParaRPr lang="en-US" sz="3200" dirty="0"/>
          </a:p>
        </p:txBody>
      </p:sp>
      <p:sp>
        <p:nvSpPr>
          <p:cNvPr id="4" name="Text 2"/>
          <p:cNvSpPr txBox="1"/>
          <p:nvPr/>
        </p:nvSpPr>
        <p:spPr>
          <a:xfrm>
            <a:off x="594360" y="1719072"/>
            <a:ext cx="5349240" cy="256032"/>
          </a:xfrm>
          <a:prstGeom prst="rect">
            <a:avLst/>
          </a:prstGeom>
          <a:noFill/>
          <a:ln/>
        </p:spPr>
        <p:txBody>
          <a:bodyPr wrap="square" lIns="0" tIns="0" rIns="0" bIns="0" rtlCol="0" anchor="ctr"/>
          <a:lstStyle/>
          <a:p>
            <a:pPr indent="0" marL="0">
              <a:buNone/>
            </a:pPr>
            <a:r>
              <a:rPr lang="en-US" sz="1050" b="1" spc="130" kern="0" dirty="0">
                <a:solidFill>
                  <a:srgbClr val="E07A5F"/>
                </a:solidFill>
                <a:latin typeface="Calibri" pitchFamily="34" charset="0"/>
                <a:ea typeface="Calibri" pitchFamily="34" charset="-122"/>
                <a:cs typeface="Calibri" pitchFamily="34" charset="-120"/>
              </a:rPr>
              <a:t>EXPRESSION PRODUCTION</a:t>
            </a:r>
            <a:endParaRPr lang="en-US" sz="1050" dirty="0"/>
          </a:p>
        </p:txBody>
      </p:sp>
      <p:sp>
        <p:nvSpPr>
          <p:cNvPr id="5" name="Text 3"/>
          <p:cNvSpPr txBox="1"/>
          <p:nvPr/>
        </p:nvSpPr>
        <p:spPr>
          <a:xfrm>
            <a:off x="3657600" y="1993392"/>
            <a:ext cx="1097280" cy="219456"/>
          </a:xfrm>
          <a:prstGeom prst="rect">
            <a:avLst/>
          </a:prstGeom>
          <a:noFill/>
          <a:ln/>
        </p:spPr>
        <p:txBody>
          <a:bodyPr wrap="square" lIns="0" tIns="0" rIns="0" bIns="0" rtlCol="0" anchor="ctr"/>
          <a:lstStyle/>
          <a:p>
            <a:pPr algn="ctr" indent="0" marL="0">
              <a:buNone/>
            </a:pPr>
            <a:r>
              <a:rPr lang="en-US" sz="800" b="1" dirty="0">
                <a:solidFill>
                  <a:srgbClr val="6B7280"/>
                </a:solidFill>
                <a:latin typeface="Calibri" pitchFamily="34" charset="0"/>
                <a:ea typeface="Calibri" pitchFamily="34" charset="-122"/>
                <a:cs typeface="Calibri" pitchFamily="34" charset="-120"/>
              </a:rPr>
              <a:t>RELIABILITY</a:t>
            </a:r>
            <a:endParaRPr lang="en-US" sz="800" dirty="0"/>
          </a:p>
        </p:txBody>
      </p:sp>
      <p:sp>
        <p:nvSpPr>
          <p:cNvPr id="6" name="Text 4"/>
          <p:cNvSpPr txBox="1"/>
          <p:nvPr/>
        </p:nvSpPr>
        <p:spPr>
          <a:xfrm>
            <a:off x="4818888" y="1993392"/>
            <a:ext cx="1097280" cy="219456"/>
          </a:xfrm>
          <a:prstGeom prst="rect">
            <a:avLst/>
          </a:prstGeom>
          <a:noFill/>
          <a:ln/>
        </p:spPr>
        <p:txBody>
          <a:bodyPr wrap="square" lIns="0" tIns="0" rIns="0" bIns="0" rtlCol="0" anchor="ctr"/>
          <a:lstStyle/>
          <a:p>
            <a:pPr algn="ctr" indent="0" marL="0">
              <a:buNone/>
            </a:pPr>
            <a:r>
              <a:rPr lang="en-US" sz="800" b="1" dirty="0">
                <a:solidFill>
                  <a:srgbClr val="6B7280"/>
                </a:solidFill>
                <a:latin typeface="Calibri" pitchFamily="34" charset="0"/>
                <a:ea typeface="Calibri" pitchFamily="34" charset="-122"/>
                <a:cs typeface="Calibri" pitchFamily="34" charset="-120"/>
              </a:rPr>
              <a:t>SPECIFICITY</a:t>
            </a:r>
            <a:endParaRPr lang="en-US" sz="800" dirty="0"/>
          </a:p>
        </p:txBody>
      </p:sp>
      <p:sp>
        <p:nvSpPr>
          <p:cNvPr id="7" name="Shape 5"/>
          <p:cNvSpPr/>
          <p:nvPr/>
        </p:nvSpPr>
        <p:spPr>
          <a:xfrm>
            <a:off x="594360" y="2240280"/>
            <a:ext cx="5349240" cy="310896"/>
          </a:xfrm>
          <a:prstGeom prst="rect">
            <a:avLst/>
          </a:prstGeom>
          <a:solidFill>
            <a:srgbClr val="F7F8F9"/>
          </a:solidFill>
          <a:ln w="12700">
            <a:solidFill>
              <a:srgbClr val="F7F8F9"/>
            </a:solidFill>
            <a:prstDash val="solid"/>
          </a:ln>
        </p:spPr>
      </p:sp>
      <p:sp>
        <p:nvSpPr>
          <p:cNvPr id="8" name="Text 6"/>
          <p:cNvSpPr txBox="1"/>
          <p:nvPr/>
        </p:nvSpPr>
        <p:spPr>
          <a:xfrm>
            <a:off x="685800" y="2240280"/>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Adults, developed, spontaneous, lab</a:t>
            </a:r>
            <a:endParaRPr lang="en-US" sz="1050" dirty="0"/>
          </a:p>
        </p:txBody>
      </p:sp>
      <p:sp>
        <p:nvSpPr>
          <p:cNvPr id="9" name="Shape 7"/>
          <p:cNvSpPr/>
          <p:nvPr/>
        </p:nvSpPr>
        <p:spPr>
          <a:xfrm>
            <a:off x="3657600" y="2267712"/>
            <a:ext cx="1097280" cy="256032"/>
          </a:xfrm>
          <a:prstGeom prst="roundRect">
            <a:avLst>
              <a:gd name="adj" fmla="val 21429"/>
            </a:avLst>
          </a:prstGeom>
          <a:solidFill>
            <a:srgbClr val="E07A5F"/>
          </a:solidFill>
          <a:ln w="12700">
            <a:solidFill>
              <a:srgbClr val="E07A5F"/>
            </a:solidFill>
            <a:prstDash val="solid"/>
          </a:ln>
        </p:spPr>
      </p:sp>
      <p:sp>
        <p:nvSpPr>
          <p:cNvPr id="10" name="Text 8"/>
          <p:cNvSpPr txBox="1"/>
          <p:nvPr/>
        </p:nvSpPr>
        <p:spPr>
          <a:xfrm>
            <a:off x="3657600" y="2267712"/>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a:t>
            </a:r>
            <a:endParaRPr lang="en-US" sz="900" dirty="0"/>
          </a:p>
        </p:txBody>
      </p:sp>
      <p:sp>
        <p:nvSpPr>
          <p:cNvPr id="11" name="Shape 9"/>
          <p:cNvSpPr/>
          <p:nvPr/>
        </p:nvSpPr>
        <p:spPr>
          <a:xfrm>
            <a:off x="4818888" y="2267712"/>
            <a:ext cx="1097280" cy="256032"/>
          </a:xfrm>
          <a:prstGeom prst="roundRect">
            <a:avLst>
              <a:gd name="adj" fmla="val 21429"/>
            </a:avLst>
          </a:prstGeom>
          <a:solidFill>
            <a:srgbClr val="B6BDC6"/>
          </a:solidFill>
          <a:ln w="12700">
            <a:solidFill>
              <a:srgbClr val="B6BDC6"/>
            </a:solidFill>
            <a:prstDash val="solid"/>
          </a:ln>
        </p:spPr>
      </p:sp>
      <p:sp>
        <p:nvSpPr>
          <p:cNvPr id="12" name="Text 10"/>
          <p:cNvSpPr txBox="1"/>
          <p:nvPr/>
        </p:nvSpPr>
        <p:spPr>
          <a:xfrm>
            <a:off x="4818888" y="2267712"/>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13" name="Text 11"/>
          <p:cNvSpPr txBox="1"/>
          <p:nvPr/>
        </p:nvSpPr>
        <p:spPr>
          <a:xfrm>
            <a:off x="685800" y="2587752"/>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Adults, developed, spontaneous, natural</a:t>
            </a:r>
            <a:endParaRPr lang="en-US" sz="1050" dirty="0"/>
          </a:p>
        </p:txBody>
      </p:sp>
      <p:sp>
        <p:nvSpPr>
          <p:cNvPr id="14" name="Shape 12"/>
          <p:cNvSpPr/>
          <p:nvPr/>
        </p:nvSpPr>
        <p:spPr>
          <a:xfrm>
            <a:off x="3657600" y="2615184"/>
            <a:ext cx="1097280" cy="256032"/>
          </a:xfrm>
          <a:prstGeom prst="roundRect">
            <a:avLst>
              <a:gd name="adj" fmla="val 21429"/>
            </a:avLst>
          </a:prstGeom>
          <a:solidFill>
            <a:srgbClr val="E07A5F"/>
          </a:solidFill>
          <a:ln w="12700">
            <a:solidFill>
              <a:srgbClr val="E07A5F"/>
            </a:solidFill>
            <a:prstDash val="solid"/>
          </a:ln>
        </p:spPr>
      </p:sp>
      <p:sp>
        <p:nvSpPr>
          <p:cNvPr id="15" name="Text 13"/>
          <p:cNvSpPr txBox="1"/>
          <p:nvPr/>
        </p:nvSpPr>
        <p:spPr>
          <a:xfrm>
            <a:off x="3657600" y="2615184"/>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a:t>
            </a:r>
            <a:endParaRPr lang="en-US" sz="900" dirty="0"/>
          </a:p>
        </p:txBody>
      </p:sp>
      <p:sp>
        <p:nvSpPr>
          <p:cNvPr id="16" name="Shape 14"/>
          <p:cNvSpPr/>
          <p:nvPr/>
        </p:nvSpPr>
        <p:spPr>
          <a:xfrm>
            <a:off x="4818888" y="2615184"/>
            <a:ext cx="1097280" cy="256032"/>
          </a:xfrm>
          <a:prstGeom prst="roundRect">
            <a:avLst>
              <a:gd name="adj" fmla="val 21429"/>
            </a:avLst>
          </a:prstGeom>
          <a:solidFill>
            <a:srgbClr val="B6BDC6"/>
          </a:solidFill>
          <a:ln w="12700">
            <a:solidFill>
              <a:srgbClr val="B6BDC6"/>
            </a:solidFill>
            <a:prstDash val="solid"/>
          </a:ln>
        </p:spPr>
      </p:sp>
      <p:sp>
        <p:nvSpPr>
          <p:cNvPr id="17" name="Text 15"/>
          <p:cNvSpPr txBox="1"/>
          <p:nvPr/>
        </p:nvSpPr>
        <p:spPr>
          <a:xfrm>
            <a:off x="4818888" y="2615184"/>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18" name="Shape 16"/>
          <p:cNvSpPr/>
          <p:nvPr/>
        </p:nvSpPr>
        <p:spPr>
          <a:xfrm>
            <a:off x="594360" y="2935224"/>
            <a:ext cx="5349240" cy="310896"/>
          </a:xfrm>
          <a:prstGeom prst="rect">
            <a:avLst/>
          </a:prstGeom>
          <a:solidFill>
            <a:srgbClr val="F7F8F9"/>
          </a:solidFill>
          <a:ln w="12700">
            <a:solidFill>
              <a:srgbClr val="F7F8F9"/>
            </a:solidFill>
            <a:prstDash val="solid"/>
          </a:ln>
        </p:spPr>
      </p:sp>
      <p:sp>
        <p:nvSpPr>
          <p:cNvPr id="19" name="Text 17"/>
          <p:cNvSpPr txBox="1"/>
          <p:nvPr/>
        </p:nvSpPr>
        <p:spPr>
          <a:xfrm>
            <a:off x="685800" y="2935224"/>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Adults, developed, posed</a:t>
            </a:r>
            <a:endParaRPr lang="en-US" sz="1050" dirty="0"/>
          </a:p>
        </p:txBody>
      </p:sp>
      <p:sp>
        <p:nvSpPr>
          <p:cNvPr id="20" name="Shape 18"/>
          <p:cNvSpPr/>
          <p:nvPr/>
        </p:nvSpPr>
        <p:spPr>
          <a:xfrm>
            <a:off x="3657600" y="2962656"/>
            <a:ext cx="1097280" cy="256032"/>
          </a:xfrm>
          <a:prstGeom prst="roundRect">
            <a:avLst>
              <a:gd name="adj" fmla="val 21429"/>
            </a:avLst>
          </a:prstGeom>
          <a:solidFill>
            <a:srgbClr val="B6BDC6"/>
          </a:solidFill>
          <a:ln w="12700">
            <a:solidFill>
              <a:srgbClr val="B6BDC6"/>
            </a:solidFill>
            <a:prstDash val="solid"/>
          </a:ln>
        </p:spPr>
      </p:sp>
      <p:sp>
        <p:nvSpPr>
          <p:cNvPr id="21" name="Text 19"/>
          <p:cNvSpPr txBox="1"/>
          <p:nvPr/>
        </p:nvSpPr>
        <p:spPr>
          <a:xfrm>
            <a:off x="3657600" y="2962656"/>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weak–strong</a:t>
            </a:r>
            <a:endParaRPr lang="en-US" sz="900" dirty="0"/>
          </a:p>
        </p:txBody>
      </p:sp>
      <p:sp>
        <p:nvSpPr>
          <p:cNvPr id="22" name="Shape 20"/>
          <p:cNvSpPr/>
          <p:nvPr/>
        </p:nvSpPr>
        <p:spPr>
          <a:xfrm>
            <a:off x="4818888" y="2962656"/>
            <a:ext cx="1097280" cy="256032"/>
          </a:xfrm>
          <a:prstGeom prst="roundRect">
            <a:avLst>
              <a:gd name="adj" fmla="val 21429"/>
            </a:avLst>
          </a:prstGeom>
          <a:solidFill>
            <a:srgbClr val="B6BDC6"/>
          </a:solidFill>
          <a:ln w="12700">
            <a:solidFill>
              <a:srgbClr val="B6BDC6"/>
            </a:solidFill>
            <a:prstDash val="solid"/>
          </a:ln>
        </p:spPr>
      </p:sp>
      <p:sp>
        <p:nvSpPr>
          <p:cNvPr id="23" name="Text 21"/>
          <p:cNvSpPr txBox="1"/>
          <p:nvPr/>
        </p:nvSpPr>
        <p:spPr>
          <a:xfrm>
            <a:off x="4818888" y="2962656"/>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24" name="Text 22"/>
          <p:cNvSpPr txBox="1"/>
          <p:nvPr/>
        </p:nvSpPr>
        <p:spPr>
          <a:xfrm>
            <a:off x="685800" y="3282696"/>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Adults, remote, spontaneous</a:t>
            </a:r>
            <a:endParaRPr lang="en-US" sz="1050" dirty="0"/>
          </a:p>
        </p:txBody>
      </p:sp>
      <p:sp>
        <p:nvSpPr>
          <p:cNvPr id="25" name="Shape 23"/>
          <p:cNvSpPr/>
          <p:nvPr/>
        </p:nvSpPr>
        <p:spPr>
          <a:xfrm>
            <a:off x="3657600" y="3310128"/>
            <a:ext cx="1097280" cy="256032"/>
          </a:xfrm>
          <a:prstGeom prst="roundRect">
            <a:avLst>
              <a:gd name="adj" fmla="val 21429"/>
            </a:avLst>
          </a:prstGeom>
          <a:solidFill>
            <a:srgbClr val="B6BDC6"/>
          </a:solidFill>
          <a:ln w="12700">
            <a:solidFill>
              <a:srgbClr val="B6BDC6"/>
            </a:solidFill>
            <a:prstDash val="solid"/>
          </a:ln>
        </p:spPr>
      </p:sp>
      <p:sp>
        <p:nvSpPr>
          <p:cNvPr id="26" name="Text 24"/>
          <p:cNvSpPr txBox="1"/>
          <p:nvPr/>
        </p:nvSpPr>
        <p:spPr>
          <a:xfrm>
            <a:off x="3657600" y="3310128"/>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unclear</a:t>
            </a:r>
            <a:endParaRPr lang="en-US" sz="900" dirty="0"/>
          </a:p>
        </p:txBody>
      </p:sp>
      <p:sp>
        <p:nvSpPr>
          <p:cNvPr id="27" name="Shape 25"/>
          <p:cNvSpPr/>
          <p:nvPr/>
        </p:nvSpPr>
        <p:spPr>
          <a:xfrm>
            <a:off x="4818888" y="3310128"/>
            <a:ext cx="1097280" cy="256032"/>
          </a:xfrm>
          <a:prstGeom prst="roundRect">
            <a:avLst>
              <a:gd name="adj" fmla="val 21429"/>
            </a:avLst>
          </a:prstGeom>
          <a:solidFill>
            <a:srgbClr val="B6BDC6"/>
          </a:solidFill>
          <a:ln w="12700">
            <a:solidFill>
              <a:srgbClr val="B6BDC6"/>
            </a:solidFill>
            <a:prstDash val="solid"/>
          </a:ln>
        </p:spPr>
      </p:sp>
      <p:sp>
        <p:nvSpPr>
          <p:cNvPr id="28" name="Text 26"/>
          <p:cNvSpPr txBox="1"/>
          <p:nvPr/>
        </p:nvSpPr>
        <p:spPr>
          <a:xfrm>
            <a:off x="4818888" y="3310128"/>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29" name="Shape 27"/>
          <p:cNvSpPr/>
          <p:nvPr/>
        </p:nvSpPr>
        <p:spPr>
          <a:xfrm>
            <a:off x="594360" y="3630168"/>
            <a:ext cx="5349240" cy="310896"/>
          </a:xfrm>
          <a:prstGeom prst="rect">
            <a:avLst/>
          </a:prstGeom>
          <a:solidFill>
            <a:srgbClr val="F7F8F9"/>
          </a:solidFill>
          <a:ln w="12700">
            <a:solidFill>
              <a:srgbClr val="F7F8F9"/>
            </a:solidFill>
            <a:prstDash val="solid"/>
          </a:ln>
        </p:spPr>
      </p:sp>
      <p:sp>
        <p:nvSpPr>
          <p:cNvPr id="30" name="Text 28"/>
          <p:cNvSpPr txBox="1"/>
          <p:nvPr/>
        </p:nvSpPr>
        <p:spPr>
          <a:xfrm>
            <a:off x="685800" y="3630168"/>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Adults, remote, posed</a:t>
            </a:r>
            <a:endParaRPr lang="en-US" sz="1050" dirty="0"/>
          </a:p>
        </p:txBody>
      </p:sp>
      <p:sp>
        <p:nvSpPr>
          <p:cNvPr id="31" name="Shape 29"/>
          <p:cNvSpPr/>
          <p:nvPr/>
        </p:nvSpPr>
        <p:spPr>
          <a:xfrm>
            <a:off x="3657600" y="3657600"/>
            <a:ext cx="1097280" cy="256032"/>
          </a:xfrm>
          <a:prstGeom prst="roundRect">
            <a:avLst>
              <a:gd name="adj" fmla="val 21429"/>
            </a:avLst>
          </a:prstGeom>
          <a:solidFill>
            <a:srgbClr val="B6BDC6"/>
          </a:solidFill>
          <a:ln w="12700">
            <a:solidFill>
              <a:srgbClr val="B6BDC6"/>
            </a:solidFill>
            <a:prstDash val="solid"/>
          </a:ln>
        </p:spPr>
      </p:sp>
      <p:sp>
        <p:nvSpPr>
          <p:cNvPr id="32" name="Text 30"/>
          <p:cNvSpPr txBox="1"/>
          <p:nvPr/>
        </p:nvSpPr>
        <p:spPr>
          <a:xfrm>
            <a:off x="3657600" y="3657600"/>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weak–strong</a:t>
            </a:r>
            <a:endParaRPr lang="en-US" sz="900" dirty="0"/>
          </a:p>
        </p:txBody>
      </p:sp>
      <p:sp>
        <p:nvSpPr>
          <p:cNvPr id="33" name="Shape 31"/>
          <p:cNvSpPr/>
          <p:nvPr/>
        </p:nvSpPr>
        <p:spPr>
          <a:xfrm>
            <a:off x="4818888" y="3657600"/>
            <a:ext cx="1097280" cy="256032"/>
          </a:xfrm>
          <a:prstGeom prst="roundRect">
            <a:avLst>
              <a:gd name="adj" fmla="val 21429"/>
            </a:avLst>
          </a:prstGeom>
          <a:solidFill>
            <a:srgbClr val="B6BDC6"/>
          </a:solidFill>
          <a:ln w="12700">
            <a:solidFill>
              <a:srgbClr val="B6BDC6"/>
            </a:solidFill>
            <a:prstDash val="solid"/>
          </a:ln>
        </p:spPr>
      </p:sp>
      <p:sp>
        <p:nvSpPr>
          <p:cNvPr id="34" name="Text 32"/>
          <p:cNvSpPr txBox="1"/>
          <p:nvPr/>
        </p:nvSpPr>
        <p:spPr>
          <a:xfrm>
            <a:off x="4818888" y="3657600"/>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35" name="Text 33"/>
          <p:cNvSpPr txBox="1"/>
          <p:nvPr/>
        </p:nvSpPr>
        <p:spPr>
          <a:xfrm>
            <a:off x="685800" y="3977640"/>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Newborns, infants, toddlers</a:t>
            </a:r>
            <a:endParaRPr lang="en-US" sz="1050" dirty="0"/>
          </a:p>
        </p:txBody>
      </p:sp>
      <p:sp>
        <p:nvSpPr>
          <p:cNvPr id="36" name="Shape 34"/>
          <p:cNvSpPr/>
          <p:nvPr/>
        </p:nvSpPr>
        <p:spPr>
          <a:xfrm>
            <a:off x="3657600" y="4005072"/>
            <a:ext cx="1097280" cy="256032"/>
          </a:xfrm>
          <a:prstGeom prst="roundRect">
            <a:avLst>
              <a:gd name="adj" fmla="val 21429"/>
            </a:avLst>
          </a:prstGeom>
          <a:solidFill>
            <a:srgbClr val="A63D2F"/>
          </a:solidFill>
          <a:ln w="12700">
            <a:solidFill>
              <a:srgbClr val="A63D2F"/>
            </a:solidFill>
            <a:prstDash val="solid"/>
          </a:ln>
        </p:spPr>
      </p:sp>
      <p:sp>
        <p:nvSpPr>
          <p:cNvPr id="37" name="Text 35"/>
          <p:cNvSpPr txBox="1"/>
          <p:nvPr/>
        </p:nvSpPr>
        <p:spPr>
          <a:xfrm>
            <a:off x="3657600" y="4005072"/>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unsupported</a:t>
            </a:r>
            <a:endParaRPr lang="en-US" sz="900" dirty="0"/>
          </a:p>
        </p:txBody>
      </p:sp>
      <p:sp>
        <p:nvSpPr>
          <p:cNvPr id="38" name="Shape 36"/>
          <p:cNvSpPr/>
          <p:nvPr/>
        </p:nvSpPr>
        <p:spPr>
          <a:xfrm>
            <a:off x="4818888" y="4005072"/>
            <a:ext cx="1097280" cy="256032"/>
          </a:xfrm>
          <a:prstGeom prst="roundRect">
            <a:avLst>
              <a:gd name="adj" fmla="val 21429"/>
            </a:avLst>
          </a:prstGeom>
          <a:solidFill>
            <a:srgbClr val="A63D2F"/>
          </a:solidFill>
          <a:ln w="12700">
            <a:solidFill>
              <a:srgbClr val="A63D2F"/>
            </a:solidFill>
            <a:prstDash val="solid"/>
          </a:ln>
        </p:spPr>
      </p:sp>
      <p:sp>
        <p:nvSpPr>
          <p:cNvPr id="39" name="Text 37"/>
          <p:cNvSpPr txBox="1"/>
          <p:nvPr/>
        </p:nvSpPr>
        <p:spPr>
          <a:xfrm>
            <a:off x="4818888" y="4005072"/>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unsupported</a:t>
            </a:r>
            <a:endParaRPr lang="en-US" sz="900" dirty="0"/>
          </a:p>
        </p:txBody>
      </p:sp>
      <p:sp>
        <p:nvSpPr>
          <p:cNvPr id="40" name="Shape 38"/>
          <p:cNvSpPr/>
          <p:nvPr/>
        </p:nvSpPr>
        <p:spPr>
          <a:xfrm>
            <a:off x="594360" y="4325112"/>
            <a:ext cx="5349240" cy="310896"/>
          </a:xfrm>
          <a:prstGeom prst="rect">
            <a:avLst/>
          </a:prstGeom>
          <a:solidFill>
            <a:srgbClr val="F7F8F9"/>
          </a:solidFill>
          <a:ln w="12700">
            <a:solidFill>
              <a:srgbClr val="F7F8F9"/>
            </a:solidFill>
            <a:prstDash val="solid"/>
          </a:ln>
        </p:spPr>
      </p:sp>
      <p:sp>
        <p:nvSpPr>
          <p:cNvPr id="41" name="Text 39"/>
          <p:cNvSpPr txBox="1"/>
          <p:nvPr/>
        </p:nvSpPr>
        <p:spPr>
          <a:xfrm>
            <a:off x="685800" y="4325112"/>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Congenitally blind</a:t>
            </a:r>
            <a:endParaRPr lang="en-US" sz="1050" dirty="0"/>
          </a:p>
        </p:txBody>
      </p:sp>
      <p:sp>
        <p:nvSpPr>
          <p:cNvPr id="42" name="Shape 40"/>
          <p:cNvSpPr/>
          <p:nvPr/>
        </p:nvSpPr>
        <p:spPr>
          <a:xfrm>
            <a:off x="3657600" y="4352544"/>
            <a:ext cx="1097280" cy="256032"/>
          </a:xfrm>
          <a:prstGeom prst="roundRect">
            <a:avLst>
              <a:gd name="adj" fmla="val 21429"/>
            </a:avLst>
          </a:prstGeom>
          <a:solidFill>
            <a:srgbClr val="C96A55"/>
          </a:solidFill>
          <a:ln w="12700">
            <a:solidFill>
              <a:srgbClr val="C96A55"/>
            </a:solidFill>
            <a:prstDash val="solid"/>
          </a:ln>
        </p:spPr>
      </p:sp>
      <p:sp>
        <p:nvSpPr>
          <p:cNvPr id="43" name="Text 41"/>
          <p:cNvSpPr txBox="1"/>
          <p:nvPr/>
        </p:nvSpPr>
        <p:spPr>
          <a:xfrm>
            <a:off x="3657600" y="4352544"/>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unsup–weak</a:t>
            </a:r>
            <a:endParaRPr lang="en-US" sz="900" dirty="0"/>
          </a:p>
        </p:txBody>
      </p:sp>
      <p:sp>
        <p:nvSpPr>
          <p:cNvPr id="44" name="Shape 42"/>
          <p:cNvSpPr/>
          <p:nvPr/>
        </p:nvSpPr>
        <p:spPr>
          <a:xfrm>
            <a:off x="4818888" y="4352544"/>
            <a:ext cx="1097280" cy="256032"/>
          </a:xfrm>
          <a:prstGeom prst="roundRect">
            <a:avLst>
              <a:gd name="adj" fmla="val 21429"/>
            </a:avLst>
          </a:prstGeom>
          <a:solidFill>
            <a:srgbClr val="A63D2F"/>
          </a:solidFill>
          <a:ln w="12700">
            <a:solidFill>
              <a:srgbClr val="A63D2F"/>
            </a:solidFill>
            <a:prstDash val="solid"/>
          </a:ln>
        </p:spPr>
      </p:sp>
      <p:sp>
        <p:nvSpPr>
          <p:cNvPr id="45" name="Text 43"/>
          <p:cNvSpPr txBox="1"/>
          <p:nvPr/>
        </p:nvSpPr>
        <p:spPr>
          <a:xfrm>
            <a:off x="4818888" y="4352544"/>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unsupported</a:t>
            </a:r>
            <a:endParaRPr lang="en-US" sz="900" dirty="0"/>
          </a:p>
        </p:txBody>
      </p:sp>
      <p:sp>
        <p:nvSpPr>
          <p:cNvPr id="46" name="Text 44"/>
          <p:cNvSpPr txBox="1"/>
          <p:nvPr/>
        </p:nvSpPr>
        <p:spPr>
          <a:xfrm>
            <a:off x="6245352" y="1719072"/>
            <a:ext cx="5349240" cy="256032"/>
          </a:xfrm>
          <a:prstGeom prst="rect">
            <a:avLst/>
          </a:prstGeom>
          <a:noFill/>
          <a:ln/>
        </p:spPr>
        <p:txBody>
          <a:bodyPr wrap="square" lIns="0" tIns="0" rIns="0" bIns="0" rtlCol="0" anchor="ctr"/>
          <a:lstStyle/>
          <a:p>
            <a:pPr indent="0" marL="0">
              <a:buNone/>
            </a:pPr>
            <a:r>
              <a:rPr lang="en-US" sz="1050" b="1" spc="130" kern="0" dirty="0">
                <a:solidFill>
                  <a:srgbClr val="E07A5F"/>
                </a:solidFill>
                <a:latin typeface="Calibri" pitchFamily="34" charset="0"/>
                <a:ea typeface="Calibri" pitchFamily="34" charset="-122"/>
                <a:cs typeface="Calibri" pitchFamily="34" charset="-120"/>
              </a:rPr>
              <a:t>EMOTION PERCEPTION</a:t>
            </a:r>
            <a:endParaRPr lang="en-US" sz="1050" dirty="0"/>
          </a:p>
        </p:txBody>
      </p:sp>
      <p:sp>
        <p:nvSpPr>
          <p:cNvPr id="47" name="Text 45"/>
          <p:cNvSpPr txBox="1"/>
          <p:nvPr/>
        </p:nvSpPr>
        <p:spPr>
          <a:xfrm>
            <a:off x="9308592" y="1993392"/>
            <a:ext cx="1097280" cy="219456"/>
          </a:xfrm>
          <a:prstGeom prst="rect">
            <a:avLst/>
          </a:prstGeom>
          <a:noFill/>
          <a:ln/>
        </p:spPr>
        <p:txBody>
          <a:bodyPr wrap="square" lIns="0" tIns="0" rIns="0" bIns="0" rtlCol="0" anchor="ctr"/>
          <a:lstStyle/>
          <a:p>
            <a:pPr algn="ctr" indent="0" marL="0">
              <a:buNone/>
            </a:pPr>
            <a:r>
              <a:rPr lang="en-US" sz="800" b="1" dirty="0">
                <a:solidFill>
                  <a:srgbClr val="6B7280"/>
                </a:solidFill>
                <a:latin typeface="Calibri" pitchFamily="34" charset="0"/>
                <a:ea typeface="Calibri" pitchFamily="34" charset="-122"/>
                <a:cs typeface="Calibri" pitchFamily="34" charset="-120"/>
              </a:rPr>
              <a:t>RELIABILITY</a:t>
            </a:r>
            <a:endParaRPr lang="en-US" sz="800" dirty="0"/>
          </a:p>
        </p:txBody>
      </p:sp>
      <p:sp>
        <p:nvSpPr>
          <p:cNvPr id="48" name="Text 46"/>
          <p:cNvSpPr txBox="1"/>
          <p:nvPr/>
        </p:nvSpPr>
        <p:spPr>
          <a:xfrm>
            <a:off x="10469880" y="1993392"/>
            <a:ext cx="1097280" cy="219456"/>
          </a:xfrm>
          <a:prstGeom prst="rect">
            <a:avLst/>
          </a:prstGeom>
          <a:noFill/>
          <a:ln/>
        </p:spPr>
        <p:txBody>
          <a:bodyPr wrap="square" lIns="0" tIns="0" rIns="0" bIns="0" rtlCol="0" anchor="ctr"/>
          <a:lstStyle/>
          <a:p>
            <a:pPr algn="ctr" indent="0" marL="0">
              <a:buNone/>
            </a:pPr>
            <a:r>
              <a:rPr lang="en-US" sz="800" b="1" dirty="0">
                <a:solidFill>
                  <a:srgbClr val="6B7280"/>
                </a:solidFill>
                <a:latin typeface="Calibri" pitchFamily="34" charset="0"/>
                <a:ea typeface="Calibri" pitchFamily="34" charset="-122"/>
                <a:cs typeface="Calibri" pitchFamily="34" charset="-120"/>
              </a:rPr>
              <a:t>SPECIFICITY</a:t>
            </a:r>
            <a:endParaRPr lang="en-US" sz="800" dirty="0"/>
          </a:p>
        </p:txBody>
      </p:sp>
      <p:sp>
        <p:nvSpPr>
          <p:cNvPr id="49" name="Shape 47"/>
          <p:cNvSpPr/>
          <p:nvPr/>
        </p:nvSpPr>
        <p:spPr>
          <a:xfrm>
            <a:off x="6245352" y="2240280"/>
            <a:ext cx="5349240" cy="310896"/>
          </a:xfrm>
          <a:prstGeom prst="rect">
            <a:avLst/>
          </a:prstGeom>
          <a:solidFill>
            <a:srgbClr val="F7F8F9"/>
          </a:solidFill>
          <a:ln w="12700">
            <a:solidFill>
              <a:srgbClr val="F7F8F9"/>
            </a:solidFill>
            <a:prstDash val="solid"/>
          </a:ln>
        </p:spPr>
      </p:sp>
      <p:sp>
        <p:nvSpPr>
          <p:cNvPr id="50" name="Text 48"/>
          <p:cNvSpPr txBox="1"/>
          <p:nvPr/>
        </p:nvSpPr>
        <p:spPr>
          <a:xfrm>
            <a:off x="6336792" y="2240280"/>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Developed, choice-from-array</a:t>
            </a:r>
            <a:endParaRPr lang="en-US" sz="1050" dirty="0"/>
          </a:p>
        </p:txBody>
      </p:sp>
      <p:sp>
        <p:nvSpPr>
          <p:cNvPr id="51" name="Shape 49"/>
          <p:cNvSpPr/>
          <p:nvPr/>
        </p:nvSpPr>
        <p:spPr>
          <a:xfrm>
            <a:off x="9308592" y="2267712"/>
            <a:ext cx="1097280" cy="256032"/>
          </a:xfrm>
          <a:prstGeom prst="roundRect">
            <a:avLst>
              <a:gd name="adj" fmla="val 21429"/>
            </a:avLst>
          </a:prstGeom>
          <a:solidFill>
            <a:srgbClr val="6E9478"/>
          </a:solidFill>
          <a:ln w="12700">
            <a:solidFill>
              <a:srgbClr val="6E9478"/>
            </a:solidFill>
            <a:prstDash val="solid"/>
          </a:ln>
        </p:spPr>
      </p:sp>
      <p:sp>
        <p:nvSpPr>
          <p:cNvPr id="52" name="Text 50"/>
          <p:cNvSpPr txBox="1"/>
          <p:nvPr/>
        </p:nvSpPr>
        <p:spPr>
          <a:xfrm>
            <a:off x="9308592" y="2267712"/>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mod–strong</a:t>
            </a:r>
            <a:endParaRPr lang="en-US" sz="900" dirty="0"/>
          </a:p>
        </p:txBody>
      </p:sp>
      <p:sp>
        <p:nvSpPr>
          <p:cNvPr id="53" name="Shape 51"/>
          <p:cNvSpPr/>
          <p:nvPr/>
        </p:nvSpPr>
        <p:spPr>
          <a:xfrm>
            <a:off x="10469880" y="2267712"/>
            <a:ext cx="1097280" cy="256032"/>
          </a:xfrm>
          <a:prstGeom prst="roundRect">
            <a:avLst>
              <a:gd name="adj" fmla="val 21429"/>
            </a:avLst>
          </a:prstGeom>
          <a:solidFill>
            <a:srgbClr val="B6BDC6"/>
          </a:solidFill>
          <a:ln w="12700">
            <a:solidFill>
              <a:srgbClr val="B6BDC6"/>
            </a:solidFill>
            <a:prstDash val="solid"/>
          </a:ln>
        </p:spPr>
      </p:sp>
      <p:sp>
        <p:nvSpPr>
          <p:cNvPr id="54" name="Text 52"/>
          <p:cNvSpPr txBox="1"/>
          <p:nvPr/>
        </p:nvSpPr>
        <p:spPr>
          <a:xfrm>
            <a:off x="10469880" y="2267712"/>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55" name="Text 53"/>
          <p:cNvSpPr txBox="1"/>
          <p:nvPr/>
        </p:nvSpPr>
        <p:spPr>
          <a:xfrm>
            <a:off x="6336792" y="2587752"/>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Developed, reverse correlation</a:t>
            </a:r>
            <a:endParaRPr lang="en-US" sz="1050" dirty="0"/>
          </a:p>
        </p:txBody>
      </p:sp>
      <p:sp>
        <p:nvSpPr>
          <p:cNvPr id="56" name="Shape 54"/>
          <p:cNvSpPr/>
          <p:nvPr/>
        </p:nvSpPr>
        <p:spPr>
          <a:xfrm>
            <a:off x="9308592" y="2615184"/>
            <a:ext cx="1097280" cy="256032"/>
          </a:xfrm>
          <a:prstGeom prst="roundRect">
            <a:avLst>
              <a:gd name="adj" fmla="val 21429"/>
            </a:avLst>
          </a:prstGeom>
          <a:solidFill>
            <a:srgbClr val="D9A441"/>
          </a:solidFill>
          <a:ln w="12700">
            <a:solidFill>
              <a:srgbClr val="D9A441"/>
            </a:solidFill>
            <a:prstDash val="solid"/>
          </a:ln>
        </p:spPr>
      </p:sp>
      <p:sp>
        <p:nvSpPr>
          <p:cNvPr id="57" name="Text 55"/>
          <p:cNvSpPr txBox="1"/>
          <p:nvPr/>
        </p:nvSpPr>
        <p:spPr>
          <a:xfrm>
            <a:off x="9308592" y="2615184"/>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moderate</a:t>
            </a:r>
            <a:endParaRPr lang="en-US" sz="900" dirty="0"/>
          </a:p>
        </p:txBody>
      </p:sp>
      <p:sp>
        <p:nvSpPr>
          <p:cNvPr id="58" name="Shape 56"/>
          <p:cNvSpPr/>
          <p:nvPr/>
        </p:nvSpPr>
        <p:spPr>
          <a:xfrm>
            <a:off x="10469880" y="2615184"/>
            <a:ext cx="1097280" cy="256032"/>
          </a:xfrm>
          <a:prstGeom prst="roundRect">
            <a:avLst>
              <a:gd name="adj" fmla="val 21429"/>
            </a:avLst>
          </a:prstGeom>
          <a:solidFill>
            <a:srgbClr val="D9A441"/>
          </a:solidFill>
          <a:ln w="12700">
            <a:solidFill>
              <a:srgbClr val="D9A441"/>
            </a:solidFill>
            <a:prstDash val="solid"/>
          </a:ln>
        </p:spPr>
      </p:sp>
      <p:sp>
        <p:nvSpPr>
          <p:cNvPr id="59" name="Text 57"/>
          <p:cNvSpPr txBox="1"/>
          <p:nvPr/>
        </p:nvSpPr>
        <p:spPr>
          <a:xfrm>
            <a:off x="10469880" y="2615184"/>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moderate</a:t>
            </a:r>
            <a:endParaRPr lang="en-US" sz="900" dirty="0"/>
          </a:p>
        </p:txBody>
      </p:sp>
      <p:sp>
        <p:nvSpPr>
          <p:cNvPr id="60" name="Shape 58"/>
          <p:cNvSpPr/>
          <p:nvPr/>
        </p:nvSpPr>
        <p:spPr>
          <a:xfrm>
            <a:off x="6245352" y="2935224"/>
            <a:ext cx="5349240" cy="310896"/>
          </a:xfrm>
          <a:prstGeom prst="rect">
            <a:avLst/>
          </a:prstGeom>
          <a:solidFill>
            <a:srgbClr val="F7F8F9"/>
          </a:solidFill>
          <a:ln w="12700">
            <a:solidFill>
              <a:srgbClr val="F7F8F9"/>
            </a:solidFill>
            <a:prstDash val="solid"/>
          </a:ln>
        </p:spPr>
      </p:sp>
      <p:sp>
        <p:nvSpPr>
          <p:cNvPr id="61" name="Text 59"/>
          <p:cNvSpPr txBox="1"/>
          <p:nvPr/>
        </p:nvSpPr>
        <p:spPr>
          <a:xfrm>
            <a:off x="6336792" y="2935224"/>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Developed, free labelling</a:t>
            </a:r>
            <a:endParaRPr lang="en-US" sz="1050" dirty="0"/>
          </a:p>
        </p:txBody>
      </p:sp>
      <p:sp>
        <p:nvSpPr>
          <p:cNvPr id="62" name="Shape 60"/>
          <p:cNvSpPr/>
          <p:nvPr/>
        </p:nvSpPr>
        <p:spPr>
          <a:xfrm>
            <a:off x="9308592" y="2962656"/>
            <a:ext cx="1097280" cy="256032"/>
          </a:xfrm>
          <a:prstGeom prst="roundRect">
            <a:avLst>
              <a:gd name="adj" fmla="val 21429"/>
            </a:avLst>
          </a:prstGeom>
          <a:solidFill>
            <a:srgbClr val="D68C4E"/>
          </a:solidFill>
          <a:ln w="12700">
            <a:solidFill>
              <a:srgbClr val="D68C4E"/>
            </a:solidFill>
            <a:prstDash val="solid"/>
          </a:ln>
        </p:spPr>
      </p:sp>
      <p:sp>
        <p:nvSpPr>
          <p:cNvPr id="63" name="Text 61"/>
          <p:cNvSpPr txBox="1"/>
          <p:nvPr/>
        </p:nvSpPr>
        <p:spPr>
          <a:xfrm>
            <a:off x="9308592" y="2962656"/>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weak–mod</a:t>
            </a:r>
            <a:endParaRPr lang="en-US" sz="900" dirty="0"/>
          </a:p>
        </p:txBody>
      </p:sp>
      <p:sp>
        <p:nvSpPr>
          <p:cNvPr id="64" name="Shape 62"/>
          <p:cNvSpPr/>
          <p:nvPr/>
        </p:nvSpPr>
        <p:spPr>
          <a:xfrm>
            <a:off x="10469880" y="2962656"/>
            <a:ext cx="1097280" cy="256032"/>
          </a:xfrm>
          <a:prstGeom prst="roundRect">
            <a:avLst>
              <a:gd name="adj" fmla="val 21429"/>
            </a:avLst>
          </a:prstGeom>
          <a:solidFill>
            <a:srgbClr val="E07A5F"/>
          </a:solidFill>
          <a:ln w="12700">
            <a:solidFill>
              <a:srgbClr val="E07A5F"/>
            </a:solidFill>
            <a:prstDash val="solid"/>
          </a:ln>
        </p:spPr>
      </p:sp>
      <p:sp>
        <p:nvSpPr>
          <p:cNvPr id="65" name="Text 63"/>
          <p:cNvSpPr txBox="1"/>
          <p:nvPr/>
        </p:nvSpPr>
        <p:spPr>
          <a:xfrm>
            <a:off x="10469880" y="2962656"/>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a:t>
            </a:r>
            <a:endParaRPr lang="en-US" sz="900" dirty="0"/>
          </a:p>
        </p:txBody>
      </p:sp>
      <p:sp>
        <p:nvSpPr>
          <p:cNvPr id="66" name="Text 64"/>
          <p:cNvSpPr txBox="1"/>
          <p:nvPr/>
        </p:nvSpPr>
        <p:spPr>
          <a:xfrm>
            <a:off x="6336792" y="3282696"/>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Developed, virtual humans</a:t>
            </a:r>
            <a:endParaRPr lang="en-US" sz="1050" dirty="0"/>
          </a:p>
        </p:txBody>
      </p:sp>
      <p:sp>
        <p:nvSpPr>
          <p:cNvPr id="67" name="Shape 65"/>
          <p:cNvSpPr/>
          <p:nvPr/>
        </p:nvSpPr>
        <p:spPr>
          <a:xfrm>
            <a:off x="9308592" y="3310128"/>
            <a:ext cx="1097280" cy="256032"/>
          </a:xfrm>
          <a:prstGeom prst="roundRect">
            <a:avLst>
              <a:gd name="adj" fmla="val 21429"/>
            </a:avLst>
          </a:prstGeom>
          <a:solidFill>
            <a:srgbClr val="B6BDC6"/>
          </a:solidFill>
          <a:ln w="12700">
            <a:solidFill>
              <a:srgbClr val="B6BDC6"/>
            </a:solidFill>
            <a:prstDash val="solid"/>
          </a:ln>
        </p:spPr>
      </p:sp>
      <p:sp>
        <p:nvSpPr>
          <p:cNvPr id="68" name="Text 66"/>
          <p:cNvSpPr txBox="1"/>
          <p:nvPr/>
        </p:nvSpPr>
        <p:spPr>
          <a:xfrm>
            <a:off x="9308592" y="3310128"/>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69" name="Shape 67"/>
          <p:cNvSpPr/>
          <p:nvPr/>
        </p:nvSpPr>
        <p:spPr>
          <a:xfrm>
            <a:off x="10469880" y="3310128"/>
            <a:ext cx="1097280" cy="256032"/>
          </a:xfrm>
          <a:prstGeom prst="roundRect">
            <a:avLst>
              <a:gd name="adj" fmla="val 21429"/>
            </a:avLst>
          </a:prstGeom>
          <a:solidFill>
            <a:srgbClr val="B6BDC6"/>
          </a:solidFill>
          <a:ln w="12700">
            <a:solidFill>
              <a:srgbClr val="B6BDC6"/>
            </a:solidFill>
            <a:prstDash val="solid"/>
          </a:ln>
        </p:spPr>
      </p:sp>
      <p:sp>
        <p:nvSpPr>
          <p:cNvPr id="70" name="Text 68"/>
          <p:cNvSpPr txBox="1"/>
          <p:nvPr/>
        </p:nvSpPr>
        <p:spPr>
          <a:xfrm>
            <a:off x="10469880" y="3310128"/>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71" name="Shape 69"/>
          <p:cNvSpPr/>
          <p:nvPr/>
        </p:nvSpPr>
        <p:spPr>
          <a:xfrm>
            <a:off x="6245352" y="3630168"/>
            <a:ext cx="5349240" cy="310896"/>
          </a:xfrm>
          <a:prstGeom prst="rect">
            <a:avLst/>
          </a:prstGeom>
          <a:solidFill>
            <a:srgbClr val="F7F8F9"/>
          </a:solidFill>
          <a:ln w="12700">
            <a:solidFill>
              <a:srgbClr val="F7F8F9"/>
            </a:solidFill>
            <a:prstDash val="solid"/>
          </a:ln>
        </p:spPr>
      </p:sp>
      <p:sp>
        <p:nvSpPr>
          <p:cNvPr id="72" name="Text 70"/>
          <p:cNvSpPr txBox="1"/>
          <p:nvPr/>
        </p:nvSpPr>
        <p:spPr>
          <a:xfrm>
            <a:off x="6336792" y="3630168"/>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Remote, choice-from-array (pre-2008)</a:t>
            </a:r>
            <a:endParaRPr lang="en-US" sz="1050" dirty="0"/>
          </a:p>
        </p:txBody>
      </p:sp>
      <p:sp>
        <p:nvSpPr>
          <p:cNvPr id="73" name="Shape 71"/>
          <p:cNvSpPr/>
          <p:nvPr/>
        </p:nvSpPr>
        <p:spPr>
          <a:xfrm>
            <a:off x="9308592" y="3657600"/>
            <a:ext cx="1097280" cy="256032"/>
          </a:xfrm>
          <a:prstGeom prst="roundRect">
            <a:avLst>
              <a:gd name="adj" fmla="val 21429"/>
            </a:avLst>
          </a:prstGeom>
          <a:solidFill>
            <a:srgbClr val="6E9478"/>
          </a:solidFill>
          <a:ln w="12700">
            <a:solidFill>
              <a:srgbClr val="6E9478"/>
            </a:solidFill>
            <a:prstDash val="solid"/>
          </a:ln>
        </p:spPr>
      </p:sp>
      <p:sp>
        <p:nvSpPr>
          <p:cNvPr id="74" name="Text 72"/>
          <p:cNvSpPr txBox="1"/>
          <p:nvPr/>
        </p:nvSpPr>
        <p:spPr>
          <a:xfrm>
            <a:off x="9308592" y="3657600"/>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mod–strong</a:t>
            </a:r>
            <a:endParaRPr lang="en-US" sz="900" dirty="0"/>
          </a:p>
        </p:txBody>
      </p:sp>
      <p:sp>
        <p:nvSpPr>
          <p:cNvPr id="75" name="Shape 73"/>
          <p:cNvSpPr/>
          <p:nvPr/>
        </p:nvSpPr>
        <p:spPr>
          <a:xfrm>
            <a:off x="10469880" y="3657600"/>
            <a:ext cx="1097280" cy="256032"/>
          </a:xfrm>
          <a:prstGeom prst="roundRect">
            <a:avLst>
              <a:gd name="adj" fmla="val 21429"/>
            </a:avLst>
          </a:prstGeom>
          <a:solidFill>
            <a:srgbClr val="B6BDC6"/>
          </a:solidFill>
          <a:ln w="12700">
            <a:solidFill>
              <a:srgbClr val="B6BDC6"/>
            </a:solidFill>
            <a:prstDash val="solid"/>
          </a:ln>
        </p:spPr>
      </p:sp>
      <p:sp>
        <p:nvSpPr>
          <p:cNvPr id="76" name="Text 74"/>
          <p:cNvSpPr txBox="1"/>
          <p:nvPr/>
        </p:nvSpPr>
        <p:spPr>
          <a:xfrm>
            <a:off x="10469880" y="3657600"/>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unknown</a:t>
            </a:r>
            <a:endParaRPr lang="en-US" sz="900" dirty="0"/>
          </a:p>
        </p:txBody>
      </p:sp>
      <p:sp>
        <p:nvSpPr>
          <p:cNvPr id="77" name="Text 75"/>
          <p:cNvSpPr txBox="1"/>
          <p:nvPr/>
        </p:nvSpPr>
        <p:spPr>
          <a:xfrm>
            <a:off x="6336792" y="3977640"/>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Remote, choice-from-array (post-2008)</a:t>
            </a:r>
            <a:endParaRPr lang="en-US" sz="1050" dirty="0"/>
          </a:p>
        </p:txBody>
      </p:sp>
      <p:sp>
        <p:nvSpPr>
          <p:cNvPr id="78" name="Shape 76"/>
          <p:cNvSpPr/>
          <p:nvPr/>
        </p:nvSpPr>
        <p:spPr>
          <a:xfrm>
            <a:off x="9308592" y="4005072"/>
            <a:ext cx="1097280" cy="256032"/>
          </a:xfrm>
          <a:prstGeom prst="roundRect">
            <a:avLst>
              <a:gd name="adj" fmla="val 21429"/>
            </a:avLst>
          </a:prstGeom>
          <a:solidFill>
            <a:srgbClr val="D68C4E"/>
          </a:solidFill>
          <a:ln w="12700">
            <a:solidFill>
              <a:srgbClr val="D68C4E"/>
            </a:solidFill>
            <a:prstDash val="solid"/>
          </a:ln>
        </p:spPr>
      </p:sp>
      <p:sp>
        <p:nvSpPr>
          <p:cNvPr id="79" name="Text 77"/>
          <p:cNvSpPr txBox="1"/>
          <p:nvPr/>
        </p:nvSpPr>
        <p:spPr>
          <a:xfrm>
            <a:off x="9308592" y="4005072"/>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weak–mod</a:t>
            </a:r>
            <a:endParaRPr lang="en-US" sz="900" dirty="0"/>
          </a:p>
        </p:txBody>
      </p:sp>
      <p:sp>
        <p:nvSpPr>
          <p:cNvPr id="80" name="Shape 78"/>
          <p:cNvSpPr/>
          <p:nvPr/>
        </p:nvSpPr>
        <p:spPr>
          <a:xfrm>
            <a:off x="10469880" y="4005072"/>
            <a:ext cx="1097280" cy="256032"/>
          </a:xfrm>
          <a:prstGeom prst="roundRect">
            <a:avLst>
              <a:gd name="adj" fmla="val 21429"/>
            </a:avLst>
          </a:prstGeom>
          <a:solidFill>
            <a:srgbClr val="A63D2F"/>
          </a:solidFill>
          <a:ln w="12700">
            <a:solidFill>
              <a:srgbClr val="A63D2F"/>
            </a:solidFill>
            <a:prstDash val="solid"/>
          </a:ln>
        </p:spPr>
      </p:sp>
      <p:sp>
        <p:nvSpPr>
          <p:cNvPr id="81" name="Text 79"/>
          <p:cNvSpPr txBox="1"/>
          <p:nvPr/>
        </p:nvSpPr>
        <p:spPr>
          <a:xfrm>
            <a:off x="10469880" y="4005072"/>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unsupported</a:t>
            </a:r>
            <a:endParaRPr lang="en-US" sz="900" dirty="0"/>
          </a:p>
        </p:txBody>
      </p:sp>
      <p:sp>
        <p:nvSpPr>
          <p:cNvPr id="82" name="Shape 80"/>
          <p:cNvSpPr/>
          <p:nvPr/>
        </p:nvSpPr>
        <p:spPr>
          <a:xfrm>
            <a:off x="6245352" y="4325112"/>
            <a:ext cx="5349240" cy="310896"/>
          </a:xfrm>
          <a:prstGeom prst="rect">
            <a:avLst/>
          </a:prstGeom>
          <a:solidFill>
            <a:srgbClr val="F7F8F9"/>
          </a:solidFill>
          <a:ln w="12700">
            <a:solidFill>
              <a:srgbClr val="F7F8F9"/>
            </a:solidFill>
            <a:prstDash val="solid"/>
          </a:ln>
        </p:spPr>
      </p:sp>
      <p:sp>
        <p:nvSpPr>
          <p:cNvPr id="83" name="Text 81"/>
          <p:cNvSpPr txBox="1"/>
          <p:nvPr/>
        </p:nvSpPr>
        <p:spPr>
          <a:xfrm>
            <a:off x="6336792" y="4325112"/>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Remote, free labelling (pre-2008)</a:t>
            </a:r>
            <a:endParaRPr lang="en-US" sz="1050" dirty="0"/>
          </a:p>
        </p:txBody>
      </p:sp>
      <p:sp>
        <p:nvSpPr>
          <p:cNvPr id="84" name="Shape 82"/>
          <p:cNvSpPr/>
          <p:nvPr/>
        </p:nvSpPr>
        <p:spPr>
          <a:xfrm>
            <a:off x="9308592" y="4352544"/>
            <a:ext cx="1097280" cy="256032"/>
          </a:xfrm>
          <a:prstGeom prst="roundRect">
            <a:avLst>
              <a:gd name="adj" fmla="val 21429"/>
            </a:avLst>
          </a:prstGeom>
          <a:solidFill>
            <a:srgbClr val="B6BDC6"/>
          </a:solidFill>
          <a:ln w="12700">
            <a:solidFill>
              <a:srgbClr val="B6BDC6"/>
            </a:solidFill>
            <a:prstDash val="solid"/>
          </a:ln>
        </p:spPr>
      </p:sp>
      <p:sp>
        <p:nvSpPr>
          <p:cNvPr id="85" name="Text 83"/>
          <p:cNvSpPr txBox="1"/>
          <p:nvPr/>
        </p:nvSpPr>
        <p:spPr>
          <a:xfrm>
            <a:off x="9308592" y="4352544"/>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weak–strong</a:t>
            </a:r>
            <a:endParaRPr lang="en-US" sz="900" dirty="0"/>
          </a:p>
        </p:txBody>
      </p:sp>
      <p:sp>
        <p:nvSpPr>
          <p:cNvPr id="86" name="Shape 84"/>
          <p:cNvSpPr/>
          <p:nvPr/>
        </p:nvSpPr>
        <p:spPr>
          <a:xfrm>
            <a:off x="10469880" y="4352544"/>
            <a:ext cx="1097280" cy="256032"/>
          </a:xfrm>
          <a:prstGeom prst="roundRect">
            <a:avLst>
              <a:gd name="adj" fmla="val 21429"/>
            </a:avLst>
          </a:prstGeom>
          <a:solidFill>
            <a:srgbClr val="B6BDC6"/>
          </a:solidFill>
          <a:ln w="12700">
            <a:solidFill>
              <a:srgbClr val="B6BDC6"/>
            </a:solidFill>
            <a:prstDash val="solid"/>
          </a:ln>
        </p:spPr>
      </p:sp>
      <p:sp>
        <p:nvSpPr>
          <p:cNvPr id="87" name="Text 85"/>
          <p:cNvSpPr txBox="1"/>
          <p:nvPr/>
        </p:nvSpPr>
        <p:spPr>
          <a:xfrm>
            <a:off x="10469880" y="4352544"/>
            <a:ext cx="1097280" cy="256032"/>
          </a:xfrm>
          <a:prstGeom prst="rect">
            <a:avLst/>
          </a:prstGeom>
          <a:noFill/>
          <a:ln/>
        </p:spPr>
        <p:txBody>
          <a:bodyPr wrap="square" lIns="0" tIns="0" rIns="0" bIns="0" rtlCol="0" anchor="ctr"/>
          <a:lstStyle/>
          <a:p>
            <a:pPr algn="ctr" indent="0" marL="0">
              <a:buNone/>
            </a:pPr>
            <a:r>
              <a:rPr lang="en-US" sz="900" b="1" dirty="0">
                <a:solidFill>
                  <a:srgbClr val="2E4057"/>
                </a:solidFill>
                <a:latin typeface="Calibri" pitchFamily="34" charset="0"/>
                <a:ea typeface="Calibri" pitchFamily="34" charset="-122"/>
                <a:cs typeface="Calibri" pitchFamily="34" charset="-120"/>
              </a:rPr>
              <a:t>variable</a:t>
            </a:r>
            <a:endParaRPr lang="en-US" sz="900" dirty="0"/>
          </a:p>
        </p:txBody>
      </p:sp>
      <p:sp>
        <p:nvSpPr>
          <p:cNvPr id="88" name="Text 86"/>
          <p:cNvSpPr txBox="1"/>
          <p:nvPr/>
        </p:nvSpPr>
        <p:spPr>
          <a:xfrm>
            <a:off x="6336792" y="4672584"/>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Remote, free labelling (post-2008)</a:t>
            </a:r>
            <a:endParaRPr lang="en-US" sz="1050" dirty="0"/>
          </a:p>
        </p:txBody>
      </p:sp>
      <p:sp>
        <p:nvSpPr>
          <p:cNvPr id="89" name="Shape 87"/>
          <p:cNvSpPr/>
          <p:nvPr/>
        </p:nvSpPr>
        <p:spPr>
          <a:xfrm>
            <a:off x="9308592" y="4700016"/>
            <a:ext cx="1097280" cy="256032"/>
          </a:xfrm>
          <a:prstGeom prst="roundRect">
            <a:avLst>
              <a:gd name="adj" fmla="val 21429"/>
            </a:avLst>
          </a:prstGeom>
          <a:solidFill>
            <a:srgbClr val="A63D2F"/>
          </a:solidFill>
          <a:ln w="12700">
            <a:solidFill>
              <a:srgbClr val="A63D2F"/>
            </a:solidFill>
            <a:prstDash val="solid"/>
          </a:ln>
        </p:spPr>
      </p:sp>
      <p:sp>
        <p:nvSpPr>
          <p:cNvPr id="90" name="Text 88"/>
          <p:cNvSpPr txBox="1"/>
          <p:nvPr/>
        </p:nvSpPr>
        <p:spPr>
          <a:xfrm>
            <a:off x="9308592" y="4700016"/>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unsupported</a:t>
            </a:r>
            <a:endParaRPr lang="en-US" sz="900" dirty="0"/>
          </a:p>
        </p:txBody>
      </p:sp>
      <p:sp>
        <p:nvSpPr>
          <p:cNvPr id="91" name="Shape 89"/>
          <p:cNvSpPr/>
          <p:nvPr/>
        </p:nvSpPr>
        <p:spPr>
          <a:xfrm>
            <a:off x="10469880" y="4700016"/>
            <a:ext cx="1097280" cy="256032"/>
          </a:xfrm>
          <a:prstGeom prst="roundRect">
            <a:avLst>
              <a:gd name="adj" fmla="val 21429"/>
            </a:avLst>
          </a:prstGeom>
          <a:solidFill>
            <a:srgbClr val="A63D2F"/>
          </a:solidFill>
          <a:ln w="12700">
            <a:solidFill>
              <a:srgbClr val="A63D2F"/>
            </a:solidFill>
            <a:prstDash val="solid"/>
          </a:ln>
        </p:spPr>
      </p:sp>
      <p:sp>
        <p:nvSpPr>
          <p:cNvPr id="92" name="Text 90"/>
          <p:cNvSpPr txBox="1"/>
          <p:nvPr/>
        </p:nvSpPr>
        <p:spPr>
          <a:xfrm>
            <a:off x="10469880" y="4700016"/>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unsupported</a:t>
            </a:r>
            <a:endParaRPr lang="en-US" sz="900" dirty="0"/>
          </a:p>
        </p:txBody>
      </p:sp>
      <p:sp>
        <p:nvSpPr>
          <p:cNvPr id="93" name="Shape 91"/>
          <p:cNvSpPr/>
          <p:nvPr/>
        </p:nvSpPr>
        <p:spPr>
          <a:xfrm>
            <a:off x="6245352" y="5020056"/>
            <a:ext cx="5349240" cy="310896"/>
          </a:xfrm>
          <a:prstGeom prst="rect">
            <a:avLst/>
          </a:prstGeom>
          <a:solidFill>
            <a:srgbClr val="F7F8F9"/>
          </a:solidFill>
          <a:ln w="12700">
            <a:solidFill>
              <a:srgbClr val="F7F8F9"/>
            </a:solidFill>
            <a:prstDash val="solid"/>
          </a:ln>
        </p:spPr>
      </p:sp>
      <p:sp>
        <p:nvSpPr>
          <p:cNvPr id="94" name="Text 92"/>
          <p:cNvSpPr txBox="1"/>
          <p:nvPr/>
        </p:nvSpPr>
        <p:spPr>
          <a:xfrm>
            <a:off x="6336792" y="5020056"/>
            <a:ext cx="2926080" cy="310896"/>
          </a:xfrm>
          <a:prstGeom prst="rect">
            <a:avLst/>
          </a:prstGeom>
          <a:noFill/>
          <a:ln/>
        </p:spPr>
        <p:txBody>
          <a:bodyPr wrap="square" lIns="0" tIns="0" rIns="0" bIns="0" rtlCol="0" anchor="ctr"/>
          <a:lstStyle/>
          <a:p>
            <a:pPr indent="0" marL="0">
              <a:buNone/>
            </a:pPr>
            <a:r>
              <a:rPr lang="en-US" sz="1050" dirty="0">
                <a:solidFill>
                  <a:srgbClr val="16202C"/>
                </a:solidFill>
                <a:latin typeface="Calibri" pitchFamily="34" charset="0"/>
                <a:ea typeface="Calibri" pitchFamily="34" charset="-122"/>
                <a:cs typeface="Calibri" pitchFamily="34" charset="-120"/>
              </a:rPr>
              <a:t>Infants, young children</a:t>
            </a:r>
            <a:endParaRPr lang="en-US" sz="1050" dirty="0"/>
          </a:p>
        </p:txBody>
      </p:sp>
      <p:sp>
        <p:nvSpPr>
          <p:cNvPr id="95" name="Shape 93"/>
          <p:cNvSpPr/>
          <p:nvPr/>
        </p:nvSpPr>
        <p:spPr>
          <a:xfrm>
            <a:off x="9308592" y="5047488"/>
            <a:ext cx="1097280" cy="256032"/>
          </a:xfrm>
          <a:prstGeom prst="roundRect">
            <a:avLst>
              <a:gd name="adj" fmla="val 21429"/>
            </a:avLst>
          </a:prstGeom>
          <a:solidFill>
            <a:srgbClr val="A63D2F"/>
          </a:solidFill>
          <a:ln w="12700">
            <a:solidFill>
              <a:srgbClr val="A63D2F"/>
            </a:solidFill>
            <a:prstDash val="solid"/>
          </a:ln>
        </p:spPr>
      </p:sp>
      <p:sp>
        <p:nvSpPr>
          <p:cNvPr id="96" name="Text 94"/>
          <p:cNvSpPr txBox="1"/>
          <p:nvPr/>
        </p:nvSpPr>
        <p:spPr>
          <a:xfrm>
            <a:off x="9308592" y="5047488"/>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unsupported</a:t>
            </a:r>
            <a:endParaRPr lang="en-US" sz="900" dirty="0"/>
          </a:p>
        </p:txBody>
      </p:sp>
      <p:sp>
        <p:nvSpPr>
          <p:cNvPr id="97" name="Shape 95"/>
          <p:cNvSpPr/>
          <p:nvPr/>
        </p:nvSpPr>
        <p:spPr>
          <a:xfrm>
            <a:off x="10469880" y="5047488"/>
            <a:ext cx="1097280" cy="256032"/>
          </a:xfrm>
          <a:prstGeom prst="roundRect">
            <a:avLst>
              <a:gd name="adj" fmla="val 21429"/>
            </a:avLst>
          </a:prstGeom>
          <a:solidFill>
            <a:srgbClr val="A63D2F"/>
          </a:solidFill>
          <a:ln w="12700">
            <a:solidFill>
              <a:srgbClr val="A63D2F"/>
            </a:solidFill>
            <a:prstDash val="solid"/>
          </a:ln>
        </p:spPr>
      </p:sp>
      <p:sp>
        <p:nvSpPr>
          <p:cNvPr id="98" name="Text 96"/>
          <p:cNvSpPr txBox="1"/>
          <p:nvPr/>
        </p:nvSpPr>
        <p:spPr>
          <a:xfrm>
            <a:off x="10469880" y="5047488"/>
            <a:ext cx="109728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unsupported</a:t>
            </a:r>
            <a:endParaRPr lang="en-US" sz="900" dirty="0"/>
          </a:p>
        </p:txBody>
      </p:sp>
      <p:sp>
        <p:nvSpPr>
          <p:cNvPr id="99" name="Text 97"/>
          <p:cNvSpPr txBox="1"/>
          <p:nvPr/>
        </p:nvSpPr>
        <p:spPr>
          <a:xfrm>
            <a:off x="594360" y="5943600"/>
            <a:ext cx="11002975" cy="292608"/>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Grey = not reported.  Specificity is unknown or unsupported in every row but one.</a:t>
            </a:r>
            <a:endParaRPr lang="en-US" sz="1250" dirty="0"/>
          </a:p>
        </p:txBody>
      </p:sp>
      <p:sp>
        <p:nvSpPr>
          <p:cNvPr id="100" name="Text 98"/>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Table 4. Bands follow Haidt &amp; Keltner (1999).</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566928"/>
            <a:ext cx="2468880" cy="384048"/>
          </a:xfrm>
          <a:prstGeom prst="roundRect">
            <a:avLst>
              <a:gd name="adj" fmla="val 23810"/>
            </a:avLst>
          </a:prstGeom>
          <a:solidFill>
            <a:srgbClr val="D9A441"/>
          </a:solidFill>
          <a:ln w="12700">
            <a:solidFill>
              <a:srgbClr val="D9A441"/>
            </a:solidFill>
            <a:prstDash val="solid"/>
          </a:ln>
        </p:spPr>
      </p:sp>
      <p:sp>
        <p:nvSpPr>
          <p:cNvPr id="3" name="Text 1"/>
          <p:cNvSpPr txBox="1"/>
          <p:nvPr/>
        </p:nvSpPr>
        <p:spPr>
          <a:xfrm>
            <a:off x="594360" y="566928"/>
            <a:ext cx="2468880" cy="384048"/>
          </a:xfrm>
          <a:prstGeom prst="rect">
            <a:avLst/>
          </a:prstGeom>
          <a:noFill/>
          <a:ln/>
        </p:spPr>
        <p:txBody>
          <a:bodyPr wrap="square" lIns="0" tIns="0" rIns="0" bIns="0" rtlCol="0" anchor="ctr"/>
          <a:lstStyle/>
          <a:p>
            <a:pPr algn="ctr" indent="0" marL="0">
              <a:buNone/>
            </a:pPr>
            <a:r>
              <a:rPr lang="en-US" sz="1150" b="1" spc="140" kern="0" dirty="0">
                <a:solidFill>
                  <a:srgbClr val="16202C"/>
                </a:solidFill>
                <a:latin typeface="Calibri" pitchFamily="34" charset="0"/>
                <a:ea typeface="Calibri" pitchFamily="34" charset="-122"/>
                <a:cs typeface="Calibri" pitchFamily="34" charset="-120"/>
              </a:rPr>
              <a:t>DISCUSSION 3</a:t>
            </a:r>
            <a:endParaRPr lang="en-US" sz="1150" dirty="0"/>
          </a:p>
        </p:txBody>
      </p:sp>
      <p:sp>
        <p:nvSpPr>
          <p:cNvPr id="4" name="Text 2"/>
          <p:cNvSpPr txBox="1"/>
          <p:nvPr/>
        </p:nvSpPr>
        <p:spPr>
          <a:xfrm>
            <a:off x="9585655" y="566928"/>
            <a:ext cx="2011680" cy="384048"/>
          </a:xfrm>
          <a:prstGeom prst="rect">
            <a:avLst/>
          </a:prstGeom>
          <a:noFill/>
          <a:ln/>
        </p:spPr>
        <p:txBody>
          <a:bodyPr wrap="square" lIns="0" tIns="0" rIns="0" bIns="0" rtlCol="0" anchor="ctr"/>
          <a:lstStyle/>
          <a:p>
            <a:pPr algn="r" indent="0" marL="0">
              <a:buNone/>
            </a:pPr>
            <a:r>
              <a:rPr lang="en-US" sz="1200" dirty="0">
                <a:solidFill>
                  <a:srgbClr val="9AA3AE"/>
                </a:solidFill>
                <a:latin typeface="Calibri" pitchFamily="34" charset="0"/>
                <a:ea typeface="Calibri" pitchFamily="34" charset="-122"/>
                <a:cs typeface="Calibri" pitchFamily="34" charset="-120"/>
              </a:rPr>
              <a:t>~6 minutes</a:t>
            </a:r>
            <a:endParaRPr lang="en-US" sz="1200" dirty="0"/>
          </a:p>
        </p:txBody>
      </p:sp>
      <p:sp>
        <p:nvSpPr>
          <p:cNvPr id="5" name="Text 3"/>
          <p:cNvSpPr txBox="1"/>
          <p:nvPr/>
        </p:nvSpPr>
        <p:spPr>
          <a:xfrm>
            <a:off x="594360" y="1325880"/>
            <a:ext cx="11002975" cy="137160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Does the paper prove too much?</a:t>
            </a:r>
            <a:endParaRPr lang="en-US" sz="3000" dirty="0"/>
          </a:p>
        </p:txBody>
      </p:sp>
      <p:sp>
        <p:nvSpPr>
          <p:cNvPr id="6" name="Text 4"/>
          <p:cNvSpPr txBox="1"/>
          <p:nvPr/>
        </p:nvSpPr>
        <p:spPr>
          <a:xfrm>
            <a:off x="704088" y="2971800"/>
            <a:ext cx="10783519" cy="310896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The thresholds come from Haidt and Keltner — sympathetic to the basic emotion tradition. Are they the right bar for an applied system, or too demanding? Would we hold any behavioural signal to them?</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Population-level reliability is weak. Does that rule out person-specific or context-conditioned models — or is the paper's target only the context-free, one-size-fits-all inference?</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Much of the specificity column is unknown rather than refuted. How much should absence of evidence move us?</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2331720"/>
            <a:ext cx="960120" cy="960120"/>
          </a:xfrm>
          <a:prstGeom prst="roundRect">
            <a:avLst>
              <a:gd name="adj" fmla="val 13333"/>
            </a:avLst>
          </a:prstGeom>
          <a:solidFill>
            <a:srgbClr val="E07A5F"/>
          </a:solidFill>
          <a:ln w="12700">
            <a:solidFill>
              <a:srgbClr val="E07A5F"/>
            </a:solidFill>
            <a:prstDash val="solid"/>
          </a:ln>
        </p:spPr>
      </p:sp>
      <p:sp>
        <p:nvSpPr>
          <p:cNvPr id="3" name="Text 1"/>
          <p:cNvSpPr txBox="1"/>
          <p:nvPr/>
        </p:nvSpPr>
        <p:spPr>
          <a:xfrm>
            <a:off x="594360" y="2331720"/>
            <a:ext cx="960120" cy="960120"/>
          </a:xfrm>
          <a:prstGeom prst="rect">
            <a:avLst/>
          </a:prstGeom>
          <a:noFill/>
          <a:ln/>
        </p:spPr>
        <p:txBody>
          <a:bodyPr wrap="square" lIns="0" tIns="0" rIns="0" bIns="0" rtlCol="0" anchor="ctr"/>
          <a:lstStyle/>
          <a:p>
            <a:pPr algn="ctr" indent="0" marL="0">
              <a:buNone/>
            </a:pPr>
            <a:r>
              <a:rPr lang="en-US" sz="4000" b="1" dirty="0">
                <a:solidFill>
                  <a:srgbClr val="16202C"/>
                </a:solidFill>
                <a:latin typeface="Cambria" pitchFamily="34" charset="0"/>
                <a:ea typeface="Cambria" pitchFamily="34" charset="-122"/>
                <a:cs typeface="Cambria" pitchFamily="34" charset="-120"/>
              </a:rPr>
              <a:t>5</a:t>
            </a:r>
            <a:endParaRPr lang="en-US" sz="4000" dirty="0"/>
          </a:p>
        </p:txBody>
      </p:sp>
      <p:sp>
        <p:nvSpPr>
          <p:cNvPr id="4" name="Text 2"/>
          <p:cNvSpPr txBox="1"/>
          <p:nvPr/>
        </p:nvSpPr>
        <p:spPr>
          <a:xfrm>
            <a:off x="1965960" y="2331720"/>
            <a:ext cx="9631375"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Implications</a:t>
            </a:r>
            <a:endParaRPr lang="en-US" sz="3800" dirty="0"/>
          </a:p>
        </p:txBody>
      </p:sp>
      <p:sp>
        <p:nvSpPr>
          <p:cNvPr id="5" name="Text 3"/>
          <p:cNvSpPr txBox="1"/>
          <p:nvPr/>
        </p:nvSpPr>
        <p:spPr>
          <a:xfrm>
            <a:off x="1965960" y="3035808"/>
            <a:ext cx="9631375" cy="365760"/>
          </a:xfrm>
          <a:prstGeom prst="rect">
            <a:avLst/>
          </a:prstGeom>
          <a:noFill/>
          <a:ln/>
        </p:spPr>
        <p:txBody>
          <a:bodyPr wrap="square" lIns="0" tIns="0" rIns="0" bIns="0" rtlCol="0" anchor="t"/>
          <a:lstStyle/>
          <a:p>
            <a:pPr indent="0" marL="0">
              <a:buNone/>
            </a:pPr>
            <a:r>
              <a:rPr lang="en-US" sz="1500" dirty="0">
                <a:solidFill>
                  <a:srgbClr val="9AA3AE"/>
                </a:solidFill>
                <a:latin typeface="Calibri" pitchFamily="34" charset="0"/>
                <a:ea typeface="Calibri" pitchFamily="34" charset="-122"/>
                <a:cs typeface="Calibri" pitchFamily="34" charset="-120"/>
              </a:rPr>
              <a:t>What this means for the systems we build</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GUARD RAILS</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What the paper is not claiming</a:t>
            </a:r>
            <a:endParaRPr lang="en-US" sz="3200" dirty="0"/>
          </a:p>
        </p:txBody>
      </p:sp>
      <p:sp>
        <p:nvSpPr>
          <p:cNvPr id="4" name="Shape 2"/>
          <p:cNvSpPr/>
          <p:nvPr/>
        </p:nvSpPr>
        <p:spPr>
          <a:xfrm>
            <a:off x="594360" y="1755648"/>
            <a:ext cx="11002975" cy="804672"/>
          </a:xfrm>
          <a:prstGeom prst="roundRect">
            <a:avLst>
              <a:gd name="adj" fmla="val 5682"/>
            </a:avLst>
          </a:prstGeom>
          <a:solidFill>
            <a:srgbClr val="F1F3F5"/>
          </a:solidFill>
          <a:ln w="12700">
            <a:solidFill>
              <a:srgbClr val="E2E6EA"/>
            </a:solidFill>
            <a:prstDash val="solid"/>
          </a:ln>
        </p:spPr>
      </p:sp>
      <p:sp>
        <p:nvSpPr>
          <p:cNvPr id="5" name="Text 3"/>
          <p:cNvSpPr txBox="1"/>
          <p:nvPr/>
        </p:nvSpPr>
        <p:spPr>
          <a:xfrm>
            <a:off x="850392" y="1801368"/>
            <a:ext cx="365760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Not: facial movements are random</a:t>
            </a:r>
            <a:endParaRPr lang="en-US" sz="1300" dirty="0"/>
          </a:p>
        </p:txBody>
      </p:sp>
      <p:sp>
        <p:nvSpPr>
          <p:cNvPr id="6" name="Text 4"/>
          <p:cNvSpPr txBox="1"/>
          <p:nvPr/>
        </p:nvSpPr>
        <p:spPr>
          <a:xfrm>
            <a:off x="4663440" y="1801368"/>
            <a:ext cx="6613855" cy="713232"/>
          </a:xfrm>
          <a:prstGeom prst="rect">
            <a:avLst/>
          </a:prstGeom>
          <a:noFill/>
          <a:ln/>
        </p:spPr>
        <p:txBody>
          <a:bodyPr wrap="square" lIns="0" tIns="0" rIns="0" bIns="0" rtlCol="0" anchor="ctr"/>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The configurations do occur above chance. There is signal. It is weaker, less specific, and more context-bound than assumed.</a:t>
            </a:r>
            <a:endParaRPr lang="en-US" sz="1250" dirty="0"/>
          </a:p>
        </p:txBody>
      </p:sp>
      <p:sp>
        <p:nvSpPr>
          <p:cNvPr id="7" name="Shape 5"/>
          <p:cNvSpPr/>
          <p:nvPr/>
        </p:nvSpPr>
        <p:spPr>
          <a:xfrm>
            <a:off x="594360" y="2633472"/>
            <a:ext cx="11002975" cy="804672"/>
          </a:xfrm>
          <a:prstGeom prst="roundRect">
            <a:avLst>
              <a:gd name="adj" fmla="val 5682"/>
            </a:avLst>
          </a:prstGeom>
          <a:solidFill>
            <a:srgbClr val="F1F3F5"/>
          </a:solidFill>
          <a:ln w="12700">
            <a:solidFill>
              <a:srgbClr val="E2E6EA"/>
            </a:solidFill>
            <a:prstDash val="solid"/>
          </a:ln>
        </p:spPr>
      </p:sp>
      <p:sp>
        <p:nvSpPr>
          <p:cNvPr id="8" name="Text 6"/>
          <p:cNvSpPr txBox="1"/>
          <p:nvPr/>
        </p:nvSpPr>
        <p:spPr>
          <a:xfrm>
            <a:off x="850392" y="2679192"/>
            <a:ext cx="365760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Not: faces are uninformative</a:t>
            </a:r>
            <a:endParaRPr lang="en-US" sz="1300" dirty="0"/>
          </a:p>
        </p:txBody>
      </p:sp>
      <p:sp>
        <p:nvSpPr>
          <p:cNvPr id="9" name="Text 7"/>
          <p:cNvSpPr txBox="1"/>
          <p:nvPr/>
        </p:nvSpPr>
        <p:spPr>
          <a:xfrm>
            <a:off x="4663440" y="2679192"/>
            <a:ext cx="6613855" cy="713232"/>
          </a:xfrm>
          <a:prstGeom prst="rect">
            <a:avLst/>
          </a:prstGeom>
          <a:noFill/>
          <a:ln/>
        </p:spPr>
        <p:txBody>
          <a:bodyPr wrap="square" lIns="0" tIns="0" rIns="0" bIns="0" rtlCol="0" anchor="ctr"/>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Faces carry rich social information — intent, social motive, threat, affiliation. Trobriand participants read the gasping face consistently, just not as fear.</a:t>
            </a:r>
            <a:endParaRPr lang="en-US" sz="1250" dirty="0"/>
          </a:p>
        </p:txBody>
      </p:sp>
      <p:sp>
        <p:nvSpPr>
          <p:cNvPr id="10" name="Shape 8"/>
          <p:cNvSpPr/>
          <p:nvPr/>
        </p:nvSpPr>
        <p:spPr>
          <a:xfrm>
            <a:off x="594360" y="3511296"/>
            <a:ext cx="11002975" cy="804672"/>
          </a:xfrm>
          <a:prstGeom prst="roundRect">
            <a:avLst>
              <a:gd name="adj" fmla="val 5682"/>
            </a:avLst>
          </a:prstGeom>
          <a:solidFill>
            <a:srgbClr val="F1F3F5"/>
          </a:solidFill>
          <a:ln w="12700">
            <a:solidFill>
              <a:srgbClr val="E2E6EA"/>
            </a:solidFill>
            <a:prstDash val="solid"/>
          </a:ln>
        </p:spPr>
      </p:sp>
      <p:sp>
        <p:nvSpPr>
          <p:cNvPr id="11" name="Text 9"/>
          <p:cNvSpPr txBox="1"/>
          <p:nvPr/>
        </p:nvSpPr>
        <p:spPr>
          <a:xfrm>
            <a:off x="850392" y="3557016"/>
            <a:ext cx="365760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Not: emotions do not exist</a:t>
            </a:r>
            <a:endParaRPr lang="en-US" sz="1300" dirty="0"/>
          </a:p>
        </p:txBody>
      </p:sp>
      <p:sp>
        <p:nvSpPr>
          <p:cNvPr id="12" name="Text 10"/>
          <p:cNvSpPr txBox="1"/>
          <p:nvPr/>
        </p:nvSpPr>
        <p:spPr>
          <a:xfrm>
            <a:off x="4663440" y="3557016"/>
            <a:ext cx="6613855" cy="713232"/>
          </a:xfrm>
          <a:prstGeom prst="rect">
            <a:avLst/>
          </a:prstGeom>
          <a:noFill/>
          <a:ln/>
        </p:spPr>
        <p:txBody>
          <a:bodyPr wrap="square" lIns="0" tIns="0" rIns="0" bIns="0" rtlCol="0" anchor="ctr"/>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The argument concerns the mapping between facial movement and emotion category, not the reality of emotional life.</a:t>
            </a:r>
            <a:endParaRPr lang="en-US" sz="1250" dirty="0"/>
          </a:p>
        </p:txBody>
      </p:sp>
      <p:sp>
        <p:nvSpPr>
          <p:cNvPr id="13" name="Shape 11"/>
          <p:cNvSpPr/>
          <p:nvPr/>
        </p:nvSpPr>
        <p:spPr>
          <a:xfrm>
            <a:off x="594360" y="4389120"/>
            <a:ext cx="11002975" cy="804672"/>
          </a:xfrm>
          <a:prstGeom prst="roundRect">
            <a:avLst>
              <a:gd name="adj" fmla="val 5682"/>
            </a:avLst>
          </a:prstGeom>
          <a:solidFill>
            <a:srgbClr val="F1F3F5"/>
          </a:solidFill>
          <a:ln w="12700">
            <a:solidFill>
              <a:srgbClr val="E2E6EA"/>
            </a:solidFill>
            <a:prstDash val="solid"/>
          </a:ln>
        </p:spPr>
      </p:sp>
      <p:sp>
        <p:nvSpPr>
          <p:cNvPr id="14" name="Text 12"/>
          <p:cNvSpPr txBox="1"/>
          <p:nvPr/>
        </p:nvSpPr>
        <p:spPr>
          <a:xfrm>
            <a:off x="850392" y="4434840"/>
            <a:ext cx="365760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Not: computer vision on faces is futile</a:t>
            </a:r>
            <a:endParaRPr lang="en-US" sz="1300" dirty="0"/>
          </a:p>
        </p:txBody>
      </p:sp>
      <p:sp>
        <p:nvSpPr>
          <p:cNvPr id="15" name="Text 13"/>
          <p:cNvSpPr txBox="1"/>
          <p:nvPr/>
        </p:nvSpPr>
        <p:spPr>
          <a:xfrm>
            <a:off x="4663440" y="4434840"/>
            <a:ext cx="6613855" cy="713232"/>
          </a:xfrm>
          <a:prstGeom prst="rect">
            <a:avLst/>
          </a:prstGeom>
          <a:noFill/>
          <a:ln/>
        </p:spPr>
        <p:txBody>
          <a:bodyPr wrap="square" lIns="0" tIns="0" rIns="0" bIns="0" rtlCol="0" anchor="ctr"/>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The authors call these technologies powerful instruments for studying expression — deployed as measurement, not as mind-reading.</a:t>
            </a:r>
            <a:endParaRPr lang="en-US" sz="1250" dirty="0"/>
          </a:p>
        </p:txBody>
      </p:sp>
      <p:sp>
        <p:nvSpPr>
          <p:cNvPr id="16" name="Shape 14"/>
          <p:cNvSpPr/>
          <p:nvPr/>
        </p:nvSpPr>
        <p:spPr>
          <a:xfrm>
            <a:off x="594360" y="5266944"/>
            <a:ext cx="11002975" cy="804672"/>
          </a:xfrm>
          <a:prstGeom prst="roundRect">
            <a:avLst>
              <a:gd name="adj" fmla="val 5682"/>
            </a:avLst>
          </a:prstGeom>
          <a:solidFill>
            <a:srgbClr val="F1F3F5"/>
          </a:solidFill>
          <a:ln w="12700">
            <a:solidFill>
              <a:srgbClr val="E2E6EA"/>
            </a:solidFill>
            <a:prstDash val="solid"/>
          </a:ln>
        </p:spPr>
      </p:sp>
      <p:sp>
        <p:nvSpPr>
          <p:cNvPr id="17" name="Text 15"/>
          <p:cNvSpPr txBox="1"/>
          <p:nvPr/>
        </p:nvSpPr>
        <p:spPr>
          <a:xfrm>
            <a:off x="850392" y="5312664"/>
            <a:ext cx="3657600" cy="713232"/>
          </a:xfrm>
          <a:prstGeom prst="rect">
            <a:avLst/>
          </a:prstGeom>
          <a:noFill/>
          <a:ln/>
        </p:spPr>
        <p:txBody>
          <a:bodyPr wrap="square" lIns="0" tIns="0" rIns="0" bIns="0" rtlCol="0" anchor="ctr"/>
          <a:lstStyle/>
          <a:p>
            <a:pPr indent="0" marL="0">
              <a:buNone/>
            </a:pPr>
            <a:r>
              <a:rPr lang="en-US" sz="1300" b="1" dirty="0">
                <a:solidFill>
                  <a:srgbClr val="E07A5F"/>
                </a:solidFill>
                <a:latin typeface="Calibri" pitchFamily="34" charset="0"/>
                <a:ea typeface="Calibri" pitchFamily="34" charset="-122"/>
                <a:cs typeface="Calibri" pitchFamily="34" charset="-120"/>
              </a:rPr>
              <a:t>Not: nothing can ever be inferred</a:t>
            </a:r>
            <a:endParaRPr lang="en-US" sz="1300" dirty="0"/>
          </a:p>
        </p:txBody>
      </p:sp>
      <p:sp>
        <p:nvSpPr>
          <p:cNvPr id="18" name="Text 16"/>
          <p:cNvSpPr txBox="1"/>
          <p:nvPr/>
        </p:nvSpPr>
        <p:spPr>
          <a:xfrm>
            <a:off x="4663440" y="5312664"/>
            <a:ext cx="6613855" cy="713232"/>
          </a:xfrm>
          <a:prstGeom prst="rect">
            <a:avLst/>
          </a:prstGeom>
          <a:noFill/>
          <a:ln/>
        </p:spPr>
        <p:txBody>
          <a:bodyPr wrap="square" lIns="0" tIns="0" rIns="0" bIns="0" rtlCol="0" anchor="ctr"/>
          <a:lstStyle/>
          <a:p>
            <a:pPr indent="0" marL="0">
              <a:lnSpc>
                <a:spcPct val="105000"/>
              </a:lnSpc>
              <a:buNone/>
            </a:pPr>
            <a:r>
              <a:rPr lang="en-US" sz="1250" dirty="0">
                <a:solidFill>
                  <a:srgbClr val="2E4057"/>
                </a:solidFill>
                <a:latin typeface="Calibri" pitchFamily="34" charset="0"/>
                <a:ea typeface="Calibri" pitchFamily="34" charset="-122"/>
                <a:cs typeface="Calibri" pitchFamily="34" charset="-120"/>
              </a:rPr>
              <a:t>Facial movement measured in high-dimensional, dynamic context may yet serve the diagnostic purpose consumers want. That research has not been done.</a:t>
            </a:r>
            <a:endParaRPr lang="en-US" sz="1250" dirty="0"/>
          </a:p>
        </p:txBody>
      </p:sp>
      <p:sp>
        <p:nvSpPr>
          <p:cNvPr id="19" name="Text 17"/>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"Evaluation of the Empirical Evidence" and recommendations.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202C"/>
        </a:solidFill>
      </p:bgPr>
    </p:bg>
    <p:spTree>
      <p:nvGrpSpPr>
        <p:cNvPr id="1" name=""/>
        <p:cNvGrpSpPr/>
        <p:nvPr/>
      </p:nvGrpSpPr>
      <p:grpSpPr>
        <a:xfrm>
          <a:off x="0" y="0"/>
          <a:ext cx="0" cy="0"/>
          <a:chOff x="0" y="0"/>
          <a:chExt cx="0" cy="0"/>
        </a:xfrm>
      </p:grpSpPr>
      <p:sp>
        <p:nvSpPr>
          <p:cNvPr id="2" name="Text 0"/>
          <p:cNvSpPr txBox="1"/>
          <p:nvPr/>
        </p:nvSpPr>
        <p:spPr>
          <a:xfrm>
            <a:off x="594360" y="640080"/>
            <a:ext cx="11002975" cy="365760"/>
          </a:xfrm>
          <a:prstGeom prst="rect">
            <a:avLst/>
          </a:prstGeom>
          <a:noFill/>
          <a:ln/>
        </p:spPr>
        <p:txBody>
          <a:bodyPr wrap="square" lIns="0" tIns="0" rIns="0" bIns="0" rtlCol="0" anchor="ctr"/>
          <a:lstStyle/>
          <a:p>
            <a:pPr indent="0" marL="0">
              <a:buNone/>
            </a:pPr>
            <a:r>
              <a:rPr lang="en-US" sz="1150" b="1" spc="160" kern="0" dirty="0">
                <a:solidFill>
                  <a:srgbClr val="E07A5F"/>
                </a:solidFill>
                <a:latin typeface="Calibri" pitchFamily="34" charset="0"/>
                <a:ea typeface="Calibri" pitchFamily="34" charset="-122"/>
                <a:cs typeface="Calibri" pitchFamily="34" charset="-120"/>
              </a:rPr>
              <a:t>For our field</a:t>
            </a:r>
            <a:endParaRPr lang="en-US" sz="1150" dirty="0"/>
          </a:p>
        </p:txBody>
      </p:sp>
      <p:sp>
        <p:nvSpPr>
          <p:cNvPr id="3" name="Text 1"/>
          <p:cNvSpPr txBox="1"/>
          <p:nvPr/>
        </p:nvSpPr>
        <p:spPr>
          <a:xfrm>
            <a:off x="594360" y="1371600"/>
            <a:ext cx="10424160" cy="2011680"/>
          </a:xfrm>
          <a:prstGeom prst="rect">
            <a:avLst/>
          </a:prstGeom>
          <a:noFill/>
          <a:ln/>
        </p:spPr>
        <p:txBody>
          <a:bodyPr wrap="square" lIns="0" tIns="0" rIns="0" bIns="0" rtlCol="0" anchor="ctr"/>
          <a:lstStyle/>
          <a:p>
            <a:pPr indent="0" marL="0">
              <a:lnSpc>
                <a:spcPct val="114000"/>
              </a:lnSpc>
              <a:buNone/>
            </a:pPr>
            <a:r>
              <a:rPr lang="en-US" sz="3000" dirty="0">
                <a:solidFill>
                  <a:srgbClr val="FFFFFF"/>
                </a:solidFill>
                <a:latin typeface="Cambria" pitchFamily="34" charset="0"/>
                <a:ea typeface="Cambria" pitchFamily="34" charset="-122"/>
                <a:cs typeface="Cambria" pitchFamily="34" charset="-120"/>
              </a:rPr>
              <a:t>Reading out an internal state from facial movements alone, without context, is at best incomplete and at worst invalid — however sophisticated the algorithm.</a:t>
            </a:r>
            <a:endParaRPr lang="en-US" sz="3000" dirty="0"/>
          </a:p>
        </p:txBody>
      </p:sp>
      <p:sp>
        <p:nvSpPr>
          <p:cNvPr id="4" name="Text 2"/>
          <p:cNvSpPr txBox="1"/>
          <p:nvPr/>
        </p:nvSpPr>
        <p:spPr>
          <a:xfrm>
            <a:off x="594360" y="3611880"/>
            <a:ext cx="10424160" cy="822960"/>
          </a:xfrm>
          <a:prstGeom prst="rect">
            <a:avLst/>
          </a:prstGeom>
          <a:noFill/>
          <a:ln/>
        </p:spPr>
        <p:txBody>
          <a:bodyPr wrap="square" lIns="0" tIns="0" rIns="0" bIns="0" rtlCol="0" anchor="ctr"/>
          <a:lstStyle/>
          <a:p>
            <a:pPr indent="0" marL="0">
              <a:lnSpc>
                <a:spcPct val="112000"/>
              </a:lnSpc>
              <a:buNone/>
            </a:pPr>
            <a:r>
              <a:rPr lang="en-US" sz="1600" dirty="0">
                <a:solidFill>
                  <a:srgbClr val="D9A441"/>
                </a:solidFill>
                <a:latin typeface="Calibri" pitchFamily="34" charset="0"/>
                <a:ea typeface="Calibri" pitchFamily="34" charset="-122"/>
                <a:cs typeface="Calibri" pitchFamily="34" charset="-120"/>
              </a:rPr>
              <a:t>The authors' framing: companies may be asking the wrong question. More data and better architectures do not repair an inference that is unlicensed in principle.</a:t>
            </a:r>
            <a:endParaRPr lang="en-US" sz="1600" dirty="0"/>
          </a:p>
        </p:txBody>
      </p:sp>
      <p:sp>
        <p:nvSpPr>
          <p:cNvPr id="5" name="Shape 3"/>
          <p:cNvSpPr/>
          <p:nvPr/>
        </p:nvSpPr>
        <p:spPr>
          <a:xfrm>
            <a:off x="594360" y="4709160"/>
            <a:ext cx="3520440" cy="1417320"/>
          </a:xfrm>
          <a:prstGeom prst="roundRect">
            <a:avLst>
              <a:gd name="adj" fmla="val 3871"/>
            </a:avLst>
          </a:prstGeom>
          <a:solidFill>
            <a:srgbClr val="1F2B3A"/>
          </a:solidFill>
          <a:ln w="12700">
            <a:solidFill>
              <a:srgbClr val="31404F"/>
            </a:solidFill>
            <a:prstDash val="solid"/>
          </a:ln>
        </p:spPr>
      </p:sp>
      <p:sp>
        <p:nvSpPr>
          <p:cNvPr id="6" name="Text 4"/>
          <p:cNvSpPr txBox="1"/>
          <p:nvPr/>
        </p:nvSpPr>
        <p:spPr>
          <a:xfrm>
            <a:off x="832104" y="4864608"/>
            <a:ext cx="306324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Scaling does not help</a:t>
            </a:r>
            <a:endParaRPr lang="en-US" sz="1350" dirty="0"/>
          </a:p>
        </p:txBody>
      </p:sp>
      <p:sp>
        <p:nvSpPr>
          <p:cNvPr id="7" name="Text 5"/>
          <p:cNvSpPr txBox="1"/>
          <p:nvPr/>
        </p:nvSpPr>
        <p:spPr>
          <a:xfrm>
            <a:off x="832104" y="5193792"/>
            <a:ext cx="3063240" cy="822960"/>
          </a:xfrm>
          <a:prstGeom prst="rect">
            <a:avLst/>
          </a:prstGeom>
          <a:noFill/>
          <a:ln/>
        </p:spPr>
        <p:txBody>
          <a:bodyPr wrap="square" lIns="0" tIns="0" rIns="0" bIns="0" rtlCol="0" anchor="t"/>
          <a:lstStyle/>
          <a:p>
            <a:pPr indent="0" marL="0">
              <a:lnSpc>
                <a:spcPct val="105000"/>
              </a:lnSpc>
              <a:buNone/>
            </a:pPr>
            <a:r>
              <a:rPr lang="en-US" sz="1150" dirty="0">
                <a:solidFill>
                  <a:srgbClr val="C3CAD3"/>
                </a:solidFill>
                <a:latin typeface="Calibri" pitchFamily="34" charset="0"/>
                <a:ea typeface="Calibri" pitchFamily="34" charset="-122"/>
                <a:cs typeface="Calibri" pitchFamily="34" charset="-120"/>
              </a:rPr>
              <a:t>If the signal is context-dependent and the context is unmeasured, more images of faces without context add resolution to the wrong variable.</a:t>
            </a:r>
            <a:endParaRPr lang="en-US" sz="1150" dirty="0"/>
          </a:p>
        </p:txBody>
      </p:sp>
      <p:sp>
        <p:nvSpPr>
          <p:cNvPr id="8" name="Shape 6"/>
          <p:cNvSpPr/>
          <p:nvPr/>
        </p:nvSpPr>
        <p:spPr>
          <a:xfrm>
            <a:off x="4334256" y="4709160"/>
            <a:ext cx="3520440" cy="1417320"/>
          </a:xfrm>
          <a:prstGeom prst="roundRect">
            <a:avLst>
              <a:gd name="adj" fmla="val 3871"/>
            </a:avLst>
          </a:prstGeom>
          <a:solidFill>
            <a:srgbClr val="1F2B3A"/>
          </a:solidFill>
          <a:ln w="12700">
            <a:solidFill>
              <a:srgbClr val="31404F"/>
            </a:solidFill>
            <a:prstDash val="solid"/>
          </a:ln>
        </p:spPr>
      </p:sp>
      <p:sp>
        <p:nvSpPr>
          <p:cNvPr id="9" name="Text 7"/>
          <p:cNvSpPr txBox="1"/>
          <p:nvPr/>
        </p:nvSpPr>
        <p:spPr>
          <a:xfrm>
            <a:off x="4572000" y="4864608"/>
            <a:ext cx="306324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Benchmarks flatter us</a:t>
            </a:r>
            <a:endParaRPr lang="en-US" sz="1350" dirty="0"/>
          </a:p>
        </p:txBody>
      </p:sp>
      <p:sp>
        <p:nvSpPr>
          <p:cNvPr id="10" name="Text 8"/>
          <p:cNvSpPr txBox="1"/>
          <p:nvPr/>
        </p:nvSpPr>
        <p:spPr>
          <a:xfrm>
            <a:off x="4572000" y="5193792"/>
            <a:ext cx="3063240" cy="822960"/>
          </a:xfrm>
          <a:prstGeom prst="rect">
            <a:avLst/>
          </a:prstGeom>
          <a:noFill/>
          <a:ln/>
        </p:spPr>
        <p:txBody>
          <a:bodyPr wrap="square" lIns="0" tIns="0" rIns="0" bIns="0" rtlCol="0" anchor="t"/>
          <a:lstStyle/>
          <a:p>
            <a:pPr indent="0" marL="0">
              <a:lnSpc>
                <a:spcPct val="105000"/>
              </a:lnSpc>
              <a:buNone/>
            </a:pPr>
            <a:r>
              <a:rPr lang="en-US" sz="1150" dirty="0">
                <a:solidFill>
                  <a:srgbClr val="C3CAD3"/>
                </a:solidFill>
                <a:latin typeface="Calibri" pitchFamily="34" charset="0"/>
                <a:ea typeface="Calibri" pitchFamily="34" charset="-122"/>
                <a:cs typeface="Calibri" pitchFamily="34" charset="-120"/>
              </a:rPr>
              <a:t>Posed, exaggerated, forced-choice benchmarks are the conditions under which the common view looks strongest.</a:t>
            </a:r>
            <a:endParaRPr lang="en-US" sz="1150" dirty="0"/>
          </a:p>
        </p:txBody>
      </p:sp>
      <p:sp>
        <p:nvSpPr>
          <p:cNvPr id="11" name="Shape 9"/>
          <p:cNvSpPr/>
          <p:nvPr/>
        </p:nvSpPr>
        <p:spPr>
          <a:xfrm>
            <a:off x="8074152" y="4709160"/>
            <a:ext cx="3520440" cy="1417320"/>
          </a:xfrm>
          <a:prstGeom prst="roundRect">
            <a:avLst>
              <a:gd name="adj" fmla="val 3871"/>
            </a:avLst>
          </a:prstGeom>
          <a:solidFill>
            <a:srgbClr val="1F2B3A"/>
          </a:solidFill>
          <a:ln w="12700">
            <a:solidFill>
              <a:srgbClr val="31404F"/>
            </a:solidFill>
            <a:prstDash val="solid"/>
          </a:ln>
        </p:spPr>
      </p:sp>
      <p:sp>
        <p:nvSpPr>
          <p:cNvPr id="12" name="Text 10"/>
          <p:cNvSpPr txBox="1"/>
          <p:nvPr/>
        </p:nvSpPr>
        <p:spPr>
          <a:xfrm>
            <a:off x="8311896" y="4864608"/>
            <a:ext cx="3063240" cy="292608"/>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The label is the artefact</a:t>
            </a:r>
            <a:endParaRPr lang="en-US" sz="1350" dirty="0"/>
          </a:p>
        </p:txBody>
      </p:sp>
      <p:sp>
        <p:nvSpPr>
          <p:cNvPr id="13" name="Text 11"/>
          <p:cNvSpPr txBox="1"/>
          <p:nvPr/>
        </p:nvSpPr>
        <p:spPr>
          <a:xfrm>
            <a:off x="8311896" y="5193792"/>
            <a:ext cx="3063240" cy="822960"/>
          </a:xfrm>
          <a:prstGeom prst="rect">
            <a:avLst/>
          </a:prstGeom>
          <a:noFill/>
          <a:ln/>
        </p:spPr>
        <p:txBody>
          <a:bodyPr wrap="square" lIns="0" tIns="0" rIns="0" bIns="0" rtlCol="0" anchor="t"/>
          <a:lstStyle/>
          <a:p>
            <a:pPr indent="0" marL="0">
              <a:lnSpc>
                <a:spcPct val="105000"/>
              </a:lnSpc>
              <a:buNone/>
            </a:pPr>
            <a:r>
              <a:rPr lang="en-US" sz="1150" dirty="0">
                <a:solidFill>
                  <a:srgbClr val="C3CAD3"/>
                </a:solidFill>
                <a:latin typeface="Calibri" pitchFamily="34" charset="0"/>
                <a:ea typeface="Calibri" pitchFamily="34" charset="-122"/>
                <a:cs typeface="Calibri" pitchFamily="34" charset="-120"/>
              </a:rPr>
              <a:t>A model trained on annotator judgements learns the annotators' reverse inference, including its cultural specificity.</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What survives the critique intact</a:t>
            </a:r>
            <a:endParaRPr lang="en-US" sz="3200" dirty="0"/>
          </a:p>
        </p:txBody>
      </p:sp>
      <p:sp>
        <p:nvSpPr>
          <p:cNvPr id="4" name="Text 2"/>
          <p:cNvSpPr txBox="1"/>
          <p:nvPr/>
        </p:nvSpPr>
        <p:spPr>
          <a:xfrm>
            <a:off x="594360" y="1783080"/>
            <a:ext cx="11002975" cy="365760"/>
          </a:xfrm>
          <a:prstGeom prst="rect">
            <a:avLst/>
          </a:prstGeom>
          <a:noFill/>
          <a:ln/>
        </p:spPr>
        <p:txBody>
          <a:bodyPr wrap="square" lIns="0" tIns="0" rIns="0" bIns="0" rtlCol="0" anchor="ctr"/>
          <a:lstStyle/>
          <a:p>
            <a:pPr indent="0" marL="0">
              <a:buNone/>
            </a:pPr>
            <a:r>
              <a:rPr lang="en-US" sz="1500" dirty="0">
                <a:solidFill>
                  <a:srgbClr val="2E4057"/>
                </a:solidFill>
                <a:latin typeface="Calibri" pitchFamily="34" charset="0"/>
                <a:ea typeface="Calibri" pitchFamily="34" charset="-122"/>
                <a:cs typeface="Calibri" pitchFamily="34" charset="-120"/>
              </a:rPr>
              <a:t>The authors carve out applications that never depended on inferring an internal emotional state:</a:t>
            </a:r>
            <a:endParaRPr lang="en-US" sz="1500" dirty="0"/>
          </a:p>
        </p:txBody>
      </p:sp>
      <p:sp>
        <p:nvSpPr>
          <p:cNvPr id="5" name="Shape 3"/>
          <p:cNvSpPr/>
          <p:nvPr/>
        </p:nvSpPr>
        <p:spPr>
          <a:xfrm>
            <a:off x="594360" y="2331720"/>
            <a:ext cx="5349240" cy="1371600"/>
          </a:xfrm>
          <a:prstGeom prst="roundRect">
            <a:avLst>
              <a:gd name="adj" fmla="val 3333"/>
            </a:avLst>
          </a:prstGeom>
          <a:solidFill>
            <a:srgbClr val="EEF3F1"/>
          </a:solidFill>
          <a:ln w="12700">
            <a:solidFill>
              <a:srgbClr val="D9E4E0"/>
            </a:solidFill>
            <a:prstDash val="solid"/>
          </a:ln>
        </p:spPr>
      </p:sp>
      <p:sp>
        <p:nvSpPr>
          <p:cNvPr id="6" name="Text 4"/>
          <p:cNvSpPr txBox="1"/>
          <p:nvPr/>
        </p:nvSpPr>
        <p:spPr>
          <a:xfrm>
            <a:off x="832104" y="2514600"/>
            <a:ext cx="4873752" cy="310896"/>
          </a:xfrm>
          <a:prstGeom prst="rect">
            <a:avLst/>
          </a:prstGeom>
          <a:noFill/>
          <a:ln/>
        </p:spPr>
        <p:txBody>
          <a:bodyPr wrap="square" lIns="0" tIns="0" rIns="0" bIns="0" rtlCol="0" anchor="t"/>
          <a:lstStyle/>
          <a:p>
            <a:pPr indent="0" marL="0">
              <a:buNone/>
            </a:pPr>
            <a:r>
              <a:rPr lang="en-US" sz="1450" b="1" dirty="0">
                <a:solidFill>
                  <a:srgbClr val="3D7068"/>
                </a:solidFill>
                <a:latin typeface="Calibri" pitchFamily="34" charset="0"/>
                <a:ea typeface="Calibri" pitchFamily="34" charset="-122"/>
                <a:cs typeface="Calibri" pitchFamily="34" charset="-120"/>
              </a:rPr>
              <a:t>Clinical pain detection</a:t>
            </a:r>
            <a:endParaRPr lang="en-US" sz="1450" dirty="0"/>
          </a:p>
        </p:txBody>
      </p:sp>
      <p:sp>
        <p:nvSpPr>
          <p:cNvPr id="7" name="Text 5"/>
          <p:cNvSpPr txBox="1"/>
          <p:nvPr/>
        </p:nvSpPr>
        <p:spPr>
          <a:xfrm>
            <a:off x="832104" y="2862072"/>
            <a:ext cx="4873752" cy="65836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The target is a behavioural signal with clinical utility, not a named emotion category.</a:t>
            </a:r>
            <a:endParaRPr lang="en-US" sz="1250" dirty="0"/>
          </a:p>
        </p:txBody>
      </p:sp>
      <p:sp>
        <p:nvSpPr>
          <p:cNvPr id="8" name="Shape 6"/>
          <p:cNvSpPr/>
          <p:nvPr/>
        </p:nvSpPr>
        <p:spPr>
          <a:xfrm>
            <a:off x="6245352" y="2331720"/>
            <a:ext cx="5349240" cy="1371600"/>
          </a:xfrm>
          <a:prstGeom prst="roundRect">
            <a:avLst>
              <a:gd name="adj" fmla="val 3333"/>
            </a:avLst>
          </a:prstGeom>
          <a:solidFill>
            <a:srgbClr val="EEF3F1"/>
          </a:solidFill>
          <a:ln w="12700">
            <a:solidFill>
              <a:srgbClr val="D9E4E0"/>
            </a:solidFill>
            <a:prstDash val="solid"/>
          </a:ln>
        </p:spPr>
      </p:sp>
      <p:sp>
        <p:nvSpPr>
          <p:cNvPr id="9" name="Text 7"/>
          <p:cNvSpPr txBox="1"/>
          <p:nvPr/>
        </p:nvSpPr>
        <p:spPr>
          <a:xfrm>
            <a:off x="6483096" y="2514600"/>
            <a:ext cx="4873752" cy="310896"/>
          </a:xfrm>
          <a:prstGeom prst="rect">
            <a:avLst/>
          </a:prstGeom>
          <a:noFill/>
          <a:ln/>
        </p:spPr>
        <p:txBody>
          <a:bodyPr wrap="square" lIns="0" tIns="0" rIns="0" bIns="0" rtlCol="0" anchor="t"/>
          <a:lstStyle/>
          <a:p>
            <a:pPr indent="0" marL="0">
              <a:buNone/>
            </a:pPr>
            <a:r>
              <a:rPr lang="en-US" sz="1450" b="1" dirty="0">
                <a:solidFill>
                  <a:srgbClr val="3D7068"/>
                </a:solidFill>
                <a:latin typeface="Calibri" pitchFamily="34" charset="0"/>
                <a:ea typeface="Calibri" pitchFamily="34" charset="-122"/>
                <a:cs typeface="Calibri" pitchFamily="34" charset="-120"/>
              </a:rPr>
              <a:t>Driver drowsiness</a:t>
            </a:r>
            <a:endParaRPr lang="en-US" sz="1450" dirty="0"/>
          </a:p>
        </p:txBody>
      </p:sp>
      <p:sp>
        <p:nvSpPr>
          <p:cNvPr id="10" name="Text 8"/>
          <p:cNvSpPr txBox="1"/>
          <p:nvPr/>
        </p:nvSpPr>
        <p:spPr>
          <a:xfrm>
            <a:off x="6483096" y="2862072"/>
            <a:ext cx="4873752" cy="65836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Eyelid and head dynamics predict a state with direct behavioural consequences.</a:t>
            </a:r>
            <a:endParaRPr lang="en-US" sz="1250" dirty="0"/>
          </a:p>
        </p:txBody>
      </p:sp>
      <p:sp>
        <p:nvSpPr>
          <p:cNvPr id="11" name="Shape 9"/>
          <p:cNvSpPr/>
          <p:nvPr/>
        </p:nvSpPr>
        <p:spPr>
          <a:xfrm>
            <a:off x="594360" y="3867912"/>
            <a:ext cx="5349240" cy="1371600"/>
          </a:xfrm>
          <a:prstGeom prst="roundRect">
            <a:avLst>
              <a:gd name="adj" fmla="val 3333"/>
            </a:avLst>
          </a:prstGeom>
          <a:solidFill>
            <a:srgbClr val="EEF3F1"/>
          </a:solidFill>
          <a:ln w="12700">
            <a:solidFill>
              <a:srgbClr val="D9E4E0"/>
            </a:solidFill>
            <a:prstDash val="solid"/>
          </a:ln>
        </p:spPr>
      </p:sp>
      <p:sp>
        <p:nvSpPr>
          <p:cNvPr id="12" name="Text 10"/>
          <p:cNvSpPr txBox="1"/>
          <p:nvPr/>
        </p:nvSpPr>
        <p:spPr>
          <a:xfrm>
            <a:off x="832104" y="4050792"/>
            <a:ext cx="4873752" cy="310896"/>
          </a:xfrm>
          <a:prstGeom prst="rect">
            <a:avLst/>
          </a:prstGeom>
          <a:noFill/>
          <a:ln/>
        </p:spPr>
        <p:txBody>
          <a:bodyPr wrap="square" lIns="0" tIns="0" rIns="0" bIns="0" rtlCol="0" anchor="t"/>
          <a:lstStyle/>
          <a:p>
            <a:pPr indent="0" marL="0">
              <a:buNone/>
            </a:pPr>
            <a:r>
              <a:rPr lang="en-US" sz="1450" b="1" dirty="0">
                <a:solidFill>
                  <a:srgbClr val="3D7068"/>
                </a:solidFill>
                <a:latin typeface="Calibri" pitchFamily="34" charset="0"/>
                <a:ea typeface="Calibri" pitchFamily="34" charset="-122"/>
                <a:cs typeface="Calibri" pitchFamily="34" charset="-120"/>
              </a:rPr>
              <a:t>Avatar and animoji driving</a:t>
            </a:r>
            <a:endParaRPr lang="en-US" sz="1450" dirty="0"/>
          </a:p>
        </p:txBody>
      </p:sp>
      <p:sp>
        <p:nvSpPr>
          <p:cNvPr id="13" name="Text 11"/>
          <p:cNvSpPr txBox="1"/>
          <p:nvPr/>
        </p:nvSpPr>
        <p:spPr>
          <a:xfrm>
            <a:off x="832104" y="4398264"/>
            <a:ext cx="4873752" cy="65836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Reproducing facial movement is the entire goal — no inference is being made.</a:t>
            </a:r>
            <a:endParaRPr lang="en-US" sz="1250" dirty="0"/>
          </a:p>
        </p:txBody>
      </p:sp>
      <p:sp>
        <p:nvSpPr>
          <p:cNvPr id="14" name="Shape 12"/>
          <p:cNvSpPr/>
          <p:nvPr/>
        </p:nvSpPr>
        <p:spPr>
          <a:xfrm>
            <a:off x="6245352" y="3867912"/>
            <a:ext cx="5349240" cy="1371600"/>
          </a:xfrm>
          <a:prstGeom prst="roundRect">
            <a:avLst>
              <a:gd name="adj" fmla="val 3333"/>
            </a:avLst>
          </a:prstGeom>
          <a:solidFill>
            <a:srgbClr val="EEF3F1"/>
          </a:solidFill>
          <a:ln w="12700">
            <a:solidFill>
              <a:srgbClr val="D9E4E0"/>
            </a:solidFill>
            <a:prstDash val="solid"/>
          </a:ln>
        </p:spPr>
      </p:sp>
      <p:sp>
        <p:nvSpPr>
          <p:cNvPr id="15" name="Text 13"/>
          <p:cNvSpPr txBox="1"/>
          <p:nvPr/>
        </p:nvSpPr>
        <p:spPr>
          <a:xfrm>
            <a:off x="6483096" y="4050792"/>
            <a:ext cx="4873752" cy="310896"/>
          </a:xfrm>
          <a:prstGeom prst="rect">
            <a:avLst/>
          </a:prstGeom>
          <a:noFill/>
          <a:ln/>
        </p:spPr>
        <p:txBody>
          <a:bodyPr wrap="square" lIns="0" tIns="0" rIns="0" bIns="0" rtlCol="0" anchor="t"/>
          <a:lstStyle/>
          <a:p>
            <a:pPr indent="0" marL="0">
              <a:buNone/>
            </a:pPr>
            <a:r>
              <a:rPr lang="en-US" sz="1450" b="1" dirty="0">
                <a:solidFill>
                  <a:srgbClr val="3D7068"/>
                </a:solidFill>
                <a:latin typeface="Calibri" pitchFamily="34" charset="0"/>
                <a:ea typeface="Calibri" pitchFamily="34" charset="-122"/>
                <a:cs typeface="Calibri" pitchFamily="34" charset="-120"/>
              </a:rPr>
              <a:t>Face-based authentication</a:t>
            </a:r>
            <a:endParaRPr lang="en-US" sz="1450" dirty="0"/>
          </a:p>
        </p:txBody>
      </p:sp>
      <p:sp>
        <p:nvSpPr>
          <p:cNvPr id="16" name="Text 14"/>
          <p:cNvSpPr txBox="1"/>
          <p:nvPr/>
        </p:nvSpPr>
        <p:spPr>
          <a:xfrm>
            <a:off x="6483096" y="4398264"/>
            <a:ext cx="4873752" cy="658368"/>
          </a:xfrm>
          <a:prstGeom prst="rect">
            <a:avLst/>
          </a:prstGeom>
          <a:noFill/>
          <a:ln/>
        </p:spPr>
        <p:txBody>
          <a:bodyPr wrap="square" lIns="0" tIns="0" rIns="0" bIns="0" rtlCol="0" anchor="t"/>
          <a:lstStyle/>
          <a:p>
            <a:pPr indent="0" marL="0">
              <a:lnSpc>
                <a:spcPct val="108000"/>
              </a:lnSpc>
              <a:buNone/>
            </a:pPr>
            <a:r>
              <a:rPr lang="en-US" sz="1250" dirty="0">
                <a:solidFill>
                  <a:srgbClr val="2E4057"/>
                </a:solidFill>
                <a:latin typeface="Calibri" pitchFamily="34" charset="0"/>
                <a:ea typeface="Calibri" pitchFamily="34" charset="-122"/>
                <a:cs typeface="Calibri" pitchFamily="34" charset="-120"/>
              </a:rPr>
              <a:t>Identity, not state.</a:t>
            </a:r>
            <a:endParaRPr lang="en-US" sz="1250" dirty="0"/>
          </a:p>
        </p:txBody>
      </p:sp>
      <p:sp>
        <p:nvSpPr>
          <p:cNvPr id="17" name="Shape 15"/>
          <p:cNvSpPr/>
          <p:nvPr/>
        </p:nvSpPr>
        <p:spPr>
          <a:xfrm>
            <a:off x="594360" y="5440680"/>
            <a:ext cx="11002975" cy="777240"/>
          </a:xfrm>
          <a:prstGeom prst="roundRect">
            <a:avLst>
              <a:gd name="adj" fmla="val 8235"/>
            </a:avLst>
          </a:prstGeom>
          <a:solidFill>
            <a:srgbClr val="16202C"/>
          </a:solidFill>
          <a:ln w="12700">
            <a:solidFill>
              <a:srgbClr val="16202C"/>
            </a:solidFill>
            <a:prstDash val="solid"/>
          </a:ln>
        </p:spPr>
      </p:sp>
      <p:sp>
        <p:nvSpPr>
          <p:cNvPr id="18" name="Text 16"/>
          <p:cNvSpPr txBox="1"/>
          <p:nvPr/>
        </p:nvSpPr>
        <p:spPr>
          <a:xfrm>
            <a:off x="960120" y="5504688"/>
            <a:ext cx="10271455" cy="640080"/>
          </a:xfrm>
          <a:prstGeom prst="rect">
            <a:avLst/>
          </a:prstGeom>
          <a:noFill/>
          <a:ln/>
        </p:spPr>
        <p:txBody>
          <a:bodyPr wrap="square" lIns="0" tIns="0" rIns="0" bIns="0" rtlCol="0" anchor="ctr"/>
          <a:lstStyle/>
          <a:p>
            <a:pPr indent="0" marL="0">
              <a:buNone/>
            </a:pPr>
            <a:r>
              <a:rPr lang="en-US" sz="1500" b="1" dirty="0">
                <a:solidFill>
                  <a:srgbClr val="D9A441"/>
                </a:solidFill>
                <a:latin typeface="Calibri" pitchFamily="34" charset="0"/>
                <a:ea typeface="Calibri" pitchFamily="34" charset="-122"/>
                <a:cs typeface="Calibri" pitchFamily="34" charset="-120"/>
              </a:rPr>
              <a:t>The dividing line: are you measuring a movement, or claiming to have read a mind?</a:t>
            </a:r>
            <a:endParaRPr lang="en-US" sz="1500" dirty="0"/>
          </a:p>
        </p:txBody>
      </p:sp>
      <p:sp>
        <p:nvSpPr>
          <p:cNvPr id="19" name="Text 17"/>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note 41.</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CONSTRUCTIVE HALF</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research programme the authors propose</a:t>
            </a:r>
            <a:endParaRPr lang="en-US" sz="3200" dirty="0"/>
          </a:p>
        </p:txBody>
      </p:sp>
      <p:sp>
        <p:nvSpPr>
          <p:cNvPr id="4" name="Shape 2"/>
          <p:cNvSpPr/>
          <p:nvPr/>
        </p:nvSpPr>
        <p:spPr>
          <a:xfrm>
            <a:off x="594360" y="1737360"/>
            <a:ext cx="329184" cy="329184"/>
          </a:xfrm>
          <a:prstGeom prst="roundRect">
            <a:avLst>
              <a:gd name="adj" fmla="val 16667"/>
            </a:avLst>
          </a:prstGeom>
          <a:solidFill>
            <a:srgbClr val="E07A5F"/>
          </a:solidFill>
          <a:ln w="12700">
            <a:solidFill>
              <a:srgbClr val="E07A5F"/>
            </a:solidFill>
            <a:prstDash val="solid"/>
          </a:ln>
        </p:spPr>
      </p:sp>
      <p:sp>
        <p:nvSpPr>
          <p:cNvPr id="5" name="Text 3"/>
          <p:cNvSpPr txBox="1"/>
          <p:nvPr/>
        </p:nvSpPr>
        <p:spPr>
          <a:xfrm>
            <a:off x="594360" y="173736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097280" y="1719072"/>
            <a:ext cx="4206240" cy="365760"/>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Sample people deeply, not populations broadly</a:t>
            </a:r>
            <a:endParaRPr lang="en-US" sz="1300" dirty="0"/>
          </a:p>
        </p:txBody>
      </p:sp>
      <p:sp>
        <p:nvSpPr>
          <p:cNvPr id="7" name="Text 5"/>
          <p:cNvSpPr txBox="1"/>
          <p:nvPr/>
        </p:nvSpPr>
        <p:spPr>
          <a:xfrm>
            <a:off x="5440680" y="1700784"/>
            <a:ext cx="6156655" cy="411480"/>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Track individuals across many situations, times of day, and social settings to learn personal expressive repertoires — a within-person, big-data approach.</a:t>
            </a:r>
            <a:endParaRPr lang="en-US" sz="1150" dirty="0"/>
          </a:p>
        </p:txBody>
      </p:sp>
      <p:sp>
        <p:nvSpPr>
          <p:cNvPr id="8" name="Shape 6"/>
          <p:cNvSpPr/>
          <p:nvPr/>
        </p:nvSpPr>
        <p:spPr>
          <a:xfrm>
            <a:off x="594360" y="2359152"/>
            <a:ext cx="329184" cy="329184"/>
          </a:xfrm>
          <a:prstGeom prst="roundRect">
            <a:avLst>
              <a:gd name="adj" fmla="val 16667"/>
            </a:avLst>
          </a:prstGeom>
          <a:solidFill>
            <a:srgbClr val="E07A5F"/>
          </a:solidFill>
          <a:ln w="12700">
            <a:solidFill>
              <a:srgbClr val="E07A5F"/>
            </a:solidFill>
            <a:prstDash val="solid"/>
          </a:ln>
        </p:spPr>
      </p:sp>
      <p:sp>
        <p:nvSpPr>
          <p:cNvPr id="9" name="Text 7"/>
          <p:cNvSpPr txBox="1"/>
          <p:nvPr/>
        </p:nvSpPr>
        <p:spPr>
          <a:xfrm>
            <a:off x="594360" y="235915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097280" y="2340864"/>
            <a:ext cx="4206240" cy="365760"/>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Measure in high dimension</a:t>
            </a:r>
            <a:endParaRPr lang="en-US" sz="1300" dirty="0"/>
          </a:p>
        </p:txBody>
      </p:sp>
      <p:sp>
        <p:nvSpPr>
          <p:cNvPr id="11" name="Text 9"/>
          <p:cNvSpPr txBox="1"/>
          <p:nvPr/>
        </p:nvSpPr>
        <p:spPr>
          <a:xfrm>
            <a:off x="5440680" y="2322576"/>
            <a:ext cx="6156655" cy="411480"/>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Facial movement plus posture, gait, voice, ambulatory autonomic signals, eye tracking, wearable neuroimaging, and the physical and social properties of the space.</a:t>
            </a:r>
            <a:endParaRPr lang="en-US" sz="1150" dirty="0"/>
          </a:p>
        </p:txBody>
      </p:sp>
      <p:sp>
        <p:nvSpPr>
          <p:cNvPr id="12" name="Shape 10"/>
          <p:cNvSpPr/>
          <p:nvPr/>
        </p:nvSpPr>
        <p:spPr>
          <a:xfrm>
            <a:off x="594360" y="2980944"/>
            <a:ext cx="329184" cy="329184"/>
          </a:xfrm>
          <a:prstGeom prst="roundRect">
            <a:avLst>
              <a:gd name="adj" fmla="val 16667"/>
            </a:avLst>
          </a:prstGeom>
          <a:solidFill>
            <a:srgbClr val="E07A5F"/>
          </a:solidFill>
          <a:ln w="12700">
            <a:solidFill>
              <a:srgbClr val="E07A5F"/>
            </a:solidFill>
            <a:prstDash val="solid"/>
          </a:ln>
        </p:spPr>
      </p:sp>
      <p:sp>
        <p:nvSpPr>
          <p:cNvPr id="13" name="Text 11"/>
          <p:cNvSpPr txBox="1"/>
          <p:nvPr/>
        </p:nvSpPr>
        <p:spPr>
          <a:xfrm>
            <a:off x="594360" y="29809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txBox="1"/>
          <p:nvPr/>
        </p:nvSpPr>
        <p:spPr>
          <a:xfrm>
            <a:off x="1097280" y="2962656"/>
            <a:ext cx="4206240" cy="365760"/>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Quantify context explicitly</a:t>
            </a:r>
            <a:endParaRPr lang="en-US" sz="1300" dirty="0"/>
          </a:p>
        </p:txBody>
      </p:sp>
      <p:sp>
        <p:nvSpPr>
          <p:cNvPr id="15" name="Text 13"/>
          <p:cNvSpPr txBox="1"/>
          <p:nvPr/>
        </p:nvSpPr>
        <p:spPr>
          <a:xfrm>
            <a:off x="5440680" y="2944368"/>
            <a:ext cx="6156655" cy="411480"/>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Manipulate or at least measure context. Theories about context cannot be adjudicated until context is measured and quantified.</a:t>
            </a:r>
            <a:endParaRPr lang="en-US" sz="1150" dirty="0"/>
          </a:p>
        </p:txBody>
      </p:sp>
      <p:sp>
        <p:nvSpPr>
          <p:cNvPr id="16" name="Shape 14"/>
          <p:cNvSpPr/>
          <p:nvPr/>
        </p:nvSpPr>
        <p:spPr>
          <a:xfrm>
            <a:off x="594360" y="3602736"/>
            <a:ext cx="329184" cy="329184"/>
          </a:xfrm>
          <a:prstGeom prst="roundRect">
            <a:avLst>
              <a:gd name="adj" fmla="val 16667"/>
            </a:avLst>
          </a:prstGeom>
          <a:solidFill>
            <a:srgbClr val="E07A5F"/>
          </a:solidFill>
          <a:ln w="12700">
            <a:solidFill>
              <a:srgbClr val="E07A5F"/>
            </a:solidFill>
            <a:prstDash val="solid"/>
          </a:ln>
        </p:spPr>
      </p:sp>
      <p:sp>
        <p:nvSpPr>
          <p:cNvPr id="17" name="Text 15"/>
          <p:cNvSpPr txBox="1"/>
          <p:nvPr/>
        </p:nvSpPr>
        <p:spPr>
          <a:xfrm>
            <a:off x="594360" y="36027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6"/>
          <p:cNvSpPr txBox="1"/>
          <p:nvPr/>
        </p:nvSpPr>
        <p:spPr>
          <a:xfrm>
            <a:off x="1097280" y="3584448"/>
            <a:ext cx="4206240" cy="365760"/>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Let people annotate their own episodes</a:t>
            </a:r>
            <a:endParaRPr lang="en-US" sz="1300" dirty="0"/>
          </a:p>
        </p:txBody>
      </p:sp>
      <p:sp>
        <p:nvSpPr>
          <p:cNvPr id="19" name="Text 17"/>
          <p:cNvSpPr txBox="1"/>
          <p:nvPr/>
        </p:nvSpPr>
        <p:spPr>
          <a:xfrm>
            <a:off x="5440680" y="3566160"/>
            <a:ext cx="6156655" cy="411480"/>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Self-annotation on affective dimensions such as valence and arousal, and on appraisals, rather than forced choice among six category labels.</a:t>
            </a:r>
            <a:endParaRPr lang="en-US" sz="1150" dirty="0"/>
          </a:p>
        </p:txBody>
      </p:sp>
      <p:sp>
        <p:nvSpPr>
          <p:cNvPr id="20" name="Shape 18"/>
          <p:cNvSpPr/>
          <p:nvPr/>
        </p:nvSpPr>
        <p:spPr>
          <a:xfrm>
            <a:off x="594360" y="4224528"/>
            <a:ext cx="329184" cy="329184"/>
          </a:xfrm>
          <a:prstGeom prst="roundRect">
            <a:avLst>
              <a:gd name="adj" fmla="val 16667"/>
            </a:avLst>
          </a:prstGeom>
          <a:solidFill>
            <a:srgbClr val="E07A5F"/>
          </a:solidFill>
          <a:ln w="12700">
            <a:solidFill>
              <a:srgbClr val="E07A5F"/>
            </a:solidFill>
            <a:prstDash val="solid"/>
          </a:ln>
        </p:spPr>
      </p:sp>
      <p:sp>
        <p:nvSpPr>
          <p:cNvPr id="21" name="Text 19"/>
          <p:cNvSpPr txBox="1"/>
          <p:nvPr/>
        </p:nvSpPr>
        <p:spPr>
          <a:xfrm>
            <a:off x="594360" y="42245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20"/>
          <p:cNvSpPr txBox="1"/>
          <p:nvPr/>
        </p:nvSpPr>
        <p:spPr>
          <a:xfrm>
            <a:off x="1097280" y="4206240"/>
            <a:ext cx="4206240" cy="365760"/>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Discover categories rather than verify them</a:t>
            </a:r>
            <a:endParaRPr lang="en-US" sz="1300" dirty="0"/>
          </a:p>
        </p:txBody>
      </p:sp>
      <p:sp>
        <p:nvSpPr>
          <p:cNvPr id="23" name="Text 21"/>
          <p:cNvSpPr txBox="1"/>
          <p:nvPr/>
        </p:nvSpPr>
        <p:spPr>
          <a:xfrm>
            <a:off x="5440680" y="4187952"/>
            <a:ext cx="6156655" cy="411480"/>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Use unlabelled and unsupervised approaches on large cross-cultural image sets instead of asking whether other cultures resemble the United States.</a:t>
            </a:r>
            <a:endParaRPr lang="en-US" sz="1150" dirty="0"/>
          </a:p>
        </p:txBody>
      </p:sp>
      <p:sp>
        <p:nvSpPr>
          <p:cNvPr id="24" name="Shape 22"/>
          <p:cNvSpPr/>
          <p:nvPr/>
        </p:nvSpPr>
        <p:spPr>
          <a:xfrm>
            <a:off x="594360" y="4846320"/>
            <a:ext cx="329184" cy="329184"/>
          </a:xfrm>
          <a:prstGeom prst="roundRect">
            <a:avLst>
              <a:gd name="adj" fmla="val 16667"/>
            </a:avLst>
          </a:prstGeom>
          <a:solidFill>
            <a:srgbClr val="E07A5F"/>
          </a:solidFill>
          <a:ln w="12700">
            <a:solidFill>
              <a:srgbClr val="E07A5F"/>
            </a:solidFill>
            <a:prstDash val="solid"/>
          </a:ln>
        </p:spPr>
      </p:sp>
      <p:sp>
        <p:nvSpPr>
          <p:cNvPr id="25" name="Text 23"/>
          <p:cNvSpPr txBox="1"/>
          <p:nvPr/>
        </p:nvSpPr>
        <p:spPr>
          <a:xfrm>
            <a:off x="594360" y="48463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6" name="Text 24"/>
          <p:cNvSpPr txBox="1"/>
          <p:nvPr/>
        </p:nvSpPr>
        <p:spPr>
          <a:xfrm>
            <a:off x="1097280" y="4828032"/>
            <a:ext cx="4206240" cy="365760"/>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Use virtual humans as instruments</a:t>
            </a:r>
            <a:endParaRPr lang="en-US" sz="1300" dirty="0"/>
          </a:p>
        </p:txBody>
      </p:sp>
      <p:sp>
        <p:nvSpPr>
          <p:cNvPr id="27" name="Text 25"/>
          <p:cNvSpPr txBox="1"/>
          <p:nvPr/>
        </p:nvSpPr>
        <p:spPr>
          <a:xfrm>
            <a:off x="5440680" y="4809744"/>
            <a:ext cx="6156655" cy="411480"/>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Contingent, controllable social partners give richer context than static photographs without abandoning experimental control.</a:t>
            </a:r>
            <a:endParaRPr lang="en-US" sz="1150" dirty="0"/>
          </a:p>
        </p:txBody>
      </p:sp>
      <p:sp>
        <p:nvSpPr>
          <p:cNvPr id="28" name="Shape 26"/>
          <p:cNvSpPr/>
          <p:nvPr/>
        </p:nvSpPr>
        <p:spPr>
          <a:xfrm>
            <a:off x="594360" y="5468112"/>
            <a:ext cx="329184" cy="329184"/>
          </a:xfrm>
          <a:prstGeom prst="roundRect">
            <a:avLst>
              <a:gd name="adj" fmla="val 16667"/>
            </a:avLst>
          </a:prstGeom>
          <a:solidFill>
            <a:srgbClr val="3D7068"/>
          </a:solidFill>
          <a:ln w="12700">
            <a:solidFill>
              <a:srgbClr val="3D7068"/>
            </a:solidFill>
            <a:prstDash val="solid"/>
          </a:ln>
        </p:spPr>
      </p:sp>
      <p:sp>
        <p:nvSpPr>
          <p:cNvPr id="29" name="Text 27"/>
          <p:cNvSpPr txBox="1"/>
          <p:nvPr/>
        </p:nvSpPr>
        <p:spPr>
          <a:xfrm>
            <a:off x="594360" y="54681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0" name="Text 28"/>
          <p:cNvSpPr txBox="1"/>
          <p:nvPr/>
        </p:nvSpPr>
        <p:spPr>
          <a:xfrm>
            <a:off x="1097280" y="5449824"/>
            <a:ext cx="4206240" cy="365760"/>
          </a:xfrm>
          <a:prstGeom prst="rect">
            <a:avLst/>
          </a:prstGeom>
          <a:noFill/>
          <a:ln/>
        </p:spPr>
        <p:txBody>
          <a:bodyPr wrap="square" lIns="0" tIns="0" rIns="0" bIns="0" rtlCol="0" anchor="ctr"/>
          <a:lstStyle/>
          <a:p>
            <a:pPr indent="0" marL="0">
              <a:buNone/>
            </a:pPr>
            <a:r>
              <a:rPr lang="en-US" sz="1300" b="1" dirty="0">
                <a:solidFill>
                  <a:srgbClr val="16202C"/>
                </a:solidFill>
                <a:latin typeface="Calibri" pitchFamily="34" charset="0"/>
                <a:ea typeface="Calibri" pitchFamily="34" charset="-122"/>
                <a:cs typeface="Calibri" pitchFamily="34" charset="-120"/>
              </a:rPr>
              <a:t>Report reliability and specificity, and use signal detection</a:t>
            </a:r>
            <a:endParaRPr lang="en-US" sz="1300" dirty="0"/>
          </a:p>
        </p:txBody>
      </p:sp>
      <p:sp>
        <p:nvSpPr>
          <p:cNvPr id="31" name="Text 29"/>
          <p:cNvSpPr txBox="1"/>
          <p:nvPr/>
        </p:nvSpPr>
        <p:spPr>
          <a:xfrm>
            <a:off x="5440680" y="5431536"/>
            <a:ext cx="6156655" cy="411480"/>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Formal detection analytics and information-theoretic measures rather than raw agreement rates; Bayesian methods so the null can be tested directly.</a:t>
            </a:r>
            <a:endParaRPr lang="en-US" sz="1150" dirty="0"/>
          </a:p>
        </p:txBody>
      </p:sp>
      <p:sp>
        <p:nvSpPr>
          <p:cNvPr id="32" name="Text 30"/>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Barrett et al. (2019), "Recommendations for Future Scientific Research" and Table 9.</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READING CRITICALLY</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Pressure points in the paper itself</a:t>
            </a:r>
            <a:endParaRPr lang="en-US" sz="3200" dirty="0"/>
          </a:p>
        </p:txBody>
      </p:sp>
      <p:sp>
        <p:nvSpPr>
          <p:cNvPr id="4" name="Shape 2"/>
          <p:cNvSpPr/>
          <p:nvPr/>
        </p:nvSpPr>
        <p:spPr>
          <a:xfrm>
            <a:off x="594360" y="1719072"/>
            <a:ext cx="11002975" cy="685800"/>
          </a:xfrm>
          <a:prstGeom prst="roundRect">
            <a:avLst>
              <a:gd name="adj" fmla="val 6667"/>
            </a:avLst>
          </a:prstGeom>
          <a:solidFill>
            <a:srgbClr val="FBEDE8"/>
          </a:solidFill>
          <a:ln w="12700">
            <a:solidFill>
              <a:srgbClr val="F0D6CC"/>
            </a:solidFill>
            <a:prstDash val="solid"/>
          </a:ln>
        </p:spPr>
      </p:sp>
      <p:sp>
        <p:nvSpPr>
          <p:cNvPr id="5" name="Text 3"/>
          <p:cNvSpPr txBox="1"/>
          <p:nvPr/>
        </p:nvSpPr>
        <p:spPr>
          <a:xfrm>
            <a:off x="850392" y="1746504"/>
            <a:ext cx="3246120" cy="630936"/>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Contested reading of the evidence</a:t>
            </a:r>
            <a:endParaRPr lang="en-US" sz="1250" dirty="0"/>
          </a:p>
        </p:txBody>
      </p:sp>
      <p:sp>
        <p:nvSpPr>
          <p:cNvPr id="6" name="Text 4"/>
          <p:cNvSpPr txBox="1"/>
          <p:nvPr/>
        </p:nvSpPr>
        <p:spPr>
          <a:xfrm>
            <a:off x="4251960" y="1746504"/>
            <a:ext cx="7025335" cy="630936"/>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Basic emotion researchers dispute the interpretation, arguing that large-scale naturalistic and multimodal studies reveal more structure than this review credits — and that emotion is expressed through more than the face.</a:t>
            </a:r>
            <a:endParaRPr lang="en-US" sz="1150" dirty="0"/>
          </a:p>
        </p:txBody>
      </p:sp>
      <p:sp>
        <p:nvSpPr>
          <p:cNvPr id="7" name="Shape 5"/>
          <p:cNvSpPr/>
          <p:nvPr/>
        </p:nvSpPr>
        <p:spPr>
          <a:xfrm>
            <a:off x="594360" y="2468880"/>
            <a:ext cx="11002975" cy="685800"/>
          </a:xfrm>
          <a:prstGeom prst="roundRect">
            <a:avLst>
              <a:gd name="adj" fmla="val 6667"/>
            </a:avLst>
          </a:prstGeom>
          <a:solidFill>
            <a:srgbClr val="FBEDE8"/>
          </a:solidFill>
          <a:ln w="12700">
            <a:solidFill>
              <a:srgbClr val="F0D6CC"/>
            </a:solidFill>
            <a:prstDash val="solid"/>
          </a:ln>
        </p:spPr>
      </p:sp>
      <p:sp>
        <p:nvSpPr>
          <p:cNvPr id="8" name="Text 6"/>
          <p:cNvSpPr txBox="1"/>
          <p:nvPr/>
        </p:nvSpPr>
        <p:spPr>
          <a:xfrm>
            <a:off x="850392" y="2496312"/>
            <a:ext cx="3246120" cy="630936"/>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Inherited thresholds</a:t>
            </a:r>
            <a:endParaRPr lang="en-US" sz="1250" dirty="0"/>
          </a:p>
        </p:txBody>
      </p:sp>
      <p:sp>
        <p:nvSpPr>
          <p:cNvPr id="9" name="Text 7"/>
          <p:cNvSpPr txBox="1"/>
          <p:nvPr/>
        </p:nvSpPr>
        <p:spPr>
          <a:xfrm>
            <a:off x="4251960" y="2496312"/>
            <a:ext cx="7025335" cy="630936"/>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The reliability bands are borrowed from Haidt and Keltner and applied across very different designs. Whether a 70–90% bar is the right standard, and whether it is applied evenly, is arguable.</a:t>
            </a:r>
            <a:endParaRPr lang="en-US" sz="1150" dirty="0"/>
          </a:p>
        </p:txBody>
      </p:sp>
      <p:sp>
        <p:nvSpPr>
          <p:cNvPr id="10" name="Shape 8"/>
          <p:cNvSpPr/>
          <p:nvPr/>
        </p:nvSpPr>
        <p:spPr>
          <a:xfrm>
            <a:off x="594360" y="3218688"/>
            <a:ext cx="11002975" cy="685800"/>
          </a:xfrm>
          <a:prstGeom prst="roundRect">
            <a:avLst>
              <a:gd name="adj" fmla="val 6667"/>
            </a:avLst>
          </a:prstGeom>
          <a:solidFill>
            <a:srgbClr val="FBEDE8"/>
          </a:solidFill>
          <a:ln w="12700">
            <a:solidFill>
              <a:srgbClr val="F0D6CC"/>
            </a:solidFill>
            <a:prstDash val="solid"/>
          </a:ln>
        </p:spPr>
      </p:sp>
      <p:sp>
        <p:nvSpPr>
          <p:cNvPr id="11" name="Text 9"/>
          <p:cNvSpPr txBox="1"/>
          <p:nvPr/>
        </p:nvSpPr>
        <p:spPr>
          <a:xfrm>
            <a:off x="850392" y="3246120"/>
            <a:ext cx="3246120" cy="630936"/>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A review, not a meta-analysis</a:t>
            </a:r>
            <a:endParaRPr lang="en-US" sz="1250" dirty="0"/>
          </a:p>
        </p:txBody>
      </p:sp>
      <p:sp>
        <p:nvSpPr>
          <p:cNvPr id="12" name="Text 10"/>
          <p:cNvSpPr txBox="1"/>
          <p:nvPr/>
        </p:nvSpPr>
        <p:spPr>
          <a:xfrm>
            <a:off x="4251960" y="3246120"/>
            <a:ext cx="7025335" cy="630936"/>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The synthesis is largely qualitative. Study quality and sample size are weighted by judgement rather than by a stated protocol.</a:t>
            </a:r>
            <a:endParaRPr lang="en-US" sz="1150" dirty="0"/>
          </a:p>
        </p:txBody>
      </p:sp>
      <p:sp>
        <p:nvSpPr>
          <p:cNvPr id="13" name="Shape 11"/>
          <p:cNvSpPr/>
          <p:nvPr/>
        </p:nvSpPr>
        <p:spPr>
          <a:xfrm>
            <a:off x="594360" y="3968496"/>
            <a:ext cx="11002975" cy="685800"/>
          </a:xfrm>
          <a:prstGeom prst="roundRect">
            <a:avLst>
              <a:gd name="adj" fmla="val 6667"/>
            </a:avLst>
          </a:prstGeom>
          <a:solidFill>
            <a:srgbClr val="FBEDE8"/>
          </a:solidFill>
          <a:ln w="12700">
            <a:solidFill>
              <a:srgbClr val="F0D6CC"/>
            </a:solidFill>
            <a:prstDash val="solid"/>
          </a:ln>
        </p:spPr>
      </p:sp>
      <p:sp>
        <p:nvSpPr>
          <p:cNvPr id="14" name="Text 12"/>
          <p:cNvSpPr txBox="1"/>
          <p:nvPr/>
        </p:nvSpPr>
        <p:spPr>
          <a:xfrm>
            <a:off x="850392" y="3995928"/>
            <a:ext cx="3246120" cy="630936"/>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Unknown treated as damning</a:t>
            </a:r>
            <a:endParaRPr lang="en-US" sz="1250" dirty="0"/>
          </a:p>
        </p:txBody>
      </p:sp>
      <p:sp>
        <p:nvSpPr>
          <p:cNvPr id="15" name="Text 13"/>
          <p:cNvSpPr txBox="1"/>
          <p:nvPr/>
        </p:nvSpPr>
        <p:spPr>
          <a:xfrm>
            <a:off x="4251960" y="3995928"/>
            <a:ext cx="7025335" cy="630936"/>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Much of the specificity column reflects non-reporting. That is a real indictment of the literature, but it is not the same as a demonstrated failure.</a:t>
            </a:r>
            <a:endParaRPr lang="en-US" sz="1150" dirty="0"/>
          </a:p>
        </p:txBody>
      </p:sp>
      <p:sp>
        <p:nvSpPr>
          <p:cNvPr id="16" name="Shape 14"/>
          <p:cNvSpPr/>
          <p:nvPr/>
        </p:nvSpPr>
        <p:spPr>
          <a:xfrm>
            <a:off x="594360" y="4718304"/>
            <a:ext cx="11002975" cy="685800"/>
          </a:xfrm>
          <a:prstGeom prst="roundRect">
            <a:avLst>
              <a:gd name="adj" fmla="val 6667"/>
            </a:avLst>
          </a:prstGeom>
          <a:solidFill>
            <a:srgbClr val="FBEDE8"/>
          </a:solidFill>
          <a:ln w="12700">
            <a:solidFill>
              <a:srgbClr val="F0D6CC"/>
            </a:solidFill>
            <a:prstDash val="solid"/>
          </a:ln>
        </p:spPr>
      </p:sp>
      <p:sp>
        <p:nvSpPr>
          <p:cNvPr id="17" name="Text 15"/>
          <p:cNvSpPr txBox="1"/>
          <p:nvPr/>
        </p:nvSpPr>
        <p:spPr>
          <a:xfrm>
            <a:off x="850392" y="4745736"/>
            <a:ext cx="3246120" cy="630936"/>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Theoretical commitments</a:t>
            </a:r>
            <a:endParaRPr lang="en-US" sz="1250" dirty="0"/>
          </a:p>
        </p:txBody>
      </p:sp>
      <p:sp>
        <p:nvSpPr>
          <p:cNvPr id="18" name="Text 16"/>
          <p:cNvSpPr txBox="1"/>
          <p:nvPr/>
        </p:nvSpPr>
        <p:spPr>
          <a:xfrm>
            <a:off x="4251960" y="4745736"/>
            <a:ext cx="7025335" cy="630936"/>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The lead author is the principal architect of the constructionist alternative. That is not disqualifying — but the target is also her opponents' position.</a:t>
            </a:r>
            <a:endParaRPr lang="en-US" sz="1150" dirty="0"/>
          </a:p>
        </p:txBody>
      </p:sp>
      <p:sp>
        <p:nvSpPr>
          <p:cNvPr id="19" name="Shape 17"/>
          <p:cNvSpPr/>
          <p:nvPr/>
        </p:nvSpPr>
        <p:spPr>
          <a:xfrm>
            <a:off x="594360" y="5468112"/>
            <a:ext cx="11002975" cy="685800"/>
          </a:xfrm>
          <a:prstGeom prst="roundRect">
            <a:avLst>
              <a:gd name="adj" fmla="val 6667"/>
            </a:avLst>
          </a:prstGeom>
          <a:solidFill>
            <a:srgbClr val="FBEDE8"/>
          </a:solidFill>
          <a:ln w="12700">
            <a:solidFill>
              <a:srgbClr val="F0D6CC"/>
            </a:solidFill>
            <a:prstDash val="solid"/>
          </a:ln>
        </p:spPr>
      </p:sp>
      <p:sp>
        <p:nvSpPr>
          <p:cNvPr id="20" name="Text 18"/>
          <p:cNvSpPr txBox="1"/>
          <p:nvPr/>
        </p:nvSpPr>
        <p:spPr>
          <a:xfrm>
            <a:off x="850392" y="5495544"/>
            <a:ext cx="3246120" cy="630936"/>
          </a:xfrm>
          <a:prstGeom prst="rect">
            <a:avLst/>
          </a:prstGeom>
          <a:noFill/>
          <a:ln/>
        </p:spPr>
        <p:txBody>
          <a:bodyPr wrap="square" lIns="0" tIns="0" rIns="0" bIns="0" rtlCol="0" anchor="ctr"/>
          <a:lstStyle/>
          <a:p>
            <a:pPr indent="0" marL="0">
              <a:buNone/>
            </a:pPr>
            <a:r>
              <a:rPr lang="en-US" sz="1250" b="1" dirty="0">
                <a:solidFill>
                  <a:srgbClr val="16202C"/>
                </a:solidFill>
                <a:latin typeface="Calibri" pitchFamily="34" charset="0"/>
                <a:ea typeface="Calibri" pitchFamily="34" charset="-122"/>
                <a:cs typeface="Calibri" pitchFamily="34" charset="-120"/>
              </a:rPr>
              <a:t>Is diagnosticity the right bar?</a:t>
            </a:r>
            <a:endParaRPr lang="en-US" sz="1250" dirty="0"/>
          </a:p>
        </p:txBody>
      </p:sp>
      <p:sp>
        <p:nvSpPr>
          <p:cNvPr id="21" name="Text 19"/>
          <p:cNvSpPr txBox="1"/>
          <p:nvPr/>
        </p:nvSpPr>
        <p:spPr>
          <a:xfrm>
            <a:off x="4251960" y="5495544"/>
            <a:ext cx="7025335" cy="630936"/>
          </a:xfrm>
          <a:prstGeom prst="rect">
            <a:avLst/>
          </a:prstGeom>
          <a:noFill/>
          <a:ln/>
        </p:spPr>
        <p:txBody>
          <a:bodyPr wrap="square" lIns="0" tIns="0" rIns="0" bIns="0" rtlCol="0" anchor="ctr"/>
          <a:lstStyle/>
          <a:p>
            <a:pPr indent="0" marL="0">
              <a:lnSpc>
                <a:spcPct val="103000"/>
              </a:lnSpc>
              <a:buNone/>
            </a:pPr>
            <a:r>
              <a:rPr lang="en-US" sz="1150" dirty="0">
                <a:solidFill>
                  <a:srgbClr val="2E4057"/>
                </a:solidFill>
                <a:latin typeface="Calibri" pitchFamily="34" charset="0"/>
                <a:ea typeface="Calibri" pitchFamily="34" charset="-122"/>
                <a:cs typeface="Calibri" pitchFamily="34" charset="-120"/>
              </a:rPr>
              <a:t>Few behavioural measures meet a fingerprint standard. If we required it of gait, voice, or language, would they survive?</a:t>
            </a:r>
            <a:endParaRPr lang="en-US" sz="1150" dirty="0"/>
          </a:p>
        </p:txBody>
      </p:sp>
      <p:sp>
        <p:nvSpPr>
          <p:cNvPr id="22" name="Text 20"/>
          <p:cNvSpPr txBox="1"/>
          <p:nvPr/>
        </p:nvSpPr>
        <p:spPr>
          <a:xfrm>
            <a:off x="594360" y="6327648"/>
            <a:ext cx="11002975" cy="274320"/>
          </a:xfrm>
          <a:prstGeom prst="rect">
            <a:avLst/>
          </a:prstGeom>
          <a:noFill/>
          <a:ln/>
        </p:spPr>
        <p:txBody>
          <a:bodyPr wrap="square" lIns="0" tIns="0" rIns="0" bIns="0" rtlCol="0" anchor="ctr"/>
          <a:lstStyle/>
          <a:p>
            <a:pPr indent="0" marL="0">
              <a:buNone/>
            </a:pPr>
            <a:r>
              <a:rPr lang="en-US" sz="950" i="1" dirty="0">
                <a:solidFill>
                  <a:srgbClr val="9AA3AE"/>
                </a:solidFill>
                <a:latin typeface="Calibri" pitchFamily="34" charset="0"/>
                <a:ea typeface="Calibri" pitchFamily="34" charset="-122"/>
                <a:cs typeface="Calibri" pitchFamily="34" charset="-120"/>
              </a:rPr>
              <a:t>Seminar commentary. PSPI target articles are published with peer commentary; see the accompanying responses in the same issue.</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CLOSING</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Five things to carry out of this room</a:t>
            </a:r>
            <a:endParaRPr lang="en-US" sz="3200" dirty="0"/>
          </a:p>
        </p:txBody>
      </p:sp>
      <p:sp>
        <p:nvSpPr>
          <p:cNvPr id="4" name="Shape 2"/>
          <p:cNvSpPr/>
          <p:nvPr/>
        </p:nvSpPr>
        <p:spPr>
          <a:xfrm>
            <a:off x="594360" y="1783080"/>
            <a:ext cx="402336" cy="402336"/>
          </a:xfrm>
          <a:prstGeom prst="roundRect">
            <a:avLst>
              <a:gd name="adj" fmla="val 15909"/>
            </a:avLst>
          </a:prstGeom>
          <a:solidFill>
            <a:srgbClr val="E07A5F"/>
          </a:solidFill>
          <a:ln w="12700">
            <a:solidFill>
              <a:srgbClr val="E07A5F"/>
            </a:solidFill>
            <a:prstDash val="solid"/>
          </a:ln>
        </p:spPr>
      </p:sp>
      <p:sp>
        <p:nvSpPr>
          <p:cNvPr id="5" name="Text 3"/>
          <p:cNvSpPr txBox="1"/>
          <p:nvPr/>
        </p:nvSpPr>
        <p:spPr>
          <a:xfrm>
            <a:off x="594360" y="17830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16152" y="1764792"/>
            <a:ext cx="4023360" cy="438912"/>
          </a:xfrm>
          <a:prstGeom prst="rect">
            <a:avLst/>
          </a:prstGeom>
          <a:noFill/>
          <a:ln/>
        </p:spPr>
        <p:txBody>
          <a:bodyPr wrap="square" lIns="0" tIns="0" rIns="0" bIns="0" rtlCol="0" anchor="ctr"/>
          <a:lstStyle/>
          <a:p>
            <a:pPr indent="0" marL="0">
              <a:buNone/>
            </a:pPr>
            <a:r>
              <a:rPr lang="en-US" sz="1450" b="1" dirty="0">
                <a:solidFill>
                  <a:srgbClr val="16202C"/>
                </a:solidFill>
                <a:latin typeface="Calibri" pitchFamily="34" charset="0"/>
                <a:ea typeface="Calibri" pitchFamily="34" charset="-122"/>
                <a:cs typeface="Calibri" pitchFamily="34" charset="-120"/>
              </a:rPr>
              <a:t>Distinguish the two inferences</a:t>
            </a:r>
            <a:endParaRPr lang="en-US" sz="1450" dirty="0"/>
          </a:p>
        </p:txBody>
      </p:sp>
      <p:sp>
        <p:nvSpPr>
          <p:cNvPr id="7" name="Text 5"/>
          <p:cNvSpPr txBox="1"/>
          <p:nvPr/>
        </p:nvSpPr>
        <p:spPr>
          <a:xfrm>
            <a:off x="5394960" y="1746504"/>
            <a:ext cx="6202375" cy="475488"/>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p(face | emotion) is what the literature measures. p(emotion | face) is what your system claims. They are not interchangeable.</a:t>
            </a:r>
            <a:endParaRPr lang="en-US" sz="1200" dirty="0"/>
          </a:p>
        </p:txBody>
      </p:sp>
      <p:sp>
        <p:nvSpPr>
          <p:cNvPr id="8" name="Shape 6"/>
          <p:cNvSpPr/>
          <p:nvPr/>
        </p:nvSpPr>
        <p:spPr>
          <a:xfrm>
            <a:off x="594360" y="2651760"/>
            <a:ext cx="402336" cy="402336"/>
          </a:xfrm>
          <a:prstGeom prst="roundRect">
            <a:avLst>
              <a:gd name="adj" fmla="val 15909"/>
            </a:avLst>
          </a:prstGeom>
          <a:solidFill>
            <a:srgbClr val="E07A5F"/>
          </a:solidFill>
          <a:ln w="12700">
            <a:solidFill>
              <a:srgbClr val="E07A5F"/>
            </a:solidFill>
            <a:prstDash val="solid"/>
          </a:ln>
        </p:spPr>
      </p:sp>
      <p:sp>
        <p:nvSpPr>
          <p:cNvPr id="9" name="Text 7"/>
          <p:cNvSpPr txBox="1"/>
          <p:nvPr/>
        </p:nvSpPr>
        <p:spPr>
          <a:xfrm>
            <a:off x="594360" y="265176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216152" y="2633472"/>
            <a:ext cx="4023360" cy="438912"/>
          </a:xfrm>
          <a:prstGeom prst="rect">
            <a:avLst/>
          </a:prstGeom>
          <a:noFill/>
          <a:ln/>
        </p:spPr>
        <p:txBody>
          <a:bodyPr wrap="square" lIns="0" tIns="0" rIns="0" bIns="0" rtlCol="0" anchor="ctr"/>
          <a:lstStyle/>
          <a:p>
            <a:pPr indent="0" marL="0">
              <a:buNone/>
            </a:pPr>
            <a:r>
              <a:rPr lang="en-US" sz="1450" b="1" dirty="0">
                <a:solidFill>
                  <a:srgbClr val="16202C"/>
                </a:solidFill>
                <a:latin typeface="Calibri" pitchFamily="34" charset="0"/>
                <a:ea typeface="Calibri" pitchFamily="34" charset="-122"/>
                <a:cs typeface="Calibri" pitchFamily="34" charset="-120"/>
              </a:rPr>
              <a:t>Ask for the false positive rate</a:t>
            </a:r>
            <a:endParaRPr lang="en-US" sz="1450" dirty="0"/>
          </a:p>
        </p:txBody>
      </p:sp>
      <p:sp>
        <p:nvSpPr>
          <p:cNvPr id="11" name="Text 9"/>
          <p:cNvSpPr txBox="1"/>
          <p:nvPr/>
        </p:nvSpPr>
        <p:spPr>
          <a:xfrm>
            <a:off x="5394960" y="2615184"/>
            <a:ext cx="6202375" cy="475488"/>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Reliability without specificity cannot support a reverse inference. If a paper or a vendor does not report it, that is the finding.</a:t>
            </a:r>
            <a:endParaRPr lang="en-US" sz="1200" dirty="0"/>
          </a:p>
        </p:txBody>
      </p:sp>
      <p:sp>
        <p:nvSpPr>
          <p:cNvPr id="12" name="Shape 10"/>
          <p:cNvSpPr/>
          <p:nvPr/>
        </p:nvSpPr>
        <p:spPr>
          <a:xfrm>
            <a:off x="594360" y="3520440"/>
            <a:ext cx="402336" cy="402336"/>
          </a:xfrm>
          <a:prstGeom prst="roundRect">
            <a:avLst>
              <a:gd name="adj" fmla="val 15909"/>
            </a:avLst>
          </a:prstGeom>
          <a:solidFill>
            <a:srgbClr val="E07A5F"/>
          </a:solidFill>
          <a:ln w="12700">
            <a:solidFill>
              <a:srgbClr val="E07A5F"/>
            </a:solidFill>
            <a:prstDash val="solid"/>
          </a:ln>
        </p:spPr>
      </p:sp>
      <p:sp>
        <p:nvSpPr>
          <p:cNvPr id="13" name="Text 11"/>
          <p:cNvSpPr txBox="1"/>
          <p:nvPr/>
        </p:nvSpPr>
        <p:spPr>
          <a:xfrm>
            <a:off x="594360" y="35204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216152" y="3502152"/>
            <a:ext cx="4023360" cy="438912"/>
          </a:xfrm>
          <a:prstGeom prst="rect">
            <a:avLst/>
          </a:prstGeom>
          <a:noFill/>
          <a:ln/>
        </p:spPr>
        <p:txBody>
          <a:bodyPr wrap="square" lIns="0" tIns="0" rIns="0" bIns="0" rtlCol="0" anchor="ctr"/>
          <a:lstStyle/>
          <a:p>
            <a:pPr indent="0" marL="0">
              <a:buNone/>
            </a:pPr>
            <a:r>
              <a:rPr lang="en-US" sz="1450" b="1" dirty="0">
                <a:solidFill>
                  <a:srgbClr val="16202C"/>
                </a:solidFill>
                <a:latin typeface="Calibri" pitchFamily="34" charset="0"/>
                <a:ea typeface="Calibri" pitchFamily="34" charset="-122"/>
                <a:cs typeface="Calibri" pitchFamily="34" charset="-120"/>
              </a:rPr>
              <a:t>Interrogate the label, not just the model</a:t>
            </a:r>
            <a:endParaRPr lang="en-US" sz="1450" dirty="0"/>
          </a:p>
        </p:txBody>
      </p:sp>
      <p:sp>
        <p:nvSpPr>
          <p:cNvPr id="15" name="Text 13"/>
          <p:cNvSpPr txBox="1"/>
          <p:nvPr/>
        </p:nvSpPr>
        <p:spPr>
          <a:xfrm>
            <a:off x="5394960" y="3483864"/>
            <a:ext cx="6202375" cy="475488"/>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Ask where ground truth came from. If it came from annotators, say that your system predicts annotator judgement.</a:t>
            </a:r>
            <a:endParaRPr lang="en-US" sz="1200" dirty="0"/>
          </a:p>
        </p:txBody>
      </p:sp>
      <p:sp>
        <p:nvSpPr>
          <p:cNvPr id="16" name="Shape 14"/>
          <p:cNvSpPr/>
          <p:nvPr/>
        </p:nvSpPr>
        <p:spPr>
          <a:xfrm>
            <a:off x="594360" y="4389120"/>
            <a:ext cx="402336" cy="402336"/>
          </a:xfrm>
          <a:prstGeom prst="roundRect">
            <a:avLst>
              <a:gd name="adj" fmla="val 15909"/>
            </a:avLst>
          </a:prstGeom>
          <a:solidFill>
            <a:srgbClr val="E07A5F"/>
          </a:solidFill>
          <a:ln w="12700">
            <a:solidFill>
              <a:srgbClr val="E07A5F"/>
            </a:solidFill>
            <a:prstDash val="solid"/>
          </a:ln>
        </p:spPr>
      </p:sp>
      <p:sp>
        <p:nvSpPr>
          <p:cNvPr id="17" name="Text 15"/>
          <p:cNvSpPr txBox="1"/>
          <p:nvPr/>
        </p:nvSpPr>
        <p:spPr>
          <a:xfrm>
            <a:off x="594360" y="43891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216152" y="4370832"/>
            <a:ext cx="4023360" cy="438912"/>
          </a:xfrm>
          <a:prstGeom prst="rect">
            <a:avLst/>
          </a:prstGeom>
          <a:noFill/>
          <a:ln/>
        </p:spPr>
        <p:txBody>
          <a:bodyPr wrap="square" lIns="0" tIns="0" rIns="0" bIns="0" rtlCol="0" anchor="ctr"/>
          <a:lstStyle/>
          <a:p>
            <a:pPr indent="0" marL="0">
              <a:buNone/>
            </a:pPr>
            <a:r>
              <a:rPr lang="en-US" sz="1450" b="1" dirty="0">
                <a:solidFill>
                  <a:srgbClr val="16202C"/>
                </a:solidFill>
                <a:latin typeface="Calibri" pitchFamily="34" charset="0"/>
                <a:ea typeface="Calibri" pitchFamily="34" charset="-122"/>
                <a:cs typeface="Calibri" pitchFamily="34" charset="-120"/>
              </a:rPr>
              <a:t>Treat context as a variable, not noise</a:t>
            </a:r>
            <a:endParaRPr lang="en-US" sz="1450" dirty="0"/>
          </a:p>
        </p:txBody>
      </p:sp>
      <p:sp>
        <p:nvSpPr>
          <p:cNvPr id="19" name="Text 17"/>
          <p:cNvSpPr txBox="1"/>
          <p:nvPr/>
        </p:nvSpPr>
        <p:spPr>
          <a:xfrm>
            <a:off x="5394960" y="4352544"/>
            <a:ext cx="6202375" cy="475488"/>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The unexplained variance is not error. It is the situation, the body, the relationship, and the culture — all measurable.</a:t>
            </a:r>
            <a:endParaRPr lang="en-US" sz="1200" dirty="0"/>
          </a:p>
        </p:txBody>
      </p:sp>
      <p:sp>
        <p:nvSpPr>
          <p:cNvPr id="20" name="Shape 18"/>
          <p:cNvSpPr/>
          <p:nvPr/>
        </p:nvSpPr>
        <p:spPr>
          <a:xfrm>
            <a:off x="594360" y="5257800"/>
            <a:ext cx="402336" cy="402336"/>
          </a:xfrm>
          <a:prstGeom prst="roundRect">
            <a:avLst>
              <a:gd name="adj" fmla="val 15909"/>
            </a:avLst>
          </a:prstGeom>
          <a:solidFill>
            <a:srgbClr val="E07A5F"/>
          </a:solidFill>
          <a:ln w="12700">
            <a:solidFill>
              <a:srgbClr val="E07A5F"/>
            </a:solidFill>
            <a:prstDash val="solid"/>
          </a:ln>
        </p:spPr>
      </p:sp>
      <p:sp>
        <p:nvSpPr>
          <p:cNvPr id="21" name="Text 19"/>
          <p:cNvSpPr txBox="1"/>
          <p:nvPr/>
        </p:nvSpPr>
        <p:spPr>
          <a:xfrm>
            <a:off x="594360" y="52578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216152" y="5239512"/>
            <a:ext cx="4023360" cy="438912"/>
          </a:xfrm>
          <a:prstGeom prst="rect">
            <a:avLst/>
          </a:prstGeom>
          <a:noFill/>
          <a:ln/>
        </p:spPr>
        <p:txBody>
          <a:bodyPr wrap="square" lIns="0" tIns="0" rIns="0" bIns="0" rtlCol="0" anchor="ctr"/>
          <a:lstStyle/>
          <a:p>
            <a:pPr indent="0" marL="0">
              <a:buNone/>
            </a:pPr>
            <a:r>
              <a:rPr lang="en-US" sz="1450" b="1" dirty="0">
                <a:solidFill>
                  <a:srgbClr val="16202C"/>
                </a:solidFill>
                <a:latin typeface="Calibri" pitchFamily="34" charset="0"/>
                <a:ea typeface="Calibri" pitchFamily="34" charset="-122"/>
                <a:cs typeface="Calibri" pitchFamily="34" charset="-120"/>
              </a:rPr>
              <a:t>Name what you measure</a:t>
            </a:r>
            <a:endParaRPr lang="en-US" sz="1450" dirty="0"/>
          </a:p>
        </p:txBody>
      </p:sp>
      <p:sp>
        <p:nvSpPr>
          <p:cNvPr id="23" name="Text 21"/>
          <p:cNvSpPr txBox="1"/>
          <p:nvPr/>
        </p:nvSpPr>
        <p:spPr>
          <a:xfrm>
            <a:off x="5394960" y="5221224"/>
            <a:ext cx="6202375" cy="475488"/>
          </a:xfrm>
          <a:prstGeom prst="rect">
            <a:avLst/>
          </a:prstGeom>
          <a:noFill/>
          <a:ln/>
        </p:spPr>
        <p:txBody>
          <a:bodyPr wrap="square" lIns="0" tIns="0" rIns="0" bIns="0" rtlCol="0" anchor="ctr"/>
          <a:lstStyle/>
          <a:p>
            <a:pPr indent="0" marL="0">
              <a:lnSpc>
                <a:spcPct val="105000"/>
              </a:lnSpc>
              <a:buNone/>
            </a:pPr>
            <a:r>
              <a:rPr lang="en-US" sz="1200" dirty="0">
                <a:solidFill>
                  <a:srgbClr val="2E4057"/>
                </a:solidFill>
                <a:latin typeface="Calibri" pitchFamily="34" charset="0"/>
                <a:ea typeface="Calibri" pitchFamily="34" charset="-122"/>
                <a:cs typeface="Calibri" pitchFamily="34" charset="-120"/>
              </a:rPr>
              <a:t>Facial configuration, not emotional expression. The honest name usually reveals what the system can and cannot support.</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202C"/>
        </a:solidFill>
      </p:bgPr>
    </p:bg>
    <p:spTree>
      <p:nvGrpSpPr>
        <p:cNvPr id="1" name=""/>
        <p:cNvGrpSpPr/>
        <p:nvPr/>
      </p:nvGrpSpPr>
      <p:grpSpPr>
        <a:xfrm>
          <a:off x="0" y="0"/>
          <a:ext cx="0" cy="0"/>
          <a:chOff x="0" y="0"/>
          <a:chExt cx="0" cy="0"/>
        </a:xfrm>
      </p:grpSpPr>
      <p:sp>
        <p:nvSpPr>
          <p:cNvPr id="2" name="Shape 0"/>
          <p:cNvSpPr/>
          <p:nvPr/>
        </p:nvSpPr>
        <p:spPr>
          <a:xfrm>
            <a:off x="594360" y="566928"/>
            <a:ext cx="2468880" cy="384048"/>
          </a:xfrm>
          <a:prstGeom prst="roundRect">
            <a:avLst>
              <a:gd name="adj" fmla="val 23810"/>
            </a:avLst>
          </a:prstGeom>
          <a:solidFill>
            <a:srgbClr val="D9A441"/>
          </a:solidFill>
          <a:ln w="12700">
            <a:solidFill>
              <a:srgbClr val="D9A441"/>
            </a:solidFill>
            <a:prstDash val="solid"/>
          </a:ln>
        </p:spPr>
      </p:sp>
      <p:sp>
        <p:nvSpPr>
          <p:cNvPr id="3" name="Text 1"/>
          <p:cNvSpPr txBox="1"/>
          <p:nvPr/>
        </p:nvSpPr>
        <p:spPr>
          <a:xfrm>
            <a:off x="594360" y="566928"/>
            <a:ext cx="2468880" cy="384048"/>
          </a:xfrm>
          <a:prstGeom prst="rect">
            <a:avLst/>
          </a:prstGeom>
          <a:noFill/>
          <a:ln/>
        </p:spPr>
        <p:txBody>
          <a:bodyPr wrap="square" lIns="0" tIns="0" rIns="0" bIns="0" rtlCol="0" anchor="ctr"/>
          <a:lstStyle/>
          <a:p>
            <a:pPr algn="ctr" indent="0" marL="0">
              <a:buNone/>
            </a:pPr>
            <a:r>
              <a:rPr lang="en-US" sz="1150" b="1" spc="140" kern="0" dirty="0">
                <a:solidFill>
                  <a:srgbClr val="16202C"/>
                </a:solidFill>
                <a:latin typeface="Calibri" pitchFamily="34" charset="0"/>
                <a:ea typeface="Calibri" pitchFamily="34" charset="-122"/>
                <a:cs typeface="Calibri" pitchFamily="34" charset="-120"/>
              </a:rPr>
              <a:t>CLOSING DISCUSSION</a:t>
            </a:r>
            <a:endParaRPr lang="en-US" sz="1150" dirty="0"/>
          </a:p>
        </p:txBody>
      </p:sp>
      <p:sp>
        <p:nvSpPr>
          <p:cNvPr id="4" name="Text 2"/>
          <p:cNvSpPr txBox="1"/>
          <p:nvPr/>
        </p:nvSpPr>
        <p:spPr>
          <a:xfrm>
            <a:off x="9585655" y="566928"/>
            <a:ext cx="2011680" cy="384048"/>
          </a:xfrm>
          <a:prstGeom prst="rect">
            <a:avLst/>
          </a:prstGeom>
          <a:noFill/>
          <a:ln/>
        </p:spPr>
        <p:txBody>
          <a:bodyPr wrap="square" lIns="0" tIns="0" rIns="0" bIns="0" rtlCol="0" anchor="ctr"/>
          <a:lstStyle/>
          <a:p>
            <a:pPr algn="r" indent="0" marL="0">
              <a:buNone/>
            </a:pPr>
            <a:r>
              <a:rPr lang="en-US" sz="1200" dirty="0">
                <a:solidFill>
                  <a:srgbClr val="9AA3AE"/>
                </a:solidFill>
                <a:latin typeface="Calibri" pitchFamily="34" charset="0"/>
                <a:ea typeface="Calibri" pitchFamily="34" charset="-122"/>
                <a:cs typeface="Calibri" pitchFamily="34" charset="-120"/>
              </a:rPr>
              <a:t>~8 minutes</a:t>
            </a:r>
            <a:endParaRPr lang="en-US" sz="1200" dirty="0"/>
          </a:p>
        </p:txBody>
      </p:sp>
      <p:sp>
        <p:nvSpPr>
          <p:cNvPr id="5" name="Text 3"/>
          <p:cNvSpPr txBox="1"/>
          <p:nvPr/>
        </p:nvSpPr>
        <p:spPr>
          <a:xfrm>
            <a:off x="594360" y="1325880"/>
            <a:ext cx="11002975" cy="1371600"/>
          </a:xfrm>
          <a:prstGeom prst="rect">
            <a:avLst/>
          </a:prstGeom>
          <a:noFill/>
          <a:ln/>
        </p:spPr>
        <p:txBody>
          <a:bodyPr wrap="square" lIns="0" tIns="0" rIns="0" bIns="0" rtlCol="0" anchor="t"/>
          <a:lstStyle/>
          <a:p>
            <a:pPr indent="0" marL="0">
              <a:lnSpc>
                <a:spcPct val="110000"/>
              </a:lnSpc>
              <a:buNone/>
            </a:pPr>
            <a:r>
              <a:rPr lang="en-US" sz="3000" b="1" dirty="0">
                <a:solidFill>
                  <a:srgbClr val="FFFFFF"/>
                </a:solidFill>
                <a:latin typeface="Cambria" pitchFamily="34" charset="0"/>
                <a:ea typeface="Cambria" pitchFamily="34" charset="-122"/>
                <a:cs typeface="Cambria" pitchFamily="34" charset="-120"/>
              </a:rPr>
              <a:t>Where does this leave affective computing?</a:t>
            </a:r>
            <a:endParaRPr lang="en-US" sz="3000" dirty="0"/>
          </a:p>
        </p:txBody>
      </p:sp>
      <p:sp>
        <p:nvSpPr>
          <p:cNvPr id="6" name="Text 4"/>
          <p:cNvSpPr txBox="1"/>
          <p:nvPr/>
        </p:nvSpPr>
        <p:spPr>
          <a:xfrm>
            <a:off x="704088" y="2971800"/>
            <a:ext cx="10783519" cy="3108960"/>
          </a:xfrm>
          <a:prstGeom prst="rect">
            <a:avLst/>
          </a:prstGeom>
          <a:noFill/>
          <a:ln/>
        </p:spPr>
        <p:txBody>
          <a:bodyPr wrap="square" lIns="0" tIns="0" rIns="0" bIns="0" rtlCol="0" anchor="ctr"/>
          <a:lstStyle/>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If we accept the critique, what is the most defensible thing an emotion-aware system can claim? Is there a version of this technology you would still build?</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The authors want deep within-person, high-dimensional, context-rich data. What would it take to collect that ethically — and who would consent to it?</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Several jurisdictions now restrict emotion recognition in workplaces and schools. Is regulation the right instrument here, or is the problem better handled by measurement standards and honest labelling?</a:t>
            </a:r>
            <a:endParaRPr lang="en-US" sz="1600" dirty="0"/>
          </a:p>
          <a:p>
            <a:pPr marL="342900" indent="-342900">
              <a:lnSpc>
                <a:spcPct val="115000"/>
              </a:lnSpc>
              <a:spcAft>
                <a:spcPts val="1200"/>
              </a:spcAft>
              <a:buSzPct val="100000"/>
              <a:buChar char="–"/>
            </a:pPr>
            <a:r>
              <a:rPr lang="en-US" sz="1600" dirty="0">
                <a:solidFill>
                  <a:srgbClr val="D6DBE2"/>
                </a:solidFill>
                <a:latin typeface="Calibri" pitchFamily="34" charset="0"/>
                <a:ea typeface="Calibri" pitchFamily="34" charset="-122"/>
                <a:cs typeface="Calibri" pitchFamily="34" charset="-120"/>
              </a:rPr>
              <a:t>If categories should be discovered rather than assumed: what would an unsupervised study of facial movement in the wild look like, and how would you evaluate it?</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94360" y="384048"/>
            <a:ext cx="11002975" cy="237744"/>
          </a:xfrm>
          <a:prstGeom prst="rect">
            <a:avLst/>
          </a:prstGeom>
          <a:noFill/>
          <a:ln/>
        </p:spPr>
        <p:txBody>
          <a:bodyPr wrap="square" lIns="0" tIns="0" rIns="0" bIns="0" rtlCol="0" anchor="ctr"/>
          <a:lstStyle/>
          <a:p>
            <a:pPr indent="0" marL="0">
              <a:buNone/>
            </a:pPr>
            <a:r>
              <a:rPr lang="en-US" sz="1100" b="1" spc="160" kern="0" dirty="0">
                <a:solidFill>
                  <a:srgbClr val="E07A5F"/>
                </a:solidFill>
                <a:latin typeface="Calibri" pitchFamily="34" charset="0"/>
                <a:ea typeface="Calibri" pitchFamily="34" charset="-122"/>
                <a:cs typeface="Calibri" pitchFamily="34" charset="-120"/>
              </a:rPr>
              <a:t>SOURCES</a:t>
            </a:r>
            <a:endParaRPr lang="en-US" sz="1100" dirty="0"/>
          </a:p>
        </p:txBody>
      </p:sp>
      <p:sp>
        <p:nvSpPr>
          <p:cNvPr id="3" name="Text 1"/>
          <p:cNvSpPr txBox="1"/>
          <p:nvPr/>
        </p:nvSpPr>
        <p:spPr>
          <a:xfrm>
            <a:off x="594360" y="658368"/>
            <a:ext cx="11002975" cy="658368"/>
          </a:xfrm>
          <a:prstGeom prst="rect">
            <a:avLst/>
          </a:prstGeom>
          <a:noFill/>
          <a:ln/>
        </p:spPr>
        <p:txBody>
          <a:bodyPr wrap="square" lIns="0" tIns="0" rIns="0" bIns="0" rtlCol="0" anchor="t"/>
          <a:lstStyle/>
          <a:p>
            <a:pPr indent="0" marL="0">
              <a:buNone/>
            </a:pPr>
            <a:r>
              <a:rPr lang="en-US" sz="3200" b="1" dirty="0">
                <a:solidFill>
                  <a:srgbClr val="16202C"/>
                </a:solidFill>
                <a:latin typeface="Cambria" pitchFamily="34" charset="0"/>
                <a:ea typeface="Cambria" pitchFamily="34" charset="-122"/>
                <a:cs typeface="Cambria" pitchFamily="34" charset="-120"/>
              </a:rPr>
              <a:t>The paper and its surroundings</a:t>
            </a:r>
            <a:endParaRPr lang="en-US" sz="3200" dirty="0"/>
          </a:p>
        </p:txBody>
      </p:sp>
      <p:sp>
        <p:nvSpPr>
          <p:cNvPr id="4" name="Text 2"/>
          <p:cNvSpPr txBox="1"/>
          <p:nvPr/>
        </p:nvSpPr>
        <p:spPr>
          <a:xfrm>
            <a:off x="594360" y="1783080"/>
            <a:ext cx="11002975" cy="237744"/>
          </a:xfrm>
          <a:prstGeom prst="rect">
            <a:avLst/>
          </a:prstGeom>
          <a:noFill/>
          <a:ln/>
        </p:spPr>
        <p:txBody>
          <a:bodyPr wrap="square" lIns="0" tIns="0" rIns="0" bIns="0" rtlCol="0" anchor="ctr"/>
          <a:lstStyle/>
          <a:p>
            <a:pPr indent="0" marL="0">
              <a:buNone/>
            </a:pPr>
            <a:r>
              <a:rPr lang="en-US" sz="1000" b="1" spc="120" kern="0" dirty="0">
                <a:solidFill>
                  <a:srgbClr val="E07A5F"/>
                </a:solidFill>
                <a:latin typeface="Calibri" pitchFamily="34" charset="0"/>
                <a:ea typeface="Calibri" pitchFamily="34" charset="-122"/>
                <a:cs typeface="Calibri" pitchFamily="34" charset="-120"/>
              </a:rPr>
              <a:t>THE TARGET ARTICLE</a:t>
            </a:r>
            <a:endParaRPr lang="en-US" sz="1000" dirty="0"/>
          </a:p>
        </p:txBody>
      </p:sp>
      <p:sp>
        <p:nvSpPr>
          <p:cNvPr id="5" name="Text 3"/>
          <p:cNvSpPr txBox="1"/>
          <p:nvPr/>
        </p:nvSpPr>
        <p:spPr>
          <a:xfrm>
            <a:off x="594360" y="2039112"/>
            <a:ext cx="11002975" cy="777240"/>
          </a:xfrm>
          <a:prstGeom prst="rect">
            <a:avLst/>
          </a:prstGeom>
          <a:noFill/>
          <a:ln/>
        </p:spPr>
        <p:txBody>
          <a:bodyPr wrap="square" lIns="0" tIns="0" rIns="0" bIns="0" rtlCol="0" anchor="t"/>
          <a:lstStyle/>
          <a:p>
            <a:pPr indent="0" marL="0">
              <a:lnSpc>
                <a:spcPct val="110000"/>
              </a:lnSpc>
              <a:buNone/>
            </a:pPr>
            <a:r>
              <a:rPr lang="en-US" sz="1200" dirty="0">
                <a:solidFill>
                  <a:srgbClr val="2E4057"/>
                </a:solidFill>
                <a:latin typeface="Calibri" pitchFamily="34" charset="0"/>
                <a:ea typeface="Calibri" pitchFamily="34" charset="-122"/>
                <a:cs typeface="Calibri" pitchFamily="34" charset="-120"/>
              </a:rPr>
              <a:t>Barrett, L. F., Adolphs, R., Marsella, S., Martinez, A. M., &amp; Pollak, S. D. (2019). Emotional Expressions Reconsidered: Challenges to Inferring Emotion From Human Facial Movements. Psychological Science in the Public Interest, 20(1), 1–68.</a:t>
            </a:r>
            <a:endParaRPr lang="en-US" sz="1200" dirty="0"/>
          </a:p>
        </p:txBody>
      </p:sp>
      <p:sp>
        <p:nvSpPr>
          <p:cNvPr id="6" name="Text 4"/>
          <p:cNvSpPr txBox="1"/>
          <p:nvPr/>
        </p:nvSpPr>
        <p:spPr>
          <a:xfrm>
            <a:off x="594360" y="2926080"/>
            <a:ext cx="11002975" cy="237744"/>
          </a:xfrm>
          <a:prstGeom prst="rect">
            <a:avLst/>
          </a:prstGeom>
          <a:noFill/>
          <a:ln/>
        </p:spPr>
        <p:txBody>
          <a:bodyPr wrap="square" lIns="0" tIns="0" rIns="0" bIns="0" rtlCol="0" anchor="ctr"/>
          <a:lstStyle/>
          <a:p>
            <a:pPr indent="0" marL="0">
              <a:buNone/>
            </a:pPr>
            <a:r>
              <a:rPr lang="en-US" sz="1000" b="1" spc="120" kern="0" dirty="0">
                <a:solidFill>
                  <a:srgbClr val="E07A5F"/>
                </a:solidFill>
                <a:latin typeface="Calibri" pitchFamily="34" charset="0"/>
                <a:ea typeface="Calibri" pitchFamily="34" charset="-122"/>
                <a:cs typeface="Calibri" pitchFamily="34" charset="-120"/>
              </a:rPr>
              <a:t>CITED WITHIN, WORTH READING DIRECTLY</a:t>
            </a:r>
            <a:endParaRPr lang="en-US" sz="1000" dirty="0"/>
          </a:p>
        </p:txBody>
      </p:sp>
      <p:sp>
        <p:nvSpPr>
          <p:cNvPr id="7" name="Text 5"/>
          <p:cNvSpPr txBox="1"/>
          <p:nvPr/>
        </p:nvSpPr>
        <p:spPr>
          <a:xfrm>
            <a:off x="594360" y="3182112"/>
            <a:ext cx="11002975" cy="777240"/>
          </a:xfrm>
          <a:prstGeom prst="rect">
            <a:avLst/>
          </a:prstGeom>
          <a:noFill/>
          <a:ln/>
        </p:spPr>
        <p:txBody>
          <a:bodyPr wrap="square" lIns="0" tIns="0" rIns="0" bIns="0" rtlCol="0" anchor="t"/>
          <a:lstStyle/>
          <a:p>
            <a:pPr indent="0" marL="0">
              <a:lnSpc>
                <a:spcPct val="110000"/>
              </a:lnSpc>
              <a:buNone/>
            </a:pPr>
            <a:r>
              <a:rPr lang="en-US" sz="1200" dirty="0">
                <a:solidFill>
                  <a:srgbClr val="2E4057"/>
                </a:solidFill>
                <a:latin typeface="Calibri" pitchFamily="34" charset="0"/>
                <a:ea typeface="Calibri" pitchFamily="34" charset="-122"/>
                <a:cs typeface="Calibri" pitchFamily="34" charset="-120"/>
              </a:rPr>
              <a:t>Duran &amp; Fernández-Dols (2018) on production meta-analysis · Elfenbein &amp; Ambady (2002) on perception meta-analysis · Crivelli, Carrera &amp; Fernández-Dols (2015) on judo winners · Gendron et al. (2014, 2018) on Himba and Hadza · Crivelli, Jarillo &amp; Fridlund (2016, 2017) on Trobriand Islanders · Srinivasan &amp; Martinez (2018) on many-to-many labelling · Siegel et al. (2018) on autonomic specificity</a:t>
            </a:r>
            <a:endParaRPr lang="en-US" sz="1200" dirty="0"/>
          </a:p>
        </p:txBody>
      </p:sp>
      <p:sp>
        <p:nvSpPr>
          <p:cNvPr id="8" name="Text 6"/>
          <p:cNvSpPr txBox="1"/>
          <p:nvPr/>
        </p:nvSpPr>
        <p:spPr>
          <a:xfrm>
            <a:off x="594360" y="4069080"/>
            <a:ext cx="11002975" cy="237744"/>
          </a:xfrm>
          <a:prstGeom prst="rect">
            <a:avLst/>
          </a:prstGeom>
          <a:noFill/>
          <a:ln/>
        </p:spPr>
        <p:txBody>
          <a:bodyPr wrap="square" lIns="0" tIns="0" rIns="0" bIns="0" rtlCol="0" anchor="ctr"/>
          <a:lstStyle/>
          <a:p>
            <a:pPr indent="0" marL="0">
              <a:buNone/>
            </a:pPr>
            <a:r>
              <a:rPr lang="en-US" sz="1000" b="1" spc="120" kern="0" dirty="0">
                <a:solidFill>
                  <a:srgbClr val="E07A5F"/>
                </a:solidFill>
                <a:latin typeface="Calibri" pitchFamily="34" charset="0"/>
                <a:ea typeface="Calibri" pitchFamily="34" charset="-122"/>
                <a:cs typeface="Calibri" pitchFamily="34" charset="-120"/>
              </a:rPr>
              <a:t>MEASUREMENT AND COMPUTER VISION</a:t>
            </a:r>
            <a:endParaRPr lang="en-US" sz="1000" dirty="0"/>
          </a:p>
        </p:txBody>
      </p:sp>
      <p:sp>
        <p:nvSpPr>
          <p:cNvPr id="9" name="Text 7"/>
          <p:cNvSpPr txBox="1"/>
          <p:nvPr/>
        </p:nvSpPr>
        <p:spPr>
          <a:xfrm>
            <a:off x="594360" y="4325112"/>
            <a:ext cx="11002975" cy="777240"/>
          </a:xfrm>
          <a:prstGeom prst="rect">
            <a:avLst/>
          </a:prstGeom>
          <a:noFill/>
          <a:ln/>
        </p:spPr>
        <p:txBody>
          <a:bodyPr wrap="square" lIns="0" tIns="0" rIns="0" bIns="0" rtlCol="0" anchor="t"/>
          <a:lstStyle/>
          <a:p>
            <a:pPr indent="0" marL="0">
              <a:lnSpc>
                <a:spcPct val="110000"/>
              </a:lnSpc>
              <a:buNone/>
            </a:pPr>
            <a:r>
              <a:rPr lang="en-US" sz="1200" dirty="0">
                <a:solidFill>
                  <a:srgbClr val="2E4057"/>
                </a:solidFill>
                <a:latin typeface="Calibri" pitchFamily="34" charset="0"/>
                <a:ea typeface="Calibri" pitchFamily="34" charset="-122"/>
                <a:cs typeface="Calibri" pitchFamily="34" charset="-120"/>
              </a:rPr>
              <a:t>Ekman &amp; Friesen (1978), FACS · Benitez-Quiroz et al. (2016), EmotioNet · Benitez-Quiroz et al. (2017), the EmotioNet Challenge · Martinez (2017) on automated facial action detection</a:t>
            </a:r>
            <a:endParaRPr lang="en-US" sz="1200" dirty="0"/>
          </a:p>
        </p:txBody>
      </p:sp>
      <p:sp>
        <p:nvSpPr>
          <p:cNvPr id="10" name="Text 8"/>
          <p:cNvSpPr txBox="1"/>
          <p:nvPr/>
        </p:nvSpPr>
        <p:spPr>
          <a:xfrm>
            <a:off x="594360" y="5212080"/>
            <a:ext cx="11002975" cy="237744"/>
          </a:xfrm>
          <a:prstGeom prst="rect">
            <a:avLst/>
          </a:prstGeom>
          <a:noFill/>
          <a:ln/>
        </p:spPr>
        <p:txBody>
          <a:bodyPr wrap="square" lIns="0" tIns="0" rIns="0" bIns="0" rtlCol="0" anchor="ctr"/>
          <a:lstStyle/>
          <a:p>
            <a:pPr indent="0" marL="0">
              <a:buNone/>
            </a:pPr>
            <a:r>
              <a:rPr lang="en-US" sz="1000" b="1" spc="120" kern="0" dirty="0">
                <a:solidFill>
                  <a:srgbClr val="E07A5F"/>
                </a:solidFill>
                <a:latin typeface="Calibri" pitchFamily="34" charset="0"/>
                <a:ea typeface="Calibri" pitchFamily="34" charset="-122"/>
                <a:cs typeface="Calibri" pitchFamily="34" charset="-120"/>
              </a:rPr>
              <a:t>THE OTHER SIDE OF THE ARGUMENT</a:t>
            </a:r>
            <a:endParaRPr lang="en-US" sz="1000" dirty="0"/>
          </a:p>
        </p:txBody>
      </p:sp>
      <p:sp>
        <p:nvSpPr>
          <p:cNvPr id="11" name="Text 9"/>
          <p:cNvSpPr txBox="1"/>
          <p:nvPr/>
        </p:nvSpPr>
        <p:spPr>
          <a:xfrm>
            <a:off x="594360" y="5468112"/>
            <a:ext cx="11002975" cy="777240"/>
          </a:xfrm>
          <a:prstGeom prst="rect">
            <a:avLst/>
          </a:prstGeom>
          <a:noFill/>
          <a:ln/>
        </p:spPr>
        <p:txBody>
          <a:bodyPr wrap="square" lIns="0" tIns="0" rIns="0" bIns="0" rtlCol="0" anchor="t"/>
          <a:lstStyle/>
          <a:p>
            <a:pPr indent="0" marL="0">
              <a:lnSpc>
                <a:spcPct val="110000"/>
              </a:lnSpc>
              <a:buNone/>
            </a:pPr>
            <a:r>
              <a:rPr lang="en-US" sz="1200" dirty="0">
                <a:solidFill>
                  <a:srgbClr val="2E4057"/>
                </a:solidFill>
                <a:latin typeface="Calibri" pitchFamily="34" charset="0"/>
                <a:ea typeface="Calibri" pitchFamily="34" charset="-122"/>
                <a:cs typeface="Calibri" pitchFamily="34" charset="-120"/>
              </a:rPr>
              <a:t>Haidt &amp; Keltner (1999) on the criteria adopted here · Ekman &amp; Cordaro (2011) and Keltner &amp; Cordaro (2017) on the basic emotion position · the peer commentaries published alongside this article in the same PSPI issue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Emotional Expressions Reconsidered</dc:title>
  <dc:subject>PptxGenJS Presentation</dc:subject>
  <dc:creator>Seminar in Affective Computing</dc:creator>
  <cp:lastModifiedBy>Seminar in Affective Computing</cp:lastModifiedBy>
  <cp:revision>1</cp:revision>
  <dcterms:created xsi:type="dcterms:W3CDTF">2026-08-30T12:26:14Z</dcterms:created>
  <dcterms:modified xsi:type="dcterms:W3CDTF">2026-08-30T12:26:14Z</dcterms:modified>
</cp:coreProperties>
</file>