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4.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81"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varScale="1">
        <p:scale>
          <a:sx n="95" d="100"/>
          <a:sy n="95" d="100"/>
        </p:scale>
        <p:origin x="200"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464"/>
                </a:solidFill>
                <a:latin typeface="Calibri"/>
              </a:defRPr>
            </a:pPr>
            <a:r>
              <a:rPr lang="en-US" sz="1200" b="0" i="0" u="none" strike="noStrike">
                <a:solidFill>
                  <a:srgbClr val="6E5464"/>
                </a:solidFill>
                <a:latin typeface="Calibri"/>
              </a:rPr>
              <a:t>Fifteen further tasks have under 1,000 hours each</a:t>
            </a:r>
          </a:p>
        </c:rich>
      </c:tx>
      <c:overlay val="0"/>
    </c:title>
    <c:autoTitleDeleted val="0"/>
    <c:plotArea>
      <c:layout/>
      <c:barChart>
        <c:barDir val="bar"/>
        <c:grouping val="clustered"/>
        <c:varyColors val="0"/>
        <c:ser>
          <c:idx val="0"/>
          <c:order val="0"/>
          <c:tx>
            <c:strRef>
              <c:f>Sheet1!$B$1</c:f>
              <c:strCache>
                <c:ptCount val="1"/>
                <c:pt idx="0">
                  <c:v>Hours of training audio</c:v>
                </c:pt>
              </c:strCache>
            </c:strRef>
          </c:tx>
          <c:spPr>
            <a:solidFill>
              <a:srgbClr val="8A3F6B"/>
            </a:solidFill>
            <a:effectLst/>
          </c:spPr>
          <c:invertIfNegative val="0"/>
          <c:dLbls>
            <c:numFmt formatCode="#,##0" sourceLinked="0"/>
            <c:spPr>
              <a:noFill/>
              <a:ln>
                <a:noFill/>
              </a:ln>
              <a:effectLst/>
            </c:spPr>
            <c:txPr>
              <a:bodyPr/>
              <a:lstStyle/>
              <a:p>
                <a:pPr>
                  <a:defRPr sz="900" b="0" i="0" u="none" strike="noStrike">
                    <a:solidFill>
                      <a:srgbClr val="3824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ASR</c:v>
                </c:pt>
                <c:pt idx="1">
                  <c:v>Music caption</c:v>
                </c:pt>
                <c:pt idx="2">
                  <c:v>SRWT (Mandarin)</c:v>
                </c:pt>
                <c:pt idx="3">
                  <c:v>Spoken LID</c:v>
                </c:pt>
                <c:pt idx="4">
                  <c:v>SRWT (English)</c:v>
                </c:pt>
                <c:pt idx="5">
                  <c:v>Music genre</c:v>
                </c:pt>
                <c:pt idx="6">
                  <c:v>Audio caption</c:v>
                </c:pt>
                <c:pt idx="7">
                  <c:v>Sound event class.</c:v>
                </c:pt>
                <c:pt idx="8">
                  <c:v>Speaker gender</c:v>
                </c:pt>
                <c:pt idx="9">
                  <c:v>Speaker age</c:v>
                </c:pt>
                <c:pt idx="10">
                  <c:v>Speech translation</c:v>
                </c:pt>
                <c:pt idx="11">
                  <c:v>Dialect ASR</c:v>
                </c:pt>
                <c:pt idx="12">
                  <c:v>Speaker verification</c:v>
                </c:pt>
              </c:strCache>
            </c:strRef>
          </c:cat>
          <c:val>
            <c:numRef>
              <c:f>Sheet1!$B$2:$B$14</c:f>
              <c:numCache>
                <c:formatCode>General</c:formatCode>
                <c:ptCount val="13"/>
                <c:pt idx="0">
                  <c:v>30000</c:v>
                </c:pt>
                <c:pt idx="1">
                  <c:v>25000</c:v>
                </c:pt>
                <c:pt idx="2">
                  <c:v>11000</c:v>
                </c:pt>
                <c:pt idx="3">
                  <c:v>11700</c:v>
                </c:pt>
                <c:pt idx="4">
                  <c:v>10000</c:v>
                </c:pt>
                <c:pt idx="5">
                  <c:v>9500</c:v>
                </c:pt>
                <c:pt idx="6">
                  <c:v>8400</c:v>
                </c:pt>
                <c:pt idx="7">
                  <c:v>5400</c:v>
                </c:pt>
                <c:pt idx="8">
                  <c:v>4800</c:v>
                </c:pt>
                <c:pt idx="9">
                  <c:v>4800</c:v>
                </c:pt>
                <c:pt idx="10">
                  <c:v>3700</c:v>
                </c:pt>
                <c:pt idx="11">
                  <c:v>2000</c:v>
                </c:pt>
                <c:pt idx="12">
                  <c:v>1200</c:v>
                </c:pt>
              </c:numCache>
            </c:numRef>
          </c:val>
          <c:extLst>
            <c:ext xmlns:c16="http://schemas.microsoft.com/office/drawing/2014/chart" uri="{C3380CC4-5D6E-409C-BE32-E72D297353CC}">
              <c16:uniqueId val="{00000000-3EF0-6E43-81B8-EF3FDA7077E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6E546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F0E6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E546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464"/>
                </a:solidFill>
                <a:latin typeface="Calibri"/>
              </a:defRPr>
            </a:pPr>
            <a:r>
              <a:rPr sz="1200" b="0" i="0" u="none" strike="noStrike">
                <a:solidFill>
                  <a:srgbClr val="6E5464"/>
                </a:solidFill>
                <a:latin typeface="Calibri"/>
              </a:rPr>
              <a:t>Lower is better for WER; higher is better for BLEU</a:t>
            </a:r>
          </a:p>
        </c:rich>
      </c:tx>
      <c:overlay val="0"/>
    </c:title>
    <c:autoTitleDeleted val="0"/>
    <c:plotArea>
      <c:layout/>
      <c:barChart>
        <c:barDir val="col"/>
        <c:grouping val="clustered"/>
        <c:varyColors val="0"/>
        <c:ser>
          <c:idx val="0"/>
          <c:order val="0"/>
          <c:tx>
            <c:strRef>
              <c:f>Sheet1!$B$1</c:f>
              <c:strCache>
                <c:ptCount val="1"/>
                <c:pt idx="0">
                  <c:v>Qwen-Audio</c:v>
                </c:pt>
              </c:strCache>
            </c:strRef>
          </c:tx>
          <c:spPr>
            <a:solidFill>
              <a:srgbClr val="8A3F6B"/>
            </a:solidFill>
            <a:effectLst/>
          </c:spPr>
          <c:invertIfNegative val="0"/>
          <c:dLbls>
            <c:numFmt formatCode="0.0" sourceLinked="0"/>
            <c:spPr>
              <a:noFill/>
              <a:ln>
                <a:noFill/>
              </a:ln>
              <a:effectLst/>
            </c:spPr>
            <c:txPr>
              <a:bodyPr/>
              <a:lstStyle/>
              <a:p>
                <a:pPr>
                  <a:defRPr sz="1000" b="0" i="0" u="none" strike="noStrike">
                    <a:solidFill>
                      <a:srgbClr val="3824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LibriSpeech
test-clean (WER)</c:v>
                </c:pt>
                <c:pt idx="1">
                  <c:v>LibriSpeech
test-other (WER)</c:v>
                </c:pt>
                <c:pt idx="2">
                  <c:v>AISHELL-1
test (WER)</c:v>
                </c:pt>
                <c:pt idx="3">
                  <c:v>CoVoST2 en-de
(BLEU)</c:v>
                </c:pt>
                <c:pt idx="4">
                  <c:v>CoVoST2 en-zh
(BLEU)</c:v>
                </c:pt>
              </c:strCache>
            </c:strRef>
          </c:cat>
          <c:val>
            <c:numRef>
              <c:f>Sheet1!$B$2:$B$6</c:f>
              <c:numCache>
                <c:formatCode>General</c:formatCode>
                <c:ptCount val="5"/>
                <c:pt idx="0">
                  <c:v>2</c:v>
                </c:pt>
                <c:pt idx="1">
                  <c:v>4.2</c:v>
                </c:pt>
                <c:pt idx="2">
                  <c:v>1.3</c:v>
                </c:pt>
                <c:pt idx="3">
                  <c:v>25.1</c:v>
                </c:pt>
                <c:pt idx="4">
                  <c:v>41.5</c:v>
                </c:pt>
              </c:numCache>
            </c:numRef>
          </c:val>
          <c:extLst>
            <c:ext xmlns:c16="http://schemas.microsoft.com/office/drawing/2014/chart" uri="{C3380CC4-5D6E-409C-BE32-E72D297353CC}">
              <c16:uniqueId val="{00000000-1B92-9B4D-A073-5B0BE876ABC8}"/>
            </c:ext>
          </c:extLst>
        </c:ser>
        <c:ser>
          <c:idx val="1"/>
          <c:order val="1"/>
          <c:tx>
            <c:strRef>
              <c:f>Sheet1!$C$1</c:f>
              <c:strCache>
                <c:ptCount val="1"/>
                <c:pt idx="0">
                  <c:v>Best prior reported</c:v>
                </c:pt>
              </c:strCache>
            </c:strRef>
          </c:tx>
          <c:spPr>
            <a:solidFill>
              <a:srgbClr val="C2A0B5"/>
            </a:solidFill>
            <a:effectLst/>
          </c:spPr>
          <c:invertIfNegative val="0"/>
          <c:dLbls>
            <c:numFmt formatCode="0.0" sourceLinked="0"/>
            <c:spPr>
              <a:noFill/>
              <a:ln>
                <a:noFill/>
              </a:ln>
              <a:effectLst/>
            </c:spPr>
            <c:txPr>
              <a:bodyPr/>
              <a:lstStyle/>
              <a:p>
                <a:pPr>
                  <a:defRPr sz="1000" b="0" i="0" u="none" strike="noStrike">
                    <a:solidFill>
                      <a:srgbClr val="3824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LibriSpeech
test-clean (WER)</c:v>
                </c:pt>
                <c:pt idx="1">
                  <c:v>LibriSpeech
test-other (WER)</c:v>
                </c:pt>
                <c:pt idx="2">
                  <c:v>AISHELL-1
test (WER)</c:v>
                </c:pt>
                <c:pt idx="3">
                  <c:v>CoVoST2 en-de
(BLEU)</c:v>
                </c:pt>
                <c:pt idx="4">
                  <c:v>CoVoST2 en-zh
(BLEU)</c:v>
                </c:pt>
              </c:strCache>
            </c:strRef>
          </c:cat>
          <c:val>
            <c:numRef>
              <c:f>Sheet1!$C$2:$C$6</c:f>
              <c:numCache>
                <c:formatCode>General</c:formatCode>
                <c:ptCount val="5"/>
                <c:pt idx="0">
                  <c:v>2.1</c:v>
                </c:pt>
                <c:pt idx="1">
                  <c:v>4.9000000000000004</c:v>
                </c:pt>
                <c:pt idx="2">
                  <c:v>1.9</c:v>
                </c:pt>
                <c:pt idx="3">
                  <c:v>18.600000000000001</c:v>
                </c:pt>
                <c:pt idx="4">
                  <c:v>33.1</c:v>
                </c:pt>
              </c:numCache>
            </c:numRef>
          </c:val>
          <c:extLst>
            <c:ext xmlns:c16="http://schemas.microsoft.com/office/drawing/2014/chart" uri="{C3380CC4-5D6E-409C-BE32-E72D297353CC}">
              <c16:uniqueId val="{00000001-1B92-9B4D-A073-5B0BE876ABC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546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F0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46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E5464"/>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464"/>
                </a:solidFill>
                <a:latin typeface="Calibri"/>
              </a:defRPr>
            </a:pPr>
            <a:r>
              <a:rPr sz="1200" b="0" i="0" u="none" strike="noStrike">
                <a:solidFill>
                  <a:srgbClr val="6E5464"/>
                </a:solidFill>
                <a:latin typeface="Calibri"/>
              </a:rPr>
              <a:t>Higher is better throughout; priors are Pengi except CochlScene</a:t>
            </a:r>
          </a:p>
        </c:rich>
      </c:tx>
      <c:overlay val="0"/>
    </c:title>
    <c:autoTitleDeleted val="0"/>
    <c:plotArea>
      <c:layout/>
      <c:barChart>
        <c:barDir val="col"/>
        <c:grouping val="clustered"/>
        <c:varyColors val="0"/>
        <c:ser>
          <c:idx val="0"/>
          <c:order val="0"/>
          <c:tx>
            <c:strRef>
              <c:f>Sheet1!$B$1</c:f>
              <c:strCache>
                <c:ptCount val="1"/>
                <c:pt idx="0">
                  <c:v>Prior best</c:v>
                </c:pt>
              </c:strCache>
            </c:strRef>
          </c:tx>
          <c:spPr>
            <a:solidFill>
              <a:srgbClr val="C2A0B5"/>
            </a:solidFill>
            <a:effectLst/>
          </c:spPr>
          <c:invertIfNegative val="0"/>
          <c:dLbls>
            <c:numFmt formatCode="0.00" sourceLinked="0"/>
            <c:spPr>
              <a:noFill/>
              <a:ln>
                <a:noFill/>
              </a:ln>
              <a:effectLst/>
            </c:spPr>
            <c:txPr>
              <a:bodyPr/>
              <a:lstStyle/>
              <a:p>
                <a:pPr>
                  <a:defRPr sz="850" b="0" i="0" u="none" strike="noStrike">
                    <a:solidFill>
                      <a:srgbClr val="3824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CochlScene
(acc)</c:v>
                </c:pt>
                <c:pt idx="1">
                  <c:v>TUT 2017
(acc)</c:v>
                </c:pt>
                <c:pt idx="2">
                  <c:v>VocalSound
(acc)</c:v>
                </c:pt>
                <c:pt idx="3">
                  <c:v>ClothoAQA
binary (acc)</c:v>
                </c:pt>
                <c:pt idx="4">
                  <c:v>NSynth instrument
(acc)</c:v>
                </c:pt>
                <c:pt idx="5">
                  <c:v>NSynth qualities
(mAP)</c:v>
                </c:pt>
                <c:pt idx="6">
                  <c:v>Clotho caption
(SPIDEr)</c:v>
                </c:pt>
              </c:strCache>
            </c:strRef>
          </c:cat>
          <c:val>
            <c:numRef>
              <c:f>Sheet1!$B$2:$B$8</c:f>
              <c:numCache>
                <c:formatCode>General</c:formatCode>
                <c:ptCount val="7"/>
                <c:pt idx="0">
                  <c:v>0.66900000000000004</c:v>
                </c:pt>
                <c:pt idx="1">
                  <c:v>0.35299999999999998</c:v>
                </c:pt>
                <c:pt idx="2">
                  <c:v>0.60350000000000004</c:v>
                </c:pt>
                <c:pt idx="3">
                  <c:v>0.64500000000000002</c:v>
                </c:pt>
                <c:pt idx="4">
                  <c:v>0.50070000000000003</c:v>
                </c:pt>
                <c:pt idx="5">
                  <c:v>0.38600000000000001</c:v>
                </c:pt>
                <c:pt idx="6">
                  <c:v>0.27100000000000002</c:v>
                </c:pt>
              </c:numCache>
            </c:numRef>
          </c:val>
          <c:extLst>
            <c:ext xmlns:c16="http://schemas.microsoft.com/office/drawing/2014/chart" uri="{C3380CC4-5D6E-409C-BE32-E72D297353CC}">
              <c16:uniqueId val="{00000000-94F7-BD46-91DE-44EE1697A145}"/>
            </c:ext>
          </c:extLst>
        </c:ser>
        <c:ser>
          <c:idx val="1"/>
          <c:order val="1"/>
          <c:tx>
            <c:strRef>
              <c:f>Sheet1!$C$1</c:f>
              <c:strCache>
                <c:ptCount val="1"/>
                <c:pt idx="0">
                  <c:v>Qwen-Audio</c:v>
                </c:pt>
              </c:strCache>
            </c:strRef>
          </c:tx>
          <c:spPr>
            <a:solidFill>
              <a:srgbClr val="8A3F6B"/>
            </a:solidFill>
            <a:effectLst/>
          </c:spPr>
          <c:invertIfNegative val="0"/>
          <c:dLbls>
            <c:numFmt formatCode="0.00" sourceLinked="0"/>
            <c:spPr>
              <a:noFill/>
              <a:ln>
                <a:noFill/>
              </a:ln>
              <a:effectLst/>
            </c:spPr>
            <c:txPr>
              <a:bodyPr/>
              <a:lstStyle/>
              <a:p>
                <a:pPr>
                  <a:defRPr sz="850" b="0" i="0" u="none" strike="noStrike">
                    <a:solidFill>
                      <a:srgbClr val="3824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CochlScene
(acc)</c:v>
                </c:pt>
                <c:pt idx="1">
                  <c:v>TUT 2017
(acc)</c:v>
                </c:pt>
                <c:pt idx="2">
                  <c:v>VocalSound
(acc)</c:v>
                </c:pt>
                <c:pt idx="3">
                  <c:v>ClothoAQA
binary (acc)</c:v>
                </c:pt>
                <c:pt idx="4">
                  <c:v>NSynth instrument
(acc)</c:v>
                </c:pt>
                <c:pt idx="5">
                  <c:v>NSynth qualities
(mAP)</c:v>
                </c:pt>
                <c:pt idx="6">
                  <c:v>Clotho caption
(SPIDEr)</c:v>
                </c:pt>
              </c:strCache>
            </c:strRef>
          </c:cat>
          <c:val>
            <c:numRef>
              <c:f>Sheet1!$C$2:$C$8</c:f>
              <c:numCache>
                <c:formatCode>General</c:formatCode>
                <c:ptCount val="7"/>
                <c:pt idx="0">
                  <c:v>0.79500000000000004</c:v>
                </c:pt>
                <c:pt idx="1">
                  <c:v>0.64900000000000002</c:v>
                </c:pt>
                <c:pt idx="2">
                  <c:v>0.92889999999999995</c:v>
                </c:pt>
                <c:pt idx="3">
                  <c:v>0.749</c:v>
                </c:pt>
                <c:pt idx="4">
                  <c:v>0.78820000000000001</c:v>
                </c:pt>
                <c:pt idx="5">
                  <c:v>0.47420000000000001</c:v>
                </c:pt>
                <c:pt idx="6">
                  <c:v>0.28799999999999998</c:v>
                </c:pt>
              </c:numCache>
            </c:numRef>
          </c:val>
          <c:extLst>
            <c:ext xmlns:c16="http://schemas.microsoft.com/office/drawing/2014/chart" uri="{C3380CC4-5D6E-409C-BE32-E72D297353CC}">
              <c16:uniqueId val="{00000001-94F7-BD46-91DE-44EE1697A14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6E546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F0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46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E5464"/>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E5464"/>
                </a:solidFill>
                <a:latin typeface="Calibri"/>
              </a:defRPr>
            </a:pPr>
            <a:r>
              <a:rPr sz="1200" b="0" i="0" u="none" strike="noStrike">
                <a:solidFill>
                  <a:srgbClr val="6E5464"/>
                </a:solidFill>
                <a:latin typeface="Calibri"/>
              </a:rPr>
              <a:t>Same audio data in both conditions — only the task is removed</a:t>
            </a:r>
          </a:p>
        </c:rich>
      </c:tx>
      <c:overlay val="0"/>
    </c:title>
    <c:autoTitleDeleted val="0"/>
    <c:plotArea>
      <c:layout/>
      <c:barChart>
        <c:barDir val="col"/>
        <c:grouping val="clustered"/>
        <c:varyColors val="0"/>
        <c:ser>
          <c:idx val="0"/>
          <c:order val="0"/>
          <c:tx>
            <c:strRef>
              <c:f>Sheet1!$B$1</c:f>
              <c:strCache>
                <c:ptCount val="1"/>
                <c:pt idx="0">
                  <c:v>Without SRWT</c:v>
                </c:pt>
              </c:strCache>
            </c:strRef>
          </c:tx>
          <c:spPr>
            <a:solidFill>
              <a:srgbClr val="C2A0B5"/>
            </a:solidFill>
            <a:effectLst/>
          </c:spPr>
          <c:invertIfNegative val="0"/>
          <c:dLbls>
            <c:numFmt formatCode="0.00" sourceLinked="0"/>
            <c:spPr>
              <a:noFill/>
              <a:ln>
                <a:noFill/>
              </a:ln>
              <a:effectLst/>
            </c:spPr>
            <c:txPr>
              <a:bodyPr/>
              <a:lstStyle/>
              <a:p>
                <a:pPr>
                  <a:defRPr sz="1000" b="0" i="0" u="none" strike="noStrike">
                    <a:solidFill>
                      <a:srgbClr val="3824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LibriSpeech
test-clean (WER ↓)</c:v>
                </c:pt>
                <c:pt idx="1">
                  <c:v>AISHELL-1
test (WER ↓)</c:v>
                </c:pt>
                <c:pt idx="2">
                  <c:v>ClothoAQA
test (acc ↑)</c:v>
                </c:pt>
                <c:pt idx="3">
                  <c:v>MusicAVQA
audio (acc ↑)</c:v>
                </c:pt>
              </c:strCache>
            </c:strRef>
          </c:cat>
          <c:val>
            <c:numRef>
              <c:f>Sheet1!$B$2:$B$5</c:f>
              <c:numCache>
                <c:formatCode>General</c:formatCode>
                <c:ptCount val="4"/>
                <c:pt idx="0">
                  <c:v>2.2200000000000002</c:v>
                </c:pt>
                <c:pt idx="1">
                  <c:v>1.71</c:v>
                </c:pt>
                <c:pt idx="2">
                  <c:v>0.56479999999999997</c:v>
                </c:pt>
                <c:pt idx="3">
                  <c:v>0.70269999999999999</c:v>
                </c:pt>
              </c:numCache>
            </c:numRef>
          </c:val>
          <c:extLst>
            <c:ext xmlns:c16="http://schemas.microsoft.com/office/drawing/2014/chart" uri="{C3380CC4-5D6E-409C-BE32-E72D297353CC}">
              <c16:uniqueId val="{00000000-FBD1-3848-8FB7-2C762DA406CB}"/>
            </c:ext>
          </c:extLst>
        </c:ser>
        <c:ser>
          <c:idx val="1"/>
          <c:order val="1"/>
          <c:tx>
            <c:strRef>
              <c:f>Sheet1!$C$1</c:f>
              <c:strCache>
                <c:ptCount val="1"/>
                <c:pt idx="0">
                  <c:v>With SRWT</c:v>
                </c:pt>
              </c:strCache>
            </c:strRef>
          </c:tx>
          <c:spPr>
            <a:solidFill>
              <a:srgbClr val="3FA88A"/>
            </a:solidFill>
            <a:effectLst/>
          </c:spPr>
          <c:invertIfNegative val="0"/>
          <c:dLbls>
            <c:numFmt formatCode="0.00" sourceLinked="0"/>
            <c:spPr>
              <a:noFill/>
              <a:ln>
                <a:noFill/>
              </a:ln>
              <a:effectLst/>
            </c:spPr>
            <c:txPr>
              <a:bodyPr/>
              <a:lstStyle/>
              <a:p>
                <a:pPr>
                  <a:defRPr sz="1000" b="0" i="0" u="none" strike="noStrike">
                    <a:solidFill>
                      <a:srgbClr val="38242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LibriSpeech
test-clean (WER ↓)</c:v>
                </c:pt>
                <c:pt idx="1">
                  <c:v>AISHELL-1
test (WER ↓)</c:v>
                </c:pt>
                <c:pt idx="2">
                  <c:v>ClothoAQA
test (acc ↑)</c:v>
                </c:pt>
                <c:pt idx="3">
                  <c:v>MusicAVQA
audio (acc ↑)</c:v>
                </c:pt>
              </c:strCache>
            </c:strRef>
          </c:cat>
          <c:val>
            <c:numRef>
              <c:f>Sheet1!$C$2:$C$5</c:f>
              <c:numCache>
                <c:formatCode>General</c:formatCode>
                <c:ptCount val="4"/>
                <c:pt idx="0">
                  <c:v>2.04</c:v>
                </c:pt>
                <c:pt idx="1">
                  <c:v>1.29</c:v>
                </c:pt>
                <c:pt idx="2">
                  <c:v>0.57950000000000002</c:v>
                </c:pt>
                <c:pt idx="3">
                  <c:v>0.72109999999999996</c:v>
                </c:pt>
              </c:numCache>
            </c:numRef>
          </c:val>
          <c:extLst>
            <c:ext xmlns:c16="http://schemas.microsoft.com/office/drawing/2014/chart" uri="{C3380CC4-5D6E-409C-BE32-E72D297353CC}">
              <c16:uniqueId val="{00000001-FBD1-3848-8FB7-2C762DA406C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546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F0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546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E5464"/>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1924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Opening.
Frame the session against the previous one. Pengi and SALMONN both attached an audio encoder to a language model; today's two papers take that architecture as settled and ask different questions about how to train it.
Qwen-Audio asks: how do you co-train thirty-plus heterogeneous audio tasks without them interfering with each other? Its answer is a tag vocabulary. LTU after the break asks: how do you get a model to reason about audio rather than pattern-match? Its answer is five million generated questions and a curriculum.
Perception breadth against understanding depth — that is the axis for the session.
Note this is an arXiv technical report rather than a peer-reviewed paper, which shapes what it does and does not include.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Stakes.
The dark card is the framing that makes the paper worth reading alongside SALMONN. Both are about interference, but between different things. SALMONN's task over-fitting is interference between the audio-conditioned distribution and the language model's priors. Qwen-Audio's one-to-many problem is interference among the audio tasks themselves.
The 2.0/4.2 WER figure is worth flagging: that beats SALMONN's 2.1/4.9 and is roughly level with Whisper-large-v2 itself, which is the encoder it starts from. A single model doing that while also doing music note analysis is the real headline.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[4:10–6:20] The one-to-many problem.
The first card is the cleanest illustration and worth making concrete: take one five-second clip of a woman speaking German. Depending on which dataset it came from, the correct output is a German transcript, or the word 'German', or 'female', or 'angry', or a speaker ID. All from the same audio.
Without a signal saying which task is wanted, gradient descent has to average over the possibilities, and the model learns a blend of none of them.
This is not a new observation — it is why Whisper has task tokens — but Whisper only had to distinguish transcription from translation. Thirty-plus tasks across four audio types is a harder version of the same problem.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[6:20–8:20] Prior solutions.
The dataset-ID row is the important contrast and the one to develop. It is what Pengi effectively did with its eight templates and what several other systems did. It works, and it throws away the reason you were co-training in the first place.
Make the trade explicit: a flat identifier gives you maximal separation and zero sharing; no identifier gives you maximal sharing and total interference. A hierarchy lets you choose where on that spectrum each axis sits.
Whisper is the direct ancestor and the paper says so. The contribution here is generalising the idea from two speech tasks to thirty tasks across four audio types.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[8:20–8:30]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[8:30–11:00] The tags. Protect this slide — it is the contribution.
Walk the sequence and make the hierarchy visible. Every ASR task in every language shares tag 1. Every English task shares tag 2. Every captioning task shares tag 3. So two Mandarin ASR datasets share almost the entire prefix and benefit from each other, while Mandarin ASR and music note analysis diverge at the very first token.
That is the difference from a dataset ID: sharing is graded rather than all-or-nothing, and the gradation is chosen by the axis rather than by the dataset.
The &lt;|unknown|&gt; value for tag 2 is a nice detail: music and natural sound have no spoken language, so the model is trained to predict that explicitly rather than guess.
Tag 6 is where the framework becomes soft — free-text output instructions are how the remaining task variety gets specified, which means the boundary between tags and prompts is not sharp.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[11:00–13:00] SRWT.
This is the paper's second contribution and, because it is the one that gets ablated, arguably the better-supported one.
The grounding argument in the second card is worth unpacking. If a model can say when a word occurs, it has learned a much tighter alignment between audio frames and output tokens than transcription alone requires. The authors' hypothesis is that this alignment ability transfers to non-speech audio.
That is a real hypothesis with a testable prediction, and it connects to something we saw in the HuBERT session: auxiliary tasks that force finer-grained alignment tend to improve everything downstream. Flag the ablation coming in section 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[13:00–13:10]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[13:10–15:20] Architecture.
The fourth bullet is the comparison that matters. SALMONN needed a window-level Q-Former and LoRA because it froze almost everything. Pengi needed two mapping networks. Qwen-Audio has neither, because it trains the full encoder in stage one and the full LLM in stage two.
That is a much heavier training job, and it is only available to a group with Alibaba's compute. But it removes a whole class of design decisions — no connection module means no Q-Former window size, no query count, no prefix length.
The Whisper rationale in the last bullet is the same argument SALMONN made for its Whisper encoder, and both cite the same Whisper-AT work showing Whisper features carry background noise information.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[15:20–17:30] The data mix.
This chart is assembled from the paper's Table 1, which lists hours per task but gives no total. Say so — the reconstruction is ours.
The third bullet is the cross-paper point and the most useful thing on the slide. SALMONN showed that tasks with deterministic outputs bias the intrinsic conditional language model. Qwen-Audio's mix is about half transcription by volume, which is a stronger version of the same condition — and unlike SALMONN, there is no activation-tuning stage to counteract it.
The dark card sets up the emotion result in section 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[17:30–19:30] Training.
The alternating freeze is genuinely unusual and worth drawing attention to, because every other model in this session and the last uses a frozen LLM with a small trainable bridge.
Here the bridge is the encoder itself: a 640-million-parameter Whisper encoder is asked to produce representations that a frozen Qwen-7B can read, and 500,000 steps is a lot of opportunity to learn that.
Then stage 2 does the thing LTU's ablation showed is dangerous — full fine-tuning of the language model — but on twenty thousand samples at a low learning rate. We have no measurement of whether language ability degraded, because the chat model is never evaluated quantitatively. That is a real gap and we return to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5D566-53E7-5F4B-E768-C45D29DAB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FA697-4728-9BAE-8DCE-3D7DE0F31C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21DD-920A-FCF0-03B9-21084FCFA7A8}"/>
              </a:ext>
            </a:extLst>
          </p:cNvPr>
          <p:cNvSpPr>
            <a:spLocks noGrp="1"/>
          </p:cNvSpPr>
          <p:nvPr>
            <p:ph type="body" idx="1"/>
          </p:nvPr>
        </p:nvSpPr>
        <p:spPr/>
        <p:txBody>
          <a:bodyPr/>
          <a:lstStyle/>
          <a:p>
            <a:r>
              <a:rPr lang="en-US" dirty="0"/>
              <a:t>[17:30–19:30] Training.
The alternating freeze is genuinely unusual and worth drawing attention to, because every other model in this session and the last uses a frozen LLM with a small trainable bridge.
Here the bridge is the encoder itself: a 640-million-parameter Whisper encoder is asked to produce representations that a frozen Qwen-7B can read, and 500,000 steps is a lot of opportunity to learn that.
Then stage 2 does the thing LTU's ablation showed is dangerous — full fine-tuning of the language model — but on twenty thousand samples at a low learning rate. We have no measurement of whether language ability degraded, because the chat model is never evaluated quantitatively. That is a real gap and we return to it.</a:t>
            </a:r>
          </a:p>
        </p:txBody>
      </p:sp>
      <p:sp>
        <p:nvSpPr>
          <p:cNvPr id="4" name="Slide Number Placeholder 3">
            <a:extLst>
              <a:ext uri="{FF2B5EF4-FFF2-40B4-BE49-F238E27FC236}">
                <a16:creationId xmlns:a16="http://schemas.microsoft.com/office/drawing/2014/main" id="{68021D6A-B38B-4E29-245D-66530C9F38D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77096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[19:30–19:40]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[19:40–22:00] Speech results.
The translation numbers are the most striking: 25.1 against SALMONN's 18.6 on English-to-German is not a marginal gain, it is a different class of result.
The timestamp comparison in the fourth bullet deserves a moment. A forced aligner is given the correct transcript and only has to place it in time; Qwen-Audio generates transcript and timestamps together and is still more accurate. That is a genuinely strong result and it validates the SRWT design.
Be careful with the phrase 'best prior reported' — these are the strongest numbers the paper could find, from different systems, not a controlled comparison.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[22:00–24:10] Sound and music.
The third bullet is the one worth dwelling on. Pengi's audio encoder was HTSAT, a sound-event transformer, trained on 3.4 million audio-text pairs. Qwen-Audio's is a Whisper encoder built for transcription. And the Whisper-based model is much better at classifying musical instruments.
Two readings, and it is worth putting both. One: task breadth in co-training transfers, so the music tasks in the mix teach the encoder things HTSAT never learned. Two: scale wins, and a 640-million-parameter encoder trained for 500,000 steps beats a smaller one regardless of what it started as.
The paper does not distinguish these, because the tag framework is never ablated.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[24:10–26:20] The emotion result.
Be careful and fair here. The paper is not doing anything unusual — MELD accuracy is the standard way this gets reported, and the WavLM comparison is like for like.
The point is what the reader can conclude, which is very little. We spent a session establishing that a weighted accuracy on MELD can hide near-chance performance on the minority emotions. Nothing here lets us rule that out.
Connect to the previous session for the pattern: Pengi's emotion was at chance zero-shot, SALMONN's was 0.69 against an 0.81 reference on five hours of IEMOCAP, and Qwen-Audio's is one number on MELD from under a thousand hours. Three large audio-language models, three thin emotion results. That is a field-level observation, not a criticism of this paper.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[26:20–28:40] The SRWT ablation.
Credit the design: because SRWT and ASR draw on the same audio, removing the task isolates the objective from the data. That is the right way to run this ablation and many papers would not have bothered.
The transfer result in the third bullet is the interesting one. Training a model to say when each word occurs makes it better at answering questions about music. The mechanism the authors propose is general audio signal grounding — a tighter frame-to-token alignment that is not specific to speech.
The dark card is the cross-paper connection worth making: HuBERT's masked-only prediction, wav2vec 2.0's quantisation bottleneck, and SRWT are all instances of adding difficulty to the training task and getting better representations out.
The fourth bullet is the criticism and it should be stated plainly.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[28:40–28:50] Section marker.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[28:50–31:00] The missing ablation. Protect this slide.
Deliver this as an observation about what the evidence supports, not as an accusation. The results are real and the system is impressive.
The point is a general one about reading technical reports from industrial labs: the incentive is to demonstrate a system, and demonstrating a system is a different activity from testing a hypothesis. This paper does the first very well.
Ask the room what they would run first if they had the compute. The flat-dataset-ID control is the cheapest and most informative, because it is exactly the alternative the paper argues against.
Worth noting: Qwen2-Audio, the follow-up, actually moved away from the tag framework toward natural language prompts — which is some evidence about how much the authors themselves valued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[31:00–33:20] Appraisal.
Give the strengths their due. The speech numbers are excellent and the breadth is real — this is the first model in our sessions that does state-of-the-art ASR and music analysis in one forward pass.
Among the limitations, the second is the one that would most concern a reviewer. Qwen-Audio-Chat is half the paper's title and contribution list, and its entire evaluation is a figure of examples. Compare SALMONN's fifteen tasks with following rates.
The last item is a fair framing rather than a complaint. Technical reports from industrial labs serve a different purpose, and reading them as if they were conference papers sets the wrong expectations in both directions.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[33:20–35:20] Legacy and bridge.
The first row is a genuinely useful piece of hindsight and worth stating: the successor abandoned the contribution. Natural-language prompts turned out to be a better interface than a tag vocabulary, which is the same lesson the NLP field learned between T5's task prefixes and instruction tuning.
The last row is the handoff. Every Qwen-Audio evaluation has a right answer from a fixed set — a transcript, a class, a BLEU-scored translation. Nothing asks the model to explain why, to infer what a sound implies, or to say that it does not know.
LTU is built entirely around those questions, with a language model a tenth the size.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[35:20–36:40] Take-aways.
Read these; they are written to be transcribed. Number three is the reading habit worth building, and it applies to a growing share of the literature as industrial technical reports become the dominant form in this area.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[36:40–45:00] Discussion.
Five prompts; take two. Question 4 is the one for this group and it is the running thread of the whole series — worth collecting the evidence on the board: Pengi at chance, SALMONN at 0.69 against 0.81, CLEP-DG's held-out sets in the low forties, and now one MELD number.
A good answer probably combines three things: emotion data is tiny in every training mix, the labels are noisy in ways we documented in the corpora sessions, and the evaluation protocols hide the failures behind weighted accuracy.
Question 1 is the cleanest methodological one and sets up LTU nicely, since LTU ablates its curriculum directly and finds a 27-point effect.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1E2E"/>
        </a:solidFill>
        <a:effectLst/>
      </p:bgPr>
    </p:bg>
    <p:spTree>
      <p:nvGrpSpPr>
        <p:cNvPr id="1" name=""/>
        <p:cNvGrpSpPr/>
        <p:nvPr/>
      </p:nvGrpSpPr>
      <p:grpSpPr>
        <a:xfrm>
          <a:off x="0" y="0"/>
          <a:ext cx="0" cy="0"/>
          <a:chOff x="0" y="0"/>
          <a:chExt cx="0" cy="0"/>
        </a:xfrm>
      </p:grpSpPr>
      <p:sp>
        <p:nvSpPr>
          <p:cNvPr id="2" name="Shape 0"/>
          <p:cNvSpPr/>
          <p:nvPr/>
        </p:nvSpPr>
        <p:spPr>
          <a:xfrm>
            <a:off x="868680" y="1051560"/>
            <a:ext cx="273406" cy="273406"/>
          </a:xfrm>
          <a:prstGeom prst="roundRect">
            <a:avLst>
              <a:gd name="adj" fmla="val 6689"/>
            </a:avLst>
          </a:prstGeom>
          <a:solidFill>
            <a:srgbClr val="E2C6D6"/>
          </a:solidFill>
          <a:ln w="12700">
            <a:solidFill>
              <a:srgbClr val="333333"/>
            </a:solidFill>
            <a:prstDash val="solid"/>
          </a:ln>
        </p:spPr>
        <p:txBody>
          <a:bodyPr/>
          <a:lstStyle/>
          <a:p>
            <a:endParaRPr lang="en-US"/>
          </a:p>
        </p:txBody>
      </p:sp>
      <p:sp>
        <p:nvSpPr>
          <p:cNvPr id="3" name="Shape 1"/>
          <p:cNvSpPr/>
          <p:nvPr/>
        </p:nvSpPr>
        <p:spPr>
          <a:xfrm>
            <a:off x="1225296" y="1336853"/>
            <a:ext cx="273406" cy="273406"/>
          </a:xfrm>
          <a:prstGeom prst="roundRect">
            <a:avLst>
              <a:gd name="adj" fmla="val 6689"/>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581912" y="1622146"/>
            <a:ext cx="273406" cy="273406"/>
          </a:xfrm>
          <a:prstGeom prst="roundRect">
            <a:avLst>
              <a:gd name="adj" fmla="val 6689"/>
            </a:avLst>
          </a:prstGeom>
          <a:solidFill>
            <a:srgbClr val="E2C6D6"/>
          </a:solidFill>
          <a:ln w="12700">
            <a:solidFill>
              <a:srgbClr val="333333"/>
            </a:solidFill>
            <a:prstDash val="solid"/>
          </a:ln>
        </p:spPr>
        <p:txBody>
          <a:bodyPr/>
          <a:lstStyle/>
          <a:p>
            <a:endParaRPr lang="en-US"/>
          </a:p>
        </p:txBody>
      </p:sp>
      <p:sp>
        <p:nvSpPr>
          <p:cNvPr id="5" name="Text 3"/>
          <p:cNvSpPr txBox="1"/>
          <p:nvPr/>
        </p:nvSpPr>
        <p:spPr>
          <a:xfrm>
            <a:off x="822960" y="1874520"/>
            <a:ext cx="10515600" cy="914400"/>
          </a:xfrm>
          <a:prstGeom prst="rect">
            <a:avLst/>
          </a:prstGeom>
          <a:noFill/>
          <a:ln/>
        </p:spPr>
        <p:txBody>
          <a:bodyPr wrap="square" lIns="0" tIns="0" rIns="0" bIns="0" rtlCol="0" anchor="ctr"/>
          <a:lstStyle/>
          <a:p>
            <a:pPr marL="0" indent="0">
              <a:buNone/>
            </a:pPr>
            <a:r>
              <a:rPr lang="en-US" sz="5000" b="1" kern="0" spc="100" dirty="0">
                <a:solidFill>
                  <a:srgbClr val="FFFFFF"/>
                </a:solidFill>
                <a:latin typeface="Cambria" pitchFamily="34" charset="0"/>
                <a:ea typeface="Cambria" pitchFamily="34" charset="-122"/>
                <a:cs typeface="Cambria" pitchFamily="34" charset="-120"/>
              </a:rPr>
              <a:t>Qwen-Audio</a:t>
            </a:r>
            <a:endParaRPr lang="en-US" sz="5000" dirty="0"/>
          </a:p>
        </p:txBody>
      </p:sp>
      <p:sp>
        <p:nvSpPr>
          <p:cNvPr id="6" name="Text 4"/>
          <p:cNvSpPr txBox="1"/>
          <p:nvPr/>
        </p:nvSpPr>
        <p:spPr>
          <a:xfrm>
            <a:off x="822960" y="2761488"/>
            <a:ext cx="10607040" cy="822960"/>
          </a:xfrm>
          <a:prstGeom prst="rect">
            <a:avLst/>
          </a:prstGeom>
          <a:noFill/>
          <a:ln/>
        </p:spPr>
        <p:txBody>
          <a:bodyPr wrap="square" lIns="0" tIns="0" rIns="0" bIns="0" rtlCol="0" anchor="ctr"/>
          <a:lstStyle/>
          <a:p>
            <a:pPr marL="0" indent="0">
              <a:lnSpc>
                <a:spcPct val="115000"/>
              </a:lnSpc>
              <a:buNone/>
            </a:pPr>
            <a:r>
              <a:rPr lang="en-US" sz="1800" i="1" dirty="0">
                <a:solidFill>
                  <a:srgbClr val="E2C6D6"/>
                </a:solidFill>
                <a:latin typeface="Cambria" pitchFamily="34" charset="0"/>
                <a:ea typeface="Cambria" pitchFamily="34" charset="-122"/>
                <a:cs typeface="Cambria" pitchFamily="34" charset="-120"/>
              </a:rPr>
              <a:t>Advancing Universal Audio Understanding via</a:t>
            </a:r>
            <a:endParaRPr lang="en-US" sz="1800" dirty="0"/>
          </a:p>
          <a:p>
            <a:pPr marL="0" indent="0">
              <a:lnSpc>
                <a:spcPct val="115000"/>
              </a:lnSpc>
              <a:buNone/>
            </a:pPr>
            <a:r>
              <a:rPr lang="en-US" sz="1800" i="1" dirty="0">
                <a:solidFill>
                  <a:srgbClr val="E2C6D6"/>
                </a:solidFill>
                <a:latin typeface="Cambria" pitchFamily="34" charset="0"/>
                <a:ea typeface="Cambria" pitchFamily="34" charset="-122"/>
                <a:cs typeface="Cambria" pitchFamily="34" charset="-120"/>
              </a:rPr>
              <a:t>Unified Large-Scale Audio-Language Models</a:t>
            </a:r>
            <a:endParaRPr lang="en-US" sz="1800" dirty="0"/>
          </a:p>
        </p:txBody>
      </p:sp>
      <p:sp>
        <p:nvSpPr>
          <p:cNvPr id="7" name="Text 5"/>
          <p:cNvSpPr txBox="1"/>
          <p:nvPr/>
        </p:nvSpPr>
        <p:spPr>
          <a:xfrm>
            <a:off x="859536" y="3767328"/>
            <a:ext cx="10241280" cy="1005840"/>
          </a:xfrm>
          <a:prstGeom prst="rect">
            <a:avLst/>
          </a:prstGeom>
          <a:noFill/>
          <a:ln/>
        </p:spPr>
        <p:txBody>
          <a:bodyPr wrap="square" lIns="0" tIns="0" rIns="0" bIns="0" rtlCol="0" anchor="ctr"/>
          <a:lstStyle/>
          <a:p>
            <a:pPr marL="0" indent="0">
              <a:lnSpc>
                <a:spcPct val="125000"/>
              </a:lnSpc>
              <a:buNone/>
            </a:pPr>
            <a:r>
              <a:rPr lang="en-US" sz="1300" dirty="0">
                <a:solidFill>
                  <a:srgbClr val="C4A5B7"/>
                </a:solidFill>
                <a:latin typeface="Calibri" pitchFamily="34" charset="0"/>
                <a:ea typeface="Calibri" pitchFamily="34" charset="-122"/>
                <a:cs typeface="Calibri" pitchFamily="34" charset="-120"/>
              </a:rPr>
              <a:t>Yunfei Chu, Jin Xu, Xiaohuan Zhou, Qian Yang, Shiliang Zhang,</a:t>
            </a:r>
            <a:endParaRPr lang="en-US" sz="1300" dirty="0"/>
          </a:p>
          <a:p>
            <a:pPr marL="0" indent="0">
              <a:lnSpc>
                <a:spcPct val="125000"/>
              </a:lnSpc>
              <a:buNone/>
            </a:pPr>
            <a:r>
              <a:rPr lang="en-US" sz="1300" dirty="0">
                <a:solidFill>
                  <a:srgbClr val="C4A5B7"/>
                </a:solidFill>
                <a:latin typeface="Calibri" pitchFamily="34" charset="0"/>
                <a:ea typeface="Calibri" pitchFamily="34" charset="-122"/>
                <a:cs typeface="Calibri" pitchFamily="34" charset="-120"/>
              </a:rPr>
              <a:t>Zhijie Yan, Chang Zhou &amp; Jingren Zhou</a:t>
            </a:r>
            <a:endParaRPr lang="en-US" sz="1300" dirty="0"/>
          </a:p>
          <a:p>
            <a:pPr marL="0" indent="0">
              <a:lnSpc>
                <a:spcPct val="125000"/>
              </a:lnSpc>
              <a:buNone/>
            </a:pPr>
            <a:r>
              <a:rPr lang="en-US" sz="1300" dirty="0">
                <a:solidFill>
                  <a:srgbClr val="C4A5B7"/>
                </a:solidFill>
                <a:latin typeface="Calibri" pitchFamily="34" charset="0"/>
                <a:ea typeface="Calibri" pitchFamily="34" charset="-122"/>
                <a:cs typeface="Calibri" pitchFamily="34" charset="-120"/>
              </a:rPr>
              <a:t>arXiv:2311.07919 (v2, December 2023)  ·  Alibaba Group</a:t>
            </a:r>
            <a:endParaRPr lang="en-US" sz="1300" dirty="0"/>
          </a:p>
        </p:txBody>
      </p:sp>
      <p:sp>
        <p:nvSpPr>
          <p:cNvPr id="8" name="Text 6"/>
          <p:cNvSpPr txBox="1"/>
          <p:nvPr/>
        </p:nvSpPr>
        <p:spPr>
          <a:xfrm>
            <a:off x="859536" y="5193792"/>
            <a:ext cx="9144000" cy="365760"/>
          </a:xfrm>
          <a:prstGeom prst="rect">
            <a:avLst/>
          </a:prstGeom>
          <a:noFill/>
          <a:ln/>
        </p:spPr>
        <p:txBody>
          <a:bodyPr wrap="square" lIns="0" tIns="0" rIns="0" bIns="0" rtlCol="0" anchor="ctr"/>
          <a:lstStyle/>
          <a:p>
            <a:pPr marL="0" indent="0">
              <a:buNone/>
            </a:pPr>
            <a:r>
              <a:rPr lang="en-US" sz="1250" b="1" dirty="0">
                <a:solidFill>
                  <a:srgbClr val="3FA88A"/>
                </a:solidFill>
                <a:latin typeface="Calibri" pitchFamily="34" charset="0"/>
                <a:ea typeface="Calibri" pitchFamily="34" charset="-122"/>
                <a:cs typeface="Calibri" pitchFamily="34" charset="-120"/>
              </a:rPr>
              <a:t>Audio-language models </a:t>
            </a:r>
            <a:r>
              <a:rPr lang="en-US" sz="1250" b="1">
                <a:solidFill>
                  <a:srgbClr val="3FA88A"/>
                </a:solidFill>
                <a:latin typeface="Calibri" pitchFamily="34" charset="0"/>
                <a:ea typeface="Calibri" pitchFamily="34" charset="-122"/>
                <a:cs typeface="Calibri" pitchFamily="34" charset="-120"/>
              </a:rPr>
              <a:t>II </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Why this paper matters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The first audio-language model that is genuinely multi-everything</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3</a:t>
            </a:r>
            <a:endParaRPr lang="en-US" sz="900" dirty="0"/>
          </a:p>
        </p:txBody>
      </p:sp>
      <p:sp>
        <p:nvSpPr>
          <p:cNvPr id="8" name="Text 6"/>
          <p:cNvSpPr txBox="1"/>
          <p:nvPr/>
        </p:nvSpPr>
        <p:spPr>
          <a:xfrm>
            <a:off x="566928" y="1554480"/>
            <a:ext cx="2697480" cy="694944"/>
          </a:xfrm>
          <a:prstGeom prst="rect">
            <a:avLst/>
          </a:prstGeom>
          <a:noFill/>
          <a:ln/>
        </p:spPr>
        <p:txBody>
          <a:bodyPr wrap="square" lIns="0" tIns="0" rIns="0" bIns="0" rtlCol="0" anchor="ctr"/>
          <a:lstStyle/>
          <a:p>
            <a:pPr marL="0" indent="0" algn="ctr">
              <a:buNone/>
            </a:pPr>
            <a:r>
              <a:rPr lang="en-US" sz="3400" b="1" dirty="0">
                <a:solidFill>
                  <a:srgbClr val="8A3F6B"/>
                </a:solidFill>
                <a:latin typeface="Cambria" pitchFamily="34" charset="0"/>
                <a:ea typeface="Cambria" pitchFamily="34" charset="-122"/>
                <a:cs typeface="Cambria" pitchFamily="34" charset="-120"/>
              </a:rPr>
              <a:t>30+</a:t>
            </a:r>
            <a:endParaRPr lang="en-US" sz="3400" dirty="0"/>
          </a:p>
        </p:txBody>
      </p:sp>
      <p:sp>
        <p:nvSpPr>
          <p:cNvPr id="9" name="Text 7"/>
          <p:cNvSpPr txBox="1"/>
          <p:nvPr/>
        </p:nvSpPr>
        <p:spPr>
          <a:xfrm>
            <a:off x="566928" y="2249424"/>
            <a:ext cx="2697480" cy="566928"/>
          </a:xfrm>
          <a:prstGeom prst="rect">
            <a:avLst/>
          </a:prstGeom>
          <a:noFill/>
          <a:ln/>
        </p:spPr>
        <p:txBody>
          <a:bodyPr wrap="square" lIns="0" tIns="0" rIns="0" bIns="0" rtlCol="0" anchor="ctr"/>
          <a:lstStyle/>
          <a:p>
            <a:pPr marL="0" indent="0" algn="ctr">
              <a:buNone/>
            </a:pPr>
            <a:r>
              <a:rPr lang="en-US" sz="1150" dirty="0">
                <a:solidFill>
                  <a:srgbClr val="6E5464"/>
                </a:solidFill>
                <a:latin typeface="Calibri" pitchFamily="34" charset="0"/>
                <a:ea typeface="Calibri" pitchFamily="34" charset="-122"/>
                <a:cs typeface="Calibri" pitchFamily="34" charset="-120"/>
              </a:rPr>
              <a:t>tasks co-trained in a single</a:t>
            </a:r>
            <a:endParaRPr lang="en-US" sz="1150" dirty="0"/>
          </a:p>
          <a:p>
            <a:pPr marL="0" indent="0" algn="ctr">
              <a:buNone/>
            </a:pPr>
            <a:r>
              <a:rPr lang="en-US" sz="1150" dirty="0">
                <a:solidFill>
                  <a:srgbClr val="6E5464"/>
                </a:solidFill>
                <a:latin typeface="Calibri" pitchFamily="34" charset="0"/>
                <a:ea typeface="Calibri" pitchFamily="34" charset="-122"/>
                <a:cs typeface="Calibri" pitchFamily="34" charset="-120"/>
              </a:rPr>
              <a:t>pre-training run</a:t>
            </a:r>
            <a:endParaRPr lang="en-US" sz="1150" dirty="0"/>
          </a:p>
        </p:txBody>
      </p:sp>
      <p:sp>
        <p:nvSpPr>
          <p:cNvPr id="10" name="Text 8"/>
          <p:cNvSpPr txBox="1"/>
          <p:nvPr/>
        </p:nvSpPr>
        <p:spPr>
          <a:xfrm>
            <a:off x="3392424" y="1554480"/>
            <a:ext cx="2697480" cy="694944"/>
          </a:xfrm>
          <a:prstGeom prst="rect">
            <a:avLst/>
          </a:prstGeom>
          <a:noFill/>
          <a:ln/>
        </p:spPr>
        <p:txBody>
          <a:bodyPr wrap="square" lIns="0" tIns="0" rIns="0" bIns="0" rtlCol="0" anchor="ctr"/>
          <a:lstStyle/>
          <a:p>
            <a:pPr marL="0" indent="0" algn="ctr">
              <a:buNone/>
            </a:pPr>
            <a:r>
              <a:rPr lang="en-US" sz="3400" b="1" dirty="0">
                <a:solidFill>
                  <a:srgbClr val="3FA88A"/>
                </a:solidFill>
                <a:latin typeface="Cambria" pitchFamily="34" charset="0"/>
                <a:ea typeface="Cambria" pitchFamily="34" charset="-122"/>
                <a:cs typeface="Cambria" pitchFamily="34" charset="-120"/>
              </a:rPr>
              <a:t>8</a:t>
            </a:r>
            <a:endParaRPr lang="en-US" sz="3400" dirty="0"/>
          </a:p>
        </p:txBody>
      </p:sp>
      <p:sp>
        <p:nvSpPr>
          <p:cNvPr id="11" name="Text 9"/>
          <p:cNvSpPr txBox="1"/>
          <p:nvPr/>
        </p:nvSpPr>
        <p:spPr>
          <a:xfrm>
            <a:off x="3392424" y="2249424"/>
            <a:ext cx="2697480" cy="566928"/>
          </a:xfrm>
          <a:prstGeom prst="rect">
            <a:avLst/>
          </a:prstGeom>
          <a:noFill/>
          <a:ln/>
        </p:spPr>
        <p:txBody>
          <a:bodyPr wrap="square" lIns="0" tIns="0" rIns="0" bIns="0" rtlCol="0" anchor="ctr"/>
          <a:lstStyle/>
          <a:p>
            <a:pPr marL="0" indent="0" algn="ctr">
              <a:buNone/>
            </a:pPr>
            <a:r>
              <a:rPr lang="en-US" sz="1150" dirty="0">
                <a:solidFill>
                  <a:srgbClr val="6E5464"/>
                </a:solidFill>
                <a:latin typeface="Calibri" pitchFamily="34" charset="0"/>
                <a:ea typeface="Calibri" pitchFamily="34" charset="-122"/>
                <a:cs typeface="Calibri" pitchFamily="34" charset="-120"/>
              </a:rPr>
              <a:t>languages, across speech,</a:t>
            </a:r>
            <a:endParaRPr lang="en-US" sz="1150" dirty="0"/>
          </a:p>
          <a:p>
            <a:pPr marL="0" indent="0" algn="ctr">
              <a:buNone/>
            </a:pPr>
            <a:r>
              <a:rPr lang="en-US" sz="1150" dirty="0">
                <a:solidFill>
                  <a:srgbClr val="6E5464"/>
                </a:solidFill>
                <a:latin typeface="Calibri" pitchFamily="34" charset="0"/>
                <a:ea typeface="Calibri" pitchFamily="34" charset="-122"/>
                <a:cs typeface="Calibri" pitchFamily="34" charset="-120"/>
              </a:rPr>
              <a:t>sound, music and song</a:t>
            </a:r>
            <a:endParaRPr lang="en-US" sz="1150" dirty="0"/>
          </a:p>
        </p:txBody>
      </p:sp>
      <p:sp>
        <p:nvSpPr>
          <p:cNvPr id="12" name="Text 10"/>
          <p:cNvSpPr txBox="1"/>
          <p:nvPr/>
        </p:nvSpPr>
        <p:spPr>
          <a:xfrm>
            <a:off x="6217920" y="1554480"/>
            <a:ext cx="2697480" cy="694944"/>
          </a:xfrm>
          <a:prstGeom prst="rect">
            <a:avLst/>
          </a:prstGeom>
          <a:noFill/>
          <a:ln/>
        </p:spPr>
        <p:txBody>
          <a:bodyPr wrap="square" lIns="0" tIns="0" rIns="0" bIns="0" rtlCol="0" anchor="ctr"/>
          <a:lstStyle/>
          <a:p>
            <a:pPr marL="0" indent="0" algn="ctr">
              <a:buNone/>
            </a:pPr>
            <a:r>
              <a:rPr lang="en-US" sz="3400" b="1" dirty="0">
                <a:solidFill>
                  <a:srgbClr val="8A3F6B"/>
                </a:solidFill>
                <a:latin typeface="Cambria" pitchFamily="34" charset="0"/>
                <a:ea typeface="Cambria" pitchFamily="34" charset="-122"/>
                <a:cs typeface="Cambria" pitchFamily="34" charset="-120"/>
              </a:rPr>
              <a:t>2.0 / 4.2</a:t>
            </a:r>
            <a:endParaRPr lang="en-US" sz="3400" dirty="0"/>
          </a:p>
        </p:txBody>
      </p:sp>
      <p:sp>
        <p:nvSpPr>
          <p:cNvPr id="13" name="Text 11"/>
          <p:cNvSpPr txBox="1"/>
          <p:nvPr/>
        </p:nvSpPr>
        <p:spPr>
          <a:xfrm>
            <a:off x="6217920" y="2249424"/>
            <a:ext cx="2697480" cy="566928"/>
          </a:xfrm>
          <a:prstGeom prst="rect">
            <a:avLst/>
          </a:prstGeom>
          <a:noFill/>
          <a:ln/>
        </p:spPr>
        <p:txBody>
          <a:bodyPr wrap="square" lIns="0" tIns="0" rIns="0" bIns="0" rtlCol="0" anchor="ctr"/>
          <a:lstStyle/>
          <a:p>
            <a:pPr marL="0" indent="0" algn="ctr">
              <a:buNone/>
            </a:pPr>
            <a:r>
              <a:rPr lang="en-US" sz="1150" dirty="0">
                <a:solidFill>
                  <a:srgbClr val="6E5464"/>
                </a:solidFill>
                <a:latin typeface="Calibri" pitchFamily="34" charset="0"/>
                <a:ea typeface="Calibri" pitchFamily="34" charset="-122"/>
                <a:cs typeface="Calibri" pitchFamily="34" charset="-120"/>
              </a:rPr>
              <a:t>WER on LibriSpeech test-clean</a:t>
            </a:r>
            <a:endParaRPr lang="en-US" sz="1150" dirty="0"/>
          </a:p>
          <a:p>
            <a:pPr marL="0" indent="0" algn="ctr">
              <a:buNone/>
            </a:pPr>
            <a:r>
              <a:rPr lang="en-US" sz="1150" dirty="0">
                <a:solidFill>
                  <a:srgbClr val="6E5464"/>
                </a:solidFill>
                <a:latin typeface="Calibri" pitchFamily="34" charset="0"/>
                <a:ea typeface="Calibri" pitchFamily="34" charset="-122"/>
                <a:cs typeface="Calibri" pitchFamily="34" charset="-120"/>
              </a:rPr>
              <a:t>and test-other</a:t>
            </a:r>
            <a:endParaRPr lang="en-US" sz="1150" dirty="0"/>
          </a:p>
        </p:txBody>
      </p:sp>
      <p:sp>
        <p:nvSpPr>
          <p:cNvPr id="14" name="Text 12"/>
          <p:cNvSpPr txBox="1"/>
          <p:nvPr/>
        </p:nvSpPr>
        <p:spPr>
          <a:xfrm>
            <a:off x="9043416" y="1554480"/>
            <a:ext cx="2587752" cy="694944"/>
          </a:xfrm>
          <a:prstGeom prst="rect">
            <a:avLst/>
          </a:prstGeom>
          <a:noFill/>
          <a:ln/>
        </p:spPr>
        <p:txBody>
          <a:bodyPr wrap="square" lIns="0" tIns="0" rIns="0" bIns="0" rtlCol="0" anchor="ctr"/>
          <a:lstStyle/>
          <a:p>
            <a:pPr marL="0" indent="0" algn="ctr">
              <a:buNone/>
            </a:pPr>
            <a:r>
              <a:rPr lang="en-US" sz="3400" b="1" dirty="0">
                <a:solidFill>
                  <a:srgbClr val="3FA88A"/>
                </a:solidFill>
                <a:latin typeface="Cambria" pitchFamily="34" charset="0"/>
                <a:ea typeface="Cambria" pitchFamily="34" charset="-122"/>
                <a:cs typeface="Cambria" pitchFamily="34" charset="-120"/>
              </a:rPr>
              <a:t>0</a:t>
            </a:r>
            <a:endParaRPr lang="en-US" sz="3400" dirty="0"/>
          </a:p>
        </p:txBody>
      </p:sp>
      <p:sp>
        <p:nvSpPr>
          <p:cNvPr id="15" name="Text 13"/>
          <p:cNvSpPr txBox="1"/>
          <p:nvPr/>
        </p:nvSpPr>
        <p:spPr>
          <a:xfrm>
            <a:off x="9043416" y="2249424"/>
            <a:ext cx="2587752" cy="566928"/>
          </a:xfrm>
          <a:prstGeom prst="rect">
            <a:avLst/>
          </a:prstGeom>
          <a:noFill/>
          <a:ln/>
        </p:spPr>
        <p:txBody>
          <a:bodyPr wrap="square" lIns="0" tIns="0" rIns="0" bIns="0" rtlCol="0" anchor="ctr"/>
          <a:lstStyle/>
          <a:p>
            <a:pPr marL="0" indent="0" algn="ctr">
              <a:buNone/>
            </a:pPr>
            <a:r>
              <a:rPr lang="en-US" sz="1150" dirty="0">
                <a:solidFill>
                  <a:srgbClr val="6E5464"/>
                </a:solidFill>
                <a:latin typeface="Calibri" pitchFamily="34" charset="0"/>
                <a:ea typeface="Calibri" pitchFamily="34" charset="-122"/>
                <a:cs typeface="Calibri" pitchFamily="34" charset="-120"/>
              </a:rPr>
              <a:t>task-specific fine-tuning on</a:t>
            </a:r>
            <a:endParaRPr lang="en-US" sz="1150" dirty="0"/>
          </a:p>
          <a:p>
            <a:pPr marL="0" indent="0" algn="ctr">
              <a:buNone/>
            </a:pPr>
            <a:r>
              <a:rPr lang="en-US" sz="1150" dirty="0">
                <a:solidFill>
                  <a:srgbClr val="6E5464"/>
                </a:solidFill>
                <a:latin typeface="Calibri" pitchFamily="34" charset="0"/>
                <a:ea typeface="Calibri" pitchFamily="34" charset="-122"/>
                <a:cs typeface="Calibri" pitchFamily="34" charset="-120"/>
              </a:rPr>
              <a:t>any of the twelve benchmarks</a:t>
            </a:r>
            <a:endParaRPr lang="en-US" sz="1150" dirty="0"/>
          </a:p>
        </p:txBody>
      </p:sp>
      <p:sp>
        <p:nvSpPr>
          <p:cNvPr id="16" name="Shape 14"/>
          <p:cNvSpPr/>
          <p:nvPr/>
        </p:nvSpPr>
        <p:spPr>
          <a:xfrm>
            <a:off x="566928" y="3200400"/>
            <a:ext cx="11064240" cy="1371600"/>
          </a:xfrm>
          <a:prstGeom prst="roundRect">
            <a:avLst>
              <a:gd name="adj" fmla="val 4000"/>
            </a:avLst>
          </a:prstGeom>
          <a:solidFill>
            <a:srgbClr val="F7F0F4"/>
          </a:solidFill>
          <a:ln w="12700">
            <a:solidFill>
              <a:srgbClr val="EDE0E7"/>
            </a:solidFill>
            <a:prstDash val="solid"/>
          </a:ln>
        </p:spPr>
        <p:txBody>
          <a:bodyPr/>
          <a:lstStyle/>
          <a:p>
            <a:endParaRPr lang="en-US"/>
          </a:p>
        </p:txBody>
      </p:sp>
      <p:sp>
        <p:nvSpPr>
          <p:cNvPr id="17" name="Shape 15"/>
          <p:cNvSpPr/>
          <p:nvPr/>
        </p:nvSpPr>
        <p:spPr>
          <a:xfrm>
            <a:off x="786384" y="3493008"/>
            <a:ext cx="109728" cy="109728"/>
          </a:xfrm>
          <a:prstGeom prst="ellipse">
            <a:avLst/>
          </a:prstGeom>
          <a:solidFill>
            <a:srgbClr val="8A3F6B"/>
          </a:solidFill>
          <a:ln w="12700">
            <a:solidFill>
              <a:srgbClr val="333333"/>
            </a:solidFill>
            <a:prstDash val="solid"/>
          </a:ln>
        </p:spPr>
        <p:txBody>
          <a:bodyPr/>
          <a:lstStyle/>
          <a:p>
            <a:endParaRPr lang="en-US"/>
          </a:p>
        </p:txBody>
      </p:sp>
      <p:sp>
        <p:nvSpPr>
          <p:cNvPr id="18" name="Text 16"/>
          <p:cNvSpPr txBox="1"/>
          <p:nvPr/>
        </p:nvSpPr>
        <p:spPr>
          <a:xfrm>
            <a:off x="987552" y="3364992"/>
            <a:ext cx="10424160" cy="365760"/>
          </a:xfrm>
          <a:prstGeom prst="rect">
            <a:avLst/>
          </a:prstGeom>
          <a:noFill/>
          <a:ln/>
        </p:spPr>
        <p:txBody>
          <a:bodyPr wrap="square" lIns="0" tIns="0" rIns="0" bIns="0" rtlCol="0" anchor="ctr"/>
          <a:lstStyle/>
          <a:p>
            <a:pPr marL="0" indent="0">
              <a:buNone/>
            </a:pPr>
            <a:r>
              <a:rPr lang="en-US" sz="1500" b="1" dirty="0">
                <a:solidFill>
                  <a:srgbClr val="241520"/>
                </a:solidFill>
                <a:latin typeface="Cambria" pitchFamily="34" charset="0"/>
                <a:ea typeface="Cambria" pitchFamily="34" charset="-122"/>
                <a:cs typeface="Cambria" pitchFamily="34" charset="-120"/>
              </a:rPr>
              <a:t>The claim</a:t>
            </a:r>
            <a:endParaRPr lang="en-US" sz="1500" dirty="0"/>
          </a:p>
        </p:txBody>
      </p:sp>
      <p:sp>
        <p:nvSpPr>
          <p:cNvPr id="19" name="Text 17"/>
          <p:cNvSpPr txBox="1"/>
          <p:nvPr/>
        </p:nvSpPr>
        <p:spPr>
          <a:xfrm>
            <a:off x="822960" y="3803904"/>
            <a:ext cx="10552176" cy="585216"/>
          </a:xfrm>
          <a:prstGeom prst="rect">
            <a:avLst/>
          </a:prstGeom>
          <a:noFill/>
          <a:ln/>
        </p:spPr>
        <p:txBody>
          <a:bodyPr wrap="square" lIns="0" tIns="0" rIns="0" bIns="0" rtlCol="0" anchor="t"/>
          <a:lstStyle/>
          <a:p>
            <a:pPr marL="0" indent="0">
              <a:lnSpc>
                <a:spcPct val="108000"/>
              </a:lnSpc>
              <a:buNone/>
            </a:pPr>
            <a:r>
              <a:rPr lang="en-US" sz="1340" dirty="0">
                <a:solidFill>
                  <a:srgbClr val="38242F"/>
                </a:solidFill>
                <a:latin typeface="Calibri" pitchFamily="34" charset="0"/>
                <a:ea typeface="Calibri" pitchFamily="34" charset="-122"/>
                <a:cs typeface="Calibri" pitchFamily="34" charset="-120"/>
              </a:rPr>
              <a:t>Scale audio-language pre-training to cover every kind of audio and every kind of task at once. The obstacle is interference: textual labels vary enormously across datasets in task focus, language, annotation granularity and text structure. Condition the decoder on a sequence of hierarchical tags and you get knowledge sharing where tasks are similar and separation where they are not.</a:t>
            </a:r>
            <a:endParaRPr lang="en-US" sz="1340" dirty="0"/>
          </a:p>
        </p:txBody>
      </p:sp>
      <p:sp>
        <p:nvSpPr>
          <p:cNvPr id="20" name="Shape 18"/>
          <p:cNvSpPr/>
          <p:nvPr/>
        </p:nvSpPr>
        <p:spPr>
          <a:xfrm>
            <a:off x="566928" y="4700016"/>
            <a:ext cx="11064240" cy="1353312"/>
          </a:xfrm>
          <a:prstGeom prst="roundRect">
            <a:avLst>
              <a:gd name="adj" fmla="val 4054"/>
            </a:avLst>
          </a:prstGeom>
          <a:solidFill>
            <a:srgbClr val="331E2E"/>
          </a:solidFill>
          <a:ln w="12700">
            <a:solidFill>
              <a:srgbClr val="331E2E"/>
            </a:solidFill>
            <a:prstDash val="solid"/>
          </a:ln>
        </p:spPr>
        <p:txBody>
          <a:bodyPr/>
          <a:lstStyle/>
          <a:p>
            <a:endParaRPr lang="en-US"/>
          </a:p>
        </p:txBody>
      </p:sp>
      <p:sp>
        <p:nvSpPr>
          <p:cNvPr id="21" name="Shape 19"/>
          <p:cNvSpPr/>
          <p:nvPr/>
        </p:nvSpPr>
        <p:spPr>
          <a:xfrm>
            <a:off x="786384" y="4992624"/>
            <a:ext cx="109728" cy="109728"/>
          </a:xfrm>
          <a:prstGeom prst="ellipse">
            <a:avLst/>
          </a:prstGeom>
          <a:solidFill>
            <a:srgbClr val="3FA88A"/>
          </a:solidFill>
          <a:ln w="12700">
            <a:solidFill>
              <a:srgbClr val="333333"/>
            </a:solidFill>
            <a:prstDash val="solid"/>
          </a:ln>
        </p:spPr>
        <p:txBody>
          <a:bodyPr/>
          <a:lstStyle/>
          <a:p>
            <a:endParaRPr lang="en-US"/>
          </a:p>
        </p:txBody>
      </p:sp>
      <p:sp>
        <p:nvSpPr>
          <p:cNvPr id="22" name="Text 20"/>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this is a different question from last session's</a:t>
            </a:r>
            <a:endParaRPr lang="en-US" sz="1500" dirty="0"/>
          </a:p>
        </p:txBody>
      </p:sp>
      <p:sp>
        <p:nvSpPr>
          <p:cNvPr id="23" name="Text 21"/>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40" dirty="0">
                <a:solidFill>
                  <a:srgbClr val="E2C6D6"/>
                </a:solidFill>
                <a:latin typeface="Calibri" pitchFamily="34" charset="0"/>
                <a:ea typeface="Calibri" pitchFamily="34" charset="-122"/>
                <a:cs typeface="Calibri" pitchFamily="34" charset="-120"/>
              </a:rPr>
              <a:t>Pengi had eight hand-written templates. SALMONN had twelve instruction-tuning tasks and its problem was that they crowded out the language model's own abilities. Qwen-Audio has more than thirty tasks and its problem is that they crowd out each other — the same audio, asked for in two different formats, with no way for the model to tell which is wanted.</a:t>
            </a:r>
            <a:endParaRPr lang="en-US" sz="13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331E2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210312" cy="210312"/>
          </a:xfrm>
          <a:prstGeom prst="roundRect">
            <a:avLst>
              <a:gd name="adj" fmla="val 8696"/>
            </a:avLst>
          </a:prstGeom>
          <a:solidFill>
            <a:srgbClr val="E2C6D6"/>
          </a:solidFill>
          <a:ln w="12700">
            <a:solidFill>
              <a:srgbClr val="333333"/>
            </a:solidFill>
            <a:prstDash val="solid"/>
          </a:ln>
        </p:spPr>
        <p:txBody>
          <a:bodyPr/>
          <a:lstStyle/>
          <a:p>
            <a:endParaRPr lang="en-US"/>
          </a:p>
        </p:txBody>
      </p:sp>
      <p:sp>
        <p:nvSpPr>
          <p:cNvPr id="3" name="Shape 1"/>
          <p:cNvSpPr/>
          <p:nvPr/>
        </p:nvSpPr>
        <p:spPr>
          <a:xfrm>
            <a:off x="10881360" y="5522976"/>
            <a:ext cx="210312" cy="210312"/>
          </a:xfrm>
          <a:prstGeom prst="roundRect">
            <a:avLst>
              <a:gd name="adj" fmla="val 8696"/>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155680" y="5742432"/>
            <a:ext cx="210312" cy="210312"/>
          </a:xfrm>
          <a:prstGeom prst="roundRect">
            <a:avLst>
              <a:gd name="adj" fmla="val 8696"/>
            </a:avLst>
          </a:prstGeom>
          <a:solidFill>
            <a:srgbClr val="E2C6D6"/>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3FA88A"/>
                </a:solidFill>
                <a:latin typeface="Cambria" pitchFamily="34" charset="0"/>
                <a:ea typeface="Cambria" pitchFamily="34" charset="-122"/>
                <a:cs typeface="Cambria" pitchFamily="34" charset="-120"/>
              </a:rPr>
              <a:t>1</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The interference problem</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E2C6D6"/>
                </a:solidFill>
                <a:latin typeface="Calibri" pitchFamily="34" charset="0"/>
                <a:ea typeface="Calibri" pitchFamily="34" charset="-122"/>
                <a:cs typeface="Calibri" pitchFamily="34" charset="-120"/>
              </a:rPr>
              <a:t>Why co-training thirty audio tasks does not just work</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The one-to-many problem</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Four axes along which audio task labels diverge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5</a:t>
            </a:r>
            <a:endParaRPr lang="en-US" sz="900" dirty="0"/>
          </a:p>
        </p:txBody>
      </p:sp>
      <p:sp>
        <p:nvSpPr>
          <p:cNvPr id="8" name="Shape 6"/>
          <p:cNvSpPr/>
          <p:nvPr/>
        </p:nvSpPr>
        <p:spPr>
          <a:xfrm>
            <a:off x="566928" y="1572768"/>
            <a:ext cx="2697480" cy="2926080"/>
          </a:xfrm>
          <a:prstGeom prst="roundRect">
            <a:avLst>
              <a:gd name="adj" fmla="val 2034"/>
            </a:avLst>
          </a:prstGeom>
          <a:solidFill>
            <a:srgbClr val="F7F0F4"/>
          </a:solidFill>
          <a:ln w="12700">
            <a:solidFill>
              <a:srgbClr val="EDE0E7"/>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8A3F6B"/>
          </a:solidFill>
          <a:ln w="12700">
            <a:solidFill>
              <a:srgbClr val="333333"/>
            </a:solidFill>
            <a:prstDash val="solid"/>
          </a:ln>
        </p:spPr>
        <p:txBody>
          <a:bodyPr/>
          <a:lstStyle/>
          <a:p>
            <a:endParaRPr lang="en-US"/>
          </a:p>
        </p:txBody>
      </p:sp>
      <p:sp>
        <p:nvSpPr>
          <p:cNvPr id="10" name="Text 8"/>
          <p:cNvSpPr txBox="1"/>
          <p:nvPr/>
        </p:nvSpPr>
        <p:spPr>
          <a:xfrm>
            <a:off x="987552" y="1737360"/>
            <a:ext cx="2057400" cy="365760"/>
          </a:xfrm>
          <a:prstGeom prst="rect">
            <a:avLst/>
          </a:prstGeom>
          <a:noFill/>
          <a:ln/>
        </p:spPr>
        <p:txBody>
          <a:bodyPr wrap="square" lIns="0" tIns="0" rIns="0" bIns="0" rtlCol="0" anchor="ctr"/>
          <a:lstStyle/>
          <a:p>
            <a:pPr marL="0" indent="0">
              <a:buNone/>
            </a:pPr>
            <a:r>
              <a:rPr lang="en-US" sz="1450" b="1" dirty="0">
                <a:solidFill>
                  <a:srgbClr val="241520"/>
                </a:solidFill>
                <a:latin typeface="Cambria" pitchFamily="34" charset="0"/>
                <a:ea typeface="Cambria" pitchFamily="34" charset="-122"/>
                <a:cs typeface="Cambria" pitchFamily="34" charset="-120"/>
              </a:rPr>
              <a:t>Task focus</a:t>
            </a:r>
            <a:endParaRPr lang="en-US" sz="1450" dirty="0"/>
          </a:p>
        </p:txBody>
      </p:sp>
      <p:sp>
        <p:nvSpPr>
          <p:cNvPr id="11" name="Text 9"/>
          <p:cNvSpPr txBox="1"/>
          <p:nvPr/>
        </p:nvSpPr>
        <p:spPr>
          <a:xfrm>
            <a:off x="822960" y="2176272"/>
            <a:ext cx="2185416" cy="2139696"/>
          </a:xfrm>
          <a:prstGeom prst="rect">
            <a:avLst/>
          </a:prstGeom>
          <a:noFill/>
          <a:ln/>
        </p:spPr>
        <p:txBody>
          <a:bodyPr wrap="square" lIns="0" tIns="0" rIns="0" bIns="0" rtlCol="0" anchor="t"/>
          <a:lstStyle/>
          <a:p>
            <a:pPr marL="0" indent="0">
              <a:lnSpc>
                <a:spcPct val="108000"/>
              </a:lnSpc>
              <a:buNone/>
            </a:pPr>
            <a:r>
              <a:rPr lang="en-US" sz="1180" dirty="0">
                <a:solidFill>
                  <a:srgbClr val="38242F"/>
                </a:solidFill>
                <a:latin typeface="Calibri" pitchFamily="34" charset="0"/>
                <a:ea typeface="Calibri" pitchFamily="34" charset="-122"/>
                <a:cs typeface="Calibri" pitchFamily="34" charset="-120"/>
              </a:rPr>
              <a:t>The same speech recording is a transcript for ASR, a language ID for LID, a gender label for SGC, an emotion label for ER, and a speaker identity for SV. One input, five incompatible targets.</a:t>
            </a:r>
            <a:endParaRPr lang="en-US" sz="1180" dirty="0"/>
          </a:p>
        </p:txBody>
      </p:sp>
      <p:sp>
        <p:nvSpPr>
          <p:cNvPr id="12" name="Shape 10"/>
          <p:cNvSpPr/>
          <p:nvPr/>
        </p:nvSpPr>
        <p:spPr>
          <a:xfrm>
            <a:off x="3392424" y="1572768"/>
            <a:ext cx="2697480" cy="2926080"/>
          </a:xfrm>
          <a:prstGeom prst="roundRect">
            <a:avLst>
              <a:gd name="adj" fmla="val 2034"/>
            </a:avLst>
          </a:prstGeom>
          <a:solidFill>
            <a:srgbClr val="F7F0F4"/>
          </a:solidFill>
          <a:ln w="12700">
            <a:solidFill>
              <a:srgbClr val="EDE0E7"/>
            </a:solidFill>
            <a:prstDash val="solid"/>
          </a:ln>
        </p:spPr>
        <p:txBody>
          <a:bodyPr/>
          <a:lstStyle/>
          <a:p>
            <a:endParaRPr lang="en-US"/>
          </a:p>
        </p:txBody>
      </p:sp>
      <p:sp>
        <p:nvSpPr>
          <p:cNvPr id="13" name="Shape 11"/>
          <p:cNvSpPr/>
          <p:nvPr/>
        </p:nvSpPr>
        <p:spPr>
          <a:xfrm>
            <a:off x="3611880" y="1865376"/>
            <a:ext cx="109728" cy="109728"/>
          </a:xfrm>
          <a:prstGeom prst="ellipse">
            <a:avLst/>
          </a:prstGeom>
          <a:solidFill>
            <a:srgbClr val="3FA88A"/>
          </a:solidFill>
          <a:ln w="12700">
            <a:solidFill>
              <a:srgbClr val="333333"/>
            </a:solidFill>
            <a:prstDash val="solid"/>
          </a:ln>
        </p:spPr>
        <p:txBody>
          <a:bodyPr/>
          <a:lstStyle/>
          <a:p>
            <a:endParaRPr lang="en-US"/>
          </a:p>
        </p:txBody>
      </p:sp>
      <p:sp>
        <p:nvSpPr>
          <p:cNvPr id="14" name="Text 12"/>
          <p:cNvSpPr txBox="1"/>
          <p:nvPr/>
        </p:nvSpPr>
        <p:spPr>
          <a:xfrm>
            <a:off x="3813048" y="1737360"/>
            <a:ext cx="2057400" cy="365760"/>
          </a:xfrm>
          <a:prstGeom prst="rect">
            <a:avLst/>
          </a:prstGeom>
          <a:noFill/>
          <a:ln/>
        </p:spPr>
        <p:txBody>
          <a:bodyPr wrap="square" lIns="0" tIns="0" rIns="0" bIns="0" rtlCol="0" anchor="ctr"/>
          <a:lstStyle/>
          <a:p>
            <a:pPr marL="0" indent="0">
              <a:buNone/>
            </a:pPr>
            <a:r>
              <a:rPr lang="en-US" sz="1450" b="1" dirty="0">
                <a:solidFill>
                  <a:srgbClr val="241520"/>
                </a:solidFill>
                <a:latin typeface="Cambria" pitchFamily="34" charset="0"/>
                <a:ea typeface="Cambria" pitchFamily="34" charset="-122"/>
                <a:cs typeface="Cambria" pitchFamily="34" charset="-120"/>
              </a:rPr>
              <a:t>Language</a:t>
            </a:r>
            <a:endParaRPr lang="en-US" sz="1450" dirty="0"/>
          </a:p>
        </p:txBody>
      </p:sp>
      <p:sp>
        <p:nvSpPr>
          <p:cNvPr id="15" name="Text 13"/>
          <p:cNvSpPr txBox="1"/>
          <p:nvPr/>
        </p:nvSpPr>
        <p:spPr>
          <a:xfrm>
            <a:off x="3648456" y="2176272"/>
            <a:ext cx="2185416" cy="2139696"/>
          </a:xfrm>
          <a:prstGeom prst="rect">
            <a:avLst/>
          </a:prstGeom>
          <a:noFill/>
          <a:ln/>
        </p:spPr>
        <p:txBody>
          <a:bodyPr wrap="square" lIns="0" tIns="0" rIns="0" bIns="0" rtlCol="0" anchor="t"/>
          <a:lstStyle/>
          <a:p>
            <a:pPr marL="0" indent="0">
              <a:lnSpc>
                <a:spcPct val="108000"/>
              </a:lnSpc>
              <a:buNone/>
            </a:pPr>
            <a:r>
              <a:rPr lang="en-US" sz="1180" dirty="0">
                <a:solidFill>
                  <a:srgbClr val="38242F"/>
                </a:solidFill>
                <a:latin typeface="Calibri" pitchFamily="34" charset="0"/>
                <a:ea typeface="Calibri" pitchFamily="34" charset="-122"/>
                <a:cs typeface="Calibri" pitchFamily="34" charset="-120"/>
              </a:rPr>
              <a:t>Eight languages across the training mix, so even 'transcribe this' has eight different correct answers depending on which language the output should be in.</a:t>
            </a:r>
            <a:endParaRPr lang="en-US" sz="1180" dirty="0"/>
          </a:p>
        </p:txBody>
      </p:sp>
      <p:sp>
        <p:nvSpPr>
          <p:cNvPr id="16" name="Shape 14"/>
          <p:cNvSpPr/>
          <p:nvPr/>
        </p:nvSpPr>
        <p:spPr>
          <a:xfrm>
            <a:off x="6217920" y="1572768"/>
            <a:ext cx="2697480" cy="2926080"/>
          </a:xfrm>
          <a:prstGeom prst="roundRect">
            <a:avLst>
              <a:gd name="adj" fmla="val 2034"/>
            </a:avLst>
          </a:prstGeom>
          <a:solidFill>
            <a:srgbClr val="F7F0F4"/>
          </a:solidFill>
          <a:ln w="12700">
            <a:solidFill>
              <a:srgbClr val="EDE0E7"/>
            </a:solidFill>
            <a:prstDash val="solid"/>
          </a:ln>
        </p:spPr>
        <p:txBody>
          <a:bodyPr/>
          <a:lstStyle/>
          <a:p>
            <a:endParaRPr lang="en-US"/>
          </a:p>
        </p:txBody>
      </p:sp>
      <p:sp>
        <p:nvSpPr>
          <p:cNvPr id="17" name="Shape 15"/>
          <p:cNvSpPr/>
          <p:nvPr/>
        </p:nvSpPr>
        <p:spPr>
          <a:xfrm>
            <a:off x="6437376" y="1865376"/>
            <a:ext cx="109728" cy="109728"/>
          </a:xfrm>
          <a:prstGeom prst="ellipse">
            <a:avLst/>
          </a:prstGeom>
          <a:solidFill>
            <a:srgbClr val="8A3F6B"/>
          </a:solidFill>
          <a:ln w="12700">
            <a:solidFill>
              <a:srgbClr val="333333"/>
            </a:solidFill>
            <a:prstDash val="solid"/>
          </a:ln>
        </p:spPr>
        <p:txBody>
          <a:bodyPr/>
          <a:lstStyle/>
          <a:p>
            <a:endParaRPr lang="en-US"/>
          </a:p>
        </p:txBody>
      </p:sp>
      <p:sp>
        <p:nvSpPr>
          <p:cNvPr id="18" name="Text 16"/>
          <p:cNvSpPr txBox="1"/>
          <p:nvPr/>
        </p:nvSpPr>
        <p:spPr>
          <a:xfrm>
            <a:off x="6638544" y="1737360"/>
            <a:ext cx="2057400" cy="365760"/>
          </a:xfrm>
          <a:prstGeom prst="rect">
            <a:avLst/>
          </a:prstGeom>
          <a:noFill/>
          <a:ln/>
        </p:spPr>
        <p:txBody>
          <a:bodyPr wrap="square" lIns="0" tIns="0" rIns="0" bIns="0" rtlCol="0" anchor="ctr"/>
          <a:lstStyle/>
          <a:p>
            <a:pPr marL="0" indent="0">
              <a:buNone/>
            </a:pPr>
            <a:r>
              <a:rPr lang="en-US" sz="1450" b="1" dirty="0">
                <a:solidFill>
                  <a:srgbClr val="241520"/>
                </a:solidFill>
                <a:latin typeface="Cambria" pitchFamily="34" charset="0"/>
                <a:ea typeface="Cambria" pitchFamily="34" charset="-122"/>
                <a:cs typeface="Cambria" pitchFamily="34" charset="-120"/>
              </a:rPr>
              <a:t>Granularity of annotation</a:t>
            </a:r>
            <a:endParaRPr lang="en-US" sz="1450" dirty="0"/>
          </a:p>
        </p:txBody>
      </p:sp>
      <p:sp>
        <p:nvSpPr>
          <p:cNvPr id="19" name="Text 17"/>
          <p:cNvSpPr txBox="1"/>
          <p:nvPr/>
        </p:nvSpPr>
        <p:spPr>
          <a:xfrm>
            <a:off x="6473952" y="2176272"/>
            <a:ext cx="2185416" cy="2139696"/>
          </a:xfrm>
          <a:prstGeom prst="rect">
            <a:avLst/>
          </a:prstGeom>
          <a:noFill/>
          <a:ln/>
        </p:spPr>
        <p:txBody>
          <a:bodyPr wrap="square" lIns="0" tIns="0" rIns="0" bIns="0" rtlCol="0" anchor="t"/>
          <a:lstStyle/>
          <a:p>
            <a:pPr marL="0" indent="0">
              <a:lnSpc>
                <a:spcPct val="108000"/>
              </a:lnSpc>
              <a:buNone/>
            </a:pPr>
            <a:r>
              <a:rPr lang="en-US" sz="1180" dirty="0">
                <a:solidFill>
                  <a:srgbClr val="38242F"/>
                </a:solidFill>
                <a:latin typeface="Calibri" pitchFamily="34" charset="0"/>
                <a:ea typeface="Calibri" pitchFamily="34" charset="-122"/>
                <a:cs typeface="Calibri" pitchFamily="34" charset="-120"/>
              </a:rPr>
              <a:t>Some datasets have sentence-level timestamps, some word-level, most none at all. A model trained on all three has no way to know which is expected.</a:t>
            </a:r>
            <a:endParaRPr lang="en-US" sz="1180" dirty="0"/>
          </a:p>
        </p:txBody>
      </p:sp>
      <p:sp>
        <p:nvSpPr>
          <p:cNvPr id="20" name="Shape 18"/>
          <p:cNvSpPr/>
          <p:nvPr/>
        </p:nvSpPr>
        <p:spPr>
          <a:xfrm>
            <a:off x="9043416" y="1572768"/>
            <a:ext cx="2697480" cy="2926080"/>
          </a:xfrm>
          <a:prstGeom prst="roundRect">
            <a:avLst>
              <a:gd name="adj" fmla="val 2034"/>
            </a:avLst>
          </a:prstGeom>
          <a:solidFill>
            <a:srgbClr val="F7F0F4"/>
          </a:solidFill>
          <a:ln w="12700">
            <a:solidFill>
              <a:srgbClr val="EDE0E7"/>
            </a:solidFill>
            <a:prstDash val="solid"/>
          </a:ln>
        </p:spPr>
        <p:txBody>
          <a:bodyPr/>
          <a:lstStyle/>
          <a:p>
            <a:endParaRPr lang="en-US"/>
          </a:p>
        </p:txBody>
      </p:sp>
      <p:sp>
        <p:nvSpPr>
          <p:cNvPr id="21" name="Shape 19"/>
          <p:cNvSpPr/>
          <p:nvPr/>
        </p:nvSpPr>
        <p:spPr>
          <a:xfrm>
            <a:off x="9262872" y="1865376"/>
            <a:ext cx="109728" cy="109728"/>
          </a:xfrm>
          <a:prstGeom prst="ellipse">
            <a:avLst/>
          </a:prstGeom>
          <a:solidFill>
            <a:srgbClr val="3FA88A"/>
          </a:solidFill>
          <a:ln w="12700">
            <a:solidFill>
              <a:srgbClr val="333333"/>
            </a:solidFill>
            <a:prstDash val="solid"/>
          </a:ln>
        </p:spPr>
        <p:txBody>
          <a:bodyPr/>
          <a:lstStyle/>
          <a:p>
            <a:endParaRPr lang="en-US"/>
          </a:p>
        </p:txBody>
      </p:sp>
      <p:sp>
        <p:nvSpPr>
          <p:cNvPr id="22" name="Text 20"/>
          <p:cNvSpPr txBox="1"/>
          <p:nvPr/>
        </p:nvSpPr>
        <p:spPr>
          <a:xfrm>
            <a:off x="9464040" y="1737360"/>
            <a:ext cx="2057400" cy="365760"/>
          </a:xfrm>
          <a:prstGeom prst="rect">
            <a:avLst/>
          </a:prstGeom>
          <a:noFill/>
          <a:ln/>
        </p:spPr>
        <p:txBody>
          <a:bodyPr wrap="square" lIns="0" tIns="0" rIns="0" bIns="0" rtlCol="0" anchor="ctr"/>
          <a:lstStyle/>
          <a:p>
            <a:pPr marL="0" indent="0">
              <a:buNone/>
            </a:pPr>
            <a:r>
              <a:rPr lang="en-US" sz="1450" b="1" dirty="0">
                <a:solidFill>
                  <a:srgbClr val="241520"/>
                </a:solidFill>
                <a:latin typeface="Cambria" pitchFamily="34" charset="0"/>
                <a:ea typeface="Cambria" pitchFamily="34" charset="-122"/>
                <a:cs typeface="Cambria" pitchFamily="34" charset="-120"/>
              </a:rPr>
              <a:t>Text structure</a:t>
            </a:r>
            <a:endParaRPr lang="en-US" sz="1450" dirty="0"/>
          </a:p>
        </p:txBody>
      </p:sp>
      <p:sp>
        <p:nvSpPr>
          <p:cNvPr id="23" name="Text 21"/>
          <p:cNvSpPr txBox="1"/>
          <p:nvPr/>
        </p:nvSpPr>
        <p:spPr>
          <a:xfrm>
            <a:off x="9299448" y="2176272"/>
            <a:ext cx="2185416" cy="2139696"/>
          </a:xfrm>
          <a:prstGeom prst="rect">
            <a:avLst/>
          </a:prstGeom>
          <a:noFill/>
          <a:ln/>
        </p:spPr>
        <p:txBody>
          <a:bodyPr wrap="square" lIns="0" tIns="0" rIns="0" bIns="0" rtlCol="0" anchor="t"/>
          <a:lstStyle/>
          <a:p>
            <a:pPr marL="0" indent="0">
              <a:lnSpc>
                <a:spcPct val="108000"/>
              </a:lnSpc>
              <a:buNone/>
            </a:pPr>
            <a:r>
              <a:rPr lang="en-US" sz="1180" dirty="0">
                <a:solidFill>
                  <a:srgbClr val="38242F"/>
                </a:solidFill>
                <a:latin typeface="Calibri" pitchFamily="34" charset="0"/>
                <a:ea typeface="Calibri" pitchFamily="34" charset="-122"/>
                <a:cs typeface="Calibri" pitchFamily="34" charset="-120"/>
              </a:rPr>
              <a:t>Some outputs are free-form captions, others are structured lists of attributes such as pitch and velocity. Different grammars entirely.</a:t>
            </a:r>
            <a:endParaRPr lang="en-US" sz="1180" dirty="0"/>
          </a:p>
        </p:txBody>
      </p:sp>
      <p:sp>
        <p:nvSpPr>
          <p:cNvPr id="24" name="Shape 22"/>
          <p:cNvSpPr/>
          <p:nvPr/>
        </p:nvSpPr>
        <p:spPr>
          <a:xfrm>
            <a:off x="566928" y="4700016"/>
            <a:ext cx="11064240" cy="1353312"/>
          </a:xfrm>
          <a:prstGeom prst="roundRect">
            <a:avLst>
              <a:gd name="adj" fmla="val 4054"/>
            </a:avLst>
          </a:prstGeom>
          <a:solidFill>
            <a:srgbClr val="331E2E"/>
          </a:solidFill>
          <a:ln w="12700">
            <a:solidFill>
              <a:srgbClr val="331E2E"/>
            </a:solidFill>
            <a:prstDash val="solid"/>
          </a:ln>
        </p:spPr>
        <p:txBody>
          <a:bodyPr/>
          <a:lstStyle/>
          <a:p>
            <a:endParaRPr lang="en-US"/>
          </a:p>
        </p:txBody>
      </p:sp>
      <p:sp>
        <p:nvSpPr>
          <p:cNvPr id="25" name="Shape 23"/>
          <p:cNvSpPr/>
          <p:nvPr/>
        </p:nvSpPr>
        <p:spPr>
          <a:xfrm>
            <a:off x="786384" y="4992624"/>
            <a:ext cx="109728" cy="109728"/>
          </a:xfrm>
          <a:prstGeom prst="ellipse">
            <a:avLst/>
          </a:prstGeom>
          <a:solidFill>
            <a:srgbClr val="3FA88A"/>
          </a:solidFill>
          <a:ln w="12700">
            <a:solidFill>
              <a:srgbClr val="333333"/>
            </a:solidFill>
            <a:prstDash val="solid"/>
          </a:ln>
        </p:spPr>
        <p:txBody>
          <a:bodyPr/>
          <a:lstStyle/>
          <a:p>
            <a:endParaRPr lang="en-US"/>
          </a:p>
        </p:txBody>
      </p:sp>
      <p:sp>
        <p:nvSpPr>
          <p:cNvPr id="26" name="Text 24"/>
          <p:cNvSpPr txBox="1"/>
          <p:nvPr/>
        </p:nvSpPr>
        <p:spPr>
          <a:xfrm>
            <a:off x="987552" y="486460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consequence the paper names</a:t>
            </a:r>
            <a:endParaRPr lang="en-US" sz="1500" dirty="0"/>
          </a:p>
        </p:txBody>
      </p:sp>
      <p:sp>
        <p:nvSpPr>
          <p:cNvPr id="27" name="Text 25"/>
          <p:cNvSpPr txBox="1"/>
          <p:nvPr/>
        </p:nvSpPr>
        <p:spPr>
          <a:xfrm>
            <a:off x="822960" y="5303520"/>
            <a:ext cx="10552176" cy="566928"/>
          </a:xfrm>
          <a:prstGeom prst="rect">
            <a:avLst/>
          </a:prstGeom>
          <a:noFill/>
          <a:ln/>
        </p:spPr>
        <p:txBody>
          <a:bodyPr wrap="square" lIns="0" tIns="0" rIns="0" bIns="0" rtlCol="0" anchor="t"/>
          <a:lstStyle/>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Simply mixing these diverse datasets cannot lead to mutual enhancement; instead, it introduces interference. The model is being asked to map one audio input to many mutually exclusive outputs with nothing in the input to disambiguate which one.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What everyone else did</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Three prior approaches, and their limits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6</a:t>
            </a:r>
            <a:endParaRPr lang="en-US" sz="900" dirty="0"/>
          </a:p>
        </p:txBody>
      </p:sp>
      <p:sp>
        <p:nvSpPr>
          <p:cNvPr id="8" name="Shape 6"/>
          <p:cNvSpPr/>
          <p:nvPr/>
        </p:nvSpPr>
        <p:spPr>
          <a:xfrm>
            <a:off x="566928" y="1554480"/>
            <a:ext cx="11064240" cy="1042416"/>
          </a:xfrm>
          <a:prstGeom prst="roundRect">
            <a:avLst>
              <a:gd name="adj" fmla="val 2632"/>
            </a:avLst>
          </a:prstGeom>
          <a:solidFill>
            <a:srgbClr val="F7F0F4"/>
          </a:solidFill>
          <a:ln w="12700">
            <a:solidFill>
              <a:srgbClr val="F0E6EC"/>
            </a:solidFill>
            <a:prstDash val="solid"/>
          </a:ln>
        </p:spPr>
        <p:txBody>
          <a:bodyPr/>
          <a:lstStyle/>
          <a:p>
            <a:endParaRPr lang="en-US"/>
          </a:p>
        </p:txBody>
      </p:sp>
      <p:sp>
        <p:nvSpPr>
          <p:cNvPr id="9" name="Shape 7"/>
          <p:cNvSpPr/>
          <p:nvPr/>
        </p:nvSpPr>
        <p:spPr>
          <a:xfrm>
            <a:off x="786384" y="2016252"/>
            <a:ext cx="118872" cy="118872"/>
          </a:xfrm>
          <a:prstGeom prst="ellipse">
            <a:avLst/>
          </a:prstGeom>
          <a:solidFill>
            <a:srgbClr val="8A3F6B"/>
          </a:solidFill>
          <a:ln w="12700">
            <a:solidFill>
              <a:srgbClr val="333333"/>
            </a:solidFill>
            <a:prstDash val="solid"/>
          </a:ln>
        </p:spPr>
        <p:txBody>
          <a:bodyPr/>
          <a:lstStyle/>
          <a:p>
            <a:endParaRPr lang="en-US"/>
          </a:p>
        </p:txBody>
      </p:sp>
      <p:sp>
        <p:nvSpPr>
          <p:cNvPr id="10" name="Text 8"/>
          <p:cNvSpPr txBox="1"/>
          <p:nvPr/>
        </p:nvSpPr>
        <p:spPr>
          <a:xfrm>
            <a:off x="1024128" y="1645920"/>
            <a:ext cx="3108960" cy="859536"/>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Group similar tasks</a:t>
            </a:r>
            <a:endParaRPr lang="en-US" sz="1300" dirty="0"/>
          </a:p>
        </p:txBody>
      </p:sp>
      <p:sp>
        <p:nvSpPr>
          <p:cNvPr id="11" name="Text 9"/>
          <p:cNvSpPr txBox="1"/>
          <p:nvPr/>
        </p:nvSpPr>
        <p:spPr>
          <a:xfrm>
            <a:off x="4315968" y="1627632"/>
            <a:ext cx="7132320" cy="896112"/>
          </a:xfrm>
          <a:prstGeom prst="rect">
            <a:avLst/>
          </a:prstGeom>
          <a:noFill/>
          <a:ln/>
        </p:spPr>
        <p:txBody>
          <a:bodyPr wrap="square" lIns="0" tIns="0" rIns="0" bIns="0" rtlCol="0" anchor="ctr"/>
          <a:lstStyle/>
          <a:p>
            <a:pPr marL="0" indent="0">
              <a:buNone/>
            </a:pPr>
            <a:r>
              <a:rPr lang="en-US" sz="1220" dirty="0">
                <a:solidFill>
                  <a:srgbClr val="38242F"/>
                </a:solidFill>
                <a:latin typeface="Calibri" pitchFamily="34" charset="0"/>
                <a:ea typeface="Calibri" pitchFamily="34" charset="-122"/>
                <a:cs typeface="Calibri" pitchFamily="34" charset="-120"/>
              </a:rPr>
              <a:t>Bundle captioning together, transcription together, and train each group separately or with a group marker. Coarse: it prevents the worst interference and forfeits sharing between groups.</a:t>
            </a:r>
            <a:endParaRPr lang="en-US" sz="1220" dirty="0"/>
          </a:p>
        </p:txBody>
      </p:sp>
      <p:sp>
        <p:nvSpPr>
          <p:cNvPr id="12" name="Shape 10"/>
          <p:cNvSpPr/>
          <p:nvPr/>
        </p:nvSpPr>
        <p:spPr>
          <a:xfrm>
            <a:off x="566928" y="2651760"/>
            <a:ext cx="11064240" cy="1042416"/>
          </a:xfrm>
          <a:prstGeom prst="roundRect">
            <a:avLst>
              <a:gd name="adj" fmla="val 2632"/>
            </a:avLst>
          </a:prstGeom>
          <a:solidFill>
            <a:srgbClr val="FFFFFF"/>
          </a:solidFill>
          <a:ln w="12700">
            <a:solidFill>
              <a:srgbClr val="F0E6EC"/>
            </a:solidFill>
            <a:prstDash val="solid"/>
          </a:ln>
        </p:spPr>
        <p:txBody>
          <a:bodyPr/>
          <a:lstStyle/>
          <a:p>
            <a:endParaRPr lang="en-US"/>
          </a:p>
        </p:txBody>
      </p:sp>
      <p:sp>
        <p:nvSpPr>
          <p:cNvPr id="13" name="Shape 11"/>
          <p:cNvSpPr/>
          <p:nvPr/>
        </p:nvSpPr>
        <p:spPr>
          <a:xfrm>
            <a:off x="786384" y="3113532"/>
            <a:ext cx="118872" cy="118872"/>
          </a:xfrm>
          <a:prstGeom prst="ellipse">
            <a:avLst/>
          </a:prstGeom>
          <a:solidFill>
            <a:srgbClr val="8A3F6B"/>
          </a:solidFill>
          <a:ln w="12700">
            <a:solidFill>
              <a:srgbClr val="333333"/>
            </a:solidFill>
            <a:prstDash val="solid"/>
          </a:ln>
        </p:spPr>
        <p:txBody>
          <a:bodyPr/>
          <a:lstStyle/>
          <a:p>
            <a:endParaRPr lang="en-US"/>
          </a:p>
        </p:txBody>
      </p:sp>
      <p:sp>
        <p:nvSpPr>
          <p:cNvPr id="14" name="Text 12"/>
          <p:cNvSpPr txBox="1"/>
          <p:nvPr/>
        </p:nvSpPr>
        <p:spPr>
          <a:xfrm>
            <a:off x="1024128" y="2743200"/>
            <a:ext cx="3108960" cy="859536"/>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Assign a dataset ID</a:t>
            </a:r>
            <a:endParaRPr lang="en-US" sz="1300" dirty="0"/>
          </a:p>
        </p:txBody>
      </p:sp>
      <p:sp>
        <p:nvSpPr>
          <p:cNvPr id="15" name="Text 13"/>
          <p:cNvSpPr txBox="1"/>
          <p:nvPr/>
        </p:nvSpPr>
        <p:spPr>
          <a:xfrm>
            <a:off x="4315968" y="2724912"/>
            <a:ext cx="7132320" cy="896112"/>
          </a:xfrm>
          <a:prstGeom prst="rect">
            <a:avLst/>
          </a:prstGeom>
          <a:noFill/>
          <a:ln/>
        </p:spPr>
        <p:txBody>
          <a:bodyPr wrap="square" lIns="0" tIns="0" rIns="0" bIns="0" rtlCol="0" anchor="ctr"/>
          <a:lstStyle/>
          <a:p>
            <a:pPr marL="0" indent="0">
              <a:buNone/>
            </a:pPr>
            <a:r>
              <a:rPr lang="en-US" sz="1220" dirty="0">
                <a:solidFill>
                  <a:srgbClr val="38242F"/>
                </a:solidFill>
                <a:latin typeface="Calibri" pitchFamily="34" charset="0"/>
                <a:ea typeface="Calibri" pitchFamily="34" charset="-122"/>
                <a:cs typeface="Calibri" pitchFamily="34" charset="-120"/>
              </a:rPr>
              <a:t>Give each dataset its own identifier token. Effective at separation, but every dataset becomes its own island — no knowledge sharing at all, which is the whole point of co-training.</a:t>
            </a:r>
            <a:endParaRPr lang="en-US" sz="1220" dirty="0"/>
          </a:p>
        </p:txBody>
      </p:sp>
      <p:sp>
        <p:nvSpPr>
          <p:cNvPr id="16" name="Shape 14"/>
          <p:cNvSpPr/>
          <p:nvPr/>
        </p:nvSpPr>
        <p:spPr>
          <a:xfrm>
            <a:off x="566928" y="3749040"/>
            <a:ext cx="11064240" cy="1042416"/>
          </a:xfrm>
          <a:prstGeom prst="roundRect">
            <a:avLst>
              <a:gd name="adj" fmla="val 2632"/>
            </a:avLst>
          </a:prstGeom>
          <a:solidFill>
            <a:srgbClr val="F7F0F4"/>
          </a:solidFill>
          <a:ln w="12700">
            <a:solidFill>
              <a:srgbClr val="F0E6EC"/>
            </a:solidFill>
            <a:prstDash val="solid"/>
          </a:ln>
        </p:spPr>
        <p:txBody>
          <a:bodyPr/>
          <a:lstStyle/>
          <a:p>
            <a:endParaRPr lang="en-US"/>
          </a:p>
        </p:txBody>
      </p:sp>
      <p:sp>
        <p:nvSpPr>
          <p:cNvPr id="17" name="Shape 15"/>
          <p:cNvSpPr/>
          <p:nvPr/>
        </p:nvSpPr>
        <p:spPr>
          <a:xfrm>
            <a:off x="786384" y="4210812"/>
            <a:ext cx="118872" cy="118872"/>
          </a:xfrm>
          <a:prstGeom prst="ellipse">
            <a:avLst/>
          </a:prstGeom>
          <a:solidFill>
            <a:srgbClr val="8A3F6B"/>
          </a:solidFill>
          <a:ln w="12700">
            <a:solidFill>
              <a:srgbClr val="333333"/>
            </a:solidFill>
            <a:prstDash val="solid"/>
          </a:ln>
        </p:spPr>
        <p:txBody>
          <a:bodyPr/>
          <a:lstStyle/>
          <a:p>
            <a:endParaRPr lang="en-US"/>
          </a:p>
        </p:txBody>
      </p:sp>
      <p:sp>
        <p:nvSpPr>
          <p:cNvPr id="18" name="Text 16"/>
          <p:cNvSpPr txBox="1"/>
          <p:nvPr/>
        </p:nvSpPr>
        <p:spPr>
          <a:xfrm>
            <a:off x="1024128" y="3840480"/>
            <a:ext cx="3108960" cy="859536"/>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Whisper's task tokens</a:t>
            </a:r>
            <a:endParaRPr lang="en-US" sz="1300" dirty="0"/>
          </a:p>
        </p:txBody>
      </p:sp>
      <p:sp>
        <p:nvSpPr>
          <p:cNvPr id="19" name="Text 17"/>
          <p:cNvSpPr txBox="1"/>
          <p:nvPr/>
        </p:nvSpPr>
        <p:spPr>
          <a:xfrm>
            <a:off x="4315968" y="3822192"/>
            <a:ext cx="7132320" cy="896112"/>
          </a:xfrm>
          <a:prstGeom prst="rect">
            <a:avLst/>
          </a:prstGeom>
          <a:noFill/>
          <a:ln/>
        </p:spPr>
        <p:txBody>
          <a:bodyPr wrap="square" lIns="0" tIns="0" rIns="0" bIns="0" rtlCol="0" anchor="ctr"/>
          <a:lstStyle/>
          <a:p>
            <a:pPr marL="0" indent="0">
              <a:buNone/>
            </a:pPr>
            <a:r>
              <a:rPr lang="en-US" sz="1220" dirty="0">
                <a:solidFill>
                  <a:srgbClr val="38242F"/>
                </a:solidFill>
                <a:latin typeface="Calibri" pitchFamily="34" charset="0"/>
                <a:ea typeface="Calibri" pitchFamily="34" charset="-122"/>
                <a:cs typeface="Calibri" pitchFamily="34" charset="-120"/>
              </a:rPr>
              <a:t>A template specifying task and condition information as special input tokens to the decoder: voice activity, language ID, sentence-level timestamps. The right idea — but Whisper only covers speech recognition and translation.</a:t>
            </a:r>
            <a:endParaRPr lang="en-US" sz="1220" dirty="0"/>
          </a:p>
        </p:txBody>
      </p:sp>
      <p:sp>
        <p:nvSpPr>
          <p:cNvPr id="20" name="Shape 18"/>
          <p:cNvSpPr/>
          <p:nvPr/>
        </p:nvSpPr>
        <p:spPr>
          <a:xfrm>
            <a:off x="566928" y="4846320"/>
            <a:ext cx="11064240" cy="1042416"/>
          </a:xfrm>
          <a:prstGeom prst="roundRect">
            <a:avLst>
              <a:gd name="adj" fmla="val 2632"/>
            </a:avLst>
          </a:prstGeom>
          <a:solidFill>
            <a:srgbClr val="FFFFFF"/>
          </a:solidFill>
          <a:ln w="12700">
            <a:solidFill>
              <a:srgbClr val="F0E6EC"/>
            </a:solidFill>
            <a:prstDash val="solid"/>
          </a:ln>
        </p:spPr>
        <p:txBody>
          <a:bodyPr/>
          <a:lstStyle/>
          <a:p>
            <a:endParaRPr lang="en-US"/>
          </a:p>
        </p:txBody>
      </p:sp>
      <p:sp>
        <p:nvSpPr>
          <p:cNvPr id="21" name="Shape 19"/>
          <p:cNvSpPr/>
          <p:nvPr/>
        </p:nvSpPr>
        <p:spPr>
          <a:xfrm>
            <a:off x="786384" y="5308092"/>
            <a:ext cx="118872" cy="118872"/>
          </a:xfrm>
          <a:prstGeom prst="ellipse">
            <a:avLst/>
          </a:prstGeom>
          <a:solidFill>
            <a:srgbClr val="8A3F6B"/>
          </a:solidFill>
          <a:ln w="12700">
            <a:solidFill>
              <a:srgbClr val="333333"/>
            </a:solidFill>
            <a:prstDash val="solid"/>
          </a:ln>
        </p:spPr>
        <p:txBody>
          <a:bodyPr/>
          <a:lstStyle/>
          <a:p>
            <a:endParaRPr lang="en-US"/>
          </a:p>
        </p:txBody>
      </p:sp>
      <p:sp>
        <p:nvSpPr>
          <p:cNvPr id="22" name="Text 20"/>
          <p:cNvSpPr txBox="1"/>
          <p:nvPr/>
        </p:nvSpPr>
        <p:spPr>
          <a:xfrm>
            <a:off x="1024128" y="4937760"/>
            <a:ext cx="3108960" cy="859536"/>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What Qwen-Audio wants instead</a:t>
            </a:r>
            <a:endParaRPr lang="en-US" sz="1300" dirty="0"/>
          </a:p>
        </p:txBody>
      </p:sp>
      <p:sp>
        <p:nvSpPr>
          <p:cNvPr id="23" name="Text 21"/>
          <p:cNvSpPr txBox="1"/>
          <p:nvPr/>
        </p:nvSpPr>
        <p:spPr>
          <a:xfrm>
            <a:off x="4315968" y="4919472"/>
            <a:ext cx="7132320" cy="896112"/>
          </a:xfrm>
          <a:prstGeom prst="rect">
            <a:avLst/>
          </a:prstGeom>
          <a:noFill/>
          <a:ln/>
        </p:spPr>
        <p:txBody>
          <a:bodyPr wrap="square" lIns="0" tIns="0" rIns="0" bIns="0" rtlCol="0" anchor="ctr"/>
          <a:lstStyle/>
          <a:p>
            <a:pPr marL="0" indent="0">
              <a:buNone/>
            </a:pPr>
            <a:r>
              <a:rPr lang="en-US" sz="1220" dirty="0">
                <a:solidFill>
                  <a:srgbClr val="38242F"/>
                </a:solidFill>
                <a:latin typeface="Calibri" pitchFamily="34" charset="0"/>
                <a:ea typeface="Calibri" pitchFamily="34" charset="-122"/>
                <a:cs typeface="Calibri" pitchFamily="34" charset="-120"/>
              </a:rPr>
              <a:t>Sharing where tasks are similar, separation where they are not, with the granularity chosen per axis rather than per dataset. That is what a hierarchy buys over a flat identifier.</a:t>
            </a:r>
            <a:endParaRPr lang="en-US" sz="1220" dirty="0"/>
          </a:p>
        </p:txBody>
      </p:sp>
      <p:sp>
        <p:nvSpPr>
          <p:cNvPr id="24" name="Shape 22"/>
          <p:cNvSpPr/>
          <p:nvPr/>
        </p:nvSpPr>
        <p:spPr>
          <a:xfrm>
            <a:off x="566928" y="5943600"/>
            <a:ext cx="11064240" cy="18288"/>
          </a:xfrm>
          <a:prstGeom prst="roundRect">
            <a:avLst>
              <a:gd name="adj" fmla="val 300000"/>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331E2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210312" cy="210312"/>
          </a:xfrm>
          <a:prstGeom prst="roundRect">
            <a:avLst>
              <a:gd name="adj" fmla="val 8696"/>
            </a:avLst>
          </a:prstGeom>
          <a:solidFill>
            <a:srgbClr val="E2C6D6"/>
          </a:solidFill>
          <a:ln w="12700">
            <a:solidFill>
              <a:srgbClr val="333333"/>
            </a:solidFill>
            <a:prstDash val="solid"/>
          </a:ln>
        </p:spPr>
        <p:txBody>
          <a:bodyPr/>
          <a:lstStyle/>
          <a:p>
            <a:endParaRPr lang="en-US"/>
          </a:p>
        </p:txBody>
      </p:sp>
      <p:sp>
        <p:nvSpPr>
          <p:cNvPr id="3" name="Shape 1"/>
          <p:cNvSpPr/>
          <p:nvPr/>
        </p:nvSpPr>
        <p:spPr>
          <a:xfrm>
            <a:off x="10881360" y="5522976"/>
            <a:ext cx="210312" cy="210312"/>
          </a:xfrm>
          <a:prstGeom prst="roundRect">
            <a:avLst>
              <a:gd name="adj" fmla="val 8696"/>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155680" y="5742432"/>
            <a:ext cx="210312" cy="210312"/>
          </a:xfrm>
          <a:prstGeom prst="roundRect">
            <a:avLst>
              <a:gd name="adj" fmla="val 8696"/>
            </a:avLst>
          </a:prstGeom>
          <a:solidFill>
            <a:srgbClr val="E2C6D6"/>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3FA88A"/>
                </a:solidFill>
                <a:latin typeface="Cambria" pitchFamily="34" charset="0"/>
                <a:ea typeface="Cambria" pitchFamily="34" charset="-122"/>
                <a:cs typeface="Cambria" pitchFamily="34" charset="-120"/>
              </a:rPr>
              <a:t>2</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The hierarchical tag framework</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E2C6D6"/>
                </a:solidFill>
                <a:latin typeface="Calibri" pitchFamily="34" charset="0"/>
                <a:ea typeface="Calibri" pitchFamily="34" charset="-122"/>
                <a:cs typeface="Calibri" pitchFamily="34" charset="-120"/>
              </a:rPr>
              <a:t>The paper's central contribution</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Six tags, in order</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Everything before the output text is a decision about what to produce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8</a:t>
            </a:r>
            <a:endParaRPr lang="en-US" sz="900" dirty="0"/>
          </a:p>
        </p:txBody>
      </p:sp>
      <p:sp>
        <p:nvSpPr>
          <p:cNvPr id="8" name="Text 6"/>
          <p:cNvSpPr txBox="1"/>
          <p:nvPr/>
        </p:nvSpPr>
        <p:spPr>
          <a:xfrm>
            <a:off x="786384" y="1444752"/>
            <a:ext cx="914400" cy="274320"/>
          </a:xfrm>
          <a:prstGeom prst="rect">
            <a:avLst/>
          </a:prstGeom>
          <a:noFill/>
          <a:ln/>
        </p:spPr>
        <p:txBody>
          <a:bodyPr wrap="square" lIns="0" tIns="0" rIns="0" bIns="0" rtlCol="0" anchor="ctr"/>
          <a:lstStyle/>
          <a:p>
            <a:pPr marL="0" indent="0">
              <a:buNone/>
            </a:pPr>
            <a:r>
              <a:rPr lang="en-US" sz="1150" b="1" dirty="0">
                <a:solidFill>
                  <a:srgbClr val="6E5464"/>
                </a:solidFill>
                <a:latin typeface="Calibri" pitchFamily="34" charset="0"/>
                <a:ea typeface="Calibri" pitchFamily="34" charset="-122"/>
                <a:cs typeface="Calibri" pitchFamily="34" charset="-120"/>
              </a:rPr>
              <a:t>Position</a:t>
            </a:r>
            <a:endParaRPr lang="en-US" sz="1150" dirty="0"/>
          </a:p>
        </p:txBody>
      </p:sp>
      <p:sp>
        <p:nvSpPr>
          <p:cNvPr id="9" name="Text 7"/>
          <p:cNvSpPr txBox="1"/>
          <p:nvPr/>
        </p:nvSpPr>
        <p:spPr>
          <a:xfrm>
            <a:off x="1554480" y="1444752"/>
            <a:ext cx="2286000" cy="274320"/>
          </a:xfrm>
          <a:prstGeom prst="rect">
            <a:avLst/>
          </a:prstGeom>
          <a:noFill/>
          <a:ln/>
        </p:spPr>
        <p:txBody>
          <a:bodyPr wrap="square" lIns="0" tIns="0" rIns="0" bIns="0" rtlCol="0" anchor="ctr"/>
          <a:lstStyle/>
          <a:p>
            <a:pPr marL="0" indent="0">
              <a:buNone/>
            </a:pPr>
            <a:r>
              <a:rPr lang="en-US" sz="1150" b="1" dirty="0">
                <a:solidFill>
                  <a:srgbClr val="6E5464"/>
                </a:solidFill>
                <a:latin typeface="Calibri" pitchFamily="34" charset="0"/>
                <a:ea typeface="Calibri" pitchFamily="34" charset="-122"/>
                <a:cs typeface="Calibri" pitchFamily="34" charset="-120"/>
              </a:rPr>
              <a:t>Tag</a:t>
            </a:r>
            <a:endParaRPr lang="en-US" sz="1150" dirty="0"/>
          </a:p>
        </p:txBody>
      </p:sp>
      <p:sp>
        <p:nvSpPr>
          <p:cNvPr id="10" name="Text 8"/>
          <p:cNvSpPr txBox="1"/>
          <p:nvPr/>
        </p:nvSpPr>
        <p:spPr>
          <a:xfrm>
            <a:off x="3931920" y="1444752"/>
            <a:ext cx="3749040" cy="274320"/>
          </a:xfrm>
          <a:prstGeom prst="rect">
            <a:avLst/>
          </a:prstGeom>
          <a:noFill/>
          <a:ln/>
        </p:spPr>
        <p:txBody>
          <a:bodyPr wrap="square" lIns="0" tIns="0" rIns="0" bIns="0" rtlCol="0" anchor="ctr"/>
          <a:lstStyle/>
          <a:p>
            <a:pPr marL="0" indent="0">
              <a:buNone/>
            </a:pPr>
            <a:r>
              <a:rPr lang="en-US" sz="1150" b="1" dirty="0">
                <a:solidFill>
                  <a:srgbClr val="6E5464"/>
                </a:solidFill>
                <a:latin typeface="Calibri" pitchFamily="34" charset="0"/>
                <a:ea typeface="Calibri" pitchFamily="34" charset="-122"/>
                <a:cs typeface="Calibri" pitchFamily="34" charset="-120"/>
              </a:rPr>
              <a:t>Values</a:t>
            </a:r>
            <a:endParaRPr lang="en-US" sz="1150" dirty="0"/>
          </a:p>
        </p:txBody>
      </p:sp>
      <p:sp>
        <p:nvSpPr>
          <p:cNvPr id="11" name="Text 9"/>
          <p:cNvSpPr txBox="1"/>
          <p:nvPr/>
        </p:nvSpPr>
        <p:spPr>
          <a:xfrm>
            <a:off x="7772400" y="1444752"/>
            <a:ext cx="3749040" cy="274320"/>
          </a:xfrm>
          <a:prstGeom prst="rect">
            <a:avLst/>
          </a:prstGeom>
          <a:noFill/>
          <a:ln/>
        </p:spPr>
        <p:txBody>
          <a:bodyPr wrap="square" lIns="0" tIns="0" rIns="0" bIns="0" rtlCol="0" anchor="ctr"/>
          <a:lstStyle/>
          <a:p>
            <a:pPr marL="0" indent="0">
              <a:buNone/>
            </a:pPr>
            <a:r>
              <a:rPr lang="en-US" sz="1150" b="1" dirty="0">
                <a:solidFill>
                  <a:srgbClr val="6E5464"/>
                </a:solidFill>
                <a:latin typeface="Calibri" pitchFamily="34" charset="0"/>
                <a:ea typeface="Calibri" pitchFamily="34" charset="-122"/>
                <a:cs typeface="Calibri" pitchFamily="34" charset="-120"/>
              </a:rPr>
              <a:t>What it separates</a:t>
            </a:r>
            <a:endParaRPr lang="en-US" sz="1150" dirty="0"/>
          </a:p>
        </p:txBody>
      </p:sp>
      <p:sp>
        <p:nvSpPr>
          <p:cNvPr id="12" name="Shape 10"/>
          <p:cNvSpPr/>
          <p:nvPr/>
        </p:nvSpPr>
        <p:spPr>
          <a:xfrm>
            <a:off x="566928" y="1737360"/>
            <a:ext cx="11064240" cy="530352"/>
          </a:xfrm>
          <a:prstGeom prst="roundRect">
            <a:avLst>
              <a:gd name="adj" fmla="val 3448"/>
            </a:avLst>
          </a:prstGeom>
          <a:solidFill>
            <a:srgbClr val="F7F0F4"/>
          </a:solidFill>
          <a:ln w="12700">
            <a:solidFill>
              <a:srgbClr val="F0E6EC"/>
            </a:solidFill>
            <a:prstDash val="solid"/>
          </a:ln>
        </p:spPr>
        <p:txBody>
          <a:bodyPr/>
          <a:lstStyle/>
          <a:p>
            <a:endParaRPr lang="en-US"/>
          </a:p>
        </p:txBody>
      </p:sp>
      <p:sp>
        <p:nvSpPr>
          <p:cNvPr id="13" name="Text 11"/>
          <p:cNvSpPr txBox="1"/>
          <p:nvPr/>
        </p:nvSpPr>
        <p:spPr>
          <a:xfrm>
            <a:off x="786384" y="1801368"/>
            <a:ext cx="914400" cy="402336"/>
          </a:xfrm>
          <a:prstGeom prst="rect">
            <a:avLst/>
          </a:prstGeom>
          <a:noFill/>
          <a:ln/>
        </p:spPr>
        <p:txBody>
          <a:bodyPr wrap="square" lIns="0" tIns="0" rIns="0" bIns="0" rtlCol="0" anchor="ctr"/>
          <a:lstStyle/>
          <a:p>
            <a:pPr marL="0" indent="0">
              <a:buNone/>
            </a:pPr>
            <a:r>
              <a:rPr lang="en-US" sz="1130" b="1" dirty="0">
                <a:solidFill>
                  <a:srgbClr val="241520"/>
                </a:solidFill>
                <a:latin typeface="Calibri" pitchFamily="34" charset="0"/>
                <a:ea typeface="Calibri" pitchFamily="34" charset="-122"/>
                <a:cs typeface="Calibri" pitchFamily="34" charset="-120"/>
              </a:rPr>
              <a:t>1</a:t>
            </a:r>
            <a:endParaRPr lang="en-US" sz="1130" dirty="0"/>
          </a:p>
        </p:txBody>
      </p:sp>
      <p:sp>
        <p:nvSpPr>
          <p:cNvPr id="14" name="Text 12"/>
          <p:cNvSpPr txBox="1"/>
          <p:nvPr/>
        </p:nvSpPr>
        <p:spPr>
          <a:xfrm>
            <a:off x="1554480" y="1801368"/>
            <a:ext cx="228600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Transcription tag</a:t>
            </a:r>
            <a:endParaRPr lang="en-US" sz="1130" dirty="0"/>
          </a:p>
        </p:txBody>
      </p:sp>
      <p:sp>
        <p:nvSpPr>
          <p:cNvPr id="15" name="Text 13"/>
          <p:cNvSpPr txBox="1"/>
          <p:nvPr/>
        </p:nvSpPr>
        <p:spPr>
          <a:xfrm>
            <a:off x="3931920" y="1801368"/>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&lt;|startoftranscripts|&gt;  ·  &lt;|startofanalysis|&gt;</a:t>
            </a:r>
            <a:endParaRPr lang="en-US" sz="1130" dirty="0"/>
          </a:p>
        </p:txBody>
      </p:sp>
      <p:sp>
        <p:nvSpPr>
          <p:cNvPr id="16" name="Text 14"/>
          <p:cNvSpPr txBox="1"/>
          <p:nvPr/>
        </p:nvSpPr>
        <p:spPr>
          <a:xfrm>
            <a:off x="7772400" y="1801368"/>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Transcribing linguistic content from everything else</a:t>
            </a:r>
            <a:endParaRPr lang="en-US" sz="1130" dirty="0"/>
          </a:p>
        </p:txBody>
      </p:sp>
      <p:sp>
        <p:nvSpPr>
          <p:cNvPr id="17" name="Shape 15"/>
          <p:cNvSpPr/>
          <p:nvPr/>
        </p:nvSpPr>
        <p:spPr>
          <a:xfrm>
            <a:off x="566928" y="2304288"/>
            <a:ext cx="11064240" cy="530352"/>
          </a:xfrm>
          <a:prstGeom prst="roundRect">
            <a:avLst>
              <a:gd name="adj" fmla="val 3448"/>
            </a:avLst>
          </a:prstGeom>
          <a:solidFill>
            <a:srgbClr val="FFFFFF"/>
          </a:solidFill>
          <a:ln w="12700">
            <a:solidFill>
              <a:srgbClr val="F0E6EC"/>
            </a:solidFill>
            <a:prstDash val="solid"/>
          </a:ln>
        </p:spPr>
        <p:txBody>
          <a:bodyPr/>
          <a:lstStyle/>
          <a:p>
            <a:endParaRPr lang="en-US"/>
          </a:p>
        </p:txBody>
      </p:sp>
      <p:sp>
        <p:nvSpPr>
          <p:cNvPr id="18" name="Text 16"/>
          <p:cNvSpPr txBox="1"/>
          <p:nvPr/>
        </p:nvSpPr>
        <p:spPr>
          <a:xfrm>
            <a:off x="786384" y="2368296"/>
            <a:ext cx="914400" cy="402336"/>
          </a:xfrm>
          <a:prstGeom prst="rect">
            <a:avLst/>
          </a:prstGeom>
          <a:noFill/>
          <a:ln/>
        </p:spPr>
        <p:txBody>
          <a:bodyPr wrap="square" lIns="0" tIns="0" rIns="0" bIns="0" rtlCol="0" anchor="ctr"/>
          <a:lstStyle/>
          <a:p>
            <a:pPr marL="0" indent="0">
              <a:buNone/>
            </a:pPr>
            <a:r>
              <a:rPr lang="en-US" sz="1130" b="1" dirty="0">
                <a:solidFill>
                  <a:srgbClr val="241520"/>
                </a:solidFill>
                <a:latin typeface="Calibri" pitchFamily="34" charset="0"/>
                <a:ea typeface="Calibri" pitchFamily="34" charset="-122"/>
                <a:cs typeface="Calibri" pitchFamily="34" charset="-120"/>
              </a:rPr>
              <a:t>2</a:t>
            </a:r>
            <a:endParaRPr lang="en-US" sz="1130" dirty="0"/>
          </a:p>
        </p:txBody>
      </p:sp>
      <p:sp>
        <p:nvSpPr>
          <p:cNvPr id="19" name="Text 17"/>
          <p:cNvSpPr txBox="1"/>
          <p:nvPr/>
        </p:nvSpPr>
        <p:spPr>
          <a:xfrm>
            <a:off x="1554480" y="2368296"/>
            <a:ext cx="228600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Audio language tag</a:t>
            </a:r>
            <a:endParaRPr lang="en-US" sz="1130" dirty="0"/>
          </a:p>
        </p:txBody>
      </p:sp>
      <p:sp>
        <p:nvSpPr>
          <p:cNvPr id="20" name="Text 18"/>
          <p:cNvSpPr txBox="1"/>
          <p:nvPr/>
        </p:nvSpPr>
        <p:spPr>
          <a:xfrm>
            <a:off x="3931920" y="2368296"/>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One token per language, eight in total, or &lt;|unknown|&gt;</a:t>
            </a:r>
            <a:endParaRPr lang="en-US" sz="1130" dirty="0"/>
          </a:p>
        </p:txBody>
      </p:sp>
      <p:sp>
        <p:nvSpPr>
          <p:cNvPr id="21" name="Text 19"/>
          <p:cNvSpPr txBox="1"/>
          <p:nvPr/>
        </p:nvSpPr>
        <p:spPr>
          <a:xfrm>
            <a:off x="7772400" y="2368296"/>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Which language is being spoken — unknown for music and sound</a:t>
            </a:r>
            <a:endParaRPr lang="en-US" sz="1130" dirty="0"/>
          </a:p>
        </p:txBody>
      </p:sp>
      <p:sp>
        <p:nvSpPr>
          <p:cNvPr id="22" name="Shape 20"/>
          <p:cNvSpPr/>
          <p:nvPr/>
        </p:nvSpPr>
        <p:spPr>
          <a:xfrm>
            <a:off x="566928" y="2871216"/>
            <a:ext cx="11064240" cy="530352"/>
          </a:xfrm>
          <a:prstGeom prst="roundRect">
            <a:avLst>
              <a:gd name="adj" fmla="val 3448"/>
            </a:avLst>
          </a:prstGeom>
          <a:solidFill>
            <a:srgbClr val="F7F0F4"/>
          </a:solidFill>
          <a:ln w="12700">
            <a:solidFill>
              <a:srgbClr val="F0E6EC"/>
            </a:solidFill>
            <a:prstDash val="solid"/>
          </a:ln>
        </p:spPr>
        <p:txBody>
          <a:bodyPr/>
          <a:lstStyle/>
          <a:p>
            <a:endParaRPr lang="en-US"/>
          </a:p>
        </p:txBody>
      </p:sp>
      <p:sp>
        <p:nvSpPr>
          <p:cNvPr id="23" name="Text 21"/>
          <p:cNvSpPr txBox="1"/>
          <p:nvPr/>
        </p:nvSpPr>
        <p:spPr>
          <a:xfrm>
            <a:off x="786384" y="2935224"/>
            <a:ext cx="914400" cy="402336"/>
          </a:xfrm>
          <a:prstGeom prst="rect">
            <a:avLst/>
          </a:prstGeom>
          <a:noFill/>
          <a:ln/>
        </p:spPr>
        <p:txBody>
          <a:bodyPr wrap="square" lIns="0" tIns="0" rIns="0" bIns="0" rtlCol="0" anchor="ctr"/>
          <a:lstStyle/>
          <a:p>
            <a:pPr marL="0" indent="0">
              <a:buNone/>
            </a:pPr>
            <a:r>
              <a:rPr lang="en-US" sz="1130" b="1" dirty="0">
                <a:solidFill>
                  <a:srgbClr val="241520"/>
                </a:solidFill>
                <a:latin typeface="Calibri" pitchFamily="34" charset="0"/>
                <a:ea typeface="Calibri" pitchFamily="34" charset="-122"/>
                <a:cs typeface="Calibri" pitchFamily="34" charset="-120"/>
              </a:rPr>
              <a:t>3</a:t>
            </a:r>
            <a:endParaRPr lang="en-US" sz="1130" dirty="0"/>
          </a:p>
        </p:txBody>
      </p:sp>
      <p:sp>
        <p:nvSpPr>
          <p:cNvPr id="24" name="Text 22"/>
          <p:cNvSpPr txBox="1"/>
          <p:nvPr/>
        </p:nvSpPr>
        <p:spPr>
          <a:xfrm>
            <a:off x="1554480" y="2935224"/>
            <a:ext cx="228600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Task tag</a:t>
            </a:r>
            <a:endParaRPr lang="en-US" sz="1130" dirty="0"/>
          </a:p>
        </p:txBody>
      </p:sp>
      <p:sp>
        <p:nvSpPr>
          <p:cNvPr id="25" name="Text 23"/>
          <p:cNvSpPr txBox="1"/>
          <p:nvPr/>
        </p:nvSpPr>
        <p:spPr>
          <a:xfrm>
            <a:off x="3931920" y="2935224"/>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transcribe · translate · caption · analysis · question-answer</a:t>
            </a:r>
            <a:endParaRPr lang="en-US" sz="1130" dirty="0"/>
          </a:p>
        </p:txBody>
      </p:sp>
      <p:sp>
        <p:nvSpPr>
          <p:cNvPr id="26" name="Text 24"/>
          <p:cNvSpPr txBox="1"/>
          <p:nvPr/>
        </p:nvSpPr>
        <p:spPr>
          <a:xfrm>
            <a:off x="7772400" y="2935224"/>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The five task families; QA appends the question after the tag</a:t>
            </a:r>
            <a:endParaRPr lang="en-US" sz="1130" dirty="0"/>
          </a:p>
        </p:txBody>
      </p:sp>
      <p:sp>
        <p:nvSpPr>
          <p:cNvPr id="27" name="Shape 25"/>
          <p:cNvSpPr/>
          <p:nvPr/>
        </p:nvSpPr>
        <p:spPr>
          <a:xfrm>
            <a:off x="566928" y="3438144"/>
            <a:ext cx="11064240" cy="530352"/>
          </a:xfrm>
          <a:prstGeom prst="roundRect">
            <a:avLst>
              <a:gd name="adj" fmla="val 3448"/>
            </a:avLst>
          </a:prstGeom>
          <a:solidFill>
            <a:srgbClr val="FFFFFF"/>
          </a:solidFill>
          <a:ln w="12700">
            <a:solidFill>
              <a:srgbClr val="F0E6EC"/>
            </a:solidFill>
            <a:prstDash val="solid"/>
          </a:ln>
        </p:spPr>
        <p:txBody>
          <a:bodyPr/>
          <a:lstStyle/>
          <a:p>
            <a:endParaRPr lang="en-US"/>
          </a:p>
        </p:txBody>
      </p:sp>
      <p:sp>
        <p:nvSpPr>
          <p:cNvPr id="28" name="Text 26"/>
          <p:cNvSpPr txBox="1"/>
          <p:nvPr/>
        </p:nvSpPr>
        <p:spPr>
          <a:xfrm>
            <a:off x="786384" y="3502152"/>
            <a:ext cx="914400" cy="402336"/>
          </a:xfrm>
          <a:prstGeom prst="rect">
            <a:avLst/>
          </a:prstGeom>
          <a:noFill/>
          <a:ln/>
        </p:spPr>
        <p:txBody>
          <a:bodyPr wrap="square" lIns="0" tIns="0" rIns="0" bIns="0" rtlCol="0" anchor="ctr"/>
          <a:lstStyle/>
          <a:p>
            <a:pPr marL="0" indent="0">
              <a:buNone/>
            </a:pPr>
            <a:r>
              <a:rPr lang="en-US" sz="1130" b="1" dirty="0">
                <a:solidFill>
                  <a:srgbClr val="241520"/>
                </a:solidFill>
                <a:latin typeface="Calibri" pitchFamily="34" charset="0"/>
                <a:ea typeface="Calibri" pitchFamily="34" charset="-122"/>
                <a:cs typeface="Calibri" pitchFamily="34" charset="-120"/>
              </a:rPr>
              <a:t>4</a:t>
            </a:r>
            <a:endParaRPr lang="en-US" sz="1130" dirty="0"/>
          </a:p>
        </p:txBody>
      </p:sp>
      <p:sp>
        <p:nvSpPr>
          <p:cNvPr id="29" name="Text 27"/>
          <p:cNvSpPr txBox="1"/>
          <p:nvPr/>
        </p:nvSpPr>
        <p:spPr>
          <a:xfrm>
            <a:off x="1554480" y="3502152"/>
            <a:ext cx="228600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Text language tag</a:t>
            </a:r>
            <a:endParaRPr lang="en-US" sz="1130" dirty="0"/>
          </a:p>
        </p:txBody>
      </p:sp>
      <p:sp>
        <p:nvSpPr>
          <p:cNvPr id="30" name="Text 28"/>
          <p:cNvSpPr txBox="1"/>
          <p:nvPr/>
        </p:nvSpPr>
        <p:spPr>
          <a:xfrm>
            <a:off x="3931920" y="3502152"/>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One token per output language</a:t>
            </a:r>
            <a:endParaRPr lang="en-US" sz="1130" dirty="0"/>
          </a:p>
        </p:txBody>
      </p:sp>
      <p:sp>
        <p:nvSpPr>
          <p:cNvPr id="31" name="Text 29"/>
          <p:cNvSpPr txBox="1"/>
          <p:nvPr/>
        </p:nvSpPr>
        <p:spPr>
          <a:xfrm>
            <a:off x="7772400" y="3502152"/>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Which language the output text should be in</a:t>
            </a:r>
            <a:endParaRPr lang="en-US" sz="1130" dirty="0"/>
          </a:p>
        </p:txBody>
      </p:sp>
      <p:sp>
        <p:nvSpPr>
          <p:cNvPr id="32" name="Shape 30"/>
          <p:cNvSpPr/>
          <p:nvPr/>
        </p:nvSpPr>
        <p:spPr>
          <a:xfrm>
            <a:off x="566928" y="4005072"/>
            <a:ext cx="11064240" cy="530352"/>
          </a:xfrm>
          <a:prstGeom prst="roundRect">
            <a:avLst>
              <a:gd name="adj" fmla="val 3448"/>
            </a:avLst>
          </a:prstGeom>
          <a:solidFill>
            <a:srgbClr val="F7F0F4"/>
          </a:solidFill>
          <a:ln w="12700">
            <a:solidFill>
              <a:srgbClr val="F0E6EC"/>
            </a:solidFill>
            <a:prstDash val="solid"/>
          </a:ln>
        </p:spPr>
        <p:txBody>
          <a:bodyPr/>
          <a:lstStyle/>
          <a:p>
            <a:endParaRPr lang="en-US"/>
          </a:p>
        </p:txBody>
      </p:sp>
      <p:sp>
        <p:nvSpPr>
          <p:cNvPr id="33" name="Text 31"/>
          <p:cNvSpPr txBox="1"/>
          <p:nvPr/>
        </p:nvSpPr>
        <p:spPr>
          <a:xfrm>
            <a:off x="786384" y="4069080"/>
            <a:ext cx="914400" cy="402336"/>
          </a:xfrm>
          <a:prstGeom prst="rect">
            <a:avLst/>
          </a:prstGeom>
          <a:noFill/>
          <a:ln/>
        </p:spPr>
        <p:txBody>
          <a:bodyPr wrap="square" lIns="0" tIns="0" rIns="0" bIns="0" rtlCol="0" anchor="ctr"/>
          <a:lstStyle/>
          <a:p>
            <a:pPr marL="0" indent="0">
              <a:buNone/>
            </a:pPr>
            <a:r>
              <a:rPr lang="en-US" sz="1130" b="1" dirty="0">
                <a:solidFill>
                  <a:srgbClr val="241520"/>
                </a:solidFill>
                <a:latin typeface="Calibri" pitchFamily="34" charset="0"/>
                <a:ea typeface="Calibri" pitchFamily="34" charset="-122"/>
                <a:cs typeface="Calibri" pitchFamily="34" charset="-120"/>
              </a:rPr>
              <a:t>5</a:t>
            </a:r>
            <a:endParaRPr lang="en-US" sz="1130" dirty="0"/>
          </a:p>
        </p:txBody>
      </p:sp>
      <p:sp>
        <p:nvSpPr>
          <p:cNvPr id="34" name="Text 32"/>
          <p:cNvSpPr txBox="1"/>
          <p:nvPr/>
        </p:nvSpPr>
        <p:spPr>
          <a:xfrm>
            <a:off x="1554480" y="4069080"/>
            <a:ext cx="228600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Timestamps tag</a:t>
            </a:r>
            <a:endParaRPr lang="en-US" sz="1130" dirty="0"/>
          </a:p>
        </p:txBody>
      </p:sp>
      <p:sp>
        <p:nvSpPr>
          <p:cNvPr id="35" name="Text 33"/>
          <p:cNvSpPr txBox="1"/>
          <p:nvPr/>
        </p:nvSpPr>
        <p:spPr>
          <a:xfrm>
            <a:off x="3931920" y="4069080"/>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&lt;|timestamps|&gt;  ·  &lt;|notimestamps|&gt;</a:t>
            </a:r>
            <a:endParaRPr lang="en-US" sz="1130" dirty="0"/>
          </a:p>
        </p:txBody>
      </p:sp>
      <p:sp>
        <p:nvSpPr>
          <p:cNvPr id="36" name="Text 34"/>
          <p:cNvSpPr txBox="1"/>
          <p:nvPr/>
        </p:nvSpPr>
        <p:spPr>
          <a:xfrm>
            <a:off x="7772400" y="4069080"/>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Word-level timestamp prediction, or none</a:t>
            </a:r>
            <a:endParaRPr lang="en-US" sz="1130" dirty="0"/>
          </a:p>
        </p:txBody>
      </p:sp>
      <p:sp>
        <p:nvSpPr>
          <p:cNvPr id="37" name="Shape 35"/>
          <p:cNvSpPr/>
          <p:nvPr/>
        </p:nvSpPr>
        <p:spPr>
          <a:xfrm>
            <a:off x="566928" y="4572000"/>
            <a:ext cx="11064240" cy="530352"/>
          </a:xfrm>
          <a:prstGeom prst="roundRect">
            <a:avLst>
              <a:gd name="adj" fmla="val 3448"/>
            </a:avLst>
          </a:prstGeom>
          <a:solidFill>
            <a:srgbClr val="FFFFFF"/>
          </a:solidFill>
          <a:ln w="12700">
            <a:solidFill>
              <a:srgbClr val="F0E6EC"/>
            </a:solidFill>
            <a:prstDash val="solid"/>
          </a:ln>
        </p:spPr>
        <p:txBody>
          <a:bodyPr/>
          <a:lstStyle/>
          <a:p>
            <a:endParaRPr lang="en-US"/>
          </a:p>
        </p:txBody>
      </p:sp>
      <p:sp>
        <p:nvSpPr>
          <p:cNvPr id="38" name="Text 36"/>
          <p:cNvSpPr txBox="1"/>
          <p:nvPr/>
        </p:nvSpPr>
        <p:spPr>
          <a:xfrm>
            <a:off x="786384" y="4636008"/>
            <a:ext cx="914400" cy="402336"/>
          </a:xfrm>
          <a:prstGeom prst="rect">
            <a:avLst/>
          </a:prstGeom>
          <a:noFill/>
          <a:ln/>
        </p:spPr>
        <p:txBody>
          <a:bodyPr wrap="square" lIns="0" tIns="0" rIns="0" bIns="0" rtlCol="0" anchor="ctr"/>
          <a:lstStyle/>
          <a:p>
            <a:pPr marL="0" indent="0">
              <a:buNone/>
            </a:pPr>
            <a:r>
              <a:rPr lang="en-US" sz="1130" b="1" dirty="0">
                <a:solidFill>
                  <a:srgbClr val="241520"/>
                </a:solidFill>
                <a:latin typeface="Calibri" pitchFamily="34" charset="0"/>
                <a:ea typeface="Calibri" pitchFamily="34" charset="-122"/>
                <a:cs typeface="Calibri" pitchFamily="34" charset="-120"/>
              </a:rPr>
              <a:t>6</a:t>
            </a:r>
            <a:endParaRPr lang="en-US" sz="1130" dirty="0"/>
          </a:p>
        </p:txBody>
      </p:sp>
      <p:sp>
        <p:nvSpPr>
          <p:cNvPr id="39" name="Text 37"/>
          <p:cNvSpPr txBox="1"/>
          <p:nvPr/>
        </p:nvSpPr>
        <p:spPr>
          <a:xfrm>
            <a:off x="1554480" y="4636008"/>
            <a:ext cx="228600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Output instruction</a:t>
            </a:r>
            <a:endParaRPr lang="en-US" sz="1130" dirty="0"/>
          </a:p>
        </p:txBody>
      </p:sp>
      <p:sp>
        <p:nvSpPr>
          <p:cNvPr id="40" name="Text 38"/>
          <p:cNvSpPr txBox="1"/>
          <p:nvPr/>
        </p:nvSpPr>
        <p:spPr>
          <a:xfrm>
            <a:off x="3931920" y="4636008"/>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Free text</a:t>
            </a:r>
            <a:endParaRPr lang="en-US" sz="1130" dirty="0"/>
          </a:p>
        </p:txBody>
      </p:sp>
      <p:sp>
        <p:nvSpPr>
          <p:cNvPr id="41" name="Text 39"/>
          <p:cNvSpPr txBox="1"/>
          <p:nvPr/>
        </p:nvSpPr>
        <p:spPr>
          <a:xfrm>
            <a:off x="7772400" y="4636008"/>
            <a:ext cx="3749040" cy="402336"/>
          </a:xfrm>
          <a:prstGeom prst="rect">
            <a:avLst/>
          </a:prstGeom>
          <a:noFill/>
          <a:ln/>
        </p:spPr>
        <p:txBody>
          <a:bodyPr wrap="square" lIns="0" tIns="0" rIns="0" bIns="0" rtlCol="0" anchor="ctr"/>
          <a:lstStyle/>
          <a:p>
            <a:pPr marL="0" indent="0">
              <a:buNone/>
            </a:pPr>
            <a:r>
              <a:rPr lang="en-US" sz="1130" dirty="0">
                <a:solidFill>
                  <a:srgbClr val="38242F"/>
                </a:solidFill>
                <a:latin typeface="Calibri" pitchFamily="34" charset="0"/>
                <a:ea typeface="Calibri" pitchFamily="34" charset="-122"/>
                <a:cs typeface="Calibri" pitchFamily="34" charset="-120"/>
              </a:rPr>
              <a:t>The specific subtask and desired output format</a:t>
            </a:r>
            <a:endParaRPr lang="en-US" sz="1130" dirty="0"/>
          </a:p>
        </p:txBody>
      </p:sp>
      <p:sp>
        <p:nvSpPr>
          <p:cNvPr id="42" name="Shape 40"/>
          <p:cNvSpPr/>
          <p:nvPr/>
        </p:nvSpPr>
        <p:spPr>
          <a:xfrm>
            <a:off x="566928" y="5157216"/>
            <a:ext cx="11064240" cy="896112"/>
          </a:xfrm>
          <a:prstGeom prst="roundRect">
            <a:avLst>
              <a:gd name="adj" fmla="val 6122"/>
            </a:avLst>
          </a:prstGeom>
          <a:solidFill>
            <a:srgbClr val="331E2E"/>
          </a:solidFill>
          <a:ln w="12700">
            <a:solidFill>
              <a:srgbClr val="331E2E"/>
            </a:solidFill>
            <a:prstDash val="solid"/>
          </a:ln>
        </p:spPr>
        <p:txBody>
          <a:bodyPr/>
          <a:lstStyle/>
          <a:p>
            <a:endParaRPr lang="en-US"/>
          </a:p>
        </p:txBody>
      </p:sp>
      <p:sp>
        <p:nvSpPr>
          <p:cNvPr id="43" name="Text 41"/>
          <p:cNvSpPr txBox="1"/>
          <p:nvPr/>
        </p:nvSpPr>
        <p:spPr>
          <a:xfrm>
            <a:off x="822960" y="5376672"/>
            <a:ext cx="10552176" cy="475488"/>
          </a:xfrm>
          <a:prstGeom prst="rect">
            <a:avLst/>
          </a:prstGeom>
          <a:noFill/>
          <a:ln/>
        </p:spPr>
        <p:txBody>
          <a:bodyPr wrap="square" lIns="0" tIns="0" rIns="0" bIns="0" rtlCol="0" anchor="t"/>
          <a:lstStyle/>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The guiding principle, in the authors' words: maximise the sharing of knowledge among similar tasks through shared tags, while ensuring different tasks and output formats can be distinguished to avoid the one-to-many mapping problem.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The extra task: word-level timestamps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Speech recognition with word-level timestamp prediction — included deliberately, and ablated</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9</a:t>
            </a:r>
            <a:endParaRPr lang="en-US" sz="900" dirty="0"/>
          </a:p>
        </p:txBody>
      </p:sp>
      <p:sp>
        <p:nvSpPr>
          <p:cNvPr id="8" name="Shape 6"/>
          <p:cNvSpPr/>
          <p:nvPr/>
        </p:nvSpPr>
        <p:spPr>
          <a:xfrm>
            <a:off x="566928" y="1572768"/>
            <a:ext cx="5440680" cy="2286000"/>
          </a:xfrm>
          <a:prstGeom prst="roundRect">
            <a:avLst>
              <a:gd name="adj" fmla="val 2400"/>
            </a:avLst>
          </a:prstGeom>
          <a:solidFill>
            <a:srgbClr val="F7F0F4"/>
          </a:solidFill>
          <a:ln w="12700">
            <a:solidFill>
              <a:srgbClr val="EDE0E7"/>
            </a:solidFill>
            <a:prstDash val="solid"/>
          </a:ln>
        </p:spPr>
        <p:txBody>
          <a:bodyPr/>
          <a:lstStyle/>
          <a:p>
            <a:endParaRPr lang="en-US"/>
          </a:p>
        </p:txBody>
      </p:sp>
      <p:sp>
        <p:nvSpPr>
          <p:cNvPr id="9" name="Shape 7"/>
          <p:cNvSpPr/>
          <p:nvPr/>
        </p:nvSpPr>
        <p:spPr>
          <a:xfrm>
            <a:off x="786384" y="1865376"/>
            <a:ext cx="109728" cy="109728"/>
          </a:xfrm>
          <a:prstGeom prst="ellipse">
            <a:avLst/>
          </a:prstGeom>
          <a:solidFill>
            <a:srgbClr val="8A3F6B"/>
          </a:solidFill>
          <a:ln w="12700">
            <a:solidFill>
              <a:srgbClr val="333333"/>
            </a:solidFill>
            <a:prstDash val="solid"/>
          </a:ln>
        </p:spPr>
        <p:txBody>
          <a:bodyPr/>
          <a:lstStyle/>
          <a:p>
            <a:endParaRPr lang="en-US"/>
          </a:p>
        </p:txBody>
      </p:sp>
      <p:sp>
        <p:nvSpPr>
          <p:cNvPr id="10" name="Text 8"/>
          <p:cNvSpPr txBox="1"/>
          <p:nvPr/>
        </p:nvSpPr>
        <p:spPr>
          <a:xfrm>
            <a:off x="987552" y="1737360"/>
            <a:ext cx="4800600" cy="365760"/>
          </a:xfrm>
          <a:prstGeom prst="rect">
            <a:avLst/>
          </a:prstGeom>
          <a:noFill/>
          <a:ln/>
        </p:spPr>
        <p:txBody>
          <a:bodyPr wrap="square" lIns="0" tIns="0" rIns="0" bIns="0" rtlCol="0" anchor="ctr"/>
          <a:lstStyle/>
          <a:p>
            <a:pPr marL="0" indent="0">
              <a:buNone/>
            </a:pPr>
            <a:r>
              <a:rPr lang="en-US" sz="1500" b="1" dirty="0">
                <a:solidFill>
                  <a:srgbClr val="241520"/>
                </a:solidFill>
                <a:latin typeface="Cambria" pitchFamily="34" charset="0"/>
                <a:ea typeface="Cambria" pitchFamily="34" charset="-122"/>
                <a:cs typeface="Cambria" pitchFamily="34" charset="-120"/>
              </a:rPr>
              <a:t>What it is</a:t>
            </a:r>
            <a:endParaRPr lang="en-US" sz="1500" dirty="0"/>
          </a:p>
        </p:txBody>
      </p:sp>
      <p:sp>
        <p:nvSpPr>
          <p:cNvPr id="11" name="Text 9"/>
          <p:cNvSpPr txBox="1"/>
          <p:nvPr/>
        </p:nvSpPr>
        <p:spPr>
          <a:xfrm>
            <a:off x="822960" y="2176272"/>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Unlike Whisper's sentence-level timestamps, the &lt;|timestamps|&gt; tag requires fine-grained word-level prediction.</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The timestamps are interleaved with the words: a start-time token before each transcription token and an end-time token after it.</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Twenty-one thousand hours of it — ten in English, eleven in Mandarin.</a:t>
            </a:r>
            <a:endParaRPr lang="en-US" sz="1260" dirty="0"/>
          </a:p>
        </p:txBody>
      </p:sp>
      <p:sp>
        <p:nvSpPr>
          <p:cNvPr id="12" name="Shape 10"/>
          <p:cNvSpPr/>
          <p:nvPr/>
        </p:nvSpPr>
        <p:spPr>
          <a:xfrm>
            <a:off x="6190488" y="1572768"/>
            <a:ext cx="5440680" cy="2286000"/>
          </a:xfrm>
          <a:prstGeom prst="roundRect">
            <a:avLst>
              <a:gd name="adj" fmla="val 2400"/>
            </a:avLst>
          </a:prstGeom>
          <a:solidFill>
            <a:srgbClr val="F7F0F4"/>
          </a:solidFill>
          <a:ln w="12700">
            <a:solidFill>
              <a:srgbClr val="EDE0E7"/>
            </a:solidFill>
            <a:prstDash val="solid"/>
          </a:ln>
        </p:spPr>
        <p:txBody>
          <a:bodyPr/>
          <a:lstStyle/>
          <a:p>
            <a:endParaRPr lang="en-US"/>
          </a:p>
        </p:txBody>
      </p:sp>
      <p:sp>
        <p:nvSpPr>
          <p:cNvPr id="13" name="Shape 11"/>
          <p:cNvSpPr/>
          <p:nvPr/>
        </p:nvSpPr>
        <p:spPr>
          <a:xfrm>
            <a:off x="6409944" y="1865376"/>
            <a:ext cx="109728" cy="109728"/>
          </a:xfrm>
          <a:prstGeom prst="ellipse">
            <a:avLst/>
          </a:prstGeom>
          <a:solidFill>
            <a:srgbClr val="3FA88A"/>
          </a:solidFill>
          <a:ln w="12700">
            <a:solidFill>
              <a:srgbClr val="333333"/>
            </a:solidFill>
            <a:prstDash val="solid"/>
          </a:ln>
        </p:spPr>
        <p:txBody>
          <a:bodyPr/>
          <a:lstStyle/>
          <a:p>
            <a:endParaRPr lang="en-US"/>
          </a:p>
        </p:txBody>
      </p:sp>
      <p:sp>
        <p:nvSpPr>
          <p:cNvPr id="14" name="Text 12"/>
          <p:cNvSpPr txBox="1"/>
          <p:nvPr/>
        </p:nvSpPr>
        <p:spPr>
          <a:xfrm>
            <a:off x="6611112" y="1737360"/>
            <a:ext cx="4800600" cy="365760"/>
          </a:xfrm>
          <a:prstGeom prst="rect">
            <a:avLst/>
          </a:prstGeom>
          <a:noFill/>
          <a:ln/>
        </p:spPr>
        <p:txBody>
          <a:bodyPr wrap="square" lIns="0" tIns="0" rIns="0" bIns="0" rtlCol="0" anchor="ctr"/>
          <a:lstStyle/>
          <a:p>
            <a:pPr marL="0" indent="0">
              <a:buNone/>
            </a:pPr>
            <a:r>
              <a:rPr lang="en-US" sz="1500" b="1" dirty="0">
                <a:solidFill>
                  <a:srgbClr val="241520"/>
                </a:solidFill>
                <a:latin typeface="Cambria" pitchFamily="34" charset="0"/>
                <a:ea typeface="Cambria" pitchFamily="34" charset="-122"/>
                <a:cs typeface="Cambria" pitchFamily="34" charset="-120"/>
              </a:rPr>
              <a:t>Why the authors added it</a:t>
            </a:r>
            <a:endParaRPr lang="en-US" sz="1500" dirty="0"/>
          </a:p>
        </p:txBody>
      </p:sp>
      <p:sp>
        <p:nvSpPr>
          <p:cNvPr id="15" name="Text 13"/>
          <p:cNvSpPr txBox="1"/>
          <p:nvPr/>
        </p:nvSpPr>
        <p:spPr>
          <a:xfrm>
            <a:off x="6446520" y="2176272"/>
            <a:ext cx="4928616" cy="1499616"/>
          </a:xfrm>
          <a:prstGeom prst="rect">
            <a:avLst/>
          </a:prstGeom>
          <a:noFill/>
          <a:ln/>
        </p:spPr>
        <p:txBody>
          <a:bodyPr wrap="square" lIns="0" tIns="0" rIns="0" bIns="0" rtlCol="0" anchor="t"/>
          <a:lstStyle/>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Two stated purposes: to improve the model's ability to align audio signals with fine-grained timestamps, and to support grounding — finding when a name is mentioned, or whether a sound occurs at all.</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The second is subtle: audio event detection becomes a subtask of timestamp prediction, since the absence of a timestamp implies the event did not occur.</a:t>
            </a:r>
            <a:endParaRPr lang="en-US" sz="1260" dirty="0"/>
          </a:p>
        </p:txBody>
      </p:sp>
      <p:sp>
        <p:nvSpPr>
          <p:cNvPr id="16" name="Shape 14"/>
          <p:cNvSpPr/>
          <p:nvPr/>
        </p:nvSpPr>
        <p:spPr>
          <a:xfrm>
            <a:off x="566928" y="4059936"/>
            <a:ext cx="11064240" cy="1993392"/>
          </a:xfrm>
          <a:prstGeom prst="roundRect">
            <a:avLst>
              <a:gd name="adj" fmla="val 2752"/>
            </a:avLst>
          </a:prstGeom>
          <a:solidFill>
            <a:srgbClr val="331E2E"/>
          </a:solidFill>
          <a:ln w="12700">
            <a:solidFill>
              <a:srgbClr val="331E2E"/>
            </a:solidFill>
            <a:prstDash val="solid"/>
          </a:ln>
        </p:spPr>
        <p:txBody>
          <a:bodyPr/>
          <a:lstStyle/>
          <a:p>
            <a:endParaRPr lang="en-US"/>
          </a:p>
        </p:txBody>
      </p:sp>
      <p:sp>
        <p:nvSpPr>
          <p:cNvPr id="17" name="Shape 15"/>
          <p:cNvSpPr/>
          <p:nvPr/>
        </p:nvSpPr>
        <p:spPr>
          <a:xfrm>
            <a:off x="786384" y="4352544"/>
            <a:ext cx="109728" cy="109728"/>
          </a:xfrm>
          <a:prstGeom prst="ellipse">
            <a:avLst/>
          </a:prstGeom>
          <a:solidFill>
            <a:srgbClr val="3FA88A"/>
          </a:solidFill>
          <a:ln w="12700">
            <a:solidFill>
              <a:srgbClr val="333333"/>
            </a:solidFill>
            <a:prstDash val="solid"/>
          </a:ln>
        </p:spPr>
        <p:txBody>
          <a:bodyPr/>
          <a:lstStyle/>
          <a:p>
            <a:endParaRPr lang="en-US"/>
          </a:p>
        </p:txBody>
      </p:sp>
      <p:sp>
        <p:nvSpPr>
          <p:cNvPr id="18" name="Text 16"/>
          <p:cNvSpPr txBox="1"/>
          <p:nvPr/>
        </p:nvSpPr>
        <p:spPr>
          <a:xfrm>
            <a:off x="987552" y="42245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surprising part</a:t>
            </a:r>
            <a:endParaRPr lang="en-US" sz="1500" dirty="0"/>
          </a:p>
        </p:txBody>
      </p:sp>
      <p:sp>
        <p:nvSpPr>
          <p:cNvPr id="19" name="Text 17"/>
          <p:cNvSpPr txBox="1"/>
          <p:nvPr/>
        </p:nvSpPr>
        <p:spPr>
          <a:xfrm>
            <a:off x="822960" y="4663440"/>
            <a:ext cx="10552176" cy="1207008"/>
          </a:xfrm>
          <a:prstGeom prst="rect">
            <a:avLst/>
          </a:prstGeom>
          <a:noFill/>
          <a:ln/>
        </p:spPr>
        <p:txBody>
          <a:bodyPr wrap="square" lIns="0" tIns="0" rIns="0" bIns="0" rtlCol="0" anchor="t"/>
          <a:lstStyle/>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The claim is not just that SRWT helps timestamp prediction. It is that training on word-level timestamps improves plain speech recognition, and improves question answering about sound and music — tasks with no timestamps in them at all.</a:t>
            </a:r>
            <a:endParaRPr lang="en-US" sz="1300" dirty="0"/>
          </a:p>
          <a:p>
            <a:pPr marL="0" indent="0">
              <a:lnSpc>
                <a:spcPct val="108000"/>
              </a:lnSpc>
              <a:buNone/>
            </a:pPr>
            <a:endParaRPr lang="en-US" sz="1300" dirty="0"/>
          </a:p>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This is the one claim in the paper that gets a controlled ablation, and we look at the numbers in section 4.</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331E2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210312" cy="210312"/>
          </a:xfrm>
          <a:prstGeom prst="roundRect">
            <a:avLst>
              <a:gd name="adj" fmla="val 8696"/>
            </a:avLst>
          </a:prstGeom>
          <a:solidFill>
            <a:srgbClr val="E2C6D6"/>
          </a:solidFill>
          <a:ln w="12700">
            <a:solidFill>
              <a:srgbClr val="333333"/>
            </a:solidFill>
            <a:prstDash val="solid"/>
          </a:ln>
        </p:spPr>
        <p:txBody>
          <a:bodyPr/>
          <a:lstStyle/>
          <a:p>
            <a:endParaRPr lang="en-US"/>
          </a:p>
        </p:txBody>
      </p:sp>
      <p:sp>
        <p:nvSpPr>
          <p:cNvPr id="3" name="Shape 1"/>
          <p:cNvSpPr/>
          <p:nvPr/>
        </p:nvSpPr>
        <p:spPr>
          <a:xfrm>
            <a:off x="10881360" y="5522976"/>
            <a:ext cx="210312" cy="210312"/>
          </a:xfrm>
          <a:prstGeom prst="roundRect">
            <a:avLst>
              <a:gd name="adj" fmla="val 8696"/>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155680" y="5742432"/>
            <a:ext cx="210312" cy="210312"/>
          </a:xfrm>
          <a:prstGeom prst="roundRect">
            <a:avLst>
              <a:gd name="adj" fmla="val 8696"/>
            </a:avLst>
          </a:prstGeom>
          <a:solidFill>
            <a:srgbClr val="E2C6D6"/>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3FA88A"/>
                </a:solidFill>
                <a:latin typeface="Cambria" pitchFamily="34" charset="0"/>
                <a:ea typeface="Cambria" pitchFamily="34" charset="-122"/>
                <a:cs typeface="Cambria" pitchFamily="34" charset="-120"/>
              </a:rPr>
              <a:t>3</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Architecture, data and training</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E2C6D6"/>
                </a:solidFill>
                <a:latin typeface="Calibri" pitchFamily="34" charset="0"/>
                <a:ea typeface="Calibri" pitchFamily="34" charset="-122"/>
                <a:cs typeface="Calibri" pitchFamily="34" charset="-120"/>
              </a:rPr>
              <a:t>Whisper plus Qwen-7B, and an unusual freezing schedule</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The architecture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Deliberately minimal — one encoder, one LLM, no connection module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11</a:t>
            </a:r>
            <a:endParaRPr lang="en-US" sz="900" dirty="0"/>
          </a:p>
        </p:txBody>
      </p:sp>
      <p:sp>
        <p:nvSpPr>
          <p:cNvPr id="8" name="Shape 6"/>
          <p:cNvSpPr/>
          <p:nvPr/>
        </p:nvSpPr>
        <p:spPr>
          <a:xfrm>
            <a:off x="566928" y="1627632"/>
            <a:ext cx="3200400" cy="1371600"/>
          </a:xfrm>
          <a:prstGeom prst="roundRect">
            <a:avLst>
              <a:gd name="adj" fmla="val 4000"/>
            </a:avLst>
          </a:prstGeom>
          <a:solidFill>
            <a:srgbClr val="F7F0F4"/>
          </a:solidFill>
          <a:ln w="19050">
            <a:solidFill>
              <a:srgbClr val="8A3F6B"/>
            </a:solidFill>
            <a:prstDash val="solid"/>
          </a:ln>
        </p:spPr>
        <p:txBody>
          <a:bodyPr/>
          <a:lstStyle/>
          <a:p>
            <a:endParaRPr lang="en-US"/>
          </a:p>
        </p:txBody>
      </p:sp>
      <p:sp>
        <p:nvSpPr>
          <p:cNvPr id="9" name="Text 7"/>
          <p:cNvSpPr txBox="1"/>
          <p:nvPr/>
        </p:nvSpPr>
        <p:spPr>
          <a:xfrm>
            <a:off x="676656" y="1792224"/>
            <a:ext cx="2980944" cy="292608"/>
          </a:xfrm>
          <a:prstGeom prst="rect">
            <a:avLst/>
          </a:prstGeom>
          <a:noFill/>
          <a:ln/>
        </p:spPr>
        <p:txBody>
          <a:bodyPr wrap="square" lIns="0" tIns="0" rIns="0" bIns="0" rtlCol="0" anchor="ctr"/>
          <a:lstStyle/>
          <a:p>
            <a:pPr marL="0" indent="0" algn="ctr">
              <a:buNone/>
            </a:pPr>
            <a:r>
              <a:rPr lang="en-US" sz="1400" b="1" dirty="0">
                <a:solidFill>
                  <a:srgbClr val="8A3F6B"/>
                </a:solidFill>
                <a:latin typeface="Cambria" pitchFamily="34" charset="0"/>
                <a:ea typeface="Cambria" pitchFamily="34" charset="-122"/>
                <a:cs typeface="Cambria" pitchFamily="34" charset="-120"/>
              </a:rPr>
              <a:t>Audio encoder</a:t>
            </a:r>
            <a:endParaRPr lang="en-US" sz="1400" dirty="0"/>
          </a:p>
        </p:txBody>
      </p:sp>
      <p:sp>
        <p:nvSpPr>
          <p:cNvPr id="10" name="Text 8"/>
          <p:cNvSpPr txBox="1"/>
          <p:nvPr/>
        </p:nvSpPr>
        <p:spPr>
          <a:xfrm>
            <a:off x="676656" y="2139696"/>
            <a:ext cx="2980944" cy="640080"/>
          </a:xfrm>
          <a:prstGeom prst="rect">
            <a:avLst/>
          </a:prstGeom>
          <a:noFill/>
          <a:ln/>
        </p:spPr>
        <p:txBody>
          <a:bodyPr wrap="square" lIns="0" tIns="0" rIns="0" bIns="0" rtlCol="0" anchor="ctr"/>
          <a:lstStyle/>
          <a:p>
            <a:pPr marL="0" indent="0" algn="ctr">
              <a:buNone/>
            </a:pPr>
            <a:r>
              <a:rPr lang="en-US" sz="1150" dirty="0">
                <a:solidFill>
                  <a:srgbClr val="6E5464"/>
                </a:solidFill>
                <a:latin typeface="Calibri" pitchFamily="34" charset="0"/>
                <a:ea typeface="Calibri" pitchFamily="34" charset="-122"/>
                <a:cs typeface="Calibri" pitchFamily="34" charset="-120"/>
              </a:rPr>
              <a:t>Whisper-large-v2 encoder</a:t>
            </a:r>
            <a:endParaRPr lang="en-US" sz="1150" dirty="0"/>
          </a:p>
          <a:p>
            <a:pPr marL="0" indent="0" algn="ctr">
              <a:buNone/>
            </a:pPr>
            <a:r>
              <a:rPr lang="en-US" sz="1150" dirty="0">
                <a:solidFill>
                  <a:srgbClr val="6E5464"/>
                </a:solidFill>
                <a:latin typeface="Calibri" pitchFamily="34" charset="0"/>
                <a:ea typeface="Calibri" pitchFamily="34" charset="-122"/>
                <a:cs typeface="Calibri" pitchFamily="34" charset="-120"/>
              </a:rPr>
              <a:t>32 layers · 640M parameters</a:t>
            </a:r>
            <a:endParaRPr lang="en-US" sz="1150" dirty="0"/>
          </a:p>
        </p:txBody>
      </p:sp>
      <p:sp>
        <p:nvSpPr>
          <p:cNvPr id="11" name="Shape 9"/>
          <p:cNvSpPr/>
          <p:nvPr/>
        </p:nvSpPr>
        <p:spPr>
          <a:xfrm>
            <a:off x="3840480" y="2313432"/>
            <a:ext cx="457200" cy="0"/>
          </a:xfrm>
          <a:prstGeom prst="line">
            <a:avLst/>
          </a:prstGeom>
          <a:noFill/>
          <a:ln w="28575">
            <a:solidFill>
              <a:srgbClr val="C2A0B5"/>
            </a:solidFill>
            <a:prstDash val="solid"/>
            <a:tailEnd type="triangle"/>
          </a:ln>
        </p:spPr>
        <p:txBody>
          <a:bodyPr/>
          <a:lstStyle/>
          <a:p>
            <a:endParaRPr lang="en-US"/>
          </a:p>
        </p:txBody>
      </p:sp>
      <p:sp>
        <p:nvSpPr>
          <p:cNvPr id="12" name="Shape 10"/>
          <p:cNvSpPr/>
          <p:nvPr/>
        </p:nvSpPr>
        <p:spPr>
          <a:xfrm>
            <a:off x="4389120" y="1627632"/>
            <a:ext cx="3017520" cy="1371600"/>
          </a:xfrm>
          <a:prstGeom prst="roundRect">
            <a:avLst>
              <a:gd name="adj" fmla="val 4000"/>
            </a:avLst>
          </a:prstGeom>
          <a:solidFill>
            <a:srgbClr val="E6F4EF"/>
          </a:solidFill>
          <a:ln w="19050">
            <a:solidFill>
              <a:srgbClr val="3FA88A"/>
            </a:solidFill>
            <a:prstDash val="solid"/>
          </a:ln>
        </p:spPr>
        <p:txBody>
          <a:bodyPr/>
          <a:lstStyle/>
          <a:p>
            <a:endParaRPr lang="en-US"/>
          </a:p>
        </p:txBody>
      </p:sp>
      <p:sp>
        <p:nvSpPr>
          <p:cNvPr id="13" name="Text 11"/>
          <p:cNvSpPr txBox="1"/>
          <p:nvPr/>
        </p:nvSpPr>
        <p:spPr>
          <a:xfrm>
            <a:off x="4498848" y="1792224"/>
            <a:ext cx="2798064" cy="292608"/>
          </a:xfrm>
          <a:prstGeom prst="rect">
            <a:avLst/>
          </a:prstGeom>
          <a:noFill/>
          <a:ln/>
        </p:spPr>
        <p:txBody>
          <a:bodyPr wrap="square" lIns="0" tIns="0" rIns="0" bIns="0" rtlCol="0" anchor="ctr"/>
          <a:lstStyle/>
          <a:p>
            <a:pPr marL="0" indent="0" algn="ctr">
              <a:buNone/>
            </a:pPr>
            <a:r>
              <a:rPr lang="en-US" sz="1400" b="1" dirty="0">
                <a:solidFill>
                  <a:srgbClr val="3FA88A"/>
                </a:solidFill>
                <a:latin typeface="Cambria" pitchFamily="34" charset="0"/>
                <a:ea typeface="Cambria" pitchFamily="34" charset="-122"/>
                <a:cs typeface="Cambria" pitchFamily="34" charset="-120"/>
              </a:rPr>
              <a:t>Hierarchical tags</a:t>
            </a:r>
            <a:endParaRPr lang="en-US" sz="1400" dirty="0"/>
          </a:p>
        </p:txBody>
      </p:sp>
      <p:sp>
        <p:nvSpPr>
          <p:cNvPr id="14" name="Text 12"/>
          <p:cNvSpPr txBox="1"/>
          <p:nvPr/>
        </p:nvSpPr>
        <p:spPr>
          <a:xfrm>
            <a:off x="4498848" y="2139696"/>
            <a:ext cx="2798064" cy="640080"/>
          </a:xfrm>
          <a:prstGeom prst="rect">
            <a:avLst/>
          </a:prstGeom>
          <a:noFill/>
          <a:ln/>
        </p:spPr>
        <p:txBody>
          <a:bodyPr wrap="square" lIns="0" tIns="0" rIns="0" bIns="0" rtlCol="0" anchor="ctr"/>
          <a:lstStyle/>
          <a:p>
            <a:pPr marL="0" indent="0" algn="ctr">
              <a:buNone/>
            </a:pPr>
            <a:r>
              <a:rPr lang="en-US" sz="1150" dirty="0">
                <a:solidFill>
                  <a:srgbClr val="6E5464"/>
                </a:solidFill>
                <a:latin typeface="Calibri" pitchFamily="34" charset="0"/>
                <a:ea typeface="Calibri" pitchFamily="34" charset="-122"/>
                <a:cs typeface="Calibri" pitchFamily="34" charset="-120"/>
              </a:rPr>
              <a:t>six tokens prepended</a:t>
            </a:r>
            <a:endParaRPr lang="en-US" sz="1150" dirty="0"/>
          </a:p>
          <a:p>
            <a:pPr marL="0" indent="0" algn="ctr">
              <a:buNone/>
            </a:pPr>
            <a:r>
              <a:rPr lang="en-US" sz="1150" dirty="0">
                <a:solidFill>
                  <a:srgbClr val="6E5464"/>
                </a:solidFill>
                <a:latin typeface="Calibri" pitchFamily="34" charset="0"/>
                <a:ea typeface="Calibri" pitchFamily="34" charset="-122"/>
                <a:cs typeface="Calibri" pitchFamily="34" charset="-120"/>
              </a:rPr>
              <a:t>to the decoder sequence</a:t>
            </a:r>
            <a:endParaRPr lang="en-US" sz="1150" dirty="0"/>
          </a:p>
        </p:txBody>
      </p:sp>
      <p:sp>
        <p:nvSpPr>
          <p:cNvPr id="15" name="Shape 13"/>
          <p:cNvSpPr/>
          <p:nvPr/>
        </p:nvSpPr>
        <p:spPr>
          <a:xfrm>
            <a:off x="7479792" y="2313432"/>
            <a:ext cx="457200" cy="0"/>
          </a:xfrm>
          <a:prstGeom prst="line">
            <a:avLst/>
          </a:prstGeom>
          <a:noFill/>
          <a:ln w="28575">
            <a:solidFill>
              <a:srgbClr val="C2A0B5"/>
            </a:solidFill>
            <a:prstDash val="solid"/>
            <a:tailEnd type="triangle"/>
          </a:ln>
        </p:spPr>
        <p:txBody>
          <a:bodyPr/>
          <a:lstStyle/>
          <a:p>
            <a:endParaRPr lang="en-US"/>
          </a:p>
        </p:txBody>
      </p:sp>
      <p:sp>
        <p:nvSpPr>
          <p:cNvPr id="16" name="Shape 14"/>
          <p:cNvSpPr/>
          <p:nvPr/>
        </p:nvSpPr>
        <p:spPr>
          <a:xfrm>
            <a:off x="8028432" y="1627632"/>
            <a:ext cx="3602736" cy="1371600"/>
          </a:xfrm>
          <a:prstGeom prst="roundRect">
            <a:avLst>
              <a:gd name="adj" fmla="val 4000"/>
            </a:avLst>
          </a:prstGeom>
          <a:solidFill>
            <a:srgbClr val="331E2E"/>
          </a:solidFill>
          <a:ln w="12700">
            <a:solidFill>
              <a:srgbClr val="333333"/>
            </a:solidFill>
            <a:prstDash val="solid"/>
          </a:ln>
        </p:spPr>
        <p:txBody>
          <a:bodyPr/>
          <a:lstStyle/>
          <a:p>
            <a:endParaRPr lang="en-US"/>
          </a:p>
        </p:txBody>
      </p:sp>
      <p:sp>
        <p:nvSpPr>
          <p:cNvPr id="17" name="Text 15"/>
          <p:cNvSpPr txBox="1"/>
          <p:nvPr/>
        </p:nvSpPr>
        <p:spPr>
          <a:xfrm>
            <a:off x="8138160" y="1792224"/>
            <a:ext cx="338328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Qwen-7B</a:t>
            </a:r>
            <a:endParaRPr lang="en-US" sz="1400" dirty="0"/>
          </a:p>
        </p:txBody>
      </p:sp>
      <p:sp>
        <p:nvSpPr>
          <p:cNvPr id="18" name="Text 16"/>
          <p:cNvSpPr txBox="1"/>
          <p:nvPr/>
        </p:nvSpPr>
        <p:spPr>
          <a:xfrm>
            <a:off x="8138160" y="2139696"/>
            <a:ext cx="3383280" cy="640080"/>
          </a:xfrm>
          <a:prstGeom prst="rect">
            <a:avLst/>
          </a:prstGeom>
          <a:noFill/>
          <a:ln/>
        </p:spPr>
        <p:txBody>
          <a:bodyPr wrap="square" lIns="0" tIns="0" rIns="0" bIns="0" rtlCol="0" anchor="ctr"/>
          <a:lstStyle/>
          <a:p>
            <a:pPr marL="0" indent="0" algn="ctr">
              <a:buNone/>
            </a:pPr>
            <a:r>
              <a:rPr lang="en-US" sz="1150" dirty="0">
                <a:solidFill>
                  <a:srgbClr val="E2C6D6"/>
                </a:solidFill>
                <a:latin typeface="Calibri" pitchFamily="34" charset="0"/>
                <a:ea typeface="Calibri" pitchFamily="34" charset="-122"/>
                <a:cs typeface="Calibri" pitchFamily="34" charset="-120"/>
              </a:rPr>
              <a:t>32 layers · hidden 4096 · 7.7B</a:t>
            </a:r>
            <a:endParaRPr lang="en-US" sz="1150" dirty="0"/>
          </a:p>
          <a:p>
            <a:pPr marL="0" indent="0" algn="ctr">
              <a:buNone/>
            </a:pPr>
            <a:r>
              <a:rPr lang="en-US" sz="1150" dirty="0">
                <a:solidFill>
                  <a:srgbClr val="E2C6D6"/>
                </a:solidFill>
                <a:latin typeface="Calibri" pitchFamily="34" charset="0"/>
                <a:ea typeface="Calibri" pitchFamily="34" charset="-122"/>
                <a:cs typeface="Calibri" pitchFamily="34" charset="-120"/>
              </a:rPr>
              <a:t>→ free-form text</a:t>
            </a:r>
            <a:endParaRPr lang="en-US" sz="1150" dirty="0"/>
          </a:p>
        </p:txBody>
      </p:sp>
      <p:sp>
        <p:nvSpPr>
          <p:cNvPr id="19" name="Text 17"/>
          <p:cNvSpPr txBox="1"/>
          <p:nvPr/>
        </p:nvSpPr>
        <p:spPr>
          <a:xfrm>
            <a:off x="566928" y="3200400"/>
            <a:ext cx="11064240" cy="2834640"/>
          </a:xfrm>
          <a:prstGeom prst="rect">
            <a:avLst/>
          </a:prstGeom>
          <a:noFill/>
          <a:ln/>
        </p:spPr>
        <p:txBody>
          <a:bodyPr wrap="square" lIns="0" tIns="0" rIns="0" bIns="0" rtlCol="0" anchor="t"/>
          <a:lstStyle/>
          <a:p>
            <a:pPr marL="342900" indent="-342900">
              <a:spcAft>
                <a:spcPts val="800"/>
              </a:spcAft>
              <a:buSzPct val="100000"/>
              <a:buChar char="●"/>
            </a:pPr>
            <a:r>
              <a:rPr lang="en-US" sz="1260" dirty="0">
                <a:solidFill>
                  <a:srgbClr val="38242F"/>
                </a:solidFill>
                <a:latin typeface="Calibri" pitchFamily="34" charset="0"/>
                <a:ea typeface="Calibri" pitchFamily="34" charset="-122"/>
                <a:cs typeface="Calibri" pitchFamily="34" charset="-120"/>
              </a:rPr>
              <a:t>Audio is resampled to 16 kHz and converted to an 80-channel mel spectrogram with a 25 ms window and 10 ms hop, following Whisper.</a:t>
            </a:r>
            <a:endParaRPr lang="en-US" sz="1260" dirty="0"/>
          </a:p>
          <a:p>
            <a:pPr marL="342900" indent="-342900">
              <a:spcAft>
                <a:spcPts val="800"/>
              </a:spcAft>
              <a:buSzPct val="100000"/>
              <a:buChar char="●"/>
            </a:pPr>
            <a:r>
              <a:rPr lang="en-US" sz="1260" dirty="0">
                <a:solidFill>
                  <a:srgbClr val="38242F"/>
                </a:solidFill>
                <a:latin typeface="Calibri" pitchFamily="34" charset="0"/>
                <a:ea typeface="Calibri" pitchFamily="34" charset="-122"/>
                <a:cs typeface="Calibri" pitchFamily="34" charset="-120"/>
              </a:rPr>
              <a:t>A pooling layer with stride two halves the sequence length, so each encoder output frame corresponds to about 40 ms of audio.</a:t>
            </a:r>
            <a:endParaRPr lang="en-US" sz="1260" dirty="0"/>
          </a:p>
          <a:p>
            <a:pPr marL="342900" indent="-342900">
              <a:spcAft>
                <a:spcPts val="800"/>
              </a:spcAft>
              <a:buSzPct val="100000"/>
              <a:buChar char="●"/>
            </a:pPr>
            <a:r>
              <a:rPr lang="en-US" sz="1260" dirty="0">
                <a:solidFill>
                  <a:srgbClr val="38242F"/>
                </a:solidFill>
                <a:latin typeface="Calibri" pitchFamily="34" charset="0"/>
                <a:ea typeface="Calibri" pitchFamily="34" charset="-122"/>
                <a:cs typeface="Calibri" pitchFamily="34" charset="-120"/>
              </a:rPr>
              <a:t>SpecAugment is applied during training.</a:t>
            </a:r>
            <a:endParaRPr lang="en-US" sz="1260" dirty="0"/>
          </a:p>
          <a:p>
            <a:pPr marL="342900" indent="-342900">
              <a:spcAft>
                <a:spcPts val="800"/>
              </a:spcAft>
              <a:buSzPct val="100000"/>
              <a:buChar char="●"/>
            </a:pPr>
            <a:r>
              <a:rPr lang="en-US" sz="1260" dirty="0">
                <a:solidFill>
                  <a:srgbClr val="38242F"/>
                </a:solidFill>
                <a:latin typeface="Calibri" pitchFamily="34" charset="0"/>
                <a:ea typeface="Calibri" pitchFamily="34" charset="-122"/>
                <a:cs typeface="Calibri" pitchFamily="34" charset="-120"/>
              </a:rPr>
              <a:t>Note what is absent: no Q-Former, no mapping network, no LoRA. The encoder output goes to the LLM directly, and the whole model is trained end to end in two stages.</a:t>
            </a:r>
            <a:endParaRPr lang="en-US" sz="1260" dirty="0"/>
          </a:p>
          <a:p>
            <a:pPr marL="342900" indent="-342900">
              <a:spcAft>
                <a:spcPts val="800"/>
              </a:spcAft>
              <a:buSzPct val="100000"/>
              <a:buChar char="●"/>
            </a:pPr>
            <a:r>
              <a:rPr lang="en-US" sz="1260" dirty="0">
                <a:solidFill>
                  <a:srgbClr val="38242F"/>
                </a:solidFill>
                <a:latin typeface="Calibri" pitchFamily="34" charset="0"/>
                <a:ea typeface="Calibri" pitchFamily="34" charset="-122"/>
                <a:cs typeface="Calibri" pitchFamily="34" charset="-120"/>
              </a:rPr>
              <a:t>The rationale for Whisper as the encoder: although it was supervised for recognition and translation, its representations still contain rich information such as background noise, and can even be used to recover the original speech.</a:t>
            </a:r>
            <a:endParaRPr lang="en-US" sz="12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The training mix</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Hours by task — and note what is small</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12</a:t>
            </a:r>
            <a:endParaRPr lang="en-US" sz="900" dirty="0"/>
          </a:p>
        </p:txBody>
      </p:sp>
      <p:graphicFrame>
        <p:nvGraphicFramePr>
          <p:cNvPr id="8" name="Chart 0"/>
          <p:cNvGraphicFramePr/>
          <p:nvPr/>
        </p:nvGraphicFramePr>
        <p:xfrm>
          <a:off x="566928" y="1554480"/>
          <a:ext cx="66751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498080" y="1700784"/>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Emotion recognition is in the under-1,000-hour group, alongside overlapped speech recognition, diarisation, intent classification, slot filling, and every music task except captioning and genre.</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So the mix is dominated by transcription-shaped data: ASR plus SRWT alone is 51,000 hours.</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Recall the SALMONN lesson — deterministic, transcription-shaped tasks skew the model's prior over responses. The same risk applies here, in a mix that is even more transcription-heavy.</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The paper does not report a total, and the individual figures are given only as rounded hours.</a:t>
            </a:r>
            <a:endParaRPr lang="en-US" sz="1220" dirty="0"/>
          </a:p>
        </p:txBody>
      </p:sp>
      <p:sp>
        <p:nvSpPr>
          <p:cNvPr id="10" name="Shape 7"/>
          <p:cNvSpPr/>
          <p:nvPr/>
        </p:nvSpPr>
        <p:spPr>
          <a:xfrm>
            <a:off x="566928" y="5303520"/>
            <a:ext cx="11064240" cy="749808"/>
          </a:xfrm>
          <a:prstGeom prst="roundRect">
            <a:avLst>
              <a:gd name="adj" fmla="val 7317"/>
            </a:avLst>
          </a:prstGeom>
          <a:solidFill>
            <a:srgbClr val="331E2E"/>
          </a:solidFill>
          <a:ln w="12700">
            <a:solidFill>
              <a:srgbClr val="331E2E"/>
            </a:solidFill>
            <a:prstDash val="solid"/>
          </a:ln>
        </p:spPr>
        <p:txBody>
          <a:bodyPr/>
          <a:lstStyle/>
          <a:p>
            <a:endParaRPr lang="en-US"/>
          </a:p>
        </p:txBody>
      </p:sp>
      <p:sp>
        <p:nvSpPr>
          <p:cNvPr id="11" name="Text 8"/>
          <p:cNvSpPr txBox="1"/>
          <p:nvPr/>
        </p:nvSpPr>
        <p:spPr>
          <a:xfrm>
            <a:off x="822960" y="5522976"/>
            <a:ext cx="10552176" cy="329184"/>
          </a:xfrm>
          <a:prstGeom prst="rect">
            <a:avLst/>
          </a:prstGeom>
          <a:noFill/>
          <a:ln/>
        </p:spPr>
        <p:txBody>
          <a:bodyPr wrap="square" lIns="0" tIns="0" rIns="0" bIns="0" rtlCol="0" anchor="t"/>
          <a:lstStyle/>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Hold the emotion figure in mind. Under a thousand hours out of a mix exceeding a hundred thousand, and we will see the result it produces.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Two stages, with an unusual freezing schedule</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Each stage trains what the other froze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13</a:t>
            </a:r>
            <a:endParaRPr lang="en-US" sz="900" dirty="0"/>
          </a:p>
        </p:txBody>
      </p:sp>
      <p:sp>
        <p:nvSpPr>
          <p:cNvPr id="8" name="Shape 6"/>
          <p:cNvSpPr/>
          <p:nvPr/>
        </p:nvSpPr>
        <p:spPr>
          <a:xfrm>
            <a:off x="566928" y="1600200"/>
            <a:ext cx="5440680" cy="2240280"/>
          </a:xfrm>
          <a:prstGeom prst="roundRect">
            <a:avLst>
              <a:gd name="adj" fmla="val 2449"/>
            </a:avLst>
          </a:prstGeom>
          <a:solidFill>
            <a:srgbClr val="F7F0F4"/>
          </a:solidFill>
          <a:ln w="12700">
            <a:solidFill>
              <a:srgbClr val="EDE0E7"/>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A3F6B"/>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41520"/>
                </a:solidFill>
                <a:latin typeface="Cambria" pitchFamily="34" charset="0"/>
                <a:ea typeface="Cambria" pitchFamily="34" charset="-122"/>
                <a:cs typeface="Cambria" pitchFamily="34" charset="-120"/>
              </a:rPr>
              <a:t>Stage 1 — multitask pre-training</a:t>
            </a:r>
            <a:endParaRPr lang="en-US" sz="1500" dirty="0"/>
          </a:p>
        </p:txBody>
      </p:sp>
      <p:sp>
        <p:nvSpPr>
          <p:cNvPr id="11" name="Text 9"/>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Freeze the LLM. Train only the audio encoder, initialised from Whisper-large-v2.</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500,000 steps, global batch 120, peak learning rate 5e-5 with cosine decay, AdamW, bfloat16.</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Result: Qwen-Audio.</a:t>
            </a:r>
            <a:endParaRPr lang="en-US" sz="1260" dirty="0"/>
          </a:p>
        </p:txBody>
      </p:sp>
      <p:sp>
        <p:nvSpPr>
          <p:cNvPr id="12" name="Shape 10"/>
          <p:cNvSpPr/>
          <p:nvPr/>
        </p:nvSpPr>
        <p:spPr>
          <a:xfrm>
            <a:off x="6190488" y="1600200"/>
            <a:ext cx="5440680" cy="2240280"/>
          </a:xfrm>
          <a:prstGeom prst="roundRect">
            <a:avLst>
              <a:gd name="adj" fmla="val 2449"/>
            </a:avLst>
          </a:prstGeom>
          <a:solidFill>
            <a:srgbClr val="F7F0F4"/>
          </a:solidFill>
          <a:ln w="12700">
            <a:solidFill>
              <a:srgbClr val="EDE0E7"/>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3FA88A"/>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41520"/>
                </a:solidFill>
                <a:latin typeface="Cambria" pitchFamily="34" charset="0"/>
                <a:ea typeface="Cambria" pitchFamily="34" charset="-122"/>
                <a:cs typeface="Cambria" pitchFamily="34" charset="-120"/>
              </a:rPr>
              <a:t>Stage 2 — supervised fine-tuning</a:t>
            </a:r>
            <a:endParaRPr lang="en-US" sz="1500" dirty="0"/>
          </a:p>
        </p:txBody>
      </p:sp>
      <p:sp>
        <p:nvSpPr>
          <p:cNvPr id="15" name="Text 13"/>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Freeze the audio encoder. Train only the LLM — fully, not with an adaptor.</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8,000 steps, batch 128, learning rate 1e-5. Twenty thousand instruction samples, built by hand and with GPT-3.5, in ChatML format with multi-audio labelling.</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Result: Qwen-Audio-Chat.</a:t>
            </a:r>
            <a:endParaRPr lang="en-US" sz="1260" dirty="0"/>
          </a:p>
        </p:txBody>
      </p:sp>
      <p:sp>
        <p:nvSpPr>
          <p:cNvPr id="16" name="Shape 14"/>
          <p:cNvSpPr/>
          <p:nvPr/>
        </p:nvSpPr>
        <p:spPr>
          <a:xfrm>
            <a:off x="566928" y="4041648"/>
            <a:ext cx="11064240" cy="2011680"/>
          </a:xfrm>
          <a:prstGeom prst="roundRect">
            <a:avLst>
              <a:gd name="adj" fmla="val 2727"/>
            </a:avLst>
          </a:prstGeom>
          <a:solidFill>
            <a:srgbClr val="331E2E"/>
          </a:solidFill>
          <a:ln w="12700">
            <a:solidFill>
              <a:srgbClr val="331E2E"/>
            </a:solidFill>
            <a:prstDash val="solid"/>
          </a:ln>
        </p:spPr>
        <p:txBody>
          <a:bodyPr/>
          <a:lstStyle/>
          <a:p>
            <a:endParaRPr lang="en-US"/>
          </a:p>
        </p:txBody>
      </p:sp>
      <p:sp>
        <p:nvSpPr>
          <p:cNvPr id="17" name="Shape 15"/>
          <p:cNvSpPr/>
          <p:nvPr/>
        </p:nvSpPr>
        <p:spPr>
          <a:xfrm>
            <a:off x="786384" y="4334256"/>
            <a:ext cx="109728" cy="109728"/>
          </a:xfrm>
          <a:prstGeom prst="ellipse">
            <a:avLst/>
          </a:prstGeom>
          <a:solidFill>
            <a:srgbClr val="3FA88A"/>
          </a:solidFill>
          <a:ln w="12700">
            <a:solidFill>
              <a:srgbClr val="333333"/>
            </a:solidFill>
            <a:prstDash val="solid"/>
          </a:ln>
        </p:spPr>
        <p:txBody>
          <a:bodyPr/>
          <a:lstStyle/>
          <a:p>
            <a:endParaRPr lang="en-US"/>
          </a:p>
        </p:txBody>
      </p:sp>
      <p:sp>
        <p:nvSpPr>
          <p:cNvPr id="18" name="Text 16"/>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this schedule is worth noticing</a:t>
            </a:r>
            <a:endParaRPr lang="en-US" sz="1500" dirty="0"/>
          </a:p>
        </p:txBody>
      </p:sp>
      <p:sp>
        <p:nvSpPr>
          <p:cNvPr id="19" name="Text 17"/>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Stage 1 pushes all the cross-modal adaptation into the audio encoder, leaving the language model's weights untouched — the same protection against catastrophic forgetting that Pengi, LTU and SALMONN all sought, achieved without a frozen-model adaptor.</a:t>
            </a:r>
            <a:endParaRPr lang="en-US" sz="1300" dirty="0"/>
          </a:p>
          <a:p>
            <a:pPr marL="0" indent="0">
              <a:lnSpc>
                <a:spcPct val="108000"/>
              </a:lnSpc>
              <a:buNone/>
            </a:pPr>
            <a:endParaRPr lang="en-US" sz="1300" dirty="0"/>
          </a:p>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Stage 2 then fully fine-tunes the LLM on only twenty thousand samples, which is small enough that the risk is contained. It is a defensible design and the paper never argues for it.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1E6CF-2C8C-0CC8-82EA-638539190C1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AE475C-4C65-BC26-4BD4-7991CE4F3268}"/>
              </a:ext>
            </a:extLst>
          </p:cNvPr>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a:extLst>
              <a:ext uri="{FF2B5EF4-FFF2-40B4-BE49-F238E27FC236}">
                <a16:creationId xmlns:a16="http://schemas.microsoft.com/office/drawing/2014/main" id="{7A75186C-3B1F-4078-FE6C-C12CDC102A50}"/>
              </a:ext>
            </a:extLst>
          </p:cNvPr>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a:extLst>
              <a:ext uri="{FF2B5EF4-FFF2-40B4-BE49-F238E27FC236}">
                <a16:creationId xmlns:a16="http://schemas.microsoft.com/office/drawing/2014/main" id="{1F8223B5-0CCD-9CC5-E05B-22B882CB6B11}"/>
              </a:ext>
            </a:extLst>
          </p:cNvPr>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a:extLst>
              <a:ext uri="{FF2B5EF4-FFF2-40B4-BE49-F238E27FC236}">
                <a16:creationId xmlns:a16="http://schemas.microsoft.com/office/drawing/2014/main" id="{D7906411-4E10-01BA-CE0A-97E3C60A6EDF}"/>
              </a:ext>
            </a:extLst>
          </p:cNvPr>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Two stages, with an unusual freezing schedule</a:t>
            </a:r>
            <a:endParaRPr lang="en-US" sz="2900" dirty="0"/>
          </a:p>
        </p:txBody>
      </p:sp>
      <p:pic>
        <p:nvPicPr>
          <p:cNvPr id="20" name="Picture 19">
            <a:extLst>
              <a:ext uri="{FF2B5EF4-FFF2-40B4-BE49-F238E27FC236}">
                <a16:creationId xmlns:a16="http://schemas.microsoft.com/office/drawing/2014/main" id="{3A8D528F-D8CD-756B-A178-9AA4B31B4C65}"/>
              </a:ext>
            </a:extLst>
          </p:cNvPr>
          <p:cNvPicPr>
            <a:picLocks noChangeAspect="1"/>
          </p:cNvPicPr>
          <p:nvPr/>
        </p:nvPicPr>
        <p:blipFill>
          <a:blip r:embed="rId3"/>
          <a:stretch>
            <a:fillRect/>
          </a:stretch>
        </p:blipFill>
        <p:spPr>
          <a:xfrm>
            <a:off x="1866452" y="950976"/>
            <a:ext cx="7956008" cy="5698594"/>
          </a:xfrm>
          <a:prstGeom prst="rect">
            <a:avLst/>
          </a:prstGeom>
        </p:spPr>
      </p:pic>
    </p:spTree>
    <p:extLst>
      <p:ext uri="{BB962C8B-B14F-4D97-AF65-F5344CB8AC3E}">
        <p14:creationId xmlns:p14="http://schemas.microsoft.com/office/powerpoint/2010/main" val="729472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31E2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210312" cy="210312"/>
          </a:xfrm>
          <a:prstGeom prst="roundRect">
            <a:avLst>
              <a:gd name="adj" fmla="val 8696"/>
            </a:avLst>
          </a:prstGeom>
          <a:solidFill>
            <a:srgbClr val="E2C6D6"/>
          </a:solidFill>
          <a:ln w="12700">
            <a:solidFill>
              <a:srgbClr val="333333"/>
            </a:solidFill>
            <a:prstDash val="solid"/>
          </a:ln>
        </p:spPr>
        <p:txBody>
          <a:bodyPr/>
          <a:lstStyle/>
          <a:p>
            <a:endParaRPr lang="en-US"/>
          </a:p>
        </p:txBody>
      </p:sp>
      <p:sp>
        <p:nvSpPr>
          <p:cNvPr id="3" name="Shape 1"/>
          <p:cNvSpPr/>
          <p:nvPr/>
        </p:nvSpPr>
        <p:spPr>
          <a:xfrm>
            <a:off x="10881360" y="5522976"/>
            <a:ext cx="210312" cy="210312"/>
          </a:xfrm>
          <a:prstGeom prst="roundRect">
            <a:avLst>
              <a:gd name="adj" fmla="val 8696"/>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155680" y="5742432"/>
            <a:ext cx="210312" cy="210312"/>
          </a:xfrm>
          <a:prstGeom prst="roundRect">
            <a:avLst>
              <a:gd name="adj" fmla="val 8696"/>
            </a:avLst>
          </a:prstGeom>
          <a:solidFill>
            <a:srgbClr val="E2C6D6"/>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3FA88A"/>
                </a:solidFill>
                <a:latin typeface="Cambria" pitchFamily="34" charset="0"/>
                <a:ea typeface="Cambria" pitchFamily="34" charset="-122"/>
                <a:cs typeface="Cambria" pitchFamily="34" charset="-120"/>
              </a:rPr>
              <a:t>4</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Results</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E2C6D6"/>
                </a:solidFill>
                <a:latin typeface="Calibri" pitchFamily="34" charset="0"/>
                <a:ea typeface="Calibri" pitchFamily="34" charset="-122"/>
                <a:cs typeface="Calibri" pitchFamily="34" charset="-120"/>
              </a:rPr>
              <a:t>Twelve datasets, no task-specific fine-tuning</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Speech recognition and translation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The strongest results in the paper</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15</a:t>
            </a:r>
            <a:endParaRPr lang="en-US" sz="900" dirty="0"/>
          </a:p>
        </p:txBody>
      </p:sp>
      <p:graphicFrame>
        <p:nvGraphicFramePr>
          <p:cNvPr id="8" name="Chart 0"/>
          <p:cNvGraphicFramePr/>
          <p:nvPr/>
        </p:nvGraphicFramePr>
        <p:xfrm>
          <a:off x="566928" y="1554480"/>
          <a:ext cx="68580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680960" y="1700784"/>
            <a:ext cx="395020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The prior values are SALMONN for LibriSpeech and the translation directions, and MMSpeech-large for AISHELL-1.</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State of the art on AISHELL-1 dev and test, at 1.2 and 1.3 word error rate.</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Translation gains are large and consistent across all seven directions: de-en 33.9, es-en 39.7, fr-en 38.5, it-en 36.0, zh-en 15.7.</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Word-level timestamp prediction reaches 51.5 ms average alignment score, better than a forced aligner given the ground-truth transcript at 60.3 ms.</a:t>
            </a:r>
            <a:endParaRPr lang="en-US" sz="1220" dirty="0"/>
          </a:p>
        </p:txBody>
      </p:sp>
      <p:sp>
        <p:nvSpPr>
          <p:cNvPr id="10" name="Shape 7"/>
          <p:cNvSpPr/>
          <p:nvPr/>
        </p:nvSpPr>
        <p:spPr>
          <a:xfrm>
            <a:off x="566928" y="5266944"/>
            <a:ext cx="11064240" cy="786384"/>
          </a:xfrm>
          <a:prstGeom prst="roundRect">
            <a:avLst>
              <a:gd name="adj" fmla="val 6977"/>
            </a:avLst>
          </a:prstGeom>
          <a:solidFill>
            <a:srgbClr val="331E2E"/>
          </a:solidFill>
          <a:ln w="12700">
            <a:solidFill>
              <a:srgbClr val="331E2E"/>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A single model doing this while also captioning music and analysing note velocity is the paper's real argument for the tag framework.</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Sound, music and question answering</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Against Pengi and CLAP from the previous session</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16</a:t>
            </a:r>
            <a:endParaRPr lang="en-US" sz="900" dirty="0"/>
          </a:p>
        </p:txBody>
      </p:sp>
      <p:graphicFrame>
        <p:nvGraphicFramePr>
          <p:cNvPr id="8" name="Chart 0"/>
          <p:cNvGraphicFramePr/>
          <p:nvPr/>
        </p:nvGraphicFramePr>
        <p:xfrm>
          <a:off x="566928" y="1554480"/>
          <a:ext cx="68580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680960" y="1700784"/>
            <a:ext cx="395020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The VocalSound jump is the largest: 0.60 for Pengi, 0.93 for Qwen-Audio.</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TUT 2017 acoustic scenes nearly doubles, from 0.35 to 0.65.</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NSynth instrument classification goes from 0.50 to 0.79 — a music task, from a model whose encoder was trained for speech recognition.</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Captioning is the narrowest margin: 0.288 against Pengi's 0.271 SPIDEr on Clotho.</a:t>
            </a:r>
            <a:endParaRPr lang="en-US" sz="1220" dirty="0"/>
          </a:p>
        </p:txBody>
      </p:sp>
      <p:sp>
        <p:nvSpPr>
          <p:cNvPr id="10" name="Shape 7"/>
          <p:cNvSpPr/>
          <p:nvPr/>
        </p:nvSpPr>
        <p:spPr>
          <a:xfrm>
            <a:off x="566928" y="5266944"/>
            <a:ext cx="11064240" cy="786384"/>
          </a:xfrm>
          <a:prstGeom prst="roundRect">
            <a:avLst>
              <a:gd name="adj" fmla="val 6977"/>
            </a:avLst>
          </a:prstGeom>
          <a:solidFill>
            <a:srgbClr val="331E2E"/>
          </a:solidFill>
          <a:ln w="12700">
            <a:solidFill>
              <a:srgbClr val="331E2E"/>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Pengi's own strength — sound and music classification — is where Qwen-Audio's margins are widest. Scale and task breadth beat a purpose-built sound-event encoder.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The emotion result</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One line in the table, and worth a slide</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17</a:t>
            </a:r>
            <a:endParaRPr lang="en-US" sz="900" dirty="0"/>
          </a:p>
        </p:txBody>
      </p:sp>
      <p:sp>
        <p:nvSpPr>
          <p:cNvPr id="8" name="Shape 6"/>
          <p:cNvSpPr/>
          <p:nvPr/>
        </p:nvSpPr>
        <p:spPr>
          <a:xfrm>
            <a:off x="566928" y="1600200"/>
            <a:ext cx="3584448" cy="2194560"/>
          </a:xfrm>
          <a:prstGeom prst="roundRect">
            <a:avLst>
              <a:gd name="adj" fmla="val 2500"/>
            </a:avLst>
          </a:prstGeom>
          <a:solidFill>
            <a:srgbClr val="F7F0F4"/>
          </a:solidFill>
          <a:ln w="12700">
            <a:solidFill>
              <a:srgbClr val="EDE0E7"/>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A3F6B"/>
          </a:solidFill>
          <a:ln w="12700">
            <a:solidFill>
              <a:srgbClr val="333333"/>
            </a:solidFill>
            <a:prstDash val="solid"/>
          </a:ln>
        </p:spPr>
        <p:txBody>
          <a:bodyPr/>
          <a:lstStyle/>
          <a:p>
            <a:endParaRPr lang="en-US"/>
          </a:p>
        </p:txBody>
      </p:sp>
      <p:sp>
        <p:nvSpPr>
          <p:cNvPr id="10" name="Text 8"/>
          <p:cNvSpPr txBox="1"/>
          <p:nvPr/>
        </p:nvSpPr>
        <p:spPr>
          <a:xfrm>
            <a:off x="987552" y="1764792"/>
            <a:ext cx="2944368" cy="365760"/>
          </a:xfrm>
          <a:prstGeom prst="rect">
            <a:avLst/>
          </a:prstGeom>
          <a:noFill/>
          <a:ln/>
        </p:spPr>
        <p:txBody>
          <a:bodyPr wrap="square" lIns="0" tIns="0" rIns="0" bIns="0" rtlCol="0" anchor="ctr"/>
          <a:lstStyle/>
          <a:p>
            <a:pPr marL="0" indent="0">
              <a:buNone/>
            </a:pPr>
            <a:r>
              <a:rPr lang="en-US" sz="1500" b="1" dirty="0">
                <a:solidFill>
                  <a:srgbClr val="241520"/>
                </a:solidFill>
                <a:latin typeface="Cambria" pitchFamily="34" charset="0"/>
                <a:ea typeface="Cambria" pitchFamily="34" charset="-122"/>
                <a:cs typeface="Cambria" pitchFamily="34" charset="-120"/>
              </a:rPr>
              <a:t>What is reported</a:t>
            </a:r>
            <a:endParaRPr lang="en-US" sz="1500" dirty="0"/>
          </a:p>
        </p:txBody>
      </p:sp>
      <p:sp>
        <p:nvSpPr>
          <p:cNvPr id="11" name="Text 9"/>
          <p:cNvSpPr txBox="1"/>
          <p:nvPr/>
        </p:nvSpPr>
        <p:spPr>
          <a:xfrm>
            <a:off x="822960" y="2203704"/>
            <a:ext cx="3072384" cy="1408176"/>
          </a:xfrm>
          <a:prstGeom prst="rect">
            <a:avLst/>
          </a:prstGeom>
          <a:noFill/>
          <a:ln/>
        </p:spPr>
        <p:txBody>
          <a:bodyPr wrap="square" lIns="0" tIns="0" rIns="0" bIns="0" rtlCol="0" anchor="t"/>
          <a:lstStyle/>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Speech emotion recognition on MELD, accuracy 0.557, against WavLM-large at 0.542.</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A 1.5-point improvement over a strong self-supervised baseline.</a:t>
            </a:r>
            <a:endParaRPr lang="en-US" sz="1260" dirty="0"/>
          </a:p>
        </p:txBody>
      </p:sp>
      <p:sp>
        <p:nvSpPr>
          <p:cNvPr id="12" name="Shape 10"/>
          <p:cNvSpPr/>
          <p:nvPr/>
        </p:nvSpPr>
        <p:spPr>
          <a:xfrm>
            <a:off x="4279392" y="1600200"/>
            <a:ext cx="3584448" cy="2194560"/>
          </a:xfrm>
          <a:prstGeom prst="roundRect">
            <a:avLst>
              <a:gd name="adj" fmla="val 2500"/>
            </a:avLst>
          </a:prstGeom>
          <a:solidFill>
            <a:srgbClr val="F7F0F4"/>
          </a:solidFill>
          <a:ln w="12700">
            <a:solidFill>
              <a:srgbClr val="EDE0E7"/>
            </a:solidFill>
            <a:prstDash val="solid"/>
          </a:ln>
        </p:spPr>
        <p:txBody>
          <a:bodyPr/>
          <a:lstStyle/>
          <a:p>
            <a:endParaRPr lang="en-US"/>
          </a:p>
        </p:txBody>
      </p:sp>
      <p:sp>
        <p:nvSpPr>
          <p:cNvPr id="13" name="Shape 11"/>
          <p:cNvSpPr/>
          <p:nvPr/>
        </p:nvSpPr>
        <p:spPr>
          <a:xfrm>
            <a:off x="4498848" y="1892808"/>
            <a:ext cx="109728" cy="109728"/>
          </a:xfrm>
          <a:prstGeom prst="ellipse">
            <a:avLst/>
          </a:prstGeom>
          <a:solidFill>
            <a:srgbClr val="3FA88A"/>
          </a:solidFill>
          <a:ln w="12700">
            <a:solidFill>
              <a:srgbClr val="333333"/>
            </a:solidFill>
            <a:prstDash val="solid"/>
          </a:ln>
        </p:spPr>
        <p:txBody>
          <a:bodyPr/>
          <a:lstStyle/>
          <a:p>
            <a:endParaRPr lang="en-US"/>
          </a:p>
        </p:txBody>
      </p:sp>
      <p:sp>
        <p:nvSpPr>
          <p:cNvPr id="14" name="Text 12"/>
          <p:cNvSpPr txBox="1"/>
          <p:nvPr/>
        </p:nvSpPr>
        <p:spPr>
          <a:xfrm>
            <a:off x="4700016" y="1764792"/>
            <a:ext cx="2944368" cy="365760"/>
          </a:xfrm>
          <a:prstGeom prst="rect">
            <a:avLst/>
          </a:prstGeom>
          <a:noFill/>
          <a:ln/>
        </p:spPr>
        <p:txBody>
          <a:bodyPr wrap="square" lIns="0" tIns="0" rIns="0" bIns="0" rtlCol="0" anchor="ctr"/>
          <a:lstStyle/>
          <a:p>
            <a:pPr marL="0" indent="0">
              <a:buNone/>
            </a:pPr>
            <a:r>
              <a:rPr lang="en-US" sz="1500" b="1" dirty="0">
                <a:solidFill>
                  <a:srgbClr val="241520"/>
                </a:solidFill>
                <a:latin typeface="Cambria" pitchFamily="34" charset="0"/>
                <a:ea typeface="Cambria" pitchFamily="34" charset="-122"/>
                <a:cs typeface="Cambria" pitchFamily="34" charset="-120"/>
              </a:rPr>
              <a:t>What we know about MELD</a:t>
            </a:r>
            <a:endParaRPr lang="en-US" sz="1500" dirty="0"/>
          </a:p>
        </p:txBody>
      </p:sp>
      <p:sp>
        <p:nvSpPr>
          <p:cNvPr id="15" name="Text 13"/>
          <p:cNvSpPr txBox="1"/>
          <p:nvPr/>
        </p:nvSpPr>
        <p:spPr>
          <a:xfrm>
            <a:off x="4535424" y="2203704"/>
            <a:ext cx="3072384" cy="1408176"/>
          </a:xfrm>
          <a:prstGeom prst="rect">
            <a:avLst/>
          </a:prstGeom>
          <a:noFill/>
          <a:ln/>
        </p:spPr>
        <p:txBody>
          <a:bodyPr wrap="square" lIns="0" tIns="0" rIns="0" bIns="0" rtlCol="0" anchor="t"/>
          <a:lstStyle/>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Seven classes, heavily imbalanced toward neutral, drawn from the Friends TV series.</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From the CLEP-DG session: on MELD, weighted accuracy around 50 can sit alongside unweighted accuracy around 23, on a task where chance is about 14%.</a:t>
            </a:r>
            <a:endParaRPr lang="en-US" sz="1260" dirty="0"/>
          </a:p>
        </p:txBody>
      </p:sp>
      <p:sp>
        <p:nvSpPr>
          <p:cNvPr id="16" name="Shape 14"/>
          <p:cNvSpPr/>
          <p:nvPr/>
        </p:nvSpPr>
        <p:spPr>
          <a:xfrm>
            <a:off x="7991856" y="1600200"/>
            <a:ext cx="3639312" cy="2194560"/>
          </a:xfrm>
          <a:prstGeom prst="roundRect">
            <a:avLst>
              <a:gd name="adj" fmla="val 2500"/>
            </a:avLst>
          </a:prstGeom>
          <a:solidFill>
            <a:srgbClr val="F7F0F4"/>
          </a:solidFill>
          <a:ln w="12700">
            <a:solidFill>
              <a:srgbClr val="EDE0E7"/>
            </a:solidFill>
            <a:prstDash val="solid"/>
          </a:ln>
        </p:spPr>
        <p:txBody>
          <a:bodyPr/>
          <a:lstStyle/>
          <a:p>
            <a:endParaRPr lang="en-US"/>
          </a:p>
        </p:txBody>
      </p:sp>
      <p:sp>
        <p:nvSpPr>
          <p:cNvPr id="17" name="Shape 15"/>
          <p:cNvSpPr/>
          <p:nvPr/>
        </p:nvSpPr>
        <p:spPr>
          <a:xfrm>
            <a:off x="8211312" y="1892808"/>
            <a:ext cx="109728" cy="109728"/>
          </a:xfrm>
          <a:prstGeom prst="ellipse">
            <a:avLst/>
          </a:prstGeom>
          <a:solidFill>
            <a:srgbClr val="8A3F6B"/>
          </a:solidFill>
          <a:ln w="12700">
            <a:solidFill>
              <a:srgbClr val="333333"/>
            </a:solidFill>
            <a:prstDash val="solid"/>
          </a:ln>
        </p:spPr>
        <p:txBody>
          <a:bodyPr/>
          <a:lstStyle/>
          <a:p>
            <a:endParaRPr lang="en-US"/>
          </a:p>
        </p:txBody>
      </p:sp>
      <p:sp>
        <p:nvSpPr>
          <p:cNvPr id="18" name="Text 16"/>
          <p:cNvSpPr txBox="1"/>
          <p:nvPr/>
        </p:nvSpPr>
        <p:spPr>
          <a:xfrm>
            <a:off x="8412480" y="1764792"/>
            <a:ext cx="2999232" cy="365760"/>
          </a:xfrm>
          <a:prstGeom prst="rect">
            <a:avLst/>
          </a:prstGeom>
          <a:noFill/>
          <a:ln/>
        </p:spPr>
        <p:txBody>
          <a:bodyPr wrap="square" lIns="0" tIns="0" rIns="0" bIns="0" rtlCol="0" anchor="ctr"/>
          <a:lstStyle/>
          <a:p>
            <a:pPr marL="0" indent="0">
              <a:buNone/>
            </a:pPr>
            <a:r>
              <a:rPr lang="en-US" sz="1500" b="1" dirty="0">
                <a:solidFill>
                  <a:srgbClr val="241520"/>
                </a:solidFill>
                <a:latin typeface="Cambria" pitchFamily="34" charset="0"/>
                <a:ea typeface="Cambria" pitchFamily="34" charset="-122"/>
                <a:cs typeface="Cambria" pitchFamily="34" charset="-120"/>
              </a:rPr>
              <a:t>What is not reported</a:t>
            </a:r>
            <a:endParaRPr lang="en-US" sz="1500" dirty="0"/>
          </a:p>
        </p:txBody>
      </p:sp>
      <p:sp>
        <p:nvSpPr>
          <p:cNvPr id="19" name="Text 17"/>
          <p:cNvSpPr txBox="1"/>
          <p:nvPr/>
        </p:nvSpPr>
        <p:spPr>
          <a:xfrm>
            <a:off x="8247888" y="2203704"/>
            <a:ext cx="3127248" cy="1408176"/>
          </a:xfrm>
          <a:prstGeom prst="rect">
            <a:avLst/>
          </a:prstGeom>
          <a:noFill/>
          <a:ln/>
        </p:spPr>
        <p:txBody>
          <a:bodyPr wrap="square" lIns="0" tIns="0" rIns="0" bIns="0" rtlCol="0" anchor="t"/>
          <a:lstStyle/>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Only accuracy. No unweighted accuracy, no per-class breakdown, no F1.</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And emotion is one of the under-1,000-hour tasks in a mix exceeding a hundred thousand hours.</a:t>
            </a:r>
            <a:endParaRPr lang="en-US" sz="1260" dirty="0"/>
          </a:p>
        </p:txBody>
      </p:sp>
      <p:sp>
        <p:nvSpPr>
          <p:cNvPr id="20" name="Shape 18"/>
          <p:cNvSpPr/>
          <p:nvPr/>
        </p:nvSpPr>
        <p:spPr>
          <a:xfrm>
            <a:off x="566928" y="3986784"/>
            <a:ext cx="11064240" cy="2066544"/>
          </a:xfrm>
          <a:prstGeom prst="roundRect">
            <a:avLst>
              <a:gd name="adj" fmla="val 2655"/>
            </a:avLst>
          </a:prstGeom>
          <a:solidFill>
            <a:srgbClr val="331E2E"/>
          </a:solidFill>
          <a:ln w="12700">
            <a:solidFill>
              <a:srgbClr val="331E2E"/>
            </a:solidFill>
            <a:prstDash val="solid"/>
          </a:ln>
        </p:spPr>
        <p:txBody>
          <a:bodyPr/>
          <a:lstStyle/>
          <a:p>
            <a:endParaRPr lang="en-US"/>
          </a:p>
        </p:txBody>
      </p:sp>
      <p:sp>
        <p:nvSpPr>
          <p:cNvPr id="21" name="Shape 19"/>
          <p:cNvSpPr/>
          <p:nvPr/>
        </p:nvSpPr>
        <p:spPr>
          <a:xfrm>
            <a:off x="786384" y="4279392"/>
            <a:ext cx="109728" cy="109728"/>
          </a:xfrm>
          <a:prstGeom prst="ellipse">
            <a:avLst/>
          </a:prstGeom>
          <a:solidFill>
            <a:srgbClr val="3FA88A"/>
          </a:solidFill>
          <a:ln w="12700">
            <a:solidFill>
              <a:srgbClr val="333333"/>
            </a:solidFill>
            <a:prstDash val="solid"/>
          </a:ln>
        </p:spPr>
        <p:txBody>
          <a:bodyPr/>
          <a:lstStyle/>
          <a:p>
            <a:endParaRPr lang="en-US"/>
          </a:p>
        </p:txBody>
      </p:sp>
      <p:sp>
        <p:nvSpPr>
          <p:cNvPr id="22" name="Text 20"/>
          <p:cNvSpPr txBox="1"/>
          <p:nvPr/>
        </p:nvSpPr>
        <p:spPr>
          <a:xfrm>
            <a:off x="987552" y="4151376"/>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How to read it</a:t>
            </a:r>
            <a:endParaRPr lang="en-US" sz="1500" dirty="0"/>
          </a:p>
        </p:txBody>
      </p:sp>
      <p:sp>
        <p:nvSpPr>
          <p:cNvPr id="23" name="Text 21"/>
          <p:cNvSpPr txBox="1"/>
          <p:nvPr/>
        </p:nvSpPr>
        <p:spPr>
          <a:xfrm>
            <a:off x="822960" y="4590288"/>
            <a:ext cx="10552176" cy="1280160"/>
          </a:xfrm>
          <a:prstGeom prst="rect">
            <a:avLst/>
          </a:prstGeom>
          <a:noFill/>
          <a:ln/>
        </p:spPr>
        <p:txBody>
          <a:bodyPr wrap="square" lIns="0" tIns="0" rIns="0" bIns="0" rtlCol="0" anchor="t"/>
          <a:lstStyle/>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The number is not wrong and the comparison is fair — WavLM-large is measured the same way. But a single weighted accuracy on a skewed seven-class set carries very little information about the rare emotions, which is exactly the AffectNet and CLEP-DG lesson.</a:t>
            </a:r>
            <a:endParaRPr lang="en-US" sz="1300" dirty="0"/>
          </a:p>
          <a:p>
            <a:pPr marL="0" indent="0">
              <a:lnSpc>
                <a:spcPct val="108000"/>
              </a:lnSpc>
              <a:buNone/>
            </a:pPr>
            <a:endParaRPr lang="en-US" sz="1300" dirty="0"/>
          </a:p>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The honest summary of this session's two papers on paralinguistics: emotion is present in the task mix, reported with one number, and never examined.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The one ablation</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Does word-level timestamp training help tasks that have no timestamps?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18</a:t>
            </a:r>
            <a:endParaRPr lang="en-US" sz="900" dirty="0"/>
          </a:p>
        </p:txBody>
      </p:sp>
      <p:graphicFrame>
        <p:nvGraphicFramePr>
          <p:cNvPr id="8" name="Chart 0"/>
          <p:cNvGraphicFramePr/>
          <p:nvPr/>
        </p:nvGraphicFramePr>
        <p:xfrm>
          <a:off x="566928" y="1554480"/>
          <a:ext cx="67665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589520" y="1700784"/>
            <a:ext cx="4041648" cy="338328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The control is clean: removing SRWT does not change which audio the model sees, because SRWT and ASR share the same datasets.</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Mandarin ASR improves most — 1.71 to 1.29 word error rate, a relative gain of 25%.</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And the transfer claim holds: sound question answering improves by 1.5 points and music question answering by 1.8, on tasks with no timestamps in them.</a:t>
            </a:r>
            <a:endParaRPr lang="en-US" sz="1220" dirty="0"/>
          </a:p>
          <a:p>
            <a:pPr marL="342900" indent="-342900">
              <a:spcAft>
                <a:spcPts val="800"/>
              </a:spcAft>
              <a:buSzPct val="100000"/>
              <a:buChar char="●"/>
            </a:pPr>
            <a:r>
              <a:rPr lang="en-US" sz="1220" dirty="0">
                <a:solidFill>
                  <a:srgbClr val="38242F"/>
                </a:solidFill>
                <a:latin typeface="Calibri" pitchFamily="34" charset="0"/>
                <a:ea typeface="Calibri" pitchFamily="34" charset="-122"/>
                <a:cs typeface="Calibri" pitchFamily="34" charset="-120"/>
              </a:rPr>
              <a:t>This is the only ablation in the paper, and it supports the secondary contribution rather than the headline one.</a:t>
            </a:r>
            <a:endParaRPr lang="en-US" sz="1220" dirty="0"/>
          </a:p>
        </p:txBody>
      </p:sp>
      <p:sp>
        <p:nvSpPr>
          <p:cNvPr id="10" name="Shape 7"/>
          <p:cNvSpPr/>
          <p:nvPr/>
        </p:nvSpPr>
        <p:spPr>
          <a:xfrm>
            <a:off x="566928" y="5266944"/>
            <a:ext cx="11064240" cy="786384"/>
          </a:xfrm>
          <a:prstGeom prst="roundRect">
            <a:avLst>
              <a:gd name="adj" fmla="val 6977"/>
            </a:avLst>
          </a:prstGeom>
          <a:solidFill>
            <a:srgbClr val="331E2E"/>
          </a:solidFill>
          <a:ln w="12700">
            <a:solidFill>
              <a:srgbClr val="331E2E"/>
            </a:solidFill>
            <a:prstDash val="solid"/>
          </a:ln>
        </p:spPr>
        <p:txBody>
          <a:bodyPr/>
          <a:lstStyle/>
          <a:p>
            <a:endParaRPr lang="en-US"/>
          </a:p>
        </p:txBody>
      </p:sp>
      <p:sp>
        <p:nvSpPr>
          <p:cNvPr id="11" name="Text 8"/>
          <p:cNvSpPr txBox="1"/>
          <p:nvPr/>
        </p:nvSpPr>
        <p:spPr>
          <a:xfrm>
            <a:off x="822960" y="5486400"/>
            <a:ext cx="10552176" cy="365760"/>
          </a:xfrm>
          <a:prstGeom prst="rect">
            <a:avLst/>
          </a:prstGeom>
          <a:noFill/>
          <a:ln/>
        </p:spPr>
        <p:txBody>
          <a:bodyPr wrap="square" lIns="0" tIns="0" rIns="0" bIns="0" rtlCol="0" anchor="t"/>
          <a:lstStyle/>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A finer-grained alignment task improves coarser ones. The same pattern we saw in HuBERT, where a harder pretext task produced better representations.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31E2E"/>
        </a:solidFill>
        <a:effectLst/>
      </p:bgPr>
    </p:bg>
    <p:spTree>
      <p:nvGrpSpPr>
        <p:cNvPr id="1" name=""/>
        <p:cNvGrpSpPr/>
        <p:nvPr/>
      </p:nvGrpSpPr>
      <p:grpSpPr>
        <a:xfrm>
          <a:off x="0" y="0"/>
          <a:ext cx="0" cy="0"/>
          <a:chOff x="0" y="0"/>
          <a:chExt cx="0" cy="0"/>
        </a:xfrm>
      </p:grpSpPr>
      <p:sp>
        <p:nvSpPr>
          <p:cNvPr id="2" name="Shape 0"/>
          <p:cNvSpPr/>
          <p:nvPr/>
        </p:nvSpPr>
        <p:spPr>
          <a:xfrm>
            <a:off x="10607040" y="5303520"/>
            <a:ext cx="210312" cy="210312"/>
          </a:xfrm>
          <a:prstGeom prst="roundRect">
            <a:avLst>
              <a:gd name="adj" fmla="val 8696"/>
            </a:avLst>
          </a:prstGeom>
          <a:solidFill>
            <a:srgbClr val="E2C6D6"/>
          </a:solidFill>
          <a:ln w="12700">
            <a:solidFill>
              <a:srgbClr val="333333"/>
            </a:solidFill>
            <a:prstDash val="solid"/>
          </a:ln>
        </p:spPr>
        <p:txBody>
          <a:bodyPr/>
          <a:lstStyle/>
          <a:p>
            <a:endParaRPr lang="en-US"/>
          </a:p>
        </p:txBody>
      </p:sp>
      <p:sp>
        <p:nvSpPr>
          <p:cNvPr id="3" name="Shape 1"/>
          <p:cNvSpPr/>
          <p:nvPr/>
        </p:nvSpPr>
        <p:spPr>
          <a:xfrm>
            <a:off x="10881360" y="5522976"/>
            <a:ext cx="210312" cy="210312"/>
          </a:xfrm>
          <a:prstGeom prst="roundRect">
            <a:avLst>
              <a:gd name="adj" fmla="val 8696"/>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155680" y="5742432"/>
            <a:ext cx="210312" cy="210312"/>
          </a:xfrm>
          <a:prstGeom prst="roundRect">
            <a:avLst>
              <a:gd name="adj" fmla="val 8696"/>
            </a:avLst>
          </a:prstGeom>
          <a:solidFill>
            <a:srgbClr val="E2C6D6"/>
          </a:solidFill>
          <a:ln w="12700">
            <a:solidFill>
              <a:srgbClr val="333333"/>
            </a:solidFill>
            <a:prstDash val="solid"/>
          </a:ln>
        </p:spPr>
        <p:txBody>
          <a:bodyPr/>
          <a:lstStyle/>
          <a:p>
            <a:endParaRPr lang="en-US"/>
          </a:p>
        </p:txBody>
      </p:sp>
      <p:sp>
        <p:nvSpPr>
          <p:cNvPr id="5" name="Text 3"/>
          <p:cNvSpPr txBox="1"/>
          <p:nvPr/>
        </p:nvSpPr>
        <p:spPr>
          <a:xfrm>
            <a:off x="822960" y="2057400"/>
            <a:ext cx="1554480" cy="1005840"/>
          </a:xfrm>
          <a:prstGeom prst="rect">
            <a:avLst/>
          </a:prstGeom>
          <a:noFill/>
          <a:ln/>
        </p:spPr>
        <p:txBody>
          <a:bodyPr wrap="square" lIns="0" tIns="0" rIns="0" bIns="0" rtlCol="0" anchor="ctr"/>
          <a:lstStyle/>
          <a:p>
            <a:pPr marL="0" indent="0">
              <a:buNone/>
            </a:pPr>
            <a:r>
              <a:rPr lang="en-US" sz="6600" b="1" dirty="0">
                <a:solidFill>
                  <a:srgbClr val="3FA88A"/>
                </a:solidFill>
                <a:latin typeface="Cambria" pitchFamily="34" charset="0"/>
                <a:ea typeface="Cambria" pitchFamily="34" charset="-122"/>
                <a:cs typeface="Cambria" pitchFamily="34" charset="-120"/>
              </a:rPr>
              <a:t>5</a:t>
            </a:r>
            <a:endParaRPr lang="en-US" sz="6600" dirty="0"/>
          </a:p>
        </p:txBody>
      </p:sp>
      <p:sp>
        <p:nvSpPr>
          <p:cNvPr id="6" name="Text 4"/>
          <p:cNvSpPr txBox="1"/>
          <p:nvPr/>
        </p:nvSpPr>
        <p:spPr>
          <a:xfrm>
            <a:off x="2377440" y="2212848"/>
            <a:ext cx="8686800" cy="8229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Appraisal</a:t>
            </a:r>
            <a:endParaRPr lang="en-US" sz="3300" dirty="0"/>
          </a:p>
        </p:txBody>
      </p:sp>
      <p:sp>
        <p:nvSpPr>
          <p:cNvPr id="7" name="Text 5"/>
          <p:cNvSpPr txBox="1"/>
          <p:nvPr/>
        </p:nvSpPr>
        <p:spPr>
          <a:xfrm>
            <a:off x="2432304" y="3072384"/>
            <a:ext cx="8503920" cy="731520"/>
          </a:xfrm>
          <a:prstGeom prst="rect">
            <a:avLst/>
          </a:prstGeom>
          <a:noFill/>
          <a:ln/>
        </p:spPr>
        <p:txBody>
          <a:bodyPr wrap="square" lIns="0" tIns="0" rIns="0" bIns="0" rtlCol="0" anchor="ctr"/>
          <a:lstStyle/>
          <a:p>
            <a:pPr marL="0" indent="0">
              <a:buNone/>
            </a:pPr>
            <a:r>
              <a:rPr lang="en-US" sz="1500" dirty="0">
                <a:solidFill>
                  <a:srgbClr val="E2C6D6"/>
                </a:solidFill>
                <a:latin typeface="Calibri" pitchFamily="34" charset="0"/>
                <a:ea typeface="Calibri" pitchFamily="34" charset="-122"/>
                <a:cs typeface="Calibri" pitchFamily="34" charset="-120"/>
              </a:rPr>
              <a:t>What is demonstrated, and what is asserted</a:t>
            </a:r>
            <a:endParaRPr lang="en-US" sz="1500" dirty="0"/>
          </a:p>
        </p:txBody>
      </p:sp>
      <p:sp>
        <p:nvSpPr>
          <p:cNvPr id="8" name="Text 6"/>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The missing experiment</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The headline contribution is never tested</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20</a:t>
            </a:r>
            <a:endParaRPr lang="en-US" sz="900" dirty="0"/>
          </a:p>
        </p:txBody>
      </p:sp>
      <p:sp>
        <p:nvSpPr>
          <p:cNvPr id="8" name="Shape 6"/>
          <p:cNvSpPr/>
          <p:nvPr/>
        </p:nvSpPr>
        <p:spPr>
          <a:xfrm>
            <a:off x="566928" y="1600200"/>
            <a:ext cx="5440680" cy="2240280"/>
          </a:xfrm>
          <a:prstGeom prst="roundRect">
            <a:avLst>
              <a:gd name="adj" fmla="val 2449"/>
            </a:avLst>
          </a:prstGeom>
          <a:solidFill>
            <a:srgbClr val="F7F0F4"/>
          </a:solidFill>
          <a:ln w="12700">
            <a:solidFill>
              <a:srgbClr val="EDE0E7"/>
            </a:solidFill>
            <a:prstDash val="solid"/>
          </a:ln>
        </p:spPr>
        <p:txBody>
          <a:bodyPr/>
          <a:lstStyle/>
          <a:p>
            <a:endParaRPr lang="en-US"/>
          </a:p>
        </p:txBody>
      </p:sp>
      <p:sp>
        <p:nvSpPr>
          <p:cNvPr id="9" name="Shape 7"/>
          <p:cNvSpPr/>
          <p:nvPr/>
        </p:nvSpPr>
        <p:spPr>
          <a:xfrm>
            <a:off x="786384" y="1892808"/>
            <a:ext cx="109728" cy="109728"/>
          </a:xfrm>
          <a:prstGeom prst="ellipse">
            <a:avLst/>
          </a:prstGeom>
          <a:solidFill>
            <a:srgbClr val="8A3F6B"/>
          </a:solidFill>
          <a:ln w="12700">
            <a:solidFill>
              <a:srgbClr val="333333"/>
            </a:solidFill>
            <a:prstDash val="solid"/>
          </a:ln>
        </p:spPr>
        <p:txBody>
          <a:bodyPr/>
          <a:lstStyle/>
          <a:p>
            <a:endParaRPr lang="en-US"/>
          </a:p>
        </p:txBody>
      </p:sp>
      <p:sp>
        <p:nvSpPr>
          <p:cNvPr id="10" name="Text 8"/>
          <p:cNvSpPr txBox="1"/>
          <p:nvPr/>
        </p:nvSpPr>
        <p:spPr>
          <a:xfrm>
            <a:off x="987552" y="1764792"/>
            <a:ext cx="4800600" cy="365760"/>
          </a:xfrm>
          <a:prstGeom prst="rect">
            <a:avLst/>
          </a:prstGeom>
          <a:noFill/>
          <a:ln/>
        </p:spPr>
        <p:txBody>
          <a:bodyPr wrap="square" lIns="0" tIns="0" rIns="0" bIns="0" rtlCol="0" anchor="ctr"/>
          <a:lstStyle/>
          <a:p>
            <a:pPr marL="0" indent="0">
              <a:buNone/>
            </a:pPr>
            <a:r>
              <a:rPr lang="en-US" sz="1500" b="1" dirty="0">
                <a:solidFill>
                  <a:srgbClr val="241520"/>
                </a:solidFill>
                <a:latin typeface="Cambria" pitchFamily="34" charset="0"/>
                <a:ea typeface="Cambria" pitchFamily="34" charset="-122"/>
                <a:cs typeface="Cambria" pitchFamily="34" charset="-120"/>
              </a:rPr>
              <a:t>What the paper claims</a:t>
            </a:r>
            <a:endParaRPr lang="en-US" sz="1500" dirty="0"/>
          </a:p>
        </p:txBody>
      </p:sp>
      <p:sp>
        <p:nvSpPr>
          <p:cNvPr id="11" name="Text 9"/>
          <p:cNvSpPr txBox="1"/>
          <p:nvPr/>
        </p:nvSpPr>
        <p:spPr>
          <a:xfrm>
            <a:off x="82296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That conditioning on a sequence of hierarchical tags encourages knowledge sharing and avoids interference — and that this is what makes co-training thirty tasks work.</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The claim appears in the title, the abstract, the contributions list and the conclusion.</a:t>
            </a:r>
            <a:endParaRPr lang="en-US" sz="1260" dirty="0"/>
          </a:p>
        </p:txBody>
      </p:sp>
      <p:sp>
        <p:nvSpPr>
          <p:cNvPr id="12" name="Shape 10"/>
          <p:cNvSpPr/>
          <p:nvPr/>
        </p:nvSpPr>
        <p:spPr>
          <a:xfrm>
            <a:off x="6190488" y="1600200"/>
            <a:ext cx="5440680" cy="2240280"/>
          </a:xfrm>
          <a:prstGeom prst="roundRect">
            <a:avLst>
              <a:gd name="adj" fmla="val 2449"/>
            </a:avLst>
          </a:prstGeom>
          <a:solidFill>
            <a:srgbClr val="F7F0F4"/>
          </a:solidFill>
          <a:ln w="12700">
            <a:solidFill>
              <a:srgbClr val="EDE0E7"/>
            </a:solidFill>
            <a:prstDash val="solid"/>
          </a:ln>
        </p:spPr>
        <p:txBody>
          <a:bodyPr/>
          <a:lstStyle/>
          <a:p>
            <a:endParaRPr lang="en-US"/>
          </a:p>
        </p:txBody>
      </p:sp>
      <p:sp>
        <p:nvSpPr>
          <p:cNvPr id="13" name="Shape 11"/>
          <p:cNvSpPr/>
          <p:nvPr/>
        </p:nvSpPr>
        <p:spPr>
          <a:xfrm>
            <a:off x="6409944" y="1892808"/>
            <a:ext cx="109728" cy="109728"/>
          </a:xfrm>
          <a:prstGeom prst="ellipse">
            <a:avLst/>
          </a:prstGeom>
          <a:solidFill>
            <a:srgbClr val="3FA88A"/>
          </a:solidFill>
          <a:ln w="12700">
            <a:solidFill>
              <a:srgbClr val="333333"/>
            </a:solidFill>
            <a:prstDash val="solid"/>
          </a:ln>
        </p:spPr>
        <p:txBody>
          <a:bodyPr/>
          <a:lstStyle/>
          <a:p>
            <a:endParaRPr lang="en-US"/>
          </a:p>
        </p:txBody>
      </p:sp>
      <p:sp>
        <p:nvSpPr>
          <p:cNvPr id="14" name="Text 12"/>
          <p:cNvSpPr txBox="1"/>
          <p:nvPr/>
        </p:nvSpPr>
        <p:spPr>
          <a:xfrm>
            <a:off x="6611112" y="1764792"/>
            <a:ext cx="4800600" cy="365760"/>
          </a:xfrm>
          <a:prstGeom prst="rect">
            <a:avLst/>
          </a:prstGeom>
          <a:noFill/>
          <a:ln/>
        </p:spPr>
        <p:txBody>
          <a:bodyPr wrap="square" lIns="0" tIns="0" rIns="0" bIns="0" rtlCol="0" anchor="ctr"/>
          <a:lstStyle/>
          <a:p>
            <a:pPr marL="0" indent="0">
              <a:buNone/>
            </a:pPr>
            <a:r>
              <a:rPr lang="en-US" sz="1500" b="1" dirty="0">
                <a:solidFill>
                  <a:srgbClr val="241520"/>
                </a:solidFill>
                <a:latin typeface="Cambria" pitchFamily="34" charset="0"/>
                <a:ea typeface="Cambria" pitchFamily="34" charset="-122"/>
                <a:cs typeface="Cambria" pitchFamily="34" charset="-120"/>
              </a:rPr>
              <a:t>What would test it</a:t>
            </a:r>
            <a:endParaRPr lang="en-US" sz="1500" dirty="0"/>
          </a:p>
        </p:txBody>
      </p:sp>
      <p:sp>
        <p:nvSpPr>
          <p:cNvPr id="15" name="Text 13"/>
          <p:cNvSpPr txBox="1"/>
          <p:nvPr/>
        </p:nvSpPr>
        <p:spPr>
          <a:xfrm>
            <a:off x="6446520" y="2203704"/>
            <a:ext cx="4928616" cy="1453896"/>
          </a:xfrm>
          <a:prstGeom prst="rect">
            <a:avLst/>
          </a:prstGeom>
          <a:noFill/>
          <a:ln/>
        </p:spPr>
        <p:txBody>
          <a:bodyPr wrap="square" lIns="0" tIns="0" rIns="0" bIns="0" rtlCol="0" anchor="t"/>
          <a:lstStyle/>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Train the same model with a flat dataset ID instead of the hierarchy. Or with no tags at all. Or with a partial hierarchy — task tags but no language tags.</a:t>
            </a:r>
            <a:endParaRPr lang="en-US" sz="1260" dirty="0"/>
          </a:p>
          <a:p>
            <a:pPr marL="0" indent="0">
              <a:lnSpc>
                <a:spcPct val="108000"/>
              </a:lnSpc>
              <a:buNone/>
            </a:pPr>
            <a:endParaRPr lang="en-US" sz="1260" dirty="0"/>
          </a:p>
          <a:p>
            <a:pPr marL="0" indent="0">
              <a:lnSpc>
                <a:spcPct val="108000"/>
              </a:lnSpc>
              <a:buNone/>
            </a:pPr>
            <a:r>
              <a:rPr lang="en-US" sz="1260" dirty="0">
                <a:solidFill>
                  <a:srgbClr val="38242F"/>
                </a:solidFill>
                <a:latin typeface="Calibri" pitchFamily="34" charset="0"/>
                <a:ea typeface="Calibri" pitchFamily="34" charset="-122"/>
                <a:cs typeface="Calibri" pitchFamily="34" charset="-120"/>
              </a:rPr>
              <a:t>Each is a single training run on the same data, and each would say how much the structure is worth.</a:t>
            </a:r>
            <a:endParaRPr lang="en-US" sz="1260" dirty="0"/>
          </a:p>
        </p:txBody>
      </p:sp>
      <p:sp>
        <p:nvSpPr>
          <p:cNvPr id="16" name="Shape 14"/>
          <p:cNvSpPr/>
          <p:nvPr/>
        </p:nvSpPr>
        <p:spPr>
          <a:xfrm>
            <a:off x="566928" y="4041648"/>
            <a:ext cx="11064240" cy="2011680"/>
          </a:xfrm>
          <a:prstGeom prst="roundRect">
            <a:avLst>
              <a:gd name="adj" fmla="val 2727"/>
            </a:avLst>
          </a:prstGeom>
          <a:solidFill>
            <a:srgbClr val="331E2E"/>
          </a:solidFill>
          <a:ln w="12700">
            <a:solidFill>
              <a:srgbClr val="331E2E"/>
            </a:solidFill>
            <a:prstDash val="solid"/>
          </a:ln>
        </p:spPr>
        <p:txBody>
          <a:bodyPr/>
          <a:lstStyle/>
          <a:p>
            <a:endParaRPr lang="en-US"/>
          </a:p>
        </p:txBody>
      </p:sp>
      <p:sp>
        <p:nvSpPr>
          <p:cNvPr id="17" name="Shape 15"/>
          <p:cNvSpPr/>
          <p:nvPr/>
        </p:nvSpPr>
        <p:spPr>
          <a:xfrm>
            <a:off x="786384" y="4334256"/>
            <a:ext cx="109728" cy="109728"/>
          </a:xfrm>
          <a:prstGeom prst="ellipse">
            <a:avLst/>
          </a:prstGeom>
          <a:solidFill>
            <a:srgbClr val="3FA88A"/>
          </a:solidFill>
          <a:ln w="12700">
            <a:solidFill>
              <a:srgbClr val="333333"/>
            </a:solidFill>
            <a:prstDash val="solid"/>
          </a:ln>
        </p:spPr>
        <p:txBody>
          <a:bodyPr/>
          <a:lstStyle/>
          <a:p>
            <a:endParaRPr lang="en-US"/>
          </a:p>
        </p:txBody>
      </p:sp>
      <p:sp>
        <p:nvSpPr>
          <p:cNvPr id="18" name="Text 16"/>
          <p:cNvSpPr txBox="1"/>
          <p:nvPr/>
        </p:nvSpPr>
        <p:spPr>
          <a:xfrm>
            <a:off x="987552" y="4206240"/>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Why this matters for what we can conclude</a:t>
            </a:r>
            <a:endParaRPr lang="en-US" sz="1500" dirty="0"/>
          </a:p>
        </p:txBody>
      </p:sp>
      <p:sp>
        <p:nvSpPr>
          <p:cNvPr id="19" name="Text 17"/>
          <p:cNvSpPr txBox="1"/>
          <p:nvPr/>
        </p:nvSpPr>
        <p:spPr>
          <a:xfrm>
            <a:off x="822960" y="4645152"/>
            <a:ext cx="10552176" cy="1225296"/>
          </a:xfrm>
          <a:prstGeom prst="rect">
            <a:avLst/>
          </a:prstGeom>
          <a:noFill/>
          <a:ln/>
        </p:spPr>
        <p:txBody>
          <a:bodyPr wrap="square" lIns="0" tIns="0" rIns="0" bIns="0" rtlCol="0" anchor="t"/>
          <a:lstStyle/>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Qwen-Audio is bigger than its comparators, trained on more data, for more steps, with a stronger language model and a stronger encoder. Every one of those could explain the results.</a:t>
            </a:r>
            <a:endParaRPr lang="en-US" sz="1300" dirty="0"/>
          </a:p>
          <a:p>
            <a:pPr marL="0" indent="0">
              <a:lnSpc>
                <a:spcPct val="108000"/>
              </a:lnSpc>
              <a:buNone/>
            </a:pPr>
            <a:endParaRPr lang="en-US" sz="1300" dirty="0"/>
          </a:p>
          <a:p>
            <a:pPr marL="0" indent="0">
              <a:lnSpc>
                <a:spcPct val="108000"/>
              </a:lnSpc>
              <a:buNone/>
            </a:pPr>
            <a:r>
              <a:rPr lang="en-US" sz="1300" dirty="0">
                <a:solidFill>
                  <a:srgbClr val="E2C6D6"/>
                </a:solidFill>
                <a:latin typeface="Calibri" pitchFamily="34" charset="0"/>
                <a:ea typeface="Calibri" pitchFamily="34" charset="-122"/>
                <a:cs typeface="Calibri" pitchFamily="34" charset="-120"/>
              </a:rPr>
              <a:t>So the leaderboard establishes that the system works. It does not establish that the hierarchy is why. Compare SALMONN, which ran four controls on its central claim, or LTU after the break, which ablates its curriculum directly.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Critical appraisal</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What the design buys, and what it costs</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21</a:t>
            </a:r>
            <a:endParaRPr lang="en-US" sz="900" dirty="0"/>
          </a:p>
        </p:txBody>
      </p:sp>
      <p:sp>
        <p:nvSpPr>
          <p:cNvPr id="8" name="Shape 6"/>
          <p:cNvSpPr/>
          <p:nvPr/>
        </p:nvSpPr>
        <p:spPr>
          <a:xfrm>
            <a:off x="566928" y="1554480"/>
            <a:ext cx="5440680" cy="4498848"/>
          </a:xfrm>
          <a:prstGeom prst="roundRect">
            <a:avLst>
              <a:gd name="adj" fmla="val 1220"/>
            </a:avLst>
          </a:prstGeom>
          <a:solidFill>
            <a:srgbClr val="F7F0F4"/>
          </a:solidFill>
          <a:ln w="12700">
            <a:solidFill>
              <a:srgbClr val="EDE0E7"/>
            </a:solidFill>
            <a:prstDash val="solid"/>
          </a:ln>
        </p:spPr>
        <p:txBody>
          <a:bodyPr/>
          <a:lstStyle/>
          <a:p>
            <a:endParaRPr lang="en-US"/>
          </a:p>
        </p:txBody>
      </p:sp>
      <p:sp>
        <p:nvSpPr>
          <p:cNvPr id="9" name="Shape 7"/>
          <p:cNvSpPr/>
          <p:nvPr/>
        </p:nvSpPr>
        <p:spPr>
          <a:xfrm>
            <a:off x="786384" y="1847088"/>
            <a:ext cx="109728" cy="109728"/>
          </a:xfrm>
          <a:prstGeom prst="ellipse">
            <a:avLst/>
          </a:prstGeom>
          <a:solidFill>
            <a:srgbClr val="8A3F6B"/>
          </a:solidFill>
          <a:ln w="12700">
            <a:solidFill>
              <a:srgbClr val="333333"/>
            </a:solidFill>
            <a:prstDash val="solid"/>
          </a:ln>
        </p:spPr>
        <p:txBody>
          <a:bodyPr/>
          <a:lstStyle/>
          <a:p>
            <a:endParaRPr lang="en-US"/>
          </a:p>
        </p:txBody>
      </p:sp>
      <p:sp>
        <p:nvSpPr>
          <p:cNvPr id="10" name="Text 8"/>
          <p:cNvSpPr txBox="1"/>
          <p:nvPr/>
        </p:nvSpPr>
        <p:spPr>
          <a:xfrm>
            <a:off x="987552" y="1719072"/>
            <a:ext cx="4800600" cy="365760"/>
          </a:xfrm>
          <a:prstGeom prst="rect">
            <a:avLst/>
          </a:prstGeom>
          <a:noFill/>
          <a:ln/>
        </p:spPr>
        <p:txBody>
          <a:bodyPr wrap="square" lIns="0" tIns="0" rIns="0" bIns="0" rtlCol="0" anchor="ctr"/>
          <a:lstStyle/>
          <a:p>
            <a:pPr marL="0" indent="0">
              <a:buNone/>
            </a:pPr>
            <a:r>
              <a:rPr lang="en-US" sz="1700" b="1" dirty="0">
                <a:solidFill>
                  <a:srgbClr val="241520"/>
                </a:solidFill>
                <a:latin typeface="Cambria" pitchFamily="34" charset="0"/>
                <a:ea typeface="Cambria" pitchFamily="34" charset="-122"/>
                <a:cs typeface="Cambria" pitchFamily="34" charset="-120"/>
              </a:rPr>
              <a:t>Strengths</a:t>
            </a:r>
            <a:endParaRPr lang="en-US" sz="1700" dirty="0"/>
          </a:p>
        </p:txBody>
      </p:sp>
      <p:sp>
        <p:nvSpPr>
          <p:cNvPr id="11" name="Text 9"/>
          <p:cNvSpPr txBox="1"/>
          <p:nvPr/>
        </p:nvSpPr>
        <p:spPr>
          <a:xfrm>
            <a:off x="82296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Genuine breadth: speech, sound, music and song, thirty-plus tasks, eight languages, one model, no task-specific fine-tuning at evaluation.</a:t>
            </a:r>
            <a:endParaRPr lang="en-US" sz="1220" dirty="0"/>
          </a:p>
          <a:p>
            <a:pPr marL="0" indent="0">
              <a:lnSpc>
                <a:spcPct val="108000"/>
              </a:lnSpc>
              <a:buNone/>
            </a:pPr>
            <a:endParaRPr lang="en-US" sz="1220" dirty="0"/>
          </a:p>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State-of-the-art speech recognition and translation while also doing music note analysis — the combination is the achievement.</a:t>
            </a:r>
            <a:endParaRPr lang="en-US" sz="1220" dirty="0"/>
          </a:p>
          <a:p>
            <a:pPr marL="0" indent="0">
              <a:lnSpc>
                <a:spcPct val="108000"/>
              </a:lnSpc>
              <a:buNone/>
            </a:pPr>
            <a:endParaRPr lang="en-US" sz="1220" dirty="0"/>
          </a:p>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The tag hierarchy is a clean idea, well described, and directly generalises Whisper's task tokens.</a:t>
            </a:r>
            <a:endParaRPr lang="en-US" sz="1220" dirty="0"/>
          </a:p>
          <a:p>
            <a:pPr marL="0" indent="0">
              <a:lnSpc>
                <a:spcPct val="108000"/>
              </a:lnSpc>
              <a:buNone/>
            </a:pPr>
            <a:endParaRPr lang="en-US" sz="1220" dirty="0"/>
          </a:p>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SRWT is a real contribution with a properly controlled ablation, and the transfer result is non-obvious.</a:t>
            </a:r>
            <a:endParaRPr lang="en-US" sz="1220" dirty="0"/>
          </a:p>
          <a:p>
            <a:pPr marL="0" indent="0">
              <a:lnSpc>
                <a:spcPct val="108000"/>
              </a:lnSpc>
              <a:buNone/>
            </a:pPr>
            <a:endParaRPr lang="en-US" sz="1220" dirty="0"/>
          </a:p>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Evaluation datasets rigorously excluded from training to avoid leakage, and stated as such.</a:t>
            </a:r>
            <a:endParaRPr lang="en-US" sz="1220" dirty="0"/>
          </a:p>
          <a:p>
            <a:pPr marL="0" indent="0">
              <a:lnSpc>
                <a:spcPct val="108000"/>
              </a:lnSpc>
              <a:buNone/>
            </a:pPr>
            <a:endParaRPr lang="en-US" sz="1220" dirty="0"/>
          </a:p>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Code, checkpoints and demo released.</a:t>
            </a:r>
            <a:endParaRPr lang="en-US" sz="1220" dirty="0"/>
          </a:p>
        </p:txBody>
      </p:sp>
      <p:sp>
        <p:nvSpPr>
          <p:cNvPr id="12" name="Shape 10"/>
          <p:cNvSpPr/>
          <p:nvPr/>
        </p:nvSpPr>
        <p:spPr>
          <a:xfrm>
            <a:off x="6190488" y="1554480"/>
            <a:ext cx="5440680" cy="4498848"/>
          </a:xfrm>
          <a:prstGeom prst="roundRect">
            <a:avLst>
              <a:gd name="adj" fmla="val 1220"/>
            </a:avLst>
          </a:prstGeom>
          <a:solidFill>
            <a:srgbClr val="F7F0F4"/>
          </a:solidFill>
          <a:ln w="12700">
            <a:solidFill>
              <a:srgbClr val="EDE0E7"/>
            </a:solidFill>
            <a:prstDash val="solid"/>
          </a:ln>
        </p:spPr>
        <p:txBody>
          <a:bodyPr/>
          <a:lstStyle/>
          <a:p>
            <a:endParaRPr lang="en-US"/>
          </a:p>
        </p:txBody>
      </p:sp>
      <p:sp>
        <p:nvSpPr>
          <p:cNvPr id="13" name="Shape 11"/>
          <p:cNvSpPr/>
          <p:nvPr/>
        </p:nvSpPr>
        <p:spPr>
          <a:xfrm>
            <a:off x="6409944" y="1847088"/>
            <a:ext cx="109728" cy="109728"/>
          </a:xfrm>
          <a:prstGeom prst="ellipse">
            <a:avLst/>
          </a:prstGeom>
          <a:solidFill>
            <a:srgbClr val="3FA88A"/>
          </a:solidFill>
          <a:ln w="12700">
            <a:solidFill>
              <a:srgbClr val="333333"/>
            </a:solidFill>
            <a:prstDash val="solid"/>
          </a:ln>
        </p:spPr>
        <p:txBody>
          <a:bodyPr/>
          <a:lstStyle/>
          <a:p>
            <a:endParaRPr lang="en-US"/>
          </a:p>
        </p:txBody>
      </p:sp>
      <p:sp>
        <p:nvSpPr>
          <p:cNvPr id="14" name="Text 12"/>
          <p:cNvSpPr txBox="1"/>
          <p:nvPr/>
        </p:nvSpPr>
        <p:spPr>
          <a:xfrm>
            <a:off x="6611112" y="1719072"/>
            <a:ext cx="4800600" cy="365760"/>
          </a:xfrm>
          <a:prstGeom prst="rect">
            <a:avLst/>
          </a:prstGeom>
          <a:noFill/>
          <a:ln/>
        </p:spPr>
        <p:txBody>
          <a:bodyPr wrap="square" lIns="0" tIns="0" rIns="0" bIns="0" rtlCol="0" anchor="ctr"/>
          <a:lstStyle/>
          <a:p>
            <a:pPr marL="0" indent="0">
              <a:buNone/>
            </a:pPr>
            <a:r>
              <a:rPr lang="en-US" sz="1700" b="1" dirty="0">
                <a:solidFill>
                  <a:srgbClr val="241520"/>
                </a:solidFill>
                <a:latin typeface="Cambria" pitchFamily="34" charset="0"/>
                <a:ea typeface="Cambria" pitchFamily="34" charset="-122"/>
                <a:cs typeface="Cambria" pitchFamily="34" charset="-120"/>
              </a:rPr>
              <a:t>Limitations</a:t>
            </a:r>
            <a:endParaRPr lang="en-US" sz="1700" dirty="0"/>
          </a:p>
        </p:txBody>
      </p:sp>
      <p:sp>
        <p:nvSpPr>
          <p:cNvPr id="15" name="Text 13"/>
          <p:cNvSpPr txBox="1"/>
          <p:nvPr/>
        </p:nvSpPr>
        <p:spPr>
          <a:xfrm>
            <a:off x="6446520" y="2157984"/>
            <a:ext cx="4928616" cy="3712464"/>
          </a:xfrm>
          <a:prstGeom prst="rect">
            <a:avLst/>
          </a:prstGeom>
          <a:noFill/>
          <a:ln/>
        </p:spPr>
        <p:txBody>
          <a:bodyPr wrap="square" lIns="0" tIns="0" rIns="0" bIns="0" rtlCol="0" anchor="t"/>
          <a:lstStyle/>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The tag framework — the headline claim — is never ablated.</a:t>
            </a:r>
            <a:endParaRPr lang="en-US" sz="1220" dirty="0"/>
          </a:p>
          <a:p>
            <a:pPr marL="0" indent="0">
              <a:lnSpc>
                <a:spcPct val="108000"/>
              </a:lnSpc>
              <a:buNone/>
            </a:pPr>
            <a:endParaRPr lang="en-US" sz="1220" dirty="0"/>
          </a:p>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Qwen-Audio-Chat is evaluated only through illustrative cases. No quantitative measure of dialogue quality, instruction following, or whether full LLM fine-tuning cost language ability.</a:t>
            </a:r>
            <a:endParaRPr lang="en-US" sz="1220" dirty="0"/>
          </a:p>
          <a:p>
            <a:pPr marL="0" indent="0">
              <a:lnSpc>
                <a:spcPct val="108000"/>
              </a:lnSpc>
              <a:buNone/>
            </a:pPr>
            <a:endParaRPr lang="en-US" sz="1220" dirty="0"/>
          </a:p>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Baselines are best-available numbers from different systems, not controlled comparisons.</a:t>
            </a:r>
            <a:endParaRPr lang="en-US" sz="1220" dirty="0"/>
          </a:p>
          <a:p>
            <a:pPr marL="0" indent="0">
              <a:lnSpc>
                <a:spcPct val="108000"/>
              </a:lnSpc>
              <a:buNone/>
            </a:pPr>
            <a:endParaRPr lang="en-US" sz="1220" dirty="0"/>
          </a:p>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Emotion reported as a single weighted accuracy on a skewed seven-class set.</a:t>
            </a:r>
            <a:endParaRPr lang="en-US" sz="1220" dirty="0"/>
          </a:p>
          <a:p>
            <a:pPr marL="0" indent="0">
              <a:lnSpc>
                <a:spcPct val="108000"/>
              </a:lnSpc>
              <a:buNone/>
            </a:pPr>
            <a:endParaRPr lang="en-US" sz="1220" dirty="0"/>
          </a:p>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Training data is not released, and several dataset sizes are given only as 'under 1,000 hours'.</a:t>
            </a:r>
            <a:endParaRPr lang="en-US" sz="1220" dirty="0"/>
          </a:p>
          <a:p>
            <a:pPr marL="0" indent="0">
              <a:lnSpc>
                <a:spcPct val="108000"/>
              </a:lnSpc>
              <a:buNone/>
            </a:pPr>
            <a:endParaRPr lang="en-US" sz="1220" dirty="0"/>
          </a:p>
          <a:p>
            <a:pPr marL="0" indent="0">
              <a:lnSpc>
                <a:spcPct val="108000"/>
              </a:lnSpc>
              <a:buNone/>
            </a:pPr>
            <a:r>
              <a:rPr lang="en-US" sz="1220" dirty="0">
                <a:solidFill>
                  <a:srgbClr val="38242F"/>
                </a:solidFill>
                <a:latin typeface="Calibri" pitchFamily="34" charset="0"/>
                <a:ea typeface="Calibri" pitchFamily="34" charset="-122"/>
                <a:cs typeface="Calibri" pitchFamily="34" charset="-120"/>
              </a:rPr>
              <a:t>A technical report, not peer reviewed — which shows in the absence of negative results.</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What came next</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And the bridge to the second half</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22</a:t>
            </a:r>
            <a:endParaRPr lang="en-US" sz="900" dirty="0"/>
          </a:p>
        </p:txBody>
      </p:sp>
      <p:sp>
        <p:nvSpPr>
          <p:cNvPr id="8" name="Shape 6"/>
          <p:cNvSpPr/>
          <p:nvPr/>
        </p:nvSpPr>
        <p:spPr>
          <a:xfrm>
            <a:off x="566928" y="1554480"/>
            <a:ext cx="11064240" cy="1042416"/>
          </a:xfrm>
          <a:prstGeom prst="roundRect">
            <a:avLst>
              <a:gd name="adj" fmla="val 2632"/>
            </a:avLst>
          </a:prstGeom>
          <a:solidFill>
            <a:srgbClr val="F7F0F4"/>
          </a:solidFill>
          <a:ln w="12700">
            <a:solidFill>
              <a:srgbClr val="F0E6EC"/>
            </a:solidFill>
            <a:prstDash val="solid"/>
          </a:ln>
        </p:spPr>
        <p:txBody>
          <a:bodyPr/>
          <a:lstStyle/>
          <a:p>
            <a:endParaRPr lang="en-US"/>
          </a:p>
        </p:txBody>
      </p:sp>
      <p:sp>
        <p:nvSpPr>
          <p:cNvPr id="9" name="Shape 7"/>
          <p:cNvSpPr/>
          <p:nvPr/>
        </p:nvSpPr>
        <p:spPr>
          <a:xfrm>
            <a:off x="786384" y="2016252"/>
            <a:ext cx="118872" cy="118872"/>
          </a:xfrm>
          <a:prstGeom prst="ellipse">
            <a:avLst/>
          </a:prstGeom>
          <a:solidFill>
            <a:srgbClr val="8A3F6B"/>
          </a:solidFill>
          <a:ln w="12700">
            <a:solidFill>
              <a:srgbClr val="333333"/>
            </a:solidFill>
            <a:prstDash val="solid"/>
          </a:ln>
        </p:spPr>
        <p:txBody>
          <a:bodyPr/>
          <a:lstStyle/>
          <a:p>
            <a:endParaRPr lang="en-US"/>
          </a:p>
        </p:txBody>
      </p:sp>
      <p:sp>
        <p:nvSpPr>
          <p:cNvPr id="10" name="Text 8"/>
          <p:cNvSpPr txBox="1"/>
          <p:nvPr/>
        </p:nvSpPr>
        <p:spPr>
          <a:xfrm>
            <a:off x="1024128" y="1645920"/>
            <a:ext cx="2926080" cy="859536"/>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Qwen2-Audio</a:t>
            </a:r>
            <a:endParaRPr lang="en-US" sz="1300" dirty="0"/>
          </a:p>
        </p:txBody>
      </p:sp>
      <p:sp>
        <p:nvSpPr>
          <p:cNvPr id="11" name="Text 9"/>
          <p:cNvSpPr txBox="1"/>
          <p:nvPr/>
        </p:nvSpPr>
        <p:spPr>
          <a:xfrm>
            <a:off x="4133088" y="1627632"/>
            <a:ext cx="7315200" cy="896112"/>
          </a:xfrm>
          <a:prstGeom prst="rect">
            <a:avLst/>
          </a:prstGeom>
          <a:noFill/>
          <a:ln/>
        </p:spPr>
        <p:txBody>
          <a:bodyPr wrap="square" lIns="0" tIns="0" rIns="0" bIns="0" rtlCol="0" anchor="ctr"/>
          <a:lstStyle/>
          <a:p>
            <a:pPr marL="0" indent="0">
              <a:buNone/>
            </a:pPr>
            <a:r>
              <a:rPr lang="en-US" sz="1220" dirty="0">
                <a:solidFill>
                  <a:srgbClr val="38242F"/>
                </a:solidFill>
                <a:latin typeface="Calibri" pitchFamily="34" charset="0"/>
                <a:ea typeface="Calibri" pitchFamily="34" charset="-122"/>
                <a:cs typeface="Calibri" pitchFamily="34" charset="-120"/>
              </a:rPr>
              <a:t>The direct successor replaced the hierarchical tags with natural-language prompts, and added a preference-optimisation stage — evidence that the tag framework was a transitional idea rather than a durable one.</a:t>
            </a:r>
            <a:endParaRPr lang="en-US" sz="1220" dirty="0"/>
          </a:p>
        </p:txBody>
      </p:sp>
      <p:sp>
        <p:nvSpPr>
          <p:cNvPr id="12" name="Shape 10"/>
          <p:cNvSpPr/>
          <p:nvPr/>
        </p:nvSpPr>
        <p:spPr>
          <a:xfrm>
            <a:off x="566928" y="2651760"/>
            <a:ext cx="11064240" cy="1042416"/>
          </a:xfrm>
          <a:prstGeom prst="roundRect">
            <a:avLst>
              <a:gd name="adj" fmla="val 2632"/>
            </a:avLst>
          </a:prstGeom>
          <a:solidFill>
            <a:srgbClr val="FFFFFF"/>
          </a:solidFill>
          <a:ln w="12700">
            <a:solidFill>
              <a:srgbClr val="F0E6EC"/>
            </a:solidFill>
            <a:prstDash val="solid"/>
          </a:ln>
        </p:spPr>
        <p:txBody>
          <a:bodyPr/>
          <a:lstStyle/>
          <a:p>
            <a:endParaRPr lang="en-US"/>
          </a:p>
        </p:txBody>
      </p:sp>
      <p:sp>
        <p:nvSpPr>
          <p:cNvPr id="13" name="Shape 11"/>
          <p:cNvSpPr/>
          <p:nvPr/>
        </p:nvSpPr>
        <p:spPr>
          <a:xfrm>
            <a:off x="786384" y="3113532"/>
            <a:ext cx="118872" cy="118872"/>
          </a:xfrm>
          <a:prstGeom prst="ellipse">
            <a:avLst/>
          </a:prstGeom>
          <a:solidFill>
            <a:srgbClr val="8A3F6B"/>
          </a:solidFill>
          <a:ln w="12700">
            <a:solidFill>
              <a:srgbClr val="333333"/>
            </a:solidFill>
            <a:prstDash val="solid"/>
          </a:ln>
        </p:spPr>
        <p:txBody>
          <a:bodyPr/>
          <a:lstStyle/>
          <a:p>
            <a:endParaRPr lang="en-US"/>
          </a:p>
        </p:txBody>
      </p:sp>
      <p:sp>
        <p:nvSpPr>
          <p:cNvPr id="14" name="Text 12"/>
          <p:cNvSpPr txBox="1"/>
          <p:nvPr/>
        </p:nvSpPr>
        <p:spPr>
          <a:xfrm>
            <a:off x="1024128" y="2743200"/>
            <a:ext cx="2926080" cy="859536"/>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The Qwen-Audio backbone</a:t>
            </a:r>
            <a:endParaRPr lang="en-US" sz="1300" dirty="0"/>
          </a:p>
        </p:txBody>
      </p:sp>
      <p:sp>
        <p:nvSpPr>
          <p:cNvPr id="15" name="Text 13"/>
          <p:cNvSpPr txBox="1"/>
          <p:nvPr/>
        </p:nvSpPr>
        <p:spPr>
          <a:xfrm>
            <a:off x="4133088" y="2724912"/>
            <a:ext cx="7315200" cy="896112"/>
          </a:xfrm>
          <a:prstGeom prst="rect">
            <a:avLst/>
          </a:prstGeom>
          <a:noFill/>
          <a:ln/>
        </p:spPr>
        <p:txBody>
          <a:bodyPr wrap="square" lIns="0" tIns="0" rIns="0" bIns="0" rtlCol="0" anchor="ctr"/>
          <a:lstStyle/>
          <a:p>
            <a:pPr marL="0" indent="0">
              <a:buNone/>
            </a:pPr>
            <a:r>
              <a:rPr lang="en-US" sz="1220" dirty="0">
                <a:solidFill>
                  <a:srgbClr val="38242F"/>
                </a:solidFill>
                <a:latin typeface="Calibri" pitchFamily="34" charset="0"/>
                <a:ea typeface="Calibri" pitchFamily="34" charset="-122"/>
                <a:cs typeface="Calibri" pitchFamily="34" charset="-120"/>
              </a:rPr>
              <a:t>Widely adopted as a starting point for audio-language work, and the lineage runs into the omni-modal Qwen models that combine audio, vision and text.</a:t>
            </a:r>
            <a:endParaRPr lang="en-US" sz="1220" dirty="0"/>
          </a:p>
        </p:txBody>
      </p:sp>
      <p:sp>
        <p:nvSpPr>
          <p:cNvPr id="16" name="Shape 14"/>
          <p:cNvSpPr/>
          <p:nvPr/>
        </p:nvSpPr>
        <p:spPr>
          <a:xfrm>
            <a:off x="566928" y="3749040"/>
            <a:ext cx="11064240" cy="1042416"/>
          </a:xfrm>
          <a:prstGeom prst="roundRect">
            <a:avLst>
              <a:gd name="adj" fmla="val 2632"/>
            </a:avLst>
          </a:prstGeom>
          <a:solidFill>
            <a:srgbClr val="F7F0F4"/>
          </a:solidFill>
          <a:ln w="12700">
            <a:solidFill>
              <a:srgbClr val="F0E6EC"/>
            </a:solidFill>
            <a:prstDash val="solid"/>
          </a:ln>
        </p:spPr>
        <p:txBody>
          <a:bodyPr/>
          <a:lstStyle/>
          <a:p>
            <a:endParaRPr lang="en-US"/>
          </a:p>
        </p:txBody>
      </p:sp>
      <p:sp>
        <p:nvSpPr>
          <p:cNvPr id="17" name="Shape 15"/>
          <p:cNvSpPr/>
          <p:nvPr/>
        </p:nvSpPr>
        <p:spPr>
          <a:xfrm>
            <a:off x="786384" y="4210812"/>
            <a:ext cx="118872" cy="118872"/>
          </a:xfrm>
          <a:prstGeom prst="ellipse">
            <a:avLst/>
          </a:prstGeom>
          <a:solidFill>
            <a:srgbClr val="8A3F6B"/>
          </a:solidFill>
          <a:ln w="12700">
            <a:solidFill>
              <a:srgbClr val="333333"/>
            </a:solidFill>
            <a:prstDash val="solid"/>
          </a:ln>
        </p:spPr>
        <p:txBody>
          <a:bodyPr/>
          <a:lstStyle/>
          <a:p>
            <a:endParaRPr lang="en-US"/>
          </a:p>
        </p:txBody>
      </p:sp>
      <p:sp>
        <p:nvSpPr>
          <p:cNvPr id="18" name="Text 16"/>
          <p:cNvSpPr txBox="1"/>
          <p:nvPr/>
        </p:nvSpPr>
        <p:spPr>
          <a:xfrm>
            <a:off x="1024128" y="3840480"/>
            <a:ext cx="2926080" cy="859536"/>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Multilingual audio-LLMs</a:t>
            </a:r>
            <a:endParaRPr lang="en-US" sz="1300" dirty="0"/>
          </a:p>
        </p:txBody>
      </p:sp>
      <p:sp>
        <p:nvSpPr>
          <p:cNvPr id="19" name="Text 17"/>
          <p:cNvSpPr txBox="1"/>
          <p:nvPr/>
        </p:nvSpPr>
        <p:spPr>
          <a:xfrm>
            <a:off x="4133088" y="3822192"/>
            <a:ext cx="7315200" cy="896112"/>
          </a:xfrm>
          <a:prstGeom prst="rect">
            <a:avLst/>
          </a:prstGeom>
          <a:noFill/>
          <a:ln/>
        </p:spPr>
        <p:txBody>
          <a:bodyPr wrap="square" lIns="0" tIns="0" rIns="0" bIns="0" rtlCol="0" anchor="ctr"/>
          <a:lstStyle/>
          <a:p>
            <a:pPr marL="0" indent="0">
              <a:buNone/>
            </a:pPr>
            <a:r>
              <a:rPr lang="en-US" sz="1220" dirty="0">
                <a:solidFill>
                  <a:srgbClr val="38242F"/>
                </a:solidFill>
                <a:latin typeface="Calibri" pitchFamily="34" charset="0"/>
                <a:ea typeface="Calibri" pitchFamily="34" charset="-122"/>
                <a:cs typeface="Calibri" pitchFamily="34" charset="-120"/>
              </a:rPr>
              <a:t>Eight languages in a single co-trained model set an expectation that these systems should not be English-only — a standard the earlier models in this series did not meet.</a:t>
            </a:r>
            <a:endParaRPr lang="en-US" sz="1220" dirty="0"/>
          </a:p>
        </p:txBody>
      </p:sp>
      <p:sp>
        <p:nvSpPr>
          <p:cNvPr id="20" name="Shape 18"/>
          <p:cNvSpPr/>
          <p:nvPr/>
        </p:nvSpPr>
        <p:spPr>
          <a:xfrm>
            <a:off x="566928" y="4846320"/>
            <a:ext cx="11064240" cy="1042416"/>
          </a:xfrm>
          <a:prstGeom prst="roundRect">
            <a:avLst>
              <a:gd name="adj" fmla="val 2632"/>
            </a:avLst>
          </a:prstGeom>
          <a:solidFill>
            <a:srgbClr val="FFFFFF"/>
          </a:solidFill>
          <a:ln w="12700">
            <a:solidFill>
              <a:srgbClr val="F0E6EC"/>
            </a:solidFill>
            <a:prstDash val="solid"/>
          </a:ln>
        </p:spPr>
        <p:txBody>
          <a:bodyPr/>
          <a:lstStyle/>
          <a:p>
            <a:endParaRPr lang="en-US"/>
          </a:p>
        </p:txBody>
      </p:sp>
      <p:sp>
        <p:nvSpPr>
          <p:cNvPr id="21" name="Shape 19"/>
          <p:cNvSpPr/>
          <p:nvPr/>
        </p:nvSpPr>
        <p:spPr>
          <a:xfrm>
            <a:off x="786384" y="5308092"/>
            <a:ext cx="118872" cy="118872"/>
          </a:xfrm>
          <a:prstGeom prst="ellipse">
            <a:avLst/>
          </a:prstGeom>
          <a:solidFill>
            <a:srgbClr val="8A3F6B"/>
          </a:solidFill>
          <a:ln w="12700">
            <a:solidFill>
              <a:srgbClr val="333333"/>
            </a:solidFill>
            <a:prstDash val="solid"/>
          </a:ln>
        </p:spPr>
        <p:txBody>
          <a:bodyPr/>
          <a:lstStyle/>
          <a:p>
            <a:endParaRPr lang="en-US"/>
          </a:p>
        </p:txBody>
      </p:sp>
      <p:sp>
        <p:nvSpPr>
          <p:cNvPr id="22" name="Text 20"/>
          <p:cNvSpPr txBox="1"/>
          <p:nvPr/>
        </p:nvSpPr>
        <p:spPr>
          <a:xfrm>
            <a:off x="1024128" y="4937760"/>
            <a:ext cx="2926080" cy="859536"/>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What it leaves open</a:t>
            </a:r>
            <a:endParaRPr lang="en-US" sz="1300" dirty="0"/>
          </a:p>
        </p:txBody>
      </p:sp>
      <p:sp>
        <p:nvSpPr>
          <p:cNvPr id="23" name="Text 21"/>
          <p:cNvSpPr txBox="1"/>
          <p:nvPr/>
        </p:nvSpPr>
        <p:spPr>
          <a:xfrm>
            <a:off x="4133088" y="4919472"/>
            <a:ext cx="7315200" cy="896112"/>
          </a:xfrm>
          <a:prstGeom prst="rect">
            <a:avLst/>
          </a:prstGeom>
          <a:noFill/>
          <a:ln/>
        </p:spPr>
        <p:txBody>
          <a:bodyPr wrap="square" lIns="0" tIns="0" rIns="0" bIns="0" rtlCol="0" anchor="ctr"/>
          <a:lstStyle/>
          <a:p>
            <a:pPr marL="0" indent="0">
              <a:buNone/>
            </a:pPr>
            <a:r>
              <a:rPr lang="en-US" sz="1220" dirty="0">
                <a:solidFill>
                  <a:srgbClr val="38242F"/>
                </a:solidFill>
                <a:latin typeface="Calibri" pitchFamily="34" charset="0"/>
                <a:ea typeface="Calibri" pitchFamily="34" charset="-122"/>
                <a:cs typeface="Calibri" pitchFamily="34" charset="-120"/>
              </a:rPr>
              <a:t>The model perceives extremely well and is never asked to reason. There is no evaluation of explanation, inference, or open-ended questioning beyond a fixed answer set — which is exactly what the second paper is about.</a:t>
            </a:r>
            <a:endParaRPr lang="en-US" sz="1220" dirty="0"/>
          </a:p>
        </p:txBody>
      </p:sp>
      <p:sp>
        <p:nvSpPr>
          <p:cNvPr id="24" name="Shape 22"/>
          <p:cNvSpPr/>
          <p:nvPr/>
        </p:nvSpPr>
        <p:spPr>
          <a:xfrm>
            <a:off x="566928" y="5888736"/>
            <a:ext cx="11064240" cy="164592"/>
          </a:xfrm>
          <a:prstGeom prst="roundRect">
            <a:avLst>
              <a:gd name="adj" fmla="val 33333"/>
            </a:avLst>
          </a:prstGeom>
          <a:solidFill>
            <a:srgbClr val="FFFFFF"/>
          </a:solidFill>
          <a:ln w="12700">
            <a:solidFill>
              <a:srgbClr val="FFFFFF"/>
            </a:solidFill>
            <a:prstDash val="solid"/>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155680" y="438912"/>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3" name="Shape 1"/>
          <p:cNvSpPr/>
          <p:nvPr/>
        </p:nvSpPr>
        <p:spPr>
          <a:xfrm>
            <a:off x="11292840" y="548640"/>
            <a:ext cx="105156" cy="105156"/>
          </a:xfrm>
          <a:prstGeom prst="roundRect">
            <a:avLst>
              <a:gd name="adj" fmla="val 17391"/>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430000" y="658368"/>
            <a:ext cx="105156" cy="105156"/>
          </a:xfrm>
          <a:prstGeom prst="roundRect">
            <a:avLst>
              <a:gd name="adj" fmla="val 17391"/>
            </a:avLst>
          </a:prstGeom>
          <a:solidFill>
            <a:srgbClr val="8A3F6B"/>
          </a:solidFill>
          <a:ln w="12700">
            <a:solidFill>
              <a:srgbClr val="333333"/>
            </a:solidFill>
            <a:prstDash val="solid"/>
          </a:ln>
        </p:spPr>
        <p:txBody>
          <a:bodyPr/>
          <a:lstStyle/>
          <a:p>
            <a:endParaRPr lang="en-US"/>
          </a:p>
        </p:txBody>
      </p:sp>
      <p:sp>
        <p:nvSpPr>
          <p:cNvPr id="5" name="Text 3"/>
          <p:cNvSpPr txBox="1"/>
          <p:nvPr/>
        </p:nvSpPr>
        <p:spPr>
          <a:xfrm>
            <a:off x="548640" y="384048"/>
            <a:ext cx="10332720" cy="566928"/>
          </a:xfrm>
          <a:prstGeom prst="rect">
            <a:avLst/>
          </a:prstGeom>
          <a:noFill/>
          <a:ln/>
        </p:spPr>
        <p:txBody>
          <a:bodyPr wrap="square" lIns="0" tIns="0" rIns="0" bIns="0" rtlCol="0" anchor="t"/>
          <a:lstStyle/>
          <a:p>
            <a:pPr marL="0" indent="0">
              <a:buNone/>
            </a:pPr>
            <a:r>
              <a:rPr lang="en-US" sz="2900" b="1" dirty="0">
                <a:solidFill>
                  <a:srgbClr val="241520"/>
                </a:solidFill>
                <a:latin typeface="Cambria" pitchFamily="34" charset="0"/>
                <a:ea typeface="Cambria" pitchFamily="34" charset="-122"/>
                <a:cs typeface="Cambria" pitchFamily="34" charset="-120"/>
              </a:rPr>
              <a:t>Take-aways</a:t>
            </a:r>
            <a:endParaRPr lang="en-US" sz="2900" dirty="0"/>
          </a:p>
        </p:txBody>
      </p:sp>
      <p:sp>
        <p:nvSpPr>
          <p:cNvPr id="6" name="Text 4"/>
          <p:cNvSpPr txBox="1"/>
          <p:nvPr/>
        </p:nvSpPr>
        <p:spPr>
          <a:xfrm>
            <a:off x="548640" y="969264"/>
            <a:ext cx="10332720" cy="329184"/>
          </a:xfrm>
          <a:prstGeom prst="rect">
            <a:avLst/>
          </a:prstGeom>
          <a:noFill/>
          <a:ln/>
        </p:spPr>
        <p:txBody>
          <a:bodyPr wrap="square" lIns="0" tIns="0" rIns="0" bIns="0" rtlCol="0" anchor="ctr"/>
          <a:lstStyle/>
          <a:p>
            <a:pPr marL="0" indent="0">
              <a:buNone/>
            </a:pPr>
            <a:r>
              <a:rPr lang="en-US" sz="1350" i="1" dirty="0">
                <a:solidFill>
                  <a:srgbClr val="6E5464"/>
                </a:solidFill>
                <a:latin typeface="Calibri" pitchFamily="34" charset="0"/>
                <a:ea typeface="Calibri" pitchFamily="34" charset="-122"/>
                <a:cs typeface="Calibri" pitchFamily="34" charset="-120"/>
              </a:rPr>
              <a:t>Four things to carry into the second half</a:t>
            </a:r>
            <a:endParaRPr lang="en-US" sz="1350" dirty="0"/>
          </a:p>
        </p:txBody>
      </p:sp>
      <p:sp>
        <p:nvSpPr>
          <p:cNvPr id="7" name="Text 5"/>
          <p:cNvSpPr txBox="1"/>
          <p:nvPr/>
        </p:nvSpPr>
        <p:spPr>
          <a:xfrm>
            <a:off x="9418320" y="6382512"/>
            <a:ext cx="2221992" cy="274320"/>
          </a:xfrm>
          <a:prstGeom prst="rect">
            <a:avLst/>
          </a:prstGeom>
          <a:noFill/>
          <a:ln/>
        </p:spPr>
        <p:txBody>
          <a:bodyPr wrap="square" lIns="0" tIns="0" rIns="0" bIns="0" rtlCol="0" anchor="ctr"/>
          <a:lstStyle/>
          <a:p>
            <a:pPr marL="0" indent="0" algn="r">
              <a:buNone/>
            </a:pPr>
            <a:r>
              <a:rPr lang="en-US" sz="900" dirty="0">
                <a:solidFill>
                  <a:srgbClr val="B598A8"/>
                </a:solidFill>
                <a:latin typeface="Calibri" pitchFamily="34" charset="0"/>
                <a:ea typeface="Calibri" pitchFamily="34" charset="-122"/>
                <a:cs typeface="Calibri" pitchFamily="34" charset="-120"/>
              </a:rPr>
              <a:t>Qwen-Audio · Chu et al. 2023  |  23</a:t>
            </a:r>
            <a:endParaRPr lang="en-US" sz="900" dirty="0"/>
          </a:p>
        </p:txBody>
      </p:sp>
      <p:sp>
        <p:nvSpPr>
          <p:cNvPr id="8" name="Shape 6"/>
          <p:cNvSpPr/>
          <p:nvPr/>
        </p:nvSpPr>
        <p:spPr>
          <a:xfrm>
            <a:off x="566928" y="1572768"/>
            <a:ext cx="11064240" cy="1005840"/>
          </a:xfrm>
          <a:prstGeom prst="roundRect">
            <a:avLst>
              <a:gd name="adj" fmla="val 4545"/>
            </a:avLst>
          </a:prstGeom>
          <a:solidFill>
            <a:srgbClr val="F7F0F4"/>
          </a:solidFill>
          <a:ln w="12700">
            <a:solidFill>
              <a:srgbClr val="EDE0E7"/>
            </a:solidFill>
            <a:prstDash val="solid"/>
          </a:ln>
        </p:spPr>
        <p:txBody>
          <a:bodyPr/>
          <a:lstStyle/>
          <a:p>
            <a:endParaRPr lang="en-US"/>
          </a:p>
        </p:txBody>
      </p:sp>
      <p:sp>
        <p:nvSpPr>
          <p:cNvPr id="9" name="Shape 7"/>
          <p:cNvSpPr/>
          <p:nvPr/>
        </p:nvSpPr>
        <p:spPr>
          <a:xfrm>
            <a:off x="822960" y="1901952"/>
            <a:ext cx="347472" cy="347472"/>
          </a:xfrm>
          <a:prstGeom prst="ellipse">
            <a:avLst/>
          </a:prstGeom>
          <a:solidFill>
            <a:srgbClr val="8A3F6B"/>
          </a:solidFill>
          <a:ln w="12700">
            <a:solidFill>
              <a:srgbClr val="333333"/>
            </a:solidFill>
            <a:prstDash val="solid"/>
          </a:ln>
        </p:spPr>
        <p:txBody>
          <a:bodyPr/>
          <a:lstStyle/>
          <a:p>
            <a:endParaRPr lang="en-US"/>
          </a:p>
        </p:txBody>
      </p:sp>
      <p:sp>
        <p:nvSpPr>
          <p:cNvPr id="10" name="Text 8"/>
          <p:cNvSpPr txBox="1"/>
          <p:nvPr/>
        </p:nvSpPr>
        <p:spPr>
          <a:xfrm>
            <a:off x="822960" y="1929384"/>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1335024" y="1719072"/>
            <a:ext cx="4114800" cy="731520"/>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Structured conditioning solves one-to-many</a:t>
            </a:r>
            <a:endParaRPr lang="en-US" sz="1300" dirty="0"/>
          </a:p>
        </p:txBody>
      </p:sp>
      <p:sp>
        <p:nvSpPr>
          <p:cNvPr id="12" name="Text 10"/>
          <p:cNvSpPr txBox="1"/>
          <p:nvPr/>
        </p:nvSpPr>
        <p:spPr>
          <a:xfrm>
            <a:off x="5623560" y="1700784"/>
            <a:ext cx="5852160" cy="768096"/>
          </a:xfrm>
          <a:prstGeom prst="rect">
            <a:avLst/>
          </a:prstGeom>
          <a:noFill/>
          <a:ln/>
        </p:spPr>
        <p:txBody>
          <a:bodyPr wrap="square" lIns="0" tIns="0" rIns="0" bIns="0" rtlCol="0" anchor="ctr"/>
          <a:lstStyle/>
          <a:p>
            <a:pPr marL="0" indent="0">
              <a:buNone/>
            </a:pPr>
            <a:r>
              <a:rPr lang="en-US" sz="1200" dirty="0">
                <a:solidFill>
                  <a:srgbClr val="38242F"/>
                </a:solidFill>
                <a:latin typeface="Calibri" pitchFamily="34" charset="0"/>
                <a:ea typeface="Calibri" pitchFamily="34" charset="-122"/>
                <a:cs typeface="Calibri" pitchFamily="34" charset="-120"/>
              </a:rPr>
              <a:t>When one input maps to many valid outputs, the disambiguating signal has to be in the input. A graded hierarchy shares more than a flat dataset ID.</a:t>
            </a:r>
            <a:endParaRPr lang="en-US" sz="1200" dirty="0"/>
          </a:p>
        </p:txBody>
      </p:sp>
      <p:sp>
        <p:nvSpPr>
          <p:cNvPr id="13" name="Shape 11"/>
          <p:cNvSpPr/>
          <p:nvPr/>
        </p:nvSpPr>
        <p:spPr>
          <a:xfrm>
            <a:off x="566928" y="2651760"/>
            <a:ext cx="11064240" cy="1005840"/>
          </a:xfrm>
          <a:prstGeom prst="roundRect">
            <a:avLst>
              <a:gd name="adj" fmla="val 4545"/>
            </a:avLst>
          </a:prstGeom>
          <a:solidFill>
            <a:srgbClr val="FFFFFF"/>
          </a:solidFill>
          <a:ln w="12700">
            <a:solidFill>
              <a:srgbClr val="EDE0E7"/>
            </a:solidFill>
            <a:prstDash val="solid"/>
          </a:ln>
        </p:spPr>
        <p:txBody>
          <a:bodyPr/>
          <a:lstStyle/>
          <a:p>
            <a:endParaRPr lang="en-US"/>
          </a:p>
        </p:txBody>
      </p:sp>
      <p:sp>
        <p:nvSpPr>
          <p:cNvPr id="14" name="Shape 12"/>
          <p:cNvSpPr/>
          <p:nvPr/>
        </p:nvSpPr>
        <p:spPr>
          <a:xfrm>
            <a:off x="822960" y="2980944"/>
            <a:ext cx="347472" cy="347472"/>
          </a:xfrm>
          <a:prstGeom prst="ellipse">
            <a:avLst/>
          </a:prstGeom>
          <a:solidFill>
            <a:srgbClr val="8A3F6B"/>
          </a:solidFill>
          <a:ln w="12700">
            <a:solidFill>
              <a:srgbClr val="333333"/>
            </a:solidFill>
            <a:prstDash val="solid"/>
          </a:ln>
        </p:spPr>
        <p:txBody>
          <a:bodyPr/>
          <a:lstStyle/>
          <a:p>
            <a:endParaRPr lang="en-US"/>
          </a:p>
        </p:txBody>
      </p:sp>
      <p:sp>
        <p:nvSpPr>
          <p:cNvPr id="15" name="Text 13"/>
          <p:cNvSpPr txBox="1"/>
          <p:nvPr/>
        </p:nvSpPr>
        <p:spPr>
          <a:xfrm>
            <a:off x="822960" y="3008376"/>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6" name="Text 14"/>
          <p:cNvSpPr txBox="1"/>
          <p:nvPr/>
        </p:nvSpPr>
        <p:spPr>
          <a:xfrm>
            <a:off x="1335024" y="2798064"/>
            <a:ext cx="4114800" cy="731520"/>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Fine-grained alignment tasks transfer</a:t>
            </a:r>
            <a:endParaRPr lang="en-US" sz="1300" dirty="0"/>
          </a:p>
        </p:txBody>
      </p:sp>
      <p:sp>
        <p:nvSpPr>
          <p:cNvPr id="17" name="Text 15"/>
          <p:cNvSpPr txBox="1"/>
          <p:nvPr/>
        </p:nvSpPr>
        <p:spPr>
          <a:xfrm>
            <a:off x="5623560" y="2779776"/>
            <a:ext cx="5852160" cy="768096"/>
          </a:xfrm>
          <a:prstGeom prst="rect">
            <a:avLst/>
          </a:prstGeom>
          <a:noFill/>
          <a:ln/>
        </p:spPr>
        <p:txBody>
          <a:bodyPr wrap="square" lIns="0" tIns="0" rIns="0" bIns="0" rtlCol="0" anchor="ctr"/>
          <a:lstStyle/>
          <a:p>
            <a:pPr marL="0" indent="0">
              <a:buNone/>
            </a:pPr>
            <a:r>
              <a:rPr lang="en-US" sz="1200" dirty="0">
                <a:solidFill>
                  <a:srgbClr val="38242F"/>
                </a:solidFill>
                <a:latin typeface="Calibri" pitchFamily="34" charset="0"/>
                <a:ea typeface="Calibri" pitchFamily="34" charset="-122"/>
                <a:cs typeface="Calibri" pitchFamily="34" charset="-120"/>
              </a:rPr>
              <a:t>Word-level timestamp training improved speech recognition and question answering about music. Harder alignment, better representations — the HuBERT lesson again.</a:t>
            </a:r>
            <a:endParaRPr lang="en-US" sz="1200" dirty="0"/>
          </a:p>
        </p:txBody>
      </p:sp>
      <p:sp>
        <p:nvSpPr>
          <p:cNvPr id="18" name="Shape 16"/>
          <p:cNvSpPr/>
          <p:nvPr/>
        </p:nvSpPr>
        <p:spPr>
          <a:xfrm>
            <a:off x="566928" y="3730752"/>
            <a:ext cx="11064240" cy="1005840"/>
          </a:xfrm>
          <a:prstGeom prst="roundRect">
            <a:avLst>
              <a:gd name="adj" fmla="val 4545"/>
            </a:avLst>
          </a:prstGeom>
          <a:solidFill>
            <a:srgbClr val="F7F0F4"/>
          </a:solidFill>
          <a:ln w="12700">
            <a:solidFill>
              <a:srgbClr val="EDE0E7"/>
            </a:solidFill>
            <a:prstDash val="solid"/>
          </a:ln>
        </p:spPr>
        <p:txBody>
          <a:bodyPr/>
          <a:lstStyle/>
          <a:p>
            <a:endParaRPr lang="en-US"/>
          </a:p>
        </p:txBody>
      </p:sp>
      <p:sp>
        <p:nvSpPr>
          <p:cNvPr id="19" name="Shape 17"/>
          <p:cNvSpPr/>
          <p:nvPr/>
        </p:nvSpPr>
        <p:spPr>
          <a:xfrm>
            <a:off x="822960" y="4059936"/>
            <a:ext cx="347472" cy="347472"/>
          </a:xfrm>
          <a:prstGeom prst="ellipse">
            <a:avLst/>
          </a:prstGeom>
          <a:solidFill>
            <a:srgbClr val="8A3F6B"/>
          </a:solidFill>
          <a:ln w="12700">
            <a:solidFill>
              <a:srgbClr val="333333"/>
            </a:solidFill>
            <a:prstDash val="solid"/>
          </a:ln>
        </p:spPr>
        <p:txBody>
          <a:bodyPr/>
          <a:lstStyle/>
          <a:p>
            <a:endParaRPr lang="en-US"/>
          </a:p>
        </p:txBody>
      </p:sp>
      <p:sp>
        <p:nvSpPr>
          <p:cNvPr id="20" name="Text 18"/>
          <p:cNvSpPr txBox="1"/>
          <p:nvPr/>
        </p:nvSpPr>
        <p:spPr>
          <a:xfrm>
            <a:off x="822960" y="4087368"/>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1" name="Text 19"/>
          <p:cNvSpPr txBox="1"/>
          <p:nvPr/>
        </p:nvSpPr>
        <p:spPr>
          <a:xfrm>
            <a:off x="1335024" y="3877056"/>
            <a:ext cx="4114800" cy="731520"/>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Check whether the headline claim was tested</a:t>
            </a:r>
            <a:endParaRPr lang="en-US" sz="1300" dirty="0"/>
          </a:p>
        </p:txBody>
      </p:sp>
      <p:sp>
        <p:nvSpPr>
          <p:cNvPr id="22" name="Text 20"/>
          <p:cNvSpPr txBox="1"/>
          <p:nvPr/>
        </p:nvSpPr>
        <p:spPr>
          <a:xfrm>
            <a:off x="5623560" y="3858768"/>
            <a:ext cx="5852160" cy="768096"/>
          </a:xfrm>
          <a:prstGeom prst="rect">
            <a:avLst/>
          </a:prstGeom>
          <a:noFill/>
          <a:ln/>
        </p:spPr>
        <p:txBody>
          <a:bodyPr wrap="square" lIns="0" tIns="0" rIns="0" bIns="0" rtlCol="0" anchor="ctr"/>
          <a:lstStyle/>
          <a:p>
            <a:pPr marL="0" indent="0">
              <a:buNone/>
            </a:pPr>
            <a:r>
              <a:rPr lang="en-US" sz="1200" dirty="0">
                <a:solidFill>
                  <a:srgbClr val="38242F"/>
                </a:solidFill>
                <a:latin typeface="Calibri" pitchFamily="34" charset="0"/>
                <a:ea typeface="Calibri" pitchFamily="34" charset="-122"/>
                <a:cs typeface="Calibri" pitchFamily="34" charset="-120"/>
              </a:rPr>
              <a:t>Thirty tasks, twelve benchmarks, one ablation — and the ablation is on the secondary contribution. Demonstrating a system is not testing a hypothesis.</a:t>
            </a:r>
            <a:endParaRPr lang="en-US" sz="1200" dirty="0"/>
          </a:p>
        </p:txBody>
      </p:sp>
      <p:sp>
        <p:nvSpPr>
          <p:cNvPr id="23" name="Shape 21"/>
          <p:cNvSpPr/>
          <p:nvPr/>
        </p:nvSpPr>
        <p:spPr>
          <a:xfrm>
            <a:off x="566928" y="4809744"/>
            <a:ext cx="11064240" cy="1005840"/>
          </a:xfrm>
          <a:prstGeom prst="roundRect">
            <a:avLst>
              <a:gd name="adj" fmla="val 4545"/>
            </a:avLst>
          </a:prstGeom>
          <a:solidFill>
            <a:srgbClr val="FFFFFF"/>
          </a:solidFill>
          <a:ln w="12700">
            <a:solidFill>
              <a:srgbClr val="EDE0E7"/>
            </a:solidFill>
            <a:prstDash val="solid"/>
          </a:ln>
        </p:spPr>
        <p:txBody>
          <a:bodyPr/>
          <a:lstStyle/>
          <a:p>
            <a:endParaRPr lang="en-US"/>
          </a:p>
        </p:txBody>
      </p:sp>
      <p:sp>
        <p:nvSpPr>
          <p:cNvPr id="24" name="Shape 22"/>
          <p:cNvSpPr/>
          <p:nvPr/>
        </p:nvSpPr>
        <p:spPr>
          <a:xfrm>
            <a:off x="822960" y="5138928"/>
            <a:ext cx="347472" cy="347472"/>
          </a:xfrm>
          <a:prstGeom prst="ellipse">
            <a:avLst/>
          </a:prstGeom>
          <a:solidFill>
            <a:srgbClr val="8A3F6B"/>
          </a:solidFill>
          <a:ln w="12700">
            <a:solidFill>
              <a:srgbClr val="333333"/>
            </a:solidFill>
            <a:prstDash val="solid"/>
          </a:ln>
        </p:spPr>
        <p:txBody>
          <a:bodyPr/>
          <a:lstStyle/>
          <a:p>
            <a:endParaRPr lang="en-US"/>
          </a:p>
        </p:txBody>
      </p:sp>
      <p:sp>
        <p:nvSpPr>
          <p:cNvPr id="25" name="Text 23"/>
          <p:cNvSpPr txBox="1"/>
          <p:nvPr/>
        </p:nvSpPr>
        <p:spPr>
          <a:xfrm>
            <a:off x="822960" y="5166360"/>
            <a:ext cx="347472"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6" name="Text 24"/>
          <p:cNvSpPr txBox="1"/>
          <p:nvPr/>
        </p:nvSpPr>
        <p:spPr>
          <a:xfrm>
            <a:off x="1335024" y="4956048"/>
            <a:ext cx="4114800" cy="731520"/>
          </a:xfrm>
          <a:prstGeom prst="rect">
            <a:avLst/>
          </a:prstGeom>
          <a:noFill/>
          <a:ln/>
        </p:spPr>
        <p:txBody>
          <a:bodyPr wrap="square" lIns="0" tIns="0" rIns="0" bIns="0" rtlCol="0" anchor="ctr"/>
          <a:lstStyle/>
          <a:p>
            <a:pPr marL="0" indent="0">
              <a:buNone/>
            </a:pPr>
            <a:r>
              <a:rPr lang="en-US" sz="1300" b="1" dirty="0">
                <a:solidFill>
                  <a:srgbClr val="241520"/>
                </a:solidFill>
                <a:latin typeface="Cambria" pitchFamily="34" charset="0"/>
                <a:ea typeface="Cambria" pitchFamily="34" charset="-122"/>
                <a:cs typeface="Cambria" pitchFamily="34" charset="-120"/>
              </a:rPr>
              <a:t>Breadth and depth are different achievements</a:t>
            </a:r>
            <a:endParaRPr lang="en-US" sz="1300" dirty="0"/>
          </a:p>
        </p:txBody>
      </p:sp>
      <p:sp>
        <p:nvSpPr>
          <p:cNvPr id="27" name="Text 25"/>
          <p:cNvSpPr txBox="1"/>
          <p:nvPr/>
        </p:nvSpPr>
        <p:spPr>
          <a:xfrm>
            <a:off x="5623560" y="4937760"/>
            <a:ext cx="5852160" cy="768096"/>
          </a:xfrm>
          <a:prstGeom prst="rect">
            <a:avLst/>
          </a:prstGeom>
          <a:noFill/>
          <a:ln/>
        </p:spPr>
        <p:txBody>
          <a:bodyPr wrap="square" lIns="0" tIns="0" rIns="0" bIns="0" rtlCol="0" anchor="ctr"/>
          <a:lstStyle/>
          <a:p>
            <a:pPr marL="0" indent="0">
              <a:buNone/>
            </a:pPr>
            <a:r>
              <a:rPr lang="en-US" sz="1200" dirty="0">
                <a:solidFill>
                  <a:srgbClr val="38242F"/>
                </a:solidFill>
                <a:latin typeface="Calibri" pitchFamily="34" charset="0"/>
                <a:ea typeface="Calibri" pitchFamily="34" charset="-122"/>
                <a:cs typeface="Calibri" pitchFamily="34" charset="-120"/>
              </a:rPr>
              <a:t>This model perceives across speech, sound and music better than anything before it, and is never asked to explain, infer, or refuse.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31E2E"/>
        </a:solidFill>
        <a:effectLst/>
      </p:bgPr>
    </p:bg>
    <p:spTree>
      <p:nvGrpSpPr>
        <p:cNvPr id="1" name=""/>
        <p:cNvGrpSpPr/>
        <p:nvPr/>
      </p:nvGrpSpPr>
      <p:grpSpPr>
        <a:xfrm>
          <a:off x="0" y="0"/>
          <a:ext cx="0" cy="0"/>
          <a:chOff x="0" y="0"/>
          <a:chExt cx="0" cy="0"/>
        </a:xfrm>
      </p:grpSpPr>
      <p:sp>
        <p:nvSpPr>
          <p:cNvPr id="2" name="Shape 0"/>
          <p:cNvSpPr/>
          <p:nvPr/>
        </p:nvSpPr>
        <p:spPr>
          <a:xfrm>
            <a:off x="10607040" y="676656"/>
            <a:ext cx="168250" cy="168250"/>
          </a:xfrm>
          <a:prstGeom prst="roundRect">
            <a:avLst>
              <a:gd name="adj" fmla="val 10870"/>
            </a:avLst>
          </a:prstGeom>
          <a:solidFill>
            <a:srgbClr val="E2C6D6"/>
          </a:solidFill>
          <a:ln w="12700">
            <a:solidFill>
              <a:srgbClr val="333333"/>
            </a:solidFill>
            <a:prstDash val="solid"/>
          </a:ln>
        </p:spPr>
        <p:txBody>
          <a:bodyPr/>
          <a:lstStyle/>
          <a:p>
            <a:endParaRPr lang="en-US"/>
          </a:p>
        </p:txBody>
      </p:sp>
      <p:sp>
        <p:nvSpPr>
          <p:cNvPr id="3" name="Shape 1"/>
          <p:cNvSpPr/>
          <p:nvPr/>
        </p:nvSpPr>
        <p:spPr>
          <a:xfrm>
            <a:off x="10826496" y="852221"/>
            <a:ext cx="168250" cy="168250"/>
          </a:xfrm>
          <a:prstGeom prst="roundRect">
            <a:avLst>
              <a:gd name="adj" fmla="val 10870"/>
            </a:avLst>
          </a:prstGeom>
          <a:solidFill>
            <a:srgbClr val="3FA88A"/>
          </a:solidFill>
          <a:ln w="12700">
            <a:solidFill>
              <a:srgbClr val="333333"/>
            </a:solidFill>
            <a:prstDash val="solid"/>
          </a:ln>
        </p:spPr>
        <p:txBody>
          <a:bodyPr/>
          <a:lstStyle/>
          <a:p>
            <a:endParaRPr lang="en-US"/>
          </a:p>
        </p:txBody>
      </p:sp>
      <p:sp>
        <p:nvSpPr>
          <p:cNvPr id="4" name="Shape 2"/>
          <p:cNvSpPr/>
          <p:nvPr/>
        </p:nvSpPr>
        <p:spPr>
          <a:xfrm>
            <a:off x="11045952" y="1027786"/>
            <a:ext cx="168250" cy="168250"/>
          </a:xfrm>
          <a:prstGeom prst="roundRect">
            <a:avLst>
              <a:gd name="adj" fmla="val 10870"/>
            </a:avLst>
          </a:prstGeom>
          <a:solidFill>
            <a:srgbClr val="E2C6D6"/>
          </a:solidFill>
          <a:ln w="12700">
            <a:solidFill>
              <a:srgbClr val="333333"/>
            </a:solidFill>
            <a:prstDash val="solid"/>
          </a:ln>
        </p:spPr>
        <p:txBody>
          <a:bodyPr/>
          <a:lstStyle/>
          <a:p>
            <a:endParaRPr lang="en-US"/>
          </a:p>
        </p:txBody>
      </p:sp>
      <p:sp>
        <p:nvSpPr>
          <p:cNvPr id="5" name="Text 3"/>
          <p:cNvSpPr txBox="1"/>
          <p:nvPr/>
        </p:nvSpPr>
        <p:spPr>
          <a:xfrm>
            <a:off x="822960" y="658368"/>
            <a:ext cx="10515600" cy="6400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Questions for discussion</a:t>
            </a:r>
            <a:endParaRPr lang="en-US" sz="3100" dirty="0"/>
          </a:p>
        </p:txBody>
      </p:sp>
      <p:sp>
        <p:nvSpPr>
          <p:cNvPr id="6" name="Shape 4"/>
          <p:cNvSpPr/>
          <p:nvPr/>
        </p:nvSpPr>
        <p:spPr>
          <a:xfrm>
            <a:off x="841248" y="1371600"/>
            <a:ext cx="329184" cy="329184"/>
          </a:xfrm>
          <a:prstGeom prst="ellipse">
            <a:avLst/>
          </a:prstGeom>
          <a:solidFill>
            <a:srgbClr val="3FA88A"/>
          </a:solidFill>
          <a:ln w="12700">
            <a:solidFill>
              <a:srgbClr val="333333"/>
            </a:solidFill>
            <a:prstDash val="solid"/>
          </a:ln>
        </p:spPr>
        <p:txBody>
          <a:bodyPr/>
          <a:lstStyle/>
          <a:p>
            <a:endParaRPr lang="en-US"/>
          </a:p>
        </p:txBody>
      </p:sp>
      <p:sp>
        <p:nvSpPr>
          <p:cNvPr id="7" name="Text 5"/>
          <p:cNvSpPr txBox="1"/>
          <p:nvPr/>
        </p:nvSpPr>
        <p:spPr>
          <a:xfrm>
            <a:off x="841248" y="1399032"/>
            <a:ext cx="329184" cy="274320"/>
          </a:xfrm>
          <a:prstGeom prst="rect">
            <a:avLst/>
          </a:prstGeom>
          <a:noFill/>
          <a:ln/>
        </p:spPr>
        <p:txBody>
          <a:bodyPr wrap="square" lIns="0" tIns="0" rIns="0" bIns="0" rtlCol="0" anchor="ctr"/>
          <a:lstStyle/>
          <a:p>
            <a:pPr marL="0" indent="0" algn="ctr">
              <a:buNone/>
            </a:pPr>
            <a:r>
              <a:rPr lang="en-US" sz="1200" b="1" dirty="0">
                <a:solidFill>
                  <a:srgbClr val="331E2E"/>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353312" y="1316736"/>
            <a:ext cx="10058400" cy="969264"/>
          </a:xfrm>
          <a:prstGeom prst="rect">
            <a:avLst/>
          </a:prstGeom>
          <a:noFill/>
          <a:ln/>
        </p:spPr>
        <p:txBody>
          <a:bodyPr wrap="square" lIns="0" tIns="0" rIns="0" bIns="0" rtlCol="0" anchor="ctr"/>
          <a:lstStyle/>
          <a:p>
            <a:pPr marL="0" indent="0">
              <a:buNone/>
            </a:pPr>
            <a:r>
              <a:rPr lang="en-US" sz="1250" dirty="0">
                <a:solidFill>
                  <a:srgbClr val="E2C6D6"/>
                </a:solidFill>
                <a:latin typeface="Calibri" pitchFamily="34" charset="0"/>
                <a:ea typeface="Calibri" pitchFamily="34" charset="-122"/>
                <a:cs typeface="Calibri" pitchFamily="34" charset="-120"/>
              </a:rPr>
              <a:t>The tag framework is never ablated, and every other difference from the baselines could explain the results. What is the cheapest experiment that would isolate it — and would you trust the paper's conclusion without it?</a:t>
            </a:r>
            <a:endParaRPr lang="en-US" sz="1250" dirty="0"/>
          </a:p>
        </p:txBody>
      </p:sp>
      <p:sp>
        <p:nvSpPr>
          <p:cNvPr id="9" name="Shape 7"/>
          <p:cNvSpPr/>
          <p:nvPr/>
        </p:nvSpPr>
        <p:spPr>
          <a:xfrm>
            <a:off x="841248" y="2359152"/>
            <a:ext cx="329184" cy="329184"/>
          </a:xfrm>
          <a:prstGeom prst="ellipse">
            <a:avLst/>
          </a:prstGeom>
          <a:solidFill>
            <a:srgbClr val="3FA88A"/>
          </a:solidFill>
          <a:ln w="12700">
            <a:solidFill>
              <a:srgbClr val="333333"/>
            </a:solidFill>
            <a:prstDash val="solid"/>
          </a:ln>
        </p:spPr>
        <p:txBody>
          <a:bodyPr/>
          <a:lstStyle/>
          <a:p>
            <a:endParaRPr lang="en-US"/>
          </a:p>
        </p:txBody>
      </p:sp>
      <p:sp>
        <p:nvSpPr>
          <p:cNvPr id="10" name="Text 8"/>
          <p:cNvSpPr txBox="1"/>
          <p:nvPr/>
        </p:nvSpPr>
        <p:spPr>
          <a:xfrm>
            <a:off x="841248" y="2386584"/>
            <a:ext cx="329184" cy="274320"/>
          </a:xfrm>
          <a:prstGeom prst="rect">
            <a:avLst/>
          </a:prstGeom>
          <a:noFill/>
          <a:ln/>
        </p:spPr>
        <p:txBody>
          <a:bodyPr wrap="square" lIns="0" tIns="0" rIns="0" bIns="0" rtlCol="0" anchor="ctr"/>
          <a:lstStyle/>
          <a:p>
            <a:pPr marL="0" indent="0" algn="ctr">
              <a:buNone/>
            </a:pPr>
            <a:r>
              <a:rPr lang="en-US" sz="1200" b="1" dirty="0">
                <a:solidFill>
                  <a:srgbClr val="331E2E"/>
                </a:solidFill>
                <a:latin typeface="Cambria" pitchFamily="34" charset="0"/>
                <a:ea typeface="Cambria" pitchFamily="34" charset="-122"/>
                <a:cs typeface="Cambria" pitchFamily="34" charset="-120"/>
              </a:rPr>
              <a:t>2</a:t>
            </a:r>
            <a:endParaRPr lang="en-US" sz="1200" dirty="0"/>
          </a:p>
        </p:txBody>
      </p:sp>
      <p:sp>
        <p:nvSpPr>
          <p:cNvPr id="11" name="Text 9"/>
          <p:cNvSpPr txBox="1"/>
          <p:nvPr/>
        </p:nvSpPr>
        <p:spPr>
          <a:xfrm>
            <a:off x="1353312" y="2304288"/>
            <a:ext cx="10058400" cy="969264"/>
          </a:xfrm>
          <a:prstGeom prst="rect">
            <a:avLst/>
          </a:prstGeom>
          <a:noFill/>
          <a:ln/>
        </p:spPr>
        <p:txBody>
          <a:bodyPr wrap="square" lIns="0" tIns="0" rIns="0" bIns="0" rtlCol="0" anchor="ctr"/>
          <a:lstStyle/>
          <a:p>
            <a:pPr marL="0" indent="0">
              <a:buNone/>
            </a:pPr>
            <a:r>
              <a:rPr lang="en-US" sz="1250" dirty="0">
                <a:solidFill>
                  <a:srgbClr val="E2C6D6"/>
                </a:solidFill>
                <a:latin typeface="Calibri" pitchFamily="34" charset="0"/>
                <a:ea typeface="Calibri" pitchFamily="34" charset="-122"/>
                <a:cs typeface="Calibri" pitchFamily="34" charset="-120"/>
              </a:rPr>
              <a:t>Word-level timestamp training improves question answering about music. What is the mechanism, and does it predict which other auxiliary tasks would transfer?</a:t>
            </a:r>
            <a:endParaRPr lang="en-US" sz="1250" dirty="0"/>
          </a:p>
        </p:txBody>
      </p:sp>
      <p:sp>
        <p:nvSpPr>
          <p:cNvPr id="12" name="Shape 10"/>
          <p:cNvSpPr/>
          <p:nvPr/>
        </p:nvSpPr>
        <p:spPr>
          <a:xfrm>
            <a:off x="841248" y="3346704"/>
            <a:ext cx="329184" cy="329184"/>
          </a:xfrm>
          <a:prstGeom prst="ellipse">
            <a:avLst/>
          </a:prstGeom>
          <a:solidFill>
            <a:srgbClr val="3FA88A"/>
          </a:solidFill>
          <a:ln w="12700">
            <a:solidFill>
              <a:srgbClr val="333333"/>
            </a:solidFill>
            <a:prstDash val="solid"/>
          </a:ln>
        </p:spPr>
        <p:txBody>
          <a:bodyPr/>
          <a:lstStyle/>
          <a:p>
            <a:endParaRPr lang="en-US"/>
          </a:p>
        </p:txBody>
      </p:sp>
      <p:sp>
        <p:nvSpPr>
          <p:cNvPr id="13" name="Text 11"/>
          <p:cNvSpPr txBox="1"/>
          <p:nvPr/>
        </p:nvSpPr>
        <p:spPr>
          <a:xfrm>
            <a:off x="841248" y="3374136"/>
            <a:ext cx="329184" cy="274320"/>
          </a:xfrm>
          <a:prstGeom prst="rect">
            <a:avLst/>
          </a:prstGeom>
          <a:noFill/>
          <a:ln/>
        </p:spPr>
        <p:txBody>
          <a:bodyPr wrap="square" lIns="0" tIns="0" rIns="0" bIns="0" rtlCol="0" anchor="ctr"/>
          <a:lstStyle/>
          <a:p>
            <a:pPr marL="0" indent="0" algn="ctr">
              <a:buNone/>
            </a:pPr>
            <a:r>
              <a:rPr lang="en-US" sz="1200" b="1" dirty="0">
                <a:solidFill>
                  <a:srgbClr val="331E2E"/>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1353312" y="3291840"/>
            <a:ext cx="10058400" cy="969264"/>
          </a:xfrm>
          <a:prstGeom prst="rect">
            <a:avLst/>
          </a:prstGeom>
          <a:noFill/>
          <a:ln/>
        </p:spPr>
        <p:txBody>
          <a:bodyPr wrap="square" lIns="0" tIns="0" rIns="0" bIns="0" rtlCol="0" anchor="ctr"/>
          <a:lstStyle/>
          <a:p>
            <a:pPr marL="0" indent="0">
              <a:buNone/>
            </a:pPr>
            <a:r>
              <a:rPr lang="en-US" sz="1250" dirty="0">
                <a:solidFill>
                  <a:srgbClr val="E2C6D6"/>
                </a:solidFill>
                <a:latin typeface="Calibri" pitchFamily="34" charset="0"/>
                <a:ea typeface="Calibri" pitchFamily="34" charset="-122"/>
                <a:cs typeface="Calibri" pitchFamily="34" charset="-120"/>
              </a:rPr>
              <a:t>The successor, Qwen2-Audio, replaced hierarchical tags with natural-language prompts. What does that say about structured conditioning versus instruction following as interfaces?</a:t>
            </a:r>
            <a:endParaRPr lang="en-US" sz="1250" dirty="0"/>
          </a:p>
        </p:txBody>
      </p:sp>
      <p:sp>
        <p:nvSpPr>
          <p:cNvPr id="15" name="Shape 13"/>
          <p:cNvSpPr/>
          <p:nvPr/>
        </p:nvSpPr>
        <p:spPr>
          <a:xfrm>
            <a:off x="841248" y="4334256"/>
            <a:ext cx="329184" cy="329184"/>
          </a:xfrm>
          <a:prstGeom prst="ellipse">
            <a:avLst/>
          </a:prstGeom>
          <a:solidFill>
            <a:srgbClr val="3FA88A"/>
          </a:solidFill>
          <a:ln w="12700">
            <a:solidFill>
              <a:srgbClr val="333333"/>
            </a:solidFill>
            <a:prstDash val="solid"/>
          </a:ln>
        </p:spPr>
        <p:txBody>
          <a:bodyPr/>
          <a:lstStyle/>
          <a:p>
            <a:endParaRPr lang="en-US"/>
          </a:p>
        </p:txBody>
      </p:sp>
      <p:sp>
        <p:nvSpPr>
          <p:cNvPr id="16" name="Text 14"/>
          <p:cNvSpPr txBox="1"/>
          <p:nvPr/>
        </p:nvSpPr>
        <p:spPr>
          <a:xfrm>
            <a:off x="841248" y="4361688"/>
            <a:ext cx="329184" cy="274320"/>
          </a:xfrm>
          <a:prstGeom prst="rect">
            <a:avLst/>
          </a:prstGeom>
          <a:noFill/>
          <a:ln/>
        </p:spPr>
        <p:txBody>
          <a:bodyPr wrap="square" lIns="0" tIns="0" rIns="0" bIns="0" rtlCol="0" anchor="ctr"/>
          <a:lstStyle/>
          <a:p>
            <a:pPr marL="0" indent="0" algn="ctr">
              <a:buNone/>
            </a:pPr>
            <a:r>
              <a:rPr lang="en-US" sz="1200" b="1" dirty="0">
                <a:solidFill>
                  <a:srgbClr val="331E2E"/>
                </a:solidFill>
                <a:latin typeface="Cambria" pitchFamily="34" charset="0"/>
                <a:ea typeface="Cambria" pitchFamily="34" charset="-122"/>
                <a:cs typeface="Cambria" pitchFamily="34" charset="-120"/>
              </a:rPr>
              <a:t>4</a:t>
            </a:r>
            <a:endParaRPr lang="en-US" sz="1200" dirty="0"/>
          </a:p>
        </p:txBody>
      </p:sp>
      <p:sp>
        <p:nvSpPr>
          <p:cNvPr id="17" name="Text 15"/>
          <p:cNvSpPr txBox="1"/>
          <p:nvPr/>
        </p:nvSpPr>
        <p:spPr>
          <a:xfrm>
            <a:off x="1353312" y="4279392"/>
            <a:ext cx="10058400" cy="969264"/>
          </a:xfrm>
          <a:prstGeom prst="rect">
            <a:avLst/>
          </a:prstGeom>
          <a:noFill/>
          <a:ln/>
        </p:spPr>
        <p:txBody>
          <a:bodyPr wrap="square" lIns="0" tIns="0" rIns="0" bIns="0" rtlCol="0" anchor="ctr"/>
          <a:lstStyle/>
          <a:p>
            <a:pPr marL="0" indent="0">
              <a:buNone/>
            </a:pPr>
            <a:r>
              <a:rPr lang="en-US" sz="1250" dirty="0">
                <a:solidFill>
                  <a:srgbClr val="E2C6D6"/>
                </a:solidFill>
                <a:latin typeface="Calibri" pitchFamily="34" charset="0"/>
                <a:ea typeface="Calibri" pitchFamily="34" charset="-122"/>
                <a:cs typeface="Calibri" pitchFamily="34" charset="-120"/>
              </a:rPr>
              <a:t>Emotion is under 1,000 hours in a mix exceeding 100,000, and is reported as one weighted accuracy on MELD. Across all four audio-LLMs in these two sessions, why does paralinguistics keep coming out thin?</a:t>
            </a:r>
            <a:endParaRPr lang="en-US" sz="1250" dirty="0"/>
          </a:p>
        </p:txBody>
      </p:sp>
      <p:sp>
        <p:nvSpPr>
          <p:cNvPr id="18" name="Shape 16"/>
          <p:cNvSpPr/>
          <p:nvPr/>
        </p:nvSpPr>
        <p:spPr>
          <a:xfrm>
            <a:off x="841248" y="5321808"/>
            <a:ext cx="329184" cy="329184"/>
          </a:xfrm>
          <a:prstGeom prst="ellipse">
            <a:avLst/>
          </a:prstGeom>
          <a:solidFill>
            <a:srgbClr val="3FA88A"/>
          </a:solidFill>
          <a:ln w="12700">
            <a:solidFill>
              <a:srgbClr val="333333"/>
            </a:solidFill>
            <a:prstDash val="solid"/>
          </a:ln>
        </p:spPr>
        <p:txBody>
          <a:bodyPr/>
          <a:lstStyle/>
          <a:p>
            <a:endParaRPr lang="en-US"/>
          </a:p>
        </p:txBody>
      </p:sp>
      <p:sp>
        <p:nvSpPr>
          <p:cNvPr id="19" name="Text 17"/>
          <p:cNvSpPr txBox="1"/>
          <p:nvPr/>
        </p:nvSpPr>
        <p:spPr>
          <a:xfrm>
            <a:off x="841248" y="5349240"/>
            <a:ext cx="329184" cy="274320"/>
          </a:xfrm>
          <a:prstGeom prst="rect">
            <a:avLst/>
          </a:prstGeom>
          <a:noFill/>
          <a:ln/>
        </p:spPr>
        <p:txBody>
          <a:bodyPr wrap="square" lIns="0" tIns="0" rIns="0" bIns="0" rtlCol="0" anchor="ctr"/>
          <a:lstStyle/>
          <a:p>
            <a:pPr marL="0" indent="0" algn="ctr">
              <a:buNone/>
            </a:pPr>
            <a:r>
              <a:rPr lang="en-US" sz="1200" b="1" dirty="0">
                <a:solidFill>
                  <a:srgbClr val="331E2E"/>
                </a:solidFill>
                <a:latin typeface="Cambria" pitchFamily="34" charset="0"/>
                <a:ea typeface="Cambria" pitchFamily="34" charset="-122"/>
                <a:cs typeface="Cambria" pitchFamily="34" charset="-120"/>
              </a:rPr>
              <a:t>5</a:t>
            </a:r>
            <a:endParaRPr lang="en-US" sz="1200" dirty="0"/>
          </a:p>
        </p:txBody>
      </p:sp>
      <p:sp>
        <p:nvSpPr>
          <p:cNvPr id="20" name="Text 18"/>
          <p:cNvSpPr txBox="1"/>
          <p:nvPr/>
        </p:nvSpPr>
        <p:spPr>
          <a:xfrm>
            <a:off x="1353312" y="5266944"/>
            <a:ext cx="10058400" cy="969264"/>
          </a:xfrm>
          <a:prstGeom prst="rect">
            <a:avLst/>
          </a:prstGeom>
          <a:noFill/>
          <a:ln/>
        </p:spPr>
        <p:txBody>
          <a:bodyPr wrap="square" lIns="0" tIns="0" rIns="0" bIns="0" rtlCol="0" anchor="ctr"/>
          <a:lstStyle/>
          <a:p>
            <a:pPr marL="0" indent="0">
              <a:buNone/>
            </a:pPr>
            <a:r>
              <a:rPr lang="en-US" sz="1250" dirty="0">
                <a:solidFill>
                  <a:srgbClr val="E2C6D6"/>
                </a:solidFill>
                <a:latin typeface="Calibri" pitchFamily="34" charset="0"/>
                <a:ea typeface="Calibri" pitchFamily="34" charset="-122"/>
                <a:cs typeface="Calibri" pitchFamily="34" charset="-120"/>
              </a:rPr>
              <a:t>Qwen-Audio-Chat is half the contribution and is evaluated only by example. What minimum quantitative evaluation should a dialogue model in a paper like this be expected to report?</a:t>
            </a:r>
            <a:endParaRPr lang="en-US" sz="1250" dirty="0"/>
          </a:p>
        </p:txBody>
      </p:sp>
      <p:sp>
        <p:nvSpPr>
          <p:cNvPr id="21" name="Text 19"/>
          <p:cNvSpPr txBox="1"/>
          <p:nvPr/>
        </p:nvSpPr>
        <p:spPr>
          <a:xfrm>
            <a:off x="822960" y="6309360"/>
            <a:ext cx="10607040" cy="274320"/>
          </a:xfrm>
          <a:prstGeom prst="rect">
            <a:avLst/>
          </a:prstGeom>
          <a:noFill/>
          <a:ln/>
        </p:spPr>
        <p:txBody>
          <a:bodyPr wrap="square" lIns="0" tIns="0" rIns="0" bIns="0" rtlCol="0" anchor="ctr"/>
          <a:lstStyle/>
          <a:p>
            <a:pPr marL="0" indent="0">
              <a:buNone/>
            </a:pPr>
            <a:r>
              <a:rPr lang="en-US" sz="1000" dirty="0">
                <a:solidFill>
                  <a:srgbClr val="C4A5B7"/>
                </a:solidFill>
                <a:latin typeface="Calibri" pitchFamily="34" charset="0"/>
                <a:ea typeface="Calibri" pitchFamily="34" charset="-122"/>
                <a:cs typeface="Calibri" pitchFamily="34" charset="-120"/>
              </a:rPr>
              <a:t>Chu, Xu, Zhou, Yang, Zhang, Yan, Zhou &amp; Zhou (2023), arXiv:2311.07919  ·  github.com/QwenLM/Qwen-Audio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5812</Words>
  <Application>Microsoft Macintosh PowerPoint</Application>
  <PresentationFormat>Widescreen</PresentationFormat>
  <Paragraphs>339</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Qwen-Audio (Chu et al., 2023)</dc:title>
  <dc:subject>PptxGenJS Presentation</dc:subject>
  <dc:creator>Seminar</dc:creator>
  <cp:lastModifiedBy>Gao, Ashley</cp:lastModifiedBy>
  <cp:revision>4</cp:revision>
  <dcterms:created xsi:type="dcterms:W3CDTF">2026-09-29T01:00:57Z</dcterms:created>
  <dcterms:modified xsi:type="dcterms:W3CDTF">2026-09-29T14:32:29Z</dcterms:modified>
</cp:coreProperties>
</file>