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6B5A61"/>
                </a:solidFill>
                <a:latin typeface="Calibri"/>
              </a:defRPr>
            </a:pPr>
            <a:r>
              <a:rPr sz="1150" b="0" i="0" u="none" strike="noStrike">
                <a:solidFill>
                  <a:srgbClr val="6B5A61"/>
                </a:solidFill>
                <a:latin typeface="Calibri"/>
              </a:rPr>
              <a:t>Number of distinct speakers</a:t>
            </a:r>
          </a:p>
        </c:rich>
      </c:tx>
      <c:layout/>
      <c:overlay val="0"/>
    </c:title>
    <c:autoTitleDeleted val="0"/>
    <c:plotArea>
      <c:layout/>
      <c:barChart>
        <c:barDir val="bar"/>
        <c:grouping val="clustered"/>
        <c:varyColors val="0"/>
        <c:ser>
          <c:idx val="0"/>
          <c:order val="0"/>
          <c:tx>
            <c:strRef>
              <c:f>Sheet1!$B$1</c:f>
              <c:strCache>
                <c:ptCount val="1"/>
                <c:pt idx="0">
                  <c:v>Actors</c:v>
                </c:pt>
              </c:strCache>
            </c:strRef>
          </c:tx>
          <c:spPr>
            <a:solidFill>
              <a:srgbClr val="6D2E46"/>
            </a:solidFill>
            <a:effectLst/>
          </c:spPr>
          <c:invertIfNegative val="0"/>
          <c:dLbls>
            <c:numFmt formatCode="#,##0" sourceLinked="0"/>
            <c:txPr>
              <a:bodyPr/>
              <a:lstStyle/>
              <a:p>
                <a:pPr>
                  <a:defRPr b="0" i="0" strike="noStrike" sz="1100" u="none">
                    <a:solidFill>
                      <a:srgbClr val="3E3238"/>
                    </a:solidFill>
                    <a:latin typeface="Arial"/>
                  </a:defRPr>
                </a:pPr>
              </a:p>
            </c:txPr>
            <c:showLegendKey val="0"/>
            <c:showVal val="1"/>
            <c:showCatName val="0"/>
            <c:showSerName val="0"/>
            <c:showPercent val="0"/>
            <c:showBubbleSize val="0"/>
            <c:showLeaderLines val="0"/>
          </c:dLbls>
          <c:cat>
            <c:multiLvlStrRef>
              <c:f>Sheet1!$A$2:$A$3</c:f>
              <c:multiLvlStrCache>
                <c:ptCount val="2"/>
                <c:lvl>
                  <c:pt idx="0">
                    <c:v>CREMA-D</c:v>
                  </c:pt>
                  <c:pt idx="1">
                    <c:v>IEMOCAP</c:v>
                  </c:pt>
                </c:lvl>
              </c:multiLvlStrCache>
            </c:multiLvlStrRef>
          </c:cat>
          <c:val>
            <c:numRef>
              <c:f>Sheet1!$B$2:$B$3</c:f>
              <c:numCache>
                <c:formatCode>General</c:formatCode>
                <c:ptCount val="2"/>
                <c:pt idx="0">
                  <c:v>91</c:v>
                </c:pt>
                <c:pt idx="1">
                  <c:v>10</c:v>
                </c:pt>
              </c:numCache>
            </c:numRef>
          </c:val>
        </c:ser>
        <c:dLbls>
          <c:numFmt formatCode="#,##0" sourceLinked="0"/>
          <c:txPr>
            <a:bodyPr/>
            <a:lstStyle/>
            <a:p>
              <a:pPr>
                <a:defRPr b="0" i="0" strike="noStrike" sz="1100" u="none">
                  <a:solidFill>
                    <a:srgbClr val="3E32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5A6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F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5A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6B5A61"/>
                </a:solidFill>
                <a:latin typeface="Calibri"/>
              </a:defRPr>
            </a:pPr>
            <a:r>
              <a:rPr sz="1150" b="0" i="0" u="none" strike="noStrike">
                <a:solidFill>
                  <a:srgbClr val="6B5A61"/>
                </a:solidFill>
                <a:latin typeface="Calibri"/>
              </a:rPr>
              <a:t>Chance performance with six balanced categories is 16.7%</a:t>
            </a:r>
          </a:p>
        </c:rich>
      </c:tx>
      <c:layout/>
      <c:overlay val="0"/>
    </c:title>
    <c:autoTitleDeleted val="0"/>
    <c:plotArea>
      <c:layout/>
      <c:barChart>
        <c:barDir val="col"/>
        <c:grouping val="clustered"/>
        <c:varyColors val="0"/>
        <c:ser>
          <c:idx val="0"/>
          <c:order val="0"/>
          <c:tx>
            <c:strRef>
              <c:f>Sheet1!$B$1</c:f>
              <c:strCache>
                <c:ptCount val="1"/>
                <c:pt idx="0">
                  <c:v>Recognition of intended emotion (%)</c:v>
                </c:pt>
              </c:strCache>
            </c:strRef>
          </c:tx>
          <c:spPr>
            <a:solidFill>
              <a:srgbClr val="6D2E46"/>
            </a:solidFill>
            <a:effectLst/>
          </c:spPr>
          <c:invertIfNegative val="0"/>
          <c:dLbls>
            <c:numFmt formatCode="0.0" sourceLinked="0"/>
            <c:txPr>
              <a:bodyPr/>
              <a:lstStyle/>
              <a:p>
                <a:pPr>
                  <a:defRPr b="0" i="0" strike="noStrike" sz="1200" u="none">
                    <a:solidFill>
                      <a:srgbClr val="3E3238"/>
                    </a:solidFill>
                    <a:latin typeface="Arial"/>
                  </a:defRPr>
                </a:pPr>
              </a:p>
            </c:txPr>
            <c:showLegendKey val="0"/>
            <c:showVal val="1"/>
            <c:showCatName val="0"/>
            <c:showSerName val="0"/>
            <c:showPercent val="0"/>
            <c:showBubbleSize val="0"/>
            <c:showLeaderLines val="0"/>
          </c:dLbls>
          <c:dPt>
            <c:idx val="0"/>
            <c:invertIfNegative val="0"/>
            <c:bubble3D val="0"/>
            <c:spPr>
              <a:solidFill>
                <a:srgbClr val="6D2E46"/>
              </a:solidFill>
              <a:effectLst/>
            </c:spPr>
          </c:dPt>
          <c:dPt>
            <c:idx val="1"/>
            <c:invertIfNegative val="0"/>
            <c:bubble3D val="0"/>
            <c:spPr>
              <a:solidFill>
                <a:srgbClr val="C08A2E"/>
              </a:solidFill>
              <a:effectLst/>
            </c:spPr>
          </c:dPt>
          <c:dPt>
            <c:idx val="2"/>
            <c:invertIfNegative val="0"/>
            <c:bubble3D val="0"/>
            <c:spPr>
              <a:solidFill>
                <a:srgbClr val="3D7068"/>
              </a:solidFill>
              <a:effectLst/>
            </c:spPr>
          </c:dPt>
          <c:cat>
            <c:multiLvlStrRef>
              <c:f>Sheet1!$A$2:$A$4</c:f>
              <c:multiLvlStrCache>
                <c:ptCount val="3"/>
                <c:lvl>
                  <c:pt idx="0">
                    <c:v>Voice only</c:v>
                  </c:pt>
                  <c:pt idx="1">
                    <c:v>Face only</c:v>
                  </c:pt>
                  <c:pt idx="2">
                    <c:v>Audio-visual</c:v>
                  </c:pt>
                </c:lvl>
              </c:multiLvlStrCache>
            </c:multiLvlStrRef>
          </c:cat>
          <c:val>
            <c:numRef>
              <c:f>Sheet1!$B$2:$B$4</c:f>
              <c:numCache>
                <c:formatCode>General</c:formatCode>
                <c:ptCount val="3"/>
                <c:pt idx="0">
                  <c:v>40.9</c:v>
                </c:pt>
                <c:pt idx="1">
                  <c:v>58.2</c:v>
                </c:pt>
                <c:pt idx="2">
                  <c:v>63.6</c:v>
                </c:pt>
              </c:numCache>
            </c:numRef>
          </c:val>
        </c:ser>
        <c:dLbls>
          <c:numFmt formatCode="0.0" sourceLinked="0"/>
          <c:txPr>
            <a:bodyPr/>
            <a:lstStyle/>
            <a:p>
              <a:pPr>
                <a:defRPr b="0" i="0" strike="noStrike" sz="1200" u="none">
                  <a:solidFill>
                    <a:srgbClr val="3E32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5A61"/>
                </a:solidFill>
                <a:latin typeface="Arial"/>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12700" cap="flat">
              <a:solidFill>
                <a:srgbClr val="EF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A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Opening.
Pick up directly from the IEMOCAP talk. One sentence to set the frame: where IEMOCAP maximised naturalness and paid for it in speaker diversity and control, CREMA-D takes the opposite bet.
Also worth naming the author list, because it explains the design. Ruben Gur runs the Brain Behavior Laboratory at Penn and works on social-cognition deficits in schizophrenia. Ani Nenkova is a computational linguist. Ragini Verma works in biomedical image analysis. This is a clinical team and a computational team building a shared resource, and the corpus is shaped by both sets of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Roadmap.
Signal the structural difference from the first talk. IEMOCAP's paper is mostly about elicitation design. CREMA-D's paper is half corpus description and half *experiment*: the perception study is a genuine piece of empirical psychology, and it produces findings, not just labels.
So sections 4 and 5 are where the intellectual content sits. Budget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[1:30–3:00] The bridge.
Take this slowly — it is the spine of the seminar. Each of the three gaps maps onto one design decision in CREMA-D, and the three decisions are all instances of the same move: trade context and spontaneity for control and scale.
The third gap is the subtle one and the most interesting. Because IEMOCAP's raters always had both channels, its labels answer 'what emotion was expressed' but not 'by what means'. CREMA-D's three-way rating design turns the corpus into an experiment about multimodal perception.
State the price openly now so nobody thinks we are presenting CREMA-D as an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[3:00–4:30] The dual purpose.
This slide pre-empts the most common objection to CREMA-D, which is 'why on earth would you record isolated sentences in 2014 when IEMOCAP already showed that context matters'.
The answer is that half the intended user base needs controlled, comparable, context-free items. You cannot run a psychophysics experiment or a clinical assessment on five-minute improvised dialogues.
Related work from the same group: Keutmann and colleagues published on building item pools for translational social-cognition research using this material. Worth mentioning if anyone asks what the clinical use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[4:30–4:40]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[4:40–6:10] The headline specification.
Let the numbers land one row at a time; do not read them all out.
The contrast in the bottom card is the one to make explicit: fewer hours, nine times the speakers. If you care about speaker-independent generalisation, that ratio matters more than total duration.
Note the licensing, because it is a real contribution. CREMA-D is released under an Open Database Licence with the media on a public repository — no institutional agreement required. IEMOCAP needs a signed licence from USC. That difference explains a lot of CREMA-D's uptake in the deep-learning era.
The duration and average-clip figures are derived from the released audio rather than stated in the paper; flag that if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[6:10–7:40] The sentence set.
Read two or three of the sentences aloud in a flat voice; the room will hear immediately how emotionally inert they are. That is the point.
The methodological argument is strong and deserves emphasis, because the confound it removes is real and widespread. Plenty of published 'speech' emotion results are partly reading transcripts.
But be even-handed. The cost is a hard ceiling on phonetic coverage, and it makes CREMA-D a poor choice for anything involving spontaneous or open-vocabulary speech. Twelve sentences also means twelve sets of near-identical acoustic contexts, which is convenient for controlled comparison and dangerous for generalisation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[7:40–9:10] Diversity.
This is where CREMA-D most clearly improves on what came before, and it is worth being concrete about why it matters rather than treating diversity as a box to tick.
Three separate arguments, and they are independent:
(a) scientific — you cannot study variation you have not sampled;
(b) statistical — speaker-independent evaluation needs enough speakers to hold out;
(c) applied — a recogniser that works only on young Californian voices is not a recogniser.
Be careful not to oversell: 91 actors is a large improvement, not a representative sample of any population. All of them are American English speakers, and all are performing rather than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[9:10–10:40] Corpus arithmetic.
Working through the arithmetic is worth ninety seconds because it shows the corpus is fully factorial by design — the opposite of IEMOCAP, whose class distribution fell out of whatever the scenarios happened to elicit.
Balance is a genuine advantage. It means chance is a clean one-in-six, accuracy is interpretable without reweighting, and every emotion including fear and disgust is actually usable. Six-way classification is a sensible task here; on IEMOCAP it is not.
If someone asks why 7,442 and not 7,462, the honest answer is that a small number of recordings did not survive; the paper and the repository do not itemise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[10:40–10:50]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[10:50–12:20] Recording.
Keep this brisk. The important point is the contrast, not the production detail.
One thing does deserve emphasis: the actors were given a scenario as well as an emotion word. That is a nod in IEMOCAP's direction — the authors clearly understood that 'say this angrily' produces caricature. But it is a much weaker form of contextualisation than a five-minute improvised argument with a real partner.
So on the naturalness axis CREMA-D sits closer to the traditional acted corpora that Busso and colleagues were reacting against. The authors' defence is that they compensate on the other side — with scale, balance, and a very serious perceptual validation. That is the trade to keep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[12:20–13:50] Intended versus perceived.
Connect this straight back to the IEMOCAP slide on self versus other evaluation, where actors agreed with naive raters on only about sixty percent of their own turns. That result is the reason this distinction is not pedantic.
IEMOCAP resolves the tension by choosing perception and discarding intent. CREMA-D refuses to choose and ships both, which is defensible given its two audiences.
Put the question to the room briefly: is 'ground truth' for emotion a property of the speaker or of the listener? There is no settled answer, and the two papers we have read take different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[13:50–14:00]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[14:00–15:40] The design.
Make the between-subjects structure explicit, because it is what licenses the comparison: no rater ever judged the same clip in two modalities, so the voice-only score cannot be contaminated by having previously seen the face. This is a properly controlled perception experiment, not just an annotation pass.
Walk through the arithmetic on the third bullet — the room will appreciate seeing where 'about ten raters per clip' comes from.
For context on scale: this is roughly a quarter of a million human judgements collected on Amazon Mechanical Turk. In 2014 that was still a novel way to build an emotional corpus, and the paper is partly a demonstration that it can be done rigorously.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[15:40–17:10] Quality control.
The standard objection to crowdsourced annotation is that anonymous online raters are careless. The paper's answer is redundancy plus screening, and it is a reasonable one.
Emphasise the point in the redundancy card, because it is easy to miss and it is one of CREMA-D's quiet strengths: with ten raters you get a *distribution* over six categories per clip per modality. That supports soft-label training, ambiguity-aware evaluation, and difficulty calibration for clinical use — none of which a majority vote from three raters supports well.
Be scrupulous about the agreement comparison. Do not let the room walk away thinking 0.42 beats 0.27 in any meaningful sense; the tasks differ. The honest summary is that both corpora sit in the fair-to-moderate band, which is where emotion annotation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[17:10–17:20]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[17:20–19:10] The central result.
Three things to draw out, in order.
First, everything is far above the one-in-six chance level, so the corpus does contain real emotional signal. Worth saying explicitly.
Second, the face-over-voice advantage is large. That is a substantive finding about human perception, and it is consistent with a long psychological literature. It also explains why audio-only emotion recognition is a genuinely harder problem than audio-visual — a fact sometimes obscured when papers report the two side by side.
Third, and most important for us: audio-visual exceeds either channel alone. This is evidence of integration rather than simple dominance, and it is the empirical justification for building multimodal fusion models at all.
Then land the ceiling argument. If humans with both channels only reach the mid-sixties against the actor's intent, a paper claiming ninety percent on this corpus is measuring something other than what the actor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[19:10–20:50] Per-emotion results.
Be explicit that this is an ordering, not a table of numbers — the per-emotion rates vary by modality and the paper's own summary is given as a ranking. Do not invent figures if someone asks; point them at the confusion matrices in the paper.
The interesting content is the explanation of *why* the ordering comes out this way, and it is all arousal and channel.
Sadness is the case to dwell on. It is consistently the hardest emotion in speech-based recognition across corpora, and the reason is structural rather than incidental: low arousal produces quiet, slow, low-energy speech with little to distinguish it from neutral in two seconds. Ask the room what would fix it — the answer is usually 'longer context', which is precisely what this corpus gives up.
Neutral being easiest deserves a sceptical note: it is also the default answer under uncertainty, so its high rate is partly an artefact of forced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[20:50–22:30] The modality-by-emotion interaction.
This is the slide to protect if you run short. It is the scientific payoff of the three-way rating design and the reason CREMA-D is more than a bigger training set.
Frame it as a claim about emotional signals rather than about datasets: some affective states are principally visual, some principally vocal, and some are weakly encoded in both. That is a claim about human communication, not about machine learning.
Then draw the engineering conclusion. Most audio-visual fusion work uses a fixed weighting or a learned but class-independent gate. This result says the gate should be class-conditional. That is a concrete, testable suggestion the audience can take away.
If asked for exact per-cell numbers, point to the confusion matrices in the paper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[22:30–24:00] Intensity.
The visual-intensity finding is genuinely counter-intuitive and usually generates a question, so have an explanation ready. Two plausible accounts, and the paper does not settle between them:
(a) Facial expressions are configural and visible all at once, whereas vocal cues unfold over time and a two-second clip gives little of that time — so the face simply presents more evidence instantly.
(b) When both channels are present they can partially disagree, and any mismatch dampens the overall impression of intensity.
Both are speculation. Say so — it is a good illustration of how a well-designed corpus generates questions it does not itself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[24:00–24:10]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[24:10–26:20] The comparison.
Give the room a moment to read before you talk over it. Then walk only the rows that carry the argument: unit, linguistic content, modality separation, and label shipped.
The framing to insist on: these are not better and worse corpora, they are different points on a control-versus-naturalness curve. Every row where CREMA-D looks stronger is a row where it spent context to buy control, and vice versa.
End on the last row, because it is the shared failure. Neither paper defines a split, and fifteen years of leaderboard results on both corpora are correspondingly muddy. It is the clearest lesson the pair of papers offers to anyone building a resource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[26:20–27:40] Appraisal, positive side.
Reusing the Douglas-Cowie framework across both talks is what makes them a seminar rather than two unrelated presentations. Say so.
The verdicts flip almost exactly against IEMOCAP's. IEMOCAP was strong on context and weak on scope; CREMA-D is the reverse. Neither is strong on naturalness, though for different reasons — IEMOCAP because acting is acting, CREMA-D because it did not even try to contextualise.
The descriptors row is where CREMA-D is unambiguously ahead, and it is worth saying plainly: the per-modality rating design is the single most original thing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[27:40–29:10] Limitations.
The forced-choice point is the one most often overlooked, so spend a sentence on it. IEMOCAP let raters assign multiple labels and an 'other' category, and about a quarter of turns ended up with no agreed label. CREMA-D forces a choice among six. That guarantees every clip gets a label, but it converts genuine ambiguity into apparent disagreement rather than recording it as ambiguity.
The mitigating factor, and it is a real one: because ten raters judged each clip, you can recover the ambiguity from the distribution even though no individual rater could express it.
On splits, be concrete about the extra leak: if you split at the clip level, the same actor saying the same twelve sentences appears on both sides. Speaker-independent splits are essential here, and with 91 actors there is no excuse not to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[29:10–30:50] Modern use.
The first two cards are about why the corpus survived: open licence, balanced classes, enough speakers for clean speaker-independent evaluation. Those are unglamorous properties that determine whether a resource gets used.
Spend most of the time on the cross-corpus card. It is the strongest argument for having read both papers rather than either one.
If the audience wants the concrete version: a model trained on IEMOCAP has learned, among other things, that anger is loud improvised argument between two specific actors in one specific room. Very little of that transfers to a single actor delivering 'the surface is slick' to a camera. The performance drop is the size of the gap between the two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[30:50–32:40] Synthesis.
This is the close of the whole seminar, not just the second talk. Deliver it as such.
The three cards along the top are the conceptual lessons; the dark block is what the audience should actually do differently. If you only have time for one, keep the dark block.
The second rule is the one that most reliably changes behaviour. It costs nothing to state a split and it is the difference between a comparable result and an uninterpretable one.
Finish by naming the shape of the field's progress since: MSP-IMPROV, MSP-Podcast and similar corpora try to have both — naturalistic material at scale, with defined partitions. They exist because researchers read these two papers and saw what each was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[32:40–40:00] Discussion and close.
Five prompts; pick two or three. Question 5 is the best closer because it forces the audience to weigh the tradeoff themselves rather than accept a summary.
Question 3 usually produces the liveliest exchange, and there is a defensible answer worth having ready: audio-only emotion recognition is not a degraded version of the multimodal task, it is a different task with a lower human ceiling — and papers should benchmark against that ceiling rather than against a hundred percent.
Close the seminar by returning to the opening frame: two corpora, opposite bets, and the honest conclusion that the field needs both — plus a generation of corpora that learn from what each one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E30"/>
        </a:solidFill>
      </p:bgPr>
    </p:bg>
    <p:spTree>
      <p:nvGrpSpPr>
        <p:cNvPr id="1" name=""/>
        <p:cNvGrpSpPr/>
        <p:nvPr/>
      </p:nvGrpSpPr>
      <p:grpSpPr>
        <a:xfrm>
          <a:off x="0" y="0"/>
          <a:ext cx="0" cy="0"/>
          <a:chOff x="0" y="0"/>
          <a:chExt cx="0" cy="0"/>
        </a:xfrm>
      </p:grpSpPr>
      <p:sp>
        <p:nvSpPr>
          <p:cNvPr id="2" name="Shape 0"/>
          <p:cNvSpPr/>
          <p:nvPr/>
        </p:nvSpPr>
        <p:spPr>
          <a:xfrm>
            <a:off x="868680" y="1143000"/>
            <a:ext cx="164592" cy="164592"/>
          </a:xfrm>
          <a:prstGeom prst="ellipse">
            <a:avLst/>
          </a:prstGeom>
          <a:solidFill>
            <a:srgbClr val="6D2E46"/>
          </a:solidFill>
          <a:ln w="12700">
            <a:solidFill>
              <a:srgbClr val="333333"/>
            </a:solidFill>
            <a:prstDash val="solid"/>
          </a:ln>
        </p:spPr>
      </p:sp>
      <p:sp>
        <p:nvSpPr>
          <p:cNvPr id="3" name="Shape 1"/>
          <p:cNvSpPr/>
          <p:nvPr/>
        </p:nvSpPr>
        <p:spPr>
          <a:xfrm>
            <a:off x="1115568" y="1143000"/>
            <a:ext cx="164592" cy="164592"/>
          </a:xfrm>
          <a:prstGeom prst="ellipse">
            <a:avLst/>
          </a:prstGeom>
          <a:solidFill>
            <a:srgbClr val="C08A2E"/>
          </a:solidFill>
          <a:ln w="12700">
            <a:solidFill>
              <a:srgbClr val="333333"/>
            </a:solidFill>
            <a:prstDash val="solid"/>
          </a:ln>
        </p:spPr>
      </p:sp>
      <p:sp>
        <p:nvSpPr>
          <p:cNvPr id="4" name="Shape 2"/>
          <p:cNvSpPr/>
          <p:nvPr/>
        </p:nvSpPr>
        <p:spPr>
          <a:xfrm>
            <a:off x="1362456" y="1143000"/>
            <a:ext cx="164592" cy="164592"/>
          </a:xfrm>
          <a:prstGeom prst="ellipse">
            <a:avLst/>
          </a:prstGeom>
          <a:solidFill>
            <a:srgbClr val="3D7068"/>
          </a:solidFill>
          <a:ln w="12700">
            <a:solidFill>
              <a:srgbClr val="333333"/>
            </a:solidFill>
            <a:prstDash val="solid"/>
          </a:ln>
        </p:spPr>
      </p:sp>
      <p:sp>
        <p:nvSpPr>
          <p:cNvPr id="5" name="Text 3"/>
          <p:cNvSpPr txBox="1"/>
          <p:nvPr/>
        </p:nvSpPr>
        <p:spPr>
          <a:xfrm>
            <a:off x="822960" y="1874520"/>
            <a:ext cx="10515600" cy="914400"/>
          </a:xfrm>
          <a:prstGeom prst="rect">
            <a:avLst/>
          </a:prstGeom>
          <a:noFill/>
          <a:ln/>
        </p:spPr>
        <p:txBody>
          <a:bodyPr wrap="square" lIns="0" tIns="0" rIns="0" bIns="0" rtlCol="0" anchor="ctr"/>
          <a:lstStyle/>
          <a:p>
            <a:pPr indent="0" marL="0">
              <a:buNone/>
            </a:pPr>
            <a:r>
              <a:rPr lang="en-US" sz="5400" b="1" spc="100" kern="0" dirty="0">
                <a:solidFill>
                  <a:srgbClr val="FFFFFF"/>
                </a:solidFill>
                <a:latin typeface="Cambria" pitchFamily="34" charset="0"/>
                <a:ea typeface="Cambria" pitchFamily="34" charset="-122"/>
                <a:cs typeface="Cambria" pitchFamily="34" charset="-120"/>
              </a:rPr>
              <a:t>CREMA-D</a:t>
            </a:r>
            <a:endParaRPr lang="en-US" sz="5400" dirty="0"/>
          </a:p>
        </p:txBody>
      </p:sp>
      <p:sp>
        <p:nvSpPr>
          <p:cNvPr id="6" name="Text 4"/>
          <p:cNvSpPr txBox="1"/>
          <p:nvPr/>
        </p:nvSpPr>
        <p:spPr>
          <a:xfrm>
            <a:off x="822960" y="2788920"/>
            <a:ext cx="10515600" cy="502920"/>
          </a:xfrm>
          <a:prstGeom prst="rect">
            <a:avLst/>
          </a:prstGeom>
          <a:noFill/>
          <a:ln/>
        </p:spPr>
        <p:txBody>
          <a:bodyPr wrap="square" lIns="0" tIns="0" rIns="0" bIns="0" rtlCol="0" anchor="ctr"/>
          <a:lstStyle/>
          <a:p>
            <a:pPr indent="0" marL="0">
              <a:buNone/>
            </a:pPr>
            <a:r>
              <a:rPr lang="en-US" sz="2100" i="1" dirty="0">
                <a:solidFill>
                  <a:srgbClr val="E7D5DA"/>
                </a:solidFill>
                <a:latin typeface="Cambria" pitchFamily="34" charset="0"/>
                <a:ea typeface="Cambria" pitchFamily="34" charset="-122"/>
                <a:cs typeface="Cambria" pitchFamily="34" charset="-120"/>
              </a:rPr>
              <a:t>Crowd-sourced Emotional Multimodal Actors Dataset</a:t>
            </a:r>
            <a:endParaRPr lang="en-US" sz="2100" dirty="0"/>
          </a:p>
        </p:txBody>
      </p:sp>
      <p:sp>
        <p:nvSpPr>
          <p:cNvPr id="7" name="Text 5"/>
          <p:cNvSpPr txBox="1"/>
          <p:nvPr/>
        </p:nvSpPr>
        <p:spPr>
          <a:xfrm>
            <a:off x="859536" y="3611880"/>
            <a:ext cx="10058400" cy="1005840"/>
          </a:xfrm>
          <a:prstGeom prst="rect">
            <a:avLst/>
          </a:prstGeom>
          <a:noFill/>
          <a:ln/>
        </p:spPr>
        <p:txBody>
          <a:bodyPr wrap="square" lIns="0" tIns="0" rIns="0" bIns="0" rtlCol="0" anchor="ctr"/>
          <a:lstStyle/>
          <a:p>
            <a:pPr indent="0" marL="0">
              <a:lnSpc>
                <a:spcPct val="125000"/>
              </a:lnSpc>
              <a:buNone/>
            </a:pPr>
            <a:r>
              <a:rPr lang="en-US" sz="1350" dirty="0">
                <a:solidFill>
                  <a:srgbClr val="C9AEB6"/>
                </a:solidFill>
                <a:latin typeface="Calibri" pitchFamily="34" charset="0"/>
                <a:ea typeface="Calibri" pitchFamily="34" charset="-122"/>
                <a:cs typeface="Calibri" pitchFamily="34" charset="-120"/>
              </a:rPr>
              <a:t>Cao, Cooper, Keutmann, Gur, Nenkova &amp; Verma</a:t>
            </a:r>
            <a:endParaRPr lang="en-US" sz="1350" dirty="0"/>
          </a:p>
          <a:p>
            <a:pPr indent="0" marL="0">
              <a:lnSpc>
                <a:spcPct val="125000"/>
              </a:lnSpc>
              <a:buNone/>
            </a:pPr>
            <a:r>
              <a:rPr lang="en-US" sz="1350" dirty="0">
                <a:solidFill>
                  <a:srgbClr val="C9AEB6"/>
                </a:solidFill>
                <a:latin typeface="Calibri" pitchFamily="34" charset="0"/>
                <a:ea typeface="Calibri" pitchFamily="34" charset="-122"/>
                <a:cs typeface="Calibri" pitchFamily="34" charset="-120"/>
              </a:rPr>
              <a:t>IEEE Transactions on Affective Computing, 5(4), 377–390 (2014)</a:t>
            </a:r>
            <a:endParaRPr lang="en-US" sz="1350" dirty="0"/>
          </a:p>
          <a:p>
            <a:pPr indent="0" marL="0">
              <a:lnSpc>
                <a:spcPct val="125000"/>
              </a:lnSpc>
              <a:buNone/>
            </a:pPr>
            <a:r>
              <a:rPr lang="en-US" sz="1350" dirty="0">
                <a:solidFill>
                  <a:srgbClr val="C9AEB6"/>
                </a:solidFill>
                <a:latin typeface="Calibri" pitchFamily="34" charset="0"/>
                <a:ea typeface="Calibri" pitchFamily="34" charset="-122"/>
                <a:cs typeface="Calibri" pitchFamily="34" charset="-120"/>
              </a:rPr>
              <a:t>Section of Biomedical Image Analysis &amp; Brain Behavior Laboratory, University of Pennsylvania</a:t>
            </a:r>
            <a:endParaRPr lang="en-US" sz="1350" dirty="0"/>
          </a:p>
        </p:txBody>
      </p:sp>
      <p:sp>
        <p:nvSpPr>
          <p:cNvPr id="8" name="Text 6"/>
          <p:cNvSpPr txBox="1"/>
          <p:nvPr/>
        </p:nvSpPr>
        <p:spPr>
          <a:xfrm>
            <a:off x="859536" y="5120640"/>
            <a:ext cx="7315200" cy="365760"/>
          </a:xfrm>
          <a:prstGeom prst="rect">
            <a:avLst/>
          </a:prstGeom>
          <a:noFill/>
          <a:ln/>
        </p:spPr>
        <p:txBody>
          <a:bodyPr wrap="square" lIns="0" tIns="0" rIns="0" bIns="0" rtlCol="0" anchor="ctr"/>
          <a:lstStyle/>
          <a:p>
            <a:pPr indent="0" marL="0">
              <a:buNone/>
            </a:pPr>
            <a:r>
              <a:rPr lang="en-US" sz="1250" b="1" dirty="0">
                <a:solidFill>
                  <a:srgbClr val="C08A2E"/>
                </a:solidFill>
                <a:latin typeface="Calibri" pitchFamily="34" charset="0"/>
                <a:ea typeface="Calibri" pitchFamily="34" charset="-122"/>
                <a:cs typeface="Calibri" pitchFamily="34" charset="-120"/>
              </a:rPr>
              <a:t>Seminar presentation  ·  Part 2 of 2  ·  40 minutes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Roadmap</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35 minutes of material, then 5 minutes for discussion</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a:t>
            </a:r>
            <a:endParaRPr lang="en-US" sz="900" dirty="0"/>
          </a:p>
        </p:txBody>
      </p:sp>
      <p:sp>
        <p:nvSpPr>
          <p:cNvPr id="8" name="Shape 6"/>
          <p:cNvSpPr/>
          <p:nvPr/>
        </p:nvSpPr>
        <p:spPr>
          <a:xfrm>
            <a:off x="566928" y="1563624"/>
            <a:ext cx="402336" cy="402336"/>
          </a:xfrm>
          <a:prstGeom prst="ellipse">
            <a:avLst/>
          </a:prstGeom>
          <a:solidFill>
            <a:srgbClr val="6D2E46"/>
          </a:solidFill>
          <a:ln w="12700">
            <a:solidFill>
              <a:srgbClr val="333333"/>
            </a:solidFill>
            <a:prstDash val="solid"/>
          </a:ln>
        </p:spPr>
      </p:sp>
      <p:sp>
        <p:nvSpPr>
          <p:cNvPr id="9" name="Text 7"/>
          <p:cNvSpPr txBox="1"/>
          <p:nvPr/>
        </p:nvSpPr>
        <p:spPr>
          <a:xfrm>
            <a:off x="566928" y="1591056"/>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115568" y="1517904"/>
            <a:ext cx="7498080" cy="310896"/>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Bridge and motivation</a:t>
            </a:r>
            <a:endParaRPr lang="en-US" sz="1600" dirty="0"/>
          </a:p>
        </p:txBody>
      </p:sp>
      <p:sp>
        <p:nvSpPr>
          <p:cNvPr id="11" name="Text 9"/>
          <p:cNvSpPr txBox="1"/>
          <p:nvPr/>
        </p:nvSpPr>
        <p:spPr>
          <a:xfrm>
            <a:off x="1115568" y="1828800"/>
            <a:ext cx="8138160" cy="274320"/>
          </a:xfrm>
          <a:prstGeom prst="rect">
            <a:avLst/>
          </a:prstGeom>
          <a:noFill/>
          <a:ln/>
        </p:spPr>
        <p:txBody>
          <a:bodyPr wrap="square" lIns="0" tIns="0" rIns="0" bIns="0" rtlCol="0" anchor="ctr"/>
          <a:lstStyle/>
          <a:p>
            <a:pPr indent="0" marL="0">
              <a:buNone/>
            </a:pPr>
            <a:r>
              <a:rPr lang="en-US" sz="1200" dirty="0">
                <a:solidFill>
                  <a:srgbClr val="6B5A61"/>
                </a:solidFill>
                <a:latin typeface="Calibri" pitchFamily="34" charset="0"/>
                <a:ea typeface="Calibri" pitchFamily="34" charset="-122"/>
                <a:cs typeface="Calibri" pitchFamily="34" charset="-120"/>
              </a:rPr>
              <a:t>The three gaps IEMOCAP left open</a:t>
            </a:r>
            <a:endParaRPr lang="en-US" sz="1200" dirty="0"/>
          </a:p>
        </p:txBody>
      </p:sp>
      <p:sp>
        <p:nvSpPr>
          <p:cNvPr id="12" name="Text 10"/>
          <p:cNvSpPr txBox="1"/>
          <p:nvPr/>
        </p:nvSpPr>
        <p:spPr>
          <a:xfrm>
            <a:off x="9692640" y="1591056"/>
            <a:ext cx="1737360" cy="310896"/>
          </a:xfrm>
          <a:prstGeom prst="rect">
            <a:avLst/>
          </a:prstGeom>
          <a:noFill/>
          <a:ln/>
        </p:spPr>
        <p:txBody>
          <a:bodyPr wrap="square" lIns="0" tIns="0" rIns="0" bIns="0" rtlCol="0" anchor="ctr"/>
          <a:lstStyle/>
          <a:p>
            <a:pPr algn="r" indent="0" marL="0">
              <a:buNone/>
            </a:pPr>
            <a:r>
              <a:rPr lang="en-US" sz="1300" b="1" dirty="0">
                <a:solidFill>
                  <a:srgbClr val="C08A2E"/>
                </a:solidFill>
                <a:latin typeface="Calibri" pitchFamily="34" charset="0"/>
                <a:ea typeface="Calibri" pitchFamily="34" charset="-122"/>
                <a:cs typeface="Calibri" pitchFamily="34" charset="-120"/>
              </a:rPr>
              <a:t>4 min</a:t>
            </a:r>
            <a:endParaRPr lang="en-US" sz="1300" dirty="0"/>
          </a:p>
        </p:txBody>
      </p:sp>
      <p:sp>
        <p:nvSpPr>
          <p:cNvPr id="13" name="Shape 11"/>
          <p:cNvSpPr/>
          <p:nvPr/>
        </p:nvSpPr>
        <p:spPr>
          <a:xfrm>
            <a:off x="566928" y="2322576"/>
            <a:ext cx="402336" cy="402336"/>
          </a:xfrm>
          <a:prstGeom prst="ellipse">
            <a:avLst/>
          </a:prstGeom>
          <a:solidFill>
            <a:srgbClr val="6D2E46"/>
          </a:solidFill>
          <a:ln w="12700">
            <a:solidFill>
              <a:srgbClr val="333333"/>
            </a:solidFill>
            <a:prstDash val="solid"/>
          </a:ln>
        </p:spPr>
      </p:sp>
      <p:sp>
        <p:nvSpPr>
          <p:cNvPr id="14" name="Text 12"/>
          <p:cNvSpPr txBox="1"/>
          <p:nvPr/>
        </p:nvSpPr>
        <p:spPr>
          <a:xfrm>
            <a:off x="566928" y="2350008"/>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1115568" y="2276856"/>
            <a:ext cx="7498080" cy="310896"/>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Corpus specification</a:t>
            </a:r>
            <a:endParaRPr lang="en-US" sz="1600" dirty="0"/>
          </a:p>
        </p:txBody>
      </p:sp>
      <p:sp>
        <p:nvSpPr>
          <p:cNvPr id="16" name="Text 14"/>
          <p:cNvSpPr txBox="1"/>
          <p:nvPr/>
        </p:nvSpPr>
        <p:spPr>
          <a:xfrm>
            <a:off x="1115568" y="2587752"/>
            <a:ext cx="8138160" cy="274320"/>
          </a:xfrm>
          <a:prstGeom prst="rect">
            <a:avLst/>
          </a:prstGeom>
          <a:noFill/>
          <a:ln/>
        </p:spPr>
        <p:txBody>
          <a:bodyPr wrap="square" lIns="0" tIns="0" rIns="0" bIns="0" rtlCol="0" anchor="ctr"/>
          <a:lstStyle/>
          <a:p>
            <a:pPr indent="0" marL="0">
              <a:buNone/>
            </a:pPr>
            <a:r>
              <a:rPr lang="en-US" sz="1200" dirty="0">
                <a:solidFill>
                  <a:srgbClr val="6B5A61"/>
                </a:solidFill>
                <a:latin typeface="Calibri" pitchFamily="34" charset="0"/>
                <a:ea typeface="Calibri" pitchFamily="34" charset="-122"/>
                <a:cs typeface="Calibri" pitchFamily="34" charset="-120"/>
              </a:rPr>
              <a:t>91 actors, 12 sentences, 6 emotions, 4 intensity levels</a:t>
            </a:r>
            <a:endParaRPr lang="en-US" sz="1200" dirty="0"/>
          </a:p>
        </p:txBody>
      </p:sp>
      <p:sp>
        <p:nvSpPr>
          <p:cNvPr id="17" name="Text 15"/>
          <p:cNvSpPr txBox="1"/>
          <p:nvPr/>
        </p:nvSpPr>
        <p:spPr>
          <a:xfrm>
            <a:off x="9692640" y="2350008"/>
            <a:ext cx="1737360" cy="310896"/>
          </a:xfrm>
          <a:prstGeom prst="rect">
            <a:avLst/>
          </a:prstGeom>
          <a:noFill/>
          <a:ln/>
        </p:spPr>
        <p:txBody>
          <a:bodyPr wrap="square" lIns="0" tIns="0" rIns="0" bIns="0" rtlCol="0" anchor="ctr"/>
          <a:lstStyle/>
          <a:p>
            <a:pPr algn="r" indent="0" marL="0">
              <a:buNone/>
            </a:pPr>
            <a:r>
              <a:rPr lang="en-US" sz="1300" b="1" dirty="0">
                <a:solidFill>
                  <a:srgbClr val="C08A2E"/>
                </a:solidFill>
                <a:latin typeface="Calibri" pitchFamily="34" charset="0"/>
                <a:ea typeface="Calibri" pitchFamily="34" charset="-122"/>
                <a:cs typeface="Calibri" pitchFamily="34" charset="-120"/>
              </a:rPr>
              <a:t>7 min</a:t>
            </a:r>
            <a:endParaRPr lang="en-US" sz="1300" dirty="0"/>
          </a:p>
        </p:txBody>
      </p:sp>
      <p:sp>
        <p:nvSpPr>
          <p:cNvPr id="18" name="Shape 16"/>
          <p:cNvSpPr/>
          <p:nvPr/>
        </p:nvSpPr>
        <p:spPr>
          <a:xfrm>
            <a:off x="566928" y="3081528"/>
            <a:ext cx="402336" cy="402336"/>
          </a:xfrm>
          <a:prstGeom prst="ellipse">
            <a:avLst/>
          </a:prstGeom>
          <a:solidFill>
            <a:srgbClr val="6D2E46"/>
          </a:solidFill>
          <a:ln w="12700">
            <a:solidFill>
              <a:srgbClr val="333333"/>
            </a:solidFill>
            <a:prstDash val="solid"/>
          </a:ln>
        </p:spPr>
      </p:sp>
      <p:sp>
        <p:nvSpPr>
          <p:cNvPr id="19" name="Text 17"/>
          <p:cNvSpPr txBox="1"/>
          <p:nvPr/>
        </p:nvSpPr>
        <p:spPr>
          <a:xfrm>
            <a:off x="566928" y="3108960"/>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txBox="1"/>
          <p:nvPr/>
        </p:nvSpPr>
        <p:spPr>
          <a:xfrm>
            <a:off x="1115568" y="3035808"/>
            <a:ext cx="7498080" cy="310896"/>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Recording protocol</a:t>
            </a:r>
            <a:endParaRPr lang="en-US" sz="1600" dirty="0"/>
          </a:p>
        </p:txBody>
      </p:sp>
      <p:sp>
        <p:nvSpPr>
          <p:cNvPr id="21" name="Text 19"/>
          <p:cNvSpPr txBox="1"/>
          <p:nvPr/>
        </p:nvSpPr>
        <p:spPr>
          <a:xfrm>
            <a:off x="1115568" y="3346704"/>
            <a:ext cx="8138160" cy="274320"/>
          </a:xfrm>
          <a:prstGeom prst="rect">
            <a:avLst/>
          </a:prstGeom>
          <a:noFill/>
          <a:ln/>
        </p:spPr>
        <p:txBody>
          <a:bodyPr wrap="square" lIns="0" tIns="0" rIns="0" bIns="0" rtlCol="0" anchor="ctr"/>
          <a:lstStyle/>
          <a:p>
            <a:pPr indent="0" marL="0">
              <a:buNone/>
            </a:pPr>
            <a:r>
              <a:rPr lang="en-US" sz="1200" dirty="0">
                <a:solidFill>
                  <a:srgbClr val="6B5A61"/>
                </a:solidFill>
                <a:latin typeface="Calibri" pitchFamily="34" charset="0"/>
                <a:ea typeface="Calibri" pitchFamily="34" charset="-122"/>
                <a:cs typeface="Calibri" pitchFamily="34" charset="-120"/>
              </a:rPr>
              <a:t>How the clips were produced and screened</a:t>
            </a:r>
            <a:endParaRPr lang="en-US" sz="1200" dirty="0"/>
          </a:p>
        </p:txBody>
      </p:sp>
      <p:sp>
        <p:nvSpPr>
          <p:cNvPr id="22" name="Text 20"/>
          <p:cNvSpPr txBox="1"/>
          <p:nvPr/>
        </p:nvSpPr>
        <p:spPr>
          <a:xfrm>
            <a:off x="9692640" y="3108960"/>
            <a:ext cx="1737360" cy="310896"/>
          </a:xfrm>
          <a:prstGeom prst="rect">
            <a:avLst/>
          </a:prstGeom>
          <a:noFill/>
          <a:ln/>
        </p:spPr>
        <p:txBody>
          <a:bodyPr wrap="square" lIns="0" tIns="0" rIns="0" bIns="0" rtlCol="0" anchor="ctr"/>
          <a:lstStyle/>
          <a:p>
            <a:pPr algn="r" indent="0" marL="0">
              <a:buNone/>
            </a:pPr>
            <a:r>
              <a:rPr lang="en-US" sz="1300" b="1" dirty="0">
                <a:solidFill>
                  <a:srgbClr val="C08A2E"/>
                </a:solidFill>
                <a:latin typeface="Calibri" pitchFamily="34" charset="0"/>
                <a:ea typeface="Calibri" pitchFamily="34" charset="-122"/>
                <a:cs typeface="Calibri" pitchFamily="34" charset="-120"/>
              </a:rPr>
              <a:t>5 min</a:t>
            </a:r>
            <a:endParaRPr lang="en-US" sz="1300" dirty="0"/>
          </a:p>
        </p:txBody>
      </p:sp>
      <p:sp>
        <p:nvSpPr>
          <p:cNvPr id="23" name="Shape 21"/>
          <p:cNvSpPr/>
          <p:nvPr/>
        </p:nvSpPr>
        <p:spPr>
          <a:xfrm>
            <a:off x="566928" y="3840480"/>
            <a:ext cx="402336" cy="402336"/>
          </a:xfrm>
          <a:prstGeom prst="ellipse">
            <a:avLst/>
          </a:prstGeom>
          <a:solidFill>
            <a:srgbClr val="6D2E46"/>
          </a:solidFill>
          <a:ln w="12700">
            <a:solidFill>
              <a:srgbClr val="333333"/>
            </a:solidFill>
            <a:prstDash val="solid"/>
          </a:ln>
        </p:spPr>
      </p:sp>
      <p:sp>
        <p:nvSpPr>
          <p:cNvPr id="24" name="Text 22"/>
          <p:cNvSpPr txBox="1"/>
          <p:nvPr/>
        </p:nvSpPr>
        <p:spPr>
          <a:xfrm>
            <a:off x="566928" y="3867912"/>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5" name="Text 23"/>
          <p:cNvSpPr txBox="1"/>
          <p:nvPr/>
        </p:nvSpPr>
        <p:spPr>
          <a:xfrm>
            <a:off x="1115568" y="3794760"/>
            <a:ext cx="7498080" cy="310896"/>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The crowd-sourced perception study</a:t>
            </a:r>
            <a:endParaRPr lang="en-US" sz="1600" dirty="0"/>
          </a:p>
        </p:txBody>
      </p:sp>
      <p:sp>
        <p:nvSpPr>
          <p:cNvPr id="26" name="Text 24"/>
          <p:cNvSpPr txBox="1"/>
          <p:nvPr/>
        </p:nvSpPr>
        <p:spPr>
          <a:xfrm>
            <a:off x="1115568" y="4105656"/>
            <a:ext cx="8138160" cy="274320"/>
          </a:xfrm>
          <a:prstGeom prst="rect">
            <a:avLst/>
          </a:prstGeom>
          <a:noFill/>
          <a:ln/>
        </p:spPr>
        <p:txBody>
          <a:bodyPr wrap="square" lIns="0" tIns="0" rIns="0" bIns="0" rtlCol="0" anchor="ctr"/>
          <a:lstStyle/>
          <a:p>
            <a:pPr indent="0" marL="0">
              <a:buNone/>
            </a:pPr>
            <a:r>
              <a:rPr lang="en-US" sz="1200" dirty="0">
                <a:solidFill>
                  <a:srgbClr val="6B5A61"/>
                </a:solidFill>
                <a:latin typeface="Calibri" pitchFamily="34" charset="0"/>
                <a:ea typeface="Calibri" pitchFamily="34" charset="-122"/>
                <a:cs typeface="Calibri" pitchFamily="34" charset="-120"/>
              </a:rPr>
              <a:t>2,443 raters and three presentation modalities</a:t>
            </a:r>
            <a:endParaRPr lang="en-US" sz="1200" dirty="0"/>
          </a:p>
        </p:txBody>
      </p:sp>
      <p:sp>
        <p:nvSpPr>
          <p:cNvPr id="27" name="Text 25"/>
          <p:cNvSpPr txBox="1"/>
          <p:nvPr/>
        </p:nvSpPr>
        <p:spPr>
          <a:xfrm>
            <a:off x="9692640" y="3867912"/>
            <a:ext cx="1737360" cy="310896"/>
          </a:xfrm>
          <a:prstGeom prst="rect">
            <a:avLst/>
          </a:prstGeom>
          <a:noFill/>
          <a:ln/>
        </p:spPr>
        <p:txBody>
          <a:bodyPr wrap="square" lIns="0" tIns="0" rIns="0" bIns="0" rtlCol="0" anchor="ctr"/>
          <a:lstStyle/>
          <a:p>
            <a:pPr algn="r" indent="0" marL="0">
              <a:buNone/>
            </a:pPr>
            <a:r>
              <a:rPr lang="en-US" sz="1300" b="1" dirty="0">
                <a:solidFill>
                  <a:srgbClr val="C08A2E"/>
                </a:solidFill>
                <a:latin typeface="Calibri" pitchFamily="34" charset="0"/>
                <a:ea typeface="Calibri" pitchFamily="34" charset="-122"/>
                <a:cs typeface="Calibri" pitchFamily="34" charset="-120"/>
              </a:rPr>
              <a:t>7 min</a:t>
            </a:r>
            <a:endParaRPr lang="en-US" sz="1300" dirty="0"/>
          </a:p>
        </p:txBody>
      </p:sp>
      <p:sp>
        <p:nvSpPr>
          <p:cNvPr id="28" name="Shape 26"/>
          <p:cNvSpPr/>
          <p:nvPr/>
        </p:nvSpPr>
        <p:spPr>
          <a:xfrm>
            <a:off x="566928" y="4599432"/>
            <a:ext cx="402336" cy="402336"/>
          </a:xfrm>
          <a:prstGeom prst="ellipse">
            <a:avLst/>
          </a:prstGeom>
          <a:solidFill>
            <a:srgbClr val="6D2E46"/>
          </a:solidFill>
          <a:ln w="12700">
            <a:solidFill>
              <a:srgbClr val="333333"/>
            </a:solidFill>
            <a:prstDash val="solid"/>
          </a:ln>
        </p:spPr>
      </p:sp>
      <p:sp>
        <p:nvSpPr>
          <p:cNvPr id="29" name="Text 27"/>
          <p:cNvSpPr txBox="1"/>
          <p:nvPr/>
        </p:nvSpPr>
        <p:spPr>
          <a:xfrm>
            <a:off x="566928" y="4626864"/>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0" name="Text 28"/>
          <p:cNvSpPr txBox="1"/>
          <p:nvPr/>
        </p:nvSpPr>
        <p:spPr>
          <a:xfrm>
            <a:off x="1115568" y="4553712"/>
            <a:ext cx="7498080" cy="310896"/>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Results</a:t>
            </a:r>
            <a:endParaRPr lang="en-US" sz="1600" dirty="0"/>
          </a:p>
        </p:txBody>
      </p:sp>
      <p:sp>
        <p:nvSpPr>
          <p:cNvPr id="31" name="Text 29"/>
          <p:cNvSpPr txBox="1"/>
          <p:nvPr/>
        </p:nvSpPr>
        <p:spPr>
          <a:xfrm>
            <a:off x="1115568" y="4864608"/>
            <a:ext cx="8138160" cy="274320"/>
          </a:xfrm>
          <a:prstGeom prst="rect">
            <a:avLst/>
          </a:prstGeom>
          <a:noFill/>
          <a:ln/>
        </p:spPr>
        <p:txBody>
          <a:bodyPr wrap="square" lIns="0" tIns="0" rIns="0" bIns="0" rtlCol="0" anchor="ctr"/>
          <a:lstStyle/>
          <a:p>
            <a:pPr indent="0" marL="0">
              <a:buNone/>
            </a:pPr>
            <a:r>
              <a:rPr lang="en-US" sz="1200" dirty="0">
                <a:solidFill>
                  <a:srgbClr val="6B5A61"/>
                </a:solidFill>
                <a:latin typeface="Calibri" pitchFamily="34" charset="0"/>
                <a:ea typeface="Calibri" pitchFamily="34" charset="-122"/>
                <a:cs typeface="Calibri" pitchFamily="34" charset="-120"/>
              </a:rPr>
              <a:t>Modality, emotion category, and perceived intensity</a:t>
            </a:r>
            <a:endParaRPr lang="en-US" sz="1200" dirty="0"/>
          </a:p>
        </p:txBody>
      </p:sp>
      <p:sp>
        <p:nvSpPr>
          <p:cNvPr id="32" name="Text 30"/>
          <p:cNvSpPr txBox="1"/>
          <p:nvPr/>
        </p:nvSpPr>
        <p:spPr>
          <a:xfrm>
            <a:off x="9692640" y="4626864"/>
            <a:ext cx="1737360" cy="310896"/>
          </a:xfrm>
          <a:prstGeom prst="rect">
            <a:avLst/>
          </a:prstGeom>
          <a:noFill/>
          <a:ln/>
        </p:spPr>
        <p:txBody>
          <a:bodyPr wrap="square" lIns="0" tIns="0" rIns="0" bIns="0" rtlCol="0" anchor="ctr"/>
          <a:lstStyle/>
          <a:p>
            <a:pPr algn="r" indent="0" marL="0">
              <a:buNone/>
            </a:pPr>
            <a:r>
              <a:rPr lang="en-US" sz="1300" b="1" dirty="0">
                <a:solidFill>
                  <a:srgbClr val="C08A2E"/>
                </a:solidFill>
                <a:latin typeface="Calibri" pitchFamily="34" charset="0"/>
                <a:ea typeface="Calibri" pitchFamily="34" charset="-122"/>
                <a:cs typeface="Calibri" pitchFamily="34" charset="-120"/>
              </a:rPr>
              <a:t>7 min</a:t>
            </a:r>
            <a:endParaRPr lang="en-US" sz="1300" dirty="0"/>
          </a:p>
        </p:txBody>
      </p:sp>
      <p:sp>
        <p:nvSpPr>
          <p:cNvPr id="33" name="Shape 31"/>
          <p:cNvSpPr/>
          <p:nvPr/>
        </p:nvSpPr>
        <p:spPr>
          <a:xfrm>
            <a:off x="566928" y="5358384"/>
            <a:ext cx="402336" cy="402336"/>
          </a:xfrm>
          <a:prstGeom prst="ellipse">
            <a:avLst/>
          </a:prstGeom>
          <a:solidFill>
            <a:srgbClr val="6D2E46"/>
          </a:solidFill>
          <a:ln w="12700">
            <a:solidFill>
              <a:srgbClr val="333333"/>
            </a:solidFill>
            <a:prstDash val="solid"/>
          </a:ln>
        </p:spPr>
      </p:sp>
      <p:sp>
        <p:nvSpPr>
          <p:cNvPr id="34" name="Text 32"/>
          <p:cNvSpPr txBox="1"/>
          <p:nvPr/>
        </p:nvSpPr>
        <p:spPr>
          <a:xfrm>
            <a:off x="566928" y="5385816"/>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5" name="Text 33"/>
          <p:cNvSpPr txBox="1"/>
          <p:nvPr/>
        </p:nvSpPr>
        <p:spPr>
          <a:xfrm>
            <a:off x="1115568" y="5312664"/>
            <a:ext cx="7498080" cy="310896"/>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Comparison and appraisal</a:t>
            </a:r>
            <a:endParaRPr lang="en-US" sz="1600" dirty="0"/>
          </a:p>
        </p:txBody>
      </p:sp>
      <p:sp>
        <p:nvSpPr>
          <p:cNvPr id="36" name="Text 34"/>
          <p:cNvSpPr txBox="1"/>
          <p:nvPr/>
        </p:nvSpPr>
        <p:spPr>
          <a:xfrm>
            <a:off x="1115568" y="5623560"/>
            <a:ext cx="8138160" cy="274320"/>
          </a:xfrm>
          <a:prstGeom prst="rect">
            <a:avLst/>
          </a:prstGeom>
          <a:noFill/>
          <a:ln/>
        </p:spPr>
        <p:txBody>
          <a:bodyPr wrap="square" lIns="0" tIns="0" rIns="0" bIns="0" rtlCol="0" anchor="ctr"/>
          <a:lstStyle/>
          <a:p>
            <a:pPr indent="0" marL="0">
              <a:buNone/>
            </a:pPr>
            <a:r>
              <a:rPr lang="en-US" sz="1200" dirty="0">
                <a:solidFill>
                  <a:srgbClr val="6B5A61"/>
                </a:solidFill>
                <a:latin typeface="Calibri" pitchFamily="34" charset="0"/>
                <a:ea typeface="Calibri" pitchFamily="34" charset="-122"/>
                <a:cs typeface="Calibri" pitchFamily="34" charset="-120"/>
              </a:rPr>
              <a:t>CREMA-D against IEMOCAP; strengths and limits</a:t>
            </a:r>
            <a:endParaRPr lang="en-US" sz="1200" dirty="0"/>
          </a:p>
        </p:txBody>
      </p:sp>
      <p:sp>
        <p:nvSpPr>
          <p:cNvPr id="37" name="Text 35"/>
          <p:cNvSpPr txBox="1"/>
          <p:nvPr/>
        </p:nvSpPr>
        <p:spPr>
          <a:xfrm>
            <a:off x="9692640" y="5385816"/>
            <a:ext cx="1737360" cy="310896"/>
          </a:xfrm>
          <a:prstGeom prst="rect">
            <a:avLst/>
          </a:prstGeom>
          <a:noFill/>
          <a:ln/>
        </p:spPr>
        <p:txBody>
          <a:bodyPr wrap="square" lIns="0" tIns="0" rIns="0" bIns="0" rtlCol="0" anchor="ctr"/>
          <a:lstStyle/>
          <a:p>
            <a:pPr algn="r" indent="0" marL="0">
              <a:buNone/>
            </a:pPr>
            <a:r>
              <a:rPr lang="en-US" sz="1300" b="1" dirty="0">
                <a:solidFill>
                  <a:srgbClr val="C08A2E"/>
                </a:solidFill>
                <a:latin typeface="Calibri" pitchFamily="34" charset="0"/>
                <a:ea typeface="Calibri" pitchFamily="34" charset="-122"/>
                <a:cs typeface="Calibri" pitchFamily="34" charset="-120"/>
              </a:rPr>
              <a:t>5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Where we left off</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Three things IEMOCAP could not tell us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3</a:t>
            </a:r>
            <a:endParaRPr lang="en-US" sz="900" dirty="0"/>
          </a:p>
        </p:txBody>
      </p:sp>
      <p:sp>
        <p:nvSpPr>
          <p:cNvPr id="8" name="Shape 6"/>
          <p:cNvSpPr/>
          <p:nvPr/>
        </p:nvSpPr>
        <p:spPr>
          <a:xfrm>
            <a:off x="566928" y="1572768"/>
            <a:ext cx="3584448" cy="2286000"/>
          </a:xfrm>
          <a:prstGeom prst="roundRect">
            <a:avLst>
              <a:gd name="adj" fmla="val 2400"/>
            </a:avLst>
          </a:prstGeom>
          <a:solidFill>
            <a:srgbClr val="F7F2F4"/>
          </a:solidFill>
          <a:ln w="12700">
            <a:solidFill>
              <a:srgbClr val="EADDE2"/>
            </a:solidFill>
            <a:prstDash val="solid"/>
          </a:ln>
        </p:spPr>
      </p:sp>
      <p:sp>
        <p:nvSpPr>
          <p:cNvPr id="9" name="Shape 7"/>
          <p:cNvSpPr/>
          <p:nvPr/>
        </p:nvSpPr>
        <p:spPr>
          <a:xfrm>
            <a:off x="786384" y="1865376"/>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37360"/>
            <a:ext cx="2944368" cy="365760"/>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Who is speaking</a:t>
            </a:r>
            <a:endParaRPr lang="en-US" sz="1600" dirty="0"/>
          </a:p>
        </p:txBody>
      </p:sp>
      <p:sp>
        <p:nvSpPr>
          <p:cNvPr id="11" name="Text 9"/>
          <p:cNvSpPr txBox="1"/>
          <p:nvPr/>
        </p:nvSpPr>
        <p:spPr>
          <a:xfrm>
            <a:off x="822960" y="2176272"/>
            <a:ext cx="3072384" cy="149961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Ten actors, all English-speaking, all recruited from one university drama department. No purchase on how emotional expression varies with age, sex or background.</a:t>
            </a:r>
            <a:endParaRPr lang="en-US" sz="1260" dirty="0"/>
          </a:p>
        </p:txBody>
      </p:sp>
      <p:sp>
        <p:nvSpPr>
          <p:cNvPr id="12" name="Shape 10"/>
          <p:cNvSpPr/>
          <p:nvPr/>
        </p:nvSpPr>
        <p:spPr>
          <a:xfrm>
            <a:off x="4279392" y="1572768"/>
            <a:ext cx="3584448" cy="2286000"/>
          </a:xfrm>
          <a:prstGeom prst="roundRect">
            <a:avLst>
              <a:gd name="adj" fmla="val 2400"/>
            </a:avLst>
          </a:prstGeom>
          <a:solidFill>
            <a:srgbClr val="F7F2F4"/>
          </a:solidFill>
          <a:ln w="12700">
            <a:solidFill>
              <a:srgbClr val="EADDE2"/>
            </a:solidFill>
            <a:prstDash val="solid"/>
          </a:ln>
        </p:spPr>
      </p:sp>
      <p:sp>
        <p:nvSpPr>
          <p:cNvPr id="13" name="Shape 11"/>
          <p:cNvSpPr/>
          <p:nvPr/>
        </p:nvSpPr>
        <p:spPr>
          <a:xfrm>
            <a:off x="4498848" y="1865376"/>
            <a:ext cx="109728" cy="109728"/>
          </a:xfrm>
          <a:prstGeom prst="ellipse">
            <a:avLst/>
          </a:prstGeom>
          <a:solidFill>
            <a:srgbClr val="C08A2E"/>
          </a:solidFill>
          <a:ln w="12700">
            <a:solidFill>
              <a:srgbClr val="333333"/>
            </a:solidFill>
            <a:prstDash val="solid"/>
          </a:ln>
        </p:spPr>
      </p:sp>
      <p:sp>
        <p:nvSpPr>
          <p:cNvPr id="14" name="Text 12"/>
          <p:cNvSpPr txBox="1"/>
          <p:nvPr/>
        </p:nvSpPr>
        <p:spPr>
          <a:xfrm>
            <a:off x="4700016" y="1737360"/>
            <a:ext cx="2944368" cy="365760"/>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What is being said</a:t>
            </a:r>
            <a:endParaRPr lang="en-US" sz="1600" dirty="0"/>
          </a:p>
        </p:txBody>
      </p:sp>
      <p:sp>
        <p:nvSpPr>
          <p:cNvPr id="15" name="Text 13"/>
          <p:cNvSpPr txBox="1"/>
          <p:nvPr/>
        </p:nvSpPr>
        <p:spPr>
          <a:xfrm>
            <a:off x="4535424" y="2176272"/>
            <a:ext cx="3072384" cy="149961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Emotion and lexical content are entangled: people say different things when they are angry than when they are sad, so a model may be reading the words.</a:t>
            </a:r>
            <a:endParaRPr lang="en-US" sz="1260" dirty="0"/>
          </a:p>
        </p:txBody>
      </p:sp>
      <p:sp>
        <p:nvSpPr>
          <p:cNvPr id="16" name="Shape 14"/>
          <p:cNvSpPr/>
          <p:nvPr/>
        </p:nvSpPr>
        <p:spPr>
          <a:xfrm>
            <a:off x="7991856" y="1572768"/>
            <a:ext cx="3584448" cy="2286000"/>
          </a:xfrm>
          <a:prstGeom prst="roundRect">
            <a:avLst>
              <a:gd name="adj" fmla="val 2400"/>
            </a:avLst>
          </a:prstGeom>
          <a:solidFill>
            <a:srgbClr val="F7F2F4"/>
          </a:solidFill>
          <a:ln w="12700">
            <a:solidFill>
              <a:srgbClr val="EADDE2"/>
            </a:solidFill>
            <a:prstDash val="solid"/>
          </a:ln>
        </p:spPr>
      </p:sp>
      <p:sp>
        <p:nvSpPr>
          <p:cNvPr id="17" name="Shape 15"/>
          <p:cNvSpPr/>
          <p:nvPr/>
        </p:nvSpPr>
        <p:spPr>
          <a:xfrm>
            <a:off x="8211312" y="1865376"/>
            <a:ext cx="109728" cy="109728"/>
          </a:xfrm>
          <a:prstGeom prst="ellipse">
            <a:avLst/>
          </a:prstGeom>
          <a:solidFill>
            <a:srgbClr val="3D7068"/>
          </a:solidFill>
          <a:ln w="12700">
            <a:solidFill>
              <a:srgbClr val="333333"/>
            </a:solidFill>
            <a:prstDash val="solid"/>
          </a:ln>
        </p:spPr>
      </p:sp>
      <p:sp>
        <p:nvSpPr>
          <p:cNvPr id="18" name="Text 16"/>
          <p:cNvSpPr txBox="1"/>
          <p:nvPr/>
        </p:nvSpPr>
        <p:spPr>
          <a:xfrm>
            <a:off x="8412480" y="1737360"/>
            <a:ext cx="2944368" cy="365760"/>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Which channel carries it</a:t>
            </a:r>
            <a:endParaRPr lang="en-US" sz="1600" dirty="0"/>
          </a:p>
        </p:txBody>
      </p:sp>
      <p:sp>
        <p:nvSpPr>
          <p:cNvPr id="19" name="Text 17"/>
          <p:cNvSpPr txBox="1"/>
          <p:nvPr/>
        </p:nvSpPr>
        <p:spPr>
          <a:xfrm>
            <a:off x="8247888" y="2176272"/>
            <a:ext cx="3072384" cy="149961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Every rater saw and heard each turn together. The corpus therefore cannot say how much emotion is in the voice and how much is in the face.</a:t>
            </a:r>
            <a:endParaRPr lang="en-US" sz="1260" dirty="0"/>
          </a:p>
        </p:txBody>
      </p:sp>
      <p:sp>
        <p:nvSpPr>
          <p:cNvPr id="20" name="Shape 18"/>
          <p:cNvSpPr/>
          <p:nvPr/>
        </p:nvSpPr>
        <p:spPr>
          <a:xfrm>
            <a:off x="566928" y="4078224"/>
            <a:ext cx="11064240" cy="1920240"/>
          </a:xfrm>
          <a:prstGeom prst="roundRect">
            <a:avLst>
              <a:gd name="adj" fmla="val 2857"/>
            </a:avLst>
          </a:prstGeom>
          <a:solidFill>
            <a:srgbClr val="4A1E30"/>
          </a:solidFill>
          <a:ln w="12700">
            <a:solidFill>
              <a:srgbClr val="4A1E30"/>
            </a:solidFill>
            <a:prstDash val="solid"/>
          </a:ln>
        </p:spPr>
      </p:sp>
      <p:sp>
        <p:nvSpPr>
          <p:cNvPr id="21" name="Shape 19"/>
          <p:cNvSpPr/>
          <p:nvPr/>
        </p:nvSpPr>
        <p:spPr>
          <a:xfrm>
            <a:off x="786384" y="4370832"/>
            <a:ext cx="109728" cy="109728"/>
          </a:xfrm>
          <a:prstGeom prst="ellipse">
            <a:avLst/>
          </a:prstGeom>
          <a:solidFill>
            <a:srgbClr val="C08A2E"/>
          </a:solidFill>
          <a:ln w="12700">
            <a:solidFill>
              <a:srgbClr val="333333"/>
            </a:solidFill>
            <a:prstDash val="solid"/>
          </a:ln>
        </p:spPr>
      </p:sp>
      <p:sp>
        <p:nvSpPr>
          <p:cNvPr id="22" name="Text 20"/>
          <p:cNvSpPr txBox="1"/>
          <p:nvPr/>
        </p:nvSpPr>
        <p:spPr>
          <a:xfrm>
            <a:off x="987552" y="4242816"/>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CREMA-D's answer to all three</a:t>
            </a:r>
            <a:endParaRPr lang="en-US" sz="1550" dirty="0"/>
          </a:p>
        </p:txBody>
      </p:sp>
      <p:sp>
        <p:nvSpPr>
          <p:cNvPr id="23" name="Text 21"/>
          <p:cNvSpPr txBox="1"/>
          <p:nvPr/>
        </p:nvSpPr>
        <p:spPr>
          <a:xfrm>
            <a:off x="822960" y="4681728"/>
            <a:ext cx="10552176" cy="1133856"/>
          </a:xfrm>
          <a:prstGeom prst="rect">
            <a:avLst/>
          </a:prstGeom>
          <a:noFill/>
          <a:ln/>
        </p:spPr>
        <p:txBody>
          <a:bodyPr wrap="square" lIns="0" tIns="0" rIns="0" bIns="0" rtlCol="0" anchor="t"/>
          <a:lstStyle/>
          <a:p>
            <a:pPr indent="0" marL="0">
              <a:lnSpc>
                <a:spcPct val="108000"/>
              </a:lnSpc>
              <a:buNone/>
            </a:pPr>
            <a:r>
              <a:rPr lang="en-US" sz="1320" dirty="0">
                <a:solidFill>
                  <a:srgbClr val="E7D5DA"/>
                </a:solidFill>
                <a:latin typeface="Calibri" pitchFamily="34" charset="0"/>
                <a:ea typeface="Calibri" pitchFamily="34" charset="-122"/>
                <a:cs typeface="Calibri" pitchFamily="34" charset="-120"/>
              </a:rPr>
              <a:t>Recruit ninety-one actors spanning ages twenty to seventy-four and five racial and ethnic groups. Fix the linguistic content to twelve sentences with deliberately neutral meaning, so that every emotion is carried by delivery alone. Then present each clip to raters three separate ways — voice only, face only, and both together — and measure how well each channel communicates.</a:t>
            </a:r>
            <a:endParaRPr lang="en-US" sz="1320" dirty="0"/>
          </a:p>
          <a:p>
            <a:pPr indent="0" marL="0">
              <a:lnSpc>
                <a:spcPct val="108000"/>
              </a:lnSpc>
              <a:buNone/>
            </a:pPr>
            <a:endParaRPr lang="en-US" sz="1320" dirty="0"/>
          </a:p>
          <a:p>
            <a:pPr indent="0" marL="0">
              <a:lnSpc>
                <a:spcPct val="108000"/>
              </a:lnSpc>
              <a:buNone/>
            </a:pPr>
            <a:r>
              <a:rPr lang="en-US" sz="1320" dirty="0">
                <a:solidFill>
                  <a:srgbClr val="E7D5DA"/>
                </a:solidFill>
                <a:latin typeface="Calibri" pitchFamily="34" charset="0"/>
                <a:ea typeface="Calibri" pitchFamily="34" charset="-122"/>
                <a:cs typeface="Calibri" pitchFamily="34" charset="-120"/>
              </a:rPr>
              <a:t>The price: no dialogue, no partner, no context, and clips lasting a couple of seconds.</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A corpus built for two audiences at once</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Which explains several design choices that look odd from a machine-learning perspective</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4</a:t>
            </a:r>
            <a:endParaRPr lang="en-US" sz="900" dirty="0"/>
          </a:p>
        </p:txBody>
      </p:sp>
      <p:sp>
        <p:nvSpPr>
          <p:cNvPr id="8" name="Shape 6"/>
          <p:cNvSpPr/>
          <p:nvPr/>
        </p:nvSpPr>
        <p:spPr>
          <a:xfrm>
            <a:off x="566928" y="1572768"/>
            <a:ext cx="5440680" cy="2331720"/>
          </a:xfrm>
          <a:prstGeom prst="roundRect">
            <a:avLst>
              <a:gd name="adj" fmla="val 2353"/>
            </a:avLst>
          </a:prstGeom>
          <a:solidFill>
            <a:srgbClr val="F7F2F4"/>
          </a:solidFill>
          <a:ln w="12700">
            <a:solidFill>
              <a:srgbClr val="EADDE2"/>
            </a:solidFill>
            <a:prstDash val="solid"/>
          </a:ln>
        </p:spPr>
      </p:sp>
      <p:sp>
        <p:nvSpPr>
          <p:cNvPr id="9" name="Shape 7"/>
          <p:cNvSpPr/>
          <p:nvPr/>
        </p:nvSpPr>
        <p:spPr>
          <a:xfrm>
            <a:off x="786384" y="1865376"/>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37360"/>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Affective computing</a:t>
            </a:r>
            <a:endParaRPr lang="en-US" sz="1550" dirty="0"/>
          </a:p>
        </p:txBody>
      </p:sp>
      <p:sp>
        <p:nvSpPr>
          <p:cNvPr id="11" name="Text 9"/>
          <p:cNvSpPr txBox="1"/>
          <p:nvPr/>
        </p:nvSpPr>
        <p:spPr>
          <a:xfrm>
            <a:off x="822960" y="2176272"/>
            <a:ext cx="4928616" cy="154533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A large, balanced, freely redistributable training set for audio, visual and audio-visual emotion recognition — with far more speakers than anything then available, and with human perceptual judgements attached to every clip rather than just the director's intent.</a:t>
            </a:r>
            <a:endParaRPr lang="en-US" sz="1280" dirty="0"/>
          </a:p>
        </p:txBody>
      </p:sp>
      <p:sp>
        <p:nvSpPr>
          <p:cNvPr id="12" name="Shape 10"/>
          <p:cNvSpPr/>
          <p:nvPr/>
        </p:nvSpPr>
        <p:spPr>
          <a:xfrm>
            <a:off x="6190488" y="1572768"/>
            <a:ext cx="5440680" cy="2331720"/>
          </a:xfrm>
          <a:prstGeom prst="roundRect">
            <a:avLst>
              <a:gd name="adj" fmla="val 2353"/>
            </a:avLst>
          </a:prstGeom>
          <a:solidFill>
            <a:srgbClr val="F7F2F4"/>
          </a:solidFill>
          <a:ln w="12700">
            <a:solidFill>
              <a:srgbClr val="EADDE2"/>
            </a:solidFill>
            <a:prstDash val="solid"/>
          </a:ln>
        </p:spPr>
      </p:sp>
      <p:sp>
        <p:nvSpPr>
          <p:cNvPr id="13" name="Shape 11"/>
          <p:cNvSpPr/>
          <p:nvPr/>
        </p:nvSpPr>
        <p:spPr>
          <a:xfrm>
            <a:off x="6409944" y="1865376"/>
            <a:ext cx="109728" cy="109728"/>
          </a:xfrm>
          <a:prstGeom prst="ellipse">
            <a:avLst/>
          </a:prstGeom>
          <a:solidFill>
            <a:srgbClr val="3D7068"/>
          </a:solidFill>
          <a:ln w="12700">
            <a:solidFill>
              <a:srgbClr val="333333"/>
            </a:solidFill>
            <a:prstDash val="solid"/>
          </a:ln>
        </p:spPr>
      </p:sp>
      <p:sp>
        <p:nvSpPr>
          <p:cNvPr id="14" name="Text 12"/>
          <p:cNvSpPr txBox="1"/>
          <p:nvPr/>
        </p:nvSpPr>
        <p:spPr>
          <a:xfrm>
            <a:off x="6611112" y="1737360"/>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Clinical neuroscience</a:t>
            </a:r>
            <a:endParaRPr lang="en-US" sz="1550" dirty="0"/>
          </a:p>
        </p:txBody>
      </p:sp>
      <p:sp>
        <p:nvSpPr>
          <p:cNvPr id="15" name="Text 13"/>
          <p:cNvSpPr txBox="1"/>
          <p:nvPr/>
        </p:nvSpPr>
        <p:spPr>
          <a:xfrm>
            <a:off x="6446520" y="2176272"/>
            <a:ext cx="4928616" cy="154533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A validated stimulus set for studies of social cognition. Emotion-recognition deficits are characteristic of schizophrenia and of several other conditions, and testing for them requires stimuli whose difficulty and perceptual properties are already quantified in a healthy population.</a:t>
            </a:r>
            <a:endParaRPr lang="en-US" sz="1280" dirty="0"/>
          </a:p>
        </p:txBody>
      </p:sp>
      <p:sp>
        <p:nvSpPr>
          <p:cNvPr id="16" name="Shape 14"/>
          <p:cNvSpPr/>
          <p:nvPr/>
        </p:nvSpPr>
        <p:spPr>
          <a:xfrm>
            <a:off x="566928" y="4133088"/>
            <a:ext cx="11064240" cy="1892808"/>
          </a:xfrm>
          <a:prstGeom prst="roundRect">
            <a:avLst>
              <a:gd name="adj" fmla="val 2899"/>
            </a:avLst>
          </a:prstGeom>
          <a:solidFill>
            <a:srgbClr val="4A1E30"/>
          </a:solidFill>
          <a:ln w="12700">
            <a:solidFill>
              <a:srgbClr val="4A1E30"/>
            </a:solidFill>
            <a:prstDash val="solid"/>
          </a:ln>
        </p:spPr>
      </p:sp>
      <p:sp>
        <p:nvSpPr>
          <p:cNvPr id="17" name="Shape 15"/>
          <p:cNvSpPr/>
          <p:nvPr/>
        </p:nvSpPr>
        <p:spPr>
          <a:xfrm>
            <a:off x="786384" y="4425696"/>
            <a:ext cx="109728" cy="109728"/>
          </a:xfrm>
          <a:prstGeom prst="ellipse">
            <a:avLst/>
          </a:prstGeom>
          <a:solidFill>
            <a:srgbClr val="C08A2E"/>
          </a:solidFill>
          <a:ln w="12700">
            <a:solidFill>
              <a:srgbClr val="333333"/>
            </a:solidFill>
            <a:prstDash val="solid"/>
          </a:ln>
        </p:spPr>
      </p:sp>
      <p:sp>
        <p:nvSpPr>
          <p:cNvPr id="18" name="Text 16"/>
          <p:cNvSpPr txBox="1"/>
          <p:nvPr/>
        </p:nvSpPr>
        <p:spPr>
          <a:xfrm>
            <a:off x="987552" y="4297680"/>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Why this matters for how we read the paper</a:t>
            </a:r>
            <a:endParaRPr lang="en-US" sz="1550" dirty="0"/>
          </a:p>
        </p:txBody>
      </p:sp>
      <p:sp>
        <p:nvSpPr>
          <p:cNvPr id="19" name="Text 17"/>
          <p:cNvSpPr txBox="1"/>
          <p:nvPr/>
        </p:nvSpPr>
        <p:spPr>
          <a:xfrm>
            <a:off x="822960" y="4736592"/>
            <a:ext cx="10552176" cy="1106424"/>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A clinical stimulus set has requirements a training corpus does not: every item must be short, isolated and comparable to every other item; the linguistic content must not vary; and you need to know in advance how a healthy population perceives each item, so that a patient's response can be scored against it.</a:t>
            </a:r>
            <a:endParaRPr lang="en-US" sz="1300" dirty="0"/>
          </a:p>
          <a:p>
            <a:pPr indent="0" marL="0">
              <a:lnSpc>
                <a:spcPct val="108000"/>
              </a:lnSpc>
              <a:buNone/>
            </a:pPr>
            <a:endParaRPr lang="en-US" sz="1300" dirty="0"/>
          </a:p>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Those requirements produce exactly the design we are about to see. The absence of dialogue is not an oversight — it would make the stimuli unusable for the clinical purpose.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1E30"/>
        </a:solidFill>
      </p:bgPr>
    </p:bg>
    <p:spTree>
      <p:nvGrpSpPr>
        <p:cNvPr id="1" name=""/>
        <p:cNvGrpSpPr/>
        <p:nvPr/>
      </p:nvGrpSpPr>
      <p:grpSpPr>
        <a:xfrm>
          <a:off x="0" y="0"/>
          <a:ext cx="0" cy="0"/>
          <a:chOff x="0" y="0"/>
          <a:chExt cx="0" cy="0"/>
        </a:xfrm>
      </p:grpSpPr>
      <p:sp>
        <p:nvSpPr>
          <p:cNvPr id="2" name="Shape 0"/>
          <p:cNvSpPr/>
          <p:nvPr/>
        </p:nvSpPr>
        <p:spPr>
          <a:xfrm>
            <a:off x="10561320" y="5349240"/>
            <a:ext cx="155448" cy="155448"/>
          </a:xfrm>
          <a:prstGeom prst="ellipse">
            <a:avLst/>
          </a:prstGeom>
          <a:solidFill>
            <a:srgbClr val="6D2E46"/>
          </a:solidFill>
          <a:ln w="12700">
            <a:solidFill>
              <a:srgbClr val="333333"/>
            </a:solidFill>
            <a:prstDash val="solid"/>
          </a:ln>
        </p:spPr>
      </p:sp>
      <p:sp>
        <p:nvSpPr>
          <p:cNvPr id="3" name="Shape 1"/>
          <p:cNvSpPr/>
          <p:nvPr/>
        </p:nvSpPr>
        <p:spPr>
          <a:xfrm>
            <a:off x="10794492" y="5349240"/>
            <a:ext cx="155448" cy="155448"/>
          </a:xfrm>
          <a:prstGeom prst="ellipse">
            <a:avLst/>
          </a:prstGeom>
          <a:solidFill>
            <a:srgbClr val="C08A2E"/>
          </a:solidFill>
          <a:ln w="12700">
            <a:solidFill>
              <a:srgbClr val="333333"/>
            </a:solidFill>
            <a:prstDash val="solid"/>
          </a:ln>
        </p:spPr>
      </p:sp>
      <p:sp>
        <p:nvSpPr>
          <p:cNvPr id="4" name="Shape 2"/>
          <p:cNvSpPr/>
          <p:nvPr/>
        </p:nvSpPr>
        <p:spPr>
          <a:xfrm>
            <a:off x="11027664" y="5349240"/>
            <a:ext cx="155448" cy="155448"/>
          </a:xfrm>
          <a:prstGeom prst="ellipse">
            <a:avLst/>
          </a:prstGeom>
          <a:solidFill>
            <a:srgbClr val="3D7068"/>
          </a:solidFill>
          <a:ln w="12700">
            <a:solidFill>
              <a:srgbClr val="333333"/>
            </a:solidFill>
            <a:prstDash val="solid"/>
          </a:ln>
        </p:spPr>
      </p:sp>
      <p:sp>
        <p:nvSpPr>
          <p:cNvPr id="5" name="Text 3"/>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C08A2E"/>
                </a:solidFill>
                <a:latin typeface="Cambria" pitchFamily="34" charset="0"/>
                <a:ea typeface="Cambria" pitchFamily="34" charset="-122"/>
                <a:cs typeface="Cambria" pitchFamily="34" charset="-120"/>
              </a:rPr>
              <a:t>1</a:t>
            </a:r>
            <a:endParaRPr lang="en-US" sz="6800" dirty="0"/>
          </a:p>
        </p:txBody>
      </p:sp>
      <p:sp>
        <p:nvSpPr>
          <p:cNvPr id="6" name="Text 4"/>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Corpus specification</a:t>
            </a:r>
            <a:endParaRPr lang="en-US" sz="3400" dirty="0"/>
          </a:p>
        </p:txBody>
      </p:sp>
      <p:sp>
        <p:nvSpPr>
          <p:cNvPr id="7" name="Text 5"/>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E7D5DA"/>
                </a:solidFill>
                <a:latin typeface="Calibri" pitchFamily="34" charset="0"/>
                <a:ea typeface="Calibri" pitchFamily="34" charset="-122"/>
                <a:cs typeface="Calibri" pitchFamily="34" charset="-120"/>
              </a:rPr>
              <a:t>What is actually in the 7,442 clips</a:t>
            </a:r>
            <a:endParaRPr lang="en-US" sz="1500" dirty="0"/>
          </a:p>
        </p:txBody>
      </p:sp>
      <p:sp>
        <p:nvSpPr>
          <p:cNvPr id="8" name="Text 6"/>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The corpus in eight numbers</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Everything is released openly under an Open Database Licence</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6</a:t>
            </a:r>
            <a:endParaRPr lang="en-US" sz="900" dirty="0"/>
          </a:p>
        </p:txBody>
      </p:sp>
      <p:sp>
        <p:nvSpPr>
          <p:cNvPr id="8" name="Text 6"/>
          <p:cNvSpPr txBox="1"/>
          <p:nvPr/>
        </p:nvSpPr>
        <p:spPr>
          <a:xfrm>
            <a:off x="566928" y="1554480"/>
            <a:ext cx="2697480" cy="713232"/>
          </a:xfrm>
          <a:prstGeom prst="rect">
            <a:avLst/>
          </a:prstGeom>
          <a:noFill/>
          <a:ln/>
        </p:spPr>
        <p:txBody>
          <a:bodyPr wrap="square" lIns="0" tIns="0" rIns="0" bIns="0" rtlCol="0" anchor="ctr"/>
          <a:lstStyle/>
          <a:p>
            <a:pPr algn="ctr" indent="0" marL="0">
              <a:buNone/>
            </a:pPr>
            <a:r>
              <a:rPr lang="en-US" sz="3800" b="1" dirty="0">
                <a:solidFill>
                  <a:srgbClr val="6D2E46"/>
                </a:solidFill>
                <a:latin typeface="Cambria" pitchFamily="34" charset="0"/>
                <a:ea typeface="Cambria" pitchFamily="34" charset="-122"/>
                <a:cs typeface="Cambria" pitchFamily="34" charset="-120"/>
              </a:rPr>
              <a:t>7,442</a:t>
            </a:r>
            <a:endParaRPr lang="en-US" sz="3800" dirty="0"/>
          </a:p>
        </p:txBody>
      </p:sp>
      <p:sp>
        <p:nvSpPr>
          <p:cNvPr id="9" name="Text 7"/>
          <p:cNvSpPr txBox="1"/>
          <p:nvPr/>
        </p:nvSpPr>
        <p:spPr>
          <a:xfrm>
            <a:off x="566928" y="2267712"/>
            <a:ext cx="2697480"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audio-visual clips</a:t>
            </a:r>
            <a:endParaRPr lang="en-US" sz="1150" dirty="0"/>
          </a:p>
        </p:txBody>
      </p:sp>
      <p:sp>
        <p:nvSpPr>
          <p:cNvPr id="10" name="Text 8"/>
          <p:cNvSpPr txBox="1"/>
          <p:nvPr/>
        </p:nvSpPr>
        <p:spPr>
          <a:xfrm>
            <a:off x="3392424" y="1554480"/>
            <a:ext cx="2697480" cy="713232"/>
          </a:xfrm>
          <a:prstGeom prst="rect">
            <a:avLst/>
          </a:prstGeom>
          <a:noFill/>
          <a:ln/>
        </p:spPr>
        <p:txBody>
          <a:bodyPr wrap="square" lIns="0" tIns="0" rIns="0" bIns="0" rtlCol="0" anchor="ctr"/>
          <a:lstStyle/>
          <a:p>
            <a:pPr algn="ctr" indent="0" marL="0">
              <a:buNone/>
            </a:pPr>
            <a:r>
              <a:rPr lang="en-US" sz="3800" b="1" dirty="0">
                <a:solidFill>
                  <a:srgbClr val="C08A2E"/>
                </a:solidFill>
                <a:latin typeface="Cambria" pitchFamily="34" charset="0"/>
                <a:ea typeface="Cambria" pitchFamily="34" charset="-122"/>
                <a:cs typeface="Cambria" pitchFamily="34" charset="-120"/>
              </a:rPr>
              <a:t>91</a:t>
            </a:r>
            <a:endParaRPr lang="en-US" sz="3800" dirty="0"/>
          </a:p>
        </p:txBody>
      </p:sp>
      <p:sp>
        <p:nvSpPr>
          <p:cNvPr id="11" name="Text 9"/>
          <p:cNvSpPr txBox="1"/>
          <p:nvPr/>
        </p:nvSpPr>
        <p:spPr>
          <a:xfrm>
            <a:off x="3392424" y="2267712"/>
            <a:ext cx="2697480"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actors — 48 male, 43 female</a:t>
            </a:r>
            <a:endParaRPr lang="en-US" sz="1150" dirty="0"/>
          </a:p>
        </p:txBody>
      </p:sp>
      <p:sp>
        <p:nvSpPr>
          <p:cNvPr id="12" name="Text 10"/>
          <p:cNvSpPr txBox="1"/>
          <p:nvPr/>
        </p:nvSpPr>
        <p:spPr>
          <a:xfrm>
            <a:off x="6217920" y="1554480"/>
            <a:ext cx="2697480" cy="713232"/>
          </a:xfrm>
          <a:prstGeom prst="rect">
            <a:avLst/>
          </a:prstGeom>
          <a:noFill/>
          <a:ln/>
        </p:spPr>
        <p:txBody>
          <a:bodyPr wrap="square" lIns="0" tIns="0" rIns="0" bIns="0" rtlCol="0" anchor="ctr"/>
          <a:lstStyle/>
          <a:p>
            <a:pPr algn="ctr" indent="0" marL="0">
              <a:buNone/>
            </a:pPr>
            <a:r>
              <a:rPr lang="en-US" sz="3800" b="1" dirty="0">
                <a:solidFill>
                  <a:srgbClr val="3D7068"/>
                </a:solidFill>
                <a:latin typeface="Cambria" pitchFamily="34" charset="0"/>
                <a:ea typeface="Cambria" pitchFamily="34" charset="-122"/>
                <a:cs typeface="Cambria" pitchFamily="34" charset="-120"/>
              </a:rPr>
              <a:t>20–74</a:t>
            </a:r>
            <a:endParaRPr lang="en-US" sz="3800" dirty="0"/>
          </a:p>
        </p:txBody>
      </p:sp>
      <p:sp>
        <p:nvSpPr>
          <p:cNvPr id="13" name="Text 11"/>
          <p:cNvSpPr txBox="1"/>
          <p:nvPr/>
        </p:nvSpPr>
        <p:spPr>
          <a:xfrm>
            <a:off x="6217920" y="2267712"/>
            <a:ext cx="2697480"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age range, in years</a:t>
            </a:r>
            <a:endParaRPr lang="en-US" sz="1150" dirty="0"/>
          </a:p>
        </p:txBody>
      </p:sp>
      <p:sp>
        <p:nvSpPr>
          <p:cNvPr id="14" name="Text 12"/>
          <p:cNvSpPr txBox="1"/>
          <p:nvPr/>
        </p:nvSpPr>
        <p:spPr>
          <a:xfrm>
            <a:off x="9043416" y="1554480"/>
            <a:ext cx="2587752" cy="713232"/>
          </a:xfrm>
          <a:prstGeom prst="rect">
            <a:avLst/>
          </a:prstGeom>
          <a:noFill/>
          <a:ln/>
        </p:spPr>
        <p:txBody>
          <a:bodyPr wrap="square" lIns="0" tIns="0" rIns="0" bIns="0" rtlCol="0" anchor="ctr"/>
          <a:lstStyle/>
          <a:p>
            <a:pPr algn="ctr" indent="0" marL="0">
              <a:buNone/>
            </a:pPr>
            <a:r>
              <a:rPr lang="en-US" sz="3800" b="1" dirty="0">
                <a:solidFill>
                  <a:srgbClr val="6D2E46"/>
                </a:solidFill>
                <a:latin typeface="Cambria" pitchFamily="34" charset="0"/>
                <a:ea typeface="Cambria" pitchFamily="34" charset="-122"/>
                <a:cs typeface="Cambria" pitchFamily="34" charset="-120"/>
              </a:rPr>
              <a:t>5</a:t>
            </a:r>
            <a:endParaRPr lang="en-US" sz="3800" dirty="0"/>
          </a:p>
        </p:txBody>
      </p:sp>
      <p:sp>
        <p:nvSpPr>
          <p:cNvPr id="15" name="Text 13"/>
          <p:cNvSpPr txBox="1"/>
          <p:nvPr/>
        </p:nvSpPr>
        <p:spPr>
          <a:xfrm>
            <a:off x="9043416" y="2267712"/>
            <a:ext cx="2587752"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racial and ethnic groups</a:t>
            </a:r>
            <a:endParaRPr lang="en-US" sz="1150" dirty="0"/>
          </a:p>
          <a:p>
            <a:pPr algn="ctr" indent="0" marL="0">
              <a:buNone/>
            </a:pPr>
            <a:r>
              <a:rPr lang="en-US" sz="1150" dirty="0">
                <a:solidFill>
                  <a:srgbClr val="6B5A61"/>
                </a:solidFill>
                <a:latin typeface="Calibri" pitchFamily="34" charset="0"/>
                <a:ea typeface="Calibri" pitchFamily="34" charset="-122"/>
                <a:cs typeface="Calibri" pitchFamily="34" charset="-120"/>
              </a:rPr>
              <a:t>represented</a:t>
            </a:r>
            <a:endParaRPr lang="en-US" sz="1150" dirty="0"/>
          </a:p>
        </p:txBody>
      </p:sp>
      <p:sp>
        <p:nvSpPr>
          <p:cNvPr id="16" name="Text 14"/>
          <p:cNvSpPr txBox="1"/>
          <p:nvPr/>
        </p:nvSpPr>
        <p:spPr>
          <a:xfrm>
            <a:off x="566928" y="3200400"/>
            <a:ext cx="2697480" cy="713232"/>
          </a:xfrm>
          <a:prstGeom prst="rect">
            <a:avLst/>
          </a:prstGeom>
          <a:noFill/>
          <a:ln/>
        </p:spPr>
        <p:txBody>
          <a:bodyPr wrap="square" lIns="0" tIns="0" rIns="0" bIns="0" rtlCol="0" anchor="ctr"/>
          <a:lstStyle/>
          <a:p>
            <a:pPr algn="ctr" indent="0" marL="0">
              <a:buNone/>
            </a:pPr>
            <a:r>
              <a:rPr lang="en-US" sz="3800" b="1" dirty="0">
                <a:solidFill>
                  <a:srgbClr val="C08A2E"/>
                </a:solidFill>
                <a:latin typeface="Cambria" pitchFamily="34" charset="0"/>
                <a:ea typeface="Cambria" pitchFamily="34" charset="-122"/>
                <a:cs typeface="Cambria" pitchFamily="34" charset="-120"/>
              </a:rPr>
              <a:t>12</a:t>
            </a:r>
            <a:endParaRPr lang="en-US" sz="3800" dirty="0"/>
          </a:p>
        </p:txBody>
      </p:sp>
      <p:sp>
        <p:nvSpPr>
          <p:cNvPr id="17" name="Text 15"/>
          <p:cNvSpPr txBox="1"/>
          <p:nvPr/>
        </p:nvSpPr>
        <p:spPr>
          <a:xfrm>
            <a:off x="566928" y="3913632"/>
            <a:ext cx="2697480"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fixed sentences, identical</a:t>
            </a:r>
            <a:endParaRPr lang="en-US" sz="1150" dirty="0"/>
          </a:p>
          <a:p>
            <a:pPr algn="ctr" indent="0" marL="0">
              <a:buNone/>
            </a:pPr>
            <a:r>
              <a:rPr lang="en-US" sz="1150" dirty="0">
                <a:solidFill>
                  <a:srgbClr val="6B5A61"/>
                </a:solidFill>
                <a:latin typeface="Calibri" pitchFamily="34" charset="0"/>
                <a:ea typeface="Calibri" pitchFamily="34" charset="-122"/>
                <a:cs typeface="Calibri" pitchFamily="34" charset="-120"/>
              </a:rPr>
              <a:t>across every actor</a:t>
            </a:r>
            <a:endParaRPr lang="en-US" sz="1150" dirty="0"/>
          </a:p>
        </p:txBody>
      </p:sp>
      <p:sp>
        <p:nvSpPr>
          <p:cNvPr id="18" name="Text 16"/>
          <p:cNvSpPr txBox="1"/>
          <p:nvPr/>
        </p:nvSpPr>
        <p:spPr>
          <a:xfrm>
            <a:off x="3392424" y="3200400"/>
            <a:ext cx="2697480" cy="713232"/>
          </a:xfrm>
          <a:prstGeom prst="rect">
            <a:avLst/>
          </a:prstGeom>
          <a:noFill/>
          <a:ln/>
        </p:spPr>
        <p:txBody>
          <a:bodyPr wrap="square" lIns="0" tIns="0" rIns="0" bIns="0" rtlCol="0" anchor="ctr"/>
          <a:lstStyle/>
          <a:p>
            <a:pPr algn="ctr" indent="0" marL="0">
              <a:buNone/>
            </a:pPr>
            <a:r>
              <a:rPr lang="en-US" sz="3800" b="1" dirty="0">
                <a:solidFill>
                  <a:srgbClr val="3D7068"/>
                </a:solidFill>
                <a:latin typeface="Cambria" pitchFamily="34" charset="0"/>
                <a:ea typeface="Cambria" pitchFamily="34" charset="-122"/>
                <a:cs typeface="Cambria" pitchFamily="34" charset="-120"/>
              </a:rPr>
              <a:t>6</a:t>
            </a:r>
            <a:endParaRPr lang="en-US" sz="3800" dirty="0"/>
          </a:p>
        </p:txBody>
      </p:sp>
      <p:sp>
        <p:nvSpPr>
          <p:cNvPr id="19" name="Text 17"/>
          <p:cNvSpPr txBox="1"/>
          <p:nvPr/>
        </p:nvSpPr>
        <p:spPr>
          <a:xfrm>
            <a:off x="3392424" y="3913632"/>
            <a:ext cx="2697480"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emotions: anger, disgust, fear,</a:t>
            </a:r>
            <a:endParaRPr lang="en-US" sz="1150" dirty="0"/>
          </a:p>
          <a:p>
            <a:pPr algn="ctr" indent="0" marL="0">
              <a:buNone/>
            </a:pPr>
            <a:r>
              <a:rPr lang="en-US" sz="1150" dirty="0">
                <a:solidFill>
                  <a:srgbClr val="6B5A61"/>
                </a:solidFill>
                <a:latin typeface="Calibri" pitchFamily="34" charset="0"/>
                <a:ea typeface="Calibri" pitchFamily="34" charset="-122"/>
                <a:cs typeface="Calibri" pitchFamily="34" charset="-120"/>
              </a:rPr>
              <a:t>happy, neutral, sad</a:t>
            </a:r>
            <a:endParaRPr lang="en-US" sz="1150" dirty="0"/>
          </a:p>
        </p:txBody>
      </p:sp>
      <p:sp>
        <p:nvSpPr>
          <p:cNvPr id="20" name="Text 18"/>
          <p:cNvSpPr txBox="1"/>
          <p:nvPr/>
        </p:nvSpPr>
        <p:spPr>
          <a:xfrm>
            <a:off x="6217920" y="3200400"/>
            <a:ext cx="2697480" cy="713232"/>
          </a:xfrm>
          <a:prstGeom prst="rect">
            <a:avLst/>
          </a:prstGeom>
          <a:noFill/>
          <a:ln/>
        </p:spPr>
        <p:txBody>
          <a:bodyPr wrap="square" lIns="0" tIns="0" rIns="0" bIns="0" rtlCol="0" anchor="ctr"/>
          <a:lstStyle/>
          <a:p>
            <a:pPr algn="ctr" indent="0" marL="0">
              <a:buNone/>
            </a:pPr>
            <a:r>
              <a:rPr lang="en-US" sz="3800" b="1" dirty="0">
                <a:solidFill>
                  <a:srgbClr val="6D2E46"/>
                </a:solidFill>
                <a:latin typeface="Cambria" pitchFamily="34" charset="0"/>
                <a:ea typeface="Cambria" pitchFamily="34" charset="-122"/>
                <a:cs typeface="Cambria" pitchFamily="34" charset="-120"/>
              </a:rPr>
              <a:t>4</a:t>
            </a:r>
            <a:endParaRPr lang="en-US" sz="3800" dirty="0"/>
          </a:p>
        </p:txBody>
      </p:sp>
      <p:sp>
        <p:nvSpPr>
          <p:cNvPr id="21" name="Text 19"/>
          <p:cNvSpPr txBox="1"/>
          <p:nvPr/>
        </p:nvSpPr>
        <p:spPr>
          <a:xfrm>
            <a:off x="6217920" y="3913632"/>
            <a:ext cx="2697480"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intensity levels: low, medium,</a:t>
            </a:r>
            <a:endParaRPr lang="en-US" sz="1150" dirty="0"/>
          </a:p>
          <a:p>
            <a:pPr algn="ctr" indent="0" marL="0">
              <a:buNone/>
            </a:pPr>
            <a:r>
              <a:rPr lang="en-US" sz="1150" dirty="0">
                <a:solidFill>
                  <a:srgbClr val="6B5A61"/>
                </a:solidFill>
                <a:latin typeface="Calibri" pitchFamily="34" charset="0"/>
                <a:ea typeface="Calibri" pitchFamily="34" charset="-122"/>
                <a:cs typeface="Calibri" pitchFamily="34" charset="-120"/>
              </a:rPr>
              <a:t>high, unspecified</a:t>
            </a:r>
            <a:endParaRPr lang="en-US" sz="1150" dirty="0"/>
          </a:p>
        </p:txBody>
      </p:sp>
      <p:sp>
        <p:nvSpPr>
          <p:cNvPr id="22" name="Text 20"/>
          <p:cNvSpPr txBox="1"/>
          <p:nvPr/>
        </p:nvSpPr>
        <p:spPr>
          <a:xfrm>
            <a:off x="9043416" y="3200400"/>
            <a:ext cx="2587752" cy="713232"/>
          </a:xfrm>
          <a:prstGeom prst="rect">
            <a:avLst/>
          </a:prstGeom>
          <a:noFill/>
          <a:ln/>
        </p:spPr>
        <p:txBody>
          <a:bodyPr wrap="square" lIns="0" tIns="0" rIns="0" bIns="0" rtlCol="0" anchor="ctr"/>
          <a:lstStyle/>
          <a:p>
            <a:pPr algn="ctr" indent="0" marL="0">
              <a:buNone/>
            </a:pPr>
            <a:r>
              <a:rPr lang="en-US" sz="3800" b="1" dirty="0">
                <a:solidFill>
                  <a:srgbClr val="C08A2E"/>
                </a:solidFill>
                <a:latin typeface="Cambria" pitchFamily="34" charset="0"/>
                <a:ea typeface="Cambria" pitchFamily="34" charset="-122"/>
                <a:cs typeface="Cambria" pitchFamily="34" charset="-120"/>
              </a:rPr>
              <a:t>2,443</a:t>
            </a:r>
            <a:endParaRPr lang="en-US" sz="3800" dirty="0"/>
          </a:p>
        </p:txBody>
      </p:sp>
      <p:sp>
        <p:nvSpPr>
          <p:cNvPr id="23" name="Text 21"/>
          <p:cNvSpPr txBox="1"/>
          <p:nvPr/>
        </p:nvSpPr>
        <p:spPr>
          <a:xfrm>
            <a:off x="9043416" y="3913632"/>
            <a:ext cx="2587752" cy="548640"/>
          </a:xfrm>
          <a:prstGeom prst="rect">
            <a:avLst/>
          </a:prstGeom>
          <a:noFill/>
          <a:ln/>
        </p:spPr>
        <p:txBody>
          <a:bodyPr wrap="square" lIns="0" tIns="0" rIns="0" bIns="0" rtlCol="0" anchor="ctr"/>
          <a:lstStyle/>
          <a:p>
            <a:pPr algn="ctr" indent="0" marL="0">
              <a:buNone/>
            </a:pPr>
            <a:r>
              <a:rPr lang="en-US" sz="1150" dirty="0">
                <a:solidFill>
                  <a:srgbClr val="6B5A61"/>
                </a:solidFill>
                <a:latin typeface="Calibri" pitchFamily="34" charset="0"/>
                <a:ea typeface="Calibri" pitchFamily="34" charset="-122"/>
                <a:cs typeface="Calibri" pitchFamily="34" charset="-120"/>
              </a:rPr>
              <a:t>crowd raters, each judging</a:t>
            </a:r>
            <a:endParaRPr lang="en-US" sz="1150" dirty="0"/>
          </a:p>
          <a:p>
            <a:pPr algn="ctr" indent="0" marL="0">
              <a:buNone/>
            </a:pPr>
            <a:r>
              <a:rPr lang="en-US" sz="1150" dirty="0">
                <a:solidFill>
                  <a:srgbClr val="6B5A61"/>
                </a:solidFill>
                <a:latin typeface="Calibri" pitchFamily="34" charset="0"/>
                <a:ea typeface="Calibri" pitchFamily="34" charset="-122"/>
                <a:cs typeface="Calibri" pitchFamily="34" charset="-120"/>
              </a:rPr>
              <a:t>90 unique clips</a:t>
            </a:r>
            <a:endParaRPr lang="en-US" sz="1150" dirty="0"/>
          </a:p>
        </p:txBody>
      </p:sp>
      <p:sp>
        <p:nvSpPr>
          <p:cNvPr id="24" name="Shape 22"/>
          <p:cNvSpPr/>
          <p:nvPr/>
        </p:nvSpPr>
        <p:spPr>
          <a:xfrm>
            <a:off x="566928" y="4937760"/>
            <a:ext cx="11064240" cy="1097280"/>
          </a:xfrm>
          <a:prstGeom prst="roundRect">
            <a:avLst>
              <a:gd name="adj" fmla="val 5000"/>
            </a:avLst>
          </a:prstGeom>
          <a:solidFill>
            <a:srgbClr val="4A1E30"/>
          </a:solidFill>
          <a:ln w="12700">
            <a:solidFill>
              <a:srgbClr val="4A1E30"/>
            </a:solidFill>
            <a:prstDash val="solid"/>
          </a:ln>
        </p:spPr>
      </p:sp>
      <p:sp>
        <p:nvSpPr>
          <p:cNvPr id="25" name="Text 23"/>
          <p:cNvSpPr txBox="1"/>
          <p:nvPr/>
        </p:nvSpPr>
        <p:spPr>
          <a:xfrm>
            <a:off x="822960" y="5157216"/>
            <a:ext cx="10552176" cy="676656"/>
          </a:xfrm>
          <a:prstGeom prst="rect">
            <a:avLst/>
          </a:prstGeom>
          <a:noFill/>
          <a:ln/>
        </p:spPr>
        <p:txBody>
          <a:bodyPr wrap="square" lIns="0" tIns="0" rIns="0" bIns="0" rtlCol="0" anchor="t"/>
          <a:lstStyle/>
          <a:p>
            <a:pPr indent="0" marL="0">
              <a:lnSpc>
                <a:spcPct val="108000"/>
              </a:lnSpc>
              <a:buNone/>
            </a:pPr>
            <a:r>
              <a:rPr lang="en-US" sz="1320" dirty="0">
                <a:solidFill>
                  <a:srgbClr val="E7D5DA"/>
                </a:solidFill>
                <a:latin typeface="Calibri" pitchFamily="34" charset="0"/>
                <a:ea typeface="Calibri" pitchFamily="34" charset="-122"/>
                <a:cs typeface="Calibri" pitchFamily="34" charset="-120"/>
              </a:rPr>
              <a:t>Roughly five hours of speech in total, with an average clip length of about two and a half seconds — against IEMOCAP's twelve hours and four-and-a-half-second turns. CREMA-D is the smaller corpus by duration and the far larger one by speaker count. That inversion is the whole design.</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Twelve deliberately boring sentences</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Semantically neutral, so that emotion can only be carried by delivery</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7</a:t>
            </a:r>
            <a:endParaRPr lang="en-US" sz="900" dirty="0"/>
          </a:p>
        </p:txBody>
      </p:sp>
      <p:sp>
        <p:nvSpPr>
          <p:cNvPr id="8" name="Shape 6"/>
          <p:cNvSpPr/>
          <p:nvPr/>
        </p:nvSpPr>
        <p:spPr>
          <a:xfrm>
            <a:off x="566928" y="1554480"/>
            <a:ext cx="2697480" cy="566928"/>
          </a:xfrm>
          <a:prstGeom prst="roundRect">
            <a:avLst>
              <a:gd name="adj" fmla="val 8065"/>
            </a:avLst>
          </a:prstGeom>
          <a:solidFill>
            <a:srgbClr val="F7F2F4"/>
          </a:solidFill>
          <a:ln w="12700">
            <a:solidFill>
              <a:srgbClr val="EADDE2"/>
            </a:solidFill>
            <a:prstDash val="solid"/>
          </a:ln>
        </p:spPr>
      </p:sp>
      <p:sp>
        <p:nvSpPr>
          <p:cNvPr id="9" name="Text 7"/>
          <p:cNvSpPr txBox="1"/>
          <p:nvPr/>
        </p:nvSpPr>
        <p:spPr>
          <a:xfrm>
            <a:off x="731520" y="1682496"/>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It's eleven o'clock</a:t>
            </a:r>
            <a:endParaRPr lang="en-US" sz="1150" dirty="0"/>
          </a:p>
        </p:txBody>
      </p:sp>
      <p:sp>
        <p:nvSpPr>
          <p:cNvPr id="10" name="Shape 8"/>
          <p:cNvSpPr/>
          <p:nvPr/>
        </p:nvSpPr>
        <p:spPr>
          <a:xfrm>
            <a:off x="3392424" y="1554480"/>
            <a:ext cx="2697480" cy="566928"/>
          </a:xfrm>
          <a:prstGeom prst="roundRect">
            <a:avLst>
              <a:gd name="adj" fmla="val 8065"/>
            </a:avLst>
          </a:prstGeom>
          <a:solidFill>
            <a:srgbClr val="F7F2F4"/>
          </a:solidFill>
          <a:ln w="12700">
            <a:solidFill>
              <a:srgbClr val="EADDE2"/>
            </a:solidFill>
            <a:prstDash val="solid"/>
          </a:ln>
        </p:spPr>
      </p:sp>
      <p:sp>
        <p:nvSpPr>
          <p:cNvPr id="11" name="Text 9"/>
          <p:cNvSpPr txBox="1"/>
          <p:nvPr/>
        </p:nvSpPr>
        <p:spPr>
          <a:xfrm>
            <a:off x="3557016" y="1682496"/>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That is exactly what happened</a:t>
            </a:r>
            <a:endParaRPr lang="en-US" sz="1150" dirty="0"/>
          </a:p>
        </p:txBody>
      </p:sp>
      <p:sp>
        <p:nvSpPr>
          <p:cNvPr id="12" name="Shape 10"/>
          <p:cNvSpPr/>
          <p:nvPr/>
        </p:nvSpPr>
        <p:spPr>
          <a:xfrm>
            <a:off x="6217920" y="1554480"/>
            <a:ext cx="2697480" cy="566928"/>
          </a:xfrm>
          <a:prstGeom prst="roundRect">
            <a:avLst>
              <a:gd name="adj" fmla="val 8065"/>
            </a:avLst>
          </a:prstGeom>
          <a:solidFill>
            <a:srgbClr val="F7F2F4"/>
          </a:solidFill>
          <a:ln w="12700">
            <a:solidFill>
              <a:srgbClr val="EADDE2"/>
            </a:solidFill>
            <a:prstDash val="solid"/>
          </a:ln>
        </p:spPr>
      </p:sp>
      <p:sp>
        <p:nvSpPr>
          <p:cNvPr id="13" name="Text 11"/>
          <p:cNvSpPr txBox="1"/>
          <p:nvPr/>
        </p:nvSpPr>
        <p:spPr>
          <a:xfrm>
            <a:off x="6382512" y="1682496"/>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I'm on my way to the meeting</a:t>
            </a:r>
            <a:endParaRPr lang="en-US" sz="1150" dirty="0"/>
          </a:p>
        </p:txBody>
      </p:sp>
      <p:sp>
        <p:nvSpPr>
          <p:cNvPr id="14" name="Shape 12"/>
          <p:cNvSpPr/>
          <p:nvPr/>
        </p:nvSpPr>
        <p:spPr>
          <a:xfrm>
            <a:off x="9043416" y="1554480"/>
            <a:ext cx="2697480" cy="566928"/>
          </a:xfrm>
          <a:prstGeom prst="roundRect">
            <a:avLst>
              <a:gd name="adj" fmla="val 8065"/>
            </a:avLst>
          </a:prstGeom>
          <a:solidFill>
            <a:srgbClr val="F7F2F4"/>
          </a:solidFill>
          <a:ln w="12700">
            <a:solidFill>
              <a:srgbClr val="EADDE2"/>
            </a:solidFill>
            <a:prstDash val="solid"/>
          </a:ln>
        </p:spPr>
      </p:sp>
      <p:sp>
        <p:nvSpPr>
          <p:cNvPr id="15" name="Text 13"/>
          <p:cNvSpPr txBox="1"/>
          <p:nvPr/>
        </p:nvSpPr>
        <p:spPr>
          <a:xfrm>
            <a:off x="9208008" y="1682496"/>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 wonder what this is about</a:t>
            </a:r>
            <a:endParaRPr lang="en-US" sz="1150" dirty="0"/>
          </a:p>
        </p:txBody>
      </p:sp>
      <p:sp>
        <p:nvSpPr>
          <p:cNvPr id="16" name="Shape 14"/>
          <p:cNvSpPr/>
          <p:nvPr/>
        </p:nvSpPr>
        <p:spPr>
          <a:xfrm>
            <a:off x="566928" y="2249424"/>
            <a:ext cx="2697480" cy="566928"/>
          </a:xfrm>
          <a:prstGeom prst="roundRect">
            <a:avLst>
              <a:gd name="adj" fmla="val 8065"/>
            </a:avLst>
          </a:prstGeom>
          <a:solidFill>
            <a:srgbClr val="F7F2F4"/>
          </a:solidFill>
          <a:ln w="12700">
            <a:solidFill>
              <a:srgbClr val="EADDE2"/>
            </a:solidFill>
            <a:prstDash val="solid"/>
          </a:ln>
        </p:spPr>
      </p:sp>
      <p:sp>
        <p:nvSpPr>
          <p:cNvPr id="17" name="Text 15"/>
          <p:cNvSpPr txBox="1"/>
          <p:nvPr/>
        </p:nvSpPr>
        <p:spPr>
          <a:xfrm>
            <a:off x="731520" y="2377440"/>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The airplane is almost full</a:t>
            </a:r>
            <a:endParaRPr lang="en-US" sz="1150" dirty="0"/>
          </a:p>
        </p:txBody>
      </p:sp>
      <p:sp>
        <p:nvSpPr>
          <p:cNvPr id="18" name="Shape 16"/>
          <p:cNvSpPr/>
          <p:nvPr/>
        </p:nvSpPr>
        <p:spPr>
          <a:xfrm>
            <a:off x="3392424" y="2249424"/>
            <a:ext cx="2697480" cy="566928"/>
          </a:xfrm>
          <a:prstGeom prst="roundRect">
            <a:avLst>
              <a:gd name="adj" fmla="val 8065"/>
            </a:avLst>
          </a:prstGeom>
          <a:solidFill>
            <a:srgbClr val="F7F2F4"/>
          </a:solidFill>
          <a:ln w="12700">
            <a:solidFill>
              <a:srgbClr val="EADDE2"/>
            </a:solidFill>
            <a:prstDash val="solid"/>
          </a:ln>
        </p:spPr>
      </p:sp>
      <p:sp>
        <p:nvSpPr>
          <p:cNvPr id="19" name="Text 17"/>
          <p:cNvSpPr txBox="1"/>
          <p:nvPr/>
        </p:nvSpPr>
        <p:spPr>
          <a:xfrm>
            <a:off x="3557016" y="2377440"/>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Maybe tomorrow it will be cold</a:t>
            </a:r>
            <a:endParaRPr lang="en-US" sz="1150" dirty="0"/>
          </a:p>
        </p:txBody>
      </p:sp>
      <p:sp>
        <p:nvSpPr>
          <p:cNvPr id="20" name="Shape 18"/>
          <p:cNvSpPr/>
          <p:nvPr/>
        </p:nvSpPr>
        <p:spPr>
          <a:xfrm>
            <a:off x="6217920" y="2249424"/>
            <a:ext cx="2697480" cy="566928"/>
          </a:xfrm>
          <a:prstGeom prst="roundRect">
            <a:avLst>
              <a:gd name="adj" fmla="val 8065"/>
            </a:avLst>
          </a:prstGeom>
          <a:solidFill>
            <a:srgbClr val="F7F2F4"/>
          </a:solidFill>
          <a:ln w="12700">
            <a:solidFill>
              <a:srgbClr val="EADDE2"/>
            </a:solidFill>
            <a:prstDash val="solid"/>
          </a:ln>
        </p:spPr>
      </p:sp>
      <p:sp>
        <p:nvSpPr>
          <p:cNvPr id="21" name="Text 19"/>
          <p:cNvSpPr txBox="1"/>
          <p:nvPr/>
        </p:nvSpPr>
        <p:spPr>
          <a:xfrm>
            <a:off x="6382512" y="2377440"/>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 would like a new alarm clock</a:t>
            </a:r>
            <a:endParaRPr lang="en-US" sz="1150" dirty="0"/>
          </a:p>
        </p:txBody>
      </p:sp>
      <p:sp>
        <p:nvSpPr>
          <p:cNvPr id="22" name="Shape 20"/>
          <p:cNvSpPr/>
          <p:nvPr/>
        </p:nvSpPr>
        <p:spPr>
          <a:xfrm>
            <a:off x="9043416" y="2249424"/>
            <a:ext cx="2697480" cy="566928"/>
          </a:xfrm>
          <a:prstGeom prst="roundRect">
            <a:avLst>
              <a:gd name="adj" fmla="val 8065"/>
            </a:avLst>
          </a:prstGeom>
          <a:solidFill>
            <a:srgbClr val="F7F2F4"/>
          </a:solidFill>
          <a:ln w="12700">
            <a:solidFill>
              <a:srgbClr val="EADDE2"/>
            </a:solidFill>
            <a:prstDash val="solid"/>
          </a:ln>
        </p:spPr>
      </p:sp>
      <p:sp>
        <p:nvSpPr>
          <p:cNvPr id="23" name="Text 21"/>
          <p:cNvSpPr txBox="1"/>
          <p:nvPr/>
        </p:nvSpPr>
        <p:spPr>
          <a:xfrm>
            <a:off x="9208008" y="2377440"/>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 think I have a doctor's appointment</a:t>
            </a:r>
            <a:endParaRPr lang="en-US" sz="1150" dirty="0"/>
          </a:p>
        </p:txBody>
      </p:sp>
      <p:sp>
        <p:nvSpPr>
          <p:cNvPr id="24" name="Shape 22"/>
          <p:cNvSpPr/>
          <p:nvPr/>
        </p:nvSpPr>
        <p:spPr>
          <a:xfrm>
            <a:off x="566928" y="2944368"/>
            <a:ext cx="2697480" cy="566928"/>
          </a:xfrm>
          <a:prstGeom prst="roundRect">
            <a:avLst>
              <a:gd name="adj" fmla="val 8065"/>
            </a:avLst>
          </a:prstGeom>
          <a:solidFill>
            <a:srgbClr val="F7F2F4"/>
          </a:solidFill>
          <a:ln w="12700">
            <a:solidFill>
              <a:srgbClr val="EADDE2"/>
            </a:solidFill>
            <a:prstDash val="solid"/>
          </a:ln>
        </p:spPr>
      </p:sp>
      <p:sp>
        <p:nvSpPr>
          <p:cNvPr id="25" name="Text 23"/>
          <p:cNvSpPr txBox="1"/>
          <p:nvPr/>
        </p:nvSpPr>
        <p:spPr>
          <a:xfrm>
            <a:off x="731520" y="3072384"/>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Don't forget a jacket</a:t>
            </a:r>
            <a:endParaRPr lang="en-US" sz="1150" dirty="0"/>
          </a:p>
        </p:txBody>
      </p:sp>
      <p:sp>
        <p:nvSpPr>
          <p:cNvPr id="26" name="Shape 24"/>
          <p:cNvSpPr/>
          <p:nvPr/>
        </p:nvSpPr>
        <p:spPr>
          <a:xfrm>
            <a:off x="3392424" y="2944368"/>
            <a:ext cx="2697480" cy="566928"/>
          </a:xfrm>
          <a:prstGeom prst="roundRect">
            <a:avLst>
              <a:gd name="adj" fmla="val 8065"/>
            </a:avLst>
          </a:prstGeom>
          <a:solidFill>
            <a:srgbClr val="F7F2F4"/>
          </a:solidFill>
          <a:ln w="12700">
            <a:solidFill>
              <a:srgbClr val="EADDE2"/>
            </a:solidFill>
            <a:prstDash val="solid"/>
          </a:ln>
        </p:spPr>
      </p:sp>
      <p:sp>
        <p:nvSpPr>
          <p:cNvPr id="27" name="Text 25"/>
          <p:cNvSpPr txBox="1"/>
          <p:nvPr/>
        </p:nvSpPr>
        <p:spPr>
          <a:xfrm>
            <a:off x="3557016" y="3072384"/>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 think I've seen this before</a:t>
            </a:r>
            <a:endParaRPr lang="en-US" sz="1150" dirty="0"/>
          </a:p>
        </p:txBody>
      </p:sp>
      <p:sp>
        <p:nvSpPr>
          <p:cNvPr id="28" name="Shape 26"/>
          <p:cNvSpPr/>
          <p:nvPr/>
        </p:nvSpPr>
        <p:spPr>
          <a:xfrm>
            <a:off x="6217920" y="2944368"/>
            <a:ext cx="2697480" cy="566928"/>
          </a:xfrm>
          <a:prstGeom prst="roundRect">
            <a:avLst>
              <a:gd name="adj" fmla="val 8065"/>
            </a:avLst>
          </a:prstGeom>
          <a:solidFill>
            <a:srgbClr val="F7F2F4"/>
          </a:solidFill>
          <a:ln w="12700">
            <a:solidFill>
              <a:srgbClr val="EADDE2"/>
            </a:solidFill>
            <a:prstDash val="solid"/>
          </a:ln>
        </p:spPr>
      </p:sp>
      <p:sp>
        <p:nvSpPr>
          <p:cNvPr id="29" name="Text 27"/>
          <p:cNvSpPr txBox="1"/>
          <p:nvPr/>
        </p:nvSpPr>
        <p:spPr>
          <a:xfrm>
            <a:off x="6382512" y="3072384"/>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The surface is slick</a:t>
            </a:r>
            <a:endParaRPr lang="en-US" sz="1150" dirty="0"/>
          </a:p>
        </p:txBody>
      </p:sp>
      <p:sp>
        <p:nvSpPr>
          <p:cNvPr id="30" name="Shape 28"/>
          <p:cNvSpPr/>
          <p:nvPr/>
        </p:nvSpPr>
        <p:spPr>
          <a:xfrm>
            <a:off x="9043416" y="2944368"/>
            <a:ext cx="2697480" cy="566928"/>
          </a:xfrm>
          <a:prstGeom prst="roundRect">
            <a:avLst>
              <a:gd name="adj" fmla="val 8065"/>
            </a:avLst>
          </a:prstGeom>
          <a:solidFill>
            <a:srgbClr val="F7F2F4"/>
          </a:solidFill>
          <a:ln w="12700">
            <a:solidFill>
              <a:srgbClr val="EADDE2"/>
            </a:solidFill>
            <a:prstDash val="solid"/>
          </a:ln>
        </p:spPr>
      </p:sp>
      <p:sp>
        <p:nvSpPr>
          <p:cNvPr id="31" name="Text 29"/>
          <p:cNvSpPr txBox="1"/>
          <p:nvPr/>
        </p:nvSpPr>
        <p:spPr>
          <a:xfrm>
            <a:off x="9208008" y="3072384"/>
            <a:ext cx="2377440" cy="310896"/>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We'll stop in a couple of minutes</a:t>
            </a:r>
            <a:endParaRPr lang="en-US" sz="1150" dirty="0"/>
          </a:p>
        </p:txBody>
      </p:sp>
      <p:sp>
        <p:nvSpPr>
          <p:cNvPr id="32" name="Shape 30"/>
          <p:cNvSpPr/>
          <p:nvPr/>
        </p:nvSpPr>
        <p:spPr>
          <a:xfrm>
            <a:off x="566928" y="3877056"/>
            <a:ext cx="5440680" cy="2148840"/>
          </a:xfrm>
          <a:prstGeom prst="roundRect">
            <a:avLst>
              <a:gd name="adj" fmla="val 2553"/>
            </a:avLst>
          </a:prstGeom>
          <a:solidFill>
            <a:srgbClr val="F7F2F4"/>
          </a:solidFill>
          <a:ln w="12700">
            <a:solidFill>
              <a:srgbClr val="EADDE2"/>
            </a:solidFill>
            <a:prstDash val="solid"/>
          </a:ln>
        </p:spPr>
      </p:sp>
      <p:sp>
        <p:nvSpPr>
          <p:cNvPr id="33" name="Shape 31"/>
          <p:cNvSpPr/>
          <p:nvPr/>
        </p:nvSpPr>
        <p:spPr>
          <a:xfrm>
            <a:off x="786384" y="4169664"/>
            <a:ext cx="109728" cy="109728"/>
          </a:xfrm>
          <a:prstGeom prst="ellipse">
            <a:avLst/>
          </a:prstGeom>
          <a:solidFill>
            <a:srgbClr val="6D2E46"/>
          </a:solidFill>
          <a:ln w="12700">
            <a:solidFill>
              <a:srgbClr val="333333"/>
            </a:solidFill>
            <a:prstDash val="solid"/>
          </a:ln>
        </p:spPr>
      </p:sp>
      <p:sp>
        <p:nvSpPr>
          <p:cNvPr id="34" name="Text 32"/>
          <p:cNvSpPr txBox="1"/>
          <p:nvPr/>
        </p:nvSpPr>
        <p:spPr>
          <a:xfrm>
            <a:off x="987552" y="4041648"/>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Why this matters methodologically</a:t>
            </a:r>
            <a:endParaRPr lang="en-US" sz="1550" dirty="0"/>
          </a:p>
        </p:txBody>
      </p:sp>
      <p:sp>
        <p:nvSpPr>
          <p:cNvPr id="35" name="Text 33"/>
          <p:cNvSpPr txBox="1"/>
          <p:nvPr/>
        </p:nvSpPr>
        <p:spPr>
          <a:xfrm>
            <a:off x="822960" y="4480560"/>
            <a:ext cx="4928616" cy="136245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In any corpus of natural speech, what people say correlates with how they feel. A classifier can then reach high accuracy by reading the words rather than the voice — and it will fail the moment the vocabulary changes.</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Holding the sentence set fixed removes that shortcut entirely. Any signal a model finds in CREMA-D audio is prosodic, spectral or articulatory. Nothing is lexical.</a:t>
            </a:r>
            <a:endParaRPr lang="en-US" sz="1280" dirty="0"/>
          </a:p>
        </p:txBody>
      </p:sp>
      <p:sp>
        <p:nvSpPr>
          <p:cNvPr id="36" name="Shape 34"/>
          <p:cNvSpPr/>
          <p:nvPr/>
        </p:nvSpPr>
        <p:spPr>
          <a:xfrm>
            <a:off x="6190488" y="3877056"/>
            <a:ext cx="5440680" cy="2148840"/>
          </a:xfrm>
          <a:prstGeom prst="roundRect">
            <a:avLst>
              <a:gd name="adj" fmla="val 2553"/>
            </a:avLst>
          </a:prstGeom>
          <a:solidFill>
            <a:srgbClr val="F7F2F4"/>
          </a:solidFill>
          <a:ln w="12700">
            <a:solidFill>
              <a:srgbClr val="EADDE2"/>
            </a:solidFill>
            <a:prstDash val="solid"/>
          </a:ln>
        </p:spPr>
      </p:sp>
      <p:sp>
        <p:nvSpPr>
          <p:cNvPr id="37" name="Shape 35"/>
          <p:cNvSpPr/>
          <p:nvPr/>
        </p:nvSpPr>
        <p:spPr>
          <a:xfrm>
            <a:off x="6409944" y="4169664"/>
            <a:ext cx="109728" cy="109728"/>
          </a:xfrm>
          <a:prstGeom prst="ellipse">
            <a:avLst/>
          </a:prstGeom>
          <a:solidFill>
            <a:srgbClr val="C08A2E"/>
          </a:solidFill>
          <a:ln w="12700">
            <a:solidFill>
              <a:srgbClr val="333333"/>
            </a:solidFill>
            <a:prstDash val="solid"/>
          </a:ln>
        </p:spPr>
      </p:sp>
      <p:sp>
        <p:nvSpPr>
          <p:cNvPr id="38" name="Text 36"/>
          <p:cNvSpPr txBox="1"/>
          <p:nvPr/>
        </p:nvSpPr>
        <p:spPr>
          <a:xfrm>
            <a:off x="6611112" y="4041648"/>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And what it costs</a:t>
            </a:r>
            <a:endParaRPr lang="en-US" sz="1550" dirty="0"/>
          </a:p>
        </p:txBody>
      </p:sp>
      <p:sp>
        <p:nvSpPr>
          <p:cNvPr id="39" name="Text 37"/>
          <p:cNvSpPr txBox="1"/>
          <p:nvPr/>
        </p:nvSpPr>
        <p:spPr>
          <a:xfrm>
            <a:off x="6446520" y="4480560"/>
            <a:ext cx="4928616" cy="136245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Twelve sentences is a vanishingly small slice of English. Models trained here see almost no phonetic or syntactic variety, so they may not transfer to open-vocabulary speech.</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There is also a subtler risk: with the same twelve sentences repeated by every actor, a model can learn sentence identity and use it as a nuisance feature unless the splits are built carefully.</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Speaker diversity is the headline contribution</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Ninety-one actors, against ten in IEMOCAP</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8</a:t>
            </a:r>
            <a:endParaRPr lang="en-US" sz="900" dirty="0"/>
          </a:p>
        </p:txBody>
      </p:sp>
      <p:graphicFrame>
        <p:nvGraphicFramePr>
          <p:cNvPr id="8" name="Chart 0" descr=""/>
          <p:cNvGraphicFramePr/>
          <p:nvPr/>
        </p:nvGraphicFramePr>
        <p:xfrm>
          <a:off x="566928" y="1572768"/>
          <a:ext cx="5120640" cy="21945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870448" y="1572768"/>
            <a:ext cx="5760720" cy="2194560"/>
          </a:xfrm>
          <a:prstGeom prst="roundRect">
            <a:avLst>
              <a:gd name="adj" fmla="val 2500"/>
            </a:avLst>
          </a:prstGeom>
          <a:solidFill>
            <a:srgbClr val="F7F2F4"/>
          </a:solidFill>
          <a:ln w="12700">
            <a:solidFill>
              <a:srgbClr val="EADDE2"/>
            </a:solidFill>
            <a:prstDash val="solid"/>
          </a:ln>
        </p:spPr>
      </p:sp>
      <p:sp>
        <p:nvSpPr>
          <p:cNvPr id="10" name="Shape 7"/>
          <p:cNvSpPr/>
          <p:nvPr/>
        </p:nvSpPr>
        <p:spPr>
          <a:xfrm>
            <a:off x="6089904" y="1865376"/>
            <a:ext cx="109728" cy="109728"/>
          </a:xfrm>
          <a:prstGeom prst="ellipse">
            <a:avLst/>
          </a:prstGeom>
          <a:solidFill>
            <a:srgbClr val="6D2E46"/>
          </a:solidFill>
          <a:ln w="12700">
            <a:solidFill>
              <a:srgbClr val="333333"/>
            </a:solidFill>
            <a:prstDash val="solid"/>
          </a:ln>
        </p:spPr>
      </p:sp>
      <p:sp>
        <p:nvSpPr>
          <p:cNvPr id="11" name="Text 8"/>
          <p:cNvSpPr txBox="1"/>
          <p:nvPr/>
        </p:nvSpPr>
        <p:spPr>
          <a:xfrm>
            <a:off x="6291072" y="1737360"/>
            <a:ext cx="512064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Composition</a:t>
            </a:r>
            <a:endParaRPr lang="en-US" sz="1550" dirty="0"/>
          </a:p>
        </p:txBody>
      </p:sp>
      <p:sp>
        <p:nvSpPr>
          <p:cNvPr id="12" name="Text 9"/>
          <p:cNvSpPr txBox="1"/>
          <p:nvPr/>
        </p:nvSpPr>
        <p:spPr>
          <a:xfrm>
            <a:off x="6126480" y="2176272"/>
            <a:ext cx="5248656" cy="140817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48 male and 43 female actors, aged from twenty to seventy-four, drawn from African American, Asian, Caucasian and Hispanic backgrounds plus an unspecified group. A handful of actors are over sixty, which makes the corpus one of very few emotional speech resources containing older voices at all.</a:t>
            </a:r>
            <a:endParaRPr lang="en-US" sz="1280" dirty="0"/>
          </a:p>
        </p:txBody>
      </p:sp>
      <p:sp>
        <p:nvSpPr>
          <p:cNvPr id="13" name="Text 10"/>
          <p:cNvSpPr txBox="1"/>
          <p:nvPr/>
        </p:nvSpPr>
        <p:spPr>
          <a:xfrm>
            <a:off x="566928" y="3968496"/>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Why it matters: emotional expression is not demographically uniform. Vocal ageing changes pitch, jitter and speaking rate; conventions for displaying emotion vary across communities.</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A model trained on ten young actors from one drama school has no way to represent that variation, and no way to reveal that it cannot.</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Ninety-one speakers also make genuinely speaker-independent evaluation practical — you can hold out a substantial test group without gutting the training set.</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For the clinical use case this is not optional. A stimulus set for assessing patients must not be confounded with the demographics of a handful of performers.</a:t>
            </a:r>
            <a:endParaRPr lang="en-US" sz="1300" dirty="0"/>
          </a:p>
        </p:txBody>
      </p:sp>
      <p:sp>
        <p:nvSpPr>
          <p:cNvPr id="14" name="Shape 11"/>
          <p:cNvSpPr/>
          <p:nvPr/>
        </p:nvSpPr>
        <p:spPr>
          <a:xfrm>
            <a:off x="566928" y="5431536"/>
            <a:ext cx="11064240" cy="621792"/>
          </a:xfrm>
          <a:prstGeom prst="roundRect">
            <a:avLst>
              <a:gd name="adj" fmla="val 8824"/>
            </a:avLst>
          </a:prstGeom>
          <a:solidFill>
            <a:srgbClr val="4A1E30"/>
          </a:solidFill>
          <a:ln w="12700">
            <a:solidFill>
              <a:srgbClr val="4A1E30"/>
            </a:solidFill>
            <a:prstDash val="solid"/>
          </a:ln>
        </p:spPr>
      </p:sp>
      <p:sp>
        <p:nvSpPr>
          <p:cNvPr id="15" name="Text 12"/>
          <p:cNvSpPr txBox="1"/>
          <p:nvPr/>
        </p:nvSpPr>
        <p:spPr>
          <a:xfrm>
            <a:off x="822960" y="5650992"/>
            <a:ext cx="10552176" cy="201168"/>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Nine times the speakers on less than half the audio — breadth across people bought with duration per person.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Where 7,442 comes from</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Intensity is a designed factor, not an afterthought</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9</a:t>
            </a:r>
            <a:endParaRPr lang="en-US" sz="900" dirty="0"/>
          </a:p>
        </p:txBody>
      </p:sp>
      <p:sp>
        <p:nvSpPr>
          <p:cNvPr id="8" name="Shape 6"/>
          <p:cNvSpPr/>
          <p:nvPr/>
        </p:nvSpPr>
        <p:spPr>
          <a:xfrm>
            <a:off x="566928" y="1572768"/>
            <a:ext cx="5440680" cy="2286000"/>
          </a:xfrm>
          <a:prstGeom prst="roundRect">
            <a:avLst>
              <a:gd name="adj" fmla="val 2400"/>
            </a:avLst>
          </a:prstGeom>
          <a:solidFill>
            <a:srgbClr val="F7F2F4"/>
          </a:solidFill>
          <a:ln w="12700">
            <a:solidFill>
              <a:srgbClr val="EADDE2"/>
            </a:solidFill>
            <a:prstDash val="solid"/>
          </a:ln>
        </p:spPr>
      </p:sp>
      <p:sp>
        <p:nvSpPr>
          <p:cNvPr id="9" name="Shape 7"/>
          <p:cNvSpPr/>
          <p:nvPr/>
        </p:nvSpPr>
        <p:spPr>
          <a:xfrm>
            <a:off x="786384" y="1865376"/>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37360"/>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The recording plan per actor</a:t>
            </a:r>
            <a:endParaRPr lang="en-US" sz="1550" dirty="0"/>
          </a:p>
        </p:txBody>
      </p:sp>
      <p:sp>
        <p:nvSpPr>
          <p:cNvPr id="11" name="Text 9"/>
          <p:cNvSpPr txBox="1"/>
          <p:nvPr/>
        </p:nvSpPr>
        <p:spPr>
          <a:xfrm>
            <a:off x="822960" y="2176272"/>
            <a:ext cx="4928616" cy="149961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Twelve sentences × six emotions = 72 clips at unspecified intensity.</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One sentence — 'It's eleven o'clock' — was additionally recorded at low, medium and high intensity for each of the five non-neutral emotions, adding 10 further clips.</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That gives 82 clips per actor, and 91 × 82 = 7,462 planned. The released set contains 7,442; a handful of recordings were lost or rejected.</a:t>
            </a:r>
            <a:endParaRPr lang="en-US" sz="1280" dirty="0"/>
          </a:p>
        </p:txBody>
      </p:sp>
      <p:sp>
        <p:nvSpPr>
          <p:cNvPr id="12" name="Shape 10"/>
          <p:cNvSpPr/>
          <p:nvPr/>
        </p:nvSpPr>
        <p:spPr>
          <a:xfrm>
            <a:off x="6190488" y="1572768"/>
            <a:ext cx="5440680" cy="2286000"/>
          </a:xfrm>
          <a:prstGeom prst="roundRect">
            <a:avLst>
              <a:gd name="adj" fmla="val 2400"/>
            </a:avLst>
          </a:prstGeom>
          <a:solidFill>
            <a:srgbClr val="F7F2F4"/>
          </a:solidFill>
          <a:ln w="12700">
            <a:solidFill>
              <a:srgbClr val="EADDE2"/>
            </a:solidFill>
            <a:prstDash val="solid"/>
          </a:ln>
        </p:spPr>
      </p:sp>
      <p:sp>
        <p:nvSpPr>
          <p:cNvPr id="13" name="Shape 11"/>
          <p:cNvSpPr/>
          <p:nvPr/>
        </p:nvSpPr>
        <p:spPr>
          <a:xfrm>
            <a:off x="6409944" y="1865376"/>
            <a:ext cx="109728" cy="109728"/>
          </a:xfrm>
          <a:prstGeom prst="ellipse">
            <a:avLst/>
          </a:prstGeom>
          <a:solidFill>
            <a:srgbClr val="C08A2E"/>
          </a:solidFill>
          <a:ln w="12700">
            <a:solidFill>
              <a:srgbClr val="333333"/>
            </a:solidFill>
            <a:prstDash val="solid"/>
          </a:ln>
        </p:spPr>
      </p:sp>
      <p:sp>
        <p:nvSpPr>
          <p:cNvPr id="14" name="Text 12"/>
          <p:cNvSpPr txBox="1"/>
          <p:nvPr/>
        </p:nvSpPr>
        <p:spPr>
          <a:xfrm>
            <a:off x="6611112" y="1737360"/>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Why one sentence carries the intensity design</a:t>
            </a:r>
            <a:endParaRPr lang="en-US" sz="1550" dirty="0"/>
          </a:p>
        </p:txBody>
      </p:sp>
      <p:sp>
        <p:nvSpPr>
          <p:cNvPr id="15" name="Text 13"/>
          <p:cNvSpPr txBox="1"/>
          <p:nvPr/>
        </p:nvSpPr>
        <p:spPr>
          <a:xfrm>
            <a:off x="6446520" y="2176272"/>
            <a:ext cx="4928616" cy="149961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Directing every actor through three graded intensities of six emotions across twelve sentences would have been prohibitively long and would have exhausted the performers.</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Concentrating the intensity manipulation in a single, repeated sentence keeps everything else constant, so intensity can be studied cleanly — at the cost of studying it in only one phonetic context.</a:t>
            </a:r>
            <a:endParaRPr lang="en-US" sz="1280" dirty="0"/>
          </a:p>
        </p:txBody>
      </p:sp>
      <p:sp>
        <p:nvSpPr>
          <p:cNvPr id="16" name="Shape 14"/>
          <p:cNvSpPr/>
          <p:nvPr/>
        </p:nvSpPr>
        <p:spPr>
          <a:xfrm>
            <a:off x="566928" y="4059936"/>
            <a:ext cx="11064240" cy="960120"/>
          </a:xfrm>
          <a:prstGeom prst="roundRect">
            <a:avLst>
              <a:gd name="adj" fmla="val 5714"/>
            </a:avLst>
          </a:prstGeom>
          <a:solidFill>
            <a:srgbClr val="F7F2F4"/>
          </a:solidFill>
          <a:ln w="12700">
            <a:solidFill>
              <a:srgbClr val="EADDE2"/>
            </a:solidFill>
            <a:prstDash val="solid"/>
          </a:ln>
        </p:spPr>
      </p:sp>
      <p:sp>
        <p:nvSpPr>
          <p:cNvPr id="17" name="Text 15"/>
          <p:cNvSpPr txBox="1"/>
          <p:nvPr/>
        </p:nvSpPr>
        <p:spPr>
          <a:xfrm>
            <a:off x="822960" y="4279392"/>
            <a:ext cx="10552176" cy="539496"/>
          </a:xfrm>
          <a:prstGeom prst="rect">
            <a:avLst/>
          </a:prstGeom>
          <a:noFill/>
          <a:ln/>
        </p:spPr>
        <p:txBody>
          <a:bodyPr wrap="square" lIns="0" tIns="0" rIns="0" bIns="0" rtlCol="0" anchor="t"/>
          <a:lstStyle/>
          <a:p>
            <a:pPr indent="0" marL="0">
              <a:lnSpc>
                <a:spcPct val="108000"/>
              </a:lnSpc>
              <a:buNone/>
            </a:pPr>
            <a:r>
              <a:rPr lang="en-US" sz="1300" dirty="0">
                <a:solidFill>
                  <a:srgbClr val="3E3238"/>
                </a:solidFill>
                <a:latin typeface="Calibri" pitchFamily="34" charset="0"/>
                <a:ea typeface="Calibri" pitchFamily="34" charset="-122"/>
                <a:cs typeface="Calibri" pitchFamily="34" charset="-120"/>
              </a:rPr>
              <a:t>Filenames encode the design directly: actor ID, three-letter sentence code, three-letter emotion code, and intensity — so '1001_IEO_ANG_HI' is actor 1001 saying the eleven-o'clock sentence in high-intensity anger. The corpus is self-documenting.</a:t>
            </a:r>
            <a:endParaRPr lang="en-US" sz="1300" dirty="0"/>
          </a:p>
        </p:txBody>
      </p:sp>
      <p:sp>
        <p:nvSpPr>
          <p:cNvPr id="18" name="Shape 16"/>
          <p:cNvSpPr/>
          <p:nvPr/>
        </p:nvSpPr>
        <p:spPr>
          <a:xfrm>
            <a:off x="566928" y="5138928"/>
            <a:ext cx="11064240" cy="896112"/>
          </a:xfrm>
          <a:prstGeom prst="roundRect">
            <a:avLst>
              <a:gd name="adj" fmla="val 6122"/>
            </a:avLst>
          </a:prstGeom>
          <a:solidFill>
            <a:srgbClr val="4A1E30"/>
          </a:solidFill>
          <a:ln w="12700">
            <a:solidFill>
              <a:srgbClr val="4A1E30"/>
            </a:solidFill>
            <a:prstDash val="solid"/>
          </a:ln>
        </p:spPr>
      </p:sp>
      <p:sp>
        <p:nvSpPr>
          <p:cNvPr id="19" name="Text 17"/>
          <p:cNvSpPr txBox="1"/>
          <p:nvPr/>
        </p:nvSpPr>
        <p:spPr>
          <a:xfrm>
            <a:off x="822960" y="5358384"/>
            <a:ext cx="10552176" cy="475488"/>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Note the consequence for class balance: the corpus is close to uniform across the six emotions, with a modest surplus of the five non-neutral ones from the intensity clips. Compare IEMOCAP, where fear and disgust are under one percent each.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1E30"/>
        </a:solidFill>
      </p:bgPr>
    </p:bg>
    <p:spTree>
      <p:nvGrpSpPr>
        <p:cNvPr id="1" name=""/>
        <p:cNvGrpSpPr/>
        <p:nvPr/>
      </p:nvGrpSpPr>
      <p:grpSpPr>
        <a:xfrm>
          <a:off x="0" y="0"/>
          <a:ext cx="0" cy="0"/>
          <a:chOff x="0" y="0"/>
          <a:chExt cx="0" cy="0"/>
        </a:xfrm>
      </p:grpSpPr>
      <p:sp>
        <p:nvSpPr>
          <p:cNvPr id="2" name="Shape 0"/>
          <p:cNvSpPr/>
          <p:nvPr/>
        </p:nvSpPr>
        <p:spPr>
          <a:xfrm>
            <a:off x="10561320" y="5349240"/>
            <a:ext cx="155448" cy="155448"/>
          </a:xfrm>
          <a:prstGeom prst="ellipse">
            <a:avLst/>
          </a:prstGeom>
          <a:solidFill>
            <a:srgbClr val="6D2E46"/>
          </a:solidFill>
          <a:ln w="12700">
            <a:solidFill>
              <a:srgbClr val="333333"/>
            </a:solidFill>
            <a:prstDash val="solid"/>
          </a:ln>
        </p:spPr>
      </p:sp>
      <p:sp>
        <p:nvSpPr>
          <p:cNvPr id="3" name="Shape 1"/>
          <p:cNvSpPr/>
          <p:nvPr/>
        </p:nvSpPr>
        <p:spPr>
          <a:xfrm>
            <a:off x="10794492" y="5349240"/>
            <a:ext cx="155448" cy="155448"/>
          </a:xfrm>
          <a:prstGeom prst="ellipse">
            <a:avLst/>
          </a:prstGeom>
          <a:solidFill>
            <a:srgbClr val="C08A2E"/>
          </a:solidFill>
          <a:ln w="12700">
            <a:solidFill>
              <a:srgbClr val="333333"/>
            </a:solidFill>
            <a:prstDash val="solid"/>
          </a:ln>
        </p:spPr>
      </p:sp>
      <p:sp>
        <p:nvSpPr>
          <p:cNvPr id="4" name="Shape 2"/>
          <p:cNvSpPr/>
          <p:nvPr/>
        </p:nvSpPr>
        <p:spPr>
          <a:xfrm>
            <a:off x="11027664" y="5349240"/>
            <a:ext cx="155448" cy="155448"/>
          </a:xfrm>
          <a:prstGeom prst="ellipse">
            <a:avLst/>
          </a:prstGeom>
          <a:solidFill>
            <a:srgbClr val="3D7068"/>
          </a:solidFill>
          <a:ln w="12700">
            <a:solidFill>
              <a:srgbClr val="333333"/>
            </a:solidFill>
            <a:prstDash val="solid"/>
          </a:ln>
        </p:spPr>
      </p:sp>
      <p:sp>
        <p:nvSpPr>
          <p:cNvPr id="5" name="Text 3"/>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C08A2E"/>
                </a:solidFill>
                <a:latin typeface="Cambria" pitchFamily="34" charset="0"/>
                <a:ea typeface="Cambria" pitchFamily="34" charset="-122"/>
                <a:cs typeface="Cambria" pitchFamily="34" charset="-120"/>
              </a:rPr>
              <a:t>2</a:t>
            </a:r>
            <a:endParaRPr lang="en-US" sz="6800" dirty="0"/>
          </a:p>
        </p:txBody>
      </p:sp>
      <p:sp>
        <p:nvSpPr>
          <p:cNvPr id="6" name="Text 4"/>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Recording protocol</a:t>
            </a:r>
            <a:endParaRPr lang="en-US" sz="3400" dirty="0"/>
          </a:p>
        </p:txBody>
      </p:sp>
      <p:sp>
        <p:nvSpPr>
          <p:cNvPr id="7" name="Text 5"/>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E7D5DA"/>
                </a:solidFill>
                <a:latin typeface="Calibri" pitchFamily="34" charset="0"/>
                <a:ea typeface="Calibri" pitchFamily="34" charset="-122"/>
                <a:cs typeface="Calibri" pitchFamily="34" charset="-120"/>
              </a:rPr>
              <a:t>How the clips were produced, directed and screened</a:t>
            </a:r>
            <a:endParaRPr lang="en-US" sz="1500" dirty="0"/>
          </a:p>
        </p:txBody>
      </p:sp>
      <p:sp>
        <p:nvSpPr>
          <p:cNvPr id="8" name="Text 6"/>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Producing the clips</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Studio recording with professional direction</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11</a:t>
            </a:r>
            <a:endParaRPr lang="en-US" sz="900" dirty="0"/>
          </a:p>
        </p:txBody>
      </p:sp>
      <p:sp>
        <p:nvSpPr>
          <p:cNvPr id="8" name="Shape 6"/>
          <p:cNvSpPr/>
          <p:nvPr/>
        </p:nvSpPr>
        <p:spPr>
          <a:xfrm>
            <a:off x="566928" y="1554480"/>
            <a:ext cx="11064240" cy="841248"/>
          </a:xfrm>
          <a:prstGeom prst="roundRect">
            <a:avLst>
              <a:gd name="adj" fmla="val 4348"/>
            </a:avLst>
          </a:prstGeom>
          <a:solidFill>
            <a:srgbClr val="F7F2F4"/>
          </a:solidFill>
          <a:ln w="12700">
            <a:solidFill>
              <a:srgbClr val="EFE6EA"/>
            </a:solidFill>
            <a:prstDash val="solid"/>
          </a:ln>
        </p:spPr>
      </p:sp>
      <p:sp>
        <p:nvSpPr>
          <p:cNvPr id="9" name="Shape 7"/>
          <p:cNvSpPr/>
          <p:nvPr/>
        </p:nvSpPr>
        <p:spPr>
          <a:xfrm>
            <a:off x="786384" y="1920240"/>
            <a:ext cx="118872" cy="118872"/>
          </a:xfrm>
          <a:prstGeom prst="ellipse">
            <a:avLst/>
          </a:prstGeom>
          <a:solidFill>
            <a:srgbClr val="6D2E46"/>
          </a:solidFill>
          <a:ln w="12700">
            <a:solidFill>
              <a:srgbClr val="333333"/>
            </a:solidFill>
            <a:prstDash val="solid"/>
          </a:ln>
        </p:spPr>
      </p:sp>
      <p:sp>
        <p:nvSpPr>
          <p:cNvPr id="10" name="Text 8"/>
          <p:cNvSpPr txBox="1"/>
          <p:nvPr/>
        </p:nvSpPr>
        <p:spPr>
          <a:xfrm>
            <a:off x="1024128" y="1828800"/>
            <a:ext cx="2011680" cy="292608"/>
          </a:xfrm>
          <a:prstGeom prst="rect">
            <a:avLst/>
          </a:prstGeom>
          <a:noFill/>
          <a:ln/>
        </p:spPr>
        <p:txBody>
          <a:bodyPr wrap="square" lIns="0" tIns="0" rIns="0" bIns="0" rtlCol="0" anchor="ctr"/>
          <a:lstStyle/>
          <a:p>
            <a:pPr indent="0" marL="0">
              <a:buNone/>
            </a:pPr>
            <a:r>
              <a:rPr lang="en-US" sz="1350" b="1" dirty="0">
                <a:solidFill>
                  <a:srgbClr val="4A1E30"/>
                </a:solidFill>
                <a:latin typeface="Cambria" pitchFamily="34" charset="0"/>
                <a:ea typeface="Cambria" pitchFamily="34" charset="-122"/>
                <a:cs typeface="Cambria" pitchFamily="34" charset="-120"/>
              </a:rPr>
              <a:t>Casting</a:t>
            </a:r>
            <a:endParaRPr lang="en-US" sz="1350" dirty="0"/>
          </a:p>
        </p:txBody>
      </p:sp>
      <p:sp>
        <p:nvSpPr>
          <p:cNvPr id="11" name="Text 9"/>
          <p:cNvSpPr txBox="1"/>
          <p:nvPr/>
        </p:nvSpPr>
        <p:spPr>
          <a:xfrm>
            <a:off x="3108960" y="1700784"/>
            <a:ext cx="8321040" cy="5486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Ninety-one professional actors recruited to span sex, age and ethnic background — the demographic spread was a recruitment target, not an accident.</a:t>
            </a:r>
            <a:endParaRPr lang="en-US" sz="1200" dirty="0"/>
          </a:p>
        </p:txBody>
      </p:sp>
      <p:sp>
        <p:nvSpPr>
          <p:cNvPr id="12" name="Shape 10"/>
          <p:cNvSpPr/>
          <p:nvPr/>
        </p:nvSpPr>
        <p:spPr>
          <a:xfrm>
            <a:off x="566928" y="2450592"/>
            <a:ext cx="11064240" cy="841248"/>
          </a:xfrm>
          <a:prstGeom prst="roundRect">
            <a:avLst>
              <a:gd name="adj" fmla="val 4348"/>
            </a:avLst>
          </a:prstGeom>
          <a:solidFill>
            <a:srgbClr val="FFFFFF"/>
          </a:solidFill>
          <a:ln w="12700">
            <a:solidFill>
              <a:srgbClr val="EFE6EA"/>
            </a:solidFill>
            <a:prstDash val="solid"/>
          </a:ln>
        </p:spPr>
      </p:sp>
      <p:sp>
        <p:nvSpPr>
          <p:cNvPr id="13" name="Shape 11"/>
          <p:cNvSpPr/>
          <p:nvPr/>
        </p:nvSpPr>
        <p:spPr>
          <a:xfrm>
            <a:off x="786384" y="2816352"/>
            <a:ext cx="118872" cy="118872"/>
          </a:xfrm>
          <a:prstGeom prst="ellipse">
            <a:avLst/>
          </a:prstGeom>
          <a:solidFill>
            <a:srgbClr val="6D2E46"/>
          </a:solidFill>
          <a:ln w="12700">
            <a:solidFill>
              <a:srgbClr val="333333"/>
            </a:solidFill>
            <a:prstDash val="solid"/>
          </a:ln>
        </p:spPr>
      </p:sp>
      <p:sp>
        <p:nvSpPr>
          <p:cNvPr id="14" name="Text 12"/>
          <p:cNvSpPr txBox="1"/>
          <p:nvPr/>
        </p:nvSpPr>
        <p:spPr>
          <a:xfrm>
            <a:off x="1024128" y="2724912"/>
            <a:ext cx="2011680" cy="292608"/>
          </a:xfrm>
          <a:prstGeom prst="rect">
            <a:avLst/>
          </a:prstGeom>
          <a:noFill/>
          <a:ln/>
        </p:spPr>
        <p:txBody>
          <a:bodyPr wrap="square" lIns="0" tIns="0" rIns="0" bIns="0" rtlCol="0" anchor="ctr"/>
          <a:lstStyle/>
          <a:p>
            <a:pPr indent="0" marL="0">
              <a:buNone/>
            </a:pPr>
            <a:r>
              <a:rPr lang="en-US" sz="1350" b="1" dirty="0">
                <a:solidFill>
                  <a:srgbClr val="4A1E30"/>
                </a:solidFill>
                <a:latin typeface="Cambria" pitchFamily="34" charset="0"/>
                <a:ea typeface="Cambria" pitchFamily="34" charset="-122"/>
                <a:cs typeface="Cambria" pitchFamily="34" charset="-120"/>
              </a:rPr>
              <a:t>Direction</a:t>
            </a:r>
            <a:endParaRPr lang="en-US" sz="1350" dirty="0"/>
          </a:p>
        </p:txBody>
      </p:sp>
      <p:sp>
        <p:nvSpPr>
          <p:cNvPr id="15" name="Text 13"/>
          <p:cNvSpPr txBox="1"/>
          <p:nvPr/>
        </p:nvSpPr>
        <p:spPr>
          <a:xfrm>
            <a:off x="3108960" y="2596896"/>
            <a:ext cx="8321040" cy="5486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Actors were given the target emotion together with a short contextual scenario for the sentence, then coached by a director, rather than simply told to sound angry.</a:t>
            </a:r>
            <a:endParaRPr lang="en-US" sz="1200" dirty="0"/>
          </a:p>
        </p:txBody>
      </p:sp>
      <p:sp>
        <p:nvSpPr>
          <p:cNvPr id="16" name="Shape 14"/>
          <p:cNvSpPr/>
          <p:nvPr/>
        </p:nvSpPr>
        <p:spPr>
          <a:xfrm>
            <a:off x="566928" y="3346704"/>
            <a:ext cx="11064240" cy="841248"/>
          </a:xfrm>
          <a:prstGeom prst="roundRect">
            <a:avLst>
              <a:gd name="adj" fmla="val 4348"/>
            </a:avLst>
          </a:prstGeom>
          <a:solidFill>
            <a:srgbClr val="F7F2F4"/>
          </a:solidFill>
          <a:ln w="12700">
            <a:solidFill>
              <a:srgbClr val="EFE6EA"/>
            </a:solidFill>
            <a:prstDash val="solid"/>
          </a:ln>
        </p:spPr>
      </p:sp>
      <p:sp>
        <p:nvSpPr>
          <p:cNvPr id="17" name="Shape 15"/>
          <p:cNvSpPr/>
          <p:nvPr/>
        </p:nvSpPr>
        <p:spPr>
          <a:xfrm>
            <a:off x="786384" y="3712464"/>
            <a:ext cx="118872" cy="118872"/>
          </a:xfrm>
          <a:prstGeom prst="ellipse">
            <a:avLst/>
          </a:prstGeom>
          <a:solidFill>
            <a:srgbClr val="6D2E46"/>
          </a:solidFill>
          <a:ln w="12700">
            <a:solidFill>
              <a:srgbClr val="333333"/>
            </a:solidFill>
            <a:prstDash val="solid"/>
          </a:ln>
        </p:spPr>
      </p:sp>
      <p:sp>
        <p:nvSpPr>
          <p:cNvPr id="18" name="Text 16"/>
          <p:cNvSpPr txBox="1"/>
          <p:nvPr/>
        </p:nvSpPr>
        <p:spPr>
          <a:xfrm>
            <a:off x="1024128" y="3621024"/>
            <a:ext cx="2011680" cy="292608"/>
          </a:xfrm>
          <a:prstGeom prst="rect">
            <a:avLst/>
          </a:prstGeom>
          <a:noFill/>
          <a:ln/>
        </p:spPr>
        <p:txBody>
          <a:bodyPr wrap="square" lIns="0" tIns="0" rIns="0" bIns="0" rtlCol="0" anchor="ctr"/>
          <a:lstStyle/>
          <a:p>
            <a:pPr indent="0" marL="0">
              <a:buNone/>
            </a:pPr>
            <a:r>
              <a:rPr lang="en-US" sz="1350" b="1" dirty="0">
                <a:solidFill>
                  <a:srgbClr val="4A1E30"/>
                </a:solidFill>
                <a:latin typeface="Cambria" pitchFamily="34" charset="0"/>
                <a:ea typeface="Cambria" pitchFamily="34" charset="-122"/>
                <a:cs typeface="Cambria" pitchFamily="34" charset="-120"/>
              </a:rPr>
              <a:t>Capture</a:t>
            </a:r>
            <a:endParaRPr lang="en-US" sz="1350" dirty="0"/>
          </a:p>
        </p:txBody>
      </p:sp>
      <p:sp>
        <p:nvSpPr>
          <p:cNvPr id="19" name="Text 17"/>
          <p:cNvSpPr txBox="1"/>
          <p:nvPr/>
        </p:nvSpPr>
        <p:spPr>
          <a:xfrm>
            <a:off x="3108960" y="3493008"/>
            <a:ext cx="8321040" cy="5486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Recorded in a controlled studio setting with consistent framing, lighting and microphone placement across all actors, so that clips are comparable as stimuli.</a:t>
            </a:r>
            <a:endParaRPr lang="en-US" sz="1200" dirty="0"/>
          </a:p>
        </p:txBody>
      </p:sp>
      <p:sp>
        <p:nvSpPr>
          <p:cNvPr id="20" name="Shape 18"/>
          <p:cNvSpPr/>
          <p:nvPr/>
        </p:nvSpPr>
        <p:spPr>
          <a:xfrm>
            <a:off x="566928" y="4242816"/>
            <a:ext cx="11064240" cy="841248"/>
          </a:xfrm>
          <a:prstGeom prst="roundRect">
            <a:avLst>
              <a:gd name="adj" fmla="val 4348"/>
            </a:avLst>
          </a:prstGeom>
          <a:solidFill>
            <a:srgbClr val="FFFFFF"/>
          </a:solidFill>
          <a:ln w="12700">
            <a:solidFill>
              <a:srgbClr val="EFE6EA"/>
            </a:solidFill>
            <a:prstDash val="solid"/>
          </a:ln>
        </p:spPr>
      </p:sp>
      <p:sp>
        <p:nvSpPr>
          <p:cNvPr id="21" name="Shape 19"/>
          <p:cNvSpPr/>
          <p:nvPr/>
        </p:nvSpPr>
        <p:spPr>
          <a:xfrm>
            <a:off x="786384" y="4608576"/>
            <a:ext cx="118872" cy="118872"/>
          </a:xfrm>
          <a:prstGeom prst="ellipse">
            <a:avLst/>
          </a:prstGeom>
          <a:solidFill>
            <a:srgbClr val="6D2E46"/>
          </a:solidFill>
          <a:ln w="12700">
            <a:solidFill>
              <a:srgbClr val="333333"/>
            </a:solidFill>
            <a:prstDash val="solid"/>
          </a:ln>
        </p:spPr>
      </p:sp>
      <p:sp>
        <p:nvSpPr>
          <p:cNvPr id="22" name="Text 20"/>
          <p:cNvSpPr txBox="1"/>
          <p:nvPr/>
        </p:nvSpPr>
        <p:spPr>
          <a:xfrm>
            <a:off x="1024128" y="4517136"/>
            <a:ext cx="2011680" cy="292608"/>
          </a:xfrm>
          <a:prstGeom prst="rect">
            <a:avLst/>
          </a:prstGeom>
          <a:noFill/>
          <a:ln/>
        </p:spPr>
        <p:txBody>
          <a:bodyPr wrap="square" lIns="0" tIns="0" rIns="0" bIns="0" rtlCol="0" anchor="ctr"/>
          <a:lstStyle/>
          <a:p>
            <a:pPr indent="0" marL="0">
              <a:buNone/>
            </a:pPr>
            <a:r>
              <a:rPr lang="en-US" sz="1350" b="1" dirty="0">
                <a:solidFill>
                  <a:srgbClr val="4A1E30"/>
                </a:solidFill>
                <a:latin typeface="Cambria" pitchFamily="34" charset="0"/>
                <a:ea typeface="Cambria" pitchFamily="34" charset="-122"/>
                <a:cs typeface="Cambria" pitchFamily="34" charset="-120"/>
              </a:rPr>
              <a:t>Takes and selection</a:t>
            </a:r>
            <a:endParaRPr lang="en-US" sz="1350" dirty="0"/>
          </a:p>
        </p:txBody>
      </p:sp>
      <p:sp>
        <p:nvSpPr>
          <p:cNvPr id="23" name="Text 21"/>
          <p:cNvSpPr txBox="1"/>
          <p:nvPr/>
        </p:nvSpPr>
        <p:spPr>
          <a:xfrm>
            <a:off x="3108960" y="4389120"/>
            <a:ext cx="8321040" cy="5486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Multiple takes were recorded; the team retained one clip per sentence-emotion-intensity cell, screening for technical faults and unusable performances.</a:t>
            </a:r>
            <a:endParaRPr lang="en-US" sz="1200" dirty="0"/>
          </a:p>
        </p:txBody>
      </p:sp>
      <p:sp>
        <p:nvSpPr>
          <p:cNvPr id="24" name="Shape 22"/>
          <p:cNvSpPr/>
          <p:nvPr/>
        </p:nvSpPr>
        <p:spPr>
          <a:xfrm>
            <a:off x="566928" y="5138928"/>
            <a:ext cx="11064240" cy="841248"/>
          </a:xfrm>
          <a:prstGeom prst="roundRect">
            <a:avLst>
              <a:gd name="adj" fmla="val 4348"/>
            </a:avLst>
          </a:prstGeom>
          <a:solidFill>
            <a:srgbClr val="F7F2F4"/>
          </a:solidFill>
          <a:ln w="12700">
            <a:solidFill>
              <a:srgbClr val="EFE6EA"/>
            </a:solidFill>
            <a:prstDash val="solid"/>
          </a:ln>
        </p:spPr>
      </p:sp>
      <p:sp>
        <p:nvSpPr>
          <p:cNvPr id="25" name="Shape 23"/>
          <p:cNvSpPr/>
          <p:nvPr/>
        </p:nvSpPr>
        <p:spPr>
          <a:xfrm>
            <a:off x="786384" y="5504688"/>
            <a:ext cx="118872" cy="118872"/>
          </a:xfrm>
          <a:prstGeom prst="ellipse">
            <a:avLst/>
          </a:prstGeom>
          <a:solidFill>
            <a:srgbClr val="6D2E46"/>
          </a:solidFill>
          <a:ln w="12700">
            <a:solidFill>
              <a:srgbClr val="333333"/>
            </a:solidFill>
            <a:prstDash val="solid"/>
          </a:ln>
        </p:spPr>
      </p:sp>
      <p:sp>
        <p:nvSpPr>
          <p:cNvPr id="26" name="Text 24"/>
          <p:cNvSpPr txBox="1"/>
          <p:nvPr/>
        </p:nvSpPr>
        <p:spPr>
          <a:xfrm>
            <a:off x="1024128" y="5413248"/>
            <a:ext cx="2011680" cy="292608"/>
          </a:xfrm>
          <a:prstGeom prst="rect">
            <a:avLst/>
          </a:prstGeom>
          <a:noFill/>
          <a:ln/>
        </p:spPr>
        <p:txBody>
          <a:bodyPr wrap="square" lIns="0" tIns="0" rIns="0" bIns="0" rtlCol="0" anchor="ctr"/>
          <a:lstStyle/>
          <a:p>
            <a:pPr indent="0" marL="0">
              <a:buNone/>
            </a:pPr>
            <a:r>
              <a:rPr lang="en-US" sz="1350" b="1" dirty="0">
                <a:solidFill>
                  <a:srgbClr val="4A1E30"/>
                </a:solidFill>
                <a:latin typeface="Cambria" pitchFamily="34" charset="0"/>
                <a:ea typeface="Cambria" pitchFamily="34" charset="-122"/>
                <a:cs typeface="Cambria" pitchFamily="34" charset="-120"/>
              </a:rPr>
              <a:t>Segmentation</a:t>
            </a:r>
            <a:endParaRPr lang="en-US" sz="1350" dirty="0"/>
          </a:p>
        </p:txBody>
      </p:sp>
      <p:sp>
        <p:nvSpPr>
          <p:cNvPr id="27" name="Text 25"/>
          <p:cNvSpPr txBox="1"/>
          <p:nvPr/>
        </p:nvSpPr>
        <p:spPr>
          <a:xfrm>
            <a:off x="3108960" y="5285232"/>
            <a:ext cx="8321040" cy="5486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Each clip is trimmed to a single sentence, roughly two and a half seconds long, with no surrounding dialogue or context.</a:t>
            </a:r>
            <a:endParaRPr lang="en-US" sz="1200" dirty="0"/>
          </a:p>
        </p:txBody>
      </p:sp>
      <p:sp>
        <p:nvSpPr>
          <p:cNvPr id="28" name="Text 26"/>
          <p:cNvSpPr txBox="1"/>
          <p:nvPr/>
        </p:nvSpPr>
        <p:spPr>
          <a:xfrm>
            <a:off x="566928" y="5998464"/>
            <a:ext cx="11064240" cy="292608"/>
          </a:xfrm>
          <a:prstGeom prst="rect">
            <a:avLst/>
          </a:prstGeom>
          <a:noFill/>
          <a:ln/>
        </p:spPr>
        <p:txBody>
          <a:bodyPr wrap="square" lIns="0" tIns="0" rIns="0" bIns="0" rtlCol="0" anchor="ctr"/>
          <a:lstStyle/>
          <a:p>
            <a:pPr indent="0" marL="0">
              <a:buNone/>
            </a:pPr>
            <a:r>
              <a:rPr lang="en-US" sz="1200" i="1" dirty="0">
                <a:solidFill>
                  <a:srgbClr val="6B5A61"/>
                </a:solidFill>
                <a:latin typeface="Calibri" pitchFamily="34" charset="0"/>
                <a:ea typeface="Calibri" pitchFamily="34" charset="-122"/>
                <a:cs typeface="Calibri" pitchFamily="34" charset="-120"/>
              </a:rPr>
              <a:t>Compare IEMOCAP: no partner, no unfolding dialogue, no rehearsal of a play — a single actor performing a fixed line to camera.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Two kinds of label, and the corpus ships both</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A quiet but important methodological choice</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12</a:t>
            </a:r>
            <a:endParaRPr lang="en-US" sz="900" dirty="0"/>
          </a:p>
        </p:txBody>
      </p:sp>
      <p:sp>
        <p:nvSpPr>
          <p:cNvPr id="8" name="Shape 6"/>
          <p:cNvSpPr/>
          <p:nvPr/>
        </p:nvSpPr>
        <p:spPr>
          <a:xfrm>
            <a:off x="566928" y="1627632"/>
            <a:ext cx="5394960" cy="2286000"/>
          </a:xfrm>
          <a:prstGeom prst="roundRect">
            <a:avLst>
              <a:gd name="adj" fmla="val 2400"/>
            </a:avLst>
          </a:prstGeom>
          <a:solidFill>
            <a:srgbClr val="F7F2F4"/>
          </a:solidFill>
          <a:ln w="12700">
            <a:solidFill>
              <a:srgbClr val="EADDE2"/>
            </a:solidFill>
            <a:prstDash val="solid"/>
          </a:ln>
        </p:spPr>
      </p:sp>
      <p:sp>
        <p:nvSpPr>
          <p:cNvPr id="9" name="Shape 7"/>
          <p:cNvSpPr/>
          <p:nvPr/>
        </p:nvSpPr>
        <p:spPr>
          <a:xfrm>
            <a:off x="786384" y="1920240"/>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92224"/>
            <a:ext cx="475488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Intended emotion</a:t>
            </a:r>
            <a:endParaRPr lang="en-US" sz="1550" dirty="0"/>
          </a:p>
        </p:txBody>
      </p:sp>
      <p:sp>
        <p:nvSpPr>
          <p:cNvPr id="11" name="Text 9"/>
          <p:cNvSpPr txBox="1"/>
          <p:nvPr/>
        </p:nvSpPr>
        <p:spPr>
          <a:xfrm>
            <a:off x="822960" y="2231136"/>
            <a:ext cx="4882896" cy="149961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What the actor was directed to convey, together with the intensity level they were asked for. Available for every clip by construction, at zero annotation cost.</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This is the label most acted corpora ship, and the one IEMOCAP's authors explicitly refused to trust.</a:t>
            </a:r>
            <a:endParaRPr lang="en-US" sz="1280" dirty="0"/>
          </a:p>
        </p:txBody>
      </p:sp>
      <p:sp>
        <p:nvSpPr>
          <p:cNvPr id="12" name="Shape 10"/>
          <p:cNvSpPr/>
          <p:nvPr/>
        </p:nvSpPr>
        <p:spPr>
          <a:xfrm>
            <a:off x="6236208" y="1627632"/>
            <a:ext cx="5394960" cy="2286000"/>
          </a:xfrm>
          <a:prstGeom prst="roundRect">
            <a:avLst>
              <a:gd name="adj" fmla="val 2400"/>
            </a:avLst>
          </a:prstGeom>
          <a:solidFill>
            <a:srgbClr val="F7F2F4"/>
          </a:solidFill>
          <a:ln w="12700">
            <a:solidFill>
              <a:srgbClr val="EADDE2"/>
            </a:solidFill>
            <a:prstDash val="solid"/>
          </a:ln>
        </p:spPr>
      </p:sp>
      <p:sp>
        <p:nvSpPr>
          <p:cNvPr id="13" name="Shape 11"/>
          <p:cNvSpPr/>
          <p:nvPr/>
        </p:nvSpPr>
        <p:spPr>
          <a:xfrm>
            <a:off x="6455664" y="1920240"/>
            <a:ext cx="109728" cy="109728"/>
          </a:xfrm>
          <a:prstGeom prst="ellipse">
            <a:avLst/>
          </a:prstGeom>
          <a:solidFill>
            <a:srgbClr val="C08A2E"/>
          </a:solidFill>
          <a:ln w="12700">
            <a:solidFill>
              <a:srgbClr val="333333"/>
            </a:solidFill>
            <a:prstDash val="solid"/>
          </a:ln>
        </p:spPr>
      </p:sp>
      <p:sp>
        <p:nvSpPr>
          <p:cNvPr id="14" name="Text 12"/>
          <p:cNvSpPr txBox="1"/>
          <p:nvPr/>
        </p:nvSpPr>
        <p:spPr>
          <a:xfrm>
            <a:off x="6656832" y="1792224"/>
            <a:ext cx="475488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Perceived emotion</a:t>
            </a:r>
            <a:endParaRPr lang="en-US" sz="1550" dirty="0"/>
          </a:p>
        </p:txBody>
      </p:sp>
      <p:sp>
        <p:nvSpPr>
          <p:cNvPr id="15" name="Text 13"/>
          <p:cNvSpPr txBox="1"/>
          <p:nvPr/>
        </p:nvSpPr>
        <p:spPr>
          <a:xfrm>
            <a:off x="6492240" y="2231136"/>
            <a:ext cx="4882896" cy="149961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What raters actually judged, separately for voice only, face only, and both together — plus a continuous intensity rating.</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Expensive to collect, but it is the only thing that tells you whether a clip communicates what it was meant to communicate.</a:t>
            </a:r>
            <a:endParaRPr lang="en-US" sz="1280" dirty="0"/>
          </a:p>
        </p:txBody>
      </p:sp>
      <p:sp>
        <p:nvSpPr>
          <p:cNvPr id="16" name="Shape 14"/>
          <p:cNvSpPr/>
          <p:nvPr/>
        </p:nvSpPr>
        <p:spPr>
          <a:xfrm>
            <a:off x="566928" y="4114800"/>
            <a:ext cx="11064240" cy="1911096"/>
          </a:xfrm>
          <a:prstGeom prst="roundRect">
            <a:avLst>
              <a:gd name="adj" fmla="val 2871"/>
            </a:avLst>
          </a:prstGeom>
          <a:solidFill>
            <a:srgbClr val="4A1E30"/>
          </a:solidFill>
          <a:ln w="12700">
            <a:solidFill>
              <a:srgbClr val="4A1E30"/>
            </a:solidFill>
            <a:prstDash val="solid"/>
          </a:ln>
        </p:spPr>
      </p:sp>
      <p:sp>
        <p:nvSpPr>
          <p:cNvPr id="17" name="Shape 15"/>
          <p:cNvSpPr/>
          <p:nvPr/>
        </p:nvSpPr>
        <p:spPr>
          <a:xfrm>
            <a:off x="786384" y="4407408"/>
            <a:ext cx="109728" cy="109728"/>
          </a:xfrm>
          <a:prstGeom prst="ellipse">
            <a:avLst/>
          </a:prstGeom>
          <a:solidFill>
            <a:srgbClr val="C08A2E"/>
          </a:solidFill>
          <a:ln w="12700">
            <a:solidFill>
              <a:srgbClr val="333333"/>
            </a:solidFill>
            <a:prstDash val="solid"/>
          </a:ln>
        </p:spPr>
      </p:sp>
      <p:sp>
        <p:nvSpPr>
          <p:cNvPr id="18" name="Text 16"/>
          <p:cNvSpPr txBox="1"/>
          <p:nvPr/>
        </p:nvSpPr>
        <p:spPr>
          <a:xfrm>
            <a:off x="987552" y="4279392"/>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Why having both is more useful than having either</a:t>
            </a:r>
            <a:endParaRPr lang="en-US" sz="1550" dirty="0"/>
          </a:p>
        </p:txBody>
      </p:sp>
      <p:sp>
        <p:nvSpPr>
          <p:cNvPr id="19" name="Text 17"/>
          <p:cNvSpPr txBox="1"/>
          <p:nvPr/>
        </p:nvSpPr>
        <p:spPr>
          <a:xfrm>
            <a:off x="822960" y="4718304"/>
            <a:ext cx="10552176" cy="1124712"/>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The gap between intended and perceived is itself the measurement. A clip the actor performed as fear and that nobody hears as fear is not noise to be discarded — it is evidence about how weakly fear is carried by the voice.</a:t>
            </a:r>
            <a:endParaRPr lang="en-US" sz="1300" dirty="0"/>
          </a:p>
          <a:p>
            <a:pPr indent="0" marL="0">
              <a:lnSpc>
                <a:spcPct val="108000"/>
              </a:lnSpc>
              <a:buNone/>
            </a:pPr>
            <a:endParaRPr lang="en-US" sz="1300" dirty="0"/>
          </a:p>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It also lets each user pick the label that suits their question. If you are training a recogniser of communicative signals, use the perceived label. If you are testing whether a patient can decode a signal that healthy raters decode reliably, you need both: the intended label as the key, and the perceived distribution as the difficulty calibration.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1E30"/>
        </a:solidFill>
      </p:bgPr>
    </p:bg>
    <p:spTree>
      <p:nvGrpSpPr>
        <p:cNvPr id="1" name=""/>
        <p:cNvGrpSpPr/>
        <p:nvPr/>
      </p:nvGrpSpPr>
      <p:grpSpPr>
        <a:xfrm>
          <a:off x="0" y="0"/>
          <a:ext cx="0" cy="0"/>
          <a:chOff x="0" y="0"/>
          <a:chExt cx="0" cy="0"/>
        </a:xfrm>
      </p:grpSpPr>
      <p:sp>
        <p:nvSpPr>
          <p:cNvPr id="2" name="Shape 0"/>
          <p:cNvSpPr/>
          <p:nvPr/>
        </p:nvSpPr>
        <p:spPr>
          <a:xfrm>
            <a:off x="10561320" y="5349240"/>
            <a:ext cx="155448" cy="155448"/>
          </a:xfrm>
          <a:prstGeom prst="ellipse">
            <a:avLst/>
          </a:prstGeom>
          <a:solidFill>
            <a:srgbClr val="6D2E46"/>
          </a:solidFill>
          <a:ln w="12700">
            <a:solidFill>
              <a:srgbClr val="333333"/>
            </a:solidFill>
            <a:prstDash val="solid"/>
          </a:ln>
        </p:spPr>
      </p:sp>
      <p:sp>
        <p:nvSpPr>
          <p:cNvPr id="3" name="Shape 1"/>
          <p:cNvSpPr/>
          <p:nvPr/>
        </p:nvSpPr>
        <p:spPr>
          <a:xfrm>
            <a:off x="10794492" y="5349240"/>
            <a:ext cx="155448" cy="155448"/>
          </a:xfrm>
          <a:prstGeom prst="ellipse">
            <a:avLst/>
          </a:prstGeom>
          <a:solidFill>
            <a:srgbClr val="C08A2E"/>
          </a:solidFill>
          <a:ln w="12700">
            <a:solidFill>
              <a:srgbClr val="333333"/>
            </a:solidFill>
            <a:prstDash val="solid"/>
          </a:ln>
        </p:spPr>
      </p:sp>
      <p:sp>
        <p:nvSpPr>
          <p:cNvPr id="4" name="Shape 2"/>
          <p:cNvSpPr/>
          <p:nvPr/>
        </p:nvSpPr>
        <p:spPr>
          <a:xfrm>
            <a:off x="11027664" y="5349240"/>
            <a:ext cx="155448" cy="155448"/>
          </a:xfrm>
          <a:prstGeom prst="ellipse">
            <a:avLst/>
          </a:prstGeom>
          <a:solidFill>
            <a:srgbClr val="3D7068"/>
          </a:solidFill>
          <a:ln w="12700">
            <a:solidFill>
              <a:srgbClr val="333333"/>
            </a:solidFill>
            <a:prstDash val="solid"/>
          </a:ln>
        </p:spPr>
      </p:sp>
      <p:sp>
        <p:nvSpPr>
          <p:cNvPr id="5" name="Text 3"/>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C08A2E"/>
                </a:solidFill>
                <a:latin typeface="Cambria" pitchFamily="34" charset="0"/>
                <a:ea typeface="Cambria" pitchFamily="34" charset="-122"/>
                <a:cs typeface="Cambria" pitchFamily="34" charset="-120"/>
              </a:rPr>
              <a:t>3</a:t>
            </a:r>
            <a:endParaRPr lang="en-US" sz="6800" dirty="0"/>
          </a:p>
        </p:txBody>
      </p:sp>
      <p:sp>
        <p:nvSpPr>
          <p:cNvPr id="6" name="Text 4"/>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crowd-sourced perception study</a:t>
            </a:r>
            <a:endParaRPr lang="en-US" sz="3400" dirty="0"/>
          </a:p>
        </p:txBody>
      </p:sp>
      <p:sp>
        <p:nvSpPr>
          <p:cNvPr id="7" name="Text 5"/>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E7D5DA"/>
                </a:solidFill>
                <a:latin typeface="Calibri" pitchFamily="34" charset="0"/>
                <a:ea typeface="Calibri" pitchFamily="34" charset="-122"/>
                <a:cs typeface="Calibri" pitchFamily="34" charset="-120"/>
              </a:rPr>
              <a:t>Two thousand raters, three presentation modalities</a:t>
            </a:r>
            <a:endParaRPr lang="en-US" sz="1500" dirty="0"/>
          </a:p>
        </p:txBody>
      </p:sp>
      <p:sp>
        <p:nvSpPr>
          <p:cNvPr id="8" name="Text 6"/>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The rating design</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Each clip is judged three separate times, once per modality</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14</a:t>
            </a:r>
            <a:endParaRPr lang="en-US" sz="900" dirty="0"/>
          </a:p>
        </p:txBody>
      </p:sp>
      <p:sp>
        <p:nvSpPr>
          <p:cNvPr id="8" name="Shape 6"/>
          <p:cNvSpPr/>
          <p:nvPr/>
        </p:nvSpPr>
        <p:spPr>
          <a:xfrm>
            <a:off x="566928" y="1572768"/>
            <a:ext cx="3584448" cy="1691640"/>
          </a:xfrm>
          <a:prstGeom prst="roundRect">
            <a:avLst>
              <a:gd name="adj" fmla="val 3243"/>
            </a:avLst>
          </a:prstGeom>
          <a:solidFill>
            <a:srgbClr val="F7F2F4"/>
          </a:solidFill>
          <a:ln w="12700">
            <a:solidFill>
              <a:srgbClr val="EADDE2"/>
            </a:solidFill>
            <a:prstDash val="solid"/>
          </a:ln>
        </p:spPr>
      </p:sp>
      <p:sp>
        <p:nvSpPr>
          <p:cNvPr id="9" name="Shape 7"/>
          <p:cNvSpPr/>
          <p:nvPr/>
        </p:nvSpPr>
        <p:spPr>
          <a:xfrm>
            <a:off x="822960" y="1828800"/>
            <a:ext cx="365760" cy="365760"/>
          </a:xfrm>
          <a:prstGeom prst="ellipse">
            <a:avLst/>
          </a:prstGeom>
          <a:solidFill>
            <a:srgbClr val="6D2E46"/>
          </a:solidFill>
          <a:ln w="12700">
            <a:solidFill>
              <a:srgbClr val="333333"/>
            </a:solidFill>
            <a:prstDash val="solid"/>
          </a:ln>
        </p:spPr>
      </p:sp>
      <p:sp>
        <p:nvSpPr>
          <p:cNvPr id="10" name="Text 8"/>
          <p:cNvSpPr txBox="1"/>
          <p:nvPr/>
        </p:nvSpPr>
        <p:spPr>
          <a:xfrm>
            <a:off x="1316736" y="1856232"/>
            <a:ext cx="2651760" cy="329184"/>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Voice only</a:t>
            </a:r>
            <a:endParaRPr lang="en-US" sz="1600" dirty="0"/>
          </a:p>
        </p:txBody>
      </p:sp>
      <p:sp>
        <p:nvSpPr>
          <p:cNvPr id="11" name="Text 9"/>
          <p:cNvSpPr txBox="1"/>
          <p:nvPr/>
        </p:nvSpPr>
        <p:spPr>
          <a:xfrm>
            <a:off x="822960" y="2340864"/>
            <a:ext cx="3072384" cy="786384"/>
          </a:xfrm>
          <a:prstGeom prst="rect">
            <a:avLst/>
          </a:prstGeom>
          <a:noFill/>
          <a:ln/>
        </p:spPr>
        <p:txBody>
          <a:bodyPr wrap="square" lIns="0" tIns="0" rIns="0" bIns="0" rtlCol="0" anchor="ctr"/>
          <a:lstStyle/>
          <a:p>
            <a:pPr indent="0" marL="0">
              <a:buNone/>
            </a:pPr>
            <a:r>
              <a:rPr lang="en-US" sz="1230" dirty="0">
                <a:solidFill>
                  <a:srgbClr val="3E3238"/>
                </a:solidFill>
                <a:latin typeface="Calibri" pitchFamily="34" charset="0"/>
                <a:ea typeface="Calibri" pitchFamily="34" charset="-122"/>
                <a:cs typeface="Calibri" pitchFamily="34" charset="-120"/>
              </a:rPr>
              <a:t>Audio played, no video. The rater hears the sentence and nothing else.</a:t>
            </a:r>
            <a:endParaRPr lang="en-US" sz="1230" dirty="0"/>
          </a:p>
        </p:txBody>
      </p:sp>
      <p:sp>
        <p:nvSpPr>
          <p:cNvPr id="12" name="Shape 10"/>
          <p:cNvSpPr/>
          <p:nvPr/>
        </p:nvSpPr>
        <p:spPr>
          <a:xfrm>
            <a:off x="4279392" y="1572768"/>
            <a:ext cx="3584448" cy="1691640"/>
          </a:xfrm>
          <a:prstGeom prst="roundRect">
            <a:avLst>
              <a:gd name="adj" fmla="val 3243"/>
            </a:avLst>
          </a:prstGeom>
          <a:solidFill>
            <a:srgbClr val="F7F2F4"/>
          </a:solidFill>
          <a:ln w="12700">
            <a:solidFill>
              <a:srgbClr val="EADDE2"/>
            </a:solidFill>
            <a:prstDash val="solid"/>
          </a:ln>
        </p:spPr>
      </p:sp>
      <p:sp>
        <p:nvSpPr>
          <p:cNvPr id="13" name="Shape 11"/>
          <p:cNvSpPr/>
          <p:nvPr/>
        </p:nvSpPr>
        <p:spPr>
          <a:xfrm>
            <a:off x="4535424" y="1828800"/>
            <a:ext cx="365760" cy="365760"/>
          </a:xfrm>
          <a:prstGeom prst="ellipse">
            <a:avLst/>
          </a:prstGeom>
          <a:solidFill>
            <a:srgbClr val="C08A2E"/>
          </a:solidFill>
          <a:ln w="12700">
            <a:solidFill>
              <a:srgbClr val="333333"/>
            </a:solidFill>
            <a:prstDash val="solid"/>
          </a:ln>
        </p:spPr>
      </p:sp>
      <p:sp>
        <p:nvSpPr>
          <p:cNvPr id="14" name="Text 12"/>
          <p:cNvSpPr txBox="1"/>
          <p:nvPr/>
        </p:nvSpPr>
        <p:spPr>
          <a:xfrm>
            <a:off x="5029200" y="1856232"/>
            <a:ext cx="2651760" cy="329184"/>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Face only</a:t>
            </a:r>
            <a:endParaRPr lang="en-US" sz="1600" dirty="0"/>
          </a:p>
        </p:txBody>
      </p:sp>
      <p:sp>
        <p:nvSpPr>
          <p:cNvPr id="15" name="Text 13"/>
          <p:cNvSpPr txBox="1"/>
          <p:nvPr/>
        </p:nvSpPr>
        <p:spPr>
          <a:xfrm>
            <a:off x="4535424" y="2340864"/>
            <a:ext cx="3072384" cy="786384"/>
          </a:xfrm>
          <a:prstGeom prst="rect">
            <a:avLst/>
          </a:prstGeom>
          <a:noFill/>
          <a:ln/>
        </p:spPr>
        <p:txBody>
          <a:bodyPr wrap="square" lIns="0" tIns="0" rIns="0" bIns="0" rtlCol="0" anchor="ctr"/>
          <a:lstStyle/>
          <a:p>
            <a:pPr indent="0" marL="0">
              <a:buNone/>
            </a:pPr>
            <a:r>
              <a:rPr lang="en-US" sz="1230" dirty="0">
                <a:solidFill>
                  <a:srgbClr val="3E3238"/>
                </a:solidFill>
                <a:latin typeface="Calibri" pitchFamily="34" charset="0"/>
                <a:ea typeface="Calibri" pitchFamily="34" charset="-122"/>
                <a:cs typeface="Calibri" pitchFamily="34" charset="-120"/>
              </a:rPr>
              <a:t>Video played silently. The rater sees the facial expression with no vocal cue.</a:t>
            </a:r>
            <a:endParaRPr lang="en-US" sz="1230" dirty="0"/>
          </a:p>
        </p:txBody>
      </p:sp>
      <p:sp>
        <p:nvSpPr>
          <p:cNvPr id="16" name="Shape 14"/>
          <p:cNvSpPr/>
          <p:nvPr/>
        </p:nvSpPr>
        <p:spPr>
          <a:xfrm>
            <a:off x="7991856" y="1572768"/>
            <a:ext cx="3584448" cy="1691640"/>
          </a:xfrm>
          <a:prstGeom prst="roundRect">
            <a:avLst>
              <a:gd name="adj" fmla="val 3243"/>
            </a:avLst>
          </a:prstGeom>
          <a:solidFill>
            <a:srgbClr val="F7F2F4"/>
          </a:solidFill>
          <a:ln w="12700">
            <a:solidFill>
              <a:srgbClr val="EADDE2"/>
            </a:solidFill>
            <a:prstDash val="solid"/>
          </a:ln>
        </p:spPr>
      </p:sp>
      <p:sp>
        <p:nvSpPr>
          <p:cNvPr id="17" name="Shape 15"/>
          <p:cNvSpPr/>
          <p:nvPr/>
        </p:nvSpPr>
        <p:spPr>
          <a:xfrm>
            <a:off x="8247888" y="1828800"/>
            <a:ext cx="365760" cy="365760"/>
          </a:xfrm>
          <a:prstGeom prst="ellipse">
            <a:avLst/>
          </a:prstGeom>
          <a:solidFill>
            <a:srgbClr val="3D7068"/>
          </a:solidFill>
          <a:ln w="12700">
            <a:solidFill>
              <a:srgbClr val="333333"/>
            </a:solidFill>
            <a:prstDash val="solid"/>
          </a:ln>
        </p:spPr>
      </p:sp>
      <p:sp>
        <p:nvSpPr>
          <p:cNvPr id="18" name="Text 16"/>
          <p:cNvSpPr txBox="1"/>
          <p:nvPr/>
        </p:nvSpPr>
        <p:spPr>
          <a:xfrm>
            <a:off x="8741664" y="1856232"/>
            <a:ext cx="2651760" cy="329184"/>
          </a:xfrm>
          <a:prstGeom prst="rect">
            <a:avLst/>
          </a:prstGeom>
          <a:noFill/>
          <a:ln/>
        </p:spPr>
        <p:txBody>
          <a:bodyPr wrap="square" lIns="0" tIns="0" rIns="0" bIns="0" rtlCol="0" anchor="ctr"/>
          <a:lstStyle/>
          <a:p>
            <a:pPr indent="0" marL="0">
              <a:buNone/>
            </a:pPr>
            <a:r>
              <a:rPr lang="en-US" sz="1600" b="1" dirty="0">
                <a:solidFill>
                  <a:srgbClr val="4A1E30"/>
                </a:solidFill>
                <a:latin typeface="Cambria" pitchFamily="34" charset="0"/>
                <a:ea typeface="Cambria" pitchFamily="34" charset="-122"/>
                <a:cs typeface="Cambria" pitchFamily="34" charset="-120"/>
              </a:rPr>
              <a:t>Audio-visual</a:t>
            </a:r>
            <a:endParaRPr lang="en-US" sz="1600" dirty="0"/>
          </a:p>
        </p:txBody>
      </p:sp>
      <p:sp>
        <p:nvSpPr>
          <p:cNvPr id="19" name="Text 17"/>
          <p:cNvSpPr txBox="1"/>
          <p:nvPr/>
        </p:nvSpPr>
        <p:spPr>
          <a:xfrm>
            <a:off x="8247888" y="2340864"/>
            <a:ext cx="3072384" cy="786384"/>
          </a:xfrm>
          <a:prstGeom prst="rect">
            <a:avLst/>
          </a:prstGeom>
          <a:noFill/>
          <a:ln/>
        </p:spPr>
        <p:txBody>
          <a:bodyPr wrap="square" lIns="0" tIns="0" rIns="0" bIns="0" rtlCol="0" anchor="ctr"/>
          <a:lstStyle/>
          <a:p>
            <a:pPr indent="0" marL="0">
              <a:buNone/>
            </a:pPr>
            <a:r>
              <a:rPr lang="en-US" sz="1230" dirty="0">
                <a:solidFill>
                  <a:srgbClr val="3E3238"/>
                </a:solidFill>
                <a:latin typeface="Calibri" pitchFamily="34" charset="0"/>
                <a:ea typeface="Calibri" pitchFamily="34" charset="-122"/>
                <a:cs typeface="Calibri" pitchFamily="34" charset="-120"/>
              </a:rPr>
              <a:t>Both channels together — the condition closest to ordinary perception.</a:t>
            </a:r>
            <a:endParaRPr lang="en-US" sz="1230" dirty="0"/>
          </a:p>
        </p:txBody>
      </p:sp>
      <p:sp>
        <p:nvSpPr>
          <p:cNvPr id="20" name="Text 18"/>
          <p:cNvSpPr txBox="1"/>
          <p:nvPr/>
        </p:nvSpPr>
        <p:spPr>
          <a:xfrm>
            <a:off x="566928" y="3474720"/>
            <a:ext cx="11064240"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Every rater judged 90 unique clips: 30 in voice only, 30 in face only, 30 in audio-visual. No rater saw the same clip twice.</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For each clip they chose one of the six emotion categories and then rated how intense the emotion was.</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2,443 raters × 90 clips ≈ 220,000 individual judgements, spread over 7,442 clips × 3 modalities ≈ 22,300 clip-modality items.</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That works out at roughly ten ratings per clip per modality; 95% of clips received more than seven.</a:t>
            </a:r>
            <a:endParaRPr lang="en-US" sz="1300" dirty="0"/>
          </a:p>
        </p:txBody>
      </p:sp>
      <p:sp>
        <p:nvSpPr>
          <p:cNvPr id="21" name="Shape 19"/>
          <p:cNvSpPr/>
          <p:nvPr/>
        </p:nvSpPr>
        <p:spPr>
          <a:xfrm>
            <a:off x="566928" y="5285232"/>
            <a:ext cx="11064240" cy="768096"/>
          </a:xfrm>
          <a:prstGeom prst="roundRect">
            <a:avLst>
              <a:gd name="adj" fmla="val 7143"/>
            </a:avLst>
          </a:prstGeom>
          <a:solidFill>
            <a:srgbClr val="4A1E30"/>
          </a:solidFill>
          <a:ln w="12700">
            <a:solidFill>
              <a:srgbClr val="4A1E30"/>
            </a:solidFill>
            <a:prstDash val="solid"/>
          </a:ln>
        </p:spPr>
      </p:sp>
      <p:sp>
        <p:nvSpPr>
          <p:cNvPr id="22" name="Text 20"/>
          <p:cNvSpPr txBox="1"/>
          <p:nvPr/>
        </p:nvSpPr>
        <p:spPr>
          <a:xfrm>
            <a:off x="822960" y="5504688"/>
            <a:ext cx="10552176" cy="347472"/>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Ten independent judgements per item is an order of magnitude more annotation effort per clip than IEMOCAP's three raters per turn — and it is what makes the perception results trustworthy.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Making crowd ratings trustworthy</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The obvious objection to crowdsourcing, and how the paper answers it</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15</a:t>
            </a:r>
            <a:endParaRPr lang="en-US" sz="900" dirty="0"/>
          </a:p>
        </p:txBody>
      </p:sp>
      <p:sp>
        <p:nvSpPr>
          <p:cNvPr id="8" name="Shape 6"/>
          <p:cNvSpPr/>
          <p:nvPr/>
        </p:nvSpPr>
        <p:spPr>
          <a:xfrm>
            <a:off x="566928" y="1572768"/>
            <a:ext cx="3584448" cy="2148840"/>
          </a:xfrm>
          <a:prstGeom prst="roundRect">
            <a:avLst>
              <a:gd name="adj" fmla="val 2553"/>
            </a:avLst>
          </a:prstGeom>
          <a:solidFill>
            <a:srgbClr val="F7F2F4"/>
          </a:solidFill>
          <a:ln w="12700">
            <a:solidFill>
              <a:srgbClr val="EADDE2"/>
            </a:solidFill>
            <a:prstDash val="solid"/>
          </a:ln>
        </p:spPr>
      </p:sp>
      <p:sp>
        <p:nvSpPr>
          <p:cNvPr id="9" name="Shape 7"/>
          <p:cNvSpPr/>
          <p:nvPr/>
        </p:nvSpPr>
        <p:spPr>
          <a:xfrm>
            <a:off x="786384" y="1865376"/>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37360"/>
            <a:ext cx="294436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Screening the setup</a:t>
            </a:r>
            <a:endParaRPr lang="en-US" sz="1550" dirty="0"/>
          </a:p>
        </p:txBody>
      </p:sp>
      <p:sp>
        <p:nvSpPr>
          <p:cNvPr id="11" name="Text 9"/>
          <p:cNvSpPr txBox="1"/>
          <p:nvPr/>
        </p:nvSpPr>
        <p:spPr>
          <a:xfrm>
            <a:off x="822960" y="2176272"/>
            <a:ext cx="3072384" cy="136245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Raters in the audio conditions completed a sound check before starting, confirming they could hear target words correctly. Without it, a silent or broken playback would look exactly like a failure to recognise emotion.</a:t>
            </a:r>
            <a:endParaRPr lang="en-US" sz="1260" dirty="0"/>
          </a:p>
        </p:txBody>
      </p:sp>
      <p:sp>
        <p:nvSpPr>
          <p:cNvPr id="12" name="Shape 10"/>
          <p:cNvSpPr/>
          <p:nvPr/>
        </p:nvSpPr>
        <p:spPr>
          <a:xfrm>
            <a:off x="4279392" y="1572768"/>
            <a:ext cx="3584448" cy="2148840"/>
          </a:xfrm>
          <a:prstGeom prst="roundRect">
            <a:avLst>
              <a:gd name="adj" fmla="val 2553"/>
            </a:avLst>
          </a:prstGeom>
          <a:solidFill>
            <a:srgbClr val="F7F2F4"/>
          </a:solidFill>
          <a:ln w="12700">
            <a:solidFill>
              <a:srgbClr val="EADDE2"/>
            </a:solidFill>
            <a:prstDash val="solid"/>
          </a:ln>
        </p:spPr>
      </p:sp>
      <p:sp>
        <p:nvSpPr>
          <p:cNvPr id="13" name="Shape 11"/>
          <p:cNvSpPr/>
          <p:nvPr/>
        </p:nvSpPr>
        <p:spPr>
          <a:xfrm>
            <a:off x="4498848" y="1865376"/>
            <a:ext cx="109728" cy="109728"/>
          </a:xfrm>
          <a:prstGeom prst="ellipse">
            <a:avLst/>
          </a:prstGeom>
          <a:solidFill>
            <a:srgbClr val="C08A2E"/>
          </a:solidFill>
          <a:ln w="12700">
            <a:solidFill>
              <a:srgbClr val="333333"/>
            </a:solidFill>
            <a:prstDash val="solid"/>
          </a:ln>
        </p:spPr>
      </p:sp>
      <p:sp>
        <p:nvSpPr>
          <p:cNvPr id="14" name="Text 12"/>
          <p:cNvSpPr txBox="1"/>
          <p:nvPr/>
        </p:nvSpPr>
        <p:spPr>
          <a:xfrm>
            <a:off x="4700016" y="1737360"/>
            <a:ext cx="294436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Redundancy</a:t>
            </a:r>
            <a:endParaRPr lang="en-US" sz="1550" dirty="0"/>
          </a:p>
        </p:txBody>
      </p:sp>
      <p:sp>
        <p:nvSpPr>
          <p:cNvPr id="15" name="Text 13"/>
          <p:cNvSpPr txBox="1"/>
          <p:nvPr/>
        </p:nvSpPr>
        <p:spPr>
          <a:xfrm>
            <a:off x="4535424" y="2176272"/>
            <a:ext cx="3072384" cy="136245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Around ten independent raters per clip per modality means individual carelessness averages out, and it also yields a distribution over categories rather than a single vote — which is far more informative than a majority label.</a:t>
            </a:r>
            <a:endParaRPr lang="en-US" sz="1260" dirty="0"/>
          </a:p>
        </p:txBody>
      </p:sp>
      <p:sp>
        <p:nvSpPr>
          <p:cNvPr id="16" name="Shape 14"/>
          <p:cNvSpPr/>
          <p:nvPr/>
        </p:nvSpPr>
        <p:spPr>
          <a:xfrm>
            <a:off x="7991856" y="1572768"/>
            <a:ext cx="3639312" cy="2148840"/>
          </a:xfrm>
          <a:prstGeom prst="roundRect">
            <a:avLst>
              <a:gd name="adj" fmla="val 2553"/>
            </a:avLst>
          </a:prstGeom>
          <a:solidFill>
            <a:srgbClr val="F7F2F4"/>
          </a:solidFill>
          <a:ln w="12700">
            <a:solidFill>
              <a:srgbClr val="EADDE2"/>
            </a:solidFill>
            <a:prstDash val="solid"/>
          </a:ln>
        </p:spPr>
      </p:sp>
      <p:sp>
        <p:nvSpPr>
          <p:cNvPr id="17" name="Shape 15"/>
          <p:cNvSpPr/>
          <p:nvPr/>
        </p:nvSpPr>
        <p:spPr>
          <a:xfrm>
            <a:off x="8211312" y="1865376"/>
            <a:ext cx="109728" cy="109728"/>
          </a:xfrm>
          <a:prstGeom prst="ellipse">
            <a:avLst/>
          </a:prstGeom>
          <a:solidFill>
            <a:srgbClr val="3D7068"/>
          </a:solidFill>
          <a:ln w="12700">
            <a:solidFill>
              <a:srgbClr val="333333"/>
            </a:solidFill>
            <a:prstDash val="solid"/>
          </a:ln>
        </p:spPr>
      </p:sp>
      <p:sp>
        <p:nvSpPr>
          <p:cNvPr id="18" name="Text 16"/>
          <p:cNvSpPr txBox="1"/>
          <p:nvPr/>
        </p:nvSpPr>
        <p:spPr>
          <a:xfrm>
            <a:off x="8412480" y="1737360"/>
            <a:ext cx="2999232"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Reported agreement</a:t>
            </a:r>
            <a:endParaRPr lang="en-US" sz="1550" dirty="0"/>
          </a:p>
        </p:txBody>
      </p:sp>
      <p:sp>
        <p:nvSpPr>
          <p:cNvPr id="19" name="Text 17"/>
          <p:cNvSpPr txBox="1"/>
          <p:nvPr/>
        </p:nvSpPr>
        <p:spPr>
          <a:xfrm>
            <a:off x="8247888" y="2176272"/>
            <a:ext cx="3127248" cy="136245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Inter-rater reliability is reported with Krippendorff's alpha, which handles many raters and incomplete rating matrices — the right choice here, where no two raters see the same set of clips.</a:t>
            </a:r>
            <a:endParaRPr lang="en-US" sz="1260" dirty="0"/>
          </a:p>
        </p:txBody>
      </p:sp>
      <p:sp>
        <p:nvSpPr>
          <p:cNvPr id="20" name="Shape 18"/>
          <p:cNvSpPr/>
          <p:nvPr/>
        </p:nvSpPr>
        <p:spPr>
          <a:xfrm>
            <a:off x="566928" y="3931920"/>
            <a:ext cx="5440680" cy="2093976"/>
          </a:xfrm>
          <a:prstGeom prst="roundRect">
            <a:avLst>
              <a:gd name="adj" fmla="val 2620"/>
            </a:avLst>
          </a:prstGeom>
          <a:solidFill>
            <a:srgbClr val="F7F2F4"/>
          </a:solidFill>
          <a:ln w="12700">
            <a:solidFill>
              <a:srgbClr val="EADDE2"/>
            </a:solidFill>
            <a:prstDash val="solid"/>
          </a:ln>
        </p:spPr>
      </p:sp>
      <p:sp>
        <p:nvSpPr>
          <p:cNvPr id="21" name="Shape 19"/>
          <p:cNvSpPr/>
          <p:nvPr/>
        </p:nvSpPr>
        <p:spPr>
          <a:xfrm>
            <a:off x="786384" y="4224528"/>
            <a:ext cx="109728" cy="109728"/>
          </a:xfrm>
          <a:prstGeom prst="ellipse">
            <a:avLst/>
          </a:prstGeom>
          <a:solidFill>
            <a:srgbClr val="6D2E46"/>
          </a:solidFill>
          <a:ln w="12700">
            <a:solidFill>
              <a:srgbClr val="333333"/>
            </a:solidFill>
            <a:prstDash val="solid"/>
          </a:ln>
        </p:spPr>
      </p:sp>
      <p:sp>
        <p:nvSpPr>
          <p:cNvPr id="22" name="Text 20"/>
          <p:cNvSpPr txBox="1"/>
          <p:nvPr/>
        </p:nvSpPr>
        <p:spPr>
          <a:xfrm>
            <a:off x="987552" y="4096512"/>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Roughly where the agreement lands</a:t>
            </a:r>
            <a:endParaRPr lang="en-US" sz="1550" dirty="0"/>
          </a:p>
        </p:txBody>
      </p:sp>
      <p:sp>
        <p:nvSpPr>
          <p:cNvPr id="23" name="Text 21"/>
          <p:cNvSpPr txBox="1"/>
          <p:nvPr/>
        </p:nvSpPr>
        <p:spPr>
          <a:xfrm>
            <a:off x="822960" y="4535424"/>
            <a:ext cx="4928616" cy="1307592"/>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Alpha of about 0.42 across the corpus — 'moderate' by conventional interpretation, and in the same broad territory as IEMOCAP's Fleiss kappa of 0.27.</a:t>
            </a:r>
            <a:endParaRPr lang="en-US" sz="1260" dirty="0"/>
          </a:p>
          <a:p>
            <a:pPr indent="0" marL="0">
              <a:lnSpc>
                <a:spcPct val="108000"/>
              </a:lnSpc>
              <a:buNone/>
            </a:pPr>
            <a:endParaRPr lang="en-US" sz="1260" dirty="0"/>
          </a:p>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Emotion perception is simply not a task on which people agree strongly. Any corpus claiming near-perfect agreement has probably restricted itself to unambiguously extreme displays.</a:t>
            </a:r>
            <a:endParaRPr lang="en-US" sz="1260" dirty="0"/>
          </a:p>
        </p:txBody>
      </p:sp>
      <p:sp>
        <p:nvSpPr>
          <p:cNvPr id="24" name="Shape 22"/>
          <p:cNvSpPr/>
          <p:nvPr/>
        </p:nvSpPr>
        <p:spPr>
          <a:xfrm>
            <a:off x="6190488" y="3931920"/>
            <a:ext cx="5440680" cy="2093976"/>
          </a:xfrm>
          <a:prstGeom prst="roundRect">
            <a:avLst>
              <a:gd name="adj" fmla="val 2620"/>
            </a:avLst>
          </a:prstGeom>
          <a:solidFill>
            <a:srgbClr val="F7F2F4"/>
          </a:solidFill>
          <a:ln w="12700">
            <a:solidFill>
              <a:srgbClr val="EADDE2"/>
            </a:solidFill>
            <a:prstDash val="solid"/>
          </a:ln>
        </p:spPr>
      </p:sp>
      <p:sp>
        <p:nvSpPr>
          <p:cNvPr id="25" name="Shape 23"/>
          <p:cNvSpPr/>
          <p:nvPr/>
        </p:nvSpPr>
        <p:spPr>
          <a:xfrm>
            <a:off x="6409944" y="4224528"/>
            <a:ext cx="109728" cy="109728"/>
          </a:xfrm>
          <a:prstGeom prst="ellipse">
            <a:avLst/>
          </a:prstGeom>
          <a:solidFill>
            <a:srgbClr val="C08A2E"/>
          </a:solidFill>
          <a:ln w="12700">
            <a:solidFill>
              <a:srgbClr val="333333"/>
            </a:solidFill>
            <a:prstDash val="solid"/>
          </a:ln>
        </p:spPr>
      </p:sp>
      <p:sp>
        <p:nvSpPr>
          <p:cNvPr id="26" name="Text 24"/>
          <p:cNvSpPr txBox="1"/>
          <p:nvPr/>
        </p:nvSpPr>
        <p:spPr>
          <a:xfrm>
            <a:off x="6611112" y="4096512"/>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A caution about comparing the two figures</a:t>
            </a:r>
            <a:endParaRPr lang="en-US" sz="1550" dirty="0"/>
          </a:p>
        </p:txBody>
      </p:sp>
      <p:sp>
        <p:nvSpPr>
          <p:cNvPr id="27" name="Text 25"/>
          <p:cNvSpPr txBox="1"/>
          <p:nvPr/>
        </p:nvSpPr>
        <p:spPr>
          <a:xfrm>
            <a:off x="6446520" y="4535424"/>
            <a:ext cx="4928616" cy="1307592"/>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Kappa and alpha are different statistics, computed over different label sets — nine categories with multi-labelling allowed in IEMOCAP, six forced-choice categories here — and over different stimuli. Treat them as broadly comparable in magnitude, not as a ranking.</a:t>
            </a:r>
            <a:endParaRPr lang="en-US" sz="12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A1E30"/>
        </a:solidFill>
      </p:bgPr>
    </p:bg>
    <p:spTree>
      <p:nvGrpSpPr>
        <p:cNvPr id="1" name=""/>
        <p:cNvGrpSpPr/>
        <p:nvPr/>
      </p:nvGrpSpPr>
      <p:grpSpPr>
        <a:xfrm>
          <a:off x="0" y="0"/>
          <a:ext cx="0" cy="0"/>
          <a:chOff x="0" y="0"/>
          <a:chExt cx="0" cy="0"/>
        </a:xfrm>
      </p:grpSpPr>
      <p:sp>
        <p:nvSpPr>
          <p:cNvPr id="2" name="Shape 0"/>
          <p:cNvSpPr/>
          <p:nvPr/>
        </p:nvSpPr>
        <p:spPr>
          <a:xfrm>
            <a:off x="10561320" y="5349240"/>
            <a:ext cx="155448" cy="155448"/>
          </a:xfrm>
          <a:prstGeom prst="ellipse">
            <a:avLst/>
          </a:prstGeom>
          <a:solidFill>
            <a:srgbClr val="6D2E46"/>
          </a:solidFill>
          <a:ln w="12700">
            <a:solidFill>
              <a:srgbClr val="333333"/>
            </a:solidFill>
            <a:prstDash val="solid"/>
          </a:ln>
        </p:spPr>
      </p:sp>
      <p:sp>
        <p:nvSpPr>
          <p:cNvPr id="3" name="Shape 1"/>
          <p:cNvSpPr/>
          <p:nvPr/>
        </p:nvSpPr>
        <p:spPr>
          <a:xfrm>
            <a:off x="10794492" y="5349240"/>
            <a:ext cx="155448" cy="155448"/>
          </a:xfrm>
          <a:prstGeom prst="ellipse">
            <a:avLst/>
          </a:prstGeom>
          <a:solidFill>
            <a:srgbClr val="C08A2E"/>
          </a:solidFill>
          <a:ln w="12700">
            <a:solidFill>
              <a:srgbClr val="333333"/>
            </a:solidFill>
            <a:prstDash val="solid"/>
          </a:ln>
        </p:spPr>
      </p:sp>
      <p:sp>
        <p:nvSpPr>
          <p:cNvPr id="4" name="Shape 2"/>
          <p:cNvSpPr/>
          <p:nvPr/>
        </p:nvSpPr>
        <p:spPr>
          <a:xfrm>
            <a:off x="11027664" y="5349240"/>
            <a:ext cx="155448" cy="155448"/>
          </a:xfrm>
          <a:prstGeom prst="ellipse">
            <a:avLst/>
          </a:prstGeom>
          <a:solidFill>
            <a:srgbClr val="3D7068"/>
          </a:solidFill>
          <a:ln w="12700">
            <a:solidFill>
              <a:srgbClr val="333333"/>
            </a:solidFill>
            <a:prstDash val="solid"/>
          </a:ln>
        </p:spPr>
      </p:sp>
      <p:sp>
        <p:nvSpPr>
          <p:cNvPr id="5" name="Text 3"/>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C08A2E"/>
                </a:solidFill>
                <a:latin typeface="Cambria" pitchFamily="34" charset="0"/>
                <a:ea typeface="Cambria" pitchFamily="34" charset="-122"/>
                <a:cs typeface="Cambria" pitchFamily="34" charset="-120"/>
              </a:rPr>
              <a:t>4</a:t>
            </a:r>
            <a:endParaRPr lang="en-US" sz="6800" dirty="0"/>
          </a:p>
        </p:txBody>
      </p:sp>
      <p:sp>
        <p:nvSpPr>
          <p:cNvPr id="6" name="Text 4"/>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Results</a:t>
            </a:r>
            <a:endParaRPr lang="en-US" sz="3400" dirty="0"/>
          </a:p>
        </p:txBody>
      </p:sp>
      <p:sp>
        <p:nvSpPr>
          <p:cNvPr id="7" name="Text 5"/>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E7D5DA"/>
                </a:solidFill>
                <a:latin typeface="Calibri" pitchFamily="34" charset="0"/>
                <a:ea typeface="Calibri" pitchFamily="34" charset="-122"/>
                <a:cs typeface="Calibri" pitchFamily="34" charset="-120"/>
              </a:rPr>
              <a:t>What the perception study found</a:t>
            </a:r>
            <a:endParaRPr lang="en-US" sz="1500" dirty="0"/>
          </a:p>
        </p:txBody>
      </p:sp>
      <p:sp>
        <p:nvSpPr>
          <p:cNvPr id="8" name="Text 6"/>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The headline result</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How often raters recovered the emotion the actor intended</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17</a:t>
            </a:r>
            <a:endParaRPr lang="en-US" sz="900" dirty="0"/>
          </a:p>
        </p:txBody>
      </p:sp>
      <p:graphicFrame>
        <p:nvGraphicFramePr>
          <p:cNvPr id="8" name="Chart 0" descr=""/>
          <p:cNvGraphicFramePr/>
          <p:nvPr/>
        </p:nvGraphicFramePr>
        <p:xfrm>
          <a:off x="566928" y="1572768"/>
          <a:ext cx="6400800" cy="32461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223760" y="1572768"/>
            <a:ext cx="4407408" cy="1536192"/>
          </a:xfrm>
          <a:prstGeom prst="roundRect">
            <a:avLst>
              <a:gd name="adj" fmla="val 3571"/>
            </a:avLst>
          </a:prstGeom>
          <a:solidFill>
            <a:srgbClr val="F7F2F4"/>
          </a:solidFill>
          <a:ln w="12700">
            <a:solidFill>
              <a:srgbClr val="EADDE2"/>
            </a:solidFill>
            <a:prstDash val="solid"/>
          </a:ln>
        </p:spPr>
      </p:sp>
      <p:sp>
        <p:nvSpPr>
          <p:cNvPr id="10" name="Shape 7"/>
          <p:cNvSpPr/>
          <p:nvPr/>
        </p:nvSpPr>
        <p:spPr>
          <a:xfrm>
            <a:off x="7443216" y="1865376"/>
            <a:ext cx="109728" cy="109728"/>
          </a:xfrm>
          <a:prstGeom prst="ellipse">
            <a:avLst/>
          </a:prstGeom>
          <a:solidFill>
            <a:srgbClr val="6D2E46"/>
          </a:solidFill>
          <a:ln w="12700">
            <a:solidFill>
              <a:srgbClr val="333333"/>
            </a:solidFill>
            <a:prstDash val="solid"/>
          </a:ln>
        </p:spPr>
      </p:sp>
      <p:sp>
        <p:nvSpPr>
          <p:cNvPr id="11" name="Text 8"/>
          <p:cNvSpPr txBox="1"/>
          <p:nvPr/>
        </p:nvSpPr>
        <p:spPr>
          <a:xfrm>
            <a:off x="7644384" y="1737360"/>
            <a:ext cx="376732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The face dominates</a:t>
            </a:r>
            <a:endParaRPr lang="en-US" sz="1550" dirty="0"/>
          </a:p>
        </p:txBody>
      </p:sp>
      <p:sp>
        <p:nvSpPr>
          <p:cNvPr id="12" name="Text 9"/>
          <p:cNvSpPr txBox="1"/>
          <p:nvPr/>
        </p:nvSpPr>
        <p:spPr>
          <a:xfrm>
            <a:off x="7479792" y="2176272"/>
            <a:ext cx="3895344" cy="749808"/>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Seeing the expression alone recovers the intended emotion far more often than hearing the voice alone — a gap of some seventeen points.</a:t>
            </a:r>
            <a:endParaRPr lang="en-US" sz="1260" dirty="0"/>
          </a:p>
        </p:txBody>
      </p:sp>
      <p:sp>
        <p:nvSpPr>
          <p:cNvPr id="13" name="Shape 10"/>
          <p:cNvSpPr/>
          <p:nvPr/>
        </p:nvSpPr>
        <p:spPr>
          <a:xfrm>
            <a:off x="7223760" y="3255264"/>
            <a:ext cx="4407408" cy="1563624"/>
          </a:xfrm>
          <a:prstGeom prst="roundRect">
            <a:avLst>
              <a:gd name="adj" fmla="val 3509"/>
            </a:avLst>
          </a:prstGeom>
          <a:solidFill>
            <a:srgbClr val="F7F2F4"/>
          </a:solidFill>
          <a:ln w="12700">
            <a:solidFill>
              <a:srgbClr val="EADDE2"/>
            </a:solidFill>
            <a:prstDash val="solid"/>
          </a:ln>
        </p:spPr>
      </p:sp>
      <p:sp>
        <p:nvSpPr>
          <p:cNvPr id="14" name="Shape 11"/>
          <p:cNvSpPr/>
          <p:nvPr/>
        </p:nvSpPr>
        <p:spPr>
          <a:xfrm>
            <a:off x="7443216" y="3547872"/>
            <a:ext cx="109728" cy="109728"/>
          </a:xfrm>
          <a:prstGeom prst="ellipse">
            <a:avLst/>
          </a:prstGeom>
          <a:solidFill>
            <a:srgbClr val="3D7068"/>
          </a:solidFill>
          <a:ln w="12700">
            <a:solidFill>
              <a:srgbClr val="333333"/>
            </a:solidFill>
            <a:prstDash val="solid"/>
          </a:ln>
        </p:spPr>
      </p:sp>
      <p:sp>
        <p:nvSpPr>
          <p:cNvPr id="15" name="Text 12"/>
          <p:cNvSpPr txBox="1"/>
          <p:nvPr/>
        </p:nvSpPr>
        <p:spPr>
          <a:xfrm>
            <a:off x="7644384" y="3419856"/>
            <a:ext cx="376732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But the voice still adds</a:t>
            </a:r>
            <a:endParaRPr lang="en-US" sz="1550" dirty="0"/>
          </a:p>
        </p:txBody>
      </p:sp>
      <p:sp>
        <p:nvSpPr>
          <p:cNvPr id="16" name="Text 13"/>
          <p:cNvSpPr txBox="1"/>
          <p:nvPr/>
        </p:nvSpPr>
        <p:spPr>
          <a:xfrm>
            <a:off x="7479792" y="3858768"/>
            <a:ext cx="3895344" cy="777240"/>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Audio-visual beats face-only. If the face were doing all the work, adding sound would change nothing. Raters are integrating the two channels.</a:t>
            </a:r>
            <a:endParaRPr lang="en-US" sz="1260" dirty="0"/>
          </a:p>
        </p:txBody>
      </p:sp>
      <p:sp>
        <p:nvSpPr>
          <p:cNvPr id="17" name="Shape 14"/>
          <p:cNvSpPr/>
          <p:nvPr/>
        </p:nvSpPr>
        <p:spPr>
          <a:xfrm>
            <a:off x="566928" y="4974336"/>
            <a:ext cx="11064240" cy="1051560"/>
          </a:xfrm>
          <a:prstGeom prst="roundRect">
            <a:avLst>
              <a:gd name="adj" fmla="val 5217"/>
            </a:avLst>
          </a:prstGeom>
          <a:solidFill>
            <a:srgbClr val="4A1E30"/>
          </a:solidFill>
          <a:ln w="12700">
            <a:solidFill>
              <a:srgbClr val="4A1E30"/>
            </a:solidFill>
            <a:prstDash val="solid"/>
          </a:ln>
        </p:spPr>
      </p:sp>
      <p:sp>
        <p:nvSpPr>
          <p:cNvPr id="18" name="Shape 15"/>
          <p:cNvSpPr/>
          <p:nvPr/>
        </p:nvSpPr>
        <p:spPr>
          <a:xfrm>
            <a:off x="786384" y="5266944"/>
            <a:ext cx="109728" cy="109728"/>
          </a:xfrm>
          <a:prstGeom prst="ellipse">
            <a:avLst/>
          </a:prstGeom>
          <a:solidFill>
            <a:srgbClr val="C08A2E"/>
          </a:solidFill>
          <a:ln w="12700">
            <a:solidFill>
              <a:srgbClr val="333333"/>
            </a:solidFill>
            <a:prstDash val="solid"/>
          </a:ln>
        </p:spPr>
      </p:sp>
      <p:sp>
        <p:nvSpPr>
          <p:cNvPr id="19" name="Text 16"/>
          <p:cNvSpPr txBox="1"/>
          <p:nvPr/>
        </p:nvSpPr>
        <p:spPr>
          <a:xfrm>
            <a:off x="987552" y="5138928"/>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Read the absolute numbers carefully</a:t>
            </a:r>
            <a:endParaRPr lang="en-US" sz="1550" dirty="0"/>
          </a:p>
        </p:txBody>
      </p:sp>
      <p:sp>
        <p:nvSpPr>
          <p:cNvPr id="20" name="Text 17"/>
          <p:cNvSpPr txBox="1"/>
          <p:nvPr/>
        </p:nvSpPr>
        <p:spPr>
          <a:xfrm>
            <a:off x="822960" y="5577840"/>
            <a:ext cx="10552176" cy="265176"/>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Even with both channels, raters and actors agree less than two-thirds of the time. Emotional communication through short, context-free utterances is intrinsically lossy — which sets a realistic ceiling for what any recogniser on this corpus should be expected to achieve.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Not all emotions travel equally well</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Reported ordering of recognition rates, from most to least reliably recognised</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18</a:t>
            </a:r>
            <a:endParaRPr lang="en-US" sz="900" dirty="0"/>
          </a:p>
        </p:txBody>
      </p:sp>
      <p:sp>
        <p:nvSpPr>
          <p:cNvPr id="8" name="Shape 6"/>
          <p:cNvSpPr/>
          <p:nvPr/>
        </p:nvSpPr>
        <p:spPr>
          <a:xfrm>
            <a:off x="566928" y="1554480"/>
            <a:ext cx="11064240" cy="722376"/>
          </a:xfrm>
          <a:prstGeom prst="roundRect">
            <a:avLst>
              <a:gd name="adj" fmla="val 5063"/>
            </a:avLst>
          </a:prstGeom>
          <a:solidFill>
            <a:srgbClr val="F7F2F4"/>
          </a:solidFill>
          <a:ln w="12700">
            <a:solidFill>
              <a:srgbClr val="EFE6EA"/>
            </a:solidFill>
            <a:prstDash val="solid"/>
          </a:ln>
        </p:spPr>
      </p:sp>
      <p:sp>
        <p:nvSpPr>
          <p:cNvPr id="9" name="Shape 7"/>
          <p:cNvSpPr/>
          <p:nvPr/>
        </p:nvSpPr>
        <p:spPr>
          <a:xfrm>
            <a:off x="804672" y="1773936"/>
            <a:ext cx="292608" cy="292608"/>
          </a:xfrm>
          <a:prstGeom prst="ellipse">
            <a:avLst/>
          </a:prstGeom>
          <a:solidFill>
            <a:srgbClr val="6D2E46"/>
          </a:solidFill>
          <a:ln w="12700">
            <a:solidFill>
              <a:srgbClr val="333333"/>
            </a:solidFill>
            <a:prstDash val="solid"/>
          </a:ln>
        </p:spPr>
      </p:sp>
      <p:sp>
        <p:nvSpPr>
          <p:cNvPr id="10" name="Text 8"/>
          <p:cNvSpPr txBox="1"/>
          <p:nvPr/>
        </p:nvSpPr>
        <p:spPr>
          <a:xfrm>
            <a:off x="804672" y="1801368"/>
            <a:ext cx="292608"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11" name="Text 9"/>
          <p:cNvSpPr txBox="1"/>
          <p:nvPr/>
        </p:nvSpPr>
        <p:spPr>
          <a:xfrm>
            <a:off x="1261872" y="1773936"/>
            <a:ext cx="146304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Neutral</a:t>
            </a:r>
            <a:endParaRPr lang="en-US" sz="1400" dirty="0"/>
          </a:p>
        </p:txBody>
      </p:sp>
      <p:sp>
        <p:nvSpPr>
          <p:cNvPr id="12" name="Text 10"/>
          <p:cNvSpPr txBox="1"/>
          <p:nvPr/>
        </p:nvSpPr>
        <p:spPr>
          <a:xfrm>
            <a:off x="2834640" y="1700784"/>
            <a:ext cx="8595360" cy="45720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The easiest category, and partly by construction: it is what raters fall back on when nothing distinctive is present.</a:t>
            </a:r>
            <a:endParaRPr lang="en-US" sz="1200" dirty="0"/>
          </a:p>
        </p:txBody>
      </p:sp>
      <p:sp>
        <p:nvSpPr>
          <p:cNvPr id="13" name="Shape 11"/>
          <p:cNvSpPr/>
          <p:nvPr/>
        </p:nvSpPr>
        <p:spPr>
          <a:xfrm>
            <a:off x="566928" y="2331720"/>
            <a:ext cx="11064240" cy="722376"/>
          </a:xfrm>
          <a:prstGeom prst="roundRect">
            <a:avLst>
              <a:gd name="adj" fmla="val 5063"/>
            </a:avLst>
          </a:prstGeom>
          <a:solidFill>
            <a:srgbClr val="FFFFFF"/>
          </a:solidFill>
          <a:ln w="12700">
            <a:solidFill>
              <a:srgbClr val="EFE6EA"/>
            </a:solidFill>
            <a:prstDash val="solid"/>
          </a:ln>
        </p:spPr>
      </p:sp>
      <p:sp>
        <p:nvSpPr>
          <p:cNvPr id="14" name="Shape 12"/>
          <p:cNvSpPr/>
          <p:nvPr/>
        </p:nvSpPr>
        <p:spPr>
          <a:xfrm>
            <a:off x="804672" y="2551176"/>
            <a:ext cx="292608" cy="292608"/>
          </a:xfrm>
          <a:prstGeom prst="ellipse">
            <a:avLst/>
          </a:prstGeom>
          <a:solidFill>
            <a:srgbClr val="6D2E46"/>
          </a:solidFill>
          <a:ln w="12700">
            <a:solidFill>
              <a:srgbClr val="333333"/>
            </a:solidFill>
            <a:prstDash val="solid"/>
          </a:ln>
        </p:spPr>
      </p:sp>
      <p:sp>
        <p:nvSpPr>
          <p:cNvPr id="15" name="Text 13"/>
          <p:cNvSpPr txBox="1"/>
          <p:nvPr/>
        </p:nvSpPr>
        <p:spPr>
          <a:xfrm>
            <a:off x="804672" y="2578608"/>
            <a:ext cx="292608"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6" name="Text 14"/>
          <p:cNvSpPr txBox="1"/>
          <p:nvPr/>
        </p:nvSpPr>
        <p:spPr>
          <a:xfrm>
            <a:off x="1261872" y="2551176"/>
            <a:ext cx="146304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Happy</a:t>
            </a:r>
            <a:endParaRPr lang="en-US" sz="1400" dirty="0"/>
          </a:p>
        </p:txBody>
      </p:sp>
      <p:sp>
        <p:nvSpPr>
          <p:cNvPr id="17" name="Text 15"/>
          <p:cNvSpPr txBox="1"/>
          <p:nvPr/>
        </p:nvSpPr>
        <p:spPr>
          <a:xfrm>
            <a:off x="2834640" y="2478024"/>
            <a:ext cx="8595360" cy="45720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Carried strongly in the face by the smile, and in the voice by raised pitch and energy.</a:t>
            </a:r>
            <a:endParaRPr lang="en-US" sz="1200" dirty="0"/>
          </a:p>
        </p:txBody>
      </p:sp>
      <p:sp>
        <p:nvSpPr>
          <p:cNvPr id="18" name="Shape 16"/>
          <p:cNvSpPr/>
          <p:nvPr/>
        </p:nvSpPr>
        <p:spPr>
          <a:xfrm>
            <a:off x="566928" y="3108960"/>
            <a:ext cx="11064240" cy="722376"/>
          </a:xfrm>
          <a:prstGeom prst="roundRect">
            <a:avLst>
              <a:gd name="adj" fmla="val 5063"/>
            </a:avLst>
          </a:prstGeom>
          <a:solidFill>
            <a:srgbClr val="F7F2F4"/>
          </a:solidFill>
          <a:ln w="12700">
            <a:solidFill>
              <a:srgbClr val="EFE6EA"/>
            </a:solidFill>
            <a:prstDash val="solid"/>
          </a:ln>
        </p:spPr>
      </p:sp>
      <p:sp>
        <p:nvSpPr>
          <p:cNvPr id="19" name="Shape 17"/>
          <p:cNvSpPr/>
          <p:nvPr/>
        </p:nvSpPr>
        <p:spPr>
          <a:xfrm>
            <a:off x="804672" y="3328416"/>
            <a:ext cx="292608" cy="292608"/>
          </a:xfrm>
          <a:prstGeom prst="ellipse">
            <a:avLst/>
          </a:prstGeom>
          <a:solidFill>
            <a:srgbClr val="C08A2E"/>
          </a:solidFill>
          <a:ln w="12700">
            <a:solidFill>
              <a:srgbClr val="333333"/>
            </a:solidFill>
            <a:prstDash val="solid"/>
          </a:ln>
        </p:spPr>
      </p:sp>
      <p:sp>
        <p:nvSpPr>
          <p:cNvPr id="20" name="Text 18"/>
          <p:cNvSpPr txBox="1"/>
          <p:nvPr/>
        </p:nvSpPr>
        <p:spPr>
          <a:xfrm>
            <a:off x="804672" y="3355848"/>
            <a:ext cx="292608"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21" name="Text 19"/>
          <p:cNvSpPr txBox="1"/>
          <p:nvPr/>
        </p:nvSpPr>
        <p:spPr>
          <a:xfrm>
            <a:off x="1261872" y="3328416"/>
            <a:ext cx="146304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Anger</a:t>
            </a:r>
            <a:endParaRPr lang="en-US" sz="1400" dirty="0"/>
          </a:p>
        </p:txBody>
      </p:sp>
      <p:sp>
        <p:nvSpPr>
          <p:cNvPr id="22" name="Text 20"/>
          <p:cNvSpPr txBox="1"/>
          <p:nvPr/>
        </p:nvSpPr>
        <p:spPr>
          <a:xfrm>
            <a:off x="2834640" y="3255264"/>
            <a:ext cx="8595360" cy="45720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High arousal and high energy make it salient in both channels.</a:t>
            </a:r>
            <a:endParaRPr lang="en-US" sz="1200" dirty="0"/>
          </a:p>
        </p:txBody>
      </p:sp>
      <p:sp>
        <p:nvSpPr>
          <p:cNvPr id="23" name="Shape 21"/>
          <p:cNvSpPr/>
          <p:nvPr/>
        </p:nvSpPr>
        <p:spPr>
          <a:xfrm>
            <a:off x="566928" y="3886200"/>
            <a:ext cx="11064240" cy="722376"/>
          </a:xfrm>
          <a:prstGeom prst="roundRect">
            <a:avLst>
              <a:gd name="adj" fmla="val 5063"/>
            </a:avLst>
          </a:prstGeom>
          <a:solidFill>
            <a:srgbClr val="FFFFFF"/>
          </a:solidFill>
          <a:ln w="12700">
            <a:solidFill>
              <a:srgbClr val="EFE6EA"/>
            </a:solidFill>
            <a:prstDash val="solid"/>
          </a:ln>
        </p:spPr>
      </p:sp>
      <p:sp>
        <p:nvSpPr>
          <p:cNvPr id="24" name="Shape 22"/>
          <p:cNvSpPr/>
          <p:nvPr/>
        </p:nvSpPr>
        <p:spPr>
          <a:xfrm>
            <a:off x="804672" y="4105656"/>
            <a:ext cx="292608" cy="292608"/>
          </a:xfrm>
          <a:prstGeom prst="ellipse">
            <a:avLst/>
          </a:prstGeom>
          <a:solidFill>
            <a:srgbClr val="C08A2E"/>
          </a:solidFill>
          <a:ln w="12700">
            <a:solidFill>
              <a:srgbClr val="333333"/>
            </a:solidFill>
            <a:prstDash val="solid"/>
          </a:ln>
        </p:spPr>
      </p:sp>
      <p:sp>
        <p:nvSpPr>
          <p:cNvPr id="25" name="Text 23"/>
          <p:cNvSpPr txBox="1"/>
          <p:nvPr/>
        </p:nvSpPr>
        <p:spPr>
          <a:xfrm>
            <a:off x="804672" y="4133088"/>
            <a:ext cx="292608"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26" name="Text 24"/>
          <p:cNvSpPr txBox="1"/>
          <p:nvPr/>
        </p:nvSpPr>
        <p:spPr>
          <a:xfrm>
            <a:off x="1261872" y="4105656"/>
            <a:ext cx="146304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Disgust</a:t>
            </a:r>
            <a:endParaRPr lang="en-US" sz="1400" dirty="0"/>
          </a:p>
        </p:txBody>
      </p:sp>
      <p:sp>
        <p:nvSpPr>
          <p:cNvPr id="27" name="Text 25"/>
          <p:cNvSpPr txBox="1"/>
          <p:nvPr/>
        </p:nvSpPr>
        <p:spPr>
          <a:xfrm>
            <a:off x="2834640" y="4032504"/>
            <a:ext cx="8595360" cy="45720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A face emotion above all — the characteristic nose and upper-lip movement has no clear vocal counterpart.</a:t>
            </a:r>
            <a:endParaRPr lang="en-US" sz="1200" dirty="0"/>
          </a:p>
        </p:txBody>
      </p:sp>
      <p:sp>
        <p:nvSpPr>
          <p:cNvPr id="28" name="Shape 26"/>
          <p:cNvSpPr/>
          <p:nvPr/>
        </p:nvSpPr>
        <p:spPr>
          <a:xfrm>
            <a:off x="566928" y="4663440"/>
            <a:ext cx="11064240" cy="722376"/>
          </a:xfrm>
          <a:prstGeom prst="roundRect">
            <a:avLst>
              <a:gd name="adj" fmla="val 5063"/>
            </a:avLst>
          </a:prstGeom>
          <a:solidFill>
            <a:srgbClr val="F7F2F4"/>
          </a:solidFill>
          <a:ln w="12700">
            <a:solidFill>
              <a:srgbClr val="EFE6EA"/>
            </a:solidFill>
            <a:prstDash val="solid"/>
          </a:ln>
        </p:spPr>
      </p:sp>
      <p:sp>
        <p:nvSpPr>
          <p:cNvPr id="29" name="Shape 27"/>
          <p:cNvSpPr/>
          <p:nvPr/>
        </p:nvSpPr>
        <p:spPr>
          <a:xfrm>
            <a:off x="804672" y="4882896"/>
            <a:ext cx="292608" cy="292608"/>
          </a:xfrm>
          <a:prstGeom prst="ellipse">
            <a:avLst/>
          </a:prstGeom>
          <a:solidFill>
            <a:srgbClr val="3D7068"/>
          </a:solidFill>
          <a:ln w="12700">
            <a:solidFill>
              <a:srgbClr val="333333"/>
            </a:solidFill>
            <a:prstDash val="solid"/>
          </a:ln>
        </p:spPr>
      </p:sp>
      <p:sp>
        <p:nvSpPr>
          <p:cNvPr id="30" name="Text 28"/>
          <p:cNvSpPr txBox="1"/>
          <p:nvPr/>
        </p:nvSpPr>
        <p:spPr>
          <a:xfrm>
            <a:off x="804672" y="4910328"/>
            <a:ext cx="292608"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5</a:t>
            </a:r>
            <a:endParaRPr lang="en-US" sz="1150" dirty="0"/>
          </a:p>
        </p:txBody>
      </p:sp>
      <p:sp>
        <p:nvSpPr>
          <p:cNvPr id="31" name="Text 29"/>
          <p:cNvSpPr txBox="1"/>
          <p:nvPr/>
        </p:nvSpPr>
        <p:spPr>
          <a:xfrm>
            <a:off x="1261872" y="4882896"/>
            <a:ext cx="146304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Fear</a:t>
            </a:r>
            <a:endParaRPr lang="en-US" sz="1400" dirty="0"/>
          </a:p>
        </p:txBody>
      </p:sp>
      <p:sp>
        <p:nvSpPr>
          <p:cNvPr id="32" name="Text 30"/>
          <p:cNvSpPr txBox="1"/>
          <p:nvPr/>
        </p:nvSpPr>
        <p:spPr>
          <a:xfrm>
            <a:off x="2834640" y="4809744"/>
            <a:ext cx="8595360" cy="45720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Frequently confused with surprise and with sadness; low-arousal fear in particular is hard to read.</a:t>
            </a:r>
            <a:endParaRPr lang="en-US" sz="1200" dirty="0"/>
          </a:p>
        </p:txBody>
      </p:sp>
      <p:sp>
        <p:nvSpPr>
          <p:cNvPr id="33" name="Shape 31"/>
          <p:cNvSpPr/>
          <p:nvPr/>
        </p:nvSpPr>
        <p:spPr>
          <a:xfrm>
            <a:off x="566928" y="5440680"/>
            <a:ext cx="11064240" cy="722376"/>
          </a:xfrm>
          <a:prstGeom prst="roundRect">
            <a:avLst>
              <a:gd name="adj" fmla="val 5063"/>
            </a:avLst>
          </a:prstGeom>
          <a:solidFill>
            <a:srgbClr val="FFFFFF"/>
          </a:solidFill>
          <a:ln w="12700">
            <a:solidFill>
              <a:srgbClr val="EFE6EA"/>
            </a:solidFill>
            <a:prstDash val="solid"/>
          </a:ln>
        </p:spPr>
      </p:sp>
      <p:sp>
        <p:nvSpPr>
          <p:cNvPr id="34" name="Shape 32"/>
          <p:cNvSpPr/>
          <p:nvPr/>
        </p:nvSpPr>
        <p:spPr>
          <a:xfrm>
            <a:off x="804672" y="5660136"/>
            <a:ext cx="292608" cy="292608"/>
          </a:xfrm>
          <a:prstGeom prst="ellipse">
            <a:avLst/>
          </a:prstGeom>
          <a:solidFill>
            <a:srgbClr val="3D7068"/>
          </a:solidFill>
          <a:ln w="12700">
            <a:solidFill>
              <a:srgbClr val="333333"/>
            </a:solidFill>
            <a:prstDash val="solid"/>
          </a:ln>
        </p:spPr>
      </p:sp>
      <p:sp>
        <p:nvSpPr>
          <p:cNvPr id="35" name="Text 33"/>
          <p:cNvSpPr txBox="1"/>
          <p:nvPr/>
        </p:nvSpPr>
        <p:spPr>
          <a:xfrm>
            <a:off x="804672" y="5687568"/>
            <a:ext cx="292608"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6</a:t>
            </a:r>
            <a:endParaRPr lang="en-US" sz="1150" dirty="0"/>
          </a:p>
        </p:txBody>
      </p:sp>
      <p:sp>
        <p:nvSpPr>
          <p:cNvPr id="36" name="Text 34"/>
          <p:cNvSpPr txBox="1"/>
          <p:nvPr/>
        </p:nvSpPr>
        <p:spPr>
          <a:xfrm>
            <a:off x="1261872" y="5660136"/>
            <a:ext cx="146304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Sad</a:t>
            </a:r>
            <a:endParaRPr lang="en-US" sz="1400" dirty="0"/>
          </a:p>
        </p:txBody>
      </p:sp>
      <p:sp>
        <p:nvSpPr>
          <p:cNvPr id="37" name="Text 35"/>
          <p:cNvSpPr txBox="1"/>
          <p:nvPr/>
        </p:nvSpPr>
        <p:spPr>
          <a:xfrm>
            <a:off x="2834640" y="5586984"/>
            <a:ext cx="8595360" cy="45720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The hardest category, and a standing problem in the field — sadness is low-arousal and quiet, so short clips carry little evidence.</a:t>
            </a:r>
            <a:endParaRPr lang="en-US" sz="1200" dirty="0"/>
          </a:p>
        </p:txBody>
      </p:sp>
      <p:sp>
        <p:nvSpPr>
          <p:cNvPr id="38" name="Text 36"/>
          <p:cNvSpPr txBox="1"/>
          <p:nvPr/>
        </p:nvSpPr>
        <p:spPr>
          <a:xfrm>
            <a:off x="566928" y="6016752"/>
            <a:ext cx="11064240" cy="292608"/>
          </a:xfrm>
          <a:prstGeom prst="rect">
            <a:avLst/>
          </a:prstGeom>
          <a:noFill/>
          <a:ln/>
        </p:spPr>
        <p:txBody>
          <a:bodyPr wrap="square" lIns="0" tIns="0" rIns="0" bIns="0" rtlCol="0" anchor="ctr"/>
          <a:lstStyle/>
          <a:p>
            <a:pPr indent="0" marL="0">
              <a:buNone/>
            </a:pPr>
            <a:r>
              <a:rPr lang="en-US" sz="1200" i="1" dirty="0">
                <a:solidFill>
                  <a:srgbClr val="6B5A61"/>
                </a:solidFill>
                <a:latin typeface="Calibri" pitchFamily="34" charset="0"/>
                <a:ea typeface="Calibri" pitchFamily="34" charset="-122"/>
                <a:cs typeface="Calibri" pitchFamily="34" charset="-120"/>
              </a:rPr>
              <a:t>The paper reports this ordering rather than a single headline figure per emotion, because the rates differ across the three modalities.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The finding that matters most</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Different emotions live in different channels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19</a:t>
            </a:r>
            <a:endParaRPr lang="en-US" sz="900" dirty="0"/>
          </a:p>
        </p:txBody>
      </p:sp>
      <p:sp>
        <p:nvSpPr>
          <p:cNvPr id="8" name="Shape 6"/>
          <p:cNvSpPr/>
          <p:nvPr/>
        </p:nvSpPr>
        <p:spPr>
          <a:xfrm>
            <a:off x="566928" y="1600200"/>
            <a:ext cx="3584448" cy="2377440"/>
          </a:xfrm>
          <a:prstGeom prst="roundRect">
            <a:avLst>
              <a:gd name="adj" fmla="val 2308"/>
            </a:avLst>
          </a:prstGeom>
          <a:solidFill>
            <a:srgbClr val="F7F2F4"/>
          </a:solidFill>
          <a:ln w="12700">
            <a:solidFill>
              <a:srgbClr val="EADDE2"/>
            </a:solidFill>
            <a:prstDash val="solid"/>
          </a:ln>
        </p:spPr>
      </p:sp>
      <p:sp>
        <p:nvSpPr>
          <p:cNvPr id="9" name="Shape 7"/>
          <p:cNvSpPr/>
          <p:nvPr/>
        </p:nvSpPr>
        <p:spPr>
          <a:xfrm>
            <a:off x="786384" y="1892808"/>
            <a:ext cx="109728" cy="109728"/>
          </a:xfrm>
          <a:prstGeom prst="ellipse">
            <a:avLst/>
          </a:prstGeom>
          <a:solidFill>
            <a:srgbClr val="C08A2E"/>
          </a:solidFill>
          <a:ln w="12700">
            <a:solidFill>
              <a:srgbClr val="333333"/>
            </a:solidFill>
            <a:prstDash val="solid"/>
          </a:ln>
        </p:spPr>
      </p:sp>
      <p:sp>
        <p:nvSpPr>
          <p:cNvPr id="10" name="Text 8"/>
          <p:cNvSpPr txBox="1"/>
          <p:nvPr/>
        </p:nvSpPr>
        <p:spPr>
          <a:xfrm>
            <a:off x="987552" y="1764792"/>
            <a:ext cx="294436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Face-carried</a:t>
            </a:r>
            <a:endParaRPr lang="en-US" sz="1550" dirty="0"/>
          </a:p>
        </p:txBody>
      </p:sp>
      <p:sp>
        <p:nvSpPr>
          <p:cNvPr id="11" name="Text 9"/>
          <p:cNvSpPr txBox="1"/>
          <p:nvPr/>
        </p:nvSpPr>
        <p:spPr>
          <a:xfrm>
            <a:off x="822960" y="2203704"/>
            <a:ext cx="3072384" cy="159105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Disgust is the clearest case. The characteristic configuration of nose, upper lip and brow is highly distinctive visually, while there is no comparably reliable vocal signature.</a:t>
            </a:r>
            <a:endParaRPr lang="en-US" sz="1260" dirty="0"/>
          </a:p>
          <a:p>
            <a:pPr indent="0" marL="0">
              <a:lnSpc>
                <a:spcPct val="108000"/>
              </a:lnSpc>
              <a:buNone/>
            </a:pPr>
            <a:endParaRPr lang="en-US" sz="1260" dirty="0"/>
          </a:p>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Give a recogniser audio only, and disgust becomes very hard.</a:t>
            </a:r>
            <a:endParaRPr lang="en-US" sz="1260" dirty="0"/>
          </a:p>
        </p:txBody>
      </p:sp>
      <p:sp>
        <p:nvSpPr>
          <p:cNvPr id="12" name="Shape 10"/>
          <p:cNvSpPr/>
          <p:nvPr/>
        </p:nvSpPr>
        <p:spPr>
          <a:xfrm>
            <a:off x="4279392" y="1600200"/>
            <a:ext cx="3584448" cy="2377440"/>
          </a:xfrm>
          <a:prstGeom prst="roundRect">
            <a:avLst>
              <a:gd name="adj" fmla="val 2308"/>
            </a:avLst>
          </a:prstGeom>
          <a:solidFill>
            <a:srgbClr val="F7F2F4"/>
          </a:solidFill>
          <a:ln w="12700">
            <a:solidFill>
              <a:srgbClr val="EADDE2"/>
            </a:solidFill>
            <a:prstDash val="solid"/>
          </a:ln>
        </p:spPr>
      </p:sp>
      <p:sp>
        <p:nvSpPr>
          <p:cNvPr id="13" name="Shape 11"/>
          <p:cNvSpPr/>
          <p:nvPr/>
        </p:nvSpPr>
        <p:spPr>
          <a:xfrm>
            <a:off x="4498848" y="1892808"/>
            <a:ext cx="109728" cy="109728"/>
          </a:xfrm>
          <a:prstGeom prst="ellipse">
            <a:avLst/>
          </a:prstGeom>
          <a:solidFill>
            <a:srgbClr val="6D2E46"/>
          </a:solidFill>
          <a:ln w="12700">
            <a:solidFill>
              <a:srgbClr val="333333"/>
            </a:solidFill>
            <a:prstDash val="solid"/>
          </a:ln>
        </p:spPr>
      </p:sp>
      <p:sp>
        <p:nvSpPr>
          <p:cNvPr id="14" name="Text 12"/>
          <p:cNvSpPr txBox="1"/>
          <p:nvPr/>
        </p:nvSpPr>
        <p:spPr>
          <a:xfrm>
            <a:off x="4700016" y="1764792"/>
            <a:ext cx="294436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Voice-supported</a:t>
            </a:r>
            <a:endParaRPr lang="en-US" sz="1550" dirty="0"/>
          </a:p>
        </p:txBody>
      </p:sp>
      <p:sp>
        <p:nvSpPr>
          <p:cNvPr id="15" name="Text 13"/>
          <p:cNvSpPr txBox="1"/>
          <p:nvPr/>
        </p:nvSpPr>
        <p:spPr>
          <a:xfrm>
            <a:off x="4535424" y="2203704"/>
            <a:ext cx="3072384" cy="159105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High-arousal states such as anger benefit substantially from the acoustic channel: loudness, pitch range and voice quality all shift markedly.</a:t>
            </a:r>
            <a:endParaRPr lang="en-US" sz="1260" dirty="0"/>
          </a:p>
          <a:p>
            <a:pPr indent="0" marL="0">
              <a:lnSpc>
                <a:spcPct val="108000"/>
              </a:lnSpc>
              <a:buNone/>
            </a:pPr>
            <a:endParaRPr lang="en-US" sz="1260" dirty="0"/>
          </a:p>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These are the emotions where adding audio to video yields the largest gain.</a:t>
            </a:r>
            <a:endParaRPr lang="en-US" sz="1260" dirty="0"/>
          </a:p>
        </p:txBody>
      </p:sp>
      <p:sp>
        <p:nvSpPr>
          <p:cNvPr id="16" name="Shape 14"/>
          <p:cNvSpPr/>
          <p:nvPr/>
        </p:nvSpPr>
        <p:spPr>
          <a:xfrm>
            <a:off x="7991856" y="1600200"/>
            <a:ext cx="3639312" cy="2377440"/>
          </a:xfrm>
          <a:prstGeom prst="roundRect">
            <a:avLst>
              <a:gd name="adj" fmla="val 2308"/>
            </a:avLst>
          </a:prstGeom>
          <a:solidFill>
            <a:srgbClr val="F7F2F4"/>
          </a:solidFill>
          <a:ln w="12700">
            <a:solidFill>
              <a:srgbClr val="EADDE2"/>
            </a:solidFill>
            <a:prstDash val="solid"/>
          </a:ln>
        </p:spPr>
      </p:sp>
      <p:sp>
        <p:nvSpPr>
          <p:cNvPr id="17" name="Shape 15"/>
          <p:cNvSpPr/>
          <p:nvPr/>
        </p:nvSpPr>
        <p:spPr>
          <a:xfrm>
            <a:off x="8211312" y="1892808"/>
            <a:ext cx="109728" cy="109728"/>
          </a:xfrm>
          <a:prstGeom prst="ellipse">
            <a:avLst/>
          </a:prstGeom>
          <a:solidFill>
            <a:srgbClr val="3D7068"/>
          </a:solidFill>
          <a:ln w="12700">
            <a:solidFill>
              <a:srgbClr val="333333"/>
            </a:solidFill>
            <a:prstDash val="solid"/>
          </a:ln>
        </p:spPr>
      </p:sp>
      <p:sp>
        <p:nvSpPr>
          <p:cNvPr id="18" name="Text 16"/>
          <p:cNvSpPr txBox="1"/>
          <p:nvPr/>
        </p:nvSpPr>
        <p:spPr>
          <a:xfrm>
            <a:off x="8412480" y="1764792"/>
            <a:ext cx="2999232"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Weak in both</a:t>
            </a:r>
            <a:endParaRPr lang="en-US" sz="1550" dirty="0"/>
          </a:p>
        </p:txBody>
      </p:sp>
      <p:sp>
        <p:nvSpPr>
          <p:cNvPr id="19" name="Text 17"/>
          <p:cNvSpPr txBox="1"/>
          <p:nvPr/>
        </p:nvSpPr>
        <p:spPr>
          <a:xfrm>
            <a:off x="8247888" y="2203704"/>
            <a:ext cx="3127248" cy="159105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Sadness and fear are poorly recovered whichever channel is available, and adding the second channel does not rescue them.</a:t>
            </a:r>
            <a:endParaRPr lang="en-US" sz="1260" dirty="0"/>
          </a:p>
          <a:p>
            <a:pPr indent="0" marL="0">
              <a:lnSpc>
                <a:spcPct val="108000"/>
              </a:lnSpc>
              <a:buNone/>
            </a:pPr>
            <a:endParaRPr lang="en-US" sz="1260" dirty="0"/>
          </a:p>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Their signal is either too subtle for a two-second clip, or genuinely requires context.</a:t>
            </a:r>
            <a:endParaRPr lang="en-US" sz="1260" dirty="0"/>
          </a:p>
        </p:txBody>
      </p:sp>
      <p:sp>
        <p:nvSpPr>
          <p:cNvPr id="20" name="Shape 18"/>
          <p:cNvSpPr/>
          <p:nvPr/>
        </p:nvSpPr>
        <p:spPr>
          <a:xfrm>
            <a:off x="566928" y="4187952"/>
            <a:ext cx="11064240" cy="1828800"/>
          </a:xfrm>
          <a:prstGeom prst="roundRect">
            <a:avLst>
              <a:gd name="adj" fmla="val 3000"/>
            </a:avLst>
          </a:prstGeom>
          <a:solidFill>
            <a:srgbClr val="4A1E30"/>
          </a:solidFill>
          <a:ln w="12700">
            <a:solidFill>
              <a:srgbClr val="4A1E30"/>
            </a:solidFill>
            <a:prstDash val="solid"/>
          </a:ln>
        </p:spPr>
      </p:sp>
      <p:sp>
        <p:nvSpPr>
          <p:cNvPr id="21" name="Shape 19"/>
          <p:cNvSpPr/>
          <p:nvPr/>
        </p:nvSpPr>
        <p:spPr>
          <a:xfrm>
            <a:off x="786384" y="4480560"/>
            <a:ext cx="109728" cy="109728"/>
          </a:xfrm>
          <a:prstGeom prst="ellipse">
            <a:avLst/>
          </a:prstGeom>
          <a:solidFill>
            <a:srgbClr val="C08A2E"/>
          </a:solidFill>
          <a:ln w="12700">
            <a:solidFill>
              <a:srgbClr val="333333"/>
            </a:solidFill>
            <a:prstDash val="solid"/>
          </a:ln>
        </p:spPr>
      </p:sp>
      <p:sp>
        <p:nvSpPr>
          <p:cNvPr id="22" name="Text 20"/>
          <p:cNvSpPr txBox="1"/>
          <p:nvPr/>
        </p:nvSpPr>
        <p:spPr>
          <a:xfrm>
            <a:off x="987552" y="4352544"/>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Why this is the paper's most valuable contribution</a:t>
            </a:r>
            <a:endParaRPr lang="en-US" sz="1550" dirty="0"/>
          </a:p>
        </p:txBody>
      </p:sp>
      <p:sp>
        <p:nvSpPr>
          <p:cNvPr id="23" name="Text 21"/>
          <p:cNvSpPr txBox="1"/>
          <p:nvPr/>
        </p:nvSpPr>
        <p:spPr>
          <a:xfrm>
            <a:off x="822960" y="4791456"/>
            <a:ext cx="10552176" cy="1042416"/>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No single-modality corpus can produce this result, and IEMOCAP — where every rating was made with both channels present — cannot produce it either. It takes a design in which the same clips are judged three separate ways by independent raters.</a:t>
            </a:r>
            <a:endParaRPr lang="en-US" sz="1300" dirty="0"/>
          </a:p>
          <a:p>
            <a:pPr indent="0" marL="0">
              <a:lnSpc>
                <a:spcPct val="108000"/>
              </a:lnSpc>
              <a:buNone/>
            </a:pPr>
            <a:endParaRPr lang="en-US" sz="1300" dirty="0"/>
          </a:p>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The practical consequence for modelling: a fusion architecture should not weight the two streams equally for every class, because the channels do not carry the classes equally. The optimal weighting is emotion-dependent, and this corpus is what lets you measure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Perceived intensity</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The second thing every rater judged</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20</a:t>
            </a:r>
            <a:endParaRPr lang="en-US" sz="900" dirty="0"/>
          </a:p>
        </p:txBody>
      </p:sp>
      <p:sp>
        <p:nvSpPr>
          <p:cNvPr id="8" name="Shape 6"/>
          <p:cNvSpPr/>
          <p:nvPr/>
        </p:nvSpPr>
        <p:spPr>
          <a:xfrm>
            <a:off x="566928" y="1600200"/>
            <a:ext cx="5440680" cy="2148840"/>
          </a:xfrm>
          <a:prstGeom prst="roundRect">
            <a:avLst>
              <a:gd name="adj" fmla="val 2553"/>
            </a:avLst>
          </a:prstGeom>
          <a:solidFill>
            <a:srgbClr val="F7F2F4"/>
          </a:solidFill>
          <a:ln w="12700">
            <a:solidFill>
              <a:srgbClr val="EADDE2"/>
            </a:solidFill>
            <a:prstDash val="solid"/>
          </a:ln>
        </p:spPr>
      </p:sp>
      <p:sp>
        <p:nvSpPr>
          <p:cNvPr id="9" name="Shape 7"/>
          <p:cNvSpPr/>
          <p:nvPr/>
        </p:nvSpPr>
        <p:spPr>
          <a:xfrm>
            <a:off x="786384" y="1892808"/>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64792"/>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What was collected</a:t>
            </a:r>
            <a:endParaRPr lang="en-US" sz="1550" dirty="0"/>
          </a:p>
        </p:txBody>
      </p:sp>
      <p:sp>
        <p:nvSpPr>
          <p:cNvPr id="11" name="Text 9"/>
          <p:cNvSpPr txBox="1"/>
          <p:nvPr/>
        </p:nvSpPr>
        <p:spPr>
          <a:xfrm>
            <a:off x="822960" y="2203704"/>
            <a:ext cx="4928616" cy="136245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Alongside the categorical choice, raters gave a continuous intensity judgement — so every clip carries not only 'which emotion' but 'how strongly', in each of the three modalities separately.</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Because one sentence was recorded at directed low, medium and high levels, perceived intensity can also be checked against intended intensity.</a:t>
            </a:r>
            <a:endParaRPr lang="en-US" sz="1280" dirty="0"/>
          </a:p>
        </p:txBody>
      </p:sp>
      <p:sp>
        <p:nvSpPr>
          <p:cNvPr id="12" name="Shape 10"/>
          <p:cNvSpPr/>
          <p:nvPr/>
        </p:nvSpPr>
        <p:spPr>
          <a:xfrm>
            <a:off x="6190488" y="1600200"/>
            <a:ext cx="5440680" cy="2148840"/>
          </a:xfrm>
          <a:prstGeom prst="roundRect">
            <a:avLst>
              <a:gd name="adj" fmla="val 2553"/>
            </a:avLst>
          </a:prstGeom>
          <a:solidFill>
            <a:srgbClr val="F7F2F4"/>
          </a:solidFill>
          <a:ln w="12700">
            <a:solidFill>
              <a:srgbClr val="EADDE2"/>
            </a:solidFill>
            <a:prstDash val="solid"/>
          </a:ln>
        </p:spPr>
      </p:sp>
      <p:sp>
        <p:nvSpPr>
          <p:cNvPr id="13" name="Shape 11"/>
          <p:cNvSpPr/>
          <p:nvPr/>
        </p:nvSpPr>
        <p:spPr>
          <a:xfrm>
            <a:off x="6409944" y="1892808"/>
            <a:ext cx="109728" cy="109728"/>
          </a:xfrm>
          <a:prstGeom prst="ellipse">
            <a:avLst/>
          </a:prstGeom>
          <a:solidFill>
            <a:srgbClr val="C08A2E"/>
          </a:solidFill>
          <a:ln w="12700">
            <a:solidFill>
              <a:srgbClr val="333333"/>
            </a:solidFill>
            <a:prstDash val="solid"/>
          </a:ln>
        </p:spPr>
      </p:sp>
      <p:sp>
        <p:nvSpPr>
          <p:cNvPr id="14" name="Text 12"/>
          <p:cNvSpPr txBox="1"/>
          <p:nvPr/>
        </p:nvSpPr>
        <p:spPr>
          <a:xfrm>
            <a:off x="6611112" y="1764792"/>
            <a:ext cx="4800600"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The main finding</a:t>
            </a:r>
            <a:endParaRPr lang="en-US" sz="1550" dirty="0"/>
          </a:p>
        </p:txBody>
      </p:sp>
      <p:sp>
        <p:nvSpPr>
          <p:cNvPr id="15" name="Text 13"/>
          <p:cNvSpPr txBox="1"/>
          <p:nvPr/>
        </p:nvSpPr>
        <p:spPr>
          <a:xfrm>
            <a:off x="6446520" y="2203704"/>
            <a:ext cx="4928616" cy="1362456"/>
          </a:xfrm>
          <a:prstGeom prst="rect">
            <a:avLst/>
          </a:prstGeom>
          <a:noFill/>
          <a:ln/>
        </p:spPr>
        <p:txBody>
          <a:bodyPr wrap="square" lIns="0" tIns="0" rIns="0" bIns="0" rtlCol="0" anchor="t"/>
          <a:lstStyle/>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Average perceived intensity is highest in the visual-only condition.</a:t>
            </a:r>
            <a:endParaRPr lang="en-US" sz="1280" dirty="0"/>
          </a:p>
          <a:p>
            <a:pPr indent="0" marL="0">
              <a:lnSpc>
                <a:spcPct val="108000"/>
              </a:lnSpc>
              <a:buNone/>
            </a:pPr>
            <a:endParaRPr lang="en-US" sz="1280" dirty="0"/>
          </a:p>
          <a:p>
            <a:pPr indent="0" marL="0">
              <a:lnSpc>
                <a:spcPct val="108000"/>
              </a:lnSpc>
              <a:buNone/>
            </a:pPr>
            <a:r>
              <a:rPr lang="en-US" sz="1280" dirty="0">
                <a:solidFill>
                  <a:srgbClr val="3E3238"/>
                </a:solidFill>
                <a:latin typeface="Calibri" pitchFamily="34" charset="0"/>
                <a:ea typeface="Calibri" pitchFamily="34" charset="-122"/>
                <a:cs typeface="Calibri" pitchFamily="34" charset="-120"/>
              </a:rPr>
              <a:t>Seeing an expression without hearing it makes the emotion feel stronger than hearing it without seeing it — and, notably, stronger than the combined presentation.</a:t>
            </a:r>
            <a:endParaRPr lang="en-US" sz="1280" dirty="0"/>
          </a:p>
        </p:txBody>
      </p:sp>
      <p:sp>
        <p:nvSpPr>
          <p:cNvPr id="16" name="Text 14"/>
          <p:cNvSpPr txBox="1"/>
          <p:nvPr/>
        </p:nvSpPr>
        <p:spPr>
          <a:xfrm>
            <a:off x="566928" y="3950208"/>
            <a:ext cx="11064240" cy="2075688"/>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Intensity and category are separable. A clip can be confidently identified as sad and still be judged mild, or be ambiguous in category yet clearly intense.</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This gives CREMA-D something IEMOCAP provides through its dimensional annotation, but organised differently: intensity per modality, rather than valence and arousal from a general-purpose scale.</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For the clinical use case it is essential — assessment items need graded difficulty, and a low-intensity fear clip is a harder item than a high-intensity one.</a:t>
            </a:r>
            <a:endParaRPr lang="en-US" sz="1300" dirty="0"/>
          </a:p>
          <a:p>
            <a:pPr marL="342900" indent="-342900">
              <a:spcAft>
                <a:spcPts val="800"/>
              </a:spcAft>
              <a:buSzPct val="100000"/>
              <a:buChar char="●"/>
            </a:pPr>
            <a:r>
              <a:rPr lang="en-US" sz="1300" dirty="0">
                <a:solidFill>
                  <a:srgbClr val="3E3238"/>
                </a:solidFill>
                <a:latin typeface="Calibri" pitchFamily="34" charset="0"/>
                <a:ea typeface="Calibri" pitchFamily="34" charset="-122"/>
                <a:cs typeface="Calibri" pitchFamily="34" charset="-120"/>
              </a:rPr>
              <a:t>For modelling it enables ordinal and regression targets, and it supports curriculum-style training where easy, high-intensity items come first.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A1E30"/>
        </a:solidFill>
      </p:bgPr>
    </p:bg>
    <p:spTree>
      <p:nvGrpSpPr>
        <p:cNvPr id="1" name=""/>
        <p:cNvGrpSpPr/>
        <p:nvPr/>
      </p:nvGrpSpPr>
      <p:grpSpPr>
        <a:xfrm>
          <a:off x="0" y="0"/>
          <a:ext cx="0" cy="0"/>
          <a:chOff x="0" y="0"/>
          <a:chExt cx="0" cy="0"/>
        </a:xfrm>
      </p:grpSpPr>
      <p:sp>
        <p:nvSpPr>
          <p:cNvPr id="2" name="Shape 0"/>
          <p:cNvSpPr/>
          <p:nvPr/>
        </p:nvSpPr>
        <p:spPr>
          <a:xfrm>
            <a:off x="10561320" y="5349240"/>
            <a:ext cx="155448" cy="155448"/>
          </a:xfrm>
          <a:prstGeom prst="ellipse">
            <a:avLst/>
          </a:prstGeom>
          <a:solidFill>
            <a:srgbClr val="6D2E46"/>
          </a:solidFill>
          <a:ln w="12700">
            <a:solidFill>
              <a:srgbClr val="333333"/>
            </a:solidFill>
            <a:prstDash val="solid"/>
          </a:ln>
        </p:spPr>
      </p:sp>
      <p:sp>
        <p:nvSpPr>
          <p:cNvPr id="3" name="Shape 1"/>
          <p:cNvSpPr/>
          <p:nvPr/>
        </p:nvSpPr>
        <p:spPr>
          <a:xfrm>
            <a:off x="10794492" y="5349240"/>
            <a:ext cx="155448" cy="155448"/>
          </a:xfrm>
          <a:prstGeom prst="ellipse">
            <a:avLst/>
          </a:prstGeom>
          <a:solidFill>
            <a:srgbClr val="C08A2E"/>
          </a:solidFill>
          <a:ln w="12700">
            <a:solidFill>
              <a:srgbClr val="333333"/>
            </a:solidFill>
            <a:prstDash val="solid"/>
          </a:ln>
        </p:spPr>
      </p:sp>
      <p:sp>
        <p:nvSpPr>
          <p:cNvPr id="4" name="Shape 2"/>
          <p:cNvSpPr/>
          <p:nvPr/>
        </p:nvSpPr>
        <p:spPr>
          <a:xfrm>
            <a:off x="11027664" y="5349240"/>
            <a:ext cx="155448" cy="155448"/>
          </a:xfrm>
          <a:prstGeom prst="ellipse">
            <a:avLst/>
          </a:prstGeom>
          <a:solidFill>
            <a:srgbClr val="3D7068"/>
          </a:solidFill>
          <a:ln w="12700">
            <a:solidFill>
              <a:srgbClr val="333333"/>
            </a:solidFill>
            <a:prstDash val="solid"/>
          </a:ln>
        </p:spPr>
      </p:sp>
      <p:sp>
        <p:nvSpPr>
          <p:cNvPr id="5" name="Text 3"/>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C08A2E"/>
                </a:solidFill>
                <a:latin typeface="Cambria" pitchFamily="34" charset="0"/>
                <a:ea typeface="Cambria" pitchFamily="34" charset="-122"/>
                <a:cs typeface="Cambria" pitchFamily="34" charset="-120"/>
              </a:rPr>
              <a:t>5</a:t>
            </a:r>
            <a:endParaRPr lang="en-US" sz="6800" dirty="0"/>
          </a:p>
        </p:txBody>
      </p:sp>
      <p:sp>
        <p:nvSpPr>
          <p:cNvPr id="6" name="Text 4"/>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Comparison and appraisal</a:t>
            </a:r>
            <a:endParaRPr lang="en-US" sz="3400" dirty="0"/>
          </a:p>
        </p:txBody>
      </p:sp>
      <p:sp>
        <p:nvSpPr>
          <p:cNvPr id="7" name="Text 5"/>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E7D5DA"/>
                </a:solidFill>
                <a:latin typeface="Calibri" pitchFamily="34" charset="0"/>
                <a:ea typeface="Calibri" pitchFamily="34" charset="-122"/>
                <a:cs typeface="Calibri" pitchFamily="34" charset="-120"/>
              </a:rPr>
              <a:t>The two corpora side by side, and what each is good for</a:t>
            </a:r>
            <a:endParaRPr lang="en-US" sz="1500" dirty="0"/>
          </a:p>
        </p:txBody>
      </p:sp>
      <p:sp>
        <p:nvSpPr>
          <p:cNvPr id="8" name="Text 6"/>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IEMOCAP and CREMA-D side by side</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Two coherent answers to the same design problem</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22</a:t>
            </a:r>
            <a:endParaRPr lang="en-US" sz="900" dirty="0"/>
          </a:p>
        </p:txBody>
      </p:sp>
      <p:sp>
        <p:nvSpPr>
          <p:cNvPr id="8" name="Text 6"/>
          <p:cNvSpPr txBox="1"/>
          <p:nvPr/>
        </p:nvSpPr>
        <p:spPr>
          <a:xfrm>
            <a:off x="0" y="0"/>
            <a:ext cx="91440" cy="91440"/>
          </a:xfrm>
          <a:prstGeom prst="rect">
            <a:avLst/>
          </a:prstGeom>
          <a:noFill/>
          <a:ln/>
        </p:spPr>
        <p:txBody>
          <a:bodyPr wrap="square" lIns="0" tIns="0" rIns="0" bIns="0" rtlCol="0" anchor="ctr"/>
          <a:lstStyle/>
          <a:p>
            <a:pPr indent="0" marL="0">
              <a:buNone/>
            </a:pPr>
            <a:endParaRPr lang="en-US" dirty="0"/>
          </a:p>
        </p:txBody>
      </p:sp>
      <p:sp>
        <p:nvSpPr>
          <p:cNvPr id="9" name="Text 7"/>
          <p:cNvSpPr txBox="1"/>
          <p:nvPr/>
        </p:nvSpPr>
        <p:spPr>
          <a:xfrm>
            <a:off x="3931920" y="1335024"/>
            <a:ext cx="3749040" cy="274320"/>
          </a:xfrm>
          <a:prstGeom prst="rect">
            <a:avLst/>
          </a:prstGeom>
          <a:noFill/>
          <a:ln/>
        </p:spPr>
        <p:txBody>
          <a:bodyPr wrap="square" lIns="0" tIns="0" rIns="0" bIns="0" rtlCol="0" anchor="ctr"/>
          <a:lstStyle/>
          <a:p>
            <a:pPr indent="0" marL="0">
              <a:buNone/>
            </a:pPr>
            <a:r>
              <a:rPr lang="en-US" sz="1250" b="1" dirty="0">
                <a:solidFill>
                  <a:srgbClr val="6D2E46"/>
                </a:solidFill>
                <a:latin typeface="Calibri" pitchFamily="34" charset="0"/>
                <a:ea typeface="Calibri" pitchFamily="34" charset="-122"/>
                <a:cs typeface="Calibri" pitchFamily="34" charset="-120"/>
              </a:rPr>
              <a:t>IEMOCAP (2008)</a:t>
            </a:r>
            <a:endParaRPr lang="en-US" sz="1250" dirty="0"/>
          </a:p>
        </p:txBody>
      </p:sp>
      <p:sp>
        <p:nvSpPr>
          <p:cNvPr id="10" name="Text 8"/>
          <p:cNvSpPr txBox="1"/>
          <p:nvPr/>
        </p:nvSpPr>
        <p:spPr>
          <a:xfrm>
            <a:off x="7772400" y="1335024"/>
            <a:ext cx="3840480" cy="274320"/>
          </a:xfrm>
          <a:prstGeom prst="rect">
            <a:avLst/>
          </a:prstGeom>
          <a:noFill/>
          <a:ln/>
        </p:spPr>
        <p:txBody>
          <a:bodyPr wrap="square" lIns="0" tIns="0" rIns="0" bIns="0" rtlCol="0" anchor="ctr"/>
          <a:lstStyle/>
          <a:p>
            <a:pPr indent="0" marL="0">
              <a:buNone/>
            </a:pPr>
            <a:r>
              <a:rPr lang="en-US" sz="1250" b="1" dirty="0">
                <a:solidFill>
                  <a:srgbClr val="3D7068"/>
                </a:solidFill>
                <a:latin typeface="Calibri" pitchFamily="34" charset="0"/>
                <a:ea typeface="Calibri" pitchFamily="34" charset="-122"/>
                <a:cs typeface="Calibri" pitchFamily="34" charset="-120"/>
              </a:rPr>
              <a:t>CREMA-D (2014)</a:t>
            </a:r>
            <a:endParaRPr lang="en-US" sz="1250" dirty="0"/>
          </a:p>
        </p:txBody>
      </p:sp>
      <p:sp>
        <p:nvSpPr>
          <p:cNvPr id="11" name="Shape 9"/>
          <p:cNvSpPr/>
          <p:nvPr/>
        </p:nvSpPr>
        <p:spPr>
          <a:xfrm>
            <a:off x="566928" y="1627632"/>
            <a:ext cx="11064240" cy="329184"/>
          </a:xfrm>
          <a:prstGeom prst="roundRect">
            <a:avLst>
              <a:gd name="adj" fmla="val 5556"/>
            </a:avLst>
          </a:prstGeom>
          <a:solidFill>
            <a:srgbClr val="F7F2F4"/>
          </a:solidFill>
          <a:ln w="12700">
            <a:solidFill>
              <a:srgbClr val="EFE6EA"/>
            </a:solidFill>
            <a:prstDash val="solid"/>
          </a:ln>
        </p:spPr>
      </p:sp>
      <p:sp>
        <p:nvSpPr>
          <p:cNvPr id="12" name="Text 10"/>
          <p:cNvSpPr txBox="1"/>
          <p:nvPr/>
        </p:nvSpPr>
        <p:spPr>
          <a:xfrm>
            <a:off x="749808" y="168249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Speakers</a:t>
            </a:r>
            <a:endParaRPr lang="en-US" sz="1150" dirty="0"/>
          </a:p>
        </p:txBody>
      </p:sp>
      <p:sp>
        <p:nvSpPr>
          <p:cNvPr id="13" name="Text 11"/>
          <p:cNvSpPr txBox="1"/>
          <p:nvPr/>
        </p:nvSpPr>
        <p:spPr>
          <a:xfrm>
            <a:off x="3931920" y="168249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10 actors, one drama department</a:t>
            </a:r>
            <a:endParaRPr lang="en-US" sz="1150" dirty="0"/>
          </a:p>
        </p:txBody>
      </p:sp>
      <p:sp>
        <p:nvSpPr>
          <p:cNvPr id="14" name="Text 12"/>
          <p:cNvSpPr txBox="1"/>
          <p:nvPr/>
        </p:nvSpPr>
        <p:spPr>
          <a:xfrm>
            <a:off x="7772400" y="168249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91 actors, ages 20–74, five ethnic groups</a:t>
            </a:r>
            <a:endParaRPr lang="en-US" sz="1150" dirty="0"/>
          </a:p>
        </p:txBody>
      </p:sp>
      <p:sp>
        <p:nvSpPr>
          <p:cNvPr id="15" name="Shape 13"/>
          <p:cNvSpPr/>
          <p:nvPr/>
        </p:nvSpPr>
        <p:spPr>
          <a:xfrm>
            <a:off x="566928" y="1993392"/>
            <a:ext cx="11064240" cy="329184"/>
          </a:xfrm>
          <a:prstGeom prst="roundRect">
            <a:avLst>
              <a:gd name="adj" fmla="val 5556"/>
            </a:avLst>
          </a:prstGeom>
          <a:solidFill>
            <a:srgbClr val="FFFFFF"/>
          </a:solidFill>
          <a:ln w="12700">
            <a:solidFill>
              <a:srgbClr val="EFE6EA"/>
            </a:solidFill>
            <a:prstDash val="solid"/>
          </a:ln>
        </p:spPr>
      </p:sp>
      <p:sp>
        <p:nvSpPr>
          <p:cNvPr id="16" name="Text 14"/>
          <p:cNvSpPr txBox="1"/>
          <p:nvPr/>
        </p:nvSpPr>
        <p:spPr>
          <a:xfrm>
            <a:off x="749808" y="204825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Volume</a:t>
            </a:r>
            <a:endParaRPr lang="en-US" sz="1150" dirty="0"/>
          </a:p>
        </p:txBody>
      </p:sp>
      <p:sp>
        <p:nvSpPr>
          <p:cNvPr id="17" name="Text 15"/>
          <p:cNvSpPr txBox="1"/>
          <p:nvPr/>
        </p:nvSpPr>
        <p:spPr>
          <a:xfrm>
            <a:off x="3931920" y="204825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~12 hours, 10,039 turns</a:t>
            </a:r>
            <a:endParaRPr lang="en-US" sz="1150" dirty="0"/>
          </a:p>
        </p:txBody>
      </p:sp>
      <p:sp>
        <p:nvSpPr>
          <p:cNvPr id="18" name="Text 16"/>
          <p:cNvSpPr txBox="1"/>
          <p:nvPr/>
        </p:nvSpPr>
        <p:spPr>
          <a:xfrm>
            <a:off x="7772400" y="204825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~5 hours, 7,442 clips</a:t>
            </a:r>
            <a:endParaRPr lang="en-US" sz="1150" dirty="0"/>
          </a:p>
        </p:txBody>
      </p:sp>
      <p:sp>
        <p:nvSpPr>
          <p:cNvPr id="19" name="Shape 17"/>
          <p:cNvSpPr/>
          <p:nvPr/>
        </p:nvSpPr>
        <p:spPr>
          <a:xfrm>
            <a:off x="566928" y="2359152"/>
            <a:ext cx="11064240" cy="329184"/>
          </a:xfrm>
          <a:prstGeom prst="roundRect">
            <a:avLst>
              <a:gd name="adj" fmla="val 5556"/>
            </a:avLst>
          </a:prstGeom>
          <a:solidFill>
            <a:srgbClr val="F7F2F4"/>
          </a:solidFill>
          <a:ln w="12700">
            <a:solidFill>
              <a:srgbClr val="EFE6EA"/>
            </a:solidFill>
            <a:prstDash val="solid"/>
          </a:ln>
        </p:spPr>
      </p:sp>
      <p:sp>
        <p:nvSpPr>
          <p:cNvPr id="20" name="Text 18"/>
          <p:cNvSpPr txBox="1"/>
          <p:nvPr/>
        </p:nvSpPr>
        <p:spPr>
          <a:xfrm>
            <a:off x="749808" y="241401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Unit</a:t>
            </a:r>
            <a:endParaRPr lang="en-US" sz="1150" dirty="0"/>
          </a:p>
        </p:txBody>
      </p:sp>
      <p:sp>
        <p:nvSpPr>
          <p:cNvPr id="21" name="Text 19"/>
          <p:cNvSpPr txBox="1"/>
          <p:nvPr/>
        </p:nvSpPr>
        <p:spPr>
          <a:xfrm>
            <a:off x="3931920" y="241401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Dialogue turn, ~4.5 s, in context</a:t>
            </a:r>
            <a:endParaRPr lang="en-US" sz="1150" dirty="0"/>
          </a:p>
        </p:txBody>
      </p:sp>
      <p:sp>
        <p:nvSpPr>
          <p:cNvPr id="22" name="Text 20"/>
          <p:cNvSpPr txBox="1"/>
          <p:nvPr/>
        </p:nvSpPr>
        <p:spPr>
          <a:xfrm>
            <a:off x="7772400" y="241401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Isolated sentence, ~2.5 s, no context</a:t>
            </a:r>
            <a:endParaRPr lang="en-US" sz="1150" dirty="0"/>
          </a:p>
        </p:txBody>
      </p:sp>
      <p:sp>
        <p:nvSpPr>
          <p:cNvPr id="23" name="Shape 21"/>
          <p:cNvSpPr/>
          <p:nvPr/>
        </p:nvSpPr>
        <p:spPr>
          <a:xfrm>
            <a:off x="566928" y="2724912"/>
            <a:ext cx="11064240" cy="329184"/>
          </a:xfrm>
          <a:prstGeom prst="roundRect">
            <a:avLst>
              <a:gd name="adj" fmla="val 5556"/>
            </a:avLst>
          </a:prstGeom>
          <a:solidFill>
            <a:srgbClr val="FFFFFF"/>
          </a:solidFill>
          <a:ln w="12700">
            <a:solidFill>
              <a:srgbClr val="EFE6EA"/>
            </a:solidFill>
            <a:prstDash val="solid"/>
          </a:ln>
        </p:spPr>
      </p:sp>
      <p:sp>
        <p:nvSpPr>
          <p:cNvPr id="24" name="Text 22"/>
          <p:cNvSpPr txBox="1"/>
          <p:nvPr/>
        </p:nvSpPr>
        <p:spPr>
          <a:xfrm>
            <a:off x="749808" y="277977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Elicitation</a:t>
            </a:r>
            <a:endParaRPr lang="en-US" sz="1150" dirty="0"/>
          </a:p>
        </p:txBody>
      </p:sp>
      <p:sp>
        <p:nvSpPr>
          <p:cNvPr id="25" name="Text 23"/>
          <p:cNvSpPr txBox="1"/>
          <p:nvPr/>
        </p:nvSpPr>
        <p:spPr>
          <a:xfrm>
            <a:off x="3931920" y="277977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Dyadic plays and improvised scenarios</a:t>
            </a:r>
            <a:endParaRPr lang="en-US" sz="1150" dirty="0"/>
          </a:p>
        </p:txBody>
      </p:sp>
      <p:sp>
        <p:nvSpPr>
          <p:cNvPr id="26" name="Text 24"/>
          <p:cNvSpPr txBox="1"/>
          <p:nvPr/>
        </p:nvSpPr>
        <p:spPr>
          <a:xfrm>
            <a:off x="7772400" y="277977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Directed portrayal of a fixed sentence</a:t>
            </a:r>
            <a:endParaRPr lang="en-US" sz="1150" dirty="0"/>
          </a:p>
        </p:txBody>
      </p:sp>
      <p:sp>
        <p:nvSpPr>
          <p:cNvPr id="27" name="Shape 25"/>
          <p:cNvSpPr/>
          <p:nvPr/>
        </p:nvSpPr>
        <p:spPr>
          <a:xfrm>
            <a:off x="566928" y="3090672"/>
            <a:ext cx="11064240" cy="329184"/>
          </a:xfrm>
          <a:prstGeom prst="roundRect">
            <a:avLst>
              <a:gd name="adj" fmla="val 5556"/>
            </a:avLst>
          </a:prstGeom>
          <a:solidFill>
            <a:srgbClr val="F7F2F4"/>
          </a:solidFill>
          <a:ln w="12700">
            <a:solidFill>
              <a:srgbClr val="EFE6EA"/>
            </a:solidFill>
            <a:prstDash val="solid"/>
          </a:ln>
        </p:spPr>
      </p:sp>
      <p:sp>
        <p:nvSpPr>
          <p:cNvPr id="28" name="Text 26"/>
          <p:cNvSpPr txBox="1"/>
          <p:nvPr/>
        </p:nvSpPr>
        <p:spPr>
          <a:xfrm>
            <a:off x="749808" y="314553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Linguistic content</a:t>
            </a:r>
            <a:endParaRPr lang="en-US" sz="1150" dirty="0"/>
          </a:p>
        </p:txBody>
      </p:sp>
      <p:sp>
        <p:nvSpPr>
          <p:cNvPr id="29" name="Text 27"/>
          <p:cNvSpPr txBox="1"/>
          <p:nvPr/>
        </p:nvSpPr>
        <p:spPr>
          <a:xfrm>
            <a:off x="3931920" y="314553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Free — varies with emotion</a:t>
            </a:r>
            <a:endParaRPr lang="en-US" sz="1150" dirty="0"/>
          </a:p>
        </p:txBody>
      </p:sp>
      <p:sp>
        <p:nvSpPr>
          <p:cNvPr id="30" name="Text 28"/>
          <p:cNvSpPr txBox="1"/>
          <p:nvPr/>
        </p:nvSpPr>
        <p:spPr>
          <a:xfrm>
            <a:off x="7772400" y="314553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Fixed — 12 neutral sentences</a:t>
            </a:r>
            <a:endParaRPr lang="en-US" sz="1150" dirty="0"/>
          </a:p>
        </p:txBody>
      </p:sp>
      <p:sp>
        <p:nvSpPr>
          <p:cNvPr id="31" name="Shape 29"/>
          <p:cNvSpPr/>
          <p:nvPr/>
        </p:nvSpPr>
        <p:spPr>
          <a:xfrm>
            <a:off x="566928" y="3456432"/>
            <a:ext cx="11064240" cy="329184"/>
          </a:xfrm>
          <a:prstGeom prst="roundRect">
            <a:avLst>
              <a:gd name="adj" fmla="val 5556"/>
            </a:avLst>
          </a:prstGeom>
          <a:solidFill>
            <a:srgbClr val="FFFFFF"/>
          </a:solidFill>
          <a:ln w="12700">
            <a:solidFill>
              <a:srgbClr val="EFE6EA"/>
            </a:solidFill>
            <a:prstDash val="solid"/>
          </a:ln>
        </p:spPr>
      </p:sp>
      <p:sp>
        <p:nvSpPr>
          <p:cNvPr id="32" name="Text 30"/>
          <p:cNvSpPr txBox="1"/>
          <p:nvPr/>
        </p:nvSpPr>
        <p:spPr>
          <a:xfrm>
            <a:off x="749808" y="351129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Emotion classes</a:t>
            </a:r>
            <a:endParaRPr lang="en-US" sz="1150" dirty="0"/>
          </a:p>
        </p:txBody>
      </p:sp>
      <p:sp>
        <p:nvSpPr>
          <p:cNvPr id="33" name="Text 31"/>
          <p:cNvSpPr txBox="1"/>
          <p:nvPr/>
        </p:nvSpPr>
        <p:spPr>
          <a:xfrm>
            <a:off x="3931920" y="351129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9 rated; 4 usable in practice</a:t>
            </a:r>
            <a:endParaRPr lang="en-US" sz="1150" dirty="0"/>
          </a:p>
        </p:txBody>
      </p:sp>
      <p:sp>
        <p:nvSpPr>
          <p:cNvPr id="34" name="Text 32"/>
          <p:cNvSpPr txBox="1"/>
          <p:nvPr/>
        </p:nvSpPr>
        <p:spPr>
          <a:xfrm>
            <a:off x="7772400" y="351129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6, near-balanced, all usable</a:t>
            </a:r>
            <a:endParaRPr lang="en-US" sz="1150" dirty="0"/>
          </a:p>
        </p:txBody>
      </p:sp>
      <p:sp>
        <p:nvSpPr>
          <p:cNvPr id="35" name="Shape 33"/>
          <p:cNvSpPr/>
          <p:nvPr/>
        </p:nvSpPr>
        <p:spPr>
          <a:xfrm>
            <a:off x="566928" y="3822192"/>
            <a:ext cx="11064240" cy="329184"/>
          </a:xfrm>
          <a:prstGeom prst="roundRect">
            <a:avLst>
              <a:gd name="adj" fmla="val 5556"/>
            </a:avLst>
          </a:prstGeom>
          <a:solidFill>
            <a:srgbClr val="F7F2F4"/>
          </a:solidFill>
          <a:ln w="12700">
            <a:solidFill>
              <a:srgbClr val="EFE6EA"/>
            </a:solidFill>
            <a:prstDash val="solid"/>
          </a:ln>
        </p:spPr>
      </p:sp>
      <p:sp>
        <p:nvSpPr>
          <p:cNvPr id="36" name="Text 34"/>
          <p:cNvSpPr txBox="1"/>
          <p:nvPr/>
        </p:nvSpPr>
        <p:spPr>
          <a:xfrm>
            <a:off x="749808" y="387705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Intensity</a:t>
            </a:r>
            <a:endParaRPr lang="en-US" sz="1150" dirty="0"/>
          </a:p>
        </p:txBody>
      </p:sp>
      <p:sp>
        <p:nvSpPr>
          <p:cNvPr id="37" name="Text 35"/>
          <p:cNvSpPr txBox="1"/>
          <p:nvPr/>
        </p:nvSpPr>
        <p:spPr>
          <a:xfrm>
            <a:off x="3931920" y="387705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Dimensional scales on a subset</a:t>
            </a:r>
            <a:endParaRPr lang="en-US" sz="1150" dirty="0"/>
          </a:p>
        </p:txBody>
      </p:sp>
      <p:sp>
        <p:nvSpPr>
          <p:cNvPr id="38" name="Text 36"/>
          <p:cNvSpPr txBox="1"/>
          <p:nvPr/>
        </p:nvSpPr>
        <p:spPr>
          <a:xfrm>
            <a:off x="7772400" y="387705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Designed factor plus perceptual ratings</a:t>
            </a:r>
            <a:endParaRPr lang="en-US" sz="1150" dirty="0"/>
          </a:p>
        </p:txBody>
      </p:sp>
      <p:sp>
        <p:nvSpPr>
          <p:cNvPr id="39" name="Shape 37"/>
          <p:cNvSpPr/>
          <p:nvPr/>
        </p:nvSpPr>
        <p:spPr>
          <a:xfrm>
            <a:off x="566928" y="4187952"/>
            <a:ext cx="11064240" cy="329184"/>
          </a:xfrm>
          <a:prstGeom prst="roundRect">
            <a:avLst>
              <a:gd name="adj" fmla="val 5556"/>
            </a:avLst>
          </a:prstGeom>
          <a:solidFill>
            <a:srgbClr val="FFFFFF"/>
          </a:solidFill>
          <a:ln w="12700">
            <a:solidFill>
              <a:srgbClr val="EFE6EA"/>
            </a:solidFill>
            <a:prstDash val="solid"/>
          </a:ln>
        </p:spPr>
      </p:sp>
      <p:sp>
        <p:nvSpPr>
          <p:cNvPr id="40" name="Text 38"/>
          <p:cNvSpPr txBox="1"/>
          <p:nvPr/>
        </p:nvSpPr>
        <p:spPr>
          <a:xfrm>
            <a:off x="749808" y="424281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Raters per item</a:t>
            </a:r>
            <a:endParaRPr lang="en-US" sz="1150" dirty="0"/>
          </a:p>
        </p:txBody>
      </p:sp>
      <p:sp>
        <p:nvSpPr>
          <p:cNvPr id="41" name="Text 39"/>
          <p:cNvSpPr txBox="1"/>
          <p:nvPr/>
        </p:nvSpPr>
        <p:spPr>
          <a:xfrm>
            <a:off x="3931920" y="424281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3 categorical, 2 dimensional</a:t>
            </a:r>
            <a:endParaRPr lang="en-US" sz="1150" dirty="0"/>
          </a:p>
        </p:txBody>
      </p:sp>
      <p:sp>
        <p:nvSpPr>
          <p:cNvPr id="42" name="Text 40"/>
          <p:cNvSpPr txBox="1"/>
          <p:nvPr/>
        </p:nvSpPr>
        <p:spPr>
          <a:xfrm>
            <a:off x="7772400" y="424281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≈10 per clip, per modality</a:t>
            </a:r>
            <a:endParaRPr lang="en-US" sz="1150" dirty="0"/>
          </a:p>
        </p:txBody>
      </p:sp>
      <p:sp>
        <p:nvSpPr>
          <p:cNvPr id="43" name="Shape 41"/>
          <p:cNvSpPr/>
          <p:nvPr/>
        </p:nvSpPr>
        <p:spPr>
          <a:xfrm>
            <a:off x="566928" y="4553712"/>
            <a:ext cx="11064240" cy="329184"/>
          </a:xfrm>
          <a:prstGeom prst="roundRect">
            <a:avLst>
              <a:gd name="adj" fmla="val 5556"/>
            </a:avLst>
          </a:prstGeom>
          <a:solidFill>
            <a:srgbClr val="F7F2F4"/>
          </a:solidFill>
          <a:ln w="12700">
            <a:solidFill>
              <a:srgbClr val="EFE6EA"/>
            </a:solidFill>
            <a:prstDash val="solid"/>
          </a:ln>
        </p:spPr>
      </p:sp>
      <p:sp>
        <p:nvSpPr>
          <p:cNvPr id="44" name="Text 42"/>
          <p:cNvSpPr txBox="1"/>
          <p:nvPr/>
        </p:nvSpPr>
        <p:spPr>
          <a:xfrm>
            <a:off x="749808" y="460857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Modality separation</a:t>
            </a:r>
            <a:endParaRPr lang="en-US" sz="1150" dirty="0"/>
          </a:p>
        </p:txBody>
      </p:sp>
      <p:sp>
        <p:nvSpPr>
          <p:cNvPr id="45" name="Text 43"/>
          <p:cNvSpPr txBox="1"/>
          <p:nvPr/>
        </p:nvSpPr>
        <p:spPr>
          <a:xfrm>
            <a:off x="3931920" y="460857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None — always audio-visual</a:t>
            </a:r>
            <a:endParaRPr lang="en-US" sz="1150" dirty="0"/>
          </a:p>
        </p:txBody>
      </p:sp>
      <p:sp>
        <p:nvSpPr>
          <p:cNvPr id="46" name="Text 44"/>
          <p:cNvSpPr txBox="1"/>
          <p:nvPr/>
        </p:nvSpPr>
        <p:spPr>
          <a:xfrm>
            <a:off x="7772400" y="460857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Voice, face and audio-visual rated apart</a:t>
            </a:r>
            <a:endParaRPr lang="en-US" sz="1150" dirty="0"/>
          </a:p>
        </p:txBody>
      </p:sp>
      <p:sp>
        <p:nvSpPr>
          <p:cNvPr id="47" name="Shape 45"/>
          <p:cNvSpPr/>
          <p:nvPr/>
        </p:nvSpPr>
        <p:spPr>
          <a:xfrm>
            <a:off x="566928" y="4919472"/>
            <a:ext cx="11064240" cy="329184"/>
          </a:xfrm>
          <a:prstGeom prst="roundRect">
            <a:avLst>
              <a:gd name="adj" fmla="val 5556"/>
            </a:avLst>
          </a:prstGeom>
          <a:solidFill>
            <a:srgbClr val="FFFFFF"/>
          </a:solidFill>
          <a:ln w="12700">
            <a:solidFill>
              <a:srgbClr val="EFE6EA"/>
            </a:solidFill>
            <a:prstDash val="solid"/>
          </a:ln>
        </p:spPr>
      </p:sp>
      <p:sp>
        <p:nvSpPr>
          <p:cNvPr id="48" name="Text 46"/>
          <p:cNvSpPr txBox="1"/>
          <p:nvPr/>
        </p:nvSpPr>
        <p:spPr>
          <a:xfrm>
            <a:off x="749808" y="497433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Label shipped</a:t>
            </a:r>
            <a:endParaRPr lang="en-US" sz="1150" dirty="0"/>
          </a:p>
        </p:txBody>
      </p:sp>
      <p:sp>
        <p:nvSpPr>
          <p:cNvPr id="49" name="Text 47"/>
          <p:cNvSpPr txBox="1"/>
          <p:nvPr/>
        </p:nvSpPr>
        <p:spPr>
          <a:xfrm>
            <a:off x="3931920" y="497433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Perceived only</a:t>
            </a:r>
            <a:endParaRPr lang="en-US" sz="1150" dirty="0"/>
          </a:p>
        </p:txBody>
      </p:sp>
      <p:sp>
        <p:nvSpPr>
          <p:cNvPr id="50" name="Text 48"/>
          <p:cNvSpPr txBox="1"/>
          <p:nvPr/>
        </p:nvSpPr>
        <p:spPr>
          <a:xfrm>
            <a:off x="7772400" y="497433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Intended and perceived</a:t>
            </a:r>
            <a:endParaRPr lang="en-US" sz="1150" dirty="0"/>
          </a:p>
        </p:txBody>
      </p:sp>
      <p:sp>
        <p:nvSpPr>
          <p:cNvPr id="51" name="Shape 49"/>
          <p:cNvSpPr/>
          <p:nvPr/>
        </p:nvSpPr>
        <p:spPr>
          <a:xfrm>
            <a:off x="566928" y="5285232"/>
            <a:ext cx="11064240" cy="329184"/>
          </a:xfrm>
          <a:prstGeom prst="roundRect">
            <a:avLst>
              <a:gd name="adj" fmla="val 5556"/>
            </a:avLst>
          </a:prstGeom>
          <a:solidFill>
            <a:srgbClr val="F7F2F4"/>
          </a:solidFill>
          <a:ln w="12700">
            <a:solidFill>
              <a:srgbClr val="EFE6EA"/>
            </a:solidFill>
            <a:prstDash val="solid"/>
          </a:ln>
        </p:spPr>
      </p:sp>
      <p:sp>
        <p:nvSpPr>
          <p:cNvPr id="52" name="Text 50"/>
          <p:cNvSpPr txBox="1"/>
          <p:nvPr/>
        </p:nvSpPr>
        <p:spPr>
          <a:xfrm>
            <a:off x="749808" y="534009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Access</a:t>
            </a:r>
            <a:endParaRPr lang="en-US" sz="1150" dirty="0"/>
          </a:p>
        </p:txBody>
      </p:sp>
      <p:sp>
        <p:nvSpPr>
          <p:cNvPr id="53" name="Text 51"/>
          <p:cNvSpPr txBox="1"/>
          <p:nvPr/>
        </p:nvSpPr>
        <p:spPr>
          <a:xfrm>
            <a:off x="3931920" y="534009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Licence agreement with USC</a:t>
            </a:r>
            <a:endParaRPr lang="en-US" sz="1150" dirty="0"/>
          </a:p>
        </p:txBody>
      </p:sp>
      <p:sp>
        <p:nvSpPr>
          <p:cNvPr id="54" name="Text 52"/>
          <p:cNvSpPr txBox="1"/>
          <p:nvPr/>
        </p:nvSpPr>
        <p:spPr>
          <a:xfrm>
            <a:off x="7772400" y="534009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Open Database Licence, public repository</a:t>
            </a:r>
            <a:endParaRPr lang="en-US" sz="1150" dirty="0"/>
          </a:p>
        </p:txBody>
      </p:sp>
      <p:sp>
        <p:nvSpPr>
          <p:cNvPr id="55" name="Shape 53"/>
          <p:cNvSpPr/>
          <p:nvPr/>
        </p:nvSpPr>
        <p:spPr>
          <a:xfrm>
            <a:off x="566928" y="5650992"/>
            <a:ext cx="11064240" cy="329184"/>
          </a:xfrm>
          <a:prstGeom prst="roundRect">
            <a:avLst>
              <a:gd name="adj" fmla="val 5556"/>
            </a:avLst>
          </a:prstGeom>
          <a:solidFill>
            <a:srgbClr val="FFFFFF"/>
          </a:solidFill>
          <a:ln w="12700">
            <a:solidFill>
              <a:srgbClr val="EFE6EA"/>
            </a:solidFill>
            <a:prstDash val="solid"/>
          </a:ln>
        </p:spPr>
      </p:sp>
      <p:sp>
        <p:nvSpPr>
          <p:cNvPr id="56" name="Text 54"/>
          <p:cNvSpPr txBox="1"/>
          <p:nvPr/>
        </p:nvSpPr>
        <p:spPr>
          <a:xfrm>
            <a:off x="749808" y="5705856"/>
            <a:ext cx="3017520" cy="246888"/>
          </a:xfrm>
          <a:prstGeom prst="rect">
            <a:avLst/>
          </a:prstGeom>
          <a:noFill/>
          <a:ln/>
        </p:spPr>
        <p:txBody>
          <a:bodyPr wrap="square" lIns="0" tIns="0" rIns="0" bIns="0" rtlCol="0" anchor="ctr"/>
          <a:lstStyle/>
          <a:p>
            <a:pPr indent="0" marL="0">
              <a:buNone/>
            </a:pPr>
            <a:r>
              <a:rPr lang="en-US" sz="1150" b="1" dirty="0">
                <a:solidFill>
                  <a:srgbClr val="4A1E30"/>
                </a:solidFill>
                <a:latin typeface="Calibri" pitchFamily="34" charset="0"/>
                <a:ea typeface="Calibri" pitchFamily="34" charset="-122"/>
                <a:cs typeface="Calibri" pitchFamily="34" charset="-120"/>
              </a:rPr>
              <a:t>Official splits</a:t>
            </a:r>
            <a:endParaRPr lang="en-US" sz="1150" dirty="0"/>
          </a:p>
        </p:txBody>
      </p:sp>
      <p:sp>
        <p:nvSpPr>
          <p:cNvPr id="57" name="Text 55"/>
          <p:cNvSpPr txBox="1"/>
          <p:nvPr/>
        </p:nvSpPr>
        <p:spPr>
          <a:xfrm>
            <a:off x="3931920" y="570585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None</a:t>
            </a:r>
            <a:endParaRPr lang="en-US" sz="1150" dirty="0"/>
          </a:p>
        </p:txBody>
      </p:sp>
      <p:sp>
        <p:nvSpPr>
          <p:cNvPr id="58" name="Text 56"/>
          <p:cNvSpPr txBox="1"/>
          <p:nvPr/>
        </p:nvSpPr>
        <p:spPr>
          <a:xfrm>
            <a:off x="7772400" y="5705856"/>
            <a:ext cx="3749040" cy="246888"/>
          </a:xfrm>
          <a:prstGeom prst="rect">
            <a:avLst/>
          </a:prstGeom>
          <a:noFill/>
          <a:ln/>
        </p:spPr>
        <p:txBody>
          <a:bodyPr wrap="square" lIns="0" tIns="0" rIns="0" bIns="0" rtlCol="0" anchor="ctr"/>
          <a:lstStyle/>
          <a:p>
            <a:pPr indent="0" marL="0">
              <a:buNone/>
            </a:pPr>
            <a:r>
              <a:rPr lang="en-US" sz="1150" dirty="0">
                <a:solidFill>
                  <a:srgbClr val="3E3238"/>
                </a:solidFill>
                <a:latin typeface="Calibri" pitchFamily="34" charset="0"/>
                <a:ea typeface="Calibri" pitchFamily="34" charset="-122"/>
                <a:cs typeface="Calibri" pitchFamily="34" charset="-120"/>
              </a:rPr>
              <a:t>None</a:t>
            </a:r>
            <a:endParaRPr lang="en-US" sz="1150" dirty="0"/>
          </a:p>
        </p:txBody>
      </p:sp>
      <p:sp>
        <p:nvSpPr>
          <p:cNvPr id="59" name="Text 57"/>
          <p:cNvSpPr txBox="1"/>
          <p:nvPr/>
        </p:nvSpPr>
        <p:spPr>
          <a:xfrm>
            <a:off x="566928" y="6089904"/>
            <a:ext cx="11064240" cy="274320"/>
          </a:xfrm>
          <a:prstGeom prst="rect">
            <a:avLst/>
          </a:prstGeom>
          <a:noFill/>
          <a:ln/>
        </p:spPr>
        <p:txBody>
          <a:bodyPr wrap="square" lIns="0" tIns="0" rIns="0" bIns="0" rtlCol="0" anchor="ctr"/>
          <a:lstStyle/>
          <a:p>
            <a:pPr indent="0" marL="0">
              <a:buNone/>
            </a:pPr>
            <a:r>
              <a:rPr lang="en-US" sz="1150" i="1" dirty="0">
                <a:solidFill>
                  <a:srgbClr val="6B5A61"/>
                </a:solidFill>
                <a:latin typeface="Calibri" pitchFamily="34" charset="0"/>
                <a:ea typeface="Calibri" pitchFamily="34" charset="-122"/>
                <a:cs typeface="Calibri" pitchFamily="34" charset="-120"/>
              </a:rPr>
              <a:t>The last row is the one thing neither corpus got right — and the reason results on both are so hard to compare across papers.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What CREMA-D gets right</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Assessed on the same four axes we used for IEMOCAP</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23</a:t>
            </a:r>
            <a:endParaRPr lang="en-US" sz="900" dirty="0"/>
          </a:p>
        </p:txBody>
      </p:sp>
      <p:sp>
        <p:nvSpPr>
          <p:cNvPr id="8" name="Shape 6"/>
          <p:cNvSpPr/>
          <p:nvPr/>
        </p:nvSpPr>
        <p:spPr>
          <a:xfrm>
            <a:off x="566928" y="1517904"/>
            <a:ext cx="11064240" cy="1060704"/>
          </a:xfrm>
          <a:prstGeom prst="roundRect">
            <a:avLst>
              <a:gd name="adj" fmla="val 3448"/>
            </a:avLst>
          </a:prstGeom>
          <a:solidFill>
            <a:srgbClr val="F7F2F4"/>
          </a:solidFill>
          <a:ln w="12700">
            <a:solidFill>
              <a:srgbClr val="EFE6EA"/>
            </a:solidFill>
            <a:prstDash val="solid"/>
          </a:ln>
        </p:spPr>
      </p:sp>
      <p:sp>
        <p:nvSpPr>
          <p:cNvPr id="9" name="Shape 7"/>
          <p:cNvSpPr/>
          <p:nvPr/>
        </p:nvSpPr>
        <p:spPr>
          <a:xfrm>
            <a:off x="786384" y="1975104"/>
            <a:ext cx="118872" cy="118872"/>
          </a:xfrm>
          <a:prstGeom prst="ellipse">
            <a:avLst/>
          </a:prstGeom>
          <a:solidFill>
            <a:srgbClr val="6D2E46"/>
          </a:solidFill>
          <a:ln w="12700">
            <a:solidFill>
              <a:srgbClr val="333333"/>
            </a:solidFill>
            <a:prstDash val="solid"/>
          </a:ln>
        </p:spPr>
      </p:sp>
      <p:sp>
        <p:nvSpPr>
          <p:cNvPr id="10" name="Text 8"/>
          <p:cNvSpPr txBox="1"/>
          <p:nvPr/>
        </p:nvSpPr>
        <p:spPr>
          <a:xfrm>
            <a:off x="1024128" y="1901952"/>
            <a:ext cx="155448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Scope</a:t>
            </a:r>
            <a:endParaRPr lang="en-US" sz="1400" dirty="0"/>
          </a:p>
        </p:txBody>
      </p:sp>
      <p:sp>
        <p:nvSpPr>
          <p:cNvPr id="11" name="Text 9"/>
          <p:cNvSpPr txBox="1"/>
          <p:nvPr/>
        </p:nvSpPr>
        <p:spPr>
          <a:xfrm>
            <a:off x="2697480" y="1682496"/>
            <a:ext cx="4663440" cy="7772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Ninety-one speakers across a wide age and ethnic range, six balanced emotion classes, three modalities.</a:t>
            </a:r>
            <a:endParaRPr lang="en-US" sz="1200" dirty="0"/>
          </a:p>
        </p:txBody>
      </p:sp>
      <p:sp>
        <p:nvSpPr>
          <p:cNvPr id="12" name="Text 10"/>
          <p:cNvSpPr txBox="1"/>
          <p:nvPr/>
        </p:nvSpPr>
        <p:spPr>
          <a:xfrm>
            <a:off x="7543800" y="1682496"/>
            <a:ext cx="3886200" cy="777240"/>
          </a:xfrm>
          <a:prstGeom prst="rect">
            <a:avLst/>
          </a:prstGeom>
          <a:noFill/>
          <a:ln/>
        </p:spPr>
        <p:txBody>
          <a:bodyPr wrap="square" lIns="0" tIns="0" rIns="0" bIns="0" rtlCol="0" anchor="ctr"/>
          <a:lstStyle/>
          <a:p>
            <a:pPr indent="0" marL="0">
              <a:buNone/>
            </a:pPr>
            <a:r>
              <a:rPr lang="en-US" sz="1200" i="1" dirty="0">
                <a:solidFill>
                  <a:srgbClr val="8A5560"/>
                </a:solidFill>
                <a:latin typeface="Calibri" pitchFamily="34" charset="0"/>
                <a:ea typeface="Calibri" pitchFamily="34" charset="-122"/>
                <a:cs typeface="Calibri" pitchFamily="34" charset="-120"/>
              </a:rPr>
              <a:t>Strongest of any comparable corpus of its period, and still unusual today.</a:t>
            </a:r>
            <a:endParaRPr lang="en-US" sz="1200" dirty="0"/>
          </a:p>
        </p:txBody>
      </p:sp>
      <p:sp>
        <p:nvSpPr>
          <p:cNvPr id="13" name="Shape 11"/>
          <p:cNvSpPr/>
          <p:nvPr/>
        </p:nvSpPr>
        <p:spPr>
          <a:xfrm>
            <a:off x="566928" y="2651760"/>
            <a:ext cx="11064240" cy="1060704"/>
          </a:xfrm>
          <a:prstGeom prst="roundRect">
            <a:avLst>
              <a:gd name="adj" fmla="val 3448"/>
            </a:avLst>
          </a:prstGeom>
          <a:solidFill>
            <a:srgbClr val="FFFFFF"/>
          </a:solidFill>
          <a:ln w="12700">
            <a:solidFill>
              <a:srgbClr val="EFE6EA"/>
            </a:solidFill>
            <a:prstDash val="solid"/>
          </a:ln>
        </p:spPr>
      </p:sp>
      <p:sp>
        <p:nvSpPr>
          <p:cNvPr id="14" name="Shape 12"/>
          <p:cNvSpPr/>
          <p:nvPr/>
        </p:nvSpPr>
        <p:spPr>
          <a:xfrm>
            <a:off x="786384" y="3108960"/>
            <a:ext cx="118872" cy="118872"/>
          </a:xfrm>
          <a:prstGeom prst="ellipse">
            <a:avLst/>
          </a:prstGeom>
          <a:solidFill>
            <a:srgbClr val="6D2E46"/>
          </a:solidFill>
          <a:ln w="12700">
            <a:solidFill>
              <a:srgbClr val="333333"/>
            </a:solidFill>
            <a:prstDash val="solid"/>
          </a:ln>
        </p:spPr>
      </p:sp>
      <p:sp>
        <p:nvSpPr>
          <p:cNvPr id="15" name="Text 13"/>
          <p:cNvSpPr txBox="1"/>
          <p:nvPr/>
        </p:nvSpPr>
        <p:spPr>
          <a:xfrm>
            <a:off x="1024128" y="3035808"/>
            <a:ext cx="155448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Naturalness</a:t>
            </a:r>
            <a:endParaRPr lang="en-US" sz="1400" dirty="0"/>
          </a:p>
        </p:txBody>
      </p:sp>
      <p:sp>
        <p:nvSpPr>
          <p:cNvPr id="16" name="Text 14"/>
          <p:cNvSpPr txBox="1"/>
          <p:nvPr/>
        </p:nvSpPr>
        <p:spPr>
          <a:xfrm>
            <a:off x="2697480" y="2816352"/>
            <a:ext cx="4663440" cy="7772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Directed portrayal with a scenario prompt, by professional actors, in a studio.</a:t>
            </a:r>
            <a:endParaRPr lang="en-US" sz="1200" dirty="0"/>
          </a:p>
        </p:txBody>
      </p:sp>
      <p:sp>
        <p:nvSpPr>
          <p:cNvPr id="17" name="Text 15"/>
          <p:cNvSpPr txBox="1"/>
          <p:nvPr/>
        </p:nvSpPr>
        <p:spPr>
          <a:xfrm>
            <a:off x="7543800" y="2816352"/>
            <a:ext cx="3886200" cy="777240"/>
          </a:xfrm>
          <a:prstGeom prst="rect">
            <a:avLst/>
          </a:prstGeom>
          <a:noFill/>
          <a:ln/>
        </p:spPr>
        <p:txBody>
          <a:bodyPr wrap="square" lIns="0" tIns="0" rIns="0" bIns="0" rtlCol="0" anchor="ctr"/>
          <a:lstStyle/>
          <a:p>
            <a:pPr indent="0" marL="0">
              <a:buNone/>
            </a:pPr>
            <a:r>
              <a:rPr lang="en-US" sz="1200" i="1" dirty="0">
                <a:solidFill>
                  <a:srgbClr val="8A5560"/>
                </a:solidFill>
                <a:latin typeface="Calibri" pitchFamily="34" charset="0"/>
                <a:ea typeface="Calibri" pitchFamily="34" charset="-122"/>
                <a:cs typeface="Calibri" pitchFamily="34" charset="-120"/>
              </a:rPr>
              <a:t>The weakest axis. This is portrayal, and closer to the acted corpora IEMOCAP criticised.</a:t>
            </a:r>
            <a:endParaRPr lang="en-US" sz="1200" dirty="0"/>
          </a:p>
        </p:txBody>
      </p:sp>
      <p:sp>
        <p:nvSpPr>
          <p:cNvPr id="18" name="Shape 16"/>
          <p:cNvSpPr/>
          <p:nvPr/>
        </p:nvSpPr>
        <p:spPr>
          <a:xfrm>
            <a:off x="566928" y="3785616"/>
            <a:ext cx="11064240" cy="1060704"/>
          </a:xfrm>
          <a:prstGeom prst="roundRect">
            <a:avLst>
              <a:gd name="adj" fmla="val 3448"/>
            </a:avLst>
          </a:prstGeom>
          <a:solidFill>
            <a:srgbClr val="F7F2F4"/>
          </a:solidFill>
          <a:ln w="12700">
            <a:solidFill>
              <a:srgbClr val="EFE6EA"/>
            </a:solidFill>
            <a:prstDash val="solid"/>
          </a:ln>
        </p:spPr>
      </p:sp>
      <p:sp>
        <p:nvSpPr>
          <p:cNvPr id="19" name="Shape 17"/>
          <p:cNvSpPr/>
          <p:nvPr/>
        </p:nvSpPr>
        <p:spPr>
          <a:xfrm>
            <a:off x="786384" y="4242816"/>
            <a:ext cx="118872" cy="118872"/>
          </a:xfrm>
          <a:prstGeom prst="ellipse">
            <a:avLst/>
          </a:prstGeom>
          <a:solidFill>
            <a:srgbClr val="6D2E46"/>
          </a:solidFill>
          <a:ln w="12700">
            <a:solidFill>
              <a:srgbClr val="333333"/>
            </a:solidFill>
            <a:prstDash val="solid"/>
          </a:ln>
        </p:spPr>
      </p:sp>
      <p:sp>
        <p:nvSpPr>
          <p:cNvPr id="20" name="Text 18"/>
          <p:cNvSpPr txBox="1"/>
          <p:nvPr/>
        </p:nvSpPr>
        <p:spPr>
          <a:xfrm>
            <a:off x="1024128" y="4169664"/>
            <a:ext cx="155448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Context</a:t>
            </a:r>
            <a:endParaRPr lang="en-US" sz="1400" dirty="0"/>
          </a:p>
        </p:txBody>
      </p:sp>
      <p:sp>
        <p:nvSpPr>
          <p:cNvPr id="21" name="Text 19"/>
          <p:cNvSpPr txBox="1"/>
          <p:nvPr/>
        </p:nvSpPr>
        <p:spPr>
          <a:xfrm>
            <a:off x="2697480" y="3950208"/>
            <a:ext cx="4663440" cy="7772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Single sentences, no interlocutor, no discourse history.</a:t>
            </a:r>
            <a:endParaRPr lang="en-US" sz="1200" dirty="0"/>
          </a:p>
        </p:txBody>
      </p:sp>
      <p:sp>
        <p:nvSpPr>
          <p:cNvPr id="22" name="Text 20"/>
          <p:cNvSpPr txBox="1"/>
          <p:nvPr/>
        </p:nvSpPr>
        <p:spPr>
          <a:xfrm>
            <a:off x="7543800" y="3950208"/>
            <a:ext cx="3886200" cy="777240"/>
          </a:xfrm>
          <a:prstGeom prst="rect">
            <a:avLst/>
          </a:prstGeom>
          <a:noFill/>
          <a:ln/>
        </p:spPr>
        <p:txBody>
          <a:bodyPr wrap="square" lIns="0" tIns="0" rIns="0" bIns="0" rtlCol="0" anchor="ctr"/>
          <a:lstStyle/>
          <a:p>
            <a:pPr indent="0" marL="0">
              <a:buNone/>
            </a:pPr>
            <a:r>
              <a:rPr lang="en-US" sz="1200" i="1" dirty="0">
                <a:solidFill>
                  <a:srgbClr val="8A5560"/>
                </a:solidFill>
                <a:latin typeface="Calibri" pitchFamily="34" charset="0"/>
                <a:ea typeface="Calibri" pitchFamily="34" charset="-122"/>
                <a:cs typeface="Calibri" pitchFamily="34" charset="-120"/>
              </a:rPr>
              <a:t>Deliberately sacrificed — and defensible only because the clinical use requires it.</a:t>
            </a:r>
            <a:endParaRPr lang="en-US" sz="1200" dirty="0"/>
          </a:p>
        </p:txBody>
      </p:sp>
      <p:sp>
        <p:nvSpPr>
          <p:cNvPr id="23" name="Shape 21"/>
          <p:cNvSpPr/>
          <p:nvPr/>
        </p:nvSpPr>
        <p:spPr>
          <a:xfrm>
            <a:off x="566928" y="4919472"/>
            <a:ext cx="11064240" cy="1060704"/>
          </a:xfrm>
          <a:prstGeom prst="roundRect">
            <a:avLst>
              <a:gd name="adj" fmla="val 3448"/>
            </a:avLst>
          </a:prstGeom>
          <a:solidFill>
            <a:srgbClr val="FFFFFF"/>
          </a:solidFill>
          <a:ln w="12700">
            <a:solidFill>
              <a:srgbClr val="EFE6EA"/>
            </a:solidFill>
            <a:prstDash val="solid"/>
          </a:ln>
        </p:spPr>
      </p:sp>
      <p:sp>
        <p:nvSpPr>
          <p:cNvPr id="24" name="Shape 22"/>
          <p:cNvSpPr/>
          <p:nvPr/>
        </p:nvSpPr>
        <p:spPr>
          <a:xfrm>
            <a:off x="786384" y="5376672"/>
            <a:ext cx="118872" cy="118872"/>
          </a:xfrm>
          <a:prstGeom prst="ellipse">
            <a:avLst/>
          </a:prstGeom>
          <a:solidFill>
            <a:srgbClr val="6D2E46"/>
          </a:solidFill>
          <a:ln w="12700">
            <a:solidFill>
              <a:srgbClr val="333333"/>
            </a:solidFill>
            <a:prstDash val="solid"/>
          </a:ln>
        </p:spPr>
      </p:sp>
      <p:sp>
        <p:nvSpPr>
          <p:cNvPr id="25" name="Text 23"/>
          <p:cNvSpPr txBox="1"/>
          <p:nvPr/>
        </p:nvSpPr>
        <p:spPr>
          <a:xfrm>
            <a:off x="1024128" y="5303520"/>
            <a:ext cx="1554480" cy="292608"/>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Descriptors</a:t>
            </a:r>
            <a:endParaRPr lang="en-US" sz="1400" dirty="0"/>
          </a:p>
        </p:txBody>
      </p:sp>
      <p:sp>
        <p:nvSpPr>
          <p:cNvPr id="26" name="Text 24"/>
          <p:cNvSpPr txBox="1"/>
          <p:nvPr/>
        </p:nvSpPr>
        <p:spPr>
          <a:xfrm>
            <a:off x="2697480" y="5084064"/>
            <a:ext cx="4663440" cy="777240"/>
          </a:xfrm>
          <a:prstGeom prst="rect">
            <a:avLst/>
          </a:prstGeom>
          <a:noFill/>
          <a:ln/>
        </p:spPr>
        <p:txBody>
          <a:bodyPr wrap="square" lIns="0" tIns="0" rIns="0" bIns="0" rtlCol="0" anchor="ctr"/>
          <a:lstStyle/>
          <a:p>
            <a:pPr indent="0" marL="0">
              <a:buNone/>
            </a:pPr>
            <a:r>
              <a:rPr lang="en-US" sz="1200" dirty="0">
                <a:solidFill>
                  <a:srgbClr val="3E3238"/>
                </a:solidFill>
                <a:latin typeface="Calibri" pitchFamily="34" charset="0"/>
                <a:ea typeface="Calibri" pitchFamily="34" charset="-122"/>
                <a:cs typeface="Calibri" pitchFamily="34" charset="-120"/>
              </a:rPr>
              <a:t>Intended and perceived category, plus perceived intensity, in three modalities, from about ten raters each.</a:t>
            </a:r>
            <a:endParaRPr lang="en-US" sz="1200" dirty="0"/>
          </a:p>
        </p:txBody>
      </p:sp>
      <p:sp>
        <p:nvSpPr>
          <p:cNvPr id="27" name="Text 25"/>
          <p:cNvSpPr txBox="1"/>
          <p:nvPr/>
        </p:nvSpPr>
        <p:spPr>
          <a:xfrm>
            <a:off x="7543800" y="5084064"/>
            <a:ext cx="3886200" cy="777240"/>
          </a:xfrm>
          <a:prstGeom prst="rect">
            <a:avLst/>
          </a:prstGeom>
          <a:noFill/>
          <a:ln/>
        </p:spPr>
        <p:txBody>
          <a:bodyPr wrap="square" lIns="0" tIns="0" rIns="0" bIns="0" rtlCol="0" anchor="ctr"/>
          <a:lstStyle/>
          <a:p>
            <a:pPr indent="0" marL="0">
              <a:buNone/>
            </a:pPr>
            <a:r>
              <a:rPr lang="en-US" sz="1200" i="1" dirty="0">
                <a:solidFill>
                  <a:srgbClr val="8A5560"/>
                </a:solidFill>
                <a:latin typeface="Calibri" pitchFamily="34" charset="0"/>
                <a:ea typeface="Calibri" pitchFamily="34" charset="-122"/>
                <a:cs typeface="Calibri" pitchFamily="34" charset="-120"/>
              </a:rPr>
              <a:t>Exceptionally rich. The per-modality rating design is genuinely novel.</a:t>
            </a:r>
            <a:endParaRPr lang="en-US" sz="1200" dirty="0"/>
          </a:p>
        </p:txBody>
      </p:sp>
      <p:sp>
        <p:nvSpPr>
          <p:cNvPr id="28" name="Text 26"/>
          <p:cNvSpPr txBox="1"/>
          <p:nvPr/>
        </p:nvSpPr>
        <p:spPr>
          <a:xfrm>
            <a:off x="2697480" y="1243584"/>
            <a:ext cx="4663440" cy="237744"/>
          </a:xfrm>
          <a:prstGeom prst="rect">
            <a:avLst/>
          </a:prstGeom>
          <a:noFill/>
          <a:ln/>
        </p:spPr>
        <p:txBody>
          <a:bodyPr wrap="square" lIns="0" tIns="0" rIns="0" bIns="0" rtlCol="0" anchor="ctr"/>
          <a:lstStyle/>
          <a:p>
            <a:pPr indent="0" marL="0">
              <a:buNone/>
            </a:pPr>
            <a:r>
              <a:rPr lang="en-US" sz="1100" b="1" dirty="0">
                <a:solidFill>
                  <a:srgbClr val="6B5A61"/>
                </a:solidFill>
                <a:latin typeface="Calibri" pitchFamily="34" charset="0"/>
                <a:ea typeface="Calibri" pitchFamily="34" charset="-122"/>
                <a:cs typeface="Calibri" pitchFamily="34" charset="-120"/>
              </a:rPr>
              <a:t>Design claim</a:t>
            </a:r>
            <a:endParaRPr lang="en-US" sz="1100" dirty="0"/>
          </a:p>
        </p:txBody>
      </p:sp>
      <p:sp>
        <p:nvSpPr>
          <p:cNvPr id="29" name="Text 27"/>
          <p:cNvSpPr txBox="1"/>
          <p:nvPr/>
        </p:nvSpPr>
        <p:spPr>
          <a:xfrm>
            <a:off x="7543800" y="1243584"/>
            <a:ext cx="3886200" cy="237744"/>
          </a:xfrm>
          <a:prstGeom prst="rect">
            <a:avLst/>
          </a:prstGeom>
          <a:noFill/>
          <a:ln/>
        </p:spPr>
        <p:txBody>
          <a:bodyPr wrap="square" lIns="0" tIns="0" rIns="0" bIns="0" rtlCol="0" anchor="ctr"/>
          <a:lstStyle/>
          <a:p>
            <a:pPr indent="0" marL="0">
              <a:buNone/>
            </a:pPr>
            <a:r>
              <a:rPr lang="en-US" sz="1100" b="1" dirty="0">
                <a:solidFill>
                  <a:srgbClr val="6B5A61"/>
                </a:solidFill>
                <a:latin typeface="Calibri" pitchFamily="34" charset="0"/>
                <a:ea typeface="Calibri" pitchFamily="34" charset="-122"/>
                <a:cs typeface="Calibri" pitchFamily="34" charset="-120"/>
              </a:rPr>
              <a:t>Verdict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Limitations</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Some acknowledged, some structural, some only visible with hindsight</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24</a:t>
            </a:r>
            <a:endParaRPr lang="en-US" sz="900" dirty="0"/>
          </a:p>
        </p:txBody>
      </p:sp>
      <p:sp>
        <p:nvSpPr>
          <p:cNvPr id="8" name="Shape 6"/>
          <p:cNvSpPr/>
          <p:nvPr/>
        </p:nvSpPr>
        <p:spPr>
          <a:xfrm>
            <a:off x="566928" y="1554480"/>
            <a:ext cx="3584448" cy="2048256"/>
          </a:xfrm>
          <a:prstGeom prst="roundRect">
            <a:avLst>
              <a:gd name="adj" fmla="val 2679"/>
            </a:avLst>
          </a:prstGeom>
          <a:solidFill>
            <a:srgbClr val="F7F2F4"/>
          </a:solidFill>
          <a:ln w="12700">
            <a:solidFill>
              <a:srgbClr val="EADDE2"/>
            </a:solidFill>
            <a:prstDash val="solid"/>
          </a:ln>
        </p:spPr>
      </p:sp>
      <p:sp>
        <p:nvSpPr>
          <p:cNvPr id="9" name="Shape 7"/>
          <p:cNvSpPr/>
          <p:nvPr/>
        </p:nvSpPr>
        <p:spPr>
          <a:xfrm>
            <a:off x="786384" y="1847088"/>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19072"/>
            <a:ext cx="2944368" cy="365760"/>
          </a:xfrm>
          <a:prstGeom prst="rect">
            <a:avLst/>
          </a:prstGeom>
          <a:noFill/>
          <a:ln/>
        </p:spPr>
        <p:txBody>
          <a:bodyPr wrap="square" lIns="0" tIns="0" rIns="0" bIns="0" rtlCol="0" anchor="ctr"/>
          <a:lstStyle/>
          <a:p>
            <a:pPr indent="0" marL="0">
              <a:buNone/>
            </a:pPr>
            <a:r>
              <a:rPr lang="en-US" sz="1450" b="1" dirty="0">
                <a:solidFill>
                  <a:srgbClr val="4A1E30"/>
                </a:solidFill>
                <a:latin typeface="Cambria" pitchFamily="34" charset="0"/>
                <a:ea typeface="Cambria" pitchFamily="34" charset="-122"/>
                <a:cs typeface="Cambria" pitchFamily="34" charset="-120"/>
              </a:rPr>
              <a:t>Portrayal, not experience</a:t>
            </a:r>
            <a:endParaRPr lang="en-US" sz="1450" dirty="0"/>
          </a:p>
        </p:txBody>
      </p:sp>
      <p:sp>
        <p:nvSpPr>
          <p:cNvPr id="11" name="Text 9"/>
          <p:cNvSpPr txBox="1"/>
          <p:nvPr/>
        </p:nvSpPr>
        <p:spPr>
          <a:xfrm>
            <a:off x="822960" y="2157984"/>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E3238"/>
                </a:solidFill>
                <a:latin typeface="Calibri" pitchFamily="34" charset="0"/>
                <a:ea typeface="Calibri" pitchFamily="34" charset="-122"/>
                <a:cs typeface="Calibri" pitchFamily="34" charset="-120"/>
              </a:rPr>
              <a:t>Actors performing on cue in a studio. Whatever IEMOCAP's dyadic elicitation bought, CREMA-D gives back.</a:t>
            </a:r>
            <a:endParaRPr lang="en-US" sz="1220" dirty="0"/>
          </a:p>
        </p:txBody>
      </p:sp>
      <p:sp>
        <p:nvSpPr>
          <p:cNvPr id="12" name="Shape 10"/>
          <p:cNvSpPr/>
          <p:nvPr/>
        </p:nvSpPr>
        <p:spPr>
          <a:xfrm>
            <a:off x="4279392" y="1554480"/>
            <a:ext cx="3584448" cy="2048256"/>
          </a:xfrm>
          <a:prstGeom prst="roundRect">
            <a:avLst>
              <a:gd name="adj" fmla="val 2679"/>
            </a:avLst>
          </a:prstGeom>
          <a:solidFill>
            <a:srgbClr val="F7F2F4"/>
          </a:solidFill>
          <a:ln w="12700">
            <a:solidFill>
              <a:srgbClr val="EADDE2"/>
            </a:solidFill>
            <a:prstDash val="solid"/>
          </a:ln>
        </p:spPr>
      </p:sp>
      <p:sp>
        <p:nvSpPr>
          <p:cNvPr id="13" name="Shape 11"/>
          <p:cNvSpPr/>
          <p:nvPr/>
        </p:nvSpPr>
        <p:spPr>
          <a:xfrm>
            <a:off x="4498848" y="1847088"/>
            <a:ext cx="109728" cy="109728"/>
          </a:xfrm>
          <a:prstGeom prst="ellipse">
            <a:avLst/>
          </a:prstGeom>
          <a:solidFill>
            <a:srgbClr val="6D2E46"/>
          </a:solidFill>
          <a:ln w="12700">
            <a:solidFill>
              <a:srgbClr val="333333"/>
            </a:solidFill>
            <a:prstDash val="solid"/>
          </a:ln>
        </p:spPr>
      </p:sp>
      <p:sp>
        <p:nvSpPr>
          <p:cNvPr id="14" name="Text 12"/>
          <p:cNvSpPr txBox="1"/>
          <p:nvPr/>
        </p:nvSpPr>
        <p:spPr>
          <a:xfrm>
            <a:off x="4700016" y="1719072"/>
            <a:ext cx="2944368" cy="365760"/>
          </a:xfrm>
          <a:prstGeom prst="rect">
            <a:avLst/>
          </a:prstGeom>
          <a:noFill/>
          <a:ln/>
        </p:spPr>
        <p:txBody>
          <a:bodyPr wrap="square" lIns="0" tIns="0" rIns="0" bIns="0" rtlCol="0" anchor="ctr"/>
          <a:lstStyle/>
          <a:p>
            <a:pPr indent="0" marL="0">
              <a:buNone/>
            </a:pPr>
            <a:r>
              <a:rPr lang="en-US" sz="1450" b="1" dirty="0">
                <a:solidFill>
                  <a:srgbClr val="4A1E30"/>
                </a:solidFill>
                <a:latin typeface="Cambria" pitchFamily="34" charset="0"/>
                <a:ea typeface="Cambria" pitchFamily="34" charset="-122"/>
                <a:cs typeface="Cambria" pitchFamily="34" charset="-120"/>
              </a:rPr>
              <a:t>No context whatsoever</a:t>
            </a:r>
            <a:endParaRPr lang="en-US" sz="1450" dirty="0"/>
          </a:p>
        </p:txBody>
      </p:sp>
      <p:sp>
        <p:nvSpPr>
          <p:cNvPr id="15" name="Text 13"/>
          <p:cNvSpPr txBox="1"/>
          <p:nvPr/>
        </p:nvSpPr>
        <p:spPr>
          <a:xfrm>
            <a:off x="4535424" y="2157984"/>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E3238"/>
                </a:solidFill>
                <a:latin typeface="Calibri" pitchFamily="34" charset="0"/>
                <a:ea typeface="Calibri" pitchFamily="34" charset="-122"/>
                <a:cs typeface="Calibri" pitchFamily="34" charset="-120"/>
              </a:rPr>
              <a:t>Two seconds, one sentence, no interlocutor. Emotions that depend on discourse — frustration above all — are simply absent.</a:t>
            </a:r>
            <a:endParaRPr lang="en-US" sz="1220" dirty="0"/>
          </a:p>
        </p:txBody>
      </p:sp>
      <p:sp>
        <p:nvSpPr>
          <p:cNvPr id="16" name="Shape 14"/>
          <p:cNvSpPr/>
          <p:nvPr/>
        </p:nvSpPr>
        <p:spPr>
          <a:xfrm>
            <a:off x="7991856" y="1554480"/>
            <a:ext cx="3584448" cy="2048256"/>
          </a:xfrm>
          <a:prstGeom prst="roundRect">
            <a:avLst>
              <a:gd name="adj" fmla="val 2679"/>
            </a:avLst>
          </a:prstGeom>
          <a:solidFill>
            <a:srgbClr val="F7F2F4"/>
          </a:solidFill>
          <a:ln w="12700">
            <a:solidFill>
              <a:srgbClr val="EADDE2"/>
            </a:solidFill>
            <a:prstDash val="solid"/>
          </a:ln>
        </p:spPr>
      </p:sp>
      <p:sp>
        <p:nvSpPr>
          <p:cNvPr id="17" name="Shape 15"/>
          <p:cNvSpPr/>
          <p:nvPr/>
        </p:nvSpPr>
        <p:spPr>
          <a:xfrm>
            <a:off x="8211312" y="1847088"/>
            <a:ext cx="109728" cy="109728"/>
          </a:xfrm>
          <a:prstGeom prst="ellipse">
            <a:avLst/>
          </a:prstGeom>
          <a:solidFill>
            <a:srgbClr val="6D2E46"/>
          </a:solidFill>
          <a:ln w="12700">
            <a:solidFill>
              <a:srgbClr val="333333"/>
            </a:solidFill>
            <a:prstDash val="solid"/>
          </a:ln>
        </p:spPr>
      </p:sp>
      <p:sp>
        <p:nvSpPr>
          <p:cNvPr id="18" name="Text 16"/>
          <p:cNvSpPr txBox="1"/>
          <p:nvPr/>
        </p:nvSpPr>
        <p:spPr>
          <a:xfrm>
            <a:off x="8412480" y="1719072"/>
            <a:ext cx="2944368" cy="365760"/>
          </a:xfrm>
          <a:prstGeom prst="rect">
            <a:avLst/>
          </a:prstGeom>
          <a:noFill/>
          <a:ln/>
        </p:spPr>
        <p:txBody>
          <a:bodyPr wrap="square" lIns="0" tIns="0" rIns="0" bIns="0" rtlCol="0" anchor="ctr"/>
          <a:lstStyle/>
          <a:p>
            <a:pPr indent="0" marL="0">
              <a:buNone/>
            </a:pPr>
            <a:r>
              <a:rPr lang="en-US" sz="1450" b="1" dirty="0">
                <a:solidFill>
                  <a:srgbClr val="4A1E30"/>
                </a:solidFill>
                <a:latin typeface="Cambria" pitchFamily="34" charset="0"/>
                <a:ea typeface="Cambria" pitchFamily="34" charset="-122"/>
                <a:cs typeface="Cambria" pitchFamily="34" charset="-120"/>
              </a:rPr>
              <a:t>Twelve sentences</a:t>
            </a:r>
            <a:endParaRPr lang="en-US" sz="1450" dirty="0"/>
          </a:p>
        </p:txBody>
      </p:sp>
      <p:sp>
        <p:nvSpPr>
          <p:cNvPr id="19" name="Text 17"/>
          <p:cNvSpPr txBox="1"/>
          <p:nvPr/>
        </p:nvSpPr>
        <p:spPr>
          <a:xfrm>
            <a:off x="8247888" y="2157984"/>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E3238"/>
                </a:solidFill>
                <a:latin typeface="Calibri" pitchFamily="34" charset="0"/>
                <a:ea typeface="Calibri" pitchFamily="34" charset="-122"/>
                <a:cs typeface="Calibri" pitchFamily="34" charset="-120"/>
              </a:rPr>
              <a:t>Almost no phonetic or syntactic variety. Transfer to open-vocabulary speech is untested and cannot be tested here.</a:t>
            </a:r>
            <a:endParaRPr lang="en-US" sz="1220" dirty="0"/>
          </a:p>
        </p:txBody>
      </p:sp>
      <p:sp>
        <p:nvSpPr>
          <p:cNvPr id="20" name="Shape 18"/>
          <p:cNvSpPr/>
          <p:nvPr/>
        </p:nvSpPr>
        <p:spPr>
          <a:xfrm>
            <a:off x="566928" y="3767328"/>
            <a:ext cx="3584448" cy="2048256"/>
          </a:xfrm>
          <a:prstGeom prst="roundRect">
            <a:avLst>
              <a:gd name="adj" fmla="val 2679"/>
            </a:avLst>
          </a:prstGeom>
          <a:solidFill>
            <a:srgbClr val="F7F2F4"/>
          </a:solidFill>
          <a:ln w="12700">
            <a:solidFill>
              <a:srgbClr val="EADDE2"/>
            </a:solidFill>
            <a:prstDash val="solid"/>
          </a:ln>
        </p:spPr>
      </p:sp>
      <p:sp>
        <p:nvSpPr>
          <p:cNvPr id="21" name="Shape 19"/>
          <p:cNvSpPr/>
          <p:nvPr/>
        </p:nvSpPr>
        <p:spPr>
          <a:xfrm>
            <a:off x="786384" y="4059936"/>
            <a:ext cx="109728" cy="109728"/>
          </a:xfrm>
          <a:prstGeom prst="ellipse">
            <a:avLst/>
          </a:prstGeom>
          <a:solidFill>
            <a:srgbClr val="6D2E46"/>
          </a:solidFill>
          <a:ln w="12700">
            <a:solidFill>
              <a:srgbClr val="333333"/>
            </a:solidFill>
            <a:prstDash val="solid"/>
          </a:ln>
        </p:spPr>
      </p:sp>
      <p:sp>
        <p:nvSpPr>
          <p:cNvPr id="22" name="Text 20"/>
          <p:cNvSpPr txBox="1"/>
          <p:nvPr/>
        </p:nvSpPr>
        <p:spPr>
          <a:xfrm>
            <a:off x="987552" y="3931920"/>
            <a:ext cx="2944368" cy="365760"/>
          </a:xfrm>
          <a:prstGeom prst="rect">
            <a:avLst/>
          </a:prstGeom>
          <a:noFill/>
          <a:ln/>
        </p:spPr>
        <p:txBody>
          <a:bodyPr wrap="square" lIns="0" tIns="0" rIns="0" bIns="0" rtlCol="0" anchor="ctr"/>
          <a:lstStyle/>
          <a:p>
            <a:pPr indent="0" marL="0">
              <a:buNone/>
            </a:pPr>
            <a:r>
              <a:rPr lang="en-US" sz="1450" b="1" dirty="0">
                <a:solidFill>
                  <a:srgbClr val="4A1E30"/>
                </a:solidFill>
                <a:latin typeface="Cambria" pitchFamily="34" charset="0"/>
                <a:ea typeface="Cambria" pitchFamily="34" charset="-122"/>
                <a:cs typeface="Cambria" pitchFamily="34" charset="-120"/>
              </a:rPr>
              <a:t>No dimensional annotation</a:t>
            </a:r>
            <a:endParaRPr lang="en-US" sz="1450" dirty="0"/>
          </a:p>
        </p:txBody>
      </p:sp>
      <p:sp>
        <p:nvSpPr>
          <p:cNvPr id="23" name="Text 21"/>
          <p:cNvSpPr txBox="1"/>
          <p:nvPr/>
        </p:nvSpPr>
        <p:spPr>
          <a:xfrm>
            <a:off x="822960" y="4370832"/>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E3238"/>
                </a:solidFill>
                <a:latin typeface="Calibri" pitchFamily="34" charset="0"/>
                <a:ea typeface="Calibri" pitchFamily="34" charset="-122"/>
                <a:cs typeface="Calibri" pitchFamily="34" charset="-120"/>
              </a:rPr>
              <a:t>Category plus intensity, but no valence, arousal or dominance scales, so the corpus does not serve dimensional prediction directly.</a:t>
            </a:r>
            <a:endParaRPr lang="en-US" sz="1220" dirty="0"/>
          </a:p>
        </p:txBody>
      </p:sp>
      <p:sp>
        <p:nvSpPr>
          <p:cNvPr id="24" name="Shape 22"/>
          <p:cNvSpPr/>
          <p:nvPr/>
        </p:nvSpPr>
        <p:spPr>
          <a:xfrm>
            <a:off x="4279392" y="3767328"/>
            <a:ext cx="3584448" cy="2048256"/>
          </a:xfrm>
          <a:prstGeom prst="roundRect">
            <a:avLst>
              <a:gd name="adj" fmla="val 2679"/>
            </a:avLst>
          </a:prstGeom>
          <a:solidFill>
            <a:srgbClr val="F7F2F4"/>
          </a:solidFill>
          <a:ln w="12700">
            <a:solidFill>
              <a:srgbClr val="EADDE2"/>
            </a:solidFill>
            <a:prstDash val="solid"/>
          </a:ln>
        </p:spPr>
      </p:sp>
      <p:sp>
        <p:nvSpPr>
          <p:cNvPr id="25" name="Shape 23"/>
          <p:cNvSpPr/>
          <p:nvPr/>
        </p:nvSpPr>
        <p:spPr>
          <a:xfrm>
            <a:off x="4498848" y="4059936"/>
            <a:ext cx="109728" cy="109728"/>
          </a:xfrm>
          <a:prstGeom prst="ellipse">
            <a:avLst/>
          </a:prstGeom>
          <a:solidFill>
            <a:srgbClr val="6D2E46"/>
          </a:solidFill>
          <a:ln w="12700">
            <a:solidFill>
              <a:srgbClr val="333333"/>
            </a:solidFill>
            <a:prstDash val="solid"/>
          </a:ln>
        </p:spPr>
      </p:sp>
      <p:sp>
        <p:nvSpPr>
          <p:cNvPr id="26" name="Text 24"/>
          <p:cNvSpPr txBox="1"/>
          <p:nvPr/>
        </p:nvSpPr>
        <p:spPr>
          <a:xfrm>
            <a:off x="4700016" y="3931920"/>
            <a:ext cx="2944368" cy="365760"/>
          </a:xfrm>
          <a:prstGeom prst="rect">
            <a:avLst/>
          </a:prstGeom>
          <a:noFill/>
          <a:ln/>
        </p:spPr>
        <p:txBody>
          <a:bodyPr wrap="square" lIns="0" tIns="0" rIns="0" bIns="0" rtlCol="0" anchor="ctr"/>
          <a:lstStyle/>
          <a:p>
            <a:pPr indent="0" marL="0">
              <a:buNone/>
            </a:pPr>
            <a:r>
              <a:rPr lang="en-US" sz="1450" b="1" dirty="0">
                <a:solidFill>
                  <a:srgbClr val="4A1E30"/>
                </a:solidFill>
                <a:latin typeface="Cambria" pitchFamily="34" charset="0"/>
                <a:ea typeface="Cambria" pitchFamily="34" charset="-122"/>
                <a:cs typeface="Cambria" pitchFamily="34" charset="-120"/>
              </a:rPr>
              <a:t>Six forced-choice categories</a:t>
            </a:r>
            <a:endParaRPr lang="en-US" sz="1450" dirty="0"/>
          </a:p>
        </p:txBody>
      </p:sp>
      <p:sp>
        <p:nvSpPr>
          <p:cNvPr id="27" name="Text 25"/>
          <p:cNvSpPr txBox="1"/>
          <p:nvPr/>
        </p:nvSpPr>
        <p:spPr>
          <a:xfrm>
            <a:off x="4535424" y="4370832"/>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E3238"/>
                </a:solidFill>
                <a:latin typeface="Calibri" pitchFamily="34" charset="0"/>
                <a:ea typeface="Calibri" pitchFamily="34" charset="-122"/>
                <a:cs typeface="Calibri" pitchFamily="34" charset="-120"/>
              </a:rPr>
              <a:t>No 'other', no blends, no multi-labelling. Raters must place ambiguous displays into one of six boxes, which inflates the apparent cleanliness of the labels.</a:t>
            </a:r>
            <a:endParaRPr lang="en-US" sz="1220" dirty="0"/>
          </a:p>
        </p:txBody>
      </p:sp>
      <p:sp>
        <p:nvSpPr>
          <p:cNvPr id="28" name="Shape 26"/>
          <p:cNvSpPr/>
          <p:nvPr/>
        </p:nvSpPr>
        <p:spPr>
          <a:xfrm>
            <a:off x="7991856" y="3767328"/>
            <a:ext cx="3584448" cy="2048256"/>
          </a:xfrm>
          <a:prstGeom prst="roundRect">
            <a:avLst>
              <a:gd name="adj" fmla="val 2679"/>
            </a:avLst>
          </a:prstGeom>
          <a:solidFill>
            <a:srgbClr val="F7F2F4"/>
          </a:solidFill>
          <a:ln w="12700">
            <a:solidFill>
              <a:srgbClr val="EADDE2"/>
            </a:solidFill>
            <a:prstDash val="solid"/>
          </a:ln>
        </p:spPr>
      </p:sp>
      <p:sp>
        <p:nvSpPr>
          <p:cNvPr id="29" name="Shape 27"/>
          <p:cNvSpPr/>
          <p:nvPr/>
        </p:nvSpPr>
        <p:spPr>
          <a:xfrm>
            <a:off x="8211312" y="4059936"/>
            <a:ext cx="109728" cy="109728"/>
          </a:xfrm>
          <a:prstGeom prst="ellipse">
            <a:avLst/>
          </a:prstGeom>
          <a:solidFill>
            <a:srgbClr val="6D2E46"/>
          </a:solidFill>
          <a:ln w="12700">
            <a:solidFill>
              <a:srgbClr val="333333"/>
            </a:solidFill>
            <a:prstDash val="solid"/>
          </a:ln>
        </p:spPr>
      </p:sp>
      <p:sp>
        <p:nvSpPr>
          <p:cNvPr id="30" name="Text 28"/>
          <p:cNvSpPr txBox="1"/>
          <p:nvPr/>
        </p:nvSpPr>
        <p:spPr>
          <a:xfrm>
            <a:off x="8412480" y="3931920"/>
            <a:ext cx="2944368" cy="365760"/>
          </a:xfrm>
          <a:prstGeom prst="rect">
            <a:avLst/>
          </a:prstGeom>
          <a:noFill/>
          <a:ln/>
        </p:spPr>
        <p:txBody>
          <a:bodyPr wrap="square" lIns="0" tIns="0" rIns="0" bIns="0" rtlCol="0" anchor="ctr"/>
          <a:lstStyle/>
          <a:p>
            <a:pPr indent="0" marL="0">
              <a:buNone/>
            </a:pPr>
            <a:r>
              <a:rPr lang="en-US" sz="1450" b="1" dirty="0">
                <a:solidFill>
                  <a:srgbClr val="4A1E30"/>
                </a:solidFill>
                <a:latin typeface="Cambria" pitchFamily="34" charset="0"/>
                <a:ea typeface="Cambria" pitchFamily="34" charset="-122"/>
                <a:cs typeface="Cambria" pitchFamily="34" charset="-120"/>
              </a:rPr>
              <a:t>Still no official splits</a:t>
            </a:r>
            <a:endParaRPr lang="en-US" sz="1450" dirty="0"/>
          </a:p>
        </p:txBody>
      </p:sp>
      <p:sp>
        <p:nvSpPr>
          <p:cNvPr id="31" name="Text 29"/>
          <p:cNvSpPr txBox="1"/>
          <p:nvPr/>
        </p:nvSpPr>
        <p:spPr>
          <a:xfrm>
            <a:off x="8247888" y="4370832"/>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E3238"/>
                </a:solidFill>
                <a:latin typeface="Calibri" pitchFamily="34" charset="0"/>
                <a:ea typeface="Calibri" pitchFamily="34" charset="-122"/>
                <a:cs typeface="Calibri" pitchFamily="34" charset="-120"/>
              </a:rPr>
              <a:t>The same problem as IEMOCAP. Worse here, because the twelve repeated sentences make careless splits leak in an extra way.</a:t>
            </a:r>
            <a:endParaRPr lang="en-US" sz="12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How CREMA-D is used today</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Twelve years on, it is one of the two default benchmarks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25</a:t>
            </a:r>
            <a:endParaRPr lang="en-US" sz="900" dirty="0"/>
          </a:p>
        </p:txBody>
      </p:sp>
      <p:sp>
        <p:nvSpPr>
          <p:cNvPr id="8" name="Shape 6"/>
          <p:cNvSpPr/>
          <p:nvPr/>
        </p:nvSpPr>
        <p:spPr>
          <a:xfrm>
            <a:off x="566928" y="1572768"/>
            <a:ext cx="2697480" cy="2468880"/>
          </a:xfrm>
          <a:prstGeom prst="roundRect">
            <a:avLst>
              <a:gd name="adj" fmla="val 2222"/>
            </a:avLst>
          </a:prstGeom>
          <a:solidFill>
            <a:srgbClr val="F7F2F4"/>
          </a:solidFill>
          <a:ln w="12700">
            <a:solidFill>
              <a:srgbClr val="EADDE2"/>
            </a:solidFill>
            <a:prstDash val="solid"/>
          </a:ln>
        </p:spPr>
      </p:sp>
      <p:sp>
        <p:nvSpPr>
          <p:cNvPr id="9" name="Shape 7"/>
          <p:cNvSpPr/>
          <p:nvPr/>
        </p:nvSpPr>
        <p:spPr>
          <a:xfrm>
            <a:off x="786384" y="1865376"/>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37360"/>
            <a:ext cx="2057400" cy="365760"/>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Audio-visual fusion</a:t>
            </a:r>
            <a:endParaRPr lang="en-US" sz="1400" dirty="0"/>
          </a:p>
        </p:txBody>
      </p:sp>
      <p:sp>
        <p:nvSpPr>
          <p:cNvPr id="11" name="Text 9"/>
          <p:cNvSpPr txBox="1"/>
          <p:nvPr/>
        </p:nvSpPr>
        <p:spPr>
          <a:xfrm>
            <a:off x="822960" y="2176272"/>
            <a:ext cx="2185416" cy="1682496"/>
          </a:xfrm>
          <a:prstGeom prst="rect">
            <a:avLst/>
          </a:prstGeom>
          <a:noFill/>
          <a:ln/>
        </p:spPr>
        <p:txBody>
          <a:bodyPr wrap="square" lIns="0" tIns="0" rIns="0" bIns="0" rtlCol="0" anchor="t"/>
          <a:lstStyle/>
          <a:p>
            <a:pPr indent="0" marL="0">
              <a:lnSpc>
                <a:spcPct val="108000"/>
              </a:lnSpc>
              <a:buNone/>
            </a:pPr>
            <a:r>
              <a:rPr lang="en-US" sz="1200" dirty="0">
                <a:solidFill>
                  <a:srgbClr val="3E3238"/>
                </a:solidFill>
                <a:latin typeface="Calibri" pitchFamily="34" charset="0"/>
                <a:ea typeface="Calibri" pitchFamily="34" charset="-122"/>
                <a:cs typeface="Calibri" pitchFamily="34" charset="-120"/>
              </a:rPr>
              <a:t>The canonical testbed for multimodal emotion models, precisely because the per-modality human baselines are published alongside the data.</a:t>
            </a:r>
            <a:endParaRPr lang="en-US" sz="1200" dirty="0"/>
          </a:p>
        </p:txBody>
      </p:sp>
      <p:sp>
        <p:nvSpPr>
          <p:cNvPr id="12" name="Shape 10"/>
          <p:cNvSpPr/>
          <p:nvPr/>
        </p:nvSpPr>
        <p:spPr>
          <a:xfrm>
            <a:off x="3392424" y="1572768"/>
            <a:ext cx="2697480" cy="2468880"/>
          </a:xfrm>
          <a:prstGeom prst="roundRect">
            <a:avLst>
              <a:gd name="adj" fmla="val 2222"/>
            </a:avLst>
          </a:prstGeom>
          <a:solidFill>
            <a:srgbClr val="F7F2F4"/>
          </a:solidFill>
          <a:ln w="12700">
            <a:solidFill>
              <a:srgbClr val="EADDE2"/>
            </a:solidFill>
            <a:prstDash val="solid"/>
          </a:ln>
        </p:spPr>
      </p:sp>
      <p:sp>
        <p:nvSpPr>
          <p:cNvPr id="13" name="Shape 11"/>
          <p:cNvSpPr/>
          <p:nvPr/>
        </p:nvSpPr>
        <p:spPr>
          <a:xfrm>
            <a:off x="3611880" y="1865376"/>
            <a:ext cx="109728" cy="109728"/>
          </a:xfrm>
          <a:prstGeom prst="ellipse">
            <a:avLst/>
          </a:prstGeom>
          <a:solidFill>
            <a:srgbClr val="C08A2E"/>
          </a:solidFill>
          <a:ln w="12700">
            <a:solidFill>
              <a:srgbClr val="333333"/>
            </a:solidFill>
            <a:prstDash val="solid"/>
          </a:ln>
        </p:spPr>
      </p:sp>
      <p:sp>
        <p:nvSpPr>
          <p:cNvPr id="14" name="Text 12"/>
          <p:cNvSpPr txBox="1"/>
          <p:nvPr/>
        </p:nvSpPr>
        <p:spPr>
          <a:xfrm>
            <a:off x="3813048" y="1737360"/>
            <a:ext cx="2057400" cy="365760"/>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Speech model evaluation</a:t>
            </a:r>
            <a:endParaRPr lang="en-US" sz="1400" dirty="0"/>
          </a:p>
        </p:txBody>
      </p:sp>
      <p:sp>
        <p:nvSpPr>
          <p:cNvPr id="15" name="Text 13"/>
          <p:cNvSpPr txBox="1"/>
          <p:nvPr/>
        </p:nvSpPr>
        <p:spPr>
          <a:xfrm>
            <a:off x="3648456" y="2176272"/>
            <a:ext cx="2185416" cy="1682496"/>
          </a:xfrm>
          <a:prstGeom prst="rect">
            <a:avLst/>
          </a:prstGeom>
          <a:noFill/>
          <a:ln/>
        </p:spPr>
        <p:txBody>
          <a:bodyPr wrap="square" lIns="0" tIns="0" rIns="0" bIns="0" rtlCol="0" anchor="t"/>
          <a:lstStyle/>
          <a:p>
            <a:pPr indent="0" marL="0">
              <a:lnSpc>
                <a:spcPct val="108000"/>
              </a:lnSpc>
              <a:buNone/>
            </a:pPr>
            <a:r>
              <a:rPr lang="en-US" sz="1200" dirty="0">
                <a:solidFill>
                  <a:srgbClr val="3E3238"/>
                </a:solidFill>
                <a:latin typeface="Calibri" pitchFamily="34" charset="0"/>
                <a:ea typeface="Calibri" pitchFamily="34" charset="-122"/>
                <a:cs typeface="Calibri" pitchFamily="34" charset="-120"/>
              </a:rPr>
              <a:t>A standard downstream task for self-supervised speech representations, appearing in emotion-recognition benchmark suites.</a:t>
            </a:r>
            <a:endParaRPr lang="en-US" sz="1200" dirty="0"/>
          </a:p>
        </p:txBody>
      </p:sp>
      <p:sp>
        <p:nvSpPr>
          <p:cNvPr id="16" name="Shape 14"/>
          <p:cNvSpPr/>
          <p:nvPr/>
        </p:nvSpPr>
        <p:spPr>
          <a:xfrm>
            <a:off x="6217920" y="1572768"/>
            <a:ext cx="2697480" cy="2468880"/>
          </a:xfrm>
          <a:prstGeom prst="roundRect">
            <a:avLst>
              <a:gd name="adj" fmla="val 2222"/>
            </a:avLst>
          </a:prstGeom>
          <a:solidFill>
            <a:srgbClr val="F7F2F4"/>
          </a:solidFill>
          <a:ln w="12700">
            <a:solidFill>
              <a:srgbClr val="EADDE2"/>
            </a:solidFill>
            <a:prstDash val="solid"/>
          </a:ln>
        </p:spPr>
      </p:sp>
      <p:sp>
        <p:nvSpPr>
          <p:cNvPr id="17" name="Shape 15"/>
          <p:cNvSpPr/>
          <p:nvPr/>
        </p:nvSpPr>
        <p:spPr>
          <a:xfrm>
            <a:off x="6437376" y="1865376"/>
            <a:ext cx="109728" cy="109728"/>
          </a:xfrm>
          <a:prstGeom prst="ellipse">
            <a:avLst/>
          </a:prstGeom>
          <a:solidFill>
            <a:srgbClr val="3D7068"/>
          </a:solidFill>
          <a:ln w="12700">
            <a:solidFill>
              <a:srgbClr val="333333"/>
            </a:solidFill>
            <a:prstDash val="solid"/>
          </a:ln>
        </p:spPr>
      </p:sp>
      <p:sp>
        <p:nvSpPr>
          <p:cNvPr id="18" name="Text 16"/>
          <p:cNvSpPr txBox="1"/>
          <p:nvPr/>
        </p:nvSpPr>
        <p:spPr>
          <a:xfrm>
            <a:off x="6638544" y="1737360"/>
            <a:ext cx="2057400" cy="365760"/>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Cross-corpus transfer</a:t>
            </a:r>
            <a:endParaRPr lang="en-US" sz="1400" dirty="0"/>
          </a:p>
        </p:txBody>
      </p:sp>
      <p:sp>
        <p:nvSpPr>
          <p:cNvPr id="19" name="Text 17"/>
          <p:cNvSpPr txBox="1"/>
          <p:nvPr/>
        </p:nvSpPr>
        <p:spPr>
          <a:xfrm>
            <a:off x="6473952" y="2176272"/>
            <a:ext cx="2185416" cy="1682496"/>
          </a:xfrm>
          <a:prstGeom prst="rect">
            <a:avLst/>
          </a:prstGeom>
          <a:noFill/>
          <a:ln/>
        </p:spPr>
        <p:txBody>
          <a:bodyPr wrap="square" lIns="0" tIns="0" rIns="0" bIns="0" rtlCol="0" anchor="t"/>
          <a:lstStyle/>
          <a:p>
            <a:pPr indent="0" marL="0">
              <a:lnSpc>
                <a:spcPct val="108000"/>
              </a:lnSpc>
              <a:buNone/>
            </a:pPr>
            <a:r>
              <a:rPr lang="en-US" sz="1200" dirty="0">
                <a:solidFill>
                  <a:srgbClr val="3E3238"/>
                </a:solidFill>
                <a:latin typeface="Calibri" pitchFamily="34" charset="0"/>
                <a:ea typeface="Calibri" pitchFamily="34" charset="-122"/>
                <a:cs typeface="Calibri" pitchFamily="34" charset="-120"/>
              </a:rPr>
              <a:t>Often paired with IEMOCAP to test generalisation — train on one, evaluate on the other, and watch the accuracy fall.</a:t>
            </a:r>
            <a:endParaRPr lang="en-US" sz="1200" dirty="0"/>
          </a:p>
        </p:txBody>
      </p:sp>
      <p:sp>
        <p:nvSpPr>
          <p:cNvPr id="20" name="Shape 18"/>
          <p:cNvSpPr/>
          <p:nvPr/>
        </p:nvSpPr>
        <p:spPr>
          <a:xfrm>
            <a:off x="9043416" y="1572768"/>
            <a:ext cx="2697480" cy="2468880"/>
          </a:xfrm>
          <a:prstGeom prst="roundRect">
            <a:avLst>
              <a:gd name="adj" fmla="val 2222"/>
            </a:avLst>
          </a:prstGeom>
          <a:solidFill>
            <a:srgbClr val="F7F2F4"/>
          </a:solidFill>
          <a:ln w="12700">
            <a:solidFill>
              <a:srgbClr val="EADDE2"/>
            </a:solidFill>
            <a:prstDash val="solid"/>
          </a:ln>
        </p:spPr>
      </p:sp>
      <p:sp>
        <p:nvSpPr>
          <p:cNvPr id="21" name="Shape 19"/>
          <p:cNvSpPr/>
          <p:nvPr/>
        </p:nvSpPr>
        <p:spPr>
          <a:xfrm>
            <a:off x="9262872" y="1865376"/>
            <a:ext cx="109728" cy="109728"/>
          </a:xfrm>
          <a:prstGeom prst="ellipse">
            <a:avLst/>
          </a:prstGeom>
          <a:solidFill>
            <a:srgbClr val="6D2E46"/>
          </a:solidFill>
          <a:ln w="12700">
            <a:solidFill>
              <a:srgbClr val="333333"/>
            </a:solidFill>
            <a:prstDash val="solid"/>
          </a:ln>
        </p:spPr>
      </p:sp>
      <p:sp>
        <p:nvSpPr>
          <p:cNvPr id="22" name="Text 20"/>
          <p:cNvSpPr txBox="1"/>
          <p:nvPr/>
        </p:nvSpPr>
        <p:spPr>
          <a:xfrm>
            <a:off x="9464040" y="1737360"/>
            <a:ext cx="2057400" cy="365760"/>
          </a:xfrm>
          <a:prstGeom prst="rect">
            <a:avLst/>
          </a:prstGeom>
          <a:noFill/>
          <a:ln/>
        </p:spPr>
        <p:txBody>
          <a:bodyPr wrap="square" lIns="0" tIns="0" rIns="0" bIns="0" rtlCol="0" anchor="ctr"/>
          <a:lstStyle/>
          <a:p>
            <a:pPr indent="0" marL="0">
              <a:buNone/>
            </a:pPr>
            <a:r>
              <a:rPr lang="en-US" sz="1400" b="1" dirty="0">
                <a:solidFill>
                  <a:srgbClr val="4A1E30"/>
                </a:solidFill>
                <a:latin typeface="Cambria" pitchFamily="34" charset="0"/>
                <a:ea typeface="Cambria" pitchFamily="34" charset="-122"/>
                <a:cs typeface="Cambria" pitchFamily="34" charset="-120"/>
              </a:rPr>
              <a:t>Generative work</a:t>
            </a:r>
            <a:endParaRPr lang="en-US" sz="1400" dirty="0"/>
          </a:p>
        </p:txBody>
      </p:sp>
      <p:sp>
        <p:nvSpPr>
          <p:cNvPr id="23" name="Text 21"/>
          <p:cNvSpPr txBox="1"/>
          <p:nvPr/>
        </p:nvSpPr>
        <p:spPr>
          <a:xfrm>
            <a:off x="9299448" y="2176272"/>
            <a:ext cx="2185416" cy="1682496"/>
          </a:xfrm>
          <a:prstGeom prst="rect">
            <a:avLst/>
          </a:prstGeom>
          <a:noFill/>
          <a:ln/>
        </p:spPr>
        <p:txBody>
          <a:bodyPr wrap="square" lIns="0" tIns="0" rIns="0" bIns="0" rtlCol="0" anchor="t"/>
          <a:lstStyle/>
          <a:p>
            <a:pPr indent="0" marL="0">
              <a:lnSpc>
                <a:spcPct val="108000"/>
              </a:lnSpc>
              <a:buNone/>
            </a:pPr>
            <a:r>
              <a:rPr lang="en-US" sz="1200" dirty="0">
                <a:solidFill>
                  <a:srgbClr val="3E3238"/>
                </a:solidFill>
                <a:latin typeface="Calibri" pitchFamily="34" charset="0"/>
                <a:ea typeface="Calibri" pitchFamily="34" charset="-122"/>
                <a:cs typeface="Calibri" pitchFamily="34" charset="-120"/>
              </a:rPr>
              <a:t>Used to train and evaluate emotional talking-face synthesis, where the intensity labels provide a control signal.</a:t>
            </a:r>
            <a:endParaRPr lang="en-US" sz="1200" dirty="0"/>
          </a:p>
        </p:txBody>
      </p:sp>
      <p:sp>
        <p:nvSpPr>
          <p:cNvPr id="24" name="Shape 22"/>
          <p:cNvSpPr/>
          <p:nvPr/>
        </p:nvSpPr>
        <p:spPr>
          <a:xfrm>
            <a:off x="566928" y="4279392"/>
            <a:ext cx="11064240" cy="1737360"/>
          </a:xfrm>
          <a:prstGeom prst="roundRect">
            <a:avLst>
              <a:gd name="adj" fmla="val 3158"/>
            </a:avLst>
          </a:prstGeom>
          <a:solidFill>
            <a:srgbClr val="4A1E30"/>
          </a:solidFill>
          <a:ln w="12700">
            <a:solidFill>
              <a:srgbClr val="4A1E30"/>
            </a:solidFill>
            <a:prstDash val="solid"/>
          </a:ln>
        </p:spPr>
      </p:sp>
      <p:sp>
        <p:nvSpPr>
          <p:cNvPr id="25" name="Shape 23"/>
          <p:cNvSpPr/>
          <p:nvPr/>
        </p:nvSpPr>
        <p:spPr>
          <a:xfrm>
            <a:off x="786384" y="4572000"/>
            <a:ext cx="109728" cy="109728"/>
          </a:xfrm>
          <a:prstGeom prst="ellipse">
            <a:avLst/>
          </a:prstGeom>
          <a:solidFill>
            <a:srgbClr val="C08A2E"/>
          </a:solidFill>
          <a:ln w="12700">
            <a:solidFill>
              <a:srgbClr val="333333"/>
            </a:solidFill>
            <a:prstDash val="solid"/>
          </a:ln>
        </p:spPr>
      </p:sp>
      <p:sp>
        <p:nvSpPr>
          <p:cNvPr id="26" name="Text 24"/>
          <p:cNvSpPr txBox="1"/>
          <p:nvPr/>
        </p:nvSpPr>
        <p:spPr>
          <a:xfrm>
            <a:off x="987552" y="4443984"/>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 cross-corpus point is worth dwelling on</a:t>
            </a:r>
            <a:endParaRPr lang="en-US" sz="1550" dirty="0"/>
          </a:p>
        </p:txBody>
      </p:sp>
      <p:sp>
        <p:nvSpPr>
          <p:cNvPr id="27" name="Text 25"/>
          <p:cNvSpPr txBox="1"/>
          <p:nvPr/>
        </p:nvSpPr>
        <p:spPr>
          <a:xfrm>
            <a:off x="822960" y="4882896"/>
            <a:ext cx="10552176" cy="950976"/>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Models trained on one of these corpora and evaluated on the other lose a great deal of accuracy. That is not a flaw in either resource — it is a measurement of how much of what we call 'emotion recognition' is really corpus recognition: the elicitation method, the recording chain, the actors, the label set.</a:t>
            </a:r>
            <a:endParaRPr lang="en-US" sz="1300" dirty="0"/>
          </a:p>
          <a:p>
            <a:pPr indent="0" marL="0">
              <a:lnSpc>
                <a:spcPct val="108000"/>
              </a:lnSpc>
              <a:buNone/>
            </a:pPr>
            <a:endParaRPr lang="en-US" sz="1300" dirty="0"/>
          </a:p>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Reading the two papers together is what makes that number interpretable rather than merely disappointing.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65408" y="502920"/>
            <a:ext cx="109728" cy="109728"/>
          </a:xfrm>
          <a:prstGeom prst="ellipse">
            <a:avLst/>
          </a:prstGeom>
          <a:solidFill>
            <a:srgbClr val="6D2E46"/>
          </a:solidFill>
          <a:ln w="12700">
            <a:solidFill>
              <a:srgbClr val="333333"/>
            </a:solidFill>
            <a:prstDash val="solid"/>
          </a:ln>
        </p:spPr>
      </p:sp>
      <p:sp>
        <p:nvSpPr>
          <p:cNvPr id="3" name="Shape 1"/>
          <p:cNvSpPr/>
          <p:nvPr/>
        </p:nvSpPr>
        <p:spPr>
          <a:xfrm>
            <a:off x="11430000" y="502920"/>
            <a:ext cx="109728" cy="109728"/>
          </a:xfrm>
          <a:prstGeom prst="ellipse">
            <a:avLst/>
          </a:prstGeom>
          <a:solidFill>
            <a:srgbClr val="C08A2E"/>
          </a:solidFill>
          <a:ln w="12700">
            <a:solidFill>
              <a:srgbClr val="333333"/>
            </a:solidFill>
            <a:prstDash val="solid"/>
          </a:ln>
        </p:spPr>
      </p:sp>
      <p:sp>
        <p:nvSpPr>
          <p:cNvPr id="4" name="Shape 2"/>
          <p:cNvSpPr/>
          <p:nvPr/>
        </p:nvSpPr>
        <p:spPr>
          <a:xfrm>
            <a:off x="11594592" y="502920"/>
            <a:ext cx="109728" cy="109728"/>
          </a:xfrm>
          <a:prstGeom prst="ellipse">
            <a:avLst/>
          </a:prstGeom>
          <a:solidFill>
            <a:srgbClr val="3D7068"/>
          </a:solidFill>
          <a:ln w="12700">
            <a:solidFill>
              <a:srgbClr val="333333"/>
            </a:solidFill>
            <a:prstDash val="solid"/>
          </a:ln>
        </p:spPr>
      </p:sp>
      <p:sp>
        <p:nvSpPr>
          <p:cNvPr id="5" name="Text 3"/>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3000" b="1" dirty="0">
                <a:solidFill>
                  <a:srgbClr val="4A1E30"/>
                </a:solidFill>
                <a:latin typeface="Cambria" pitchFamily="34" charset="0"/>
                <a:ea typeface="Cambria" pitchFamily="34" charset="-122"/>
                <a:cs typeface="Cambria" pitchFamily="34" charset="-120"/>
              </a:rPr>
              <a:t>What the pair of papers teaches</a:t>
            </a:r>
            <a:endParaRPr lang="en-US" sz="3000" dirty="0"/>
          </a:p>
        </p:txBody>
      </p:sp>
      <p:sp>
        <p:nvSpPr>
          <p:cNvPr id="6" name="Text 4"/>
          <p:cNvSpPr txBox="1"/>
          <p:nvPr/>
        </p:nvSpPr>
        <p:spPr>
          <a:xfrm>
            <a:off x="548640" y="987552"/>
            <a:ext cx="10424160" cy="329184"/>
          </a:xfrm>
          <a:prstGeom prst="rect">
            <a:avLst/>
          </a:prstGeom>
          <a:noFill/>
          <a:ln/>
        </p:spPr>
        <p:txBody>
          <a:bodyPr wrap="square" lIns="0" tIns="0" rIns="0" bIns="0" rtlCol="0" anchor="ctr"/>
          <a:lstStyle/>
          <a:p>
            <a:pPr indent="0" marL="0">
              <a:buNone/>
            </a:pPr>
            <a:r>
              <a:rPr lang="en-US" sz="1350" i="1" dirty="0">
                <a:solidFill>
                  <a:srgbClr val="6B5A61"/>
                </a:solidFill>
                <a:latin typeface="Calibri" pitchFamily="34" charset="0"/>
                <a:ea typeface="Calibri" pitchFamily="34" charset="-122"/>
                <a:cs typeface="Calibri" pitchFamily="34" charset="-120"/>
              </a:rPr>
              <a:t>The synthesis for the seminar as a whole</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A99AA0"/>
                </a:solidFill>
                <a:latin typeface="Calibri" pitchFamily="34" charset="0"/>
                <a:ea typeface="Calibri" pitchFamily="34" charset="-122"/>
                <a:cs typeface="Calibri" pitchFamily="34" charset="-120"/>
              </a:rPr>
              <a:t>CREMA-D · Cao et al. 2014  |  26</a:t>
            </a:r>
            <a:endParaRPr lang="en-US" sz="900" dirty="0"/>
          </a:p>
        </p:txBody>
      </p:sp>
      <p:sp>
        <p:nvSpPr>
          <p:cNvPr id="8" name="Shape 6"/>
          <p:cNvSpPr/>
          <p:nvPr/>
        </p:nvSpPr>
        <p:spPr>
          <a:xfrm>
            <a:off x="566928" y="1572768"/>
            <a:ext cx="3584448" cy="2240280"/>
          </a:xfrm>
          <a:prstGeom prst="roundRect">
            <a:avLst>
              <a:gd name="adj" fmla="val 2449"/>
            </a:avLst>
          </a:prstGeom>
          <a:solidFill>
            <a:srgbClr val="F7F2F4"/>
          </a:solidFill>
          <a:ln w="12700">
            <a:solidFill>
              <a:srgbClr val="EADDE2"/>
            </a:solidFill>
            <a:prstDash val="solid"/>
          </a:ln>
        </p:spPr>
      </p:sp>
      <p:sp>
        <p:nvSpPr>
          <p:cNvPr id="9" name="Shape 7"/>
          <p:cNvSpPr/>
          <p:nvPr/>
        </p:nvSpPr>
        <p:spPr>
          <a:xfrm>
            <a:off x="786384" y="1865376"/>
            <a:ext cx="109728" cy="109728"/>
          </a:xfrm>
          <a:prstGeom prst="ellipse">
            <a:avLst/>
          </a:prstGeom>
          <a:solidFill>
            <a:srgbClr val="6D2E46"/>
          </a:solidFill>
          <a:ln w="12700">
            <a:solidFill>
              <a:srgbClr val="333333"/>
            </a:solidFill>
            <a:prstDash val="solid"/>
          </a:ln>
        </p:spPr>
      </p:sp>
      <p:sp>
        <p:nvSpPr>
          <p:cNvPr id="10" name="Text 8"/>
          <p:cNvSpPr txBox="1"/>
          <p:nvPr/>
        </p:nvSpPr>
        <p:spPr>
          <a:xfrm>
            <a:off x="987552" y="1737360"/>
            <a:ext cx="294436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There is no neutral corpus design</a:t>
            </a:r>
            <a:endParaRPr lang="en-US" sz="1550" dirty="0"/>
          </a:p>
        </p:txBody>
      </p:sp>
      <p:sp>
        <p:nvSpPr>
          <p:cNvPr id="11" name="Text 9"/>
          <p:cNvSpPr txBox="1"/>
          <p:nvPr/>
        </p:nvSpPr>
        <p:spPr>
          <a:xfrm>
            <a:off x="822960" y="2176272"/>
            <a:ext cx="3072384" cy="145389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Every choice about elicitation, unit length, label set and rater pool writes an assumption into the data. Those assumptions become the ceiling on what any model trained there can learn.</a:t>
            </a:r>
            <a:endParaRPr lang="en-US" sz="1260" dirty="0"/>
          </a:p>
        </p:txBody>
      </p:sp>
      <p:sp>
        <p:nvSpPr>
          <p:cNvPr id="12" name="Shape 10"/>
          <p:cNvSpPr/>
          <p:nvPr/>
        </p:nvSpPr>
        <p:spPr>
          <a:xfrm>
            <a:off x="4279392" y="1572768"/>
            <a:ext cx="3584448" cy="2240280"/>
          </a:xfrm>
          <a:prstGeom prst="roundRect">
            <a:avLst>
              <a:gd name="adj" fmla="val 2449"/>
            </a:avLst>
          </a:prstGeom>
          <a:solidFill>
            <a:srgbClr val="F7F2F4"/>
          </a:solidFill>
          <a:ln w="12700">
            <a:solidFill>
              <a:srgbClr val="EADDE2"/>
            </a:solidFill>
            <a:prstDash val="solid"/>
          </a:ln>
        </p:spPr>
      </p:sp>
      <p:sp>
        <p:nvSpPr>
          <p:cNvPr id="13" name="Shape 11"/>
          <p:cNvSpPr/>
          <p:nvPr/>
        </p:nvSpPr>
        <p:spPr>
          <a:xfrm>
            <a:off x="4498848" y="1865376"/>
            <a:ext cx="109728" cy="109728"/>
          </a:xfrm>
          <a:prstGeom prst="ellipse">
            <a:avLst/>
          </a:prstGeom>
          <a:solidFill>
            <a:srgbClr val="C08A2E"/>
          </a:solidFill>
          <a:ln w="12700">
            <a:solidFill>
              <a:srgbClr val="333333"/>
            </a:solidFill>
            <a:prstDash val="solid"/>
          </a:ln>
        </p:spPr>
      </p:sp>
      <p:sp>
        <p:nvSpPr>
          <p:cNvPr id="14" name="Text 12"/>
          <p:cNvSpPr txBox="1"/>
          <p:nvPr/>
        </p:nvSpPr>
        <p:spPr>
          <a:xfrm>
            <a:off x="4700016" y="1737360"/>
            <a:ext cx="2944368"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Control and naturalness are a dial</a:t>
            </a:r>
            <a:endParaRPr lang="en-US" sz="1550" dirty="0"/>
          </a:p>
        </p:txBody>
      </p:sp>
      <p:sp>
        <p:nvSpPr>
          <p:cNvPr id="15" name="Text 13"/>
          <p:cNvSpPr txBox="1"/>
          <p:nvPr/>
        </p:nvSpPr>
        <p:spPr>
          <a:xfrm>
            <a:off x="4535424" y="2176272"/>
            <a:ext cx="3072384" cy="145389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IEMOCAP turns it toward naturalness and pays in speaker count and confounded lexical content. CREMA-D turns it toward control and pays in context. Both positions are defensible; neither is free.</a:t>
            </a:r>
            <a:endParaRPr lang="en-US" sz="1260" dirty="0"/>
          </a:p>
        </p:txBody>
      </p:sp>
      <p:sp>
        <p:nvSpPr>
          <p:cNvPr id="16" name="Shape 14"/>
          <p:cNvSpPr/>
          <p:nvPr/>
        </p:nvSpPr>
        <p:spPr>
          <a:xfrm>
            <a:off x="7991856" y="1572768"/>
            <a:ext cx="3639312" cy="2240280"/>
          </a:xfrm>
          <a:prstGeom prst="roundRect">
            <a:avLst>
              <a:gd name="adj" fmla="val 2449"/>
            </a:avLst>
          </a:prstGeom>
          <a:solidFill>
            <a:srgbClr val="F7F2F4"/>
          </a:solidFill>
          <a:ln w="12700">
            <a:solidFill>
              <a:srgbClr val="EADDE2"/>
            </a:solidFill>
            <a:prstDash val="solid"/>
          </a:ln>
        </p:spPr>
      </p:sp>
      <p:sp>
        <p:nvSpPr>
          <p:cNvPr id="17" name="Shape 15"/>
          <p:cNvSpPr/>
          <p:nvPr/>
        </p:nvSpPr>
        <p:spPr>
          <a:xfrm>
            <a:off x="8211312" y="1865376"/>
            <a:ext cx="109728" cy="109728"/>
          </a:xfrm>
          <a:prstGeom prst="ellipse">
            <a:avLst/>
          </a:prstGeom>
          <a:solidFill>
            <a:srgbClr val="3D7068"/>
          </a:solidFill>
          <a:ln w="12700">
            <a:solidFill>
              <a:srgbClr val="333333"/>
            </a:solidFill>
            <a:prstDash val="solid"/>
          </a:ln>
        </p:spPr>
      </p:sp>
      <p:sp>
        <p:nvSpPr>
          <p:cNvPr id="18" name="Text 16"/>
          <p:cNvSpPr txBox="1"/>
          <p:nvPr/>
        </p:nvSpPr>
        <p:spPr>
          <a:xfrm>
            <a:off x="8412480" y="1737360"/>
            <a:ext cx="2999232" cy="365760"/>
          </a:xfrm>
          <a:prstGeom prst="rect">
            <a:avLst/>
          </a:prstGeom>
          <a:noFill/>
          <a:ln/>
        </p:spPr>
        <p:txBody>
          <a:bodyPr wrap="square" lIns="0" tIns="0" rIns="0" bIns="0" rtlCol="0" anchor="ctr"/>
          <a:lstStyle/>
          <a:p>
            <a:pPr indent="0" marL="0">
              <a:buNone/>
            </a:pPr>
            <a:r>
              <a:rPr lang="en-US" sz="1550" b="1" dirty="0">
                <a:solidFill>
                  <a:srgbClr val="4A1E30"/>
                </a:solidFill>
                <a:latin typeface="Cambria" pitchFamily="34" charset="0"/>
                <a:ea typeface="Cambria" pitchFamily="34" charset="-122"/>
                <a:cs typeface="Cambria" pitchFamily="34" charset="-120"/>
              </a:rPr>
              <a:t>Annotation is measurement</a:t>
            </a:r>
            <a:endParaRPr lang="en-US" sz="1550" dirty="0"/>
          </a:p>
        </p:txBody>
      </p:sp>
      <p:sp>
        <p:nvSpPr>
          <p:cNvPr id="19" name="Text 17"/>
          <p:cNvSpPr txBox="1"/>
          <p:nvPr/>
        </p:nvSpPr>
        <p:spPr>
          <a:xfrm>
            <a:off x="8247888" y="2176272"/>
            <a:ext cx="3127248" cy="1453896"/>
          </a:xfrm>
          <a:prstGeom prst="rect">
            <a:avLst/>
          </a:prstGeom>
          <a:noFill/>
          <a:ln/>
        </p:spPr>
        <p:txBody>
          <a:bodyPr wrap="square" lIns="0" tIns="0" rIns="0" bIns="0" rtlCol="0" anchor="t"/>
          <a:lstStyle/>
          <a:p>
            <a:pPr indent="0" marL="0">
              <a:lnSpc>
                <a:spcPct val="108000"/>
              </a:lnSpc>
              <a:buNone/>
            </a:pPr>
            <a:r>
              <a:rPr lang="en-US" sz="1260" dirty="0">
                <a:solidFill>
                  <a:srgbClr val="3E3238"/>
                </a:solidFill>
                <a:latin typeface="Calibri" pitchFamily="34" charset="0"/>
                <a:ea typeface="Calibri" pitchFamily="34" charset="-122"/>
                <a:cs typeface="Calibri" pitchFamily="34" charset="-120"/>
              </a:rPr>
              <a:t>Agreement in the fair-to-moderate band is normal for emotion. Report it, design around it, and treat human performance as the realistic ceiling rather than a hundred percent.</a:t>
            </a:r>
            <a:endParaRPr lang="en-US" sz="1260" dirty="0"/>
          </a:p>
        </p:txBody>
      </p:sp>
      <p:sp>
        <p:nvSpPr>
          <p:cNvPr id="20" name="Shape 18"/>
          <p:cNvSpPr/>
          <p:nvPr/>
        </p:nvSpPr>
        <p:spPr>
          <a:xfrm>
            <a:off x="566928" y="4023360"/>
            <a:ext cx="11064240" cy="2002536"/>
          </a:xfrm>
          <a:prstGeom prst="roundRect">
            <a:avLst>
              <a:gd name="adj" fmla="val 2740"/>
            </a:avLst>
          </a:prstGeom>
          <a:solidFill>
            <a:srgbClr val="4A1E30"/>
          </a:solidFill>
          <a:ln w="12700">
            <a:solidFill>
              <a:srgbClr val="4A1E30"/>
            </a:solidFill>
            <a:prstDash val="solid"/>
          </a:ln>
        </p:spPr>
      </p:sp>
      <p:sp>
        <p:nvSpPr>
          <p:cNvPr id="21" name="Shape 19"/>
          <p:cNvSpPr/>
          <p:nvPr/>
        </p:nvSpPr>
        <p:spPr>
          <a:xfrm>
            <a:off x="786384" y="4315968"/>
            <a:ext cx="109728" cy="109728"/>
          </a:xfrm>
          <a:prstGeom prst="ellipse">
            <a:avLst/>
          </a:prstGeom>
          <a:solidFill>
            <a:srgbClr val="C08A2E"/>
          </a:solidFill>
          <a:ln w="12700">
            <a:solidFill>
              <a:srgbClr val="333333"/>
            </a:solidFill>
            <a:prstDash val="solid"/>
          </a:ln>
        </p:spPr>
      </p:sp>
      <p:sp>
        <p:nvSpPr>
          <p:cNvPr id="22" name="Text 20"/>
          <p:cNvSpPr txBox="1"/>
          <p:nvPr/>
        </p:nvSpPr>
        <p:spPr>
          <a:xfrm>
            <a:off x="987552" y="4187952"/>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Three practical rules to take away</a:t>
            </a:r>
            <a:endParaRPr lang="en-US" sz="1550" dirty="0"/>
          </a:p>
        </p:txBody>
      </p:sp>
      <p:sp>
        <p:nvSpPr>
          <p:cNvPr id="23" name="Text 21"/>
          <p:cNvSpPr txBox="1"/>
          <p:nvPr/>
        </p:nvSpPr>
        <p:spPr>
          <a:xfrm>
            <a:off x="822960" y="4626864"/>
            <a:ext cx="10552176" cy="1216152"/>
          </a:xfrm>
          <a:prstGeom prst="rect">
            <a:avLst/>
          </a:prstGeom>
          <a:noFill/>
          <a:ln/>
        </p:spPr>
        <p:txBody>
          <a:bodyPr wrap="square" lIns="0" tIns="0" rIns="0" bIns="0" rtlCol="0" anchor="t"/>
          <a:lstStyle/>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Match the corpus to the claim. If you want to argue that a model recognises emotion in speech, a corpus with twelve fixed sentences cannot support the claim; if you want to argue it works across speakers, ten actors cannot support it either.</a:t>
            </a:r>
            <a:endParaRPr lang="en-US" sz="1300" dirty="0"/>
          </a:p>
          <a:p>
            <a:pPr indent="0" marL="0">
              <a:lnSpc>
                <a:spcPct val="108000"/>
              </a:lnSpc>
              <a:buNone/>
            </a:pPr>
            <a:endParaRPr lang="en-US" sz="1300" dirty="0"/>
          </a:p>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State your split, your class merges and your discards, every time. On both of these corpora those choices are worth more than most modelling contributions.</a:t>
            </a:r>
            <a:endParaRPr lang="en-US" sz="1300" dirty="0"/>
          </a:p>
          <a:p>
            <a:pPr indent="0" marL="0">
              <a:lnSpc>
                <a:spcPct val="108000"/>
              </a:lnSpc>
              <a:buNone/>
            </a:pPr>
            <a:endParaRPr lang="en-US" sz="1300" dirty="0"/>
          </a:p>
          <a:p>
            <a:pPr indent="0" marL="0">
              <a:lnSpc>
                <a:spcPct val="108000"/>
              </a:lnSpc>
              <a:buNone/>
            </a:pPr>
            <a:r>
              <a:rPr lang="en-US" sz="1300" dirty="0">
                <a:solidFill>
                  <a:srgbClr val="E7D5DA"/>
                </a:solidFill>
                <a:latin typeface="Calibri" pitchFamily="34" charset="0"/>
                <a:ea typeface="Calibri" pitchFamily="34" charset="-122"/>
                <a:cs typeface="Calibri" pitchFamily="34" charset="-120"/>
              </a:rPr>
              <a:t>Report cross-corpus results. Within-corpus accuracy measures how well you have fitted one elicitation protocol; the gap between corpora is the honest estimate of what you have actually built.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4A1E30"/>
        </a:solidFill>
      </p:bgPr>
    </p:bg>
    <p:spTree>
      <p:nvGrpSpPr>
        <p:cNvPr id="1" name=""/>
        <p:cNvGrpSpPr/>
        <p:nvPr/>
      </p:nvGrpSpPr>
      <p:grpSpPr>
        <a:xfrm>
          <a:off x="0" y="0"/>
          <a:ext cx="0" cy="0"/>
          <a:chOff x="0" y="0"/>
          <a:chExt cx="0" cy="0"/>
        </a:xfrm>
      </p:grpSpPr>
      <p:sp>
        <p:nvSpPr>
          <p:cNvPr id="2" name="Shape 0"/>
          <p:cNvSpPr/>
          <p:nvPr/>
        </p:nvSpPr>
        <p:spPr>
          <a:xfrm>
            <a:off x="10424160" y="658368"/>
            <a:ext cx="137160" cy="137160"/>
          </a:xfrm>
          <a:prstGeom prst="ellipse">
            <a:avLst/>
          </a:prstGeom>
          <a:solidFill>
            <a:srgbClr val="6D2E46"/>
          </a:solidFill>
          <a:ln w="12700">
            <a:solidFill>
              <a:srgbClr val="333333"/>
            </a:solidFill>
            <a:prstDash val="solid"/>
          </a:ln>
        </p:spPr>
      </p:sp>
      <p:sp>
        <p:nvSpPr>
          <p:cNvPr id="3" name="Shape 1"/>
          <p:cNvSpPr/>
          <p:nvPr/>
        </p:nvSpPr>
        <p:spPr>
          <a:xfrm>
            <a:off x="10629900" y="658368"/>
            <a:ext cx="137160" cy="137160"/>
          </a:xfrm>
          <a:prstGeom prst="ellipse">
            <a:avLst/>
          </a:prstGeom>
          <a:solidFill>
            <a:srgbClr val="C08A2E"/>
          </a:solidFill>
          <a:ln w="12700">
            <a:solidFill>
              <a:srgbClr val="333333"/>
            </a:solidFill>
            <a:prstDash val="solid"/>
          </a:ln>
        </p:spPr>
      </p:sp>
      <p:sp>
        <p:nvSpPr>
          <p:cNvPr id="4" name="Shape 2"/>
          <p:cNvSpPr/>
          <p:nvPr/>
        </p:nvSpPr>
        <p:spPr>
          <a:xfrm>
            <a:off x="10835640" y="658368"/>
            <a:ext cx="137160" cy="137160"/>
          </a:xfrm>
          <a:prstGeom prst="ellipse">
            <a:avLst/>
          </a:prstGeom>
          <a:solidFill>
            <a:srgbClr val="3D7068"/>
          </a:solidFill>
          <a:ln w="12700">
            <a:solidFill>
              <a:srgbClr val="333333"/>
            </a:solidFill>
            <a:prstDash val="solid"/>
          </a:ln>
        </p:spPr>
      </p:sp>
      <p:sp>
        <p:nvSpPr>
          <p:cNvPr id="5" name="Text 3"/>
          <p:cNvSpPr txBox="1"/>
          <p:nvPr/>
        </p:nvSpPr>
        <p:spPr>
          <a:xfrm>
            <a:off x="822960" y="685800"/>
            <a:ext cx="10515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Questions for discussion</a:t>
            </a:r>
            <a:endParaRPr lang="en-US" sz="3200" dirty="0"/>
          </a:p>
        </p:txBody>
      </p:sp>
      <p:sp>
        <p:nvSpPr>
          <p:cNvPr id="6" name="Shape 4"/>
          <p:cNvSpPr/>
          <p:nvPr/>
        </p:nvSpPr>
        <p:spPr>
          <a:xfrm>
            <a:off x="841248" y="1655064"/>
            <a:ext cx="329184" cy="329184"/>
          </a:xfrm>
          <a:prstGeom prst="ellipse">
            <a:avLst/>
          </a:prstGeom>
          <a:solidFill>
            <a:srgbClr val="C08A2E"/>
          </a:solidFill>
          <a:ln w="12700">
            <a:solidFill>
              <a:srgbClr val="333333"/>
            </a:solidFill>
            <a:prstDash val="solid"/>
          </a:ln>
        </p:spPr>
      </p:sp>
      <p:sp>
        <p:nvSpPr>
          <p:cNvPr id="7" name="Text 5"/>
          <p:cNvSpPr txBox="1"/>
          <p:nvPr/>
        </p:nvSpPr>
        <p:spPr>
          <a:xfrm>
            <a:off x="841248" y="1682496"/>
            <a:ext cx="329184" cy="274320"/>
          </a:xfrm>
          <a:prstGeom prst="rect">
            <a:avLst/>
          </a:prstGeom>
          <a:noFill/>
          <a:ln/>
        </p:spPr>
        <p:txBody>
          <a:bodyPr wrap="square" lIns="0" tIns="0" rIns="0" bIns="0" rtlCol="0" anchor="ctr"/>
          <a:lstStyle/>
          <a:p>
            <a:pPr algn="ctr" indent="0" marL="0">
              <a:buNone/>
            </a:pPr>
            <a:r>
              <a:rPr lang="en-US" sz="1200" b="1" dirty="0">
                <a:solidFill>
                  <a:srgbClr val="4A1E30"/>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572768"/>
            <a:ext cx="10058400" cy="868680"/>
          </a:xfrm>
          <a:prstGeom prst="rect">
            <a:avLst/>
          </a:prstGeom>
          <a:noFill/>
          <a:ln/>
        </p:spPr>
        <p:txBody>
          <a:bodyPr wrap="square" lIns="0" tIns="0" rIns="0" bIns="0" rtlCol="0" anchor="ctr"/>
          <a:lstStyle/>
          <a:p>
            <a:pPr indent="0" marL="0">
              <a:buNone/>
            </a:pPr>
            <a:r>
              <a:rPr lang="en-US" sz="1250" dirty="0">
                <a:solidFill>
                  <a:srgbClr val="E7D5DA"/>
                </a:solidFill>
                <a:latin typeface="Calibri" pitchFamily="34" charset="0"/>
                <a:ea typeface="Calibri" pitchFamily="34" charset="-122"/>
                <a:cs typeface="Calibri" pitchFamily="34" charset="-120"/>
              </a:rPr>
              <a:t>CREMA-D ships both the intended and the perceived label. If the two disagree for a given clip, which one belongs in your training set — and does the answer change for a recogniser versus a clinical assessment?</a:t>
            </a:r>
            <a:endParaRPr lang="en-US" sz="1250" dirty="0"/>
          </a:p>
        </p:txBody>
      </p:sp>
      <p:sp>
        <p:nvSpPr>
          <p:cNvPr id="9" name="Shape 7"/>
          <p:cNvSpPr/>
          <p:nvPr/>
        </p:nvSpPr>
        <p:spPr>
          <a:xfrm>
            <a:off x="841248" y="2569464"/>
            <a:ext cx="329184" cy="329184"/>
          </a:xfrm>
          <a:prstGeom prst="ellipse">
            <a:avLst/>
          </a:prstGeom>
          <a:solidFill>
            <a:srgbClr val="C08A2E"/>
          </a:solidFill>
          <a:ln w="12700">
            <a:solidFill>
              <a:srgbClr val="333333"/>
            </a:solidFill>
            <a:prstDash val="solid"/>
          </a:ln>
        </p:spPr>
      </p:sp>
      <p:sp>
        <p:nvSpPr>
          <p:cNvPr id="10" name="Text 8"/>
          <p:cNvSpPr txBox="1"/>
          <p:nvPr/>
        </p:nvSpPr>
        <p:spPr>
          <a:xfrm>
            <a:off x="841248" y="2596896"/>
            <a:ext cx="329184" cy="274320"/>
          </a:xfrm>
          <a:prstGeom prst="rect">
            <a:avLst/>
          </a:prstGeom>
          <a:noFill/>
          <a:ln/>
        </p:spPr>
        <p:txBody>
          <a:bodyPr wrap="square" lIns="0" tIns="0" rIns="0" bIns="0" rtlCol="0" anchor="ctr"/>
          <a:lstStyle/>
          <a:p>
            <a:pPr algn="ctr" indent="0" marL="0">
              <a:buNone/>
            </a:pPr>
            <a:r>
              <a:rPr lang="en-US" sz="1200" b="1" dirty="0">
                <a:solidFill>
                  <a:srgbClr val="4A1E30"/>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487168"/>
            <a:ext cx="10058400" cy="868680"/>
          </a:xfrm>
          <a:prstGeom prst="rect">
            <a:avLst/>
          </a:prstGeom>
          <a:noFill/>
          <a:ln/>
        </p:spPr>
        <p:txBody>
          <a:bodyPr wrap="square" lIns="0" tIns="0" rIns="0" bIns="0" rtlCol="0" anchor="ctr"/>
          <a:lstStyle/>
          <a:p>
            <a:pPr indent="0" marL="0">
              <a:buNone/>
            </a:pPr>
            <a:r>
              <a:rPr lang="en-US" sz="1250" dirty="0">
                <a:solidFill>
                  <a:srgbClr val="E7D5DA"/>
                </a:solidFill>
                <a:latin typeface="Calibri" pitchFamily="34" charset="0"/>
                <a:ea typeface="Calibri" pitchFamily="34" charset="-122"/>
                <a:cs typeface="Calibri" pitchFamily="34" charset="-120"/>
              </a:rPr>
              <a:t>Fixing the sentence set removes the lexical confound, but a model trained on twelve sentences has seen almost no language. Is that a fair trade, or does it just relocate the problem?</a:t>
            </a:r>
            <a:endParaRPr lang="en-US" sz="1250" dirty="0"/>
          </a:p>
        </p:txBody>
      </p:sp>
      <p:sp>
        <p:nvSpPr>
          <p:cNvPr id="12" name="Shape 10"/>
          <p:cNvSpPr/>
          <p:nvPr/>
        </p:nvSpPr>
        <p:spPr>
          <a:xfrm>
            <a:off x="841248" y="3483864"/>
            <a:ext cx="329184" cy="329184"/>
          </a:xfrm>
          <a:prstGeom prst="ellipse">
            <a:avLst/>
          </a:prstGeom>
          <a:solidFill>
            <a:srgbClr val="C08A2E"/>
          </a:solidFill>
          <a:ln w="12700">
            <a:solidFill>
              <a:srgbClr val="333333"/>
            </a:solidFill>
            <a:prstDash val="solid"/>
          </a:ln>
        </p:spPr>
      </p:sp>
      <p:sp>
        <p:nvSpPr>
          <p:cNvPr id="13" name="Text 11"/>
          <p:cNvSpPr txBox="1"/>
          <p:nvPr/>
        </p:nvSpPr>
        <p:spPr>
          <a:xfrm>
            <a:off x="841248" y="3511296"/>
            <a:ext cx="329184" cy="274320"/>
          </a:xfrm>
          <a:prstGeom prst="rect">
            <a:avLst/>
          </a:prstGeom>
          <a:noFill/>
          <a:ln/>
        </p:spPr>
        <p:txBody>
          <a:bodyPr wrap="square" lIns="0" tIns="0" rIns="0" bIns="0" rtlCol="0" anchor="ctr"/>
          <a:lstStyle/>
          <a:p>
            <a:pPr algn="ctr" indent="0" marL="0">
              <a:buNone/>
            </a:pPr>
            <a:r>
              <a:rPr lang="en-US" sz="1200" b="1" dirty="0">
                <a:solidFill>
                  <a:srgbClr val="4A1E30"/>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401568"/>
            <a:ext cx="10058400" cy="868680"/>
          </a:xfrm>
          <a:prstGeom prst="rect">
            <a:avLst/>
          </a:prstGeom>
          <a:noFill/>
          <a:ln/>
        </p:spPr>
        <p:txBody>
          <a:bodyPr wrap="square" lIns="0" tIns="0" rIns="0" bIns="0" rtlCol="0" anchor="ctr"/>
          <a:lstStyle/>
          <a:p>
            <a:pPr indent="0" marL="0">
              <a:buNone/>
            </a:pPr>
            <a:r>
              <a:rPr lang="en-US" sz="1250" dirty="0">
                <a:solidFill>
                  <a:srgbClr val="E7D5DA"/>
                </a:solidFill>
                <a:latin typeface="Calibri" pitchFamily="34" charset="0"/>
                <a:ea typeface="Calibri" pitchFamily="34" charset="-122"/>
                <a:cs typeface="Calibri" pitchFamily="34" charset="-120"/>
              </a:rPr>
              <a:t>The face beats the voice by a wide margin. What does that imply for the many papers reporting audio-only emotion recognition — are they solving a harder problem than they claim, or a different one?</a:t>
            </a:r>
            <a:endParaRPr lang="en-US" sz="1250" dirty="0"/>
          </a:p>
        </p:txBody>
      </p:sp>
      <p:sp>
        <p:nvSpPr>
          <p:cNvPr id="15" name="Shape 13"/>
          <p:cNvSpPr/>
          <p:nvPr/>
        </p:nvSpPr>
        <p:spPr>
          <a:xfrm>
            <a:off x="841248" y="4398264"/>
            <a:ext cx="329184" cy="329184"/>
          </a:xfrm>
          <a:prstGeom prst="ellipse">
            <a:avLst/>
          </a:prstGeom>
          <a:solidFill>
            <a:srgbClr val="C08A2E"/>
          </a:solidFill>
          <a:ln w="12700">
            <a:solidFill>
              <a:srgbClr val="333333"/>
            </a:solidFill>
            <a:prstDash val="solid"/>
          </a:ln>
        </p:spPr>
      </p:sp>
      <p:sp>
        <p:nvSpPr>
          <p:cNvPr id="16" name="Text 14"/>
          <p:cNvSpPr txBox="1"/>
          <p:nvPr/>
        </p:nvSpPr>
        <p:spPr>
          <a:xfrm>
            <a:off x="841248" y="4425696"/>
            <a:ext cx="329184" cy="274320"/>
          </a:xfrm>
          <a:prstGeom prst="rect">
            <a:avLst/>
          </a:prstGeom>
          <a:noFill/>
          <a:ln/>
        </p:spPr>
        <p:txBody>
          <a:bodyPr wrap="square" lIns="0" tIns="0" rIns="0" bIns="0" rtlCol="0" anchor="ctr"/>
          <a:lstStyle/>
          <a:p>
            <a:pPr algn="ctr" indent="0" marL="0">
              <a:buNone/>
            </a:pPr>
            <a:r>
              <a:rPr lang="en-US" sz="1200" b="1" dirty="0">
                <a:solidFill>
                  <a:srgbClr val="4A1E30"/>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315968"/>
            <a:ext cx="10058400" cy="868680"/>
          </a:xfrm>
          <a:prstGeom prst="rect">
            <a:avLst/>
          </a:prstGeom>
          <a:noFill/>
          <a:ln/>
        </p:spPr>
        <p:txBody>
          <a:bodyPr wrap="square" lIns="0" tIns="0" rIns="0" bIns="0" rtlCol="0" anchor="ctr"/>
          <a:lstStyle/>
          <a:p>
            <a:pPr indent="0" marL="0">
              <a:buNone/>
            </a:pPr>
            <a:r>
              <a:rPr lang="en-US" sz="1250" dirty="0">
                <a:solidFill>
                  <a:srgbClr val="E7D5DA"/>
                </a:solidFill>
                <a:latin typeface="Calibri" pitchFamily="34" charset="0"/>
                <a:ea typeface="Calibri" pitchFamily="34" charset="-122"/>
                <a:cs typeface="Calibri" pitchFamily="34" charset="-120"/>
              </a:rPr>
              <a:t>Both corpora sit in the fair-to-moderate agreement band. Should emotion recognition be evaluated against a majority label at all, or against the full rater distribution?</a:t>
            </a:r>
            <a:endParaRPr lang="en-US" sz="1250" dirty="0"/>
          </a:p>
        </p:txBody>
      </p:sp>
      <p:sp>
        <p:nvSpPr>
          <p:cNvPr id="18" name="Shape 16"/>
          <p:cNvSpPr/>
          <p:nvPr/>
        </p:nvSpPr>
        <p:spPr>
          <a:xfrm>
            <a:off x="841248" y="5312664"/>
            <a:ext cx="329184" cy="329184"/>
          </a:xfrm>
          <a:prstGeom prst="ellipse">
            <a:avLst/>
          </a:prstGeom>
          <a:solidFill>
            <a:srgbClr val="C08A2E"/>
          </a:solidFill>
          <a:ln w="12700">
            <a:solidFill>
              <a:srgbClr val="333333"/>
            </a:solidFill>
            <a:prstDash val="solid"/>
          </a:ln>
        </p:spPr>
      </p:sp>
      <p:sp>
        <p:nvSpPr>
          <p:cNvPr id="19" name="Text 17"/>
          <p:cNvSpPr txBox="1"/>
          <p:nvPr/>
        </p:nvSpPr>
        <p:spPr>
          <a:xfrm>
            <a:off x="841248" y="5340096"/>
            <a:ext cx="329184" cy="274320"/>
          </a:xfrm>
          <a:prstGeom prst="rect">
            <a:avLst/>
          </a:prstGeom>
          <a:noFill/>
          <a:ln/>
        </p:spPr>
        <p:txBody>
          <a:bodyPr wrap="square" lIns="0" tIns="0" rIns="0" bIns="0" rtlCol="0" anchor="ctr"/>
          <a:lstStyle/>
          <a:p>
            <a:pPr algn="ctr" indent="0" marL="0">
              <a:buNone/>
            </a:pPr>
            <a:r>
              <a:rPr lang="en-US" sz="1200" b="1" dirty="0">
                <a:solidFill>
                  <a:srgbClr val="4A1E30"/>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230368"/>
            <a:ext cx="10058400" cy="868680"/>
          </a:xfrm>
          <a:prstGeom prst="rect">
            <a:avLst/>
          </a:prstGeom>
          <a:noFill/>
          <a:ln/>
        </p:spPr>
        <p:txBody>
          <a:bodyPr wrap="square" lIns="0" tIns="0" rIns="0" bIns="0" rtlCol="0" anchor="ctr"/>
          <a:lstStyle/>
          <a:p>
            <a:pPr indent="0" marL="0">
              <a:buNone/>
            </a:pPr>
            <a:r>
              <a:rPr lang="en-US" sz="1250" dirty="0">
                <a:solidFill>
                  <a:srgbClr val="E7D5DA"/>
                </a:solidFill>
                <a:latin typeface="Calibri" pitchFamily="34" charset="0"/>
                <a:ea typeface="Calibri" pitchFamily="34" charset="-122"/>
                <a:cs typeface="Calibri" pitchFamily="34" charset="-120"/>
              </a:rPr>
              <a:t>If you were designing a corpus today with the benefit of both papers, which of the two designs would you start from, and what is the first thing you would change?</a:t>
            </a:r>
            <a:endParaRPr lang="en-US" sz="1250" dirty="0"/>
          </a:p>
        </p:txBody>
      </p:sp>
      <p:sp>
        <p:nvSpPr>
          <p:cNvPr id="21" name="Text 19"/>
          <p:cNvSpPr txBox="1"/>
          <p:nvPr/>
        </p:nvSpPr>
        <p:spPr>
          <a:xfrm>
            <a:off x="822960" y="6236208"/>
            <a:ext cx="10515600" cy="274320"/>
          </a:xfrm>
          <a:prstGeom prst="rect">
            <a:avLst/>
          </a:prstGeom>
          <a:noFill/>
          <a:ln/>
        </p:spPr>
        <p:txBody>
          <a:bodyPr wrap="square" lIns="0" tIns="0" rIns="0" bIns="0" rtlCol="0" anchor="ctr"/>
          <a:lstStyle/>
          <a:p>
            <a:pPr indent="0" marL="0">
              <a:buNone/>
            </a:pPr>
            <a:r>
              <a:rPr lang="en-US" sz="1050" dirty="0">
                <a:solidFill>
                  <a:srgbClr val="B49AA3"/>
                </a:solidFill>
                <a:latin typeface="Calibri" pitchFamily="34" charset="0"/>
                <a:ea typeface="Calibri" pitchFamily="34" charset="-122"/>
                <a:cs typeface="Calibri" pitchFamily="34" charset="-120"/>
              </a:rPr>
              <a:t>Cao et al. (2014), IEEE Transactions on Affective Computing 5(4), 377–390  ·  Busso et al. (2008), Language Resources and Evaluation 42(4), 335–359</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CREMA-D (Cao et al., 2014)</dc:title>
  <dc:subject>PptxGenJS Presentation</dc:subject>
  <dc:creator>Seminar</dc:creator>
  <cp:lastModifiedBy>Seminar</cp:lastModifiedBy>
  <cp:revision>1</cp:revision>
  <dcterms:created xsi:type="dcterms:W3CDTF">2026-08-30T12:57:18Z</dcterms:created>
  <dcterms:modified xsi:type="dcterms:W3CDTF">2026-08-30T12:57:18Z</dcterms:modified>
</cp:coreProperties>
</file>