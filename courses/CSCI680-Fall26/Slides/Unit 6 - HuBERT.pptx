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5F79"/>
                </a:solidFill>
                <a:latin typeface="Calibri"/>
              </a:defRPr>
            </a:pPr>
            <a:r>
              <a:rPr sz="1200" b="0" i="0" u="none" strike="noStrike">
                <a:solidFill>
                  <a:srgbClr val="5F5F79"/>
                </a:solidFill>
                <a:latin typeface="Calibri"/>
              </a:rPr>
              <a:t>All models pre-trained on Libri-Light 60k hours</a:t>
            </a:r>
          </a:p>
        </c:rich>
      </c:tx>
      <c:layout/>
      <c:overlay val="0"/>
    </c:title>
    <c:autoTitleDeleted val="0"/>
    <c:plotArea>
      <c:layout/>
      <c:barChart>
        <c:barDir val="col"/>
        <c:grouping val="clustered"/>
        <c:varyColors val="0"/>
        <c:ser>
          <c:idx val="0"/>
          <c:order val="0"/>
          <c:tx>
            <c:strRef>
              <c:f>Sheet1!$B$1</c:f>
              <c:strCache>
                <c:ptCount val="1"/>
                <c:pt idx="0">
                  <c:v>wav2vec 2.0 LARGE</c:v>
                </c:pt>
              </c:strCache>
            </c:strRef>
          </c:tx>
          <c:spPr>
            <a:solidFill>
              <a:srgbClr val="9B9BBA"/>
            </a:solidFill>
            <a:effectLst/>
          </c:spPr>
          <c:invertIfNegative val="0"/>
          <c:dLbls>
            <c:numFmt formatCode="0.0" sourceLinked="0"/>
            <c:txPr>
              <a:bodyPr/>
              <a:lstStyle/>
              <a:p>
                <a:pPr>
                  <a:defRPr b="0" i="0" strike="noStrike" sz="950" u="none">
                    <a:solidFill>
                      <a:srgbClr val="33334A"/>
                    </a:solidFill>
                    <a:latin typeface="Arial"/>
                  </a:defRPr>
                </a:pPr>
              </a:p>
            </c:txPr>
            <c:showLegendKey val="0"/>
            <c:showVal val="1"/>
            <c:showCatName val="0"/>
            <c:showSerName val="0"/>
            <c:showPercent val="0"/>
            <c:showBubbleSize val="0"/>
            <c:showLeaderLines val="0"/>
          </c:dLbls>
          <c:cat>
            <c:multiLvlStrRef>
              <c:f>Sheet1!$A$2:$A$5</c:f>
              <c:multiLvlStrCache>
                <c:ptCount val="4"/>
                <c:lvl>
                  <c:pt idx="0">
                    <c:v>10 min</c:v>
                  </c:pt>
                  <c:pt idx="1">
                    <c:v>1 hour</c:v>
                  </c:pt>
                  <c:pt idx="2">
                    <c:v>10 hours</c:v>
                  </c:pt>
                  <c:pt idx="3">
                    <c:v>100 hours</c:v>
                  </c:pt>
                </c:lvl>
              </c:multiLvlStrCache>
            </c:multiLvlStrRef>
          </c:cat>
          <c:val>
            <c:numRef>
              <c:f>Sheet1!$B$2:$B$5</c:f>
              <c:numCache>
                <c:formatCode>General</c:formatCode>
                <c:ptCount val="4"/>
                <c:pt idx="0">
                  <c:v>8.2</c:v>
                </c:pt>
                <c:pt idx="1">
                  <c:v>5.8</c:v>
                </c:pt>
                <c:pt idx="2">
                  <c:v>4.9</c:v>
                </c:pt>
                <c:pt idx="3">
                  <c:v>4</c:v>
                </c:pt>
              </c:numCache>
            </c:numRef>
          </c:val>
        </c:ser>
        <c:ser>
          <c:idx val="1"/>
          <c:order val="1"/>
          <c:tx>
            <c:strRef>
              <c:f>Sheet1!$C$1</c:f>
              <c:strCache>
                <c:ptCount val="1"/>
                <c:pt idx="0">
                  <c:v>HuBERT LARGE</c:v>
                </c:pt>
              </c:strCache>
            </c:strRef>
          </c:tx>
          <c:spPr>
            <a:solidFill>
              <a:srgbClr val="4E4E82"/>
            </a:solidFill>
            <a:effectLst/>
          </c:spPr>
          <c:invertIfNegative val="0"/>
          <c:dLbls>
            <c:numFmt formatCode="0.0" sourceLinked="0"/>
            <c:txPr>
              <a:bodyPr/>
              <a:lstStyle/>
              <a:p>
                <a:pPr>
                  <a:defRPr b="0" i="0" strike="noStrike" sz="950" u="none">
                    <a:solidFill>
                      <a:srgbClr val="33334A"/>
                    </a:solidFill>
                    <a:latin typeface="Arial"/>
                  </a:defRPr>
                </a:pPr>
              </a:p>
            </c:txPr>
            <c:showLegendKey val="0"/>
            <c:showVal val="1"/>
            <c:showCatName val="0"/>
            <c:showSerName val="0"/>
            <c:showPercent val="0"/>
            <c:showBubbleSize val="0"/>
            <c:showLeaderLines val="0"/>
          </c:dLbls>
          <c:cat>
            <c:multiLvlStrRef>
              <c:f>Sheet1!$A$2:$A$5</c:f>
              <c:multiLvlStrCache>
                <c:ptCount val="4"/>
                <c:lvl>
                  <c:pt idx="0">
                    <c:v>10 min</c:v>
                  </c:pt>
                  <c:pt idx="1">
                    <c:v>1 hour</c:v>
                  </c:pt>
                  <c:pt idx="2">
                    <c:v>10 hours</c:v>
                  </c:pt>
                  <c:pt idx="3">
                    <c:v>100 hours</c:v>
                  </c:pt>
                </c:lvl>
              </c:multiLvlStrCache>
            </c:multiLvlStrRef>
          </c:cat>
          <c:val>
            <c:numRef>
              <c:f>Sheet1!$C$2:$C$5</c:f>
              <c:numCache>
                <c:formatCode>General</c:formatCode>
                <c:ptCount val="4"/>
                <c:pt idx="0">
                  <c:v>7.6</c:v>
                </c:pt>
                <c:pt idx="1">
                  <c:v>5.4</c:v>
                </c:pt>
                <c:pt idx="2">
                  <c:v>4.6</c:v>
                </c:pt>
                <c:pt idx="3">
                  <c:v>3.9</c:v>
                </c:pt>
              </c:numCache>
            </c:numRef>
          </c:val>
        </c:ser>
        <c:ser>
          <c:idx val="2"/>
          <c:order val="2"/>
          <c:tx>
            <c:strRef>
              <c:f>Sheet1!$D$1</c:f>
              <c:strCache>
                <c:ptCount val="1"/>
                <c:pt idx="0">
                  <c:v>HuBERT X-LARGE</c:v>
                </c:pt>
              </c:strCache>
            </c:strRef>
          </c:tx>
          <c:spPr>
            <a:solidFill>
              <a:srgbClr val="C94F7C"/>
            </a:solidFill>
            <a:effectLst/>
          </c:spPr>
          <c:invertIfNegative val="0"/>
          <c:dLbls>
            <c:numFmt formatCode="0.0" sourceLinked="0"/>
            <c:txPr>
              <a:bodyPr/>
              <a:lstStyle/>
              <a:p>
                <a:pPr>
                  <a:defRPr b="0" i="0" strike="noStrike" sz="950" u="none">
                    <a:solidFill>
                      <a:srgbClr val="33334A"/>
                    </a:solidFill>
                    <a:latin typeface="Arial"/>
                  </a:defRPr>
                </a:pPr>
              </a:p>
            </c:txPr>
            <c:showLegendKey val="0"/>
            <c:showVal val="1"/>
            <c:showCatName val="0"/>
            <c:showSerName val="0"/>
            <c:showPercent val="0"/>
            <c:showBubbleSize val="0"/>
            <c:showLeaderLines val="0"/>
          </c:dLbls>
          <c:cat>
            <c:multiLvlStrRef>
              <c:f>Sheet1!$A$2:$A$5</c:f>
              <c:multiLvlStrCache>
                <c:ptCount val="4"/>
                <c:lvl>
                  <c:pt idx="0">
                    <c:v>10 min</c:v>
                  </c:pt>
                  <c:pt idx="1">
                    <c:v>1 hour</c:v>
                  </c:pt>
                  <c:pt idx="2">
                    <c:v>10 hours</c:v>
                  </c:pt>
                  <c:pt idx="3">
                    <c:v>100 hours</c:v>
                  </c:pt>
                </c:lvl>
              </c:multiLvlStrCache>
            </c:multiLvlStrRef>
          </c:cat>
          <c:val>
            <c:numRef>
              <c:f>Sheet1!$D$2:$D$5</c:f>
              <c:numCache>
                <c:formatCode>General</c:formatCode>
                <c:ptCount val="4"/>
                <c:pt idx="0">
                  <c:v>6.8</c:v>
                </c:pt>
                <c:pt idx="1">
                  <c:v>4.8</c:v>
                </c:pt>
                <c:pt idx="2">
                  <c:v>4</c:v>
                </c:pt>
                <c:pt idx="3">
                  <c:v>3.5</c:v>
                </c:pt>
              </c:numCache>
            </c:numRef>
          </c:val>
        </c:ser>
        <c:dLbls>
          <c:numFmt formatCode="0.0" sourceLinked="0"/>
          <c:txPr>
            <a:bodyPr/>
            <a:lstStyle/>
            <a:p>
              <a:pPr>
                <a:defRPr b="0" i="0" strike="noStrike" sz="950" u="none">
                  <a:solidFill>
                    <a:srgbClr val="3333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5F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9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5F7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5F79"/>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5F79"/>
                </a:solidFill>
                <a:latin typeface="Calibri"/>
              </a:defRPr>
            </a:pPr>
            <a:r>
              <a:rPr sz="1200" b="0" i="0" u="none" strike="noStrike">
                <a:solidFill>
                  <a:srgbClr val="5F5F79"/>
                </a:solidFill>
                <a:latin typeface="Calibri"/>
              </a:rPr>
              <a:t>Word error rate — lower is better</a:t>
            </a:r>
          </a:p>
        </c:rich>
      </c:tx>
      <c:layout/>
      <c:overlay val="0"/>
    </c:title>
    <c:autoTitleDeleted val="0"/>
    <c:plotArea>
      <c:layout/>
      <c:barChart>
        <c:barDir val="col"/>
        <c:grouping val="clustered"/>
        <c:varyColors val="0"/>
        <c:ser>
          <c:idx val="0"/>
          <c:order val="0"/>
          <c:tx>
            <c:strRef>
              <c:f>Sheet1!$B$1</c:f>
              <c:strCache>
                <c:ptCount val="1"/>
                <c:pt idx="0">
                  <c:v>test-clean</c:v>
                </c:pt>
              </c:strCache>
            </c:strRef>
          </c:tx>
          <c:spPr>
            <a:solidFill>
              <a:srgbClr val="4E4E82"/>
            </a:solidFill>
            <a:effectLst/>
          </c:spPr>
          <c:invertIfNegative val="0"/>
          <c:dLbls>
            <c:numFmt formatCode="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cat>
            <c:multiLvlStrRef>
              <c:f>Sheet1!$A$2:$A$6</c:f>
              <c:multiLvlStrCache>
                <c:ptCount val="5"/>
                <c:lvl>
                  <c:pt idx="0">
                    <c:v>Conformer L
(supervised)</c:v>
                  </c:pt>
                  <c:pt idx="1">
                    <c:v>Noisy student
(self-training)</c:v>
                  </c:pt>
                  <c:pt idx="2">
                    <c:v>wav2vec 2.0
LARGE</c:v>
                  </c:pt>
                  <c:pt idx="3">
                    <c:v>HuBERT
LARGE</c:v>
                  </c:pt>
                  <c:pt idx="4">
                    <c:v>HuBERT
X-LARGE</c:v>
                  </c:pt>
                </c:lvl>
              </c:multiLvlStrCache>
            </c:multiLvlStrRef>
          </c:cat>
          <c:val>
            <c:numRef>
              <c:f>Sheet1!$B$2:$B$6</c:f>
              <c:numCache>
                <c:formatCode>General</c:formatCode>
                <c:ptCount val="5"/>
                <c:pt idx="0">
                  <c:v>1.9</c:v>
                </c:pt>
                <c:pt idx="1">
                  <c:v>1.7</c:v>
                </c:pt>
                <c:pt idx="2">
                  <c:v>1.8</c:v>
                </c:pt>
                <c:pt idx="3">
                  <c:v>1.9</c:v>
                </c:pt>
                <c:pt idx="4">
                  <c:v>1.8</c:v>
                </c:pt>
              </c:numCache>
            </c:numRef>
          </c:val>
        </c:ser>
        <c:ser>
          <c:idx val="1"/>
          <c:order val="1"/>
          <c:tx>
            <c:strRef>
              <c:f>Sheet1!$C$1</c:f>
              <c:strCache>
                <c:ptCount val="1"/>
                <c:pt idx="0">
                  <c:v>test-other</c:v>
                </c:pt>
              </c:strCache>
            </c:strRef>
          </c:tx>
          <c:spPr>
            <a:solidFill>
              <a:srgbClr val="C94F7C"/>
            </a:solidFill>
            <a:effectLst/>
          </c:spPr>
          <c:invertIfNegative val="0"/>
          <c:dLbls>
            <c:numFmt formatCode="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cat>
            <c:multiLvlStrRef>
              <c:f>Sheet1!$A$2:$A$6</c:f>
              <c:multiLvlStrCache>
                <c:ptCount val="5"/>
                <c:lvl>
                  <c:pt idx="0">
                    <c:v>Conformer L
(supervised)</c:v>
                  </c:pt>
                  <c:pt idx="1">
                    <c:v>Noisy student
(self-training)</c:v>
                  </c:pt>
                  <c:pt idx="2">
                    <c:v>wav2vec 2.0
LARGE</c:v>
                  </c:pt>
                  <c:pt idx="3">
                    <c:v>HuBERT
LARGE</c:v>
                  </c:pt>
                  <c:pt idx="4">
                    <c:v>HuBERT
X-LARGE</c:v>
                  </c:pt>
                </c:lvl>
              </c:multiLvlStrCache>
            </c:multiLvlStrRef>
          </c:cat>
          <c:val>
            <c:numRef>
              <c:f>Sheet1!$C$2:$C$6</c:f>
              <c:numCache>
                <c:formatCode>General</c:formatCode>
                <c:ptCount val="5"/>
                <c:pt idx="0">
                  <c:v>3.9</c:v>
                </c:pt>
                <c:pt idx="1">
                  <c:v>3.4</c:v>
                </c:pt>
                <c:pt idx="2">
                  <c:v>3.3</c:v>
                </c:pt>
                <c:pt idx="3">
                  <c:v>3.3</c:v>
                </c:pt>
                <c:pt idx="4">
                  <c:v>2.9</c:v>
                </c:pt>
              </c:numCache>
            </c:numRef>
          </c:val>
        </c:ser>
        <c:dLbls>
          <c:numFmt formatCode="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F5F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9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5F7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F5F79"/>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5F79"/>
                </a:solidFill>
                <a:latin typeface="Calibri"/>
              </a:defRPr>
            </a:pPr>
            <a:r>
              <a:rPr sz="1200" b="0" i="0" u="none" strike="noStrike">
                <a:solidFill>
                  <a:srgbClr val="5F5F79"/>
                </a:solidFill>
                <a:latin typeface="Calibri"/>
              </a:rPr>
              <a:t>Higher is better; 1.0 would mean the cluster determines the phone</a:t>
            </a:r>
          </a:p>
        </c:rich>
      </c:tx>
      <c:layout/>
      <c:overlay val="0"/>
    </c:title>
    <c:autoTitleDeleted val="0"/>
    <c:plotArea>
      <c:layout/>
      <c:barChart>
        <c:barDir val="bar"/>
        <c:grouping val="clustered"/>
        <c:varyColors val="0"/>
        <c:ser>
          <c:idx val="0"/>
          <c:order val="0"/>
          <c:tx>
            <c:strRef>
              <c:f>Sheet1!$B$1</c:f>
              <c:strCache>
                <c:ptCount val="1"/>
                <c:pt idx="0">
                  <c:v>PNMI</c:v>
                </c:pt>
              </c:strCache>
            </c:strRef>
          </c:tx>
          <c:spPr>
            <a:solidFill>
              <a:srgbClr val="4E4E82"/>
            </a:solidFill>
            <a:effectLst/>
          </c:spPr>
          <c:invertIfNegative val="0"/>
          <c:dLbls>
            <c:numFmt formatCode="0.0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cat>
            <c:multiLvlStrRef>
              <c:f>Sheet1!$A$2:$A$7</c:f>
              <c:multiLvlStrCache>
                <c:ptCount val="6"/>
                <c:lvl>
                  <c:pt idx="0">
                    <c:v>MFCC, 100 clusters</c:v>
                  </c:pt>
                  <c:pt idx="1">
                    <c:v>MFCC, 500 clusters</c:v>
                  </c:pt>
                  <c:pt idx="2">
                    <c:v>BASE-it1 layer 6, 100</c:v>
                  </c:pt>
                  <c:pt idx="3">
                    <c:v>BASE-it1 layer 6, 500</c:v>
                  </c:pt>
                  <c:pt idx="4">
                    <c:v>BASE-it2 layer 9, 500</c:v>
                  </c:pt>
                  <c:pt idx="5">
                    <c:v>Supervised chenone targets</c:v>
                  </c:pt>
                </c:lvl>
              </c:multiLvlStrCache>
            </c:multiLvlStrRef>
          </c:cat>
          <c:val>
            <c:numRef>
              <c:f>Sheet1!$B$2:$B$7</c:f>
              <c:numCache>
                <c:formatCode>General</c:formatCode>
                <c:ptCount val="6"/>
                <c:pt idx="0">
                  <c:v>0.253</c:v>
                </c:pt>
                <c:pt idx="1">
                  <c:v>0.287</c:v>
                </c:pt>
                <c:pt idx="2">
                  <c:v>0.575</c:v>
                </c:pt>
                <c:pt idx="3">
                  <c:v>0.686</c:v>
                </c:pt>
                <c:pt idx="4">
                  <c:v>0.704</c:v>
                </c:pt>
                <c:pt idx="5">
                  <c:v>0.809</c:v>
                </c:pt>
              </c:numCache>
            </c:numRef>
          </c:val>
        </c:ser>
        <c:dLbls>
          <c:numFmt formatCode="0.0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5F79"/>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E9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F5F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5F79"/>
                </a:solidFill>
                <a:latin typeface="Calibri"/>
              </a:defRPr>
            </a:pPr>
            <a:r>
              <a:rPr sz="1200" b="0" i="0" u="none" strike="noStrike">
                <a:solidFill>
                  <a:srgbClr val="5F5F79"/>
                </a:solidFill>
                <a:latin typeface="Calibri"/>
              </a:rPr>
              <a:t>Reduced setup: BASE, 100k steps, fine-tuned on 10 hours</a:t>
            </a:r>
          </a:p>
        </c:rich>
      </c:tx>
      <c:layout/>
      <c:overlay val="0"/>
    </c:title>
    <c:autoTitleDeleted val="0"/>
    <c:plotArea>
      <c:layout/>
      <c:barChart>
        <c:barDir val="col"/>
        <c:grouping val="clustered"/>
        <c:varyColors val="0"/>
        <c:ser>
          <c:idx val="0"/>
          <c:order val="0"/>
          <c:tx>
            <c:strRef>
              <c:f>Sheet1!$B$1</c:f>
              <c:strCache>
                <c:ptCount val="1"/>
                <c:pt idx="0">
                  <c:v>α = 1.0  (masked frames only)</c:v>
                </c:pt>
              </c:strCache>
            </c:strRef>
          </c:tx>
          <c:spPr>
            <a:solidFill>
              <a:srgbClr val="4E4E82"/>
            </a:solidFill>
            <a:effectLst/>
          </c:spPr>
          <c:invertIfNegative val="0"/>
          <c:dLbls>
            <c:numFmt formatCode="0.0" sourceLinked="0"/>
            <c:txPr>
              <a:bodyPr/>
              <a:lstStyle/>
              <a:p>
                <a:pPr>
                  <a:defRPr b="0" i="0" strike="noStrike" sz="900" u="none">
                    <a:solidFill>
                      <a:srgbClr val="33334A"/>
                    </a:solidFill>
                    <a:latin typeface="Arial"/>
                  </a:defRPr>
                </a:pPr>
              </a:p>
            </c:txPr>
            <c:showLegendKey val="0"/>
            <c:showVal val="1"/>
            <c:showCatName val="0"/>
            <c:showSerName val="0"/>
            <c:showPercent val="0"/>
            <c:showBubbleSize val="0"/>
            <c:showLeaderLines val="0"/>
          </c:dLbls>
          <c:cat>
            <c:multiLvlStrRef>
              <c:f>Sheet1!$A$2:$A$5</c:f>
              <c:multiLvlStrCache>
                <c:ptCount val="4"/>
                <c:lvl>
                  <c:pt idx="0">
                    <c:v>MFCC, 100
PNMI 0.243</c:v>
                  </c:pt>
                  <c:pt idx="1">
                    <c:v>it1 layer 6, 500
PNMI 0.637</c:v>
                  </c:pt>
                  <c:pt idx="2">
                    <c:v>it2 layer 9, 500
PNMI 0.704</c:v>
                  </c:pt>
                  <c:pt idx="3">
                    <c:v>Supervised chenone
PNMI 0.809</c:v>
                  </c:pt>
                </c:lvl>
              </c:multiLvlStrCache>
            </c:multiLvlStrRef>
          </c:cat>
          <c:val>
            <c:numRef>
              <c:f>Sheet1!$B$2:$B$5</c:f>
              <c:numCache>
                <c:formatCode>General</c:formatCode>
                <c:ptCount val="4"/>
                <c:pt idx="0">
                  <c:v>17.86</c:v>
                </c:pt>
                <c:pt idx="1">
                  <c:v>11.91</c:v>
                </c:pt>
                <c:pt idx="2">
                  <c:v>10.75</c:v>
                </c:pt>
                <c:pt idx="3">
                  <c:v>10.38</c:v>
                </c:pt>
              </c:numCache>
            </c:numRef>
          </c:val>
        </c:ser>
        <c:ser>
          <c:idx val="1"/>
          <c:order val="1"/>
          <c:tx>
            <c:strRef>
              <c:f>Sheet1!$C$1</c:f>
              <c:strCache>
                <c:ptCount val="1"/>
                <c:pt idx="0">
                  <c:v>α = 0.5  (all frames)</c:v>
                </c:pt>
              </c:strCache>
            </c:strRef>
          </c:tx>
          <c:spPr>
            <a:solidFill>
              <a:srgbClr val="9B9BBA"/>
            </a:solidFill>
            <a:effectLst/>
          </c:spPr>
          <c:invertIfNegative val="0"/>
          <c:dLbls>
            <c:numFmt formatCode="0.0" sourceLinked="0"/>
            <c:txPr>
              <a:bodyPr/>
              <a:lstStyle/>
              <a:p>
                <a:pPr>
                  <a:defRPr b="0" i="0" strike="noStrike" sz="900" u="none">
                    <a:solidFill>
                      <a:srgbClr val="33334A"/>
                    </a:solidFill>
                    <a:latin typeface="Arial"/>
                  </a:defRPr>
                </a:pPr>
              </a:p>
            </c:txPr>
            <c:showLegendKey val="0"/>
            <c:showVal val="1"/>
            <c:showCatName val="0"/>
            <c:showSerName val="0"/>
            <c:showPercent val="0"/>
            <c:showBubbleSize val="0"/>
            <c:showLeaderLines val="0"/>
          </c:dLbls>
          <c:cat>
            <c:multiLvlStrRef>
              <c:f>Sheet1!$A$2:$A$5</c:f>
              <c:multiLvlStrCache>
                <c:ptCount val="4"/>
                <c:lvl>
                  <c:pt idx="0">
                    <c:v>MFCC, 100
PNMI 0.243</c:v>
                  </c:pt>
                  <c:pt idx="1">
                    <c:v>it1 layer 6, 500
PNMI 0.637</c:v>
                  </c:pt>
                  <c:pt idx="2">
                    <c:v>it2 layer 9, 500
PNMI 0.704</c:v>
                  </c:pt>
                  <c:pt idx="3">
                    <c:v>Supervised chenone
PNMI 0.809</c:v>
                  </c:pt>
                </c:lvl>
              </c:multiLvlStrCache>
            </c:multiLvlStrRef>
          </c:cat>
          <c:val>
            <c:numRef>
              <c:f>Sheet1!$C$2:$C$5</c:f>
              <c:numCache>
                <c:formatCode>General</c:formatCode>
                <c:ptCount val="4"/>
                <c:pt idx="0">
                  <c:v>29.57</c:v>
                </c:pt>
                <c:pt idx="1">
                  <c:v>13.47</c:v>
                </c:pt>
                <c:pt idx="2">
                  <c:v>11.59</c:v>
                </c:pt>
                <c:pt idx="3">
                  <c:v>9.16</c:v>
                </c:pt>
              </c:numCache>
            </c:numRef>
          </c:val>
        </c:ser>
        <c:ser>
          <c:idx val="2"/>
          <c:order val="2"/>
          <c:tx>
            <c:strRef>
              <c:f>Sheet1!$D$1</c:f>
              <c:strCache>
                <c:ptCount val="1"/>
                <c:pt idx="0">
                  <c:v>α = 0.0  (unmasked frames only)</c:v>
                </c:pt>
              </c:strCache>
            </c:strRef>
          </c:tx>
          <c:spPr>
            <a:solidFill>
              <a:srgbClr val="C94F7C"/>
            </a:solidFill>
            <a:effectLst/>
          </c:spPr>
          <c:invertIfNegative val="0"/>
          <c:dLbls>
            <c:numFmt formatCode="0.0" sourceLinked="0"/>
            <c:txPr>
              <a:bodyPr/>
              <a:lstStyle/>
              <a:p>
                <a:pPr>
                  <a:defRPr b="0" i="0" strike="noStrike" sz="900" u="none">
                    <a:solidFill>
                      <a:srgbClr val="33334A"/>
                    </a:solidFill>
                    <a:latin typeface="Arial"/>
                  </a:defRPr>
                </a:pPr>
              </a:p>
            </c:txPr>
            <c:showLegendKey val="0"/>
            <c:showVal val="1"/>
            <c:showCatName val="0"/>
            <c:showSerName val="0"/>
            <c:showPercent val="0"/>
            <c:showBubbleSize val="0"/>
            <c:showLeaderLines val="0"/>
          </c:dLbls>
          <c:cat>
            <c:multiLvlStrRef>
              <c:f>Sheet1!$A$2:$A$5</c:f>
              <c:multiLvlStrCache>
                <c:ptCount val="4"/>
                <c:lvl>
                  <c:pt idx="0">
                    <c:v>MFCC, 100
PNMI 0.243</c:v>
                  </c:pt>
                  <c:pt idx="1">
                    <c:v>it1 layer 6, 500
PNMI 0.637</c:v>
                  </c:pt>
                  <c:pt idx="2">
                    <c:v>it2 layer 9, 500
PNMI 0.704</c:v>
                  </c:pt>
                  <c:pt idx="3">
                    <c:v>Supervised chenone
PNMI 0.809</c:v>
                  </c:pt>
                </c:lvl>
              </c:multiLvlStrCache>
            </c:multiLvlStrRef>
          </c:cat>
          <c:val>
            <c:numRef>
              <c:f>Sheet1!$D$2:$D$5</c:f>
              <c:numCache>
                <c:formatCode>General</c:formatCode>
                <c:ptCount val="4"/>
                <c:pt idx="0">
                  <c:v>96.37</c:v>
                </c:pt>
                <c:pt idx="1">
                  <c:v>23.29</c:v>
                </c:pt>
                <c:pt idx="2">
                  <c:v>13.79</c:v>
                </c:pt>
                <c:pt idx="3">
                  <c:v>9.79</c:v>
                </c:pt>
              </c:numCache>
            </c:numRef>
          </c:val>
        </c:ser>
        <c:dLbls>
          <c:numFmt formatCode="0.0" sourceLinked="0"/>
          <c:txPr>
            <a:bodyPr/>
            <a:lstStyle/>
            <a:p>
              <a:pPr>
                <a:defRPr b="0" i="0" strike="noStrike" sz="900" u="none">
                  <a:solidFill>
                    <a:srgbClr val="3333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F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9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5F7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5F79"/>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5F79"/>
                </a:solidFill>
                <a:latin typeface="Calibri"/>
              </a:defRPr>
            </a:pPr>
            <a:r>
              <a:rPr sz="1200" b="0" i="0" u="none" strike="noStrike">
                <a:solidFill>
                  <a:srgbClr val="5F5F79"/>
                </a:solidFill>
                <a:latin typeface="Calibri"/>
              </a:rPr>
              <a:t>Lower is better</a:t>
            </a:r>
          </a:p>
        </c:rich>
      </c:tx>
      <c:layout/>
      <c:overlay val="0"/>
    </c:title>
    <c:autoTitleDeleted val="0"/>
    <c:plotArea>
      <c:layout/>
      <c:barChart>
        <c:barDir val="bar"/>
        <c:grouping val="clustered"/>
        <c:varyColors val="0"/>
        <c:ser>
          <c:idx val="0"/>
          <c:order val="0"/>
          <c:tx>
            <c:strRef>
              <c:f>Sheet1!$B$1</c:f>
              <c:strCache>
                <c:ptCount val="1"/>
                <c:pt idx="0">
                  <c:v>dev-other WER</c:v>
                </c:pt>
              </c:strCache>
            </c:strRef>
          </c:tx>
          <c:spPr>
            <a:solidFill>
              <a:srgbClr val="4E4E82"/>
            </a:solidFill>
            <a:effectLst/>
          </c:spPr>
          <c:invertIfNegative val="0"/>
          <c:dLbls>
            <c:numFmt formatCode="0.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cat>
            <c:multiLvlStrRef>
              <c:f>Sheet1!$A$2:$A$8</c:f>
              <c:multiLvlStrCache>
                <c:ptCount val="7"/>
                <c:lvl>
                  <c:pt idx="0">
                    <c:v>Single k-means, 100</c:v>
                  </c:pt>
                  <c:pt idx="1">
                    <c:v>Product k-means, 0th order</c:v>
                  </c:pt>
                  <c:pt idx="2">
                    <c:v>Product k-means, 2nd order</c:v>
                  </c:pt>
                  <c:pt idx="3">
                    <c:v>Product k-means, 1st order</c:v>
                  </c:pt>
                  <c:pt idx="4">
                    <c:v>k-means {50, 100}</c:v>
                  </c:pt>
                  <c:pt idx="5">
                    <c:v>k-means {50, 100, 500}</c:v>
                  </c:pt>
                  <c:pt idx="6">
                    <c:v>Product k-means {0,1,2}</c:v>
                  </c:pt>
                </c:lvl>
              </c:multiLvlStrCache>
            </c:multiLvlStrRef>
          </c:cat>
          <c:val>
            <c:numRef>
              <c:f>Sheet1!$B$2:$B$8</c:f>
              <c:numCache>
                <c:formatCode>General</c:formatCode>
                <c:ptCount val="7"/>
                <c:pt idx="0">
                  <c:v>17.86</c:v>
                </c:pt>
                <c:pt idx="1">
                  <c:v>19.26</c:v>
                </c:pt>
                <c:pt idx="2">
                  <c:v>18.46</c:v>
                </c:pt>
                <c:pt idx="3">
                  <c:v>17.64</c:v>
                </c:pt>
                <c:pt idx="4">
                  <c:v>17.81</c:v>
                </c:pt>
                <c:pt idx="5">
                  <c:v>17.56</c:v>
                </c:pt>
                <c:pt idx="6">
                  <c:v>16.73</c:v>
                </c:pt>
              </c:numCache>
            </c:numRef>
          </c:val>
        </c:ser>
        <c:dLbls>
          <c:numFmt formatCode="0.00" sourceLinked="0"/>
          <c:txPr>
            <a:bodyPr/>
            <a:lstStyle/>
            <a:p>
              <a:pPr>
                <a:defRPr b="0" i="0" strike="noStrike" sz="1000" u="none">
                  <a:solidFill>
                    <a:srgbClr val="3333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5F7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9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F5F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Frame the session against the wav2vec 2.0 seminar. That paper's lasting contributions turned out to be the architecture, the masking strategy and the raw-waveform front end — while the contrastive loss itself was largely abandoned. Today's first paper is what replaced it.
Note the author overlap: Abdelrahman Mohamed is on both papers, and HuBERT is explicitly positioned as a response to wav2vec 2.0's complexity.
One sentence to plant now: HuBERT's central claim is that the *consistency* of your training targets matters more than their *correctness*. That is a surprising claim, and the paper measures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[1:00–2:00] Roadmap.
Set expectations honestly: the results section is the least interesting part of this paper. HuBERT matches or slightly beats wav2vec 2.0 — that is the headline, and it takes seven minutes.
Section 4 is where the value is. The paper contains a set of careful analyses that explain why masked prediction over bad clusters works at all, and those analyses generalise well beyond speech.
Tell people to listen for one number in particular: 96.37% word error rate. It appears in section 4 and it makes the paper's argument in a single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Lead with the absurdity of the recipe. K-means with a hundred clusters on MFCCs is a technique from the 1980s and it is a poor phonetic classifier — we will see it recovers about a quarter of the information about phone identity. Starting from that and reaching state of the art is the paper's rhetorical move.
The dark card is the thesis, quoted almost verbatim from the abstract. Consistency over correctness. Land it now and return to it in section 4 when the numbers arrive.
For context: HuBERT displaced wav2vec 2.0 as the default speech backbone within about a year, and it is the direct ancestor of WavLM, which we cover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three problems.
This framing is the paper's own and it is a good one — it is worth adopting when you read any speech SSL paper, because every method in this space is an answer to these three constraints.
The segmentation point in the third card is subtle and worth explaining. HuBERT sidesteps the boundary problem entirely by working at a fixed frame rate: every 20 ms frame gets a cluster label, and the model predicts labels for masked frames. Nobody ever has to decide where a phoneme begins.
Contrast with wav2vec 2.0, which answered problem two by learning the inventory jointly through a Gumbel softmax. HuBERT answers it by fitting the inventory offline, which turns out to be simpler and, as the field discovered, more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[6:20–8:00] The critique.
Everything in this table is a fair description of things we discussed in the wav2vec 2.0 seminar — the distractor sampling scheme, the diversity term with α = 0.1, the temperature annealed from 2 to 0.5 by a factor of 0.999995 per update. Each was a genuine design insight, and each is a knob that can be set wrong.
The fourth row is the most substantive. wav2vec 2.0 quantises the CNN output, which is a 25 ms window with no context. HuBERT's iterative refinement quantises Transformer layer outputs instead, which have seen the whole utterance. Figure 2 of the paper measures how much better those are.
The trade: HuBERT's pipeline is simpler per stage but is no longer end to end. It needs a separate clustering phase between training runs, which the authors list as a limitation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[8:00–8:10]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[8:10–10:10] The core idea.
This is the slide to leave up whenever someone gets lost later. Walk it once and make sure everyone sees the loop.
The bootstrap argument in the dark card is the one people find hardest to accept: how can a model trained on bad labels produce better labels than it was given? The answer is that the masked prediction task forces it to learn structure the teacher does not have — long-range temporal dependencies that k-means on individual frames cannot represent.
Compare with iterative pseudo-labelling in semi-supervised ASR, which does the same thing with a supervised teacher. HuBERT is that loop with the supervision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[10:10–12:10] Architecture and loss.
Move quickly through the architecture — it is intentionally the same as wav2vec 2.0 so that the comparison isolates the objective. Say that explicitly; it is good experimental hygiene and worth crediting.
Spend the time on α. Give the two extremes their interpretations: α = 0 is classical acoustic modelling — predict the frame label from the frame, which is exactly what a hybrid HMM system does with forced-aligned targets. α = 1 is language modelling — predict what you cannot see from what you can.
The hypothesis the authors state, and then test: α = 1 is more resilient to bad cluster targets. Flag that we will see the number in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[12:10–14:00] The masked-only argument. Protect this slide.
The dark card is the deepest idea in the paper. Build it slowly.
An analogy that usually lands: imagine training a language model on text where every word has been replaced by a random but consistent substitute — a substitution cipher. The model can still learn the grammar and the sequential statistics; it just learns them in the cipher. It cannot learn anything if the substitution is re-randomised every occurrence.
K-means on MFCCs is a rough cipher over phonetic categories. It confuses classes and splits them by speaker, but it does so systematically, and that is enough.
Connect back to wav2vec 2.0's ablation, where continuous targets made the pretext task easier and the representations worse. Same phenomenon, opposite direction: here it is about whether the model is allowed to copy rather than infer.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[14:00–16:10] Improving the teacher.
The layer-choice detail in the dark card is genuinely interesting and connects to the Pasad layer-wise analysis we discussed in the wav2vec seminar. A network trained to predict bad labels has its top layers corrupted by that task; a network trained on good labels does not.
So the choice of layer 6 versus layer 9 is not arbitrary tuning — it tracks a real change in what the network is doing, and the paper measures it in Figure 2.
Practical note: k-means is fitted with MiniBatchKMeans on batches of ten thousand frames, using k-means++ with twenty restarts. The 10% subsample exists because the full 960 hours of 768-dimensional features will not fit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[16:10–17:40] Configurations.
Do not read the table. Point at three rows: parameters, GPUs, and the batch-size row.
BASE and LARGE deliberately match wav2vec 2.0's configurations so the objective is the only difference. X-LARGE is new — 48 layers and nearly a billion parameters, chosen to match the Conformer XXL model it is being compared against.
The batch-size row rewards a second look: as the model grows, audio per GPU falls from 87.5 seconds to 22.5, purely from memory pressure, and the GPU count rises to compensate. Two hundred and fifty-six V100s for the largest run.
For scale: a hundred thousand BASE steps take about nine and a half hours on thirty-two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[17:40–19:20] Fine-tuning.
Almost identical to wav2vec 2.0, which is the point — say so and move fast.
The dark card is worth thirty seconds. Several of the headline comparisons in the next section are differences of one or two tenths of a percent WER, and both papers tune hyperparameters per setting on dev-other. That does not invalidate the comparison, but it does mean a 0.1 gap is not a result.
The paper is honest about this: it flags the two cases where HuBERT is 0.1 worse than wav2vec 2.0 rather than quietly omitting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[19:20–19:30]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[19:30–21:40] Low-resource results.
The dark card is the honest reading and should be delivered without apology. This is a paper whose headline result is a modest improvement — and whose value lies elsewhere.
The Discrete BERT comparison is the informative one, and it isolates two effects the paper then verifies in its ablations. First, raw waveform input beats quantised input, which we already knew from wav2vec 2.0's own ablation. Second, iterative refinement eventually produces better units than vq-wav2vec's learned ones, even starting from MFCC k-means.
If someone asks about BASE: it is roughly level with wav2vec 2.0 BASE, trading tenths in both directions. The gains show up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[21:40–23:30] High-resource results.
Keep this short. The message is that HuBERT is competitive at the top end and scales cleanly to a billion parameters.
The comparison worth naming is against the pre-trained Conformer XXL, which reaches 1.5 and 3.1 — better than HuBERT LARGE on test-clean. HuBERT X-LARGE at 1.8 and 2.9 beats it on the harder set with far fewer parameters than the eight-billion-parameter systems that arrived soon after.
The self-training point in the dark card is a good example of a paper stating what it did not do and why it expects the result. Credit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[23:30–23:40]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[23:40–25:30] Measuring teacher quality.
Getting these definitions straight is worth two minutes, because the next three slides all use them.
The asymmetry between phone purity and cluster purity is the part people trip on. Phone purity rewards splitting; cluster purity rewards merging. Neither is meaningful alone across different codebook sizes, which is why PNMI exists.
The dark card is a methodological point worth naming explicitly. Using supervision for analysis but not for training is exactly how the interpretability work on wav2vec 2.0 proceeded too — probing rather than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[25:30–27:30] Teacher quality.
The first bar is the one to dwell on. A PNMI of 0.25 means the cluster label tells you a quarter of what you would need to know to identify the phone. Everything HuBERT achieves is bootstrapped from that.
The MFCC baseline in purity terms is equally unflattering: for 100 clusters, cluster purity 0.099 and phone purity 0.335. So roughly two-thirds of frames in a cluster are not the cluster's dominant phone.
The stability finding is the practical takeaway for anyone reproducing this. K-means is often criticised as sensitive to initialisation; here, with k-means++ and twenty restarts, it is not the bottleneck.
Note that layer 6 is used for iteration 1 and layer 9 for iteration 2 — the same layer-shift point from earlier, now with numbers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[27:30–30:00] The key ablation. This is the slide to protect above all others.
Deliver the 96.37 first and let it sit. A model that transcribes essentially nothing — and the only difference from a working model is where the loss is applied.
Then walk the trend left to right. The gap between the three bars collapses as the teacher improves, and at the supervised topline it inverts: when your labels are actually correct, including the unmasked loss helps, because imitating a good teacher is a reasonable thing to do.
That inversion is what makes this a real finding rather than a tuning result. It identifies the mechanism: masked-only prediction is a defence against label noise, and defences cost something when there is no noise to defend against.
Generalise it for the room: in self-supervised learning, the value of a constraint depends on the quality of your supervision signal. Same lesson as wav2vec 2.0's quantisation bottleneck, arrived at from a different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[30:00–31:40] Ensembles.
The interesting structure is that the subspaces are complementary: individually mediocre, jointly the best result on the slide. That is the multi-task framing from earlier, and it is intuitive — the static spectrum, the velocity and the acceleration of the spectrum carry different information.
Be even-handed about the magnitude. About one point of WER in a reduced 100k-step setup is not nothing, but the authors did not carry it into the main models, which tells you what they thought it was worth relative to iterative refinement.
If short on time this is the slide to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[31:40–33:20] Hyperparameters.
The three cards are quick. The dark card is the payoff and deserves the time.
The authors' hypothesis for why fewer clusters work better: a hundred clusters capture broad phonetic concepts without delving into inter- and intra-speaker variation, whereas thirteen thousand units necessarily encode speaker and channel detail.
That is the same argument as wav2vec 2.0's quantisation ablation, stated in terms of codebook size rather than continuous versus discrete. Too much resolution in your targets means the model spends capacity on nuisance variation. Make the connection explicitly — it is the through-line of both papers.
This is also a fair place to note the scaling story: HuBERT's gains come substantially from longer training and bigger batches, not only from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[33:20–33:30]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[33:30–35:40] Appraisal.
The last two limitations are the setup for the second half of the session, so make them clearly.
HuBERT is a speech recognition paper. The title says representation learning, the evaluation is word error rate, and the conclusion explicitly lists 'downstream tasks beyond ASR' as future work. Everything we know about HuBERT's usefulness for emotion, speaker or diarisation tasks comes from other people's papers.
And the pre-training data is Libri-Light — clean, single-speaker, read audiobooks by volunteers. Nothing in this training regime has ever heard two people talking at once or a noisy room.
WavLM is the paper that takes both of those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[35:40–37:40] Legacy.
The first row is the irony worth naming: HuBERT's most consequential property — that its representations generalise across many speech tasks — was established by a different group using a benchmark this paper never ran.
The second row is the one with the longest reach. HuBERT units are now the de facto discrete vocabulary of speech, which is a strange fate for k-means labels bootstrapped from MFCCs.
Set up the second talk: WavLM starts from exactly this framework, keeps the masked prediction loss and the cluster targets, and changes two things — what goes in, and how position is encoded.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[37:40–39:00] Take-aways.
Read these; they are written to be transcribed.
Number two is the one with the widest application. Anyone building a self-supervised objective in any modality where targets are noisy should know that restricting the loss to positions the model cannot see is a defence — and that it is a defence with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[39:00–45:00] Discussion.
Five prompts; take two or three. Question 4 is the natural bridge to the WavLM talk and works well as a closer, because WavLM is in part an answer to it — it evaluates on fifteen tasks precisely because HuBERT did not.
Question 1 is the most technically interesting and usually produces good discussion. A reasonable answer: consistency is roughly the conditional entropy of the cluster label given the phone, which is the cluster-purity direction of the mutual information — so the paper arguably already has the measurement and does not frame it that way.
Question 5 is a nice provocation. One reading: the pre-training objective is doing all the work and the initialisation barely matters, which would predict that other weak teachers work equally well. Later work on random-projection quantisers suggests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868680" y="1289304"/>
            <a:ext cx="190195" cy="190195"/>
          </a:xfrm>
          <a:prstGeom prst="ellipse">
            <a:avLst/>
          </a:prstGeom>
          <a:solidFill>
            <a:srgbClr val="CFCFE2"/>
          </a:solidFill>
          <a:ln w="12700">
            <a:solidFill>
              <a:srgbClr val="333333"/>
            </a:solidFill>
            <a:prstDash val="solid"/>
          </a:ln>
        </p:spPr>
      </p:sp>
      <p:sp>
        <p:nvSpPr>
          <p:cNvPr id="3" name="Shape 1"/>
          <p:cNvSpPr/>
          <p:nvPr/>
        </p:nvSpPr>
        <p:spPr>
          <a:xfrm>
            <a:off x="1249070" y="1051560"/>
            <a:ext cx="190195" cy="190195"/>
          </a:xfrm>
          <a:prstGeom prst="ellipse">
            <a:avLst/>
          </a:prstGeom>
          <a:solidFill>
            <a:srgbClr val="CFCFE2"/>
          </a:solidFill>
          <a:ln w="12700">
            <a:solidFill>
              <a:srgbClr val="333333"/>
            </a:solidFill>
            <a:prstDash val="solid"/>
          </a:ln>
        </p:spPr>
      </p:sp>
      <p:sp>
        <p:nvSpPr>
          <p:cNvPr id="4" name="Shape 2"/>
          <p:cNvSpPr/>
          <p:nvPr/>
        </p:nvSpPr>
        <p:spPr>
          <a:xfrm>
            <a:off x="1581912" y="1360627"/>
            <a:ext cx="309067" cy="309067"/>
          </a:xfrm>
          <a:prstGeom prst="ellipse">
            <a:avLst/>
          </a:prstGeom>
          <a:solidFill>
            <a:srgbClr val="C94F7C"/>
          </a:solidFill>
          <a:ln w="12700">
            <a:solidFill>
              <a:srgbClr val="333333"/>
            </a:solidFill>
            <a:prstDash val="solid"/>
          </a:ln>
        </p:spPr>
      </p:sp>
      <p:sp>
        <p:nvSpPr>
          <p:cNvPr id="5" name="Shape 3"/>
          <p:cNvSpPr/>
          <p:nvPr/>
        </p:nvSpPr>
        <p:spPr>
          <a:xfrm>
            <a:off x="1106424" y="1669694"/>
            <a:ext cx="190195" cy="190195"/>
          </a:xfrm>
          <a:prstGeom prst="ellipse">
            <a:avLst/>
          </a:prstGeom>
          <a:solidFill>
            <a:srgbClr val="CFCFE2"/>
          </a:solidFill>
          <a:ln w="12700">
            <a:solidFill>
              <a:srgbClr val="333333"/>
            </a:solidFill>
            <a:prstDash val="solid"/>
          </a:ln>
        </p:spPr>
      </p:sp>
      <p:sp>
        <p:nvSpPr>
          <p:cNvPr id="6" name="Shape 4"/>
          <p:cNvSpPr/>
          <p:nvPr/>
        </p:nvSpPr>
        <p:spPr>
          <a:xfrm>
            <a:off x="1534363" y="1764792"/>
            <a:ext cx="190195" cy="190195"/>
          </a:xfrm>
          <a:prstGeom prst="ellipse">
            <a:avLst/>
          </a:prstGeom>
          <a:solidFill>
            <a:srgbClr val="CFCFE2"/>
          </a:solidFill>
          <a:ln w="12700">
            <a:solidFill>
              <a:srgbClr val="333333"/>
            </a:solidFill>
            <a:prstDash val="solid"/>
          </a:ln>
        </p:spPr>
      </p:sp>
      <p:sp>
        <p:nvSpPr>
          <p:cNvPr id="7" name="Text 5"/>
          <p:cNvSpPr txBox="1"/>
          <p:nvPr/>
        </p:nvSpPr>
        <p:spPr>
          <a:xfrm>
            <a:off x="822960" y="1874520"/>
            <a:ext cx="10515600" cy="914400"/>
          </a:xfrm>
          <a:prstGeom prst="rect">
            <a:avLst/>
          </a:prstGeom>
          <a:noFill/>
          <a:ln/>
        </p:spPr>
        <p:txBody>
          <a:bodyPr wrap="square" lIns="0" tIns="0" rIns="0" bIns="0" rtlCol="0" anchor="ctr"/>
          <a:lstStyle/>
          <a:p>
            <a:pPr indent="0" marL="0">
              <a:buNone/>
            </a:pPr>
            <a:r>
              <a:rPr lang="en-US" sz="5200" b="1" spc="100" kern="0" dirty="0">
                <a:solidFill>
                  <a:srgbClr val="FFFFFF"/>
                </a:solidFill>
                <a:latin typeface="Cambria" pitchFamily="34" charset="0"/>
                <a:ea typeface="Cambria" pitchFamily="34" charset="-122"/>
                <a:cs typeface="Cambria" pitchFamily="34" charset="-120"/>
              </a:rPr>
              <a:t>HuBERT</a:t>
            </a:r>
            <a:endParaRPr lang="en-US" sz="5200" dirty="0"/>
          </a:p>
        </p:txBody>
      </p:sp>
      <p:sp>
        <p:nvSpPr>
          <p:cNvPr id="8" name="Text 6"/>
          <p:cNvSpPr txBox="1"/>
          <p:nvPr/>
        </p:nvSpPr>
        <p:spPr>
          <a:xfrm>
            <a:off x="822960" y="2788920"/>
            <a:ext cx="10607040" cy="502920"/>
          </a:xfrm>
          <a:prstGeom prst="rect">
            <a:avLst/>
          </a:prstGeom>
          <a:noFill/>
          <a:ln/>
        </p:spPr>
        <p:txBody>
          <a:bodyPr wrap="square" lIns="0" tIns="0" rIns="0" bIns="0" rtlCol="0" anchor="ctr"/>
          <a:lstStyle/>
          <a:p>
            <a:pPr indent="0" marL="0">
              <a:buNone/>
            </a:pPr>
            <a:r>
              <a:rPr lang="en-US" sz="1800" i="1" dirty="0">
                <a:solidFill>
                  <a:srgbClr val="CFCFE2"/>
                </a:solidFill>
                <a:latin typeface="Cambria" pitchFamily="34" charset="0"/>
                <a:ea typeface="Cambria" pitchFamily="34" charset="-122"/>
                <a:cs typeface="Cambria" pitchFamily="34" charset="-120"/>
              </a:rPr>
              <a:t>Self-Supervised Speech Representation Learning by Masked Prediction of Hidden Units</a:t>
            </a:r>
            <a:endParaRPr lang="en-US" sz="1800" dirty="0"/>
          </a:p>
        </p:txBody>
      </p:sp>
      <p:sp>
        <p:nvSpPr>
          <p:cNvPr id="9" name="Text 7"/>
          <p:cNvSpPr txBox="1"/>
          <p:nvPr/>
        </p:nvSpPr>
        <p:spPr>
          <a:xfrm>
            <a:off x="859536" y="3611880"/>
            <a:ext cx="10241280" cy="1005840"/>
          </a:xfrm>
          <a:prstGeom prst="rect">
            <a:avLst/>
          </a:prstGeom>
          <a:noFill/>
          <a:ln/>
        </p:spPr>
        <p:txBody>
          <a:bodyPr wrap="square" lIns="0" tIns="0" rIns="0" bIns="0" rtlCol="0" anchor="ctr"/>
          <a:lstStyle/>
          <a:p>
            <a:pPr indent="0" marL="0">
              <a:lnSpc>
                <a:spcPct val="125000"/>
              </a:lnSpc>
              <a:buNone/>
            </a:pPr>
            <a:r>
              <a:rPr lang="en-US" sz="1300" dirty="0">
                <a:solidFill>
                  <a:srgbClr val="AFAFC8"/>
                </a:solidFill>
                <a:latin typeface="Calibri" pitchFamily="34" charset="0"/>
                <a:ea typeface="Calibri" pitchFamily="34" charset="-122"/>
                <a:cs typeface="Calibri" pitchFamily="34" charset="-120"/>
              </a:rPr>
              <a:t>Wei-Ning Hsu, Benjamin Bolte, Yao-Hung Hubert Tsai, Kushal Lakhotia,</a:t>
            </a:r>
            <a:endParaRPr lang="en-US" sz="1300" dirty="0"/>
          </a:p>
          <a:p>
            <a:pPr indent="0" marL="0">
              <a:lnSpc>
                <a:spcPct val="125000"/>
              </a:lnSpc>
              <a:buNone/>
            </a:pPr>
            <a:r>
              <a:rPr lang="en-US" sz="1300" dirty="0">
                <a:solidFill>
                  <a:srgbClr val="AFAFC8"/>
                </a:solidFill>
                <a:latin typeface="Calibri" pitchFamily="34" charset="0"/>
                <a:ea typeface="Calibri" pitchFamily="34" charset="-122"/>
                <a:cs typeface="Calibri" pitchFamily="34" charset="-120"/>
              </a:rPr>
              <a:t>Ruslan Salakhutdinov &amp; Abdelrahman Mohamed</a:t>
            </a:r>
            <a:endParaRPr lang="en-US" sz="1300" dirty="0"/>
          </a:p>
          <a:p>
            <a:pPr indent="0" marL="0">
              <a:lnSpc>
                <a:spcPct val="125000"/>
              </a:lnSpc>
              <a:buNone/>
            </a:pPr>
            <a:r>
              <a:rPr lang="en-US" sz="1300" dirty="0">
                <a:solidFill>
                  <a:srgbClr val="AFAFC8"/>
                </a:solidFill>
                <a:latin typeface="Calibri" pitchFamily="34" charset="0"/>
                <a:ea typeface="Calibri" pitchFamily="34" charset="-122"/>
                <a:cs typeface="Calibri" pitchFamily="34" charset="-120"/>
              </a:rPr>
              <a:t>IEEE/ACM Transactions on Audio, Speech and Language Processing, 29, 3451–3460 (2021)  ·  arXiv:2106.07447</a:t>
            </a:r>
            <a:endParaRPr lang="en-US" sz="1300" dirty="0"/>
          </a:p>
        </p:txBody>
      </p:sp>
      <p:sp>
        <p:nvSpPr>
          <p:cNvPr id="10" name="Text 8"/>
          <p:cNvSpPr txBox="1"/>
          <p:nvPr/>
        </p:nvSpPr>
        <p:spPr>
          <a:xfrm>
            <a:off x="859536" y="5120640"/>
            <a:ext cx="8229600" cy="365760"/>
          </a:xfrm>
          <a:prstGeom prst="rect">
            <a:avLst/>
          </a:prstGeom>
          <a:noFill/>
          <a:ln/>
        </p:spPr>
        <p:txBody>
          <a:bodyPr wrap="square" lIns="0" tIns="0" rIns="0" bIns="0" rtlCol="0" anchor="ctr"/>
          <a:lstStyle/>
          <a:p>
            <a:pPr indent="0" marL="0">
              <a:buNone/>
            </a:pPr>
            <a:r>
              <a:rPr lang="en-US" sz="1250" b="1" dirty="0">
                <a:solidFill>
                  <a:srgbClr val="C94F7C"/>
                </a:solidFill>
                <a:latin typeface="Calibri" pitchFamily="34" charset="0"/>
                <a:ea typeface="Calibri" pitchFamily="34" charset="-122"/>
                <a:cs typeface="Calibri" pitchFamily="34" charset="-120"/>
              </a:rPr>
              <a:t>Masked prediction and full-stack pretraining  ·  Talk 1 of 2  ·  45 minutes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Roadmap</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38 minutes of material, then 7 minutes for discussion</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a:t>
            </a:r>
            <a:endParaRPr lang="en-US" sz="900" dirty="0"/>
          </a:p>
        </p:txBody>
      </p:sp>
      <p:sp>
        <p:nvSpPr>
          <p:cNvPr id="10" name="Shape 8"/>
          <p:cNvSpPr/>
          <p:nvPr/>
        </p:nvSpPr>
        <p:spPr>
          <a:xfrm>
            <a:off x="566928" y="1700784"/>
            <a:ext cx="420624" cy="420624"/>
          </a:xfrm>
          <a:prstGeom prst="ellipse">
            <a:avLst/>
          </a:prstGeom>
          <a:solidFill>
            <a:srgbClr val="4E4E82"/>
          </a:solidFill>
          <a:ln w="12700">
            <a:solidFill>
              <a:srgbClr val="333333"/>
            </a:solidFill>
            <a:prstDash val="solid"/>
          </a:ln>
        </p:spPr>
      </p:sp>
      <p:sp>
        <p:nvSpPr>
          <p:cNvPr id="11" name="Text 9"/>
          <p:cNvSpPr txBox="1"/>
          <p:nvPr/>
        </p:nvSpPr>
        <p:spPr>
          <a:xfrm>
            <a:off x="566928" y="1737360"/>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2" name="Text 10"/>
          <p:cNvSpPr txBox="1"/>
          <p:nvPr/>
        </p:nvSpPr>
        <p:spPr>
          <a:xfrm>
            <a:off x="1152144" y="1645920"/>
            <a:ext cx="7680960" cy="329184"/>
          </a:xfrm>
          <a:prstGeom prst="rect">
            <a:avLst/>
          </a:prstGeom>
          <a:noFill/>
          <a:ln/>
        </p:spPr>
        <p:txBody>
          <a:bodyPr wrap="square" lIns="0" tIns="0" rIns="0" bIns="0" rtlCol="0" anchor="ctr"/>
          <a:lstStyle/>
          <a:p>
            <a:pPr indent="0" marL="0">
              <a:buNone/>
            </a:pPr>
            <a:r>
              <a:rPr lang="en-US" sz="1650" b="1" dirty="0">
                <a:solidFill>
                  <a:srgbClr val="191927"/>
                </a:solidFill>
                <a:latin typeface="Cambria" pitchFamily="34" charset="0"/>
                <a:ea typeface="Cambria" pitchFamily="34" charset="-122"/>
                <a:cs typeface="Cambria" pitchFamily="34" charset="-120"/>
              </a:rPr>
              <a:t>Three problems speech poses for BERT</a:t>
            </a:r>
            <a:endParaRPr lang="en-US" sz="1650" dirty="0"/>
          </a:p>
        </p:txBody>
      </p:sp>
      <p:sp>
        <p:nvSpPr>
          <p:cNvPr id="13" name="Text 11"/>
          <p:cNvSpPr txBox="1"/>
          <p:nvPr/>
        </p:nvSpPr>
        <p:spPr>
          <a:xfrm>
            <a:off x="1152144" y="1993392"/>
            <a:ext cx="8229600" cy="274320"/>
          </a:xfrm>
          <a:prstGeom prst="rect">
            <a:avLst/>
          </a:prstGeom>
          <a:noFill/>
          <a:ln/>
        </p:spPr>
        <p:txBody>
          <a:bodyPr wrap="square" lIns="0" tIns="0" rIns="0" bIns="0" rtlCol="0" anchor="ctr"/>
          <a:lstStyle/>
          <a:p>
            <a:pPr indent="0" marL="0">
              <a:buNone/>
            </a:pPr>
            <a:r>
              <a:rPr lang="en-US" sz="1250" dirty="0">
                <a:solidFill>
                  <a:srgbClr val="5F5F79"/>
                </a:solidFill>
                <a:latin typeface="Calibri" pitchFamily="34" charset="0"/>
                <a:ea typeface="Calibri" pitchFamily="34" charset="-122"/>
                <a:cs typeface="Calibri" pitchFamily="34" charset="-120"/>
              </a:rPr>
              <a:t>Why masked prediction does not transfer directly</a:t>
            </a:r>
            <a:endParaRPr lang="en-US" sz="1250" dirty="0"/>
          </a:p>
        </p:txBody>
      </p:sp>
      <p:sp>
        <p:nvSpPr>
          <p:cNvPr id="14" name="Text 12"/>
          <p:cNvSpPr txBox="1"/>
          <p:nvPr/>
        </p:nvSpPr>
        <p:spPr>
          <a:xfrm>
            <a:off x="9692640" y="1737360"/>
            <a:ext cx="1737360" cy="310896"/>
          </a:xfrm>
          <a:prstGeom prst="rect">
            <a:avLst/>
          </a:prstGeom>
          <a:noFill/>
          <a:ln/>
        </p:spPr>
        <p:txBody>
          <a:bodyPr wrap="square" lIns="0" tIns="0" rIns="0" bIns="0" rtlCol="0" anchor="ctr"/>
          <a:lstStyle/>
          <a:p>
            <a:pPr algn="r" indent="0" marL="0">
              <a:buNone/>
            </a:pPr>
            <a:r>
              <a:rPr lang="en-US" sz="1300" b="1" dirty="0">
                <a:solidFill>
                  <a:srgbClr val="C94F7C"/>
                </a:solidFill>
                <a:latin typeface="Calibri" pitchFamily="34" charset="0"/>
                <a:ea typeface="Calibri" pitchFamily="34" charset="-122"/>
                <a:cs typeface="Calibri" pitchFamily="34" charset="-120"/>
              </a:rPr>
              <a:t>5 min</a:t>
            </a:r>
            <a:endParaRPr lang="en-US" sz="1300" dirty="0"/>
          </a:p>
        </p:txBody>
      </p:sp>
      <p:sp>
        <p:nvSpPr>
          <p:cNvPr id="15" name="Shape 13"/>
          <p:cNvSpPr/>
          <p:nvPr/>
        </p:nvSpPr>
        <p:spPr>
          <a:xfrm>
            <a:off x="566928" y="2560320"/>
            <a:ext cx="420624" cy="420624"/>
          </a:xfrm>
          <a:prstGeom prst="ellipse">
            <a:avLst/>
          </a:prstGeom>
          <a:solidFill>
            <a:srgbClr val="4E4E82"/>
          </a:solidFill>
          <a:ln w="12700">
            <a:solidFill>
              <a:srgbClr val="333333"/>
            </a:solidFill>
            <a:prstDash val="solid"/>
          </a:ln>
        </p:spPr>
      </p:sp>
      <p:sp>
        <p:nvSpPr>
          <p:cNvPr id="16" name="Text 14"/>
          <p:cNvSpPr txBox="1"/>
          <p:nvPr/>
        </p:nvSpPr>
        <p:spPr>
          <a:xfrm>
            <a:off x="566928" y="2596896"/>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7" name="Text 15"/>
          <p:cNvSpPr txBox="1"/>
          <p:nvPr/>
        </p:nvSpPr>
        <p:spPr>
          <a:xfrm>
            <a:off x="1152144" y="2505456"/>
            <a:ext cx="7680960" cy="329184"/>
          </a:xfrm>
          <a:prstGeom prst="rect">
            <a:avLst/>
          </a:prstGeom>
          <a:noFill/>
          <a:ln/>
        </p:spPr>
        <p:txBody>
          <a:bodyPr wrap="square" lIns="0" tIns="0" rIns="0" bIns="0" rtlCol="0" anchor="ctr"/>
          <a:lstStyle/>
          <a:p>
            <a:pPr indent="0" marL="0">
              <a:buNone/>
            </a:pPr>
            <a:r>
              <a:rPr lang="en-US" sz="1650" b="1" dirty="0">
                <a:solidFill>
                  <a:srgbClr val="191927"/>
                </a:solidFill>
                <a:latin typeface="Cambria" pitchFamily="34" charset="0"/>
                <a:ea typeface="Cambria" pitchFamily="34" charset="-122"/>
                <a:cs typeface="Cambria" pitchFamily="34" charset="-120"/>
              </a:rPr>
              <a:t>The method</a:t>
            </a:r>
            <a:endParaRPr lang="en-US" sz="1650" dirty="0"/>
          </a:p>
        </p:txBody>
      </p:sp>
      <p:sp>
        <p:nvSpPr>
          <p:cNvPr id="18" name="Text 16"/>
          <p:cNvSpPr txBox="1"/>
          <p:nvPr/>
        </p:nvSpPr>
        <p:spPr>
          <a:xfrm>
            <a:off x="1152144" y="2852928"/>
            <a:ext cx="8229600" cy="274320"/>
          </a:xfrm>
          <a:prstGeom prst="rect">
            <a:avLst/>
          </a:prstGeom>
          <a:noFill/>
          <a:ln/>
        </p:spPr>
        <p:txBody>
          <a:bodyPr wrap="square" lIns="0" tIns="0" rIns="0" bIns="0" rtlCol="0" anchor="ctr"/>
          <a:lstStyle/>
          <a:p>
            <a:pPr indent="0" marL="0">
              <a:buNone/>
            </a:pPr>
            <a:r>
              <a:rPr lang="en-US" sz="1250" dirty="0">
                <a:solidFill>
                  <a:srgbClr val="5F5F79"/>
                </a:solidFill>
                <a:latin typeface="Calibri" pitchFamily="34" charset="0"/>
                <a:ea typeface="Calibri" pitchFamily="34" charset="-122"/>
                <a:cs typeface="Calibri" pitchFamily="34" charset="-120"/>
              </a:rPr>
              <a:t>Offline clustering, masked prediction, iterative refinement</a:t>
            </a:r>
            <a:endParaRPr lang="en-US" sz="1250" dirty="0"/>
          </a:p>
        </p:txBody>
      </p:sp>
      <p:sp>
        <p:nvSpPr>
          <p:cNvPr id="19" name="Text 17"/>
          <p:cNvSpPr txBox="1"/>
          <p:nvPr/>
        </p:nvSpPr>
        <p:spPr>
          <a:xfrm>
            <a:off x="9692640" y="2596896"/>
            <a:ext cx="1737360" cy="310896"/>
          </a:xfrm>
          <a:prstGeom prst="rect">
            <a:avLst/>
          </a:prstGeom>
          <a:noFill/>
          <a:ln/>
        </p:spPr>
        <p:txBody>
          <a:bodyPr wrap="square" lIns="0" tIns="0" rIns="0" bIns="0" rtlCol="0" anchor="ctr"/>
          <a:lstStyle/>
          <a:p>
            <a:pPr algn="r" indent="0" marL="0">
              <a:buNone/>
            </a:pPr>
            <a:r>
              <a:rPr lang="en-US" sz="1300" b="1" dirty="0">
                <a:solidFill>
                  <a:srgbClr val="C94F7C"/>
                </a:solidFill>
                <a:latin typeface="Calibri" pitchFamily="34" charset="0"/>
                <a:ea typeface="Calibri" pitchFamily="34" charset="-122"/>
                <a:cs typeface="Calibri" pitchFamily="34" charset="-120"/>
              </a:rPr>
              <a:t>12 min</a:t>
            </a:r>
            <a:endParaRPr lang="en-US" sz="1300" dirty="0"/>
          </a:p>
        </p:txBody>
      </p:sp>
      <p:sp>
        <p:nvSpPr>
          <p:cNvPr id="20" name="Shape 18"/>
          <p:cNvSpPr/>
          <p:nvPr/>
        </p:nvSpPr>
        <p:spPr>
          <a:xfrm>
            <a:off x="566928" y="3419856"/>
            <a:ext cx="420624" cy="420624"/>
          </a:xfrm>
          <a:prstGeom prst="ellipse">
            <a:avLst/>
          </a:prstGeom>
          <a:solidFill>
            <a:srgbClr val="4E4E82"/>
          </a:solidFill>
          <a:ln w="12700">
            <a:solidFill>
              <a:srgbClr val="333333"/>
            </a:solidFill>
            <a:prstDash val="solid"/>
          </a:ln>
        </p:spPr>
      </p:sp>
      <p:sp>
        <p:nvSpPr>
          <p:cNvPr id="21" name="Text 19"/>
          <p:cNvSpPr txBox="1"/>
          <p:nvPr/>
        </p:nvSpPr>
        <p:spPr>
          <a:xfrm>
            <a:off x="566928" y="3456432"/>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txBox="1"/>
          <p:nvPr/>
        </p:nvSpPr>
        <p:spPr>
          <a:xfrm>
            <a:off x="1152144" y="3364992"/>
            <a:ext cx="7680960" cy="329184"/>
          </a:xfrm>
          <a:prstGeom prst="rect">
            <a:avLst/>
          </a:prstGeom>
          <a:noFill/>
          <a:ln/>
        </p:spPr>
        <p:txBody>
          <a:bodyPr wrap="square" lIns="0" tIns="0" rIns="0" bIns="0" rtlCol="0" anchor="ctr"/>
          <a:lstStyle/>
          <a:p>
            <a:pPr indent="0" marL="0">
              <a:buNone/>
            </a:pPr>
            <a:r>
              <a:rPr lang="en-US" sz="1650" b="1" dirty="0">
                <a:solidFill>
                  <a:srgbClr val="191927"/>
                </a:solidFill>
                <a:latin typeface="Cambria" pitchFamily="34" charset="0"/>
                <a:ea typeface="Cambria" pitchFamily="34" charset="-122"/>
                <a:cs typeface="Cambria" pitchFamily="34" charset="-120"/>
              </a:rPr>
              <a:t>Does it work?</a:t>
            </a:r>
            <a:endParaRPr lang="en-US" sz="1650" dirty="0"/>
          </a:p>
        </p:txBody>
      </p:sp>
      <p:sp>
        <p:nvSpPr>
          <p:cNvPr id="23" name="Text 21"/>
          <p:cNvSpPr txBox="1"/>
          <p:nvPr/>
        </p:nvSpPr>
        <p:spPr>
          <a:xfrm>
            <a:off x="1152144" y="3712464"/>
            <a:ext cx="8229600" cy="274320"/>
          </a:xfrm>
          <a:prstGeom prst="rect">
            <a:avLst/>
          </a:prstGeom>
          <a:noFill/>
          <a:ln/>
        </p:spPr>
        <p:txBody>
          <a:bodyPr wrap="square" lIns="0" tIns="0" rIns="0" bIns="0" rtlCol="0" anchor="ctr"/>
          <a:lstStyle/>
          <a:p>
            <a:pPr indent="0" marL="0">
              <a:buNone/>
            </a:pPr>
            <a:r>
              <a:rPr lang="en-US" sz="1250" dirty="0">
                <a:solidFill>
                  <a:srgbClr val="5F5F79"/>
                </a:solidFill>
                <a:latin typeface="Calibri" pitchFamily="34" charset="0"/>
                <a:ea typeface="Calibri" pitchFamily="34" charset="-122"/>
                <a:cs typeface="Calibri" pitchFamily="34" charset="-120"/>
              </a:rPr>
              <a:t>Low- and high-resource speech recognition results</a:t>
            </a:r>
            <a:endParaRPr lang="en-US" sz="1250" dirty="0"/>
          </a:p>
        </p:txBody>
      </p:sp>
      <p:sp>
        <p:nvSpPr>
          <p:cNvPr id="24" name="Text 22"/>
          <p:cNvSpPr txBox="1"/>
          <p:nvPr/>
        </p:nvSpPr>
        <p:spPr>
          <a:xfrm>
            <a:off x="9692640" y="3456432"/>
            <a:ext cx="1737360" cy="310896"/>
          </a:xfrm>
          <a:prstGeom prst="rect">
            <a:avLst/>
          </a:prstGeom>
          <a:noFill/>
          <a:ln/>
        </p:spPr>
        <p:txBody>
          <a:bodyPr wrap="square" lIns="0" tIns="0" rIns="0" bIns="0" rtlCol="0" anchor="ctr"/>
          <a:lstStyle/>
          <a:p>
            <a:pPr algn="r" indent="0" marL="0">
              <a:buNone/>
            </a:pPr>
            <a:r>
              <a:rPr lang="en-US" sz="1300" b="1" dirty="0">
                <a:solidFill>
                  <a:srgbClr val="C94F7C"/>
                </a:solidFill>
                <a:latin typeface="Calibri" pitchFamily="34" charset="0"/>
                <a:ea typeface="Calibri" pitchFamily="34" charset="-122"/>
                <a:cs typeface="Calibri" pitchFamily="34" charset="-120"/>
              </a:rPr>
              <a:t>7 min</a:t>
            </a:r>
            <a:endParaRPr lang="en-US" sz="1300" dirty="0"/>
          </a:p>
        </p:txBody>
      </p:sp>
      <p:sp>
        <p:nvSpPr>
          <p:cNvPr id="25" name="Shape 23"/>
          <p:cNvSpPr/>
          <p:nvPr/>
        </p:nvSpPr>
        <p:spPr>
          <a:xfrm>
            <a:off x="566928" y="4279392"/>
            <a:ext cx="420624" cy="420624"/>
          </a:xfrm>
          <a:prstGeom prst="ellipse">
            <a:avLst/>
          </a:prstGeom>
          <a:solidFill>
            <a:srgbClr val="4E4E82"/>
          </a:solidFill>
          <a:ln w="12700">
            <a:solidFill>
              <a:srgbClr val="333333"/>
            </a:solidFill>
            <a:prstDash val="solid"/>
          </a:ln>
        </p:spPr>
      </p:sp>
      <p:sp>
        <p:nvSpPr>
          <p:cNvPr id="26" name="Text 24"/>
          <p:cNvSpPr txBox="1"/>
          <p:nvPr/>
        </p:nvSpPr>
        <p:spPr>
          <a:xfrm>
            <a:off x="566928" y="4315968"/>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txBox="1"/>
          <p:nvPr/>
        </p:nvSpPr>
        <p:spPr>
          <a:xfrm>
            <a:off x="1152144" y="4224528"/>
            <a:ext cx="7680960" cy="329184"/>
          </a:xfrm>
          <a:prstGeom prst="rect">
            <a:avLst/>
          </a:prstGeom>
          <a:noFill/>
          <a:ln/>
        </p:spPr>
        <p:txBody>
          <a:bodyPr wrap="square" lIns="0" tIns="0" rIns="0" bIns="0" rtlCol="0" anchor="ctr"/>
          <a:lstStyle/>
          <a:p>
            <a:pPr indent="0" marL="0">
              <a:buNone/>
            </a:pPr>
            <a:r>
              <a:rPr lang="en-US" sz="1650" b="1" dirty="0">
                <a:solidFill>
                  <a:srgbClr val="191927"/>
                </a:solidFill>
                <a:latin typeface="Cambria" pitchFamily="34" charset="0"/>
                <a:ea typeface="Cambria" pitchFamily="34" charset="-122"/>
                <a:cs typeface="Cambria" pitchFamily="34" charset="-120"/>
              </a:rPr>
              <a:t>Why it works</a:t>
            </a:r>
            <a:endParaRPr lang="en-US" sz="1650" dirty="0"/>
          </a:p>
        </p:txBody>
      </p:sp>
      <p:sp>
        <p:nvSpPr>
          <p:cNvPr id="28" name="Text 26"/>
          <p:cNvSpPr txBox="1"/>
          <p:nvPr/>
        </p:nvSpPr>
        <p:spPr>
          <a:xfrm>
            <a:off x="1152144" y="4572000"/>
            <a:ext cx="8229600" cy="274320"/>
          </a:xfrm>
          <a:prstGeom prst="rect">
            <a:avLst/>
          </a:prstGeom>
          <a:noFill/>
          <a:ln/>
        </p:spPr>
        <p:txBody>
          <a:bodyPr wrap="square" lIns="0" tIns="0" rIns="0" bIns="0" rtlCol="0" anchor="ctr"/>
          <a:lstStyle/>
          <a:p>
            <a:pPr indent="0" marL="0">
              <a:buNone/>
            </a:pPr>
            <a:r>
              <a:rPr lang="en-US" sz="1250" dirty="0">
                <a:solidFill>
                  <a:srgbClr val="5F5F79"/>
                </a:solidFill>
                <a:latin typeface="Calibri" pitchFamily="34" charset="0"/>
                <a:ea typeface="Calibri" pitchFamily="34" charset="-122"/>
                <a:cs typeface="Calibri" pitchFamily="34" charset="-120"/>
              </a:rPr>
              <a:t>The analyses — this is the interesting half</a:t>
            </a:r>
            <a:endParaRPr lang="en-US" sz="1250" dirty="0"/>
          </a:p>
        </p:txBody>
      </p:sp>
      <p:sp>
        <p:nvSpPr>
          <p:cNvPr id="29" name="Text 27"/>
          <p:cNvSpPr txBox="1"/>
          <p:nvPr/>
        </p:nvSpPr>
        <p:spPr>
          <a:xfrm>
            <a:off x="9692640" y="4315968"/>
            <a:ext cx="1737360" cy="310896"/>
          </a:xfrm>
          <a:prstGeom prst="rect">
            <a:avLst/>
          </a:prstGeom>
          <a:noFill/>
          <a:ln/>
        </p:spPr>
        <p:txBody>
          <a:bodyPr wrap="square" lIns="0" tIns="0" rIns="0" bIns="0" rtlCol="0" anchor="ctr"/>
          <a:lstStyle/>
          <a:p>
            <a:pPr algn="r" indent="0" marL="0">
              <a:buNone/>
            </a:pPr>
            <a:r>
              <a:rPr lang="en-US" sz="1300" b="1" dirty="0">
                <a:solidFill>
                  <a:srgbClr val="C94F7C"/>
                </a:solidFill>
                <a:latin typeface="Calibri" pitchFamily="34" charset="0"/>
                <a:ea typeface="Calibri" pitchFamily="34" charset="-122"/>
                <a:cs typeface="Calibri" pitchFamily="34" charset="-120"/>
              </a:rPr>
              <a:t>10 min</a:t>
            </a:r>
            <a:endParaRPr lang="en-US" sz="1300" dirty="0"/>
          </a:p>
        </p:txBody>
      </p:sp>
      <p:sp>
        <p:nvSpPr>
          <p:cNvPr id="30" name="Shape 28"/>
          <p:cNvSpPr/>
          <p:nvPr/>
        </p:nvSpPr>
        <p:spPr>
          <a:xfrm>
            <a:off x="566928" y="5138928"/>
            <a:ext cx="420624" cy="420624"/>
          </a:xfrm>
          <a:prstGeom prst="ellipse">
            <a:avLst/>
          </a:prstGeom>
          <a:solidFill>
            <a:srgbClr val="4E4E82"/>
          </a:solidFill>
          <a:ln w="12700">
            <a:solidFill>
              <a:srgbClr val="333333"/>
            </a:solidFill>
            <a:prstDash val="solid"/>
          </a:ln>
        </p:spPr>
      </p:sp>
      <p:sp>
        <p:nvSpPr>
          <p:cNvPr id="31" name="Text 29"/>
          <p:cNvSpPr txBox="1"/>
          <p:nvPr/>
        </p:nvSpPr>
        <p:spPr>
          <a:xfrm>
            <a:off x="566928" y="5175504"/>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2" name="Text 30"/>
          <p:cNvSpPr txBox="1"/>
          <p:nvPr/>
        </p:nvSpPr>
        <p:spPr>
          <a:xfrm>
            <a:off x="1152144" y="5084064"/>
            <a:ext cx="7680960" cy="329184"/>
          </a:xfrm>
          <a:prstGeom prst="rect">
            <a:avLst/>
          </a:prstGeom>
          <a:noFill/>
          <a:ln/>
        </p:spPr>
        <p:txBody>
          <a:bodyPr wrap="square" lIns="0" tIns="0" rIns="0" bIns="0" rtlCol="0" anchor="ctr"/>
          <a:lstStyle/>
          <a:p>
            <a:pPr indent="0" marL="0">
              <a:buNone/>
            </a:pPr>
            <a:r>
              <a:rPr lang="en-US" sz="1650" b="1" dirty="0">
                <a:solidFill>
                  <a:srgbClr val="191927"/>
                </a:solidFill>
                <a:latin typeface="Cambria" pitchFamily="34" charset="0"/>
                <a:ea typeface="Cambria" pitchFamily="34" charset="-122"/>
                <a:cs typeface="Cambria" pitchFamily="34" charset="-120"/>
              </a:rPr>
              <a:t>Appraisal and legacy</a:t>
            </a:r>
            <a:endParaRPr lang="en-US" sz="1650" dirty="0"/>
          </a:p>
        </p:txBody>
      </p:sp>
      <p:sp>
        <p:nvSpPr>
          <p:cNvPr id="33" name="Text 31"/>
          <p:cNvSpPr txBox="1"/>
          <p:nvPr/>
        </p:nvSpPr>
        <p:spPr>
          <a:xfrm>
            <a:off x="1152144" y="5431536"/>
            <a:ext cx="8229600" cy="274320"/>
          </a:xfrm>
          <a:prstGeom prst="rect">
            <a:avLst/>
          </a:prstGeom>
          <a:noFill/>
          <a:ln/>
        </p:spPr>
        <p:txBody>
          <a:bodyPr wrap="square" lIns="0" tIns="0" rIns="0" bIns="0" rtlCol="0" anchor="ctr"/>
          <a:lstStyle/>
          <a:p>
            <a:pPr indent="0" marL="0">
              <a:buNone/>
            </a:pPr>
            <a:r>
              <a:rPr lang="en-US" sz="1250" dirty="0">
                <a:solidFill>
                  <a:srgbClr val="5F5F79"/>
                </a:solidFill>
                <a:latin typeface="Calibri" pitchFamily="34" charset="0"/>
                <a:ea typeface="Calibri" pitchFamily="34" charset="-122"/>
                <a:cs typeface="Calibri" pitchFamily="34" charset="-120"/>
              </a:rPr>
              <a:t>What HuBERT enabled, and what it left open</a:t>
            </a:r>
            <a:endParaRPr lang="en-US" sz="1250" dirty="0"/>
          </a:p>
        </p:txBody>
      </p:sp>
      <p:sp>
        <p:nvSpPr>
          <p:cNvPr id="34" name="Text 32"/>
          <p:cNvSpPr txBox="1"/>
          <p:nvPr/>
        </p:nvSpPr>
        <p:spPr>
          <a:xfrm>
            <a:off x="9692640" y="5175504"/>
            <a:ext cx="1737360" cy="310896"/>
          </a:xfrm>
          <a:prstGeom prst="rect">
            <a:avLst/>
          </a:prstGeom>
          <a:noFill/>
          <a:ln/>
        </p:spPr>
        <p:txBody>
          <a:bodyPr wrap="square" lIns="0" tIns="0" rIns="0" bIns="0" rtlCol="0" anchor="ctr"/>
          <a:lstStyle/>
          <a:p>
            <a:pPr algn="r" indent="0" marL="0">
              <a:buNone/>
            </a:pPr>
            <a:r>
              <a:rPr lang="en-US" sz="1300" b="1" dirty="0">
                <a:solidFill>
                  <a:srgbClr val="C94F7C"/>
                </a:solidFill>
                <a:latin typeface="Calibri" pitchFamily="34" charset="0"/>
                <a:ea typeface="Calibri" pitchFamily="34" charset="-122"/>
                <a:cs typeface="Calibri" pitchFamily="34" charset="-120"/>
              </a:rPr>
              <a:t>4 min</a:t>
            </a:r>
            <a:endParaRPr lang="en-US" sz="1300" dirty="0"/>
          </a:p>
        </p:txBody>
      </p:sp>
      <p:sp>
        <p:nvSpPr>
          <p:cNvPr id="35" name="Shape 33"/>
          <p:cNvSpPr/>
          <p:nvPr/>
        </p:nvSpPr>
        <p:spPr>
          <a:xfrm>
            <a:off x="566928" y="5888736"/>
            <a:ext cx="11064240" cy="18288"/>
          </a:xfrm>
          <a:prstGeom prst="roundRect">
            <a:avLst>
              <a:gd name="adj" fmla="val 300000"/>
            </a:avLst>
          </a:prstGeom>
          <a:solidFill>
            <a:srgbClr val="FFFFFF"/>
          </a:solidFill>
          <a:ln w="12700">
            <a:solidFill>
              <a:srgbClr val="FFFFF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Why this paper matters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The model that became the default speech backbone</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3</a:t>
            </a:r>
            <a:endParaRPr lang="en-US" sz="900" dirty="0"/>
          </a:p>
        </p:txBody>
      </p:sp>
      <p:sp>
        <p:nvSpPr>
          <p:cNvPr id="10" name="Text 8"/>
          <p:cNvSpPr txBox="1"/>
          <p:nvPr/>
        </p:nvSpPr>
        <p:spPr>
          <a:xfrm>
            <a:off x="566928" y="1554480"/>
            <a:ext cx="2697480" cy="694944"/>
          </a:xfrm>
          <a:prstGeom prst="rect">
            <a:avLst/>
          </a:prstGeom>
          <a:noFill/>
          <a:ln/>
        </p:spPr>
        <p:txBody>
          <a:bodyPr wrap="square" lIns="0" tIns="0" rIns="0" bIns="0" rtlCol="0" anchor="ctr"/>
          <a:lstStyle/>
          <a:p>
            <a:pPr algn="ctr" indent="0" marL="0">
              <a:buNone/>
            </a:pPr>
            <a:r>
              <a:rPr lang="en-US" sz="3400" b="1" dirty="0">
                <a:solidFill>
                  <a:srgbClr val="4E4E82"/>
                </a:solidFill>
                <a:latin typeface="Cambria" pitchFamily="34" charset="0"/>
                <a:ea typeface="Cambria" pitchFamily="34" charset="-122"/>
                <a:cs typeface="Cambria" pitchFamily="34" charset="-120"/>
              </a:rPr>
              <a:t>100</a:t>
            </a:r>
            <a:endParaRPr lang="en-US" sz="3400" dirty="0"/>
          </a:p>
        </p:txBody>
      </p:sp>
      <p:sp>
        <p:nvSpPr>
          <p:cNvPr id="11" name="Text 9"/>
          <p:cNvSpPr txBox="1"/>
          <p:nvPr/>
        </p:nvSpPr>
        <p:spPr>
          <a:xfrm>
            <a:off x="566928" y="2249424"/>
            <a:ext cx="2697480" cy="566928"/>
          </a:xfrm>
          <a:prstGeom prst="rect">
            <a:avLst/>
          </a:prstGeom>
          <a:noFill/>
          <a:ln/>
        </p:spPr>
        <p:txBody>
          <a:bodyPr wrap="square" lIns="0" tIns="0" rIns="0" bIns="0" rtlCol="0" anchor="ctr"/>
          <a:lstStyle/>
          <a:p>
            <a:pPr algn="ctr" indent="0" marL="0">
              <a:buNone/>
            </a:pPr>
            <a:r>
              <a:rPr lang="en-US" sz="1150" dirty="0">
                <a:solidFill>
                  <a:srgbClr val="5F5F79"/>
                </a:solidFill>
                <a:latin typeface="Calibri" pitchFamily="34" charset="0"/>
                <a:ea typeface="Calibri" pitchFamily="34" charset="-122"/>
                <a:cs typeface="Calibri" pitchFamily="34" charset="-120"/>
              </a:rPr>
              <a:t>k-means clusters on MFCCs —</a:t>
            </a:r>
            <a:endParaRPr lang="en-US" sz="1150" dirty="0"/>
          </a:p>
          <a:p>
            <a:pPr algn="ctr" indent="0" marL="0">
              <a:buNone/>
            </a:pPr>
            <a:r>
              <a:rPr lang="en-US" sz="1150" dirty="0">
                <a:solidFill>
                  <a:srgbClr val="5F5F79"/>
                </a:solidFill>
                <a:latin typeface="Calibri" pitchFamily="34" charset="0"/>
                <a:ea typeface="Calibri" pitchFamily="34" charset="-122"/>
                <a:cs typeface="Calibri" pitchFamily="34" charset="-120"/>
              </a:rPr>
              <a:t>the entire first teacher</a:t>
            </a:r>
            <a:endParaRPr lang="en-US" sz="1150" dirty="0"/>
          </a:p>
        </p:txBody>
      </p:sp>
      <p:sp>
        <p:nvSpPr>
          <p:cNvPr id="12" name="Text 10"/>
          <p:cNvSpPr txBox="1"/>
          <p:nvPr/>
        </p:nvSpPr>
        <p:spPr>
          <a:xfrm>
            <a:off x="3392424" y="1554480"/>
            <a:ext cx="2697480" cy="694944"/>
          </a:xfrm>
          <a:prstGeom prst="rect">
            <a:avLst/>
          </a:prstGeom>
          <a:noFill/>
          <a:ln/>
        </p:spPr>
        <p:txBody>
          <a:bodyPr wrap="square" lIns="0" tIns="0" rIns="0" bIns="0" rtlCol="0" anchor="ctr"/>
          <a:lstStyle/>
          <a:p>
            <a:pPr algn="ctr" indent="0" marL="0">
              <a:buNone/>
            </a:pPr>
            <a:r>
              <a:rPr lang="en-US" sz="3400" b="1" dirty="0">
                <a:solidFill>
                  <a:srgbClr val="C94F7C"/>
                </a:solidFill>
                <a:latin typeface="Cambria" pitchFamily="34" charset="0"/>
                <a:ea typeface="Cambria" pitchFamily="34" charset="-122"/>
                <a:cs typeface="Cambria" pitchFamily="34" charset="-120"/>
              </a:rPr>
              <a:t>2</a:t>
            </a:r>
            <a:endParaRPr lang="en-US" sz="3400" dirty="0"/>
          </a:p>
        </p:txBody>
      </p:sp>
      <p:sp>
        <p:nvSpPr>
          <p:cNvPr id="13" name="Text 11"/>
          <p:cNvSpPr txBox="1"/>
          <p:nvPr/>
        </p:nvSpPr>
        <p:spPr>
          <a:xfrm>
            <a:off x="3392424" y="2249424"/>
            <a:ext cx="2697480" cy="566928"/>
          </a:xfrm>
          <a:prstGeom prst="rect">
            <a:avLst/>
          </a:prstGeom>
          <a:noFill/>
          <a:ln/>
        </p:spPr>
        <p:txBody>
          <a:bodyPr wrap="square" lIns="0" tIns="0" rIns="0" bIns="0" rtlCol="0" anchor="ctr"/>
          <a:lstStyle/>
          <a:p>
            <a:pPr algn="ctr" indent="0" marL="0">
              <a:buNone/>
            </a:pPr>
            <a:r>
              <a:rPr lang="en-US" sz="1150" dirty="0">
                <a:solidFill>
                  <a:srgbClr val="5F5F79"/>
                </a:solidFill>
                <a:latin typeface="Calibri" pitchFamily="34" charset="0"/>
                <a:ea typeface="Calibri" pitchFamily="34" charset="-122"/>
                <a:cs typeface="Calibri" pitchFamily="34" charset="-120"/>
              </a:rPr>
              <a:t>iterations of clustering to reach</a:t>
            </a:r>
            <a:endParaRPr lang="en-US" sz="1150" dirty="0"/>
          </a:p>
          <a:p>
            <a:pPr algn="ctr" indent="0" marL="0">
              <a:buNone/>
            </a:pPr>
            <a:r>
              <a:rPr lang="en-US" sz="1150" dirty="0">
                <a:solidFill>
                  <a:srgbClr val="5F5F79"/>
                </a:solidFill>
                <a:latin typeface="Calibri" pitchFamily="34" charset="0"/>
                <a:ea typeface="Calibri" pitchFamily="34" charset="-122"/>
                <a:cs typeface="Calibri" pitchFamily="34" charset="-120"/>
              </a:rPr>
              <a:t>state of the art</a:t>
            </a:r>
            <a:endParaRPr lang="en-US" sz="1150" dirty="0"/>
          </a:p>
        </p:txBody>
      </p:sp>
      <p:sp>
        <p:nvSpPr>
          <p:cNvPr id="14" name="Text 12"/>
          <p:cNvSpPr txBox="1"/>
          <p:nvPr/>
        </p:nvSpPr>
        <p:spPr>
          <a:xfrm>
            <a:off x="6217920" y="1554480"/>
            <a:ext cx="2697480" cy="694944"/>
          </a:xfrm>
          <a:prstGeom prst="rect">
            <a:avLst/>
          </a:prstGeom>
          <a:noFill/>
          <a:ln/>
        </p:spPr>
        <p:txBody>
          <a:bodyPr wrap="square" lIns="0" tIns="0" rIns="0" bIns="0" rtlCol="0" anchor="ctr"/>
          <a:lstStyle/>
          <a:p>
            <a:pPr algn="ctr" indent="0" marL="0">
              <a:buNone/>
            </a:pPr>
            <a:r>
              <a:rPr lang="en-US" sz="3400" b="1" dirty="0">
                <a:solidFill>
                  <a:srgbClr val="4E4E82"/>
                </a:solidFill>
                <a:latin typeface="Cambria" pitchFamily="34" charset="0"/>
                <a:ea typeface="Cambria" pitchFamily="34" charset="-122"/>
                <a:cs typeface="Cambria" pitchFamily="34" charset="-120"/>
              </a:rPr>
              <a:t>964M</a:t>
            </a:r>
            <a:endParaRPr lang="en-US" sz="3400" dirty="0"/>
          </a:p>
        </p:txBody>
      </p:sp>
      <p:sp>
        <p:nvSpPr>
          <p:cNvPr id="15" name="Text 13"/>
          <p:cNvSpPr txBox="1"/>
          <p:nvPr/>
        </p:nvSpPr>
        <p:spPr>
          <a:xfrm>
            <a:off x="6217920" y="2249424"/>
            <a:ext cx="2697480" cy="566928"/>
          </a:xfrm>
          <a:prstGeom prst="rect">
            <a:avLst/>
          </a:prstGeom>
          <a:noFill/>
          <a:ln/>
        </p:spPr>
        <p:txBody>
          <a:bodyPr wrap="square" lIns="0" tIns="0" rIns="0" bIns="0" rtlCol="0" anchor="ctr"/>
          <a:lstStyle/>
          <a:p>
            <a:pPr algn="ctr" indent="0" marL="0">
              <a:buNone/>
            </a:pPr>
            <a:r>
              <a:rPr lang="en-US" sz="1150" dirty="0">
                <a:solidFill>
                  <a:srgbClr val="5F5F79"/>
                </a:solidFill>
                <a:latin typeface="Calibri" pitchFamily="34" charset="0"/>
                <a:ea typeface="Calibri" pitchFamily="34" charset="-122"/>
                <a:cs typeface="Calibri" pitchFamily="34" charset="-120"/>
              </a:rPr>
              <a:t>parameters in the X-LARGE model</a:t>
            </a:r>
            <a:endParaRPr lang="en-US" sz="1150" dirty="0"/>
          </a:p>
        </p:txBody>
      </p:sp>
      <p:sp>
        <p:nvSpPr>
          <p:cNvPr id="16" name="Text 14"/>
          <p:cNvSpPr txBox="1"/>
          <p:nvPr/>
        </p:nvSpPr>
        <p:spPr>
          <a:xfrm>
            <a:off x="9043416" y="1554480"/>
            <a:ext cx="2587752" cy="694944"/>
          </a:xfrm>
          <a:prstGeom prst="rect">
            <a:avLst/>
          </a:prstGeom>
          <a:noFill/>
          <a:ln/>
        </p:spPr>
        <p:txBody>
          <a:bodyPr wrap="square" lIns="0" tIns="0" rIns="0" bIns="0" rtlCol="0" anchor="ctr"/>
          <a:lstStyle/>
          <a:p>
            <a:pPr algn="ctr" indent="0" marL="0">
              <a:buNone/>
            </a:pPr>
            <a:r>
              <a:rPr lang="en-US" sz="3400" b="1" dirty="0">
                <a:solidFill>
                  <a:srgbClr val="C94F7C"/>
                </a:solidFill>
                <a:latin typeface="Cambria" pitchFamily="34" charset="0"/>
                <a:ea typeface="Cambria" pitchFamily="34" charset="-122"/>
                <a:cs typeface="Cambria" pitchFamily="34" charset="-120"/>
              </a:rPr>
              <a:t>13%</a:t>
            </a:r>
            <a:endParaRPr lang="en-US" sz="3400" dirty="0"/>
          </a:p>
        </p:txBody>
      </p:sp>
      <p:sp>
        <p:nvSpPr>
          <p:cNvPr id="17" name="Text 15"/>
          <p:cNvSpPr txBox="1"/>
          <p:nvPr/>
        </p:nvSpPr>
        <p:spPr>
          <a:xfrm>
            <a:off x="9043416" y="2249424"/>
            <a:ext cx="2587752" cy="566928"/>
          </a:xfrm>
          <a:prstGeom prst="rect">
            <a:avLst/>
          </a:prstGeom>
          <a:noFill/>
          <a:ln/>
        </p:spPr>
        <p:txBody>
          <a:bodyPr wrap="square" lIns="0" tIns="0" rIns="0" bIns="0" rtlCol="0" anchor="ctr"/>
          <a:lstStyle/>
          <a:p>
            <a:pPr algn="ctr" indent="0" marL="0">
              <a:buNone/>
            </a:pPr>
            <a:r>
              <a:rPr lang="en-US" sz="1150" dirty="0">
                <a:solidFill>
                  <a:srgbClr val="5F5F79"/>
                </a:solidFill>
                <a:latin typeface="Calibri" pitchFamily="34" charset="0"/>
                <a:ea typeface="Calibri" pitchFamily="34" charset="-122"/>
                <a:cs typeface="Calibri" pitchFamily="34" charset="-120"/>
              </a:rPr>
              <a:t>relative WER reduction on</a:t>
            </a:r>
            <a:endParaRPr lang="en-US" sz="1150" dirty="0"/>
          </a:p>
          <a:p>
            <a:pPr algn="ctr" indent="0" marL="0">
              <a:buNone/>
            </a:pPr>
            <a:r>
              <a:rPr lang="en-US" sz="1150" dirty="0">
                <a:solidFill>
                  <a:srgbClr val="5F5F79"/>
                </a:solidFill>
                <a:latin typeface="Calibri" pitchFamily="34" charset="0"/>
                <a:ea typeface="Calibri" pitchFamily="34" charset="-122"/>
                <a:cs typeface="Calibri" pitchFamily="34" charset="-120"/>
              </a:rPr>
              <a:t>test-other from scaling to 1B</a:t>
            </a:r>
            <a:endParaRPr lang="en-US" sz="1150" dirty="0"/>
          </a:p>
        </p:txBody>
      </p:sp>
      <p:sp>
        <p:nvSpPr>
          <p:cNvPr id="18" name="Shape 16"/>
          <p:cNvSpPr/>
          <p:nvPr/>
        </p:nvSpPr>
        <p:spPr>
          <a:xfrm>
            <a:off x="566928" y="3200400"/>
            <a:ext cx="11064240" cy="1371600"/>
          </a:xfrm>
          <a:prstGeom prst="roundRect">
            <a:avLst>
              <a:gd name="adj" fmla="val 4000"/>
            </a:avLst>
          </a:prstGeom>
          <a:solidFill>
            <a:srgbClr val="F2F2F7"/>
          </a:solidFill>
          <a:ln w="12700">
            <a:solidFill>
              <a:srgbClr val="E3E3EC"/>
            </a:solidFill>
            <a:prstDash val="solid"/>
          </a:ln>
        </p:spPr>
      </p:sp>
      <p:sp>
        <p:nvSpPr>
          <p:cNvPr id="19" name="Shape 17"/>
          <p:cNvSpPr/>
          <p:nvPr/>
        </p:nvSpPr>
        <p:spPr>
          <a:xfrm>
            <a:off x="786384" y="3493008"/>
            <a:ext cx="109728" cy="109728"/>
          </a:xfrm>
          <a:prstGeom prst="ellipse">
            <a:avLst/>
          </a:prstGeom>
          <a:solidFill>
            <a:srgbClr val="4E4E82"/>
          </a:solidFill>
          <a:ln w="12700">
            <a:solidFill>
              <a:srgbClr val="333333"/>
            </a:solidFill>
            <a:prstDash val="solid"/>
          </a:ln>
        </p:spPr>
      </p:sp>
      <p:sp>
        <p:nvSpPr>
          <p:cNvPr id="20" name="Text 18"/>
          <p:cNvSpPr txBox="1"/>
          <p:nvPr/>
        </p:nvSpPr>
        <p:spPr>
          <a:xfrm>
            <a:off x="987552" y="3364992"/>
            <a:ext cx="10424160"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The claim</a:t>
            </a:r>
            <a:endParaRPr lang="en-US" sz="1500" dirty="0"/>
          </a:p>
        </p:txBody>
      </p:sp>
      <p:sp>
        <p:nvSpPr>
          <p:cNvPr id="21" name="Text 19"/>
          <p:cNvSpPr txBox="1"/>
          <p:nvPr/>
        </p:nvSpPr>
        <p:spPr>
          <a:xfrm>
            <a:off x="822960" y="3803904"/>
            <a:ext cx="10552176" cy="585216"/>
          </a:xfrm>
          <a:prstGeom prst="rect">
            <a:avLst/>
          </a:prstGeom>
          <a:noFill/>
          <a:ln/>
        </p:spPr>
        <p:txBody>
          <a:bodyPr wrap="square" lIns="0" tIns="0" rIns="0" bIns="0" rtlCol="0" anchor="t"/>
          <a:lstStyle/>
          <a:p>
            <a:pPr indent="0" marL="0">
              <a:lnSpc>
                <a:spcPct val="108000"/>
              </a:lnSpc>
              <a:buNone/>
            </a:pPr>
            <a:r>
              <a:rPr lang="en-US" sz="1340" dirty="0">
                <a:solidFill>
                  <a:srgbClr val="33334A"/>
                </a:solidFill>
                <a:latin typeface="Calibri" pitchFamily="34" charset="0"/>
                <a:ea typeface="Calibri" pitchFamily="34" charset="-122"/>
                <a:cs typeface="Calibri" pitchFamily="34" charset="-120"/>
              </a:rPr>
              <a:t>Run k-means on MFCC features to get crude frame labels. Train a BERT to predict those labels, but only on masked frames. Then re-cluster using the model's own intermediate representations and repeat. Two rounds of that matches or beats wav2vec 2.0 across every labelled-data setting.</a:t>
            </a:r>
            <a:endParaRPr lang="en-US" sz="1340" dirty="0"/>
          </a:p>
        </p:txBody>
      </p:sp>
      <p:sp>
        <p:nvSpPr>
          <p:cNvPr id="22" name="Shape 20"/>
          <p:cNvSpPr/>
          <p:nvPr/>
        </p:nvSpPr>
        <p:spPr>
          <a:xfrm>
            <a:off x="566928" y="4700016"/>
            <a:ext cx="11064240" cy="1353312"/>
          </a:xfrm>
          <a:prstGeom prst="roundRect">
            <a:avLst>
              <a:gd name="adj" fmla="val 4054"/>
            </a:avLst>
          </a:prstGeom>
          <a:solidFill>
            <a:srgbClr val="232336"/>
          </a:solidFill>
          <a:ln w="12700">
            <a:solidFill>
              <a:srgbClr val="232336"/>
            </a:solidFill>
            <a:prstDash val="solid"/>
          </a:ln>
        </p:spPr>
      </p:sp>
      <p:sp>
        <p:nvSpPr>
          <p:cNvPr id="23" name="Shape 21"/>
          <p:cNvSpPr/>
          <p:nvPr/>
        </p:nvSpPr>
        <p:spPr>
          <a:xfrm>
            <a:off x="786384" y="4992624"/>
            <a:ext cx="109728" cy="109728"/>
          </a:xfrm>
          <a:prstGeom prst="ellipse">
            <a:avLst/>
          </a:prstGeom>
          <a:solidFill>
            <a:srgbClr val="C94F7C"/>
          </a:solidFill>
          <a:ln w="12700">
            <a:solidFill>
              <a:srgbClr val="333333"/>
            </a:solidFill>
            <a:prstDash val="solid"/>
          </a:ln>
        </p:spPr>
      </p:sp>
      <p:sp>
        <p:nvSpPr>
          <p:cNvPr id="24" name="Text 22"/>
          <p:cNvSpPr txBox="1"/>
          <p:nvPr/>
        </p:nvSpPr>
        <p:spPr>
          <a:xfrm>
            <a:off x="987552" y="4864608"/>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idea underneath it</a:t>
            </a:r>
            <a:endParaRPr lang="en-US" sz="1500" dirty="0"/>
          </a:p>
        </p:txBody>
      </p:sp>
      <p:sp>
        <p:nvSpPr>
          <p:cNvPr id="25" name="Text 23"/>
          <p:cNvSpPr txBox="1"/>
          <p:nvPr/>
        </p:nvSpPr>
        <p:spPr>
          <a:xfrm>
            <a:off x="822960" y="5303520"/>
            <a:ext cx="10552176" cy="566928"/>
          </a:xfrm>
          <a:prstGeom prst="rect">
            <a:avLst/>
          </a:prstGeom>
          <a:noFill/>
          <a:ln/>
        </p:spPr>
        <p:txBody>
          <a:bodyPr wrap="square" lIns="0" tIns="0" rIns="0" bIns="0" rtlCol="0" anchor="t"/>
          <a:lstStyle/>
          <a:p>
            <a:pPr indent="0" marL="0">
              <a:lnSpc>
                <a:spcPct val="108000"/>
              </a:lnSpc>
              <a:buNone/>
            </a:pPr>
            <a:r>
              <a:rPr lang="en-US" sz="1340" dirty="0">
                <a:solidFill>
                  <a:srgbClr val="CFCFE2"/>
                </a:solidFill>
                <a:latin typeface="Calibri" pitchFamily="34" charset="0"/>
                <a:ea typeface="Calibri" pitchFamily="34" charset="-122"/>
                <a:cs typeface="Calibri" pitchFamily="34" charset="-120"/>
              </a:rPr>
              <a:t>HuBERT relies primarily on the consistency of the unsupervised clustering step rather than the intrinsic quality of the assigned cluster labels. The teacher can be almost worthless as a phonetic classifier and still be a perfectly good training signal — provided the model has to infer its labels from context rather than copy them.</a:t>
            </a:r>
            <a:endParaRPr lang="en-US" sz="13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10698480" y="5486400"/>
            <a:ext cx="146304" cy="146304"/>
          </a:xfrm>
          <a:prstGeom prst="ellipse">
            <a:avLst/>
          </a:prstGeom>
          <a:solidFill>
            <a:srgbClr val="CFCFE2"/>
          </a:solidFill>
          <a:ln w="12700">
            <a:solidFill>
              <a:srgbClr val="333333"/>
            </a:solidFill>
            <a:prstDash val="solid"/>
          </a:ln>
        </p:spPr>
      </p:sp>
      <p:sp>
        <p:nvSpPr>
          <p:cNvPr id="3" name="Shape 1"/>
          <p:cNvSpPr/>
          <p:nvPr/>
        </p:nvSpPr>
        <p:spPr>
          <a:xfrm>
            <a:off x="10991088" y="5303520"/>
            <a:ext cx="146304" cy="146304"/>
          </a:xfrm>
          <a:prstGeom prst="ellipse">
            <a:avLst/>
          </a:prstGeom>
          <a:solidFill>
            <a:srgbClr val="CFCFE2"/>
          </a:solidFill>
          <a:ln w="12700">
            <a:solidFill>
              <a:srgbClr val="333333"/>
            </a:solidFill>
            <a:prstDash val="solid"/>
          </a:ln>
        </p:spPr>
      </p:sp>
      <p:sp>
        <p:nvSpPr>
          <p:cNvPr id="4" name="Shape 2"/>
          <p:cNvSpPr/>
          <p:nvPr/>
        </p:nvSpPr>
        <p:spPr>
          <a:xfrm>
            <a:off x="11247120" y="5541264"/>
            <a:ext cx="237744" cy="237744"/>
          </a:xfrm>
          <a:prstGeom prst="ellipse">
            <a:avLst/>
          </a:prstGeom>
          <a:solidFill>
            <a:srgbClr val="C94F7C"/>
          </a:solidFill>
          <a:ln w="12700">
            <a:solidFill>
              <a:srgbClr val="333333"/>
            </a:solidFill>
            <a:prstDash val="solid"/>
          </a:ln>
        </p:spPr>
      </p:sp>
      <p:sp>
        <p:nvSpPr>
          <p:cNvPr id="5" name="Shape 3"/>
          <p:cNvSpPr/>
          <p:nvPr/>
        </p:nvSpPr>
        <p:spPr>
          <a:xfrm>
            <a:off x="10881360" y="5779008"/>
            <a:ext cx="146304" cy="146304"/>
          </a:xfrm>
          <a:prstGeom prst="ellipse">
            <a:avLst/>
          </a:prstGeom>
          <a:solidFill>
            <a:srgbClr val="CFCFE2"/>
          </a:solidFill>
          <a:ln w="12700">
            <a:solidFill>
              <a:srgbClr val="333333"/>
            </a:solidFill>
            <a:prstDash val="solid"/>
          </a:ln>
        </p:spPr>
      </p:sp>
      <p:sp>
        <p:nvSpPr>
          <p:cNvPr id="6" name="Shape 4"/>
          <p:cNvSpPr/>
          <p:nvPr/>
        </p:nvSpPr>
        <p:spPr>
          <a:xfrm>
            <a:off x="11210544" y="5852160"/>
            <a:ext cx="146304" cy="146304"/>
          </a:xfrm>
          <a:prstGeom prst="ellipse">
            <a:avLst/>
          </a:prstGeom>
          <a:solidFill>
            <a:srgbClr val="CFCFE2"/>
          </a:solidFill>
          <a:ln w="12700">
            <a:solidFill>
              <a:srgbClr val="333333"/>
            </a:solidFill>
            <a:prstDash val="solid"/>
          </a:ln>
        </p:spPr>
      </p:sp>
      <p:sp>
        <p:nvSpPr>
          <p:cNvPr id="7" name="Text 5"/>
          <p:cNvSpPr txBox="1"/>
          <p:nvPr/>
        </p:nvSpPr>
        <p:spPr>
          <a:xfrm>
            <a:off x="822960" y="2057400"/>
            <a:ext cx="1554480" cy="1005840"/>
          </a:xfrm>
          <a:prstGeom prst="rect">
            <a:avLst/>
          </a:prstGeom>
          <a:noFill/>
          <a:ln/>
        </p:spPr>
        <p:txBody>
          <a:bodyPr wrap="square" lIns="0" tIns="0" rIns="0" bIns="0" rtlCol="0" anchor="ctr"/>
          <a:lstStyle/>
          <a:p>
            <a:pPr indent="0" marL="0">
              <a:buNone/>
            </a:pPr>
            <a:r>
              <a:rPr lang="en-US" sz="6600" b="1" dirty="0">
                <a:solidFill>
                  <a:srgbClr val="C94F7C"/>
                </a:solidFill>
                <a:latin typeface="Cambria" pitchFamily="34" charset="0"/>
                <a:ea typeface="Cambria" pitchFamily="34" charset="-122"/>
                <a:cs typeface="Cambria" pitchFamily="34" charset="-120"/>
              </a:rPr>
              <a:t>1</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Three problems</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indent="0" marL="0">
              <a:buNone/>
            </a:pPr>
            <a:r>
              <a:rPr lang="en-US" sz="1500" dirty="0">
                <a:solidFill>
                  <a:srgbClr val="CFCFE2"/>
                </a:solidFill>
                <a:latin typeface="Calibri" pitchFamily="34" charset="0"/>
                <a:ea typeface="Calibri" pitchFamily="34" charset="-122"/>
                <a:cs typeface="Calibri" pitchFamily="34" charset="-120"/>
              </a:rPr>
              <a:t>Why masked prediction does not transfer directly from text</a:t>
            </a:r>
            <a:endParaRPr lang="en-US" sz="1500" dirty="0"/>
          </a:p>
        </p:txBody>
      </p:sp>
      <p:sp>
        <p:nvSpPr>
          <p:cNvPr id="10" name="Text 8"/>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The three problems, as the paper states them</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Every design decision in the method answers one of these</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5</a:t>
            </a:r>
            <a:endParaRPr lang="en-US" sz="900" dirty="0"/>
          </a:p>
        </p:txBody>
      </p:sp>
      <p:sp>
        <p:nvSpPr>
          <p:cNvPr id="10" name="Shape 8"/>
          <p:cNvSpPr/>
          <p:nvPr/>
        </p:nvSpPr>
        <p:spPr>
          <a:xfrm>
            <a:off x="566928" y="1572768"/>
            <a:ext cx="3584448" cy="2788920"/>
          </a:xfrm>
          <a:prstGeom prst="roundRect">
            <a:avLst>
              <a:gd name="adj" fmla="val 1967"/>
            </a:avLst>
          </a:prstGeom>
          <a:solidFill>
            <a:srgbClr val="F2F2F7"/>
          </a:solidFill>
          <a:ln w="12700">
            <a:solidFill>
              <a:srgbClr val="E3E3EC"/>
            </a:solidFill>
            <a:prstDash val="solid"/>
          </a:ln>
        </p:spPr>
      </p:sp>
      <p:sp>
        <p:nvSpPr>
          <p:cNvPr id="11" name="Shape 9"/>
          <p:cNvSpPr/>
          <p:nvPr/>
        </p:nvSpPr>
        <p:spPr>
          <a:xfrm>
            <a:off x="786384" y="1865376"/>
            <a:ext cx="109728" cy="109728"/>
          </a:xfrm>
          <a:prstGeom prst="ellipse">
            <a:avLst/>
          </a:prstGeom>
          <a:solidFill>
            <a:srgbClr val="4E4E82"/>
          </a:solidFill>
          <a:ln w="12700">
            <a:solidFill>
              <a:srgbClr val="333333"/>
            </a:solidFill>
            <a:prstDash val="solid"/>
          </a:ln>
        </p:spPr>
      </p:sp>
      <p:sp>
        <p:nvSpPr>
          <p:cNvPr id="12" name="Text 10"/>
          <p:cNvSpPr txBox="1"/>
          <p:nvPr/>
        </p:nvSpPr>
        <p:spPr>
          <a:xfrm>
            <a:off x="987552" y="1737360"/>
            <a:ext cx="2944368" cy="365760"/>
          </a:xfrm>
          <a:prstGeom prst="rect">
            <a:avLst/>
          </a:prstGeom>
          <a:noFill/>
          <a:ln/>
        </p:spPr>
        <p:txBody>
          <a:bodyPr wrap="square" lIns="0" tIns="0" rIns="0" bIns="0" rtlCol="0" anchor="ctr"/>
          <a:lstStyle/>
          <a:p>
            <a:pPr indent="0" marL="0">
              <a:buNone/>
            </a:pPr>
            <a:r>
              <a:rPr lang="en-US" sz="1550" b="1" dirty="0">
                <a:solidFill>
                  <a:srgbClr val="191927"/>
                </a:solidFill>
                <a:latin typeface="Cambria" pitchFamily="34" charset="0"/>
                <a:ea typeface="Cambria" pitchFamily="34" charset="-122"/>
                <a:cs typeface="Cambria" pitchFamily="34" charset="-120"/>
              </a:rPr>
              <a:t>Multiple sound units per utterance</a:t>
            </a:r>
            <a:endParaRPr lang="en-US" sz="1550" dirty="0"/>
          </a:p>
        </p:txBody>
      </p:sp>
      <p:sp>
        <p:nvSpPr>
          <p:cNvPr id="13" name="Text 11"/>
          <p:cNvSpPr txBox="1"/>
          <p:nvPr/>
        </p:nvSpPr>
        <p:spPr>
          <a:xfrm>
            <a:off x="822960" y="2176272"/>
            <a:ext cx="3072384" cy="2002536"/>
          </a:xfrm>
          <a:prstGeom prst="rect">
            <a:avLst/>
          </a:prstGeom>
          <a:noFill/>
          <a:ln/>
        </p:spPr>
        <p:txBody>
          <a:bodyPr wrap="square" lIns="0" tIns="0" rIns="0" bIns="0" rtlCol="0" anchor="t"/>
          <a:lstStyle/>
          <a:p>
            <a:pPr indent="0" marL="0">
              <a:lnSpc>
                <a:spcPct val="108000"/>
              </a:lnSpc>
              <a:buNone/>
            </a:pPr>
            <a:r>
              <a:rPr lang="en-US" sz="1220" dirty="0">
                <a:solidFill>
                  <a:srgbClr val="33334A"/>
                </a:solidFill>
                <a:latin typeface="Calibri" pitchFamily="34" charset="0"/>
                <a:ea typeface="Calibri" pitchFamily="34" charset="-122"/>
                <a:cs typeface="Calibri" pitchFamily="34" charset="-120"/>
              </a:rPr>
              <a:t>Computer vision pre-training often treats each image and its augmentations as one class to be pulled together. An utterance contains dozens of different sounds, so instance classification is meaningless here.</a:t>
            </a:r>
            <a:endParaRPr lang="en-US" sz="1220" dirty="0"/>
          </a:p>
        </p:txBody>
      </p:sp>
      <p:sp>
        <p:nvSpPr>
          <p:cNvPr id="14" name="Shape 12"/>
          <p:cNvSpPr/>
          <p:nvPr/>
        </p:nvSpPr>
        <p:spPr>
          <a:xfrm>
            <a:off x="4279392" y="1572768"/>
            <a:ext cx="3584448" cy="2788920"/>
          </a:xfrm>
          <a:prstGeom prst="roundRect">
            <a:avLst>
              <a:gd name="adj" fmla="val 1967"/>
            </a:avLst>
          </a:prstGeom>
          <a:solidFill>
            <a:srgbClr val="F2F2F7"/>
          </a:solidFill>
          <a:ln w="12700">
            <a:solidFill>
              <a:srgbClr val="E3E3EC"/>
            </a:solidFill>
            <a:prstDash val="solid"/>
          </a:ln>
        </p:spPr>
      </p:sp>
      <p:sp>
        <p:nvSpPr>
          <p:cNvPr id="15" name="Shape 13"/>
          <p:cNvSpPr/>
          <p:nvPr/>
        </p:nvSpPr>
        <p:spPr>
          <a:xfrm>
            <a:off x="4498848" y="1865376"/>
            <a:ext cx="109728" cy="109728"/>
          </a:xfrm>
          <a:prstGeom prst="ellipse">
            <a:avLst/>
          </a:prstGeom>
          <a:solidFill>
            <a:srgbClr val="C94F7C"/>
          </a:solidFill>
          <a:ln w="12700">
            <a:solidFill>
              <a:srgbClr val="333333"/>
            </a:solidFill>
            <a:prstDash val="solid"/>
          </a:ln>
        </p:spPr>
      </p:sp>
      <p:sp>
        <p:nvSpPr>
          <p:cNvPr id="16" name="Text 14"/>
          <p:cNvSpPr txBox="1"/>
          <p:nvPr/>
        </p:nvSpPr>
        <p:spPr>
          <a:xfrm>
            <a:off x="4700016" y="1737360"/>
            <a:ext cx="2944368" cy="365760"/>
          </a:xfrm>
          <a:prstGeom prst="rect">
            <a:avLst/>
          </a:prstGeom>
          <a:noFill/>
          <a:ln/>
        </p:spPr>
        <p:txBody>
          <a:bodyPr wrap="square" lIns="0" tIns="0" rIns="0" bIns="0" rtlCol="0" anchor="ctr"/>
          <a:lstStyle/>
          <a:p>
            <a:pPr indent="0" marL="0">
              <a:buNone/>
            </a:pPr>
            <a:r>
              <a:rPr lang="en-US" sz="1550" b="1" dirty="0">
                <a:solidFill>
                  <a:srgbClr val="191927"/>
                </a:solidFill>
                <a:latin typeface="Cambria" pitchFamily="34" charset="0"/>
                <a:ea typeface="Cambria" pitchFamily="34" charset="-122"/>
                <a:cs typeface="Cambria" pitchFamily="34" charset="-120"/>
              </a:rPr>
              <a:t>No lexicon of sound units</a:t>
            </a:r>
            <a:endParaRPr lang="en-US" sz="1550" dirty="0"/>
          </a:p>
        </p:txBody>
      </p:sp>
      <p:sp>
        <p:nvSpPr>
          <p:cNvPr id="17" name="Text 15"/>
          <p:cNvSpPr txBox="1"/>
          <p:nvPr/>
        </p:nvSpPr>
        <p:spPr>
          <a:xfrm>
            <a:off x="4535424" y="2176272"/>
            <a:ext cx="3072384" cy="2002536"/>
          </a:xfrm>
          <a:prstGeom prst="rect">
            <a:avLst/>
          </a:prstGeom>
          <a:noFill/>
          <a:ln/>
        </p:spPr>
        <p:txBody>
          <a:bodyPr wrap="square" lIns="0" tIns="0" rIns="0" bIns="0" rtlCol="0" anchor="t"/>
          <a:lstStyle/>
          <a:p>
            <a:pPr indent="0" marL="0">
              <a:lnSpc>
                <a:spcPct val="108000"/>
              </a:lnSpc>
              <a:buNone/>
            </a:pPr>
            <a:r>
              <a:rPr lang="en-US" sz="1220" dirty="0">
                <a:solidFill>
                  <a:srgbClr val="33334A"/>
                </a:solidFill>
                <a:latin typeface="Calibri" pitchFamily="34" charset="0"/>
                <a:ea typeface="Calibri" pitchFamily="34" charset="-122"/>
                <a:cs typeface="Calibri" pitchFamily="34" charset="-120"/>
              </a:rPr>
              <a:t>In NLP the vocabulary is given — words or word pieces. In speech there is no inventory to predict over, so a predictive loss has nothing to predict.</a:t>
            </a:r>
            <a:endParaRPr lang="en-US" sz="1220" dirty="0"/>
          </a:p>
        </p:txBody>
      </p:sp>
      <p:sp>
        <p:nvSpPr>
          <p:cNvPr id="18" name="Shape 16"/>
          <p:cNvSpPr/>
          <p:nvPr/>
        </p:nvSpPr>
        <p:spPr>
          <a:xfrm>
            <a:off x="7991856" y="1572768"/>
            <a:ext cx="3584448" cy="2788920"/>
          </a:xfrm>
          <a:prstGeom prst="roundRect">
            <a:avLst>
              <a:gd name="adj" fmla="val 1967"/>
            </a:avLst>
          </a:prstGeom>
          <a:solidFill>
            <a:srgbClr val="F2F2F7"/>
          </a:solidFill>
          <a:ln w="12700">
            <a:solidFill>
              <a:srgbClr val="E3E3EC"/>
            </a:solidFill>
            <a:prstDash val="solid"/>
          </a:ln>
        </p:spPr>
      </p:sp>
      <p:sp>
        <p:nvSpPr>
          <p:cNvPr id="19" name="Shape 17"/>
          <p:cNvSpPr/>
          <p:nvPr/>
        </p:nvSpPr>
        <p:spPr>
          <a:xfrm>
            <a:off x="8211312" y="1865376"/>
            <a:ext cx="109728" cy="109728"/>
          </a:xfrm>
          <a:prstGeom prst="ellipse">
            <a:avLst/>
          </a:prstGeom>
          <a:solidFill>
            <a:srgbClr val="4E4E82"/>
          </a:solidFill>
          <a:ln w="12700">
            <a:solidFill>
              <a:srgbClr val="333333"/>
            </a:solidFill>
            <a:prstDash val="solid"/>
          </a:ln>
        </p:spPr>
      </p:sp>
      <p:sp>
        <p:nvSpPr>
          <p:cNvPr id="20" name="Text 18"/>
          <p:cNvSpPr txBox="1"/>
          <p:nvPr/>
        </p:nvSpPr>
        <p:spPr>
          <a:xfrm>
            <a:off x="8412480" y="1737360"/>
            <a:ext cx="2944368" cy="365760"/>
          </a:xfrm>
          <a:prstGeom prst="rect">
            <a:avLst/>
          </a:prstGeom>
          <a:noFill/>
          <a:ln/>
        </p:spPr>
        <p:txBody>
          <a:bodyPr wrap="square" lIns="0" tIns="0" rIns="0" bIns="0" rtlCol="0" anchor="ctr"/>
          <a:lstStyle/>
          <a:p>
            <a:pPr indent="0" marL="0">
              <a:buNone/>
            </a:pPr>
            <a:r>
              <a:rPr lang="en-US" sz="1550" b="1" dirty="0">
                <a:solidFill>
                  <a:srgbClr val="191927"/>
                </a:solidFill>
                <a:latin typeface="Cambria" pitchFamily="34" charset="0"/>
                <a:ea typeface="Cambria" pitchFamily="34" charset="-122"/>
                <a:cs typeface="Cambria" pitchFamily="34" charset="-120"/>
              </a:rPr>
              <a:t>No known segmentation</a:t>
            </a:r>
            <a:endParaRPr lang="en-US" sz="1550" dirty="0"/>
          </a:p>
        </p:txBody>
      </p:sp>
      <p:sp>
        <p:nvSpPr>
          <p:cNvPr id="21" name="Text 19"/>
          <p:cNvSpPr txBox="1"/>
          <p:nvPr/>
        </p:nvSpPr>
        <p:spPr>
          <a:xfrm>
            <a:off x="8247888" y="2176272"/>
            <a:ext cx="3072384" cy="2002536"/>
          </a:xfrm>
          <a:prstGeom prst="rect">
            <a:avLst/>
          </a:prstGeom>
          <a:noFill/>
          <a:ln/>
        </p:spPr>
        <p:txBody>
          <a:bodyPr wrap="square" lIns="0" tIns="0" rIns="0" bIns="0" rtlCol="0" anchor="t"/>
          <a:lstStyle/>
          <a:p>
            <a:pPr indent="0" marL="0">
              <a:lnSpc>
                <a:spcPct val="108000"/>
              </a:lnSpc>
              <a:buNone/>
            </a:pPr>
            <a:r>
              <a:rPr lang="en-US" sz="1220" dirty="0">
                <a:solidFill>
                  <a:srgbClr val="33334A"/>
                </a:solidFill>
                <a:latin typeface="Calibri" pitchFamily="34" charset="0"/>
                <a:ea typeface="Calibri" pitchFamily="34" charset="-122"/>
                <a:cs typeface="Calibri" pitchFamily="34" charset="-120"/>
              </a:rPr>
              <a:t>Sound units have variable lengths and the boundaries between them are unknown, which complicates masked prediction: you cannot mask 'a phoneme' because you do not know where it starts.</a:t>
            </a:r>
            <a:endParaRPr lang="en-US" sz="1220" dirty="0"/>
          </a:p>
        </p:txBody>
      </p:sp>
      <p:sp>
        <p:nvSpPr>
          <p:cNvPr id="22" name="Shape 20"/>
          <p:cNvSpPr/>
          <p:nvPr/>
        </p:nvSpPr>
        <p:spPr>
          <a:xfrm>
            <a:off x="566928" y="4608576"/>
            <a:ext cx="11064240" cy="1444752"/>
          </a:xfrm>
          <a:prstGeom prst="roundRect">
            <a:avLst>
              <a:gd name="adj" fmla="val 3797"/>
            </a:avLst>
          </a:prstGeom>
          <a:solidFill>
            <a:srgbClr val="232336"/>
          </a:solidFill>
          <a:ln w="12700">
            <a:solidFill>
              <a:srgbClr val="232336"/>
            </a:solidFill>
            <a:prstDash val="solid"/>
          </a:ln>
        </p:spPr>
      </p:sp>
      <p:sp>
        <p:nvSpPr>
          <p:cNvPr id="23" name="Shape 21"/>
          <p:cNvSpPr/>
          <p:nvPr/>
        </p:nvSpPr>
        <p:spPr>
          <a:xfrm>
            <a:off x="786384" y="4901184"/>
            <a:ext cx="109728" cy="109728"/>
          </a:xfrm>
          <a:prstGeom prst="ellipse">
            <a:avLst/>
          </a:prstGeom>
          <a:solidFill>
            <a:srgbClr val="C94F7C"/>
          </a:solidFill>
          <a:ln w="12700">
            <a:solidFill>
              <a:srgbClr val="333333"/>
            </a:solidFill>
            <a:prstDash val="solid"/>
          </a:ln>
        </p:spPr>
      </p:sp>
      <p:sp>
        <p:nvSpPr>
          <p:cNvPr id="24" name="Text 22"/>
          <p:cNvSpPr txBox="1"/>
          <p:nvPr/>
        </p:nvSpPr>
        <p:spPr>
          <a:xfrm>
            <a:off x="987552" y="4773168"/>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HuBERT's answer to all three, in one sentence</a:t>
            </a:r>
            <a:endParaRPr lang="en-US" sz="1500" dirty="0"/>
          </a:p>
        </p:txBody>
      </p:sp>
      <p:sp>
        <p:nvSpPr>
          <p:cNvPr id="25" name="Text 23"/>
          <p:cNvSpPr txBox="1"/>
          <p:nvPr/>
        </p:nvSpPr>
        <p:spPr>
          <a:xfrm>
            <a:off x="822960" y="5212080"/>
            <a:ext cx="10552176" cy="658368"/>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Manufacture a lexicon by clustering frames, which gives you a finite inventory and a label for every 20 ms frame — so segmentation stops mattering, because you predict frame labels rather than unit identities.</a:t>
            </a:r>
            <a:endParaRPr lang="en-US" sz="1300" dirty="0"/>
          </a:p>
          <a:p>
            <a:pPr indent="0" marL="0">
              <a:lnSpc>
                <a:spcPct val="108000"/>
              </a:lnSpc>
              <a:buNone/>
            </a:pPr>
            <a:endParaRPr lang="en-US" sz="1300" dirty="0"/>
          </a:p>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The remaining question is whether an inventory this crude can teach a model anything. That is what section 4 is about.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What HuBERT is reacting against</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The paper's own criticism of wav2vec 2.0</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6</a:t>
            </a:r>
            <a:endParaRPr lang="en-US" sz="900" dirty="0"/>
          </a:p>
        </p:txBody>
      </p:sp>
      <p:sp>
        <p:nvSpPr>
          <p:cNvPr id="10" name="Shape 8"/>
          <p:cNvSpPr/>
          <p:nvPr/>
        </p:nvSpPr>
        <p:spPr>
          <a:xfrm>
            <a:off x="566928" y="1554480"/>
            <a:ext cx="11064240" cy="914400"/>
          </a:xfrm>
          <a:prstGeom prst="roundRect">
            <a:avLst>
              <a:gd name="adj" fmla="val 3000"/>
            </a:avLst>
          </a:prstGeom>
          <a:solidFill>
            <a:srgbClr val="F2F2F7"/>
          </a:solidFill>
          <a:ln w="12700">
            <a:solidFill>
              <a:srgbClr val="E9E9F0"/>
            </a:solidFill>
            <a:prstDash val="solid"/>
          </a:ln>
        </p:spPr>
      </p:sp>
      <p:sp>
        <p:nvSpPr>
          <p:cNvPr id="11" name="Shape 9"/>
          <p:cNvSpPr/>
          <p:nvPr/>
        </p:nvSpPr>
        <p:spPr>
          <a:xfrm>
            <a:off x="786384" y="1952244"/>
            <a:ext cx="118872" cy="118872"/>
          </a:xfrm>
          <a:prstGeom prst="ellipse">
            <a:avLst/>
          </a:prstGeom>
          <a:solidFill>
            <a:srgbClr val="4E4E82"/>
          </a:solidFill>
          <a:ln w="12700">
            <a:solidFill>
              <a:srgbClr val="333333"/>
            </a:solidFill>
            <a:prstDash val="solid"/>
          </a:ln>
        </p:spPr>
      </p:sp>
      <p:sp>
        <p:nvSpPr>
          <p:cNvPr id="12" name="Text 10"/>
          <p:cNvSpPr txBox="1"/>
          <p:nvPr/>
        </p:nvSpPr>
        <p:spPr>
          <a:xfrm>
            <a:off x="1024128" y="1645920"/>
            <a:ext cx="292608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Careful negative sampling</a:t>
            </a:r>
            <a:endParaRPr lang="en-US" sz="1350" dirty="0"/>
          </a:p>
        </p:txBody>
      </p:sp>
      <p:sp>
        <p:nvSpPr>
          <p:cNvPr id="13" name="Text 11"/>
          <p:cNvSpPr txBox="1"/>
          <p:nvPr/>
        </p:nvSpPr>
        <p:spPr>
          <a:xfrm>
            <a:off x="4133088" y="1627632"/>
            <a:ext cx="7315200" cy="768096"/>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The contrastive loss requires deciding where to draw distractors from — a design choice with a large effect and no principled answer.</a:t>
            </a:r>
            <a:endParaRPr lang="en-US" sz="1240" dirty="0"/>
          </a:p>
        </p:txBody>
      </p:sp>
      <p:sp>
        <p:nvSpPr>
          <p:cNvPr id="14" name="Shape 12"/>
          <p:cNvSpPr/>
          <p:nvPr/>
        </p:nvSpPr>
        <p:spPr>
          <a:xfrm>
            <a:off x="566928" y="2523744"/>
            <a:ext cx="11064240" cy="914400"/>
          </a:xfrm>
          <a:prstGeom prst="roundRect">
            <a:avLst>
              <a:gd name="adj" fmla="val 3000"/>
            </a:avLst>
          </a:prstGeom>
          <a:solidFill>
            <a:srgbClr val="FFFFFF"/>
          </a:solidFill>
          <a:ln w="12700">
            <a:solidFill>
              <a:srgbClr val="E9E9F0"/>
            </a:solidFill>
            <a:prstDash val="solid"/>
          </a:ln>
        </p:spPr>
      </p:sp>
      <p:sp>
        <p:nvSpPr>
          <p:cNvPr id="15" name="Shape 13"/>
          <p:cNvSpPr/>
          <p:nvPr/>
        </p:nvSpPr>
        <p:spPr>
          <a:xfrm>
            <a:off x="786384" y="2921508"/>
            <a:ext cx="118872" cy="118872"/>
          </a:xfrm>
          <a:prstGeom prst="ellipse">
            <a:avLst/>
          </a:prstGeom>
          <a:solidFill>
            <a:srgbClr val="4E4E82"/>
          </a:solidFill>
          <a:ln w="12700">
            <a:solidFill>
              <a:srgbClr val="333333"/>
            </a:solidFill>
            <a:prstDash val="solid"/>
          </a:ln>
        </p:spPr>
      </p:sp>
      <p:sp>
        <p:nvSpPr>
          <p:cNvPr id="16" name="Text 14"/>
          <p:cNvSpPr txBox="1"/>
          <p:nvPr/>
        </p:nvSpPr>
        <p:spPr>
          <a:xfrm>
            <a:off x="1024128" y="2615184"/>
            <a:ext cx="292608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An auxiliary diversity loss</a:t>
            </a:r>
            <a:endParaRPr lang="en-US" sz="1350" dirty="0"/>
          </a:p>
        </p:txBody>
      </p:sp>
      <p:sp>
        <p:nvSpPr>
          <p:cNvPr id="17" name="Text 15"/>
          <p:cNvSpPr txBox="1"/>
          <p:nvPr/>
        </p:nvSpPr>
        <p:spPr>
          <a:xfrm>
            <a:off x="4133088" y="2596896"/>
            <a:ext cx="7315200" cy="768096"/>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A second loss term with a tuned weight, needed purely to stop the learned codebook from collapsing.</a:t>
            </a:r>
            <a:endParaRPr lang="en-US" sz="1240" dirty="0"/>
          </a:p>
        </p:txBody>
      </p:sp>
      <p:sp>
        <p:nvSpPr>
          <p:cNvPr id="18" name="Shape 16"/>
          <p:cNvSpPr/>
          <p:nvPr/>
        </p:nvSpPr>
        <p:spPr>
          <a:xfrm>
            <a:off x="566928" y="3493008"/>
            <a:ext cx="11064240" cy="914400"/>
          </a:xfrm>
          <a:prstGeom prst="roundRect">
            <a:avLst>
              <a:gd name="adj" fmla="val 3000"/>
            </a:avLst>
          </a:prstGeom>
          <a:solidFill>
            <a:srgbClr val="F2F2F7"/>
          </a:solidFill>
          <a:ln w="12700">
            <a:solidFill>
              <a:srgbClr val="E9E9F0"/>
            </a:solidFill>
            <a:prstDash val="solid"/>
          </a:ln>
        </p:spPr>
      </p:sp>
      <p:sp>
        <p:nvSpPr>
          <p:cNvPr id="19" name="Shape 17"/>
          <p:cNvSpPr/>
          <p:nvPr/>
        </p:nvSpPr>
        <p:spPr>
          <a:xfrm>
            <a:off x="786384" y="3890772"/>
            <a:ext cx="118872" cy="118872"/>
          </a:xfrm>
          <a:prstGeom prst="ellipse">
            <a:avLst/>
          </a:prstGeom>
          <a:solidFill>
            <a:srgbClr val="4E4E82"/>
          </a:solidFill>
          <a:ln w="12700">
            <a:solidFill>
              <a:srgbClr val="333333"/>
            </a:solidFill>
            <a:prstDash val="solid"/>
          </a:ln>
        </p:spPr>
      </p:sp>
      <p:sp>
        <p:nvSpPr>
          <p:cNvPr id="20" name="Text 18"/>
          <p:cNvSpPr txBox="1"/>
          <p:nvPr/>
        </p:nvSpPr>
        <p:spPr>
          <a:xfrm>
            <a:off x="1024128" y="3584448"/>
            <a:ext cx="292608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A temperature schedule</a:t>
            </a:r>
            <a:endParaRPr lang="en-US" sz="1350" dirty="0"/>
          </a:p>
        </p:txBody>
      </p:sp>
      <p:sp>
        <p:nvSpPr>
          <p:cNvPr id="21" name="Text 19"/>
          <p:cNvSpPr txBox="1"/>
          <p:nvPr/>
        </p:nvSpPr>
        <p:spPr>
          <a:xfrm>
            <a:off x="4133088" y="3566160"/>
            <a:ext cx="7315200" cy="768096"/>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The Gumbel softmax needs a properly annealed temperature. Get the schedule wrong and the discrete choice is either never made or made arbitrarily.</a:t>
            </a:r>
            <a:endParaRPr lang="en-US" sz="1240" dirty="0"/>
          </a:p>
        </p:txBody>
      </p:sp>
      <p:sp>
        <p:nvSpPr>
          <p:cNvPr id="22" name="Shape 20"/>
          <p:cNvSpPr/>
          <p:nvPr/>
        </p:nvSpPr>
        <p:spPr>
          <a:xfrm>
            <a:off x="566928" y="4462272"/>
            <a:ext cx="11064240" cy="914400"/>
          </a:xfrm>
          <a:prstGeom prst="roundRect">
            <a:avLst>
              <a:gd name="adj" fmla="val 3000"/>
            </a:avLst>
          </a:prstGeom>
          <a:solidFill>
            <a:srgbClr val="FFFFFF"/>
          </a:solidFill>
          <a:ln w="12700">
            <a:solidFill>
              <a:srgbClr val="E9E9F0"/>
            </a:solidFill>
            <a:prstDash val="solid"/>
          </a:ln>
        </p:spPr>
      </p:sp>
      <p:sp>
        <p:nvSpPr>
          <p:cNvPr id="23" name="Shape 21"/>
          <p:cNvSpPr/>
          <p:nvPr/>
        </p:nvSpPr>
        <p:spPr>
          <a:xfrm>
            <a:off x="786384" y="4860036"/>
            <a:ext cx="118872" cy="118872"/>
          </a:xfrm>
          <a:prstGeom prst="ellipse">
            <a:avLst/>
          </a:prstGeom>
          <a:solidFill>
            <a:srgbClr val="4E4E82"/>
          </a:solidFill>
          <a:ln w="12700">
            <a:solidFill>
              <a:srgbClr val="333333"/>
            </a:solidFill>
            <a:prstDash val="solid"/>
          </a:ln>
        </p:spPr>
      </p:sp>
      <p:sp>
        <p:nvSpPr>
          <p:cNvPr id="24" name="Text 22"/>
          <p:cNvSpPr txBox="1"/>
          <p:nvPr/>
        </p:nvSpPr>
        <p:spPr>
          <a:xfrm>
            <a:off x="1024128" y="4553712"/>
            <a:ext cx="292608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Quantising the wrong thing</a:t>
            </a:r>
            <a:endParaRPr lang="en-US" sz="1350" dirty="0"/>
          </a:p>
        </p:txBody>
      </p:sp>
      <p:sp>
        <p:nvSpPr>
          <p:cNvPr id="25" name="Text 23"/>
          <p:cNvSpPr txBox="1"/>
          <p:nvPr/>
        </p:nvSpPr>
        <p:spPr>
          <a:xfrm>
            <a:off x="4133088" y="4535424"/>
            <a:ext cx="7315200" cy="768096"/>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wav2vec 2.0 only quantises the convolutional encoder output, which may not be the best feature to quantise given the limited capacity of that encoder.</a:t>
            </a:r>
            <a:endParaRPr lang="en-US" sz="1240" dirty="0"/>
          </a:p>
        </p:txBody>
      </p:sp>
      <p:sp>
        <p:nvSpPr>
          <p:cNvPr id="26" name="Shape 24"/>
          <p:cNvSpPr/>
          <p:nvPr/>
        </p:nvSpPr>
        <p:spPr>
          <a:xfrm>
            <a:off x="566928" y="5468112"/>
            <a:ext cx="11064240" cy="585216"/>
          </a:xfrm>
          <a:prstGeom prst="roundRect">
            <a:avLst>
              <a:gd name="adj" fmla="val 9375"/>
            </a:avLst>
          </a:prstGeom>
          <a:solidFill>
            <a:srgbClr val="232336"/>
          </a:solidFill>
          <a:ln w="12700">
            <a:solidFill>
              <a:srgbClr val="232336"/>
            </a:solidFill>
            <a:prstDash val="solid"/>
          </a:ln>
        </p:spPr>
      </p:sp>
      <p:sp>
        <p:nvSpPr>
          <p:cNvPr id="27" name="Text 25"/>
          <p:cNvSpPr txBox="1"/>
          <p:nvPr/>
        </p:nvSpPr>
        <p:spPr>
          <a:xfrm>
            <a:off x="822960" y="5687568"/>
            <a:ext cx="10552176" cy="164592"/>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HuBERT's proposal: separate acoustic unit discovery from representation learning, and use a plain cross-entropy loss.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10698480" y="5486400"/>
            <a:ext cx="146304" cy="146304"/>
          </a:xfrm>
          <a:prstGeom prst="ellipse">
            <a:avLst/>
          </a:prstGeom>
          <a:solidFill>
            <a:srgbClr val="CFCFE2"/>
          </a:solidFill>
          <a:ln w="12700">
            <a:solidFill>
              <a:srgbClr val="333333"/>
            </a:solidFill>
            <a:prstDash val="solid"/>
          </a:ln>
        </p:spPr>
      </p:sp>
      <p:sp>
        <p:nvSpPr>
          <p:cNvPr id="3" name="Shape 1"/>
          <p:cNvSpPr/>
          <p:nvPr/>
        </p:nvSpPr>
        <p:spPr>
          <a:xfrm>
            <a:off x="10991088" y="5303520"/>
            <a:ext cx="146304" cy="146304"/>
          </a:xfrm>
          <a:prstGeom prst="ellipse">
            <a:avLst/>
          </a:prstGeom>
          <a:solidFill>
            <a:srgbClr val="CFCFE2"/>
          </a:solidFill>
          <a:ln w="12700">
            <a:solidFill>
              <a:srgbClr val="333333"/>
            </a:solidFill>
            <a:prstDash val="solid"/>
          </a:ln>
        </p:spPr>
      </p:sp>
      <p:sp>
        <p:nvSpPr>
          <p:cNvPr id="4" name="Shape 2"/>
          <p:cNvSpPr/>
          <p:nvPr/>
        </p:nvSpPr>
        <p:spPr>
          <a:xfrm>
            <a:off x="11247120" y="5541264"/>
            <a:ext cx="237744" cy="237744"/>
          </a:xfrm>
          <a:prstGeom prst="ellipse">
            <a:avLst/>
          </a:prstGeom>
          <a:solidFill>
            <a:srgbClr val="C94F7C"/>
          </a:solidFill>
          <a:ln w="12700">
            <a:solidFill>
              <a:srgbClr val="333333"/>
            </a:solidFill>
            <a:prstDash val="solid"/>
          </a:ln>
        </p:spPr>
      </p:sp>
      <p:sp>
        <p:nvSpPr>
          <p:cNvPr id="5" name="Shape 3"/>
          <p:cNvSpPr/>
          <p:nvPr/>
        </p:nvSpPr>
        <p:spPr>
          <a:xfrm>
            <a:off x="10881360" y="5779008"/>
            <a:ext cx="146304" cy="146304"/>
          </a:xfrm>
          <a:prstGeom prst="ellipse">
            <a:avLst/>
          </a:prstGeom>
          <a:solidFill>
            <a:srgbClr val="CFCFE2"/>
          </a:solidFill>
          <a:ln w="12700">
            <a:solidFill>
              <a:srgbClr val="333333"/>
            </a:solidFill>
            <a:prstDash val="solid"/>
          </a:ln>
        </p:spPr>
      </p:sp>
      <p:sp>
        <p:nvSpPr>
          <p:cNvPr id="6" name="Shape 4"/>
          <p:cNvSpPr/>
          <p:nvPr/>
        </p:nvSpPr>
        <p:spPr>
          <a:xfrm>
            <a:off x="11210544" y="5852160"/>
            <a:ext cx="146304" cy="146304"/>
          </a:xfrm>
          <a:prstGeom prst="ellipse">
            <a:avLst/>
          </a:prstGeom>
          <a:solidFill>
            <a:srgbClr val="CFCFE2"/>
          </a:solidFill>
          <a:ln w="12700">
            <a:solidFill>
              <a:srgbClr val="333333"/>
            </a:solidFill>
            <a:prstDash val="solid"/>
          </a:ln>
        </p:spPr>
      </p:sp>
      <p:sp>
        <p:nvSpPr>
          <p:cNvPr id="7" name="Text 5"/>
          <p:cNvSpPr txBox="1"/>
          <p:nvPr/>
        </p:nvSpPr>
        <p:spPr>
          <a:xfrm>
            <a:off x="822960" y="2057400"/>
            <a:ext cx="1554480" cy="1005840"/>
          </a:xfrm>
          <a:prstGeom prst="rect">
            <a:avLst/>
          </a:prstGeom>
          <a:noFill/>
          <a:ln/>
        </p:spPr>
        <p:txBody>
          <a:bodyPr wrap="square" lIns="0" tIns="0" rIns="0" bIns="0" rtlCol="0" anchor="ctr"/>
          <a:lstStyle/>
          <a:p>
            <a:pPr indent="0" marL="0">
              <a:buNone/>
            </a:pPr>
            <a:r>
              <a:rPr lang="en-US" sz="6600" b="1" dirty="0">
                <a:solidFill>
                  <a:srgbClr val="C94F7C"/>
                </a:solidFill>
                <a:latin typeface="Cambria" pitchFamily="34" charset="0"/>
                <a:ea typeface="Cambria" pitchFamily="34" charset="-122"/>
                <a:cs typeface="Cambria" pitchFamily="34" charset="-120"/>
              </a:rPr>
              <a:t>2</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The method</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indent="0" marL="0">
              <a:buNone/>
            </a:pPr>
            <a:r>
              <a:rPr lang="en-US" sz="1500" dirty="0">
                <a:solidFill>
                  <a:srgbClr val="CFCFE2"/>
                </a:solidFill>
                <a:latin typeface="Calibri" pitchFamily="34" charset="0"/>
                <a:ea typeface="Calibri" pitchFamily="34" charset="-122"/>
                <a:cs typeface="Calibri" pitchFamily="34" charset="-120"/>
              </a:rPr>
              <a:t>Offline clustering, masked prediction, iterative refinement</a:t>
            </a:r>
            <a:endParaRPr lang="en-US" sz="1500" dirty="0"/>
          </a:p>
        </p:txBody>
      </p:sp>
      <p:sp>
        <p:nvSpPr>
          <p:cNvPr id="10" name="Text 8"/>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The core idea</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Two stages, alternating</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8</a:t>
            </a:r>
            <a:endParaRPr lang="en-US" sz="900" dirty="0"/>
          </a:p>
        </p:txBody>
      </p:sp>
      <p:sp>
        <p:nvSpPr>
          <p:cNvPr id="10" name="Shape 8"/>
          <p:cNvSpPr/>
          <p:nvPr/>
        </p:nvSpPr>
        <p:spPr>
          <a:xfrm>
            <a:off x="566928" y="1600200"/>
            <a:ext cx="3054096" cy="2011680"/>
          </a:xfrm>
          <a:prstGeom prst="roundRect">
            <a:avLst>
              <a:gd name="adj" fmla="val 2727"/>
            </a:avLst>
          </a:prstGeom>
          <a:solidFill>
            <a:srgbClr val="F2F2F7"/>
          </a:solidFill>
          <a:ln w="19050">
            <a:solidFill>
              <a:srgbClr val="4E4E82"/>
            </a:solidFill>
            <a:prstDash val="solid"/>
          </a:ln>
        </p:spPr>
      </p:sp>
      <p:sp>
        <p:nvSpPr>
          <p:cNvPr id="11" name="Text 9"/>
          <p:cNvSpPr txBox="1"/>
          <p:nvPr/>
        </p:nvSpPr>
        <p:spPr>
          <a:xfrm>
            <a:off x="786384" y="1828800"/>
            <a:ext cx="2651760" cy="329184"/>
          </a:xfrm>
          <a:prstGeom prst="rect">
            <a:avLst/>
          </a:prstGeom>
          <a:noFill/>
          <a:ln/>
        </p:spPr>
        <p:txBody>
          <a:bodyPr wrap="square" lIns="0" tIns="0" rIns="0" bIns="0" rtlCol="0" anchor="ctr"/>
          <a:lstStyle/>
          <a:p>
            <a:pPr indent="0" marL="0">
              <a:buNone/>
            </a:pPr>
            <a:r>
              <a:rPr lang="en-US" sz="1700" b="1" dirty="0">
                <a:solidFill>
                  <a:srgbClr val="4E4E82"/>
                </a:solidFill>
                <a:latin typeface="Cambria" pitchFamily="34" charset="0"/>
                <a:ea typeface="Cambria" pitchFamily="34" charset="-122"/>
                <a:cs typeface="Cambria" pitchFamily="34" charset="-120"/>
              </a:rPr>
              <a:t>Cluster</a:t>
            </a:r>
            <a:endParaRPr lang="en-US" sz="1700" dirty="0"/>
          </a:p>
        </p:txBody>
      </p:sp>
      <p:sp>
        <p:nvSpPr>
          <p:cNvPr id="12" name="Text 10"/>
          <p:cNvSpPr txBox="1"/>
          <p:nvPr/>
        </p:nvSpPr>
        <p:spPr>
          <a:xfrm>
            <a:off x="786384" y="2286000"/>
            <a:ext cx="2651760" cy="1097280"/>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Run k-means over frame features</a:t>
            </a:r>
            <a:endParaRPr lang="en-US" sz="1240" dirty="0"/>
          </a:p>
          <a:p>
            <a:pPr indent="0" marL="0">
              <a:buNone/>
            </a:pPr>
            <a:r>
              <a:rPr lang="en-US" sz="1240" dirty="0">
                <a:solidFill>
                  <a:srgbClr val="33334A"/>
                </a:solidFill>
                <a:latin typeface="Calibri" pitchFamily="34" charset="0"/>
                <a:ea typeface="Calibri" pitchFamily="34" charset="-122"/>
                <a:cs typeface="Calibri" pitchFamily="34" charset="-120"/>
              </a:rPr>
              <a:t>to assign every 20 ms frame</a:t>
            </a:r>
            <a:endParaRPr lang="en-US" sz="1240" dirty="0"/>
          </a:p>
          <a:p>
            <a:pPr indent="0" marL="0">
              <a:buNone/>
            </a:pPr>
            <a:r>
              <a:rPr lang="en-US" sz="1240" dirty="0">
                <a:solidFill>
                  <a:srgbClr val="33334A"/>
                </a:solidFill>
                <a:latin typeface="Calibri" pitchFamily="34" charset="0"/>
                <a:ea typeface="Calibri" pitchFamily="34" charset="-122"/>
                <a:cs typeface="Calibri" pitchFamily="34" charset="-120"/>
              </a:rPr>
              <a:t>a discrete label</a:t>
            </a:r>
            <a:endParaRPr lang="en-US" sz="1240" dirty="0"/>
          </a:p>
        </p:txBody>
      </p:sp>
      <p:sp>
        <p:nvSpPr>
          <p:cNvPr id="13" name="Shape 11"/>
          <p:cNvSpPr/>
          <p:nvPr/>
        </p:nvSpPr>
        <p:spPr>
          <a:xfrm>
            <a:off x="4572000" y="1600200"/>
            <a:ext cx="3054096" cy="2011680"/>
          </a:xfrm>
          <a:prstGeom prst="roundRect">
            <a:avLst>
              <a:gd name="adj" fmla="val 2727"/>
            </a:avLst>
          </a:prstGeom>
          <a:solidFill>
            <a:srgbClr val="FAEDF2"/>
          </a:solidFill>
          <a:ln w="19050">
            <a:solidFill>
              <a:srgbClr val="C94F7C"/>
            </a:solidFill>
            <a:prstDash val="solid"/>
          </a:ln>
        </p:spPr>
      </p:sp>
      <p:sp>
        <p:nvSpPr>
          <p:cNvPr id="14" name="Text 12"/>
          <p:cNvSpPr txBox="1"/>
          <p:nvPr/>
        </p:nvSpPr>
        <p:spPr>
          <a:xfrm>
            <a:off x="4791456" y="1828800"/>
            <a:ext cx="2651760" cy="329184"/>
          </a:xfrm>
          <a:prstGeom prst="rect">
            <a:avLst/>
          </a:prstGeom>
          <a:noFill/>
          <a:ln/>
        </p:spPr>
        <p:txBody>
          <a:bodyPr wrap="square" lIns="0" tIns="0" rIns="0" bIns="0" rtlCol="0" anchor="ctr"/>
          <a:lstStyle/>
          <a:p>
            <a:pPr indent="0" marL="0">
              <a:buNone/>
            </a:pPr>
            <a:r>
              <a:rPr lang="en-US" sz="1700" b="1" dirty="0">
                <a:solidFill>
                  <a:srgbClr val="C94F7C"/>
                </a:solidFill>
                <a:latin typeface="Cambria" pitchFamily="34" charset="0"/>
                <a:ea typeface="Cambria" pitchFamily="34" charset="-122"/>
                <a:cs typeface="Cambria" pitchFamily="34" charset="-120"/>
              </a:rPr>
              <a:t>Mask and predict</a:t>
            </a:r>
            <a:endParaRPr lang="en-US" sz="1700" dirty="0"/>
          </a:p>
        </p:txBody>
      </p:sp>
      <p:sp>
        <p:nvSpPr>
          <p:cNvPr id="15" name="Text 13"/>
          <p:cNvSpPr txBox="1"/>
          <p:nvPr/>
        </p:nvSpPr>
        <p:spPr>
          <a:xfrm>
            <a:off x="4791456" y="2286000"/>
            <a:ext cx="2651760" cy="1097280"/>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Train a BERT to predict those labels</a:t>
            </a:r>
            <a:endParaRPr lang="en-US" sz="1240" dirty="0"/>
          </a:p>
          <a:p>
            <a:pPr indent="0" marL="0">
              <a:buNone/>
            </a:pPr>
            <a:r>
              <a:rPr lang="en-US" sz="1240" dirty="0">
                <a:solidFill>
                  <a:srgbClr val="33334A"/>
                </a:solidFill>
                <a:latin typeface="Calibri" pitchFamily="34" charset="0"/>
                <a:ea typeface="Calibri" pitchFamily="34" charset="-122"/>
                <a:cs typeface="Calibri" pitchFamily="34" charset="-120"/>
              </a:rPr>
              <a:t>for masked frames only, from the</a:t>
            </a:r>
            <a:endParaRPr lang="en-US" sz="1240" dirty="0"/>
          </a:p>
          <a:p>
            <a:pPr indent="0" marL="0">
              <a:buNone/>
            </a:pPr>
            <a:r>
              <a:rPr lang="en-US" sz="1240" dirty="0">
                <a:solidFill>
                  <a:srgbClr val="33334A"/>
                </a:solidFill>
                <a:latin typeface="Calibri" pitchFamily="34" charset="0"/>
                <a:ea typeface="Calibri" pitchFamily="34" charset="-122"/>
                <a:cs typeface="Calibri" pitchFamily="34" charset="-120"/>
              </a:rPr>
              <a:t>unmasked context</a:t>
            </a:r>
            <a:endParaRPr lang="en-US" sz="1240" dirty="0"/>
          </a:p>
        </p:txBody>
      </p:sp>
      <p:sp>
        <p:nvSpPr>
          <p:cNvPr id="16" name="Shape 14"/>
          <p:cNvSpPr/>
          <p:nvPr/>
        </p:nvSpPr>
        <p:spPr>
          <a:xfrm>
            <a:off x="8577072" y="1600200"/>
            <a:ext cx="3054096" cy="2011680"/>
          </a:xfrm>
          <a:prstGeom prst="roundRect">
            <a:avLst>
              <a:gd name="adj" fmla="val 2727"/>
            </a:avLst>
          </a:prstGeom>
          <a:solidFill>
            <a:srgbClr val="F2F2F7"/>
          </a:solidFill>
          <a:ln w="19050">
            <a:solidFill>
              <a:srgbClr val="4E4E82"/>
            </a:solidFill>
            <a:prstDash val="solid"/>
          </a:ln>
        </p:spPr>
      </p:sp>
      <p:sp>
        <p:nvSpPr>
          <p:cNvPr id="17" name="Text 15"/>
          <p:cNvSpPr txBox="1"/>
          <p:nvPr/>
        </p:nvSpPr>
        <p:spPr>
          <a:xfrm>
            <a:off x="8796528" y="1828800"/>
            <a:ext cx="2651760" cy="329184"/>
          </a:xfrm>
          <a:prstGeom prst="rect">
            <a:avLst/>
          </a:prstGeom>
          <a:noFill/>
          <a:ln/>
        </p:spPr>
        <p:txBody>
          <a:bodyPr wrap="square" lIns="0" tIns="0" rIns="0" bIns="0" rtlCol="0" anchor="ctr"/>
          <a:lstStyle/>
          <a:p>
            <a:pPr indent="0" marL="0">
              <a:buNone/>
            </a:pPr>
            <a:r>
              <a:rPr lang="en-US" sz="1700" b="1" dirty="0">
                <a:solidFill>
                  <a:srgbClr val="4E4E82"/>
                </a:solidFill>
                <a:latin typeface="Cambria" pitchFamily="34" charset="0"/>
                <a:ea typeface="Cambria" pitchFamily="34" charset="-122"/>
                <a:cs typeface="Cambria" pitchFamily="34" charset="-120"/>
              </a:rPr>
              <a:t>Re-cluster</a:t>
            </a:r>
            <a:endParaRPr lang="en-US" sz="1700" dirty="0"/>
          </a:p>
        </p:txBody>
      </p:sp>
      <p:sp>
        <p:nvSpPr>
          <p:cNvPr id="18" name="Text 16"/>
          <p:cNvSpPr txBox="1"/>
          <p:nvPr/>
        </p:nvSpPr>
        <p:spPr>
          <a:xfrm>
            <a:off x="8796528" y="2286000"/>
            <a:ext cx="2651760" cy="1097280"/>
          </a:xfrm>
          <a:prstGeom prst="rect">
            <a:avLst/>
          </a:prstGeom>
          <a:noFill/>
          <a:ln/>
        </p:spPr>
        <p:txBody>
          <a:bodyPr wrap="square" lIns="0" tIns="0" rIns="0" bIns="0" rtlCol="0" anchor="ctr"/>
          <a:lstStyle/>
          <a:p>
            <a:pPr indent="0" marL="0">
              <a:buNone/>
            </a:pPr>
            <a:r>
              <a:rPr lang="en-US" sz="1240" dirty="0">
                <a:solidFill>
                  <a:srgbClr val="33334A"/>
                </a:solidFill>
                <a:latin typeface="Calibri" pitchFamily="34" charset="0"/>
                <a:ea typeface="Calibri" pitchFamily="34" charset="-122"/>
                <a:cs typeface="Calibri" pitchFamily="34" charset="-120"/>
              </a:rPr>
              <a:t>Run k-means again, this time over</a:t>
            </a:r>
            <a:endParaRPr lang="en-US" sz="1240" dirty="0"/>
          </a:p>
          <a:p>
            <a:pPr indent="0" marL="0">
              <a:buNone/>
            </a:pPr>
            <a:r>
              <a:rPr lang="en-US" sz="1240" dirty="0">
                <a:solidFill>
                  <a:srgbClr val="33334A"/>
                </a:solidFill>
                <a:latin typeface="Calibri" pitchFamily="34" charset="0"/>
                <a:ea typeface="Calibri" pitchFamily="34" charset="-122"/>
                <a:cs typeface="Calibri" pitchFamily="34" charset="-120"/>
              </a:rPr>
              <a:t>the model's own intermediate</a:t>
            </a:r>
            <a:endParaRPr lang="en-US" sz="1240" dirty="0"/>
          </a:p>
          <a:p>
            <a:pPr indent="0" marL="0">
              <a:buNone/>
            </a:pPr>
            <a:r>
              <a:rPr lang="en-US" sz="1240" dirty="0">
                <a:solidFill>
                  <a:srgbClr val="33334A"/>
                </a:solidFill>
                <a:latin typeface="Calibri" pitchFamily="34" charset="0"/>
                <a:ea typeface="Calibri" pitchFamily="34" charset="-122"/>
                <a:cs typeface="Calibri" pitchFamily="34" charset="-120"/>
              </a:rPr>
              <a:t>representations</a:t>
            </a:r>
            <a:endParaRPr lang="en-US" sz="1240" dirty="0"/>
          </a:p>
        </p:txBody>
      </p:sp>
      <p:sp>
        <p:nvSpPr>
          <p:cNvPr id="19" name="Shape 17"/>
          <p:cNvSpPr/>
          <p:nvPr/>
        </p:nvSpPr>
        <p:spPr>
          <a:xfrm>
            <a:off x="3639312" y="2606040"/>
            <a:ext cx="859536" cy="0"/>
          </a:xfrm>
          <a:prstGeom prst="line">
            <a:avLst/>
          </a:prstGeom>
          <a:noFill/>
          <a:ln w="28575">
            <a:solidFill>
              <a:srgbClr val="9B9BBA"/>
            </a:solidFill>
            <a:prstDash val="solid"/>
            <a:tailEnd type="triangle"/>
          </a:ln>
        </p:spPr>
      </p:sp>
      <p:sp>
        <p:nvSpPr>
          <p:cNvPr id="20" name="Shape 18"/>
          <p:cNvSpPr/>
          <p:nvPr/>
        </p:nvSpPr>
        <p:spPr>
          <a:xfrm>
            <a:off x="7644384" y="2606040"/>
            <a:ext cx="859536" cy="0"/>
          </a:xfrm>
          <a:prstGeom prst="line">
            <a:avLst/>
          </a:prstGeom>
          <a:noFill/>
          <a:ln w="28575">
            <a:solidFill>
              <a:srgbClr val="9B9BBA"/>
            </a:solidFill>
            <a:prstDash val="solid"/>
            <a:tailEnd type="triangle"/>
          </a:ln>
        </p:spPr>
      </p:sp>
      <p:sp>
        <p:nvSpPr>
          <p:cNvPr id="21" name="Shape 19"/>
          <p:cNvSpPr/>
          <p:nvPr/>
        </p:nvSpPr>
        <p:spPr>
          <a:xfrm>
            <a:off x="10104120" y="3675888"/>
            <a:ext cx="0" cy="329184"/>
          </a:xfrm>
          <a:prstGeom prst="line">
            <a:avLst/>
          </a:prstGeom>
          <a:noFill/>
          <a:ln w="28575">
            <a:solidFill>
              <a:srgbClr val="9B9BBA"/>
            </a:solidFill>
            <a:prstDash val="solid"/>
          </a:ln>
        </p:spPr>
      </p:sp>
      <p:sp>
        <p:nvSpPr>
          <p:cNvPr id="22" name="Shape 20"/>
          <p:cNvSpPr/>
          <p:nvPr/>
        </p:nvSpPr>
        <p:spPr>
          <a:xfrm>
            <a:off x="2093976" y="4005072"/>
            <a:ext cx="8010144" cy="0"/>
          </a:xfrm>
          <a:prstGeom prst="line">
            <a:avLst/>
          </a:prstGeom>
          <a:noFill/>
          <a:ln w="28575">
            <a:solidFill>
              <a:srgbClr val="9B9BBA"/>
            </a:solidFill>
            <a:prstDash val="solid"/>
          </a:ln>
        </p:spPr>
      </p:sp>
      <p:sp>
        <p:nvSpPr>
          <p:cNvPr id="23" name="Shape 21"/>
          <p:cNvSpPr/>
          <p:nvPr/>
        </p:nvSpPr>
        <p:spPr>
          <a:xfrm>
            <a:off x="2093976" y="4005072"/>
            <a:ext cx="0" cy="-329184"/>
          </a:xfrm>
          <a:prstGeom prst="line">
            <a:avLst/>
          </a:prstGeom>
          <a:noFill/>
          <a:ln w="28575">
            <a:solidFill>
              <a:srgbClr val="9B9BBA"/>
            </a:solidFill>
            <a:prstDash val="solid"/>
            <a:tailEnd type="triangle"/>
          </a:ln>
        </p:spPr>
      </p:sp>
      <p:sp>
        <p:nvSpPr>
          <p:cNvPr id="24" name="Text 22"/>
          <p:cNvSpPr txBox="1"/>
          <p:nvPr/>
        </p:nvSpPr>
        <p:spPr>
          <a:xfrm>
            <a:off x="5486400" y="4041648"/>
            <a:ext cx="1280160" cy="256032"/>
          </a:xfrm>
          <a:prstGeom prst="rect">
            <a:avLst/>
          </a:prstGeom>
          <a:noFill/>
          <a:ln/>
        </p:spPr>
        <p:txBody>
          <a:bodyPr wrap="square" lIns="0" tIns="0" rIns="0" bIns="0" rtlCol="0" anchor="ctr"/>
          <a:lstStyle/>
          <a:p>
            <a:pPr algn="ctr" indent="0" marL="0">
              <a:buNone/>
            </a:pPr>
            <a:r>
              <a:rPr lang="en-US" sz="1150" i="1" dirty="0">
                <a:solidFill>
                  <a:srgbClr val="5F5F79"/>
                </a:solidFill>
                <a:latin typeface="Calibri" pitchFamily="34" charset="0"/>
                <a:ea typeface="Calibri" pitchFamily="34" charset="-122"/>
                <a:cs typeface="Calibri" pitchFamily="34" charset="-120"/>
              </a:rPr>
              <a:t>repeat</a:t>
            </a:r>
            <a:endParaRPr lang="en-US" sz="1150" dirty="0"/>
          </a:p>
        </p:txBody>
      </p:sp>
      <p:sp>
        <p:nvSpPr>
          <p:cNvPr id="25" name="Shape 23"/>
          <p:cNvSpPr/>
          <p:nvPr/>
        </p:nvSpPr>
        <p:spPr>
          <a:xfrm>
            <a:off x="566928" y="4480560"/>
            <a:ext cx="11064240" cy="1572768"/>
          </a:xfrm>
          <a:prstGeom prst="roundRect">
            <a:avLst>
              <a:gd name="adj" fmla="val 3488"/>
            </a:avLst>
          </a:prstGeom>
          <a:solidFill>
            <a:srgbClr val="232336"/>
          </a:solidFill>
          <a:ln w="12700">
            <a:solidFill>
              <a:srgbClr val="232336"/>
            </a:solidFill>
            <a:prstDash val="solid"/>
          </a:ln>
        </p:spPr>
      </p:sp>
      <p:sp>
        <p:nvSpPr>
          <p:cNvPr id="26" name="Shape 24"/>
          <p:cNvSpPr/>
          <p:nvPr/>
        </p:nvSpPr>
        <p:spPr>
          <a:xfrm>
            <a:off x="786384" y="4773168"/>
            <a:ext cx="109728" cy="109728"/>
          </a:xfrm>
          <a:prstGeom prst="ellipse">
            <a:avLst/>
          </a:prstGeom>
          <a:solidFill>
            <a:srgbClr val="C94F7C"/>
          </a:solidFill>
          <a:ln w="12700">
            <a:solidFill>
              <a:srgbClr val="333333"/>
            </a:solidFill>
            <a:prstDash val="solid"/>
          </a:ln>
        </p:spPr>
      </p:sp>
      <p:sp>
        <p:nvSpPr>
          <p:cNvPr id="27" name="Text 25"/>
          <p:cNvSpPr txBox="1"/>
          <p:nvPr/>
        </p:nvSpPr>
        <p:spPr>
          <a:xfrm>
            <a:off x="987552" y="4645152"/>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the loop terminates somewhere useful</a:t>
            </a:r>
            <a:endParaRPr lang="en-US" sz="1500" dirty="0"/>
          </a:p>
        </p:txBody>
      </p:sp>
      <p:sp>
        <p:nvSpPr>
          <p:cNvPr id="28" name="Text 26"/>
          <p:cNvSpPr txBox="1"/>
          <p:nvPr/>
        </p:nvSpPr>
        <p:spPr>
          <a:xfrm>
            <a:off x="822960" y="5084064"/>
            <a:ext cx="10552176" cy="786384"/>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A pre-trained model should provide better features than raw MFCCs. So clustering its representations produces a better teacher than the one it was trained on, and the next model trained on that teacher is better still.</a:t>
            </a:r>
            <a:endParaRPr lang="en-US" sz="1300" dirty="0"/>
          </a:p>
          <a:p>
            <a:pPr indent="0" marL="0">
              <a:lnSpc>
                <a:spcPct val="108000"/>
              </a:lnSpc>
              <a:buNone/>
            </a:pPr>
            <a:endParaRPr lang="en-US" sz="1300" dirty="0"/>
          </a:p>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The authors call this an extension of iterative pseudo-labelling to the self-supervised setting. Two rounds are enough to reach state of the art.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Architecture and loss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Deliberately identical to wav2vec 2.0 where possible</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9</a:t>
            </a:r>
            <a:endParaRPr lang="en-US" sz="900" dirty="0"/>
          </a:p>
        </p:txBody>
      </p:sp>
      <p:sp>
        <p:nvSpPr>
          <p:cNvPr id="10" name="Shape 8"/>
          <p:cNvSpPr/>
          <p:nvPr/>
        </p:nvSpPr>
        <p:spPr>
          <a:xfrm>
            <a:off x="566928" y="1572768"/>
            <a:ext cx="5440680" cy="2194560"/>
          </a:xfrm>
          <a:prstGeom prst="roundRect">
            <a:avLst>
              <a:gd name="adj" fmla="val 2500"/>
            </a:avLst>
          </a:prstGeom>
          <a:solidFill>
            <a:srgbClr val="F2F2F7"/>
          </a:solidFill>
          <a:ln w="12700">
            <a:solidFill>
              <a:srgbClr val="E3E3EC"/>
            </a:solidFill>
            <a:prstDash val="solid"/>
          </a:ln>
        </p:spPr>
      </p:sp>
      <p:sp>
        <p:nvSpPr>
          <p:cNvPr id="11" name="Shape 9"/>
          <p:cNvSpPr/>
          <p:nvPr/>
        </p:nvSpPr>
        <p:spPr>
          <a:xfrm>
            <a:off x="786384" y="1865376"/>
            <a:ext cx="109728" cy="109728"/>
          </a:xfrm>
          <a:prstGeom prst="ellipse">
            <a:avLst/>
          </a:prstGeom>
          <a:solidFill>
            <a:srgbClr val="4E4E82"/>
          </a:solidFill>
          <a:ln w="12700">
            <a:solidFill>
              <a:srgbClr val="333333"/>
            </a:solidFill>
            <a:prstDash val="solid"/>
          </a:ln>
        </p:spPr>
      </p:sp>
      <p:sp>
        <p:nvSpPr>
          <p:cNvPr id="12" name="Text 10"/>
          <p:cNvSpPr txBox="1"/>
          <p:nvPr/>
        </p:nvSpPr>
        <p:spPr>
          <a:xfrm>
            <a:off x="987552" y="1737360"/>
            <a:ext cx="4800600"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Architecture</a:t>
            </a:r>
            <a:endParaRPr lang="en-US" sz="1500" dirty="0"/>
          </a:p>
        </p:txBody>
      </p:sp>
      <p:sp>
        <p:nvSpPr>
          <p:cNvPr id="13" name="Text 11"/>
          <p:cNvSpPr txBox="1"/>
          <p:nvPr/>
        </p:nvSpPr>
        <p:spPr>
          <a:xfrm>
            <a:off x="822960" y="2176272"/>
            <a:ext cx="4928616" cy="1408176"/>
          </a:xfrm>
          <a:prstGeom prst="rect">
            <a:avLst/>
          </a:prstGeom>
          <a:noFill/>
          <a:ln/>
        </p:spPr>
        <p:txBody>
          <a:bodyPr wrap="square" lIns="0" tIns="0" rIns="0" bIns="0" rtlCol="0" anchor="t"/>
          <a:lstStyle/>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The same convolutional waveform encoder: seven blocks, 512 channels, strides (5,2,2,2,2,2,2), kernel widths (10,3,3,3,3,2,2). One frame per 20 ms of 16 kHz audio.</a:t>
            </a:r>
            <a:endParaRPr lang="en-US" sz="1280" dirty="0"/>
          </a:p>
          <a:p>
            <a:pPr indent="0" marL="0">
              <a:lnSpc>
                <a:spcPct val="108000"/>
              </a:lnSpc>
              <a:buNone/>
            </a:pPr>
            <a:endParaRPr lang="en-US" sz="1280" dirty="0"/>
          </a:p>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Then a Transformer, a projection layer, and a code embedding layer. Nothing else.</a:t>
            </a:r>
            <a:endParaRPr lang="en-US" sz="1280" dirty="0"/>
          </a:p>
        </p:txBody>
      </p:sp>
      <p:sp>
        <p:nvSpPr>
          <p:cNvPr id="14" name="Shape 12"/>
          <p:cNvSpPr/>
          <p:nvPr/>
        </p:nvSpPr>
        <p:spPr>
          <a:xfrm>
            <a:off x="6190488" y="1572768"/>
            <a:ext cx="5440680" cy="2194560"/>
          </a:xfrm>
          <a:prstGeom prst="roundRect">
            <a:avLst>
              <a:gd name="adj" fmla="val 2500"/>
            </a:avLst>
          </a:prstGeom>
          <a:solidFill>
            <a:srgbClr val="F2F2F7"/>
          </a:solidFill>
          <a:ln w="12700">
            <a:solidFill>
              <a:srgbClr val="E3E3EC"/>
            </a:solidFill>
            <a:prstDash val="solid"/>
          </a:ln>
        </p:spPr>
      </p:sp>
      <p:sp>
        <p:nvSpPr>
          <p:cNvPr id="15" name="Shape 13"/>
          <p:cNvSpPr/>
          <p:nvPr/>
        </p:nvSpPr>
        <p:spPr>
          <a:xfrm>
            <a:off x="6409944" y="1865376"/>
            <a:ext cx="109728" cy="109728"/>
          </a:xfrm>
          <a:prstGeom prst="ellipse">
            <a:avLst/>
          </a:prstGeom>
          <a:solidFill>
            <a:srgbClr val="C94F7C"/>
          </a:solidFill>
          <a:ln w="12700">
            <a:solidFill>
              <a:srgbClr val="333333"/>
            </a:solidFill>
            <a:prstDash val="solid"/>
          </a:ln>
        </p:spPr>
      </p:sp>
      <p:sp>
        <p:nvSpPr>
          <p:cNvPr id="16" name="Text 14"/>
          <p:cNvSpPr txBox="1"/>
          <p:nvPr/>
        </p:nvSpPr>
        <p:spPr>
          <a:xfrm>
            <a:off x="6611112" y="1737360"/>
            <a:ext cx="4800600"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The prediction head</a:t>
            </a:r>
            <a:endParaRPr lang="en-US" sz="1500" dirty="0"/>
          </a:p>
        </p:txBody>
      </p:sp>
      <p:sp>
        <p:nvSpPr>
          <p:cNvPr id="17" name="Text 15"/>
          <p:cNvSpPr txBox="1"/>
          <p:nvPr/>
        </p:nvSpPr>
        <p:spPr>
          <a:xfrm>
            <a:off x="6446520" y="2176272"/>
            <a:ext cx="4928616" cy="1408176"/>
          </a:xfrm>
          <a:prstGeom prst="rect">
            <a:avLst/>
          </a:prstGeom>
          <a:noFill/>
          <a:ln/>
        </p:spPr>
        <p:txBody>
          <a:bodyPr wrap="square" lIns="0" tIns="0" rIns="0" bIns="0" rtlCol="0" anchor="t"/>
          <a:lstStyle/>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The Transformer output at step t is projected, then scored against every codeword embedding by cosine similarity, divided by a temperature of 0.1, and passed through a softmax.</a:t>
            </a:r>
            <a:endParaRPr lang="en-US" sz="1280" dirty="0"/>
          </a:p>
          <a:p>
            <a:pPr indent="0" marL="0">
              <a:lnSpc>
                <a:spcPct val="108000"/>
              </a:lnSpc>
              <a:buNone/>
            </a:pPr>
            <a:endParaRPr lang="en-US" sz="1280" dirty="0"/>
          </a:p>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So the model learns an embedding for each cluster rather than a plain classifier weight — the same shape as the wav2vec 2.0 target space, reached by a different route.</a:t>
            </a:r>
            <a:endParaRPr lang="en-US" sz="1280" dirty="0"/>
          </a:p>
        </p:txBody>
      </p:sp>
      <p:sp>
        <p:nvSpPr>
          <p:cNvPr id="18" name="Shape 16"/>
          <p:cNvSpPr/>
          <p:nvPr/>
        </p:nvSpPr>
        <p:spPr>
          <a:xfrm>
            <a:off x="566928" y="3968496"/>
            <a:ext cx="11064240" cy="1097280"/>
          </a:xfrm>
          <a:prstGeom prst="roundRect">
            <a:avLst>
              <a:gd name="adj" fmla="val 5000"/>
            </a:avLst>
          </a:prstGeom>
          <a:solidFill>
            <a:srgbClr val="F2F2F7"/>
          </a:solidFill>
          <a:ln w="12700">
            <a:solidFill>
              <a:srgbClr val="E3E3EC"/>
            </a:solidFill>
            <a:prstDash val="solid"/>
          </a:ln>
        </p:spPr>
      </p:sp>
      <p:sp>
        <p:nvSpPr>
          <p:cNvPr id="19" name="Shape 17"/>
          <p:cNvSpPr/>
          <p:nvPr/>
        </p:nvSpPr>
        <p:spPr>
          <a:xfrm>
            <a:off x="786384" y="4261104"/>
            <a:ext cx="109728" cy="109728"/>
          </a:xfrm>
          <a:prstGeom prst="ellipse">
            <a:avLst/>
          </a:prstGeom>
          <a:solidFill>
            <a:srgbClr val="4E4E82"/>
          </a:solidFill>
          <a:ln w="12700">
            <a:solidFill>
              <a:srgbClr val="333333"/>
            </a:solidFill>
            <a:prstDash val="solid"/>
          </a:ln>
        </p:spPr>
      </p:sp>
      <p:sp>
        <p:nvSpPr>
          <p:cNvPr id="20" name="Text 18"/>
          <p:cNvSpPr txBox="1"/>
          <p:nvPr/>
        </p:nvSpPr>
        <p:spPr>
          <a:xfrm>
            <a:off x="987552" y="4133088"/>
            <a:ext cx="10424160"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The loss</a:t>
            </a:r>
            <a:endParaRPr lang="en-US" sz="1500" dirty="0"/>
          </a:p>
        </p:txBody>
      </p:sp>
      <p:sp>
        <p:nvSpPr>
          <p:cNvPr id="21" name="Text 19"/>
          <p:cNvSpPr txBox="1"/>
          <p:nvPr/>
        </p:nvSpPr>
        <p:spPr>
          <a:xfrm>
            <a:off x="822960" y="4572000"/>
            <a:ext cx="10552176" cy="310896"/>
          </a:xfrm>
          <a:prstGeom prst="rect">
            <a:avLst/>
          </a:prstGeom>
          <a:noFill/>
          <a:ln/>
        </p:spPr>
        <p:txBody>
          <a:bodyPr wrap="square" lIns="0" tIns="0" rIns="0" bIns="0" rtlCol="0" anchor="t"/>
          <a:lstStyle/>
          <a:p>
            <a:pPr indent="0" marL="0">
              <a:lnSpc>
                <a:spcPct val="108000"/>
              </a:lnSpc>
              <a:buNone/>
            </a:pPr>
            <a:r>
              <a:rPr lang="en-US" sz="1300" dirty="0">
                <a:solidFill>
                  <a:srgbClr val="33334A"/>
                </a:solidFill>
                <a:latin typeface="Calibri" pitchFamily="34" charset="0"/>
                <a:ea typeface="Calibri" pitchFamily="34" charset="-122"/>
                <a:cs typeface="Calibri" pitchFamily="34" charset="-120"/>
              </a:rPr>
              <a:t>L = α · L_m + (1 − α) · L_u,  where L_m is the cross-entropy summed over masked timesteps and L_u over unmasked ones. Masking follows SpanBERT and wav2vec 2.0: p% of timesteps are sampled as span starts and l consecutive frames are masked. HuBERT uses p = 8% and l = 10.</a:t>
            </a:r>
            <a:endParaRPr lang="en-US" sz="1300" dirty="0"/>
          </a:p>
        </p:txBody>
      </p:sp>
      <p:sp>
        <p:nvSpPr>
          <p:cNvPr id="22" name="Shape 20"/>
          <p:cNvSpPr/>
          <p:nvPr/>
        </p:nvSpPr>
        <p:spPr>
          <a:xfrm>
            <a:off x="566928" y="5175504"/>
            <a:ext cx="11064240" cy="877824"/>
          </a:xfrm>
          <a:prstGeom prst="roundRect">
            <a:avLst>
              <a:gd name="adj" fmla="val 6250"/>
            </a:avLst>
          </a:prstGeom>
          <a:solidFill>
            <a:srgbClr val="232336"/>
          </a:solidFill>
          <a:ln w="12700">
            <a:solidFill>
              <a:srgbClr val="232336"/>
            </a:solidFill>
            <a:prstDash val="solid"/>
          </a:ln>
        </p:spPr>
      </p:sp>
      <p:sp>
        <p:nvSpPr>
          <p:cNvPr id="23" name="Text 21"/>
          <p:cNvSpPr txBox="1"/>
          <p:nvPr/>
        </p:nvSpPr>
        <p:spPr>
          <a:xfrm>
            <a:off x="822960" y="5394960"/>
            <a:ext cx="10552176" cy="457200"/>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α is the paper's most important hyperparameter and its most interesting experiment. α = 1 means masked frames only; α = 0 means unmasked frames only, which reduces to imitating the clustering model.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Why predict masked frames only</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The conceptual argument, before the numbers</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10</a:t>
            </a:r>
            <a:endParaRPr lang="en-US" sz="900" dirty="0"/>
          </a:p>
        </p:txBody>
      </p:sp>
      <p:sp>
        <p:nvSpPr>
          <p:cNvPr id="10" name="Shape 8"/>
          <p:cNvSpPr/>
          <p:nvPr/>
        </p:nvSpPr>
        <p:spPr>
          <a:xfrm>
            <a:off x="566928" y="1600200"/>
            <a:ext cx="5394960" cy="2148840"/>
          </a:xfrm>
          <a:prstGeom prst="roundRect">
            <a:avLst>
              <a:gd name="adj" fmla="val 2553"/>
            </a:avLst>
          </a:prstGeom>
          <a:solidFill>
            <a:srgbClr val="F2F2F7"/>
          </a:solidFill>
          <a:ln w="12700">
            <a:solidFill>
              <a:srgbClr val="E3E3EC"/>
            </a:solidFill>
            <a:prstDash val="solid"/>
          </a:ln>
        </p:spPr>
      </p:sp>
      <p:sp>
        <p:nvSpPr>
          <p:cNvPr id="11" name="Shape 9"/>
          <p:cNvSpPr/>
          <p:nvPr/>
        </p:nvSpPr>
        <p:spPr>
          <a:xfrm>
            <a:off x="786384" y="1892808"/>
            <a:ext cx="109728" cy="109728"/>
          </a:xfrm>
          <a:prstGeom prst="ellipse">
            <a:avLst/>
          </a:prstGeom>
          <a:solidFill>
            <a:srgbClr val="4E4E82"/>
          </a:solidFill>
          <a:ln w="12700">
            <a:solidFill>
              <a:srgbClr val="333333"/>
            </a:solidFill>
            <a:prstDash val="solid"/>
          </a:ln>
        </p:spPr>
      </p:sp>
      <p:sp>
        <p:nvSpPr>
          <p:cNvPr id="12" name="Text 10"/>
          <p:cNvSpPr txBox="1"/>
          <p:nvPr/>
        </p:nvSpPr>
        <p:spPr>
          <a:xfrm>
            <a:off x="987552" y="1764792"/>
            <a:ext cx="4754880" cy="365760"/>
          </a:xfrm>
          <a:prstGeom prst="rect">
            <a:avLst/>
          </a:prstGeom>
          <a:noFill/>
          <a:ln/>
        </p:spPr>
        <p:txBody>
          <a:bodyPr wrap="square" lIns="0" tIns="0" rIns="0" bIns="0" rtlCol="0" anchor="ctr"/>
          <a:lstStyle/>
          <a:p>
            <a:pPr indent="0" marL="0">
              <a:buNone/>
            </a:pPr>
            <a:r>
              <a:rPr lang="en-US" sz="1550" b="1" dirty="0">
                <a:solidFill>
                  <a:srgbClr val="191927"/>
                </a:solidFill>
                <a:latin typeface="Cambria" pitchFamily="34" charset="0"/>
                <a:ea typeface="Cambria" pitchFamily="34" charset="-122"/>
                <a:cs typeface="Cambria" pitchFamily="34" charset="-120"/>
              </a:rPr>
              <a:t>α = 0  ·  unmasked frames</a:t>
            </a:r>
            <a:endParaRPr lang="en-US" sz="1550" dirty="0"/>
          </a:p>
        </p:txBody>
      </p:sp>
      <p:sp>
        <p:nvSpPr>
          <p:cNvPr id="13" name="Text 11"/>
          <p:cNvSpPr txBox="1"/>
          <p:nvPr/>
        </p:nvSpPr>
        <p:spPr>
          <a:xfrm>
            <a:off x="822960" y="2203704"/>
            <a:ext cx="4882896" cy="1362456"/>
          </a:xfrm>
          <a:prstGeom prst="rect">
            <a:avLst/>
          </a:prstGeom>
          <a:noFill/>
          <a:ln/>
        </p:spPr>
        <p:txBody>
          <a:bodyPr wrap="square" lIns="0" tIns="0" rIns="0" bIns="0" rtlCol="0" anchor="t"/>
          <a:lstStyle/>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The model sees the frame and predicts its own label. It can succeed by learning the clustering function itself.</a:t>
            </a:r>
            <a:endParaRPr lang="en-US" sz="1280" dirty="0"/>
          </a:p>
          <a:p>
            <a:pPr indent="0" marL="0">
              <a:lnSpc>
                <a:spcPct val="108000"/>
              </a:lnSpc>
              <a:buNone/>
            </a:pPr>
            <a:endParaRPr lang="en-US" sz="1280" dirty="0"/>
          </a:p>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That caps the model at the teacher's quality: it is being asked to imitate k-means, and it cannot do better than what k-means knows.</a:t>
            </a:r>
            <a:endParaRPr lang="en-US" sz="1280" dirty="0"/>
          </a:p>
        </p:txBody>
      </p:sp>
      <p:sp>
        <p:nvSpPr>
          <p:cNvPr id="14" name="Shape 12"/>
          <p:cNvSpPr/>
          <p:nvPr/>
        </p:nvSpPr>
        <p:spPr>
          <a:xfrm>
            <a:off x="6236208" y="1600200"/>
            <a:ext cx="5394960" cy="2148840"/>
          </a:xfrm>
          <a:prstGeom prst="roundRect">
            <a:avLst>
              <a:gd name="adj" fmla="val 2553"/>
            </a:avLst>
          </a:prstGeom>
          <a:solidFill>
            <a:srgbClr val="F2F2F7"/>
          </a:solidFill>
          <a:ln w="12700">
            <a:solidFill>
              <a:srgbClr val="E3E3EC"/>
            </a:solidFill>
            <a:prstDash val="solid"/>
          </a:ln>
        </p:spPr>
      </p:sp>
      <p:sp>
        <p:nvSpPr>
          <p:cNvPr id="15" name="Shape 13"/>
          <p:cNvSpPr/>
          <p:nvPr/>
        </p:nvSpPr>
        <p:spPr>
          <a:xfrm>
            <a:off x="6455664" y="1892808"/>
            <a:ext cx="109728" cy="109728"/>
          </a:xfrm>
          <a:prstGeom prst="ellipse">
            <a:avLst/>
          </a:prstGeom>
          <a:solidFill>
            <a:srgbClr val="C94F7C"/>
          </a:solidFill>
          <a:ln w="12700">
            <a:solidFill>
              <a:srgbClr val="333333"/>
            </a:solidFill>
            <a:prstDash val="solid"/>
          </a:ln>
        </p:spPr>
      </p:sp>
      <p:sp>
        <p:nvSpPr>
          <p:cNvPr id="16" name="Text 14"/>
          <p:cNvSpPr txBox="1"/>
          <p:nvPr/>
        </p:nvSpPr>
        <p:spPr>
          <a:xfrm>
            <a:off x="6656832" y="1764792"/>
            <a:ext cx="4754880" cy="365760"/>
          </a:xfrm>
          <a:prstGeom prst="rect">
            <a:avLst/>
          </a:prstGeom>
          <a:noFill/>
          <a:ln/>
        </p:spPr>
        <p:txBody>
          <a:bodyPr wrap="square" lIns="0" tIns="0" rIns="0" bIns="0" rtlCol="0" anchor="ctr"/>
          <a:lstStyle/>
          <a:p>
            <a:pPr indent="0" marL="0">
              <a:buNone/>
            </a:pPr>
            <a:r>
              <a:rPr lang="en-US" sz="1550" b="1" dirty="0">
                <a:solidFill>
                  <a:srgbClr val="191927"/>
                </a:solidFill>
                <a:latin typeface="Cambria" pitchFamily="34" charset="0"/>
                <a:ea typeface="Cambria" pitchFamily="34" charset="-122"/>
                <a:cs typeface="Cambria" pitchFamily="34" charset="-120"/>
              </a:rPr>
              <a:t>α = 1  ·  masked frames</a:t>
            </a:r>
            <a:endParaRPr lang="en-US" sz="1550" dirty="0"/>
          </a:p>
        </p:txBody>
      </p:sp>
      <p:sp>
        <p:nvSpPr>
          <p:cNvPr id="17" name="Text 15"/>
          <p:cNvSpPr txBox="1"/>
          <p:nvPr/>
        </p:nvSpPr>
        <p:spPr>
          <a:xfrm>
            <a:off x="6492240" y="2203704"/>
            <a:ext cx="4882896" cy="1362456"/>
          </a:xfrm>
          <a:prstGeom prst="rect">
            <a:avLst/>
          </a:prstGeom>
          <a:noFill/>
          <a:ln/>
        </p:spPr>
        <p:txBody>
          <a:bodyPr wrap="square" lIns="0" tIns="0" rIns="0" bIns="0" rtlCol="0" anchor="t"/>
          <a:lstStyle/>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The frame is hidden. The only way to predict its label is from surrounding context.</a:t>
            </a:r>
            <a:endParaRPr lang="en-US" sz="1280" dirty="0"/>
          </a:p>
          <a:p>
            <a:pPr indent="0" marL="0">
              <a:lnSpc>
                <a:spcPct val="108000"/>
              </a:lnSpc>
              <a:buNone/>
            </a:pPr>
            <a:endParaRPr lang="en-US" sz="1280" dirty="0"/>
          </a:p>
          <a:p>
            <a:pPr indent="0" marL="0">
              <a:lnSpc>
                <a:spcPct val="108000"/>
              </a:lnSpc>
              <a:buNone/>
            </a:pPr>
            <a:r>
              <a:rPr lang="en-US" sz="1280" dirty="0">
                <a:solidFill>
                  <a:srgbClr val="33334A"/>
                </a:solidFill>
                <a:latin typeface="Calibri" pitchFamily="34" charset="0"/>
                <a:ea typeface="Calibri" pitchFamily="34" charset="-122"/>
                <a:cs typeface="Calibri" pitchFamily="34" charset="-120"/>
              </a:rPr>
              <a:t>This forces two things at once: representing unmasked audio well, which is acoustic modelling, and capturing long-range temporal structure between those representations, which is language modelling.</a:t>
            </a:r>
            <a:endParaRPr lang="en-US" sz="1280" dirty="0"/>
          </a:p>
        </p:txBody>
      </p:sp>
      <p:sp>
        <p:nvSpPr>
          <p:cNvPr id="18" name="Shape 16"/>
          <p:cNvSpPr/>
          <p:nvPr/>
        </p:nvSpPr>
        <p:spPr>
          <a:xfrm>
            <a:off x="566928" y="3950208"/>
            <a:ext cx="11064240" cy="2103120"/>
          </a:xfrm>
          <a:prstGeom prst="roundRect">
            <a:avLst>
              <a:gd name="adj" fmla="val 2609"/>
            </a:avLst>
          </a:prstGeom>
          <a:solidFill>
            <a:srgbClr val="232336"/>
          </a:solidFill>
          <a:ln w="12700">
            <a:solidFill>
              <a:srgbClr val="232336"/>
            </a:solidFill>
            <a:prstDash val="solid"/>
          </a:ln>
        </p:spPr>
      </p:sp>
      <p:sp>
        <p:nvSpPr>
          <p:cNvPr id="19" name="Shape 17"/>
          <p:cNvSpPr/>
          <p:nvPr/>
        </p:nvSpPr>
        <p:spPr>
          <a:xfrm>
            <a:off x="786384" y="4242816"/>
            <a:ext cx="109728" cy="109728"/>
          </a:xfrm>
          <a:prstGeom prst="ellipse">
            <a:avLst/>
          </a:prstGeom>
          <a:solidFill>
            <a:srgbClr val="C94F7C"/>
          </a:solidFill>
          <a:ln w="12700">
            <a:solidFill>
              <a:srgbClr val="333333"/>
            </a:solidFill>
            <a:prstDash val="solid"/>
          </a:ln>
        </p:spPr>
      </p:sp>
      <p:sp>
        <p:nvSpPr>
          <p:cNvPr id="20" name="Text 18"/>
          <p:cNvSpPr txBox="1"/>
          <p:nvPr/>
        </p:nvSpPr>
        <p:spPr>
          <a:xfrm>
            <a:off x="987552" y="4114800"/>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this makes the label noise tolerable</a:t>
            </a:r>
            <a:endParaRPr lang="en-US" sz="1500" dirty="0"/>
          </a:p>
        </p:txBody>
      </p:sp>
      <p:sp>
        <p:nvSpPr>
          <p:cNvPr id="21" name="Text 19"/>
          <p:cNvSpPr txBox="1"/>
          <p:nvPr/>
        </p:nvSpPr>
        <p:spPr>
          <a:xfrm>
            <a:off x="822960" y="4553712"/>
            <a:ext cx="10552176" cy="1316736"/>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If the teacher assigns the same wrong label consistently to the same sound, a model predicting from context can still learn the sequential structure of the language — it just learns it over a relabelled alphabet. Systematic error is survivable; random error is not.</a:t>
            </a:r>
            <a:endParaRPr lang="en-US" sz="1300" dirty="0"/>
          </a:p>
          <a:p>
            <a:pPr indent="0" marL="0">
              <a:lnSpc>
                <a:spcPct val="108000"/>
              </a:lnSpc>
              <a:buNone/>
            </a:pPr>
            <a:endParaRPr lang="en-US" sz="1300" dirty="0"/>
          </a:p>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That is what 'consistency rather than correctness' means, and it is why a teacher with a phone purity around a third can still bootstrap a state-of-the-art model.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Two ways to improve the teacher</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Both are optional; only one is essential</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11</a:t>
            </a:r>
            <a:endParaRPr lang="en-US" sz="900" dirty="0"/>
          </a:p>
        </p:txBody>
      </p:sp>
      <p:sp>
        <p:nvSpPr>
          <p:cNvPr id="10" name="Shape 8"/>
          <p:cNvSpPr/>
          <p:nvPr/>
        </p:nvSpPr>
        <p:spPr>
          <a:xfrm>
            <a:off x="566928" y="1572768"/>
            <a:ext cx="5440680" cy="2468880"/>
          </a:xfrm>
          <a:prstGeom prst="roundRect">
            <a:avLst>
              <a:gd name="adj" fmla="val 2222"/>
            </a:avLst>
          </a:prstGeom>
          <a:solidFill>
            <a:srgbClr val="F2F2F7"/>
          </a:solidFill>
          <a:ln w="12700">
            <a:solidFill>
              <a:srgbClr val="E3E3EC"/>
            </a:solidFill>
            <a:prstDash val="solid"/>
          </a:ln>
        </p:spPr>
      </p:sp>
      <p:sp>
        <p:nvSpPr>
          <p:cNvPr id="11" name="Shape 9"/>
          <p:cNvSpPr/>
          <p:nvPr/>
        </p:nvSpPr>
        <p:spPr>
          <a:xfrm>
            <a:off x="786384" y="1865376"/>
            <a:ext cx="109728" cy="109728"/>
          </a:xfrm>
          <a:prstGeom prst="ellipse">
            <a:avLst/>
          </a:prstGeom>
          <a:solidFill>
            <a:srgbClr val="4E4E82"/>
          </a:solidFill>
          <a:ln w="12700">
            <a:solidFill>
              <a:srgbClr val="333333"/>
            </a:solidFill>
            <a:prstDash val="solid"/>
          </a:ln>
        </p:spPr>
      </p:sp>
      <p:sp>
        <p:nvSpPr>
          <p:cNvPr id="12" name="Text 10"/>
          <p:cNvSpPr txBox="1"/>
          <p:nvPr/>
        </p:nvSpPr>
        <p:spPr>
          <a:xfrm>
            <a:off x="987552" y="1737360"/>
            <a:ext cx="4800600"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Cluster ensembles</a:t>
            </a:r>
            <a:endParaRPr lang="en-US" sz="1500" dirty="0"/>
          </a:p>
        </p:txBody>
      </p:sp>
      <p:sp>
        <p:nvSpPr>
          <p:cNvPr id="13" name="Text 11"/>
          <p:cNvSpPr txBox="1"/>
          <p:nvPr/>
        </p:nvSpPr>
        <p:spPr>
          <a:xfrm>
            <a:off x="822960" y="2176272"/>
            <a:ext cx="4928616" cy="1682496"/>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Use several clustering models at once and predict all their labels, one projection head each. This is multi-task learning with tasks invented by unsupervised clustering.</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An ensemble of k-means models with different codebook sizes creates targets at different granularities — from manner classes such as vowel versus consonant, down to sub-phone states.</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It also combines with product quantisation: split the feature space into subspaces and quantise each separately.</a:t>
            </a:r>
            <a:endParaRPr lang="en-US" sz="1260" dirty="0"/>
          </a:p>
        </p:txBody>
      </p:sp>
      <p:sp>
        <p:nvSpPr>
          <p:cNvPr id="14" name="Shape 12"/>
          <p:cNvSpPr/>
          <p:nvPr/>
        </p:nvSpPr>
        <p:spPr>
          <a:xfrm>
            <a:off x="6190488" y="1572768"/>
            <a:ext cx="5440680" cy="2468880"/>
          </a:xfrm>
          <a:prstGeom prst="roundRect">
            <a:avLst>
              <a:gd name="adj" fmla="val 2222"/>
            </a:avLst>
          </a:prstGeom>
          <a:solidFill>
            <a:srgbClr val="F2F2F7"/>
          </a:solidFill>
          <a:ln w="12700">
            <a:solidFill>
              <a:srgbClr val="E3E3EC"/>
            </a:solidFill>
            <a:prstDash val="solid"/>
          </a:ln>
        </p:spPr>
      </p:sp>
      <p:sp>
        <p:nvSpPr>
          <p:cNvPr id="15" name="Shape 13"/>
          <p:cNvSpPr/>
          <p:nvPr/>
        </p:nvSpPr>
        <p:spPr>
          <a:xfrm>
            <a:off x="6409944" y="1865376"/>
            <a:ext cx="109728" cy="109728"/>
          </a:xfrm>
          <a:prstGeom prst="ellipse">
            <a:avLst/>
          </a:prstGeom>
          <a:solidFill>
            <a:srgbClr val="C94F7C"/>
          </a:solidFill>
          <a:ln w="12700">
            <a:solidFill>
              <a:srgbClr val="333333"/>
            </a:solidFill>
            <a:prstDash val="solid"/>
          </a:ln>
        </p:spPr>
      </p:sp>
      <p:sp>
        <p:nvSpPr>
          <p:cNvPr id="16" name="Text 14"/>
          <p:cNvSpPr txBox="1"/>
          <p:nvPr/>
        </p:nvSpPr>
        <p:spPr>
          <a:xfrm>
            <a:off x="6611112" y="1737360"/>
            <a:ext cx="4800600"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Iterative refinement</a:t>
            </a:r>
            <a:endParaRPr lang="en-US" sz="1500" dirty="0"/>
          </a:p>
        </p:txBody>
      </p:sp>
      <p:sp>
        <p:nvSpPr>
          <p:cNvPr id="17" name="Text 15"/>
          <p:cNvSpPr txBox="1"/>
          <p:nvPr/>
        </p:nvSpPr>
        <p:spPr>
          <a:xfrm>
            <a:off x="6446520" y="2176272"/>
            <a:ext cx="4928616" cy="1682496"/>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Cluster the learned representations of the previous iteration's model, then retrain on the new labels.</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Iteration 1: k-means with 100 clusters on 39-dimensional MFCCs — 13 coefficients plus first and second derivatives.</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Iteration 2: k-means with 500 clusters on the 6th Transformer layer output of the iteration-1 BASE model, fitted on a 10% sample of the data.</a:t>
            </a:r>
            <a:endParaRPr lang="en-US" sz="1260" dirty="0"/>
          </a:p>
        </p:txBody>
      </p:sp>
      <p:sp>
        <p:nvSpPr>
          <p:cNvPr id="18" name="Shape 16"/>
          <p:cNvSpPr/>
          <p:nvPr/>
        </p:nvSpPr>
        <p:spPr>
          <a:xfrm>
            <a:off x="566928" y="4224528"/>
            <a:ext cx="11064240" cy="1828800"/>
          </a:xfrm>
          <a:prstGeom prst="roundRect">
            <a:avLst>
              <a:gd name="adj" fmla="val 3000"/>
            </a:avLst>
          </a:prstGeom>
          <a:solidFill>
            <a:srgbClr val="232336"/>
          </a:solidFill>
          <a:ln w="12700">
            <a:solidFill>
              <a:srgbClr val="232336"/>
            </a:solidFill>
            <a:prstDash val="solid"/>
          </a:ln>
        </p:spPr>
      </p:sp>
      <p:sp>
        <p:nvSpPr>
          <p:cNvPr id="19" name="Shape 17"/>
          <p:cNvSpPr/>
          <p:nvPr/>
        </p:nvSpPr>
        <p:spPr>
          <a:xfrm>
            <a:off x="786384" y="4517136"/>
            <a:ext cx="109728" cy="109728"/>
          </a:xfrm>
          <a:prstGeom prst="ellipse">
            <a:avLst/>
          </a:prstGeom>
          <a:solidFill>
            <a:srgbClr val="C94F7C"/>
          </a:solidFill>
          <a:ln w="12700">
            <a:solidFill>
              <a:srgbClr val="333333"/>
            </a:solidFill>
            <a:prstDash val="solid"/>
          </a:ln>
        </p:spPr>
      </p:sp>
      <p:sp>
        <p:nvSpPr>
          <p:cNvPr id="20" name="Text 18"/>
          <p:cNvSpPr txBox="1"/>
          <p:nvPr/>
        </p:nvSpPr>
        <p:spPr>
          <a:xfrm>
            <a:off x="987552" y="4389120"/>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Which layer, and why it changes between iterations</a:t>
            </a:r>
            <a:endParaRPr lang="en-US" sz="1500" dirty="0"/>
          </a:p>
        </p:txBody>
      </p:sp>
      <p:sp>
        <p:nvSpPr>
          <p:cNvPr id="21" name="Text 19"/>
          <p:cNvSpPr txBox="1"/>
          <p:nvPr/>
        </p:nvSpPr>
        <p:spPr>
          <a:xfrm>
            <a:off x="822960" y="4828032"/>
            <a:ext cx="10552176" cy="1042416"/>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Iteration 1's best features are in the middle of the network, around layer 6; its last layers degrade sharply, because they have learned to mimic a bad teacher.</a:t>
            </a:r>
            <a:endParaRPr lang="en-US" sz="1300" dirty="0"/>
          </a:p>
          <a:p>
            <a:pPr indent="0" marL="0">
              <a:lnSpc>
                <a:spcPct val="108000"/>
              </a:lnSpc>
              <a:buNone/>
            </a:pPr>
            <a:endParaRPr lang="en-US" sz="1300" dirty="0"/>
          </a:p>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Iteration 2's features improve monotonically with depth, so the LARGE and X-LARGE models are trained on labels from layer 9 of the iteration-2 BASE model — making them effectively third-iteration models.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Three model configurations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Same convolutional encoder throughout</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12</a:t>
            </a:r>
            <a:endParaRPr lang="en-US" sz="900" dirty="0"/>
          </a:p>
        </p:txBody>
      </p:sp>
      <p:sp>
        <p:nvSpPr>
          <p:cNvPr id="10" name="Text 8"/>
          <p:cNvSpPr txBox="1"/>
          <p:nvPr/>
        </p:nvSpPr>
        <p:spPr>
          <a:xfrm>
            <a:off x="4480560" y="1335024"/>
            <a:ext cx="2286000" cy="274320"/>
          </a:xfrm>
          <a:prstGeom prst="rect">
            <a:avLst/>
          </a:prstGeom>
          <a:noFill/>
          <a:ln/>
        </p:spPr>
        <p:txBody>
          <a:bodyPr wrap="square" lIns="0" tIns="0" rIns="0" bIns="0" rtlCol="0" anchor="ctr"/>
          <a:lstStyle/>
          <a:p>
            <a:pPr indent="0" marL="0">
              <a:buNone/>
            </a:pPr>
            <a:r>
              <a:rPr lang="en-US" sz="1250" b="1" dirty="0">
                <a:solidFill>
                  <a:srgbClr val="4E4E82"/>
                </a:solidFill>
                <a:latin typeface="Calibri" pitchFamily="34" charset="0"/>
                <a:ea typeface="Calibri" pitchFamily="34" charset="-122"/>
                <a:cs typeface="Calibri" pitchFamily="34" charset="-120"/>
              </a:rPr>
              <a:t>BASE</a:t>
            </a:r>
            <a:endParaRPr lang="en-US" sz="1250" dirty="0"/>
          </a:p>
        </p:txBody>
      </p:sp>
      <p:sp>
        <p:nvSpPr>
          <p:cNvPr id="11" name="Text 9"/>
          <p:cNvSpPr txBox="1"/>
          <p:nvPr/>
        </p:nvSpPr>
        <p:spPr>
          <a:xfrm>
            <a:off x="6903720" y="1335024"/>
            <a:ext cx="2286000" cy="274320"/>
          </a:xfrm>
          <a:prstGeom prst="rect">
            <a:avLst/>
          </a:prstGeom>
          <a:noFill/>
          <a:ln/>
        </p:spPr>
        <p:txBody>
          <a:bodyPr wrap="square" lIns="0" tIns="0" rIns="0" bIns="0" rtlCol="0" anchor="ctr"/>
          <a:lstStyle/>
          <a:p>
            <a:pPr indent="0" marL="0">
              <a:buNone/>
            </a:pPr>
            <a:r>
              <a:rPr lang="en-US" sz="1250" b="1" dirty="0">
                <a:solidFill>
                  <a:srgbClr val="4E4E82"/>
                </a:solidFill>
                <a:latin typeface="Calibri" pitchFamily="34" charset="0"/>
                <a:ea typeface="Calibri" pitchFamily="34" charset="-122"/>
                <a:cs typeface="Calibri" pitchFamily="34" charset="-120"/>
              </a:rPr>
              <a:t>LARGE</a:t>
            </a:r>
            <a:endParaRPr lang="en-US" sz="1250" dirty="0"/>
          </a:p>
        </p:txBody>
      </p:sp>
      <p:sp>
        <p:nvSpPr>
          <p:cNvPr id="12" name="Text 10"/>
          <p:cNvSpPr txBox="1"/>
          <p:nvPr/>
        </p:nvSpPr>
        <p:spPr>
          <a:xfrm>
            <a:off x="9326880" y="1335024"/>
            <a:ext cx="2286000" cy="274320"/>
          </a:xfrm>
          <a:prstGeom prst="rect">
            <a:avLst/>
          </a:prstGeom>
          <a:noFill/>
          <a:ln/>
        </p:spPr>
        <p:txBody>
          <a:bodyPr wrap="square" lIns="0" tIns="0" rIns="0" bIns="0" rtlCol="0" anchor="ctr"/>
          <a:lstStyle/>
          <a:p>
            <a:pPr indent="0" marL="0">
              <a:buNone/>
            </a:pPr>
            <a:r>
              <a:rPr lang="en-US" sz="1250" b="1" dirty="0">
                <a:solidFill>
                  <a:srgbClr val="C94F7C"/>
                </a:solidFill>
                <a:latin typeface="Calibri" pitchFamily="34" charset="0"/>
                <a:ea typeface="Calibri" pitchFamily="34" charset="-122"/>
                <a:cs typeface="Calibri" pitchFamily="34" charset="-120"/>
              </a:rPr>
              <a:t>X-LARGE</a:t>
            </a:r>
            <a:endParaRPr lang="en-US" sz="1250" dirty="0"/>
          </a:p>
        </p:txBody>
      </p:sp>
      <p:sp>
        <p:nvSpPr>
          <p:cNvPr id="13" name="Shape 11"/>
          <p:cNvSpPr/>
          <p:nvPr/>
        </p:nvSpPr>
        <p:spPr>
          <a:xfrm>
            <a:off x="566928" y="1627632"/>
            <a:ext cx="11064240" cy="329184"/>
          </a:xfrm>
          <a:prstGeom prst="roundRect">
            <a:avLst>
              <a:gd name="adj" fmla="val 5556"/>
            </a:avLst>
          </a:prstGeom>
          <a:solidFill>
            <a:srgbClr val="F2F2F7"/>
          </a:solidFill>
          <a:ln w="12700">
            <a:solidFill>
              <a:srgbClr val="E9E9F0"/>
            </a:solidFill>
            <a:prstDash val="solid"/>
          </a:ln>
        </p:spPr>
      </p:sp>
      <p:sp>
        <p:nvSpPr>
          <p:cNvPr id="14" name="Text 12"/>
          <p:cNvSpPr txBox="1"/>
          <p:nvPr/>
        </p:nvSpPr>
        <p:spPr>
          <a:xfrm>
            <a:off x="749808" y="168249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Transformer layers</a:t>
            </a:r>
            <a:endParaRPr lang="en-US" sz="1150" dirty="0"/>
          </a:p>
        </p:txBody>
      </p:sp>
      <p:sp>
        <p:nvSpPr>
          <p:cNvPr id="15" name="Text 13"/>
          <p:cNvSpPr txBox="1"/>
          <p:nvPr/>
        </p:nvSpPr>
        <p:spPr>
          <a:xfrm>
            <a:off x="4480560" y="16824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12</a:t>
            </a:r>
            <a:endParaRPr lang="en-US" sz="1150" dirty="0"/>
          </a:p>
        </p:txBody>
      </p:sp>
      <p:sp>
        <p:nvSpPr>
          <p:cNvPr id="16" name="Text 14"/>
          <p:cNvSpPr txBox="1"/>
          <p:nvPr/>
        </p:nvSpPr>
        <p:spPr>
          <a:xfrm>
            <a:off x="6903720" y="16824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24</a:t>
            </a:r>
            <a:endParaRPr lang="en-US" sz="1150" dirty="0"/>
          </a:p>
        </p:txBody>
      </p:sp>
      <p:sp>
        <p:nvSpPr>
          <p:cNvPr id="17" name="Text 15"/>
          <p:cNvSpPr txBox="1"/>
          <p:nvPr/>
        </p:nvSpPr>
        <p:spPr>
          <a:xfrm>
            <a:off x="9326880" y="16824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48</a:t>
            </a:r>
            <a:endParaRPr lang="en-US" sz="1150" dirty="0"/>
          </a:p>
        </p:txBody>
      </p:sp>
      <p:sp>
        <p:nvSpPr>
          <p:cNvPr id="18" name="Shape 16"/>
          <p:cNvSpPr/>
          <p:nvPr/>
        </p:nvSpPr>
        <p:spPr>
          <a:xfrm>
            <a:off x="566928" y="1993392"/>
            <a:ext cx="11064240" cy="329184"/>
          </a:xfrm>
          <a:prstGeom prst="roundRect">
            <a:avLst>
              <a:gd name="adj" fmla="val 5556"/>
            </a:avLst>
          </a:prstGeom>
          <a:solidFill>
            <a:srgbClr val="FFFFFF"/>
          </a:solidFill>
          <a:ln w="12700">
            <a:solidFill>
              <a:srgbClr val="E9E9F0"/>
            </a:solidFill>
            <a:prstDash val="solid"/>
          </a:ln>
        </p:spPr>
      </p:sp>
      <p:sp>
        <p:nvSpPr>
          <p:cNvPr id="19" name="Text 17"/>
          <p:cNvSpPr txBox="1"/>
          <p:nvPr/>
        </p:nvSpPr>
        <p:spPr>
          <a:xfrm>
            <a:off x="749808" y="204825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Embedding dimension</a:t>
            </a:r>
            <a:endParaRPr lang="en-US" sz="1150" dirty="0"/>
          </a:p>
        </p:txBody>
      </p:sp>
      <p:sp>
        <p:nvSpPr>
          <p:cNvPr id="20" name="Text 18"/>
          <p:cNvSpPr txBox="1"/>
          <p:nvPr/>
        </p:nvSpPr>
        <p:spPr>
          <a:xfrm>
            <a:off x="4480560" y="20482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768</a:t>
            </a:r>
            <a:endParaRPr lang="en-US" sz="1150" dirty="0"/>
          </a:p>
        </p:txBody>
      </p:sp>
      <p:sp>
        <p:nvSpPr>
          <p:cNvPr id="21" name="Text 19"/>
          <p:cNvSpPr txBox="1"/>
          <p:nvPr/>
        </p:nvSpPr>
        <p:spPr>
          <a:xfrm>
            <a:off x="6903720" y="20482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1,024</a:t>
            </a:r>
            <a:endParaRPr lang="en-US" sz="1150" dirty="0"/>
          </a:p>
        </p:txBody>
      </p:sp>
      <p:sp>
        <p:nvSpPr>
          <p:cNvPr id="22" name="Text 20"/>
          <p:cNvSpPr txBox="1"/>
          <p:nvPr/>
        </p:nvSpPr>
        <p:spPr>
          <a:xfrm>
            <a:off x="9326880" y="20482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1,280</a:t>
            </a:r>
            <a:endParaRPr lang="en-US" sz="1150" dirty="0"/>
          </a:p>
        </p:txBody>
      </p:sp>
      <p:sp>
        <p:nvSpPr>
          <p:cNvPr id="23" name="Shape 21"/>
          <p:cNvSpPr/>
          <p:nvPr/>
        </p:nvSpPr>
        <p:spPr>
          <a:xfrm>
            <a:off x="566928" y="2359152"/>
            <a:ext cx="11064240" cy="329184"/>
          </a:xfrm>
          <a:prstGeom prst="roundRect">
            <a:avLst>
              <a:gd name="adj" fmla="val 5556"/>
            </a:avLst>
          </a:prstGeom>
          <a:solidFill>
            <a:srgbClr val="F2F2F7"/>
          </a:solidFill>
          <a:ln w="12700">
            <a:solidFill>
              <a:srgbClr val="E9E9F0"/>
            </a:solidFill>
            <a:prstDash val="solid"/>
          </a:ln>
        </p:spPr>
      </p:sp>
      <p:sp>
        <p:nvSpPr>
          <p:cNvPr id="24" name="Text 22"/>
          <p:cNvSpPr txBox="1"/>
          <p:nvPr/>
        </p:nvSpPr>
        <p:spPr>
          <a:xfrm>
            <a:off x="749808" y="241401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Feed-forward dimension</a:t>
            </a:r>
            <a:endParaRPr lang="en-US" sz="1150" dirty="0"/>
          </a:p>
        </p:txBody>
      </p:sp>
      <p:sp>
        <p:nvSpPr>
          <p:cNvPr id="25" name="Text 23"/>
          <p:cNvSpPr txBox="1"/>
          <p:nvPr/>
        </p:nvSpPr>
        <p:spPr>
          <a:xfrm>
            <a:off x="4480560" y="241401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3,072</a:t>
            </a:r>
            <a:endParaRPr lang="en-US" sz="1150" dirty="0"/>
          </a:p>
        </p:txBody>
      </p:sp>
      <p:sp>
        <p:nvSpPr>
          <p:cNvPr id="26" name="Text 24"/>
          <p:cNvSpPr txBox="1"/>
          <p:nvPr/>
        </p:nvSpPr>
        <p:spPr>
          <a:xfrm>
            <a:off x="6903720" y="241401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4,096</a:t>
            </a:r>
            <a:endParaRPr lang="en-US" sz="1150" dirty="0"/>
          </a:p>
        </p:txBody>
      </p:sp>
      <p:sp>
        <p:nvSpPr>
          <p:cNvPr id="27" name="Text 25"/>
          <p:cNvSpPr txBox="1"/>
          <p:nvPr/>
        </p:nvSpPr>
        <p:spPr>
          <a:xfrm>
            <a:off x="9326880" y="241401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5,120</a:t>
            </a:r>
            <a:endParaRPr lang="en-US" sz="1150" dirty="0"/>
          </a:p>
        </p:txBody>
      </p:sp>
      <p:sp>
        <p:nvSpPr>
          <p:cNvPr id="28" name="Shape 26"/>
          <p:cNvSpPr/>
          <p:nvPr/>
        </p:nvSpPr>
        <p:spPr>
          <a:xfrm>
            <a:off x="566928" y="2724912"/>
            <a:ext cx="11064240" cy="329184"/>
          </a:xfrm>
          <a:prstGeom prst="roundRect">
            <a:avLst>
              <a:gd name="adj" fmla="val 5556"/>
            </a:avLst>
          </a:prstGeom>
          <a:solidFill>
            <a:srgbClr val="FFFFFF"/>
          </a:solidFill>
          <a:ln w="12700">
            <a:solidFill>
              <a:srgbClr val="E9E9F0"/>
            </a:solidFill>
            <a:prstDash val="solid"/>
          </a:ln>
        </p:spPr>
      </p:sp>
      <p:sp>
        <p:nvSpPr>
          <p:cNvPr id="29" name="Text 27"/>
          <p:cNvSpPr txBox="1"/>
          <p:nvPr/>
        </p:nvSpPr>
        <p:spPr>
          <a:xfrm>
            <a:off x="749808" y="277977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Attention heads</a:t>
            </a:r>
            <a:endParaRPr lang="en-US" sz="1150" dirty="0"/>
          </a:p>
        </p:txBody>
      </p:sp>
      <p:sp>
        <p:nvSpPr>
          <p:cNvPr id="30" name="Text 28"/>
          <p:cNvSpPr txBox="1"/>
          <p:nvPr/>
        </p:nvSpPr>
        <p:spPr>
          <a:xfrm>
            <a:off x="4480560" y="277977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8</a:t>
            </a:r>
            <a:endParaRPr lang="en-US" sz="1150" dirty="0"/>
          </a:p>
        </p:txBody>
      </p:sp>
      <p:sp>
        <p:nvSpPr>
          <p:cNvPr id="31" name="Text 29"/>
          <p:cNvSpPr txBox="1"/>
          <p:nvPr/>
        </p:nvSpPr>
        <p:spPr>
          <a:xfrm>
            <a:off x="6903720" y="277977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16</a:t>
            </a:r>
            <a:endParaRPr lang="en-US" sz="1150" dirty="0"/>
          </a:p>
        </p:txBody>
      </p:sp>
      <p:sp>
        <p:nvSpPr>
          <p:cNvPr id="32" name="Text 30"/>
          <p:cNvSpPr txBox="1"/>
          <p:nvPr/>
        </p:nvSpPr>
        <p:spPr>
          <a:xfrm>
            <a:off x="9326880" y="277977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16</a:t>
            </a:r>
            <a:endParaRPr lang="en-US" sz="1150" dirty="0"/>
          </a:p>
        </p:txBody>
      </p:sp>
      <p:sp>
        <p:nvSpPr>
          <p:cNvPr id="33" name="Shape 31"/>
          <p:cNvSpPr/>
          <p:nvPr/>
        </p:nvSpPr>
        <p:spPr>
          <a:xfrm>
            <a:off x="566928" y="3090672"/>
            <a:ext cx="11064240" cy="329184"/>
          </a:xfrm>
          <a:prstGeom prst="roundRect">
            <a:avLst>
              <a:gd name="adj" fmla="val 5556"/>
            </a:avLst>
          </a:prstGeom>
          <a:solidFill>
            <a:srgbClr val="F2F2F7"/>
          </a:solidFill>
          <a:ln w="12700">
            <a:solidFill>
              <a:srgbClr val="E9E9F0"/>
            </a:solidFill>
            <a:prstDash val="solid"/>
          </a:ln>
        </p:spPr>
      </p:sp>
      <p:sp>
        <p:nvSpPr>
          <p:cNvPr id="34" name="Text 32"/>
          <p:cNvSpPr txBox="1"/>
          <p:nvPr/>
        </p:nvSpPr>
        <p:spPr>
          <a:xfrm>
            <a:off x="749808" y="314553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Layer-drop probability</a:t>
            </a:r>
            <a:endParaRPr lang="en-US" sz="1150" dirty="0"/>
          </a:p>
        </p:txBody>
      </p:sp>
      <p:sp>
        <p:nvSpPr>
          <p:cNvPr id="35" name="Text 33"/>
          <p:cNvSpPr txBox="1"/>
          <p:nvPr/>
        </p:nvSpPr>
        <p:spPr>
          <a:xfrm>
            <a:off x="4480560" y="314553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0.05</a:t>
            </a:r>
            <a:endParaRPr lang="en-US" sz="1150" dirty="0"/>
          </a:p>
        </p:txBody>
      </p:sp>
      <p:sp>
        <p:nvSpPr>
          <p:cNvPr id="36" name="Text 34"/>
          <p:cNvSpPr txBox="1"/>
          <p:nvPr/>
        </p:nvSpPr>
        <p:spPr>
          <a:xfrm>
            <a:off x="6903720" y="314553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0</a:t>
            </a:r>
            <a:endParaRPr lang="en-US" sz="1150" dirty="0"/>
          </a:p>
        </p:txBody>
      </p:sp>
      <p:sp>
        <p:nvSpPr>
          <p:cNvPr id="37" name="Text 35"/>
          <p:cNvSpPr txBox="1"/>
          <p:nvPr/>
        </p:nvSpPr>
        <p:spPr>
          <a:xfrm>
            <a:off x="9326880" y="314553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0</a:t>
            </a:r>
            <a:endParaRPr lang="en-US" sz="1150" dirty="0"/>
          </a:p>
        </p:txBody>
      </p:sp>
      <p:sp>
        <p:nvSpPr>
          <p:cNvPr id="38" name="Shape 36"/>
          <p:cNvSpPr/>
          <p:nvPr/>
        </p:nvSpPr>
        <p:spPr>
          <a:xfrm>
            <a:off x="566928" y="3456432"/>
            <a:ext cx="11064240" cy="329184"/>
          </a:xfrm>
          <a:prstGeom prst="roundRect">
            <a:avLst>
              <a:gd name="adj" fmla="val 5556"/>
            </a:avLst>
          </a:prstGeom>
          <a:solidFill>
            <a:srgbClr val="FFFFFF"/>
          </a:solidFill>
          <a:ln w="12700">
            <a:solidFill>
              <a:srgbClr val="E9E9F0"/>
            </a:solidFill>
            <a:prstDash val="solid"/>
          </a:ln>
        </p:spPr>
      </p:sp>
      <p:sp>
        <p:nvSpPr>
          <p:cNvPr id="39" name="Text 37"/>
          <p:cNvSpPr txBox="1"/>
          <p:nvPr/>
        </p:nvSpPr>
        <p:spPr>
          <a:xfrm>
            <a:off x="749808" y="351129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Projection dimension</a:t>
            </a:r>
            <a:endParaRPr lang="en-US" sz="1150" dirty="0"/>
          </a:p>
        </p:txBody>
      </p:sp>
      <p:sp>
        <p:nvSpPr>
          <p:cNvPr id="40" name="Text 38"/>
          <p:cNvSpPr txBox="1"/>
          <p:nvPr/>
        </p:nvSpPr>
        <p:spPr>
          <a:xfrm>
            <a:off x="4480560" y="35112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256</a:t>
            </a:r>
            <a:endParaRPr lang="en-US" sz="1150" dirty="0"/>
          </a:p>
        </p:txBody>
      </p:sp>
      <p:sp>
        <p:nvSpPr>
          <p:cNvPr id="41" name="Text 39"/>
          <p:cNvSpPr txBox="1"/>
          <p:nvPr/>
        </p:nvSpPr>
        <p:spPr>
          <a:xfrm>
            <a:off x="6903720" y="35112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768</a:t>
            </a:r>
            <a:endParaRPr lang="en-US" sz="1150" dirty="0"/>
          </a:p>
        </p:txBody>
      </p:sp>
      <p:sp>
        <p:nvSpPr>
          <p:cNvPr id="42" name="Text 40"/>
          <p:cNvSpPr txBox="1"/>
          <p:nvPr/>
        </p:nvSpPr>
        <p:spPr>
          <a:xfrm>
            <a:off x="9326880" y="35112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1,024</a:t>
            </a:r>
            <a:endParaRPr lang="en-US" sz="1150" dirty="0"/>
          </a:p>
        </p:txBody>
      </p:sp>
      <p:sp>
        <p:nvSpPr>
          <p:cNvPr id="43" name="Shape 41"/>
          <p:cNvSpPr/>
          <p:nvPr/>
        </p:nvSpPr>
        <p:spPr>
          <a:xfrm>
            <a:off x="566928" y="3822192"/>
            <a:ext cx="11064240" cy="329184"/>
          </a:xfrm>
          <a:prstGeom prst="roundRect">
            <a:avLst>
              <a:gd name="adj" fmla="val 5556"/>
            </a:avLst>
          </a:prstGeom>
          <a:solidFill>
            <a:srgbClr val="F2F2F7"/>
          </a:solidFill>
          <a:ln w="12700">
            <a:solidFill>
              <a:srgbClr val="E9E9F0"/>
            </a:solidFill>
            <a:prstDash val="solid"/>
          </a:ln>
        </p:spPr>
      </p:sp>
      <p:sp>
        <p:nvSpPr>
          <p:cNvPr id="44" name="Text 42"/>
          <p:cNvSpPr txBox="1"/>
          <p:nvPr/>
        </p:nvSpPr>
        <p:spPr>
          <a:xfrm>
            <a:off x="749808" y="387705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Parameters</a:t>
            </a:r>
            <a:endParaRPr lang="en-US" sz="1150" dirty="0"/>
          </a:p>
        </p:txBody>
      </p:sp>
      <p:sp>
        <p:nvSpPr>
          <p:cNvPr id="45" name="Text 43"/>
          <p:cNvSpPr txBox="1"/>
          <p:nvPr/>
        </p:nvSpPr>
        <p:spPr>
          <a:xfrm>
            <a:off x="4480560" y="38770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95M</a:t>
            </a:r>
            <a:endParaRPr lang="en-US" sz="1150" dirty="0"/>
          </a:p>
        </p:txBody>
      </p:sp>
      <p:sp>
        <p:nvSpPr>
          <p:cNvPr id="46" name="Text 44"/>
          <p:cNvSpPr txBox="1"/>
          <p:nvPr/>
        </p:nvSpPr>
        <p:spPr>
          <a:xfrm>
            <a:off x="6903720" y="38770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317M</a:t>
            </a:r>
            <a:endParaRPr lang="en-US" sz="1150" dirty="0"/>
          </a:p>
        </p:txBody>
      </p:sp>
      <p:sp>
        <p:nvSpPr>
          <p:cNvPr id="47" name="Text 45"/>
          <p:cNvSpPr txBox="1"/>
          <p:nvPr/>
        </p:nvSpPr>
        <p:spPr>
          <a:xfrm>
            <a:off x="9326880" y="38770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964M</a:t>
            </a:r>
            <a:endParaRPr lang="en-US" sz="1150" dirty="0"/>
          </a:p>
        </p:txBody>
      </p:sp>
      <p:sp>
        <p:nvSpPr>
          <p:cNvPr id="48" name="Shape 46"/>
          <p:cNvSpPr/>
          <p:nvPr/>
        </p:nvSpPr>
        <p:spPr>
          <a:xfrm>
            <a:off x="566928" y="4187952"/>
            <a:ext cx="11064240" cy="329184"/>
          </a:xfrm>
          <a:prstGeom prst="roundRect">
            <a:avLst>
              <a:gd name="adj" fmla="val 5556"/>
            </a:avLst>
          </a:prstGeom>
          <a:solidFill>
            <a:srgbClr val="FFFFFF"/>
          </a:solidFill>
          <a:ln w="12700">
            <a:solidFill>
              <a:srgbClr val="E9E9F0"/>
            </a:solidFill>
            <a:prstDash val="solid"/>
          </a:ln>
        </p:spPr>
      </p:sp>
      <p:sp>
        <p:nvSpPr>
          <p:cNvPr id="49" name="Text 47"/>
          <p:cNvSpPr txBox="1"/>
          <p:nvPr/>
        </p:nvSpPr>
        <p:spPr>
          <a:xfrm>
            <a:off x="749808" y="424281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Pre-training data</a:t>
            </a:r>
            <a:endParaRPr lang="en-US" sz="1150" dirty="0"/>
          </a:p>
        </p:txBody>
      </p:sp>
      <p:sp>
        <p:nvSpPr>
          <p:cNvPr id="50" name="Text 48"/>
          <p:cNvSpPr txBox="1"/>
          <p:nvPr/>
        </p:nvSpPr>
        <p:spPr>
          <a:xfrm>
            <a:off x="4480560" y="424281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LibriSpeech 960h</a:t>
            </a:r>
            <a:endParaRPr lang="en-US" sz="1150" dirty="0"/>
          </a:p>
        </p:txBody>
      </p:sp>
      <p:sp>
        <p:nvSpPr>
          <p:cNvPr id="51" name="Text 49"/>
          <p:cNvSpPr txBox="1"/>
          <p:nvPr/>
        </p:nvSpPr>
        <p:spPr>
          <a:xfrm>
            <a:off x="6903720" y="424281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Libri-Light 60k h</a:t>
            </a:r>
            <a:endParaRPr lang="en-US" sz="1150" dirty="0"/>
          </a:p>
        </p:txBody>
      </p:sp>
      <p:sp>
        <p:nvSpPr>
          <p:cNvPr id="52" name="Text 50"/>
          <p:cNvSpPr txBox="1"/>
          <p:nvPr/>
        </p:nvSpPr>
        <p:spPr>
          <a:xfrm>
            <a:off x="9326880" y="424281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Libri-Light 60k h</a:t>
            </a:r>
            <a:endParaRPr lang="en-US" sz="1150" dirty="0"/>
          </a:p>
        </p:txBody>
      </p:sp>
      <p:sp>
        <p:nvSpPr>
          <p:cNvPr id="53" name="Shape 51"/>
          <p:cNvSpPr/>
          <p:nvPr/>
        </p:nvSpPr>
        <p:spPr>
          <a:xfrm>
            <a:off x="566928" y="4553712"/>
            <a:ext cx="11064240" cy="329184"/>
          </a:xfrm>
          <a:prstGeom prst="roundRect">
            <a:avLst>
              <a:gd name="adj" fmla="val 5556"/>
            </a:avLst>
          </a:prstGeom>
          <a:solidFill>
            <a:srgbClr val="F2F2F7"/>
          </a:solidFill>
          <a:ln w="12700">
            <a:solidFill>
              <a:srgbClr val="E9E9F0"/>
            </a:solidFill>
            <a:prstDash val="solid"/>
          </a:ln>
        </p:spPr>
      </p:sp>
      <p:sp>
        <p:nvSpPr>
          <p:cNvPr id="54" name="Text 52"/>
          <p:cNvSpPr txBox="1"/>
          <p:nvPr/>
        </p:nvSpPr>
        <p:spPr>
          <a:xfrm>
            <a:off x="749808" y="460857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GPUs</a:t>
            </a:r>
            <a:endParaRPr lang="en-US" sz="1150" dirty="0"/>
          </a:p>
        </p:txBody>
      </p:sp>
      <p:sp>
        <p:nvSpPr>
          <p:cNvPr id="55" name="Text 53"/>
          <p:cNvSpPr txBox="1"/>
          <p:nvPr/>
        </p:nvSpPr>
        <p:spPr>
          <a:xfrm>
            <a:off x="4480560" y="460857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32</a:t>
            </a:r>
            <a:endParaRPr lang="en-US" sz="1150" dirty="0"/>
          </a:p>
        </p:txBody>
      </p:sp>
      <p:sp>
        <p:nvSpPr>
          <p:cNvPr id="56" name="Text 54"/>
          <p:cNvSpPr txBox="1"/>
          <p:nvPr/>
        </p:nvSpPr>
        <p:spPr>
          <a:xfrm>
            <a:off x="6903720" y="460857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128</a:t>
            </a:r>
            <a:endParaRPr lang="en-US" sz="1150" dirty="0"/>
          </a:p>
        </p:txBody>
      </p:sp>
      <p:sp>
        <p:nvSpPr>
          <p:cNvPr id="57" name="Text 55"/>
          <p:cNvSpPr txBox="1"/>
          <p:nvPr/>
        </p:nvSpPr>
        <p:spPr>
          <a:xfrm>
            <a:off x="9326880" y="460857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256</a:t>
            </a:r>
            <a:endParaRPr lang="en-US" sz="1150" dirty="0"/>
          </a:p>
        </p:txBody>
      </p:sp>
      <p:sp>
        <p:nvSpPr>
          <p:cNvPr id="58" name="Shape 56"/>
          <p:cNvSpPr/>
          <p:nvPr/>
        </p:nvSpPr>
        <p:spPr>
          <a:xfrm>
            <a:off x="566928" y="4919472"/>
            <a:ext cx="11064240" cy="329184"/>
          </a:xfrm>
          <a:prstGeom prst="roundRect">
            <a:avLst>
              <a:gd name="adj" fmla="val 5556"/>
            </a:avLst>
          </a:prstGeom>
          <a:solidFill>
            <a:srgbClr val="FFFFFF"/>
          </a:solidFill>
          <a:ln w="12700">
            <a:solidFill>
              <a:srgbClr val="E9E9F0"/>
            </a:solidFill>
            <a:prstDash val="solid"/>
          </a:ln>
        </p:spPr>
      </p:sp>
      <p:sp>
        <p:nvSpPr>
          <p:cNvPr id="59" name="Text 57"/>
          <p:cNvSpPr txBox="1"/>
          <p:nvPr/>
        </p:nvSpPr>
        <p:spPr>
          <a:xfrm>
            <a:off x="749808" y="497433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Audio per GPU per batch</a:t>
            </a:r>
            <a:endParaRPr lang="en-US" sz="1150" dirty="0"/>
          </a:p>
        </p:txBody>
      </p:sp>
      <p:sp>
        <p:nvSpPr>
          <p:cNvPr id="60" name="Text 58"/>
          <p:cNvSpPr txBox="1"/>
          <p:nvPr/>
        </p:nvSpPr>
        <p:spPr>
          <a:xfrm>
            <a:off x="4480560" y="497433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 87.5 s</a:t>
            </a:r>
            <a:endParaRPr lang="en-US" sz="1150" dirty="0"/>
          </a:p>
        </p:txBody>
      </p:sp>
      <p:sp>
        <p:nvSpPr>
          <p:cNvPr id="61" name="Text 59"/>
          <p:cNvSpPr txBox="1"/>
          <p:nvPr/>
        </p:nvSpPr>
        <p:spPr>
          <a:xfrm>
            <a:off x="6903720" y="497433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56.25 s</a:t>
            </a:r>
            <a:endParaRPr lang="en-US" sz="1150" dirty="0"/>
          </a:p>
        </p:txBody>
      </p:sp>
      <p:sp>
        <p:nvSpPr>
          <p:cNvPr id="62" name="Text 60"/>
          <p:cNvSpPr txBox="1"/>
          <p:nvPr/>
        </p:nvSpPr>
        <p:spPr>
          <a:xfrm>
            <a:off x="9326880" y="497433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22.5 s</a:t>
            </a:r>
            <a:endParaRPr lang="en-US" sz="1150" dirty="0"/>
          </a:p>
        </p:txBody>
      </p:sp>
      <p:sp>
        <p:nvSpPr>
          <p:cNvPr id="63" name="Shape 61"/>
          <p:cNvSpPr/>
          <p:nvPr/>
        </p:nvSpPr>
        <p:spPr>
          <a:xfrm>
            <a:off x="566928" y="5285232"/>
            <a:ext cx="11064240" cy="329184"/>
          </a:xfrm>
          <a:prstGeom prst="roundRect">
            <a:avLst>
              <a:gd name="adj" fmla="val 5556"/>
            </a:avLst>
          </a:prstGeom>
          <a:solidFill>
            <a:srgbClr val="F2F2F7"/>
          </a:solidFill>
          <a:ln w="12700">
            <a:solidFill>
              <a:srgbClr val="E9E9F0"/>
            </a:solidFill>
            <a:prstDash val="solid"/>
          </a:ln>
        </p:spPr>
      </p:sp>
      <p:sp>
        <p:nvSpPr>
          <p:cNvPr id="64" name="Text 62"/>
          <p:cNvSpPr txBox="1"/>
          <p:nvPr/>
        </p:nvSpPr>
        <p:spPr>
          <a:xfrm>
            <a:off x="749808" y="534009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Peak learning rate</a:t>
            </a:r>
            <a:endParaRPr lang="en-US" sz="1150" dirty="0"/>
          </a:p>
        </p:txBody>
      </p:sp>
      <p:sp>
        <p:nvSpPr>
          <p:cNvPr id="65" name="Text 63"/>
          <p:cNvSpPr txBox="1"/>
          <p:nvPr/>
        </p:nvSpPr>
        <p:spPr>
          <a:xfrm>
            <a:off x="4480560" y="53400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5 × 10⁻⁴</a:t>
            </a:r>
            <a:endParaRPr lang="en-US" sz="1150" dirty="0"/>
          </a:p>
        </p:txBody>
      </p:sp>
      <p:sp>
        <p:nvSpPr>
          <p:cNvPr id="66" name="Text 64"/>
          <p:cNvSpPr txBox="1"/>
          <p:nvPr/>
        </p:nvSpPr>
        <p:spPr>
          <a:xfrm>
            <a:off x="6903720" y="53400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1.5 × 10⁻³</a:t>
            </a:r>
            <a:endParaRPr lang="en-US" sz="1150" dirty="0"/>
          </a:p>
        </p:txBody>
      </p:sp>
      <p:sp>
        <p:nvSpPr>
          <p:cNvPr id="67" name="Text 65"/>
          <p:cNvSpPr txBox="1"/>
          <p:nvPr/>
        </p:nvSpPr>
        <p:spPr>
          <a:xfrm>
            <a:off x="9326880" y="534009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3 × 10⁻³</a:t>
            </a:r>
            <a:endParaRPr lang="en-US" sz="1150" dirty="0"/>
          </a:p>
        </p:txBody>
      </p:sp>
      <p:sp>
        <p:nvSpPr>
          <p:cNvPr id="68" name="Shape 66"/>
          <p:cNvSpPr/>
          <p:nvPr/>
        </p:nvSpPr>
        <p:spPr>
          <a:xfrm>
            <a:off x="566928" y="5650992"/>
            <a:ext cx="11064240" cy="329184"/>
          </a:xfrm>
          <a:prstGeom prst="roundRect">
            <a:avLst>
              <a:gd name="adj" fmla="val 5556"/>
            </a:avLst>
          </a:prstGeom>
          <a:solidFill>
            <a:srgbClr val="FFFFFF"/>
          </a:solidFill>
          <a:ln w="12700">
            <a:solidFill>
              <a:srgbClr val="E9E9F0"/>
            </a:solidFill>
            <a:prstDash val="solid"/>
          </a:ln>
        </p:spPr>
      </p:sp>
      <p:sp>
        <p:nvSpPr>
          <p:cNvPr id="69" name="Text 67"/>
          <p:cNvSpPr txBox="1"/>
          <p:nvPr/>
        </p:nvSpPr>
        <p:spPr>
          <a:xfrm>
            <a:off x="749808" y="5705856"/>
            <a:ext cx="3657600" cy="246888"/>
          </a:xfrm>
          <a:prstGeom prst="rect">
            <a:avLst/>
          </a:prstGeom>
          <a:noFill/>
          <a:ln/>
        </p:spPr>
        <p:txBody>
          <a:bodyPr wrap="square" lIns="0" tIns="0" rIns="0" bIns="0" rtlCol="0" anchor="ctr"/>
          <a:lstStyle/>
          <a:p>
            <a:pPr indent="0" marL="0">
              <a:buNone/>
            </a:pPr>
            <a:r>
              <a:rPr lang="en-US" sz="1150" b="1" dirty="0">
                <a:solidFill>
                  <a:srgbClr val="191927"/>
                </a:solidFill>
                <a:latin typeface="Calibri" pitchFamily="34" charset="0"/>
                <a:ea typeface="Calibri" pitchFamily="34" charset="-122"/>
                <a:cs typeface="Calibri" pitchFamily="34" charset="-120"/>
              </a:rPr>
              <a:t>Update steps</a:t>
            </a:r>
            <a:endParaRPr lang="en-US" sz="1150" dirty="0"/>
          </a:p>
        </p:txBody>
      </p:sp>
      <p:sp>
        <p:nvSpPr>
          <p:cNvPr id="70" name="Text 68"/>
          <p:cNvSpPr txBox="1"/>
          <p:nvPr/>
        </p:nvSpPr>
        <p:spPr>
          <a:xfrm>
            <a:off x="4480560" y="57058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250k then 400k</a:t>
            </a:r>
            <a:endParaRPr lang="en-US" sz="1150" dirty="0"/>
          </a:p>
        </p:txBody>
      </p:sp>
      <p:sp>
        <p:nvSpPr>
          <p:cNvPr id="71" name="Text 69"/>
          <p:cNvSpPr txBox="1"/>
          <p:nvPr/>
        </p:nvSpPr>
        <p:spPr>
          <a:xfrm>
            <a:off x="6903720" y="57058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400k</a:t>
            </a:r>
            <a:endParaRPr lang="en-US" sz="1150" dirty="0"/>
          </a:p>
        </p:txBody>
      </p:sp>
      <p:sp>
        <p:nvSpPr>
          <p:cNvPr id="72" name="Text 70"/>
          <p:cNvSpPr txBox="1"/>
          <p:nvPr/>
        </p:nvSpPr>
        <p:spPr>
          <a:xfrm>
            <a:off x="9326880" y="5705856"/>
            <a:ext cx="2286000" cy="246888"/>
          </a:xfrm>
          <a:prstGeom prst="rect">
            <a:avLst/>
          </a:prstGeom>
          <a:noFill/>
          <a:ln/>
        </p:spPr>
        <p:txBody>
          <a:bodyPr wrap="square" lIns="0" tIns="0" rIns="0" bIns="0" rtlCol="0" anchor="ctr"/>
          <a:lstStyle/>
          <a:p>
            <a:pPr indent="0" marL="0">
              <a:buNone/>
            </a:pPr>
            <a:r>
              <a:rPr lang="en-US" sz="1150" dirty="0">
                <a:solidFill>
                  <a:srgbClr val="33334A"/>
                </a:solidFill>
                <a:latin typeface="Calibri" pitchFamily="34" charset="0"/>
                <a:ea typeface="Calibri" pitchFamily="34" charset="-122"/>
                <a:cs typeface="Calibri" pitchFamily="34" charset="-120"/>
              </a:rPr>
              <a:t>400k</a:t>
            </a:r>
            <a:endParaRPr lang="en-US" sz="1150" dirty="0"/>
          </a:p>
        </p:txBody>
      </p:sp>
      <p:sp>
        <p:nvSpPr>
          <p:cNvPr id="73" name="Text 71"/>
          <p:cNvSpPr txBox="1"/>
          <p:nvPr/>
        </p:nvSpPr>
        <p:spPr>
          <a:xfrm>
            <a:off x="566928" y="6089904"/>
            <a:ext cx="11064240" cy="274320"/>
          </a:xfrm>
          <a:prstGeom prst="rect">
            <a:avLst/>
          </a:prstGeom>
          <a:noFill/>
          <a:ln/>
        </p:spPr>
        <p:txBody>
          <a:bodyPr wrap="square" lIns="0" tIns="0" rIns="0" bIns="0" rtlCol="0" anchor="ctr"/>
          <a:lstStyle/>
          <a:p>
            <a:pPr indent="0" marL="0">
              <a:buNone/>
            </a:pPr>
            <a:r>
              <a:rPr lang="en-US" sz="1150" i="1" dirty="0">
                <a:solidFill>
                  <a:srgbClr val="5F5F79"/>
                </a:solidFill>
                <a:latin typeface="Calibri" pitchFamily="34" charset="0"/>
                <a:ea typeface="Calibri" pitchFamily="34" charset="-122"/>
                <a:cs typeface="Calibri" pitchFamily="34" charset="-120"/>
              </a:rPr>
              <a:t>BASE is trained for two iterations; LARGE and X-LARGE for one iteration each, using labels from the second-iteration BASE model.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Fine-tuning</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Where the labels finally enter</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13</a:t>
            </a:r>
            <a:endParaRPr lang="en-US" sz="900" dirty="0"/>
          </a:p>
        </p:txBody>
      </p:sp>
      <p:sp>
        <p:nvSpPr>
          <p:cNvPr id="10" name="Shape 8"/>
          <p:cNvSpPr/>
          <p:nvPr/>
        </p:nvSpPr>
        <p:spPr>
          <a:xfrm>
            <a:off x="566928" y="1554480"/>
            <a:ext cx="11064240" cy="822960"/>
          </a:xfrm>
          <a:prstGeom prst="roundRect">
            <a:avLst>
              <a:gd name="adj" fmla="val 3333"/>
            </a:avLst>
          </a:prstGeom>
          <a:solidFill>
            <a:srgbClr val="F2F2F7"/>
          </a:solidFill>
          <a:ln w="12700">
            <a:solidFill>
              <a:srgbClr val="E9E9F0"/>
            </a:solidFill>
            <a:prstDash val="solid"/>
          </a:ln>
        </p:spPr>
      </p:sp>
      <p:sp>
        <p:nvSpPr>
          <p:cNvPr id="11" name="Shape 9"/>
          <p:cNvSpPr/>
          <p:nvPr/>
        </p:nvSpPr>
        <p:spPr>
          <a:xfrm>
            <a:off x="786384" y="1906524"/>
            <a:ext cx="118872" cy="118872"/>
          </a:xfrm>
          <a:prstGeom prst="ellipse">
            <a:avLst/>
          </a:prstGeom>
          <a:solidFill>
            <a:srgbClr val="4E4E82"/>
          </a:solidFill>
          <a:ln w="12700">
            <a:solidFill>
              <a:srgbClr val="333333"/>
            </a:solidFill>
            <a:prstDash val="solid"/>
          </a:ln>
        </p:spPr>
      </p:sp>
      <p:sp>
        <p:nvSpPr>
          <p:cNvPr id="12" name="Text 10"/>
          <p:cNvSpPr txBox="1"/>
          <p:nvPr/>
        </p:nvSpPr>
        <p:spPr>
          <a:xfrm>
            <a:off x="1024128" y="1645920"/>
            <a:ext cx="22860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Output layer</a:t>
            </a:r>
            <a:endParaRPr lang="en-US" sz="1300" dirty="0"/>
          </a:p>
        </p:txBody>
      </p:sp>
      <p:sp>
        <p:nvSpPr>
          <p:cNvPr id="13" name="Text 11"/>
          <p:cNvSpPr txBox="1"/>
          <p:nvPr/>
        </p:nvSpPr>
        <p:spPr>
          <a:xfrm>
            <a:off x="3493008" y="1627632"/>
            <a:ext cx="7955280" cy="67665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The projection layers are removed and replaced with a randomly initialised softmax. The CTC vocabulary is 26 English characters, a space, an apostrophe and a blank symbol.</a:t>
            </a:r>
            <a:endParaRPr lang="en-US" sz="1200" dirty="0"/>
          </a:p>
        </p:txBody>
      </p:sp>
      <p:sp>
        <p:nvSpPr>
          <p:cNvPr id="14" name="Shape 12"/>
          <p:cNvSpPr/>
          <p:nvPr/>
        </p:nvSpPr>
        <p:spPr>
          <a:xfrm>
            <a:off x="566928" y="2432304"/>
            <a:ext cx="11064240" cy="822960"/>
          </a:xfrm>
          <a:prstGeom prst="roundRect">
            <a:avLst>
              <a:gd name="adj" fmla="val 3333"/>
            </a:avLst>
          </a:prstGeom>
          <a:solidFill>
            <a:srgbClr val="FFFFFF"/>
          </a:solidFill>
          <a:ln w="12700">
            <a:solidFill>
              <a:srgbClr val="E9E9F0"/>
            </a:solidFill>
            <a:prstDash val="solid"/>
          </a:ln>
        </p:spPr>
      </p:sp>
      <p:sp>
        <p:nvSpPr>
          <p:cNvPr id="15" name="Shape 13"/>
          <p:cNvSpPr/>
          <p:nvPr/>
        </p:nvSpPr>
        <p:spPr>
          <a:xfrm>
            <a:off x="786384" y="2784348"/>
            <a:ext cx="118872" cy="118872"/>
          </a:xfrm>
          <a:prstGeom prst="ellipse">
            <a:avLst/>
          </a:prstGeom>
          <a:solidFill>
            <a:srgbClr val="4E4E82"/>
          </a:solidFill>
          <a:ln w="12700">
            <a:solidFill>
              <a:srgbClr val="333333"/>
            </a:solidFill>
            <a:prstDash val="solid"/>
          </a:ln>
        </p:spPr>
      </p:sp>
      <p:sp>
        <p:nvSpPr>
          <p:cNvPr id="16" name="Text 14"/>
          <p:cNvSpPr txBox="1"/>
          <p:nvPr/>
        </p:nvSpPr>
        <p:spPr>
          <a:xfrm>
            <a:off x="1024128" y="2523744"/>
            <a:ext cx="22860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Frozen encoder</a:t>
            </a:r>
            <a:endParaRPr lang="en-US" sz="1300" dirty="0"/>
          </a:p>
        </p:txBody>
      </p:sp>
      <p:sp>
        <p:nvSpPr>
          <p:cNvPr id="17" name="Text 15"/>
          <p:cNvSpPr txBox="1"/>
          <p:nvPr/>
        </p:nvSpPr>
        <p:spPr>
          <a:xfrm>
            <a:off x="3493008" y="2505456"/>
            <a:ext cx="7955280" cy="67665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The convolutional waveform encoder is fixed throughout fine-tuning. Only the Transformer and the new output layer update.</a:t>
            </a:r>
            <a:endParaRPr lang="en-US" sz="1200" dirty="0"/>
          </a:p>
        </p:txBody>
      </p:sp>
      <p:sp>
        <p:nvSpPr>
          <p:cNvPr id="18" name="Shape 16"/>
          <p:cNvSpPr/>
          <p:nvPr/>
        </p:nvSpPr>
        <p:spPr>
          <a:xfrm>
            <a:off x="566928" y="3310128"/>
            <a:ext cx="11064240" cy="822960"/>
          </a:xfrm>
          <a:prstGeom prst="roundRect">
            <a:avLst>
              <a:gd name="adj" fmla="val 3333"/>
            </a:avLst>
          </a:prstGeom>
          <a:solidFill>
            <a:srgbClr val="F2F2F7"/>
          </a:solidFill>
          <a:ln w="12700">
            <a:solidFill>
              <a:srgbClr val="E9E9F0"/>
            </a:solidFill>
            <a:prstDash val="solid"/>
          </a:ln>
        </p:spPr>
      </p:sp>
      <p:sp>
        <p:nvSpPr>
          <p:cNvPr id="19" name="Shape 17"/>
          <p:cNvSpPr/>
          <p:nvPr/>
        </p:nvSpPr>
        <p:spPr>
          <a:xfrm>
            <a:off x="786384" y="3662172"/>
            <a:ext cx="118872" cy="118872"/>
          </a:xfrm>
          <a:prstGeom prst="ellipse">
            <a:avLst/>
          </a:prstGeom>
          <a:solidFill>
            <a:srgbClr val="4E4E82"/>
          </a:solidFill>
          <a:ln w="12700">
            <a:solidFill>
              <a:srgbClr val="333333"/>
            </a:solidFill>
            <a:prstDash val="solid"/>
          </a:ln>
        </p:spPr>
      </p:sp>
      <p:sp>
        <p:nvSpPr>
          <p:cNvPr id="20" name="Text 18"/>
          <p:cNvSpPr txBox="1"/>
          <p:nvPr/>
        </p:nvSpPr>
        <p:spPr>
          <a:xfrm>
            <a:off x="1024128" y="3401568"/>
            <a:ext cx="22860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Freeze step</a:t>
            </a:r>
            <a:endParaRPr lang="en-US" sz="1300" dirty="0"/>
          </a:p>
        </p:txBody>
      </p:sp>
      <p:sp>
        <p:nvSpPr>
          <p:cNvPr id="21" name="Text 19"/>
          <p:cNvSpPr txBox="1"/>
          <p:nvPr/>
        </p:nvSpPr>
        <p:spPr>
          <a:xfrm>
            <a:off x="3493008" y="3383280"/>
            <a:ext cx="7955280" cy="67665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As in wav2vec 2.0, a hyperparameter controls how many steps the Transformer stays frozen while only the softmax matrix trains.</a:t>
            </a:r>
            <a:endParaRPr lang="en-US" sz="1200" dirty="0"/>
          </a:p>
        </p:txBody>
      </p:sp>
      <p:sp>
        <p:nvSpPr>
          <p:cNvPr id="22" name="Shape 20"/>
          <p:cNvSpPr/>
          <p:nvPr/>
        </p:nvSpPr>
        <p:spPr>
          <a:xfrm>
            <a:off x="566928" y="4187952"/>
            <a:ext cx="11064240" cy="822960"/>
          </a:xfrm>
          <a:prstGeom prst="roundRect">
            <a:avLst>
              <a:gd name="adj" fmla="val 3333"/>
            </a:avLst>
          </a:prstGeom>
          <a:solidFill>
            <a:srgbClr val="FFFFFF"/>
          </a:solidFill>
          <a:ln w="12700">
            <a:solidFill>
              <a:srgbClr val="E9E9F0"/>
            </a:solidFill>
            <a:prstDash val="solid"/>
          </a:ln>
        </p:spPr>
      </p:sp>
      <p:sp>
        <p:nvSpPr>
          <p:cNvPr id="23" name="Shape 21"/>
          <p:cNvSpPr/>
          <p:nvPr/>
        </p:nvSpPr>
        <p:spPr>
          <a:xfrm>
            <a:off x="786384" y="4539996"/>
            <a:ext cx="118872" cy="118872"/>
          </a:xfrm>
          <a:prstGeom prst="ellipse">
            <a:avLst/>
          </a:prstGeom>
          <a:solidFill>
            <a:srgbClr val="4E4E82"/>
          </a:solidFill>
          <a:ln w="12700">
            <a:solidFill>
              <a:srgbClr val="333333"/>
            </a:solidFill>
            <a:prstDash val="solid"/>
          </a:ln>
        </p:spPr>
      </p:sp>
      <p:sp>
        <p:nvSpPr>
          <p:cNvPr id="24" name="Text 22"/>
          <p:cNvSpPr txBox="1"/>
          <p:nvPr/>
        </p:nvSpPr>
        <p:spPr>
          <a:xfrm>
            <a:off x="1024128" y="4279392"/>
            <a:ext cx="22860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Model selection</a:t>
            </a:r>
            <a:endParaRPr lang="en-US" sz="1300" dirty="0"/>
          </a:p>
        </p:txBody>
      </p:sp>
      <p:sp>
        <p:nvSpPr>
          <p:cNvPr id="25" name="Text 23"/>
          <p:cNvSpPr txBox="1"/>
          <p:nvPr/>
        </p:nvSpPr>
        <p:spPr>
          <a:xfrm>
            <a:off x="3493008" y="4261104"/>
            <a:ext cx="7955280" cy="67665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Peak learning rate, schedule, number of steps, freeze step and masking probability are all swept per model size and per labelled split, selected on dev-other word error rate.</a:t>
            </a:r>
            <a:endParaRPr lang="en-US" sz="1200" dirty="0"/>
          </a:p>
        </p:txBody>
      </p:sp>
      <p:sp>
        <p:nvSpPr>
          <p:cNvPr id="26" name="Shape 24"/>
          <p:cNvSpPr/>
          <p:nvPr/>
        </p:nvSpPr>
        <p:spPr>
          <a:xfrm>
            <a:off x="566928" y="5065776"/>
            <a:ext cx="11064240" cy="822960"/>
          </a:xfrm>
          <a:prstGeom prst="roundRect">
            <a:avLst>
              <a:gd name="adj" fmla="val 3333"/>
            </a:avLst>
          </a:prstGeom>
          <a:solidFill>
            <a:srgbClr val="F2F2F7"/>
          </a:solidFill>
          <a:ln w="12700">
            <a:solidFill>
              <a:srgbClr val="E9E9F0"/>
            </a:solidFill>
            <a:prstDash val="solid"/>
          </a:ln>
        </p:spPr>
      </p:sp>
      <p:sp>
        <p:nvSpPr>
          <p:cNvPr id="27" name="Shape 25"/>
          <p:cNvSpPr/>
          <p:nvPr/>
        </p:nvSpPr>
        <p:spPr>
          <a:xfrm>
            <a:off x="786384" y="5417820"/>
            <a:ext cx="118872" cy="118872"/>
          </a:xfrm>
          <a:prstGeom prst="ellipse">
            <a:avLst/>
          </a:prstGeom>
          <a:solidFill>
            <a:srgbClr val="4E4E82"/>
          </a:solidFill>
          <a:ln w="12700">
            <a:solidFill>
              <a:srgbClr val="333333"/>
            </a:solidFill>
            <a:prstDash val="solid"/>
          </a:ln>
        </p:spPr>
      </p:sp>
      <p:sp>
        <p:nvSpPr>
          <p:cNvPr id="28" name="Text 26"/>
          <p:cNvSpPr txBox="1"/>
          <p:nvPr/>
        </p:nvSpPr>
        <p:spPr>
          <a:xfrm>
            <a:off x="1024128" y="5157216"/>
            <a:ext cx="22860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Decoding</a:t>
            </a:r>
            <a:endParaRPr lang="en-US" sz="1300" dirty="0"/>
          </a:p>
        </p:txBody>
      </p:sp>
      <p:sp>
        <p:nvSpPr>
          <p:cNvPr id="29" name="Text 27"/>
          <p:cNvSpPr txBox="1"/>
          <p:nvPr/>
        </p:nvSpPr>
        <p:spPr>
          <a:xfrm>
            <a:off x="3493008" y="5138928"/>
            <a:ext cx="7955280" cy="67665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Beam search with an n-gram or Transformer language model, with weights tuned by Bayesian optimisation — the same setup as wav2vec 2.0, so the comparison is like for like.</a:t>
            </a:r>
            <a:endParaRPr lang="en-US" sz="1200" dirty="0"/>
          </a:p>
        </p:txBody>
      </p:sp>
      <p:sp>
        <p:nvSpPr>
          <p:cNvPr id="30" name="Shape 28"/>
          <p:cNvSpPr/>
          <p:nvPr/>
        </p:nvSpPr>
        <p:spPr>
          <a:xfrm>
            <a:off x="566928" y="5541264"/>
            <a:ext cx="11064240" cy="512064"/>
          </a:xfrm>
          <a:prstGeom prst="roundRect">
            <a:avLst>
              <a:gd name="adj" fmla="val 10714"/>
            </a:avLst>
          </a:prstGeom>
          <a:solidFill>
            <a:srgbClr val="232336"/>
          </a:solidFill>
          <a:ln w="12700">
            <a:solidFill>
              <a:srgbClr val="232336"/>
            </a:solidFill>
            <a:prstDash val="solid"/>
          </a:ln>
        </p:spPr>
      </p:sp>
      <p:sp>
        <p:nvSpPr>
          <p:cNvPr id="31" name="Text 29"/>
          <p:cNvSpPr txBox="1"/>
          <p:nvPr/>
        </p:nvSpPr>
        <p:spPr>
          <a:xfrm>
            <a:off x="822960" y="5760720"/>
            <a:ext cx="10552176" cy="91440"/>
          </a:xfrm>
          <a:prstGeom prst="rect">
            <a:avLst/>
          </a:prstGeom>
          <a:noFill/>
          <a:ln/>
        </p:spPr>
        <p:txBody>
          <a:bodyPr wrap="square" lIns="0" tIns="0" rIns="0" bIns="0" rtlCol="0" anchor="t"/>
          <a:lstStyle/>
          <a:p>
            <a:pPr indent="0" marL="0">
              <a:lnSpc>
                <a:spcPct val="108000"/>
              </a:lnSpc>
              <a:buNone/>
            </a:pPr>
            <a:r>
              <a:rPr lang="en-US" sz="1260" dirty="0">
                <a:solidFill>
                  <a:srgbClr val="CFCFE2"/>
                </a:solidFill>
                <a:latin typeface="Calibri" pitchFamily="34" charset="0"/>
                <a:ea typeface="Calibri" pitchFamily="34" charset="-122"/>
                <a:cs typeface="Calibri" pitchFamily="34" charset="-120"/>
              </a:rPr>
              <a:t>Note the sweep in row four: the reported numbers are the best of a per-setting hyperparameter search. Fair, standard, and worth remembering when reading small margins.</a:t>
            </a:r>
            <a:endParaRPr lang="en-US" sz="12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10698480" y="5486400"/>
            <a:ext cx="146304" cy="146304"/>
          </a:xfrm>
          <a:prstGeom prst="ellipse">
            <a:avLst/>
          </a:prstGeom>
          <a:solidFill>
            <a:srgbClr val="CFCFE2"/>
          </a:solidFill>
          <a:ln w="12700">
            <a:solidFill>
              <a:srgbClr val="333333"/>
            </a:solidFill>
            <a:prstDash val="solid"/>
          </a:ln>
        </p:spPr>
      </p:sp>
      <p:sp>
        <p:nvSpPr>
          <p:cNvPr id="3" name="Shape 1"/>
          <p:cNvSpPr/>
          <p:nvPr/>
        </p:nvSpPr>
        <p:spPr>
          <a:xfrm>
            <a:off x="10991088" y="5303520"/>
            <a:ext cx="146304" cy="146304"/>
          </a:xfrm>
          <a:prstGeom prst="ellipse">
            <a:avLst/>
          </a:prstGeom>
          <a:solidFill>
            <a:srgbClr val="CFCFE2"/>
          </a:solidFill>
          <a:ln w="12700">
            <a:solidFill>
              <a:srgbClr val="333333"/>
            </a:solidFill>
            <a:prstDash val="solid"/>
          </a:ln>
        </p:spPr>
      </p:sp>
      <p:sp>
        <p:nvSpPr>
          <p:cNvPr id="4" name="Shape 2"/>
          <p:cNvSpPr/>
          <p:nvPr/>
        </p:nvSpPr>
        <p:spPr>
          <a:xfrm>
            <a:off x="11247120" y="5541264"/>
            <a:ext cx="237744" cy="237744"/>
          </a:xfrm>
          <a:prstGeom prst="ellipse">
            <a:avLst/>
          </a:prstGeom>
          <a:solidFill>
            <a:srgbClr val="C94F7C"/>
          </a:solidFill>
          <a:ln w="12700">
            <a:solidFill>
              <a:srgbClr val="333333"/>
            </a:solidFill>
            <a:prstDash val="solid"/>
          </a:ln>
        </p:spPr>
      </p:sp>
      <p:sp>
        <p:nvSpPr>
          <p:cNvPr id="5" name="Shape 3"/>
          <p:cNvSpPr/>
          <p:nvPr/>
        </p:nvSpPr>
        <p:spPr>
          <a:xfrm>
            <a:off x="10881360" y="5779008"/>
            <a:ext cx="146304" cy="146304"/>
          </a:xfrm>
          <a:prstGeom prst="ellipse">
            <a:avLst/>
          </a:prstGeom>
          <a:solidFill>
            <a:srgbClr val="CFCFE2"/>
          </a:solidFill>
          <a:ln w="12700">
            <a:solidFill>
              <a:srgbClr val="333333"/>
            </a:solidFill>
            <a:prstDash val="solid"/>
          </a:ln>
        </p:spPr>
      </p:sp>
      <p:sp>
        <p:nvSpPr>
          <p:cNvPr id="6" name="Shape 4"/>
          <p:cNvSpPr/>
          <p:nvPr/>
        </p:nvSpPr>
        <p:spPr>
          <a:xfrm>
            <a:off x="11210544" y="5852160"/>
            <a:ext cx="146304" cy="146304"/>
          </a:xfrm>
          <a:prstGeom prst="ellipse">
            <a:avLst/>
          </a:prstGeom>
          <a:solidFill>
            <a:srgbClr val="CFCFE2"/>
          </a:solidFill>
          <a:ln w="12700">
            <a:solidFill>
              <a:srgbClr val="333333"/>
            </a:solidFill>
            <a:prstDash val="solid"/>
          </a:ln>
        </p:spPr>
      </p:sp>
      <p:sp>
        <p:nvSpPr>
          <p:cNvPr id="7" name="Text 5"/>
          <p:cNvSpPr txBox="1"/>
          <p:nvPr/>
        </p:nvSpPr>
        <p:spPr>
          <a:xfrm>
            <a:off x="822960" y="2057400"/>
            <a:ext cx="1554480" cy="1005840"/>
          </a:xfrm>
          <a:prstGeom prst="rect">
            <a:avLst/>
          </a:prstGeom>
          <a:noFill/>
          <a:ln/>
        </p:spPr>
        <p:txBody>
          <a:bodyPr wrap="square" lIns="0" tIns="0" rIns="0" bIns="0" rtlCol="0" anchor="ctr"/>
          <a:lstStyle/>
          <a:p>
            <a:pPr indent="0" marL="0">
              <a:buNone/>
            </a:pPr>
            <a:r>
              <a:rPr lang="en-US" sz="6600" b="1" dirty="0">
                <a:solidFill>
                  <a:srgbClr val="C94F7C"/>
                </a:solidFill>
                <a:latin typeface="Cambria" pitchFamily="34" charset="0"/>
                <a:ea typeface="Cambria" pitchFamily="34" charset="-122"/>
                <a:cs typeface="Cambria" pitchFamily="34" charset="-120"/>
              </a:rPr>
              <a:t>3</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Does it work?</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indent="0" marL="0">
              <a:buNone/>
            </a:pPr>
            <a:r>
              <a:rPr lang="en-US" sz="1500" dirty="0">
                <a:solidFill>
                  <a:srgbClr val="CFCFE2"/>
                </a:solidFill>
                <a:latin typeface="Calibri" pitchFamily="34" charset="0"/>
                <a:ea typeface="Calibri" pitchFamily="34" charset="-122"/>
                <a:cs typeface="Calibri" pitchFamily="34" charset="-120"/>
              </a:rPr>
              <a:t>Low-resource and high-resource speech recognition</a:t>
            </a:r>
            <a:endParaRPr lang="en-US" sz="1500" dirty="0"/>
          </a:p>
        </p:txBody>
      </p:sp>
      <p:sp>
        <p:nvSpPr>
          <p:cNvPr id="10" name="Text 8"/>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Low-resource results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Word error rate on test-other, decoded with the Transformer language model</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15</a:t>
            </a:r>
            <a:endParaRPr lang="en-US" sz="900" dirty="0"/>
          </a:p>
        </p:txBody>
      </p:sp>
      <p:graphicFrame>
        <p:nvGraphicFramePr>
          <p:cNvPr id="10" name="Chart 0" descr=""/>
          <p:cNvGraphicFramePr/>
          <p:nvPr/>
        </p:nvGraphicFramePr>
        <p:xfrm>
          <a:off x="566928" y="155448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With ten minutes of labels, HuBERT LARGE reaches 4.7 on test-clean and 7.6 on test-other — 0.1 and 0.6 better than wav2vec 2.0 LARGE.</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Scaling to a billion parameters takes test-other to 6.8, a further substantial gain.</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HuBERT beats Discrete BERT by a wide margin in every setting, despite a virtually identical objective — because it takes raw waveform input rather than quantised units.</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Two exceptions the paper reports rather than hides: at 100 hours, LARGE is 0.1 worse on test-clean, and BASE is 0.1 worse on test-other.</a:t>
            </a:r>
            <a:endParaRPr lang="en-US" sz="1220" dirty="0"/>
          </a:p>
        </p:txBody>
      </p:sp>
      <p:sp>
        <p:nvSpPr>
          <p:cNvPr id="12" name="Shape 9"/>
          <p:cNvSpPr/>
          <p:nvPr/>
        </p:nvSpPr>
        <p:spPr>
          <a:xfrm>
            <a:off x="566928" y="5266944"/>
            <a:ext cx="11064240" cy="786384"/>
          </a:xfrm>
          <a:prstGeom prst="roundRect">
            <a:avLst>
              <a:gd name="adj" fmla="val 6977"/>
            </a:avLst>
          </a:prstGeom>
          <a:solidFill>
            <a:srgbClr val="232336"/>
          </a:solidFill>
          <a:ln w="12700">
            <a:solidFill>
              <a:srgbClr val="232336"/>
            </a:solidFill>
            <a:prstDash val="solid"/>
          </a:ln>
        </p:spPr>
      </p:sp>
      <p:sp>
        <p:nvSpPr>
          <p:cNvPr id="13" name="Text 10"/>
          <p:cNvSpPr txBox="1"/>
          <p:nvPr/>
        </p:nvSpPr>
        <p:spPr>
          <a:xfrm>
            <a:off x="822960" y="5486400"/>
            <a:ext cx="10552176" cy="365760"/>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Read the margins honestly: HuBERT matches or slightly beats wav2vec 2.0. It does not transform the numbers. The interesting claim is that it does so with a simpler and more stable recipe.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High-resource results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Fine-tuning on all 960 labelled hours of LibriSpeech</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16</a:t>
            </a:r>
            <a:endParaRPr lang="en-US" sz="900" dirty="0"/>
          </a:p>
        </p:txBody>
      </p:sp>
      <p:graphicFrame>
        <p:nvGraphicFramePr>
          <p:cNvPr id="10" name="Chart 0" descr=""/>
          <p:cNvGraphicFramePr/>
          <p:nvPr/>
        </p:nvGraphicFramePr>
        <p:xfrm>
          <a:off x="566928" y="155448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HuBERT LARGE ties wav2vec 2.0 LARGE at 3.3 on test-other. X-LARGE takes it to 2.9.</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Both beat the best supervised and self-training systems, but lag methods that combine pre-training with self-training.</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The paper says plainly that it expects HuBERT would close that gap if combined with self-training, since its pre-trained model is at least as good as the ones those methods start from.</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The X-LARGE gain — 13% relative on test-other over LARGE — is the paper's evidence that the method scales.</a:t>
            </a:r>
            <a:endParaRPr lang="en-US" sz="1220" dirty="0"/>
          </a:p>
        </p:txBody>
      </p:sp>
      <p:sp>
        <p:nvSpPr>
          <p:cNvPr id="12" name="Shape 9"/>
          <p:cNvSpPr/>
          <p:nvPr/>
        </p:nvSpPr>
        <p:spPr>
          <a:xfrm>
            <a:off x="566928" y="5266944"/>
            <a:ext cx="11064240" cy="786384"/>
          </a:xfrm>
          <a:prstGeom prst="roundRect">
            <a:avLst>
              <a:gd name="adj" fmla="val 6977"/>
            </a:avLst>
          </a:prstGeom>
          <a:solidFill>
            <a:srgbClr val="232336"/>
          </a:solidFill>
          <a:ln w="12700">
            <a:solidFill>
              <a:srgbClr val="232336"/>
            </a:solidFill>
            <a:prstDash val="solid"/>
          </a:ln>
        </p:spPr>
      </p:sp>
      <p:sp>
        <p:nvSpPr>
          <p:cNvPr id="13" name="Text 10"/>
          <p:cNvSpPr txBox="1"/>
          <p:nvPr/>
        </p:nvSpPr>
        <p:spPr>
          <a:xfrm>
            <a:off x="822960" y="5486400"/>
            <a:ext cx="10552176" cy="365760"/>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A prediction that aged well: pre-training and self-training are complementary, and combining them was the obvious next step. It became standard practice within about a year.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10698480" y="5486400"/>
            <a:ext cx="146304" cy="146304"/>
          </a:xfrm>
          <a:prstGeom prst="ellipse">
            <a:avLst/>
          </a:prstGeom>
          <a:solidFill>
            <a:srgbClr val="CFCFE2"/>
          </a:solidFill>
          <a:ln w="12700">
            <a:solidFill>
              <a:srgbClr val="333333"/>
            </a:solidFill>
            <a:prstDash val="solid"/>
          </a:ln>
        </p:spPr>
      </p:sp>
      <p:sp>
        <p:nvSpPr>
          <p:cNvPr id="3" name="Shape 1"/>
          <p:cNvSpPr/>
          <p:nvPr/>
        </p:nvSpPr>
        <p:spPr>
          <a:xfrm>
            <a:off x="10991088" y="5303520"/>
            <a:ext cx="146304" cy="146304"/>
          </a:xfrm>
          <a:prstGeom prst="ellipse">
            <a:avLst/>
          </a:prstGeom>
          <a:solidFill>
            <a:srgbClr val="CFCFE2"/>
          </a:solidFill>
          <a:ln w="12700">
            <a:solidFill>
              <a:srgbClr val="333333"/>
            </a:solidFill>
            <a:prstDash val="solid"/>
          </a:ln>
        </p:spPr>
      </p:sp>
      <p:sp>
        <p:nvSpPr>
          <p:cNvPr id="4" name="Shape 2"/>
          <p:cNvSpPr/>
          <p:nvPr/>
        </p:nvSpPr>
        <p:spPr>
          <a:xfrm>
            <a:off x="11247120" y="5541264"/>
            <a:ext cx="237744" cy="237744"/>
          </a:xfrm>
          <a:prstGeom prst="ellipse">
            <a:avLst/>
          </a:prstGeom>
          <a:solidFill>
            <a:srgbClr val="C94F7C"/>
          </a:solidFill>
          <a:ln w="12700">
            <a:solidFill>
              <a:srgbClr val="333333"/>
            </a:solidFill>
            <a:prstDash val="solid"/>
          </a:ln>
        </p:spPr>
      </p:sp>
      <p:sp>
        <p:nvSpPr>
          <p:cNvPr id="5" name="Shape 3"/>
          <p:cNvSpPr/>
          <p:nvPr/>
        </p:nvSpPr>
        <p:spPr>
          <a:xfrm>
            <a:off x="10881360" y="5779008"/>
            <a:ext cx="146304" cy="146304"/>
          </a:xfrm>
          <a:prstGeom prst="ellipse">
            <a:avLst/>
          </a:prstGeom>
          <a:solidFill>
            <a:srgbClr val="CFCFE2"/>
          </a:solidFill>
          <a:ln w="12700">
            <a:solidFill>
              <a:srgbClr val="333333"/>
            </a:solidFill>
            <a:prstDash val="solid"/>
          </a:ln>
        </p:spPr>
      </p:sp>
      <p:sp>
        <p:nvSpPr>
          <p:cNvPr id="6" name="Shape 4"/>
          <p:cNvSpPr/>
          <p:nvPr/>
        </p:nvSpPr>
        <p:spPr>
          <a:xfrm>
            <a:off x="11210544" y="5852160"/>
            <a:ext cx="146304" cy="146304"/>
          </a:xfrm>
          <a:prstGeom prst="ellipse">
            <a:avLst/>
          </a:prstGeom>
          <a:solidFill>
            <a:srgbClr val="CFCFE2"/>
          </a:solidFill>
          <a:ln w="12700">
            <a:solidFill>
              <a:srgbClr val="333333"/>
            </a:solidFill>
            <a:prstDash val="solid"/>
          </a:ln>
        </p:spPr>
      </p:sp>
      <p:sp>
        <p:nvSpPr>
          <p:cNvPr id="7" name="Text 5"/>
          <p:cNvSpPr txBox="1"/>
          <p:nvPr/>
        </p:nvSpPr>
        <p:spPr>
          <a:xfrm>
            <a:off x="822960" y="2057400"/>
            <a:ext cx="1554480" cy="1005840"/>
          </a:xfrm>
          <a:prstGeom prst="rect">
            <a:avLst/>
          </a:prstGeom>
          <a:noFill/>
          <a:ln/>
        </p:spPr>
        <p:txBody>
          <a:bodyPr wrap="square" lIns="0" tIns="0" rIns="0" bIns="0" rtlCol="0" anchor="ctr"/>
          <a:lstStyle/>
          <a:p>
            <a:pPr indent="0" marL="0">
              <a:buNone/>
            </a:pPr>
            <a:r>
              <a:rPr lang="en-US" sz="6600" b="1" dirty="0">
                <a:solidFill>
                  <a:srgbClr val="C94F7C"/>
                </a:solidFill>
                <a:latin typeface="Cambria" pitchFamily="34" charset="0"/>
                <a:ea typeface="Cambria" pitchFamily="34" charset="-122"/>
                <a:cs typeface="Cambria" pitchFamily="34" charset="-120"/>
              </a:rPr>
              <a:t>4</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Why it works</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indent="0" marL="0">
              <a:buNone/>
            </a:pPr>
            <a:r>
              <a:rPr lang="en-US" sz="1500" dirty="0">
                <a:solidFill>
                  <a:srgbClr val="CFCFE2"/>
                </a:solidFill>
                <a:latin typeface="Calibri" pitchFamily="34" charset="0"/>
                <a:ea typeface="Calibri" pitchFamily="34" charset="-122"/>
                <a:cs typeface="Calibri" pitchFamily="34" charset="-120"/>
              </a:rPr>
              <a:t>The analyses — the most valuable part of the paper</a:t>
            </a:r>
            <a:endParaRPr lang="en-US" sz="1500" dirty="0"/>
          </a:p>
        </p:txBody>
      </p:sp>
      <p:sp>
        <p:nvSpPr>
          <p:cNvPr id="10" name="Text 8"/>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How do you measure a teacher you never supervised?</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Three metrics, computed against forced-aligned phone labels used only for analysis</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18</a:t>
            </a:r>
            <a:endParaRPr lang="en-US" sz="900" dirty="0"/>
          </a:p>
        </p:txBody>
      </p:sp>
      <p:sp>
        <p:nvSpPr>
          <p:cNvPr id="10" name="Shape 8"/>
          <p:cNvSpPr/>
          <p:nvPr/>
        </p:nvSpPr>
        <p:spPr>
          <a:xfrm>
            <a:off x="566928" y="1554480"/>
            <a:ext cx="11064240" cy="1143000"/>
          </a:xfrm>
          <a:prstGeom prst="roundRect">
            <a:avLst>
              <a:gd name="adj" fmla="val 2400"/>
            </a:avLst>
          </a:prstGeom>
          <a:solidFill>
            <a:srgbClr val="F2F2F7"/>
          </a:solidFill>
          <a:ln w="12700">
            <a:solidFill>
              <a:srgbClr val="E9E9F0"/>
            </a:solidFill>
            <a:prstDash val="solid"/>
          </a:ln>
        </p:spPr>
      </p:sp>
      <p:sp>
        <p:nvSpPr>
          <p:cNvPr id="11" name="Shape 9"/>
          <p:cNvSpPr/>
          <p:nvPr/>
        </p:nvSpPr>
        <p:spPr>
          <a:xfrm>
            <a:off x="786384" y="2066544"/>
            <a:ext cx="118872" cy="118872"/>
          </a:xfrm>
          <a:prstGeom prst="ellipse">
            <a:avLst/>
          </a:prstGeom>
          <a:solidFill>
            <a:srgbClr val="4E4E82"/>
          </a:solidFill>
          <a:ln w="12700">
            <a:solidFill>
              <a:srgbClr val="333333"/>
            </a:solidFill>
            <a:prstDash val="solid"/>
          </a:ln>
        </p:spPr>
      </p:sp>
      <p:sp>
        <p:nvSpPr>
          <p:cNvPr id="12" name="Text 10"/>
          <p:cNvSpPr txBox="1"/>
          <p:nvPr/>
        </p:nvSpPr>
        <p:spPr>
          <a:xfrm>
            <a:off x="1024128" y="1645920"/>
            <a:ext cx="3108960" cy="9601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Phone purity</a:t>
            </a:r>
            <a:endParaRPr lang="en-US" sz="1350" dirty="0"/>
          </a:p>
        </p:txBody>
      </p:sp>
      <p:sp>
        <p:nvSpPr>
          <p:cNvPr id="13" name="Text 11"/>
          <p:cNvSpPr txBox="1"/>
          <p:nvPr/>
        </p:nvSpPr>
        <p:spPr>
          <a:xfrm>
            <a:off x="4315968" y="1627632"/>
            <a:ext cx="7132320" cy="996696"/>
          </a:xfrm>
          <a:prstGeom prst="rect">
            <a:avLst/>
          </a:prstGeom>
          <a:noFill/>
          <a:ln/>
        </p:spPr>
        <p:txBody>
          <a:bodyPr wrap="square" lIns="0" tIns="0" rIns="0" bIns="0" rtlCol="0" anchor="ctr"/>
          <a:lstStyle/>
          <a:p>
            <a:pPr indent="0" marL="0">
              <a:buNone/>
            </a:pPr>
            <a:r>
              <a:rPr lang="en-US" sz="1220" dirty="0">
                <a:solidFill>
                  <a:srgbClr val="33334A"/>
                </a:solidFill>
                <a:latin typeface="Calibri" pitchFamily="34" charset="0"/>
                <a:ea typeface="Calibri" pitchFamily="34" charset="-122"/>
                <a:cs typeface="Calibri" pitchFamily="34" charset="-120"/>
              </a:rPr>
              <a:t>Label each cluster with its most likely phone, then ask how often frames in that cluster really are that phone. Effectively frame-level phone accuracy — but it goes to 100% if every frame gets its own cluster, so it only compares like with like.</a:t>
            </a:r>
            <a:endParaRPr lang="en-US" sz="1220" dirty="0"/>
          </a:p>
        </p:txBody>
      </p:sp>
      <p:sp>
        <p:nvSpPr>
          <p:cNvPr id="14" name="Shape 12"/>
          <p:cNvSpPr/>
          <p:nvPr/>
        </p:nvSpPr>
        <p:spPr>
          <a:xfrm>
            <a:off x="566928" y="2752344"/>
            <a:ext cx="11064240" cy="1143000"/>
          </a:xfrm>
          <a:prstGeom prst="roundRect">
            <a:avLst>
              <a:gd name="adj" fmla="val 2400"/>
            </a:avLst>
          </a:prstGeom>
          <a:solidFill>
            <a:srgbClr val="FFFFFF"/>
          </a:solidFill>
          <a:ln w="12700">
            <a:solidFill>
              <a:srgbClr val="E9E9F0"/>
            </a:solidFill>
            <a:prstDash val="solid"/>
          </a:ln>
        </p:spPr>
      </p:sp>
      <p:sp>
        <p:nvSpPr>
          <p:cNvPr id="15" name="Shape 13"/>
          <p:cNvSpPr/>
          <p:nvPr/>
        </p:nvSpPr>
        <p:spPr>
          <a:xfrm>
            <a:off x="786384" y="3264408"/>
            <a:ext cx="118872" cy="118872"/>
          </a:xfrm>
          <a:prstGeom prst="ellipse">
            <a:avLst/>
          </a:prstGeom>
          <a:solidFill>
            <a:srgbClr val="4E4E82"/>
          </a:solidFill>
          <a:ln w="12700">
            <a:solidFill>
              <a:srgbClr val="333333"/>
            </a:solidFill>
            <a:prstDash val="solid"/>
          </a:ln>
        </p:spPr>
      </p:sp>
      <p:sp>
        <p:nvSpPr>
          <p:cNvPr id="16" name="Text 14"/>
          <p:cNvSpPr txBox="1"/>
          <p:nvPr/>
        </p:nvSpPr>
        <p:spPr>
          <a:xfrm>
            <a:off x="1024128" y="2843784"/>
            <a:ext cx="3108960" cy="9601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Cluster purity</a:t>
            </a:r>
            <a:endParaRPr lang="en-US" sz="1350" dirty="0"/>
          </a:p>
        </p:txBody>
      </p:sp>
      <p:sp>
        <p:nvSpPr>
          <p:cNvPr id="17" name="Text 15"/>
          <p:cNvSpPr txBox="1"/>
          <p:nvPr/>
        </p:nvSpPr>
        <p:spPr>
          <a:xfrm>
            <a:off x="4315968" y="2825496"/>
            <a:ext cx="7132320" cy="996696"/>
          </a:xfrm>
          <a:prstGeom prst="rect">
            <a:avLst/>
          </a:prstGeom>
          <a:noFill/>
          <a:ln/>
        </p:spPr>
        <p:txBody>
          <a:bodyPr wrap="square" lIns="0" tIns="0" rIns="0" bIns="0" rtlCol="0" anchor="ctr"/>
          <a:lstStyle/>
          <a:p>
            <a:pPr indent="0" marL="0">
              <a:buNone/>
            </a:pPr>
            <a:r>
              <a:rPr lang="en-US" sz="1220" dirty="0">
                <a:solidFill>
                  <a:srgbClr val="33334A"/>
                </a:solidFill>
                <a:latin typeface="Calibri" pitchFamily="34" charset="0"/>
                <a:ea typeface="Calibri" pitchFamily="34" charset="-122"/>
                <a:cs typeface="Calibri" pitchFamily="34" charset="-120"/>
              </a:rPr>
              <a:t>The mirror image: for each phone, how often do its frames land in that phone's most likely cluster? Falls as the number of clusters rises.</a:t>
            </a:r>
            <a:endParaRPr lang="en-US" sz="1220" dirty="0"/>
          </a:p>
        </p:txBody>
      </p:sp>
      <p:sp>
        <p:nvSpPr>
          <p:cNvPr id="18" name="Shape 16"/>
          <p:cNvSpPr/>
          <p:nvPr/>
        </p:nvSpPr>
        <p:spPr>
          <a:xfrm>
            <a:off x="566928" y="3950208"/>
            <a:ext cx="11064240" cy="1143000"/>
          </a:xfrm>
          <a:prstGeom prst="roundRect">
            <a:avLst>
              <a:gd name="adj" fmla="val 2400"/>
            </a:avLst>
          </a:prstGeom>
          <a:solidFill>
            <a:srgbClr val="F2F2F7"/>
          </a:solidFill>
          <a:ln w="12700">
            <a:solidFill>
              <a:srgbClr val="E9E9F0"/>
            </a:solidFill>
            <a:prstDash val="solid"/>
          </a:ln>
        </p:spPr>
      </p:sp>
      <p:sp>
        <p:nvSpPr>
          <p:cNvPr id="19" name="Shape 17"/>
          <p:cNvSpPr/>
          <p:nvPr/>
        </p:nvSpPr>
        <p:spPr>
          <a:xfrm>
            <a:off x="786384" y="4462272"/>
            <a:ext cx="118872" cy="118872"/>
          </a:xfrm>
          <a:prstGeom prst="ellipse">
            <a:avLst/>
          </a:prstGeom>
          <a:solidFill>
            <a:srgbClr val="4E4E82"/>
          </a:solidFill>
          <a:ln w="12700">
            <a:solidFill>
              <a:srgbClr val="333333"/>
            </a:solidFill>
            <a:prstDash val="solid"/>
          </a:ln>
        </p:spPr>
      </p:sp>
      <p:sp>
        <p:nvSpPr>
          <p:cNvPr id="20" name="Text 18"/>
          <p:cNvSpPr txBox="1"/>
          <p:nvPr/>
        </p:nvSpPr>
        <p:spPr>
          <a:xfrm>
            <a:off x="1024128" y="4041648"/>
            <a:ext cx="3108960" cy="9601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Phone-normalised mutual information</a:t>
            </a:r>
            <a:endParaRPr lang="en-US" sz="1350" dirty="0"/>
          </a:p>
        </p:txBody>
      </p:sp>
      <p:sp>
        <p:nvSpPr>
          <p:cNvPr id="21" name="Text 19"/>
          <p:cNvSpPr txBox="1"/>
          <p:nvPr/>
        </p:nvSpPr>
        <p:spPr>
          <a:xfrm>
            <a:off x="4315968" y="4023360"/>
            <a:ext cx="7132320" cy="996696"/>
          </a:xfrm>
          <a:prstGeom prst="rect">
            <a:avLst/>
          </a:prstGeom>
          <a:noFill/>
          <a:ln/>
        </p:spPr>
        <p:txBody>
          <a:bodyPr wrap="square" lIns="0" tIns="0" rIns="0" bIns="0" rtlCol="0" anchor="ctr"/>
          <a:lstStyle/>
          <a:p>
            <a:pPr indent="0" marL="0">
              <a:buNone/>
            </a:pPr>
            <a:r>
              <a:rPr lang="en-US" sz="1220" dirty="0">
                <a:solidFill>
                  <a:srgbClr val="33334A"/>
                </a:solidFill>
                <a:latin typeface="Calibri" pitchFamily="34" charset="0"/>
                <a:ea typeface="Calibri" pitchFamily="34" charset="-122"/>
                <a:cs typeface="Calibri" pitchFamily="34" charset="-120"/>
              </a:rPr>
              <a:t>The information-theoretic version: what fraction of the uncertainty about the phone label is eliminated by knowing the cluster? Comparable across different numbers of units, which is why it is the workhorse metric here.</a:t>
            </a:r>
            <a:endParaRPr lang="en-US" sz="1220" dirty="0"/>
          </a:p>
        </p:txBody>
      </p:sp>
      <p:sp>
        <p:nvSpPr>
          <p:cNvPr id="22" name="Shape 20"/>
          <p:cNvSpPr/>
          <p:nvPr/>
        </p:nvSpPr>
        <p:spPr>
          <a:xfrm>
            <a:off x="566928" y="5212080"/>
            <a:ext cx="11064240" cy="841248"/>
          </a:xfrm>
          <a:prstGeom prst="roundRect">
            <a:avLst>
              <a:gd name="adj" fmla="val 6522"/>
            </a:avLst>
          </a:prstGeom>
          <a:solidFill>
            <a:srgbClr val="232336"/>
          </a:solidFill>
          <a:ln w="12700">
            <a:solidFill>
              <a:srgbClr val="232336"/>
            </a:solidFill>
            <a:prstDash val="solid"/>
          </a:ln>
        </p:spPr>
      </p:sp>
      <p:sp>
        <p:nvSpPr>
          <p:cNvPr id="23" name="Text 21"/>
          <p:cNvSpPr txBox="1"/>
          <p:nvPr/>
        </p:nvSpPr>
        <p:spPr>
          <a:xfrm>
            <a:off x="822960" y="5431536"/>
            <a:ext cx="10552176" cy="420624"/>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The alignments come from a supervised hybrid recogniser and are used only to analyse the teachers, never to train. This is a good pattern: build the system without labels, then use labels to understand what it learned.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How bad is the first teacher?</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Phone-normalised mutual information — how much it knows about phones</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19</a:t>
            </a:r>
            <a:endParaRPr lang="en-US" sz="900" dirty="0"/>
          </a:p>
        </p:txBody>
      </p:sp>
      <p:graphicFrame>
        <p:nvGraphicFramePr>
          <p:cNvPr id="10" name="Chart 0" descr=""/>
          <p:cNvGraphicFramePr/>
          <p:nvPr/>
        </p:nvGraphicFramePr>
        <p:xfrm>
          <a:off x="566928" y="155448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The starting teacher removes about a quarter of the uncertainty about phone identity. It is a genuinely poor phonetic classifier.</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One round of refinement more than doubles that. A second round adds a little more.</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Refined clusters approach the supervised topline, which uses nearly nine thousand context-dependent grapheme units.</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K-means is also stable: across ten trials the standard deviation is at most about 0.012, and fitting on 1 hour versus 100 hours changes PNMI by roughly 0.01.</a:t>
            </a:r>
            <a:endParaRPr lang="en-US" sz="1220" dirty="0"/>
          </a:p>
        </p:txBody>
      </p:sp>
      <p:sp>
        <p:nvSpPr>
          <p:cNvPr id="12" name="Shape 9"/>
          <p:cNvSpPr/>
          <p:nvPr/>
        </p:nvSpPr>
        <p:spPr>
          <a:xfrm>
            <a:off x="566928" y="5266944"/>
            <a:ext cx="11064240" cy="786384"/>
          </a:xfrm>
          <a:prstGeom prst="roundRect">
            <a:avLst>
              <a:gd name="adj" fmla="val 6977"/>
            </a:avLst>
          </a:prstGeom>
          <a:solidFill>
            <a:srgbClr val="232336"/>
          </a:solidFill>
          <a:ln w="12700">
            <a:solidFill>
              <a:srgbClr val="232336"/>
            </a:solidFill>
            <a:prstDash val="solid"/>
          </a:ln>
        </p:spPr>
      </p:sp>
      <p:sp>
        <p:nvSpPr>
          <p:cNvPr id="13" name="Text 10"/>
          <p:cNvSpPr txBox="1"/>
          <p:nvPr/>
        </p:nvSpPr>
        <p:spPr>
          <a:xfrm>
            <a:off x="822960" y="5486400"/>
            <a:ext cx="10552176" cy="365760"/>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The stability result matters practically: you can fit the clustering on a small subsample and lose almost nothing, which is what makes the pipeline affordable.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The experiment that makes the argument</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Word error rate on dev-other for three settings of α, across four teachers</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20</a:t>
            </a:r>
            <a:endParaRPr lang="en-US" sz="900" dirty="0"/>
          </a:p>
        </p:txBody>
      </p:sp>
      <p:graphicFrame>
        <p:nvGraphicFramePr>
          <p:cNvPr id="10" name="Chart 0" descr=""/>
          <p:cNvGraphicFramePr/>
          <p:nvPr/>
        </p:nvGraphicFramePr>
        <p:xfrm>
          <a:off x="566928" y="1554480"/>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With the worst teacher, predicting unmasked frames gives 96% word error — the model has learned to imitate k-means and nothing else.</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The same teacher with masked-only prediction gives 17.9%. Identical labels, identical architecture, one hyperparameter.</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As the teacher improves, the penalty for the unmasked loss shrinks — 23.3 falls to 13.8.</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With genuinely good supervised targets the ordering reverses: α = 0.5 beats α = 1.0.</a:t>
            </a:r>
            <a:endParaRPr lang="en-US" sz="1220" dirty="0"/>
          </a:p>
        </p:txBody>
      </p:sp>
      <p:sp>
        <p:nvSpPr>
          <p:cNvPr id="12" name="Shape 9"/>
          <p:cNvSpPr/>
          <p:nvPr/>
        </p:nvSpPr>
        <p:spPr>
          <a:xfrm>
            <a:off x="566928" y="5266944"/>
            <a:ext cx="11064240" cy="786384"/>
          </a:xfrm>
          <a:prstGeom prst="roundRect">
            <a:avLst>
              <a:gd name="adj" fmla="val 6977"/>
            </a:avLst>
          </a:prstGeom>
          <a:solidFill>
            <a:srgbClr val="232336"/>
          </a:solidFill>
          <a:ln w="12700">
            <a:solidFill>
              <a:srgbClr val="232336"/>
            </a:solidFill>
            <a:prstDash val="solid"/>
          </a:ln>
        </p:spPr>
      </p:sp>
      <p:sp>
        <p:nvSpPr>
          <p:cNvPr id="13" name="Text 10"/>
          <p:cNvSpPr txBox="1"/>
          <p:nvPr/>
        </p:nvSpPr>
        <p:spPr>
          <a:xfrm>
            <a:off x="822960" y="5486400"/>
            <a:ext cx="10552176" cy="365760"/>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This single table is the paper. Masked-only prediction is what converts a useless teacher into a usable training signal — and it stops mattering once the teacher is good.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Do cluster ensembles help?</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Word error rate on dev-other, same reduced setup</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21</a:t>
            </a:r>
            <a:endParaRPr lang="en-US" sz="900" dirty="0"/>
          </a:p>
        </p:txBody>
      </p:sp>
      <p:graphicFrame>
        <p:nvGraphicFramePr>
          <p:cNvPr id="10" name="Chart 0" descr=""/>
          <p:cNvGraphicFramePr/>
          <p:nvPr/>
        </p:nvGraphicFramePr>
        <p:xfrm>
          <a:off x="566928" y="155448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Product k-means splits the 117-dimensional spliced MFCC vector into its zeroth, first and second-order derivative subspaces and quantises each to 100 entries.</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Any single subspace alone is no better than plain k-means, and the zeroth-order one is worse.</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All three together give the best result of any teacher configuration in this experiment.</a:t>
            </a:r>
            <a:endParaRPr lang="en-US" sz="1220" dirty="0"/>
          </a:p>
          <a:p>
            <a:pPr marL="342900" indent="-342900">
              <a:spcAft>
                <a:spcPts val="800"/>
              </a:spcAft>
              <a:buSzPct val="100000"/>
              <a:buChar char="●"/>
            </a:pPr>
            <a:r>
              <a:rPr lang="en-US" sz="1220" dirty="0">
                <a:solidFill>
                  <a:srgbClr val="33334A"/>
                </a:solidFill>
                <a:latin typeface="Calibri" pitchFamily="34" charset="0"/>
                <a:ea typeface="Calibri" pitchFamily="34" charset="-122"/>
                <a:cs typeface="Calibri" pitchFamily="34" charset="-120"/>
              </a:rPr>
              <a:t>The gains are real but modest — roughly one point of WER — and ensembles are not used in the main models.</a:t>
            </a:r>
            <a:endParaRPr lang="en-US" sz="1220" dirty="0"/>
          </a:p>
        </p:txBody>
      </p:sp>
      <p:sp>
        <p:nvSpPr>
          <p:cNvPr id="12" name="Shape 9"/>
          <p:cNvSpPr/>
          <p:nvPr/>
        </p:nvSpPr>
        <p:spPr>
          <a:xfrm>
            <a:off x="566928" y="5266944"/>
            <a:ext cx="11064240" cy="786384"/>
          </a:xfrm>
          <a:prstGeom prst="roundRect">
            <a:avLst>
              <a:gd name="adj" fmla="val 6977"/>
            </a:avLst>
          </a:prstGeom>
          <a:solidFill>
            <a:srgbClr val="232336"/>
          </a:solidFill>
          <a:ln w="12700">
            <a:solidFill>
              <a:srgbClr val="232336"/>
            </a:solidFill>
            <a:prstDash val="solid"/>
          </a:ln>
        </p:spPr>
      </p:sp>
      <p:sp>
        <p:nvSpPr>
          <p:cNvPr id="13" name="Text 10"/>
          <p:cNvSpPr txBox="1"/>
          <p:nvPr/>
        </p:nvSpPr>
        <p:spPr>
          <a:xfrm>
            <a:off x="822960" y="5486400"/>
            <a:ext cx="10552176" cy="365760"/>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Worth noticing what is not here: the headline HuBERT models use a single k-means teacher per iteration. Ensembles are presented as a possibility rather than adopted.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What else matters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Masking rate, batch size, and training length</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22</a:t>
            </a:r>
            <a:endParaRPr lang="en-US" sz="900" dirty="0"/>
          </a:p>
        </p:txBody>
      </p:sp>
      <p:sp>
        <p:nvSpPr>
          <p:cNvPr id="10" name="Shape 8"/>
          <p:cNvSpPr/>
          <p:nvPr/>
        </p:nvSpPr>
        <p:spPr>
          <a:xfrm>
            <a:off x="566928" y="1572768"/>
            <a:ext cx="3584448" cy="2148840"/>
          </a:xfrm>
          <a:prstGeom prst="roundRect">
            <a:avLst>
              <a:gd name="adj" fmla="val 2553"/>
            </a:avLst>
          </a:prstGeom>
          <a:solidFill>
            <a:srgbClr val="F2F2F7"/>
          </a:solidFill>
          <a:ln w="12700">
            <a:solidFill>
              <a:srgbClr val="E3E3EC"/>
            </a:solidFill>
            <a:prstDash val="solid"/>
          </a:ln>
        </p:spPr>
      </p:sp>
      <p:sp>
        <p:nvSpPr>
          <p:cNvPr id="11" name="Shape 9"/>
          <p:cNvSpPr/>
          <p:nvPr/>
        </p:nvSpPr>
        <p:spPr>
          <a:xfrm>
            <a:off x="786384" y="1865376"/>
            <a:ext cx="109728" cy="109728"/>
          </a:xfrm>
          <a:prstGeom prst="ellipse">
            <a:avLst/>
          </a:prstGeom>
          <a:solidFill>
            <a:srgbClr val="4E4E82"/>
          </a:solidFill>
          <a:ln w="12700">
            <a:solidFill>
              <a:srgbClr val="333333"/>
            </a:solidFill>
            <a:prstDash val="solid"/>
          </a:ln>
        </p:spPr>
      </p:sp>
      <p:sp>
        <p:nvSpPr>
          <p:cNvPr id="12" name="Text 10"/>
          <p:cNvSpPr txBox="1"/>
          <p:nvPr/>
        </p:nvSpPr>
        <p:spPr>
          <a:xfrm>
            <a:off x="987552" y="1737360"/>
            <a:ext cx="2944368"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Masking probability</a:t>
            </a:r>
            <a:endParaRPr lang="en-US" sz="1500" dirty="0"/>
          </a:p>
        </p:txBody>
      </p:sp>
      <p:sp>
        <p:nvSpPr>
          <p:cNvPr id="13" name="Text 11"/>
          <p:cNvSpPr txBox="1"/>
          <p:nvPr/>
        </p:nvSpPr>
        <p:spPr>
          <a:xfrm>
            <a:off x="822960" y="2176272"/>
            <a:ext cx="3072384" cy="1362456"/>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The proportion of frames selected as mask starts is optimal at p = 8%.</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Too little masking makes the task trivial; too much removes the context needed to solve it.</a:t>
            </a:r>
            <a:endParaRPr lang="en-US" sz="1260" dirty="0"/>
          </a:p>
        </p:txBody>
      </p:sp>
      <p:sp>
        <p:nvSpPr>
          <p:cNvPr id="14" name="Shape 12"/>
          <p:cNvSpPr/>
          <p:nvPr/>
        </p:nvSpPr>
        <p:spPr>
          <a:xfrm>
            <a:off x="4279392" y="1572768"/>
            <a:ext cx="3584448" cy="2148840"/>
          </a:xfrm>
          <a:prstGeom prst="roundRect">
            <a:avLst>
              <a:gd name="adj" fmla="val 2553"/>
            </a:avLst>
          </a:prstGeom>
          <a:solidFill>
            <a:srgbClr val="F2F2F7"/>
          </a:solidFill>
          <a:ln w="12700">
            <a:solidFill>
              <a:srgbClr val="E3E3EC"/>
            </a:solidFill>
            <a:prstDash val="solid"/>
          </a:ln>
        </p:spPr>
      </p:sp>
      <p:sp>
        <p:nvSpPr>
          <p:cNvPr id="15" name="Shape 13"/>
          <p:cNvSpPr/>
          <p:nvPr/>
        </p:nvSpPr>
        <p:spPr>
          <a:xfrm>
            <a:off x="4498848" y="1865376"/>
            <a:ext cx="109728" cy="109728"/>
          </a:xfrm>
          <a:prstGeom prst="ellipse">
            <a:avLst/>
          </a:prstGeom>
          <a:solidFill>
            <a:srgbClr val="C94F7C"/>
          </a:solidFill>
          <a:ln w="12700">
            <a:solidFill>
              <a:srgbClr val="333333"/>
            </a:solidFill>
            <a:prstDash val="solid"/>
          </a:ln>
        </p:spPr>
      </p:sp>
      <p:sp>
        <p:nvSpPr>
          <p:cNvPr id="16" name="Text 14"/>
          <p:cNvSpPr txBox="1"/>
          <p:nvPr/>
        </p:nvSpPr>
        <p:spPr>
          <a:xfrm>
            <a:off x="4700016" y="1737360"/>
            <a:ext cx="2944368"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Batch size</a:t>
            </a:r>
            <a:endParaRPr lang="en-US" sz="1500" dirty="0"/>
          </a:p>
        </p:txBody>
      </p:sp>
      <p:sp>
        <p:nvSpPr>
          <p:cNvPr id="17" name="Text 15"/>
          <p:cNvSpPr txBox="1"/>
          <p:nvPr/>
        </p:nvSpPr>
        <p:spPr>
          <a:xfrm>
            <a:off x="4535424" y="2176272"/>
            <a:ext cx="3072384" cy="1362456"/>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Increasing the effective batch size, by adding GPUs, significantly improves performance.</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Consistent with what was already known from BERT-style training in text.</a:t>
            </a:r>
            <a:endParaRPr lang="en-US" sz="1260" dirty="0"/>
          </a:p>
        </p:txBody>
      </p:sp>
      <p:sp>
        <p:nvSpPr>
          <p:cNvPr id="18" name="Shape 16"/>
          <p:cNvSpPr/>
          <p:nvPr/>
        </p:nvSpPr>
        <p:spPr>
          <a:xfrm>
            <a:off x="7991856" y="1572768"/>
            <a:ext cx="3639312" cy="2148840"/>
          </a:xfrm>
          <a:prstGeom prst="roundRect">
            <a:avLst>
              <a:gd name="adj" fmla="val 2553"/>
            </a:avLst>
          </a:prstGeom>
          <a:solidFill>
            <a:srgbClr val="F2F2F7"/>
          </a:solidFill>
          <a:ln w="12700">
            <a:solidFill>
              <a:srgbClr val="E3E3EC"/>
            </a:solidFill>
            <a:prstDash val="solid"/>
          </a:ln>
        </p:spPr>
      </p:sp>
      <p:sp>
        <p:nvSpPr>
          <p:cNvPr id="19" name="Shape 17"/>
          <p:cNvSpPr/>
          <p:nvPr/>
        </p:nvSpPr>
        <p:spPr>
          <a:xfrm>
            <a:off x="8211312" y="1865376"/>
            <a:ext cx="109728" cy="109728"/>
          </a:xfrm>
          <a:prstGeom prst="ellipse">
            <a:avLst/>
          </a:prstGeom>
          <a:solidFill>
            <a:srgbClr val="4E4E82"/>
          </a:solidFill>
          <a:ln w="12700">
            <a:solidFill>
              <a:srgbClr val="333333"/>
            </a:solidFill>
            <a:prstDash val="solid"/>
          </a:ln>
        </p:spPr>
      </p:sp>
      <p:sp>
        <p:nvSpPr>
          <p:cNvPr id="20" name="Text 18"/>
          <p:cNvSpPr txBox="1"/>
          <p:nvPr/>
        </p:nvSpPr>
        <p:spPr>
          <a:xfrm>
            <a:off x="8412480" y="1737360"/>
            <a:ext cx="2999232" cy="365760"/>
          </a:xfrm>
          <a:prstGeom prst="rect">
            <a:avLst/>
          </a:prstGeom>
          <a:noFill/>
          <a:ln/>
        </p:spPr>
        <p:txBody>
          <a:bodyPr wrap="square" lIns="0" tIns="0" rIns="0" bIns="0" rtlCol="0" anchor="ctr"/>
          <a:lstStyle/>
          <a:p>
            <a:pPr indent="0" marL="0">
              <a:buNone/>
            </a:pPr>
            <a:r>
              <a:rPr lang="en-US" sz="1500" b="1" dirty="0">
                <a:solidFill>
                  <a:srgbClr val="191927"/>
                </a:solidFill>
                <a:latin typeface="Cambria" pitchFamily="34" charset="0"/>
                <a:ea typeface="Cambria" pitchFamily="34" charset="-122"/>
                <a:cs typeface="Cambria" pitchFamily="34" charset="-120"/>
              </a:rPr>
              <a:t>Training length</a:t>
            </a:r>
            <a:endParaRPr lang="en-US" sz="1500" dirty="0"/>
          </a:p>
        </p:txBody>
      </p:sp>
      <p:sp>
        <p:nvSpPr>
          <p:cNvPr id="21" name="Text 19"/>
          <p:cNvSpPr txBox="1"/>
          <p:nvPr/>
        </p:nvSpPr>
        <p:spPr>
          <a:xfrm>
            <a:off x="8247888" y="2176272"/>
            <a:ext cx="3127248" cy="1362456"/>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Longer training helps consistently. With a 100-cluster MFCC teacher, dev-other WER falls from 17.86 at 100k steps to 11.68 at 800k.</a:t>
            </a:r>
            <a:endParaRPr lang="en-US" sz="1260" dirty="0"/>
          </a:p>
        </p:txBody>
      </p:sp>
      <p:sp>
        <p:nvSpPr>
          <p:cNvPr id="22" name="Shape 20"/>
          <p:cNvSpPr/>
          <p:nvPr/>
        </p:nvSpPr>
        <p:spPr>
          <a:xfrm>
            <a:off x="566928" y="3931920"/>
            <a:ext cx="11064240" cy="2121408"/>
          </a:xfrm>
          <a:prstGeom prst="roundRect">
            <a:avLst>
              <a:gd name="adj" fmla="val 2586"/>
            </a:avLst>
          </a:prstGeom>
          <a:solidFill>
            <a:srgbClr val="232336"/>
          </a:solidFill>
          <a:ln w="12700">
            <a:solidFill>
              <a:srgbClr val="232336"/>
            </a:solidFill>
            <a:prstDash val="solid"/>
          </a:ln>
        </p:spPr>
      </p:sp>
      <p:sp>
        <p:nvSpPr>
          <p:cNvPr id="23" name="Shape 21"/>
          <p:cNvSpPr/>
          <p:nvPr/>
        </p:nvSpPr>
        <p:spPr>
          <a:xfrm>
            <a:off x="786384" y="4224528"/>
            <a:ext cx="109728" cy="109728"/>
          </a:xfrm>
          <a:prstGeom prst="ellipse">
            <a:avLst/>
          </a:prstGeom>
          <a:solidFill>
            <a:srgbClr val="C94F7C"/>
          </a:solidFill>
          <a:ln w="12700">
            <a:solidFill>
              <a:srgbClr val="333333"/>
            </a:solidFill>
            <a:prstDash val="solid"/>
          </a:ln>
        </p:spPr>
      </p:sp>
      <p:sp>
        <p:nvSpPr>
          <p:cNvPr id="24" name="Text 22"/>
          <p:cNvSpPr txBox="1"/>
          <p:nvPr/>
        </p:nvSpPr>
        <p:spPr>
          <a:xfrm>
            <a:off x="987552" y="4096512"/>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most striking number on this slide</a:t>
            </a:r>
            <a:endParaRPr lang="en-US" sz="1500" dirty="0"/>
          </a:p>
        </p:txBody>
      </p:sp>
      <p:sp>
        <p:nvSpPr>
          <p:cNvPr id="25" name="Text 23"/>
          <p:cNvSpPr txBox="1"/>
          <p:nvPr/>
        </p:nvSpPr>
        <p:spPr>
          <a:xfrm>
            <a:off x="822960" y="4535424"/>
            <a:ext cx="10552176" cy="1335024"/>
          </a:xfrm>
          <a:prstGeom prst="rect">
            <a:avLst/>
          </a:prstGeom>
          <a:noFill/>
          <a:ln/>
        </p:spPr>
        <p:txBody>
          <a:bodyPr wrap="square" lIns="0" tIns="0" rIns="0" bIns="0" rtlCol="0" anchor="t"/>
          <a:lstStyle/>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That 11.68 was obtained with the original, unrefined MFCC teacher — simply by training eight times longer. Compare Discrete BERT at 26.6 in the same comparison, which quantises the same MFCC features into 13,500 units and uses them as both input and target.</a:t>
            </a:r>
            <a:endParaRPr lang="en-US" sz="1300" dirty="0"/>
          </a:p>
          <a:p>
            <a:pPr indent="0" marL="0">
              <a:lnSpc>
                <a:spcPct val="108000"/>
              </a:lnSpc>
              <a:buNone/>
            </a:pPr>
            <a:endParaRPr lang="en-US" sz="1300" dirty="0"/>
          </a:p>
          <a:p>
            <a:pPr indent="0" marL="0">
              <a:lnSpc>
                <a:spcPct val="108000"/>
              </a:lnSpc>
              <a:buNone/>
            </a:pPr>
            <a:r>
              <a:rPr lang="en-US" sz="1300" dirty="0">
                <a:solidFill>
                  <a:srgbClr val="CFCFE2"/>
                </a:solidFill>
                <a:latin typeface="Calibri" pitchFamily="34" charset="0"/>
                <a:ea typeface="Calibri" pitchFamily="34" charset="-122"/>
                <a:cs typeface="Calibri" pitchFamily="34" charset="-120"/>
              </a:rPr>
              <a:t>So a hundred crude clusters, trained long enough with a masked-only loss, beat thirteen thousand finer ones used the conventional way by a factor of more than two.</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10698480" y="5486400"/>
            <a:ext cx="146304" cy="146304"/>
          </a:xfrm>
          <a:prstGeom prst="ellipse">
            <a:avLst/>
          </a:prstGeom>
          <a:solidFill>
            <a:srgbClr val="CFCFE2"/>
          </a:solidFill>
          <a:ln w="12700">
            <a:solidFill>
              <a:srgbClr val="333333"/>
            </a:solidFill>
            <a:prstDash val="solid"/>
          </a:ln>
        </p:spPr>
      </p:sp>
      <p:sp>
        <p:nvSpPr>
          <p:cNvPr id="3" name="Shape 1"/>
          <p:cNvSpPr/>
          <p:nvPr/>
        </p:nvSpPr>
        <p:spPr>
          <a:xfrm>
            <a:off x="10991088" y="5303520"/>
            <a:ext cx="146304" cy="146304"/>
          </a:xfrm>
          <a:prstGeom prst="ellipse">
            <a:avLst/>
          </a:prstGeom>
          <a:solidFill>
            <a:srgbClr val="CFCFE2"/>
          </a:solidFill>
          <a:ln w="12700">
            <a:solidFill>
              <a:srgbClr val="333333"/>
            </a:solidFill>
            <a:prstDash val="solid"/>
          </a:ln>
        </p:spPr>
      </p:sp>
      <p:sp>
        <p:nvSpPr>
          <p:cNvPr id="4" name="Shape 2"/>
          <p:cNvSpPr/>
          <p:nvPr/>
        </p:nvSpPr>
        <p:spPr>
          <a:xfrm>
            <a:off x="11247120" y="5541264"/>
            <a:ext cx="237744" cy="237744"/>
          </a:xfrm>
          <a:prstGeom prst="ellipse">
            <a:avLst/>
          </a:prstGeom>
          <a:solidFill>
            <a:srgbClr val="C94F7C"/>
          </a:solidFill>
          <a:ln w="12700">
            <a:solidFill>
              <a:srgbClr val="333333"/>
            </a:solidFill>
            <a:prstDash val="solid"/>
          </a:ln>
        </p:spPr>
      </p:sp>
      <p:sp>
        <p:nvSpPr>
          <p:cNvPr id="5" name="Shape 3"/>
          <p:cNvSpPr/>
          <p:nvPr/>
        </p:nvSpPr>
        <p:spPr>
          <a:xfrm>
            <a:off x="10881360" y="5779008"/>
            <a:ext cx="146304" cy="146304"/>
          </a:xfrm>
          <a:prstGeom prst="ellipse">
            <a:avLst/>
          </a:prstGeom>
          <a:solidFill>
            <a:srgbClr val="CFCFE2"/>
          </a:solidFill>
          <a:ln w="12700">
            <a:solidFill>
              <a:srgbClr val="333333"/>
            </a:solidFill>
            <a:prstDash val="solid"/>
          </a:ln>
        </p:spPr>
      </p:sp>
      <p:sp>
        <p:nvSpPr>
          <p:cNvPr id="6" name="Shape 4"/>
          <p:cNvSpPr/>
          <p:nvPr/>
        </p:nvSpPr>
        <p:spPr>
          <a:xfrm>
            <a:off x="11210544" y="5852160"/>
            <a:ext cx="146304" cy="146304"/>
          </a:xfrm>
          <a:prstGeom prst="ellipse">
            <a:avLst/>
          </a:prstGeom>
          <a:solidFill>
            <a:srgbClr val="CFCFE2"/>
          </a:solidFill>
          <a:ln w="12700">
            <a:solidFill>
              <a:srgbClr val="333333"/>
            </a:solidFill>
            <a:prstDash val="solid"/>
          </a:ln>
        </p:spPr>
      </p:sp>
      <p:sp>
        <p:nvSpPr>
          <p:cNvPr id="7" name="Text 5"/>
          <p:cNvSpPr txBox="1"/>
          <p:nvPr/>
        </p:nvSpPr>
        <p:spPr>
          <a:xfrm>
            <a:off x="822960" y="2057400"/>
            <a:ext cx="1554480" cy="1005840"/>
          </a:xfrm>
          <a:prstGeom prst="rect">
            <a:avLst/>
          </a:prstGeom>
          <a:noFill/>
          <a:ln/>
        </p:spPr>
        <p:txBody>
          <a:bodyPr wrap="square" lIns="0" tIns="0" rIns="0" bIns="0" rtlCol="0" anchor="ctr"/>
          <a:lstStyle/>
          <a:p>
            <a:pPr indent="0" marL="0">
              <a:buNone/>
            </a:pPr>
            <a:r>
              <a:rPr lang="en-US" sz="6600" b="1" dirty="0">
                <a:solidFill>
                  <a:srgbClr val="C94F7C"/>
                </a:solidFill>
                <a:latin typeface="Cambria" pitchFamily="34" charset="0"/>
                <a:ea typeface="Cambria" pitchFamily="34" charset="-122"/>
                <a:cs typeface="Cambria" pitchFamily="34" charset="-120"/>
              </a:rPr>
              <a:t>5</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Appraisal and legacy</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indent="0" marL="0">
              <a:buNone/>
            </a:pPr>
            <a:r>
              <a:rPr lang="en-US" sz="1500" dirty="0">
                <a:solidFill>
                  <a:srgbClr val="CFCFE2"/>
                </a:solidFill>
                <a:latin typeface="Calibri" pitchFamily="34" charset="0"/>
                <a:ea typeface="Calibri" pitchFamily="34" charset="-122"/>
                <a:cs typeface="Calibri" pitchFamily="34" charset="-120"/>
              </a:rPr>
              <a:t>What HuBERT enabled, and what it left open</a:t>
            </a:r>
            <a:endParaRPr lang="en-US" sz="1500" dirty="0"/>
          </a:p>
        </p:txBody>
      </p:sp>
      <p:sp>
        <p:nvSpPr>
          <p:cNvPr id="10" name="Text 8"/>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Critical appraisal</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What the design buys, and what it costs</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24</a:t>
            </a:r>
            <a:endParaRPr lang="en-US" sz="900" dirty="0"/>
          </a:p>
        </p:txBody>
      </p:sp>
      <p:sp>
        <p:nvSpPr>
          <p:cNvPr id="10" name="Shape 8"/>
          <p:cNvSpPr/>
          <p:nvPr/>
        </p:nvSpPr>
        <p:spPr>
          <a:xfrm>
            <a:off x="566928" y="1554480"/>
            <a:ext cx="5440680" cy="4498848"/>
          </a:xfrm>
          <a:prstGeom prst="roundRect">
            <a:avLst>
              <a:gd name="adj" fmla="val 1220"/>
            </a:avLst>
          </a:prstGeom>
          <a:solidFill>
            <a:srgbClr val="F2F2F7"/>
          </a:solidFill>
          <a:ln w="12700">
            <a:solidFill>
              <a:srgbClr val="E3E3EC"/>
            </a:solidFill>
            <a:prstDash val="solid"/>
          </a:ln>
        </p:spPr>
      </p:sp>
      <p:sp>
        <p:nvSpPr>
          <p:cNvPr id="11" name="Shape 9"/>
          <p:cNvSpPr/>
          <p:nvPr/>
        </p:nvSpPr>
        <p:spPr>
          <a:xfrm>
            <a:off x="786384" y="1847088"/>
            <a:ext cx="109728" cy="109728"/>
          </a:xfrm>
          <a:prstGeom prst="ellipse">
            <a:avLst/>
          </a:prstGeom>
          <a:solidFill>
            <a:srgbClr val="4E4E82"/>
          </a:solidFill>
          <a:ln w="12700">
            <a:solidFill>
              <a:srgbClr val="333333"/>
            </a:solidFill>
            <a:prstDash val="solid"/>
          </a:ln>
        </p:spPr>
      </p:sp>
      <p:sp>
        <p:nvSpPr>
          <p:cNvPr id="12" name="Text 10"/>
          <p:cNvSpPr txBox="1"/>
          <p:nvPr/>
        </p:nvSpPr>
        <p:spPr>
          <a:xfrm>
            <a:off x="987552" y="1719072"/>
            <a:ext cx="4800600" cy="365760"/>
          </a:xfrm>
          <a:prstGeom prst="rect">
            <a:avLst/>
          </a:prstGeom>
          <a:noFill/>
          <a:ln/>
        </p:spPr>
        <p:txBody>
          <a:bodyPr wrap="square" lIns="0" tIns="0" rIns="0" bIns="0" rtlCol="0" anchor="ctr"/>
          <a:lstStyle/>
          <a:p>
            <a:pPr indent="0" marL="0">
              <a:buNone/>
            </a:pPr>
            <a:r>
              <a:rPr lang="en-US" sz="1700" b="1" dirty="0">
                <a:solidFill>
                  <a:srgbClr val="191927"/>
                </a:solidFill>
                <a:latin typeface="Cambria" pitchFamily="34" charset="0"/>
                <a:ea typeface="Cambria" pitchFamily="34" charset="-122"/>
                <a:cs typeface="Cambria" pitchFamily="34" charset="-120"/>
              </a:rPr>
              <a:t>Strengths</a:t>
            </a:r>
            <a:endParaRPr lang="en-US" sz="1700" dirty="0"/>
          </a:p>
        </p:txBody>
      </p:sp>
      <p:sp>
        <p:nvSpPr>
          <p:cNvPr id="13" name="Text 11"/>
          <p:cNvSpPr txBox="1"/>
          <p:nvPr/>
        </p:nvSpPr>
        <p:spPr>
          <a:xfrm>
            <a:off x="822960" y="2157984"/>
            <a:ext cx="4928616" cy="3712464"/>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A plain cross-entropy loss replaces contrastive learning with its negative sampling, diversity term and temperature schedule. Fewer knobs, more stable training.</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The architecture is held identical to wav2vec 2.0, so the comparison isolates the objective.</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The analyses are unusually good: three interpretable teacher-quality metrics, a stability study, a layer-wise study, and an ablation that identifies a mechanism rather than just a winner.</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Scales cleanly to a billion parameters, which several contemporaneous methods did not.</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Code and checkpoints released, which is why almost everything downstream builds on it.</a:t>
            </a:r>
            <a:endParaRPr lang="en-US" sz="1260" dirty="0"/>
          </a:p>
        </p:txBody>
      </p:sp>
      <p:sp>
        <p:nvSpPr>
          <p:cNvPr id="14" name="Shape 12"/>
          <p:cNvSpPr/>
          <p:nvPr/>
        </p:nvSpPr>
        <p:spPr>
          <a:xfrm>
            <a:off x="6190488" y="1554480"/>
            <a:ext cx="5440680" cy="4498848"/>
          </a:xfrm>
          <a:prstGeom prst="roundRect">
            <a:avLst>
              <a:gd name="adj" fmla="val 1220"/>
            </a:avLst>
          </a:prstGeom>
          <a:solidFill>
            <a:srgbClr val="F2F2F7"/>
          </a:solidFill>
          <a:ln w="12700">
            <a:solidFill>
              <a:srgbClr val="E3E3EC"/>
            </a:solidFill>
            <a:prstDash val="solid"/>
          </a:ln>
        </p:spPr>
      </p:sp>
      <p:sp>
        <p:nvSpPr>
          <p:cNvPr id="15" name="Shape 13"/>
          <p:cNvSpPr/>
          <p:nvPr/>
        </p:nvSpPr>
        <p:spPr>
          <a:xfrm>
            <a:off x="6409944" y="1847088"/>
            <a:ext cx="109728" cy="109728"/>
          </a:xfrm>
          <a:prstGeom prst="ellipse">
            <a:avLst/>
          </a:prstGeom>
          <a:solidFill>
            <a:srgbClr val="C94F7C"/>
          </a:solidFill>
          <a:ln w="12700">
            <a:solidFill>
              <a:srgbClr val="333333"/>
            </a:solidFill>
            <a:prstDash val="solid"/>
          </a:ln>
        </p:spPr>
      </p:sp>
      <p:sp>
        <p:nvSpPr>
          <p:cNvPr id="16" name="Text 14"/>
          <p:cNvSpPr txBox="1"/>
          <p:nvPr/>
        </p:nvSpPr>
        <p:spPr>
          <a:xfrm>
            <a:off x="6611112" y="1719072"/>
            <a:ext cx="4800600" cy="365760"/>
          </a:xfrm>
          <a:prstGeom prst="rect">
            <a:avLst/>
          </a:prstGeom>
          <a:noFill/>
          <a:ln/>
        </p:spPr>
        <p:txBody>
          <a:bodyPr wrap="square" lIns="0" tIns="0" rIns="0" bIns="0" rtlCol="0" anchor="ctr"/>
          <a:lstStyle/>
          <a:p>
            <a:pPr indent="0" marL="0">
              <a:buNone/>
            </a:pPr>
            <a:r>
              <a:rPr lang="en-US" sz="1700" b="1" dirty="0">
                <a:solidFill>
                  <a:srgbClr val="191927"/>
                </a:solidFill>
                <a:latin typeface="Cambria" pitchFamily="34" charset="0"/>
                <a:ea typeface="Cambria" pitchFamily="34" charset="-122"/>
                <a:cs typeface="Cambria" pitchFamily="34" charset="-120"/>
              </a:rPr>
              <a:t>Limitations</a:t>
            </a:r>
            <a:endParaRPr lang="en-US" sz="1700" dirty="0"/>
          </a:p>
        </p:txBody>
      </p:sp>
      <p:sp>
        <p:nvSpPr>
          <p:cNvPr id="17" name="Text 15"/>
          <p:cNvSpPr txBox="1"/>
          <p:nvPr/>
        </p:nvSpPr>
        <p:spPr>
          <a:xfrm>
            <a:off x="6446520" y="2157984"/>
            <a:ext cx="4928616" cy="3712464"/>
          </a:xfrm>
          <a:prstGeom prst="rect">
            <a:avLst/>
          </a:prstGeom>
          <a:noFill/>
          <a:ln/>
        </p:spPr>
        <p:txBody>
          <a:bodyPr wrap="square" lIns="0" tIns="0" rIns="0" bIns="0" rtlCol="0" anchor="t"/>
          <a:lstStyle/>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Not a single training phase. Clustering must be run between iterations, and each iteration is a full pre-training run — the authors name single-phase training as their main future goal.</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The layer to cluster from is chosen empirically, and it moves between iterations. There is no principled way to pick it in advance.</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Compute-heavy: 256 GPUs for the largest run, with three effective iterations behind it.</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Evaluated entirely on speech recognition — the paper flags going beyond ASR as future work.</a:t>
            </a:r>
            <a:endParaRPr lang="en-US" sz="1260" dirty="0"/>
          </a:p>
          <a:p>
            <a:pPr indent="0" marL="0">
              <a:lnSpc>
                <a:spcPct val="108000"/>
              </a:lnSpc>
              <a:buNone/>
            </a:pPr>
            <a:endParaRPr lang="en-US" sz="1260" dirty="0"/>
          </a:p>
          <a:p>
            <a:pPr indent="0" marL="0">
              <a:lnSpc>
                <a:spcPct val="108000"/>
              </a:lnSpc>
              <a:buNone/>
            </a:pPr>
            <a:r>
              <a:rPr lang="en-US" sz="1260" dirty="0">
                <a:solidFill>
                  <a:srgbClr val="33334A"/>
                </a:solidFill>
                <a:latin typeface="Calibri" pitchFamily="34" charset="0"/>
                <a:ea typeface="Calibri" pitchFamily="34" charset="-122"/>
                <a:cs typeface="Calibri" pitchFamily="34" charset="-120"/>
              </a:rPr>
              <a:t>All audiobook English, so nothing here tests robustness to noise, overlap or domain shift.</a:t>
            </a:r>
            <a:endParaRPr lang="en-US" sz="12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What HuBERT enabled</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Why it became the default backbone</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25</a:t>
            </a:r>
            <a:endParaRPr lang="en-US" sz="900" dirty="0"/>
          </a:p>
        </p:txBody>
      </p:sp>
      <p:sp>
        <p:nvSpPr>
          <p:cNvPr id="10" name="Shape 8"/>
          <p:cNvSpPr/>
          <p:nvPr/>
        </p:nvSpPr>
        <p:spPr>
          <a:xfrm>
            <a:off x="566928" y="1536192"/>
            <a:ext cx="11064240" cy="822960"/>
          </a:xfrm>
          <a:prstGeom prst="roundRect">
            <a:avLst>
              <a:gd name="adj" fmla="val 3333"/>
            </a:avLst>
          </a:prstGeom>
          <a:solidFill>
            <a:srgbClr val="F2F2F7"/>
          </a:solidFill>
          <a:ln w="12700">
            <a:solidFill>
              <a:srgbClr val="E9E9F0"/>
            </a:solidFill>
            <a:prstDash val="solid"/>
          </a:ln>
        </p:spPr>
      </p:sp>
      <p:sp>
        <p:nvSpPr>
          <p:cNvPr id="11" name="Shape 9"/>
          <p:cNvSpPr/>
          <p:nvPr/>
        </p:nvSpPr>
        <p:spPr>
          <a:xfrm>
            <a:off x="786384" y="1888236"/>
            <a:ext cx="118872" cy="118872"/>
          </a:xfrm>
          <a:prstGeom prst="ellipse">
            <a:avLst/>
          </a:prstGeom>
          <a:solidFill>
            <a:srgbClr val="4E4E82"/>
          </a:solidFill>
          <a:ln w="12700">
            <a:solidFill>
              <a:srgbClr val="333333"/>
            </a:solidFill>
            <a:prstDash val="solid"/>
          </a:ln>
        </p:spPr>
      </p:sp>
      <p:sp>
        <p:nvSpPr>
          <p:cNvPr id="12" name="Text 10"/>
          <p:cNvSpPr txBox="1"/>
          <p:nvPr/>
        </p:nvSpPr>
        <p:spPr>
          <a:xfrm>
            <a:off x="1024128" y="1627632"/>
            <a:ext cx="27432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The SUPERB benchmark</a:t>
            </a:r>
            <a:endParaRPr lang="en-US" sz="1300" dirty="0"/>
          </a:p>
        </p:txBody>
      </p:sp>
      <p:sp>
        <p:nvSpPr>
          <p:cNvPr id="13" name="Text 11"/>
          <p:cNvSpPr txBox="1"/>
          <p:nvPr/>
        </p:nvSpPr>
        <p:spPr>
          <a:xfrm>
            <a:off x="3950208" y="1609344"/>
            <a:ext cx="7498080" cy="676656"/>
          </a:xfrm>
          <a:prstGeom prst="rect">
            <a:avLst/>
          </a:prstGeom>
          <a:noFill/>
          <a:ln/>
        </p:spPr>
        <p:txBody>
          <a:bodyPr wrap="square" lIns="0" tIns="0" rIns="0" bIns="0" rtlCol="0" anchor="ctr"/>
          <a:lstStyle/>
          <a:p>
            <a:pPr indent="0" marL="0">
              <a:buNone/>
            </a:pPr>
            <a:r>
              <a:rPr lang="en-US" sz="1190" dirty="0">
                <a:solidFill>
                  <a:srgbClr val="33334A"/>
                </a:solidFill>
                <a:latin typeface="Calibri" pitchFamily="34" charset="0"/>
                <a:ea typeface="Calibri" pitchFamily="34" charset="-122"/>
                <a:cs typeface="Calibri" pitchFamily="34" charset="-120"/>
              </a:rPr>
              <a:t>When SUPERB evaluated frozen SSL models across fifteen speech tasks, HuBERT had the best overall generalisation — a result the paper itself did not claim and did not test.</a:t>
            </a:r>
            <a:endParaRPr lang="en-US" sz="1190" dirty="0"/>
          </a:p>
        </p:txBody>
      </p:sp>
      <p:sp>
        <p:nvSpPr>
          <p:cNvPr id="14" name="Shape 12"/>
          <p:cNvSpPr/>
          <p:nvPr/>
        </p:nvSpPr>
        <p:spPr>
          <a:xfrm>
            <a:off x="566928" y="2414016"/>
            <a:ext cx="11064240" cy="822960"/>
          </a:xfrm>
          <a:prstGeom prst="roundRect">
            <a:avLst>
              <a:gd name="adj" fmla="val 3333"/>
            </a:avLst>
          </a:prstGeom>
          <a:solidFill>
            <a:srgbClr val="FFFFFF"/>
          </a:solidFill>
          <a:ln w="12700">
            <a:solidFill>
              <a:srgbClr val="E9E9F0"/>
            </a:solidFill>
            <a:prstDash val="solid"/>
          </a:ln>
        </p:spPr>
      </p:sp>
      <p:sp>
        <p:nvSpPr>
          <p:cNvPr id="15" name="Shape 13"/>
          <p:cNvSpPr/>
          <p:nvPr/>
        </p:nvSpPr>
        <p:spPr>
          <a:xfrm>
            <a:off x="786384" y="2766060"/>
            <a:ext cx="118872" cy="118872"/>
          </a:xfrm>
          <a:prstGeom prst="ellipse">
            <a:avLst/>
          </a:prstGeom>
          <a:solidFill>
            <a:srgbClr val="4E4E82"/>
          </a:solidFill>
          <a:ln w="12700">
            <a:solidFill>
              <a:srgbClr val="333333"/>
            </a:solidFill>
            <a:prstDash val="solid"/>
          </a:ln>
        </p:spPr>
      </p:sp>
      <p:sp>
        <p:nvSpPr>
          <p:cNvPr id="16" name="Text 14"/>
          <p:cNvSpPr txBox="1"/>
          <p:nvPr/>
        </p:nvSpPr>
        <p:spPr>
          <a:xfrm>
            <a:off x="1024128" y="2505456"/>
            <a:ext cx="27432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Discrete speech units</a:t>
            </a:r>
            <a:endParaRPr lang="en-US" sz="1300" dirty="0"/>
          </a:p>
        </p:txBody>
      </p:sp>
      <p:sp>
        <p:nvSpPr>
          <p:cNvPr id="17" name="Text 15"/>
          <p:cNvSpPr txBox="1"/>
          <p:nvPr/>
        </p:nvSpPr>
        <p:spPr>
          <a:xfrm>
            <a:off x="3950208" y="2487168"/>
            <a:ext cx="7498080" cy="676656"/>
          </a:xfrm>
          <a:prstGeom prst="rect">
            <a:avLst/>
          </a:prstGeom>
          <a:noFill/>
          <a:ln/>
        </p:spPr>
        <p:txBody>
          <a:bodyPr wrap="square" lIns="0" tIns="0" rIns="0" bIns="0" rtlCol="0" anchor="ctr"/>
          <a:lstStyle/>
          <a:p>
            <a:pPr indent="0" marL="0">
              <a:buNone/>
            </a:pPr>
            <a:r>
              <a:rPr lang="en-US" sz="1190" dirty="0">
                <a:solidFill>
                  <a:srgbClr val="33334A"/>
                </a:solidFill>
                <a:latin typeface="Calibri" pitchFamily="34" charset="0"/>
                <a:ea typeface="Calibri" pitchFamily="34" charset="-122"/>
                <a:cs typeface="Calibri" pitchFamily="34" charset="-120"/>
              </a:rPr>
              <a:t>HuBERT cluster labels became the standard tokenisation for textless language modelling, speech resynthesis, and the acoustic vocabularies of later speech language models.</a:t>
            </a:r>
            <a:endParaRPr lang="en-US" sz="1190" dirty="0"/>
          </a:p>
        </p:txBody>
      </p:sp>
      <p:sp>
        <p:nvSpPr>
          <p:cNvPr id="18" name="Shape 16"/>
          <p:cNvSpPr/>
          <p:nvPr/>
        </p:nvSpPr>
        <p:spPr>
          <a:xfrm>
            <a:off x="566928" y="3291840"/>
            <a:ext cx="11064240" cy="822960"/>
          </a:xfrm>
          <a:prstGeom prst="roundRect">
            <a:avLst>
              <a:gd name="adj" fmla="val 3333"/>
            </a:avLst>
          </a:prstGeom>
          <a:solidFill>
            <a:srgbClr val="F2F2F7"/>
          </a:solidFill>
          <a:ln w="12700">
            <a:solidFill>
              <a:srgbClr val="E9E9F0"/>
            </a:solidFill>
            <a:prstDash val="solid"/>
          </a:ln>
        </p:spPr>
      </p:sp>
      <p:sp>
        <p:nvSpPr>
          <p:cNvPr id="19" name="Shape 17"/>
          <p:cNvSpPr/>
          <p:nvPr/>
        </p:nvSpPr>
        <p:spPr>
          <a:xfrm>
            <a:off x="786384" y="3643884"/>
            <a:ext cx="118872" cy="118872"/>
          </a:xfrm>
          <a:prstGeom prst="ellipse">
            <a:avLst/>
          </a:prstGeom>
          <a:solidFill>
            <a:srgbClr val="4E4E82"/>
          </a:solidFill>
          <a:ln w="12700">
            <a:solidFill>
              <a:srgbClr val="333333"/>
            </a:solidFill>
            <a:prstDash val="solid"/>
          </a:ln>
        </p:spPr>
      </p:sp>
      <p:sp>
        <p:nvSpPr>
          <p:cNvPr id="20" name="Text 18"/>
          <p:cNvSpPr txBox="1"/>
          <p:nvPr/>
        </p:nvSpPr>
        <p:spPr>
          <a:xfrm>
            <a:off x="1024128" y="3383280"/>
            <a:ext cx="27432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WavLM and UniSpeech-SAT</a:t>
            </a:r>
            <a:endParaRPr lang="en-US" sz="1300" dirty="0"/>
          </a:p>
        </p:txBody>
      </p:sp>
      <p:sp>
        <p:nvSpPr>
          <p:cNvPr id="21" name="Text 19"/>
          <p:cNvSpPr txBox="1"/>
          <p:nvPr/>
        </p:nvSpPr>
        <p:spPr>
          <a:xfrm>
            <a:off x="3950208" y="3364992"/>
            <a:ext cx="7498080" cy="676656"/>
          </a:xfrm>
          <a:prstGeom prst="rect">
            <a:avLst/>
          </a:prstGeom>
          <a:noFill/>
          <a:ln/>
        </p:spPr>
        <p:txBody>
          <a:bodyPr wrap="square" lIns="0" tIns="0" rIns="0" bIns="0" rtlCol="0" anchor="ctr"/>
          <a:lstStyle/>
          <a:p>
            <a:pPr indent="0" marL="0">
              <a:buNone/>
            </a:pPr>
            <a:r>
              <a:rPr lang="en-US" sz="1190" dirty="0">
                <a:solidFill>
                  <a:srgbClr val="33334A"/>
                </a:solidFill>
                <a:latin typeface="Calibri" pitchFamily="34" charset="0"/>
                <a:ea typeface="Calibri" pitchFamily="34" charset="-122"/>
                <a:cs typeface="Calibri" pitchFamily="34" charset="-120"/>
              </a:rPr>
              <a:t>Both extend the HuBERT framework directly rather than wav2vec 2.0's — the second half of this session is one of them.</a:t>
            </a:r>
            <a:endParaRPr lang="en-US" sz="1190" dirty="0"/>
          </a:p>
        </p:txBody>
      </p:sp>
      <p:sp>
        <p:nvSpPr>
          <p:cNvPr id="22" name="Shape 20"/>
          <p:cNvSpPr/>
          <p:nvPr/>
        </p:nvSpPr>
        <p:spPr>
          <a:xfrm>
            <a:off x="566928" y="4169664"/>
            <a:ext cx="11064240" cy="822960"/>
          </a:xfrm>
          <a:prstGeom prst="roundRect">
            <a:avLst>
              <a:gd name="adj" fmla="val 3333"/>
            </a:avLst>
          </a:prstGeom>
          <a:solidFill>
            <a:srgbClr val="FFFFFF"/>
          </a:solidFill>
          <a:ln w="12700">
            <a:solidFill>
              <a:srgbClr val="E9E9F0"/>
            </a:solidFill>
            <a:prstDash val="solid"/>
          </a:ln>
        </p:spPr>
      </p:sp>
      <p:sp>
        <p:nvSpPr>
          <p:cNvPr id="23" name="Shape 21"/>
          <p:cNvSpPr/>
          <p:nvPr/>
        </p:nvSpPr>
        <p:spPr>
          <a:xfrm>
            <a:off x="786384" y="4521708"/>
            <a:ext cx="118872" cy="118872"/>
          </a:xfrm>
          <a:prstGeom prst="ellipse">
            <a:avLst/>
          </a:prstGeom>
          <a:solidFill>
            <a:srgbClr val="4E4E82"/>
          </a:solidFill>
          <a:ln w="12700">
            <a:solidFill>
              <a:srgbClr val="333333"/>
            </a:solidFill>
            <a:prstDash val="solid"/>
          </a:ln>
        </p:spPr>
      </p:sp>
      <p:sp>
        <p:nvSpPr>
          <p:cNvPr id="24" name="Text 22"/>
          <p:cNvSpPr txBox="1"/>
          <p:nvPr/>
        </p:nvSpPr>
        <p:spPr>
          <a:xfrm>
            <a:off x="1024128" y="4261104"/>
            <a:ext cx="27432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Multilingual and domain variants</a:t>
            </a:r>
            <a:endParaRPr lang="en-US" sz="1300" dirty="0"/>
          </a:p>
        </p:txBody>
      </p:sp>
      <p:sp>
        <p:nvSpPr>
          <p:cNvPr id="25" name="Text 23"/>
          <p:cNvSpPr txBox="1"/>
          <p:nvPr/>
        </p:nvSpPr>
        <p:spPr>
          <a:xfrm>
            <a:off x="3950208" y="4242816"/>
            <a:ext cx="7498080" cy="676656"/>
          </a:xfrm>
          <a:prstGeom prst="rect">
            <a:avLst/>
          </a:prstGeom>
          <a:noFill/>
          <a:ln/>
        </p:spPr>
        <p:txBody>
          <a:bodyPr wrap="square" lIns="0" tIns="0" rIns="0" bIns="0" rtlCol="0" anchor="ctr"/>
          <a:lstStyle/>
          <a:p>
            <a:pPr indent="0" marL="0">
              <a:buNone/>
            </a:pPr>
            <a:r>
              <a:rPr lang="en-US" sz="1190" dirty="0">
                <a:solidFill>
                  <a:srgbClr val="33334A"/>
                </a:solidFill>
                <a:latin typeface="Calibri" pitchFamily="34" charset="0"/>
                <a:ea typeface="Calibri" pitchFamily="34" charset="-122"/>
                <a:cs typeface="Calibri" pitchFamily="34" charset="-120"/>
              </a:rPr>
              <a:t>mHuBERT and numerous language-specific reproductions, because the recipe transfers without needing contrastive-loss tuning.</a:t>
            </a:r>
            <a:endParaRPr lang="en-US" sz="1190" dirty="0"/>
          </a:p>
        </p:txBody>
      </p:sp>
      <p:sp>
        <p:nvSpPr>
          <p:cNvPr id="26" name="Shape 24"/>
          <p:cNvSpPr/>
          <p:nvPr/>
        </p:nvSpPr>
        <p:spPr>
          <a:xfrm>
            <a:off x="566928" y="5047488"/>
            <a:ext cx="11064240" cy="822960"/>
          </a:xfrm>
          <a:prstGeom prst="roundRect">
            <a:avLst>
              <a:gd name="adj" fmla="val 3333"/>
            </a:avLst>
          </a:prstGeom>
          <a:solidFill>
            <a:srgbClr val="F2F2F7"/>
          </a:solidFill>
          <a:ln w="12700">
            <a:solidFill>
              <a:srgbClr val="E9E9F0"/>
            </a:solidFill>
            <a:prstDash val="solid"/>
          </a:ln>
        </p:spPr>
      </p:sp>
      <p:sp>
        <p:nvSpPr>
          <p:cNvPr id="27" name="Shape 25"/>
          <p:cNvSpPr/>
          <p:nvPr/>
        </p:nvSpPr>
        <p:spPr>
          <a:xfrm>
            <a:off x="786384" y="5399532"/>
            <a:ext cx="118872" cy="118872"/>
          </a:xfrm>
          <a:prstGeom prst="ellipse">
            <a:avLst/>
          </a:prstGeom>
          <a:solidFill>
            <a:srgbClr val="4E4E82"/>
          </a:solidFill>
          <a:ln w="12700">
            <a:solidFill>
              <a:srgbClr val="333333"/>
            </a:solidFill>
            <a:prstDash val="solid"/>
          </a:ln>
        </p:spPr>
      </p:sp>
      <p:sp>
        <p:nvSpPr>
          <p:cNvPr id="28" name="Text 26"/>
          <p:cNvSpPr txBox="1"/>
          <p:nvPr/>
        </p:nvSpPr>
        <p:spPr>
          <a:xfrm>
            <a:off x="1024128" y="5138928"/>
            <a:ext cx="2743200" cy="640080"/>
          </a:xfrm>
          <a:prstGeom prst="rect">
            <a:avLst/>
          </a:prstGeom>
          <a:noFill/>
          <a:ln/>
        </p:spPr>
        <p:txBody>
          <a:bodyPr wrap="square" lIns="0" tIns="0" rIns="0" bIns="0" rtlCol="0" anchor="ctr"/>
          <a:lstStyle/>
          <a:p>
            <a:pPr indent="0" marL="0">
              <a:buNone/>
            </a:pPr>
            <a:r>
              <a:rPr lang="en-US" sz="1300" b="1" dirty="0">
                <a:solidFill>
                  <a:srgbClr val="191927"/>
                </a:solidFill>
                <a:latin typeface="Cambria" pitchFamily="34" charset="0"/>
                <a:ea typeface="Cambria" pitchFamily="34" charset="-122"/>
                <a:cs typeface="Cambria" pitchFamily="34" charset="-120"/>
              </a:rPr>
              <a:t>The affective computing connection</a:t>
            </a:r>
            <a:endParaRPr lang="en-US" sz="1300" dirty="0"/>
          </a:p>
        </p:txBody>
      </p:sp>
      <p:sp>
        <p:nvSpPr>
          <p:cNvPr id="29" name="Text 27"/>
          <p:cNvSpPr txBox="1"/>
          <p:nvPr/>
        </p:nvSpPr>
        <p:spPr>
          <a:xfrm>
            <a:off x="3950208" y="5120640"/>
            <a:ext cx="7498080" cy="676656"/>
          </a:xfrm>
          <a:prstGeom prst="rect">
            <a:avLst/>
          </a:prstGeom>
          <a:noFill/>
          <a:ln/>
        </p:spPr>
        <p:txBody>
          <a:bodyPr wrap="square" lIns="0" tIns="0" rIns="0" bIns="0" rtlCol="0" anchor="ctr"/>
          <a:lstStyle/>
          <a:p>
            <a:pPr indent="0" marL="0">
              <a:buNone/>
            </a:pPr>
            <a:r>
              <a:rPr lang="en-US" sz="1190" dirty="0">
                <a:solidFill>
                  <a:srgbClr val="33334A"/>
                </a:solidFill>
                <a:latin typeface="Calibri" pitchFamily="34" charset="0"/>
                <a:ea typeface="Calibri" pitchFamily="34" charset="-122"/>
                <a:cs typeface="Calibri" pitchFamily="34" charset="-120"/>
              </a:rPr>
              <a:t>Emotion-recognition work that had been building on wav2vec 2.0 largely migrated to HuBERT features — usually with a learned weighted sum across layers, for the reasons we discussed last session.</a:t>
            </a:r>
            <a:endParaRPr lang="en-US" sz="1190" dirty="0"/>
          </a:p>
        </p:txBody>
      </p:sp>
      <p:sp>
        <p:nvSpPr>
          <p:cNvPr id="30" name="Shape 28"/>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228832" y="512064"/>
            <a:ext cx="73152" cy="73152"/>
          </a:xfrm>
          <a:prstGeom prst="ellipse">
            <a:avLst/>
          </a:prstGeom>
          <a:solidFill>
            <a:srgbClr val="4E4E82"/>
          </a:solidFill>
          <a:ln w="12700">
            <a:solidFill>
              <a:srgbClr val="333333"/>
            </a:solidFill>
            <a:prstDash val="solid"/>
          </a:ln>
        </p:spPr>
      </p:sp>
      <p:sp>
        <p:nvSpPr>
          <p:cNvPr id="3" name="Shape 1"/>
          <p:cNvSpPr/>
          <p:nvPr/>
        </p:nvSpPr>
        <p:spPr>
          <a:xfrm>
            <a:off x="11375136" y="420624"/>
            <a:ext cx="73152" cy="73152"/>
          </a:xfrm>
          <a:prstGeom prst="ellipse">
            <a:avLst/>
          </a:prstGeom>
          <a:solidFill>
            <a:srgbClr val="4E4E82"/>
          </a:solidFill>
          <a:ln w="12700">
            <a:solidFill>
              <a:srgbClr val="333333"/>
            </a:solidFill>
            <a:prstDash val="solid"/>
          </a:ln>
        </p:spPr>
      </p:sp>
      <p:sp>
        <p:nvSpPr>
          <p:cNvPr id="4" name="Shape 2"/>
          <p:cNvSpPr/>
          <p:nvPr/>
        </p:nvSpPr>
        <p:spPr>
          <a:xfrm>
            <a:off x="11503152" y="539496"/>
            <a:ext cx="118872" cy="118872"/>
          </a:xfrm>
          <a:prstGeom prst="ellipse">
            <a:avLst/>
          </a:prstGeom>
          <a:solidFill>
            <a:srgbClr val="C94F7C"/>
          </a:solidFill>
          <a:ln w="12700">
            <a:solidFill>
              <a:srgbClr val="333333"/>
            </a:solidFill>
            <a:prstDash val="solid"/>
          </a:ln>
        </p:spPr>
      </p:sp>
      <p:sp>
        <p:nvSpPr>
          <p:cNvPr id="5" name="Shape 3"/>
          <p:cNvSpPr/>
          <p:nvPr/>
        </p:nvSpPr>
        <p:spPr>
          <a:xfrm>
            <a:off x="11320272" y="658368"/>
            <a:ext cx="73152" cy="73152"/>
          </a:xfrm>
          <a:prstGeom prst="ellipse">
            <a:avLst/>
          </a:prstGeom>
          <a:solidFill>
            <a:srgbClr val="4E4E82"/>
          </a:solidFill>
          <a:ln w="12700">
            <a:solidFill>
              <a:srgbClr val="333333"/>
            </a:solidFill>
            <a:prstDash val="solid"/>
          </a:ln>
        </p:spPr>
      </p:sp>
      <p:sp>
        <p:nvSpPr>
          <p:cNvPr id="6" name="Shape 4"/>
          <p:cNvSpPr/>
          <p:nvPr/>
        </p:nvSpPr>
        <p:spPr>
          <a:xfrm>
            <a:off x="11484864" y="694944"/>
            <a:ext cx="73152" cy="73152"/>
          </a:xfrm>
          <a:prstGeom prst="ellipse">
            <a:avLst/>
          </a:prstGeom>
          <a:solidFill>
            <a:srgbClr val="4E4E82"/>
          </a:solidFill>
          <a:ln w="12700">
            <a:solidFill>
              <a:srgbClr val="333333"/>
            </a:solidFill>
            <a:prstDash val="solid"/>
          </a:ln>
        </p:spPr>
      </p:sp>
      <p:sp>
        <p:nvSpPr>
          <p:cNvPr id="7" name="Text 5"/>
          <p:cNvSpPr txBox="1"/>
          <p:nvPr/>
        </p:nvSpPr>
        <p:spPr>
          <a:xfrm>
            <a:off x="548640" y="384048"/>
            <a:ext cx="10424160" cy="566928"/>
          </a:xfrm>
          <a:prstGeom prst="rect">
            <a:avLst/>
          </a:prstGeom>
          <a:noFill/>
          <a:ln/>
        </p:spPr>
        <p:txBody>
          <a:bodyPr wrap="square" lIns="0" tIns="0" rIns="0" bIns="0" rtlCol="0" anchor="t"/>
          <a:lstStyle/>
          <a:p>
            <a:pPr indent="0" marL="0">
              <a:buNone/>
            </a:pPr>
            <a:r>
              <a:rPr lang="en-US" sz="2900" b="1" dirty="0">
                <a:solidFill>
                  <a:srgbClr val="191927"/>
                </a:solidFill>
                <a:latin typeface="Cambria" pitchFamily="34" charset="0"/>
                <a:ea typeface="Cambria" pitchFamily="34" charset="-122"/>
                <a:cs typeface="Cambria" pitchFamily="34" charset="-120"/>
              </a:rPr>
              <a:t>Take-aways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indent="0" marL="0">
              <a:buNone/>
            </a:pPr>
            <a:r>
              <a:rPr lang="en-US" sz="1350" i="1" dirty="0">
                <a:solidFill>
                  <a:srgbClr val="5F5F79"/>
                </a:solidFill>
                <a:latin typeface="Calibri" pitchFamily="34" charset="0"/>
                <a:ea typeface="Calibri" pitchFamily="34" charset="-122"/>
                <a:cs typeface="Calibri" pitchFamily="34" charset="-120"/>
              </a:rPr>
              <a:t>Four things to carry into the second half</a:t>
            </a:r>
            <a:endParaRPr lang="en-US" sz="1350" dirty="0"/>
          </a:p>
        </p:txBody>
      </p:sp>
      <p:sp>
        <p:nvSpPr>
          <p:cNvPr id="9" name="Text 7"/>
          <p:cNvSpPr txBox="1"/>
          <p:nvPr/>
        </p:nvSpPr>
        <p:spPr>
          <a:xfrm>
            <a:off x="9509760" y="6382512"/>
            <a:ext cx="2130552" cy="274320"/>
          </a:xfrm>
          <a:prstGeom prst="rect">
            <a:avLst/>
          </a:prstGeom>
          <a:noFill/>
          <a:ln/>
        </p:spPr>
        <p:txBody>
          <a:bodyPr wrap="square" lIns="0" tIns="0" rIns="0" bIns="0" rtlCol="0" anchor="ctr"/>
          <a:lstStyle/>
          <a:p>
            <a:pPr algn="r" indent="0" marL="0">
              <a:buNone/>
            </a:pPr>
            <a:r>
              <a:rPr lang="en-US" sz="900" dirty="0">
                <a:solidFill>
                  <a:srgbClr val="A3A3BC"/>
                </a:solidFill>
                <a:latin typeface="Calibri" pitchFamily="34" charset="0"/>
                <a:ea typeface="Calibri" pitchFamily="34" charset="-122"/>
                <a:cs typeface="Calibri" pitchFamily="34" charset="-120"/>
              </a:rPr>
              <a:t>HuBERT · Hsu et al. 2021  |  26</a:t>
            </a:r>
            <a:endParaRPr lang="en-US" sz="900" dirty="0"/>
          </a:p>
        </p:txBody>
      </p:sp>
      <p:sp>
        <p:nvSpPr>
          <p:cNvPr id="10" name="Shape 8"/>
          <p:cNvSpPr/>
          <p:nvPr/>
        </p:nvSpPr>
        <p:spPr>
          <a:xfrm>
            <a:off x="566928" y="1572768"/>
            <a:ext cx="11064240" cy="1005840"/>
          </a:xfrm>
          <a:prstGeom prst="roundRect">
            <a:avLst>
              <a:gd name="adj" fmla="val 4545"/>
            </a:avLst>
          </a:prstGeom>
          <a:solidFill>
            <a:srgbClr val="F2F2F7"/>
          </a:solidFill>
          <a:ln w="12700">
            <a:solidFill>
              <a:srgbClr val="E3E3EC"/>
            </a:solidFill>
            <a:prstDash val="solid"/>
          </a:ln>
        </p:spPr>
      </p:sp>
      <p:sp>
        <p:nvSpPr>
          <p:cNvPr id="11" name="Shape 9"/>
          <p:cNvSpPr/>
          <p:nvPr/>
        </p:nvSpPr>
        <p:spPr>
          <a:xfrm>
            <a:off x="822960" y="1901952"/>
            <a:ext cx="347472" cy="347472"/>
          </a:xfrm>
          <a:prstGeom prst="ellipse">
            <a:avLst/>
          </a:prstGeom>
          <a:solidFill>
            <a:srgbClr val="4E4E82"/>
          </a:solidFill>
          <a:ln w="12700">
            <a:solidFill>
              <a:srgbClr val="333333"/>
            </a:solidFill>
            <a:prstDash val="solid"/>
          </a:ln>
        </p:spPr>
      </p:sp>
      <p:sp>
        <p:nvSpPr>
          <p:cNvPr id="12" name="Text 10"/>
          <p:cNvSpPr txBox="1"/>
          <p:nvPr/>
        </p:nvSpPr>
        <p:spPr>
          <a:xfrm>
            <a:off x="822960" y="1929384"/>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3" name="Text 11"/>
          <p:cNvSpPr txBox="1"/>
          <p:nvPr/>
        </p:nvSpPr>
        <p:spPr>
          <a:xfrm>
            <a:off x="1335024" y="1719072"/>
            <a:ext cx="393192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Consistency beats correctness</a:t>
            </a:r>
            <a:endParaRPr lang="en-US" sz="1350" dirty="0"/>
          </a:p>
        </p:txBody>
      </p:sp>
      <p:sp>
        <p:nvSpPr>
          <p:cNvPr id="14" name="Text 12"/>
          <p:cNvSpPr txBox="1"/>
          <p:nvPr/>
        </p:nvSpPr>
        <p:spPr>
          <a:xfrm>
            <a:off x="5440680" y="1700784"/>
            <a:ext cx="6035040" cy="76809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A teacher that removes only a quarter of the uncertainty about phone identity is enough, provided its errors are systematic rather than random.</a:t>
            </a:r>
            <a:endParaRPr lang="en-US" sz="1200" dirty="0"/>
          </a:p>
        </p:txBody>
      </p:sp>
      <p:sp>
        <p:nvSpPr>
          <p:cNvPr id="15" name="Shape 13"/>
          <p:cNvSpPr/>
          <p:nvPr/>
        </p:nvSpPr>
        <p:spPr>
          <a:xfrm>
            <a:off x="566928" y="2651760"/>
            <a:ext cx="11064240" cy="1005840"/>
          </a:xfrm>
          <a:prstGeom prst="roundRect">
            <a:avLst>
              <a:gd name="adj" fmla="val 4545"/>
            </a:avLst>
          </a:prstGeom>
          <a:solidFill>
            <a:srgbClr val="FFFFFF"/>
          </a:solidFill>
          <a:ln w="12700">
            <a:solidFill>
              <a:srgbClr val="E3E3EC"/>
            </a:solidFill>
            <a:prstDash val="solid"/>
          </a:ln>
        </p:spPr>
      </p:sp>
      <p:sp>
        <p:nvSpPr>
          <p:cNvPr id="16" name="Shape 14"/>
          <p:cNvSpPr/>
          <p:nvPr/>
        </p:nvSpPr>
        <p:spPr>
          <a:xfrm>
            <a:off x="822960" y="2980944"/>
            <a:ext cx="347472" cy="347472"/>
          </a:xfrm>
          <a:prstGeom prst="ellipse">
            <a:avLst/>
          </a:prstGeom>
          <a:solidFill>
            <a:srgbClr val="4E4E82"/>
          </a:solidFill>
          <a:ln w="12700">
            <a:solidFill>
              <a:srgbClr val="333333"/>
            </a:solidFill>
            <a:prstDash val="solid"/>
          </a:ln>
        </p:spPr>
      </p:sp>
      <p:sp>
        <p:nvSpPr>
          <p:cNvPr id="17" name="Text 15"/>
          <p:cNvSpPr txBox="1"/>
          <p:nvPr/>
        </p:nvSpPr>
        <p:spPr>
          <a:xfrm>
            <a:off x="822960" y="3008376"/>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8" name="Text 16"/>
          <p:cNvSpPr txBox="1"/>
          <p:nvPr/>
        </p:nvSpPr>
        <p:spPr>
          <a:xfrm>
            <a:off x="1335024" y="2798064"/>
            <a:ext cx="393192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Where the loss is applied is the design</a:t>
            </a:r>
            <a:endParaRPr lang="en-US" sz="1350" dirty="0"/>
          </a:p>
        </p:txBody>
      </p:sp>
      <p:sp>
        <p:nvSpPr>
          <p:cNvPr id="19" name="Text 17"/>
          <p:cNvSpPr txBox="1"/>
          <p:nvPr/>
        </p:nvSpPr>
        <p:spPr>
          <a:xfrm>
            <a:off x="5440680" y="2779776"/>
            <a:ext cx="6035040" cy="76809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Masked-only prediction turns a 96% word error rate into 17.9% with the same labels. It is a defence against label noise, and it stops paying once the labels are good.</a:t>
            </a:r>
            <a:endParaRPr lang="en-US" sz="1200" dirty="0"/>
          </a:p>
        </p:txBody>
      </p:sp>
      <p:sp>
        <p:nvSpPr>
          <p:cNvPr id="20" name="Shape 18"/>
          <p:cNvSpPr/>
          <p:nvPr/>
        </p:nvSpPr>
        <p:spPr>
          <a:xfrm>
            <a:off x="566928" y="3730752"/>
            <a:ext cx="11064240" cy="1005840"/>
          </a:xfrm>
          <a:prstGeom prst="roundRect">
            <a:avLst>
              <a:gd name="adj" fmla="val 4545"/>
            </a:avLst>
          </a:prstGeom>
          <a:solidFill>
            <a:srgbClr val="F2F2F7"/>
          </a:solidFill>
          <a:ln w="12700">
            <a:solidFill>
              <a:srgbClr val="E3E3EC"/>
            </a:solidFill>
            <a:prstDash val="solid"/>
          </a:ln>
        </p:spPr>
      </p:sp>
      <p:sp>
        <p:nvSpPr>
          <p:cNvPr id="21" name="Shape 19"/>
          <p:cNvSpPr/>
          <p:nvPr/>
        </p:nvSpPr>
        <p:spPr>
          <a:xfrm>
            <a:off x="822960" y="4059936"/>
            <a:ext cx="347472" cy="347472"/>
          </a:xfrm>
          <a:prstGeom prst="ellipse">
            <a:avLst/>
          </a:prstGeom>
          <a:solidFill>
            <a:srgbClr val="4E4E82"/>
          </a:solidFill>
          <a:ln w="12700">
            <a:solidFill>
              <a:srgbClr val="333333"/>
            </a:solidFill>
            <a:prstDash val="solid"/>
          </a:ln>
        </p:spPr>
      </p:sp>
      <p:sp>
        <p:nvSpPr>
          <p:cNvPr id="22" name="Text 20"/>
          <p:cNvSpPr txBox="1"/>
          <p:nvPr/>
        </p:nvSpPr>
        <p:spPr>
          <a:xfrm>
            <a:off x="822960" y="4087368"/>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21"/>
          <p:cNvSpPr txBox="1"/>
          <p:nvPr/>
        </p:nvSpPr>
        <p:spPr>
          <a:xfrm>
            <a:off x="1335024" y="3877056"/>
            <a:ext cx="393192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Bootstrapping works</a:t>
            </a:r>
            <a:endParaRPr lang="en-US" sz="1350" dirty="0"/>
          </a:p>
        </p:txBody>
      </p:sp>
      <p:sp>
        <p:nvSpPr>
          <p:cNvPr id="24" name="Text 22"/>
          <p:cNvSpPr txBox="1"/>
          <p:nvPr/>
        </p:nvSpPr>
        <p:spPr>
          <a:xfrm>
            <a:off x="5440680" y="3858768"/>
            <a:ext cx="6035040" cy="76809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Cluster, train, re-cluster on the model's own representations. Two rounds take PNMI from 0.25 to 0.70 with no supervision anywhere in the loop.</a:t>
            </a:r>
            <a:endParaRPr lang="en-US" sz="1200" dirty="0"/>
          </a:p>
        </p:txBody>
      </p:sp>
      <p:sp>
        <p:nvSpPr>
          <p:cNvPr id="25" name="Shape 23"/>
          <p:cNvSpPr/>
          <p:nvPr/>
        </p:nvSpPr>
        <p:spPr>
          <a:xfrm>
            <a:off x="566928" y="4809744"/>
            <a:ext cx="11064240" cy="1005840"/>
          </a:xfrm>
          <a:prstGeom prst="roundRect">
            <a:avLst>
              <a:gd name="adj" fmla="val 4545"/>
            </a:avLst>
          </a:prstGeom>
          <a:solidFill>
            <a:srgbClr val="FFFFFF"/>
          </a:solidFill>
          <a:ln w="12700">
            <a:solidFill>
              <a:srgbClr val="E3E3EC"/>
            </a:solidFill>
            <a:prstDash val="solid"/>
          </a:ln>
        </p:spPr>
      </p:sp>
      <p:sp>
        <p:nvSpPr>
          <p:cNvPr id="26" name="Shape 24"/>
          <p:cNvSpPr/>
          <p:nvPr/>
        </p:nvSpPr>
        <p:spPr>
          <a:xfrm>
            <a:off x="822960" y="5138928"/>
            <a:ext cx="347472" cy="347472"/>
          </a:xfrm>
          <a:prstGeom prst="ellipse">
            <a:avLst/>
          </a:prstGeom>
          <a:solidFill>
            <a:srgbClr val="4E4E82"/>
          </a:solidFill>
          <a:ln w="12700">
            <a:solidFill>
              <a:srgbClr val="333333"/>
            </a:solidFill>
            <a:prstDash val="solid"/>
          </a:ln>
        </p:spPr>
      </p:sp>
      <p:sp>
        <p:nvSpPr>
          <p:cNvPr id="27" name="Text 25"/>
          <p:cNvSpPr txBox="1"/>
          <p:nvPr/>
        </p:nvSpPr>
        <p:spPr>
          <a:xfrm>
            <a:off x="822960" y="5166360"/>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8" name="Text 26"/>
          <p:cNvSpPr txBox="1"/>
          <p:nvPr/>
        </p:nvSpPr>
        <p:spPr>
          <a:xfrm>
            <a:off x="1335024" y="4956048"/>
            <a:ext cx="3931920" cy="731520"/>
          </a:xfrm>
          <a:prstGeom prst="rect">
            <a:avLst/>
          </a:prstGeom>
          <a:noFill/>
          <a:ln/>
        </p:spPr>
        <p:txBody>
          <a:bodyPr wrap="square" lIns="0" tIns="0" rIns="0" bIns="0" rtlCol="0" anchor="ctr"/>
          <a:lstStyle/>
          <a:p>
            <a:pPr indent="0" marL="0">
              <a:buNone/>
            </a:pPr>
            <a:r>
              <a:rPr lang="en-US" sz="1350" b="1" dirty="0">
                <a:solidFill>
                  <a:srgbClr val="191927"/>
                </a:solidFill>
                <a:latin typeface="Cambria" pitchFamily="34" charset="0"/>
                <a:ea typeface="Cambria" pitchFamily="34" charset="-122"/>
                <a:cs typeface="Cambria" pitchFamily="34" charset="-120"/>
              </a:rPr>
              <a:t>Simpler objectives win in the long run</a:t>
            </a:r>
            <a:endParaRPr lang="en-US" sz="1350" dirty="0"/>
          </a:p>
        </p:txBody>
      </p:sp>
      <p:sp>
        <p:nvSpPr>
          <p:cNvPr id="29" name="Text 27"/>
          <p:cNvSpPr txBox="1"/>
          <p:nvPr/>
        </p:nvSpPr>
        <p:spPr>
          <a:xfrm>
            <a:off x="5440680" y="4937760"/>
            <a:ext cx="6035040" cy="768096"/>
          </a:xfrm>
          <a:prstGeom prst="rect">
            <a:avLst/>
          </a:prstGeom>
          <a:noFill/>
          <a:ln/>
        </p:spPr>
        <p:txBody>
          <a:bodyPr wrap="square" lIns="0" tIns="0" rIns="0" bIns="0" rtlCol="0" anchor="ctr"/>
          <a:lstStyle/>
          <a:p>
            <a:pPr indent="0" marL="0">
              <a:buNone/>
            </a:pPr>
            <a:r>
              <a:rPr lang="en-US" sz="1200" dirty="0">
                <a:solidFill>
                  <a:srgbClr val="33334A"/>
                </a:solidFill>
                <a:latin typeface="Calibri" pitchFamily="34" charset="0"/>
                <a:ea typeface="Calibri" pitchFamily="34" charset="-122"/>
                <a:cs typeface="Calibri" pitchFamily="34" charset="-120"/>
              </a:rPr>
              <a:t>The contrastive machinery wav2vec 2.0 needed was replaced by a cross-entropy loss, and the field followed.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336"/>
        </a:solidFill>
      </p:bgPr>
    </p:bg>
    <p:spTree>
      <p:nvGrpSpPr>
        <p:cNvPr id="1" name=""/>
        <p:cNvGrpSpPr/>
        <p:nvPr/>
      </p:nvGrpSpPr>
      <p:grpSpPr>
        <a:xfrm>
          <a:off x="0" y="0"/>
          <a:ext cx="0" cy="0"/>
          <a:chOff x="0" y="0"/>
          <a:chExt cx="0" cy="0"/>
        </a:xfrm>
      </p:grpSpPr>
      <p:sp>
        <p:nvSpPr>
          <p:cNvPr id="2" name="Shape 0"/>
          <p:cNvSpPr/>
          <p:nvPr/>
        </p:nvSpPr>
        <p:spPr>
          <a:xfrm>
            <a:off x="10698480" y="786384"/>
            <a:ext cx="117043" cy="117043"/>
          </a:xfrm>
          <a:prstGeom prst="ellipse">
            <a:avLst/>
          </a:prstGeom>
          <a:solidFill>
            <a:srgbClr val="CFCFE2"/>
          </a:solidFill>
          <a:ln w="12700">
            <a:solidFill>
              <a:srgbClr val="333333"/>
            </a:solidFill>
            <a:prstDash val="solid"/>
          </a:ln>
        </p:spPr>
      </p:sp>
      <p:sp>
        <p:nvSpPr>
          <p:cNvPr id="3" name="Shape 1"/>
          <p:cNvSpPr/>
          <p:nvPr/>
        </p:nvSpPr>
        <p:spPr>
          <a:xfrm>
            <a:off x="10932566" y="640080"/>
            <a:ext cx="117043" cy="117043"/>
          </a:xfrm>
          <a:prstGeom prst="ellipse">
            <a:avLst/>
          </a:prstGeom>
          <a:solidFill>
            <a:srgbClr val="CFCFE2"/>
          </a:solidFill>
          <a:ln w="12700">
            <a:solidFill>
              <a:srgbClr val="333333"/>
            </a:solidFill>
            <a:prstDash val="solid"/>
          </a:ln>
        </p:spPr>
      </p:sp>
      <p:sp>
        <p:nvSpPr>
          <p:cNvPr id="4" name="Shape 2"/>
          <p:cNvSpPr/>
          <p:nvPr/>
        </p:nvSpPr>
        <p:spPr>
          <a:xfrm>
            <a:off x="11137392" y="830275"/>
            <a:ext cx="190195" cy="190195"/>
          </a:xfrm>
          <a:prstGeom prst="ellipse">
            <a:avLst/>
          </a:prstGeom>
          <a:solidFill>
            <a:srgbClr val="C94F7C"/>
          </a:solidFill>
          <a:ln w="12700">
            <a:solidFill>
              <a:srgbClr val="333333"/>
            </a:solidFill>
            <a:prstDash val="solid"/>
          </a:ln>
        </p:spPr>
      </p:sp>
      <p:sp>
        <p:nvSpPr>
          <p:cNvPr id="5" name="Shape 3"/>
          <p:cNvSpPr/>
          <p:nvPr/>
        </p:nvSpPr>
        <p:spPr>
          <a:xfrm>
            <a:off x="10844784" y="1020470"/>
            <a:ext cx="117043" cy="117043"/>
          </a:xfrm>
          <a:prstGeom prst="ellipse">
            <a:avLst/>
          </a:prstGeom>
          <a:solidFill>
            <a:srgbClr val="CFCFE2"/>
          </a:solidFill>
          <a:ln w="12700">
            <a:solidFill>
              <a:srgbClr val="333333"/>
            </a:solidFill>
            <a:prstDash val="solid"/>
          </a:ln>
        </p:spPr>
      </p:sp>
      <p:sp>
        <p:nvSpPr>
          <p:cNvPr id="6" name="Shape 4"/>
          <p:cNvSpPr/>
          <p:nvPr/>
        </p:nvSpPr>
        <p:spPr>
          <a:xfrm>
            <a:off x="11108131" y="1078992"/>
            <a:ext cx="117043" cy="117043"/>
          </a:xfrm>
          <a:prstGeom prst="ellipse">
            <a:avLst/>
          </a:prstGeom>
          <a:solidFill>
            <a:srgbClr val="CFCFE2"/>
          </a:solidFill>
          <a:ln w="12700">
            <a:solidFill>
              <a:srgbClr val="333333"/>
            </a:solidFill>
            <a:prstDash val="solid"/>
          </a:ln>
        </p:spPr>
      </p:sp>
      <p:sp>
        <p:nvSpPr>
          <p:cNvPr id="7" name="Text 5"/>
          <p:cNvSpPr txBox="1"/>
          <p:nvPr/>
        </p:nvSpPr>
        <p:spPr>
          <a:xfrm>
            <a:off x="822960" y="658368"/>
            <a:ext cx="10515600" cy="64008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8" name="Shape 6"/>
          <p:cNvSpPr/>
          <p:nvPr/>
        </p:nvSpPr>
        <p:spPr>
          <a:xfrm>
            <a:off x="841248" y="1600200"/>
            <a:ext cx="329184" cy="329184"/>
          </a:xfrm>
          <a:prstGeom prst="ellipse">
            <a:avLst/>
          </a:prstGeom>
          <a:solidFill>
            <a:srgbClr val="C94F7C"/>
          </a:solidFill>
          <a:ln w="12700">
            <a:solidFill>
              <a:srgbClr val="333333"/>
            </a:solidFill>
            <a:prstDash val="solid"/>
          </a:ln>
        </p:spPr>
      </p:sp>
      <p:sp>
        <p:nvSpPr>
          <p:cNvPr id="9" name="Text 7"/>
          <p:cNvSpPr txBox="1"/>
          <p:nvPr/>
        </p:nvSpPr>
        <p:spPr>
          <a:xfrm>
            <a:off x="841248" y="1627632"/>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353312" y="1517904"/>
            <a:ext cx="10058400" cy="914400"/>
          </a:xfrm>
          <a:prstGeom prst="rect">
            <a:avLst/>
          </a:prstGeom>
          <a:noFill/>
          <a:ln/>
        </p:spPr>
        <p:txBody>
          <a:bodyPr wrap="square" lIns="0" tIns="0" rIns="0" bIns="0" rtlCol="0" anchor="ctr"/>
          <a:lstStyle/>
          <a:p>
            <a:pPr indent="0" marL="0">
              <a:buNone/>
            </a:pPr>
            <a:r>
              <a:rPr lang="en-US" sz="1250" dirty="0">
                <a:solidFill>
                  <a:srgbClr val="CFCFE2"/>
                </a:solidFill>
                <a:latin typeface="Calibri" pitchFamily="34" charset="0"/>
                <a:ea typeface="Calibri" pitchFamily="34" charset="-122"/>
                <a:cs typeface="Calibri" pitchFamily="34" charset="-120"/>
              </a:rPr>
              <a:t>The paper argues consistency matters more than correctness. What would a maximally inconsistent teacher look like, and is there a way to measure teacher consistency directly rather than inferring it from downstream word error rate?</a:t>
            </a:r>
            <a:endParaRPr lang="en-US" sz="1250" dirty="0"/>
          </a:p>
        </p:txBody>
      </p:sp>
      <p:sp>
        <p:nvSpPr>
          <p:cNvPr id="11" name="Shape 9"/>
          <p:cNvSpPr/>
          <p:nvPr/>
        </p:nvSpPr>
        <p:spPr>
          <a:xfrm>
            <a:off x="841248" y="2532888"/>
            <a:ext cx="329184" cy="329184"/>
          </a:xfrm>
          <a:prstGeom prst="ellipse">
            <a:avLst/>
          </a:prstGeom>
          <a:solidFill>
            <a:srgbClr val="C94F7C"/>
          </a:solidFill>
          <a:ln w="12700">
            <a:solidFill>
              <a:srgbClr val="333333"/>
            </a:solidFill>
            <a:prstDash val="solid"/>
          </a:ln>
        </p:spPr>
      </p:sp>
      <p:sp>
        <p:nvSpPr>
          <p:cNvPr id="12" name="Text 10"/>
          <p:cNvSpPr txBox="1"/>
          <p:nvPr/>
        </p:nvSpPr>
        <p:spPr>
          <a:xfrm>
            <a:off x="841248" y="2560320"/>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353312" y="2450592"/>
            <a:ext cx="10058400" cy="914400"/>
          </a:xfrm>
          <a:prstGeom prst="rect">
            <a:avLst/>
          </a:prstGeom>
          <a:noFill/>
          <a:ln/>
        </p:spPr>
        <p:txBody>
          <a:bodyPr wrap="square" lIns="0" tIns="0" rIns="0" bIns="0" rtlCol="0" anchor="ctr"/>
          <a:lstStyle/>
          <a:p>
            <a:pPr indent="0" marL="0">
              <a:buNone/>
            </a:pPr>
            <a:r>
              <a:rPr lang="en-US" sz="1250" dirty="0">
                <a:solidFill>
                  <a:srgbClr val="CFCFE2"/>
                </a:solidFill>
                <a:latin typeface="Calibri" pitchFamily="34" charset="0"/>
                <a:ea typeface="Calibri" pitchFamily="34" charset="-122"/>
                <a:cs typeface="Calibri" pitchFamily="34" charset="-120"/>
              </a:rPr>
              <a:t>Masked-only prediction helps with bad targets and hurts with good ones. Given that, should α be annealed across iterations as the teacher improves — and why do you think nobody reports having tried?</a:t>
            </a:r>
            <a:endParaRPr lang="en-US" sz="1250" dirty="0"/>
          </a:p>
        </p:txBody>
      </p:sp>
      <p:sp>
        <p:nvSpPr>
          <p:cNvPr id="14" name="Shape 12"/>
          <p:cNvSpPr/>
          <p:nvPr/>
        </p:nvSpPr>
        <p:spPr>
          <a:xfrm>
            <a:off x="841248" y="3465576"/>
            <a:ext cx="329184" cy="329184"/>
          </a:xfrm>
          <a:prstGeom prst="ellipse">
            <a:avLst/>
          </a:prstGeom>
          <a:solidFill>
            <a:srgbClr val="C94F7C"/>
          </a:solidFill>
          <a:ln w="12700">
            <a:solidFill>
              <a:srgbClr val="333333"/>
            </a:solidFill>
            <a:prstDash val="solid"/>
          </a:ln>
        </p:spPr>
      </p:sp>
      <p:sp>
        <p:nvSpPr>
          <p:cNvPr id="15" name="Text 13"/>
          <p:cNvSpPr txBox="1"/>
          <p:nvPr/>
        </p:nvSpPr>
        <p:spPr>
          <a:xfrm>
            <a:off x="841248" y="349300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353312" y="3383280"/>
            <a:ext cx="10058400" cy="914400"/>
          </a:xfrm>
          <a:prstGeom prst="rect">
            <a:avLst/>
          </a:prstGeom>
          <a:noFill/>
          <a:ln/>
        </p:spPr>
        <p:txBody>
          <a:bodyPr wrap="square" lIns="0" tIns="0" rIns="0" bIns="0" rtlCol="0" anchor="ctr"/>
          <a:lstStyle/>
          <a:p>
            <a:pPr indent="0" marL="0">
              <a:buNone/>
            </a:pPr>
            <a:r>
              <a:rPr lang="en-US" sz="1250" dirty="0">
                <a:solidFill>
                  <a:srgbClr val="CFCFE2"/>
                </a:solidFill>
                <a:latin typeface="Calibri" pitchFamily="34" charset="0"/>
                <a:ea typeface="Calibri" pitchFamily="34" charset="-122"/>
                <a:cs typeface="Calibri" pitchFamily="34" charset="-120"/>
              </a:rPr>
              <a:t>The layer to cluster from moves from 6 to 9 between iterations, chosen empirically. Is there a principled criterion, and would PNMI across layers be enough to pick it without any labels at all?</a:t>
            </a:r>
            <a:endParaRPr lang="en-US" sz="1250" dirty="0"/>
          </a:p>
        </p:txBody>
      </p:sp>
      <p:sp>
        <p:nvSpPr>
          <p:cNvPr id="17" name="Shape 15"/>
          <p:cNvSpPr/>
          <p:nvPr/>
        </p:nvSpPr>
        <p:spPr>
          <a:xfrm>
            <a:off x="841248" y="4398264"/>
            <a:ext cx="329184" cy="329184"/>
          </a:xfrm>
          <a:prstGeom prst="ellipse">
            <a:avLst/>
          </a:prstGeom>
          <a:solidFill>
            <a:srgbClr val="C94F7C"/>
          </a:solidFill>
          <a:ln w="12700">
            <a:solidFill>
              <a:srgbClr val="333333"/>
            </a:solidFill>
            <a:prstDash val="solid"/>
          </a:ln>
        </p:spPr>
      </p:sp>
      <p:sp>
        <p:nvSpPr>
          <p:cNvPr id="18" name="Text 16"/>
          <p:cNvSpPr txBox="1"/>
          <p:nvPr/>
        </p:nvSpPr>
        <p:spPr>
          <a:xfrm>
            <a:off x="841248" y="44256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9" name="Text 17"/>
          <p:cNvSpPr txBox="1"/>
          <p:nvPr/>
        </p:nvSpPr>
        <p:spPr>
          <a:xfrm>
            <a:off x="1353312" y="4315968"/>
            <a:ext cx="10058400" cy="914400"/>
          </a:xfrm>
          <a:prstGeom prst="rect">
            <a:avLst/>
          </a:prstGeom>
          <a:noFill/>
          <a:ln/>
        </p:spPr>
        <p:txBody>
          <a:bodyPr wrap="square" lIns="0" tIns="0" rIns="0" bIns="0" rtlCol="0" anchor="ctr"/>
          <a:lstStyle/>
          <a:p>
            <a:pPr indent="0" marL="0">
              <a:buNone/>
            </a:pPr>
            <a:r>
              <a:rPr lang="en-US" sz="1250" dirty="0">
                <a:solidFill>
                  <a:srgbClr val="CFCFE2"/>
                </a:solidFill>
                <a:latin typeface="Calibri" pitchFamily="34" charset="0"/>
                <a:ea typeface="Calibri" pitchFamily="34" charset="-122"/>
                <a:cs typeface="Calibri" pitchFamily="34" charset="-120"/>
              </a:rPr>
              <a:t>HuBERT is evaluated entirely on ASR, yet became the default backbone for speaker and paralinguistic tasks. What does that say about how we should evaluate representation-learning papers?</a:t>
            </a:r>
            <a:endParaRPr lang="en-US" sz="1250" dirty="0"/>
          </a:p>
        </p:txBody>
      </p:sp>
      <p:sp>
        <p:nvSpPr>
          <p:cNvPr id="20" name="Shape 18"/>
          <p:cNvSpPr/>
          <p:nvPr/>
        </p:nvSpPr>
        <p:spPr>
          <a:xfrm>
            <a:off x="841248" y="5330952"/>
            <a:ext cx="329184" cy="329184"/>
          </a:xfrm>
          <a:prstGeom prst="ellipse">
            <a:avLst/>
          </a:prstGeom>
          <a:solidFill>
            <a:srgbClr val="C94F7C"/>
          </a:solidFill>
          <a:ln w="12700">
            <a:solidFill>
              <a:srgbClr val="333333"/>
            </a:solidFill>
            <a:prstDash val="solid"/>
          </a:ln>
        </p:spPr>
      </p:sp>
      <p:sp>
        <p:nvSpPr>
          <p:cNvPr id="21" name="Text 19"/>
          <p:cNvSpPr txBox="1"/>
          <p:nvPr/>
        </p:nvSpPr>
        <p:spPr>
          <a:xfrm>
            <a:off x="841248" y="5358384"/>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2" name="Text 20"/>
          <p:cNvSpPr txBox="1"/>
          <p:nvPr/>
        </p:nvSpPr>
        <p:spPr>
          <a:xfrm>
            <a:off x="1353312" y="5248656"/>
            <a:ext cx="10058400" cy="914400"/>
          </a:xfrm>
          <a:prstGeom prst="rect">
            <a:avLst/>
          </a:prstGeom>
          <a:noFill/>
          <a:ln/>
        </p:spPr>
        <p:txBody>
          <a:bodyPr wrap="square" lIns="0" tIns="0" rIns="0" bIns="0" rtlCol="0" anchor="ctr"/>
          <a:lstStyle/>
          <a:p>
            <a:pPr indent="0" marL="0">
              <a:buNone/>
            </a:pPr>
            <a:r>
              <a:rPr lang="en-US" sz="1250" dirty="0">
                <a:solidFill>
                  <a:srgbClr val="CFCFE2"/>
                </a:solidFill>
                <a:latin typeface="Calibri" pitchFamily="34" charset="0"/>
                <a:ea typeface="Calibri" pitchFamily="34" charset="-122"/>
                <a:cs typeface="Calibri" pitchFamily="34" charset="-120"/>
              </a:rPr>
              <a:t>Everything here is bootstrapped from k-means on MFCCs — a 1980s feature and a 1950s algorithm. What does it mean that the starting point can be this weak?</a:t>
            </a:r>
            <a:endParaRPr lang="en-US" sz="1250" dirty="0"/>
          </a:p>
        </p:txBody>
      </p:sp>
      <p:sp>
        <p:nvSpPr>
          <p:cNvPr id="23" name="Text 21"/>
          <p:cNvSpPr txBox="1"/>
          <p:nvPr/>
        </p:nvSpPr>
        <p:spPr>
          <a:xfrm>
            <a:off x="822960" y="6236208"/>
            <a:ext cx="10607040" cy="274320"/>
          </a:xfrm>
          <a:prstGeom prst="rect">
            <a:avLst/>
          </a:prstGeom>
          <a:noFill/>
          <a:ln/>
        </p:spPr>
        <p:txBody>
          <a:bodyPr wrap="square" lIns="0" tIns="0" rIns="0" bIns="0" rtlCol="0" anchor="ctr"/>
          <a:lstStyle/>
          <a:p>
            <a:pPr indent="0" marL="0">
              <a:buNone/>
            </a:pPr>
            <a:r>
              <a:rPr lang="en-US" sz="1000" dirty="0">
                <a:solidFill>
                  <a:srgbClr val="AFAFC8"/>
                </a:solidFill>
                <a:latin typeface="Calibri" pitchFamily="34" charset="0"/>
                <a:ea typeface="Calibri" pitchFamily="34" charset="-122"/>
                <a:cs typeface="Calibri" pitchFamily="34" charset="-120"/>
              </a:rPr>
              <a:t>Hsu, Bolte, Tsai, Lakhotia, Salakhutdinov &amp; Mohamed (2021), IEEE/ACM TASLP 29, 3451–3460  ·  arXiv:2106.07447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HuBERT (Hsu et al., 2021)</dc:title>
  <dc:subject>PptxGenJS Presentation</dc:subject>
  <dc:creator>Seminar</dc:creator>
  <cp:lastModifiedBy>Seminar</cp:lastModifiedBy>
  <cp:revision>1</cp:revision>
  <dcterms:created xsi:type="dcterms:W3CDTF">2026-09-10T13:58:27Z</dcterms:created>
  <dcterms:modified xsi:type="dcterms:W3CDTF">2026-09-10T13:58:27Z</dcterms:modified>
</cp:coreProperties>
</file>