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8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35A73"/>
                </a:solidFill>
                <a:latin typeface="Calibri"/>
              </a:defRPr>
            </a:pPr>
            <a:r>
              <a:rPr lang="en-US" sz="1200" b="0" i="0" u="none" strike="noStrike">
                <a:solidFill>
                  <a:srgbClr val="635A73"/>
                </a:solidFill>
                <a:latin typeface="Calibri"/>
              </a:rPr>
              <a:t>Overall accuracy (%) — higher is better</a:t>
            </a:r>
          </a:p>
        </c:rich>
      </c:tx>
      <c:overlay val="0"/>
    </c:title>
    <c:autoTitleDeleted val="0"/>
    <c:plotArea>
      <c:layout/>
      <c:barChart>
        <c:barDir val="col"/>
        <c:grouping val="clustered"/>
        <c:varyColors val="0"/>
        <c:ser>
          <c:idx val="0"/>
          <c:order val="0"/>
          <c:tx>
            <c:strRef>
              <c:f>Sheet1!$B$1</c:f>
              <c:strCache>
                <c:ptCount val="1"/>
                <c:pt idx="0">
                  <c:v>Direct prompting</c:v>
                </c:pt>
              </c:strCache>
            </c:strRef>
          </c:tx>
          <c:spPr>
            <a:solidFill>
              <a:srgbClr val="AFA6C2"/>
            </a:solidFill>
            <a:effectLst/>
          </c:spPr>
          <c:invertIfNegative val="0"/>
          <c:dLbls>
            <c:numFmt formatCode="0.0" sourceLinked="0"/>
            <c:spPr>
              <a:noFill/>
              <a:ln>
                <a:noFill/>
              </a:ln>
              <a:effectLst/>
            </c:spPr>
            <c:txPr>
              <a:bodyPr/>
              <a:lstStyle/>
              <a:p>
                <a:pPr>
                  <a:defRPr sz="105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Qwen2-Audio</c:v>
                </c:pt>
                <c:pt idx="1">
                  <c:v>Qwen2.5-Omni</c:v>
                </c:pt>
                <c:pt idx="2">
                  <c:v>Kimi-Audio</c:v>
                </c:pt>
              </c:strCache>
            </c:strRef>
          </c:cat>
          <c:val>
            <c:numRef>
              <c:f>Sheet1!$B$2:$B$4</c:f>
              <c:numCache>
                <c:formatCode>General</c:formatCode>
                <c:ptCount val="3"/>
                <c:pt idx="0">
                  <c:v>55.8</c:v>
                </c:pt>
                <c:pt idx="1">
                  <c:v>57</c:v>
                </c:pt>
                <c:pt idx="2">
                  <c:v>60.5</c:v>
                </c:pt>
              </c:numCache>
            </c:numRef>
          </c:val>
          <c:extLst>
            <c:ext xmlns:c16="http://schemas.microsoft.com/office/drawing/2014/chart" uri="{C3380CC4-5D6E-409C-BE32-E72D297353CC}">
              <c16:uniqueId val="{00000000-C460-F740-A46B-1872D17162F6}"/>
            </c:ext>
          </c:extLst>
        </c:ser>
        <c:ser>
          <c:idx val="1"/>
          <c:order val="1"/>
          <c:tx>
            <c:strRef>
              <c:f>Sheet1!$C$1</c:f>
              <c:strCache>
                <c:ptCount val="1"/>
                <c:pt idx="0">
                  <c:v>Zero-shot chain-of-thought</c:v>
                </c:pt>
              </c:strCache>
            </c:strRef>
          </c:tx>
          <c:spPr>
            <a:solidFill>
              <a:srgbClr val="5E4E7A"/>
            </a:solidFill>
            <a:effectLst/>
          </c:spPr>
          <c:invertIfNegative val="0"/>
          <c:dLbls>
            <c:numFmt formatCode="0.0" sourceLinked="0"/>
            <c:spPr>
              <a:noFill/>
              <a:ln>
                <a:noFill/>
              </a:ln>
              <a:effectLst/>
            </c:spPr>
            <c:txPr>
              <a:bodyPr/>
              <a:lstStyle/>
              <a:p>
                <a:pPr>
                  <a:defRPr sz="105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Qwen2-Audio</c:v>
                </c:pt>
                <c:pt idx="1">
                  <c:v>Qwen2.5-Omni</c:v>
                </c:pt>
                <c:pt idx="2">
                  <c:v>Kimi-Audio</c:v>
                </c:pt>
              </c:strCache>
            </c:strRef>
          </c:cat>
          <c:val>
            <c:numRef>
              <c:f>Sheet1!$C$2:$C$4</c:f>
              <c:numCache>
                <c:formatCode>General</c:formatCode>
                <c:ptCount val="3"/>
                <c:pt idx="0">
                  <c:v>54</c:v>
                </c:pt>
                <c:pt idx="1">
                  <c:v>54.4</c:v>
                </c:pt>
                <c:pt idx="2">
                  <c:v>58.3</c:v>
                </c:pt>
              </c:numCache>
            </c:numRef>
          </c:val>
          <c:extLst>
            <c:ext xmlns:c16="http://schemas.microsoft.com/office/drawing/2014/chart" uri="{C3380CC4-5D6E-409C-BE32-E72D297353CC}">
              <c16:uniqueId val="{00000001-C460-F740-A46B-1872D17162F6}"/>
            </c:ext>
          </c:extLst>
        </c:ser>
        <c:ser>
          <c:idx val="2"/>
          <c:order val="2"/>
          <c:tx>
            <c:strRef>
              <c:f>Sheet1!$D$1</c:f>
              <c:strCache>
                <c:ptCount val="1"/>
                <c:pt idx="0">
                  <c:v>CCoT-Emo</c:v>
                </c:pt>
              </c:strCache>
            </c:strRef>
          </c:tx>
          <c:spPr>
            <a:solidFill>
              <a:srgbClr val="7F9E2E"/>
            </a:solidFill>
            <a:effectLst/>
          </c:spPr>
          <c:invertIfNegative val="0"/>
          <c:dLbls>
            <c:numFmt formatCode="0.0" sourceLinked="0"/>
            <c:spPr>
              <a:noFill/>
              <a:ln>
                <a:noFill/>
              </a:ln>
              <a:effectLst/>
            </c:spPr>
            <c:txPr>
              <a:bodyPr/>
              <a:lstStyle/>
              <a:p>
                <a:pPr>
                  <a:defRPr sz="105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Qwen2-Audio</c:v>
                </c:pt>
                <c:pt idx="1">
                  <c:v>Qwen2.5-Omni</c:v>
                </c:pt>
                <c:pt idx="2">
                  <c:v>Kimi-Audio</c:v>
                </c:pt>
              </c:strCache>
            </c:strRef>
          </c:cat>
          <c:val>
            <c:numRef>
              <c:f>Sheet1!$D$2:$D$4</c:f>
              <c:numCache>
                <c:formatCode>General</c:formatCode>
                <c:ptCount val="3"/>
                <c:pt idx="0">
                  <c:v>64.900000000000006</c:v>
                </c:pt>
                <c:pt idx="1">
                  <c:v>65.3</c:v>
                </c:pt>
                <c:pt idx="2">
                  <c:v>67.7</c:v>
                </c:pt>
              </c:numCache>
            </c:numRef>
          </c:val>
          <c:extLst>
            <c:ext xmlns:c16="http://schemas.microsoft.com/office/drawing/2014/chart" uri="{C3380CC4-5D6E-409C-BE32-E72D297353CC}">
              <c16:uniqueId val="{00000002-C460-F740-A46B-1872D17162F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35A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A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35A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35A73"/>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635A73"/>
                </a:solidFill>
                <a:latin typeface="Calibri"/>
              </a:defRPr>
            </a:pPr>
            <a:r>
              <a:rPr lang="en-US" sz="1150" b="0" i="0" u="none" strike="noStrike">
                <a:solidFill>
                  <a:srgbClr val="635A73"/>
                </a:solidFill>
                <a:latin typeface="Calibri"/>
              </a:rPr>
              <a:t>Adding 'let's think step by step' costs 1.8 to 2.6 points</a:t>
            </a:r>
          </a:p>
        </c:rich>
      </c:tx>
      <c:overlay val="0"/>
    </c:title>
    <c:autoTitleDeleted val="0"/>
    <c:plotArea>
      <c:layout/>
      <c:barChart>
        <c:barDir val="col"/>
        <c:grouping val="clustered"/>
        <c:varyColors val="0"/>
        <c:ser>
          <c:idx val="0"/>
          <c:order val="0"/>
          <c:tx>
            <c:strRef>
              <c:f>Sheet1!$B$1</c:f>
              <c:strCache>
                <c:ptCount val="1"/>
                <c:pt idx="0">
                  <c:v>Direct prompting</c:v>
                </c:pt>
              </c:strCache>
            </c:strRef>
          </c:tx>
          <c:spPr>
            <a:solidFill>
              <a:srgbClr val="5E4E7A"/>
            </a:solidFill>
            <a:effectLst/>
          </c:spPr>
          <c:invertIfNegative val="0"/>
          <c:dLbls>
            <c:numFmt formatCode="0.0" sourceLinked="0"/>
            <c:spPr>
              <a:noFill/>
              <a:ln>
                <a:noFill/>
              </a:ln>
              <a:effectLst/>
            </c:spPr>
            <c:txPr>
              <a:bodyPr/>
              <a:lstStyle/>
              <a:p>
                <a:pPr>
                  <a:defRPr sz="110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Qwen2-Audio</c:v>
                </c:pt>
                <c:pt idx="1">
                  <c:v>Qwen2.5-Omni</c:v>
                </c:pt>
                <c:pt idx="2">
                  <c:v>Kimi-Audio</c:v>
                </c:pt>
              </c:strCache>
            </c:strRef>
          </c:cat>
          <c:val>
            <c:numRef>
              <c:f>Sheet1!$B$2:$B$4</c:f>
              <c:numCache>
                <c:formatCode>General</c:formatCode>
                <c:ptCount val="3"/>
                <c:pt idx="0">
                  <c:v>55.8</c:v>
                </c:pt>
                <c:pt idx="1">
                  <c:v>57</c:v>
                </c:pt>
                <c:pt idx="2">
                  <c:v>60.5</c:v>
                </c:pt>
              </c:numCache>
            </c:numRef>
          </c:val>
          <c:extLst>
            <c:ext xmlns:c16="http://schemas.microsoft.com/office/drawing/2014/chart" uri="{C3380CC4-5D6E-409C-BE32-E72D297353CC}">
              <c16:uniqueId val="{00000000-3FE6-D44E-AD0D-E33D21B08629}"/>
            </c:ext>
          </c:extLst>
        </c:ser>
        <c:ser>
          <c:idx val="1"/>
          <c:order val="1"/>
          <c:tx>
            <c:strRef>
              <c:f>Sheet1!$C$1</c:f>
              <c:strCache>
                <c:ptCount val="1"/>
                <c:pt idx="0">
                  <c:v>Zero-shot chain-of-thought</c:v>
                </c:pt>
              </c:strCache>
            </c:strRef>
          </c:tx>
          <c:spPr>
            <a:solidFill>
              <a:srgbClr val="AFA6C2"/>
            </a:solidFill>
            <a:effectLst/>
          </c:spPr>
          <c:invertIfNegative val="0"/>
          <c:dLbls>
            <c:numFmt formatCode="0.0" sourceLinked="0"/>
            <c:spPr>
              <a:noFill/>
              <a:ln>
                <a:noFill/>
              </a:ln>
              <a:effectLst/>
            </c:spPr>
            <c:txPr>
              <a:bodyPr/>
              <a:lstStyle/>
              <a:p>
                <a:pPr>
                  <a:defRPr sz="110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Qwen2-Audio</c:v>
                </c:pt>
                <c:pt idx="1">
                  <c:v>Qwen2.5-Omni</c:v>
                </c:pt>
                <c:pt idx="2">
                  <c:v>Kimi-Audio</c:v>
                </c:pt>
              </c:strCache>
            </c:strRef>
          </c:cat>
          <c:val>
            <c:numRef>
              <c:f>Sheet1!$C$2:$C$4</c:f>
              <c:numCache>
                <c:formatCode>General</c:formatCode>
                <c:ptCount val="3"/>
                <c:pt idx="0">
                  <c:v>54</c:v>
                </c:pt>
                <c:pt idx="1">
                  <c:v>54.4</c:v>
                </c:pt>
                <c:pt idx="2">
                  <c:v>58.3</c:v>
                </c:pt>
              </c:numCache>
            </c:numRef>
          </c:val>
          <c:extLst>
            <c:ext xmlns:c16="http://schemas.microsoft.com/office/drawing/2014/chart" uri="{C3380CC4-5D6E-409C-BE32-E72D297353CC}">
              <c16:uniqueId val="{00000001-3FE6-D44E-AD0D-E33D21B0862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35A73"/>
                </a:solidFill>
                <a:latin typeface="Arial"/>
              </a:defRPr>
            </a:pPr>
            <a:endParaRPr lang="en-US"/>
          </a:p>
        </c:txPr>
        <c:crossAx val="2094734552"/>
        <c:crosses val="autoZero"/>
        <c:auto val="1"/>
        <c:lblAlgn val="ctr"/>
        <c:lblOffset val="100"/>
        <c:noMultiLvlLbl val="1"/>
      </c:catAx>
      <c:valAx>
        <c:axId val="2094734552"/>
        <c:scaling>
          <c:orientation val="minMax"/>
          <c:max val="70"/>
          <c:min val="40"/>
        </c:scaling>
        <c:delete val="0"/>
        <c:axPos val="l"/>
        <c:majorGridlines>
          <c:spPr>
            <a:ln w="12700" cap="flat">
              <a:solidFill>
                <a:srgbClr val="EA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35A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35A73"/>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35A73"/>
                </a:solidFill>
                <a:latin typeface="Calibri"/>
              </a:defRPr>
            </a:pPr>
            <a:r>
              <a:rPr lang="en-US" sz="1200" b="0" i="0" u="none" strike="noStrike">
                <a:solidFill>
                  <a:srgbClr val="635A73"/>
                </a:solidFill>
                <a:latin typeface="Calibri"/>
              </a:rPr>
              <a:t>Higher is better</a:t>
            </a:r>
          </a:p>
        </c:rich>
      </c:tx>
      <c:overlay val="0"/>
    </c:title>
    <c:autoTitleDeleted val="0"/>
    <c:plotArea>
      <c:layout/>
      <c:barChart>
        <c:barDir val="bar"/>
        <c:grouping val="clustered"/>
        <c:varyColors val="0"/>
        <c:ser>
          <c:idx val="0"/>
          <c:order val="0"/>
          <c:tx>
            <c:strRef>
              <c:f>Sheet1!$B$1</c:f>
              <c:strCache>
                <c:ptCount val="1"/>
                <c:pt idx="0">
                  <c:v>Overall accuracy (%)</c:v>
                </c:pt>
              </c:strCache>
            </c:strRef>
          </c:tx>
          <c:spPr>
            <a:solidFill>
              <a:srgbClr val="5E4E7A"/>
            </a:solidFill>
            <a:effectLst/>
          </c:spPr>
          <c:invertIfNegative val="0"/>
          <c:dLbls>
            <c:numFmt formatCode="0.0" sourceLinked="0"/>
            <c:spPr>
              <a:noFill/>
              <a:ln>
                <a:noFill/>
              </a:ln>
              <a:effectLst/>
            </c:spPr>
            <c:txPr>
              <a:bodyPr/>
              <a:lstStyle/>
              <a:p>
                <a:pPr>
                  <a:defRPr sz="105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Full CCoT-Emo</c:v>
                </c:pt>
                <c:pt idx="1">
                  <c:v>w/o cross-modal relations</c:v>
                </c:pt>
                <c:pt idx="2">
                  <c:v>w/o JSON format</c:v>
                </c:pt>
                <c:pt idx="3">
                  <c:v>w/o acoustic attributes</c:v>
                </c:pt>
                <c:pt idx="4">
                  <c:v>w/o text attributes</c:v>
                </c:pt>
                <c:pt idx="5">
                  <c:v>Direct prompting</c:v>
                </c:pt>
              </c:strCache>
            </c:strRef>
          </c:cat>
          <c:val>
            <c:numRef>
              <c:f>Sheet1!$B$2:$B$7</c:f>
              <c:numCache>
                <c:formatCode>General</c:formatCode>
                <c:ptCount val="6"/>
                <c:pt idx="0">
                  <c:v>65.3</c:v>
                </c:pt>
                <c:pt idx="1">
                  <c:v>63.6</c:v>
                </c:pt>
                <c:pt idx="2">
                  <c:v>63.9</c:v>
                </c:pt>
                <c:pt idx="3">
                  <c:v>62.4</c:v>
                </c:pt>
                <c:pt idx="4">
                  <c:v>61.4</c:v>
                </c:pt>
                <c:pt idx="5">
                  <c:v>57</c:v>
                </c:pt>
              </c:numCache>
            </c:numRef>
          </c:val>
          <c:extLst>
            <c:ext xmlns:c16="http://schemas.microsoft.com/office/drawing/2014/chart" uri="{C3380CC4-5D6E-409C-BE32-E72D297353CC}">
              <c16:uniqueId val="{00000000-0760-824D-B95F-78A8B5FAA0A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35A73"/>
                </a:solidFill>
                <a:latin typeface="Arial"/>
              </a:defRPr>
            </a:pPr>
            <a:endParaRPr lang="en-US"/>
          </a:p>
        </c:txPr>
        <c:crossAx val="2094734552"/>
        <c:crosses val="autoZero"/>
        <c:auto val="1"/>
        <c:lblAlgn val="ctr"/>
        <c:lblOffset val="100"/>
        <c:noMultiLvlLbl val="1"/>
      </c:catAx>
      <c:valAx>
        <c:axId val="2094734552"/>
        <c:scaling>
          <c:orientation val="minMax"/>
          <c:max val="70"/>
          <c:min val="50"/>
        </c:scaling>
        <c:delete val="0"/>
        <c:axPos val="b"/>
        <c:majorGridlines>
          <c:spPr>
            <a:ln w="12700" cap="flat">
              <a:solidFill>
                <a:srgbClr val="EAE6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35A7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35A73"/>
                </a:solidFill>
                <a:latin typeface="Calibri"/>
              </a:defRPr>
            </a:pPr>
            <a:r>
              <a:rPr lang="en-US" sz="1200" b="0" i="0" u="none" strike="noStrike">
                <a:solidFill>
                  <a:srgbClr val="635A73"/>
                </a:solidFill>
                <a:latin typeface="Calibri"/>
              </a:rPr>
              <a:t>Qwen2.5-Omni-7B — higher is better</a:t>
            </a:r>
          </a:p>
        </c:rich>
      </c:tx>
      <c:overlay val="0"/>
    </c:title>
    <c:autoTitleDeleted val="0"/>
    <c:plotArea>
      <c:layout/>
      <c:barChart>
        <c:barDir val="bar"/>
        <c:grouping val="clustered"/>
        <c:varyColors val="0"/>
        <c:ser>
          <c:idx val="0"/>
          <c:order val="0"/>
          <c:tx>
            <c:strRef>
              <c:f>Sheet1!$B$1</c:f>
              <c:strCache>
                <c:ptCount val="1"/>
                <c:pt idx="0">
                  <c:v>Overall accuracy (%)</c:v>
                </c:pt>
              </c:strCache>
            </c:strRef>
          </c:tx>
          <c:spPr>
            <a:solidFill>
              <a:srgbClr val="5E4E7A"/>
            </a:solidFill>
            <a:effectLst/>
          </c:spPr>
          <c:invertIfNegative val="0"/>
          <c:dLbls>
            <c:numFmt formatCode="0.0" sourceLinked="0"/>
            <c:spPr>
              <a:noFill/>
              <a:ln>
                <a:noFill/>
              </a:ln>
              <a:effectLst/>
            </c:spPr>
            <c:txPr>
              <a:bodyPr/>
              <a:lstStyle/>
              <a:p>
                <a:pPr>
                  <a:defRPr sz="1050" b="0" i="0" u="none" strike="noStrike">
                    <a:solidFill>
                      <a:srgbClr val="2F28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Full CCoT-Emo
(DSP, discretised, JSON)</c:v>
                </c:pt>
                <c:pt idx="1">
                  <c:v>Unstructured instead of JSON
(−1.4)</c:v>
                </c:pt>
                <c:pt idx="2">
                  <c:v>Free-form CoT instead of graph
(−1.9)</c:v>
                </c:pt>
                <c:pt idx="3">
                  <c:v>LALM describes the acoustics
(−2.2)</c:v>
                </c:pt>
                <c:pt idx="4">
                  <c:v>Spectrograms instead of symbols
(−5.9)</c:v>
                </c:pt>
              </c:strCache>
            </c:strRef>
          </c:cat>
          <c:val>
            <c:numRef>
              <c:f>Sheet1!$B$2:$B$6</c:f>
              <c:numCache>
                <c:formatCode>General</c:formatCode>
                <c:ptCount val="5"/>
                <c:pt idx="0">
                  <c:v>65.3</c:v>
                </c:pt>
                <c:pt idx="1">
                  <c:v>63.9</c:v>
                </c:pt>
                <c:pt idx="2">
                  <c:v>63.4</c:v>
                </c:pt>
                <c:pt idx="3">
                  <c:v>63.1</c:v>
                </c:pt>
                <c:pt idx="4">
                  <c:v>59.4</c:v>
                </c:pt>
              </c:numCache>
            </c:numRef>
          </c:val>
          <c:extLst>
            <c:ext xmlns:c16="http://schemas.microsoft.com/office/drawing/2014/chart" uri="{C3380CC4-5D6E-409C-BE32-E72D297353CC}">
              <c16:uniqueId val="{00000000-E1EB-994A-8EBB-B698700B4B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35A73"/>
                </a:solidFill>
                <a:latin typeface="Arial"/>
              </a:defRPr>
            </a:pPr>
            <a:endParaRPr lang="en-US"/>
          </a:p>
        </c:txPr>
        <c:crossAx val="2094734552"/>
        <c:crosses val="autoZero"/>
        <c:auto val="1"/>
        <c:lblAlgn val="ctr"/>
        <c:lblOffset val="100"/>
        <c:noMultiLvlLbl val="1"/>
      </c:catAx>
      <c:valAx>
        <c:axId val="2094734552"/>
        <c:scaling>
          <c:orientation val="minMax"/>
          <c:max val="70"/>
          <c:min val="50"/>
        </c:scaling>
        <c:delete val="0"/>
        <c:axPos val="b"/>
        <c:majorGridlines>
          <c:spPr>
            <a:ln w="12700" cap="flat">
              <a:solidFill>
                <a:srgbClr val="EAE6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635A7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419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Frame the session. Both of today's papers attack low-resource affect by imposing structure — one on the input to a frozen model, the other on the supervision used to train a small one.
CCoT-Emo is the direct successor to the last two sessions. EAA fine-tuned its way to better emotion recognition; this paper asks whether you can get there without touching the weights at all, by handing the model a structured description of what it should attend to.
Note the baseline table includes CLEP-DG, which we read two sessions ago — the same lab's prior work appearing as a comparator is a nice marker of a research line maturing.
This is a four-page ICASSP paper, so most of our time goes on the ablations, which are unusually thorough for the format.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dark card is the framing for the whole session and it is worth making carefully. These are two approaches to the same problem from the same group within a year.
Be precise about the zero-parameter claim and flag that we will interrogate it in section 5. Nothing is fine-tuned, which is true, but the pipeline runs openSMILE, a RoBERTa sentiment classifier, KeyBERT and GPT-4 before the audio LLM ever sees the prompt. 'Zero-shot' describes the LALM, not the system.
The seven-features figure is worth pausing on: pitch, speech rate, volume, jitter, shimmer, intensity and articulation rate — classical prosody and voice-quality measures, the kind of thing the field used before deep learning.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diagnosis.
The second card is the more interesting half, because it is a criticism of the obvious fix rather than of the models.
Make the argument concrete. If you ask an audio LLM to describe the pitch and it says 'the tone is expressive', you have added a sentence to the prompt and no information. Worse, if it says 'the pitch is low' when the pitch is high, the error propagates into the final answer with no way to catch it.
The dark card is the key move: take the measurement out of the model. openSMILE cannot hallucinate a pitch value.
There is an ablation that tests this directly — substituting the LALM for DSP — and we see it in section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[6:30–9:00] The pipeline. Leave this up whenever someone gets lost later.
Walk the three extractors, the JSON, then the frozen model.
The third bullet matters and is easy to miss: this is not a cascade that replaces the audio with a description. The model gets both. So in principle it can use the graph to direct its attention within the audio rather than substituting for it.
Whether it actually does that is a good question and the paper does not test it. An easy probe: run the method with the audio removed and only the graph supplied. If performance holds, the audio is decorative.
That is the direct analogue of the text-only control we asked for in the EAA session.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3FC5-D2B7-4EE2-DCD7-176C472B9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0D013-C0A1-2CB0-AA44-F00C865D1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61D45-48D7-4739-3CB5-7759223E7284}"/>
              </a:ext>
            </a:extLst>
          </p:cNvPr>
          <p:cNvSpPr>
            <a:spLocks noGrp="1"/>
          </p:cNvSpPr>
          <p:nvPr>
            <p:ph type="body" idx="1"/>
          </p:nvPr>
        </p:nvSpPr>
        <p:spPr/>
        <p:txBody>
          <a:bodyPr/>
          <a:lstStyle/>
          <a:p>
            <a:r>
              <a:rPr lang="en-US" dirty="0"/>
              <a:t>[6:30–9:00] The pipeline. Leave this up whenever someone gets lost later.
Walk the three extractors, the JSON, then the frozen model.
The third bullet matters and is easy to miss: this is not a cascade that replaces the audio with a description. The model gets both. So in principle it can use the graph to direct its attention within the audio rather than substituting for it.
Whether it actually does that is a good question and the paper does not test it. An easy probe: run the method with the audio removed and only the graph supplied. If performance holds, the audio is decorative.
That is the direct analogue of the text-only control we asked for in the EAA session.</a:t>
            </a:r>
          </a:p>
        </p:txBody>
      </p:sp>
      <p:sp>
        <p:nvSpPr>
          <p:cNvPr id="4" name="Slide Number Placeholder 3">
            <a:extLst>
              <a:ext uri="{FF2B5EF4-FFF2-40B4-BE49-F238E27FC236}">
                <a16:creationId xmlns:a16="http://schemas.microsoft.com/office/drawing/2014/main" id="{36BEF796-8957-EB63-AE18-D0A22140E2A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37406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[9:00–11:00] Acoustic attributes.
Note the feature set is almost entirely pre-deep-learning: pitch, jitter, shimmer and articulation rate are the vocabulary of 1990s and 2000s paralinguistics. There is something nicely circular about feeding them to a 2025 audio LLM.
The dark card is the conceptual point. A language model has no prior over 183.4 hertz, but it has a very strong prior over 'high pitch' in the context of anger. Discretisation is a translation step from the signal domain into the model's native vocabulary.
Flag the corpus-relative thresholds as a quiet dependency: the binning is computed over the corpus, so applying this to a single utterance in deployment would need reference statistics from somewhere.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[11:00–13:20] Text and cross-modal attributes.
The cross-modal step is the paper's most interesting design element and the one that distinguishes this from a feature dump. Supports-contradicts-neutral is a relation, which is what makes the structure a graph rather than a list.
It is also the step that connects to the CREMA-D finding from the corpora sessions: when channels disagree, that disagreement is itself informative. Sarcasm is the obvious case — positive words, contradicting prosody.
The dark card is a fair accounting and should be delivered without hostility. Every component is off the shelf and unmodified. But a reader who hears 'zero-shot, plug-and-play' and pictures one extra paragraph in a prompt has the wrong picture, and the paper's own ablations let us quantify what each component buys.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[13:20–15:20] The prompt.
Read the five elements. The whole method is this concatenation plus the graph construction.
The dark card connects to Pengi's scoring problem. Every generative model evaluated on a closed set needs a mapping from free text to labels, and Pengi's error taxonomy showed text-matching errors are a distinct failure category. Forcing an option letter sidesteps that almost entirely.
Worth noting for comparability: this means CCoT-Emo's baselines, which are the same models under direct prompting, presumably also get the forced-choice instruction — otherwise part of the gain would be the formatting. The paper does not say explicitly, which is a small specification gap.
Note also the five-way label set: Neutral, Happy, Sad, Surprised, Angry. MELD here has disgust and fear removed, so these MELD numbers are not comparable with EAA's seven-class result from last session.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[15:20–15:30]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[15:30–17:40] Setup.
The fourth bullet is a real and under-discussed point. On three of the five test sets the sentiment classifier and keyword extractor operate on Whisper output, not gold transcripts. Any ASR error becomes a wrong textual attribute, which then propagates into the GPT-4 cross-modal judgement.
That is worth holding against the fact that CCoT-Emo's largest gains are on exactly those sets — MERBench test1 at plus 8.5 and ESD at plus 14.5 for Qwen2-Audio. So the structure survives noisy transcripts, which is encouraging rather than alarming.
The MELD protocol difference matters for anyone comparing against last session's EAA number. Five classes here, seven there.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[17:40–20:00] Main results.
The dark card is the right emphasis. A method that helps one model might be exploiting a quirk; a method that helps three architectures by similar margins is doing something general.
The middle series on the chart is the finding that deserves its own slide, and it is next: plain chain-of-thought makes every model worse.
Note also that CLEP-DG, from this same lab two sessions ago, appears in the paper's baseline table at 60.7 overall as the best encoder-based method. Worth pointing at — it is a research line measuring itself against itself.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[20:00–22:20] Chain-of-thought hurts. Protect this slide.
This is the most interesting result in the paper and it is easy to skim past, because it sits in the baseline column rather than the method column.
The received wisdom since 2022 is that 'let's think step by step' is close to free. Here it is reliably negative across three models.
Offer an interpretation. Emotion recognition from audio is not a multi-step deductive task; it is a perceptual judgement. Asking the model to narrate gives it room to construct a plausible-sounding but ungrounded account, and then to answer from the account rather than the audio. The structured graph constrains what the intermediate representation can say.
The SALMONN parallel in the dark card is worth making — both are failures where generated intermediate text overrides the audio evidence.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[22:20–22:30]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[22:30–25:00] Component ablation. Protect this slide.
The ordering is the finding: text beats acoustics beats cross-modal relations.
Be fair about what this shows. All three components contribute and the full system needs all of them — this is not a case where one piece explains everything. But the ranking is informative and the paper does not comment on it.
The dark card is the session's cross-paper observation and worth developing. In EAA the transcript was the dominant factor; here the sentiment classifier reading the transcript is the dominant factor. Different architectures, same conclusion about where emotional signal is being read from on these corpora.
That should prompt the same question we asked last time: are these the right benchmarks for measuring audio emotion?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[25:00–27:30] Representation ablations.
These four rows are the intellectual core of the paper and they are better controlled than the headline comparison.
The LALM-describes-its-own-prosody row is the one that validates the whole premise. If the model could extract pitch reliably, the pipeline would be unnecessary. It cannot — the paper's quoted example, 'the tone is expressive', is exactly the uninformative output the introduction predicted.
The spectrogram row is the cleanest test of symbolic versus continuous. Same information, radically different usability. That connects to the HuBERT session, where discrete cluster targets beat continuous ones for a different reason — discretisation keeps turning out to help.
The JSON row is a nice detail for anyone who writes prompts: format is not cosmetic.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[27:30–29:40] Scaling ablations.
The dark card is the connection back to the prompt-tuning session and it is a satisfying one — three papers, three settings, the same qualitative curve.
The graph-size result has a practical reading worth stating: beyond a certain point the structure becomes noise that competes with the audio for the model's attention. That is the same tension Lester noted about prompt length consuming context budget.
Small arithmetic note on the model-size row, which we return to on the next slide: the table gives 46.6 and 50.9, a difference of 4.3, while the text says 3.9.</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[29:40–31:20] Careful reading. Cuttable if short of time.
Verify both yourself before presenting — subtract the table values and compare with the prose.
Frame it as a reading exercise in the same spirit as the equivalent slides in earlier sessions. Both are one-line fixes in a camera-ready, and both are the kind of thing referees rarely have time to check.
If the room is engaged, this is a good moment to ask what a paper should do about prose-table mismatches — the honest answer is that generating the prose numbers from the table programmatically would eliminate the whole category.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[31:20–31:30]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[31:30–33:40] The two labels.
Deliver this evenly — the point is precision about what is being claimed, not that anything is overstated. The paper's own language is careful; it is readers who will compress 'zero-shot prompting framework' into 'free'.
The second row is the substantive one. The ablation says textual attributes are worth 3.9 points, more than any other component, and those come from a supervised classifier. A fair description is that CCoT-Emo transfers supervision from the text-sentiment domain into audio emotion recognition without emotion labels — which is interesting in itself and arguably a better framing.
The fourth row is the practical one. A GPT-4 call per utterance is a real cost, and for a method whose selling point is avoiding fine-tuning, the comparison with EAA's single H100 training run is not obviously favourable at scale.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[33:40–36:00] Appraisal.
Give the strengths their due — the ablation discipline here is better than Qwen-Audio's and comparable with LTU's, in a quarter of the space.
The first open thread is the most informative missing experiment and the direct analogue of the text-only control we asked for in the EAA session. Run the method with the audio removed: if accuracy holds, the audio LLM is functioning as a text model with extra steps.
The last thread matters more than usual here because GPT-4 and the audio LLM are both sampling. A method whose gains are 7 to 9 points is probably safe, but the ablation differences of 1.4 and 1.7 points are within plausible run-to-run variation and no variance is reported.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[36:00–37:20] Take-aways.
Read these; they are written to be transcribed. Number three is the most transferable engineering lesson and number four is the one that sets up the second half, where the same group attacks a purely textual problem.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[37:20–45:00] Discussion.
Five prompts; take two. Question 2 is the best one and is genuinely open. A plausible answer: chain-of-thought helps when the task decomposes into verifiable steps and the model has the premises. Here the premises are perceptual and the model cannot articulate them, so narration generates premises rather than reasoning from them.
Question 3 is the reframing that I think is most defensible and it leads naturally into the second half, where the same group transfers supervision across domains explicitly rather than implicitly.
Question 1 is the experiment to recommend if anyone is continuing this work.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11326" y="1239926"/>
            <a:ext cx="523037" cy="380390"/>
          </a:xfrm>
          <a:prstGeom prst="line">
            <a:avLst/>
          </a:prstGeom>
          <a:noFill/>
          <a:ln w="15240">
            <a:solidFill>
              <a:srgbClr val="AFA6C2"/>
            </a:solidFill>
            <a:prstDash val="solid"/>
          </a:ln>
        </p:spPr>
        <p:txBody>
          <a:bodyPr/>
          <a:lstStyle/>
          <a:p>
            <a:endParaRPr lang="en-US"/>
          </a:p>
        </p:txBody>
      </p:sp>
      <p:sp>
        <p:nvSpPr>
          <p:cNvPr id="3" name="Shape 1"/>
          <p:cNvSpPr/>
          <p:nvPr/>
        </p:nvSpPr>
        <p:spPr>
          <a:xfrm>
            <a:off x="1011326" y="1239926"/>
            <a:ext cx="618134" cy="0"/>
          </a:xfrm>
          <a:prstGeom prst="line">
            <a:avLst/>
          </a:prstGeom>
          <a:noFill/>
          <a:ln w="15240">
            <a:solidFill>
              <a:srgbClr val="AFA6C2"/>
            </a:solidFill>
            <a:prstDash val="solid"/>
          </a:ln>
        </p:spPr>
        <p:txBody>
          <a:bodyPr/>
          <a:lstStyle/>
          <a:p>
            <a:endParaRPr lang="en-US"/>
          </a:p>
        </p:txBody>
      </p:sp>
      <p:sp>
        <p:nvSpPr>
          <p:cNvPr id="4" name="Shape 2"/>
          <p:cNvSpPr/>
          <p:nvPr/>
        </p:nvSpPr>
        <p:spPr>
          <a:xfrm>
            <a:off x="868680" y="1097280"/>
            <a:ext cx="285293" cy="285293"/>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486814" y="1097280"/>
            <a:ext cx="285293" cy="285293"/>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391717" y="1477670"/>
            <a:ext cx="285293" cy="285293"/>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1828800"/>
            <a:ext cx="10515600" cy="914400"/>
          </a:xfrm>
          <a:prstGeom prst="rect">
            <a:avLst/>
          </a:prstGeom>
          <a:noFill/>
          <a:ln/>
        </p:spPr>
        <p:txBody>
          <a:bodyPr wrap="square" lIns="0" tIns="0" rIns="0" bIns="0" rtlCol="0" anchor="ctr"/>
          <a:lstStyle/>
          <a:p>
            <a:pPr marL="0" indent="0">
              <a:buNone/>
            </a:pPr>
            <a:r>
              <a:rPr lang="en-US" sz="5000" b="1" kern="0" spc="100" dirty="0">
                <a:solidFill>
                  <a:srgbClr val="FFFFFF"/>
                </a:solidFill>
                <a:latin typeface="Cambria" pitchFamily="34" charset="0"/>
                <a:ea typeface="Cambria" pitchFamily="34" charset="-122"/>
                <a:cs typeface="Cambria" pitchFamily="34" charset="-120"/>
              </a:rPr>
              <a:t>CCoT-Emo</a:t>
            </a:r>
            <a:endParaRPr lang="en-US" sz="5000" dirty="0"/>
          </a:p>
        </p:txBody>
      </p:sp>
      <p:sp>
        <p:nvSpPr>
          <p:cNvPr id="8" name="Text 6"/>
          <p:cNvSpPr txBox="1"/>
          <p:nvPr/>
        </p:nvSpPr>
        <p:spPr>
          <a:xfrm>
            <a:off x="822960" y="2724912"/>
            <a:ext cx="10607040" cy="822960"/>
          </a:xfrm>
          <a:prstGeom prst="rect">
            <a:avLst/>
          </a:prstGeom>
          <a:noFill/>
          <a:ln/>
        </p:spPr>
        <p:txBody>
          <a:bodyPr wrap="square" lIns="0" tIns="0" rIns="0" bIns="0" rtlCol="0" anchor="ctr"/>
          <a:lstStyle/>
          <a:p>
            <a:pPr marL="0" indent="0">
              <a:lnSpc>
                <a:spcPct val="115000"/>
              </a:lnSpc>
              <a:buNone/>
            </a:pPr>
            <a:r>
              <a:rPr lang="en-US" sz="1800" i="1" dirty="0">
                <a:solidFill>
                  <a:srgbClr val="CFC8DD"/>
                </a:solidFill>
                <a:latin typeface="Cambria" pitchFamily="34" charset="0"/>
                <a:ea typeface="Cambria" pitchFamily="34" charset="-122"/>
                <a:cs typeface="Cambria" pitchFamily="34" charset="-120"/>
              </a:rPr>
              <a:t>Plug-and-Play Emotion Graphs for Compositional Prompting</a:t>
            </a:r>
            <a:endParaRPr lang="en-US" sz="1800" dirty="0"/>
          </a:p>
          <a:p>
            <a:pPr marL="0" indent="0">
              <a:lnSpc>
                <a:spcPct val="115000"/>
              </a:lnSpc>
              <a:buNone/>
            </a:pPr>
            <a:r>
              <a:rPr lang="en-US" sz="1800" i="1" dirty="0">
                <a:solidFill>
                  <a:srgbClr val="CFC8DD"/>
                </a:solidFill>
                <a:latin typeface="Cambria" pitchFamily="34" charset="0"/>
                <a:ea typeface="Cambria" pitchFamily="34" charset="-122"/>
                <a:cs typeface="Cambria" pitchFamily="34" charset="-120"/>
              </a:rPr>
              <a:t>in Zero-Shot Speech Emotion Recognition</a:t>
            </a:r>
            <a:endParaRPr lang="en-US" sz="1800" dirty="0"/>
          </a:p>
        </p:txBody>
      </p:sp>
      <p:sp>
        <p:nvSpPr>
          <p:cNvPr id="9" name="Text 7"/>
          <p:cNvSpPr txBox="1"/>
          <p:nvPr/>
        </p:nvSpPr>
        <p:spPr>
          <a:xfrm>
            <a:off x="859536" y="3730752"/>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B5ABC9"/>
                </a:solidFill>
                <a:latin typeface="Calibri" pitchFamily="34" charset="0"/>
                <a:ea typeface="Calibri" pitchFamily="34" charset="-122"/>
                <a:cs typeface="Calibri" pitchFamily="34" charset="-120"/>
              </a:rPr>
              <a:t>Jiacheng Shi, Hongfei Du, Y. Alicia Hong &amp; Ye Gao</a:t>
            </a:r>
            <a:endParaRPr lang="en-US" sz="1300" dirty="0"/>
          </a:p>
          <a:p>
            <a:pPr marL="0" indent="0">
              <a:lnSpc>
                <a:spcPct val="125000"/>
              </a:lnSpc>
              <a:buNone/>
            </a:pPr>
            <a:r>
              <a:rPr lang="en-US" sz="1300" dirty="0">
                <a:solidFill>
                  <a:srgbClr val="B5ABC9"/>
                </a:solidFill>
                <a:latin typeface="Calibri" pitchFamily="34" charset="0"/>
                <a:ea typeface="Calibri" pitchFamily="34" charset="-122"/>
                <a:cs typeface="Calibri" pitchFamily="34" charset="-120"/>
              </a:rPr>
              <a:t>IEEE ICASSP 2026  ·  arXiv:2509.25458</a:t>
            </a:r>
            <a:endParaRPr lang="en-US" sz="1300" dirty="0"/>
          </a:p>
          <a:p>
            <a:pPr marL="0" indent="0">
              <a:lnSpc>
                <a:spcPct val="125000"/>
              </a:lnSpc>
              <a:buNone/>
            </a:pPr>
            <a:r>
              <a:rPr lang="en-US" sz="1300" dirty="0">
                <a:solidFill>
                  <a:srgbClr val="B5ABC9"/>
                </a:solidFill>
                <a:latin typeface="Calibri" pitchFamily="34" charset="0"/>
                <a:ea typeface="Calibri" pitchFamily="34" charset="-122"/>
                <a:cs typeface="Calibri" pitchFamily="34" charset="-120"/>
              </a:rPr>
              <a:t>College of William &amp; Mary, with George Mason University</a:t>
            </a:r>
            <a:endParaRPr lang="en-US" sz="1300" dirty="0"/>
          </a:p>
        </p:txBody>
      </p:sp>
      <p:sp>
        <p:nvSpPr>
          <p:cNvPr id="10" name="Text 8"/>
          <p:cNvSpPr txBox="1"/>
          <p:nvPr/>
        </p:nvSpPr>
        <p:spPr>
          <a:xfrm>
            <a:off x="859536" y="5175504"/>
            <a:ext cx="9144000" cy="365760"/>
          </a:xfrm>
          <a:prstGeom prst="rect">
            <a:avLst/>
          </a:prstGeom>
          <a:noFill/>
          <a:ln/>
        </p:spPr>
        <p:txBody>
          <a:bodyPr wrap="square" lIns="0" tIns="0" rIns="0" bIns="0" rtlCol="0" anchor="ctr"/>
          <a:lstStyle/>
          <a:p>
            <a:pPr marL="0" indent="0">
              <a:buNone/>
            </a:pPr>
            <a:r>
              <a:rPr lang="en-US" sz="1250" b="1" dirty="0">
                <a:solidFill>
                  <a:srgbClr val="7F9E2E"/>
                </a:solidFill>
                <a:latin typeface="Calibri" pitchFamily="34" charset="0"/>
                <a:ea typeface="Calibri" pitchFamily="34" charset="-122"/>
                <a:cs typeface="Calibri" pitchFamily="34" charset="-120"/>
              </a:rPr>
              <a:t>Structured prompting and low-resource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Why this paper matters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Better emotion recognition with no gradient updates at all</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3</a:t>
            </a:r>
            <a:endParaRPr lang="en-US" sz="900" dirty="0"/>
          </a:p>
        </p:txBody>
      </p:sp>
      <p:sp>
        <p:nvSpPr>
          <p:cNvPr id="10" name="Text 8"/>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5E4E7A"/>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35A73"/>
                </a:solidFill>
                <a:latin typeface="Calibri" pitchFamily="34" charset="0"/>
                <a:ea typeface="Calibri" pitchFamily="34" charset="-122"/>
                <a:cs typeface="Calibri" pitchFamily="34" charset="-120"/>
              </a:rPr>
              <a:t>parameters updated —</a:t>
            </a:r>
            <a:endParaRPr lang="en-US" sz="1150" dirty="0"/>
          </a:p>
          <a:p>
            <a:pPr marL="0" indent="0" algn="ctr">
              <a:buNone/>
            </a:pPr>
            <a:r>
              <a:rPr lang="en-US" sz="1150" dirty="0">
                <a:solidFill>
                  <a:srgbClr val="635A73"/>
                </a:solidFill>
                <a:latin typeface="Calibri" pitchFamily="34" charset="0"/>
                <a:ea typeface="Calibri" pitchFamily="34" charset="-122"/>
                <a:cs typeface="Calibri" pitchFamily="34" charset="-120"/>
              </a:rPr>
              <a:t>no fine-tuning anywhere</a:t>
            </a:r>
            <a:endParaRPr lang="en-US" sz="1150" dirty="0"/>
          </a:p>
        </p:txBody>
      </p:sp>
      <p:sp>
        <p:nvSpPr>
          <p:cNvPr id="12" name="Text 10"/>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7F9E2E"/>
                </a:solidFill>
                <a:latin typeface="Cambria" pitchFamily="34" charset="0"/>
                <a:ea typeface="Cambria" pitchFamily="34" charset="-122"/>
                <a:cs typeface="Cambria" pitchFamily="34" charset="-120"/>
              </a:rPr>
              <a:t>+9.1</a:t>
            </a:r>
            <a:endParaRPr lang="en-US" sz="3400" dirty="0"/>
          </a:p>
        </p:txBody>
      </p:sp>
      <p:sp>
        <p:nvSpPr>
          <p:cNvPr id="13" name="Text 11"/>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35A73"/>
                </a:solidFill>
                <a:latin typeface="Calibri" pitchFamily="34" charset="0"/>
                <a:ea typeface="Calibri" pitchFamily="34" charset="-122"/>
                <a:cs typeface="Calibri" pitchFamily="34" charset="-120"/>
              </a:rPr>
              <a:t>points average gain on</a:t>
            </a:r>
            <a:endParaRPr lang="en-US" sz="1150" dirty="0"/>
          </a:p>
          <a:p>
            <a:pPr marL="0" indent="0" algn="ctr">
              <a:buNone/>
            </a:pPr>
            <a:r>
              <a:rPr lang="en-US" sz="1150" dirty="0">
                <a:solidFill>
                  <a:srgbClr val="635A73"/>
                </a:solidFill>
                <a:latin typeface="Calibri" pitchFamily="34" charset="0"/>
                <a:ea typeface="Calibri" pitchFamily="34" charset="-122"/>
                <a:cs typeface="Calibri" pitchFamily="34" charset="-120"/>
              </a:rPr>
              <a:t>Qwen2-Audio across five sets</a:t>
            </a:r>
            <a:endParaRPr lang="en-US" sz="1150" dirty="0"/>
          </a:p>
        </p:txBody>
      </p:sp>
      <p:sp>
        <p:nvSpPr>
          <p:cNvPr id="14" name="Text 12"/>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5E4E7A"/>
                </a:solidFill>
                <a:latin typeface="Cambria" pitchFamily="34" charset="0"/>
                <a:ea typeface="Cambria" pitchFamily="34" charset="-122"/>
                <a:cs typeface="Cambria" pitchFamily="34" charset="-120"/>
              </a:rPr>
              <a:t>7</a:t>
            </a:r>
            <a:endParaRPr lang="en-US" sz="3400" dirty="0"/>
          </a:p>
        </p:txBody>
      </p:sp>
      <p:sp>
        <p:nvSpPr>
          <p:cNvPr id="15" name="Text 13"/>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35A73"/>
                </a:solidFill>
                <a:latin typeface="Calibri" pitchFamily="34" charset="0"/>
                <a:ea typeface="Calibri" pitchFamily="34" charset="-122"/>
                <a:cs typeface="Calibri" pitchFamily="34" charset="-120"/>
              </a:rPr>
              <a:t>acoustic features, discretised</a:t>
            </a:r>
            <a:endParaRPr lang="en-US" sz="1150" dirty="0"/>
          </a:p>
          <a:p>
            <a:pPr marL="0" indent="0" algn="ctr">
              <a:buNone/>
            </a:pPr>
            <a:r>
              <a:rPr lang="en-US" sz="1150" dirty="0">
                <a:solidFill>
                  <a:srgbClr val="635A73"/>
                </a:solidFill>
                <a:latin typeface="Calibri" pitchFamily="34" charset="0"/>
                <a:ea typeface="Calibri" pitchFamily="34" charset="-122"/>
                <a:cs typeface="Calibri" pitchFamily="34" charset="-120"/>
              </a:rPr>
              <a:t>into low / normal / high</a:t>
            </a:r>
            <a:endParaRPr lang="en-US" sz="1150" dirty="0"/>
          </a:p>
        </p:txBody>
      </p:sp>
      <p:sp>
        <p:nvSpPr>
          <p:cNvPr id="16" name="Text 14"/>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7F9E2E"/>
                </a:solidFill>
                <a:latin typeface="Cambria" pitchFamily="34" charset="0"/>
                <a:ea typeface="Cambria" pitchFamily="34" charset="-122"/>
                <a:cs typeface="Cambria" pitchFamily="34" charset="-120"/>
              </a:rPr>
              <a:t>3</a:t>
            </a:r>
            <a:endParaRPr lang="en-US" sz="3400" dirty="0"/>
          </a:p>
        </p:txBody>
      </p:sp>
      <p:sp>
        <p:nvSpPr>
          <p:cNvPr id="17" name="Text 15"/>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35A73"/>
                </a:solidFill>
                <a:latin typeface="Calibri" pitchFamily="34" charset="0"/>
                <a:ea typeface="Calibri" pitchFamily="34" charset="-122"/>
                <a:cs typeface="Calibri" pitchFamily="34" charset="-120"/>
              </a:rPr>
              <a:t>audio LLMs it plugs into</a:t>
            </a:r>
            <a:endParaRPr lang="en-US" sz="1150" dirty="0"/>
          </a:p>
          <a:p>
            <a:pPr marL="0" indent="0" algn="ctr">
              <a:buNone/>
            </a:pPr>
            <a:r>
              <a:rPr lang="en-US" sz="1150" dirty="0">
                <a:solidFill>
                  <a:srgbClr val="635A73"/>
                </a:solidFill>
                <a:latin typeface="Calibri" pitchFamily="34" charset="0"/>
                <a:ea typeface="Calibri" pitchFamily="34" charset="-122"/>
                <a:cs typeface="Calibri" pitchFamily="34" charset="-120"/>
              </a:rPr>
              <a:t>without modification</a:t>
            </a:r>
            <a:endParaRPr lang="en-US" sz="1150" dirty="0"/>
          </a:p>
        </p:txBody>
      </p:sp>
      <p:sp>
        <p:nvSpPr>
          <p:cNvPr id="18" name="Shape 16"/>
          <p:cNvSpPr/>
          <p:nvPr/>
        </p:nvSpPr>
        <p:spPr>
          <a:xfrm>
            <a:off x="566928" y="3200400"/>
            <a:ext cx="11064240" cy="1371600"/>
          </a:xfrm>
          <a:prstGeom prst="roundRect">
            <a:avLst>
              <a:gd name="adj" fmla="val 4000"/>
            </a:avLst>
          </a:prstGeom>
          <a:solidFill>
            <a:srgbClr val="F3F1F6"/>
          </a:solidFill>
          <a:ln w="12700">
            <a:solidFill>
              <a:srgbClr val="E4E0EC"/>
            </a:solidFill>
            <a:prstDash val="solid"/>
          </a:ln>
        </p:spPr>
        <p:txBody>
          <a:bodyPr/>
          <a:lstStyle/>
          <a:p>
            <a:endParaRPr lang="en-US"/>
          </a:p>
        </p:txBody>
      </p:sp>
      <p:sp>
        <p:nvSpPr>
          <p:cNvPr id="19" name="Shape 17"/>
          <p:cNvSpPr/>
          <p:nvPr/>
        </p:nvSpPr>
        <p:spPr>
          <a:xfrm>
            <a:off x="786384" y="3493008"/>
            <a:ext cx="109728" cy="109728"/>
          </a:xfrm>
          <a:prstGeom prst="ellipse">
            <a:avLst/>
          </a:prstGeom>
          <a:solidFill>
            <a:srgbClr val="5E4E7A"/>
          </a:solidFill>
          <a:ln w="12700">
            <a:solidFill>
              <a:srgbClr val="333333"/>
            </a:solidFill>
            <a:prstDash val="solid"/>
          </a:ln>
        </p:spPr>
        <p:txBody>
          <a:bodyPr/>
          <a:lstStyle/>
          <a:p>
            <a:endParaRPr lang="en-US"/>
          </a:p>
        </p:txBody>
      </p:sp>
      <p:sp>
        <p:nvSpPr>
          <p:cNvPr id="20" name="Text 18"/>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The claim</a:t>
            </a:r>
            <a:endParaRPr lang="en-US" sz="1500" dirty="0"/>
          </a:p>
        </p:txBody>
      </p:sp>
      <p:sp>
        <p:nvSpPr>
          <p:cNvPr id="21" name="Text 19"/>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2F2838"/>
                </a:solidFill>
                <a:latin typeface="Calibri" pitchFamily="34" charset="0"/>
                <a:ea typeface="Calibri" pitchFamily="34" charset="-122"/>
                <a:cs typeface="Calibri" pitchFamily="34" charset="-120"/>
              </a:rPr>
              <a:t>Audio language models underrepresent paralinguistic cues. Rather than teaching them to attend to pitch and jitter through fine-tuning, extract those cues externally, serialise them into a structured Emotion Graph alongside textual sentiment and cross-modal relations, and paste the graph into the prompt. The model then reasons over an explicit symbolic trace instead of an implicit one.</a:t>
            </a:r>
            <a:endParaRPr lang="en-US" sz="1340" dirty="0"/>
          </a:p>
        </p:txBody>
      </p:sp>
      <p:sp>
        <p:nvSpPr>
          <p:cNvPr id="22" name="Shape 20"/>
          <p:cNvSpPr/>
          <p:nvPr/>
        </p:nvSpPr>
        <p:spPr>
          <a:xfrm>
            <a:off x="566928" y="4700016"/>
            <a:ext cx="11064240" cy="1353312"/>
          </a:xfrm>
          <a:prstGeom prst="roundRect">
            <a:avLst>
              <a:gd name="adj" fmla="val 4054"/>
            </a:avLst>
          </a:prstGeom>
          <a:solidFill>
            <a:srgbClr val="2B2535"/>
          </a:solidFill>
          <a:ln w="12700">
            <a:solidFill>
              <a:srgbClr val="2B2535"/>
            </a:solidFill>
            <a:prstDash val="solid"/>
          </a:ln>
        </p:spPr>
        <p:txBody>
          <a:bodyPr/>
          <a:lstStyle/>
          <a:p>
            <a:endParaRPr lang="en-US"/>
          </a:p>
        </p:txBody>
      </p:sp>
      <p:sp>
        <p:nvSpPr>
          <p:cNvPr id="23" name="Shape 21"/>
          <p:cNvSpPr/>
          <p:nvPr/>
        </p:nvSpPr>
        <p:spPr>
          <a:xfrm>
            <a:off x="786384" y="4992624"/>
            <a:ext cx="109728" cy="109728"/>
          </a:xfrm>
          <a:prstGeom prst="ellipse">
            <a:avLst/>
          </a:prstGeom>
          <a:solidFill>
            <a:srgbClr val="7F9E2E"/>
          </a:solidFill>
          <a:ln w="12700">
            <a:solidFill>
              <a:srgbClr val="333333"/>
            </a:solidFill>
            <a:prstDash val="solid"/>
          </a:ln>
        </p:spPr>
        <p:txBody>
          <a:bodyPr/>
          <a:lstStyle/>
          <a:p>
            <a:endParaRPr lang="en-US"/>
          </a:p>
        </p:txBody>
      </p:sp>
      <p:sp>
        <p:nvSpPr>
          <p:cNvPr id="24" name="Text 22"/>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contrast with last session</a:t>
            </a:r>
            <a:endParaRPr lang="en-US" sz="1500" dirty="0"/>
          </a:p>
        </p:txBody>
      </p:sp>
      <p:sp>
        <p:nvSpPr>
          <p:cNvPr id="25" name="Text 23"/>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CFC8DD"/>
                </a:solidFill>
                <a:latin typeface="Calibri" pitchFamily="34" charset="0"/>
                <a:ea typeface="Calibri" pitchFamily="34" charset="-122"/>
                <a:cs typeface="Calibri" pitchFamily="34" charset="-120"/>
              </a:rPr>
              <a:t>EAA reached 0.687 on MELD by training a fusion module and a LoRA adaptor on one H100. CCoT-Emo reaches comparable gains by changing the text in the prompt — and the two papers share an author. Reading them together is a study in what you buy with weights versus with structure.</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625328" y="5458968"/>
            <a:ext cx="402336" cy="292608"/>
          </a:xfrm>
          <a:prstGeom prst="line">
            <a:avLst/>
          </a:prstGeom>
          <a:noFill/>
          <a:ln w="15240">
            <a:solidFill>
              <a:srgbClr val="AFA6C2"/>
            </a:solidFill>
            <a:prstDash val="solid"/>
          </a:ln>
        </p:spPr>
        <p:txBody>
          <a:bodyPr/>
          <a:lstStyle/>
          <a:p>
            <a:endParaRPr lang="en-US"/>
          </a:p>
        </p:txBody>
      </p:sp>
      <p:sp>
        <p:nvSpPr>
          <p:cNvPr id="3" name="Shape 1"/>
          <p:cNvSpPr/>
          <p:nvPr/>
        </p:nvSpPr>
        <p:spPr>
          <a:xfrm>
            <a:off x="10625328" y="5458968"/>
            <a:ext cx="475488" cy="0"/>
          </a:xfrm>
          <a:prstGeom prst="line">
            <a:avLst/>
          </a:prstGeom>
          <a:noFill/>
          <a:ln w="15240">
            <a:solidFill>
              <a:srgbClr val="AFA6C2"/>
            </a:solidFill>
            <a:prstDash val="solid"/>
          </a:ln>
        </p:spPr>
        <p:txBody>
          <a:bodyPr/>
          <a:lstStyle/>
          <a:p>
            <a:endParaRPr lang="en-US"/>
          </a:p>
        </p:txBody>
      </p:sp>
      <p:sp>
        <p:nvSpPr>
          <p:cNvPr id="4" name="Shape 2"/>
          <p:cNvSpPr/>
          <p:nvPr/>
        </p:nvSpPr>
        <p:spPr>
          <a:xfrm>
            <a:off x="10515600"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0991088"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0917936" y="5641848"/>
            <a:ext cx="219456" cy="219456"/>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7F9E2E"/>
                </a:solidFill>
                <a:latin typeface="Cambria" pitchFamily="34" charset="0"/>
                <a:ea typeface="Cambria" pitchFamily="34" charset="-122"/>
                <a:cs typeface="Cambria" pitchFamily="34" charset="-120"/>
              </a:rPr>
              <a:t>1</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Unstructured reasoning is not enough</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FC8DD"/>
                </a:solidFill>
                <a:latin typeface="Calibri" pitchFamily="34" charset="0"/>
                <a:ea typeface="Calibri" pitchFamily="34" charset="-122"/>
                <a:cs typeface="Calibri" pitchFamily="34" charset="-120"/>
              </a:rPr>
              <a:t>Why plain chain-of-thought fails here</a:t>
            </a:r>
            <a:endParaRPr lang="en-US" sz="1500" dirty="0"/>
          </a:p>
        </p:txBody>
      </p:sp>
      <p:sp>
        <p:nvSpPr>
          <p:cNvPr id="10" name="Text 8"/>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The diagnosis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Two failures, one in the models and one in the prompting fix</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5</a:t>
            </a:r>
            <a:endParaRPr lang="en-US" sz="900" dirty="0"/>
          </a:p>
        </p:txBody>
      </p:sp>
      <p:sp>
        <p:nvSpPr>
          <p:cNvPr id="10" name="Shape 8"/>
          <p:cNvSpPr/>
          <p:nvPr/>
        </p:nvSpPr>
        <p:spPr>
          <a:xfrm>
            <a:off x="566928" y="1600200"/>
            <a:ext cx="5440680" cy="2331720"/>
          </a:xfrm>
          <a:prstGeom prst="roundRect">
            <a:avLst>
              <a:gd name="adj" fmla="val 2353"/>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786384" y="1892808"/>
            <a:ext cx="109728" cy="109728"/>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The models underrepresent prosody</a:t>
            </a:r>
            <a:endParaRPr lang="en-US" sz="1500" dirty="0"/>
          </a:p>
        </p:txBody>
      </p:sp>
      <p:sp>
        <p:nvSpPr>
          <p:cNvPr id="13" name="Text 11"/>
          <p:cNvSpPr txBox="1"/>
          <p:nvPr/>
        </p:nvSpPr>
        <p:spPr>
          <a:xfrm>
            <a:off x="822960" y="2203704"/>
            <a:ext cx="4928616" cy="1545336"/>
          </a:xfrm>
          <a:prstGeom prst="rect">
            <a:avLst/>
          </a:prstGeom>
          <a:noFill/>
          <a:ln/>
        </p:spPr>
        <p:txBody>
          <a:bodyPr wrap="square" lIns="0" tIns="0" rIns="0" bIns="0" rtlCol="0" anchor="t"/>
          <a:lstStyle/>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Audio LLMs often focus on linguistic semantics and underrepresent paralinguistic cues such as pitch, speech rate, volume, jitter, shimmer, intensity and articulation rate.</a:t>
            </a:r>
            <a:endParaRPr lang="en-US" sz="1250" dirty="0"/>
          </a:p>
          <a:p>
            <a:pPr marL="0" indent="0">
              <a:lnSpc>
                <a:spcPct val="108000"/>
              </a:lnSpc>
              <a:buNone/>
            </a:pPr>
            <a:endParaRPr lang="en-US" sz="1250" dirty="0"/>
          </a:p>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We have evidence for this from the whole series: Pengi at chance on CREMA-D, SALMONN at 0.69 against an 0.81 specialist, Qwen-Audio with under 1,000 hours of emotion data in a mix exceeding a hundred thousand.</a:t>
            </a:r>
            <a:endParaRPr lang="en-US" sz="1250" dirty="0"/>
          </a:p>
        </p:txBody>
      </p:sp>
      <p:sp>
        <p:nvSpPr>
          <p:cNvPr id="14" name="Shape 12"/>
          <p:cNvSpPr/>
          <p:nvPr/>
        </p:nvSpPr>
        <p:spPr>
          <a:xfrm>
            <a:off x="6190488" y="1600200"/>
            <a:ext cx="5440680" cy="2331720"/>
          </a:xfrm>
          <a:prstGeom prst="roundRect">
            <a:avLst>
              <a:gd name="adj" fmla="val 2353"/>
            </a:avLst>
          </a:prstGeom>
          <a:solidFill>
            <a:srgbClr val="F3F1F6"/>
          </a:solidFill>
          <a:ln w="12700">
            <a:solidFill>
              <a:srgbClr val="E4E0EC"/>
            </a:solidFill>
            <a:prstDash val="solid"/>
          </a:ln>
        </p:spPr>
        <p:txBody>
          <a:bodyPr/>
          <a:lstStyle/>
          <a:p>
            <a:endParaRPr lang="en-US"/>
          </a:p>
        </p:txBody>
      </p:sp>
      <p:sp>
        <p:nvSpPr>
          <p:cNvPr id="15" name="Shape 13"/>
          <p:cNvSpPr/>
          <p:nvPr/>
        </p:nvSpPr>
        <p:spPr>
          <a:xfrm>
            <a:off x="6409944" y="1892808"/>
            <a:ext cx="109728" cy="109728"/>
          </a:xfrm>
          <a:prstGeom prst="ellipse">
            <a:avLst/>
          </a:prstGeom>
          <a:solidFill>
            <a:srgbClr val="7F9E2E"/>
          </a:solidFill>
          <a:ln w="12700">
            <a:solidFill>
              <a:srgbClr val="333333"/>
            </a:solidFill>
            <a:prstDash val="solid"/>
          </a:ln>
        </p:spPr>
        <p:txBody>
          <a:bodyPr/>
          <a:lstStyle/>
          <a:p>
            <a:endParaRPr lang="en-US"/>
          </a:p>
        </p:txBody>
      </p:sp>
      <p:sp>
        <p:nvSpPr>
          <p:cNvPr id="16" name="Text 14"/>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And chain-of-thought does not fix it</a:t>
            </a:r>
            <a:endParaRPr lang="en-US" sz="1500" dirty="0"/>
          </a:p>
        </p:txBody>
      </p:sp>
      <p:sp>
        <p:nvSpPr>
          <p:cNvPr id="17" name="Text 15"/>
          <p:cNvSpPr txBox="1"/>
          <p:nvPr/>
        </p:nvSpPr>
        <p:spPr>
          <a:xfrm>
            <a:off x="6446520" y="2203704"/>
            <a:ext cx="4928616" cy="1545336"/>
          </a:xfrm>
          <a:prstGeom prst="rect">
            <a:avLst/>
          </a:prstGeom>
          <a:noFill/>
          <a:ln/>
        </p:spPr>
        <p:txBody>
          <a:bodyPr wrap="square" lIns="0" tIns="0" rIns="0" bIns="0" rtlCol="0" anchor="t"/>
          <a:lstStyle/>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Prompting-based methods ask the model to reason step by step through emotional inference, surfacing latent paralinguistic reasoning as natural-language explanations.</a:t>
            </a:r>
            <a:endParaRPr lang="en-US" sz="1250" dirty="0"/>
          </a:p>
          <a:p>
            <a:pPr marL="0" indent="0">
              <a:lnSpc>
                <a:spcPct val="108000"/>
              </a:lnSpc>
              <a:buNone/>
            </a:pPr>
            <a:endParaRPr lang="en-US" sz="1250" dirty="0"/>
          </a:p>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The paper's objection: because these traces are unstructured, they are vulnerable to hallucination and error propagation, and their interpretability remains largely implicit.</a:t>
            </a:r>
            <a:endParaRPr lang="en-US" sz="1250" dirty="0"/>
          </a:p>
        </p:txBody>
      </p:sp>
      <p:sp>
        <p:nvSpPr>
          <p:cNvPr id="18" name="Shape 16"/>
          <p:cNvSpPr/>
          <p:nvPr/>
        </p:nvSpPr>
        <p:spPr>
          <a:xfrm>
            <a:off x="566928" y="4169664"/>
            <a:ext cx="11064240" cy="1883664"/>
          </a:xfrm>
          <a:prstGeom prst="roundRect">
            <a:avLst>
              <a:gd name="adj" fmla="val 2913"/>
            </a:avLst>
          </a:prstGeom>
          <a:solidFill>
            <a:srgbClr val="2B2535"/>
          </a:solidFill>
          <a:ln w="12700">
            <a:solidFill>
              <a:srgbClr val="2B2535"/>
            </a:solidFill>
            <a:prstDash val="solid"/>
          </a:ln>
        </p:spPr>
        <p:txBody>
          <a:bodyPr/>
          <a:lstStyle/>
          <a:p>
            <a:endParaRPr lang="en-US"/>
          </a:p>
        </p:txBody>
      </p:sp>
      <p:sp>
        <p:nvSpPr>
          <p:cNvPr id="19" name="Shape 17"/>
          <p:cNvSpPr/>
          <p:nvPr/>
        </p:nvSpPr>
        <p:spPr>
          <a:xfrm>
            <a:off x="786384" y="4462272"/>
            <a:ext cx="109728" cy="109728"/>
          </a:xfrm>
          <a:prstGeom prst="ellipse">
            <a:avLst/>
          </a:prstGeom>
          <a:solidFill>
            <a:srgbClr val="7F9E2E"/>
          </a:solidFill>
          <a:ln w="12700">
            <a:solidFill>
              <a:srgbClr val="333333"/>
            </a:solidFill>
            <a:prstDash val="solid"/>
          </a:ln>
        </p:spPr>
        <p:txBody>
          <a:bodyPr/>
          <a:lstStyle/>
          <a:p>
            <a:endParaRPr lang="en-US"/>
          </a:p>
        </p:txBody>
      </p:sp>
      <p:sp>
        <p:nvSpPr>
          <p:cNvPr id="20" name="Text 18"/>
          <p:cNvSpPr txBox="1"/>
          <p:nvPr/>
        </p:nvSpPr>
        <p:spPr>
          <a:xfrm>
            <a:off x="987552" y="433425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proposal</a:t>
            </a:r>
            <a:endParaRPr lang="en-US" sz="1500" dirty="0"/>
          </a:p>
        </p:txBody>
      </p:sp>
      <p:sp>
        <p:nvSpPr>
          <p:cNvPr id="21" name="Text 19"/>
          <p:cNvSpPr txBox="1"/>
          <p:nvPr/>
        </p:nvSpPr>
        <p:spPr>
          <a:xfrm>
            <a:off x="822960" y="4773168"/>
            <a:ext cx="10552176" cy="1097280"/>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Replace the unstructured reasoning trace with a symbolic one. Extract the acoustic facts deterministically, state them explicitly, and let the model reason over the statement rather than over the signal.</a:t>
            </a:r>
            <a:endParaRPr lang="en-US" sz="1300" dirty="0"/>
          </a:p>
          <a:p>
            <a:pPr marL="0" indent="0">
              <a:lnSpc>
                <a:spcPct val="108000"/>
              </a:lnSpc>
              <a:buNone/>
            </a:pPr>
            <a:endParaRPr lang="en-US" sz="1300" dirty="0"/>
          </a:p>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inspiration is named: compositional chain-of-thought prompting from the vision–language literature, which uses structured representations of objects, attributes and relations.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625328" y="5458968"/>
            <a:ext cx="402336" cy="292608"/>
          </a:xfrm>
          <a:prstGeom prst="line">
            <a:avLst/>
          </a:prstGeom>
          <a:noFill/>
          <a:ln w="15240">
            <a:solidFill>
              <a:srgbClr val="AFA6C2"/>
            </a:solidFill>
            <a:prstDash val="solid"/>
          </a:ln>
        </p:spPr>
        <p:txBody>
          <a:bodyPr/>
          <a:lstStyle/>
          <a:p>
            <a:endParaRPr lang="en-US"/>
          </a:p>
        </p:txBody>
      </p:sp>
      <p:sp>
        <p:nvSpPr>
          <p:cNvPr id="3" name="Shape 1"/>
          <p:cNvSpPr/>
          <p:nvPr/>
        </p:nvSpPr>
        <p:spPr>
          <a:xfrm>
            <a:off x="10625328" y="5458968"/>
            <a:ext cx="475488" cy="0"/>
          </a:xfrm>
          <a:prstGeom prst="line">
            <a:avLst/>
          </a:prstGeom>
          <a:noFill/>
          <a:ln w="15240">
            <a:solidFill>
              <a:srgbClr val="AFA6C2"/>
            </a:solidFill>
            <a:prstDash val="solid"/>
          </a:ln>
        </p:spPr>
        <p:txBody>
          <a:bodyPr/>
          <a:lstStyle/>
          <a:p>
            <a:endParaRPr lang="en-US"/>
          </a:p>
        </p:txBody>
      </p:sp>
      <p:sp>
        <p:nvSpPr>
          <p:cNvPr id="4" name="Shape 2"/>
          <p:cNvSpPr/>
          <p:nvPr/>
        </p:nvSpPr>
        <p:spPr>
          <a:xfrm>
            <a:off x="10515600"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0991088"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0917936" y="5641848"/>
            <a:ext cx="219456" cy="219456"/>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7F9E2E"/>
                </a:solidFill>
                <a:latin typeface="Cambria" pitchFamily="34" charset="0"/>
                <a:ea typeface="Cambria" pitchFamily="34" charset="-122"/>
                <a:cs typeface="Cambria" pitchFamily="34" charset="-120"/>
              </a:rPr>
              <a:t>2</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Building an Emotion Graph</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FC8DD"/>
                </a:solidFill>
                <a:latin typeface="Calibri" pitchFamily="34" charset="0"/>
                <a:ea typeface="Calibri" pitchFamily="34" charset="-122"/>
                <a:cs typeface="Calibri" pitchFamily="34" charset="-120"/>
              </a:rPr>
              <a:t>Three sources of structure, one JSON object</a:t>
            </a:r>
            <a:endParaRPr lang="en-US" sz="1500" dirty="0"/>
          </a:p>
        </p:txBody>
      </p:sp>
      <p:sp>
        <p:nvSpPr>
          <p:cNvPr id="10" name="Text 8"/>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The two-stage pipeline</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Stage 1 builds the graph; stage 2 prompts with it</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7</a:t>
            </a:r>
            <a:endParaRPr lang="en-US" sz="900" dirty="0"/>
          </a:p>
        </p:txBody>
      </p:sp>
      <p:sp>
        <p:nvSpPr>
          <p:cNvPr id="10" name="Shape 8"/>
          <p:cNvSpPr/>
          <p:nvPr/>
        </p:nvSpPr>
        <p:spPr>
          <a:xfrm>
            <a:off x="566928" y="1627632"/>
            <a:ext cx="2834640" cy="749808"/>
          </a:xfrm>
          <a:prstGeom prst="roundRect">
            <a:avLst>
              <a:gd name="adj" fmla="val 7317"/>
            </a:avLst>
          </a:prstGeom>
          <a:solidFill>
            <a:srgbClr val="F3F1F6"/>
          </a:solidFill>
          <a:ln w="16510">
            <a:solidFill>
              <a:srgbClr val="5E4E7A"/>
            </a:solidFill>
            <a:prstDash val="solid"/>
          </a:ln>
        </p:spPr>
        <p:txBody>
          <a:bodyPr/>
          <a:lstStyle/>
          <a:p>
            <a:endParaRPr lang="en-US"/>
          </a:p>
        </p:txBody>
      </p:sp>
      <p:sp>
        <p:nvSpPr>
          <p:cNvPr id="11" name="Text 9"/>
          <p:cNvSpPr txBox="1"/>
          <p:nvPr/>
        </p:nvSpPr>
        <p:spPr>
          <a:xfrm>
            <a:off x="676656" y="1719072"/>
            <a:ext cx="2615184" cy="256032"/>
          </a:xfrm>
          <a:prstGeom prst="rect">
            <a:avLst/>
          </a:prstGeom>
          <a:noFill/>
          <a:ln/>
        </p:spPr>
        <p:txBody>
          <a:bodyPr wrap="square" lIns="0" tIns="0" rIns="0" bIns="0" rtlCol="0" anchor="ctr"/>
          <a:lstStyle/>
          <a:p>
            <a:pPr marL="0" indent="0" algn="ctr">
              <a:buNone/>
            </a:pPr>
            <a:r>
              <a:rPr lang="en-US" sz="1250" b="1" dirty="0">
                <a:solidFill>
                  <a:srgbClr val="5E4E7A"/>
                </a:solidFill>
                <a:latin typeface="Calibri" pitchFamily="34" charset="0"/>
                <a:ea typeface="Calibri" pitchFamily="34" charset="-122"/>
                <a:cs typeface="Calibri" pitchFamily="34" charset="-120"/>
              </a:rPr>
              <a:t>openSMILE</a:t>
            </a:r>
            <a:endParaRPr lang="en-US" sz="1250" dirty="0"/>
          </a:p>
        </p:txBody>
      </p:sp>
      <p:sp>
        <p:nvSpPr>
          <p:cNvPr id="12" name="Text 10"/>
          <p:cNvSpPr txBox="1"/>
          <p:nvPr/>
        </p:nvSpPr>
        <p:spPr>
          <a:xfrm>
            <a:off x="676656" y="1993392"/>
            <a:ext cx="2615184" cy="347472"/>
          </a:xfrm>
          <a:prstGeom prst="rect">
            <a:avLst/>
          </a:prstGeom>
          <a:noFill/>
          <a:ln/>
        </p:spPr>
        <p:txBody>
          <a:bodyPr wrap="square" lIns="0" tIns="0" rIns="0" bIns="0" rtlCol="0" anchor="ctr"/>
          <a:lstStyle/>
          <a:p>
            <a:pPr marL="0" indent="0" algn="ctr">
              <a:buNone/>
            </a:pPr>
            <a:r>
              <a:rPr lang="en-US" sz="1050" dirty="0">
                <a:solidFill>
                  <a:srgbClr val="635A73"/>
                </a:solidFill>
                <a:latin typeface="Calibri" pitchFamily="34" charset="0"/>
                <a:ea typeface="Calibri" pitchFamily="34" charset="-122"/>
                <a:cs typeface="Calibri" pitchFamily="34" charset="-120"/>
              </a:rPr>
              <a:t>7 acoustic features</a:t>
            </a:r>
            <a:endParaRPr lang="en-US" sz="1050" dirty="0"/>
          </a:p>
          <a:p>
            <a:pPr marL="0" indent="0" algn="ctr">
              <a:buNone/>
            </a:pPr>
            <a:r>
              <a:rPr lang="en-US" sz="1050" dirty="0">
                <a:solidFill>
                  <a:srgbClr val="635A73"/>
                </a:solidFill>
                <a:latin typeface="Calibri" pitchFamily="34" charset="0"/>
                <a:ea typeface="Calibri" pitchFamily="34" charset="-122"/>
                <a:cs typeface="Calibri" pitchFamily="34" charset="-120"/>
              </a:rPr>
              <a:t>→ low / normal / high</a:t>
            </a:r>
            <a:endParaRPr lang="en-US" sz="1050" dirty="0"/>
          </a:p>
        </p:txBody>
      </p:sp>
      <p:sp>
        <p:nvSpPr>
          <p:cNvPr id="13" name="Shape 11"/>
          <p:cNvSpPr/>
          <p:nvPr/>
        </p:nvSpPr>
        <p:spPr>
          <a:xfrm>
            <a:off x="3438144" y="2002536"/>
            <a:ext cx="329184" cy="0"/>
          </a:xfrm>
          <a:prstGeom prst="line">
            <a:avLst/>
          </a:prstGeom>
          <a:noFill/>
          <a:ln w="25400">
            <a:solidFill>
              <a:srgbClr val="AFA6C2"/>
            </a:solidFill>
            <a:prstDash val="solid"/>
            <a:tailEnd type="triangle"/>
          </a:ln>
        </p:spPr>
        <p:txBody>
          <a:bodyPr/>
          <a:lstStyle/>
          <a:p>
            <a:endParaRPr lang="en-US"/>
          </a:p>
        </p:txBody>
      </p:sp>
      <p:sp>
        <p:nvSpPr>
          <p:cNvPr id="14" name="Shape 12"/>
          <p:cNvSpPr/>
          <p:nvPr/>
        </p:nvSpPr>
        <p:spPr>
          <a:xfrm>
            <a:off x="566928" y="2487168"/>
            <a:ext cx="2834640" cy="749808"/>
          </a:xfrm>
          <a:prstGeom prst="roundRect">
            <a:avLst>
              <a:gd name="adj" fmla="val 7317"/>
            </a:avLst>
          </a:prstGeom>
          <a:solidFill>
            <a:srgbClr val="F3F1F6"/>
          </a:solidFill>
          <a:ln w="16510">
            <a:solidFill>
              <a:srgbClr val="5E4E7A"/>
            </a:solidFill>
            <a:prstDash val="solid"/>
          </a:ln>
        </p:spPr>
        <p:txBody>
          <a:bodyPr/>
          <a:lstStyle/>
          <a:p>
            <a:endParaRPr lang="en-US"/>
          </a:p>
        </p:txBody>
      </p:sp>
      <p:sp>
        <p:nvSpPr>
          <p:cNvPr id="15" name="Text 13"/>
          <p:cNvSpPr txBox="1"/>
          <p:nvPr/>
        </p:nvSpPr>
        <p:spPr>
          <a:xfrm>
            <a:off x="676656" y="2578608"/>
            <a:ext cx="2615184" cy="256032"/>
          </a:xfrm>
          <a:prstGeom prst="rect">
            <a:avLst/>
          </a:prstGeom>
          <a:noFill/>
          <a:ln/>
        </p:spPr>
        <p:txBody>
          <a:bodyPr wrap="square" lIns="0" tIns="0" rIns="0" bIns="0" rtlCol="0" anchor="ctr"/>
          <a:lstStyle/>
          <a:p>
            <a:pPr marL="0" indent="0" algn="ctr">
              <a:buNone/>
            </a:pPr>
            <a:r>
              <a:rPr lang="en-US" sz="1250" b="1" dirty="0">
                <a:solidFill>
                  <a:srgbClr val="5E4E7A"/>
                </a:solidFill>
                <a:latin typeface="Calibri" pitchFamily="34" charset="0"/>
                <a:ea typeface="Calibri" pitchFamily="34" charset="-122"/>
                <a:cs typeface="Calibri" pitchFamily="34" charset="-120"/>
              </a:rPr>
              <a:t>RoBERTa + KeyBERT</a:t>
            </a:r>
            <a:endParaRPr lang="en-US" sz="1250" dirty="0"/>
          </a:p>
        </p:txBody>
      </p:sp>
      <p:sp>
        <p:nvSpPr>
          <p:cNvPr id="16" name="Text 14"/>
          <p:cNvSpPr txBox="1"/>
          <p:nvPr/>
        </p:nvSpPr>
        <p:spPr>
          <a:xfrm>
            <a:off x="676656" y="2852928"/>
            <a:ext cx="2615184" cy="347472"/>
          </a:xfrm>
          <a:prstGeom prst="rect">
            <a:avLst/>
          </a:prstGeom>
          <a:noFill/>
          <a:ln/>
        </p:spPr>
        <p:txBody>
          <a:bodyPr wrap="square" lIns="0" tIns="0" rIns="0" bIns="0" rtlCol="0" anchor="ctr"/>
          <a:lstStyle/>
          <a:p>
            <a:pPr marL="0" indent="0" algn="ctr">
              <a:buNone/>
            </a:pPr>
            <a:r>
              <a:rPr lang="en-US" sz="1050" dirty="0">
                <a:solidFill>
                  <a:srgbClr val="635A73"/>
                </a:solidFill>
                <a:latin typeface="Calibri" pitchFamily="34" charset="0"/>
                <a:ea typeface="Calibri" pitchFamily="34" charset="-122"/>
                <a:cs typeface="Calibri" pitchFamily="34" charset="-120"/>
              </a:rPr>
              <a:t>sentiment polarity</a:t>
            </a:r>
            <a:endParaRPr lang="en-US" sz="1050" dirty="0"/>
          </a:p>
          <a:p>
            <a:pPr marL="0" indent="0" algn="ctr">
              <a:buNone/>
            </a:pPr>
            <a:r>
              <a:rPr lang="en-US" sz="1050" dirty="0">
                <a:solidFill>
                  <a:srgbClr val="635A73"/>
                </a:solidFill>
                <a:latin typeface="Calibri" pitchFamily="34" charset="0"/>
                <a:ea typeface="Calibri" pitchFamily="34" charset="-122"/>
                <a:cs typeface="Calibri" pitchFamily="34" charset="-120"/>
              </a:rPr>
              <a:t>+ salient keywords</a:t>
            </a:r>
            <a:endParaRPr lang="en-US" sz="1050" dirty="0"/>
          </a:p>
        </p:txBody>
      </p:sp>
      <p:sp>
        <p:nvSpPr>
          <p:cNvPr id="17" name="Shape 15"/>
          <p:cNvSpPr/>
          <p:nvPr/>
        </p:nvSpPr>
        <p:spPr>
          <a:xfrm>
            <a:off x="3438144" y="2862072"/>
            <a:ext cx="329184" cy="0"/>
          </a:xfrm>
          <a:prstGeom prst="line">
            <a:avLst/>
          </a:prstGeom>
          <a:noFill/>
          <a:ln w="25400">
            <a:solidFill>
              <a:srgbClr val="AFA6C2"/>
            </a:solidFill>
            <a:prstDash val="solid"/>
            <a:tailEnd type="triangle"/>
          </a:ln>
        </p:spPr>
        <p:txBody>
          <a:bodyPr/>
          <a:lstStyle/>
          <a:p>
            <a:endParaRPr lang="en-US"/>
          </a:p>
        </p:txBody>
      </p:sp>
      <p:sp>
        <p:nvSpPr>
          <p:cNvPr id="18" name="Shape 16"/>
          <p:cNvSpPr/>
          <p:nvPr/>
        </p:nvSpPr>
        <p:spPr>
          <a:xfrm>
            <a:off x="566928" y="3346704"/>
            <a:ext cx="2834640" cy="749808"/>
          </a:xfrm>
          <a:prstGeom prst="roundRect">
            <a:avLst>
              <a:gd name="adj" fmla="val 7317"/>
            </a:avLst>
          </a:prstGeom>
          <a:solidFill>
            <a:srgbClr val="F3F1F6"/>
          </a:solidFill>
          <a:ln w="16510">
            <a:solidFill>
              <a:srgbClr val="5E4E7A"/>
            </a:solidFill>
            <a:prstDash val="solid"/>
          </a:ln>
        </p:spPr>
        <p:txBody>
          <a:bodyPr/>
          <a:lstStyle/>
          <a:p>
            <a:endParaRPr lang="en-US"/>
          </a:p>
        </p:txBody>
      </p:sp>
      <p:sp>
        <p:nvSpPr>
          <p:cNvPr id="19" name="Text 17"/>
          <p:cNvSpPr txBox="1"/>
          <p:nvPr/>
        </p:nvSpPr>
        <p:spPr>
          <a:xfrm>
            <a:off x="676656" y="3438144"/>
            <a:ext cx="2615184" cy="256032"/>
          </a:xfrm>
          <a:prstGeom prst="rect">
            <a:avLst/>
          </a:prstGeom>
          <a:noFill/>
          <a:ln/>
        </p:spPr>
        <p:txBody>
          <a:bodyPr wrap="square" lIns="0" tIns="0" rIns="0" bIns="0" rtlCol="0" anchor="ctr"/>
          <a:lstStyle/>
          <a:p>
            <a:pPr marL="0" indent="0" algn="ctr">
              <a:buNone/>
            </a:pPr>
            <a:r>
              <a:rPr lang="en-US" sz="1250" b="1" dirty="0">
                <a:solidFill>
                  <a:srgbClr val="5E4E7A"/>
                </a:solidFill>
                <a:latin typeface="Calibri" pitchFamily="34" charset="0"/>
                <a:ea typeface="Calibri" pitchFamily="34" charset="-122"/>
                <a:cs typeface="Calibri" pitchFamily="34" charset="-120"/>
              </a:rPr>
              <a:t>GPT-4</a:t>
            </a:r>
            <a:endParaRPr lang="en-US" sz="1250" dirty="0"/>
          </a:p>
        </p:txBody>
      </p:sp>
      <p:sp>
        <p:nvSpPr>
          <p:cNvPr id="20" name="Text 18"/>
          <p:cNvSpPr txBox="1"/>
          <p:nvPr/>
        </p:nvSpPr>
        <p:spPr>
          <a:xfrm>
            <a:off x="676656" y="3712464"/>
            <a:ext cx="2615184" cy="347472"/>
          </a:xfrm>
          <a:prstGeom prst="rect">
            <a:avLst/>
          </a:prstGeom>
          <a:noFill/>
          <a:ln/>
        </p:spPr>
        <p:txBody>
          <a:bodyPr wrap="square" lIns="0" tIns="0" rIns="0" bIns="0" rtlCol="0" anchor="ctr"/>
          <a:lstStyle/>
          <a:p>
            <a:pPr marL="0" indent="0" algn="ctr">
              <a:buNone/>
            </a:pPr>
            <a:r>
              <a:rPr lang="en-US" sz="1050" dirty="0">
                <a:solidFill>
                  <a:srgbClr val="635A73"/>
                </a:solidFill>
                <a:latin typeface="Calibri" pitchFamily="34" charset="0"/>
                <a:ea typeface="Calibri" pitchFamily="34" charset="-122"/>
                <a:cs typeface="Calibri" pitchFamily="34" charset="-120"/>
              </a:rPr>
              <a:t>supports / contradicts /</a:t>
            </a:r>
            <a:endParaRPr lang="en-US" sz="1050" dirty="0"/>
          </a:p>
          <a:p>
            <a:pPr marL="0" indent="0" algn="ctr">
              <a:buNone/>
            </a:pPr>
            <a:r>
              <a:rPr lang="en-US" sz="1050" dirty="0">
                <a:solidFill>
                  <a:srgbClr val="635A73"/>
                </a:solidFill>
                <a:latin typeface="Calibri" pitchFamily="34" charset="0"/>
                <a:ea typeface="Calibri" pitchFamily="34" charset="-122"/>
                <a:cs typeface="Calibri" pitchFamily="34" charset="-120"/>
              </a:rPr>
              <a:t>neutral per cue</a:t>
            </a:r>
            <a:endParaRPr lang="en-US" sz="1050" dirty="0"/>
          </a:p>
        </p:txBody>
      </p:sp>
      <p:sp>
        <p:nvSpPr>
          <p:cNvPr id="21" name="Shape 19"/>
          <p:cNvSpPr/>
          <p:nvPr/>
        </p:nvSpPr>
        <p:spPr>
          <a:xfrm>
            <a:off x="3438144" y="3721608"/>
            <a:ext cx="329184" cy="0"/>
          </a:xfrm>
          <a:prstGeom prst="line">
            <a:avLst/>
          </a:prstGeom>
          <a:noFill/>
          <a:ln w="25400">
            <a:solidFill>
              <a:srgbClr val="AFA6C2"/>
            </a:solidFill>
            <a:prstDash val="solid"/>
            <a:tailEnd type="triangle"/>
          </a:ln>
        </p:spPr>
        <p:txBody>
          <a:bodyPr/>
          <a:lstStyle/>
          <a:p>
            <a:endParaRPr lang="en-US"/>
          </a:p>
        </p:txBody>
      </p:sp>
      <p:sp>
        <p:nvSpPr>
          <p:cNvPr id="22" name="Shape 20"/>
          <p:cNvSpPr/>
          <p:nvPr/>
        </p:nvSpPr>
        <p:spPr>
          <a:xfrm>
            <a:off x="3840480" y="1810512"/>
            <a:ext cx="2743200" cy="2103120"/>
          </a:xfrm>
          <a:prstGeom prst="roundRect">
            <a:avLst>
              <a:gd name="adj" fmla="val 2609"/>
            </a:avLst>
          </a:prstGeom>
          <a:solidFill>
            <a:srgbClr val="F2F6E6"/>
          </a:solidFill>
          <a:ln w="19050">
            <a:solidFill>
              <a:srgbClr val="7F9E2E"/>
            </a:solidFill>
            <a:prstDash val="solid"/>
          </a:ln>
        </p:spPr>
        <p:txBody>
          <a:bodyPr/>
          <a:lstStyle/>
          <a:p>
            <a:endParaRPr lang="en-US"/>
          </a:p>
        </p:txBody>
      </p:sp>
      <p:sp>
        <p:nvSpPr>
          <p:cNvPr id="23" name="Text 21"/>
          <p:cNvSpPr txBox="1"/>
          <p:nvPr/>
        </p:nvSpPr>
        <p:spPr>
          <a:xfrm>
            <a:off x="3950208" y="2286000"/>
            <a:ext cx="2523744" cy="310896"/>
          </a:xfrm>
          <a:prstGeom prst="rect">
            <a:avLst/>
          </a:prstGeom>
          <a:noFill/>
          <a:ln/>
        </p:spPr>
        <p:txBody>
          <a:bodyPr wrap="square" lIns="0" tIns="0" rIns="0" bIns="0" rtlCol="0" anchor="ctr"/>
          <a:lstStyle/>
          <a:p>
            <a:pPr marL="0" indent="0" algn="ctr">
              <a:buNone/>
            </a:pPr>
            <a:r>
              <a:rPr lang="en-US" sz="1450" b="1" dirty="0">
                <a:solidFill>
                  <a:srgbClr val="5F7722"/>
                </a:solidFill>
                <a:latin typeface="Cambria" pitchFamily="34" charset="0"/>
                <a:ea typeface="Cambria" pitchFamily="34" charset="-122"/>
                <a:cs typeface="Cambria" pitchFamily="34" charset="-120"/>
              </a:rPr>
              <a:t>Emotion Graph</a:t>
            </a:r>
            <a:endParaRPr lang="en-US" sz="1450" dirty="0"/>
          </a:p>
        </p:txBody>
      </p:sp>
      <p:sp>
        <p:nvSpPr>
          <p:cNvPr id="24" name="Text 22"/>
          <p:cNvSpPr txBox="1"/>
          <p:nvPr/>
        </p:nvSpPr>
        <p:spPr>
          <a:xfrm>
            <a:off x="3950208" y="2670048"/>
            <a:ext cx="2523744" cy="548640"/>
          </a:xfrm>
          <a:prstGeom prst="rect">
            <a:avLst/>
          </a:prstGeom>
          <a:noFill/>
          <a:ln/>
        </p:spPr>
        <p:txBody>
          <a:bodyPr wrap="square" lIns="0" tIns="0" rIns="0" bIns="0" rtlCol="0" anchor="ctr"/>
          <a:lstStyle/>
          <a:p>
            <a:pPr marL="0" indent="0" algn="ctr">
              <a:buNone/>
            </a:pPr>
            <a:r>
              <a:rPr lang="en-US" sz="1150" dirty="0">
                <a:solidFill>
                  <a:srgbClr val="2F2838"/>
                </a:solidFill>
                <a:latin typeface="Calibri" pitchFamily="34" charset="0"/>
                <a:ea typeface="Calibri" pitchFamily="34" charset="-122"/>
                <a:cs typeface="Calibri" pitchFamily="34" charset="-120"/>
              </a:rPr>
              <a:t>serialised as a single</a:t>
            </a:r>
            <a:endParaRPr lang="en-US" sz="1150" dirty="0"/>
          </a:p>
          <a:p>
            <a:pPr marL="0" indent="0" algn="ctr">
              <a:buNone/>
            </a:pPr>
            <a:r>
              <a:rPr lang="en-US" sz="1150" dirty="0">
                <a:solidFill>
                  <a:srgbClr val="2F2838"/>
                </a:solidFill>
                <a:latin typeface="Calibri" pitchFamily="34" charset="0"/>
                <a:ea typeface="Calibri" pitchFamily="34" charset="-122"/>
                <a:cs typeface="Calibri" pitchFamily="34" charset="-120"/>
              </a:rPr>
              <a:t>JSON object</a:t>
            </a:r>
            <a:endParaRPr lang="en-US" sz="1150" dirty="0"/>
          </a:p>
        </p:txBody>
      </p:sp>
      <p:sp>
        <p:nvSpPr>
          <p:cNvPr id="25" name="Shape 23"/>
          <p:cNvSpPr/>
          <p:nvPr/>
        </p:nvSpPr>
        <p:spPr>
          <a:xfrm>
            <a:off x="6638544" y="2834640"/>
            <a:ext cx="365760" cy="0"/>
          </a:xfrm>
          <a:prstGeom prst="line">
            <a:avLst/>
          </a:prstGeom>
          <a:noFill/>
          <a:ln w="28575">
            <a:solidFill>
              <a:srgbClr val="AFA6C2"/>
            </a:solidFill>
            <a:prstDash val="solid"/>
            <a:tailEnd type="triangle"/>
          </a:ln>
        </p:spPr>
        <p:txBody>
          <a:bodyPr/>
          <a:lstStyle/>
          <a:p>
            <a:endParaRPr lang="en-US"/>
          </a:p>
        </p:txBody>
      </p:sp>
      <p:sp>
        <p:nvSpPr>
          <p:cNvPr id="26" name="Shape 24"/>
          <p:cNvSpPr/>
          <p:nvPr/>
        </p:nvSpPr>
        <p:spPr>
          <a:xfrm>
            <a:off x="7059168" y="1810512"/>
            <a:ext cx="4572000" cy="2103120"/>
          </a:xfrm>
          <a:prstGeom prst="roundRect">
            <a:avLst>
              <a:gd name="adj" fmla="val 2609"/>
            </a:avLst>
          </a:prstGeom>
          <a:solidFill>
            <a:srgbClr val="2B2535"/>
          </a:solidFill>
          <a:ln w="12700">
            <a:solidFill>
              <a:srgbClr val="333333"/>
            </a:solidFill>
            <a:prstDash val="solid"/>
          </a:ln>
        </p:spPr>
        <p:txBody>
          <a:bodyPr/>
          <a:lstStyle/>
          <a:p>
            <a:endParaRPr lang="en-US"/>
          </a:p>
        </p:txBody>
      </p:sp>
      <p:sp>
        <p:nvSpPr>
          <p:cNvPr id="27" name="Text 25"/>
          <p:cNvSpPr txBox="1"/>
          <p:nvPr/>
        </p:nvSpPr>
        <p:spPr>
          <a:xfrm>
            <a:off x="7168896" y="2139696"/>
            <a:ext cx="4352544" cy="310896"/>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Frozen audio LLM</a:t>
            </a:r>
            <a:endParaRPr lang="en-US" sz="1450" dirty="0"/>
          </a:p>
        </p:txBody>
      </p:sp>
      <p:sp>
        <p:nvSpPr>
          <p:cNvPr id="28" name="Text 26"/>
          <p:cNvSpPr txBox="1"/>
          <p:nvPr/>
        </p:nvSpPr>
        <p:spPr>
          <a:xfrm>
            <a:off x="7168896" y="2542032"/>
            <a:ext cx="4352544" cy="914400"/>
          </a:xfrm>
          <a:prstGeom prst="rect">
            <a:avLst/>
          </a:prstGeom>
          <a:noFill/>
          <a:ln/>
        </p:spPr>
        <p:txBody>
          <a:bodyPr wrap="square" lIns="0" tIns="0" rIns="0" bIns="0" rtlCol="0" anchor="ctr"/>
          <a:lstStyle/>
          <a:p>
            <a:pPr marL="0" indent="0" algn="ctr">
              <a:buNone/>
            </a:pPr>
            <a:r>
              <a:rPr lang="en-US" sz="1150" dirty="0">
                <a:solidFill>
                  <a:srgbClr val="CFC8DD"/>
                </a:solidFill>
                <a:latin typeface="Calibri" pitchFamily="34" charset="0"/>
                <a:ea typeface="Calibri" pitchFamily="34" charset="-122"/>
                <a:cs typeface="Calibri" pitchFamily="34" charset="-120"/>
              </a:rPr>
              <a:t>Qwen2-Audio · Qwen2.5-Omni · Kimi-Audio</a:t>
            </a:r>
            <a:endParaRPr lang="en-US" sz="1150" dirty="0"/>
          </a:p>
          <a:p>
            <a:pPr marL="0" indent="0" algn="ctr">
              <a:buNone/>
            </a:pPr>
            <a:r>
              <a:rPr lang="en-US" sz="1150" dirty="0">
                <a:solidFill>
                  <a:srgbClr val="CFC8DD"/>
                </a:solidFill>
                <a:latin typeface="Calibri" pitchFamily="34" charset="0"/>
                <a:ea typeface="Calibri" pitchFamily="34" charset="-122"/>
                <a:cs typeface="Calibri" pitchFamily="34" charset="-120"/>
              </a:rPr>
              <a:t>receives raw audio + graph + instruction</a:t>
            </a:r>
            <a:endParaRPr lang="en-US" sz="1150" dirty="0"/>
          </a:p>
          <a:p>
            <a:pPr marL="0" indent="0" algn="ctr">
              <a:buNone/>
            </a:pPr>
            <a:r>
              <a:rPr lang="en-US" sz="1150" dirty="0">
                <a:solidFill>
                  <a:srgbClr val="CFC8DD"/>
                </a:solidFill>
                <a:latin typeface="Calibri" pitchFamily="34" charset="0"/>
                <a:ea typeface="Calibri" pitchFamily="34" charset="-122"/>
                <a:cs typeface="Calibri" pitchFamily="34" charset="-120"/>
              </a:rPr>
              <a:t>→ one option letter</a:t>
            </a:r>
            <a:endParaRPr lang="en-US" sz="1150" dirty="0"/>
          </a:p>
        </p:txBody>
      </p:sp>
      <p:sp>
        <p:nvSpPr>
          <p:cNvPr id="29" name="Text 27"/>
          <p:cNvSpPr txBox="1"/>
          <p:nvPr/>
        </p:nvSpPr>
        <p:spPr>
          <a:xfrm>
            <a:off x="566928" y="4169664"/>
            <a:ext cx="11064240" cy="1883664"/>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2F2838"/>
                </a:solidFill>
                <a:latin typeface="Calibri" pitchFamily="34" charset="0"/>
                <a:ea typeface="Calibri" pitchFamily="34" charset="-122"/>
                <a:cs typeface="Calibri" pitchFamily="34" charset="-120"/>
              </a:rPr>
              <a:t>All three graph components are computed independently and then serialised into a unified JSON structure.</a:t>
            </a:r>
            <a:endParaRPr lang="en-US" sz="1260" dirty="0"/>
          </a:p>
          <a:p>
            <a:pPr marL="342900" indent="-342900">
              <a:spcAft>
                <a:spcPts val="800"/>
              </a:spcAft>
              <a:buSzPct val="100000"/>
              <a:buChar char="●"/>
            </a:pPr>
            <a:r>
              <a:rPr lang="en-US" sz="1260" dirty="0">
                <a:solidFill>
                  <a:srgbClr val="2F2838"/>
                </a:solidFill>
                <a:latin typeface="Calibri" pitchFamily="34" charset="0"/>
                <a:ea typeface="Calibri" pitchFamily="34" charset="-122"/>
                <a:cs typeface="Calibri" pitchFamily="34" charset="-120"/>
              </a:rPr>
              <a:t>Nothing about the graph construction is learned or tuned on emotion labels — the extractors are off the shelf.</a:t>
            </a:r>
            <a:endParaRPr lang="en-US" sz="1260" dirty="0"/>
          </a:p>
          <a:p>
            <a:pPr marL="342900" indent="-342900">
              <a:spcAft>
                <a:spcPts val="800"/>
              </a:spcAft>
              <a:buSzPct val="100000"/>
              <a:buChar char="●"/>
            </a:pPr>
            <a:r>
              <a:rPr lang="en-US" sz="1260" dirty="0">
                <a:solidFill>
                  <a:srgbClr val="2F2838"/>
                </a:solidFill>
                <a:latin typeface="Calibri" pitchFamily="34" charset="0"/>
                <a:ea typeface="Calibri" pitchFamily="34" charset="-122"/>
                <a:cs typeface="Calibri" pitchFamily="34" charset="-120"/>
              </a:rPr>
              <a:t>The audio LLM still receives the raw audio. The graph is additional conditioning, not a replacement for listening.</a:t>
            </a:r>
            <a:endParaRPr lang="en-US" sz="1260" dirty="0"/>
          </a:p>
          <a:p>
            <a:pPr marL="342900" indent="-342900">
              <a:spcAft>
                <a:spcPts val="800"/>
              </a:spcAft>
              <a:buSzPct val="100000"/>
              <a:buChar char="●"/>
            </a:pPr>
            <a:r>
              <a:rPr lang="en-US" sz="1260" dirty="0">
                <a:solidFill>
                  <a:srgbClr val="2F2838"/>
                </a:solidFill>
                <a:latin typeface="Calibri" pitchFamily="34" charset="0"/>
                <a:ea typeface="Calibri" pitchFamily="34" charset="-122"/>
                <a:cs typeface="Calibri" pitchFamily="34" charset="-120"/>
              </a:rPr>
              <a:t>Because the graph is text, the method applies to any instruction-following audio LLM without architectural change — the 'plug-and-play' claim.</a:t>
            </a:r>
            <a:endParaRPr lang="en-US" sz="12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89B2F-BE3D-8D26-AF35-7DA17217F6C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9FD68BA-6B40-AAB6-A8F2-A2A82D2A9769}"/>
              </a:ext>
            </a:extLst>
          </p:cNvPr>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a:extLst>
              <a:ext uri="{FF2B5EF4-FFF2-40B4-BE49-F238E27FC236}">
                <a16:creationId xmlns:a16="http://schemas.microsoft.com/office/drawing/2014/main" id="{F793C465-25B9-49DE-88B3-0D0B8A2CA5ED}"/>
              </a:ext>
            </a:extLst>
          </p:cNvPr>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a:extLst>
              <a:ext uri="{FF2B5EF4-FFF2-40B4-BE49-F238E27FC236}">
                <a16:creationId xmlns:a16="http://schemas.microsoft.com/office/drawing/2014/main" id="{CB1375C1-C922-2043-2560-D44AB2433278}"/>
              </a:ext>
            </a:extLst>
          </p:cNvPr>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a:extLst>
              <a:ext uri="{FF2B5EF4-FFF2-40B4-BE49-F238E27FC236}">
                <a16:creationId xmlns:a16="http://schemas.microsoft.com/office/drawing/2014/main" id="{E95A83E2-82D2-ED3A-8FDB-516ADDB5EEA3}"/>
              </a:ext>
            </a:extLst>
          </p:cNvPr>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a:extLst>
              <a:ext uri="{FF2B5EF4-FFF2-40B4-BE49-F238E27FC236}">
                <a16:creationId xmlns:a16="http://schemas.microsoft.com/office/drawing/2014/main" id="{7FB0D7E5-1A87-BA4D-EDA3-7FA899774F10}"/>
              </a:ext>
            </a:extLst>
          </p:cNvPr>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a:extLst>
              <a:ext uri="{FF2B5EF4-FFF2-40B4-BE49-F238E27FC236}">
                <a16:creationId xmlns:a16="http://schemas.microsoft.com/office/drawing/2014/main" id="{69E552B9-4804-A3B2-59F5-FE76F95CADAA}"/>
              </a:ext>
            </a:extLst>
          </p:cNvPr>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The two-stage pipeline</a:t>
            </a:r>
            <a:endParaRPr lang="en-US" sz="2900" dirty="0"/>
          </a:p>
        </p:txBody>
      </p:sp>
      <p:sp>
        <p:nvSpPr>
          <p:cNvPr id="8" name="Text 6">
            <a:extLst>
              <a:ext uri="{FF2B5EF4-FFF2-40B4-BE49-F238E27FC236}">
                <a16:creationId xmlns:a16="http://schemas.microsoft.com/office/drawing/2014/main" id="{33AFECC3-6B30-E38D-1354-3EFB5DFFC732}"/>
              </a:ext>
            </a:extLst>
          </p:cNvPr>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Stage 1 builds the graph; stage 2 prompts with it</a:t>
            </a:r>
            <a:endParaRPr lang="en-US" sz="1350" dirty="0"/>
          </a:p>
        </p:txBody>
      </p:sp>
      <p:sp>
        <p:nvSpPr>
          <p:cNvPr id="9" name="Text 7">
            <a:extLst>
              <a:ext uri="{FF2B5EF4-FFF2-40B4-BE49-F238E27FC236}">
                <a16:creationId xmlns:a16="http://schemas.microsoft.com/office/drawing/2014/main" id="{76F27006-E4F8-238C-2FD6-BDE519709CAD}"/>
              </a:ext>
            </a:extLst>
          </p:cNvPr>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7</a:t>
            </a:r>
            <a:endParaRPr lang="en-US" sz="900" dirty="0"/>
          </a:p>
        </p:txBody>
      </p:sp>
      <p:pic>
        <p:nvPicPr>
          <p:cNvPr id="30" name="Picture 29">
            <a:extLst>
              <a:ext uri="{FF2B5EF4-FFF2-40B4-BE49-F238E27FC236}">
                <a16:creationId xmlns:a16="http://schemas.microsoft.com/office/drawing/2014/main" id="{1A2CF75D-970D-76C3-637E-3C42A2AE1840}"/>
              </a:ext>
            </a:extLst>
          </p:cNvPr>
          <p:cNvPicPr>
            <a:picLocks noChangeAspect="1"/>
          </p:cNvPicPr>
          <p:nvPr/>
        </p:nvPicPr>
        <p:blipFill>
          <a:blip r:embed="rId3"/>
          <a:stretch>
            <a:fillRect/>
          </a:stretch>
        </p:blipFill>
        <p:spPr>
          <a:xfrm>
            <a:off x="1553582" y="1221438"/>
            <a:ext cx="8698455" cy="5238085"/>
          </a:xfrm>
          <a:prstGeom prst="rect">
            <a:avLst/>
          </a:prstGeom>
        </p:spPr>
      </p:pic>
    </p:spTree>
    <p:extLst>
      <p:ext uri="{BB962C8B-B14F-4D97-AF65-F5344CB8AC3E}">
        <p14:creationId xmlns:p14="http://schemas.microsoft.com/office/powerpoint/2010/main" val="2572394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The acoustic attributes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Seven classical measures, deliberately discretised</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8</a:t>
            </a:r>
            <a:endParaRPr lang="en-US" sz="900" dirty="0"/>
          </a:p>
        </p:txBody>
      </p:sp>
      <p:sp>
        <p:nvSpPr>
          <p:cNvPr id="10" name="Shape 8"/>
          <p:cNvSpPr/>
          <p:nvPr/>
        </p:nvSpPr>
        <p:spPr>
          <a:xfrm>
            <a:off x="566928" y="1609344"/>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749808" y="1920240"/>
            <a:ext cx="109728" cy="109728"/>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950976" y="1728216"/>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Pitch</a:t>
            </a:r>
            <a:endParaRPr lang="en-US" sz="1300" dirty="0"/>
          </a:p>
        </p:txBody>
      </p:sp>
      <p:sp>
        <p:nvSpPr>
          <p:cNvPr id="13" name="Text 11"/>
          <p:cNvSpPr txBox="1"/>
          <p:nvPr/>
        </p:nvSpPr>
        <p:spPr>
          <a:xfrm>
            <a:off x="950976" y="2011680"/>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fundamental frequency</a:t>
            </a:r>
            <a:endParaRPr lang="en-US" sz="1050" dirty="0"/>
          </a:p>
        </p:txBody>
      </p:sp>
      <p:sp>
        <p:nvSpPr>
          <p:cNvPr id="14" name="Shape 12"/>
          <p:cNvSpPr/>
          <p:nvPr/>
        </p:nvSpPr>
        <p:spPr>
          <a:xfrm>
            <a:off x="3392424" y="1609344"/>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15" name="Shape 13"/>
          <p:cNvSpPr/>
          <p:nvPr/>
        </p:nvSpPr>
        <p:spPr>
          <a:xfrm>
            <a:off x="3575304" y="1920240"/>
            <a:ext cx="109728" cy="109728"/>
          </a:xfrm>
          <a:prstGeom prst="ellipse">
            <a:avLst/>
          </a:prstGeom>
          <a:solidFill>
            <a:srgbClr val="5E4E7A"/>
          </a:solidFill>
          <a:ln w="12700">
            <a:solidFill>
              <a:srgbClr val="333333"/>
            </a:solidFill>
            <a:prstDash val="solid"/>
          </a:ln>
        </p:spPr>
        <p:txBody>
          <a:bodyPr/>
          <a:lstStyle/>
          <a:p>
            <a:endParaRPr lang="en-US"/>
          </a:p>
        </p:txBody>
      </p:sp>
      <p:sp>
        <p:nvSpPr>
          <p:cNvPr id="16" name="Text 14"/>
          <p:cNvSpPr txBox="1"/>
          <p:nvPr/>
        </p:nvSpPr>
        <p:spPr>
          <a:xfrm>
            <a:off x="3776472" y="1728216"/>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Speech rate</a:t>
            </a:r>
            <a:endParaRPr lang="en-US" sz="1300" dirty="0"/>
          </a:p>
        </p:txBody>
      </p:sp>
      <p:sp>
        <p:nvSpPr>
          <p:cNvPr id="17" name="Text 15"/>
          <p:cNvSpPr txBox="1"/>
          <p:nvPr/>
        </p:nvSpPr>
        <p:spPr>
          <a:xfrm>
            <a:off x="3776472" y="2011680"/>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syllables per unit time</a:t>
            </a:r>
            <a:endParaRPr lang="en-US" sz="1050" dirty="0"/>
          </a:p>
        </p:txBody>
      </p:sp>
      <p:sp>
        <p:nvSpPr>
          <p:cNvPr id="18" name="Shape 16"/>
          <p:cNvSpPr/>
          <p:nvPr/>
        </p:nvSpPr>
        <p:spPr>
          <a:xfrm>
            <a:off x="6217920" y="1609344"/>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19" name="Shape 17"/>
          <p:cNvSpPr/>
          <p:nvPr/>
        </p:nvSpPr>
        <p:spPr>
          <a:xfrm>
            <a:off x="6400800" y="1920240"/>
            <a:ext cx="109728" cy="109728"/>
          </a:xfrm>
          <a:prstGeom prst="ellipse">
            <a:avLst/>
          </a:prstGeom>
          <a:solidFill>
            <a:srgbClr val="5E4E7A"/>
          </a:solidFill>
          <a:ln w="12700">
            <a:solidFill>
              <a:srgbClr val="333333"/>
            </a:solidFill>
            <a:prstDash val="solid"/>
          </a:ln>
        </p:spPr>
        <p:txBody>
          <a:bodyPr/>
          <a:lstStyle/>
          <a:p>
            <a:endParaRPr lang="en-US"/>
          </a:p>
        </p:txBody>
      </p:sp>
      <p:sp>
        <p:nvSpPr>
          <p:cNvPr id="20" name="Text 18"/>
          <p:cNvSpPr txBox="1"/>
          <p:nvPr/>
        </p:nvSpPr>
        <p:spPr>
          <a:xfrm>
            <a:off x="6601968" y="1728216"/>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Volume</a:t>
            </a:r>
            <a:endParaRPr lang="en-US" sz="1300" dirty="0"/>
          </a:p>
        </p:txBody>
      </p:sp>
      <p:sp>
        <p:nvSpPr>
          <p:cNvPr id="21" name="Text 19"/>
          <p:cNvSpPr txBox="1"/>
          <p:nvPr/>
        </p:nvSpPr>
        <p:spPr>
          <a:xfrm>
            <a:off x="6601968" y="2011680"/>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loudness</a:t>
            </a:r>
            <a:endParaRPr lang="en-US" sz="1050" dirty="0"/>
          </a:p>
        </p:txBody>
      </p:sp>
      <p:sp>
        <p:nvSpPr>
          <p:cNvPr id="22" name="Shape 20"/>
          <p:cNvSpPr/>
          <p:nvPr/>
        </p:nvSpPr>
        <p:spPr>
          <a:xfrm>
            <a:off x="9043416" y="1609344"/>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23" name="Shape 21"/>
          <p:cNvSpPr/>
          <p:nvPr/>
        </p:nvSpPr>
        <p:spPr>
          <a:xfrm>
            <a:off x="9226296" y="1920240"/>
            <a:ext cx="109728" cy="109728"/>
          </a:xfrm>
          <a:prstGeom prst="ellipse">
            <a:avLst/>
          </a:prstGeom>
          <a:solidFill>
            <a:srgbClr val="7F9E2E"/>
          </a:solidFill>
          <a:ln w="12700">
            <a:solidFill>
              <a:srgbClr val="333333"/>
            </a:solidFill>
            <a:prstDash val="solid"/>
          </a:ln>
        </p:spPr>
        <p:txBody>
          <a:bodyPr/>
          <a:lstStyle/>
          <a:p>
            <a:endParaRPr lang="en-US"/>
          </a:p>
        </p:txBody>
      </p:sp>
      <p:sp>
        <p:nvSpPr>
          <p:cNvPr id="24" name="Text 22"/>
          <p:cNvSpPr txBox="1"/>
          <p:nvPr/>
        </p:nvSpPr>
        <p:spPr>
          <a:xfrm>
            <a:off x="9427464" y="1728216"/>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Jitter</a:t>
            </a:r>
            <a:endParaRPr lang="en-US" sz="1300" dirty="0"/>
          </a:p>
        </p:txBody>
      </p:sp>
      <p:sp>
        <p:nvSpPr>
          <p:cNvPr id="25" name="Text 23"/>
          <p:cNvSpPr txBox="1"/>
          <p:nvPr/>
        </p:nvSpPr>
        <p:spPr>
          <a:xfrm>
            <a:off x="9427464" y="2011680"/>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cycle-to-cycle frequency variation</a:t>
            </a:r>
            <a:endParaRPr lang="en-US" sz="1050" dirty="0"/>
          </a:p>
        </p:txBody>
      </p:sp>
      <p:sp>
        <p:nvSpPr>
          <p:cNvPr id="26" name="Shape 24"/>
          <p:cNvSpPr/>
          <p:nvPr/>
        </p:nvSpPr>
        <p:spPr>
          <a:xfrm>
            <a:off x="566928" y="2414016"/>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27" name="Shape 25"/>
          <p:cNvSpPr/>
          <p:nvPr/>
        </p:nvSpPr>
        <p:spPr>
          <a:xfrm>
            <a:off x="749808" y="2724912"/>
            <a:ext cx="109728" cy="109728"/>
          </a:xfrm>
          <a:prstGeom prst="ellipse">
            <a:avLst/>
          </a:prstGeom>
          <a:solidFill>
            <a:srgbClr val="7F9E2E"/>
          </a:solidFill>
          <a:ln w="12700">
            <a:solidFill>
              <a:srgbClr val="333333"/>
            </a:solidFill>
            <a:prstDash val="solid"/>
          </a:ln>
        </p:spPr>
        <p:txBody>
          <a:bodyPr/>
          <a:lstStyle/>
          <a:p>
            <a:endParaRPr lang="en-US"/>
          </a:p>
        </p:txBody>
      </p:sp>
      <p:sp>
        <p:nvSpPr>
          <p:cNvPr id="28" name="Text 26"/>
          <p:cNvSpPr txBox="1"/>
          <p:nvPr/>
        </p:nvSpPr>
        <p:spPr>
          <a:xfrm>
            <a:off x="950976" y="2532888"/>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Shimmer</a:t>
            </a:r>
            <a:endParaRPr lang="en-US" sz="1300" dirty="0"/>
          </a:p>
        </p:txBody>
      </p:sp>
      <p:sp>
        <p:nvSpPr>
          <p:cNvPr id="29" name="Text 27"/>
          <p:cNvSpPr txBox="1"/>
          <p:nvPr/>
        </p:nvSpPr>
        <p:spPr>
          <a:xfrm>
            <a:off x="950976" y="2816352"/>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cycle-to-cycle amplitude variation</a:t>
            </a:r>
            <a:endParaRPr lang="en-US" sz="1050" dirty="0"/>
          </a:p>
        </p:txBody>
      </p:sp>
      <p:sp>
        <p:nvSpPr>
          <p:cNvPr id="30" name="Shape 28"/>
          <p:cNvSpPr/>
          <p:nvPr/>
        </p:nvSpPr>
        <p:spPr>
          <a:xfrm>
            <a:off x="3392424" y="2414016"/>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31" name="Shape 29"/>
          <p:cNvSpPr/>
          <p:nvPr/>
        </p:nvSpPr>
        <p:spPr>
          <a:xfrm>
            <a:off x="3575304" y="2724912"/>
            <a:ext cx="109728" cy="109728"/>
          </a:xfrm>
          <a:prstGeom prst="ellipse">
            <a:avLst/>
          </a:prstGeom>
          <a:solidFill>
            <a:srgbClr val="7F9E2E"/>
          </a:solidFill>
          <a:ln w="12700">
            <a:solidFill>
              <a:srgbClr val="333333"/>
            </a:solidFill>
            <a:prstDash val="solid"/>
          </a:ln>
        </p:spPr>
        <p:txBody>
          <a:bodyPr/>
          <a:lstStyle/>
          <a:p>
            <a:endParaRPr lang="en-US"/>
          </a:p>
        </p:txBody>
      </p:sp>
      <p:sp>
        <p:nvSpPr>
          <p:cNvPr id="32" name="Text 30"/>
          <p:cNvSpPr txBox="1"/>
          <p:nvPr/>
        </p:nvSpPr>
        <p:spPr>
          <a:xfrm>
            <a:off x="3776472" y="2532888"/>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Intensity</a:t>
            </a:r>
            <a:endParaRPr lang="en-US" sz="1300" dirty="0"/>
          </a:p>
        </p:txBody>
      </p:sp>
      <p:sp>
        <p:nvSpPr>
          <p:cNvPr id="33" name="Text 31"/>
          <p:cNvSpPr txBox="1"/>
          <p:nvPr/>
        </p:nvSpPr>
        <p:spPr>
          <a:xfrm>
            <a:off x="3776472" y="2816352"/>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signal energy</a:t>
            </a:r>
            <a:endParaRPr lang="en-US" sz="1050" dirty="0"/>
          </a:p>
        </p:txBody>
      </p:sp>
      <p:sp>
        <p:nvSpPr>
          <p:cNvPr id="34" name="Shape 32"/>
          <p:cNvSpPr/>
          <p:nvPr/>
        </p:nvSpPr>
        <p:spPr>
          <a:xfrm>
            <a:off x="6217920" y="2414016"/>
            <a:ext cx="2697480" cy="731520"/>
          </a:xfrm>
          <a:prstGeom prst="roundRect">
            <a:avLst>
              <a:gd name="adj" fmla="val 6250"/>
            </a:avLst>
          </a:prstGeom>
          <a:solidFill>
            <a:srgbClr val="F3F1F6"/>
          </a:solidFill>
          <a:ln w="12700">
            <a:solidFill>
              <a:srgbClr val="E4E0EC"/>
            </a:solidFill>
            <a:prstDash val="solid"/>
          </a:ln>
        </p:spPr>
        <p:txBody>
          <a:bodyPr/>
          <a:lstStyle/>
          <a:p>
            <a:endParaRPr lang="en-US"/>
          </a:p>
        </p:txBody>
      </p:sp>
      <p:sp>
        <p:nvSpPr>
          <p:cNvPr id="35" name="Shape 33"/>
          <p:cNvSpPr/>
          <p:nvPr/>
        </p:nvSpPr>
        <p:spPr>
          <a:xfrm>
            <a:off x="6400800" y="2724912"/>
            <a:ext cx="109728" cy="109728"/>
          </a:xfrm>
          <a:prstGeom prst="ellipse">
            <a:avLst/>
          </a:prstGeom>
          <a:solidFill>
            <a:srgbClr val="7F9E2E"/>
          </a:solidFill>
          <a:ln w="12700">
            <a:solidFill>
              <a:srgbClr val="333333"/>
            </a:solidFill>
            <a:prstDash val="solid"/>
          </a:ln>
        </p:spPr>
        <p:txBody>
          <a:bodyPr/>
          <a:lstStyle/>
          <a:p>
            <a:endParaRPr lang="en-US"/>
          </a:p>
        </p:txBody>
      </p:sp>
      <p:sp>
        <p:nvSpPr>
          <p:cNvPr id="36" name="Text 34"/>
          <p:cNvSpPr txBox="1"/>
          <p:nvPr/>
        </p:nvSpPr>
        <p:spPr>
          <a:xfrm>
            <a:off x="6601968" y="2532888"/>
            <a:ext cx="2194560" cy="256032"/>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Articulation rate</a:t>
            </a:r>
            <a:endParaRPr lang="en-US" sz="1300" dirty="0"/>
          </a:p>
        </p:txBody>
      </p:sp>
      <p:sp>
        <p:nvSpPr>
          <p:cNvPr id="37" name="Text 35"/>
          <p:cNvSpPr txBox="1"/>
          <p:nvPr/>
        </p:nvSpPr>
        <p:spPr>
          <a:xfrm>
            <a:off x="6601968" y="2816352"/>
            <a:ext cx="2194560" cy="256032"/>
          </a:xfrm>
          <a:prstGeom prst="rect">
            <a:avLst/>
          </a:prstGeom>
          <a:noFill/>
          <a:ln/>
        </p:spPr>
        <p:txBody>
          <a:bodyPr wrap="square" lIns="0" tIns="0" rIns="0" bIns="0" rtlCol="0" anchor="ctr"/>
          <a:lstStyle/>
          <a:p>
            <a:pPr marL="0" indent="0">
              <a:buNone/>
            </a:pPr>
            <a:r>
              <a:rPr lang="en-US" sz="1050" dirty="0">
                <a:solidFill>
                  <a:srgbClr val="635A73"/>
                </a:solidFill>
                <a:latin typeface="Calibri" pitchFamily="34" charset="0"/>
                <a:ea typeface="Calibri" pitchFamily="34" charset="-122"/>
                <a:cs typeface="Calibri" pitchFamily="34" charset="-120"/>
              </a:rPr>
              <a:t>speaking rate excluding pauses</a:t>
            </a:r>
            <a:endParaRPr lang="en-US" sz="1050" dirty="0"/>
          </a:p>
        </p:txBody>
      </p:sp>
      <p:sp>
        <p:nvSpPr>
          <p:cNvPr id="38" name="Shape 36"/>
          <p:cNvSpPr/>
          <p:nvPr/>
        </p:nvSpPr>
        <p:spPr>
          <a:xfrm>
            <a:off x="566928" y="3291840"/>
            <a:ext cx="5440680" cy="1371600"/>
          </a:xfrm>
          <a:prstGeom prst="roundRect">
            <a:avLst>
              <a:gd name="adj" fmla="val 4000"/>
            </a:avLst>
          </a:prstGeom>
          <a:solidFill>
            <a:srgbClr val="F3F1F6"/>
          </a:solidFill>
          <a:ln w="12700">
            <a:solidFill>
              <a:srgbClr val="E4E0EC"/>
            </a:solidFill>
            <a:prstDash val="solid"/>
          </a:ln>
        </p:spPr>
        <p:txBody>
          <a:bodyPr/>
          <a:lstStyle/>
          <a:p>
            <a:endParaRPr lang="en-US"/>
          </a:p>
        </p:txBody>
      </p:sp>
      <p:sp>
        <p:nvSpPr>
          <p:cNvPr id="39" name="Shape 37"/>
          <p:cNvSpPr/>
          <p:nvPr/>
        </p:nvSpPr>
        <p:spPr>
          <a:xfrm>
            <a:off x="786384" y="3584448"/>
            <a:ext cx="109728" cy="109728"/>
          </a:xfrm>
          <a:prstGeom prst="ellipse">
            <a:avLst/>
          </a:prstGeom>
          <a:solidFill>
            <a:srgbClr val="5E4E7A"/>
          </a:solidFill>
          <a:ln w="12700">
            <a:solidFill>
              <a:srgbClr val="333333"/>
            </a:solidFill>
            <a:prstDash val="solid"/>
          </a:ln>
        </p:spPr>
        <p:txBody>
          <a:bodyPr/>
          <a:lstStyle/>
          <a:p>
            <a:endParaRPr lang="en-US"/>
          </a:p>
        </p:txBody>
      </p:sp>
      <p:sp>
        <p:nvSpPr>
          <p:cNvPr id="40" name="Text 38"/>
          <p:cNvSpPr txBox="1"/>
          <p:nvPr/>
        </p:nvSpPr>
        <p:spPr>
          <a:xfrm>
            <a:off x="987552" y="345643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Extraction</a:t>
            </a:r>
            <a:endParaRPr lang="en-US" sz="1500" dirty="0"/>
          </a:p>
        </p:txBody>
      </p:sp>
      <p:sp>
        <p:nvSpPr>
          <p:cNvPr id="41" name="Text 39"/>
          <p:cNvSpPr txBox="1"/>
          <p:nvPr/>
        </p:nvSpPr>
        <p:spPr>
          <a:xfrm>
            <a:off x="822960" y="3895344"/>
            <a:ext cx="4928616" cy="585216"/>
          </a:xfrm>
          <a:prstGeom prst="rect">
            <a:avLst/>
          </a:prstGeom>
          <a:noFill/>
          <a:ln/>
        </p:spPr>
        <p:txBody>
          <a:bodyPr wrap="square" lIns="0" tIns="0" rIns="0" bIns="0" rtlCol="0" anchor="t"/>
          <a:lstStyle/>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Computed with openSMILE over the full utterance — the same toolkit behind eGeMAPS, which we met in the MSP-Podcast session as the retrieval feature set.</a:t>
            </a:r>
            <a:endParaRPr lang="en-US" sz="1260" dirty="0"/>
          </a:p>
        </p:txBody>
      </p:sp>
      <p:sp>
        <p:nvSpPr>
          <p:cNvPr id="42" name="Shape 40"/>
          <p:cNvSpPr/>
          <p:nvPr/>
        </p:nvSpPr>
        <p:spPr>
          <a:xfrm>
            <a:off x="6190488" y="3291840"/>
            <a:ext cx="5440680" cy="1371600"/>
          </a:xfrm>
          <a:prstGeom prst="roundRect">
            <a:avLst>
              <a:gd name="adj" fmla="val 4000"/>
            </a:avLst>
          </a:prstGeom>
          <a:solidFill>
            <a:srgbClr val="F3F1F6"/>
          </a:solidFill>
          <a:ln w="12700">
            <a:solidFill>
              <a:srgbClr val="E4E0EC"/>
            </a:solidFill>
            <a:prstDash val="solid"/>
          </a:ln>
        </p:spPr>
        <p:txBody>
          <a:bodyPr/>
          <a:lstStyle/>
          <a:p>
            <a:endParaRPr lang="en-US"/>
          </a:p>
        </p:txBody>
      </p:sp>
      <p:sp>
        <p:nvSpPr>
          <p:cNvPr id="43" name="Shape 41"/>
          <p:cNvSpPr/>
          <p:nvPr/>
        </p:nvSpPr>
        <p:spPr>
          <a:xfrm>
            <a:off x="6409944" y="3584448"/>
            <a:ext cx="109728" cy="109728"/>
          </a:xfrm>
          <a:prstGeom prst="ellipse">
            <a:avLst/>
          </a:prstGeom>
          <a:solidFill>
            <a:srgbClr val="7F9E2E"/>
          </a:solidFill>
          <a:ln w="12700">
            <a:solidFill>
              <a:srgbClr val="333333"/>
            </a:solidFill>
            <a:prstDash val="solid"/>
          </a:ln>
        </p:spPr>
        <p:txBody>
          <a:bodyPr/>
          <a:lstStyle/>
          <a:p>
            <a:endParaRPr lang="en-US"/>
          </a:p>
        </p:txBody>
      </p:sp>
      <p:sp>
        <p:nvSpPr>
          <p:cNvPr id="44" name="Text 42"/>
          <p:cNvSpPr txBox="1"/>
          <p:nvPr/>
        </p:nvSpPr>
        <p:spPr>
          <a:xfrm>
            <a:off x="6611112" y="345643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Discretisation</a:t>
            </a:r>
            <a:endParaRPr lang="en-US" sz="1500" dirty="0"/>
          </a:p>
        </p:txBody>
      </p:sp>
      <p:sp>
        <p:nvSpPr>
          <p:cNvPr id="45" name="Text 43"/>
          <p:cNvSpPr txBox="1"/>
          <p:nvPr/>
        </p:nvSpPr>
        <p:spPr>
          <a:xfrm>
            <a:off x="6446520" y="3895344"/>
            <a:ext cx="4928616" cy="585216"/>
          </a:xfrm>
          <a:prstGeom prst="rect">
            <a:avLst/>
          </a:prstGeom>
          <a:noFill/>
          <a:ln/>
        </p:spPr>
        <p:txBody>
          <a:bodyPr wrap="square" lIns="0" tIns="0" rIns="0" bIns="0" rtlCol="0" anchor="t"/>
          <a:lstStyle/>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Each feature is binned into low, normal or high based on empirical value distributions computed over the corpus — so the thresholds are corpus-relative, not absolute.</a:t>
            </a:r>
            <a:endParaRPr lang="en-US" sz="1260" dirty="0"/>
          </a:p>
        </p:txBody>
      </p:sp>
      <p:sp>
        <p:nvSpPr>
          <p:cNvPr id="46" name="Shape 44"/>
          <p:cNvSpPr/>
          <p:nvPr/>
        </p:nvSpPr>
        <p:spPr>
          <a:xfrm>
            <a:off x="566928" y="4773168"/>
            <a:ext cx="11064240" cy="1280160"/>
          </a:xfrm>
          <a:prstGeom prst="roundRect">
            <a:avLst>
              <a:gd name="adj" fmla="val 4286"/>
            </a:avLst>
          </a:prstGeom>
          <a:solidFill>
            <a:srgbClr val="2B2535"/>
          </a:solidFill>
          <a:ln w="12700">
            <a:solidFill>
              <a:srgbClr val="2B2535"/>
            </a:solidFill>
            <a:prstDash val="solid"/>
          </a:ln>
        </p:spPr>
        <p:txBody>
          <a:bodyPr/>
          <a:lstStyle/>
          <a:p>
            <a:endParaRPr lang="en-US"/>
          </a:p>
        </p:txBody>
      </p:sp>
      <p:sp>
        <p:nvSpPr>
          <p:cNvPr id="47" name="Shape 45"/>
          <p:cNvSpPr/>
          <p:nvPr/>
        </p:nvSpPr>
        <p:spPr>
          <a:xfrm>
            <a:off x="786384" y="5065776"/>
            <a:ext cx="109728" cy="109728"/>
          </a:xfrm>
          <a:prstGeom prst="ellipse">
            <a:avLst/>
          </a:prstGeom>
          <a:solidFill>
            <a:srgbClr val="7F9E2E"/>
          </a:solidFill>
          <a:ln w="12700">
            <a:solidFill>
              <a:srgbClr val="333333"/>
            </a:solidFill>
            <a:prstDash val="solid"/>
          </a:ln>
        </p:spPr>
        <p:txBody>
          <a:bodyPr/>
          <a:lstStyle/>
          <a:p>
            <a:endParaRPr lang="en-US"/>
          </a:p>
        </p:txBody>
      </p:sp>
      <p:sp>
        <p:nvSpPr>
          <p:cNvPr id="48" name="Text 46"/>
          <p:cNvSpPr txBox="1"/>
          <p:nvPr/>
        </p:nvSpPr>
        <p:spPr>
          <a:xfrm>
            <a:off x="987552" y="493776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discretisation is the design decision</a:t>
            </a:r>
            <a:endParaRPr lang="en-US" sz="1500" dirty="0"/>
          </a:p>
        </p:txBody>
      </p:sp>
      <p:sp>
        <p:nvSpPr>
          <p:cNvPr id="49" name="Text 47"/>
          <p:cNvSpPr txBox="1"/>
          <p:nvPr/>
        </p:nvSpPr>
        <p:spPr>
          <a:xfrm>
            <a:off x="822960" y="5376672"/>
            <a:ext cx="10552176" cy="493776"/>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A continuous pitch value in hertz means nothing to a language model. The categorical label 'high' is a token it can reason about. This is the step that turns a measurement into something compositional — and section 4 shows what happens when you skip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The textual and cross-modal attributes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Two more models in the pipeline</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9</a:t>
            </a:r>
            <a:endParaRPr lang="en-US" sz="900" dirty="0"/>
          </a:p>
        </p:txBody>
      </p:sp>
      <p:sp>
        <p:nvSpPr>
          <p:cNvPr id="10" name="Shape 8"/>
          <p:cNvSpPr/>
          <p:nvPr/>
        </p:nvSpPr>
        <p:spPr>
          <a:xfrm>
            <a:off x="566928" y="1600200"/>
            <a:ext cx="5440680" cy="2286000"/>
          </a:xfrm>
          <a:prstGeom prst="roundRect">
            <a:avLst>
              <a:gd name="adj" fmla="val 2400"/>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786384" y="1892808"/>
            <a:ext cx="109728" cy="109728"/>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Textual attributes</a:t>
            </a:r>
            <a:endParaRPr lang="en-US" sz="1500" dirty="0"/>
          </a:p>
        </p:txBody>
      </p:sp>
      <p:sp>
        <p:nvSpPr>
          <p:cNvPr id="13" name="Text 11"/>
          <p:cNvSpPr txBox="1"/>
          <p:nvPr/>
        </p:nvSpPr>
        <p:spPr>
          <a:xfrm>
            <a:off x="822960" y="2203704"/>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A RoBERTa-based sentiment classifier predicts sentence-level polarity as positive, negative or neutral from the transcript.</a:t>
            </a:r>
            <a:endParaRPr lang="en-US" sz="1260" dirty="0"/>
          </a:p>
          <a:p>
            <a:pPr marL="0" indent="0">
              <a:lnSpc>
                <a:spcPct val="108000"/>
              </a:lnSpc>
              <a:buNone/>
            </a:pPr>
            <a:endParaRPr lang="en-US" sz="1260" dirty="0"/>
          </a:p>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KeyBERT additionally extracts emotionally salient keywords by semantic similarity.</a:t>
            </a:r>
            <a:endParaRPr lang="en-US" sz="1260" dirty="0"/>
          </a:p>
          <a:p>
            <a:pPr marL="0" indent="0">
              <a:lnSpc>
                <a:spcPct val="108000"/>
              </a:lnSpc>
              <a:buNone/>
            </a:pPr>
            <a:endParaRPr lang="en-US" sz="1260" dirty="0"/>
          </a:p>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For IEMOCAP and MELD the transcripts are the corpora's own; for ESD and MERBench, which lack transcripts, Whisper is used.</a:t>
            </a:r>
            <a:endParaRPr lang="en-US" sz="1260" dirty="0"/>
          </a:p>
        </p:txBody>
      </p:sp>
      <p:sp>
        <p:nvSpPr>
          <p:cNvPr id="14" name="Shape 12"/>
          <p:cNvSpPr/>
          <p:nvPr/>
        </p:nvSpPr>
        <p:spPr>
          <a:xfrm>
            <a:off x="6190488" y="1600200"/>
            <a:ext cx="5440680" cy="2286000"/>
          </a:xfrm>
          <a:prstGeom prst="roundRect">
            <a:avLst>
              <a:gd name="adj" fmla="val 2400"/>
            </a:avLst>
          </a:prstGeom>
          <a:solidFill>
            <a:srgbClr val="F3F1F6"/>
          </a:solidFill>
          <a:ln w="12700">
            <a:solidFill>
              <a:srgbClr val="E4E0EC"/>
            </a:solidFill>
            <a:prstDash val="solid"/>
          </a:ln>
        </p:spPr>
        <p:txBody>
          <a:bodyPr/>
          <a:lstStyle/>
          <a:p>
            <a:endParaRPr lang="en-US"/>
          </a:p>
        </p:txBody>
      </p:sp>
      <p:sp>
        <p:nvSpPr>
          <p:cNvPr id="15" name="Shape 13"/>
          <p:cNvSpPr/>
          <p:nvPr/>
        </p:nvSpPr>
        <p:spPr>
          <a:xfrm>
            <a:off x="6409944" y="1892808"/>
            <a:ext cx="109728" cy="109728"/>
          </a:xfrm>
          <a:prstGeom prst="ellipse">
            <a:avLst/>
          </a:prstGeom>
          <a:solidFill>
            <a:srgbClr val="7F9E2E"/>
          </a:solidFill>
          <a:ln w="12700">
            <a:solidFill>
              <a:srgbClr val="333333"/>
            </a:solidFill>
            <a:prstDash val="solid"/>
          </a:ln>
        </p:spPr>
        <p:txBody>
          <a:bodyPr/>
          <a:lstStyle/>
          <a:p>
            <a:endParaRPr lang="en-US"/>
          </a:p>
        </p:txBody>
      </p:sp>
      <p:sp>
        <p:nvSpPr>
          <p:cNvPr id="16" name="Text 14"/>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Cross-modal relationships</a:t>
            </a:r>
            <a:endParaRPr lang="en-US" sz="1500" dirty="0"/>
          </a:p>
        </p:txBody>
      </p:sp>
      <p:sp>
        <p:nvSpPr>
          <p:cNvPr id="17" name="Text 15"/>
          <p:cNvSpPr txBox="1"/>
          <p:nvPr/>
        </p:nvSpPr>
        <p:spPr>
          <a:xfrm>
            <a:off x="6446520" y="2203704"/>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GPT-4 is prompted with the acoustic cues and the textual sentiment and asked to determine whether each cue supports, contradicts, or is neutral with respect to the sentiment.</a:t>
            </a:r>
            <a:endParaRPr lang="en-US" sz="1260" dirty="0"/>
          </a:p>
          <a:p>
            <a:pPr marL="0" indent="0">
              <a:lnSpc>
                <a:spcPct val="108000"/>
              </a:lnSpc>
              <a:buNone/>
            </a:pPr>
            <a:endParaRPr lang="en-US" sz="1260" dirty="0"/>
          </a:p>
          <a:p>
            <a:pPr marL="0" indent="0">
              <a:lnSpc>
                <a:spcPct val="108000"/>
              </a:lnSpc>
              <a:buNone/>
            </a:pPr>
            <a:r>
              <a:rPr lang="en-US" sz="1260" dirty="0">
                <a:solidFill>
                  <a:srgbClr val="2F2838"/>
                </a:solidFill>
                <a:latin typeface="Calibri" pitchFamily="34" charset="0"/>
                <a:ea typeface="Calibri" pitchFamily="34" charset="-122"/>
                <a:cs typeface="Calibri" pitchFamily="34" charset="-120"/>
              </a:rPr>
              <a:t>This is the part that captures the interaction the paper is after: a high pitch supporting a positive sentiment reads differently from a high pitch contradicting one.</a:t>
            </a:r>
            <a:endParaRPr lang="en-US" sz="1260" dirty="0"/>
          </a:p>
        </p:txBody>
      </p:sp>
      <p:sp>
        <p:nvSpPr>
          <p:cNvPr id="18" name="Shape 16"/>
          <p:cNvSpPr/>
          <p:nvPr/>
        </p:nvSpPr>
        <p:spPr>
          <a:xfrm>
            <a:off x="566928" y="4041648"/>
            <a:ext cx="11064240" cy="2011680"/>
          </a:xfrm>
          <a:prstGeom prst="roundRect">
            <a:avLst>
              <a:gd name="adj" fmla="val 2727"/>
            </a:avLst>
          </a:prstGeom>
          <a:solidFill>
            <a:srgbClr val="2B2535"/>
          </a:solidFill>
          <a:ln w="12700">
            <a:solidFill>
              <a:srgbClr val="2B2535"/>
            </a:solidFill>
            <a:prstDash val="solid"/>
          </a:ln>
        </p:spPr>
        <p:txBody>
          <a:bodyPr/>
          <a:lstStyle/>
          <a:p>
            <a:endParaRPr lang="en-US"/>
          </a:p>
        </p:txBody>
      </p:sp>
      <p:sp>
        <p:nvSpPr>
          <p:cNvPr id="19" name="Shape 17"/>
          <p:cNvSpPr/>
          <p:nvPr/>
        </p:nvSpPr>
        <p:spPr>
          <a:xfrm>
            <a:off x="786384" y="4334256"/>
            <a:ext cx="109728" cy="109728"/>
          </a:xfrm>
          <a:prstGeom prst="ellipse">
            <a:avLst/>
          </a:prstGeom>
          <a:solidFill>
            <a:srgbClr val="7F9E2E"/>
          </a:solidFill>
          <a:ln w="12700">
            <a:solidFill>
              <a:srgbClr val="333333"/>
            </a:solidFill>
            <a:prstDash val="solid"/>
          </a:ln>
        </p:spPr>
        <p:txBody>
          <a:bodyPr/>
          <a:lstStyle/>
          <a:p>
            <a:endParaRPr lang="en-US"/>
          </a:p>
        </p:txBody>
      </p:sp>
      <p:sp>
        <p:nvSpPr>
          <p:cNvPr id="20" name="Text 18"/>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Count the models in the pipeline</a:t>
            </a:r>
            <a:endParaRPr lang="en-US" sz="1500" dirty="0"/>
          </a:p>
        </p:txBody>
      </p:sp>
      <p:sp>
        <p:nvSpPr>
          <p:cNvPr id="21" name="Text 19"/>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openSMILE, a RoBERTa sentiment classifier, KeyBERT, GPT-4, sometimes Whisper — and then the audio LLM itself. Six components for one prediction.</a:t>
            </a:r>
            <a:endParaRPr lang="en-US" sz="1300" dirty="0"/>
          </a:p>
          <a:p>
            <a:pPr marL="0" indent="0">
              <a:lnSpc>
                <a:spcPct val="108000"/>
              </a:lnSpc>
              <a:buNone/>
            </a:pPr>
            <a:endParaRPr lang="en-US" sz="1300" dirty="0"/>
          </a:p>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None of them is fine-tuned on the target task, so 'training-free' is accurate. But the RoBERTa classifier was supervised on sentiment, and GPT-4 is doing a reasoning step before the 'zero-shot' model reasons. Hold that until section 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Stage 2: the prompt</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Five concatenated elements</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10</a:t>
            </a:r>
            <a:endParaRPr lang="en-US" sz="900" dirty="0"/>
          </a:p>
        </p:txBody>
      </p:sp>
      <p:sp>
        <p:nvSpPr>
          <p:cNvPr id="10" name="Shape 8"/>
          <p:cNvSpPr/>
          <p:nvPr/>
        </p:nvSpPr>
        <p:spPr>
          <a:xfrm>
            <a:off x="566928" y="1591056"/>
            <a:ext cx="11064240" cy="694944"/>
          </a:xfrm>
          <a:prstGeom prst="roundRect">
            <a:avLst>
              <a:gd name="adj" fmla="val 5263"/>
            </a:avLst>
          </a:prstGeom>
          <a:solidFill>
            <a:srgbClr val="F3F1F6"/>
          </a:solidFill>
          <a:ln w="12700">
            <a:solidFill>
              <a:srgbClr val="EAE6F0"/>
            </a:solidFill>
            <a:prstDash val="solid"/>
          </a:ln>
        </p:spPr>
        <p:txBody>
          <a:bodyPr/>
          <a:lstStyle/>
          <a:p>
            <a:endParaRPr lang="en-US"/>
          </a:p>
        </p:txBody>
      </p:sp>
      <p:sp>
        <p:nvSpPr>
          <p:cNvPr id="11" name="Shape 9"/>
          <p:cNvSpPr/>
          <p:nvPr/>
        </p:nvSpPr>
        <p:spPr>
          <a:xfrm>
            <a:off x="804672" y="1773936"/>
            <a:ext cx="603504" cy="329184"/>
          </a:xfrm>
          <a:prstGeom prst="roundRect">
            <a:avLst>
              <a:gd name="adj" fmla="val 11111"/>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804672" y="1819656"/>
            <a:ext cx="603504"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a:t>
            </a:r>
            <a:endParaRPr lang="en-US" sz="1200" dirty="0"/>
          </a:p>
        </p:txBody>
      </p:sp>
      <p:sp>
        <p:nvSpPr>
          <p:cNvPr id="13" name="Text 11"/>
          <p:cNvSpPr txBox="1"/>
          <p:nvPr/>
        </p:nvSpPr>
        <p:spPr>
          <a:xfrm>
            <a:off x="1572768" y="1737360"/>
            <a:ext cx="9875520" cy="420624"/>
          </a:xfrm>
          <a:prstGeom prst="rect">
            <a:avLst/>
          </a:prstGeom>
          <a:noFill/>
          <a:ln/>
        </p:spPr>
        <p:txBody>
          <a:bodyPr wrap="square" lIns="0" tIns="0" rIns="0" bIns="0" rtlCol="0" anchor="ctr"/>
          <a:lstStyle/>
          <a:p>
            <a:pPr marL="0" indent="0">
              <a:buNone/>
            </a:pPr>
            <a:r>
              <a:rPr lang="en-US" sz="1240" dirty="0">
                <a:solidFill>
                  <a:srgbClr val="2F2838"/>
                </a:solidFill>
                <a:latin typeface="Calibri" pitchFamily="34" charset="0"/>
                <a:ea typeface="Calibri" pitchFamily="34" charset="-122"/>
                <a:cs typeface="Calibri" pitchFamily="34" charset="-120"/>
              </a:rPr>
              <a:t>the raw audio input</a:t>
            </a:r>
            <a:endParaRPr lang="en-US" sz="1240" dirty="0"/>
          </a:p>
        </p:txBody>
      </p:sp>
      <p:sp>
        <p:nvSpPr>
          <p:cNvPr id="14" name="Shape 12"/>
          <p:cNvSpPr/>
          <p:nvPr/>
        </p:nvSpPr>
        <p:spPr>
          <a:xfrm>
            <a:off x="566928" y="2340864"/>
            <a:ext cx="11064240" cy="694944"/>
          </a:xfrm>
          <a:prstGeom prst="roundRect">
            <a:avLst>
              <a:gd name="adj" fmla="val 5263"/>
            </a:avLst>
          </a:prstGeom>
          <a:solidFill>
            <a:srgbClr val="FFFFFF"/>
          </a:solidFill>
          <a:ln w="12700">
            <a:solidFill>
              <a:srgbClr val="EAE6F0"/>
            </a:solidFill>
            <a:prstDash val="solid"/>
          </a:ln>
        </p:spPr>
        <p:txBody>
          <a:bodyPr/>
          <a:lstStyle/>
          <a:p>
            <a:endParaRPr lang="en-US"/>
          </a:p>
        </p:txBody>
      </p:sp>
      <p:sp>
        <p:nvSpPr>
          <p:cNvPr id="15" name="Shape 13"/>
          <p:cNvSpPr/>
          <p:nvPr/>
        </p:nvSpPr>
        <p:spPr>
          <a:xfrm>
            <a:off x="804672" y="2523744"/>
            <a:ext cx="603504" cy="329184"/>
          </a:xfrm>
          <a:prstGeom prst="roundRect">
            <a:avLst>
              <a:gd name="adj" fmla="val 11111"/>
            </a:avLst>
          </a:prstGeom>
          <a:solidFill>
            <a:srgbClr val="7F9E2E"/>
          </a:solidFill>
          <a:ln w="12700">
            <a:solidFill>
              <a:srgbClr val="333333"/>
            </a:solidFill>
            <a:prstDash val="solid"/>
          </a:ln>
        </p:spPr>
        <p:txBody>
          <a:bodyPr/>
          <a:lstStyle/>
          <a:p>
            <a:endParaRPr lang="en-US"/>
          </a:p>
        </p:txBody>
      </p:sp>
      <p:sp>
        <p:nvSpPr>
          <p:cNvPr id="16" name="Text 14"/>
          <p:cNvSpPr txBox="1"/>
          <p:nvPr/>
        </p:nvSpPr>
        <p:spPr>
          <a:xfrm>
            <a:off x="804672" y="2569464"/>
            <a:ext cx="603504"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E_g</a:t>
            </a:r>
            <a:endParaRPr lang="en-US" sz="1200" dirty="0"/>
          </a:p>
        </p:txBody>
      </p:sp>
      <p:sp>
        <p:nvSpPr>
          <p:cNvPr id="17" name="Text 15"/>
          <p:cNvSpPr txBox="1"/>
          <p:nvPr/>
        </p:nvSpPr>
        <p:spPr>
          <a:xfrm>
            <a:off x="1572768" y="2487168"/>
            <a:ext cx="9875520" cy="420624"/>
          </a:xfrm>
          <a:prstGeom prst="rect">
            <a:avLst/>
          </a:prstGeom>
          <a:noFill/>
          <a:ln/>
        </p:spPr>
        <p:txBody>
          <a:bodyPr wrap="square" lIns="0" tIns="0" rIns="0" bIns="0" rtlCol="0" anchor="ctr"/>
          <a:lstStyle/>
          <a:p>
            <a:pPr marL="0" indent="0">
              <a:buNone/>
            </a:pPr>
            <a:r>
              <a:rPr lang="en-US" sz="1240" dirty="0">
                <a:solidFill>
                  <a:srgbClr val="2F2838"/>
                </a:solidFill>
                <a:latin typeface="Calibri" pitchFamily="34" charset="0"/>
                <a:ea typeface="Calibri" pitchFamily="34" charset="-122"/>
                <a:cs typeface="Calibri" pitchFamily="34" charset="-120"/>
              </a:rPr>
              <a:t>the Emotion Graph as JSON</a:t>
            </a:r>
            <a:endParaRPr lang="en-US" sz="1240" dirty="0"/>
          </a:p>
        </p:txBody>
      </p:sp>
      <p:sp>
        <p:nvSpPr>
          <p:cNvPr id="18" name="Shape 16"/>
          <p:cNvSpPr/>
          <p:nvPr/>
        </p:nvSpPr>
        <p:spPr>
          <a:xfrm>
            <a:off x="566928" y="3090672"/>
            <a:ext cx="11064240" cy="694944"/>
          </a:xfrm>
          <a:prstGeom prst="roundRect">
            <a:avLst>
              <a:gd name="adj" fmla="val 5263"/>
            </a:avLst>
          </a:prstGeom>
          <a:solidFill>
            <a:srgbClr val="F3F1F6"/>
          </a:solidFill>
          <a:ln w="12700">
            <a:solidFill>
              <a:srgbClr val="EAE6F0"/>
            </a:solidFill>
            <a:prstDash val="solid"/>
          </a:ln>
        </p:spPr>
        <p:txBody>
          <a:bodyPr/>
          <a:lstStyle/>
          <a:p>
            <a:endParaRPr lang="en-US"/>
          </a:p>
        </p:txBody>
      </p:sp>
      <p:sp>
        <p:nvSpPr>
          <p:cNvPr id="19" name="Shape 17"/>
          <p:cNvSpPr/>
          <p:nvPr/>
        </p:nvSpPr>
        <p:spPr>
          <a:xfrm>
            <a:off x="804672" y="3273552"/>
            <a:ext cx="603504" cy="329184"/>
          </a:xfrm>
          <a:prstGeom prst="roundRect">
            <a:avLst>
              <a:gd name="adj" fmla="val 11111"/>
            </a:avLst>
          </a:prstGeom>
          <a:solidFill>
            <a:srgbClr val="5E4E7A"/>
          </a:solidFill>
          <a:ln w="12700">
            <a:solidFill>
              <a:srgbClr val="333333"/>
            </a:solidFill>
            <a:prstDash val="solid"/>
          </a:ln>
        </p:spPr>
        <p:txBody>
          <a:bodyPr/>
          <a:lstStyle/>
          <a:p>
            <a:endParaRPr lang="en-US"/>
          </a:p>
        </p:txBody>
      </p:sp>
      <p:sp>
        <p:nvSpPr>
          <p:cNvPr id="20" name="Text 18"/>
          <p:cNvSpPr txBox="1"/>
          <p:nvPr/>
        </p:nvSpPr>
        <p:spPr>
          <a:xfrm>
            <a:off x="804672" y="3319272"/>
            <a:ext cx="603504"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a:t>
            </a:r>
            <a:endParaRPr lang="en-US" sz="1200" dirty="0"/>
          </a:p>
        </p:txBody>
      </p:sp>
      <p:sp>
        <p:nvSpPr>
          <p:cNvPr id="21" name="Text 19"/>
          <p:cNvSpPr txBox="1"/>
          <p:nvPr/>
        </p:nvSpPr>
        <p:spPr>
          <a:xfrm>
            <a:off x="1572768" y="3236976"/>
            <a:ext cx="9875520" cy="420624"/>
          </a:xfrm>
          <a:prstGeom prst="rect">
            <a:avLst/>
          </a:prstGeom>
          <a:noFill/>
          <a:ln/>
        </p:spPr>
        <p:txBody>
          <a:bodyPr wrap="square" lIns="0" tIns="0" rIns="0" bIns="0" rtlCol="0" anchor="ctr"/>
          <a:lstStyle/>
          <a:p>
            <a:pPr marL="0" indent="0">
              <a:buNone/>
            </a:pPr>
            <a:r>
              <a:rPr lang="en-US" sz="1240" dirty="0">
                <a:solidFill>
                  <a:srgbClr val="2F2838"/>
                </a:solidFill>
                <a:latin typeface="Calibri" pitchFamily="34" charset="0"/>
                <a:ea typeface="Calibri" pitchFamily="34" charset="-122"/>
                <a:cs typeface="Calibri" pitchFamily="34" charset="-120"/>
              </a:rPr>
              <a:t>"Use the audio and emotion graph as context and answer the following question."</a:t>
            </a:r>
            <a:endParaRPr lang="en-US" sz="1240" dirty="0"/>
          </a:p>
        </p:txBody>
      </p:sp>
      <p:sp>
        <p:nvSpPr>
          <p:cNvPr id="22" name="Shape 20"/>
          <p:cNvSpPr/>
          <p:nvPr/>
        </p:nvSpPr>
        <p:spPr>
          <a:xfrm>
            <a:off x="566928" y="3840480"/>
            <a:ext cx="11064240" cy="694944"/>
          </a:xfrm>
          <a:prstGeom prst="roundRect">
            <a:avLst>
              <a:gd name="adj" fmla="val 5263"/>
            </a:avLst>
          </a:prstGeom>
          <a:solidFill>
            <a:srgbClr val="FFFFFF"/>
          </a:solidFill>
          <a:ln w="12700">
            <a:solidFill>
              <a:srgbClr val="EAE6F0"/>
            </a:solidFill>
            <a:prstDash val="solid"/>
          </a:ln>
        </p:spPr>
        <p:txBody>
          <a:bodyPr/>
          <a:lstStyle/>
          <a:p>
            <a:endParaRPr lang="en-US"/>
          </a:p>
        </p:txBody>
      </p:sp>
      <p:sp>
        <p:nvSpPr>
          <p:cNvPr id="23" name="Shape 21"/>
          <p:cNvSpPr/>
          <p:nvPr/>
        </p:nvSpPr>
        <p:spPr>
          <a:xfrm>
            <a:off x="804672" y="4023360"/>
            <a:ext cx="603504" cy="329184"/>
          </a:xfrm>
          <a:prstGeom prst="roundRect">
            <a:avLst>
              <a:gd name="adj" fmla="val 11111"/>
            </a:avLst>
          </a:prstGeom>
          <a:solidFill>
            <a:srgbClr val="5E4E7A"/>
          </a:solidFill>
          <a:ln w="12700">
            <a:solidFill>
              <a:srgbClr val="333333"/>
            </a:solidFill>
            <a:prstDash val="solid"/>
          </a:ln>
        </p:spPr>
        <p:txBody>
          <a:bodyPr/>
          <a:lstStyle/>
          <a:p>
            <a:endParaRPr lang="en-US"/>
          </a:p>
        </p:txBody>
      </p:sp>
      <p:sp>
        <p:nvSpPr>
          <p:cNvPr id="24" name="Text 22"/>
          <p:cNvSpPr txBox="1"/>
          <p:nvPr/>
        </p:nvSpPr>
        <p:spPr>
          <a:xfrm>
            <a:off x="804672" y="4069080"/>
            <a:ext cx="603504"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P_in</a:t>
            </a:r>
            <a:endParaRPr lang="en-US" sz="1200" dirty="0"/>
          </a:p>
        </p:txBody>
      </p:sp>
      <p:sp>
        <p:nvSpPr>
          <p:cNvPr id="25" name="Text 23"/>
          <p:cNvSpPr txBox="1"/>
          <p:nvPr/>
        </p:nvSpPr>
        <p:spPr>
          <a:xfrm>
            <a:off x="1572768" y="3986784"/>
            <a:ext cx="9875520" cy="420624"/>
          </a:xfrm>
          <a:prstGeom prst="rect">
            <a:avLst/>
          </a:prstGeom>
          <a:noFill/>
          <a:ln/>
        </p:spPr>
        <p:txBody>
          <a:bodyPr wrap="square" lIns="0" tIns="0" rIns="0" bIns="0" rtlCol="0" anchor="ctr"/>
          <a:lstStyle/>
          <a:p>
            <a:pPr marL="0" indent="0">
              <a:buNone/>
            </a:pPr>
            <a:r>
              <a:rPr lang="en-US" sz="1240" dirty="0">
                <a:solidFill>
                  <a:srgbClr val="2F2838"/>
                </a:solidFill>
                <a:latin typeface="Calibri" pitchFamily="34" charset="0"/>
                <a:ea typeface="Calibri" pitchFamily="34" charset="-122"/>
                <a:cs typeface="Calibri" pitchFamily="34" charset="-120"/>
              </a:rPr>
              <a:t>"Task: Recognize the emotion with keywords in English: (A) Neutral (B) Happy (C) Sad (D) Surprised (E) Angry."</a:t>
            </a:r>
            <a:endParaRPr lang="en-US" sz="1240" dirty="0"/>
          </a:p>
        </p:txBody>
      </p:sp>
      <p:sp>
        <p:nvSpPr>
          <p:cNvPr id="26" name="Shape 24"/>
          <p:cNvSpPr/>
          <p:nvPr/>
        </p:nvSpPr>
        <p:spPr>
          <a:xfrm>
            <a:off x="566928" y="4590288"/>
            <a:ext cx="11064240" cy="694944"/>
          </a:xfrm>
          <a:prstGeom prst="roundRect">
            <a:avLst>
              <a:gd name="adj" fmla="val 5263"/>
            </a:avLst>
          </a:prstGeom>
          <a:solidFill>
            <a:srgbClr val="F3F1F6"/>
          </a:solidFill>
          <a:ln w="12700">
            <a:solidFill>
              <a:srgbClr val="EAE6F0"/>
            </a:solidFill>
            <a:prstDash val="solid"/>
          </a:ln>
        </p:spPr>
        <p:txBody>
          <a:bodyPr/>
          <a:lstStyle/>
          <a:p>
            <a:endParaRPr lang="en-US"/>
          </a:p>
        </p:txBody>
      </p:sp>
      <p:sp>
        <p:nvSpPr>
          <p:cNvPr id="27" name="Shape 25"/>
          <p:cNvSpPr/>
          <p:nvPr/>
        </p:nvSpPr>
        <p:spPr>
          <a:xfrm>
            <a:off x="804672" y="4773168"/>
            <a:ext cx="603504" cy="329184"/>
          </a:xfrm>
          <a:prstGeom prst="roundRect">
            <a:avLst>
              <a:gd name="adj" fmla="val 11111"/>
            </a:avLst>
          </a:prstGeom>
          <a:solidFill>
            <a:srgbClr val="7F9E2E"/>
          </a:solidFill>
          <a:ln w="12700">
            <a:solidFill>
              <a:srgbClr val="333333"/>
            </a:solidFill>
            <a:prstDash val="solid"/>
          </a:ln>
        </p:spPr>
        <p:txBody>
          <a:bodyPr/>
          <a:lstStyle/>
          <a:p>
            <a:endParaRPr lang="en-US"/>
          </a:p>
        </p:txBody>
      </p:sp>
      <p:sp>
        <p:nvSpPr>
          <p:cNvPr id="28" name="Text 26"/>
          <p:cNvSpPr txBox="1"/>
          <p:nvPr/>
        </p:nvSpPr>
        <p:spPr>
          <a:xfrm>
            <a:off x="804672" y="4818888"/>
            <a:ext cx="603504"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S</a:t>
            </a:r>
            <a:endParaRPr lang="en-US" sz="1200" dirty="0"/>
          </a:p>
        </p:txBody>
      </p:sp>
      <p:sp>
        <p:nvSpPr>
          <p:cNvPr id="29" name="Text 27"/>
          <p:cNvSpPr txBox="1"/>
          <p:nvPr/>
        </p:nvSpPr>
        <p:spPr>
          <a:xfrm>
            <a:off x="1572768" y="4736592"/>
            <a:ext cx="9875520" cy="420624"/>
          </a:xfrm>
          <a:prstGeom prst="rect">
            <a:avLst/>
          </a:prstGeom>
          <a:noFill/>
          <a:ln/>
        </p:spPr>
        <p:txBody>
          <a:bodyPr wrap="square" lIns="0" tIns="0" rIns="0" bIns="0" rtlCol="0" anchor="ctr"/>
          <a:lstStyle/>
          <a:p>
            <a:pPr marL="0" indent="0">
              <a:buNone/>
            </a:pPr>
            <a:r>
              <a:rPr lang="en-US" sz="1240" dirty="0">
                <a:solidFill>
                  <a:srgbClr val="2F2838"/>
                </a:solidFill>
                <a:latin typeface="Calibri" pitchFamily="34" charset="0"/>
                <a:ea typeface="Calibri" pitchFamily="34" charset="-122"/>
                <a:cs typeface="Calibri" pitchFamily="34" charset="-120"/>
              </a:rPr>
              <a:t>"Select the option letter from the provided choices to answer."</a:t>
            </a:r>
            <a:endParaRPr lang="en-US" sz="1240" dirty="0"/>
          </a:p>
        </p:txBody>
      </p:sp>
      <p:sp>
        <p:nvSpPr>
          <p:cNvPr id="30" name="Shape 28"/>
          <p:cNvSpPr/>
          <p:nvPr/>
        </p:nvSpPr>
        <p:spPr>
          <a:xfrm>
            <a:off x="566928" y="5394960"/>
            <a:ext cx="11064240" cy="658368"/>
          </a:xfrm>
          <a:prstGeom prst="roundRect">
            <a:avLst>
              <a:gd name="adj" fmla="val 8333"/>
            </a:avLst>
          </a:prstGeom>
          <a:solidFill>
            <a:srgbClr val="2B2535"/>
          </a:solidFill>
          <a:ln w="12700">
            <a:solidFill>
              <a:srgbClr val="2B2535"/>
            </a:solidFill>
            <a:prstDash val="solid"/>
          </a:ln>
        </p:spPr>
        <p:txBody>
          <a:bodyPr/>
          <a:lstStyle/>
          <a:p>
            <a:endParaRPr lang="en-US"/>
          </a:p>
        </p:txBody>
      </p:sp>
      <p:sp>
        <p:nvSpPr>
          <p:cNvPr id="31" name="Text 29"/>
          <p:cNvSpPr txBox="1"/>
          <p:nvPr/>
        </p:nvSpPr>
        <p:spPr>
          <a:xfrm>
            <a:off x="822960" y="5614416"/>
            <a:ext cx="10552176" cy="237744"/>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forced-choice output instruction is borrowed from LLaVA and exists to reduce output ambiguity — which, from the Pengi session, we know is worth several points on its own.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625328" y="5458968"/>
            <a:ext cx="402336" cy="292608"/>
          </a:xfrm>
          <a:prstGeom prst="line">
            <a:avLst/>
          </a:prstGeom>
          <a:noFill/>
          <a:ln w="15240">
            <a:solidFill>
              <a:srgbClr val="AFA6C2"/>
            </a:solidFill>
            <a:prstDash val="solid"/>
          </a:ln>
        </p:spPr>
        <p:txBody>
          <a:bodyPr/>
          <a:lstStyle/>
          <a:p>
            <a:endParaRPr lang="en-US"/>
          </a:p>
        </p:txBody>
      </p:sp>
      <p:sp>
        <p:nvSpPr>
          <p:cNvPr id="3" name="Shape 1"/>
          <p:cNvSpPr/>
          <p:nvPr/>
        </p:nvSpPr>
        <p:spPr>
          <a:xfrm>
            <a:off x="10625328" y="5458968"/>
            <a:ext cx="475488" cy="0"/>
          </a:xfrm>
          <a:prstGeom prst="line">
            <a:avLst/>
          </a:prstGeom>
          <a:noFill/>
          <a:ln w="15240">
            <a:solidFill>
              <a:srgbClr val="AFA6C2"/>
            </a:solidFill>
            <a:prstDash val="solid"/>
          </a:ln>
        </p:spPr>
        <p:txBody>
          <a:bodyPr/>
          <a:lstStyle/>
          <a:p>
            <a:endParaRPr lang="en-US"/>
          </a:p>
        </p:txBody>
      </p:sp>
      <p:sp>
        <p:nvSpPr>
          <p:cNvPr id="4" name="Shape 2"/>
          <p:cNvSpPr/>
          <p:nvPr/>
        </p:nvSpPr>
        <p:spPr>
          <a:xfrm>
            <a:off x="10515600"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0991088"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0917936" y="5641848"/>
            <a:ext cx="219456" cy="219456"/>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7F9E2E"/>
                </a:solidFill>
                <a:latin typeface="Cambria" pitchFamily="34" charset="0"/>
                <a:ea typeface="Cambria" pitchFamily="34" charset="-122"/>
                <a:cs typeface="Cambria" pitchFamily="34" charset="-120"/>
              </a:rPr>
              <a:t>3</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FC8DD"/>
                </a:solidFill>
                <a:latin typeface="Calibri" pitchFamily="34" charset="0"/>
                <a:ea typeface="Calibri" pitchFamily="34" charset="-122"/>
                <a:cs typeface="Calibri" pitchFamily="34" charset="-120"/>
              </a:rPr>
              <a:t>Five benchmarks, three audio LLMs</a:t>
            </a:r>
            <a:endParaRPr lang="en-US" sz="1500" dirty="0"/>
          </a:p>
        </p:txBody>
      </p:sp>
      <p:sp>
        <p:nvSpPr>
          <p:cNvPr id="10" name="Text 8"/>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Setup</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Four corpora, five test sets, and protocol choices worth noting</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12</a:t>
            </a:r>
            <a:endParaRPr lang="en-US" sz="900" dirty="0"/>
          </a:p>
        </p:txBody>
      </p:sp>
      <p:sp>
        <p:nvSpPr>
          <p:cNvPr id="10" name="Text 8"/>
          <p:cNvSpPr txBox="1"/>
          <p:nvPr/>
        </p:nvSpPr>
        <p:spPr>
          <a:xfrm>
            <a:off x="786384" y="1444752"/>
            <a:ext cx="1828800" cy="274320"/>
          </a:xfrm>
          <a:prstGeom prst="rect">
            <a:avLst/>
          </a:prstGeom>
          <a:noFill/>
          <a:ln/>
        </p:spPr>
        <p:txBody>
          <a:bodyPr wrap="square" lIns="0" tIns="0" rIns="0" bIns="0" rtlCol="0" anchor="ctr"/>
          <a:lstStyle/>
          <a:p>
            <a:pPr marL="0" indent="0">
              <a:buNone/>
            </a:pPr>
            <a:r>
              <a:rPr lang="en-US" sz="1150" b="1" dirty="0">
                <a:solidFill>
                  <a:srgbClr val="635A73"/>
                </a:solidFill>
                <a:latin typeface="Calibri" pitchFamily="34" charset="0"/>
                <a:ea typeface="Calibri" pitchFamily="34" charset="-122"/>
                <a:cs typeface="Calibri" pitchFamily="34" charset="-120"/>
              </a:rPr>
              <a:t>Benchmark</a:t>
            </a:r>
            <a:endParaRPr lang="en-US" sz="1150" dirty="0"/>
          </a:p>
        </p:txBody>
      </p:sp>
      <p:sp>
        <p:nvSpPr>
          <p:cNvPr id="11" name="Text 9"/>
          <p:cNvSpPr txBox="1"/>
          <p:nvPr/>
        </p:nvSpPr>
        <p:spPr>
          <a:xfrm>
            <a:off x="2743200" y="1444752"/>
            <a:ext cx="3474720" cy="274320"/>
          </a:xfrm>
          <a:prstGeom prst="rect">
            <a:avLst/>
          </a:prstGeom>
          <a:noFill/>
          <a:ln/>
        </p:spPr>
        <p:txBody>
          <a:bodyPr wrap="square" lIns="0" tIns="0" rIns="0" bIns="0" rtlCol="0" anchor="ctr"/>
          <a:lstStyle/>
          <a:p>
            <a:pPr marL="0" indent="0">
              <a:buNone/>
            </a:pPr>
            <a:r>
              <a:rPr lang="en-US" sz="1150" b="1" dirty="0">
                <a:solidFill>
                  <a:srgbClr val="635A73"/>
                </a:solidFill>
                <a:latin typeface="Calibri" pitchFamily="34" charset="0"/>
                <a:ea typeface="Calibri" pitchFamily="34" charset="-122"/>
                <a:cs typeface="Calibri" pitchFamily="34" charset="-120"/>
              </a:rPr>
              <a:t>Content</a:t>
            </a:r>
            <a:endParaRPr lang="en-US" sz="1150" dirty="0"/>
          </a:p>
        </p:txBody>
      </p:sp>
      <p:sp>
        <p:nvSpPr>
          <p:cNvPr id="12" name="Text 10"/>
          <p:cNvSpPr txBox="1"/>
          <p:nvPr/>
        </p:nvSpPr>
        <p:spPr>
          <a:xfrm>
            <a:off x="6400800" y="1444752"/>
            <a:ext cx="3840480" cy="274320"/>
          </a:xfrm>
          <a:prstGeom prst="rect">
            <a:avLst/>
          </a:prstGeom>
          <a:noFill/>
          <a:ln/>
        </p:spPr>
        <p:txBody>
          <a:bodyPr wrap="square" lIns="0" tIns="0" rIns="0" bIns="0" rtlCol="0" anchor="ctr"/>
          <a:lstStyle/>
          <a:p>
            <a:pPr marL="0" indent="0">
              <a:buNone/>
            </a:pPr>
            <a:r>
              <a:rPr lang="en-US" sz="1150" b="1" dirty="0">
                <a:solidFill>
                  <a:srgbClr val="635A73"/>
                </a:solidFill>
                <a:latin typeface="Calibri" pitchFamily="34" charset="0"/>
                <a:ea typeface="Calibri" pitchFamily="34" charset="-122"/>
                <a:cs typeface="Calibri" pitchFamily="34" charset="-120"/>
              </a:rPr>
              <a:t>Protocol</a:t>
            </a:r>
            <a:endParaRPr lang="en-US" sz="1150" dirty="0"/>
          </a:p>
        </p:txBody>
      </p:sp>
      <p:sp>
        <p:nvSpPr>
          <p:cNvPr id="13" name="Text 11"/>
          <p:cNvSpPr txBox="1"/>
          <p:nvPr/>
        </p:nvSpPr>
        <p:spPr>
          <a:xfrm>
            <a:off x="10424160" y="1444752"/>
            <a:ext cx="1188720" cy="274320"/>
          </a:xfrm>
          <a:prstGeom prst="rect">
            <a:avLst/>
          </a:prstGeom>
          <a:noFill/>
          <a:ln/>
        </p:spPr>
        <p:txBody>
          <a:bodyPr wrap="square" lIns="0" tIns="0" rIns="0" bIns="0" rtlCol="0" anchor="ctr"/>
          <a:lstStyle/>
          <a:p>
            <a:pPr marL="0" indent="0">
              <a:buNone/>
            </a:pPr>
            <a:r>
              <a:rPr lang="en-US" sz="1150" b="1" dirty="0">
                <a:solidFill>
                  <a:srgbClr val="635A73"/>
                </a:solidFill>
                <a:latin typeface="Calibri" pitchFamily="34" charset="0"/>
                <a:ea typeface="Calibri" pitchFamily="34" charset="-122"/>
                <a:cs typeface="Calibri" pitchFamily="34" charset="-120"/>
              </a:rPr>
              <a:t>Transcripts</a:t>
            </a:r>
            <a:endParaRPr lang="en-US" sz="1150" dirty="0"/>
          </a:p>
        </p:txBody>
      </p:sp>
      <p:sp>
        <p:nvSpPr>
          <p:cNvPr id="14" name="Shape 12"/>
          <p:cNvSpPr/>
          <p:nvPr/>
        </p:nvSpPr>
        <p:spPr>
          <a:xfrm>
            <a:off x="566928" y="1737360"/>
            <a:ext cx="11064240" cy="548640"/>
          </a:xfrm>
          <a:prstGeom prst="roundRect">
            <a:avLst>
              <a:gd name="adj" fmla="val 3333"/>
            </a:avLst>
          </a:prstGeom>
          <a:solidFill>
            <a:srgbClr val="F3F1F6"/>
          </a:solidFill>
          <a:ln w="12700">
            <a:solidFill>
              <a:srgbClr val="EAE6F0"/>
            </a:solidFill>
            <a:prstDash val="solid"/>
          </a:ln>
        </p:spPr>
        <p:txBody>
          <a:bodyPr/>
          <a:lstStyle/>
          <a:p>
            <a:endParaRPr lang="en-US"/>
          </a:p>
        </p:txBody>
      </p:sp>
      <p:sp>
        <p:nvSpPr>
          <p:cNvPr id="15" name="Text 13"/>
          <p:cNvSpPr txBox="1"/>
          <p:nvPr/>
        </p:nvSpPr>
        <p:spPr>
          <a:xfrm>
            <a:off x="786384" y="1801368"/>
            <a:ext cx="1828800" cy="420624"/>
          </a:xfrm>
          <a:prstGeom prst="rect">
            <a:avLst/>
          </a:prstGeom>
          <a:noFill/>
          <a:ln/>
        </p:spPr>
        <p:txBody>
          <a:bodyPr wrap="square" lIns="0" tIns="0" rIns="0" bIns="0" rtlCol="0" anchor="ctr"/>
          <a:lstStyle/>
          <a:p>
            <a:pPr marL="0" indent="0">
              <a:buNone/>
            </a:pPr>
            <a:r>
              <a:rPr lang="en-US" sz="1140" b="1" dirty="0">
                <a:solidFill>
                  <a:srgbClr val="1E1926"/>
                </a:solidFill>
                <a:latin typeface="Calibri" pitchFamily="34" charset="0"/>
                <a:ea typeface="Calibri" pitchFamily="34" charset="-122"/>
                <a:cs typeface="Calibri" pitchFamily="34" charset="-120"/>
              </a:rPr>
              <a:t>IEMOCAP</a:t>
            </a:r>
            <a:endParaRPr lang="en-US" sz="1140" dirty="0"/>
          </a:p>
        </p:txBody>
      </p:sp>
      <p:sp>
        <p:nvSpPr>
          <p:cNvPr id="16" name="Text 14"/>
          <p:cNvSpPr txBox="1"/>
          <p:nvPr/>
        </p:nvSpPr>
        <p:spPr>
          <a:xfrm>
            <a:off x="2743200" y="1801368"/>
            <a:ext cx="3474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5,531 English utterances, five dyadic sessions</a:t>
            </a:r>
            <a:endParaRPr lang="en-US" sz="1140" dirty="0"/>
          </a:p>
        </p:txBody>
      </p:sp>
      <p:sp>
        <p:nvSpPr>
          <p:cNvPr id="17" name="Text 15"/>
          <p:cNvSpPr txBox="1"/>
          <p:nvPr/>
        </p:nvSpPr>
        <p:spPr>
          <a:xfrm>
            <a:off x="6400800" y="1801368"/>
            <a:ext cx="384048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Excited merged into happy, 5-fold leave-one-session-out</a:t>
            </a:r>
            <a:endParaRPr lang="en-US" sz="1140" dirty="0"/>
          </a:p>
        </p:txBody>
      </p:sp>
      <p:sp>
        <p:nvSpPr>
          <p:cNvPr id="18" name="Text 16"/>
          <p:cNvSpPr txBox="1"/>
          <p:nvPr/>
        </p:nvSpPr>
        <p:spPr>
          <a:xfrm>
            <a:off x="10424160" y="1801368"/>
            <a:ext cx="1188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Corpus</a:t>
            </a:r>
            <a:endParaRPr lang="en-US" sz="1140" dirty="0"/>
          </a:p>
        </p:txBody>
      </p:sp>
      <p:sp>
        <p:nvSpPr>
          <p:cNvPr id="19" name="Shape 17"/>
          <p:cNvSpPr/>
          <p:nvPr/>
        </p:nvSpPr>
        <p:spPr>
          <a:xfrm>
            <a:off x="566928" y="2322576"/>
            <a:ext cx="11064240" cy="548640"/>
          </a:xfrm>
          <a:prstGeom prst="roundRect">
            <a:avLst>
              <a:gd name="adj" fmla="val 3333"/>
            </a:avLst>
          </a:prstGeom>
          <a:solidFill>
            <a:srgbClr val="FFFFFF"/>
          </a:solidFill>
          <a:ln w="12700">
            <a:solidFill>
              <a:srgbClr val="EAE6F0"/>
            </a:solidFill>
            <a:prstDash val="solid"/>
          </a:ln>
        </p:spPr>
        <p:txBody>
          <a:bodyPr/>
          <a:lstStyle/>
          <a:p>
            <a:endParaRPr lang="en-US"/>
          </a:p>
        </p:txBody>
      </p:sp>
      <p:sp>
        <p:nvSpPr>
          <p:cNvPr id="20" name="Text 18"/>
          <p:cNvSpPr txBox="1"/>
          <p:nvPr/>
        </p:nvSpPr>
        <p:spPr>
          <a:xfrm>
            <a:off x="786384" y="2386584"/>
            <a:ext cx="1828800" cy="420624"/>
          </a:xfrm>
          <a:prstGeom prst="rect">
            <a:avLst/>
          </a:prstGeom>
          <a:noFill/>
          <a:ln/>
        </p:spPr>
        <p:txBody>
          <a:bodyPr wrap="square" lIns="0" tIns="0" rIns="0" bIns="0" rtlCol="0" anchor="ctr"/>
          <a:lstStyle/>
          <a:p>
            <a:pPr marL="0" indent="0">
              <a:buNone/>
            </a:pPr>
            <a:r>
              <a:rPr lang="en-US" sz="1140" b="1" dirty="0">
                <a:solidFill>
                  <a:srgbClr val="1E1926"/>
                </a:solidFill>
                <a:latin typeface="Calibri" pitchFamily="34" charset="0"/>
                <a:ea typeface="Calibri" pitchFamily="34" charset="-122"/>
                <a:cs typeface="Calibri" pitchFamily="34" charset="-120"/>
              </a:rPr>
              <a:t>MELD</a:t>
            </a:r>
            <a:endParaRPr lang="en-US" sz="1140" dirty="0"/>
          </a:p>
        </p:txBody>
      </p:sp>
      <p:sp>
        <p:nvSpPr>
          <p:cNvPr id="21" name="Text 19"/>
          <p:cNvSpPr txBox="1"/>
          <p:nvPr/>
        </p:nvSpPr>
        <p:spPr>
          <a:xfrm>
            <a:off x="2743200" y="2386584"/>
            <a:ext cx="3474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8,851 English utterances from Friends</a:t>
            </a:r>
            <a:endParaRPr lang="en-US" sz="1140" dirty="0"/>
          </a:p>
        </p:txBody>
      </p:sp>
      <p:sp>
        <p:nvSpPr>
          <p:cNvPr id="22" name="Text 20"/>
          <p:cNvSpPr txBox="1"/>
          <p:nvPr/>
        </p:nvSpPr>
        <p:spPr>
          <a:xfrm>
            <a:off x="6400800" y="2386584"/>
            <a:ext cx="384048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Disgust and fear removed — five classes, not seven</a:t>
            </a:r>
            <a:endParaRPr lang="en-US" sz="1140" dirty="0"/>
          </a:p>
        </p:txBody>
      </p:sp>
      <p:sp>
        <p:nvSpPr>
          <p:cNvPr id="23" name="Text 21"/>
          <p:cNvSpPr txBox="1"/>
          <p:nvPr/>
        </p:nvSpPr>
        <p:spPr>
          <a:xfrm>
            <a:off x="10424160" y="2386584"/>
            <a:ext cx="1188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Corpus</a:t>
            </a:r>
            <a:endParaRPr lang="en-US" sz="1140" dirty="0"/>
          </a:p>
        </p:txBody>
      </p:sp>
      <p:sp>
        <p:nvSpPr>
          <p:cNvPr id="24" name="Shape 22"/>
          <p:cNvSpPr/>
          <p:nvPr/>
        </p:nvSpPr>
        <p:spPr>
          <a:xfrm>
            <a:off x="566928" y="2907792"/>
            <a:ext cx="11064240" cy="548640"/>
          </a:xfrm>
          <a:prstGeom prst="roundRect">
            <a:avLst>
              <a:gd name="adj" fmla="val 3333"/>
            </a:avLst>
          </a:prstGeom>
          <a:solidFill>
            <a:srgbClr val="F3F1F6"/>
          </a:solidFill>
          <a:ln w="12700">
            <a:solidFill>
              <a:srgbClr val="EAE6F0"/>
            </a:solidFill>
            <a:prstDash val="solid"/>
          </a:ln>
        </p:spPr>
        <p:txBody>
          <a:bodyPr/>
          <a:lstStyle/>
          <a:p>
            <a:endParaRPr lang="en-US"/>
          </a:p>
        </p:txBody>
      </p:sp>
      <p:sp>
        <p:nvSpPr>
          <p:cNvPr id="25" name="Text 23"/>
          <p:cNvSpPr txBox="1"/>
          <p:nvPr/>
        </p:nvSpPr>
        <p:spPr>
          <a:xfrm>
            <a:off x="786384" y="2971800"/>
            <a:ext cx="1828800" cy="420624"/>
          </a:xfrm>
          <a:prstGeom prst="rect">
            <a:avLst/>
          </a:prstGeom>
          <a:noFill/>
          <a:ln/>
        </p:spPr>
        <p:txBody>
          <a:bodyPr wrap="square" lIns="0" tIns="0" rIns="0" bIns="0" rtlCol="0" anchor="ctr"/>
          <a:lstStyle/>
          <a:p>
            <a:pPr marL="0" indent="0">
              <a:buNone/>
            </a:pPr>
            <a:r>
              <a:rPr lang="en-US" sz="1140" b="1" dirty="0">
                <a:solidFill>
                  <a:srgbClr val="1E1926"/>
                </a:solidFill>
                <a:latin typeface="Calibri" pitchFamily="34" charset="0"/>
                <a:ea typeface="Calibri" pitchFamily="34" charset="-122"/>
                <a:cs typeface="Calibri" pitchFamily="34" charset="-120"/>
              </a:rPr>
              <a:t>ESD</a:t>
            </a:r>
            <a:endParaRPr lang="en-US" sz="1140" dirty="0"/>
          </a:p>
        </p:txBody>
      </p:sp>
      <p:sp>
        <p:nvSpPr>
          <p:cNvPr id="26" name="Text 24"/>
          <p:cNvSpPr txBox="1"/>
          <p:nvPr/>
        </p:nvSpPr>
        <p:spPr>
          <a:xfrm>
            <a:off x="2743200" y="2971800"/>
            <a:ext cx="3474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33,443 utterances, English and Chinese, five emotions</a:t>
            </a:r>
            <a:endParaRPr lang="en-US" sz="1140" dirty="0"/>
          </a:p>
        </p:txBody>
      </p:sp>
      <p:sp>
        <p:nvSpPr>
          <p:cNvPr id="27" name="Text 25"/>
          <p:cNvSpPr txBox="1"/>
          <p:nvPr/>
        </p:nvSpPr>
        <p:spPr>
          <a:xfrm>
            <a:off x="6400800" y="2971800"/>
            <a:ext cx="384048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Diverse speakers</a:t>
            </a:r>
            <a:endParaRPr lang="en-US" sz="1140" dirty="0"/>
          </a:p>
        </p:txBody>
      </p:sp>
      <p:sp>
        <p:nvSpPr>
          <p:cNvPr id="28" name="Text 26"/>
          <p:cNvSpPr txBox="1"/>
          <p:nvPr/>
        </p:nvSpPr>
        <p:spPr>
          <a:xfrm>
            <a:off x="10424160" y="2971800"/>
            <a:ext cx="1188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Whisper ASR</a:t>
            </a:r>
            <a:endParaRPr lang="en-US" sz="1140" dirty="0"/>
          </a:p>
        </p:txBody>
      </p:sp>
      <p:sp>
        <p:nvSpPr>
          <p:cNvPr id="29" name="Shape 27"/>
          <p:cNvSpPr/>
          <p:nvPr/>
        </p:nvSpPr>
        <p:spPr>
          <a:xfrm>
            <a:off x="566928" y="3493008"/>
            <a:ext cx="11064240" cy="548640"/>
          </a:xfrm>
          <a:prstGeom prst="roundRect">
            <a:avLst>
              <a:gd name="adj" fmla="val 3333"/>
            </a:avLst>
          </a:prstGeom>
          <a:solidFill>
            <a:srgbClr val="FFFFFF"/>
          </a:solidFill>
          <a:ln w="12700">
            <a:solidFill>
              <a:srgbClr val="EAE6F0"/>
            </a:solidFill>
            <a:prstDash val="solid"/>
          </a:ln>
        </p:spPr>
        <p:txBody>
          <a:bodyPr/>
          <a:lstStyle/>
          <a:p>
            <a:endParaRPr lang="en-US"/>
          </a:p>
        </p:txBody>
      </p:sp>
      <p:sp>
        <p:nvSpPr>
          <p:cNvPr id="30" name="Text 28"/>
          <p:cNvSpPr txBox="1"/>
          <p:nvPr/>
        </p:nvSpPr>
        <p:spPr>
          <a:xfrm>
            <a:off x="786384" y="3557016"/>
            <a:ext cx="1828800" cy="420624"/>
          </a:xfrm>
          <a:prstGeom prst="rect">
            <a:avLst/>
          </a:prstGeom>
          <a:noFill/>
          <a:ln/>
        </p:spPr>
        <p:txBody>
          <a:bodyPr wrap="square" lIns="0" tIns="0" rIns="0" bIns="0" rtlCol="0" anchor="ctr"/>
          <a:lstStyle/>
          <a:p>
            <a:pPr marL="0" indent="0">
              <a:buNone/>
            </a:pPr>
            <a:r>
              <a:rPr lang="en-US" sz="1140" b="1" dirty="0">
                <a:solidFill>
                  <a:srgbClr val="1E1926"/>
                </a:solidFill>
                <a:latin typeface="Calibri" pitchFamily="34" charset="0"/>
                <a:ea typeface="Calibri" pitchFamily="34" charset="-122"/>
                <a:cs typeface="Calibri" pitchFamily="34" charset="-120"/>
              </a:rPr>
              <a:t>MERBench test1</a:t>
            </a:r>
            <a:endParaRPr lang="en-US" sz="1140" dirty="0"/>
          </a:p>
        </p:txBody>
      </p:sp>
      <p:sp>
        <p:nvSpPr>
          <p:cNvPr id="31" name="Text 29"/>
          <p:cNvSpPr txBox="1"/>
          <p:nvPr/>
        </p:nvSpPr>
        <p:spPr>
          <a:xfrm>
            <a:off x="2743200" y="3557016"/>
            <a:ext cx="3474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350 Chinese utterances from film and television</a:t>
            </a:r>
            <a:endParaRPr lang="en-US" sz="1140" dirty="0"/>
          </a:p>
        </p:txBody>
      </p:sp>
      <p:sp>
        <p:nvSpPr>
          <p:cNvPr id="32" name="Text 30"/>
          <p:cNvSpPr txBox="1"/>
          <p:nvPr/>
        </p:nvSpPr>
        <p:spPr>
          <a:xfrm>
            <a:off x="6400800" y="3557016"/>
            <a:ext cx="384048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Worried label excluded</a:t>
            </a:r>
            <a:endParaRPr lang="en-US" sz="1140" dirty="0"/>
          </a:p>
        </p:txBody>
      </p:sp>
      <p:sp>
        <p:nvSpPr>
          <p:cNvPr id="33" name="Text 31"/>
          <p:cNvSpPr txBox="1"/>
          <p:nvPr/>
        </p:nvSpPr>
        <p:spPr>
          <a:xfrm>
            <a:off x="10424160" y="3557016"/>
            <a:ext cx="1188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Whisper ASR</a:t>
            </a:r>
            <a:endParaRPr lang="en-US" sz="1140" dirty="0"/>
          </a:p>
        </p:txBody>
      </p:sp>
      <p:sp>
        <p:nvSpPr>
          <p:cNvPr id="34" name="Shape 32"/>
          <p:cNvSpPr/>
          <p:nvPr/>
        </p:nvSpPr>
        <p:spPr>
          <a:xfrm>
            <a:off x="566928" y="4078224"/>
            <a:ext cx="11064240" cy="548640"/>
          </a:xfrm>
          <a:prstGeom prst="roundRect">
            <a:avLst>
              <a:gd name="adj" fmla="val 3333"/>
            </a:avLst>
          </a:prstGeom>
          <a:solidFill>
            <a:srgbClr val="F3F1F6"/>
          </a:solidFill>
          <a:ln w="12700">
            <a:solidFill>
              <a:srgbClr val="EAE6F0"/>
            </a:solidFill>
            <a:prstDash val="solid"/>
          </a:ln>
        </p:spPr>
        <p:txBody>
          <a:bodyPr/>
          <a:lstStyle/>
          <a:p>
            <a:endParaRPr lang="en-US"/>
          </a:p>
        </p:txBody>
      </p:sp>
      <p:sp>
        <p:nvSpPr>
          <p:cNvPr id="35" name="Text 33"/>
          <p:cNvSpPr txBox="1"/>
          <p:nvPr/>
        </p:nvSpPr>
        <p:spPr>
          <a:xfrm>
            <a:off x="786384" y="4142232"/>
            <a:ext cx="1828800" cy="420624"/>
          </a:xfrm>
          <a:prstGeom prst="rect">
            <a:avLst/>
          </a:prstGeom>
          <a:noFill/>
          <a:ln/>
        </p:spPr>
        <p:txBody>
          <a:bodyPr wrap="square" lIns="0" tIns="0" rIns="0" bIns="0" rtlCol="0" anchor="ctr"/>
          <a:lstStyle/>
          <a:p>
            <a:pPr marL="0" indent="0">
              <a:buNone/>
            </a:pPr>
            <a:r>
              <a:rPr lang="en-US" sz="1140" b="1" dirty="0">
                <a:solidFill>
                  <a:srgbClr val="1E1926"/>
                </a:solidFill>
                <a:latin typeface="Calibri" pitchFamily="34" charset="0"/>
                <a:ea typeface="Calibri" pitchFamily="34" charset="-122"/>
                <a:cs typeface="Calibri" pitchFamily="34" charset="-120"/>
              </a:rPr>
              <a:t>MERBench test2</a:t>
            </a:r>
            <a:endParaRPr lang="en-US" sz="1140" dirty="0"/>
          </a:p>
        </p:txBody>
      </p:sp>
      <p:sp>
        <p:nvSpPr>
          <p:cNvPr id="36" name="Text 34"/>
          <p:cNvSpPr txBox="1"/>
          <p:nvPr/>
        </p:nvSpPr>
        <p:spPr>
          <a:xfrm>
            <a:off x="2743200" y="4142232"/>
            <a:ext cx="3474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350 Chinese utterances from film and television</a:t>
            </a:r>
            <a:endParaRPr lang="en-US" sz="1140" dirty="0"/>
          </a:p>
        </p:txBody>
      </p:sp>
      <p:sp>
        <p:nvSpPr>
          <p:cNvPr id="37" name="Text 35"/>
          <p:cNvSpPr txBox="1"/>
          <p:nvPr/>
        </p:nvSpPr>
        <p:spPr>
          <a:xfrm>
            <a:off x="6400800" y="4142232"/>
            <a:ext cx="384048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Worried label excluded</a:t>
            </a:r>
            <a:endParaRPr lang="en-US" sz="1140" dirty="0"/>
          </a:p>
        </p:txBody>
      </p:sp>
      <p:sp>
        <p:nvSpPr>
          <p:cNvPr id="38" name="Text 36"/>
          <p:cNvSpPr txBox="1"/>
          <p:nvPr/>
        </p:nvSpPr>
        <p:spPr>
          <a:xfrm>
            <a:off x="10424160" y="4142232"/>
            <a:ext cx="1188720" cy="420624"/>
          </a:xfrm>
          <a:prstGeom prst="rect">
            <a:avLst/>
          </a:prstGeom>
          <a:noFill/>
          <a:ln/>
        </p:spPr>
        <p:txBody>
          <a:bodyPr wrap="square" lIns="0" tIns="0" rIns="0" bIns="0" rtlCol="0" anchor="ctr"/>
          <a:lstStyle/>
          <a:p>
            <a:pPr marL="0" indent="0">
              <a:buNone/>
            </a:pPr>
            <a:r>
              <a:rPr lang="en-US" sz="1140" dirty="0">
                <a:solidFill>
                  <a:srgbClr val="2F2838"/>
                </a:solidFill>
                <a:latin typeface="Calibri" pitchFamily="34" charset="0"/>
                <a:ea typeface="Calibri" pitchFamily="34" charset="-122"/>
                <a:cs typeface="Calibri" pitchFamily="34" charset="-120"/>
              </a:rPr>
              <a:t>Whisper ASR</a:t>
            </a:r>
            <a:endParaRPr lang="en-US" sz="1140" dirty="0"/>
          </a:p>
        </p:txBody>
      </p:sp>
      <p:sp>
        <p:nvSpPr>
          <p:cNvPr id="39" name="Text 37"/>
          <p:cNvSpPr txBox="1"/>
          <p:nvPr/>
        </p:nvSpPr>
        <p:spPr>
          <a:xfrm>
            <a:off x="566928" y="4700016"/>
            <a:ext cx="11064240" cy="1353312"/>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Since the method is training-free, evaluation runs directly on the test sets — no training split is consumed.</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The protocol choices follow BLSP-Emo, which is also the strongest prior baseline, so the comparison is like for like.</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Three of the five sets are Chinese or bilingual, which is a genuine breadth advantage over most of the papers we have read.</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On ESD and MERBench the textual half of the emotion graph is built from ASR output, so transcription errors propagate into the structure.</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Main results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Average accuracy across the five benchmarks</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13</a:t>
            </a:r>
            <a:endParaRPr lang="en-US" sz="900" dirty="0"/>
          </a:p>
        </p:txBody>
      </p:sp>
      <p:graphicFrame>
        <p:nvGraphicFramePr>
          <p:cNvPr id="10"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Gains of +9.1, +8.3 and +7.2 points over direct prompting, consistent across three architectures.</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Kimi-Audio with CCoT-Emo reaches 67.7, beating the previous best audio LLM, BLSP-Emo, by 3.7 points.</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The largest single-dataset gain is ESD for Qwen2-Audio: 57.1 to 71.6, a 14.5-point jump.</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Gains hold on the domain-shifted Chinese MERBench sets — +8.5 and +7.5 for Kimi-Audio.</a:t>
            </a:r>
            <a:endParaRPr lang="en-US" sz="1220" dirty="0"/>
          </a:p>
        </p:txBody>
      </p:sp>
      <p:sp>
        <p:nvSpPr>
          <p:cNvPr id="12" name="Shape 9"/>
          <p:cNvSpPr/>
          <p:nvPr/>
        </p:nvSpPr>
        <p:spPr>
          <a:xfrm>
            <a:off x="566928" y="5266944"/>
            <a:ext cx="11064240" cy="786384"/>
          </a:xfrm>
          <a:prstGeom prst="roundRect">
            <a:avLst>
              <a:gd name="adj" fmla="val 6977"/>
            </a:avLst>
          </a:prstGeom>
          <a:solidFill>
            <a:srgbClr val="2B2535"/>
          </a:solidFill>
          <a:ln w="12700">
            <a:solidFill>
              <a:srgbClr val="2B2535"/>
            </a:solidFill>
            <a:prstDash val="solid"/>
          </a:ln>
        </p:spPr>
        <p:txBody>
          <a:bodyPr/>
          <a:lstStyle/>
          <a:p>
            <a:endParaRPr lang="en-US"/>
          </a:p>
        </p:txBody>
      </p:sp>
      <p:sp>
        <p:nvSpPr>
          <p:cNvPr id="13" name="Text 10"/>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consistency across three different audio LLMs is the strongest part of the result — it supports the plug-and-play claim better than any single number does.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Chain-of-thought makes it worse</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The finding worth pausing on</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14</a:t>
            </a:r>
            <a:endParaRPr lang="en-US" sz="900" dirty="0"/>
          </a:p>
        </p:txBody>
      </p:sp>
      <p:graphicFrame>
        <p:nvGraphicFramePr>
          <p:cNvPr id="10" name="Chart 0"/>
          <p:cNvGraphicFramePr/>
          <p:nvPr/>
        </p:nvGraphicFramePr>
        <p:xfrm>
          <a:off x="566928" y="1554480"/>
          <a:ext cx="60350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6858000" y="1700784"/>
            <a:ext cx="4773168" cy="3108960"/>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2F2838"/>
                </a:solidFill>
                <a:latin typeface="Calibri" pitchFamily="34" charset="0"/>
                <a:ea typeface="Calibri" pitchFamily="34" charset="-122"/>
                <a:cs typeface="Calibri" pitchFamily="34" charset="-120"/>
              </a:rPr>
              <a:t>ZS-CoT underperforms direct prompting on all three models and on nearly every dataset.</a:t>
            </a:r>
            <a:endParaRPr lang="en-US" sz="1240" dirty="0"/>
          </a:p>
          <a:p>
            <a:pPr marL="342900" indent="-342900">
              <a:spcAft>
                <a:spcPts val="800"/>
              </a:spcAft>
              <a:buSzPct val="100000"/>
              <a:buChar char="●"/>
            </a:pPr>
            <a:r>
              <a:rPr lang="en-US" sz="1240" dirty="0">
                <a:solidFill>
                  <a:srgbClr val="2F2838"/>
                </a:solidFill>
                <a:latin typeface="Calibri" pitchFamily="34" charset="0"/>
                <a:ea typeface="Calibri" pitchFamily="34" charset="-122"/>
                <a:cs typeface="Calibri" pitchFamily="34" charset="-120"/>
              </a:rPr>
              <a:t>The paper's explanation: irrelevant intermediate reasoning disrupts emotion inference, particularly in datasets with long-range context.</a:t>
            </a:r>
            <a:endParaRPr lang="en-US" sz="1240" dirty="0"/>
          </a:p>
          <a:p>
            <a:pPr marL="342900" indent="-342900">
              <a:spcAft>
                <a:spcPts val="800"/>
              </a:spcAft>
              <a:buSzPct val="100000"/>
              <a:buChar char="●"/>
            </a:pPr>
            <a:r>
              <a:rPr lang="en-US" sz="1240" dirty="0">
                <a:solidFill>
                  <a:srgbClr val="2F2838"/>
                </a:solidFill>
                <a:latin typeface="Calibri" pitchFamily="34" charset="0"/>
                <a:ea typeface="Calibri" pitchFamily="34" charset="-122"/>
                <a:cs typeface="Calibri" pitchFamily="34" charset="-120"/>
              </a:rPr>
              <a:t>So the gain is not 'reasoning helps'. It is specifically structured reasoning that helps, and unstructured reasoning actively hurts.</a:t>
            </a:r>
            <a:endParaRPr lang="en-US" sz="1240" dirty="0"/>
          </a:p>
          <a:p>
            <a:pPr marL="342900" indent="-342900">
              <a:spcAft>
                <a:spcPts val="800"/>
              </a:spcAft>
              <a:buSzPct val="100000"/>
              <a:buChar char="●"/>
            </a:pPr>
            <a:r>
              <a:rPr lang="en-US" sz="1240" dirty="0">
                <a:solidFill>
                  <a:srgbClr val="2F2838"/>
                </a:solidFill>
                <a:latin typeface="Calibri" pitchFamily="34" charset="0"/>
                <a:ea typeface="Calibri" pitchFamily="34" charset="-122"/>
                <a:cs typeface="Calibri" pitchFamily="34" charset="-120"/>
              </a:rPr>
              <a:t>That makes the comparison against ZS-CoT the more informative baseline — CCoT-Emo beats it by 9.4 points on Kimi-Audio.</a:t>
            </a:r>
            <a:endParaRPr lang="en-US" sz="1240" dirty="0"/>
          </a:p>
        </p:txBody>
      </p:sp>
      <p:sp>
        <p:nvSpPr>
          <p:cNvPr id="12" name="Shape 9"/>
          <p:cNvSpPr/>
          <p:nvPr/>
        </p:nvSpPr>
        <p:spPr>
          <a:xfrm>
            <a:off x="566928" y="4974336"/>
            <a:ext cx="11064240" cy="1078992"/>
          </a:xfrm>
          <a:prstGeom prst="roundRect">
            <a:avLst>
              <a:gd name="adj" fmla="val 5085"/>
            </a:avLst>
          </a:prstGeom>
          <a:solidFill>
            <a:srgbClr val="2B2535"/>
          </a:solidFill>
          <a:ln w="12700">
            <a:solidFill>
              <a:srgbClr val="2B2535"/>
            </a:solidFill>
            <a:prstDash val="solid"/>
          </a:ln>
        </p:spPr>
        <p:txBody>
          <a:bodyPr/>
          <a:lstStyle/>
          <a:p>
            <a:endParaRPr lang="en-US"/>
          </a:p>
        </p:txBody>
      </p:sp>
      <p:sp>
        <p:nvSpPr>
          <p:cNvPr id="13" name="Shape 10"/>
          <p:cNvSpPr/>
          <p:nvPr/>
        </p:nvSpPr>
        <p:spPr>
          <a:xfrm>
            <a:off x="786384" y="5266944"/>
            <a:ext cx="109728" cy="109728"/>
          </a:xfrm>
          <a:prstGeom prst="ellipse">
            <a:avLst/>
          </a:prstGeom>
          <a:solidFill>
            <a:srgbClr val="7F9E2E"/>
          </a:solidFill>
          <a:ln w="12700">
            <a:solidFill>
              <a:srgbClr val="333333"/>
            </a:solidFill>
            <a:prstDash val="solid"/>
          </a:ln>
        </p:spPr>
        <p:txBody>
          <a:bodyPr/>
          <a:lstStyle/>
          <a:p>
            <a:endParaRPr lang="en-US"/>
          </a:p>
        </p:txBody>
      </p:sp>
      <p:sp>
        <p:nvSpPr>
          <p:cNvPr id="14" name="Text 11"/>
          <p:cNvSpPr txBox="1"/>
          <p:nvPr/>
        </p:nvSpPr>
        <p:spPr>
          <a:xfrm>
            <a:off x="987552" y="51389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Connect this to SALMONN</a:t>
            </a:r>
            <a:endParaRPr lang="en-US" sz="1500" dirty="0"/>
          </a:p>
        </p:txBody>
      </p:sp>
      <p:sp>
        <p:nvSpPr>
          <p:cNvPr id="15" name="Text 12"/>
          <p:cNvSpPr txBox="1"/>
          <p:nvPr/>
        </p:nvSpPr>
        <p:spPr>
          <a:xfrm>
            <a:off x="822960" y="5577840"/>
            <a:ext cx="10552176" cy="292608"/>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SALMONN's task over-fitting analysis showed that a model asked to tell a story would produce a transcript, because its prior over responses was concentrated on transcription. Here, a model asked to reason freely about emotion produces reasoning that drags the answer away from the right one.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625328" y="5458968"/>
            <a:ext cx="402336" cy="292608"/>
          </a:xfrm>
          <a:prstGeom prst="line">
            <a:avLst/>
          </a:prstGeom>
          <a:noFill/>
          <a:ln w="15240">
            <a:solidFill>
              <a:srgbClr val="AFA6C2"/>
            </a:solidFill>
            <a:prstDash val="solid"/>
          </a:ln>
        </p:spPr>
        <p:txBody>
          <a:bodyPr/>
          <a:lstStyle/>
          <a:p>
            <a:endParaRPr lang="en-US"/>
          </a:p>
        </p:txBody>
      </p:sp>
      <p:sp>
        <p:nvSpPr>
          <p:cNvPr id="3" name="Shape 1"/>
          <p:cNvSpPr/>
          <p:nvPr/>
        </p:nvSpPr>
        <p:spPr>
          <a:xfrm>
            <a:off x="10625328" y="5458968"/>
            <a:ext cx="475488" cy="0"/>
          </a:xfrm>
          <a:prstGeom prst="line">
            <a:avLst/>
          </a:prstGeom>
          <a:noFill/>
          <a:ln w="15240">
            <a:solidFill>
              <a:srgbClr val="AFA6C2"/>
            </a:solidFill>
            <a:prstDash val="solid"/>
          </a:ln>
        </p:spPr>
        <p:txBody>
          <a:bodyPr/>
          <a:lstStyle/>
          <a:p>
            <a:endParaRPr lang="en-US"/>
          </a:p>
        </p:txBody>
      </p:sp>
      <p:sp>
        <p:nvSpPr>
          <p:cNvPr id="4" name="Shape 2"/>
          <p:cNvSpPr/>
          <p:nvPr/>
        </p:nvSpPr>
        <p:spPr>
          <a:xfrm>
            <a:off x="10515600"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0991088"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0917936" y="5641848"/>
            <a:ext cx="219456" cy="219456"/>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7F9E2E"/>
                </a:solidFill>
                <a:latin typeface="Cambria" pitchFamily="34" charset="0"/>
                <a:ea typeface="Cambria" pitchFamily="34" charset="-122"/>
                <a:cs typeface="Cambria" pitchFamily="34" charset="-120"/>
              </a:rPr>
              <a:t>4</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Ablations</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FC8DD"/>
                </a:solidFill>
                <a:latin typeface="Calibri" pitchFamily="34" charset="0"/>
                <a:ea typeface="Calibri" pitchFamily="34" charset="-122"/>
                <a:cs typeface="Calibri" pitchFamily="34" charset="-120"/>
              </a:rPr>
              <a:t>Where the gain comes from</a:t>
            </a:r>
            <a:endParaRPr lang="en-US" sz="1500" dirty="0"/>
          </a:p>
        </p:txBody>
      </p:sp>
      <p:sp>
        <p:nvSpPr>
          <p:cNvPr id="10" name="Text 8"/>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Component ablation</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Qwen2.5-Omni-7B, removing one piece at a time</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16</a:t>
            </a:r>
            <a:endParaRPr lang="en-US" sz="900" dirty="0"/>
          </a:p>
        </p:txBody>
      </p:sp>
      <p:graphicFrame>
        <p:nvGraphicFramePr>
          <p:cNvPr id="10"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Removing textual attributes — sentiment and keywords — costs the most: 3.9 points.</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Removing acoustic attributes costs 2.9; removing cross-modal relations costs 1.7.</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So the single largest contributor is the output of a supervised RoBERTa sentiment classifier reading the transcript.</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That is the same pattern we found in EAA last session, where the transcript carried 14.4 of the 16.4 points in the context ablation.</a:t>
            </a:r>
            <a:endParaRPr lang="en-US" sz="1220" dirty="0"/>
          </a:p>
        </p:txBody>
      </p:sp>
      <p:sp>
        <p:nvSpPr>
          <p:cNvPr id="12" name="Shape 9"/>
          <p:cNvSpPr/>
          <p:nvPr/>
        </p:nvSpPr>
        <p:spPr>
          <a:xfrm>
            <a:off x="566928" y="5266944"/>
            <a:ext cx="11064240" cy="786384"/>
          </a:xfrm>
          <a:prstGeom prst="roundRect">
            <a:avLst>
              <a:gd name="adj" fmla="val 6977"/>
            </a:avLst>
          </a:prstGeom>
          <a:solidFill>
            <a:srgbClr val="2B2535"/>
          </a:solidFill>
          <a:ln w="12700">
            <a:solidFill>
              <a:srgbClr val="2B2535"/>
            </a:solidFill>
            <a:prstDash val="solid"/>
          </a:ln>
        </p:spPr>
        <p:txBody>
          <a:bodyPr/>
          <a:lstStyle/>
          <a:p>
            <a:endParaRPr lang="en-US"/>
          </a:p>
        </p:txBody>
      </p:sp>
      <p:sp>
        <p:nvSpPr>
          <p:cNvPr id="13" name="Text 10"/>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Two papers, two mechanisms, same finding: on these benchmarks the linguistic channel does more work than the acoustic one, even in methods designed to foreground prosody.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Symbolic beats continuous, and DSP beats the model</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Three ablations about representation</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17</a:t>
            </a:r>
            <a:endParaRPr lang="en-US" sz="900" dirty="0"/>
          </a:p>
        </p:txBody>
      </p:sp>
      <p:graphicFrame>
        <p:nvGraphicFramePr>
          <p:cNvPr id="10" name="Chart 0"/>
          <p:cNvGraphicFramePr/>
          <p:nvPr/>
        </p:nvGraphicFramePr>
        <p:xfrm>
          <a:off x="566928" y="15544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Asking the audio LLM to describe its own prosody instead of using openSMILE costs 2.2 points — the paper reports such descriptions are vague, e.g. 'the tone is expressive'.</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Replacing the symbolic features with spectrograms costs 5.9 points, the largest drop of any ablation.</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The authors' reading: continuous and uninterpretable representations lack the structural abstraction required for zero-shot symbolic reasoning.</a:t>
            </a:r>
            <a:endParaRPr lang="en-US" sz="1220" dirty="0"/>
          </a:p>
          <a:p>
            <a:pPr marL="342900" indent="-342900">
              <a:spcAft>
                <a:spcPts val="800"/>
              </a:spcAft>
              <a:buSzPct val="100000"/>
              <a:buChar char="●"/>
            </a:pPr>
            <a:r>
              <a:rPr lang="en-US" sz="1220" dirty="0">
                <a:solidFill>
                  <a:srgbClr val="2F2838"/>
                </a:solidFill>
                <a:latin typeface="Calibri" pitchFamily="34" charset="0"/>
                <a:ea typeface="Calibri" pitchFamily="34" charset="-122"/>
                <a:cs typeface="Calibri" pitchFamily="34" charset="-120"/>
              </a:rPr>
              <a:t>Even the JSON formatting matters — 1.4 points for serialisation alone.</a:t>
            </a:r>
            <a:endParaRPr lang="en-US" sz="1220" dirty="0"/>
          </a:p>
        </p:txBody>
      </p:sp>
      <p:sp>
        <p:nvSpPr>
          <p:cNvPr id="12" name="Shape 9"/>
          <p:cNvSpPr/>
          <p:nvPr/>
        </p:nvSpPr>
        <p:spPr>
          <a:xfrm>
            <a:off x="566928" y="5266944"/>
            <a:ext cx="11064240" cy="786384"/>
          </a:xfrm>
          <a:prstGeom prst="roundRect">
            <a:avLst>
              <a:gd name="adj" fmla="val 6977"/>
            </a:avLst>
          </a:prstGeom>
          <a:solidFill>
            <a:srgbClr val="2B2535"/>
          </a:solidFill>
          <a:ln w="12700">
            <a:solidFill>
              <a:srgbClr val="2B2535"/>
            </a:solidFill>
            <a:prstDash val="solid"/>
          </a:ln>
        </p:spPr>
        <p:txBody>
          <a:bodyPr/>
          <a:lstStyle/>
          <a:p>
            <a:endParaRPr lang="en-US"/>
          </a:p>
        </p:txBody>
      </p:sp>
      <p:sp>
        <p:nvSpPr>
          <p:cNvPr id="13" name="Text 10"/>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spectrogram result is the paper's strongest evidence for its thesis: the gain is not from adding acoustic information, it is from adding it in a form the model can reason over.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Two scaling ablations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Model size and graph size</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18</a:t>
            </a:r>
            <a:endParaRPr lang="en-US" sz="900" dirty="0"/>
          </a:p>
        </p:txBody>
      </p:sp>
      <p:sp>
        <p:nvSpPr>
          <p:cNvPr id="10" name="Shape 8"/>
          <p:cNvSpPr/>
          <p:nvPr/>
        </p:nvSpPr>
        <p:spPr>
          <a:xfrm>
            <a:off x="566928" y="1600200"/>
            <a:ext cx="5440680" cy="2286000"/>
          </a:xfrm>
          <a:prstGeom prst="roundRect">
            <a:avLst>
              <a:gd name="adj" fmla="val 2400"/>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786384" y="1892808"/>
            <a:ext cx="109728" cy="109728"/>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Model size</a:t>
            </a:r>
            <a:endParaRPr lang="en-US" sz="1500" dirty="0"/>
          </a:p>
        </p:txBody>
      </p:sp>
      <p:sp>
        <p:nvSpPr>
          <p:cNvPr id="13" name="Text 11"/>
          <p:cNvSpPr txBox="1"/>
          <p:nvPr/>
        </p:nvSpPr>
        <p:spPr>
          <a:xfrm>
            <a:off x="822960" y="220370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F2838"/>
                </a:solidFill>
                <a:latin typeface="Calibri" pitchFamily="34" charset="0"/>
                <a:ea typeface="Calibri" pitchFamily="34" charset="-122"/>
                <a:cs typeface="Calibri" pitchFamily="34" charset="-120"/>
              </a:rPr>
              <a:t>Qwen2.5-Omni 3B: 46.6 direct, 50.9 with CCoT-Emo.</a:t>
            </a:r>
            <a:endParaRPr lang="en-US" sz="1280" dirty="0"/>
          </a:p>
          <a:p>
            <a:pPr marL="0" indent="0">
              <a:lnSpc>
                <a:spcPct val="108000"/>
              </a:lnSpc>
              <a:buNone/>
            </a:pPr>
            <a:endParaRPr lang="en-US" sz="1280" dirty="0"/>
          </a:p>
          <a:p>
            <a:pPr marL="0" indent="0">
              <a:lnSpc>
                <a:spcPct val="108000"/>
              </a:lnSpc>
              <a:buNone/>
            </a:pPr>
            <a:r>
              <a:rPr lang="en-US" sz="1280" dirty="0">
                <a:solidFill>
                  <a:srgbClr val="2F2838"/>
                </a:solidFill>
                <a:latin typeface="Calibri" pitchFamily="34" charset="0"/>
                <a:ea typeface="Calibri" pitchFamily="34" charset="-122"/>
                <a:cs typeface="Calibri" pitchFamily="34" charset="-120"/>
              </a:rPr>
              <a:t>Qwen2.5-Omni 7B: 57.0 direct, 65.3 with CCoT-Emo.</a:t>
            </a:r>
            <a:endParaRPr lang="en-US" sz="1280" dirty="0"/>
          </a:p>
          <a:p>
            <a:pPr marL="0" indent="0">
              <a:lnSpc>
                <a:spcPct val="108000"/>
              </a:lnSpc>
              <a:buNone/>
            </a:pPr>
            <a:endParaRPr lang="en-US" sz="1280" dirty="0"/>
          </a:p>
          <a:p>
            <a:pPr marL="0" indent="0">
              <a:lnSpc>
                <a:spcPct val="108000"/>
              </a:lnSpc>
              <a:buNone/>
            </a:pPr>
            <a:r>
              <a:rPr lang="en-US" sz="1280" dirty="0">
                <a:solidFill>
                  <a:srgbClr val="2F2838"/>
                </a:solidFill>
                <a:latin typeface="Calibri" pitchFamily="34" charset="0"/>
                <a:ea typeface="Calibri" pitchFamily="34" charset="-122"/>
                <a:cs typeface="Calibri" pitchFamily="34" charset="-120"/>
              </a:rPr>
              <a:t>The paper's conclusion: larger models better exploit structured intermediate representations for emotion reasoning.</a:t>
            </a:r>
            <a:endParaRPr lang="en-US" sz="1280" dirty="0"/>
          </a:p>
        </p:txBody>
      </p:sp>
      <p:sp>
        <p:nvSpPr>
          <p:cNvPr id="14" name="Shape 12"/>
          <p:cNvSpPr/>
          <p:nvPr/>
        </p:nvSpPr>
        <p:spPr>
          <a:xfrm>
            <a:off x="6190488" y="1600200"/>
            <a:ext cx="5440680" cy="2286000"/>
          </a:xfrm>
          <a:prstGeom prst="roundRect">
            <a:avLst>
              <a:gd name="adj" fmla="val 2400"/>
            </a:avLst>
          </a:prstGeom>
          <a:solidFill>
            <a:srgbClr val="F3F1F6"/>
          </a:solidFill>
          <a:ln w="12700">
            <a:solidFill>
              <a:srgbClr val="E4E0EC"/>
            </a:solidFill>
            <a:prstDash val="solid"/>
          </a:ln>
        </p:spPr>
        <p:txBody>
          <a:bodyPr/>
          <a:lstStyle/>
          <a:p>
            <a:endParaRPr lang="en-US"/>
          </a:p>
        </p:txBody>
      </p:sp>
      <p:sp>
        <p:nvSpPr>
          <p:cNvPr id="15" name="Shape 13"/>
          <p:cNvSpPr/>
          <p:nvPr/>
        </p:nvSpPr>
        <p:spPr>
          <a:xfrm>
            <a:off x="6409944" y="1892808"/>
            <a:ext cx="109728" cy="109728"/>
          </a:xfrm>
          <a:prstGeom prst="ellipse">
            <a:avLst/>
          </a:prstGeom>
          <a:solidFill>
            <a:srgbClr val="7F9E2E"/>
          </a:solidFill>
          <a:ln w="12700">
            <a:solidFill>
              <a:srgbClr val="333333"/>
            </a:solidFill>
            <a:prstDash val="solid"/>
          </a:ln>
        </p:spPr>
        <p:txBody>
          <a:bodyPr/>
          <a:lstStyle/>
          <a:p>
            <a:endParaRPr lang="en-US"/>
          </a:p>
        </p:txBody>
      </p:sp>
      <p:sp>
        <p:nvSpPr>
          <p:cNvPr id="16" name="Text 14"/>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Graph size</a:t>
            </a:r>
            <a:endParaRPr lang="en-US" sz="1500" dirty="0"/>
          </a:p>
        </p:txBody>
      </p:sp>
      <p:sp>
        <p:nvSpPr>
          <p:cNvPr id="17" name="Text 15"/>
          <p:cNvSpPr txBox="1"/>
          <p:nvPr/>
        </p:nvSpPr>
        <p:spPr>
          <a:xfrm>
            <a:off x="6446520" y="220370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F2838"/>
                </a:solidFill>
                <a:latin typeface="Calibri" pitchFamily="34" charset="0"/>
                <a:ea typeface="Calibri" pitchFamily="34" charset="-122"/>
                <a:cs typeface="Calibri" pitchFamily="34" charset="-120"/>
              </a:rPr>
              <a:t>Token limits swept from 128 to 1024, with 256 as the default.</a:t>
            </a:r>
            <a:endParaRPr lang="en-US" sz="1280" dirty="0"/>
          </a:p>
          <a:p>
            <a:pPr marL="0" indent="0">
              <a:lnSpc>
                <a:spcPct val="108000"/>
              </a:lnSpc>
              <a:buNone/>
            </a:pPr>
            <a:endParaRPr lang="en-US" sz="1280" dirty="0"/>
          </a:p>
          <a:p>
            <a:pPr marL="0" indent="0">
              <a:lnSpc>
                <a:spcPct val="108000"/>
              </a:lnSpc>
              <a:buNone/>
            </a:pPr>
            <a:r>
              <a:rPr lang="en-US" sz="1280" dirty="0">
                <a:solidFill>
                  <a:srgbClr val="2F2838"/>
                </a:solidFill>
                <a:latin typeface="Calibri" pitchFamily="34" charset="0"/>
                <a:ea typeface="Calibri" pitchFamily="34" charset="-122"/>
                <a:cs typeface="Calibri" pitchFamily="34" charset="-120"/>
              </a:rPr>
              <a:t>256 is best. Shorter costs 0.4 points; 512 costs 0.7; 1024 costs 0.9.</a:t>
            </a:r>
            <a:endParaRPr lang="en-US" sz="1280" dirty="0"/>
          </a:p>
          <a:p>
            <a:pPr marL="0" indent="0">
              <a:lnSpc>
                <a:spcPct val="108000"/>
              </a:lnSpc>
              <a:buNone/>
            </a:pPr>
            <a:endParaRPr lang="en-US" sz="1280" dirty="0"/>
          </a:p>
          <a:p>
            <a:pPr marL="0" indent="0">
              <a:lnSpc>
                <a:spcPct val="108000"/>
              </a:lnSpc>
              <a:buNone/>
            </a:pPr>
            <a:r>
              <a:rPr lang="en-US" sz="1280" dirty="0">
                <a:solidFill>
                  <a:srgbClr val="2F2838"/>
                </a:solidFill>
                <a:latin typeface="Calibri" pitchFamily="34" charset="0"/>
                <a:ea typeface="Calibri" pitchFamily="34" charset="-122"/>
                <a:cs typeface="Calibri" pitchFamily="34" charset="-120"/>
              </a:rPr>
              <a:t>Compact, well-balanced emotion graphs offer the best guidance — more structure is not better.</a:t>
            </a:r>
            <a:endParaRPr lang="en-US" sz="1280" dirty="0"/>
          </a:p>
        </p:txBody>
      </p:sp>
      <p:sp>
        <p:nvSpPr>
          <p:cNvPr id="18" name="Shape 16"/>
          <p:cNvSpPr/>
          <p:nvPr/>
        </p:nvSpPr>
        <p:spPr>
          <a:xfrm>
            <a:off x="566928" y="4041648"/>
            <a:ext cx="11064240" cy="2011680"/>
          </a:xfrm>
          <a:prstGeom prst="roundRect">
            <a:avLst>
              <a:gd name="adj" fmla="val 2727"/>
            </a:avLst>
          </a:prstGeom>
          <a:solidFill>
            <a:srgbClr val="2B2535"/>
          </a:solidFill>
          <a:ln w="12700">
            <a:solidFill>
              <a:srgbClr val="2B2535"/>
            </a:solidFill>
            <a:prstDash val="solid"/>
          </a:ln>
        </p:spPr>
        <p:txBody>
          <a:bodyPr/>
          <a:lstStyle/>
          <a:p>
            <a:endParaRPr lang="en-US"/>
          </a:p>
        </p:txBody>
      </p:sp>
      <p:sp>
        <p:nvSpPr>
          <p:cNvPr id="19" name="Shape 17"/>
          <p:cNvSpPr/>
          <p:nvPr/>
        </p:nvSpPr>
        <p:spPr>
          <a:xfrm>
            <a:off x="786384" y="4334256"/>
            <a:ext cx="109728" cy="109728"/>
          </a:xfrm>
          <a:prstGeom prst="ellipse">
            <a:avLst/>
          </a:prstGeom>
          <a:solidFill>
            <a:srgbClr val="7F9E2E"/>
          </a:solidFill>
          <a:ln w="12700">
            <a:solidFill>
              <a:srgbClr val="333333"/>
            </a:solidFill>
            <a:prstDash val="solid"/>
          </a:ln>
        </p:spPr>
        <p:txBody>
          <a:bodyPr/>
          <a:lstStyle/>
          <a:p>
            <a:endParaRPr lang="en-US"/>
          </a:p>
        </p:txBody>
      </p:sp>
      <p:sp>
        <p:nvSpPr>
          <p:cNvPr id="20" name="Text 18"/>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Both echo findings from earlier sessions</a:t>
            </a:r>
            <a:endParaRPr lang="en-US" sz="1500" dirty="0"/>
          </a:p>
        </p:txBody>
      </p:sp>
      <p:sp>
        <p:nvSpPr>
          <p:cNvPr id="21" name="Text 19"/>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model-size result is Lester's power of scale again: a bigger frozen model extracts more from the same conditioning signal.</a:t>
            </a:r>
            <a:endParaRPr lang="en-US" sz="1300" dirty="0"/>
          </a:p>
          <a:p>
            <a:pPr marL="0" indent="0">
              <a:lnSpc>
                <a:spcPct val="108000"/>
              </a:lnSpc>
              <a:buNone/>
            </a:pPr>
            <a:endParaRPr lang="en-US" sz="1300" dirty="0"/>
          </a:p>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graph-size result is the prompt-length curve again: sharp gains to a point, then diminishing and finally negative returns. Lester found the plateau at 20 tokens, CLEP-DG at 8, and here the optimum is 256 — different units, same shape.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Two arithmetic notes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An exercise in reading tables carefully</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19</a:t>
            </a:r>
            <a:endParaRPr lang="en-US" sz="900" dirty="0"/>
          </a:p>
        </p:txBody>
      </p:sp>
      <p:sp>
        <p:nvSpPr>
          <p:cNvPr id="10" name="Shape 8"/>
          <p:cNvSpPr/>
          <p:nvPr/>
        </p:nvSpPr>
        <p:spPr>
          <a:xfrm>
            <a:off x="566928" y="1600200"/>
            <a:ext cx="5440680" cy="2194560"/>
          </a:xfrm>
          <a:prstGeom prst="roundRect">
            <a:avLst>
              <a:gd name="adj" fmla="val 2500"/>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786384" y="1892808"/>
            <a:ext cx="109728" cy="109728"/>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The Qwen2-Audio gain</a:t>
            </a:r>
            <a:endParaRPr lang="en-US" sz="1500" dirty="0"/>
          </a:p>
        </p:txBody>
      </p:sp>
      <p:sp>
        <p:nvSpPr>
          <p:cNvPr id="13" name="Text 11"/>
          <p:cNvSpPr txBox="1"/>
          <p:nvPr/>
        </p:nvSpPr>
        <p:spPr>
          <a:xfrm>
            <a:off x="822960" y="2203704"/>
            <a:ext cx="4928616" cy="1408176"/>
          </a:xfrm>
          <a:prstGeom prst="rect">
            <a:avLst/>
          </a:prstGeom>
          <a:noFill/>
          <a:ln/>
        </p:spPr>
        <p:txBody>
          <a:bodyPr wrap="square" lIns="0" tIns="0" rIns="0" bIns="0" rtlCol="0" anchor="t"/>
          <a:lstStyle/>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The abstract and Table 1 both report +9.1 points for Qwen2-Audio: 55.8 direct to 64.9 with CCoT-Emo.</a:t>
            </a:r>
            <a:endParaRPr lang="en-US" sz="1250" dirty="0"/>
          </a:p>
          <a:p>
            <a:pPr marL="0" indent="0">
              <a:lnSpc>
                <a:spcPct val="108000"/>
              </a:lnSpc>
              <a:buNone/>
            </a:pPr>
            <a:endParaRPr lang="en-US" sz="1250" dirty="0"/>
          </a:p>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The results section states that CCoT-Emo enhances Qwen2-Audio and Qwen2.5-Omni by +6.1% and +8.3% respectively.</a:t>
            </a:r>
            <a:endParaRPr lang="en-US" sz="1250" dirty="0"/>
          </a:p>
          <a:p>
            <a:pPr marL="0" indent="0">
              <a:lnSpc>
                <a:spcPct val="108000"/>
              </a:lnSpc>
              <a:buNone/>
            </a:pPr>
            <a:endParaRPr lang="en-US" sz="1250" dirty="0"/>
          </a:p>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The +8.3 matches; the +6.1 does not match either the table or the abstract.</a:t>
            </a:r>
            <a:endParaRPr lang="en-US" sz="1250" dirty="0"/>
          </a:p>
        </p:txBody>
      </p:sp>
      <p:sp>
        <p:nvSpPr>
          <p:cNvPr id="14" name="Shape 12"/>
          <p:cNvSpPr/>
          <p:nvPr/>
        </p:nvSpPr>
        <p:spPr>
          <a:xfrm>
            <a:off x="6190488" y="1600200"/>
            <a:ext cx="5440680" cy="2194560"/>
          </a:xfrm>
          <a:prstGeom prst="roundRect">
            <a:avLst>
              <a:gd name="adj" fmla="val 2500"/>
            </a:avLst>
          </a:prstGeom>
          <a:solidFill>
            <a:srgbClr val="F3F1F6"/>
          </a:solidFill>
          <a:ln w="12700">
            <a:solidFill>
              <a:srgbClr val="E4E0EC"/>
            </a:solidFill>
            <a:prstDash val="solid"/>
          </a:ln>
        </p:spPr>
        <p:txBody>
          <a:bodyPr/>
          <a:lstStyle/>
          <a:p>
            <a:endParaRPr lang="en-US"/>
          </a:p>
        </p:txBody>
      </p:sp>
      <p:sp>
        <p:nvSpPr>
          <p:cNvPr id="15" name="Shape 13"/>
          <p:cNvSpPr/>
          <p:nvPr/>
        </p:nvSpPr>
        <p:spPr>
          <a:xfrm>
            <a:off x="6409944" y="1892808"/>
            <a:ext cx="109728" cy="109728"/>
          </a:xfrm>
          <a:prstGeom prst="ellipse">
            <a:avLst/>
          </a:prstGeom>
          <a:solidFill>
            <a:srgbClr val="7F9E2E"/>
          </a:solidFill>
          <a:ln w="12700">
            <a:solidFill>
              <a:srgbClr val="333333"/>
            </a:solidFill>
            <a:prstDash val="solid"/>
          </a:ln>
        </p:spPr>
        <p:txBody>
          <a:bodyPr/>
          <a:lstStyle/>
          <a:p>
            <a:endParaRPr lang="en-US"/>
          </a:p>
        </p:txBody>
      </p:sp>
      <p:sp>
        <p:nvSpPr>
          <p:cNvPr id="16" name="Text 14"/>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1E1926"/>
                </a:solidFill>
                <a:latin typeface="Cambria" pitchFamily="34" charset="0"/>
                <a:ea typeface="Cambria" pitchFamily="34" charset="-122"/>
                <a:cs typeface="Cambria" pitchFamily="34" charset="-120"/>
              </a:rPr>
              <a:t>The 3B gain</a:t>
            </a:r>
            <a:endParaRPr lang="en-US" sz="1500" dirty="0"/>
          </a:p>
        </p:txBody>
      </p:sp>
      <p:sp>
        <p:nvSpPr>
          <p:cNvPr id="17" name="Text 15"/>
          <p:cNvSpPr txBox="1"/>
          <p:nvPr/>
        </p:nvSpPr>
        <p:spPr>
          <a:xfrm>
            <a:off x="6446520" y="2203704"/>
            <a:ext cx="4928616" cy="1408176"/>
          </a:xfrm>
          <a:prstGeom prst="rect">
            <a:avLst/>
          </a:prstGeom>
          <a:noFill/>
          <a:ln/>
        </p:spPr>
        <p:txBody>
          <a:bodyPr wrap="square" lIns="0" tIns="0" rIns="0" bIns="0" rtlCol="0" anchor="t"/>
          <a:lstStyle/>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Table 2 gives Qwen2.5-Omni-3B at 46.6 and 3B with CCoT-Emo at 50.9 — a difference of 4.3 points.</a:t>
            </a:r>
            <a:endParaRPr lang="en-US" sz="1250" dirty="0"/>
          </a:p>
          <a:p>
            <a:pPr marL="0" indent="0">
              <a:lnSpc>
                <a:spcPct val="108000"/>
              </a:lnSpc>
              <a:buNone/>
            </a:pPr>
            <a:endParaRPr lang="en-US" sz="1250" dirty="0"/>
          </a:p>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The ablation text says the 3B variant improves SER accuracy by 3.9%.</a:t>
            </a:r>
            <a:endParaRPr lang="en-US" sz="1250" dirty="0"/>
          </a:p>
          <a:p>
            <a:pPr marL="0" indent="0">
              <a:lnSpc>
                <a:spcPct val="108000"/>
              </a:lnSpc>
              <a:buNone/>
            </a:pPr>
            <a:endParaRPr lang="en-US" sz="1250" dirty="0"/>
          </a:p>
          <a:p>
            <a:pPr marL="0" indent="0">
              <a:lnSpc>
                <a:spcPct val="108000"/>
              </a:lnSpc>
              <a:buNone/>
            </a:pPr>
            <a:r>
              <a:rPr lang="en-US" sz="1250" dirty="0">
                <a:solidFill>
                  <a:srgbClr val="2F2838"/>
                </a:solidFill>
                <a:latin typeface="Calibri" pitchFamily="34" charset="0"/>
                <a:ea typeface="Calibri" pitchFamily="34" charset="-122"/>
                <a:cs typeface="Calibri" pitchFamily="34" charset="-120"/>
              </a:rPr>
              <a:t>Neither discrepancy changes a conclusion.</a:t>
            </a:r>
            <a:endParaRPr lang="en-US" sz="1250" dirty="0"/>
          </a:p>
        </p:txBody>
      </p:sp>
      <p:sp>
        <p:nvSpPr>
          <p:cNvPr id="18" name="Shape 16"/>
          <p:cNvSpPr/>
          <p:nvPr/>
        </p:nvSpPr>
        <p:spPr>
          <a:xfrm>
            <a:off x="566928" y="3950208"/>
            <a:ext cx="11064240" cy="2103120"/>
          </a:xfrm>
          <a:prstGeom prst="roundRect">
            <a:avLst>
              <a:gd name="adj" fmla="val 2609"/>
            </a:avLst>
          </a:prstGeom>
          <a:solidFill>
            <a:srgbClr val="2B2535"/>
          </a:solidFill>
          <a:ln w="12700">
            <a:solidFill>
              <a:srgbClr val="2B2535"/>
            </a:solidFill>
            <a:prstDash val="solid"/>
          </a:ln>
        </p:spPr>
        <p:txBody>
          <a:bodyPr/>
          <a:lstStyle/>
          <a:p>
            <a:endParaRPr lang="en-US"/>
          </a:p>
        </p:txBody>
      </p:sp>
      <p:sp>
        <p:nvSpPr>
          <p:cNvPr id="19" name="Shape 17"/>
          <p:cNvSpPr/>
          <p:nvPr/>
        </p:nvSpPr>
        <p:spPr>
          <a:xfrm>
            <a:off x="786384" y="4242816"/>
            <a:ext cx="109728" cy="109728"/>
          </a:xfrm>
          <a:prstGeom prst="ellipse">
            <a:avLst/>
          </a:prstGeom>
          <a:solidFill>
            <a:srgbClr val="7F9E2E"/>
          </a:solidFill>
          <a:ln w="12700">
            <a:solidFill>
              <a:srgbClr val="333333"/>
            </a:solidFill>
            <a:prstDash val="solid"/>
          </a:ln>
        </p:spPr>
        <p:txBody>
          <a:bodyPr/>
          <a:lstStyle/>
          <a:p>
            <a:endParaRPr lang="en-US"/>
          </a:p>
        </p:txBody>
      </p:sp>
      <p:sp>
        <p:nvSpPr>
          <p:cNvPr id="20" name="Text 18"/>
          <p:cNvSpPr txBox="1"/>
          <p:nvPr/>
        </p:nvSpPr>
        <p:spPr>
          <a:xfrm>
            <a:off x="987552" y="411480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raise this in a seminar</a:t>
            </a:r>
            <a:endParaRPr lang="en-US" sz="1500" dirty="0"/>
          </a:p>
        </p:txBody>
      </p:sp>
      <p:sp>
        <p:nvSpPr>
          <p:cNvPr id="21" name="Text 19"/>
          <p:cNvSpPr txBox="1"/>
          <p:nvPr/>
        </p:nvSpPr>
        <p:spPr>
          <a:xfrm>
            <a:off x="822960" y="4553712"/>
            <a:ext cx="10552176" cy="1316736"/>
          </a:xfrm>
          <a:prstGeom prst="rect">
            <a:avLst/>
          </a:prstGeom>
          <a:noFill/>
          <a:ln/>
        </p:spPr>
        <p:txBody>
          <a:bodyPr wrap="square" lIns="0" tIns="0" rIns="0" bIns="0" rtlCol="0" anchor="t"/>
          <a:lstStyle/>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We have found one of these in almost every paper this term — wav2vec 2.0's 5.2/8.6, AffectNet's RMSE, MSP-Podcast's kappa-versus-alpha labelling, EAA's Table 3 averages.</a:t>
            </a:r>
            <a:endParaRPr lang="en-US" sz="1300" dirty="0"/>
          </a:p>
          <a:p>
            <a:pPr marL="0" indent="0">
              <a:lnSpc>
                <a:spcPct val="108000"/>
              </a:lnSpc>
              <a:buNone/>
            </a:pPr>
            <a:endParaRPr lang="en-US" sz="1300" dirty="0"/>
          </a:p>
          <a:p>
            <a:pPr marL="0" indent="0">
              <a:lnSpc>
                <a:spcPct val="108000"/>
              </a:lnSpc>
              <a:buNone/>
            </a:pPr>
            <a:r>
              <a:rPr lang="en-US" sz="1300" dirty="0">
                <a:solidFill>
                  <a:srgbClr val="CFC8DD"/>
                </a:solidFill>
                <a:latin typeface="Calibri" pitchFamily="34" charset="0"/>
                <a:ea typeface="Calibri" pitchFamily="34" charset="-122"/>
                <a:cs typeface="Calibri" pitchFamily="34" charset="-120"/>
              </a:rPr>
              <a:t>The habit generalises: when a paper states an improvement in prose, check it against the table it came from. These are the kind of numbers that propagate into secondary literature if nobody looks.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625328" y="5458968"/>
            <a:ext cx="402336" cy="292608"/>
          </a:xfrm>
          <a:prstGeom prst="line">
            <a:avLst/>
          </a:prstGeom>
          <a:noFill/>
          <a:ln w="15240">
            <a:solidFill>
              <a:srgbClr val="AFA6C2"/>
            </a:solidFill>
            <a:prstDash val="solid"/>
          </a:ln>
        </p:spPr>
        <p:txBody>
          <a:bodyPr/>
          <a:lstStyle/>
          <a:p>
            <a:endParaRPr lang="en-US"/>
          </a:p>
        </p:txBody>
      </p:sp>
      <p:sp>
        <p:nvSpPr>
          <p:cNvPr id="3" name="Shape 1"/>
          <p:cNvSpPr/>
          <p:nvPr/>
        </p:nvSpPr>
        <p:spPr>
          <a:xfrm>
            <a:off x="10625328" y="5458968"/>
            <a:ext cx="475488" cy="0"/>
          </a:xfrm>
          <a:prstGeom prst="line">
            <a:avLst/>
          </a:prstGeom>
          <a:noFill/>
          <a:ln w="15240">
            <a:solidFill>
              <a:srgbClr val="AFA6C2"/>
            </a:solidFill>
            <a:prstDash val="solid"/>
          </a:ln>
        </p:spPr>
        <p:txBody>
          <a:bodyPr/>
          <a:lstStyle/>
          <a:p>
            <a:endParaRPr lang="en-US"/>
          </a:p>
        </p:txBody>
      </p:sp>
      <p:sp>
        <p:nvSpPr>
          <p:cNvPr id="4" name="Shape 2"/>
          <p:cNvSpPr/>
          <p:nvPr/>
        </p:nvSpPr>
        <p:spPr>
          <a:xfrm>
            <a:off x="10515600"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0991088" y="5349240"/>
            <a:ext cx="219456" cy="219456"/>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0917936" y="5641848"/>
            <a:ext cx="219456" cy="219456"/>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7F9E2E"/>
                </a:solidFill>
                <a:latin typeface="Cambria" pitchFamily="34" charset="0"/>
                <a:ea typeface="Cambria" pitchFamily="34" charset="-122"/>
                <a:cs typeface="Cambria" pitchFamily="34" charset="-120"/>
              </a:rPr>
              <a:t>5</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FC8DD"/>
                </a:solidFill>
                <a:latin typeface="Calibri" pitchFamily="34" charset="0"/>
                <a:ea typeface="Calibri" pitchFamily="34" charset="-122"/>
                <a:cs typeface="Calibri" pitchFamily="34" charset="-120"/>
              </a:rPr>
              <a:t>What 'zero-shot' and 'plug-and-play' mean here</a:t>
            </a:r>
            <a:endParaRPr lang="en-US" sz="1500" dirty="0"/>
          </a:p>
        </p:txBody>
      </p:sp>
      <p:sp>
        <p:nvSpPr>
          <p:cNvPr id="10" name="Text 8"/>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Interrogating the two labels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Both claims are true, and both need qualifying</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21</a:t>
            </a:r>
            <a:endParaRPr lang="en-US" sz="900" dirty="0"/>
          </a:p>
        </p:txBody>
      </p:sp>
      <p:sp>
        <p:nvSpPr>
          <p:cNvPr id="10" name="Shape 8"/>
          <p:cNvSpPr/>
          <p:nvPr/>
        </p:nvSpPr>
        <p:spPr>
          <a:xfrm>
            <a:off x="566928" y="1554480"/>
            <a:ext cx="11064240" cy="1042416"/>
          </a:xfrm>
          <a:prstGeom prst="roundRect">
            <a:avLst>
              <a:gd name="adj" fmla="val 2632"/>
            </a:avLst>
          </a:prstGeom>
          <a:solidFill>
            <a:srgbClr val="F3F1F6"/>
          </a:solidFill>
          <a:ln w="12700">
            <a:solidFill>
              <a:srgbClr val="EAE6F0"/>
            </a:solidFill>
            <a:prstDash val="solid"/>
          </a:ln>
        </p:spPr>
        <p:txBody>
          <a:bodyPr/>
          <a:lstStyle/>
          <a:p>
            <a:endParaRPr lang="en-US"/>
          </a:p>
        </p:txBody>
      </p:sp>
      <p:sp>
        <p:nvSpPr>
          <p:cNvPr id="11" name="Shape 9"/>
          <p:cNvSpPr/>
          <p:nvPr/>
        </p:nvSpPr>
        <p:spPr>
          <a:xfrm>
            <a:off x="786384" y="2016252"/>
            <a:ext cx="118872" cy="118872"/>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1024128" y="1645920"/>
            <a:ext cx="3566160" cy="859536"/>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Zero-shot — for the audio LLM</a:t>
            </a:r>
            <a:endParaRPr lang="en-US" sz="1300" dirty="0"/>
          </a:p>
        </p:txBody>
      </p:sp>
      <p:sp>
        <p:nvSpPr>
          <p:cNvPr id="13" name="Text 11"/>
          <p:cNvSpPr txBox="1"/>
          <p:nvPr/>
        </p:nvSpPr>
        <p:spPr>
          <a:xfrm>
            <a:off x="4773168" y="1627632"/>
            <a:ext cx="6675120" cy="896112"/>
          </a:xfrm>
          <a:prstGeom prst="rect">
            <a:avLst/>
          </a:prstGeom>
          <a:noFill/>
          <a:ln/>
        </p:spPr>
        <p:txBody>
          <a:bodyPr wrap="square" lIns="0" tIns="0" rIns="0" bIns="0" rtlCol="0" anchor="ctr"/>
          <a:lstStyle/>
          <a:p>
            <a:pPr marL="0" indent="0">
              <a:buNone/>
            </a:pPr>
            <a:r>
              <a:rPr lang="en-US" sz="1220" dirty="0">
                <a:solidFill>
                  <a:srgbClr val="2F2838"/>
                </a:solidFill>
                <a:latin typeface="Calibri" pitchFamily="34" charset="0"/>
                <a:ea typeface="Calibri" pitchFamily="34" charset="-122"/>
                <a:cs typeface="Calibri" pitchFamily="34" charset="-120"/>
              </a:rPr>
              <a:t>Accurate. No parameter of Qwen2-Audio, Qwen2.5-Omni or Kimi-Audio is updated, and no emotion-labelled training data is consumed by any component of the pipeline.</a:t>
            </a:r>
            <a:endParaRPr lang="en-US" sz="1220" dirty="0"/>
          </a:p>
        </p:txBody>
      </p:sp>
      <p:sp>
        <p:nvSpPr>
          <p:cNvPr id="14" name="Shape 12"/>
          <p:cNvSpPr/>
          <p:nvPr/>
        </p:nvSpPr>
        <p:spPr>
          <a:xfrm>
            <a:off x="566928" y="2651760"/>
            <a:ext cx="11064240" cy="1042416"/>
          </a:xfrm>
          <a:prstGeom prst="roundRect">
            <a:avLst>
              <a:gd name="adj" fmla="val 2632"/>
            </a:avLst>
          </a:prstGeom>
          <a:solidFill>
            <a:srgbClr val="FFFFFF"/>
          </a:solidFill>
          <a:ln w="12700">
            <a:solidFill>
              <a:srgbClr val="EAE6F0"/>
            </a:solidFill>
            <a:prstDash val="solid"/>
          </a:ln>
        </p:spPr>
        <p:txBody>
          <a:bodyPr/>
          <a:lstStyle/>
          <a:p>
            <a:endParaRPr lang="en-US"/>
          </a:p>
        </p:txBody>
      </p:sp>
      <p:sp>
        <p:nvSpPr>
          <p:cNvPr id="15" name="Shape 13"/>
          <p:cNvSpPr/>
          <p:nvPr/>
        </p:nvSpPr>
        <p:spPr>
          <a:xfrm>
            <a:off x="786384" y="3113532"/>
            <a:ext cx="118872" cy="118872"/>
          </a:xfrm>
          <a:prstGeom prst="ellipse">
            <a:avLst/>
          </a:prstGeom>
          <a:solidFill>
            <a:srgbClr val="5E4E7A"/>
          </a:solidFill>
          <a:ln w="12700">
            <a:solidFill>
              <a:srgbClr val="333333"/>
            </a:solidFill>
            <a:prstDash val="solid"/>
          </a:ln>
        </p:spPr>
        <p:txBody>
          <a:bodyPr/>
          <a:lstStyle/>
          <a:p>
            <a:endParaRPr lang="en-US"/>
          </a:p>
        </p:txBody>
      </p:sp>
      <p:sp>
        <p:nvSpPr>
          <p:cNvPr id="16" name="Text 14"/>
          <p:cNvSpPr txBox="1"/>
          <p:nvPr/>
        </p:nvSpPr>
        <p:spPr>
          <a:xfrm>
            <a:off x="1024128" y="2743200"/>
            <a:ext cx="3566160" cy="859536"/>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Zero-shot — for the system</a:t>
            </a:r>
            <a:endParaRPr lang="en-US" sz="1300" dirty="0"/>
          </a:p>
        </p:txBody>
      </p:sp>
      <p:sp>
        <p:nvSpPr>
          <p:cNvPr id="17" name="Text 15"/>
          <p:cNvSpPr txBox="1"/>
          <p:nvPr/>
        </p:nvSpPr>
        <p:spPr>
          <a:xfrm>
            <a:off x="4773168" y="2724912"/>
            <a:ext cx="6675120" cy="896112"/>
          </a:xfrm>
          <a:prstGeom prst="rect">
            <a:avLst/>
          </a:prstGeom>
          <a:noFill/>
          <a:ln/>
        </p:spPr>
        <p:txBody>
          <a:bodyPr wrap="square" lIns="0" tIns="0" rIns="0" bIns="0" rtlCol="0" anchor="ctr"/>
          <a:lstStyle/>
          <a:p>
            <a:pPr marL="0" indent="0">
              <a:buNone/>
            </a:pPr>
            <a:r>
              <a:rPr lang="en-US" sz="1220" dirty="0">
                <a:solidFill>
                  <a:srgbClr val="2F2838"/>
                </a:solidFill>
                <a:latin typeface="Calibri" pitchFamily="34" charset="0"/>
                <a:ea typeface="Calibri" pitchFamily="34" charset="-122"/>
                <a:cs typeface="Calibri" pitchFamily="34" charset="-120"/>
              </a:rPr>
              <a:t>Qualified. The RoBERTa sentiment classifier is supervised on sentiment, and its output is the single largest contributor in the component ablation. No emotion labels, but not label-free.</a:t>
            </a:r>
            <a:endParaRPr lang="en-US" sz="1220" dirty="0"/>
          </a:p>
        </p:txBody>
      </p:sp>
      <p:sp>
        <p:nvSpPr>
          <p:cNvPr id="18" name="Shape 16"/>
          <p:cNvSpPr/>
          <p:nvPr/>
        </p:nvSpPr>
        <p:spPr>
          <a:xfrm>
            <a:off x="566928" y="3749040"/>
            <a:ext cx="11064240" cy="1042416"/>
          </a:xfrm>
          <a:prstGeom prst="roundRect">
            <a:avLst>
              <a:gd name="adj" fmla="val 2632"/>
            </a:avLst>
          </a:prstGeom>
          <a:solidFill>
            <a:srgbClr val="F3F1F6"/>
          </a:solidFill>
          <a:ln w="12700">
            <a:solidFill>
              <a:srgbClr val="EAE6F0"/>
            </a:solidFill>
            <a:prstDash val="solid"/>
          </a:ln>
        </p:spPr>
        <p:txBody>
          <a:bodyPr/>
          <a:lstStyle/>
          <a:p>
            <a:endParaRPr lang="en-US"/>
          </a:p>
        </p:txBody>
      </p:sp>
      <p:sp>
        <p:nvSpPr>
          <p:cNvPr id="19" name="Shape 17"/>
          <p:cNvSpPr/>
          <p:nvPr/>
        </p:nvSpPr>
        <p:spPr>
          <a:xfrm>
            <a:off x="786384" y="4210812"/>
            <a:ext cx="118872" cy="118872"/>
          </a:xfrm>
          <a:prstGeom prst="ellipse">
            <a:avLst/>
          </a:prstGeom>
          <a:solidFill>
            <a:srgbClr val="5E4E7A"/>
          </a:solidFill>
          <a:ln w="12700">
            <a:solidFill>
              <a:srgbClr val="333333"/>
            </a:solidFill>
            <a:prstDash val="solid"/>
          </a:ln>
        </p:spPr>
        <p:txBody>
          <a:bodyPr/>
          <a:lstStyle/>
          <a:p>
            <a:endParaRPr lang="en-US"/>
          </a:p>
        </p:txBody>
      </p:sp>
      <p:sp>
        <p:nvSpPr>
          <p:cNvPr id="20" name="Text 18"/>
          <p:cNvSpPr txBox="1"/>
          <p:nvPr/>
        </p:nvSpPr>
        <p:spPr>
          <a:xfrm>
            <a:off x="1024128" y="3840480"/>
            <a:ext cx="3566160" cy="859536"/>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Plug-and-play — for integration</a:t>
            </a:r>
            <a:endParaRPr lang="en-US" sz="1300" dirty="0"/>
          </a:p>
        </p:txBody>
      </p:sp>
      <p:sp>
        <p:nvSpPr>
          <p:cNvPr id="21" name="Text 19"/>
          <p:cNvSpPr txBox="1"/>
          <p:nvPr/>
        </p:nvSpPr>
        <p:spPr>
          <a:xfrm>
            <a:off x="4773168" y="3822192"/>
            <a:ext cx="6675120" cy="896112"/>
          </a:xfrm>
          <a:prstGeom prst="rect">
            <a:avLst/>
          </a:prstGeom>
          <a:noFill/>
          <a:ln/>
        </p:spPr>
        <p:txBody>
          <a:bodyPr wrap="square" lIns="0" tIns="0" rIns="0" bIns="0" rtlCol="0" anchor="ctr"/>
          <a:lstStyle/>
          <a:p>
            <a:pPr marL="0" indent="0">
              <a:buNone/>
            </a:pPr>
            <a:r>
              <a:rPr lang="en-US" sz="1220" dirty="0">
                <a:solidFill>
                  <a:srgbClr val="2F2838"/>
                </a:solidFill>
                <a:latin typeface="Calibri" pitchFamily="34" charset="0"/>
                <a:ea typeface="Calibri" pitchFamily="34" charset="-122"/>
                <a:cs typeface="Calibri" pitchFamily="34" charset="-120"/>
              </a:rPr>
              <a:t>Accurate. The graph is text, so it drops into any instruction-following audio LLM, and the paper demonstrates this across three architectures.</a:t>
            </a:r>
            <a:endParaRPr lang="en-US" sz="1220" dirty="0"/>
          </a:p>
        </p:txBody>
      </p:sp>
      <p:sp>
        <p:nvSpPr>
          <p:cNvPr id="22" name="Shape 20"/>
          <p:cNvSpPr/>
          <p:nvPr/>
        </p:nvSpPr>
        <p:spPr>
          <a:xfrm>
            <a:off x="566928" y="4846320"/>
            <a:ext cx="11064240" cy="1042416"/>
          </a:xfrm>
          <a:prstGeom prst="roundRect">
            <a:avLst>
              <a:gd name="adj" fmla="val 2632"/>
            </a:avLst>
          </a:prstGeom>
          <a:solidFill>
            <a:srgbClr val="FFFFFF"/>
          </a:solidFill>
          <a:ln w="12700">
            <a:solidFill>
              <a:srgbClr val="EAE6F0"/>
            </a:solidFill>
            <a:prstDash val="solid"/>
          </a:ln>
        </p:spPr>
        <p:txBody>
          <a:bodyPr/>
          <a:lstStyle/>
          <a:p>
            <a:endParaRPr lang="en-US"/>
          </a:p>
        </p:txBody>
      </p:sp>
      <p:sp>
        <p:nvSpPr>
          <p:cNvPr id="23" name="Shape 21"/>
          <p:cNvSpPr/>
          <p:nvPr/>
        </p:nvSpPr>
        <p:spPr>
          <a:xfrm>
            <a:off x="786384" y="5308092"/>
            <a:ext cx="118872" cy="118872"/>
          </a:xfrm>
          <a:prstGeom prst="ellipse">
            <a:avLst/>
          </a:prstGeom>
          <a:solidFill>
            <a:srgbClr val="5E4E7A"/>
          </a:solidFill>
          <a:ln w="12700">
            <a:solidFill>
              <a:srgbClr val="333333"/>
            </a:solidFill>
            <a:prstDash val="solid"/>
          </a:ln>
        </p:spPr>
        <p:txBody>
          <a:bodyPr/>
          <a:lstStyle/>
          <a:p>
            <a:endParaRPr lang="en-US"/>
          </a:p>
        </p:txBody>
      </p:sp>
      <p:sp>
        <p:nvSpPr>
          <p:cNvPr id="24" name="Text 22"/>
          <p:cNvSpPr txBox="1"/>
          <p:nvPr/>
        </p:nvSpPr>
        <p:spPr>
          <a:xfrm>
            <a:off x="1024128" y="4937760"/>
            <a:ext cx="3566160" cy="859536"/>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Plug-and-play — for deployment</a:t>
            </a:r>
            <a:endParaRPr lang="en-US" sz="1300" dirty="0"/>
          </a:p>
        </p:txBody>
      </p:sp>
      <p:sp>
        <p:nvSpPr>
          <p:cNvPr id="25" name="Text 23"/>
          <p:cNvSpPr txBox="1"/>
          <p:nvPr/>
        </p:nvSpPr>
        <p:spPr>
          <a:xfrm>
            <a:off x="4773168" y="4919472"/>
            <a:ext cx="6675120" cy="896112"/>
          </a:xfrm>
          <a:prstGeom prst="rect">
            <a:avLst/>
          </a:prstGeom>
          <a:noFill/>
          <a:ln/>
        </p:spPr>
        <p:txBody>
          <a:bodyPr wrap="square" lIns="0" tIns="0" rIns="0" bIns="0" rtlCol="0" anchor="ctr"/>
          <a:lstStyle/>
          <a:p>
            <a:pPr marL="0" indent="0">
              <a:buNone/>
            </a:pPr>
            <a:r>
              <a:rPr lang="en-US" sz="1220" dirty="0">
                <a:solidFill>
                  <a:srgbClr val="2F2838"/>
                </a:solidFill>
                <a:latin typeface="Calibri" pitchFamily="34" charset="0"/>
                <a:ea typeface="Calibri" pitchFamily="34" charset="-122"/>
                <a:cs typeface="Calibri" pitchFamily="34" charset="-120"/>
              </a:rPr>
              <a:t>Qualified. Each prediction requires openSMILE, a sentiment classifier, KeyBERT, a GPT-4 call, sometimes Whisper, and then the audio LLM. Latency and cost are not reported.</a:t>
            </a:r>
            <a:endParaRPr lang="en-US" sz="1220" dirty="0"/>
          </a:p>
        </p:txBody>
      </p:sp>
      <p:sp>
        <p:nvSpPr>
          <p:cNvPr id="26" name="Shape 24"/>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Critical appraisal</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What the design buys, and the open threads</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22</a:t>
            </a:r>
            <a:endParaRPr lang="en-US" sz="900" dirty="0"/>
          </a:p>
        </p:txBody>
      </p:sp>
      <p:sp>
        <p:nvSpPr>
          <p:cNvPr id="10" name="Shape 8"/>
          <p:cNvSpPr/>
          <p:nvPr/>
        </p:nvSpPr>
        <p:spPr>
          <a:xfrm>
            <a:off x="566928" y="1554480"/>
            <a:ext cx="5440680" cy="4498848"/>
          </a:xfrm>
          <a:prstGeom prst="roundRect">
            <a:avLst>
              <a:gd name="adj" fmla="val 1220"/>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1E1926"/>
                </a:solidFill>
                <a:latin typeface="Cambria" pitchFamily="34" charset="0"/>
                <a:ea typeface="Cambria" pitchFamily="34" charset="-122"/>
                <a:cs typeface="Cambria" pitchFamily="34" charset="-120"/>
              </a:rPr>
              <a:t>Strengths</a:t>
            </a:r>
            <a:endParaRPr lang="en-US" sz="1700" dirty="0"/>
          </a:p>
        </p:txBody>
      </p:sp>
      <p:sp>
        <p:nvSpPr>
          <p:cNvPr id="13" name="Text 11"/>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Seven ablation conditions in a four-page paper — unusually thorough for the format, and they test the thesis rather than just the system.</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The spectrogram and LALM-describes-prosody ablations are the right controls: they isolate the form of the information from its presence.</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Consistent gains across three architectures, which supports the plug-and-play claim better than any single number.</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Genuine multilingual breadth — three of five test sets are Chinese or bilingual.</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An interpretable intermediate representation that a human can read and check, which almost nothing else in this series offers.</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The negative ZS-CoT result is reported rather than buried.</a:t>
            </a:r>
            <a:endParaRPr lang="en-US" sz="1220" dirty="0"/>
          </a:p>
        </p:txBody>
      </p:sp>
      <p:sp>
        <p:nvSpPr>
          <p:cNvPr id="14" name="Shape 12"/>
          <p:cNvSpPr/>
          <p:nvPr/>
        </p:nvSpPr>
        <p:spPr>
          <a:xfrm>
            <a:off x="6190488" y="1554480"/>
            <a:ext cx="5440680" cy="4498848"/>
          </a:xfrm>
          <a:prstGeom prst="roundRect">
            <a:avLst>
              <a:gd name="adj" fmla="val 1220"/>
            </a:avLst>
          </a:prstGeom>
          <a:solidFill>
            <a:srgbClr val="F3F1F6"/>
          </a:solidFill>
          <a:ln w="12700">
            <a:solidFill>
              <a:srgbClr val="E4E0EC"/>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7F9E2E"/>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1E1926"/>
                </a:solidFill>
                <a:latin typeface="Cambria" pitchFamily="34" charset="0"/>
                <a:ea typeface="Cambria" pitchFamily="34" charset="-122"/>
                <a:cs typeface="Cambria" pitchFamily="34" charset="-120"/>
              </a:rPr>
              <a:t>Open threads</a:t>
            </a:r>
            <a:endParaRPr lang="en-US" sz="1700" dirty="0"/>
          </a:p>
        </p:txBody>
      </p:sp>
      <p:sp>
        <p:nvSpPr>
          <p:cNvPr id="17" name="Text 15"/>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No graph-only control: we cannot tell whether the audio contributes anything once the graph is present.</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The largest component is a supervised text sentiment classifier, which the paper does not remark on.</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Accuracy only, on corpora known to be imbalanced — no unweighted accuracy or per-class breakdown.</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No cost or latency reporting for a six-component pipeline with a GPT-4 call per utterance.</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Acoustic discretisation thresholds are computed over the corpus, which complicates single-utterance deployment.</a:t>
            </a:r>
            <a:endParaRPr lang="en-US" sz="1220" dirty="0"/>
          </a:p>
          <a:p>
            <a:pPr marL="0" indent="0">
              <a:lnSpc>
                <a:spcPct val="108000"/>
              </a:lnSpc>
              <a:buNone/>
            </a:pPr>
            <a:endParaRPr lang="en-US" sz="1220" dirty="0"/>
          </a:p>
          <a:p>
            <a:pPr marL="0" indent="0">
              <a:lnSpc>
                <a:spcPct val="108000"/>
              </a:lnSpc>
              <a:buNone/>
            </a:pPr>
            <a:r>
              <a:rPr lang="en-US" sz="1220" dirty="0">
                <a:solidFill>
                  <a:srgbClr val="2F2838"/>
                </a:solidFill>
                <a:latin typeface="Calibri" pitchFamily="34" charset="0"/>
                <a:ea typeface="Calibri" pitchFamily="34" charset="-122"/>
                <a:cs typeface="Calibri" pitchFamily="34" charset="-120"/>
              </a:rPr>
              <a:t>No seeds or variance; generation from LLMs is stochastic and single runs are reported.</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10544" y="512064"/>
            <a:ext cx="201168" cy="146304"/>
          </a:xfrm>
          <a:prstGeom prst="line">
            <a:avLst/>
          </a:prstGeom>
          <a:noFill/>
          <a:ln w="15240">
            <a:solidFill>
              <a:srgbClr val="B4ABC6"/>
            </a:solidFill>
            <a:prstDash val="solid"/>
          </a:ln>
        </p:spPr>
        <p:txBody>
          <a:bodyPr/>
          <a:lstStyle/>
          <a:p>
            <a:endParaRPr lang="en-US"/>
          </a:p>
        </p:txBody>
      </p:sp>
      <p:sp>
        <p:nvSpPr>
          <p:cNvPr id="3" name="Shape 1"/>
          <p:cNvSpPr/>
          <p:nvPr/>
        </p:nvSpPr>
        <p:spPr>
          <a:xfrm>
            <a:off x="11210544" y="512064"/>
            <a:ext cx="237744" cy="0"/>
          </a:xfrm>
          <a:prstGeom prst="line">
            <a:avLst/>
          </a:prstGeom>
          <a:noFill/>
          <a:ln w="15240">
            <a:solidFill>
              <a:srgbClr val="B4ABC6"/>
            </a:solidFill>
            <a:prstDash val="solid"/>
          </a:ln>
        </p:spPr>
        <p:txBody>
          <a:bodyPr/>
          <a:lstStyle/>
          <a:p>
            <a:endParaRPr lang="en-US"/>
          </a:p>
        </p:txBody>
      </p:sp>
      <p:sp>
        <p:nvSpPr>
          <p:cNvPr id="4" name="Shape 2"/>
          <p:cNvSpPr/>
          <p:nvPr/>
        </p:nvSpPr>
        <p:spPr>
          <a:xfrm>
            <a:off x="11155680"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5" name="Shape 3"/>
          <p:cNvSpPr/>
          <p:nvPr/>
        </p:nvSpPr>
        <p:spPr>
          <a:xfrm>
            <a:off x="11393424" y="457200"/>
            <a:ext cx="109728" cy="109728"/>
          </a:xfrm>
          <a:prstGeom prst="ellipse">
            <a:avLst/>
          </a:prstGeom>
          <a:solidFill>
            <a:srgbClr val="5E4E7A"/>
          </a:solidFill>
          <a:ln w="12700">
            <a:solidFill>
              <a:srgbClr val="333333"/>
            </a:solidFill>
            <a:prstDash val="solid"/>
          </a:ln>
        </p:spPr>
        <p:txBody>
          <a:bodyPr/>
          <a:lstStyle/>
          <a:p>
            <a:endParaRPr lang="en-US"/>
          </a:p>
        </p:txBody>
      </p:sp>
      <p:sp>
        <p:nvSpPr>
          <p:cNvPr id="6" name="Shape 4"/>
          <p:cNvSpPr/>
          <p:nvPr/>
        </p:nvSpPr>
        <p:spPr>
          <a:xfrm>
            <a:off x="11356848" y="603504"/>
            <a:ext cx="109728" cy="109728"/>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1E1926"/>
                </a:solidFill>
                <a:latin typeface="Cambria" pitchFamily="34" charset="0"/>
                <a:ea typeface="Cambria" pitchFamily="34" charset="-122"/>
                <a:cs typeface="Cambria" pitchFamily="34" charset="-120"/>
              </a:rPr>
              <a:t>Take-aways</a:t>
            </a:r>
            <a:endParaRPr lang="en-US" sz="2900" dirty="0"/>
          </a:p>
        </p:txBody>
      </p:sp>
      <p:sp>
        <p:nvSpPr>
          <p:cNvPr id="8" name="Text 6"/>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35A73"/>
                </a:solidFill>
                <a:latin typeface="Calibri" pitchFamily="34" charset="0"/>
                <a:ea typeface="Calibri" pitchFamily="34" charset="-122"/>
                <a:cs typeface="Calibri" pitchFamily="34" charset="-120"/>
              </a:rPr>
              <a:t>Four things to carry into the second half</a:t>
            </a:r>
            <a:endParaRPr lang="en-US" sz="1350" dirty="0"/>
          </a:p>
        </p:txBody>
      </p:sp>
      <p:sp>
        <p:nvSpPr>
          <p:cNvPr id="9" name="Text 7"/>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A79DBA"/>
                </a:solidFill>
                <a:latin typeface="Calibri" pitchFamily="34" charset="0"/>
                <a:ea typeface="Calibri" pitchFamily="34" charset="-122"/>
                <a:cs typeface="Calibri" pitchFamily="34" charset="-120"/>
              </a:rPr>
              <a:t>CCoT-Emo · Shi et al. 2026  |  23</a:t>
            </a:r>
            <a:endParaRPr lang="en-US" sz="900" dirty="0"/>
          </a:p>
        </p:txBody>
      </p:sp>
      <p:sp>
        <p:nvSpPr>
          <p:cNvPr id="10" name="Shape 8"/>
          <p:cNvSpPr/>
          <p:nvPr/>
        </p:nvSpPr>
        <p:spPr>
          <a:xfrm>
            <a:off x="566928" y="1572768"/>
            <a:ext cx="11064240" cy="1005840"/>
          </a:xfrm>
          <a:prstGeom prst="roundRect">
            <a:avLst>
              <a:gd name="adj" fmla="val 4545"/>
            </a:avLst>
          </a:prstGeom>
          <a:solidFill>
            <a:srgbClr val="F3F1F6"/>
          </a:solidFill>
          <a:ln w="12700">
            <a:solidFill>
              <a:srgbClr val="E4E0EC"/>
            </a:solidFill>
            <a:prstDash val="solid"/>
          </a:ln>
        </p:spPr>
        <p:txBody>
          <a:bodyPr/>
          <a:lstStyle/>
          <a:p>
            <a:endParaRPr lang="en-US"/>
          </a:p>
        </p:txBody>
      </p:sp>
      <p:sp>
        <p:nvSpPr>
          <p:cNvPr id="11" name="Shape 9"/>
          <p:cNvSpPr/>
          <p:nvPr/>
        </p:nvSpPr>
        <p:spPr>
          <a:xfrm>
            <a:off x="822960" y="1901952"/>
            <a:ext cx="347472" cy="347472"/>
          </a:xfrm>
          <a:prstGeom prst="ellipse">
            <a:avLst/>
          </a:prstGeom>
          <a:solidFill>
            <a:srgbClr val="5E4E7A"/>
          </a:solidFill>
          <a:ln w="12700">
            <a:solidFill>
              <a:srgbClr val="333333"/>
            </a:solidFill>
            <a:prstDash val="solid"/>
          </a:ln>
        </p:spPr>
        <p:txBody>
          <a:bodyPr/>
          <a:lstStyle/>
          <a:p>
            <a:endParaRPr lang="en-US"/>
          </a:p>
        </p:txBody>
      </p:sp>
      <p:sp>
        <p:nvSpPr>
          <p:cNvPr id="12" name="Text 10"/>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3" name="Text 11"/>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Structure beats narration</a:t>
            </a:r>
            <a:endParaRPr lang="en-US" sz="1300" dirty="0"/>
          </a:p>
        </p:txBody>
      </p:sp>
      <p:sp>
        <p:nvSpPr>
          <p:cNvPr id="14" name="Text 12"/>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2F2838"/>
                </a:solidFill>
                <a:latin typeface="Calibri" pitchFamily="34" charset="0"/>
                <a:ea typeface="Calibri" pitchFamily="34" charset="-122"/>
                <a:cs typeface="Calibri" pitchFamily="34" charset="-120"/>
              </a:rPr>
              <a:t>Free-form chain-of-thought is reliably negative here; a symbolic graph is reliably positive. The gain is from constraining the intermediate representation, not from adding one.</a:t>
            </a:r>
            <a:endParaRPr lang="en-US" sz="1200" dirty="0"/>
          </a:p>
        </p:txBody>
      </p:sp>
      <p:sp>
        <p:nvSpPr>
          <p:cNvPr id="15" name="Shape 13"/>
          <p:cNvSpPr/>
          <p:nvPr/>
        </p:nvSpPr>
        <p:spPr>
          <a:xfrm>
            <a:off x="566928" y="2651760"/>
            <a:ext cx="11064240" cy="1005840"/>
          </a:xfrm>
          <a:prstGeom prst="roundRect">
            <a:avLst>
              <a:gd name="adj" fmla="val 4545"/>
            </a:avLst>
          </a:prstGeom>
          <a:solidFill>
            <a:srgbClr val="FFFFFF"/>
          </a:solidFill>
          <a:ln w="12700">
            <a:solidFill>
              <a:srgbClr val="E4E0EC"/>
            </a:solidFill>
            <a:prstDash val="solid"/>
          </a:ln>
        </p:spPr>
        <p:txBody>
          <a:bodyPr/>
          <a:lstStyle/>
          <a:p>
            <a:endParaRPr lang="en-US"/>
          </a:p>
        </p:txBody>
      </p:sp>
      <p:sp>
        <p:nvSpPr>
          <p:cNvPr id="16" name="Shape 14"/>
          <p:cNvSpPr/>
          <p:nvPr/>
        </p:nvSpPr>
        <p:spPr>
          <a:xfrm>
            <a:off x="822960" y="2980944"/>
            <a:ext cx="347472" cy="347472"/>
          </a:xfrm>
          <a:prstGeom prst="ellipse">
            <a:avLst/>
          </a:prstGeom>
          <a:solidFill>
            <a:srgbClr val="5E4E7A"/>
          </a:solidFill>
          <a:ln w="12700">
            <a:solidFill>
              <a:srgbClr val="333333"/>
            </a:solidFill>
            <a:prstDash val="solid"/>
          </a:ln>
        </p:spPr>
        <p:txBody>
          <a:bodyPr/>
          <a:lstStyle/>
          <a:p>
            <a:endParaRPr lang="en-US"/>
          </a:p>
        </p:txBody>
      </p:sp>
      <p:sp>
        <p:nvSpPr>
          <p:cNvPr id="17" name="Text 15"/>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8" name="Text 16"/>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Form matters as much as content</a:t>
            </a:r>
            <a:endParaRPr lang="en-US" sz="1300" dirty="0"/>
          </a:p>
        </p:txBody>
      </p:sp>
      <p:sp>
        <p:nvSpPr>
          <p:cNvPr id="19" name="Text 17"/>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2F2838"/>
                </a:solidFill>
                <a:latin typeface="Calibri" pitchFamily="34" charset="0"/>
                <a:ea typeface="Calibri" pitchFamily="34" charset="-122"/>
                <a:cs typeface="Calibri" pitchFamily="34" charset="-120"/>
              </a:rPr>
              <a:t>The same acoustic information as spectrograms costs 5.9 points against discretised symbols. Representation is not a packaging decision.</a:t>
            </a:r>
            <a:endParaRPr lang="en-US" sz="1200" dirty="0"/>
          </a:p>
        </p:txBody>
      </p:sp>
      <p:sp>
        <p:nvSpPr>
          <p:cNvPr id="20" name="Shape 18"/>
          <p:cNvSpPr/>
          <p:nvPr/>
        </p:nvSpPr>
        <p:spPr>
          <a:xfrm>
            <a:off x="566928" y="3730752"/>
            <a:ext cx="11064240" cy="1005840"/>
          </a:xfrm>
          <a:prstGeom prst="roundRect">
            <a:avLst>
              <a:gd name="adj" fmla="val 4545"/>
            </a:avLst>
          </a:prstGeom>
          <a:solidFill>
            <a:srgbClr val="F3F1F6"/>
          </a:solidFill>
          <a:ln w="12700">
            <a:solidFill>
              <a:srgbClr val="E4E0EC"/>
            </a:solidFill>
            <a:prstDash val="solid"/>
          </a:ln>
        </p:spPr>
        <p:txBody>
          <a:bodyPr/>
          <a:lstStyle/>
          <a:p>
            <a:endParaRPr lang="en-US"/>
          </a:p>
        </p:txBody>
      </p:sp>
      <p:sp>
        <p:nvSpPr>
          <p:cNvPr id="21" name="Shape 19"/>
          <p:cNvSpPr/>
          <p:nvPr/>
        </p:nvSpPr>
        <p:spPr>
          <a:xfrm>
            <a:off x="822960" y="4059936"/>
            <a:ext cx="347472" cy="347472"/>
          </a:xfrm>
          <a:prstGeom prst="ellipse">
            <a:avLst/>
          </a:prstGeom>
          <a:solidFill>
            <a:srgbClr val="5E4E7A"/>
          </a:solidFill>
          <a:ln w="12700">
            <a:solidFill>
              <a:srgbClr val="333333"/>
            </a:solidFill>
            <a:prstDash val="solid"/>
          </a:ln>
        </p:spPr>
        <p:txBody>
          <a:bodyPr/>
          <a:lstStyle/>
          <a:p>
            <a:endParaRPr lang="en-US"/>
          </a:p>
        </p:txBody>
      </p:sp>
      <p:sp>
        <p:nvSpPr>
          <p:cNvPr id="22" name="Text 20"/>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21"/>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Measure outside the model</a:t>
            </a:r>
            <a:endParaRPr lang="en-US" sz="1300" dirty="0"/>
          </a:p>
        </p:txBody>
      </p:sp>
      <p:sp>
        <p:nvSpPr>
          <p:cNvPr id="24" name="Text 22"/>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2F2838"/>
                </a:solidFill>
                <a:latin typeface="Calibri" pitchFamily="34" charset="0"/>
                <a:ea typeface="Calibri" pitchFamily="34" charset="-122"/>
                <a:cs typeface="Calibri" pitchFamily="34" charset="-120"/>
              </a:rPr>
              <a:t>Asking the audio LLM to describe its own prosody costs 2.2 points. openSMILE cannot hallucinate a pitch value.</a:t>
            </a:r>
            <a:endParaRPr lang="en-US" sz="1200" dirty="0"/>
          </a:p>
        </p:txBody>
      </p:sp>
      <p:sp>
        <p:nvSpPr>
          <p:cNvPr id="25" name="Shape 23"/>
          <p:cNvSpPr/>
          <p:nvPr/>
        </p:nvSpPr>
        <p:spPr>
          <a:xfrm>
            <a:off x="566928" y="4809744"/>
            <a:ext cx="11064240" cy="1005840"/>
          </a:xfrm>
          <a:prstGeom prst="roundRect">
            <a:avLst>
              <a:gd name="adj" fmla="val 4545"/>
            </a:avLst>
          </a:prstGeom>
          <a:solidFill>
            <a:srgbClr val="FFFFFF"/>
          </a:solidFill>
          <a:ln w="12700">
            <a:solidFill>
              <a:srgbClr val="E4E0EC"/>
            </a:solidFill>
            <a:prstDash val="solid"/>
          </a:ln>
        </p:spPr>
        <p:txBody>
          <a:bodyPr/>
          <a:lstStyle/>
          <a:p>
            <a:endParaRPr lang="en-US"/>
          </a:p>
        </p:txBody>
      </p:sp>
      <p:sp>
        <p:nvSpPr>
          <p:cNvPr id="26" name="Shape 24"/>
          <p:cNvSpPr/>
          <p:nvPr/>
        </p:nvSpPr>
        <p:spPr>
          <a:xfrm>
            <a:off x="822960" y="5138928"/>
            <a:ext cx="347472" cy="347472"/>
          </a:xfrm>
          <a:prstGeom prst="ellipse">
            <a:avLst/>
          </a:prstGeom>
          <a:solidFill>
            <a:srgbClr val="5E4E7A"/>
          </a:solidFill>
          <a:ln w="12700">
            <a:solidFill>
              <a:srgbClr val="333333"/>
            </a:solidFill>
            <a:prstDash val="solid"/>
          </a:ln>
        </p:spPr>
        <p:txBody>
          <a:bodyPr/>
          <a:lstStyle/>
          <a:p>
            <a:endParaRPr lang="en-US"/>
          </a:p>
        </p:txBody>
      </p:sp>
      <p:sp>
        <p:nvSpPr>
          <p:cNvPr id="27" name="Text 25"/>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8" name="Text 26"/>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00" b="1" dirty="0">
                <a:solidFill>
                  <a:srgbClr val="1E1926"/>
                </a:solidFill>
                <a:latin typeface="Cambria" pitchFamily="34" charset="0"/>
                <a:ea typeface="Cambria" pitchFamily="34" charset="-122"/>
                <a:cs typeface="Cambria" pitchFamily="34" charset="-120"/>
              </a:rPr>
              <a:t>The text channel keeps dominating</a:t>
            </a:r>
            <a:endParaRPr lang="en-US" sz="1300" dirty="0"/>
          </a:p>
        </p:txBody>
      </p:sp>
      <p:sp>
        <p:nvSpPr>
          <p:cNvPr id="29" name="Text 27"/>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2F2838"/>
                </a:solidFill>
                <a:latin typeface="Calibri" pitchFamily="34" charset="0"/>
                <a:ea typeface="Calibri" pitchFamily="34" charset="-122"/>
                <a:cs typeface="Calibri" pitchFamily="34" charset="-120"/>
              </a:rPr>
              <a:t>Textual attributes are the largest single contributor here, as the transcript was in EAA. Two mechanisms, same conclusion about these benchmarks.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B2535"/>
        </a:solidFill>
        <a:effectLst/>
      </p:bgPr>
    </p:bg>
    <p:spTree>
      <p:nvGrpSpPr>
        <p:cNvPr id="1" name=""/>
        <p:cNvGrpSpPr/>
        <p:nvPr/>
      </p:nvGrpSpPr>
      <p:grpSpPr>
        <a:xfrm>
          <a:off x="0" y="0"/>
          <a:ext cx="0" cy="0"/>
          <a:chOff x="0" y="0"/>
          <a:chExt cx="0" cy="0"/>
        </a:xfrm>
      </p:grpSpPr>
      <p:sp>
        <p:nvSpPr>
          <p:cNvPr id="2" name="Shape 0"/>
          <p:cNvSpPr/>
          <p:nvPr/>
        </p:nvSpPr>
        <p:spPr>
          <a:xfrm>
            <a:off x="10603382" y="764438"/>
            <a:ext cx="321869" cy="234086"/>
          </a:xfrm>
          <a:prstGeom prst="line">
            <a:avLst/>
          </a:prstGeom>
          <a:noFill/>
          <a:ln w="15240">
            <a:solidFill>
              <a:srgbClr val="AFA6C2"/>
            </a:solidFill>
            <a:prstDash val="solid"/>
          </a:ln>
        </p:spPr>
        <p:txBody>
          <a:bodyPr/>
          <a:lstStyle/>
          <a:p>
            <a:endParaRPr lang="en-US"/>
          </a:p>
        </p:txBody>
      </p:sp>
      <p:sp>
        <p:nvSpPr>
          <p:cNvPr id="3" name="Shape 1"/>
          <p:cNvSpPr/>
          <p:nvPr/>
        </p:nvSpPr>
        <p:spPr>
          <a:xfrm>
            <a:off x="10603382" y="764438"/>
            <a:ext cx="380390" cy="0"/>
          </a:xfrm>
          <a:prstGeom prst="line">
            <a:avLst/>
          </a:prstGeom>
          <a:noFill/>
          <a:ln w="15240">
            <a:solidFill>
              <a:srgbClr val="AFA6C2"/>
            </a:solidFill>
            <a:prstDash val="solid"/>
          </a:ln>
        </p:spPr>
        <p:txBody>
          <a:bodyPr/>
          <a:lstStyle/>
          <a:p>
            <a:endParaRPr lang="en-US"/>
          </a:p>
        </p:txBody>
      </p:sp>
      <p:sp>
        <p:nvSpPr>
          <p:cNvPr id="4" name="Shape 2"/>
          <p:cNvSpPr/>
          <p:nvPr/>
        </p:nvSpPr>
        <p:spPr>
          <a:xfrm>
            <a:off x="10515600" y="676656"/>
            <a:ext cx="175565" cy="175565"/>
          </a:xfrm>
          <a:prstGeom prst="ellipse">
            <a:avLst/>
          </a:prstGeom>
          <a:solidFill>
            <a:srgbClr val="CFC8DD"/>
          </a:solidFill>
          <a:ln w="12700">
            <a:solidFill>
              <a:srgbClr val="333333"/>
            </a:solidFill>
            <a:prstDash val="solid"/>
          </a:ln>
        </p:spPr>
        <p:txBody>
          <a:bodyPr/>
          <a:lstStyle/>
          <a:p>
            <a:endParaRPr lang="en-US"/>
          </a:p>
        </p:txBody>
      </p:sp>
      <p:sp>
        <p:nvSpPr>
          <p:cNvPr id="5" name="Shape 3"/>
          <p:cNvSpPr/>
          <p:nvPr/>
        </p:nvSpPr>
        <p:spPr>
          <a:xfrm>
            <a:off x="10895990" y="676656"/>
            <a:ext cx="175565" cy="175565"/>
          </a:xfrm>
          <a:prstGeom prst="ellipse">
            <a:avLst/>
          </a:prstGeom>
          <a:solidFill>
            <a:srgbClr val="CFC8DD"/>
          </a:solidFill>
          <a:ln w="12700">
            <a:solidFill>
              <a:srgbClr val="333333"/>
            </a:solidFill>
            <a:prstDash val="solid"/>
          </a:ln>
        </p:spPr>
        <p:txBody>
          <a:bodyPr/>
          <a:lstStyle/>
          <a:p>
            <a:endParaRPr lang="en-US"/>
          </a:p>
        </p:txBody>
      </p:sp>
      <p:sp>
        <p:nvSpPr>
          <p:cNvPr id="6" name="Shape 4"/>
          <p:cNvSpPr/>
          <p:nvPr/>
        </p:nvSpPr>
        <p:spPr>
          <a:xfrm>
            <a:off x="10837469" y="910742"/>
            <a:ext cx="175565" cy="175565"/>
          </a:xfrm>
          <a:prstGeom prst="ellipse">
            <a:avLst/>
          </a:prstGeom>
          <a:solidFill>
            <a:srgbClr val="7F9E2E"/>
          </a:solidFill>
          <a:ln w="12700">
            <a:solidFill>
              <a:srgbClr val="333333"/>
            </a:solidFill>
            <a:prstDash val="solid"/>
          </a:ln>
        </p:spPr>
        <p:txBody>
          <a:bodyPr/>
          <a:lstStyle/>
          <a:p>
            <a:endParaRPr lang="en-US"/>
          </a:p>
        </p:txBody>
      </p:sp>
      <p:sp>
        <p:nvSpPr>
          <p:cNvPr id="7" name="Text 5"/>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8" name="Shape 6"/>
          <p:cNvSpPr/>
          <p:nvPr/>
        </p:nvSpPr>
        <p:spPr>
          <a:xfrm>
            <a:off x="841248" y="1371600"/>
            <a:ext cx="329184" cy="329184"/>
          </a:xfrm>
          <a:prstGeom prst="ellipse">
            <a:avLst/>
          </a:prstGeom>
          <a:solidFill>
            <a:srgbClr val="7F9E2E"/>
          </a:solidFill>
          <a:ln w="12700">
            <a:solidFill>
              <a:srgbClr val="333333"/>
            </a:solidFill>
            <a:prstDash val="solid"/>
          </a:ln>
        </p:spPr>
        <p:txBody>
          <a:bodyPr/>
          <a:lstStyle/>
          <a:p>
            <a:endParaRPr lang="en-US"/>
          </a:p>
        </p:txBody>
      </p:sp>
      <p:sp>
        <p:nvSpPr>
          <p:cNvPr id="9" name="Text 7"/>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2B2535"/>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CFC8DD"/>
                </a:solidFill>
                <a:latin typeface="Calibri" pitchFamily="34" charset="0"/>
                <a:ea typeface="Calibri" pitchFamily="34" charset="-122"/>
                <a:cs typeface="Calibri" pitchFamily="34" charset="-120"/>
              </a:rPr>
              <a:t>The model receives both the audio and the graph. What would a graph-only control return, and what would you conclude if it matched the full system?</a:t>
            </a:r>
            <a:endParaRPr lang="en-US" sz="1250" dirty="0"/>
          </a:p>
        </p:txBody>
      </p:sp>
      <p:sp>
        <p:nvSpPr>
          <p:cNvPr id="11" name="Shape 9"/>
          <p:cNvSpPr/>
          <p:nvPr/>
        </p:nvSpPr>
        <p:spPr>
          <a:xfrm>
            <a:off x="841248" y="2359152"/>
            <a:ext cx="329184" cy="329184"/>
          </a:xfrm>
          <a:prstGeom prst="ellipse">
            <a:avLst/>
          </a:prstGeom>
          <a:solidFill>
            <a:srgbClr val="7F9E2E"/>
          </a:solidFill>
          <a:ln w="12700">
            <a:solidFill>
              <a:srgbClr val="333333"/>
            </a:solidFill>
            <a:prstDash val="solid"/>
          </a:ln>
        </p:spPr>
        <p:txBody>
          <a:bodyPr/>
          <a:lstStyle/>
          <a:p>
            <a:endParaRPr lang="en-US"/>
          </a:p>
        </p:txBody>
      </p:sp>
      <p:sp>
        <p:nvSpPr>
          <p:cNvPr id="12" name="Text 10"/>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2B2535"/>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CFC8DD"/>
                </a:solidFill>
                <a:latin typeface="Calibri" pitchFamily="34" charset="0"/>
                <a:ea typeface="Calibri" pitchFamily="34" charset="-122"/>
                <a:cs typeface="Calibri" pitchFamily="34" charset="-120"/>
              </a:rPr>
              <a:t>Zero-shot chain-of-thought is reliably negative across three models. Why should narration hurt here when it helps on arithmetic and commonsense reasoning — and what does that say about what kind of task emotion recognition is?</a:t>
            </a:r>
            <a:endParaRPr lang="en-US" sz="1250" dirty="0"/>
          </a:p>
        </p:txBody>
      </p:sp>
      <p:sp>
        <p:nvSpPr>
          <p:cNvPr id="14" name="Shape 12"/>
          <p:cNvSpPr/>
          <p:nvPr/>
        </p:nvSpPr>
        <p:spPr>
          <a:xfrm>
            <a:off x="841248" y="3346704"/>
            <a:ext cx="329184" cy="329184"/>
          </a:xfrm>
          <a:prstGeom prst="ellipse">
            <a:avLst/>
          </a:prstGeom>
          <a:solidFill>
            <a:srgbClr val="7F9E2E"/>
          </a:solidFill>
          <a:ln w="12700">
            <a:solidFill>
              <a:srgbClr val="333333"/>
            </a:solidFill>
            <a:prstDash val="solid"/>
          </a:ln>
        </p:spPr>
        <p:txBody>
          <a:bodyPr/>
          <a:lstStyle/>
          <a:p>
            <a:endParaRPr lang="en-US"/>
          </a:p>
        </p:txBody>
      </p:sp>
      <p:sp>
        <p:nvSpPr>
          <p:cNvPr id="15" name="Text 13"/>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2B2535"/>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CFC8DD"/>
                </a:solidFill>
                <a:latin typeface="Calibri" pitchFamily="34" charset="0"/>
                <a:ea typeface="Calibri" pitchFamily="34" charset="-122"/>
                <a:cs typeface="Calibri" pitchFamily="34" charset="-120"/>
              </a:rPr>
              <a:t>Textual attributes contribute more than acoustic ones, and they come from a supervised sentiment classifier. Is this better described as zero-shot emotion recognition or as cross-domain transfer from text sentiment?</a:t>
            </a:r>
            <a:endParaRPr lang="en-US" sz="1250" dirty="0"/>
          </a:p>
        </p:txBody>
      </p:sp>
      <p:sp>
        <p:nvSpPr>
          <p:cNvPr id="17" name="Shape 15"/>
          <p:cNvSpPr/>
          <p:nvPr/>
        </p:nvSpPr>
        <p:spPr>
          <a:xfrm>
            <a:off x="841248" y="4334256"/>
            <a:ext cx="329184" cy="329184"/>
          </a:xfrm>
          <a:prstGeom prst="ellipse">
            <a:avLst/>
          </a:prstGeom>
          <a:solidFill>
            <a:srgbClr val="7F9E2E"/>
          </a:solidFill>
          <a:ln w="12700">
            <a:solidFill>
              <a:srgbClr val="333333"/>
            </a:solidFill>
            <a:prstDash val="solid"/>
          </a:ln>
        </p:spPr>
        <p:txBody>
          <a:bodyPr/>
          <a:lstStyle/>
          <a:p>
            <a:endParaRPr lang="en-US"/>
          </a:p>
        </p:txBody>
      </p:sp>
      <p:sp>
        <p:nvSpPr>
          <p:cNvPr id="18" name="Text 16"/>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2B2535"/>
                </a:solidFill>
                <a:latin typeface="Cambria" pitchFamily="34" charset="0"/>
                <a:ea typeface="Cambria" pitchFamily="34" charset="-122"/>
                <a:cs typeface="Cambria" pitchFamily="34" charset="-120"/>
              </a:rPr>
              <a:t>4</a:t>
            </a:r>
            <a:endParaRPr lang="en-US" sz="1200" dirty="0"/>
          </a:p>
        </p:txBody>
      </p:sp>
      <p:sp>
        <p:nvSpPr>
          <p:cNvPr id="19" name="Text 17"/>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CFC8DD"/>
                </a:solidFill>
                <a:latin typeface="Calibri" pitchFamily="34" charset="0"/>
                <a:ea typeface="Calibri" pitchFamily="34" charset="-122"/>
                <a:cs typeface="Calibri" pitchFamily="34" charset="-120"/>
              </a:rPr>
              <a:t>Replacing symbols with spectrograms costs 5.9 points. Is the lesson about audio LLMs specifically, or about what any language model can reason over?</a:t>
            </a:r>
            <a:endParaRPr lang="en-US" sz="1250" dirty="0"/>
          </a:p>
        </p:txBody>
      </p:sp>
      <p:sp>
        <p:nvSpPr>
          <p:cNvPr id="20" name="Shape 18"/>
          <p:cNvSpPr/>
          <p:nvPr/>
        </p:nvSpPr>
        <p:spPr>
          <a:xfrm>
            <a:off x="841248" y="5321808"/>
            <a:ext cx="329184" cy="329184"/>
          </a:xfrm>
          <a:prstGeom prst="ellipse">
            <a:avLst/>
          </a:prstGeom>
          <a:solidFill>
            <a:srgbClr val="7F9E2E"/>
          </a:solidFill>
          <a:ln w="12700">
            <a:solidFill>
              <a:srgbClr val="333333"/>
            </a:solidFill>
            <a:prstDash val="solid"/>
          </a:ln>
        </p:spPr>
        <p:txBody>
          <a:bodyPr/>
          <a:lstStyle/>
          <a:p>
            <a:endParaRPr lang="en-US"/>
          </a:p>
        </p:txBody>
      </p:sp>
      <p:sp>
        <p:nvSpPr>
          <p:cNvPr id="21" name="Text 19"/>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2B2535"/>
                </a:solidFill>
                <a:latin typeface="Cambria" pitchFamily="34" charset="0"/>
                <a:ea typeface="Cambria" pitchFamily="34" charset="-122"/>
                <a:cs typeface="Cambria" pitchFamily="34" charset="-120"/>
              </a:rPr>
              <a:t>5</a:t>
            </a:r>
            <a:endParaRPr lang="en-US" sz="1200" dirty="0"/>
          </a:p>
        </p:txBody>
      </p:sp>
      <p:sp>
        <p:nvSpPr>
          <p:cNvPr id="22" name="Text 20"/>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CFC8DD"/>
                </a:solidFill>
                <a:latin typeface="Calibri" pitchFamily="34" charset="0"/>
                <a:ea typeface="Calibri" pitchFamily="34" charset="-122"/>
                <a:cs typeface="Calibri" pitchFamily="34" charset="-120"/>
              </a:rPr>
              <a:t>EAA fine-tuned on one H100; CCoT-Emo calls GPT-4 per utterance. Which is actually cheaper, and under what deployment assumptions?</a:t>
            </a:r>
            <a:endParaRPr lang="en-US" sz="1250" dirty="0"/>
          </a:p>
        </p:txBody>
      </p:sp>
      <p:sp>
        <p:nvSpPr>
          <p:cNvPr id="23" name="Text 21"/>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B5ABC9"/>
                </a:solidFill>
                <a:latin typeface="Calibri" pitchFamily="34" charset="0"/>
                <a:ea typeface="Calibri" pitchFamily="34" charset="-122"/>
                <a:cs typeface="Calibri" pitchFamily="34" charset="-120"/>
              </a:rPr>
              <a:t>Shi, Du, Hong &amp; Gao (2026), IEEE ICASSP  ·  arXiv:2509.25458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5649</Words>
  <Application>Microsoft Macintosh PowerPoint</Application>
  <PresentationFormat>Widescreen</PresentationFormat>
  <Paragraphs>360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CCoT-Emo (Shi et al., 2026)</dc:title>
  <dc:subject>PptxGenJS Presentation</dc:subject>
  <dc:creator>Seminar</dc:creator>
  <cp:lastModifiedBy>Gao, Ashley</cp:lastModifiedBy>
  <cp:revision>2</cp:revision>
  <dcterms:created xsi:type="dcterms:W3CDTF">2026-10-06T14:27:40Z</dcterms:created>
  <dcterms:modified xsi:type="dcterms:W3CDTF">2026-10-06T14:39:59Z</dcterms:modified>
</cp:coreProperties>
</file>