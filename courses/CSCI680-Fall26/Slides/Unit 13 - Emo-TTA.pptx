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1.xml" ContentType="application/vnd.openxmlformats-officedocument.drawingml.chart+xml"/>
  <Override PartName="/ppt/notesSlides/notesSlide15.xml" ContentType="application/vnd.openxmlformats-officedocument.presentationml.notesSlide+xml"/>
  <Override PartName="/ppt/charts/chart2.xml" ContentType="application/vnd.openxmlformats-officedocument.drawingml.chart+xml"/>
  <Override PartName="/ppt/notesSlides/notesSlide16.xml" ContentType="application/vnd.openxmlformats-officedocument.presentationml.notesSlide+xml"/>
  <Override PartName="/ppt/charts/chart3.xml" ContentType="application/vnd.openxmlformats-officedocument.drawingml.chart+xml"/>
  <Override PartName="/ppt/notesSlides/notesSlide17.xml" ContentType="application/vnd.openxmlformats-officedocument.presentationml.notesSlide+xml"/>
  <Override PartName="/ppt/charts/chart4.xml" ContentType="application/vnd.openxmlformats-officedocument.drawingml.chart+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9" d="100"/>
          <a:sy n="119" d="100"/>
        </p:scale>
        <p:origin x="504"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6E5156"/>
                </a:solidFill>
                <a:latin typeface="Calibri"/>
              </a:defRPr>
            </a:pPr>
            <a:r>
              <a:rPr sz="1200" b="0" i="0" u="none" strike="noStrike">
                <a:solidFill>
                  <a:srgbClr val="6E5156"/>
                </a:solidFill>
                <a:latin typeface="Calibri"/>
              </a:rPr>
              <a:t>Accuracy (%) — higher is better</a:t>
            </a:r>
          </a:p>
        </c:rich>
      </c:tx>
      <c:overlay val="0"/>
    </c:title>
    <c:autoTitleDeleted val="0"/>
    <c:plotArea>
      <c:layout/>
      <c:barChart>
        <c:barDir val="col"/>
        <c:grouping val="clustered"/>
        <c:varyColors val="0"/>
        <c:ser>
          <c:idx val="0"/>
          <c:order val="0"/>
          <c:tx>
            <c:strRef>
              <c:f>Sheet1!$B$1</c:f>
              <c:strCache>
                <c:ptCount val="1"/>
                <c:pt idx="0">
                  <c:v>CLAP-PANN-14 backbone</c:v>
                </c:pt>
              </c:strCache>
            </c:strRef>
          </c:tx>
          <c:spPr>
            <a:solidFill>
              <a:srgbClr val="C9A8AC"/>
            </a:solidFill>
            <a:effectLst/>
          </c:spPr>
          <c:invertIfNegative val="0"/>
          <c:dLbls>
            <c:numFmt formatCode="0.0" sourceLinked="0"/>
            <c:spPr>
              <a:noFill/>
              <a:ln>
                <a:noFill/>
              </a:ln>
              <a:effectLst/>
            </c:spPr>
            <c:txPr>
              <a:bodyPr/>
              <a:lstStyle/>
              <a:p>
                <a:pPr>
                  <a:defRPr sz="1000" b="0" i="0" u="none" strike="noStrike">
                    <a:solidFill>
                      <a:srgbClr val="352428"/>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Zero-shot CLAP</c:v>
                </c:pt>
                <c:pt idx="1">
                  <c:v>CoOp</c:v>
                </c:pt>
                <c:pt idx="2">
                  <c:v>CoCoOp</c:v>
                </c:pt>
                <c:pt idx="3">
                  <c:v>TPT</c:v>
                </c:pt>
                <c:pt idx="4">
                  <c:v>Treff-Adapter</c:v>
                </c:pt>
                <c:pt idx="5">
                  <c:v>Emo-TTA</c:v>
                </c:pt>
              </c:strCache>
            </c:strRef>
          </c:cat>
          <c:val>
            <c:numRef>
              <c:f>Sheet1!$B$2:$B$7</c:f>
              <c:numCache>
                <c:formatCode>General</c:formatCode>
                <c:ptCount val="6"/>
                <c:pt idx="0">
                  <c:v>31.37</c:v>
                </c:pt>
                <c:pt idx="1">
                  <c:v>31.71</c:v>
                </c:pt>
                <c:pt idx="2">
                  <c:v>33.26</c:v>
                </c:pt>
                <c:pt idx="3">
                  <c:v>34.03</c:v>
                </c:pt>
                <c:pt idx="4">
                  <c:v>36.11</c:v>
                </c:pt>
                <c:pt idx="5">
                  <c:v>38.020000000000003</c:v>
                </c:pt>
              </c:numCache>
            </c:numRef>
          </c:val>
          <c:extLst>
            <c:ext xmlns:c16="http://schemas.microsoft.com/office/drawing/2014/chart" uri="{C3380CC4-5D6E-409C-BE32-E72D297353CC}">
              <c16:uniqueId val="{00000000-B437-8043-BA1F-59688623E8D1}"/>
            </c:ext>
          </c:extLst>
        </c:ser>
        <c:ser>
          <c:idx val="1"/>
          <c:order val="1"/>
          <c:tx>
            <c:strRef>
              <c:f>Sheet1!$C$1</c:f>
              <c:strCache>
                <c:ptCount val="1"/>
                <c:pt idx="0">
                  <c:v>CLAP-HTSAT backbone</c:v>
                </c:pt>
              </c:strCache>
            </c:strRef>
          </c:tx>
          <c:spPr>
            <a:solidFill>
              <a:srgbClr val="8A4A52"/>
            </a:solidFill>
            <a:effectLst/>
          </c:spPr>
          <c:invertIfNegative val="0"/>
          <c:dLbls>
            <c:numFmt formatCode="0.0" sourceLinked="0"/>
            <c:spPr>
              <a:noFill/>
              <a:ln>
                <a:noFill/>
              </a:ln>
              <a:effectLst/>
            </c:spPr>
            <c:txPr>
              <a:bodyPr/>
              <a:lstStyle/>
              <a:p>
                <a:pPr>
                  <a:defRPr sz="1000" b="0" i="0" u="none" strike="noStrike">
                    <a:solidFill>
                      <a:srgbClr val="352428"/>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Zero-shot CLAP</c:v>
                </c:pt>
                <c:pt idx="1">
                  <c:v>CoOp</c:v>
                </c:pt>
                <c:pt idx="2">
                  <c:v>CoCoOp</c:v>
                </c:pt>
                <c:pt idx="3">
                  <c:v>TPT</c:v>
                </c:pt>
                <c:pt idx="4">
                  <c:v>Treff-Adapter</c:v>
                </c:pt>
                <c:pt idx="5">
                  <c:v>Emo-TTA</c:v>
                </c:pt>
              </c:strCache>
            </c:strRef>
          </c:cat>
          <c:val>
            <c:numRef>
              <c:f>Sheet1!$C$2:$C$7</c:f>
              <c:numCache>
                <c:formatCode>General</c:formatCode>
                <c:ptCount val="6"/>
                <c:pt idx="0">
                  <c:v>32.57</c:v>
                </c:pt>
                <c:pt idx="1">
                  <c:v>32.17</c:v>
                </c:pt>
                <c:pt idx="2">
                  <c:v>34.18</c:v>
                </c:pt>
                <c:pt idx="3">
                  <c:v>34.96</c:v>
                </c:pt>
                <c:pt idx="4">
                  <c:v>37.1</c:v>
                </c:pt>
                <c:pt idx="5">
                  <c:v>40.47</c:v>
                </c:pt>
              </c:numCache>
            </c:numRef>
          </c:val>
          <c:extLst>
            <c:ext xmlns:c16="http://schemas.microsoft.com/office/drawing/2014/chart" uri="{C3380CC4-5D6E-409C-BE32-E72D297353CC}">
              <c16:uniqueId val="{00000001-B437-8043-BA1F-59688623E8D1}"/>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6E5156"/>
                </a:solidFill>
                <a:latin typeface="Arial"/>
              </a:defRPr>
            </a:pPr>
            <a:endParaRPr lang="en-US"/>
          </a:p>
        </c:txPr>
        <c:crossAx val="2094734552"/>
        <c:crosses val="autoZero"/>
        <c:auto val="1"/>
        <c:lblAlgn val="ctr"/>
        <c:lblOffset val="100"/>
        <c:noMultiLvlLbl val="1"/>
      </c:catAx>
      <c:valAx>
        <c:axId val="2094734552"/>
        <c:scaling>
          <c:orientation val="minMax"/>
          <c:max val="50"/>
          <c:min val="20"/>
        </c:scaling>
        <c:delete val="0"/>
        <c:axPos val="l"/>
        <c:majorGridlines>
          <c:spPr>
            <a:ln w="12700" cap="flat">
              <a:solidFill>
                <a:srgbClr val="F0E6E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5156"/>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50">
              <a:solidFill>
                <a:srgbClr val="6E5156"/>
              </a:solidFill>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6E5156"/>
                </a:solidFill>
                <a:latin typeface="Calibri"/>
              </a:defRPr>
            </a:pPr>
            <a:r>
              <a:rPr sz="1200" b="0" i="0" u="none" strike="noStrike">
                <a:solidFill>
                  <a:srgbClr val="6E5156"/>
                </a:solidFill>
                <a:latin typeface="Calibri"/>
              </a:rPr>
              <a:t>Target datasets fully excluded from training and from any adaptation</a:t>
            </a:r>
          </a:p>
        </c:rich>
      </c:tx>
      <c:overlay val="0"/>
    </c:title>
    <c:autoTitleDeleted val="0"/>
    <c:plotArea>
      <c:layout/>
      <c:barChart>
        <c:barDir val="bar"/>
        <c:grouping val="clustered"/>
        <c:varyColors val="0"/>
        <c:ser>
          <c:idx val="0"/>
          <c:order val="0"/>
          <c:tx>
            <c:strRef>
              <c:f>Sheet1!$B$1</c:f>
              <c:strCache>
                <c:ptCount val="1"/>
                <c:pt idx="0">
                  <c:v>Average over IEMOCAP, CREMA-D, RAVDESS</c:v>
                </c:pt>
              </c:strCache>
            </c:strRef>
          </c:tx>
          <c:spPr>
            <a:solidFill>
              <a:srgbClr val="8A4A52"/>
            </a:solidFill>
            <a:effectLst/>
          </c:spPr>
          <c:invertIfNegative val="0"/>
          <c:dLbls>
            <c:numFmt formatCode="0.00" sourceLinked="0"/>
            <c:spPr>
              <a:noFill/>
              <a:ln>
                <a:noFill/>
              </a:ln>
              <a:effectLst/>
            </c:spPr>
            <c:txPr>
              <a:bodyPr/>
              <a:lstStyle/>
              <a:p>
                <a:pPr>
                  <a:defRPr sz="1050" b="0" i="0" u="none" strike="noStrike">
                    <a:solidFill>
                      <a:srgbClr val="352428"/>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CLAP</c:v>
                </c:pt>
                <c:pt idx="1">
                  <c:v>MMS large</c:v>
                </c:pt>
                <c:pt idx="2">
                  <c:v>Whisper medium</c:v>
                </c:pt>
                <c:pt idx="3">
                  <c:v>Whisper medium.en</c:v>
                </c:pt>
                <c:pt idx="4">
                  <c:v>Pengi</c:v>
                </c:pt>
                <c:pt idx="5">
                  <c:v>Whisper large-v2</c:v>
                </c:pt>
                <c:pt idx="6">
                  <c:v>SELM</c:v>
                </c:pt>
                <c:pt idx="7">
                  <c:v>Emo-TTA</c:v>
                </c:pt>
              </c:strCache>
            </c:strRef>
          </c:cat>
          <c:val>
            <c:numRef>
              <c:f>Sheet1!$B$2:$B$9</c:f>
              <c:numCache>
                <c:formatCode>General</c:formatCode>
                <c:ptCount val="8"/>
                <c:pt idx="0">
                  <c:v>29.09</c:v>
                </c:pt>
                <c:pt idx="1">
                  <c:v>29.47</c:v>
                </c:pt>
                <c:pt idx="2">
                  <c:v>30.35</c:v>
                </c:pt>
                <c:pt idx="3">
                  <c:v>30.51</c:v>
                </c:pt>
                <c:pt idx="4">
                  <c:v>30.72</c:v>
                </c:pt>
                <c:pt idx="5">
                  <c:v>31.16</c:v>
                </c:pt>
                <c:pt idx="6">
                  <c:v>35.770000000000003</c:v>
                </c:pt>
                <c:pt idx="7">
                  <c:v>40.049999999999997</c:v>
                </c:pt>
              </c:numCache>
            </c:numRef>
          </c:val>
          <c:extLst>
            <c:ext xmlns:c16="http://schemas.microsoft.com/office/drawing/2014/chart" uri="{C3380CC4-5D6E-409C-BE32-E72D297353CC}">
              <c16:uniqueId val="{00000000-BACC-0543-95E4-94F27F594138}"/>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6E5156"/>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12700" cap="flat">
              <a:solidFill>
                <a:srgbClr val="F0E6E8"/>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50" b="0" i="0" u="none" strike="noStrike">
                <a:solidFill>
                  <a:srgbClr val="6E5156"/>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6E5156"/>
                </a:solidFill>
                <a:latin typeface="Calibri"/>
              </a:defRPr>
            </a:pPr>
            <a:r>
              <a:rPr sz="1200" b="0" i="0" u="none" strike="noStrike">
                <a:solidFill>
                  <a:srgbClr val="6E5156"/>
                </a:solidFill>
                <a:latin typeface="Calibri"/>
              </a:rPr>
              <a:t>MELD accuracy on a four-class mapping — uniform chance is 25%</a:t>
            </a:r>
          </a:p>
        </c:rich>
      </c:tx>
      <c:overlay val="0"/>
    </c:title>
    <c:autoTitleDeleted val="0"/>
    <c:plotArea>
      <c:layout/>
      <c:barChart>
        <c:barDir val="col"/>
        <c:grouping val="clustered"/>
        <c:varyColors val="0"/>
        <c:ser>
          <c:idx val="0"/>
          <c:order val="0"/>
          <c:tx>
            <c:strRef>
              <c:f>Sheet1!$B$1</c:f>
              <c:strCache>
                <c:ptCount val="1"/>
                <c:pt idx="0">
                  <c:v>Accuracy (%)</c:v>
                </c:pt>
              </c:strCache>
            </c:strRef>
          </c:tx>
          <c:spPr>
            <a:solidFill>
              <a:srgbClr val="8A4A52"/>
            </a:solidFill>
            <a:effectLst/>
          </c:spPr>
          <c:invertIfNegative val="0"/>
          <c:dLbls>
            <c:numFmt formatCode="0.0" sourceLinked="0"/>
            <c:spPr>
              <a:noFill/>
              <a:ln>
                <a:noFill/>
              </a:ln>
              <a:effectLst/>
            </c:spPr>
            <c:txPr>
              <a:bodyPr/>
              <a:lstStyle/>
              <a:p>
                <a:pPr>
                  <a:defRPr sz="1000" b="0" i="0" u="none" strike="noStrike">
                    <a:solidFill>
                      <a:srgbClr val="352428"/>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Zero-shot CLAP
(HTS-AT)</c:v>
                </c:pt>
                <c:pt idx="1">
                  <c:v>CoOp</c:v>
                </c:pt>
                <c:pt idx="2">
                  <c:v>CoCoOp</c:v>
                </c:pt>
                <c:pt idx="3">
                  <c:v>TPT</c:v>
                </c:pt>
                <c:pt idx="4">
                  <c:v>MTA</c:v>
                </c:pt>
                <c:pt idx="5">
                  <c:v>ZERO</c:v>
                </c:pt>
                <c:pt idx="6">
                  <c:v>Treff-Adapter</c:v>
                </c:pt>
                <c:pt idx="7">
                  <c:v>Emo-TTA</c:v>
                </c:pt>
              </c:strCache>
            </c:strRef>
          </c:cat>
          <c:val>
            <c:numRef>
              <c:f>Sheet1!$B$2:$B$9</c:f>
              <c:numCache>
                <c:formatCode>General</c:formatCode>
                <c:ptCount val="8"/>
                <c:pt idx="0">
                  <c:v>18.62</c:v>
                </c:pt>
                <c:pt idx="1">
                  <c:v>17.73</c:v>
                </c:pt>
                <c:pt idx="2">
                  <c:v>18.57</c:v>
                </c:pt>
                <c:pt idx="3">
                  <c:v>18.89</c:v>
                </c:pt>
                <c:pt idx="4">
                  <c:v>18.93</c:v>
                </c:pt>
                <c:pt idx="5">
                  <c:v>18.5</c:v>
                </c:pt>
                <c:pt idx="6">
                  <c:v>19.61</c:v>
                </c:pt>
                <c:pt idx="7">
                  <c:v>20.170000000000002</c:v>
                </c:pt>
              </c:numCache>
            </c:numRef>
          </c:val>
          <c:extLst>
            <c:ext xmlns:c16="http://schemas.microsoft.com/office/drawing/2014/chart" uri="{C3380CC4-5D6E-409C-BE32-E72D297353CC}">
              <c16:uniqueId val="{00000000-4781-5A44-A712-2F521B15F313}"/>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E5156"/>
                </a:solidFill>
                <a:latin typeface="Arial"/>
              </a:defRPr>
            </a:pPr>
            <a:endParaRPr lang="en-US"/>
          </a:p>
        </c:txPr>
        <c:crossAx val="2094734552"/>
        <c:crosses val="autoZero"/>
        <c:auto val="1"/>
        <c:lblAlgn val="ctr"/>
        <c:lblOffset val="100"/>
        <c:noMultiLvlLbl val="1"/>
      </c:catAx>
      <c:valAx>
        <c:axId val="2094734552"/>
        <c:scaling>
          <c:orientation val="minMax"/>
          <c:max val="30"/>
          <c:min val="0"/>
        </c:scaling>
        <c:delete val="0"/>
        <c:axPos val="l"/>
        <c:majorGridlines>
          <c:spPr>
            <a:ln w="12700" cap="flat">
              <a:solidFill>
                <a:srgbClr val="F0E6E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5156"/>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6E5156"/>
                </a:solidFill>
                <a:latin typeface="Calibri"/>
              </a:defRPr>
            </a:pPr>
            <a:r>
              <a:rPr sz="1200" b="0" i="0" u="none" strike="noStrike">
                <a:solidFill>
                  <a:srgbClr val="6E5156"/>
                </a:solidFill>
                <a:latin typeface="Calibri"/>
              </a:rPr>
              <a:t>Higher is better</a:t>
            </a:r>
          </a:p>
        </c:rich>
      </c:tx>
      <c:overlay val="0"/>
    </c:title>
    <c:autoTitleDeleted val="0"/>
    <c:plotArea>
      <c:layout/>
      <c:barChart>
        <c:barDir val="bar"/>
        <c:grouping val="clustered"/>
        <c:varyColors val="0"/>
        <c:ser>
          <c:idx val="0"/>
          <c:order val="0"/>
          <c:tx>
            <c:strRef>
              <c:f>Sheet1!$B$1</c:f>
              <c:strCache>
                <c:ptCount val="1"/>
                <c:pt idx="0">
                  <c:v>Average over IEMOCAP, CREMA-D, RAVDESS</c:v>
                </c:pt>
              </c:strCache>
            </c:strRef>
          </c:tx>
          <c:spPr>
            <a:solidFill>
              <a:srgbClr val="8A4A52"/>
            </a:solidFill>
            <a:effectLst/>
          </c:spPr>
          <c:invertIfNegative val="0"/>
          <c:dLbls>
            <c:numFmt formatCode="0.00" sourceLinked="0"/>
            <c:spPr>
              <a:noFill/>
              <a:ln>
                <a:noFill/>
              </a:ln>
              <a:effectLst/>
            </c:spPr>
            <c:txPr>
              <a:bodyPr/>
              <a:lstStyle/>
              <a:p>
                <a:pPr>
                  <a:defRPr sz="1100" b="0" i="0" u="none" strike="noStrike">
                    <a:solidFill>
                      <a:srgbClr val="352428"/>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Full Emo-TTA</c:v>
                </c:pt>
                <c:pt idx="1">
                  <c:v>w/out mean vector update</c:v>
                </c:pt>
                <c:pt idx="2">
                  <c:v>w/out ALM priors</c:v>
                </c:pt>
                <c:pt idx="3">
                  <c:v>w/out covariance update</c:v>
                </c:pt>
                <c:pt idx="4">
                  <c:v>Zero-shot CLAP</c:v>
                </c:pt>
              </c:strCache>
            </c:strRef>
          </c:cat>
          <c:val>
            <c:numRef>
              <c:f>Sheet1!$B$2:$B$6</c:f>
              <c:numCache>
                <c:formatCode>General</c:formatCode>
                <c:ptCount val="5"/>
                <c:pt idx="0">
                  <c:v>40.049999999999997</c:v>
                </c:pt>
                <c:pt idx="1">
                  <c:v>38.4</c:v>
                </c:pt>
                <c:pt idx="2">
                  <c:v>34.51</c:v>
                </c:pt>
                <c:pt idx="3">
                  <c:v>33.64</c:v>
                </c:pt>
                <c:pt idx="4">
                  <c:v>29.09</c:v>
                </c:pt>
              </c:numCache>
            </c:numRef>
          </c:val>
          <c:extLst>
            <c:ext xmlns:c16="http://schemas.microsoft.com/office/drawing/2014/chart" uri="{C3380CC4-5D6E-409C-BE32-E72D297353CC}">
              <c16:uniqueId val="{00000000-6EB7-5D44-9F28-996CBD737BEB}"/>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6E5156"/>
                </a:solidFill>
                <a:latin typeface="Arial"/>
              </a:defRPr>
            </a:pPr>
            <a:endParaRPr lang="en-US"/>
          </a:p>
        </c:txPr>
        <c:crossAx val="2094734552"/>
        <c:crosses val="autoZero"/>
        <c:auto val="1"/>
        <c:lblAlgn val="ctr"/>
        <c:lblOffset val="100"/>
        <c:noMultiLvlLbl val="1"/>
      </c:catAx>
      <c:valAx>
        <c:axId val="2094734552"/>
        <c:scaling>
          <c:orientation val="minMax"/>
          <c:max val="45"/>
          <c:min val="25"/>
        </c:scaling>
        <c:delete val="0"/>
        <c:axPos val="b"/>
        <c:majorGridlines>
          <c:spPr>
            <a:ln w="12700" cap="flat">
              <a:solidFill>
                <a:srgbClr val="F0E6E8"/>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50" b="0" i="0" u="none" strike="noStrike">
                <a:solidFill>
                  <a:srgbClr val="6E5156"/>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258809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[0:00–1:00] Opening.
Pick up from Tent. That paper defined the setting and answered it with a gradient. This one keeps the setting, tightens it — batch size one — and removes the gradient entirely.
The move is to stop treating adaptation as optimisation and start treating it as estimation. Instead of nudging parameters toward lower entropy, Emo-TTA fits a Gaussian mixture in CLAP's embedding space, online, one sample at a time, with closed-form updates.
Entropy is still there — but as a weight on each update rather than as a loss. That inversion is the most interesting thing in the pairing.
Note the same first author as CCoT-Emo from last session, and CLEP-DG appears in the reference list as the source of the IEMOCAP protocol.</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[2:00–4:00] Stakes.
The dark card is the framing for the whole talk and it is the reason the pairing works. Both methods key on prediction entropy; one descends it, the other weights by it.
The batch-size-one claim is the practical headline and it answers a question Tent's own discussion section posed: is there an effective loss for episodic, single-sample optimisation? Emo-TTA's answer is to drop the loss and carry sufficient statistics instead.
Be precise about what 'no batch' means. The method processes one sample at a time but accumulates statistics across the stream, so it is stateful rather than independent. We return to that.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[4:00–4:10] Section marker.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[4:10–6:20] The problem.
The label-taxonomy point in the first card is genuinely distinctive and worth drawing out. ImageNet-C has the same thousand classes before and after corruption. Here the source model's notion of 'happy' and the target corpus's notion may not be the same construct at all.
The dark card is where the series pays off. We spent four sessions on corpora precisely so this point would land: the shift in SER is not noise added to a fixed task, it is a change of task.
Note the paper's framing that TTA has gained traction for ASR but its extension to SER remains relatively limited — which is accurate as of its writing.</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[6:20–8:20] Three requirements.
This table reproduces the structure of the paper's own results table, where the three properties are marked as columns. It is a clear way to position a method and worth copying.
The dark card is the honest reading of the novelty. Each requirement individually has prior work; the combination is the claim. That is the same shape as Tent's claim — not a new objective, but a demonstration that a particular combination suffices.
Note where Tent itself would sit on this table: training-free in the sense of needing no source training changes, lightweight, but gradient-based and batch-dependent, and it does not model the test distribution explicitly.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[8:20–8:30] Section marker.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[8:30–10:40] The starting point.
The dark card is the conceptual pivot of the paper and it is worth taking slowly. Gaussian discriminant analysis with shared covariance gives a posterior that is a softmax of negative squared Mahalanobis distances. CLAP's zero-shot rule is a softmax of cosine similarities. They are the same functional form under a particular parameterisation.
Once you see that, the text prototypes stop being fixed anchors and become estimable parameters — and you have a classical statistical machinery for estimating them from unlabelled data.
Connect to CLEP-DG from two sessions ago, which also treated prototypes as the object to adapt — but adapted them by training, with soft prompts. Here they are adapted by estimation, at test time.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[10:40–12:40] GDA.
The third and fourth bullets are the under-appreciated part. Adapting the prior means the method can absorb a change in class balance — MELD is dominated by neutral, RAVDESS is balanced across eight classes. A fixed zero-shot classifier cannot represent that at all.
The second bullet is the statistical caution and we return to it in section 4. Estimating a full covariance in CLAP's embedding space from soft responsibilities over a test set of a few thousand utterances is an ambitious estimation problem.
No shrinkage, regularisation or low-rank structure is mentioned, which is worth noting.</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[12:40–15:00] The EM loop. Leave this up for the rest of section 2.
Walk the three boxes. The elegance is that initialisation comes from the text encoder — so the mixture starts semantically grounded rather than from random or k-means seeds, which is the usual weakness of EM.
The dark card is a precision point worth making carefully. The paper says 'without storing past test data', which is true and is a meaningful privacy property. It does not mean the predictions are independent — the hundredth utterance is classified by a model shaped by the first ninety-nine.
That has an evaluation consequence we come to in section 4: the order of the test stream matters, and Tent explicitly controlled for ordering while this paper does not report doing so.</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[15:00–17:20] Entropy as a weight. Protect this slide.
The dark card is the intellectual payoff of pairing these two papers and should be delivered carefully.
Be precise about the asymmetry. Emo-TTA is not immune to the failure mode — if CLAP is confidently wrong on a whole corpus, the weighting will happily incorporate those errors into the class means. What it avoids is the amplification: there is no objective driving the model toward ever-greater confidence, so errors do not compound in the way Tent's can over a long stream.
That is also why the continual-TTA literature's collapse problem does not obviously apply here, though nobody has tested it over long streams.
The β = 4.5 figure is a tuned hyperparameter and we return to that.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[17:20–19:20] The final prediction.
The α = 0.2 point is worth dwelling on. The adapted generative classifier is given a fifth of the weight of the frozen one. That is conservative, and it explains why the method never catastrophically fails in the way Tent does on hard shifts — the fallback is always there.
It also raises a question for discussion: how much of the headline gain would survive at α = 1, and what does the sensitivity curve look like? The paper does not sweep α.
Point out that w_y and b_y are exactly the textbook LDA parameterisation — once the Gaussian is fitted, the generative classifier reduces to a linear one, which is why the fusion is a simple sum of logits.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[19:20–19:30] Section marker.</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[19:30–21:40] Setup.
Note the heterogeneous label spaces in the third column — 4, 4, 8, 4, 4, 6. That is the taxonomy problem made concrete, and it means the number of Gaussians in the mixture changes per corpus.
Credit the three-seed averaging in the third bullet; most of the W&amp;M papers in this series reported single runs and we flagged it each time.
The last bullet is worth saying out loud. By this point in the series the room should be able to predict which of these corpora will be hardest and why. RAVDESS has eight classes; MELD is television dialogue with heavy class imbalance; TESS is two speakers reading a fixed carrier phrase.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[21:40–24:00] Main results.
The second bullet is the result that should carry the talk. CoOp, CoCoOp and Treff-Adapter all need labelled target examples; Emo-TTA needs none and beats them.
Credit the experimental hygiene: the baselines are re-implemented with CLAP encoders so the comparison isolates the adaptation method rather than the backbone.
Then prepare the room for the next slide. These are the right comparisons and the right conclusions — and the absolute numbers are low enough that we should look at them directly.</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[24:00–26:00] Foundation models.
The arithmetic in this table all checks out — I verified each stated gain against the cells, and the averages are consistent. Worth saying, since we have found discrepancies in most papers this term and this one is clean.
The fourth bullet is a nice callback. Whisper large-v2 is a superb transcription model and sits at 31.16 on emotion, barely above CLAP. That is the paralinguistic gap this whole series has been documenting.
SELM at 35.77 is the strongest prior and is itself an out-of-domain SER method, so the 4.28-point margin is against a purpose-built comparator.</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[26:00–28:30] The MELD number. Protect this slide.
Be careful and precise. Uniform random guessing on four classes gives 25% expected accuracy regardless of class balance, so sub-25% performance means the classifier is systematically worse than guessing — it is confidently choosing wrong classes.
This is not a criticism specific to Emo-TTA. Every method in the table has the same problem, including zero-shot CLAP. Something about mapping MELD's seven emotions onto a four-class scheme, combined with CLAP's priors, produces a systematically anti-correlated classifier.
Connect to the series: we flagged MELD's imbalance in the CLEP-DG session, where weighted accuracy near 50 sat alongside unweighted accuracy near 23. The corpus keeps producing uninterpretable numbers.
Good discussion prompt: what would you do with a benchmark column where nothing beats chance?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[28:30–31:00] Ablations. Protect this slide.
The ordering is the finding and the paper does not comment on it. The narrative throughout is about adapting class statistics to a shifted distribution, which invites you to think the means are doing the work. They contribute 1.65 points; the covariance contributes 6.41.
Offer the interpretation in the dark card as the natural reading. With Σ = I, the classifier is nearest-prototype by Euclidean distance. Learning Σ lets it whiten the space — discounting directions of high variance that carry speaker and channel information rather than emotion.
That connects to the WavLM and CLEP-DG sessions: the recurring problem in cross-corpus SER is separating emotional variation from speaker and channel variation. A learned covariance is a classical way to do exactly that.
It also raises the obvious question: how well can a full covariance be estimated here? Next section.</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[31:00–31:10] Section marker.</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[31:10–33:30] The covariance update.
Deliver this as a reading exercise, not an accusation, in the same spirit as the equivalent slides in earlier sessions. Equations get mangled in typesetting all the time.
Work through it on the board if the room is up for it. With numerator (n−1)Σ + Δ and denominator (n−1), you get Σ + Δ/(n−1). Each step adds a positive semi-definite term scaled by 1/(n−1), so the estimate drifts upward slowly rather than converging to a sample covariance.
Whether that matters in practice depends on the implementation. The honest thing to say is: this is the component the ablation identifies as most important, the printed update does not look like a standard estimator, and the code is the place to resolve it.
Second point worth raising: Σ is a full d × d matrix in CLAP's embedding space, estimated from soft responsibilities over a few thousand unlabelled utterances, with no shrinkage or regularisation mentioned. That is an ambitious estimation problem.</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[33:30–35:40] What is not reported.
The first row is the one most specific to this method and the most informative experiment to add. A stateful online method should be shown to be robust to stream order — and the natural adversarial case is class-correlated ordering, where all the angry utterances arrive first. That is precisely the case that broke Tent in later literature.
The second row is the recurring problem of the whole TTA field, and we flagged it for Tent too. Credit that the hyperparameters are shared across all six corpora rather than tuned per corpus — that is the right choice and reduces the concern considerably.
The third row is a genuinely interesting missing figure: accuracy as a function of position in the stream would show how much data the method needs before it helps.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[35:40–38:00] Appraisal.
Give the strengths their due. The GDA reframing is the kind of observation that makes a method feel inevitable afterwards, and the experimental setup is more careful than several earlier papers in this series — three seeds, shared hyperparameters, re-implemented baselines.
The last strength is worth saying explicitly because we have spent several sessions catching arithmetic slips: this paper's stated gains all reconcile with its tables.
Among the open threads, the last one is the cheapest fix and the one this series has asked for most often. On CREMA-D and MELD especially, a per-class breakdown would say whether the gains are on the rare emotions or the common ones.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[38:00–40:30] The comparison.
Let people read, then walk the entropy row, the unit-of-adaptation row, and the highlighted one.
The shared premise is the point of the pairing: both papers believe the model's own confidence carries usable information about correctness. Tent bets hard on it by making it the objective; Emo-TTA bets lightly by making it a weight.
Given Tent's own rank correlation of 0.22 between entropy change and loss change, the lighter bet looks better justified. That is a genuine argument the two papers let us make that neither makes alone.
The safety-net row is also worth naming: Emo-TTA cannot fail the way Tent fails on MNIST-to-SVHN, because the zero-shot classifier still carries the dominant term.</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[40:30–41:50] Take-aways.
Read these; they are written to be transcribed. Number two is the one that only emerges from reading the two papers together, and number four is the reading habit this series keeps returning to.</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[41:50–45:00] Discussion and close.
Five prompts; take two. Question 2 is the best research question and is cheap to test: compute the learned covariance's top eigenvectors and check whether they align with speaker identity or channel rather than emotion. If they do, the method is doing exactly what WavLM and CLEP-DG were trying to do, by a completely different route.
Question 3 is the most likely reviewer question and the cheapest experiment: sort the test stream by class and re-run.
Close by naming the session's arc: Tent asked whether a model can fix itself from its own confidence, and answered with a gradient. Five years later, in a domain where the shifts are harder and the samples arrive alone, the better answer turned out to be a Gaussian and no gradient at all.</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32226"/>
        </a:solidFill>
        <a:effectLst/>
      </p:bgPr>
    </p:bg>
    <p:spTree>
      <p:nvGrpSpPr>
        <p:cNvPr id="1" name=""/>
        <p:cNvGrpSpPr/>
        <p:nvPr/>
      </p:nvGrpSpPr>
      <p:grpSpPr>
        <a:xfrm>
          <a:off x="0" y="0"/>
          <a:ext cx="0" cy="0"/>
          <a:chOff x="0" y="0"/>
          <a:chExt cx="0" cy="0"/>
        </a:xfrm>
      </p:grpSpPr>
      <p:sp>
        <p:nvSpPr>
          <p:cNvPr id="2" name="Shape 0"/>
          <p:cNvSpPr/>
          <p:nvPr/>
        </p:nvSpPr>
        <p:spPr>
          <a:xfrm>
            <a:off x="868680" y="1097280"/>
            <a:ext cx="1093622" cy="713232"/>
          </a:xfrm>
          <a:prstGeom prst="ellipse">
            <a:avLst/>
          </a:prstGeom>
          <a:ln w="16510">
            <a:solidFill>
              <a:srgbClr val="DFC4C7"/>
            </a:solidFill>
            <a:prstDash val="solid"/>
          </a:ln>
        </p:spPr>
        <p:txBody>
          <a:bodyPr/>
          <a:lstStyle/>
          <a:p>
            <a:endParaRPr lang="en-US"/>
          </a:p>
        </p:txBody>
      </p:sp>
      <p:sp>
        <p:nvSpPr>
          <p:cNvPr id="3" name="Shape 1"/>
          <p:cNvSpPr/>
          <p:nvPr/>
        </p:nvSpPr>
        <p:spPr>
          <a:xfrm>
            <a:off x="1177747" y="1311250"/>
            <a:ext cx="213970" cy="213970"/>
          </a:xfrm>
          <a:prstGeom prst="ellipse">
            <a:avLst/>
          </a:prstGeom>
          <a:solidFill>
            <a:srgbClr val="B8871F"/>
          </a:solidFill>
          <a:ln w="12700">
            <a:solidFill>
              <a:srgbClr val="333333"/>
            </a:solidFill>
            <a:prstDash val="solid"/>
          </a:ln>
        </p:spPr>
        <p:txBody>
          <a:bodyPr/>
          <a:lstStyle/>
          <a:p>
            <a:endParaRPr lang="en-US"/>
          </a:p>
        </p:txBody>
      </p:sp>
      <p:sp>
        <p:nvSpPr>
          <p:cNvPr id="4" name="Shape 2"/>
          <p:cNvSpPr/>
          <p:nvPr/>
        </p:nvSpPr>
        <p:spPr>
          <a:xfrm>
            <a:off x="1510589" y="1430122"/>
            <a:ext cx="166421" cy="166421"/>
          </a:xfrm>
          <a:prstGeom prst="ellipse">
            <a:avLst/>
          </a:prstGeom>
          <a:solidFill>
            <a:srgbClr val="C9A8AC"/>
          </a:solidFill>
          <a:ln w="12700">
            <a:solidFill>
              <a:srgbClr val="333333"/>
            </a:solidFill>
            <a:prstDash val="solid"/>
          </a:ln>
        </p:spPr>
        <p:txBody>
          <a:bodyPr/>
          <a:lstStyle/>
          <a:p>
            <a:endParaRPr lang="en-US"/>
          </a:p>
        </p:txBody>
      </p:sp>
      <p:sp>
        <p:nvSpPr>
          <p:cNvPr id="5" name="Text 3"/>
          <p:cNvSpPr txBox="1"/>
          <p:nvPr/>
        </p:nvSpPr>
        <p:spPr>
          <a:xfrm>
            <a:off x="822960" y="1828800"/>
            <a:ext cx="10515600" cy="914400"/>
          </a:xfrm>
          <a:prstGeom prst="rect">
            <a:avLst/>
          </a:prstGeom>
          <a:noFill/>
          <a:ln/>
        </p:spPr>
        <p:txBody>
          <a:bodyPr wrap="square" lIns="0" tIns="0" rIns="0" bIns="0" rtlCol="0" anchor="ctr"/>
          <a:lstStyle/>
          <a:p>
            <a:pPr marL="0" indent="0">
              <a:buNone/>
            </a:pPr>
            <a:r>
              <a:rPr lang="en-US" sz="5000" b="1" kern="0" spc="100" dirty="0">
                <a:solidFill>
                  <a:srgbClr val="FFFFFF"/>
                </a:solidFill>
                <a:latin typeface="Cambria" pitchFamily="34" charset="0"/>
                <a:ea typeface="Cambria" pitchFamily="34" charset="-122"/>
                <a:cs typeface="Cambria" pitchFamily="34" charset="-120"/>
              </a:rPr>
              <a:t>Emo-TTA</a:t>
            </a:r>
            <a:endParaRPr lang="en-US" sz="5000" dirty="0"/>
          </a:p>
        </p:txBody>
      </p:sp>
      <p:sp>
        <p:nvSpPr>
          <p:cNvPr id="6" name="Text 4"/>
          <p:cNvSpPr txBox="1"/>
          <p:nvPr/>
        </p:nvSpPr>
        <p:spPr>
          <a:xfrm>
            <a:off x="822960" y="2724912"/>
            <a:ext cx="10607040" cy="822960"/>
          </a:xfrm>
          <a:prstGeom prst="rect">
            <a:avLst/>
          </a:prstGeom>
          <a:noFill/>
          <a:ln/>
        </p:spPr>
        <p:txBody>
          <a:bodyPr wrap="square" lIns="0" tIns="0" rIns="0" bIns="0" rtlCol="0" anchor="ctr"/>
          <a:lstStyle/>
          <a:p>
            <a:pPr marL="0" indent="0">
              <a:lnSpc>
                <a:spcPct val="115000"/>
              </a:lnSpc>
              <a:buNone/>
            </a:pPr>
            <a:r>
              <a:rPr lang="en-US" sz="1800" i="1" dirty="0">
                <a:solidFill>
                  <a:srgbClr val="DFC4C7"/>
                </a:solidFill>
                <a:latin typeface="Cambria" pitchFamily="34" charset="0"/>
                <a:ea typeface="Cambria" pitchFamily="34" charset="-122"/>
                <a:cs typeface="Cambria" pitchFamily="34" charset="-120"/>
              </a:rPr>
              <a:t>Improving Test-Time Adaptation of Audio-Language Models</a:t>
            </a:r>
            <a:endParaRPr lang="en-US" sz="1800" dirty="0"/>
          </a:p>
          <a:p>
            <a:pPr marL="0" indent="0">
              <a:lnSpc>
                <a:spcPct val="115000"/>
              </a:lnSpc>
              <a:buNone/>
            </a:pPr>
            <a:r>
              <a:rPr lang="en-US" sz="1800" i="1" dirty="0">
                <a:solidFill>
                  <a:srgbClr val="DFC4C7"/>
                </a:solidFill>
                <a:latin typeface="Cambria" pitchFamily="34" charset="0"/>
                <a:ea typeface="Cambria" pitchFamily="34" charset="-122"/>
                <a:cs typeface="Cambria" pitchFamily="34" charset="-120"/>
              </a:rPr>
              <a:t>for Speech Emotion Recognition</a:t>
            </a:r>
            <a:endParaRPr lang="en-US" sz="1800" dirty="0"/>
          </a:p>
        </p:txBody>
      </p:sp>
      <p:sp>
        <p:nvSpPr>
          <p:cNvPr id="7" name="Text 5"/>
          <p:cNvSpPr txBox="1"/>
          <p:nvPr/>
        </p:nvSpPr>
        <p:spPr>
          <a:xfrm>
            <a:off x="859536" y="3730752"/>
            <a:ext cx="10241280" cy="1005840"/>
          </a:xfrm>
          <a:prstGeom prst="rect">
            <a:avLst/>
          </a:prstGeom>
          <a:noFill/>
          <a:ln/>
        </p:spPr>
        <p:txBody>
          <a:bodyPr wrap="square" lIns="0" tIns="0" rIns="0" bIns="0" rtlCol="0" anchor="ctr"/>
          <a:lstStyle/>
          <a:p>
            <a:pPr marL="0" indent="0">
              <a:lnSpc>
                <a:spcPct val="125000"/>
              </a:lnSpc>
              <a:buNone/>
            </a:pPr>
            <a:r>
              <a:rPr lang="en-US" sz="1300" dirty="0">
                <a:solidFill>
                  <a:srgbClr val="C6A8AC"/>
                </a:solidFill>
                <a:latin typeface="Calibri" pitchFamily="34" charset="0"/>
                <a:ea typeface="Calibri" pitchFamily="34" charset="-122"/>
                <a:cs typeface="Calibri" pitchFamily="34" charset="-120"/>
              </a:rPr>
              <a:t>Jiacheng Shi, Hongfei Du, Y. Alicia Hong &amp; Ye Gao</a:t>
            </a:r>
            <a:endParaRPr lang="en-US" sz="1300" dirty="0"/>
          </a:p>
          <a:p>
            <a:pPr marL="0" indent="0">
              <a:lnSpc>
                <a:spcPct val="125000"/>
              </a:lnSpc>
              <a:buNone/>
            </a:pPr>
            <a:r>
              <a:rPr lang="en-US" sz="1300" dirty="0">
                <a:solidFill>
                  <a:srgbClr val="C6A8AC"/>
                </a:solidFill>
                <a:latin typeface="Calibri" pitchFamily="34" charset="0"/>
                <a:ea typeface="Calibri" pitchFamily="34" charset="-122"/>
                <a:cs typeface="Calibri" pitchFamily="34" charset="-120"/>
              </a:rPr>
              <a:t>IEEE ICASSP 2026  ·  arXiv:2509.25495</a:t>
            </a:r>
            <a:endParaRPr lang="en-US" sz="1300" dirty="0"/>
          </a:p>
          <a:p>
            <a:pPr marL="0" indent="0">
              <a:lnSpc>
                <a:spcPct val="125000"/>
              </a:lnSpc>
              <a:buNone/>
            </a:pPr>
            <a:r>
              <a:rPr lang="en-US" sz="1300" dirty="0">
                <a:solidFill>
                  <a:srgbClr val="C6A8AC"/>
                </a:solidFill>
                <a:latin typeface="Calibri" pitchFamily="34" charset="0"/>
                <a:ea typeface="Calibri" pitchFamily="34" charset="-122"/>
                <a:cs typeface="Calibri" pitchFamily="34" charset="-120"/>
              </a:rPr>
              <a:t>College of William &amp; Mary, with George Mason University</a:t>
            </a:r>
            <a:endParaRPr lang="en-US" sz="1300" dirty="0"/>
          </a:p>
        </p:txBody>
      </p:sp>
      <p:sp>
        <p:nvSpPr>
          <p:cNvPr id="8" name="Text 6"/>
          <p:cNvSpPr txBox="1"/>
          <p:nvPr/>
        </p:nvSpPr>
        <p:spPr>
          <a:xfrm>
            <a:off x="859536" y="5175504"/>
            <a:ext cx="9144000" cy="365760"/>
          </a:xfrm>
          <a:prstGeom prst="rect">
            <a:avLst/>
          </a:prstGeom>
          <a:noFill/>
          <a:ln/>
        </p:spPr>
        <p:txBody>
          <a:bodyPr wrap="square" lIns="0" tIns="0" rIns="0" bIns="0" rtlCol="0" anchor="ctr"/>
          <a:lstStyle/>
          <a:p>
            <a:pPr marL="0" indent="0">
              <a:buNone/>
            </a:pPr>
            <a:r>
              <a:rPr lang="en-US" sz="1250" b="1" dirty="0">
                <a:solidFill>
                  <a:srgbClr val="B8871F"/>
                </a:solidFill>
                <a:latin typeface="Calibri" pitchFamily="34" charset="0"/>
                <a:ea typeface="Calibri" pitchFamily="34" charset="-122"/>
                <a:cs typeface="Calibri" pitchFamily="34" charset="-120"/>
              </a:rPr>
              <a:t>Adapting at test time</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045952" y="457200"/>
            <a:ext cx="420624" cy="274320"/>
          </a:xfrm>
          <a:prstGeom prst="ellipse">
            <a:avLst/>
          </a:prstGeom>
          <a:ln w="16510">
            <a:solidFill>
              <a:srgbClr val="8A4A52"/>
            </a:solidFill>
            <a:prstDash val="solid"/>
          </a:ln>
        </p:spPr>
        <p:txBody>
          <a:bodyPr/>
          <a:lstStyle/>
          <a:p>
            <a:endParaRPr lang="en-US"/>
          </a:p>
        </p:txBody>
      </p:sp>
      <p:sp>
        <p:nvSpPr>
          <p:cNvPr id="3" name="Shape 1"/>
          <p:cNvSpPr/>
          <p:nvPr/>
        </p:nvSpPr>
        <p:spPr>
          <a:xfrm>
            <a:off x="11164824" y="539496"/>
            <a:ext cx="82296" cy="82296"/>
          </a:xfrm>
          <a:prstGeom prst="ellipse">
            <a:avLst/>
          </a:prstGeom>
          <a:solidFill>
            <a:srgbClr val="B8871F"/>
          </a:solidFill>
          <a:ln w="12700">
            <a:solidFill>
              <a:srgbClr val="333333"/>
            </a:solidFill>
            <a:prstDash val="solid"/>
          </a:ln>
        </p:spPr>
        <p:txBody>
          <a:bodyPr/>
          <a:lstStyle/>
          <a:p>
            <a:endParaRPr lang="en-US"/>
          </a:p>
        </p:txBody>
      </p:sp>
      <p:sp>
        <p:nvSpPr>
          <p:cNvPr id="4" name="Shape 2"/>
          <p:cNvSpPr/>
          <p:nvPr/>
        </p:nvSpPr>
        <p:spPr>
          <a:xfrm>
            <a:off x="11292840" y="585216"/>
            <a:ext cx="64008" cy="64008"/>
          </a:xfrm>
          <a:prstGeom prst="ellipse">
            <a:avLst/>
          </a:prstGeom>
          <a:solidFill>
            <a:srgbClr val="B08A8E"/>
          </a:solidFill>
          <a:ln w="12700">
            <a:solidFill>
              <a:srgbClr val="333333"/>
            </a:solidFill>
            <a:prstDash val="solid"/>
          </a:ln>
        </p:spPr>
        <p:txBody>
          <a:bodyPr/>
          <a:lstStyle/>
          <a:p>
            <a:endParaRPr lang="en-US"/>
          </a:p>
        </p:txBody>
      </p:sp>
      <p:sp>
        <p:nvSpPr>
          <p:cNvPr id="5" name="Text 3"/>
          <p:cNvSpPr txBox="1"/>
          <p:nvPr/>
        </p:nvSpPr>
        <p:spPr>
          <a:xfrm>
            <a:off x="548640" y="384048"/>
            <a:ext cx="10332720" cy="566928"/>
          </a:xfrm>
          <a:prstGeom prst="rect">
            <a:avLst/>
          </a:prstGeom>
          <a:noFill/>
          <a:ln/>
        </p:spPr>
        <p:txBody>
          <a:bodyPr wrap="square" lIns="0" tIns="0" rIns="0" bIns="0" rtlCol="0" anchor="t"/>
          <a:lstStyle/>
          <a:p>
            <a:pPr marL="0" indent="0">
              <a:buNone/>
            </a:pPr>
            <a:r>
              <a:rPr lang="en-US" sz="2900" b="1" dirty="0">
                <a:solidFill>
                  <a:srgbClr val="241619"/>
                </a:solidFill>
                <a:latin typeface="Cambria" pitchFamily="34" charset="0"/>
                <a:ea typeface="Cambria" pitchFamily="34" charset="-122"/>
                <a:cs typeface="Cambria" pitchFamily="34" charset="-120"/>
              </a:rPr>
              <a:t>Why this paper matters</a:t>
            </a:r>
            <a:endParaRPr lang="en-US" sz="2900" dirty="0"/>
          </a:p>
        </p:txBody>
      </p:sp>
      <p:sp>
        <p:nvSpPr>
          <p:cNvPr id="6" name="Text 4"/>
          <p:cNvSpPr txBox="1"/>
          <p:nvPr/>
        </p:nvSpPr>
        <p:spPr>
          <a:xfrm>
            <a:off x="548640" y="969264"/>
            <a:ext cx="10332720" cy="329184"/>
          </a:xfrm>
          <a:prstGeom prst="rect">
            <a:avLst/>
          </a:prstGeom>
          <a:noFill/>
          <a:ln/>
        </p:spPr>
        <p:txBody>
          <a:bodyPr wrap="square" lIns="0" tIns="0" rIns="0" bIns="0" rtlCol="0" anchor="ctr"/>
          <a:lstStyle/>
          <a:p>
            <a:pPr marL="0" indent="0">
              <a:buNone/>
            </a:pPr>
            <a:r>
              <a:rPr lang="en-US" sz="1350" i="1" dirty="0">
                <a:solidFill>
                  <a:srgbClr val="6E5156"/>
                </a:solidFill>
                <a:latin typeface="Calibri" pitchFamily="34" charset="0"/>
                <a:ea typeface="Calibri" pitchFamily="34" charset="-122"/>
                <a:cs typeface="Calibri" pitchFamily="34" charset="-120"/>
              </a:rPr>
              <a:t>Test-time adaptation with no gradients and no batch</a:t>
            </a:r>
            <a:endParaRPr lang="en-US" sz="1350" dirty="0"/>
          </a:p>
        </p:txBody>
      </p:sp>
      <p:sp>
        <p:nvSpPr>
          <p:cNvPr id="7" name="Text 5"/>
          <p:cNvSpPr txBox="1"/>
          <p:nvPr/>
        </p:nvSpPr>
        <p:spPr>
          <a:xfrm>
            <a:off x="9418320" y="6382512"/>
            <a:ext cx="2221992" cy="274320"/>
          </a:xfrm>
          <a:prstGeom prst="rect">
            <a:avLst/>
          </a:prstGeom>
          <a:noFill/>
          <a:ln/>
        </p:spPr>
        <p:txBody>
          <a:bodyPr wrap="square" lIns="0" tIns="0" rIns="0" bIns="0" rtlCol="0" anchor="ctr"/>
          <a:lstStyle/>
          <a:p>
            <a:pPr marL="0" indent="0" algn="r">
              <a:buNone/>
            </a:pPr>
            <a:r>
              <a:rPr lang="en-US" sz="900" dirty="0">
                <a:solidFill>
                  <a:srgbClr val="B59CA0"/>
                </a:solidFill>
                <a:latin typeface="Calibri" pitchFamily="34" charset="0"/>
                <a:ea typeface="Calibri" pitchFamily="34" charset="-122"/>
                <a:cs typeface="Calibri" pitchFamily="34" charset="-120"/>
              </a:rPr>
              <a:t>Emo-TTA · Shi et al. 2026  |  3</a:t>
            </a:r>
            <a:endParaRPr lang="en-US" sz="900" dirty="0"/>
          </a:p>
        </p:txBody>
      </p:sp>
      <p:sp>
        <p:nvSpPr>
          <p:cNvPr id="8" name="Text 6"/>
          <p:cNvSpPr txBox="1"/>
          <p:nvPr/>
        </p:nvSpPr>
        <p:spPr>
          <a:xfrm>
            <a:off x="566928" y="1554480"/>
            <a:ext cx="2697480" cy="694944"/>
          </a:xfrm>
          <a:prstGeom prst="rect">
            <a:avLst/>
          </a:prstGeom>
          <a:noFill/>
          <a:ln/>
        </p:spPr>
        <p:txBody>
          <a:bodyPr wrap="square" lIns="0" tIns="0" rIns="0" bIns="0" rtlCol="0" anchor="ctr"/>
          <a:lstStyle/>
          <a:p>
            <a:pPr marL="0" indent="0" algn="ctr">
              <a:buNone/>
            </a:pPr>
            <a:r>
              <a:rPr lang="en-US" sz="3400" b="1" dirty="0">
                <a:solidFill>
                  <a:srgbClr val="8A4A52"/>
                </a:solidFill>
                <a:latin typeface="Cambria" pitchFamily="34" charset="0"/>
                <a:ea typeface="Cambria" pitchFamily="34" charset="-122"/>
                <a:cs typeface="Cambria" pitchFamily="34" charset="-120"/>
              </a:rPr>
              <a:t>1</a:t>
            </a:r>
            <a:endParaRPr lang="en-US" sz="3400" dirty="0"/>
          </a:p>
        </p:txBody>
      </p:sp>
      <p:sp>
        <p:nvSpPr>
          <p:cNvPr id="9" name="Text 7"/>
          <p:cNvSpPr txBox="1"/>
          <p:nvPr/>
        </p:nvSpPr>
        <p:spPr>
          <a:xfrm>
            <a:off x="566928" y="2249424"/>
            <a:ext cx="2697480" cy="566928"/>
          </a:xfrm>
          <a:prstGeom prst="rect">
            <a:avLst/>
          </a:prstGeom>
          <a:noFill/>
          <a:ln/>
        </p:spPr>
        <p:txBody>
          <a:bodyPr wrap="square" lIns="0" tIns="0" rIns="0" bIns="0" rtlCol="0" anchor="ctr"/>
          <a:lstStyle/>
          <a:p>
            <a:pPr marL="0" indent="0" algn="ctr">
              <a:buNone/>
            </a:pPr>
            <a:r>
              <a:rPr lang="en-US" sz="1150" dirty="0">
                <a:solidFill>
                  <a:srgbClr val="6E5156"/>
                </a:solidFill>
                <a:latin typeface="Calibri" pitchFamily="34" charset="0"/>
                <a:ea typeface="Calibri" pitchFamily="34" charset="-122"/>
                <a:cs typeface="Calibri" pitchFamily="34" charset="-120"/>
              </a:rPr>
              <a:t>test sample at a time —</a:t>
            </a:r>
            <a:endParaRPr lang="en-US" sz="1150" dirty="0"/>
          </a:p>
          <a:p>
            <a:pPr marL="0" indent="0" algn="ctr">
              <a:buNone/>
            </a:pPr>
            <a:r>
              <a:rPr lang="en-US" sz="1150" dirty="0">
                <a:solidFill>
                  <a:srgbClr val="6E5156"/>
                </a:solidFill>
                <a:latin typeface="Calibri" pitchFamily="34" charset="0"/>
                <a:ea typeface="Calibri" pitchFamily="34" charset="-122"/>
                <a:cs typeface="Calibri" pitchFamily="34" charset="-120"/>
              </a:rPr>
              <a:t>no buffering, no batch</a:t>
            </a:r>
            <a:endParaRPr lang="en-US" sz="1150" dirty="0"/>
          </a:p>
        </p:txBody>
      </p:sp>
      <p:sp>
        <p:nvSpPr>
          <p:cNvPr id="10" name="Text 8"/>
          <p:cNvSpPr txBox="1"/>
          <p:nvPr/>
        </p:nvSpPr>
        <p:spPr>
          <a:xfrm>
            <a:off x="3392424" y="1554480"/>
            <a:ext cx="2697480" cy="694944"/>
          </a:xfrm>
          <a:prstGeom prst="rect">
            <a:avLst/>
          </a:prstGeom>
          <a:noFill/>
          <a:ln/>
        </p:spPr>
        <p:txBody>
          <a:bodyPr wrap="square" lIns="0" tIns="0" rIns="0" bIns="0" rtlCol="0" anchor="ctr"/>
          <a:lstStyle/>
          <a:p>
            <a:pPr marL="0" indent="0" algn="ctr">
              <a:buNone/>
            </a:pPr>
            <a:r>
              <a:rPr lang="en-US" sz="3400" b="1" dirty="0">
                <a:solidFill>
                  <a:srgbClr val="B8871F"/>
                </a:solidFill>
                <a:latin typeface="Cambria" pitchFamily="34" charset="0"/>
                <a:ea typeface="Cambria" pitchFamily="34" charset="-122"/>
                <a:cs typeface="Cambria" pitchFamily="34" charset="-120"/>
              </a:rPr>
              <a:t>0</a:t>
            </a:r>
            <a:endParaRPr lang="en-US" sz="3400" dirty="0"/>
          </a:p>
        </p:txBody>
      </p:sp>
      <p:sp>
        <p:nvSpPr>
          <p:cNvPr id="11" name="Text 9"/>
          <p:cNvSpPr txBox="1"/>
          <p:nvPr/>
        </p:nvSpPr>
        <p:spPr>
          <a:xfrm>
            <a:off x="3392424" y="2249424"/>
            <a:ext cx="2697480" cy="566928"/>
          </a:xfrm>
          <a:prstGeom prst="rect">
            <a:avLst/>
          </a:prstGeom>
          <a:noFill/>
          <a:ln/>
        </p:spPr>
        <p:txBody>
          <a:bodyPr wrap="square" lIns="0" tIns="0" rIns="0" bIns="0" rtlCol="0" anchor="ctr"/>
          <a:lstStyle/>
          <a:p>
            <a:pPr marL="0" indent="0" algn="ctr">
              <a:buNone/>
            </a:pPr>
            <a:r>
              <a:rPr lang="en-US" sz="1150" dirty="0">
                <a:solidFill>
                  <a:srgbClr val="6E5156"/>
                </a:solidFill>
                <a:latin typeface="Calibri" pitchFamily="34" charset="0"/>
                <a:ea typeface="Calibri" pitchFamily="34" charset="-122"/>
                <a:cs typeface="Calibri" pitchFamily="34" charset="-120"/>
              </a:rPr>
              <a:t>backpropagation, prompt tuning,</a:t>
            </a:r>
            <a:endParaRPr lang="en-US" sz="1150" dirty="0"/>
          </a:p>
          <a:p>
            <a:pPr marL="0" indent="0" algn="ctr">
              <a:buNone/>
            </a:pPr>
            <a:r>
              <a:rPr lang="en-US" sz="1150" dirty="0">
                <a:solidFill>
                  <a:srgbClr val="6E5156"/>
                </a:solidFill>
                <a:latin typeface="Calibri" pitchFamily="34" charset="0"/>
                <a:ea typeface="Calibri" pitchFamily="34" charset="-122"/>
                <a:cs typeface="Calibri" pitchFamily="34" charset="-120"/>
              </a:rPr>
              <a:t>or weight updates</a:t>
            </a:r>
            <a:endParaRPr lang="en-US" sz="1150" dirty="0"/>
          </a:p>
        </p:txBody>
      </p:sp>
      <p:sp>
        <p:nvSpPr>
          <p:cNvPr id="12" name="Text 10"/>
          <p:cNvSpPr txBox="1"/>
          <p:nvPr/>
        </p:nvSpPr>
        <p:spPr>
          <a:xfrm>
            <a:off x="6217920" y="1554480"/>
            <a:ext cx="2697480" cy="694944"/>
          </a:xfrm>
          <a:prstGeom prst="rect">
            <a:avLst/>
          </a:prstGeom>
          <a:noFill/>
          <a:ln/>
        </p:spPr>
        <p:txBody>
          <a:bodyPr wrap="square" lIns="0" tIns="0" rIns="0" bIns="0" rtlCol="0" anchor="ctr"/>
          <a:lstStyle/>
          <a:p>
            <a:pPr marL="0" indent="0" algn="ctr">
              <a:buNone/>
            </a:pPr>
            <a:r>
              <a:rPr lang="en-US" sz="3400" b="1" dirty="0">
                <a:solidFill>
                  <a:srgbClr val="8A4A52"/>
                </a:solidFill>
                <a:latin typeface="Cambria" pitchFamily="34" charset="0"/>
                <a:ea typeface="Cambria" pitchFamily="34" charset="-122"/>
                <a:cs typeface="Cambria" pitchFamily="34" charset="-120"/>
              </a:rPr>
              <a:t>+7.9</a:t>
            </a:r>
            <a:endParaRPr lang="en-US" sz="3400" dirty="0"/>
          </a:p>
        </p:txBody>
      </p:sp>
      <p:sp>
        <p:nvSpPr>
          <p:cNvPr id="13" name="Text 11"/>
          <p:cNvSpPr txBox="1"/>
          <p:nvPr/>
        </p:nvSpPr>
        <p:spPr>
          <a:xfrm>
            <a:off x="6217920" y="2249424"/>
            <a:ext cx="2697480" cy="566928"/>
          </a:xfrm>
          <a:prstGeom prst="rect">
            <a:avLst/>
          </a:prstGeom>
          <a:noFill/>
          <a:ln/>
        </p:spPr>
        <p:txBody>
          <a:bodyPr wrap="square" lIns="0" tIns="0" rIns="0" bIns="0" rtlCol="0" anchor="ctr"/>
          <a:lstStyle/>
          <a:p>
            <a:pPr marL="0" indent="0" algn="ctr">
              <a:buNone/>
            </a:pPr>
            <a:r>
              <a:rPr lang="en-US" sz="1150" dirty="0">
                <a:solidFill>
                  <a:srgbClr val="6E5156"/>
                </a:solidFill>
                <a:latin typeface="Calibri" pitchFamily="34" charset="0"/>
                <a:ea typeface="Calibri" pitchFamily="34" charset="-122"/>
                <a:cs typeface="Calibri" pitchFamily="34" charset="-120"/>
              </a:rPr>
              <a:t>average accuracy points over</a:t>
            </a:r>
            <a:endParaRPr lang="en-US" sz="1150" dirty="0"/>
          </a:p>
          <a:p>
            <a:pPr marL="0" indent="0" algn="ctr">
              <a:buNone/>
            </a:pPr>
            <a:r>
              <a:rPr lang="en-US" sz="1150" dirty="0">
                <a:solidFill>
                  <a:srgbClr val="6E5156"/>
                </a:solidFill>
                <a:latin typeface="Calibri" pitchFamily="34" charset="0"/>
                <a:ea typeface="Calibri" pitchFamily="34" charset="-122"/>
                <a:cs typeface="Calibri" pitchFamily="34" charset="-120"/>
              </a:rPr>
              <a:t>zero-shot CLAP-HTSAT</a:t>
            </a:r>
            <a:endParaRPr lang="en-US" sz="1150" dirty="0"/>
          </a:p>
        </p:txBody>
      </p:sp>
      <p:sp>
        <p:nvSpPr>
          <p:cNvPr id="14" name="Text 12"/>
          <p:cNvSpPr txBox="1"/>
          <p:nvPr/>
        </p:nvSpPr>
        <p:spPr>
          <a:xfrm>
            <a:off x="9043416" y="1554480"/>
            <a:ext cx="2587752" cy="694944"/>
          </a:xfrm>
          <a:prstGeom prst="rect">
            <a:avLst/>
          </a:prstGeom>
          <a:noFill/>
          <a:ln/>
        </p:spPr>
        <p:txBody>
          <a:bodyPr wrap="square" lIns="0" tIns="0" rIns="0" bIns="0" rtlCol="0" anchor="ctr"/>
          <a:lstStyle/>
          <a:p>
            <a:pPr marL="0" indent="0" algn="ctr">
              <a:buNone/>
            </a:pPr>
            <a:r>
              <a:rPr lang="en-US" sz="3400" b="1" dirty="0">
                <a:solidFill>
                  <a:srgbClr val="B8871F"/>
                </a:solidFill>
                <a:latin typeface="Cambria" pitchFamily="34" charset="0"/>
                <a:ea typeface="Cambria" pitchFamily="34" charset="-122"/>
                <a:cs typeface="Cambria" pitchFamily="34" charset="-120"/>
              </a:rPr>
              <a:t>10 / 12</a:t>
            </a:r>
            <a:endParaRPr lang="en-US" sz="3400" dirty="0"/>
          </a:p>
        </p:txBody>
      </p:sp>
      <p:sp>
        <p:nvSpPr>
          <p:cNvPr id="15" name="Text 13"/>
          <p:cNvSpPr txBox="1"/>
          <p:nvPr/>
        </p:nvSpPr>
        <p:spPr>
          <a:xfrm>
            <a:off x="9043416" y="2249424"/>
            <a:ext cx="2587752" cy="566928"/>
          </a:xfrm>
          <a:prstGeom prst="rect">
            <a:avLst/>
          </a:prstGeom>
          <a:noFill/>
          <a:ln/>
        </p:spPr>
        <p:txBody>
          <a:bodyPr wrap="square" lIns="0" tIns="0" rIns="0" bIns="0" rtlCol="0" anchor="ctr"/>
          <a:lstStyle/>
          <a:p>
            <a:pPr marL="0" indent="0" algn="ctr">
              <a:buNone/>
            </a:pPr>
            <a:r>
              <a:rPr lang="en-US" sz="1150" dirty="0">
                <a:solidFill>
                  <a:srgbClr val="6E5156"/>
                </a:solidFill>
                <a:latin typeface="Calibri" pitchFamily="34" charset="0"/>
                <a:ea typeface="Calibri" pitchFamily="34" charset="-122"/>
                <a:cs typeface="Calibri" pitchFamily="34" charset="-120"/>
              </a:rPr>
              <a:t>dataset–backbone cells where</a:t>
            </a:r>
            <a:endParaRPr lang="en-US" sz="1150" dirty="0"/>
          </a:p>
          <a:p>
            <a:pPr marL="0" indent="0" algn="ctr">
              <a:buNone/>
            </a:pPr>
            <a:r>
              <a:rPr lang="en-US" sz="1150" dirty="0">
                <a:solidFill>
                  <a:srgbClr val="6E5156"/>
                </a:solidFill>
                <a:latin typeface="Calibri" pitchFamily="34" charset="0"/>
                <a:ea typeface="Calibri" pitchFamily="34" charset="-122"/>
                <a:cs typeface="Calibri" pitchFamily="34" charset="-120"/>
              </a:rPr>
              <a:t>it is the best method</a:t>
            </a:r>
            <a:endParaRPr lang="en-US" sz="1150" dirty="0"/>
          </a:p>
        </p:txBody>
      </p:sp>
      <p:sp>
        <p:nvSpPr>
          <p:cNvPr id="16" name="Shape 14"/>
          <p:cNvSpPr/>
          <p:nvPr/>
        </p:nvSpPr>
        <p:spPr>
          <a:xfrm>
            <a:off x="566928" y="3200400"/>
            <a:ext cx="11064240" cy="1371600"/>
          </a:xfrm>
          <a:prstGeom prst="roundRect">
            <a:avLst>
              <a:gd name="adj" fmla="val 4000"/>
            </a:avLst>
          </a:prstGeom>
          <a:solidFill>
            <a:srgbClr val="F7F1F2"/>
          </a:solidFill>
          <a:ln w="12700">
            <a:solidFill>
              <a:srgbClr val="EDE0E2"/>
            </a:solidFill>
            <a:prstDash val="solid"/>
          </a:ln>
        </p:spPr>
        <p:txBody>
          <a:bodyPr/>
          <a:lstStyle/>
          <a:p>
            <a:endParaRPr lang="en-US"/>
          </a:p>
        </p:txBody>
      </p:sp>
      <p:sp>
        <p:nvSpPr>
          <p:cNvPr id="17" name="Shape 15"/>
          <p:cNvSpPr/>
          <p:nvPr/>
        </p:nvSpPr>
        <p:spPr>
          <a:xfrm>
            <a:off x="786384" y="3493008"/>
            <a:ext cx="109728" cy="109728"/>
          </a:xfrm>
          <a:prstGeom prst="ellipse">
            <a:avLst/>
          </a:prstGeom>
          <a:solidFill>
            <a:srgbClr val="8A4A52"/>
          </a:solidFill>
          <a:ln w="12700">
            <a:solidFill>
              <a:srgbClr val="333333"/>
            </a:solidFill>
            <a:prstDash val="solid"/>
          </a:ln>
        </p:spPr>
        <p:txBody>
          <a:bodyPr/>
          <a:lstStyle/>
          <a:p>
            <a:endParaRPr lang="en-US"/>
          </a:p>
        </p:txBody>
      </p:sp>
      <p:sp>
        <p:nvSpPr>
          <p:cNvPr id="18" name="Text 16"/>
          <p:cNvSpPr txBox="1"/>
          <p:nvPr/>
        </p:nvSpPr>
        <p:spPr>
          <a:xfrm>
            <a:off x="987552" y="3364992"/>
            <a:ext cx="10424160" cy="365760"/>
          </a:xfrm>
          <a:prstGeom prst="rect">
            <a:avLst/>
          </a:prstGeom>
          <a:noFill/>
          <a:ln/>
        </p:spPr>
        <p:txBody>
          <a:bodyPr wrap="square" lIns="0" tIns="0" rIns="0" bIns="0" rtlCol="0" anchor="ctr"/>
          <a:lstStyle/>
          <a:p>
            <a:pPr marL="0" indent="0">
              <a:buNone/>
            </a:pPr>
            <a:r>
              <a:rPr lang="en-US" sz="1500" b="1" dirty="0">
                <a:solidFill>
                  <a:srgbClr val="241619"/>
                </a:solidFill>
                <a:latin typeface="Cambria" pitchFamily="34" charset="0"/>
                <a:ea typeface="Cambria" pitchFamily="34" charset="-122"/>
                <a:cs typeface="Cambria" pitchFamily="34" charset="-120"/>
              </a:rPr>
              <a:t>The claim</a:t>
            </a:r>
            <a:endParaRPr lang="en-US" sz="1500" dirty="0"/>
          </a:p>
        </p:txBody>
      </p:sp>
      <p:sp>
        <p:nvSpPr>
          <p:cNvPr id="19" name="Text 17"/>
          <p:cNvSpPr txBox="1"/>
          <p:nvPr/>
        </p:nvSpPr>
        <p:spPr>
          <a:xfrm>
            <a:off x="822960" y="3803904"/>
            <a:ext cx="10552176" cy="585216"/>
          </a:xfrm>
          <a:prstGeom prst="rect">
            <a:avLst/>
          </a:prstGeom>
          <a:noFill/>
          <a:ln/>
        </p:spPr>
        <p:txBody>
          <a:bodyPr wrap="square" lIns="0" tIns="0" rIns="0" bIns="0" rtlCol="0" anchor="t"/>
          <a:lstStyle/>
          <a:p>
            <a:pPr marL="0" indent="0">
              <a:lnSpc>
                <a:spcPct val="108000"/>
              </a:lnSpc>
              <a:buNone/>
            </a:pPr>
            <a:r>
              <a:rPr lang="en-US" sz="1340" dirty="0">
                <a:solidFill>
                  <a:srgbClr val="352428"/>
                </a:solidFill>
                <a:latin typeface="Calibri" pitchFamily="34" charset="0"/>
                <a:ea typeface="Calibri" pitchFamily="34" charset="-122"/>
                <a:cs typeface="Calibri" pitchFamily="34" charset="-120"/>
              </a:rPr>
              <a:t>CLAP classifies an utterance by comparing its audio embedding to text prompts for each emotion. Under domain shift those text prototypes sit in the wrong place. So treat them as the initial means of a Gaussian mixture, and re-estimate the means, covariance and priors online from the test stream by expectation-maximisation — using CLAP's own predictions as soft labels.</a:t>
            </a:r>
            <a:endParaRPr lang="en-US" sz="1340" dirty="0"/>
          </a:p>
        </p:txBody>
      </p:sp>
      <p:sp>
        <p:nvSpPr>
          <p:cNvPr id="20" name="Shape 18"/>
          <p:cNvSpPr/>
          <p:nvPr/>
        </p:nvSpPr>
        <p:spPr>
          <a:xfrm>
            <a:off x="566928" y="4700016"/>
            <a:ext cx="11064240" cy="1353312"/>
          </a:xfrm>
          <a:prstGeom prst="roundRect">
            <a:avLst>
              <a:gd name="adj" fmla="val 4054"/>
            </a:avLst>
          </a:prstGeom>
          <a:solidFill>
            <a:srgbClr val="332226"/>
          </a:solidFill>
          <a:ln w="12700">
            <a:solidFill>
              <a:srgbClr val="332226"/>
            </a:solidFill>
            <a:prstDash val="solid"/>
          </a:ln>
        </p:spPr>
        <p:txBody>
          <a:bodyPr/>
          <a:lstStyle/>
          <a:p>
            <a:endParaRPr lang="en-US"/>
          </a:p>
        </p:txBody>
      </p:sp>
      <p:sp>
        <p:nvSpPr>
          <p:cNvPr id="21" name="Shape 19"/>
          <p:cNvSpPr/>
          <p:nvPr/>
        </p:nvSpPr>
        <p:spPr>
          <a:xfrm>
            <a:off x="786384" y="4992624"/>
            <a:ext cx="109728" cy="109728"/>
          </a:xfrm>
          <a:prstGeom prst="ellipse">
            <a:avLst/>
          </a:prstGeom>
          <a:solidFill>
            <a:srgbClr val="B8871F"/>
          </a:solidFill>
          <a:ln w="12700">
            <a:solidFill>
              <a:srgbClr val="333333"/>
            </a:solidFill>
            <a:prstDash val="solid"/>
          </a:ln>
        </p:spPr>
        <p:txBody>
          <a:bodyPr/>
          <a:lstStyle/>
          <a:p>
            <a:endParaRPr lang="en-US"/>
          </a:p>
        </p:txBody>
      </p:sp>
      <p:sp>
        <p:nvSpPr>
          <p:cNvPr id="22" name="Text 20"/>
          <p:cNvSpPr txBox="1"/>
          <p:nvPr/>
        </p:nvSpPr>
        <p:spPr>
          <a:xfrm>
            <a:off x="987552" y="4864608"/>
            <a:ext cx="10424160" cy="36576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The inversion relative to Tent</a:t>
            </a:r>
            <a:endParaRPr lang="en-US" sz="1500" dirty="0"/>
          </a:p>
        </p:txBody>
      </p:sp>
      <p:sp>
        <p:nvSpPr>
          <p:cNvPr id="23" name="Text 21"/>
          <p:cNvSpPr txBox="1"/>
          <p:nvPr/>
        </p:nvSpPr>
        <p:spPr>
          <a:xfrm>
            <a:off x="822960" y="5303520"/>
            <a:ext cx="10552176" cy="566928"/>
          </a:xfrm>
          <a:prstGeom prst="rect">
            <a:avLst/>
          </a:prstGeom>
          <a:noFill/>
          <a:ln/>
        </p:spPr>
        <p:txBody>
          <a:bodyPr wrap="square" lIns="0" tIns="0" rIns="0" bIns="0" rtlCol="0" anchor="t"/>
          <a:lstStyle/>
          <a:p>
            <a:pPr marL="0" indent="0">
              <a:lnSpc>
                <a:spcPct val="108000"/>
              </a:lnSpc>
              <a:buNone/>
            </a:pPr>
            <a:r>
              <a:rPr lang="en-US" sz="1340" dirty="0">
                <a:solidFill>
                  <a:srgbClr val="DFC4C7"/>
                </a:solidFill>
                <a:latin typeface="Calibri" pitchFamily="34" charset="0"/>
                <a:ea typeface="Calibri" pitchFamily="34" charset="-122"/>
                <a:cs typeface="Calibri" pitchFamily="34" charset="-120"/>
              </a:rPr>
              <a:t>Tent minimises entropy by gradient descent on normalisation parameters. Emo-TTA uses entropy as a confidence weight — an utterance whose prediction is uncertain contributes less to the statistics — and updates in closed form.</a:t>
            </a:r>
            <a:endParaRPr lang="en-US" sz="1340" dirty="0"/>
          </a:p>
          <a:p>
            <a:pPr marL="0" indent="0">
              <a:lnSpc>
                <a:spcPct val="108000"/>
              </a:lnSpc>
              <a:buNone/>
            </a:pPr>
            <a:endParaRPr lang="en-US" sz="1340" dirty="0"/>
          </a:p>
          <a:p>
            <a:pPr marL="0" indent="0">
              <a:lnSpc>
                <a:spcPct val="108000"/>
              </a:lnSpc>
              <a:buNone/>
            </a:pPr>
            <a:r>
              <a:rPr lang="en-US" sz="1340" dirty="0">
                <a:solidFill>
                  <a:srgbClr val="DFC4C7"/>
                </a:solidFill>
                <a:latin typeface="Calibri" pitchFamily="34" charset="0"/>
                <a:ea typeface="Calibri" pitchFamily="34" charset="-122"/>
                <a:cs typeface="Calibri" pitchFamily="34" charset="-120"/>
              </a:rPr>
              <a:t>Same signal, opposite role: a loss in one, a reliability score in the other.</a:t>
            </a:r>
            <a:endParaRPr lang="en-US" sz="134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332226"/>
        </a:solidFill>
        <a:effectLst/>
      </p:bgPr>
    </p:bg>
    <p:spTree>
      <p:nvGrpSpPr>
        <p:cNvPr id="1" name=""/>
        <p:cNvGrpSpPr/>
        <p:nvPr/>
      </p:nvGrpSpPr>
      <p:grpSpPr>
        <a:xfrm>
          <a:off x="0" y="0"/>
          <a:ext cx="0" cy="0"/>
          <a:chOff x="0" y="0"/>
          <a:chExt cx="0" cy="0"/>
        </a:xfrm>
      </p:grpSpPr>
      <p:sp>
        <p:nvSpPr>
          <p:cNvPr id="2" name="Shape 0"/>
          <p:cNvSpPr/>
          <p:nvPr/>
        </p:nvSpPr>
        <p:spPr>
          <a:xfrm>
            <a:off x="10515600" y="5349240"/>
            <a:ext cx="841248" cy="548640"/>
          </a:xfrm>
          <a:prstGeom prst="ellipse">
            <a:avLst/>
          </a:prstGeom>
          <a:ln w="16510">
            <a:solidFill>
              <a:srgbClr val="DFC4C7"/>
            </a:solidFill>
            <a:prstDash val="solid"/>
          </a:ln>
        </p:spPr>
        <p:txBody>
          <a:bodyPr/>
          <a:lstStyle/>
          <a:p>
            <a:endParaRPr lang="en-US"/>
          </a:p>
        </p:txBody>
      </p:sp>
      <p:sp>
        <p:nvSpPr>
          <p:cNvPr id="3" name="Shape 1"/>
          <p:cNvSpPr/>
          <p:nvPr/>
        </p:nvSpPr>
        <p:spPr>
          <a:xfrm>
            <a:off x="10753344" y="5513832"/>
            <a:ext cx="164592" cy="164592"/>
          </a:xfrm>
          <a:prstGeom prst="ellipse">
            <a:avLst/>
          </a:prstGeom>
          <a:solidFill>
            <a:srgbClr val="B8871F"/>
          </a:solidFill>
          <a:ln w="12700">
            <a:solidFill>
              <a:srgbClr val="333333"/>
            </a:solidFill>
            <a:prstDash val="solid"/>
          </a:ln>
        </p:spPr>
        <p:txBody>
          <a:bodyPr/>
          <a:lstStyle/>
          <a:p>
            <a:endParaRPr lang="en-US"/>
          </a:p>
        </p:txBody>
      </p:sp>
      <p:sp>
        <p:nvSpPr>
          <p:cNvPr id="4" name="Shape 2"/>
          <p:cNvSpPr/>
          <p:nvPr/>
        </p:nvSpPr>
        <p:spPr>
          <a:xfrm>
            <a:off x="11009376" y="5605272"/>
            <a:ext cx="128016" cy="128016"/>
          </a:xfrm>
          <a:prstGeom prst="ellipse">
            <a:avLst/>
          </a:prstGeom>
          <a:solidFill>
            <a:srgbClr val="C9A8AC"/>
          </a:solidFill>
          <a:ln w="12700">
            <a:solidFill>
              <a:srgbClr val="333333"/>
            </a:solidFill>
            <a:prstDash val="solid"/>
          </a:ln>
        </p:spPr>
        <p:txBody>
          <a:bodyPr/>
          <a:lstStyle/>
          <a:p>
            <a:endParaRPr lang="en-US"/>
          </a:p>
        </p:txBody>
      </p:sp>
      <p:sp>
        <p:nvSpPr>
          <p:cNvPr id="5" name="Text 3"/>
          <p:cNvSpPr txBox="1"/>
          <p:nvPr/>
        </p:nvSpPr>
        <p:spPr>
          <a:xfrm>
            <a:off x="822960" y="2057400"/>
            <a:ext cx="1554480" cy="1005840"/>
          </a:xfrm>
          <a:prstGeom prst="rect">
            <a:avLst/>
          </a:prstGeom>
          <a:noFill/>
          <a:ln/>
        </p:spPr>
        <p:txBody>
          <a:bodyPr wrap="square" lIns="0" tIns="0" rIns="0" bIns="0" rtlCol="0" anchor="ctr"/>
          <a:lstStyle/>
          <a:p>
            <a:pPr marL="0" indent="0">
              <a:buNone/>
            </a:pPr>
            <a:r>
              <a:rPr lang="en-US" sz="6600" b="1" dirty="0">
                <a:solidFill>
                  <a:srgbClr val="B8871F"/>
                </a:solidFill>
                <a:latin typeface="Cambria" pitchFamily="34" charset="0"/>
                <a:ea typeface="Cambria" pitchFamily="34" charset="-122"/>
                <a:cs typeface="Cambria" pitchFamily="34" charset="-120"/>
              </a:rPr>
              <a:t>1</a:t>
            </a:r>
            <a:endParaRPr lang="en-US" sz="6600" dirty="0"/>
          </a:p>
        </p:txBody>
      </p:sp>
      <p:sp>
        <p:nvSpPr>
          <p:cNvPr id="6" name="Text 4"/>
          <p:cNvSpPr txBox="1"/>
          <p:nvPr/>
        </p:nvSpPr>
        <p:spPr>
          <a:xfrm>
            <a:off x="2377440" y="2212848"/>
            <a:ext cx="8686800" cy="822960"/>
          </a:xfrm>
          <a:prstGeom prst="rect">
            <a:avLst/>
          </a:prstGeom>
          <a:noFill/>
          <a:ln/>
        </p:spPr>
        <p:txBody>
          <a:bodyPr wrap="square" lIns="0" tIns="0" rIns="0" bIns="0" rtlCol="0" anchor="ctr"/>
          <a:lstStyle/>
          <a:p>
            <a:pPr marL="0" indent="0">
              <a:buNone/>
            </a:pPr>
            <a:r>
              <a:rPr lang="en-US" sz="3300" b="1" dirty="0">
                <a:solidFill>
                  <a:srgbClr val="FFFFFF"/>
                </a:solidFill>
                <a:latin typeface="Cambria" pitchFamily="34" charset="0"/>
                <a:ea typeface="Cambria" pitchFamily="34" charset="-122"/>
                <a:cs typeface="Cambria" pitchFamily="34" charset="-120"/>
              </a:rPr>
              <a:t>Why speech emotion is different</a:t>
            </a:r>
            <a:endParaRPr lang="en-US" sz="3300" dirty="0"/>
          </a:p>
        </p:txBody>
      </p:sp>
      <p:sp>
        <p:nvSpPr>
          <p:cNvPr id="7" name="Text 5"/>
          <p:cNvSpPr txBox="1"/>
          <p:nvPr/>
        </p:nvSpPr>
        <p:spPr>
          <a:xfrm>
            <a:off x="2432304" y="3072384"/>
            <a:ext cx="8503920" cy="731520"/>
          </a:xfrm>
          <a:prstGeom prst="rect">
            <a:avLst/>
          </a:prstGeom>
          <a:noFill/>
          <a:ln/>
        </p:spPr>
        <p:txBody>
          <a:bodyPr wrap="square" lIns="0" tIns="0" rIns="0" bIns="0" rtlCol="0" anchor="ctr"/>
          <a:lstStyle/>
          <a:p>
            <a:pPr marL="0" indent="0">
              <a:buNone/>
            </a:pPr>
            <a:r>
              <a:rPr lang="en-US" sz="1500" dirty="0">
                <a:solidFill>
                  <a:srgbClr val="DFC4C7"/>
                </a:solidFill>
                <a:latin typeface="Calibri" pitchFamily="34" charset="0"/>
                <a:ea typeface="Calibri" pitchFamily="34" charset="-122"/>
                <a:cs typeface="Calibri" pitchFamily="34" charset="-120"/>
              </a:rPr>
              <a:t>Three requirements prior methods do not meet</a:t>
            </a:r>
            <a:endParaRPr lang="en-US" sz="1500" dirty="0"/>
          </a:p>
        </p:txBody>
      </p:sp>
      <p:sp>
        <p:nvSpPr>
          <p:cNvPr id="8" name="Text 6"/>
          <p:cNvSpPr txBox="1"/>
          <p:nvPr/>
        </p:nvSpPr>
        <p:spPr>
          <a:xfrm>
            <a:off x="9418320" y="6382512"/>
            <a:ext cx="2221992" cy="274320"/>
          </a:xfrm>
          <a:prstGeom prst="rect">
            <a:avLst/>
          </a:prstGeom>
          <a:noFill/>
          <a:ln/>
        </p:spPr>
        <p:txBody>
          <a:bodyPr wrap="square" lIns="0" tIns="0" rIns="0" bIns="0" rtlCol="0" anchor="ctr"/>
          <a:lstStyle/>
          <a:p>
            <a:pPr marL="0" indent="0" algn="r">
              <a:buNone/>
            </a:pPr>
            <a:r>
              <a:rPr lang="en-US" sz="900" dirty="0">
                <a:solidFill>
                  <a:srgbClr val="B59CA0"/>
                </a:solidFill>
                <a:latin typeface="Calibri" pitchFamily="34" charset="0"/>
                <a:ea typeface="Calibri" pitchFamily="34" charset="-122"/>
                <a:cs typeface="Calibri" pitchFamily="34" charset="-120"/>
              </a:rPr>
              <a:t>Emo-TTA · Shi et al. 2026  |  4</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045952" y="457200"/>
            <a:ext cx="420624" cy="274320"/>
          </a:xfrm>
          <a:prstGeom prst="ellipse">
            <a:avLst/>
          </a:prstGeom>
          <a:ln w="16510">
            <a:solidFill>
              <a:srgbClr val="8A4A52"/>
            </a:solidFill>
            <a:prstDash val="solid"/>
          </a:ln>
        </p:spPr>
        <p:txBody>
          <a:bodyPr/>
          <a:lstStyle/>
          <a:p>
            <a:endParaRPr lang="en-US"/>
          </a:p>
        </p:txBody>
      </p:sp>
      <p:sp>
        <p:nvSpPr>
          <p:cNvPr id="3" name="Shape 1"/>
          <p:cNvSpPr/>
          <p:nvPr/>
        </p:nvSpPr>
        <p:spPr>
          <a:xfrm>
            <a:off x="11164824" y="539496"/>
            <a:ext cx="82296" cy="82296"/>
          </a:xfrm>
          <a:prstGeom prst="ellipse">
            <a:avLst/>
          </a:prstGeom>
          <a:solidFill>
            <a:srgbClr val="B8871F"/>
          </a:solidFill>
          <a:ln w="12700">
            <a:solidFill>
              <a:srgbClr val="333333"/>
            </a:solidFill>
            <a:prstDash val="solid"/>
          </a:ln>
        </p:spPr>
        <p:txBody>
          <a:bodyPr/>
          <a:lstStyle/>
          <a:p>
            <a:endParaRPr lang="en-US"/>
          </a:p>
        </p:txBody>
      </p:sp>
      <p:sp>
        <p:nvSpPr>
          <p:cNvPr id="4" name="Shape 2"/>
          <p:cNvSpPr/>
          <p:nvPr/>
        </p:nvSpPr>
        <p:spPr>
          <a:xfrm>
            <a:off x="11292840" y="585216"/>
            <a:ext cx="64008" cy="64008"/>
          </a:xfrm>
          <a:prstGeom prst="ellipse">
            <a:avLst/>
          </a:prstGeom>
          <a:solidFill>
            <a:srgbClr val="B08A8E"/>
          </a:solidFill>
          <a:ln w="12700">
            <a:solidFill>
              <a:srgbClr val="333333"/>
            </a:solidFill>
            <a:prstDash val="solid"/>
          </a:ln>
        </p:spPr>
        <p:txBody>
          <a:bodyPr/>
          <a:lstStyle/>
          <a:p>
            <a:endParaRPr lang="en-US"/>
          </a:p>
        </p:txBody>
      </p:sp>
      <p:sp>
        <p:nvSpPr>
          <p:cNvPr id="5" name="Text 3"/>
          <p:cNvSpPr txBox="1"/>
          <p:nvPr/>
        </p:nvSpPr>
        <p:spPr>
          <a:xfrm>
            <a:off x="548640" y="384048"/>
            <a:ext cx="10332720" cy="566928"/>
          </a:xfrm>
          <a:prstGeom prst="rect">
            <a:avLst/>
          </a:prstGeom>
          <a:noFill/>
          <a:ln/>
        </p:spPr>
        <p:txBody>
          <a:bodyPr wrap="square" lIns="0" tIns="0" rIns="0" bIns="0" rtlCol="0" anchor="t"/>
          <a:lstStyle/>
          <a:p>
            <a:pPr marL="0" indent="0">
              <a:buNone/>
            </a:pPr>
            <a:r>
              <a:rPr lang="en-US" sz="2900" b="1" dirty="0">
                <a:solidFill>
                  <a:srgbClr val="241619"/>
                </a:solidFill>
                <a:latin typeface="Cambria" pitchFamily="34" charset="0"/>
                <a:ea typeface="Cambria" pitchFamily="34" charset="-122"/>
                <a:cs typeface="Cambria" pitchFamily="34" charset="-120"/>
              </a:rPr>
              <a:t>Why TTA for SER is harder than for ASR</a:t>
            </a:r>
            <a:endParaRPr lang="en-US" sz="2900" dirty="0"/>
          </a:p>
        </p:txBody>
      </p:sp>
      <p:sp>
        <p:nvSpPr>
          <p:cNvPr id="6" name="Text 4"/>
          <p:cNvSpPr txBox="1"/>
          <p:nvPr/>
        </p:nvSpPr>
        <p:spPr>
          <a:xfrm>
            <a:off x="548640" y="969264"/>
            <a:ext cx="10332720" cy="329184"/>
          </a:xfrm>
          <a:prstGeom prst="rect">
            <a:avLst/>
          </a:prstGeom>
          <a:noFill/>
          <a:ln/>
        </p:spPr>
        <p:txBody>
          <a:bodyPr wrap="square" lIns="0" tIns="0" rIns="0" bIns="0" rtlCol="0" anchor="ctr"/>
          <a:lstStyle/>
          <a:p>
            <a:pPr marL="0" indent="0">
              <a:buNone/>
            </a:pPr>
            <a:r>
              <a:rPr lang="en-US" sz="1350" i="1" dirty="0">
                <a:solidFill>
                  <a:srgbClr val="6E5156"/>
                </a:solidFill>
                <a:latin typeface="Calibri" pitchFamily="34" charset="0"/>
                <a:ea typeface="Calibri" pitchFamily="34" charset="-122"/>
                <a:cs typeface="Calibri" pitchFamily="34" charset="-120"/>
              </a:rPr>
              <a:t>The paper's diagnosis</a:t>
            </a:r>
            <a:endParaRPr lang="en-US" sz="1350" dirty="0"/>
          </a:p>
        </p:txBody>
      </p:sp>
      <p:sp>
        <p:nvSpPr>
          <p:cNvPr id="7" name="Text 5"/>
          <p:cNvSpPr txBox="1"/>
          <p:nvPr/>
        </p:nvSpPr>
        <p:spPr>
          <a:xfrm>
            <a:off x="9418320" y="6382512"/>
            <a:ext cx="2221992" cy="274320"/>
          </a:xfrm>
          <a:prstGeom prst="rect">
            <a:avLst/>
          </a:prstGeom>
          <a:noFill/>
          <a:ln/>
        </p:spPr>
        <p:txBody>
          <a:bodyPr wrap="square" lIns="0" tIns="0" rIns="0" bIns="0" rtlCol="0" anchor="ctr"/>
          <a:lstStyle/>
          <a:p>
            <a:pPr marL="0" indent="0" algn="r">
              <a:buNone/>
            </a:pPr>
            <a:r>
              <a:rPr lang="en-US" sz="900" dirty="0">
                <a:solidFill>
                  <a:srgbClr val="B59CA0"/>
                </a:solidFill>
                <a:latin typeface="Calibri" pitchFamily="34" charset="0"/>
                <a:ea typeface="Calibri" pitchFamily="34" charset="-122"/>
                <a:cs typeface="Calibri" pitchFamily="34" charset="-120"/>
              </a:rPr>
              <a:t>Emo-TTA · Shi et al. 2026  |  5</a:t>
            </a:r>
            <a:endParaRPr lang="en-US" sz="900" dirty="0"/>
          </a:p>
        </p:txBody>
      </p:sp>
      <p:sp>
        <p:nvSpPr>
          <p:cNvPr id="8" name="Shape 6"/>
          <p:cNvSpPr/>
          <p:nvPr/>
        </p:nvSpPr>
        <p:spPr>
          <a:xfrm>
            <a:off x="566928" y="1600200"/>
            <a:ext cx="5440680" cy="2331720"/>
          </a:xfrm>
          <a:prstGeom prst="roundRect">
            <a:avLst>
              <a:gd name="adj" fmla="val 2353"/>
            </a:avLst>
          </a:prstGeom>
          <a:solidFill>
            <a:srgbClr val="F7F1F2"/>
          </a:solidFill>
          <a:ln w="12700">
            <a:solidFill>
              <a:srgbClr val="EDE0E2"/>
            </a:solidFill>
            <a:prstDash val="solid"/>
          </a:ln>
        </p:spPr>
        <p:txBody>
          <a:bodyPr/>
          <a:lstStyle/>
          <a:p>
            <a:endParaRPr lang="en-US"/>
          </a:p>
        </p:txBody>
      </p:sp>
      <p:sp>
        <p:nvSpPr>
          <p:cNvPr id="9" name="Shape 7"/>
          <p:cNvSpPr/>
          <p:nvPr/>
        </p:nvSpPr>
        <p:spPr>
          <a:xfrm>
            <a:off x="786384" y="1892808"/>
            <a:ext cx="109728" cy="109728"/>
          </a:xfrm>
          <a:prstGeom prst="ellipse">
            <a:avLst/>
          </a:prstGeom>
          <a:solidFill>
            <a:srgbClr val="8A4A52"/>
          </a:solidFill>
          <a:ln w="12700">
            <a:solidFill>
              <a:srgbClr val="333333"/>
            </a:solidFill>
            <a:prstDash val="solid"/>
          </a:ln>
        </p:spPr>
        <p:txBody>
          <a:bodyPr/>
          <a:lstStyle/>
          <a:p>
            <a:endParaRPr lang="en-US"/>
          </a:p>
        </p:txBody>
      </p:sp>
      <p:sp>
        <p:nvSpPr>
          <p:cNvPr id="10" name="Text 8"/>
          <p:cNvSpPr txBox="1"/>
          <p:nvPr/>
        </p:nvSpPr>
        <p:spPr>
          <a:xfrm>
            <a:off x="987552" y="1764792"/>
            <a:ext cx="4800600" cy="365760"/>
          </a:xfrm>
          <a:prstGeom prst="rect">
            <a:avLst/>
          </a:prstGeom>
          <a:noFill/>
          <a:ln/>
        </p:spPr>
        <p:txBody>
          <a:bodyPr wrap="square" lIns="0" tIns="0" rIns="0" bIns="0" rtlCol="0" anchor="ctr"/>
          <a:lstStyle/>
          <a:p>
            <a:pPr marL="0" indent="0">
              <a:buNone/>
            </a:pPr>
            <a:r>
              <a:rPr lang="en-US" sz="1500" b="1" dirty="0">
                <a:solidFill>
                  <a:srgbClr val="241619"/>
                </a:solidFill>
                <a:latin typeface="Cambria" pitchFamily="34" charset="0"/>
                <a:ea typeface="Cambria" pitchFamily="34" charset="-122"/>
                <a:cs typeface="Cambria" pitchFamily="34" charset="-120"/>
              </a:rPr>
              <a:t>The shifts are different in kind</a:t>
            </a:r>
            <a:endParaRPr lang="en-US" sz="1500" dirty="0"/>
          </a:p>
        </p:txBody>
      </p:sp>
      <p:sp>
        <p:nvSpPr>
          <p:cNvPr id="11" name="Text 9"/>
          <p:cNvSpPr txBox="1"/>
          <p:nvPr/>
        </p:nvSpPr>
        <p:spPr>
          <a:xfrm>
            <a:off x="822960" y="2203704"/>
            <a:ext cx="4928616" cy="1545336"/>
          </a:xfrm>
          <a:prstGeom prst="rect">
            <a:avLst/>
          </a:prstGeom>
          <a:noFill/>
          <a:ln/>
        </p:spPr>
        <p:txBody>
          <a:bodyPr wrap="square" lIns="0" tIns="0" rIns="0" bIns="0" rtlCol="0" anchor="t"/>
          <a:lstStyle/>
          <a:p>
            <a:pPr marL="0" indent="0">
              <a:lnSpc>
                <a:spcPct val="108000"/>
              </a:lnSpc>
              <a:buNone/>
            </a:pPr>
            <a:r>
              <a:rPr lang="en-US" sz="1250" dirty="0">
                <a:solidFill>
                  <a:srgbClr val="352428"/>
                </a:solidFill>
                <a:latin typeface="Calibri" pitchFamily="34" charset="0"/>
                <a:ea typeface="Calibri" pitchFamily="34" charset="-122"/>
                <a:cs typeface="Calibri" pitchFamily="34" charset="-120"/>
              </a:rPr>
              <a:t>Compared to speech recognition, emotion exhibits greater speaker variability, emotional ambiguity, and weaker linguistic structure.</a:t>
            </a:r>
            <a:endParaRPr lang="en-US" sz="1250" dirty="0"/>
          </a:p>
          <a:p>
            <a:pPr marL="0" indent="0">
              <a:lnSpc>
                <a:spcPct val="108000"/>
              </a:lnSpc>
              <a:buNone/>
            </a:pPr>
            <a:endParaRPr lang="en-US" sz="1250" dirty="0"/>
          </a:p>
          <a:p>
            <a:pPr marL="0" indent="0">
              <a:lnSpc>
                <a:spcPct val="108000"/>
              </a:lnSpc>
              <a:buNone/>
            </a:pPr>
            <a:r>
              <a:rPr lang="en-US" sz="1250" dirty="0">
                <a:solidFill>
                  <a:srgbClr val="352428"/>
                </a:solidFill>
                <a:latin typeface="Calibri" pitchFamily="34" charset="0"/>
                <a:ea typeface="Calibri" pitchFamily="34" charset="-122"/>
                <a:cs typeface="Calibri" pitchFamily="34" charset="-120"/>
              </a:rPr>
              <a:t>Real deployment faces shifts in speakers, languages, devices, ambient noise — and, distinctively, inconsistent label taxonomies across corpora.</a:t>
            </a:r>
            <a:endParaRPr lang="en-US" sz="1250" dirty="0"/>
          </a:p>
          <a:p>
            <a:pPr marL="0" indent="0">
              <a:lnSpc>
                <a:spcPct val="108000"/>
              </a:lnSpc>
              <a:buNone/>
            </a:pPr>
            <a:endParaRPr lang="en-US" sz="1250" dirty="0"/>
          </a:p>
          <a:p>
            <a:pPr marL="0" indent="0">
              <a:lnSpc>
                <a:spcPct val="108000"/>
              </a:lnSpc>
              <a:buNone/>
            </a:pPr>
            <a:r>
              <a:rPr lang="en-US" sz="1250" dirty="0">
                <a:solidFill>
                  <a:srgbClr val="352428"/>
                </a:solidFill>
                <a:latin typeface="Calibri" pitchFamily="34" charset="0"/>
                <a:ea typeface="Calibri" pitchFamily="34" charset="-122"/>
                <a:cs typeface="Calibri" pitchFamily="34" charset="-120"/>
              </a:rPr>
              <a:t>That last one has no analogue in image corruption benchmarks.</a:t>
            </a:r>
            <a:endParaRPr lang="en-US" sz="1250" dirty="0"/>
          </a:p>
        </p:txBody>
      </p:sp>
      <p:sp>
        <p:nvSpPr>
          <p:cNvPr id="12" name="Shape 10"/>
          <p:cNvSpPr/>
          <p:nvPr/>
        </p:nvSpPr>
        <p:spPr>
          <a:xfrm>
            <a:off x="6190488" y="1600200"/>
            <a:ext cx="5440680" cy="2331720"/>
          </a:xfrm>
          <a:prstGeom prst="roundRect">
            <a:avLst>
              <a:gd name="adj" fmla="val 2353"/>
            </a:avLst>
          </a:prstGeom>
          <a:solidFill>
            <a:srgbClr val="F7F1F2"/>
          </a:solidFill>
          <a:ln w="12700">
            <a:solidFill>
              <a:srgbClr val="EDE0E2"/>
            </a:solidFill>
            <a:prstDash val="solid"/>
          </a:ln>
        </p:spPr>
        <p:txBody>
          <a:bodyPr/>
          <a:lstStyle/>
          <a:p>
            <a:endParaRPr lang="en-US"/>
          </a:p>
        </p:txBody>
      </p:sp>
      <p:sp>
        <p:nvSpPr>
          <p:cNvPr id="13" name="Shape 11"/>
          <p:cNvSpPr/>
          <p:nvPr/>
        </p:nvSpPr>
        <p:spPr>
          <a:xfrm>
            <a:off x="6409944" y="1892808"/>
            <a:ext cx="109728" cy="109728"/>
          </a:xfrm>
          <a:prstGeom prst="ellipse">
            <a:avLst/>
          </a:prstGeom>
          <a:solidFill>
            <a:srgbClr val="B8871F"/>
          </a:solidFill>
          <a:ln w="12700">
            <a:solidFill>
              <a:srgbClr val="333333"/>
            </a:solidFill>
            <a:prstDash val="solid"/>
          </a:ln>
        </p:spPr>
        <p:txBody>
          <a:bodyPr/>
          <a:lstStyle/>
          <a:p>
            <a:endParaRPr lang="en-US"/>
          </a:p>
        </p:txBody>
      </p:sp>
      <p:sp>
        <p:nvSpPr>
          <p:cNvPr id="14" name="Text 12"/>
          <p:cNvSpPr txBox="1"/>
          <p:nvPr/>
        </p:nvSpPr>
        <p:spPr>
          <a:xfrm>
            <a:off x="6611112" y="1764792"/>
            <a:ext cx="4800600" cy="365760"/>
          </a:xfrm>
          <a:prstGeom prst="rect">
            <a:avLst/>
          </a:prstGeom>
          <a:noFill/>
          <a:ln/>
        </p:spPr>
        <p:txBody>
          <a:bodyPr wrap="square" lIns="0" tIns="0" rIns="0" bIns="0" rtlCol="0" anchor="ctr"/>
          <a:lstStyle/>
          <a:p>
            <a:pPr marL="0" indent="0">
              <a:buNone/>
            </a:pPr>
            <a:r>
              <a:rPr lang="en-US" sz="1500" b="1" dirty="0">
                <a:solidFill>
                  <a:srgbClr val="241619"/>
                </a:solidFill>
                <a:latin typeface="Cambria" pitchFamily="34" charset="0"/>
                <a:ea typeface="Cambria" pitchFamily="34" charset="-122"/>
                <a:cs typeface="Cambria" pitchFamily="34" charset="-120"/>
              </a:rPr>
              <a:t>And the constraints are tighter</a:t>
            </a:r>
            <a:endParaRPr lang="en-US" sz="1500" dirty="0"/>
          </a:p>
        </p:txBody>
      </p:sp>
      <p:sp>
        <p:nvSpPr>
          <p:cNvPr id="15" name="Text 13"/>
          <p:cNvSpPr txBox="1"/>
          <p:nvPr/>
        </p:nvSpPr>
        <p:spPr>
          <a:xfrm>
            <a:off x="6446520" y="2203704"/>
            <a:ext cx="4928616" cy="1545336"/>
          </a:xfrm>
          <a:prstGeom prst="rect">
            <a:avLst/>
          </a:prstGeom>
          <a:noFill/>
          <a:ln/>
        </p:spPr>
        <p:txBody>
          <a:bodyPr wrap="square" lIns="0" tIns="0" rIns="0" bIns="0" rtlCol="0" anchor="t"/>
          <a:lstStyle/>
          <a:p>
            <a:pPr marL="0" indent="0">
              <a:lnSpc>
                <a:spcPct val="108000"/>
              </a:lnSpc>
              <a:buNone/>
            </a:pPr>
            <a:r>
              <a:rPr lang="en-US" sz="1250" dirty="0">
                <a:solidFill>
                  <a:srgbClr val="352428"/>
                </a:solidFill>
                <a:latin typeface="Calibri" pitchFamily="34" charset="0"/>
                <a:ea typeface="Calibri" pitchFamily="34" charset="-122"/>
                <a:cs typeface="Calibri" pitchFamily="34" charset="-120"/>
              </a:rPr>
              <a:t>Existing TTA methods rely on test batches, model updates, or prompt tuning — making them unsuitable when access to training sources or buffered inputs is severely restricted.</a:t>
            </a:r>
            <a:endParaRPr lang="en-US" sz="1250" dirty="0"/>
          </a:p>
          <a:p>
            <a:pPr marL="0" indent="0">
              <a:lnSpc>
                <a:spcPct val="108000"/>
              </a:lnSpc>
              <a:buNone/>
            </a:pPr>
            <a:endParaRPr lang="en-US" sz="1250" dirty="0"/>
          </a:p>
          <a:p>
            <a:pPr marL="0" indent="0">
              <a:lnSpc>
                <a:spcPct val="108000"/>
              </a:lnSpc>
              <a:buNone/>
            </a:pPr>
            <a:r>
              <a:rPr lang="en-US" sz="1250" dirty="0">
                <a:solidFill>
                  <a:srgbClr val="352428"/>
                </a:solidFill>
                <a:latin typeface="Calibri" pitchFamily="34" charset="0"/>
                <a:ea typeface="Calibri" pitchFamily="34" charset="-122"/>
                <a:cs typeface="Calibri" pitchFamily="34" charset="-120"/>
              </a:rPr>
              <a:t>Emotional speech is exactly the kind of data where buffering is a privacy problem, and where utterances arrive one at a time in a conversation.</a:t>
            </a:r>
            <a:endParaRPr lang="en-US" sz="1250" dirty="0"/>
          </a:p>
        </p:txBody>
      </p:sp>
      <p:sp>
        <p:nvSpPr>
          <p:cNvPr id="16" name="Shape 14"/>
          <p:cNvSpPr/>
          <p:nvPr/>
        </p:nvSpPr>
        <p:spPr>
          <a:xfrm>
            <a:off x="566928" y="4169664"/>
            <a:ext cx="11064240" cy="1883664"/>
          </a:xfrm>
          <a:prstGeom prst="roundRect">
            <a:avLst>
              <a:gd name="adj" fmla="val 2913"/>
            </a:avLst>
          </a:prstGeom>
          <a:solidFill>
            <a:srgbClr val="332226"/>
          </a:solidFill>
          <a:ln w="12700">
            <a:solidFill>
              <a:srgbClr val="332226"/>
            </a:solidFill>
            <a:prstDash val="solid"/>
          </a:ln>
        </p:spPr>
        <p:txBody>
          <a:bodyPr/>
          <a:lstStyle/>
          <a:p>
            <a:endParaRPr lang="en-US"/>
          </a:p>
        </p:txBody>
      </p:sp>
      <p:sp>
        <p:nvSpPr>
          <p:cNvPr id="17" name="Shape 15"/>
          <p:cNvSpPr/>
          <p:nvPr/>
        </p:nvSpPr>
        <p:spPr>
          <a:xfrm>
            <a:off x="786384" y="4462272"/>
            <a:ext cx="109728" cy="109728"/>
          </a:xfrm>
          <a:prstGeom prst="ellipse">
            <a:avLst/>
          </a:prstGeom>
          <a:solidFill>
            <a:srgbClr val="B8871F"/>
          </a:solidFill>
          <a:ln w="12700">
            <a:solidFill>
              <a:srgbClr val="333333"/>
            </a:solidFill>
            <a:prstDash val="solid"/>
          </a:ln>
        </p:spPr>
        <p:txBody>
          <a:bodyPr/>
          <a:lstStyle/>
          <a:p>
            <a:endParaRPr lang="en-US"/>
          </a:p>
        </p:txBody>
      </p:sp>
      <p:sp>
        <p:nvSpPr>
          <p:cNvPr id="18" name="Text 16"/>
          <p:cNvSpPr txBox="1"/>
          <p:nvPr/>
        </p:nvSpPr>
        <p:spPr>
          <a:xfrm>
            <a:off x="987552" y="4334256"/>
            <a:ext cx="10424160" cy="36576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Connect to the whole series</a:t>
            </a:r>
            <a:endParaRPr lang="en-US" sz="1500" dirty="0"/>
          </a:p>
        </p:txBody>
      </p:sp>
      <p:sp>
        <p:nvSpPr>
          <p:cNvPr id="19" name="Text 17"/>
          <p:cNvSpPr txBox="1"/>
          <p:nvPr/>
        </p:nvSpPr>
        <p:spPr>
          <a:xfrm>
            <a:off x="822960" y="4773168"/>
            <a:ext cx="10552176" cy="1097280"/>
          </a:xfrm>
          <a:prstGeom prst="rect">
            <a:avLst/>
          </a:prstGeom>
          <a:noFill/>
          <a:ln/>
        </p:spPr>
        <p:txBody>
          <a:bodyPr wrap="square" lIns="0" tIns="0" rIns="0" bIns="0" rtlCol="0" anchor="t"/>
          <a:lstStyle/>
          <a:p>
            <a:pPr marL="0" indent="0">
              <a:lnSpc>
                <a:spcPct val="108000"/>
              </a:lnSpc>
              <a:buNone/>
            </a:pPr>
            <a:r>
              <a:rPr lang="en-US" sz="1300" dirty="0">
                <a:solidFill>
                  <a:srgbClr val="DFC4C7"/>
                </a:solidFill>
                <a:latin typeface="Calibri" pitchFamily="34" charset="0"/>
                <a:ea typeface="Calibri" pitchFamily="34" charset="-122"/>
                <a:cs typeface="Calibri" pitchFamily="34" charset="-120"/>
              </a:rPr>
              <a:t>Every corpus session documented the taxonomy problem: IEMOCAP's nine categories merged to four, MELD's seven, CREMA-D's six, RAVDESS's eight. A model trained on one label space meets another at test time.</a:t>
            </a:r>
            <a:endParaRPr lang="en-US" sz="1300" dirty="0"/>
          </a:p>
          <a:p>
            <a:pPr marL="0" indent="0">
              <a:lnSpc>
                <a:spcPct val="108000"/>
              </a:lnSpc>
              <a:buNone/>
            </a:pPr>
            <a:endParaRPr lang="en-US" sz="1300" dirty="0"/>
          </a:p>
          <a:p>
            <a:pPr marL="0" indent="0">
              <a:lnSpc>
                <a:spcPct val="108000"/>
              </a:lnSpc>
              <a:buNone/>
            </a:pPr>
            <a:r>
              <a:rPr lang="en-US" sz="1300" dirty="0">
                <a:solidFill>
                  <a:srgbClr val="DFC4C7"/>
                </a:solidFill>
                <a:latin typeface="Calibri" pitchFamily="34" charset="0"/>
                <a:ea typeface="Calibri" pitchFamily="34" charset="-122"/>
                <a:cs typeface="Calibri" pitchFamily="34" charset="-120"/>
              </a:rPr>
              <a:t>And the CLEP-DG session established how far cross-corpus emotion performance falls. This paper attacks the same gap from the inference side rather than the training side.</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045952" y="457200"/>
            <a:ext cx="420624" cy="274320"/>
          </a:xfrm>
          <a:prstGeom prst="ellipse">
            <a:avLst/>
          </a:prstGeom>
          <a:ln w="16510">
            <a:solidFill>
              <a:srgbClr val="8A4A52"/>
            </a:solidFill>
            <a:prstDash val="solid"/>
          </a:ln>
        </p:spPr>
        <p:txBody>
          <a:bodyPr/>
          <a:lstStyle/>
          <a:p>
            <a:endParaRPr lang="en-US"/>
          </a:p>
        </p:txBody>
      </p:sp>
      <p:sp>
        <p:nvSpPr>
          <p:cNvPr id="3" name="Shape 1"/>
          <p:cNvSpPr/>
          <p:nvPr/>
        </p:nvSpPr>
        <p:spPr>
          <a:xfrm>
            <a:off x="11164824" y="539496"/>
            <a:ext cx="82296" cy="82296"/>
          </a:xfrm>
          <a:prstGeom prst="ellipse">
            <a:avLst/>
          </a:prstGeom>
          <a:solidFill>
            <a:srgbClr val="B8871F"/>
          </a:solidFill>
          <a:ln w="12700">
            <a:solidFill>
              <a:srgbClr val="333333"/>
            </a:solidFill>
            <a:prstDash val="solid"/>
          </a:ln>
        </p:spPr>
        <p:txBody>
          <a:bodyPr/>
          <a:lstStyle/>
          <a:p>
            <a:endParaRPr lang="en-US"/>
          </a:p>
        </p:txBody>
      </p:sp>
      <p:sp>
        <p:nvSpPr>
          <p:cNvPr id="4" name="Shape 2"/>
          <p:cNvSpPr/>
          <p:nvPr/>
        </p:nvSpPr>
        <p:spPr>
          <a:xfrm>
            <a:off x="11292840" y="585216"/>
            <a:ext cx="64008" cy="64008"/>
          </a:xfrm>
          <a:prstGeom prst="ellipse">
            <a:avLst/>
          </a:prstGeom>
          <a:solidFill>
            <a:srgbClr val="B08A8E"/>
          </a:solidFill>
          <a:ln w="12700">
            <a:solidFill>
              <a:srgbClr val="333333"/>
            </a:solidFill>
            <a:prstDash val="solid"/>
          </a:ln>
        </p:spPr>
        <p:txBody>
          <a:bodyPr/>
          <a:lstStyle/>
          <a:p>
            <a:endParaRPr lang="en-US"/>
          </a:p>
        </p:txBody>
      </p:sp>
      <p:sp>
        <p:nvSpPr>
          <p:cNvPr id="5" name="Text 3"/>
          <p:cNvSpPr txBox="1"/>
          <p:nvPr/>
        </p:nvSpPr>
        <p:spPr>
          <a:xfrm>
            <a:off x="548640" y="384048"/>
            <a:ext cx="10332720" cy="566928"/>
          </a:xfrm>
          <a:prstGeom prst="rect">
            <a:avLst/>
          </a:prstGeom>
          <a:noFill/>
          <a:ln/>
        </p:spPr>
        <p:txBody>
          <a:bodyPr wrap="square" lIns="0" tIns="0" rIns="0" bIns="0" rtlCol="0" anchor="t"/>
          <a:lstStyle/>
          <a:p>
            <a:pPr marL="0" indent="0">
              <a:buNone/>
            </a:pPr>
            <a:r>
              <a:rPr lang="en-US" sz="2900" b="1" dirty="0">
                <a:solidFill>
                  <a:srgbClr val="241619"/>
                </a:solidFill>
                <a:latin typeface="Cambria" pitchFamily="34" charset="0"/>
                <a:ea typeface="Cambria" pitchFamily="34" charset="-122"/>
                <a:cs typeface="Cambria" pitchFamily="34" charset="-120"/>
              </a:rPr>
              <a:t>Three requirements</a:t>
            </a:r>
            <a:endParaRPr lang="en-US" sz="2900" dirty="0"/>
          </a:p>
        </p:txBody>
      </p:sp>
      <p:sp>
        <p:nvSpPr>
          <p:cNvPr id="6" name="Text 4"/>
          <p:cNvSpPr txBox="1"/>
          <p:nvPr/>
        </p:nvSpPr>
        <p:spPr>
          <a:xfrm>
            <a:off x="548640" y="969264"/>
            <a:ext cx="10332720" cy="329184"/>
          </a:xfrm>
          <a:prstGeom prst="rect">
            <a:avLst/>
          </a:prstGeom>
          <a:noFill/>
          <a:ln/>
        </p:spPr>
        <p:txBody>
          <a:bodyPr wrap="square" lIns="0" tIns="0" rIns="0" bIns="0" rtlCol="0" anchor="ctr"/>
          <a:lstStyle/>
          <a:p>
            <a:pPr marL="0" indent="0">
              <a:buNone/>
            </a:pPr>
            <a:r>
              <a:rPr lang="en-US" sz="1350" i="1" dirty="0">
                <a:solidFill>
                  <a:srgbClr val="6E5156"/>
                </a:solidFill>
                <a:latin typeface="Calibri" pitchFamily="34" charset="0"/>
                <a:ea typeface="Calibri" pitchFamily="34" charset="-122"/>
                <a:cs typeface="Calibri" pitchFamily="34" charset="-120"/>
              </a:rPr>
              <a:t>And how prior methods score against them</a:t>
            </a:r>
            <a:endParaRPr lang="en-US" sz="1350" dirty="0"/>
          </a:p>
        </p:txBody>
      </p:sp>
      <p:sp>
        <p:nvSpPr>
          <p:cNvPr id="7" name="Text 5"/>
          <p:cNvSpPr txBox="1"/>
          <p:nvPr/>
        </p:nvSpPr>
        <p:spPr>
          <a:xfrm>
            <a:off x="9418320" y="6382512"/>
            <a:ext cx="2221992" cy="274320"/>
          </a:xfrm>
          <a:prstGeom prst="rect">
            <a:avLst/>
          </a:prstGeom>
          <a:noFill/>
          <a:ln/>
        </p:spPr>
        <p:txBody>
          <a:bodyPr wrap="square" lIns="0" tIns="0" rIns="0" bIns="0" rtlCol="0" anchor="ctr"/>
          <a:lstStyle/>
          <a:p>
            <a:pPr marL="0" indent="0" algn="r">
              <a:buNone/>
            </a:pPr>
            <a:r>
              <a:rPr lang="en-US" sz="900" dirty="0">
                <a:solidFill>
                  <a:srgbClr val="B59CA0"/>
                </a:solidFill>
                <a:latin typeface="Calibri" pitchFamily="34" charset="0"/>
                <a:ea typeface="Calibri" pitchFamily="34" charset="-122"/>
                <a:cs typeface="Calibri" pitchFamily="34" charset="-120"/>
              </a:rPr>
              <a:t>Emo-TTA · Shi et al. 2026  |  6</a:t>
            </a:r>
            <a:endParaRPr lang="en-US" sz="900" dirty="0"/>
          </a:p>
        </p:txBody>
      </p:sp>
      <p:sp>
        <p:nvSpPr>
          <p:cNvPr id="8" name="Text 6"/>
          <p:cNvSpPr txBox="1"/>
          <p:nvPr/>
        </p:nvSpPr>
        <p:spPr>
          <a:xfrm>
            <a:off x="786384" y="1481328"/>
            <a:ext cx="3291840" cy="274320"/>
          </a:xfrm>
          <a:prstGeom prst="rect">
            <a:avLst/>
          </a:prstGeom>
          <a:noFill/>
          <a:ln/>
        </p:spPr>
        <p:txBody>
          <a:bodyPr wrap="square" lIns="0" tIns="0" rIns="0" bIns="0" rtlCol="0" anchor="ctr"/>
          <a:lstStyle/>
          <a:p>
            <a:pPr marL="0" indent="0">
              <a:buNone/>
            </a:pPr>
            <a:r>
              <a:rPr lang="en-US" sz="1150" b="1" dirty="0">
                <a:solidFill>
                  <a:srgbClr val="6E5156"/>
                </a:solidFill>
                <a:latin typeface="Calibri" pitchFamily="34" charset="0"/>
                <a:ea typeface="Calibri" pitchFamily="34" charset="-122"/>
                <a:cs typeface="Calibri" pitchFamily="34" charset="-120"/>
              </a:rPr>
              <a:t>Method family</a:t>
            </a:r>
            <a:endParaRPr lang="en-US" sz="1150" dirty="0"/>
          </a:p>
        </p:txBody>
      </p:sp>
      <p:sp>
        <p:nvSpPr>
          <p:cNvPr id="9" name="Text 7"/>
          <p:cNvSpPr txBox="1"/>
          <p:nvPr/>
        </p:nvSpPr>
        <p:spPr>
          <a:xfrm>
            <a:off x="4206240" y="1481328"/>
            <a:ext cx="1463040" cy="274320"/>
          </a:xfrm>
          <a:prstGeom prst="rect">
            <a:avLst/>
          </a:prstGeom>
          <a:noFill/>
          <a:ln/>
        </p:spPr>
        <p:txBody>
          <a:bodyPr wrap="square" lIns="0" tIns="0" rIns="0" bIns="0" rtlCol="0" anchor="ctr"/>
          <a:lstStyle/>
          <a:p>
            <a:pPr marL="0" indent="0">
              <a:buNone/>
            </a:pPr>
            <a:r>
              <a:rPr lang="en-US" sz="1150" b="1" dirty="0">
                <a:solidFill>
                  <a:srgbClr val="6E5156"/>
                </a:solidFill>
                <a:latin typeface="Calibri" pitchFamily="34" charset="0"/>
                <a:ea typeface="Calibri" pitchFamily="34" charset="-122"/>
                <a:cs typeface="Calibri" pitchFamily="34" charset="-120"/>
              </a:rPr>
              <a:t>Training-free</a:t>
            </a:r>
            <a:endParaRPr lang="en-US" sz="1150" dirty="0"/>
          </a:p>
        </p:txBody>
      </p:sp>
      <p:sp>
        <p:nvSpPr>
          <p:cNvPr id="10" name="Text 8"/>
          <p:cNvSpPr txBox="1"/>
          <p:nvPr/>
        </p:nvSpPr>
        <p:spPr>
          <a:xfrm>
            <a:off x="5760720" y="1481328"/>
            <a:ext cx="1371600" cy="274320"/>
          </a:xfrm>
          <a:prstGeom prst="rect">
            <a:avLst/>
          </a:prstGeom>
          <a:noFill/>
          <a:ln/>
        </p:spPr>
        <p:txBody>
          <a:bodyPr wrap="square" lIns="0" tIns="0" rIns="0" bIns="0" rtlCol="0" anchor="ctr"/>
          <a:lstStyle/>
          <a:p>
            <a:pPr marL="0" indent="0">
              <a:buNone/>
            </a:pPr>
            <a:r>
              <a:rPr lang="en-US" sz="1150" b="1" dirty="0">
                <a:solidFill>
                  <a:srgbClr val="6E5156"/>
                </a:solidFill>
                <a:latin typeface="Calibri" pitchFamily="34" charset="0"/>
                <a:ea typeface="Calibri" pitchFamily="34" charset="-122"/>
                <a:cs typeface="Calibri" pitchFamily="34" charset="-120"/>
              </a:rPr>
              <a:t>Lightweight</a:t>
            </a:r>
            <a:endParaRPr lang="en-US" sz="1150" dirty="0"/>
          </a:p>
        </p:txBody>
      </p:sp>
      <p:sp>
        <p:nvSpPr>
          <p:cNvPr id="11" name="Text 9"/>
          <p:cNvSpPr txBox="1"/>
          <p:nvPr/>
        </p:nvSpPr>
        <p:spPr>
          <a:xfrm>
            <a:off x="7223760" y="1481328"/>
            <a:ext cx="2377440" cy="274320"/>
          </a:xfrm>
          <a:prstGeom prst="rect">
            <a:avLst/>
          </a:prstGeom>
          <a:noFill/>
          <a:ln/>
        </p:spPr>
        <p:txBody>
          <a:bodyPr wrap="square" lIns="0" tIns="0" rIns="0" bIns="0" rtlCol="0" anchor="ctr"/>
          <a:lstStyle/>
          <a:p>
            <a:pPr marL="0" indent="0">
              <a:buNone/>
            </a:pPr>
            <a:r>
              <a:rPr lang="en-US" sz="1150" b="1" dirty="0">
                <a:solidFill>
                  <a:srgbClr val="6E5156"/>
                </a:solidFill>
                <a:latin typeface="Calibri" pitchFamily="34" charset="0"/>
                <a:ea typeface="Calibri" pitchFamily="34" charset="-122"/>
                <a:cs typeface="Calibri" pitchFamily="34" charset="-120"/>
              </a:rPr>
              <a:t>Models the test distribution</a:t>
            </a:r>
            <a:endParaRPr lang="en-US" sz="1150" dirty="0"/>
          </a:p>
        </p:txBody>
      </p:sp>
      <p:sp>
        <p:nvSpPr>
          <p:cNvPr id="12" name="Text 10"/>
          <p:cNvSpPr txBox="1"/>
          <p:nvPr/>
        </p:nvSpPr>
        <p:spPr>
          <a:xfrm>
            <a:off x="9692640" y="1481328"/>
            <a:ext cx="1920240" cy="274320"/>
          </a:xfrm>
          <a:prstGeom prst="rect">
            <a:avLst/>
          </a:prstGeom>
          <a:noFill/>
          <a:ln/>
        </p:spPr>
        <p:txBody>
          <a:bodyPr wrap="square" lIns="0" tIns="0" rIns="0" bIns="0" rtlCol="0" anchor="ctr"/>
          <a:lstStyle/>
          <a:p>
            <a:pPr marL="0" indent="0">
              <a:buNone/>
            </a:pPr>
            <a:r>
              <a:rPr lang="en-US" sz="1150" b="1" dirty="0">
                <a:solidFill>
                  <a:srgbClr val="6E5156"/>
                </a:solidFill>
                <a:latin typeface="Calibri" pitchFamily="34" charset="0"/>
                <a:ea typeface="Calibri" pitchFamily="34" charset="-122"/>
                <a:cs typeface="Calibri" pitchFamily="34" charset="-120"/>
              </a:rPr>
              <a:t>Needs</a:t>
            </a:r>
            <a:endParaRPr lang="en-US" sz="1150" dirty="0"/>
          </a:p>
        </p:txBody>
      </p:sp>
      <p:sp>
        <p:nvSpPr>
          <p:cNvPr id="13" name="Shape 11"/>
          <p:cNvSpPr/>
          <p:nvPr/>
        </p:nvSpPr>
        <p:spPr>
          <a:xfrm>
            <a:off x="566928" y="1773936"/>
            <a:ext cx="11064240" cy="548640"/>
          </a:xfrm>
          <a:prstGeom prst="roundRect">
            <a:avLst>
              <a:gd name="adj" fmla="val 3333"/>
            </a:avLst>
          </a:prstGeom>
          <a:solidFill>
            <a:srgbClr val="F7F1F2"/>
          </a:solidFill>
          <a:ln w="12700">
            <a:solidFill>
              <a:srgbClr val="F0E6E8"/>
            </a:solidFill>
            <a:prstDash val="solid"/>
          </a:ln>
        </p:spPr>
        <p:txBody>
          <a:bodyPr/>
          <a:lstStyle/>
          <a:p>
            <a:endParaRPr lang="en-US"/>
          </a:p>
        </p:txBody>
      </p:sp>
      <p:sp>
        <p:nvSpPr>
          <p:cNvPr id="14" name="Text 12"/>
          <p:cNvSpPr txBox="1"/>
          <p:nvPr/>
        </p:nvSpPr>
        <p:spPr>
          <a:xfrm>
            <a:off x="786384" y="1837944"/>
            <a:ext cx="3291840" cy="420624"/>
          </a:xfrm>
          <a:prstGeom prst="rect">
            <a:avLst/>
          </a:prstGeom>
          <a:noFill/>
          <a:ln/>
        </p:spPr>
        <p:txBody>
          <a:bodyPr wrap="square" lIns="0" tIns="0" rIns="0" bIns="0" rtlCol="0" anchor="ctr"/>
          <a:lstStyle/>
          <a:p>
            <a:pPr marL="0" indent="0">
              <a:buNone/>
            </a:pPr>
            <a:r>
              <a:rPr lang="en-US" sz="1150" b="1" dirty="0">
                <a:solidFill>
                  <a:srgbClr val="241619"/>
                </a:solidFill>
                <a:latin typeface="Calibri" pitchFamily="34" charset="0"/>
                <a:ea typeface="Calibri" pitchFamily="34" charset="-122"/>
                <a:cs typeface="Calibri" pitchFamily="34" charset="-120"/>
              </a:rPr>
              <a:t>CoOp / CoCoOp — prompt learning</a:t>
            </a:r>
            <a:endParaRPr lang="en-US" sz="1150" dirty="0"/>
          </a:p>
        </p:txBody>
      </p:sp>
      <p:sp>
        <p:nvSpPr>
          <p:cNvPr id="15" name="Text 13"/>
          <p:cNvSpPr txBox="1"/>
          <p:nvPr/>
        </p:nvSpPr>
        <p:spPr>
          <a:xfrm>
            <a:off x="4206240" y="1837944"/>
            <a:ext cx="1463040" cy="420624"/>
          </a:xfrm>
          <a:prstGeom prst="rect">
            <a:avLst/>
          </a:prstGeom>
          <a:noFill/>
          <a:ln/>
        </p:spPr>
        <p:txBody>
          <a:bodyPr wrap="square" lIns="0" tIns="0" rIns="0" bIns="0" rtlCol="0" anchor="ctr"/>
          <a:lstStyle/>
          <a:p>
            <a:pPr marL="0" indent="0">
              <a:buNone/>
            </a:pPr>
            <a:r>
              <a:rPr lang="en-US" sz="1150" dirty="0">
                <a:solidFill>
                  <a:srgbClr val="352428"/>
                </a:solidFill>
                <a:latin typeface="Calibri" pitchFamily="34" charset="0"/>
                <a:ea typeface="Calibri" pitchFamily="34" charset="-122"/>
                <a:cs typeface="Calibri" pitchFamily="34" charset="-120"/>
              </a:rPr>
              <a:t>No</a:t>
            </a:r>
            <a:endParaRPr lang="en-US" sz="1150" dirty="0"/>
          </a:p>
        </p:txBody>
      </p:sp>
      <p:sp>
        <p:nvSpPr>
          <p:cNvPr id="16" name="Text 14"/>
          <p:cNvSpPr txBox="1"/>
          <p:nvPr/>
        </p:nvSpPr>
        <p:spPr>
          <a:xfrm>
            <a:off x="5760720" y="1837944"/>
            <a:ext cx="1371600" cy="420624"/>
          </a:xfrm>
          <a:prstGeom prst="rect">
            <a:avLst/>
          </a:prstGeom>
          <a:noFill/>
          <a:ln/>
        </p:spPr>
        <p:txBody>
          <a:bodyPr wrap="square" lIns="0" tIns="0" rIns="0" bIns="0" rtlCol="0" anchor="ctr"/>
          <a:lstStyle/>
          <a:p>
            <a:pPr marL="0" indent="0">
              <a:buNone/>
            </a:pPr>
            <a:r>
              <a:rPr lang="en-US" sz="1150" dirty="0">
                <a:solidFill>
                  <a:srgbClr val="352428"/>
                </a:solidFill>
                <a:latin typeface="Calibri" pitchFamily="34" charset="0"/>
                <a:ea typeface="Calibri" pitchFamily="34" charset="-122"/>
                <a:cs typeface="Calibri" pitchFamily="34" charset="-120"/>
              </a:rPr>
              <a:t>No</a:t>
            </a:r>
            <a:endParaRPr lang="en-US" sz="1150" dirty="0"/>
          </a:p>
        </p:txBody>
      </p:sp>
      <p:sp>
        <p:nvSpPr>
          <p:cNvPr id="17" name="Text 15"/>
          <p:cNvSpPr txBox="1"/>
          <p:nvPr/>
        </p:nvSpPr>
        <p:spPr>
          <a:xfrm>
            <a:off x="7223760" y="1837944"/>
            <a:ext cx="2377440" cy="420624"/>
          </a:xfrm>
          <a:prstGeom prst="rect">
            <a:avLst/>
          </a:prstGeom>
          <a:noFill/>
          <a:ln/>
        </p:spPr>
        <p:txBody>
          <a:bodyPr wrap="square" lIns="0" tIns="0" rIns="0" bIns="0" rtlCol="0" anchor="ctr"/>
          <a:lstStyle/>
          <a:p>
            <a:pPr marL="0" indent="0">
              <a:buNone/>
            </a:pPr>
            <a:r>
              <a:rPr lang="en-US" sz="1150" dirty="0">
                <a:solidFill>
                  <a:srgbClr val="352428"/>
                </a:solidFill>
                <a:latin typeface="Calibri" pitchFamily="34" charset="0"/>
                <a:ea typeface="Calibri" pitchFamily="34" charset="-122"/>
                <a:cs typeface="Calibri" pitchFamily="34" charset="-120"/>
              </a:rPr>
              <a:t>No</a:t>
            </a:r>
            <a:endParaRPr lang="en-US" sz="1150" dirty="0"/>
          </a:p>
        </p:txBody>
      </p:sp>
      <p:sp>
        <p:nvSpPr>
          <p:cNvPr id="18" name="Text 16"/>
          <p:cNvSpPr txBox="1"/>
          <p:nvPr/>
        </p:nvSpPr>
        <p:spPr>
          <a:xfrm>
            <a:off x="9692640" y="1837944"/>
            <a:ext cx="1920240" cy="420624"/>
          </a:xfrm>
          <a:prstGeom prst="rect">
            <a:avLst/>
          </a:prstGeom>
          <a:noFill/>
          <a:ln/>
        </p:spPr>
        <p:txBody>
          <a:bodyPr wrap="square" lIns="0" tIns="0" rIns="0" bIns="0" rtlCol="0" anchor="ctr"/>
          <a:lstStyle/>
          <a:p>
            <a:pPr marL="0" indent="0">
              <a:buNone/>
            </a:pPr>
            <a:r>
              <a:rPr lang="en-US" sz="1150" dirty="0">
                <a:solidFill>
                  <a:srgbClr val="352428"/>
                </a:solidFill>
                <a:latin typeface="Calibri" pitchFamily="34" charset="0"/>
                <a:ea typeface="Calibri" pitchFamily="34" charset="-122"/>
                <a:cs typeface="Calibri" pitchFamily="34" charset="-120"/>
              </a:rPr>
              <a:t>A few labelled target examples</a:t>
            </a:r>
            <a:endParaRPr lang="en-US" sz="1150" dirty="0"/>
          </a:p>
        </p:txBody>
      </p:sp>
      <p:sp>
        <p:nvSpPr>
          <p:cNvPr id="19" name="Shape 17"/>
          <p:cNvSpPr/>
          <p:nvPr/>
        </p:nvSpPr>
        <p:spPr>
          <a:xfrm>
            <a:off x="566928" y="2359152"/>
            <a:ext cx="11064240" cy="548640"/>
          </a:xfrm>
          <a:prstGeom prst="roundRect">
            <a:avLst>
              <a:gd name="adj" fmla="val 3333"/>
            </a:avLst>
          </a:prstGeom>
          <a:solidFill>
            <a:srgbClr val="FFFFFF"/>
          </a:solidFill>
          <a:ln w="12700">
            <a:solidFill>
              <a:srgbClr val="F0E6E8"/>
            </a:solidFill>
            <a:prstDash val="solid"/>
          </a:ln>
        </p:spPr>
        <p:txBody>
          <a:bodyPr/>
          <a:lstStyle/>
          <a:p>
            <a:endParaRPr lang="en-US"/>
          </a:p>
        </p:txBody>
      </p:sp>
      <p:sp>
        <p:nvSpPr>
          <p:cNvPr id="20" name="Text 18"/>
          <p:cNvSpPr txBox="1"/>
          <p:nvPr/>
        </p:nvSpPr>
        <p:spPr>
          <a:xfrm>
            <a:off x="786384" y="2423160"/>
            <a:ext cx="3291840" cy="420624"/>
          </a:xfrm>
          <a:prstGeom prst="rect">
            <a:avLst/>
          </a:prstGeom>
          <a:noFill/>
          <a:ln/>
        </p:spPr>
        <p:txBody>
          <a:bodyPr wrap="square" lIns="0" tIns="0" rIns="0" bIns="0" rtlCol="0" anchor="ctr"/>
          <a:lstStyle/>
          <a:p>
            <a:pPr marL="0" indent="0">
              <a:buNone/>
            </a:pPr>
            <a:r>
              <a:rPr lang="en-US" sz="1150" b="1" dirty="0">
                <a:solidFill>
                  <a:srgbClr val="241619"/>
                </a:solidFill>
                <a:latin typeface="Calibri" pitchFamily="34" charset="0"/>
                <a:ea typeface="Calibri" pitchFamily="34" charset="-122"/>
                <a:cs typeface="Calibri" pitchFamily="34" charset="-120"/>
              </a:rPr>
              <a:t>Treff-Adapter — few-shot adapter</a:t>
            </a:r>
            <a:endParaRPr lang="en-US" sz="1150" dirty="0"/>
          </a:p>
        </p:txBody>
      </p:sp>
      <p:sp>
        <p:nvSpPr>
          <p:cNvPr id="21" name="Text 19"/>
          <p:cNvSpPr txBox="1"/>
          <p:nvPr/>
        </p:nvSpPr>
        <p:spPr>
          <a:xfrm>
            <a:off x="4206240" y="2423160"/>
            <a:ext cx="1463040" cy="420624"/>
          </a:xfrm>
          <a:prstGeom prst="rect">
            <a:avLst/>
          </a:prstGeom>
          <a:noFill/>
          <a:ln/>
        </p:spPr>
        <p:txBody>
          <a:bodyPr wrap="square" lIns="0" tIns="0" rIns="0" bIns="0" rtlCol="0" anchor="ctr"/>
          <a:lstStyle/>
          <a:p>
            <a:pPr marL="0" indent="0">
              <a:buNone/>
            </a:pPr>
            <a:r>
              <a:rPr lang="en-US" sz="1150" dirty="0">
                <a:solidFill>
                  <a:srgbClr val="352428"/>
                </a:solidFill>
                <a:latin typeface="Calibri" pitchFamily="34" charset="0"/>
                <a:ea typeface="Calibri" pitchFamily="34" charset="-122"/>
                <a:cs typeface="Calibri" pitchFamily="34" charset="-120"/>
              </a:rPr>
              <a:t>No</a:t>
            </a:r>
            <a:endParaRPr lang="en-US" sz="1150" dirty="0"/>
          </a:p>
        </p:txBody>
      </p:sp>
      <p:sp>
        <p:nvSpPr>
          <p:cNvPr id="22" name="Text 20"/>
          <p:cNvSpPr txBox="1"/>
          <p:nvPr/>
        </p:nvSpPr>
        <p:spPr>
          <a:xfrm>
            <a:off x="5760720" y="2423160"/>
            <a:ext cx="1371600" cy="420624"/>
          </a:xfrm>
          <a:prstGeom prst="rect">
            <a:avLst/>
          </a:prstGeom>
          <a:noFill/>
          <a:ln/>
        </p:spPr>
        <p:txBody>
          <a:bodyPr wrap="square" lIns="0" tIns="0" rIns="0" bIns="0" rtlCol="0" anchor="ctr"/>
          <a:lstStyle/>
          <a:p>
            <a:pPr marL="0" indent="0">
              <a:buNone/>
            </a:pPr>
            <a:r>
              <a:rPr lang="en-US" sz="1150" dirty="0">
                <a:solidFill>
                  <a:srgbClr val="352428"/>
                </a:solidFill>
                <a:latin typeface="Calibri" pitchFamily="34" charset="0"/>
                <a:ea typeface="Calibri" pitchFamily="34" charset="-122"/>
                <a:cs typeface="Calibri" pitchFamily="34" charset="-120"/>
              </a:rPr>
              <a:t>No</a:t>
            </a:r>
            <a:endParaRPr lang="en-US" sz="1150" dirty="0"/>
          </a:p>
        </p:txBody>
      </p:sp>
      <p:sp>
        <p:nvSpPr>
          <p:cNvPr id="23" name="Text 21"/>
          <p:cNvSpPr txBox="1"/>
          <p:nvPr/>
        </p:nvSpPr>
        <p:spPr>
          <a:xfrm>
            <a:off x="7223760" y="2423160"/>
            <a:ext cx="2377440" cy="420624"/>
          </a:xfrm>
          <a:prstGeom prst="rect">
            <a:avLst/>
          </a:prstGeom>
          <a:noFill/>
          <a:ln/>
        </p:spPr>
        <p:txBody>
          <a:bodyPr wrap="square" lIns="0" tIns="0" rIns="0" bIns="0" rtlCol="0" anchor="ctr"/>
          <a:lstStyle/>
          <a:p>
            <a:pPr marL="0" indent="0">
              <a:buNone/>
            </a:pPr>
            <a:r>
              <a:rPr lang="en-US" sz="1150" dirty="0">
                <a:solidFill>
                  <a:srgbClr val="352428"/>
                </a:solidFill>
                <a:latin typeface="Calibri" pitchFamily="34" charset="0"/>
                <a:ea typeface="Calibri" pitchFamily="34" charset="-122"/>
                <a:cs typeface="Calibri" pitchFamily="34" charset="-120"/>
              </a:rPr>
              <a:t>No</a:t>
            </a:r>
            <a:endParaRPr lang="en-US" sz="1150" dirty="0"/>
          </a:p>
        </p:txBody>
      </p:sp>
      <p:sp>
        <p:nvSpPr>
          <p:cNvPr id="24" name="Text 22"/>
          <p:cNvSpPr txBox="1"/>
          <p:nvPr/>
        </p:nvSpPr>
        <p:spPr>
          <a:xfrm>
            <a:off x="9692640" y="2423160"/>
            <a:ext cx="1920240" cy="420624"/>
          </a:xfrm>
          <a:prstGeom prst="rect">
            <a:avLst/>
          </a:prstGeom>
          <a:noFill/>
          <a:ln/>
        </p:spPr>
        <p:txBody>
          <a:bodyPr wrap="square" lIns="0" tIns="0" rIns="0" bIns="0" rtlCol="0" anchor="ctr"/>
          <a:lstStyle/>
          <a:p>
            <a:pPr marL="0" indent="0">
              <a:buNone/>
            </a:pPr>
            <a:r>
              <a:rPr lang="en-US" sz="1150" dirty="0">
                <a:solidFill>
                  <a:srgbClr val="352428"/>
                </a:solidFill>
                <a:latin typeface="Calibri" pitchFamily="34" charset="0"/>
                <a:ea typeface="Calibri" pitchFamily="34" charset="-122"/>
                <a:cs typeface="Calibri" pitchFamily="34" charset="-120"/>
              </a:rPr>
              <a:t>Labelled target data and training</a:t>
            </a:r>
            <a:endParaRPr lang="en-US" sz="1150" dirty="0"/>
          </a:p>
        </p:txBody>
      </p:sp>
      <p:sp>
        <p:nvSpPr>
          <p:cNvPr id="25" name="Shape 23"/>
          <p:cNvSpPr/>
          <p:nvPr/>
        </p:nvSpPr>
        <p:spPr>
          <a:xfrm>
            <a:off x="566928" y="2944368"/>
            <a:ext cx="11064240" cy="548640"/>
          </a:xfrm>
          <a:prstGeom prst="roundRect">
            <a:avLst>
              <a:gd name="adj" fmla="val 3333"/>
            </a:avLst>
          </a:prstGeom>
          <a:solidFill>
            <a:srgbClr val="F7F1F2"/>
          </a:solidFill>
          <a:ln w="12700">
            <a:solidFill>
              <a:srgbClr val="F0E6E8"/>
            </a:solidFill>
            <a:prstDash val="solid"/>
          </a:ln>
        </p:spPr>
        <p:txBody>
          <a:bodyPr/>
          <a:lstStyle/>
          <a:p>
            <a:endParaRPr lang="en-US"/>
          </a:p>
        </p:txBody>
      </p:sp>
      <p:sp>
        <p:nvSpPr>
          <p:cNvPr id="26" name="Text 24"/>
          <p:cNvSpPr txBox="1"/>
          <p:nvPr/>
        </p:nvSpPr>
        <p:spPr>
          <a:xfrm>
            <a:off x="786384" y="3008376"/>
            <a:ext cx="3291840" cy="420624"/>
          </a:xfrm>
          <a:prstGeom prst="rect">
            <a:avLst/>
          </a:prstGeom>
          <a:noFill/>
          <a:ln/>
        </p:spPr>
        <p:txBody>
          <a:bodyPr wrap="square" lIns="0" tIns="0" rIns="0" bIns="0" rtlCol="0" anchor="ctr"/>
          <a:lstStyle/>
          <a:p>
            <a:pPr marL="0" indent="0">
              <a:buNone/>
            </a:pPr>
            <a:r>
              <a:rPr lang="en-US" sz="1150" b="1" dirty="0">
                <a:solidFill>
                  <a:srgbClr val="241619"/>
                </a:solidFill>
                <a:latin typeface="Calibri" pitchFamily="34" charset="0"/>
                <a:ea typeface="Calibri" pitchFamily="34" charset="-122"/>
                <a:cs typeface="Calibri" pitchFamily="34" charset="-120"/>
              </a:rPr>
              <a:t>TPT — test-time prompt tuning</a:t>
            </a:r>
            <a:endParaRPr lang="en-US" sz="1150" dirty="0"/>
          </a:p>
        </p:txBody>
      </p:sp>
      <p:sp>
        <p:nvSpPr>
          <p:cNvPr id="27" name="Text 25"/>
          <p:cNvSpPr txBox="1"/>
          <p:nvPr/>
        </p:nvSpPr>
        <p:spPr>
          <a:xfrm>
            <a:off x="4206240" y="3008376"/>
            <a:ext cx="1463040" cy="420624"/>
          </a:xfrm>
          <a:prstGeom prst="rect">
            <a:avLst/>
          </a:prstGeom>
          <a:noFill/>
          <a:ln/>
        </p:spPr>
        <p:txBody>
          <a:bodyPr wrap="square" lIns="0" tIns="0" rIns="0" bIns="0" rtlCol="0" anchor="ctr"/>
          <a:lstStyle/>
          <a:p>
            <a:pPr marL="0" indent="0">
              <a:buNone/>
            </a:pPr>
            <a:r>
              <a:rPr lang="en-US" sz="1150" dirty="0">
                <a:solidFill>
                  <a:srgbClr val="352428"/>
                </a:solidFill>
                <a:latin typeface="Calibri" pitchFamily="34" charset="0"/>
                <a:ea typeface="Calibri" pitchFamily="34" charset="-122"/>
                <a:cs typeface="Calibri" pitchFamily="34" charset="-120"/>
              </a:rPr>
              <a:t>No</a:t>
            </a:r>
            <a:endParaRPr lang="en-US" sz="1150" dirty="0"/>
          </a:p>
        </p:txBody>
      </p:sp>
      <p:sp>
        <p:nvSpPr>
          <p:cNvPr id="28" name="Text 26"/>
          <p:cNvSpPr txBox="1"/>
          <p:nvPr/>
        </p:nvSpPr>
        <p:spPr>
          <a:xfrm>
            <a:off x="5760720" y="3008376"/>
            <a:ext cx="1371600" cy="420624"/>
          </a:xfrm>
          <a:prstGeom prst="rect">
            <a:avLst/>
          </a:prstGeom>
          <a:noFill/>
          <a:ln/>
        </p:spPr>
        <p:txBody>
          <a:bodyPr wrap="square" lIns="0" tIns="0" rIns="0" bIns="0" rtlCol="0" anchor="ctr"/>
          <a:lstStyle/>
          <a:p>
            <a:pPr marL="0" indent="0">
              <a:buNone/>
            </a:pPr>
            <a:r>
              <a:rPr lang="en-US" sz="1150" dirty="0">
                <a:solidFill>
                  <a:srgbClr val="352428"/>
                </a:solidFill>
                <a:latin typeface="Calibri" pitchFamily="34" charset="0"/>
                <a:ea typeface="Calibri" pitchFamily="34" charset="-122"/>
                <a:cs typeface="Calibri" pitchFamily="34" charset="-120"/>
              </a:rPr>
              <a:t>Yes</a:t>
            </a:r>
            <a:endParaRPr lang="en-US" sz="1150" dirty="0"/>
          </a:p>
        </p:txBody>
      </p:sp>
      <p:sp>
        <p:nvSpPr>
          <p:cNvPr id="29" name="Text 27"/>
          <p:cNvSpPr txBox="1"/>
          <p:nvPr/>
        </p:nvSpPr>
        <p:spPr>
          <a:xfrm>
            <a:off x="7223760" y="3008376"/>
            <a:ext cx="2377440" cy="420624"/>
          </a:xfrm>
          <a:prstGeom prst="rect">
            <a:avLst/>
          </a:prstGeom>
          <a:noFill/>
          <a:ln/>
        </p:spPr>
        <p:txBody>
          <a:bodyPr wrap="square" lIns="0" tIns="0" rIns="0" bIns="0" rtlCol="0" anchor="ctr"/>
          <a:lstStyle/>
          <a:p>
            <a:pPr marL="0" indent="0">
              <a:buNone/>
            </a:pPr>
            <a:r>
              <a:rPr lang="en-US" sz="1150" dirty="0">
                <a:solidFill>
                  <a:srgbClr val="352428"/>
                </a:solidFill>
                <a:latin typeface="Calibri" pitchFamily="34" charset="0"/>
                <a:ea typeface="Calibri" pitchFamily="34" charset="-122"/>
                <a:cs typeface="Calibri" pitchFamily="34" charset="-120"/>
              </a:rPr>
              <a:t>No</a:t>
            </a:r>
            <a:endParaRPr lang="en-US" sz="1150" dirty="0"/>
          </a:p>
        </p:txBody>
      </p:sp>
      <p:sp>
        <p:nvSpPr>
          <p:cNvPr id="30" name="Text 28"/>
          <p:cNvSpPr txBox="1"/>
          <p:nvPr/>
        </p:nvSpPr>
        <p:spPr>
          <a:xfrm>
            <a:off x="9692640" y="3008376"/>
            <a:ext cx="1920240" cy="420624"/>
          </a:xfrm>
          <a:prstGeom prst="rect">
            <a:avLst/>
          </a:prstGeom>
          <a:noFill/>
          <a:ln/>
        </p:spPr>
        <p:txBody>
          <a:bodyPr wrap="square" lIns="0" tIns="0" rIns="0" bIns="0" rtlCol="0" anchor="ctr"/>
          <a:lstStyle/>
          <a:p>
            <a:pPr marL="0" indent="0">
              <a:buNone/>
            </a:pPr>
            <a:r>
              <a:rPr lang="en-US" sz="1150" dirty="0">
                <a:solidFill>
                  <a:srgbClr val="352428"/>
                </a:solidFill>
                <a:latin typeface="Calibri" pitchFamily="34" charset="0"/>
                <a:ea typeface="Calibri" pitchFamily="34" charset="-122"/>
                <a:cs typeface="Calibri" pitchFamily="34" charset="-120"/>
              </a:rPr>
              <a:t>Gradients and augmented views</a:t>
            </a:r>
            <a:endParaRPr lang="en-US" sz="1150" dirty="0"/>
          </a:p>
        </p:txBody>
      </p:sp>
      <p:sp>
        <p:nvSpPr>
          <p:cNvPr id="31" name="Shape 29"/>
          <p:cNvSpPr/>
          <p:nvPr/>
        </p:nvSpPr>
        <p:spPr>
          <a:xfrm>
            <a:off x="566928" y="3529584"/>
            <a:ext cx="11064240" cy="548640"/>
          </a:xfrm>
          <a:prstGeom prst="roundRect">
            <a:avLst>
              <a:gd name="adj" fmla="val 3333"/>
            </a:avLst>
          </a:prstGeom>
          <a:solidFill>
            <a:srgbClr val="FFFFFF"/>
          </a:solidFill>
          <a:ln w="12700">
            <a:solidFill>
              <a:srgbClr val="F0E6E8"/>
            </a:solidFill>
            <a:prstDash val="solid"/>
          </a:ln>
        </p:spPr>
        <p:txBody>
          <a:bodyPr/>
          <a:lstStyle/>
          <a:p>
            <a:endParaRPr lang="en-US"/>
          </a:p>
        </p:txBody>
      </p:sp>
      <p:sp>
        <p:nvSpPr>
          <p:cNvPr id="32" name="Text 30"/>
          <p:cNvSpPr txBox="1"/>
          <p:nvPr/>
        </p:nvSpPr>
        <p:spPr>
          <a:xfrm>
            <a:off x="786384" y="3593592"/>
            <a:ext cx="3291840" cy="420624"/>
          </a:xfrm>
          <a:prstGeom prst="rect">
            <a:avLst/>
          </a:prstGeom>
          <a:noFill/>
          <a:ln/>
        </p:spPr>
        <p:txBody>
          <a:bodyPr wrap="square" lIns="0" tIns="0" rIns="0" bIns="0" rtlCol="0" anchor="ctr"/>
          <a:lstStyle/>
          <a:p>
            <a:pPr marL="0" indent="0">
              <a:buNone/>
            </a:pPr>
            <a:r>
              <a:rPr lang="en-US" sz="1150" b="1" dirty="0">
                <a:solidFill>
                  <a:srgbClr val="241619"/>
                </a:solidFill>
                <a:latin typeface="Calibri" pitchFamily="34" charset="0"/>
                <a:ea typeface="Calibri" pitchFamily="34" charset="-122"/>
                <a:cs typeface="Calibri" pitchFamily="34" charset="-120"/>
              </a:rPr>
              <a:t>MTA, ZERO — training-free TTA</a:t>
            </a:r>
            <a:endParaRPr lang="en-US" sz="1150" dirty="0"/>
          </a:p>
        </p:txBody>
      </p:sp>
      <p:sp>
        <p:nvSpPr>
          <p:cNvPr id="33" name="Text 31"/>
          <p:cNvSpPr txBox="1"/>
          <p:nvPr/>
        </p:nvSpPr>
        <p:spPr>
          <a:xfrm>
            <a:off x="4206240" y="3593592"/>
            <a:ext cx="1463040" cy="420624"/>
          </a:xfrm>
          <a:prstGeom prst="rect">
            <a:avLst/>
          </a:prstGeom>
          <a:noFill/>
          <a:ln/>
        </p:spPr>
        <p:txBody>
          <a:bodyPr wrap="square" lIns="0" tIns="0" rIns="0" bIns="0" rtlCol="0" anchor="ctr"/>
          <a:lstStyle/>
          <a:p>
            <a:pPr marL="0" indent="0">
              <a:buNone/>
            </a:pPr>
            <a:r>
              <a:rPr lang="en-US" sz="1150" dirty="0">
                <a:solidFill>
                  <a:srgbClr val="352428"/>
                </a:solidFill>
                <a:latin typeface="Calibri" pitchFamily="34" charset="0"/>
                <a:ea typeface="Calibri" pitchFamily="34" charset="-122"/>
                <a:cs typeface="Calibri" pitchFamily="34" charset="-120"/>
              </a:rPr>
              <a:t>Yes</a:t>
            </a:r>
            <a:endParaRPr lang="en-US" sz="1150" dirty="0"/>
          </a:p>
        </p:txBody>
      </p:sp>
      <p:sp>
        <p:nvSpPr>
          <p:cNvPr id="34" name="Text 32"/>
          <p:cNvSpPr txBox="1"/>
          <p:nvPr/>
        </p:nvSpPr>
        <p:spPr>
          <a:xfrm>
            <a:off x="5760720" y="3593592"/>
            <a:ext cx="1371600" cy="420624"/>
          </a:xfrm>
          <a:prstGeom prst="rect">
            <a:avLst/>
          </a:prstGeom>
          <a:noFill/>
          <a:ln/>
        </p:spPr>
        <p:txBody>
          <a:bodyPr wrap="square" lIns="0" tIns="0" rIns="0" bIns="0" rtlCol="0" anchor="ctr"/>
          <a:lstStyle/>
          <a:p>
            <a:pPr marL="0" indent="0">
              <a:buNone/>
            </a:pPr>
            <a:r>
              <a:rPr lang="en-US" sz="1150" dirty="0">
                <a:solidFill>
                  <a:srgbClr val="352428"/>
                </a:solidFill>
                <a:latin typeface="Calibri" pitchFamily="34" charset="0"/>
                <a:ea typeface="Calibri" pitchFamily="34" charset="-122"/>
                <a:cs typeface="Calibri" pitchFamily="34" charset="-120"/>
              </a:rPr>
              <a:t>Yes</a:t>
            </a:r>
            <a:endParaRPr lang="en-US" sz="1150" dirty="0"/>
          </a:p>
        </p:txBody>
      </p:sp>
      <p:sp>
        <p:nvSpPr>
          <p:cNvPr id="35" name="Text 33"/>
          <p:cNvSpPr txBox="1"/>
          <p:nvPr/>
        </p:nvSpPr>
        <p:spPr>
          <a:xfrm>
            <a:off x="7223760" y="3593592"/>
            <a:ext cx="2377440" cy="420624"/>
          </a:xfrm>
          <a:prstGeom prst="rect">
            <a:avLst/>
          </a:prstGeom>
          <a:noFill/>
          <a:ln/>
        </p:spPr>
        <p:txBody>
          <a:bodyPr wrap="square" lIns="0" tIns="0" rIns="0" bIns="0" rtlCol="0" anchor="ctr"/>
          <a:lstStyle/>
          <a:p>
            <a:pPr marL="0" indent="0">
              <a:buNone/>
            </a:pPr>
            <a:r>
              <a:rPr lang="en-US" sz="1150" dirty="0">
                <a:solidFill>
                  <a:srgbClr val="352428"/>
                </a:solidFill>
                <a:latin typeface="Calibri" pitchFamily="34" charset="0"/>
                <a:ea typeface="Calibri" pitchFamily="34" charset="-122"/>
                <a:cs typeface="Calibri" pitchFamily="34" charset="-120"/>
              </a:rPr>
              <a:t>No</a:t>
            </a:r>
            <a:endParaRPr lang="en-US" sz="1150" dirty="0"/>
          </a:p>
        </p:txBody>
      </p:sp>
      <p:sp>
        <p:nvSpPr>
          <p:cNvPr id="36" name="Text 34"/>
          <p:cNvSpPr txBox="1"/>
          <p:nvPr/>
        </p:nvSpPr>
        <p:spPr>
          <a:xfrm>
            <a:off x="9692640" y="3593592"/>
            <a:ext cx="1920240" cy="420624"/>
          </a:xfrm>
          <a:prstGeom prst="rect">
            <a:avLst/>
          </a:prstGeom>
          <a:noFill/>
          <a:ln/>
        </p:spPr>
        <p:txBody>
          <a:bodyPr wrap="square" lIns="0" tIns="0" rIns="0" bIns="0" rtlCol="0" anchor="ctr"/>
          <a:lstStyle/>
          <a:p>
            <a:pPr marL="0" indent="0">
              <a:buNone/>
            </a:pPr>
            <a:r>
              <a:rPr lang="en-US" sz="1150" dirty="0">
                <a:solidFill>
                  <a:srgbClr val="352428"/>
                </a:solidFill>
                <a:latin typeface="Calibri" pitchFamily="34" charset="0"/>
                <a:ea typeface="Calibri" pitchFamily="34" charset="-122"/>
                <a:cs typeface="Calibri" pitchFamily="34" charset="-120"/>
              </a:rPr>
              <a:t>A batch of samples</a:t>
            </a:r>
            <a:endParaRPr lang="en-US" sz="1150" dirty="0"/>
          </a:p>
        </p:txBody>
      </p:sp>
      <p:sp>
        <p:nvSpPr>
          <p:cNvPr id="37" name="Shape 35"/>
          <p:cNvSpPr/>
          <p:nvPr/>
        </p:nvSpPr>
        <p:spPr>
          <a:xfrm>
            <a:off x="566928" y="4114800"/>
            <a:ext cx="11064240" cy="548640"/>
          </a:xfrm>
          <a:prstGeom prst="roundRect">
            <a:avLst>
              <a:gd name="adj" fmla="val 3333"/>
            </a:avLst>
          </a:prstGeom>
          <a:solidFill>
            <a:srgbClr val="F7F1F2"/>
          </a:solidFill>
          <a:ln w="12700">
            <a:solidFill>
              <a:srgbClr val="F0E6E8"/>
            </a:solidFill>
            <a:prstDash val="solid"/>
          </a:ln>
        </p:spPr>
        <p:txBody>
          <a:bodyPr/>
          <a:lstStyle/>
          <a:p>
            <a:endParaRPr lang="en-US"/>
          </a:p>
        </p:txBody>
      </p:sp>
      <p:sp>
        <p:nvSpPr>
          <p:cNvPr id="38" name="Text 36"/>
          <p:cNvSpPr txBox="1"/>
          <p:nvPr/>
        </p:nvSpPr>
        <p:spPr>
          <a:xfrm>
            <a:off x="786384" y="4178808"/>
            <a:ext cx="3291840" cy="420624"/>
          </a:xfrm>
          <a:prstGeom prst="rect">
            <a:avLst/>
          </a:prstGeom>
          <a:noFill/>
          <a:ln/>
        </p:spPr>
        <p:txBody>
          <a:bodyPr wrap="square" lIns="0" tIns="0" rIns="0" bIns="0" rtlCol="0" anchor="ctr"/>
          <a:lstStyle/>
          <a:p>
            <a:pPr marL="0" indent="0">
              <a:buNone/>
            </a:pPr>
            <a:r>
              <a:rPr lang="en-US" sz="1150" b="1" dirty="0">
                <a:solidFill>
                  <a:srgbClr val="241619"/>
                </a:solidFill>
                <a:latin typeface="Calibri" pitchFamily="34" charset="0"/>
                <a:ea typeface="Calibri" pitchFamily="34" charset="-122"/>
                <a:cs typeface="Calibri" pitchFamily="34" charset="-120"/>
              </a:rPr>
              <a:t>Emo-TTA</a:t>
            </a:r>
            <a:endParaRPr lang="en-US" sz="1150" dirty="0"/>
          </a:p>
        </p:txBody>
      </p:sp>
      <p:sp>
        <p:nvSpPr>
          <p:cNvPr id="39" name="Text 37"/>
          <p:cNvSpPr txBox="1"/>
          <p:nvPr/>
        </p:nvSpPr>
        <p:spPr>
          <a:xfrm>
            <a:off x="4206240" y="4178808"/>
            <a:ext cx="1463040" cy="420624"/>
          </a:xfrm>
          <a:prstGeom prst="rect">
            <a:avLst/>
          </a:prstGeom>
          <a:noFill/>
          <a:ln/>
        </p:spPr>
        <p:txBody>
          <a:bodyPr wrap="square" lIns="0" tIns="0" rIns="0" bIns="0" rtlCol="0" anchor="ctr"/>
          <a:lstStyle/>
          <a:p>
            <a:pPr marL="0" indent="0">
              <a:buNone/>
            </a:pPr>
            <a:r>
              <a:rPr lang="en-US" sz="1150" dirty="0">
                <a:solidFill>
                  <a:srgbClr val="352428"/>
                </a:solidFill>
                <a:latin typeface="Calibri" pitchFamily="34" charset="0"/>
                <a:ea typeface="Calibri" pitchFamily="34" charset="-122"/>
                <a:cs typeface="Calibri" pitchFamily="34" charset="-120"/>
              </a:rPr>
              <a:t>Yes</a:t>
            </a:r>
            <a:endParaRPr lang="en-US" sz="1150" dirty="0"/>
          </a:p>
        </p:txBody>
      </p:sp>
      <p:sp>
        <p:nvSpPr>
          <p:cNvPr id="40" name="Text 38"/>
          <p:cNvSpPr txBox="1"/>
          <p:nvPr/>
        </p:nvSpPr>
        <p:spPr>
          <a:xfrm>
            <a:off x="5760720" y="4178808"/>
            <a:ext cx="1371600" cy="420624"/>
          </a:xfrm>
          <a:prstGeom prst="rect">
            <a:avLst/>
          </a:prstGeom>
          <a:noFill/>
          <a:ln/>
        </p:spPr>
        <p:txBody>
          <a:bodyPr wrap="square" lIns="0" tIns="0" rIns="0" bIns="0" rtlCol="0" anchor="ctr"/>
          <a:lstStyle/>
          <a:p>
            <a:pPr marL="0" indent="0">
              <a:buNone/>
            </a:pPr>
            <a:r>
              <a:rPr lang="en-US" sz="1150" dirty="0">
                <a:solidFill>
                  <a:srgbClr val="352428"/>
                </a:solidFill>
                <a:latin typeface="Calibri" pitchFamily="34" charset="0"/>
                <a:ea typeface="Calibri" pitchFamily="34" charset="-122"/>
                <a:cs typeface="Calibri" pitchFamily="34" charset="-120"/>
              </a:rPr>
              <a:t>Yes</a:t>
            </a:r>
            <a:endParaRPr lang="en-US" sz="1150" dirty="0"/>
          </a:p>
        </p:txBody>
      </p:sp>
      <p:sp>
        <p:nvSpPr>
          <p:cNvPr id="41" name="Text 39"/>
          <p:cNvSpPr txBox="1"/>
          <p:nvPr/>
        </p:nvSpPr>
        <p:spPr>
          <a:xfrm>
            <a:off x="7223760" y="4178808"/>
            <a:ext cx="2377440" cy="420624"/>
          </a:xfrm>
          <a:prstGeom prst="rect">
            <a:avLst/>
          </a:prstGeom>
          <a:noFill/>
          <a:ln/>
        </p:spPr>
        <p:txBody>
          <a:bodyPr wrap="square" lIns="0" tIns="0" rIns="0" bIns="0" rtlCol="0" anchor="ctr"/>
          <a:lstStyle/>
          <a:p>
            <a:pPr marL="0" indent="0">
              <a:buNone/>
            </a:pPr>
            <a:r>
              <a:rPr lang="en-US" sz="1150" dirty="0">
                <a:solidFill>
                  <a:srgbClr val="352428"/>
                </a:solidFill>
                <a:latin typeface="Calibri" pitchFamily="34" charset="0"/>
                <a:ea typeface="Calibri" pitchFamily="34" charset="-122"/>
                <a:cs typeface="Calibri" pitchFamily="34" charset="-120"/>
              </a:rPr>
              <a:t>Yes</a:t>
            </a:r>
            <a:endParaRPr lang="en-US" sz="1150" dirty="0"/>
          </a:p>
        </p:txBody>
      </p:sp>
      <p:sp>
        <p:nvSpPr>
          <p:cNvPr id="42" name="Text 40"/>
          <p:cNvSpPr txBox="1"/>
          <p:nvPr/>
        </p:nvSpPr>
        <p:spPr>
          <a:xfrm>
            <a:off x="9692640" y="4178808"/>
            <a:ext cx="1920240" cy="420624"/>
          </a:xfrm>
          <a:prstGeom prst="rect">
            <a:avLst/>
          </a:prstGeom>
          <a:noFill/>
          <a:ln/>
        </p:spPr>
        <p:txBody>
          <a:bodyPr wrap="square" lIns="0" tIns="0" rIns="0" bIns="0" rtlCol="0" anchor="ctr"/>
          <a:lstStyle/>
          <a:p>
            <a:pPr marL="0" indent="0">
              <a:buNone/>
            </a:pPr>
            <a:r>
              <a:rPr lang="en-US" sz="1150" dirty="0">
                <a:solidFill>
                  <a:srgbClr val="352428"/>
                </a:solidFill>
                <a:latin typeface="Calibri" pitchFamily="34" charset="0"/>
                <a:ea typeface="Calibri" pitchFamily="34" charset="-122"/>
                <a:cs typeface="Calibri" pitchFamily="34" charset="-120"/>
              </a:rPr>
              <a:t>One sample at a time</a:t>
            </a:r>
            <a:endParaRPr lang="en-US" sz="1150" dirty="0"/>
          </a:p>
        </p:txBody>
      </p:sp>
      <p:sp>
        <p:nvSpPr>
          <p:cNvPr id="43" name="Shape 41"/>
          <p:cNvSpPr/>
          <p:nvPr/>
        </p:nvSpPr>
        <p:spPr>
          <a:xfrm>
            <a:off x="566928" y="4809744"/>
            <a:ext cx="11064240" cy="1243584"/>
          </a:xfrm>
          <a:prstGeom prst="roundRect">
            <a:avLst>
              <a:gd name="adj" fmla="val 4412"/>
            </a:avLst>
          </a:prstGeom>
          <a:solidFill>
            <a:srgbClr val="332226"/>
          </a:solidFill>
          <a:ln w="12700">
            <a:solidFill>
              <a:srgbClr val="332226"/>
            </a:solidFill>
            <a:prstDash val="solid"/>
          </a:ln>
        </p:spPr>
        <p:txBody>
          <a:bodyPr/>
          <a:lstStyle/>
          <a:p>
            <a:endParaRPr lang="en-US"/>
          </a:p>
        </p:txBody>
      </p:sp>
      <p:sp>
        <p:nvSpPr>
          <p:cNvPr id="44" name="Shape 42"/>
          <p:cNvSpPr/>
          <p:nvPr/>
        </p:nvSpPr>
        <p:spPr>
          <a:xfrm>
            <a:off x="786384" y="5102352"/>
            <a:ext cx="109728" cy="109728"/>
          </a:xfrm>
          <a:prstGeom prst="ellipse">
            <a:avLst/>
          </a:prstGeom>
          <a:solidFill>
            <a:srgbClr val="B8871F"/>
          </a:solidFill>
          <a:ln w="12700">
            <a:solidFill>
              <a:srgbClr val="333333"/>
            </a:solidFill>
            <a:prstDash val="solid"/>
          </a:ln>
        </p:spPr>
        <p:txBody>
          <a:bodyPr/>
          <a:lstStyle/>
          <a:p>
            <a:endParaRPr lang="en-US"/>
          </a:p>
        </p:txBody>
      </p:sp>
      <p:sp>
        <p:nvSpPr>
          <p:cNvPr id="45" name="Text 43"/>
          <p:cNvSpPr txBox="1"/>
          <p:nvPr/>
        </p:nvSpPr>
        <p:spPr>
          <a:xfrm>
            <a:off x="987552" y="4974336"/>
            <a:ext cx="10424160" cy="36576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The claimed gap</a:t>
            </a:r>
            <a:endParaRPr lang="en-US" sz="1500" dirty="0"/>
          </a:p>
        </p:txBody>
      </p:sp>
      <p:sp>
        <p:nvSpPr>
          <p:cNvPr id="46" name="Text 44"/>
          <p:cNvSpPr txBox="1"/>
          <p:nvPr/>
        </p:nvSpPr>
        <p:spPr>
          <a:xfrm>
            <a:off x="822960" y="5413248"/>
            <a:ext cx="10552176" cy="457200"/>
          </a:xfrm>
          <a:prstGeom prst="rect">
            <a:avLst/>
          </a:prstGeom>
          <a:noFill/>
          <a:ln/>
        </p:spPr>
        <p:txBody>
          <a:bodyPr wrap="square" lIns="0" tIns="0" rIns="0" bIns="0" rtlCol="0" anchor="t"/>
          <a:lstStyle/>
          <a:p>
            <a:pPr marL="0" indent="0">
              <a:lnSpc>
                <a:spcPct val="108000"/>
              </a:lnSpc>
              <a:buNone/>
            </a:pPr>
            <a:r>
              <a:rPr lang="en-US" sz="1300" dirty="0">
                <a:solidFill>
                  <a:srgbClr val="DFC4C7"/>
                </a:solidFill>
                <a:latin typeface="Calibri" pitchFamily="34" charset="0"/>
                <a:ea typeface="Calibri" pitchFamily="34" charset="-122"/>
                <a:cs typeface="Calibri" pitchFamily="34" charset="-120"/>
              </a:rPr>
              <a:t>The paper's novelty claim is the conjunction: to the best of our knowledge, we are the first to simultaneously satisfy all three — test-time distribution estimation, lightweight adaptation, and training-free inference.</a:t>
            </a:r>
            <a:endParaRPr lang="en-US" sz="1300" dirty="0"/>
          </a:p>
          <a:p>
            <a:pPr marL="0" indent="0">
              <a:lnSpc>
                <a:spcPct val="108000"/>
              </a:lnSpc>
              <a:buNone/>
            </a:pPr>
            <a:endParaRPr lang="en-US" sz="1300" dirty="0"/>
          </a:p>
          <a:p>
            <a:pPr marL="0" indent="0">
              <a:lnSpc>
                <a:spcPct val="108000"/>
              </a:lnSpc>
              <a:buNone/>
            </a:pPr>
            <a:r>
              <a:rPr lang="en-US" sz="1300" dirty="0">
                <a:solidFill>
                  <a:srgbClr val="DFC4C7"/>
                </a:solidFill>
                <a:latin typeface="Calibri" pitchFamily="34" charset="0"/>
                <a:ea typeface="Calibri" pitchFamily="34" charset="-122"/>
                <a:cs typeface="Calibri" pitchFamily="34" charset="-120"/>
              </a:rPr>
              <a:t>The third column is the one that is actually new. Training-free TTA already existed; modelling the structure of the test stream did not.</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332226"/>
        </a:solidFill>
        <a:effectLst/>
      </p:bgPr>
    </p:bg>
    <p:spTree>
      <p:nvGrpSpPr>
        <p:cNvPr id="1" name=""/>
        <p:cNvGrpSpPr/>
        <p:nvPr/>
      </p:nvGrpSpPr>
      <p:grpSpPr>
        <a:xfrm>
          <a:off x="0" y="0"/>
          <a:ext cx="0" cy="0"/>
          <a:chOff x="0" y="0"/>
          <a:chExt cx="0" cy="0"/>
        </a:xfrm>
      </p:grpSpPr>
      <p:sp>
        <p:nvSpPr>
          <p:cNvPr id="2" name="Shape 0"/>
          <p:cNvSpPr/>
          <p:nvPr/>
        </p:nvSpPr>
        <p:spPr>
          <a:xfrm>
            <a:off x="10515600" y="5349240"/>
            <a:ext cx="841248" cy="548640"/>
          </a:xfrm>
          <a:prstGeom prst="ellipse">
            <a:avLst/>
          </a:prstGeom>
          <a:ln w="16510">
            <a:solidFill>
              <a:srgbClr val="DFC4C7"/>
            </a:solidFill>
            <a:prstDash val="solid"/>
          </a:ln>
        </p:spPr>
        <p:txBody>
          <a:bodyPr/>
          <a:lstStyle/>
          <a:p>
            <a:endParaRPr lang="en-US"/>
          </a:p>
        </p:txBody>
      </p:sp>
      <p:sp>
        <p:nvSpPr>
          <p:cNvPr id="3" name="Shape 1"/>
          <p:cNvSpPr/>
          <p:nvPr/>
        </p:nvSpPr>
        <p:spPr>
          <a:xfrm>
            <a:off x="10753344" y="5513832"/>
            <a:ext cx="164592" cy="164592"/>
          </a:xfrm>
          <a:prstGeom prst="ellipse">
            <a:avLst/>
          </a:prstGeom>
          <a:solidFill>
            <a:srgbClr val="B8871F"/>
          </a:solidFill>
          <a:ln w="12700">
            <a:solidFill>
              <a:srgbClr val="333333"/>
            </a:solidFill>
            <a:prstDash val="solid"/>
          </a:ln>
        </p:spPr>
        <p:txBody>
          <a:bodyPr/>
          <a:lstStyle/>
          <a:p>
            <a:endParaRPr lang="en-US"/>
          </a:p>
        </p:txBody>
      </p:sp>
      <p:sp>
        <p:nvSpPr>
          <p:cNvPr id="4" name="Shape 2"/>
          <p:cNvSpPr/>
          <p:nvPr/>
        </p:nvSpPr>
        <p:spPr>
          <a:xfrm>
            <a:off x="11009376" y="5605272"/>
            <a:ext cx="128016" cy="128016"/>
          </a:xfrm>
          <a:prstGeom prst="ellipse">
            <a:avLst/>
          </a:prstGeom>
          <a:solidFill>
            <a:srgbClr val="C9A8AC"/>
          </a:solidFill>
          <a:ln w="12700">
            <a:solidFill>
              <a:srgbClr val="333333"/>
            </a:solidFill>
            <a:prstDash val="solid"/>
          </a:ln>
        </p:spPr>
        <p:txBody>
          <a:bodyPr/>
          <a:lstStyle/>
          <a:p>
            <a:endParaRPr lang="en-US"/>
          </a:p>
        </p:txBody>
      </p:sp>
      <p:sp>
        <p:nvSpPr>
          <p:cNvPr id="5" name="Text 3"/>
          <p:cNvSpPr txBox="1"/>
          <p:nvPr/>
        </p:nvSpPr>
        <p:spPr>
          <a:xfrm>
            <a:off x="822960" y="2057400"/>
            <a:ext cx="1554480" cy="1005840"/>
          </a:xfrm>
          <a:prstGeom prst="rect">
            <a:avLst/>
          </a:prstGeom>
          <a:noFill/>
          <a:ln/>
        </p:spPr>
        <p:txBody>
          <a:bodyPr wrap="square" lIns="0" tIns="0" rIns="0" bIns="0" rtlCol="0" anchor="ctr"/>
          <a:lstStyle/>
          <a:p>
            <a:pPr marL="0" indent="0">
              <a:buNone/>
            </a:pPr>
            <a:r>
              <a:rPr lang="en-US" sz="6600" b="1" dirty="0">
                <a:solidFill>
                  <a:srgbClr val="B8871F"/>
                </a:solidFill>
                <a:latin typeface="Cambria" pitchFamily="34" charset="0"/>
                <a:ea typeface="Cambria" pitchFamily="34" charset="-122"/>
                <a:cs typeface="Cambria" pitchFamily="34" charset="-120"/>
              </a:rPr>
              <a:t>2</a:t>
            </a:r>
            <a:endParaRPr lang="en-US" sz="6600" dirty="0"/>
          </a:p>
        </p:txBody>
      </p:sp>
      <p:sp>
        <p:nvSpPr>
          <p:cNvPr id="6" name="Text 4"/>
          <p:cNvSpPr txBox="1"/>
          <p:nvPr/>
        </p:nvSpPr>
        <p:spPr>
          <a:xfrm>
            <a:off x="2377440" y="2212848"/>
            <a:ext cx="8686800" cy="822960"/>
          </a:xfrm>
          <a:prstGeom prst="rect">
            <a:avLst/>
          </a:prstGeom>
          <a:noFill/>
          <a:ln/>
        </p:spPr>
        <p:txBody>
          <a:bodyPr wrap="square" lIns="0" tIns="0" rIns="0" bIns="0" rtlCol="0" anchor="ctr"/>
          <a:lstStyle/>
          <a:p>
            <a:pPr marL="0" indent="0">
              <a:buNone/>
            </a:pPr>
            <a:r>
              <a:rPr lang="en-US" sz="3300" b="1" dirty="0">
                <a:solidFill>
                  <a:srgbClr val="FFFFFF"/>
                </a:solidFill>
                <a:latin typeface="Cambria" pitchFamily="34" charset="0"/>
                <a:ea typeface="Cambria" pitchFamily="34" charset="-122"/>
                <a:cs typeface="Cambria" pitchFamily="34" charset="-120"/>
              </a:rPr>
              <a:t>The method</a:t>
            </a:r>
            <a:endParaRPr lang="en-US" sz="3300" dirty="0"/>
          </a:p>
        </p:txBody>
      </p:sp>
      <p:sp>
        <p:nvSpPr>
          <p:cNvPr id="7" name="Text 5"/>
          <p:cNvSpPr txBox="1"/>
          <p:nvPr/>
        </p:nvSpPr>
        <p:spPr>
          <a:xfrm>
            <a:off x="2432304" y="3072384"/>
            <a:ext cx="8503920" cy="731520"/>
          </a:xfrm>
          <a:prstGeom prst="rect">
            <a:avLst/>
          </a:prstGeom>
          <a:noFill/>
          <a:ln/>
        </p:spPr>
        <p:txBody>
          <a:bodyPr wrap="square" lIns="0" tIns="0" rIns="0" bIns="0" rtlCol="0" anchor="ctr"/>
          <a:lstStyle/>
          <a:p>
            <a:pPr marL="0" indent="0">
              <a:buNone/>
            </a:pPr>
            <a:r>
              <a:rPr lang="en-US" sz="1500" dirty="0">
                <a:solidFill>
                  <a:srgbClr val="DFC4C7"/>
                </a:solidFill>
                <a:latin typeface="Calibri" pitchFamily="34" charset="0"/>
                <a:ea typeface="Calibri" pitchFamily="34" charset="-122"/>
                <a:cs typeface="Calibri" pitchFamily="34" charset="-120"/>
              </a:rPr>
              <a:t>Gaussian discriminant analysis, estimated online</a:t>
            </a:r>
            <a:endParaRPr lang="en-US" sz="1500" dirty="0"/>
          </a:p>
        </p:txBody>
      </p:sp>
      <p:sp>
        <p:nvSpPr>
          <p:cNvPr id="8" name="Text 6"/>
          <p:cNvSpPr txBox="1"/>
          <p:nvPr/>
        </p:nvSpPr>
        <p:spPr>
          <a:xfrm>
            <a:off x="9418320" y="6382512"/>
            <a:ext cx="2221992" cy="274320"/>
          </a:xfrm>
          <a:prstGeom prst="rect">
            <a:avLst/>
          </a:prstGeom>
          <a:noFill/>
          <a:ln/>
        </p:spPr>
        <p:txBody>
          <a:bodyPr wrap="square" lIns="0" tIns="0" rIns="0" bIns="0" rtlCol="0" anchor="ctr"/>
          <a:lstStyle/>
          <a:p>
            <a:pPr marL="0" indent="0" algn="r">
              <a:buNone/>
            </a:pPr>
            <a:r>
              <a:rPr lang="en-US" sz="900" dirty="0">
                <a:solidFill>
                  <a:srgbClr val="B59CA0"/>
                </a:solidFill>
                <a:latin typeface="Calibri" pitchFamily="34" charset="0"/>
                <a:ea typeface="Calibri" pitchFamily="34" charset="-122"/>
                <a:cs typeface="Calibri" pitchFamily="34" charset="-120"/>
              </a:rPr>
              <a:t>Emo-TTA · Shi et al. 2026  |  7</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045952" y="457200"/>
            <a:ext cx="420624" cy="274320"/>
          </a:xfrm>
          <a:prstGeom prst="ellipse">
            <a:avLst/>
          </a:prstGeom>
          <a:ln w="16510">
            <a:solidFill>
              <a:srgbClr val="8A4A52"/>
            </a:solidFill>
            <a:prstDash val="solid"/>
          </a:ln>
        </p:spPr>
        <p:txBody>
          <a:bodyPr/>
          <a:lstStyle/>
          <a:p>
            <a:endParaRPr lang="en-US"/>
          </a:p>
        </p:txBody>
      </p:sp>
      <p:sp>
        <p:nvSpPr>
          <p:cNvPr id="3" name="Shape 1"/>
          <p:cNvSpPr/>
          <p:nvPr/>
        </p:nvSpPr>
        <p:spPr>
          <a:xfrm>
            <a:off x="11164824" y="539496"/>
            <a:ext cx="82296" cy="82296"/>
          </a:xfrm>
          <a:prstGeom prst="ellipse">
            <a:avLst/>
          </a:prstGeom>
          <a:solidFill>
            <a:srgbClr val="B8871F"/>
          </a:solidFill>
          <a:ln w="12700">
            <a:solidFill>
              <a:srgbClr val="333333"/>
            </a:solidFill>
            <a:prstDash val="solid"/>
          </a:ln>
        </p:spPr>
        <p:txBody>
          <a:bodyPr/>
          <a:lstStyle/>
          <a:p>
            <a:endParaRPr lang="en-US"/>
          </a:p>
        </p:txBody>
      </p:sp>
      <p:sp>
        <p:nvSpPr>
          <p:cNvPr id="4" name="Shape 2"/>
          <p:cNvSpPr/>
          <p:nvPr/>
        </p:nvSpPr>
        <p:spPr>
          <a:xfrm>
            <a:off x="11292840" y="585216"/>
            <a:ext cx="64008" cy="64008"/>
          </a:xfrm>
          <a:prstGeom prst="ellipse">
            <a:avLst/>
          </a:prstGeom>
          <a:solidFill>
            <a:srgbClr val="B08A8E"/>
          </a:solidFill>
          <a:ln w="12700">
            <a:solidFill>
              <a:srgbClr val="333333"/>
            </a:solidFill>
            <a:prstDash val="solid"/>
          </a:ln>
        </p:spPr>
        <p:txBody>
          <a:bodyPr/>
          <a:lstStyle/>
          <a:p>
            <a:endParaRPr lang="en-US"/>
          </a:p>
        </p:txBody>
      </p:sp>
      <p:sp>
        <p:nvSpPr>
          <p:cNvPr id="5" name="Text 3"/>
          <p:cNvSpPr txBox="1"/>
          <p:nvPr/>
        </p:nvSpPr>
        <p:spPr>
          <a:xfrm>
            <a:off x="548640" y="384048"/>
            <a:ext cx="10332720" cy="566928"/>
          </a:xfrm>
          <a:prstGeom prst="rect">
            <a:avLst/>
          </a:prstGeom>
          <a:noFill/>
          <a:ln/>
        </p:spPr>
        <p:txBody>
          <a:bodyPr wrap="square" lIns="0" tIns="0" rIns="0" bIns="0" rtlCol="0" anchor="t"/>
          <a:lstStyle/>
          <a:p>
            <a:pPr marL="0" indent="0">
              <a:buNone/>
            </a:pPr>
            <a:r>
              <a:rPr lang="en-US" sz="2900" b="1" dirty="0">
                <a:solidFill>
                  <a:srgbClr val="241619"/>
                </a:solidFill>
                <a:latin typeface="Cambria" pitchFamily="34" charset="0"/>
                <a:ea typeface="Cambria" pitchFamily="34" charset="-122"/>
                <a:cs typeface="Cambria" pitchFamily="34" charset="-120"/>
              </a:rPr>
              <a:t>The starting point: CLAP as a classifier</a:t>
            </a:r>
            <a:endParaRPr lang="en-US" sz="2900" dirty="0"/>
          </a:p>
        </p:txBody>
      </p:sp>
      <p:sp>
        <p:nvSpPr>
          <p:cNvPr id="6" name="Text 4"/>
          <p:cNvSpPr txBox="1"/>
          <p:nvPr/>
        </p:nvSpPr>
        <p:spPr>
          <a:xfrm>
            <a:off x="548640" y="969264"/>
            <a:ext cx="10332720" cy="329184"/>
          </a:xfrm>
          <a:prstGeom prst="rect">
            <a:avLst/>
          </a:prstGeom>
          <a:noFill/>
          <a:ln/>
        </p:spPr>
        <p:txBody>
          <a:bodyPr wrap="square" lIns="0" tIns="0" rIns="0" bIns="0" rtlCol="0" anchor="ctr"/>
          <a:lstStyle/>
          <a:p>
            <a:pPr marL="0" indent="0">
              <a:buNone/>
            </a:pPr>
            <a:r>
              <a:rPr lang="en-US" sz="1350" i="1" dirty="0">
                <a:solidFill>
                  <a:srgbClr val="6E5156"/>
                </a:solidFill>
                <a:latin typeface="Calibri" pitchFamily="34" charset="0"/>
                <a:ea typeface="Calibri" pitchFamily="34" charset="-122"/>
                <a:cs typeface="Calibri" pitchFamily="34" charset="-120"/>
              </a:rPr>
              <a:t>And why it breaks under shift</a:t>
            </a:r>
            <a:endParaRPr lang="en-US" sz="1350" dirty="0"/>
          </a:p>
        </p:txBody>
      </p:sp>
      <p:sp>
        <p:nvSpPr>
          <p:cNvPr id="7" name="Text 5"/>
          <p:cNvSpPr txBox="1"/>
          <p:nvPr/>
        </p:nvSpPr>
        <p:spPr>
          <a:xfrm>
            <a:off x="9418320" y="6382512"/>
            <a:ext cx="2221992" cy="274320"/>
          </a:xfrm>
          <a:prstGeom prst="rect">
            <a:avLst/>
          </a:prstGeom>
          <a:noFill/>
          <a:ln/>
        </p:spPr>
        <p:txBody>
          <a:bodyPr wrap="square" lIns="0" tIns="0" rIns="0" bIns="0" rtlCol="0" anchor="ctr"/>
          <a:lstStyle/>
          <a:p>
            <a:pPr marL="0" indent="0" algn="r">
              <a:buNone/>
            </a:pPr>
            <a:r>
              <a:rPr lang="en-US" sz="900" dirty="0">
                <a:solidFill>
                  <a:srgbClr val="B59CA0"/>
                </a:solidFill>
                <a:latin typeface="Calibri" pitchFamily="34" charset="0"/>
                <a:ea typeface="Calibri" pitchFamily="34" charset="-122"/>
                <a:cs typeface="Calibri" pitchFamily="34" charset="-120"/>
              </a:rPr>
              <a:t>Emo-TTA · Shi et al. 2026  |  8</a:t>
            </a:r>
            <a:endParaRPr lang="en-US" sz="900" dirty="0"/>
          </a:p>
        </p:txBody>
      </p:sp>
      <p:sp>
        <p:nvSpPr>
          <p:cNvPr id="8" name="Shape 6"/>
          <p:cNvSpPr/>
          <p:nvPr/>
        </p:nvSpPr>
        <p:spPr>
          <a:xfrm>
            <a:off x="566928" y="1600200"/>
            <a:ext cx="5440680" cy="2240280"/>
          </a:xfrm>
          <a:prstGeom prst="roundRect">
            <a:avLst>
              <a:gd name="adj" fmla="val 2449"/>
            </a:avLst>
          </a:prstGeom>
          <a:solidFill>
            <a:srgbClr val="F7F1F2"/>
          </a:solidFill>
          <a:ln w="12700">
            <a:solidFill>
              <a:srgbClr val="EDE0E2"/>
            </a:solidFill>
            <a:prstDash val="solid"/>
          </a:ln>
        </p:spPr>
        <p:txBody>
          <a:bodyPr/>
          <a:lstStyle/>
          <a:p>
            <a:endParaRPr lang="en-US"/>
          </a:p>
        </p:txBody>
      </p:sp>
      <p:sp>
        <p:nvSpPr>
          <p:cNvPr id="9" name="Shape 7"/>
          <p:cNvSpPr/>
          <p:nvPr/>
        </p:nvSpPr>
        <p:spPr>
          <a:xfrm>
            <a:off x="786384" y="1892808"/>
            <a:ext cx="109728" cy="109728"/>
          </a:xfrm>
          <a:prstGeom prst="ellipse">
            <a:avLst/>
          </a:prstGeom>
          <a:solidFill>
            <a:srgbClr val="8A4A52"/>
          </a:solidFill>
          <a:ln w="12700">
            <a:solidFill>
              <a:srgbClr val="333333"/>
            </a:solidFill>
            <a:prstDash val="solid"/>
          </a:ln>
        </p:spPr>
        <p:txBody>
          <a:bodyPr/>
          <a:lstStyle/>
          <a:p>
            <a:endParaRPr lang="en-US"/>
          </a:p>
        </p:txBody>
      </p:sp>
      <p:sp>
        <p:nvSpPr>
          <p:cNvPr id="10" name="Text 8"/>
          <p:cNvSpPr txBox="1"/>
          <p:nvPr/>
        </p:nvSpPr>
        <p:spPr>
          <a:xfrm>
            <a:off x="987552" y="1764792"/>
            <a:ext cx="4800600" cy="365760"/>
          </a:xfrm>
          <a:prstGeom prst="rect">
            <a:avLst/>
          </a:prstGeom>
          <a:noFill/>
          <a:ln/>
        </p:spPr>
        <p:txBody>
          <a:bodyPr wrap="square" lIns="0" tIns="0" rIns="0" bIns="0" rtlCol="0" anchor="ctr"/>
          <a:lstStyle/>
          <a:p>
            <a:pPr marL="0" indent="0">
              <a:buNone/>
            </a:pPr>
            <a:r>
              <a:rPr lang="en-US" sz="1500" b="1" dirty="0">
                <a:solidFill>
                  <a:srgbClr val="241619"/>
                </a:solidFill>
                <a:latin typeface="Cambria" pitchFamily="34" charset="0"/>
                <a:ea typeface="Cambria" pitchFamily="34" charset="-122"/>
                <a:cs typeface="Cambria" pitchFamily="34" charset="-120"/>
              </a:rPr>
              <a:t>Zero-shot classification</a:t>
            </a:r>
            <a:endParaRPr lang="en-US" sz="1500" dirty="0"/>
          </a:p>
        </p:txBody>
      </p:sp>
      <p:sp>
        <p:nvSpPr>
          <p:cNvPr id="11" name="Text 9"/>
          <p:cNvSpPr txBox="1"/>
          <p:nvPr/>
        </p:nvSpPr>
        <p:spPr>
          <a:xfrm>
            <a:off x="822960" y="2203704"/>
            <a:ext cx="4928616" cy="1453896"/>
          </a:xfrm>
          <a:prstGeom prst="rect">
            <a:avLst/>
          </a:prstGeom>
          <a:noFill/>
          <a:ln/>
        </p:spPr>
        <p:txBody>
          <a:bodyPr wrap="square" lIns="0" tIns="0" rIns="0" bIns="0" rtlCol="0" anchor="t"/>
          <a:lstStyle/>
          <a:p>
            <a:pPr marL="0" indent="0">
              <a:lnSpc>
                <a:spcPct val="108000"/>
              </a:lnSpc>
              <a:buNone/>
            </a:pPr>
            <a:r>
              <a:rPr lang="en-US" sz="1260" dirty="0">
                <a:solidFill>
                  <a:srgbClr val="352428"/>
                </a:solidFill>
                <a:latin typeface="Calibri" pitchFamily="34" charset="0"/>
                <a:ea typeface="Calibri" pitchFamily="34" charset="-122"/>
                <a:cs typeface="Calibri" pitchFamily="34" charset="-120"/>
              </a:rPr>
              <a:t>CLAP embeds the audio with f(·) and each class prompt with g(·), then softmaxes the cosine similarities:</a:t>
            </a:r>
            <a:endParaRPr lang="en-US" sz="1260" dirty="0"/>
          </a:p>
          <a:p>
            <a:pPr marL="0" indent="0">
              <a:lnSpc>
                <a:spcPct val="108000"/>
              </a:lnSpc>
              <a:buNone/>
            </a:pPr>
            <a:endParaRPr lang="en-US" sz="1260" dirty="0"/>
          </a:p>
          <a:p>
            <a:pPr marL="0" indent="0">
              <a:lnSpc>
                <a:spcPct val="108000"/>
              </a:lnSpc>
              <a:buNone/>
            </a:pPr>
            <a:r>
              <a:rPr lang="en-US" sz="1260" dirty="0">
                <a:solidFill>
                  <a:srgbClr val="352428"/>
                </a:solidFill>
                <a:latin typeface="Calibri" pitchFamily="34" charset="0"/>
                <a:ea typeface="Calibri" pitchFamily="34" charset="-122"/>
                <a:cs typeface="Calibri" pitchFamily="34" charset="-120"/>
              </a:rPr>
              <a:t>P(y = i | a) ∝ exp( cos( f(a), g(t_i) ) )</a:t>
            </a:r>
            <a:endParaRPr lang="en-US" sz="1260" dirty="0"/>
          </a:p>
          <a:p>
            <a:pPr marL="0" indent="0">
              <a:lnSpc>
                <a:spcPct val="108000"/>
              </a:lnSpc>
              <a:buNone/>
            </a:pPr>
            <a:endParaRPr lang="en-US" sz="1260" dirty="0"/>
          </a:p>
          <a:p>
            <a:pPr marL="0" indent="0">
              <a:lnSpc>
                <a:spcPct val="108000"/>
              </a:lnSpc>
              <a:buNone/>
            </a:pPr>
            <a:r>
              <a:rPr lang="en-US" sz="1260" dirty="0">
                <a:solidFill>
                  <a:srgbClr val="352428"/>
                </a:solidFill>
                <a:latin typeface="Calibri" pitchFamily="34" charset="0"/>
                <a:ea typeface="Calibri" pitchFamily="34" charset="-122"/>
                <a:cs typeface="Calibri" pitchFamily="34" charset="-120"/>
              </a:rPr>
              <a:t>Prompts take the form "This is a [EMOTION] sound." The text encoder supplies the decision boundary.</a:t>
            </a:r>
            <a:endParaRPr lang="en-US" sz="1260" dirty="0"/>
          </a:p>
        </p:txBody>
      </p:sp>
      <p:sp>
        <p:nvSpPr>
          <p:cNvPr id="12" name="Shape 10"/>
          <p:cNvSpPr/>
          <p:nvPr/>
        </p:nvSpPr>
        <p:spPr>
          <a:xfrm>
            <a:off x="6190488" y="1600200"/>
            <a:ext cx="5440680" cy="2240280"/>
          </a:xfrm>
          <a:prstGeom prst="roundRect">
            <a:avLst>
              <a:gd name="adj" fmla="val 2449"/>
            </a:avLst>
          </a:prstGeom>
          <a:solidFill>
            <a:srgbClr val="F7F1F2"/>
          </a:solidFill>
          <a:ln w="12700">
            <a:solidFill>
              <a:srgbClr val="EDE0E2"/>
            </a:solidFill>
            <a:prstDash val="solid"/>
          </a:ln>
        </p:spPr>
        <p:txBody>
          <a:bodyPr/>
          <a:lstStyle/>
          <a:p>
            <a:endParaRPr lang="en-US"/>
          </a:p>
        </p:txBody>
      </p:sp>
      <p:sp>
        <p:nvSpPr>
          <p:cNvPr id="13" name="Shape 11"/>
          <p:cNvSpPr/>
          <p:nvPr/>
        </p:nvSpPr>
        <p:spPr>
          <a:xfrm>
            <a:off x="6409944" y="1892808"/>
            <a:ext cx="109728" cy="109728"/>
          </a:xfrm>
          <a:prstGeom prst="ellipse">
            <a:avLst/>
          </a:prstGeom>
          <a:solidFill>
            <a:srgbClr val="B8871F"/>
          </a:solidFill>
          <a:ln w="12700">
            <a:solidFill>
              <a:srgbClr val="333333"/>
            </a:solidFill>
            <a:prstDash val="solid"/>
          </a:ln>
        </p:spPr>
        <p:txBody>
          <a:bodyPr/>
          <a:lstStyle/>
          <a:p>
            <a:endParaRPr lang="en-US"/>
          </a:p>
        </p:txBody>
      </p:sp>
      <p:sp>
        <p:nvSpPr>
          <p:cNvPr id="14" name="Text 12"/>
          <p:cNvSpPr txBox="1"/>
          <p:nvPr/>
        </p:nvSpPr>
        <p:spPr>
          <a:xfrm>
            <a:off x="6611112" y="1764792"/>
            <a:ext cx="4800600" cy="365760"/>
          </a:xfrm>
          <a:prstGeom prst="rect">
            <a:avLst/>
          </a:prstGeom>
          <a:noFill/>
          <a:ln/>
        </p:spPr>
        <p:txBody>
          <a:bodyPr wrap="square" lIns="0" tIns="0" rIns="0" bIns="0" rtlCol="0" anchor="ctr"/>
          <a:lstStyle/>
          <a:p>
            <a:pPr marL="0" indent="0">
              <a:buNone/>
            </a:pPr>
            <a:r>
              <a:rPr lang="en-US" sz="1500" b="1" dirty="0">
                <a:solidFill>
                  <a:srgbClr val="241619"/>
                </a:solidFill>
                <a:latin typeface="Cambria" pitchFamily="34" charset="0"/>
                <a:ea typeface="Cambria" pitchFamily="34" charset="-122"/>
                <a:cs typeface="Cambria" pitchFamily="34" charset="-120"/>
              </a:rPr>
              <a:t>Why it degrades</a:t>
            </a:r>
            <a:endParaRPr lang="en-US" sz="1500" dirty="0"/>
          </a:p>
        </p:txBody>
      </p:sp>
      <p:sp>
        <p:nvSpPr>
          <p:cNvPr id="15" name="Text 13"/>
          <p:cNvSpPr txBox="1"/>
          <p:nvPr/>
        </p:nvSpPr>
        <p:spPr>
          <a:xfrm>
            <a:off x="6446520" y="2203704"/>
            <a:ext cx="4928616" cy="1453896"/>
          </a:xfrm>
          <a:prstGeom prst="rect">
            <a:avLst/>
          </a:prstGeom>
          <a:noFill/>
          <a:ln/>
        </p:spPr>
        <p:txBody>
          <a:bodyPr wrap="square" lIns="0" tIns="0" rIns="0" bIns="0" rtlCol="0" anchor="t"/>
          <a:lstStyle/>
          <a:p>
            <a:pPr marL="0" indent="0">
              <a:lnSpc>
                <a:spcPct val="108000"/>
              </a:lnSpc>
              <a:buNone/>
            </a:pPr>
            <a:r>
              <a:rPr lang="en-US" sz="1260" dirty="0">
                <a:solidFill>
                  <a:srgbClr val="352428"/>
                </a:solidFill>
                <a:latin typeface="Calibri" pitchFamily="34" charset="0"/>
                <a:ea typeface="Calibri" pitchFamily="34" charset="-122"/>
                <a:cs typeface="Calibri" pitchFamily="34" charset="-120"/>
              </a:rPr>
              <a:t>CLAP exhibits performance degradation under acoustic domain shifts — speaker, channel, noise.</a:t>
            </a:r>
            <a:endParaRPr lang="en-US" sz="1260" dirty="0"/>
          </a:p>
          <a:p>
            <a:pPr marL="0" indent="0">
              <a:lnSpc>
                <a:spcPct val="108000"/>
              </a:lnSpc>
              <a:buNone/>
            </a:pPr>
            <a:endParaRPr lang="en-US" sz="1260" dirty="0"/>
          </a:p>
          <a:p>
            <a:pPr marL="0" indent="0">
              <a:lnSpc>
                <a:spcPct val="108000"/>
              </a:lnSpc>
              <a:buNone/>
            </a:pPr>
            <a:r>
              <a:rPr lang="en-US" sz="1260" dirty="0">
                <a:solidFill>
                  <a:srgbClr val="352428"/>
                </a:solidFill>
                <a:latin typeface="Calibri" pitchFamily="34" charset="0"/>
                <a:ea typeface="Calibri" pitchFamily="34" charset="-122"/>
                <a:cs typeface="Calibri" pitchFamily="34" charset="-120"/>
              </a:rPr>
              <a:t>The text prototypes stay where they are; the audio embeddings move. The decision boundary is fixed while the data it has to separate has shifted.</a:t>
            </a:r>
            <a:endParaRPr lang="en-US" sz="1260" dirty="0"/>
          </a:p>
        </p:txBody>
      </p:sp>
      <p:sp>
        <p:nvSpPr>
          <p:cNvPr id="16" name="Shape 14"/>
          <p:cNvSpPr/>
          <p:nvPr/>
        </p:nvSpPr>
        <p:spPr>
          <a:xfrm>
            <a:off x="566928" y="4041648"/>
            <a:ext cx="11064240" cy="2011680"/>
          </a:xfrm>
          <a:prstGeom prst="roundRect">
            <a:avLst>
              <a:gd name="adj" fmla="val 2727"/>
            </a:avLst>
          </a:prstGeom>
          <a:solidFill>
            <a:srgbClr val="332226"/>
          </a:solidFill>
          <a:ln w="12700">
            <a:solidFill>
              <a:srgbClr val="332226"/>
            </a:solidFill>
            <a:prstDash val="solid"/>
          </a:ln>
        </p:spPr>
        <p:txBody>
          <a:bodyPr/>
          <a:lstStyle/>
          <a:p>
            <a:endParaRPr lang="en-US"/>
          </a:p>
        </p:txBody>
      </p:sp>
      <p:sp>
        <p:nvSpPr>
          <p:cNvPr id="17" name="Shape 15"/>
          <p:cNvSpPr/>
          <p:nvPr/>
        </p:nvSpPr>
        <p:spPr>
          <a:xfrm>
            <a:off x="786384" y="4334256"/>
            <a:ext cx="109728" cy="109728"/>
          </a:xfrm>
          <a:prstGeom prst="ellipse">
            <a:avLst/>
          </a:prstGeom>
          <a:solidFill>
            <a:srgbClr val="B8871F"/>
          </a:solidFill>
          <a:ln w="12700">
            <a:solidFill>
              <a:srgbClr val="333333"/>
            </a:solidFill>
            <a:prstDash val="solid"/>
          </a:ln>
        </p:spPr>
        <p:txBody>
          <a:bodyPr/>
          <a:lstStyle/>
          <a:p>
            <a:endParaRPr lang="en-US"/>
          </a:p>
        </p:txBody>
      </p:sp>
      <p:sp>
        <p:nvSpPr>
          <p:cNvPr id="18" name="Text 16"/>
          <p:cNvSpPr txBox="1"/>
          <p:nvPr/>
        </p:nvSpPr>
        <p:spPr>
          <a:xfrm>
            <a:off x="987552" y="4206240"/>
            <a:ext cx="10424160" cy="36576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The reframing that makes the method possible</a:t>
            </a:r>
            <a:endParaRPr lang="en-US" sz="1500" dirty="0"/>
          </a:p>
        </p:txBody>
      </p:sp>
      <p:sp>
        <p:nvSpPr>
          <p:cNvPr id="19" name="Text 17"/>
          <p:cNvSpPr txBox="1"/>
          <p:nvPr/>
        </p:nvSpPr>
        <p:spPr>
          <a:xfrm>
            <a:off x="822960" y="4645152"/>
            <a:ext cx="10552176" cy="1225296"/>
          </a:xfrm>
          <a:prstGeom prst="rect">
            <a:avLst/>
          </a:prstGeom>
          <a:noFill/>
          <a:ln/>
        </p:spPr>
        <p:txBody>
          <a:bodyPr wrap="square" lIns="0" tIns="0" rIns="0" bIns="0" rtlCol="0" anchor="t"/>
          <a:lstStyle/>
          <a:p>
            <a:pPr marL="0" indent="0">
              <a:lnSpc>
                <a:spcPct val="108000"/>
              </a:lnSpc>
              <a:buNone/>
            </a:pPr>
            <a:r>
              <a:rPr lang="en-US" sz="1300" dirty="0">
                <a:solidFill>
                  <a:srgbClr val="DFC4C7"/>
                </a:solidFill>
                <a:latin typeface="Calibri" pitchFamily="34" charset="0"/>
                <a:ea typeface="Calibri" pitchFamily="34" charset="-122"/>
                <a:cs typeface="Calibri" pitchFamily="34" charset="-120"/>
              </a:rPr>
              <a:t>A softmax over cosine similarity to class prototypes is already a generative classifier in disguise — assume class-conditional Gaussians with shared covariance and the posterior takes exactly this softmax form.</a:t>
            </a:r>
            <a:endParaRPr lang="en-US" sz="1300" dirty="0"/>
          </a:p>
          <a:p>
            <a:pPr marL="0" indent="0">
              <a:lnSpc>
                <a:spcPct val="108000"/>
              </a:lnSpc>
              <a:buNone/>
            </a:pPr>
            <a:endParaRPr lang="en-US" sz="1300" dirty="0"/>
          </a:p>
          <a:p>
            <a:pPr marL="0" indent="0">
              <a:lnSpc>
                <a:spcPct val="108000"/>
              </a:lnSpc>
              <a:buNone/>
            </a:pPr>
            <a:r>
              <a:rPr lang="en-US" sz="1300" dirty="0">
                <a:solidFill>
                  <a:srgbClr val="DFC4C7"/>
                </a:solidFill>
                <a:latin typeface="Calibri" pitchFamily="34" charset="0"/>
                <a:ea typeface="Calibri" pitchFamily="34" charset="-122"/>
                <a:cs typeface="Calibri" pitchFamily="34" charset="-120"/>
              </a:rPr>
              <a:t>So CLAP's text prototypes can be read as initial class means μ_y, with the covariance set to the identity. That reading is what lets you update them with a hundred-year-old algorithm.</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045952" y="457200"/>
            <a:ext cx="420624" cy="274320"/>
          </a:xfrm>
          <a:prstGeom prst="ellipse">
            <a:avLst/>
          </a:prstGeom>
          <a:ln w="16510">
            <a:solidFill>
              <a:srgbClr val="8A4A52"/>
            </a:solidFill>
            <a:prstDash val="solid"/>
          </a:ln>
        </p:spPr>
        <p:txBody>
          <a:bodyPr/>
          <a:lstStyle/>
          <a:p>
            <a:endParaRPr lang="en-US"/>
          </a:p>
        </p:txBody>
      </p:sp>
      <p:sp>
        <p:nvSpPr>
          <p:cNvPr id="3" name="Shape 1"/>
          <p:cNvSpPr/>
          <p:nvPr/>
        </p:nvSpPr>
        <p:spPr>
          <a:xfrm>
            <a:off x="11164824" y="539496"/>
            <a:ext cx="82296" cy="82296"/>
          </a:xfrm>
          <a:prstGeom prst="ellipse">
            <a:avLst/>
          </a:prstGeom>
          <a:solidFill>
            <a:srgbClr val="B8871F"/>
          </a:solidFill>
          <a:ln w="12700">
            <a:solidFill>
              <a:srgbClr val="333333"/>
            </a:solidFill>
            <a:prstDash val="solid"/>
          </a:ln>
        </p:spPr>
        <p:txBody>
          <a:bodyPr/>
          <a:lstStyle/>
          <a:p>
            <a:endParaRPr lang="en-US"/>
          </a:p>
        </p:txBody>
      </p:sp>
      <p:sp>
        <p:nvSpPr>
          <p:cNvPr id="4" name="Shape 2"/>
          <p:cNvSpPr/>
          <p:nvPr/>
        </p:nvSpPr>
        <p:spPr>
          <a:xfrm>
            <a:off x="11292840" y="585216"/>
            <a:ext cx="64008" cy="64008"/>
          </a:xfrm>
          <a:prstGeom prst="ellipse">
            <a:avLst/>
          </a:prstGeom>
          <a:solidFill>
            <a:srgbClr val="B08A8E"/>
          </a:solidFill>
          <a:ln w="12700">
            <a:solidFill>
              <a:srgbClr val="333333"/>
            </a:solidFill>
            <a:prstDash val="solid"/>
          </a:ln>
        </p:spPr>
        <p:txBody>
          <a:bodyPr/>
          <a:lstStyle/>
          <a:p>
            <a:endParaRPr lang="en-US"/>
          </a:p>
        </p:txBody>
      </p:sp>
      <p:sp>
        <p:nvSpPr>
          <p:cNvPr id="5" name="Text 3"/>
          <p:cNvSpPr txBox="1"/>
          <p:nvPr/>
        </p:nvSpPr>
        <p:spPr>
          <a:xfrm>
            <a:off x="548640" y="384048"/>
            <a:ext cx="10332720" cy="566928"/>
          </a:xfrm>
          <a:prstGeom prst="rect">
            <a:avLst/>
          </a:prstGeom>
          <a:noFill/>
          <a:ln/>
        </p:spPr>
        <p:txBody>
          <a:bodyPr wrap="square" lIns="0" tIns="0" rIns="0" bIns="0" rtlCol="0" anchor="t"/>
          <a:lstStyle/>
          <a:p>
            <a:pPr marL="0" indent="0">
              <a:buNone/>
            </a:pPr>
            <a:r>
              <a:rPr lang="en-US" sz="2900" b="1" dirty="0">
                <a:solidFill>
                  <a:srgbClr val="241619"/>
                </a:solidFill>
                <a:latin typeface="Cambria" pitchFamily="34" charset="0"/>
                <a:ea typeface="Cambria" pitchFamily="34" charset="-122"/>
                <a:cs typeface="Cambria" pitchFamily="34" charset="-120"/>
              </a:rPr>
              <a:t>Gaussian discriminant analysis</a:t>
            </a:r>
            <a:endParaRPr lang="en-US" sz="2900" dirty="0"/>
          </a:p>
        </p:txBody>
      </p:sp>
      <p:sp>
        <p:nvSpPr>
          <p:cNvPr id="6" name="Text 4"/>
          <p:cNvSpPr txBox="1"/>
          <p:nvPr/>
        </p:nvSpPr>
        <p:spPr>
          <a:xfrm>
            <a:off x="548640" y="969264"/>
            <a:ext cx="10332720" cy="329184"/>
          </a:xfrm>
          <a:prstGeom prst="rect">
            <a:avLst/>
          </a:prstGeom>
          <a:noFill/>
          <a:ln/>
        </p:spPr>
        <p:txBody>
          <a:bodyPr wrap="square" lIns="0" tIns="0" rIns="0" bIns="0" rtlCol="0" anchor="ctr"/>
          <a:lstStyle/>
          <a:p>
            <a:pPr marL="0" indent="0">
              <a:buNone/>
            </a:pPr>
            <a:r>
              <a:rPr lang="en-US" sz="1350" i="1" dirty="0">
                <a:solidFill>
                  <a:srgbClr val="6E5156"/>
                </a:solidFill>
                <a:latin typeface="Calibri" pitchFamily="34" charset="0"/>
                <a:ea typeface="Calibri" pitchFamily="34" charset="-122"/>
                <a:cs typeface="Calibri" pitchFamily="34" charset="-120"/>
              </a:rPr>
              <a:t>The model behind the update</a:t>
            </a:r>
            <a:endParaRPr lang="en-US" sz="1350" dirty="0"/>
          </a:p>
        </p:txBody>
      </p:sp>
      <p:sp>
        <p:nvSpPr>
          <p:cNvPr id="7" name="Text 5"/>
          <p:cNvSpPr txBox="1"/>
          <p:nvPr/>
        </p:nvSpPr>
        <p:spPr>
          <a:xfrm>
            <a:off x="9418320" y="6382512"/>
            <a:ext cx="2221992" cy="274320"/>
          </a:xfrm>
          <a:prstGeom prst="rect">
            <a:avLst/>
          </a:prstGeom>
          <a:noFill/>
          <a:ln/>
        </p:spPr>
        <p:txBody>
          <a:bodyPr wrap="square" lIns="0" tIns="0" rIns="0" bIns="0" rtlCol="0" anchor="ctr"/>
          <a:lstStyle/>
          <a:p>
            <a:pPr marL="0" indent="0" algn="r">
              <a:buNone/>
            </a:pPr>
            <a:r>
              <a:rPr lang="en-US" sz="900" dirty="0">
                <a:solidFill>
                  <a:srgbClr val="B59CA0"/>
                </a:solidFill>
                <a:latin typeface="Calibri" pitchFamily="34" charset="0"/>
                <a:ea typeface="Calibri" pitchFamily="34" charset="-122"/>
                <a:cs typeface="Calibri" pitchFamily="34" charset="-120"/>
              </a:rPr>
              <a:t>Emo-TTA · Shi et al. 2026  |  9</a:t>
            </a:r>
            <a:endParaRPr lang="en-US" sz="900" dirty="0"/>
          </a:p>
        </p:txBody>
      </p:sp>
      <p:sp>
        <p:nvSpPr>
          <p:cNvPr id="8" name="Shape 6"/>
          <p:cNvSpPr/>
          <p:nvPr/>
        </p:nvSpPr>
        <p:spPr>
          <a:xfrm>
            <a:off x="566928" y="1600200"/>
            <a:ext cx="5440680" cy="2240280"/>
          </a:xfrm>
          <a:prstGeom prst="roundRect">
            <a:avLst>
              <a:gd name="adj" fmla="val 2449"/>
            </a:avLst>
          </a:prstGeom>
          <a:solidFill>
            <a:srgbClr val="F7F1F2"/>
          </a:solidFill>
          <a:ln w="12700">
            <a:solidFill>
              <a:srgbClr val="EDE0E2"/>
            </a:solidFill>
            <a:prstDash val="solid"/>
          </a:ln>
        </p:spPr>
        <p:txBody>
          <a:bodyPr/>
          <a:lstStyle/>
          <a:p>
            <a:endParaRPr lang="en-US"/>
          </a:p>
        </p:txBody>
      </p:sp>
      <p:sp>
        <p:nvSpPr>
          <p:cNvPr id="9" name="Shape 7"/>
          <p:cNvSpPr/>
          <p:nvPr/>
        </p:nvSpPr>
        <p:spPr>
          <a:xfrm>
            <a:off x="786384" y="1892808"/>
            <a:ext cx="109728" cy="109728"/>
          </a:xfrm>
          <a:prstGeom prst="ellipse">
            <a:avLst/>
          </a:prstGeom>
          <a:solidFill>
            <a:srgbClr val="8A4A52"/>
          </a:solidFill>
          <a:ln w="12700">
            <a:solidFill>
              <a:srgbClr val="333333"/>
            </a:solidFill>
            <a:prstDash val="solid"/>
          </a:ln>
        </p:spPr>
        <p:txBody>
          <a:bodyPr/>
          <a:lstStyle/>
          <a:p>
            <a:endParaRPr lang="en-US"/>
          </a:p>
        </p:txBody>
      </p:sp>
      <p:sp>
        <p:nvSpPr>
          <p:cNvPr id="10" name="Text 8"/>
          <p:cNvSpPr txBox="1"/>
          <p:nvPr/>
        </p:nvSpPr>
        <p:spPr>
          <a:xfrm>
            <a:off x="987552" y="1764792"/>
            <a:ext cx="4800600" cy="365760"/>
          </a:xfrm>
          <a:prstGeom prst="rect">
            <a:avLst/>
          </a:prstGeom>
          <a:noFill/>
          <a:ln/>
        </p:spPr>
        <p:txBody>
          <a:bodyPr wrap="square" lIns="0" tIns="0" rIns="0" bIns="0" rtlCol="0" anchor="ctr"/>
          <a:lstStyle/>
          <a:p>
            <a:pPr marL="0" indent="0">
              <a:buNone/>
            </a:pPr>
            <a:r>
              <a:rPr lang="en-US" sz="1500" b="1" dirty="0">
                <a:solidFill>
                  <a:srgbClr val="241619"/>
                </a:solidFill>
                <a:latin typeface="Cambria" pitchFamily="34" charset="0"/>
                <a:ea typeface="Cambria" pitchFamily="34" charset="-122"/>
                <a:cs typeface="Cambria" pitchFamily="34" charset="-120"/>
              </a:rPr>
              <a:t>The assumption</a:t>
            </a:r>
            <a:endParaRPr lang="en-US" sz="1500" dirty="0"/>
          </a:p>
        </p:txBody>
      </p:sp>
      <p:sp>
        <p:nvSpPr>
          <p:cNvPr id="11" name="Text 9"/>
          <p:cNvSpPr txBox="1"/>
          <p:nvPr/>
        </p:nvSpPr>
        <p:spPr>
          <a:xfrm>
            <a:off x="822960" y="2203704"/>
            <a:ext cx="4928616" cy="1453896"/>
          </a:xfrm>
          <a:prstGeom prst="rect">
            <a:avLst/>
          </a:prstGeom>
          <a:noFill/>
          <a:ln/>
        </p:spPr>
        <p:txBody>
          <a:bodyPr wrap="square" lIns="0" tIns="0" rIns="0" bIns="0" rtlCol="0" anchor="t"/>
          <a:lstStyle/>
          <a:p>
            <a:pPr marL="0" indent="0">
              <a:lnSpc>
                <a:spcPct val="108000"/>
              </a:lnSpc>
              <a:buNone/>
            </a:pPr>
            <a:r>
              <a:rPr lang="en-US" sz="1280" dirty="0">
                <a:solidFill>
                  <a:srgbClr val="352428"/>
                </a:solidFill>
                <a:latin typeface="Calibri" pitchFamily="34" charset="0"/>
                <a:ea typeface="Calibri" pitchFamily="34" charset="-122"/>
                <a:cs typeface="Calibri" pitchFamily="34" charset="-120"/>
              </a:rPr>
              <a:t>CLAP audio embeddings for each emotion class follow a multivariate normal with class-specific means μ_y and a shared covariance Σ.</a:t>
            </a:r>
            <a:endParaRPr lang="en-US" sz="1280" dirty="0"/>
          </a:p>
          <a:p>
            <a:pPr marL="0" indent="0">
              <a:lnSpc>
                <a:spcPct val="108000"/>
              </a:lnSpc>
              <a:buNone/>
            </a:pPr>
            <a:endParaRPr lang="en-US" sz="1280" dirty="0"/>
          </a:p>
          <a:p>
            <a:pPr marL="0" indent="0">
              <a:lnSpc>
                <a:spcPct val="108000"/>
              </a:lnSpc>
              <a:buNone/>
            </a:pPr>
            <a:r>
              <a:rPr lang="en-US" sz="1280" dirty="0">
                <a:solidFill>
                  <a:srgbClr val="352428"/>
                </a:solidFill>
                <a:latin typeface="Calibri" pitchFamily="34" charset="0"/>
                <a:ea typeface="Calibri" pitchFamily="34" charset="-122"/>
                <a:cs typeface="Calibri" pitchFamily="34" charset="-120"/>
              </a:rPr>
              <a:t>p(F_t | y) = N(F_t | μ_y, Σ), where F_t is the embedding of the t-th utterance.</a:t>
            </a:r>
            <a:endParaRPr lang="en-US" sz="1280" dirty="0"/>
          </a:p>
        </p:txBody>
      </p:sp>
      <p:sp>
        <p:nvSpPr>
          <p:cNvPr id="12" name="Shape 10"/>
          <p:cNvSpPr/>
          <p:nvPr/>
        </p:nvSpPr>
        <p:spPr>
          <a:xfrm>
            <a:off x="6190488" y="1600200"/>
            <a:ext cx="5440680" cy="2240280"/>
          </a:xfrm>
          <a:prstGeom prst="roundRect">
            <a:avLst>
              <a:gd name="adj" fmla="val 2449"/>
            </a:avLst>
          </a:prstGeom>
          <a:solidFill>
            <a:srgbClr val="F7F1F2"/>
          </a:solidFill>
          <a:ln w="12700">
            <a:solidFill>
              <a:srgbClr val="EDE0E2"/>
            </a:solidFill>
            <a:prstDash val="solid"/>
          </a:ln>
        </p:spPr>
        <p:txBody>
          <a:bodyPr/>
          <a:lstStyle/>
          <a:p>
            <a:endParaRPr lang="en-US"/>
          </a:p>
        </p:txBody>
      </p:sp>
      <p:sp>
        <p:nvSpPr>
          <p:cNvPr id="13" name="Shape 11"/>
          <p:cNvSpPr/>
          <p:nvPr/>
        </p:nvSpPr>
        <p:spPr>
          <a:xfrm>
            <a:off x="6409944" y="1892808"/>
            <a:ext cx="109728" cy="109728"/>
          </a:xfrm>
          <a:prstGeom prst="ellipse">
            <a:avLst/>
          </a:prstGeom>
          <a:solidFill>
            <a:srgbClr val="B8871F"/>
          </a:solidFill>
          <a:ln w="12700">
            <a:solidFill>
              <a:srgbClr val="333333"/>
            </a:solidFill>
            <a:prstDash val="solid"/>
          </a:ln>
        </p:spPr>
        <p:txBody>
          <a:bodyPr/>
          <a:lstStyle/>
          <a:p>
            <a:endParaRPr lang="en-US"/>
          </a:p>
        </p:txBody>
      </p:sp>
      <p:sp>
        <p:nvSpPr>
          <p:cNvPr id="14" name="Text 12"/>
          <p:cNvSpPr txBox="1"/>
          <p:nvPr/>
        </p:nvSpPr>
        <p:spPr>
          <a:xfrm>
            <a:off x="6611112" y="1764792"/>
            <a:ext cx="4800600" cy="365760"/>
          </a:xfrm>
          <a:prstGeom prst="rect">
            <a:avLst/>
          </a:prstGeom>
          <a:noFill/>
          <a:ln/>
        </p:spPr>
        <p:txBody>
          <a:bodyPr wrap="square" lIns="0" tIns="0" rIns="0" bIns="0" rtlCol="0" anchor="ctr"/>
          <a:lstStyle/>
          <a:p>
            <a:pPr marL="0" indent="0">
              <a:buNone/>
            </a:pPr>
            <a:r>
              <a:rPr lang="en-US" sz="1500" b="1" dirty="0">
                <a:solidFill>
                  <a:srgbClr val="241619"/>
                </a:solidFill>
                <a:latin typeface="Cambria" pitchFamily="34" charset="0"/>
                <a:ea typeface="Cambria" pitchFamily="34" charset="-122"/>
                <a:cs typeface="Cambria" pitchFamily="34" charset="-120"/>
              </a:rPr>
              <a:t>The prediction</a:t>
            </a:r>
            <a:endParaRPr lang="en-US" sz="1500" dirty="0"/>
          </a:p>
        </p:txBody>
      </p:sp>
      <p:sp>
        <p:nvSpPr>
          <p:cNvPr id="15" name="Text 13"/>
          <p:cNvSpPr txBox="1"/>
          <p:nvPr/>
        </p:nvSpPr>
        <p:spPr>
          <a:xfrm>
            <a:off x="6446520" y="2203704"/>
            <a:ext cx="4928616" cy="1453896"/>
          </a:xfrm>
          <a:prstGeom prst="rect">
            <a:avLst/>
          </a:prstGeom>
          <a:noFill/>
          <a:ln/>
        </p:spPr>
        <p:txBody>
          <a:bodyPr wrap="square" lIns="0" tIns="0" rIns="0" bIns="0" rtlCol="0" anchor="t"/>
          <a:lstStyle/>
          <a:p>
            <a:pPr marL="0" indent="0">
              <a:lnSpc>
                <a:spcPct val="108000"/>
              </a:lnSpc>
              <a:buNone/>
            </a:pPr>
            <a:r>
              <a:rPr lang="en-US" sz="1280" dirty="0">
                <a:solidFill>
                  <a:srgbClr val="352428"/>
                </a:solidFill>
                <a:latin typeface="Calibri" pitchFamily="34" charset="0"/>
                <a:ea typeface="Calibri" pitchFamily="34" charset="-122"/>
                <a:cs typeface="Calibri" pitchFamily="34" charset="-120"/>
              </a:rPr>
              <a:t>By Bayes' rule, and taking logs:</a:t>
            </a:r>
            <a:endParaRPr lang="en-US" sz="1280" dirty="0"/>
          </a:p>
          <a:p>
            <a:pPr marL="0" indent="0">
              <a:lnSpc>
                <a:spcPct val="108000"/>
              </a:lnSpc>
              <a:buNone/>
            </a:pPr>
            <a:endParaRPr lang="en-US" sz="1280" dirty="0"/>
          </a:p>
          <a:p>
            <a:pPr marL="0" indent="0">
              <a:lnSpc>
                <a:spcPct val="108000"/>
              </a:lnSpc>
              <a:buNone/>
            </a:pPr>
            <a:r>
              <a:rPr lang="en-US" sz="1280" dirty="0">
                <a:solidFill>
                  <a:srgbClr val="352428"/>
                </a:solidFill>
                <a:latin typeface="Calibri" pitchFamily="34" charset="0"/>
                <a:ea typeface="Calibri" pitchFamily="34" charset="-122"/>
                <a:cs typeface="Calibri" pitchFamily="34" charset="-120"/>
              </a:rPr>
              <a:t>y* = argmax_y [ log P(y) − ½ (F_t − μ_y)ᵀ Σ⁻¹ (F_t − μ_y) ]</a:t>
            </a:r>
            <a:endParaRPr lang="en-US" sz="1280" dirty="0"/>
          </a:p>
          <a:p>
            <a:pPr marL="0" indent="0">
              <a:lnSpc>
                <a:spcPct val="108000"/>
              </a:lnSpc>
              <a:buNone/>
            </a:pPr>
            <a:endParaRPr lang="en-US" sz="1280" dirty="0"/>
          </a:p>
          <a:p>
            <a:pPr marL="0" indent="0">
              <a:lnSpc>
                <a:spcPct val="108000"/>
              </a:lnSpc>
              <a:buNone/>
            </a:pPr>
            <a:r>
              <a:rPr lang="en-US" sz="1280" dirty="0">
                <a:solidFill>
                  <a:srgbClr val="352428"/>
                </a:solidFill>
                <a:latin typeface="Calibri" pitchFamily="34" charset="0"/>
                <a:ea typeface="Calibri" pitchFamily="34" charset="-122"/>
                <a:cs typeface="Calibri" pitchFamily="34" charset="-120"/>
              </a:rPr>
              <a:t>A Mahalanobis distance adjusted for feature correlation and scale, plus a class prior.</a:t>
            </a:r>
            <a:endParaRPr lang="en-US" sz="1280" dirty="0"/>
          </a:p>
        </p:txBody>
      </p:sp>
      <p:sp>
        <p:nvSpPr>
          <p:cNvPr id="16" name="Text 14"/>
          <p:cNvSpPr txBox="1"/>
          <p:nvPr/>
        </p:nvSpPr>
        <p:spPr>
          <a:xfrm>
            <a:off x="566928" y="4041648"/>
            <a:ext cx="11064240" cy="2011680"/>
          </a:xfrm>
          <a:prstGeom prst="rect">
            <a:avLst/>
          </a:prstGeom>
          <a:noFill/>
          <a:ln/>
        </p:spPr>
        <p:txBody>
          <a:bodyPr wrap="square" lIns="0" tIns="0" rIns="0" bIns="0" rtlCol="0" anchor="t"/>
          <a:lstStyle/>
          <a:p>
            <a:pPr marL="342900" indent="-342900">
              <a:spcAft>
                <a:spcPts val="800"/>
              </a:spcAft>
              <a:buSzPct val="100000"/>
              <a:buChar char="●"/>
            </a:pPr>
            <a:r>
              <a:rPr lang="en-US" sz="1260" dirty="0">
                <a:solidFill>
                  <a:srgbClr val="352428"/>
                </a:solidFill>
                <a:latin typeface="Calibri" pitchFamily="34" charset="0"/>
                <a:ea typeface="Calibri" pitchFamily="34" charset="-122"/>
                <a:cs typeface="Calibri" pitchFamily="34" charset="-120"/>
              </a:rPr>
              <a:t>The shared-covariance assumption is what makes the decision boundaries linear and keeps the parameter count manageable.</a:t>
            </a:r>
            <a:endParaRPr lang="en-US" sz="1260" dirty="0"/>
          </a:p>
          <a:p>
            <a:pPr marL="342900" indent="-342900">
              <a:spcAft>
                <a:spcPts val="800"/>
              </a:spcAft>
              <a:buSzPct val="100000"/>
              <a:buChar char="●"/>
            </a:pPr>
            <a:r>
              <a:rPr lang="en-US" sz="1260" dirty="0">
                <a:solidFill>
                  <a:srgbClr val="352428"/>
                </a:solidFill>
                <a:latin typeface="Calibri" pitchFamily="34" charset="0"/>
                <a:ea typeface="Calibri" pitchFamily="34" charset="-122"/>
                <a:cs typeface="Calibri" pitchFamily="34" charset="-120"/>
              </a:rPr>
              <a:t>Σ is a d × d matrix where d is CLAP's embedding dimension — so this is not a trivial object to estimate from a few thousand unlabelled utterances.</a:t>
            </a:r>
            <a:endParaRPr lang="en-US" sz="1260" dirty="0"/>
          </a:p>
          <a:p>
            <a:pPr marL="342900" indent="-342900">
              <a:spcAft>
                <a:spcPts val="800"/>
              </a:spcAft>
              <a:buSzPct val="100000"/>
              <a:buChar char="●"/>
            </a:pPr>
            <a:r>
              <a:rPr lang="en-US" sz="1260" dirty="0">
                <a:solidFill>
                  <a:srgbClr val="352428"/>
                </a:solidFill>
                <a:latin typeface="Calibri" pitchFamily="34" charset="0"/>
                <a:ea typeface="Calibri" pitchFamily="34" charset="-122"/>
                <a:cs typeface="Calibri" pitchFamily="34" charset="-120"/>
              </a:rPr>
              <a:t>The class prior P(y) is also estimated, which means the method adapts to the target corpus's label distribution as well as its acoustics.</a:t>
            </a:r>
            <a:endParaRPr lang="en-US" sz="1260" dirty="0"/>
          </a:p>
          <a:p>
            <a:pPr marL="342900" indent="-342900">
              <a:spcAft>
                <a:spcPts val="800"/>
              </a:spcAft>
              <a:buSzPct val="100000"/>
              <a:buChar char="●"/>
            </a:pPr>
            <a:r>
              <a:rPr lang="en-US" sz="1260" dirty="0">
                <a:solidFill>
                  <a:srgbClr val="352428"/>
                </a:solidFill>
                <a:latin typeface="Calibri" pitchFamily="34" charset="0"/>
                <a:ea typeface="Calibri" pitchFamily="34" charset="-122"/>
                <a:cs typeface="Calibri" pitchFamily="34" charset="-120"/>
              </a:rPr>
              <a:t>That last point matters here more than in vision: emotion corpora have wildly different class balances, as every corpus session established.</a:t>
            </a:r>
            <a:endParaRPr lang="en-US" sz="126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045952" y="457200"/>
            <a:ext cx="420624" cy="274320"/>
          </a:xfrm>
          <a:prstGeom prst="ellipse">
            <a:avLst/>
          </a:prstGeom>
          <a:ln w="16510">
            <a:solidFill>
              <a:srgbClr val="8A4A52"/>
            </a:solidFill>
            <a:prstDash val="solid"/>
          </a:ln>
        </p:spPr>
        <p:txBody>
          <a:bodyPr/>
          <a:lstStyle/>
          <a:p>
            <a:endParaRPr lang="en-US"/>
          </a:p>
        </p:txBody>
      </p:sp>
      <p:sp>
        <p:nvSpPr>
          <p:cNvPr id="3" name="Shape 1"/>
          <p:cNvSpPr/>
          <p:nvPr/>
        </p:nvSpPr>
        <p:spPr>
          <a:xfrm>
            <a:off x="11164824" y="539496"/>
            <a:ext cx="82296" cy="82296"/>
          </a:xfrm>
          <a:prstGeom prst="ellipse">
            <a:avLst/>
          </a:prstGeom>
          <a:solidFill>
            <a:srgbClr val="B8871F"/>
          </a:solidFill>
          <a:ln w="12700">
            <a:solidFill>
              <a:srgbClr val="333333"/>
            </a:solidFill>
            <a:prstDash val="solid"/>
          </a:ln>
        </p:spPr>
        <p:txBody>
          <a:bodyPr/>
          <a:lstStyle/>
          <a:p>
            <a:endParaRPr lang="en-US"/>
          </a:p>
        </p:txBody>
      </p:sp>
      <p:sp>
        <p:nvSpPr>
          <p:cNvPr id="4" name="Shape 2"/>
          <p:cNvSpPr/>
          <p:nvPr/>
        </p:nvSpPr>
        <p:spPr>
          <a:xfrm>
            <a:off x="11292840" y="585216"/>
            <a:ext cx="64008" cy="64008"/>
          </a:xfrm>
          <a:prstGeom prst="ellipse">
            <a:avLst/>
          </a:prstGeom>
          <a:solidFill>
            <a:srgbClr val="B08A8E"/>
          </a:solidFill>
          <a:ln w="12700">
            <a:solidFill>
              <a:srgbClr val="333333"/>
            </a:solidFill>
            <a:prstDash val="solid"/>
          </a:ln>
        </p:spPr>
        <p:txBody>
          <a:bodyPr/>
          <a:lstStyle/>
          <a:p>
            <a:endParaRPr lang="en-US"/>
          </a:p>
        </p:txBody>
      </p:sp>
      <p:sp>
        <p:nvSpPr>
          <p:cNvPr id="5" name="Text 3"/>
          <p:cNvSpPr txBox="1"/>
          <p:nvPr/>
        </p:nvSpPr>
        <p:spPr>
          <a:xfrm>
            <a:off x="548640" y="384048"/>
            <a:ext cx="10332720" cy="566928"/>
          </a:xfrm>
          <a:prstGeom prst="rect">
            <a:avLst/>
          </a:prstGeom>
          <a:noFill/>
          <a:ln/>
        </p:spPr>
        <p:txBody>
          <a:bodyPr wrap="square" lIns="0" tIns="0" rIns="0" bIns="0" rtlCol="0" anchor="t"/>
          <a:lstStyle/>
          <a:p>
            <a:pPr marL="0" indent="0">
              <a:buNone/>
            </a:pPr>
            <a:r>
              <a:rPr lang="en-US" sz="2900" b="1" dirty="0">
                <a:solidFill>
                  <a:srgbClr val="241619"/>
                </a:solidFill>
                <a:latin typeface="Cambria" pitchFamily="34" charset="0"/>
                <a:ea typeface="Cambria" pitchFamily="34" charset="-122"/>
                <a:cs typeface="Cambria" pitchFamily="34" charset="-120"/>
              </a:rPr>
              <a:t>The EM loop</a:t>
            </a:r>
            <a:endParaRPr lang="en-US" sz="2900" dirty="0"/>
          </a:p>
        </p:txBody>
      </p:sp>
      <p:sp>
        <p:nvSpPr>
          <p:cNvPr id="6" name="Text 4"/>
          <p:cNvSpPr txBox="1"/>
          <p:nvPr/>
        </p:nvSpPr>
        <p:spPr>
          <a:xfrm>
            <a:off x="548640" y="969264"/>
            <a:ext cx="10332720" cy="329184"/>
          </a:xfrm>
          <a:prstGeom prst="rect">
            <a:avLst/>
          </a:prstGeom>
          <a:noFill/>
          <a:ln/>
        </p:spPr>
        <p:txBody>
          <a:bodyPr wrap="square" lIns="0" tIns="0" rIns="0" bIns="0" rtlCol="0" anchor="ctr"/>
          <a:lstStyle/>
          <a:p>
            <a:pPr marL="0" indent="0">
              <a:buNone/>
            </a:pPr>
            <a:r>
              <a:rPr lang="en-US" sz="1350" i="1" dirty="0">
                <a:solidFill>
                  <a:srgbClr val="6E5156"/>
                </a:solidFill>
                <a:latin typeface="Calibri" pitchFamily="34" charset="0"/>
                <a:ea typeface="Calibri" pitchFamily="34" charset="-122"/>
                <a:cs typeface="Calibri" pitchFamily="34" charset="-120"/>
              </a:rPr>
              <a:t>Initialise from text, then update from audio</a:t>
            </a:r>
            <a:endParaRPr lang="en-US" sz="1350" dirty="0"/>
          </a:p>
        </p:txBody>
      </p:sp>
      <p:sp>
        <p:nvSpPr>
          <p:cNvPr id="7" name="Text 5"/>
          <p:cNvSpPr txBox="1"/>
          <p:nvPr/>
        </p:nvSpPr>
        <p:spPr>
          <a:xfrm>
            <a:off x="9418320" y="6382512"/>
            <a:ext cx="2221992" cy="274320"/>
          </a:xfrm>
          <a:prstGeom prst="rect">
            <a:avLst/>
          </a:prstGeom>
          <a:noFill/>
          <a:ln/>
        </p:spPr>
        <p:txBody>
          <a:bodyPr wrap="square" lIns="0" tIns="0" rIns="0" bIns="0" rtlCol="0" anchor="ctr"/>
          <a:lstStyle/>
          <a:p>
            <a:pPr marL="0" indent="0" algn="r">
              <a:buNone/>
            </a:pPr>
            <a:r>
              <a:rPr lang="en-US" sz="900" dirty="0">
                <a:solidFill>
                  <a:srgbClr val="B59CA0"/>
                </a:solidFill>
                <a:latin typeface="Calibri" pitchFamily="34" charset="0"/>
                <a:ea typeface="Calibri" pitchFamily="34" charset="-122"/>
                <a:cs typeface="Calibri" pitchFamily="34" charset="-120"/>
              </a:rPr>
              <a:t>Emo-TTA · Shi et al. 2026  |  10</a:t>
            </a:r>
            <a:endParaRPr lang="en-US" sz="900" dirty="0"/>
          </a:p>
        </p:txBody>
      </p:sp>
      <p:sp>
        <p:nvSpPr>
          <p:cNvPr id="8" name="Shape 6"/>
          <p:cNvSpPr/>
          <p:nvPr/>
        </p:nvSpPr>
        <p:spPr>
          <a:xfrm>
            <a:off x="566928" y="1600200"/>
            <a:ext cx="3054096" cy="1828800"/>
          </a:xfrm>
          <a:prstGeom prst="roundRect">
            <a:avLst>
              <a:gd name="adj" fmla="val 3000"/>
            </a:avLst>
          </a:prstGeom>
          <a:solidFill>
            <a:srgbClr val="F7F1F2"/>
          </a:solidFill>
          <a:ln w="19050">
            <a:solidFill>
              <a:srgbClr val="8A4A52"/>
            </a:solidFill>
            <a:prstDash val="solid"/>
          </a:ln>
        </p:spPr>
        <p:txBody>
          <a:bodyPr/>
          <a:lstStyle/>
          <a:p>
            <a:endParaRPr lang="en-US"/>
          </a:p>
        </p:txBody>
      </p:sp>
      <p:sp>
        <p:nvSpPr>
          <p:cNvPr id="9" name="Text 7"/>
          <p:cNvSpPr txBox="1"/>
          <p:nvPr/>
        </p:nvSpPr>
        <p:spPr>
          <a:xfrm>
            <a:off x="786384" y="1810512"/>
            <a:ext cx="2651760" cy="329184"/>
          </a:xfrm>
          <a:prstGeom prst="rect">
            <a:avLst/>
          </a:prstGeom>
          <a:noFill/>
          <a:ln/>
        </p:spPr>
        <p:txBody>
          <a:bodyPr wrap="square" lIns="0" tIns="0" rIns="0" bIns="0" rtlCol="0" anchor="ctr"/>
          <a:lstStyle/>
          <a:p>
            <a:pPr marL="0" indent="0">
              <a:buNone/>
            </a:pPr>
            <a:r>
              <a:rPr lang="en-US" sz="1600" b="1" dirty="0">
                <a:solidFill>
                  <a:srgbClr val="8A4A52"/>
                </a:solidFill>
                <a:latin typeface="Cambria" pitchFamily="34" charset="0"/>
                <a:ea typeface="Cambria" pitchFamily="34" charset="-122"/>
                <a:cs typeface="Cambria" pitchFamily="34" charset="-120"/>
              </a:rPr>
              <a:t>Initialise</a:t>
            </a:r>
            <a:endParaRPr lang="en-US" sz="1600" dirty="0"/>
          </a:p>
        </p:txBody>
      </p:sp>
      <p:sp>
        <p:nvSpPr>
          <p:cNvPr id="10" name="Text 8"/>
          <p:cNvSpPr txBox="1"/>
          <p:nvPr/>
        </p:nvSpPr>
        <p:spPr>
          <a:xfrm>
            <a:off x="786384" y="2212848"/>
            <a:ext cx="2651760" cy="1005840"/>
          </a:xfrm>
          <a:prstGeom prst="rect">
            <a:avLst/>
          </a:prstGeom>
          <a:noFill/>
          <a:ln/>
        </p:spPr>
        <p:txBody>
          <a:bodyPr wrap="square" lIns="0" tIns="0" rIns="0" bIns="0" rtlCol="0" anchor="ctr"/>
          <a:lstStyle/>
          <a:p>
            <a:pPr marL="0" indent="0">
              <a:buNone/>
            </a:pPr>
            <a:r>
              <a:rPr lang="en-US" sz="1220" dirty="0">
                <a:solidFill>
                  <a:srgbClr val="352428"/>
                </a:solidFill>
                <a:latin typeface="Calibri" pitchFamily="34" charset="0"/>
                <a:ea typeface="Calibri" pitchFamily="34" charset="-122"/>
                <a:cs typeface="Calibri" pitchFamily="34" charset="-120"/>
              </a:rPr>
              <a:t>μ_y ← g(t_y), the CLAP text</a:t>
            </a:r>
            <a:endParaRPr lang="en-US" sz="1220" dirty="0"/>
          </a:p>
          <a:p>
            <a:pPr marL="0" indent="0">
              <a:buNone/>
            </a:pPr>
            <a:r>
              <a:rPr lang="en-US" sz="1220" dirty="0">
                <a:solidFill>
                  <a:srgbClr val="352428"/>
                </a:solidFill>
                <a:latin typeface="Calibri" pitchFamily="34" charset="0"/>
                <a:ea typeface="Calibri" pitchFamily="34" charset="-122"/>
                <a:cs typeface="Calibri" pitchFamily="34" charset="-120"/>
              </a:rPr>
              <a:t>prototype for each class.</a:t>
            </a:r>
            <a:endParaRPr lang="en-US" sz="1220" dirty="0"/>
          </a:p>
          <a:p>
            <a:pPr marL="0" indent="0">
              <a:buNone/>
            </a:pPr>
            <a:r>
              <a:rPr lang="en-US" sz="1220" dirty="0">
                <a:solidFill>
                  <a:srgbClr val="352428"/>
                </a:solidFill>
                <a:latin typeface="Calibri" pitchFamily="34" charset="0"/>
                <a:ea typeface="Calibri" pitchFamily="34" charset="-122"/>
                <a:cs typeface="Calibri" pitchFamily="34" charset="-120"/>
              </a:rPr>
              <a:t>Σ ← I. Priors set simply.</a:t>
            </a:r>
            <a:endParaRPr lang="en-US" sz="1220" dirty="0"/>
          </a:p>
        </p:txBody>
      </p:sp>
      <p:sp>
        <p:nvSpPr>
          <p:cNvPr id="11" name="Shape 9"/>
          <p:cNvSpPr/>
          <p:nvPr/>
        </p:nvSpPr>
        <p:spPr>
          <a:xfrm>
            <a:off x="4572000" y="1600200"/>
            <a:ext cx="3054096" cy="1828800"/>
          </a:xfrm>
          <a:prstGeom prst="roundRect">
            <a:avLst>
              <a:gd name="adj" fmla="val 3000"/>
            </a:avLst>
          </a:prstGeom>
          <a:solidFill>
            <a:srgbClr val="FBF4E4"/>
          </a:solidFill>
          <a:ln w="19050">
            <a:solidFill>
              <a:srgbClr val="B8871F"/>
            </a:solidFill>
            <a:prstDash val="solid"/>
          </a:ln>
        </p:spPr>
        <p:txBody>
          <a:bodyPr/>
          <a:lstStyle/>
          <a:p>
            <a:endParaRPr lang="en-US"/>
          </a:p>
        </p:txBody>
      </p:sp>
      <p:sp>
        <p:nvSpPr>
          <p:cNvPr id="12" name="Text 10"/>
          <p:cNvSpPr txBox="1"/>
          <p:nvPr/>
        </p:nvSpPr>
        <p:spPr>
          <a:xfrm>
            <a:off x="4791456" y="1810512"/>
            <a:ext cx="2651760" cy="329184"/>
          </a:xfrm>
          <a:prstGeom prst="rect">
            <a:avLst/>
          </a:prstGeom>
          <a:noFill/>
          <a:ln/>
        </p:spPr>
        <p:txBody>
          <a:bodyPr wrap="square" lIns="0" tIns="0" rIns="0" bIns="0" rtlCol="0" anchor="ctr"/>
          <a:lstStyle/>
          <a:p>
            <a:pPr marL="0" indent="0">
              <a:buNone/>
            </a:pPr>
            <a:r>
              <a:rPr lang="en-US" sz="1600" b="1" dirty="0">
                <a:solidFill>
                  <a:srgbClr val="8A6618"/>
                </a:solidFill>
                <a:latin typeface="Cambria" pitchFamily="34" charset="0"/>
                <a:ea typeface="Cambria" pitchFamily="34" charset="-122"/>
                <a:cs typeface="Cambria" pitchFamily="34" charset="-120"/>
              </a:rPr>
              <a:t>E-step</a:t>
            </a:r>
            <a:endParaRPr lang="en-US" sz="1600" dirty="0"/>
          </a:p>
        </p:txBody>
      </p:sp>
      <p:sp>
        <p:nvSpPr>
          <p:cNvPr id="13" name="Text 11"/>
          <p:cNvSpPr txBox="1"/>
          <p:nvPr/>
        </p:nvSpPr>
        <p:spPr>
          <a:xfrm>
            <a:off x="4791456" y="2212848"/>
            <a:ext cx="2651760" cy="1005840"/>
          </a:xfrm>
          <a:prstGeom prst="rect">
            <a:avLst/>
          </a:prstGeom>
          <a:noFill/>
          <a:ln/>
        </p:spPr>
        <p:txBody>
          <a:bodyPr wrap="square" lIns="0" tIns="0" rIns="0" bIns="0" rtlCol="0" anchor="ctr"/>
          <a:lstStyle/>
          <a:p>
            <a:pPr marL="0" indent="0">
              <a:buNone/>
            </a:pPr>
            <a:r>
              <a:rPr lang="en-US" sz="1220" dirty="0">
                <a:solidFill>
                  <a:srgbClr val="352428"/>
                </a:solidFill>
                <a:latin typeface="Calibri" pitchFamily="34" charset="0"/>
                <a:ea typeface="Calibri" pitchFamily="34" charset="-122"/>
                <a:cs typeface="Calibri" pitchFamily="34" charset="-120"/>
              </a:rPr>
              <a:t>Compute soft responsibility</a:t>
            </a:r>
            <a:endParaRPr lang="en-US" sz="1220" dirty="0"/>
          </a:p>
          <a:p>
            <a:pPr marL="0" indent="0">
              <a:buNone/>
            </a:pPr>
            <a:r>
              <a:rPr lang="en-US" sz="1220" dirty="0">
                <a:solidFill>
                  <a:srgbClr val="352428"/>
                </a:solidFill>
                <a:latin typeface="Calibri" pitchFamily="34" charset="0"/>
                <a:ea typeface="Calibri" pitchFamily="34" charset="-122"/>
                <a:cs typeface="Calibri" pitchFamily="34" charset="-120"/>
              </a:rPr>
              <a:t>γ_{y,t} ∝ π_y N(F_t | μ_y, Σ)</a:t>
            </a:r>
            <a:endParaRPr lang="en-US" sz="1220" dirty="0"/>
          </a:p>
          <a:p>
            <a:pPr marL="0" indent="0">
              <a:buNone/>
            </a:pPr>
            <a:r>
              <a:rPr lang="en-US" sz="1220" dirty="0">
                <a:solidFill>
                  <a:srgbClr val="352428"/>
                </a:solidFill>
                <a:latin typeface="Calibri" pitchFamily="34" charset="0"/>
                <a:ea typeface="Calibri" pitchFamily="34" charset="-122"/>
                <a:cs typeface="Calibri" pitchFamily="34" charset="-120"/>
              </a:rPr>
              <a:t>for the incoming utterance.</a:t>
            </a:r>
            <a:endParaRPr lang="en-US" sz="1220" dirty="0"/>
          </a:p>
        </p:txBody>
      </p:sp>
      <p:sp>
        <p:nvSpPr>
          <p:cNvPr id="14" name="Shape 12"/>
          <p:cNvSpPr/>
          <p:nvPr/>
        </p:nvSpPr>
        <p:spPr>
          <a:xfrm>
            <a:off x="8577072" y="1600200"/>
            <a:ext cx="3054096" cy="1828800"/>
          </a:xfrm>
          <a:prstGeom prst="roundRect">
            <a:avLst>
              <a:gd name="adj" fmla="val 3000"/>
            </a:avLst>
          </a:prstGeom>
          <a:solidFill>
            <a:srgbClr val="F7F1F2"/>
          </a:solidFill>
          <a:ln w="19050">
            <a:solidFill>
              <a:srgbClr val="8A4A52"/>
            </a:solidFill>
            <a:prstDash val="solid"/>
          </a:ln>
        </p:spPr>
        <p:txBody>
          <a:bodyPr/>
          <a:lstStyle/>
          <a:p>
            <a:endParaRPr lang="en-US"/>
          </a:p>
        </p:txBody>
      </p:sp>
      <p:sp>
        <p:nvSpPr>
          <p:cNvPr id="15" name="Text 13"/>
          <p:cNvSpPr txBox="1"/>
          <p:nvPr/>
        </p:nvSpPr>
        <p:spPr>
          <a:xfrm>
            <a:off x="8796528" y="1810512"/>
            <a:ext cx="2651760" cy="329184"/>
          </a:xfrm>
          <a:prstGeom prst="rect">
            <a:avLst/>
          </a:prstGeom>
          <a:noFill/>
          <a:ln/>
        </p:spPr>
        <p:txBody>
          <a:bodyPr wrap="square" lIns="0" tIns="0" rIns="0" bIns="0" rtlCol="0" anchor="ctr"/>
          <a:lstStyle/>
          <a:p>
            <a:pPr marL="0" indent="0">
              <a:buNone/>
            </a:pPr>
            <a:r>
              <a:rPr lang="en-US" sz="1600" b="1" dirty="0">
                <a:solidFill>
                  <a:srgbClr val="8A4A52"/>
                </a:solidFill>
                <a:latin typeface="Cambria" pitchFamily="34" charset="0"/>
                <a:ea typeface="Cambria" pitchFamily="34" charset="-122"/>
                <a:cs typeface="Cambria" pitchFamily="34" charset="-120"/>
              </a:rPr>
              <a:t>M-step</a:t>
            </a:r>
            <a:endParaRPr lang="en-US" sz="1600" dirty="0"/>
          </a:p>
        </p:txBody>
      </p:sp>
      <p:sp>
        <p:nvSpPr>
          <p:cNvPr id="16" name="Text 14"/>
          <p:cNvSpPr txBox="1"/>
          <p:nvPr/>
        </p:nvSpPr>
        <p:spPr>
          <a:xfrm>
            <a:off x="8796528" y="2212848"/>
            <a:ext cx="2651760" cy="1005840"/>
          </a:xfrm>
          <a:prstGeom prst="rect">
            <a:avLst/>
          </a:prstGeom>
          <a:noFill/>
          <a:ln/>
        </p:spPr>
        <p:txBody>
          <a:bodyPr wrap="square" lIns="0" tIns="0" rIns="0" bIns="0" rtlCol="0" anchor="ctr"/>
          <a:lstStyle/>
          <a:p>
            <a:pPr marL="0" indent="0">
              <a:buNone/>
            </a:pPr>
            <a:r>
              <a:rPr lang="en-US" sz="1220" dirty="0">
                <a:solidFill>
                  <a:srgbClr val="352428"/>
                </a:solidFill>
                <a:latin typeface="Calibri" pitchFamily="34" charset="0"/>
                <a:ea typeface="Calibri" pitchFamily="34" charset="-122"/>
                <a:cs typeface="Calibri" pitchFamily="34" charset="-120"/>
              </a:rPr>
              <a:t>Incrementally update π_y, μ_y</a:t>
            </a:r>
            <a:endParaRPr lang="en-US" sz="1220" dirty="0"/>
          </a:p>
          <a:p>
            <a:pPr marL="0" indent="0">
              <a:buNone/>
            </a:pPr>
            <a:r>
              <a:rPr lang="en-US" sz="1220" dirty="0">
                <a:solidFill>
                  <a:srgbClr val="352428"/>
                </a:solidFill>
                <a:latin typeface="Calibri" pitchFamily="34" charset="0"/>
                <a:ea typeface="Calibri" pitchFamily="34" charset="-122"/>
                <a:cs typeface="Calibri" pitchFamily="34" charset="-120"/>
              </a:rPr>
              <a:t>and Σ from γ_{y,t} and F_t.</a:t>
            </a:r>
            <a:endParaRPr lang="en-US" sz="1220" dirty="0"/>
          </a:p>
          <a:p>
            <a:pPr marL="0" indent="0">
              <a:buNone/>
            </a:pPr>
            <a:r>
              <a:rPr lang="en-US" sz="1220" dirty="0">
                <a:solidFill>
                  <a:srgbClr val="352428"/>
                </a:solidFill>
                <a:latin typeface="Calibri" pitchFamily="34" charset="0"/>
                <a:ea typeface="Calibri" pitchFamily="34" charset="-122"/>
                <a:cs typeface="Calibri" pitchFamily="34" charset="-120"/>
              </a:rPr>
              <a:t>No gradients, closed form.</a:t>
            </a:r>
            <a:endParaRPr lang="en-US" sz="1220" dirty="0"/>
          </a:p>
        </p:txBody>
      </p:sp>
      <p:sp>
        <p:nvSpPr>
          <p:cNvPr id="17" name="Shape 15"/>
          <p:cNvSpPr/>
          <p:nvPr/>
        </p:nvSpPr>
        <p:spPr>
          <a:xfrm>
            <a:off x="3639312" y="2514600"/>
            <a:ext cx="859536" cy="0"/>
          </a:xfrm>
          <a:prstGeom prst="line">
            <a:avLst/>
          </a:prstGeom>
          <a:noFill/>
          <a:ln w="28575">
            <a:solidFill>
              <a:srgbClr val="C9A8AC"/>
            </a:solidFill>
            <a:prstDash val="solid"/>
            <a:tailEnd type="triangle"/>
          </a:ln>
        </p:spPr>
        <p:txBody>
          <a:bodyPr/>
          <a:lstStyle/>
          <a:p>
            <a:endParaRPr lang="en-US"/>
          </a:p>
        </p:txBody>
      </p:sp>
      <p:sp>
        <p:nvSpPr>
          <p:cNvPr id="18" name="Shape 16"/>
          <p:cNvSpPr/>
          <p:nvPr/>
        </p:nvSpPr>
        <p:spPr>
          <a:xfrm>
            <a:off x="7644384" y="2514600"/>
            <a:ext cx="859536" cy="0"/>
          </a:xfrm>
          <a:prstGeom prst="line">
            <a:avLst/>
          </a:prstGeom>
          <a:noFill/>
          <a:ln w="28575">
            <a:solidFill>
              <a:srgbClr val="C9A8AC"/>
            </a:solidFill>
            <a:prstDash val="solid"/>
            <a:tailEnd type="triangle"/>
          </a:ln>
        </p:spPr>
        <p:txBody>
          <a:bodyPr/>
          <a:lstStyle/>
          <a:p>
            <a:endParaRPr lang="en-US"/>
          </a:p>
        </p:txBody>
      </p:sp>
      <p:sp>
        <p:nvSpPr>
          <p:cNvPr id="19" name="Shape 17"/>
          <p:cNvSpPr/>
          <p:nvPr/>
        </p:nvSpPr>
        <p:spPr>
          <a:xfrm>
            <a:off x="10104120" y="3493008"/>
            <a:ext cx="0" cy="274320"/>
          </a:xfrm>
          <a:prstGeom prst="line">
            <a:avLst/>
          </a:prstGeom>
          <a:noFill/>
          <a:ln w="28575">
            <a:solidFill>
              <a:srgbClr val="C9A8AC"/>
            </a:solidFill>
            <a:prstDash val="solid"/>
          </a:ln>
        </p:spPr>
        <p:txBody>
          <a:bodyPr/>
          <a:lstStyle/>
          <a:p>
            <a:endParaRPr lang="en-US"/>
          </a:p>
        </p:txBody>
      </p:sp>
      <p:sp>
        <p:nvSpPr>
          <p:cNvPr id="20" name="Shape 18"/>
          <p:cNvSpPr/>
          <p:nvPr/>
        </p:nvSpPr>
        <p:spPr>
          <a:xfrm>
            <a:off x="6099048" y="3767328"/>
            <a:ext cx="4005072" cy="0"/>
          </a:xfrm>
          <a:prstGeom prst="line">
            <a:avLst/>
          </a:prstGeom>
          <a:noFill/>
          <a:ln w="28575">
            <a:solidFill>
              <a:srgbClr val="C9A8AC"/>
            </a:solidFill>
            <a:prstDash val="solid"/>
          </a:ln>
        </p:spPr>
        <p:txBody>
          <a:bodyPr/>
          <a:lstStyle/>
          <a:p>
            <a:endParaRPr lang="en-US"/>
          </a:p>
        </p:txBody>
      </p:sp>
      <p:sp>
        <p:nvSpPr>
          <p:cNvPr id="21" name="Shape 19"/>
          <p:cNvSpPr/>
          <p:nvPr/>
        </p:nvSpPr>
        <p:spPr>
          <a:xfrm>
            <a:off x="6099048" y="3767328"/>
            <a:ext cx="0" cy="0"/>
          </a:xfrm>
          <a:prstGeom prst="line">
            <a:avLst/>
          </a:prstGeom>
          <a:noFill/>
          <a:ln w="28575">
            <a:solidFill>
              <a:srgbClr val="C9A8AC"/>
            </a:solidFill>
            <a:prstDash val="solid"/>
            <a:tailEnd type="triangle"/>
          </a:ln>
        </p:spPr>
        <p:txBody>
          <a:bodyPr/>
          <a:lstStyle/>
          <a:p>
            <a:endParaRPr lang="en-US"/>
          </a:p>
        </p:txBody>
      </p:sp>
      <p:sp>
        <p:nvSpPr>
          <p:cNvPr id="22" name="Text 20"/>
          <p:cNvSpPr txBox="1"/>
          <p:nvPr/>
        </p:nvSpPr>
        <p:spPr>
          <a:xfrm>
            <a:off x="7315200" y="3803904"/>
            <a:ext cx="1645920" cy="256032"/>
          </a:xfrm>
          <a:prstGeom prst="rect">
            <a:avLst/>
          </a:prstGeom>
          <a:noFill/>
          <a:ln/>
        </p:spPr>
        <p:txBody>
          <a:bodyPr wrap="square" lIns="0" tIns="0" rIns="0" bIns="0" rtlCol="0" anchor="ctr"/>
          <a:lstStyle/>
          <a:p>
            <a:pPr marL="0" indent="0" algn="ctr">
              <a:buNone/>
            </a:pPr>
            <a:r>
              <a:rPr lang="en-US" sz="1100" i="1" dirty="0">
                <a:solidFill>
                  <a:srgbClr val="6E5156"/>
                </a:solidFill>
                <a:latin typeface="Calibri" pitchFamily="34" charset="0"/>
                <a:ea typeface="Calibri" pitchFamily="34" charset="-122"/>
                <a:cs typeface="Calibri" pitchFamily="34" charset="-120"/>
              </a:rPr>
              <a:t>next utterance</a:t>
            </a:r>
            <a:endParaRPr lang="en-US" sz="1100" dirty="0"/>
          </a:p>
        </p:txBody>
      </p:sp>
      <p:sp>
        <p:nvSpPr>
          <p:cNvPr id="23" name="Shape 21"/>
          <p:cNvSpPr/>
          <p:nvPr/>
        </p:nvSpPr>
        <p:spPr>
          <a:xfrm>
            <a:off x="566928" y="4206240"/>
            <a:ext cx="11064240" cy="1847088"/>
          </a:xfrm>
          <a:prstGeom prst="roundRect">
            <a:avLst>
              <a:gd name="adj" fmla="val 2970"/>
            </a:avLst>
          </a:prstGeom>
          <a:solidFill>
            <a:srgbClr val="332226"/>
          </a:solidFill>
          <a:ln w="12700">
            <a:solidFill>
              <a:srgbClr val="332226"/>
            </a:solidFill>
            <a:prstDash val="solid"/>
          </a:ln>
        </p:spPr>
        <p:txBody>
          <a:bodyPr/>
          <a:lstStyle/>
          <a:p>
            <a:endParaRPr lang="en-US"/>
          </a:p>
        </p:txBody>
      </p:sp>
      <p:sp>
        <p:nvSpPr>
          <p:cNvPr id="24" name="Shape 22"/>
          <p:cNvSpPr/>
          <p:nvPr/>
        </p:nvSpPr>
        <p:spPr>
          <a:xfrm>
            <a:off x="786384" y="4498848"/>
            <a:ext cx="109728" cy="109728"/>
          </a:xfrm>
          <a:prstGeom prst="ellipse">
            <a:avLst/>
          </a:prstGeom>
          <a:solidFill>
            <a:srgbClr val="B8871F"/>
          </a:solidFill>
          <a:ln w="12700">
            <a:solidFill>
              <a:srgbClr val="333333"/>
            </a:solidFill>
            <a:prstDash val="solid"/>
          </a:ln>
        </p:spPr>
        <p:txBody>
          <a:bodyPr/>
          <a:lstStyle/>
          <a:p>
            <a:endParaRPr lang="en-US"/>
          </a:p>
        </p:txBody>
      </p:sp>
      <p:sp>
        <p:nvSpPr>
          <p:cNvPr id="25" name="Text 23"/>
          <p:cNvSpPr txBox="1"/>
          <p:nvPr/>
        </p:nvSpPr>
        <p:spPr>
          <a:xfrm>
            <a:off x="987552" y="4370832"/>
            <a:ext cx="10424160" cy="36576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What is and is not stored</a:t>
            </a:r>
            <a:endParaRPr lang="en-US" sz="1500" dirty="0"/>
          </a:p>
        </p:txBody>
      </p:sp>
      <p:sp>
        <p:nvSpPr>
          <p:cNvPr id="26" name="Text 24"/>
          <p:cNvSpPr txBox="1"/>
          <p:nvPr/>
        </p:nvSpPr>
        <p:spPr>
          <a:xfrm>
            <a:off x="822960" y="4809744"/>
            <a:ext cx="10552176" cy="1060704"/>
          </a:xfrm>
          <a:prstGeom prst="rect">
            <a:avLst/>
          </a:prstGeom>
          <a:noFill/>
          <a:ln/>
        </p:spPr>
        <p:txBody>
          <a:bodyPr wrap="square" lIns="0" tIns="0" rIns="0" bIns="0" rtlCol="0" anchor="t"/>
          <a:lstStyle/>
          <a:p>
            <a:pPr marL="0" indent="0">
              <a:lnSpc>
                <a:spcPct val="108000"/>
              </a:lnSpc>
              <a:buNone/>
            </a:pPr>
            <a:r>
              <a:rPr lang="en-US" sz="1300" dirty="0">
                <a:solidFill>
                  <a:srgbClr val="DFC4C7"/>
                </a:solidFill>
                <a:latin typeface="Calibri" pitchFamily="34" charset="0"/>
                <a:ea typeface="Calibri" pitchFamily="34" charset="-122"/>
                <a:cs typeface="Calibri" pitchFamily="34" charset="-120"/>
              </a:rPr>
              <a:t>The method keeps sufficient statistics — means, a covariance, priors and effective counts — not past test samples. That is what supports the privacy claim and the no-buffering claim.</a:t>
            </a:r>
            <a:endParaRPr lang="en-US" sz="1300" dirty="0"/>
          </a:p>
          <a:p>
            <a:pPr marL="0" indent="0">
              <a:lnSpc>
                <a:spcPct val="108000"/>
              </a:lnSpc>
              <a:buNone/>
            </a:pPr>
            <a:endParaRPr lang="en-US" sz="1300" dirty="0"/>
          </a:p>
          <a:p>
            <a:pPr marL="0" indent="0">
              <a:lnSpc>
                <a:spcPct val="108000"/>
              </a:lnSpc>
              <a:buNone/>
            </a:pPr>
            <a:r>
              <a:rPr lang="en-US" sz="1300" dirty="0">
                <a:solidFill>
                  <a:srgbClr val="DFC4C7"/>
                </a:solidFill>
                <a:latin typeface="Calibri" pitchFamily="34" charset="0"/>
                <a:ea typeface="Calibri" pitchFamily="34" charset="-122"/>
                <a:cs typeface="Calibri" pitchFamily="34" charset="-120"/>
              </a:rPr>
              <a:t>But it does carry state across the stream. Each prediction depends on every utterance seen before it, so this is sample-wise processing, not sample-wise independence.</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045952" y="457200"/>
            <a:ext cx="420624" cy="274320"/>
          </a:xfrm>
          <a:prstGeom prst="ellipse">
            <a:avLst/>
          </a:prstGeom>
          <a:ln w="16510">
            <a:solidFill>
              <a:srgbClr val="8A4A52"/>
            </a:solidFill>
            <a:prstDash val="solid"/>
          </a:ln>
        </p:spPr>
        <p:txBody>
          <a:bodyPr/>
          <a:lstStyle/>
          <a:p>
            <a:endParaRPr lang="en-US"/>
          </a:p>
        </p:txBody>
      </p:sp>
      <p:sp>
        <p:nvSpPr>
          <p:cNvPr id="3" name="Shape 1"/>
          <p:cNvSpPr/>
          <p:nvPr/>
        </p:nvSpPr>
        <p:spPr>
          <a:xfrm>
            <a:off x="11164824" y="539496"/>
            <a:ext cx="82296" cy="82296"/>
          </a:xfrm>
          <a:prstGeom prst="ellipse">
            <a:avLst/>
          </a:prstGeom>
          <a:solidFill>
            <a:srgbClr val="B8871F"/>
          </a:solidFill>
          <a:ln w="12700">
            <a:solidFill>
              <a:srgbClr val="333333"/>
            </a:solidFill>
            <a:prstDash val="solid"/>
          </a:ln>
        </p:spPr>
        <p:txBody>
          <a:bodyPr/>
          <a:lstStyle/>
          <a:p>
            <a:endParaRPr lang="en-US"/>
          </a:p>
        </p:txBody>
      </p:sp>
      <p:sp>
        <p:nvSpPr>
          <p:cNvPr id="4" name="Shape 2"/>
          <p:cNvSpPr/>
          <p:nvPr/>
        </p:nvSpPr>
        <p:spPr>
          <a:xfrm>
            <a:off x="11292840" y="585216"/>
            <a:ext cx="64008" cy="64008"/>
          </a:xfrm>
          <a:prstGeom prst="ellipse">
            <a:avLst/>
          </a:prstGeom>
          <a:solidFill>
            <a:srgbClr val="B08A8E"/>
          </a:solidFill>
          <a:ln w="12700">
            <a:solidFill>
              <a:srgbClr val="333333"/>
            </a:solidFill>
            <a:prstDash val="solid"/>
          </a:ln>
        </p:spPr>
        <p:txBody>
          <a:bodyPr/>
          <a:lstStyle/>
          <a:p>
            <a:endParaRPr lang="en-US"/>
          </a:p>
        </p:txBody>
      </p:sp>
      <p:sp>
        <p:nvSpPr>
          <p:cNvPr id="5" name="Text 3"/>
          <p:cNvSpPr txBox="1"/>
          <p:nvPr/>
        </p:nvSpPr>
        <p:spPr>
          <a:xfrm>
            <a:off x="548640" y="384048"/>
            <a:ext cx="10332720" cy="566928"/>
          </a:xfrm>
          <a:prstGeom prst="rect">
            <a:avLst/>
          </a:prstGeom>
          <a:noFill/>
          <a:ln/>
        </p:spPr>
        <p:txBody>
          <a:bodyPr wrap="square" lIns="0" tIns="0" rIns="0" bIns="0" rtlCol="0" anchor="t"/>
          <a:lstStyle/>
          <a:p>
            <a:pPr marL="0" indent="0">
              <a:buNone/>
            </a:pPr>
            <a:r>
              <a:rPr lang="en-US" sz="2900" b="1" dirty="0">
                <a:solidFill>
                  <a:srgbClr val="241619"/>
                </a:solidFill>
                <a:latin typeface="Cambria" pitchFamily="34" charset="0"/>
                <a:ea typeface="Cambria" pitchFamily="34" charset="-122"/>
                <a:cs typeface="Cambria" pitchFamily="34" charset="-120"/>
              </a:rPr>
              <a:t>Entropy as a weight, not a loss</a:t>
            </a:r>
            <a:endParaRPr lang="en-US" sz="2900" dirty="0"/>
          </a:p>
        </p:txBody>
      </p:sp>
      <p:sp>
        <p:nvSpPr>
          <p:cNvPr id="6" name="Text 4"/>
          <p:cNvSpPr txBox="1"/>
          <p:nvPr/>
        </p:nvSpPr>
        <p:spPr>
          <a:xfrm>
            <a:off x="548640" y="969264"/>
            <a:ext cx="10332720" cy="329184"/>
          </a:xfrm>
          <a:prstGeom prst="rect">
            <a:avLst/>
          </a:prstGeom>
          <a:noFill/>
          <a:ln/>
        </p:spPr>
        <p:txBody>
          <a:bodyPr wrap="square" lIns="0" tIns="0" rIns="0" bIns="0" rtlCol="0" anchor="ctr"/>
          <a:lstStyle/>
          <a:p>
            <a:pPr marL="0" indent="0">
              <a:buNone/>
            </a:pPr>
            <a:r>
              <a:rPr lang="en-US" sz="1350" i="1" dirty="0">
                <a:solidFill>
                  <a:srgbClr val="6E5156"/>
                </a:solidFill>
                <a:latin typeface="Calibri" pitchFamily="34" charset="0"/>
                <a:ea typeface="Calibri" pitchFamily="34" charset="-122"/>
                <a:cs typeface="Calibri" pitchFamily="34" charset="-120"/>
              </a:rPr>
              <a:t>The stabilising mechanism</a:t>
            </a:r>
            <a:endParaRPr lang="en-US" sz="1350" dirty="0"/>
          </a:p>
        </p:txBody>
      </p:sp>
      <p:sp>
        <p:nvSpPr>
          <p:cNvPr id="7" name="Text 5"/>
          <p:cNvSpPr txBox="1"/>
          <p:nvPr/>
        </p:nvSpPr>
        <p:spPr>
          <a:xfrm>
            <a:off x="9418320" y="6382512"/>
            <a:ext cx="2221992" cy="274320"/>
          </a:xfrm>
          <a:prstGeom prst="rect">
            <a:avLst/>
          </a:prstGeom>
          <a:noFill/>
          <a:ln/>
        </p:spPr>
        <p:txBody>
          <a:bodyPr wrap="square" lIns="0" tIns="0" rIns="0" bIns="0" rtlCol="0" anchor="ctr"/>
          <a:lstStyle/>
          <a:p>
            <a:pPr marL="0" indent="0" algn="r">
              <a:buNone/>
            </a:pPr>
            <a:r>
              <a:rPr lang="en-US" sz="900" dirty="0">
                <a:solidFill>
                  <a:srgbClr val="B59CA0"/>
                </a:solidFill>
                <a:latin typeface="Calibri" pitchFamily="34" charset="0"/>
                <a:ea typeface="Calibri" pitchFamily="34" charset="-122"/>
                <a:cs typeface="Calibri" pitchFamily="34" charset="-120"/>
              </a:rPr>
              <a:t>Emo-TTA · Shi et al. 2026  |  11</a:t>
            </a:r>
            <a:endParaRPr lang="en-US" sz="900" dirty="0"/>
          </a:p>
        </p:txBody>
      </p:sp>
      <p:sp>
        <p:nvSpPr>
          <p:cNvPr id="8" name="Shape 6"/>
          <p:cNvSpPr/>
          <p:nvPr/>
        </p:nvSpPr>
        <p:spPr>
          <a:xfrm>
            <a:off x="566928" y="1600200"/>
            <a:ext cx="5440680" cy="2240280"/>
          </a:xfrm>
          <a:prstGeom prst="roundRect">
            <a:avLst>
              <a:gd name="adj" fmla="val 2449"/>
            </a:avLst>
          </a:prstGeom>
          <a:solidFill>
            <a:srgbClr val="F7F1F2"/>
          </a:solidFill>
          <a:ln w="12700">
            <a:solidFill>
              <a:srgbClr val="EDE0E2"/>
            </a:solidFill>
            <a:prstDash val="solid"/>
          </a:ln>
        </p:spPr>
        <p:txBody>
          <a:bodyPr/>
          <a:lstStyle/>
          <a:p>
            <a:endParaRPr lang="en-US"/>
          </a:p>
        </p:txBody>
      </p:sp>
      <p:sp>
        <p:nvSpPr>
          <p:cNvPr id="9" name="Shape 7"/>
          <p:cNvSpPr/>
          <p:nvPr/>
        </p:nvSpPr>
        <p:spPr>
          <a:xfrm>
            <a:off x="786384" y="1892808"/>
            <a:ext cx="109728" cy="109728"/>
          </a:xfrm>
          <a:prstGeom prst="ellipse">
            <a:avLst/>
          </a:prstGeom>
          <a:solidFill>
            <a:srgbClr val="8A4A52"/>
          </a:solidFill>
          <a:ln w="12700">
            <a:solidFill>
              <a:srgbClr val="333333"/>
            </a:solidFill>
            <a:prstDash val="solid"/>
          </a:ln>
        </p:spPr>
        <p:txBody>
          <a:bodyPr/>
          <a:lstStyle/>
          <a:p>
            <a:endParaRPr lang="en-US"/>
          </a:p>
        </p:txBody>
      </p:sp>
      <p:sp>
        <p:nvSpPr>
          <p:cNvPr id="10" name="Text 8"/>
          <p:cNvSpPr txBox="1"/>
          <p:nvPr/>
        </p:nvSpPr>
        <p:spPr>
          <a:xfrm>
            <a:off x="987552" y="1764792"/>
            <a:ext cx="4800600" cy="365760"/>
          </a:xfrm>
          <a:prstGeom prst="rect">
            <a:avLst/>
          </a:prstGeom>
          <a:noFill/>
          <a:ln/>
        </p:spPr>
        <p:txBody>
          <a:bodyPr wrap="square" lIns="0" tIns="0" rIns="0" bIns="0" rtlCol="0" anchor="ctr"/>
          <a:lstStyle/>
          <a:p>
            <a:pPr marL="0" indent="0">
              <a:buNone/>
            </a:pPr>
            <a:r>
              <a:rPr lang="en-US" sz="1500" b="1" dirty="0">
                <a:solidFill>
                  <a:srgbClr val="241619"/>
                </a:solidFill>
                <a:latin typeface="Cambria" pitchFamily="34" charset="0"/>
                <a:ea typeface="Cambria" pitchFamily="34" charset="-122"/>
                <a:cs typeface="Cambria" pitchFamily="34" charset="-120"/>
              </a:rPr>
              <a:t>The problem it solves</a:t>
            </a:r>
            <a:endParaRPr lang="en-US" sz="1500" dirty="0"/>
          </a:p>
        </p:txBody>
      </p:sp>
      <p:sp>
        <p:nvSpPr>
          <p:cNvPr id="11" name="Text 9"/>
          <p:cNvSpPr txBox="1"/>
          <p:nvPr/>
        </p:nvSpPr>
        <p:spPr>
          <a:xfrm>
            <a:off x="822960" y="2203704"/>
            <a:ext cx="4928616" cy="1453896"/>
          </a:xfrm>
          <a:prstGeom prst="rect">
            <a:avLst/>
          </a:prstGeom>
          <a:noFill/>
          <a:ln/>
        </p:spPr>
        <p:txBody>
          <a:bodyPr wrap="square" lIns="0" tIns="0" rIns="0" bIns="0" rtlCol="0" anchor="t"/>
          <a:lstStyle/>
          <a:p>
            <a:pPr marL="0" indent="0">
              <a:lnSpc>
                <a:spcPct val="108000"/>
              </a:lnSpc>
              <a:buNone/>
            </a:pPr>
            <a:r>
              <a:rPr lang="en-US" sz="1260" dirty="0">
                <a:solidFill>
                  <a:srgbClr val="352428"/>
                </a:solidFill>
                <a:latin typeface="Calibri" pitchFamily="34" charset="0"/>
                <a:ea typeface="Calibri" pitchFamily="34" charset="-122"/>
                <a:cs typeface="Calibri" pitchFamily="34" charset="-120"/>
              </a:rPr>
              <a:t>Early in the stream the statistics are still close to their text initialisation, and under distribution shift CLAP's predictions may deviate from emotion semantics.</a:t>
            </a:r>
            <a:endParaRPr lang="en-US" sz="1260" dirty="0"/>
          </a:p>
          <a:p>
            <a:pPr marL="0" indent="0">
              <a:lnSpc>
                <a:spcPct val="108000"/>
              </a:lnSpc>
              <a:buNone/>
            </a:pPr>
            <a:endParaRPr lang="en-US" sz="1260" dirty="0"/>
          </a:p>
          <a:p>
            <a:pPr marL="0" indent="0">
              <a:lnSpc>
                <a:spcPct val="108000"/>
              </a:lnSpc>
              <a:buNone/>
            </a:pPr>
            <a:r>
              <a:rPr lang="en-US" sz="1260" dirty="0">
                <a:solidFill>
                  <a:srgbClr val="352428"/>
                </a:solidFill>
                <a:latin typeface="Calibri" pitchFamily="34" charset="0"/>
                <a:ea typeface="Calibri" pitchFamily="34" charset="-122"/>
                <a:cs typeface="Calibri" pitchFamily="34" charset="-120"/>
              </a:rPr>
              <a:t>An early confident-but-wrong responsibility would drag a class mean into the wrong region, and every subsequent update would inherit the error.</a:t>
            </a:r>
            <a:endParaRPr lang="en-US" sz="1260" dirty="0"/>
          </a:p>
        </p:txBody>
      </p:sp>
      <p:sp>
        <p:nvSpPr>
          <p:cNvPr id="12" name="Shape 10"/>
          <p:cNvSpPr/>
          <p:nvPr/>
        </p:nvSpPr>
        <p:spPr>
          <a:xfrm>
            <a:off x="6190488" y="1600200"/>
            <a:ext cx="5440680" cy="2240280"/>
          </a:xfrm>
          <a:prstGeom prst="roundRect">
            <a:avLst>
              <a:gd name="adj" fmla="val 2449"/>
            </a:avLst>
          </a:prstGeom>
          <a:solidFill>
            <a:srgbClr val="F7F1F2"/>
          </a:solidFill>
          <a:ln w="12700">
            <a:solidFill>
              <a:srgbClr val="EDE0E2"/>
            </a:solidFill>
            <a:prstDash val="solid"/>
          </a:ln>
        </p:spPr>
        <p:txBody>
          <a:bodyPr/>
          <a:lstStyle/>
          <a:p>
            <a:endParaRPr lang="en-US"/>
          </a:p>
        </p:txBody>
      </p:sp>
      <p:sp>
        <p:nvSpPr>
          <p:cNvPr id="13" name="Shape 11"/>
          <p:cNvSpPr/>
          <p:nvPr/>
        </p:nvSpPr>
        <p:spPr>
          <a:xfrm>
            <a:off x="6409944" y="1892808"/>
            <a:ext cx="109728" cy="109728"/>
          </a:xfrm>
          <a:prstGeom prst="ellipse">
            <a:avLst/>
          </a:prstGeom>
          <a:solidFill>
            <a:srgbClr val="B8871F"/>
          </a:solidFill>
          <a:ln w="12700">
            <a:solidFill>
              <a:srgbClr val="333333"/>
            </a:solidFill>
            <a:prstDash val="solid"/>
          </a:ln>
        </p:spPr>
        <p:txBody>
          <a:bodyPr/>
          <a:lstStyle/>
          <a:p>
            <a:endParaRPr lang="en-US"/>
          </a:p>
        </p:txBody>
      </p:sp>
      <p:sp>
        <p:nvSpPr>
          <p:cNvPr id="14" name="Text 12"/>
          <p:cNvSpPr txBox="1"/>
          <p:nvPr/>
        </p:nvSpPr>
        <p:spPr>
          <a:xfrm>
            <a:off x="6611112" y="1764792"/>
            <a:ext cx="4800600" cy="365760"/>
          </a:xfrm>
          <a:prstGeom prst="rect">
            <a:avLst/>
          </a:prstGeom>
          <a:noFill/>
          <a:ln/>
        </p:spPr>
        <p:txBody>
          <a:bodyPr wrap="square" lIns="0" tIns="0" rIns="0" bIns="0" rtlCol="0" anchor="ctr"/>
          <a:lstStyle/>
          <a:p>
            <a:pPr marL="0" indent="0">
              <a:buNone/>
            </a:pPr>
            <a:r>
              <a:rPr lang="en-US" sz="1500" b="1" dirty="0">
                <a:solidFill>
                  <a:srgbClr val="241619"/>
                </a:solidFill>
                <a:latin typeface="Cambria" pitchFamily="34" charset="0"/>
                <a:ea typeface="Cambria" pitchFamily="34" charset="-122"/>
                <a:cs typeface="Cambria" pitchFamily="34" charset="-120"/>
              </a:rPr>
              <a:t>The mechanism</a:t>
            </a:r>
            <a:endParaRPr lang="en-US" sz="1500" dirty="0"/>
          </a:p>
        </p:txBody>
      </p:sp>
      <p:sp>
        <p:nvSpPr>
          <p:cNvPr id="15" name="Text 13"/>
          <p:cNvSpPr txBox="1"/>
          <p:nvPr/>
        </p:nvSpPr>
        <p:spPr>
          <a:xfrm>
            <a:off x="6446520" y="2203704"/>
            <a:ext cx="4928616" cy="1453896"/>
          </a:xfrm>
          <a:prstGeom prst="rect">
            <a:avLst/>
          </a:prstGeom>
          <a:noFill/>
          <a:ln/>
        </p:spPr>
        <p:txBody>
          <a:bodyPr wrap="square" lIns="0" tIns="0" rIns="0" bIns="0" rtlCol="0" anchor="t"/>
          <a:lstStyle/>
          <a:p>
            <a:pPr marL="0" indent="0">
              <a:lnSpc>
                <a:spcPct val="108000"/>
              </a:lnSpc>
              <a:buNone/>
            </a:pPr>
            <a:r>
              <a:rPr lang="en-US" sz="1260" dirty="0">
                <a:solidFill>
                  <a:srgbClr val="352428"/>
                </a:solidFill>
                <a:latin typeface="Calibri" pitchFamily="34" charset="0"/>
                <a:ea typeface="Calibri" pitchFamily="34" charset="-122"/>
                <a:cs typeface="Calibri" pitchFamily="34" charset="-120"/>
              </a:rPr>
              <a:t>Compute the self-entropy H(a_t) of CLAP's predicted distribution for the utterance, then weight its contribution by</a:t>
            </a:r>
            <a:endParaRPr lang="en-US" sz="1260" dirty="0"/>
          </a:p>
          <a:p>
            <a:pPr marL="0" indent="0">
              <a:lnSpc>
                <a:spcPct val="108000"/>
              </a:lnSpc>
              <a:buNone/>
            </a:pPr>
            <a:endParaRPr lang="en-US" sz="1260" dirty="0"/>
          </a:p>
          <a:p>
            <a:pPr marL="0" indent="0">
              <a:lnSpc>
                <a:spcPct val="108000"/>
              </a:lnSpc>
              <a:buNone/>
            </a:pPr>
            <a:r>
              <a:rPr lang="en-US" sz="1260" dirty="0">
                <a:solidFill>
                  <a:srgbClr val="352428"/>
                </a:solidFill>
                <a:latin typeface="Calibri" pitchFamily="34" charset="0"/>
                <a:ea typeface="Calibri" pitchFamily="34" charset="-122"/>
                <a:cs typeface="Calibri" pitchFamily="34" charset="-120"/>
              </a:rPr>
              <a:t>w(h) = e^(−βh),  with β = 4.5.</a:t>
            </a:r>
            <a:endParaRPr lang="en-US" sz="1260" dirty="0"/>
          </a:p>
          <a:p>
            <a:pPr marL="0" indent="0">
              <a:lnSpc>
                <a:spcPct val="108000"/>
              </a:lnSpc>
              <a:buNone/>
            </a:pPr>
            <a:endParaRPr lang="en-US" sz="1260" dirty="0"/>
          </a:p>
          <a:p>
            <a:pPr marL="0" indent="0">
              <a:lnSpc>
                <a:spcPct val="108000"/>
              </a:lnSpc>
              <a:buNone/>
            </a:pPr>
            <a:r>
              <a:rPr lang="en-US" sz="1260" dirty="0">
                <a:solidFill>
                  <a:srgbClr val="352428"/>
                </a:solidFill>
                <a:latin typeface="Calibri" pitchFamily="34" charset="0"/>
                <a:ea typeface="Calibri" pitchFamily="34" charset="-122"/>
                <a:cs typeface="Calibri" pitchFamily="34" charset="-120"/>
              </a:rPr>
              <a:t>Confident utterances count fully; uncertain ones barely move the statistics.</a:t>
            </a:r>
            <a:endParaRPr lang="en-US" sz="1260" dirty="0"/>
          </a:p>
        </p:txBody>
      </p:sp>
      <p:sp>
        <p:nvSpPr>
          <p:cNvPr id="16" name="Shape 14"/>
          <p:cNvSpPr/>
          <p:nvPr/>
        </p:nvSpPr>
        <p:spPr>
          <a:xfrm>
            <a:off x="566928" y="4041648"/>
            <a:ext cx="11064240" cy="2011680"/>
          </a:xfrm>
          <a:prstGeom prst="roundRect">
            <a:avLst>
              <a:gd name="adj" fmla="val 2727"/>
            </a:avLst>
          </a:prstGeom>
          <a:solidFill>
            <a:srgbClr val="332226"/>
          </a:solidFill>
          <a:ln w="12700">
            <a:solidFill>
              <a:srgbClr val="332226"/>
            </a:solidFill>
            <a:prstDash val="solid"/>
          </a:ln>
        </p:spPr>
        <p:txBody>
          <a:bodyPr/>
          <a:lstStyle/>
          <a:p>
            <a:endParaRPr lang="en-US"/>
          </a:p>
        </p:txBody>
      </p:sp>
      <p:sp>
        <p:nvSpPr>
          <p:cNvPr id="17" name="Shape 15"/>
          <p:cNvSpPr/>
          <p:nvPr/>
        </p:nvSpPr>
        <p:spPr>
          <a:xfrm>
            <a:off x="786384" y="4334256"/>
            <a:ext cx="109728" cy="109728"/>
          </a:xfrm>
          <a:prstGeom prst="ellipse">
            <a:avLst/>
          </a:prstGeom>
          <a:solidFill>
            <a:srgbClr val="B8871F"/>
          </a:solidFill>
          <a:ln w="12700">
            <a:solidFill>
              <a:srgbClr val="333333"/>
            </a:solidFill>
            <a:prstDash val="solid"/>
          </a:ln>
        </p:spPr>
        <p:txBody>
          <a:bodyPr/>
          <a:lstStyle/>
          <a:p>
            <a:endParaRPr lang="en-US"/>
          </a:p>
        </p:txBody>
      </p:sp>
      <p:sp>
        <p:nvSpPr>
          <p:cNvPr id="18" name="Text 16"/>
          <p:cNvSpPr txBox="1"/>
          <p:nvPr/>
        </p:nvSpPr>
        <p:spPr>
          <a:xfrm>
            <a:off x="987552" y="4206240"/>
            <a:ext cx="10424160" cy="36576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The contrast with Tent in one line</a:t>
            </a:r>
            <a:endParaRPr lang="en-US" sz="1500" dirty="0"/>
          </a:p>
        </p:txBody>
      </p:sp>
      <p:sp>
        <p:nvSpPr>
          <p:cNvPr id="19" name="Text 17"/>
          <p:cNvSpPr txBox="1"/>
          <p:nvPr/>
        </p:nvSpPr>
        <p:spPr>
          <a:xfrm>
            <a:off x="822960" y="4645152"/>
            <a:ext cx="10552176" cy="1225296"/>
          </a:xfrm>
          <a:prstGeom prst="rect">
            <a:avLst/>
          </a:prstGeom>
          <a:noFill/>
          <a:ln/>
        </p:spPr>
        <p:txBody>
          <a:bodyPr wrap="square" lIns="0" tIns="0" rIns="0" bIns="0" rtlCol="0" anchor="t"/>
          <a:lstStyle/>
          <a:p>
            <a:pPr marL="0" indent="0">
              <a:lnSpc>
                <a:spcPct val="108000"/>
              </a:lnSpc>
              <a:buNone/>
            </a:pPr>
            <a:r>
              <a:rPr lang="en-US" sz="1300" dirty="0">
                <a:solidFill>
                  <a:srgbClr val="DFC4C7"/>
                </a:solidFill>
                <a:latin typeface="Calibri" pitchFamily="34" charset="0"/>
                <a:ea typeface="Calibri" pitchFamily="34" charset="-122"/>
                <a:cs typeface="Calibri" pitchFamily="34" charset="-120"/>
              </a:rPr>
              <a:t>Tent treats low entropy as the goal and takes a gradient step toward it. Emo-TTA treats low entropy as evidence of reliability and uses it to decide how much to trust a sample.</a:t>
            </a:r>
            <a:endParaRPr lang="en-US" sz="1300" dirty="0"/>
          </a:p>
          <a:p>
            <a:pPr marL="0" indent="0">
              <a:lnSpc>
                <a:spcPct val="108000"/>
              </a:lnSpc>
              <a:buNone/>
            </a:pPr>
            <a:endParaRPr lang="en-US" sz="1300" dirty="0"/>
          </a:p>
          <a:p>
            <a:pPr marL="0" indent="0">
              <a:lnSpc>
                <a:spcPct val="108000"/>
              </a:lnSpc>
              <a:buNone/>
            </a:pPr>
            <a:r>
              <a:rPr lang="en-US" sz="1300" dirty="0">
                <a:solidFill>
                  <a:srgbClr val="DFC4C7"/>
                </a:solidFill>
                <a:latin typeface="Calibri" pitchFamily="34" charset="0"/>
                <a:ea typeface="Calibri" pitchFamily="34" charset="-122"/>
                <a:cs typeface="Calibri" pitchFamily="34" charset="-120"/>
              </a:rPr>
              <a:t>The second use is much safer. Tent's failure on MNIST-to-SVHN was confident-but-wrong predictions being amplified; here confident-but-wrong predictions are still trusted, but nothing pushes the model to become more confident than it already is.</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045952" y="457200"/>
            <a:ext cx="420624" cy="274320"/>
          </a:xfrm>
          <a:prstGeom prst="ellipse">
            <a:avLst/>
          </a:prstGeom>
          <a:ln w="16510">
            <a:solidFill>
              <a:srgbClr val="8A4A52"/>
            </a:solidFill>
            <a:prstDash val="solid"/>
          </a:ln>
        </p:spPr>
        <p:txBody>
          <a:bodyPr/>
          <a:lstStyle/>
          <a:p>
            <a:endParaRPr lang="en-US"/>
          </a:p>
        </p:txBody>
      </p:sp>
      <p:sp>
        <p:nvSpPr>
          <p:cNvPr id="3" name="Shape 1"/>
          <p:cNvSpPr/>
          <p:nvPr/>
        </p:nvSpPr>
        <p:spPr>
          <a:xfrm>
            <a:off x="11164824" y="539496"/>
            <a:ext cx="82296" cy="82296"/>
          </a:xfrm>
          <a:prstGeom prst="ellipse">
            <a:avLst/>
          </a:prstGeom>
          <a:solidFill>
            <a:srgbClr val="B8871F"/>
          </a:solidFill>
          <a:ln w="12700">
            <a:solidFill>
              <a:srgbClr val="333333"/>
            </a:solidFill>
            <a:prstDash val="solid"/>
          </a:ln>
        </p:spPr>
        <p:txBody>
          <a:bodyPr/>
          <a:lstStyle/>
          <a:p>
            <a:endParaRPr lang="en-US"/>
          </a:p>
        </p:txBody>
      </p:sp>
      <p:sp>
        <p:nvSpPr>
          <p:cNvPr id="4" name="Shape 2"/>
          <p:cNvSpPr/>
          <p:nvPr/>
        </p:nvSpPr>
        <p:spPr>
          <a:xfrm>
            <a:off x="11292840" y="585216"/>
            <a:ext cx="64008" cy="64008"/>
          </a:xfrm>
          <a:prstGeom prst="ellipse">
            <a:avLst/>
          </a:prstGeom>
          <a:solidFill>
            <a:srgbClr val="B08A8E"/>
          </a:solidFill>
          <a:ln w="12700">
            <a:solidFill>
              <a:srgbClr val="333333"/>
            </a:solidFill>
            <a:prstDash val="solid"/>
          </a:ln>
        </p:spPr>
        <p:txBody>
          <a:bodyPr/>
          <a:lstStyle/>
          <a:p>
            <a:endParaRPr lang="en-US"/>
          </a:p>
        </p:txBody>
      </p:sp>
      <p:sp>
        <p:nvSpPr>
          <p:cNvPr id="5" name="Text 3"/>
          <p:cNvSpPr txBox="1"/>
          <p:nvPr/>
        </p:nvSpPr>
        <p:spPr>
          <a:xfrm>
            <a:off x="548640" y="384048"/>
            <a:ext cx="10332720" cy="566928"/>
          </a:xfrm>
          <a:prstGeom prst="rect">
            <a:avLst/>
          </a:prstGeom>
          <a:noFill/>
          <a:ln/>
        </p:spPr>
        <p:txBody>
          <a:bodyPr wrap="square" lIns="0" tIns="0" rIns="0" bIns="0" rtlCol="0" anchor="t"/>
          <a:lstStyle/>
          <a:p>
            <a:pPr marL="0" indent="0">
              <a:buNone/>
            </a:pPr>
            <a:r>
              <a:rPr lang="en-US" sz="2900" b="1" dirty="0">
                <a:solidFill>
                  <a:srgbClr val="241619"/>
                </a:solidFill>
                <a:latin typeface="Cambria" pitchFamily="34" charset="0"/>
                <a:ea typeface="Cambria" pitchFamily="34" charset="-122"/>
                <a:cs typeface="Cambria" pitchFamily="34" charset="-120"/>
              </a:rPr>
              <a:t>The final prediction</a:t>
            </a:r>
            <a:endParaRPr lang="en-US" sz="2900" dirty="0"/>
          </a:p>
        </p:txBody>
      </p:sp>
      <p:sp>
        <p:nvSpPr>
          <p:cNvPr id="6" name="Text 4"/>
          <p:cNvSpPr txBox="1"/>
          <p:nvPr/>
        </p:nvSpPr>
        <p:spPr>
          <a:xfrm>
            <a:off x="548640" y="969264"/>
            <a:ext cx="10332720" cy="329184"/>
          </a:xfrm>
          <a:prstGeom prst="rect">
            <a:avLst/>
          </a:prstGeom>
          <a:noFill/>
          <a:ln/>
        </p:spPr>
        <p:txBody>
          <a:bodyPr wrap="square" lIns="0" tIns="0" rIns="0" bIns="0" rtlCol="0" anchor="ctr"/>
          <a:lstStyle/>
          <a:p>
            <a:pPr marL="0" indent="0">
              <a:buNone/>
            </a:pPr>
            <a:r>
              <a:rPr lang="en-US" sz="1350" i="1" dirty="0">
                <a:solidFill>
                  <a:srgbClr val="6E5156"/>
                </a:solidFill>
                <a:latin typeface="Calibri" pitchFamily="34" charset="0"/>
                <a:ea typeface="Calibri" pitchFamily="34" charset="-122"/>
                <a:cs typeface="Calibri" pitchFamily="34" charset="-120"/>
              </a:rPr>
              <a:t>Fusing the frozen classifier with the fitted one</a:t>
            </a:r>
            <a:endParaRPr lang="en-US" sz="1350" dirty="0"/>
          </a:p>
        </p:txBody>
      </p:sp>
      <p:sp>
        <p:nvSpPr>
          <p:cNvPr id="7" name="Text 5"/>
          <p:cNvSpPr txBox="1"/>
          <p:nvPr/>
        </p:nvSpPr>
        <p:spPr>
          <a:xfrm>
            <a:off x="9418320" y="6382512"/>
            <a:ext cx="2221992" cy="274320"/>
          </a:xfrm>
          <a:prstGeom prst="rect">
            <a:avLst/>
          </a:prstGeom>
          <a:noFill/>
          <a:ln/>
        </p:spPr>
        <p:txBody>
          <a:bodyPr wrap="square" lIns="0" tIns="0" rIns="0" bIns="0" rtlCol="0" anchor="ctr"/>
          <a:lstStyle/>
          <a:p>
            <a:pPr marL="0" indent="0" algn="r">
              <a:buNone/>
            </a:pPr>
            <a:r>
              <a:rPr lang="en-US" sz="900" dirty="0">
                <a:solidFill>
                  <a:srgbClr val="B59CA0"/>
                </a:solidFill>
                <a:latin typeface="Calibri" pitchFamily="34" charset="0"/>
                <a:ea typeface="Calibri" pitchFamily="34" charset="-122"/>
                <a:cs typeface="Calibri" pitchFamily="34" charset="-120"/>
              </a:rPr>
              <a:t>Emo-TTA · Shi et al. 2026  |  12</a:t>
            </a:r>
            <a:endParaRPr lang="en-US" sz="900" dirty="0"/>
          </a:p>
        </p:txBody>
      </p:sp>
      <p:sp>
        <p:nvSpPr>
          <p:cNvPr id="8" name="Shape 6"/>
          <p:cNvSpPr/>
          <p:nvPr/>
        </p:nvSpPr>
        <p:spPr>
          <a:xfrm>
            <a:off x="566928" y="1645920"/>
            <a:ext cx="11064240" cy="1188720"/>
          </a:xfrm>
          <a:prstGeom prst="roundRect">
            <a:avLst>
              <a:gd name="adj" fmla="val 4615"/>
            </a:avLst>
          </a:prstGeom>
          <a:solidFill>
            <a:srgbClr val="F7F1F2"/>
          </a:solidFill>
          <a:ln w="12700">
            <a:solidFill>
              <a:srgbClr val="EDE0E2"/>
            </a:solidFill>
            <a:prstDash val="solid"/>
          </a:ln>
        </p:spPr>
        <p:txBody>
          <a:bodyPr/>
          <a:lstStyle/>
          <a:p>
            <a:endParaRPr lang="en-US"/>
          </a:p>
        </p:txBody>
      </p:sp>
      <p:sp>
        <p:nvSpPr>
          <p:cNvPr id="9" name="Text 7"/>
          <p:cNvSpPr txBox="1"/>
          <p:nvPr/>
        </p:nvSpPr>
        <p:spPr>
          <a:xfrm>
            <a:off x="566928" y="1901952"/>
            <a:ext cx="11064240" cy="457200"/>
          </a:xfrm>
          <a:prstGeom prst="rect">
            <a:avLst/>
          </a:prstGeom>
          <a:noFill/>
          <a:ln/>
        </p:spPr>
        <p:txBody>
          <a:bodyPr wrap="square" lIns="0" tIns="0" rIns="0" bIns="0" rtlCol="0" anchor="ctr"/>
          <a:lstStyle/>
          <a:p>
            <a:pPr marL="0" indent="0" algn="ctr">
              <a:buNone/>
            </a:pPr>
            <a:r>
              <a:rPr lang="en-US" sz="2200" b="1" dirty="0">
                <a:solidFill>
                  <a:srgbClr val="241619"/>
                </a:solidFill>
                <a:latin typeface="Cambria" pitchFamily="34" charset="0"/>
                <a:ea typeface="Cambria" pitchFamily="34" charset="-122"/>
                <a:cs typeface="Cambria" pitchFamily="34" charset="-120"/>
              </a:rPr>
              <a:t>logits_y  =  T_yᵀ F  +  α ( w_yᵀ F + b_y )</a:t>
            </a:r>
            <a:endParaRPr lang="en-US" sz="2200" dirty="0"/>
          </a:p>
        </p:txBody>
      </p:sp>
      <p:sp>
        <p:nvSpPr>
          <p:cNvPr id="10" name="Text 8"/>
          <p:cNvSpPr txBox="1"/>
          <p:nvPr/>
        </p:nvSpPr>
        <p:spPr>
          <a:xfrm>
            <a:off x="566928" y="2395728"/>
            <a:ext cx="11064240" cy="310896"/>
          </a:xfrm>
          <a:prstGeom prst="rect">
            <a:avLst/>
          </a:prstGeom>
          <a:noFill/>
          <a:ln/>
        </p:spPr>
        <p:txBody>
          <a:bodyPr wrap="square" lIns="0" tIns="0" rIns="0" bIns="0" rtlCol="0" anchor="ctr"/>
          <a:lstStyle/>
          <a:p>
            <a:pPr marL="0" indent="0" algn="ctr">
              <a:buNone/>
            </a:pPr>
            <a:r>
              <a:rPr lang="en-US" sz="1150" dirty="0">
                <a:solidFill>
                  <a:srgbClr val="6E5156"/>
                </a:solidFill>
                <a:latin typeface="Calibri" pitchFamily="34" charset="0"/>
                <a:ea typeface="Calibri" pitchFamily="34" charset="-122"/>
                <a:cs typeface="Calibri" pitchFamily="34" charset="-120"/>
              </a:rPr>
              <a:t>CLAP zero-shot term                              generative term, from the fitted Gaussian</a:t>
            </a:r>
            <a:endParaRPr lang="en-US" sz="1150" dirty="0"/>
          </a:p>
        </p:txBody>
      </p:sp>
      <p:sp>
        <p:nvSpPr>
          <p:cNvPr id="11" name="Text 9"/>
          <p:cNvSpPr txBox="1"/>
          <p:nvPr/>
        </p:nvSpPr>
        <p:spPr>
          <a:xfrm>
            <a:off x="566928" y="3054096"/>
            <a:ext cx="11064240" cy="1920240"/>
          </a:xfrm>
          <a:prstGeom prst="rect">
            <a:avLst/>
          </a:prstGeom>
          <a:noFill/>
          <a:ln/>
        </p:spPr>
        <p:txBody>
          <a:bodyPr wrap="square" lIns="0" tIns="0" rIns="0" bIns="0" rtlCol="0" anchor="t"/>
          <a:lstStyle/>
          <a:p>
            <a:pPr marL="342900" indent="-342900">
              <a:spcAft>
                <a:spcPts val="800"/>
              </a:spcAft>
              <a:buSzPct val="100000"/>
              <a:buChar char="●"/>
            </a:pPr>
            <a:r>
              <a:rPr lang="en-US" sz="1280" dirty="0">
                <a:solidFill>
                  <a:srgbClr val="352428"/>
                </a:solidFill>
                <a:latin typeface="Calibri" pitchFamily="34" charset="0"/>
                <a:ea typeface="Calibri" pitchFamily="34" charset="-122"/>
                <a:cs typeface="Calibri" pitchFamily="34" charset="-120"/>
              </a:rPr>
              <a:t>T_y = g(t_y) is the CLAP text prototype and F = f(a_t) the audio embedding, so the first term is the unmodified zero-shot score.</a:t>
            </a:r>
            <a:endParaRPr lang="en-US" sz="1280" dirty="0"/>
          </a:p>
          <a:p>
            <a:pPr marL="342900" indent="-342900">
              <a:spcAft>
                <a:spcPts val="800"/>
              </a:spcAft>
              <a:buSzPct val="100000"/>
              <a:buChar char="●"/>
            </a:pPr>
            <a:r>
              <a:rPr lang="en-US" sz="1280" dirty="0">
                <a:solidFill>
                  <a:srgbClr val="352428"/>
                </a:solidFill>
                <a:latin typeface="Calibri" pitchFamily="34" charset="0"/>
                <a:ea typeface="Calibri" pitchFamily="34" charset="-122"/>
                <a:cs typeface="Calibri" pitchFamily="34" charset="-120"/>
              </a:rPr>
              <a:t>w_y = Σ⁻¹ μ_y and b_y = log P(y) − ½ μ_yᵀ Σ⁻¹ μ_y are the standard linear-discriminant weight and bias derived from the fitted Gaussian.</a:t>
            </a:r>
            <a:endParaRPr lang="en-US" sz="1280" dirty="0"/>
          </a:p>
          <a:p>
            <a:pPr marL="342900" indent="-342900">
              <a:spcAft>
                <a:spcPts val="800"/>
              </a:spcAft>
              <a:buSzPct val="100000"/>
              <a:buChar char="●"/>
            </a:pPr>
            <a:r>
              <a:rPr lang="en-US" sz="1280" dirty="0">
                <a:solidFill>
                  <a:srgbClr val="352428"/>
                </a:solidFill>
                <a:latin typeface="Calibri" pitchFamily="34" charset="0"/>
                <a:ea typeface="Calibri" pitchFamily="34" charset="-122"/>
                <a:cs typeface="Calibri" pitchFamily="34" charset="-120"/>
              </a:rPr>
              <a:t>α = 0.2 sets how much the adapted statistics are allowed to move the prediction. The zero-shot term keeps its full weight.</a:t>
            </a:r>
            <a:endParaRPr lang="en-US" sz="1280" dirty="0"/>
          </a:p>
          <a:p>
            <a:pPr marL="342900" indent="-342900">
              <a:spcAft>
                <a:spcPts val="800"/>
              </a:spcAft>
              <a:buSzPct val="100000"/>
              <a:buChar char="●"/>
            </a:pPr>
            <a:r>
              <a:rPr lang="en-US" sz="1280" dirty="0">
                <a:solidFill>
                  <a:srgbClr val="352428"/>
                </a:solidFill>
                <a:latin typeface="Calibri" pitchFamily="34" charset="0"/>
                <a:ea typeface="Calibri" pitchFamily="34" charset="-122"/>
                <a:cs typeface="Calibri" pitchFamily="34" charset="-120"/>
              </a:rPr>
              <a:t>So the frozen model is never overridden — it is nudged. If the estimation goes wrong, the zero-shot score is still the dominant term.</a:t>
            </a:r>
            <a:endParaRPr lang="en-US" sz="1280" dirty="0"/>
          </a:p>
        </p:txBody>
      </p:sp>
      <p:sp>
        <p:nvSpPr>
          <p:cNvPr id="12" name="Shape 10"/>
          <p:cNvSpPr/>
          <p:nvPr/>
        </p:nvSpPr>
        <p:spPr>
          <a:xfrm>
            <a:off x="566928" y="5084064"/>
            <a:ext cx="11064240" cy="969264"/>
          </a:xfrm>
          <a:prstGeom prst="roundRect">
            <a:avLst>
              <a:gd name="adj" fmla="val 5660"/>
            </a:avLst>
          </a:prstGeom>
          <a:solidFill>
            <a:srgbClr val="332226"/>
          </a:solidFill>
          <a:ln w="12700">
            <a:solidFill>
              <a:srgbClr val="332226"/>
            </a:solidFill>
            <a:prstDash val="solid"/>
          </a:ln>
        </p:spPr>
        <p:txBody>
          <a:bodyPr/>
          <a:lstStyle/>
          <a:p>
            <a:endParaRPr lang="en-US"/>
          </a:p>
        </p:txBody>
      </p:sp>
      <p:sp>
        <p:nvSpPr>
          <p:cNvPr id="13" name="Text 11"/>
          <p:cNvSpPr txBox="1"/>
          <p:nvPr/>
        </p:nvSpPr>
        <p:spPr>
          <a:xfrm>
            <a:off x="822960" y="5303520"/>
            <a:ext cx="10552176" cy="548640"/>
          </a:xfrm>
          <a:prstGeom prst="rect">
            <a:avLst/>
          </a:prstGeom>
          <a:noFill/>
          <a:ln/>
        </p:spPr>
        <p:txBody>
          <a:bodyPr wrap="square" lIns="0" tIns="0" rIns="0" bIns="0" rtlCol="0" anchor="t"/>
          <a:lstStyle/>
          <a:p>
            <a:pPr marL="0" indent="0">
              <a:lnSpc>
                <a:spcPct val="108000"/>
              </a:lnSpc>
              <a:buNone/>
            </a:pPr>
            <a:r>
              <a:rPr lang="en-US" sz="1300" dirty="0">
                <a:solidFill>
                  <a:srgbClr val="DFC4C7"/>
                </a:solidFill>
                <a:latin typeface="Calibri" pitchFamily="34" charset="0"/>
                <a:ea typeface="Calibri" pitchFamily="34" charset="-122"/>
                <a:cs typeface="Calibri" pitchFamily="34" charset="-120"/>
              </a:rPr>
              <a:t>This is a safety mechanism as much as a fusion rule, and it is a sensible one. It also means the headline gains are achieved while the original classifier still carries most of the decision.</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332226"/>
        </a:solidFill>
        <a:effectLst/>
      </p:bgPr>
    </p:bg>
    <p:spTree>
      <p:nvGrpSpPr>
        <p:cNvPr id="1" name=""/>
        <p:cNvGrpSpPr/>
        <p:nvPr/>
      </p:nvGrpSpPr>
      <p:grpSpPr>
        <a:xfrm>
          <a:off x="0" y="0"/>
          <a:ext cx="0" cy="0"/>
          <a:chOff x="0" y="0"/>
          <a:chExt cx="0" cy="0"/>
        </a:xfrm>
      </p:grpSpPr>
      <p:sp>
        <p:nvSpPr>
          <p:cNvPr id="2" name="Shape 0"/>
          <p:cNvSpPr/>
          <p:nvPr/>
        </p:nvSpPr>
        <p:spPr>
          <a:xfrm>
            <a:off x="10515600" y="5349240"/>
            <a:ext cx="841248" cy="548640"/>
          </a:xfrm>
          <a:prstGeom prst="ellipse">
            <a:avLst/>
          </a:prstGeom>
          <a:ln w="16510">
            <a:solidFill>
              <a:srgbClr val="DFC4C7"/>
            </a:solidFill>
            <a:prstDash val="solid"/>
          </a:ln>
        </p:spPr>
        <p:txBody>
          <a:bodyPr/>
          <a:lstStyle/>
          <a:p>
            <a:endParaRPr lang="en-US"/>
          </a:p>
        </p:txBody>
      </p:sp>
      <p:sp>
        <p:nvSpPr>
          <p:cNvPr id="3" name="Shape 1"/>
          <p:cNvSpPr/>
          <p:nvPr/>
        </p:nvSpPr>
        <p:spPr>
          <a:xfrm>
            <a:off x="10753344" y="5513832"/>
            <a:ext cx="164592" cy="164592"/>
          </a:xfrm>
          <a:prstGeom prst="ellipse">
            <a:avLst/>
          </a:prstGeom>
          <a:solidFill>
            <a:srgbClr val="B8871F"/>
          </a:solidFill>
          <a:ln w="12700">
            <a:solidFill>
              <a:srgbClr val="333333"/>
            </a:solidFill>
            <a:prstDash val="solid"/>
          </a:ln>
        </p:spPr>
        <p:txBody>
          <a:bodyPr/>
          <a:lstStyle/>
          <a:p>
            <a:endParaRPr lang="en-US"/>
          </a:p>
        </p:txBody>
      </p:sp>
      <p:sp>
        <p:nvSpPr>
          <p:cNvPr id="4" name="Shape 2"/>
          <p:cNvSpPr/>
          <p:nvPr/>
        </p:nvSpPr>
        <p:spPr>
          <a:xfrm>
            <a:off x="11009376" y="5605272"/>
            <a:ext cx="128016" cy="128016"/>
          </a:xfrm>
          <a:prstGeom prst="ellipse">
            <a:avLst/>
          </a:prstGeom>
          <a:solidFill>
            <a:srgbClr val="C9A8AC"/>
          </a:solidFill>
          <a:ln w="12700">
            <a:solidFill>
              <a:srgbClr val="333333"/>
            </a:solidFill>
            <a:prstDash val="solid"/>
          </a:ln>
        </p:spPr>
        <p:txBody>
          <a:bodyPr/>
          <a:lstStyle/>
          <a:p>
            <a:endParaRPr lang="en-US"/>
          </a:p>
        </p:txBody>
      </p:sp>
      <p:sp>
        <p:nvSpPr>
          <p:cNvPr id="5" name="Text 3"/>
          <p:cNvSpPr txBox="1"/>
          <p:nvPr/>
        </p:nvSpPr>
        <p:spPr>
          <a:xfrm>
            <a:off x="822960" y="2057400"/>
            <a:ext cx="1554480" cy="1005840"/>
          </a:xfrm>
          <a:prstGeom prst="rect">
            <a:avLst/>
          </a:prstGeom>
          <a:noFill/>
          <a:ln/>
        </p:spPr>
        <p:txBody>
          <a:bodyPr wrap="square" lIns="0" tIns="0" rIns="0" bIns="0" rtlCol="0" anchor="ctr"/>
          <a:lstStyle/>
          <a:p>
            <a:pPr marL="0" indent="0">
              <a:buNone/>
            </a:pPr>
            <a:r>
              <a:rPr lang="en-US" sz="6600" b="1" dirty="0">
                <a:solidFill>
                  <a:srgbClr val="B8871F"/>
                </a:solidFill>
                <a:latin typeface="Cambria" pitchFamily="34" charset="0"/>
                <a:ea typeface="Cambria" pitchFamily="34" charset="-122"/>
                <a:cs typeface="Cambria" pitchFamily="34" charset="-120"/>
              </a:rPr>
              <a:t>3</a:t>
            </a:r>
            <a:endParaRPr lang="en-US" sz="6600" dirty="0"/>
          </a:p>
        </p:txBody>
      </p:sp>
      <p:sp>
        <p:nvSpPr>
          <p:cNvPr id="6" name="Text 4"/>
          <p:cNvSpPr txBox="1"/>
          <p:nvPr/>
        </p:nvSpPr>
        <p:spPr>
          <a:xfrm>
            <a:off x="2377440" y="2212848"/>
            <a:ext cx="8686800" cy="822960"/>
          </a:xfrm>
          <a:prstGeom prst="rect">
            <a:avLst/>
          </a:prstGeom>
          <a:noFill/>
          <a:ln/>
        </p:spPr>
        <p:txBody>
          <a:bodyPr wrap="square" lIns="0" tIns="0" rIns="0" bIns="0" rtlCol="0" anchor="ctr"/>
          <a:lstStyle/>
          <a:p>
            <a:pPr marL="0" indent="0">
              <a:buNone/>
            </a:pPr>
            <a:r>
              <a:rPr lang="en-US" sz="3300" b="1" dirty="0">
                <a:solidFill>
                  <a:srgbClr val="FFFFFF"/>
                </a:solidFill>
                <a:latin typeface="Cambria" pitchFamily="34" charset="0"/>
                <a:ea typeface="Cambria" pitchFamily="34" charset="-122"/>
                <a:cs typeface="Cambria" pitchFamily="34" charset="-120"/>
              </a:rPr>
              <a:t>Results</a:t>
            </a:r>
            <a:endParaRPr lang="en-US" sz="3300" dirty="0"/>
          </a:p>
        </p:txBody>
      </p:sp>
      <p:sp>
        <p:nvSpPr>
          <p:cNvPr id="7" name="Text 5"/>
          <p:cNvSpPr txBox="1"/>
          <p:nvPr/>
        </p:nvSpPr>
        <p:spPr>
          <a:xfrm>
            <a:off x="2432304" y="3072384"/>
            <a:ext cx="8503920" cy="731520"/>
          </a:xfrm>
          <a:prstGeom prst="rect">
            <a:avLst/>
          </a:prstGeom>
          <a:noFill/>
          <a:ln/>
        </p:spPr>
        <p:txBody>
          <a:bodyPr wrap="square" lIns="0" tIns="0" rIns="0" bIns="0" rtlCol="0" anchor="ctr"/>
          <a:lstStyle/>
          <a:p>
            <a:pPr marL="0" indent="0">
              <a:buNone/>
            </a:pPr>
            <a:r>
              <a:rPr lang="en-US" sz="1500" dirty="0">
                <a:solidFill>
                  <a:srgbClr val="DFC4C7"/>
                </a:solidFill>
                <a:latin typeface="Calibri" pitchFamily="34" charset="0"/>
                <a:ea typeface="Calibri" pitchFamily="34" charset="-122"/>
                <a:cs typeface="Calibri" pitchFamily="34" charset="-120"/>
              </a:rPr>
              <a:t>Six out-of-domain corpora, two CLAP backbones</a:t>
            </a:r>
            <a:endParaRPr lang="en-US" sz="1500" dirty="0"/>
          </a:p>
        </p:txBody>
      </p:sp>
      <p:sp>
        <p:nvSpPr>
          <p:cNvPr id="8" name="Text 6"/>
          <p:cNvSpPr txBox="1"/>
          <p:nvPr/>
        </p:nvSpPr>
        <p:spPr>
          <a:xfrm>
            <a:off x="9418320" y="6382512"/>
            <a:ext cx="2221992" cy="274320"/>
          </a:xfrm>
          <a:prstGeom prst="rect">
            <a:avLst/>
          </a:prstGeom>
          <a:noFill/>
          <a:ln/>
        </p:spPr>
        <p:txBody>
          <a:bodyPr wrap="square" lIns="0" tIns="0" rIns="0" bIns="0" rtlCol="0" anchor="ctr"/>
          <a:lstStyle/>
          <a:p>
            <a:pPr marL="0" indent="0" algn="r">
              <a:buNone/>
            </a:pPr>
            <a:r>
              <a:rPr lang="en-US" sz="900" dirty="0">
                <a:solidFill>
                  <a:srgbClr val="B59CA0"/>
                </a:solidFill>
                <a:latin typeface="Calibri" pitchFamily="34" charset="0"/>
                <a:ea typeface="Calibri" pitchFamily="34" charset="-122"/>
                <a:cs typeface="Calibri" pitchFamily="34" charset="-120"/>
              </a:rPr>
              <a:t>Emo-TTA · Shi et al. 2026  |  13</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045952" y="457200"/>
            <a:ext cx="420624" cy="274320"/>
          </a:xfrm>
          <a:prstGeom prst="ellipse">
            <a:avLst/>
          </a:prstGeom>
          <a:ln w="16510">
            <a:solidFill>
              <a:srgbClr val="8A4A52"/>
            </a:solidFill>
            <a:prstDash val="solid"/>
          </a:ln>
        </p:spPr>
        <p:txBody>
          <a:bodyPr/>
          <a:lstStyle/>
          <a:p>
            <a:endParaRPr lang="en-US"/>
          </a:p>
        </p:txBody>
      </p:sp>
      <p:sp>
        <p:nvSpPr>
          <p:cNvPr id="3" name="Shape 1"/>
          <p:cNvSpPr/>
          <p:nvPr/>
        </p:nvSpPr>
        <p:spPr>
          <a:xfrm>
            <a:off x="11164824" y="539496"/>
            <a:ext cx="82296" cy="82296"/>
          </a:xfrm>
          <a:prstGeom prst="ellipse">
            <a:avLst/>
          </a:prstGeom>
          <a:solidFill>
            <a:srgbClr val="B8871F"/>
          </a:solidFill>
          <a:ln w="12700">
            <a:solidFill>
              <a:srgbClr val="333333"/>
            </a:solidFill>
            <a:prstDash val="solid"/>
          </a:ln>
        </p:spPr>
        <p:txBody>
          <a:bodyPr/>
          <a:lstStyle/>
          <a:p>
            <a:endParaRPr lang="en-US"/>
          </a:p>
        </p:txBody>
      </p:sp>
      <p:sp>
        <p:nvSpPr>
          <p:cNvPr id="4" name="Shape 2"/>
          <p:cNvSpPr/>
          <p:nvPr/>
        </p:nvSpPr>
        <p:spPr>
          <a:xfrm>
            <a:off x="11292840" y="585216"/>
            <a:ext cx="64008" cy="64008"/>
          </a:xfrm>
          <a:prstGeom prst="ellipse">
            <a:avLst/>
          </a:prstGeom>
          <a:solidFill>
            <a:srgbClr val="B08A8E"/>
          </a:solidFill>
          <a:ln w="12700">
            <a:solidFill>
              <a:srgbClr val="333333"/>
            </a:solidFill>
            <a:prstDash val="solid"/>
          </a:ln>
        </p:spPr>
        <p:txBody>
          <a:bodyPr/>
          <a:lstStyle/>
          <a:p>
            <a:endParaRPr lang="en-US"/>
          </a:p>
        </p:txBody>
      </p:sp>
      <p:sp>
        <p:nvSpPr>
          <p:cNvPr id="5" name="Text 3"/>
          <p:cNvSpPr txBox="1"/>
          <p:nvPr/>
        </p:nvSpPr>
        <p:spPr>
          <a:xfrm>
            <a:off x="548640" y="384048"/>
            <a:ext cx="10332720" cy="566928"/>
          </a:xfrm>
          <a:prstGeom prst="rect">
            <a:avLst/>
          </a:prstGeom>
          <a:noFill/>
          <a:ln/>
        </p:spPr>
        <p:txBody>
          <a:bodyPr wrap="square" lIns="0" tIns="0" rIns="0" bIns="0" rtlCol="0" anchor="t"/>
          <a:lstStyle/>
          <a:p>
            <a:pPr marL="0" indent="0">
              <a:buNone/>
            </a:pPr>
            <a:r>
              <a:rPr lang="en-US" sz="2900" b="1" dirty="0">
                <a:solidFill>
                  <a:srgbClr val="241619"/>
                </a:solidFill>
                <a:latin typeface="Cambria" pitchFamily="34" charset="0"/>
                <a:ea typeface="Cambria" pitchFamily="34" charset="-122"/>
                <a:cs typeface="Cambria" pitchFamily="34" charset="-120"/>
              </a:rPr>
              <a:t>Setup</a:t>
            </a:r>
            <a:endParaRPr lang="en-US" sz="2900" dirty="0"/>
          </a:p>
        </p:txBody>
      </p:sp>
      <p:sp>
        <p:nvSpPr>
          <p:cNvPr id="6" name="Text 4"/>
          <p:cNvSpPr txBox="1"/>
          <p:nvPr/>
        </p:nvSpPr>
        <p:spPr>
          <a:xfrm>
            <a:off x="548640" y="969264"/>
            <a:ext cx="10332720" cy="329184"/>
          </a:xfrm>
          <a:prstGeom prst="rect">
            <a:avLst/>
          </a:prstGeom>
          <a:noFill/>
          <a:ln/>
        </p:spPr>
        <p:txBody>
          <a:bodyPr wrap="square" lIns="0" tIns="0" rIns="0" bIns="0" rtlCol="0" anchor="ctr"/>
          <a:lstStyle/>
          <a:p>
            <a:pPr marL="0" indent="0">
              <a:buNone/>
            </a:pPr>
            <a:r>
              <a:rPr lang="en-US" sz="1350" i="1" dirty="0">
                <a:solidFill>
                  <a:srgbClr val="6E5156"/>
                </a:solidFill>
                <a:latin typeface="Calibri" pitchFamily="34" charset="0"/>
                <a:ea typeface="Calibri" pitchFamily="34" charset="-122"/>
                <a:cs typeface="Calibri" pitchFamily="34" charset="-120"/>
              </a:rPr>
              <a:t>Six corpora, all evaluated out of domain</a:t>
            </a:r>
            <a:endParaRPr lang="en-US" sz="1350" dirty="0"/>
          </a:p>
        </p:txBody>
      </p:sp>
      <p:sp>
        <p:nvSpPr>
          <p:cNvPr id="7" name="Text 5"/>
          <p:cNvSpPr txBox="1"/>
          <p:nvPr/>
        </p:nvSpPr>
        <p:spPr>
          <a:xfrm>
            <a:off x="9418320" y="6382512"/>
            <a:ext cx="2221992" cy="274320"/>
          </a:xfrm>
          <a:prstGeom prst="rect">
            <a:avLst/>
          </a:prstGeom>
          <a:noFill/>
          <a:ln/>
        </p:spPr>
        <p:txBody>
          <a:bodyPr wrap="square" lIns="0" tIns="0" rIns="0" bIns="0" rtlCol="0" anchor="ctr"/>
          <a:lstStyle/>
          <a:p>
            <a:pPr marL="0" indent="0" algn="r">
              <a:buNone/>
            </a:pPr>
            <a:r>
              <a:rPr lang="en-US" sz="900" dirty="0">
                <a:solidFill>
                  <a:srgbClr val="B59CA0"/>
                </a:solidFill>
                <a:latin typeface="Calibri" pitchFamily="34" charset="0"/>
                <a:ea typeface="Calibri" pitchFamily="34" charset="-122"/>
                <a:cs typeface="Calibri" pitchFamily="34" charset="-120"/>
              </a:rPr>
              <a:t>Emo-TTA · Shi et al. 2026  |  14</a:t>
            </a:r>
            <a:endParaRPr lang="en-US" sz="900" dirty="0"/>
          </a:p>
        </p:txBody>
      </p:sp>
      <p:sp>
        <p:nvSpPr>
          <p:cNvPr id="8" name="Text 6"/>
          <p:cNvSpPr txBox="1"/>
          <p:nvPr/>
        </p:nvSpPr>
        <p:spPr>
          <a:xfrm>
            <a:off x="786384" y="1426464"/>
            <a:ext cx="1463040" cy="274320"/>
          </a:xfrm>
          <a:prstGeom prst="rect">
            <a:avLst/>
          </a:prstGeom>
          <a:noFill/>
          <a:ln/>
        </p:spPr>
        <p:txBody>
          <a:bodyPr wrap="square" lIns="0" tIns="0" rIns="0" bIns="0" rtlCol="0" anchor="ctr"/>
          <a:lstStyle/>
          <a:p>
            <a:pPr marL="0" indent="0">
              <a:buNone/>
            </a:pPr>
            <a:r>
              <a:rPr lang="en-US" sz="1150" b="1" dirty="0">
                <a:solidFill>
                  <a:srgbClr val="6E5156"/>
                </a:solidFill>
                <a:latin typeface="Calibri" pitchFamily="34" charset="0"/>
                <a:ea typeface="Calibri" pitchFamily="34" charset="-122"/>
                <a:cs typeface="Calibri" pitchFamily="34" charset="-120"/>
              </a:rPr>
              <a:t>Corpus</a:t>
            </a:r>
            <a:endParaRPr lang="en-US" sz="1150" dirty="0"/>
          </a:p>
        </p:txBody>
      </p:sp>
      <p:sp>
        <p:nvSpPr>
          <p:cNvPr id="9" name="Text 7"/>
          <p:cNvSpPr txBox="1"/>
          <p:nvPr/>
        </p:nvSpPr>
        <p:spPr>
          <a:xfrm>
            <a:off x="2286000" y="1426464"/>
            <a:ext cx="4023360" cy="274320"/>
          </a:xfrm>
          <a:prstGeom prst="rect">
            <a:avLst/>
          </a:prstGeom>
          <a:noFill/>
          <a:ln/>
        </p:spPr>
        <p:txBody>
          <a:bodyPr wrap="square" lIns="0" tIns="0" rIns="0" bIns="0" rtlCol="0" anchor="ctr"/>
          <a:lstStyle/>
          <a:p>
            <a:pPr marL="0" indent="0">
              <a:buNone/>
            </a:pPr>
            <a:r>
              <a:rPr lang="en-US" sz="1150" b="1" dirty="0">
                <a:solidFill>
                  <a:srgbClr val="6E5156"/>
                </a:solidFill>
                <a:latin typeface="Calibri" pitchFamily="34" charset="0"/>
                <a:ea typeface="Calibri" pitchFamily="34" charset="-122"/>
                <a:cs typeface="Calibri" pitchFamily="34" charset="-120"/>
              </a:rPr>
              <a:t>Content</a:t>
            </a:r>
            <a:endParaRPr lang="en-US" sz="1150" dirty="0"/>
          </a:p>
        </p:txBody>
      </p:sp>
      <p:sp>
        <p:nvSpPr>
          <p:cNvPr id="10" name="Text 8"/>
          <p:cNvSpPr txBox="1"/>
          <p:nvPr/>
        </p:nvSpPr>
        <p:spPr>
          <a:xfrm>
            <a:off x="6400800" y="1426464"/>
            <a:ext cx="1188720" cy="274320"/>
          </a:xfrm>
          <a:prstGeom prst="rect">
            <a:avLst/>
          </a:prstGeom>
          <a:noFill/>
          <a:ln/>
        </p:spPr>
        <p:txBody>
          <a:bodyPr wrap="square" lIns="0" tIns="0" rIns="0" bIns="0" rtlCol="0" anchor="ctr"/>
          <a:lstStyle/>
          <a:p>
            <a:pPr marL="0" indent="0">
              <a:buNone/>
            </a:pPr>
            <a:r>
              <a:rPr lang="en-US" sz="1150" b="1" dirty="0">
                <a:solidFill>
                  <a:srgbClr val="6E5156"/>
                </a:solidFill>
                <a:latin typeface="Calibri" pitchFamily="34" charset="0"/>
                <a:ea typeface="Calibri" pitchFamily="34" charset="-122"/>
                <a:cs typeface="Calibri" pitchFamily="34" charset="-120"/>
              </a:rPr>
              <a:t>Classes</a:t>
            </a:r>
            <a:endParaRPr lang="en-US" sz="1150" dirty="0"/>
          </a:p>
        </p:txBody>
      </p:sp>
      <p:sp>
        <p:nvSpPr>
          <p:cNvPr id="11" name="Text 9"/>
          <p:cNvSpPr txBox="1"/>
          <p:nvPr/>
        </p:nvSpPr>
        <p:spPr>
          <a:xfrm>
            <a:off x="7680960" y="1426464"/>
            <a:ext cx="3931920" cy="274320"/>
          </a:xfrm>
          <a:prstGeom prst="rect">
            <a:avLst/>
          </a:prstGeom>
          <a:noFill/>
          <a:ln/>
        </p:spPr>
        <p:txBody>
          <a:bodyPr wrap="square" lIns="0" tIns="0" rIns="0" bIns="0" rtlCol="0" anchor="ctr"/>
          <a:lstStyle/>
          <a:p>
            <a:pPr marL="0" indent="0">
              <a:buNone/>
            </a:pPr>
            <a:r>
              <a:rPr lang="en-US" sz="1150" b="1" dirty="0">
                <a:solidFill>
                  <a:srgbClr val="6E5156"/>
                </a:solidFill>
                <a:latin typeface="Calibri" pitchFamily="34" charset="0"/>
                <a:ea typeface="Calibri" pitchFamily="34" charset="-122"/>
                <a:cs typeface="Calibri" pitchFamily="34" charset="-120"/>
              </a:rPr>
              <a:t>Protocol</a:t>
            </a:r>
            <a:endParaRPr lang="en-US" sz="1150" dirty="0"/>
          </a:p>
        </p:txBody>
      </p:sp>
      <p:sp>
        <p:nvSpPr>
          <p:cNvPr id="12" name="Shape 10"/>
          <p:cNvSpPr/>
          <p:nvPr/>
        </p:nvSpPr>
        <p:spPr>
          <a:xfrm>
            <a:off x="566928" y="1719072"/>
            <a:ext cx="11064240" cy="438912"/>
          </a:xfrm>
          <a:prstGeom prst="roundRect">
            <a:avLst>
              <a:gd name="adj" fmla="val 4167"/>
            </a:avLst>
          </a:prstGeom>
          <a:solidFill>
            <a:srgbClr val="F7F1F2"/>
          </a:solidFill>
          <a:ln w="12700">
            <a:solidFill>
              <a:srgbClr val="F0E6E8"/>
            </a:solidFill>
            <a:prstDash val="solid"/>
          </a:ln>
        </p:spPr>
        <p:txBody>
          <a:bodyPr/>
          <a:lstStyle/>
          <a:p>
            <a:endParaRPr lang="en-US"/>
          </a:p>
        </p:txBody>
      </p:sp>
      <p:sp>
        <p:nvSpPr>
          <p:cNvPr id="13" name="Text 11"/>
          <p:cNvSpPr txBox="1"/>
          <p:nvPr/>
        </p:nvSpPr>
        <p:spPr>
          <a:xfrm>
            <a:off x="786384" y="1783080"/>
            <a:ext cx="1463040" cy="310896"/>
          </a:xfrm>
          <a:prstGeom prst="rect">
            <a:avLst/>
          </a:prstGeom>
          <a:noFill/>
          <a:ln/>
        </p:spPr>
        <p:txBody>
          <a:bodyPr wrap="square" lIns="0" tIns="0" rIns="0" bIns="0" rtlCol="0" anchor="ctr"/>
          <a:lstStyle/>
          <a:p>
            <a:pPr marL="0" indent="0">
              <a:buNone/>
            </a:pPr>
            <a:r>
              <a:rPr lang="en-US" sz="1140" b="1" dirty="0">
                <a:solidFill>
                  <a:srgbClr val="241619"/>
                </a:solidFill>
                <a:latin typeface="Calibri" pitchFamily="34" charset="0"/>
                <a:ea typeface="Calibri" pitchFamily="34" charset="-122"/>
                <a:cs typeface="Calibri" pitchFamily="34" charset="-120"/>
              </a:rPr>
              <a:t>IEMOCAP</a:t>
            </a:r>
            <a:endParaRPr lang="en-US" sz="1140" dirty="0"/>
          </a:p>
        </p:txBody>
      </p:sp>
      <p:sp>
        <p:nvSpPr>
          <p:cNvPr id="14" name="Text 12"/>
          <p:cNvSpPr txBox="1"/>
          <p:nvPr/>
        </p:nvSpPr>
        <p:spPr>
          <a:xfrm>
            <a:off x="2286000" y="1783080"/>
            <a:ext cx="4023360" cy="310896"/>
          </a:xfrm>
          <a:prstGeom prst="rect">
            <a:avLst/>
          </a:prstGeom>
          <a:noFill/>
          <a:ln/>
        </p:spPr>
        <p:txBody>
          <a:bodyPr wrap="square" lIns="0" tIns="0" rIns="0" bIns="0" rtlCol="0" anchor="ctr"/>
          <a:lstStyle/>
          <a:p>
            <a:pPr marL="0" indent="0">
              <a:buNone/>
            </a:pPr>
            <a:r>
              <a:rPr lang="en-US" sz="1140" dirty="0">
                <a:solidFill>
                  <a:srgbClr val="352428"/>
                </a:solidFill>
                <a:latin typeface="Calibri" pitchFamily="34" charset="0"/>
                <a:ea typeface="Calibri" pitchFamily="34" charset="-122"/>
                <a:cs typeface="Calibri" pitchFamily="34" charset="-120"/>
              </a:rPr>
              <a:t>Dyadic scripted and improvised dialogue, 10 speakers</a:t>
            </a:r>
            <a:endParaRPr lang="en-US" sz="1140" dirty="0"/>
          </a:p>
        </p:txBody>
      </p:sp>
      <p:sp>
        <p:nvSpPr>
          <p:cNvPr id="15" name="Text 13"/>
          <p:cNvSpPr txBox="1"/>
          <p:nvPr/>
        </p:nvSpPr>
        <p:spPr>
          <a:xfrm>
            <a:off x="6400800" y="1783080"/>
            <a:ext cx="1188720" cy="310896"/>
          </a:xfrm>
          <a:prstGeom prst="rect">
            <a:avLst/>
          </a:prstGeom>
          <a:noFill/>
          <a:ln/>
        </p:spPr>
        <p:txBody>
          <a:bodyPr wrap="square" lIns="0" tIns="0" rIns="0" bIns="0" rtlCol="0" anchor="ctr"/>
          <a:lstStyle/>
          <a:p>
            <a:pPr marL="0" indent="0">
              <a:buNone/>
            </a:pPr>
            <a:r>
              <a:rPr lang="en-US" sz="1140" dirty="0">
                <a:solidFill>
                  <a:srgbClr val="352428"/>
                </a:solidFill>
                <a:latin typeface="Calibri" pitchFamily="34" charset="0"/>
                <a:ea typeface="Calibri" pitchFamily="34" charset="-122"/>
                <a:cs typeface="Calibri" pitchFamily="34" charset="-120"/>
              </a:rPr>
              <a:t>4</a:t>
            </a:r>
            <a:endParaRPr lang="en-US" sz="1140" dirty="0"/>
          </a:p>
        </p:txBody>
      </p:sp>
      <p:sp>
        <p:nvSpPr>
          <p:cNvPr id="16" name="Text 14"/>
          <p:cNvSpPr txBox="1"/>
          <p:nvPr/>
        </p:nvSpPr>
        <p:spPr>
          <a:xfrm>
            <a:off x="7680960" y="1783080"/>
            <a:ext cx="3931920" cy="310896"/>
          </a:xfrm>
          <a:prstGeom prst="rect">
            <a:avLst/>
          </a:prstGeom>
          <a:noFill/>
          <a:ln/>
        </p:spPr>
        <p:txBody>
          <a:bodyPr wrap="square" lIns="0" tIns="0" rIns="0" bIns="0" rtlCol="0" anchor="ctr"/>
          <a:lstStyle/>
          <a:p>
            <a:pPr marL="0" indent="0">
              <a:buNone/>
            </a:pPr>
            <a:r>
              <a:rPr lang="en-US" sz="1140" dirty="0">
                <a:solidFill>
                  <a:srgbClr val="352428"/>
                </a:solidFill>
                <a:latin typeface="Calibri" pitchFamily="34" charset="0"/>
                <a:ea typeface="Calibri" pitchFamily="34" charset="-122"/>
                <a:cs typeface="Calibri" pitchFamily="34" charset="-120"/>
              </a:rPr>
              <a:t>5-fold leave-one-session-out, excited merged into happy</a:t>
            </a:r>
            <a:endParaRPr lang="en-US" sz="1140" dirty="0"/>
          </a:p>
        </p:txBody>
      </p:sp>
      <p:sp>
        <p:nvSpPr>
          <p:cNvPr id="17" name="Shape 15"/>
          <p:cNvSpPr/>
          <p:nvPr/>
        </p:nvSpPr>
        <p:spPr>
          <a:xfrm>
            <a:off x="566928" y="2194560"/>
            <a:ext cx="11064240" cy="438912"/>
          </a:xfrm>
          <a:prstGeom prst="roundRect">
            <a:avLst>
              <a:gd name="adj" fmla="val 4167"/>
            </a:avLst>
          </a:prstGeom>
          <a:solidFill>
            <a:srgbClr val="FFFFFF"/>
          </a:solidFill>
          <a:ln w="12700">
            <a:solidFill>
              <a:srgbClr val="F0E6E8"/>
            </a:solidFill>
            <a:prstDash val="solid"/>
          </a:ln>
        </p:spPr>
        <p:txBody>
          <a:bodyPr/>
          <a:lstStyle/>
          <a:p>
            <a:endParaRPr lang="en-US"/>
          </a:p>
        </p:txBody>
      </p:sp>
      <p:sp>
        <p:nvSpPr>
          <p:cNvPr id="18" name="Text 16"/>
          <p:cNvSpPr txBox="1"/>
          <p:nvPr/>
        </p:nvSpPr>
        <p:spPr>
          <a:xfrm>
            <a:off x="786384" y="2258568"/>
            <a:ext cx="1463040" cy="310896"/>
          </a:xfrm>
          <a:prstGeom prst="rect">
            <a:avLst/>
          </a:prstGeom>
          <a:noFill/>
          <a:ln/>
        </p:spPr>
        <p:txBody>
          <a:bodyPr wrap="square" lIns="0" tIns="0" rIns="0" bIns="0" rtlCol="0" anchor="ctr"/>
          <a:lstStyle/>
          <a:p>
            <a:pPr marL="0" indent="0">
              <a:buNone/>
            </a:pPr>
            <a:r>
              <a:rPr lang="en-US" sz="1140" b="1" dirty="0">
                <a:solidFill>
                  <a:srgbClr val="241619"/>
                </a:solidFill>
                <a:latin typeface="Calibri" pitchFamily="34" charset="0"/>
                <a:ea typeface="Calibri" pitchFamily="34" charset="-122"/>
                <a:cs typeface="Calibri" pitchFamily="34" charset="-120"/>
              </a:rPr>
              <a:t>MELD</a:t>
            </a:r>
            <a:endParaRPr lang="en-US" sz="1140" dirty="0"/>
          </a:p>
        </p:txBody>
      </p:sp>
      <p:sp>
        <p:nvSpPr>
          <p:cNvPr id="19" name="Text 17"/>
          <p:cNvSpPr txBox="1"/>
          <p:nvPr/>
        </p:nvSpPr>
        <p:spPr>
          <a:xfrm>
            <a:off x="2286000" y="2258568"/>
            <a:ext cx="4023360" cy="310896"/>
          </a:xfrm>
          <a:prstGeom prst="rect">
            <a:avLst/>
          </a:prstGeom>
          <a:noFill/>
          <a:ln/>
        </p:spPr>
        <p:txBody>
          <a:bodyPr wrap="square" lIns="0" tIns="0" rIns="0" bIns="0" rtlCol="0" anchor="ctr"/>
          <a:lstStyle/>
          <a:p>
            <a:pPr marL="0" indent="0">
              <a:buNone/>
            </a:pPr>
            <a:r>
              <a:rPr lang="en-US" sz="1140" dirty="0">
                <a:solidFill>
                  <a:srgbClr val="352428"/>
                </a:solidFill>
                <a:latin typeface="Calibri" pitchFamily="34" charset="0"/>
                <a:ea typeface="Calibri" pitchFamily="34" charset="-122"/>
                <a:cs typeface="Calibri" pitchFamily="34" charset="-120"/>
              </a:rPr>
              <a:t>Multi-party dialogue from Friends</a:t>
            </a:r>
            <a:endParaRPr lang="en-US" sz="1140" dirty="0"/>
          </a:p>
        </p:txBody>
      </p:sp>
      <p:sp>
        <p:nvSpPr>
          <p:cNvPr id="20" name="Text 18"/>
          <p:cNvSpPr txBox="1"/>
          <p:nvPr/>
        </p:nvSpPr>
        <p:spPr>
          <a:xfrm>
            <a:off x="6400800" y="2258568"/>
            <a:ext cx="1188720" cy="310896"/>
          </a:xfrm>
          <a:prstGeom prst="rect">
            <a:avLst/>
          </a:prstGeom>
          <a:noFill/>
          <a:ln/>
        </p:spPr>
        <p:txBody>
          <a:bodyPr wrap="square" lIns="0" tIns="0" rIns="0" bIns="0" rtlCol="0" anchor="ctr"/>
          <a:lstStyle/>
          <a:p>
            <a:pPr marL="0" indent="0">
              <a:buNone/>
            </a:pPr>
            <a:r>
              <a:rPr lang="en-US" sz="1140" dirty="0">
                <a:solidFill>
                  <a:srgbClr val="352428"/>
                </a:solidFill>
                <a:latin typeface="Calibri" pitchFamily="34" charset="0"/>
                <a:ea typeface="Calibri" pitchFamily="34" charset="-122"/>
                <a:cs typeface="Calibri" pitchFamily="34" charset="-120"/>
              </a:rPr>
              <a:t>4 (mapped)</a:t>
            </a:r>
            <a:endParaRPr lang="en-US" sz="1140" dirty="0"/>
          </a:p>
        </p:txBody>
      </p:sp>
      <p:sp>
        <p:nvSpPr>
          <p:cNvPr id="21" name="Text 19"/>
          <p:cNvSpPr txBox="1"/>
          <p:nvPr/>
        </p:nvSpPr>
        <p:spPr>
          <a:xfrm>
            <a:off x="7680960" y="2258568"/>
            <a:ext cx="3931920" cy="310896"/>
          </a:xfrm>
          <a:prstGeom prst="rect">
            <a:avLst/>
          </a:prstGeom>
          <a:noFill/>
          <a:ln/>
        </p:spPr>
        <p:txBody>
          <a:bodyPr wrap="square" lIns="0" tIns="0" rIns="0" bIns="0" rtlCol="0" anchor="ctr"/>
          <a:lstStyle/>
          <a:p>
            <a:pPr marL="0" indent="0">
              <a:buNone/>
            </a:pPr>
            <a:r>
              <a:rPr lang="en-US" sz="1140" dirty="0">
                <a:solidFill>
                  <a:srgbClr val="352428"/>
                </a:solidFill>
                <a:latin typeface="Calibri" pitchFamily="34" charset="0"/>
                <a:ea typeface="Calibri" pitchFamily="34" charset="-122"/>
                <a:cs typeface="Calibri" pitchFamily="34" charset="-120"/>
              </a:rPr>
              <a:t>Official train/dev/test split</a:t>
            </a:r>
            <a:endParaRPr lang="en-US" sz="1140" dirty="0"/>
          </a:p>
        </p:txBody>
      </p:sp>
      <p:sp>
        <p:nvSpPr>
          <p:cNvPr id="22" name="Shape 20"/>
          <p:cNvSpPr/>
          <p:nvPr/>
        </p:nvSpPr>
        <p:spPr>
          <a:xfrm>
            <a:off x="566928" y="2670048"/>
            <a:ext cx="11064240" cy="438912"/>
          </a:xfrm>
          <a:prstGeom prst="roundRect">
            <a:avLst>
              <a:gd name="adj" fmla="val 4167"/>
            </a:avLst>
          </a:prstGeom>
          <a:solidFill>
            <a:srgbClr val="F7F1F2"/>
          </a:solidFill>
          <a:ln w="12700">
            <a:solidFill>
              <a:srgbClr val="F0E6E8"/>
            </a:solidFill>
            <a:prstDash val="solid"/>
          </a:ln>
        </p:spPr>
        <p:txBody>
          <a:bodyPr/>
          <a:lstStyle/>
          <a:p>
            <a:endParaRPr lang="en-US"/>
          </a:p>
        </p:txBody>
      </p:sp>
      <p:sp>
        <p:nvSpPr>
          <p:cNvPr id="23" name="Text 21"/>
          <p:cNvSpPr txBox="1"/>
          <p:nvPr/>
        </p:nvSpPr>
        <p:spPr>
          <a:xfrm>
            <a:off x="786384" y="2734056"/>
            <a:ext cx="1463040" cy="310896"/>
          </a:xfrm>
          <a:prstGeom prst="rect">
            <a:avLst/>
          </a:prstGeom>
          <a:noFill/>
          <a:ln/>
        </p:spPr>
        <p:txBody>
          <a:bodyPr wrap="square" lIns="0" tIns="0" rIns="0" bIns="0" rtlCol="0" anchor="ctr"/>
          <a:lstStyle/>
          <a:p>
            <a:pPr marL="0" indent="0">
              <a:buNone/>
            </a:pPr>
            <a:r>
              <a:rPr lang="en-US" sz="1140" b="1" dirty="0">
                <a:solidFill>
                  <a:srgbClr val="241619"/>
                </a:solidFill>
                <a:latin typeface="Calibri" pitchFamily="34" charset="0"/>
                <a:ea typeface="Calibri" pitchFamily="34" charset="-122"/>
                <a:cs typeface="Calibri" pitchFamily="34" charset="-120"/>
              </a:rPr>
              <a:t>RAVDESS</a:t>
            </a:r>
            <a:endParaRPr lang="en-US" sz="1140" dirty="0"/>
          </a:p>
        </p:txBody>
      </p:sp>
      <p:sp>
        <p:nvSpPr>
          <p:cNvPr id="24" name="Text 22"/>
          <p:cNvSpPr txBox="1"/>
          <p:nvPr/>
        </p:nvSpPr>
        <p:spPr>
          <a:xfrm>
            <a:off x="2286000" y="2734056"/>
            <a:ext cx="4023360" cy="310896"/>
          </a:xfrm>
          <a:prstGeom prst="rect">
            <a:avLst/>
          </a:prstGeom>
          <a:noFill/>
          <a:ln/>
        </p:spPr>
        <p:txBody>
          <a:bodyPr wrap="square" lIns="0" tIns="0" rIns="0" bIns="0" rtlCol="0" anchor="ctr"/>
          <a:lstStyle/>
          <a:p>
            <a:pPr marL="0" indent="0">
              <a:buNone/>
            </a:pPr>
            <a:r>
              <a:rPr lang="en-US" sz="1140" dirty="0">
                <a:solidFill>
                  <a:srgbClr val="352428"/>
                </a:solidFill>
                <a:latin typeface="Calibri" pitchFamily="34" charset="0"/>
                <a:ea typeface="Calibri" pitchFamily="34" charset="-122"/>
                <a:cs typeface="Calibri" pitchFamily="34" charset="-120"/>
              </a:rPr>
              <a:t>2.5k studio utterances, about 5 s each</a:t>
            </a:r>
            <a:endParaRPr lang="en-US" sz="1140" dirty="0"/>
          </a:p>
        </p:txBody>
      </p:sp>
      <p:sp>
        <p:nvSpPr>
          <p:cNvPr id="25" name="Text 23"/>
          <p:cNvSpPr txBox="1"/>
          <p:nvPr/>
        </p:nvSpPr>
        <p:spPr>
          <a:xfrm>
            <a:off x="6400800" y="2734056"/>
            <a:ext cx="1188720" cy="310896"/>
          </a:xfrm>
          <a:prstGeom prst="rect">
            <a:avLst/>
          </a:prstGeom>
          <a:noFill/>
          <a:ln/>
        </p:spPr>
        <p:txBody>
          <a:bodyPr wrap="square" lIns="0" tIns="0" rIns="0" bIns="0" rtlCol="0" anchor="ctr"/>
          <a:lstStyle/>
          <a:p>
            <a:pPr marL="0" indent="0">
              <a:buNone/>
            </a:pPr>
            <a:r>
              <a:rPr lang="en-US" sz="1140" dirty="0">
                <a:solidFill>
                  <a:srgbClr val="352428"/>
                </a:solidFill>
                <a:latin typeface="Calibri" pitchFamily="34" charset="0"/>
                <a:ea typeface="Calibri" pitchFamily="34" charset="-122"/>
                <a:cs typeface="Calibri" pitchFamily="34" charset="-120"/>
              </a:rPr>
              <a:t>8</a:t>
            </a:r>
            <a:endParaRPr lang="en-US" sz="1140" dirty="0"/>
          </a:p>
        </p:txBody>
      </p:sp>
      <p:sp>
        <p:nvSpPr>
          <p:cNvPr id="26" name="Text 24"/>
          <p:cNvSpPr txBox="1"/>
          <p:nvPr/>
        </p:nvSpPr>
        <p:spPr>
          <a:xfrm>
            <a:off x="7680960" y="2734056"/>
            <a:ext cx="3931920" cy="310896"/>
          </a:xfrm>
          <a:prstGeom prst="rect">
            <a:avLst/>
          </a:prstGeom>
          <a:noFill/>
          <a:ln/>
        </p:spPr>
        <p:txBody>
          <a:bodyPr wrap="square" lIns="0" tIns="0" rIns="0" bIns="0" rtlCol="0" anchor="ctr"/>
          <a:lstStyle/>
          <a:p>
            <a:pPr marL="0" indent="0">
              <a:buNone/>
            </a:pPr>
            <a:r>
              <a:rPr lang="en-US" sz="1140" dirty="0">
                <a:solidFill>
                  <a:srgbClr val="352428"/>
                </a:solidFill>
                <a:latin typeface="Calibri" pitchFamily="34" charset="0"/>
                <a:ea typeface="Calibri" pitchFamily="34" charset="-122"/>
                <a:cs typeface="Calibri" pitchFamily="34" charset="-120"/>
              </a:rPr>
              <a:t>5-fold stratified cross-validation</a:t>
            </a:r>
            <a:endParaRPr lang="en-US" sz="1140" dirty="0"/>
          </a:p>
        </p:txBody>
      </p:sp>
      <p:sp>
        <p:nvSpPr>
          <p:cNvPr id="27" name="Shape 25"/>
          <p:cNvSpPr/>
          <p:nvPr/>
        </p:nvSpPr>
        <p:spPr>
          <a:xfrm>
            <a:off x="566928" y="3145536"/>
            <a:ext cx="11064240" cy="438912"/>
          </a:xfrm>
          <a:prstGeom prst="roundRect">
            <a:avLst>
              <a:gd name="adj" fmla="val 4167"/>
            </a:avLst>
          </a:prstGeom>
          <a:solidFill>
            <a:srgbClr val="FFFFFF"/>
          </a:solidFill>
          <a:ln w="12700">
            <a:solidFill>
              <a:srgbClr val="F0E6E8"/>
            </a:solidFill>
            <a:prstDash val="solid"/>
          </a:ln>
        </p:spPr>
        <p:txBody>
          <a:bodyPr/>
          <a:lstStyle/>
          <a:p>
            <a:endParaRPr lang="en-US"/>
          </a:p>
        </p:txBody>
      </p:sp>
      <p:sp>
        <p:nvSpPr>
          <p:cNvPr id="28" name="Text 26"/>
          <p:cNvSpPr txBox="1"/>
          <p:nvPr/>
        </p:nvSpPr>
        <p:spPr>
          <a:xfrm>
            <a:off x="786384" y="3209544"/>
            <a:ext cx="1463040" cy="310896"/>
          </a:xfrm>
          <a:prstGeom prst="rect">
            <a:avLst/>
          </a:prstGeom>
          <a:noFill/>
          <a:ln/>
        </p:spPr>
        <p:txBody>
          <a:bodyPr wrap="square" lIns="0" tIns="0" rIns="0" bIns="0" rtlCol="0" anchor="ctr"/>
          <a:lstStyle/>
          <a:p>
            <a:pPr marL="0" indent="0">
              <a:buNone/>
            </a:pPr>
            <a:r>
              <a:rPr lang="en-US" sz="1140" b="1" dirty="0">
                <a:solidFill>
                  <a:srgbClr val="241619"/>
                </a:solidFill>
                <a:latin typeface="Calibri" pitchFamily="34" charset="0"/>
                <a:ea typeface="Calibri" pitchFamily="34" charset="-122"/>
                <a:cs typeface="Calibri" pitchFamily="34" charset="-120"/>
              </a:rPr>
              <a:t>TESS</a:t>
            </a:r>
            <a:endParaRPr lang="en-US" sz="1140" dirty="0"/>
          </a:p>
        </p:txBody>
      </p:sp>
      <p:sp>
        <p:nvSpPr>
          <p:cNvPr id="29" name="Text 27"/>
          <p:cNvSpPr txBox="1"/>
          <p:nvPr/>
        </p:nvSpPr>
        <p:spPr>
          <a:xfrm>
            <a:off x="2286000" y="3209544"/>
            <a:ext cx="4023360" cy="310896"/>
          </a:xfrm>
          <a:prstGeom prst="rect">
            <a:avLst/>
          </a:prstGeom>
          <a:noFill/>
          <a:ln/>
        </p:spPr>
        <p:txBody>
          <a:bodyPr wrap="square" lIns="0" tIns="0" rIns="0" bIns="0" rtlCol="0" anchor="ctr"/>
          <a:lstStyle/>
          <a:p>
            <a:pPr marL="0" indent="0">
              <a:buNone/>
            </a:pPr>
            <a:r>
              <a:rPr lang="en-US" sz="1140" dirty="0">
                <a:solidFill>
                  <a:srgbClr val="352428"/>
                </a:solidFill>
                <a:latin typeface="Calibri" pitchFamily="34" charset="0"/>
                <a:ea typeface="Calibri" pitchFamily="34" charset="-122"/>
                <a:cs typeface="Calibri" pitchFamily="34" charset="-120"/>
              </a:rPr>
              <a:t>Acted, consistent recording conditions</a:t>
            </a:r>
            <a:endParaRPr lang="en-US" sz="1140" dirty="0"/>
          </a:p>
        </p:txBody>
      </p:sp>
      <p:sp>
        <p:nvSpPr>
          <p:cNvPr id="30" name="Text 28"/>
          <p:cNvSpPr txBox="1"/>
          <p:nvPr/>
        </p:nvSpPr>
        <p:spPr>
          <a:xfrm>
            <a:off x="6400800" y="3209544"/>
            <a:ext cx="1188720" cy="310896"/>
          </a:xfrm>
          <a:prstGeom prst="rect">
            <a:avLst/>
          </a:prstGeom>
          <a:noFill/>
          <a:ln/>
        </p:spPr>
        <p:txBody>
          <a:bodyPr wrap="square" lIns="0" tIns="0" rIns="0" bIns="0" rtlCol="0" anchor="ctr"/>
          <a:lstStyle/>
          <a:p>
            <a:pPr marL="0" indent="0">
              <a:buNone/>
            </a:pPr>
            <a:r>
              <a:rPr lang="en-US" sz="1140" dirty="0">
                <a:solidFill>
                  <a:srgbClr val="352428"/>
                </a:solidFill>
                <a:latin typeface="Calibri" pitchFamily="34" charset="0"/>
                <a:ea typeface="Calibri" pitchFamily="34" charset="-122"/>
                <a:cs typeface="Calibri" pitchFamily="34" charset="-120"/>
              </a:rPr>
              <a:t>4 (mapped)</a:t>
            </a:r>
            <a:endParaRPr lang="en-US" sz="1140" dirty="0"/>
          </a:p>
        </p:txBody>
      </p:sp>
      <p:sp>
        <p:nvSpPr>
          <p:cNvPr id="31" name="Text 29"/>
          <p:cNvSpPr txBox="1"/>
          <p:nvPr/>
        </p:nvSpPr>
        <p:spPr>
          <a:xfrm>
            <a:off x="7680960" y="3209544"/>
            <a:ext cx="3931920" cy="310896"/>
          </a:xfrm>
          <a:prstGeom prst="rect">
            <a:avLst/>
          </a:prstGeom>
          <a:noFill/>
          <a:ln/>
        </p:spPr>
        <p:txBody>
          <a:bodyPr wrap="square" lIns="0" tIns="0" rIns="0" bIns="0" rtlCol="0" anchor="ctr"/>
          <a:lstStyle/>
          <a:p>
            <a:pPr marL="0" indent="0">
              <a:buNone/>
            </a:pPr>
            <a:r>
              <a:rPr lang="en-US" sz="1140" dirty="0">
                <a:solidFill>
                  <a:srgbClr val="352428"/>
                </a:solidFill>
                <a:latin typeface="Calibri" pitchFamily="34" charset="0"/>
                <a:ea typeface="Calibri" pitchFamily="34" charset="-122"/>
                <a:cs typeface="Calibri" pitchFamily="34" charset="-120"/>
              </a:rPr>
              <a:t>Random 10-fold cross-validation</a:t>
            </a:r>
            <a:endParaRPr lang="en-US" sz="1140" dirty="0"/>
          </a:p>
        </p:txBody>
      </p:sp>
      <p:sp>
        <p:nvSpPr>
          <p:cNvPr id="32" name="Shape 30"/>
          <p:cNvSpPr/>
          <p:nvPr/>
        </p:nvSpPr>
        <p:spPr>
          <a:xfrm>
            <a:off x="566928" y="3621024"/>
            <a:ext cx="11064240" cy="438912"/>
          </a:xfrm>
          <a:prstGeom prst="roundRect">
            <a:avLst>
              <a:gd name="adj" fmla="val 4167"/>
            </a:avLst>
          </a:prstGeom>
          <a:solidFill>
            <a:srgbClr val="F7F1F2"/>
          </a:solidFill>
          <a:ln w="12700">
            <a:solidFill>
              <a:srgbClr val="F0E6E8"/>
            </a:solidFill>
            <a:prstDash val="solid"/>
          </a:ln>
        </p:spPr>
        <p:txBody>
          <a:bodyPr/>
          <a:lstStyle/>
          <a:p>
            <a:endParaRPr lang="en-US"/>
          </a:p>
        </p:txBody>
      </p:sp>
      <p:sp>
        <p:nvSpPr>
          <p:cNvPr id="33" name="Text 31"/>
          <p:cNvSpPr txBox="1"/>
          <p:nvPr/>
        </p:nvSpPr>
        <p:spPr>
          <a:xfrm>
            <a:off x="786384" y="3685032"/>
            <a:ext cx="1463040" cy="310896"/>
          </a:xfrm>
          <a:prstGeom prst="rect">
            <a:avLst/>
          </a:prstGeom>
          <a:noFill/>
          <a:ln/>
        </p:spPr>
        <p:txBody>
          <a:bodyPr wrap="square" lIns="0" tIns="0" rIns="0" bIns="0" rtlCol="0" anchor="ctr"/>
          <a:lstStyle/>
          <a:p>
            <a:pPr marL="0" indent="0">
              <a:buNone/>
            </a:pPr>
            <a:r>
              <a:rPr lang="en-US" sz="1140" b="1" dirty="0">
                <a:solidFill>
                  <a:srgbClr val="241619"/>
                </a:solidFill>
                <a:latin typeface="Calibri" pitchFamily="34" charset="0"/>
                <a:ea typeface="Calibri" pitchFamily="34" charset="-122"/>
                <a:cs typeface="Calibri" pitchFamily="34" charset="-120"/>
              </a:rPr>
              <a:t>SAVEE</a:t>
            </a:r>
            <a:endParaRPr lang="en-US" sz="1140" dirty="0"/>
          </a:p>
        </p:txBody>
      </p:sp>
      <p:sp>
        <p:nvSpPr>
          <p:cNvPr id="34" name="Text 32"/>
          <p:cNvSpPr txBox="1"/>
          <p:nvPr/>
        </p:nvSpPr>
        <p:spPr>
          <a:xfrm>
            <a:off x="2286000" y="3685032"/>
            <a:ext cx="4023360" cy="310896"/>
          </a:xfrm>
          <a:prstGeom prst="rect">
            <a:avLst/>
          </a:prstGeom>
          <a:noFill/>
          <a:ln/>
        </p:spPr>
        <p:txBody>
          <a:bodyPr wrap="square" lIns="0" tIns="0" rIns="0" bIns="0" rtlCol="0" anchor="ctr"/>
          <a:lstStyle/>
          <a:p>
            <a:pPr marL="0" indent="0">
              <a:buNone/>
            </a:pPr>
            <a:r>
              <a:rPr lang="en-US" sz="1140" dirty="0">
                <a:solidFill>
                  <a:srgbClr val="352428"/>
                </a:solidFill>
                <a:latin typeface="Calibri" pitchFamily="34" charset="0"/>
                <a:ea typeface="Calibri" pitchFamily="34" charset="-122"/>
                <a:cs typeface="Calibri" pitchFamily="34" charset="-120"/>
              </a:rPr>
              <a:t>Acted, consistent recording conditions</a:t>
            </a:r>
            <a:endParaRPr lang="en-US" sz="1140" dirty="0"/>
          </a:p>
        </p:txBody>
      </p:sp>
      <p:sp>
        <p:nvSpPr>
          <p:cNvPr id="35" name="Text 33"/>
          <p:cNvSpPr txBox="1"/>
          <p:nvPr/>
        </p:nvSpPr>
        <p:spPr>
          <a:xfrm>
            <a:off x="6400800" y="3685032"/>
            <a:ext cx="1188720" cy="310896"/>
          </a:xfrm>
          <a:prstGeom prst="rect">
            <a:avLst/>
          </a:prstGeom>
          <a:noFill/>
          <a:ln/>
        </p:spPr>
        <p:txBody>
          <a:bodyPr wrap="square" lIns="0" tIns="0" rIns="0" bIns="0" rtlCol="0" anchor="ctr"/>
          <a:lstStyle/>
          <a:p>
            <a:pPr marL="0" indent="0">
              <a:buNone/>
            </a:pPr>
            <a:r>
              <a:rPr lang="en-US" sz="1140" dirty="0">
                <a:solidFill>
                  <a:srgbClr val="352428"/>
                </a:solidFill>
                <a:latin typeface="Calibri" pitchFamily="34" charset="0"/>
                <a:ea typeface="Calibri" pitchFamily="34" charset="-122"/>
                <a:cs typeface="Calibri" pitchFamily="34" charset="-120"/>
              </a:rPr>
              <a:t>4 (mapped)</a:t>
            </a:r>
            <a:endParaRPr lang="en-US" sz="1140" dirty="0"/>
          </a:p>
        </p:txBody>
      </p:sp>
      <p:sp>
        <p:nvSpPr>
          <p:cNvPr id="36" name="Text 34"/>
          <p:cNvSpPr txBox="1"/>
          <p:nvPr/>
        </p:nvSpPr>
        <p:spPr>
          <a:xfrm>
            <a:off x="7680960" y="3685032"/>
            <a:ext cx="3931920" cy="310896"/>
          </a:xfrm>
          <a:prstGeom prst="rect">
            <a:avLst/>
          </a:prstGeom>
          <a:noFill/>
          <a:ln/>
        </p:spPr>
        <p:txBody>
          <a:bodyPr wrap="square" lIns="0" tIns="0" rIns="0" bIns="0" rtlCol="0" anchor="ctr"/>
          <a:lstStyle/>
          <a:p>
            <a:pPr marL="0" indent="0">
              <a:buNone/>
            </a:pPr>
            <a:r>
              <a:rPr lang="en-US" sz="1140" dirty="0">
                <a:solidFill>
                  <a:srgbClr val="352428"/>
                </a:solidFill>
                <a:latin typeface="Calibri" pitchFamily="34" charset="0"/>
                <a:ea typeface="Calibri" pitchFamily="34" charset="-122"/>
                <a:cs typeface="Calibri" pitchFamily="34" charset="-120"/>
              </a:rPr>
              <a:t>Random 10-fold cross-validation</a:t>
            </a:r>
            <a:endParaRPr lang="en-US" sz="1140" dirty="0"/>
          </a:p>
        </p:txBody>
      </p:sp>
      <p:sp>
        <p:nvSpPr>
          <p:cNvPr id="37" name="Shape 35"/>
          <p:cNvSpPr/>
          <p:nvPr/>
        </p:nvSpPr>
        <p:spPr>
          <a:xfrm>
            <a:off x="566928" y="4096512"/>
            <a:ext cx="11064240" cy="438912"/>
          </a:xfrm>
          <a:prstGeom prst="roundRect">
            <a:avLst>
              <a:gd name="adj" fmla="val 4167"/>
            </a:avLst>
          </a:prstGeom>
          <a:solidFill>
            <a:srgbClr val="FFFFFF"/>
          </a:solidFill>
          <a:ln w="12700">
            <a:solidFill>
              <a:srgbClr val="F0E6E8"/>
            </a:solidFill>
            <a:prstDash val="solid"/>
          </a:ln>
        </p:spPr>
        <p:txBody>
          <a:bodyPr/>
          <a:lstStyle/>
          <a:p>
            <a:endParaRPr lang="en-US"/>
          </a:p>
        </p:txBody>
      </p:sp>
      <p:sp>
        <p:nvSpPr>
          <p:cNvPr id="38" name="Text 36"/>
          <p:cNvSpPr txBox="1"/>
          <p:nvPr/>
        </p:nvSpPr>
        <p:spPr>
          <a:xfrm>
            <a:off x="786384" y="4160520"/>
            <a:ext cx="1463040" cy="310896"/>
          </a:xfrm>
          <a:prstGeom prst="rect">
            <a:avLst/>
          </a:prstGeom>
          <a:noFill/>
          <a:ln/>
        </p:spPr>
        <p:txBody>
          <a:bodyPr wrap="square" lIns="0" tIns="0" rIns="0" bIns="0" rtlCol="0" anchor="ctr"/>
          <a:lstStyle/>
          <a:p>
            <a:pPr marL="0" indent="0">
              <a:buNone/>
            </a:pPr>
            <a:r>
              <a:rPr lang="en-US" sz="1140" b="1" dirty="0">
                <a:solidFill>
                  <a:srgbClr val="241619"/>
                </a:solidFill>
                <a:latin typeface="Calibri" pitchFamily="34" charset="0"/>
                <a:ea typeface="Calibri" pitchFamily="34" charset="-122"/>
                <a:cs typeface="Calibri" pitchFamily="34" charset="-120"/>
              </a:rPr>
              <a:t>CREMA-D</a:t>
            </a:r>
            <a:endParaRPr lang="en-US" sz="1140" dirty="0"/>
          </a:p>
        </p:txBody>
      </p:sp>
      <p:sp>
        <p:nvSpPr>
          <p:cNvPr id="39" name="Text 37"/>
          <p:cNvSpPr txBox="1"/>
          <p:nvPr/>
        </p:nvSpPr>
        <p:spPr>
          <a:xfrm>
            <a:off x="2286000" y="4160520"/>
            <a:ext cx="4023360" cy="310896"/>
          </a:xfrm>
          <a:prstGeom prst="rect">
            <a:avLst/>
          </a:prstGeom>
          <a:noFill/>
          <a:ln/>
        </p:spPr>
        <p:txBody>
          <a:bodyPr wrap="square" lIns="0" tIns="0" rIns="0" bIns="0" rtlCol="0" anchor="ctr"/>
          <a:lstStyle/>
          <a:p>
            <a:pPr marL="0" indent="0">
              <a:buNone/>
            </a:pPr>
            <a:r>
              <a:rPr lang="en-US" sz="1140" dirty="0">
                <a:solidFill>
                  <a:srgbClr val="352428"/>
                </a:solidFill>
                <a:latin typeface="Calibri" pitchFamily="34" charset="0"/>
                <a:ea typeface="Calibri" pitchFamily="34" charset="-122"/>
                <a:cs typeface="Calibri" pitchFamily="34" charset="-120"/>
              </a:rPr>
              <a:t>7k utterances, about 4.5 s each</a:t>
            </a:r>
            <a:endParaRPr lang="en-US" sz="1140" dirty="0"/>
          </a:p>
        </p:txBody>
      </p:sp>
      <p:sp>
        <p:nvSpPr>
          <p:cNvPr id="40" name="Text 38"/>
          <p:cNvSpPr txBox="1"/>
          <p:nvPr/>
        </p:nvSpPr>
        <p:spPr>
          <a:xfrm>
            <a:off x="6400800" y="4160520"/>
            <a:ext cx="1188720" cy="310896"/>
          </a:xfrm>
          <a:prstGeom prst="rect">
            <a:avLst/>
          </a:prstGeom>
          <a:noFill/>
          <a:ln/>
        </p:spPr>
        <p:txBody>
          <a:bodyPr wrap="square" lIns="0" tIns="0" rIns="0" bIns="0" rtlCol="0" anchor="ctr"/>
          <a:lstStyle/>
          <a:p>
            <a:pPr marL="0" indent="0">
              <a:buNone/>
            </a:pPr>
            <a:r>
              <a:rPr lang="en-US" sz="1140" dirty="0">
                <a:solidFill>
                  <a:srgbClr val="352428"/>
                </a:solidFill>
                <a:latin typeface="Calibri" pitchFamily="34" charset="0"/>
                <a:ea typeface="Calibri" pitchFamily="34" charset="-122"/>
                <a:cs typeface="Calibri" pitchFamily="34" charset="-120"/>
              </a:rPr>
              <a:t>6</a:t>
            </a:r>
            <a:endParaRPr lang="en-US" sz="1140" dirty="0"/>
          </a:p>
        </p:txBody>
      </p:sp>
      <p:sp>
        <p:nvSpPr>
          <p:cNvPr id="41" name="Text 39"/>
          <p:cNvSpPr txBox="1"/>
          <p:nvPr/>
        </p:nvSpPr>
        <p:spPr>
          <a:xfrm>
            <a:off x="7680960" y="4160520"/>
            <a:ext cx="3931920" cy="310896"/>
          </a:xfrm>
          <a:prstGeom prst="rect">
            <a:avLst/>
          </a:prstGeom>
          <a:noFill/>
          <a:ln/>
        </p:spPr>
        <p:txBody>
          <a:bodyPr wrap="square" lIns="0" tIns="0" rIns="0" bIns="0" rtlCol="0" anchor="ctr"/>
          <a:lstStyle/>
          <a:p>
            <a:pPr marL="0" indent="0">
              <a:buNone/>
            </a:pPr>
            <a:r>
              <a:rPr lang="en-US" sz="1140" dirty="0">
                <a:solidFill>
                  <a:srgbClr val="352428"/>
                </a:solidFill>
                <a:latin typeface="Calibri" pitchFamily="34" charset="0"/>
                <a:ea typeface="Calibri" pitchFamily="34" charset="-122"/>
                <a:cs typeface="Calibri" pitchFamily="34" charset="-120"/>
              </a:rPr>
              <a:t>5-fold cross-validation, original classes</a:t>
            </a:r>
            <a:endParaRPr lang="en-US" sz="1140" dirty="0"/>
          </a:p>
        </p:txBody>
      </p:sp>
      <p:sp>
        <p:nvSpPr>
          <p:cNvPr id="42" name="Text 40"/>
          <p:cNvSpPr txBox="1"/>
          <p:nvPr/>
        </p:nvSpPr>
        <p:spPr>
          <a:xfrm>
            <a:off x="566928" y="4754880"/>
            <a:ext cx="11064240" cy="1298448"/>
          </a:xfrm>
          <a:prstGeom prst="rect">
            <a:avLst/>
          </a:prstGeom>
          <a:noFill/>
          <a:ln/>
        </p:spPr>
        <p:txBody>
          <a:bodyPr wrap="square" lIns="0" tIns="0" rIns="0" bIns="0" rtlCol="0" anchor="t"/>
          <a:lstStyle/>
          <a:p>
            <a:pPr marL="342900" indent="-342900">
              <a:spcAft>
                <a:spcPts val="800"/>
              </a:spcAft>
              <a:buSzPct val="100000"/>
              <a:buChar char="●"/>
            </a:pPr>
            <a:r>
              <a:rPr lang="en-US" sz="1220" dirty="0">
                <a:solidFill>
                  <a:srgbClr val="352428"/>
                </a:solidFill>
                <a:latin typeface="Calibri" pitchFamily="34" charset="0"/>
                <a:ea typeface="Calibri" pitchFamily="34" charset="-122"/>
                <a:cs typeface="Calibri" pitchFamily="34" charset="-120"/>
              </a:rPr>
              <a:t>All audio resampled to 16 kHz and standardised to 5 seconds by truncation or zero-padding; prompts are "This is a [EMOTION] sound."</a:t>
            </a:r>
            <a:endParaRPr lang="en-US" sz="1220" dirty="0"/>
          </a:p>
          <a:p>
            <a:pPr marL="342900" indent="-342900">
              <a:spcAft>
                <a:spcPts val="800"/>
              </a:spcAft>
              <a:buSzPct val="100000"/>
              <a:buChar char="●"/>
            </a:pPr>
            <a:r>
              <a:rPr lang="en-US" sz="1220" dirty="0">
                <a:solidFill>
                  <a:srgbClr val="352428"/>
                </a:solidFill>
                <a:latin typeface="Calibri" pitchFamily="34" charset="0"/>
                <a:ea typeface="Calibri" pitchFamily="34" charset="-122"/>
                <a:cs typeface="Calibri" pitchFamily="34" charset="-120"/>
              </a:rPr>
              <a:t>Two CLAP backbones: PANN-14 and HTS-AT. α = 0.2, β = 4.5, batch size 1, no backpropagation.</a:t>
            </a:r>
            <a:endParaRPr lang="en-US" sz="1220" dirty="0"/>
          </a:p>
          <a:p>
            <a:pPr marL="342900" indent="-342900">
              <a:spcAft>
                <a:spcPts val="800"/>
              </a:spcAft>
              <a:buSzPct val="100000"/>
              <a:buChar char="●"/>
            </a:pPr>
            <a:r>
              <a:rPr lang="en-US" sz="1220" dirty="0">
                <a:solidFill>
                  <a:srgbClr val="352428"/>
                </a:solidFill>
                <a:latin typeface="Calibri" pitchFamily="34" charset="0"/>
                <a:ea typeface="Calibri" pitchFamily="34" charset="-122"/>
                <a:cs typeface="Calibri" pitchFamily="34" charset="-120"/>
              </a:rPr>
              <a:t>Accuracy is top-1, averaged over three runs with random seeds.</a:t>
            </a:r>
            <a:endParaRPr lang="en-US" sz="1220" dirty="0"/>
          </a:p>
          <a:p>
            <a:pPr marL="342900" indent="-342900">
              <a:spcAft>
                <a:spcPts val="800"/>
              </a:spcAft>
              <a:buSzPct val="100000"/>
              <a:buChar char="●"/>
            </a:pPr>
            <a:r>
              <a:rPr lang="en-US" sz="1220" dirty="0">
                <a:solidFill>
                  <a:srgbClr val="352428"/>
                </a:solidFill>
                <a:latin typeface="Calibri" pitchFamily="34" charset="0"/>
                <a:ea typeface="Calibri" pitchFamily="34" charset="-122"/>
                <a:cs typeface="Calibri" pitchFamily="34" charset="-120"/>
              </a:rPr>
              <a:t>Every corpus here has appeared in this series. Four of them we have read the original papers for.</a:t>
            </a:r>
            <a:endParaRPr lang="en-US" sz="122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045952" y="457200"/>
            <a:ext cx="420624" cy="274320"/>
          </a:xfrm>
          <a:prstGeom prst="ellipse">
            <a:avLst/>
          </a:prstGeom>
          <a:ln w="16510">
            <a:solidFill>
              <a:srgbClr val="8A4A52"/>
            </a:solidFill>
            <a:prstDash val="solid"/>
          </a:ln>
        </p:spPr>
        <p:txBody>
          <a:bodyPr/>
          <a:lstStyle/>
          <a:p>
            <a:endParaRPr lang="en-US"/>
          </a:p>
        </p:txBody>
      </p:sp>
      <p:sp>
        <p:nvSpPr>
          <p:cNvPr id="3" name="Shape 1"/>
          <p:cNvSpPr/>
          <p:nvPr/>
        </p:nvSpPr>
        <p:spPr>
          <a:xfrm>
            <a:off x="11164824" y="539496"/>
            <a:ext cx="82296" cy="82296"/>
          </a:xfrm>
          <a:prstGeom prst="ellipse">
            <a:avLst/>
          </a:prstGeom>
          <a:solidFill>
            <a:srgbClr val="B8871F"/>
          </a:solidFill>
          <a:ln w="12700">
            <a:solidFill>
              <a:srgbClr val="333333"/>
            </a:solidFill>
            <a:prstDash val="solid"/>
          </a:ln>
        </p:spPr>
        <p:txBody>
          <a:bodyPr/>
          <a:lstStyle/>
          <a:p>
            <a:endParaRPr lang="en-US"/>
          </a:p>
        </p:txBody>
      </p:sp>
      <p:sp>
        <p:nvSpPr>
          <p:cNvPr id="4" name="Shape 2"/>
          <p:cNvSpPr/>
          <p:nvPr/>
        </p:nvSpPr>
        <p:spPr>
          <a:xfrm>
            <a:off x="11292840" y="585216"/>
            <a:ext cx="64008" cy="64008"/>
          </a:xfrm>
          <a:prstGeom prst="ellipse">
            <a:avLst/>
          </a:prstGeom>
          <a:solidFill>
            <a:srgbClr val="B08A8E"/>
          </a:solidFill>
          <a:ln w="12700">
            <a:solidFill>
              <a:srgbClr val="333333"/>
            </a:solidFill>
            <a:prstDash val="solid"/>
          </a:ln>
        </p:spPr>
        <p:txBody>
          <a:bodyPr/>
          <a:lstStyle/>
          <a:p>
            <a:endParaRPr lang="en-US"/>
          </a:p>
        </p:txBody>
      </p:sp>
      <p:sp>
        <p:nvSpPr>
          <p:cNvPr id="5" name="Text 3"/>
          <p:cNvSpPr txBox="1"/>
          <p:nvPr/>
        </p:nvSpPr>
        <p:spPr>
          <a:xfrm>
            <a:off x="548640" y="384048"/>
            <a:ext cx="10332720" cy="566928"/>
          </a:xfrm>
          <a:prstGeom prst="rect">
            <a:avLst/>
          </a:prstGeom>
          <a:noFill/>
          <a:ln/>
        </p:spPr>
        <p:txBody>
          <a:bodyPr wrap="square" lIns="0" tIns="0" rIns="0" bIns="0" rtlCol="0" anchor="t"/>
          <a:lstStyle/>
          <a:p>
            <a:pPr marL="0" indent="0">
              <a:buNone/>
            </a:pPr>
            <a:r>
              <a:rPr lang="en-US" sz="2900" b="1" dirty="0">
                <a:solidFill>
                  <a:srgbClr val="241619"/>
                </a:solidFill>
                <a:latin typeface="Cambria" pitchFamily="34" charset="0"/>
                <a:ea typeface="Cambria" pitchFamily="34" charset="-122"/>
                <a:cs typeface="Cambria" pitchFamily="34" charset="-120"/>
              </a:rPr>
              <a:t>Main results</a:t>
            </a:r>
            <a:endParaRPr lang="en-US" sz="2900" dirty="0"/>
          </a:p>
        </p:txBody>
      </p:sp>
      <p:sp>
        <p:nvSpPr>
          <p:cNvPr id="6" name="Text 4"/>
          <p:cNvSpPr txBox="1"/>
          <p:nvPr/>
        </p:nvSpPr>
        <p:spPr>
          <a:xfrm>
            <a:off x="548640" y="969264"/>
            <a:ext cx="10332720" cy="329184"/>
          </a:xfrm>
          <a:prstGeom prst="rect">
            <a:avLst/>
          </a:prstGeom>
          <a:noFill/>
          <a:ln/>
        </p:spPr>
        <p:txBody>
          <a:bodyPr wrap="square" lIns="0" tIns="0" rIns="0" bIns="0" rtlCol="0" anchor="ctr"/>
          <a:lstStyle/>
          <a:p>
            <a:pPr marL="0" indent="0">
              <a:buNone/>
            </a:pPr>
            <a:r>
              <a:rPr lang="en-US" sz="1350" i="1" dirty="0">
                <a:solidFill>
                  <a:srgbClr val="6E5156"/>
                </a:solidFill>
                <a:latin typeface="Calibri" pitchFamily="34" charset="0"/>
                <a:ea typeface="Calibri" pitchFamily="34" charset="-122"/>
                <a:cs typeface="Calibri" pitchFamily="34" charset="-120"/>
              </a:rPr>
              <a:t>Average accuracy across the six corpora</a:t>
            </a:r>
            <a:endParaRPr lang="en-US" sz="1350" dirty="0"/>
          </a:p>
        </p:txBody>
      </p:sp>
      <p:sp>
        <p:nvSpPr>
          <p:cNvPr id="7" name="Text 5"/>
          <p:cNvSpPr txBox="1"/>
          <p:nvPr/>
        </p:nvSpPr>
        <p:spPr>
          <a:xfrm>
            <a:off x="9418320" y="6382512"/>
            <a:ext cx="2221992" cy="274320"/>
          </a:xfrm>
          <a:prstGeom prst="rect">
            <a:avLst/>
          </a:prstGeom>
          <a:noFill/>
          <a:ln/>
        </p:spPr>
        <p:txBody>
          <a:bodyPr wrap="square" lIns="0" tIns="0" rIns="0" bIns="0" rtlCol="0" anchor="ctr"/>
          <a:lstStyle/>
          <a:p>
            <a:pPr marL="0" indent="0" algn="r">
              <a:buNone/>
            </a:pPr>
            <a:r>
              <a:rPr lang="en-US" sz="900" dirty="0">
                <a:solidFill>
                  <a:srgbClr val="B59CA0"/>
                </a:solidFill>
                <a:latin typeface="Calibri" pitchFamily="34" charset="0"/>
                <a:ea typeface="Calibri" pitchFamily="34" charset="-122"/>
                <a:cs typeface="Calibri" pitchFamily="34" charset="-120"/>
              </a:rPr>
              <a:t>Emo-TTA · Shi et al. 2026  |  15</a:t>
            </a:r>
            <a:endParaRPr lang="en-US" sz="900" dirty="0"/>
          </a:p>
        </p:txBody>
      </p:sp>
      <p:graphicFrame>
        <p:nvGraphicFramePr>
          <p:cNvPr id="8" name="Chart 0"/>
          <p:cNvGraphicFramePr/>
          <p:nvPr/>
        </p:nvGraphicFramePr>
        <p:xfrm>
          <a:off x="566928" y="1554480"/>
          <a:ext cx="6766560"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 6"/>
          <p:cNvSpPr txBox="1"/>
          <p:nvPr/>
        </p:nvSpPr>
        <p:spPr>
          <a:xfrm>
            <a:off x="7589520" y="1700784"/>
            <a:ext cx="4041648" cy="3383280"/>
          </a:xfrm>
          <a:prstGeom prst="rect">
            <a:avLst/>
          </a:prstGeom>
          <a:noFill/>
          <a:ln/>
        </p:spPr>
        <p:txBody>
          <a:bodyPr wrap="square" lIns="0" tIns="0" rIns="0" bIns="0" rtlCol="0" anchor="t"/>
          <a:lstStyle/>
          <a:p>
            <a:pPr marL="342900" indent="-342900">
              <a:spcAft>
                <a:spcPts val="800"/>
              </a:spcAft>
              <a:buSzPct val="100000"/>
              <a:buChar char="●"/>
            </a:pPr>
            <a:r>
              <a:rPr lang="en-US" sz="1220" dirty="0">
                <a:solidFill>
                  <a:srgbClr val="352428"/>
                </a:solidFill>
                <a:latin typeface="Calibri" pitchFamily="34" charset="0"/>
                <a:ea typeface="Calibri" pitchFamily="34" charset="-122"/>
                <a:cs typeface="Calibri" pitchFamily="34" charset="-120"/>
              </a:rPr>
              <a:t>Emo-TTA leads on both backbones: +6.65 over zero-shot on PANN-14 and +7.90 on HTS-AT.</a:t>
            </a:r>
            <a:endParaRPr lang="en-US" sz="1220" dirty="0"/>
          </a:p>
          <a:p>
            <a:pPr marL="342900" indent="-342900">
              <a:spcAft>
                <a:spcPts val="800"/>
              </a:spcAft>
              <a:buSzPct val="100000"/>
              <a:buChar char="●"/>
            </a:pPr>
            <a:r>
              <a:rPr lang="en-US" sz="1220" dirty="0">
                <a:solidFill>
                  <a:srgbClr val="352428"/>
                </a:solidFill>
                <a:latin typeface="Calibri" pitchFamily="34" charset="0"/>
                <a:ea typeface="Calibri" pitchFamily="34" charset="-122"/>
                <a:cs typeface="Calibri" pitchFamily="34" charset="-120"/>
              </a:rPr>
              <a:t>It beats Treff-Adapter by 1.91 and 3.37 — and Treff-Adapter uses labelled target data and training.</a:t>
            </a:r>
            <a:endParaRPr lang="en-US" sz="1220" dirty="0"/>
          </a:p>
          <a:p>
            <a:pPr marL="342900" indent="-342900">
              <a:spcAft>
                <a:spcPts val="800"/>
              </a:spcAft>
              <a:buSzPct val="100000"/>
              <a:buChar char="●"/>
            </a:pPr>
            <a:r>
              <a:rPr lang="en-US" sz="1220" dirty="0">
                <a:solidFill>
                  <a:srgbClr val="352428"/>
                </a:solidFill>
                <a:latin typeface="Calibri" pitchFamily="34" charset="0"/>
                <a:ea typeface="Calibri" pitchFamily="34" charset="-122"/>
                <a:cs typeface="Calibri" pitchFamily="34" charset="-120"/>
              </a:rPr>
              <a:t>Against the two training-free batch methods on HTS-AT, MTA at 36.04 and ZERO at 35.69, Emo-TTA leads by over 4 points.</a:t>
            </a:r>
            <a:endParaRPr lang="en-US" sz="1220" dirty="0"/>
          </a:p>
          <a:p>
            <a:pPr marL="342900" indent="-342900">
              <a:spcAft>
                <a:spcPts val="800"/>
              </a:spcAft>
              <a:buSzPct val="100000"/>
              <a:buChar char="●"/>
            </a:pPr>
            <a:r>
              <a:rPr lang="en-US" sz="1220" dirty="0">
                <a:solidFill>
                  <a:srgbClr val="352428"/>
                </a:solidFill>
                <a:latin typeface="Calibri" pitchFamily="34" charset="0"/>
                <a:ea typeface="Calibri" pitchFamily="34" charset="-122"/>
                <a:cs typeface="Calibri" pitchFamily="34" charset="-120"/>
              </a:rPr>
              <a:t>Best on 10 of 12 dataset–backbone cells; the exceptions are CREMA-D under PANN-14 and TESS under HTS-AT.</a:t>
            </a:r>
            <a:endParaRPr lang="en-US" sz="1220" dirty="0"/>
          </a:p>
        </p:txBody>
      </p:sp>
      <p:sp>
        <p:nvSpPr>
          <p:cNvPr id="10" name="Shape 7"/>
          <p:cNvSpPr/>
          <p:nvPr/>
        </p:nvSpPr>
        <p:spPr>
          <a:xfrm>
            <a:off x="566928" y="5266944"/>
            <a:ext cx="11064240" cy="786384"/>
          </a:xfrm>
          <a:prstGeom prst="roundRect">
            <a:avLst>
              <a:gd name="adj" fmla="val 6977"/>
            </a:avLst>
          </a:prstGeom>
          <a:solidFill>
            <a:srgbClr val="332226"/>
          </a:solidFill>
          <a:ln w="12700">
            <a:solidFill>
              <a:srgbClr val="332226"/>
            </a:solidFill>
            <a:prstDash val="solid"/>
          </a:ln>
        </p:spPr>
        <p:txBody>
          <a:bodyPr/>
          <a:lstStyle/>
          <a:p>
            <a:endParaRPr lang="en-US"/>
          </a:p>
        </p:txBody>
      </p:sp>
      <p:sp>
        <p:nvSpPr>
          <p:cNvPr id="11" name="Text 8"/>
          <p:cNvSpPr txBox="1"/>
          <p:nvPr/>
        </p:nvSpPr>
        <p:spPr>
          <a:xfrm>
            <a:off x="822960" y="5486400"/>
            <a:ext cx="10552176" cy="365760"/>
          </a:xfrm>
          <a:prstGeom prst="rect">
            <a:avLst/>
          </a:prstGeom>
          <a:noFill/>
          <a:ln/>
        </p:spPr>
        <p:txBody>
          <a:bodyPr wrap="square" lIns="0" tIns="0" rIns="0" bIns="0" rtlCol="0" anchor="t"/>
          <a:lstStyle/>
          <a:p>
            <a:pPr marL="0" indent="0">
              <a:lnSpc>
                <a:spcPct val="108000"/>
              </a:lnSpc>
              <a:buNone/>
            </a:pPr>
            <a:r>
              <a:rPr lang="en-US" sz="1300" dirty="0">
                <a:solidFill>
                  <a:srgbClr val="DFC4C7"/>
                </a:solidFill>
                <a:latin typeface="Calibri" pitchFamily="34" charset="0"/>
                <a:ea typeface="Calibri" pitchFamily="34" charset="-122"/>
                <a:cs typeface="Calibri" pitchFamily="34" charset="-120"/>
              </a:rPr>
              <a:t>Beating methods that use labelled target data, without gradients and at batch size one, is the paper's strongest claim — and the comparison is like for like on encoders.</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045952" y="457200"/>
            <a:ext cx="420624" cy="274320"/>
          </a:xfrm>
          <a:prstGeom prst="ellipse">
            <a:avLst/>
          </a:prstGeom>
          <a:ln w="16510">
            <a:solidFill>
              <a:srgbClr val="8A4A52"/>
            </a:solidFill>
            <a:prstDash val="solid"/>
          </a:ln>
        </p:spPr>
        <p:txBody>
          <a:bodyPr/>
          <a:lstStyle/>
          <a:p>
            <a:endParaRPr lang="en-US"/>
          </a:p>
        </p:txBody>
      </p:sp>
      <p:sp>
        <p:nvSpPr>
          <p:cNvPr id="3" name="Shape 1"/>
          <p:cNvSpPr/>
          <p:nvPr/>
        </p:nvSpPr>
        <p:spPr>
          <a:xfrm>
            <a:off x="11164824" y="539496"/>
            <a:ext cx="82296" cy="82296"/>
          </a:xfrm>
          <a:prstGeom prst="ellipse">
            <a:avLst/>
          </a:prstGeom>
          <a:solidFill>
            <a:srgbClr val="B8871F"/>
          </a:solidFill>
          <a:ln w="12700">
            <a:solidFill>
              <a:srgbClr val="333333"/>
            </a:solidFill>
            <a:prstDash val="solid"/>
          </a:ln>
        </p:spPr>
        <p:txBody>
          <a:bodyPr/>
          <a:lstStyle/>
          <a:p>
            <a:endParaRPr lang="en-US"/>
          </a:p>
        </p:txBody>
      </p:sp>
      <p:sp>
        <p:nvSpPr>
          <p:cNvPr id="4" name="Shape 2"/>
          <p:cNvSpPr/>
          <p:nvPr/>
        </p:nvSpPr>
        <p:spPr>
          <a:xfrm>
            <a:off x="11292840" y="585216"/>
            <a:ext cx="64008" cy="64008"/>
          </a:xfrm>
          <a:prstGeom prst="ellipse">
            <a:avLst/>
          </a:prstGeom>
          <a:solidFill>
            <a:srgbClr val="B08A8E"/>
          </a:solidFill>
          <a:ln w="12700">
            <a:solidFill>
              <a:srgbClr val="333333"/>
            </a:solidFill>
            <a:prstDash val="solid"/>
          </a:ln>
        </p:spPr>
        <p:txBody>
          <a:bodyPr/>
          <a:lstStyle/>
          <a:p>
            <a:endParaRPr lang="en-US"/>
          </a:p>
        </p:txBody>
      </p:sp>
      <p:sp>
        <p:nvSpPr>
          <p:cNvPr id="5" name="Text 3"/>
          <p:cNvSpPr txBox="1"/>
          <p:nvPr/>
        </p:nvSpPr>
        <p:spPr>
          <a:xfrm>
            <a:off x="548640" y="384048"/>
            <a:ext cx="10332720" cy="566928"/>
          </a:xfrm>
          <a:prstGeom prst="rect">
            <a:avLst/>
          </a:prstGeom>
          <a:noFill/>
          <a:ln/>
        </p:spPr>
        <p:txBody>
          <a:bodyPr wrap="square" lIns="0" tIns="0" rIns="0" bIns="0" rtlCol="0" anchor="t"/>
          <a:lstStyle/>
          <a:p>
            <a:pPr marL="0" indent="0">
              <a:buNone/>
            </a:pPr>
            <a:r>
              <a:rPr lang="en-US" sz="2900" b="1" dirty="0">
                <a:solidFill>
                  <a:srgbClr val="241619"/>
                </a:solidFill>
                <a:latin typeface="Cambria" pitchFamily="34" charset="0"/>
                <a:ea typeface="Cambria" pitchFamily="34" charset="-122"/>
                <a:cs typeface="Cambria" pitchFamily="34" charset="-120"/>
              </a:rPr>
              <a:t>Against audio foundation models</a:t>
            </a:r>
            <a:endParaRPr lang="en-US" sz="2900" dirty="0"/>
          </a:p>
        </p:txBody>
      </p:sp>
      <p:sp>
        <p:nvSpPr>
          <p:cNvPr id="6" name="Text 4"/>
          <p:cNvSpPr txBox="1"/>
          <p:nvPr/>
        </p:nvSpPr>
        <p:spPr>
          <a:xfrm>
            <a:off x="548640" y="969264"/>
            <a:ext cx="10332720" cy="329184"/>
          </a:xfrm>
          <a:prstGeom prst="rect">
            <a:avLst/>
          </a:prstGeom>
          <a:noFill/>
          <a:ln/>
        </p:spPr>
        <p:txBody>
          <a:bodyPr wrap="square" lIns="0" tIns="0" rIns="0" bIns="0" rtlCol="0" anchor="ctr"/>
          <a:lstStyle/>
          <a:p>
            <a:pPr marL="0" indent="0">
              <a:buNone/>
            </a:pPr>
            <a:r>
              <a:rPr lang="en-US" sz="1350" i="1" dirty="0">
                <a:solidFill>
                  <a:srgbClr val="6E5156"/>
                </a:solidFill>
                <a:latin typeface="Calibri" pitchFamily="34" charset="0"/>
                <a:ea typeface="Calibri" pitchFamily="34" charset="-122"/>
                <a:cs typeface="Calibri" pitchFamily="34" charset="-120"/>
              </a:rPr>
              <a:t>A strict out-of-domain comparison</a:t>
            </a:r>
            <a:endParaRPr lang="en-US" sz="1350" dirty="0"/>
          </a:p>
        </p:txBody>
      </p:sp>
      <p:sp>
        <p:nvSpPr>
          <p:cNvPr id="7" name="Text 5"/>
          <p:cNvSpPr txBox="1"/>
          <p:nvPr/>
        </p:nvSpPr>
        <p:spPr>
          <a:xfrm>
            <a:off x="9418320" y="6382512"/>
            <a:ext cx="2221992" cy="274320"/>
          </a:xfrm>
          <a:prstGeom prst="rect">
            <a:avLst/>
          </a:prstGeom>
          <a:noFill/>
          <a:ln/>
        </p:spPr>
        <p:txBody>
          <a:bodyPr wrap="square" lIns="0" tIns="0" rIns="0" bIns="0" rtlCol="0" anchor="ctr"/>
          <a:lstStyle/>
          <a:p>
            <a:pPr marL="0" indent="0" algn="r">
              <a:buNone/>
            </a:pPr>
            <a:r>
              <a:rPr lang="en-US" sz="900" dirty="0">
                <a:solidFill>
                  <a:srgbClr val="B59CA0"/>
                </a:solidFill>
                <a:latin typeface="Calibri" pitchFamily="34" charset="0"/>
                <a:ea typeface="Calibri" pitchFamily="34" charset="-122"/>
                <a:cs typeface="Calibri" pitchFamily="34" charset="-120"/>
              </a:rPr>
              <a:t>Emo-TTA · Shi et al. 2026  |  16</a:t>
            </a:r>
            <a:endParaRPr lang="en-US" sz="900" dirty="0"/>
          </a:p>
        </p:txBody>
      </p:sp>
      <p:graphicFrame>
        <p:nvGraphicFramePr>
          <p:cNvPr id="8" name="Chart 0"/>
          <p:cNvGraphicFramePr/>
          <p:nvPr/>
        </p:nvGraphicFramePr>
        <p:xfrm>
          <a:off x="566928" y="1554480"/>
          <a:ext cx="6675120"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 6"/>
          <p:cNvSpPr txBox="1"/>
          <p:nvPr/>
        </p:nvSpPr>
        <p:spPr>
          <a:xfrm>
            <a:off x="7498080" y="1700784"/>
            <a:ext cx="4133088" cy="3383280"/>
          </a:xfrm>
          <a:prstGeom prst="rect">
            <a:avLst/>
          </a:prstGeom>
          <a:noFill/>
          <a:ln/>
        </p:spPr>
        <p:txBody>
          <a:bodyPr wrap="square" lIns="0" tIns="0" rIns="0" bIns="0" rtlCol="0" anchor="t"/>
          <a:lstStyle/>
          <a:p>
            <a:pPr marL="342900" indent="-342900">
              <a:spcAft>
                <a:spcPts val="800"/>
              </a:spcAft>
              <a:buSzPct val="100000"/>
              <a:buChar char="●"/>
            </a:pPr>
            <a:r>
              <a:rPr lang="en-US" sz="1220" dirty="0">
                <a:solidFill>
                  <a:srgbClr val="352428"/>
                </a:solidFill>
                <a:latin typeface="Calibri" pitchFamily="34" charset="0"/>
                <a:ea typeface="Calibri" pitchFamily="34" charset="-122"/>
                <a:cs typeface="Calibri" pitchFamily="34" charset="-120"/>
              </a:rPr>
              <a:t>Emo-TTA at 40.05 against the best baseline SELM at 35.77 — a gain of 4.28.</a:t>
            </a:r>
            <a:endParaRPr lang="en-US" sz="1220" dirty="0"/>
          </a:p>
          <a:p>
            <a:pPr marL="342900" indent="-342900">
              <a:spcAft>
                <a:spcPts val="800"/>
              </a:spcAft>
              <a:buSzPct val="100000"/>
              <a:buChar char="●"/>
            </a:pPr>
            <a:r>
              <a:rPr lang="en-US" sz="1220" dirty="0">
                <a:solidFill>
                  <a:srgbClr val="352428"/>
                </a:solidFill>
                <a:latin typeface="Calibri" pitchFamily="34" charset="0"/>
                <a:ea typeface="Calibri" pitchFamily="34" charset="-122"/>
                <a:cs typeface="Calibri" pitchFamily="34" charset="-120"/>
              </a:rPr>
              <a:t>Gains over the base CLAP model it adapts: +7.30 on IEMOCAP, +13.71 on CREMA-D, +11.86 on RAVDESS.</a:t>
            </a:r>
            <a:endParaRPr lang="en-US" sz="1220" dirty="0"/>
          </a:p>
          <a:p>
            <a:pPr marL="342900" indent="-342900">
              <a:spcAft>
                <a:spcPts val="800"/>
              </a:spcAft>
              <a:buSzPct val="100000"/>
              <a:buChar char="●"/>
            </a:pPr>
            <a:r>
              <a:rPr lang="en-US" sz="1220" dirty="0">
                <a:solidFill>
                  <a:srgbClr val="352428"/>
                </a:solidFill>
                <a:latin typeface="Calibri" pitchFamily="34" charset="0"/>
                <a:ea typeface="Calibri" pitchFamily="34" charset="-122"/>
                <a:cs typeface="Calibri" pitchFamily="34" charset="-120"/>
              </a:rPr>
              <a:t>Pengi appears at 30.72 — the model we read two sessions ago, now a mid-table baseline.</a:t>
            </a:r>
            <a:endParaRPr lang="en-US" sz="1220" dirty="0"/>
          </a:p>
          <a:p>
            <a:pPr marL="342900" indent="-342900">
              <a:spcAft>
                <a:spcPts val="800"/>
              </a:spcAft>
              <a:buSzPct val="100000"/>
              <a:buChar char="●"/>
            </a:pPr>
            <a:r>
              <a:rPr lang="en-US" sz="1220" dirty="0">
                <a:solidFill>
                  <a:srgbClr val="352428"/>
                </a:solidFill>
                <a:latin typeface="Calibri" pitchFamily="34" charset="0"/>
                <a:ea typeface="Calibri" pitchFamily="34" charset="-122"/>
                <a:cs typeface="Calibri" pitchFamily="34" charset="-120"/>
              </a:rPr>
              <a:t>The Whisper family clusters tightly at 29 to 31, which is a nice illustration that ASR-strong models are not emotion-strong.</a:t>
            </a:r>
            <a:endParaRPr lang="en-US" sz="1220" dirty="0"/>
          </a:p>
        </p:txBody>
      </p:sp>
      <p:sp>
        <p:nvSpPr>
          <p:cNvPr id="10" name="Shape 7"/>
          <p:cNvSpPr/>
          <p:nvPr/>
        </p:nvSpPr>
        <p:spPr>
          <a:xfrm>
            <a:off x="566928" y="5266944"/>
            <a:ext cx="11064240" cy="786384"/>
          </a:xfrm>
          <a:prstGeom prst="roundRect">
            <a:avLst>
              <a:gd name="adj" fmla="val 6977"/>
            </a:avLst>
          </a:prstGeom>
          <a:solidFill>
            <a:srgbClr val="332226"/>
          </a:solidFill>
          <a:ln w="12700">
            <a:solidFill>
              <a:srgbClr val="332226"/>
            </a:solidFill>
            <a:prstDash val="solid"/>
          </a:ln>
        </p:spPr>
        <p:txBody>
          <a:bodyPr/>
          <a:lstStyle/>
          <a:p>
            <a:endParaRPr lang="en-US"/>
          </a:p>
        </p:txBody>
      </p:sp>
      <p:sp>
        <p:nvSpPr>
          <p:cNvPr id="11" name="Text 8"/>
          <p:cNvSpPr txBox="1"/>
          <p:nvPr/>
        </p:nvSpPr>
        <p:spPr>
          <a:xfrm>
            <a:off x="822960" y="5486400"/>
            <a:ext cx="10552176" cy="365760"/>
          </a:xfrm>
          <a:prstGeom prst="rect">
            <a:avLst/>
          </a:prstGeom>
          <a:noFill/>
          <a:ln/>
        </p:spPr>
        <p:txBody>
          <a:bodyPr wrap="square" lIns="0" tIns="0" rIns="0" bIns="0" rtlCol="0" anchor="t"/>
          <a:lstStyle/>
          <a:p>
            <a:pPr marL="0" indent="0">
              <a:lnSpc>
                <a:spcPct val="108000"/>
              </a:lnSpc>
              <a:buNone/>
            </a:pPr>
            <a:r>
              <a:rPr lang="en-US" sz="1300" dirty="0">
                <a:solidFill>
                  <a:srgbClr val="DFC4C7"/>
                </a:solidFill>
                <a:latin typeface="Calibri" pitchFamily="34" charset="0"/>
                <a:ea typeface="Calibri" pitchFamily="34" charset="-122"/>
                <a:cs typeface="Calibri" pitchFamily="34" charset="-120"/>
              </a:rPr>
              <a:t>The CREMA-D gain is the largest in the paper: 31.07 to 44.78 on a six-class task, from re-estimating a Gaussian at inference.</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045952" y="457200"/>
            <a:ext cx="420624" cy="274320"/>
          </a:xfrm>
          <a:prstGeom prst="ellipse">
            <a:avLst/>
          </a:prstGeom>
          <a:ln w="16510">
            <a:solidFill>
              <a:srgbClr val="8A4A52"/>
            </a:solidFill>
            <a:prstDash val="solid"/>
          </a:ln>
        </p:spPr>
        <p:txBody>
          <a:bodyPr/>
          <a:lstStyle/>
          <a:p>
            <a:endParaRPr lang="en-US"/>
          </a:p>
        </p:txBody>
      </p:sp>
      <p:sp>
        <p:nvSpPr>
          <p:cNvPr id="3" name="Shape 1"/>
          <p:cNvSpPr/>
          <p:nvPr/>
        </p:nvSpPr>
        <p:spPr>
          <a:xfrm>
            <a:off x="11164824" y="539496"/>
            <a:ext cx="82296" cy="82296"/>
          </a:xfrm>
          <a:prstGeom prst="ellipse">
            <a:avLst/>
          </a:prstGeom>
          <a:solidFill>
            <a:srgbClr val="B8871F"/>
          </a:solidFill>
          <a:ln w="12700">
            <a:solidFill>
              <a:srgbClr val="333333"/>
            </a:solidFill>
            <a:prstDash val="solid"/>
          </a:ln>
        </p:spPr>
        <p:txBody>
          <a:bodyPr/>
          <a:lstStyle/>
          <a:p>
            <a:endParaRPr lang="en-US"/>
          </a:p>
        </p:txBody>
      </p:sp>
      <p:sp>
        <p:nvSpPr>
          <p:cNvPr id="4" name="Shape 2"/>
          <p:cNvSpPr/>
          <p:nvPr/>
        </p:nvSpPr>
        <p:spPr>
          <a:xfrm>
            <a:off x="11292840" y="585216"/>
            <a:ext cx="64008" cy="64008"/>
          </a:xfrm>
          <a:prstGeom prst="ellipse">
            <a:avLst/>
          </a:prstGeom>
          <a:solidFill>
            <a:srgbClr val="B08A8E"/>
          </a:solidFill>
          <a:ln w="12700">
            <a:solidFill>
              <a:srgbClr val="333333"/>
            </a:solidFill>
            <a:prstDash val="solid"/>
          </a:ln>
        </p:spPr>
        <p:txBody>
          <a:bodyPr/>
          <a:lstStyle/>
          <a:p>
            <a:endParaRPr lang="en-US"/>
          </a:p>
        </p:txBody>
      </p:sp>
      <p:sp>
        <p:nvSpPr>
          <p:cNvPr id="5" name="Text 3"/>
          <p:cNvSpPr txBox="1"/>
          <p:nvPr/>
        </p:nvSpPr>
        <p:spPr>
          <a:xfrm>
            <a:off x="548640" y="384048"/>
            <a:ext cx="10332720" cy="566928"/>
          </a:xfrm>
          <a:prstGeom prst="rect">
            <a:avLst/>
          </a:prstGeom>
          <a:noFill/>
          <a:ln/>
        </p:spPr>
        <p:txBody>
          <a:bodyPr wrap="square" lIns="0" tIns="0" rIns="0" bIns="0" rtlCol="0" anchor="t"/>
          <a:lstStyle/>
          <a:p>
            <a:pPr marL="0" indent="0">
              <a:buNone/>
            </a:pPr>
            <a:r>
              <a:rPr lang="en-US" sz="2900" b="1" dirty="0">
                <a:solidFill>
                  <a:srgbClr val="241619"/>
                </a:solidFill>
                <a:latin typeface="Cambria" pitchFamily="34" charset="0"/>
                <a:ea typeface="Cambria" pitchFamily="34" charset="-122"/>
                <a:cs typeface="Cambria" pitchFamily="34" charset="-120"/>
              </a:rPr>
              <a:t>One number worth pausing on</a:t>
            </a:r>
            <a:endParaRPr lang="en-US" sz="2900" dirty="0"/>
          </a:p>
        </p:txBody>
      </p:sp>
      <p:sp>
        <p:nvSpPr>
          <p:cNvPr id="6" name="Text 4"/>
          <p:cNvSpPr txBox="1"/>
          <p:nvPr/>
        </p:nvSpPr>
        <p:spPr>
          <a:xfrm>
            <a:off x="548640" y="969264"/>
            <a:ext cx="10332720" cy="329184"/>
          </a:xfrm>
          <a:prstGeom prst="rect">
            <a:avLst/>
          </a:prstGeom>
          <a:noFill/>
          <a:ln/>
        </p:spPr>
        <p:txBody>
          <a:bodyPr wrap="square" lIns="0" tIns="0" rIns="0" bIns="0" rtlCol="0" anchor="ctr"/>
          <a:lstStyle/>
          <a:p>
            <a:pPr marL="0" indent="0">
              <a:buNone/>
            </a:pPr>
            <a:r>
              <a:rPr lang="en-US" sz="1350" i="1" dirty="0">
                <a:solidFill>
                  <a:srgbClr val="6E5156"/>
                </a:solidFill>
                <a:latin typeface="Calibri" pitchFamily="34" charset="0"/>
                <a:ea typeface="Calibri" pitchFamily="34" charset="-122"/>
                <a:cs typeface="Calibri" pitchFamily="34" charset="-120"/>
              </a:rPr>
              <a:t>MELD, mapped to four classes</a:t>
            </a:r>
            <a:endParaRPr lang="en-US" sz="1350" dirty="0"/>
          </a:p>
        </p:txBody>
      </p:sp>
      <p:sp>
        <p:nvSpPr>
          <p:cNvPr id="7" name="Text 5"/>
          <p:cNvSpPr txBox="1"/>
          <p:nvPr/>
        </p:nvSpPr>
        <p:spPr>
          <a:xfrm>
            <a:off x="9418320" y="6382512"/>
            <a:ext cx="2221992" cy="274320"/>
          </a:xfrm>
          <a:prstGeom prst="rect">
            <a:avLst/>
          </a:prstGeom>
          <a:noFill/>
          <a:ln/>
        </p:spPr>
        <p:txBody>
          <a:bodyPr wrap="square" lIns="0" tIns="0" rIns="0" bIns="0" rtlCol="0" anchor="ctr"/>
          <a:lstStyle/>
          <a:p>
            <a:pPr marL="0" indent="0" algn="r">
              <a:buNone/>
            </a:pPr>
            <a:r>
              <a:rPr lang="en-US" sz="900" dirty="0">
                <a:solidFill>
                  <a:srgbClr val="B59CA0"/>
                </a:solidFill>
                <a:latin typeface="Calibri" pitchFamily="34" charset="0"/>
                <a:ea typeface="Calibri" pitchFamily="34" charset="-122"/>
                <a:cs typeface="Calibri" pitchFamily="34" charset="-120"/>
              </a:rPr>
              <a:t>Emo-TTA · Shi et al. 2026  |  17</a:t>
            </a:r>
            <a:endParaRPr lang="en-US" sz="900" dirty="0"/>
          </a:p>
        </p:txBody>
      </p:sp>
      <p:graphicFrame>
        <p:nvGraphicFramePr>
          <p:cNvPr id="8" name="Chart 0"/>
          <p:cNvGraphicFramePr/>
          <p:nvPr/>
        </p:nvGraphicFramePr>
        <p:xfrm>
          <a:off x="566928" y="1554480"/>
          <a:ext cx="6675120" cy="3474720"/>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 6"/>
          <p:cNvSpPr txBox="1"/>
          <p:nvPr/>
        </p:nvSpPr>
        <p:spPr>
          <a:xfrm>
            <a:off x="7498080" y="1700784"/>
            <a:ext cx="4133088" cy="3291840"/>
          </a:xfrm>
          <a:prstGeom prst="rect">
            <a:avLst/>
          </a:prstGeom>
          <a:noFill/>
          <a:ln/>
        </p:spPr>
        <p:txBody>
          <a:bodyPr wrap="square" lIns="0" tIns="0" rIns="0" bIns="0" rtlCol="0" anchor="t"/>
          <a:lstStyle/>
          <a:p>
            <a:pPr marL="342900" indent="-342900">
              <a:spcAft>
                <a:spcPts val="800"/>
              </a:spcAft>
              <a:buSzPct val="100000"/>
              <a:buChar char="●"/>
            </a:pPr>
            <a:r>
              <a:rPr lang="en-US" sz="1220" dirty="0">
                <a:solidFill>
                  <a:srgbClr val="352428"/>
                </a:solidFill>
                <a:latin typeface="Calibri" pitchFamily="34" charset="0"/>
                <a:ea typeface="Calibri" pitchFamily="34" charset="-122"/>
                <a:cs typeface="Calibri" pitchFamily="34" charset="-120"/>
              </a:rPr>
              <a:t>Every method in the table scores below 25% — the accuracy a uniform random classifier would achieve on four classes.</a:t>
            </a:r>
            <a:endParaRPr lang="en-US" sz="1220" dirty="0"/>
          </a:p>
          <a:p>
            <a:pPr marL="342900" indent="-342900">
              <a:spcAft>
                <a:spcPts val="800"/>
              </a:spcAft>
              <a:buSzPct val="100000"/>
              <a:buChar char="●"/>
            </a:pPr>
            <a:r>
              <a:rPr lang="en-US" sz="1220" dirty="0">
                <a:solidFill>
                  <a:srgbClr val="352428"/>
                </a:solidFill>
                <a:latin typeface="Calibri" pitchFamily="34" charset="0"/>
                <a:ea typeface="Calibri" pitchFamily="34" charset="-122"/>
                <a:cs typeface="Calibri" pitchFamily="34" charset="-120"/>
              </a:rPr>
              <a:t>Emo-TTA is the best of them at 20.17, and still below chance.</a:t>
            </a:r>
            <a:endParaRPr lang="en-US" sz="1220" dirty="0"/>
          </a:p>
          <a:p>
            <a:pPr marL="342900" indent="-342900">
              <a:spcAft>
                <a:spcPts val="800"/>
              </a:spcAft>
              <a:buSzPct val="100000"/>
              <a:buChar char="●"/>
            </a:pPr>
            <a:r>
              <a:rPr lang="en-US" sz="1220" dirty="0">
                <a:solidFill>
                  <a:srgbClr val="352428"/>
                </a:solidFill>
                <a:latin typeface="Calibri" pitchFamily="34" charset="0"/>
                <a:ea typeface="Calibri" pitchFamily="34" charset="-122"/>
                <a:cs typeface="Calibri" pitchFamily="34" charset="-120"/>
              </a:rPr>
              <a:t>The other five corpora are comfortably above their chance levels: IEMOCAP 43.65 against 25, CREMA-D 44.78 against 16.7, RAVDESS 31.72 against 12.5.</a:t>
            </a:r>
            <a:endParaRPr lang="en-US" sz="1220" dirty="0"/>
          </a:p>
          <a:p>
            <a:pPr marL="342900" indent="-342900">
              <a:spcAft>
                <a:spcPts val="800"/>
              </a:spcAft>
              <a:buSzPct val="100000"/>
              <a:buChar char="●"/>
            </a:pPr>
            <a:r>
              <a:rPr lang="en-US" sz="1220" dirty="0">
                <a:solidFill>
                  <a:srgbClr val="352428"/>
                </a:solidFill>
                <a:latin typeface="Calibri" pitchFamily="34" charset="0"/>
                <a:ea typeface="Calibri" pitchFamily="34" charset="-122"/>
                <a:cs typeface="Calibri" pitchFamily="34" charset="-120"/>
              </a:rPr>
              <a:t>So MELD is not a hard case for this method — it is a case where nothing in the comparison works at all.</a:t>
            </a:r>
            <a:endParaRPr lang="en-US" sz="1220" dirty="0"/>
          </a:p>
        </p:txBody>
      </p:sp>
      <p:sp>
        <p:nvSpPr>
          <p:cNvPr id="10" name="Shape 7"/>
          <p:cNvSpPr/>
          <p:nvPr/>
        </p:nvSpPr>
        <p:spPr>
          <a:xfrm>
            <a:off x="566928" y="5175504"/>
            <a:ext cx="11064240" cy="877824"/>
          </a:xfrm>
          <a:prstGeom prst="roundRect">
            <a:avLst>
              <a:gd name="adj" fmla="val 6250"/>
            </a:avLst>
          </a:prstGeom>
          <a:solidFill>
            <a:srgbClr val="332226"/>
          </a:solidFill>
          <a:ln w="12700">
            <a:solidFill>
              <a:srgbClr val="332226"/>
            </a:solidFill>
            <a:prstDash val="solid"/>
          </a:ln>
        </p:spPr>
        <p:txBody>
          <a:bodyPr/>
          <a:lstStyle/>
          <a:p>
            <a:endParaRPr lang="en-US"/>
          </a:p>
        </p:txBody>
      </p:sp>
      <p:sp>
        <p:nvSpPr>
          <p:cNvPr id="11" name="Text 8"/>
          <p:cNvSpPr txBox="1"/>
          <p:nvPr/>
        </p:nvSpPr>
        <p:spPr>
          <a:xfrm>
            <a:off x="822960" y="5394960"/>
            <a:ext cx="10552176" cy="457200"/>
          </a:xfrm>
          <a:prstGeom prst="rect">
            <a:avLst/>
          </a:prstGeom>
          <a:noFill/>
          <a:ln/>
        </p:spPr>
        <p:txBody>
          <a:bodyPr wrap="square" lIns="0" tIns="0" rIns="0" bIns="0" rtlCol="0" anchor="t"/>
          <a:lstStyle/>
          <a:p>
            <a:pPr marL="0" indent="0">
              <a:lnSpc>
                <a:spcPct val="108000"/>
              </a:lnSpc>
              <a:buNone/>
            </a:pPr>
            <a:r>
              <a:rPr lang="en-US" sz="1300" dirty="0">
                <a:solidFill>
                  <a:srgbClr val="DFC4C7"/>
                </a:solidFill>
                <a:latin typeface="Calibri" pitchFamily="34" charset="0"/>
                <a:ea typeface="Calibri" pitchFamily="34" charset="-122"/>
                <a:cs typeface="Calibri" pitchFamily="34" charset="-120"/>
              </a:rPr>
              <a:t>Improvements measured on a column where every method is below chance are hard to interpret. The honest reading is that MELD under this mapping should probably be reported separately or dropped.</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045952" y="457200"/>
            <a:ext cx="420624" cy="274320"/>
          </a:xfrm>
          <a:prstGeom prst="ellipse">
            <a:avLst/>
          </a:prstGeom>
          <a:ln w="16510">
            <a:solidFill>
              <a:srgbClr val="8A4A52"/>
            </a:solidFill>
            <a:prstDash val="solid"/>
          </a:ln>
        </p:spPr>
        <p:txBody>
          <a:bodyPr/>
          <a:lstStyle/>
          <a:p>
            <a:endParaRPr lang="en-US"/>
          </a:p>
        </p:txBody>
      </p:sp>
      <p:sp>
        <p:nvSpPr>
          <p:cNvPr id="3" name="Shape 1"/>
          <p:cNvSpPr/>
          <p:nvPr/>
        </p:nvSpPr>
        <p:spPr>
          <a:xfrm>
            <a:off x="11164824" y="539496"/>
            <a:ext cx="82296" cy="82296"/>
          </a:xfrm>
          <a:prstGeom prst="ellipse">
            <a:avLst/>
          </a:prstGeom>
          <a:solidFill>
            <a:srgbClr val="B8871F"/>
          </a:solidFill>
          <a:ln w="12700">
            <a:solidFill>
              <a:srgbClr val="333333"/>
            </a:solidFill>
            <a:prstDash val="solid"/>
          </a:ln>
        </p:spPr>
        <p:txBody>
          <a:bodyPr/>
          <a:lstStyle/>
          <a:p>
            <a:endParaRPr lang="en-US"/>
          </a:p>
        </p:txBody>
      </p:sp>
      <p:sp>
        <p:nvSpPr>
          <p:cNvPr id="4" name="Shape 2"/>
          <p:cNvSpPr/>
          <p:nvPr/>
        </p:nvSpPr>
        <p:spPr>
          <a:xfrm>
            <a:off x="11292840" y="585216"/>
            <a:ext cx="64008" cy="64008"/>
          </a:xfrm>
          <a:prstGeom prst="ellipse">
            <a:avLst/>
          </a:prstGeom>
          <a:solidFill>
            <a:srgbClr val="B08A8E"/>
          </a:solidFill>
          <a:ln w="12700">
            <a:solidFill>
              <a:srgbClr val="333333"/>
            </a:solidFill>
            <a:prstDash val="solid"/>
          </a:ln>
        </p:spPr>
        <p:txBody>
          <a:bodyPr/>
          <a:lstStyle/>
          <a:p>
            <a:endParaRPr lang="en-US"/>
          </a:p>
        </p:txBody>
      </p:sp>
      <p:sp>
        <p:nvSpPr>
          <p:cNvPr id="5" name="Text 3"/>
          <p:cNvSpPr txBox="1"/>
          <p:nvPr/>
        </p:nvSpPr>
        <p:spPr>
          <a:xfrm>
            <a:off x="548640" y="384048"/>
            <a:ext cx="10332720" cy="566928"/>
          </a:xfrm>
          <a:prstGeom prst="rect">
            <a:avLst/>
          </a:prstGeom>
          <a:noFill/>
          <a:ln/>
        </p:spPr>
        <p:txBody>
          <a:bodyPr wrap="square" lIns="0" tIns="0" rIns="0" bIns="0" rtlCol="0" anchor="t"/>
          <a:lstStyle/>
          <a:p>
            <a:pPr marL="0" indent="0">
              <a:buNone/>
            </a:pPr>
            <a:r>
              <a:rPr lang="en-US" sz="2900" b="1" dirty="0">
                <a:solidFill>
                  <a:srgbClr val="241619"/>
                </a:solidFill>
                <a:latin typeface="Cambria" pitchFamily="34" charset="0"/>
                <a:ea typeface="Cambria" pitchFamily="34" charset="-122"/>
                <a:cs typeface="Cambria" pitchFamily="34" charset="-120"/>
              </a:rPr>
              <a:t>Ablations</a:t>
            </a:r>
            <a:endParaRPr lang="en-US" sz="2900" dirty="0"/>
          </a:p>
        </p:txBody>
      </p:sp>
      <p:sp>
        <p:nvSpPr>
          <p:cNvPr id="6" name="Text 4"/>
          <p:cNvSpPr txBox="1"/>
          <p:nvPr/>
        </p:nvSpPr>
        <p:spPr>
          <a:xfrm>
            <a:off x="548640" y="969264"/>
            <a:ext cx="10332720" cy="329184"/>
          </a:xfrm>
          <a:prstGeom prst="rect">
            <a:avLst/>
          </a:prstGeom>
          <a:noFill/>
          <a:ln/>
        </p:spPr>
        <p:txBody>
          <a:bodyPr wrap="square" lIns="0" tIns="0" rIns="0" bIns="0" rtlCol="0" anchor="ctr"/>
          <a:lstStyle/>
          <a:p>
            <a:pPr marL="0" indent="0">
              <a:buNone/>
            </a:pPr>
            <a:r>
              <a:rPr lang="en-US" sz="1350" i="1" dirty="0">
                <a:solidFill>
                  <a:srgbClr val="6E5156"/>
                </a:solidFill>
                <a:latin typeface="Calibri" pitchFamily="34" charset="0"/>
                <a:ea typeface="Calibri" pitchFamily="34" charset="-122"/>
                <a:cs typeface="Calibri" pitchFamily="34" charset="-120"/>
              </a:rPr>
              <a:t>Which part of the estimation matters</a:t>
            </a:r>
            <a:endParaRPr lang="en-US" sz="1350" dirty="0"/>
          </a:p>
        </p:txBody>
      </p:sp>
      <p:sp>
        <p:nvSpPr>
          <p:cNvPr id="7" name="Text 5"/>
          <p:cNvSpPr txBox="1"/>
          <p:nvPr/>
        </p:nvSpPr>
        <p:spPr>
          <a:xfrm>
            <a:off x="9418320" y="6382512"/>
            <a:ext cx="2221992" cy="274320"/>
          </a:xfrm>
          <a:prstGeom prst="rect">
            <a:avLst/>
          </a:prstGeom>
          <a:noFill/>
          <a:ln/>
        </p:spPr>
        <p:txBody>
          <a:bodyPr wrap="square" lIns="0" tIns="0" rIns="0" bIns="0" rtlCol="0" anchor="ctr"/>
          <a:lstStyle/>
          <a:p>
            <a:pPr marL="0" indent="0" algn="r">
              <a:buNone/>
            </a:pPr>
            <a:r>
              <a:rPr lang="en-US" sz="900" dirty="0">
                <a:solidFill>
                  <a:srgbClr val="B59CA0"/>
                </a:solidFill>
                <a:latin typeface="Calibri" pitchFamily="34" charset="0"/>
                <a:ea typeface="Calibri" pitchFamily="34" charset="-122"/>
                <a:cs typeface="Calibri" pitchFamily="34" charset="-120"/>
              </a:rPr>
              <a:t>Emo-TTA · Shi et al. 2026  |  18</a:t>
            </a:r>
            <a:endParaRPr lang="en-US" sz="900" dirty="0"/>
          </a:p>
        </p:txBody>
      </p:sp>
      <p:graphicFrame>
        <p:nvGraphicFramePr>
          <p:cNvPr id="8" name="Chart 0"/>
          <p:cNvGraphicFramePr/>
          <p:nvPr/>
        </p:nvGraphicFramePr>
        <p:xfrm>
          <a:off x="566928" y="1554480"/>
          <a:ext cx="6675120"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 6"/>
          <p:cNvSpPr txBox="1"/>
          <p:nvPr/>
        </p:nvSpPr>
        <p:spPr>
          <a:xfrm>
            <a:off x="7498080" y="1700784"/>
            <a:ext cx="4133088" cy="3383280"/>
          </a:xfrm>
          <a:prstGeom prst="rect">
            <a:avLst/>
          </a:prstGeom>
          <a:noFill/>
          <a:ln/>
        </p:spPr>
        <p:txBody>
          <a:bodyPr wrap="square" lIns="0" tIns="0" rIns="0" bIns="0" rtlCol="0" anchor="t"/>
          <a:lstStyle/>
          <a:p>
            <a:pPr marL="342900" indent="-342900">
              <a:spcAft>
                <a:spcPts val="800"/>
              </a:spcAft>
              <a:buSzPct val="100000"/>
              <a:buChar char="●"/>
            </a:pPr>
            <a:r>
              <a:rPr lang="en-US" sz="1220" dirty="0">
                <a:solidFill>
                  <a:srgbClr val="352428"/>
                </a:solidFill>
                <a:latin typeface="Calibri" pitchFamily="34" charset="0"/>
                <a:ea typeface="Calibri" pitchFamily="34" charset="-122"/>
                <a:cs typeface="Calibri" pitchFamily="34" charset="-120"/>
              </a:rPr>
              <a:t>Freezing the covariance to the identity costs 6.41 points — the largest effect, and it reduces the scoring function to plain Euclidean distance.</a:t>
            </a:r>
            <a:endParaRPr lang="en-US" sz="1220" dirty="0"/>
          </a:p>
          <a:p>
            <a:pPr marL="342900" indent="-342900">
              <a:spcAft>
                <a:spcPts val="800"/>
              </a:spcAft>
              <a:buSzPct val="100000"/>
              <a:buChar char="●"/>
            </a:pPr>
            <a:r>
              <a:rPr lang="en-US" sz="1220" dirty="0">
                <a:solidFill>
                  <a:srgbClr val="352428"/>
                </a:solidFill>
                <a:latin typeface="Calibri" pitchFamily="34" charset="0"/>
                <a:ea typeface="Calibri" pitchFamily="34" charset="-122"/>
                <a:cs typeface="Calibri" pitchFamily="34" charset="-120"/>
              </a:rPr>
              <a:t>Removing the ALM priors — text initialisation and entropy weighting — costs 5.54.</a:t>
            </a:r>
            <a:endParaRPr lang="en-US" sz="1220" dirty="0"/>
          </a:p>
          <a:p>
            <a:pPr marL="342900" indent="-342900">
              <a:spcAft>
                <a:spcPts val="800"/>
              </a:spcAft>
              <a:buSzPct val="100000"/>
              <a:buChar char="●"/>
            </a:pPr>
            <a:r>
              <a:rPr lang="en-US" sz="1220" dirty="0">
                <a:solidFill>
                  <a:srgbClr val="352428"/>
                </a:solidFill>
                <a:latin typeface="Calibri" pitchFamily="34" charset="0"/>
                <a:ea typeface="Calibri" pitchFamily="34" charset="-122"/>
                <a:cs typeface="Calibri" pitchFamily="34" charset="-120"/>
              </a:rPr>
              <a:t>Freezing the class means to the CLAP text prototypes costs only 1.65.</a:t>
            </a:r>
            <a:endParaRPr lang="en-US" sz="1220" dirty="0"/>
          </a:p>
          <a:p>
            <a:pPr marL="342900" indent="-342900">
              <a:spcAft>
                <a:spcPts val="800"/>
              </a:spcAft>
              <a:buSzPct val="100000"/>
              <a:buChar char="●"/>
            </a:pPr>
            <a:r>
              <a:rPr lang="en-US" sz="1220" dirty="0">
                <a:solidFill>
                  <a:srgbClr val="352428"/>
                </a:solidFill>
                <a:latin typeface="Calibri" pitchFamily="34" charset="0"/>
                <a:ea typeface="Calibri" pitchFamily="34" charset="-122"/>
                <a:cs typeface="Calibri" pitchFamily="34" charset="-120"/>
              </a:rPr>
              <a:t>So the method's name notwithstanding, the biggest single contributor is learning the shape of the embedding distribution, not re-centring the classes.</a:t>
            </a:r>
            <a:endParaRPr lang="en-US" sz="1220" dirty="0"/>
          </a:p>
        </p:txBody>
      </p:sp>
      <p:sp>
        <p:nvSpPr>
          <p:cNvPr id="10" name="Shape 7"/>
          <p:cNvSpPr/>
          <p:nvPr/>
        </p:nvSpPr>
        <p:spPr>
          <a:xfrm>
            <a:off x="566928" y="5266944"/>
            <a:ext cx="11064240" cy="786384"/>
          </a:xfrm>
          <a:prstGeom prst="roundRect">
            <a:avLst>
              <a:gd name="adj" fmla="val 6977"/>
            </a:avLst>
          </a:prstGeom>
          <a:solidFill>
            <a:srgbClr val="332226"/>
          </a:solidFill>
          <a:ln w="12700">
            <a:solidFill>
              <a:srgbClr val="332226"/>
            </a:solidFill>
            <a:prstDash val="solid"/>
          </a:ln>
        </p:spPr>
        <p:txBody>
          <a:bodyPr/>
          <a:lstStyle/>
          <a:p>
            <a:endParaRPr lang="en-US"/>
          </a:p>
        </p:txBody>
      </p:sp>
      <p:sp>
        <p:nvSpPr>
          <p:cNvPr id="11" name="Text 8"/>
          <p:cNvSpPr txBox="1"/>
          <p:nvPr/>
        </p:nvSpPr>
        <p:spPr>
          <a:xfrm>
            <a:off x="822960" y="5486400"/>
            <a:ext cx="10552176" cy="365760"/>
          </a:xfrm>
          <a:prstGeom prst="rect">
            <a:avLst/>
          </a:prstGeom>
          <a:noFill/>
          <a:ln/>
        </p:spPr>
        <p:txBody>
          <a:bodyPr wrap="square" lIns="0" tIns="0" rIns="0" bIns="0" rtlCol="0" anchor="t"/>
          <a:lstStyle/>
          <a:p>
            <a:pPr marL="0" indent="0">
              <a:lnSpc>
                <a:spcPct val="108000"/>
              </a:lnSpc>
              <a:buNone/>
            </a:pPr>
            <a:r>
              <a:rPr lang="en-US" sz="1300" dirty="0">
                <a:solidFill>
                  <a:srgbClr val="DFC4C7"/>
                </a:solidFill>
                <a:latin typeface="Calibri" pitchFamily="34" charset="0"/>
                <a:ea typeface="Calibri" pitchFamily="34" charset="-122"/>
                <a:cs typeface="Calibri" pitchFamily="34" charset="-120"/>
              </a:rPr>
              <a:t>That inverts the intuition the framing invites. The prototypes were always roughly in the right place; what was wrong was the metric used to measure distance to them.</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9">
    <p:bg>
      <p:bgPr>
        <a:solidFill>
          <a:srgbClr val="332226"/>
        </a:solidFill>
        <a:effectLst/>
      </p:bgPr>
    </p:bg>
    <p:spTree>
      <p:nvGrpSpPr>
        <p:cNvPr id="1" name=""/>
        <p:cNvGrpSpPr/>
        <p:nvPr/>
      </p:nvGrpSpPr>
      <p:grpSpPr>
        <a:xfrm>
          <a:off x="0" y="0"/>
          <a:ext cx="0" cy="0"/>
          <a:chOff x="0" y="0"/>
          <a:chExt cx="0" cy="0"/>
        </a:xfrm>
      </p:grpSpPr>
      <p:sp>
        <p:nvSpPr>
          <p:cNvPr id="2" name="Shape 0"/>
          <p:cNvSpPr/>
          <p:nvPr/>
        </p:nvSpPr>
        <p:spPr>
          <a:xfrm>
            <a:off x="10515600" y="5349240"/>
            <a:ext cx="841248" cy="548640"/>
          </a:xfrm>
          <a:prstGeom prst="ellipse">
            <a:avLst/>
          </a:prstGeom>
          <a:ln w="16510">
            <a:solidFill>
              <a:srgbClr val="DFC4C7"/>
            </a:solidFill>
            <a:prstDash val="solid"/>
          </a:ln>
        </p:spPr>
        <p:txBody>
          <a:bodyPr/>
          <a:lstStyle/>
          <a:p>
            <a:endParaRPr lang="en-US"/>
          </a:p>
        </p:txBody>
      </p:sp>
      <p:sp>
        <p:nvSpPr>
          <p:cNvPr id="3" name="Shape 1"/>
          <p:cNvSpPr/>
          <p:nvPr/>
        </p:nvSpPr>
        <p:spPr>
          <a:xfrm>
            <a:off x="10753344" y="5513832"/>
            <a:ext cx="164592" cy="164592"/>
          </a:xfrm>
          <a:prstGeom prst="ellipse">
            <a:avLst/>
          </a:prstGeom>
          <a:solidFill>
            <a:srgbClr val="B8871F"/>
          </a:solidFill>
          <a:ln w="12700">
            <a:solidFill>
              <a:srgbClr val="333333"/>
            </a:solidFill>
            <a:prstDash val="solid"/>
          </a:ln>
        </p:spPr>
        <p:txBody>
          <a:bodyPr/>
          <a:lstStyle/>
          <a:p>
            <a:endParaRPr lang="en-US"/>
          </a:p>
        </p:txBody>
      </p:sp>
      <p:sp>
        <p:nvSpPr>
          <p:cNvPr id="4" name="Shape 2"/>
          <p:cNvSpPr/>
          <p:nvPr/>
        </p:nvSpPr>
        <p:spPr>
          <a:xfrm>
            <a:off x="11009376" y="5605272"/>
            <a:ext cx="128016" cy="128016"/>
          </a:xfrm>
          <a:prstGeom prst="ellipse">
            <a:avLst/>
          </a:prstGeom>
          <a:solidFill>
            <a:srgbClr val="C9A8AC"/>
          </a:solidFill>
          <a:ln w="12700">
            <a:solidFill>
              <a:srgbClr val="333333"/>
            </a:solidFill>
            <a:prstDash val="solid"/>
          </a:ln>
        </p:spPr>
        <p:txBody>
          <a:bodyPr/>
          <a:lstStyle/>
          <a:p>
            <a:endParaRPr lang="en-US"/>
          </a:p>
        </p:txBody>
      </p:sp>
      <p:sp>
        <p:nvSpPr>
          <p:cNvPr id="5" name="Text 3"/>
          <p:cNvSpPr txBox="1"/>
          <p:nvPr/>
        </p:nvSpPr>
        <p:spPr>
          <a:xfrm>
            <a:off x="822960" y="2057400"/>
            <a:ext cx="1554480" cy="1005840"/>
          </a:xfrm>
          <a:prstGeom prst="rect">
            <a:avLst/>
          </a:prstGeom>
          <a:noFill/>
          <a:ln/>
        </p:spPr>
        <p:txBody>
          <a:bodyPr wrap="square" lIns="0" tIns="0" rIns="0" bIns="0" rtlCol="0" anchor="ctr"/>
          <a:lstStyle/>
          <a:p>
            <a:pPr marL="0" indent="0">
              <a:buNone/>
            </a:pPr>
            <a:r>
              <a:rPr lang="en-US" sz="6600" b="1" dirty="0">
                <a:solidFill>
                  <a:srgbClr val="B8871F"/>
                </a:solidFill>
                <a:latin typeface="Cambria" pitchFamily="34" charset="0"/>
                <a:ea typeface="Cambria" pitchFamily="34" charset="-122"/>
                <a:cs typeface="Cambria" pitchFamily="34" charset="-120"/>
              </a:rPr>
              <a:t>4</a:t>
            </a:r>
            <a:endParaRPr lang="en-US" sz="6600" dirty="0"/>
          </a:p>
        </p:txBody>
      </p:sp>
      <p:sp>
        <p:nvSpPr>
          <p:cNvPr id="6" name="Text 4"/>
          <p:cNvSpPr txBox="1"/>
          <p:nvPr/>
        </p:nvSpPr>
        <p:spPr>
          <a:xfrm>
            <a:off x="2377440" y="2212848"/>
            <a:ext cx="8686800" cy="822960"/>
          </a:xfrm>
          <a:prstGeom prst="rect">
            <a:avLst/>
          </a:prstGeom>
          <a:noFill/>
          <a:ln/>
        </p:spPr>
        <p:txBody>
          <a:bodyPr wrap="square" lIns="0" tIns="0" rIns="0" bIns="0" rtlCol="0" anchor="ctr"/>
          <a:lstStyle/>
          <a:p>
            <a:pPr marL="0" indent="0">
              <a:buNone/>
            </a:pPr>
            <a:r>
              <a:rPr lang="en-US" sz="3300" b="1" dirty="0">
                <a:solidFill>
                  <a:srgbClr val="FFFFFF"/>
                </a:solidFill>
                <a:latin typeface="Cambria" pitchFamily="34" charset="0"/>
                <a:ea typeface="Cambria" pitchFamily="34" charset="-122"/>
                <a:cs typeface="Cambria" pitchFamily="34" charset="-120"/>
              </a:rPr>
              <a:t>Reading it closely</a:t>
            </a:r>
            <a:endParaRPr lang="en-US" sz="3300" dirty="0"/>
          </a:p>
        </p:txBody>
      </p:sp>
      <p:sp>
        <p:nvSpPr>
          <p:cNvPr id="7" name="Text 5"/>
          <p:cNvSpPr txBox="1"/>
          <p:nvPr/>
        </p:nvSpPr>
        <p:spPr>
          <a:xfrm>
            <a:off x="2432304" y="3072384"/>
            <a:ext cx="8503920" cy="731520"/>
          </a:xfrm>
          <a:prstGeom prst="rect">
            <a:avLst/>
          </a:prstGeom>
          <a:noFill/>
          <a:ln/>
        </p:spPr>
        <p:txBody>
          <a:bodyPr wrap="square" lIns="0" tIns="0" rIns="0" bIns="0" rtlCol="0" anchor="ctr"/>
          <a:lstStyle/>
          <a:p>
            <a:pPr marL="0" indent="0">
              <a:buNone/>
            </a:pPr>
            <a:r>
              <a:rPr lang="en-US" sz="1500" dirty="0">
                <a:solidFill>
                  <a:srgbClr val="DFC4C7"/>
                </a:solidFill>
                <a:latin typeface="Calibri" pitchFamily="34" charset="0"/>
                <a:ea typeface="Calibri" pitchFamily="34" charset="-122"/>
                <a:cs typeface="Calibri" pitchFamily="34" charset="-120"/>
              </a:rPr>
              <a:t>One equation, and what is not reported</a:t>
            </a:r>
            <a:endParaRPr lang="en-US" sz="1500" dirty="0"/>
          </a:p>
        </p:txBody>
      </p:sp>
      <p:sp>
        <p:nvSpPr>
          <p:cNvPr id="8" name="Text 6"/>
          <p:cNvSpPr txBox="1"/>
          <p:nvPr/>
        </p:nvSpPr>
        <p:spPr>
          <a:xfrm>
            <a:off x="9418320" y="6382512"/>
            <a:ext cx="2221992" cy="274320"/>
          </a:xfrm>
          <a:prstGeom prst="rect">
            <a:avLst/>
          </a:prstGeom>
          <a:noFill/>
          <a:ln/>
        </p:spPr>
        <p:txBody>
          <a:bodyPr wrap="square" lIns="0" tIns="0" rIns="0" bIns="0" rtlCol="0" anchor="ctr"/>
          <a:lstStyle/>
          <a:p>
            <a:pPr marL="0" indent="0" algn="r">
              <a:buNone/>
            </a:pPr>
            <a:r>
              <a:rPr lang="en-US" sz="900" dirty="0">
                <a:solidFill>
                  <a:srgbClr val="B59CA0"/>
                </a:solidFill>
                <a:latin typeface="Calibri" pitchFamily="34" charset="0"/>
                <a:ea typeface="Calibri" pitchFamily="34" charset="-122"/>
                <a:cs typeface="Calibri" pitchFamily="34" charset="-120"/>
              </a:rPr>
              <a:t>Emo-TTA · Shi et al. 2026  |  19</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045952" y="457200"/>
            <a:ext cx="420624" cy="274320"/>
          </a:xfrm>
          <a:prstGeom prst="ellipse">
            <a:avLst/>
          </a:prstGeom>
          <a:ln w="16510">
            <a:solidFill>
              <a:srgbClr val="8A4A52"/>
            </a:solidFill>
            <a:prstDash val="solid"/>
          </a:ln>
        </p:spPr>
        <p:txBody>
          <a:bodyPr/>
          <a:lstStyle/>
          <a:p>
            <a:endParaRPr lang="en-US"/>
          </a:p>
        </p:txBody>
      </p:sp>
      <p:sp>
        <p:nvSpPr>
          <p:cNvPr id="3" name="Shape 1"/>
          <p:cNvSpPr/>
          <p:nvPr/>
        </p:nvSpPr>
        <p:spPr>
          <a:xfrm>
            <a:off x="11164824" y="539496"/>
            <a:ext cx="82296" cy="82296"/>
          </a:xfrm>
          <a:prstGeom prst="ellipse">
            <a:avLst/>
          </a:prstGeom>
          <a:solidFill>
            <a:srgbClr val="B8871F"/>
          </a:solidFill>
          <a:ln w="12700">
            <a:solidFill>
              <a:srgbClr val="333333"/>
            </a:solidFill>
            <a:prstDash val="solid"/>
          </a:ln>
        </p:spPr>
        <p:txBody>
          <a:bodyPr/>
          <a:lstStyle/>
          <a:p>
            <a:endParaRPr lang="en-US"/>
          </a:p>
        </p:txBody>
      </p:sp>
      <p:sp>
        <p:nvSpPr>
          <p:cNvPr id="4" name="Shape 2"/>
          <p:cNvSpPr/>
          <p:nvPr/>
        </p:nvSpPr>
        <p:spPr>
          <a:xfrm>
            <a:off x="11292840" y="585216"/>
            <a:ext cx="64008" cy="64008"/>
          </a:xfrm>
          <a:prstGeom prst="ellipse">
            <a:avLst/>
          </a:prstGeom>
          <a:solidFill>
            <a:srgbClr val="B08A8E"/>
          </a:solidFill>
          <a:ln w="12700">
            <a:solidFill>
              <a:srgbClr val="333333"/>
            </a:solidFill>
            <a:prstDash val="solid"/>
          </a:ln>
        </p:spPr>
        <p:txBody>
          <a:bodyPr/>
          <a:lstStyle/>
          <a:p>
            <a:endParaRPr lang="en-US"/>
          </a:p>
        </p:txBody>
      </p:sp>
      <p:sp>
        <p:nvSpPr>
          <p:cNvPr id="5" name="Text 3"/>
          <p:cNvSpPr txBox="1"/>
          <p:nvPr/>
        </p:nvSpPr>
        <p:spPr>
          <a:xfrm>
            <a:off x="548640" y="384048"/>
            <a:ext cx="10332720" cy="566928"/>
          </a:xfrm>
          <a:prstGeom prst="rect">
            <a:avLst/>
          </a:prstGeom>
          <a:noFill/>
          <a:ln/>
        </p:spPr>
        <p:txBody>
          <a:bodyPr wrap="square" lIns="0" tIns="0" rIns="0" bIns="0" rtlCol="0" anchor="t"/>
          <a:lstStyle/>
          <a:p>
            <a:pPr marL="0" indent="0">
              <a:buNone/>
            </a:pPr>
            <a:r>
              <a:rPr lang="en-US" sz="2900" b="1" dirty="0">
                <a:solidFill>
                  <a:srgbClr val="241619"/>
                </a:solidFill>
                <a:latin typeface="Cambria" pitchFamily="34" charset="0"/>
                <a:ea typeface="Cambria" pitchFamily="34" charset="-122"/>
                <a:cs typeface="Cambria" pitchFamily="34" charset="-120"/>
              </a:rPr>
              <a:t>The covariance update, as printed</a:t>
            </a:r>
            <a:endParaRPr lang="en-US" sz="2900" dirty="0"/>
          </a:p>
        </p:txBody>
      </p:sp>
      <p:sp>
        <p:nvSpPr>
          <p:cNvPr id="6" name="Text 4"/>
          <p:cNvSpPr txBox="1"/>
          <p:nvPr/>
        </p:nvSpPr>
        <p:spPr>
          <a:xfrm>
            <a:off x="548640" y="969264"/>
            <a:ext cx="10332720" cy="329184"/>
          </a:xfrm>
          <a:prstGeom prst="rect">
            <a:avLst/>
          </a:prstGeom>
          <a:noFill/>
          <a:ln/>
        </p:spPr>
        <p:txBody>
          <a:bodyPr wrap="square" lIns="0" tIns="0" rIns="0" bIns="0" rtlCol="0" anchor="ctr"/>
          <a:lstStyle/>
          <a:p>
            <a:pPr marL="0" indent="0">
              <a:buNone/>
            </a:pPr>
            <a:r>
              <a:rPr lang="en-US" sz="1350" i="1" dirty="0">
                <a:solidFill>
                  <a:srgbClr val="6E5156"/>
                </a:solidFill>
                <a:latin typeface="Calibri" pitchFamily="34" charset="0"/>
                <a:ea typeface="Calibri" pitchFamily="34" charset="-122"/>
                <a:cs typeface="Calibri" pitchFamily="34" charset="-120"/>
              </a:rPr>
              <a:t>A careful-reading exercise</a:t>
            </a:r>
            <a:endParaRPr lang="en-US" sz="1350" dirty="0"/>
          </a:p>
        </p:txBody>
      </p:sp>
      <p:sp>
        <p:nvSpPr>
          <p:cNvPr id="7" name="Text 5"/>
          <p:cNvSpPr txBox="1"/>
          <p:nvPr/>
        </p:nvSpPr>
        <p:spPr>
          <a:xfrm>
            <a:off x="9418320" y="6382512"/>
            <a:ext cx="2221992" cy="274320"/>
          </a:xfrm>
          <a:prstGeom prst="rect">
            <a:avLst/>
          </a:prstGeom>
          <a:noFill/>
          <a:ln/>
        </p:spPr>
        <p:txBody>
          <a:bodyPr wrap="square" lIns="0" tIns="0" rIns="0" bIns="0" rtlCol="0" anchor="ctr"/>
          <a:lstStyle/>
          <a:p>
            <a:pPr marL="0" indent="0" algn="r">
              <a:buNone/>
            </a:pPr>
            <a:r>
              <a:rPr lang="en-US" sz="900" dirty="0">
                <a:solidFill>
                  <a:srgbClr val="B59CA0"/>
                </a:solidFill>
                <a:latin typeface="Calibri" pitchFamily="34" charset="0"/>
                <a:ea typeface="Calibri" pitchFamily="34" charset="-122"/>
                <a:cs typeface="Calibri" pitchFamily="34" charset="-120"/>
              </a:rPr>
              <a:t>Emo-TTA · Shi et al. 2026  |  20</a:t>
            </a:r>
            <a:endParaRPr lang="en-US" sz="900" dirty="0"/>
          </a:p>
        </p:txBody>
      </p:sp>
      <p:sp>
        <p:nvSpPr>
          <p:cNvPr id="8" name="Shape 6"/>
          <p:cNvSpPr/>
          <p:nvPr/>
        </p:nvSpPr>
        <p:spPr>
          <a:xfrm>
            <a:off x="566928" y="1627632"/>
            <a:ext cx="11064240" cy="1152144"/>
          </a:xfrm>
          <a:prstGeom prst="roundRect">
            <a:avLst>
              <a:gd name="adj" fmla="val 4762"/>
            </a:avLst>
          </a:prstGeom>
          <a:solidFill>
            <a:srgbClr val="F7F1F2"/>
          </a:solidFill>
          <a:ln w="12700">
            <a:solidFill>
              <a:srgbClr val="EDE0E2"/>
            </a:solidFill>
            <a:prstDash val="solid"/>
          </a:ln>
        </p:spPr>
        <p:txBody>
          <a:bodyPr/>
          <a:lstStyle/>
          <a:p>
            <a:endParaRPr lang="en-US"/>
          </a:p>
        </p:txBody>
      </p:sp>
      <p:sp>
        <p:nvSpPr>
          <p:cNvPr id="9" name="Text 7"/>
          <p:cNvSpPr txBox="1"/>
          <p:nvPr/>
        </p:nvSpPr>
        <p:spPr>
          <a:xfrm>
            <a:off x="566928" y="1956816"/>
            <a:ext cx="11064240" cy="512064"/>
          </a:xfrm>
          <a:prstGeom prst="rect">
            <a:avLst/>
          </a:prstGeom>
          <a:noFill/>
          <a:ln/>
        </p:spPr>
        <p:txBody>
          <a:bodyPr wrap="square" lIns="0" tIns="0" rIns="0" bIns="0" rtlCol="0" anchor="ctr"/>
          <a:lstStyle/>
          <a:p>
            <a:pPr marL="0" indent="0" algn="ctr">
              <a:buNone/>
            </a:pPr>
            <a:r>
              <a:rPr lang="en-US" sz="1800" b="1" dirty="0">
                <a:solidFill>
                  <a:srgbClr val="241619"/>
                </a:solidFill>
                <a:latin typeface="Cambria" pitchFamily="34" charset="0"/>
                <a:ea typeface="Cambria" pitchFamily="34" charset="-122"/>
                <a:cs typeface="Cambria" pitchFamily="34" charset="-120"/>
              </a:rPr>
              <a:t>Σ′  =  [ (n_t − 1) Σ  +  Σ_y γ_{y,t} (F_t − μ′_y)(F_t − μ′_y)ᵀ ]  /  (n_t − 1)</a:t>
            </a:r>
            <a:endParaRPr lang="en-US" sz="1800" dirty="0"/>
          </a:p>
        </p:txBody>
      </p:sp>
      <p:sp>
        <p:nvSpPr>
          <p:cNvPr id="10" name="Shape 8"/>
          <p:cNvSpPr/>
          <p:nvPr/>
        </p:nvSpPr>
        <p:spPr>
          <a:xfrm>
            <a:off x="566928" y="2944368"/>
            <a:ext cx="5440680" cy="1609344"/>
          </a:xfrm>
          <a:prstGeom prst="roundRect">
            <a:avLst>
              <a:gd name="adj" fmla="val 3409"/>
            </a:avLst>
          </a:prstGeom>
          <a:solidFill>
            <a:srgbClr val="F7F1F2"/>
          </a:solidFill>
          <a:ln w="12700">
            <a:solidFill>
              <a:srgbClr val="EDE0E2"/>
            </a:solidFill>
            <a:prstDash val="solid"/>
          </a:ln>
        </p:spPr>
        <p:txBody>
          <a:bodyPr/>
          <a:lstStyle/>
          <a:p>
            <a:endParaRPr lang="en-US"/>
          </a:p>
        </p:txBody>
      </p:sp>
      <p:sp>
        <p:nvSpPr>
          <p:cNvPr id="11" name="Shape 9"/>
          <p:cNvSpPr/>
          <p:nvPr/>
        </p:nvSpPr>
        <p:spPr>
          <a:xfrm>
            <a:off x="786384" y="3236976"/>
            <a:ext cx="109728" cy="109728"/>
          </a:xfrm>
          <a:prstGeom prst="ellipse">
            <a:avLst/>
          </a:prstGeom>
          <a:solidFill>
            <a:srgbClr val="8A4A52"/>
          </a:solidFill>
          <a:ln w="12700">
            <a:solidFill>
              <a:srgbClr val="333333"/>
            </a:solidFill>
            <a:prstDash val="solid"/>
          </a:ln>
        </p:spPr>
        <p:txBody>
          <a:bodyPr/>
          <a:lstStyle/>
          <a:p>
            <a:endParaRPr lang="en-US"/>
          </a:p>
        </p:txBody>
      </p:sp>
      <p:sp>
        <p:nvSpPr>
          <p:cNvPr id="12" name="Text 10"/>
          <p:cNvSpPr txBox="1"/>
          <p:nvPr/>
        </p:nvSpPr>
        <p:spPr>
          <a:xfrm>
            <a:off x="987552" y="3108960"/>
            <a:ext cx="4800600" cy="365760"/>
          </a:xfrm>
          <a:prstGeom prst="rect">
            <a:avLst/>
          </a:prstGeom>
          <a:noFill/>
          <a:ln/>
        </p:spPr>
        <p:txBody>
          <a:bodyPr wrap="square" lIns="0" tIns="0" rIns="0" bIns="0" rtlCol="0" anchor="ctr"/>
          <a:lstStyle/>
          <a:p>
            <a:pPr marL="0" indent="0">
              <a:buNone/>
            </a:pPr>
            <a:r>
              <a:rPr lang="en-US" sz="1500" b="1" dirty="0">
                <a:solidFill>
                  <a:srgbClr val="241619"/>
                </a:solidFill>
                <a:latin typeface="Cambria" pitchFamily="34" charset="0"/>
                <a:ea typeface="Cambria" pitchFamily="34" charset="-122"/>
                <a:cs typeface="Cambria" pitchFamily="34" charset="-120"/>
              </a:rPr>
              <a:t>What a running average looks like</a:t>
            </a:r>
            <a:endParaRPr lang="en-US" sz="1500" dirty="0"/>
          </a:p>
        </p:txBody>
      </p:sp>
      <p:sp>
        <p:nvSpPr>
          <p:cNvPr id="13" name="Text 11"/>
          <p:cNvSpPr txBox="1"/>
          <p:nvPr/>
        </p:nvSpPr>
        <p:spPr>
          <a:xfrm>
            <a:off x="822960" y="3547872"/>
            <a:ext cx="4928616" cy="822960"/>
          </a:xfrm>
          <a:prstGeom prst="rect">
            <a:avLst/>
          </a:prstGeom>
          <a:noFill/>
          <a:ln/>
        </p:spPr>
        <p:txBody>
          <a:bodyPr wrap="square" lIns="0" tIns="0" rIns="0" bIns="0" rtlCol="0" anchor="t"/>
          <a:lstStyle/>
          <a:p>
            <a:pPr marL="0" indent="0">
              <a:lnSpc>
                <a:spcPct val="108000"/>
              </a:lnSpc>
              <a:buNone/>
            </a:pPr>
            <a:r>
              <a:rPr lang="en-US" sz="1260" dirty="0">
                <a:solidFill>
                  <a:srgbClr val="352428"/>
                </a:solidFill>
                <a:latin typeface="Calibri" pitchFamily="34" charset="0"/>
                <a:ea typeface="Calibri" pitchFamily="34" charset="-122"/>
                <a:cs typeface="Calibri" pitchFamily="34" charset="-120"/>
              </a:rPr>
              <a:t>An incremental covariance estimate normally divides by the new count: the previous estimate is weighted by n−1 and the whole thing divided by n, so old and new evidence are averaged.</a:t>
            </a:r>
            <a:endParaRPr lang="en-US" sz="1260" dirty="0"/>
          </a:p>
        </p:txBody>
      </p:sp>
      <p:sp>
        <p:nvSpPr>
          <p:cNvPr id="14" name="Shape 12"/>
          <p:cNvSpPr/>
          <p:nvPr/>
        </p:nvSpPr>
        <p:spPr>
          <a:xfrm>
            <a:off x="6190488" y="2944368"/>
            <a:ext cx="5440680" cy="1609344"/>
          </a:xfrm>
          <a:prstGeom prst="roundRect">
            <a:avLst>
              <a:gd name="adj" fmla="val 3409"/>
            </a:avLst>
          </a:prstGeom>
          <a:solidFill>
            <a:srgbClr val="F7F1F2"/>
          </a:solidFill>
          <a:ln w="12700">
            <a:solidFill>
              <a:srgbClr val="EDE0E2"/>
            </a:solidFill>
            <a:prstDash val="solid"/>
          </a:ln>
        </p:spPr>
        <p:txBody>
          <a:bodyPr/>
          <a:lstStyle/>
          <a:p>
            <a:endParaRPr lang="en-US"/>
          </a:p>
        </p:txBody>
      </p:sp>
      <p:sp>
        <p:nvSpPr>
          <p:cNvPr id="15" name="Shape 13"/>
          <p:cNvSpPr/>
          <p:nvPr/>
        </p:nvSpPr>
        <p:spPr>
          <a:xfrm>
            <a:off x="6409944" y="3236976"/>
            <a:ext cx="109728" cy="109728"/>
          </a:xfrm>
          <a:prstGeom prst="ellipse">
            <a:avLst/>
          </a:prstGeom>
          <a:solidFill>
            <a:srgbClr val="B8871F"/>
          </a:solidFill>
          <a:ln w="12700">
            <a:solidFill>
              <a:srgbClr val="333333"/>
            </a:solidFill>
            <a:prstDash val="solid"/>
          </a:ln>
        </p:spPr>
        <p:txBody>
          <a:bodyPr/>
          <a:lstStyle/>
          <a:p>
            <a:endParaRPr lang="en-US"/>
          </a:p>
        </p:txBody>
      </p:sp>
      <p:sp>
        <p:nvSpPr>
          <p:cNvPr id="16" name="Text 14"/>
          <p:cNvSpPr txBox="1"/>
          <p:nvPr/>
        </p:nvSpPr>
        <p:spPr>
          <a:xfrm>
            <a:off x="6611112" y="3108960"/>
            <a:ext cx="4800600" cy="365760"/>
          </a:xfrm>
          <a:prstGeom prst="rect">
            <a:avLst/>
          </a:prstGeom>
          <a:noFill/>
          <a:ln/>
        </p:spPr>
        <p:txBody>
          <a:bodyPr wrap="square" lIns="0" tIns="0" rIns="0" bIns="0" rtlCol="0" anchor="ctr"/>
          <a:lstStyle/>
          <a:p>
            <a:pPr marL="0" indent="0">
              <a:buNone/>
            </a:pPr>
            <a:r>
              <a:rPr lang="en-US" sz="1500" b="1" dirty="0">
                <a:solidFill>
                  <a:srgbClr val="241619"/>
                </a:solidFill>
                <a:latin typeface="Cambria" pitchFamily="34" charset="0"/>
                <a:ea typeface="Cambria" pitchFamily="34" charset="-122"/>
                <a:cs typeface="Cambria" pitchFamily="34" charset="-120"/>
              </a:rPr>
              <a:t>What is printed</a:t>
            </a:r>
            <a:endParaRPr lang="en-US" sz="1500" dirty="0"/>
          </a:p>
        </p:txBody>
      </p:sp>
      <p:sp>
        <p:nvSpPr>
          <p:cNvPr id="17" name="Text 15"/>
          <p:cNvSpPr txBox="1"/>
          <p:nvPr/>
        </p:nvSpPr>
        <p:spPr>
          <a:xfrm>
            <a:off x="6446520" y="3547872"/>
            <a:ext cx="4928616" cy="822960"/>
          </a:xfrm>
          <a:prstGeom prst="rect">
            <a:avLst/>
          </a:prstGeom>
          <a:noFill/>
          <a:ln/>
        </p:spPr>
        <p:txBody>
          <a:bodyPr wrap="square" lIns="0" tIns="0" rIns="0" bIns="0" rtlCol="0" anchor="t"/>
          <a:lstStyle/>
          <a:p>
            <a:pPr marL="0" indent="0">
              <a:lnSpc>
                <a:spcPct val="108000"/>
              </a:lnSpc>
              <a:buNone/>
            </a:pPr>
            <a:r>
              <a:rPr lang="en-US" sz="1260" dirty="0">
                <a:solidFill>
                  <a:srgbClr val="352428"/>
                </a:solidFill>
                <a:latin typeface="Calibri" pitchFamily="34" charset="0"/>
                <a:ea typeface="Calibri" pitchFamily="34" charset="-122"/>
                <a:cs typeface="Calibri" pitchFamily="34" charset="-120"/>
              </a:rPr>
              <a:t>Numerator and denominator share the same factor, so the expression reduces to Σ plus the new term divided by (n_t − 1) — an accumulation rather than an average.</a:t>
            </a:r>
            <a:endParaRPr lang="en-US" sz="1260" dirty="0"/>
          </a:p>
        </p:txBody>
      </p:sp>
      <p:sp>
        <p:nvSpPr>
          <p:cNvPr id="18" name="Shape 16"/>
          <p:cNvSpPr/>
          <p:nvPr/>
        </p:nvSpPr>
        <p:spPr>
          <a:xfrm>
            <a:off x="566928" y="4754880"/>
            <a:ext cx="11064240" cy="1298448"/>
          </a:xfrm>
          <a:prstGeom prst="roundRect">
            <a:avLst>
              <a:gd name="adj" fmla="val 4225"/>
            </a:avLst>
          </a:prstGeom>
          <a:solidFill>
            <a:srgbClr val="332226"/>
          </a:solidFill>
          <a:ln w="12700">
            <a:solidFill>
              <a:srgbClr val="332226"/>
            </a:solidFill>
            <a:prstDash val="solid"/>
          </a:ln>
        </p:spPr>
        <p:txBody>
          <a:bodyPr/>
          <a:lstStyle/>
          <a:p>
            <a:endParaRPr lang="en-US"/>
          </a:p>
        </p:txBody>
      </p:sp>
      <p:sp>
        <p:nvSpPr>
          <p:cNvPr id="19" name="Shape 17"/>
          <p:cNvSpPr/>
          <p:nvPr/>
        </p:nvSpPr>
        <p:spPr>
          <a:xfrm>
            <a:off x="786384" y="5047488"/>
            <a:ext cx="109728" cy="109728"/>
          </a:xfrm>
          <a:prstGeom prst="ellipse">
            <a:avLst/>
          </a:prstGeom>
          <a:solidFill>
            <a:srgbClr val="B8871F"/>
          </a:solidFill>
          <a:ln w="12700">
            <a:solidFill>
              <a:srgbClr val="333333"/>
            </a:solidFill>
            <a:prstDash val="solid"/>
          </a:ln>
        </p:spPr>
        <p:txBody>
          <a:bodyPr/>
          <a:lstStyle/>
          <a:p>
            <a:endParaRPr lang="en-US"/>
          </a:p>
        </p:txBody>
      </p:sp>
      <p:sp>
        <p:nvSpPr>
          <p:cNvPr id="20" name="Text 18"/>
          <p:cNvSpPr txBox="1"/>
          <p:nvPr/>
        </p:nvSpPr>
        <p:spPr>
          <a:xfrm>
            <a:off x="987552" y="4919472"/>
            <a:ext cx="10424160" cy="36576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How to treat this</a:t>
            </a:r>
            <a:endParaRPr lang="en-US" sz="1500" dirty="0"/>
          </a:p>
        </p:txBody>
      </p:sp>
      <p:sp>
        <p:nvSpPr>
          <p:cNvPr id="21" name="Text 19"/>
          <p:cNvSpPr txBox="1"/>
          <p:nvPr/>
        </p:nvSpPr>
        <p:spPr>
          <a:xfrm>
            <a:off x="822960" y="5358384"/>
            <a:ext cx="10552176" cy="512064"/>
          </a:xfrm>
          <a:prstGeom prst="rect">
            <a:avLst/>
          </a:prstGeom>
          <a:noFill/>
          <a:ln/>
        </p:spPr>
        <p:txBody>
          <a:bodyPr wrap="square" lIns="0" tIns="0" rIns="0" bIns="0" rtlCol="0" anchor="t"/>
          <a:lstStyle/>
          <a:p>
            <a:pPr marL="0" indent="0">
              <a:lnSpc>
                <a:spcPct val="108000"/>
              </a:lnSpc>
              <a:buNone/>
            </a:pPr>
            <a:r>
              <a:rPr lang="en-US" sz="1300" dirty="0">
                <a:solidFill>
                  <a:srgbClr val="DFC4C7"/>
                </a:solidFill>
                <a:latin typeface="Calibri" pitchFamily="34" charset="0"/>
                <a:ea typeface="Calibri" pitchFamily="34" charset="-122"/>
                <a:cs typeface="Calibri" pitchFamily="34" charset="-120"/>
              </a:rPr>
              <a:t>Most likely a typesetting slip in the denominator rather than what the implementation does — the released code would settle it in a minute. But it is worth checking, because the covariance is the component the ablation says matters most.</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045952" y="457200"/>
            <a:ext cx="420624" cy="274320"/>
          </a:xfrm>
          <a:prstGeom prst="ellipse">
            <a:avLst/>
          </a:prstGeom>
          <a:ln w="16510">
            <a:solidFill>
              <a:srgbClr val="8A4A52"/>
            </a:solidFill>
            <a:prstDash val="solid"/>
          </a:ln>
        </p:spPr>
        <p:txBody>
          <a:bodyPr/>
          <a:lstStyle/>
          <a:p>
            <a:endParaRPr lang="en-US"/>
          </a:p>
        </p:txBody>
      </p:sp>
      <p:sp>
        <p:nvSpPr>
          <p:cNvPr id="3" name="Shape 1"/>
          <p:cNvSpPr/>
          <p:nvPr/>
        </p:nvSpPr>
        <p:spPr>
          <a:xfrm>
            <a:off x="11164824" y="539496"/>
            <a:ext cx="82296" cy="82296"/>
          </a:xfrm>
          <a:prstGeom prst="ellipse">
            <a:avLst/>
          </a:prstGeom>
          <a:solidFill>
            <a:srgbClr val="B8871F"/>
          </a:solidFill>
          <a:ln w="12700">
            <a:solidFill>
              <a:srgbClr val="333333"/>
            </a:solidFill>
            <a:prstDash val="solid"/>
          </a:ln>
        </p:spPr>
        <p:txBody>
          <a:bodyPr/>
          <a:lstStyle/>
          <a:p>
            <a:endParaRPr lang="en-US"/>
          </a:p>
        </p:txBody>
      </p:sp>
      <p:sp>
        <p:nvSpPr>
          <p:cNvPr id="4" name="Shape 2"/>
          <p:cNvSpPr/>
          <p:nvPr/>
        </p:nvSpPr>
        <p:spPr>
          <a:xfrm>
            <a:off x="11292840" y="585216"/>
            <a:ext cx="64008" cy="64008"/>
          </a:xfrm>
          <a:prstGeom prst="ellipse">
            <a:avLst/>
          </a:prstGeom>
          <a:solidFill>
            <a:srgbClr val="B08A8E"/>
          </a:solidFill>
          <a:ln w="12700">
            <a:solidFill>
              <a:srgbClr val="333333"/>
            </a:solidFill>
            <a:prstDash val="solid"/>
          </a:ln>
        </p:spPr>
        <p:txBody>
          <a:bodyPr/>
          <a:lstStyle/>
          <a:p>
            <a:endParaRPr lang="en-US"/>
          </a:p>
        </p:txBody>
      </p:sp>
      <p:sp>
        <p:nvSpPr>
          <p:cNvPr id="5" name="Text 3"/>
          <p:cNvSpPr txBox="1"/>
          <p:nvPr/>
        </p:nvSpPr>
        <p:spPr>
          <a:xfrm>
            <a:off x="548640" y="384048"/>
            <a:ext cx="10332720" cy="566928"/>
          </a:xfrm>
          <a:prstGeom prst="rect">
            <a:avLst/>
          </a:prstGeom>
          <a:noFill/>
          <a:ln/>
        </p:spPr>
        <p:txBody>
          <a:bodyPr wrap="square" lIns="0" tIns="0" rIns="0" bIns="0" rtlCol="0" anchor="t"/>
          <a:lstStyle/>
          <a:p>
            <a:pPr marL="0" indent="0">
              <a:buNone/>
            </a:pPr>
            <a:r>
              <a:rPr lang="en-US" sz="2900" b="1" dirty="0">
                <a:solidFill>
                  <a:srgbClr val="241619"/>
                </a:solidFill>
                <a:latin typeface="Cambria" pitchFamily="34" charset="0"/>
                <a:ea typeface="Cambria" pitchFamily="34" charset="-122"/>
                <a:cs typeface="Cambria" pitchFamily="34" charset="-120"/>
              </a:rPr>
              <a:t>What is not reported</a:t>
            </a:r>
            <a:endParaRPr lang="en-US" sz="2900" dirty="0"/>
          </a:p>
        </p:txBody>
      </p:sp>
      <p:sp>
        <p:nvSpPr>
          <p:cNvPr id="6" name="Text 4"/>
          <p:cNvSpPr txBox="1"/>
          <p:nvPr/>
        </p:nvSpPr>
        <p:spPr>
          <a:xfrm>
            <a:off x="548640" y="969264"/>
            <a:ext cx="10332720" cy="329184"/>
          </a:xfrm>
          <a:prstGeom prst="rect">
            <a:avLst/>
          </a:prstGeom>
          <a:noFill/>
          <a:ln/>
        </p:spPr>
        <p:txBody>
          <a:bodyPr wrap="square" lIns="0" tIns="0" rIns="0" bIns="0" rtlCol="0" anchor="ctr"/>
          <a:lstStyle/>
          <a:p>
            <a:pPr marL="0" indent="0">
              <a:buNone/>
            </a:pPr>
            <a:r>
              <a:rPr lang="en-US" sz="1350" i="1" dirty="0">
                <a:solidFill>
                  <a:srgbClr val="6E5156"/>
                </a:solidFill>
                <a:latin typeface="Calibri" pitchFamily="34" charset="0"/>
                <a:ea typeface="Calibri" pitchFamily="34" charset="-122"/>
                <a:cs typeface="Calibri" pitchFamily="34" charset="-120"/>
              </a:rPr>
              <a:t>Three things the setting makes load-bearing</a:t>
            </a:r>
            <a:endParaRPr lang="en-US" sz="1350" dirty="0"/>
          </a:p>
        </p:txBody>
      </p:sp>
      <p:sp>
        <p:nvSpPr>
          <p:cNvPr id="7" name="Text 5"/>
          <p:cNvSpPr txBox="1"/>
          <p:nvPr/>
        </p:nvSpPr>
        <p:spPr>
          <a:xfrm>
            <a:off x="9418320" y="6382512"/>
            <a:ext cx="2221992" cy="274320"/>
          </a:xfrm>
          <a:prstGeom prst="rect">
            <a:avLst/>
          </a:prstGeom>
          <a:noFill/>
          <a:ln/>
        </p:spPr>
        <p:txBody>
          <a:bodyPr wrap="square" lIns="0" tIns="0" rIns="0" bIns="0" rtlCol="0" anchor="ctr"/>
          <a:lstStyle/>
          <a:p>
            <a:pPr marL="0" indent="0" algn="r">
              <a:buNone/>
            </a:pPr>
            <a:r>
              <a:rPr lang="en-US" sz="900" dirty="0">
                <a:solidFill>
                  <a:srgbClr val="B59CA0"/>
                </a:solidFill>
                <a:latin typeface="Calibri" pitchFamily="34" charset="0"/>
                <a:ea typeface="Calibri" pitchFamily="34" charset="-122"/>
                <a:cs typeface="Calibri" pitchFamily="34" charset="-120"/>
              </a:rPr>
              <a:t>Emo-TTA · Shi et al. 2026  |  21</a:t>
            </a:r>
            <a:endParaRPr lang="en-US" sz="900" dirty="0"/>
          </a:p>
        </p:txBody>
      </p:sp>
      <p:sp>
        <p:nvSpPr>
          <p:cNvPr id="8" name="Shape 6"/>
          <p:cNvSpPr/>
          <p:nvPr/>
        </p:nvSpPr>
        <p:spPr>
          <a:xfrm>
            <a:off x="566928" y="1554480"/>
            <a:ext cx="11064240" cy="1078992"/>
          </a:xfrm>
          <a:prstGeom prst="roundRect">
            <a:avLst>
              <a:gd name="adj" fmla="val 2542"/>
            </a:avLst>
          </a:prstGeom>
          <a:solidFill>
            <a:srgbClr val="F7F1F2"/>
          </a:solidFill>
          <a:ln w="12700">
            <a:solidFill>
              <a:srgbClr val="F0E6E8"/>
            </a:solidFill>
            <a:prstDash val="solid"/>
          </a:ln>
        </p:spPr>
        <p:txBody>
          <a:bodyPr/>
          <a:lstStyle/>
          <a:p>
            <a:endParaRPr lang="en-US"/>
          </a:p>
        </p:txBody>
      </p:sp>
      <p:sp>
        <p:nvSpPr>
          <p:cNvPr id="9" name="Shape 7"/>
          <p:cNvSpPr/>
          <p:nvPr/>
        </p:nvSpPr>
        <p:spPr>
          <a:xfrm>
            <a:off x="786384" y="2034540"/>
            <a:ext cx="118872" cy="118872"/>
          </a:xfrm>
          <a:prstGeom prst="ellipse">
            <a:avLst/>
          </a:prstGeom>
          <a:solidFill>
            <a:srgbClr val="8A4A52"/>
          </a:solidFill>
          <a:ln w="12700">
            <a:solidFill>
              <a:srgbClr val="333333"/>
            </a:solidFill>
            <a:prstDash val="solid"/>
          </a:ln>
        </p:spPr>
        <p:txBody>
          <a:bodyPr/>
          <a:lstStyle/>
          <a:p>
            <a:endParaRPr lang="en-US"/>
          </a:p>
        </p:txBody>
      </p:sp>
      <p:sp>
        <p:nvSpPr>
          <p:cNvPr id="10" name="Text 8"/>
          <p:cNvSpPr txBox="1"/>
          <p:nvPr/>
        </p:nvSpPr>
        <p:spPr>
          <a:xfrm>
            <a:off x="1024128" y="1645920"/>
            <a:ext cx="3017520" cy="896112"/>
          </a:xfrm>
          <a:prstGeom prst="rect">
            <a:avLst/>
          </a:prstGeom>
          <a:noFill/>
          <a:ln/>
        </p:spPr>
        <p:txBody>
          <a:bodyPr wrap="square" lIns="0" tIns="0" rIns="0" bIns="0" rtlCol="0" anchor="ctr"/>
          <a:lstStyle/>
          <a:p>
            <a:pPr marL="0" indent="0">
              <a:buNone/>
            </a:pPr>
            <a:r>
              <a:rPr lang="en-US" sz="1300" b="1" dirty="0">
                <a:solidFill>
                  <a:srgbClr val="241619"/>
                </a:solidFill>
                <a:latin typeface="Cambria" pitchFamily="34" charset="0"/>
                <a:ea typeface="Cambria" pitchFamily="34" charset="-122"/>
                <a:cs typeface="Cambria" pitchFamily="34" charset="-120"/>
              </a:rPr>
              <a:t>Stream order</a:t>
            </a:r>
            <a:endParaRPr lang="en-US" sz="1300" dirty="0"/>
          </a:p>
        </p:txBody>
      </p:sp>
      <p:sp>
        <p:nvSpPr>
          <p:cNvPr id="11" name="Text 9"/>
          <p:cNvSpPr txBox="1"/>
          <p:nvPr/>
        </p:nvSpPr>
        <p:spPr>
          <a:xfrm>
            <a:off x="4224528" y="1627632"/>
            <a:ext cx="7223760" cy="932688"/>
          </a:xfrm>
          <a:prstGeom prst="rect">
            <a:avLst/>
          </a:prstGeom>
          <a:noFill/>
          <a:ln/>
        </p:spPr>
        <p:txBody>
          <a:bodyPr wrap="square" lIns="0" tIns="0" rIns="0" bIns="0" rtlCol="0" anchor="ctr"/>
          <a:lstStyle/>
          <a:p>
            <a:pPr marL="0" indent="0">
              <a:buNone/>
            </a:pPr>
            <a:r>
              <a:rPr lang="en-US" sz="1220" dirty="0">
                <a:solidFill>
                  <a:srgbClr val="352428"/>
                </a:solidFill>
                <a:latin typeface="Calibri" pitchFamily="34" charset="0"/>
                <a:ea typeface="Calibri" pitchFamily="34" charset="-122"/>
                <a:cs typeface="Calibri" pitchFamily="34" charset="-120"/>
              </a:rPr>
              <a:t>Every prediction depends on all preceding utterances, so the order of the test stream is a variable. Tent explicitly controlled for ordering by shuffling and sharing the order across methods; no equivalent control is described here.</a:t>
            </a:r>
            <a:endParaRPr lang="en-US" sz="1220" dirty="0"/>
          </a:p>
        </p:txBody>
      </p:sp>
      <p:sp>
        <p:nvSpPr>
          <p:cNvPr id="12" name="Shape 10"/>
          <p:cNvSpPr/>
          <p:nvPr/>
        </p:nvSpPr>
        <p:spPr>
          <a:xfrm>
            <a:off x="566928" y="2688336"/>
            <a:ext cx="11064240" cy="1078992"/>
          </a:xfrm>
          <a:prstGeom prst="roundRect">
            <a:avLst>
              <a:gd name="adj" fmla="val 2542"/>
            </a:avLst>
          </a:prstGeom>
          <a:solidFill>
            <a:srgbClr val="FFFFFF"/>
          </a:solidFill>
          <a:ln w="12700">
            <a:solidFill>
              <a:srgbClr val="F0E6E8"/>
            </a:solidFill>
            <a:prstDash val="solid"/>
          </a:ln>
        </p:spPr>
        <p:txBody>
          <a:bodyPr/>
          <a:lstStyle/>
          <a:p>
            <a:endParaRPr lang="en-US"/>
          </a:p>
        </p:txBody>
      </p:sp>
      <p:sp>
        <p:nvSpPr>
          <p:cNvPr id="13" name="Shape 11"/>
          <p:cNvSpPr/>
          <p:nvPr/>
        </p:nvSpPr>
        <p:spPr>
          <a:xfrm>
            <a:off x="786384" y="3168396"/>
            <a:ext cx="118872" cy="118872"/>
          </a:xfrm>
          <a:prstGeom prst="ellipse">
            <a:avLst/>
          </a:prstGeom>
          <a:solidFill>
            <a:srgbClr val="8A4A52"/>
          </a:solidFill>
          <a:ln w="12700">
            <a:solidFill>
              <a:srgbClr val="333333"/>
            </a:solidFill>
            <a:prstDash val="solid"/>
          </a:ln>
        </p:spPr>
        <p:txBody>
          <a:bodyPr/>
          <a:lstStyle/>
          <a:p>
            <a:endParaRPr lang="en-US"/>
          </a:p>
        </p:txBody>
      </p:sp>
      <p:sp>
        <p:nvSpPr>
          <p:cNvPr id="14" name="Text 12"/>
          <p:cNvSpPr txBox="1"/>
          <p:nvPr/>
        </p:nvSpPr>
        <p:spPr>
          <a:xfrm>
            <a:off x="1024128" y="2779776"/>
            <a:ext cx="3017520" cy="896112"/>
          </a:xfrm>
          <a:prstGeom prst="rect">
            <a:avLst/>
          </a:prstGeom>
          <a:noFill/>
          <a:ln/>
        </p:spPr>
        <p:txBody>
          <a:bodyPr wrap="square" lIns="0" tIns="0" rIns="0" bIns="0" rtlCol="0" anchor="ctr"/>
          <a:lstStyle/>
          <a:p>
            <a:pPr marL="0" indent="0">
              <a:buNone/>
            </a:pPr>
            <a:r>
              <a:rPr lang="en-US" sz="1300" b="1" dirty="0">
                <a:solidFill>
                  <a:srgbClr val="241619"/>
                </a:solidFill>
                <a:latin typeface="Cambria" pitchFamily="34" charset="0"/>
                <a:ea typeface="Cambria" pitchFamily="34" charset="-122"/>
                <a:cs typeface="Cambria" pitchFamily="34" charset="-120"/>
              </a:rPr>
              <a:t>Hyperparameter selection</a:t>
            </a:r>
            <a:endParaRPr lang="en-US" sz="1300" dirty="0"/>
          </a:p>
        </p:txBody>
      </p:sp>
      <p:sp>
        <p:nvSpPr>
          <p:cNvPr id="15" name="Text 13"/>
          <p:cNvSpPr txBox="1"/>
          <p:nvPr/>
        </p:nvSpPr>
        <p:spPr>
          <a:xfrm>
            <a:off x="4224528" y="2761488"/>
            <a:ext cx="7223760" cy="932688"/>
          </a:xfrm>
          <a:prstGeom prst="rect">
            <a:avLst/>
          </a:prstGeom>
          <a:noFill/>
          <a:ln/>
        </p:spPr>
        <p:txBody>
          <a:bodyPr wrap="square" lIns="0" tIns="0" rIns="0" bIns="0" rtlCol="0" anchor="ctr"/>
          <a:lstStyle/>
          <a:p>
            <a:pPr marL="0" indent="0">
              <a:buNone/>
            </a:pPr>
            <a:r>
              <a:rPr lang="en-US" sz="1220" dirty="0">
                <a:solidFill>
                  <a:srgbClr val="352428"/>
                </a:solidFill>
                <a:latin typeface="Calibri" pitchFamily="34" charset="0"/>
                <a:ea typeface="Calibri" pitchFamily="34" charset="-122"/>
                <a:cs typeface="Calibri" pitchFamily="34" charset="-120"/>
              </a:rPr>
              <a:t>α = 0.2 and β = 4.5 are fixed across all six corpora, which is good practice — but how they were chosen is not stated, and in a setting with no labels there is nothing to tune on honestly.</a:t>
            </a:r>
            <a:endParaRPr lang="en-US" sz="1220" dirty="0"/>
          </a:p>
        </p:txBody>
      </p:sp>
      <p:sp>
        <p:nvSpPr>
          <p:cNvPr id="16" name="Shape 14"/>
          <p:cNvSpPr/>
          <p:nvPr/>
        </p:nvSpPr>
        <p:spPr>
          <a:xfrm>
            <a:off x="566928" y="3822192"/>
            <a:ext cx="11064240" cy="1078992"/>
          </a:xfrm>
          <a:prstGeom prst="roundRect">
            <a:avLst>
              <a:gd name="adj" fmla="val 2542"/>
            </a:avLst>
          </a:prstGeom>
          <a:solidFill>
            <a:srgbClr val="F7F1F2"/>
          </a:solidFill>
          <a:ln w="12700">
            <a:solidFill>
              <a:srgbClr val="F0E6E8"/>
            </a:solidFill>
            <a:prstDash val="solid"/>
          </a:ln>
        </p:spPr>
        <p:txBody>
          <a:bodyPr/>
          <a:lstStyle/>
          <a:p>
            <a:endParaRPr lang="en-US"/>
          </a:p>
        </p:txBody>
      </p:sp>
      <p:sp>
        <p:nvSpPr>
          <p:cNvPr id="17" name="Shape 15"/>
          <p:cNvSpPr/>
          <p:nvPr/>
        </p:nvSpPr>
        <p:spPr>
          <a:xfrm>
            <a:off x="786384" y="4302252"/>
            <a:ext cx="118872" cy="118872"/>
          </a:xfrm>
          <a:prstGeom prst="ellipse">
            <a:avLst/>
          </a:prstGeom>
          <a:solidFill>
            <a:srgbClr val="8A4A52"/>
          </a:solidFill>
          <a:ln w="12700">
            <a:solidFill>
              <a:srgbClr val="333333"/>
            </a:solidFill>
            <a:prstDash val="solid"/>
          </a:ln>
        </p:spPr>
        <p:txBody>
          <a:bodyPr/>
          <a:lstStyle/>
          <a:p>
            <a:endParaRPr lang="en-US"/>
          </a:p>
        </p:txBody>
      </p:sp>
      <p:sp>
        <p:nvSpPr>
          <p:cNvPr id="18" name="Text 16"/>
          <p:cNvSpPr txBox="1"/>
          <p:nvPr/>
        </p:nvSpPr>
        <p:spPr>
          <a:xfrm>
            <a:off x="1024128" y="3913632"/>
            <a:ext cx="3017520" cy="896112"/>
          </a:xfrm>
          <a:prstGeom prst="rect">
            <a:avLst/>
          </a:prstGeom>
          <a:noFill/>
          <a:ln/>
        </p:spPr>
        <p:txBody>
          <a:bodyPr wrap="square" lIns="0" tIns="0" rIns="0" bIns="0" rtlCol="0" anchor="ctr"/>
          <a:lstStyle/>
          <a:p>
            <a:pPr marL="0" indent="0">
              <a:buNone/>
            </a:pPr>
            <a:r>
              <a:rPr lang="en-US" sz="1300" b="1" dirty="0">
                <a:solidFill>
                  <a:srgbClr val="241619"/>
                </a:solidFill>
                <a:latin typeface="Cambria" pitchFamily="34" charset="0"/>
                <a:ea typeface="Cambria" pitchFamily="34" charset="-122"/>
                <a:cs typeface="Cambria" pitchFamily="34" charset="-120"/>
              </a:rPr>
              <a:t>Adaptation trajectory</a:t>
            </a:r>
            <a:endParaRPr lang="en-US" sz="1300" dirty="0"/>
          </a:p>
        </p:txBody>
      </p:sp>
      <p:sp>
        <p:nvSpPr>
          <p:cNvPr id="19" name="Text 17"/>
          <p:cNvSpPr txBox="1"/>
          <p:nvPr/>
        </p:nvSpPr>
        <p:spPr>
          <a:xfrm>
            <a:off x="4224528" y="3895344"/>
            <a:ext cx="7223760" cy="932688"/>
          </a:xfrm>
          <a:prstGeom prst="rect">
            <a:avLst/>
          </a:prstGeom>
          <a:noFill/>
          <a:ln/>
        </p:spPr>
        <p:txBody>
          <a:bodyPr wrap="square" lIns="0" tIns="0" rIns="0" bIns="0" rtlCol="0" anchor="ctr"/>
          <a:lstStyle/>
          <a:p>
            <a:pPr marL="0" indent="0">
              <a:buNone/>
            </a:pPr>
            <a:r>
              <a:rPr lang="en-US" sz="1220" dirty="0">
                <a:solidFill>
                  <a:srgbClr val="352428"/>
                </a:solidFill>
                <a:latin typeface="Calibri" pitchFamily="34" charset="0"/>
                <a:ea typeface="Calibri" pitchFamily="34" charset="-122"/>
                <a:cs typeface="Calibri" pitchFamily="34" charset="-120"/>
              </a:rPr>
              <a:t>Accuracy is reported at the end of the stream. How quickly the statistics converge, and whether early predictions are worse than zero-shot, is not shown — which matters for short streams and for a conversational deployment.</a:t>
            </a:r>
            <a:endParaRPr lang="en-US" sz="1220" dirty="0"/>
          </a:p>
        </p:txBody>
      </p:sp>
      <p:sp>
        <p:nvSpPr>
          <p:cNvPr id="20" name="Shape 18"/>
          <p:cNvSpPr/>
          <p:nvPr/>
        </p:nvSpPr>
        <p:spPr>
          <a:xfrm>
            <a:off x="566928" y="4956048"/>
            <a:ext cx="11064240" cy="1078992"/>
          </a:xfrm>
          <a:prstGeom prst="roundRect">
            <a:avLst>
              <a:gd name="adj" fmla="val 2542"/>
            </a:avLst>
          </a:prstGeom>
          <a:solidFill>
            <a:srgbClr val="FFFFFF"/>
          </a:solidFill>
          <a:ln w="12700">
            <a:solidFill>
              <a:srgbClr val="F0E6E8"/>
            </a:solidFill>
            <a:prstDash val="solid"/>
          </a:ln>
        </p:spPr>
        <p:txBody>
          <a:bodyPr/>
          <a:lstStyle/>
          <a:p>
            <a:endParaRPr lang="en-US"/>
          </a:p>
        </p:txBody>
      </p:sp>
      <p:sp>
        <p:nvSpPr>
          <p:cNvPr id="21" name="Shape 19"/>
          <p:cNvSpPr/>
          <p:nvPr/>
        </p:nvSpPr>
        <p:spPr>
          <a:xfrm>
            <a:off x="786384" y="5436108"/>
            <a:ext cx="118872" cy="118872"/>
          </a:xfrm>
          <a:prstGeom prst="ellipse">
            <a:avLst/>
          </a:prstGeom>
          <a:solidFill>
            <a:srgbClr val="8A4A52"/>
          </a:solidFill>
          <a:ln w="12700">
            <a:solidFill>
              <a:srgbClr val="333333"/>
            </a:solidFill>
            <a:prstDash val="solid"/>
          </a:ln>
        </p:spPr>
        <p:txBody>
          <a:bodyPr/>
          <a:lstStyle/>
          <a:p>
            <a:endParaRPr lang="en-US"/>
          </a:p>
        </p:txBody>
      </p:sp>
      <p:sp>
        <p:nvSpPr>
          <p:cNvPr id="22" name="Text 20"/>
          <p:cNvSpPr txBox="1"/>
          <p:nvPr/>
        </p:nvSpPr>
        <p:spPr>
          <a:xfrm>
            <a:off x="1024128" y="5047488"/>
            <a:ext cx="3017520" cy="896112"/>
          </a:xfrm>
          <a:prstGeom prst="rect">
            <a:avLst/>
          </a:prstGeom>
          <a:noFill/>
          <a:ln/>
        </p:spPr>
        <p:txBody>
          <a:bodyPr wrap="square" lIns="0" tIns="0" rIns="0" bIns="0" rtlCol="0" anchor="ctr"/>
          <a:lstStyle/>
          <a:p>
            <a:pPr marL="0" indent="0">
              <a:buNone/>
            </a:pPr>
            <a:r>
              <a:rPr lang="en-US" sz="1300" b="1" dirty="0">
                <a:solidFill>
                  <a:srgbClr val="241619"/>
                </a:solidFill>
                <a:latin typeface="Cambria" pitchFamily="34" charset="0"/>
                <a:ea typeface="Cambria" pitchFamily="34" charset="-122"/>
                <a:cs typeface="Cambria" pitchFamily="34" charset="-120"/>
              </a:rPr>
              <a:t>Variance</a:t>
            </a:r>
            <a:endParaRPr lang="en-US" sz="1300" dirty="0"/>
          </a:p>
        </p:txBody>
      </p:sp>
      <p:sp>
        <p:nvSpPr>
          <p:cNvPr id="23" name="Text 21"/>
          <p:cNvSpPr txBox="1"/>
          <p:nvPr/>
        </p:nvSpPr>
        <p:spPr>
          <a:xfrm>
            <a:off x="4224528" y="5029200"/>
            <a:ext cx="7223760" cy="932688"/>
          </a:xfrm>
          <a:prstGeom prst="rect">
            <a:avLst/>
          </a:prstGeom>
          <a:noFill/>
          <a:ln/>
        </p:spPr>
        <p:txBody>
          <a:bodyPr wrap="square" lIns="0" tIns="0" rIns="0" bIns="0" rtlCol="0" anchor="ctr"/>
          <a:lstStyle/>
          <a:p>
            <a:pPr marL="0" indent="0">
              <a:buNone/>
            </a:pPr>
            <a:r>
              <a:rPr lang="en-US" sz="1220" dirty="0">
                <a:solidFill>
                  <a:srgbClr val="352428"/>
                </a:solidFill>
                <a:latin typeface="Calibri" pitchFamily="34" charset="0"/>
                <a:ea typeface="Calibri" pitchFamily="34" charset="-122"/>
                <a:cs typeface="Calibri" pitchFamily="34" charset="-120"/>
              </a:rPr>
              <a:t>Three seeds are averaged, which is more than most papers in this series, but no standard deviations are given. Several of the margins over MTA and ZERO are within a few points.</a:t>
            </a:r>
            <a:endParaRPr lang="en-US" sz="1220" dirty="0"/>
          </a:p>
        </p:txBody>
      </p:sp>
      <p:sp>
        <p:nvSpPr>
          <p:cNvPr id="24" name="Shape 22"/>
          <p:cNvSpPr/>
          <p:nvPr/>
        </p:nvSpPr>
        <p:spPr>
          <a:xfrm>
            <a:off x="566928" y="6089904"/>
            <a:ext cx="11064240" cy="18288"/>
          </a:xfrm>
          <a:prstGeom prst="roundRect">
            <a:avLst>
              <a:gd name="adj" fmla="val 300000"/>
            </a:avLst>
          </a:prstGeom>
          <a:solidFill>
            <a:srgbClr val="FFFFFF"/>
          </a:solidFill>
          <a:ln w="12700">
            <a:solidFill>
              <a:srgbClr val="FFFFFF"/>
            </a:solidFill>
            <a:prstDash val="solid"/>
          </a:ln>
        </p:spPr>
        <p:txBody>
          <a:bodyPr/>
          <a:lstStyle/>
          <a:p>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045952" y="457200"/>
            <a:ext cx="420624" cy="274320"/>
          </a:xfrm>
          <a:prstGeom prst="ellipse">
            <a:avLst/>
          </a:prstGeom>
          <a:ln w="16510">
            <a:solidFill>
              <a:srgbClr val="8A4A52"/>
            </a:solidFill>
            <a:prstDash val="solid"/>
          </a:ln>
        </p:spPr>
        <p:txBody>
          <a:bodyPr/>
          <a:lstStyle/>
          <a:p>
            <a:endParaRPr lang="en-US"/>
          </a:p>
        </p:txBody>
      </p:sp>
      <p:sp>
        <p:nvSpPr>
          <p:cNvPr id="3" name="Shape 1"/>
          <p:cNvSpPr/>
          <p:nvPr/>
        </p:nvSpPr>
        <p:spPr>
          <a:xfrm>
            <a:off x="11164824" y="539496"/>
            <a:ext cx="82296" cy="82296"/>
          </a:xfrm>
          <a:prstGeom prst="ellipse">
            <a:avLst/>
          </a:prstGeom>
          <a:solidFill>
            <a:srgbClr val="B8871F"/>
          </a:solidFill>
          <a:ln w="12700">
            <a:solidFill>
              <a:srgbClr val="333333"/>
            </a:solidFill>
            <a:prstDash val="solid"/>
          </a:ln>
        </p:spPr>
        <p:txBody>
          <a:bodyPr/>
          <a:lstStyle/>
          <a:p>
            <a:endParaRPr lang="en-US"/>
          </a:p>
        </p:txBody>
      </p:sp>
      <p:sp>
        <p:nvSpPr>
          <p:cNvPr id="4" name="Shape 2"/>
          <p:cNvSpPr/>
          <p:nvPr/>
        </p:nvSpPr>
        <p:spPr>
          <a:xfrm>
            <a:off x="11292840" y="585216"/>
            <a:ext cx="64008" cy="64008"/>
          </a:xfrm>
          <a:prstGeom prst="ellipse">
            <a:avLst/>
          </a:prstGeom>
          <a:solidFill>
            <a:srgbClr val="B08A8E"/>
          </a:solidFill>
          <a:ln w="12700">
            <a:solidFill>
              <a:srgbClr val="333333"/>
            </a:solidFill>
            <a:prstDash val="solid"/>
          </a:ln>
        </p:spPr>
        <p:txBody>
          <a:bodyPr/>
          <a:lstStyle/>
          <a:p>
            <a:endParaRPr lang="en-US"/>
          </a:p>
        </p:txBody>
      </p:sp>
      <p:sp>
        <p:nvSpPr>
          <p:cNvPr id="5" name="Text 3"/>
          <p:cNvSpPr txBox="1"/>
          <p:nvPr/>
        </p:nvSpPr>
        <p:spPr>
          <a:xfrm>
            <a:off x="548640" y="384048"/>
            <a:ext cx="10332720" cy="566928"/>
          </a:xfrm>
          <a:prstGeom prst="rect">
            <a:avLst/>
          </a:prstGeom>
          <a:noFill/>
          <a:ln/>
        </p:spPr>
        <p:txBody>
          <a:bodyPr wrap="square" lIns="0" tIns="0" rIns="0" bIns="0" rtlCol="0" anchor="t"/>
          <a:lstStyle/>
          <a:p>
            <a:pPr marL="0" indent="0">
              <a:buNone/>
            </a:pPr>
            <a:r>
              <a:rPr lang="en-US" sz="2900" b="1" dirty="0">
                <a:solidFill>
                  <a:srgbClr val="241619"/>
                </a:solidFill>
                <a:latin typeface="Cambria" pitchFamily="34" charset="0"/>
                <a:ea typeface="Cambria" pitchFamily="34" charset="-122"/>
                <a:cs typeface="Cambria" pitchFamily="34" charset="-120"/>
              </a:rPr>
              <a:t>Appraisal</a:t>
            </a:r>
            <a:endParaRPr lang="en-US" sz="2900" dirty="0"/>
          </a:p>
        </p:txBody>
      </p:sp>
      <p:sp>
        <p:nvSpPr>
          <p:cNvPr id="6" name="Text 4"/>
          <p:cNvSpPr txBox="1"/>
          <p:nvPr/>
        </p:nvSpPr>
        <p:spPr>
          <a:xfrm>
            <a:off x="548640" y="969264"/>
            <a:ext cx="10332720" cy="329184"/>
          </a:xfrm>
          <a:prstGeom prst="rect">
            <a:avLst/>
          </a:prstGeom>
          <a:noFill/>
          <a:ln/>
        </p:spPr>
        <p:txBody>
          <a:bodyPr wrap="square" lIns="0" tIns="0" rIns="0" bIns="0" rtlCol="0" anchor="ctr"/>
          <a:lstStyle/>
          <a:p>
            <a:pPr marL="0" indent="0">
              <a:buNone/>
            </a:pPr>
            <a:r>
              <a:rPr lang="en-US" sz="1350" i="1" dirty="0">
                <a:solidFill>
                  <a:srgbClr val="6E5156"/>
                </a:solidFill>
                <a:latin typeface="Calibri" pitchFamily="34" charset="0"/>
                <a:ea typeface="Calibri" pitchFamily="34" charset="-122"/>
                <a:cs typeface="Calibri" pitchFamily="34" charset="-120"/>
              </a:rPr>
              <a:t>What the design buys, and the open threads</a:t>
            </a:r>
            <a:endParaRPr lang="en-US" sz="1350" dirty="0"/>
          </a:p>
        </p:txBody>
      </p:sp>
      <p:sp>
        <p:nvSpPr>
          <p:cNvPr id="7" name="Text 5"/>
          <p:cNvSpPr txBox="1"/>
          <p:nvPr/>
        </p:nvSpPr>
        <p:spPr>
          <a:xfrm>
            <a:off x="9418320" y="6382512"/>
            <a:ext cx="2221992" cy="274320"/>
          </a:xfrm>
          <a:prstGeom prst="rect">
            <a:avLst/>
          </a:prstGeom>
          <a:noFill/>
          <a:ln/>
        </p:spPr>
        <p:txBody>
          <a:bodyPr wrap="square" lIns="0" tIns="0" rIns="0" bIns="0" rtlCol="0" anchor="ctr"/>
          <a:lstStyle/>
          <a:p>
            <a:pPr marL="0" indent="0" algn="r">
              <a:buNone/>
            </a:pPr>
            <a:r>
              <a:rPr lang="en-US" sz="900" dirty="0">
                <a:solidFill>
                  <a:srgbClr val="B59CA0"/>
                </a:solidFill>
                <a:latin typeface="Calibri" pitchFamily="34" charset="0"/>
                <a:ea typeface="Calibri" pitchFamily="34" charset="-122"/>
                <a:cs typeface="Calibri" pitchFamily="34" charset="-120"/>
              </a:rPr>
              <a:t>Emo-TTA · Shi et al. 2026  |  22</a:t>
            </a:r>
            <a:endParaRPr lang="en-US" sz="900" dirty="0"/>
          </a:p>
        </p:txBody>
      </p:sp>
      <p:sp>
        <p:nvSpPr>
          <p:cNvPr id="8" name="Shape 6"/>
          <p:cNvSpPr/>
          <p:nvPr/>
        </p:nvSpPr>
        <p:spPr>
          <a:xfrm>
            <a:off x="566928" y="1554480"/>
            <a:ext cx="5440680" cy="4498848"/>
          </a:xfrm>
          <a:prstGeom prst="roundRect">
            <a:avLst>
              <a:gd name="adj" fmla="val 1220"/>
            </a:avLst>
          </a:prstGeom>
          <a:solidFill>
            <a:srgbClr val="F7F1F2"/>
          </a:solidFill>
          <a:ln w="12700">
            <a:solidFill>
              <a:srgbClr val="EDE0E2"/>
            </a:solidFill>
            <a:prstDash val="solid"/>
          </a:ln>
        </p:spPr>
        <p:txBody>
          <a:bodyPr/>
          <a:lstStyle/>
          <a:p>
            <a:endParaRPr lang="en-US"/>
          </a:p>
        </p:txBody>
      </p:sp>
      <p:sp>
        <p:nvSpPr>
          <p:cNvPr id="9" name="Shape 7"/>
          <p:cNvSpPr/>
          <p:nvPr/>
        </p:nvSpPr>
        <p:spPr>
          <a:xfrm>
            <a:off x="786384" y="1847088"/>
            <a:ext cx="109728" cy="109728"/>
          </a:xfrm>
          <a:prstGeom prst="ellipse">
            <a:avLst/>
          </a:prstGeom>
          <a:solidFill>
            <a:srgbClr val="8A4A52"/>
          </a:solidFill>
          <a:ln w="12700">
            <a:solidFill>
              <a:srgbClr val="333333"/>
            </a:solidFill>
            <a:prstDash val="solid"/>
          </a:ln>
        </p:spPr>
        <p:txBody>
          <a:bodyPr/>
          <a:lstStyle/>
          <a:p>
            <a:endParaRPr lang="en-US"/>
          </a:p>
        </p:txBody>
      </p:sp>
      <p:sp>
        <p:nvSpPr>
          <p:cNvPr id="10" name="Text 8"/>
          <p:cNvSpPr txBox="1"/>
          <p:nvPr/>
        </p:nvSpPr>
        <p:spPr>
          <a:xfrm>
            <a:off x="987552" y="1719072"/>
            <a:ext cx="4800600" cy="365760"/>
          </a:xfrm>
          <a:prstGeom prst="rect">
            <a:avLst/>
          </a:prstGeom>
          <a:noFill/>
          <a:ln/>
        </p:spPr>
        <p:txBody>
          <a:bodyPr wrap="square" lIns="0" tIns="0" rIns="0" bIns="0" rtlCol="0" anchor="ctr"/>
          <a:lstStyle/>
          <a:p>
            <a:pPr marL="0" indent="0">
              <a:buNone/>
            </a:pPr>
            <a:r>
              <a:rPr lang="en-US" sz="1700" b="1" dirty="0">
                <a:solidFill>
                  <a:srgbClr val="241619"/>
                </a:solidFill>
                <a:latin typeface="Cambria" pitchFamily="34" charset="0"/>
                <a:ea typeface="Cambria" pitchFamily="34" charset="-122"/>
                <a:cs typeface="Cambria" pitchFamily="34" charset="-120"/>
              </a:rPr>
              <a:t>Strengths</a:t>
            </a:r>
            <a:endParaRPr lang="en-US" sz="1700" dirty="0"/>
          </a:p>
        </p:txBody>
      </p:sp>
      <p:sp>
        <p:nvSpPr>
          <p:cNvPr id="11" name="Text 9"/>
          <p:cNvSpPr txBox="1"/>
          <p:nvPr/>
        </p:nvSpPr>
        <p:spPr>
          <a:xfrm>
            <a:off x="822960" y="2157984"/>
            <a:ext cx="4928616" cy="3712464"/>
          </a:xfrm>
          <a:prstGeom prst="rect">
            <a:avLst/>
          </a:prstGeom>
          <a:noFill/>
          <a:ln/>
        </p:spPr>
        <p:txBody>
          <a:bodyPr wrap="square" lIns="0" tIns="0" rIns="0" bIns="0" rtlCol="0" anchor="t"/>
          <a:lstStyle/>
          <a:p>
            <a:pPr marL="0" indent="0">
              <a:lnSpc>
                <a:spcPct val="108000"/>
              </a:lnSpc>
              <a:buNone/>
            </a:pPr>
            <a:r>
              <a:rPr lang="en-US" sz="1220" dirty="0">
                <a:solidFill>
                  <a:srgbClr val="352428"/>
                </a:solidFill>
                <a:latin typeface="Calibri" pitchFamily="34" charset="0"/>
                <a:ea typeface="Calibri" pitchFamily="34" charset="-122"/>
                <a:cs typeface="Calibri" pitchFamily="34" charset="-120"/>
              </a:rPr>
              <a:t>A genuinely novel combination: training-free, single-sample, and modelling the test distribution explicitly — the third of those is new in this setting.</a:t>
            </a:r>
            <a:endParaRPr lang="en-US" sz="1220" dirty="0"/>
          </a:p>
          <a:p>
            <a:pPr marL="0" indent="0">
              <a:lnSpc>
                <a:spcPct val="108000"/>
              </a:lnSpc>
              <a:buNone/>
            </a:pPr>
            <a:endParaRPr lang="en-US" sz="1220" dirty="0"/>
          </a:p>
          <a:p>
            <a:pPr marL="0" indent="0">
              <a:lnSpc>
                <a:spcPct val="108000"/>
              </a:lnSpc>
              <a:buNone/>
            </a:pPr>
            <a:r>
              <a:rPr lang="en-US" sz="1220" dirty="0">
                <a:solidFill>
                  <a:srgbClr val="352428"/>
                </a:solidFill>
                <a:latin typeface="Calibri" pitchFamily="34" charset="0"/>
                <a:ea typeface="Calibri" pitchFamily="34" charset="-122"/>
                <a:cs typeface="Calibri" pitchFamily="34" charset="-120"/>
              </a:rPr>
              <a:t>The reframing of CLAP's zero-shot rule as Gaussian discriminant analysis is elegant and makes classical machinery available.</a:t>
            </a:r>
            <a:endParaRPr lang="en-US" sz="1220" dirty="0"/>
          </a:p>
          <a:p>
            <a:pPr marL="0" indent="0">
              <a:lnSpc>
                <a:spcPct val="108000"/>
              </a:lnSpc>
              <a:buNone/>
            </a:pPr>
            <a:endParaRPr lang="en-US" sz="1220" dirty="0"/>
          </a:p>
          <a:p>
            <a:pPr marL="0" indent="0">
              <a:lnSpc>
                <a:spcPct val="108000"/>
              </a:lnSpc>
              <a:buNone/>
            </a:pPr>
            <a:r>
              <a:rPr lang="en-US" sz="1220" dirty="0">
                <a:solidFill>
                  <a:srgbClr val="352428"/>
                </a:solidFill>
                <a:latin typeface="Calibri" pitchFamily="34" charset="0"/>
                <a:ea typeface="Calibri" pitchFamily="34" charset="-122"/>
                <a:cs typeface="Calibri" pitchFamily="34" charset="-120"/>
              </a:rPr>
              <a:t>Beats methods that use labelled target data, with baselines re-implemented on the same encoders.</a:t>
            </a:r>
            <a:endParaRPr lang="en-US" sz="1220" dirty="0"/>
          </a:p>
          <a:p>
            <a:pPr marL="0" indent="0">
              <a:lnSpc>
                <a:spcPct val="108000"/>
              </a:lnSpc>
              <a:buNone/>
            </a:pPr>
            <a:endParaRPr lang="en-US" sz="1220" dirty="0"/>
          </a:p>
          <a:p>
            <a:pPr marL="0" indent="0">
              <a:lnSpc>
                <a:spcPct val="108000"/>
              </a:lnSpc>
              <a:buNone/>
            </a:pPr>
            <a:r>
              <a:rPr lang="en-US" sz="1220" dirty="0">
                <a:solidFill>
                  <a:srgbClr val="352428"/>
                </a:solidFill>
                <a:latin typeface="Calibri" pitchFamily="34" charset="0"/>
                <a:ea typeface="Calibri" pitchFamily="34" charset="-122"/>
                <a:cs typeface="Calibri" pitchFamily="34" charset="-120"/>
              </a:rPr>
              <a:t>Two backbones, six corpora, three seeds — broader evidence than most four-page papers manage.</a:t>
            </a:r>
            <a:endParaRPr lang="en-US" sz="1220" dirty="0"/>
          </a:p>
          <a:p>
            <a:pPr marL="0" indent="0">
              <a:lnSpc>
                <a:spcPct val="108000"/>
              </a:lnSpc>
              <a:buNone/>
            </a:pPr>
            <a:endParaRPr lang="en-US" sz="1220" dirty="0"/>
          </a:p>
          <a:p>
            <a:pPr marL="0" indent="0">
              <a:lnSpc>
                <a:spcPct val="108000"/>
              </a:lnSpc>
              <a:buNone/>
            </a:pPr>
            <a:r>
              <a:rPr lang="en-US" sz="1220" dirty="0">
                <a:solidFill>
                  <a:srgbClr val="352428"/>
                </a:solidFill>
                <a:latin typeface="Calibri" pitchFamily="34" charset="0"/>
                <a:ea typeface="Calibri" pitchFamily="34" charset="-122"/>
                <a:cs typeface="Calibri" pitchFamily="34" charset="-120"/>
              </a:rPr>
              <a:t>The conservative fusion with α = 0.2 means the frozen classifier is never overridden, so catastrophic failure is structurally unlikely.</a:t>
            </a:r>
            <a:endParaRPr lang="en-US" sz="1220" dirty="0"/>
          </a:p>
          <a:p>
            <a:pPr marL="0" indent="0">
              <a:lnSpc>
                <a:spcPct val="108000"/>
              </a:lnSpc>
              <a:buNone/>
            </a:pPr>
            <a:endParaRPr lang="en-US" sz="1220" dirty="0"/>
          </a:p>
          <a:p>
            <a:pPr marL="0" indent="0">
              <a:lnSpc>
                <a:spcPct val="108000"/>
              </a:lnSpc>
              <a:buNone/>
            </a:pPr>
            <a:r>
              <a:rPr lang="en-US" sz="1220" dirty="0">
                <a:solidFill>
                  <a:srgbClr val="352428"/>
                </a:solidFill>
                <a:latin typeface="Calibri" pitchFamily="34" charset="0"/>
                <a:ea typeface="Calibri" pitchFamily="34" charset="-122"/>
                <a:cs typeface="Calibri" pitchFamily="34" charset="-120"/>
              </a:rPr>
              <a:t>All reported arithmetic checks out against the tables.</a:t>
            </a:r>
            <a:endParaRPr lang="en-US" sz="1220" dirty="0"/>
          </a:p>
        </p:txBody>
      </p:sp>
      <p:sp>
        <p:nvSpPr>
          <p:cNvPr id="12" name="Shape 10"/>
          <p:cNvSpPr/>
          <p:nvPr/>
        </p:nvSpPr>
        <p:spPr>
          <a:xfrm>
            <a:off x="6190488" y="1554480"/>
            <a:ext cx="5440680" cy="4498848"/>
          </a:xfrm>
          <a:prstGeom prst="roundRect">
            <a:avLst>
              <a:gd name="adj" fmla="val 1220"/>
            </a:avLst>
          </a:prstGeom>
          <a:solidFill>
            <a:srgbClr val="F7F1F2"/>
          </a:solidFill>
          <a:ln w="12700">
            <a:solidFill>
              <a:srgbClr val="EDE0E2"/>
            </a:solidFill>
            <a:prstDash val="solid"/>
          </a:ln>
        </p:spPr>
        <p:txBody>
          <a:bodyPr/>
          <a:lstStyle/>
          <a:p>
            <a:endParaRPr lang="en-US"/>
          </a:p>
        </p:txBody>
      </p:sp>
      <p:sp>
        <p:nvSpPr>
          <p:cNvPr id="13" name="Shape 11"/>
          <p:cNvSpPr/>
          <p:nvPr/>
        </p:nvSpPr>
        <p:spPr>
          <a:xfrm>
            <a:off x="6409944" y="1847088"/>
            <a:ext cx="109728" cy="109728"/>
          </a:xfrm>
          <a:prstGeom prst="ellipse">
            <a:avLst/>
          </a:prstGeom>
          <a:solidFill>
            <a:srgbClr val="B8871F"/>
          </a:solidFill>
          <a:ln w="12700">
            <a:solidFill>
              <a:srgbClr val="333333"/>
            </a:solidFill>
            <a:prstDash val="solid"/>
          </a:ln>
        </p:spPr>
        <p:txBody>
          <a:bodyPr/>
          <a:lstStyle/>
          <a:p>
            <a:endParaRPr lang="en-US"/>
          </a:p>
        </p:txBody>
      </p:sp>
      <p:sp>
        <p:nvSpPr>
          <p:cNvPr id="14" name="Text 12"/>
          <p:cNvSpPr txBox="1"/>
          <p:nvPr/>
        </p:nvSpPr>
        <p:spPr>
          <a:xfrm>
            <a:off x="6611112" y="1719072"/>
            <a:ext cx="4800600" cy="365760"/>
          </a:xfrm>
          <a:prstGeom prst="rect">
            <a:avLst/>
          </a:prstGeom>
          <a:noFill/>
          <a:ln/>
        </p:spPr>
        <p:txBody>
          <a:bodyPr wrap="square" lIns="0" tIns="0" rIns="0" bIns="0" rtlCol="0" anchor="ctr"/>
          <a:lstStyle/>
          <a:p>
            <a:pPr marL="0" indent="0">
              <a:buNone/>
            </a:pPr>
            <a:r>
              <a:rPr lang="en-US" sz="1700" b="1" dirty="0">
                <a:solidFill>
                  <a:srgbClr val="241619"/>
                </a:solidFill>
                <a:latin typeface="Cambria" pitchFamily="34" charset="0"/>
                <a:ea typeface="Cambria" pitchFamily="34" charset="-122"/>
                <a:cs typeface="Cambria" pitchFamily="34" charset="-120"/>
              </a:rPr>
              <a:t>Open threads</a:t>
            </a:r>
            <a:endParaRPr lang="en-US" sz="1700" dirty="0"/>
          </a:p>
        </p:txBody>
      </p:sp>
      <p:sp>
        <p:nvSpPr>
          <p:cNvPr id="15" name="Text 13"/>
          <p:cNvSpPr txBox="1"/>
          <p:nvPr/>
        </p:nvSpPr>
        <p:spPr>
          <a:xfrm>
            <a:off x="6446520" y="2157984"/>
            <a:ext cx="4928616" cy="3712464"/>
          </a:xfrm>
          <a:prstGeom prst="rect">
            <a:avLst/>
          </a:prstGeom>
          <a:noFill/>
          <a:ln/>
        </p:spPr>
        <p:txBody>
          <a:bodyPr wrap="square" lIns="0" tIns="0" rIns="0" bIns="0" rtlCol="0" anchor="t"/>
          <a:lstStyle/>
          <a:p>
            <a:pPr marL="0" indent="0">
              <a:lnSpc>
                <a:spcPct val="108000"/>
              </a:lnSpc>
              <a:buNone/>
            </a:pPr>
            <a:r>
              <a:rPr lang="en-US" sz="1220" dirty="0">
                <a:solidFill>
                  <a:srgbClr val="352428"/>
                </a:solidFill>
                <a:latin typeface="Calibri" pitchFamily="34" charset="0"/>
                <a:ea typeface="Calibri" pitchFamily="34" charset="-122"/>
                <a:cs typeface="Calibri" pitchFamily="34" charset="-120"/>
              </a:rPr>
              <a:t>Absolute accuracies are low — 40.47% average — and MELD sits below chance for every method in the comparison.</a:t>
            </a:r>
            <a:endParaRPr lang="en-US" sz="1220" dirty="0"/>
          </a:p>
          <a:p>
            <a:pPr marL="0" indent="0">
              <a:lnSpc>
                <a:spcPct val="108000"/>
              </a:lnSpc>
              <a:buNone/>
            </a:pPr>
            <a:endParaRPr lang="en-US" sz="1220" dirty="0"/>
          </a:p>
          <a:p>
            <a:pPr marL="0" indent="0">
              <a:lnSpc>
                <a:spcPct val="108000"/>
              </a:lnSpc>
              <a:buNone/>
            </a:pPr>
            <a:r>
              <a:rPr lang="en-US" sz="1220" dirty="0">
                <a:solidFill>
                  <a:srgbClr val="352428"/>
                </a:solidFill>
                <a:latin typeface="Calibri" pitchFamily="34" charset="0"/>
                <a:ea typeface="Calibri" pitchFamily="34" charset="-122"/>
                <a:cs typeface="Calibri" pitchFamily="34" charset="-120"/>
              </a:rPr>
              <a:t>The covariance update as printed is not a standard running estimator; the code should be checked.</a:t>
            </a:r>
            <a:endParaRPr lang="en-US" sz="1220" dirty="0"/>
          </a:p>
          <a:p>
            <a:pPr marL="0" indent="0">
              <a:lnSpc>
                <a:spcPct val="108000"/>
              </a:lnSpc>
              <a:buNone/>
            </a:pPr>
            <a:endParaRPr lang="en-US" sz="1220" dirty="0"/>
          </a:p>
          <a:p>
            <a:pPr marL="0" indent="0">
              <a:lnSpc>
                <a:spcPct val="108000"/>
              </a:lnSpc>
              <a:buNone/>
            </a:pPr>
            <a:r>
              <a:rPr lang="en-US" sz="1220" dirty="0">
                <a:solidFill>
                  <a:srgbClr val="352428"/>
                </a:solidFill>
                <a:latin typeface="Calibri" pitchFamily="34" charset="0"/>
                <a:ea typeface="Calibri" pitchFamily="34" charset="-122"/>
                <a:cs typeface="Calibri" pitchFamily="34" charset="-120"/>
              </a:rPr>
              <a:t>A full d × d covariance is estimated with no shrinkage from soft, unlabelled responsibilities.</a:t>
            </a:r>
            <a:endParaRPr lang="en-US" sz="1220" dirty="0"/>
          </a:p>
          <a:p>
            <a:pPr marL="0" indent="0">
              <a:lnSpc>
                <a:spcPct val="108000"/>
              </a:lnSpc>
              <a:buNone/>
            </a:pPr>
            <a:endParaRPr lang="en-US" sz="1220" dirty="0"/>
          </a:p>
          <a:p>
            <a:pPr marL="0" indent="0">
              <a:lnSpc>
                <a:spcPct val="108000"/>
              </a:lnSpc>
              <a:buNone/>
            </a:pPr>
            <a:r>
              <a:rPr lang="en-US" sz="1220" dirty="0">
                <a:solidFill>
                  <a:srgbClr val="352428"/>
                </a:solidFill>
                <a:latin typeface="Calibri" pitchFamily="34" charset="0"/>
                <a:ea typeface="Calibri" pitchFamily="34" charset="-122"/>
                <a:cs typeface="Calibri" pitchFamily="34" charset="-120"/>
              </a:rPr>
              <a:t>Stream order is a free variable and no ordering control is described.</a:t>
            </a:r>
            <a:endParaRPr lang="en-US" sz="1220" dirty="0"/>
          </a:p>
          <a:p>
            <a:pPr marL="0" indent="0">
              <a:lnSpc>
                <a:spcPct val="108000"/>
              </a:lnSpc>
              <a:buNone/>
            </a:pPr>
            <a:endParaRPr lang="en-US" sz="1220" dirty="0"/>
          </a:p>
          <a:p>
            <a:pPr marL="0" indent="0">
              <a:lnSpc>
                <a:spcPct val="108000"/>
              </a:lnSpc>
              <a:buNone/>
            </a:pPr>
            <a:r>
              <a:rPr lang="en-US" sz="1220" dirty="0">
                <a:solidFill>
                  <a:srgbClr val="352428"/>
                </a:solidFill>
                <a:latin typeface="Calibri" pitchFamily="34" charset="0"/>
                <a:ea typeface="Calibri" pitchFamily="34" charset="-122"/>
                <a:cs typeface="Calibri" pitchFamily="34" charset="-120"/>
              </a:rPr>
              <a:t>No α sweep, so how much of the gain survives giving the fitted classifier more weight is unknown.</a:t>
            </a:r>
            <a:endParaRPr lang="en-US" sz="1220" dirty="0"/>
          </a:p>
          <a:p>
            <a:pPr marL="0" indent="0">
              <a:lnSpc>
                <a:spcPct val="108000"/>
              </a:lnSpc>
              <a:buNone/>
            </a:pPr>
            <a:endParaRPr lang="en-US" sz="1220" dirty="0"/>
          </a:p>
          <a:p>
            <a:pPr marL="0" indent="0">
              <a:lnSpc>
                <a:spcPct val="108000"/>
              </a:lnSpc>
              <a:buNone/>
            </a:pPr>
            <a:r>
              <a:rPr lang="en-US" sz="1220" dirty="0">
                <a:solidFill>
                  <a:srgbClr val="352428"/>
                </a:solidFill>
                <a:latin typeface="Calibri" pitchFamily="34" charset="0"/>
                <a:ea typeface="Calibri" pitchFamily="34" charset="-122"/>
                <a:cs typeface="Calibri" pitchFamily="34" charset="-120"/>
              </a:rPr>
              <a:t>Accuracy only — no unweighted accuracy or per-class breakdown on imbalanced corpora.</a:t>
            </a:r>
            <a:endParaRPr lang="en-US" sz="122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045952" y="457200"/>
            <a:ext cx="420624" cy="274320"/>
          </a:xfrm>
          <a:prstGeom prst="ellipse">
            <a:avLst/>
          </a:prstGeom>
          <a:ln w="16510">
            <a:solidFill>
              <a:srgbClr val="8A4A52"/>
            </a:solidFill>
            <a:prstDash val="solid"/>
          </a:ln>
        </p:spPr>
        <p:txBody>
          <a:bodyPr/>
          <a:lstStyle/>
          <a:p>
            <a:endParaRPr lang="en-US"/>
          </a:p>
        </p:txBody>
      </p:sp>
      <p:sp>
        <p:nvSpPr>
          <p:cNvPr id="3" name="Shape 1"/>
          <p:cNvSpPr/>
          <p:nvPr/>
        </p:nvSpPr>
        <p:spPr>
          <a:xfrm>
            <a:off x="11164824" y="539496"/>
            <a:ext cx="82296" cy="82296"/>
          </a:xfrm>
          <a:prstGeom prst="ellipse">
            <a:avLst/>
          </a:prstGeom>
          <a:solidFill>
            <a:srgbClr val="B8871F"/>
          </a:solidFill>
          <a:ln w="12700">
            <a:solidFill>
              <a:srgbClr val="333333"/>
            </a:solidFill>
            <a:prstDash val="solid"/>
          </a:ln>
        </p:spPr>
        <p:txBody>
          <a:bodyPr/>
          <a:lstStyle/>
          <a:p>
            <a:endParaRPr lang="en-US"/>
          </a:p>
        </p:txBody>
      </p:sp>
      <p:sp>
        <p:nvSpPr>
          <p:cNvPr id="4" name="Shape 2"/>
          <p:cNvSpPr/>
          <p:nvPr/>
        </p:nvSpPr>
        <p:spPr>
          <a:xfrm>
            <a:off x="11292840" y="585216"/>
            <a:ext cx="64008" cy="64008"/>
          </a:xfrm>
          <a:prstGeom prst="ellipse">
            <a:avLst/>
          </a:prstGeom>
          <a:solidFill>
            <a:srgbClr val="B08A8E"/>
          </a:solidFill>
          <a:ln w="12700">
            <a:solidFill>
              <a:srgbClr val="333333"/>
            </a:solidFill>
            <a:prstDash val="solid"/>
          </a:ln>
        </p:spPr>
        <p:txBody>
          <a:bodyPr/>
          <a:lstStyle/>
          <a:p>
            <a:endParaRPr lang="en-US"/>
          </a:p>
        </p:txBody>
      </p:sp>
      <p:sp>
        <p:nvSpPr>
          <p:cNvPr id="5" name="Text 3"/>
          <p:cNvSpPr txBox="1"/>
          <p:nvPr/>
        </p:nvSpPr>
        <p:spPr>
          <a:xfrm>
            <a:off x="548640" y="384048"/>
            <a:ext cx="10332720" cy="566928"/>
          </a:xfrm>
          <a:prstGeom prst="rect">
            <a:avLst/>
          </a:prstGeom>
          <a:noFill/>
          <a:ln/>
        </p:spPr>
        <p:txBody>
          <a:bodyPr wrap="square" lIns="0" tIns="0" rIns="0" bIns="0" rtlCol="0" anchor="t"/>
          <a:lstStyle/>
          <a:p>
            <a:pPr marL="0" indent="0">
              <a:buNone/>
            </a:pPr>
            <a:r>
              <a:rPr lang="en-US" sz="2900" b="1" dirty="0">
                <a:solidFill>
                  <a:srgbClr val="241619"/>
                </a:solidFill>
                <a:latin typeface="Cambria" pitchFamily="34" charset="0"/>
                <a:ea typeface="Cambria" pitchFamily="34" charset="-122"/>
                <a:cs typeface="Cambria" pitchFamily="34" charset="-120"/>
              </a:rPr>
              <a:t>Tent and Emo-TTA side by side</a:t>
            </a:r>
            <a:endParaRPr lang="en-US" sz="2900" dirty="0"/>
          </a:p>
        </p:txBody>
      </p:sp>
      <p:sp>
        <p:nvSpPr>
          <p:cNvPr id="6" name="Text 4"/>
          <p:cNvSpPr txBox="1"/>
          <p:nvPr/>
        </p:nvSpPr>
        <p:spPr>
          <a:xfrm>
            <a:off x="548640" y="969264"/>
            <a:ext cx="10332720" cy="329184"/>
          </a:xfrm>
          <a:prstGeom prst="rect">
            <a:avLst/>
          </a:prstGeom>
          <a:noFill/>
          <a:ln/>
        </p:spPr>
        <p:txBody>
          <a:bodyPr wrap="square" lIns="0" tIns="0" rIns="0" bIns="0" rtlCol="0" anchor="ctr"/>
          <a:lstStyle/>
          <a:p>
            <a:pPr marL="0" indent="0">
              <a:buNone/>
            </a:pPr>
            <a:r>
              <a:rPr lang="en-US" sz="1350" i="1" dirty="0">
                <a:solidFill>
                  <a:srgbClr val="6E5156"/>
                </a:solidFill>
                <a:latin typeface="Calibri" pitchFamily="34" charset="0"/>
                <a:ea typeface="Calibri" pitchFamily="34" charset="-122"/>
                <a:cs typeface="Calibri" pitchFamily="34" charset="-120"/>
              </a:rPr>
              <a:t>Same setting, opposite machinery</a:t>
            </a:r>
            <a:endParaRPr lang="en-US" sz="1350" dirty="0"/>
          </a:p>
        </p:txBody>
      </p:sp>
      <p:sp>
        <p:nvSpPr>
          <p:cNvPr id="7" name="Text 5"/>
          <p:cNvSpPr txBox="1"/>
          <p:nvPr/>
        </p:nvSpPr>
        <p:spPr>
          <a:xfrm>
            <a:off x="9418320" y="6382512"/>
            <a:ext cx="2221992" cy="274320"/>
          </a:xfrm>
          <a:prstGeom prst="rect">
            <a:avLst/>
          </a:prstGeom>
          <a:noFill/>
          <a:ln/>
        </p:spPr>
        <p:txBody>
          <a:bodyPr wrap="square" lIns="0" tIns="0" rIns="0" bIns="0" rtlCol="0" anchor="ctr"/>
          <a:lstStyle/>
          <a:p>
            <a:pPr marL="0" indent="0" algn="r">
              <a:buNone/>
            </a:pPr>
            <a:r>
              <a:rPr lang="en-US" sz="900" dirty="0">
                <a:solidFill>
                  <a:srgbClr val="B59CA0"/>
                </a:solidFill>
                <a:latin typeface="Calibri" pitchFamily="34" charset="0"/>
                <a:ea typeface="Calibri" pitchFamily="34" charset="-122"/>
                <a:cs typeface="Calibri" pitchFamily="34" charset="-120"/>
              </a:rPr>
              <a:t>Emo-TTA · Shi et al. 2026  |  23</a:t>
            </a:r>
            <a:endParaRPr lang="en-US" sz="900" dirty="0"/>
          </a:p>
        </p:txBody>
      </p:sp>
      <p:sp>
        <p:nvSpPr>
          <p:cNvPr id="8" name="Text 6"/>
          <p:cNvSpPr txBox="1"/>
          <p:nvPr/>
        </p:nvSpPr>
        <p:spPr>
          <a:xfrm>
            <a:off x="4206240" y="1335024"/>
            <a:ext cx="3566160" cy="274320"/>
          </a:xfrm>
          <a:prstGeom prst="rect">
            <a:avLst/>
          </a:prstGeom>
          <a:noFill/>
          <a:ln/>
        </p:spPr>
        <p:txBody>
          <a:bodyPr wrap="square" lIns="0" tIns="0" rIns="0" bIns="0" rtlCol="0" anchor="ctr"/>
          <a:lstStyle/>
          <a:p>
            <a:pPr marL="0" indent="0">
              <a:buNone/>
            </a:pPr>
            <a:r>
              <a:rPr lang="en-US" sz="1250" b="1" dirty="0">
                <a:solidFill>
                  <a:srgbClr val="8A4A52"/>
                </a:solidFill>
                <a:latin typeface="Calibri" pitchFamily="34" charset="0"/>
                <a:ea typeface="Calibri" pitchFamily="34" charset="-122"/>
                <a:cs typeface="Calibri" pitchFamily="34" charset="-120"/>
              </a:rPr>
              <a:t>Tent (ICLR 2021)</a:t>
            </a:r>
            <a:endParaRPr lang="en-US" sz="1250" dirty="0"/>
          </a:p>
        </p:txBody>
      </p:sp>
      <p:sp>
        <p:nvSpPr>
          <p:cNvPr id="9" name="Text 7"/>
          <p:cNvSpPr txBox="1"/>
          <p:nvPr/>
        </p:nvSpPr>
        <p:spPr>
          <a:xfrm>
            <a:off x="7955280" y="1335024"/>
            <a:ext cx="3657600" cy="274320"/>
          </a:xfrm>
          <a:prstGeom prst="rect">
            <a:avLst/>
          </a:prstGeom>
          <a:noFill/>
          <a:ln/>
        </p:spPr>
        <p:txBody>
          <a:bodyPr wrap="square" lIns="0" tIns="0" rIns="0" bIns="0" rtlCol="0" anchor="ctr"/>
          <a:lstStyle/>
          <a:p>
            <a:pPr marL="0" indent="0">
              <a:buNone/>
            </a:pPr>
            <a:r>
              <a:rPr lang="en-US" sz="1250" b="1" dirty="0">
                <a:solidFill>
                  <a:srgbClr val="B8871F"/>
                </a:solidFill>
                <a:latin typeface="Calibri" pitchFamily="34" charset="0"/>
                <a:ea typeface="Calibri" pitchFamily="34" charset="-122"/>
                <a:cs typeface="Calibri" pitchFamily="34" charset="-120"/>
              </a:rPr>
              <a:t>Emo-TTA (ICASSP 2026)</a:t>
            </a:r>
            <a:endParaRPr lang="en-US" sz="1250" dirty="0"/>
          </a:p>
        </p:txBody>
      </p:sp>
      <p:sp>
        <p:nvSpPr>
          <p:cNvPr id="10" name="Shape 8"/>
          <p:cNvSpPr/>
          <p:nvPr/>
        </p:nvSpPr>
        <p:spPr>
          <a:xfrm>
            <a:off x="566928" y="1627632"/>
            <a:ext cx="11064240" cy="438912"/>
          </a:xfrm>
          <a:prstGeom prst="roundRect">
            <a:avLst>
              <a:gd name="adj" fmla="val 4167"/>
            </a:avLst>
          </a:prstGeom>
          <a:solidFill>
            <a:srgbClr val="F7F1F2"/>
          </a:solidFill>
          <a:ln w="12700">
            <a:solidFill>
              <a:srgbClr val="F0E6E8"/>
            </a:solidFill>
            <a:prstDash val="solid"/>
          </a:ln>
        </p:spPr>
        <p:txBody>
          <a:bodyPr/>
          <a:lstStyle/>
          <a:p>
            <a:endParaRPr lang="en-US"/>
          </a:p>
        </p:txBody>
      </p:sp>
      <p:sp>
        <p:nvSpPr>
          <p:cNvPr id="11" name="Text 9"/>
          <p:cNvSpPr txBox="1"/>
          <p:nvPr/>
        </p:nvSpPr>
        <p:spPr>
          <a:xfrm>
            <a:off x="749808" y="1709928"/>
            <a:ext cx="3291840" cy="274320"/>
          </a:xfrm>
          <a:prstGeom prst="rect">
            <a:avLst/>
          </a:prstGeom>
          <a:noFill/>
          <a:ln/>
        </p:spPr>
        <p:txBody>
          <a:bodyPr wrap="square" lIns="0" tIns="0" rIns="0" bIns="0" rtlCol="0" anchor="ctr"/>
          <a:lstStyle/>
          <a:p>
            <a:pPr marL="0" indent="0">
              <a:buNone/>
            </a:pPr>
            <a:r>
              <a:rPr lang="en-US" sz="1130" b="1" dirty="0">
                <a:solidFill>
                  <a:srgbClr val="241619"/>
                </a:solidFill>
                <a:latin typeface="Calibri" pitchFamily="34" charset="0"/>
                <a:ea typeface="Calibri" pitchFamily="34" charset="-122"/>
                <a:cs typeface="Calibri" pitchFamily="34" charset="-120"/>
              </a:rPr>
              <a:t>What adapts</a:t>
            </a:r>
            <a:endParaRPr lang="en-US" sz="1130" dirty="0"/>
          </a:p>
        </p:txBody>
      </p:sp>
      <p:sp>
        <p:nvSpPr>
          <p:cNvPr id="12" name="Text 10"/>
          <p:cNvSpPr txBox="1"/>
          <p:nvPr/>
        </p:nvSpPr>
        <p:spPr>
          <a:xfrm>
            <a:off x="4206240" y="1709928"/>
            <a:ext cx="3566160" cy="274320"/>
          </a:xfrm>
          <a:prstGeom prst="rect">
            <a:avLst/>
          </a:prstGeom>
          <a:noFill/>
          <a:ln/>
        </p:spPr>
        <p:txBody>
          <a:bodyPr wrap="square" lIns="0" tIns="0" rIns="0" bIns="0" rtlCol="0" anchor="ctr"/>
          <a:lstStyle/>
          <a:p>
            <a:pPr marL="0" indent="0">
              <a:buNone/>
            </a:pPr>
            <a:r>
              <a:rPr lang="en-US" sz="1130" dirty="0">
                <a:solidFill>
                  <a:srgbClr val="352428"/>
                </a:solidFill>
                <a:latin typeface="Calibri" pitchFamily="34" charset="0"/>
                <a:ea typeface="Calibri" pitchFamily="34" charset="-122"/>
                <a:cs typeface="Calibri" pitchFamily="34" charset="-120"/>
              </a:rPr>
              <a:t>Channel-wise affine parameters γ, β</a:t>
            </a:r>
            <a:endParaRPr lang="en-US" sz="1130" dirty="0"/>
          </a:p>
        </p:txBody>
      </p:sp>
      <p:sp>
        <p:nvSpPr>
          <p:cNvPr id="13" name="Text 11"/>
          <p:cNvSpPr txBox="1"/>
          <p:nvPr/>
        </p:nvSpPr>
        <p:spPr>
          <a:xfrm>
            <a:off x="7955280" y="1709928"/>
            <a:ext cx="3657600" cy="274320"/>
          </a:xfrm>
          <a:prstGeom prst="rect">
            <a:avLst/>
          </a:prstGeom>
          <a:noFill/>
          <a:ln/>
        </p:spPr>
        <p:txBody>
          <a:bodyPr wrap="square" lIns="0" tIns="0" rIns="0" bIns="0" rtlCol="0" anchor="ctr"/>
          <a:lstStyle/>
          <a:p>
            <a:pPr marL="0" indent="0">
              <a:buNone/>
            </a:pPr>
            <a:r>
              <a:rPr lang="en-US" sz="1130" dirty="0">
                <a:solidFill>
                  <a:srgbClr val="352428"/>
                </a:solidFill>
                <a:latin typeface="Calibri" pitchFamily="34" charset="0"/>
                <a:ea typeface="Calibri" pitchFamily="34" charset="-122"/>
                <a:cs typeface="Calibri" pitchFamily="34" charset="-120"/>
              </a:rPr>
              <a:t>Class means, shared covariance, priors</a:t>
            </a:r>
            <a:endParaRPr lang="en-US" sz="1130" dirty="0"/>
          </a:p>
        </p:txBody>
      </p:sp>
      <p:sp>
        <p:nvSpPr>
          <p:cNvPr id="14" name="Shape 12"/>
          <p:cNvSpPr/>
          <p:nvPr/>
        </p:nvSpPr>
        <p:spPr>
          <a:xfrm>
            <a:off x="566928" y="2103120"/>
            <a:ext cx="11064240" cy="438912"/>
          </a:xfrm>
          <a:prstGeom prst="roundRect">
            <a:avLst>
              <a:gd name="adj" fmla="val 4167"/>
            </a:avLst>
          </a:prstGeom>
          <a:solidFill>
            <a:srgbClr val="FFFFFF"/>
          </a:solidFill>
          <a:ln w="12700">
            <a:solidFill>
              <a:srgbClr val="F0E6E8"/>
            </a:solidFill>
            <a:prstDash val="solid"/>
          </a:ln>
        </p:spPr>
        <p:txBody>
          <a:bodyPr/>
          <a:lstStyle/>
          <a:p>
            <a:endParaRPr lang="en-US"/>
          </a:p>
        </p:txBody>
      </p:sp>
      <p:sp>
        <p:nvSpPr>
          <p:cNvPr id="15" name="Text 13"/>
          <p:cNvSpPr txBox="1"/>
          <p:nvPr/>
        </p:nvSpPr>
        <p:spPr>
          <a:xfrm>
            <a:off x="749808" y="2185416"/>
            <a:ext cx="3291840" cy="274320"/>
          </a:xfrm>
          <a:prstGeom prst="rect">
            <a:avLst/>
          </a:prstGeom>
          <a:noFill/>
          <a:ln/>
        </p:spPr>
        <p:txBody>
          <a:bodyPr wrap="square" lIns="0" tIns="0" rIns="0" bIns="0" rtlCol="0" anchor="ctr"/>
          <a:lstStyle/>
          <a:p>
            <a:pPr marL="0" indent="0">
              <a:buNone/>
            </a:pPr>
            <a:r>
              <a:rPr lang="en-US" sz="1130" b="1" dirty="0">
                <a:solidFill>
                  <a:srgbClr val="241619"/>
                </a:solidFill>
                <a:latin typeface="Calibri" pitchFamily="34" charset="0"/>
                <a:ea typeface="Calibri" pitchFamily="34" charset="-122"/>
                <a:cs typeface="Calibri" pitchFamily="34" charset="-120"/>
              </a:rPr>
              <a:t>How it adapts</a:t>
            </a:r>
            <a:endParaRPr lang="en-US" sz="1130" dirty="0"/>
          </a:p>
        </p:txBody>
      </p:sp>
      <p:sp>
        <p:nvSpPr>
          <p:cNvPr id="16" name="Text 14"/>
          <p:cNvSpPr txBox="1"/>
          <p:nvPr/>
        </p:nvSpPr>
        <p:spPr>
          <a:xfrm>
            <a:off x="4206240" y="2185416"/>
            <a:ext cx="3566160" cy="274320"/>
          </a:xfrm>
          <a:prstGeom prst="rect">
            <a:avLst/>
          </a:prstGeom>
          <a:noFill/>
          <a:ln/>
        </p:spPr>
        <p:txBody>
          <a:bodyPr wrap="square" lIns="0" tIns="0" rIns="0" bIns="0" rtlCol="0" anchor="ctr"/>
          <a:lstStyle/>
          <a:p>
            <a:pPr marL="0" indent="0">
              <a:buNone/>
            </a:pPr>
            <a:r>
              <a:rPr lang="en-US" sz="1130" dirty="0">
                <a:solidFill>
                  <a:srgbClr val="352428"/>
                </a:solidFill>
                <a:latin typeface="Calibri" pitchFamily="34" charset="0"/>
                <a:ea typeface="Calibri" pitchFamily="34" charset="-122"/>
                <a:cs typeface="Calibri" pitchFamily="34" charset="-120"/>
              </a:rPr>
              <a:t>Gradient descent on the entropy loss</a:t>
            </a:r>
            <a:endParaRPr lang="en-US" sz="1130" dirty="0"/>
          </a:p>
        </p:txBody>
      </p:sp>
      <p:sp>
        <p:nvSpPr>
          <p:cNvPr id="17" name="Text 15"/>
          <p:cNvSpPr txBox="1"/>
          <p:nvPr/>
        </p:nvSpPr>
        <p:spPr>
          <a:xfrm>
            <a:off x="7955280" y="2185416"/>
            <a:ext cx="3657600" cy="274320"/>
          </a:xfrm>
          <a:prstGeom prst="rect">
            <a:avLst/>
          </a:prstGeom>
          <a:noFill/>
          <a:ln/>
        </p:spPr>
        <p:txBody>
          <a:bodyPr wrap="square" lIns="0" tIns="0" rIns="0" bIns="0" rtlCol="0" anchor="ctr"/>
          <a:lstStyle/>
          <a:p>
            <a:pPr marL="0" indent="0">
              <a:buNone/>
            </a:pPr>
            <a:r>
              <a:rPr lang="en-US" sz="1130" dirty="0">
                <a:solidFill>
                  <a:srgbClr val="352428"/>
                </a:solidFill>
                <a:latin typeface="Calibri" pitchFamily="34" charset="0"/>
                <a:ea typeface="Calibri" pitchFamily="34" charset="-122"/>
                <a:cs typeface="Calibri" pitchFamily="34" charset="-120"/>
              </a:rPr>
              <a:t>Closed-form EM updates</a:t>
            </a:r>
            <a:endParaRPr lang="en-US" sz="1130" dirty="0"/>
          </a:p>
        </p:txBody>
      </p:sp>
      <p:sp>
        <p:nvSpPr>
          <p:cNvPr id="18" name="Shape 16"/>
          <p:cNvSpPr/>
          <p:nvPr/>
        </p:nvSpPr>
        <p:spPr>
          <a:xfrm>
            <a:off x="566928" y="2578608"/>
            <a:ext cx="11064240" cy="438912"/>
          </a:xfrm>
          <a:prstGeom prst="roundRect">
            <a:avLst>
              <a:gd name="adj" fmla="val 4167"/>
            </a:avLst>
          </a:prstGeom>
          <a:solidFill>
            <a:srgbClr val="F7F1F2"/>
          </a:solidFill>
          <a:ln w="12700">
            <a:solidFill>
              <a:srgbClr val="F0E6E8"/>
            </a:solidFill>
            <a:prstDash val="solid"/>
          </a:ln>
        </p:spPr>
        <p:txBody>
          <a:bodyPr/>
          <a:lstStyle/>
          <a:p>
            <a:endParaRPr lang="en-US"/>
          </a:p>
        </p:txBody>
      </p:sp>
      <p:sp>
        <p:nvSpPr>
          <p:cNvPr id="19" name="Text 17"/>
          <p:cNvSpPr txBox="1"/>
          <p:nvPr/>
        </p:nvSpPr>
        <p:spPr>
          <a:xfrm>
            <a:off x="749808" y="2660904"/>
            <a:ext cx="3291840" cy="274320"/>
          </a:xfrm>
          <a:prstGeom prst="rect">
            <a:avLst/>
          </a:prstGeom>
          <a:noFill/>
          <a:ln/>
        </p:spPr>
        <p:txBody>
          <a:bodyPr wrap="square" lIns="0" tIns="0" rIns="0" bIns="0" rtlCol="0" anchor="ctr"/>
          <a:lstStyle/>
          <a:p>
            <a:pPr marL="0" indent="0">
              <a:buNone/>
            </a:pPr>
            <a:r>
              <a:rPr lang="en-US" sz="1130" b="1" dirty="0">
                <a:solidFill>
                  <a:srgbClr val="241619"/>
                </a:solidFill>
                <a:latin typeface="Calibri" pitchFamily="34" charset="0"/>
                <a:ea typeface="Calibri" pitchFamily="34" charset="-122"/>
                <a:cs typeface="Calibri" pitchFamily="34" charset="-120"/>
              </a:rPr>
              <a:t>Role of entropy</a:t>
            </a:r>
            <a:endParaRPr lang="en-US" sz="1130" dirty="0"/>
          </a:p>
        </p:txBody>
      </p:sp>
      <p:sp>
        <p:nvSpPr>
          <p:cNvPr id="20" name="Text 18"/>
          <p:cNvSpPr txBox="1"/>
          <p:nvPr/>
        </p:nvSpPr>
        <p:spPr>
          <a:xfrm>
            <a:off x="4206240" y="2660904"/>
            <a:ext cx="3566160" cy="274320"/>
          </a:xfrm>
          <a:prstGeom prst="rect">
            <a:avLst/>
          </a:prstGeom>
          <a:noFill/>
          <a:ln/>
        </p:spPr>
        <p:txBody>
          <a:bodyPr wrap="square" lIns="0" tIns="0" rIns="0" bIns="0" rtlCol="0" anchor="ctr"/>
          <a:lstStyle/>
          <a:p>
            <a:pPr marL="0" indent="0">
              <a:buNone/>
            </a:pPr>
            <a:r>
              <a:rPr lang="en-US" sz="1130" dirty="0">
                <a:solidFill>
                  <a:srgbClr val="352428"/>
                </a:solidFill>
                <a:latin typeface="Calibri" pitchFamily="34" charset="0"/>
                <a:ea typeface="Calibri" pitchFamily="34" charset="-122"/>
                <a:cs typeface="Calibri" pitchFamily="34" charset="-120"/>
              </a:rPr>
              <a:t>The objective to minimise</a:t>
            </a:r>
            <a:endParaRPr lang="en-US" sz="1130" dirty="0"/>
          </a:p>
        </p:txBody>
      </p:sp>
      <p:sp>
        <p:nvSpPr>
          <p:cNvPr id="21" name="Text 19"/>
          <p:cNvSpPr txBox="1"/>
          <p:nvPr/>
        </p:nvSpPr>
        <p:spPr>
          <a:xfrm>
            <a:off x="7955280" y="2660904"/>
            <a:ext cx="3657600" cy="274320"/>
          </a:xfrm>
          <a:prstGeom prst="rect">
            <a:avLst/>
          </a:prstGeom>
          <a:noFill/>
          <a:ln/>
        </p:spPr>
        <p:txBody>
          <a:bodyPr wrap="square" lIns="0" tIns="0" rIns="0" bIns="0" rtlCol="0" anchor="ctr"/>
          <a:lstStyle/>
          <a:p>
            <a:pPr marL="0" indent="0">
              <a:buNone/>
            </a:pPr>
            <a:r>
              <a:rPr lang="en-US" sz="1130" dirty="0">
                <a:solidFill>
                  <a:srgbClr val="352428"/>
                </a:solidFill>
                <a:latin typeface="Calibri" pitchFamily="34" charset="0"/>
                <a:ea typeface="Calibri" pitchFamily="34" charset="-122"/>
                <a:cs typeface="Calibri" pitchFamily="34" charset="-120"/>
              </a:rPr>
              <a:t>A confidence weight on each update</a:t>
            </a:r>
            <a:endParaRPr lang="en-US" sz="1130" dirty="0"/>
          </a:p>
        </p:txBody>
      </p:sp>
      <p:sp>
        <p:nvSpPr>
          <p:cNvPr id="22" name="Shape 20"/>
          <p:cNvSpPr/>
          <p:nvPr/>
        </p:nvSpPr>
        <p:spPr>
          <a:xfrm>
            <a:off x="566928" y="3054096"/>
            <a:ext cx="11064240" cy="438912"/>
          </a:xfrm>
          <a:prstGeom prst="roundRect">
            <a:avLst>
              <a:gd name="adj" fmla="val 4167"/>
            </a:avLst>
          </a:prstGeom>
          <a:solidFill>
            <a:srgbClr val="FFFFFF"/>
          </a:solidFill>
          <a:ln w="12700">
            <a:solidFill>
              <a:srgbClr val="F0E6E8"/>
            </a:solidFill>
            <a:prstDash val="solid"/>
          </a:ln>
        </p:spPr>
        <p:txBody>
          <a:bodyPr/>
          <a:lstStyle/>
          <a:p>
            <a:endParaRPr lang="en-US"/>
          </a:p>
        </p:txBody>
      </p:sp>
      <p:sp>
        <p:nvSpPr>
          <p:cNvPr id="23" name="Text 21"/>
          <p:cNvSpPr txBox="1"/>
          <p:nvPr/>
        </p:nvSpPr>
        <p:spPr>
          <a:xfrm>
            <a:off x="749808" y="3136392"/>
            <a:ext cx="3291840" cy="274320"/>
          </a:xfrm>
          <a:prstGeom prst="rect">
            <a:avLst/>
          </a:prstGeom>
          <a:noFill/>
          <a:ln/>
        </p:spPr>
        <p:txBody>
          <a:bodyPr wrap="square" lIns="0" tIns="0" rIns="0" bIns="0" rtlCol="0" anchor="ctr"/>
          <a:lstStyle/>
          <a:p>
            <a:pPr marL="0" indent="0">
              <a:buNone/>
            </a:pPr>
            <a:r>
              <a:rPr lang="en-US" sz="1130" b="1" dirty="0">
                <a:solidFill>
                  <a:srgbClr val="241619"/>
                </a:solidFill>
                <a:latin typeface="Calibri" pitchFamily="34" charset="0"/>
                <a:ea typeface="Calibri" pitchFamily="34" charset="-122"/>
                <a:cs typeface="Calibri" pitchFamily="34" charset="-120"/>
              </a:rPr>
              <a:t>Unit of adaptation</a:t>
            </a:r>
            <a:endParaRPr lang="en-US" sz="1130" dirty="0"/>
          </a:p>
        </p:txBody>
      </p:sp>
      <p:sp>
        <p:nvSpPr>
          <p:cNvPr id="24" name="Text 22"/>
          <p:cNvSpPr txBox="1"/>
          <p:nvPr/>
        </p:nvSpPr>
        <p:spPr>
          <a:xfrm>
            <a:off x="4206240" y="3136392"/>
            <a:ext cx="3566160" cy="274320"/>
          </a:xfrm>
          <a:prstGeom prst="rect">
            <a:avLst/>
          </a:prstGeom>
          <a:noFill/>
          <a:ln/>
        </p:spPr>
        <p:txBody>
          <a:bodyPr wrap="square" lIns="0" tIns="0" rIns="0" bIns="0" rtlCol="0" anchor="ctr"/>
          <a:lstStyle/>
          <a:p>
            <a:pPr marL="0" indent="0">
              <a:buNone/>
            </a:pPr>
            <a:r>
              <a:rPr lang="en-US" sz="1130" dirty="0">
                <a:solidFill>
                  <a:srgbClr val="352428"/>
                </a:solidFill>
                <a:latin typeface="Calibri" pitchFamily="34" charset="0"/>
                <a:ea typeface="Calibri" pitchFamily="34" charset="-122"/>
                <a:cs typeface="Calibri" pitchFamily="34" charset="-120"/>
              </a:rPr>
              <a:t>A batch — structurally required</a:t>
            </a:r>
            <a:endParaRPr lang="en-US" sz="1130" dirty="0"/>
          </a:p>
        </p:txBody>
      </p:sp>
      <p:sp>
        <p:nvSpPr>
          <p:cNvPr id="25" name="Text 23"/>
          <p:cNvSpPr txBox="1"/>
          <p:nvPr/>
        </p:nvSpPr>
        <p:spPr>
          <a:xfrm>
            <a:off x="7955280" y="3136392"/>
            <a:ext cx="3657600" cy="274320"/>
          </a:xfrm>
          <a:prstGeom prst="rect">
            <a:avLst/>
          </a:prstGeom>
          <a:noFill/>
          <a:ln/>
        </p:spPr>
        <p:txBody>
          <a:bodyPr wrap="square" lIns="0" tIns="0" rIns="0" bIns="0" rtlCol="0" anchor="ctr"/>
          <a:lstStyle/>
          <a:p>
            <a:pPr marL="0" indent="0">
              <a:buNone/>
            </a:pPr>
            <a:r>
              <a:rPr lang="en-US" sz="1130" dirty="0">
                <a:solidFill>
                  <a:srgbClr val="352428"/>
                </a:solidFill>
                <a:latin typeface="Calibri" pitchFamily="34" charset="0"/>
                <a:ea typeface="Calibri" pitchFamily="34" charset="-122"/>
                <a:cs typeface="Calibri" pitchFamily="34" charset="-120"/>
              </a:rPr>
              <a:t>A single sample</a:t>
            </a:r>
            <a:endParaRPr lang="en-US" sz="1130" dirty="0"/>
          </a:p>
        </p:txBody>
      </p:sp>
      <p:sp>
        <p:nvSpPr>
          <p:cNvPr id="26" name="Shape 24"/>
          <p:cNvSpPr/>
          <p:nvPr/>
        </p:nvSpPr>
        <p:spPr>
          <a:xfrm>
            <a:off x="566928" y="3529584"/>
            <a:ext cx="11064240" cy="438912"/>
          </a:xfrm>
          <a:prstGeom prst="roundRect">
            <a:avLst>
              <a:gd name="adj" fmla="val 4167"/>
            </a:avLst>
          </a:prstGeom>
          <a:solidFill>
            <a:srgbClr val="F7F1F2"/>
          </a:solidFill>
          <a:ln w="12700">
            <a:solidFill>
              <a:srgbClr val="F0E6E8"/>
            </a:solidFill>
            <a:prstDash val="solid"/>
          </a:ln>
        </p:spPr>
        <p:txBody>
          <a:bodyPr/>
          <a:lstStyle/>
          <a:p>
            <a:endParaRPr lang="en-US"/>
          </a:p>
        </p:txBody>
      </p:sp>
      <p:sp>
        <p:nvSpPr>
          <p:cNvPr id="27" name="Text 25"/>
          <p:cNvSpPr txBox="1"/>
          <p:nvPr/>
        </p:nvSpPr>
        <p:spPr>
          <a:xfrm>
            <a:off x="749808" y="3611880"/>
            <a:ext cx="3291840" cy="274320"/>
          </a:xfrm>
          <a:prstGeom prst="rect">
            <a:avLst/>
          </a:prstGeom>
          <a:noFill/>
          <a:ln/>
        </p:spPr>
        <p:txBody>
          <a:bodyPr wrap="square" lIns="0" tIns="0" rIns="0" bIns="0" rtlCol="0" anchor="ctr"/>
          <a:lstStyle/>
          <a:p>
            <a:pPr marL="0" indent="0">
              <a:buNone/>
            </a:pPr>
            <a:r>
              <a:rPr lang="en-US" sz="1130" b="1" dirty="0">
                <a:solidFill>
                  <a:srgbClr val="241619"/>
                </a:solidFill>
                <a:latin typeface="Calibri" pitchFamily="34" charset="0"/>
                <a:ea typeface="Calibri" pitchFamily="34" charset="-122"/>
                <a:cs typeface="Calibri" pitchFamily="34" charset="-120"/>
              </a:rPr>
              <a:t>State carried</a:t>
            </a:r>
            <a:endParaRPr lang="en-US" sz="1130" dirty="0"/>
          </a:p>
        </p:txBody>
      </p:sp>
      <p:sp>
        <p:nvSpPr>
          <p:cNvPr id="28" name="Text 26"/>
          <p:cNvSpPr txBox="1"/>
          <p:nvPr/>
        </p:nvSpPr>
        <p:spPr>
          <a:xfrm>
            <a:off x="4206240" y="3611880"/>
            <a:ext cx="3566160" cy="274320"/>
          </a:xfrm>
          <a:prstGeom prst="rect">
            <a:avLst/>
          </a:prstGeom>
          <a:noFill/>
          <a:ln/>
        </p:spPr>
        <p:txBody>
          <a:bodyPr wrap="square" lIns="0" tIns="0" rIns="0" bIns="0" rtlCol="0" anchor="ctr"/>
          <a:lstStyle/>
          <a:p>
            <a:pPr marL="0" indent="0">
              <a:buNone/>
            </a:pPr>
            <a:r>
              <a:rPr lang="en-US" sz="1130" dirty="0">
                <a:solidFill>
                  <a:srgbClr val="352428"/>
                </a:solidFill>
                <a:latin typeface="Calibri" pitchFamily="34" charset="0"/>
                <a:ea typeface="Calibri" pitchFamily="34" charset="-122"/>
                <a:cs typeface="Calibri" pitchFamily="34" charset="-120"/>
              </a:rPr>
              <a:t>Updated model parameters</a:t>
            </a:r>
            <a:endParaRPr lang="en-US" sz="1130" dirty="0"/>
          </a:p>
        </p:txBody>
      </p:sp>
      <p:sp>
        <p:nvSpPr>
          <p:cNvPr id="29" name="Text 27"/>
          <p:cNvSpPr txBox="1"/>
          <p:nvPr/>
        </p:nvSpPr>
        <p:spPr>
          <a:xfrm>
            <a:off x="7955280" y="3611880"/>
            <a:ext cx="3657600" cy="274320"/>
          </a:xfrm>
          <a:prstGeom prst="rect">
            <a:avLst/>
          </a:prstGeom>
          <a:noFill/>
          <a:ln/>
        </p:spPr>
        <p:txBody>
          <a:bodyPr wrap="square" lIns="0" tIns="0" rIns="0" bIns="0" rtlCol="0" anchor="ctr"/>
          <a:lstStyle/>
          <a:p>
            <a:pPr marL="0" indent="0">
              <a:buNone/>
            </a:pPr>
            <a:r>
              <a:rPr lang="en-US" sz="1130" dirty="0">
                <a:solidFill>
                  <a:srgbClr val="352428"/>
                </a:solidFill>
                <a:latin typeface="Calibri" pitchFamily="34" charset="0"/>
                <a:ea typeface="Calibri" pitchFamily="34" charset="-122"/>
                <a:cs typeface="Calibri" pitchFamily="34" charset="-120"/>
              </a:rPr>
              <a:t>Sufficient statistics of a Gaussian mixture</a:t>
            </a:r>
            <a:endParaRPr lang="en-US" sz="1130" dirty="0"/>
          </a:p>
        </p:txBody>
      </p:sp>
      <p:sp>
        <p:nvSpPr>
          <p:cNvPr id="30" name="Shape 28"/>
          <p:cNvSpPr/>
          <p:nvPr/>
        </p:nvSpPr>
        <p:spPr>
          <a:xfrm>
            <a:off x="566928" y="4005072"/>
            <a:ext cx="11064240" cy="438912"/>
          </a:xfrm>
          <a:prstGeom prst="roundRect">
            <a:avLst>
              <a:gd name="adj" fmla="val 4167"/>
            </a:avLst>
          </a:prstGeom>
          <a:solidFill>
            <a:srgbClr val="FFFFFF"/>
          </a:solidFill>
          <a:ln w="12700">
            <a:solidFill>
              <a:srgbClr val="F0E6E8"/>
            </a:solidFill>
            <a:prstDash val="solid"/>
          </a:ln>
        </p:spPr>
        <p:txBody>
          <a:bodyPr/>
          <a:lstStyle/>
          <a:p>
            <a:endParaRPr lang="en-US"/>
          </a:p>
        </p:txBody>
      </p:sp>
      <p:sp>
        <p:nvSpPr>
          <p:cNvPr id="31" name="Text 29"/>
          <p:cNvSpPr txBox="1"/>
          <p:nvPr/>
        </p:nvSpPr>
        <p:spPr>
          <a:xfrm>
            <a:off x="749808" y="4087368"/>
            <a:ext cx="3291840" cy="274320"/>
          </a:xfrm>
          <a:prstGeom prst="rect">
            <a:avLst/>
          </a:prstGeom>
          <a:noFill/>
          <a:ln/>
        </p:spPr>
        <p:txBody>
          <a:bodyPr wrap="square" lIns="0" tIns="0" rIns="0" bIns="0" rtlCol="0" anchor="ctr"/>
          <a:lstStyle/>
          <a:p>
            <a:pPr marL="0" indent="0">
              <a:buNone/>
            </a:pPr>
            <a:r>
              <a:rPr lang="en-US" sz="1130" b="1" dirty="0">
                <a:solidFill>
                  <a:srgbClr val="241619"/>
                </a:solidFill>
                <a:latin typeface="Calibri" pitchFamily="34" charset="0"/>
                <a:ea typeface="Calibri" pitchFamily="34" charset="-122"/>
                <a:cs typeface="Calibri" pitchFamily="34" charset="-120"/>
              </a:rPr>
              <a:t>Failure mode</a:t>
            </a:r>
            <a:endParaRPr lang="en-US" sz="1130" dirty="0"/>
          </a:p>
        </p:txBody>
      </p:sp>
      <p:sp>
        <p:nvSpPr>
          <p:cNvPr id="32" name="Text 30"/>
          <p:cNvSpPr txBox="1"/>
          <p:nvPr/>
        </p:nvSpPr>
        <p:spPr>
          <a:xfrm>
            <a:off x="4206240" y="4087368"/>
            <a:ext cx="3566160" cy="274320"/>
          </a:xfrm>
          <a:prstGeom prst="rect">
            <a:avLst/>
          </a:prstGeom>
          <a:noFill/>
          <a:ln/>
        </p:spPr>
        <p:txBody>
          <a:bodyPr wrap="square" lIns="0" tIns="0" rIns="0" bIns="0" rtlCol="0" anchor="ctr"/>
          <a:lstStyle/>
          <a:p>
            <a:pPr marL="0" indent="0">
              <a:buNone/>
            </a:pPr>
            <a:r>
              <a:rPr lang="en-US" sz="1130" dirty="0">
                <a:solidFill>
                  <a:srgbClr val="352428"/>
                </a:solidFill>
                <a:latin typeface="Calibri" pitchFamily="34" charset="0"/>
                <a:ea typeface="Calibri" pitchFamily="34" charset="-122"/>
                <a:cs typeface="Calibri" pitchFamily="34" charset="-120"/>
              </a:rPr>
              <a:t>Amplifies confident errors; collapses on hard shift</a:t>
            </a:r>
            <a:endParaRPr lang="en-US" sz="1130" dirty="0"/>
          </a:p>
        </p:txBody>
      </p:sp>
      <p:sp>
        <p:nvSpPr>
          <p:cNvPr id="33" name="Text 31"/>
          <p:cNvSpPr txBox="1"/>
          <p:nvPr/>
        </p:nvSpPr>
        <p:spPr>
          <a:xfrm>
            <a:off x="7955280" y="4087368"/>
            <a:ext cx="3657600" cy="274320"/>
          </a:xfrm>
          <a:prstGeom prst="rect">
            <a:avLst/>
          </a:prstGeom>
          <a:noFill/>
          <a:ln/>
        </p:spPr>
        <p:txBody>
          <a:bodyPr wrap="square" lIns="0" tIns="0" rIns="0" bIns="0" rtlCol="0" anchor="ctr"/>
          <a:lstStyle/>
          <a:p>
            <a:pPr marL="0" indent="0">
              <a:buNone/>
            </a:pPr>
            <a:r>
              <a:rPr lang="en-US" sz="1130" dirty="0">
                <a:solidFill>
                  <a:srgbClr val="352428"/>
                </a:solidFill>
                <a:latin typeface="Calibri" pitchFamily="34" charset="0"/>
                <a:ea typeface="Calibri" pitchFamily="34" charset="-122"/>
                <a:cs typeface="Calibri" pitchFamily="34" charset="-120"/>
              </a:rPr>
              <a:t>Inherits confident errors, but nothing amplifies them</a:t>
            </a:r>
            <a:endParaRPr lang="en-US" sz="1130" dirty="0"/>
          </a:p>
        </p:txBody>
      </p:sp>
      <p:sp>
        <p:nvSpPr>
          <p:cNvPr id="34" name="Shape 32"/>
          <p:cNvSpPr/>
          <p:nvPr/>
        </p:nvSpPr>
        <p:spPr>
          <a:xfrm>
            <a:off x="566928" y="4480560"/>
            <a:ext cx="11064240" cy="438912"/>
          </a:xfrm>
          <a:prstGeom prst="roundRect">
            <a:avLst>
              <a:gd name="adj" fmla="val 4167"/>
            </a:avLst>
          </a:prstGeom>
          <a:solidFill>
            <a:srgbClr val="F7F1F2"/>
          </a:solidFill>
          <a:ln w="12700">
            <a:solidFill>
              <a:srgbClr val="F0E6E8"/>
            </a:solidFill>
            <a:prstDash val="solid"/>
          </a:ln>
        </p:spPr>
        <p:txBody>
          <a:bodyPr/>
          <a:lstStyle/>
          <a:p>
            <a:endParaRPr lang="en-US"/>
          </a:p>
        </p:txBody>
      </p:sp>
      <p:sp>
        <p:nvSpPr>
          <p:cNvPr id="35" name="Text 33"/>
          <p:cNvSpPr txBox="1"/>
          <p:nvPr/>
        </p:nvSpPr>
        <p:spPr>
          <a:xfrm>
            <a:off x="749808" y="4562856"/>
            <a:ext cx="3291840" cy="274320"/>
          </a:xfrm>
          <a:prstGeom prst="rect">
            <a:avLst/>
          </a:prstGeom>
          <a:noFill/>
          <a:ln/>
        </p:spPr>
        <p:txBody>
          <a:bodyPr wrap="square" lIns="0" tIns="0" rIns="0" bIns="0" rtlCol="0" anchor="ctr"/>
          <a:lstStyle/>
          <a:p>
            <a:pPr marL="0" indent="0">
              <a:buNone/>
            </a:pPr>
            <a:r>
              <a:rPr lang="en-US" sz="1130" b="1" dirty="0">
                <a:solidFill>
                  <a:srgbClr val="241619"/>
                </a:solidFill>
                <a:latin typeface="Calibri" pitchFamily="34" charset="0"/>
                <a:ea typeface="Calibri" pitchFamily="34" charset="-122"/>
                <a:cs typeface="Calibri" pitchFamily="34" charset="-120"/>
              </a:rPr>
              <a:t>Safety net</a:t>
            </a:r>
            <a:endParaRPr lang="en-US" sz="1130" dirty="0"/>
          </a:p>
        </p:txBody>
      </p:sp>
      <p:sp>
        <p:nvSpPr>
          <p:cNvPr id="36" name="Text 34"/>
          <p:cNvSpPr txBox="1"/>
          <p:nvPr/>
        </p:nvSpPr>
        <p:spPr>
          <a:xfrm>
            <a:off x="4206240" y="4562856"/>
            <a:ext cx="3566160" cy="274320"/>
          </a:xfrm>
          <a:prstGeom prst="rect">
            <a:avLst/>
          </a:prstGeom>
          <a:noFill/>
          <a:ln/>
        </p:spPr>
        <p:txBody>
          <a:bodyPr wrap="square" lIns="0" tIns="0" rIns="0" bIns="0" rtlCol="0" anchor="ctr"/>
          <a:lstStyle/>
          <a:p>
            <a:pPr marL="0" indent="0">
              <a:buNone/>
            </a:pPr>
            <a:r>
              <a:rPr lang="en-US" sz="1130" dirty="0">
                <a:solidFill>
                  <a:srgbClr val="352428"/>
                </a:solidFill>
                <a:latin typeface="Calibri" pitchFamily="34" charset="0"/>
                <a:ea typeface="Calibri" pitchFamily="34" charset="-122"/>
                <a:cs typeface="Calibri" pitchFamily="34" charset="-120"/>
              </a:rPr>
              <a:t>None — the model is modified</a:t>
            </a:r>
            <a:endParaRPr lang="en-US" sz="1130" dirty="0"/>
          </a:p>
        </p:txBody>
      </p:sp>
      <p:sp>
        <p:nvSpPr>
          <p:cNvPr id="37" name="Text 35"/>
          <p:cNvSpPr txBox="1"/>
          <p:nvPr/>
        </p:nvSpPr>
        <p:spPr>
          <a:xfrm>
            <a:off x="7955280" y="4562856"/>
            <a:ext cx="3657600" cy="274320"/>
          </a:xfrm>
          <a:prstGeom prst="rect">
            <a:avLst/>
          </a:prstGeom>
          <a:noFill/>
          <a:ln/>
        </p:spPr>
        <p:txBody>
          <a:bodyPr wrap="square" lIns="0" tIns="0" rIns="0" bIns="0" rtlCol="0" anchor="ctr"/>
          <a:lstStyle/>
          <a:p>
            <a:pPr marL="0" indent="0">
              <a:buNone/>
            </a:pPr>
            <a:r>
              <a:rPr lang="en-US" sz="1130" dirty="0">
                <a:solidFill>
                  <a:srgbClr val="352428"/>
                </a:solidFill>
                <a:latin typeface="Calibri" pitchFamily="34" charset="0"/>
                <a:ea typeface="Calibri" pitchFamily="34" charset="-122"/>
                <a:cs typeface="Calibri" pitchFamily="34" charset="-120"/>
              </a:rPr>
              <a:t>α = 0.2 keeps the frozen classifier dominant</a:t>
            </a:r>
            <a:endParaRPr lang="en-US" sz="1130" dirty="0"/>
          </a:p>
        </p:txBody>
      </p:sp>
      <p:sp>
        <p:nvSpPr>
          <p:cNvPr id="38" name="Shape 36"/>
          <p:cNvSpPr/>
          <p:nvPr/>
        </p:nvSpPr>
        <p:spPr>
          <a:xfrm>
            <a:off x="566928" y="4956048"/>
            <a:ext cx="11064240" cy="438912"/>
          </a:xfrm>
          <a:prstGeom prst="roundRect">
            <a:avLst>
              <a:gd name="adj" fmla="val 4167"/>
            </a:avLst>
          </a:prstGeom>
          <a:solidFill>
            <a:srgbClr val="FFFFFF"/>
          </a:solidFill>
          <a:ln w="12700">
            <a:solidFill>
              <a:srgbClr val="F0E6E8"/>
            </a:solidFill>
            <a:prstDash val="solid"/>
          </a:ln>
        </p:spPr>
        <p:txBody>
          <a:bodyPr/>
          <a:lstStyle/>
          <a:p>
            <a:endParaRPr lang="en-US"/>
          </a:p>
        </p:txBody>
      </p:sp>
      <p:sp>
        <p:nvSpPr>
          <p:cNvPr id="39" name="Text 37"/>
          <p:cNvSpPr txBox="1"/>
          <p:nvPr/>
        </p:nvSpPr>
        <p:spPr>
          <a:xfrm>
            <a:off x="749808" y="5038344"/>
            <a:ext cx="3291840" cy="274320"/>
          </a:xfrm>
          <a:prstGeom prst="rect">
            <a:avLst/>
          </a:prstGeom>
          <a:noFill/>
          <a:ln/>
        </p:spPr>
        <p:txBody>
          <a:bodyPr wrap="square" lIns="0" tIns="0" rIns="0" bIns="0" rtlCol="0" anchor="ctr"/>
          <a:lstStyle/>
          <a:p>
            <a:pPr marL="0" indent="0">
              <a:buNone/>
            </a:pPr>
            <a:r>
              <a:rPr lang="en-US" sz="1130" b="1" dirty="0">
                <a:solidFill>
                  <a:srgbClr val="241619"/>
                </a:solidFill>
                <a:latin typeface="Calibri" pitchFamily="34" charset="0"/>
                <a:ea typeface="Calibri" pitchFamily="34" charset="-122"/>
                <a:cs typeface="Calibri" pitchFamily="34" charset="-120"/>
              </a:rPr>
              <a:t>Domain</a:t>
            </a:r>
            <a:endParaRPr lang="en-US" sz="1130" dirty="0"/>
          </a:p>
        </p:txBody>
      </p:sp>
      <p:sp>
        <p:nvSpPr>
          <p:cNvPr id="40" name="Text 38"/>
          <p:cNvSpPr txBox="1"/>
          <p:nvPr/>
        </p:nvSpPr>
        <p:spPr>
          <a:xfrm>
            <a:off x="4206240" y="5038344"/>
            <a:ext cx="3566160" cy="274320"/>
          </a:xfrm>
          <a:prstGeom prst="rect">
            <a:avLst/>
          </a:prstGeom>
          <a:noFill/>
          <a:ln/>
        </p:spPr>
        <p:txBody>
          <a:bodyPr wrap="square" lIns="0" tIns="0" rIns="0" bIns="0" rtlCol="0" anchor="ctr"/>
          <a:lstStyle/>
          <a:p>
            <a:pPr marL="0" indent="0">
              <a:buNone/>
            </a:pPr>
            <a:r>
              <a:rPr lang="en-US" sz="1130" dirty="0">
                <a:solidFill>
                  <a:srgbClr val="352428"/>
                </a:solidFill>
                <a:latin typeface="Calibri" pitchFamily="34" charset="0"/>
                <a:ea typeface="Calibri" pitchFamily="34" charset="-122"/>
                <a:cs typeface="Calibri" pitchFamily="34" charset="-120"/>
              </a:rPr>
              <a:t>Image corruption, digits, segmentation</a:t>
            </a:r>
            <a:endParaRPr lang="en-US" sz="1130" dirty="0"/>
          </a:p>
        </p:txBody>
      </p:sp>
      <p:sp>
        <p:nvSpPr>
          <p:cNvPr id="41" name="Text 39"/>
          <p:cNvSpPr txBox="1"/>
          <p:nvPr/>
        </p:nvSpPr>
        <p:spPr>
          <a:xfrm>
            <a:off x="7955280" y="5038344"/>
            <a:ext cx="3657600" cy="274320"/>
          </a:xfrm>
          <a:prstGeom prst="rect">
            <a:avLst/>
          </a:prstGeom>
          <a:noFill/>
          <a:ln/>
        </p:spPr>
        <p:txBody>
          <a:bodyPr wrap="square" lIns="0" tIns="0" rIns="0" bIns="0" rtlCol="0" anchor="ctr"/>
          <a:lstStyle/>
          <a:p>
            <a:pPr marL="0" indent="0">
              <a:buNone/>
            </a:pPr>
            <a:r>
              <a:rPr lang="en-US" sz="1130" dirty="0">
                <a:solidFill>
                  <a:srgbClr val="352428"/>
                </a:solidFill>
                <a:latin typeface="Calibri" pitchFamily="34" charset="0"/>
                <a:ea typeface="Calibri" pitchFamily="34" charset="-122"/>
                <a:cs typeface="Calibri" pitchFamily="34" charset="-120"/>
              </a:rPr>
              <a:t>Cross-corpus speech emotion</a:t>
            </a:r>
            <a:endParaRPr lang="en-US" sz="1130" dirty="0"/>
          </a:p>
        </p:txBody>
      </p:sp>
      <p:sp>
        <p:nvSpPr>
          <p:cNvPr id="42" name="Shape 40"/>
          <p:cNvSpPr/>
          <p:nvPr/>
        </p:nvSpPr>
        <p:spPr>
          <a:xfrm>
            <a:off x="566928" y="5431536"/>
            <a:ext cx="11064240" cy="438912"/>
          </a:xfrm>
          <a:prstGeom prst="roundRect">
            <a:avLst>
              <a:gd name="adj" fmla="val 4167"/>
            </a:avLst>
          </a:prstGeom>
          <a:solidFill>
            <a:srgbClr val="FBF4E4"/>
          </a:solidFill>
          <a:ln w="12700">
            <a:solidFill>
              <a:srgbClr val="B8871F"/>
            </a:solidFill>
            <a:prstDash val="solid"/>
          </a:ln>
        </p:spPr>
        <p:txBody>
          <a:bodyPr/>
          <a:lstStyle/>
          <a:p>
            <a:endParaRPr lang="en-US"/>
          </a:p>
        </p:txBody>
      </p:sp>
      <p:sp>
        <p:nvSpPr>
          <p:cNvPr id="43" name="Text 41"/>
          <p:cNvSpPr txBox="1"/>
          <p:nvPr/>
        </p:nvSpPr>
        <p:spPr>
          <a:xfrm>
            <a:off x="749808" y="5513832"/>
            <a:ext cx="3291840" cy="274320"/>
          </a:xfrm>
          <a:prstGeom prst="rect">
            <a:avLst/>
          </a:prstGeom>
          <a:noFill/>
          <a:ln/>
        </p:spPr>
        <p:txBody>
          <a:bodyPr wrap="square" lIns="0" tIns="0" rIns="0" bIns="0" rtlCol="0" anchor="ctr"/>
          <a:lstStyle/>
          <a:p>
            <a:pPr marL="0" indent="0">
              <a:buNone/>
            </a:pPr>
            <a:r>
              <a:rPr lang="en-US" sz="1130" b="1" dirty="0">
                <a:solidFill>
                  <a:srgbClr val="241619"/>
                </a:solidFill>
                <a:latin typeface="Calibri" pitchFamily="34" charset="0"/>
                <a:ea typeface="Calibri" pitchFamily="34" charset="-122"/>
                <a:cs typeface="Calibri" pitchFamily="34" charset="-120"/>
              </a:rPr>
              <a:t>Shared premise</a:t>
            </a:r>
            <a:endParaRPr lang="en-US" sz="1130" dirty="0"/>
          </a:p>
        </p:txBody>
      </p:sp>
      <p:sp>
        <p:nvSpPr>
          <p:cNvPr id="44" name="Text 42"/>
          <p:cNvSpPr txBox="1"/>
          <p:nvPr/>
        </p:nvSpPr>
        <p:spPr>
          <a:xfrm>
            <a:off x="4206240" y="5513832"/>
            <a:ext cx="3566160" cy="274320"/>
          </a:xfrm>
          <a:prstGeom prst="rect">
            <a:avLst/>
          </a:prstGeom>
          <a:noFill/>
          <a:ln/>
        </p:spPr>
        <p:txBody>
          <a:bodyPr wrap="square" lIns="0" tIns="0" rIns="0" bIns="0" rtlCol="0" anchor="ctr"/>
          <a:lstStyle/>
          <a:p>
            <a:pPr marL="0" indent="0">
              <a:buNone/>
            </a:pPr>
            <a:r>
              <a:rPr lang="en-US" sz="1130" dirty="0">
                <a:solidFill>
                  <a:srgbClr val="352428"/>
                </a:solidFill>
                <a:latin typeface="Calibri" pitchFamily="34" charset="0"/>
                <a:ea typeface="Calibri" pitchFamily="34" charset="-122"/>
                <a:cs typeface="Calibri" pitchFamily="34" charset="-120"/>
              </a:rPr>
              <a:t>The model's own confidence is usable supervision</a:t>
            </a:r>
            <a:endParaRPr lang="en-US" sz="1130" dirty="0"/>
          </a:p>
        </p:txBody>
      </p:sp>
      <p:sp>
        <p:nvSpPr>
          <p:cNvPr id="45" name="Text 43"/>
          <p:cNvSpPr txBox="1"/>
          <p:nvPr/>
        </p:nvSpPr>
        <p:spPr>
          <a:xfrm>
            <a:off x="7955280" y="5513832"/>
            <a:ext cx="3657600" cy="274320"/>
          </a:xfrm>
          <a:prstGeom prst="rect">
            <a:avLst/>
          </a:prstGeom>
          <a:noFill/>
          <a:ln/>
        </p:spPr>
        <p:txBody>
          <a:bodyPr wrap="square" lIns="0" tIns="0" rIns="0" bIns="0" rtlCol="0" anchor="ctr"/>
          <a:lstStyle/>
          <a:p>
            <a:pPr marL="0" indent="0">
              <a:buNone/>
            </a:pPr>
            <a:r>
              <a:rPr lang="en-US" sz="1130" dirty="0">
                <a:solidFill>
                  <a:srgbClr val="352428"/>
                </a:solidFill>
                <a:latin typeface="Calibri" pitchFamily="34" charset="0"/>
                <a:ea typeface="Calibri" pitchFamily="34" charset="-122"/>
                <a:cs typeface="Calibri" pitchFamily="34" charset="-120"/>
              </a:rPr>
              <a:t>The model's own confidence is usable supervision</a:t>
            </a:r>
            <a:endParaRPr lang="en-US" sz="1130" dirty="0"/>
          </a:p>
        </p:txBody>
      </p:sp>
      <p:sp>
        <p:nvSpPr>
          <p:cNvPr id="46" name="Text 44"/>
          <p:cNvSpPr txBox="1"/>
          <p:nvPr/>
        </p:nvSpPr>
        <p:spPr>
          <a:xfrm>
            <a:off x="566928" y="5870448"/>
            <a:ext cx="11064240" cy="274320"/>
          </a:xfrm>
          <a:prstGeom prst="rect">
            <a:avLst/>
          </a:prstGeom>
          <a:noFill/>
          <a:ln/>
        </p:spPr>
        <p:txBody>
          <a:bodyPr wrap="square" lIns="0" tIns="0" rIns="0" bIns="0" rtlCol="0" anchor="ctr"/>
          <a:lstStyle/>
          <a:p>
            <a:pPr marL="0" indent="0">
              <a:buNone/>
            </a:pPr>
            <a:r>
              <a:rPr lang="en-US" sz="1150" i="1" dirty="0">
                <a:solidFill>
                  <a:srgbClr val="6E5156"/>
                </a:solidFill>
                <a:latin typeface="Calibri" pitchFamily="34" charset="0"/>
                <a:ea typeface="Calibri" pitchFamily="34" charset="-122"/>
                <a:cs typeface="Calibri" pitchFamily="34" charset="-120"/>
              </a:rPr>
              <a:t>The highlighted row is what both papers rest on; everything above it is a different answer to how to use it.</a:t>
            </a:r>
            <a:endParaRPr lang="en-US" sz="11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045952" y="457200"/>
            <a:ext cx="420624" cy="274320"/>
          </a:xfrm>
          <a:prstGeom prst="ellipse">
            <a:avLst/>
          </a:prstGeom>
          <a:ln w="16510">
            <a:solidFill>
              <a:srgbClr val="8A4A52"/>
            </a:solidFill>
            <a:prstDash val="solid"/>
          </a:ln>
        </p:spPr>
        <p:txBody>
          <a:bodyPr/>
          <a:lstStyle/>
          <a:p>
            <a:endParaRPr lang="en-US"/>
          </a:p>
        </p:txBody>
      </p:sp>
      <p:sp>
        <p:nvSpPr>
          <p:cNvPr id="3" name="Shape 1"/>
          <p:cNvSpPr/>
          <p:nvPr/>
        </p:nvSpPr>
        <p:spPr>
          <a:xfrm>
            <a:off x="11164824" y="539496"/>
            <a:ext cx="82296" cy="82296"/>
          </a:xfrm>
          <a:prstGeom prst="ellipse">
            <a:avLst/>
          </a:prstGeom>
          <a:solidFill>
            <a:srgbClr val="B8871F"/>
          </a:solidFill>
          <a:ln w="12700">
            <a:solidFill>
              <a:srgbClr val="333333"/>
            </a:solidFill>
            <a:prstDash val="solid"/>
          </a:ln>
        </p:spPr>
        <p:txBody>
          <a:bodyPr/>
          <a:lstStyle/>
          <a:p>
            <a:endParaRPr lang="en-US"/>
          </a:p>
        </p:txBody>
      </p:sp>
      <p:sp>
        <p:nvSpPr>
          <p:cNvPr id="4" name="Shape 2"/>
          <p:cNvSpPr/>
          <p:nvPr/>
        </p:nvSpPr>
        <p:spPr>
          <a:xfrm>
            <a:off x="11292840" y="585216"/>
            <a:ext cx="64008" cy="64008"/>
          </a:xfrm>
          <a:prstGeom prst="ellipse">
            <a:avLst/>
          </a:prstGeom>
          <a:solidFill>
            <a:srgbClr val="B08A8E"/>
          </a:solidFill>
          <a:ln w="12700">
            <a:solidFill>
              <a:srgbClr val="333333"/>
            </a:solidFill>
            <a:prstDash val="solid"/>
          </a:ln>
        </p:spPr>
        <p:txBody>
          <a:bodyPr/>
          <a:lstStyle/>
          <a:p>
            <a:endParaRPr lang="en-US"/>
          </a:p>
        </p:txBody>
      </p:sp>
      <p:sp>
        <p:nvSpPr>
          <p:cNvPr id="5" name="Text 3"/>
          <p:cNvSpPr txBox="1"/>
          <p:nvPr/>
        </p:nvSpPr>
        <p:spPr>
          <a:xfrm>
            <a:off x="548640" y="384048"/>
            <a:ext cx="10332720" cy="566928"/>
          </a:xfrm>
          <a:prstGeom prst="rect">
            <a:avLst/>
          </a:prstGeom>
          <a:noFill/>
          <a:ln/>
        </p:spPr>
        <p:txBody>
          <a:bodyPr wrap="square" lIns="0" tIns="0" rIns="0" bIns="0" rtlCol="0" anchor="t"/>
          <a:lstStyle/>
          <a:p>
            <a:pPr marL="0" indent="0">
              <a:buNone/>
            </a:pPr>
            <a:r>
              <a:rPr lang="en-US" sz="2900" b="1" dirty="0">
                <a:solidFill>
                  <a:srgbClr val="241619"/>
                </a:solidFill>
                <a:latin typeface="Cambria" pitchFamily="34" charset="0"/>
                <a:ea typeface="Cambria" pitchFamily="34" charset="-122"/>
                <a:cs typeface="Cambria" pitchFamily="34" charset="-120"/>
              </a:rPr>
              <a:t>Take-aways</a:t>
            </a:r>
            <a:endParaRPr lang="en-US" sz="2900" dirty="0"/>
          </a:p>
        </p:txBody>
      </p:sp>
      <p:sp>
        <p:nvSpPr>
          <p:cNvPr id="6" name="Text 4"/>
          <p:cNvSpPr txBox="1"/>
          <p:nvPr/>
        </p:nvSpPr>
        <p:spPr>
          <a:xfrm>
            <a:off x="548640" y="969264"/>
            <a:ext cx="10332720" cy="329184"/>
          </a:xfrm>
          <a:prstGeom prst="rect">
            <a:avLst/>
          </a:prstGeom>
          <a:noFill/>
          <a:ln/>
        </p:spPr>
        <p:txBody>
          <a:bodyPr wrap="square" lIns="0" tIns="0" rIns="0" bIns="0" rtlCol="0" anchor="ctr"/>
          <a:lstStyle/>
          <a:p>
            <a:pPr marL="0" indent="0">
              <a:buNone/>
            </a:pPr>
            <a:r>
              <a:rPr lang="en-US" sz="1350" i="1" dirty="0">
                <a:solidFill>
                  <a:srgbClr val="6E5156"/>
                </a:solidFill>
                <a:latin typeface="Calibri" pitchFamily="34" charset="0"/>
                <a:ea typeface="Calibri" pitchFamily="34" charset="-122"/>
                <a:cs typeface="Calibri" pitchFamily="34" charset="-120"/>
              </a:rPr>
              <a:t>Four things to carry out of the session</a:t>
            </a:r>
            <a:endParaRPr lang="en-US" sz="1350" dirty="0"/>
          </a:p>
        </p:txBody>
      </p:sp>
      <p:sp>
        <p:nvSpPr>
          <p:cNvPr id="7" name="Text 5"/>
          <p:cNvSpPr txBox="1"/>
          <p:nvPr/>
        </p:nvSpPr>
        <p:spPr>
          <a:xfrm>
            <a:off x="9418320" y="6382512"/>
            <a:ext cx="2221992" cy="274320"/>
          </a:xfrm>
          <a:prstGeom prst="rect">
            <a:avLst/>
          </a:prstGeom>
          <a:noFill/>
          <a:ln/>
        </p:spPr>
        <p:txBody>
          <a:bodyPr wrap="square" lIns="0" tIns="0" rIns="0" bIns="0" rtlCol="0" anchor="ctr"/>
          <a:lstStyle/>
          <a:p>
            <a:pPr marL="0" indent="0" algn="r">
              <a:buNone/>
            </a:pPr>
            <a:r>
              <a:rPr lang="en-US" sz="900" dirty="0">
                <a:solidFill>
                  <a:srgbClr val="B59CA0"/>
                </a:solidFill>
                <a:latin typeface="Calibri" pitchFamily="34" charset="0"/>
                <a:ea typeface="Calibri" pitchFamily="34" charset="-122"/>
                <a:cs typeface="Calibri" pitchFamily="34" charset="-120"/>
              </a:rPr>
              <a:t>Emo-TTA · Shi et al. 2026  |  24</a:t>
            </a:r>
            <a:endParaRPr lang="en-US" sz="900" dirty="0"/>
          </a:p>
        </p:txBody>
      </p:sp>
      <p:sp>
        <p:nvSpPr>
          <p:cNvPr id="8" name="Shape 6"/>
          <p:cNvSpPr/>
          <p:nvPr/>
        </p:nvSpPr>
        <p:spPr>
          <a:xfrm>
            <a:off x="566928" y="1572768"/>
            <a:ext cx="11064240" cy="1005840"/>
          </a:xfrm>
          <a:prstGeom prst="roundRect">
            <a:avLst>
              <a:gd name="adj" fmla="val 4545"/>
            </a:avLst>
          </a:prstGeom>
          <a:solidFill>
            <a:srgbClr val="F7F1F2"/>
          </a:solidFill>
          <a:ln w="12700">
            <a:solidFill>
              <a:srgbClr val="EDE0E2"/>
            </a:solidFill>
            <a:prstDash val="solid"/>
          </a:ln>
        </p:spPr>
        <p:txBody>
          <a:bodyPr/>
          <a:lstStyle/>
          <a:p>
            <a:endParaRPr lang="en-US"/>
          </a:p>
        </p:txBody>
      </p:sp>
      <p:sp>
        <p:nvSpPr>
          <p:cNvPr id="9" name="Shape 7"/>
          <p:cNvSpPr/>
          <p:nvPr/>
        </p:nvSpPr>
        <p:spPr>
          <a:xfrm>
            <a:off x="822960" y="1901952"/>
            <a:ext cx="347472" cy="347472"/>
          </a:xfrm>
          <a:prstGeom prst="ellipse">
            <a:avLst/>
          </a:prstGeom>
          <a:solidFill>
            <a:srgbClr val="8A4A52"/>
          </a:solidFill>
          <a:ln w="12700">
            <a:solidFill>
              <a:srgbClr val="333333"/>
            </a:solidFill>
            <a:prstDash val="solid"/>
          </a:ln>
        </p:spPr>
        <p:txBody>
          <a:bodyPr/>
          <a:lstStyle/>
          <a:p>
            <a:endParaRPr lang="en-US"/>
          </a:p>
        </p:txBody>
      </p:sp>
      <p:sp>
        <p:nvSpPr>
          <p:cNvPr id="10" name="Text 8"/>
          <p:cNvSpPr txBox="1"/>
          <p:nvPr/>
        </p:nvSpPr>
        <p:spPr>
          <a:xfrm>
            <a:off x="822960" y="1929384"/>
            <a:ext cx="347472" cy="29260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11" name="Text 9"/>
          <p:cNvSpPr txBox="1"/>
          <p:nvPr/>
        </p:nvSpPr>
        <p:spPr>
          <a:xfrm>
            <a:off x="1335024" y="1719072"/>
            <a:ext cx="4114800" cy="731520"/>
          </a:xfrm>
          <a:prstGeom prst="rect">
            <a:avLst/>
          </a:prstGeom>
          <a:noFill/>
          <a:ln/>
        </p:spPr>
        <p:txBody>
          <a:bodyPr wrap="square" lIns="0" tIns="0" rIns="0" bIns="0" rtlCol="0" anchor="ctr"/>
          <a:lstStyle/>
          <a:p>
            <a:pPr marL="0" indent="0">
              <a:buNone/>
            </a:pPr>
            <a:r>
              <a:rPr lang="en-US" sz="1300" b="1" dirty="0">
                <a:solidFill>
                  <a:srgbClr val="241619"/>
                </a:solidFill>
                <a:latin typeface="Cambria" pitchFamily="34" charset="0"/>
                <a:ea typeface="Cambria" pitchFamily="34" charset="-122"/>
                <a:cs typeface="Cambria" pitchFamily="34" charset="-120"/>
              </a:rPr>
              <a:t>Adaptation need not be optimisation</a:t>
            </a:r>
            <a:endParaRPr lang="en-US" sz="1300" dirty="0"/>
          </a:p>
        </p:txBody>
      </p:sp>
      <p:sp>
        <p:nvSpPr>
          <p:cNvPr id="12" name="Text 10"/>
          <p:cNvSpPr txBox="1"/>
          <p:nvPr/>
        </p:nvSpPr>
        <p:spPr>
          <a:xfrm>
            <a:off x="5623560" y="1700784"/>
            <a:ext cx="5852160" cy="768096"/>
          </a:xfrm>
          <a:prstGeom prst="rect">
            <a:avLst/>
          </a:prstGeom>
          <a:noFill/>
          <a:ln/>
        </p:spPr>
        <p:txBody>
          <a:bodyPr wrap="square" lIns="0" tIns="0" rIns="0" bIns="0" rtlCol="0" anchor="ctr"/>
          <a:lstStyle/>
          <a:p>
            <a:pPr marL="0" indent="0">
              <a:buNone/>
            </a:pPr>
            <a:r>
              <a:rPr lang="en-US" sz="1200" dirty="0">
                <a:solidFill>
                  <a:srgbClr val="352428"/>
                </a:solidFill>
                <a:latin typeface="Calibri" pitchFamily="34" charset="0"/>
                <a:ea typeface="Calibri" pitchFamily="34" charset="-122"/>
                <a:cs typeface="Calibri" pitchFamily="34" charset="-120"/>
              </a:rPr>
              <a:t>Estimation works too. A closed-form EM update gives single-sample, gradient-free adaptation where an entropy loss structurally cannot.</a:t>
            </a:r>
            <a:endParaRPr lang="en-US" sz="1200" dirty="0"/>
          </a:p>
        </p:txBody>
      </p:sp>
      <p:sp>
        <p:nvSpPr>
          <p:cNvPr id="13" name="Shape 11"/>
          <p:cNvSpPr/>
          <p:nvPr/>
        </p:nvSpPr>
        <p:spPr>
          <a:xfrm>
            <a:off x="566928" y="2651760"/>
            <a:ext cx="11064240" cy="1005840"/>
          </a:xfrm>
          <a:prstGeom prst="roundRect">
            <a:avLst>
              <a:gd name="adj" fmla="val 4545"/>
            </a:avLst>
          </a:prstGeom>
          <a:solidFill>
            <a:srgbClr val="FFFFFF"/>
          </a:solidFill>
          <a:ln w="12700">
            <a:solidFill>
              <a:srgbClr val="EDE0E2"/>
            </a:solidFill>
            <a:prstDash val="solid"/>
          </a:ln>
        </p:spPr>
        <p:txBody>
          <a:bodyPr/>
          <a:lstStyle/>
          <a:p>
            <a:endParaRPr lang="en-US"/>
          </a:p>
        </p:txBody>
      </p:sp>
      <p:sp>
        <p:nvSpPr>
          <p:cNvPr id="14" name="Shape 12"/>
          <p:cNvSpPr/>
          <p:nvPr/>
        </p:nvSpPr>
        <p:spPr>
          <a:xfrm>
            <a:off x="822960" y="2980944"/>
            <a:ext cx="347472" cy="347472"/>
          </a:xfrm>
          <a:prstGeom prst="ellipse">
            <a:avLst/>
          </a:prstGeom>
          <a:solidFill>
            <a:srgbClr val="8A4A52"/>
          </a:solidFill>
          <a:ln w="12700">
            <a:solidFill>
              <a:srgbClr val="333333"/>
            </a:solidFill>
            <a:prstDash val="solid"/>
          </a:ln>
        </p:spPr>
        <p:txBody>
          <a:bodyPr/>
          <a:lstStyle/>
          <a:p>
            <a:endParaRPr lang="en-US"/>
          </a:p>
        </p:txBody>
      </p:sp>
      <p:sp>
        <p:nvSpPr>
          <p:cNvPr id="15" name="Text 13"/>
          <p:cNvSpPr txBox="1"/>
          <p:nvPr/>
        </p:nvSpPr>
        <p:spPr>
          <a:xfrm>
            <a:off x="822960" y="3008376"/>
            <a:ext cx="347472" cy="29260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6" name="Text 14"/>
          <p:cNvSpPr txBox="1"/>
          <p:nvPr/>
        </p:nvSpPr>
        <p:spPr>
          <a:xfrm>
            <a:off x="1335024" y="2798064"/>
            <a:ext cx="4114800" cy="731520"/>
          </a:xfrm>
          <a:prstGeom prst="rect">
            <a:avLst/>
          </a:prstGeom>
          <a:noFill/>
          <a:ln/>
        </p:spPr>
        <p:txBody>
          <a:bodyPr wrap="square" lIns="0" tIns="0" rIns="0" bIns="0" rtlCol="0" anchor="ctr"/>
          <a:lstStyle/>
          <a:p>
            <a:pPr marL="0" indent="0">
              <a:buNone/>
            </a:pPr>
            <a:r>
              <a:rPr lang="en-US" sz="1300" b="1" dirty="0">
                <a:solidFill>
                  <a:srgbClr val="241619"/>
                </a:solidFill>
                <a:latin typeface="Cambria" pitchFamily="34" charset="0"/>
                <a:ea typeface="Cambria" pitchFamily="34" charset="-122"/>
                <a:cs typeface="Cambria" pitchFamily="34" charset="-120"/>
              </a:rPr>
              <a:t>Confidence is better as a weight than a target</a:t>
            </a:r>
            <a:endParaRPr lang="en-US" sz="1300" dirty="0"/>
          </a:p>
        </p:txBody>
      </p:sp>
      <p:sp>
        <p:nvSpPr>
          <p:cNvPr id="17" name="Text 15"/>
          <p:cNvSpPr txBox="1"/>
          <p:nvPr/>
        </p:nvSpPr>
        <p:spPr>
          <a:xfrm>
            <a:off x="5623560" y="2779776"/>
            <a:ext cx="5852160" cy="768096"/>
          </a:xfrm>
          <a:prstGeom prst="rect">
            <a:avLst/>
          </a:prstGeom>
          <a:noFill/>
          <a:ln/>
        </p:spPr>
        <p:txBody>
          <a:bodyPr wrap="square" lIns="0" tIns="0" rIns="0" bIns="0" rtlCol="0" anchor="ctr"/>
          <a:lstStyle/>
          <a:p>
            <a:pPr marL="0" indent="0">
              <a:buNone/>
            </a:pPr>
            <a:r>
              <a:rPr lang="en-US" sz="1200" dirty="0">
                <a:solidFill>
                  <a:srgbClr val="352428"/>
                </a:solidFill>
                <a:latin typeface="Calibri" pitchFamily="34" charset="0"/>
                <a:ea typeface="Calibri" pitchFamily="34" charset="-122"/>
                <a:cs typeface="Calibri" pitchFamily="34" charset="-120"/>
              </a:rPr>
              <a:t>Entropy as a loss amplifies confident errors. Entropy as a reliability weight uses the same signal without compounding the mistake.</a:t>
            </a:r>
            <a:endParaRPr lang="en-US" sz="1200" dirty="0"/>
          </a:p>
        </p:txBody>
      </p:sp>
      <p:sp>
        <p:nvSpPr>
          <p:cNvPr id="18" name="Shape 16"/>
          <p:cNvSpPr/>
          <p:nvPr/>
        </p:nvSpPr>
        <p:spPr>
          <a:xfrm>
            <a:off x="566928" y="3730752"/>
            <a:ext cx="11064240" cy="1005840"/>
          </a:xfrm>
          <a:prstGeom prst="roundRect">
            <a:avLst>
              <a:gd name="adj" fmla="val 4545"/>
            </a:avLst>
          </a:prstGeom>
          <a:solidFill>
            <a:srgbClr val="F7F1F2"/>
          </a:solidFill>
          <a:ln w="12700">
            <a:solidFill>
              <a:srgbClr val="EDE0E2"/>
            </a:solidFill>
            <a:prstDash val="solid"/>
          </a:ln>
        </p:spPr>
        <p:txBody>
          <a:bodyPr/>
          <a:lstStyle/>
          <a:p>
            <a:endParaRPr lang="en-US"/>
          </a:p>
        </p:txBody>
      </p:sp>
      <p:sp>
        <p:nvSpPr>
          <p:cNvPr id="19" name="Shape 17"/>
          <p:cNvSpPr/>
          <p:nvPr/>
        </p:nvSpPr>
        <p:spPr>
          <a:xfrm>
            <a:off x="822960" y="4059936"/>
            <a:ext cx="347472" cy="347472"/>
          </a:xfrm>
          <a:prstGeom prst="ellipse">
            <a:avLst/>
          </a:prstGeom>
          <a:solidFill>
            <a:srgbClr val="8A4A52"/>
          </a:solidFill>
          <a:ln w="12700">
            <a:solidFill>
              <a:srgbClr val="333333"/>
            </a:solidFill>
            <a:prstDash val="solid"/>
          </a:ln>
        </p:spPr>
        <p:txBody>
          <a:bodyPr/>
          <a:lstStyle/>
          <a:p>
            <a:endParaRPr lang="en-US"/>
          </a:p>
        </p:txBody>
      </p:sp>
      <p:sp>
        <p:nvSpPr>
          <p:cNvPr id="20" name="Text 18"/>
          <p:cNvSpPr txBox="1"/>
          <p:nvPr/>
        </p:nvSpPr>
        <p:spPr>
          <a:xfrm>
            <a:off x="822960" y="4087368"/>
            <a:ext cx="347472" cy="29260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21" name="Text 19"/>
          <p:cNvSpPr txBox="1"/>
          <p:nvPr/>
        </p:nvSpPr>
        <p:spPr>
          <a:xfrm>
            <a:off x="1335024" y="3877056"/>
            <a:ext cx="4114800" cy="731520"/>
          </a:xfrm>
          <a:prstGeom prst="rect">
            <a:avLst/>
          </a:prstGeom>
          <a:noFill/>
          <a:ln/>
        </p:spPr>
        <p:txBody>
          <a:bodyPr wrap="square" lIns="0" tIns="0" rIns="0" bIns="0" rtlCol="0" anchor="ctr"/>
          <a:lstStyle/>
          <a:p>
            <a:pPr marL="0" indent="0">
              <a:buNone/>
            </a:pPr>
            <a:r>
              <a:rPr lang="en-US" sz="1300" b="1" dirty="0">
                <a:solidFill>
                  <a:srgbClr val="241619"/>
                </a:solidFill>
                <a:latin typeface="Cambria" pitchFamily="34" charset="0"/>
                <a:ea typeface="Cambria" pitchFamily="34" charset="-122"/>
                <a:cs typeface="Cambria" pitchFamily="34" charset="-120"/>
              </a:rPr>
              <a:t>Check the metric, not just the prototypes</a:t>
            </a:r>
            <a:endParaRPr lang="en-US" sz="1300" dirty="0"/>
          </a:p>
        </p:txBody>
      </p:sp>
      <p:sp>
        <p:nvSpPr>
          <p:cNvPr id="22" name="Text 20"/>
          <p:cNvSpPr txBox="1"/>
          <p:nvPr/>
        </p:nvSpPr>
        <p:spPr>
          <a:xfrm>
            <a:off x="5623560" y="3858768"/>
            <a:ext cx="5852160" cy="768096"/>
          </a:xfrm>
          <a:prstGeom prst="rect">
            <a:avLst/>
          </a:prstGeom>
          <a:noFill/>
          <a:ln/>
        </p:spPr>
        <p:txBody>
          <a:bodyPr wrap="square" lIns="0" tIns="0" rIns="0" bIns="0" rtlCol="0" anchor="ctr"/>
          <a:lstStyle/>
          <a:p>
            <a:pPr marL="0" indent="0">
              <a:buNone/>
            </a:pPr>
            <a:r>
              <a:rPr lang="en-US" sz="1200" dirty="0">
                <a:solidFill>
                  <a:srgbClr val="352428"/>
                </a:solidFill>
                <a:latin typeface="Calibri" pitchFamily="34" charset="0"/>
                <a:ea typeface="Calibri" pitchFamily="34" charset="-122"/>
                <a:cs typeface="Calibri" pitchFamily="34" charset="-120"/>
              </a:rPr>
              <a:t>The covariance update contributes 6.41 points and the class means 1.65. Learning the shape of the space beat re-centring the classes.</a:t>
            </a:r>
            <a:endParaRPr lang="en-US" sz="1200" dirty="0"/>
          </a:p>
        </p:txBody>
      </p:sp>
      <p:sp>
        <p:nvSpPr>
          <p:cNvPr id="23" name="Shape 21"/>
          <p:cNvSpPr/>
          <p:nvPr/>
        </p:nvSpPr>
        <p:spPr>
          <a:xfrm>
            <a:off x="566928" y="4809744"/>
            <a:ext cx="11064240" cy="1005840"/>
          </a:xfrm>
          <a:prstGeom prst="roundRect">
            <a:avLst>
              <a:gd name="adj" fmla="val 4545"/>
            </a:avLst>
          </a:prstGeom>
          <a:solidFill>
            <a:srgbClr val="FFFFFF"/>
          </a:solidFill>
          <a:ln w="12700">
            <a:solidFill>
              <a:srgbClr val="EDE0E2"/>
            </a:solidFill>
            <a:prstDash val="solid"/>
          </a:ln>
        </p:spPr>
        <p:txBody>
          <a:bodyPr/>
          <a:lstStyle/>
          <a:p>
            <a:endParaRPr lang="en-US"/>
          </a:p>
        </p:txBody>
      </p:sp>
      <p:sp>
        <p:nvSpPr>
          <p:cNvPr id="24" name="Shape 22"/>
          <p:cNvSpPr/>
          <p:nvPr/>
        </p:nvSpPr>
        <p:spPr>
          <a:xfrm>
            <a:off x="822960" y="5138928"/>
            <a:ext cx="347472" cy="347472"/>
          </a:xfrm>
          <a:prstGeom prst="ellipse">
            <a:avLst/>
          </a:prstGeom>
          <a:solidFill>
            <a:srgbClr val="8A4A52"/>
          </a:solidFill>
          <a:ln w="12700">
            <a:solidFill>
              <a:srgbClr val="333333"/>
            </a:solidFill>
            <a:prstDash val="solid"/>
          </a:ln>
        </p:spPr>
        <p:txBody>
          <a:bodyPr/>
          <a:lstStyle/>
          <a:p>
            <a:endParaRPr lang="en-US"/>
          </a:p>
        </p:txBody>
      </p:sp>
      <p:sp>
        <p:nvSpPr>
          <p:cNvPr id="25" name="Text 23"/>
          <p:cNvSpPr txBox="1"/>
          <p:nvPr/>
        </p:nvSpPr>
        <p:spPr>
          <a:xfrm>
            <a:off x="822960" y="5166360"/>
            <a:ext cx="347472" cy="29260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26" name="Text 24"/>
          <p:cNvSpPr txBox="1"/>
          <p:nvPr/>
        </p:nvSpPr>
        <p:spPr>
          <a:xfrm>
            <a:off x="1335024" y="4956048"/>
            <a:ext cx="4114800" cy="731520"/>
          </a:xfrm>
          <a:prstGeom prst="rect">
            <a:avLst/>
          </a:prstGeom>
          <a:noFill/>
          <a:ln/>
        </p:spPr>
        <p:txBody>
          <a:bodyPr wrap="square" lIns="0" tIns="0" rIns="0" bIns="0" rtlCol="0" anchor="ctr"/>
          <a:lstStyle/>
          <a:p>
            <a:pPr marL="0" indent="0">
              <a:buNone/>
            </a:pPr>
            <a:r>
              <a:rPr lang="en-US" sz="1300" b="1" dirty="0">
                <a:solidFill>
                  <a:srgbClr val="241619"/>
                </a:solidFill>
                <a:latin typeface="Cambria" pitchFamily="34" charset="0"/>
                <a:ea typeface="Cambria" pitchFamily="34" charset="-122"/>
                <a:cs typeface="Cambria" pitchFamily="34" charset="-120"/>
              </a:rPr>
              <a:t>Check performance against chance</a:t>
            </a:r>
            <a:endParaRPr lang="en-US" sz="1300" dirty="0"/>
          </a:p>
        </p:txBody>
      </p:sp>
      <p:sp>
        <p:nvSpPr>
          <p:cNvPr id="27" name="Text 25"/>
          <p:cNvSpPr txBox="1"/>
          <p:nvPr/>
        </p:nvSpPr>
        <p:spPr>
          <a:xfrm>
            <a:off x="5623560" y="4937760"/>
            <a:ext cx="5852160" cy="768096"/>
          </a:xfrm>
          <a:prstGeom prst="rect">
            <a:avLst/>
          </a:prstGeom>
          <a:noFill/>
          <a:ln/>
        </p:spPr>
        <p:txBody>
          <a:bodyPr wrap="square" lIns="0" tIns="0" rIns="0" bIns="0" rtlCol="0" anchor="ctr"/>
          <a:lstStyle/>
          <a:p>
            <a:pPr marL="0" indent="0">
              <a:buNone/>
            </a:pPr>
            <a:r>
              <a:rPr lang="en-US" sz="1200" dirty="0">
                <a:solidFill>
                  <a:srgbClr val="352428"/>
                </a:solidFill>
                <a:latin typeface="Calibri" pitchFamily="34" charset="0"/>
                <a:ea typeface="Calibri" pitchFamily="34" charset="-122"/>
                <a:cs typeface="Calibri" pitchFamily="34" charset="-120"/>
              </a:rPr>
              <a:t>Every method on MELD scores below 25% on four classes. Improvements on a column where nothing beats chance are not interpretable.</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5">
    <p:bg>
      <p:bgPr>
        <a:solidFill>
          <a:srgbClr val="332226"/>
        </a:solidFill>
        <a:effectLst/>
      </p:bgPr>
    </p:bg>
    <p:spTree>
      <p:nvGrpSpPr>
        <p:cNvPr id="1" name=""/>
        <p:cNvGrpSpPr/>
        <p:nvPr/>
      </p:nvGrpSpPr>
      <p:grpSpPr>
        <a:xfrm>
          <a:off x="0" y="0"/>
          <a:ext cx="0" cy="0"/>
          <a:chOff x="0" y="0"/>
          <a:chExt cx="0" cy="0"/>
        </a:xfrm>
      </p:grpSpPr>
      <p:sp>
        <p:nvSpPr>
          <p:cNvPr id="2" name="Shape 0"/>
          <p:cNvSpPr/>
          <p:nvPr/>
        </p:nvSpPr>
        <p:spPr>
          <a:xfrm>
            <a:off x="10515600" y="676656"/>
            <a:ext cx="672998" cy="438912"/>
          </a:xfrm>
          <a:prstGeom prst="ellipse">
            <a:avLst/>
          </a:prstGeom>
          <a:ln w="16510">
            <a:solidFill>
              <a:srgbClr val="DFC4C7"/>
            </a:solidFill>
            <a:prstDash val="solid"/>
          </a:ln>
        </p:spPr>
        <p:txBody>
          <a:bodyPr/>
          <a:lstStyle/>
          <a:p>
            <a:endParaRPr lang="en-US"/>
          </a:p>
        </p:txBody>
      </p:sp>
      <p:sp>
        <p:nvSpPr>
          <p:cNvPr id="3" name="Shape 1"/>
          <p:cNvSpPr/>
          <p:nvPr/>
        </p:nvSpPr>
        <p:spPr>
          <a:xfrm>
            <a:off x="10705795" y="808330"/>
            <a:ext cx="131674" cy="131674"/>
          </a:xfrm>
          <a:prstGeom prst="ellipse">
            <a:avLst/>
          </a:prstGeom>
          <a:solidFill>
            <a:srgbClr val="B8871F"/>
          </a:solidFill>
          <a:ln w="12700">
            <a:solidFill>
              <a:srgbClr val="333333"/>
            </a:solidFill>
            <a:prstDash val="solid"/>
          </a:ln>
        </p:spPr>
        <p:txBody>
          <a:bodyPr/>
          <a:lstStyle/>
          <a:p>
            <a:endParaRPr lang="en-US"/>
          </a:p>
        </p:txBody>
      </p:sp>
      <p:sp>
        <p:nvSpPr>
          <p:cNvPr id="4" name="Shape 2"/>
          <p:cNvSpPr/>
          <p:nvPr/>
        </p:nvSpPr>
        <p:spPr>
          <a:xfrm>
            <a:off x="10910621" y="881482"/>
            <a:ext cx="102413" cy="102413"/>
          </a:xfrm>
          <a:prstGeom prst="ellipse">
            <a:avLst/>
          </a:prstGeom>
          <a:solidFill>
            <a:srgbClr val="C9A8AC"/>
          </a:solidFill>
          <a:ln w="12700">
            <a:solidFill>
              <a:srgbClr val="333333"/>
            </a:solidFill>
            <a:prstDash val="solid"/>
          </a:ln>
        </p:spPr>
        <p:txBody>
          <a:bodyPr/>
          <a:lstStyle/>
          <a:p>
            <a:endParaRPr lang="en-US"/>
          </a:p>
        </p:txBody>
      </p:sp>
      <p:sp>
        <p:nvSpPr>
          <p:cNvPr id="5" name="Text 3"/>
          <p:cNvSpPr txBox="1"/>
          <p:nvPr/>
        </p:nvSpPr>
        <p:spPr>
          <a:xfrm>
            <a:off x="822960" y="658368"/>
            <a:ext cx="10515600" cy="640080"/>
          </a:xfrm>
          <a:prstGeom prst="rect">
            <a:avLst/>
          </a:prstGeom>
          <a:noFill/>
          <a:ln/>
        </p:spPr>
        <p:txBody>
          <a:bodyPr wrap="square" lIns="0" tIns="0" rIns="0" bIns="0" rtlCol="0" anchor="ctr"/>
          <a:lstStyle/>
          <a:p>
            <a:pPr marL="0" indent="0">
              <a:buNone/>
            </a:pPr>
            <a:r>
              <a:rPr lang="en-US" sz="3100" b="1" dirty="0">
                <a:solidFill>
                  <a:srgbClr val="FFFFFF"/>
                </a:solidFill>
                <a:latin typeface="Cambria" pitchFamily="34" charset="0"/>
                <a:ea typeface="Cambria" pitchFamily="34" charset="-122"/>
                <a:cs typeface="Cambria" pitchFamily="34" charset="-120"/>
              </a:rPr>
              <a:t>Questions for discussion</a:t>
            </a:r>
            <a:endParaRPr lang="en-US" sz="3100" dirty="0"/>
          </a:p>
        </p:txBody>
      </p:sp>
      <p:sp>
        <p:nvSpPr>
          <p:cNvPr id="6" name="Shape 4"/>
          <p:cNvSpPr/>
          <p:nvPr/>
        </p:nvSpPr>
        <p:spPr>
          <a:xfrm>
            <a:off x="841248" y="1371600"/>
            <a:ext cx="329184" cy="329184"/>
          </a:xfrm>
          <a:prstGeom prst="ellipse">
            <a:avLst/>
          </a:prstGeom>
          <a:solidFill>
            <a:srgbClr val="B8871F"/>
          </a:solidFill>
          <a:ln w="12700">
            <a:solidFill>
              <a:srgbClr val="333333"/>
            </a:solidFill>
            <a:prstDash val="solid"/>
          </a:ln>
        </p:spPr>
        <p:txBody>
          <a:bodyPr/>
          <a:lstStyle/>
          <a:p>
            <a:endParaRPr lang="en-US"/>
          </a:p>
        </p:txBody>
      </p:sp>
      <p:sp>
        <p:nvSpPr>
          <p:cNvPr id="7" name="Text 5"/>
          <p:cNvSpPr txBox="1"/>
          <p:nvPr/>
        </p:nvSpPr>
        <p:spPr>
          <a:xfrm>
            <a:off x="841248" y="1399032"/>
            <a:ext cx="329184" cy="274320"/>
          </a:xfrm>
          <a:prstGeom prst="rect">
            <a:avLst/>
          </a:prstGeom>
          <a:noFill/>
          <a:ln/>
        </p:spPr>
        <p:txBody>
          <a:bodyPr wrap="square" lIns="0" tIns="0" rIns="0" bIns="0" rtlCol="0" anchor="ctr"/>
          <a:lstStyle/>
          <a:p>
            <a:pPr marL="0" indent="0" algn="ctr">
              <a:buNone/>
            </a:pPr>
            <a:r>
              <a:rPr lang="en-US" sz="1200" b="1" dirty="0">
                <a:solidFill>
                  <a:srgbClr val="332226"/>
                </a:solidFill>
                <a:latin typeface="Cambria" pitchFamily="34" charset="0"/>
                <a:ea typeface="Cambria" pitchFamily="34" charset="-122"/>
                <a:cs typeface="Cambria" pitchFamily="34" charset="-120"/>
              </a:rPr>
              <a:t>1</a:t>
            </a:r>
            <a:endParaRPr lang="en-US" sz="1200" dirty="0"/>
          </a:p>
        </p:txBody>
      </p:sp>
      <p:sp>
        <p:nvSpPr>
          <p:cNvPr id="8" name="Text 6"/>
          <p:cNvSpPr txBox="1"/>
          <p:nvPr/>
        </p:nvSpPr>
        <p:spPr>
          <a:xfrm>
            <a:off x="1353312" y="1316736"/>
            <a:ext cx="10058400" cy="969264"/>
          </a:xfrm>
          <a:prstGeom prst="rect">
            <a:avLst/>
          </a:prstGeom>
          <a:noFill/>
          <a:ln/>
        </p:spPr>
        <p:txBody>
          <a:bodyPr wrap="square" lIns="0" tIns="0" rIns="0" bIns="0" rtlCol="0" anchor="ctr"/>
          <a:lstStyle/>
          <a:p>
            <a:pPr marL="0" indent="0">
              <a:buNone/>
            </a:pPr>
            <a:r>
              <a:rPr lang="en-US" sz="1250" dirty="0">
                <a:solidFill>
                  <a:srgbClr val="DFC4C7"/>
                </a:solidFill>
                <a:latin typeface="Calibri" pitchFamily="34" charset="0"/>
                <a:ea typeface="Calibri" pitchFamily="34" charset="-122"/>
                <a:cs typeface="Calibri" pitchFamily="34" charset="-120"/>
              </a:rPr>
              <a:t>Every method on MELD scores below the 25% uniform-chance level for four classes. What should a paper do with a benchmark column like that — report it, separate it, or drop it?</a:t>
            </a:r>
            <a:endParaRPr lang="en-US" sz="1250" dirty="0"/>
          </a:p>
        </p:txBody>
      </p:sp>
      <p:sp>
        <p:nvSpPr>
          <p:cNvPr id="9" name="Shape 7"/>
          <p:cNvSpPr/>
          <p:nvPr/>
        </p:nvSpPr>
        <p:spPr>
          <a:xfrm>
            <a:off x="841248" y="2359152"/>
            <a:ext cx="329184" cy="329184"/>
          </a:xfrm>
          <a:prstGeom prst="ellipse">
            <a:avLst/>
          </a:prstGeom>
          <a:solidFill>
            <a:srgbClr val="B8871F"/>
          </a:solidFill>
          <a:ln w="12700">
            <a:solidFill>
              <a:srgbClr val="333333"/>
            </a:solidFill>
            <a:prstDash val="solid"/>
          </a:ln>
        </p:spPr>
        <p:txBody>
          <a:bodyPr/>
          <a:lstStyle/>
          <a:p>
            <a:endParaRPr lang="en-US"/>
          </a:p>
        </p:txBody>
      </p:sp>
      <p:sp>
        <p:nvSpPr>
          <p:cNvPr id="10" name="Text 8"/>
          <p:cNvSpPr txBox="1"/>
          <p:nvPr/>
        </p:nvSpPr>
        <p:spPr>
          <a:xfrm>
            <a:off x="841248" y="2386584"/>
            <a:ext cx="329184" cy="274320"/>
          </a:xfrm>
          <a:prstGeom prst="rect">
            <a:avLst/>
          </a:prstGeom>
          <a:noFill/>
          <a:ln/>
        </p:spPr>
        <p:txBody>
          <a:bodyPr wrap="square" lIns="0" tIns="0" rIns="0" bIns="0" rtlCol="0" anchor="ctr"/>
          <a:lstStyle/>
          <a:p>
            <a:pPr marL="0" indent="0" algn="ctr">
              <a:buNone/>
            </a:pPr>
            <a:r>
              <a:rPr lang="en-US" sz="1200" b="1" dirty="0">
                <a:solidFill>
                  <a:srgbClr val="332226"/>
                </a:solidFill>
                <a:latin typeface="Cambria" pitchFamily="34" charset="0"/>
                <a:ea typeface="Cambria" pitchFamily="34" charset="-122"/>
                <a:cs typeface="Cambria" pitchFamily="34" charset="-120"/>
              </a:rPr>
              <a:t>2</a:t>
            </a:r>
            <a:endParaRPr lang="en-US" sz="1200" dirty="0"/>
          </a:p>
        </p:txBody>
      </p:sp>
      <p:sp>
        <p:nvSpPr>
          <p:cNvPr id="11" name="Text 9"/>
          <p:cNvSpPr txBox="1"/>
          <p:nvPr/>
        </p:nvSpPr>
        <p:spPr>
          <a:xfrm>
            <a:off x="1353312" y="2304288"/>
            <a:ext cx="10058400" cy="969264"/>
          </a:xfrm>
          <a:prstGeom prst="rect">
            <a:avLst/>
          </a:prstGeom>
          <a:noFill/>
          <a:ln/>
        </p:spPr>
        <p:txBody>
          <a:bodyPr wrap="square" lIns="0" tIns="0" rIns="0" bIns="0" rtlCol="0" anchor="ctr"/>
          <a:lstStyle/>
          <a:p>
            <a:pPr marL="0" indent="0">
              <a:buNone/>
            </a:pPr>
            <a:r>
              <a:rPr lang="en-US" sz="1250" dirty="0">
                <a:solidFill>
                  <a:srgbClr val="DFC4C7"/>
                </a:solidFill>
                <a:latin typeface="Calibri" pitchFamily="34" charset="0"/>
                <a:ea typeface="Calibri" pitchFamily="34" charset="-122"/>
                <a:cs typeface="Calibri" pitchFamily="34" charset="-120"/>
              </a:rPr>
              <a:t>The covariance contributes 6.41 points and the class means 1.65. What is the covariance actually learning, and could you test whether it is whitening out speaker and channel variation?</a:t>
            </a:r>
            <a:endParaRPr lang="en-US" sz="1250" dirty="0"/>
          </a:p>
        </p:txBody>
      </p:sp>
      <p:sp>
        <p:nvSpPr>
          <p:cNvPr id="12" name="Shape 10"/>
          <p:cNvSpPr/>
          <p:nvPr/>
        </p:nvSpPr>
        <p:spPr>
          <a:xfrm>
            <a:off x="841248" y="3346704"/>
            <a:ext cx="329184" cy="329184"/>
          </a:xfrm>
          <a:prstGeom prst="ellipse">
            <a:avLst/>
          </a:prstGeom>
          <a:solidFill>
            <a:srgbClr val="B8871F"/>
          </a:solidFill>
          <a:ln w="12700">
            <a:solidFill>
              <a:srgbClr val="333333"/>
            </a:solidFill>
            <a:prstDash val="solid"/>
          </a:ln>
        </p:spPr>
        <p:txBody>
          <a:bodyPr/>
          <a:lstStyle/>
          <a:p>
            <a:endParaRPr lang="en-US"/>
          </a:p>
        </p:txBody>
      </p:sp>
      <p:sp>
        <p:nvSpPr>
          <p:cNvPr id="13" name="Text 11"/>
          <p:cNvSpPr txBox="1"/>
          <p:nvPr/>
        </p:nvSpPr>
        <p:spPr>
          <a:xfrm>
            <a:off x="841248" y="3374136"/>
            <a:ext cx="329184" cy="274320"/>
          </a:xfrm>
          <a:prstGeom prst="rect">
            <a:avLst/>
          </a:prstGeom>
          <a:noFill/>
          <a:ln/>
        </p:spPr>
        <p:txBody>
          <a:bodyPr wrap="square" lIns="0" tIns="0" rIns="0" bIns="0" rtlCol="0" anchor="ctr"/>
          <a:lstStyle/>
          <a:p>
            <a:pPr marL="0" indent="0" algn="ctr">
              <a:buNone/>
            </a:pPr>
            <a:r>
              <a:rPr lang="en-US" sz="1200" b="1" dirty="0">
                <a:solidFill>
                  <a:srgbClr val="332226"/>
                </a:solidFill>
                <a:latin typeface="Cambria" pitchFamily="34" charset="0"/>
                <a:ea typeface="Cambria" pitchFamily="34" charset="-122"/>
                <a:cs typeface="Cambria" pitchFamily="34" charset="-120"/>
              </a:rPr>
              <a:t>3</a:t>
            </a:r>
            <a:endParaRPr lang="en-US" sz="1200" dirty="0"/>
          </a:p>
        </p:txBody>
      </p:sp>
      <p:sp>
        <p:nvSpPr>
          <p:cNvPr id="14" name="Text 12"/>
          <p:cNvSpPr txBox="1"/>
          <p:nvPr/>
        </p:nvSpPr>
        <p:spPr>
          <a:xfrm>
            <a:off x="1353312" y="3291840"/>
            <a:ext cx="10058400" cy="969264"/>
          </a:xfrm>
          <a:prstGeom prst="rect">
            <a:avLst/>
          </a:prstGeom>
          <a:noFill/>
          <a:ln/>
        </p:spPr>
        <p:txBody>
          <a:bodyPr wrap="square" lIns="0" tIns="0" rIns="0" bIns="0" rtlCol="0" anchor="ctr"/>
          <a:lstStyle/>
          <a:p>
            <a:pPr marL="0" indent="0">
              <a:buNone/>
            </a:pPr>
            <a:r>
              <a:rPr lang="en-US" sz="1250" dirty="0">
                <a:solidFill>
                  <a:srgbClr val="DFC4C7"/>
                </a:solidFill>
                <a:latin typeface="Calibri" pitchFamily="34" charset="0"/>
                <a:ea typeface="Calibri" pitchFamily="34" charset="-122"/>
                <a:cs typeface="Calibri" pitchFamily="34" charset="-120"/>
              </a:rPr>
              <a:t>Emo-TTA carries state across the stream, so prediction depends on order. What ordering would you construct to break it, and would you expect it to break?</a:t>
            </a:r>
            <a:endParaRPr lang="en-US" sz="1250" dirty="0"/>
          </a:p>
        </p:txBody>
      </p:sp>
      <p:sp>
        <p:nvSpPr>
          <p:cNvPr id="15" name="Shape 13"/>
          <p:cNvSpPr/>
          <p:nvPr/>
        </p:nvSpPr>
        <p:spPr>
          <a:xfrm>
            <a:off x="841248" y="4334256"/>
            <a:ext cx="329184" cy="329184"/>
          </a:xfrm>
          <a:prstGeom prst="ellipse">
            <a:avLst/>
          </a:prstGeom>
          <a:solidFill>
            <a:srgbClr val="B8871F"/>
          </a:solidFill>
          <a:ln w="12700">
            <a:solidFill>
              <a:srgbClr val="333333"/>
            </a:solidFill>
            <a:prstDash val="solid"/>
          </a:ln>
        </p:spPr>
        <p:txBody>
          <a:bodyPr/>
          <a:lstStyle/>
          <a:p>
            <a:endParaRPr lang="en-US"/>
          </a:p>
        </p:txBody>
      </p:sp>
      <p:sp>
        <p:nvSpPr>
          <p:cNvPr id="16" name="Text 14"/>
          <p:cNvSpPr txBox="1"/>
          <p:nvPr/>
        </p:nvSpPr>
        <p:spPr>
          <a:xfrm>
            <a:off x="841248" y="4361688"/>
            <a:ext cx="329184" cy="274320"/>
          </a:xfrm>
          <a:prstGeom prst="rect">
            <a:avLst/>
          </a:prstGeom>
          <a:noFill/>
          <a:ln/>
        </p:spPr>
        <p:txBody>
          <a:bodyPr wrap="square" lIns="0" tIns="0" rIns="0" bIns="0" rtlCol="0" anchor="ctr"/>
          <a:lstStyle/>
          <a:p>
            <a:pPr marL="0" indent="0" algn="ctr">
              <a:buNone/>
            </a:pPr>
            <a:r>
              <a:rPr lang="en-US" sz="1200" b="1" dirty="0">
                <a:solidFill>
                  <a:srgbClr val="332226"/>
                </a:solidFill>
                <a:latin typeface="Cambria" pitchFamily="34" charset="0"/>
                <a:ea typeface="Cambria" pitchFamily="34" charset="-122"/>
                <a:cs typeface="Cambria" pitchFamily="34" charset="-120"/>
              </a:rPr>
              <a:t>4</a:t>
            </a:r>
            <a:endParaRPr lang="en-US" sz="1200" dirty="0"/>
          </a:p>
        </p:txBody>
      </p:sp>
      <p:sp>
        <p:nvSpPr>
          <p:cNvPr id="17" name="Text 15"/>
          <p:cNvSpPr txBox="1"/>
          <p:nvPr/>
        </p:nvSpPr>
        <p:spPr>
          <a:xfrm>
            <a:off x="1353312" y="4279392"/>
            <a:ext cx="10058400" cy="969264"/>
          </a:xfrm>
          <a:prstGeom prst="rect">
            <a:avLst/>
          </a:prstGeom>
          <a:noFill/>
          <a:ln/>
        </p:spPr>
        <p:txBody>
          <a:bodyPr wrap="square" lIns="0" tIns="0" rIns="0" bIns="0" rtlCol="0" anchor="ctr"/>
          <a:lstStyle/>
          <a:p>
            <a:pPr marL="0" indent="0">
              <a:buNone/>
            </a:pPr>
            <a:r>
              <a:rPr lang="en-US" sz="1250" dirty="0">
                <a:solidFill>
                  <a:srgbClr val="DFC4C7"/>
                </a:solidFill>
                <a:latin typeface="Calibri" pitchFamily="34" charset="0"/>
                <a:ea typeface="Calibri" pitchFamily="34" charset="-122"/>
                <a:cs typeface="Calibri" pitchFamily="34" charset="-120"/>
              </a:rPr>
              <a:t>Tent's premise rests on a rank correlation of 0.22 between entropy and loss. Does using entropy as a weight rather than a loss need a weaker version of the same assumption, or a different one entirely?</a:t>
            </a:r>
            <a:endParaRPr lang="en-US" sz="1250" dirty="0"/>
          </a:p>
        </p:txBody>
      </p:sp>
      <p:sp>
        <p:nvSpPr>
          <p:cNvPr id="18" name="Shape 16"/>
          <p:cNvSpPr/>
          <p:nvPr/>
        </p:nvSpPr>
        <p:spPr>
          <a:xfrm>
            <a:off x="841248" y="5321808"/>
            <a:ext cx="329184" cy="329184"/>
          </a:xfrm>
          <a:prstGeom prst="ellipse">
            <a:avLst/>
          </a:prstGeom>
          <a:solidFill>
            <a:srgbClr val="B8871F"/>
          </a:solidFill>
          <a:ln w="12700">
            <a:solidFill>
              <a:srgbClr val="333333"/>
            </a:solidFill>
            <a:prstDash val="solid"/>
          </a:ln>
        </p:spPr>
        <p:txBody>
          <a:bodyPr/>
          <a:lstStyle/>
          <a:p>
            <a:endParaRPr lang="en-US"/>
          </a:p>
        </p:txBody>
      </p:sp>
      <p:sp>
        <p:nvSpPr>
          <p:cNvPr id="19" name="Text 17"/>
          <p:cNvSpPr txBox="1"/>
          <p:nvPr/>
        </p:nvSpPr>
        <p:spPr>
          <a:xfrm>
            <a:off x="841248" y="5349240"/>
            <a:ext cx="329184" cy="274320"/>
          </a:xfrm>
          <a:prstGeom prst="rect">
            <a:avLst/>
          </a:prstGeom>
          <a:noFill/>
          <a:ln/>
        </p:spPr>
        <p:txBody>
          <a:bodyPr wrap="square" lIns="0" tIns="0" rIns="0" bIns="0" rtlCol="0" anchor="ctr"/>
          <a:lstStyle/>
          <a:p>
            <a:pPr marL="0" indent="0" algn="ctr">
              <a:buNone/>
            </a:pPr>
            <a:r>
              <a:rPr lang="en-US" sz="1200" b="1" dirty="0">
                <a:solidFill>
                  <a:srgbClr val="332226"/>
                </a:solidFill>
                <a:latin typeface="Cambria" pitchFamily="34" charset="0"/>
                <a:ea typeface="Cambria" pitchFamily="34" charset="-122"/>
                <a:cs typeface="Cambria" pitchFamily="34" charset="-120"/>
              </a:rPr>
              <a:t>5</a:t>
            </a:r>
            <a:endParaRPr lang="en-US" sz="1200" dirty="0"/>
          </a:p>
        </p:txBody>
      </p:sp>
      <p:sp>
        <p:nvSpPr>
          <p:cNvPr id="20" name="Text 18"/>
          <p:cNvSpPr txBox="1"/>
          <p:nvPr/>
        </p:nvSpPr>
        <p:spPr>
          <a:xfrm>
            <a:off x="1353312" y="5266944"/>
            <a:ext cx="10058400" cy="969264"/>
          </a:xfrm>
          <a:prstGeom prst="rect">
            <a:avLst/>
          </a:prstGeom>
          <a:noFill/>
          <a:ln/>
        </p:spPr>
        <p:txBody>
          <a:bodyPr wrap="square" lIns="0" tIns="0" rIns="0" bIns="0" rtlCol="0" anchor="ctr"/>
          <a:lstStyle/>
          <a:p>
            <a:pPr marL="0" indent="0">
              <a:buNone/>
            </a:pPr>
            <a:r>
              <a:rPr lang="en-US" sz="1250" dirty="0">
                <a:solidFill>
                  <a:srgbClr val="DFC4C7"/>
                </a:solidFill>
                <a:latin typeface="Calibri" pitchFamily="34" charset="0"/>
                <a:ea typeface="Calibri" pitchFamily="34" charset="-122"/>
                <a:cs typeface="Calibri" pitchFamily="34" charset="-120"/>
              </a:rPr>
              <a:t>Both papers adapt without labels and both need hyperparameters. Is there an honest protocol for selecting them — and if not, how should test-time adaptation results be reported?</a:t>
            </a:r>
            <a:endParaRPr lang="en-US" sz="1250" dirty="0"/>
          </a:p>
        </p:txBody>
      </p:sp>
      <p:sp>
        <p:nvSpPr>
          <p:cNvPr id="21" name="Text 19"/>
          <p:cNvSpPr txBox="1"/>
          <p:nvPr/>
        </p:nvSpPr>
        <p:spPr>
          <a:xfrm>
            <a:off x="822960" y="6309360"/>
            <a:ext cx="10607040" cy="274320"/>
          </a:xfrm>
          <a:prstGeom prst="rect">
            <a:avLst/>
          </a:prstGeom>
          <a:noFill/>
          <a:ln/>
        </p:spPr>
        <p:txBody>
          <a:bodyPr wrap="square" lIns="0" tIns="0" rIns="0" bIns="0" rtlCol="0" anchor="ctr"/>
          <a:lstStyle/>
          <a:p>
            <a:pPr marL="0" indent="0">
              <a:buNone/>
            </a:pPr>
            <a:r>
              <a:rPr lang="en-US" sz="1000" dirty="0">
                <a:solidFill>
                  <a:srgbClr val="C6A8AC"/>
                </a:solidFill>
                <a:latin typeface="Calibri" pitchFamily="34" charset="0"/>
                <a:ea typeface="Calibri" pitchFamily="34" charset="-122"/>
                <a:cs typeface="Calibri" pitchFamily="34" charset="-120"/>
              </a:rPr>
              <a:t>Shi, Du, Hong &amp; Gao (2026), IEEE ICASSP  ·  arXiv:2509.25495  ·  Wang et al. (2021), ICLR Spotlight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6395</Words>
  <Application>Microsoft Macintosh PowerPoint</Application>
  <PresentationFormat>Widescreen</PresentationFormat>
  <Paragraphs>406</Paragraphs>
  <Slides>24</Slides>
  <Notes>24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24</vt:i4>
      </vt:variant>
    </vt:vector>
  </HeadingPairs>
  <TitlesOfParts>
    <vt:vector size="28"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Emo-TTA (Shi et al., 2026)</dc:title>
  <dc:subject>PptxGenJS Presentation</dc:subject>
  <dc:creator>Seminar</dc:creator>
  <cp:lastModifiedBy>Gao, Ashley</cp:lastModifiedBy>
  <cp:revision>2</cp:revision>
  <dcterms:created xsi:type="dcterms:W3CDTF">2026-10-06T15:17:29Z</dcterms:created>
  <dcterms:modified xsi:type="dcterms:W3CDTF">2026-10-06T15:19:39Z</dcterms:modified>
</cp:coreProperties>
</file>