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C6E3"/>
    <a:srgbClr val="94C5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77"/>
    <p:restoredTop sz="91497"/>
  </p:normalViewPr>
  <p:slideViewPr>
    <p:cSldViewPr snapToGrid="0">
      <p:cViewPr varScale="1">
        <p:scale>
          <a:sx n="117" d="100"/>
          <a:sy n="117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7DD4D-F68F-9148-B974-343DC02515AD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8CF78-3EAB-6E4E-967D-866F41933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8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B16AF9-54C4-453E-B378-E27D26EE66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153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8D8E-53AD-8444-8C64-A80CCFEFFD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7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8D8E-53AD-8444-8C64-A80CCFEFFD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81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08CF78-3EAB-6E4E-967D-866F41933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32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5BB73-B777-78DF-146D-95E17A2D8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C35BA-A6FE-185C-B332-F241458B5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89F24-F210-C2C3-B072-B9DA2EC0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2A215-FD42-72F0-41B9-B9DE290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0F9D-F550-45C5-71C6-A2DF9414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59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EAB0-54E8-5373-C99C-956E27FF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62C7D-D9D3-1391-877A-0144D651E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DD296-9F7A-790D-F649-70BAFFCFF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F1CCB-F8C4-ED27-935F-02891665B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98DC-B605-8830-D631-98AA116FE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A8D0-89E8-921D-7373-8A19A365B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B9080-FAF9-72B3-6354-835B148C5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D3B2B-A9E1-1547-7E89-1D0DEE39E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C7E21-B569-5628-FF00-51EEFDBC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3D0B4-D9A7-D797-11F5-E31ABCFB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5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B8CD-572B-0985-2E67-C054E82A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82047-D32A-F177-610C-D1CDB72B3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7A5B8-99BD-7C1C-57C3-547DACE83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15AB1-6B8E-0DB5-4EEE-CD506F05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1F606-27A0-529F-1CAF-580CAC77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D76AD-5DD8-7E01-C2CB-132470AE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9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DA90-57F7-A66A-7134-1C3FE1E3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7157F-AF22-248C-E5C6-F074A56E3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F4C7-3CE4-7F7A-FA67-45B63AA97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17BFB-B862-C3D2-763F-26901970C4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94D67-8E4D-C708-ECA1-8939DBB7C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11B6B0-297D-B79F-E055-DD3F03EF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CD767-5A09-418E-F068-51478DB3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77BFCD-231B-BB01-7F4F-39DCCF45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7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55CA-706F-74EF-5002-331EEA56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F076E-AB3E-8C73-D302-8049ED76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5993F-E3A5-D1E1-6B2A-ACEB0CFF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2EB346-4914-6ECC-B734-45F5DAB7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6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166C05-AE2E-4C22-FA11-FABD1FFD5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758D4-40CC-DDD6-58B0-E5BF36AC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E8E68-BF41-C96C-5779-9D4B6A49B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9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E629-10A7-C709-AC5B-F0161EA36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16B7-0F8D-2E71-AA88-35D855497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84085-6C7C-9F51-0D14-F2EA2C699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783C2-7E3E-C2D9-CD0B-875A253E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CAD42-3CA0-0A78-5125-91EC1FC8B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8DEFC-2873-6EA5-865D-8F9A7A77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08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23AA-8930-E33B-90E2-ACB4648D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CFC20-3074-8008-75E1-AE8FFFECA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786A8-3C8F-B3DE-B87E-B60B7D6E2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748DF-8DC0-A670-1F53-2F2C3068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DFB3F-6887-3A63-C1C2-39DD8855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134D6-9F43-CA3E-BAD3-D4FA6BEA6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4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5923-61C0-C2A7-87EE-58E7AAA1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454A-2D09-8095-CA63-3CA326481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E69CA-D8F8-5A3E-BB26-44C699D5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74386-7627-4EA7-FE8F-8AA359B5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ABDE8-7E2D-F9EC-AFD4-7F103F4B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8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09254-E37C-3FBD-9AF7-0239A2A71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2A396-0A4B-7CA5-92B9-2DB5550C3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BF748-7975-2279-D8D4-6AD88CC2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E9ECE-BFCE-CA06-118A-3B2162F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09E4B-3B78-0429-D996-4376F94FF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98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图片1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68754"/>
            <a:ext cx="8886092" cy="162489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35992" y="6356350"/>
            <a:ext cx="2743200" cy="365125"/>
          </a:xfrm>
        </p:spPr>
        <p:txBody>
          <a:bodyPr/>
          <a:lstStyle>
            <a:lvl1pPr>
              <a:defRPr sz="1400">
                <a:latin typeface="Arial" charset="0"/>
                <a:ea typeface="Arial" charset="0"/>
                <a:cs typeface="Arial" charset="0"/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ollege Of William &amp;amp; Mary, HD Png Download - kindpng">
            <a:extLst>
              <a:ext uri="{FF2B5EF4-FFF2-40B4-BE49-F238E27FC236}">
                <a16:creationId xmlns:a16="http://schemas.microsoft.com/office/drawing/2014/main" id="{08421D68-F233-E442-A3C1-246EBA7001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93" y="117132"/>
            <a:ext cx="1307335" cy="150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12262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658" y="168177"/>
            <a:ext cx="10515600" cy="478937"/>
          </a:xfrm>
        </p:spPr>
        <p:txBody>
          <a:bodyPr>
            <a:noAutofit/>
          </a:bodyPr>
          <a:lstStyle>
            <a:lvl1pPr>
              <a:defRPr sz="3200" b="1">
                <a:latin typeface="Microsoft YaHei" charset="-122"/>
                <a:ea typeface="Microsoft YaHei" charset="-122"/>
                <a:cs typeface="Microsoft YaHei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57" y="1055077"/>
            <a:ext cx="10628143" cy="51218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136" y="6356350"/>
            <a:ext cx="2743200" cy="365125"/>
          </a:xfrm>
        </p:spPr>
        <p:txBody>
          <a:bodyPr/>
          <a:lstStyle>
            <a:lvl1pPr>
              <a:defRPr sz="1400">
                <a:latin typeface="Arial" charset="0"/>
                <a:ea typeface="Arial" charset="0"/>
                <a:cs typeface="Arial" charset="0"/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725656" y="762704"/>
            <a:ext cx="10607040" cy="63797"/>
          </a:xfrm>
          <a:prstGeom prst="rect">
            <a:avLst/>
          </a:prstGeom>
          <a:gradFill rotWithShape="0">
            <a:gsLst>
              <a:gs pos="0">
                <a:srgbClr val="0072C6"/>
              </a:gs>
              <a:gs pos="100000">
                <a:srgbClr val="E5F1F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64973288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4534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66543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40926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09852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50058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5572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40548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4694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7100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5C129-4D6D-FF56-EC67-8F9E4761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C4280-E06B-5A2A-F014-71AAD768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66351-EFBA-3E91-E212-BB84EECFD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DA246-B757-8744-94D5-405422B11AAB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9334D-DA88-1FE8-1212-AC0AE228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1F490-12A7-867E-E6E2-07E4A3ED1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7780-8723-214D-9A4E-CDD07CAD3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0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083BF-C15F-4E33-9C1A-7B4D0B21F4EF}" type="datetime1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52DE6-F386-4E83-B48F-1738D91301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6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hlinkClick r:id="" action="ppaction://noaction"/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0" y="1612882"/>
            <a:ext cx="12192000" cy="119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>
              <a:defRPr/>
            </a:pPr>
            <a:br>
              <a:rPr lang="en-US" sz="3200" b="1" dirty="0">
                <a:solidFill>
                  <a:prstClr val="black"/>
                </a:solidFill>
              </a:rPr>
            </a:br>
            <a:br>
              <a:rPr lang="en-US" sz="3200" b="1" dirty="0">
                <a:solidFill>
                  <a:prstClr val="black"/>
                </a:solidFill>
              </a:rPr>
            </a:br>
            <a:r>
              <a:rPr lang="en-US" sz="3200" b="1" dirty="0">
                <a:solidFill>
                  <a:prstClr val="black"/>
                </a:solidFill>
              </a:rPr>
              <a:t>EAA: Emotion-Aware Audio Large Language Models with Dual</a:t>
            </a:r>
            <a:br>
              <a:rPr lang="en-US" sz="3200" b="1" dirty="0">
                <a:solidFill>
                  <a:prstClr val="black"/>
                </a:solidFill>
              </a:rPr>
            </a:br>
            <a:r>
              <a:rPr lang="en-US" sz="3200" b="1" dirty="0">
                <a:solidFill>
                  <a:prstClr val="black"/>
                </a:solidFill>
              </a:rPr>
              <a:t>Cross-Attention and Context-Aware Instruction Tuning</a:t>
            </a:r>
            <a:br>
              <a:rPr lang="en-US" sz="3200" b="1" dirty="0">
                <a:solidFill>
                  <a:prstClr val="black"/>
                </a:solidFill>
              </a:rPr>
            </a:br>
            <a:br>
              <a:rPr lang="en-US" altLang="zh-CN" sz="3200" b="1" dirty="0">
                <a:solidFill>
                  <a:srgbClr val="354E76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</a:br>
            <a:endParaRPr lang="en-US" altLang="zh-CN" sz="3200" b="1" dirty="0">
              <a:solidFill>
                <a:srgbClr val="354E76"/>
              </a:solidFill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  <a:hlinkClick r:id="" action="ppaction://noaction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52DE6-F386-4E83-B48F-1738D913012A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64466" y="3556864"/>
            <a:ext cx="8407739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Hongfei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Du, Sidi Lu, Gang Zhou, Ashely Gao 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William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&amp;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Mary, USA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72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EBD9-9643-E24A-EC85-E9CB6AF3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1019F-CA8E-2E67-0630-3AFDBCAB7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58" y="1055076"/>
            <a:ext cx="6217010" cy="5402167"/>
          </a:xfrm>
        </p:spPr>
        <p:txBody>
          <a:bodyPr>
            <a:normAutofit/>
          </a:bodyPr>
          <a:lstStyle/>
          <a:p>
            <a:r>
              <a:rPr lang="en-US" dirty="0"/>
              <a:t>Speech Emotion Recognition (SER) is vital for:</a:t>
            </a:r>
          </a:p>
          <a:p>
            <a:pPr lvl="1"/>
            <a:r>
              <a:rPr lang="en-US" dirty="0"/>
              <a:t>Human-computer interaction (e.g., empathetic dialogue agents)</a:t>
            </a:r>
          </a:p>
          <a:p>
            <a:pPr lvl="1"/>
            <a:r>
              <a:rPr lang="en-US" dirty="0"/>
              <a:t>Mental health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are Audio LLMs (ALLMs)?</a:t>
            </a:r>
          </a:p>
          <a:p>
            <a:pPr lvl="1"/>
            <a:r>
              <a:rPr lang="en-US" dirty="0"/>
              <a:t>Emerging models that combine audio inputs with large language models</a:t>
            </a:r>
          </a:p>
          <a:p>
            <a:pPr lvl="1"/>
            <a:r>
              <a:rPr lang="en-US" dirty="0"/>
              <a:t>Recent models: </a:t>
            </a:r>
            <a:r>
              <a:rPr lang="en-US" dirty="0" err="1"/>
              <a:t>Pengi</a:t>
            </a:r>
            <a:r>
              <a:rPr lang="en-US" dirty="0"/>
              <a:t>, </a:t>
            </a:r>
            <a:r>
              <a:rPr lang="en-US" dirty="0" err="1"/>
              <a:t>WavLLM</a:t>
            </a:r>
            <a:r>
              <a:rPr lang="en-US" dirty="0"/>
              <a:t>, Qwen-Audio, SALMONN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A7B4D-5925-4C97-19D1-0DC07ACA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CEB52C-2B0D-D64F-AFB6-F2A391BE0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9"/>
          <a:stretch>
            <a:fillRect/>
          </a:stretch>
        </p:blipFill>
        <p:spPr>
          <a:xfrm>
            <a:off x="6732023" y="1048838"/>
            <a:ext cx="4621777" cy="2353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6F1051-79D1-62B4-2FA2-73C11628D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023" y="4188243"/>
            <a:ext cx="5156547" cy="136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0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A969-869D-6BC8-628A-0C5CB11F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8508C-E4F0-A7E3-6531-FC041C3E1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57" y="1055077"/>
            <a:ext cx="4828476" cy="15122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Challenge 1</a:t>
            </a:r>
            <a:r>
              <a:rPr lang="en-US" dirty="0"/>
              <a:t>: </a:t>
            </a:r>
          </a:p>
          <a:p>
            <a:pPr marL="0" indent="0" algn="ctr">
              <a:buNone/>
            </a:pPr>
            <a:r>
              <a:rPr lang="en-US" dirty="0"/>
              <a:t>Poor</a:t>
            </a:r>
            <a:r>
              <a:rPr lang="zh-CN" altLang="en-US" dirty="0"/>
              <a:t> </a:t>
            </a:r>
            <a:r>
              <a:rPr lang="en-US" dirty="0"/>
              <a:t>fusion</a:t>
            </a:r>
            <a:r>
              <a:rPr lang="zh-CN" altLang="en-US" dirty="0"/>
              <a:t> </a:t>
            </a:r>
            <a:r>
              <a:rPr lang="en-US" dirty="0"/>
              <a:t>between acoustic </a:t>
            </a:r>
            <a:r>
              <a:rPr lang="en-US" altLang="zh-CN" dirty="0"/>
              <a:t>+</a:t>
            </a:r>
            <a:r>
              <a:rPr lang="en-US" dirty="0"/>
              <a:t> semantic features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43F57-D5F8-DE58-0A80-FCCF36F4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7776A3-1F8D-E087-1294-80BC4E956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75" y="2517422"/>
            <a:ext cx="4132439" cy="2917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8C0156-35CC-6BE1-3F90-47FC87BB4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38" y="2623731"/>
            <a:ext cx="4451820" cy="2569158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CAF260-02BB-A8C1-439D-524C4CAC34C6}"/>
              </a:ext>
            </a:extLst>
          </p:cNvPr>
          <p:cNvSpPr txBox="1">
            <a:spLocks/>
          </p:cNvSpPr>
          <p:nvPr/>
        </p:nvSpPr>
        <p:spPr>
          <a:xfrm>
            <a:off x="5983458" y="1054470"/>
            <a:ext cx="4828476" cy="151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/>
              <a:t>Challenge </a:t>
            </a:r>
            <a:r>
              <a:rPr lang="en-US" altLang="zh-CN" b="1" dirty="0"/>
              <a:t>2</a:t>
            </a:r>
            <a:r>
              <a:rPr lang="en-US" dirty="0"/>
              <a:t>: </a:t>
            </a:r>
          </a:p>
          <a:p>
            <a:pPr marL="0" lvl="0" indent="0" algn="ctr">
              <a:buNone/>
              <a:defRPr/>
            </a:pPr>
            <a:r>
              <a:rPr lang="en-US" dirty="0"/>
              <a:t>Lack</a:t>
            </a:r>
            <a:r>
              <a:rPr lang="zh-CN" altLang="en-US" dirty="0"/>
              <a:t> </a:t>
            </a:r>
            <a:r>
              <a:rPr lang="en-US" altLang="zh-CN" dirty="0"/>
              <a:t>of dialogue context modeling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9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A0C5-267C-D70C-8141-8D837EB5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4A0C1-F0C5-10AA-1067-2B63BF4E5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Dual Cross-Attention Fusion</a:t>
            </a:r>
            <a:endParaRPr lang="en-US" dirty="0"/>
          </a:p>
          <a:p>
            <a:pPr lvl="1"/>
            <a:r>
              <a:rPr lang="en-US" dirty="0"/>
              <a:t>Bidirectional attention between acoustic and semantic feature</a:t>
            </a:r>
            <a:r>
              <a:rPr lang="en-US" altLang="zh-CN" dirty="0"/>
              <a:t>.</a:t>
            </a:r>
            <a:endParaRPr lang="en-US" dirty="0"/>
          </a:p>
          <a:p>
            <a:pPr lvl="1"/>
            <a:r>
              <a:rPr lang="en-US" dirty="0"/>
              <a:t>Learns which modality to prioritize dynamically based on emotional cues.</a:t>
            </a:r>
          </a:p>
          <a:p>
            <a:r>
              <a:rPr lang="en-US" b="1" dirty="0"/>
              <a:t>Context-Aware Instruction Tuning</a:t>
            </a:r>
            <a:endParaRPr lang="en-US" dirty="0"/>
          </a:p>
          <a:p>
            <a:pPr lvl="1"/>
            <a:r>
              <a:rPr lang="en-US" dirty="0"/>
              <a:t>Uses both current and prior utterances during fine-tuning</a:t>
            </a:r>
          </a:p>
          <a:p>
            <a:pPr lvl="1"/>
            <a:r>
              <a:rPr lang="en-US" dirty="0"/>
              <a:t>Prompt format: "Describe the speaker's emotion in one word"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4514D-B5B0-6FBA-5FF5-F547F3E0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7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3065-1CCD-624D-DEB0-2254242D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Overview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5A039-5AC5-1671-6B06-C040C7E7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E8F6A1-2158-4CAD-41EC-137D8E1E4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90" y="1168137"/>
            <a:ext cx="10118783" cy="46671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45D890-4137-B01A-59F1-F47F7F8757FF}"/>
              </a:ext>
            </a:extLst>
          </p:cNvPr>
          <p:cNvSpPr txBox="1"/>
          <p:nvPr/>
        </p:nvSpPr>
        <p:spPr>
          <a:xfrm>
            <a:off x="2227884" y="1168137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</a:rPr>
              <a:t>(Fuses acoustic &amp; semantic features)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F10E8-6771-A436-3D09-459419EA04CD}"/>
              </a:ext>
            </a:extLst>
          </p:cNvPr>
          <p:cNvSpPr txBox="1"/>
          <p:nvPr/>
        </p:nvSpPr>
        <p:spPr>
          <a:xfrm>
            <a:off x="2576584" y="5635272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</a:rPr>
              <a:t>(Adds dialogue context &amp; instruction)</a:t>
            </a:r>
          </a:p>
        </p:txBody>
      </p:sp>
    </p:spTree>
    <p:extLst>
      <p:ext uri="{BB962C8B-B14F-4D97-AF65-F5344CB8AC3E}">
        <p14:creationId xmlns:p14="http://schemas.microsoft.com/office/powerpoint/2010/main" val="1975885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7217-785F-4737-9C94-086AFB57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Dual Cross-Attention (Fusion Module)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2136B-089E-D598-777F-24521A45A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A8C0A-27F1-1CEC-A537-BEC40D31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A11F6-98AE-892E-EAE0-E84E2A16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93" y="1236120"/>
            <a:ext cx="3632200" cy="50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C10978-7321-30FF-AAF4-9019495A91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038"/>
          <a:stretch/>
        </p:blipFill>
        <p:spPr>
          <a:xfrm>
            <a:off x="962510" y="1980513"/>
            <a:ext cx="3086100" cy="4215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20CBF8-28A8-7C87-2FCC-91E369BA4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47" y="3647581"/>
            <a:ext cx="2705100" cy="1168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146D98-E1FE-B30B-EAA9-DEE3187DB3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7166" y="1431396"/>
            <a:ext cx="5915827" cy="31240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DE05E1-3405-7FAC-DA8D-2FE0247D00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617" y="2638476"/>
            <a:ext cx="3117190" cy="7727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9029E7-88EC-06C1-4AB2-0696F79038DF}"/>
              </a:ext>
            </a:extLst>
          </p:cNvPr>
          <p:cNvSpPr txBox="1"/>
          <p:nvPr/>
        </p:nvSpPr>
        <p:spPr>
          <a:xfrm>
            <a:off x="1110712" y="5281827"/>
            <a:ext cx="103556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Cross-attention enables dynamic, bidirectional fusion between acoustic and semantic features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ABB7E1-399B-56CA-D9CD-A1E407C28DAE}"/>
              </a:ext>
            </a:extLst>
          </p:cNvPr>
          <p:cNvSpPr/>
          <p:nvPr/>
        </p:nvSpPr>
        <p:spPr>
          <a:xfrm>
            <a:off x="838200" y="1236120"/>
            <a:ext cx="4368908" cy="3661343"/>
          </a:xfrm>
          <a:custGeom>
            <a:avLst/>
            <a:gdLst>
              <a:gd name="connsiteX0" fmla="*/ 0 w 4368908"/>
              <a:gd name="connsiteY0" fmla="*/ 0 h 3661343"/>
              <a:gd name="connsiteX1" fmla="*/ 502424 w 4368908"/>
              <a:gd name="connsiteY1" fmla="*/ 0 h 3661343"/>
              <a:gd name="connsiteX2" fmla="*/ 917471 w 4368908"/>
              <a:gd name="connsiteY2" fmla="*/ 0 h 3661343"/>
              <a:gd name="connsiteX3" fmla="*/ 1550962 w 4368908"/>
              <a:gd name="connsiteY3" fmla="*/ 0 h 3661343"/>
              <a:gd name="connsiteX4" fmla="*/ 2053387 w 4368908"/>
              <a:gd name="connsiteY4" fmla="*/ 0 h 3661343"/>
              <a:gd name="connsiteX5" fmla="*/ 2555811 w 4368908"/>
              <a:gd name="connsiteY5" fmla="*/ 0 h 3661343"/>
              <a:gd name="connsiteX6" fmla="*/ 3189303 w 4368908"/>
              <a:gd name="connsiteY6" fmla="*/ 0 h 3661343"/>
              <a:gd name="connsiteX7" fmla="*/ 3648038 w 4368908"/>
              <a:gd name="connsiteY7" fmla="*/ 0 h 3661343"/>
              <a:gd name="connsiteX8" fmla="*/ 4368908 w 4368908"/>
              <a:gd name="connsiteY8" fmla="*/ 0 h 3661343"/>
              <a:gd name="connsiteX9" fmla="*/ 4368908 w 4368908"/>
              <a:gd name="connsiteY9" fmla="*/ 596276 h 3661343"/>
              <a:gd name="connsiteX10" fmla="*/ 4368908 w 4368908"/>
              <a:gd name="connsiteY10" fmla="*/ 1046098 h 3661343"/>
              <a:gd name="connsiteX11" fmla="*/ 4368908 w 4368908"/>
              <a:gd name="connsiteY11" fmla="*/ 1569147 h 3661343"/>
              <a:gd name="connsiteX12" fmla="*/ 4368908 w 4368908"/>
              <a:gd name="connsiteY12" fmla="*/ 2128809 h 3661343"/>
              <a:gd name="connsiteX13" fmla="*/ 4368908 w 4368908"/>
              <a:gd name="connsiteY13" fmla="*/ 2542018 h 3661343"/>
              <a:gd name="connsiteX14" fmla="*/ 4368908 w 4368908"/>
              <a:gd name="connsiteY14" fmla="*/ 3065067 h 3661343"/>
              <a:gd name="connsiteX15" fmla="*/ 4368908 w 4368908"/>
              <a:gd name="connsiteY15" fmla="*/ 3661343 h 3661343"/>
              <a:gd name="connsiteX16" fmla="*/ 3822795 w 4368908"/>
              <a:gd name="connsiteY16" fmla="*/ 3661343 h 3661343"/>
              <a:gd name="connsiteX17" fmla="*/ 3189303 w 4368908"/>
              <a:gd name="connsiteY17" fmla="*/ 3661343 h 3661343"/>
              <a:gd name="connsiteX18" fmla="*/ 2643189 w 4368908"/>
              <a:gd name="connsiteY18" fmla="*/ 3661343 h 3661343"/>
              <a:gd name="connsiteX19" fmla="*/ 2228143 w 4368908"/>
              <a:gd name="connsiteY19" fmla="*/ 3661343 h 3661343"/>
              <a:gd name="connsiteX20" fmla="*/ 1769408 w 4368908"/>
              <a:gd name="connsiteY20" fmla="*/ 3661343 h 3661343"/>
              <a:gd name="connsiteX21" fmla="*/ 1135916 w 4368908"/>
              <a:gd name="connsiteY21" fmla="*/ 3661343 h 3661343"/>
              <a:gd name="connsiteX22" fmla="*/ 589803 w 4368908"/>
              <a:gd name="connsiteY22" fmla="*/ 3661343 h 3661343"/>
              <a:gd name="connsiteX23" fmla="*/ 0 w 4368908"/>
              <a:gd name="connsiteY23" fmla="*/ 3661343 h 3661343"/>
              <a:gd name="connsiteX24" fmla="*/ 0 w 4368908"/>
              <a:gd name="connsiteY24" fmla="*/ 3138294 h 3661343"/>
              <a:gd name="connsiteX25" fmla="*/ 0 w 4368908"/>
              <a:gd name="connsiteY25" fmla="*/ 2725085 h 3661343"/>
              <a:gd name="connsiteX26" fmla="*/ 0 w 4368908"/>
              <a:gd name="connsiteY26" fmla="*/ 2311877 h 3661343"/>
              <a:gd name="connsiteX27" fmla="*/ 0 w 4368908"/>
              <a:gd name="connsiteY27" fmla="*/ 1752214 h 3661343"/>
              <a:gd name="connsiteX28" fmla="*/ 0 w 4368908"/>
              <a:gd name="connsiteY28" fmla="*/ 1302392 h 3661343"/>
              <a:gd name="connsiteX29" fmla="*/ 0 w 4368908"/>
              <a:gd name="connsiteY29" fmla="*/ 706116 h 3661343"/>
              <a:gd name="connsiteX30" fmla="*/ 0 w 4368908"/>
              <a:gd name="connsiteY30" fmla="*/ 0 h 3661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368908" h="3661343" extrusionOk="0">
                <a:moveTo>
                  <a:pt x="0" y="0"/>
                </a:moveTo>
                <a:cubicBezTo>
                  <a:pt x="121090" y="-5809"/>
                  <a:pt x="379269" y="27012"/>
                  <a:pt x="502424" y="0"/>
                </a:cubicBezTo>
                <a:cubicBezTo>
                  <a:pt x="625579" y="-27012"/>
                  <a:pt x="788330" y="5566"/>
                  <a:pt x="917471" y="0"/>
                </a:cubicBezTo>
                <a:cubicBezTo>
                  <a:pt x="1046612" y="-5566"/>
                  <a:pt x="1300608" y="31473"/>
                  <a:pt x="1550962" y="0"/>
                </a:cubicBezTo>
                <a:cubicBezTo>
                  <a:pt x="1801316" y="-31473"/>
                  <a:pt x="1946942" y="18306"/>
                  <a:pt x="2053387" y="0"/>
                </a:cubicBezTo>
                <a:cubicBezTo>
                  <a:pt x="2159833" y="-18306"/>
                  <a:pt x="2347836" y="10781"/>
                  <a:pt x="2555811" y="0"/>
                </a:cubicBezTo>
                <a:cubicBezTo>
                  <a:pt x="2763786" y="-10781"/>
                  <a:pt x="2875984" y="61961"/>
                  <a:pt x="3189303" y="0"/>
                </a:cubicBezTo>
                <a:cubicBezTo>
                  <a:pt x="3502622" y="-61961"/>
                  <a:pt x="3545571" y="41321"/>
                  <a:pt x="3648038" y="0"/>
                </a:cubicBezTo>
                <a:cubicBezTo>
                  <a:pt x="3750505" y="-41321"/>
                  <a:pt x="4054270" y="81339"/>
                  <a:pt x="4368908" y="0"/>
                </a:cubicBezTo>
                <a:cubicBezTo>
                  <a:pt x="4412447" y="153335"/>
                  <a:pt x="4349508" y="404124"/>
                  <a:pt x="4368908" y="596276"/>
                </a:cubicBezTo>
                <a:cubicBezTo>
                  <a:pt x="4388308" y="788428"/>
                  <a:pt x="4358775" y="843104"/>
                  <a:pt x="4368908" y="1046098"/>
                </a:cubicBezTo>
                <a:cubicBezTo>
                  <a:pt x="4379041" y="1249092"/>
                  <a:pt x="4361431" y="1309190"/>
                  <a:pt x="4368908" y="1569147"/>
                </a:cubicBezTo>
                <a:cubicBezTo>
                  <a:pt x="4376385" y="1829104"/>
                  <a:pt x="4314770" y="1971765"/>
                  <a:pt x="4368908" y="2128809"/>
                </a:cubicBezTo>
                <a:cubicBezTo>
                  <a:pt x="4423046" y="2285853"/>
                  <a:pt x="4328787" y="2363032"/>
                  <a:pt x="4368908" y="2542018"/>
                </a:cubicBezTo>
                <a:cubicBezTo>
                  <a:pt x="4409029" y="2721004"/>
                  <a:pt x="4350087" y="2957812"/>
                  <a:pt x="4368908" y="3065067"/>
                </a:cubicBezTo>
                <a:cubicBezTo>
                  <a:pt x="4387729" y="3172322"/>
                  <a:pt x="4320066" y="3384930"/>
                  <a:pt x="4368908" y="3661343"/>
                </a:cubicBezTo>
                <a:cubicBezTo>
                  <a:pt x="4193270" y="3693623"/>
                  <a:pt x="4058120" y="3659212"/>
                  <a:pt x="3822795" y="3661343"/>
                </a:cubicBezTo>
                <a:cubicBezTo>
                  <a:pt x="3587470" y="3663474"/>
                  <a:pt x="3470243" y="3631020"/>
                  <a:pt x="3189303" y="3661343"/>
                </a:cubicBezTo>
                <a:cubicBezTo>
                  <a:pt x="2908363" y="3691666"/>
                  <a:pt x="2842008" y="3605814"/>
                  <a:pt x="2643189" y="3661343"/>
                </a:cubicBezTo>
                <a:cubicBezTo>
                  <a:pt x="2444370" y="3716872"/>
                  <a:pt x="2382359" y="3612972"/>
                  <a:pt x="2228143" y="3661343"/>
                </a:cubicBezTo>
                <a:cubicBezTo>
                  <a:pt x="2073927" y="3709714"/>
                  <a:pt x="1984522" y="3632295"/>
                  <a:pt x="1769408" y="3661343"/>
                </a:cubicBezTo>
                <a:cubicBezTo>
                  <a:pt x="1554294" y="3690391"/>
                  <a:pt x="1399695" y="3639323"/>
                  <a:pt x="1135916" y="3661343"/>
                </a:cubicBezTo>
                <a:cubicBezTo>
                  <a:pt x="872137" y="3683363"/>
                  <a:pt x="714739" y="3648377"/>
                  <a:pt x="589803" y="3661343"/>
                </a:cubicBezTo>
                <a:cubicBezTo>
                  <a:pt x="464867" y="3674309"/>
                  <a:pt x="203823" y="3641550"/>
                  <a:pt x="0" y="3661343"/>
                </a:cubicBezTo>
                <a:cubicBezTo>
                  <a:pt x="-44490" y="3486614"/>
                  <a:pt x="53250" y="3350315"/>
                  <a:pt x="0" y="3138294"/>
                </a:cubicBezTo>
                <a:cubicBezTo>
                  <a:pt x="-53250" y="2926273"/>
                  <a:pt x="43210" y="2845072"/>
                  <a:pt x="0" y="2725085"/>
                </a:cubicBezTo>
                <a:cubicBezTo>
                  <a:pt x="-43210" y="2605098"/>
                  <a:pt x="27248" y="2489948"/>
                  <a:pt x="0" y="2311877"/>
                </a:cubicBezTo>
                <a:cubicBezTo>
                  <a:pt x="-27248" y="2133806"/>
                  <a:pt x="38579" y="1907985"/>
                  <a:pt x="0" y="1752214"/>
                </a:cubicBezTo>
                <a:cubicBezTo>
                  <a:pt x="-38579" y="1596443"/>
                  <a:pt x="44330" y="1393055"/>
                  <a:pt x="0" y="1302392"/>
                </a:cubicBezTo>
                <a:cubicBezTo>
                  <a:pt x="-44330" y="1211729"/>
                  <a:pt x="62070" y="866685"/>
                  <a:pt x="0" y="706116"/>
                </a:cubicBezTo>
                <a:cubicBezTo>
                  <a:pt x="-62070" y="545547"/>
                  <a:pt x="19338" y="26149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94C5BC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6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4268-CE78-3434-A6A4-F83AA3B9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Context-Aware Instruction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2204B-D844-D958-ECA3-A6AF3D21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A6A146-3088-F1C5-98B1-6EBE90592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4136" y="2351314"/>
            <a:ext cx="2359203" cy="4789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B2ED8F-7513-73A5-8025-6F97759B6FF6}"/>
              </a:ext>
            </a:extLst>
          </p:cNvPr>
          <p:cNvSpPr txBox="1"/>
          <p:nvPr/>
        </p:nvSpPr>
        <p:spPr>
          <a:xfrm>
            <a:off x="736277" y="5062598"/>
            <a:ext cx="92241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Helps model distinguish ambiguous replies (“OK”, “Fine”) depending on context.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946320-14A1-C0A9-0C5B-DEC1D838B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083" y="1718206"/>
            <a:ext cx="76581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30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F65C-68A6-5E12-06C9-EE004248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Experimental Setup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292E-DC25-358C-C03B-C41FFDCFC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</a:t>
            </a:r>
            <a:r>
              <a:rPr lang="en-US" dirty="0"/>
              <a:t>: MELD (7 emotions, 12.2 hours, 13,847 utterances)</a:t>
            </a:r>
          </a:p>
          <a:p>
            <a:r>
              <a:rPr lang="en-US" b="1" dirty="0"/>
              <a:t>Model:</a:t>
            </a:r>
            <a:r>
              <a:rPr lang="en-US" dirty="0"/>
              <a:t> LLaMA-3-8B fine-tuned using </a:t>
            </a:r>
            <a:r>
              <a:rPr lang="en-US" dirty="0" err="1"/>
              <a:t>LoRA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Lora Rank: 2, </a:t>
            </a:r>
            <a:r>
              <a:rPr lang="el-GR" dirty="0"/>
              <a:t>α: 16, </a:t>
            </a:r>
            <a:r>
              <a:rPr lang="en-US" dirty="0"/>
              <a:t>Dropout: 0.2</a:t>
            </a:r>
          </a:p>
          <a:p>
            <a:pPr lvl="1"/>
            <a:r>
              <a:rPr lang="en-US" dirty="0"/>
              <a:t>All encoder layers frozen except the last two</a:t>
            </a:r>
          </a:p>
          <a:p>
            <a:pPr lvl="1"/>
            <a:r>
              <a:rPr lang="en-US" dirty="0"/>
              <a:t>Optimizer: </a:t>
            </a:r>
            <a:r>
              <a:rPr lang="en-US" dirty="0" err="1"/>
              <a:t>AdamW</a:t>
            </a:r>
            <a:r>
              <a:rPr lang="en-US" dirty="0"/>
              <a:t> (</a:t>
            </a:r>
            <a:r>
              <a:rPr lang="en-US" dirty="0" err="1"/>
              <a:t>lr</a:t>
            </a:r>
            <a:r>
              <a:rPr lang="en-US" dirty="0"/>
              <a:t> = 5e-6, cosine decay)</a:t>
            </a:r>
          </a:p>
          <a:p>
            <a:r>
              <a:rPr lang="en-US" b="1" dirty="0"/>
              <a:t>Hardware: </a:t>
            </a:r>
            <a:r>
              <a:rPr lang="en-US" dirty="0"/>
              <a:t>Experiments conducted on H</a:t>
            </a:r>
            <a:r>
              <a:rPr lang="en-US" altLang="zh-CN" dirty="0"/>
              <a:t>100</a:t>
            </a:r>
            <a:r>
              <a:rPr lang="en-US" dirty="0"/>
              <a:t> GPUs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6FF4A-561B-F668-4EC2-277A88C2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1116-DD7A-BF5B-77E7-53B8E3615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vs Existing ALLMs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1F46F5-6F25-0025-EE91-DDF16AFF9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658" y="1030375"/>
            <a:ext cx="4572000" cy="4533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3A538-FA6D-3F35-E8B7-461B3687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A3C1B-6F4E-24E2-73DE-651674F928EB}"/>
              </a:ext>
            </a:extLst>
          </p:cNvPr>
          <p:cNvSpPr txBox="1"/>
          <p:nvPr/>
        </p:nvSpPr>
        <p:spPr>
          <a:xfrm>
            <a:off x="5584371" y="2143163"/>
            <a:ext cx="56568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Key insights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EAA achieves the highest accuracy (</a:t>
            </a:r>
            <a:r>
              <a:rPr lang="en-US" b="1" dirty="0"/>
              <a:t>+11.4%</a:t>
            </a:r>
            <a:r>
              <a:rPr lang="en-US" dirty="0"/>
              <a:t>) over prior best (BLSP-Emo)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improvements come from better modality fusion + context modeling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2848E1-A3CA-B668-F679-1787C780F410}"/>
              </a:ext>
            </a:extLst>
          </p:cNvPr>
          <p:cNvSpPr/>
          <p:nvPr/>
        </p:nvSpPr>
        <p:spPr>
          <a:xfrm>
            <a:off x="3859078" y="4928461"/>
            <a:ext cx="1131376" cy="4804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68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DE7F-0A7F-8B1A-0C0F-B5BE9009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vs Traditional Models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1EBEE-A2D0-8CCB-6541-A74777FB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33FE8F-C164-85A3-8550-F630E10C4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93" y="1384300"/>
            <a:ext cx="7277100" cy="408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AF5B79-EB5A-CD4A-9271-8E71558C7DCE}"/>
              </a:ext>
            </a:extLst>
          </p:cNvPr>
          <p:cNvSpPr txBox="1"/>
          <p:nvPr/>
        </p:nvSpPr>
        <p:spPr>
          <a:xfrm>
            <a:off x="7717971" y="3105834"/>
            <a:ext cx="4659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EAA uses only </a:t>
            </a:r>
            <a:r>
              <a:rPr lang="en-US" b="1" dirty="0"/>
              <a:t>audio + text</a:t>
            </a:r>
            <a:r>
              <a:rPr lang="en-US" dirty="0"/>
              <a:t> (no video!)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35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E069-46B6-AB94-81D7-E7045027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Ablation</a:t>
            </a:r>
            <a:r>
              <a:rPr lang="zh-CN" altLang="en-US" b="1" dirty="0"/>
              <a:t> </a:t>
            </a:r>
            <a:r>
              <a:rPr lang="en-US" altLang="zh-CN" dirty="0"/>
              <a:t>S</a:t>
            </a:r>
            <a:r>
              <a:rPr lang="en-US" altLang="zh-CN" b="1" dirty="0"/>
              <a:t>tudy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E4B4D-5693-670C-3D06-0508072C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0AFAC-1085-F895-8EDD-5AEF2DB3D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40" y="1819969"/>
            <a:ext cx="7143596" cy="2193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96123D-6136-068D-DC5C-B5EF6BC962EB}"/>
              </a:ext>
            </a:extLst>
          </p:cNvPr>
          <p:cNvSpPr txBox="1"/>
          <p:nvPr/>
        </p:nvSpPr>
        <p:spPr>
          <a:xfrm>
            <a:off x="2211527" y="4420894"/>
            <a:ext cx="7908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Adding text (utterance) dramatically boosts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Adding dialogue context gives further gains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87D4A-D288-FBBB-DB3E-ADCAE9F48940}"/>
              </a:ext>
            </a:extLst>
          </p:cNvPr>
          <p:cNvSpPr txBox="1"/>
          <p:nvPr/>
        </p:nvSpPr>
        <p:spPr>
          <a:xfrm>
            <a:off x="664037" y="1090876"/>
            <a:ext cx="537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Context-Aware Instruction Tuning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3091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FDF3E-B367-FA18-15DB-D6BEDBCC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B012C-8543-CC5E-2447-F321DBF5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9FE44-972A-59F1-38E1-1C6A69A49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64" y="1516399"/>
            <a:ext cx="6116528" cy="48527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9B03C0-7914-F5F3-7E71-B645A8F21789}"/>
              </a:ext>
            </a:extLst>
          </p:cNvPr>
          <p:cNvSpPr txBox="1"/>
          <p:nvPr/>
        </p:nvSpPr>
        <p:spPr>
          <a:xfrm>
            <a:off x="725658" y="1054734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Dual Cross-Attention 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1A4F0-F2D5-1B59-A034-33F111798E9A}"/>
              </a:ext>
            </a:extLst>
          </p:cNvPr>
          <p:cNvSpPr txBox="1"/>
          <p:nvPr/>
        </p:nvSpPr>
        <p:spPr>
          <a:xfrm>
            <a:off x="6261135" y="1516399"/>
            <a:ext cx="59308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Self-attention:</a:t>
            </a:r>
            <a:r>
              <a:rPr lang="en-US" dirty="0"/>
              <a:t> each modality processed independently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Cross-attention (S):</a:t>
            </a:r>
            <a:r>
              <a:rPr lang="en-US" dirty="0"/>
              <a:t> semantic as query, acoustic as key-value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Cross-attention (A):</a:t>
            </a:r>
            <a:r>
              <a:rPr lang="en-US" dirty="0"/>
              <a:t> acoustic as query, semantic as key-value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Dual cross-attention:</a:t>
            </a:r>
            <a:r>
              <a:rPr lang="en-US" dirty="0"/>
              <a:t> both modalities attend to each other bidirectionally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51A90-0571-514C-3A9F-AE7DE4B02B86}"/>
              </a:ext>
            </a:extLst>
          </p:cNvPr>
          <p:cNvSpPr txBox="1"/>
          <p:nvPr/>
        </p:nvSpPr>
        <p:spPr>
          <a:xfrm>
            <a:off x="6261135" y="4351873"/>
            <a:ext cx="56982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Dual cross-attention achieves the best performance, validating the importance of bidirectional modality fusion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Cross-attention with acoustic queries and semantic keys/values is more effective than the reverse direction.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166FF5-A977-6E5D-CB91-F37E62BD2F3F}"/>
              </a:ext>
            </a:extLst>
          </p:cNvPr>
          <p:cNvCxnSpPr/>
          <p:nvPr/>
        </p:nvCxnSpPr>
        <p:spPr>
          <a:xfrm>
            <a:off x="6323218" y="4101722"/>
            <a:ext cx="5574043" cy="0"/>
          </a:xfrm>
          <a:prstGeom prst="line">
            <a:avLst/>
          </a:prstGeom>
          <a:ln w="28575">
            <a:solidFill>
              <a:srgbClr val="82C6E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058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AA004-61E5-BC70-B6E2-97A77BC8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C8ED0-CD97-A77A-382F-3EC931EE1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EAA introduces:</a:t>
            </a: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Dual cross-attention for better feature integration</a:t>
            </a: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Context-aware prompts for better emotion grounding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State-of-the-art emotion accuracy for audio LLMs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6434-8DD2-968A-5A01-DA40AAB9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41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2481F-E7D3-1D1D-0419-68CD68071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52DE6-F386-4E83-B48F-1738D913012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0767E-72B8-D186-69F1-597324841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64" y="1002186"/>
            <a:ext cx="8195697" cy="485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4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8493</TotalTime>
  <Words>439</Words>
  <Application>Microsoft Macintosh PowerPoint</Application>
  <PresentationFormat>Widescreen</PresentationFormat>
  <Paragraphs>80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Microsoft YaHei</vt:lpstr>
      <vt:lpstr>Aptos</vt:lpstr>
      <vt:lpstr>Aptos Display</vt:lpstr>
      <vt:lpstr>Arial</vt:lpstr>
      <vt:lpstr>Calibri</vt:lpstr>
      <vt:lpstr>Office Theme</vt:lpstr>
      <vt:lpstr>Office 主题​​</vt:lpstr>
      <vt:lpstr>  EAA: Emotion-Aware Audio Large Language Models with Dual Cross-Attention and Context-Aware Instruction Tuning  </vt:lpstr>
      <vt:lpstr>Background</vt:lpstr>
      <vt:lpstr>Motivation</vt:lpstr>
      <vt:lpstr>Contribution</vt:lpstr>
      <vt:lpstr>Architecture Overview</vt:lpstr>
      <vt:lpstr>Dual Cross-Attention (Fusion Module)</vt:lpstr>
      <vt:lpstr>Context-Aware Instruction Tuning</vt:lpstr>
      <vt:lpstr>Experimental Setup</vt:lpstr>
      <vt:lpstr>Results vs Existing ALLMs</vt:lpstr>
      <vt:lpstr>Results vs Traditional Models</vt:lpstr>
      <vt:lpstr>Ablation Study</vt:lpstr>
      <vt:lpstr>Ablation Study</vt:lpstr>
      <vt:lpstr>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Shi, Jiacheng</dc:creator>
  <cp:lastModifiedBy>hf du</cp:lastModifiedBy>
  <cp:revision>64</cp:revision>
  <dcterms:created xsi:type="dcterms:W3CDTF">2024-07-05T03:27:00Z</dcterms:created>
  <dcterms:modified xsi:type="dcterms:W3CDTF">2025-07-29T20:14:09Z</dcterms:modified>
</cp:coreProperties>
</file>