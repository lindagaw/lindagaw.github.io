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7" r:id="rId2"/>
    <p:sldId id="657" r:id="rId3"/>
    <p:sldId id="670" r:id="rId4"/>
    <p:sldId id="672" r:id="rId5"/>
    <p:sldId id="671" r:id="rId6"/>
    <p:sldId id="673" r:id="rId7"/>
    <p:sldId id="674" r:id="rId8"/>
    <p:sldId id="675" r:id="rId9"/>
    <p:sldId id="676" r:id="rId10"/>
    <p:sldId id="6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464"/>
  </p:normalViewPr>
  <p:slideViewPr>
    <p:cSldViewPr snapToGrid="0">
      <p:cViewPr varScale="1">
        <p:scale>
          <a:sx n="84" d="100"/>
          <a:sy n="84" d="100"/>
        </p:scale>
        <p:origin x="2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B3232-7B4F-AF42-BE27-AD3347ED4235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7CF7-55AB-E34C-97F4-36CEDA832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5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B16AF9-54C4-453E-B378-E27D26EE66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153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66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ACFA-99F9-BEC1-B9C9-549B5E46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7FD62-3B6A-592A-B32F-3BD0B6C7D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0A7CE-B6DF-4795-C6ED-FB043141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1F24E-BC39-0EE7-9055-F7B0F4FFB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28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C55B-ACD5-4DBE-184E-EE2A4289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4EC76-09AC-7307-C051-67479824F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14560-B624-6882-EE72-84DF18EE6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Now let me explain EASPM, the timestep-aware emotion preference scorer.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EASPM is responsible for answering a local question: among several candidate intermediate states at the same denoising step, which one better matches the target emotional prompt?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We build EASPM on top of CLEP, a contrastive audio-language model for emotional speech. The audio branch encodes the noisy intermediate mel-spectrogram together with the timestep, and the text branch encodes the emotion prompt. We then compute the normalized inner product between the audio embedding and the text embedding.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This gives us an emotion–prompt consistency score for each candidate.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The important design is timestep conditioning. Intermediate diffusion states are noisy and their acoustic structure changes over time. A scorer that works on clean audio may not correctly evaluate noisy intermediate states. By making the scorer timestep-aware, EASPM can provide meaningful preference scores across different denoising stages.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5B236-D948-34E8-D19A-74EEB0CDD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81DA-E678-35BF-B641-31639517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DE165-62C8-7D43-EB73-614292042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B410E-40A1-FEA7-33F9-CDA30AFBE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77F2C-BC92-3E8A-F9FE-6B470F072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6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2758A-7FD3-8BB5-F198-4EAE0168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021AC-3501-6A45-3709-2C6FA473F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55F99-DD81-38C3-2C49-40988445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BF8AA-FA4F-21EB-B494-DF3954C34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82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B292-6FD4-2A17-A38E-E5EFB1B2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6536F-5FB7-0120-717B-0502F6582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C0DB8-D9F4-535D-4E1E-7E0221767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8E2D4-D6B3-5E23-DFCE-7885C21FD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64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B0D3C-BFA4-8E81-AA34-8F37D075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DFC10-174E-22FE-0E9F-F8F0A012F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C734D-1719-FBEB-CF08-7B41E8394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A2B46-5863-E497-708A-9F8645C08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26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3B0CC-E886-3AA9-7E6E-02E0BE9E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1AE26-31BF-C971-C043-BEA927F9C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386BD-8CC6-45DE-53B1-0B13F3C38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2BC62-6964-491F-77A0-6319E7117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56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8646-4F1E-7C22-11B9-9E696EE0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7ED23-DC9A-9C0C-220B-D63E2AD3C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3C36B-A249-C34B-8D11-50598D450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FF575-BB20-1BD4-068D-8A58037FF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16AF9-54C4-453E-B378-E27D26EE66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6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图片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68754"/>
            <a:ext cx="8886092" cy="162489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35992" y="6356350"/>
            <a:ext cx="2743200" cy="365125"/>
          </a:xfrm>
        </p:spPr>
        <p:txBody>
          <a:bodyPr/>
          <a:lstStyle>
            <a:lvl1pPr>
              <a:defRPr sz="14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ollege Of William &amp;amp; Mary, HD Png Download - kindpng">
            <a:extLst>
              <a:ext uri="{FF2B5EF4-FFF2-40B4-BE49-F238E27FC236}">
                <a16:creationId xmlns:a16="http://schemas.microsoft.com/office/drawing/2014/main" id="{08421D68-F233-E442-A3C1-246EBA7001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93" y="117132"/>
            <a:ext cx="1307335" cy="150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28502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658" y="168177"/>
            <a:ext cx="10515600" cy="478937"/>
          </a:xfrm>
        </p:spPr>
        <p:txBody>
          <a:bodyPr>
            <a:noAutofit/>
          </a:bodyPr>
          <a:lstStyle>
            <a:lvl1pPr>
              <a:defRPr sz="3200" b="1"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57" y="1055077"/>
            <a:ext cx="10628143" cy="5121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136" y="6356350"/>
            <a:ext cx="2743200" cy="365125"/>
          </a:xfrm>
        </p:spPr>
        <p:txBody>
          <a:bodyPr/>
          <a:lstStyle>
            <a:lvl1pPr>
              <a:defRPr sz="14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725656" y="762704"/>
            <a:ext cx="10607040" cy="63797"/>
          </a:xfrm>
          <a:prstGeom prst="rect">
            <a:avLst/>
          </a:prstGeom>
          <a:gradFill rotWithShape="0">
            <a:gsLst>
              <a:gs pos="0">
                <a:srgbClr val="0072C6"/>
              </a:gs>
              <a:gs pos="100000">
                <a:srgbClr val="E5F1F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80090029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1872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7478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5859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4348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8954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9748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9117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1636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4198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083BF-C15F-4E33-9C1A-7B4D0B21F4EF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0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microsoft.com/office/2007/relationships/media" Target="../media/media7.wav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17" Type="http://schemas.openxmlformats.org/officeDocument/2006/relationships/image" Target="../media/image11.png"/><Relationship Id="rId2" Type="http://schemas.openxmlformats.org/officeDocument/2006/relationships/audio" Target="../media/media1.wav"/><Relationship Id="rId16" Type="http://schemas.openxmlformats.org/officeDocument/2006/relationships/notesSlide" Target="../notesSlides/notesSlide9.xml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openxmlformats.org/officeDocument/2006/relationships/slideLayout" Target="../slideLayouts/slideLayout2.xml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audio" Target="../media/media7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hlinkClick r:id="" action="ppaction://noaction"/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938494" y="1591197"/>
            <a:ext cx="8315011" cy="1131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r>
              <a:rPr lang="en-US" altLang="zh-CN" sz="2400" b="1" dirty="0"/>
              <a:t>Emotion-Aligned Generation in Diffusion TTS via Preference-Guided Optimization</a:t>
            </a:r>
            <a:br>
              <a:rPr lang="en-US" altLang="zh-CN" sz="2800" dirty="0">
                <a:highlight>
                  <a:srgbClr val="000000"/>
                </a:highlight>
              </a:rPr>
            </a:br>
            <a:endParaRPr lang="en-US" altLang="zh-CN" sz="2800" dirty="0">
              <a:highlight>
                <a:srgbClr val="000000"/>
              </a:highlight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52DE6-F386-4E83-B48F-1738D913012A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59362" y="2932168"/>
            <a:ext cx="8407739" cy="2842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 algn="ctr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Jiacheng Shi</a:t>
            </a:r>
            <a:r>
              <a:rPr lang="en-US" altLang="zh-CN" sz="2000" baseline="30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Hongfei Du</a:t>
            </a:r>
            <a:r>
              <a:rPr lang="en-US" altLang="zh-CN" sz="2000" baseline="30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Yangfan</a:t>
            </a:r>
            <a:r>
              <a:rPr lang="en-US" altLang="zh-CN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</a:t>
            </a:r>
            <a:r>
              <a:rPr lang="en-US" altLang="zh-CN" sz="2000" baseline="30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Y. Alicia Hong</a:t>
            </a:r>
            <a:r>
              <a:rPr lang="en-US" altLang="zh-CN" sz="2000" baseline="30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Ye Gao</a:t>
            </a:r>
            <a:r>
              <a:rPr lang="en-US" altLang="zh-CN" sz="2000" baseline="30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College</a:t>
            </a:r>
            <a:r>
              <a:rPr kumimoji="0" lang="zh-CN" altLang="en-US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of</a:t>
            </a:r>
            <a:r>
              <a:rPr kumimoji="0" lang="zh-CN" altLang="en-US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William</a:t>
            </a:r>
            <a:r>
              <a:rPr kumimoji="0" lang="zh-CN" altLang="en-US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and</a:t>
            </a:r>
            <a:r>
              <a:rPr kumimoji="0" lang="zh-CN" altLang="en-US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Mary</a:t>
            </a:r>
          </a:p>
          <a:p>
            <a:pPr algn="ctr" defTabSz="457200">
              <a:lnSpc>
                <a:spcPct val="150000"/>
              </a:lnSpc>
              <a:defRPr/>
            </a:pP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Minnesota - Twin Cities,</a:t>
            </a:r>
          </a:p>
          <a:p>
            <a:pPr algn="ctr" defTabSz="457200">
              <a:lnSpc>
                <a:spcPct val="150000"/>
              </a:lnSpc>
              <a:defRPr/>
            </a:pP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George Mason University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207D2-56AE-C9B4-C6B8-DC63AC8BFBCF}"/>
              </a:ext>
            </a:extLst>
          </p:cNvPr>
          <p:cNvSpPr txBox="1"/>
          <p:nvPr/>
        </p:nvSpPr>
        <p:spPr>
          <a:xfrm>
            <a:off x="3859306" y="58225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46A88B-65D3-5FC8-825E-3CAA9DB02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58" y="295273"/>
            <a:ext cx="2042135" cy="108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E5FD-C13F-B588-F656-A1E680A0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n-lt"/>
              </a:rPr>
              <a:t>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4C1F6-28F3-C7E9-6E1F-4621E892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211C93-D8B2-AF44-0A7B-788A3B538458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982937-E262-84EB-34EE-A13E1296276D}"/>
              </a:ext>
            </a:extLst>
          </p:cNvPr>
          <p:cNvSpPr/>
          <p:nvPr/>
        </p:nvSpPr>
        <p:spPr>
          <a:xfrm>
            <a:off x="822090" y="12398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alignment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98C63A5-05B9-09E9-F504-6FA141B7E6CE}"/>
              </a:ext>
            </a:extLst>
          </p:cNvPr>
          <p:cNvSpPr/>
          <p:nvPr/>
        </p:nvSpPr>
        <p:spPr>
          <a:xfrm>
            <a:off x="822090" y="1616912"/>
            <a:ext cx="310896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A3A90D-3EAC-BB6B-6C5A-2A93DAAA4502}"/>
              </a:ext>
            </a:extLst>
          </p:cNvPr>
          <p:cNvSpPr/>
          <p:nvPr/>
        </p:nvSpPr>
        <p:spPr>
          <a:xfrm>
            <a:off x="4616850" y="12398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4A5CBBC-B401-09A6-C77A-67B44685F34F}"/>
              </a:ext>
            </a:extLst>
          </p:cNvPr>
          <p:cNvSpPr/>
          <p:nvPr/>
        </p:nvSpPr>
        <p:spPr>
          <a:xfrm>
            <a:off x="4616850" y="1616912"/>
            <a:ext cx="32004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B0AB4D-C82B-1C5A-2583-DA5D2B03231F}"/>
              </a:ext>
            </a:extLst>
          </p:cNvPr>
          <p:cNvSpPr/>
          <p:nvPr/>
        </p:nvSpPr>
        <p:spPr>
          <a:xfrm>
            <a:off x="8274450" y="12398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922EC26-6B5C-4948-EA04-D15AF1F8F4E6}"/>
              </a:ext>
            </a:extLst>
          </p:cNvPr>
          <p:cNvSpPr/>
          <p:nvPr/>
        </p:nvSpPr>
        <p:spPr>
          <a:xfrm>
            <a:off x="8274450" y="1616912"/>
            <a:ext cx="31089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DA51E09-4D85-344F-0307-FD8BCD907B5C}"/>
              </a:ext>
            </a:extLst>
          </p:cNvPr>
          <p:cNvSpPr/>
          <p:nvPr/>
        </p:nvSpPr>
        <p:spPr>
          <a:xfrm>
            <a:off x="900040" y="2000960"/>
            <a:ext cx="2930427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396962A-26DF-883A-BCA4-403F415031C4}"/>
              </a:ext>
            </a:extLst>
          </p:cNvPr>
          <p:cNvSpPr/>
          <p:nvPr/>
        </p:nvSpPr>
        <p:spPr>
          <a:xfrm>
            <a:off x="966260" y="2064968"/>
            <a:ext cx="2763657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waveform</a:t>
            </a:r>
            <a:r>
              <a:rPr lang="zh-CN" altLang="en-US" sz="1600" dirty="0"/>
              <a:t> </a:t>
            </a:r>
            <a:r>
              <a:rPr lang="en-US" sz="1600" b="1" dirty="0">
                <a:solidFill>
                  <a:srgbClr val="0F172A"/>
                </a:solidFill>
              </a:rPr>
              <a:t>preference</a:t>
            </a:r>
            <a:endParaRPr lang="en-US" sz="16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6DA773CB-502F-96F2-D2BE-25DCC845BE18}"/>
              </a:ext>
            </a:extLst>
          </p:cNvPr>
          <p:cNvSpPr/>
          <p:nvPr/>
        </p:nvSpPr>
        <p:spPr>
          <a:xfrm>
            <a:off x="900043" y="3574464"/>
            <a:ext cx="2930424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059C56DE-4383-31CF-8BEE-418037247F9E}"/>
              </a:ext>
            </a:extLst>
          </p:cNvPr>
          <p:cNvSpPr/>
          <p:nvPr/>
        </p:nvSpPr>
        <p:spPr>
          <a:xfrm>
            <a:off x="1002819" y="3659020"/>
            <a:ext cx="26905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zh-CN" sz="1600" b="1" dirty="0"/>
              <a:t>Apply the same signal </a:t>
            </a:r>
          </a:p>
          <a:p>
            <a:pPr algn="ctr"/>
            <a:r>
              <a:rPr lang="en-US" altLang="zh-CN" sz="1600" b="1" dirty="0"/>
              <a:t>to all steps</a:t>
            </a:r>
            <a:endParaRPr lang="en-US" altLang="zh-CN" sz="16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5B7C2AF3-0B04-E4AE-68FD-D645354A7938}"/>
              </a:ext>
            </a:extLst>
          </p:cNvPr>
          <p:cNvSpPr/>
          <p:nvPr/>
        </p:nvSpPr>
        <p:spPr>
          <a:xfrm>
            <a:off x="2348089" y="2714192"/>
            <a:ext cx="0" cy="822960"/>
          </a:xfrm>
          <a:prstGeom prst="line">
            <a:avLst/>
          </a:prstGeom>
          <a:noFill/>
          <a:ln w="1778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BE043F58-3650-5FA1-BC83-E781B151E0BE}"/>
              </a:ext>
            </a:extLst>
          </p:cNvPr>
          <p:cNvSpPr/>
          <p:nvPr/>
        </p:nvSpPr>
        <p:spPr>
          <a:xfrm>
            <a:off x="4616850" y="1936499"/>
            <a:ext cx="3200399" cy="72283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157892BD-8E6D-C842-CCC5-29416186A0D2}"/>
              </a:ext>
            </a:extLst>
          </p:cNvPr>
          <p:cNvSpPr/>
          <p:nvPr/>
        </p:nvSpPr>
        <p:spPr>
          <a:xfrm>
            <a:off x="4634178" y="1891232"/>
            <a:ext cx="316379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zh-CN" sz="1600" b="1" dirty="0"/>
              <a:t>Flawed assumption: all steps are equally preferred</a:t>
            </a:r>
            <a:endParaRPr lang="en-US" altLang="zh-CN" sz="1600" dirty="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FB5C14CF-A0F9-5FAC-C5F7-04906B6B5736}"/>
              </a:ext>
            </a:extLst>
          </p:cNvPr>
          <p:cNvSpPr/>
          <p:nvPr/>
        </p:nvSpPr>
        <p:spPr>
          <a:xfrm>
            <a:off x="4616849" y="3537152"/>
            <a:ext cx="3200395" cy="694944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53351C7F-6C94-9354-0F24-6756E4F5BFE1}"/>
              </a:ext>
            </a:extLst>
          </p:cNvPr>
          <p:cNvSpPr/>
          <p:nvPr/>
        </p:nvSpPr>
        <p:spPr>
          <a:xfrm>
            <a:off x="4644936" y="3636212"/>
            <a:ext cx="3136392" cy="53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altLang="zh-CN" sz="1600" b="1" dirty="0"/>
              <a:t>Emotion is formed progressively during denoising</a:t>
            </a:r>
            <a:endParaRPr lang="en-US" altLang="zh-CN" sz="16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628E5BF1-FF25-BAC9-8AE5-C09CE75E06DE}"/>
              </a:ext>
            </a:extLst>
          </p:cNvPr>
          <p:cNvSpPr/>
          <p:nvPr/>
        </p:nvSpPr>
        <p:spPr>
          <a:xfrm>
            <a:off x="6125611" y="2664473"/>
            <a:ext cx="0" cy="872679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37A0FEFE-262D-45B9-9049-3F34D6A257B6}"/>
              </a:ext>
            </a:extLst>
          </p:cNvPr>
          <p:cNvSpPr/>
          <p:nvPr/>
        </p:nvSpPr>
        <p:spPr>
          <a:xfrm>
            <a:off x="8252913" y="1920145"/>
            <a:ext cx="3422875" cy="1640602"/>
          </a:xfrm>
          <a:prstGeom prst="roundRect">
            <a:avLst>
              <a:gd name="adj" fmla="val 7500"/>
            </a:avLst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0CBB01AE-8D47-6DFD-E888-9E7F92C1C640}"/>
              </a:ext>
            </a:extLst>
          </p:cNvPr>
          <p:cNvSpPr/>
          <p:nvPr/>
        </p:nvSpPr>
        <p:spPr>
          <a:xfrm>
            <a:off x="8426205" y="2262326"/>
            <a:ext cx="3228067" cy="9768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altLang="zh-CN" sz="1600" b="1" dirty="0"/>
              <a:t>Move from endpoint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supervision </a:t>
            </a:r>
          </a:p>
          <a:p>
            <a:r>
              <a:rPr lang="en-US" altLang="zh-CN" sz="1600" b="1" dirty="0"/>
              <a:t>→ stepwise supervision</a:t>
            </a:r>
            <a:endParaRPr lang="en-US" altLang="zh-CN" sz="16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00AB5B4B-7775-0175-910D-91CD1CB0C1DB}"/>
              </a:ext>
            </a:extLst>
          </p:cNvPr>
          <p:cNvSpPr/>
          <p:nvPr/>
        </p:nvSpPr>
        <p:spPr>
          <a:xfrm>
            <a:off x="822090" y="4929445"/>
            <a:ext cx="106070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334155"/>
                </a:solidFill>
                <a:latin typeface="+mj-lt"/>
                <a:cs typeface="Times New Roman" panose="02020603050405020304" pitchFamily="18" charset="0"/>
              </a:rPr>
              <a:t>• </a:t>
            </a:r>
            <a:r>
              <a:rPr lang="en-US" altLang="zh-CN" sz="1600" dirty="0"/>
              <a:t>Emotion cues are </a:t>
            </a:r>
            <a:r>
              <a:rPr lang="en-US" altLang="zh-CN" sz="1600" b="1" dirty="0"/>
              <a:t>local and temporally varying</a:t>
            </a:r>
            <a:r>
              <a:rPr lang="en-US" altLang="zh-CN" sz="1600" dirty="0"/>
              <a:t> </a:t>
            </a:r>
          </a:p>
          <a:p>
            <a:r>
              <a:rPr lang="en-US" sz="1500" dirty="0">
                <a:solidFill>
                  <a:srgbClr val="334155"/>
                </a:solidFill>
                <a:latin typeface="+mj-lt"/>
                <a:cs typeface="Times New Roman" panose="02020603050405020304" pitchFamily="18" charset="0"/>
              </a:rPr>
              <a:t>• </a:t>
            </a:r>
            <a:r>
              <a:rPr lang="en-US" altLang="zh-CN" sz="1600" dirty="0"/>
              <a:t>Endpoint supervision is </a:t>
            </a:r>
            <a:r>
              <a:rPr lang="en-US" altLang="zh-CN" sz="1600" b="1" dirty="0"/>
              <a:t>too sparse to capture this </a:t>
            </a:r>
            <a:r>
              <a:rPr lang="en-US" altLang="zh-CN" sz="1600" b="1" baseline="30000" dirty="0"/>
              <a:t>[1]</a:t>
            </a:r>
            <a:endParaRPr lang="en-US" altLang="zh-CN" sz="16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FBB0575-6BC6-C868-A5CD-6CD977285420}"/>
              </a:ext>
            </a:extLst>
          </p:cNvPr>
          <p:cNvSpPr txBox="1"/>
          <p:nvPr/>
        </p:nvSpPr>
        <p:spPr>
          <a:xfrm>
            <a:off x="822090" y="5971968"/>
            <a:ext cx="50022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[1]: Emo-DPO (Gao et al., ICASSP’25)</a:t>
            </a:r>
          </a:p>
        </p:txBody>
      </p:sp>
    </p:spTree>
    <p:extLst>
      <p:ext uri="{BB962C8B-B14F-4D97-AF65-F5344CB8AC3E}">
        <p14:creationId xmlns:p14="http://schemas.microsoft.com/office/powerpoint/2010/main" val="74330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6D198-6AC3-A538-D84D-A166D881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2CBE-E2B8-9BF9-AC47-DD790A86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+mn-lt"/>
              </a:rPr>
              <a:t>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51151-C15C-6FC5-9E6A-9160F31F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BC2357-EB51-AEDA-A04A-EF428F623646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44962B1-8E6A-E37D-B3A5-3FA14E5FB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8" y="1388405"/>
            <a:ext cx="7953063" cy="4176054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419E4D9C-CD92-3AB1-917E-56BD463B3A01}"/>
              </a:ext>
            </a:extLst>
          </p:cNvPr>
          <p:cNvSpPr/>
          <p:nvPr/>
        </p:nvSpPr>
        <p:spPr>
          <a:xfrm>
            <a:off x="8408773" y="1165019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2556D0D-FA88-34D8-0E22-7274AF994762}"/>
              </a:ext>
            </a:extLst>
          </p:cNvPr>
          <p:cNvSpPr/>
          <p:nvPr/>
        </p:nvSpPr>
        <p:spPr>
          <a:xfrm>
            <a:off x="8555077" y="1274747"/>
            <a:ext cx="327355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1. Sample k candidates from the same latent</a:t>
            </a:r>
            <a:endParaRPr lang="en-US" sz="14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A18D720-F3B5-168B-9AF6-B2EE1C3723DC}"/>
              </a:ext>
            </a:extLst>
          </p:cNvPr>
          <p:cNvSpPr/>
          <p:nvPr/>
        </p:nvSpPr>
        <p:spPr>
          <a:xfrm>
            <a:off x="8408773" y="2106851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D141008A-A3F6-F931-F14B-BBBA77A2BBA2}"/>
              </a:ext>
            </a:extLst>
          </p:cNvPr>
          <p:cNvSpPr/>
          <p:nvPr/>
        </p:nvSpPr>
        <p:spPr>
          <a:xfrm>
            <a:off x="8555077" y="2216579"/>
            <a:ext cx="327355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2. Score each candidate with EASPM</a:t>
            </a:r>
            <a:endParaRPr lang="en-US" sz="14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111692CC-EE45-CB5D-DDC2-C7CF9A2BCB1B}"/>
              </a:ext>
            </a:extLst>
          </p:cNvPr>
          <p:cNvSpPr/>
          <p:nvPr/>
        </p:nvSpPr>
        <p:spPr>
          <a:xfrm>
            <a:off x="8408773" y="3057827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8E2C9F0-A245-3891-1398-ED7D2E32BD45}"/>
              </a:ext>
            </a:extLst>
          </p:cNvPr>
          <p:cNvSpPr/>
          <p:nvPr/>
        </p:nvSpPr>
        <p:spPr>
          <a:xfrm>
            <a:off x="8555077" y="3167555"/>
            <a:ext cx="327355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3. Use best–worst pair for stepwise alignment</a:t>
            </a:r>
            <a:endParaRPr lang="en-US" sz="14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0D92E393-E477-519B-EC36-39B2ECE35CD8}"/>
              </a:ext>
            </a:extLst>
          </p:cNvPr>
          <p:cNvSpPr/>
          <p:nvPr/>
        </p:nvSpPr>
        <p:spPr>
          <a:xfrm>
            <a:off x="8454493" y="4027091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F0C9E6B9-B3F5-6A71-8398-0BE425B18C7B}"/>
              </a:ext>
            </a:extLst>
          </p:cNvPr>
          <p:cNvSpPr/>
          <p:nvPr/>
        </p:nvSpPr>
        <p:spPr>
          <a:xfrm>
            <a:off x="8555077" y="4109387"/>
            <a:ext cx="327355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4. Randomly continue rollout to avoid biased paths</a:t>
            </a:r>
            <a:endParaRPr lang="en-US" sz="14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CAF99637-B69E-E1EB-2CFE-4B499C557579}"/>
              </a:ext>
            </a:extLst>
          </p:cNvPr>
          <p:cNvSpPr/>
          <p:nvPr/>
        </p:nvSpPr>
        <p:spPr>
          <a:xfrm>
            <a:off x="8408773" y="4978067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E1F7CDD8-E089-C0F5-3978-61E83021EF89}"/>
              </a:ext>
            </a:extLst>
          </p:cNvPr>
          <p:cNvSpPr/>
          <p:nvPr/>
        </p:nvSpPr>
        <p:spPr>
          <a:xfrm>
            <a:off x="8454493" y="5270675"/>
            <a:ext cx="3246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Localized differences isolate emotion/prosody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Shared latent keeps content and noise comparable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Dense feedback steers the full diffusion trajectory</a:t>
            </a:r>
            <a:endParaRPr lang="en-US" sz="1050" dirty="0"/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76102129-780D-2872-EAF2-961AB25129D9}"/>
              </a:ext>
            </a:extLst>
          </p:cNvPr>
          <p:cNvCxnSpPr>
            <a:cxnSpLocks/>
          </p:cNvCxnSpPr>
          <p:nvPr/>
        </p:nvCxnSpPr>
        <p:spPr>
          <a:xfrm>
            <a:off x="8178772" y="1087419"/>
            <a:ext cx="0" cy="51651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87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1B51-69C2-6162-E98A-CDD1645D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DF26-9CC7-C9C3-61CE-FA4FD136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01" y="366012"/>
            <a:ext cx="10515600" cy="478937"/>
          </a:xfrm>
        </p:spPr>
        <p:txBody>
          <a:bodyPr/>
          <a:lstStyle/>
          <a:p>
            <a:r>
              <a:rPr lang="en-US" altLang="zh-CN" sz="28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EASPM: a timestep-aware emotion preference scorer</a:t>
            </a:r>
            <a:br>
              <a:rPr lang="en-US" altLang="zh-CN" sz="2800" dirty="0"/>
            </a:br>
            <a:endParaRPr lang="en-US" sz="2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19610-41F3-B1DD-A562-D874619A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E24C3F-93FE-36DE-A3B8-67A0017274AD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6778075-2A1F-CF2B-AAE3-7134B1BCD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20" y="927342"/>
            <a:ext cx="3475562" cy="556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F79E-BBEC-7017-DAA1-8402A23B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6">
            <a:extLst>
              <a:ext uri="{FF2B5EF4-FFF2-40B4-BE49-F238E27FC236}">
                <a16:creationId xmlns:a16="http://schemas.microsoft.com/office/drawing/2014/main" id="{ACD26792-B5AE-A0DC-0743-EB8CC6F5F922}"/>
              </a:ext>
            </a:extLst>
          </p:cNvPr>
          <p:cNvSpPr/>
          <p:nvPr/>
        </p:nvSpPr>
        <p:spPr>
          <a:xfrm>
            <a:off x="4507025" y="1318074"/>
            <a:ext cx="3135600" cy="1234439"/>
          </a:xfrm>
          <a:prstGeom prst="roundRect">
            <a:avLst>
              <a:gd name="adj" fmla="val 761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248B7-99FB-0EAC-CD54-9A8A19B5C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16" y="314026"/>
            <a:ext cx="11102967" cy="478937"/>
          </a:xfrm>
        </p:spPr>
        <p:txBody>
          <a:bodyPr/>
          <a:lstStyle/>
          <a:p>
            <a:r>
              <a:rPr lang="en-US" altLang="zh-CN" sz="28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EASPO objective: match reward differences with policy preference shifts</a:t>
            </a:r>
            <a:br>
              <a:rPr lang="en-US" altLang="zh-CN" sz="2800" dirty="0"/>
            </a:br>
            <a:endParaRPr lang="en-US" sz="26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8EED8-E104-2F8B-D47D-64DA4A24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91854D-FEC6-C9F7-4703-E620C5E2786D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9B0E6D7-0052-900A-27CA-D206D5599B53}"/>
              </a:ext>
            </a:extLst>
          </p:cNvPr>
          <p:cNvSpPr/>
          <p:nvPr/>
        </p:nvSpPr>
        <p:spPr>
          <a:xfrm>
            <a:off x="776863" y="1303704"/>
            <a:ext cx="3337560" cy="655277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1E80CF2-479D-4C2A-2E26-EEAD6E96B604}"/>
              </a:ext>
            </a:extLst>
          </p:cNvPr>
          <p:cNvSpPr/>
          <p:nvPr/>
        </p:nvSpPr>
        <p:spPr>
          <a:xfrm>
            <a:off x="867939" y="1303704"/>
            <a:ext cx="318211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Dense reward gap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B3837F8-7776-6B61-DF1F-A26AFC05CEAA}"/>
              </a:ext>
            </a:extLst>
          </p:cNvPr>
          <p:cNvSpPr/>
          <p:nvPr/>
        </p:nvSpPr>
        <p:spPr>
          <a:xfrm>
            <a:off x="4507025" y="1318073"/>
            <a:ext cx="3135600" cy="605602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1CC1D91-E2D0-4482-F7BD-9142CEA79766}"/>
              </a:ext>
            </a:extLst>
          </p:cNvPr>
          <p:cNvSpPr/>
          <p:nvPr/>
        </p:nvSpPr>
        <p:spPr>
          <a:xfrm>
            <a:off x="4735229" y="1402467"/>
            <a:ext cx="26791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Log-ratio gap</a:t>
            </a:r>
            <a:endParaRPr lang="en-US" sz="13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F7C2242D-208E-9C2B-AE8D-6822A9E0001C}"/>
              </a:ext>
            </a:extLst>
          </p:cNvPr>
          <p:cNvSpPr/>
          <p:nvPr/>
        </p:nvSpPr>
        <p:spPr>
          <a:xfrm>
            <a:off x="8022503" y="1303704"/>
            <a:ext cx="3136392" cy="605599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D9B738C-36F5-1987-3044-382ED0974B29}"/>
              </a:ext>
            </a:extLst>
          </p:cNvPr>
          <p:cNvSpPr/>
          <p:nvPr/>
        </p:nvSpPr>
        <p:spPr>
          <a:xfrm>
            <a:off x="8021523" y="1433812"/>
            <a:ext cx="31363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Stepwise alignment</a:t>
            </a:r>
            <a:endParaRPr lang="en-US" sz="13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5052218D-51E6-382C-0951-EA7ABA77E121}"/>
              </a:ext>
            </a:extLst>
          </p:cNvPr>
          <p:cNvSpPr/>
          <p:nvPr/>
        </p:nvSpPr>
        <p:spPr>
          <a:xfrm>
            <a:off x="4130751" y="1946720"/>
            <a:ext cx="32823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AD2E76-F94D-31AF-97BB-50E2ADE18F8B}"/>
              </a:ext>
            </a:extLst>
          </p:cNvPr>
          <p:cNvSpPr/>
          <p:nvPr/>
        </p:nvSpPr>
        <p:spPr>
          <a:xfrm>
            <a:off x="7666177" y="1909303"/>
            <a:ext cx="315505" cy="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D485D78-1528-2E6A-B206-B94D511C1D2D}"/>
              </a:ext>
            </a:extLst>
          </p:cNvPr>
          <p:cNvSpPr/>
          <p:nvPr/>
        </p:nvSpPr>
        <p:spPr>
          <a:xfrm>
            <a:off x="77724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How to read the objective</a:t>
            </a:r>
            <a:endParaRPr lang="en-US" sz="16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40212CE6-2470-5478-5F6F-4A22D2A313F4}"/>
              </a:ext>
            </a:extLst>
          </p:cNvPr>
          <p:cNvSpPr/>
          <p:nvPr/>
        </p:nvSpPr>
        <p:spPr>
          <a:xfrm>
            <a:off x="777240" y="3419856"/>
            <a:ext cx="347472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1243DF86-8D27-780E-386B-7FF3D6E0A702}"/>
              </a:ext>
            </a:extLst>
          </p:cNvPr>
          <p:cNvSpPr/>
          <p:nvPr/>
        </p:nvSpPr>
        <p:spPr>
          <a:xfrm>
            <a:off x="841248" y="3584448"/>
            <a:ext cx="3749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EASPM says which local transition is more emotional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Reference policy stabilizes diffusion fine-tuning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Time weight controls where alignment is strongest</a:t>
            </a:r>
            <a:endParaRPr lang="en-US" sz="13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C7624E99-B2E1-9FF9-14DB-9757AE908D02}"/>
              </a:ext>
            </a:extLst>
          </p:cNvPr>
          <p:cNvSpPr/>
          <p:nvPr/>
        </p:nvSpPr>
        <p:spPr>
          <a:xfrm>
            <a:off x="475488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Why difference matching?</a:t>
            </a:r>
            <a:endParaRPr lang="en-US" sz="1600" dirty="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FC3A4C39-068B-83F2-6656-4FD14DEF65D2}"/>
              </a:ext>
            </a:extLst>
          </p:cNvPr>
          <p:cNvSpPr/>
          <p:nvPr/>
        </p:nvSpPr>
        <p:spPr>
          <a:xfrm>
            <a:off x="4754880" y="3419856"/>
            <a:ext cx="347472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024F8A6E-0142-291C-0560-77B5D4790307}"/>
              </a:ext>
            </a:extLst>
          </p:cNvPr>
          <p:cNvSpPr/>
          <p:nvPr/>
        </p:nvSpPr>
        <p:spPr>
          <a:xfrm>
            <a:off x="4818888" y="3584448"/>
            <a:ext cx="3474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Uses relative preference, not absolute reward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Avoids high-variance policy gradients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Aligns subtle prosodic differences</a:t>
            </a:r>
            <a:endParaRPr lang="en-US" sz="13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4A42A6EA-E30F-3606-5F6A-9FBCB152D1B9}"/>
              </a:ext>
            </a:extLst>
          </p:cNvPr>
          <p:cNvSpPr/>
          <p:nvPr/>
        </p:nvSpPr>
        <p:spPr>
          <a:xfrm>
            <a:off x="8366760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Practical training</a:t>
            </a:r>
            <a:endParaRPr lang="en-US" sz="16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389BD01F-1AC8-55FB-1C13-E840DF4E4B91}"/>
              </a:ext>
            </a:extLst>
          </p:cNvPr>
          <p:cNvSpPr/>
          <p:nvPr/>
        </p:nvSpPr>
        <p:spPr>
          <a:xfrm>
            <a:off x="8366760" y="3419856"/>
            <a:ext cx="292608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2960E300-21A9-4614-9D32-0D7AB6E0CDFD}"/>
              </a:ext>
            </a:extLst>
          </p:cNvPr>
          <p:cNvSpPr/>
          <p:nvPr/>
        </p:nvSpPr>
        <p:spPr>
          <a:xfrm>
            <a:off x="8430768" y="3584448"/>
            <a:ext cx="28346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Skip high-noise early steps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Sample k = 4 candidates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Fine-tune only score decoder</a:t>
            </a:r>
            <a:endParaRPr lang="en-US" sz="1300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08BE0D5C-B80F-6A6D-39F9-882E5B375A60}"/>
              </a:ext>
            </a:extLst>
          </p:cNvPr>
          <p:cNvSpPr/>
          <p:nvPr/>
        </p:nvSpPr>
        <p:spPr>
          <a:xfrm>
            <a:off x="2331720" y="5532120"/>
            <a:ext cx="74980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4AC06585-2BD4-ABFE-5F1D-21B661119ECC}"/>
              </a:ext>
            </a:extLst>
          </p:cNvPr>
          <p:cNvSpPr/>
          <p:nvPr/>
        </p:nvSpPr>
        <p:spPr>
          <a:xfrm>
            <a:off x="2478024" y="5641848"/>
            <a:ext cx="720547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766E"/>
                </a:solidFill>
              </a:rPr>
              <a:t>Outcome: controllable emotional shaping throughout the denoising trajectory</a:t>
            </a:r>
            <a:endParaRPr lang="en-US" sz="17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C33926A4-208A-6132-2F06-18C791087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33" y="2079814"/>
            <a:ext cx="2645484" cy="340587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627D84B6-C307-CEFC-D474-41C1D9AD02E8}"/>
              </a:ext>
            </a:extLst>
          </p:cNvPr>
          <p:cNvSpPr/>
          <p:nvPr/>
        </p:nvSpPr>
        <p:spPr>
          <a:xfrm>
            <a:off x="777240" y="1303705"/>
            <a:ext cx="3337183" cy="1234432"/>
          </a:xfrm>
          <a:prstGeom prst="roundRect">
            <a:avLst>
              <a:gd name="adj" fmla="val 3941"/>
            </a:avLst>
          </a:prstGeom>
          <a:noFill/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805AA440-1FDD-93BD-8695-E4FD2E6F4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217" y="1988396"/>
            <a:ext cx="2465614" cy="27608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78BA17D-2117-2E06-122A-62E5E70DF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297" y="2289176"/>
            <a:ext cx="1126976" cy="199329"/>
          </a:xfrm>
          <a:prstGeom prst="rect">
            <a:avLst/>
          </a:prstGeom>
        </p:spPr>
      </p:pic>
      <p:sp>
        <p:nvSpPr>
          <p:cNvPr id="44" name="Shape 8">
            <a:extLst>
              <a:ext uri="{FF2B5EF4-FFF2-40B4-BE49-F238E27FC236}">
                <a16:creationId xmlns:a16="http://schemas.microsoft.com/office/drawing/2014/main" id="{48D5296F-1E97-EB23-8C0B-99F71D861263}"/>
              </a:ext>
            </a:extLst>
          </p:cNvPr>
          <p:cNvSpPr/>
          <p:nvPr/>
        </p:nvSpPr>
        <p:spPr>
          <a:xfrm>
            <a:off x="8023483" y="1311030"/>
            <a:ext cx="3136392" cy="1227107"/>
          </a:xfrm>
          <a:prstGeom prst="roundRect">
            <a:avLst>
              <a:gd name="adj" fmla="val 3119"/>
            </a:avLst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C5035605-8DBC-0B51-B228-66C6328E59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543" y="2035876"/>
            <a:ext cx="1931336" cy="33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9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024D4-6FE7-A602-AC1C-2A6E5C36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C706-80E9-4337-8A36-D4F40FC8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08" y="266206"/>
            <a:ext cx="11102967" cy="478937"/>
          </a:xfrm>
        </p:spPr>
        <p:txBody>
          <a:bodyPr/>
          <a:lstStyle/>
          <a:p>
            <a:r>
              <a:rPr lang="en-US" altLang="zh-CN" sz="28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</a:t>
            </a:r>
            <a:endParaRPr lang="en-US" altLang="zh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9A8D5-A4C7-5CBC-9672-70555A46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9778AB-8A03-A901-BB79-CEF1C50AA39C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4D328B0-F6EC-AEF1-6FB8-91D08B952954}"/>
              </a:ext>
            </a:extLst>
          </p:cNvPr>
          <p:cNvSpPr/>
          <p:nvPr/>
        </p:nvSpPr>
        <p:spPr>
          <a:xfrm>
            <a:off x="787997" y="1209461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Training pipeline</a:t>
            </a:r>
            <a:endParaRPr lang="en-US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2EB7622-AC2D-BAAD-FBDA-1C1819E3F463}"/>
              </a:ext>
            </a:extLst>
          </p:cNvPr>
          <p:cNvSpPr/>
          <p:nvPr/>
        </p:nvSpPr>
        <p:spPr>
          <a:xfrm>
            <a:off x="787997" y="1520357"/>
            <a:ext cx="347472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2D900F3-CFB4-EAD8-ED71-E4E954E70540}"/>
              </a:ext>
            </a:extLst>
          </p:cNvPr>
          <p:cNvSpPr/>
          <p:nvPr/>
        </p:nvSpPr>
        <p:spPr>
          <a:xfrm>
            <a:off x="833717" y="1730669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F6E2D72-0BD5-93C2-32E3-DA088A729FDB}"/>
              </a:ext>
            </a:extLst>
          </p:cNvPr>
          <p:cNvSpPr/>
          <p:nvPr/>
        </p:nvSpPr>
        <p:spPr>
          <a:xfrm>
            <a:off x="888581" y="1803821"/>
            <a:ext cx="203911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MSP-Podcast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≈55k utterances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&gt;1,200 speakers</a:t>
            </a:r>
            <a:endParaRPr lang="en-US" sz="12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AA6642CD-D365-7B8B-0728-96365F60C6F7}"/>
              </a:ext>
            </a:extLst>
          </p:cNvPr>
          <p:cNvSpPr/>
          <p:nvPr/>
        </p:nvSpPr>
        <p:spPr>
          <a:xfrm>
            <a:off x="3348317" y="1730669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6BBEE9F-CF49-DB1F-EB20-DA5803BAC2EC}"/>
              </a:ext>
            </a:extLst>
          </p:cNvPr>
          <p:cNvSpPr/>
          <p:nvPr/>
        </p:nvSpPr>
        <p:spPr>
          <a:xfrm>
            <a:off x="3403181" y="1803821"/>
            <a:ext cx="203911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Train EASPM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CLEP initialized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time-aware scoring</a:t>
            </a:r>
            <a:endParaRPr lang="en-US" sz="12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05CD331-2B8E-C8D1-F216-1C90257AC968}"/>
              </a:ext>
            </a:extLst>
          </p:cNvPr>
          <p:cNvSpPr/>
          <p:nvPr/>
        </p:nvSpPr>
        <p:spPr>
          <a:xfrm>
            <a:off x="5862917" y="1730669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09FACF82-2496-9F40-B60A-31A7EBE2A604}"/>
              </a:ext>
            </a:extLst>
          </p:cNvPr>
          <p:cNvSpPr/>
          <p:nvPr/>
        </p:nvSpPr>
        <p:spPr>
          <a:xfrm>
            <a:off x="5917781" y="1803821"/>
            <a:ext cx="203911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ESD English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 emotions × 10 speakers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8:1:1 split</a:t>
            </a:r>
            <a:endParaRPr lang="en-US" sz="12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5C7F7CBC-85CD-CCAD-EE13-B9AB79AD9E89}"/>
              </a:ext>
            </a:extLst>
          </p:cNvPr>
          <p:cNvSpPr/>
          <p:nvPr/>
        </p:nvSpPr>
        <p:spPr>
          <a:xfrm>
            <a:off x="8377517" y="1730669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7F24A69-5F62-E3B5-31BA-680EBEB7B0D9}"/>
              </a:ext>
            </a:extLst>
          </p:cNvPr>
          <p:cNvSpPr/>
          <p:nvPr/>
        </p:nvSpPr>
        <p:spPr>
          <a:xfrm>
            <a:off x="8432381" y="1803821"/>
            <a:ext cx="222199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Fine-tune Grad-TTS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score decoder 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HiFi-GAN vocoder</a:t>
            </a:r>
            <a:endParaRPr lang="en-US" sz="12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6DC560B2-A81C-A6F5-54F4-C4A96A8A1BAB}"/>
              </a:ext>
            </a:extLst>
          </p:cNvPr>
          <p:cNvSpPr/>
          <p:nvPr/>
        </p:nvSpPr>
        <p:spPr>
          <a:xfrm>
            <a:off x="2982557" y="2233589"/>
            <a:ext cx="36576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359B7467-6674-C399-E1B1-A4959F805A3F}"/>
              </a:ext>
            </a:extLst>
          </p:cNvPr>
          <p:cNvSpPr/>
          <p:nvPr/>
        </p:nvSpPr>
        <p:spPr>
          <a:xfrm>
            <a:off x="5497157" y="2233589"/>
            <a:ext cx="36576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0481F822-52E0-6BA0-4D8A-1EC7E916EC04}"/>
              </a:ext>
            </a:extLst>
          </p:cNvPr>
          <p:cNvSpPr/>
          <p:nvPr/>
        </p:nvSpPr>
        <p:spPr>
          <a:xfrm>
            <a:off x="8011757" y="2233589"/>
            <a:ext cx="36576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2B470810-7395-A655-7DA6-C1D2E8D3A8EA}"/>
              </a:ext>
            </a:extLst>
          </p:cNvPr>
          <p:cNvSpPr/>
          <p:nvPr/>
        </p:nvSpPr>
        <p:spPr>
          <a:xfrm>
            <a:off x="787997" y="349546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Baselines</a:t>
            </a:r>
            <a:endParaRPr lang="en-US" sz="16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14D2A356-3E29-63B2-17C6-36F8D2236A0D}"/>
              </a:ext>
            </a:extLst>
          </p:cNvPr>
          <p:cNvSpPr/>
          <p:nvPr/>
        </p:nvSpPr>
        <p:spPr>
          <a:xfrm>
            <a:off x="787997" y="3806357"/>
            <a:ext cx="320040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CC6B4FB-8CE4-D2FD-BA5D-AC70D3F7D882}"/>
              </a:ext>
            </a:extLst>
          </p:cNvPr>
          <p:cNvSpPr/>
          <p:nvPr/>
        </p:nvSpPr>
        <p:spPr>
          <a:xfrm>
            <a:off x="852005" y="3952661"/>
            <a:ext cx="3383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FG-TTS, PromptTTS, EmoSpeech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EmoDiff, CosyVoice, CosyVoice2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EmoVoice + diffusion RL methods</a:t>
            </a:r>
            <a:endParaRPr lang="en-US" sz="125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5242E884-A74F-1F86-FB78-FAAA65A24177}"/>
              </a:ext>
            </a:extLst>
          </p:cNvPr>
          <p:cNvSpPr/>
          <p:nvPr/>
        </p:nvSpPr>
        <p:spPr>
          <a:xfrm>
            <a:off x="4491317" y="349546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Objective metrics</a:t>
            </a:r>
            <a:endParaRPr lang="en-US" sz="160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60B5BBD6-A866-DDAC-DC6F-2F0261C30FB0}"/>
              </a:ext>
            </a:extLst>
          </p:cNvPr>
          <p:cNvSpPr/>
          <p:nvPr/>
        </p:nvSpPr>
        <p:spPr>
          <a:xfrm>
            <a:off x="4491317" y="3806357"/>
            <a:ext cx="292608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A7EF403C-CC7C-DBD1-2486-967790CFDACA}"/>
              </a:ext>
            </a:extLst>
          </p:cNvPr>
          <p:cNvSpPr/>
          <p:nvPr/>
        </p:nvSpPr>
        <p:spPr>
          <a:xfrm>
            <a:off x="4564469" y="3952661"/>
            <a:ext cx="30632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Emo SIM: emotion2vec cosine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Prosody SIM: AutoPCP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WER: Whisper Large-v3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UTMOS: perceptual quality</a:t>
            </a:r>
            <a:endParaRPr lang="en-US" sz="125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3B6BF3D0-026A-CC91-0287-BD84FE174AB2}"/>
              </a:ext>
            </a:extLst>
          </p:cNvPr>
          <p:cNvSpPr/>
          <p:nvPr/>
        </p:nvSpPr>
        <p:spPr>
          <a:xfrm>
            <a:off x="8057477" y="3495461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Subjective metrics</a:t>
            </a:r>
            <a:endParaRPr lang="en-US" sz="16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EA7136C6-8464-99D9-2DE2-3722D6D89AD0}"/>
              </a:ext>
            </a:extLst>
          </p:cNvPr>
          <p:cNvSpPr/>
          <p:nvPr/>
        </p:nvSpPr>
        <p:spPr>
          <a:xfrm>
            <a:off x="8057477" y="3806357"/>
            <a:ext cx="301752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FE323252-601A-5855-E9E1-3952591BF93B}"/>
              </a:ext>
            </a:extLst>
          </p:cNvPr>
          <p:cNvSpPr/>
          <p:nvPr/>
        </p:nvSpPr>
        <p:spPr>
          <a:xfrm>
            <a:off x="8130629" y="3952661"/>
            <a:ext cx="31089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20 raters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MOS / Emo MOS / MOS EC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Emotion Recall over 5 choices</a:t>
            </a:r>
            <a:endParaRPr lang="en-US" sz="1250" dirty="0"/>
          </a:p>
        </p:txBody>
      </p:sp>
      <p:sp>
        <p:nvSpPr>
          <p:cNvPr id="53" name="Shape 26">
            <a:extLst>
              <a:ext uri="{FF2B5EF4-FFF2-40B4-BE49-F238E27FC236}">
                <a16:creationId xmlns:a16="http://schemas.microsoft.com/office/drawing/2014/main" id="{0A5814C7-610F-C862-C797-E5FC7FAA8F5D}"/>
              </a:ext>
            </a:extLst>
          </p:cNvPr>
          <p:cNvSpPr/>
          <p:nvPr/>
        </p:nvSpPr>
        <p:spPr>
          <a:xfrm>
            <a:off x="1930997" y="5507141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4FACEF06-B79F-3D66-0AB4-1ED249FD7494}"/>
              </a:ext>
            </a:extLst>
          </p:cNvPr>
          <p:cNvSpPr/>
          <p:nvPr/>
        </p:nvSpPr>
        <p:spPr>
          <a:xfrm>
            <a:off x="2077301" y="5616869"/>
            <a:ext cx="811987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Goal: measure emotion alignment, prosody, intelligibility, and perceptual quality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11382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C72F-0A17-3825-1A7A-A6043864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DBB9-33EF-490B-6354-743A7272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08" y="266206"/>
            <a:ext cx="11102967" cy="478937"/>
          </a:xfrm>
        </p:spPr>
        <p:txBody>
          <a:bodyPr/>
          <a:lstStyle/>
          <a:p>
            <a:r>
              <a:rPr lang="en-US" altLang="zh-CN" sz="28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results: stronger emotion alignment with competitive quality</a:t>
            </a:r>
            <a:endParaRPr lang="en-US" altLang="zh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4999F-5639-FD48-63E8-C00ADD92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C8151D-A5EF-1A2C-9A25-3438F2BE4FF6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4">
            <a:extLst>
              <a:ext uri="{FF2B5EF4-FFF2-40B4-BE49-F238E27FC236}">
                <a16:creationId xmlns:a16="http://schemas.microsoft.com/office/drawing/2014/main" id="{5A34DF82-EA61-A859-D8F6-6E6D8FD7F683}"/>
              </a:ext>
            </a:extLst>
          </p:cNvPr>
          <p:cNvSpPr/>
          <p:nvPr/>
        </p:nvSpPr>
        <p:spPr>
          <a:xfrm>
            <a:off x="814891" y="1261334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Text 5">
            <a:extLst>
              <a:ext uri="{FF2B5EF4-FFF2-40B4-BE49-F238E27FC236}">
                <a16:creationId xmlns:a16="http://schemas.microsoft.com/office/drawing/2014/main" id="{4729B48B-EBAF-204A-3668-8B4975879E5D}"/>
              </a:ext>
            </a:extLst>
          </p:cNvPr>
          <p:cNvSpPr/>
          <p:nvPr/>
        </p:nvSpPr>
        <p:spPr>
          <a:xfrm>
            <a:off x="924619" y="137106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</a:rPr>
              <a:t>99.15</a:t>
            </a:r>
            <a:endParaRPr lang="en-US" sz="1800" dirty="0"/>
          </a:p>
        </p:txBody>
      </p:sp>
      <p:sp>
        <p:nvSpPr>
          <p:cNvPr id="111" name="Text 6">
            <a:extLst>
              <a:ext uri="{FF2B5EF4-FFF2-40B4-BE49-F238E27FC236}">
                <a16:creationId xmlns:a16="http://schemas.microsoft.com/office/drawing/2014/main" id="{9F6E6175-3D1E-B4E4-C43B-F34F47288852}"/>
              </a:ext>
            </a:extLst>
          </p:cNvPr>
          <p:cNvSpPr/>
          <p:nvPr/>
        </p:nvSpPr>
        <p:spPr>
          <a:xfrm>
            <a:off x="924619" y="1700246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Emo SIM</a:t>
            </a:r>
            <a:endParaRPr lang="en-US" sz="850" dirty="0"/>
          </a:p>
        </p:txBody>
      </p:sp>
      <p:sp>
        <p:nvSpPr>
          <p:cNvPr id="112" name="Text 7">
            <a:extLst>
              <a:ext uri="{FF2B5EF4-FFF2-40B4-BE49-F238E27FC236}">
                <a16:creationId xmlns:a16="http://schemas.microsoft.com/office/drawing/2014/main" id="{611DD51B-8C0A-7135-A9D8-F1EB76088F49}"/>
              </a:ext>
            </a:extLst>
          </p:cNvPr>
          <p:cNvSpPr/>
          <p:nvPr/>
        </p:nvSpPr>
        <p:spPr>
          <a:xfrm>
            <a:off x="924619" y="188312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best overall</a:t>
            </a:r>
            <a:endParaRPr lang="en-US" sz="730" dirty="0"/>
          </a:p>
        </p:txBody>
      </p:sp>
      <p:sp>
        <p:nvSpPr>
          <p:cNvPr id="113" name="Shape 8">
            <a:extLst>
              <a:ext uri="{FF2B5EF4-FFF2-40B4-BE49-F238E27FC236}">
                <a16:creationId xmlns:a16="http://schemas.microsoft.com/office/drawing/2014/main" id="{3FCEAD4A-C221-375E-051E-11703412B92E}"/>
              </a:ext>
            </a:extLst>
          </p:cNvPr>
          <p:cNvSpPr/>
          <p:nvPr/>
        </p:nvSpPr>
        <p:spPr>
          <a:xfrm>
            <a:off x="2460811" y="1261334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Text 9">
            <a:extLst>
              <a:ext uri="{FF2B5EF4-FFF2-40B4-BE49-F238E27FC236}">
                <a16:creationId xmlns:a16="http://schemas.microsoft.com/office/drawing/2014/main" id="{641FDB4E-3389-F665-C64F-396A5E80A233}"/>
              </a:ext>
            </a:extLst>
          </p:cNvPr>
          <p:cNvSpPr/>
          <p:nvPr/>
        </p:nvSpPr>
        <p:spPr>
          <a:xfrm>
            <a:off x="2570539" y="137106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</a:rPr>
              <a:t>3.89</a:t>
            </a:r>
            <a:endParaRPr lang="en-US" sz="1800" dirty="0"/>
          </a:p>
        </p:txBody>
      </p:sp>
      <p:sp>
        <p:nvSpPr>
          <p:cNvPr id="115" name="Text 10">
            <a:extLst>
              <a:ext uri="{FF2B5EF4-FFF2-40B4-BE49-F238E27FC236}">
                <a16:creationId xmlns:a16="http://schemas.microsoft.com/office/drawing/2014/main" id="{BE31D1F5-849B-4631-2213-425E7880730A}"/>
              </a:ext>
            </a:extLst>
          </p:cNvPr>
          <p:cNvSpPr/>
          <p:nvPr/>
        </p:nvSpPr>
        <p:spPr>
          <a:xfrm>
            <a:off x="2570539" y="1700246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Prosody SIM</a:t>
            </a:r>
            <a:endParaRPr lang="en-US" sz="850" dirty="0"/>
          </a:p>
        </p:txBody>
      </p:sp>
      <p:sp>
        <p:nvSpPr>
          <p:cNvPr id="116" name="Text 11">
            <a:extLst>
              <a:ext uri="{FF2B5EF4-FFF2-40B4-BE49-F238E27FC236}">
                <a16:creationId xmlns:a16="http://schemas.microsoft.com/office/drawing/2014/main" id="{FDEBB20F-A0E8-9E26-21E2-54E7DB123622}"/>
              </a:ext>
            </a:extLst>
          </p:cNvPr>
          <p:cNvSpPr/>
          <p:nvPr/>
        </p:nvSpPr>
        <p:spPr>
          <a:xfrm>
            <a:off x="2570539" y="188312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best overall</a:t>
            </a:r>
            <a:endParaRPr lang="en-US" sz="730" dirty="0"/>
          </a:p>
        </p:txBody>
      </p:sp>
      <p:sp>
        <p:nvSpPr>
          <p:cNvPr id="117" name="Shape 12">
            <a:extLst>
              <a:ext uri="{FF2B5EF4-FFF2-40B4-BE49-F238E27FC236}">
                <a16:creationId xmlns:a16="http://schemas.microsoft.com/office/drawing/2014/main" id="{D3EAEB05-9E4F-CF7D-C442-2AFA2C966FA4}"/>
              </a:ext>
            </a:extLst>
          </p:cNvPr>
          <p:cNvSpPr/>
          <p:nvPr/>
        </p:nvSpPr>
        <p:spPr>
          <a:xfrm>
            <a:off x="4106731" y="1261334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Text 13">
            <a:extLst>
              <a:ext uri="{FF2B5EF4-FFF2-40B4-BE49-F238E27FC236}">
                <a16:creationId xmlns:a16="http://schemas.microsoft.com/office/drawing/2014/main" id="{7B846D51-BCEC-CB08-AE8A-BC532B223041}"/>
              </a:ext>
            </a:extLst>
          </p:cNvPr>
          <p:cNvSpPr/>
          <p:nvPr/>
        </p:nvSpPr>
        <p:spPr>
          <a:xfrm>
            <a:off x="4216459" y="137106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3.74</a:t>
            </a:r>
            <a:endParaRPr lang="en-US" sz="1800" dirty="0"/>
          </a:p>
        </p:txBody>
      </p:sp>
      <p:sp>
        <p:nvSpPr>
          <p:cNvPr id="119" name="Text 14">
            <a:extLst>
              <a:ext uri="{FF2B5EF4-FFF2-40B4-BE49-F238E27FC236}">
                <a16:creationId xmlns:a16="http://schemas.microsoft.com/office/drawing/2014/main" id="{2893BE36-1D62-82F9-D1D0-0F5B93364431}"/>
              </a:ext>
            </a:extLst>
          </p:cNvPr>
          <p:cNvSpPr/>
          <p:nvPr/>
        </p:nvSpPr>
        <p:spPr>
          <a:xfrm>
            <a:off x="4216459" y="1700246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WER</a:t>
            </a:r>
            <a:endParaRPr lang="en-US" sz="850" dirty="0"/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A71710B1-6C13-30B3-B95B-B0D09CC5F6EB}"/>
              </a:ext>
            </a:extLst>
          </p:cNvPr>
          <p:cNvSpPr/>
          <p:nvPr/>
        </p:nvSpPr>
        <p:spPr>
          <a:xfrm>
            <a:off x="4216459" y="188312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lowest error</a:t>
            </a:r>
            <a:endParaRPr lang="en-US" sz="730" dirty="0"/>
          </a:p>
        </p:txBody>
      </p:sp>
      <p:sp>
        <p:nvSpPr>
          <p:cNvPr id="121" name="Shape 16">
            <a:extLst>
              <a:ext uri="{FF2B5EF4-FFF2-40B4-BE49-F238E27FC236}">
                <a16:creationId xmlns:a16="http://schemas.microsoft.com/office/drawing/2014/main" id="{BA8A725A-6C2E-1C46-6B8B-3914258E3B37}"/>
              </a:ext>
            </a:extLst>
          </p:cNvPr>
          <p:cNvSpPr/>
          <p:nvPr/>
        </p:nvSpPr>
        <p:spPr>
          <a:xfrm>
            <a:off x="5752651" y="1261334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Text 17">
            <a:extLst>
              <a:ext uri="{FF2B5EF4-FFF2-40B4-BE49-F238E27FC236}">
                <a16:creationId xmlns:a16="http://schemas.microsoft.com/office/drawing/2014/main" id="{F2AE6F59-03B9-38ED-2E91-4AB83B3A1E42}"/>
              </a:ext>
            </a:extLst>
          </p:cNvPr>
          <p:cNvSpPr/>
          <p:nvPr/>
        </p:nvSpPr>
        <p:spPr>
          <a:xfrm>
            <a:off x="5862379" y="137106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</a:rPr>
              <a:t>4.47</a:t>
            </a:r>
            <a:endParaRPr lang="en-US" sz="1800" dirty="0"/>
          </a:p>
        </p:txBody>
      </p:sp>
      <p:sp>
        <p:nvSpPr>
          <p:cNvPr id="123" name="Text 18">
            <a:extLst>
              <a:ext uri="{FF2B5EF4-FFF2-40B4-BE49-F238E27FC236}">
                <a16:creationId xmlns:a16="http://schemas.microsoft.com/office/drawing/2014/main" id="{D7C47162-A6BD-968E-5552-929508A4AB80}"/>
              </a:ext>
            </a:extLst>
          </p:cNvPr>
          <p:cNvSpPr/>
          <p:nvPr/>
        </p:nvSpPr>
        <p:spPr>
          <a:xfrm>
            <a:off x="5862379" y="1700246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UTMOS</a:t>
            </a:r>
            <a:endParaRPr lang="en-US" sz="850" dirty="0"/>
          </a:p>
        </p:txBody>
      </p:sp>
      <p:sp>
        <p:nvSpPr>
          <p:cNvPr id="124" name="Text 19">
            <a:extLst>
              <a:ext uri="{FF2B5EF4-FFF2-40B4-BE49-F238E27FC236}">
                <a16:creationId xmlns:a16="http://schemas.microsoft.com/office/drawing/2014/main" id="{13F1E4B4-73E7-F351-AA99-047722AA90E6}"/>
              </a:ext>
            </a:extLst>
          </p:cNvPr>
          <p:cNvSpPr/>
          <p:nvPr/>
        </p:nvSpPr>
        <p:spPr>
          <a:xfrm>
            <a:off x="5862379" y="188312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best quality</a:t>
            </a:r>
            <a:endParaRPr lang="en-US" sz="730" dirty="0"/>
          </a:p>
        </p:txBody>
      </p:sp>
      <p:sp>
        <p:nvSpPr>
          <p:cNvPr id="125" name="Shape 20">
            <a:extLst>
              <a:ext uri="{FF2B5EF4-FFF2-40B4-BE49-F238E27FC236}">
                <a16:creationId xmlns:a16="http://schemas.microsoft.com/office/drawing/2014/main" id="{7C8A4BBD-6011-811A-BBC5-52EF19618589}"/>
              </a:ext>
            </a:extLst>
          </p:cNvPr>
          <p:cNvSpPr/>
          <p:nvPr/>
        </p:nvSpPr>
        <p:spPr>
          <a:xfrm>
            <a:off x="7398571" y="1261334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Text 21">
            <a:extLst>
              <a:ext uri="{FF2B5EF4-FFF2-40B4-BE49-F238E27FC236}">
                <a16:creationId xmlns:a16="http://schemas.microsoft.com/office/drawing/2014/main" id="{3F6E1DCF-9FAC-967F-DD2B-73FDD00A8351}"/>
              </a:ext>
            </a:extLst>
          </p:cNvPr>
          <p:cNvSpPr/>
          <p:nvPr/>
        </p:nvSpPr>
        <p:spPr>
          <a:xfrm>
            <a:off x="7508299" y="137106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4.28</a:t>
            </a:r>
            <a:endParaRPr lang="en-US" sz="1800" dirty="0"/>
          </a:p>
        </p:txBody>
      </p:sp>
      <p:sp>
        <p:nvSpPr>
          <p:cNvPr id="127" name="Text 22">
            <a:extLst>
              <a:ext uri="{FF2B5EF4-FFF2-40B4-BE49-F238E27FC236}">
                <a16:creationId xmlns:a16="http://schemas.microsoft.com/office/drawing/2014/main" id="{7BD69FDA-7389-2AB0-3CCC-4DCF994C2F7C}"/>
              </a:ext>
            </a:extLst>
          </p:cNvPr>
          <p:cNvSpPr/>
          <p:nvPr/>
        </p:nvSpPr>
        <p:spPr>
          <a:xfrm>
            <a:off x="7508299" y="1700246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Emo MOS</a:t>
            </a:r>
            <a:endParaRPr lang="en-US" sz="850" dirty="0"/>
          </a:p>
        </p:txBody>
      </p:sp>
      <p:sp>
        <p:nvSpPr>
          <p:cNvPr id="128" name="Text 23">
            <a:extLst>
              <a:ext uri="{FF2B5EF4-FFF2-40B4-BE49-F238E27FC236}">
                <a16:creationId xmlns:a16="http://schemas.microsoft.com/office/drawing/2014/main" id="{3D64940C-8496-3467-166F-8796D7930246}"/>
              </a:ext>
            </a:extLst>
          </p:cNvPr>
          <p:cNvSpPr/>
          <p:nvPr/>
        </p:nvSpPr>
        <p:spPr>
          <a:xfrm>
            <a:off x="7508299" y="188312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human rated</a:t>
            </a:r>
            <a:endParaRPr lang="en-US" sz="730" dirty="0"/>
          </a:p>
        </p:txBody>
      </p:sp>
      <p:sp>
        <p:nvSpPr>
          <p:cNvPr id="129" name="Shape 24">
            <a:extLst>
              <a:ext uri="{FF2B5EF4-FFF2-40B4-BE49-F238E27FC236}">
                <a16:creationId xmlns:a16="http://schemas.microsoft.com/office/drawing/2014/main" id="{740AC477-B94D-3E4C-3B7A-CAFE8E6A388C}"/>
              </a:ext>
            </a:extLst>
          </p:cNvPr>
          <p:cNvSpPr/>
          <p:nvPr/>
        </p:nvSpPr>
        <p:spPr>
          <a:xfrm>
            <a:off x="9044491" y="1261334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Text 25">
            <a:extLst>
              <a:ext uri="{FF2B5EF4-FFF2-40B4-BE49-F238E27FC236}">
                <a16:creationId xmlns:a16="http://schemas.microsoft.com/office/drawing/2014/main" id="{B2CF8CF0-F893-11D5-6D39-E8161D33C31D}"/>
              </a:ext>
            </a:extLst>
          </p:cNvPr>
          <p:cNvSpPr/>
          <p:nvPr/>
        </p:nvSpPr>
        <p:spPr>
          <a:xfrm>
            <a:off x="9154219" y="137106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85.84</a:t>
            </a:r>
            <a:endParaRPr lang="en-US" sz="1800" dirty="0"/>
          </a:p>
        </p:txBody>
      </p:sp>
      <p:sp>
        <p:nvSpPr>
          <p:cNvPr id="131" name="Text 26">
            <a:extLst>
              <a:ext uri="{FF2B5EF4-FFF2-40B4-BE49-F238E27FC236}">
                <a16:creationId xmlns:a16="http://schemas.microsoft.com/office/drawing/2014/main" id="{3E0329BA-9506-DB05-E22B-DF4A7FFF5E8E}"/>
              </a:ext>
            </a:extLst>
          </p:cNvPr>
          <p:cNvSpPr/>
          <p:nvPr/>
        </p:nvSpPr>
        <p:spPr>
          <a:xfrm>
            <a:off x="9154219" y="1700246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Recall</a:t>
            </a:r>
            <a:endParaRPr lang="en-US" sz="850" dirty="0"/>
          </a:p>
        </p:txBody>
      </p:sp>
      <p:sp>
        <p:nvSpPr>
          <p:cNvPr id="132" name="Text 27">
            <a:extLst>
              <a:ext uri="{FF2B5EF4-FFF2-40B4-BE49-F238E27FC236}">
                <a16:creationId xmlns:a16="http://schemas.microsoft.com/office/drawing/2014/main" id="{8E44FDAA-C8FF-793E-FE8F-07508B29493A}"/>
              </a:ext>
            </a:extLst>
          </p:cNvPr>
          <p:cNvSpPr/>
          <p:nvPr/>
        </p:nvSpPr>
        <p:spPr>
          <a:xfrm>
            <a:off x="9154219" y="188312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human emotion ID</a:t>
            </a:r>
            <a:endParaRPr lang="en-US" sz="730" dirty="0"/>
          </a:p>
        </p:txBody>
      </p:sp>
      <p:sp>
        <p:nvSpPr>
          <p:cNvPr id="133" name="Text 28">
            <a:extLst>
              <a:ext uri="{FF2B5EF4-FFF2-40B4-BE49-F238E27FC236}">
                <a16:creationId xmlns:a16="http://schemas.microsoft.com/office/drawing/2014/main" id="{C0DFB269-E4B8-5FF0-9043-DB0D435E540B}"/>
              </a:ext>
            </a:extLst>
          </p:cNvPr>
          <p:cNvSpPr/>
          <p:nvPr/>
        </p:nvSpPr>
        <p:spPr>
          <a:xfrm>
            <a:off x="842323" y="245005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Objective comparison</a:t>
            </a:r>
            <a:endParaRPr lang="en-US" sz="1300" dirty="0"/>
          </a:p>
        </p:txBody>
      </p:sp>
      <p:sp>
        <p:nvSpPr>
          <p:cNvPr id="134" name="Text 29">
            <a:extLst>
              <a:ext uri="{FF2B5EF4-FFF2-40B4-BE49-F238E27FC236}">
                <a16:creationId xmlns:a16="http://schemas.microsoft.com/office/drawing/2014/main" id="{4A4F6494-8C6C-A9A1-F315-DAA525314F7A}"/>
              </a:ext>
            </a:extLst>
          </p:cNvPr>
          <p:cNvSpPr/>
          <p:nvPr/>
        </p:nvSpPr>
        <p:spPr>
          <a:xfrm>
            <a:off x="842323" y="269694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Emo SIM</a:t>
            </a:r>
            <a:endParaRPr lang="en-US" sz="850" dirty="0"/>
          </a:p>
        </p:txBody>
      </p:sp>
      <p:sp>
        <p:nvSpPr>
          <p:cNvPr id="135" name="Text 30">
            <a:extLst>
              <a:ext uri="{FF2B5EF4-FFF2-40B4-BE49-F238E27FC236}">
                <a16:creationId xmlns:a16="http://schemas.microsoft.com/office/drawing/2014/main" id="{CF3EB231-15A2-0118-66F9-0D90FC71A741}"/>
              </a:ext>
            </a:extLst>
          </p:cNvPr>
          <p:cNvSpPr/>
          <p:nvPr/>
        </p:nvSpPr>
        <p:spPr>
          <a:xfrm>
            <a:off x="842323" y="288896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Ours</a:t>
            </a:r>
            <a:endParaRPr lang="en-US" sz="860" dirty="0"/>
          </a:p>
        </p:txBody>
      </p:sp>
      <p:sp>
        <p:nvSpPr>
          <p:cNvPr id="136" name="Shape 31">
            <a:extLst>
              <a:ext uri="{FF2B5EF4-FFF2-40B4-BE49-F238E27FC236}">
                <a16:creationId xmlns:a16="http://schemas.microsoft.com/office/drawing/2014/main" id="{48AA72EF-3202-82A6-B04B-EEF54C7FFEAE}"/>
              </a:ext>
            </a:extLst>
          </p:cNvPr>
          <p:cNvSpPr/>
          <p:nvPr/>
        </p:nvSpPr>
        <p:spPr>
          <a:xfrm>
            <a:off x="2067619" y="2925542"/>
            <a:ext cx="23774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Shape 32">
            <a:extLst>
              <a:ext uri="{FF2B5EF4-FFF2-40B4-BE49-F238E27FC236}">
                <a16:creationId xmlns:a16="http://schemas.microsoft.com/office/drawing/2014/main" id="{FAC61EF6-0615-CAC4-21EC-C1A29D6C340F}"/>
              </a:ext>
            </a:extLst>
          </p:cNvPr>
          <p:cNvSpPr/>
          <p:nvPr/>
        </p:nvSpPr>
        <p:spPr>
          <a:xfrm>
            <a:off x="2067619" y="2925542"/>
            <a:ext cx="2357232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Text 33">
            <a:extLst>
              <a:ext uri="{FF2B5EF4-FFF2-40B4-BE49-F238E27FC236}">
                <a16:creationId xmlns:a16="http://schemas.microsoft.com/office/drawing/2014/main" id="{CABDA7A6-4220-84E9-4640-912EC7E14652}"/>
              </a:ext>
            </a:extLst>
          </p:cNvPr>
          <p:cNvSpPr/>
          <p:nvPr/>
        </p:nvSpPr>
        <p:spPr>
          <a:xfrm>
            <a:off x="4518211" y="287067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99.15</a:t>
            </a:r>
            <a:endParaRPr lang="en-US" sz="850" dirty="0"/>
          </a:p>
        </p:txBody>
      </p:sp>
      <p:sp>
        <p:nvSpPr>
          <p:cNvPr id="139" name="Text 34">
            <a:extLst>
              <a:ext uri="{FF2B5EF4-FFF2-40B4-BE49-F238E27FC236}">
                <a16:creationId xmlns:a16="http://schemas.microsoft.com/office/drawing/2014/main" id="{FF9952C1-1BA9-9156-DDF8-15372F5CB74C}"/>
              </a:ext>
            </a:extLst>
          </p:cNvPr>
          <p:cNvSpPr/>
          <p:nvPr/>
        </p:nvSpPr>
        <p:spPr>
          <a:xfrm>
            <a:off x="842323" y="324558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CosyVoice2</a:t>
            </a:r>
            <a:endParaRPr lang="en-US" sz="860" dirty="0"/>
          </a:p>
        </p:txBody>
      </p:sp>
      <p:sp>
        <p:nvSpPr>
          <p:cNvPr id="140" name="Shape 35">
            <a:extLst>
              <a:ext uri="{FF2B5EF4-FFF2-40B4-BE49-F238E27FC236}">
                <a16:creationId xmlns:a16="http://schemas.microsoft.com/office/drawing/2014/main" id="{127C01EE-28E7-2720-62E0-EA9AA6D9C019}"/>
              </a:ext>
            </a:extLst>
          </p:cNvPr>
          <p:cNvSpPr/>
          <p:nvPr/>
        </p:nvSpPr>
        <p:spPr>
          <a:xfrm>
            <a:off x="2067619" y="3282158"/>
            <a:ext cx="23774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Shape 36">
            <a:extLst>
              <a:ext uri="{FF2B5EF4-FFF2-40B4-BE49-F238E27FC236}">
                <a16:creationId xmlns:a16="http://schemas.microsoft.com/office/drawing/2014/main" id="{AE114EE9-1A01-4DD5-D8FC-D45A11240D65}"/>
              </a:ext>
            </a:extLst>
          </p:cNvPr>
          <p:cNvSpPr/>
          <p:nvPr/>
        </p:nvSpPr>
        <p:spPr>
          <a:xfrm>
            <a:off x="2067619" y="3282158"/>
            <a:ext cx="2341065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Text 37">
            <a:extLst>
              <a:ext uri="{FF2B5EF4-FFF2-40B4-BE49-F238E27FC236}">
                <a16:creationId xmlns:a16="http://schemas.microsoft.com/office/drawing/2014/main" id="{004F58F2-40CB-FA35-0213-FC24F5BCDF40}"/>
              </a:ext>
            </a:extLst>
          </p:cNvPr>
          <p:cNvSpPr/>
          <p:nvPr/>
        </p:nvSpPr>
        <p:spPr>
          <a:xfrm>
            <a:off x="4518211" y="322729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98.47</a:t>
            </a:r>
            <a:endParaRPr lang="en-US" sz="850" dirty="0"/>
          </a:p>
        </p:txBody>
      </p:sp>
      <p:sp>
        <p:nvSpPr>
          <p:cNvPr id="143" name="Text 38">
            <a:extLst>
              <a:ext uri="{FF2B5EF4-FFF2-40B4-BE49-F238E27FC236}">
                <a16:creationId xmlns:a16="http://schemas.microsoft.com/office/drawing/2014/main" id="{C34A3BE0-679A-0395-81DB-FB8059B66953}"/>
              </a:ext>
            </a:extLst>
          </p:cNvPr>
          <p:cNvSpPr/>
          <p:nvPr/>
        </p:nvSpPr>
        <p:spPr>
          <a:xfrm>
            <a:off x="842323" y="360219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EmoVoice</a:t>
            </a:r>
            <a:endParaRPr lang="en-US" sz="860" dirty="0"/>
          </a:p>
        </p:txBody>
      </p:sp>
      <p:sp>
        <p:nvSpPr>
          <p:cNvPr id="144" name="Shape 39">
            <a:extLst>
              <a:ext uri="{FF2B5EF4-FFF2-40B4-BE49-F238E27FC236}">
                <a16:creationId xmlns:a16="http://schemas.microsoft.com/office/drawing/2014/main" id="{3238D1C6-C02E-733B-5F19-101A4C594A91}"/>
              </a:ext>
            </a:extLst>
          </p:cNvPr>
          <p:cNvSpPr/>
          <p:nvPr/>
        </p:nvSpPr>
        <p:spPr>
          <a:xfrm>
            <a:off x="2067619" y="3638774"/>
            <a:ext cx="23774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Shape 40">
            <a:extLst>
              <a:ext uri="{FF2B5EF4-FFF2-40B4-BE49-F238E27FC236}">
                <a16:creationId xmlns:a16="http://schemas.microsoft.com/office/drawing/2014/main" id="{6B2F1591-B8B2-F1E2-F396-2A90434A3D6D}"/>
              </a:ext>
            </a:extLst>
          </p:cNvPr>
          <p:cNvSpPr/>
          <p:nvPr/>
        </p:nvSpPr>
        <p:spPr>
          <a:xfrm>
            <a:off x="2067619" y="3638774"/>
            <a:ext cx="234391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Text 41">
            <a:extLst>
              <a:ext uri="{FF2B5EF4-FFF2-40B4-BE49-F238E27FC236}">
                <a16:creationId xmlns:a16="http://schemas.microsoft.com/office/drawing/2014/main" id="{DFC3ED5A-E489-4406-73F4-2D9AA98DED8D}"/>
              </a:ext>
            </a:extLst>
          </p:cNvPr>
          <p:cNvSpPr/>
          <p:nvPr/>
        </p:nvSpPr>
        <p:spPr>
          <a:xfrm>
            <a:off x="4518211" y="358391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98.59</a:t>
            </a:r>
            <a:endParaRPr lang="en-US" sz="850" dirty="0"/>
          </a:p>
        </p:txBody>
      </p:sp>
      <p:sp>
        <p:nvSpPr>
          <p:cNvPr id="147" name="Text 42">
            <a:extLst>
              <a:ext uri="{FF2B5EF4-FFF2-40B4-BE49-F238E27FC236}">
                <a16:creationId xmlns:a16="http://schemas.microsoft.com/office/drawing/2014/main" id="{18B3DEB7-3EA9-F404-02EE-8B0F58C89930}"/>
              </a:ext>
            </a:extLst>
          </p:cNvPr>
          <p:cNvSpPr/>
          <p:nvPr/>
        </p:nvSpPr>
        <p:spPr>
          <a:xfrm>
            <a:off x="842323" y="401367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Prosody SIM</a:t>
            </a:r>
            <a:endParaRPr lang="en-US" sz="850" dirty="0"/>
          </a:p>
        </p:txBody>
      </p:sp>
      <p:sp>
        <p:nvSpPr>
          <p:cNvPr id="148" name="Text 43">
            <a:extLst>
              <a:ext uri="{FF2B5EF4-FFF2-40B4-BE49-F238E27FC236}">
                <a16:creationId xmlns:a16="http://schemas.microsoft.com/office/drawing/2014/main" id="{86DEFA4D-45DE-62B8-1BB7-C97E7795028A}"/>
              </a:ext>
            </a:extLst>
          </p:cNvPr>
          <p:cNvSpPr/>
          <p:nvPr/>
        </p:nvSpPr>
        <p:spPr>
          <a:xfrm>
            <a:off x="842323" y="420570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Ours</a:t>
            </a:r>
            <a:endParaRPr lang="en-US" sz="860" dirty="0"/>
          </a:p>
        </p:txBody>
      </p:sp>
      <p:sp>
        <p:nvSpPr>
          <p:cNvPr id="149" name="Shape 44">
            <a:extLst>
              <a:ext uri="{FF2B5EF4-FFF2-40B4-BE49-F238E27FC236}">
                <a16:creationId xmlns:a16="http://schemas.microsoft.com/office/drawing/2014/main" id="{459404A1-F240-411F-005B-4D59A3B73577}"/>
              </a:ext>
            </a:extLst>
          </p:cNvPr>
          <p:cNvSpPr/>
          <p:nvPr/>
        </p:nvSpPr>
        <p:spPr>
          <a:xfrm>
            <a:off x="2067619" y="4242278"/>
            <a:ext cx="23774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Shape 45">
            <a:extLst>
              <a:ext uri="{FF2B5EF4-FFF2-40B4-BE49-F238E27FC236}">
                <a16:creationId xmlns:a16="http://schemas.microsoft.com/office/drawing/2014/main" id="{E72DFDF5-C5C4-487E-0979-C5DD4FFE7D7A}"/>
              </a:ext>
            </a:extLst>
          </p:cNvPr>
          <p:cNvSpPr/>
          <p:nvPr/>
        </p:nvSpPr>
        <p:spPr>
          <a:xfrm>
            <a:off x="2067619" y="4242278"/>
            <a:ext cx="23120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Text 46">
            <a:extLst>
              <a:ext uri="{FF2B5EF4-FFF2-40B4-BE49-F238E27FC236}">
                <a16:creationId xmlns:a16="http://schemas.microsoft.com/office/drawing/2014/main" id="{C8115643-349D-816F-AC3B-ED5FE98B9BD2}"/>
              </a:ext>
            </a:extLst>
          </p:cNvPr>
          <p:cNvSpPr/>
          <p:nvPr/>
        </p:nvSpPr>
        <p:spPr>
          <a:xfrm>
            <a:off x="4518211" y="418741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3.89</a:t>
            </a:r>
            <a:endParaRPr lang="en-US" sz="850" dirty="0"/>
          </a:p>
        </p:txBody>
      </p:sp>
      <p:sp>
        <p:nvSpPr>
          <p:cNvPr id="152" name="Text 47">
            <a:extLst>
              <a:ext uri="{FF2B5EF4-FFF2-40B4-BE49-F238E27FC236}">
                <a16:creationId xmlns:a16="http://schemas.microsoft.com/office/drawing/2014/main" id="{E5405498-8E5A-B5F3-D787-27AB2E156A40}"/>
              </a:ext>
            </a:extLst>
          </p:cNvPr>
          <p:cNvSpPr/>
          <p:nvPr/>
        </p:nvSpPr>
        <p:spPr>
          <a:xfrm>
            <a:off x="842323" y="456231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CosyVoice2</a:t>
            </a:r>
            <a:endParaRPr lang="en-US" sz="860" dirty="0"/>
          </a:p>
        </p:txBody>
      </p:sp>
      <p:sp>
        <p:nvSpPr>
          <p:cNvPr id="153" name="Shape 48">
            <a:extLst>
              <a:ext uri="{FF2B5EF4-FFF2-40B4-BE49-F238E27FC236}">
                <a16:creationId xmlns:a16="http://schemas.microsoft.com/office/drawing/2014/main" id="{67C9EB96-A713-C94F-2701-464F33D4B296}"/>
              </a:ext>
            </a:extLst>
          </p:cNvPr>
          <p:cNvSpPr/>
          <p:nvPr/>
        </p:nvSpPr>
        <p:spPr>
          <a:xfrm>
            <a:off x="2067619" y="4598894"/>
            <a:ext cx="23774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Shape 49">
            <a:extLst>
              <a:ext uri="{FF2B5EF4-FFF2-40B4-BE49-F238E27FC236}">
                <a16:creationId xmlns:a16="http://schemas.microsoft.com/office/drawing/2014/main" id="{368626E6-D2F2-51E4-AAA9-37428C84EE9D}"/>
              </a:ext>
            </a:extLst>
          </p:cNvPr>
          <p:cNvSpPr/>
          <p:nvPr/>
        </p:nvSpPr>
        <p:spPr>
          <a:xfrm>
            <a:off x="2067619" y="4598894"/>
            <a:ext cx="2246681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Text 50">
            <a:extLst>
              <a:ext uri="{FF2B5EF4-FFF2-40B4-BE49-F238E27FC236}">
                <a16:creationId xmlns:a16="http://schemas.microsoft.com/office/drawing/2014/main" id="{C7827AD6-1AC2-EDF4-3758-3EE4A054F252}"/>
              </a:ext>
            </a:extLst>
          </p:cNvPr>
          <p:cNvSpPr/>
          <p:nvPr/>
        </p:nvSpPr>
        <p:spPr>
          <a:xfrm>
            <a:off x="4518211" y="454403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3.78</a:t>
            </a:r>
            <a:endParaRPr lang="en-US" sz="850" dirty="0"/>
          </a:p>
        </p:txBody>
      </p:sp>
      <p:sp>
        <p:nvSpPr>
          <p:cNvPr id="156" name="Text 51">
            <a:extLst>
              <a:ext uri="{FF2B5EF4-FFF2-40B4-BE49-F238E27FC236}">
                <a16:creationId xmlns:a16="http://schemas.microsoft.com/office/drawing/2014/main" id="{A578C669-5AA5-F47F-71EA-F8A5F799AFB3}"/>
              </a:ext>
            </a:extLst>
          </p:cNvPr>
          <p:cNvSpPr/>
          <p:nvPr/>
        </p:nvSpPr>
        <p:spPr>
          <a:xfrm>
            <a:off x="842323" y="491893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EmoVoice</a:t>
            </a:r>
            <a:endParaRPr lang="en-US" sz="860" dirty="0"/>
          </a:p>
        </p:txBody>
      </p:sp>
      <p:sp>
        <p:nvSpPr>
          <p:cNvPr id="157" name="Shape 52">
            <a:extLst>
              <a:ext uri="{FF2B5EF4-FFF2-40B4-BE49-F238E27FC236}">
                <a16:creationId xmlns:a16="http://schemas.microsoft.com/office/drawing/2014/main" id="{E016E552-1420-5EDF-1A0F-6D2F1D447111}"/>
              </a:ext>
            </a:extLst>
          </p:cNvPr>
          <p:cNvSpPr/>
          <p:nvPr/>
        </p:nvSpPr>
        <p:spPr>
          <a:xfrm>
            <a:off x="2067619" y="4955510"/>
            <a:ext cx="23774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Shape 53">
            <a:extLst>
              <a:ext uri="{FF2B5EF4-FFF2-40B4-BE49-F238E27FC236}">
                <a16:creationId xmlns:a16="http://schemas.microsoft.com/office/drawing/2014/main" id="{A6C8B0C6-94E0-7E14-0FE0-D21233BF895A}"/>
              </a:ext>
            </a:extLst>
          </p:cNvPr>
          <p:cNvSpPr/>
          <p:nvPr/>
        </p:nvSpPr>
        <p:spPr>
          <a:xfrm>
            <a:off x="2067619" y="4955510"/>
            <a:ext cx="2181301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Text 54">
            <a:extLst>
              <a:ext uri="{FF2B5EF4-FFF2-40B4-BE49-F238E27FC236}">
                <a16:creationId xmlns:a16="http://schemas.microsoft.com/office/drawing/2014/main" id="{5531A588-0E5E-D71E-D18C-B266D824C98E}"/>
              </a:ext>
            </a:extLst>
          </p:cNvPr>
          <p:cNvSpPr/>
          <p:nvPr/>
        </p:nvSpPr>
        <p:spPr>
          <a:xfrm>
            <a:off x="4518211" y="490064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3.67</a:t>
            </a:r>
            <a:endParaRPr lang="en-US" sz="850" dirty="0"/>
          </a:p>
        </p:txBody>
      </p:sp>
      <p:sp>
        <p:nvSpPr>
          <p:cNvPr id="160" name="Text 55">
            <a:extLst>
              <a:ext uri="{FF2B5EF4-FFF2-40B4-BE49-F238E27FC236}">
                <a16:creationId xmlns:a16="http://schemas.microsoft.com/office/drawing/2014/main" id="{C2635E95-1E81-8BC8-FCE3-E59E61FB3010}"/>
              </a:ext>
            </a:extLst>
          </p:cNvPr>
          <p:cNvSpPr/>
          <p:nvPr/>
        </p:nvSpPr>
        <p:spPr>
          <a:xfrm>
            <a:off x="5615491" y="245005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Subjective evaluation</a:t>
            </a:r>
            <a:endParaRPr lang="en-US" sz="1300" dirty="0"/>
          </a:p>
        </p:txBody>
      </p:sp>
      <p:sp>
        <p:nvSpPr>
          <p:cNvPr id="161" name="Text 56">
            <a:extLst>
              <a:ext uri="{FF2B5EF4-FFF2-40B4-BE49-F238E27FC236}">
                <a16:creationId xmlns:a16="http://schemas.microsoft.com/office/drawing/2014/main" id="{88B4C8C8-9E20-97E3-3790-270C02ED4665}"/>
              </a:ext>
            </a:extLst>
          </p:cNvPr>
          <p:cNvSpPr/>
          <p:nvPr/>
        </p:nvSpPr>
        <p:spPr>
          <a:xfrm>
            <a:off x="5615491" y="269694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MOS</a:t>
            </a:r>
            <a:endParaRPr lang="en-US" sz="850" dirty="0"/>
          </a:p>
        </p:txBody>
      </p:sp>
      <p:sp>
        <p:nvSpPr>
          <p:cNvPr id="162" name="Text 57">
            <a:extLst>
              <a:ext uri="{FF2B5EF4-FFF2-40B4-BE49-F238E27FC236}">
                <a16:creationId xmlns:a16="http://schemas.microsoft.com/office/drawing/2014/main" id="{7303BCD3-0357-B2BC-FF08-9346A52801D7}"/>
              </a:ext>
            </a:extLst>
          </p:cNvPr>
          <p:cNvSpPr/>
          <p:nvPr/>
        </p:nvSpPr>
        <p:spPr>
          <a:xfrm>
            <a:off x="5615491" y="288896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Ours</a:t>
            </a:r>
            <a:endParaRPr lang="en-US" sz="860" dirty="0"/>
          </a:p>
        </p:txBody>
      </p:sp>
      <p:sp>
        <p:nvSpPr>
          <p:cNvPr id="163" name="Shape 58">
            <a:extLst>
              <a:ext uri="{FF2B5EF4-FFF2-40B4-BE49-F238E27FC236}">
                <a16:creationId xmlns:a16="http://schemas.microsoft.com/office/drawing/2014/main" id="{8BF1663D-7A49-D539-EC22-F619023FDE2A}"/>
              </a:ext>
            </a:extLst>
          </p:cNvPr>
          <p:cNvSpPr/>
          <p:nvPr/>
        </p:nvSpPr>
        <p:spPr>
          <a:xfrm>
            <a:off x="6840787" y="2925542"/>
            <a:ext cx="22860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Shape 59">
            <a:extLst>
              <a:ext uri="{FF2B5EF4-FFF2-40B4-BE49-F238E27FC236}">
                <a16:creationId xmlns:a16="http://schemas.microsoft.com/office/drawing/2014/main" id="{E63A5921-8183-D6A4-ED6A-838CB820AB68}"/>
              </a:ext>
            </a:extLst>
          </p:cNvPr>
          <p:cNvSpPr/>
          <p:nvPr/>
        </p:nvSpPr>
        <p:spPr>
          <a:xfrm>
            <a:off x="6840787" y="2925542"/>
            <a:ext cx="180136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Text 60">
            <a:extLst>
              <a:ext uri="{FF2B5EF4-FFF2-40B4-BE49-F238E27FC236}">
                <a16:creationId xmlns:a16="http://schemas.microsoft.com/office/drawing/2014/main" id="{D90F757F-A4E2-CCD6-2E33-BECD3F514080}"/>
              </a:ext>
            </a:extLst>
          </p:cNvPr>
          <p:cNvSpPr/>
          <p:nvPr/>
        </p:nvSpPr>
        <p:spPr>
          <a:xfrm>
            <a:off x="9199939" y="287067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3.94</a:t>
            </a:r>
            <a:endParaRPr lang="en-US" sz="850" dirty="0"/>
          </a:p>
        </p:txBody>
      </p:sp>
      <p:sp>
        <p:nvSpPr>
          <p:cNvPr id="166" name="Text 61">
            <a:extLst>
              <a:ext uri="{FF2B5EF4-FFF2-40B4-BE49-F238E27FC236}">
                <a16:creationId xmlns:a16="http://schemas.microsoft.com/office/drawing/2014/main" id="{E80BAAEB-08D0-26D2-C5FC-22596662FCC6}"/>
              </a:ext>
            </a:extLst>
          </p:cNvPr>
          <p:cNvSpPr/>
          <p:nvPr/>
        </p:nvSpPr>
        <p:spPr>
          <a:xfrm>
            <a:off x="5615491" y="324558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CosyVoice2</a:t>
            </a:r>
            <a:endParaRPr lang="en-US" sz="860" dirty="0"/>
          </a:p>
        </p:txBody>
      </p:sp>
      <p:sp>
        <p:nvSpPr>
          <p:cNvPr id="167" name="Shape 62">
            <a:extLst>
              <a:ext uri="{FF2B5EF4-FFF2-40B4-BE49-F238E27FC236}">
                <a16:creationId xmlns:a16="http://schemas.microsoft.com/office/drawing/2014/main" id="{A3F909F1-AEB9-49D8-A23E-F043A2CEA9D8}"/>
              </a:ext>
            </a:extLst>
          </p:cNvPr>
          <p:cNvSpPr/>
          <p:nvPr/>
        </p:nvSpPr>
        <p:spPr>
          <a:xfrm>
            <a:off x="6840787" y="3282158"/>
            <a:ext cx="22860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Shape 63">
            <a:extLst>
              <a:ext uri="{FF2B5EF4-FFF2-40B4-BE49-F238E27FC236}">
                <a16:creationId xmlns:a16="http://schemas.microsoft.com/office/drawing/2014/main" id="{8B0F2F06-778B-7063-7FB8-F0798DD8F977}"/>
              </a:ext>
            </a:extLst>
          </p:cNvPr>
          <p:cNvSpPr/>
          <p:nvPr/>
        </p:nvSpPr>
        <p:spPr>
          <a:xfrm>
            <a:off x="6840787" y="3282158"/>
            <a:ext cx="1659636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Text 64">
            <a:extLst>
              <a:ext uri="{FF2B5EF4-FFF2-40B4-BE49-F238E27FC236}">
                <a16:creationId xmlns:a16="http://schemas.microsoft.com/office/drawing/2014/main" id="{C920DD40-DD4D-61E1-31C9-4619C25D5F46}"/>
              </a:ext>
            </a:extLst>
          </p:cNvPr>
          <p:cNvSpPr/>
          <p:nvPr/>
        </p:nvSpPr>
        <p:spPr>
          <a:xfrm>
            <a:off x="9199939" y="322729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3.63</a:t>
            </a:r>
            <a:endParaRPr lang="en-US" sz="850" dirty="0"/>
          </a:p>
        </p:txBody>
      </p:sp>
      <p:sp>
        <p:nvSpPr>
          <p:cNvPr id="170" name="Text 65">
            <a:extLst>
              <a:ext uri="{FF2B5EF4-FFF2-40B4-BE49-F238E27FC236}">
                <a16:creationId xmlns:a16="http://schemas.microsoft.com/office/drawing/2014/main" id="{4F4C2576-35FC-4826-5D2B-9209566656AD}"/>
              </a:ext>
            </a:extLst>
          </p:cNvPr>
          <p:cNvSpPr/>
          <p:nvPr/>
        </p:nvSpPr>
        <p:spPr>
          <a:xfrm>
            <a:off x="5615491" y="360219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EmoVoice</a:t>
            </a:r>
            <a:endParaRPr lang="en-US" sz="860" dirty="0"/>
          </a:p>
        </p:txBody>
      </p:sp>
      <p:sp>
        <p:nvSpPr>
          <p:cNvPr id="171" name="Shape 66">
            <a:extLst>
              <a:ext uri="{FF2B5EF4-FFF2-40B4-BE49-F238E27FC236}">
                <a16:creationId xmlns:a16="http://schemas.microsoft.com/office/drawing/2014/main" id="{8F50CA55-63BA-F78B-88AA-1751B7C92779}"/>
              </a:ext>
            </a:extLst>
          </p:cNvPr>
          <p:cNvSpPr/>
          <p:nvPr/>
        </p:nvSpPr>
        <p:spPr>
          <a:xfrm>
            <a:off x="6840787" y="3638774"/>
            <a:ext cx="22860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Shape 67">
            <a:extLst>
              <a:ext uri="{FF2B5EF4-FFF2-40B4-BE49-F238E27FC236}">
                <a16:creationId xmlns:a16="http://schemas.microsoft.com/office/drawing/2014/main" id="{812F816D-F2B9-C6E1-4B60-D735928CFD34}"/>
              </a:ext>
            </a:extLst>
          </p:cNvPr>
          <p:cNvSpPr/>
          <p:nvPr/>
        </p:nvSpPr>
        <p:spPr>
          <a:xfrm>
            <a:off x="6840787" y="3638774"/>
            <a:ext cx="162763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Text 68">
            <a:extLst>
              <a:ext uri="{FF2B5EF4-FFF2-40B4-BE49-F238E27FC236}">
                <a16:creationId xmlns:a16="http://schemas.microsoft.com/office/drawing/2014/main" id="{4F173A44-693C-B24D-120B-0A5E2E39ABCC}"/>
              </a:ext>
            </a:extLst>
          </p:cNvPr>
          <p:cNvSpPr/>
          <p:nvPr/>
        </p:nvSpPr>
        <p:spPr>
          <a:xfrm>
            <a:off x="9199939" y="358391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3.56</a:t>
            </a:r>
            <a:endParaRPr lang="en-US" sz="850" dirty="0"/>
          </a:p>
        </p:txBody>
      </p:sp>
      <p:sp>
        <p:nvSpPr>
          <p:cNvPr id="174" name="Text 69">
            <a:extLst>
              <a:ext uri="{FF2B5EF4-FFF2-40B4-BE49-F238E27FC236}">
                <a16:creationId xmlns:a16="http://schemas.microsoft.com/office/drawing/2014/main" id="{C3FF0CF9-8160-CC4A-5F9D-0F06A14B7346}"/>
              </a:ext>
            </a:extLst>
          </p:cNvPr>
          <p:cNvSpPr/>
          <p:nvPr/>
        </p:nvSpPr>
        <p:spPr>
          <a:xfrm>
            <a:off x="5615491" y="401367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Emo MOS</a:t>
            </a:r>
            <a:endParaRPr lang="en-US" sz="850" dirty="0"/>
          </a:p>
        </p:txBody>
      </p:sp>
      <p:sp>
        <p:nvSpPr>
          <p:cNvPr id="175" name="Text 70">
            <a:extLst>
              <a:ext uri="{FF2B5EF4-FFF2-40B4-BE49-F238E27FC236}">
                <a16:creationId xmlns:a16="http://schemas.microsoft.com/office/drawing/2014/main" id="{2B488B15-FE22-A5AE-DB2F-F02FB7BA3619}"/>
              </a:ext>
            </a:extLst>
          </p:cNvPr>
          <p:cNvSpPr/>
          <p:nvPr/>
        </p:nvSpPr>
        <p:spPr>
          <a:xfrm>
            <a:off x="5615491" y="420570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Ours</a:t>
            </a:r>
            <a:endParaRPr lang="en-US" sz="860" dirty="0"/>
          </a:p>
        </p:txBody>
      </p:sp>
      <p:sp>
        <p:nvSpPr>
          <p:cNvPr id="176" name="Shape 71">
            <a:extLst>
              <a:ext uri="{FF2B5EF4-FFF2-40B4-BE49-F238E27FC236}">
                <a16:creationId xmlns:a16="http://schemas.microsoft.com/office/drawing/2014/main" id="{D849A0C8-F000-BAC1-8125-FC82221293B2}"/>
              </a:ext>
            </a:extLst>
          </p:cNvPr>
          <p:cNvSpPr/>
          <p:nvPr/>
        </p:nvSpPr>
        <p:spPr>
          <a:xfrm>
            <a:off x="6840787" y="4242278"/>
            <a:ext cx="22860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Shape 72">
            <a:extLst>
              <a:ext uri="{FF2B5EF4-FFF2-40B4-BE49-F238E27FC236}">
                <a16:creationId xmlns:a16="http://schemas.microsoft.com/office/drawing/2014/main" id="{0048806F-B572-4FD5-C2AB-E4420E1F2A1C}"/>
              </a:ext>
            </a:extLst>
          </p:cNvPr>
          <p:cNvSpPr/>
          <p:nvPr/>
        </p:nvSpPr>
        <p:spPr>
          <a:xfrm>
            <a:off x="6840787" y="4242278"/>
            <a:ext cx="19568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" name="Text 73">
            <a:extLst>
              <a:ext uri="{FF2B5EF4-FFF2-40B4-BE49-F238E27FC236}">
                <a16:creationId xmlns:a16="http://schemas.microsoft.com/office/drawing/2014/main" id="{DAB1BA8A-C458-A1AB-A74B-170F44C56548}"/>
              </a:ext>
            </a:extLst>
          </p:cNvPr>
          <p:cNvSpPr/>
          <p:nvPr/>
        </p:nvSpPr>
        <p:spPr>
          <a:xfrm>
            <a:off x="9199939" y="418741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4.28</a:t>
            </a:r>
            <a:endParaRPr lang="en-US" sz="850" dirty="0"/>
          </a:p>
        </p:txBody>
      </p:sp>
      <p:sp>
        <p:nvSpPr>
          <p:cNvPr id="179" name="Text 74">
            <a:extLst>
              <a:ext uri="{FF2B5EF4-FFF2-40B4-BE49-F238E27FC236}">
                <a16:creationId xmlns:a16="http://schemas.microsoft.com/office/drawing/2014/main" id="{91036DC9-B50F-C58C-C088-2913B2C14E75}"/>
              </a:ext>
            </a:extLst>
          </p:cNvPr>
          <p:cNvSpPr/>
          <p:nvPr/>
        </p:nvSpPr>
        <p:spPr>
          <a:xfrm>
            <a:off x="5615491" y="456231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CosyVoice2</a:t>
            </a:r>
            <a:endParaRPr lang="en-US" sz="860" dirty="0"/>
          </a:p>
        </p:txBody>
      </p:sp>
      <p:sp>
        <p:nvSpPr>
          <p:cNvPr id="180" name="Shape 75">
            <a:extLst>
              <a:ext uri="{FF2B5EF4-FFF2-40B4-BE49-F238E27FC236}">
                <a16:creationId xmlns:a16="http://schemas.microsoft.com/office/drawing/2014/main" id="{DA4C0017-23E5-2E5A-AE96-DED86718B14D}"/>
              </a:ext>
            </a:extLst>
          </p:cNvPr>
          <p:cNvSpPr/>
          <p:nvPr/>
        </p:nvSpPr>
        <p:spPr>
          <a:xfrm>
            <a:off x="6840787" y="4598894"/>
            <a:ext cx="22860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Shape 76">
            <a:extLst>
              <a:ext uri="{FF2B5EF4-FFF2-40B4-BE49-F238E27FC236}">
                <a16:creationId xmlns:a16="http://schemas.microsoft.com/office/drawing/2014/main" id="{59643351-CC79-1D5D-1DC3-05953D83029B}"/>
              </a:ext>
            </a:extLst>
          </p:cNvPr>
          <p:cNvSpPr/>
          <p:nvPr/>
        </p:nvSpPr>
        <p:spPr>
          <a:xfrm>
            <a:off x="6840787" y="4598894"/>
            <a:ext cx="169621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Text 77">
            <a:extLst>
              <a:ext uri="{FF2B5EF4-FFF2-40B4-BE49-F238E27FC236}">
                <a16:creationId xmlns:a16="http://schemas.microsoft.com/office/drawing/2014/main" id="{54133932-771C-A594-D2D7-68E8BB990BD0}"/>
              </a:ext>
            </a:extLst>
          </p:cNvPr>
          <p:cNvSpPr/>
          <p:nvPr/>
        </p:nvSpPr>
        <p:spPr>
          <a:xfrm>
            <a:off x="9199939" y="454403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3.71</a:t>
            </a:r>
            <a:endParaRPr lang="en-US" sz="850" dirty="0"/>
          </a:p>
        </p:txBody>
      </p:sp>
      <p:sp>
        <p:nvSpPr>
          <p:cNvPr id="183" name="Text 78">
            <a:extLst>
              <a:ext uri="{FF2B5EF4-FFF2-40B4-BE49-F238E27FC236}">
                <a16:creationId xmlns:a16="http://schemas.microsoft.com/office/drawing/2014/main" id="{1DE65227-5BFE-F904-F52E-6F2B1C4CD458}"/>
              </a:ext>
            </a:extLst>
          </p:cNvPr>
          <p:cNvSpPr/>
          <p:nvPr/>
        </p:nvSpPr>
        <p:spPr>
          <a:xfrm>
            <a:off x="5615491" y="491893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EmoVoice</a:t>
            </a:r>
            <a:endParaRPr lang="en-US" sz="860" dirty="0"/>
          </a:p>
        </p:txBody>
      </p:sp>
      <p:sp>
        <p:nvSpPr>
          <p:cNvPr id="184" name="Shape 79">
            <a:extLst>
              <a:ext uri="{FF2B5EF4-FFF2-40B4-BE49-F238E27FC236}">
                <a16:creationId xmlns:a16="http://schemas.microsoft.com/office/drawing/2014/main" id="{C5D84F6F-18F6-B46A-CE32-CDE93B508B76}"/>
              </a:ext>
            </a:extLst>
          </p:cNvPr>
          <p:cNvSpPr/>
          <p:nvPr/>
        </p:nvSpPr>
        <p:spPr>
          <a:xfrm>
            <a:off x="6840787" y="4955510"/>
            <a:ext cx="22860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Shape 80">
            <a:extLst>
              <a:ext uri="{FF2B5EF4-FFF2-40B4-BE49-F238E27FC236}">
                <a16:creationId xmlns:a16="http://schemas.microsoft.com/office/drawing/2014/main" id="{82A9B7B1-0331-CAD0-FAEC-0A68C36BE2D1}"/>
              </a:ext>
            </a:extLst>
          </p:cNvPr>
          <p:cNvSpPr/>
          <p:nvPr/>
        </p:nvSpPr>
        <p:spPr>
          <a:xfrm>
            <a:off x="6840787" y="4955510"/>
            <a:ext cx="173278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Text 81">
            <a:extLst>
              <a:ext uri="{FF2B5EF4-FFF2-40B4-BE49-F238E27FC236}">
                <a16:creationId xmlns:a16="http://schemas.microsoft.com/office/drawing/2014/main" id="{EE76768C-4214-DF74-EFC9-3F9973763F27}"/>
              </a:ext>
            </a:extLst>
          </p:cNvPr>
          <p:cNvSpPr/>
          <p:nvPr/>
        </p:nvSpPr>
        <p:spPr>
          <a:xfrm>
            <a:off x="9199939" y="490064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3.79</a:t>
            </a:r>
            <a:endParaRPr lang="en-US" sz="850" dirty="0"/>
          </a:p>
        </p:txBody>
      </p:sp>
      <p:sp>
        <p:nvSpPr>
          <p:cNvPr id="187" name="Shape 82">
            <a:extLst>
              <a:ext uri="{FF2B5EF4-FFF2-40B4-BE49-F238E27FC236}">
                <a16:creationId xmlns:a16="http://schemas.microsoft.com/office/drawing/2014/main" id="{1D667087-0B2F-25AF-E8F5-5C285B26D607}"/>
              </a:ext>
            </a:extLst>
          </p:cNvPr>
          <p:cNvSpPr/>
          <p:nvPr/>
        </p:nvSpPr>
        <p:spPr>
          <a:xfrm>
            <a:off x="1409251" y="5668742"/>
            <a:ext cx="9692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Text 83">
            <a:extLst>
              <a:ext uri="{FF2B5EF4-FFF2-40B4-BE49-F238E27FC236}">
                <a16:creationId xmlns:a16="http://schemas.microsoft.com/office/drawing/2014/main" id="{6A9DBB4C-C472-ECFB-D96D-72FBC98C4B7D}"/>
              </a:ext>
            </a:extLst>
          </p:cNvPr>
          <p:cNvSpPr/>
          <p:nvPr/>
        </p:nvSpPr>
        <p:spPr>
          <a:xfrm>
            <a:off x="1555555" y="5778470"/>
            <a:ext cx="94000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EASPO improves expressiveness and naturalness while preserving intelligibility.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9423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B1BB-143D-D6C3-3191-D4EF3D1A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04B5-3C27-379C-2140-A60CAAC6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08" y="266206"/>
            <a:ext cx="11102967" cy="478937"/>
          </a:xfrm>
        </p:spPr>
        <p:txBody>
          <a:bodyPr/>
          <a:lstStyle/>
          <a:p>
            <a:r>
              <a:rPr lang="en-US" altLang="zh-CN" sz="28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Ablations: what makes stepwise alignment work?</a:t>
            </a:r>
            <a:endParaRPr lang="en-US" altLang="zh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2E943-4F71-54A9-6DC6-E2C1FFFE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8B22A8-12B6-598C-DA28-3E9CD0F9522B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6294481-31B3-AC31-A41D-F0A807654E9F}"/>
              </a:ext>
            </a:extLst>
          </p:cNvPr>
          <p:cNvSpPr/>
          <p:nvPr/>
        </p:nvSpPr>
        <p:spPr>
          <a:xfrm>
            <a:off x="695308" y="1200317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2796CFBF-E866-7A78-ECDE-D0A3A8A8D51A}"/>
              </a:ext>
            </a:extLst>
          </p:cNvPr>
          <p:cNvSpPr/>
          <p:nvPr/>
        </p:nvSpPr>
        <p:spPr>
          <a:xfrm>
            <a:off x="841612" y="1310045"/>
            <a:ext cx="213055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</a:rPr>
              <a:t>Time-aware scoring matters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</a:rPr>
              <a:t>EASPM &gt; w/o step condition</a:t>
            </a:r>
            <a:endParaRPr lang="en-US" sz="125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2D8980D2-18BE-C480-118A-B905D1E0A33E}"/>
              </a:ext>
            </a:extLst>
          </p:cNvPr>
          <p:cNvSpPr/>
          <p:nvPr/>
        </p:nvSpPr>
        <p:spPr>
          <a:xfrm>
            <a:off x="3365356" y="1200317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52D0E0B-3E69-B8B5-3FDD-A3BAFE8EC713}"/>
              </a:ext>
            </a:extLst>
          </p:cNvPr>
          <p:cNvSpPr/>
          <p:nvPr/>
        </p:nvSpPr>
        <p:spPr>
          <a:xfrm>
            <a:off x="3511660" y="1310045"/>
            <a:ext cx="213055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</a:rPr>
              <a:t>Random rollout avoids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</a:rPr>
              <a:t>degenerate paths</a:t>
            </a:r>
            <a:endParaRPr lang="en-US" sz="125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D0FF1360-DF93-7417-6BF0-F2A16933DF01}"/>
              </a:ext>
            </a:extLst>
          </p:cNvPr>
          <p:cNvSpPr/>
          <p:nvPr/>
        </p:nvSpPr>
        <p:spPr>
          <a:xfrm>
            <a:off x="6035404" y="1200317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4B9257F-6C30-9548-8A4D-A03BAF2EA745}"/>
              </a:ext>
            </a:extLst>
          </p:cNvPr>
          <p:cNvSpPr/>
          <p:nvPr/>
        </p:nvSpPr>
        <p:spPr>
          <a:xfrm>
            <a:off x="6181708" y="1310045"/>
            <a:ext cx="213055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Moderate candidate pool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k = 4 balances contrast &amp; quality</a:t>
            </a:r>
            <a:endParaRPr lang="en-US" sz="12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524AF24F-B021-44DE-9638-3E85CBA1BCCA}"/>
              </a:ext>
            </a:extLst>
          </p:cNvPr>
          <p:cNvSpPr/>
          <p:nvPr/>
        </p:nvSpPr>
        <p:spPr>
          <a:xfrm>
            <a:off x="8705452" y="1200317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0E5D1EEF-A417-0A7B-7C76-010F8BCE1ECA}"/>
              </a:ext>
            </a:extLst>
          </p:cNvPr>
          <p:cNvSpPr/>
          <p:nvPr/>
        </p:nvSpPr>
        <p:spPr>
          <a:xfrm>
            <a:off x="8851756" y="1310045"/>
            <a:ext cx="213055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</a:rPr>
              <a:t>EASPO beats DDPO, D3PO, Diff-DPO</a:t>
            </a:r>
            <a:endParaRPr lang="en-US" sz="1250" dirty="0"/>
          </a:p>
        </p:txBody>
      </p:sp>
      <p:pic>
        <p:nvPicPr>
          <p:cNvPr id="27" name="Image 0" descr="/mnt/data/easpo_assets/crops/ablation_tables_all.png">
            <a:extLst>
              <a:ext uri="{FF2B5EF4-FFF2-40B4-BE49-F238E27FC236}">
                <a16:creationId xmlns:a16="http://schemas.microsoft.com/office/drawing/2014/main" id="{3B8623CB-CD2B-5655-66CD-CEF768091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56" y="2460230"/>
            <a:ext cx="5686524" cy="2328767"/>
          </a:xfrm>
          <a:prstGeom prst="rect">
            <a:avLst/>
          </a:prstGeom>
        </p:spPr>
      </p:pic>
      <p:sp>
        <p:nvSpPr>
          <p:cNvPr id="28" name="Text 12">
            <a:extLst>
              <a:ext uri="{FF2B5EF4-FFF2-40B4-BE49-F238E27FC236}">
                <a16:creationId xmlns:a16="http://schemas.microsoft.com/office/drawing/2014/main" id="{BD05742A-B9A7-0F91-7438-5C73BDAA4032}"/>
              </a:ext>
            </a:extLst>
          </p:cNvPr>
          <p:cNvSpPr/>
          <p:nvPr/>
        </p:nvSpPr>
        <p:spPr>
          <a:xfrm>
            <a:off x="6437740" y="2361605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Interpretation</a:t>
            </a:r>
            <a:endParaRPr lang="en-US" sz="11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51847B27-E251-70B5-BD47-9EA810CFD247}"/>
              </a:ext>
            </a:extLst>
          </p:cNvPr>
          <p:cNvSpPr/>
          <p:nvPr/>
        </p:nvSpPr>
        <p:spPr>
          <a:xfrm>
            <a:off x="6437740" y="2672501"/>
            <a:ext cx="4343400" cy="0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07B8471B-4CC0-8EA3-2EA8-D7A8C7A13B46}"/>
              </a:ext>
            </a:extLst>
          </p:cNvPr>
          <p:cNvSpPr/>
          <p:nvPr/>
        </p:nvSpPr>
        <p:spPr>
          <a:xfrm>
            <a:off x="6483460" y="2846237"/>
            <a:ext cx="480060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Scoring noisy intermediate states requires timestep conditioning.</a:t>
            </a:r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Continuing with only the winner biases the denoising trajectory.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Best–worst pairs create stronger emotional contrast than random pairs.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Aligning a middle/late timestep window is more stable than using all steps.</a:t>
            </a:r>
            <a:endParaRPr lang="en-US" sz="1350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8347ED18-E9EB-5EF1-F6D1-D4865A259676}"/>
              </a:ext>
            </a:extLst>
          </p:cNvPr>
          <p:cNvSpPr/>
          <p:nvPr/>
        </p:nvSpPr>
        <p:spPr>
          <a:xfrm>
            <a:off x="2048620" y="5452277"/>
            <a:ext cx="8183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7255BD87-7C01-4CE0-970C-5924CBA08F98}"/>
              </a:ext>
            </a:extLst>
          </p:cNvPr>
          <p:cNvSpPr/>
          <p:nvPr/>
        </p:nvSpPr>
        <p:spPr>
          <a:xfrm>
            <a:off x="2194924" y="5562005"/>
            <a:ext cx="7891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Key finding: stepwise local contrast is more informative than endpoint preference propagation.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30362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A91F-7F01-DB4C-5B2E-F27DE3F3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286E-D741-9B03-21CF-D52A48EA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08" y="266206"/>
            <a:ext cx="11102967" cy="478937"/>
          </a:xfrm>
        </p:spPr>
        <p:txBody>
          <a:bodyPr/>
          <a:lstStyle/>
          <a:p>
            <a:r>
              <a:rPr lang="en-US" altLang="zh-CN" sz="2800" dirty="0">
                <a:latin typeface="Aptos Display" panose="020B0004020202020204" pitchFamily="34" charset="0"/>
              </a:rPr>
              <a:t>Audio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569E1-D54D-0599-358A-1ED9E402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6A5953-B69D-FA0D-884D-B914B685F9EE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2">
            <a:extLst>
              <a:ext uri="{FF2B5EF4-FFF2-40B4-BE49-F238E27FC236}">
                <a16:creationId xmlns:a16="http://schemas.microsoft.com/office/drawing/2014/main" id="{EF2C354D-4481-8D7A-ADCD-C481160220D3}"/>
              </a:ext>
            </a:extLst>
          </p:cNvPr>
          <p:cNvSpPr txBox="1"/>
          <p:nvPr/>
        </p:nvSpPr>
        <p:spPr>
          <a:xfrm>
            <a:off x="695308" y="1036146"/>
            <a:ext cx="27158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Sample 1 (Angry)</a:t>
            </a:r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BB541325-794A-12DB-DEE9-BF57439AA035}"/>
              </a:ext>
            </a:extLst>
          </p:cNvPr>
          <p:cNvSpPr txBox="1"/>
          <p:nvPr/>
        </p:nvSpPr>
        <p:spPr>
          <a:xfrm>
            <a:off x="695308" y="153365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Text: No, I burst the balloon!</a:t>
            </a:r>
          </a:p>
        </p:txBody>
      </p:sp>
      <p:sp>
        <p:nvSpPr>
          <p:cNvPr id="58" name="TextBox 4">
            <a:extLst>
              <a:ext uri="{FF2B5EF4-FFF2-40B4-BE49-F238E27FC236}">
                <a16:creationId xmlns:a16="http://schemas.microsoft.com/office/drawing/2014/main" id="{983ED41D-D274-81AD-FFDF-6F9D510BDC5A}"/>
              </a:ext>
            </a:extLst>
          </p:cNvPr>
          <p:cNvSpPr txBox="1"/>
          <p:nvPr/>
        </p:nvSpPr>
        <p:spPr>
          <a:xfrm>
            <a:off x="1152508" y="1950546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Target</a:t>
            </a:r>
          </a:p>
        </p:txBody>
      </p:sp>
      <p:sp>
        <p:nvSpPr>
          <p:cNvPr id="59" name="TextBox 5">
            <a:extLst>
              <a:ext uri="{FF2B5EF4-FFF2-40B4-BE49-F238E27FC236}">
                <a16:creationId xmlns:a16="http://schemas.microsoft.com/office/drawing/2014/main" id="{F99F8917-C73B-2FD1-97CF-6A50A109D280}"/>
              </a:ext>
            </a:extLst>
          </p:cNvPr>
          <p:cNvSpPr txBox="1"/>
          <p:nvPr/>
        </p:nvSpPr>
        <p:spPr>
          <a:xfrm>
            <a:off x="2981308" y="1950546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EmoSpeech</a:t>
            </a:r>
          </a:p>
        </p:txBody>
      </p:sp>
      <p:sp>
        <p:nvSpPr>
          <p:cNvPr id="60" name="TextBox 6">
            <a:extLst>
              <a:ext uri="{FF2B5EF4-FFF2-40B4-BE49-F238E27FC236}">
                <a16:creationId xmlns:a16="http://schemas.microsoft.com/office/drawing/2014/main" id="{3994FC35-61BB-C3BD-A4A9-28BB5B053DE8}"/>
              </a:ext>
            </a:extLst>
          </p:cNvPr>
          <p:cNvSpPr txBox="1"/>
          <p:nvPr/>
        </p:nvSpPr>
        <p:spPr>
          <a:xfrm>
            <a:off x="4810108" y="1950546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CosyVoice2</a:t>
            </a:r>
          </a:p>
        </p:txBody>
      </p:sp>
      <p:sp>
        <p:nvSpPr>
          <p:cNvPr id="61" name="TextBox 7">
            <a:extLst>
              <a:ext uri="{FF2B5EF4-FFF2-40B4-BE49-F238E27FC236}">
                <a16:creationId xmlns:a16="http://schemas.microsoft.com/office/drawing/2014/main" id="{FBF19918-6F0D-D528-DE3B-2EE2F7A517E5}"/>
              </a:ext>
            </a:extLst>
          </p:cNvPr>
          <p:cNvSpPr txBox="1"/>
          <p:nvPr/>
        </p:nvSpPr>
        <p:spPr>
          <a:xfrm>
            <a:off x="6638908" y="1950546"/>
            <a:ext cx="6303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Ours</a:t>
            </a:r>
          </a:p>
        </p:txBody>
      </p:sp>
      <p:sp>
        <p:nvSpPr>
          <p:cNvPr id="66" name="TextBox 12">
            <a:extLst>
              <a:ext uri="{FF2B5EF4-FFF2-40B4-BE49-F238E27FC236}">
                <a16:creationId xmlns:a16="http://schemas.microsoft.com/office/drawing/2014/main" id="{C99365C8-00C2-EF08-6065-28387BD20977}"/>
              </a:ext>
            </a:extLst>
          </p:cNvPr>
          <p:cNvSpPr txBox="1"/>
          <p:nvPr/>
        </p:nvSpPr>
        <p:spPr>
          <a:xfrm>
            <a:off x="695308" y="3551381"/>
            <a:ext cx="30748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Sample 2 (Surprise)</a:t>
            </a:r>
          </a:p>
        </p:txBody>
      </p:sp>
      <p:sp>
        <p:nvSpPr>
          <p:cNvPr id="67" name="TextBox 13">
            <a:extLst>
              <a:ext uri="{FF2B5EF4-FFF2-40B4-BE49-F238E27FC236}">
                <a16:creationId xmlns:a16="http://schemas.microsoft.com/office/drawing/2014/main" id="{A2F41B9F-BE19-6A6F-7DB0-EB7A07092CA6}"/>
              </a:ext>
            </a:extLst>
          </p:cNvPr>
          <p:cNvSpPr txBox="1"/>
          <p:nvPr/>
        </p:nvSpPr>
        <p:spPr>
          <a:xfrm>
            <a:off x="695308" y="40679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Text: The football teams give a tea party.</a:t>
            </a:r>
          </a:p>
        </p:txBody>
      </p:sp>
      <p:sp>
        <p:nvSpPr>
          <p:cNvPr id="68" name="TextBox 14">
            <a:extLst>
              <a:ext uri="{FF2B5EF4-FFF2-40B4-BE49-F238E27FC236}">
                <a16:creationId xmlns:a16="http://schemas.microsoft.com/office/drawing/2014/main" id="{B7997CEC-32D2-2FAE-1614-AF14316EF3A1}"/>
              </a:ext>
            </a:extLst>
          </p:cNvPr>
          <p:cNvSpPr txBox="1"/>
          <p:nvPr/>
        </p:nvSpPr>
        <p:spPr>
          <a:xfrm>
            <a:off x="1152508" y="4465781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Target</a:t>
            </a:r>
          </a:p>
        </p:txBody>
      </p:sp>
      <p:sp>
        <p:nvSpPr>
          <p:cNvPr id="69" name="TextBox 15">
            <a:extLst>
              <a:ext uri="{FF2B5EF4-FFF2-40B4-BE49-F238E27FC236}">
                <a16:creationId xmlns:a16="http://schemas.microsoft.com/office/drawing/2014/main" id="{AD929FDB-6551-F841-2BED-96479A145217}"/>
              </a:ext>
            </a:extLst>
          </p:cNvPr>
          <p:cNvSpPr txBox="1"/>
          <p:nvPr/>
        </p:nvSpPr>
        <p:spPr>
          <a:xfrm>
            <a:off x="2981308" y="4465781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EmoSpeech</a:t>
            </a:r>
          </a:p>
        </p:txBody>
      </p:sp>
      <p:sp>
        <p:nvSpPr>
          <p:cNvPr id="70" name="TextBox 16">
            <a:extLst>
              <a:ext uri="{FF2B5EF4-FFF2-40B4-BE49-F238E27FC236}">
                <a16:creationId xmlns:a16="http://schemas.microsoft.com/office/drawing/2014/main" id="{A44FE61E-3F7D-368A-8AF7-9CAFA15D0FC1}"/>
              </a:ext>
            </a:extLst>
          </p:cNvPr>
          <p:cNvSpPr txBox="1"/>
          <p:nvPr/>
        </p:nvSpPr>
        <p:spPr>
          <a:xfrm>
            <a:off x="4810108" y="4465781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CosyVoice2</a:t>
            </a:r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462CD4B6-1E49-C574-7170-812D242C0D0B}"/>
              </a:ext>
            </a:extLst>
          </p:cNvPr>
          <p:cNvSpPr txBox="1"/>
          <p:nvPr/>
        </p:nvSpPr>
        <p:spPr>
          <a:xfrm>
            <a:off x="6638908" y="4465781"/>
            <a:ext cx="6303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Ours</a:t>
            </a:r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79E83FE7-6271-CAFC-5498-A9CFDAF88B90}"/>
              </a:ext>
            </a:extLst>
          </p:cNvPr>
          <p:cNvCxnSpPr>
            <a:cxnSpLocks/>
          </p:cNvCxnSpPr>
          <p:nvPr/>
        </p:nvCxnSpPr>
        <p:spPr>
          <a:xfrm>
            <a:off x="695308" y="3089134"/>
            <a:ext cx="767827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0" name="0012_000466">
            <a:hlinkClick r:id="" action="ppaction://media"/>
            <a:extLst>
              <a:ext uri="{FF2B5EF4-FFF2-40B4-BE49-F238E27FC236}">
                <a16:creationId xmlns:a16="http://schemas.microsoft.com/office/drawing/2014/main" id="{2C087912-B4CB-6BD2-001E-2E325C35DF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1287822" y="2398923"/>
            <a:ext cx="457200" cy="457200"/>
          </a:xfrm>
          <a:prstGeom prst="rect">
            <a:avLst/>
          </a:prstGeom>
        </p:spPr>
      </p:pic>
      <p:pic>
        <p:nvPicPr>
          <p:cNvPr id="81" name="0012_000466">
            <a:hlinkClick r:id="" action="ppaction://media"/>
            <a:extLst>
              <a:ext uri="{FF2B5EF4-FFF2-40B4-BE49-F238E27FC236}">
                <a16:creationId xmlns:a16="http://schemas.microsoft.com/office/drawing/2014/main" id="{B75FBB3A-DC44-7AB2-9B52-AF82B04B409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3325331" y="2375141"/>
            <a:ext cx="478937" cy="478937"/>
          </a:xfrm>
          <a:prstGeom prst="rect">
            <a:avLst/>
          </a:prstGeom>
        </p:spPr>
      </p:pic>
      <p:pic>
        <p:nvPicPr>
          <p:cNvPr id="82" name="0012_000466">
            <a:hlinkClick r:id="" action="ppaction://media"/>
            <a:extLst>
              <a:ext uri="{FF2B5EF4-FFF2-40B4-BE49-F238E27FC236}">
                <a16:creationId xmlns:a16="http://schemas.microsoft.com/office/drawing/2014/main" id="{22E64831-9652-71FA-C017-6C466C57C259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5154131" y="2375141"/>
            <a:ext cx="494852" cy="494852"/>
          </a:xfrm>
          <a:prstGeom prst="rect">
            <a:avLst/>
          </a:prstGeom>
        </p:spPr>
      </p:pic>
      <p:pic>
        <p:nvPicPr>
          <p:cNvPr id="83" name="0012_000466">
            <a:hlinkClick r:id="" action="ppaction://media"/>
            <a:extLst>
              <a:ext uri="{FF2B5EF4-FFF2-40B4-BE49-F238E27FC236}">
                <a16:creationId xmlns:a16="http://schemas.microsoft.com/office/drawing/2014/main" id="{B7B0C53E-6515-CA12-604D-D3C7DC3E567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6714589" y="2408933"/>
            <a:ext cx="478938" cy="478938"/>
          </a:xfrm>
          <a:prstGeom prst="rect">
            <a:avLst/>
          </a:prstGeom>
        </p:spPr>
      </p:pic>
      <p:pic>
        <p:nvPicPr>
          <p:cNvPr id="84" name="0015_001424">
            <a:hlinkClick r:id="" action="ppaction://media"/>
            <a:extLst>
              <a:ext uri="{FF2B5EF4-FFF2-40B4-BE49-F238E27FC236}">
                <a16:creationId xmlns:a16="http://schemas.microsoft.com/office/drawing/2014/main" id="{977D26A6-5086-0FA5-7215-3EEDC1C2E0E3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6714589" y="4836486"/>
            <a:ext cx="525036" cy="525036"/>
          </a:xfrm>
          <a:prstGeom prst="rect">
            <a:avLst/>
          </a:prstGeom>
        </p:spPr>
      </p:pic>
      <p:pic>
        <p:nvPicPr>
          <p:cNvPr id="85" name="0015_001424">
            <a:hlinkClick r:id="" action="ppaction://media"/>
            <a:extLst>
              <a:ext uri="{FF2B5EF4-FFF2-40B4-BE49-F238E27FC236}">
                <a16:creationId xmlns:a16="http://schemas.microsoft.com/office/drawing/2014/main" id="{732E892B-9CFF-0CE3-94B4-EC839B798847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1219986" y="4804335"/>
            <a:ext cx="525036" cy="525036"/>
          </a:xfrm>
          <a:prstGeom prst="rect">
            <a:avLst/>
          </a:prstGeom>
        </p:spPr>
      </p:pic>
      <p:pic>
        <p:nvPicPr>
          <p:cNvPr id="86" name="0015_001424">
            <a:hlinkClick r:id="" action="ppaction://media"/>
            <a:extLst>
              <a:ext uri="{FF2B5EF4-FFF2-40B4-BE49-F238E27FC236}">
                <a16:creationId xmlns:a16="http://schemas.microsoft.com/office/drawing/2014/main" id="{294E80EF-739E-E7DD-8781-601DD588A4F9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5185310" y="4836486"/>
            <a:ext cx="525036" cy="525036"/>
          </a:xfrm>
          <a:prstGeom prst="rect">
            <a:avLst/>
          </a:prstGeom>
        </p:spPr>
      </p:pic>
      <p:pic>
        <p:nvPicPr>
          <p:cNvPr id="87" name="0015_001424">
            <a:hlinkClick r:id="" action="ppaction://media"/>
            <a:extLst>
              <a:ext uri="{FF2B5EF4-FFF2-40B4-BE49-F238E27FC236}">
                <a16:creationId xmlns:a16="http://schemas.microsoft.com/office/drawing/2014/main" id="{3566FE5C-8F4C-09C7-F96F-7C110D49FEAE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3411116" y="4836486"/>
            <a:ext cx="525036" cy="52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6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5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00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350" fill="hold"/>
                                        <p:tgtEl>
                                          <p:spTgt spid="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350" fill="hold"/>
                                        <p:tgtEl>
                                          <p:spTgt spid="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700" fill="hold"/>
                                        <p:tgtEl>
                                          <p:spTgt spid="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700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2750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2100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audio>
              <p:cMediaNode vol="8000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2"/>
                </p:tgtEl>
              </p:cMediaNode>
            </p:audio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3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4"/>
                </p:tgtEl>
              </p:cMediaNode>
            </p:audio>
            <p:audio>
              <p:cMediaNode vol="8000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5"/>
                </p:tgtEl>
              </p:cMediaNode>
            </p:audio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C1D8-0FBE-E79F-5284-58FD6EA1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E7F5-BE5E-FA8E-9446-5051F448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08" y="266206"/>
            <a:ext cx="11102967" cy="478937"/>
          </a:xfrm>
        </p:spPr>
        <p:txBody>
          <a:bodyPr/>
          <a:lstStyle/>
          <a:p>
            <a:r>
              <a:rPr lang="en-US" altLang="zh-CN" sz="2800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dense emotional preference signals for diffusion TTS</a:t>
            </a:r>
            <a:endParaRPr lang="en-US" altLang="zh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C427-CDDB-3951-FC0B-69AEC6C1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441607-913B-BD0F-AF28-A387EFE339C3}"/>
              </a:ext>
            </a:extLst>
          </p:cNvPr>
          <p:cNvSpPr txBox="1"/>
          <p:nvPr/>
        </p:nvSpPr>
        <p:spPr>
          <a:xfrm>
            <a:off x="3939087" y="6474380"/>
            <a:ext cx="4313826" cy="215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Emotion-Aligned Generation in Diffusion TTS via Preference-Guided Optimization · ICASSP 2026</a:t>
            </a:r>
            <a:endParaRPr kumimoji="1" lang="zh-CN" altLang="en-US" sz="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55DB2BF-651C-F9E7-AC3A-F392493FCBB0}"/>
              </a:ext>
            </a:extLst>
          </p:cNvPr>
          <p:cNvSpPr/>
          <p:nvPr/>
        </p:nvSpPr>
        <p:spPr>
          <a:xfrm>
            <a:off x="793551" y="1283034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A4360F1-1DA3-14D8-EC6D-1B572145D317}"/>
              </a:ext>
            </a:extLst>
          </p:cNvPr>
          <p:cNvSpPr/>
          <p:nvPr/>
        </p:nvSpPr>
        <p:spPr>
          <a:xfrm>
            <a:off x="848415" y="1356186"/>
            <a:ext cx="309067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Problem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Endpoint preferences are sparse for evolving emotion/prosody.</a:t>
            </a:r>
            <a:endParaRPr lang="en-US" sz="13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5F8B2D6-289A-4447-C139-A71230C7F9FC}"/>
              </a:ext>
            </a:extLst>
          </p:cNvPr>
          <p:cNvSpPr/>
          <p:nvPr/>
        </p:nvSpPr>
        <p:spPr>
          <a:xfrm>
            <a:off x="4451151" y="1283034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76CEA0E2-0C15-4EC6-88F4-717DD57E7E4A}"/>
              </a:ext>
            </a:extLst>
          </p:cNvPr>
          <p:cNvSpPr/>
          <p:nvPr/>
        </p:nvSpPr>
        <p:spPr>
          <a:xfrm>
            <a:off x="4506015" y="1356186"/>
            <a:ext cx="327355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Method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EASPM scores local candidates; EASPO aligns reward and likelihood differences.</a:t>
            </a:r>
            <a:endParaRPr lang="en-US" sz="13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D5A0C386-93C6-28A3-5945-B8A386F3C87D}"/>
              </a:ext>
            </a:extLst>
          </p:cNvPr>
          <p:cNvSpPr/>
          <p:nvPr/>
        </p:nvSpPr>
        <p:spPr>
          <a:xfrm>
            <a:off x="8291631" y="1283034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3404377-B728-37FC-B8BB-EEDA35BD4B56}"/>
              </a:ext>
            </a:extLst>
          </p:cNvPr>
          <p:cNvSpPr/>
          <p:nvPr/>
        </p:nvSpPr>
        <p:spPr>
          <a:xfrm>
            <a:off x="8346495" y="1356186"/>
            <a:ext cx="299923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Result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Better emotion similarity, prosody, naturalness, and human-rated recall.</a:t>
            </a:r>
            <a:endParaRPr lang="en-US" sz="13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BC5966FD-3EBA-58B7-0A79-BAF2A07C1324}"/>
              </a:ext>
            </a:extLst>
          </p:cNvPr>
          <p:cNvSpPr/>
          <p:nvPr/>
        </p:nvSpPr>
        <p:spPr>
          <a:xfrm>
            <a:off x="3993951" y="1767666"/>
            <a:ext cx="4572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A04AD533-BD5C-8F6B-585C-1984DCCD220E}"/>
              </a:ext>
            </a:extLst>
          </p:cNvPr>
          <p:cNvSpPr/>
          <p:nvPr/>
        </p:nvSpPr>
        <p:spPr>
          <a:xfrm>
            <a:off x="7834431" y="1767666"/>
            <a:ext cx="4572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975D480D-D47B-B764-1DBF-4673113791D6}"/>
              </a:ext>
            </a:extLst>
          </p:cNvPr>
          <p:cNvSpPr/>
          <p:nvPr/>
        </p:nvSpPr>
        <p:spPr>
          <a:xfrm>
            <a:off x="811839" y="286494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Takeaways</a:t>
            </a:r>
            <a:endParaRPr lang="en-US" sz="18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64EB3292-712B-9720-00BF-611BDD9AD95F}"/>
              </a:ext>
            </a:extLst>
          </p:cNvPr>
          <p:cNvSpPr/>
          <p:nvPr/>
        </p:nvSpPr>
        <p:spPr>
          <a:xfrm>
            <a:off x="930711" y="3386154"/>
            <a:ext cx="53035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</a:rPr>
              <a:t>• Stepwise preference optimization fixes the sparse-supervision limitation of endpoint DPO.</a:t>
            </a:r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</a:rPr>
              <a:t>• Time-conditioned emotion scoring enables dense, localized supervision over noisy diffusion states.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</a:rPr>
              <a:t>• Preference-guided diffusion alignment improves emotional expressiveness without sacrificing intelligibility.</a:t>
            </a:r>
            <a:endParaRPr lang="en-US" sz="155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4DF2F537-9D26-17ED-7D36-123B5359B963}"/>
              </a:ext>
            </a:extLst>
          </p:cNvPr>
          <p:cNvSpPr/>
          <p:nvPr/>
        </p:nvSpPr>
        <p:spPr>
          <a:xfrm>
            <a:off x="6782871" y="3093546"/>
            <a:ext cx="4251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35F66DC-4E72-6B0C-C698-A5602939D097}"/>
              </a:ext>
            </a:extLst>
          </p:cNvPr>
          <p:cNvSpPr/>
          <p:nvPr/>
        </p:nvSpPr>
        <p:spPr>
          <a:xfrm>
            <a:off x="6929175" y="3203274"/>
            <a:ext cx="395935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Future direction: extend stepwise preferences from categorical emotion to richer paralinguistic and human preference signals.</a:t>
            </a:r>
            <a:endParaRPr lang="en-US" sz="15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EF4C6615-084B-B88C-3C94-9DEED8F08BAB}"/>
              </a:ext>
            </a:extLst>
          </p:cNvPr>
          <p:cNvSpPr/>
          <p:nvPr/>
        </p:nvSpPr>
        <p:spPr>
          <a:xfrm>
            <a:off x="6828591" y="475775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72A"/>
                </a:solidFill>
              </a:rPr>
              <a:t>Thank you!</a:t>
            </a:r>
            <a:endParaRPr lang="en-US" sz="32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30C67427-1084-5BCC-6450-0D935DFB8B37}"/>
              </a:ext>
            </a:extLst>
          </p:cNvPr>
          <p:cNvSpPr/>
          <p:nvPr/>
        </p:nvSpPr>
        <p:spPr>
          <a:xfrm>
            <a:off x="6828591" y="530639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Questions?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21929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4845</TotalTime>
  <Words>993</Words>
  <Application>Microsoft Macintosh PowerPoint</Application>
  <PresentationFormat>宽屏</PresentationFormat>
  <Paragraphs>219</Paragraphs>
  <Slides>10</Slides>
  <Notes>10</Notes>
  <HiddenSlides>0</HiddenSlides>
  <MMClips>8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Microsoft YaHei</vt:lpstr>
      <vt:lpstr>Aptos</vt:lpstr>
      <vt:lpstr>Aptos Display</vt:lpstr>
      <vt:lpstr>Arial</vt:lpstr>
      <vt:lpstr>Calibri</vt:lpstr>
      <vt:lpstr>Times New Roman</vt:lpstr>
      <vt:lpstr>Office 主题​​</vt:lpstr>
      <vt:lpstr>Emotion-Aligned Generation in Diffusion TTS via Preference-Guided Optimization </vt:lpstr>
      <vt:lpstr>Motivation</vt:lpstr>
      <vt:lpstr>Method</vt:lpstr>
      <vt:lpstr>EASPM: a timestep-aware emotion preference scorer </vt:lpstr>
      <vt:lpstr>EASPO objective: match reward differences with policy preference shifts </vt:lpstr>
      <vt:lpstr>Experimental setup</vt:lpstr>
      <vt:lpstr>Main results: stronger emotion alignment with competitive quality</vt:lpstr>
      <vt:lpstr>Ablations: what makes stepwise alignment work?</vt:lpstr>
      <vt:lpstr>Audio Comparison</vt:lpstr>
      <vt:lpstr>Conclusion: dense emotional preference signals for diffusion TTS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Shi, Jiacheng</dc:creator>
  <cp:lastModifiedBy>Jiacheng Shi</cp:lastModifiedBy>
  <cp:revision>72</cp:revision>
  <dcterms:created xsi:type="dcterms:W3CDTF">2024-11-24T15:29:50Z</dcterms:created>
  <dcterms:modified xsi:type="dcterms:W3CDTF">2026-05-22T20:17:32Z</dcterms:modified>
</cp:coreProperties>
</file>