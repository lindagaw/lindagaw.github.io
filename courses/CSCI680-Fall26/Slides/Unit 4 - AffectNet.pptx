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rts/chart1.xml" ContentType="application/vnd.openxmlformats-officedocument.drawingml.chart+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rts/chart2.xml" ContentType="application/vnd.openxmlformats-officedocument.drawingml.chart+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rts/chart3.xml" ContentType="application/vnd.openxmlformats-officedocument.drawingml.chart+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rts/chart4.xml" ContentType="application/vnd.openxmlformats-officedocument.drawingml.chart+xml"/>
  <Override PartName="/ppt/notesSlides/notesSlide22.xml" ContentType="application/vnd.openxmlformats-officedocument.presentationml.notesSlide+xml"/>
  <Override PartName="/ppt/charts/chart5.xml" ContentType="application/vnd.openxmlformats-officedocument.drawingml.chart+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9"/>
  </p:notesMasterIdLst>
  <p:sldIdLst>
    <p:sldId id="256"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20" d="100"/>
          <a:sy n="120" d="100"/>
        </p:scale>
        <p:origin x="448"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5D6B75"/>
                </a:solidFill>
                <a:latin typeface="Calibri"/>
              </a:defRPr>
            </a:pPr>
            <a:r>
              <a:rPr lang="en-US" sz="1200" b="0" i="0" u="none" strike="noStrike">
                <a:solidFill>
                  <a:srgbClr val="5D6B75"/>
                </a:solidFill>
                <a:latin typeface="Calibri"/>
              </a:rPr>
              <a:t>Number of annotated images per category</a:t>
            </a:r>
          </a:p>
        </c:rich>
      </c:tx>
      <c:overlay val="0"/>
    </c:title>
    <c:autoTitleDeleted val="0"/>
    <c:plotArea>
      <c:layout/>
      <c:barChart>
        <c:barDir val="bar"/>
        <c:grouping val="clustered"/>
        <c:varyColors val="0"/>
        <c:ser>
          <c:idx val="0"/>
          <c:order val="0"/>
          <c:tx>
            <c:strRef>
              <c:f>Sheet1!$B$1</c:f>
              <c:strCache>
                <c:ptCount val="1"/>
                <c:pt idx="0">
                  <c:v>Images annotated</c:v>
                </c:pt>
              </c:strCache>
            </c:strRef>
          </c:tx>
          <c:spPr>
            <a:solidFill>
              <a:srgbClr val="2F6B7C"/>
            </a:solidFill>
            <a:effectLst/>
          </c:spPr>
          <c:invertIfNegative val="0"/>
          <c:dLbls>
            <c:numFmt formatCode="#,##0" sourceLinked="0"/>
            <c:spPr>
              <a:noFill/>
              <a:ln>
                <a:noFill/>
              </a:ln>
              <a:effectLst/>
            </c:spPr>
            <c:txPr>
              <a:bodyPr/>
              <a:lstStyle/>
              <a:p>
                <a:pPr>
                  <a:defRPr sz="950" b="0" i="0" u="none" strike="noStrike">
                    <a:solidFill>
                      <a:srgbClr val="2E3A42"/>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Sheet1!$A$2:$A$12</c:f>
              <c:strCache>
                <c:ptCount val="11"/>
                <c:pt idx="0">
                  <c:v>Happy</c:v>
                </c:pt>
                <c:pt idx="1">
                  <c:v>Non-Face</c:v>
                </c:pt>
                <c:pt idx="2">
                  <c:v>Neutral</c:v>
                </c:pt>
                <c:pt idx="3">
                  <c:v>None</c:v>
                </c:pt>
                <c:pt idx="4">
                  <c:v>Sad</c:v>
                </c:pt>
                <c:pt idx="5">
                  <c:v>Anger</c:v>
                </c:pt>
                <c:pt idx="6">
                  <c:v>Surprise</c:v>
                </c:pt>
                <c:pt idx="7">
                  <c:v>Uncertain</c:v>
                </c:pt>
                <c:pt idx="8">
                  <c:v>Fear</c:v>
                </c:pt>
                <c:pt idx="9">
                  <c:v>Disgust</c:v>
                </c:pt>
                <c:pt idx="10">
                  <c:v>Contempt</c:v>
                </c:pt>
              </c:strCache>
            </c:strRef>
          </c:cat>
          <c:val>
            <c:numRef>
              <c:f>Sheet1!$B$2:$B$12</c:f>
              <c:numCache>
                <c:formatCode>General</c:formatCode>
                <c:ptCount val="11"/>
                <c:pt idx="0">
                  <c:v>146198</c:v>
                </c:pt>
                <c:pt idx="1">
                  <c:v>88895</c:v>
                </c:pt>
                <c:pt idx="2">
                  <c:v>80276</c:v>
                </c:pt>
                <c:pt idx="3">
                  <c:v>35322</c:v>
                </c:pt>
                <c:pt idx="4">
                  <c:v>29487</c:v>
                </c:pt>
                <c:pt idx="5">
                  <c:v>28130</c:v>
                </c:pt>
                <c:pt idx="6">
                  <c:v>16288</c:v>
                </c:pt>
                <c:pt idx="7">
                  <c:v>13163</c:v>
                </c:pt>
                <c:pt idx="8">
                  <c:v>8191</c:v>
                </c:pt>
                <c:pt idx="9">
                  <c:v>5264</c:v>
                </c:pt>
                <c:pt idx="10">
                  <c:v>5135</c:v>
                </c:pt>
              </c:numCache>
            </c:numRef>
          </c:val>
          <c:extLst>
            <c:ext xmlns:c16="http://schemas.microsoft.com/office/drawing/2014/chart" uri="{C3380CC4-5D6E-409C-BE32-E72D297353CC}">
              <c16:uniqueId val="{00000000-7FE4-9B4E-9C9A-C48DB3C37F4C}"/>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5D6B75"/>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12700" cap="flat">
              <a:solidFill>
                <a:srgbClr val="E5ECEE"/>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5D6B75"/>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5D6B75"/>
                </a:solidFill>
                <a:latin typeface="Calibri"/>
              </a:defRPr>
            </a:pPr>
            <a:r>
              <a:rPr lang="en-US" sz="1200" b="0" i="0" u="none" strike="noStrike">
                <a:solidFill>
                  <a:srgbClr val="5D6B75"/>
                </a:solidFill>
                <a:latin typeface="Calibri"/>
              </a:rPr>
              <a:t>Query asked for this emotion; annotator agreed this often</a:t>
            </a:r>
          </a:p>
        </c:rich>
      </c:tx>
      <c:overlay val="0"/>
    </c:title>
    <c:autoTitleDeleted val="0"/>
    <c:plotArea>
      <c:layout/>
      <c:barChart>
        <c:barDir val="col"/>
        <c:grouping val="clustered"/>
        <c:varyColors val="0"/>
        <c:ser>
          <c:idx val="0"/>
          <c:order val="0"/>
          <c:tx>
            <c:strRef>
              <c:f>Sheet1!$B$1</c:f>
              <c:strCache>
                <c:ptCount val="1"/>
                <c:pt idx="0">
                  <c:v>Hit rate (%)</c:v>
                </c:pt>
              </c:strCache>
            </c:strRef>
          </c:tx>
          <c:spPr>
            <a:solidFill>
              <a:srgbClr val="2F6B7C"/>
            </a:solidFill>
            <a:effectLst/>
          </c:spPr>
          <c:invertIfNegative val="0"/>
          <c:dLbls>
            <c:numFmt formatCode="0.0" sourceLinked="0"/>
            <c:spPr>
              <a:noFill/>
              <a:ln>
                <a:noFill/>
              </a:ln>
              <a:effectLst/>
            </c:spPr>
            <c:txPr>
              <a:bodyPr/>
              <a:lstStyle/>
              <a:p>
                <a:pPr>
                  <a:defRPr sz="1100" b="0" i="0" u="none" strike="noStrike">
                    <a:solidFill>
                      <a:srgbClr val="2E3A42"/>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Happy</c:v>
                </c:pt>
                <c:pt idx="1">
                  <c:v>Surprise</c:v>
                </c:pt>
                <c:pt idx="2">
                  <c:v>Sad</c:v>
                </c:pt>
                <c:pt idx="3">
                  <c:v>Anger</c:v>
                </c:pt>
                <c:pt idx="4">
                  <c:v>Fear</c:v>
                </c:pt>
                <c:pt idx="5">
                  <c:v>Disgust</c:v>
                </c:pt>
                <c:pt idx="6">
                  <c:v>Contempt</c:v>
                </c:pt>
              </c:strCache>
            </c:strRef>
          </c:cat>
          <c:val>
            <c:numRef>
              <c:f>Sheet1!$B$2:$B$8</c:f>
              <c:numCache>
                <c:formatCode>General</c:formatCode>
                <c:ptCount val="7"/>
                <c:pt idx="0">
                  <c:v>48.9</c:v>
                </c:pt>
                <c:pt idx="1">
                  <c:v>16</c:v>
                </c:pt>
                <c:pt idx="2">
                  <c:v>15.7</c:v>
                </c:pt>
                <c:pt idx="3">
                  <c:v>12.2</c:v>
                </c:pt>
                <c:pt idx="4">
                  <c:v>4</c:v>
                </c:pt>
                <c:pt idx="5">
                  <c:v>2.7</c:v>
                </c:pt>
                <c:pt idx="6">
                  <c:v>2.4</c:v>
                </c:pt>
              </c:numCache>
            </c:numRef>
          </c:val>
          <c:extLst>
            <c:ext xmlns:c16="http://schemas.microsoft.com/office/drawing/2014/chart" uri="{C3380CC4-5D6E-409C-BE32-E72D297353CC}">
              <c16:uniqueId val="{00000000-F9A0-8F4B-B610-B511D0505918}"/>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D6B75"/>
                </a:solidFill>
                <a:latin typeface="Arial"/>
              </a:defRPr>
            </a:pPr>
            <a:endParaRPr lang="en-US"/>
          </a:p>
        </c:txPr>
        <c:crossAx val="2094734552"/>
        <c:crosses val="autoZero"/>
        <c:auto val="1"/>
        <c:lblAlgn val="ctr"/>
        <c:lblOffset val="100"/>
        <c:noMultiLvlLbl val="1"/>
      </c:catAx>
      <c:valAx>
        <c:axId val="2094734552"/>
        <c:scaling>
          <c:orientation val="minMax"/>
          <c:max val="60"/>
          <c:min val="0"/>
        </c:scaling>
        <c:delete val="0"/>
        <c:axPos val="l"/>
        <c:majorGridlines>
          <c:spPr>
            <a:ln w="12700" cap="flat">
              <a:solidFill>
                <a:srgbClr val="E5EC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D6B75"/>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5D6B75"/>
                </a:solidFill>
                <a:latin typeface="Calibri"/>
              </a:defRPr>
            </a:pPr>
            <a:r>
              <a:rPr lang="en-US" sz="1200" b="0" i="0" u="none" strike="noStrike">
                <a:solidFill>
                  <a:srgbClr val="5D6B75"/>
                </a:solidFill>
                <a:latin typeface="Calibri"/>
              </a:rPr>
              <a:t>Overall agreement: 60.7% of images</a:t>
            </a:r>
          </a:p>
        </c:rich>
      </c:tx>
      <c:overlay val="0"/>
    </c:title>
    <c:autoTitleDeleted val="0"/>
    <c:plotArea>
      <c:layout/>
      <c:barChart>
        <c:barDir val="bar"/>
        <c:grouping val="clustered"/>
        <c:varyColors val="0"/>
        <c:ser>
          <c:idx val="0"/>
          <c:order val="0"/>
          <c:tx>
            <c:strRef>
              <c:f>Sheet1!$B$1</c:f>
              <c:strCache>
                <c:ptCount val="1"/>
                <c:pt idx="0">
                  <c:v>Agreement between two annotators (%)</c:v>
                </c:pt>
              </c:strCache>
            </c:strRef>
          </c:tx>
          <c:spPr>
            <a:solidFill>
              <a:srgbClr val="2F6B7C"/>
            </a:solidFill>
            <a:effectLst/>
          </c:spPr>
          <c:invertIfNegative val="0"/>
          <c:dLbls>
            <c:numFmt formatCode="0.0" sourceLinked="0"/>
            <c:spPr>
              <a:noFill/>
              <a:ln>
                <a:noFill/>
              </a:ln>
              <a:effectLst/>
            </c:spPr>
            <c:txPr>
              <a:bodyPr/>
              <a:lstStyle/>
              <a:p>
                <a:pPr>
                  <a:defRPr sz="1000" b="0" i="0" u="none" strike="noStrike">
                    <a:solidFill>
                      <a:srgbClr val="2E3A42"/>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Sheet1!$A$2:$A$12</c:f>
              <c:strCache>
                <c:ptCount val="11"/>
                <c:pt idx="0">
                  <c:v>Non-Face</c:v>
                </c:pt>
                <c:pt idx="1">
                  <c:v>Happy</c:v>
                </c:pt>
                <c:pt idx="2">
                  <c:v>Sad</c:v>
                </c:pt>
                <c:pt idx="3">
                  <c:v>Disgust</c:v>
                </c:pt>
                <c:pt idx="4">
                  <c:v>Contempt</c:v>
                </c:pt>
                <c:pt idx="5">
                  <c:v>Surprise</c:v>
                </c:pt>
                <c:pt idx="6">
                  <c:v>Anger</c:v>
                </c:pt>
                <c:pt idx="7">
                  <c:v>Fear</c:v>
                </c:pt>
                <c:pt idx="8">
                  <c:v>Neutral</c:v>
                </c:pt>
                <c:pt idx="9">
                  <c:v>Uncertain</c:v>
                </c:pt>
                <c:pt idx="10">
                  <c:v>None</c:v>
                </c:pt>
              </c:strCache>
            </c:strRef>
          </c:cat>
          <c:val>
            <c:numRef>
              <c:f>Sheet1!$B$2:$B$12</c:f>
              <c:numCache>
                <c:formatCode>General</c:formatCode>
                <c:ptCount val="11"/>
                <c:pt idx="0">
                  <c:v>83.9</c:v>
                </c:pt>
                <c:pt idx="1">
                  <c:v>79.599999999999994</c:v>
                </c:pt>
                <c:pt idx="2">
                  <c:v>69.7</c:v>
                </c:pt>
                <c:pt idx="3">
                  <c:v>67.599999999999994</c:v>
                </c:pt>
                <c:pt idx="4">
                  <c:v>66.900000000000006</c:v>
                </c:pt>
                <c:pt idx="5">
                  <c:v>66.5</c:v>
                </c:pt>
                <c:pt idx="6">
                  <c:v>62.3</c:v>
                </c:pt>
                <c:pt idx="7">
                  <c:v>61.1</c:v>
                </c:pt>
                <c:pt idx="8">
                  <c:v>50.8</c:v>
                </c:pt>
                <c:pt idx="9">
                  <c:v>20.6</c:v>
                </c:pt>
                <c:pt idx="10">
                  <c:v>9.6</c:v>
                </c:pt>
              </c:numCache>
            </c:numRef>
          </c:val>
          <c:extLst>
            <c:ext xmlns:c16="http://schemas.microsoft.com/office/drawing/2014/chart" uri="{C3380CC4-5D6E-409C-BE32-E72D297353CC}">
              <c16:uniqueId val="{00000000-B0D4-EE48-92BE-E20BEFAACFCE}"/>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5D6B75"/>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12700" cap="flat">
              <a:solidFill>
                <a:srgbClr val="E5ECEE"/>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50" b="0" i="0" u="none" strike="noStrike">
                <a:solidFill>
                  <a:srgbClr val="5D6B75"/>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5D6B75"/>
                </a:solidFill>
                <a:latin typeface="Calibri"/>
              </a:defRPr>
            </a:pPr>
            <a:r>
              <a:rPr lang="en-US" sz="1200" b="0" i="0" u="none" strike="noStrike">
                <a:solidFill>
                  <a:srgbClr val="5D6B75"/>
                </a:solidFill>
                <a:latin typeface="Calibri"/>
              </a:rPr>
              <a:t>The ordering changes completely once skew is removed</a:t>
            </a:r>
          </a:p>
        </c:rich>
      </c:tx>
      <c:overlay val="0"/>
    </c:title>
    <c:autoTitleDeleted val="0"/>
    <c:plotArea>
      <c:layout/>
      <c:barChart>
        <c:barDir val="col"/>
        <c:grouping val="clustered"/>
        <c:varyColors val="0"/>
        <c:ser>
          <c:idx val="0"/>
          <c:order val="0"/>
          <c:tx>
            <c:strRef>
              <c:f>Sheet1!$B$1</c:f>
              <c:strCache>
                <c:ptCount val="1"/>
                <c:pt idx="0">
                  <c:v>Accuracy as reported</c:v>
                </c:pt>
              </c:strCache>
            </c:strRef>
          </c:tx>
          <c:spPr>
            <a:solidFill>
              <a:srgbClr val="8CA3AD"/>
            </a:solidFill>
            <a:effectLst/>
          </c:spPr>
          <c:invertIfNegative val="0"/>
          <c:dLbls>
            <c:numFmt formatCode="0.00" sourceLinked="0"/>
            <c:spPr>
              <a:noFill/>
              <a:ln>
                <a:noFill/>
              </a:ln>
              <a:effectLst/>
            </c:spPr>
            <c:txPr>
              <a:bodyPr/>
              <a:lstStyle/>
              <a:p>
                <a:pPr>
                  <a:defRPr sz="950" b="0" i="0" u="none" strike="noStrike">
                    <a:solidFill>
                      <a:srgbClr val="2E3A42"/>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Imbalanced</c:v>
                </c:pt>
                <c:pt idx="1">
                  <c:v>Down-sampling</c:v>
                </c:pt>
                <c:pt idx="2">
                  <c:v>Up-sampling</c:v>
                </c:pt>
                <c:pt idx="3">
                  <c:v>Weighted loss</c:v>
                </c:pt>
                <c:pt idx="4">
                  <c:v>SVM on HOG</c:v>
                </c:pt>
                <c:pt idx="5">
                  <c:v>MS Cognitive</c:v>
                </c:pt>
              </c:strCache>
            </c:strRef>
          </c:cat>
          <c:val>
            <c:numRef>
              <c:f>Sheet1!$B$2:$B$7</c:f>
              <c:numCache>
                <c:formatCode>General</c:formatCode>
                <c:ptCount val="6"/>
                <c:pt idx="0">
                  <c:v>0.72</c:v>
                </c:pt>
                <c:pt idx="1">
                  <c:v>0.68</c:v>
                </c:pt>
                <c:pt idx="2">
                  <c:v>0.68</c:v>
                </c:pt>
                <c:pt idx="3">
                  <c:v>0.64</c:v>
                </c:pt>
                <c:pt idx="4">
                  <c:v>0.6</c:v>
                </c:pt>
                <c:pt idx="5">
                  <c:v>0.68</c:v>
                </c:pt>
              </c:numCache>
            </c:numRef>
          </c:val>
          <c:extLst>
            <c:ext xmlns:c16="http://schemas.microsoft.com/office/drawing/2014/chart" uri="{C3380CC4-5D6E-409C-BE32-E72D297353CC}">
              <c16:uniqueId val="{00000000-64F9-0147-A81C-F92580412368}"/>
            </c:ext>
          </c:extLst>
        </c:ser>
        <c:ser>
          <c:idx val="1"/>
          <c:order val="1"/>
          <c:tx>
            <c:strRef>
              <c:f>Sheet1!$C$1</c:f>
              <c:strCache>
                <c:ptCount val="1"/>
                <c:pt idx="0">
                  <c:v>Accuracy, skew-normalised</c:v>
                </c:pt>
              </c:strCache>
            </c:strRef>
          </c:tx>
          <c:spPr>
            <a:solidFill>
              <a:srgbClr val="D2603F"/>
            </a:solidFill>
            <a:effectLst/>
          </c:spPr>
          <c:invertIfNegative val="0"/>
          <c:dLbls>
            <c:numFmt formatCode="0.00" sourceLinked="0"/>
            <c:spPr>
              <a:noFill/>
              <a:ln>
                <a:noFill/>
              </a:ln>
              <a:effectLst/>
            </c:spPr>
            <c:txPr>
              <a:bodyPr/>
              <a:lstStyle/>
              <a:p>
                <a:pPr>
                  <a:defRPr sz="950" b="0" i="0" u="none" strike="noStrike">
                    <a:solidFill>
                      <a:srgbClr val="2E3A42"/>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Imbalanced</c:v>
                </c:pt>
                <c:pt idx="1">
                  <c:v>Down-sampling</c:v>
                </c:pt>
                <c:pt idx="2">
                  <c:v>Up-sampling</c:v>
                </c:pt>
                <c:pt idx="3">
                  <c:v>Weighted loss</c:v>
                </c:pt>
                <c:pt idx="4">
                  <c:v>SVM on HOG</c:v>
                </c:pt>
                <c:pt idx="5">
                  <c:v>MS Cognitive</c:v>
                </c:pt>
              </c:strCache>
            </c:strRef>
          </c:cat>
          <c:val>
            <c:numRef>
              <c:f>Sheet1!$C$2:$C$7</c:f>
              <c:numCache>
                <c:formatCode>General</c:formatCode>
                <c:ptCount val="6"/>
                <c:pt idx="0">
                  <c:v>0.54</c:v>
                </c:pt>
                <c:pt idx="1">
                  <c:v>0.57999999999999996</c:v>
                </c:pt>
                <c:pt idx="2">
                  <c:v>0.56999999999999995</c:v>
                </c:pt>
                <c:pt idx="3">
                  <c:v>0.63</c:v>
                </c:pt>
                <c:pt idx="4">
                  <c:v>0.37</c:v>
                </c:pt>
                <c:pt idx="5">
                  <c:v>0.48</c:v>
                </c:pt>
              </c:numCache>
            </c:numRef>
          </c:val>
          <c:extLst>
            <c:ext xmlns:c16="http://schemas.microsoft.com/office/drawing/2014/chart" uri="{C3380CC4-5D6E-409C-BE32-E72D297353CC}">
              <c16:uniqueId val="{00000001-64F9-0147-A81C-F92580412368}"/>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50" b="0" i="0" u="none" strike="noStrike">
                <a:solidFill>
                  <a:srgbClr val="5D6B75"/>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12700" cap="flat">
              <a:solidFill>
                <a:srgbClr val="E5EC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D6B75"/>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50">
              <a:solidFill>
                <a:srgbClr val="5D6B75"/>
              </a:solidFill>
            </a:defRPr>
          </a:pPr>
          <a:endParaRPr lang="en-US"/>
        </a:p>
      </c:txPr>
    </c:legend>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5D6B75"/>
                </a:solidFill>
                <a:latin typeface="Calibri"/>
              </a:defRPr>
            </a:pPr>
            <a:r>
              <a:rPr lang="en-US" sz="1200" b="0" i="0" u="none" strike="noStrike">
                <a:solidFill>
                  <a:srgbClr val="5D6B75"/>
                </a:solidFill>
                <a:latin typeface="Calibri"/>
              </a:rPr>
              <a:t>Root mean square error — lower is better</a:t>
            </a:r>
          </a:p>
        </c:rich>
      </c:tx>
      <c:overlay val="0"/>
    </c:title>
    <c:autoTitleDeleted val="0"/>
    <c:plotArea>
      <c:layout/>
      <c:barChart>
        <c:barDir val="col"/>
        <c:grouping val="clustered"/>
        <c:varyColors val="0"/>
        <c:ser>
          <c:idx val="0"/>
          <c:order val="0"/>
          <c:tx>
            <c:strRef>
              <c:f>Sheet1!$B$1</c:f>
              <c:strCache>
                <c:ptCount val="1"/>
                <c:pt idx="0">
                  <c:v>Valence</c:v>
                </c:pt>
              </c:strCache>
            </c:strRef>
          </c:tx>
          <c:spPr>
            <a:solidFill>
              <a:srgbClr val="2F6B7C"/>
            </a:solidFill>
            <a:effectLst/>
          </c:spPr>
          <c:invertIfNegative val="0"/>
          <c:dLbls>
            <c:numFmt formatCode="0.000" sourceLinked="0"/>
            <c:spPr>
              <a:noFill/>
              <a:ln>
                <a:noFill/>
              </a:ln>
              <a:effectLst/>
            </c:spPr>
            <c:txPr>
              <a:bodyPr/>
              <a:lstStyle/>
              <a:p>
                <a:pPr>
                  <a:defRPr sz="1050" b="0" i="0" u="none" strike="noStrike">
                    <a:solidFill>
                      <a:srgbClr val="2E3A42"/>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Human annotators</c:v>
                </c:pt>
                <c:pt idx="1">
                  <c:v>CNN baseline</c:v>
                </c:pt>
                <c:pt idx="2">
                  <c:v>SVR on HOG</c:v>
                </c:pt>
              </c:strCache>
            </c:strRef>
          </c:cat>
          <c:val>
            <c:numRef>
              <c:f>Sheet1!$B$2:$B$4</c:f>
              <c:numCache>
                <c:formatCode>General</c:formatCode>
                <c:ptCount val="3"/>
                <c:pt idx="0">
                  <c:v>0.34</c:v>
                </c:pt>
                <c:pt idx="1">
                  <c:v>0.39400000000000002</c:v>
                </c:pt>
                <c:pt idx="2">
                  <c:v>0.49399999999999999</c:v>
                </c:pt>
              </c:numCache>
            </c:numRef>
          </c:val>
          <c:extLst>
            <c:ext xmlns:c16="http://schemas.microsoft.com/office/drawing/2014/chart" uri="{C3380CC4-5D6E-409C-BE32-E72D297353CC}">
              <c16:uniqueId val="{00000000-CB2F-964B-9539-51AD32BF7776}"/>
            </c:ext>
          </c:extLst>
        </c:ser>
        <c:ser>
          <c:idx val="1"/>
          <c:order val="1"/>
          <c:tx>
            <c:strRef>
              <c:f>Sheet1!$C$1</c:f>
              <c:strCache>
                <c:ptCount val="1"/>
                <c:pt idx="0">
                  <c:v>Arousal</c:v>
                </c:pt>
              </c:strCache>
            </c:strRef>
          </c:tx>
          <c:spPr>
            <a:solidFill>
              <a:srgbClr val="D2603F"/>
            </a:solidFill>
            <a:effectLst/>
          </c:spPr>
          <c:invertIfNegative val="0"/>
          <c:dLbls>
            <c:numFmt formatCode="0.000" sourceLinked="0"/>
            <c:spPr>
              <a:noFill/>
              <a:ln>
                <a:noFill/>
              </a:ln>
              <a:effectLst/>
            </c:spPr>
            <c:txPr>
              <a:bodyPr/>
              <a:lstStyle/>
              <a:p>
                <a:pPr>
                  <a:defRPr sz="1050" b="0" i="0" u="none" strike="noStrike">
                    <a:solidFill>
                      <a:srgbClr val="2E3A42"/>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Human annotators</c:v>
                </c:pt>
                <c:pt idx="1">
                  <c:v>CNN baseline</c:v>
                </c:pt>
                <c:pt idx="2">
                  <c:v>SVR on HOG</c:v>
                </c:pt>
              </c:strCache>
            </c:strRef>
          </c:cat>
          <c:val>
            <c:numRef>
              <c:f>Sheet1!$C$2:$C$4</c:f>
              <c:numCache>
                <c:formatCode>General</c:formatCode>
                <c:ptCount val="3"/>
                <c:pt idx="0">
                  <c:v>0.36199999999999999</c:v>
                </c:pt>
                <c:pt idx="1">
                  <c:v>0.40200000000000002</c:v>
                </c:pt>
                <c:pt idx="2">
                  <c:v>0.4</c:v>
                </c:pt>
              </c:numCache>
            </c:numRef>
          </c:val>
          <c:extLst>
            <c:ext xmlns:c16="http://schemas.microsoft.com/office/drawing/2014/chart" uri="{C3380CC4-5D6E-409C-BE32-E72D297353CC}">
              <c16:uniqueId val="{00000001-CB2F-964B-9539-51AD32BF7776}"/>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D6B75"/>
                </a:solidFill>
                <a:latin typeface="Arial"/>
              </a:defRPr>
            </a:pPr>
            <a:endParaRPr lang="en-US"/>
          </a:p>
        </c:txPr>
        <c:crossAx val="2094734552"/>
        <c:crosses val="autoZero"/>
        <c:auto val="1"/>
        <c:lblAlgn val="ctr"/>
        <c:lblOffset val="100"/>
        <c:noMultiLvlLbl val="1"/>
      </c:catAx>
      <c:valAx>
        <c:axId val="2094734552"/>
        <c:scaling>
          <c:orientation val="minMax"/>
          <c:max val="0.6"/>
          <c:min val="0"/>
        </c:scaling>
        <c:delete val="0"/>
        <c:axPos val="l"/>
        <c:majorGridlines>
          <c:spPr>
            <a:ln w="12700" cap="flat">
              <a:solidFill>
                <a:srgbClr val="E5EC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D6B75"/>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50">
              <a:solidFill>
                <a:srgbClr val="5D6B75"/>
              </a:solidFill>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50862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[0:00–1:00] Opening.
Pick up from the MSP-Podcast talk. Same escape route — harvest data that already exists rather than recording it — but a different modality, a different scale, and an almost opposite annotation philosophy.
Where MSP-Podcast used machine learning to decide what to annotate and then spent heavily on annotation quality, AffectNet annotates almost half a million images with one expert per image and no retrieval at all. Both are defensible; the tradeoffs are different, and the comparison is the point of the session.
Note also the timing: the arXiv version is 2017, the journal version 2019. This is a pre-deep-learning-boom dataset that arrived just in time to feed it.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[2:00–4:00] Stakes.
Give both halves of the dark card equal weight. The scale claim is real and the dataset became a standard benchmark — almost every facial-affect paper of the last several years reports on it.
The agreement figure is planted here deliberately so that people carry it through the talk. It is the single most important number in the paper and the authors put it in their own conclusion.
Contrast with MSP-Podcast up front: 2,317 sentences, five raters each, elaborate quality control against 450,000 images, one annotator each, no crowdsourcing. Two opposite bets about where to spend an annotation budget — depth or breadth.</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[4:00–4:10] Section marker.</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[4:10–6:10] Three models.
Most of this audience will know the distinction, so move briskly and land the dark card.
The argument for annotating both models on the same images is the strongest design point in the paper and worth stating plainly: it lets you study the relationship between them, and it lets a single model be trained on both — which the authors suggest as future work and which later papers did pursue.
Connect back to the first seminar: IEMOCAP also annotated categories and dimensions on the same material, for the same reason. The idea is not new here; the scale is.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[6:10–8:00] The landscape.
Do not read every row. Pick FER-2013 and EmotioNet, which represent the two ways the field had already scaled: shrink the images until annotation is cheap, or annotate automatically.
AffectNet's answer is the expensive third option — keep the resolution, keep the landmarks, and pay people to look at nearly half a million images. That is why the paper is a resource contribution rather than a method contribution.
The disgust-and-fear problem recurs across every row, and it will recur in AffectNet too. Some expressions are simply rare in published photographs. Hold that thought for section 2.</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[8:00–8:10] Section marker.</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[8:10–10:20] Query design.
This slide deserves more attention than it usually gets, because query design here plays the same role that scenario design played in IEMOCAP: it determines what the dataset can possibly contain.
The multilingual effort is genuine and worth crediting — six languages, with native speakers writing rather than translating. But be precise about what it buys. It diversifies the *queries*, not necessarily the *people* in the resulting images, and the paper does not report the language breakdown of the final set.
The stock-photo exclusion is a nice detail with an unintended consequence: professionally posed expressions are removed, which is good for naturalism, but what remains is still photographs people chose to publish.</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[10:20–12:20] Processing.
The dark card is the cross-talk with the first half of the session and should be delivered as the session's running theme. Harvested corpora are always filtered corpora, and the filter is a piece of software with its own failure modes.
The face-detector point is not hypothetical. Detectors of this era were known to perform unevenly across skin tones and lighting conditions, and any such unevenness propagates silently into the dataset composition. The paper does not examine this; it is a fair criticism to raise.
The resolution statistic is worth a moment: average faces of 425 pixels square, against FER-2013's 48. That difference is what makes landmark extraction and modern architectures possible here.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[12:20–14:10] Composition.
Two cautions, delivered evenhandedly.
First, these are machine estimates of perceived attributes. Quoting them as facts about the people in the images overstates what is known. The paper is clear about the source; secondary citations often are not.
Second, the shape of the distribution matters more than the individual numbers. Near-frontal, unoccluded, adult, made-up faces are the aesthetic of published photography. That is a genuinely wider distribution than a laboratory corpus, and it is still a long way from unconstrained.
The missing ethnicity breakdown is a fair point to raise but keep it factual: the queries included ethnicity terms, and no composition statistics for ethnicity appear in the paper.</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[14:10–14:20] Section marker.</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[14:20–16:20] The annotation decision.
This is the central tradeoff of the paper and the sharpest contrast with the first half of the session. Put it as a resource-allocation question: with a fixed budget, do you annotate a few thousand items really well, or half a million items once each?
The authors' reasoning for expert annotation is sound — dimensional annotation genuinely does need training, and CREMA-D's crowd raters were only asked for a category and an intensity, which is easier.
But the single-annotator consequence is severe and worth stating plainly. Every reliability result we are about to see comes from the 8% that were doubly annotated. For the other 92% there is no measure of label quality at all, only an assumption that it resembles the measured subset.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[16:20–18:30] The categories.
The three non-emotion categories are a genuine design strength and worth crediting. IEMOCAP had 'other'; CREMA-D forced a six-way choice with no escape hatch. Here an annotator can say 'this is an expression I have no word for', 'I cannot tell', or 'this is not a face' — and those are three different statements, recorded separately.
The imbalance is the practical headline and it drives all of section 5. Twenty-eight to one between the largest and smallest emotion classes.
The Non-Face figure is the one that surprises people. Eighty-nine thousand images were annotated by a trained expert only to establish that they contained no usable face. That is what web harvesting costs, and it is a real argument for the retrieval-style filtering MSP-Podcast used.</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[18:30–20:30] Dimensional annotation.
The dark card is an original criticism worth making carefully and fairly. The mechanism is soft — annotators can override — and it was clearly well-intentioned. But it introduces a circularity that the paper does not discuss.
Put the concrete case to the room: someone quietly, mildly pleased. Category happy, arousal slightly negative. The tool warns. Some annotators will override; some will adjust. The result is that the recorded correlation between category and dimensional value is partly a property of the interface.
This matters because one of the paper's own selling points is that both models are annotated on the same images so they can be studied together. That study is exactly the one the guardrail complicates.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[20:30–22:30] The hit-rate table.
This is my favourite result in the paper and it deserves the time. It is a direct measurement of something everyone assumes and nobody checks: that search-engine metadata is a poor proxy for image content.
Connect it to the wav2vec seminar if the room sat through it: this is the same lesson as weakly supervised web data. Scraped labels are cheap and wrong, and how wrong depends on the class.
The bias is directional, not random. Everything drifts toward happy and neutral, because that is what people upload. So a web-harvested affect dataset is structurally biased toward positive valence before anyone annotates anything — and that shows up in the valence–arousal histogram, which is densest around neutral and mildly positive.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[22:30–22:40] Section marker.</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[22:40–24:50] Categorical agreement.
60.7% overall. Two trained, supervised experts looking at the same image agree on the emotion less than two times in three.
The per-category structure is what makes this convincing rather than alarming. Fear confused with surprise, disgust with anger, neutral with everything mild — these are the same confusion pairs we found in IEMOCAP's rater matrix and in CREMA-D's perception study, in a different modality with different annotators. That convergence is evidence the ambiguity is in the stimulus, not the labeller.
The None collapse is a nice honest detail: the authors looked at those images themselves and concluded the category is doing exactly what it should — collecting the genuinely hard cases — which is why nobody agrees on them.</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[24:50–27:00] Dimensional agreement.
The valence-over-arousal pattern is the same one we found in IEMOCAP's Cronbach alphas and in MSP-Podcast's Krippendorff alphas. Three corpora, two modalities, same result. Say so — it is one of the more robust findings in this literature.
The conditional structure in the second card is the interesting part: agreement on the dimensional labels is largely contingent on agreeing about the category first. That suggests annotators are not reading valence and arousal off the face directly; they are recognising an emotion and then placing it, which is a claim about the annotation process rather than the affect.
Verify the discrepancy in the dark card yourself before presenting — compare the end of section 4.3 against Table 5 and the conclusion. Present it as careful reading, not as a gotcha.</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[27:00–29:00] The ceiling. Protect this slide.
The query tie-break is the sharpest original criticism available in this paper and it is entirely documented — it is in section 4.1, stated plainly. Be scrupulous about the scope: it is not most of the data, it is roughly 29.5% of the disagreements inside the test partition.
But the direction matters. The hit-rate table showed queries are wrong more than half the time and biased toward happy and neutral. Using the query as a tie-break imports exactly that bias into the evaluation set, on precisely the hard cases where the annotators disagreed.
Land the constructive version: this is why single-number benchmark comparisons on AffectNet should be read with care, and why later work often reports on curated subsets.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[29:00–29:10] Section marker.</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[29:10–31:10] Imbalance.
The four strategies are standard and you can move through them quickly. The dark card is the part with transferable value.
Make the point concrete. If half your test set is happy, a model that predicts happy for everything scores 50% accuracy while being useless. Reporting both raw and skew-normalised numbers makes that visible instead of hiding it.
This connects directly back to the first seminar. We criticised IEMOCAP work for not stating its class merges and splits. AffectNet does something better: it states the imbalance and reports the metric two ways. Credit that.</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[31:10–33:20] Baselines.
The reversal between the two bars for imbalanced training is the most instructive thing on this slide. Point at it.
The baseline itself is deliberately plain — AlexNet, no facial registration, five crops and horizontal flips for augmentation, twenty epochs. That is appropriate for a resource paper: the point is to establish that the data supports learning, not to win a leaderboard.
The commercial-system comparison is a fair and useful benchmark, and the contempt result makes the case for the database better than any of the CNN numbers do. Systems tuned on posed laboratory data fall apart on rare expressions in uncontrolled images.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[33:20–35:20] Dimensional baseline.
The human bar is the disagreement between the two annotators on all doubly annotated images, taken from Table 5. Say that explicitly so nobody reads it as human error against a gold standard — there is no gold standard here.
The dark card is the distinction to insist on. 'Close to human agreement' is a much weaker claim than 'human level', and papers reporting AffectNet results sometimes blur the two.
The error-region finding is a nice payoff for the dimensional annotation: the model struggles precisely where the categorical model has no vocabulary — bored, sleepy, contemptuous. Those are the states the None category was invented for.</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[35:20–37:40] Appraisal.
Give the strengths their due before the criticisms. The transparency in the last two strength items is genuinely admirable — plenty of dataset papers would have buried a 60.7% agreement figure, and this one puts it in the conclusion.
Two limitations deserve the most weight. The subject-identity problem is the one that most directly affects reported results: with a million web images there is no way to know whether the same person appears in train and test, which is the exact failure we criticised in IEMOCAP.
The consent point should be raised calmly and factually. These are photographs of real, identifiable people, harvested from search engines, redistributed for research and used to train commercial affect systems. Norms have shifted substantially since 2017, and this is a good place to ask the room what they think the standard should be now.</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[37:40–39:40] The session's central argument.
This is the synthesis slide for both halves and the place to slow down.
In the first seminar we said acted corpora buy control at the cost of naturalness. Today's papers give up the control — and what replaces it is not nothing, it is a set of selection mechanisms nobody designed and nobody can inspect.
The constructive version, and the one to leave the room with: harvested corpora are not less biased than designed ones, they are differently biased, and the bias is harder to characterise because nobody chose it. That makes documentation and control partitions more important, not less — which is exactly what the later MSP-Podcast releases added.</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[39:40–41:40] The comparison.
Give the room a moment to read, then walk only the rows that carry the argument: selection, annotators per item, and quality strategy.
The framing to insist on: this is a budget allocation problem with two defensible solutions. MSP-Podcast spends on selection and annotation quality and ends up small but well characterised. AffectNet spends everything on volume and ends up large but thinly labelled.
Which is right depends on what you are training. If you need a benchmark whose labels you trust, MSP-Podcast's design wins. If you need enough data to train a deep network from scratch in 2017, AffectNet's does.
End on the last row, which is the shared weakness and the same one we found in IEMOCAP and CREMA-D.</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[41:40–43:00] Take-aways.
Read these rather than paraphrasing; they are written to be transcribed.
Number three is the one with the widest application and the one students are most likely to be able to use. Any domain where annotation is expensive and the interesting cases are rare can borrow the retrieval framing.
Number four is the one that should change how they write. Both of today's papers publish numbers that make them look worse — 60.7% agreement, 0.23 kappa on primary emotion — and both are more trustworthy for it.</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[43:00–45:00] Discussion and close.
Five prompts; take two. Question 1 is the cleanest summary of the whole session and works well as an opener because everyone has an intuition about it.
Question 5 is the strongest closer. It is a live question, norms have shifted substantially since 2017, and the room will disagree productively. A good answer probably touches on opt-in collection, documented provenance, takedown mechanisms, and the observation that the alternative — going back to laboratory corpora — has its own costs in representativeness.
Close the session by returning to the arc across both seminars: acted corpora buy control, harvested corpora buy realism and scale, and neither escapes the fact that somebody's choices determined what counts as an emotion in the data.</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4303A"/>
        </a:solidFill>
        <a:effectLst/>
      </p:bgPr>
    </p:bg>
    <p:spTree>
      <p:nvGrpSpPr>
        <p:cNvPr id="1" name=""/>
        <p:cNvGrpSpPr/>
        <p:nvPr/>
      </p:nvGrpSpPr>
      <p:grpSpPr>
        <a:xfrm>
          <a:off x="0" y="0"/>
          <a:ext cx="0" cy="0"/>
          <a:chOff x="0" y="0"/>
          <a:chExt cx="0" cy="0"/>
        </a:xfrm>
      </p:grpSpPr>
      <p:sp>
        <p:nvSpPr>
          <p:cNvPr id="2" name="Shape 0"/>
          <p:cNvSpPr/>
          <p:nvPr/>
        </p:nvSpPr>
        <p:spPr>
          <a:xfrm>
            <a:off x="868680" y="1051560"/>
            <a:ext cx="356616" cy="356616"/>
          </a:xfrm>
          <a:prstGeom prst="roundRect">
            <a:avLst>
              <a:gd name="adj" fmla="val 5128"/>
            </a:avLst>
          </a:prstGeom>
          <a:solidFill>
            <a:srgbClr val="C6D6DC"/>
          </a:solidFill>
          <a:ln w="12700">
            <a:solidFill>
              <a:srgbClr val="333333"/>
            </a:solidFill>
            <a:prstDash val="solid"/>
          </a:ln>
        </p:spPr>
        <p:txBody>
          <a:bodyPr/>
          <a:lstStyle/>
          <a:p>
            <a:endParaRPr lang="en-US"/>
          </a:p>
        </p:txBody>
      </p:sp>
      <p:sp>
        <p:nvSpPr>
          <p:cNvPr id="3" name="Shape 1"/>
          <p:cNvSpPr/>
          <p:nvPr/>
        </p:nvSpPr>
        <p:spPr>
          <a:xfrm>
            <a:off x="1308506" y="1051560"/>
            <a:ext cx="356616" cy="356616"/>
          </a:xfrm>
          <a:prstGeom prst="roundRect">
            <a:avLst>
              <a:gd name="adj" fmla="val 5128"/>
            </a:avLst>
          </a:prstGeom>
          <a:solidFill>
            <a:srgbClr val="D2603F"/>
          </a:solidFill>
          <a:ln w="12700">
            <a:solidFill>
              <a:srgbClr val="333333"/>
            </a:solidFill>
            <a:prstDash val="solid"/>
          </a:ln>
        </p:spPr>
        <p:txBody>
          <a:bodyPr/>
          <a:lstStyle/>
          <a:p>
            <a:endParaRPr lang="en-US"/>
          </a:p>
        </p:txBody>
      </p:sp>
      <p:sp>
        <p:nvSpPr>
          <p:cNvPr id="4" name="Shape 2"/>
          <p:cNvSpPr/>
          <p:nvPr/>
        </p:nvSpPr>
        <p:spPr>
          <a:xfrm>
            <a:off x="868680" y="1491386"/>
            <a:ext cx="356616" cy="356616"/>
          </a:xfrm>
          <a:prstGeom prst="roundRect">
            <a:avLst>
              <a:gd name="adj" fmla="val 5128"/>
            </a:avLst>
          </a:prstGeom>
          <a:solidFill>
            <a:srgbClr val="C6D6DC"/>
          </a:solidFill>
          <a:ln w="12700">
            <a:solidFill>
              <a:srgbClr val="333333"/>
            </a:solidFill>
            <a:prstDash val="solid"/>
          </a:ln>
        </p:spPr>
        <p:txBody>
          <a:bodyPr/>
          <a:lstStyle/>
          <a:p>
            <a:endParaRPr lang="en-US"/>
          </a:p>
        </p:txBody>
      </p:sp>
      <p:sp>
        <p:nvSpPr>
          <p:cNvPr id="5" name="Shape 3"/>
          <p:cNvSpPr/>
          <p:nvPr/>
        </p:nvSpPr>
        <p:spPr>
          <a:xfrm>
            <a:off x="1308506" y="1491386"/>
            <a:ext cx="356616" cy="356616"/>
          </a:xfrm>
          <a:prstGeom prst="roundRect">
            <a:avLst>
              <a:gd name="adj" fmla="val 5128"/>
            </a:avLst>
          </a:prstGeom>
          <a:solidFill>
            <a:srgbClr val="8CA3AD"/>
          </a:solidFill>
          <a:ln w="12700">
            <a:solidFill>
              <a:srgbClr val="333333"/>
            </a:solidFill>
            <a:prstDash val="solid"/>
          </a:ln>
        </p:spPr>
        <p:txBody>
          <a:bodyPr/>
          <a:lstStyle/>
          <a:p>
            <a:endParaRPr lang="en-US"/>
          </a:p>
        </p:txBody>
      </p:sp>
      <p:sp>
        <p:nvSpPr>
          <p:cNvPr id="6" name="Text 4"/>
          <p:cNvSpPr txBox="1"/>
          <p:nvPr/>
        </p:nvSpPr>
        <p:spPr>
          <a:xfrm>
            <a:off x="822960" y="1874520"/>
            <a:ext cx="10515600" cy="914400"/>
          </a:xfrm>
          <a:prstGeom prst="rect">
            <a:avLst/>
          </a:prstGeom>
          <a:noFill/>
          <a:ln/>
        </p:spPr>
        <p:txBody>
          <a:bodyPr wrap="square" lIns="0" tIns="0" rIns="0" bIns="0" rtlCol="0" anchor="ctr"/>
          <a:lstStyle/>
          <a:p>
            <a:pPr marL="0" indent="0">
              <a:buNone/>
            </a:pPr>
            <a:r>
              <a:rPr lang="en-US" sz="5200" b="1" kern="0" spc="100" dirty="0">
                <a:solidFill>
                  <a:srgbClr val="FFFFFF"/>
                </a:solidFill>
                <a:latin typeface="Cambria" pitchFamily="34" charset="0"/>
                <a:ea typeface="Cambria" pitchFamily="34" charset="-122"/>
                <a:cs typeface="Cambria" pitchFamily="34" charset="-120"/>
              </a:rPr>
              <a:t>AffectNet</a:t>
            </a:r>
            <a:endParaRPr lang="en-US" sz="5200" dirty="0"/>
          </a:p>
        </p:txBody>
      </p:sp>
      <p:sp>
        <p:nvSpPr>
          <p:cNvPr id="7" name="Text 5"/>
          <p:cNvSpPr txBox="1"/>
          <p:nvPr/>
        </p:nvSpPr>
        <p:spPr>
          <a:xfrm>
            <a:off x="822960" y="2788920"/>
            <a:ext cx="10607040" cy="502920"/>
          </a:xfrm>
          <a:prstGeom prst="rect">
            <a:avLst/>
          </a:prstGeom>
          <a:noFill/>
          <a:ln/>
        </p:spPr>
        <p:txBody>
          <a:bodyPr wrap="square" lIns="0" tIns="0" rIns="0" bIns="0" rtlCol="0" anchor="ctr"/>
          <a:lstStyle/>
          <a:p>
            <a:pPr marL="0" indent="0">
              <a:buNone/>
            </a:pPr>
            <a:r>
              <a:rPr lang="en-US" sz="1900" i="1" dirty="0">
                <a:solidFill>
                  <a:srgbClr val="C6D6DC"/>
                </a:solidFill>
                <a:latin typeface="Cambria" pitchFamily="34" charset="0"/>
                <a:ea typeface="Cambria" pitchFamily="34" charset="-122"/>
                <a:cs typeface="Cambria" pitchFamily="34" charset="-120"/>
              </a:rPr>
              <a:t>A Database for Facial Expression, Valence, and Arousal Computing in the Wild</a:t>
            </a:r>
            <a:endParaRPr lang="en-US" sz="1900" dirty="0"/>
          </a:p>
        </p:txBody>
      </p:sp>
      <p:sp>
        <p:nvSpPr>
          <p:cNvPr id="8" name="Text 6"/>
          <p:cNvSpPr txBox="1"/>
          <p:nvPr/>
        </p:nvSpPr>
        <p:spPr>
          <a:xfrm>
            <a:off x="859536" y="3611880"/>
            <a:ext cx="10058400" cy="1005840"/>
          </a:xfrm>
          <a:prstGeom prst="rect">
            <a:avLst/>
          </a:prstGeom>
          <a:noFill/>
          <a:ln/>
        </p:spPr>
        <p:txBody>
          <a:bodyPr wrap="square" lIns="0" tIns="0" rIns="0" bIns="0" rtlCol="0" anchor="ctr"/>
          <a:lstStyle/>
          <a:p>
            <a:pPr marL="0" indent="0">
              <a:lnSpc>
                <a:spcPct val="125000"/>
              </a:lnSpc>
              <a:buNone/>
            </a:pPr>
            <a:r>
              <a:rPr lang="en-US" sz="1350" dirty="0">
                <a:solidFill>
                  <a:srgbClr val="A8BAC2"/>
                </a:solidFill>
                <a:latin typeface="Calibri" pitchFamily="34" charset="0"/>
                <a:ea typeface="Calibri" pitchFamily="34" charset="-122"/>
                <a:cs typeface="Calibri" pitchFamily="34" charset="-120"/>
              </a:rPr>
              <a:t>Ali Mollahosseini, Behzad Hasani &amp; Mohammad H. Mahoor</a:t>
            </a:r>
            <a:endParaRPr lang="en-US" sz="1350" dirty="0"/>
          </a:p>
          <a:p>
            <a:pPr marL="0" indent="0">
              <a:lnSpc>
                <a:spcPct val="125000"/>
              </a:lnSpc>
              <a:buNone/>
            </a:pPr>
            <a:r>
              <a:rPr lang="en-US" sz="1350" dirty="0">
                <a:solidFill>
                  <a:srgbClr val="A8BAC2"/>
                </a:solidFill>
                <a:latin typeface="Calibri" pitchFamily="34" charset="0"/>
                <a:ea typeface="Calibri" pitchFamily="34" charset="-122"/>
                <a:cs typeface="Calibri" pitchFamily="34" charset="-120"/>
              </a:rPr>
              <a:t>IEEE Transactions on Affective Computing, 10(1), 18–31 (2019)</a:t>
            </a:r>
            <a:endParaRPr lang="en-US" sz="1350" dirty="0"/>
          </a:p>
          <a:p>
            <a:pPr marL="0" indent="0">
              <a:lnSpc>
                <a:spcPct val="125000"/>
              </a:lnSpc>
              <a:buNone/>
            </a:pPr>
            <a:r>
              <a:rPr lang="en-US" sz="1350" dirty="0">
                <a:solidFill>
                  <a:srgbClr val="A8BAC2"/>
                </a:solidFill>
                <a:latin typeface="Calibri" pitchFamily="34" charset="0"/>
                <a:ea typeface="Calibri" pitchFamily="34" charset="-122"/>
                <a:cs typeface="Calibri" pitchFamily="34" charset="-120"/>
              </a:rPr>
              <a:t>Department of Electrical and Computer Engineering, University of Denver</a:t>
            </a:r>
            <a:endParaRPr lang="en-US" sz="1350" dirty="0"/>
          </a:p>
        </p:txBody>
      </p:sp>
      <p:sp>
        <p:nvSpPr>
          <p:cNvPr id="9" name="Text 7"/>
          <p:cNvSpPr txBox="1"/>
          <p:nvPr/>
        </p:nvSpPr>
        <p:spPr>
          <a:xfrm>
            <a:off x="859536" y="5120640"/>
            <a:ext cx="8229600" cy="365760"/>
          </a:xfrm>
          <a:prstGeom prst="rect">
            <a:avLst/>
          </a:prstGeom>
          <a:noFill/>
          <a:ln/>
        </p:spPr>
        <p:txBody>
          <a:bodyPr wrap="square" lIns="0" tIns="0" rIns="0" bIns="0" rtlCol="0" anchor="ctr"/>
          <a:lstStyle/>
          <a:p>
            <a:pPr marL="0" indent="0">
              <a:buNone/>
            </a:pPr>
            <a:r>
              <a:rPr lang="en-US" sz="1250" b="1" dirty="0">
                <a:solidFill>
                  <a:srgbClr val="D2603F"/>
                </a:solidFill>
                <a:latin typeface="Calibri" pitchFamily="34" charset="0"/>
                <a:ea typeface="Calibri" pitchFamily="34" charset="-122"/>
                <a:cs typeface="Calibri" pitchFamily="34" charset="-120"/>
              </a:rPr>
              <a:t>Corpora II: naturalistic and in-the-wild data </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301984" y="457200"/>
            <a:ext cx="137160" cy="137160"/>
          </a:xfrm>
          <a:prstGeom prst="roundRect">
            <a:avLst>
              <a:gd name="adj" fmla="val 13333"/>
            </a:avLst>
          </a:prstGeom>
          <a:solidFill>
            <a:srgbClr val="2F6B7C"/>
          </a:solidFill>
          <a:ln w="12700">
            <a:solidFill>
              <a:srgbClr val="333333"/>
            </a:solidFill>
            <a:prstDash val="solid"/>
          </a:ln>
        </p:spPr>
        <p:txBody>
          <a:bodyPr/>
          <a:lstStyle/>
          <a:p>
            <a:endParaRPr lang="en-US"/>
          </a:p>
        </p:txBody>
      </p:sp>
      <p:sp>
        <p:nvSpPr>
          <p:cNvPr id="3" name="Shape 1"/>
          <p:cNvSpPr/>
          <p:nvPr/>
        </p:nvSpPr>
        <p:spPr>
          <a:xfrm>
            <a:off x="11471148" y="457200"/>
            <a:ext cx="137160" cy="137160"/>
          </a:xfrm>
          <a:prstGeom prst="roundRect">
            <a:avLst>
              <a:gd name="adj" fmla="val 13333"/>
            </a:avLst>
          </a:prstGeom>
          <a:solidFill>
            <a:srgbClr val="D2603F"/>
          </a:solidFill>
          <a:ln w="12700">
            <a:solidFill>
              <a:srgbClr val="333333"/>
            </a:solidFill>
            <a:prstDash val="solid"/>
          </a:ln>
        </p:spPr>
        <p:txBody>
          <a:bodyPr/>
          <a:lstStyle/>
          <a:p>
            <a:endParaRPr lang="en-US"/>
          </a:p>
        </p:txBody>
      </p:sp>
      <p:sp>
        <p:nvSpPr>
          <p:cNvPr id="4" name="Shape 2"/>
          <p:cNvSpPr/>
          <p:nvPr/>
        </p:nvSpPr>
        <p:spPr>
          <a:xfrm>
            <a:off x="11301984" y="626364"/>
            <a:ext cx="137160" cy="137160"/>
          </a:xfrm>
          <a:prstGeom prst="roundRect">
            <a:avLst>
              <a:gd name="adj" fmla="val 13333"/>
            </a:avLst>
          </a:prstGeom>
          <a:solidFill>
            <a:srgbClr val="8CA3AD"/>
          </a:solidFill>
          <a:ln w="12700">
            <a:solidFill>
              <a:srgbClr val="333333"/>
            </a:solidFill>
            <a:prstDash val="solid"/>
          </a:ln>
        </p:spPr>
        <p:txBody>
          <a:bodyPr/>
          <a:lstStyle/>
          <a:p>
            <a:endParaRPr lang="en-US"/>
          </a:p>
        </p:txBody>
      </p:sp>
      <p:sp>
        <p:nvSpPr>
          <p:cNvPr id="5" name="Shape 3"/>
          <p:cNvSpPr/>
          <p:nvPr/>
        </p:nvSpPr>
        <p:spPr>
          <a:xfrm>
            <a:off x="11471148" y="626364"/>
            <a:ext cx="137160" cy="137160"/>
          </a:xfrm>
          <a:prstGeom prst="roundRect">
            <a:avLst>
              <a:gd name="adj" fmla="val 13333"/>
            </a:avLst>
          </a:prstGeom>
          <a:solidFill>
            <a:srgbClr val="2F6B7C"/>
          </a:solidFill>
          <a:ln w="12700">
            <a:solidFill>
              <a:srgbClr val="333333"/>
            </a:solidFill>
            <a:prstDash val="solid"/>
          </a:ln>
        </p:spPr>
        <p:txBody>
          <a:bodyPr/>
          <a:lstStyle/>
          <a:p>
            <a:endParaRPr lang="en-US"/>
          </a:p>
        </p:txBody>
      </p:sp>
      <p:sp>
        <p:nvSpPr>
          <p:cNvPr id="6" name="Text 4"/>
          <p:cNvSpPr txBox="1"/>
          <p:nvPr/>
        </p:nvSpPr>
        <p:spPr>
          <a:xfrm>
            <a:off x="548640" y="384048"/>
            <a:ext cx="10424160" cy="566928"/>
          </a:xfrm>
          <a:prstGeom prst="rect">
            <a:avLst/>
          </a:prstGeom>
          <a:noFill/>
          <a:ln/>
        </p:spPr>
        <p:txBody>
          <a:bodyPr wrap="square" lIns="0" tIns="0" rIns="0" bIns="0" rtlCol="0" anchor="t"/>
          <a:lstStyle/>
          <a:p>
            <a:pPr marL="0" indent="0">
              <a:buNone/>
            </a:pPr>
            <a:r>
              <a:rPr lang="en-US" sz="2900" b="1" dirty="0">
                <a:solidFill>
                  <a:srgbClr val="1A242C"/>
                </a:solidFill>
                <a:latin typeface="Cambria" pitchFamily="34" charset="0"/>
                <a:ea typeface="Cambria" pitchFamily="34" charset="-122"/>
                <a:cs typeface="Cambria" pitchFamily="34" charset="-120"/>
              </a:rPr>
              <a:t>Why this paper matters</a:t>
            </a:r>
            <a:endParaRPr lang="en-US" sz="2900" dirty="0"/>
          </a:p>
        </p:txBody>
      </p:sp>
      <p:sp>
        <p:nvSpPr>
          <p:cNvPr id="7" name="Text 5"/>
          <p:cNvSpPr txBox="1"/>
          <p:nvPr/>
        </p:nvSpPr>
        <p:spPr>
          <a:xfrm>
            <a:off x="548640" y="969264"/>
            <a:ext cx="10424160" cy="329184"/>
          </a:xfrm>
          <a:prstGeom prst="rect">
            <a:avLst/>
          </a:prstGeom>
          <a:noFill/>
          <a:ln/>
        </p:spPr>
        <p:txBody>
          <a:bodyPr wrap="square" lIns="0" tIns="0" rIns="0" bIns="0" rtlCol="0" anchor="ctr"/>
          <a:lstStyle/>
          <a:p>
            <a:pPr marL="0" indent="0">
              <a:buNone/>
            </a:pPr>
            <a:r>
              <a:rPr lang="en-US" sz="1350" i="1" dirty="0">
                <a:solidFill>
                  <a:srgbClr val="5D6B75"/>
                </a:solidFill>
                <a:latin typeface="Calibri" pitchFamily="34" charset="0"/>
                <a:ea typeface="Calibri" pitchFamily="34" charset="-122"/>
                <a:cs typeface="Calibri" pitchFamily="34" charset="-120"/>
              </a:rPr>
              <a:t>It made dimensional facial affect a trainable problem</a:t>
            </a:r>
            <a:endParaRPr lang="en-US" sz="1350" dirty="0"/>
          </a:p>
        </p:txBody>
      </p:sp>
      <p:sp>
        <p:nvSpPr>
          <p:cNvPr id="8" name="Text 6"/>
          <p:cNvSpPr txBox="1"/>
          <p:nvPr/>
        </p:nvSpPr>
        <p:spPr>
          <a:xfrm>
            <a:off x="9326880" y="6382512"/>
            <a:ext cx="2313432" cy="274320"/>
          </a:xfrm>
          <a:prstGeom prst="rect">
            <a:avLst/>
          </a:prstGeom>
          <a:noFill/>
          <a:ln/>
        </p:spPr>
        <p:txBody>
          <a:bodyPr wrap="square" lIns="0" tIns="0" rIns="0" bIns="0" rtlCol="0" anchor="ctr"/>
          <a:lstStyle/>
          <a:p>
            <a:pPr marL="0" indent="0" algn="r">
              <a:buNone/>
            </a:pPr>
            <a:r>
              <a:rPr lang="en-US" sz="900" dirty="0">
                <a:solidFill>
                  <a:srgbClr val="9DACB4"/>
                </a:solidFill>
                <a:latin typeface="Calibri" pitchFamily="34" charset="0"/>
                <a:ea typeface="Calibri" pitchFamily="34" charset="-122"/>
                <a:cs typeface="Calibri" pitchFamily="34" charset="-120"/>
              </a:rPr>
              <a:t>AffectNet · Mollahosseini et al. 2019  |  3</a:t>
            </a:r>
            <a:endParaRPr lang="en-US" sz="900" dirty="0"/>
          </a:p>
        </p:txBody>
      </p:sp>
      <p:sp>
        <p:nvSpPr>
          <p:cNvPr id="9" name="Text 7"/>
          <p:cNvSpPr txBox="1"/>
          <p:nvPr/>
        </p:nvSpPr>
        <p:spPr>
          <a:xfrm>
            <a:off x="566928" y="1554480"/>
            <a:ext cx="2697480" cy="694944"/>
          </a:xfrm>
          <a:prstGeom prst="rect">
            <a:avLst/>
          </a:prstGeom>
          <a:noFill/>
          <a:ln/>
        </p:spPr>
        <p:txBody>
          <a:bodyPr wrap="square" lIns="0" tIns="0" rIns="0" bIns="0" rtlCol="0" anchor="ctr"/>
          <a:lstStyle/>
          <a:p>
            <a:pPr marL="0" indent="0" algn="ctr">
              <a:buNone/>
            </a:pPr>
            <a:r>
              <a:rPr lang="en-US" sz="3600" b="1" dirty="0">
                <a:solidFill>
                  <a:srgbClr val="2F6B7C"/>
                </a:solidFill>
                <a:latin typeface="Cambria" pitchFamily="34" charset="0"/>
                <a:ea typeface="Cambria" pitchFamily="34" charset="-122"/>
                <a:cs typeface="Cambria" pitchFamily="34" charset="-120"/>
              </a:rPr>
              <a:t>1M+</a:t>
            </a:r>
            <a:endParaRPr lang="en-US" sz="3600" dirty="0"/>
          </a:p>
        </p:txBody>
      </p:sp>
      <p:sp>
        <p:nvSpPr>
          <p:cNvPr id="10" name="Text 8"/>
          <p:cNvSpPr txBox="1"/>
          <p:nvPr/>
        </p:nvSpPr>
        <p:spPr>
          <a:xfrm>
            <a:off x="566928" y="2249424"/>
            <a:ext cx="2697480" cy="566928"/>
          </a:xfrm>
          <a:prstGeom prst="rect">
            <a:avLst/>
          </a:prstGeom>
          <a:noFill/>
          <a:ln/>
        </p:spPr>
        <p:txBody>
          <a:bodyPr wrap="square" lIns="0" tIns="0" rIns="0" bIns="0" rtlCol="0" anchor="ctr"/>
          <a:lstStyle/>
          <a:p>
            <a:pPr marL="0" indent="0" algn="ctr">
              <a:buNone/>
            </a:pPr>
            <a:r>
              <a:rPr lang="en-US" sz="1150" dirty="0">
                <a:solidFill>
                  <a:srgbClr val="5D6B75"/>
                </a:solidFill>
                <a:latin typeface="Calibri" pitchFamily="34" charset="0"/>
                <a:ea typeface="Calibri" pitchFamily="34" charset="-122"/>
                <a:cs typeface="Calibri" pitchFamily="34" charset="-120"/>
              </a:rPr>
              <a:t>facial images with detected</a:t>
            </a:r>
            <a:endParaRPr lang="en-US" sz="1150" dirty="0"/>
          </a:p>
          <a:p>
            <a:pPr marL="0" indent="0" algn="ctr">
              <a:buNone/>
            </a:pPr>
            <a:r>
              <a:rPr lang="en-US" sz="1150" dirty="0">
                <a:solidFill>
                  <a:srgbClr val="5D6B75"/>
                </a:solidFill>
                <a:latin typeface="Calibri" pitchFamily="34" charset="0"/>
                <a:ea typeface="Calibri" pitchFamily="34" charset="-122"/>
                <a:cs typeface="Calibri" pitchFamily="34" charset="-120"/>
              </a:rPr>
              <a:t>faces and 66 landmark points</a:t>
            </a:r>
            <a:endParaRPr lang="en-US" sz="1150" dirty="0"/>
          </a:p>
        </p:txBody>
      </p:sp>
      <p:sp>
        <p:nvSpPr>
          <p:cNvPr id="11" name="Text 9"/>
          <p:cNvSpPr txBox="1"/>
          <p:nvPr/>
        </p:nvSpPr>
        <p:spPr>
          <a:xfrm>
            <a:off x="3392424" y="1554480"/>
            <a:ext cx="2697480" cy="694944"/>
          </a:xfrm>
          <a:prstGeom prst="rect">
            <a:avLst/>
          </a:prstGeom>
          <a:noFill/>
          <a:ln/>
        </p:spPr>
        <p:txBody>
          <a:bodyPr wrap="square" lIns="0" tIns="0" rIns="0" bIns="0" rtlCol="0" anchor="ctr"/>
          <a:lstStyle/>
          <a:p>
            <a:pPr marL="0" indent="0" algn="ctr">
              <a:buNone/>
            </a:pPr>
            <a:r>
              <a:rPr lang="en-US" sz="3600" b="1" dirty="0">
                <a:solidFill>
                  <a:srgbClr val="D2603F"/>
                </a:solidFill>
                <a:latin typeface="Cambria" pitchFamily="34" charset="0"/>
                <a:ea typeface="Cambria" pitchFamily="34" charset="-122"/>
                <a:cs typeface="Cambria" pitchFamily="34" charset="-120"/>
              </a:rPr>
              <a:t>450,000</a:t>
            </a:r>
            <a:endParaRPr lang="en-US" sz="3600" dirty="0"/>
          </a:p>
        </p:txBody>
      </p:sp>
      <p:sp>
        <p:nvSpPr>
          <p:cNvPr id="12" name="Text 10"/>
          <p:cNvSpPr txBox="1"/>
          <p:nvPr/>
        </p:nvSpPr>
        <p:spPr>
          <a:xfrm>
            <a:off x="3392424" y="2249424"/>
            <a:ext cx="2697480" cy="566928"/>
          </a:xfrm>
          <a:prstGeom prst="rect">
            <a:avLst/>
          </a:prstGeom>
          <a:noFill/>
          <a:ln/>
        </p:spPr>
        <p:txBody>
          <a:bodyPr wrap="square" lIns="0" tIns="0" rIns="0" bIns="0" rtlCol="0" anchor="ctr"/>
          <a:lstStyle/>
          <a:p>
            <a:pPr marL="0" indent="0" algn="ctr">
              <a:buNone/>
            </a:pPr>
            <a:r>
              <a:rPr lang="en-US" sz="1150" dirty="0">
                <a:solidFill>
                  <a:srgbClr val="5D6B75"/>
                </a:solidFill>
                <a:latin typeface="Calibri" pitchFamily="34" charset="0"/>
                <a:ea typeface="Calibri" pitchFamily="34" charset="-122"/>
                <a:cs typeface="Calibri" pitchFamily="34" charset="-120"/>
              </a:rPr>
              <a:t>images manually annotated by</a:t>
            </a:r>
            <a:endParaRPr lang="en-US" sz="1150" dirty="0"/>
          </a:p>
          <a:p>
            <a:pPr marL="0" indent="0" algn="ctr">
              <a:buNone/>
            </a:pPr>
            <a:r>
              <a:rPr lang="en-US" sz="1150" dirty="0">
                <a:solidFill>
                  <a:srgbClr val="5D6B75"/>
                </a:solidFill>
                <a:latin typeface="Calibri" pitchFamily="34" charset="0"/>
                <a:ea typeface="Calibri" pitchFamily="34" charset="-122"/>
                <a:cs typeface="Calibri" pitchFamily="34" charset="-120"/>
              </a:rPr>
              <a:t>twelve trained experts</a:t>
            </a:r>
            <a:endParaRPr lang="en-US" sz="1150" dirty="0"/>
          </a:p>
        </p:txBody>
      </p:sp>
      <p:sp>
        <p:nvSpPr>
          <p:cNvPr id="13" name="Text 11"/>
          <p:cNvSpPr txBox="1"/>
          <p:nvPr/>
        </p:nvSpPr>
        <p:spPr>
          <a:xfrm>
            <a:off x="6217920" y="1554480"/>
            <a:ext cx="2697480" cy="694944"/>
          </a:xfrm>
          <a:prstGeom prst="rect">
            <a:avLst/>
          </a:prstGeom>
          <a:noFill/>
          <a:ln/>
        </p:spPr>
        <p:txBody>
          <a:bodyPr wrap="square" lIns="0" tIns="0" rIns="0" bIns="0" rtlCol="0" anchor="ctr"/>
          <a:lstStyle/>
          <a:p>
            <a:pPr marL="0" indent="0" algn="ctr">
              <a:buNone/>
            </a:pPr>
            <a:r>
              <a:rPr lang="en-US" sz="3600" b="1" dirty="0">
                <a:solidFill>
                  <a:srgbClr val="2F6B7C"/>
                </a:solidFill>
                <a:latin typeface="Cambria" pitchFamily="34" charset="0"/>
                <a:ea typeface="Cambria" pitchFamily="34" charset="-122"/>
                <a:cs typeface="Cambria" pitchFamily="34" charset="-120"/>
              </a:rPr>
              <a:t>1,250</a:t>
            </a:r>
            <a:endParaRPr lang="en-US" sz="3600" dirty="0"/>
          </a:p>
        </p:txBody>
      </p:sp>
      <p:sp>
        <p:nvSpPr>
          <p:cNvPr id="14" name="Text 12"/>
          <p:cNvSpPr txBox="1"/>
          <p:nvPr/>
        </p:nvSpPr>
        <p:spPr>
          <a:xfrm>
            <a:off x="6217920" y="2249424"/>
            <a:ext cx="2697480" cy="566928"/>
          </a:xfrm>
          <a:prstGeom prst="rect">
            <a:avLst/>
          </a:prstGeom>
          <a:noFill/>
          <a:ln/>
        </p:spPr>
        <p:txBody>
          <a:bodyPr wrap="square" lIns="0" tIns="0" rIns="0" bIns="0" rtlCol="0" anchor="ctr"/>
          <a:lstStyle/>
          <a:p>
            <a:pPr marL="0" indent="0" algn="ctr">
              <a:buNone/>
            </a:pPr>
            <a:r>
              <a:rPr lang="en-US" sz="1150" dirty="0">
                <a:solidFill>
                  <a:srgbClr val="5D6B75"/>
                </a:solidFill>
                <a:latin typeface="Calibri" pitchFamily="34" charset="0"/>
                <a:ea typeface="Calibri" pitchFamily="34" charset="-122"/>
                <a:cs typeface="Calibri" pitchFamily="34" charset="-120"/>
              </a:rPr>
              <a:t>emotion-related queries across</a:t>
            </a:r>
            <a:endParaRPr lang="en-US" sz="1150" dirty="0"/>
          </a:p>
          <a:p>
            <a:pPr marL="0" indent="0" algn="ctr">
              <a:buNone/>
            </a:pPr>
            <a:r>
              <a:rPr lang="en-US" sz="1150" dirty="0">
                <a:solidFill>
                  <a:srgbClr val="5D6B75"/>
                </a:solidFill>
                <a:latin typeface="Calibri" pitchFamily="34" charset="0"/>
                <a:ea typeface="Calibri" pitchFamily="34" charset="-122"/>
                <a:cs typeface="Calibri" pitchFamily="34" charset="-120"/>
              </a:rPr>
              <a:t>six languages</a:t>
            </a:r>
            <a:endParaRPr lang="en-US" sz="1150" dirty="0"/>
          </a:p>
        </p:txBody>
      </p:sp>
      <p:sp>
        <p:nvSpPr>
          <p:cNvPr id="15" name="Text 13"/>
          <p:cNvSpPr txBox="1"/>
          <p:nvPr/>
        </p:nvSpPr>
        <p:spPr>
          <a:xfrm>
            <a:off x="9043416" y="1554480"/>
            <a:ext cx="2587752" cy="694944"/>
          </a:xfrm>
          <a:prstGeom prst="rect">
            <a:avLst/>
          </a:prstGeom>
          <a:noFill/>
          <a:ln/>
        </p:spPr>
        <p:txBody>
          <a:bodyPr wrap="square" lIns="0" tIns="0" rIns="0" bIns="0" rtlCol="0" anchor="ctr"/>
          <a:lstStyle/>
          <a:p>
            <a:pPr marL="0" indent="0" algn="ctr">
              <a:buNone/>
            </a:pPr>
            <a:r>
              <a:rPr lang="en-US" sz="3600" b="1" dirty="0">
                <a:solidFill>
                  <a:srgbClr val="D2603F"/>
                </a:solidFill>
                <a:latin typeface="Cambria" pitchFamily="34" charset="0"/>
                <a:ea typeface="Cambria" pitchFamily="34" charset="-122"/>
                <a:cs typeface="Cambria" pitchFamily="34" charset="-120"/>
              </a:rPr>
              <a:t>8 + 3</a:t>
            </a:r>
            <a:endParaRPr lang="en-US" sz="3600" dirty="0"/>
          </a:p>
        </p:txBody>
      </p:sp>
      <p:sp>
        <p:nvSpPr>
          <p:cNvPr id="16" name="Text 14"/>
          <p:cNvSpPr txBox="1"/>
          <p:nvPr/>
        </p:nvSpPr>
        <p:spPr>
          <a:xfrm>
            <a:off x="9043416" y="2249424"/>
            <a:ext cx="2587752" cy="566928"/>
          </a:xfrm>
          <a:prstGeom prst="rect">
            <a:avLst/>
          </a:prstGeom>
          <a:noFill/>
          <a:ln/>
        </p:spPr>
        <p:txBody>
          <a:bodyPr wrap="square" lIns="0" tIns="0" rIns="0" bIns="0" rtlCol="0" anchor="ctr"/>
          <a:lstStyle/>
          <a:p>
            <a:pPr marL="0" indent="0" algn="ctr">
              <a:buNone/>
            </a:pPr>
            <a:r>
              <a:rPr lang="en-US" sz="1150" dirty="0">
                <a:solidFill>
                  <a:srgbClr val="5D6B75"/>
                </a:solidFill>
                <a:latin typeface="Calibri" pitchFamily="34" charset="0"/>
                <a:ea typeface="Calibri" pitchFamily="34" charset="-122"/>
                <a:cs typeface="Calibri" pitchFamily="34" charset="-120"/>
              </a:rPr>
              <a:t>emotion categories, plus None,</a:t>
            </a:r>
            <a:endParaRPr lang="en-US" sz="1150" dirty="0"/>
          </a:p>
          <a:p>
            <a:pPr marL="0" indent="0" algn="ctr">
              <a:buNone/>
            </a:pPr>
            <a:r>
              <a:rPr lang="en-US" sz="1150" dirty="0">
                <a:solidFill>
                  <a:srgbClr val="5D6B75"/>
                </a:solidFill>
                <a:latin typeface="Calibri" pitchFamily="34" charset="0"/>
                <a:ea typeface="Calibri" pitchFamily="34" charset="-122"/>
                <a:cs typeface="Calibri" pitchFamily="34" charset="-120"/>
              </a:rPr>
              <a:t>Uncertain and Non-face</a:t>
            </a:r>
            <a:endParaRPr lang="en-US" sz="1150" dirty="0"/>
          </a:p>
        </p:txBody>
      </p:sp>
      <p:sp>
        <p:nvSpPr>
          <p:cNvPr id="17" name="Shape 15"/>
          <p:cNvSpPr/>
          <p:nvPr/>
        </p:nvSpPr>
        <p:spPr>
          <a:xfrm>
            <a:off x="566928" y="3200400"/>
            <a:ext cx="11064240" cy="1371600"/>
          </a:xfrm>
          <a:prstGeom prst="roundRect">
            <a:avLst>
              <a:gd name="adj" fmla="val 4000"/>
            </a:avLst>
          </a:prstGeom>
          <a:solidFill>
            <a:srgbClr val="F1F5F6"/>
          </a:solidFill>
          <a:ln w="12700">
            <a:solidFill>
              <a:srgbClr val="DDE6E9"/>
            </a:solidFill>
            <a:prstDash val="solid"/>
          </a:ln>
        </p:spPr>
        <p:txBody>
          <a:bodyPr/>
          <a:lstStyle/>
          <a:p>
            <a:endParaRPr lang="en-US"/>
          </a:p>
        </p:txBody>
      </p:sp>
      <p:sp>
        <p:nvSpPr>
          <p:cNvPr id="18" name="Shape 16"/>
          <p:cNvSpPr/>
          <p:nvPr/>
        </p:nvSpPr>
        <p:spPr>
          <a:xfrm>
            <a:off x="786384" y="3493008"/>
            <a:ext cx="109728" cy="109728"/>
          </a:xfrm>
          <a:prstGeom prst="ellipse">
            <a:avLst/>
          </a:prstGeom>
          <a:solidFill>
            <a:srgbClr val="2F6B7C"/>
          </a:solidFill>
          <a:ln w="12700">
            <a:solidFill>
              <a:srgbClr val="333333"/>
            </a:solidFill>
            <a:prstDash val="solid"/>
          </a:ln>
        </p:spPr>
        <p:txBody>
          <a:bodyPr/>
          <a:lstStyle/>
          <a:p>
            <a:endParaRPr lang="en-US"/>
          </a:p>
        </p:txBody>
      </p:sp>
      <p:sp>
        <p:nvSpPr>
          <p:cNvPr id="19" name="Text 17"/>
          <p:cNvSpPr txBox="1"/>
          <p:nvPr/>
        </p:nvSpPr>
        <p:spPr>
          <a:xfrm>
            <a:off x="987552" y="3364992"/>
            <a:ext cx="10424160" cy="365760"/>
          </a:xfrm>
          <a:prstGeom prst="rect">
            <a:avLst/>
          </a:prstGeom>
          <a:noFill/>
          <a:ln/>
        </p:spPr>
        <p:txBody>
          <a:bodyPr wrap="square" lIns="0" tIns="0" rIns="0" bIns="0" rtlCol="0" anchor="ctr"/>
          <a:lstStyle/>
          <a:p>
            <a:pPr marL="0" indent="0">
              <a:buNone/>
            </a:pPr>
            <a:r>
              <a:rPr lang="en-US" sz="1500" b="1" dirty="0">
                <a:solidFill>
                  <a:srgbClr val="1A242C"/>
                </a:solidFill>
                <a:latin typeface="Cambria" pitchFamily="34" charset="0"/>
                <a:ea typeface="Cambria" pitchFamily="34" charset="-122"/>
                <a:cs typeface="Cambria" pitchFamily="34" charset="-120"/>
              </a:rPr>
              <a:t>The gap it fills</a:t>
            </a:r>
            <a:endParaRPr lang="en-US" sz="1500" dirty="0"/>
          </a:p>
        </p:txBody>
      </p:sp>
      <p:sp>
        <p:nvSpPr>
          <p:cNvPr id="20" name="Text 18"/>
          <p:cNvSpPr txBox="1"/>
          <p:nvPr/>
        </p:nvSpPr>
        <p:spPr>
          <a:xfrm>
            <a:off x="822960" y="3803904"/>
            <a:ext cx="10552176" cy="585216"/>
          </a:xfrm>
          <a:prstGeom prst="rect">
            <a:avLst/>
          </a:prstGeom>
          <a:noFill/>
          <a:ln/>
        </p:spPr>
        <p:txBody>
          <a:bodyPr wrap="square" lIns="0" tIns="0" rIns="0" bIns="0" rtlCol="0" anchor="t"/>
          <a:lstStyle/>
          <a:p>
            <a:pPr marL="0" indent="0">
              <a:lnSpc>
                <a:spcPct val="108000"/>
              </a:lnSpc>
              <a:buNone/>
            </a:pPr>
            <a:r>
              <a:rPr lang="en-US" sz="1340" dirty="0">
                <a:solidFill>
                  <a:srgbClr val="2E3A42"/>
                </a:solidFill>
                <a:latin typeface="Calibri" pitchFamily="34" charset="0"/>
                <a:ea typeface="Calibri" pitchFamily="34" charset="-122"/>
                <a:cs typeface="Calibri" pitchFamily="34" charset="-120"/>
              </a:rPr>
              <a:t>In-the-wild facial databases of the period were annotated with categories only, or with automatically inferred action units, or — where they carried valence and arousal — contained a few dozen subjects recorded in a laboratory. Nothing offered both models of affect, at scale, with manual annotation, outside controlled conditions.</a:t>
            </a:r>
            <a:endParaRPr lang="en-US" sz="1340" dirty="0"/>
          </a:p>
        </p:txBody>
      </p:sp>
      <p:sp>
        <p:nvSpPr>
          <p:cNvPr id="21" name="Shape 19"/>
          <p:cNvSpPr/>
          <p:nvPr/>
        </p:nvSpPr>
        <p:spPr>
          <a:xfrm>
            <a:off x="566928" y="4700016"/>
            <a:ext cx="11064240" cy="1353312"/>
          </a:xfrm>
          <a:prstGeom prst="roundRect">
            <a:avLst>
              <a:gd name="adj" fmla="val 4054"/>
            </a:avLst>
          </a:prstGeom>
          <a:solidFill>
            <a:srgbClr val="24303A"/>
          </a:solidFill>
          <a:ln w="12700">
            <a:solidFill>
              <a:srgbClr val="24303A"/>
            </a:solidFill>
            <a:prstDash val="solid"/>
          </a:ln>
        </p:spPr>
        <p:txBody>
          <a:bodyPr/>
          <a:lstStyle/>
          <a:p>
            <a:endParaRPr lang="en-US"/>
          </a:p>
        </p:txBody>
      </p:sp>
      <p:sp>
        <p:nvSpPr>
          <p:cNvPr id="22" name="Shape 20"/>
          <p:cNvSpPr/>
          <p:nvPr/>
        </p:nvSpPr>
        <p:spPr>
          <a:xfrm>
            <a:off x="786384" y="4992624"/>
            <a:ext cx="109728" cy="109728"/>
          </a:xfrm>
          <a:prstGeom prst="ellipse">
            <a:avLst/>
          </a:prstGeom>
          <a:solidFill>
            <a:srgbClr val="D2603F"/>
          </a:solidFill>
          <a:ln w="12700">
            <a:solidFill>
              <a:srgbClr val="333333"/>
            </a:solidFill>
            <a:prstDash val="solid"/>
          </a:ln>
        </p:spPr>
        <p:txBody>
          <a:bodyPr/>
          <a:lstStyle/>
          <a:p>
            <a:endParaRPr lang="en-US"/>
          </a:p>
        </p:txBody>
      </p:sp>
      <p:sp>
        <p:nvSpPr>
          <p:cNvPr id="23" name="Text 21"/>
          <p:cNvSpPr txBox="1"/>
          <p:nvPr/>
        </p:nvSpPr>
        <p:spPr>
          <a:xfrm>
            <a:off x="987552" y="4864608"/>
            <a:ext cx="10424160" cy="365760"/>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The claim, and its most important qualifier</a:t>
            </a:r>
            <a:endParaRPr lang="en-US" sz="1500" dirty="0"/>
          </a:p>
        </p:txBody>
      </p:sp>
      <p:sp>
        <p:nvSpPr>
          <p:cNvPr id="24" name="Text 22"/>
          <p:cNvSpPr txBox="1"/>
          <p:nvPr/>
        </p:nvSpPr>
        <p:spPr>
          <a:xfrm>
            <a:off x="822960" y="5303520"/>
            <a:ext cx="10552176" cy="566928"/>
          </a:xfrm>
          <a:prstGeom prst="rect">
            <a:avLst/>
          </a:prstGeom>
          <a:noFill/>
          <a:ln/>
        </p:spPr>
        <p:txBody>
          <a:bodyPr wrap="square" lIns="0" tIns="0" rIns="0" bIns="0" rtlCol="0" anchor="t"/>
          <a:lstStyle/>
          <a:p>
            <a:pPr marL="0" indent="0">
              <a:lnSpc>
                <a:spcPct val="108000"/>
              </a:lnSpc>
              <a:buNone/>
            </a:pPr>
            <a:r>
              <a:rPr lang="en-US" sz="1340" dirty="0">
                <a:solidFill>
                  <a:srgbClr val="C6D6DC"/>
                </a:solidFill>
                <a:latin typeface="Calibri" pitchFamily="34" charset="0"/>
                <a:ea typeface="Calibri" pitchFamily="34" charset="-122"/>
                <a:cs typeface="Calibri" pitchFamily="34" charset="-120"/>
              </a:rPr>
              <a:t>AffectNet is by far the largest manually annotated database of facial affect in the wild, and it made deep dimensional affect models trainable. It is also, by the authors' own measurement, a database whose two annotators agreed on the emotion category only 60.7% of the time.</a:t>
            </a:r>
            <a:endParaRPr lang="en-US" sz="134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24303A"/>
        </a:solidFill>
        <a:effectLst/>
      </p:bgPr>
    </p:bg>
    <p:spTree>
      <p:nvGrpSpPr>
        <p:cNvPr id="1" name=""/>
        <p:cNvGrpSpPr/>
        <p:nvPr/>
      </p:nvGrpSpPr>
      <p:grpSpPr>
        <a:xfrm>
          <a:off x="0" y="0"/>
          <a:ext cx="0" cy="0"/>
          <a:chOff x="0" y="0"/>
          <a:chExt cx="0" cy="0"/>
        </a:xfrm>
      </p:grpSpPr>
      <p:sp>
        <p:nvSpPr>
          <p:cNvPr id="2" name="Shape 0"/>
          <p:cNvSpPr/>
          <p:nvPr/>
        </p:nvSpPr>
        <p:spPr>
          <a:xfrm>
            <a:off x="10607040" y="5303520"/>
            <a:ext cx="274320" cy="274320"/>
          </a:xfrm>
          <a:prstGeom prst="roundRect">
            <a:avLst>
              <a:gd name="adj" fmla="val 6667"/>
            </a:avLst>
          </a:prstGeom>
          <a:solidFill>
            <a:srgbClr val="C6D6DC"/>
          </a:solidFill>
          <a:ln w="12700">
            <a:solidFill>
              <a:srgbClr val="333333"/>
            </a:solidFill>
            <a:prstDash val="solid"/>
          </a:ln>
        </p:spPr>
        <p:txBody>
          <a:bodyPr/>
          <a:lstStyle/>
          <a:p>
            <a:endParaRPr lang="en-US"/>
          </a:p>
        </p:txBody>
      </p:sp>
      <p:sp>
        <p:nvSpPr>
          <p:cNvPr id="3" name="Shape 1"/>
          <p:cNvSpPr/>
          <p:nvPr/>
        </p:nvSpPr>
        <p:spPr>
          <a:xfrm>
            <a:off x="10945368" y="5303520"/>
            <a:ext cx="274320" cy="274320"/>
          </a:xfrm>
          <a:prstGeom prst="roundRect">
            <a:avLst>
              <a:gd name="adj" fmla="val 6667"/>
            </a:avLst>
          </a:prstGeom>
          <a:solidFill>
            <a:srgbClr val="D2603F"/>
          </a:solidFill>
          <a:ln w="12700">
            <a:solidFill>
              <a:srgbClr val="333333"/>
            </a:solidFill>
            <a:prstDash val="solid"/>
          </a:ln>
        </p:spPr>
        <p:txBody>
          <a:bodyPr/>
          <a:lstStyle/>
          <a:p>
            <a:endParaRPr lang="en-US"/>
          </a:p>
        </p:txBody>
      </p:sp>
      <p:sp>
        <p:nvSpPr>
          <p:cNvPr id="4" name="Shape 2"/>
          <p:cNvSpPr/>
          <p:nvPr/>
        </p:nvSpPr>
        <p:spPr>
          <a:xfrm>
            <a:off x="10607040" y="5641848"/>
            <a:ext cx="274320" cy="274320"/>
          </a:xfrm>
          <a:prstGeom prst="roundRect">
            <a:avLst>
              <a:gd name="adj" fmla="val 6667"/>
            </a:avLst>
          </a:prstGeom>
          <a:solidFill>
            <a:srgbClr val="C6D6DC"/>
          </a:solidFill>
          <a:ln w="12700">
            <a:solidFill>
              <a:srgbClr val="333333"/>
            </a:solidFill>
            <a:prstDash val="solid"/>
          </a:ln>
        </p:spPr>
        <p:txBody>
          <a:bodyPr/>
          <a:lstStyle/>
          <a:p>
            <a:endParaRPr lang="en-US"/>
          </a:p>
        </p:txBody>
      </p:sp>
      <p:sp>
        <p:nvSpPr>
          <p:cNvPr id="5" name="Shape 3"/>
          <p:cNvSpPr/>
          <p:nvPr/>
        </p:nvSpPr>
        <p:spPr>
          <a:xfrm>
            <a:off x="10945368" y="5641848"/>
            <a:ext cx="274320" cy="274320"/>
          </a:xfrm>
          <a:prstGeom prst="roundRect">
            <a:avLst>
              <a:gd name="adj" fmla="val 6667"/>
            </a:avLst>
          </a:prstGeom>
          <a:solidFill>
            <a:srgbClr val="8CA3AD"/>
          </a:solidFill>
          <a:ln w="12700">
            <a:solidFill>
              <a:srgbClr val="333333"/>
            </a:solidFill>
            <a:prstDash val="solid"/>
          </a:ln>
        </p:spPr>
        <p:txBody>
          <a:bodyPr/>
          <a:lstStyle/>
          <a:p>
            <a:endParaRPr lang="en-US"/>
          </a:p>
        </p:txBody>
      </p:sp>
      <p:sp>
        <p:nvSpPr>
          <p:cNvPr id="6" name="Text 4"/>
          <p:cNvSpPr txBox="1"/>
          <p:nvPr/>
        </p:nvSpPr>
        <p:spPr>
          <a:xfrm>
            <a:off x="822960" y="2057400"/>
            <a:ext cx="1554480" cy="1005840"/>
          </a:xfrm>
          <a:prstGeom prst="rect">
            <a:avLst/>
          </a:prstGeom>
          <a:noFill/>
          <a:ln/>
        </p:spPr>
        <p:txBody>
          <a:bodyPr wrap="square" lIns="0" tIns="0" rIns="0" bIns="0" rtlCol="0" anchor="ctr"/>
          <a:lstStyle/>
          <a:p>
            <a:pPr marL="0" indent="0">
              <a:buNone/>
            </a:pPr>
            <a:r>
              <a:rPr lang="en-US" sz="6600" b="1" dirty="0">
                <a:solidFill>
                  <a:srgbClr val="D2603F"/>
                </a:solidFill>
                <a:latin typeface="Cambria" pitchFamily="34" charset="0"/>
                <a:ea typeface="Cambria" pitchFamily="34" charset="-122"/>
                <a:cs typeface="Cambria" pitchFamily="34" charset="-120"/>
              </a:rPr>
              <a:t>1</a:t>
            </a:r>
            <a:endParaRPr lang="en-US" sz="6600" dirty="0"/>
          </a:p>
        </p:txBody>
      </p:sp>
      <p:sp>
        <p:nvSpPr>
          <p:cNvPr id="7" name="Text 5"/>
          <p:cNvSpPr txBox="1"/>
          <p:nvPr/>
        </p:nvSpPr>
        <p:spPr>
          <a:xfrm>
            <a:off x="2377440" y="2212848"/>
            <a:ext cx="8686800" cy="822960"/>
          </a:xfrm>
          <a:prstGeom prst="rect">
            <a:avLst/>
          </a:prstGeom>
          <a:noFill/>
          <a:ln/>
        </p:spPr>
        <p:txBody>
          <a:bodyPr wrap="square" lIns="0" tIns="0" rIns="0" bIns="0" rtlCol="0" anchor="ctr"/>
          <a:lstStyle/>
          <a:p>
            <a:pPr marL="0" indent="0">
              <a:buNone/>
            </a:pPr>
            <a:r>
              <a:rPr lang="en-US" sz="3300" b="1" dirty="0">
                <a:solidFill>
                  <a:srgbClr val="FFFFFF"/>
                </a:solidFill>
                <a:latin typeface="Cambria" pitchFamily="34" charset="0"/>
                <a:ea typeface="Cambria" pitchFamily="34" charset="-122"/>
                <a:cs typeface="Cambria" pitchFamily="34" charset="-120"/>
              </a:rPr>
              <a:t>Motivation</a:t>
            </a:r>
            <a:endParaRPr lang="en-US" sz="3300" dirty="0"/>
          </a:p>
        </p:txBody>
      </p:sp>
      <p:sp>
        <p:nvSpPr>
          <p:cNvPr id="8" name="Text 6"/>
          <p:cNvSpPr txBox="1"/>
          <p:nvPr/>
        </p:nvSpPr>
        <p:spPr>
          <a:xfrm>
            <a:off x="2432304" y="3072384"/>
            <a:ext cx="8503920" cy="731520"/>
          </a:xfrm>
          <a:prstGeom prst="rect">
            <a:avLst/>
          </a:prstGeom>
          <a:noFill/>
          <a:ln/>
        </p:spPr>
        <p:txBody>
          <a:bodyPr wrap="square" lIns="0" tIns="0" rIns="0" bIns="0" rtlCol="0" anchor="ctr"/>
          <a:lstStyle/>
          <a:p>
            <a:pPr marL="0" indent="0">
              <a:buNone/>
            </a:pPr>
            <a:r>
              <a:rPr lang="en-US" sz="1500" dirty="0">
                <a:solidFill>
                  <a:srgbClr val="C6D6DC"/>
                </a:solidFill>
                <a:latin typeface="Calibri" pitchFamily="34" charset="0"/>
                <a:ea typeface="Calibri" pitchFamily="34" charset="-122"/>
                <a:cs typeface="Calibri" pitchFamily="34" charset="-120"/>
              </a:rPr>
              <a:t>Three models of affect, and what the field was missing</a:t>
            </a:r>
            <a:endParaRPr lang="en-US" sz="1500" dirty="0"/>
          </a:p>
        </p:txBody>
      </p:sp>
      <p:sp>
        <p:nvSpPr>
          <p:cNvPr id="9" name="Text 7"/>
          <p:cNvSpPr txBox="1"/>
          <p:nvPr/>
        </p:nvSpPr>
        <p:spPr>
          <a:xfrm>
            <a:off x="9326880" y="6382512"/>
            <a:ext cx="2313432" cy="274320"/>
          </a:xfrm>
          <a:prstGeom prst="rect">
            <a:avLst/>
          </a:prstGeom>
          <a:noFill/>
          <a:ln/>
        </p:spPr>
        <p:txBody>
          <a:bodyPr wrap="square" lIns="0" tIns="0" rIns="0" bIns="0" rtlCol="0" anchor="ctr"/>
          <a:lstStyle/>
          <a:p>
            <a:pPr marL="0" indent="0" algn="r">
              <a:buNone/>
            </a:pPr>
            <a:r>
              <a:rPr lang="en-US" sz="900" dirty="0">
                <a:solidFill>
                  <a:srgbClr val="9DACB4"/>
                </a:solidFill>
                <a:latin typeface="Calibri" pitchFamily="34" charset="0"/>
                <a:ea typeface="Calibri" pitchFamily="34" charset="-122"/>
                <a:cs typeface="Calibri" pitchFamily="34" charset="-120"/>
              </a:rPr>
              <a:t>AffectNet · Mollahosseini et al. 2019  |  4</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301984" y="457200"/>
            <a:ext cx="137160" cy="137160"/>
          </a:xfrm>
          <a:prstGeom prst="roundRect">
            <a:avLst>
              <a:gd name="adj" fmla="val 13333"/>
            </a:avLst>
          </a:prstGeom>
          <a:solidFill>
            <a:srgbClr val="2F6B7C"/>
          </a:solidFill>
          <a:ln w="12700">
            <a:solidFill>
              <a:srgbClr val="333333"/>
            </a:solidFill>
            <a:prstDash val="solid"/>
          </a:ln>
        </p:spPr>
        <p:txBody>
          <a:bodyPr/>
          <a:lstStyle/>
          <a:p>
            <a:endParaRPr lang="en-US"/>
          </a:p>
        </p:txBody>
      </p:sp>
      <p:sp>
        <p:nvSpPr>
          <p:cNvPr id="3" name="Shape 1"/>
          <p:cNvSpPr/>
          <p:nvPr/>
        </p:nvSpPr>
        <p:spPr>
          <a:xfrm>
            <a:off x="11471148" y="457200"/>
            <a:ext cx="137160" cy="137160"/>
          </a:xfrm>
          <a:prstGeom prst="roundRect">
            <a:avLst>
              <a:gd name="adj" fmla="val 13333"/>
            </a:avLst>
          </a:prstGeom>
          <a:solidFill>
            <a:srgbClr val="D2603F"/>
          </a:solidFill>
          <a:ln w="12700">
            <a:solidFill>
              <a:srgbClr val="333333"/>
            </a:solidFill>
            <a:prstDash val="solid"/>
          </a:ln>
        </p:spPr>
        <p:txBody>
          <a:bodyPr/>
          <a:lstStyle/>
          <a:p>
            <a:endParaRPr lang="en-US"/>
          </a:p>
        </p:txBody>
      </p:sp>
      <p:sp>
        <p:nvSpPr>
          <p:cNvPr id="4" name="Shape 2"/>
          <p:cNvSpPr/>
          <p:nvPr/>
        </p:nvSpPr>
        <p:spPr>
          <a:xfrm>
            <a:off x="11301984" y="626364"/>
            <a:ext cx="137160" cy="137160"/>
          </a:xfrm>
          <a:prstGeom prst="roundRect">
            <a:avLst>
              <a:gd name="adj" fmla="val 13333"/>
            </a:avLst>
          </a:prstGeom>
          <a:solidFill>
            <a:srgbClr val="8CA3AD"/>
          </a:solidFill>
          <a:ln w="12700">
            <a:solidFill>
              <a:srgbClr val="333333"/>
            </a:solidFill>
            <a:prstDash val="solid"/>
          </a:ln>
        </p:spPr>
        <p:txBody>
          <a:bodyPr/>
          <a:lstStyle/>
          <a:p>
            <a:endParaRPr lang="en-US"/>
          </a:p>
        </p:txBody>
      </p:sp>
      <p:sp>
        <p:nvSpPr>
          <p:cNvPr id="5" name="Shape 3"/>
          <p:cNvSpPr/>
          <p:nvPr/>
        </p:nvSpPr>
        <p:spPr>
          <a:xfrm>
            <a:off x="11471148" y="626364"/>
            <a:ext cx="137160" cy="137160"/>
          </a:xfrm>
          <a:prstGeom prst="roundRect">
            <a:avLst>
              <a:gd name="adj" fmla="val 13333"/>
            </a:avLst>
          </a:prstGeom>
          <a:solidFill>
            <a:srgbClr val="2F6B7C"/>
          </a:solidFill>
          <a:ln w="12700">
            <a:solidFill>
              <a:srgbClr val="333333"/>
            </a:solidFill>
            <a:prstDash val="solid"/>
          </a:ln>
        </p:spPr>
        <p:txBody>
          <a:bodyPr/>
          <a:lstStyle/>
          <a:p>
            <a:endParaRPr lang="en-US"/>
          </a:p>
        </p:txBody>
      </p:sp>
      <p:sp>
        <p:nvSpPr>
          <p:cNvPr id="6" name="Text 4"/>
          <p:cNvSpPr txBox="1"/>
          <p:nvPr/>
        </p:nvSpPr>
        <p:spPr>
          <a:xfrm>
            <a:off x="548640" y="384048"/>
            <a:ext cx="10424160" cy="566928"/>
          </a:xfrm>
          <a:prstGeom prst="rect">
            <a:avLst/>
          </a:prstGeom>
          <a:noFill/>
          <a:ln/>
        </p:spPr>
        <p:txBody>
          <a:bodyPr wrap="square" lIns="0" tIns="0" rIns="0" bIns="0" rtlCol="0" anchor="t"/>
          <a:lstStyle/>
          <a:p>
            <a:pPr marL="0" indent="0">
              <a:buNone/>
            </a:pPr>
            <a:r>
              <a:rPr lang="en-US" sz="2900" b="1" dirty="0">
                <a:solidFill>
                  <a:srgbClr val="1A242C"/>
                </a:solidFill>
                <a:latin typeface="Cambria" pitchFamily="34" charset="0"/>
                <a:ea typeface="Cambria" pitchFamily="34" charset="-122"/>
                <a:cs typeface="Cambria" pitchFamily="34" charset="-120"/>
              </a:rPr>
              <a:t>Three ways to describe a face</a:t>
            </a:r>
            <a:endParaRPr lang="en-US" sz="2900" dirty="0"/>
          </a:p>
        </p:txBody>
      </p:sp>
      <p:sp>
        <p:nvSpPr>
          <p:cNvPr id="7" name="Text 5"/>
          <p:cNvSpPr txBox="1"/>
          <p:nvPr/>
        </p:nvSpPr>
        <p:spPr>
          <a:xfrm>
            <a:off x="548640" y="969264"/>
            <a:ext cx="10424160" cy="329184"/>
          </a:xfrm>
          <a:prstGeom prst="rect">
            <a:avLst/>
          </a:prstGeom>
          <a:noFill/>
          <a:ln/>
        </p:spPr>
        <p:txBody>
          <a:bodyPr wrap="square" lIns="0" tIns="0" rIns="0" bIns="0" rtlCol="0" anchor="ctr"/>
          <a:lstStyle/>
          <a:p>
            <a:pPr marL="0" indent="0">
              <a:buNone/>
            </a:pPr>
            <a:r>
              <a:rPr lang="en-US" sz="1350" i="1" dirty="0">
                <a:solidFill>
                  <a:srgbClr val="5D6B75"/>
                </a:solidFill>
                <a:latin typeface="Calibri" pitchFamily="34" charset="0"/>
                <a:ea typeface="Calibri" pitchFamily="34" charset="-122"/>
                <a:cs typeface="Calibri" pitchFamily="34" charset="-120"/>
              </a:rPr>
              <a:t>The paper's framing, and the case for the dimensional model</a:t>
            </a:r>
            <a:endParaRPr lang="en-US" sz="1350" dirty="0"/>
          </a:p>
        </p:txBody>
      </p:sp>
      <p:sp>
        <p:nvSpPr>
          <p:cNvPr id="8" name="Text 6"/>
          <p:cNvSpPr txBox="1"/>
          <p:nvPr/>
        </p:nvSpPr>
        <p:spPr>
          <a:xfrm>
            <a:off x="9326880" y="6382512"/>
            <a:ext cx="2313432" cy="274320"/>
          </a:xfrm>
          <a:prstGeom prst="rect">
            <a:avLst/>
          </a:prstGeom>
          <a:noFill/>
          <a:ln/>
        </p:spPr>
        <p:txBody>
          <a:bodyPr wrap="square" lIns="0" tIns="0" rIns="0" bIns="0" rtlCol="0" anchor="ctr"/>
          <a:lstStyle/>
          <a:p>
            <a:pPr marL="0" indent="0" algn="r">
              <a:buNone/>
            </a:pPr>
            <a:r>
              <a:rPr lang="en-US" sz="900" dirty="0">
                <a:solidFill>
                  <a:srgbClr val="9DACB4"/>
                </a:solidFill>
                <a:latin typeface="Calibri" pitchFamily="34" charset="0"/>
                <a:ea typeface="Calibri" pitchFamily="34" charset="-122"/>
                <a:cs typeface="Calibri" pitchFamily="34" charset="-120"/>
              </a:rPr>
              <a:t>AffectNet · Mollahosseini et al. 2019  |  5</a:t>
            </a:r>
            <a:endParaRPr lang="en-US" sz="900" dirty="0"/>
          </a:p>
        </p:txBody>
      </p:sp>
      <p:sp>
        <p:nvSpPr>
          <p:cNvPr id="9" name="Shape 7"/>
          <p:cNvSpPr/>
          <p:nvPr/>
        </p:nvSpPr>
        <p:spPr>
          <a:xfrm>
            <a:off x="566928" y="1572768"/>
            <a:ext cx="3584448" cy="2926080"/>
          </a:xfrm>
          <a:prstGeom prst="roundRect">
            <a:avLst>
              <a:gd name="adj" fmla="val 1875"/>
            </a:avLst>
          </a:prstGeom>
          <a:solidFill>
            <a:srgbClr val="F1F5F6"/>
          </a:solidFill>
          <a:ln w="12700">
            <a:solidFill>
              <a:srgbClr val="DDE6E9"/>
            </a:solidFill>
            <a:prstDash val="solid"/>
          </a:ln>
        </p:spPr>
        <p:txBody>
          <a:bodyPr/>
          <a:lstStyle/>
          <a:p>
            <a:endParaRPr lang="en-US"/>
          </a:p>
        </p:txBody>
      </p:sp>
      <p:sp>
        <p:nvSpPr>
          <p:cNvPr id="10" name="Shape 8"/>
          <p:cNvSpPr/>
          <p:nvPr/>
        </p:nvSpPr>
        <p:spPr>
          <a:xfrm>
            <a:off x="786384" y="1865376"/>
            <a:ext cx="109728" cy="109728"/>
          </a:xfrm>
          <a:prstGeom prst="ellipse">
            <a:avLst/>
          </a:prstGeom>
          <a:solidFill>
            <a:srgbClr val="2F6B7C"/>
          </a:solidFill>
          <a:ln w="12700">
            <a:solidFill>
              <a:srgbClr val="333333"/>
            </a:solidFill>
            <a:prstDash val="solid"/>
          </a:ln>
        </p:spPr>
        <p:txBody>
          <a:bodyPr/>
          <a:lstStyle/>
          <a:p>
            <a:endParaRPr lang="en-US"/>
          </a:p>
        </p:txBody>
      </p:sp>
      <p:sp>
        <p:nvSpPr>
          <p:cNvPr id="11" name="Text 9"/>
          <p:cNvSpPr txBox="1"/>
          <p:nvPr/>
        </p:nvSpPr>
        <p:spPr>
          <a:xfrm>
            <a:off x="987552" y="1737360"/>
            <a:ext cx="2944368" cy="365760"/>
          </a:xfrm>
          <a:prstGeom prst="rect">
            <a:avLst/>
          </a:prstGeom>
          <a:noFill/>
          <a:ln/>
        </p:spPr>
        <p:txBody>
          <a:bodyPr wrap="square" lIns="0" tIns="0" rIns="0" bIns="0" rtlCol="0" anchor="ctr"/>
          <a:lstStyle/>
          <a:p>
            <a:pPr marL="0" indent="0">
              <a:buNone/>
            </a:pPr>
            <a:r>
              <a:rPr lang="en-US" sz="1700" b="1" dirty="0">
                <a:solidFill>
                  <a:srgbClr val="1A242C"/>
                </a:solidFill>
                <a:latin typeface="Cambria" pitchFamily="34" charset="0"/>
                <a:ea typeface="Cambria" pitchFamily="34" charset="-122"/>
                <a:cs typeface="Cambria" pitchFamily="34" charset="-120"/>
              </a:rPr>
              <a:t>Categorical</a:t>
            </a:r>
            <a:endParaRPr lang="en-US" sz="1700" dirty="0"/>
          </a:p>
        </p:txBody>
      </p:sp>
      <p:sp>
        <p:nvSpPr>
          <p:cNvPr id="12" name="Text 10"/>
          <p:cNvSpPr txBox="1"/>
          <p:nvPr/>
        </p:nvSpPr>
        <p:spPr>
          <a:xfrm>
            <a:off x="822960" y="2176272"/>
            <a:ext cx="3072384" cy="2139696"/>
          </a:xfrm>
          <a:prstGeom prst="rect">
            <a:avLst/>
          </a:prstGeom>
          <a:noFill/>
          <a:ln/>
        </p:spPr>
        <p:txBody>
          <a:bodyPr wrap="square" lIns="0" tIns="0" rIns="0" bIns="0" rtlCol="0" anchor="t"/>
          <a:lstStyle/>
          <a:p>
            <a:pPr marL="0" indent="0">
              <a:lnSpc>
                <a:spcPct val="108000"/>
              </a:lnSpc>
              <a:buNone/>
            </a:pPr>
            <a:r>
              <a:rPr lang="en-US" sz="1220" dirty="0">
                <a:solidFill>
                  <a:srgbClr val="2E3A42"/>
                </a:solidFill>
                <a:latin typeface="Calibri" pitchFamily="34" charset="0"/>
                <a:ea typeface="Calibri" pitchFamily="34" charset="-122"/>
                <a:cs typeface="Calibri" pitchFamily="34" charset="-120"/>
              </a:rPr>
              <a:t>Choose from a list — Ekman's six basic emotions plus neutral, or an extended set.</a:t>
            </a:r>
            <a:endParaRPr lang="en-US" sz="1220" dirty="0"/>
          </a:p>
          <a:p>
            <a:pPr marL="0" indent="0">
              <a:lnSpc>
                <a:spcPct val="108000"/>
              </a:lnSpc>
              <a:buNone/>
            </a:pPr>
            <a:endParaRPr lang="en-US" sz="1220" dirty="0"/>
          </a:p>
          <a:p>
            <a:pPr marL="0" indent="0">
              <a:lnSpc>
                <a:spcPct val="108000"/>
              </a:lnSpc>
              <a:buNone/>
            </a:pPr>
            <a:r>
              <a:rPr lang="en-US" sz="1220" dirty="0">
                <a:solidFill>
                  <a:srgbClr val="2E3A42"/>
                </a:solidFill>
                <a:latin typeface="Calibri" pitchFamily="34" charset="0"/>
                <a:ea typeface="Calibri" pitchFamily="34" charset="-122"/>
                <a:cs typeface="Calibri" pitchFamily="34" charset="-120"/>
              </a:rPr>
              <a:t>Simple and interpretable. But mixed emotions cannot be transcribed into a limited set of words, and the model carries no notion of intensity.</a:t>
            </a:r>
            <a:endParaRPr lang="en-US" sz="1220" dirty="0"/>
          </a:p>
        </p:txBody>
      </p:sp>
      <p:sp>
        <p:nvSpPr>
          <p:cNvPr id="13" name="Shape 11"/>
          <p:cNvSpPr/>
          <p:nvPr/>
        </p:nvSpPr>
        <p:spPr>
          <a:xfrm>
            <a:off x="4279392" y="1572768"/>
            <a:ext cx="3584448" cy="2926080"/>
          </a:xfrm>
          <a:prstGeom prst="roundRect">
            <a:avLst>
              <a:gd name="adj" fmla="val 1875"/>
            </a:avLst>
          </a:prstGeom>
          <a:solidFill>
            <a:srgbClr val="F1F5F6"/>
          </a:solidFill>
          <a:ln w="12700">
            <a:solidFill>
              <a:srgbClr val="DDE6E9"/>
            </a:solidFill>
            <a:prstDash val="solid"/>
          </a:ln>
        </p:spPr>
        <p:txBody>
          <a:bodyPr/>
          <a:lstStyle/>
          <a:p>
            <a:endParaRPr lang="en-US"/>
          </a:p>
        </p:txBody>
      </p:sp>
      <p:sp>
        <p:nvSpPr>
          <p:cNvPr id="14" name="Shape 12"/>
          <p:cNvSpPr/>
          <p:nvPr/>
        </p:nvSpPr>
        <p:spPr>
          <a:xfrm>
            <a:off x="4498848" y="1865376"/>
            <a:ext cx="109728" cy="109728"/>
          </a:xfrm>
          <a:prstGeom prst="ellipse">
            <a:avLst/>
          </a:prstGeom>
          <a:solidFill>
            <a:srgbClr val="D2603F"/>
          </a:solidFill>
          <a:ln w="12700">
            <a:solidFill>
              <a:srgbClr val="333333"/>
            </a:solidFill>
            <a:prstDash val="solid"/>
          </a:ln>
        </p:spPr>
        <p:txBody>
          <a:bodyPr/>
          <a:lstStyle/>
          <a:p>
            <a:endParaRPr lang="en-US"/>
          </a:p>
        </p:txBody>
      </p:sp>
      <p:sp>
        <p:nvSpPr>
          <p:cNvPr id="15" name="Text 13"/>
          <p:cNvSpPr txBox="1"/>
          <p:nvPr/>
        </p:nvSpPr>
        <p:spPr>
          <a:xfrm>
            <a:off x="4700016" y="1737360"/>
            <a:ext cx="2944368" cy="365760"/>
          </a:xfrm>
          <a:prstGeom prst="rect">
            <a:avLst/>
          </a:prstGeom>
          <a:noFill/>
          <a:ln/>
        </p:spPr>
        <p:txBody>
          <a:bodyPr wrap="square" lIns="0" tIns="0" rIns="0" bIns="0" rtlCol="0" anchor="ctr"/>
          <a:lstStyle/>
          <a:p>
            <a:pPr marL="0" indent="0">
              <a:buNone/>
            </a:pPr>
            <a:r>
              <a:rPr lang="en-US" sz="1700" b="1" dirty="0">
                <a:solidFill>
                  <a:srgbClr val="1A242C"/>
                </a:solidFill>
                <a:latin typeface="Cambria" pitchFamily="34" charset="0"/>
                <a:ea typeface="Cambria" pitchFamily="34" charset="-122"/>
                <a:cs typeface="Cambria" pitchFamily="34" charset="-120"/>
              </a:rPr>
              <a:t>Dimensional</a:t>
            </a:r>
            <a:endParaRPr lang="en-US" sz="1700" dirty="0"/>
          </a:p>
        </p:txBody>
      </p:sp>
      <p:sp>
        <p:nvSpPr>
          <p:cNvPr id="16" name="Text 14"/>
          <p:cNvSpPr txBox="1"/>
          <p:nvPr/>
        </p:nvSpPr>
        <p:spPr>
          <a:xfrm>
            <a:off x="4535424" y="2176272"/>
            <a:ext cx="3072384" cy="2139696"/>
          </a:xfrm>
          <a:prstGeom prst="rect">
            <a:avLst/>
          </a:prstGeom>
          <a:noFill/>
          <a:ln/>
        </p:spPr>
        <p:txBody>
          <a:bodyPr wrap="square" lIns="0" tIns="0" rIns="0" bIns="0" rtlCol="0" anchor="t"/>
          <a:lstStyle/>
          <a:p>
            <a:pPr marL="0" indent="0">
              <a:lnSpc>
                <a:spcPct val="108000"/>
              </a:lnSpc>
              <a:buNone/>
            </a:pPr>
            <a:r>
              <a:rPr lang="en-US" sz="1220" dirty="0">
                <a:solidFill>
                  <a:srgbClr val="2E3A42"/>
                </a:solidFill>
                <a:latin typeface="Calibri" pitchFamily="34" charset="0"/>
                <a:ea typeface="Calibri" pitchFamily="34" charset="-122"/>
                <a:cs typeface="Calibri" pitchFamily="34" charset="-120"/>
              </a:rPr>
              <a:t>Place the affect on continuous scales: valence for how positive or negative, arousal for how activating or calming.</a:t>
            </a:r>
            <a:endParaRPr lang="en-US" sz="1220" dirty="0"/>
          </a:p>
          <a:p>
            <a:pPr marL="0" indent="0">
              <a:lnSpc>
                <a:spcPct val="108000"/>
              </a:lnSpc>
              <a:buNone/>
            </a:pPr>
            <a:endParaRPr lang="en-US" sz="1220" dirty="0"/>
          </a:p>
          <a:p>
            <a:pPr marL="0" indent="0">
              <a:lnSpc>
                <a:spcPct val="108000"/>
              </a:lnSpc>
              <a:buNone/>
            </a:pPr>
            <a:r>
              <a:rPr lang="en-US" sz="1220" dirty="0">
                <a:solidFill>
                  <a:srgbClr val="2E3A42"/>
                </a:solidFill>
                <a:latin typeface="Calibri" pitchFamily="34" charset="0"/>
                <a:ea typeface="Calibri" pitchFamily="34" charset="-122"/>
                <a:cs typeface="Calibri" pitchFamily="34" charset="-120"/>
              </a:rPr>
              <a:t>Distinguishes subtly different displays and encodes intensity continuously. Expensive to annotate and needs trained annotators.</a:t>
            </a:r>
            <a:endParaRPr lang="en-US" sz="1220" dirty="0"/>
          </a:p>
        </p:txBody>
      </p:sp>
      <p:sp>
        <p:nvSpPr>
          <p:cNvPr id="17" name="Shape 15"/>
          <p:cNvSpPr/>
          <p:nvPr/>
        </p:nvSpPr>
        <p:spPr>
          <a:xfrm>
            <a:off x="7991856" y="1572768"/>
            <a:ext cx="3584448" cy="2926080"/>
          </a:xfrm>
          <a:prstGeom prst="roundRect">
            <a:avLst>
              <a:gd name="adj" fmla="val 1875"/>
            </a:avLst>
          </a:prstGeom>
          <a:solidFill>
            <a:srgbClr val="F1F5F6"/>
          </a:solidFill>
          <a:ln w="12700">
            <a:solidFill>
              <a:srgbClr val="DDE6E9"/>
            </a:solidFill>
            <a:prstDash val="solid"/>
          </a:ln>
        </p:spPr>
        <p:txBody>
          <a:bodyPr/>
          <a:lstStyle/>
          <a:p>
            <a:endParaRPr lang="en-US"/>
          </a:p>
        </p:txBody>
      </p:sp>
      <p:sp>
        <p:nvSpPr>
          <p:cNvPr id="18" name="Shape 16"/>
          <p:cNvSpPr/>
          <p:nvPr/>
        </p:nvSpPr>
        <p:spPr>
          <a:xfrm>
            <a:off x="8211312" y="1865376"/>
            <a:ext cx="109728" cy="109728"/>
          </a:xfrm>
          <a:prstGeom prst="ellipse">
            <a:avLst/>
          </a:prstGeom>
          <a:solidFill>
            <a:srgbClr val="2F6B7C"/>
          </a:solidFill>
          <a:ln w="12700">
            <a:solidFill>
              <a:srgbClr val="333333"/>
            </a:solidFill>
            <a:prstDash val="solid"/>
          </a:ln>
        </p:spPr>
        <p:txBody>
          <a:bodyPr/>
          <a:lstStyle/>
          <a:p>
            <a:endParaRPr lang="en-US"/>
          </a:p>
        </p:txBody>
      </p:sp>
      <p:sp>
        <p:nvSpPr>
          <p:cNvPr id="19" name="Text 17"/>
          <p:cNvSpPr txBox="1"/>
          <p:nvPr/>
        </p:nvSpPr>
        <p:spPr>
          <a:xfrm>
            <a:off x="8412480" y="1737360"/>
            <a:ext cx="2944368" cy="365760"/>
          </a:xfrm>
          <a:prstGeom prst="rect">
            <a:avLst/>
          </a:prstGeom>
          <a:noFill/>
          <a:ln/>
        </p:spPr>
        <p:txBody>
          <a:bodyPr wrap="square" lIns="0" tIns="0" rIns="0" bIns="0" rtlCol="0" anchor="ctr"/>
          <a:lstStyle/>
          <a:p>
            <a:pPr marL="0" indent="0">
              <a:buNone/>
            </a:pPr>
            <a:r>
              <a:rPr lang="en-US" sz="1700" b="1" dirty="0">
                <a:solidFill>
                  <a:srgbClr val="1A242C"/>
                </a:solidFill>
                <a:latin typeface="Cambria" pitchFamily="34" charset="0"/>
                <a:ea typeface="Cambria" pitchFamily="34" charset="-122"/>
                <a:cs typeface="Cambria" pitchFamily="34" charset="-120"/>
              </a:rPr>
              <a:t>Facial Action Coding</a:t>
            </a:r>
            <a:endParaRPr lang="en-US" sz="1700" dirty="0"/>
          </a:p>
        </p:txBody>
      </p:sp>
      <p:sp>
        <p:nvSpPr>
          <p:cNvPr id="20" name="Text 18"/>
          <p:cNvSpPr txBox="1"/>
          <p:nvPr/>
        </p:nvSpPr>
        <p:spPr>
          <a:xfrm>
            <a:off x="8247888" y="2176272"/>
            <a:ext cx="3072384" cy="2139696"/>
          </a:xfrm>
          <a:prstGeom prst="rect">
            <a:avLst/>
          </a:prstGeom>
          <a:noFill/>
          <a:ln/>
        </p:spPr>
        <p:txBody>
          <a:bodyPr wrap="square" lIns="0" tIns="0" rIns="0" bIns="0" rtlCol="0" anchor="t"/>
          <a:lstStyle/>
          <a:p>
            <a:pPr marL="0" indent="0">
              <a:lnSpc>
                <a:spcPct val="108000"/>
              </a:lnSpc>
              <a:buNone/>
            </a:pPr>
            <a:r>
              <a:rPr lang="en-US" sz="1220" dirty="0">
                <a:solidFill>
                  <a:srgbClr val="2E3A42"/>
                </a:solidFill>
                <a:latin typeface="Calibri" pitchFamily="34" charset="0"/>
                <a:ea typeface="Calibri" pitchFamily="34" charset="-122"/>
                <a:cs typeface="Calibri" pitchFamily="34" charset="-120"/>
              </a:rPr>
              <a:t>Describe the visible muscle movements as action units, without naming an emotion at all.</a:t>
            </a:r>
            <a:endParaRPr lang="en-US" sz="1220" dirty="0"/>
          </a:p>
          <a:p>
            <a:pPr marL="0" indent="0">
              <a:lnSpc>
                <a:spcPct val="108000"/>
              </a:lnSpc>
              <a:buNone/>
            </a:pPr>
            <a:endParaRPr lang="en-US" sz="1220" dirty="0"/>
          </a:p>
          <a:p>
            <a:pPr marL="0" indent="0">
              <a:lnSpc>
                <a:spcPct val="108000"/>
              </a:lnSpc>
              <a:buNone/>
            </a:pPr>
            <a:r>
              <a:rPr lang="en-US" sz="1220" dirty="0">
                <a:solidFill>
                  <a:srgbClr val="2E3A42"/>
                </a:solidFill>
                <a:latin typeface="Calibri" pitchFamily="34" charset="0"/>
                <a:ea typeface="Calibri" pitchFamily="34" charset="-122"/>
                <a:cs typeface="Calibri" pitchFamily="34" charset="-120"/>
              </a:rPr>
              <a:t>Objective and fine-grained. But it describes movement, not affective state — mapping action units to emotion takes a further step.</a:t>
            </a:r>
            <a:endParaRPr lang="en-US" sz="1220" dirty="0"/>
          </a:p>
        </p:txBody>
      </p:sp>
      <p:sp>
        <p:nvSpPr>
          <p:cNvPr id="21" name="Shape 19"/>
          <p:cNvSpPr/>
          <p:nvPr/>
        </p:nvSpPr>
        <p:spPr>
          <a:xfrm>
            <a:off x="566928" y="4718304"/>
            <a:ext cx="11064240" cy="1335024"/>
          </a:xfrm>
          <a:prstGeom prst="roundRect">
            <a:avLst>
              <a:gd name="adj" fmla="val 4110"/>
            </a:avLst>
          </a:prstGeom>
          <a:solidFill>
            <a:srgbClr val="24303A"/>
          </a:solidFill>
          <a:ln w="12700">
            <a:solidFill>
              <a:srgbClr val="24303A"/>
            </a:solidFill>
            <a:prstDash val="solid"/>
          </a:ln>
        </p:spPr>
        <p:txBody>
          <a:bodyPr/>
          <a:lstStyle/>
          <a:p>
            <a:endParaRPr lang="en-US"/>
          </a:p>
        </p:txBody>
      </p:sp>
      <p:sp>
        <p:nvSpPr>
          <p:cNvPr id="22" name="Shape 20"/>
          <p:cNvSpPr/>
          <p:nvPr/>
        </p:nvSpPr>
        <p:spPr>
          <a:xfrm>
            <a:off x="786384" y="5010912"/>
            <a:ext cx="109728" cy="109728"/>
          </a:xfrm>
          <a:prstGeom prst="ellipse">
            <a:avLst/>
          </a:prstGeom>
          <a:solidFill>
            <a:srgbClr val="D2603F"/>
          </a:solidFill>
          <a:ln w="12700">
            <a:solidFill>
              <a:srgbClr val="333333"/>
            </a:solidFill>
            <a:prstDash val="solid"/>
          </a:ln>
        </p:spPr>
        <p:txBody>
          <a:bodyPr/>
          <a:lstStyle/>
          <a:p>
            <a:endParaRPr lang="en-US"/>
          </a:p>
        </p:txBody>
      </p:sp>
      <p:sp>
        <p:nvSpPr>
          <p:cNvPr id="23" name="Text 21"/>
          <p:cNvSpPr txBox="1"/>
          <p:nvPr/>
        </p:nvSpPr>
        <p:spPr>
          <a:xfrm>
            <a:off x="987552" y="4882896"/>
            <a:ext cx="10424160" cy="365760"/>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Why the dimensional model needed a database</a:t>
            </a:r>
            <a:endParaRPr lang="en-US" sz="1500" dirty="0"/>
          </a:p>
        </p:txBody>
      </p:sp>
      <p:sp>
        <p:nvSpPr>
          <p:cNvPr id="24" name="Text 22"/>
          <p:cNvSpPr txBox="1"/>
          <p:nvPr/>
        </p:nvSpPr>
        <p:spPr>
          <a:xfrm>
            <a:off x="822960" y="5321808"/>
            <a:ext cx="10552176" cy="548640"/>
          </a:xfrm>
          <a:prstGeom prst="rect">
            <a:avLst/>
          </a:prstGeom>
          <a:noFill/>
          <a:ln/>
        </p:spPr>
        <p:txBody>
          <a:bodyPr wrap="square" lIns="0" tIns="0" rIns="0" bIns="0" rtlCol="0" anchor="t"/>
          <a:lstStyle/>
          <a:p>
            <a:pPr marL="0" indent="0">
              <a:lnSpc>
                <a:spcPct val="108000"/>
              </a:lnSpc>
              <a:buNone/>
            </a:pPr>
            <a:r>
              <a:rPr lang="en-US" sz="1300" dirty="0">
                <a:solidFill>
                  <a:srgbClr val="C6D6DC"/>
                </a:solidFill>
                <a:latin typeface="Calibri" pitchFamily="34" charset="0"/>
                <a:ea typeface="Calibri" pitchFamily="34" charset="-122"/>
                <a:cs typeface="Calibri" pitchFamily="34" charset="-120"/>
              </a:rPr>
              <a:t>Categorical data existed at scale — FER-2013 had nearly 36,000 web images. Action-unit data existed at scale, though mostly annotated automatically. Dimensional data existed only in small laboratory corpora of a few dozen subjects. AffectNet exists to close that specific gap, and it annotates both models on the same images so they can be studied together.</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301984" y="457200"/>
            <a:ext cx="137160" cy="137160"/>
          </a:xfrm>
          <a:prstGeom prst="roundRect">
            <a:avLst>
              <a:gd name="adj" fmla="val 13333"/>
            </a:avLst>
          </a:prstGeom>
          <a:solidFill>
            <a:srgbClr val="2F6B7C"/>
          </a:solidFill>
          <a:ln w="12700">
            <a:solidFill>
              <a:srgbClr val="333333"/>
            </a:solidFill>
            <a:prstDash val="solid"/>
          </a:ln>
        </p:spPr>
        <p:txBody>
          <a:bodyPr/>
          <a:lstStyle/>
          <a:p>
            <a:endParaRPr lang="en-US"/>
          </a:p>
        </p:txBody>
      </p:sp>
      <p:sp>
        <p:nvSpPr>
          <p:cNvPr id="3" name="Shape 1"/>
          <p:cNvSpPr/>
          <p:nvPr/>
        </p:nvSpPr>
        <p:spPr>
          <a:xfrm>
            <a:off x="11471148" y="457200"/>
            <a:ext cx="137160" cy="137160"/>
          </a:xfrm>
          <a:prstGeom prst="roundRect">
            <a:avLst>
              <a:gd name="adj" fmla="val 13333"/>
            </a:avLst>
          </a:prstGeom>
          <a:solidFill>
            <a:srgbClr val="D2603F"/>
          </a:solidFill>
          <a:ln w="12700">
            <a:solidFill>
              <a:srgbClr val="333333"/>
            </a:solidFill>
            <a:prstDash val="solid"/>
          </a:ln>
        </p:spPr>
        <p:txBody>
          <a:bodyPr/>
          <a:lstStyle/>
          <a:p>
            <a:endParaRPr lang="en-US"/>
          </a:p>
        </p:txBody>
      </p:sp>
      <p:sp>
        <p:nvSpPr>
          <p:cNvPr id="4" name="Shape 2"/>
          <p:cNvSpPr/>
          <p:nvPr/>
        </p:nvSpPr>
        <p:spPr>
          <a:xfrm>
            <a:off x="11301984" y="626364"/>
            <a:ext cx="137160" cy="137160"/>
          </a:xfrm>
          <a:prstGeom prst="roundRect">
            <a:avLst>
              <a:gd name="adj" fmla="val 13333"/>
            </a:avLst>
          </a:prstGeom>
          <a:solidFill>
            <a:srgbClr val="8CA3AD"/>
          </a:solidFill>
          <a:ln w="12700">
            <a:solidFill>
              <a:srgbClr val="333333"/>
            </a:solidFill>
            <a:prstDash val="solid"/>
          </a:ln>
        </p:spPr>
        <p:txBody>
          <a:bodyPr/>
          <a:lstStyle/>
          <a:p>
            <a:endParaRPr lang="en-US"/>
          </a:p>
        </p:txBody>
      </p:sp>
      <p:sp>
        <p:nvSpPr>
          <p:cNvPr id="5" name="Shape 3"/>
          <p:cNvSpPr/>
          <p:nvPr/>
        </p:nvSpPr>
        <p:spPr>
          <a:xfrm>
            <a:off x="11471148" y="626364"/>
            <a:ext cx="137160" cy="137160"/>
          </a:xfrm>
          <a:prstGeom prst="roundRect">
            <a:avLst>
              <a:gd name="adj" fmla="val 13333"/>
            </a:avLst>
          </a:prstGeom>
          <a:solidFill>
            <a:srgbClr val="2F6B7C"/>
          </a:solidFill>
          <a:ln w="12700">
            <a:solidFill>
              <a:srgbClr val="333333"/>
            </a:solidFill>
            <a:prstDash val="solid"/>
          </a:ln>
        </p:spPr>
        <p:txBody>
          <a:bodyPr/>
          <a:lstStyle/>
          <a:p>
            <a:endParaRPr lang="en-US"/>
          </a:p>
        </p:txBody>
      </p:sp>
      <p:sp>
        <p:nvSpPr>
          <p:cNvPr id="6" name="Text 4"/>
          <p:cNvSpPr txBox="1"/>
          <p:nvPr/>
        </p:nvSpPr>
        <p:spPr>
          <a:xfrm>
            <a:off x="548640" y="384048"/>
            <a:ext cx="10424160" cy="566928"/>
          </a:xfrm>
          <a:prstGeom prst="rect">
            <a:avLst/>
          </a:prstGeom>
          <a:noFill/>
          <a:ln/>
        </p:spPr>
        <p:txBody>
          <a:bodyPr wrap="square" lIns="0" tIns="0" rIns="0" bIns="0" rtlCol="0" anchor="t"/>
          <a:lstStyle/>
          <a:p>
            <a:pPr marL="0" indent="0">
              <a:buNone/>
            </a:pPr>
            <a:r>
              <a:rPr lang="en-US" sz="2900" b="1" dirty="0">
                <a:solidFill>
                  <a:srgbClr val="1A242C"/>
                </a:solidFill>
                <a:latin typeface="Cambria" pitchFamily="34" charset="0"/>
                <a:ea typeface="Cambria" pitchFamily="34" charset="-122"/>
                <a:cs typeface="Cambria" pitchFamily="34" charset="-120"/>
              </a:rPr>
              <a:t>The in-the-wild landscape before AffectNet</a:t>
            </a:r>
            <a:endParaRPr lang="en-US" sz="2900" dirty="0"/>
          </a:p>
        </p:txBody>
      </p:sp>
      <p:sp>
        <p:nvSpPr>
          <p:cNvPr id="7" name="Text 5"/>
          <p:cNvSpPr txBox="1"/>
          <p:nvPr/>
        </p:nvSpPr>
        <p:spPr>
          <a:xfrm>
            <a:off x="548640" y="969264"/>
            <a:ext cx="10424160" cy="329184"/>
          </a:xfrm>
          <a:prstGeom prst="rect">
            <a:avLst/>
          </a:prstGeom>
          <a:noFill/>
          <a:ln/>
        </p:spPr>
        <p:txBody>
          <a:bodyPr wrap="square" lIns="0" tIns="0" rIns="0" bIns="0" rtlCol="0" anchor="ctr"/>
          <a:lstStyle/>
          <a:p>
            <a:pPr marL="0" indent="0">
              <a:buNone/>
            </a:pPr>
            <a:r>
              <a:rPr lang="en-US" sz="1350" i="1" dirty="0">
                <a:solidFill>
                  <a:srgbClr val="5D6B75"/>
                </a:solidFill>
                <a:latin typeface="Calibri" pitchFamily="34" charset="0"/>
                <a:ea typeface="Calibri" pitchFamily="34" charset="-122"/>
                <a:cs typeface="Calibri" pitchFamily="34" charset="-120"/>
              </a:rPr>
              <a:t>Every database covered one model, or few subjects, or few samples of hard classes</a:t>
            </a:r>
            <a:endParaRPr lang="en-US" sz="1350" dirty="0"/>
          </a:p>
        </p:txBody>
      </p:sp>
      <p:sp>
        <p:nvSpPr>
          <p:cNvPr id="8" name="Text 6"/>
          <p:cNvSpPr txBox="1"/>
          <p:nvPr/>
        </p:nvSpPr>
        <p:spPr>
          <a:xfrm>
            <a:off x="9326880" y="6382512"/>
            <a:ext cx="2313432" cy="274320"/>
          </a:xfrm>
          <a:prstGeom prst="rect">
            <a:avLst/>
          </a:prstGeom>
          <a:noFill/>
          <a:ln/>
        </p:spPr>
        <p:txBody>
          <a:bodyPr wrap="square" lIns="0" tIns="0" rIns="0" bIns="0" rtlCol="0" anchor="ctr"/>
          <a:lstStyle/>
          <a:p>
            <a:pPr marL="0" indent="0" algn="r">
              <a:buNone/>
            </a:pPr>
            <a:r>
              <a:rPr lang="en-US" sz="900" dirty="0">
                <a:solidFill>
                  <a:srgbClr val="9DACB4"/>
                </a:solidFill>
                <a:latin typeface="Calibri" pitchFamily="34" charset="0"/>
                <a:ea typeface="Calibri" pitchFamily="34" charset="-122"/>
                <a:cs typeface="Calibri" pitchFamily="34" charset="-120"/>
              </a:rPr>
              <a:t>AffectNet · Mollahosseini et al. 2019  |  6</a:t>
            </a:r>
            <a:endParaRPr lang="en-US" sz="900" dirty="0"/>
          </a:p>
        </p:txBody>
      </p:sp>
      <p:sp>
        <p:nvSpPr>
          <p:cNvPr id="9" name="Shape 7"/>
          <p:cNvSpPr/>
          <p:nvPr/>
        </p:nvSpPr>
        <p:spPr>
          <a:xfrm>
            <a:off x="566928" y="1554480"/>
            <a:ext cx="11064240" cy="822960"/>
          </a:xfrm>
          <a:prstGeom prst="roundRect">
            <a:avLst>
              <a:gd name="adj" fmla="val 3333"/>
            </a:avLst>
          </a:prstGeom>
          <a:solidFill>
            <a:srgbClr val="F1F5F6"/>
          </a:solidFill>
          <a:ln w="12700">
            <a:solidFill>
              <a:srgbClr val="E5ECEE"/>
            </a:solidFill>
            <a:prstDash val="solid"/>
          </a:ln>
        </p:spPr>
        <p:txBody>
          <a:bodyPr/>
          <a:lstStyle/>
          <a:p>
            <a:endParaRPr lang="en-US"/>
          </a:p>
        </p:txBody>
      </p:sp>
      <p:sp>
        <p:nvSpPr>
          <p:cNvPr id="10" name="Shape 8"/>
          <p:cNvSpPr/>
          <p:nvPr/>
        </p:nvSpPr>
        <p:spPr>
          <a:xfrm>
            <a:off x="786384" y="1906524"/>
            <a:ext cx="118872" cy="118872"/>
          </a:xfrm>
          <a:prstGeom prst="ellipse">
            <a:avLst/>
          </a:prstGeom>
          <a:solidFill>
            <a:srgbClr val="2F6B7C"/>
          </a:solidFill>
          <a:ln w="12700">
            <a:solidFill>
              <a:srgbClr val="333333"/>
            </a:solidFill>
            <a:prstDash val="solid"/>
          </a:ln>
        </p:spPr>
        <p:txBody>
          <a:bodyPr/>
          <a:lstStyle/>
          <a:p>
            <a:endParaRPr lang="en-US"/>
          </a:p>
        </p:txBody>
      </p:sp>
      <p:sp>
        <p:nvSpPr>
          <p:cNvPr id="11" name="Text 9"/>
          <p:cNvSpPr txBox="1"/>
          <p:nvPr/>
        </p:nvSpPr>
        <p:spPr>
          <a:xfrm>
            <a:off x="1024128" y="1645920"/>
            <a:ext cx="2194560" cy="640080"/>
          </a:xfrm>
          <a:prstGeom prst="rect">
            <a:avLst/>
          </a:prstGeom>
          <a:noFill/>
          <a:ln/>
        </p:spPr>
        <p:txBody>
          <a:bodyPr wrap="square" lIns="0" tIns="0" rIns="0" bIns="0" rtlCol="0" anchor="ctr"/>
          <a:lstStyle/>
          <a:p>
            <a:pPr marL="0" indent="0">
              <a:buNone/>
            </a:pPr>
            <a:r>
              <a:rPr lang="en-US" sz="1300" b="1" dirty="0">
                <a:solidFill>
                  <a:srgbClr val="1A242C"/>
                </a:solidFill>
                <a:latin typeface="Cambria" pitchFamily="34" charset="0"/>
                <a:ea typeface="Cambria" pitchFamily="34" charset="-122"/>
                <a:cs typeface="Cambria" pitchFamily="34" charset="-120"/>
              </a:rPr>
              <a:t>AFEW / SFEW</a:t>
            </a:r>
            <a:endParaRPr lang="en-US" sz="1300" dirty="0"/>
          </a:p>
        </p:txBody>
      </p:sp>
      <p:sp>
        <p:nvSpPr>
          <p:cNvPr id="12" name="Text 10"/>
          <p:cNvSpPr txBox="1"/>
          <p:nvPr/>
        </p:nvSpPr>
        <p:spPr>
          <a:xfrm>
            <a:off x="3401568" y="1627632"/>
            <a:ext cx="8046720" cy="676656"/>
          </a:xfrm>
          <a:prstGeom prst="rect">
            <a:avLst/>
          </a:prstGeom>
          <a:noFill/>
          <a:ln/>
        </p:spPr>
        <p:txBody>
          <a:bodyPr wrap="square" lIns="0" tIns="0" rIns="0" bIns="0" rtlCol="0" anchor="ctr"/>
          <a:lstStyle/>
          <a:p>
            <a:pPr marL="0" indent="0">
              <a:buNone/>
            </a:pPr>
            <a:r>
              <a:rPr lang="en-US" sz="1200" dirty="0">
                <a:solidFill>
                  <a:srgbClr val="2E3A42"/>
                </a:solidFill>
                <a:latin typeface="Calibri" pitchFamily="34" charset="0"/>
                <a:ea typeface="Calibri" pitchFamily="34" charset="-122"/>
                <a:cs typeface="Calibri" pitchFamily="34" charset="-120"/>
              </a:rPr>
              <a:t>Video clips from 54 movies, 330 subjects, seven categories. The static subset has only 700 images and 95 subjects.</a:t>
            </a:r>
            <a:endParaRPr lang="en-US" sz="1200" dirty="0"/>
          </a:p>
        </p:txBody>
      </p:sp>
      <p:sp>
        <p:nvSpPr>
          <p:cNvPr id="13" name="Shape 11"/>
          <p:cNvSpPr/>
          <p:nvPr/>
        </p:nvSpPr>
        <p:spPr>
          <a:xfrm>
            <a:off x="566928" y="2432304"/>
            <a:ext cx="11064240" cy="822960"/>
          </a:xfrm>
          <a:prstGeom prst="roundRect">
            <a:avLst>
              <a:gd name="adj" fmla="val 3333"/>
            </a:avLst>
          </a:prstGeom>
          <a:solidFill>
            <a:srgbClr val="FFFFFF"/>
          </a:solidFill>
          <a:ln w="12700">
            <a:solidFill>
              <a:srgbClr val="E5ECEE"/>
            </a:solidFill>
            <a:prstDash val="solid"/>
          </a:ln>
        </p:spPr>
        <p:txBody>
          <a:bodyPr/>
          <a:lstStyle/>
          <a:p>
            <a:endParaRPr lang="en-US"/>
          </a:p>
        </p:txBody>
      </p:sp>
      <p:sp>
        <p:nvSpPr>
          <p:cNvPr id="14" name="Shape 12"/>
          <p:cNvSpPr/>
          <p:nvPr/>
        </p:nvSpPr>
        <p:spPr>
          <a:xfrm>
            <a:off x="786384" y="2784348"/>
            <a:ext cx="118872" cy="118872"/>
          </a:xfrm>
          <a:prstGeom prst="ellipse">
            <a:avLst/>
          </a:prstGeom>
          <a:solidFill>
            <a:srgbClr val="2F6B7C"/>
          </a:solidFill>
          <a:ln w="12700">
            <a:solidFill>
              <a:srgbClr val="333333"/>
            </a:solidFill>
            <a:prstDash val="solid"/>
          </a:ln>
        </p:spPr>
        <p:txBody>
          <a:bodyPr/>
          <a:lstStyle/>
          <a:p>
            <a:endParaRPr lang="en-US"/>
          </a:p>
        </p:txBody>
      </p:sp>
      <p:sp>
        <p:nvSpPr>
          <p:cNvPr id="15" name="Text 13"/>
          <p:cNvSpPr txBox="1"/>
          <p:nvPr/>
        </p:nvSpPr>
        <p:spPr>
          <a:xfrm>
            <a:off x="1024128" y="2523744"/>
            <a:ext cx="2194560" cy="640080"/>
          </a:xfrm>
          <a:prstGeom prst="rect">
            <a:avLst/>
          </a:prstGeom>
          <a:noFill/>
          <a:ln/>
        </p:spPr>
        <p:txBody>
          <a:bodyPr wrap="square" lIns="0" tIns="0" rIns="0" bIns="0" rtlCol="0" anchor="ctr"/>
          <a:lstStyle/>
          <a:p>
            <a:pPr marL="0" indent="0">
              <a:buNone/>
            </a:pPr>
            <a:r>
              <a:rPr lang="en-US" sz="1300" b="1" dirty="0">
                <a:solidFill>
                  <a:srgbClr val="1A242C"/>
                </a:solidFill>
                <a:latin typeface="Cambria" pitchFamily="34" charset="0"/>
                <a:ea typeface="Cambria" pitchFamily="34" charset="-122"/>
                <a:cs typeface="Cambria" pitchFamily="34" charset="-120"/>
              </a:rPr>
              <a:t>FER-2013</a:t>
            </a:r>
            <a:endParaRPr lang="en-US" sz="1300" dirty="0"/>
          </a:p>
        </p:txBody>
      </p:sp>
      <p:sp>
        <p:nvSpPr>
          <p:cNvPr id="16" name="Text 14"/>
          <p:cNvSpPr txBox="1"/>
          <p:nvPr/>
        </p:nvSpPr>
        <p:spPr>
          <a:xfrm>
            <a:off x="3401568" y="2505456"/>
            <a:ext cx="8046720" cy="676656"/>
          </a:xfrm>
          <a:prstGeom prst="rect">
            <a:avLst/>
          </a:prstGeom>
          <a:noFill/>
          <a:ln/>
        </p:spPr>
        <p:txBody>
          <a:bodyPr wrap="square" lIns="0" tIns="0" rIns="0" bIns="0" rtlCol="0" anchor="ctr"/>
          <a:lstStyle/>
          <a:p>
            <a:pPr marL="0" indent="0">
              <a:buNone/>
            </a:pPr>
            <a:r>
              <a:rPr lang="en-US" sz="1200" dirty="0">
                <a:solidFill>
                  <a:srgbClr val="2E3A42"/>
                </a:solidFill>
                <a:latin typeface="Calibri" pitchFamily="34" charset="0"/>
                <a:ea typeface="Calibri" pitchFamily="34" charset="-122"/>
                <a:cs typeface="Calibri" pitchFamily="34" charset="-120"/>
              </a:rPr>
              <a:t>Roughly 36,000 web images at 48×48 pixels in greyscale — too low-resolution for landmark detection, only 547 disgust images, categories only.</a:t>
            </a:r>
            <a:endParaRPr lang="en-US" sz="1200" dirty="0"/>
          </a:p>
        </p:txBody>
      </p:sp>
      <p:sp>
        <p:nvSpPr>
          <p:cNvPr id="17" name="Shape 15"/>
          <p:cNvSpPr/>
          <p:nvPr/>
        </p:nvSpPr>
        <p:spPr>
          <a:xfrm>
            <a:off x="566928" y="3310128"/>
            <a:ext cx="11064240" cy="822960"/>
          </a:xfrm>
          <a:prstGeom prst="roundRect">
            <a:avLst>
              <a:gd name="adj" fmla="val 3333"/>
            </a:avLst>
          </a:prstGeom>
          <a:solidFill>
            <a:srgbClr val="F1F5F6"/>
          </a:solidFill>
          <a:ln w="12700">
            <a:solidFill>
              <a:srgbClr val="E5ECEE"/>
            </a:solidFill>
            <a:prstDash val="solid"/>
          </a:ln>
        </p:spPr>
        <p:txBody>
          <a:bodyPr/>
          <a:lstStyle/>
          <a:p>
            <a:endParaRPr lang="en-US"/>
          </a:p>
        </p:txBody>
      </p:sp>
      <p:sp>
        <p:nvSpPr>
          <p:cNvPr id="18" name="Shape 16"/>
          <p:cNvSpPr/>
          <p:nvPr/>
        </p:nvSpPr>
        <p:spPr>
          <a:xfrm>
            <a:off x="786384" y="3662172"/>
            <a:ext cx="118872" cy="118872"/>
          </a:xfrm>
          <a:prstGeom prst="ellipse">
            <a:avLst/>
          </a:prstGeom>
          <a:solidFill>
            <a:srgbClr val="2F6B7C"/>
          </a:solidFill>
          <a:ln w="12700">
            <a:solidFill>
              <a:srgbClr val="333333"/>
            </a:solidFill>
            <a:prstDash val="solid"/>
          </a:ln>
        </p:spPr>
        <p:txBody>
          <a:bodyPr/>
          <a:lstStyle/>
          <a:p>
            <a:endParaRPr lang="en-US"/>
          </a:p>
        </p:txBody>
      </p:sp>
      <p:sp>
        <p:nvSpPr>
          <p:cNvPr id="19" name="Text 17"/>
          <p:cNvSpPr txBox="1"/>
          <p:nvPr/>
        </p:nvSpPr>
        <p:spPr>
          <a:xfrm>
            <a:off x="1024128" y="3401568"/>
            <a:ext cx="2194560" cy="640080"/>
          </a:xfrm>
          <a:prstGeom prst="rect">
            <a:avLst/>
          </a:prstGeom>
          <a:noFill/>
          <a:ln/>
        </p:spPr>
        <p:txBody>
          <a:bodyPr wrap="square" lIns="0" tIns="0" rIns="0" bIns="0" rtlCol="0" anchor="ctr"/>
          <a:lstStyle/>
          <a:p>
            <a:pPr marL="0" indent="0">
              <a:buNone/>
            </a:pPr>
            <a:r>
              <a:rPr lang="en-US" sz="1300" b="1" dirty="0">
                <a:solidFill>
                  <a:srgbClr val="1A242C"/>
                </a:solidFill>
                <a:latin typeface="Cambria" pitchFamily="34" charset="0"/>
                <a:ea typeface="Cambria" pitchFamily="34" charset="-122"/>
                <a:cs typeface="Cambria" pitchFamily="34" charset="-120"/>
              </a:rPr>
              <a:t>FER-Wild</a:t>
            </a:r>
            <a:endParaRPr lang="en-US" sz="1300" dirty="0"/>
          </a:p>
        </p:txBody>
      </p:sp>
      <p:sp>
        <p:nvSpPr>
          <p:cNvPr id="20" name="Text 18"/>
          <p:cNvSpPr txBox="1"/>
          <p:nvPr/>
        </p:nvSpPr>
        <p:spPr>
          <a:xfrm>
            <a:off x="3401568" y="3383280"/>
            <a:ext cx="8046720" cy="676656"/>
          </a:xfrm>
          <a:prstGeom prst="rect">
            <a:avLst/>
          </a:prstGeom>
          <a:noFill/>
          <a:ln/>
        </p:spPr>
        <p:txBody>
          <a:bodyPr wrap="square" lIns="0" tIns="0" rIns="0" bIns="0" rtlCol="0" anchor="ctr"/>
          <a:lstStyle/>
          <a:p>
            <a:pPr marL="0" indent="0">
              <a:buNone/>
            </a:pPr>
            <a:r>
              <a:rPr lang="en-US" sz="1200" dirty="0">
                <a:solidFill>
                  <a:srgbClr val="2E3A42"/>
                </a:solidFill>
                <a:latin typeface="Calibri" pitchFamily="34" charset="0"/>
                <a:ea typeface="Calibri" pitchFamily="34" charset="-122"/>
                <a:cs typeface="Calibri" pitchFamily="34" charset="-120"/>
              </a:rPr>
              <a:t>24,000 higher-resolution web images with landmarks, annotated by two labellers into seven categories. Still categorical only, still few disgust and fear samples.</a:t>
            </a:r>
            <a:endParaRPr lang="en-US" sz="1200" dirty="0"/>
          </a:p>
        </p:txBody>
      </p:sp>
      <p:sp>
        <p:nvSpPr>
          <p:cNvPr id="21" name="Shape 19"/>
          <p:cNvSpPr/>
          <p:nvPr/>
        </p:nvSpPr>
        <p:spPr>
          <a:xfrm>
            <a:off x="566928" y="4187952"/>
            <a:ext cx="11064240" cy="822960"/>
          </a:xfrm>
          <a:prstGeom prst="roundRect">
            <a:avLst>
              <a:gd name="adj" fmla="val 3333"/>
            </a:avLst>
          </a:prstGeom>
          <a:solidFill>
            <a:srgbClr val="FFFFFF"/>
          </a:solidFill>
          <a:ln w="12700">
            <a:solidFill>
              <a:srgbClr val="E5ECEE"/>
            </a:solidFill>
            <a:prstDash val="solid"/>
          </a:ln>
        </p:spPr>
        <p:txBody>
          <a:bodyPr/>
          <a:lstStyle/>
          <a:p>
            <a:endParaRPr lang="en-US"/>
          </a:p>
        </p:txBody>
      </p:sp>
      <p:sp>
        <p:nvSpPr>
          <p:cNvPr id="22" name="Shape 20"/>
          <p:cNvSpPr/>
          <p:nvPr/>
        </p:nvSpPr>
        <p:spPr>
          <a:xfrm>
            <a:off x="786384" y="4539996"/>
            <a:ext cx="118872" cy="118872"/>
          </a:xfrm>
          <a:prstGeom prst="ellipse">
            <a:avLst/>
          </a:prstGeom>
          <a:solidFill>
            <a:srgbClr val="2F6B7C"/>
          </a:solidFill>
          <a:ln w="12700">
            <a:solidFill>
              <a:srgbClr val="333333"/>
            </a:solidFill>
            <a:prstDash val="solid"/>
          </a:ln>
        </p:spPr>
        <p:txBody>
          <a:bodyPr/>
          <a:lstStyle/>
          <a:p>
            <a:endParaRPr lang="en-US"/>
          </a:p>
        </p:txBody>
      </p:sp>
      <p:sp>
        <p:nvSpPr>
          <p:cNvPr id="23" name="Text 21"/>
          <p:cNvSpPr txBox="1"/>
          <p:nvPr/>
        </p:nvSpPr>
        <p:spPr>
          <a:xfrm>
            <a:off x="1024128" y="4279392"/>
            <a:ext cx="2194560" cy="640080"/>
          </a:xfrm>
          <a:prstGeom prst="rect">
            <a:avLst/>
          </a:prstGeom>
          <a:noFill/>
          <a:ln/>
        </p:spPr>
        <p:txBody>
          <a:bodyPr wrap="square" lIns="0" tIns="0" rIns="0" bIns="0" rtlCol="0" anchor="ctr"/>
          <a:lstStyle/>
          <a:p>
            <a:pPr marL="0" indent="0">
              <a:buNone/>
            </a:pPr>
            <a:r>
              <a:rPr lang="en-US" sz="1300" b="1" dirty="0">
                <a:solidFill>
                  <a:srgbClr val="1A242C"/>
                </a:solidFill>
                <a:latin typeface="Cambria" pitchFamily="34" charset="0"/>
                <a:ea typeface="Cambria" pitchFamily="34" charset="-122"/>
                <a:cs typeface="Cambria" pitchFamily="34" charset="-120"/>
              </a:rPr>
              <a:t>EmotioNet</a:t>
            </a:r>
            <a:endParaRPr lang="en-US" sz="1300" dirty="0"/>
          </a:p>
        </p:txBody>
      </p:sp>
      <p:sp>
        <p:nvSpPr>
          <p:cNvPr id="24" name="Text 22"/>
          <p:cNvSpPr txBox="1"/>
          <p:nvPr/>
        </p:nvSpPr>
        <p:spPr>
          <a:xfrm>
            <a:off x="3401568" y="4261104"/>
            <a:ext cx="8046720" cy="676656"/>
          </a:xfrm>
          <a:prstGeom prst="rect">
            <a:avLst/>
          </a:prstGeom>
          <a:noFill/>
          <a:ln/>
        </p:spPr>
        <p:txBody>
          <a:bodyPr wrap="square" lIns="0" tIns="0" rIns="0" bIns="0" rtlCol="0" anchor="ctr"/>
          <a:lstStyle/>
          <a:p>
            <a:pPr marL="0" indent="0">
              <a:buNone/>
            </a:pPr>
            <a:r>
              <a:rPr lang="en-US" sz="1200" dirty="0">
                <a:solidFill>
                  <a:srgbClr val="2E3A42"/>
                </a:solidFill>
                <a:latin typeface="Calibri" pitchFamily="34" charset="0"/>
                <a:ea typeface="Calibri" pitchFamily="34" charset="-122"/>
                <a:cs typeface="Calibri" pitchFamily="34" charset="-120"/>
              </a:rPr>
              <a:t>A million web images with action units; 100,000 manually coded, the rest annotated automatically at roughly 80% accuracy. Emotion categories are derived from action units, not labelled.</a:t>
            </a:r>
            <a:endParaRPr lang="en-US" sz="1200" dirty="0"/>
          </a:p>
        </p:txBody>
      </p:sp>
      <p:sp>
        <p:nvSpPr>
          <p:cNvPr id="25" name="Shape 23"/>
          <p:cNvSpPr/>
          <p:nvPr/>
        </p:nvSpPr>
        <p:spPr>
          <a:xfrm>
            <a:off x="566928" y="5065776"/>
            <a:ext cx="11064240" cy="822960"/>
          </a:xfrm>
          <a:prstGeom prst="roundRect">
            <a:avLst>
              <a:gd name="adj" fmla="val 3333"/>
            </a:avLst>
          </a:prstGeom>
          <a:solidFill>
            <a:srgbClr val="F1F5F6"/>
          </a:solidFill>
          <a:ln w="12700">
            <a:solidFill>
              <a:srgbClr val="E5ECEE"/>
            </a:solidFill>
            <a:prstDash val="solid"/>
          </a:ln>
        </p:spPr>
        <p:txBody>
          <a:bodyPr/>
          <a:lstStyle/>
          <a:p>
            <a:endParaRPr lang="en-US"/>
          </a:p>
        </p:txBody>
      </p:sp>
      <p:sp>
        <p:nvSpPr>
          <p:cNvPr id="26" name="Shape 24"/>
          <p:cNvSpPr/>
          <p:nvPr/>
        </p:nvSpPr>
        <p:spPr>
          <a:xfrm>
            <a:off x="786384" y="5417820"/>
            <a:ext cx="118872" cy="118872"/>
          </a:xfrm>
          <a:prstGeom prst="ellipse">
            <a:avLst/>
          </a:prstGeom>
          <a:solidFill>
            <a:srgbClr val="2F6B7C"/>
          </a:solidFill>
          <a:ln w="12700">
            <a:solidFill>
              <a:srgbClr val="333333"/>
            </a:solidFill>
            <a:prstDash val="solid"/>
          </a:ln>
        </p:spPr>
        <p:txBody>
          <a:bodyPr/>
          <a:lstStyle/>
          <a:p>
            <a:endParaRPr lang="en-US"/>
          </a:p>
        </p:txBody>
      </p:sp>
      <p:sp>
        <p:nvSpPr>
          <p:cNvPr id="27" name="Text 25"/>
          <p:cNvSpPr txBox="1"/>
          <p:nvPr/>
        </p:nvSpPr>
        <p:spPr>
          <a:xfrm>
            <a:off x="1024128" y="5157216"/>
            <a:ext cx="2194560" cy="640080"/>
          </a:xfrm>
          <a:prstGeom prst="rect">
            <a:avLst/>
          </a:prstGeom>
          <a:noFill/>
          <a:ln/>
        </p:spPr>
        <p:txBody>
          <a:bodyPr wrap="square" lIns="0" tIns="0" rIns="0" bIns="0" rtlCol="0" anchor="ctr"/>
          <a:lstStyle/>
          <a:p>
            <a:pPr marL="0" indent="0">
              <a:buNone/>
            </a:pPr>
            <a:r>
              <a:rPr lang="en-US" sz="1300" b="1" dirty="0">
                <a:solidFill>
                  <a:srgbClr val="1A242C"/>
                </a:solidFill>
                <a:latin typeface="Cambria" pitchFamily="34" charset="0"/>
                <a:ea typeface="Cambria" pitchFamily="34" charset="-122"/>
                <a:cs typeface="Cambria" pitchFamily="34" charset="-120"/>
              </a:rPr>
              <a:t>Aff-Wild</a:t>
            </a:r>
            <a:endParaRPr lang="en-US" sz="1300" dirty="0"/>
          </a:p>
        </p:txBody>
      </p:sp>
      <p:sp>
        <p:nvSpPr>
          <p:cNvPr id="28" name="Text 26"/>
          <p:cNvSpPr txBox="1"/>
          <p:nvPr/>
        </p:nvSpPr>
        <p:spPr>
          <a:xfrm>
            <a:off x="3401568" y="5138928"/>
            <a:ext cx="8046720" cy="676656"/>
          </a:xfrm>
          <a:prstGeom prst="rect">
            <a:avLst/>
          </a:prstGeom>
          <a:noFill/>
          <a:ln/>
        </p:spPr>
        <p:txBody>
          <a:bodyPr wrap="square" lIns="0" tIns="0" rIns="0" bIns="0" rtlCol="0" anchor="ctr"/>
          <a:lstStyle/>
          <a:p>
            <a:pPr marL="0" indent="0">
              <a:buNone/>
            </a:pPr>
            <a:r>
              <a:rPr lang="en-US" sz="1200" dirty="0">
                <a:solidFill>
                  <a:srgbClr val="2E3A42"/>
                </a:solidFill>
                <a:latin typeface="Calibri" pitchFamily="34" charset="0"/>
                <a:ea typeface="Calibri" pitchFamily="34" charset="-122"/>
                <a:cs typeface="Calibri" pitchFamily="34" charset="-120"/>
              </a:rPr>
              <a:t>Over 500 YouTube videos annotated frame by frame for valence and arousal — the only dimensional in-the-wild database, but with only 500 subjects.</a:t>
            </a:r>
            <a:endParaRPr lang="en-US" sz="1200" dirty="0"/>
          </a:p>
        </p:txBody>
      </p:sp>
      <p:sp>
        <p:nvSpPr>
          <p:cNvPr id="29" name="Shape 27"/>
          <p:cNvSpPr/>
          <p:nvPr/>
        </p:nvSpPr>
        <p:spPr>
          <a:xfrm>
            <a:off x="560832" y="5858646"/>
            <a:ext cx="11064240" cy="512064"/>
          </a:xfrm>
          <a:prstGeom prst="roundRect">
            <a:avLst>
              <a:gd name="adj" fmla="val 10714"/>
            </a:avLst>
          </a:prstGeom>
          <a:solidFill>
            <a:srgbClr val="24303A"/>
          </a:solidFill>
          <a:ln w="12700">
            <a:solidFill>
              <a:srgbClr val="24303A"/>
            </a:solidFill>
            <a:prstDash val="solid"/>
          </a:ln>
        </p:spPr>
        <p:txBody>
          <a:bodyPr/>
          <a:lstStyle/>
          <a:p>
            <a:endParaRPr lang="en-US"/>
          </a:p>
        </p:txBody>
      </p:sp>
      <p:sp>
        <p:nvSpPr>
          <p:cNvPr id="30" name="Text 28"/>
          <p:cNvSpPr txBox="1"/>
          <p:nvPr/>
        </p:nvSpPr>
        <p:spPr>
          <a:xfrm>
            <a:off x="816864" y="6003993"/>
            <a:ext cx="10552176" cy="91440"/>
          </a:xfrm>
          <a:prstGeom prst="rect">
            <a:avLst/>
          </a:prstGeom>
          <a:noFill/>
          <a:ln/>
        </p:spPr>
        <p:txBody>
          <a:bodyPr wrap="square" lIns="0" tIns="0" rIns="0" bIns="0" rtlCol="0" anchor="t"/>
          <a:lstStyle/>
          <a:p>
            <a:pPr marL="0" indent="0">
              <a:lnSpc>
                <a:spcPct val="108000"/>
              </a:lnSpc>
              <a:buNone/>
            </a:pPr>
            <a:r>
              <a:rPr lang="en-US" sz="1300" dirty="0">
                <a:solidFill>
                  <a:srgbClr val="C6D6DC"/>
                </a:solidFill>
                <a:latin typeface="Calibri" pitchFamily="34" charset="0"/>
                <a:ea typeface="Calibri" pitchFamily="34" charset="-122"/>
                <a:cs typeface="Calibri" pitchFamily="34" charset="-120"/>
              </a:rPr>
              <a:t>The recurring gap: dimensional annotation at scale, on still images, with many distinct subjects.</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24303A"/>
        </a:solidFill>
        <a:effectLst/>
      </p:bgPr>
    </p:bg>
    <p:spTree>
      <p:nvGrpSpPr>
        <p:cNvPr id="1" name=""/>
        <p:cNvGrpSpPr/>
        <p:nvPr/>
      </p:nvGrpSpPr>
      <p:grpSpPr>
        <a:xfrm>
          <a:off x="0" y="0"/>
          <a:ext cx="0" cy="0"/>
          <a:chOff x="0" y="0"/>
          <a:chExt cx="0" cy="0"/>
        </a:xfrm>
      </p:grpSpPr>
      <p:sp>
        <p:nvSpPr>
          <p:cNvPr id="2" name="Shape 0"/>
          <p:cNvSpPr/>
          <p:nvPr/>
        </p:nvSpPr>
        <p:spPr>
          <a:xfrm>
            <a:off x="10607040" y="5303520"/>
            <a:ext cx="274320" cy="274320"/>
          </a:xfrm>
          <a:prstGeom prst="roundRect">
            <a:avLst>
              <a:gd name="adj" fmla="val 6667"/>
            </a:avLst>
          </a:prstGeom>
          <a:solidFill>
            <a:srgbClr val="C6D6DC"/>
          </a:solidFill>
          <a:ln w="12700">
            <a:solidFill>
              <a:srgbClr val="333333"/>
            </a:solidFill>
            <a:prstDash val="solid"/>
          </a:ln>
        </p:spPr>
        <p:txBody>
          <a:bodyPr/>
          <a:lstStyle/>
          <a:p>
            <a:endParaRPr lang="en-US"/>
          </a:p>
        </p:txBody>
      </p:sp>
      <p:sp>
        <p:nvSpPr>
          <p:cNvPr id="3" name="Shape 1"/>
          <p:cNvSpPr/>
          <p:nvPr/>
        </p:nvSpPr>
        <p:spPr>
          <a:xfrm>
            <a:off x="10945368" y="5303520"/>
            <a:ext cx="274320" cy="274320"/>
          </a:xfrm>
          <a:prstGeom prst="roundRect">
            <a:avLst>
              <a:gd name="adj" fmla="val 6667"/>
            </a:avLst>
          </a:prstGeom>
          <a:solidFill>
            <a:srgbClr val="D2603F"/>
          </a:solidFill>
          <a:ln w="12700">
            <a:solidFill>
              <a:srgbClr val="333333"/>
            </a:solidFill>
            <a:prstDash val="solid"/>
          </a:ln>
        </p:spPr>
        <p:txBody>
          <a:bodyPr/>
          <a:lstStyle/>
          <a:p>
            <a:endParaRPr lang="en-US"/>
          </a:p>
        </p:txBody>
      </p:sp>
      <p:sp>
        <p:nvSpPr>
          <p:cNvPr id="4" name="Shape 2"/>
          <p:cNvSpPr/>
          <p:nvPr/>
        </p:nvSpPr>
        <p:spPr>
          <a:xfrm>
            <a:off x="10607040" y="5641848"/>
            <a:ext cx="274320" cy="274320"/>
          </a:xfrm>
          <a:prstGeom prst="roundRect">
            <a:avLst>
              <a:gd name="adj" fmla="val 6667"/>
            </a:avLst>
          </a:prstGeom>
          <a:solidFill>
            <a:srgbClr val="C6D6DC"/>
          </a:solidFill>
          <a:ln w="12700">
            <a:solidFill>
              <a:srgbClr val="333333"/>
            </a:solidFill>
            <a:prstDash val="solid"/>
          </a:ln>
        </p:spPr>
        <p:txBody>
          <a:bodyPr/>
          <a:lstStyle/>
          <a:p>
            <a:endParaRPr lang="en-US"/>
          </a:p>
        </p:txBody>
      </p:sp>
      <p:sp>
        <p:nvSpPr>
          <p:cNvPr id="5" name="Shape 3"/>
          <p:cNvSpPr/>
          <p:nvPr/>
        </p:nvSpPr>
        <p:spPr>
          <a:xfrm>
            <a:off x="10945368" y="5641848"/>
            <a:ext cx="274320" cy="274320"/>
          </a:xfrm>
          <a:prstGeom prst="roundRect">
            <a:avLst>
              <a:gd name="adj" fmla="val 6667"/>
            </a:avLst>
          </a:prstGeom>
          <a:solidFill>
            <a:srgbClr val="8CA3AD"/>
          </a:solidFill>
          <a:ln w="12700">
            <a:solidFill>
              <a:srgbClr val="333333"/>
            </a:solidFill>
            <a:prstDash val="solid"/>
          </a:ln>
        </p:spPr>
        <p:txBody>
          <a:bodyPr/>
          <a:lstStyle/>
          <a:p>
            <a:endParaRPr lang="en-US"/>
          </a:p>
        </p:txBody>
      </p:sp>
      <p:sp>
        <p:nvSpPr>
          <p:cNvPr id="6" name="Text 4"/>
          <p:cNvSpPr txBox="1"/>
          <p:nvPr/>
        </p:nvSpPr>
        <p:spPr>
          <a:xfrm>
            <a:off x="822960" y="2057400"/>
            <a:ext cx="1554480" cy="1005840"/>
          </a:xfrm>
          <a:prstGeom prst="rect">
            <a:avLst/>
          </a:prstGeom>
          <a:noFill/>
          <a:ln/>
        </p:spPr>
        <p:txBody>
          <a:bodyPr wrap="square" lIns="0" tIns="0" rIns="0" bIns="0" rtlCol="0" anchor="ctr"/>
          <a:lstStyle/>
          <a:p>
            <a:pPr marL="0" indent="0">
              <a:buNone/>
            </a:pPr>
            <a:r>
              <a:rPr lang="en-US" sz="6600" b="1" dirty="0">
                <a:solidFill>
                  <a:srgbClr val="D2603F"/>
                </a:solidFill>
                <a:latin typeface="Cambria" pitchFamily="34" charset="0"/>
                <a:ea typeface="Cambria" pitchFamily="34" charset="-122"/>
                <a:cs typeface="Cambria" pitchFamily="34" charset="-120"/>
              </a:rPr>
              <a:t>2</a:t>
            </a:r>
            <a:endParaRPr lang="en-US" sz="6600" dirty="0"/>
          </a:p>
        </p:txBody>
      </p:sp>
      <p:sp>
        <p:nvSpPr>
          <p:cNvPr id="7" name="Text 5"/>
          <p:cNvSpPr txBox="1"/>
          <p:nvPr/>
        </p:nvSpPr>
        <p:spPr>
          <a:xfrm>
            <a:off x="2377440" y="2212848"/>
            <a:ext cx="8686800" cy="822960"/>
          </a:xfrm>
          <a:prstGeom prst="rect">
            <a:avLst/>
          </a:prstGeom>
          <a:noFill/>
          <a:ln/>
        </p:spPr>
        <p:txBody>
          <a:bodyPr wrap="square" lIns="0" tIns="0" rIns="0" bIns="0" rtlCol="0" anchor="ctr"/>
          <a:lstStyle/>
          <a:p>
            <a:pPr marL="0" indent="0">
              <a:buNone/>
            </a:pPr>
            <a:r>
              <a:rPr lang="en-US" sz="3300" b="1" dirty="0">
                <a:solidFill>
                  <a:srgbClr val="FFFFFF"/>
                </a:solidFill>
                <a:latin typeface="Cambria" pitchFamily="34" charset="0"/>
                <a:ea typeface="Cambria" pitchFamily="34" charset="-122"/>
                <a:cs typeface="Cambria" pitchFamily="34" charset="-120"/>
              </a:rPr>
              <a:t>Collection</a:t>
            </a:r>
            <a:endParaRPr lang="en-US" sz="3300" dirty="0"/>
          </a:p>
        </p:txBody>
      </p:sp>
      <p:sp>
        <p:nvSpPr>
          <p:cNvPr id="8" name="Text 6"/>
          <p:cNvSpPr txBox="1"/>
          <p:nvPr/>
        </p:nvSpPr>
        <p:spPr>
          <a:xfrm>
            <a:off x="2432304" y="3072384"/>
            <a:ext cx="8503920" cy="731520"/>
          </a:xfrm>
          <a:prstGeom prst="rect">
            <a:avLst/>
          </a:prstGeom>
          <a:noFill/>
          <a:ln/>
        </p:spPr>
        <p:txBody>
          <a:bodyPr wrap="square" lIns="0" tIns="0" rIns="0" bIns="0" rtlCol="0" anchor="ctr"/>
          <a:lstStyle/>
          <a:p>
            <a:pPr marL="0" indent="0">
              <a:buNone/>
            </a:pPr>
            <a:r>
              <a:rPr lang="en-US" sz="1500" dirty="0">
                <a:solidFill>
                  <a:srgbClr val="C6D6DC"/>
                </a:solidFill>
                <a:latin typeface="Calibri" pitchFamily="34" charset="0"/>
                <a:ea typeface="Calibri" pitchFamily="34" charset="-122"/>
                <a:cs typeface="Calibri" pitchFamily="34" charset="-120"/>
              </a:rPr>
              <a:t>Querying the Internet for faces</a:t>
            </a:r>
            <a:endParaRPr lang="en-US" sz="1500" dirty="0"/>
          </a:p>
        </p:txBody>
      </p:sp>
      <p:sp>
        <p:nvSpPr>
          <p:cNvPr id="9" name="Text 7"/>
          <p:cNvSpPr txBox="1"/>
          <p:nvPr/>
        </p:nvSpPr>
        <p:spPr>
          <a:xfrm>
            <a:off x="9326880" y="6382512"/>
            <a:ext cx="2313432" cy="274320"/>
          </a:xfrm>
          <a:prstGeom prst="rect">
            <a:avLst/>
          </a:prstGeom>
          <a:noFill/>
          <a:ln/>
        </p:spPr>
        <p:txBody>
          <a:bodyPr wrap="square" lIns="0" tIns="0" rIns="0" bIns="0" rtlCol="0" anchor="ctr"/>
          <a:lstStyle/>
          <a:p>
            <a:pPr marL="0" indent="0" algn="r">
              <a:buNone/>
            </a:pPr>
            <a:r>
              <a:rPr lang="en-US" sz="900" dirty="0">
                <a:solidFill>
                  <a:srgbClr val="9DACB4"/>
                </a:solidFill>
                <a:latin typeface="Calibri" pitchFamily="34" charset="0"/>
                <a:ea typeface="Calibri" pitchFamily="34" charset="-122"/>
                <a:cs typeface="Calibri" pitchFamily="34" charset="-120"/>
              </a:rPr>
              <a:t>AffectNet · Mollahosseini et al. 2019  |  7</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301984" y="457200"/>
            <a:ext cx="137160" cy="137160"/>
          </a:xfrm>
          <a:prstGeom prst="roundRect">
            <a:avLst>
              <a:gd name="adj" fmla="val 13333"/>
            </a:avLst>
          </a:prstGeom>
          <a:solidFill>
            <a:srgbClr val="2F6B7C"/>
          </a:solidFill>
          <a:ln w="12700">
            <a:solidFill>
              <a:srgbClr val="333333"/>
            </a:solidFill>
            <a:prstDash val="solid"/>
          </a:ln>
        </p:spPr>
        <p:txBody>
          <a:bodyPr/>
          <a:lstStyle/>
          <a:p>
            <a:endParaRPr lang="en-US"/>
          </a:p>
        </p:txBody>
      </p:sp>
      <p:sp>
        <p:nvSpPr>
          <p:cNvPr id="3" name="Shape 1"/>
          <p:cNvSpPr/>
          <p:nvPr/>
        </p:nvSpPr>
        <p:spPr>
          <a:xfrm>
            <a:off x="11471148" y="457200"/>
            <a:ext cx="137160" cy="137160"/>
          </a:xfrm>
          <a:prstGeom prst="roundRect">
            <a:avLst>
              <a:gd name="adj" fmla="val 13333"/>
            </a:avLst>
          </a:prstGeom>
          <a:solidFill>
            <a:srgbClr val="D2603F"/>
          </a:solidFill>
          <a:ln w="12700">
            <a:solidFill>
              <a:srgbClr val="333333"/>
            </a:solidFill>
            <a:prstDash val="solid"/>
          </a:ln>
        </p:spPr>
        <p:txBody>
          <a:bodyPr/>
          <a:lstStyle/>
          <a:p>
            <a:endParaRPr lang="en-US"/>
          </a:p>
        </p:txBody>
      </p:sp>
      <p:sp>
        <p:nvSpPr>
          <p:cNvPr id="4" name="Shape 2"/>
          <p:cNvSpPr/>
          <p:nvPr/>
        </p:nvSpPr>
        <p:spPr>
          <a:xfrm>
            <a:off x="11301984" y="626364"/>
            <a:ext cx="137160" cy="137160"/>
          </a:xfrm>
          <a:prstGeom prst="roundRect">
            <a:avLst>
              <a:gd name="adj" fmla="val 13333"/>
            </a:avLst>
          </a:prstGeom>
          <a:solidFill>
            <a:srgbClr val="8CA3AD"/>
          </a:solidFill>
          <a:ln w="12700">
            <a:solidFill>
              <a:srgbClr val="333333"/>
            </a:solidFill>
            <a:prstDash val="solid"/>
          </a:ln>
        </p:spPr>
        <p:txBody>
          <a:bodyPr/>
          <a:lstStyle/>
          <a:p>
            <a:endParaRPr lang="en-US"/>
          </a:p>
        </p:txBody>
      </p:sp>
      <p:sp>
        <p:nvSpPr>
          <p:cNvPr id="5" name="Shape 3"/>
          <p:cNvSpPr/>
          <p:nvPr/>
        </p:nvSpPr>
        <p:spPr>
          <a:xfrm>
            <a:off x="11471148" y="626364"/>
            <a:ext cx="137160" cy="137160"/>
          </a:xfrm>
          <a:prstGeom prst="roundRect">
            <a:avLst>
              <a:gd name="adj" fmla="val 13333"/>
            </a:avLst>
          </a:prstGeom>
          <a:solidFill>
            <a:srgbClr val="2F6B7C"/>
          </a:solidFill>
          <a:ln w="12700">
            <a:solidFill>
              <a:srgbClr val="333333"/>
            </a:solidFill>
            <a:prstDash val="solid"/>
          </a:ln>
        </p:spPr>
        <p:txBody>
          <a:bodyPr/>
          <a:lstStyle/>
          <a:p>
            <a:endParaRPr lang="en-US"/>
          </a:p>
        </p:txBody>
      </p:sp>
      <p:sp>
        <p:nvSpPr>
          <p:cNvPr id="6" name="Text 4"/>
          <p:cNvSpPr txBox="1"/>
          <p:nvPr/>
        </p:nvSpPr>
        <p:spPr>
          <a:xfrm>
            <a:off x="548640" y="384048"/>
            <a:ext cx="10424160" cy="566928"/>
          </a:xfrm>
          <a:prstGeom prst="rect">
            <a:avLst/>
          </a:prstGeom>
          <a:noFill/>
          <a:ln/>
        </p:spPr>
        <p:txBody>
          <a:bodyPr wrap="square" lIns="0" tIns="0" rIns="0" bIns="0" rtlCol="0" anchor="t"/>
          <a:lstStyle/>
          <a:p>
            <a:pPr marL="0" indent="0">
              <a:buNone/>
            </a:pPr>
            <a:r>
              <a:rPr lang="en-US" sz="2900" b="1" dirty="0">
                <a:solidFill>
                  <a:srgbClr val="1A242C"/>
                </a:solidFill>
                <a:latin typeface="Cambria" pitchFamily="34" charset="0"/>
                <a:ea typeface="Cambria" pitchFamily="34" charset="-122"/>
                <a:cs typeface="Cambria" pitchFamily="34" charset="-120"/>
              </a:rPr>
              <a:t>Query design</a:t>
            </a:r>
            <a:endParaRPr lang="en-US" sz="2900" dirty="0"/>
          </a:p>
        </p:txBody>
      </p:sp>
      <p:sp>
        <p:nvSpPr>
          <p:cNvPr id="7" name="Text 5"/>
          <p:cNvSpPr txBox="1"/>
          <p:nvPr/>
        </p:nvSpPr>
        <p:spPr>
          <a:xfrm>
            <a:off x="548640" y="969264"/>
            <a:ext cx="10424160" cy="329184"/>
          </a:xfrm>
          <a:prstGeom prst="rect">
            <a:avLst/>
          </a:prstGeom>
          <a:noFill/>
          <a:ln/>
        </p:spPr>
        <p:txBody>
          <a:bodyPr wrap="square" lIns="0" tIns="0" rIns="0" bIns="0" rtlCol="0" anchor="ctr"/>
          <a:lstStyle/>
          <a:p>
            <a:pPr marL="0" indent="0">
              <a:buNone/>
            </a:pPr>
            <a:r>
              <a:rPr lang="en-US" sz="1350" i="1" dirty="0">
                <a:solidFill>
                  <a:srgbClr val="5D6B75"/>
                </a:solidFill>
                <a:latin typeface="Calibri" pitchFamily="34" charset="0"/>
                <a:ea typeface="Calibri" pitchFamily="34" charset="-122"/>
                <a:cs typeface="Calibri" pitchFamily="34" charset="-120"/>
              </a:rPr>
              <a:t>The part of the method that determines what the dataset contains</a:t>
            </a:r>
            <a:endParaRPr lang="en-US" sz="1350" dirty="0"/>
          </a:p>
        </p:txBody>
      </p:sp>
      <p:sp>
        <p:nvSpPr>
          <p:cNvPr id="8" name="Text 6"/>
          <p:cNvSpPr txBox="1"/>
          <p:nvPr/>
        </p:nvSpPr>
        <p:spPr>
          <a:xfrm>
            <a:off x="9326880" y="6382512"/>
            <a:ext cx="2313432" cy="274320"/>
          </a:xfrm>
          <a:prstGeom prst="rect">
            <a:avLst/>
          </a:prstGeom>
          <a:noFill/>
          <a:ln/>
        </p:spPr>
        <p:txBody>
          <a:bodyPr wrap="square" lIns="0" tIns="0" rIns="0" bIns="0" rtlCol="0" anchor="ctr"/>
          <a:lstStyle/>
          <a:p>
            <a:pPr marL="0" indent="0" algn="r">
              <a:buNone/>
            </a:pPr>
            <a:r>
              <a:rPr lang="en-US" sz="900" dirty="0">
                <a:solidFill>
                  <a:srgbClr val="9DACB4"/>
                </a:solidFill>
                <a:latin typeface="Calibri" pitchFamily="34" charset="0"/>
                <a:ea typeface="Calibri" pitchFamily="34" charset="-122"/>
                <a:cs typeface="Calibri" pitchFamily="34" charset="-120"/>
              </a:rPr>
              <a:t>AffectNet · Mollahosseini et al. 2019  |  8</a:t>
            </a:r>
            <a:endParaRPr lang="en-US" sz="900" dirty="0"/>
          </a:p>
        </p:txBody>
      </p:sp>
      <p:sp>
        <p:nvSpPr>
          <p:cNvPr id="9" name="Shape 7"/>
          <p:cNvSpPr/>
          <p:nvPr/>
        </p:nvSpPr>
        <p:spPr>
          <a:xfrm>
            <a:off x="566928" y="1572768"/>
            <a:ext cx="5440680" cy="2377440"/>
          </a:xfrm>
          <a:prstGeom prst="roundRect">
            <a:avLst>
              <a:gd name="adj" fmla="val 2308"/>
            </a:avLst>
          </a:prstGeom>
          <a:solidFill>
            <a:srgbClr val="F1F5F6"/>
          </a:solidFill>
          <a:ln w="12700">
            <a:solidFill>
              <a:srgbClr val="DDE6E9"/>
            </a:solidFill>
            <a:prstDash val="solid"/>
          </a:ln>
        </p:spPr>
        <p:txBody>
          <a:bodyPr/>
          <a:lstStyle/>
          <a:p>
            <a:endParaRPr lang="en-US"/>
          </a:p>
        </p:txBody>
      </p:sp>
      <p:sp>
        <p:nvSpPr>
          <p:cNvPr id="10" name="Shape 8"/>
          <p:cNvSpPr/>
          <p:nvPr/>
        </p:nvSpPr>
        <p:spPr>
          <a:xfrm>
            <a:off x="786384" y="1865376"/>
            <a:ext cx="109728" cy="109728"/>
          </a:xfrm>
          <a:prstGeom prst="ellipse">
            <a:avLst/>
          </a:prstGeom>
          <a:solidFill>
            <a:srgbClr val="2F6B7C"/>
          </a:solidFill>
          <a:ln w="12700">
            <a:solidFill>
              <a:srgbClr val="333333"/>
            </a:solidFill>
            <a:prstDash val="solid"/>
          </a:ln>
        </p:spPr>
        <p:txBody>
          <a:bodyPr/>
          <a:lstStyle/>
          <a:p>
            <a:endParaRPr lang="en-US"/>
          </a:p>
        </p:txBody>
      </p:sp>
      <p:sp>
        <p:nvSpPr>
          <p:cNvPr id="11" name="Text 9"/>
          <p:cNvSpPr txBox="1"/>
          <p:nvPr/>
        </p:nvSpPr>
        <p:spPr>
          <a:xfrm>
            <a:off x="987552" y="1737360"/>
            <a:ext cx="4800600" cy="365760"/>
          </a:xfrm>
          <a:prstGeom prst="rect">
            <a:avLst/>
          </a:prstGeom>
          <a:noFill/>
          <a:ln/>
        </p:spPr>
        <p:txBody>
          <a:bodyPr wrap="square" lIns="0" tIns="0" rIns="0" bIns="0" rtlCol="0" anchor="ctr"/>
          <a:lstStyle/>
          <a:p>
            <a:pPr marL="0" indent="0">
              <a:buNone/>
            </a:pPr>
            <a:r>
              <a:rPr lang="en-US" sz="1500" b="1" dirty="0">
                <a:solidFill>
                  <a:srgbClr val="1A242C"/>
                </a:solidFill>
                <a:latin typeface="Cambria" pitchFamily="34" charset="0"/>
                <a:ea typeface="Cambria" pitchFamily="34" charset="-122"/>
                <a:cs typeface="Cambria" pitchFamily="34" charset="-120"/>
              </a:rPr>
              <a:t>Building the query set</a:t>
            </a:r>
            <a:endParaRPr lang="en-US" sz="1500" dirty="0"/>
          </a:p>
        </p:txBody>
      </p:sp>
      <p:sp>
        <p:nvSpPr>
          <p:cNvPr id="12" name="Text 10"/>
          <p:cNvSpPr txBox="1"/>
          <p:nvPr/>
        </p:nvSpPr>
        <p:spPr>
          <a:xfrm>
            <a:off x="822960" y="2176272"/>
            <a:ext cx="4928616" cy="1591056"/>
          </a:xfrm>
          <a:prstGeom prst="rect">
            <a:avLst/>
          </a:prstGeom>
          <a:noFill/>
          <a:ln/>
        </p:spPr>
        <p:txBody>
          <a:bodyPr wrap="square" lIns="0" tIns="0" rIns="0" bIns="0" rtlCol="0" anchor="t"/>
          <a:lstStyle/>
          <a:p>
            <a:pPr marL="0" indent="0">
              <a:lnSpc>
                <a:spcPct val="108000"/>
              </a:lnSpc>
              <a:buNone/>
            </a:pPr>
            <a:r>
              <a:rPr lang="en-US" sz="1260" dirty="0">
                <a:solidFill>
                  <a:srgbClr val="2E3A42"/>
                </a:solidFill>
                <a:latin typeface="Calibri" pitchFamily="34" charset="0"/>
                <a:ea typeface="Calibri" pitchFamily="34" charset="-122"/>
                <a:cs typeface="Calibri" pitchFamily="34" charset="-120"/>
              </a:rPr>
              <a:t>Emotion words were combined with terms for gender, age and ethnicity, producing about 362 English strings — 'joyful girl', 'blissful Spanish man', 'furious young lady', 'astonished senior'.</a:t>
            </a:r>
            <a:endParaRPr lang="en-US" sz="1260" dirty="0"/>
          </a:p>
          <a:p>
            <a:pPr marL="0" indent="0">
              <a:lnSpc>
                <a:spcPct val="108000"/>
              </a:lnSpc>
              <a:buNone/>
            </a:pPr>
            <a:endParaRPr lang="en-US" sz="1260" dirty="0"/>
          </a:p>
          <a:p>
            <a:pPr marL="0" indent="0">
              <a:lnSpc>
                <a:spcPct val="108000"/>
              </a:lnSpc>
              <a:buNone/>
            </a:pPr>
            <a:r>
              <a:rPr lang="en-US" sz="1260" dirty="0">
                <a:solidFill>
                  <a:srgbClr val="2E3A42"/>
                </a:solidFill>
                <a:latin typeface="Calibri" pitchFamily="34" charset="0"/>
                <a:ea typeface="Calibri" pitchFamily="34" charset="-122"/>
                <a:cs typeface="Calibri" pitchFamily="34" charset="-120"/>
              </a:rPr>
              <a:t>These were then translated into Spanish, Portuguese, German, Arabic and Farsi, giving 1,250 queries in total.</a:t>
            </a:r>
            <a:endParaRPr lang="en-US" sz="1260" dirty="0"/>
          </a:p>
        </p:txBody>
      </p:sp>
      <p:sp>
        <p:nvSpPr>
          <p:cNvPr id="13" name="Shape 11"/>
          <p:cNvSpPr/>
          <p:nvPr/>
        </p:nvSpPr>
        <p:spPr>
          <a:xfrm>
            <a:off x="6190488" y="1572768"/>
            <a:ext cx="5440680" cy="2377440"/>
          </a:xfrm>
          <a:prstGeom prst="roundRect">
            <a:avLst>
              <a:gd name="adj" fmla="val 2308"/>
            </a:avLst>
          </a:prstGeom>
          <a:solidFill>
            <a:srgbClr val="F1F5F6"/>
          </a:solidFill>
          <a:ln w="12700">
            <a:solidFill>
              <a:srgbClr val="DDE6E9"/>
            </a:solidFill>
            <a:prstDash val="solid"/>
          </a:ln>
        </p:spPr>
        <p:txBody>
          <a:bodyPr/>
          <a:lstStyle/>
          <a:p>
            <a:endParaRPr lang="en-US"/>
          </a:p>
        </p:txBody>
      </p:sp>
      <p:sp>
        <p:nvSpPr>
          <p:cNvPr id="14" name="Shape 12"/>
          <p:cNvSpPr/>
          <p:nvPr/>
        </p:nvSpPr>
        <p:spPr>
          <a:xfrm>
            <a:off x="6409944" y="1865376"/>
            <a:ext cx="109728" cy="109728"/>
          </a:xfrm>
          <a:prstGeom prst="ellipse">
            <a:avLst/>
          </a:prstGeom>
          <a:solidFill>
            <a:srgbClr val="D2603F"/>
          </a:solidFill>
          <a:ln w="12700">
            <a:solidFill>
              <a:srgbClr val="333333"/>
            </a:solidFill>
            <a:prstDash val="solid"/>
          </a:ln>
        </p:spPr>
        <p:txBody>
          <a:bodyPr/>
          <a:lstStyle/>
          <a:p>
            <a:endParaRPr lang="en-US"/>
          </a:p>
        </p:txBody>
      </p:sp>
      <p:sp>
        <p:nvSpPr>
          <p:cNvPr id="15" name="Text 13"/>
          <p:cNvSpPr txBox="1"/>
          <p:nvPr/>
        </p:nvSpPr>
        <p:spPr>
          <a:xfrm>
            <a:off x="6611112" y="1737360"/>
            <a:ext cx="4800600" cy="365760"/>
          </a:xfrm>
          <a:prstGeom prst="rect">
            <a:avLst/>
          </a:prstGeom>
          <a:noFill/>
          <a:ln/>
        </p:spPr>
        <p:txBody>
          <a:bodyPr wrap="square" lIns="0" tIns="0" rIns="0" bIns="0" rtlCol="0" anchor="ctr"/>
          <a:lstStyle/>
          <a:p>
            <a:pPr marL="0" indent="0">
              <a:buNone/>
            </a:pPr>
            <a:r>
              <a:rPr lang="en-US" sz="1500" b="1" dirty="0">
                <a:solidFill>
                  <a:srgbClr val="1A242C"/>
                </a:solidFill>
                <a:latin typeface="Cambria" pitchFamily="34" charset="0"/>
                <a:ea typeface="Cambria" pitchFamily="34" charset="-122"/>
                <a:cs typeface="Cambria" pitchFamily="34" charset="-120"/>
              </a:rPr>
              <a:t>Why translation was not enough</a:t>
            </a:r>
            <a:endParaRPr lang="en-US" sz="1500" dirty="0"/>
          </a:p>
        </p:txBody>
      </p:sp>
      <p:sp>
        <p:nvSpPr>
          <p:cNvPr id="16" name="Text 14"/>
          <p:cNvSpPr txBox="1"/>
          <p:nvPr/>
        </p:nvSpPr>
        <p:spPr>
          <a:xfrm>
            <a:off x="6446520" y="2176272"/>
            <a:ext cx="4928616" cy="1591056"/>
          </a:xfrm>
          <a:prstGeom prst="rect">
            <a:avLst/>
          </a:prstGeom>
          <a:noFill/>
          <a:ln/>
        </p:spPr>
        <p:txBody>
          <a:bodyPr wrap="square" lIns="0" tIns="0" rIns="0" bIns="0" rtlCol="0" anchor="t"/>
          <a:lstStyle/>
          <a:p>
            <a:pPr marL="0" indent="0">
              <a:lnSpc>
                <a:spcPct val="108000"/>
              </a:lnSpc>
              <a:buNone/>
            </a:pPr>
            <a:r>
              <a:rPr lang="en-US" sz="1260" dirty="0">
                <a:solidFill>
                  <a:srgbClr val="2E3A42"/>
                </a:solidFill>
                <a:latin typeface="Calibri" pitchFamily="34" charset="0"/>
                <a:ea typeface="Calibri" pitchFamily="34" charset="-122"/>
                <a:cs typeface="Calibri" pitchFamily="34" charset="-120"/>
              </a:rPr>
              <a:t>Direct translation did not reliably return the intended emotion, because each language and culture words emotion differently.</a:t>
            </a:r>
            <a:endParaRPr lang="en-US" sz="1260" dirty="0"/>
          </a:p>
          <a:p>
            <a:pPr marL="0" indent="0">
              <a:lnSpc>
                <a:spcPct val="108000"/>
              </a:lnSpc>
              <a:buNone/>
            </a:pPr>
            <a:endParaRPr lang="en-US" sz="1260" dirty="0"/>
          </a:p>
          <a:p>
            <a:pPr marL="0" indent="0">
              <a:lnSpc>
                <a:spcPct val="108000"/>
              </a:lnSpc>
              <a:buNone/>
            </a:pPr>
            <a:r>
              <a:rPr lang="en-US" sz="1260" dirty="0">
                <a:solidFill>
                  <a:srgbClr val="2E3A42"/>
                </a:solidFill>
                <a:latin typeface="Calibri" pitchFamily="34" charset="0"/>
                <a:ea typeface="Calibri" pitchFamily="34" charset="-122"/>
                <a:cs typeface="Calibri" pitchFamily="34" charset="-120"/>
              </a:rPr>
              <a:t>So native speakers proficient in English wrote their own query lists and inspected the results visually. The criterion for a good query: a high proportion of human faces showing the intended emotion, rather than drawings or objects.</a:t>
            </a:r>
            <a:endParaRPr lang="en-US" sz="1260" dirty="0"/>
          </a:p>
        </p:txBody>
      </p:sp>
      <p:sp>
        <p:nvSpPr>
          <p:cNvPr id="17" name="Text 15"/>
          <p:cNvSpPr txBox="1"/>
          <p:nvPr/>
        </p:nvSpPr>
        <p:spPr>
          <a:xfrm>
            <a:off x="566928" y="4151376"/>
            <a:ext cx="11064240" cy="1901952"/>
          </a:xfrm>
          <a:prstGeom prst="rect">
            <a:avLst/>
          </a:prstGeom>
          <a:noFill/>
          <a:ln/>
        </p:spPr>
        <p:txBody>
          <a:bodyPr wrap="square" lIns="0" tIns="0" rIns="0" bIns="0" rtlCol="0" anchor="t"/>
          <a:lstStyle/>
          <a:p>
            <a:pPr marL="342900" indent="-342900">
              <a:spcAft>
                <a:spcPts val="800"/>
              </a:spcAft>
              <a:buSzPct val="100000"/>
              <a:buChar char="●"/>
            </a:pPr>
            <a:r>
              <a:rPr lang="en-US" sz="1280" dirty="0">
                <a:solidFill>
                  <a:srgbClr val="2E3A42"/>
                </a:solidFill>
                <a:latin typeface="Calibri" pitchFamily="34" charset="0"/>
                <a:ea typeface="Calibri" pitchFamily="34" charset="-122"/>
                <a:cs typeface="Calibri" pitchFamily="34" charset="-120"/>
              </a:rPr>
              <a:t>Negative terms were appended to suppress non-human results — 'drawing', 'cartoon', 'animation', 'birthday'.</a:t>
            </a:r>
            <a:endParaRPr lang="en-US" sz="1280" dirty="0"/>
          </a:p>
          <a:p>
            <a:pPr marL="342900" indent="-342900">
              <a:spcAft>
                <a:spcPts val="800"/>
              </a:spcAft>
              <a:buSzPct val="100000"/>
              <a:buChar char="●"/>
            </a:pPr>
            <a:r>
              <a:rPr lang="en-US" sz="1280" dirty="0">
                <a:solidFill>
                  <a:srgbClr val="2E3A42"/>
                </a:solidFill>
                <a:latin typeface="Calibri" pitchFamily="34" charset="0"/>
                <a:ea typeface="Calibri" pitchFamily="34" charset="-122"/>
                <a:cs typeface="Calibri" pitchFamily="34" charset="-120"/>
              </a:rPr>
              <a:t>Stock photo sites were filtered out entirely, because their images are unnaturally posed and usually watermarked.</a:t>
            </a:r>
            <a:endParaRPr lang="en-US" sz="1280" dirty="0"/>
          </a:p>
          <a:p>
            <a:pPr marL="342900" indent="-342900">
              <a:spcAft>
                <a:spcPts val="800"/>
              </a:spcAft>
              <a:buSzPct val="100000"/>
              <a:buChar char="●"/>
            </a:pPr>
            <a:r>
              <a:rPr lang="en-US" sz="1280" dirty="0">
                <a:solidFill>
                  <a:srgbClr val="2E3A42"/>
                </a:solidFill>
                <a:latin typeface="Calibri" pitchFamily="34" charset="0"/>
                <a:ea typeface="Calibri" pitchFamily="34" charset="-122"/>
                <a:cs typeface="Calibri" pitchFamily="34" charset="-120"/>
              </a:rPr>
              <a:t>No separate neutral query was run: enough neutral faces already came back from the emotion queries.</a:t>
            </a:r>
            <a:endParaRPr lang="en-US" sz="1280" dirty="0"/>
          </a:p>
          <a:p>
            <a:pPr marL="342900" indent="-342900">
              <a:spcAft>
                <a:spcPts val="800"/>
              </a:spcAft>
              <a:buSzPct val="100000"/>
              <a:buChar char="●"/>
            </a:pPr>
            <a:r>
              <a:rPr lang="en-US" sz="1280" dirty="0">
                <a:solidFill>
                  <a:srgbClr val="2E3A42"/>
                </a:solidFill>
                <a:latin typeface="Calibri" pitchFamily="34" charset="0"/>
                <a:ea typeface="Calibri" pitchFamily="34" charset="-122"/>
                <a:cs typeface="Calibri" pitchFamily="34" charset="-120"/>
              </a:rPr>
              <a:t>Google, Bing and Yahoo were used. Baidu and Yandex were considered but either returned few suitable faces or lacked an API for bulk querying.</a:t>
            </a:r>
            <a:endParaRPr lang="en-US" sz="128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301984" y="457200"/>
            <a:ext cx="137160" cy="137160"/>
          </a:xfrm>
          <a:prstGeom prst="roundRect">
            <a:avLst>
              <a:gd name="adj" fmla="val 13333"/>
            </a:avLst>
          </a:prstGeom>
          <a:solidFill>
            <a:srgbClr val="2F6B7C"/>
          </a:solidFill>
          <a:ln w="12700">
            <a:solidFill>
              <a:srgbClr val="333333"/>
            </a:solidFill>
            <a:prstDash val="solid"/>
          </a:ln>
        </p:spPr>
        <p:txBody>
          <a:bodyPr/>
          <a:lstStyle/>
          <a:p>
            <a:endParaRPr lang="en-US"/>
          </a:p>
        </p:txBody>
      </p:sp>
      <p:sp>
        <p:nvSpPr>
          <p:cNvPr id="3" name="Shape 1"/>
          <p:cNvSpPr/>
          <p:nvPr/>
        </p:nvSpPr>
        <p:spPr>
          <a:xfrm>
            <a:off x="11471148" y="457200"/>
            <a:ext cx="137160" cy="137160"/>
          </a:xfrm>
          <a:prstGeom prst="roundRect">
            <a:avLst>
              <a:gd name="adj" fmla="val 13333"/>
            </a:avLst>
          </a:prstGeom>
          <a:solidFill>
            <a:srgbClr val="D2603F"/>
          </a:solidFill>
          <a:ln w="12700">
            <a:solidFill>
              <a:srgbClr val="333333"/>
            </a:solidFill>
            <a:prstDash val="solid"/>
          </a:ln>
        </p:spPr>
        <p:txBody>
          <a:bodyPr/>
          <a:lstStyle/>
          <a:p>
            <a:endParaRPr lang="en-US"/>
          </a:p>
        </p:txBody>
      </p:sp>
      <p:sp>
        <p:nvSpPr>
          <p:cNvPr id="4" name="Shape 2"/>
          <p:cNvSpPr/>
          <p:nvPr/>
        </p:nvSpPr>
        <p:spPr>
          <a:xfrm>
            <a:off x="11301984" y="626364"/>
            <a:ext cx="137160" cy="137160"/>
          </a:xfrm>
          <a:prstGeom prst="roundRect">
            <a:avLst>
              <a:gd name="adj" fmla="val 13333"/>
            </a:avLst>
          </a:prstGeom>
          <a:solidFill>
            <a:srgbClr val="8CA3AD"/>
          </a:solidFill>
          <a:ln w="12700">
            <a:solidFill>
              <a:srgbClr val="333333"/>
            </a:solidFill>
            <a:prstDash val="solid"/>
          </a:ln>
        </p:spPr>
        <p:txBody>
          <a:bodyPr/>
          <a:lstStyle/>
          <a:p>
            <a:endParaRPr lang="en-US"/>
          </a:p>
        </p:txBody>
      </p:sp>
      <p:sp>
        <p:nvSpPr>
          <p:cNvPr id="5" name="Shape 3"/>
          <p:cNvSpPr/>
          <p:nvPr/>
        </p:nvSpPr>
        <p:spPr>
          <a:xfrm>
            <a:off x="11471148" y="626364"/>
            <a:ext cx="137160" cy="137160"/>
          </a:xfrm>
          <a:prstGeom prst="roundRect">
            <a:avLst>
              <a:gd name="adj" fmla="val 13333"/>
            </a:avLst>
          </a:prstGeom>
          <a:solidFill>
            <a:srgbClr val="2F6B7C"/>
          </a:solidFill>
          <a:ln w="12700">
            <a:solidFill>
              <a:srgbClr val="333333"/>
            </a:solidFill>
            <a:prstDash val="solid"/>
          </a:ln>
        </p:spPr>
        <p:txBody>
          <a:bodyPr/>
          <a:lstStyle/>
          <a:p>
            <a:endParaRPr lang="en-US"/>
          </a:p>
        </p:txBody>
      </p:sp>
      <p:sp>
        <p:nvSpPr>
          <p:cNvPr id="6" name="Text 4"/>
          <p:cNvSpPr txBox="1"/>
          <p:nvPr/>
        </p:nvSpPr>
        <p:spPr>
          <a:xfrm>
            <a:off x="548640" y="384048"/>
            <a:ext cx="10424160" cy="566928"/>
          </a:xfrm>
          <a:prstGeom prst="rect">
            <a:avLst/>
          </a:prstGeom>
          <a:noFill/>
          <a:ln/>
        </p:spPr>
        <p:txBody>
          <a:bodyPr wrap="square" lIns="0" tIns="0" rIns="0" bIns="0" rtlCol="0" anchor="t"/>
          <a:lstStyle/>
          <a:p>
            <a:pPr marL="0" indent="0">
              <a:buNone/>
            </a:pPr>
            <a:r>
              <a:rPr lang="en-US" sz="2900" b="1" dirty="0">
                <a:solidFill>
                  <a:srgbClr val="1A242C"/>
                </a:solidFill>
                <a:latin typeface="Cambria" pitchFamily="34" charset="0"/>
                <a:ea typeface="Cambria" pitchFamily="34" charset="-122"/>
                <a:cs typeface="Cambria" pitchFamily="34" charset="-120"/>
              </a:rPr>
              <a:t>From URLs to faces</a:t>
            </a:r>
            <a:endParaRPr lang="en-US" sz="2900" dirty="0"/>
          </a:p>
        </p:txBody>
      </p:sp>
      <p:sp>
        <p:nvSpPr>
          <p:cNvPr id="7" name="Text 5"/>
          <p:cNvSpPr txBox="1"/>
          <p:nvPr/>
        </p:nvSpPr>
        <p:spPr>
          <a:xfrm>
            <a:off x="548640" y="969264"/>
            <a:ext cx="10424160" cy="329184"/>
          </a:xfrm>
          <a:prstGeom prst="rect">
            <a:avLst/>
          </a:prstGeom>
          <a:noFill/>
          <a:ln/>
        </p:spPr>
        <p:txBody>
          <a:bodyPr wrap="square" lIns="0" tIns="0" rIns="0" bIns="0" rtlCol="0" anchor="ctr"/>
          <a:lstStyle/>
          <a:p>
            <a:pPr marL="0" indent="0">
              <a:buNone/>
            </a:pPr>
            <a:r>
              <a:rPr lang="en-US" sz="1350" i="1" dirty="0">
                <a:solidFill>
                  <a:srgbClr val="5D6B75"/>
                </a:solidFill>
                <a:latin typeface="Calibri" pitchFamily="34" charset="0"/>
                <a:ea typeface="Calibri" pitchFamily="34" charset="-122"/>
                <a:cs typeface="Calibri" pitchFamily="34" charset="-120"/>
              </a:rPr>
              <a:t>The processing pipeline, and what it says about the images</a:t>
            </a:r>
            <a:endParaRPr lang="en-US" sz="1350" dirty="0"/>
          </a:p>
        </p:txBody>
      </p:sp>
      <p:sp>
        <p:nvSpPr>
          <p:cNvPr id="8" name="Text 6"/>
          <p:cNvSpPr txBox="1"/>
          <p:nvPr/>
        </p:nvSpPr>
        <p:spPr>
          <a:xfrm>
            <a:off x="9326880" y="6382512"/>
            <a:ext cx="2313432" cy="274320"/>
          </a:xfrm>
          <a:prstGeom prst="rect">
            <a:avLst/>
          </a:prstGeom>
          <a:noFill/>
          <a:ln/>
        </p:spPr>
        <p:txBody>
          <a:bodyPr wrap="square" lIns="0" tIns="0" rIns="0" bIns="0" rtlCol="0" anchor="ctr"/>
          <a:lstStyle/>
          <a:p>
            <a:pPr marL="0" indent="0" algn="r">
              <a:buNone/>
            </a:pPr>
            <a:r>
              <a:rPr lang="en-US" sz="900" dirty="0">
                <a:solidFill>
                  <a:srgbClr val="9DACB4"/>
                </a:solidFill>
                <a:latin typeface="Calibri" pitchFamily="34" charset="0"/>
                <a:ea typeface="Calibri" pitchFamily="34" charset="-122"/>
                <a:cs typeface="Calibri" pitchFamily="34" charset="-120"/>
              </a:rPr>
              <a:t>AffectNet · Mollahosseini et al. 2019  |  9</a:t>
            </a:r>
            <a:endParaRPr lang="en-US" sz="900" dirty="0"/>
          </a:p>
        </p:txBody>
      </p:sp>
      <p:sp>
        <p:nvSpPr>
          <p:cNvPr id="9" name="Text 7"/>
          <p:cNvSpPr txBox="1"/>
          <p:nvPr/>
        </p:nvSpPr>
        <p:spPr>
          <a:xfrm>
            <a:off x="566928" y="1572768"/>
            <a:ext cx="3584448" cy="694944"/>
          </a:xfrm>
          <a:prstGeom prst="rect">
            <a:avLst/>
          </a:prstGeom>
          <a:noFill/>
          <a:ln/>
        </p:spPr>
        <p:txBody>
          <a:bodyPr wrap="square" lIns="0" tIns="0" rIns="0" bIns="0" rtlCol="0" anchor="ctr"/>
          <a:lstStyle/>
          <a:p>
            <a:pPr marL="0" indent="0" algn="ctr">
              <a:buNone/>
            </a:pPr>
            <a:r>
              <a:rPr lang="en-US" sz="3600" b="1" dirty="0">
                <a:solidFill>
                  <a:srgbClr val="2F6B7C"/>
                </a:solidFill>
                <a:latin typeface="Cambria" pitchFamily="34" charset="0"/>
                <a:ea typeface="Cambria" pitchFamily="34" charset="-122"/>
                <a:cs typeface="Cambria" pitchFamily="34" charset="-120"/>
              </a:rPr>
              <a:t>~1,800,000</a:t>
            </a:r>
            <a:endParaRPr lang="en-US" sz="3600" dirty="0"/>
          </a:p>
        </p:txBody>
      </p:sp>
      <p:sp>
        <p:nvSpPr>
          <p:cNvPr id="10" name="Text 8"/>
          <p:cNvSpPr txBox="1"/>
          <p:nvPr/>
        </p:nvSpPr>
        <p:spPr>
          <a:xfrm>
            <a:off x="566928" y="2267712"/>
            <a:ext cx="3584448" cy="566928"/>
          </a:xfrm>
          <a:prstGeom prst="rect">
            <a:avLst/>
          </a:prstGeom>
          <a:noFill/>
          <a:ln/>
        </p:spPr>
        <p:txBody>
          <a:bodyPr wrap="square" lIns="0" tIns="0" rIns="0" bIns="0" rtlCol="0" anchor="ctr"/>
          <a:lstStyle/>
          <a:p>
            <a:pPr marL="0" indent="0" algn="ctr">
              <a:buNone/>
            </a:pPr>
            <a:r>
              <a:rPr lang="en-US" sz="1150" dirty="0">
                <a:solidFill>
                  <a:srgbClr val="5D6B75"/>
                </a:solidFill>
                <a:latin typeface="Calibri" pitchFamily="34" charset="0"/>
                <a:ea typeface="Calibri" pitchFamily="34" charset="-122"/>
                <a:cs typeface="Calibri" pitchFamily="34" charset="-120"/>
              </a:rPr>
              <a:t>distinct URLs returned and</a:t>
            </a:r>
            <a:endParaRPr lang="en-US" sz="1150" dirty="0"/>
          </a:p>
          <a:p>
            <a:pPr marL="0" indent="0" algn="ctr">
              <a:buNone/>
            </a:pPr>
            <a:r>
              <a:rPr lang="en-US" sz="1150" dirty="0">
                <a:solidFill>
                  <a:srgbClr val="5D6B75"/>
                </a:solidFill>
                <a:latin typeface="Calibri" pitchFamily="34" charset="0"/>
                <a:ea typeface="Calibri" pitchFamily="34" charset="-122"/>
                <a:cs typeface="Calibri" pitchFamily="34" charset="-120"/>
              </a:rPr>
              <a:t>stored across all queries</a:t>
            </a:r>
            <a:endParaRPr lang="en-US" sz="1150" dirty="0"/>
          </a:p>
        </p:txBody>
      </p:sp>
      <p:sp>
        <p:nvSpPr>
          <p:cNvPr id="11" name="Text 9"/>
          <p:cNvSpPr txBox="1"/>
          <p:nvPr/>
        </p:nvSpPr>
        <p:spPr>
          <a:xfrm>
            <a:off x="4279392" y="1572768"/>
            <a:ext cx="3584448" cy="694944"/>
          </a:xfrm>
          <a:prstGeom prst="rect">
            <a:avLst/>
          </a:prstGeom>
          <a:noFill/>
          <a:ln/>
        </p:spPr>
        <p:txBody>
          <a:bodyPr wrap="square" lIns="0" tIns="0" rIns="0" bIns="0" rtlCol="0" anchor="ctr"/>
          <a:lstStyle/>
          <a:p>
            <a:pPr marL="0" indent="0" algn="ctr">
              <a:buNone/>
            </a:pPr>
            <a:r>
              <a:rPr lang="en-US" sz="3600" b="1" dirty="0">
                <a:solidFill>
                  <a:srgbClr val="D2603F"/>
                </a:solidFill>
                <a:latin typeface="Cambria" pitchFamily="34" charset="0"/>
                <a:ea typeface="Cambria" pitchFamily="34" charset="-122"/>
                <a:cs typeface="Cambria" pitchFamily="34" charset="-120"/>
              </a:rPr>
              <a:t>1,000,000+</a:t>
            </a:r>
            <a:endParaRPr lang="en-US" sz="3600" dirty="0"/>
          </a:p>
        </p:txBody>
      </p:sp>
      <p:sp>
        <p:nvSpPr>
          <p:cNvPr id="12" name="Text 10"/>
          <p:cNvSpPr txBox="1"/>
          <p:nvPr/>
        </p:nvSpPr>
        <p:spPr>
          <a:xfrm>
            <a:off x="4279392" y="2267712"/>
            <a:ext cx="3584448" cy="566928"/>
          </a:xfrm>
          <a:prstGeom prst="rect">
            <a:avLst/>
          </a:prstGeom>
          <a:noFill/>
          <a:ln/>
        </p:spPr>
        <p:txBody>
          <a:bodyPr wrap="square" lIns="0" tIns="0" rIns="0" bIns="0" rtlCol="0" anchor="ctr"/>
          <a:lstStyle/>
          <a:p>
            <a:pPr marL="0" indent="0" algn="ctr">
              <a:buNone/>
            </a:pPr>
            <a:r>
              <a:rPr lang="en-US" sz="1150" dirty="0">
                <a:solidFill>
                  <a:srgbClr val="5D6B75"/>
                </a:solidFill>
                <a:latin typeface="Calibri" pitchFamily="34" charset="0"/>
                <a:ea typeface="Calibri" pitchFamily="34" charset="-122"/>
                <a:cs typeface="Calibri" pitchFamily="34" charset="-120"/>
              </a:rPr>
              <a:t>images with at least one detected</a:t>
            </a:r>
            <a:endParaRPr lang="en-US" sz="1150" dirty="0"/>
          </a:p>
          <a:p>
            <a:pPr marL="0" indent="0" algn="ctr">
              <a:buNone/>
            </a:pPr>
            <a:r>
              <a:rPr lang="en-US" sz="1150" dirty="0">
                <a:solidFill>
                  <a:srgbClr val="5D6B75"/>
                </a:solidFill>
                <a:latin typeface="Calibri" pitchFamily="34" charset="0"/>
                <a:ea typeface="Calibri" pitchFamily="34" charset="-122"/>
                <a:cs typeface="Calibri" pitchFamily="34" charset="-120"/>
              </a:rPr>
              <a:t>face and 66 landmark points</a:t>
            </a:r>
            <a:endParaRPr lang="en-US" sz="1150" dirty="0"/>
          </a:p>
        </p:txBody>
      </p:sp>
      <p:sp>
        <p:nvSpPr>
          <p:cNvPr id="13" name="Text 11"/>
          <p:cNvSpPr txBox="1"/>
          <p:nvPr/>
        </p:nvSpPr>
        <p:spPr>
          <a:xfrm>
            <a:off x="7991856" y="1572768"/>
            <a:ext cx="3639312" cy="694944"/>
          </a:xfrm>
          <a:prstGeom prst="rect">
            <a:avLst/>
          </a:prstGeom>
          <a:noFill/>
          <a:ln/>
        </p:spPr>
        <p:txBody>
          <a:bodyPr wrap="square" lIns="0" tIns="0" rIns="0" bIns="0" rtlCol="0" anchor="ctr"/>
          <a:lstStyle/>
          <a:p>
            <a:pPr marL="0" indent="0" algn="ctr">
              <a:buNone/>
            </a:pPr>
            <a:r>
              <a:rPr lang="en-US" sz="3600" b="1" dirty="0">
                <a:solidFill>
                  <a:srgbClr val="2F6B7C"/>
                </a:solidFill>
                <a:latin typeface="Cambria" pitchFamily="34" charset="0"/>
                <a:ea typeface="Cambria" pitchFamily="34" charset="-122"/>
                <a:cs typeface="Cambria" pitchFamily="34" charset="-120"/>
              </a:rPr>
              <a:t>425 × 425</a:t>
            </a:r>
            <a:endParaRPr lang="en-US" sz="3600" dirty="0"/>
          </a:p>
        </p:txBody>
      </p:sp>
      <p:sp>
        <p:nvSpPr>
          <p:cNvPr id="14" name="Text 12"/>
          <p:cNvSpPr txBox="1"/>
          <p:nvPr/>
        </p:nvSpPr>
        <p:spPr>
          <a:xfrm>
            <a:off x="7991856" y="2267712"/>
            <a:ext cx="3639312" cy="566928"/>
          </a:xfrm>
          <a:prstGeom prst="rect">
            <a:avLst/>
          </a:prstGeom>
          <a:noFill/>
          <a:ln/>
        </p:spPr>
        <p:txBody>
          <a:bodyPr wrap="square" lIns="0" tIns="0" rIns="0" bIns="0" rtlCol="0" anchor="ctr"/>
          <a:lstStyle/>
          <a:p>
            <a:pPr marL="0" indent="0" algn="ctr">
              <a:buNone/>
            </a:pPr>
            <a:r>
              <a:rPr lang="en-US" sz="1150" dirty="0">
                <a:solidFill>
                  <a:srgbClr val="5D6B75"/>
                </a:solidFill>
                <a:latin typeface="Calibri" pitchFamily="34" charset="0"/>
                <a:ea typeface="Calibri" pitchFamily="34" charset="-122"/>
                <a:cs typeface="Calibri" pitchFamily="34" charset="-120"/>
              </a:rPr>
              <a:t>average face resolution</a:t>
            </a:r>
            <a:endParaRPr lang="en-US" sz="1150" dirty="0"/>
          </a:p>
          <a:p>
            <a:pPr marL="0" indent="0" algn="ctr">
              <a:buNone/>
            </a:pPr>
            <a:r>
              <a:rPr lang="en-US" sz="1150" dirty="0">
                <a:solidFill>
                  <a:srgbClr val="5D6B75"/>
                </a:solidFill>
                <a:latin typeface="Calibri" pitchFamily="34" charset="0"/>
                <a:ea typeface="Calibri" pitchFamily="34" charset="-122"/>
                <a:cs typeface="Calibri" pitchFamily="34" charset="-120"/>
              </a:rPr>
              <a:t>(standard deviation 349 × 349)</a:t>
            </a:r>
            <a:endParaRPr lang="en-US" sz="1150" dirty="0"/>
          </a:p>
        </p:txBody>
      </p:sp>
      <p:sp>
        <p:nvSpPr>
          <p:cNvPr id="15" name="Shape 13"/>
          <p:cNvSpPr/>
          <p:nvPr/>
        </p:nvSpPr>
        <p:spPr>
          <a:xfrm>
            <a:off x="566928" y="3163824"/>
            <a:ext cx="5440680" cy="1737360"/>
          </a:xfrm>
          <a:prstGeom prst="roundRect">
            <a:avLst>
              <a:gd name="adj" fmla="val 3158"/>
            </a:avLst>
          </a:prstGeom>
          <a:solidFill>
            <a:srgbClr val="F1F5F6"/>
          </a:solidFill>
          <a:ln w="12700">
            <a:solidFill>
              <a:srgbClr val="DDE6E9"/>
            </a:solidFill>
            <a:prstDash val="solid"/>
          </a:ln>
        </p:spPr>
        <p:txBody>
          <a:bodyPr/>
          <a:lstStyle/>
          <a:p>
            <a:endParaRPr lang="en-US"/>
          </a:p>
        </p:txBody>
      </p:sp>
      <p:sp>
        <p:nvSpPr>
          <p:cNvPr id="16" name="Shape 14"/>
          <p:cNvSpPr/>
          <p:nvPr/>
        </p:nvSpPr>
        <p:spPr>
          <a:xfrm>
            <a:off x="786384" y="3456432"/>
            <a:ext cx="109728" cy="109728"/>
          </a:xfrm>
          <a:prstGeom prst="ellipse">
            <a:avLst/>
          </a:prstGeom>
          <a:solidFill>
            <a:srgbClr val="2F6B7C"/>
          </a:solidFill>
          <a:ln w="12700">
            <a:solidFill>
              <a:srgbClr val="333333"/>
            </a:solidFill>
            <a:prstDash val="solid"/>
          </a:ln>
        </p:spPr>
        <p:txBody>
          <a:bodyPr/>
          <a:lstStyle/>
          <a:p>
            <a:endParaRPr lang="en-US"/>
          </a:p>
        </p:txBody>
      </p:sp>
      <p:sp>
        <p:nvSpPr>
          <p:cNvPr id="17" name="Text 15"/>
          <p:cNvSpPr txBox="1"/>
          <p:nvPr/>
        </p:nvSpPr>
        <p:spPr>
          <a:xfrm>
            <a:off x="987552" y="3328416"/>
            <a:ext cx="4800600" cy="365760"/>
          </a:xfrm>
          <a:prstGeom prst="rect">
            <a:avLst/>
          </a:prstGeom>
          <a:noFill/>
          <a:ln/>
        </p:spPr>
        <p:txBody>
          <a:bodyPr wrap="square" lIns="0" tIns="0" rIns="0" bIns="0" rtlCol="0" anchor="ctr"/>
          <a:lstStyle/>
          <a:p>
            <a:pPr marL="0" indent="0">
              <a:buNone/>
            </a:pPr>
            <a:r>
              <a:rPr lang="en-US" sz="1500" b="1" dirty="0">
                <a:solidFill>
                  <a:srgbClr val="1A242C"/>
                </a:solidFill>
                <a:latin typeface="Cambria" pitchFamily="34" charset="0"/>
                <a:ea typeface="Cambria" pitchFamily="34" charset="-122"/>
                <a:cs typeface="Cambria" pitchFamily="34" charset="-120"/>
              </a:rPr>
              <a:t>The tooling</a:t>
            </a:r>
            <a:endParaRPr lang="en-US" sz="1500" dirty="0"/>
          </a:p>
        </p:txBody>
      </p:sp>
      <p:sp>
        <p:nvSpPr>
          <p:cNvPr id="18" name="Text 16"/>
          <p:cNvSpPr txBox="1"/>
          <p:nvPr/>
        </p:nvSpPr>
        <p:spPr>
          <a:xfrm>
            <a:off x="822960" y="3767328"/>
            <a:ext cx="4928616" cy="950976"/>
          </a:xfrm>
          <a:prstGeom prst="rect">
            <a:avLst/>
          </a:prstGeom>
          <a:noFill/>
          <a:ln/>
        </p:spPr>
        <p:txBody>
          <a:bodyPr wrap="square" lIns="0" tIns="0" rIns="0" bIns="0" rtlCol="0" anchor="t"/>
          <a:lstStyle/>
          <a:p>
            <a:pPr marL="0" indent="0">
              <a:lnSpc>
                <a:spcPct val="108000"/>
              </a:lnSpc>
              <a:buNone/>
            </a:pPr>
            <a:r>
              <a:rPr lang="en-US" sz="1260" dirty="0">
                <a:solidFill>
                  <a:srgbClr val="2E3A42"/>
                </a:solidFill>
                <a:latin typeface="Calibri" pitchFamily="34" charset="0"/>
                <a:ea typeface="Calibri" pitchFamily="34" charset="-122"/>
                <a:cs typeface="Calibri" pitchFamily="34" charset="-120"/>
              </a:rPr>
              <a:t>OpenCV face detection produced the bounding boxes. Facial landmarks came from a regression-based local binary feature alignment method, trained on the annotations from the 300-W competition.</a:t>
            </a:r>
            <a:endParaRPr lang="en-US" sz="1260" dirty="0"/>
          </a:p>
          <a:p>
            <a:pPr marL="0" indent="0">
              <a:lnSpc>
                <a:spcPct val="108000"/>
              </a:lnSpc>
              <a:buNone/>
            </a:pPr>
            <a:endParaRPr lang="en-US" sz="1260" dirty="0"/>
          </a:p>
          <a:p>
            <a:pPr marL="0" indent="0">
              <a:lnSpc>
                <a:spcPct val="108000"/>
              </a:lnSpc>
              <a:buNone/>
            </a:pPr>
            <a:r>
              <a:rPr lang="en-US" sz="1260" dirty="0">
                <a:solidFill>
                  <a:srgbClr val="2E3A42"/>
                </a:solidFill>
                <a:latin typeface="Calibri" pitchFamily="34" charset="0"/>
                <a:ea typeface="Calibri" pitchFamily="34" charset="-122"/>
                <a:cs typeface="Calibri" pitchFamily="34" charset="-120"/>
              </a:rPr>
              <a:t>Only images where a face and its landmarks were successfully extracted were kept.</a:t>
            </a:r>
            <a:endParaRPr lang="en-US" sz="1260" dirty="0"/>
          </a:p>
        </p:txBody>
      </p:sp>
      <p:sp>
        <p:nvSpPr>
          <p:cNvPr id="19" name="Shape 17"/>
          <p:cNvSpPr/>
          <p:nvPr/>
        </p:nvSpPr>
        <p:spPr>
          <a:xfrm>
            <a:off x="6190488" y="3163824"/>
            <a:ext cx="5440680" cy="1737360"/>
          </a:xfrm>
          <a:prstGeom prst="roundRect">
            <a:avLst>
              <a:gd name="adj" fmla="val 3158"/>
            </a:avLst>
          </a:prstGeom>
          <a:solidFill>
            <a:srgbClr val="F1F5F6"/>
          </a:solidFill>
          <a:ln w="12700">
            <a:solidFill>
              <a:srgbClr val="DDE6E9"/>
            </a:solidFill>
            <a:prstDash val="solid"/>
          </a:ln>
        </p:spPr>
        <p:txBody>
          <a:bodyPr/>
          <a:lstStyle/>
          <a:p>
            <a:endParaRPr lang="en-US"/>
          </a:p>
        </p:txBody>
      </p:sp>
      <p:sp>
        <p:nvSpPr>
          <p:cNvPr id="20" name="Shape 18"/>
          <p:cNvSpPr/>
          <p:nvPr/>
        </p:nvSpPr>
        <p:spPr>
          <a:xfrm>
            <a:off x="6409944" y="3456432"/>
            <a:ext cx="109728" cy="109728"/>
          </a:xfrm>
          <a:prstGeom prst="ellipse">
            <a:avLst/>
          </a:prstGeom>
          <a:solidFill>
            <a:srgbClr val="D2603F"/>
          </a:solidFill>
          <a:ln w="12700">
            <a:solidFill>
              <a:srgbClr val="333333"/>
            </a:solidFill>
            <a:prstDash val="solid"/>
          </a:ln>
        </p:spPr>
        <p:txBody>
          <a:bodyPr/>
          <a:lstStyle/>
          <a:p>
            <a:endParaRPr lang="en-US"/>
          </a:p>
        </p:txBody>
      </p:sp>
      <p:sp>
        <p:nvSpPr>
          <p:cNvPr id="21" name="Text 19"/>
          <p:cNvSpPr txBox="1"/>
          <p:nvPr/>
        </p:nvSpPr>
        <p:spPr>
          <a:xfrm>
            <a:off x="6611112" y="3328416"/>
            <a:ext cx="4800600" cy="365760"/>
          </a:xfrm>
          <a:prstGeom prst="rect">
            <a:avLst/>
          </a:prstGeom>
          <a:noFill/>
          <a:ln/>
        </p:spPr>
        <p:txBody>
          <a:bodyPr wrap="square" lIns="0" tIns="0" rIns="0" bIns="0" rtlCol="0" anchor="ctr"/>
          <a:lstStyle/>
          <a:p>
            <a:pPr marL="0" indent="0">
              <a:buNone/>
            </a:pPr>
            <a:r>
              <a:rPr lang="en-US" sz="1500" b="1" dirty="0">
                <a:solidFill>
                  <a:srgbClr val="1A242C"/>
                </a:solidFill>
                <a:latin typeface="Cambria" pitchFamily="34" charset="0"/>
                <a:ea typeface="Cambria" pitchFamily="34" charset="-122"/>
                <a:cs typeface="Cambria" pitchFamily="34" charset="-120"/>
              </a:rPr>
              <a:t>One consequence worth noticing</a:t>
            </a:r>
            <a:endParaRPr lang="en-US" sz="1500" dirty="0"/>
          </a:p>
        </p:txBody>
      </p:sp>
      <p:sp>
        <p:nvSpPr>
          <p:cNvPr id="22" name="Text 20"/>
          <p:cNvSpPr txBox="1"/>
          <p:nvPr/>
        </p:nvSpPr>
        <p:spPr>
          <a:xfrm>
            <a:off x="6446520" y="3767328"/>
            <a:ext cx="4928616" cy="950976"/>
          </a:xfrm>
          <a:prstGeom prst="rect">
            <a:avLst/>
          </a:prstGeom>
          <a:noFill/>
          <a:ln/>
        </p:spPr>
        <p:txBody>
          <a:bodyPr wrap="square" lIns="0" tIns="0" rIns="0" bIns="0" rtlCol="0" anchor="t"/>
          <a:lstStyle/>
          <a:p>
            <a:pPr marL="0" indent="0">
              <a:lnSpc>
                <a:spcPct val="108000"/>
              </a:lnSpc>
              <a:buNone/>
            </a:pPr>
            <a:r>
              <a:rPr lang="en-US" sz="1260" dirty="0">
                <a:solidFill>
                  <a:srgbClr val="2E3A42"/>
                </a:solidFill>
                <a:latin typeface="Calibri" pitchFamily="34" charset="0"/>
                <a:ea typeface="Calibri" pitchFamily="34" charset="-122"/>
                <a:cs typeface="Calibri" pitchFamily="34" charset="-120"/>
              </a:rPr>
              <a:t>Every filtering stage is also a selection stage. Faces that the detector missed — extreme poses, poor lighting, heavy occlusion, small faces, and any demographic the detector handles less well — never entered the database.</a:t>
            </a:r>
            <a:endParaRPr lang="en-US" sz="1260" dirty="0"/>
          </a:p>
          <a:p>
            <a:pPr marL="0" indent="0">
              <a:lnSpc>
                <a:spcPct val="108000"/>
              </a:lnSpc>
              <a:buNone/>
            </a:pPr>
            <a:endParaRPr lang="en-US" sz="1260" dirty="0"/>
          </a:p>
          <a:p>
            <a:pPr marL="0" indent="0">
              <a:lnSpc>
                <a:spcPct val="108000"/>
              </a:lnSpc>
              <a:buNone/>
            </a:pPr>
            <a:r>
              <a:rPr lang="en-US" sz="1260" dirty="0">
                <a:solidFill>
                  <a:srgbClr val="2E3A42"/>
                </a:solidFill>
                <a:latin typeface="Calibri" pitchFamily="34" charset="0"/>
                <a:ea typeface="Calibri" pitchFamily="34" charset="-122"/>
                <a:cs typeface="Calibri" pitchFamily="34" charset="-120"/>
              </a:rPr>
              <a:t>'In the wild' means as wild as a 2016 face detector could cope with.</a:t>
            </a:r>
            <a:endParaRPr lang="en-US" sz="1260" dirty="0"/>
          </a:p>
        </p:txBody>
      </p:sp>
      <p:sp>
        <p:nvSpPr>
          <p:cNvPr id="23" name="Shape 21"/>
          <p:cNvSpPr/>
          <p:nvPr/>
        </p:nvSpPr>
        <p:spPr>
          <a:xfrm>
            <a:off x="566928" y="5029200"/>
            <a:ext cx="11064240" cy="1024128"/>
          </a:xfrm>
          <a:prstGeom prst="roundRect">
            <a:avLst>
              <a:gd name="adj" fmla="val 5357"/>
            </a:avLst>
          </a:prstGeom>
          <a:solidFill>
            <a:srgbClr val="24303A"/>
          </a:solidFill>
          <a:ln w="12700">
            <a:solidFill>
              <a:srgbClr val="24303A"/>
            </a:solidFill>
            <a:prstDash val="solid"/>
          </a:ln>
        </p:spPr>
        <p:txBody>
          <a:bodyPr/>
          <a:lstStyle/>
          <a:p>
            <a:endParaRPr lang="en-US"/>
          </a:p>
        </p:txBody>
      </p:sp>
      <p:sp>
        <p:nvSpPr>
          <p:cNvPr id="24" name="Text 22"/>
          <p:cNvSpPr txBox="1"/>
          <p:nvPr/>
        </p:nvSpPr>
        <p:spPr>
          <a:xfrm>
            <a:off x="822960" y="5248656"/>
            <a:ext cx="10552176" cy="603504"/>
          </a:xfrm>
          <a:prstGeom prst="rect">
            <a:avLst/>
          </a:prstGeom>
          <a:noFill/>
          <a:ln/>
        </p:spPr>
        <p:txBody>
          <a:bodyPr wrap="square" lIns="0" tIns="0" rIns="0" bIns="0" rtlCol="0" anchor="t"/>
          <a:lstStyle/>
          <a:p>
            <a:pPr marL="0" indent="0">
              <a:lnSpc>
                <a:spcPct val="108000"/>
              </a:lnSpc>
              <a:buNone/>
            </a:pPr>
            <a:r>
              <a:rPr lang="en-US" sz="1300" dirty="0">
                <a:solidFill>
                  <a:srgbClr val="C6D6DC"/>
                </a:solidFill>
                <a:latin typeface="Calibri" pitchFamily="34" charset="0"/>
                <a:ea typeface="Calibri" pitchFamily="34" charset="-122"/>
                <a:cs typeface="Calibri" pitchFamily="34" charset="-120"/>
              </a:rPr>
              <a:t>The same structural point we made about MSP-Podcast, in a different modality: the automatic front end that makes harvesting possible also silently determines who is in your dataset. There the filter was signal-to-noise and diarisation; here it is a face detector.</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301984" y="457200"/>
            <a:ext cx="137160" cy="137160"/>
          </a:xfrm>
          <a:prstGeom prst="roundRect">
            <a:avLst>
              <a:gd name="adj" fmla="val 13333"/>
            </a:avLst>
          </a:prstGeom>
          <a:solidFill>
            <a:srgbClr val="2F6B7C"/>
          </a:solidFill>
          <a:ln w="12700">
            <a:solidFill>
              <a:srgbClr val="333333"/>
            </a:solidFill>
            <a:prstDash val="solid"/>
          </a:ln>
        </p:spPr>
        <p:txBody>
          <a:bodyPr/>
          <a:lstStyle/>
          <a:p>
            <a:endParaRPr lang="en-US"/>
          </a:p>
        </p:txBody>
      </p:sp>
      <p:sp>
        <p:nvSpPr>
          <p:cNvPr id="3" name="Shape 1"/>
          <p:cNvSpPr/>
          <p:nvPr/>
        </p:nvSpPr>
        <p:spPr>
          <a:xfrm>
            <a:off x="11471148" y="457200"/>
            <a:ext cx="137160" cy="137160"/>
          </a:xfrm>
          <a:prstGeom prst="roundRect">
            <a:avLst>
              <a:gd name="adj" fmla="val 13333"/>
            </a:avLst>
          </a:prstGeom>
          <a:solidFill>
            <a:srgbClr val="D2603F"/>
          </a:solidFill>
          <a:ln w="12700">
            <a:solidFill>
              <a:srgbClr val="333333"/>
            </a:solidFill>
            <a:prstDash val="solid"/>
          </a:ln>
        </p:spPr>
        <p:txBody>
          <a:bodyPr/>
          <a:lstStyle/>
          <a:p>
            <a:endParaRPr lang="en-US"/>
          </a:p>
        </p:txBody>
      </p:sp>
      <p:sp>
        <p:nvSpPr>
          <p:cNvPr id="4" name="Shape 2"/>
          <p:cNvSpPr/>
          <p:nvPr/>
        </p:nvSpPr>
        <p:spPr>
          <a:xfrm>
            <a:off x="11301984" y="626364"/>
            <a:ext cx="137160" cy="137160"/>
          </a:xfrm>
          <a:prstGeom prst="roundRect">
            <a:avLst>
              <a:gd name="adj" fmla="val 13333"/>
            </a:avLst>
          </a:prstGeom>
          <a:solidFill>
            <a:srgbClr val="8CA3AD"/>
          </a:solidFill>
          <a:ln w="12700">
            <a:solidFill>
              <a:srgbClr val="333333"/>
            </a:solidFill>
            <a:prstDash val="solid"/>
          </a:ln>
        </p:spPr>
        <p:txBody>
          <a:bodyPr/>
          <a:lstStyle/>
          <a:p>
            <a:endParaRPr lang="en-US"/>
          </a:p>
        </p:txBody>
      </p:sp>
      <p:sp>
        <p:nvSpPr>
          <p:cNvPr id="5" name="Shape 3"/>
          <p:cNvSpPr/>
          <p:nvPr/>
        </p:nvSpPr>
        <p:spPr>
          <a:xfrm>
            <a:off x="11471148" y="626364"/>
            <a:ext cx="137160" cy="137160"/>
          </a:xfrm>
          <a:prstGeom prst="roundRect">
            <a:avLst>
              <a:gd name="adj" fmla="val 13333"/>
            </a:avLst>
          </a:prstGeom>
          <a:solidFill>
            <a:srgbClr val="2F6B7C"/>
          </a:solidFill>
          <a:ln w="12700">
            <a:solidFill>
              <a:srgbClr val="333333"/>
            </a:solidFill>
            <a:prstDash val="solid"/>
          </a:ln>
        </p:spPr>
        <p:txBody>
          <a:bodyPr/>
          <a:lstStyle/>
          <a:p>
            <a:endParaRPr lang="en-US"/>
          </a:p>
        </p:txBody>
      </p:sp>
      <p:sp>
        <p:nvSpPr>
          <p:cNvPr id="6" name="Text 4"/>
          <p:cNvSpPr txBox="1"/>
          <p:nvPr/>
        </p:nvSpPr>
        <p:spPr>
          <a:xfrm>
            <a:off x="548640" y="384048"/>
            <a:ext cx="10424160" cy="566928"/>
          </a:xfrm>
          <a:prstGeom prst="rect">
            <a:avLst/>
          </a:prstGeom>
          <a:noFill/>
          <a:ln/>
        </p:spPr>
        <p:txBody>
          <a:bodyPr wrap="square" lIns="0" tIns="0" rIns="0" bIns="0" rtlCol="0" anchor="t"/>
          <a:lstStyle/>
          <a:p>
            <a:pPr marL="0" indent="0">
              <a:buNone/>
            </a:pPr>
            <a:r>
              <a:rPr lang="en-US" sz="2900" b="1" dirty="0">
                <a:solidFill>
                  <a:srgbClr val="1A242C"/>
                </a:solidFill>
                <a:latin typeface="Cambria" pitchFamily="34" charset="0"/>
                <a:ea typeface="Cambria" pitchFamily="34" charset="-122"/>
                <a:cs typeface="Cambria" pitchFamily="34" charset="-120"/>
              </a:rPr>
              <a:t>Who is in the images</a:t>
            </a:r>
            <a:endParaRPr lang="en-US" sz="2900" dirty="0"/>
          </a:p>
        </p:txBody>
      </p:sp>
      <p:sp>
        <p:nvSpPr>
          <p:cNvPr id="7" name="Text 5"/>
          <p:cNvSpPr txBox="1"/>
          <p:nvPr/>
        </p:nvSpPr>
        <p:spPr>
          <a:xfrm>
            <a:off x="548640" y="969264"/>
            <a:ext cx="10424160" cy="329184"/>
          </a:xfrm>
          <a:prstGeom prst="rect">
            <a:avLst/>
          </a:prstGeom>
          <a:noFill/>
          <a:ln/>
        </p:spPr>
        <p:txBody>
          <a:bodyPr wrap="square" lIns="0" tIns="0" rIns="0" bIns="0" rtlCol="0" anchor="ctr"/>
          <a:lstStyle/>
          <a:p>
            <a:pPr marL="0" indent="0">
              <a:buNone/>
            </a:pPr>
            <a:r>
              <a:rPr lang="en-US" sz="1350" i="1" dirty="0">
                <a:solidFill>
                  <a:srgbClr val="5D6B75"/>
                </a:solidFill>
                <a:latin typeface="Calibri" pitchFamily="34" charset="0"/>
                <a:ea typeface="Calibri" pitchFamily="34" charset="-122"/>
                <a:cs typeface="Calibri" pitchFamily="34" charset="-120"/>
              </a:rPr>
              <a:t>Estimated automatically on a 50,000-image sample</a:t>
            </a:r>
            <a:endParaRPr lang="en-US" sz="1350" dirty="0"/>
          </a:p>
        </p:txBody>
      </p:sp>
      <p:sp>
        <p:nvSpPr>
          <p:cNvPr id="8" name="Text 6"/>
          <p:cNvSpPr txBox="1"/>
          <p:nvPr/>
        </p:nvSpPr>
        <p:spPr>
          <a:xfrm>
            <a:off x="9326880" y="6382512"/>
            <a:ext cx="2313432" cy="274320"/>
          </a:xfrm>
          <a:prstGeom prst="rect">
            <a:avLst/>
          </a:prstGeom>
          <a:noFill/>
          <a:ln/>
        </p:spPr>
        <p:txBody>
          <a:bodyPr wrap="square" lIns="0" tIns="0" rIns="0" bIns="0" rtlCol="0" anchor="ctr"/>
          <a:lstStyle/>
          <a:p>
            <a:pPr marL="0" indent="0" algn="r">
              <a:buNone/>
            </a:pPr>
            <a:r>
              <a:rPr lang="en-US" sz="900" dirty="0">
                <a:solidFill>
                  <a:srgbClr val="9DACB4"/>
                </a:solidFill>
                <a:latin typeface="Calibri" pitchFamily="34" charset="0"/>
                <a:ea typeface="Calibri" pitchFamily="34" charset="-122"/>
                <a:cs typeface="Calibri" pitchFamily="34" charset="-120"/>
              </a:rPr>
              <a:t>AffectNet · Mollahosseini et al. 2019  |  10</a:t>
            </a:r>
            <a:endParaRPr lang="en-US" sz="900" dirty="0"/>
          </a:p>
        </p:txBody>
      </p:sp>
      <p:sp>
        <p:nvSpPr>
          <p:cNvPr id="9" name="Text 7"/>
          <p:cNvSpPr txBox="1"/>
          <p:nvPr/>
        </p:nvSpPr>
        <p:spPr>
          <a:xfrm>
            <a:off x="566928" y="1572768"/>
            <a:ext cx="11064240" cy="2194560"/>
          </a:xfrm>
          <a:prstGeom prst="rect">
            <a:avLst/>
          </a:prstGeom>
          <a:noFill/>
          <a:ln/>
        </p:spPr>
        <p:txBody>
          <a:bodyPr wrap="square" lIns="0" tIns="0" rIns="0" bIns="0" rtlCol="0" anchor="t"/>
          <a:lstStyle/>
          <a:p>
            <a:pPr marL="342900" indent="-342900">
              <a:spcAft>
                <a:spcPts val="800"/>
              </a:spcAft>
              <a:buSzPct val="100000"/>
              <a:buChar char="●"/>
            </a:pPr>
            <a:r>
              <a:rPr lang="en-US" sz="1320" dirty="0">
                <a:solidFill>
                  <a:srgbClr val="2E3A42"/>
                </a:solidFill>
                <a:latin typeface="Calibri" pitchFamily="34" charset="0"/>
                <a:ea typeface="Calibri" pitchFamily="34" charset="-122"/>
                <a:cs typeface="Calibri" pitchFamily="34" charset="-120"/>
              </a:rPr>
              <a:t>Roughly half the faces are estimated to be men.</a:t>
            </a:r>
            <a:endParaRPr lang="en-US" sz="1320" dirty="0"/>
          </a:p>
          <a:p>
            <a:pPr marL="342900" indent="-342900">
              <a:spcAft>
                <a:spcPts val="800"/>
              </a:spcAft>
              <a:buSzPct val="100000"/>
              <a:buChar char="●"/>
            </a:pPr>
            <a:r>
              <a:rPr lang="en-US" sz="1320" dirty="0">
                <a:solidFill>
                  <a:srgbClr val="2E3A42"/>
                </a:solidFill>
                <a:latin typeface="Calibri" pitchFamily="34" charset="0"/>
                <a:ea typeface="Calibri" pitchFamily="34" charset="-122"/>
                <a:cs typeface="Calibri" pitchFamily="34" charset="-120"/>
              </a:rPr>
              <a:t>Mean estimated age 33 years, with a standard deviation of about 17. Only 3.9% fall in the 10-to-20 range, while 30% are estimated at 20 to 30.</a:t>
            </a:r>
            <a:endParaRPr lang="en-US" sz="1320" dirty="0"/>
          </a:p>
          <a:p>
            <a:pPr marL="342900" indent="-342900">
              <a:spcAft>
                <a:spcPts val="800"/>
              </a:spcAft>
              <a:buSzPct val="100000"/>
              <a:buChar char="●"/>
            </a:pPr>
            <a:r>
              <a:rPr lang="en-US" sz="1320" dirty="0">
                <a:solidFill>
                  <a:srgbClr val="2E3A42"/>
                </a:solidFill>
                <a:latin typeface="Calibri" pitchFamily="34" charset="0"/>
                <a:ea typeface="Calibri" pitchFamily="34" charset="-122"/>
                <a:cs typeface="Calibri" pitchFamily="34" charset="-120"/>
              </a:rPr>
              <a:t>Occlusion is rare: forehead 4.5%, mouth 1.1%, eyes 0.5%. Under 10% wear glasses.</a:t>
            </a:r>
            <a:endParaRPr lang="en-US" sz="1320" dirty="0"/>
          </a:p>
          <a:p>
            <a:pPr marL="342900" indent="-342900">
              <a:spcAft>
                <a:spcPts val="800"/>
              </a:spcAft>
              <a:buSzPct val="100000"/>
              <a:buChar char="●"/>
            </a:pPr>
            <a:r>
              <a:rPr lang="en-US" sz="1320" dirty="0">
                <a:solidFill>
                  <a:srgbClr val="2E3A42"/>
                </a:solidFill>
                <a:latin typeface="Calibri" pitchFamily="34" charset="0"/>
                <a:ea typeface="Calibri" pitchFamily="34" charset="-122"/>
                <a:cs typeface="Calibri" pitchFamily="34" charset="-120"/>
              </a:rPr>
              <a:t>Roughly half the faces are recorded as wearing eye make-up and 41% lip make-up.</a:t>
            </a:r>
            <a:endParaRPr lang="en-US" sz="1320" dirty="0"/>
          </a:p>
          <a:p>
            <a:pPr marL="342900" indent="-342900">
              <a:spcAft>
                <a:spcPts val="800"/>
              </a:spcAft>
              <a:buSzPct val="100000"/>
              <a:buChar char="●"/>
            </a:pPr>
            <a:r>
              <a:rPr lang="en-US" sz="1320" dirty="0">
                <a:solidFill>
                  <a:srgbClr val="2E3A42"/>
                </a:solidFill>
                <a:latin typeface="Calibri" pitchFamily="34" charset="0"/>
                <a:ea typeface="Calibri" pitchFamily="34" charset="-122"/>
                <a:cs typeface="Calibri" pitchFamily="34" charset="-120"/>
              </a:rPr>
              <a:t>Head pose is close to frontal on average — estimated mean pitch, yaw and roll all within about a degree of zero.</a:t>
            </a:r>
            <a:endParaRPr lang="en-US" sz="1320" dirty="0"/>
          </a:p>
        </p:txBody>
      </p:sp>
      <p:sp>
        <p:nvSpPr>
          <p:cNvPr id="10" name="Shape 8"/>
          <p:cNvSpPr/>
          <p:nvPr/>
        </p:nvSpPr>
        <p:spPr>
          <a:xfrm>
            <a:off x="566928" y="3877056"/>
            <a:ext cx="5440680" cy="1097280"/>
          </a:xfrm>
          <a:prstGeom prst="roundRect">
            <a:avLst>
              <a:gd name="adj" fmla="val 5000"/>
            </a:avLst>
          </a:prstGeom>
          <a:solidFill>
            <a:srgbClr val="F1F5F6"/>
          </a:solidFill>
          <a:ln w="12700">
            <a:solidFill>
              <a:srgbClr val="DDE6E9"/>
            </a:solidFill>
            <a:prstDash val="solid"/>
          </a:ln>
        </p:spPr>
        <p:txBody>
          <a:bodyPr/>
          <a:lstStyle/>
          <a:p>
            <a:endParaRPr lang="en-US"/>
          </a:p>
        </p:txBody>
      </p:sp>
      <p:sp>
        <p:nvSpPr>
          <p:cNvPr id="11" name="Shape 9"/>
          <p:cNvSpPr/>
          <p:nvPr/>
        </p:nvSpPr>
        <p:spPr>
          <a:xfrm>
            <a:off x="786384" y="4169664"/>
            <a:ext cx="109728" cy="109728"/>
          </a:xfrm>
          <a:prstGeom prst="ellipse">
            <a:avLst/>
          </a:prstGeom>
          <a:solidFill>
            <a:srgbClr val="2F6B7C"/>
          </a:solidFill>
          <a:ln w="12700">
            <a:solidFill>
              <a:srgbClr val="333333"/>
            </a:solidFill>
            <a:prstDash val="solid"/>
          </a:ln>
        </p:spPr>
        <p:txBody>
          <a:bodyPr/>
          <a:lstStyle/>
          <a:p>
            <a:endParaRPr lang="en-US"/>
          </a:p>
        </p:txBody>
      </p:sp>
      <p:sp>
        <p:nvSpPr>
          <p:cNvPr id="12" name="Text 10"/>
          <p:cNvSpPr txBox="1"/>
          <p:nvPr/>
        </p:nvSpPr>
        <p:spPr>
          <a:xfrm>
            <a:off x="987552" y="4041648"/>
            <a:ext cx="4800600" cy="365760"/>
          </a:xfrm>
          <a:prstGeom prst="rect">
            <a:avLst/>
          </a:prstGeom>
          <a:noFill/>
          <a:ln/>
        </p:spPr>
        <p:txBody>
          <a:bodyPr wrap="square" lIns="0" tIns="0" rIns="0" bIns="0" rtlCol="0" anchor="ctr"/>
          <a:lstStyle/>
          <a:p>
            <a:pPr marL="0" indent="0">
              <a:buNone/>
            </a:pPr>
            <a:r>
              <a:rPr lang="en-US" sz="1500" b="1" dirty="0">
                <a:solidFill>
                  <a:srgbClr val="1A242C"/>
                </a:solidFill>
                <a:latin typeface="Cambria" pitchFamily="34" charset="0"/>
                <a:ea typeface="Cambria" pitchFamily="34" charset="-122"/>
                <a:cs typeface="Cambria" pitchFamily="34" charset="-120"/>
              </a:rPr>
              <a:t>How to read these figures</a:t>
            </a:r>
            <a:endParaRPr lang="en-US" sz="1500" dirty="0"/>
          </a:p>
        </p:txBody>
      </p:sp>
      <p:sp>
        <p:nvSpPr>
          <p:cNvPr id="13" name="Text 11"/>
          <p:cNvSpPr txBox="1"/>
          <p:nvPr/>
        </p:nvSpPr>
        <p:spPr>
          <a:xfrm>
            <a:off x="822960" y="4480560"/>
            <a:ext cx="4928616" cy="310896"/>
          </a:xfrm>
          <a:prstGeom prst="rect">
            <a:avLst/>
          </a:prstGeom>
          <a:noFill/>
          <a:ln/>
        </p:spPr>
        <p:txBody>
          <a:bodyPr wrap="square" lIns="0" tIns="0" rIns="0" bIns="0" rtlCol="0" anchor="t"/>
          <a:lstStyle/>
          <a:p>
            <a:pPr marL="0" indent="0">
              <a:lnSpc>
                <a:spcPct val="108000"/>
              </a:lnSpc>
              <a:buNone/>
            </a:pPr>
            <a:r>
              <a:rPr lang="en-US" sz="1260" dirty="0">
                <a:solidFill>
                  <a:srgbClr val="2E3A42"/>
                </a:solidFill>
                <a:latin typeface="Calibri" pitchFamily="34" charset="0"/>
                <a:ea typeface="Calibri" pitchFamily="34" charset="-122"/>
                <a:cs typeface="Calibri" pitchFamily="34" charset="-120"/>
              </a:rPr>
              <a:t>They come from a commercial face API applied to a random sample, not from human annotation. They are estimates of perceived attributes, with all the error and bias that implies.</a:t>
            </a:r>
            <a:endParaRPr lang="en-US" sz="1260" dirty="0"/>
          </a:p>
        </p:txBody>
      </p:sp>
      <p:sp>
        <p:nvSpPr>
          <p:cNvPr id="14" name="Shape 12"/>
          <p:cNvSpPr/>
          <p:nvPr/>
        </p:nvSpPr>
        <p:spPr>
          <a:xfrm>
            <a:off x="6190488" y="3877056"/>
            <a:ext cx="5440680" cy="1097280"/>
          </a:xfrm>
          <a:prstGeom prst="roundRect">
            <a:avLst>
              <a:gd name="adj" fmla="val 5000"/>
            </a:avLst>
          </a:prstGeom>
          <a:solidFill>
            <a:srgbClr val="F1F5F6"/>
          </a:solidFill>
          <a:ln w="12700">
            <a:solidFill>
              <a:srgbClr val="DDE6E9"/>
            </a:solidFill>
            <a:prstDash val="solid"/>
          </a:ln>
        </p:spPr>
        <p:txBody>
          <a:bodyPr/>
          <a:lstStyle/>
          <a:p>
            <a:endParaRPr lang="en-US"/>
          </a:p>
        </p:txBody>
      </p:sp>
      <p:sp>
        <p:nvSpPr>
          <p:cNvPr id="15" name="Shape 13"/>
          <p:cNvSpPr/>
          <p:nvPr/>
        </p:nvSpPr>
        <p:spPr>
          <a:xfrm>
            <a:off x="6409944" y="4169664"/>
            <a:ext cx="109728" cy="109728"/>
          </a:xfrm>
          <a:prstGeom prst="ellipse">
            <a:avLst/>
          </a:prstGeom>
          <a:solidFill>
            <a:srgbClr val="D2603F"/>
          </a:solidFill>
          <a:ln w="12700">
            <a:solidFill>
              <a:srgbClr val="333333"/>
            </a:solidFill>
            <a:prstDash val="solid"/>
          </a:ln>
        </p:spPr>
        <p:txBody>
          <a:bodyPr/>
          <a:lstStyle/>
          <a:p>
            <a:endParaRPr lang="en-US"/>
          </a:p>
        </p:txBody>
      </p:sp>
      <p:sp>
        <p:nvSpPr>
          <p:cNvPr id="16" name="Text 14"/>
          <p:cNvSpPr txBox="1"/>
          <p:nvPr/>
        </p:nvSpPr>
        <p:spPr>
          <a:xfrm>
            <a:off x="6611112" y="4041648"/>
            <a:ext cx="4800600" cy="365760"/>
          </a:xfrm>
          <a:prstGeom prst="rect">
            <a:avLst/>
          </a:prstGeom>
          <a:noFill/>
          <a:ln/>
        </p:spPr>
        <p:txBody>
          <a:bodyPr wrap="square" lIns="0" tIns="0" rIns="0" bIns="0" rtlCol="0" anchor="ctr"/>
          <a:lstStyle/>
          <a:p>
            <a:pPr marL="0" indent="0">
              <a:buNone/>
            </a:pPr>
            <a:r>
              <a:rPr lang="en-US" sz="1500" b="1" dirty="0">
                <a:solidFill>
                  <a:srgbClr val="1A242C"/>
                </a:solidFill>
                <a:latin typeface="Cambria" pitchFamily="34" charset="0"/>
                <a:ea typeface="Cambria" pitchFamily="34" charset="-122"/>
                <a:cs typeface="Cambria" pitchFamily="34" charset="-120"/>
              </a:rPr>
              <a:t>But the shape is informative</a:t>
            </a:r>
            <a:endParaRPr lang="en-US" sz="1500" dirty="0"/>
          </a:p>
        </p:txBody>
      </p:sp>
      <p:sp>
        <p:nvSpPr>
          <p:cNvPr id="17" name="Text 15"/>
          <p:cNvSpPr txBox="1"/>
          <p:nvPr/>
        </p:nvSpPr>
        <p:spPr>
          <a:xfrm>
            <a:off x="6446520" y="4480560"/>
            <a:ext cx="4928616" cy="310896"/>
          </a:xfrm>
          <a:prstGeom prst="rect">
            <a:avLst/>
          </a:prstGeom>
          <a:noFill/>
          <a:ln/>
        </p:spPr>
        <p:txBody>
          <a:bodyPr wrap="square" lIns="0" tIns="0" rIns="0" bIns="0" rtlCol="0" anchor="t"/>
          <a:lstStyle/>
          <a:p>
            <a:pPr marL="0" indent="0">
              <a:lnSpc>
                <a:spcPct val="108000"/>
              </a:lnSpc>
              <a:buNone/>
            </a:pPr>
            <a:r>
              <a:rPr lang="en-US" sz="1260" dirty="0">
                <a:solidFill>
                  <a:srgbClr val="2E3A42"/>
                </a:solidFill>
                <a:latin typeface="Calibri" pitchFamily="34" charset="0"/>
                <a:ea typeface="Calibri" pitchFamily="34" charset="-122"/>
                <a:cs typeface="Calibri" pitchFamily="34" charset="-120"/>
              </a:rPr>
              <a:t>Near-frontal, unoccluded, well-lit, adult, frequently made up. This is what published photography looks like — not what a camera in a room looks like.</a:t>
            </a:r>
            <a:endParaRPr lang="en-US" sz="1260" dirty="0"/>
          </a:p>
        </p:txBody>
      </p:sp>
      <p:sp>
        <p:nvSpPr>
          <p:cNvPr id="18" name="Shape 16"/>
          <p:cNvSpPr/>
          <p:nvPr/>
        </p:nvSpPr>
        <p:spPr>
          <a:xfrm>
            <a:off x="566928" y="5138928"/>
            <a:ext cx="11064240" cy="914400"/>
          </a:xfrm>
          <a:prstGeom prst="roundRect">
            <a:avLst>
              <a:gd name="adj" fmla="val 6000"/>
            </a:avLst>
          </a:prstGeom>
          <a:solidFill>
            <a:srgbClr val="24303A"/>
          </a:solidFill>
          <a:ln w="12700">
            <a:solidFill>
              <a:srgbClr val="24303A"/>
            </a:solidFill>
            <a:prstDash val="solid"/>
          </a:ln>
        </p:spPr>
        <p:txBody>
          <a:bodyPr/>
          <a:lstStyle/>
          <a:p>
            <a:endParaRPr lang="en-US"/>
          </a:p>
        </p:txBody>
      </p:sp>
      <p:sp>
        <p:nvSpPr>
          <p:cNvPr id="19" name="Text 17"/>
          <p:cNvSpPr txBox="1"/>
          <p:nvPr/>
        </p:nvSpPr>
        <p:spPr>
          <a:xfrm>
            <a:off x="822960" y="5358384"/>
            <a:ext cx="10552176" cy="493776"/>
          </a:xfrm>
          <a:prstGeom prst="rect">
            <a:avLst/>
          </a:prstGeom>
          <a:noFill/>
          <a:ln/>
        </p:spPr>
        <p:txBody>
          <a:bodyPr wrap="square" lIns="0" tIns="0" rIns="0" bIns="0" rtlCol="0" anchor="t"/>
          <a:lstStyle/>
          <a:p>
            <a:pPr marL="0" indent="0">
              <a:lnSpc>
                <a:spcPct val="108000"/>
              </a:lnSpc>
              <a:buNone/>
            </a:pPr>
            <a:r>
              <a:rPr lang="en-US" sz="1300" dirty="0">
                <a:solidFill>
                  <a:srgbClr val="C6D6DC"/>
                </a:solidFill>
                <a:latin typeface="Calibri" pitchFamily="34" charset="0"/>
                <a:ea typeface="Calibri" pitchFamily="34" charset="-122"/>
                <a:cs typeface="Calibri" pitchFamily="34" charset="-120"/>
              </a:rPr>
              <a:t>No ethnicity statistics are reported, despite ethnicity terms being used in the queries. That absence is worth noting for a dataset whose central claim is diversity in the wild.</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bg>
      <p:bgPr>
        <a:solidFill>
          <a:srgbClr val="24303A"/>
        </a:solidFill>
        <a:effectLst/>
      </p:bgPr>
    </p:bg>
    <p:spTree>
      <p:nvGrpSpPr>
        <p:cNvPr id="1" name=""/>
        <p:cNvGrpSpPr/>
        <p:nvPr/>
      </p:nvGrpSpPr>
      <p:grpSpPr>
        <a:xfrm>
          <a:off x="0" y="0"/>
          <a:ext cx="0" cy="0"/>
          <a:chOff x="0" y="0"/>
          <a:chExt cx="0" cy="0"/>
        </a:xfrm>
      </p:grpSpPr>
      <p:sp>
        <p:nvSpPr>
          <p:cNvPr id="2" name="Shape 0"/>
          <p:cNvSpPr/>
          <p:nvPr/>
        </p:nvSpPr>
        <p:spPr>
          <a:xfrm>
            <a:off x="10607040" y="5303520"/>
            <a:ext cx="274320" cy="274320"/>
          </a:xfrm>
          <a:prstGeom prst="roundRect">
            <a:avLst>
              <a:gd name="adj" fmla="val 6667"/>
            </a:avLst>
          </a:prstGeom>
          <a:solidFill>
            <a:srgbClr val="C6D6DC"/>
          </a:solidFill>
          <a:ln w="12700">
            <a:solidFill>
              <a:srgbClr val="333333"/>
            </a:solidFill>
            <a:prstDash val="solid"/>
          </a:ln>
        </p:spPr>
        <p:txBody>
          <a:bodyPr/>
          <a:lstStyle/>
          <a:p>
            <a:endParaRPr lang="en-US"/>
          </a:p>
        </p:txBody>
      </p:sp>
      <p:sp>
        <p:nvSpPr>
          <p:cNvPr id="3" name="Shape 1"/>
          <p:cNvSpPr/>
          <p:nvPr/>
        </p:nvSpPr>
        <p:spPr>
          <a:xfrm>
            <a:off x="10945368" y="5303520"/>
            <a:ext cx="274320" cy="274320"/>
          </a:xfrm>
          <a:prstGeom prst="roundRect">
            <a:avLst>
              <a:gd name="adj" fmla="val 6667"/>
            </a:avLst>
          </a:prstGeom>
          <a:solidFill>
            <a:srgbClr val="D2603F"/>
          </a:solidFill>
          <a:ln w="12700">
            <a:solidFill>
              <a:srgbClr val="333333"/>
            </a:solidFill>
            <a:prstDash val="solid"/>
          </a:ln>
        </p:spPr>
        <p:txBody>
          <a:bodyPr/>
          <a:lstStyle/>
          <a:p>
            <a:endParaRPr lang="en-US"/>
          </a:p>
        </p:txBody>
      </p:sp>
      <p:sp>
        <p:nvSpPr>
          <p:cNvPr id="4" name="Shape 2"/>
          <p:cNvSpPr/>
          <p:nvPr/>
        </p:nvSpPr>
        <p:spPr>
          <a:xfrm>
            <a:off x="10607040" y="5641848"/>
            <a:ext cx="274320" cy="274320"/>
          </a:xfrm>
          <a:prstGeom prst="roundRect">
            <a:avLst>
              <a:gd name="adj" fmla="val 6667"/>
            </a:avLst>
          </a:prstGeom>
          <a:solidFill>
            <a:srgbClr val="C6D6DC"/>
          </a:solidFill>
          <a:ln w="12700">
            <a:solidFill>
              <a:srgbClr val="333333"/>
            </a:solidFill>
            <a:prstDash val="solid"/>
          </a:ln>
        </p:spPr>
        <p:txBody>
          <a:bodyPr/>
          <a:lstStyle/>
          <a:p>
            <a:endParaRPr lang="en-US"/>
          </a:p>
        </p:txBody>
      </p:sp>
      <p:sp>
        <p:nvSpPr>
          <p:cNvPr id="5" name="Shape 3"/>
          <p:cNvSpPr/>
          <p:nvPr/>
        </p:nvSpPr>
        <p:spPr>
          <a:xfrm>
            <a:off x="10945368" y="5641848"/>
            <a:ext cx="274320" cy="274320"/>
          </a:xfrm>
          <a:prstGeom prst="roundRect">
            <a:avLst>
              <a:gd name="adj" fmla="val 6667"/>
            </a:avLst>
          </a:prstGeom>
          <a:solidFill>
            <a:srgbClr val="8CA3AD"/>
          </a:solidFill>
          <a:ln w="12700">
            <a:solidFill>
              <a:srgbClr val="333333"/>
            </a:solidFill>
            <a:prstDash val="solid"/>
          </a:ln>
        </p:spPr>
        <p:txBody>
          <a:bodyPr/>
          <a:lstStyle/>
          <a:p>
            <a:endParaRPr lang="en-US"/>
          </a:p>
        </p:txBody>
      </p:sp>
      <p:sp>
        <p:nvSpPr>
          <p:cNvPr id="6" name="Text 4"/>
          <p:cNvSpPr txBox="1"/>
          <p:nvPr/>
        </p:nvSpPr>
        <p:spPr>
          <a:xfrm>
            <a:off x="822960" y="2057400"/>
            <a:ext cx="1554480" cy="1005840"/>
          </a:xfrm>
          <a:prstGeom prst="rect">
            <a:avLst/>
          </a:prstGeom>
          <a:noFill/>
          <a:ln/>
        </p:spPr>
        <p:txBody>
          <a:bodyPr wrap="square" lIns="0" tIns="0" rIns="0" bIns="0" rtlCol="0" anchor="ctr"/>
          <a:lstStyle/>
          <a:p>
            <a:pPr marL="0" indent="0">
              <a:buNone/>
            </a:pPr>
            <a:r>
              <a:rPr lang="en-US" sz="6600" b="1" dirty="0">
                <a:solidFill>
                  <a:srgbClr val="D2603F"/>
                </a:solidFill>
                <a:latin typeface="Cambria" pitchFamily="34" charset="0"/>
                <a:ea typeface="Cambria" pitchFamily="34" charset="-122"/>
                <a:cs typeface="Cambria" pitchFamily="34" charset="-120"/>
              </a:rPr>
              <a:t>3</a:t>
            </a:r>
            <a:endParaRPr lang="en-US" sz="6600" dirty="0"/>
          </a:p>
        </p:txBody>
      </p:sp>
      <p:sp>
        <p:nvSpPr>
          <p:cNvPr id="7" name="Text 5"/>
          <p:cNvSpPr txBox="1"/>
          <p:nvPr/>
        </p:nvSpPr>
        <p:spPr>
          <a:xfrm>
            <a:off x="2377440" y="2212848"/>
            <a:ext cx="8686800" cy="822960"/>
          </a:xfrm>
          <a:prstGeom prst="rect">
            <a:avLst/>
          </a:prstGeom>
          <a:noFill/>
          <a:ln/>
        </p:spPr>
        <p:txBody>
          <a:bodyPr wrap="square" lIns="0" tIns="0" rIns="0" bIns="0" rtlCol="0" anchor="ctr"/>
          <a:lstStyle/>
          <a:p>
            <a:pPr marL="0" indent="0">
              <a:buNone/>
            </a:pPr>
            <a:r>
              <a:rPr lang="en-US" sz="3300" b="1" dirty="0">
                <a:solidFill>
                  <a:srgbClr val="FFFFFF"/>
                </a:solidFill>
                <a:latin typeface="Cambria" pitchFamily="34" charset="0"/>
                <a:ea typeface="Cambria" pitchFamily="34" charset="-122"/>
                <a:cs typeface="Cambria" pitchFamily="34" charset="-120"/>
              </a:rPr>
              <a:t>Annotation</a:t>
            </a:r>
            <a:endParaRPr lang="en-US" sz="3300" dirty="0"/>
          </a:p>
        </p:txBody>
      </p:sp>
      <p:sp>
        <p:nvSpPr>
          <p:cNvPr id="8" name="Text 6"/>
          <p:cNvSpPr txBox="1"/>
          <p:nvPr/>
        </p:nvSpPr>
        <p:spPr>
          <a:xfrm>
            <a:off x="2432304" y="3072384"/>
            <a:ext cx="8503920" cy="731520"/>
          </a:xfrm>
          <a:prstGeom prst="rect">
            <a:avLst/>
          </a:prstGeom>
          <a:noFill/>
          <a:ln/>
        </p:spPr>
        <p:txBody>
          <a:bodyPr wrap="square" lIns="0" tIns="0" rIns="0" bIns="0" rtlCol="0" anchor="ctr"/>
          <a:lstStyle/>
          <a:p>
            <a:pPr marL="0" indent="0">
              <a:buNone/>
            </a:pPr>
            <a:r>
              <a:rPr lang="en-US" sz="1500" dirty="0">
                <a:solidFill>
                  <a:srgbClr val="C6D6DC"/>
                </a:solidFill>
                <a:latin typeface="Calibri" pitchFamily="34" charset="0"/>
                <a:ea typeface="Calibri" pitchFamily="34" charset="-122"/>
                <a:cs typeface="Calibri" pitchFamily="34" charset="-120"/>
              </a:rPr>
              <a:t>Twelve experts, and a deliberate rejection of crowdsourcing</a:t>
            </a:r>
            <a:endParaRPr lang="en-US" sz="1500" dirty="0"/>
          </a:p>
        </p:txBody>
      </p:sp>
      <p:sp>
        <p:nvSpPr>
          <p:cNvPr id="9" name="Text 7"/>
          <p:cNvSpPr txBox="1"/>
          <p:nvPr/>
        </p:nvSpPr>
        <p:spPr>
          <a:xfrm>
            <a:off x="9326880" y="6382512"/>
            <a:ext cx="2313432" cy="274320"/>
          </a:xfrm>
          <a:prstGeom prst="rect">
            <a:avLst/>
          </a:prstGeom>
          <a:noFill/>
          <a:ln/>
        </p:spPr>
        <p:txBody>
          <a:bodyPr wrap="square" lIns="0" tIns="0" rIns="0" bIns="0" rtlCol="0" anchor="ctr"/>
          <a:lstStyle/>
          <a:p>
            <a:pPr marL="0" indent="0" algn="r">
              <a:buNone/>
            </a:pPr>
            <a:r>
              <a:rPr lang="en-US" sz="900" dirty="0">
                <a:solidFill>
                  <a:srgbClr val="9DACB4"/>
                </a:solidFill>
                <a:latin typeface="Calibri" pitchFamily="34" charset="0"/>
                <a:ea typeface="Calibri" pitchFamily="34" charset="-122"/>
                <a:cs typeface="Calibri" pitchFamily="34" charset="-120"/>
              </a:rPr>
              <a:t>AffectNet · Mollahosseini et al. 2019  |  11</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301984" y="457200"/>
            <a:ext cx="137160" cy="137160"/>
          </a:xfrm>
          <a:prstGeom prst="roundRect">
            <a:avLst>
              <a:gd name="adj" fmla="val 13333"/>
            </a:avLst>
          </a:prstGeom>
          <a:solidFill>
            <a:srgbClr val="2F6B7C"/>
          </a:solidFill>
          <a:ln w="12700">
            <a:solidFill>
              <a:srgbClr val="333333"/>
            </a:solidFill>
            <a:prstDash val="solid"/>
          </a:ln>
        </p:spPr>
        <p:txBody>
          <a:bodyPr/>
          <a:lstStyle/>
          <a:p>
            <a:endParaRPr lang="en-US"/>
          </a:p>
        </p:txBody>
      </p:sp>
      <p:sp>
        <p:nvSpPr>
          <p:cNvPr id="3" name="Shape 1"/>
          <p:cNvSpPr/>
          <p:nvPr/>
        </p:nvSpPr>
        <p:spPr>
          <a:xfrm>
            <a:off x="11471148" y="457200"/>
            <a:ext cx="137160" cy="137160"/>
          </a:xfrm>
          <a:prstGeom prst="roundRect">
            <a:avLst>
              <a:gd name="adj" fmla="val 13333"/>
            </a:avLst>
          </a:prstGeom>
          <a:solidFill>
            <a:srgbClr val="D2603F"/>
          </a:solidFill>
          <a:ln w="12700">
            <a:solidFill>
              <a:srgbClr val="333333"/>
            </a:solidFill>
            <a:prstDash val="solid"/>
          </a:ln>
        </p:spPr>
        <p:txBody>
          <a:bodyPr/>
          <a:lstStyle/>
          <a:p>
            <a:endParaRPr lang="en-US"/>
          </a:p>
        </p:txBody>
      </p:sp>
      <p:sp>
        <p:nvSpPr>
          <p:cNvPr id="4" name="Shape 2"/>
          <p:cNvSpPr/>
          <p:nvPr/>
        </p:nvSpPr>
        <p:spPr>
          <a:xfrm>
            <a:off x="11301984" y="626364"/>
            <a:ext cx="137160" cy="137160"/>
          </a:xfrm>
          <a:prstGeom prst="roundRect">
            <a:avLst>
              <a:gd name="adj" fmla="val 13333"/>
            </a:avLst>
          </a:prstGeom>
          <a:solidFill>
            <a:srgbClr val="8CA3AD"/>
          </a:solidFill>
          <a:ln w="12700">
            <a:solidFill>
              <a:srgbClr val="333333"/>
            </a:solidFill>
            <a:prstDash val="solid"/>
          </a:ln>
        </p:spPr>
        <p:txBody>
          <a:bodyPr/>
          <a:lstStyle/>
          <a:p>
            <a:endParaRPr lang="en-US"/>
          </a:p>
        </p:txBody>
      </p:sp>
      <p:sp>
        <p:nvSpPr>
          <p:cNvPr id="5" name="Shape 3"/>
          <p:cNvSpPr/>
          <p:nvPr/>
        </p:nvSpPr>
        <p:spPr>
          <a:xfrm>
            <a:off x="11471148" y="626364"/>
            <a:ext cx="137160" cy="137160"/>
          </a:xfrm>
          <a:prstGeom prst="roundRect">
            <a:avLst>
              <a:gd name="adj" fmla="val 13333"/>
            </a:avLst>
          </a:prstGeom>
          <a:solidFill>
            <a:srgbClr val="2F6B7C"/>
          </a:solidFill>
          <a:ln w="12700">
            <a:solidFill>
              <a:srgbClr val="333333"/>
            </a:solidFill>
            <a:prstDash val="solid"/>
          </a:ln>
        </p:spPr>
        <p:txBody>
          <a:bodyPr/>
          <a:lstStyle/>
          <a:p>
            <a:endParaRPr lang="en-US"/>
          </a:p>
        </p:txBody>
      </p:sp>
      <p:sp>
        <p:nvSpPr>
          <p:cNvPr id="6" name="Text 4"/>
          <p:cNvSpPr txBox="1"/>
          <p:nvPr/>
        </p:nvSpPr>
        <p:spPr>
          <a:xfrm>
            <a:off x="548640" y="384048"/>
            <a:ext cx="10424160" cy="566928"/>
          </a:xfrm>
          <a:prstGeom prst="rect">
            <a:avLst/>
          </a:prstGeom>
          <a:noFill/>
          <a:ln/>
        </p:spPr>
        <p:txBody>
          <a:bodyPr wrap="square" lIns="0" tIns="0" rIns="0" bIns="0" rtlCol="0" anchor="t"/>
          <a:lstStyle/>
          <a:p>
            <a:pPr marL="0" indent="0">
              <a:buNone/>
            </a:pPr>
            <a:r>
              <a:rPr lang="en-US" sz="2900" b="1" dirty="0">
                <a:solidFill>
                  <a:srgbClr val="1A242C"/>
                </a:solidFill>
                <a:latin typeface="Cambria" pitchFamily="34" charset="0"/>
                <a:ea typeface="Cambria" pitchFamily="34" charset="-122"/>
                <a:cs typeface="Cambria" pitchFamily="34" charset="-120"/>
              </a:rPr>
              <a:t>Why not crowdsourcing</a:t>
            </a:r>
            <a:endParaRPr lang="en-US" sz="2900" dirty="0"/>
          </a:p>
        </p:txBody>
      </p:sp>
      <p:sp>
        <p:nvSpPr>
          <p:cNvPr id="7" name="Text 5"/>
          <p:cNvSpPr txBox="1"/>
          <p:nvPr/>
        </p:nvSpPr>
        <p:spPr>
          <a:xfrm>
            <a:off x="548640" y="969264"/>
            <a:ext cx="10424160" cy="329184"/>
          </a:xfrm>
          <a:prstGeom prst="rect">
            <a:avLst/>
          </a:prstGeom>
          <a:noFill/>
          <a:ln/>
        </p:spPr>
        <p:txBody>
          <a:bodyPr wrap="square" lIns="0" tIns="0" rIns="0" bIns="0" rtlCol="0" anchor="ctr"/>
          <a:lstStyle/>
          <a:p>
            <a:pPr marL="0" indent="0">
              <a:buNone/>
            </a:pPr>
            <a:r>
              <a:rPr lang="en-US" sz="1350" i="1" dirty="0">
                <a:solidFill>
                  <a:srgbClr val="5D6B75"/>
                </a:solidFill>
                <a:latin typeface="Calibri" pitchFamily="34" charset="0"/>
                <a:ea typeface="Calibri" pitchFamily="34" charset="-122"/>
                <a:cs typeface="Calibri" pitchFamily="34" charset="-120"/>
              </a:rPr>
              <a:t>The opposite decision to the one MSP-Podcast made</a:t>
            </a:r>
            <a:endParaRPr lang="en-US" sz="1350" dirty="0"/>
          </a:p>
        </p:txBody>
      </p:sp>
      <p:sp>
        <p:nvSpPr>
          <p:cNvPr id="8" name="Text 6"/>
          <p:cNvSpPr txBox="1"/>
          <p:nvPr/>
        </p:nvSpPr>
        <p:spPr>
          <a:xfrm>
            <a:off x="9326880" y="6382512"/>
            <a:ext cx="2313432" cy="274320"/>
          </a:xfrm>
          <a:prstGeom prst="rect">
            <a:avLst/>
          </a:prstGeom>
          <a:noFill/>
          <a:ln/>
        </p:spPr>
        <p:txBody>
          <a:bodyPr wrap="square" lIns="0" tIns="0" rIns="0" bIns="0" rtlCol="0" anchor="ctr"/>
          <a:lstStyle/>
          <a:p>
            <a:pPr marL="0" indent="0" algn="r">
              <a:buNone/>
            </a:pPr>
            <a:r>
              <a:rPr lang="en-US" sz="900" dirty="0">
                <a:solidFill>
                  <a:srgbClr val="9DACB4"/>
                </a:solidFill>
                <a:latin typeface="Calibri" pitchFamily="34" charset="0"/>
                <a:ea typeface="Calibri" pitchFamily="34" charset="-122"/>
                <a:cs typeface="Calibri" pitchFamily="34" charset="-120"/>
              </a:rPr>
              <a:t>AffectNet · Mollahosseini et al. 2019  |  12</a:t>
            </a:r>
            <a:endParaRPr lang="en-US" sz="900" dirty="0"/>
          </a:p>
        </p:txBody>
      </p:sp>
      <p:sp>
        <p:nvSpPr>
          <p:cNvPr id="9" name="Shape 7"/>
          <p:cNvSpPr/>
          <p:nvPr/>
        </p:nvSpPr>
        <p:spPr>
          <a:xfrm>
            <a:off x="566928" y="1600200"/>
            <a:ext cx="5440680" cy="2240280"/>
          </a:xfrm>
          <a:prstGeom prst="roundRect">
            <a:avLst>
              <a:gd name="adj" fmla="val 2449"/>
            </a:avLst>
          </a:prstGeom>
          <a:solidFill>
            <a:srgbClr val="F1F5F6"/>
          </a:solidFill>
          <a:ln w="12700">
            <a:solidFill>
              <a:srgbClr val="DDE6E9"/>
            </a:solidFill>
            <a:prstDash val="solid"/>
          </a:ln>
        </p:spPr>
        <p:txBody>
          <a:bodyPr/>
          <a:lstStyle/>
          <a:p>
            <a:endParaRPr lang="en-US"/>
          </a:p>
        </p:txBody>
      </p:sp>
      <p:sp>
        <p:nvSpPr>
          <p:cNvPr id="10" name="Shape 8"/>
          <p:cNvSpPr/>
          <p:nvPr/>
        </p:nvSpPr>
        <p:spPr>
          <a:xfrm>
            <a:off x="786384" y="1892808"/>
            <a:ext cx="109728" cy="109728"/>
          </a:xfrm>
          <a:prstGeom prst="ellipse">
            <a:avLst/>
          </a:prstGeom>
          <a:solidFill>
            <a:srgbClr val="2F6B7C"/>
          </a:solidFill>
          <a:ln w="12700">
            <a:solidFill>
              <a:srgbClr val="333333"/>
            </a:solidFill>
            <a:prstDash val="solid"/>
          </a:ln>
        </p:spPr>
        <p:txBody>
          <a:bodyPr/>
          <a:lstStyle/>
          <a:p>
            <a:endParaRPr lang="en-US"/>
          </a:p>
        </p:txBody>
      </p:sp>
      <p:sp>
        <p:nvSpPr>
          <p:cNvPr id="11" name="Text 9"/>
          <p:cNvSpPr txBox="1"/>
          <p:nvPr/>
        </p:nvSpPr>
        <p:spPr>
          <a:xfrm>
            <a:off x="987552" y="1764792"/>
            <a:ext cx="4800600" cy="365760"/>
          </a:xfrm>
          <a:prstGeom prst="rect">
            <a:avLst/>
          </a:prstGeom>
          <a:noFill/>
          <a:ln/>
        </p:spPr>
        <p:txBody>
          <a:bodyPr wrap="square" lIns="0" tIns="0" rIns="0" bIns="0" rtlCol="0" anchor="ctr"/>
          <a:lstStyle/>
          <a:p>
            <a:pPr marL="0" indent="0">
              <a:buNone/>
            </a:pPr>
            <a:r>
              <a:rPr lang="en-US" sz="1500" b="1" dirty="0">
                <a:solidFill>
                  <a:srgbClr val="1A242C"/>
                </a:solidFill>
                <a:latin typeface="Cambria" pitchFamily="34" charset="0"/>
                <a:ea typeface="Cambria" pitchFamily="34" charset="-122"/>
                <a:cs typeface="Cambria" pitchFamily="34" charset="-120"/>
              </a:rPr>
              <a:t>The argument</a:t>
            </a:r>
            <a:endParaRPr lang="en-US" sz="1500" dirty="0"/>
          </a:p>
        </p:txBody>
      </p:sp>
      <p:sp>
        <p:nvSpPr>
          <p:cNvPr id="12" name="Text 10"/>
          <p:cNvSpPr txBox="1"/>
          <p:nvPr/>
        </p:nvSpPr>
        <p:spPr>
          <a:xfrm>
            <a:off x="822960" y="2203704"/>
            <a:ext cx="4928616" cy="1453896"/>
          </a:xfrm>
          <a:prstGeom prst="rect">
            <a:avLst/>
          </a:prstGeom>
          <a:noFill/>
          <a:ln/>
        </p:spPr>
        <p:txBody>
          <a:bodyPr wrap="square" lIns="0" tIns="0" rIns="0" bIns="0" rtlCol="0" anchor="t"/>
          <a:lstStyle/>
          <a:p>
            <a:pPr marL="0" indent="0">
              <a:lnSpc>
                <a:spcPct val="108000"/>
              </a:lnSpc>
              <a:buNone/>
            </a:pPr>
            <a:r>
              <a:rPr lang="en-US" sz="1280" dirty="0">
                <a:solidFill>
                  <a:srgbClr val="2E3A42"/>
                </a:solidFill>
                <a:latin typeface="Calibri" pitchFamily="34" charset="0"/>
                <a:ea typeface="Calibri" pitchFamily="34" charset="-122"/>
                <a:cs typeface="Calibri" pitchFamily="34" charset="-120"/>
              </a:rPr>
              <a:t>Crowdsourcing is fast and cheap, but label quality varies considerably between annotators — and annotating valence and arousal requires a real understanding of the concepts.</a:t>
            </a:r>
            <a:endParaRPr lang="en-US" sz="1280" dirty="0"/>
          </a:p>
          <a:p>
            <a:pPr marL="0" indent="0">
              <a:lnSpc>
                <a:spcPct val="108000"/>
              </a:lnSpc>
              <a:buNone/>
            </a:pPr>
            <a:endParaRPr lang="en-US" sz="1280" dirty="0"/>
          </a:p>
          <a:p>
            <a:pPr marL="0" indent="0">
              <a:lnSpc>
                <a:spcPct val="108000"/>
              </a:lnSpc>
              <a:buNone/>
            </a:pPr>
            <a:r>
              <a:rPr lang="en-US" sz="1280" dirty="0">
                <a:solidFill>
                  <a:srgbClr val="2E3A42"/>
                </a:solidFill>
                <a:latin typeface="Calibri" pitchFamily="34" charset="0"/>
                <a:ea typeface="Calibri" pitchFamily="34" charset="-122"/>
                <a:cs typeface="Calibri" pitchFamily="34" charset="-120"/>
              </a:rPr>
              <a:t>So the team hired twelve full- and part-time annotators at their own university instead.</a:t>
            </a:r>
            <a:endParaRPr lang="en-US" sz="1280" dirty="0"/>
          </a:p>
        </p:txBody>
      </p:sp>
      <p:sp>
        <p:nvSpPr>
          <p:cNvPr id="13" name="Shape 11"/>
          <p:cNvSpPr/>
          <p:nvPr/>
        </p:nvSpPr>
        <p:spPr>
          <a:xfrm>
            <a:off x="6190488" y="1600200"/>
            <a:ext cx="5440680" cy="2240280"/>
          </a:xfrm>
          <a:prstGeom prst="roundRect">
            <a:avLst>
              <a:gd name="adj" fmla="val 2449"/>
            </a:avLst>
          </a:prstGeom>
          <a:solidFill>
            <a:srgbClr val="F1F5F6"/>
          </a:solidFill>
          <a:ln w="12700">
            <a:solidFill>
              <a:srgbClr val="DDE6E9"/>
            </a:solidFill>
            <a:prstDash val="solid"/>
          </a:ln>
        </p:spPr>
        <p:txBody>
          <a:bodyPr/>
          <a:lstStyle/>
          <a:p>
            <a:endParaRPr lang="en-US"/>
          </a:p>
        </p:txBody>
      </p:sp>
      <p:sp>
        <p:nvSpPr>
          <p:cNvPr id="14" name="Shape 12"/>
          <p:cNvSpPr/>
          <p:nvPr/>
        </p:nvSpPr>
        <p:spPr>
          <a:xfrm>
            <a:off x="6409944" y="1892808"/>
            <a:ext cx="109728" cy="109728"/>
          </a:xfrm>
          <a:prstGeom prst="ellipse">
            <a:avLst/>
          </a:prstGeom>
          <a:solidFill>
            <a:srgbClr val="D2603F"/>
          </a:solidFill>
          <a:ln w="12700">
            <a:solidFill>
              <a:srgbClr val="333333"/>
            </a:solidFill>
            <a:prstDash val="solid"/>
          </a:ln>
        </p:spPr>
        <p:txBody>
          <a:bodyPr/>
          <a:lstStyle/>
          <a:p>
            <a:endParaRPr lang="en-US"/>
          </a:p>
        </p:txBody>
      </p:sp>
      <p:sp>
        <p:nvSpPr>
          <p:cNvPr id="15" name="Text 13"/>
          <p:cNvSpPr txBox="1"/>
          <p:nvPr/>
        </p:nvSpPr>
        <p:spPr>
          <a:xfrm>
            <a:off x="6611112" y="1764792"/>
            <a:ext cx="4800600" cy="365760"/>
          </a:xfrm>
          <a:prstGeom prst="rect">
            <a:avLst/>
          </a:prstGeom>
          <a:noFill/>
          <a:ln/>
        </p:spPr>
        <p:txBody>
          <a:bodyPr wrap="square" lIns="0" tIns="0" rIns="0" bIns="0" rtlCol="0" anchor="ctr"/>
          <a:lstStyle/>
          <a:p>
            <a:pPr marL="0" indent="0">
              <a:buNone/>
            </a:pPr>
            <a:r>
              <a:rPr lang="en-US" sz="1500" b="1" dirty="0">
                <a:solidFill>
                  <a:srgbClr val="1A242C"/>
                </a:solidFill>
                <a:latin typeface="Cambria" pitchFamily="34" charset="0"/>
                <a:ea typeface="Cambria" pitchFamily="34" charset="-122"/>
                <a:cs typeface="Cambria" pitchFamily="34" charset="-120"/>
              </a:rPr>
              <a:t>How they were trained</a:t>
            </a:r>
            <a:endParaRPr lang="en-US" sz="1500" dirty="0"/>
          </a:p>
        </p:txBody>
      </p:sp>
      <p:sp>
        <p:nvSpPr>
          <p:cNvPr id="16" name="Text 14"/>
          <p:cNvSpPr txBox="1"/>
          <p:nvPr/>
        </p:nvSpPr>
        <p:spPr>
          <a:xfrm>
            <a:off x="6446520" y="2203704"/>
            <a:ext cx="4928616" cy="1453896"/>
          </a:xfrm>
          <a:prstGeom prst="rect">
            <a:avLst/>
          </a:prstGeom>
          <a:noFill/>
          <a:ln/>
        </p:spPr>
        <p:txBody>
          <a:bodyPr wrap="square" lIns="0" tIns="0" rIns="0" bIns="0" rtlCol="0" anchor="t"/>
          <a:lstStyle/>
          <a:p>
            <a:pPr marL="0" indent="0">
              <a:lnSpc>
                <a:spcPct val="108000"/>
              </a:lnSpc>
              <a:buNone/>
            </a:pPr>
            <a:r>
              <a:rPr lang="en-US" sz="1280" dirty="0">
                <a:solidFill>
                  <a:srgbClr val="2E3A42"/>
                </a:solidFill>
                <a:latin typeface="Calibri" pitchFamily="34" charset="0"/>
                <a:ea typeface="Calibri" pitchFamily="34" charset="-122"/>
                <a:cs typeface="Calibri" pitchFamily="34" charset="-120"/>
              </a:rPr>
              <a:t>A written tutorial covering both models of affect with worked examples, then three training sessions in which each annotator labelled 200 images and had their results reviewed with feedback.</a:t>
            </a:r>
            <a:endParaRPr lang="en-US" sz="1280" dirty="0"/>
          </a:p>
          <a:p>
            <a:pPr marL="0" indent="0">
              <a:lnSpc>
                <a:spcPct val="108000"/>
              </a:lnSpc>
              <a:buNone/>
            </a:pPr>
            <a:endParaRPr lang="en-US" sz="1280" dirty="0"/>
          </a:p>
          <a:p>
            <a:pPr marL="0" indent="0">
              <a:lnSpc>
                <a:spcPct val="108000"/>
              </a:lnSpc>
              <a:buNone/>
            </a:pPr>
            <a:r>
              <a:rPr lang="en-US" sz="1280" dirty="0">
                <a:solidFill>
                  <a:srgbClr val="2E3A42"/>
                </a:solidFill>
                <a:latin typeface="Calibri" pitchFamily="34" charset="0"/>
                <a:ea typeface="Calibri" pitchFamily="34" charset="-122"/>
                <a:cs typeface="Calibri" pitchFamily="34" charset="-120"/>
              </a:rPr>
              <a:t>Annotators were supervised throughout, with guidance provided whenever they were uncertain.</a:t>
            </a:r>
            <a:endParaRPr lang="en-US" sz="1280" dirty="0"/>
          </a:p>
        </p:txBody>
      </p:sp>
      <p:sp>
        <p:nvSpPr>
          <p:cNvPr id="17" name="Shape 15"/>
          <p:cNvSpPr/>
          <p:nvPr/>
        </p:nvSpPr>
        <p:spPr>
          <a:xfrm>
            <a:off x="566928" y="4041648"/>
            <a:ext cx="11064240" cy="2011680"/>
          </a:xfrm>
          <a:prstGeom prst="roundRect">
            <a:avLst>
              <a:gd name="adj" fmla="val 2727"/>
            </a:avLst>
          </a:prstGeom>
          <a:solidFill>
            <a:srgbClr val="24303A"/>
          </a:solidFill>
          <a:ln w="12700">
            <a:solidFill>
              <a:srgbClr val="24303A"/>
            </a:solidFill>
            <a:prstDash val="solid"/>
          </a:ln>
        </p:spPr>
        <p:txBody>
          <a:bodyPr/>
          <a:lstStyle/>
          <a:p>
            <a:endParaRPr lang="en-US"/>
          </a:p>
        </p:txBody>
      </p:sp>
      <p:sp>
        <p:nvSpPr>
          <p:cNvPr id="18" name="Shape 16"/>
          <p:cNvSpPr/>
          <p:nvPr/>
        </p:nvSpPr>
        <p:spPr>
          <a:xfrm>
            <a:off x="786384" y="4334256"/>
            <a:ext cx="109728" cy="109728"/>
          </a:xfrm>
          <a:prstGeom prst="ellipse">
            <a:avLst/>
          </a:prstGeom>
          <a:solidFill>
            <a:srgbClr val="D2603F"/>
          </a:solidFill>
          <a:ln w="12700">
            <a:solidFill>
              <a:srgbClr val="333333"/>
            </a:solidFill>
            <a:prstDash val="solid"/>
          </a:ln>
        </p:spPr>
        <p:txBody>
          <a:bodyPr/>
          <a:lstStyle/>
          <a:p>
            <a:endParaRPr lang="en-US"/>
          </a:p>
        </p:txBody>
      </p:sp>
      <p:sp>
        <p:nvSpPr>
          <p:cNvPr id="19" name="Text 17"/>
          <p:cNvSpPr txBox="1"/>
          <p:nvPr/>
        </p:nvSpPr>
        <p:spPr>
          <a:xfrm>
            <a:off x="987552" y="4206240"/>
            <a:ext cx="10424160" cy="365760"/>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And the price paid for it</a:t>
            </a:r>
            <a:endParaRPr lang="en-US" sz="1500" dirty="0"/>
          </a:p>
        </p:txBody>
      </p:sp>
      <p:sp>
        <p:nvSpPr>
          <p:cNvPr id="20" name="Text 18"/>
          <p:cNvSpPr txBox="1"/>
          <p:nvPr/>
        </p:nvSpPr>
        <p:spPr>
          <a:xfrm>
            <a:off x="822960" y="4645152"/>
            <a:ext cx="10552176" cy="1225296"/>
          </a:xfrm>
          <a:prstGeom prst="rect">
            <a:avLst/>
          </a:prstGeom>
          <a:noFill/>
          <a:ln/>
        </p:spPr>
        <p:txBody>
          <a:bodyPr wrap="square" lIns="0" tIns="0" rIns="0" bIns="0" rtlCol="0" anchor="t"/>
          <a:lstStyle/>
          <a:p>
            <a:pPr marL="0" indent="0">
              <a:lnSpc>
                <a:spcPct val="108000"/>
              </a:lnSpc>
              <a:buNone/>
            </a:pPr>
            <a:r>
              <a:rPr lang="en-US" sz="1300" dirty="0">
                <a:solidFill>
                  <a:srgbClr val="C6D6DC"/>
                </a:solidFill>
                <a:latin typeface="Calibri" pitchFamily="34" charset="0"/>
                <a:ea typeface="Calibri" pitchFamily="34" charset="-122"/>
                <a:cs typeface="Calibri" pitchFamily="34" charset="-120"/>
              </a:rPr>
              <a:t>Due to time and budget constraints, each image was annotated by one annotator. Only 36,000 of the 450,000 — eight percent — were seen by two.</a:t>
            </a:r>
            <a:endParaRPr lang="en-US" sz="1300" dirty="0"/>
          </a:p>
          <a:p>
            <a:pPr marL="0" indent="0">
              <a:lnSpc>
                <a:spcPct val="108000"/>
              </a:lnSpc>
              <a:buNone/>
            </a:pPr>
            <a:endParaRPr lang="en-US" sz="1300" dirty="0"/>
          </a:p>
          <a:p>
            <a:pPr marL="0" indent="0">
              <a:lnSpc>
                <a:spcPct val="108000"/>
              </a:lnSpc>
              <a:buNone/>
            </a:pPr>
            <a:r>
              <a:rPr lang="en-US" sz="1300" dirty="0">
                <a:solidFill>
                  <a:srgbClr val="C6D6DC"/>
                </a:solidFill>
                <a:latin typeface="Calibri" pitchFamily="34" charset="0"/>
                <a:ea typeface="Calibri" pitchFamily="34" charset="-122"/>
                <a:cs typeface="Calibri" pitchFamily="34" charset="-120"/>
              </a:rPr>
              <a:t>So for 92% of the database, the label is one trained person's judgement of one still image, with no second opinion and no way to detect a mistake. Compare MSP-Podcast: at least five raters per segment, with the disagreement itself recorded.</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301984" y="457200"/>
            <a:ext cx="137160" cy="137160"/>
          </a:xfrm>
          <a:prstGeom prst="roundRect">
            <a:avLst>
              <a:gd name="adj" fmla="val 13333"/>
            </a:avLst>
          </a:prstGeom>
          <a:solidFill>
            <a:srgbClr val="2F6B7C"/>
          </a:solidFill>
          <a:ln w="12700">
            <a:solidFill>
              <a:srgbClr val="333333"/>
            </a:solidFill>
            <a:prstDash val="solid"/>
          </a:ln>
        </p:spPr>
        <p:txBody>
          <a:bodyPr/>
          <a:lstStyle/>
          <a:p>
            <a:endParaRPr lang="en-US"/>
          </a:p>
        </p:txBody>
      </p:sp>
      <p:sp>
        <p:nvSpPr>
          <p:cNvPr id="3" name="Shape 1"/>
          <p:cNvSpPr/>
          <p:nvPr/>
        </p:nvSpPr>
        <p:spPr>
          <a:xfrm>
            <a:off x="11471148" y="457200"/>
            <a:ext cx="137160" cy="137160"/>
          </a:xfrm>
          <a:prstGeom prst="roundRect">
            <a:avLst>
              <a:gd name="adj" fmla="val 13333"/>
            </a:avLst>
          </a:prstGeom>
          <a:solidFill>
            <a:srgbClr val="D2603F"/>
          </a:solidFill>
          <a:ln w="12700">
            <a:solidFill>
              <a:srgbClr val="333333"/>
            </a:solidFill>
            <a:prstDash val="solid"/>
          </a:ln>
        </p:spPr>
        <p:txBody>
          <a:bodyPr/>
          <a:lstStyle/>
          <a:p>
            <a:endParaRPr lang="en-US"/>
          </a:p>
        </p:txBody>
      </p:sp>
      <p:sp>
        <p:nvSpPr>
          <p:cNvPr id="4" name="Shape 2"/>
          <p:cNvSpPr/>
          <p:nvPr/>
        </p:nvSpPr>
        <p:spPr>
          <a:xfrm>
            <a:off x="11301984" y="626364"/>
            <a:ext cx="137160" cy="137160"/>
          </a:xfrm>
          <a:prstGeom prst="roundRect">
            <a:avLst>
              <a:gd name="adj" fmla="val 13333"/>
            </a:avLst>
          </a:prstGeom>
          <a:solidFill>
            <a:srgbClr val="8CA3AD"/>
          </a:solidFill>
          <a:ln w="12700">
            <a:solidFill>
              <a:srgbClr val="333333"/>
            </a:solidFill>
            <a:prstDash val="solid"/>
          </a:ln>
        </p:spPr>
        <p:txBody>
          <a:bodyPr/>
          <a:lstStyle/>
          <a:p>
            <a:endParaRPr lang="en-US"/>
          </a:p>
        </p:txBody>
      </p:sp>
      <p:sp>
        <p:nvSpPr>
          <p:cNvPr id="5" name="Shape 3"/>
          <p:cNvSpPr/>
          <p:nvPr/>
        </p:nvSpPr>
        <p:spPr>
          <a:xfrm>
            <a:off x="11471148" y="626364"/>
            <a:ext cx="137160" cy="137160"/>
          </a:xfrm>
          <a:prstGeom prst="roundRect">
            <a:avLst>
              <a:gd name="adj" fmla="val 13333"/>
            </a:avLst>
          </a:prstGeom>
          <a:solidFill>
            <a:srgbClr val="2F6B7C"/>
          </a:solidFill>
          <a:ln w="12700">
            <a:solidFill>
              <a:srgbClr val="333333"/>
            </a:solidFill>
            <a:prstDash val="solid"/>
          </a:ln>
        </p:spPr>
        <p:txBody>
          <a:bodyPr/>
          <a:lstStyle/>
          <a:p>
            <a:endParaRPr lang="en-US"/>
          </a:p>
        </p:txBody>
      </p:sp>
      <p:sp>
        <p:nvSpPr>
          <p:cNvPr id="6" name="Text 4"/>
          <p:cNvSpPr txBox="1"/>
          <p:nvPr/>
        </p:nvSpPr>
        <p:spPr>
          <a:xfrm>
            <a:off x="548640" y="384048"/>
            <a:ext cx="10424160" cy="566928"/>
          </a:xfrm>
          <a:prstGeom prst="rect">
            <a:avLst/>
          </a:prstGeom>
          <a:noFill/>
          <a:ln/>
        </p:spPr>
        <p:txBody>
          <a:bodyPr wrap="square" lIns="0" tIns="0" rIns="0" bIns="0" rtlCol="0" anchor="t"/>
          <a:lstStyle/>
          <a:p>
            <a:pPr marL="0" indent="0">
              <a:buNone/>
            </a:pPr>
            <a:r>
              <a:rPr lang="en-US" sz="2900" b="1" dirty="0">
                <a:solidFill>
                  <a:srgbClr val="1A242C"/>
                </a:solidFill>
                <a:latin typeface="Cambria" pitchFamily="34" charset="0"/>
                <a:ea typeface="Cambria" pitchFamily="34" charset="-122"/>
                <a:cs typeface="Cambria" pitchFamily="34" charset="-120"/>
              </a:rPr>
              <a:t>Eleven categories</a:t>
            </a:r>
            <a:endParaRPr lang="en-US" sz="2900" dirty="0"/>
          </a:p>
        </p:txBody>
      </p:sp>
      <p:sp>
        <p:nvSpPr>
          <p:cNvPr id="7" name="Text 5"/>
          <p:cNvSpPr txBox="1"/>
          <p:nvPr/>
        </p:nvSpPr>
        <p:spPr>
          <a:xfrm>
            <a:off x="548640" y="969264"/>
            <a:ext cx="10424160" cy="329184"/>
          </a:xfrm>
          <a:prstGeom prst="rect">
            <a:avLst/>
          </a:prstGeom>
          <a:noFill/>
          <a:ln/>
        </p:spPr>
        <p:txBody>
          <a:bodyPr wrap="square" lIns="0" tIns="0" rIns="0" bIns="0" rtlCol="0" anchor="ctr"/>
          <a:lstStyle/>
          <a:p>
            <a:pPr marL="0" indent="0">
              <a:buNone/>
            </a:pPr>
            <a:r>
              <a:rPr lang="en-US" sz="1350" i="1" dirty="0">
                <a:solidFill>
                  <a:srgbClr val="5D6B75"/>
                </a:solidFill>
                <a:latin typeface="Calibri" pitchFamily="34" charset="0"/>
                <a:ea typeface="Calibri" pitchFamily="34" charset="-122"/>
                <a:cs typeface="Calibri" pitchFamily="34" charset="-120"/>
              </a:rPr>
              <a:t>Three of which are not emotions</a:t>
            </a:r>
            <a:endParaRPr lang="en-US" sz="1350" dirty="0"/>
          </a:p>
        </p:txBody>
      </p:sp>
      <p:sp>
        <p:nvSpPr>
          <p:cNvPr id="8" name="Text 6"/>
          <p:cNvSpPr txBox="1"/>
          <p:nvPr/>
        </p:nvSpPr>
        <p:spPr>
          <a:xfrm>
            <a:off x="9326880" y="6382512"/>
            <a:ext cx="2313432" cy="274320"/>
          </a:xfrm>
          <a:prstGeom prst="rect">
            <a:avLst/>
          </a:prstGeom>
          <a:noFill/>
          <a:ln/>
        </p:spPr>
        <p:txBody>
          <a:bodyPr wrap="square" lIns="0" tIns="0" rIns="0" bIns="0" rtlCol="0" anchor="ctr"/>
          <a:lstStyle/>
          <a:p>
            <a:pPr marL="0" indent="0" algn="r">
              <a:buNone/>
            </a:pPr>
            <a:r>
              <a:rPr lang="en-US" sz="900" dirty="0">
                <a:solidFill>
                  <a:srgbClr val="9DACB4"/>
                </a:solidFill>
                <a:latin typeface="Calibri" pitchFamily="34" charset="0"/>
                <a:ea typeface="Calibri" pitchFamily="34" charset="-122"/>
                <a:cs typeface="Calibri" pitchFamily="34" charset="-120"/>
              </a:rPr>
              <a:t>AffectNet · Mollahosseini et al. 2019  |  13</a:t>
            </a:r>
            <a:endParaRPr lang="en-US" sz="900" dirty="0"/>
          </a:p>
        </p:txBody>
      </p:sp>
      <p:graphicFrame>
        <p:nvGraphicFramePr>
          <p:cNvPr id="9" name="Chart 0"/>
          <p:cNvGraphicFramePr/>
          <p:nvPr/>
        </p:nvGraphicFramePr>
        <p:xfrm>
          <a:off x="566928" y="1554480"/>
          <a:ext cx="6675120" cy="3611880"/>
        </p:xfrm>
        <a:graphic>
          <a:graphicData uri="http://schemas.openxmlformats.org/drawingml/2006/chart">
            <c:chart xmlns:c="http://schemas.openxmlformats.org/drawingml/2006/chart" xmlns:r="http://schemas.openxmlformats.org/officeDocument/2006/relationships" r:id="rId3"/>
          </a:graphicData>
        </a:graphic>
      </p:graphicFrame>
      <p:sp>
        <p:nvSpPr>
          <p:cNvPr id="10" name="Text 7"/>
          <p:cNvSpPr txBox="1"/>
          <p:nvPr/>
        </p:nvSpPr>
        <p:spPr>
          <a:xfrm>
            <a:off x="7498080" y="1700784"/>
            <a:ext cx="4133088" cy="3383280"/>
          </a:xfrm>
          <a:prstGeom prst="rect">
            <a:avLst/>
          </a:prstGeom>
          <a:noFill/>
          <a:ln/>
        </p:spPr>
        <p:txBody>
          <a:bodyPr wrap="square" lIns="0" tIns="0" rIns="0" bIns="0" rtlCol="0" anchor="t"/>
          <a:lstStyle/>
          <a:p>
            <a:pPr marL="342900" indent="-342900">
              <a:spcAft>
                <a:spcPts val="800"/>
              </a:spcAft>
              <a:buSzPct val="100000"/>
              <a:buChar char="●"/>
            </a:pPr>
            <a:r>
              <a:rPr lang="en-US" sz="1220" dirty="0">
                <a:solidFill>
                  <a:srgbClr val="2E3A42"/>
                </a:solidFill>
                <a:latin typeface="Calibri" pitchFamily="34" charset="0"/>
                <a:ea typeface="Calibri" pitchFamily="34" charset="-122"/>
                <a:cs typeface="Calibri" pitchFamily="34" charset="-120"/>
              </a:rPr>
              <a:t>None means an expression that is real but fits no listed category — sleepy, bored, focused, ashamed. Valence and arousal are still assigned.</a:t>
            </a:r>
            <a:endParaRPr lang="en-US" sz="1220" dirty="0"/>
          </a:p>
          <a:p>
            <a:pPr marL="342900" indent="-342900">
              <a:spcAft>
                <a:spcPts val="800"/>
              </a:spcAft>
              <a:buSzPct val="100000"/>
              <a:buChar char="●"/>
            </a:pPr>
            <a:r>
              <a:rPr lang="en-US" sz="1220" dirty="0">
                <a:solidFill>
                  <a:srgbClr val="2E3A42"/>
                </a:solidFill>
                <a:latin typeface="Calibri" pitchFamily="34" charset="0"/>
                <a:ea typeface="Calibri" pitchFamily="34" charset="-122"/>
                <a:cs typeface="Calibri" pitchFamily="34" charset="-120"/>
              </a:rPr>
              <a:t>Uncertain means the annotator could not decide. No valence or arousal is assigned.</a:t>
            </a:r>
            <a:endParaRPr lang="en-US" sz="1220" dirty="0"/>
          </a:p>
          <a:p>
            <a:pPr marL="342900" indent="-342900">
              <a:spcAft>
                <a:spcPts val="800"/>
              </a:spcAft>
              <a:buSzPct val="100000"/>
              <a:buChar char="●"/>
            </a:pPr>
            <a:r>
              <a:rPr lang="en-US" sz="1220" dirty="0">
                <a:solidFill>
                  <a:srgbClr val="2E3A42"/>
                </a:solidFill>
                <a:latin typeface="Calibri" pitchFamily="34" charset="0"/>
                <a:ea typeface="Calibri" pitchFamily="34" charset="-122"/>
                <a:cs typeface="Calibri" pitchFamily="34" charset="-120"/>
              </a:rPr>
              <a:t>Non-Face covers five distinct problems: no face present, a watermark over the face, a failed bounding box, a drawing or painting, or a distorted face.</a:t>
            </a:r>
            <a:endParaRPr lang="en-US" sz="1220" dirty="0"/>
          </a:p>
          <a:p>
            <a:pPr marL="342900" indent="-342900">
              <a:spcAft>
                <a:spcPts val="800"/>
              </a:spcAft>
              <a:buSzPct val="100000"/>
              <a:buChar char="●"/>
            </a:pPr>
            <a:r>
              <a:rPr lang="en-US" sz="1220" dirty="0">
                <a:solidFill>
                  <a:srgbClr val="2E3A42"/>
                </a:solidFill>
                <a:latin typeface="Calibri" pitchFamily="34" charset="0"/>
                <a:ea typeface="Calibri" pitchFamily="34" charset="-122"/>
                <a:cs typeface="Calibri" pitchFamily="34" charset="-120"/>
              </a:rPr>
              <a:t>Happy alone is 146,198 images — more than sad, anger, surprise, fear, disgust and contempt combined.</a:t>
            </a:r>
            <a:endParaRPr lang="en-US" sz="1220" dirty="0"/>
          </a:p>
          <a:p>
            <a:pPr marL="342900" indent="-342900">
              <a:spcAft>
                <a:spcPts val="800"/>
              </a:spcAft>
              <a:buSzPct val="100000"/>
              <a:buChar char="●"/>
            </a:pPr>
            <a:r>
              <a:rPr lang="en-US" sz="1220" dirty="0">
                <a:solidFill>
                  <a:srgbClr val="2E3A42"/>
                </a:solidFill>
                <a:latin typeface="Calibri" pitchFamily="34" charset="0"/>
                <a:ea typeface="Calibri" pitchFamily="34" charset="-122"/>
                <a:cs typeface="Calibri" pitchFamily="34" charset="-120"/>
              </a:rPr>
              <a:t>Contempt and disgust have roughly 5,000 images each, a twenty-eight-fold imbalance against happy.</a:t>
            </a:r>
            <a:endParaRPr lang="en-US" sz="1220" dirty="0"/>
          </a:p>
        </p:txBody>
      </p:sp>
      <p:sp>
        <p:nvSpPr>
          <p:cNvPr id="11" name="Shape 8"/>
          <p:cNvSpPr/>
          <p:nvPr/>
        </p:nvSpPr>
        <p:spPr>
          <a:xfrm>
            <a:off x="566928" y="5303520"/>
            <a:ext cx="11064240" cy="749808"/>
          </a:xfrm>
          <a:prstGeom prst="roundRect">
            <a:avLst>
              <a:gd name="adj" fmla="val 7317"/>
            </a:avLst>
          </a:prstGeom>
          <a:solidFill>
            <a:srgbClr val="24303A"/>
          </a:solidFill>
          <a:ln w="12700">
            <a:solidFill>
              <a:srgbClr val="24303A"/>
            </a:solidFill>
            <a:prstDash val="solid"/>
          </a:ln>
        </p:spPr>
        <p:txBody>
          <a:bodyPr/>
          <a:lstStyle/>
          <a:p>
            <a:endParaRPr lang="en-US"/>
          </a:p>
        </p:txBody>
      </p:sp>
      <p:sp>
        <p:nvSpPr>
          <p:cNvPr id="12" name="Text 9"/>
          <p:cNvSpPr txBox="1"/>
          <p:nvPr/>
        </p:nvSpPr>
        <p:spPr>
          <a:xfrm>
            <a:off x="822960" y="5522976"/>
            <a:ext cx="10552176" cy="329184"/>
          </a:xfrm>
          <a:prstGeom prst="rect">
            <a:avLst/>
          </a:prstGeom>
          <a:noFill/>
          <a:ln/>
        </p:spPr>
        <p:txBody>
          <a:bodyPr wrap="square" lIns="0" tIns="0" rIns="0" bIns="0" rtlCol="0" anchor="t"/>
          <a:lstStyle/>
          <a:p>
            <a:pPr marL="0" indent="0">
              <a:lnSpc>
                <a:spcPct val="108000"/>
              </a:lnSpc>
              <a:buNone/>
            </a:pPr>
            <a:r>
              <a:rPr lang="en-US" sz="1300" dirty="0">
                <a:solidFill>
                  <a:srgbClr val="C6D6DC"/>
                </a:solidFill>
                <a:latin typeface="Calibri" pitchFamily="34" charset="0"/>
                <a:ea typeface="Calibri" pitchFamily="34" charset="-122"/>
                <a:cs typeface="Calibri" pitchFamily="34" charset="-120"/>
              </a:rPr>
              <a:t>Nearly a fifth of everything annotated is Non-Face. That is the true cost of harvesting images from search engines, and it is paid in annotator time.</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301984" y="457200"/>
            <a:ext cx="137160" cy="137160"/>
          </a:xfrm>
          <a:prstGeom prst="roundRect">
            <a:avLst>
              <a:gd name="adj" fmla="val 13333"/>
            </a:avLst>
          </a:prstGeom>
          <a:solidFill>
            <a:srgbClr val="2F6B7C"/>
          </a:solidFill>
          <a:ln w="12700">
            <a:solidFill>
              <a:srgbClr val="333333"/>
            </a:solidFill>
            <a:prstDash val="solid"/>
          </a:ln>
        </p:spPr>
        <p:txBody>
          <a:bodyPr/>
          <a:lstStyle/>
          <a:p>
            <a:endParaRPr lang="en-US"/>
          </a:p>
        </p:txBody>
      </p:sp>
      <p:sp>
        <p:nvSpPr>
          <p:cNvPr id="3" name="Shape 1"/>
          <p:cNvSpPr/>
          <p:nvPr/>
        </p:nvSpPr>
        <p:spPr>
          <a:xfrm>
            <a:off x="11471148" y="457200"/>
            <a:ext cx="137160" cy="137160"/>
          </a:xfrm>
          <a:prstGeom prst="roundRect">
            <a:avLst>
              <a:gd name="adj" fmla="val 13333"/>
            </a:avLst>
          </a:prstGeom>
          <a:solidFill>
            <a:srgbClr val="D2603F"/>
          </a:solidFill>
          <a:ln w="12700">
            <a:solidFill>
              <a:srgbClr val="333333"/>
            </a:solidFill>
            <a:prstDash val="solid"/>
          </a:ln>
        </p:spPr>
        <p:txBody>
          <a:bodyPr/>
          <a:lstStyle/>
          <a:p>
            <a:endParaRPr lang="en-US"/>
          </a:p>
        </p:txBody>
      </p:sp>
      <p:sp>
        <p:nvSpPr>
          <p:cNvPr id="4" name="Shape 2"/>
          <p:cNvSpPr/>
          <p:nvPr/>
        </p:nvSpPr>
        <p:spPr>
          <a:xfrm>
            <a:off x="11301984" y="626364"/>
            <a:ext cx="137160" cy="137160"/>
          </a:xfrm>
          <a:prstGeom prst="roundRect">
            <a:avLst>
              <a:gd name="adj" fmla="val 13333"/>
            </a:avLst>
          </a:prstGeom>
          <a:solidFill>
            <a:srgbClr val="8CA3AD"/>
          </a:solidFill>
          <a:ln w="12700">
            <a:solidFill>
              <a:srgbClr val="333333"/>
            </a:solidFill>
            <a:prstDash val="solid"/>
          </a:ln>
        </p:spPr>
        <p:txBody>
          <a:bodyPr/>
          <a:lstStyle/>
          <a:p>
            <a:endParaRPr lang="en-US"/>
          </a:p>
        </p:txBody>
      </p:sp>
      <p:sp>
        <p:nvSpPr>
          <p:cNvPr id="5" name="Shape 3"/>
          <p:cNvSpPr/>
          <p:nvPr/>
        </p:nvSpPr>
        <p:spPr>
          <a:xfrm>
            <a:off x="11471148" y="626364"/>
            <a:ext cx="137160" cy="137160"/>
          </a:xfrm>
          <a:prstGeom prst="roundRect">
            <a:avLst>
              <a:gd name="adj" fmla="val 13333"/>
            </a:avLst>
          </a:prstGeom>
          <a:solidFill>
            <a:srgbClr val="2F6B7C"/>
          </a:solidFill>
          <a:ln w="12700">
            <a:solidFill>
              <a:srgbClr val="333333"/>
            </a:solidFill>
            <a:prstDash val="solid"/>
          </a:ln>
        </p:spPr>
        <p:txBody>
          <a:bodyPr/>
          <a:lstStyle/>
          <a:p>
            <a:endParaRPr lang="en-US"/>
          </a:p>
        </p:txBody>
      </p:sp>
      <p:sp>
        <p:nvSpPr>
          <p:cNvPr id="6" name="Text 4"/>
          <p:cNvSpPr txBox="1"/>
          <p:nvPr/>
        </p:nvSpPr>
        <p:spPr>
          <a:xfrm>
            <a:off x="548640" y="384048"/>
            <a:ext cx="10424160" cy="566928"/>
          </a:xfrm>
          <a:prstGeom prst="rect">
            <a:avLst/>
          </a:prstGeom>
          <a:noFill/>
          <a:ln/>
        </p:spPr>
        <p:txBody>
          <a:bodyPr wrap="square" lIns="0" tIns="0" rIns="0" bIns="0" rtlCol="0" anchor="t"/>
          <a:lstStyle/>
          <a:p>
            <a:pPr marL="0" indent="0">
              <a:buNone/>
            </a:pPr>
            <a:r>
              <a:rPr lang="en-US" sz="2900" b="1" dirty="0">
                <a:solidFill>
                  <a:srgbClr val="1A242C"/>
                </a:solidFill>
                <a:latin typeface="Cambria" pitchFamily="34" charset="0"/>
                <a:ea typeface="Cambria" pitchFamily="34" charset="-122"/>
                <a:cs typeface="Cambria" pitchFamily="34" charset="-120"/>
              </a:rPr>
              <a:t>Annotating valence and arousal</a:t>
            </a:r>
            <a:endParaRPr lang="en-US" sz="2900" dirty="0"/>
          </a:p>
        </p:txBody>
      </p:sp>
      <p:sp>
        <p:nvSpPr>
          <p:cNvPr id="7" name="Text 5"/>
          <p:cNvSpPr txBox="1"/>
          <p:nvPr/>
        </p:nvSpPr>
        <p:spPr>
          <a:xfrm>
            <a:off x="548640" y="969264"/>
            <a:ext cx="10424160" cy="329184"/>
          </a:xfrm>
          <a:prstGeom prst="rect">
            <a:avLst/>
          </a:prstGeom>
          <a:noFill/>
          <a:ln/>
        </p:spPr>
        <p:txBody>
          <a:bodyPr wrap="square" lIns="0" tIns="0" rIns="0" bIns="0" rtlCol="0" anchor="ctr"/>
          <a:lstStyle/>
          <a:p>
            <a:pPr marL="0" indent="0">
              <a:buNone/>
            </a:pPr>
            <a:r>
              <a:rPr lang="en-US" sz="1350" i="1" dirty="0">
                <a:solidFill>
                  <a:srgbClr val="5D6B75"/>
                </a:solidFill>
                <a:latin typeface="Calibri" pitchFamily="34" charset="0"/>
                <a:ea typeface="Calibri" pitchFamily="34" charset="-122"/>
                <a:cs typeface="Calibri" pitchFamily="34" charset="-120"/>
              </a:rPr>
              <a:t>A circumplex interface, with one questionable guardrail</a:t>
            </a:r>
            <a:endParaRPr lang="en-US" sz="1350" dirty="0"/>
          </a:p>
        </p:txBody>
      </p:sp>
      <p:sp>
        <p:nvSpPr>
          <p:cNvPr id="8" name="Text 6"/>
          <p:cNvSpPr txBox="1"/>
          <p:nvPr/>
        </p:nvSpPr>
        <p:spPr>
          <a:xfrm>
            <a:off x="9326880" y="6382512"/>
            <a:ext cx="2313432" cy="274320"/>
          </a:xfrm>
          <a:prstGeom prst="rect">
            <a:avLst/>
          </a:prstGeom>
          <a:noFill/>
          <a:ln/>
        </p:spPr>
        <p:txBody>
          <a:bodyPr wrap="square" lIns="0" tIns="0" rIns="0" bIns="0" rtlCol="0" anchor="ctr"/>
          <a:lstStyle/>
          <a:p>
            <a:pPr marL="0" indent="0" algn="r">
              <a:buNone/>
            </a:pPr>
            <a:r>
              <a:rPr lang="en-US" sz="900" dirty="0">
                <a:solidFill>
                  <a:srgbClr val="9DACB4"/>
                </a:solidFill>
                <a:latin typeface="Calibri" pitchFamily="34" charset="0"/>
                <a:ea typeface="Calibri" pitchFamily="34" charset="-122"/>
                <a:cs typeface="Calibri" pitchFamily="34" charset="-120"/>
              </a:rPr>
              <a:t>AffectNet · Mollahosseini et al. 2019  |  14</a:t>
            </a:r>
            <a:endParaRPr lang="en-US" sz="900" dirty="0"/>
          </a:p>
        </p:txBody>
      </p:sp>
      <p:sp>
        <p:nvSpPr>
          <p:cNvPr id="9" name="Shape 7"/>
          <p:cNvSpPr/>
          <p:nvPr/>
        </p:nvSpPr>
        <p:spPr>
          <a:xfrm>
            <a:off x="566928" y="1572768"/>
            <a:ext cx="5440680" cy="2286000"/>
          </a:xfrm>
          <a:prstGeom prst="roundRect">
            <a:avLst>
              <a:gd name="adj" fmla="val 2400"/>
            </a:avLst>
          </a:prstGeom>
          <a:solidFill>
            <a:srgbClr val="F1F5F6"/>
          </a:solidFill>
          <a:ln w="12700">
            <a:solidFill>
              <a:srgbClr val="DDE6E9"/>
            </a:solidFill>
            <a:prstDash val="solid"/>
          </a:ln>
        </p:spPr>
        <p:txBody>
          <a:bodyPr/>
          <a:lstStyle/>
          <a:p>
            <a:endParaRPr lang="en-US"/>
          </a:p>
        </p:txBody>
      </p:sp>
      <p:sp>
        <p:nvSpPr>
          <p:cNvPr id="10" name="Shape 8"/>
          <p:cNvSpPr/>
          <p:nvPr/>
        </p:nvSpPr>
        <p:spPr>
          <a:xfrm>
            <a:off x="786384" y="1865376"/>
            <a:ext cx="109728" cy="109728"/>
          </a:xfrm>
          <a:prstGeom prst="ellipse">
            <a:avLst/>
          </a:prstGeom>
          <a:solidFill>
            <a:srgbClr val="2F6B7C"/>
          </a:solidFill>
          <a:ln w="12700">
            <a:solidFill>
              <a:srgbClr val="333333"/>
            </a:solidFill>
            <a:prstDash val="solid"/>
          </a:ln>
        </p:spPr>
        <p:txBody>
          <a:bodyPr/>
          <a:lstStyle/>
          <a:p>
            <a:endParaRPr lang="en-US"/>
          </a:p>
        </p:txBody>
      </p:sp>
      <p:sp>
        <p:nvSpPr>
          <p:cNvPr id="11" name="Text 9"/>
          <p:cNvSpPr txBox="1"/>
          <p:nvPr/>
        </p:nvSpPr>
        <p:spPr>
          <a:xfrm>
            <a:off x="987552" y="1737360"/>
            <a:ext cx="4800600" cy="365760"/>
          </a:xfrm>
          <a:prstGeom prst="rect">
            <a:avLst/>
          </a:prstGeom>
          <a:noFill/>
          <a:ln/>
        </p:spPr>
        <p:txBody>
          <a:bodyPr wrap="square" lIns="0" tIns="0" rIns="0" bIns="0" rtlCol="0" anchor="ctr"/>
          <a:lstStyle/>
          <a:p>
            <a:pPr marL="0" indent="0">
              <a:buNone/>
            </a:pPr>
            <a:r>
              <a:rPr lang="en-US" sz="1500" b="1" dirty="0">
                <a:solidFill>
                  <a:srgbClr val="1A242C"/>
                </a:solidFill>
                <a:latin typeface="Cambria" pitchFamily="34" charset="0"/>
                <a:ea typeface="Cambria" pitchFamily="34" charset="-122"/>
                <a:cs typeface="Cambria" pitchFamily="34" charset="-120"/>
              </a:rPr>
              <a:t>The interface</a:t>
            </a:r>
            <a:endParaRPr lang="en-US" sz="1500" dirty="0"/>
          </a:p>
        </p:txBody>
      </p:sp>
      <p:sp>
        <p:nvSpPr>
          <p:cNvPr id="12" name="Text 10"/>
          <p:cNvSpPr txBox="1"/>
          <p:nvPr/>
        </p:nvSpPr>
        <p:spPr>
          <a:xfrm>
            <a:off x="822960" y="2176272"/>
            <a:ext cx="4928616" cy="1499616"/>
          </a:xfrm>
          <a:prstGeom prst="rect">
            <a:avLst/>
          </a:prstGeom>
          <a:noFill/>
          <a:ln/>
        </p:spPr>
        <p:txBody>
          <a:bodyPr wrap="square" lIns="0" tIns="0" rIns="0" bIns="0" rtlCol="0" anchor="t"/>
          <a:lstStyle/>
          <a:p>
            <a:pPr marL="0" indent="0">
              <a:lnSpc>
                <a:spcPct val="108000"/>
              </a:lnSpc>
              <a:buNone/>
            </a:pPr>
            <a:r>
              <a:rPr lang="en-US" sz="1260" dirty="0">
                <a:solidFill>
                  <a:srgbClr val="2E3A42"/>
                </a:solidFill>
                <a:latin typeface="Calibri" pitchFamily="34" charset="0"/>
                <a:ea typeface="Calibri" pitchFamily="34" charset="-122"/>
                <a:cs typeface="Calibri" pitchFamily="34" charset="-120"/>
              </a:rPr>
              <a:t>Annotators click a point inside a circumplex; the software will not accept points outside it, so every annotation has a radius between 0 and 1.</a:t>
            </a:r>
            <a:endParaRPr lang="en-US" sz="1260" dirty="0"/>
          </a:p>
          <a:p>
            <a:pPr marL="0" indent="0">
              <a:lnSpc>
                <a:spcPct val="108000"/>
              </a:lnSpc>
              <a:buNone/>
            </a:pPr>
            <a:endParaRPr lang="en-US" sz="1260" dirty="0"/>
          </a:p>
          <a:p>
            <a:pPr marL="0" indent="0">
              <a:lnSpc>
                <a:spcPct val="108000"/>
              </a:lnSpc>
              <a:buNone/>
            </a:pPr>
            <a:r>
              <a:rPr lang="en-US" sz="1260" dirty="0">
                <a:solidFill>
                  <a:srgbClr val="2E3A42"/>
                </a:solidFill>
                <a:latin typeface="Calibri" pitchFamily="34" charset="0"/>
                <a:ea typeface="Calibri" pitchFamily="34" charset="-122"/>
                <a:cs typeface="Calibri" pitchFamily="34" charset="-120"/>
              </a:rPr>
              <a:t>The numeric valence and arousal values are displayed as the annotator moves, which the paper says helped them place points precisely and with more confidence.</a:t>
            </a:r>
            <a:endParaRPr lang="en-US" sz="1260" dirty="0"/>
          </a:p>
        </p:txBody>
      </p:sp>
      <p:sp>
        <p:nvSpPr>
          <p:cNvPr id="13" name="Shape 11"/>
          <p:cNvSpPr/>
          <p:nvPr/>
        </p:nvSpPr>
        <p:spPr>
          <a:xfrm>
            <a:off x="6190488" y="1572768"/>
            <a:ext cx="5440680" cy="2286000"/>
          </a:xfrm>
          <a:prstGeom prst="roundRect">
            <a:avLst>
              <a:gd name="adj" fmla="val 2400"/>
            </a:avLst>
          </a:prstGeom>
          <a:solidFill>
            <a:srgbClr val="F1F5F6"/>
          </a:solidFill>
          <a:ln w="12700">
            <a:solidFill>
              <a:srgbClr val="DDE6E9"/>
            </a:solidFill>
            <a:prstDash val="solid"/>
          </a:ln>
        </p:spPr>
        <p:txBody>
          <a:bodyPr/>
          <a:lstStyle/>
          <a:p>
            <a:endParaRPr lang="en-US"/>
          </a:p>
        </p:txBody>
      </p:sp>
      <p:sp>
        <p:nvSpPr>
          <p:cNvPr id="14" name="Shape 12"/>
          <p:cNvSpPr/>
          <p:nvPr/>
        </p:nvSpPr>
        <p:spPr>
          <a:xfrm>
            <a:off x="6409944" y="1865376"/>
            <a:ext cx="109728" cy="109728"/>
          </a:xfrm>
          <a:prstGeom prst="ellipse">
            <a:avLst/>
          </a:prstGeom>
          <a:solidFill>
            <a:srgbClr val="D2603F"/>
          </a:solidFill>
          <a:ln w="12700">
            <a:solidFill>
              <a:srgbClr val="333333"/>
            </a:solidFill>
            <a:prstDash val="solid"/>
          </a:ln>
        </p:spPr>
        <p:txBody>
          <a:bodyPr/>
          <a:lstStyle/>
          <a:p>
            <a:endParaRPr lang="en-US"/>
          </a:p>
        </p:txBody>
      </p:sp>
      <p:sp>
        <p:nvSpPr>
          <p:cNvPr id="15" name="Text 13"/>
          <p:cNvSpPr txBox="1"/>
          <p:nvPr/>
        </p:nvSpPr>
        <p:spPr>
          <a:xfrm>
            <a:off x="6611112" y="1737360"/>
            <a:ext cx="4800600" cy="365760"/>
          </a:xfrm>
          <a:prstGeom prst="rect">
            <a:avLst/>
          </a:prstGeom>
          <a:noFill/>
          <a:ln/>
        </p:spPr>
        <p:txBody>
          <a:bodyPr wrap="square" lIns="0" tIns="0" rIns="0" bIns="0" rtlCol="0" anchor="ctr"/>
          <a:lstStyle/>
          <a:p>
            <a:pPr marL="0" indent="0">
              <a:buNone/>
            </a:pPr>
            <a:r>
              <a:rPr lang="en-US" sz="1500" b="1" dirty="0">
                <a:solidFill>
                  <a:srgbClr val="1A242C"/>
                </a:solidFill>
                <a:latin typeface="Cambria" pitchFamily="34" charset="0"/>
                <a:ea typeface="Cambria" pitchFamily="34" charset="-122"/>
                <a:cs typeface="Cambria" pitchFamily="34" charset="-120"/>
              </a:rPr>
              <a:t>The guardrail</a:t>
            </a:r>
            <a:endParaRPr lang="en-US" sz="1500" dirty="0"/>
          </a:p>
        </p:txBody>
      </p:sp>
      <p:sp>
        <p:nvSpPr>
          <p:cNvPr id="16" name="Text 14"/>
          <p:cNvSpPr txBox="1"/>
          <p:nvPr/>
        </p:nvSpPr>
        <p:spPr>
          <a:xfrm>
            <a:off x="6446520" y="2176272"/>
            <a:ext cx="4928616" cy="1499616"/>
          </a:xfrm>
          <a:prstGeom prst="rect">
            <a:avLst/>
          </a:prstGeom>
          <a:noFill/>
          <a:ln/>
        </p:spPr>
        <p:txBody>
          <a:bodyPr wrap="square" lIns="0" tIns="0" rIns="0" bIns="0" rtlCol="0" anchor="t"/>
          <a:lstStyle/>
          <a:p>
            <a:pPr marL="0" indent="0">
              <a:lnSpc>
                <a:spcPct val="108000"/>
              </a:lnSpc>
              <a:buNone/>
            </a:pPr>
            <a:r>
              <a:rPr lang="en-US" sz="1260" dirty="0">
                <a:solidFill>
                  <a:srgbClr val="2E3A42"/>
                </a:solidFill>
                <a:latin typeface="Calibri" pitchFamily="34" charset="0"/>
                <a:ea typeface="Calibri" pitchFamily="34" charset="-122"/>
                <a:cs typeface="Calibri" pitchFamily="34" charset="-120"/>
              </a:rPr>
              <a:t>Each emotion category has a predefined expected region in the plane — for happy, valence in (0, 1] and arousal in [-0.2, 0.5].</a:t>
            </a:r>
            <a:endParaRPr lang="en-US" sz="1260" dirty="0"/>
          </a:p>
          <a:p>
            <a:pPr marL="0" indent="0">
              <a:lnSpc>
                <a:spcPct val="108000"/>
              </a:lnSpc>
              <a:buNone/>
            </a:pPr>
            <a:endParaRPr lang="en-US" sz="1260" dirty="0"/>
          </a:p>
          <a:p>
            <a:pPr marL="0" indent="0">
              <a:lnSpc>
                <a:spcPct val="108000"/>
              </a:lnSpc>
              <a:buNone/>
            </a:pPr>
            <a:r>
              <a:rPr lang="en-US" sz="1260" dirty="0">
                <a:solidFill>
                  <a:srgbClr val="2E3A42"/>
                </a:solidFill>
                <a:latin typeface="Calibri" pitchFamily="34" charset="0"/>
                <a:ea typeface="Calibri" pitchFamily="34" charset="-122"/>
                <a:cs typeface="Calibri" pitchFamily="34" charset="-120"/>
              </a:rPr>
              <a:t>If an annotator places a point outside their chosen category's region, the software warns them. They may proceed, and the image is flagged for later review by the authors.</a:t>
            </a:r>
            <a:endParaRPr lang="en-US" sz="1260" dirty="0"/>
          </a:p>
        </p:txBody>
      </p:sp>
      <p:sp>
        <p:nvSpPr>
          <p:cNvPr id="17" name="Shape 15"/>
          <p:cNvSpPr/>
          <p:nvPr/>
        </p:nvSpPr>
        <p:spPr>
          <a:xfrm>
            <a:off x="566928" y="4059936"/>
            <a:ext cx="11064240" cy="1993392"/>
          </a:xfrm>
          <a:prstGeom prst="roundRect">
            <a:avLst>
              <a:gd name="adj" fmla="val 2752"/>
            </a:avLst>
          </a:prstGeom>
          <a:solidFill>
            <a:srgbClr val="24303A"/>
          </a:solidFill>
          <a:ln w="12700">
            <a:solidFill>
              <a:srgbClr val="24303A"/>
            </a:solidFill>
            <a:prstDash val="solid"/>
          </a:ln>
        </p:spPr>
        <p:txBody>
          <a:bodyPr/>
          <a:lstStyle/>
          <a:p>
            <a:endParaRPr lang="en-US"/>
          </a:p>
        </p:txBody>
      </p:sp>
      <p:sp>
        <p:nvSpPr>
          <p:cNvPr id="18" name="Shape 16"/>
          <p:cNvSpPr/>
          <p:nvPr/>
        </p:nvSpPr>
        <p:spPr>
          <a:xfrm>
            <a:off x="786384" y="4352544"/>
            <a:ext cx="109728" cy="109728"/>
          </a:xfrm>
          <a:prstGeom prst="ellipse">
            <a:avLst/>
          </a:prstGeom>
          <a:solidFill>
            <a:srgbClr val="D2603F"/>
          </a:solidFill>
          <a:ln w="12700">
            <a:solidFill>
              <a:srgbClr val="333333"/>
            </a:solidFill>
            <a:prstDash val="solid"/>
          </a:ln>
        </p:spPr>
        <p:txBody>
          <a:bodyPr/>
          <a:lstStyle/>
          <a:p>
            <a:endParaRPr lang="en-US"/>
          </a:p>
        </p:txBody>
      </p:sp>
      <p:sp>
        <p:nvSpPr>
          <p:cNvPr id="19" name="Text 17"/>
          <p:cNvSpPr txBox="1"/>
          <p:nvPr/>
        </p:nvSpPr>
        <p:spPr>
          <a:xfrm>
            <a:off x="987552" y="4224528"/>
            <a:ext cx="10424160" cy="365760"/>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Why the guardrail is worth arguing about</a:t>
            </a:r>
            <a:endParaRPr lang="en-US" sz="1500" dirty="0"/>
          </a:p>
        </p:txBody>
      </p:sp>
      <p:sp>
        <p:nvSpPr>
          <p:cNvPr id="20" name="Text 18"/>
          <p:cNvSpPr txBox="1"/>
          <p:nvPr/>
        </p:nvSpPr>
        <p:spPr>
          <a:xfrm>
            <a:off x="822960" y="4663440"/>
            <a:ext cx="10552176" cy="1207008"/>
          </a:xfrm>
          <a:prstGeom prst="rect">
            <a:avLst/>
          </a:prstGeom>
          <a:noFill/>
          <a:ln/>
        </p:spPr>
        <p:txBody>
          <a:bodyPr wrap="square" lIns="0" tIns="0" rIns="0" bIns="0" rtlCol="0" anchor="t"/>
          <a:lstStyle/>
          <a:p>
            <a:pPr marL="0" indent="0">
              <a:lnSpc>
                <a:spcPct val="108000"/>
              </a:lnSpc>
              <a:buNone/>
            </a:pPr>
            <a:r>
              <a:rPr lang="en-US" sz="1300" dirty="0">
                <a:solidFill>
                  <a:srgbClr val="C6D6DC"/>
                </a:solidFill>
                <a:latin typeface="Calibri" pitchFamily="34" charset="0"/>
                <a:ea typeface="Calibri" pitchFamily="34" charset="-122"/>
                <a:cs typeface="Calibri" pitchFamily="34" charset="-120"/>
              </a:rPr>
              <a:t>It is presented as an error-prevention device, and it plainly catches genuine mistakes. But it also softly enforces a prior relationship between the categorical and dimensional labels: an annotator who sees a low-arousal happy face is nudged toward a more typical rating.</a:t>
            </a:r>
            <a:endParaRPr lang="en-US" sz="1300" dirty="0"/>
          </a:p>
          <a:p>
            <a:pPr marL="0" indent="0">
              <a:lnSpc>
                <a:spcPct val="108000"/>
              </a:lnSpc>
              <a:buNone/>
            </a:pPr>
            <a:endParaRPr lang="en-US" sz="1300" dirty="0"/>
          </a:p>
          <a:p>
            <a:pPr marL="0" indent="0">
              <a:lnSpc>
                <a:spcPct val="108000"/>
              </a:lnSpc>
              <a:buNone/>
            </a:pPr>
            <a:r>
              <a:rPr lang="en-US" sz="1300" dirty="0">
                <a:solidFill>
                  <a:srgbClr val="C6D6DC"/>
                </a:solidFill>
                <a:latin typeface="Calibri" pitchFamily="34" charset="0"/>
                <a:ea typeface="Calibri" pitchFamily="34" charset="-122"/>
                <a:cs typeface="Calibri" pitchFamily="34" charset="-120"/>
              </a:rPr>
              <a:t>Any study using AffectNet to investigate how categories map onto the valence–arousal plane should know that the mapping was partly assumed by the annotation tool.</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301984" y="457200"/>
            <a:ext cx="137160" cy="137160"/>
          </a:xfrm>
          <a:prstGeom prst="roundRect">
            <a:avLst>
              <a:gd name="adj" fmla="val 13333"/>
            </a:avLst>
          </a:prstGeom>
          <a:solidFill>
            <a:srgbClr val="2F6B7C"/>
          </a:solidFill>
          <a:ln w="12700">
            <a:solidFill>
              <a:srgbClr val="333333"/>
            </a:solidFill>
            <a:prstDash val="solid"/>
          </a:ln>
        </p:spPr>
        <p:txBody>
          <a:bodyPr/>
          <a:lstStyle/>
          <a:p>
            <a:endParaRPr lang="en-US"/>
          </a:p>
        </p:txBody>
      </p:sp>
      <p:sp>
        <p:nvSpPr>
          <p:cNvPr id="3" name="Shape 1"/>
          <p:cNvSpPr/>
          <p:nvPr/>
        </p:nvSpPr>
        <p:spPr>
          <a:xfrm>
            <a:off x="11471148" y="457200"/>
            <a:ext cx="137160" cy="137160"/>
          </a:xfrm>
          <a:prstGeom prst="roundRect">
            <a:avLst>
              <a:gd name="adj" fmla="val 13333"/>
            </a:avLst>
          </a:prstGeom>
          <a:solidFill>
            <a:srgbClr val="D2603F"/>
          </a:solidFill>
          <a:ln w="12700">
            <a:solidFill>
              <a:srgbClr val="333333"/>
            </a:solidFill>
            <a:prstDash val="solid"/>
          </a:ln>
        </p:spPr>
        <p:txBody>
          <a:bodyPr/>
          <a:lstStyle/>
          <a:p>
            <a:endParaRPr lang="en-US"/>
          </a:p>
        </p:txBody>
      </p:sp>
      <p:sp>
        <p:nvSpPr>
          <p:cNvPr id="4" name="Shape 2"/>
          <p:cNvSpPr/>
          <p:nvPr/>
        </p:nvSpPr>
        <p:spPr>
          <a:xfrm>
            <a:off x="11301984" y="626364"/>
            <a:ext cx="137160" cy="137160"/>
          </a:xfrm>
          <a:prstGeom prst="roundRect">
            <a:avLst>
              <a:gd name="adj" fmla="val 13333"/>
            </a:avLst>
          </a:prstGeom>
          <a:solidFill>
            <a:srgbClr val="8CA3AD"/>
          </a:solidFill>
          <a:ln w="12700">
            <a:solidFill>
              <a:srgbClr val="333333"/>
            </a:solidFill>
            <a:prstDash val="solid"/>
          </a:ln>
        </p:spPr>
        <p:txBody>
          <a:bodyPr/>
          <a:lstStyle/>
          <a:p>
            <a:endParaRPr lang="en-US"/>
          </a:p>
        </p:txBody>
      </p:sp>
      <p:sp>
        <p:nvSpPr>
          <p:cNvPr id="5" name="Shape 3"/>
          <p:cNvSpPr/>
          <p:nvPr/>
        </p:nvSpPr>
        <p:spPr>
          <a:xfrm>
            <a:off x="11471148" y="626364"/>
            <a:ext cx="137160" cy="137160"/>
          </a:xfrm>
          <a:prstGeom prst="roundRect">
            <a:avLst>
              <a:gd name="adj" fmla="val 13333"/>
            </a:avLst>
          </a:prstGeom>
          <a:solidFill>
            <a:srgbClr val="2F6B7C"/>
          </a:solidFill>
          <a:ln w="12700">
            <a:solidFill>
              <a:srgbClr val="333333"/>
            </a:solidFill>
            <a:prstDash val="solid"/>
          </a:ln>
        </p:spPr>
        <p:txBody>
          <a:bodyPr/>
          <a:lstStyle/>
          <a:p>
            <a:endParaRPr lang="en-US"/>
          </a:p>
        </p:txBody>
      </p:sp>
      <p:sp>
        <p:nvSpPr>
          <p:cNvPr id="6" name="Text 4"/>
          <p:cNvSpPr txBox="1"/>
          <p:nvPr/>
        </p:nvSpPr>
        <p:spPr>
          <a:xfrm>
            <a:off x="548640" y="384048"/>
            <a:ext cx="10424160" cy="566928"/>
          </a:xfrm>
          <a:prstGeom prst="rect">
            <a:avLst/>
          </a:prstGeom>
          <a:noFill/>
          <a:ln/>
        </p:spPr>
        <p:txBody>
          <a:bodyPr wrap="square" lIns="0" tIns="0" rIns="0" bIns="0" rtlCol="0" anchor="t"/>
          <a:lstStyle/>
          <a:p>
            <a:pPr marL="0" indent="0">
              <a:buNone/>
            </a:pPr>
            <a:r>
              <a:rPr lang="en-US" sz="2900" b="1" dirty="0">
                <a:solidFill>
                  <a:srgbClr val="1A242C"/>
                </a:solidFill>
                <a:latin typeface="Cambria" pitchFamily="34" charset="0"/>
                <a:ea typeface="Cambria" pitchFamily="34" charset="-122"/>
                <a:cs typeface="Cambria" pitchFamily="34" charset="-120"/>
              </a:rPr>
              <a:t>Search queries do not return what you ask for</a:t>
            </a:r>
            <a:endParaRPr lang="en-US" sz="2900" dirty="0"/>
          </a:p>
        </p:txBody>
      </p:sp>
      <p:sp>
        <p:nvSpPr>
          <p:cNvPr id="7" name="Text 5"/>
          <p:cNvSpPr txBox="1"/>
          <p:nvPr/>
        </p:nvSpPr>
        <p:spPr>
          <a:xfrm>
            <a:off x="548640" y="969264"/>
            <a:ext cx="10424160" cy="329184"/>
          </a:xfrm>
          <a:prstGeom prst="rect">
            <a:avLst/>
          </a:prstGeom>
          <a:noFill/>
          <a:ln/>
        </p:spPr>
        <p:txBody>
          <a:bodyPr wrap="square" lIns="0" tIns="0" rIns="0" bIns="0" rtlCol="0" anchor="ctr"/>
          <a:lstStyle/>
          <a:p>
            <a:pPr marL="0" indent="0">
              <a:buNone/>
            </a:pPr>
            <a:r>
              <a:rPr lang="en-US" sz="1350" i="1" dirty="0">
                <a:solidFill>
                  <a:srgbClr val="5D6B75"/>
                </a:solidFill>
                <a:latin typeface="Calibri" pitchFamily="34" charset="0"/>
                <a:ea typeface="Calibri" pitchFamily="34" charset="-122"/>
                <a:cs typeface="Calibri" pitchFamily="34" charset="-120"/>
              </a:rPr>
              <a:t>Percentage of images annotated as the emotion that was queried</a:t>
            </a:r>
            <a:endParaRPr lang="en-US" sz="1350" dirty="0"/>
          </a:p>
        </p:txBody>
      </p:sp>
      <p:sp>
        <p:nvSpPr>
          <p:cNvPr id="8" name="Text 6"/>
          <p:cNvSpPr txBox="1"/>
          <p:nvPr/>
        </p:nvSpPr>
        <p:spPr>
          <a:xfrm>
            <a:off x="9326880" y="6382512"/>
            <a:ext cx="2313432" cy="274320"/>
          </a:xfrm>
          <a:prstGeom prst="rect">
            <a:avLst/>
          </a:prstGeom>
          <a:noFill/>
          <a:ln/>
        </p:spPr>
        <p:txBody>
          <a:bodyPr wrap="square" lIns="0" tIns="0" rIns="0" bIns="0" rtlCol="0" anchor="ctr"/>
          <a:lstStyle/>
          <a:p>
            <a:pPr marL="0" indent="0" algn="r">
              <a:buNone/>
            </a:pPr>
            <a:r>
              <a:rPr lang="en-US" sz="900" dirty="0">
                <a:solidFill>
                  <a:srgbClr val="9DACB4"/>
                </a:solidFill>
                <a:latin typeface="Calibri" pitchFamily="34" charset="0"/>
                <a:ea typeface="Calibri" pitchFamily="34" charset="-122"/>
                <a:cs typeface="Calibri" pitchFamily="34" charset="-120"/>
              </a:rPr>
              <a:t>AffectNet · Mollahosseini et al. 2019  |  15</a:t>
            </a:r>
            <a:endParaRPr lang="en-US" sz="900" dirty="0"/>
          </a:p>
        </p:txBody>
      </p:sp>
      <p:graphicFrame>
        <p:nvGraphicFramePr>
          <p:cNvPr id="9" name="Chart 0"/>
          <p:cNvGraphicFramePr/>
          <p:nvPr/>
        </p:nvGraphicFramePr>
        <p:xfrm>
          <a:off x="566928" y="1554480"/>
          <a:ext cx="6675120" cy="3383280"/>
        </p:xfrm>
        <a:graphic>
          <a:graphicData uri="http://schemas.openxmlformats.org/drawingml/2006/chart">
            <c:chart xmlns:c="http://schemas.openxmlformats.org/drawingml/2006/chart" xmlns:r="http://schemas.openxmlformats.org/officeDocument/2006/relationships" r:id="rId3"/>
          </a:graphicData>
        </a:graphic>
      </p:graphicFrame>
      <p:sp>
        <p:nvSpPr>
          <p:cNvPr id="10" name="Text 7"/>
          <p:cNvSpPr txBox="1"/>
          <p:nvPr/>
        </p:nvSpPr>
        <p:spPr>
          <a:xfrm>
            <a:off x="7498080" y="1700784"/>
            <a:ext cx="4133088" cy="3200400"/>
          </a:xfrm>
          <a:prstGeom prst="rect">
            <a:avLst/>
          </a:prstGeom>
          <a:noFill/>
          <a:ln/>
        </p:spPr>
        <p:txBody>
          <a:bodyPr wrap="square" lIns="0" tIns="0" rIns="0" bIns="0" rtlCol="0" anchor="t"/>
          <a:lstStyle/>
          <a:p>
            <a:pPr marL="342900" indent="-342900">
              <a:spcAft>
                <a:spcPts val="800"/>
              </a:spcAft>
              <a:buSzPct val="100000"/>
              <a:buChar char="●"/>
            </a:pPr>
            <a:r>
              <a:rPr lang="en-US" sz="1240" dirty="0">
                <a:solidFill>
                  <a:srgbClr val="2E3A42"/>
                </a:solidFill>
                <a:latin typeface="Calibri" pitchFamily="34" charset="0"/>
                <a:ea typeface="Calibri" pitchFamily="34" charset="-122"/>
                <a:cs typeface="Calibri" pitchFamily="34" charset="-120"/>
              </a:rPr>
              <a:t>Only happy exceeds 20%. Contempt, disgust and fear queries return the intended emotion under 5% of the time.</a:t>
            </a:r>
            <a:endParaRPr lang="en-US" sz="1240" dirty="0"/>
          </a:p>
          <a:p>
            <a:pPr marL="342900" indent="-342900">
              <a:spcAft>
                <a:spcPts val="800"/>
              </a:spcAft>
              <a:buSzPct val="100000"/>
              <a:buChar char="●"/>
            </a:pPr>
            <a:r>
              <a:rPr lang="en-US" sz="1240" dirty="0">
                <a:solidFill>
                  <a:srgbClr val="2E3A42"/>
                </a:solidFill>
                <a:latin typeface="Calibri" pitchFamily="34" charset="0"/>
                <a:ea typeface="Calibri" pitchFamily="34" charset="-122"/>
                <a:cs typeface="Calibri" pitchFamily="34" charset="-120"/>
              </a:rPr>
              <a:t>About 15% of every query's results are Non-Face, and roughly 15 to 20% come back as neutral regardless of what was asked.</a:t>
            </a:r>
            <a:endParaRPr lang="en-US" sz="1240" dirty="0"/>
          </a:p>
          <a:p>
            <a:pPr marL="342900" indent="-342900">
              <a:spcAft>
                <a:spcPts val="800"/>
              </a:spcAft>
              <a:buSzPct val="100000"/>
              <a:buChar char="●"/>
            </a:pPr>
            <a:r>
              <a:rPr lang="en-US" sz="1240" dirty="0">
                <a:solidFill>
                  <a:srgbClr val="2E3A42"/>
                </a:solidFill>
                <a:latin typeface="Calibri" pitchFamily="34" charset="0"/>
                <a:ea typeface="Calibri" pitchFamily="34" charset="-122"/>
                <a:cs typeface="Calibri" pitchFamily="34" charset="-120"/>
              </a:rPr>
              <a:t>Roughly 30% of results for every emotion query are annotated happy — including the queries for sadness, fear and anger.</a:t>
            </a:r>
            <a:endParaRPr lang="en-US" sz="1240" dirty="0"/>
          </a:p>
          <a:p>
            <a:pPr marL="342900" indent="-342900">
              <a:spcAft>
                <a:spcPts val="800"/>
              </a:spcAft>
              <a:buSzPct val="100000"/>
              <a:buChar char="●"/>
            </a:pPr>
            <a:r>
              <a:rPr lang="en-US" sz="1240" dirty="0">
                <a:solidFill>
                  <a:srgbClr val="2E3A42"/>
                </a:solidFill>
                <a:latin typeface="Calibri" pitchFamily="34" charset="0"/>
                <a:ea typeface="Calibri" pitchFamily="34" charset="-122"/>
                <a:cs typeface="Calibri" pitchFamily="34" charset="-120"/>
              </a:rPr>
              <a:t>The authors' explanation: people publish photographs of themselves looking positive, not looking disgusted.</a:t>
            </a:r>
            <a:endParaRPr lang="en-US" sz="1240" dirty="0"/>
          </a:p>
        </p:txBody>
      </p:sp>
      <p:sp>
        <p:nvSpPr>
          <p:cNvPr id="11" name="Shape 8"/>
          <p:cNvSpPr/>
          <p:nvPr/>
        </p:nvSpPr>
        <p:spPr>
          <a:xfrm>
            <a:off x="566928" y="5084064"/>
            <a:ext cx="11064240" cy="969264"/>
          </a:xfrm>
          <a:prstGeom prst="roundRect">
            <a:avLst>
              <a:gd name="adj" fmla="val 5660"/>
            </a:avLst>
          </a:prstGeom>
          <a:solidFill>
            <a:srgbClr val="24303A"/>
          </a:solidFill>
          <a:ln w="12700">
            <a:solidFill>
              <a:srgbClr val="24303A"/>
            </a:solidFill>
            <a:prstDash val="solid"/>
          </a:ln>
        </p:spPr>
        <p:txBody>
          <a:bodyPr/>
          <a:lstStyle/>
          <a:p>
            <a:endParaRPr lang="en-US"/>
          </a:p>
        </p:txBody>
      </p:sp>
      <p:sp>
        <p:nvSpPr>
          <p:cNvPr id="12" name="Text 9"/>
          <p:cNvSpPr txBox="1"/>
          <p:nvPr/>
        </p:nvSpPr>
        <p:spPr>
          <a:xfrm>
            <a:off x="822960" y="5303520"/>
            <a:ext cx="10552176" cy="548640"/>
          </a:xfrm>
          <a:prstGeom prst="rect">
            <a:avLst/>
          </a:prstGeom>
          <a:noFill/>
          <a:ln/>
        </p:spPr>
        <p:txBody>
          <a:bodyPr wrap="square" lIns="0" tIns="0" rIns="0" bIns="0" rtlCol="0" anchor="t"/>
          <a:lstStyle/>
          <a:p>
            <a:pPr marL="0" indent="0">
              <a:lnSpc>
                <a:spcPct val="108000"/>
              </a:lnSpc>
              <a:buNone/>
            </a:pPr>
            <a:r>
              <a:rPr lang="en-US" sz="1300" dirty="0">
                <a:solidFill>
                  <a:srgbClr val="C6D6DC"/>
                </a:solidFill>
                <a:latin typeface="Calibri" pitchFamily="34" charset="0"/>
                <a:ea typeface="Calibri" pitchFamily="34" charset="-122"/>
                <a:cs typeface="Calibri" pitchFamily="34" charset="-120"/>
              </a:rPr>
              <a:t>This table is the single best piece of evidence in the paper that manual annotation was necessary. A dataset built by trusting query terms as labels would be wrong more than half the time — and catastrophically wrong for the rare classes.</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6">
    <p:bg>
      <p:bgPr>
        <a:solidFill>
          <a:srgbClr val="24303A"/>
        </a:solidFill>
        <a:effectLst/>
      </p:bgPr>
    </p:bg>
    <p:spTree>
      <p:nvGrpSpPr>
        <p:cNvPr id="1" name=""/>
        <p:cNvGrpSpPr/>
        <p:nvPr/>
      </p:nvGrpSpPr>
      <p:grpSpPr>
        <a:xfrm>
          <a:off x="0" y="0"/>
          <a:ext cx="0" cy="0"/>
          <a:chOff x="0" y="0"/>
          <a:chExt cx="0" cy="0"/>
        </a:xfrm>
      </p:grpSpPr>
      <p:sp>
        <p:nvSpPr>
          <p:cNvPr id="2" name="Shape 0"/>
          <p:cNvSpPr/>
          <p:nvPr/>
        </p:nvSpPr>
        <p:spPr>
          <a:xfrm>
            <a:off x="10607040" y="5303520"/>
            <a:ext cx="274320" cy="274320"/>
          </a:xfrm>
          <a:prstGeom prst="roundRect">
            <a:avLst>
              <a:gd name="adj" fmla="val 6667"/>
            </a:avLst>
          </a:prstGeom>
          <a:solidFill>
            <a:srgbClr val="C6D6DC"/>
          </a:solidFill>
          <a:ln w="12700">
            <a:solidFill>
              <a:srgbClr val="333333"/>
            </a:solidFill>
            <a:prstDash val="solid"/>
          </a:ln>
        </p:spPr>
        <p:txBody>
          <a:bodyPr/>
          <a:lstStyle/>
          <a:p>
            <a:endParaRPr lang="en-US"/>
          </a:p>
        </p:txBody>
      </p:sp>
      <p:sp>
        <p:nvSpPr>
          <p:cNvPr id="3" name="Shape 1"/>
          <p:cNvSpPr/>
          <p:nvPr/>
        </p:nvSpPr>
        <p:spPr>
          <a:xfrm>
            <a:off x="10945368" y="5303520"/>
            <a:ext cx="274320" cy="274320"/>
          </a:xfrm>
          <a:prstGeom prst="roundRect">
            <a:avLst>
              <a:gd name="adj" fmla="val 6667"/>
            </a:avLst>
          </a:prstGeom>
          <a:solidFill>
            <a:srgbClr val="D2603F"/>
          </a:solidFill>
          <a:ln w="12700">
            <a:solidFill>
              <a:srgbClr val="333333"/>
            </a:solidFill>
            <a:prstDash val="solid"/>
          </a:ln>
        </p:spPr>
        <p:txBody>
          <a:bodyPr/>
          <a:lstStyle/>
          <a:p>
            <a:endParaRPr lang="en-US"/>
          </a:p>
        </p:txBody>
      </p:sp>
      <p:sp>
        <p:nvSpPr>
          <p:cNvPr id="4" name="Shape 2"/>
          <p:cNvSpPr/>
          <p:nvPr/>
        </p:nvSpPr>
        <p:spPr>
          <a:xfrm>
            <a:off x="10607040" y="5641848"/>
            <a:ext cx="274320" cy="274320"/>
          </a:xfrm>
          <a:prstGeom prst="roundRect">
            <a:avLst>
              <a:gd name="adj" fmla="val 6667"/>
            </a:avLst>
          </a:prstGeom>
          <a:solidFill>
            <a:srgbClr val="C6D6DC"/>
          </a:solidFill>
          <a:ln w="12700">
            <a:solidFill>
              <a:srgbClr val="333333"/>
            </a:solidFill>
            <a:prstDash val="solid"/>
          </a:ln>
        </p:spPr>
        <p:txBody>
          <a:bodyPr/>
          <a:lstStyle/>
          <a:p>
            <a:endParaRPr lang="en-US"/>
          </a:p>
        </p:txBody>
      </p:sp>
      <p:sp>
        <p:nvSpPr>
          <p:cNvPr id="5" name="Shape 3"/>
          <p:cNvSpPr/>
          <p:nvPr/>
        </p:nvSpPr>
        <p:spPr>
          <a:xfrm>
            <a:off x="10945368" y="5641848"/>
            <a:ext cx="274320" cy="274320"/>
          </a:xfrm>
          <a:prstGeom prst="roundRect">
            <a:avLst>
              <a:gd name="adj" fmla="val 6667"/>
            </a:avLst>
          </a:prstGeom>
          <a:solidFill>
            <a:srgbClr val="8CA3AD"/>
          </a:solidFill>
          <a:ln w="12700">
            <a:solidFill>
              <a:srgbClr val="333333"/>
            </a:solidFill>
            <a:prstDash val="solid"/>
          </a:ln>
        </p:spPr>
        <p:txBody>
          <a:bodyPr/>
          <a:lstStyle/>
          <a:p>
            <a:endParaRPr lang="en-US"/>
          </a:p>
        </p:txBody>
      </p:sp>
      <p:sp>
        <p:nvSpPr>
          <p:cNvPr id="6" name="Text 4"/>
          <p:cNvSpPr txBox="1"/>
          <p:nvPr/>
        </p:nvSpPr>
        <p:spPr>
          <a:xfrm>
            <a:off x="822960" y="2057400"/>
            <a:ext cx="1554480" cy="1005840"/>
          </a:xfrm>
          <a:prstGeom prst="rect">
            <a:avLst/>
          </a:prstGeom>
          <a:noFill/>
          <a:ln/>
        </p:spPr>
        <p:txBody>
          <a:bodyPr wrap="square" lIns="0" tIns="0" rIns="0" bIns="0" rtlCol="0" anchor="ctr"/>
          <a:lstStyle/>
          <a:p>
            <a:pPr marL="0" indent="0">
              <a:buNone/>
            </a:pPr>
            <a:r>
              <a:rPr lang="en-US" sz="6600" b="1" dirty="0">
                <a:solidFill>
                  <a:srgbClr val="D2603F"/>
                </a:solidFill>
                <a:latin typeface="Cambria" pitchFamily="34" charset="0"/>
                <a:ea typeface="Cambria" pitchFamily="34" charset="-122"/>
                <a:cs typeface="Cambria" pitchFamily="34" charset="-120"/>
              </a:rPr>
              <a:t>4</a:t>
            </a:r>
            <a:endParaRPr lang="en-US" sz="6600" dirty="0"/>
          </a:p>
        </p:txBody>
      </p:sp>
      <p:sp>
        <p:nvSpPr>
          <p:cNvPr id="7" name="Text 5"/>
          <p:cNvSpPr txBox="1"/>
          <p:nvPr/>
        </p:nvSpPr>
        <p:spPr>
          <a:xfrm>
            <a:off x="2377440" y="2212848"/>
            <a:ext cx="8686800" cy="822960"/>
          </a:xfrm>
          <a:prstGeom prst="rect">
            <a:avLst/>
          </a:prstGeom>
          <a:noFill/>
          <a:ln/>
        </p:spPr>
        <p:txBody>
          <a:bodyPr wrap="square" lIns="0" tIns="0" rIns="0" bIns="0" rtlCol="0" anchor="ctr"/>
          <a:lstStyle/>
          <a:p>
            <a:pPr marL="0" indent="0">
              <a:buNone/>
            </a:pPr>
            <a:r>
              <a:rPr lang="en-US" sz="3300" b="1" dirty="0">
                <a:solidFill>
                  <a:srgbClr val="FFFFFF"/>
                </a:solidFill>
                <a:latin typeface="Cambria" pitchFamily="34" charset="0"/>
                <a:ea typeface="Cambria" pitchFamily="34" charset="-122"/>
                <a:cs typeface="Cambria" pitchFamily="34" charset="-120"/>
              </a:rPr>
              <a:t>Agreement</a:t>
            </a:r>
            <a:endParaRPr lang="en-US" sz="3300" dirty="0"/>
          </a:p>
        </p:txBody>
      </p:sp>
      <p:sp>
        <p:nvSpPr>
          <p:cNvPr id="8" name="Text 6"/>
          <p:cNvSpPr txBox="1"/>
          <p:nvPr/>
        </p:nvSpPr>
        <p:spPr>
          <a:xfrm>
            <a:off x="2432304" y="3072384"/>
            <a:ext cx="8503920" cy="731520"/>
          </a:xfrm>
          <a:prstGeom prst="rect">
            <a:avLst/>
          </a:prstGeom>
          <a:noFill/>
          <a:ln/>
        </p:spPr>
        <p:txBody>
          <a:bodyPr wrap="square" lIns="0" tIns="0" rIns="0" bIns="0" rtlCol="0" anchor="ctr"/>
          <a:lstStyle/>
          <a:p>
            <a:pPr marL="0" indent="0">
              <a:buNone/>
            </a:pPr>
            <a:r>
              <a:rPr lang="en-US" sz="1500" dirty="0">
                <a:solidFill>
                  <a:srgbClr val="C6D6DC"/>
                </a:solidFill>
                <a:latin typeface="Calibri" pitchFamily="34" charset="0"/>
                <a:ea typeface="Calibri" pitchFamily="34" charset="-122"/>
                <a:cs typeface="Calibri" pitchFamily="34" charset="-120"/>
              </a:rPr>
              <a:t>How hard is this task, really?</a:t>
            </a:r>
            <a:endParaRPr lang="en-US" sz="1500" dirty="0"/>
          </a:p>
        </p:txBody>
      </p:sp>
      <p:sp>
        <p:nvSpPr>
          <p:cNvPr id="9" name="Text 7"/>
          <p:cNvSpPr txBox="1"/>
          <p:nvPr/>
        </p:nvSpPr>
        <p:spPr>
          <a:xfrm>
            <a:off x="9326880" y="6382512"/>
            <a:ext cx="2313432" cy="274320"/>
          </a:xfrm>
          <a:prstGeom prst="rect">
            <a:avLst/>
          </a:prstGeom>
          <a:noFill/>
          <a:ln/>
        </p:spPr>
        <p:txBody>
          <a:bodyPr wrap="square" lIns="0" tIns="0" rIns="0" bIns="0" rtlCol="0" anchor="ctr"/>
          <a:lstStyle/>
          <a:p>
            <a:pPr marL="0" indent="0" algn="r">
              <a:buNone/>
            </a:pPr>
            <a:r>
              <a:rPr lang="en-US" sz="900" dirty="0">
                <a:solidFill>
                  <a:srgbClr val="9DACB4"/>
                </a:solidFill>
                <a:latin typeface="Calibri" pitchFamily="34" charset="0"/>
                <a:ea typeface="Calibri" pitchFamily="34" charset="-122"/>
                <a:cs typeface="Calibri" pitchFamily="34" charset="-120"/>
              </a:rPr>
              <a:t>AffectNet · Mollahosseini et al. 2019  |  16</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301984" y="457200"/>
            <a:ext cx="137160" cy="137160"/>
          </a:xfrm>
          <a:prstGeom prst="roundRect">
            <a:avLst>
              <a:gd name="adj" fmla="val 13333"/>
            </a:avLst>
          </a:prstGeom>
          <a:solidFill>
            <a:srgbClr val="2F6B7C"/>
          </a:solidFill>
          <a:ln w="12700">
            <a:solidFill>
              <a:srgbClr val="333333"/>
            </a:solidFill>
            <a:prstDash val="solid"/>
          </a:ln>
        </p:spPr>
        <p:txBody>
          <a:bodyPr/>
          <a:lstStyle/>
          <a:p>
            <a:endParaRPr lang="en-US"/>
          </a:p>
        </p:txBody>
      </p:sp>
      <p:sp>
        <p:nvSpPr>
          <p:cNvPr id="3" name="Shape 1"/>
          <p:cNvSpPr/>
          <p:nvPr/>
        </p:nvSpPr>
        <p:spPr>
          <a:xfrm>
            <a:off x="11471148" y="457200"/>
            <a:ext cx="137160" cy="137160"/>
          </a:xfrm>
          <a:prstGeom prst="roundRect">
            <a:avLst>
              <a:gd name="adj" fmla="val 13333"/>
            </a:avLst>
          </a:prstGeom>
          <a:solidFill>
            <a:srgbClr val="D2603F"/>
          </a:solidFill>
          <a:ln w="12700">
            <a:solidFill>
              <a:srgbClr val="333333"/>
            </a:solidFill>
            <a:prstDash val="solid"/>
          </a:ln>
        </p:spPr>
        <p:txBody>
          <a:bodyPr/>
          <a:lstStyle/>
          <a:p>
            <a:endParaRPr lang="en-US"/>
          </a:p>
        </p:txBody>
      </p:sp>
      <p:sp>
        <p:nvSpPr>
          <p:cNvPr id="4" name="Shape 2"/>
          <p:cNvSpPr/>
          <p:nvPr/>
        </p:nvSpPr>
        <p:spPr>
          <a:xfrm>
            <a:off x="11301984" y="626364"/>
            <a:ext cx="137160" cy="137160"/>
          </a:xfrm>
          <a:prstGeom prst="roundRect">
            <a:avLst>
              <a:gd name="adj" fmla="val 13333"/>
            </a:avLst>
          </a:prstGeom>
          <a:solidFill>
            <a:srgbClr val="8CA3AD"/>
          </a:solidFill>
          <a:ln w="12700">
            <a:solidFill>
              <a:srgbClr val="333333"/>
            </a:solidFill>
            <a:prstDash val="solid"/>
          </a:ln>
        </p:spPr>
        <p:txBody>
          <a:bodyPr/>
          <a:lstStyle/>
          <a:p>
            <a:endParaRPr lang="en-US"/>
          </a:p>
        </p:txBody>
      </p:sp>
      <p:sp>
        <p:nvSpPr>
          <p:cNvPr id="5" name="Shape 3"/>
          <p:cNvSpPr/>
          <p:nvPr/>
        </p:nvSpPr>
        <p:spPr>
          <a:xfrm>
            <a:off x="11471148" y="626364"/>
            <a:ext cx="137160" cy="137160"/>
          </a:xfrm>
          <a:prstGeom prst="roundRect">
            <a:avLst>
              <a:gd name="adj" fmla="val 13333"/>
            </a:avLst>
          </a:prstGeom>
          <a:solidFill>
            <a:srgbClr val="2F6B7C"/>
          </a:solidFill>
          <a:ln w="12700">
            <a:solidFill>
              <a:srgbClr val="333333"/>
            </a:solidFill>
            <a:prstDash val="solid"/>
          </a:ln>
        </p:spPr>
        <p:txBody>
          <a:bodyPr/>
          <a:lstStyle/>
          <a:p>
            <a:endParaRPr lang="en-US"/>
          </a:p>
        </p:txBody>
      </p:sp>
      <p:sp>
        <p:nvSpPr>
          <p:cNvPr id="6" name="Text 4"/>
          <p:cNvSpPr txBox="1"/>
          <p:nvPr/>
        </p:nvSpPr>
        <p:spPr>
          <a:xfrm>
            <a:off x="548640" y="384048"/>
            <a:ext cx="10424160" cy="566928"/>
          </a:xfrm>
          <a:prstGeom prst="rect">
            <a:avLst/>
          </a:prstGeom>
          <a:noFill/>
          <a:ln/>
        </p:spPr>
        <p:txBody>
          <a:bodyPr wrap="square" lIns="0" tIns="0" rIns="0" bIns="0" rtlCol="0" anchor="t"/>
          <a:lstStyle/>
          <a:p>
            <a:pPr marL="0" indent="0">
              <a:buNone/>
            </a:pPr>
            <a:r>
              <a:rPr lang="en-US" sz="2900" b="1" dirty="0">
                <a:solidFill>
                  <a:srgbClr val="1A242C"/>
                </a:solidFill>
                <a:latin typeface="Cambria" pitchFamily="34" charset="0"/>
                <a:ea typeface="Cambria" pitchFamily="34" charset="-122"/>
                <a:cs typeface="Cambria" pitchFamily="34" charset="-120"/>
              </a:rPr>
              <a:t>Categorical agreement</a:t>
            </a:r>
            <a:endParaRPr lang="en-US" sz="2900" dirty="0"/>
          </a:p>
        </p:txBody>
      </p:sp>
      <p:sp>
        <p:nvSpPr>
          <p:cNvPr id="7" name="Text 5"/>
          <p:cNvSpPr txBox="1"/>
          <p:nvPr/>
        </p:nvSpPr>
        <p:spPr>
          <a:xfrm>
            <a:off x="548640" y="969264"/>
            <a:ext cx="10424160" cy="329184"/>
          </a:xfrm>
          <a:prstGeom prst="rect">
            <a:avLst/>
          </a:prstGeom>
          <a:noFill/>
          <a:ln/>
        </p:spPr>
        <p:txBody>
          <a:bodyPr wrap="square" lIns="0" tIns="0" rIns="0" bIns="0" rtlCol="0" anchor="ctr"/>
          <a:lstStyle/>
          <a:p>
            <a:pPr marL="0" indent="0">
              <a:buNone/>
            </a:pPr>
            <a:r>
              <a:rPr lang="en-US" sz="1350" i="1" dirty="0">
                <a:solidFill>
                  <a:srgbClr val="5D6B75"/>
                </a:solidFill>
                <a:latin typeface="Calibri" pitchFamily="34" charset="0"/>
                <a:ea typeface="Calibri" pitchFamily="34" charset="-122"/>
                <a:cs typeface="Calibri" pitchFamily="34" charset="-120"/>
              </a:rPr>
              <a:t>36,000 images annotated twice, fully blind and independently</a:t>
            </a:r>
            <a:endParaRPr lang="en-US" sz="1350" dirty="0"/>
          </a:p>
        </p:txBody>
      </p:sp>
      <p:sp>
        <p:nvSpPr>
          <p:cNvPr id="8" name="Text 6"/>
          <p:cNvSpPr txBox="1"/>
          <p:nvPr/>
        </p:nvSpPr>
        <p:spPr>
          <a:xfrm>
            <a:off x="9326880" y="6382512"/>
            <a:ext cx="2313432" cy="274320"/>
          </a:xfrm>
          <a:prstGeom prst="rect">
            <a:avLst/>
          </a:prstGeom>
          <a:noFill/>
          <a:ln/>
        </p:spPr>
        <p:txBody>
          <a:bodyPr wrap="square" lIns="0" tIns="0" rIns="0" bIns="0" rtlCol="0" anchor="ctr"/>
          <a:lstStyle/>
          <a:p>
            <a:pPr marL="0" indent="0" algn="r">
              <a:buNone/>
            </a:pPr>
            <a:r>
              <a:rPr lang="en-US" sz="900" dirty="0">
                <a:solidFill>
                  <a:srgbClr val="9DACB4"/>
                </a:solidFill>
                <a:latin typeface="Calibri" pitchFamily="34" charset="0"/>
                <a:ea typeface="Calibri" pitchFamily="34" charset="-122"/>
                <a:cs typeface="Calibri" pitchFamily="34" charset="-120"/>
              </a:rPr>
              <a:t>AffectNet · Mollahosseini et al. 2019  |  17</a:t>
            </a:r>
            <a:endParaRPr lang="en-US" sz="900" dirty="0"/>
          </a:p>
        </p:txBody>
      </p:sp>
      <p:graphicFrame>
        <p:nvGraphicFramePr>
          <p:cNvPr id="9" name="Chart 0"/>
          <p:cNvGraphicFramePr/>
          <p:nvPr/>
        </p:nvGraphicFramePr>
        <p:xfrm>
          <a:off x="566928" y="1554480"/>
          <a:ext cx="6675120" cy="3611880"/>
        </p:xfrm>
        <a:graphic>
          <a:graphicData uri="http://schemas.openxmlformats.org/drawingml/2006/chart">
            <c:chart xmlns:c="http://schemas.openxmlformats.org/drawingml/2006/chart" xmlns:r="http://schemas.openxmlformats.org/officeDocument/2006/relationships" r:id="rId3"/>
          </a:graphicData>
        </a:graphic>
      </p:graphicFrame>
      <p:sp>
        <p:nvSpPr>
          <p:cNvPr id="10" name="Text 7"/>
          <p:cNvSpPr txBox="1"/>
          <p:nvPr/>
        </p:nvSpPr>
        <p:spPr>
          <a:xfrm>
            <a:off x="7498080" y="1700784"/>
            <a:ext cx="4133088" cy="3383280"/>
          </a:xfrm>
          <a:prstGeom prst="rect">
            <a:avLst/>
          </a:prstGeom>
          <a:noFill/>
          <a:ln/>
        </p:spPr>
        <p:txBody>
          <a:bodyPr wrap="square" lIns="0" tIns="0" rIns="0" bIns="0" rtlCol="0" anchor="t"/>
          <a:lstStyle/>
          <a:p>
            <a:pPr marL="342900" indent="-342900">
              <a:spcAft>
                <a:spcPts val="800"/>
              </a:spcAft>
              <a:buSzPct val="100000"/>
              <a:buChar char="●"/>
            </a:pPr>
            <a:r>
              <a:rPr lang="en-US" sz="1220" dirty="0">
                <a:solidFill>
                  <a:srgbClr val="2E3A42"/>
                </a:solidFill>
                <a:latin typeface="Calibri" pitchFamily="34" charset="0"/>
                <a:ea typeface="Calibri" pitchFamily="34" charset="-122"/>
                <a:cs typeface="Calibri" pitchFamily="34" charset="-120"/>
              </a:rPr>
              <a:t>Neutral is strikingly weak at 50.8% — it leaks into None, Sad and Contempt, because a face with no strong expression is genuinely ambiguous.</a:t>
            </a:r>
            <a:endParaRPr lang="en-US" sz="1220" dirty="0"/>
          </a:p>
          <a:p>
            <a:pPr marL="342900" indent="-342900">
              <a:spcAft>
                <a:spcPts val="800"/>
              </a:spcAft>
              <a:buSzPct val="100000"/>
              <a:buChar char="●"/>
            </a:pPr>
            <a:r>
              <a:rPr lang="en-US" sz="1220" dirty="0">
                <a:solidFill>
                  <a:srgbClr val="2E3A42"/>
                </a:solidFill>
                <a:latin typeface="Calibri" pitchFamily="34" charset="0"/>
                <a:ea typeface="Calibri" pitchFamily="34" charset="-122"/>
                <a:cs typeface="Calibri" pitchFamily="34" charset="-120"/>
              </a:rPr>
              <a:t>None collapses at 9.6%. The images the authors inspected contain very subtle emotions that are easily confused with other categories.</a:t>
            </a:r>
            <a:endParaRPr lang="en-US" sz="1220" dirty="0"/>
          </a:p>
          <a:p>
            <a:pPr marL="342900" indent="-342900">
              <a:spcAft>
                <a:spcPts val="800"/>
              </a:spcAft>
              <a:buSzPct val="100000"/>
              <a:buChar char="●"/>
            </a:pPr>
            <a:r>
              <a:rPr lang="en-US" sz="1220" dirty="0">
                <a:solidFill>
                  <a:srgbClr val="2E3A42"/>
                </a:solidFill>
                <a:latin typeface="Calibri" pitchFamily="34" charset="0"/>
                <a:ea typeface="Calibri" pitchFamily="34" charset="-122"/>
                <a:cs typeface="Calibri" pitchFamily="34" charset="-120"/>
              </a:rPr>
              <a:t>Fear and surprise are heavily mutually confused, at 15.3% and 14.0% respectively — the same pair that CREMA-D's perception study found hard.</a:t>
            </a:r>
            <a:endParaRPr lang="en-US" sz="1220" dirty="0"/>
          </a:p>
          <a:p>
            <a:pPr marL="342900" indent="-342900">
              <a:spcAft>
                <a:spcPts val="800"/>
              </a:spcAft>
              <a:buSzPct val="100000"/>
              <a:buChar char="●"/>
            </a:pPr>
            <a:r>
              <a:rPr lang="en-US" sz="1220" dirty="0">
                <a:solidFill>
                  <a:srgbClr val="2E3A42"/>
                </a:solidFill>
                <a:latin typeface="Calibri" pitchFamily="34" charset="0"/>
                <a:ea typeface="Calibri" pitchFamily="34" charset="-122"/>
                <a:cs typeface="Calibri" pitchFamily="34" charset="-120"/>
              </a:rPr>
              <a:t>Disgust and anger are the other confusable pair, at 13.1%.</a:t>
            </a:r>
            <a:endParaRPr lang="en-US" sz="1220" dirty="0"/>
          </a:p>
        </p:txBody>
      </p:sp>
      <p:sp>
        <p:nvSpPr>
          <p:cNvPr id="11" name="Shape 8"/>
          <p:cNvSpPr/>
          <p:nvPr/>
        </p:nvSpPr>
        <p:spPr>
          <a:xfrm>
            <a:off x="566928" y="5303520"/>
            <a:ext cx="11064240" cy="749808"/>
          </a:xfrm>
          <a:prstGeom prst="roundRect">
            <a:avLst>
              <a:gd name="adj" fmla="val 7317"/>
            </a:avLst>
          </a:prstGeom>
          <a:solidFill>
            <a:srgbClr val="24303A"/>
          </a:solidFill>
          <a:ln w="12700">
            <a:solidFill>
              <a:srgbClr val="24303A"/>
            </a:solidFill>
            <a:prstDash val="solid"/>
          </a:ln>
        </p:spPr>
        <p:txBody>
          <a:bodyPr/>
          <a:lstStyle/>
          <a:p>
            <a:endParaRPr lang="en-US"/>
          </a:p>
        </p:txBody>
      </p:sp>
      <p:sp>
        <p:nvSpPr>
          <p:cNvPr id="12" name="Text 9"/>
          <p:cNvSpPr txBox="1"/>
          <p:nvPr/>
        </p:nvSpPr>
        <p:spPr>
          <a:xfrm>
            <a:off x="822960" y="5522976"/>
            <a:ext cx="10552176" cy="329184"/>
          </a:xfrm>
          <a:prstGeom prst="rect">
            <a:avLst/>
          </a:prstGeom>
          <a:noFill/>
          <a:ln/>
        </p:spPr>
        <p:txBody>
          <a:bodyPr wrap="square" lIns="0" tIns="0" rIns="0" bIns="0" rtlCol="0" anchor="t"/>
          <a:lstStyle/>
          <a:p>
            <a:pPr marL="0" indent="0">
              <a:lnSpc>
                <a:spcPct val="108000"/>
              </a:lnSpc>
              <a:buNone/>
            </a:pPr>
            <a:r>
              <a:rPr lang="en-US" sz="1300" dirty="0">
                <a:solidFill>
                  <a:srgbClr val="C6D6DC"/>
                </a:solidFill>
                <a:latin typeface="Calibri" pitchFamily="34" charset="0"/>
                <a:ea typeface="Calibri" pitchFamily="34" charset="-122"/>
                <a:cs typeface="Calibri" pitchFamily="34" charset="-120"/>
              </a:rPr>
              <a:t>The structure of the disagreement is interpretable, not random — which means it reflects genuine perceptual ambiguity rather than careless annotation.</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301984" y="457200"/>
            <a:ext cx="137160" cy="137160"/>
          </a:xfrm>
          <a:prstGeom prst="roundRect">
            <a:avLst>
              <a:gd name="adj" fmla="val 13333"/>
            </a:avLst>
          </a:prstGeom>
          <a:solidFill>
            <a:srgbClr val="2F6B7C"/>
          </a:solidFill>
          <a:ln w="12700">
            <a:solidFill>
              <a:srgbClr val="333333"/>
            </a:solidFill>
            <a:prstDash val="solid"/>
          </a:ln>
        </p:spPr>
        <p:txBody>
          <a:bodyPr/>
          <a:lstStyle/>
          <a:p>
            <a:endParaRPr lang="en-US"/>
          </a:p>
        </p:txBody>
      </p:sp>
      <p:sp>
        <p:nvSpPr>
          <p:cNvPr id="3" name="Shape 1"/>
          <p:cNvSpPr/>
          <p:nvPr/>
        </p:nvSpPr>
        <p:spPr>
          <a:xfrm>
            <a:off x="11471148" y="457200"/>
            <a:ext cx="137160" cy="137160"/>
          </a:xfrm>
          <a:prstGeom prst="roundRect">
            <a:avLst>
              <a:gd name="adj" fmla="val 13333"/>
            </a:avLst>
          </a:prstGeom>
          <a:solidFill>
            <a:srgbClr val="D2603F"/>
          </a:solidFill>
          <a:ln w="12700">
            <a:solidFill>
              <a:srgbClr val="333333"/>
            </a:solidFill>
            <a:prstDash val="solid"/>
          </a:ln>
        </p:spPr>
        <p:txBody>
          <a:bodyPr/>
          <a:lstStyle/>
          <a:p>
            <a:endParaRPr lang="en-US"/>
          </a:p>
        </p:txBody>
      </p:sp>
      <p:sp>
        <p:nvSpPr>
          <p:cNvPr id="4" name="Shape 2"/>
          <p:cNvSpPr/>
          <p:nvPr/>
        </p:nvSpPr>
        <p:spPr>
          <a:xfrm>
            <a:off x="11301984" y="626364"/>
            <a:ext cx="137160" cy="137160"/>
          </a:xfrm>
          <a:prstGeom prst="roundRect">
            <a:avLst>
              <a:gd name="adj" fmla="val 13333"/>
            </a:avLst>
          </a:prstGeom>
          <a:solidFill>
            <a:srgbClr val="8CA3AD"/>
          </a:solidFill>
          <a:ln w="12700">
            <a:solidFill>
              <a:srgbClr val="333333"/>
            </a:solidFill>
            <a:prstDash val="solid"/>
          </a:ln>
        </p:spPr>
        <p:txBody>
          <a:bodyPr/>
          <a:lstStyle/>
          <a:p>
            <a:endParaRPr lang="en-US"/>
          </a:p>
        </p:txBody>
      </p:sp>
      <p:sp>
        <p:nvSpPr>
          <p:cNvPr id="5" name="Shape 3"/>
          <p:cNvSpPr/>
          <p:nvPr/>
        </p:nvSpPr>
        <p:spPr>
          <a:xfrm>
            <a:off x="11471148" y="626364"/>
            <a:ext cx="137160" cy="137160"/>
          </a:xfrm>
          <a:prstGeom prst="roundRect">
            <a:avLst>
              <a:gd name="adj" fmla="val 13333"/>
            </a:avLst>
          </a:prstGeom>
          <a:solidFill>
            <a:srgbClr val="2F6B7C"/>
          </a:solidFill>
          <a:ln w="12700">
            <a:solidFill>
              <a:srgbClr val="333333"/>
            </a:solidFill>
            <a:prstDash val="solid"/>
          </a:ln>
        </p:spPr>
        <p:txBody>
          <a:bodyPr/>
          <a:lstStyle/>
          <a:p>
            <a:endParaRPr lang="en-US"/>
          </a:p>
        </p:txBody>
      </p:sp>
      <p:sp>
        <p:nvSpPr>
          <p:cNvPr id="6" name="Text 4"/>
          <p:cNvSpPr txBox="1"/>
          <p:nvPr/>
        </p:nvSpPr>
        <p:spPr>
          <a:xfrm>
            <a:off x="548640" y="384048"/>
            <a:ext cx="10424160" cy="566928"/>
          </a:xfrm>
          <a:prstGeom prst="rect">
            <a:avLst/>
          </a:prstGeom>
          <a:noFill/>
          <a:ln/>
        </p:spPr>
        <p:txBody>
          <a:bodyPr wrap="square" lIns="0" tIns="0" rIns="0" bIns="0" rtlCol="0" anchor="t"/>
          <a:lstStyle/>
          <a:p>
            <a:pPr marL="0" indent="0">
              <a:buNone/>
            </a:pPr>
            <a:r>
              <a:rPr lang="en-US" sz="2900" b="1" dirty="0">
                <a:solidFill>
                  <a:srgbClr val="1A242C"/>
                </a:solidFill>
                <a:latin typeface="Cambria" pitchFamily="34" charset="0"/>
                <a:ea typeface="Cambria" pitchFamily="34" charset="-122"/>
                <a:cs typeface="Cambria" pitchFamily="34" charset="-120"/>
              </a:rPr>
              <a:t>Dimensional agreement</a:t>
            </a:r>
            <a:endParaRPr lang="en-US" sz="2900" dirty="0"/>
          </a:p>
        </p:txBody>
      </p:sp>
      <p:sp>
        <p:nvSpPr>
          <p:cNvPr id="7" name="Text 5"/>
          <p:cNvSpPr txBox="1"/>
          <p:nvPr/>
        </p:nvSpPr>
        <p:spPr>
          <a:xfrm>
            <a:off x="548640" y="969264"/>
            <a:ext cx="10424160" cy="329184"/>
          </a:xfrm>
          <a:prstGeom prst="rect">
            <a:avLst/>
          </a:prstGeom>
          <a:noFill/>
          <a:ln/>
        </p:spPr>
        <p:txBody>
          <a:bodyPr wrap="square" lIns="0" tIns="0" rIns="0" bIns="0" rtlCol="0" anchor="ctr"/>
          <a:lstStyle/>
          <a:p>
            <a:pPr marL="0" indent="0">
              <a:buNone/>
            </a:pPr>
            <a:r>
              <a:rPr lang="en-US" sz="1350" i="1" dirty="0">
                <a:solidFill>
                  <a:srgbClr val="5D6B75"/>
                </a:solidFill>
                <a:latin typeface="Calibri" pitchFamily="34" charset="0"/>
                <a:ea typeface="Calibri" pitchFamily="34" charset="-122"/>
                <a:cs typeface="Calibri" pitchFamily="34" charset="-120"/>
              </a:rPr>
              <a:t>How closely do two annotators place the same face?</a:t>
            </a:r>
            <a:endParaRPr lang="en-US" sz="1350" dirty="0"/>
          </a:p>
        </p:txBody>
      </p:sp>
      <p:sp>
        <p:nvSpPr>
          <p:cNvPr id="8" name="Text 6"/>
          <p:cNvSpPr txBox="1"/>
          <p:nvPr/>
        </p:nvSpPr>
        <p:spPr>
          <a:xfrm>
            <a:off x="9326880" y="6382512"/>
            <a:ext cx="2313432" cy="274320"/>
          </a:xfrm>
          <a:prstGeom prst="rect">
            <a:avLst/>
          </a:prstGeom>
          <a:noFill/>
          <a:ln/>
        </p:spPr>
        <p:txBody>
          <a:bodyPr wrap="square" lIns="0" tIns="0" rIns="0" bIns="0" rtlCol="0" anchor="ctr"/>
          <a:lstStyle/>
          <a:p>
            <a:pPr marL="0" indent="0" algn="r">
              <a:buNone/>
            </a:pPr>
            <a:r>
              <a:rPr lang="en-US" sz="900" dirty="0">
                <a:solidFill>
                  <a:srgbClr val="9DACB4"/>
                </a:solidFill>
                <a:latin typeface="Calibri" pitchFamily="34" charset="0"/>
                <a:ea typeface="Calibri" pitchFamily="34" charset="-122"/>
                <a:cs typeface="Calibri" pitchFamily="34" charset="-120"/>
              </a:rPr>
              <a:t>AffectNet · Mollahosseini et al. 2019  |  18</a:t>
            </a:r>
            <a:endParaRPr lang="en-US" sz="900" dirty="0"/>
          </a:p>
        </p:txBody>
      </p:sp>
      <p:sp>
        <p:nvSpPr>
          <p:cNvPr id="9" name="Text 7"/>
          <p:cNvSpPr txBox="1"/>
          <p:nvPr/>
        </p:nvSpPr>
        <p:spPr>
          <a:xfrm>
            <a:off x="4663440" y="1371600"/>
            <a:ext cx="1737360" cy="274320"/>
          </a:xfrm>
          <a:prstGeom prst="rect">
            <a:avLst/>
          </a:prstGeom>
          <a:noFill/>
          <a:ln/>
        </p:spPr>
        <p:txBody>
          <a:bodyPr wrap="square" lIns="0" tIns="0" rIns="0" bIns="0" rtlCol="0" anchor="ctr"/>
          <a:lstStyle/>
          <a:p>
            <a:pPr marL="0" indent="0">
              <a:buNone/>
            </a:pPr>
            <a:r>
              <a:rPr lang="en-US" sz="1200" b="1" dirty="0">
                <a:solidFill>
                  <a:srgbClr val="5D6B75"/>
                </a:solidFill>
                <a:latin typeface="Calibri" pitchFamily="34" charset="0"/>
                <a:ea typeface="Calibri" pitchFamily="34" charset="-122"/>
                <a:cs typeface="Calibri" pitchFamily="34" charset="-120"/>
              </a:rPr>
              <a:t>RMSE</a:t>
            </a:r>
            <a:endParaRPr lang="en-US" sz="1200" dirty="0"/>
          </a:p>
        </p:txBody>
      </p:sp>
      <p:sp>
        <p:nvSpPr>
          <p:cNvPr id="10" name="Text 8"/>
          <p:cNvSpPr txBox="1"/>
          <p:nvPr/>
        </p:nvSpPr>
        <p:spPr>
          <a:xfrm>
            <a:off x="6446520" y="1371600"/>
            <a:ext cx="1737360" cy="274320"/>
          </a:xfrm>
          <a:prstGeom prst="rect">
            <a:avLst/>
          </a:prstGeom>
          <a:noFill/>
          <a:ln/>
        </p:spPr>
        <p:txBody>
          <a:bodyPr wrap="square" lIns="0" tIns="0" rIns="0" bIns="0" rtlCol="0" anchor="ctr"/>
          <a:lstStyle/>
          <a:p>
            <a:pPr marL="0" indent="0">
              <a:buNone/>
            </a:pPr>
            <a:r>
              <a:rPr lang="en-US" sz="1200" b="1" dirty="0">
                <a:solidFill>
                  <a:srgbClr val="5D6B75"/>
                </a:solidFill>
                <a:latin typeface="Calibri" pitchFamily="34" charset="0"/>
                <a:ea typeface="Calibri" pitchFamily="34" charset="-122"/>
                <a:cs typeface="Calibri" pitchFamily="34" charset="-120"/>
              </a:rPr>
              <a:t>Correlation</a:t>
            </a:r>
            <a:endParaRPr lang="en-US" sz="1200" dirty="0"/>
          </a:p>
        </p:txBody>
      </p:sp>
      <p:sp>
        <p:nvSpPr>
          <p:cNvPr id="11" name="Text 9"/>
          <p:cNvSpPr txBox="1"/>
          <p:nvPr/>
        </p:nvSpPr>
        <p:spPr>
          <a:xfrm>
            <a:off x="8229600" y="1371600"/>
            <a:ext cx="1737360" cy="274320"/>
          </a:xfrm>
          <a:prstGeom prst="rect">
            <a:avLst/>
          </a:prstGeom>
          <a:noFill/>
          <a:ln/>
        </p:spPr>
        <p:txBody>
          <a:bodyPr wrap="square" lIns="0" tIns="0" rIns="0" bIns="0" rtlCol="0" anchor="ctr"/>
          <a:lstStyle/>
          <a:p>
            <a:pPr marL="0" indent="0">
              <a:buNone/>
            </a:pPr>
            <a:r>
              <a:rPr lang="en-US" sz="1200" b="1" dirty="0">
                <a:solidFill>
                  <a:srgbClr val="5D6B75"/>
                </a:solidFill>
                <a:latin typeface="Calibri" pitchFamily="34" charset="0"/>
                <a:ea typeface="Calibri" pitchFamily="34" charset="-122"/>
                <a:cs typeface="Calibri" pitchFamily="34" charset="-120"/>
              </a:rPr>
              <a:t>Sign agreement</a:t>
            </a:r>
            <a:endParaRPr lang="en-US" sz="1200" dirty="0"/>
          </a:p>
        </p:txBody>
      </p:sp>
      <p:sp>
        <p:nvSpPr>
          <p:cNvPr id="12" name="Text 10"/>
          <p:cNvSpPr txBox="1"/>
          <p:nvPr/>
        </p:nvSpPr>
        <p:spPr>
          <a:xfrm>
            <a:off x="10012680" y="1371600"/>
            <a:ext cx="1737360" cy="274320"/>
          </a:xfrm>
          <a:prstGeom prst="rect">
            <a:avLst/>
          </a:prstGeom>
          <a:noFill/>
          <a:ln/>
        </p:spPr>
        <p:txBody>
          <a:bodyPr wrap="square" lIns="0" tIns="0" rIns="0" bIns="0" rtlCol="0" anchor="ctr"/>
          <a:lstStyle/>
          <a:p>
            <a:pPr marL="0" indent="0">
              <a:buNone/>
            </a:pPr>
            <a:r>
              <a:rPr lang="en-US" sz="1200" b="1" dirty="0">
                <a:solidFill>
                  <a:srgbClr val="5D6B75"/>
                </a:solidFill>
                <a:latin typeface="Calibri" pitchFamily="34" charset="0"/>
                <a:ea typeface="Calibri" pitchFamily="34" charset="-122"/>
                <a:cs typeface="Calibri" pitchFamily="34" charset="-120"/>
              </a:rPr>
              <a:t>CCC</a:t>
            </a:r>
            <a:endParaRPr lang="en-US" sz="1200" dirty="0"/>
          </a:p>
        </p:txBody>
      </p:sp>
      <p:sp>
        <p:nvSpPr>
          <p:cNvPr id="13" name="Shape 11"/>
          <p:cNvSpPr/>
          <p:nvPr/>
        </p:nvSpPr>
        <p:spPr>
          <a:xfrm>
            <a:off x="566928" y="1645920"/>
            <a:ext cx="11064240" cy="420624"/>
          </a:xfrm>
          <a:prstGeom prst="roundRect">
            <a:avLst>
              <a:gd name="adj" fmla="val 6522"/>
            </a:avLst>
          </a:prstGeom>
          <a:solidFill>
            <a:srgbClr val="F1F5F6"/>
          </a:solidFill>
          <a:ln w="12700">
            <a:solidFill>
              <a:srgbClr val="E5ECEE"/>
            </a:solidFill>
            <a:prstDash val="solid"/>
          </a:ln>
        </p:spPr>
        <p:txBody>
          <a:bodyPr/>
          <a:lstStyle/>
          <a:p>
            <a:endParaRPr lang="en-US"/>
          </a:p>
        </p:txBody>
      </p:sp>
      <p:sp>
        <p:nvSpPr>
          <p:cNvPr id="14" name="Text 12"/>
          <p:cNvSpPr txBox="1"/>
          <p:nvPr/>
        </p:nvSpPr>
        <p:spPr>
          <a:xfrm>
            <a:off x="786384" y="1728216"/>
            <a:ext cx="3749040" cy="274320"/>
          </a:xfrm>
          <a:prstGeom prst="rect">
            <a:avLst/>
          </a:prstGeom>
          <a:noFill/>
          <a:ln/>
        </p:spPr>
        <p:txBody>
          <a:bodyPr wrap="square" lIns="0" tIns="0" rIns="0" bIns="0" rtlCol="0" anchor="ctr"/>
          <a:lstStyle/>
          <a:p>
            <a:pPr marL="0" indent="0">
              <a:buNone/>
            </a:pPr>
            <a:r>
              <a:rPr lang="en-US" sz="1250" b="1" dirty="0">
                <a:solidFill>
                  <a:srgbClr val="1A242C"/>
                </a:solidFill>
                <a:latin typeface="Calibri" pitchFamily="34" charset="0"/>
                <a:ea typeface="Calibri" pitchFamily="34" charset="-122"/>
                <a:cs typeface="Calibri" pitchFamily="34" charset="-120"/>
              </a:rPr>
              <a:t>Valence, same category</a:t>
            </a:r>
            <a:endParaRPr lang="en-US" sz="1250" dirty="0"/>
          </a:p>
        </p:txBody>
      </p:sp>
      <p:sp>
        <p:nvSpPr>
          <p:cNvPr id="15" name="Text 13"/>
          <p:cNvSpPr txBox="1"/>
          <p:nvPr/>
        </p:nvSpPr>
        <p:spPr>
          <a:xfrm>
            <a:off x="4663440" y="1728216"/>
            <a:ext cx="1463040" cy="274320"/>
          </a:xfrm>
          <a:prstGeom prst="rect">
            <a:avLst/>
          </a:prstGeom>
          <a:noFill/>
          <a:ln/>
        </p:spPr>
        <p:txBody>
          <a:bodyPr wrap="square" lIns="0" tIns="0" rIns="0" bIns="0" rtlCol="0" anchor="ctr"/>
          <a:lstStyle/>
          <a:p>
            <a:pPr marL="0" indent="0">
              <a:buNone/>
            </a:pPr>
            <a:r>
              <a:rPr lang="en-US" sz="1250" dirty="0">
                <a:solidFill>
                  <a:srgbClr val="2E3A42"/>
                </a:solidFill>
                <a:latin typeface="Calibri" pitchFamily="34" charset="0"/>
                <a:ea typeface="Calibri" pitchFamily="34" charset="-122"/>
                <a:cs typeface="Calibri" pitchFamily="34" charset="-120"/>
              </a:rPr>
              <a:t>0.190</a:t>
            </a:r>
            <a:endParaRPr lang="en-US" sz="1250" dirty="0"/>
          </a:p>
        </p:txBody>
      </p:sp>
      <p:sp>
        <p:nvSpPr>
          <p:cNvPr id="16" name="Text 14"/>
          <p:cNvSpPr txBox="1"/>
          <p:nvPr/>
        </p:nvSpPr>
        <p:spPr>
          <a:xfrm>
            <a:off x="6446520" y="1728216"/>
            <a:ext cx="1463040" cy="274320"/>
          </a:xfrm>
          <a:prstGeom prst="rect">
            <a:avLst/>
          </a:prstGeom>
          <a:noFill/>
          <a:ln/>
        </p:spPr>
        <p:txBody>
          <a:bodyPr wrap="square" lIns="0" tIns="0" rIns="0" bIns="0" rtlCol="0" anchor="ctr"/>
          <a:lstStyle/>
          <a:p>
            <a:pPr marL="0" indent="0">
              <a:buNone/>
            </a:pPr>
            <a:r>
              <a:rPr lang="en-US" sz="1250" dirty="0">
                <a:solidFill>
                  <a:srgbClr val="2E3A42"/>
                </a:solidFill>
                <a:latin typeface="Calibri" pitchFamily="34" charset="0"/>
                <a:ea typeface="Calibri" pitchFamily="34" charset="-122"/>
                <a:cs typeface="Calibri" pitchFamily="34" charset="-120"/>
              </a:rPr>
              <a:t>0.951</a:t>
            </a:r>
            <a:endParaRPr lang="en-US" sz="1250" dirty="0"/>
          </a:p>
        </p:txBody>
      </p:sp>
      <p:sp>
        <p:nvSpPr>
          <p:cNvPr id="17" name="Text 15"/>
          <p:cNvSpPr txBox="1"/>
          <p:nvPr/>
        </p:nvSpPr>
        <p:spPr>
          <a:xfrm>
            <a:off x="8229600" y="1728216"/>
            <a:ext cx="1463040" cy="274320"/>
          </a:xfrm>
          <a:prstGeom prst="rect">
            <a:avLst/>
          </a:prstGeom>
          <a:noFill/>
          <a:ln/>
        </p:spPr>
        <p:txBody>
          <a:bodyPr wrap="square" lIns="0" tIns="0" rIns="0" bIns="0" rtlCol="0" anchor="ctr"/>
          <a:lstStyle/>
          <a:p>
            <a:pPr marL="0" indent="0">
              <a:buNone/>
            </a:pPr>
            <a:r>
              <a:rPr lang="en-US" sz="1250" dirty="0">
                <a:solidFill>
                  <a:srgbClr val="2E3A42"/>
                </a:solidFill>
                <a:latin typeface="Calibri" pitchFamily="34" charset="0"/>
                <a:ea typeface="Calibri" pitchFamily="34" charset="-122"/>
                <a:cs typeface="Calibri" pitchFamily="34" charset="-120"/>
              </a:rPr>
              <a:t>0.906</a:t>
            </a:r>
            <a:endParaRPr lang="en-US" sz="1250" dirty="0"/>
          </a:p>
        </p:txBody>
      </p:sp>
      <p:sp>
        <p:nvSpPr>
          <p:cNvPr id="18" name="Text 16"/>
          <p:cNvSpPr txBox="1"/>
          <p:nvPr/>
        </p:nvSpPr>
        <p:spPr>
          <a:xfrm>
            <a:off x="10012680" y="1728216"/>
            <a:ext cx="1463040" cy="274320"/>
          </a:xfrm>
          <a:prstGeom prst="rect">
            <a:avLst/>
          </a:prstGeom>
          <a:noFill/>
          <a:ln/>
        </p:spPr>
        <p:txBody>
          <a:bodyPr wrap="square" lIns="0" tIns="0" rIns="0" bIns="0" rtlCol="0" anchor="ctr"/>
          <a:lstStyle/>
          <a:p>
            <a:pPr marL="0" indent="0">
              <a:buNone/>
            </a:pPr>
            <a:r>
              <a:rPr lang="en-US" sz="1250" dirty="0">
                <a:solidFill>
                  <a:srgbClr val="2E3A42"/>
                </a:solidFill>
                <a:latin typeface="Calibri" pitchFamily="34" charset="0"/>
                <a:ea typeface="Calibri" pitchFamily="34" charset="-122"/>
                <a:cs typeface="Calibri" pitchFamily="34" charset="-120"/>
              </a:rPr>
              <a:t>0.951</a:t>
            </a:r>
            <a:endParaRPr lang="en-US" sz="1250" dirty="0"/>
          </a:p>
        </p:txBody>
      </p:sp>
      <p:sp>
        <p:nvSpPr>
          <p:cNvPr id="19" name="Shape 17"/>
          <p:cNvSpPr/>
          <p:nvPr/>
        </p:nvSpPr>
        <p:spPr>
          <a:xfrm>
            <a:off x="566928" y="2121408"/>
            <a:ext cx="11064240" cy="420624"/>
          </a:xfrm>
          <a:prstGeom prst="roundRect">
            <a:avLst>
              <a:gd name="adj" fmla="val 6522"/>
            </a:avLst>
          </a:prstGeom>
          <a:solidFill>
            <a:srgbClr val="FFFFFF"/>
          </a:solidFill>
          <a:ln w="12700">
            <a:solidFill>
              <a:srgbClr val="E5ECEE"/>
            </a:solidFill>
            <a:prstDash val="solid"/>
          </a:ln>
        </p:spPr>
        <p:txBody>
          <a:bodyPr/>
          <a:lstStyle/>
          <a:p>
            <a:endParaRPr lang="en-US"/>
          </a:p>
        </p:txBody>
      </p:sp>
      <p:sp>
        <p:nvSpPr>
          <p:cNvPr id="20" name="Text 18"/>
          <p:cNvSpPr txBox="1"/>
          <p:nvPr/>
        </p:nvSpPr>
        <p:spPr>
          <a:xfrm>
            <a:off x="786384" y="2203704"/>
            <a:ext cx="3749040" cy="274320"/>
          </a:xfrm>
          <a:prstGeom prst="rect">
            <a:avLst/>
          </a:prstGeom>
          <a:noFill/>
          <a:ln/>
        </p:spPr>
        <p:txBody>
          <a:bodyPr wrap="square" lIns="0" tIns="0" rIns="0" bIns="0" rtlCol="0" anchor="ctr"/>
          <a:lstStyle/>
          <a:p>
            <a:pPr marL="0" indent="0">
              <a:buNone/>
            </a:pPr>
            <a:r>
              <a:rPr lang="en-US" sz="1250" b="1" dirty="0">
                <a:solidFill>
                  <a:srgbClr val="1A242C"/>
                </a:solidFill>
                <a:latin typeface="Calibri" pitchFamily="34" charset="0"/>
                <a:ea typeface="Calibri" pitchFamily="34" charset="-122"/>
                <a:cs typeface="Calibri" pitchFamily="34" charset="-120"/>
              </a:rPr>
              <a:t>Arousal, same category</a:t>
            </a:r>
            <a:endParaRPr lang="en-US" sz="1250" dirty="0"/>
          </a:p>
        </p:txBody>
      </p:sp>
      <p:sp>
        <p:nvSpPr>
          <p:cNvPr id="21" name="Text 19"/>
          <p:cNvSpPr txBox="1"/>
          <p:nvPr/>
        </p:nvSpPr>
        <p:spPr>
          <a:xfrm>
            <a:off x="4663440" y="2203704"/>
            <a:ext cx="1463040" cy="274320"/>
          </a:xfrm>
          <a:prstGeom prst="rect">
            <a:avLst/>
          </a:prstGeom>
          <a:noFill/>
          <a:ln/>
        </p:spPr>
        <p:txBody>
          <a:bodyPr wrap="square" lIns="0" tIns="0" rIns="0" bIns="0" rtlCol="0" anchor="ctr"/>
          <a:lstStyle/>
          <a:p>
            <a:pPr marL="0" indent="0">
              <a:buNone/>
            </a:pPr>
            <a:r>
              <a:rPr lang="en-US" sz="1250" dirty="0">
                <a:solidFill>
                  <a:srgbClr val="2E3A42"/>
                </a:solidFill>
                <a:latin typeface="Calibri" pitchFamily="34" charset="0"/>
                <a:ea typeface="Calibri" pitchFamily="34" charset="-122"/>
                <a:cs typeface="Calibri" pitchFamily="34" charset="-120"/>
              </a:rPr>
              <a:t>0.261</a:t>
            </a:r>
            <a:endParaRPr lang="en-US" sz="1250" dirty="0"/>
          </a:p>
        </p:txBody>
      </p:sp>
      <p:sp>
        <p:nvSpPr>
          <p:cNvPr id="22" name="Text 20"/>
          <p:cNvSpPr txBox="1"/>
          <p:nvPr/>
        </p:nvSpPr>
        <p:spPr>
          <a:xfrm>
            <a:off x="6446520" y="2203704"/>
            <a:ext cx="1463040" cy="274320"/>
          </a:xfrm>
          <a:prstGeom prst="rect">
            <a:avLst/>
          </a:prstGeom>
          <a:noFill/>
          <a:ln/>
        </p:spPr>
        <p:txBody>
          <a:bodyPr wrap="square" lIns="0" tIns="0" rIns="0" bIns="0" rtlCol="0" anchor="ctr"/>
          <a:lstStyle/>
          <a:p>
            <a:pPr marL="0" indent="0">
              <a:buNone/>
            </a:pPr>
            <a:r>
              <a:rPr lang="en-US" sz="1250" dirty="0">
                <a:solidFill>
                  <a:srgbClr val="2E3A42"/>
                </a:solidFill>
                <a:latin typeface="Calibri" pitchFamily="34" charset="0"/>
                <a:ea typeface="Calibri" pitchFamily="34" charset="-122"/>
                <a:cs typeface="Calibri" pitchFamily="34" charset="-120"/>
              </a:rPr>
              <a:t>0.766</a:t>
            </a:r>
            <a:endParaRPr lang="en-US" sz="1250" dirty="0"/>
          </a:p>
        </p:txBody>
      </p:sp>
      <p:sp>
        <p:nvSpPr>
          <p:cNvPr id="23" name="Text 21"/>
          <p:cNvSpPr txBox="1"/>
          <p:nvPr/>
        </p:nvSpPr>
        <p:spPr>
          <a:xfrm>
            <a:off x="8229600" y="2203704"/>
            <a:ext cx="1463040" cy="274320"/>
          </a:xfrm>
          <a:prstGeom prst="rect">
            <a:avLst/>
          </a:prstGeom>
          <a:noFill/>
          <a:ln/>
        </p:spPr>
        <p:txBody>
          <a:bodyPr wrap="square" lIns="0" tIns="0" rIns="0" bIns="0" rtlCol="0" anchor="ctr"/>
          <a:lstStyle/>
          <a:p>
            <a:pPr marL="0" indent="0">
              <a:buNone/>
            </a:pPr>
            <a:r>
              <a:rPr lang="en-US" sz="1250" dirty="0">
                <a:solidFill>
                  <a:srgbClr val="2E3A42"/>
                </a:solidFill>
                <a:latin typeface="Calibri" pitchFamily="34" charset="0"/>
                <a:ea typeface="Calibri" pitchFamily="34" charset="-122"/>
                <a:cs typeface="Calibri" pitchFamily="34" charset="-120"/>
              </a:rPr>
              <a:t>0.709</a:t>
            </a:r>
            <a:endParaRPr lang="en-US" sz="1250" dirty="0"/>
          </a:p>
        </p:txBody>
      </p:sp>
      <p:sp>
        <p:nvSpPr>
          <p:cNvPr id="24" name="Text 22"/>
          <p:cNvSpPr txBox="1"/>
          <p:nvPr/>
        </p:nvSpPr>
        <p:spPr>
          <a:xfrm>
            <a:off x="10012680" y="2203704"/>
            <a:ext cx="1463040" cy="274320"/>
          </a:xfrm>
          <a:prstGeom prst="rect">
            <a:avLst/>
          </a:prstGeom>
          <a:noFill/>
          <a:ln/>
        </p:spPr>
        <p:txBody>
          <a:bodyPr wrap="square" lIns="0" tIns="0" rIns="0" bIns="0" rtlCol="0" anchor="ctr"/>
          <a:lstStyle/>
          <a:p>
            <a:pPr marL="0" indent="0">
              <a:buNone/>
            </a:pPr>
            <a:r>
              <a:rPr lang="en-US" sz="1250" dirty="0">
                <a:solidFill>
                  <a:srgbClr val="2E3A42"/>
                </a:solidFill>
                <a:latin typeface="Calibri" pitchFamily="34" charset="0"/>
                <a:ea typeface="Calibri" pitchFamily="34" charset="-122"/>
                <a:cs typeface="Calibri" pitchFamily="34" charset="-120"/>
              </a:rPr>
              <a:t>0.746</a:t>
            </a:r>
            <a:endParaRPr lang="en-US" sz="1250" dirty="0"/>
          </a:p>
        </p:txBody>
      </p:sp>
      <p:sp>
        <p:nvSpPr>
          <p:cNvPr id="25" name="Shape 23"/>
          <p:cNvSpPr/>
          <p:nvPr/>
        </p:nvSpPr>
        <p:spPr>
          <a:xfrm>
            <a:off x="566928" y="2596896"/>
            <a:ext cx="11064240" cy="420624"/>
          </a:xfrm>
          <a:prstGeom prst="roundRect">
            <a:avLst>
              <a:gd name="adj" fmla="val 6522"/>
            </a:avLst>
          </a:prstGeom>
          <a:solidFill>
            <a:srgbClr val="F1F5F6"/>
          </a:solidFill>
          <a:ln w="12700">
            <a:solidFill>
              <a:srgbClr val="E5ECEE"/>
            </a:solidFill>
            <a:prstDash val="solid"/>
          </a:ln>
        </p:spPr>
        <p:txBody>
          <a:bodyPr/>
          <a:lstStyle/>
          <a:p>
            <a:endParaRPr lang="en-US"/>
          </a:p>
        </p:txBody>
      </p:sp>
      <p:sp>
        <p:nvSpPr>
          <p:cNvPr id="26" name="Text 24"/>
          <p:cNvSpPr txBox="1"/>
          <p:nvPr/>
        </p:nvSpPr>
        <p:spPr>
          <a:xfrm>
            <a:off x="786384" y="2679192"/>
            <a:ext cx="3749040" cy="274320"/>
          </a:xfrm>
          <a:prstGeom prst="rect">
            <a:avLst/>
          </a:prstGeom>
          <a:noFill/>
          <a:ln/>
        </p:spPr>
        <p:txBody>
          <a:bodyPr wrap="square" lIns="0" tIns="0" rIns="0" bIns="0" rtlCol="0" anchor="ctr"/>
          <a:lstStyle/>
          <a:p>
            <a:pPr marL="0" indent="0">
              <a:buNone/>
            </a:pPr>
            <a:r>
              <a:rPr lang="en-US" sz="1250" b="1" dirty="0">
                <a:solidFill>
                  <a:srgbClr val="1A242C"/>
                </a:solidFill>
                <a:latin typeface="Calibri" pitchFamily="34" charset="0"/>
                <a:ea typeface="Calibri" pitchFamily="34" charset="-122"/>
                <a:cs typeface="Calibri" pitchFamily="34" charset="-120"/>
              </a:rPr>
              <a:t>Valence, all images</a:t>
            </a:r>
            <a:endParaRPr lang="en-US" sz="1250" dirty="0"/>
          </a:p>
        </p:txBody>
      </p:sp>
      <p:sp>
        <p:nvSpPr>
          <p:cNvPr id="27" name="Text 25"/>
          <p:cNvSpPr txBox="1"/>
          <p:nvPr/>
        </p:nvSpPr>
        <p:spPr>
          <a:xfrm>
            <a:off x="4663440" y="2679192"/>
            <a:ext cx="1463040" cy="274320"/>
          </a:xfrm>
          <a:prstGeom prst="rect">
            <a:avLst/>
          </a:prstGeom>
          <a:noFill/>
          <a:ln/>
        </p:spPr>
        <p:txBody>
          <a:bodyPr wrap="square" lIns="0" tIns="0" rIns="0" bIns="0" rtlCol="0" anchor="ctr"/>
          <a:lstStyle/>
          <a:p>
            <a:pPr marL="0" indent="0">
              <a:buNone/>
            </a:pPr>
            <a:r>
              <a:rPr lang="en-US" sz="1250" dirty="0">
                <a:solidFill>
                  <a:srgbClr val="D2603F"/>
                </a:solidFill>
                <a:latin typeface="Calibri" pitchFamily="34" charset="0"/>
                <a:ea typeface="Calibri" pitchFamily="34" charset="-122"/>
                <a:cs typeface="Calibri" pitchFamily="34" charset="-120"/>
              </a:rPr>
              <a:t>0.340</a:t>
            </a:r>
            <a:endParaRPr lang="en-US" sz="1250" dirty="0"/>
          </a:p>
        </p:txBody>
      </p:sp>
      <p:sp>
        <p:nvSpPr>
          <p:cNvPr id="28" name="Text 26"/>
          <p:cNvSpPr txBox="1"/>
          <p:nvPr/>
        </p:nvSpPr>
        <p:spPr>
          <a:xfrm>
            <a:off x="6446520" y="2679192"/>
            <a:ext cx="1463040" cy="274320"/>
          </a:xfrm>
          <a:prstGeom prst="rect">
            <a:avLst/>
          </a:prstGeom>
          <a:noFill/>
          <a:ln/>
        </p:spPr>
        <p:txBody>
          <a:bodyPr wrap="square" lIns="0" tIns="0" rIns="0" bIns="0" rtlCol="0" anchor="ctr"/>
          <a:lstStyle/>
          <a:p>
            <a:pPr marL="0" indent="0">
              <a:buNone/>
            </a:pPr>
            <a:r>
              <a:rPr lang="en-US" sz="1250" dirty="0">
                <a:solidFill>
                  <a:srgbClr val="D2603F"/>
                </a:solidFill>
                <a:latin typeface="Calibri" pitchFamily="34" charset="0"/>
                <a:ea typeface="Calibri" pitchFamily="34" charset="-122"/>
                <a:cs typeface="Calibri" pitchFamily="34" charset="-120"/>
              </a:rPr>
              <a:t>0.823</a:t>
            </a:r>
            <a:endParaRPr lang="en-US" sz="1250" dirty="0"/>
          </a:p>
        </p:txBody>
      </p:sp>
      <p:sp>
        <p:nvSpPr>
          <p:cNvPr id="29" name="Text 27"/>
          <p:cNvSpPr txBox="1"/>
          <p:nvPr/>
        </p:nvSpPr>
        <p:spPr>
          <a:xfrm>
            <a:off x="8229600" y="2679192"/>
            <a:ext cx="1463040" cy="274320"/>
          </a:xfrm>
          <a:prstGeom prst="rect">
            <a:avLst/>
          </a:prstGeom>
          <a:noFill/>
          <a:ln/>
        </p:spPr>
        <p:txBody>
          <a:bodyPr wrap="square" lIns="0" tIns="0" rIns="0" bIns="0" rtlCol="0" anchor="ctr"/>
          <a:lstStyle/>
          <a:p>
            <a:pPr marL="0" indent="0">
              <a:buNone/>
            </a:pPr>
            <a:r>
              <a:rPr lang="en-US" sz="1250" dirty="0">
                <a:solidFill>
                  <a:srgbClr val="D2603F"/>
                </a:solidFill>
                <a:latin typeface="Calibri" pitchFamily="34" charset="0"/>
                <a:ea typeface="Calibri" pitchFamily="34" charset="-122"/>
                <a:cs typeface="Calibri" pitchFamily="34" charset="-120"/>
              </a:rPr>
              <a:t>0.815</a:t>
            </a:r>
            <a:endParaRPr lang="en-US" sz="1250" dirty="0"/>
          </a:p>
        </p:txBody>
      </p:sp>
      <p:sp>
        <p:nvSpPr>
          <p:cNvPr id="30" name="Text 28"/>
          <p:cNvSpPr txBox="1"/>
          <p:nvPr/>
        </p:nvSpPr>
        <p:spPr>
          <a:xfrm>
            <a:off x="10012680" y="2679192"/>
            <a:ext cx="1463040" cy="274320"/>
          </a:xfrm>
          <a:prstGeom prst="rect">
            <a:avLst/>
          </a:prstGeom>
          <a:noFill/>
          <a:ln/>
        </p:spPr>
        <p:txBody>
          <a:bodyPr wrap="square" lIns="0" tIns="0" rIns="0" bIns="0" rtlCol="0" anchor="ctr"/>
          <a:lstStyle/>
          <a:p>
            <a:pPr marL="0" indent="0">
              <a:buNone/>
            </a:pPr>
            <a:r>
              <a:rPr lang="en-US" sz="1250" dirty="0">
                <a:solidFill>
                  <a:srgbClr val="D2603F"/>
                </a:solidFill>
                <a:latin typeface="Calibri" pitchFamily="34" charset="0"/>
                <a:ea typeface="Calibri" pitchFamily="34" charset="-122"/>
                <a:cs typeface="Calibri" pitchFamily="34" charset="-120"/>
              </a:rPr>
              <a:t>0.821</a:t>
            </a:r>
            <a:endParaRPr lang="en-US" sz="1250" dirty="0"/>
          </a:p>
        </p:txBody>
      </p:sp>
      <p:sp>
        <p:nvSpPr>
          <p:cNvPr id="31" name="Shape 29"/>
          <p:cNvSpPr/>
          <p:nvPr/>
        </p:nvSpPr>
        <p:spPr>
          <a:xfrm>
            <a:off x="566928" y="3072384"/>
            <a:ext cx="11064240" cy="420624"/>
          </a:xfrm>
          <a:prstGeom prst="roundRect">
            <a:avLst>
              <a:gd name="adj" fmla="val 6522"/>
            </a:avLst>
          </a:prstGeom>
          <a:solidFill>
            <a:srgbClr val="FFFFFF"/>
          </a:solidFill>
          <a:ln w="12700">
            <a:solidFill>
              <a:srgbClr val="E5ECEE"/>
            </a:solidFill>
            <a:prstDash val="solid"/>
          </a:ln>
        </p:spPr>
        <p:txBody>
          <a:bodyPr/>
          <a:lstStyle/>
          <a:p>
            <a:endParaRPr lang="en-US"/>
          </a:p>
        </p:txBody>
      </p:sp>
      <p:sp>
        <p:nvSpPr>
          <p:cNvPr id="32" name="Text 30"/>
          <p:cNvSpPr txBox="1"/>
          <p:nvPr/>
        </p:nvSpPr>
        <p:spPr>
          <a:xfrm>
            <a:off x="786384" y="3154680"/>
            <a:ext cx="3749040" cy="274320"/>
          </a:xfrm>
          <a:prstGeom prst="rect">
            <a:avLst/>
          </a:prstGeom>
          <a:noFill/>
          <a:ln/>
        </p:spPr>
        <p:txBody>
          <a:bodyPr wrap="square" lIns="0" tIns="0" rIns="0" bIns="0" rtlCol="0" anchor="ctr"/>
          <a:lstStyle/>
          <a:p>
            <a:pPr marL="0" indent="0">
              <a:buNone/>
            </a:pPr>
            <a:r>
              <a:rPr lang="en-US" sz="1250" b="1" dirty="0">
                <a:solidFill>
                  <a:srgbClr val="1A242C"/>
                </a:solidFill>
                <a:latin typeface="Calibri" pitchFamily="34" charset="0"/>
                <a:ea typeface="Calibri" pitchFamily="34" charset="-122"/>
                <a:cs typeface="Calibri" pitchFamily="34" charset="-120"/>
              </a:rPr>
              <a:t>Arousal, all images</a:t>
            </a:r>
            <a:endParaRPr lang="en-US" sz="1250" dirty="0"/>
          </a:p>
        </p:txBody>
      </p:sp>
      <p:sp>
        <p:nvSpPr>
          <p:cNvPr id="33" name="Text 31"/>
          <p:cNvSpPr txBox="1"/>
          <p:nvPr/>
        </p:nvSpPr>
        <p:spPr>
          <a:xfrm>
            <a:off x="4663440" y="3154680"/>
            <a:ext cx="1463040" cy="274320"/>
          </a:xfrm>
          <a:prstGeom prst="rect">
            <a:avLst/>
          </a:prstGeom>
          <a:noFill/>
          <a:ln/>
        </p:spPr>
        <p:txBody>
          <a:bodyPr wrap="square" lIns="0" tIns="0" rIns="0" bIns="0" rtlCol="0" anchor="ctr"/>
          <a:lstStyle/>
          <a:p>
            <a:pPr marL="0" indent="0">
              <a:buNone/>
            </a:pPr>
            <a:r>
              <a:rPr lang="en-US" sz="1250" dirty="0">
                <a:solidFill>
                  <a:srgbClr val="D2603F"/>
                </a:solidFill>
                <a:latin typeface="Calibri" pitchFamily="34" charset="0"/>
                <a:ea typeface="Calibri" pitchFamily="34" charset="-122"/>
                <a:cs typeface="Calibri" pitchFamily="34" charset="-120"/>
              </a:rPr>
              <a:t>0.362</a:t>
            </a:r>
            <a:endParaRPr lang="en-US" sz="1250" dirty="0"/>
          </a:p>
        </p:txBody>
      </p:sp>
      <p:sp>
        <p:nvSpPr>
          <p:cNvPr id="34" name="Text 32"/>
          <p:cNvSpPr txBox="1"/>
          <p:nvPr/>
        </p:nvSpPr>
        <p:spPr>
          <a:xfrm>
            <a:off x="6446520" y="3154680"/>
            <a:ext cx="1463040" cy="274320"/>
          </a:xfrm>
          <a:prstGeom prst="rect">
            <a:avLst/>
          </a:prstGeom>
          <a:noFill/>
          <a:ln/>
        </p:spPr>
        <p:txBody>
          <a:bodyPr wrap="square" lIns="0" tIns="0" rIns="0" bIns="0" rtlCol="0" anchor="ctr"/>
          <a:lstStyle/>
          <a:p>
            <a:pPr marL="0" indent="0">
              <a:buNone/>
            </a:pPr>
            <a:r>
              <a:rPr lang="en-US" sz="1250" dirty="0">
                <a:solidFill>
                  <a:srgbClr val="D2603F"/>
                </a:solidFill>
                <a:latin typeface="Calibri" pitchFamily="34" charset="0"/>
                <a:ea typeface="Calibri" pitchFamily="34" charset="-122"/>
                <a:cs typeface="Calibri" pitchFamily="34" charset="-120"/>
              </a:rPr>
              <a:t>0.567</a:t>
            </a:r>
            <a:endParaRPr lang="en-US" sz="1250" dirty="0"/>
          </a:p>
        </p:txBody>
      </p:sp>
      <p:sp>
        <p:nvSpPr>
          <p:cNvPr id="35" name="Text 33"/>
          <p:cNvSpPr txBox="1"/>
          <p:nvPr/>
        </p:nvSpPr>
        <p:spPr>
          <a:xfrm>
            <a:off x="8229600" y="3154680"/>
            <a:ext cx="1463040" cy="274320"/>
          </a:xfrm>
          <a:prstGeom prst="rect">
            <a:avLst/>
          </a:prstGeom>
          <a:noFill/>
          <a:ln/>
        </p:spPr>
        <p:txBody>
          <a:bodyPr wrap="square" lIns="0" tIns="0" rIns="0" bIns="0" rtlCol="0" anchor="ctr"/>
          <a:lstStyle/>
          <a:p>
            <a:pPr marL="0" indent="0">
              <a:buNone/>
            </a:pPr>
            <a:r>
              <a:rPr lang="en-US" sz="1250" dirty="0">
                <a:solidFill>
                  <a:srgbClr val="D2603F"/>
                </a:solidFill>
                <a:latin typeface="Calibri" pitchFamily="34" charset="0"/>
                <a:ea typeface="Calibri" pitchFamily="34" charset="-122"/>
                <a:cs typeface="Calibri" pitchFamily="34" charset="-120"/>
              </a:rPr>
              <a:t>0.667</a:t>
            </a:r>
            <a:endParaRPr lang="en-US" sz="1250" dirty="0"/>
          </a:p>
        </p:txBody>
      </p:sp>
      <p:sp>
        <p:nvSpPr>
          <p:cNvPr id="36" name="Text 34"/>
          <p:cNvSpPr txBox="1"/>
          <p:nvPr/>
        </p:nvSpPr>
        <p:spPr>
          <a:xfrm>
            <a:off x="10012680" y="3154680"/>
            <a:ext cx="1463040" cy="274320"/>
          </a:xfrm>
          <a:prstGeom prst="rect">
            <a:avLst/>
          </a:prstGeom>
          <a:noFill/>
          <a:ln/>
        </p:spPr>
        <p:txBody>
          <a:bodyPr wrap="square" lIns="0" tIns="0" rIns="0" bIns="0" rtlCol="0" anchor="ctr"/>
          <a:lstStyle/>
          <a:p>
            <a:pPr marL="0" indent="0">
              <a:buNone/>
            </a:pPr>
            <a:r>
              <a:rPr lang="en-US" sz="1250" dirty="0">
                <a:solidFill>
                  <a:srgbClr val="D2603F"/>
                </a:solidFill>
                <a:latin typeface="Calibri" pitchFamily="34" charset="0"/>
                <a:ea typeface="Calibri" pitchFamily="34" charset="-122"/>
                <a:cs typeface="Calibri" pitchFamily="34" charset="-120"/>
              </a:rPr>
              <a:t>0.551</a:t>
            </a:r>
            <a:endParaRPr lang="en-US" sz="1250" dirty="0"/>
          </a:p>
        </p:txBody>
      </p:sp>
      <p:sp>
        <p:nvSpPr>
          <p:cNvPr id="37" name="Shape 35"/>
          <p:cNvSpPr/>
          <p:nvPr/>
        </p:nvSpPr>
        <p:spPr>
          <a:xfrm>
            <a:off x="566928" y="3712464"/>
            <a:ext cx="5440680" cy="1298448"/>
          </a:xfrm>
          <a:prstGeom prst="roundRect">
            <a:avLst>
              <a:gd name="adj" fmla="val 4225"/>
            </a:avLst>
          </a:prstGeom>
          <a:solidFill>
            <a:srgbClr val="F1F5F6"/>
          </a:solidFill>
          <a:ln w="12700">
            <a:solidFill>
              <a:srgbClr val="DDE6E9"/>
            </a:solidFill>
            <a:prstDash val="solid"/>
          </a:ln>
        </p:spPr>
        <p:txBody>
          <a:bodyPr/>
          <a:lstStyle/>
          <a:p>
            <a:endParaRPr lang="en-US"/>
          </a:p>
        </p:txBody>
      </p:sp>
      <p:sp>
        <p:nvSpPr>
          <p:cNvPr id="38" name="Shape 36"/>
          <p:cNvSpPr/>
          <p:nvPr/>
        </p:nvSpPr>
        <p:spPr>
          <a:xfrm>
            <a:off x="786384" y="4005072"/>
            <a:ext cx="109728" cy="109728"/>
          </a:xfrm>
          <a:prstGeom prst="ellipse">
            <a:avLst/>
          </a:prstGeom>
          <a:solidFill>
            <a:srgbClr val="2F6B7C"/>
          </a:solidFill>
          <a:ln w="12700">
            <a:solidFill>
              <a:srgbClr val="333333"/>
            </a:solidFill>
            <a:prstDash val="solid"/>
          </a:ln>
        </p:spPr>
        <p:txBody>
          <a:bodyPr/>
          <a:lstStyle/>
          <a:p>
            <a:endParaRPr lang="en-US"/>
          </a:p>
        </p:txBody>
      </p:sp>
      <p:sp>
        <p:nvSpPr>
          <p:cNvPr id="39" name="Text 37"/>
          <p:cNvSpPr txBox="1"/>
          <p:nvPr/>
        </p:nvSpPr>
        <p:spPr>
          <a:xfrm>
            <a:off x="987552" y="3877056"/>
            <a:ext cx="4800600" cy="365760"/>
          </a:xfrm>
          <a:prstGeom prst="rect">
            <a:avLst/>
          </a:prstGeom>
          <a:noFill/>
          <a:ln/>
        </p:spPr>
        <p:txBody>
          <a:bodyPr wrap="square" lIns="0" tIns="0" rIns="0" bIns="0" rtlCol="0" anchor="ctr"/>
          <a:lstStyle/>
          <a:p>
            <a:pPr marL="0" indent="0">
              <a:buNone/>
            </a:pPr>
            <a:r>
              <a:rPr lang="en-US" sz="1500" b="1" dirty="0">
                <a:solidFill>
                  <a:srgbClr val="1A242C"/>
                </a:solidFill>
                <a:latin typeface="Cambria" pitchFamily="34" charset="0"/>
                <a:ea typeface="Cambria" pitchFamily="34" charset="-122"/>
                <a:cs typeface="Cambria" pitchFamily="34" charset="-120"/>
              </a:rPr>
              <a:t>Valence is easier than arousal</a:t>
            </a:r>
            <a:endParaRPr lang="en-US" sz="1500" dirty="0"/>
          </a:p>
        </p:txBody>
      </p:sp>
      <p:sp>
        <p:nvSpPr>
          <p:cNvPr id="40" name="Text 38"/>
          <p:cNvSpPr txBox="1"/>
          <p:nvPr/>
        </p:nvSpPr>
        <p:spPr>
          <a:xfrm>
            <a:off x="822960" y="4315968"/>
            <a:ext cx="4928616" cy="512064"/>
          </a:xfrm>
          <a:prstGeom prst="rect">
            <a:avLst/>
          </a:prstGeom>
          <a:noFill/>
          <a:ln/>
        </p:spPr>
        <p:txBody>
          <a:bodyPr wrap="square" lIns="0" tIns="0" rIns="0" bIns="0" rtlCol="0" anchor="t"/>
          <a:lstStyle/>
          <a:p>
            <a:pPr marL="0" indent="0">
              <a:lnSpc>
                <a:spcPct val="108000"/>
              </a:lnSpc>
              <a:buNone/>
            </a:pPr>
            <a:r>
              <a:rPr lang="en-US" sz="1260" dirty="0">
                <a:solidFill>
                  <a:srgbClr val="2E3A42"/>
                </a:solidFill>
                <a:latin typeface="Calibri" pitchFamily="34" charset="0"/>
                <a:ea typeface="Calibri" pitchFamily="34" charset="-122"/>
                <a:cs typeface="Calibri" pitchFamily="34" charset="-120"/>
              </a:rPr>
              <a:t>Consistently, on every metric. Judging how positive a face is turns out to be less subjective than judging how activated it is.</a:t>
            </a:r>
            <a:endParaRPr lang="en-US" sz="1260" dirty="0"/>
          </a:p>
        </p:txBody>
      </p:sp>
      <p:sp>
        <p:nvSpPr>
          <p:cNvPr id="41" name="Shape 39"/>
          <p:cNvSpPr/>
          <p:nvPr/>
        </p:nvSpPr>
        <p:spPr>
          <a:xfrm>
            <a:off x="6190488" y="3712464"/>
            <a:ext cx="5440680" cy="1298448"/>
          </a:xfrm>
          <a:prstGeom prst="roundRect">
            <a:avLst>
              <a:gd name="adj" fmla="val 4225"/>
            </a:avLst>
          </a:prstGeom>
          <a:solidFill>
            <a:srgbClr val="F1F5F6"/>
          </a:solidFill>
          <a:ln w="12700">
            <a:solidFill>
              <a:srgbClr val="DDE6E9"/>
            </a:solidFill>
            <a:prstDash val="solid"/>
          </a:ln>
        </p:spPr>
        <p:txBody>
          <a:bodyPr/>
          <a:lstStyle/>
          <a:p>
            <a:endParaRPr lang="en-US"/>
          </a:p>
        </p:txBody>
      </p:sp>
      <p:sp>
        <p:nvSpPr>
          <p:cNvPr id="42" name="Shape 40"/>
          <p:cNvSpPr/>
          <p:nvPr/>
        </p:nvSpPr>
        <p:spPr>
          <a:xfrm>
            <a:off x="6409944" y="4005072"/>
            <a:ext cx="109728" cy="109728"/>
          </a:xfrm>
          <a:prstGeom prst="ellipse">
            <a:avLst/>
          </a:prstGeom>
          <a:solidFill>
            <a:srgbClr val="D2603F"/>
          </a:solidFill>
          <a:ln w="12700">
            <a:solidFill>
              <a:srgbClr val="333333"/>
            </a:solidFill>
            <a:prstDash val="solid"/>
          </a:ln>
        </p:spPr>
        <p:txBody>
          <a:bodyPr/>
          <a:lstStyle/>
          <a:p>
            <a:endParaRPr lang="en-US"/>
          </a:p>
        </p:txBody>
      </p:sp>
      <p:sp>
        <p:nvSpPr>
          <p:cNvPr id="43" name="Text 41"/>
          <p:cNvSpPr txBox="1"/>
          <p:nvPr/>
        </p:nvSpPr>
        <p:spPr>
          <a:xfrm>
            <a:off x="6611112" y="3877056"/>
            <a:ext cx="4800600" cy="365760"/>
          </a:xfrm>
          <a:prstGeom prst="rect">
            <a:avLst/>
          </a:prstGeom>
          <a:noFill/>
          <a:ln/>
        </p:spPr>
        <p:txBody>
          <a:bodyPr wrap="square" lIns="0" tIns="0" rIns="0" bIns="0" rtlCol="0" anchor="ctr"/>
          <a:lstStyle/>
          <a:p>
            <a:pPr marL="0" indent="0">
              <a:buNone/>
            </a:pPr>
            <a:r>
              <a:rPr lang="en-US" sz="1500" b="1" dirty="0">
                <a:solidFill>
                  <a:srgbClr val="1A242C"/>
                </a:solidFill>
                <a:latin typeface="Cambria" pitchFamily="34" charset="0"/>
                <a:ea typeface="Cambria" pitchFamily="34" charset="-122"/>
                <a:cs typeface="Cambria" pitchFamily="34" charset="-120"/>
              </a:rPr>
              <a:t>Agreeing on the category matters</a:t>
            </a:r>
            <a:endParaRPr lang="en-US" sz="1500" dirty="0"/>
          </a:p>
        </p:txBody>
      </p:sp>
      <p:sp>
        <p:nvSpPr>
          <p:cNvPr id="44" name="Text 42"/>
          <p:cNvSpPr txBox="1"/>
          <p:nvPr/>
        </p:nvSpPr>
        <p:spPr>
          <a:xfrm>
            <a:off x="6446520" y="4315968"/>
            <a:ext cx="4928616" cy="512064"/>
          </a:xfrm>
          <a:prstGeom prst="rect">
            <a:avLst/>
          </a:prstGeom>
          <a:noFill/>
          <a:ln/>
        </p:spPr>
        <p:txBody>
          <a:bodyPr wrap="square" lIns="0" tIns="0" rIns="0" bIns="0" rtlCol="0" anchor="t"/>
          <a:lstStyle/>
          <a:p>
            <a:pPr marL="0" indent="0">
              <a:lnSpc>
                <a:spcPct val="108000"/>
              </a:lnSpc>
              <a:buNone/>
            </a:pPr>
            <a:r>
              <a:rPr lang="en-US" sz="1260" dirty="0">
                <a:solidFill>
                  <a:srgbClr val="2E3A42"/>
                </a:solidFill>
                <a:latin typeface="Calibri" pitchFamily="34" charset="0"/>
                <a:ea typeface="Calibri" pitchFamily="34" charset="-122"/>
                <a:cs typeface="Calibri" pitchFamily="34" charset="-120"/>
              </a:rPr>
              <a:t>With the same category chosen, valence correlation is 0.951; across all images it falls to 0.823, and arousal from 0.766 to 0.567.</a:t>
            </a:r>
            <a:endParaRPr lang="en-US" sz="1260" dirty="0"/>
          </a:p>
        </p:txBody>
      </p:sp>
      <p:sp>
        <p:nvSpPr>
          <p:cNvPr id="45" name="Shape 43"/>
          <p:cNvSpPr/>
          <p:nvPr/>
        </p:nvSpPr>
        <p:spPr>
          <a:xfrm>
            <a:off x="566928" y="5157216"/>
            <a:ext cx="11064240" cy="896112"/>
          </a:xfrm>
          <a:prstGeom prst="roundRect">
            <a:avLst>
              <a:gd name="adj" fmla="val 6122"/>
            </a:avLst>
          </a:prstGeom>
          <a:solidFill>
            <a:srgbClr val="24303A"/>
          </a:solidFill>
          <a:ln w="12700">
            <a:solidFill>
              <a:srgbClr val="24303A"/>
            </a:solidFill>
            <a:prstDash val="solid"/>
          </a:ln>
        </p:spPr>
        <p:txBody>
          <a:bodyPr/>
          <a:lstStyle/>
          <a:p>
            <a:endParaRPr lang="en-US"/>
          </a:p>
        </p:txBody>
      </p:sp>
      <p:sp>
        <p:nvSpPr>
          <p:cNvPr id="46" name="Text 44"/>
          <p:cNvSpPr txBox="1"/>
          <p:nvPr/>
        </p:nvSpPr>
        <p:spPr>
          <a:xfrm>
            <a:off x="822960" y="5376672"/>
            <a:ext cx="10552176" cy="475488"/>
          </a:xfrm>
          <a:prstGeom prst="rect">
            <a:avLst/>
          </a:prstGeom>
          <a:noFill/>
          <a:ln/>
        </p:spPr>
        <p:txBody>
          <a:bodyPr wrap="square" lIns="0" tIns="0" rIns="0" bIns="0" rtlCol="0" anchor="t"/>
          <a:lstStyle/>
          <a:p>
            <a:pPr marL="0" indent="0">
              <a:lnSpc>
                <a:spcPct val="108000"/>
              </a:lnSpc>
              <a:buNone/>
            </a:pPr>
            <a:r>
              <a:rPr lang="en-US" sz="1300" dirty="0">
                <a:solidFill>
                  <a:srgbClr val="C6D6DC"/>
                </a:solidFill>
                <a:latin typeface="Calibri" pitchFamily="34" charset="0"/>
                <a:ea typeface="Calibri" pitchFamily="34" charset="-122"/>
                <a:cs typeface="Calibri" pitchFamily="34" charset="-120"/>
              </a:rPr>
              <a:t>Note a discrepancy: section 4.3 of the paper quotes annotator RMSE as 0.367 and 0.481, while the table and the conclusion give 0.340 and 0.362. Cite the table.</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301984" y="457200"/>
            <a:ext cx="137160" cy="137160"/>
          </a:xfrm>
          <a:prstGeom prst="roundRect">
            <a:avLst>
              <a:gd name="adj" fmla="val 13333"/>
            </a:avLst>
          </a:prstGeom>
          <a:solidFill>
            <a:srgbClr val="2F6B7C"/>
          </a:solidFill>
          <a:ln w="12700">
            <a:solidFill>
              <a:srgbClr val="333333"/>
            </a:solidFill>
            <a:prstDash val="solid"/>
          </a:ln>
        </p:spPr>
        <p:txBody>
          <a:bodyPr/>
          <a:lstStyle/>
          <a:p>
            <a:endParaRPr lang="en-US"/>
          </a:p>
        </p:txBody>
      </p:sp>
      <p:sp>
        <p:nvSpPr>
          <p:cNvPr id="3" name="Shape 1"/>
          <p:cNvSpPr/>
          <p:nvPr/>
        </p:nvSpPr>
        <p:spPr>
          <a:xfrm>
            <a:off x="11471148" y="457200"/>
            <a:ext cx="137160" cy="137160"/>
          </a:xfrm>
          <a:prstGeom prst="roundRect">
            <a:avLst>
              <a:gd name="adj" fmla="val 13333"/>
            </a:avLst>
          </a:prstGeom>
          <a:solidFill>
            <a:srgbClr val="D2603F"/>
          </a:solidFill>
          <a:ln w="12700">
            <a:solidFill>
              <a:srgbClr val="333333"/>
            </a:solidFill>
            <a:prstDash val="solid"/>
          </a:ln>
        </p:spPr>
        <p:txBody>
          <a:bodyPr/>
          <a:lstStyle/>
          <a:p>
            <a:endParaRPr lang="en-US"/>
          </a:p>
        </p:txBody>
      </p:sp>
      <p:sp>
        <p:nvSpPr>
          <p:cNvPr id="4" name="Shape 2"/>
          <p:cNvSpPr/>
          <p:nvPr/>
        </p:nvSpPr>
        <p:spPr>
          <a:xfrm>
            <a:off x="11301984" y="626364"/>
            <a:ext cx="137160" cy="137160"/>
          </a:xfrm>
          <a:prstGeom prst="roundRect">
            <a:avLst>
              <a:gd name="adj" fmla="val 13333"/>
            </a:avLst>
          </a:prstGeom>
          <a:solidFill>
            <a:srgbClr val="8CA3AD"/>
          </a:solidFill>
          <a:ln w="12700">
            <a:solidFill>
              <a:srgbClr val="333333"/>
            </a:solidFill>
            <a:prstDash val="solid"/>
          </a:ln>
        </p:spPr>
        <p:txBody>
          <a:bodyPr/>
          <a:lstStyle/>
          <a:p>
            <a:endParaRPr lang="en-US"/>
          </a:p>
        </p:txBody>
      </p:sp>
      <p:sp>
        <p:nvSpPr>
          <p:cNvPr id="5" name="Shape 3"/>
          <p:cNvSpPr/>
          <p:nvPr/>
        </p:nvSpPr>
        <p:spPr>
          <a:xfrm>
            <a:off x="11471148" y="626364"/>
            <a:ext cx="137160" cy="137160"/>
          </a:xfrm>
          <a:prstGeom prst="roundRect">
            <a:avLst>
              <a:gd name="adj" fmla="val 13333"/>
            </a:avLst>
          </a:prstGeom>
          <a:solidFill>
            <a:srgbClr val="2F6B7C"/>
          </a:solidFill>
          <a:ln w="12700">
            <a:solidFill>
              <a:srgbClr val="333333"/>
            </a:solidFill>
            <a:prstDash val="solid"/>
          </a:ln>
        </p:spPr>
        <p:txBody>
          <a:bodyPr/>
          <a:lstStyle/>
          <a:p>
            <a:endParaRPr lang="en-US"/>
          </a:p>
        </p:txBody>
      </p:sp>
      <p:sp>
        <p:nvSpPr>
          <p:cNvPr id="6" name="Text 4"/>
          <p:cNvSpPr txBox="1"/>
          <p:nvPr/>
        </p:nvSpPr>
        <p:spPr>
          <a:xfrm>
            <a:off x="548640" y="384048"/>
            <a:ext cx="10424160" cy="566928"/>
          </a:xfrm>
          <a:prstGeom prst="rect">
            <a:avLst/>
          </a:prstGeom>
          <a:noFill/>
          <a:ln/>
        </p:spPr>
        <p:txBody>
          <a:bodyPr wrap="square" lIns="0" tIns="0" rIns="0" bIns="0" rtlCol="0" anchor="t"/>
          <a:lstStyle/>
          <a:p>
            <a:pPr marL="0" indent="0">
              <a:buNone/>
            </a:pPr>
            <a:r>
              <a:rPr lang="en-US" sz="2900" b="1" dirty="0">
                <a:solidFill>
                  <a:srgbClr val="1A242C"/>
                </a:solidFill>
                <a:latin typeface="Cambria" pitchFamily="34" charset="0"/>
                <a:ea typeface="Cambria" pitchFamily="34" charset="-122"/>
                <a:cs typeface="Cambria" pitchFamily="34" charset="-120"/>
              </a:rPr>
              <a:t>What the agreement number means for everything else</a:t>
            </a:r>
            <a:endParaRPr lang="en-US" sz="2900" dirty="0"/>
          </a:p>
        </p:txBody>
      </p:sp>
      <p:sp>
        <p:nvSpPr>
          <p:cNvPr id="7" name="Text 5"/>
          <p:cNvSpPr txBox="1"/>
          <p:nvPr/>
        </p:nvSpPr>
        <p:spPr>
          <a:xfrm>
            <a:off x="548640" y="969264"/>
            <a:ext cx="10424160" cy="329184"/>
          </a:xfrm>
          <a:prstGeom prst="rect">
            <a:avLst/>
          </a:prstGeom>
          <a:noFill/>
          <a:ln/>
        </p:spPr>
        <p:txBody>
          <a:bodyPr wrap="square" lIns="0" tIns="0" rIns="0" bIns="0" rtlCol="0" anchor="ctr"/>
          <a:lstStyle/>
          <a:p>
            <a:pPr marL="0" indent="0">
              <a:buNone/>
            </a:pPr>
            <a:r>
              <a:rPr lang="en-US" sz="1350" i="1" dirty="0">
                <a:solidFill>
                  <a:srgbClr val="5D6B75"/>
                </a:solidFill>
                <a:latin typeface="Calibri" pitchFamily="34" charset="0"/>
                <a:ea typeface="Calibri" pitchFamily="34" charset="-122"/>
                <a:cs typeface="Calibri" pitchFamily="34" charset="-120"/>
              </a:rPr>
              <a:t>Human performance is the ceiling, and it is low</a:t>
            </a:r>
            <a:endParaRPr lang="en-US" sz="1350" dirty="0"/>
          </a:p>
        </p:txBody>
      </p:sp>
      <p:sp>
        <p:nvSpPr>
          <p:cNvPr id="8" name="Text 6"/>
          <p:cNvSpPr txBox="1"/>
          <p:nvPr/>
        </p:nvSpPr>
        <p:spPr>
          <a:xfrm>
            <a:off x="9326880" y="6382512"/>
            <a:ext cx="2313432" cy="274320"/>
          </a:xfrm>
          <a:prstGeom prst="rect">
            <a:avLst/>
          </a:prstGeom>
          <a:noFill/>
          <a:ln/>
        </p:spPr>
        <p:txBody>
          <a:bodyPr wrap="square" lIns="0" tIns="0" rIns="0" bIns="0" rtlCol="0" anchor="ctr"/>
          <a:lstStyle/>
          <a:p>
            <a:pPr marL="0" indent="0" algn="r">
              <a:buNone/>
            </a:pPr>
            <a:r>
              <a:rPr lang="en-US" sz="900" dirty="0">
                <a:solidFill>
                  <a:srgbClr val="9DACB4"/>
                </a:solidFill>
                <a:latin typeface="Calibri" pitchFamily="34" charset="0"/>
                <a:ea typeface="Calibri" pitchFamily="34" charset="-122"/>
                <a:cs typeface="Calibri" pitchFamily="34" charset="-120"/>
              </a:rPr>
              <a:t>AffectNet · Mollahosseini et al. 2019  |  19</a:t>
            </a:r>
            <a:endParaRPr lang="en-US" sz="900" dirty="0"/>
          </a:p>
        </p:txBody>
      </p:sp>
      <p:sp>
        <p:nvSpPr>
          <p:cNvPr id="9" name="Shape 7"/>
          <p:cNvSpPr/>
          <p:nvPr/>
        </p:nvSpPr>
        <p:spPr>
          <a:xfrm>
            <a:off x="566928" y="1600200"/>
            <a:ext cx="3584448" cy="2103120"/>
          </a:xfrm>
          <a:prstGeom prst="roundRect">
            <a:avLst>
              <a:gd name="adj" fmla="val 2609"/>
            </a:avLst>
          </a:prstGeom>
          <a:solidFill>
            <a:srgbClr val="F1F5F6"/>
          </a:solidFill>
          <a:ln w="12700">
            <a:solidFill>
              <a:srgbClr val="DDE6E9"/>
            </a:solidFill>
            <a:prstDash val="solid"/>
          </a:ln>
        </p:spPr>
        <p:txBody>
          <a:bodyPr/>
          <a:lstStyle/>
          <a:p>
            <a:endParaRPr lang="en-US"/>
          </a:p>
        </p:txBody>
      </p:sp>
      <p:sp>
        <p:nvSpPr>
          <p:cNvPr id="10" name="Shape 8"/>
          <p:cNvSpPr/>
          <p:nvPr/>
        </p:nvSpPr>
        <p:spPr>
          <a:xfrm>
            <a:off x="786384" y="1892808"/>
            <a:ext cx="109728" cy="109728"/>
          </a:xfrm>
          <a:prstGeom prst="ellipse">
            <a:avLst/>
          </a:prstGeom>
          <a:solidFill>
            <a:srgbClr val="2F6B7C"/>
          </a:solidFill>
          <a:ln w="12700">
            <a:solidFill>
              <a:srgbClr val="333333"/>
            </a:solidFill>
            <a:prstDash val="solid"/>
          </a:ln>
        </p:spPr>
        <p:txBody>
          <a:bodyPr/>
          <a:lstStyle/>
          <a:p>
            <a:endParaRPr lang="en-US"/>
          </a:p>
        </p:txBody>
      </p:sp>
      <p:sp>
        <p:nvSpPr>
          <p:cNvPr id="11" name="Text 9"/>
          <p:cNvSpPr txBox="1"/>
          <p:nvPr/>
        </p:nvSpPr>
        <p:spPr>
          <a:xfrm>
            <a:off x="987552" y="1764792"/>
            <a:ext cx="2944368" cy="365760"/>
          </a:xfrm>
          <a:prstGeom prst="rect">
            <a:avLst/>
          </a:prstGeom>
          <a:noFill/>
          <a:ln/>
        </p:spPr>
        <p:txBody>
          <a:bodyPr wrap="square" lIns="0" tIns="0" rIns="0" bIns="0" rtlCol="0" anchor="ctr"/>
          <a:lstStyle/>
          <a:p>
            <a:pPr marL="0" indent="0">
              <a:buNone/>
            </a:pPr>
            <a:r>
              <a:rPr lang="en-US" sz="1500" b="1" dirty="0">
                <a:solidFill>
                  <a:srgbClr val="1A242C"/>
                </a:solidFill>
                <a:latin typeface="Cambria" pitchFamily="34" charset="0"/>
                <a:ea typeface="Cambria" pitchFamily="34" charset="-122"/>
                <a:cs typeface="Cambria" pitchFamily="34" charset="-120"/>
              </a:rPr>
              <a:t>For the labels</a:t>
            </a:r>
            <a:endParaRPr lang="en-US" sz="1500" dirty="0"/>
          </a:p>
        </p:txBody>
      </p:sp>
      <p:sp>
        <p:nvSpPr>
          <p:cNvPr id="12" name="Text 10"/>
          <p:cNvSpPr txBox="1"/>
          <p:nvPr/>
        </p:nvSpPr>
        <p:spPr>
          <a:xfrm>
            <a:off x="822960" y="2203704"/>
            <a:ext cx="3072384" cy="1316736"/>
          </a:xfrm>
          <a:prstGeom prst="rect">
            <a:avLst/>
          </a:prstGeom>
          <a:noFill/>
          <a:ln/>
        </p:spPr>
        <p:txBody>
          <a:bodyPr wrap="square" lIns="0" tIns="0" rIns="0" bIns="0" rtlCol="0" anchor="t"/>
          <a:lstStyle/>
          <a:p>
            <a:pPr marL="0" indent="0">
              <a:lnSpc>
                <a:spcPct val="108000"/>
              </a:lnSpc>
              <a:buNone/>
            </a:pPr>
            <a:r>
              <a:rPr lang="en-US" sz="1260" dirty="0">
                <a:solidFill>
                  <a:srgbClr val="2E3A42"/>
                </a:solidFill>
                <a:latin typeface="Calibri" pitchFamily="34" charset="0"/>
                <a:ea typeface="Calibri" pitchFamily="34" charset="-122"/>
                <a:cs typeface="Calibri" pitchFamily="34" charset="-120"/>
              </a:rPr>
              <a:t>92% of the database has a single annotator's label. If two experts agree only 60.7% of the time, then a substantial fraction of those single labels would have been different with a different annotator.</a:t>
            </a:r>
            <a:endParaRPr lang="en-US" sz="1260" dirty="0"/>
          </a:p>
        </p:txBody>
      </p:sp>
      <p:sp>
        <p:nvSpPr>
          <p:cNvPr id="13" name="Shape 11"/>
          <p:cNvSpPr/>
          <p:nvPr/>
        </p:nvSpPr>
        <p:spPr>
          <a:xfrm>
            <a:off x="4279392" y="1600200"/>
            <a:ext cx="3584448" cy="2103120"/>
          </a:xfrm>
          <a:prstGeom prst="roundRect">
            <a:avLst>
              <a:gd name="adj" fmla="val 2609"/>
            </a:avLst>
          </a:prstGeom>
          <a:solidFill>
            <a:srgbClr val="F1F5F6"/>
          </a:solidFill>
          <a:ln w="12700">
            <a:solidFill>
              <a:srgbClr val="DDE6E9"/>
            </a:solidFill>
            <a:prstDash val="solid"/>
          </a:ln>
        </p:spPr>
        <p:txBody>
          <a:bodyPr/>
          <a:lstStyle/>
          <a:p>
            <a:endParaRPr lang="en-US"/>
          </a:p>
        </p:txBody>
      </p:sp>
      <p:sp>
        <p:nvSpPr>
          <p:cNvPr id="14" name="Shape 12"/>
          <p:cNvSpPr/>
          <p:nvPr/>
        </p:nvSpPr>
        <p:spPr>
          <a:xfrm>
            <a:off x="4498848" y="1892808"/>
            <a:ext cx="109728" cy="109728"/>
          </a:xfrm>
          <a:prstGeom prst="ellipse">
            <a:avLst/>
          </a:prstGeom>
          <a:solidFill>
            <a:srgbClr val="D2603F"/>
          </a:solidFill>
          <a:ln w="12700">
            <a:solidFill>
              <a:srgbClr val="333333"/>
            </a:solidFill>
            <a:prstDash val="solid"/>
          </a:ln>
        </p:spPr>
        <p:txBody>
          <a:bodyPr/>
          <a:lstStyle/>
          <a:p>
            <a:endParaRPr lang="en-US"/>
          </a:p>
        </p:txBody>
      </p:sp>
      <p:sp>
        <p:nvSpPr>
          <p:cNvPr id="15" name="Text 13"/>
          <p:cNvSpPr txBox="1"/>
          <p:nvPr/>
        </p:nvSpPr>
        <p:spPr>
          <a:xfrm>
            <a:off x="4700016" y="1764792"/>
            <a:ext cx="2944368" cy="365760"/>
          </a:xfrm>
          <a:prstGeom prst="rect">
            <a:avLst/>
          </a:prstGeom>
          <a:noFill/>
          <a:ln/>
        </p:spPr>
        <p:txBody>
          <a:bodyPr wrap="square" lIns="0" tIns="0" rIns="0" bIns="0" rtlCol="0" anchor="ctr"/>
          <a:lstStyle/>
          <a:p>
            <a:pPr marL="0" indent="0">
              <a:buNone/>
            </a:pPr>
            <a:r>
              <a:rPr lang="en-US" sz="1500" b="1" dirty="0">
                <a:solidFill>
                  <a:srgbClr val="1A242C"/>
                </a:solidFill>
                <a:latin typeface="Cambria" pitchFamily="34" charset="0"/>
                <a:ea typeface="Cambria" pitchFamily="34" charset="-122"/>
                <a:cs typeface="Cambria" pitchFamily="34" charset="-120"/>
              </a:rPr>
              <a:t>For the test set</a:t>
            </a:r>
            <a:endParaRPr lang="en-US" sz="1500" dirty="0"/>
          </a:p>
        </p:txBody>
      </p:sp>
      <p:sp>
        <p:nvSpPr>
          <p:cNvPr id="16" name="Text 14"/>
          <p:cNvSpPr txBox="1"/>
          <p:nvPr/>
        </p:nvSpPr>
        <p:spPr>
          <a:xfrm>
            <a:off x="4535424" y="2203704"/>
            <a:ext cx="3072384" cy="1316736"/>
          </a:xfrm>
          <a:prstGeom prst="rect">
            <a:avLst/>
          </a:prstGeom>
          <a:noFill/>
          <a:ln/>
        </p:spPr>
        <p:txBody>
          <a:bodyPr wrap="square" lIns="0" tIns="0" rIns="0" bIns="0" rtlCol="0" anchor="t"/>
          <a:lstStyle/>
          <a:p>
            <a:pPr marL="0" indent="0">
              <a:lnSpc>
                <a:spcPct val="108000"/>
              </a:lnSpc>
              <a:buNone/>
            </a:pPr>
            <a:r>
              <a:rPr lang="en-US" sz="1260" dirty="0">
                <a:solidFill>
                  <a:srgbClr val="2E3A42"/>
                </a:solidFill>
                <a:latin typeface="Calibri" pitchFamily="34" charset="0"/>
                <a:ea typeface="Calibri" pitchFamily="34" charset="-122"/>
                <a:cs typeface="Calibri" pitchFamily="34" charset="-120"/>
              </a:rPr>
              <a:t>The test set is the doubly annotated subset. Where the two disagreed, one annotation was picked at random — except that in 29.5% of disagreements, preference was given to the original search query.</a:t>
            </a:r>
            <a:endParaRPr lang="en-US" sz="1260" dirty="0"/>
          </a:p>
        </p:txBody>
      </p:sp>
      <p:sp>
        <p:nvSpPr>
          <p:cNvPr id="17" name="Shape 15"/>
          <p:cNvSpPr/>
          <p:nvPr/>
        </p:nvSpPr>
        <p:spPr>
          <a:xfrm>
            <a:off x="7991856" y="1600200"/>
            <a:ext cx="3639312" cy="2103120"/>
          </a:xfrm>
          <a:prstGeom prst="roundRect">
            <a:avLst>
              <a:gd name="adj" fmla="val 2609"/>
            </a:avLst>
          </a:prstGeom>
          <a:solidFill>
            <a:srgbClr val="F1F5F6"/>
          </a:solidFill>
          <a:ln w="12700">
            <a:solidFill>
              <a:srgbClr val="DDE6E9"/>
            </a:solidFill>
            <a:prstDash val="solid"/>
          </a:ln>
        </p:spPr>
        <p:txBody>
          <a:bodyPr/>
          <a:lstStyle/>
          <a:p>
            <a:endParaRPr lang="en-US"/>
          </a:p>
        </p:txBody>
      </p:sp>
      <p:sp>
        <p:nvSpPr>
          <p:cNvPr id="18" name="Shape 16"/>
          <p:cNvSpPr/>
          <p:nvPr/>
        </p:nvSpPr>
        <p:spPr>
          <a:xfrm>
            <a:off x="8211312" y="1892808"/>
            <a:ext cx="109728" cy="109728"/>
          </a:xfrm>
          <a:prstGeom prst="ellipse">
            <a:avLst/>
          </a:prstGeom>
          <a:solidFill>
            <a:srgbClr val="2F6B7C"/>
          </a:solidFill>
          <a:ln w="12700">
            <a:solidFill>
              <a:srgbClr val="333333"/>
            </a:solidFill>
            <a:prstDash val="solid"/>
          </a:ln>
        </p:spPr>
        <p:txBody>
          <a:bodyPr/>
          <a:lstStyle/>
          <a:p>
            <a:endParaRPr lang="en-US"/>
          </a:p>
        </p:txBody>
      </p:sp>
      <p:sp>
        <p:nvSpPr>
          <p:cNvPr id="19" name="Text 17"/>
          <p:cNvSpPr txBox="1"/>
          <p:nvPr/>
        </p:nvSpPr>
        <p:spPr>
          <a:xfrm>
            <a:off x="8412480" y="1764792"/>
            <a:ext cx="2999232" cy="365760"/>
          </a:xfrm>
          <a:prstGeom prst="rect">
            <a:avLst/>
          </a:prstGeom>
          <a:noFill/>
          <a:ln/>
        </p:spPr>
        <p:txBody>
          <a:bodyPr wrap="square" lIns="0" tIns="0" rIns="0" bIns="0" rtlCol="0" anchor="ctr"/>
          <a:lstStyle/>
          <a:p>
            <a:pPr marL="0" indent="0">
              <a:buNone/>
            </a:pPr>
            <a:r>
              <a:rPr lang="en-US" sz="1500" b="1" dirty="0">
                <a:solidFill>
                  <a:srgbClr val="1A242C"/>
                </a:solidFill>
                <a:latin typeface="Cambria" pitchFamily="34" charset="0"/>
                <a:ea typeface="Cambria" pitchFamily="34" charset="-122"/>
                <a:cs typeface="Cambria" pitchFamily="34" charset="-120"/>
              </a:rPr>
              <a:t>For the benchmark</a:t>
            </a:r>
            <a:endParaRPr lang="en-US" sz="1500" dirty="0"/>
          </a:p>
        </p:txBody>
      </p:sp>
      <p:sp>
        <p:nvSpPr>
          <p:cNvPr id="20" name="Text 18"/>
          <p:cNvSpPr txBox="1"/>
          <p:nvPr/>
        </p:nvSpPr>
        <p:spPr>
          <a:xfrm>
            <a:off x="8247888" y="2203704"/>
            <a:ext cx="3127248" cy="1316736"/>
          </a:xfrm>
          <a:prstGeom prst="rect">
            <a:avLst/>
          </a:prstGeom>
          <a:noFill/>
          <a:ln/>
        </p:spPr>
        <p:txBody>
          <a:bodyPr wrap="square" lIns="0" tIns="0" rIns="0" bIns="0" rtlCol="0" anchor="t"/>
          <a:lstStyle/>
          <a:p>
            <a:pPr marL="0" indent="0">
              <a:lnSpc>
                <a:spcPct val="108000"/>
              </a:lnSpc>
              <a:buNone/>
            </a:pPr>
            <a:r>
              <a:rPr lang="en-US" sz="1260" dirty="0">
                <a:solidFill>
                  <a:srgbClr val="2E3A42"/>
                </a:solidFill>
                <a:latin typeface="Calibri" pitchFamily="34" charset="0"/>
                <a:ea typeface="Calibri" pitchFamily="34" charset="-122"/>
                <a:cs typeface="Calibri" pitchFamily="34" charset="-120"/>
              </a:rPr>
              <a:t>A model reported at 65% accuracy on AffectNet is not obviously worse than a human. The paper says as much: even human annotations carry more error here than automated methods achieve on easier databases.</a:t>
            </a:r>
            <a:endParaRPr lang="en-US" sz="1260" dirty="0"/>
          </a:p>
        </p:txBody>
      </p:sp>
      <p:sp>
        <p:nvSpPr>
          <p:cNvPr id="21" name="Shape 19"/>
          <p:cNvSpPr/>
          <p:nvPr/>
        </p:nvSpPr>
        <p:spPr>
          <a:xfrm>
            <a:off x="566928" y="3913632"/>
            <a:ext cx="11064240" cy="2139696"/>
          </a:xfrm>
          <a:prstGeom prst="roundRect">
            <a:avLst>
              <a:gd name="adj" fmla="val 2564"/>
            </a:avLst>
          </a:prstGeom>
          <a:solidFill>
            <a:srgbClr val="24303A"/>
          </a:solidFill>
          <a:ln w="12700">
            <a:solidFill>
              <a:srgbClr val="24303A"/>
            </a:solidFill>
            <a:prstDash val="solid"/>
          </a:ln>
        </p:spPr>
        <p:txBody>
          <a:bodyPr/>
          <a:lstStyle/>
          <a:p>
            <a:endParaRPr lang="en-US"/>
          </a:p>
        </p:txBody>
      </p:sp>
      <p:sp>
        <p:nvSpPr>
          <p:cNvPr id="22" name="Shape 20"/>
          <p:cNvSpPr/>
          <p:nvPr/>
        </p:nvSpPr>
        <p:spPr>
          <a:xfrm>
            <a:off x="786384" y="4206240"/>
            <a:ext cx="109728" cy="109728"/>
          </a:xfrm>
          <a:prstGeom prst="ellipse">
            <a:avLst/>
          </a:prstGeom>
          <a:solidFill>
            <a:srgbClr val="D2603F"/>
          </a:solidFill>
          <a:ln w="12700">
            <a:solidFill>
              <a:srgbClr val="333333"/>
            </a:solidFill>
            <a:prstDash val="solid"/>
          </a:ln>
        </p:spPr>
        <p:txBody>
          <a:bodyPr/>
          <a:lstStyle/>
          <a:p>
            <a:endParaRPr lang="en-US"/>
          </a:p>
        </p:txBody>
      </p:sp>
      <p:sp>
        <p:nvSpPr>
          <p:cNvPr id="23" name="Text 21"/>
          <p:cNvSpPr txBox="1"/>
          <p:nvPr/>
        </p:nvSpPr>
        <p:spPr>
          <a:xfrm>
            <a:off x="987552" y="4078224"/>
            <a:ext cx="10424160" cy="365760"/>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The middle card deserves particular attention</a:t>
            </a:r>
            <a:endParaRPr lang="en-US" sz="1500" dirty="0"/>
          </a:p>
        </p:txBody>
      </p:sp>
      <p:sp>
        <p:nvSpPr>
          <p:cNvPr id="24" name="Text 22"/>
          <p:cNvSpPr txBox="1"/>
          <p:nvPr/>
        </p:nvSpPr>
        <p:spPr>
          <a:xfrm>
            <a:off x="822960" y="4517136"/>
            <a:ext cx="10552176" cy="1353312"/>
          </a:xfrm>
          <a:prstGeom prst="rect">
            <a:avLst/>
          </a:prstGeom>
          <a:noFill/>
          <a:ln/>
        </p:spPr>
        <p:txBody>
          <a:bodyPr wrap="square" lIns="0" tIns="0" rIns="0" bIns="0" rtlCol="0" anchor="t"/>
          <a:lstStyle/>
          <a:p>
            <a:pPr marL="0" indent="0">
              <a:lnSpc>
                <a:spcPct val="108000"/>
              </a:lnSpc>
              <a:buNone/>
            </a:pPr>
            <a:r>
              <a:rPr lang="en-US" sz="1300" dirty="0">
                <a:solidFill>
                  <a:srgbClr val="C6D6DC"/>
                </a:solidFill>
                <a:latin typeface="Calibri" pitchFamily="34" charset="0"/>
                <a:ea typeface="Calibri" pitchFamily="34" charset="-122"/>
                <a:cs typeface="Calibri" pitchFamily="34" charset="-120"/>
              </a:rPr>
              <a:t>Resolving annotator disagreement in favour of the search query means part of the test set's ground truth is the query term — the very signal the hit-rate table showed to be unreliable, and the reason manual annotation was needed in the first place.</a:t>
            </a:r>
            <a:endParaRPr lang="en-US" sz="1300" dirty="0"/>
          </a:p>
          <a:p>
            <a:pPr marL="0" indent="0">
              <a:lnSpc>
                <a:spcPct val="108000"/>
              </a:lnSpc>
              <a:buNone/>
            </a:pPr>
            <a:endParaRPr lang="en-US" sz="1300" dirty="0"/>
          </a:p>
          <a:p>
            <a:pPr marL="0" indent="0">
              <a:lnSpc>
                <a:spcPct val="108000"/>
              </a:lnSpc>
              <a:buNone/>
            </a:pPr>
            <a:r>
              <a:rPr lang="en-US" sz="1300" dirty="0">
                <a:solidFill>
                  <a:srgbClr val="C6D6DC"/>
                </a:solidFill>
                <a:latin typeface="Calibri" pitchFamily="34" charset="0"/>
                <a:ea typeface="Calibri" pitchFamily="34" charset="-122"/>
                <a:cs typeface="Calibri" pitchFamily="34" charset="-120"/>
              </a:rPr>
              <a:t>It affects a minority of a minority: 29.5% of the disagreements within the 36,000-image test set. But it is a systematic tie-break in a known-biased direction, and anyone reporting AffectNet test accuracy should know it is there.</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0">
    <p:bg>
      <p:bgPr>
        <a:solidFill>
          <a:srgbClr val="24303A"/>
        </a:solidFill>
        <a:effectLst/>
      </p:bgPr>
    </p:bg>
    <p:spTree>
      <p:nvGrpSpPr>
        <p:cNvPr id="1" name=""/>
        <p:cNvGrpSpPr/>
        <p:nvPr/>
      </p:nvGrpSpPr>
      <p:grpSpPr>
        <a:xfrm>
          <a:off x="0" y="0"/>
          <a:ext cx="0" cy="0"/>
          <a:chOff x="0" y="0"/>
          <a:chExt cx="0" cy="0"/>
        </a:xfrm>
      </p:grpSpPr>
      <p:sp>
        <p:nvSpPr>
          <p:cNvPr id="2" name="Shape 0"/>
          <p:cNvSpPr/>
          <p:nvPr/>
        </p:nvSpPr>
        <p:spPr>
          <a:xfrm>
            <a:off x="10607040" y="5303520"/>
            <a:ext cx="274320" cy="274320"/>
          </a:xfrm>
          <a:prstGeom prst="roundRect">
            <a:avLst>
              <a:gd name="adj" fmla="val 6667"/>
            </a:avLst>
          </a:prstGeom>
          <a:solidFill>
            <a:srgbClr val="C6D6DC"/>
          </a:solidFill>
          <a:ln w="12700">
            <a:solidFill>
              <a:srgbClr val="333333"/>
            </a:solidFill>
            <a:prstDash val="solid"/>
          </a:ln>
        </p:spPr>
        <p:txBody>
          <a:bodyPr/>
          <a:lstStyle/>
          <a:p>
            <a:endParaRPr lang="en-US"/>
          </a:p>
        </p:txBody>
      </p:sp>
      <p:sp>
        <p:nvSpPr>
          <p:cNvPr id="3" name="Shape 1"/>
          <p:cNvSpPr/>
          <p:nvPr/>
        </p:nvSpPr>
        <p:spPr>
          <a:xfrm>
            <a:off x="10945368" y="5303520"/>
            <a:ext cx="274320" cy="274320"/>
          </a:xfrm>
          <a:prstGeom prst="roundRect">
            <a:avLst>
              <a:gd name="adj" fmla="val 6667"/>
            </a:avLst>
          </a:prstGeom>
          <a:solidFill>
            <a:srgbClr val="D2603F"/>
          </a:solidFill>
          <a:ln w="12700">
            <a:solidFill>
              <a:srgbClr val="333333"/>
            </a:solidFill>
            <a:prstDash val="solid"/>
          </a:ln>
        </p:spPr>
        <p:txBody>
          <a:bodyPr/>
          <a:lstStyle/>
          <a:p>
            <a:endParaRPr lang="en-US"/>
          </a:p>
        </p:txBody>
      </p:sp>
      <p:sp>
        <p:nvSpPr>
          <p:cNvPr id="4" name="Shape 2"/>
          <p:cNvSpPr/>
          <p:nvPr/>
        </p:nvSpPr>
        <p:spPr>
          <a:xfrm>
            <a:off x="10607040" y="5641848"/>
            <a:ext cx="274320" cy="274320"/>
          </a:xfrm>
          <a:prstGeom prst="roundRect">
            <a:avLst>
              <a:gd name="adj" fmla="val 6667"/>
            </a:avLst>
          </a:prstGeom>
          <a:solidFill>
            <a:srgbClr val="C6D6DC"/>
          </a:solidFill>
          <a:ln w="12700">
            <a:solidFill>
              <a:srgbClr val="333333"/>
            </a:solidFill>
            <a:prstDash val="solid"/>
          </a:ln>
        </p:spPr>
        <p:txBody>
          <a:bodyPr/>
          <a:lstStyle/>
          <a:p>
            <a:endParaRPr lang="en-US"/>
          </a:p>
        </p:txBody>
      </p:sp>
      <p:sp>
        <p:nvSpPr>
          <p:cNvPr id="5" name="Shape 3"/>
          <p:cNvSpPr/>
          <p:nvPr/>
        </p:nvSpPr>
        <p:spPr>
          <a:xfrm>
            <a:off x="10945368" y="5641848"/>
            <a:ext cx="274320" cy="274320"/>
          </a:xfrm>
          <a:prstGeom prst="roundRect">
            <a:avLst>
              <a:gd name="adj" fmla="val 6667"/>
            </a:avLst>
          </a:prstGeom>
          <a:solidFill>
            <a:srgbClr val="8CA3AD"/>
          </a:solidFill>
          <a:ln w="12700">
            <a:solidFill>
              <a:srgbClr val="333333"/>
            </a:solidFill>
            <a:prstDash val="solid"/>
          </a:ln>
        </p:spPr>
        <p:txBody>
          <a:bodyPr/>
          <a:lstStyle/>
          <a:p>
            <a:endParaRPr lang="en-US"/>
          </a:p>
        </p:txBody>
      </p:sp>
      <p:sp>
        <p:nvSpPr>
          <p:cNvPr id="6" name="Text 4"/>
          <p:cNvSpPr txBox="1"/>
          <p:nvPr/>
        </p:nvSpPr>
        <p:spPr>
          <a:xfrm>
            <a:off x="822960" y="2057400"/>
            <a:ext cx="1554480" cy="1005840"/>
          </a:xfrm>
          <a:prstGeom prst="rect">
            <a:avLst/>
          </a:prstGeom>
          <a:noFill/>
          <a:ln/>
        </p:spPr>
        <p:txBody>
          <a:bodyPr wrap="square" lIns="0" tIns="0" rIns="0" bIns="0" rtlCol="0" anchor="ctr"/>
          <a:lstStyle/>
          <a:p>
            <a:pPr marL="0" indent="0">
              <a:buNone/>
            </a:pPr>
            <a:r>
              <a:rPr lang="en-US" sz="6600" b="1" dirty="0">
                <a:solidFill>
                  <a:srgbClr val="D2603F"/>
                </a:solidFill>
                <a:latin typeface="Cambria" pitchFamily="34" charset="0"/>
                <a:ea typeface="Cambria" pitchFamily="34" charset="-122"/>
                <a:cs typeface="Cambria" pitchFamily="34" charset="-120"/>
              </a:rPr>
              <a:t>5</a:t>
            </a:r>
            <a:endParaRPr lang="en-US" sz="6600" dirty="0"/>
          </a:p>
        </p:txBody>
      </p:sp>
      <p:sp>
        <p:nvSpPr>
          <p:cNvPr id="7" name="Text 5"/>
          <p:cNvSpPr txBox="1"/>
          <p:nvPr/>
        </p:nvSpPr>
        <p:spPr>
          <a:xfrm>
            <a:off x="2377440" y="2212848"/>
            <a:ext cx="8686800" cy="822960"/>
          </a:xfrm>
          <a:prstGeom prst="rect">
            <a:avLst/>
          </a:prstGeom>
          <a:noFill/>
          <a:ln/>
        </p:spPr>
        <p:txBody>
          <a:bodyPr wrap="square" lIns="0" tIns="0" rIns="0" bIns="0" rtlCol="0" anchor="ctr"/>
          <a:lstStyle/>
          <a:p>
            <a:pPr marL="0" indent="0">
              <a:buNone/>
            </a:pPr>
            <a:r>
              <a:rPr lang="en-US" sz="3300" b="1" dirty="0">
                <a:solidFill>
                  <a:srgbClr val="FFFFFF"/>
                </a:solidFill>
                <a:latin typeface="Cambria" pitchFamily="34" charset="0"/>
                <a:ea typeface="Cambria" pitchFamily="34" charset="-122"/>
                <a:cs typeface="Cambria" pitchFamily="34" charset="-120"/>
              </a:rPr>
              <a:t>Baselines and appraisal</a:t>
            </a:r>
            <a:endParaRPr lang="en-US" sz="3300" dirty="0"/>
          </a:p>
        </p:txBody>
      </p:sp>
      <p:sp>
        <p:nvSpPr>
          <p:cNvPr id="8" name="Text 6"/>
          <p:cNvSpPr txBox="1"/>
          <p:nvPr/>
        </p:nvSpPr>
        <p:spPr>
          <a:xfrm>
            <a:off x="2432304" y="3072384"/>
            <a:ext cx="8503920" cy="731520"/>
          </a:xfrm>
          <a:prstGeom prst="rect">
            <a:avLst/>
          </a:prstGeom>
          <a:noFill/>
          <a:ln/>
        </p:spPr>
        <p:txBody>
          <a:bodyPr wrap="square" lIns="0" tIns="0" rIns="0" bIns="0" rtlCol="0" anchor="ctr"/>
          <a:lstStyle/>
          <a:p>
            <a:pPr marL="0" indent="0">
              <a:buNone/>
            </a:pPr>
            <a:r>
              <a:rPr lang="en-US" sz="1500" dirty="0">
                <a:solidFill>
                  <a:srgbClr val="C6D6DC"/>
                </a:solidFill>
                <a:latin typeface="Calibri" pitchFamily="34" charset="0"/>
                <a:ea typeface="Calibri" pitchFamily="34" charset="-122"/>
                <a:cs typeface="Calibri" pitchFamily="34" charset="-120"/>
              </a:rPr>
              <a:t>Class imbalance, and what 'in the wild' actually means</a:t>
            </a:r>
            <a:endParaRPr lang="en-US" sz="1500" dirty="0"/>
          </a:p>
        </p:txBody>
      </p:sp>
      <p:sp>
        <p:nvSpPr>
          <p:cNvPr id="9" name="Text 7"/>
          <p:cNvSpPr txBox="1"/>
          <p:nvPr/>
        </p:nvSpPr>
        <p:spPr>
          <a:xfrm>
            <a:off x="9326880" y="6382512"/>
            <a:ext cx="2313432" cy="274320"/>
          </a:xfrm>
          <a:prstGeom prst="rect">
            <a:avLst/>
          </a:prstGeom>
          <a:noFill/>
          <a:ln/>
        </p:spPr>
        <p:txBody>
          <a:bodyPr wrap="square" lIns="0" tIns="0" rIns="0" bIns="0" rtlCol="0" anchor="ctr"/>
          <a:lstStyle/>
          <a:p>
            <a:pPr marL="0" indent="0" algn="r">
              <a:buNone/>
            </a:pPr>
            <a:r>
              <a:rPr lang="en-US" sz="900" dirty="0">
                <a:solidFill>
                  <a:srgbClr val="9DACB4"/>
                </a:solidFill>
                <a:latin typeface="Calibri" pitchFamily="34" charset="0"/>
                <a:ea typeface="Calibri" pitchFamily="34" charset="-122"/>
                <a:cs typeface="Calibri" pitchFamily="34" charset="-120"/>
              </a:rPr>
              <a:t>AffectNet · Mollahosseini et al. 2019  |  20</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301984" y="457200"/>
            <a:ext cx="137160" cy="137160"/>
          </a:xfrm>
          <a:prstGeom prst="roundRect">
            <a:avLst>
              <a:gd name="adj" fmla="val 13333"/>
            </a:avLst>
          </a:prstGeom>
          <a:solidFill>
            <a:srgbClr val="2F6B7C"/>
          </a:solidFill>
          <a:ln w="12700">
            <a:solidFill>
              <a:srgbClr val="333333"/>
            </a:solidFill>
            <a:prstDash val="solid"/>
          </a:ln>
        </p:spPr>
        <p:txBody>
          <a:bodyPr/>
          <a:lstStyle/>
          <a:p>
            <a:endParaRPr lang="en-US"/>
          </a:p>
        </p:txBody>
      </p:sp>
      <p:sp>
        <p:nvSpPr>
          <p:cNvPr id="3" name="Shape 1"/>
          <p:cNvSpPr/>
          <p:nvPr/>
        </p:nvSpPr>
        <p:spPr>
          <a:xfrm>
            <a:off x="11471148" y="457200"/>
            <a:ext cx="137160" cy="137160"/>
          </a:xfrm>
          <a:prstGeom prst="roundRect">
            <a:avLst>
              <a:gd name="adj" fmla="val 13333"/>
            </a:avLst>
          </a:prstGeom>
          <a:solidFill>
            <a:srgbClr val="D2603F"/>
          </a:solidFill>
          <a:ln w="12700">
            <a:solidFill>
              <a:srgbClr val="333333"/>
            </a:solidFill>
            <a:prstDash val="solid"/>
          </a:ln>
        </p:spPr>
        <p:txBody>
          <a:bodyPr/>
          <a:lstStyle/>
          <a:p>
            <a:endParaRPr lang="en-US"/>
          </a:p>
        </p:txBody>
      </p:sp>
      <p:sp>
        <p:nvSpPr>
          <p:cNvPr id="4" name="Shape 2"/>
          <p:cNvSpPr/>
          <p:nvPr/>
        </p:nvSpPr>
        <p:spPr>
          <a:xfrm>
            <a:off x="11301984" y="626364"/>
            <a:ext cx="137160" cy="137160"/>
          </a:xfrm>
          <a:prstGeom prst="roundRect">
            <a:avLst>
              <a:gd name="adj" fmla="val 13333"/>
            </a:avLst>
          </a:prstGeom>
          <a:solidFill>
            <a:srgbClr val="8CA3AD"/>
          </a:solidFill>
          <a:ln w="12700">
            <a:solidFill>
              <a:srgbClr val="333333"/>
            </a:solidFill>
            <a:prstDash val="solid"/>
          </a:ln>
        </p:spPr>
        <p:txBody>
          <a:bodyPr/>
          <a:lstStyle/>
          <a:p>
            <a:endParaRPr lang="en-US"/>
          </a:p>
        </p:txBody>
      </p:sp>
      <p:sp>
        <p:nvSpPr>
          <p:cNvPr id="5" name="Shape 3"/>
          <p:cNvSpPr/>
          <p:nvPr/>
        </p:nvSpPr>
        <p:spPr>
          <a:xfrm>
            <a:off x="11471148" y="626364"/>
            <a:ext cx="137160" cy="137160"/>
          </a:xfrm>
          <a:prstGeom prst="roundRect">
            <a:avLst>
              <a:gd name="adj" fmla="val 13333"/>
            </a:avLst>
          </a:prstGeom>
          <a:solidFill>
            <a:srgbClr val="2F6B7C"/>
          </a:solidFill>
          <a:ln w="12700">
            <a:solidFill>
              <a:srgbClr val="333333"/>
            </a:solidFill>
            <a:prstDash val="solid"/>
          </a:ln>
        </p:spPr>
        <p:txBody>
          <a:bodyPr/>
          <a:lstStyle/>
          <a:p>
            <a:endParaRPr lang="en-US"/>
          </a:p>
        </p:txBody>
      </p:sp>
      <p:sp>
        <p:nvSpPr>
          <p:cNvPr id="6" name="Text 4"/>
          <p:cNvSpPr txBox="1"/>
          <p:nvPr/>
        </p:nvSpPr>
        <p:spPr>
          <a:xfrm>
            <a:off x="548640" y="384048"/>
            <a:ext cx="10424160" cy="566928"/>
          </a:xfrm>
          <a:prstGeom prst="rect">
            <a:avLst/>
          </a:prstGeom>
          <a:noFill/>
          <a:ln/>
        </p:spPr>
        <p:txBody>
          <a:bodyPr wrap="square" lIns="0" tIns="0" rIns="0" bIns="0" rtlCol="0" anchor="t"/>
          <a:lstStyle/>
          <a:p>
            <a:pPr marL="0" indent="0">
              <a:buNone/>
            </a:pPr>
            <a:r>
              <a:rPr lang="en-US" sz="2900" b="1" dirty="0">
                <a:solidFill>
                  <a:srgbClr val="1A242C"/>
                </a:solidFill>
                <a:latin typeface="Cambria" pitchFamily="34" charset="0"/>
                <a:ea typeface="Cambria" pitchFamily="34" charset="-122"/>
                <a:cs typeface="Cambria" pitchFamily="34" charset="-120"/>
              </a:rPr>
              <a:t>The imbalance problem</a:t>
            </a:r>
            <a:endParaRPr lang="en-US" sz="2900" dirty="0"/>
          </a:p>
        </p:txBody>
      </p:sp>
      <p:sp>
        <p:nvSpPr>
          <p:cNvPr id="7" name="Text 5"/>
          <p:cNvSpPr txBox="1"/>
          <p:nvPr/>
        </p:nvSpPr>
        <p:spPr>
          <a:xfrm>
            <a:off x="548640" y="969264"/>
            <a:ext cx="10424160" cy="329184"/>
          </a:xfrm>
          <a:prstGeom prst="rect">
            <a:avLst/>
          </a:prstGeom>
          <a:noFill/>
          <a:ln/>
        </p:spPr>
        <p:txBody>
          <a:bodyPr wrap="square" lIns="0" tIns="0" rIns="0" bIns="0" rtlCol="0" anchor="ctr"/>
          <a:lstStyle/>
          <a:p>
            <a:pPr marL="0" indent="0">
              <a:buNone/>
            </a:pPr>
            <a:r>
              <a:rPr lang="en-US" sz="1350" i="1" dirty="0">
                <a:solidFill>
                  <a:srgbClr val="5D6B75"/>
                </a:solidFill>
                <a:latin typeface="Calibri" pitchFamily="34" charset="0"/>
                <a:ea typeface="Calibri" pitchFamily="34" charset="-122"/>
                <a:cs typeface="Calibri" pitchFamily="34" charset="-120"/>
              </a:rPr>
              <a:t>Four strategies, and a lesson about evaluation metrics</a:t>
            </a:r>
            <a:endParaRPr lang="en-US" sz="1350" dirty="0"/>
          </a:p>
        </p:txBody>
      </p:sp>
      <p:sp>
        <p:nvSpPr>
          <p:cNvPr id="8" name="Text 6"/>
          <p:cNvSpPr txBox="1"/>
          <p:nvPr/>
        </p:nvSpPr>
        <p:spPr>
          <a:xfrm>
            <a:off x="9326880" y="6382512"/>
            <a:ext cx="2313432" cy="274320"/>
          </a:xfrm>
          <a:prstGeom prst="rect">
            <a:avLst/>
          </a:prstGeom>
          <a:noFill/>
          <a:ln/>
        </p:spPr>
        <p:txBody>
          <a:bodyPr wrap="square" lIns="0" tIns="0" rIns="0" bIns="0" rtlCol="0" anchor="ctr"/>
          <a:lstStyle/>
          <a:p>
            <a:pPr marL="0" indent="0" algn="r">
              <a:buNone/>
            </a:pPr>
            <a:r>
              <a:rPr lang="en-US" sz="900" dirty="0">
                <a:solidFill>
                  <a:srgbClr val="9DACB4"/>
                </a:solidFill>
                <a:latin typeface="Calibri" pitchFamily="34" charset="0"/>
                <a:ea typeface="Calibri" pitchFamily="34" charset="-122"/>
                <a:cs typeface="Calibri" pitchFamily="34" charset="-120"/>
              </a:rPr>
              <a:t>AffectNet · Mollahosseini et al. 2019  |  21</a:t>
            </a:r>
            <a:endParaRPr lang="en-US" sz="900" dirty="0"/>
          </a:p>
        </p:txBody>
      </p:sp>
      <p:sp>
        <p:nvSpPr>
          <p:cNvPr id="9" name="Shape 7"/>
          <p:cNvSpPr/>
          <p:nvPr/>
        </p:nvSpPr>
        <p:spPr>
          <a:xfrm>
            <a:off x="566928" y="1572768"/>
            <a:ext cx="2697480" cy="2286000"/>
          </a:xfrm>
          <a:prstGeom prst="roundRect">
            <a:avLst>
              <a:gd name="adj" fmla="val 2400"/>
            </a:avLst>
          </a:prstGeom>
          <a:solidFill>
            <a:srgbClr val="F1F5F6"/>
          </a:solidFill>
          <a:ln w="12700">
            <a:solidFill>
              <a:srgbClr val="DDE6E9"/>
            </a:solidFill>
            <a:prstDash val="solid"/>
          </a:ln>
        </p:spPr>
        <p:txBody>
          <a:bodyPr/>
          <a:lstStyle/>
          <a:p>
            <a:endParaRPr lang="en-US"/>
          </a:p>
        </p:txBody>
      </p:sp>
      <p:sp>
        <p:nvSpPr>
          <p:cNvPr id="10" name="Shape 8"/>
          <p:cNvSpPr/>
          <p:nvPr/>
        </p:nvSpPr>
        <p:spPr>
          <a:xfrm>
            <a:off x="786384" y="1865376"/>
            <a:ext cx="109728" cy="109728"/>
          </a:xfrm>
          <a:prstGeom prst="ellipse">
            <a:avLst/>
          </a:prstGeom>
          <a:solidFill>
            <a:srgbClr val="2F6B7C"/>
          </a:solidFill>
          <a:ln w="12700">
            <a:solidFill>
              <a:srgbClr val="333333"/>
            </a:solidFill>
            <a:prstDash val="solid"/>
          </a:ln>
        </p:spPr>
        <p:txBody>
          <a:bodyPr/>
          <a:lstStyle/>
          <a:p>
            <a:endParaRPr lang="en-US"/>
          </a:p>
        </p:txBody>
      </p:sp>
      <p:sp>
        <p:nvSpPr>
          <p:cNvPr id="11" name="Text 9"/>
          <p:cNvSpPr txBox="1"/>
          <p:nvPr/>
        </p:nvSpPr>
        <p:spPr>
          <a:xfrm>
            <a:off x="987552" y="1737360"/>
            <a:ext cx="2057400" cy="365760"/>
          </a:xfrm>
          <a:prstGeom prst="rect">
            <a:avLst/>
          </a:prstGeom>
          <a:noFill/>
          <a:ln/>
        </p:spPr>
        <p:txBody>
          <a:bodyPr wrap="square" lIns="0" tIns="0" rIns="0" bIns="0" rtlCol="0" anchor="ctr"/>
          <a:lstStyle/>
          <a:p>
            <a:pPr marL="0" indent="0">
              <a:buNone/>
            </a:pPr>
            <a:r>
              <a:rPr lang="en-US" sz="1500" b="1" dirty="0">
                <a:solidFill>
                  <a:srgbClr val="1A242C"/>
                </a:solidFill>
                <a:latin typeface="Cambria" pitchFamily="34" charset="0"/>
                <a:ea typeface="Cambria" pitchFamily="34" charset="-122"/>
                <a:cs typeface="Cambria" pitchFamily="34" charset="-120"/>
              </a:rPr>
              <a:t>Imbalanced</a:t>
            </a:r>
            <a:endParaRPr lang="en-US" sz="1500" dirty="0"/>
          </a:p>
        </p:txBody>
      </p:sp>
      <p:sp>
        <p:nvSpPr>
          <p:cNvPr id="12" name="Text 10"/>
          <p:cNvSpPr txBox="1"/>
          <p:nvPr/>
        </p:nvSpPr>
        <p:spPr>
          <a:xfrm>
            <a:off x="822960" y="2176272"/>
            <a:ext cx="2185416" cy="1499616"/>
          </a:xfrm>
          <a:prstGeom prst="rect">
            <a:avLst/>
          </a:prstGeom>
          <a:noFill/>
          <a:ln/>
        </p:spPr>
        <p:txBody>
          <a:bodyPr wrap="square" lIns="0" tIns="0" rIns="0" bIns="0" rtlCol="0" anchor="t"/>
          <a:lstStyle/>
          <a:p>
            <a:pPr marL="0" indent="0">
              <a:lnSpc>
                <a:spcPct val="108000"/>
              </a:lnSpc>
              <a:buNone/>
            </a:pPr>
            <a:r>
              <a:rPr lang="en-US" sz="1200" dirty="0">
                <a:solidFill>
                  <a:srgbClr val="2E3A42"/>
                </a:solidFill>
                <a:latin typeface="Calibri" pitchFamily="34" charset="0"/>
                <a:ea typeface="Calibri" pitchFamily="34" charset="-122"/>
                <a:cs typeface="Calibri" pitchFamily="34" charset="-120"/>
              </a:rPr>
              <a:t>Train on the data as it comes. Fails badly on contempt and disgust — too few examples to learn from.</a:t>
            </a:r>
            <a:endParaRPr lang="en-US" sz="1200" dirty="0"/>
          </a:p>
        </p:txBody>
      </p:sp>
      <p:sp>
        <p:nvSpPr>
          <p:cNvPr id="13" name="Shape 11"/>
          <p:cNvSpPr/>
          <p:nvPr/>
        </p:nvSpPr>
        <p:spPr>
          <a:xfrm>
            <a:off x="3392424" y="1572768"/>
            <a:ext cx="2697480" cy="2286000"/>
          </a:xfrm>
          <a:prstGeom prst="roundRect">
            <a:avLst>
              <a:gd name="adj" fmla="val 2400"/>
            </a:avLst>
          </a:prstGeom>
          <a:solidFill>
            <a:srgbClr val="F1F5F6"/>
          </a:solidFill>
          <a:ln w="12700">
            <a:solidFill>
              <a:srgbClr val="DDE6E9"/>
            </a:solidFill>
            <a:prstDash val="solid"/>
          </a:ln>
        </p:spPr>
        <p:txBody>
          <a:bodyPr/>
          <a:lstStyle/>
          <a:p>
            <a:endParaRPr lang="en-US"/>
          </a:p>
        </p:txBody>
      </p:sp>
      <p:sp>
        <p:nvSpPr>
          <p:cNvPr id="14" name="Shape 12"/>
          <p:cNvSpPr/>
          <p:nvPr/>
        </p:nvSpPr>
        <p:spPr>
          <a:xfrm>
            <a:off x="3611880" y="1865376"/>
            <a:ext cx="109728" cy="109728"/>
          </a:xfrm>
          <a:prstGeom prst="ellipse">
            <a:avLst/>
          </a:prstGeom>
          <a:solidFill>
            <a:srgbClr val="2F6B7C"/>
          </a:solidFill>
          <a:ln w="12700">
            <a:solidFill>
              <a:srgbClr val="333333"/>
            </a:solidFill>
            <a:prstDash val="solid"/>
          </a:ln>
        </p:spPr>
        <p:txBody>
          <a:bodyPr/>
          <a:lstStyle/>
          <a:p>
            <a:endParaRPr lang="en-US"/>
          </a:p>
        </p:txBody>
      </p:sp>
      <p:sp>
        <p:nvSpPr>
          <p:cNvPr id="15" name="Text 13"/>
          <p:cNvSpPr txBox="1"/>
          <p:nvPr/>
        </p:nvSpPr>
        <p:spPr>
          <a:xfrm>
            <a:off x="3813048" y="1737360"/>
            <a:ext cx="2057400" cy="365760"/>
          </a:xfrm>
          <a:prstGeom prst="rect">
            <a:avLst/>
          </a:prstGeom>
          <a:noFill/>
          <a:ln/>
        </p:spPr>
        <p:txBody>
          <a:bodyPr wrap="square" lIns="0" tIns="0" rIns="0" bIns="0" rtlCol="0" anchor="ctr"/>
          <a:lstStyle/>
          <a:p>
            <a:pPr marL="0" indent="0">
              <a:buNone/>
            </a:pPr>
            <a:r>
              <a:rPr lang="en-US" sz="1500" b="1" dirty="0">
                <a:solidFill>
                  <a:srgbClr val="1A242C"/>
                </a:solidFill>
                <a:latin typeface="Cambria" pitchFamily="34" charset="0"/>
                <a:ea typeface="Cambria" pitchFamily="34" charset="-122"/>
                <a:cs typeface="Cambria" pitchFamily="34" charset="-120"/>
              </a:rPr>
              <a:t>Down-sampling</a:t>
            </a:r>
            <a:endParaRPr lang="en-US" sz="1500" dirty="0"/>
          </a:p>
        </p:txBody>
      </p:sp>
      <p:sp>
        <p:nvSpPr>
          <p:cNvPr id="16" name="Text 14"/>
          <p:cNvSpPr txBox="1"/>
          <p:nvPr/>
        </p:nvSpPr>
        <p:spPr>
          <a:xfrm>
            <a:off x="3648456" y="2176272"/>
            <a:ext cx="2185416" cy="1499616"/>
          </a:xfrm>
          <a:prstGeom prst="rect">
            <a:avLst/>
          </a:prstGeom>
          <a:noFill/>
          <a:ln/>
        </p:spPr>
        <p:txBody>
          <a:bodyPr wrap="square" lIns="0" tIns="0" rIns="0" bIns="0" rtlCol="0" anchor="t"/>
          <a:lstStyle/>
          <a:p>
            <a:pPr marL="0" indent="0">
              <a:lnSpc>
                <a:spcPct val="108000"/>
              </a:lnSpc>
              <a:buNone/>
            </a:pPr>
            <a:r>
              <a:rPr lang="en-US" sz="1200" dirty="0">
                <a:solidFill>
                  <a:srgbClr val="2E3A42"/>
                </a:solidFill>
                <a:latin typeface="Calibri" pitchFamily="34" charset="0"/>
                <a:ea typeface="Calibri" pitchFamily="34" charset="-122"/>
                <a:cs typeface="Calibri" pitchFamily="34" charset="-120"/>
              </a:rPr>
              <a:t>Cap each class at 15,000 images. Some classes have fewer, so the result is only semi-balanced.</a:t>
            </a:r>
            <a:endParaRPr lang="en-US" sz="1200" dirty="0"/>
          </a:p>
        </p:txBody>
      </p:sp>
      <p:sp>
        <p:nvSpPr>
          <p:cNvPr id="17" name="Shape 15"/>
          <p:cNvSpPr/>
          <p:nvPr/>
        </p:nvSpPr>
        <p:spPr>
          <a:xfrm>
            <a:off x="6217920" y="1572768"/>
            <a:ext cx="2697480" cy="2286000"/>
          </a:xfrm>
          <a:prstGeom prst="roundRect">
            <a:avLst>
              <a:gd name="adj" fmla="val 2400"/>
            </a:avLst>
          </a:prstGeom>
          <a:solidFill>
            <a:srgbClr val="F1F5F6"/>
          </a:solidFill>
          <a:ln w="12700">
            <a:solidFill>
              <a:srgbClr val="DDE6E9"/>
            </a:solidFill>
            <a:prstDash val="solid"/>
          </a:ln>
        </p:spPr>
        <p:txBody>
          <a:bodyPr/>
          <a:lstStyle/>
          <a:p>
            <a:endParaRPr lang="en-US"/>
          </a:p>
        </p:txBody>
      </p:sp>
      <p:sp>
        <p:nvSpPr>
          <p:cNvPr id="18" name="Shape 16"/>
          <p:cNvSpPr/>
          <p:nvPr/>
        </p:nvSpPr>
        <p:spPr>
          <a:xfrm>
            <a:off x="6437376" y="1865376"/>
            <a:ext cx="109728" cy="109728"/>
          </a:xfrm>
          <a:prstGeom prst="ellipse">
            <a:avLst/>
          </a:prstGeom>
          <a:solidFill>
            <a:srgbClr val="2F6B7C"/>
          </a:solidFill>
          <a:ln w="12700">
            <a:solidFill>
              <a:srgbClr val="333333"/>
            </a:solidFill>
            <a:prstDash val="solid"/>
          </a:ln>
        </p:spPr>
        <p:txBody>
          <a:bodyPr/>
          <a:lstStyle/>
          <a:p>
            <a:endParaRPr lang="en-US"/>
          </a:p>
        </p:txBody>
      </p:sp>
      <p:sp>
        <p:nvSpPr>
          <p:cNvPr id="19" name="Text 17"/>
          <p:cNvSpPr txBox="1"/>
          <p:nvPr/>
        </p:nvSpPr>
        <p:spPr>
          <a:xfrm>
            <a:off x="6638544" y="1737360"/>
            <a:ext cx="2057400" cy="365760"/>
          </a:xfrm>
          <a:prstGeom prst="rect">
            <a:avLst/>
          </a:prstGeom>
          <a:noFill/>
          <a:ln/>
        </p:spPr>
        <p:txBody>
          <a:bodyPr wrap="square" lIns="0" tIns="0" rIns="0" bIns="0" rtlCol="0" anchor="ctr"/>
          <a:lstStyle/>
          <a:p>
            <a:pPr marL="0" indent="0">
              <a:buNone/>
            </a:pPr>
            <a:r>
              <a:rPr lang="en-US" sz="1500" b="1" dirty="0">
                <a:solidFill>
                  <a:srgbClr val="1A242C"/>
                </a:solidFill>
                <a:latin typeface="Cambria" pitchFamily="34" charset="0"/>
                <a:ea typeface="Cambria" pitchFamily="34" charset="-122"/>
                <a:cs typeface="Cambria" pitchFamily="34" charset="-120"/>
              </a:rPr>
              <a:t>Up-sampling</a:t>
            </a:r>
            <a:endParaRPr lang="en-US" sz="1500" dirty="0"/>
          </a:p>
        </p:txBody>
      </p:sp>
      <p:sp>
        <p:nvSpPr>
          <p:cNvPr id="20" name="Text 18"/>
          <p:cNvSpPr txBox="1"/>
          <p:nvPr/>
        </p:nvSpPr>
        <p:spPr>
          <a:xfrm>
            <a:off x="6473952" y="2176272"/>
            <a:ext cx="2185416" cy="1499616"/>
          </a:xfrm>
          <a:prstGeom prst="rect">
            <a:avLst/>
          </a:prstGeom>
          <a:noFill/>
          <a:ln/>
        </p:spPr>
        <p:txBody>
          <a:bodyPr wrap="square" lIns="0" tIns="0" rIns="0" bIns="0" rtlCol="0" anchor="t"/>
          <a:lstStyle/>
          <a:p>
            <a:pPr marL="0" indent="0">
              <a:lnSpc>
                <a:spcPct val="108000"/>
              </a:lnSpc>
              <a:buNone/>
            </a:pPr>
            <a:r>
              <a:rPr lang="en-US" sz="1200" dirty="0">
                <a:solidFill>
                  <a:srgbClr val="2E3A42"/>
                </a:solidFill>
                <a:latin typeface="Calibri" pitchFamily="34" charset="0"/>
                <a:ea typeface="Calibri" pitchFamily="34" charset="-122"/>
                <a:cs typeface="Calibri" pitchFamily="34" charset="-120"/>
              </a:rPr>
              <a:t>Replicate minority samples until every class matches happy. Contempt is replicated roughly twenty-fold and the network overfits those copies.</a:t>
            </a:r>
            <a:endParaRPr lang="en-US" sz="1200" dirty="0"/>
          </a:p>
        </p:txBody>
      </p:sp>
      <p:sp>
        <p:nvSpPr>
          <p:cNvPr id="21" name="Shape 19"/>
          <p:cNvSpPr/>
          <p:nvPr/>
        </p:nvSpPr>
        <p:spPr>
          <a:xfrm>
            <a:off x="9043416" y="1572768"/>
            <a:ext cx="2697480" cy="2286000"/>
          </a:xfrm>
          <a:prstGeom prst="roundRect">
            <a:avLst>
              <a:gd name="adj" fmla="val 2400"/>
            </a:avLst>
          </a:prstGeom>
          <a:solidFill>
            <a:srgbClr val="FAEEE9"/>
          </a:solidFill>
          <a:ln w="12700">
            <a:solidFill>
              <a:srgbClr val="D2603F"/>
            </a:solidFill>
            <a:prstDash val="solid"/>
          </a:ln>
        </p:spPr>
        <p:txBody>
          <a:bodyPr/>
          <a:lstStyle/>
          <a:p>
            <a:endParaRPr lang="en-US"/>
          </a:p>
        </p:txBody>
      </p:sp>
      <p:sp>
        <p:nvSpPr>
          <p:cNvPr id="22" name="Shape 20"/>
          <p:cNvSpPr/>
          <p:nvPr/>
        </p:nvSpPr>
        <p:spPr>
          <a:xfrm>
            <a:off x="9262872" y="1865376"/>
            <a:ext cx="109728" cy="109728"/>
          </a:xfrm>
          <a:prstGeom prst="ellipse">
            <a:avLst/>
          </a:prstGeom>
          <a:solidFill>
            <a:srgbClr val="D2603F"/>
          </a:solidFill>
          <a:ln w="12700">
            <a:solidFill>
              <a:srgbClr val="333333"/>
            </a:solidFill>
            <a:prstDash val="solid"/>
          </a:ln>
        </p:spPr>
        <p:txBody>
          <a:bodyPr/>
          <a:lstStyle/>
          <a:p>
            <a:endParaRPr lang="en-US"/>
          </a:p>
        </p:txBody>
      </p:sp>
      <p:sp>
        <p:nvSpPr>
          <p:cNvPr id="23" name="Text 21"/>
          <p:cNvSpPr txBox="1"/>
          <p:nvPr/>
        </p:nvSpPr>
        <p:spPr>
          <a:xfrm>
            <a:off x="9464040" y="1737360"/>
            <a:ext cx="2057400" cy="365760"/>
          </a:xfrm>
          <a:prstGeom prst="rect">
            <a:avLst/>
          </a:prstGeom>
          <a:noFill/>
          <a:ln/>
        </p:spPr>
        <p:txBody>
          <a:bodyPr wrap="square" lIns="0" tIns="0" rIns="0" bIns="0" rtlCol="0" anchor="ctr"/>
          <a:lstStyle/>
          <a:p>
            <a:pPr marL="0" indent="0">
              <a:buNone/>
            </a:pPr>
            <a:r>
              <a:rPr lang="en-US" sz="1500" b="1" dirty="0">
                <a:solidFill>
                  <a:srgbClr val="1A242C"/>
                </a:solidFill>
                <a:latin typeface="Cambria" pitchFamily="34" charset="0"/>
                <a:ea typeface="Cambria" pitchFamily="34" charset="-122"/>
                <a:cs typeface="Cambria" pitchFamily="34" charset="-120"/>
              </a:rPr>
              <a:t>Weighted loss</a:t>
            </a:r>
            <a:endParaRPr lang="en-US" sz="1500" dirty="0"/>
          </a:p>
        </p:txBody>
      </p:sp>
      <p:sp>
        <p:nvSpPr>
          <p:cNvPr id="24" name="Text 22"/>
          <p:cNvSpPr txBox="1"/>
          <p:nvPr/>
        </p:nvSpPr>
        <p:spPr>
          <a:xfrm>
            <a:off x="9299448" y="2176272"/>
            <a:ext cx="2185416" cy="1499616"/>
          </a:xfrm>
          <a:prstGeom prst="rect">
            <a:avLst/>
          </a:prstGeom>
          <a:noFill/>
          <a:ln/>
        </p:spPr>
        <p:txBody>
          <a:bodyPr wrap="square" lIns="0" tIns="0" rIns="0" bIns="0" rtlCol="0" anchor="t"/>
          <a:lstStyle/>
          <a:p>
            <a:pPr marL="0" indent="0">
              <a:lnSpc>
                <a:spcPct val="108000"/>
              </a:lnSpc>
              <a:buNone/>
            </a:pPr>
            <a:r>
              <a:rPr lang="en-US" sz="1200" dirty="0">
                <a:solidFill>
                  <a:srgbClr val="2E3A42"/>
                </a:solidFill>
                <a:latin typeface="Calibri" pitchFamily="34" charset="0"/>
                <a:ea typeface="Calibri" pitchFamily="34" charset="-122"/>
                <a:cs typeface="Calibri" pitchFamily="34" charset="-120"/>
              </a:rPr>
              <a:t>Penalise misclassification in proportion to how rare the class is. Best skew-normalised performance, and much better on the rare classes.</a:t>
            </a:r>
            <a:endParaRPr lang="en-US" sz="1200" dirty="0"/>
          </a:p>
        </p:txBody>
      </p:sp>
      <p:sp>
        <p:nvSpPr>
          <p:cNvPr id="25" name="Shape 23"/>
          <p:cNvSpPr/>
          <p:nvPr/>
        </p:nvSpPr>
        <p:spPr>
          <a:xfrm>
            <a:off x="566928" y="4059936"/>
            <a:ext cx="11064240" cy="1993392"/>
          </a:xfrm>
          <a:prstGeom prst="roundRect">
            <a:avLst>
              <a:gd name="adj" fmla="val 2752"/>
            </a:avLst>
          </a:prstGeom>
          <a:solidFill>
            <a:srgbClr val="24303A"/>
          </a:solidFill>
          <a:ln w="12700">
            <a:solidFill>
              <a:srgbClr val="24303A"/>
            </a:solidFill>
            <a:prstDash val="solid"/>
          </a:ln>
        </p:spPr>
        <p:txBody>
          <a:bodyPr/>
          <a:lstStyle/>
          <a:p>
            <a:endParaRPr lang="en-US"/>
          </a:p>
        </p:txBody>
      </p:sp>
      <p:sp>
        <p:nvSpPr>
          <p:cNvPr id="26" name="Shape 24"/>
          <p:cNvSpPr/>
          <p:nvPr/>
        </p:nvSpPr>
        <p:spPr>
          <a:xfrm>
            <a:off x="786384" y="4352544"/>
            <a:ext cx="109728" cy="109728"/>
          </a:xfrm>
          <a:prstGeom prst="ellipse">
            <a:avLst/>
          </a:prstGeom>
          <a:solidFill>
            <a:srgbClr val="D2603F"/>
          </a:solidFill>
          <a:ln w="12700">
            <a:solidFill>
              <a:srgbClr val="333333"/>
            </a:solidFill>
            <a:prstDash val="solid"/>
          </a:ln>
        </p:spPr>
        <p:txBody>
          <a:bodyPr/>
          <a:lstStyle/>
          <a:p>
            <a:endParaRPr lang="en-US"/>
          </a:p>
        </p:txBody>
      </p:sp>
      <p:sp>
        <p:nvSpPr>
          <p:cNvPr id="27" name="Text 25"/>
          <p:cNvSpPr txBox="1"/>
          <p:nvPr/>
        </p:nvSpPr>
        <p:spPr>
          <a:xfrm>
            <a:off x="987552" y="4224528"/>
            <a:ext cx="10424160" cy="365760"/>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The methodological point behind all of this</a:t>
            </a:r>
            <a:endParaRPr lang="en-US" sz="1500" dirty="0"/>
          </a:p>
        </p:txBody>
      </p:sp>
      <p:sp>
        <p:nvSpPr>
          <p:cNvPr id="28" name="Text 26"/>
          <p:cNvSpPr txBox="1"/>
          <p:nvPr/>
        </p:nvSpPr>
        <p:spPr>
          <a:xfrm>
            <a:off x="822960" y="4663440"/>
            <a:ext cx="10552176" cy="1207008"/>
          </a:xfrm>
          <a:prstGeom prst="rect">
            <a:avLst/>
          </a:prstGeom>
          <a:noFill/>
          <a:ln/>
        </p:spPr>
        <p:txBody>
          <a:bodyPr wrap="square" lIns="0" tIns="0" rIns="0" bIns="0" rtlCol="0" anchor="t"/>
          <a:lstStyle/>
          <a:p>
            <a:pPr marL="0" indent="0">
              <a:lnSpc>
                <a:spcPct val="108000"/>
              </a:lnSpc>
              <a:buNone/>
            </a:pPr>
            <a:r>
              <a:rPr lang="en-US" sz="1300" dirty="0">
                <a:solidFill>
                  <a:srgbClr val="C6D6DC"/>
                </a:solidFill>
                <a:latin typeface="Calibri" pitchFamily="34" charset="0"/>
                <a:ea typeface="Calibri" pitchFamily="34" charset="-122"/>
                <a:cs typeface="Calibri" pitchFamily="34" charset="-120"/>
              </a:rPr>
              <a:t>The test set is imbalanced too, so the metric is affected as much as the model. Every measure except area under the ROC curve is distorted by skew.</a:t>
            </a:r>
            <a:endParaRPr lang="en-US" sz="1300" dirty="0"/>
          </a:p>
          <a:p>
            <a:pPr marL="0" indent="0">
              <a:lnSpc>
                <a:spcPct val="108000"/>
              </a:lnSpc>
              <a:buNone/>
            </a:pPr>
            <a:endParaRPr lang="en-US" sz="1300" dirty="0"/>
          </a:p>
          <a:p>
            <a:pPr marL="0" indent="0">
              <a:lnSpc>
                <a:spcPct val="108000"/>
              </a:lnSpc>
              <a:buNone/>
            </a:pPr>
            <a:r>
              <a:rPr lang="en-US" sz="1300" dirty="0">
                <a:solidFill>
                  <a:srgbClr val="C6D6DC"/>
                </a:solidFill>
                <a:latin typeface="Calibri" pitchFamily="34" charset="0"/>
                <a:ea typeface="Calibri" pitchFamily="34" charset="-122"/>
                <a:cs typeface="Calibri" pitchFamily="34" charset="-120"/>
              </a:rPr>
              <a:t>The paper therefore reports both original and skew-normalised scores throughout, normalising by random under-sampling averaged over 200 trials. That practice is worth copying — an accuracy figure on an imbalanced test set tells you as much about the test set as about the model.</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301984" y="457200"/>
            <a:ext cx="137160" cy="137160"/>
          </a:xfrm>
          <a:prstGeom prst="roundRect">
            <a:avLst>
              <a:gd name="adj" fmla="val 13333"/>
            </a:avLst>
          </a:prstGeom>
          <a:solidFill>
            <a:srgbClr val="2F6B7C"/>
          </a:solidFill>
          <a:ln w="12700">
            <a:solidFill>
              <a:srgbClr val="333333"/>
            </a:solidFill>
            <a:prstDash val="solid"/>
          </a:ln>
        </p:spPr>
        <p:txBody>
          <a:bodyPr/>
          <a:lstStyle/>
          <a:p>
            <a:endParaRPr lang="en-US"/>
          </a:p>
        </p:txBody>
      </p:sp>
      <p:sp>
        <p:nvSpPr>
          <p:cNvPr id="3" name="Shape 1"/>
          <p:cNvSpPr/>
          <p:nvPr/>
        </p:nvSpPr>
        <p:spPr>
          <a:xfrm>
            <a:off x="11471148" y="457200"/>
            <a:ext cx="137160" cy="137160"/>
          </a:xfrm>
          <a:prstGeom prst="roundRect">
            <a:avLst>
              <a:gd name="adj" fmla="val 13333"/>
            </a:avLst>
          </a:prstGeom>
          <a:solidFill>
            <a:srgbClr val="D2603F"/>
          </a:solidFill>
          <a:ln w="12700">
            <a:solidFill>
              <a:srgbClr val="333333"/>
            </a:solidFill>
            <a:prstDash val="solid"/>
          </a:ln>
        </p:spPr>
        <p:txBody>
          <a:bodyPr/>
          <a:lstStyle/>
          <a:p>
            <a:endParaRPr lang="en-US"/>
          </a:p>
        </p:txBody>
      </p:sp>
      <p:sp>
        <p:nvSpPr>
          <p:cNvPr id="4" name="Shape 2"/>
          <p:cNvSpPr/>
          <p:nvPr/>
        </p:nvSpPr>
        <p:spPr>
          <a:xfrm>
            <a:off x="11301984" y="626364"/>
            <a:ext cx="137160" cy="137160"/>
          </a:xfrm>
          <a:prstGeom prst="roundRect">
            <a:avLst>
              <a:gd name="adj" fmla="val 13333"/>
            </a:avLst>
          </a:prstGeom>
          <a:solidFill>
            <a:srgbClr val="8CA3AD"/>
          </a:solidFill>
          <a:ln w="12700">
            <a:solidFill>
              <a:srgbClr val="333333"/>
            </a:solidFill>
            <a:prstDash val="solid"/>
          </a:ln>
        </p:spPr>
        <p:txBody>
          <a:bodyPr/>
          <a:lstStyle/>
          <a:p>
            <a:endParaRPr lang="en-US"/>
          </a:p>
        </p:txBody>
      </p:sp>
      <p:sp>
        <p:nvSpPr>
          <p:cNvPr id="5" name="Shape 3"/>
          <p:cNvSpPr/>
          <p:nvPr/>
        </p:nvSpPr>
        <p:spPr>
          <a:xfrm>
            <a:off x="11471148" y="626364"/>
            <a:ext cx="137160" cy="137160"/>
          </a:xfrm>
          <a:prstGeom prst="roundRect">
            <a:avLst>
              <a:gd name="adj" fmla="val 13333"/>
            </a:avLst>
          </a:prstGeom>
          <a:solidFill>
            <a:srgbClr val="2F6B7C"/>
          </a:solidFill>
          <a:ln w="12700">
            <a:solidFill>
              <a:srgbClr val="333333"/>
            </a:solidFill>
            <a:prstDash val="solid"/>
          </a:ln>
        </p:spPr>
        <p:txBody>
          <a:bodyPr/>
          <a:lstStyle/>
          <a:p>
            <a:endParaRPr lang="en-US"/>
          </a:p>
        </p:txBody>
      </p:sp>
      <p:sp>
        <p:nvSpPr>
          <p:cNvPr id="6" name="Text 4"/>
          <p:cNvSpPr txBox="1"/>
          <p:nvPr/>
        </p:nvSpPr>
        <p:spPr>
          <a:xfrm>
            <a:off x="548640" y="384048"/>
            <a:ext cx="10424160" cy="566928"/>
          </a:xfrm>
          <a:prstGeom prst="rect">
            <a:avLst/>
          </a:prstGeom>
          <a:noFill/>
          <a:ln/>
        </p:spPr>
        <p:txBody>
          <a:bodyPr wrap="square" lIns="0" tIns="0" rIns="0" bIns="0" rtlCol="0" anchor="t"/>
          <a:lstStyle/>
          <a:p>
            <a:pPr marL="0" indent="0">
              <a:buNone/>
            </a:pPr>
            <a:r>
              <a:rPr lang="en-US" sz="2900" b="1" dirty="0">
                <a:solidFill>
                  <a:srgbClr val="1A242C"/>
                </a:solidFill>
                <a:latin typeface="Cambria" pitchFamily="34" charset="0"/>
                <a:ea typeface="Cambria" pitchFamily="34" charset="-122"/>
                <a:cs typeface="Cambria" pitchFamily="34" charset="-120"/>
              </a:rPr>
              <a:t>Categorical baseline results</a:t>
            </a:r>
            <a:endParaRPr lang="en-US" sz="2900" dirty="0"/>
          </a:p>
        </p:txBody>
      </p:sp>
      <p:sp>
        <p:nvSpPr>
          <p:cNvPr id="7" name="Text 5"/>
          <p:cNvSpPr txBox="1"/>
          <p:nvPr/>
        </p:nvSpPr>
        <p:spPr>
          <a:xfrm>
            <a:off x="548640" y="969264"/>
            <a:ext cx="10424160" cy="329184"/>
          </a:xfrm>
          <a:prstGeom prst="rect">
            <a:avLst/>
          </a:prstGeom>
          <a:noFill/>
          <a:ln/>
        </p:spPr>
        <p:txBody>
          <a:bodyPr wrap="square" lIns="0" tIns="0" rIns="0" bIns="0" rtlCol="0" anchor="ctr"/>
          <a:lstStyle/>
          <a:p>
            <a:pPr marL="0" indent="0">
              <a:buNone/>
            </a:pPr>
            <a:r>
              <a:rPr lang="en-US" sz="1350" i="1" dirty="0">
                <a:solidFill>
                  <a:srgbClr val="5D6B75"/>
                </a:solidFill>
                <a:latin typeface="Calibri" pitchFamily="34" charset="0"/>
                <a:ea typeface="Calibri" pitchFamily="34" charset="-122"/>
                <a:cs typeface="Calibri" pitchFamily="34" charset="-120"/>
              </a:rPr>
              <a:t>Eight-way classification on the test set</a:t>
            </a:r>
            <a:endParaRPr lang="en-US" sz="1350" dirty="0"/>
          </a:p>
        </p:txBody>
      </p:sp>
      <p:sp>
        <p:nvSpPr>
          <p:cNvPr id="8" name="Text 6"/>
          <p:cNvSpPr txBox="1"/>
          <p:nvPr/>
        </p:nvSpPr>
        <p:spPr>
          <a:xfrm>
            <a:off x="9326880" y="6382512"/>
            <a:ext cx="2313432" cy="274320"/>
          </a:xfrm>
          <a:prstGeom prst="rect">
            <a:avLst/>
          </a:prstGeom>
          <a:noFill/>
          <a:ln/>
        </p:spPr>
        <p:txBody>
          <a:bodyPr wrap="square" lIns="0" tIns="0" rIns="0" bIns="0" rtlCol="0" anchor="ctr"/>
          <a:lstStyle/>
          <a:p>
            <a:pPr marL="0" indent="0" algn="r">
              <a:buNone/>
            </a:pPr>
            <a:r>
              <a:rPr lang="en-US" sz="900" dirty="0">
                <a:solidFill>
                  <a:srgbClr val="9DACB4"/>
                </a:solidFill>
                <a:latin typeface="Calibri" pitchFamily="34" charset="0"/>
                <a:ea typeface="Calibri" pitchFamily="34" charset="-122"/>
                <a:cs typeface="Calibri" pitchFamily="34" charset="-120"/>
              </a:rPr>
              <a:t>AffectNet · Mollahosseini et al. 2019  |  22</a:t>
            </a:r>
            <a:endParaRPr lang="en-US" sz="900" dirty="0"/>
          </a:p>
        </p:txBody>
      </p:sp>
      <p:graphicFrame>
        <p:nvGraphicFramePr>
          <p:cNvPr id="9" name="Chart 0"/>
          <p:cNvGraphicFramePr/>
          <p:nvPr/>
        </p:nvGraphicFramePr>
        <p:xfrm>
          <a:off x="566928" y="1554480"/>
          <a:ext cx="6766560" cy="3566160"/>
        </p:xfrm>
        <a:graphic>
          <a:graphicData uri="http://schemas.openxmlformats.org/drawingml/2006/chart">
            <c:chart xmlns:c="http://schemas.openxmlformats.org/drawingml/2006/chart" xmlns:r="http://schemas.openxmlformats.org/officeDocument/2006/relationships" r:id="rId3"/>
          </a:graphicData>
        </a:graphic>
      </p:graphicFrame>
      <p:sp>
        <p:nvSpPr>
          <p:cNvPr id="10" name="Text 7"/>
          <p:cNvSpPr txBox="1"/>
          <p:nvPr/>
        </p:nvSpPr>
        <p:spPr>
          <a:xfrm>
            <a:off x="7589520" y="1700784"/>
            <a:ext cx="4041648" cy="3383280"/>
          </a:xfrm>
          <a:prstGeom prst="rect">
            <a:avLst/>
          </a:prstGeom>
          <a:noFill/>
          <a:ln/>
        </p:spPr>
        <p:txBody>
          <a:bodyPr wrap="square" lIns="0" tIns="0" rIns="0" bIns="0" rtlCol="0" anchor="t"/>
          <a:lstStyle/>
          <a:p>
            <a:pPr marL="342900" indent="-342900">
              <a:spcAft>
                <a:spcPts val="800"/>
              </a:spcAft>
              <a:buSzPct val="100000"/>
              <a:buChar char="●"/>
            </a:pPr>
            <a:r>
              <a:rPr lang="en-US" sz="1220" dirty="0">
                <a:solidFill>
                  <a:srgbClr val="2E3A42"/>
                </a:solidFill>
                <a:latin typeface="Calibri" pitchFamily="34" charset="0"/>
                <a:ea typeface="Calibri" pitchFamily="34" charset="-122"/>
                <a:cs typeface="Calibri" pitchFamily="34" charset="-120"/>
              </a:rPr>
              <a:t>Imbalanced training looks best on the raw metric and is fourth once skew is removed. That reversal is the whole argument for normalised reporting.</a:t>
            </a:r>
            <a:endParaRPr lang="en-US" sz="1220" dirty="0"/>
          </a:p>
          <a:p>
            <a:pPr marL="342900" indent="-342900">
              <a:spcAft>
                <a:spcPts val="800"/>
              </a:spcAft>
              <a:buSzPct val="100000"/>
              <a:buChar char="●"/>
            </a:pPr>
            <a:r>
              <a:rPr lang="en-US" sz="1220" dirty="0">
                <a:solidFill>
                  <a:srgbClr val="2E3A42"/>
                </a:solidFill>
                <a:latin typeface="Calibri" pitchFamily="34" charset="0"/>
                <a:ea typeface="Calibri" pitchFamily="34" charset="-122"/>
                <a:cs typeface="Calibri" pitchFamily="34" charset="-120"/>
              </a:rPr>
              <a:t>The weighted-loss network is the only approach whose two bars are close together — a sign it is not exploiting the skew.</a:t>
            </a:r>
            <a:endParaRPr lang="en-US" sz="1220" dirty="0"/>
          </a:p>
          <a:p>
            <a:pPr marL="342900" indent="-342900">
              <a:spcAft>
                <a:spcPts val="800"/>
              </a:spcAft>
              <a:buSzPct val="100000"/>
              <a:buChar char="●"/>
            </a:pPr>
            <a:r>
              <a:rPr lang="en-US" sz="1220" dirty="0">
                <a:solidFill>
                  <a:srgbClr val="2E3A42"/>
                </a:solidFill>
                <a:latin typeface="Calibri" pitchFamily="34" charset="0"/>
                <a:ea typeface="Calibri" pitchFamily="34" charset="-122"/>
                <a:cs typeface="Calibri" pitchFamily="34" charset="-120"/>
              </a:rPr>
              <a:t>A commercial system of the day scored 0.94 on neutral and 0.85 on happy, but 0.25 on fear, 0.27 on disgust and 0.04 on contempt.</a:t>
            </a:r>
            <a:endParaRPr lang="en-US" sz="1220" dirty="0"/>
          </a:p>
          <a:p>
            <a:pPr marL="342900" indent="-342900">
              <a:spcAft>
                <a:spcPts val="800"/>
              </a:spcAft>
              <a:buSzPct val="100000"/>
              <a:buChar char="●"/>
            </a:pPr>
            <a:r>
              <a:rPr lang="en-US" sz="1220" dirty="0">
                <a:solidFill>
                  <a:srgbClr val="2E3A42"/>
                </a:solidFill>
                <a:latin typeface="Calibri" pitchFamily="34" charset="0"/>
                <a:ea typeface="Calibri" pitchFamily="34" charset="-122"/>
                <a:cs typeface="Calibri" pitchFamily="34" charset="-120"/>
              </a:rPr>
              <a:t>The CNN baselines beat both HOG features with an SVM and the off-the-shelf commercial system on every metric reported.</a:t>
            </a:r>
            <a:endParaRPr lang="en-US" sz="1220" dirty="0"/>
          </a:p>
        </p:txBody>
      </p:sp>
      <p:sp>
        <p:nvSpPr>
          <p:cNvPr id="11" name="Shape 8"/>
          <p:cNvSpPr/>
          <p:nvPr/>
        </p:nvSpPr>
        <p:spPr>
          <a:xfrm>
            <a:off x="566928" y="5285232"/>
            <a:ext cx="11064240" cy="768096"/>
          </a:xfrm>
          <a:prstGeom prst="roundRect">
            <a:avLst>
              <a:gd name="adj" fmla="val 7143"/>
            </a:avLst>
          </a:prstGeom>
          <a:solidFill>
            <a:srgbClr val="24303A"/>
          </a:solidFill>
          <a:ln w="12700">
            <a:solidFill>
              <a:srgbClr val="24303A"/>
            </a:solidFill>
            <a:prstDash val="solid"/>
          </a:ln>
        </p:spPr>
        <p:txBody>
          <a:bodyPr/>
          <a:lstStyle/>
          <a:p>
            <a:endParaRPr lang="en-US"/>
          </a:p>
        </p:txBody>
      </p:sp>
      <p:sp>
        <p:nvSpPr>
          <p:cNvPr id="12" name="Text 9"/>
          <p:cNvSpPr txBox="1"/>
          <p:nvPr/>
        </p:nvSpPr>
        <p:spPr>
          <a:xfrm>
            <a:off x="822960" y="5504688"/>
            <a:ext cx="10552176" cy="347472"/>
          </a:xfrm>
          <a:prstGeom prst="rect">
            <a:avLst/>
          </a:prstGeom>
          <a:noFill/>
          <a:ln/>
        </p:spPr>
        <p:txBody>
          <a:bodyPr wrap="square" lIns="0" tIns="0" rIns="0" bIns="0" rtlCol="0" anchor="t"/>
          <a:lstStyle/>
          <a:p>
            <a:pPr marL="0" indent="0">
              <a:lnSpc>
                <a:spcPct val="108000"/>
              </a:lnSpc>
              <a:buNone/>
            </a:pPr>
            <a:r>
              <a:rPr lang="en-US" sz="1300" dirty="0">
                <a:solidFill>
                  <a:srgbClr val="C6D6DC"/>
                </a:solidFill>
                <a:latin typeface="Calibri" pitchFamily="34" charset="0"/>
                <a:ea typeface="Calibri" pitchFamily="34" charset="-122"/>
                <a:cs typeface="Calibri" pitchFamily="34" charset="-120"/>
              </a:rPr>
              <a:t>The contempt figure for the commercial system — four percent — is the clearest demonstration that in-the-wild affect was an unsolved problem in 2017, not a shipped product.</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301984" y="457200"/>
            <a:ext cx="137160" cy="137160"/>
          </a:xfrm>
          <a:prstGeom prst="roundRect">
            <a:avLst>
              <a:gd name="adj" fmla="val 13333"/>
            </a:avLst>
          </a:prstGeom>
          <a:solidFill>
            <a:srgbClr val="2F6B7C"/>
          </a:solidFill>
          <a:ln w="12700">
            <a:solidFill>
              <a:srgbClr val="333333"/>
            </a:solidFill>
            <a:prstDash val="solid"/>
          </a:ln>
        </p:spPr>
        <p:txBody>
          <a:bodyPr/>
          <a:lstStyle/>
          <a:p>
            <a:endParaRPr lang="en-US"/>
          </a:p>
        </p:txBody>
      </p:sp>
      <p:sp>
        <p:nvSpPr>
          <p:cNvPr id="3" name="Shape 1"/>
          <p:cNvSpPr/>
          <p:nvPr/>
        </p:nvSpPr>
        <p:spPr>
          <a:xfrm>
            <a:off x="11471148" y="457200"/>
            <a:ext cx="137160" cy="137160"/>
          </a:xfrm>
          <a:prstGeom prst="roundRect">
            <a:avLst>
              <a:gd name="adj" fmla="val 13333"/>
            </a:avLst>
          </a:prstGeom>
          <a:solidFill>
            <a:srgbClr val="D2603F"/>
          </a:solidFill>
          <a:ln w="12700">
            <a:solidFill>
              <a:srgbClr val="333333"/>
            </a:solidFill>
            <a:prstDash val="solid"/>
          </a:ln>
        </p:spPr>
        <p:txBody>
          <a:bodyPr/>
          <a:lstStyle/>
          <a:p>
            <a:endParaRPr lang="en-US"/>
          </a:p>
        </p:txBody>
      </p:sp>
      <p:sp>
        <p:nvSpPr>
          <p:cNvPr id="4" name="Shape 2"/>
          <p:cNvSpPr/>
          <p:nvPr/>
        </p:nvSpPr>
        <p:spPr>
          <a:xfrm>
            <a:off x="11301984" y="626364"/>
            <a:ext cx="137160" cy="137160"/>
          </a:xfrm>
          <a:prstGeom prst="roundRect">
            <a:avLst>
              <a:gd name="adj" fmla="val 13333"/>
            </a:avLst>
          </a:prstGeom>
          <a:solidFill>
            <a:srgbClr val="8CA3AD"/>
          </a:solidFill>
          <a:ln w="12700">
            <a:solidFill>
              <a:srgbClr val="333333"/>
            </a:solidFill>
            <a:prstDash val="solid"/>
          </a:ln>
        </p:spPr>
        <p:txBody>
          <a:bodyPr/>
          <a:lstStyle/>
          <a:p>
            <a:endParaRPr lang="en-US"/>
          </a:p>
        </p:txBody>
      </p:sp>
      <p:sp>
        <p:nvSpPr>
          <p:cNvPr id="5" name="Shape 3"/>
          <p:cNvSpPr/>
          <p:nvPr/>
        </p:nvSpPr>
        <p:spPr>
          <a:xfrm>
            <a:off x="11471148" y="626364"/>
            <a:ext cx="137160" cy="137160"/>
          </a:xfrm>
          <a:prstGeom prst="roundRect">
            <a:avLst>
              <a:gd name="adj" fmla="val 13333"/>
            </a:avLst>
          </a:prstGeom>
          <a:solidFill>
            <a:srgbClr val="2F6B7C"/>
          </a:solidFill>
          <a:ln w="12700">
            <a:solidFill>
              <a:srgbClr val="333333"/>
            </a:solidFill>
            <a:prstDash val="solid"/>
          </a:ln>
        </p:spPr>
        <p:txBody>
          <a:bodyPr/>
          <a:lstStyle/>
          <a:p>
            <a:endParaRPr lang="en-US"/>
          </a:p>
        </p:txBody>
      </p:sp>
      <p:sp>
        <p:nvSpPr>
          <p:cNvPr id="6" name="Text 4"/>
          <p:cNvSpPr txBox="1"/>
          <p:nvPr/>
        </p:nvSpPr>
        <p:spPr>
          <a:xfrm>
            <a:off x="548640" y="384048"/>
            <a:ext cx="10424160" cy="566928"/>
          </a:xfrm>
          <a:prstGeom prst="rect">
            <a:avLst/>
          </a:prstGeom>
          <a:noFill/>
          <a:ln/>
        </p:spPr>
        <p:txBody>
          <a:bodyPr wrap="square" lIns="0" tIns="0" rIns="0" bIns="0" rtlCol="0" anchor="t"/>
          <a:lstStyle/>
          <a:p>
            <a:pPr marL="0" indent="0">
              <a:buNone/>
            </a:pPr>
            <a:r>
              <a:rPr lang="en-US" sz="2900" b="1" dirty="0">
                <a:solidFill>
                  <a:srgbClr val="1A242C"/>
                </a:solidFill>
                <a:latin typeface="Cambria" pitchFamily="34" charset="0"/>
                <a:ea typeface="Cambria" pitchFamily="34" charset="-122"/>
                <a:cs typeface="Cambria" pitchFamily="34" charset="-120"/>
              </a:rPr>
              <a:t>Dimensional baseline</a:t>
            </a:r>
            <a:endParaRPr lang="en-US" sz="2900" dirty="0"/>
          </a:p>
        </p:txBody>
      </p:sp>
      <p:sp>
        <p:nvSpPr>
          <p:cNvPr id="7" name="Text 5"/>
          <p:cNvSpPr txBox="1"/>
          <p:nvPr/>
        </p:nvSpPr>
        <p:spPr>
          <a:xfrm>
            <a:off x="548640" y="969264"/>
            <a:ext cx="10424160" cy="329184"/>
          </a:xfrm>
          <a:prstGeom prst="rect">
            <a:avLst/>
          </a:prstGeom>
          <a:noFill/>
          <a:ln/>
        </p:spPr>
        <p:txBody>
          <a:bodyPr wrap="square" lIns="0" tIns="0" rIns="0" bIns="0" rtlCol="0" anchor="ctr"/>
          <a:lstStyle/>
          <a:p>
            <a:pPr marL="0" indent="0">
              <a:buNone/>
            </a:pPr>
            <a:r>
              <a:rPr lang="en-US" sz="1350" i="1" dirty="0">
                <a:solidFill>
                  <a:srgbClr val="5D6B75"/>
                </a:solidFill>
                <a:latin typeface="Calibri" pitchFamily="34" charset="0"/>
                <a:ea typeface="Calibri" pitchFamily="34" charset="-122"/>
                <a:cs typeface="Calibri" pitchFamily="34" charset="-120"/>
              </a:rPr>
              <a:t>And how close it comes to the human ceiling</a:t>
            </a:r>
            <a:endParaRPr lang="en-US" sz="1350" dirty="0"/>
          </a:p>
        </p:txBody>
      </p:sp>
      <p:sp>
        <p:nvSpPr>
          <p:cNvPr id="8" name="Text 6"/>
          <p:cNvSpPr txBox="1"/>
          <p:nvPr/>
        </p:nvSpPr>
        <p:spPr>
          <a:xfrm>
            <a:off x="9326880" y="6382512"/>
            <a:ext cx="2313432" cy="274320"/>
          </a:xfrm>
          <a:prstGeom prst="rect">
            <a:avLst/>
          </a:prstGeom>
          <a:noFill/>
          <a:ln/>
        </p:spPr>
        <p:txBody>
          <a:bodyPr wrap="square" lIns="0" tIns="0" rIns="0" bIns="0" rtlCol="0" anchor="ctr"/>
          <a:lstStyle/>
          <a:p>
            <a:pPr marL="0" indent="0" algn="r">
              <a:buNone/>
            </a:pPr>
            <a:r>
              <a:rPr lang="en-US" sz="900" dirty="0">
                <a:solidFill>
                  <a:srgbClr val="9DACB4"/>
                </a:solidFill>
                <a:latin typeface="Calibri" pitchFamily="34" charset="0"/>
                <a:ea typeface="Calibri" pitchFamily="34" charset="-122"/>
                <a:cs typeface="Calibri" pitchFamily="34" charset="-120"/>
              </a:rPr>
              <a:t>AffectNet · Mollahosseini et al. 2019  |  23</a:t>
            </a:r>
            <a:endParaRPr lang="en-US" sz="900" dirty="0"/>
          </a:p>
        </p:txBody>
      </p:sp>
      <p:graphicFrame>
        <p:nvGraphicFramePr>
          <p:cNvPr id="9" name="Chart 0"/>
          <p:cNvGraphicFramePr/>
          <p:nvPr/>
        </p:nvGraphicFramePr>
        <p:xfrm>
          <a:off x="566928" y="1554480"/>
          <a:ext cx="6766560" cy="3383280"/>
        </p:xfrm>
        <a:graphic>
          <a:graphicData uri="http://schemas.openxmlformats.org/drawingml/2006/chart">
            <c:chart xmlns:c="http://schemas.openxmlformats.org/drawingml/2006/chart" xmlns:r="http://schemas.openxmlformats.org/officeDocument/2006/relationships" r:id="rId3"/>
          </a:graphicData>
        </a:graphic>
      </p:graphicFrame>
      <p:sp>
        <p:nvSpPr>
          <p:cNvPr id="10" name="Text 7"/>
          <p:cNvSpPr txBox="1"/>
          <p:nvPr/>
        </p:nvSpPr>
        <p:spPr>
          <a:xfrm>
            <a:off x="7589520" y="1700784"/>
            <a:ext cx="4041648" cy="3200400"/>
          </a:xfrm>
          <a:prstGeom prst="rect">
            <a:avLst/>
          </a:prstGeom>
          <a:noFill/>
          <a:ln/>
        </p:spPr>
        <p:txBody>
          <a:bodyPr wrap="square" lIns="0" tIns="0" rIns="0" bIns="0" rtlCol="0" anchor="t"/>
          <a:lstStyle/>
          <a:p>
            <a:pPr marL="342900" indent="-342900">
              <a:spcAft>
                <a:spcPts val="800"/>
              </a:spcAft>
              <a:buSzPct val="100000"/>
              <a:buChar char="●"/>
            </a:pPr>
            <a:r>
              <a:rPr lang="en-US" sz="1220" dirty="0">
                <a:solidFill>
                  <a:srgbClr val="2E3A42"/>
                </a:solidFill>
                <a:latin typeface="Calibri" pitchFamily="34" charset="0"/>
                <a:ea typeface="Calibri" pitchFamily="34" charset="-122"/>
                <a:cs typeface="Calibri" pitchFamily="34" charset="-120"/>
              </a:rPr>
              <a:t>A plain AlexNet with a Euclidean loss and a single output neuron lands within about 0.05 RMSE of the disagreement between two trained humans.</a:t>
            </a:r>
            <a:endParaRPr lang="en-US" sz="1220" dirty="0"/>
          </a:p>
          <a:p>
            <a:pPr marL="342900" indent="-342900">
              <a:spcAft>
                <a:spcPts val="800"/>
              </a:spcAft>
              <a:buSzPct val="100000"/>
              <a:buChar char="●"/>
            </a:pPr>
            <a:r>
              <a:rPr lang="en-US" sz="1220" dirty="0">
                <a:solidFill>
                  <a:srgbClr val="2E3A42"/>
                </a:solidFill>
                <a:latin typeface="Calibri" pitchFamily="34" charset="0"/>
                <a:ea typeface="Calibri" pitchFamily="34" charset="-122"/>
                <a:cs typeface="Calibri" pitchFamily="34" charset="-120"/>
              </a:rPr>
              <a:t>Concordance correlation is 0.541 for valence and 0.450 for arousal, against 0.821 and 0.551 between annotators.</a:t>
            </a:r>
            <a:endParaRPr lang="en-US" sz="1220" dirty="0"/>
          </a:p>
          <a:p>
            <a:pPr marL="342900" indent="-342900">
              <a:spcAft>
                <a:spcPts val="800"/>
              </a:spcAft>
              <a:buSzPct val="100000"/>
              <a:buChar char="●"/>
            </a:pPr>
            <a:r>
              <a:rPr lang="en-US" sz="1220" dirty="0">
                <a:solidFill>
                  <a:srgbClr val="2E3A42"/>
                </a:solidFill>
                <a:latin typeface="Calibri" pitchFamily="34" charset="0"/>
                <a:ea typeface="Calibri" pitchFamily="34" charset="-122"/>
                <a:cs typeface="Calibri" pitchFamily="34" charset="-120"/>
              </a:rPr>
              <a:t>So the model is close to human on error magnitude and further away on agreement — it is roughly right, less often exactly right.</a:t>
            </a:r>
            <a:endParaRPr lang="en-US" sz="1220" dirty="0"/>
          </a:p>
          <a:p>
            <a:pPr marL="342900" indent="-342900">
              <a:spcAft>
                <a:spcPts val="800"/>
              </a:spcAft>
              <a:buSzPct val="100000"/>
              <a:buChar char="●"/>
            </a:pPr>
            <a:r>
              <a:rPr lang="en-US" sz="1220" dirty="0">
                <a:solidFill>
                  <a:srgbClr val="2E3A42"/>
                </a:solidFill>
                <a:latin typeface="Calibri" pitchFamily="34" charset="0"/>
                <a:ea typeface="Calibri" pitchFamily="34" charset="-122"/>
                <a:cs typeface="Calibri" pitchFamily="34" charset="-120"/>
              </a:rPr>
              <a:t>Error is lowest near the centre of the circumplex. The hardest regions are low-valence mid-arousal and low-arousal mid-valence — contempt, boredom, sleepiness.</a:t>
            </a:r>
            <a:endParaRPr lang="en-US" sz="1220" dirty="0"/>
          </a:p>
        </p:txBody>
      </p:sp>
      <p:sp>
        <p:nvSpPr>
          <p:cNvPr id="11" name="Shape 8"/>
          <p:cNvSpPr/>
          <p:nvPr/>
        </p:nvSpPr>
        <p:spPr>
          <a:xfrm>
            <a:off x="566928" y="5084064"/>
            <a:ext cx="11064240" cy="969264"/>
          </a:xfrm>
          <a:prstGeom prst="roundRect">
            <a:avLst>
              <a:gd name="adj" fmla="val 5660"/>
            </a:avLst>
          </a:prstGeom>
          <a:solidFill>
            <a:srgbClr val="24303A"/>
          </a:solidFill>
          <a:ln w="12700">
            <a:solidFill>
              <a:srgbClr val="24303A"/>
            </a:solidFill>
            <a:prstDash val="solid"/>
          </a:ln>
        </p:spPr>
        <p:txBody>
          <a:bodyPr/>
          <a:lstStyle/>
          <a:p>
            <a:endParaRPr lang="en-US"/>
          </a:p>
        </p:txBody>
      </p:sp>
      <p:sp>
        <p:nvSpPr>
          <p:cNvPr id="12" name="Text 9"/>
          <p:cNvSpPr txBox="1"/>
          <p:nvPr/>
        </p:nvSpPr>
        <p:spPr>
          <a:xfrm>
            <a:off x="822960" y="5303520"/>
            <a:ext cx="10552176" cy="548640"/>
          </a:xfrm>
          <a:prstGeom prst="rect">
            <a:avLst/>
          </a:prstGeom>
          <a:noFill/>
          <a:ln/>
        </p:spPr>
        <p:txBody>
          <a:bodyPr wrap="square" lIns="0" tIns="0" rIns="0" bIns="0" rtlCol="0" anchor="t"/>
          <a:lstStyle/>
          <a:p>
            <a:pPr marL="0" indent="0">
              <a:lnSpc>
                <a:spcPct val="108000"/>
              </a:lnSpc>
              <a:buNone/>
            </a:pPr>
            <a:r>
              <a:rPr lang="en-US" sz="1300" dirty="0">
                <a:solidFill>
                  <a:srgbClr val="C6D6DC"/>
                </a:solidFill>
                <a:latin typeface="Calibri" pitchFamily="34" charset="0"/>
                <a:ea typeface="Calibri" pitchFamily="34" charset="-122"/>
                <a:cs typeface="Calibri" pitchFamily="34" charset="-120"/>
              </a:rPr>
              <a:t>Read carefully: the model is not as good as a human. It is as close to one human as another human is. On a task this subjective, those are different claims, and only the second is supported.</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301984" y="457200"/>
            <a:ext cx="137160" cy="137160"/>
          </a:xfrm>
          <a:prstGeom prst="roundRect">
            <a:avLst>
              <a:gd name="adj" fmla="val 13333"/>
            </a:avLst>
          </a:prstGeom>
          <a:solidFill>
            <a:srgbClr val="2F6B7C"/>
          </a:solidFill>
          <a:ln w="12700">
            <a:solidFill>
              <a:srgbClr val="333333"/>
            </a:solidFill>
            <a:prstDash val="solid"/>
          </a:ln>
        </p:spPr>
        <p:txBody>
          <a:bodyPr/>
          <a:lstStyle/>
          <a:p>
            <a:endParaRPr lang="en-US"/>
          </a:p>
        </p:txBody>
      </p:sp>
      <p:sp>
        <p:nvSpPr>
          <p:cNvPr id="3" name="Shape 1"/>
          <p:cNvSpPr/>
          <p:nvPr/>
        </p:nvSpPr>
        <p:spPr>
          <a:xfrm>
            <a:off x="11471148" y="457200"/>
            <a:ext cx="137160" cy="137160"/>
          </a:xfrm>
          <a:prstGeom prst="roundRect">
            <a:avLst>
              <a:gd name="adj" fmla="val 13333"/>
            </a:avLst>
          </a:prstGeom>
          <a:solidFill>
            <a:srgbClr val="D2603F"/>
          </a:solidFill>
          <a:ln w="12700">
            <a:solidFill>
              <a:srgbClr val="333333"/>
            </a:solidFill>
            <a:prstDash val="solid"/>
          </a:ln>
        </p:spPr>
        <p:txBody>
          <a:bodyPr/>
          <a:lstStyle/>
          <a:p>
            <a:endParaRPr lang="en-US"/>
          </a:p>
        </p:txBody>
      </p:sp>
      <p:sp>
        <p:nvSpPr>
          <p:cNvPr id="4" name="Shape 2"/>
          <p:cNvSpPr/>
          <p:nvPr/>
        </p:nvSpPr>
        <p:spPr>
          <a:xfrm>
            <a:off x="11301984" y="626364"/>
            <a:ext cx="137160" cy="137160"/>
          </a:xfrm>
          <a:prstGeom prst="roundRect">
            <a:avLst>
              <a:gd name="adj" fmla="val 13333"/>
            </a:avLst>
          </a:prstGeom>
          <a:solidFill>
            <a:srgbClr val="8CA3AD"/>
          </a:solidFill>
          <a:ln w="12700">
            <a:solidFill>
              <a:srgbClr val="333333"/>
            </a:solidFill>
            <a:prstDash val="solid"/>
          </a:ln>
        </p:spPr>
        <p:txBody>
          <a:bodyPr/>
          <a:lstStyle/>
          <a:p>
            <a:endParaRPr lang="en-US"/>
          </a:p>
        </p:txBody>
      </p:sp>
      <p:sp>
        <p:nvSpPr>
          <p:cNvPr id="5" name="Shape 3"/>
          <p:cNvSpPr/>
          <p:nvPr/>
        </p:nvSpPr>
        <p:spPr>
          <a:xfrm>
            <a:off x="11471148" y="626364"/>
            <a:ext cx="137160" cy="137160"/>
          </a:xfrm>
          <a:prstGeom prst="roundRect">
            <a:avLst>
              <a:gd name="adj" fmla="val 13333"/>
            </a:avLst>
          </a:prstGeom>
          <a:solidFill>
            <a:srgbClr val="2F6B7C"/>
          </a:solidFill>
          <a:ln w="12700">
            <a:solidFill>
              <a:srgbClr val="333333"/>
            </a:solidFill>
            <a:prstDash val="solid"/>
          </a:ln>
        </p:spPr>
        <p:txBody>
          <a:bodyPr/>
          <a:lstStyle/>
          <a:p>
            <a:endParaRPr lang="en-US"/>
          </a:p>
        </p:txBody>
      </p:sp>
      <p:sp>
        <p:nvSpPr>
          <p:cNvPr id="6" name="Text 4"/>
          <p:cNvSpPr txBox="1"/>
          <p:nvPr/>
        </p:nvSpPr>
        <p:spPr>
          <a:xfrm>
            <a:off x="548640" y="384048"/>
            <a:ext cx="10424160" cy="566928"/>
          </a:xfrm>
          <a:prstGeom prst="rect">
            <a:avLst/>
          </a:prstGeom>
          <a:noFill/>
          <a:ln/>
        </p:spPr>
        <p:txBody>
          <a:bodyPr wrap="square" lIns="0" tIns="0" rIns="0" bIns="0" rtlCol="0" anchor="t"/>
          <a:lstStyle/>
          <a:p>
            <a:pPr marL="0" indent="0">
              <a:buNone/>
            </a:pPr>
            <a:r>
              <a:rPr lang="en-US" sz="2900" b="1" dirty="0">
                <a:solidFill>
                  <a:srgbClr val="1A242C"/>
                </a:solidFill>
                <a:latin typeface="Cambria" pitchFamily="34" charset="0"/>
                <a:ea typeface="Cambria" pitchFamily="34" charset="-122"/>
                <a:cs typeface="Cambria" pitchFamily="34" charset="-120"/>
              </a:rPr>
              <a:t>Critical appraisal</a:t>
            </a:r>
            <a:endParaRPr lang="en-US" sz="2900" dirty="0"/>
          </a:p>
        </p:txBody>
      </p:sp>
      <p:sp>
        <p:nvSpPr>
          <p:cNvPr id="7" name="Text 5"/>
          <p:cNvSpPr txBox="1"/>
          <p:nvPr/>
        </p:nvSpPr>
        <p:spPr>
          <a:xfrm>
            <a:off x="548640" y="969264"/>
            <a:ext cx="10424160" cy="329184"/>
          </a:xfrm>
          <a:prstGeom prst="rect">
            <a:avLst/>
          </a:prstGeom>
          <a:noFill/>
          <a:ln/>
        </p:spPr>
        <p:txBody>
          <a:bodyPr wrap="square" lIns="0" tIns="0" rIns="0" bIns="0" rtlCol="0" anchor="ctr"/>
          <a:lstStyle/>
          <a:p>
            <a:pPr marL="0" indent="0">
              <a:buNone/>
            </a:pPr>
            <a:r>
              <a:rPr lang="en-US" sz="1350" i="1" dirty="0">
                <a:solidFill>
                  <a:srgbClr val="5D6B75"/>
                </a:solidFill>
                <a:latin typeface="Calibri" pitchFamily="34" charset="0"/>
                <a:ea typeface="Calibri" pitchFamily="34" charset="-122"/>
                <a:cs typeface="Calibri" pitchFamily="34" charset="-120"/>
              </a:rPr>
              <a:t>What the design buys, and what it costs</a:t>
            </a:r>
            <a:endParaRPr lang="en-US" sz="1350" dirty="0"/>
          </a:p>
        </p:txBody>
      </p:sp>
      <p:sp>
        <p:nvSpPr>
          <p:cNvPr id="8" name="Text 6"/>
          <p:cNvSpPr txBox="1"/>
          <p:nvPr/>
        </p:nvSpPr>
        <p:spPr>
          <a:xfrm>
            <a:off x="9326880" y="6382512"/>
            <a:ext cx="2313432" cy="274320"/>
          </a:xfrm>
          <a:prstGeom prst="rect">
            <a:avLst/>
          </a:prstGeom>
          <a:noFill/>
          <a:ln/>
        </p:spPr>
        <p:txBody>
          <a:bodyPr wrap="square" lIns="0" tIns="0" rIns="0" bIns="0" rtlCol="0" anchor="ctr"/>
          <a:lstStyle/>
          <a:p>
            <a:pPr marL="0" indent="0" algn="r">
              <a:buNone/>
            </a:pPr>
            <a:r>
              <a:rPr lang="en-US" sz="900" dirty="0">
                <a:solidFill>
                  <a:srgbClr val="9DACB4"/>
                </a:solidFill>
                <a:latin typeface="Calibri" pitchFamily="34" charset="0"/>
                <a:ea typeface="Calibri" pitchFamily="34" charset="-122"/>
                <a:cs typeface="Calibri" pitchFamily="34" charset="-120"/>
              </a:rPr>
              <a:t>AffectNet · Mollahosseini et al. 2019  |  24</a:t>
            </a:r>
            <a:endParaRPr lang="en-US" sz="900" dirty="0"/>
          </a:p>
        </p:txBody>
      </p:sp>
      <p:sp>
        <p:nvSpPr>
          <p:cNvPr id="9" name="Shape 7"/>
          <p:cNvSpPr/>
          <p:nvPr/>
        </p:nvSpPr>
        <p:spPr>
          <a:xfrm>
            <a:off x="566928" y="1554480"/>
            <a:ext cx="5440680" cy="4498848"/>
          </a:xfrm>
          <a:prstGeom prst="roundRect">
            <a:avLst>
              <a:gd name="adj" fmla="val 1220"/>
            </a:avLst>
          </a:prstGeom>
          <a:solidFill>
            <a:srgbClr val="F1F5F6"/>
          </a:solidFill>
          <a:ln w="12700">
            <a:solidFill>
              <a:srgbClr val="DDE6E9"/>
            </a:solidFill>
            <a:prstDash val="solid"/>
          </a:ln>
        </p:spPr>
        <p:txBody>
          <a:bodyPr/>
          <a:lstStyle/>
          <a:p>
            <a:endParaRPr lang="en-US"/>
          </a:p>
        </p:txBody>
      </p:sp>
      <p:sp>
        <p:nvSpPr>
          <p:cNvPr id="10" name="Shape 8"/>
          <p:cNvSpPr/>
          <p:nvPr/>
        </p:nvSpPr>
        <p:spPr>
          <a:xfrm>
            <a:off x="786384" y="1847088"/>
            <a:ext cx="109728" cy="109728"/>
          </a:xfrm>
          <a:prstGeom prst="ellipse">
            <a:avLst/>
          </a:prstGeom>
          <a:solidFill>
            <a:srgbClr val="2F6B7C"/>
          </a:solidFill>
          <a:ln w="12700">
            <a:solidFill>
              <a:srgbClr val="333333"/>
            </a:solidFill>
            <a:prstDash val="solid"/>
          </a:ln>
        </p:spPr>
        <p:txBody>
          <a:bodyPr/>
          <a:lstStyle/>
          <a:p>
            <a:endParaRPr lang="en-US"/>
          </a:p>
        </p:txBody>
      </p:sp>
      <p:sp>
        <p:nvSpPr>
          <p:cNvPr id="11" name="Text 9"/>
          <p:cNvSpPr txBox="1"/>
          <p:nvPr/>
        </p:nvSpPr>
        <p:spPr>
          <a:xfrm>
            <a:off x="987552" y="1719072"/>
            <a:ext cx="4800600" cy="365760"/>
          </a:xfrm>
          <a:prstGeom prst="rect">
            <a:avLst/>
          </a:prstGeom>
          <a:noFill/>
          <a:ln/>
        </p:spPr>
        <p:txBody>
          <a:bodyPr wrap="square" lIns="0" tIns="0" rIns="0" bIns="0" rtlCol="0" anchor="ctr"/>
          <a:lstStyle/>
          <a:p>
            <a:pPr marL="0" indent="0">
              <a:buNone/>
            </a:pPr>
            <a:r>
              <a:rPr lang="en-US" sz="1700" b="1" dirty="0">
                <a:solidFill>
                  <a:srgbClr val="1A242C"/>
                </a:solidFill>
                <a:latin typeface="Cambria" pitchFamily="34" charset="0"/>
                <a:ea typeface="Cambria" pitchFamily="34" charset="-122"/>
                <a:cs typeface="Cambria" pitchFamily="34" charset="-120"/>
              </a:rPr>
              <a:t>Strengths</a:t>
            </a:r>
            <a:endParaRPr lang="en-US" sz="1700" dirty="0"/>
          </a:p>
        </p:txBody>
      </p:sp>
      <p:sp>
        <p:nvSpPr>
          <p:cNvPr id="12" name="Text 10"/>
          <p:cNvSpPr txBox="1"/>
          <p:nvPr/>
        </p:nvSpPr>
        <p:spPr>
          <a:xfrm>
            <a:off x="822960" y="2157984"/>
            <a:ext cx="4928616" cy="3712464"/>
          </a:xfrm>
          <a:prstGeom prst="rect">
            <a:avLst/>
          </a:prstGeom>
          <a:noFill/>
          <a:ln/>
        </p:spPr>
        <p:txBody>
          <a:bodyPr wrap="square" lIns="0" tIns="0" rIns="0" bIns="0" rtlCol="0" anchor="t"/>
          <a:lstStyle/>
          <a:p>
            <a:pPr marL="0" indent="0">
              <a:lnSpc>
                <a:spcPct val="108000"/>
              </a:lnSpc>
              <a:buNone/>
            </a:pPr>
            <a:r>
              <a:rPr lang="en-US" sz="1240" dirty="0">
                <a:solidFill>
                  <a:srgbClr val="2E3A42"/>
                </a:solidFill>
                <a:latin typeface="Calibri" pitchFamily="34" charset="0"/>
                <a:ea typeface="Calibri" pitchFamily="34" charset="-122"/>
                <a:cs typeface="Calibri" pitchFamily="34" charset="-120"/>
              </a:rPr>
              <a:t>Both models of affect annotated manually on the same images, at a scale that made deep dimensional models trainable for the first time.</a:t>
            </a:r>
            <a:endParaRPr lang="en-US" sz="1240" dirty="0"/>
          </a:p>
          <a:p>
            <a:pPr marL="0" indent="0">
              <a:lnSpc>
                <a:spcPct val="108000"/>
              </a:lnSpc>
              <a:buNone/>
            </a:pPr>
            <a:endParaRPr lang="en-US" sz="1240" dirty="0"/>
          </a:p>
          <a:p>
            <a:pPr marL="0" indent="0">
              <a:lnSpc>
                <a:spcPct val="108000"/>
              </a:lnSpc>
              <a:buNone/>
            </a:pPr>
            <a:r>
              <a:rPr lang="en-US" sz="1240" dirty="0">
                <a:solidFill>
                  <a:srgbClr val="2E3A42"/>
                </a:solidFill>
                <a:latin typeface="Calibri" pitchFamily="34" charset="0"/>
                <a:ea typeface="Calibri" pitchFamily="34" charset="-122"/>
                <a:cs typeface="Calibri" pitchFamily="34" charset="-120"/>
              </a:rPr>
              <a:t>Genuine variation in pose, lighting, resolution, background and age — far beyond any laboratory corpus.</a:t>
            </a:r>
            <a:endParaRPr lang="en-US" sz="1240" dirty="0"/>
          </a:p>
          <a:p>
            <a:pPr marL="0" indent="0">
              <a:lnSpc>
                <a:spcPct val="108000"/>
              </a:lnSpc>
              <a:buNone/>
            </a:pPr>
            <a:endParaRPr lang="en-US" sz="1240" dirty="0"/>
          </a:p>
          <a:p>
            <a:pPr marL="0" indent="0">
              <a:lnSpc>
                <a:spcPct val="108000"/>
              </a:lnSpc>
              <a:buNone/>
            </a:pPr>
            <a:r>
              <a:rPr lang="en-US" sz="1240" dirty="0">
                <a:solidFill>
                  <a:srgbClr val="2E3A42"/>
                </a:solidFill>
                <a:latin typeface="Calibri" pitchFamily="34" charset="0"/>
                <a:ea typeface="Calibri" pitchFamily="34" charset="-122"/>
                <a:cs typeface="Calibri" pitchFamily="34" charset="-120"/>
              </a:rPr>
              <a:t>Trained, supervised expert annotators with a written tutorial and reviewed practice sessions.</a:t>
            </a:r>
            <a:endParaRPr lang="en-US" sz="1240" dirty="0"/>
          </a:p>
          <a:p>
            <a:pPr marL="0" indent="0">
              <a:lnSpc>
                <a:spcPct val="108000"/>
              </a:lnSpc>
              <a:buNone/>
            </a:pPr>
            <a:endParaRPr lang="en-US" sz="1240" dirty="0"/>
          </a:p>
          <a:p>
            <a:pPr marL="0" indent="0">
              <a:lnSpc>
                <a:spcPct val="108000"/>
              </a:lnSpc>
              <a:buNone/>
            </a:pPr>
            <a:r>
              <a:rPr lang="en-US" sz="1240" dirty="0">
                <a:solidFill>
                  <a:srgbClr val="2E3A42"/>
                </a:solidFill>
                <a:latin typeface="Calibri" pitchFamily="34" charset="0"/>
                <a:ea typeface="Calibri" pitchFamily="34" charset="-122"/>
                <a:cs typeface="Calibri" pitchFamily="34" charset="-120"/>
              </a:rPr>
              <a:t>Non-face, uncertain and none categories, so that failure and ambiguity are recorded rather than forced into an emotion label.</a:t>
            </a:r>
            <a:endParaRPr lang="en-US" sz="1240" dirty="0"/>
          </a:p>
          <a:p>
            <a:pPr marL="0" indent="0">
              <a:lnSpc>
                <a:spcPct val="108000"/>
              </a:lnSpc>
              <a:buNone/>
            </a:pPr>
            <a:endParaRPr lang="en-US" sz="1240" dirty="0"/>
          </a:p>
          <a:p>
            <a:pPr marL="0" indent="0">
              <a:lnSpc>
                <a:spcPct val="108000"/>
              </a:lnSpc>
              <a:buNone/>
            </a:pPr>
            <a:r>
              <a:rPr lang="en-US" sz="1240" dirty="0">
                <a:solidFill>
                  <a:srgbClr val="2E3A42"/>
                </a:solidFill>
                <a:latin typeface="Calibri" pitchFamily="34" charset="0"/>
                <a:ea typeface="Calibri" pitchFamily="34" charset="-122"/>
                <a:cs typeface="Calibri" pitchFamily="34" charset="-120"/>
              </a:rPr>
              <a:t>Agreement measured and published, including the uncomfortable 60.7% figure, in the abstract's own conclusion.</a:t>
            </a:r>
            <a:endParaRPr lang="en-US" sz="1240" dirty="0"/>
          </a:p>
          <a:p>
            <a:pPr marL="0" indent="0">
              <a:lnSpc>
                <a:spcPct val="108000"/>
              </a:lnSpc>
              <a:buNone/>
            </a:pPr>
            <a:endParaRPr lang="en-US" sz="1240" dirty="0"/>
          </a:p>
          <a:p>
            <a:pPr marL="0" indent="0">
              <a:lnSpc>
                <a:spcPct val="108000"/>
              </a:lnSpc>
              <a:buNone/>
            </a:pPr>
            <a:r>
              <a:rPr lang="en-US" sz="1240" dirty="0">
                <a:solidFill>
                  <a:srgbClr val="2E3A42"/>
                </a:solidFill>
                <a:latin typeface="Calibri" pitchFamily="34" charset="0"/>
                <a:ea typeface="Calibri" pitchFamily="34" charset="-122"/>
                <a:cs typeface="Calibri" pitchFamily="34" charset="-120"/>
              </a:rPr>
              <a:t>Skew-normalised metrics reported alongside raw ones throughout.</a:t>
            </a:r>
            <a:endParaRPr lang="en-US" sz="1240" dirty="0"/>
          </a:p>
        </p:txBody>
      </p:sp>
      <p:sp>
        <p:nvSpPr>
          <p:cNvPr id="13" name="Shape 11"/>
          <p:cNvSpPr/>
          <p:nvPr/>
        </p:nvSpPr>
        <p:spPr>
          <a:xfrm>
            <a:off x="6190488" y="1554480"/>
            <a:ext cx="5440680" cy="4498848"/>
          </a:xfrm>
          <a:prstGeom prst="roundRect">
            <a:avLst>
              <a:gd name="adj" fmla="val 1220"/>
            </a:avLst>
          </a:prstGeom>
          <a:solidFill>
            <a:srgbClr val="F1F5F6"/>
          </a:solidFill>
          <a:ln w="12700">
            <a:solidFill>
              <a:srgbClr val="DDE6E9"/>
            </a:solidFill>
            <a:prstDash val="solid"/>
          </a:ln>
        </p:spPr>
        <p:txBody>
          <a:bodyPr/>
          <a:lstStyle/>
          <a:p>
            <a:endParaRPr lang="en-US"/>
          </a:p>
        </p:txBody>
      </p:sp>
      <p:sp>
        <p:nvSpPr>
          <p:cNvPr id="14" name="Shape 12"/>
          <p:cNvSpPr/>
          <p:nvPr/>
        </p:nvSpPr>
        <p:spPr>
          <a:xfrm>
            <a:off x="6409944" y="1847088"/>
            <a:ext cx="109728" cy="109728"/>
          </a:xfrm>
          <a:prstGeom prst="ellipse">
            <a:avLst/>
          </a:prstGeom>
          <a:solidFill>
            <a:srgbClr val="D2603F"/>
          </a:solidFill>
          <a:ln w="12700">
            <a:solidFill>
              <a:srgbClr val="333333"/>
            </a:solidFill>
            <a:prstDash val="solid"/>
          </a:ln>
        </p:spPr>
        <p:txBody>
          <a:bodyPr/>
          <a:lstStyle/>
          <a:p>
            <a:endParaRPr lang="en-US"/>
          </a:p>
        </p:txBody>
      </p:sp>
      <p:sp>
        <p:nvSpPr>
          <p:cNvPr id="15" name="Text 13"/>
          <p:cNvSpPr txBox="1"/>
          <p:nvPr/>
        </p:nvSpPr>
        <p:spPr>
          <a:xfrm>
            <a:off x="6611112" y="1719072"/>
            <a:ext cx="4800600" cy="365760"/>
          </a:xfrm>
          <a:prstGeom prst="rect">
            <a:avLst/>
          </a:prstGeom>
          <a:noFill/>
          <a:ln/>
        </p:spPr>
        <p:txBody>
          <a:bodyPr wrap="square" lIns="0" tIns="0" rIns="0" bIns="0" rtlCol="0" anchor="ctr"/>
          <a:lstStyle/>
          <a:p>
            <a:pPr marL="0" indent="0">
              <a:buNone/>
            </a:pPr>
            <a:r>
              <a:rPr lang="en-US" sz="1700" b="1" dirty="0">
                <a:solidFill>
                  <a:srgbClr val="1A242C"/>
                </a:solidFill>
                <a:latin typeface="Cambria" pitchFamily="34" charset="0"/>
                <a:ea typeface="Cambria" pitchFamily="34" charset="-122"/>
                <a:cs typeface="Cambria" pitchFamily="34" charset="-120"/>
              </a:rPr>
              <a:t>Limitations</a:t>
            </a:r>
            <a:endParaRPr lang="en-US" sz="1700" dirty="0"/>
          </a:p>
        </p:txBody>
      </p:sp>
      <p:sp>
        <p:nvSpPr>
          <p:cNvPr id="16" name="Text 14"/>
          <p:cNvSpPr txBox="1"/>
          <p:nvPr/>
        </p:nvSpPr>
        <p:spPr>
          <a:xfrm>
            <a:off x="6446520" y="2157984"/>
            <a:ext cx="4928616" cy="3712464"/>
          </a:xfrm>
          <a:prstGeom prst="rect">
            <a:avLst/>
          </a:prstGeom>
          <a:noFill/>
          <a:ln/>
        </p:spPr>
        <p:txBody>
          <a:bodyPr wrap="square" lIns="0" tIns="0" rIns="0" bIns="0" rtlCol="0" anchor="t"/>
          <a:lstStyle/>
          <a:p>
            <a:pPr marL="0" indent="0">
              <a:lnSpc>
                <a:spcPct val="108000"/>
              </a:lnSpc>
              <a:buNone/>
            </a:pPr>
            <a:r>
              <a:rPr lang="en-US" sz="1240" dirty="0">
                <a:solidFill>
                  <a:srgbClr val="2E3A42"/>
                </a:solidFill>
                <a:latin typeface="Calibri" pitchFamily="34" charset="0"/>
                <a:ea typeface="Calibri" pitchFamily="34" charset="-122"/>
                <a:cs typeface="Calibri" pitchFamily="34" charset="-120"/>
              </a:rPr>
              <a:t>One annotator for 92% of the database, so most labels have no second opinion and no measurable reliability.</a:t>
            </a:r>
            <a:endParaRPr lang="en-US" sz="1240" dirty="0"/>
          </a:p>
          <a:p>
            <a:pPr marL="0" indent="0">
              <a:lnSpc>
                <a:spcPct val="108000"/>
              </a:lnSpc>
              <a:buNone/>
            </a:pPr>
            <a:endParaRPr lang="en-US" sz="1240" dirty="0"/>
          </a:p>
          <a:p>
            <a:pPr marL="0" indent="0">
              <a:lnSpc>
                <a:spcPct val="108000"/>
              </a:lnSpc>
              <a:buNone/>
            </a:pPr>
            <a:r>
              <a:rPr lang="en-US" sz="1240" dirty="0">
                <a:solidFill>
                  <a:srgbClr val="2E3A42"/>
                </a:solidFill>
                <a:latin typeface="Calibri" pitchFamily="34" charset="0"/>
                <a:ea typeface="Calibri" pitchFamily="34" charset="-122"/>
                <a:cs typeface="Calibri" pitchFamily="34" charset="-120"/>
              </a:rPr>
              <a:t>The query tie-break imports search-term bias into the test set's ground truth on exactly the hard cases.</a:t>
            </a:r>
            <a:endParaRPr lang="en-US" sz="1240" dirty="0"/>
          </a:p>
          <a:p>
            <a:pPr marL="0" indent="0">
              <a:lnSpc>
                <a:spcPct val="108000"/>
              </a:lnSpc>
              <a:buNone/>
            </a:pPr>
            <a:endParaRPr lang="en-US" sz="1240" dirty="0"/>
          </a:p>
          <a:p>
            <a:pPr marL="0" indent="0">
              <a:lnSpc>
                <a:spcPct val="108000"/>
              </a:lnSpc>
              <a:buNone/>
            </a:pPr>
            <a:r>
              <a:rPr lang="en-US" sz="1240" dirty="0">
                <a:solidFill>
                  <a:srgbClr val="2E3A42"/>
                </a:solidFill>
                <a:latin typeface="Calibri" pitchFamily="34" charset="0"/>
                <a:ea typeface="Calibri" pitchFamily="34" charset="-122"/>
                <a:cs typeface="Calibri" pitchFamily="34" charset="-120"/>
              </a:rPr>
              <a:t>The circumplex guardrail softly enforces an assumed mapping between categories and dimensions.</a:t>
            </a:r>
            <a:endParaRPr lang="en-US" sz="1240" dirty="0"/>
          </a:p>
          <a:p>
            <a:pPr marL="0" indent="0">
              <a:lnSpc>
                <a:spcPct val="108000"/>
              </a:lnSpc>
              <a:buNone/>
            </a:pPr>
            <a:endParaRPr lang="en-US" sz="1240" dirty="0"/>
          </a:p>
          <a:p>
            <a:pPr marL="0" indent="0">
              <a:lnSpc>
                <a:spcPct val="108000"/>
              </a:lnSpc>
              <a:buNone/>
            </a:pPr>
            <a:r>
              <a:rPr lang="en-US" sz="1240" dirty="0">
                <a:solidFill>
                  <a:srgbClr val="2E3A42"/>
                </a:solidFill>
                <a:latin typeface="Calibri" pitchFamily="34" charset="0"/>
                <a:ea typeface="Calibri" pitchFamily="34" charset="-122"/>
                <a:cs typeface="Calibri" pitchFamily="34" charset="-120"/>
              </a:rPr>
              <a:t>Severe class imbalance — twenty-eight to one — driven by what people publish, not by what people feel.</a:t>
            </a:r>
            <a:endParaRPr lang="en-US" sz="1240" dirty="0"/>
          </a:p>
          <a:p>
            <a:pPr marL="0" indent="0">
              <a:lnSpc>
                <a:spcPct val="108000"/>
              </a:lnSpc>
              <a:buNone/>
            </a:pPr>
            <a:endParaRPr lang="en-US" sz="1240" dirty="0"/>
          </a:p>
          <a:p>
            <a:pPr marL="0" indent="0">
              <a:lnSpc>
                <a:spcPct val="108000"/>
              </a:lnSpc>
              <a:buNone/>
            </a:pPr>
            <a:r>
              <a:rPr lang="en-US" sz="1240" dirty="0">
                <a:solidFill>
                  <a:srgbClr val="2E3A42"/>
                </a:solidFill>
                <a:latin typeface="Calibri" pitchFamily="34" charset="0"/>
                <a:ea typeface="Calibri" pitchFamily="34" charset="-122"/>
                <a:cs typeface="Calibri" pitchFamily="34" charset="-120"/>
              </a:rPr>
              <a:t>No subject identity, so the same person can appear in both training and test data. There is no subject-independent split.</a:t>
            </a:r>
            <a:endParaRPr lang="en-US" sz="1240" dirty="0"/>
          </a:p>
          <a:p>
            <a:pPr marL="0" indent="0">
              <a:lnSpc>
                <a:spcPct val="108000"/>
              </a:lnSpc>
              <a:buNone/>
            </a:pPr>
            <a:endParaRPr lang="en-US" sz="1240" dirty="0"/>
          </a:p>
          <a:p>
            <a:pPr marL="0" indent="0">
              <a:lnSpc>
                <a:spcPct val="108000"/>
              </a:lnSpc>
              <a:buNone/>
            </a:pPr>
            <a:r>
              <a:rPr lang="en-US" sz="1240" dirty="0">
                <a:solidFill>
                  <a:srgbClr val="2E3A42"/>
                </a:solidFill>
                <a:latin typeface="Calibri" pitchFamily="34" charset="0"/>
                <a:ea typeface="Calibri" pitchFamily="34" charset="-122"/>
                <a:cs typeface="Calibri" pitchFamily="34" charset="-120"/>
              </a:rPr>
              <a:t>No consent from the people depicted, and no ethnicity composition reported despite ethnicity terms in the queries.</a:t>
            </a:r>
            <a:endParaRPr lang="en-US" sz="124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301984" y="457200"/>
            <a:ext cx="137160" cy="137160"/>
          </a:xfrm>
          <a:prstGeom prst="roundRect">
            <a:avLst>
              <a:gd name="adj" fmla="val 13333"/>
            </a:avLst>
          </a:prstGeom>
          <a:solidFill>
            <a:srgbClr val="2F6B7C"/>
          </a:solidFill>
          <a:ln w="12700">
            <a:solidFill>
              <a:srgbClr val="333333"/>
            </a:solidFill>
            <a:prstDash val="solid"/>
          </a:ln>
        </p:spPr>
        <p:txBody>
          <a:bodyPr/>
          <a:lstStyle/>
          <a:p>
            <a:endParaRPr lang="en-US"/>
          </a:p>
        </p:txBody>
      </p:sp>
      <p:sp>
        <p:nvSpPr>
          <p:cNvPr id="3" name="Shape 1"/>
          <p:cNvSpPr/>
          <p:nvPr/>
        </p:nvSpPr>
        <p:spPr>
          <a:xfrm>
            <a:off x="11471148" y="457200"/>
            <a:ext cx="137160" cy="137160"/>
          </a:xfrm>
          <a:prstGeom prst="roundRect">
            <a:avLst>
              <a:gd name="adj" fmla="val 13333"/>
            </a:avLst>
          </a:prstGeom>
          <a:solidFill>
            <a:srgbClr val="D2603F"/>
          </a:solidFill>
          <a:ln w="12700">
            <a:solidFill>
              <a:srgbClr val="333333"/>
            </a:solidFill>
            <a:prstDash val="solid"/>
          </a:ln>
        </p:spPr>
        <p:txBody>
          <a:bodyPr/>
          <a:lstStyle/>
          <a:p>
            <a:endParaRPr lang="en-US"/>
          </a:p>
        </p:txBody>
      </p:sp>
      <p:sp>
        <p:nvSpPr>
          <p:cNvPr id="4" name="Shape 2"/>
          <p:cNvSpPr/>
          <p:nvPr/>
        </p:nvSpPr>
        <p:spPr>
          <a:xfrm>
            <a:off x="11301984" y="626364"/>
            <a:ext cx="137160" cy="137160"/>
          </a:xfrm>
          <a:prstGeom prst="roundRect">
            <a:avLst>
              <a:gd name="adj" fmla="val 13333"/>
            </a:avLst>
          </a:prstGeom>
          <a:solidFill>
            <a:srgbClr val="8CA3AD"/>
          </a:solidFill>
          <a:ln w="12700">
            <a:solidFill>
              <a:srgbClr val="333333"/>
            </a:solidFill>
            <a:prstDash val="solid"/>
          </a:ln>
        </p:spPr>
        <p:txBody>
          <a:bodyPr/>
          <a:lstStyle/>
          <a:p>
            <a:endParaRPr lang="en-US"/>
          </a:p>
        </p:txBody>
      </p:sp>
      <p:sp>
        <p:nvSpPr>
          <p:cNvPr id="5" name="Shape 3"/>
          <p:cNvSpPr/>
          <p:nvPr/>
        </p:nvSpPr>
        <p:spPr>
          <a:xfrm>
            <a:off x="11471148" y="626364"/>
            <a:ext cx="137160" cy="137160"/>
          </a:xfrm>
          <a:prstGeom prst="roundRect">
            <a:avLst>
              <a:gd name="adj" fmla="val 13333"/>
            </a:avLst>
          </a:prstGeom>
          <a:solidFill>
            <a:srgbClr val="2F6B7C"/>
          </a:solidFill>
          <a:ln w="12700">
            <a:solidFill>
              <a:srgbClr val="333333"/>
            </a:solidFill>
            <a:prstDash val="solid"/>
          </a:ln>
        </p:spPr>
        <p:txBody>
          <a:bodyPr/>
          <a:lstStyle/>
          <a:p>
            <a:endParaRPr lang="en-US"/>
          </a:p>
        </p:txBody>
      </p:sp>
      <p:sp>
        <p:nvSpPr>
          <p:cNvPr id="6" name="Text 4"/>
          <p:cNvSpPr txBox="1"/>
          <p:nvPr/>
        </p:nvSpPr>
        <p:spPr>
          <a:xfrm>
            <a:off x="548640" y="384048"/>
            <a:ext cx="10424160" cy="566928"/>
          </a:xfrm>
          <a:prstGeom prst="rect">
            <a:avLst/>
          </a:prstGeom>
          <a:noFill/>
          <a:ln/>
        </p:spPr>
        <p:txBody>
          <a:bodyPr wrap="square" lIns="0" tIns="0" rIns="0" bIns="0" rtlCol="0" anchor="t"/>
          <a:lstStyle/>
          <a:p>
            <a:pPr marL="0" indent="0">
              <a:buNone/>
            </a:pPr>
            <a:r>
              <a:rPr lang="en-US" sz="2900" b="1" dirty="0">
                <a:solidFill>
                  <a:srgbClr val="1A242C"/>
                </a:solidFill>
                <a:latin typeface="Cambria" pitchFamily="34" charset="0"/>
                <a:ea typeface="Cambria" pitchFamily="34" charset="-122"/>
                <a:cs typeface="Cambria" pitchFamily="34" charset="-120"/>
              </a:rPr>
              <a:t>What 'in the wild' actually means</a:t>
            </a:r>
            <a:endParaRPr lang="en-US" sz="2900" dirty="0"/>
          </a:p>
        </p:txBody>
      </p:sp>
      <p:sp>
        <p:nvSpPr>
          <p:cNvPr id="7" name="Text 5"/>
          <p:cNvSpPr txBox="1"/>
          <p:nvPr/>
        </p:nvSpPr>
        <p:spPr>
          <a:xfrm>
            <a:off x="548640" y="969264"/>
            <a:ext cx="10424160" cy="329184"/>
          </a:xfrm>
          <a:prstGeom prst="rect">
            <a:avLst/>
          </a:prstGeom>
          <a:noFill/>
          <a:ln/>
        </p:spPr>
        <p:txBody>
          <a:bodyPr wrap="square" lIns="0" tIns="0" rIns="0" bIns="0" rtlCol="0" anchor="ctr"/>
          <a:lstStyle/>
          <a:p>
            <a:pPr marL="0" indent="0">
              <a:buNone/>
            </a:pPr>
            <a:r>
              <a:rPr lang="en-US" sz="1350" i="1" dirty="0">
                <a:solidFill>
                  <a:srgbClr val="5D6B75"/>
                </a:solidFill>
                <a:latin typeface="Calibri" pitchFamily="34" charset="0"/>
                <a:ea typeface="Calibri" pitchFamily="34" charset="-122"/>
                <a:cs typeface="Calibri" pitchFamily="34" charset="-120"/>
              </a:rPr>
              <a:t>The claim both of today's papers rest on</a:t>
            </a:r>
            <a:endParaRPr lang="en-US" sz="1350" dirty="0"/>
          </a:p>
        </p:txBody>
      </p:sp>
      <p:sp>
        <p:nvSpPr>
          <p:cNvPr id="8" name="Text 6"/>
          <p:cNvSpPr txBox="1"/>
          <p:nvPr/>
        </p:nvSpPr>
        <p:spPr>
          <a:xfrm>
            <a:off x="9326880" y="6382512"/>
            <a:ext cx="2313432" cy="274320"/>
          </a:xfrm>
          <a:prstGeom prst="rect">
            <a:avLst/>
          </a:prstGeom>
          <a:noFill/>
          <a:ln/>
        </p:spPr>
        <p:txBody>
          <a:bodyPr wrap="square" lIns="0" tIns="0" rIns="0" bIns="0" rtlCol="0" anchor="ctr"/>
          <a:lstStyle/>
          <a:p>
            <a:pPr marL="0" indent="0" algn="r">
              <a:buNone/>
            </a:pPr>
            <a:r>
              <a:rPr lang="en-US" sz="900" dirty="0">
                <a:solidFill>
                  <a:srgbClr val="9DACB4"/>
                </a:solidFill>
                <a:latin typeface="Calibri" pitchFamily="34" charset="0"/>
                <a:ea typeface="Calibri" pitchFamily="34" charset="-122"/>
                <a:cs typeface="Calibri" pitchFamily="34" charset="-120"/>
              </a:rPr>
              <a:t>AffectNet · Mollahosseini et al. 2019  |  25</a:t>
            </a:r>
            <a:endParaRPr lang="en-US" sz="900" dirty="0"/>
          </a:p>
        </p:txBody>
      </p:sp>
      <p:sp>
        <p:nvSpPr>
          <p:cNvPr id="9" name="Shape 7"/>
          <p:cNvSpPr/>
          <p:nvPr/>
        </p:nvSpPr>
        <p:spPr>
          <a:xfrm>
            <a:off x="566928" y="1572768"/>
            <a:ext cx="3584448" cy="2331720"/>
          </a:xfrm>
          <a:prstGeom prst="roundRect">
            <a:avLst>
              <a:gd name="adj" fmla="val 2353"/>
            </a:avLst>
          </a:prstGeom>
          <a:solidFill>
            <a:srgbClr val="F1F5F6"/>
          </a:solidFill>
          <a:ln w="12700">
            <a:solidFill>
              <a:srgbClr val="DDE6E9"/>
            </a:solidFill>
            <a:prstDash val="solid"/>
          </a:ln>
        </p:spPr>
        <p:txBody>
          <a:bodyPr/>
          <a:lstStyle/>
          <a:p>
            <a:endParaRPr lang="en-US"/>
          </a:p>
        </p:txBody>
      </p:sp>
      <p:sp>
        <p:nvSpPr>
          <p:cNvPr id="10" name="Shape 8"/>
          <p:cNvSpPr/>
          <p:nvPr/>
        </p:nvSpPr>
        <p:spPr>
          <a:xfrm>
            <a:off x="786384" y="1865376"/>
            <a:ext cx="109728" cy="109728"/>
          </a:xfrm>
          <a:prstGeom prst="ellipse">
            <a:avLst/>
          </a:prstGeom>
          <a:solidFill>
            <a:srgbClr val="2F6B7C"/>
          </a:solidFill>
          <a:ln w="12700">
            <a:solidFill>
              <a:srgbClr val="333333"/>
            </a:solidFill>
            <a:prstDash val="solid"/>
          </a:ln>
        </p:spPr>
        <p:txBody>
          <a:bodyPr/>
          <a:lstStyle/>
          <a:p>
            <a:endParaRPr lang="en-US"/>
          </a:p>
        </p:txBody>
      </p:sp>
      <p:sp>
        <p:nvSpPr>
          <p:cNvPr id="11" name="Text 9"/>
          <p:cNvSpPr txBox="1"/>
          <p:nvPr/>
        </p:nvSpPr>
        <p:spPr>
          <a:xfrm>
            <a:off x="987552" y="1737360"/>
            <a:ext cx="2944368" cy="365760"/>
          </a:xfrm>
          <a:prstGeom prst="rect">
            <a:avLst/>
          </a:prstGeom>
          <a:noFill/>
          <a:ln/>
        </p:spPr>
        <p:txBody>
          <a:bodyPr wrap="square" lIns="0" tIns="0" rIns="0" bIns="0" rtlCol="0" anchor="ctr"/>
          <a:lstStyle/>
          <a:p>
            <a:pPr marL="0" indent="0">
              <a:buNone/>
            </a:pPr>
            <a:r>
              <a:rPr lang="en-US" sz="1500" b="1" dirty="0">
                <a:solidFill>
                  <a:srgbClr val="1A242C"/>
                </a:solidFill>
                <a:latin typeface="Cambria" pitchFamily="34" charset="0"/>
                <a:ea typeface="Cambria" pitchFamily="34" charset="-122"/>
                <a:cs typeface="Cambria" pitchFamily="34" charset="-120"/>
              </a:rPr>
              <a:t>What it does mean</a:t>
            </a:r>
            <a:endParaRPr lang="en-US" sz="1500" dirty="0"/>
          </a:p>
        </p:txBody>
      </p:sp>
      <p:sp>
        <p:nvSpPr>
          <p:cNvPr id="12" name="Text 10"/>
          <p:cNvSpPr txBox="1"/>
          <p:nvPr/>
        </p:nvSpPr>
        <p:spPr>
          <a:xfrm>
            <a:off x="822960" y="2176272"/>
            <a:ext cx="3072384" cy="1545336"/>
          </a:xfrm>
          <a:prstGeom prst="rect">
            <a:avLst/>
          </a:prstGeom>
          <a:noFill/>
          <a:ln/>
        </p:spPr>
        <p:txBody>
          <a:bodyPr wrap="square" lIns="0" tIns="0" rIns="0" bIns="0" rtlCol="0" anchor="t"/>
          <a:lstStyle/>
          <a:p>
            <a:pPr marL="0" indent="0">
              <a:lnSpc>
                <a:spcPct val="108000"/>
              </a:lnSpc>
              <a:buNone/>
            </a:pPr>
            <a:r>
              <a:rPr lang="en-US" sz="1260" dirty="0">
                <a:solidFill>
                  <a:srgbClr val="2E3A42"/>
                </a:solidFill>
                <a:latin typeface="Calibri" pitchFamily="34" charset="0"/>
                <a:ea typeface="Calibri" pitchFamily="34" charset="-122"/>
                <a:cs typeface="Calibri" pitchFamily="34" charset="-120"/>
              </a:rPr>
              <a:t>Uncontrolled capture conditions. Variable lighting, pose, resolution, background, camera and subject. No laboratory, no instructions, no director.</a:t>
            </a:r>
            <a:endParaRPr lang="en-US" sz="1260" dirty="0"/>
          </a:p>
        </p:txBody>
      </p:sp>
      <p:sp>
        <p:nvSpPr>
          <p:cNvPr id="13" name="Shape 11"/>
          <p:cNvSpPr/>
          <p:nvPr/>
        </p:nvSpPr>
        <p:spPr>
          <a:xfrm>
            <a:off x="4279392" y="1572768"/>
            <a:ext cx="3584448" cy="2331720"/>
          </a:xfrm>
          <a:prstGeom prst="roundRect">
            <a:avLst>
              <a:gd name="adj" fmla="val 2353"/>
            </a:avLst>
          </a:prstGeom>
          <a:solidFill>
            <a:srgbClr val="F1F5F6"/>
          </a:solidFill>
          <a:ln w="12700">
            <a:solidFill>
              <a:srgbClr val="DDE6E9"/>
            </a:solidFill>
            <a:prstDash val="solid"/>
          </a:ln>
        </p:spPr>
        <p:txBody>
          <a:bodyPr/>
          <a:lstStyle/>
          <a:p>
            <a:endParaRPr lang="en-US"/>
          </a:p>
        </p:txBody>
      </p:sp>
      <p:sp>
        <p:nvSpPr>
          <p:cNvPr id="14" name="Shape 12"/>
          <p:cNvSpPr/>
          <p:nvPr/>
        </p:nvSpPr>
        <p:spPr>
          <a:xfrm>
            <a:off x="4498848" y="1865376"/>
            <a:ext cx="109728" cy="109728"/>
          </a:xfrm>
          <a:prstGeom prst="ellipse">
            <a:avLst/>
          </a:prstGeom>
          <a:solidFill>
            <a:srgbClr val="D2603F"/>
          </a:solidFill>
          <a:ln w="12700">
            <a:solidFill>
              <a:srgbClr val="333333"/>
            </a:solidFill>
            <a:prstDash val="solid"/>
          </a:ln>
        </p:spPr>
        <p:txBody>
          <a:bodyPr/>
          <a:lstStyle/>
          <a:p>
            <a:endParaRPr lang="en-US"/>
          </a:p>
        </p:txBody>
      </p:sp>
      <p:sp>
        <p:nvSpPr>
          <p:cNvPr id="15" name="Text 13"/>
          <p:cNvSpPr txBox="1"/>
          <p:nvPr/>
        </p:nvSpPr>
        <p:spPr>
          <a:xfrm>
            <a:off x="4700016" y="1737360"/>
            <a:ext cx="2944368" cy="365760"/>
          </a:xfrm>
          <a:prstGeom prst="rect">
            <a:avLst/>
          </a:prstGeom>
          <a:noFill/>
          <a:ln/>
        </p:spPr>
        <p:txBody>
          <a:bodyPr wrap="square" lIns="0" tIns="0" rIns="0" bIns="0" rtlCol="0" anchor="ctr"/>
          <a:lstStyle/>
          <a:p>
            <a:pPr marL="0" indent="0">
              <a:buNone/>
            </a:pPr>
            <a:r>
              <a:rPr lang="en-US" sz="1500" b="1" dirty="0">
                <a:solidFill>
                  <a:srgbClr val="1A242C"/>
                </a:solidFill>
                <a:latin typeface="Cambria" pitchFamily="34" charset="0"/>
                <a:ea typeface="Cambria" pitchFamily="34" charset="-122"/>
                <a:cs typeface="Cambria" pitchFamily="34" charset="-120"/>
              </a:rPr>
              <a:t>What it does not mean</a:t>
            </a:r>
            <a:endParaRPr lang="en-US" sz="1500" dirty="0"/>
          </a:p>
        </p:txBody>
      </p:sp>
      <p:sp>
        <p:nvSpPr>
          <p:cNvPr id="16" name="Text 14"/>
          <p:cNvSpPr txBox="1"/>
          <p:nvPr/>
        </p:nvSpPr>
        <p:spPr>
          <a:xfrm>
            <a:off x="4535424" y="2176272"/>
            <a:ext cx="3072384" cy="1545336"/>
          </a:xfrm>
          <a:prstGeom prst="rect">
            <a:avLst/>
          </a:prstGeom>
          <a:noFill/>
          <a:ln/>
        </p:spPr>
        <p:txBody>
          <a:bodyPr wrap="square" lIns="0" tIns="0" rIns="0" bIns="0" rtlCol="0" anchor="t"/>
          <a:lstStyle/>
          <a:p>
            <a:pPr marL="0" indent="0">
              <a:lnSpc>
                <a:spcPct val="108000"/>
              </a:lnSpc>
              <a:buNone/>
            </a:pPr>
            <a:r>
              <a:rPr lang="en-US" sz="1260" dirty="0">
                <a:solidFill>
                  <a:srgbClr val="2E3A42"/>
                </a:solidFill>
                <a:latin typeface="Calibri" pitchFamily="34" charset="0"/>
                <a:ea typeface="Calibri" pitchFamily="34" charset="-122"/>
                <a:cs typeface="Calibri" pitchFamily="34" charset="-120"/>
              </a:rPr>
              <a:t>A representative sample of human emotional expression. What it samples is the set of images people chose to publish, that a search engine chose to return, and that a face detector could parse.</a:t>
            </a:r>
            <a:endParaRPr lang="en-US" sz="1260" dirty="0"/>
          </a:p>
        </p:txBody>
      </p:sp>
      <p:sp>
        <p:nvSpPr>
          <p:cNvPr id="17" name="Shape 15"/>
          <p:cNvSpPr/>
          <p:nvPr/>
        </p:nvSpPr>
        <p:spPr>
          <a:xfrm>
            <a:off x="7991856" y="1572768"/>
            <a:ext cx="3639312" cy="2331720"/>
          </a:xfrm>
          <a:prstGeom prst="roundRect">
            <a:avLst>
              <a:gd name="adj" fmla="val 2353"/>
            </a:avLst>
          </a:prstGeom>
          <a:solidFill>
            <a:srgbClr val="F1F5F6"/>
          </a:solidFill>
          <a:ln w="12700">
            <a:solidFill>
              <a:srgbClr val="DDE6E9"/>
            </a:solidFill>
            <a:prstDash val="solid"/>
          </a:ln>
        </p:spPr>
        <p:txBody>
          <a:bodyPr/>
          <a:lstStyle/>
          <a:p>
            <a:endParaRPr lang="en-US"/>
          </a:p>
        </p:txBody>
      </p:sp>
      <p:sp>
        <p:nvSpPr>
          <p:cNvPr id="18" name="Shape 16"/>
          <p:cNvSpPr/>
          <p:nvPr/>
        </p:nvSpPr>
        <p:spPr>
          <a:xfrm>
            <a:off x="8211312" y="1865376"/>
            <a:ext cx="109728" cy="109728"/>
          </a:xfrm>
          <a:prstGeom prst="ellipse">
            <a:avLst/>
          </a:prstGeom>
          <a:solidFill>
            <a:srgbClr val="2F6B7C"/>
          </a:solidFill>
          <a:ln w="12700">
            <a:solidFill>
              <a:srgbClr val="333333"/>
            </a:solidFill>
            <a:prstDash val="solid"/>
          </a:ln>
        </p:spPr>
        <p:txBody>
          <a:bodyPr/>
          <a:lstStyle/>
          <a:p>
            <a:endParaRPr lang="en-US"/>
          </a:p>
        </p:txBody>
      </p:sp>
      <p:sp>
        <p:nvSpPr>
          <p:cNvPr id="19" name="Text 17"/>
          <p:cNvSpPr txBox="1"/>
          <p:nvPr/>
        </p:nvSpPr>
        <p:spPr>
          <a:xfrm>
            <a:off x="8412480" y="1737360"/>
            <a:ext cx="2999232" cy="365760"/>
          </a:xfrm>
          <a:prstGeom prst="rect">
            <a:avLst/>
          </a:prstGeom>
          <a:noFill/>
          <a:ln/>
        </p:spPr>
        <p:txBody>
          <a:bodyPr wrap="square" lIns="0" tIns="0" rIns="0" bIns="0" rtlCol="0" anchor="ctr"/>
          <a:lstStyle/>
          <a:p>
            <a:pPr marL="0" indent="0">
              <a:buNone/>
            </a:pPr>
            <a:r>
              <a:rPr lang="en-US" sz="1500" b="1" dirty="0">
                <a:solidFill>
                  <a:srgbClr val="1A242C"/>
                </a:solidFill>
                <a:latin typeface="Cambria" pitchFamily="34" charset="0"/>
                <a:ea typeface="Cambria" pitchFamily="34" charset="-122"/>
                <a:cs typeface="Cambria" pitchFamily="34" charset="-120"/>
              </a:rPr>
              <a:t>The same holds for podcasts</a:t>
            </a:r>
            <a:endParaRPr lang="en-US" sz="1500" dirty="0"/>
          </a:p>
        </p:txBody>
      </p:sp>
      <p:sp>
        <p:nvSpPr>
          <p:cNvPr id="20" name="Text 18"/>
          <p:cNvSpPr txBox="1"/>
          <p:nvPr/>
        </p:nvSpPr>
        <p:spPr>
          <a:xfrm>
            <a:off x="8247888" y="2176272"/>
            <a:ext cx="3127248" cy="1545336"/>
          </a:xfrm>
          <a:prstGeom prst="rect">
            <a:avLst/>
          </a:prstGeom>
          <a:noFill/>
          <a:ln/>
        </p:spPr>
        <p:txBody>
          <a:bodyPr wrap="square" lIns="0" tIns="0" rIns="0" bIns="0" rtlCol="0" anchor="t"/>
          <a:lstStyle/>
          <a:p>
            <a:pPr marL="0" indent="0">
              <a:lnSpc>
                <a:spcPct val="108000"/>
              </a:lnSpc>
              <a:buNone/>
            </a:pPr>
            <a:r>
              <a:rPr lang="en-US" sz="1260" dirty="0">
                <a:solidFill>
                  <a:srgbClr val="2E3A42"/>
                </a:solidFill>
                <a:latin typeface="Calibri" pitchFamily="34" charset="0"/>
                <a:ea typeface="Calibri" pitchFamily="34" charset="-122"/>
                <a:cs typeface="Calibri" pitchFamily="34" charset="-120"/>
              </a:rPr>
              <a:t>Public, performative speech by people who chose to record and release it, filtered for clean single-speaker wideband audio, and selected by models trained on actors.</a:t>
            </a:r>
            <a:endParaRPr lang="en-US" sz="1260" dirty="0"/>
          </a:p>
        </p:txBody>
      </p:sp>
      <p:sp>
        <p:nvSpPr>
          <p:cNvPr id="21" name="Shape 19"/>
          <p:cNvSpPr/>
          <p:nvPr/>
        </p:nvSpPr>
        <p:spPr>
          <a:xfrm>
            <a:off x="566928" y="4114800"/>
            <a:ext cx="11064240" cy="1938528"/>
          </a:xfrm>
          <a:prstGeom prst="roundRect">
            <a:avLst>
              <a:gd name="adj" fmla="val 2830"/>
            </a:avLst>
          </a:prstGeom>
          <a:solidFill>
            <a:srgbClr val="24303A"/>
          </a:solidFill>
          <a:ln w="12700">
            <a:solidFill>
              <a:srgbClr val="24303A"/>
            </a:solidFill>
            <a:prstDash val="solid"/>
          </a:ln>
        </p:spPr>
        <p:txBody>
          <a:bodyPr/>
          <a:lstStyle/>
          <a:p>
            <a:endParaRPr lang="en-US"/>
          </a:p>
        </p:txBody>
      </p:sp>
      <p:sp>
        <p:nvSpPr>
          <p:cNvPr id="22" name="Shape 20"/>
          <p:cNvSpPr/>
          <p:nvPr/>
        </p:nvSpPr>
        <p:spPr>
          <a:xfrm>
            <a:off x="786384" y="4407408"/>
            <a:ext cx="109728" cy="109728"/>
          </a:xfrm>
          <a:prstGeom prst="ellipse">
            <a:avLst/>
          </a:prstGeom>
          <a:solidFill>
            <a:srgbClr val="D2603F"/>
          </a:solidFill>
          <a:ln w="12700">
            <a:solidFill>
              <a:srgbClr val="333333"/>
            </a:solidFill>
            <a:prstDash val="solid"/>
          </a:ln>
        </p:spPr>
        <p:txBody>
          <a:bodyPr/>
          <a:lstStyle/>
          <a:p>
            <a:endParaRPr lang="en-US"/>
          </a:p>
        </p:txBody>
      </p:sp>
      <p:sp>
        <p:nvSpPr>
          <p:cNvPr id="23" name="Text 21"/>
          <p:cNvSpPr txBox="1"/>
          <p:nvPr/>
        </p:nvSpPr>
        <p:spPr>
          <a:xfrm>
            <a:off x="987552" y="4279392"/>
            <a:ext cx="10424160" cy="365760"/>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The honest formulation</a:t>
            </a:r>
            <a:endParaRPr lang="en-US" sz="1500" dirty="0"/>
          </a:p>
        </p:txBody>
      </p:sp>
      <p:sp>
        <p:nvSpPr>
          <p:cNvPr id="24" name="Text 22"/>
          <p:cNvSpPr txBox="1"/>
          <p:nvPr/>
        </p:nvSpPr>
        <p:spPr>
          <a:xfrm>
            <a:off x="822960" y="4718304"/>
            <a:ext cx="10552176" cy="1152144"/>
          </a:xfrm>
          <a:prstGeom prst="rect">
            <a:avLst/>
          </a:prstGeom>
          <a:noFill/>
          <a:ln/>
        </p:spPr>
        <p:txBody>
          <a:bodyPr wrap="square" lIns="0" tIns="0" rIns="0" bIns="0" rtlCol="0" anchor="t"/>
          <a:lstStyle/>
          <a:p>
            <a:pPr marL="0" indent="0">
              <a:lnSpc>
                <a:spcPct val="108000"/>
              </a:lnSpc>
              <a:buNone/>
            </a:pPr>
            <a:r>
              <a:rPr lang="en-US" sz="1300" dirty="0">
                <a:solidFill>
                  <a:srgbClr val="C6D6DC"/>
                </a:solidFill>
                <a:latin typeface="Calibri" pitchFamily="34" charset="0"/>
                <a:ea typeface="Calibri" pitchFamily="34" charset="-122"/>
                <a:cs typeface="Calibri" pitchFamily="34" charset="-120"/>
              </a:rPr>
              <a:t>Both corpora replace the experimenter's control with a different, invisible set of controls: publication norms, search ranking, licence terms, and the failure modes of the automatic tools used to filter the raw material.</a:t>
            </a:r>
            <a:endParaRPr lang="en-US" sz="1300" dirty="0"/>
          </a:p>
          <a:p>
            <a:pPr marL="0" indent="0">
              <a:lnSpc>
                <a:spcPct val="108000"/>
              </a:lnSpc>
              <a:buNone/>
            </a:pPr>
            <a:endParaRPr lang="en-US" sz="1300" dirty="0"/>
          </a:p>
          <a:p>
            <a:pPr marL="0" indent="0">
              <a:lnSpc>
                <a:spcPct val="108000"/>
              </a:lnSpc>
              <a:buNone/>
            </a:pPr>
            <a:r>
              <a:rPr lang="en-US" sz="1300" dirty="0">
                <a:solidFill>
                  <a:srgbClr val="C6D6DC"/>
                </a:solidFill>
                <a:latin typeface="Calibri" pitchFamily="34" charset="0"/>
                <a:ea typeface="Calibri" pitchFamily="34" charset="-122"/>
                <a:cs typeface="Calibri" pitchFamily="34" charset="-120"/>
              </a:rPr>
              <a:t>That is a real improvement over a recording studio — the behaviour is not acted. But 'in the wild' names where the data was captured, not how representative it is.</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301984" y="457200"/>
            <a:ext cx="137160" cy="137160"/>
          </a:xfrm>
          <a:prstGeom prst="roundRect">
            <a:avLst>
              <a:gd name="adj" fmla="val 13333"/>
            </a:avLst>
          </a:prstGeom>
          <a:solidFill>
            <a:srgbClr val="2F6B7C"/>
          </a:solidFill>
          <a:ln w="12700">
            <a:solidFill>
              <a:srgbClr val="333333"/>
            </a:solidFill>
            <a:prstDash val="solid"/>
          </a:ln>
        </p:spPr>
        <p:txBody>
          <a:bodyPr/>
          <a:lstStyle/>
          <a:p>
            <a:endParaRPr lang="en-US"/>
          </a:p>
        </p:txBody>
      </p:sp>
      <p:sp>
        <p:nvSpPr>
          <p:cNvPr id="3" name="Shape 1"/>
          <p:cNvSpPr/>
          <p:nvPr/>
        </p:nvSpPr>
        <p:spPr>
          <a:xfrm>
            <a:off x="11471148" y="457200"/>
            <a:ext cx="137160" cy="137160"/>
          </a:xfrm>
          <a:prstGeom prst="roundRect">
            <a:avLst>
              <a:gd name="adj" fmla="val 13333"/>
            </a:avLst>
          </a:prstGeom>
          <a:solidFill>
            <a:srgbClr val="D2603F"/>
          </a:solidFill>
          <a:ln w="12700">
            <a:solidFill>
              <a:srgbClr val="333333"/>
            </a:solidFill>
            <a:prstDash val="solid"/>
          </a:ln>
        </p:spPr>
        <p:txBody>
          <a:bodyPr/>
          <a:lstStyle/>
          <a:p>
            <a:endParaRPr lang="en-US"/>
          </a:p>
        </p:txBody>
      </p:sp>
      <p:sp>
        <p:nvSpPr>
          <p:cNvPr id="4" name="Shape 2"/>
          <p:cNvSpPr/>
          <p:nvPr/>
        </p:nvSpPr>
        <p:spPr>
          <a:xfrm>
            <a:off x="11301984" y="626364"/>
            <a:ext cx="137160" cy="137160"/>
          </a:xfrm>
          <a:prstGeom prst="roundRect">
            <a:avLst>
              <a:gd name="adj" fmla="val 13333"/>
            </a:avLst>
          </a:prstGeom>
          <a:solidFill>
            <a:srgbClr val="8CA3AD"/>
          </a:solidFill>
          <a:ln w="12700">
            <a:solidFill>
              <a:srgbClr val="333333"/>
            </a:solidFill>
            <a:prstDash val="solid"/>
          </a:ln>
        </p:spPr>
        <p:txBody>
          <a:bodyPr/>
          <a:lstStyle/>
          <a:p>
            <a:endParaRPr lang="en-US"/>
          </a:p>
        </p:txBody>
      </p:sp>
      <p:sp>
        <p:nvSpPr>
          <p:cNvPr id="5" name="Shape 3"/>
          <p:cNvSpPr/>
          <p:nvPr/>
        </p:nvSpPr>
        <p:spPr>
          <a:xfrm>
            <a:off x="11471148" y="626364"/>
            <a:ext cx="137160" cy="137160"/>
          </a:xfrm>
          <a:prstGeom prst="roundRect">
            <a:avLst>
              <a:gd name="adj" fmla="val 13333"/>
            </a:avLst>
          </a:prstGeom>
          <a:solidFill>
            <a:srgbClr val="2F6B7C"/>
          </a:solidFill>
          <a:ln w="12700">
            <a:solidFill>
              <a:srgbClr val="333333"/>
            </a:solidFill>
            <a:prstDash val="solid"/>
          </a:ln>
        </p:spPr>
        <p:txBody>
          <a:bodyPr/>
          <a:lstStyle/>
          <a:p>
            <a:endParaRPr lang="en-US"/>
          </a:p>
        </p:txBody>
      </p:sp>
      <p:sp>
        <p:nvSpPr>
          <p:cNvPr id="6" name="Text 4"/>
          <p:cNvSpPr txBox="1"/>
          <p:nvPr/>
        </p:nvSpPr>
        <p:spPr>
          <a:xfrm>
            <a:off x="548640" y="384048"/>
            <a:ext cx="10424160" cy="566928"/>
          </a:xfrm>
          <a:prstGeom prst="rect">
            <a:avLst/>
          </a:prstGeom>
          <a:noFill/>
          <a:ln/>
        </p:spPr>
        <p:txBody>
          <a:bodyPr wrap="square" lIns="0" tIns="0" rIns="0" bIns="0" rtlCol="0" anchor="t"/>
          <a:lstStyle/>
          <a:p>
            <a:pPr marL="0" indent="0">
              <a:buNone/>
            </a:pPr>
            <a:r>
              <a:rPr lang="en-US" sz="2900" b="1" dirty="0">
                <a:solidFill>
                  <a:srgbClr val="1A242C"/>
                </a:solidFill>
                <a:latin typeface="Cambria" pitchFamily="34" charset="0"/>
                <a:ea typeface="Cambria" pitchFamily="34" charset="-122"/>
                <a:cs typeface="Cambria" pitchFamily="34" charset="-120"/>
              </a:rPr>
              <a:t>The two papers side by side</a:t>
            </a:r>
            <a:endParaRPr lang="en-US" sz="2900" dirty="0"/>
          </a:p>
        </p:txBody>
      </p:sp>
      <p:sp>
        <p:nvSpPr>
          <p:cNvPr id="7" name="Text 5"/>
          <p:cNvSpPr txBox="1"/>
          <p:nvPr/>
        </p:nvSpPr>
        <p:spPr>
          <a:xfrm>
            <a:off x="548640" y="969264"/>
            <a:ext cx="10424160" cy="329184"/>
          </a:xfrm>
          <a:prstGeom prst="rect">
            <a:avLst/>
          </a:prstGeom>
          <a:noFill/>
          <a:ln/>
        </p:spPr>
        <p:txBody>
          <a:bodyPr wrap="square" lIns="0" tIns="0" rIns="0" bIns="0" rtlCol="0" anchor="ctr"/>
          <a:lstStyle/>
          <a:p>
            <a:pPr marL="0" indent="0">
              <a:buNone/>
            </a:pPr>
            <a:r>
              <a:rPr lang="en-US" sz="1350" i="1" dirty="0">
                <a:solidFill>
                  <a:srgbClr val="5D6B75"/>
                </a:solidFill>
                <a:latin typeface="Calibri" pitchFamily="34" charset="0"/>
                <a:ea typeface="Calibri" pitchFamily="34" charset="-122"/>
                <a:cs typeface="Calibri" pitchFamily="34" charset="-120"/>
              </a:rPr>
              <a:t>Two answers to the same question</a:t>
            </a:r>
            <a:endParaRPr lang="en-US" sz="1350" dirty="0"/>
          </a:p>
        </p:txBody>
      </p:sp>
      <p:sp>
        <p:nvSpPr>
          <p:cNvPr id="8" name="Text 6"/>
          <p:cNvSpPr txBox="1"/>
          <p:nvPr/>
        </p:nvSpPr>
        <p:spPr>
          <a:xfrm>
            <a:off x="9326880" y="6382512"/>
            <a:ext cx="2313432" cy="274320"/>
          </a:xfrm>
          <a:prstGeom prst="rect">
            <a:avLst/>
          </a:prstGeom>
          <a:noFill/>
          <a:ln/>
        </p:spPr>
        <p:txBody>
          <a:bodyPr wrap="square" lIns="0" tIns="0" rIns="0" bIns="0" rtlCol="0" anchor="ctr"/>
          <a:lstStyle/>
          <a:p>
            <a:pPr marL="0" indent="0" algn="r">
              <a:buNone/>
            </a:pPr>
            <a:r>
              <a:rPr lang="en-US" sz="900" dirty="0">
                <a:solidFill>
                  <a:srgbClr val="9DACB4"/>
                </a:solidFill>
                <a:latin typeface="Calibri" pitchFamily="34" charset="0"/>
                <a:ea typeface="Calibri" pitchFamily="34" charset="-122"/>
                <a:cs typeface="Calibri" pitchFamily="34" charset="-120"/>
              </a:rPr>
              <a:t>AffectNet · Mollahosseini et al. 2019  |  26</a:t>
            </a:r>
            <a:endParaRPr lang="en-US" sz="900" dirty="0"/>
          </a:p>
        </p:txBody>
      </p:sp>
      <p:sp>
        <p:nvSpPr>
          <p:cNvPr id="9" name="Text 7"/>
          <p:cNvSpPr txBox="1"/>
          <p:nvPr/>
        </p:nvSpPr>
        <p:spPr>
          <a:xfrm>
            <a:off x="4206240" y="1335024"/>
            <a:ext cx="3566160" cy="274320"/>
          </a:xfrm>
          <a:prstGeom prst="rect">
            <a:avLst/>
          </a:prstGeom>
          <a:noFill/>
          <a:ln/>
        </p:spPr>
        <p:txBody>
          <a:bodyPr wrap="square" lIns="0" tIns="0" rIns="0" bIns="0" rtlCol="0" anchor="ctr"/>
          <a:lstStyle/>
          <a:p>
            <a:pPr marL="0" indent="0">
              <a:buNone/>
            </a:pPr>
            <a:r>
              <a:rPr lang="en-US" sz="1250" b="1" dirty="0">
                <a:solidFill>
                  <a:srgbClr val="2F6B7C"/>
                </a:solidFill>
                <a:latin typeface="Calibri" pitchFamily="34" charset="0"/>
                <a:ea typeface="Calibri" pitchFamily="34" charset="-122"/>
                <a:cs typeface="Calibri" pitchFamily="34" charset="-120"/>
              </a:rPr>
              <a:t>MSP-Podcast</a:t>
            </a:r>
            <a:endParaRPr lang="en-US" sz="1250" dirty="0"/>
          </a:p>
        </p:txBody>
      </p:sp>
      <p:sp>
        <p:nvSpPr>
          <p:cNvPr id="10" name="Text 8"/>
          <p:cNvSpPr txBox="1"/>
          <p:nvPr/>
        </p:nvSpPr>
        <p:spPr>
          <a:xfrm>
            <a:off x="7955280" y="1335024"/>
            <a:ext cx="3566160" cy="274320"/>
          </a:xfrm>
          <a:prstGeom prst="rect">
            <a:avLst/>
          </a:prstGeom>
          <a:noFill/>
          <a:ln/>
        </p:spPr>
        <p:txBody>
          <a:bodyPr wrap="square" lIns="0" tIns="0" rIns="0" bIns="0" rtlCol="0" anchor="ctr"/>
          <a:lstStyle/>
          <a:p>
            <a:pPr marL="0" indent="0">
              <a:buNone/>
            </a:pPr>
            <a:r>
              <a:rPr lang="en-US" sz="1250" b="1" dirty="0">
                <a:solidFill>
                  <a:srgbClr val="D2603F"/>
                </a:solidFill>
                <a:latin typeface="Calibri" pitchFamily="34" charset="0"/>
                <a:ea typeface="Calibri" pitchFamily="34" charset="-122"/>
                <a:cs typeface="Calibri" pitchFamily="34" charset="-120"/>
              </a:rPr>
              <a:t>AffectNet</a:t>
            </a:r>
            <a:endParaRPr lang="en-US" sz="1250" dirty="0"/>
          </a:p>
        </p:txBody>
      </p:sp>
      <p:sp>
        <p:nvSpPr>
          <p:cNvPr id="11" name="Shape 9"/>
          <p:cNvSpPr/>
          <p:nvPr/>
        </p:nvSpPr>
        <p:spPr>
          <a:xfrm>
            <a:off x="566928" y="1627632"/>
            <a:ext cx="11064240" cy="384048"/>
          </a:xfrm>
          <a:prstGeom prst="roundRect">
            <a:avLst>
              <a:gd name="adj" fmla="val 4762"/>
            </a:avLst>
          </a:prstGeom>
          <a:solidFill>
            <a:srgbClr val="F1F5F6"/>
          </a:solidFill>
          <a:ln w="12700">
            <a:solidFill>
              <a:srgbClr val="E5ECEE"/>
            </a:solidFill>
            <a:prstDash val="solid"/>
          </a:ln>
        </p:spPr>
        <p:txBody>
          <a:bodyPr/>
          <a:lstStyle/>
          <a:p>
            <a:endParaRPr lang="en-US"/>
          </a:p>
        </p:txBody>
      </p:sp>
      <p:sp>
        <p:nvSpPr>
          <p:cNvPr id="12" name="Text 10"/>
          <p:cNvSpPr txBox="1"/>
          <p:nvPr/>
        </p:nvSpPr>
        <p:spPr>
          <a:xfrm>
            <a:off x="749808" y="1700784"/>
            <a:ext cx="3291840" cy="256032"/>
          </a:xfrm>
          <a:prstGeom prst="rect">
            <a:avLst/>
          </a:prstGeom>
          <a:noFill/>
          <a:ln/>
        </p:spPr>
        <p:txBody>
          <a:bodyPr wrap="square" lIns="0" tIns="0" rIns="0" bIns="0" rtlCol="0" anchor="ctr"/>
          <a:lstStyle/>
          <a:p>
            <a:pPr marL="0" indent="0">
              <a:buNone/>
            </a:pPr>
            <a:r>
              <a:rPr lang="en-US" sz="1150" b="1" dirty="0">
                <a:solidFill>
                  <a:srgbClr val="1A242C"/>
                </a:solidFill>
                <a:latin typeface="Calibri" pitchFamily="34" charset="0"/>
                <a:ea typeface="Calibri" pitchFamily="34" charset="-122"/>
                <a:cs typeface="Calibri" pitchFamily="34" charset="-120"/>
              </a:rPr>
              <a:t>Modality</a:t>
            </a:r>
            <a:endParaRPr lang="en-US" sz="1150" dirty="0"/>
          </a:p>
        </p:txBody>
      </p:sp>
      <p:sp>
        <p:nvSpPr>
          <p:cNvPr id="13" name="Text 11"/>
          <p:cNvSpPr txBox="1"/>
          <p:nvPr/>
        </p:nvSpPr>
        <p:spPr>
          <a:xfrm>
            <a:off x="4206240" y="1700784"/>
            <a:ext cx="3566160" cy="256032"/>
          </a:xfrm>
          <a:prstGeom prst="rect">
            <a:avLst/>
          </a:prstGeom>
          <a:noFill/>
          <a:ln/>
        </p:spPr>
        <p:txBody>
          <a:bodyPr wrap="square" lIns="0" tIns="0" rIns="0" bIns="0" rtlCol="0" anchor="ctr"/>
          <a:lstStyle/>
          <a:p>
            <a:pPr marL="0" indent="0">
              <a:buNone/>
            </a:pPr>
            <a:r>
              <a:rPr lang="en-US" sz="1150" dirty="0">
                <a:solidFill>
                  <a:srgbClr val="2E3A42"/>
                </a:solidFill>
                <a:latin typeface="Calibri" pitchFamily="34" charset="0"/>
                <a:ea typeface="Calibri" pitchFamily="34" charset="-122"/>
                <a:cs typeface="Calibri" pitchFamily="34" charset="-120"/>
              </a:rPr>
              <a:t>Speech</a:t>
            </a:r>
            <a:endParaRPr lang="en-US" sz="1150" dirty="0"/>
          </a:p>
        </p:txBody>
      </p:sp>
      <p:sp>
        <p:nvSpPr>
          <p:cNvPr id="14" name="Text 12"/>
          <p:cNvSpPr txBox="1"/>
          <p:nvPr/>
        </p:nvSpPr>
        <p:spPr>
          <a:xfrm>
            <a:off x="7955280" y="1700784"/>
            <a:ext cx="3566160" cy="256032"/>
          </a:xfrm>
          <a:prstGeom prst="rect">
            <a:avLst/>
          </a:prstGeom>
          <a:noFill/>
          <a:ln/>
        </p:spPr>
        <p:txBody>
          <a:bodyPr wrap="square" lIns="0" tIns="0" rIns="0" bIns="0" rtlCol="0" anchor="ctr"/>
          <a:lstStyle/>
          <a:p>
            <a:pPr marL="0" indent="0">
              <a:buNone/>
            </a:pPr>
            <a:r>
              <a:rPr lang="en-US" sz="1150" dirty="0">
                <a:solidFill>
                  <a:srgbClr val="2E3A42"/>
                </a:solidFill>
                <a:latin typeface="Calibri" pitchFamily="34" charset="0"/>
                <a:ea typeface="Calibri" pitchFamily="34" charset="-122"/>
                <a:cs typeface="Calibri" pitchFamily="34" charset="-120"/>
              </a:rPr>
              <a:t>Still images</a:t>
            </a:r>
            <a:endParaRPr lang="en-US" sz="1150" dirty="0"/>
          </a:p>
        </p:txBody>
      </p:sp>
      <p:sp>
        <p:nvSpPr>
          <p:cNvPr id="15" name="Shape 13"/>
          <p:cNvSpPr/>
          <p:nvPr/>
        </p:nvSpPr>
        <p:spPr>
          <a:xfrm>
            <a:off x="566928" y="2048256"/>
            <a:ext cx="11064240" cy="384048"/>
          </a:xfrm>
          <a:prstGeom prst="roundRect">
            <a:avLst>
              <a:gd name="adj" fmla="val 4762"/>
            </a:avLst>
          </a:prstGeom>
          <a:solidFill>
            <a:srgbClr val="FFFFFF"/>
          </a:solidFill>
          <a:ln w="12700">
            <a:solidFill>
              <a:srgbClr val="E5ECEE"/>
            </a:solidFill>
            <a:prstDash val="solid"/>
          </a:ln>
        </p:spPr>
        <p:txBody>
          <a:bodyPr/>
          <a:lstStyle/>
          <a:p>
            <a:endParaRPr lang="en-US"/>
          </a:p>
        </p:txBody>
      </p:sp>
      <p:sp>
        <p:nvSpPr>
          <p:cNvPr id="16" name="Text 14"/>
          <p:cNvSpPr txBox="1"/>
          <p:nvPr/>
        </p:nvSpPr>
        <p:spPr>
          <a:xfrm>
            <a:off x="749808" y="2121408"/>
            <a:ext cx="3291840" cy="256032"/>
          </a:xfrm>
          <a:prstGeom prst="rect">
            <a:avLst/>
          </a:prstGeom>
          <a:noFill/>
          <a:ln/>
        </p:spPr>
        <p:txBody>
          <a:bodyPr wrap="square" lIns="0" tIns="0" rIns="0" bIns="0" rtlCol="0" anchor="ctr"/>
          <a:lstStyle/>
          <a:p>
            <a:pPr marL="0" indent="0">
              <a:buNone/>
            </a:pPr>
            <a:r>
              <a:rPr lang="en-US" sz="1150" b="1" dirty="0">
                <a:solidFill>
                  <a:srgbClr val="1A242C"/>
                </a:solidFill>
                <a:latin typeface="Calibri" pitchFamily="34" charset="0"/>
                <a:ea typeface="Calibri" pitchFamily="34" charset="-122"/>
                <a:cs typeface="Calibri" pitchFamily="34" charset="-120"/>
              </a:rPr>
              <a:t>Source</a:t>
            </a:r>
            <a:endParaRPr lang="en-US" sz="1150" dirty="0"/>
          </a:p>
        </p:txBody>
      </p:sp>
      <p:sp>
        <p:nvSpPr>
          <p:cNvPr id="17" name="Text 15"/>
          <p:cNvSpPr txBox="1"/>
          <p:nvPr/>
        </p:nvSpPr>
        <p:spPr>
          <a:xfrm>
            <a:off x="4206240" y="2121408"/>
            <a:ext cx="3566160" cy="256032"/>
          </a:xfrm>
          <a:prstGeom prst="rect">
            <a:avLst/>
          </a:prstGeom>
          <a:noFill/>
          <a:ln/>
        </p:spPr>
        <p:txBody>
          <a:bodyPr wrap="square" lIns="0" tIns="0" rIns="0" bIns="0" rtlCol="0" anchor="ctr"/>
          <a:lstStyle/>
          <a:p>
            <a:pPr marL="0" indent="0">
              <a:buNone/>
            </a:pPr>
            <a:r>
              <a:rPr lang="en-US" sz="1150" dirty="0">
                <a:solidFill>
                  <a:srgbClr val="2E3A42"/>
                </a:solidFill>
                <a:latin typeface="Calibri" pitchFamily="34" charset="0"/>
                <a:ea typeface="Calibri" pitchFamily="34" charset="-122"/>
                <a:cs typeface="Calibri" pitchFamily="34" charset="-120"/>
              </a:rPr>
              <a:t>403 Creative Commons podcasts</a:t>
            </a:r>
            <a:endParaRPr lang="en-US" sz="1150" dirty="0"/>
          </a:p>
        </p:txBody>
      </p:sp>
      <p:sp>
        <p:nvSpPr>
          <p:cNvPr id="18" name="Text 16"/>
          <p:cNvSpPr txBox="1"/>
          <p:nvPr/>
        </p:nvSpPr>
        <p:spPr>
          <a:xfrm>
            <a:off x="7955280" y="2121408"/>
            <a:ext cx="3566160" cy="256032"/>
          </a:xfrm>
          <a:prstGeom prst="rect">
            <a:avLst/>
          </a:prstGeom>
          <a:noFill/>
          <a:ln/>
        </p:spPr>
        <p:txBody>
          <a:bodyPr wrap="square" lIns="0" tIns="0" rIns="0" bIns="0" rtlCol="0" anchor="ctr"/>
          <a:lstStyle/>
          <a:p>
            <a:pPr marL="0" indent="0">
              <a:buNone/>
            </a:pPr>
            <a:r>
              <a:rPr lang="en-US" sz="1150" dirty="0">
                <a:solidFill>
                  <a:srgbClr val="2E3A42"/>
                </a:solidFill>
                <a:latin typeface="Calibri" pitchFamily="34" charset="0"/>
                <a:ea typeface="Calibri" pitchFamily="34" charset="-122"/>
                <a:cs typeface="Calibri" pitchFamily="34" charset="-120"/>
              </a:rPr>
              <a:t>Three search engines, 1,250 queries</a:t>
            </a:r>
            <a:endParaRPr lang="en-US" sz="1150" dirty="0"/>
          </a:p>
        </p:txBody>
      </p:sp>
      <p:sp>
        <p:nvSpPr>
          <p:cNvPr id="19" name="Shape 17"/>
          <p:cNvSpPr/>
          <p:nvPr/>
        </p:nvSpPr>
        <p:spPr>
          <a:xfrm>
            <a:off x="566928" y="2468880"/>
            <a:ext cx="11064240" cy="384048"/>
          </a:xfrm>
          <a:prstGeom prst="roundRect">
            <a:avLst>
              <a:gd name="adj" fmla="val 4762"/>
            </a:avLst>
          </a:prstGeom>
          <a:solidFill>
            <a:srgbClr val="F1F5F6"/>
          </a:solidFill>
          <a:ln w="12700">
            <a:solidFill>
              <a:srgbClr val="E5ECEE"/>
            </a:solidFill>
            <a:prstDash val="solid"/>
          </a:ln>
        </p:spPr>
        <p:txBody>
          <a:bodyPr/>
          <a:lstStyle/>
          <a:p>
            <a:endParaRPr lang="en-US"/>
          </a:p>
        </p:txBody>
      </p:sp>
      <p:sp>
        <p:nvSpPr>
          <p:cNvPr id="20" name="Text 18"/>
          <p:cNvSpPr txBox="1"/>
          <p:nvPr/>
        </p:nvSpPr>
        <p:spPr>
          <a:xfrm>
            <a:off x="749808" y="2542032"/>
            <a:ext cx="3291840" cy="256032"/>
          </a:xfrm>
          <a:prstGeom prst="rect">
            <a:avLst/>
          </a:prstGeom>
          <a:noFill/>
          <a:ln/>
        </p:spPr>
        <p:txBody>
          <a:bodyPr wrap="square" lIns="0" tIns="0" rIns="0" bIns="0" rtlCol="0" anchor="ctr"/>
          <a:lstStyle/>
          <a:p>
            <a:pPr marL="0" indent="0">
              <a:buNone/>
            </a:pPr>
            <a:r>
              <a:rPr lang="en-US" sz="1150" b="1" dirty="0">
                <a:solidFill>
                  <a:srgbClr val="1A242C"/>
                </a:solidFill>
                <a:latin typeface="Calibri" pitchFamily="34" charset="0"/>
                <a:ea typeface="Calibri" pitchFamily="34" charset="-122"/>
                <a:cs typeface="Calibri" pitchFamily="34" charset="-120"/>
              </a:rPr>
              <a:t>Scale in the paper</a:t>
            </a:r>
            <a:endParaRPr lang="en-US" sz="1150" dirty="0"/>
          </a:p>
        </p:txBody>
      </p:sp>
      <p:sp>
        <p:nvSpPr>
          <p:cNvPr id="21" name="Text 19"/>
          <p:cNvSpPr txBox="1"/>
          <p:nvPr/>
        </p:nvSpPr>
        <p:spPr>
          <a:xfrm>
            <a:off x="4206240" y="2542032"/>
            <a:ext cx="3566160" cy="256032"/>
          </a:xfrm>
          <a:prstGeom prst="rect">
            <a:avLst/>
          </a:prstGeom>
          <a:noFill/>
          <a:ln/>
        </p:spPr>
        <p:txBody>
          <a:bodyPr wrap="square" lIns="0" tIns="0" rIns="0" bIns="0" rtlCol="0" anchor="ctr"/>
          <a:lstStyle/>
          <a:p>
            <a:pPr marL="0" indent="0">
              <a:buNone/>
            </a:pPr>
            <a:r>
              <a:rPr lang="en-US" sz="1150" dirty="0">
                <a:solidFill>
                  <a:srgbClr val="2E3A42"/>
                </a:solidFill>
                <a:latin typeface="Calibri" pitchFamily="34" charset="0"/>
                <a:ea typeface="Calibri" pitchFamily="34" charset="-122"/>
                <a:cs typeface="Calibri" pitchFamily="34" charset="-120"/>
              </a:rPr>
              <a:t>2,317 annotated turns</a:t>
            </a:r>
            <a:endParaRPr lang="en-US" sz="1150" dirty="0"/>
          </a:p>
        </p:txBody>
      </p:sp>
      <p:sp>
        <p:nvSpPr>
          <p:cNvPr id="22" name="Text 20"/>
          <p:cNvSpPr txBox="1"/>
          <p:nvPr/>
        </p:nvSpPr>
        <p:spPr>
          <a:xfrm>
            <a:off x="7955280" y="2542032"/>
            <a:ext cx="3566160" cy="256032"/>
          </a:xfrm>
          <a:prstGeom prst="rect">
            <a:avLst/>
          </a:prstGeom>
          <a:noFill/>
          <a:ln/>
        </p:spPr>
        <p:txBody>
          <a:bodyPr wrap="square" lIns="0" tIns="0" rIns="0" bIns="0" rtlCol="0" anchor="ctr"/>
          <a:lstStyle/>
          <a:p>
            <a:pPr marL="0" indent="0">
              <a:buNone/>
            </a:pPr>
            <a:r>
              <a:rPr lang="en-US" sz="1150" dirty="0">
                <a:solidFill>
                  <a:srgbClr val="2E3A42"/>
                </a:solidFill>
                <a:latin typeface="Calibri" pitchFamily="34" charset="0"/>
                <a:ea typeface="Calibri" pitchFamily="34" charset="-122"/>
                <a:cs typeface="Calibri" pitchFamily="34" charset="-120"/>
              </a:rPr>
              <a:t>450,000 annotated images</a:t>
            </a:r>
            <a:endParaRPr lang="en-US" sz="1150" dirty="0"/>
          </a:p>
        </p:txBody>
      </p:sp>
      <p:sp>
        <p:nvSpPr>
          <p:cNvPr id="23" name="Shape 21"/>
          <p:cNvSpPr/>
          <p:nvPr/>
        </p:nvSpPr>
        <p:spPr>
          <a:xfrm>
            <a:off x="566928" y="2889504"/>
            <a:ext cx="11064240" cy="384048"/>
          </a:xfrm>
          <a:prstGeom prst="roundRect">
            <a:avLst>
              <a:gd name="adj" fmla="val 4762"/>
            </a:avLst>
          </a:prstGeom>
          <a:solidFill>
            <a:srgbClr val="FFFFFF"/>
          </a:solidFill>
          <a:ln w="12700">
            <a:solidFill>
              <a:srgbClr val="E5ECEE"/>
            </a:solidFill>
            <a:prstDash val="solid"/>
          </a:ln>
        </p:spPr>
        <p:txBody>
          <a:bodyPr/>
          <a:lstStyle/>
          <a:p>
            <a:endParaRPr lang="en-US"/>
          </a:p>
        </p:txBody>
      </p:sp>
      <p:sp>
        <p:nvSpPr>
          <p:cNvPr id="24" name="Text 22"/>
          <p:cNvSpPr txBox="1"/>
          <p:nvPr/>
        </p:nvSpPr>
        <p:spPr>
          <a:xfrm>
            <a:off x="749808" y="2962656"/>
            <a:ext cx="3291840" cy="256032"/>
          </a:xfrm>
          <a:prstGeom prst="rect">
            <a:avLst/>
          </a:prstGeom>
          <a:noFill/>
          <a:ln/>
        </p:spPr>
        <p:txBody>
          <a:bodyPr wrap="square" lIns="0" tIns="0" rIns="0" bIns="0" rtlCol="0" anchor="ctr"/>
          <a:lstStyle/>
          <a:p>
            <a:pPr marL="0" indent="0">
              <a:buNone/>
            </a:pPr>
            <a:r>
              <a:rPr lang="en-US" sz="1150" b="1" dirty="0">
                <a:solidFill>
                  <a:srgbClr val="1A242C"/>
                </a:solidFill>
                <a:latin typeface="Calibri" pitchFamily="34" charset="0"/>
                <a:ea typeface="Calibri" pitchFamily="34" charset="-122"/>
                <a:cs typeface="Calibri" pitchFamily="34" charset="-120"/>
              </a:rPr>
              <a:t>Selection</a:t>
            </a:r>
            <a:endParaRPr lang="en-US" sz="1150" dirty="0"/>
          </a:p>
        </p:txBody>
      </p:sp>
      <p:sp>
        <p:nvSpPr>
          <p:cNvPr id="25" name="Text 23"/>
          <p:cNvSpPr txBox="1"/>
          <p:nvPr/>
        </p:nvSpPr>
        <p:spPr>
          <a:xfrm>
            <a:off x="4206240" y="2962656"/>
            <a:ext cx="3566160" cy="256032"/>
          </a:xfrm>
          <a:prstGeom prst="rect">
            <a:avLst/>
          </a:prstGeom>
          <a:noFill/>
          <a:ln/>
        </p:spPr>
        <p:txBody>
          <a:bodyPr wrap="square" lIns="0" tIns="0" rIns="0" bIns="0" rtlCol="0" anchor="ctr"/>
          <a:lstStyle/>
          <a:p>
            <a:pPr marL="0" indent="0">
              <a:buNone/>
            </a:pPr>
            <a:r>
              <a:rPr lang="en-US" sz="1150" dirty="0">
                <a:solidFill>
                  <a:srgbClr val="2E3A42"/>
                </a:solidFill>
                <a:latin typeface="Calibri" pitchFamily="34" charset="0"/>
                <a:ea typeface="Calibri" pitchFamily="34" charset="-122"/>
                <a:cs typeface="Calibri" pitchFamily="34" charset="-120"/>
              </a:rPr>
              <a:t>Machine learning retrieval for target arousal and valence</a:t>
            </a:r>
            <a:endParaRPr lang="en-US" sz="1150" dirty="0"/>
          </a:p>
        </p:txBody>
      </p:sp>
      <p:sp>
        <p:nvSpPr>
          <p:cNvPr id="26" name="Text 24"/>
          <p:cNvSpPr txBox="1"/>
          <p:nvPr/>
        </p:nvSpPr>
        <p:spPr>
          <a:xfrm>
            <a:off x="7955280" y="2962656"/>
            <a:ext cx="3566160" cy="256032"/>
          </a:xfrm>
          <a:prstGeom prst="rect">
            <a:avLst/>
          </a:prstGeom>
          <a:noFill/>
          <a:ln/>
        </p:spPr>
        <p:txBody>
          <a:bodyPr wrap="square" lIns="0" tIns="0" rIns="0" bIns="0" rtlCol="0" anchor="ctr"/>
          <a:lstStyle/>
          <a:p>
            <a:pPr marL="0" indent="0">
              <a:buNone/>
            </a:pPr>
            <a:r>
              <a:rPr lang="en-US" sz="1150" dirty="0">
                <a:solidFill>
                  <a:srgbClr val="2E3A42"/>
                </a:solidFill>
                <a:latin typeface="Calibri" pitchFamily="34" charset="0"/>
                <a:ea typeface="Calibri" pitchFamily="34" charset="-122"/>
                <a:cs typeface="Calibri" pitchFamily="34" charset="-120"/>
              </a:rPr>
              <a:t>None — annotate what the queries return</a:t>
            </a:r>
            <a:endParaRPr lang="en-US" sz="1150" dirty="0"/>
          </a:p>
        </p:txBody>
      </p:sp>
      <p:sp>
        <p:nvSpPr>
          <p:cNvPr id="27" name="Shape 25"/>
          <p:cNvSpPr/>
          <p:nvPr/>
        </p:nvSpPr>
        <p:spPr>
          <a:xfrm>
            <a:off x="566928" y="3310128"/>
            <a:ext cx="11064240" cy="384048"/>
          </a:xfrm>
          <a:prstGeom prst="roundRect">
            <a:avLst>
              <a:gd name="adj" fmla="val 4762"/>
            </a:avLst>
          </a:prstGeom>
          <a:solidFill>
            <a:srgbClr val="F1F5F6"/>
          </a:solidFill>
          <a:ln w="12700">
            <a:solidFill>
              <a:srgbClr val="E5ECEE"/>
            </a:solidFill>
            <a:prstDash val="solid"/>
          </a:ln>
        </p:spPr>
        <p:txBody>
          <a:bodyPr/>
          <a:lstStyle/>
          <a:p>
            <a:endParaRPr lang="en-US"/>
          </a:p>
        </p:txBody>
      </p:sp>
      <p:sp>
        <p:nvSpPr>
          <p:cNvPr id="28" name="Text 26"/>
          <p:cNvSpPr txBox="1"/>
          <p:nvPr/>
        </p:nvSpPr>
        <p:spPr>
          <a:xfrm>
            <a:off x="749808" y="3383280"/>
            <a:ext cx="3291840" cy="256032"/>
          </a:xfrm>
          <a:prstGeom prst="rect">
            <a:avLst/>
          </a:prstGeom>
          <a:noFill/>
          <a:ln/>
        </p:spPr>
        <p:txBody>
          <a:bodyPr wrap="square" lIns="0" tIns="0" rIns="0" bIns="0" rtlCol="0" anchor="ctr"/>
          <a:lstStyle/>
          <a:p>
            <a:pPr marL="0" indent="0">
              <a:buNone/>
            </a:pPr>
            <a:r>
              <a:rPr lang="en-US" sz="1150" b="1" dirty="0">
                <a:solidFill>
                  <a:srgbClr val="1A242C"/>
                </a:solidFill>
                <a:latin typeface="Calibri" pitchFamily="34" charset="0"/>
                <a:ea typeface="Calibri" pitchFamily="34" charset="-122"/>
                <a:cs typeface="Calibri" pitchFamily="34" charset="-120"/>
              </a:rPr>
              <a:t>Annotators per item</a:t>
            </a:r>
            <a:endParaRPr lang="en-US" sz="1150" dirty="0"/>
          </a:p>
        </p:txBody>
      </p:sp>
      <p:sp>
        <p:nvSpPr>
          <p:cNvPr id="29" name="Text 27"/>
          <p:cNvSpPr txBox="1"/>
          <p:nvPr/>
        </p:nvSpPr>
        <p:spPr>
          <a:xfrm>
            <a:off x="4206240" y="3383280"/>
            <a:ext cx="3566160" cy="256032"/>
          </a:xfrm>
          <a:prstGeom prst="rect">
            <a:avLst/>
          </a:prstGeom>
          <a:noFill/>
          <a:ln/>
        </p:spPr>
        <p:txBody>
          <a:bodyPr wrap="square" lIns="0" tIns="0" rIns="0" bIns="0" rtlCol="0" anchor="ctr"/>
          <a:lstStyle/>
          <a:p>
            <a:pPr marL="0" indent="0">
              <a:buNone/>
            </a:pPr>
            <a:r>
              <a:rPr lang="en-US" sz="1150" dirty="0">
                <a:solidFill>
                  <a:srgbClr val="2E3A42"/>
                </a:solidFill>
                <a:latin typeface="Calibri" pitchFamily="34" charset="0"/>
                <a:ea typeface="Calibri" pitchFamily="34" charset="-122"/>
                <a:cs typeface="Calibri" pitchFamily="34" charset="-120"/>
              </a:rPr>
              <a:t>At least five crowd workers</a:t>
            </a:r>
            <a:endParaRPr lang="en-US" sz="1150" dirty="0"/>
          </a:p>
        </p:txBody>
      </p:sp>
      <p:sp>
        <p:nvSpPr>
          <p:cNvPr id="30" name="Text 28"/>
          <p:cNvSpPr txBox="1"/>
          <p:nvPr/>
        </p:nvSpPr>
        <p:spPr>
          <a:xfrm>
            <a:off x="7955280" y="3383280"/>
            <a:ext cx="3566160" cy="256032"/>
          </a:xfrm>
          <a:prstGeom prst="rect">
            <a:avLst/>
          </a:prstGeom>
          <a:noFill/>
          <a:ln/>
        </p:spPr>
        <p:txBody>
          <a:bodyPr wrap="square" lIns="0" tIns="0" rIns="0" bIns="0" rtlCol="0" anchor="ctr"/>
          <a:lstStyle/>
          <a:p>
            <a:pPr marL="0" indent="0">
              <a:buNone/>
            </a:pPr>
            <a:r>
              <a:rPr lang="en-US" sz="1150" dirty="0">
                <a:solidFill>
                  <a:srgbClr val="2E3A42"/>
                </a:solidFill>
                <a:latin typeface="Calibri" pitchFamily="34" charset="0"/>
                <a:ea typeface="Calibri" pitchFamily="34" charset="-122"/>
                <a:cs typeface="Calibri" pitchFamily="34" charset="-120"/>
              </a:rPr>
              <a:t>One trained expert (two for 8%)</a:t>
            </a:r>
            <a:endParaRPr lang="en-US" sz="1150" dirty="0"/>
          </a:p>
        </p:txBody>
      </p:sp>
      <p:sp>
        <p:nvSpPr>
          <p:cNvPr id="31" name="Shape 29"/>
          <p:cNvSpPr/>
          <p:nvPr/>
        </p:nvSpPr>
        <p:spPr>
          <a:xfrm>
            <a:off x="566928" y="3730752"/>
            <a:ext cx="11064240" cy="384048"/>
          </a:xfrm>
          <a:prstGeom prst="roundRect">
            <a:avLst>
              <a:gd name="adj" fmla="val 4762"/>
            </a:avLst>
          </a:prstGeom>
          <a:solidFill>
            <a:srgbClr val="FFFFFF"/>
          </a:solidFill>
          <a:ln w="12700">
            <a:solidFill>
              <a:srgbClr val="E5ECEE"/>
            </a:solidFill>
            <a:prstDash val="solid"/>
          </a:ln>
        </p:spPr>
        <p:txBody>
          <a:bodyPr/>
          <a:lstStyle/>
          <a:p>
            <a:endParaRPr lang="en-US"/>
          </a:p>
        </p:txBody>
      </p:sp>
      <p:sp>
        <p:nvSpPr>
          <p:cNvPr id="32" name="Text 30"/>
          <p:cNvSpPr txBox="1"/>
          <p:nvPr/>
        </p:nvSpPr>
        <p:spPr>
          <a:xfrm>
            <a:off x="749808" y="3803904"/>
            <a:ext cx="3291840" cy="256032"/>
          </a:xfrm>
          <a:prstGeom prst="rect">
            <a:avLst/>
          </a:prstGeom>
          <a:noFill/>
          <a:ln/>
        </p:spPr>
        <p:txBody>
          <a:bodyPr wrap="square" lIns="0" tIns="0" rIns="0" bIns="0" rtlCol="0" anchor="ctr"/>
          <a:lstStyle/>
          <a:p>
            <a:pPr marL="0" indent="0">
              <a:buNone/>
            </a:pPr>
            <a:r>
              <a:rPr lang="en-US" sz="1150" b="1" dirty="0">
                <a:solidFill>
                  <a:srgbClr val="1A242C"/>
                </a:solidFill>
                <a:latin typeface="Calibri" pitchFamily="34" charset="0"/>
                <a:ea typeface="Calibri" pitchFamily="34" charset="-122"/>
                <a:cs typeface="Calibri" pitchFamily="34" charset="-120"/>
              </a:rPr>
              <a:t>Quality strategy</a:t>
            </a:r>
            <a:endParaRPr lang="en-US" sz="1150" dirty="0"/>
          </a:p>
        </p:txBody>
      </p:sp>
      <p:sp>
        <p:nvSpPr>
          <p:cNvPr id="33" name="Text 31"/>
          <p:cNvSpPr txBox="1"/>
          <p:nvPr/>
        </p:nvSpPr>
        <p:spPr>
          <a:xfrm>
            <a:off x="4206240" y="3803904"/>
            <a:ext cx="3566160" cy="256032"/>
          </a:xfrm>
          <a:prstGeom prst="rect">
            <a:avLst/>
          </a:prstGeom>
          <a:noFill/>
          <a:ln/>
        </p:spPr>
        <p:txBody>
          <a:bodyPr wrap="square" lIns="0" tIns="0" rIns="0" bIns="0" rtlCol="0" anchor="ctr"/>
          <a:lstStyle/>
          <a:p>
            <a:pPr marL="0" indent="0">
              <a:buNone/>
            </a:pPr>
            <a:r>
              <a:rPr lang="en-US" sz="1150" dirty="0">
                <a:solidFill>
                  <a:srgbClr val="2E3A42"/>
                </a:solidFill>
                <a:latin typeface="Calibri" pitchFamily="34" charset="0"/>
                <a:ea typeface="Calibri" pitchFamily="34" charset="-122"/>
                <a:cs typeface="Calibri" pitchFamily="34" charset="-120"/>
              </a:rPr>
              <a:t>Prevent bad labels with real-time monitoring</a:t>
            </a:r>
            <a:endParaRPr lang="en-US" sz="1150" dirty="0"/>
          </a:p>
        </p:txBody>
      </p:sp>
      <p:sp>
        <p:nvSpPr>
          <p:cNvPr id="34" name="Text 32"/>
          <p:cNvSpPr txBox="1"/>
          <p:nvPr/>
        </p:nvSpPr>
        <p:spPr>
          <a:xfrm>
            <a:off x="7955280" y="3803904"/>
            <a:ext cx="3566160" cy="256032"/>
          </a:xfrm>
          <a:prstGeom prst="rect">
            <a:avLst/>
          </a:prstGeom>
          <a:noFill/>
          <a:ln/>
        </p:spPr>
        <p:txBody>
          <a:bodyPr wrap="square" lIns="0" tIns="0" rIns="0" bIns="0" rtlCol="0" anchor="ctr"/>
          <a:lstStyle/>
          <a:p>
            <a:pPr marL="0" indent="0">
              <a:buNone/>
            </a:pPr>
            <a:r>
              <a:rPr lang="en-US" sz="1150" dirty="0">
                <a:solidFill>
                  <a:srgbClr val="2E3A42"/>
                </a:solidFill>
                <a:latin typeface="Calibri" pitchFamily="34" charset="0"/>
                <a:ea typeface="Calibri" pitchFamily="34" charset="-122"/>
                <a:cs typeface="Calibri" pitchFamily="34" charset="-120"/>
              </a:rPr>
              <a:t>Train annotators, then trust them</a:t>
            </a:r>
            <a:endParaRPr lang="en-US" sz="1150" dirty="0"/>
          </a:p>
        </p:txBody>
      </p:sp>
      <p:sp>
        <p:nvSpPr>
          <p:cNvPr id="35" name="Shape 33"/>
          <p:cNvSpPr/>
          <p:nvPr/>
        </p:nvSpPr>
        <p:spPr>
          <a:xfrm>
            <a:off x="566928" y="4151376"/>
            <a:ext cx="11064240" cy="384048"/>
          </a:xfrm>
          <a:prstGeom prst="roundRect">
            <a:avLst>
              <a:gd name="adj" fmla="val 4762"/>
            </a:avLst>
          </a:prstGeom>
          <a:solidFill>
            <a:srgbClr val="F1F5F6"/>
          </a:solidFill>
          <a:ln w="12700">
            <a:solidFill>
              <a:srgbClr val="E5ECEE"/>
            </a:solidFill>
            <a:prstDash val="solid"/>
          </a:ln>
        </p:spPr>
        <p:txBody>
          <a:bodyPr/>
          <a:lstStyle/>
          <a:p>
            <a:endParaRPr lang="en-US"/>
          </a:p>
        </p:txBody>
      </p:sp>
      <p:sp>
        <p:nvSpPr>
          <p:cNvPr id="36" name="Text 34"/>
          <p:cNvSpPr txBox="1"/>
          <p:nvPr/>
        </p:nvSpPr>
        <p:spPr>
          <a:xfrm>
            <a:off x="749808" y="4224528"/>
            <a:ext cx="3291840" cy="256032"/>
          </a:xfrm>
          <a:prstGeom prst="rect">
            <a:avLst/>
          </a:prstGeom>
          <a:noFill/>
          <a:ln/>
        </p:spPr>
        <p:txBody>
          <a:bodyPr wrap="square" lIns="0" tIns="0" rIns="0" bIns="0" rtlCol="0" anchor="ctr"/>
          <a:lstStyle/>
          <a:p>
            <a:pPr marL="0" indent="0">
              <a:buNone/>
            </a:pPr>
            <a:r>
              <a:rPr lang="en-US" sz="1150" b="1" dirty="0">
                <a:solidFill>
                  <a:srgbClr val="1A242C"/>
                </a:solidFill>
                <a:latin typeface="Calibri" pitchFamily="34" charset="0"/>
                <a:ea typeface="Calibri" pitchFamily="34" charset="-122"/>
                <a:cs typeface="Calibri" pitchFamily="34" charset="-120"/>
              </a:rPr>
              <a:t>Balance achieved</a:t>
            </a:r>
            <a:endParaRPr lang="en-US" sz="1150" dirty="0"/>
          </a:p>
        </p:txBody>
      </p:sp>
      <p:sp>
        <p:nvSpPr>
          <p:cNvPr id="37" name="Text 35"/>
          <p:cNvSpPr txBox="1"/>
          <p:nvPr/>
        </p:nvSpPr>
        <p:spPr>
          <a:xfrm>
            <a:off x="4206240" y="4224528"/>
            <a:ext cx="3566160" cy="256032"/>
          </a:xfrm>
          <a:prstGeom prst="rect">
            <a:avLst/>
          </a:prstGeom>
          <a:noFill/>
          <a:ln/>
        </p:spPr>
        <p:txBody>
          <a:bodyPr wrap="square" lIns="0" tIns="0" rIns="0" bIns="0" rtlCol="0" anchor="ctr"/>
          <a:lstStyle/>
          <a:p>
            <a:pPr marL="0" indent="0">
              <a:buNone/>
            </a:pPr>
            <a:r>
              <a:rPr lang="en-US" sz="1150" dirty="0">
                <a:solidFill>
                  <a:srgbClr val="2E3A42"/>
                </a:solidFill>
                <a:latin typeface="Calibri" pitchFamily="34" charset="0"/>
                <a:ea typeface="Calibri" pitchFamily="34" charset="-122"/>
                <a:cs typeface="Calibri" pitchFamily="34" charset="-120"/>
              </a:rPr>
              <a:t>Yes for attributes, no for categories</a:t>
            </a:r>
            <a:endParaRPr lang="en-US" sz="1150" dirty="0"/>
          </a:p>
        </p:txBody>
      </p:sp>
      <p:sp>
        <p:nvSpPr>
          <p:cNvPr id="38" name="Text 36"/>
          <p:cNvSpPr txBox="1"/>
          <p:nvPr/>
        </p:nvSpPr>
        <p:spPr>
          <a:xfrm>
            <a:off x="7955280" y="4224528"/>
            <a:ext cx="3566160" cy="256032"/>
          </a:xfrm>
          <a:prstGeom prst="rect">
            <a:avLst/>
          </a:prstGeom>
          <a:noFill/>
          <a:ln/>
        </p:spPr>
        <p:txBody>
          <a:bodyPr wrap="square" lIns="0" tIns="0" rIns="0" bIns="0" rtlCol="0" anchor="ctr"/>
          <a:lstStyle/>
          <a:p>
            <a:pPr marL="0" indent="0">
              <a:buNone/>
            </a:pPr>
            <a:r>
              <a:rPr lang="en-US" sz="1150" dirty="0">
                <a:solidFill>
                  <a:srgbClr val="2E3A42"/>
                </a:solidFill>
                <a:latin typeface="Calibri" pitchFamily="34" charset="0"/>
                <a:ea typeface="Calibri" pitchFamily="34" charset="-122"/>
                <a:cs typeface="Calibri" pitchFamily="34" charset="-120"/>
              </a:rPr>
              <a:t>No — 28:1 between largest and smallest class</a:t>
            </a:r>
            <a:endParaRPr lang="en-US" sz="1150" dirty="0"/>
          </a:p>
        </p:txBody>
      </p:sp>
      <p:sp>
        <p:nvSpPr>
          <p:cNvPr id="39" name="Shape 37"/>
          <p:cNvSpPr/>
          <p:nvPr/>
        </p:nvSpPr>
        <p:spPr>
          <a:xfrm>
            <a:off x="566928" y="4572000"/>
            <a:ext cx="11064240" cy="384048"/>
          </a:xfrm>
          <a:prstGeom prst="roundRect">
            <a:avLst>
              <a:gd name="adj" fmla="val 4762"/>
            </a:avLst>
          </a:prstGeom>
          <a:solidFill>
            <a:srgbClr val="FFFFFF"/>
          </a:solidFill>
          <a:ln w="12700">
            <a:solidFill>
              <a:srgbClr val="E5ECEE"/>
            </a:solidFill>
            <a:prstDash val="solid"/>
          </a:ln>
        </p:spPr>
        <p:txBody>
          <a:bodyPr/>
          <a:lstStyle/>
          <a:p>
            <a:endParaRPr lang="en-US"/>
          </a:p>
        </p:txBody>
      </p:sp>
      <p:sp>
        <p:nvSpPr>
          <p:cNvPr id="40" name="Text 38"/>
          <p:cNvSpPr txBox="1"/>
          <p:nvPr/>
        </p:nvSpPr>
        <p:spPr>
          <a:xfrm>
            <a:off x="749808" y="4645152"/>
            <a:ext cx="3291840" cy="256032"/>
          </a:xfrm>
          <a:prstGeom prst="rect">
            <a:avLst/>
          </a:prstGeom>
          <a:noFill/>
          <a:ln/>
        </p:spPr>
        <p:txBody>
          <a:bodyPr wrap="square" lIns="0" tIns="0" rIns="0" bIns="0" rtlCol="0" anchor="ctr"/>
          <a:lstStyle/>
          <a:p>
            <a:pPr marL="0" indent="0">
              <a:buNone/>
            </a:pPr>
            <a:r>
              <a:rPr lang="en-US" sz="1150" b="1" dirty="0">
                <a:solidFill>
                  <a:srgbClr val="1A242C"/>
                </a:solidFill>
                <a:latin typeface="Calibri" pitchFamily="34" charset="0"/>
                <a:ea typeface="Calibri" pitchFamily="34" charset="-122"/>
                <a:cs typeface="Calibri" pitchFamily="34" charset="-120"/>
              </a:rPr>
              <a:t>Agreement reported</a:t>
            </a:r>
            <a:endParaRPr lang="en-US" sz="1150" dirty="0"/>
          </a:p>
        </p:txBody>
      </p:sp>
      <p:sp>
        <p:nvSpPr>
          <p:cNvPr id="41" name="Text 39"/>
          <p:cNvSpPr txBox="1"/>
          <p:nvPr/>
        </p:nvSpPr>
        <p:spPr>
          <a:xfrm>
            <a:off x="4206240" y="4645152"/>
            <a:ext cx="3566160" cy="256032"/>
          </a:xfrm>
          <a:prstGeom prst="rect">
            <a:avLst/>
          </a:prstGeom>
          <a:noFill/>
          <a:ln/>
        </p:spPr>
        <p:txBody>
          <a:bodyPr wrap="square" lIns="0" tIns="0" rIns="0" bIns="0" rtlCol="0" anchor="ctr"/>
          <a:lstStyle/>
          <a:p>
            <a:pPr marL="0" indent="0">
              <a:buNone/>
            </a:pPr>
            <a:r>
              <a:rPr lang="en-US" sz="1150" dirty="0">
                <a:solidFill>
                  <a:srgbClr val="2E3A42"/>
                </a:solidFill>
                <a:latin typeface="Calibri" pitchFamily="34" charset="0"/>
                <a:ea typeface="Calibri" pitchFamily="34" charset="-122"/>
                <a:cs typeface="Calibri" pitchFamily="34" charset="-120"/>
              </a:rPr>
              <a:t>α ≈ 0.46 valence, 0.23 primary emotion</a:t>
            </a:r>
            <a:endParaRPr lang="en-US" sz="1150" dirty="0"/>
          </a:p>
        </p:txBody>
      </p:sp>
      <p:sp>
        <p:nvSpPr>
          <p:cNvPr id="42" name="Text 40"/>
          <p:cNvSpPr txBox="1"/>
          <p:nvPr/>
        </p:nvSpPr>
        <p:spPr>
          <a:xfrm>
            <a:off x="7955280" y="4645152"/>
            <a:ext cx="3566160" cy="256032"/>
          </a:xfrm>
          <a:prstGeom prst="rect">
            <a:avLst/>
          </a:prstGeom>
          <a:noFill/>
          <a:ln/>
        </p:spPr>
        <p:txBody>
          <a:bodyPr wrap="square" lIns="0" tIns="0" rIns="0" bIns="0" rtlCol="0" anchor="ctr"/>
          <a:lstStyle/>
          <a:p>
            <a:pPr marL="0" indent="0">
              <a:buNone/>
            </a:pPr>
            <a:r>
              <a:rPr lang="en-US" sz="1150" dirty="0">
                <a:solidFill>
                  <a:srgbClr val="2E3A42"/>
                </a:solidFill>
                <a:latin typeface="Calibri" pitchFamily="34" charset="0"/>
                <a:ea typeface="Calibri" pitchFamily="34" charset="-122"/>
                <a:cs typeface="Calibri" pitchFamily="34" charset="-120"/>
              </a:rPr>
              <a:t>60.7% categorical, RMSE 0.34 valence</a:t>
            </a:r>
            <a:endParaRPr lang="en-US" sz="1150" dirty="0"/>
          </a:p>
        </p:txBody>
      </p:sp>
      <p:sp>
        <p:nvSpPr>
          <p:cNvPr id="43" name="Shape 41"/>
          <p:cNvSpPr/>
          <p:nvPr/>
        </p:nvSpPr>
        <p:spPr>
          <a:xfrm>
            <a:off x="566928" y="4992624"/>
            <a:ext cx="11064240" cy="384048"/>
          </a:xfrm>
          <a:prstGeom prst="roundRect">
            <a:avLst>
              <a:gd name="adj" fmla="val 4762"/>
            </a:avLst>
          </a:prstGeom>
          <a:solidFill>
            <a:srgbClr val="F1F5F6"/>
          </a:solidFill>
          <a:ln w="12700">
            <a:solidFill>
              <a:srgbClr val="E5ECEE"/>
            </a:solidFill>
            <a:prstDash val="solid"/>
          </a:ln>
        </p:spPr>
        <p:txBody>
          <a:bodyPr/>
          <a:lstStyle/>
          <a:p>
            <a:endParaRPr lang="en-US"/>
          </a:p>
        </p:txBody>
      </p:sp>
      <p:sp>
        <p:nvSpPr>
          <p:cNvPr id="44" name="Text 42"/>
          <p:cNvSpPr txBox="1"/>
          <p:nvPr/>
        </p:nvSpPr>
        <p:spPr>
          <a:xfrm>
            <a:off x="749808" y="5065776"/>
            <a:ext cx="3291840" cy="256032"/>
          </a:xfrm>
          <a:prstGeom prst="rect">
            <a:avLst/>
          </a:prstGeom>
          <a:noFill/>
          <a:ln/>
        </p:spPr>
        <p:txBody>
          <a:bodyPr wrap="square" lIns="0" tIns="0" rIns="0" bIns="0" rtlCol="0" anchor="ctr"/>
          <a:lstStyle/>
          <a:p>
            <a:pPr marL="0" indent="0">
              <a:buNone/>
            </a:pPr>
            <a:r>
              <a:rPr lang="en-US" sz="1150" b="1" dirty="0">
                <a:solidFill>
                  <a:srgbClr val="1A242C"/>
                </a:solidFill>
                <a:latin typeface="Calibri" pitchFamily="34" charset="0"/>
                <a:ea typeface="Calibri" pitchFamily="34" charset="-122"/>
                <a:cs typeface="Calibri" pitchFamily="34" charset="-120"/>
              </a:rPr>
              <a:t>Redistribution</a:t>
            </a:r>
            <a:endParaRPr lang="en-US" sz="1150" dirty="0"/>
          </a:p>
        </p:txBody>
      </p:sp>
      <p:sp>
        <p:nvSpPr>
          <p:cNvPr id="45" name="Text 43"/>
          <p:cNvSpPr txBox="1"/>
          <p:nvPr/>
        </p:nvSpPr>
        <p:spPr>
          <a:xfrm>
            <a:off x="4206240" y="5065776"/>
            <a:ext cx="3566160" cy="256032"/>
          </a:xfrm>
          <a:prstGeom prst="rect">
            <a:avLst/>
          </a:prstGeom>
          <a:noFill/>
          <a:ln/>
        </p:spPr>
        <p:txBody>
          <a:bodyPr wrap="square" lIns="0" tIns="0" rIns="0" bIns="0" rtlCol="0" anchor="ctr"/>
          <a:lstStyle/>
          <a:p>
            <a:pPr marL="0" indent="0">
              <a:buNone/>
            </a:pPr>
            <a:r>
              <a:rPr lang="en-US" sz="1150" dirty="0">
                <a:solidFill>
                  <a:srgbClr val="2E3A42"/>
                </a:solidFill>
                <a:latin typeface="Calibri" pitchFamily="34" charset="0"/>
                <a:ea typeface="Calibri" pitchFamily="34" charset="-122"/>
                <a:cs typeface="Calibri" pitchFamily="34" charset="-120"/>
              </a:rPr>
              <a:t>Permissive licence, commercial use allowed</a:t>
            </a:r>
            <a:endParaRPr lang="en-US" sz="1150" dirty="0"/>
          </a:p>
        </p:txBody>
      </p:sp>
      <p:sp>
        <p:nvSpPr>
          <p:cNvPr id="46" name="Text 44"/>
          <p:cNvSpPr txBox="1"/>
          <p:nvPr/>
        </p:nvSpPr>
        <p:spPr>
          <a:xfrm>
            <a:off x="7955280" y="5065776"/>
            <a:ext cx="3566160" cy="256032"/>
          </a:xfrm>
          <a:prstGeom prst="rect">
            <a:avLst/>
          </a:prstGeom>
          <a:noFill/>
          <a:ln/>
        </p:spPr>
        <p:txBody>
          <a:bodyPr wrap="square" lIns="0" tIns="0" rIns="0" bIns="0" rtlCol="0" anchor="ctr"/>
          <a:lstStyle/>
          <a:p>
            <a:pPr marL="0" indent="0">
              <a:buNone/>
            </a:pPr>
            <a:r>
              <a:rPr lang="en-US" sz="1150" dirty="0">
                <a:solidFill>
                  <a:srgbClr val="2E3A42"/>
                </a:solidFill>
                <a:latin typeface="Calibri" pitchFamily="34" charset="0"/>
                <a:ea typeface="Calibri" pitchFamily="34" charset="-122"/>
                <a:cs typeface="Calibri" pitchFamily="34" charset="-120"/>
              </a:rPr>
              <a:t>Cropped faces and labels released for research</a:t>
            </a:r>
            <a:endParaRPr lang="en-US" sz="1150" dirty="0"/>
          </a:p>
        </p:txBody>
      </p:sp>
      <p:sp>
        <p:nvSpPr>
          <p:cNvPr id="47" name="Shape 45"/>
          <p:cNvSpPr/>
          <p:nvPr/>
        </p:nvSpPr>
        <p:spPr>
          <a:xfrm>
            <a:off x="566928" y="5413248"/>
            <a:ext cx="11064240" cy="384048"/>
          </a:xfrm>
          <a:prstGeom prst="roundRect">
            <a:avLst>
              <a:gd name="adj" fmla="val 4762"/>
            </a:avLst>
          </a:prstGeom>
          <a:solidFill>
            <a:srgbClr val="FFFFFF"/>
          </a:solidFill>
          <a:ln w="12700">
            <a:solidFill>
              <a:srgbClr val="E5ECEE"/>
            </a:solidFill>
            <a:prstDash val="solid"/>
          </a:ln>
        </p:spPr>
        <p:txBody>
          <a:bodyPr/>
          <a:lstStyle/>
          <a:p>
            <a:endParaRPr lang="en-US"/>
          </a:p>
        </p:txBody>
      </p:sp>
      <p:sp>
        <p:nvSpPr>
          <p:cNvPr id="48" name="Text 46"/>
          <p:cNvSpPr txBox="1"/>
          <p:nvPr/>
        </p:nvSpPr>
        <p:spPr>
          <a:xfrm>
            <a:off x="749808" y="5486400"/>
            <a:ext cx="3291840" cy="256032"/>
          </a:xfrm>
          <a:prstGeom prst="rect">
            <a:avLst/>
          </a:prstGeom>
          <a:noFill/>
          <a:ln/>
        </p:spPr>
        <p:txBody>
          <a:bodyPr wrap="square" lIns="0" tIns="0" rIns="0" bIns="0" rtlCol="0" anchor="ctr"/>
          <a:lstStyle/>
          <a:p>
            <a:pPr marL="0" indent="0">
              <a:buNone/>
            </a:pPr>
            <a:r>
              <a:rPr lang="en-US" sz="1150" b="1" dirty="0">
                <a:solidFill>
                  <a:srgbClr val="1A242C"/>
                </a:solidFill>
                <a:latin typeface="Calibri" pitchFamily="34" charset="0"/>
                <a:ea typeface="Calibri" pitchFamily="34" charset="-122"/>
                <a:cs typeface="Calibri" pitchFamily="34" charset="-120"/>
              </a:rPr>
              <a:t>Official splits</a:t>
            </a:r>
            <a:endParaRPr lang="en-US" sz="1150" dirty="0"/>
          </a:p>
        </p:txBody>
      </p:sp>
      <p:sp>
        <p:nvSpPr>
          <p:cNvPr id="49" name="Text 47"/>
          <p:cNvSpPr txBox="1"/>
          <p:nvPr/>
        </p:nvSpPr>
        <p:spPr>
          <a:xfrm>
            <a:off x="4206240" y="5486400"/>
            <a:ext cx="3566160" cy="256032"/>
          </a:xfrm>
          <a:prstGeom prst="rect">
            <a:avLst/>
          </a:prstGeom>
          <a:noFill/>
          <a:ln/>
        </p:spPr>
        <p:txBody>
          <a:bodyPr wrap="square" lIns="0" tIns="0" rIns="0" bIns="0" rtlCol="0" anchor="ctr"/>
          <a:lstStyle/>
          <a:p>
            <a:pPr marL="0" indent="0">
              <a:buNone/>
            </a:pPr>
            <a:r>
              <a:rPr lang="en-US" sz="1150" dirty="0">
                <a:solidFill>
                  <a:srgbClr val="2E3A42"/>
                </a:solidFill>
                <a:latin typeface="Calibri" pitchFamily="34" charset="0"/>
                <a:ea typeface="Calibri" pitchFamily="34" charset="-122"/>
                <a:cs typeface="Calibri" pitchFamily="34" charset="-120"/>
              </a:rPr>
              <a:t>Added in later releases</a:t>
            </a:r>
            <a:endParaRPr lang="en-US" sz="1150" dirty="0"/>
          </a:p>
        </p:txBody>
      </p:sp>
      <p:sp>
        <p:nvSpPr>
          <p:cNvPr id="50" name="Text 48"/>
          <p:cNvSpPr txBox="1"/>
          <p:nvPr/>
        </p:nvSpPr>
        <p:spPr>
          <a:xfrm>
            <a:off x="7955280" y="5486400"/>
            <a:ext cx="3566160" cy="256032"/>
          </a:xfrm>
          <a:prstGeom prst="rect">
            <a:avLst/>
          </a:prstGeom>
          <a:noFill/>
          <a:ln/>
        </p:spPr>
        <p:txBody>
          <a:bodyPr wrap="square" lIns="0" tIns="0" rIns="0" bIns="0" rtlCol="0" anchor="ctr"/>
          <a:lstStyle/>
          <a:p>
            <a:pPr marL="0" indent="0">
              <a:buNone/>
            </a:pPr>
            <a:r>
              <a:rPr lang="en-US" sz="1150" dirty="0">
                <a:solidFill>
                  <a:srgbClr val="2E3A42"/>
                </a:solidFill>
                <a:latin typeface="Calibri" pitchFamily="34" charset="0"/>
                <a:ea typeface="Calibri" pitchFamily="34" charset="-122"/>
                <a:cs typeface="Calibri" pitchFamily="34" charset="-120"/>
              </a:rPr>
              <a:t>Test and validation defined; no subject independence</a:t>
            </a:r>
            <a:endParaRPr lang="en-US" sz="1150" dirty="0"/>
          </a:p>
        </p:txBody>
      </p:sp>
      <p:sp>
        <p:nvSpPr>
          <p:cNvPr id="51" name="Text 49"/>
          <p:cNvSpPr txBox="1"/>
          <p:nvPr/>
        </p:nvSpPr>
        <p:spPr>
          <a:xfrm>
            <a:off x="566928" y="5907024"/>
            <a:ext cx="11064240" cy="274320"/>
          </a:xfrm>
          <a:prstGeom prst="rect">
            <a:avLst/>
          </a:prstGeom>
          <a:noFill/>
          <a:ln/>
        </p:spPr>
        <p:txBody>
          <a:bodyPr wrap="square" lIns="0" tIns="0" rIns="0" bIns="0" rtlCol="0" anchor="ctr"/>
          <a:lstStyle/>
          <a:p>
            <a:pPr marL="0" indent="0">
              <a:buNone/>
            </a:pPr>
            <a:r>
              <a:rPr lang="en-US" sz="1150" i="1" dirty="0">
                <a:solidFill>
                  <a:srgbClr val="5D6B75"/>
                </a:solidFill>
                <a:latin typeface="Calibri" pitchFamily="34" charset="0"/>
                <a:ea typeface="Calibri" pitchFamily="34" charset="-122"/>
                <a:cs typeface="Calibri" pitchFamily="34" charset="-120"/>
              </a:rPr>
              <a:t>Both harvest existing material. They differ on almost every decision that follows from that.</a:t>
            </a:r>
            <a:endParaRPr lang="en-US" sz="11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301984" y="457200"/>
            <a:ext cx="137160" cy="137160"/>
          </a:xfrm>
          <a:prstGeom prst="roundRect">
            <a:avLst>
              <a:gd name="adj" fmla="val 13333"/>
            </a:avLst>
          </a:prstGeom>
          <a:solidFill>
            <a:srgbClr val="2F6B7C"/>
          </a:solidFill>
          <a:ln w="12700">
            <a:solidFill>
              <a:srgbClr val="333333"/>
            </a:solidFill>
            <a:prstDash val="solid"/>
          </a:ln>
        </p:spPr>
        <p:txBody>
          <a:bodyPr/>
          <a:lstStyle/>
          <a:p>
            <a:endParaRPr lang="en-US"/>
          </a:p>
        </p:txBody>
      </p:sp>
      <p:sp>
        <p:nvSpPr>
          <p:cNvPr id="3" name="Shape 1"/>
          <p:cNvSpPr/>
          <p:nvPr/>
        </p:nvSpPr>
        <p:spPr>
          <a:xfrm>
            <a:off x="11471148" y="457200"/>
            <a:ext cx="137160" cy="137160"/>
          </a:xfrm>
          <a:prstGeom prst="roundRect">
            <a:avLst>
              <a:gd name="adj" fmla="val 13333"/>
            </a:avLst>
          </a:prstGeom>
          <a:solidFill>
            <a:srgbClr val="D2603F"/>
          </a:solidFill>
          <a:ln w="12700">
            <a:solidFill>
              <a:srgbClr val="333333"/>
            </a:solidFill>
            <a:prstDash val="solid"/>
          </a:ln>
        </p:spPr>
        <p:txBody>
          <a:bodyPr/>
          <a:lstStyle/>
          <a:p>
            <a:endParaRPr lang="en-US"/>
          </a:p>
        </p:txBody>
      </p:sp>
      <p:sp>
        <p:nvSpPr>
          <p:cNvPr id="4" name="Shape 2"/>
          <p:cNvSpPr/>
          <p:nvPr/>
        </p:nvSpPr>
        <p:spPr>
          <a:xfrm>
            <a:off x="11301984" y="626364"/>
            <a:ext cx="137160" cy="137160"/>
          </a:xfrm>
          <a:prstGeom prst="roundRect">
            <a:avLst>
              <a:gd name="adj" fmla="val 13333"/>
            </a:avLst>
          </a:prstGeom>
          <a:solidFill>
            <a:srgbClr val="8CA3AD"/>
          </a:solidFill>
          <a:ln w="12700">
            <a:solidFill>
              <a:srgbClr val="333333"/>
            </a:solidFill>
            <a:prstDash val="solid"/>
          </a:ln>
        </p:spPr>
        <p:txBody>
          <a:bodyPr/>
          <a:lstStyle/>
          <a:p>
            <a:endParaRPr lang="en-US"/>
          </a:p>
        </p:txBody>
      </p:sp>
      <p:sp>
        <p:nvSpPr>
          <p:cNvPr id="5" name="Shape 3"/>
          <p:cNvSpPr/>
          <p:nvPr/>
        </p:nvSpPr>
        <p:spPr>
          <a:xfrm>
            <a:off x="11471148" y="626364"/>
            <a:ext cx="137160" cy="137160"/>
          </a:xfrm>
          <a:prstGeom prst="roundRect">
            <a:avLst>
              <a:gd name="adj" fmla="val 13333"/>
            </a:avLst>
          </a:prstGeom>
          <a:solidFill>
            <a:srgbClr val="2F6B7C"/>
          </a:solidFill>
          <a:ln w="12700">
            <a:solidFill>
              <a:srgbClr val="333333"/>
            </a:solidFill>
            <a:prstDash val="solid"/>
          </a:ln>
        </p:spPr>
        <p:txBody>
          <a:bodyPr/>
          <a:lstStyle/>
          <a:p>
            <a:endParaRPr lang="en-US"/>
          </a:p>
        </p:txBody>
      </p:sp>
      <p:sp>
        <p:nvSpPr>
          <p:cNvPr id="6" name="Text 4"/>
          <p:cNvSpPr txBox="1"/>
          <p:nvPr/>
        </p:nvSpPr>
        <p:spPr>
          <a:xfrm>
            <a:off x="548640" y="384048"/>
            <a:ext cx="10424160" cy="566928"/>
          </a:xfrm>
          <a:prstGeom prst="rect">
            <a:avLst/>
          </a:prstGeom>
          <a:noFill/>
          <a:ln/>
        </p:spPr>
        <p:txBody>
          <a:bodyPr wrap="square" lIns="0" tIns="0" rIns="0" bIns="0" rtlCol="0" anchor="t"/>
          <a:lstStyle/>
          <a:p>
            <a:pPr marL="0" indent="0">
              <a:buNone/>
            </a:pPr>
            <a:r>
              <a:rPr lang="en-US" sz="2900" b="1" dirty="0">
                <a:solidFill>
                  <a:srgbClr val="1A242C"/>
                </a:solidFill>
                <a:latin typeface="Cambria" pitchFamily="34" charset="0"/>
                <a:ea typeface="Cambria" pitchFamily="34" charset="-122"/>
                <a:cs typeface="Cambria" pitchFamily="34" charset="-120"/>
              </a:rPr>
              <a:t>Take-aways</a:t>
            </a:r>
            <a:endParaRPr lang="en-US" sz="2900" dirty="0"/>
          </a:p>
        </p:txBody>
      </p:sp>
      <p:sp>
        <p:nvSpPr>
          <p:cNvPr id="7" name="Text 5"/>
          <p:cNvSpPr txBox="1"/>
          <p:nvPr/>
        </p:nvSpPr>
        <p:spPr>
          <a:xfrm>
            <a:off x="548640" y="969264"/>
            <a:ext cx="10424160" cy="329184"/>
          </a:xfrm>
          <a:prstGeom prst="rect">
            <a:avLst/>
          </a:prstGeom>
          <a:noFill/>
          <a:ln/>
        </p:spPr>
        <p:txBody>
          <a:bodyPr wrap="square" lIns="0" tIns="0" rIns="0" bIns="0" rtlCol="0" anchor="ctr"/>
          <a:lstStyle/>
          <a:p>
            <a:pPr marL="0" indent="0">
              <a:buNone/>
            </a:pPr>
            <a:r>
              <a:rPr lang="en-US" sz="1350" i="1" dirty="0">
                <a:solidFill>
                  <a:srgbClr val="5D6B75"/>
                </a:solidFill>
                <a:latin typeface="Calibri" pitchFamily="34" charset="0"/>
                <a:ea typeface="Calibri" pitchFamily="34" charset="-122"/>
                <a:cs typeface="Calibri" pitchFamily="34" charset="-120"/>
              </a:rPr>
              <a:t>Four things to carry out of this session</a:t>
            </a:r>
            <a:endParaRPr lang="en-US" sz="1350" dirty="0"/>
          </a:p>
        </p:txBody>
      </p:sp>
      <p:sp>
        <p:nvSpPr>
          <p:cNvPr id="8" name="Text 6"/>
          <p:cNvSpPr txBox="1"/>
          <p:nvPr/>
        </p:nvSpPr>
        <p:spPr>
          <a:xfrm>
            <a:off x="9326880" y="6382512"/>
            <a:ext cx="2313432" cy="274320"/>
          </a:xfrm>
          <a:prstGeom prst="rect">
            <a:avLst/>
          </a:prstGeom>
          <a:noFill/>
          <a:ln/>
        </p:spPr>
        <p:txBody>
          <a:bodyPr wrap="square" lIns="0" tIns="0" rIns="0" bIns="0" rtlCol="0" anchor="ctr"/>
          <a:lstStyle/>
          <a:p>
            <a:pPr marL="0" indent="0" algn="r">
              <a:buNone/>
            </a:pPr>
            <a:r>
              <a:rPr lang="en-US" sz="900" dirty="0">
                <a:solidFill>
                  <a:srgbClr val="9DACB4"/>
                </a:solidFill>
                <a:latin typeface="Calibri" pitchFamily="34" charset="0"/>
                <a:ea typeface="Calibri" pitchFamily="34" charset="-122"/>
                <a:cs typeface="Calibri" pitchFamily="34" charset="-120"/>
              </a:rPr>
              <a:t>AffectNet · Mollahosseini et al. 2019  |  27</a:t>
            </a:r>
            <a:endParaRPr lang="en-US" sz="900" dirty="0"/>
          </a:p>
        </p:txBody>
      </p:sp>
      <p:sp>
        <p:nvSpPr>
          <p:cNvPr id="9" name="Shape 7"/>
          <p:cNvSpPr/>
          <p:nvPr/>
        </p:nvSpPr>
        <p:spPr>
          <a:xfrm>
            <a:off x="566928" y="1572768"/>
            <a:ext cx="11064240" cy="1005840"/>
          </a:xfrm>
          <a:prstGeom prst="roundRect">
            <a:avLst>
              <a:gd name="adj" fmla="val 4545"/>
            </a:avLst>
          </a:prstGeom>
          <a:solidFill>
            <a:srgbClr val="F1F5F6"/>
          </a:solidFill>
          <a:ln w="12700">
            <a:solidFill>
              <a:srgbClr val="DDE6E9"/>
            </a:solidFill>
            <a:prstDash val="solid"/>
          </a:ln>
        </p:spPr>
        <p:txBody>
          <a:bodyPr/>
          <a:lstStyle/>
          <a:p>
            <a:endParaRPr lang="en-US"/>
          </a:p>
        </p:txBody>
      </p:sp>
      <p:sp>
        <p:nvSpPr>
          <p:cNvPr id="10" name="Shape 8"/>
          <p:cNvSpPr/>
          <p:nvPr/>
        </p:nvSpPr>
        <p:spPr>
          <a:xfrm>
            <a:off x="822960" y="1901952"/>
            <a:ext cx="347472" cy="347472"/>
          </a:xfrm>
          <a:prstGeom prst="ellipse">
            <a:avLst/>
          </a:prstGeom>
          <a:solidFill>
            <a:srgbClr val="2F6B7C"/>
          </a:solidFill>
          <a:ln w="12700">
            <a:solidFill>
              <a:srgbClr val="333333"/>
            </a:solidFill>
            <a:prstDash val="solid"/>
          </a:ln>
        </p:spPr>
        <p:txBody>
          <a:bodyPr/>
          <a:lstStyle/>
          <a:p>
            <a:endParaRPr lang="en-US"/>
          </a:p>
        </p:txBody>
      </p:sp>
      <p:sp>
        <p:nvSpPr>
          <p:cNvPr id="11" name="Text 9"/>
          <p:cNvSpPr txBox="1"/>
          <p:nvPr/>
        </p:nvSpPr>
        <p:spPr>
          <a:xfrm>
            <a:off x="822960" y="1929384"/>
            <a:ext cx="347472" cy="292608"/>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12" name="Text 10"/>
          <p:cNvSpPr txBox="1"/>
          <p:nvPr/>
        </p:nvSpPr>
        <p:spPr>
          <a:xfrm>
            <a:off x="1335024" y="1719072"/>
            <a:ext cx="4114800" cy="731520"/>
          </a:xfrm>
          <a:prstGeom prst="rect">
            <a:avLst/>
          </a:prstGeom>
          <a:noFill/>
          <a:ln/>
        </p:spPr>
        <p:txBody>
          <a:bodyPr wrap="square" lIns="0" tIns="0" rIns="0" bIns="0" rtlCol="0" anchor="ctr"/>
          <a:lstStyle/>
          <a:p>
            <a:pPr marL="0" indent="0">
              <a:buNone/>
            </a:pPr>
            <a:r>
              <a:rPr lang="en-US" sz="1350" b="1" dirty="0">
                <a:solidFill>
                  <a:srgbClr val="1A242C"/>
                </a:solidFill>
                <a:latin typeface="Cambria" pitchFamily="34" charset="0"/>
                <a:ea typeface="Cambria" pitchFamily="34" charset="-122"/>
                <a:cs typeface="Cambria" pitchFamily="34" charset="-120"/>
              </a:rPr>
              <a:t>Harvesting moves the bias, it does not remove it</a:t>
            </a:r>
            <a:endParaRPr lang="en-US" sz="1350" dirty="0"/>
          </a:p>
        </p:txBody>
      </p:sp>
      <p:sp>
        <p:nvSpPr>
          <p:cNvPr id="13" name="Text 11"/>
          <p:cNvSpPr txBox="1"/>
          <p:nvPr/>
        </p:nvSpPr>
        <p:spPr>
          <a:xfrm>
            <a:off x="5623560" y="1700784"/>
            <a:ext cx="5852160" cy="768096"/>
          </a:xfrm>
          <a:prstGeom prst="rect">
            <a:avLst/>
          </a:prstGeom>
          <a:noFill/>
          <a:ln/>
        </p:spPr>
        <p:txBody>
          <a:bodyPr wrap="square" lIns="0" tIns="0" rIns="0" bIns="0" rtlCol="0" anchor="ctr"/>
          <a:lstStyle/>
          <a:p>
            <a:pPr marL="0" indent="0">
              <a:buNone/>
            </a:pPr>
            <a:r>
              <a:rPr lang="en-US" sz="1200" dirty="0">
                <a:solidFill>
                  <a:srgbClr val="2E3A42"/>
                </a:solidFill>
                <a:latin typeface="Calibri" pitchFamily="34" charset="0"/>
                <a:ea typeface="Calibri" pitchFamily="34" charset="-122"/>
                <a:cs typeface="Calibri" pitchFamily="34" charset="-120"/>
              </a:rPr>
              <a:t>Publication norms, search ranking, licence terms and automatic filters replace the experimenter — and unlike the experimenter, they are undocumented.</a:t>
            </a:r>
            <a:endParaRPr lang="en-US" sz="1200" dirty="0"/>
          </a:p>
        </p:txBody>
      </p:sp>
      <p:sp>
        <p:nvSpPr>
          <p:cNvPr id="14" name="Shape 12"/>
          <p:cNvSpPr/>
          <p:nvPr/>
        </p:nvSpPr>
        <p:spPr>
          <a:xfrm>
            <a:off x="566928" y="2651760"/>
            <a:ext cx="11064240" cy="1005840"/>
          </a:xfrm>
          <a:prstGeom prst="roundRect">
            <a:avLst>
              <a:gd name="adj" fmla="val 4545"/>
            </a:avLst>
          </a:prstGeom>
          <a:solidFill>
            <a:srgbClr val="FFFFFF"/>
          </a:solidFill>
          <a:ln w="12700">
            <a:solidFill>
              <a:srgbClr val="DDE6E9"/>
            </a:solidFill>
            <a:prstDash val="solid"/>
          </a:ln>
        </p:spPr>
        <p:txBody>
          <a:bodyPr/>
          <a:lstStyle/>
          <a:p>
            <a:endParaRPr lang="en-US"/>
          </a:p>
        </p:txBody>
      </p:sp>
      <p:sp>
        <p:nvSpPr>
          <p:cNvPr id="15" name="Shape 13"/>
          <p:cNvSpPr/>
          <p:nvPr/>
        </p:nvSpPr>
        <p:spPr>
          <a:xfrm>
            <a:off x="822960" y="2980944"/>
            <a:ext cx="347472" cy="347472"/>
          </a:xfrm>
          <a:prstGeom prst="ellipse">
            <a:avLst/>
          </a:prstGeom>
          <a:solidFill>
            <a:srgbClr val="2F6B7C"/>
          </a:solidFill>
          <a:ln w="12700">
            <a:solidFill>
              <a:srgbClr val="333333"/>
            </a:solidFill>
            <a:prstDash val="solid"/>
          </a:ln>
        </p:spPr>
        <p:txBody>
          <a:bodyPr/>
          <a:lstStyle/>
          <a:p>
            <a:endParaRPr lang="en-US"/>
          </a:p>
        </p:txBody>
      </p:sp>
      <p:sp>
        <p:nvSpPr>
          <p:cNvPr id="16" name="Text 14"/>
          <p:cNvSpPr txBox="1"/>
          <p:nvPr/>
        </p:nvSpPr>
        <p:spPr>
          <a:xfrm>
            <a:off x="822960" y="3008376"/>
            <a:ext cx="347472" cy="292608"/>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17" name="Text 15"/>
          <p:cNvSpPr txBox="1"/>
          <p:nvPr/>
        </p:nvSpPr>
        <p:spPr>
          <a:xfrm>
            <a:off x="1335024" y="2798064"/>
            <a:ext cx="4114800" cy="731520"/>
          </a:xfrm>
          <a:prstGeom prst="rect">
            <a:avLst/>
          </a:prstGeom>
          <a:noFill/>
          <a:ln/>
        </p:spPr>
        <p:txBody>
          <a:bodyPr wrap="square" lIns="0" tIns="0" rIns="0" bIns="0" rtlCol="0" anchor="ctr"/>
          <a:lstStyle/>
          <a:p>
            <a:pPr marL="0" indent="0">
              <a:buNone/>
            </a:pPr>
            <a:r>
              <a:rPr lang="en-US" sz="1350" b="1" dirty="0">
                <a:solidFill>
                  <a:srgbClr val="1A242C"/>
                </a:solidFill>
                <a:latin typeface="Cambria" pitchFamily="34" charset="0"/>
                <a:ea typeface="Cambria" pitchFamily="34" charset="-122"/>
                <a:cs typeface="Cambria" pitchFamily="34" charset="-120"/>
              </a:rPr>
              <a:t>Balance is relative to a label space</a:t>
            </a:r>
            <a:endParaRPr lang="en-US" sz="1350" dirty="0"/>
          </a:p>
        </p:txBody>
      </p:sp>
      <p:sp>
        <p:nvSpPr>
          <p:cNvPr id="18" name="Text 16"/>
          <p:cNvSpPr txBox="1"/>
          <p:nvPr/>
        </p:nvSpPr>
        <p:spPr>
          <a:xfrm>
            <a:off x="5623560" y="2779776"/>
            <a:ext cx="5852160" cy="768096"/>
          </a:xfrm>
          <a:prstGeom prst="rect">
            <a:avLst/>
          </a:prstGeom>
          <a:noFill/>
          <a:ln/>
        </p:spPr>
        <p:txBody>
          <a:bodyPr wrap="square" lIns="0" tIns="0" rIns="0" bIns="0" rtlCol="0" anchor="ctr"/>
          <a:lstStyle/>
          <a:p>
            <a:pPr marL="0" indent="0">
              <a:buNone/>
            </a:pPr>
            <a:r>
              <a:rPr lang="en-US" sz="1200" dirty="0">
                <a:solidFill>
                  <a:srgbClr val="2E3A42"/>
                </a:solidFill>
                <a:latin typeface="Calibri" pitchFamily="34" charset="0"/>
                <a:ea typeface="Calibri" pitchFamily="34" charset="-122"/>
                <a:cs typeface="Calibri" pitchFamily="34" charset="-120"/>
              </a:rPr>
              <a:t>MSP-Podcast balanced arousal and valence and left categories skewed. Always ask: balanced with respect to what?</a:t>
            </a:r>
            <a:endParaRPr lang="en-US" sz="1200" dirty="0"/>
          </a:p>
        </p:txBody>
      </p:sp>
      <p:sp>
        <p:nvSpPr>
          <p:cNvPr id="19" name="Shape 17"/>
          <p:cNvSpPr/>
          <p:nvPr/>
        </p:nvSpPr>
        <p:spPr>
          <a:xfrm>
            <a:off x="566928" y="3730752"/>
            <a:ext cx="11064240" cy="1005840"/>
          </a:xfrm>
          <a:prstGeom prst="roundRect">
            <a:avLst>
              <a:gd name="adj" fmla="val 4545"/>
            </a:avLst>
          </a:prstGeom>
          <a:solidFill>
            <a:srgbClr val="F1F5F6"/>
          </a:solidFill>
          <a:ln w="12700">
            <a:solidFill>
              <a:srgbClr val="DDE6E9"/>
            </a:solidFill>
            <a:prstDash val="solid"/>
          </a:ln>
        </p:spPr>
        <p:txBody>
          <a:bodyPr/>
          <a:lstStyle/>
          <a:p>
            <a:endParaRPr lang="en-US"/>
          </a:p>
        </p:txBody>
      </p:sp>
      <p:sp>
        <p:nvSpPr>
          <p:cNvPr id="20" name="Shape 18"/>
          <p:cNvSpPr/>
          <p:nvPr/>
        </p:nvSpPr>
        <p:spPr>
          <a:xfrm>
            <a:off x="822960" y="4059936"/>
            <a:ext cx="347472" cy="347472"/>
          </a:xfrm>
          <a:prstGeom prst="ellipse">
            <a:avLst/>
          </a:prstGeom>
          <a:solidFill>
            <a:srgbClr val="2F6B7C"/>
          </a:solidFill>
          <a:ln w="12700">
            <a:solidFill>
              <a:srgbClr val="333333"/>
            </a:solidFill>
            <a:prstDash val="solid"/>
          </a:ln>
        </p:spPr>
        <p:txBody>
          <a:bodyPr/>
          <a:lstStyle/>
          <a:p>
            <a:endParaRPr lang="en-US"/>
          </a:p>
        </p:txBody>
      </p:sp>
      <p:sp>
        <p:nvSpPr>
          <p:cNvPr id="21" name="Text 19"/>
          <p:cNvSpPr txBox="1"/>
          <p:nvPr/>
        </p:nvSpPr>
        <p:spPr>
          <a:xfrm>
            <a:off x="822960" y="4087368"/>
            <a:ext cx="347472" cy="292608"/>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22" name="Text 20"/>
          <p:cNvSpPr txBox="1"/>
          <p:nvPr/>
        </p:nvSpPr>
        <p:spPr>
          <a:xfrm>
            <a:off x="1335024" y="3877056"/>
            <a:ext cx="4114800" cy="731520"/>
          </a:xfrm>
          <a:prstGeom prst="rect">
            <a:avLst/>
          </a:prstGeom>
          <a:noFill/>
          <a:ln/>
        </p:spPr>
        <p:txBody>
          <a:bodyPr wrap="square" lIns="0" tIns="0" rIns="0" bIns="0" rtlCol="0" anchor="ctr"/>
          <a:lstStyle/>
          <a:p>
            <a:pPr marL="0" indent="0">
              <a:buNone/>
            </a:pPr>
            <a:r>
              <a:rPr lang="en-US" sz="1350" b="1" dirty="0">
                <a:solidFill>
                  <a:srgbClr val="1A242C"/>
                </a:solidFill>
                <a:latin typeface="Cambria" pitchFamily="34" charset="0"/>
                <a:ea typeface="Cambria" pitchFamily="34" charset="-122"/>
                <a:cs typeface="Cambria" pitchFamily="34" charset="-120"/>
              </a:rPr>
              <a:t>Retrieval is a use for imperfect models</a:t>
            </a:r>
            <a:endParaRPr lang="en-US" sz="1350" dirty="0"/>
          </a:p>
        </p:txBody>
      </p:sp>
      <p:sp>
        <p:nvSpPr>
          <p:cNvPr id="23" name="Text 21"/>
          <p:cNvSpPr txBox="1"/>
          <p:nvPr/>
        </p:nvSpPr>
        <p:spPr>
          <a:xfrm>
            <a:off x="5623560" y="3858768"/>
            <a:ext cx="5852160" cy="768096"/>
          </a:xfrm>
          <a:prstGeom prst="rect">
            <a:avLst/>
          </a:prstGeom>
          <a:noFill/>
          <a:ln/>
        </p:spPr>
        <p:txBody>
          <a:bodyPr wrap="square" lIns="0" tIns="0" rIns="0" bIns="0" rtlCol="0" anchor="ctr"/>
          <a:lstStyle/>
          <a:p>
            <a:pPr marL="0" indent="0">
              <a:buNone/>
            </a:pPr>
            <a:r>
              <a:rPr lang="en-US" sz="1200" dirty="0">
                <a:solidFill>
                  <a:srgbClr val="2E3A42"/>
                </a:solidFill>
                <a:latin typeface="Calibri" pitchFamily="34" charset="0"/>
                <a:ea typeface="Calibri" pitchFamily="34" charset="-122"/>
                <a:cs typeface="Calibri" pitchFamily="34" charset="-120"/>
              </a:rPr>
              <a:t>A cross-corpus model too weak to deploy is strong enough to sort a list — and a human checks the shortlist afterwards. That idea transfers well beyond speech.</a:t>
            </a:r>
            <a:endParaRPr lang="en-US" sz="1200" dirty="0"/>
          </a:p>
        </p:txBody>
      </p:sp>
      <p:sp>
        <p:nvSpPr>
          <p:cNvPr id="24" name="Shape 22"/>
          <p:cNvSpPr/>
          <p:nvPr/>
        </p:nvSpPr>
        <p:spPr>
          <a:xfrm>
            <a:off x="566928" y="4809744"/>
            <a:ext cx="11064240" cy="1005840"/>
          </a:xfrm>
          <a:prstGeom prst="roundRect">
            <a:avLst>
              <a:gd name="adj" fmla="val 4545"/>
            </a:avLst>
          </a:prstGeom>
          <a:solidFill>
            <a:srgbClr val="FFFFFF"/>
          </a:solidFill>
          <a:ln w="12700">
            <a:solidFill>
              <a:srgbClr val="DDE6E9"/>
            </a:solidFill>
            <a:prstDash val="solid"/>
          </a:ln>
        </p:spPr>
        <p:txBody>
          <a:bodyPr/>
          <a:lstStyle/>
          <a:p>
            <a:endParaRPr lang="en-US"/>
          </a:p>
        </p:txBody>
      </p:sp>
      <p:sp>
        <p:nvSpPr>
          <p:cNvPr id="25" name="Shape 23"/>
          <p:cNvSpPr/>
          <p:nvPr/>
        </p:nvSpPr>
        <p:spPr>
          <a:xfrm>
            <a:off x="822960" y="5138928"/>
            <a:ext cx="347472" cy="347472"/>
          </a:xfrm>
          <a:prstGeom prst="ellipse">
            <a:avLst/>
          </a:prstGeom>
          <a:solidFill>
            <a:srgbClr val="2F6B7C"/>
          </a:solidFill>
          <a:ln w="12700">
            <a:solidFill>
              <a:srgbClr val="333333"/>
            </a:solidFill>
            <a:prstDash val="solid"/>
          </a:ln>
        </p:spPr>
        <p:txBody>
          <a:bodyPr/>
          <a:lstStyle/>
          <a:p>
            <a:endParaRPr lang="en-US"/>
          </a:p>
        </p:txBody>
      </p:sp>
      <p:sp>
        <p:nvSpPr>
          <p:cNvPr id="26" name="Text 24"/>
          <p:cNvSpPr txBox="1"/>
          <p:nvPr/>
        </p:nvSpPr>
        <p:spPr>
          <a:xfrm>
            <a:off x="822960" y="5166360"/>
            <a:ext cx="347472" cy="292608"/>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4</a:t>
            </a:r>
            <a:endParaRPr lang="en-US" sz="1300" dirty="0"/>
          </a:p>
        </p:txBody>
      </p:sp>
      <p:sp>
        <p:nvSpPr>
          <p:cNvPr id="27" name="Text 25"/>
          <p:cNvSpPr txBox="1"/>
          <p:nvPr/>
        </p:nvSpPr>
        <p:spPr>
          <a:xfrm>
            <a:off x="1335024" y="4956048"/>
            <a:ext cx="4114800" cy="731520"/>
          </a:xfrm>
          <a:prstGeom prst="rect">
            <a:avLst/>
          </a:prstGeom>
          <a:noFill/>
          <a:ln/>
        </p:spPr>
        <p:txBody>
          <a:bodyPr wrap="square" lIns="0" tIns="0" rIns="0" bIns="0" rtlCol="0" anchor="ctr"/>
          <a:lstStyle/>
          <a:p>
            <a:pPr marL="0" indent="0">
              <a:buNone/>
            </a:pPr>
            <a:r>
              <a:rPr lang="en-US" sz="1350" b="1" dirty="0">
                <a:solidFill>
                  <a:srgbClr val="1A242C"/>
                </a:solidFill>
                <a:latin typeface="Cambria" pitchFamily="34" charset="0"/>
                <a:ea typeface="Cambria" pitchFamily="34" charset="-122"/>
                <a:cs typeface="Cambria" pitchFamily="34" charset="-120"/>
              </a:rPr>
              <a:t>Report your agreement, and your skew</a:t>
            </a:r>
            <a:endParaRPr lang="en-US" sz="1350" dirty="0"/>
          </a:p>
        </p:txBody>
      </p:sp>
      <p:sp>
        <p:nvSpPr>
          <p:cNvPr id="28" name="Text 26"/>
          <p:cNvSpPr txBox="1"/>
          <p:nvPr/>
        </p:nvSpPr>
        <p:spPr>
          <a:xfrm>
            <a:off x="5623560" y="4937760"/>
            <a:ext cx="5852160" cy="768096"/>
          </a:xfrm>
          <a:prstGeom prst="rect">
            <a:avLst/>
          </a:prstGeom>
          <a:noFill/>
          <a:ln/>
        </p:spPr>
        <p:txBody>
          <a:bodyPr wrap="square" lIns="0" tIns="0" rIns="0" bIns="0" rtlCol="0" anchor="ctr"/>
          <a:lstStyle/>
          <a:p>
            <a:pPr marL="0" indent="0">
              <a:buNone/>
            </a:pPr>
            <a:r>
              <a:rPr lang="en-US" sz="1200" dirty="0">
                <a:solidFill>
                  <a:srgbClr val="2E3A42"/>
                </a:solidFill>
                <a:latin typeface="Calibri" pitchFamily="34" charset="0"/>
                <a:ea typeface="Calibri" pitchFamily="34" charset="-122"/>
                <a:cs typeface="Calibri" pitchFamily="34" charset="-120"/>
              </a:rPr>
              <a:t>Both papers do, and both look worse for it in the short term. It is what makes their numbers interpretable at all.</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8">
    <p:bg>
      <p:bgPr>
        <a:solidFill>
          <a:srgbClr val="24303A"/>
        </a:solidFill>
        <a:effectLst/>
      </p:bgPr>
    </p:bg>
    <p:spTree>
      <p:nvGrpSpPr>
        <p:cNvPr id="1" name=""/>
        <p:cNvGrpSpPr/>
        <p:nvPr/>
      </p:nvGrpSpPr>
      <p:grpSpPr>
        <a:xfrm>
          <a:off x="0" y="0"/>
          <a:ext cx="0" cy="0"/>
          <a:chOff x="0" y="0"/>
          <a:chExt cx="0" cy="0"/>
        </a:xfrm>
      </p:grpSpPr>
      <p:sp>
        <p:nvSpPr>
          <p:cNvPr id="2" name="Shape 0"/>
          <p:cNvSpPr/>
          <p:nvPr/>
        </p:nvSpPr>
        <p:spPr>
          <a:xfrm>
            <a:off x="10607040" y="658368"/>
            <a:ext cx="219456" cy="219456"/>
          </a:xfrm>
          <a:prstGeom prst="roundRect">
            <a:avLst>
              <a:gd name="adj" fmla="val 8333"/>
            </a:avLst>
          </a:prstGeom>
          <a:solidFill>
            <a:srgbClr val="C6D6DC"/>
          </a:solidFill>
          <a:ln w="12700">
            <a:solidFill>
              <a:srgbClr val="333333"/>
            </a:solidFill>
            <a:prstDash val="solid"/>
          </a:ln>
        </p:spPr>
        <p:txBody>
          <a:bodyPr/>
          <a:lstStyle/>
          <a:p>
            <a:endParaRPr lang="en-US"/>
          </a:p>
        </p:txBody>
      </p:sp>
      <p:sp>
        <p:nvSpPr>
          <p:cNvPr id="3" name="Shape 1"/>
          <p:cNvSpPr/>
          <p:nvPr/>
        </p:nvSpPr>
        <p:spPr>
          <a:xfrm>
            <a:off x="10877702" y="658368"/>
            <a:ext cx="219456" cy="219456"/>
          </a:xfrm>
          <a:prstGeom prst="roundRect">
            <a:avLst>
              <a:gd name="adj" fmla="val 8333"/>
            </a:avLst>
          </a:prstGeom>
          <a:solidFill>
            <a:srgbClr val="D2603F"/>
          </a:solidFill>
          <a:ln w="12700">
            <a:solidFill>
              <a:srgbClr val="333333"/>
            </a:solidFill>
            <a:prstDash val="solid"/>
          </a:ln>
        </p:spPr>
        <p:txBody>
          <a:bodyPr/>
          <a:lstStyle/>
          <a:p>
            <a:endParaRPr lang="en-US"/>
          </a:p>
        </p:txBody>
      </p:sp>
      <p:sp>
        <p:nvSpPr>
          <p:cNvPr id="4" name="Shape 2"/>
          <p:cNvSpPr/>
          <p:nvPr/>
        </p:nvSpPr>
        <p:spPr>
          <a:xfrm>
            <a:off x="10607040" y="929030"/>
            <a:ext cx="219456" cy="219456"/>
          </a:xfrm>
          <a:prstGeom prst="roundRect">
            <a:avLst>
              <a:gd name="adj" fmla="val 8333"/>
            </a:avLst>
          </a:prstGeom>
          <a:solidFill>
            <a:srgbClr val="C6D6DC"/>
          </a:solidFill>
          <a:ln w="12700">
            <a:solidFill>
              <a:srgbClr val="333333"/>
            </a:solidFill>
            <a:prstDash val="solid"/>
          </a:ln>
        </p:spPr>
        <p:txBody>
          <a:bodyPr/>
          <a:lstStyle/>
          <a:p>
            <a:endParaRPr lang="en-US"/>
          </a:p>
        </p:txBody>
      </p:sp>
      <p:sp>
        <p:nvSpPr>
          <p:cNvPr id="5" name="Shape 3"/>
          <p:cNvSpPr/>
          <p:nvPr/>
        </p:nvSpPr>
        <p:spPr>
          <a:xfrm>
            <a:off x="10877702" y="929030"/>
            <a:ext cx="219456" cy="219456"/>
          </a:xfrm>
          <a:prstGeom prst="roundRect">
            <a:avLst>
              <a:gd name="adj" fmla="val 8333"/>
            </a:avLst>
          </a:prstGeom>
          <a:solidFill>
            <a:srgbClr val="8CA3AD"/>
          </a:solidFill>
          <a:ln w="12700">
            <a:solidFill>
              <a:srgbClr val="333333"/>
            </a:solidFill>
            <a:prstDash val="solid"/>
          </a:ln>
        </p:spPr>
        <p:txBody>
          <a:bodyPr/>
          <a:lstStyle/>
          <a:p>
            <a:endParaRPr lang="en-US"/>
          </a:p>
        </p:txBody>
      </p:sp>
      <p:sp>
        <p:nvSpPr>
          <p:cNvPr id="6" name="Text 4"/>
          <p:cNvSpPr txBox="1"/>
          <p:nvPr/>
        </p:nvSpPr>
        <p:spPr>
          <a:xfrm>
            <a:off x="822960" y="658368"/>
            <a:ext cx="10515600" cy="640080"/>
          </a:xfrm>
          <a:prstGeom prst="rect">
            <a:avLst/>
          </a:prstGeom>
          <a:noFill/>
          <a:ln/>
        </p:spPr>
        <p:txBody>
          <a:bodyPr wrap="square" lIns="0" tIns="0" rIns="0" bIns="0" rtlCol="0" anchor="ctr"/>
          <a:lstStyle/>
          <a:p>
            <a:pPr marL="0" indent="0">
              <a:buNone/>
            </a:pPr>
            <a:r>
              <a:rPr lang="en-US" sz="3100" b="1" dirty="0">
                <a:solidFill>
                  <a:srgbClr val="FFFFFF"/>
                </a:solidFill>
                <a:latin typeface="Cambria" pitchFamily="34" charset="0"/>
                <a:ea typeface="Cambria" pitchFamily="34" charset="-122"/>
                <a:cs typeface="Cambria" pitchFamily="34" charset="-120"/>
              </a:rPr>
              <a:t>Questions for discussion</a:t>
            </a:r>
            <a:endParaRPr lang="en-US" sz="3100" dirty="0"/>
          </a:p>
        </p:txBody>
      </p:sp>
      <p:sp>
        <p:nvSpPr>
          <p:cNvPr id="7" name="Shape 5"/>
          <p:cNvSpPr/>
          <p:nvPr/>
        </p:nvSpPr>
        <p:spPr>
          <a:xfrm>
            <a:off x="841248" y="1600200"/>
            <a:ext cx="329184" cy="329184"/>
          </a:xfrm>
          <a:prstGeom prst="ellipse">
            <a:avLst/>
          </a:prstGeom>
          <a:solidFill>
            <a:srgbClr val="D2603F"/>
          </a:solidFill>
          <a:ln w="12700">
            <a:solidFill>
              <a:srgbClr val="333333"/>
            </a:solidFill>
            <a:prstDash val="solid"/>
          </a:ln>
        </p:spPr>
        <p:txBody>
          <a:bodyPr/>
          <a:lstStyle/>
          <a:p>
            <a:endParaRPr lang="en-US"/>
          </a:p>
        </p:txBody>
      </p:sp>
      <p:sp>
        <p:nvSpPr>
          <p:cNvPr id="8" name="Text 6"/>
          <p:cNvSpPr txBox="1"/>
          <p:nvPr/>
        </p:nvSpPr>
        <p:spPr>
          <a:xfrm>
            <a:off x="841248" y="1627632"/>
            <a:ext cx="329184"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1</a:t>
            </a:r>
            <a:endParaRPr lang="en-US" sz="1200" dirty="0"/>
          </a:p>
        </p:txBody>
      </p:sp>
      <p:sp>
        <p:nvSpPr>
          <p:cNvPr id="9" name="Text 7"/>
          <p:cNvSpPr txBox="1"/>
          <p:nvPr/>
        </p:nvSpPr>
        <p:spPr>
          <a:xfrm>
            <a:off x="1353312" y="1517904"/>
            <a:ext cx="10058400" cy="914400"/>
          </a:xfrm>
          <a:prstGeom prst="rect">
            <a:avLst/>
          </a:prstGeom>
          <a:noFill/>
          <a:ln/>
        </p:spPr>
        <p:txBody>
          <a:bodyPr wrap="square" lIns="0" tIns="0" rIns="0" bIns="0" rtlCol="0" anchor="ctr"/>
          <a:lstStyle/>
          <a:p>
            <a:pPr marL="0" indent="0">
              <a:buNone/>
            </a:pPr>
            <a:r>
              <a:rPr lang="en-US" sz="1250" dirty="0">
                <a:solidFill>
                  <a:srgbClr val="C6D6DC"/>
                </a:solidFill>
                <a:latin typeface="Calibri" pitchFamily="34" charset="0"/>
                <a:ea typeface="Calibri" pitchFamily="34" charset="-122"/>
                <a:cs typeface="Calibri" pitchFamily="34" charset="-120"/>
              </a:rPr>
              <a:t>Fixed annotation budget: 2,317 items with five raters each, or 450,000 items with one. Which do you buy, and does the answer change depending on whether you are building a benchmark or a training set?</a:t>
            </a:r>
            <a:endParaRPr lang="en-US" sz="1250" dirty="0"/>
          </a:p>
        </p:txBody>
      </p:sp>
      <p:sp>
        <p:nvSpPr>
          <p:cNvPr id="10" name="Shape 8"/>
          <p:cNvSpPr/>
          <p:nvPr/>
        </p:nvSpPr>
        <p:spPr>
          <a:xfrm>
            <a:off x="841248" y="2532888"/>
            <a:ext cx="329184" cy="329184"/>
          </a:xfrm>
          <a:prstGeom prst="ellipse">
            <a:avLst/>
          </a:prstGeom>
          <a:solidFill>
            <a:srgbClr val="D2603F"/>
          </a:solidFill>
          <a:ln w="12700">
            <a:solidFill>
              <a:srgbClr val="333333"/>
            </a:solidFill>
            <a:prstDash val="solid"/>
          </a:ln>
        </p:spPr>
        <p:txBody>
          <a:bodyPr/>
          <a:lstStyle/>
          <a:p>
            <a:endParaRPr lang="en-US"/>
          </a:p>
        </p:txBody>
      </p:sp>
      <p:sp>
        <p:nvSpPr>
          <p:cNvPr id="11" name="Text 9"/>
          <p:cNvSpPr txBox="1"/>
          <p:nvPr/>
        </p:nvSpPr>
        <p:spPr>
          <a:xfrm>
            <a:off x="841248" y="2560320"/>
            <a:ext cx="329184"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2</a:t>
            </a:r>
            <a:endParaRPr lang="en-US" sz="1200" dirty="0"/>
          </a:p>
        </p:txBody>
      </p:sp>
      <p:sp>
        <p:nvSpPr>
          <p:cNvPr id="12" name="Text 10"/>
          <p:cNvSpPr txBox="1"/>
          <p:nvPr/>
        </p:nvSpPr>
        <p:spPr>
          <a:xfrm>
            <a:off x="1353312" y="2450592"/>
            <a:ext cx="10058400" cy="914400"/>
          </a:xfrm>
          <a:prstGeom prst="rect">
            <a:avLst/>
          </a:prstGeom>
          <a:noFill/>
          <a:ln/>
        </p:spPr>
        <p:txBody>
          <a:bodyPr wrap="square" lIns="0" tIns="0" rIns="0" bIns="0" rtlCol="0" anchor="ctr"/>
          <a:lstStyle/>
          <a:p>
            <a:pPr marL="0" indent="0">
              <a:buNone/>
            </a:pPr>
            <a:r>
              <a:rPr lang="en-US" sz="1250" dirty="0">
                <a:solidFill>
                  <a:srgbClr val="C6D6DC"/>
                </a:solidFill>
                <a:latin typeface="Calibri" pitchFamily="34" charset="0"/>
                <a:ea typeface="Calibri" pitchFamily="34" charset="-122"/>
                <a:cs typeface="Calibri" pitchFamily="34" charset="-120"/>
              </a:rPr>
              <a:t>Two trained experts agree on the emotion category 60.7% of the time. Is a single-annotator label on the remaining 92% of AffectNet a ground truth at all, and what should a paper reporting accuracy on it claim?</a:t>
            </a:r>
            <a:endParaRPr lang="en-US" sz="1250" dirty="0"/>
          </a:p>
        </p:txBody>
      </p:sp>
      <p:sp>
        <p:nvSpPr>
          <p:cNvPr id="13" name="Shape 11"/>
          <p:cNvSpPr/>
          <p:nvPr/>
        </p:nvSpPr>
        <p:spPr>
          <a:xfrm>
            <a:off x="841248" y="3465576"/>
            <a:ext cx="329184" cy="329184"/>
          </a:xfrm>
          <a:prstGeom prst="ellipse">
            <a:avLst/>
          </a:prstGeom>
          <a:solidFill>
            <a:srgbClr val="D2603F"/>
          </a:solidFill>
          <a:ln w="12700">
            <a:solidFill>
              <a:srgbClr val="333333"/>
            </a:solidFill>
            <a:prstDash val="solid"/>
          </a:ln>
        </p:spPr>
        <p:txBody>
          <a:bodyPr/>
          <a:lstStyle/>
          <a:p>
            <a:endParaRPr lang="en-US"/>
          </a:p>
        </p:txBody>
      </p:sp>
      <p:sp>
        <p:nvSpPr>
          <p:cNvPr id="14" name="Text 12"/>
          <p:cNvSpPr txBox="1"/>
          <p:nvPr/>
        </p:nvSpPr>
        <p:spPr>
          <a:xfrm>
            <a:off x="841248" y="3493008"/>
            <a:ext cx="329184"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3</a:t>
            </a:r>
            <a:endParaRPr lang="en-US" sz="1200" dirty="0"/>
          </a:p>
        </p:txBody>
      </p:sp>
      <p:sp>
        <p:nvSpPr>
          <p:cNvPr id="15" name="Text 13"/>
          <p:cNvSpPr txBox="1"/>
          <p:nvPr/>
        </p:nvSpPr>
        <p:spPr>
          <a:xfrm>
            <a:off x="1353312" y="3383280"/>
            <a:ext cx="10058400" cy="914400"/>
          </a:xfrm>
          <a:prstGeom prst="rect">
            <a:avLst/>
          </a:prstGeom>
          <a:noFill/>
          <a:ln/>
        </p:spPr>
        <p:txBody>
          <a:bodyPr wrap="square" lIns="0" tIns="0" rIns="0" bIns="0" rtlCol="0" anchor="ctr"/>
          <a:lstStyle/>
          <a:p>
            <a:pPr marL="0" indent="0">
              <a:buNone/>
            </a:pPr>
            <a:r>
              <a:rPr lang="en-US" sz="1250" dirty="0">
                <a:solidFill>
                  <a:srgbClr val="C6D6DC"/>
                </a:solidFill>
                <a:latin typeface="Calibri" pitchFamily="34" charset="0"/>
                <a:ea typeface="Calibri" pitchFamily="34" charset="-122"/>
                <a:cs typeface="Calibri" pitchFamily="34" charset="-120"/>
              </a:rPr>
              <a:t>Both corpora sample what people chose to publish. Name a kind of emotional expression that neither source can contain — and say what it would take to collect it ethically.</a:t>
            </a:r>
            <a:endParaRPr lang="en-US" sz="1250" dirty="0"/>
          </a:p>
        </p:txBody>
      </p:sp>
      <p:sp>
        <p:nvSpPr>
          <p:cNvPr id="16" name="Shape 14"/>
          <p:cNvSpPr/>
          <p:nvPr/>
        </p:nvSpPr>
        <p:spPr>
          <a:xfrm>
            <a:off x="841248" y="4398264"/>
            <a:ext cx="329184" cy="329184"/>
          </a:xfrm>
          <a:prstGeom prst="ellipse">
            <a:avLst/>
          </a:prstGeom>
          <a:solidFill>
            <a:srgbClr val="D2603F"/>
          </a:solidFill>
          <a:ln w="12700">
            <a:solidFill>
              <a:srgbClr val="333333"/>
            </a:solidFill>
            <a:prstDash val="solid"/>
          </a:ln>
        </p:spPr>
        <p:txBody>
          <a:bodyPr/>
          <a:lstStyle/>
          <a:p>
            <a:endParaRPr lang="en-US"/>
          </a:p>
        </p:txBody>
      </p:sp>
      <p:sp>
        <p:nvSpPr>
          <p:cNvPr id="17" name="Text 15"/>
          <p:cNvSpPr txBox="1"/>
          <p:nvPr/>
        </p:nvSpPr>
        <p:spPr>
          <a:xfrm>
            <a:off x="841248" y="4425696"/>
            <a:ext cx="329184"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4</a:t>
            </a:r>
            <a:endParaRPr lang="en-US" sz="1200" dirty="0"/>
          </a:p>
        </p:txBody>
      </p:sp>
      <p:sp>
        <p:nvSpPr>
          <p:cNvPr id="18" name="Text 16"/>
          <p:cNvSpPr txBox="1"/>
          <p:nvPr/>
        </p:nvSpPr>
        <p:spPr>
          <a:xfrm>
            <a:off x="1353312" y="4315968"/>
            <a:ext cx="10058400" cy="914400"/>
          </a:xfrm>
          <a:prstGeom prst="rect">
            <a:avLst/>
          </a:prstGeom>
          <a:noFill/>
          <a:ln/>
        </p:spPr>
        <p:txBody>
          <a:bodyPr wrap="square" lIns="0" tIns="0" rIns="0" bIns="0" rtlCol="0" anchor="ctr"/>
          <a:lstStyle/>
          <a:p>
            <a:pPr marL="0" indent="0">
              <a:buNone/>
            </a:pPr>
            <a:r>
              <a:rPr lang="en-US" sz="1250" dirty="0">
                <a:solidFill>
                  <a:srgbClr val="C6D6DC"/>
                </a:solidFill>
                <a:latin typeface="Calibri" pitchFamily="34" charset="0"/>
                <a:ea typeface="Calibri" pitchFamily="34" charset="-122"/>
                <a:cs typeface="Calibri" pitchFamily="34" charset="-120"/>
              </a:rPr>
              <a:t>The circumplex guardrail nudges annotators toward category-consistent valence and arousal. Where else in these two pipelines does the tooling quietly encode an assumption as data?</a:t>
            </a:r>
            <a:endParaRPr lang="en-US" sz="1250" dirty="0"/>
          </a:p>
        </p:txBody>
      </p:sp>
      <p:sp>
        <p:nvSpPr>
          <p:cNvPr id="19" name="Shape 17"/>
          <p:cNvSpPr/>
          <p:nvPr/>
        </p:nvSpPr>
        <p:spPr>
          <a:xfrm>
            <a:off x="841248" y="5330952"/>
            <a:ext cx="329184" cy="329184"/>
          </a:xfrm>
          <a:prstGeom prst="ellipse">
            <a:avLst/>
          </a:prstGeom>
          <a:solidFill>
            <a:srgbClr val="D2603F"/>
          </a:solidFill>
          <a:ln w="12700">
            <a:solidFill>
              <a:srgbClr val="333333"/>
            </a:solidFill>
            <a:prstDash val="solid"/>
          </a:ln>
        </p:spPr>
        <p:txBody>
          <a:bodyPr/>
          <a:lstStyle/>
          <a:p>
            <a:endParaRPr lang="en-US"/>
          </a:p>
        </p:txBody>
      </p:sp>
      <p:sp>
        <p:nvSpPr>
          <p:cNvPr id="20" name="Text 18"/>
          <p:cNvSpPr txBox="1"/>
          <p:nvPr/>
        </p:nvSpPr>
        <p:spPr>
          <a:xfrm>
            <a:off x="841248" y="5358384"/>
            <a:ext cx="329184"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5</a:t>
            </a:r>
            <a:endParaRPr lang="en-US" sz="1200" dirty="0"/>
          </a:p>
        </p:txBody>
      </p:sp>
      <p:sp>
        <p:nvSpPr>
          <p:cNvPr id="21" name="Text 19"/>
          <p:cNvSpPr txBox="1"/>
          <p:nvPr/>
        </p:nvSpPr>
        <p:spPr>
          <a:xfrm>
            <a:off x="1353312" y="5248656"/>
            <a:ext cx="10058400" cy="914400"/>
          </a:xfrm>
          <a:prstGeom prst="rect">
            <a:avLst/>
          </a:prstGeom>
          <a:noFill/>
          <a:ln/>
        </p:spPr>
        <p:txBody>
          <a:bodyPr wrap="square" lIns="0" tIns="0" rIns="0" bIns="0" rtlCol="0" anchor="ctr"/>
          <a:lstStyle/>
          <a:p>
            <a:pPr marL="0" indent="0">
              <a:buNone/>
            </a:pPr>
            <a:r>
              <a:rPr lang="en-US" sz="1250" dirty="0">
                <a:solidFill>
                  <a:srgbClr val="C6D6DC"/>
                </a:solidFill>
                <a:latin typeface="Calibri" pitchFamily="34" charset="0"/>
                <a:ea typeface="Calibri" pitchFamily="34" charset="-122"/>
                <a:cs typeface="Calibri" pitchFamily="34" charset="-120"/>
              </a:rPr>
              <a:t>These are photographs and recordings of identifiable people who never consented to being in a training set. What would a defensible version of this data collection look like in 2026?</a:t>
            </a:r>
            <a:endParaRPr lang="en-US" sz="1250" dirty="0"/>
          </a:p>
        </p:txBody>
      </p:sp>
      <p:sp>
        <p:nvSpPr>
          <p:cNvPr id="22" name="Text 20"/>
          <p:cNvSpPr txBox="1"/>
          <p:nvPr/>
        </p:nvSpPr>
        <p:spPr>
          <a:xfrm>
            <a:off x="822960" y="6236208"/>
            <a:ext cx="10607040" cy="274320"/>
          </a:xfrm>
          <a:prstGeom prst="rect">
            <a:avLst/>
          </a:prstGeom>
          <a:noFill/>
          <a:ln/>
        </p:spPr>
        <p:txBody>
          <a:bodyPr wrap="square" lIns="0" tIns="0" rIns="0" bIns="0" rtlCol="0" anchor="ctr"/>
          <a:lstStyle/>
          <a:p>
            <a:pPr marL="0" indent="0">
              <a:buNone/>
            </a:pPr>
            <a:r>
              <a:rPr lang="en-US" sz="1000" dirty="0">
                <a:solidFill>
                  <a:srgbClr val="A8BAC2"/>
                </a:solidFill>
                <a:latin typeface="Calibri" pitchFamily="34" charset="0"/>
                <a:ea typeface="Calibri" pitchFamily="34" charset="-122"/>
                <a:cs typeface="Calibri" pitchFamily="34" charset="-120"/>
              </a:rPr>
              <a:t>Mollahosseini, Hasani &amp; Mahoor (2019), IEEE Transactions on Affective Computing 10(1), 18–31  ·  Lotfian &amp; Busso (2019), same journal, 10(4), 471–483</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7278</Words>
  <Application>Microsoft Macintosh PowerPoint</Application>
  <PresentationFormat>Widescreen</PresentationFormat>
  <Paragraphs>418</Paragraphs>
  <Slides>27</Slides>
  <Notes>27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27</vt:i4>
      </vt:variant>
    </vt:vector>
  </HeadingPairs>
  <TitlesOfParts>
    <vt:vector size="31"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AffectNet (Mollahosseini et al., 2019)</dc:title>
  <dc:subject>PptxGenJS Presentation</dc:subject>
  <dc:creator>Seminar</dc:creator>
  <cp:lastModifiedBy>Gao, Ashley</cp:lastModifiedBy>
  <cp:revision>2</cp:revision>
  <dcterms:created xsi:type="dcterms:W3CDTF">2026-09-08T17:55:25Z</dcterms:created>
  <dcterms:modified xsi:type="dcterms:W3CDTF">2026-09-08T18:29:01Z</dcterms:modified>
</cp:coreProperties>
</file>