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3.xml" ContentType="application/vnd.openxmlformats-officedocument.drawingml.chart+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charts/chart5.xml" ContentType="application/vnd.openxmlformats-officedocument.drawingml.chart+xml"/>
  <Override PartName="/ppt/notesSlides/notesSlide19.xml" ContentType="application/vnd.openxmlformats-officedocument.presentationml.notesSlide+xml"/>
  <Override PartName="/ppt/charts/chart6.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8" r:id="rId3"/>
    <p:sldId id="259" r:id="rId4"/>
    <p:sldId id="260" r:id="rId5"/>
    <p:sldId id="261" r:id="rId6"/>
    <p:sldId id="262" r:id="rId7"/>
    <p:sldId id="263" r:id="rId8"/>
    <p:sldId id="264" r:id="rId9"/>
    <p:sldId id="265" r:id="rId10"/>
    <p:sldId id="266" r:id="rId11"/>
    <p:sldId id="267" r:id="rId12"/>
    <p:sldId id="280"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9" d="100"/>
          <a:sy n="119" d="100"/>
        </p:scale>
        <p:origin x="5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E5E48"/>
                </a:solidFill>
                <a:latin typeface="Calibri"/>
              </a:defRPr>
            </a:pPr>
            <a:r>
              <a:rPr lang="en-US" sz="1200" b="0" i="0" u="none" strike="noStrike">
                <a:solidFill>
                  <a:srgbClr val="6E5E48"/>
                </a:solidFill>
                <a:latin typeface="Calibri"/>
              </a:rPr>
              <a:t>How well ChatGPT-4o's labels match the gold annotations</a:t>
            </a:r>
          </a:p>
        </c:rich>
      </c:tx>
      <c:overlay val="0"/>
    </c:title>
    <c:autoTitleDeleted val="0"/>
    <c:plotArea>
      <c:layout/>
      <c:barChart>
        <c:barDir val="col"/>
        <c:grouping val="clustered"/>
        <c:varyColors val="0"/>
        <c:ser>
          <c:idx val="0"/>
          <c:order val="0"/>
          <c:tx>
            <c:strRef>
              <c:f>Sheet1!$B$1</c:f>
              <c:strCache>
                <c:ptCount val="1"/>
                <c:pt idx="0">
                  <c:v>No role-play</c:v>
                </c:pt>
              </c:strCache>
            </c:strRef>
          </c:tx>
          <c:spPr>
            <a:solidFill>
              <a:srgbClr val="C4B494"/>
            </a:solidFill>
            <a:effectLst/>
          </c:spPr>
          <c:invertIfNegative val="0"/>
          <c:dLbls>
            <c:numFmt formatCode="0.0" sourceLinked="0"/>
            <c:spPr>
              <a:noFill/>
              <a:ln>
                <a:noFill/>
              </a:ln>
              <a:effectLst/>
            </c:spPr>
            <c:txPr>
              <a:bodyPr/>
              <a:lstStyle/>
              <a:p>
                <a:pPr>
                  <a:defRPr sz="900" b="0" i="0" u="none" strike="noStrike">
                    <a:solidFill>
                      <a:srgbClr val="362A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Lessing's plays
(German, 18c)</c:v>
                </c:pt>
                <c:pt idx="1">
                  <c:v>Scandinavian novels
(19c)</c:v>
                </c:pt>
                <c:pt idx="2">
                  <c:v>Austrian newspapers
(German, 19c)</c:v>
                </c:pt>
                <c:pt idx="3">
                  <c:v>EvaLatin 2024
(Latin, 1st–19c)</c:v>
                </c:pt>
              </c:strCache>
            </c:strRef>
          </c:cat>
          <c:val>
            <c:numRef>
              <c:f>Sheet1!$B$2:$B$5</c:f>
              <c:numCache>
                <c:formatCode>General</c:formatCode>
                <c:ptCount val="4"/>
                <c:pt idx="0">
                  <c:v>78.44</c:v>
                </c:pt>
                <c:pt idx="1">
                  <c:v>79.040000000000006</c:v>
                </c:pt>
                <c:pt idx="2">
                  <c:v>54.84</c:v>
                </c:pt>
                <c:pt idx="3">
                  <c:v>41.56</c:v>
                </c:pt>
              </c:numCache>
            </c:numRef>
          </c:val>
          <c:extLst>
            <c:ext xmlns:c16="http://schemas.microsoft.com/office/drawing/2014/chart" uri="{C3380CC4-5D6E-409C-BE32-E72D297353CC}">
              <c16:uniqueId val="{00000000-C9A3-0C4B-85EB-35BE62B5874A}"/>
            </c:ext>
          </c:extLst>
        </c:ser>
        <c:ser>
          <c:idx val="1"/>
          <c:order val="1"/>
          <c:tx>
            <c:strRef>
              <c:f>Sheet1!$C$1</c:f>
              <c:strCache>
                <c:ptCount val="1"/>
                <c:pt idx="0">
                  <c:v>Modern role-play</c:v>
                </c:pt>
              </c:strCache>
            </c:strRef>
          </c:tx>
          <c:spPr>
            <a:solidFill>
              <a:srgbClr val="8A6A3E"/>
            </a:solidFill>
            <a:effectLst/>
          </c:spPr>
          <c:invertIfNegative val="0"/>
          <c:dLbls>
            <c:numFmt formatCode="0.0" sourceLinked="0"/>
            <c:spPr>
              <a:noFill/>
              <a:ln>
                <a:noFill/>
              </a:ln>
              <a:effectLst/>
            </c:spPr>
            <c:txPr>
              <a:bodyPr/>
              <a:lstStyle/>
              <a:p>
                <a:pPr>
                  <a:defRPr sz="900" b="0" i="0" u="none" strike="noStrike">
                    <a:solidFill>
                      <a:srgbClr val="362A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Lessing's plays
(German, 18c)</c:v>
                </c:pt>
                <c:pt idx="1">
                  <c:v>Scandinavian novels
(19c)</c:v>
                </c:pt>
                <c:pt idx="2">
                  <c:v>Austrian newspapers
(German, 19c)</c:v>
                </c:pt>
                <c:pt idx="3">
                  <c:v>EvaLatin 2024
(Latin, 1st–19c)</c:v>
                </c:pt>
              </c:strCache>
            </c:strRef>
          </c:cat>
          <c:val>
            <c:numRef>
              <c:f>Sheet1!$C$2:$C$5</c:f>
              <c:numCache>
                <c:formatCode>General</c:formatCode>
                <c:ptCount val="4"/>
                <c:pt idx="0">
                  <c:v>78.680000000000007</c:v>
                </c:pt>
                <c:pt idx="1">
                  <c:v>80.47</c:v>
                </c:pt>
                <c:pt idx="2">
                  <c:v>56.7</c:v>
                </c:pt>
                <c:pt idx="3">
                  <c:v>56.52</c:v>
                </c:pt>
              </c:numCache>
            </c:numRef>
          </c:val>
          <c:extLst>
            <c:ext xmlns:c16="http://schemas.microsoft.com/office/drawing/2014/chart" uri="{C3380CC4-5D6E-409C-BE32-E72D297353CC}">
              <c16:uniqueId val="{00000001-C9A3-0C4B-85EB-35BE62B5874A}"/>
            </c:ext>
          </c:extLst>
        </c:ser>
        <c:ser>
          <c:idx val="2"/>
          <c:order val="2"/>
          <c:tx>
            <c:strRef>
              <c:f>Sheet1!$D$1</c:f>
              <c:strCache>
                <c:ptCount val="1"/>
                <c:pt idx="0">
                  <c:v>Historical role-play</c:v>
                </c:pt>
              </c:strCache>
            </c:strRef>
          </c:tx>
          <c:spPr>
            <a:solidFill>
              <a:srgbClr val="2E7D74"/>
            </a:solidFill>
            <a:effectLst/>
          </c:spPr>
          <c:invertIfNegative val="0"/>
          <c:dLbls>
            <c:numFmt formatCode="0.0" sourceLinked="0"/>
            <c:spPr>
              <a:noFill/>
              <a:ln>
                <a:noFill/>
              </a:ln>
              <a:effectLst/>
            </c:spPr>
            <c:txPr>
              <a:bodyPr/>
              <a:lstStyle/>
              <a:p>
                <a:pPr>
                  <a:defRPr sz="900" b="0" i="0" u="none" strike="noStrike">
                    <a:solidFill>
                      <a:srgbClr val="362A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Lessing's plays
(German, 18c)</c:v>
                </c:pt>
                <c:pt idx="1">
                  <c:v>Scandinavian novels
(19c)</c:v>
                </c:pt>
                <c:pt idx="2">
                  <c:v>Austrian newspapers
(German, 19c)</c:v>
                </c:pt>
                <c:pt idx="3">
                  <c:v>EvaLatin 2024
(Latin, 1st–19c)</c:v>
                </c:pt>
              </c:strCache>
            </c:strRef>
          </c:cat>
          <c:val>
            <c:numRef>
              <c:f>Sheet1!$D$2:$D$5</c:f>
              <c:numCache>
                <c:formatCode>General</c:formatCode>
                <c:ptCount val="4"/>
                <c:pt idx="0">
                  <c:v>80.069999999999993</c:v>
                </c:pt>
                <c:pt idx="1">
                  <c:v>81.25</c:v>
                </c:pt>
                <c:pt idx="2">
                  <c:v>66.27</c:v>
                </c:pt>
                <c:pt idx="3">
                  <c:v>58.3</c:v>
                </c:pt>
              </c:numCache>
            </c:numRef>
          </c:val>
          <c:extLst>
            <c:ext xmlns:c16="http://schemas.microsoft.com/office/drawing/2014/chart" uri="{C3380CC4-5D6E-409C-BE32-E72D297353CC}">
              <c16:uniqueId val="{00000002-C9A3-0C4B-85EB-35BE62B5874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E5E4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F0E9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5E4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E5E48"/>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E5E48"/>
                </a:solidFill>
                <a:latin typeface="Calibri"/>
              </a:defRPr>
            </a:pPr>
            <a:r>
              <a:rPr lang="en-US" sz="1200" b="0" i="0" u="none" strike="noStrike">
                <a:solidFill>
                  <a:srgbClr val="6E5E48"/>
                </a:solidFill>
                <a:latin typeface="Calibri"/>
              </a:rPr>
              <a:t>Decomposition of the annotation-quality gains in macro-F1 points</a:t>
            </a:r>
          </a:p>
        </c:rich>
      </c:tx>
      <c:overlay val="0"/>
    </c:title>
    <c:autoTitleDeleted val="0"/>
    <c:plotArea>
      <c:layout/>
      <c:barChart>
        <c:barDir val="col"/>
        <c:grouping val="clustered"/>
        <c:varyColors val="0"/>
        <c:ser>
          <c:idx val="0"/>
          <c:order val="0"/>
          <c:tx>
            <c:strRef>
              <c:f>Sheet1!$B$1</c:f>
              <c:strCache>
                <c:ptCount val="1"/>
                <c:pt idx="0">
                  <c:v>Gain from any role-play (no RP → modern RP)</c:v>
                </c:pt>
              </c:strCache>
            </c:strRef>
          </c:tx>
          <c:spPr>
            <a:solidFill>
              <a:srgbClr val="8A6A3E"/>
            </a:solidFill>
            <a:effectLst/>
          </c:spPr>
          <c:invertIfNegative val="0"/>
          <c:dLbls>
            <c:numFmt formatCode="0.0" sourceLinked="0"/>
            <c:spPr>
              <a:noFill/>
              <a:ln>
                <a:noFill/>
              </a:ln>
              <a:effectLst/>
            </c:spPr>
            <c:txPr>
              <a:bodyPr/>
              <a:lstStyle/>
              <a:p>
                <a:pPr>
                  <a:defRPr sz="1000" b="0" i="0" u="none" strike="noStrike">
                    <a:solidFill>
                      <a:srgbClr val="362A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Lessing's plays</c:v>
                </c:pt>
                <c:pt idx="1">
                  <c:v>Scandinavian novels</c:v>
                </c:pt>
                <c:pt idx="2">
                  <c:v>Austrian newspapers</c:v>
                </c:pt>
                <c:pt idx="3">
                  <c:v>EvaLatin 2024</c:v>
                </c:pt>
              </c:strCache>
            </c:strRef>
          </c:cat>
          <c:val>
            <c:numRef>
              <c:f>Sheet1!$B$2:$B$5</c:f>
              <c:numCache>
                <c:formatCode>General</c:formatCode>
                <c:ptCount val="4"/>
                <c:pt idx="0">
                  <c:v>0.24</c:v>
                </c:pt>
                <c:pt idx="1">
                  <c:v>1.43</c:v>
                </c:pt>
                <c:pt idx="2">
                  <c:v>1.86</c:v>
                </c:pt>
                <c:pt idx="3">
                  <c:v>14.96</c:v>
                </c:pt>
              </c:numCache>
            </c:numRef>
          </c:val>
          <c:extLst>
            <c:ext xmlns:c16="http://schemas.microsoft.com/office/drawing/2014/chart" uri="{C3380CC4-5D6E-409C-BE32-E72D297353CC}">
              <c16:uniqueId val="{00000000-F2F0-CE46-B95C-4E8ECB7D6222}"/>
            </c:ext>
          </c:extLst>
        </c:ser>
        <c:ser>
          <c:idx val="1"/>
          <c:order val="1"/>
          <c:tx>
            <c:strRef>
              <c:f>Sheet1!$C$1</c:f>
              <c:strCache>
                <c:ptCount val="1"/>
                <c:pt idx="0">
                  <c:v>Further gain from making it historical</c:v>
                </c:pt>
              </c:strCache>
            </c:strRef>
          </c:tx>
          <c:spPr>
            <a:solidFill>
              <a:srgbClr val="2E7D74"/>
            </a:solidFill>
            <a:effectLst/>
          </c:spPr>
          <c:invertIfNegative val="0"/>
          <c:dLbls>
            <c:numFmt formatCode="0.0" sourceLinked="0"/>
            <c:spPr>
              <a:noFill/>
              <a:ln>
                <a:noFill/>
              </a:ln>
              <a:effectLst/>
            </c:spPr>
            <c:txPr>
              <a:bodyPr/>
              <a:lstStyle/>
              <a:p>
                <a:pPr>
                  <a:defRPr sz="1000" b="0" i="0" u="none" strike="noStrike">
                    <a:solidFill>
                      <a:srgbClr val="362A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Lessing's plays</c:v>
                </c:pt>
                <c:pt idx="1">
                  <c:v>Scandinavian novels</c:v>
                </c:pt>
                <c:pt idx="2">
                  <c:v>Austrian newspapers</c:v>
                </c:pt>
                <c:pt idx="3">
                  <c:v>EvaLatin 2024</c:v>
                </c:pt>
              </c:strCache>
            </c:strRef>
          </c:cat>
          <c:val>
            <c:numRef>
              <c:f>Sheet1!$C$2:$C$5</c:f>
              <c:numCache>
                <c:formatCode>General</c:formatCode>
                <c:ptCount val="4"/>
                <c:pt idx="0">
                  <c:v>1.39</c:v>
                </c:pt>
                <c:pt idx="1">
                  <c:v>0.78</c:v>
                </c:pt>
                <c:pt idx="2">
                  <c:v>9.57</c:v>
                </c:pt>
                <c:pt idx="3">
                  <c:v>1.78</c:v>
                </c:pt>
              </c:numCache>
            </c:numRef>
          </c:val>
          <c:extLst>
            <c:ext xmlns:c16="http://schemas.microsoft.com/office/drawing/2014/chart" uri="{C3380CC4-5D6E-409C-BE32-E72D297353CC}">
              <c16:uniqueId val="{00000001-F2F0-CE46-B95C-4E8ECB7D622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5E4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F0E9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5E4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E5E48"/>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E5E48"/>
                </a:solidFill>
                <a:latin typeface="Calibri"/>
              </a:defRPr>
            </a:pPr>
            <a:r>
              <a:rPr sz="1200" b="0" i="0" u="none" strike="noStrike">
                <a:solidFill>
                  <a:srgbClr val="6E5E48"/>
                </a:solidFill>
                <a:latin typeface="Calibri"/>
              </a:rPr>
              <a:t>Higher is better — all five backbones improve</a:t>
            </a:r>
          </a:p>
        </c:rich>
      </c:tx>
      <c:overlay val="0"/>
    </c:title>
    <c:autoTitleDeleted val="0"/>
    <c:plotArea>
      <c:layout/>
      <c:barChart>
        <c:barDir val="col"/>
        <c:grouping val="clustered"/>
        <c:varyColors val="0"/>
        <c:ser>
          <c:idx val="0"/>
          <c:order val="0"/>
          <c:tx>
            <c:strRef>
              <c:f>Sheet1!$B$1</c:f>
              <c:strCache>
                <c:ptCount val="1"/>
                <c:pt idx="0">
                  <c:v>Direct fine-tuning</c:v>
                </c:pt>
              </c:strCache>
            </c:strRef>
          </c:tx>
          <c:spPr>
            <a:solidFill>
              <a:srgbClr val="C4B494"/>
            </a:solidFill>
            <a:effectLst/>
          </c:spPr>
          <c:invertIfNegative val="0"/>
          <c:dLbls>
            <c:numFmt formatCode="0.00" sourceLinked="0"/>
            <c:spPr>
              <a:noFill/>
              <a:ln>
                <a:noFill/>
              </a:ln>
              <a:effectLst/>
            </c:spPr>
            <c:txPr>
              <a:bodyPr/>
              <a:lstStyle/>
              <a:p>
                <a:pPr>
                  <a:defRPr sz="1000" b="0" i="0" u="none" strike="noStrike">
                    <a:solidFill>
                      <a:srgbClr val="362A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XLM-R-base
(270M)</c:v>
                </c:pt>
                <c:pt idx="1">
                  <c:v>InfoXLM-base
(270M)</c:v>
                </c:pt>
                <c:pt idx="2">
                  <c:v>RemBERT
(575M)</c:v>
                </c:pt>
                <c:pt idx="3">
                  <c:v>InfoXLM-large
(550M)</c:v>
                </c:pt>
                <c:pt idx="4">
                  <c:v>XLM-R-large
(550M)</c:v>
                </c:pt>
              </c:strCache>
            </c:strRef>
          </c:cat>
          <c:val>
            <c:numRef>
              <c:f>Sheet1!$B$2:$B$6</c:f>
              <c:numCache>
                <c:formatCode>General</c:formatCode>
                <c:ptCount val="5"/>
                <c:pt idx="0">
                  <c:v>53.21</c:v>
                </c:pt>
                <c:pt idx="1">
                  <c:v>51.82</c:v>
                </c:pt>
                <c:pt idx="2">
                  <c:v>52.04</c:v>
                </c:pt>
                <c:pt idx="3">
                  <c:v>54.81</c:v>
                </c:pt>
                <c:pt idx="4">
                  <c:v>57.64</c:v>
                </c:pt>
              </c:numCache>
            </c:numRef>
          </c:val>
          <c:extLst>
            <c:ext xmlns:c16="http://schemas.microsoft.com/office/drawing/2014/chart" uri="{C3380CC4-5D6E-409C-BE32-E72D297353CC}">
              <c16:uniqueId val="{00000000-BE3D-334B-AE96-4B4C5BECEB3B}"/>
            </c:ext>
          </c:extLst>
        </c:ser>
        <c:ser>
          <c:idx val="1"/>
          <c:order val="1"/>
          <c:tx>
            <c:strRef>
              <c:f>Sheet1!$C$1</c:f>
              <c:strCache>
                <c:ptCount val="1"/>
                <c:pt idx="0">
                  <c:v>RAPA</c:v>
                </c:pt>
              </c:strCache>
            </c:strRef>
          </c:tx>
          <c:spPr>
            <a:solidFill>
              <a:srgbClr val="2E7D74"/>
            </a:solidFill>
            <a:effectLst/>
          </c:spPr>
          <c:invertIfNegative val="0"/>
          <c:dLbls>
            <c:numFmt formatCode="0.00" sourceLinked="0"/>
            <c:spPr>
              <a:noFill/>
              <a:ln>
                <a:noFill/>
              </a:ln>
              <a:effectLst/>
            </c:spPr>
            <c:txPr>
              <a:bodyPr/>
              <a:lstStyle/>
              <a:p>
                <a:pPr>
                  <a:defRPr sz="1000" b="0" i="0" u="none" strike="noStrike">
                    <a:solidFill>
                      <a:srgbClr val="362A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XLM-R-base
(270M)</c:v>
                </c:pt>
                <c:pt idx="1">
                  <c:v>InfoXLM-base
(270M)</c:v>
                </c:pt>
                <c:pt idx="2">
                  <c:v>RemBERT
(575M)</c:v>
                </c:pt>
                <c:pt idx="3">
                  <c:v>InfoXLM-large
(550M)</c:v>
                </c:pt>
                <c:pt idx="4">
                  <c:v>XLM-R-large
(550M)</c:v>
                </c:pt>
              </c:strCache>
            </c:strRef>
          </c:cat>
          <c:val>
            <c:numRef>
              <c:f>Sheet1!$C$2:$C$6</c:f>
              <c:numCache>
                <c:formatCode>General</c:formatCode>
                <c:ptCount val="5"/>
                <c:pt idx="0">
                  <c:v>55.26</c:v>
                </c:pt>
                <c:pt idx="1">
                  <c:v>53.22</c:v>
                </c:pt>
                <c:pt idx="2">
                  <c:v>56.18</c:v>
                </c:pt>
                <c:pt idx="3">
                  <c:v>60.37</c:v>
                </c:pt>
                <c:pt idx="4">
                  <c:v>60.82</c:v>
                </c:pt>
              </c:numCache>
            </c:numRef>
          </c:val>
          <c:extLst>
            <c:ext xmlns:c16="http://schemas.microsoft.com/office/drawing/2014/chart" uri="{C3380CC4-5D6E-409C-BE32-E72D297353CC}">
              <c16:uniqueId val="{00000001-BE3D-334B-AE96-4B4C5BECEB3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E5E48"/>
                </a:solidFill>
                <a:latin typeface="Arial"/>
              </a:defRPr>
            </a:pPr>
            <a:endParaRPr lang="en-US"/>
          </a:p>
        </c:txPr>
        <c:crossAx val="2094734552"/>
        <c:crosses val="autoZero"/>
        <c:auto val="1"/>
        <c:lblAlgn val="ctr"/>
        <c:lblOffset val="100"/>
        <c:noMultiLvlLbl val="1"/>
      </c:catAx>
      <c:valAx>
        <c:axId val="2094734552"/>
        <c:scaling>
          <c:orientation val="minMax"/>
          <c:max val="70"/>
          <c:min val="40"/>
        </c:scaling>
        <c:delete val="0"/>
        <c:axPos val="l"/>
        <c:majorGridlines>
          <c:spPr>
            <a:ln w="12700" cap="flat">
              <a:solidFill>
                <a:srgbClr val="F0E9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5E4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6E5E48"/>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6E5E48"/>
                </a:solidFill>
                <a:latin typeface="Calibri"/>
              </a:defRPr>
            </a:pPr>
            <a:r>
              <a:rPr sz="1150" b="0" i="0" u="none" strike="noStrike">
                <a:solidFill>
                  <a:srgbClr val="6E5E48"/>
                </a:solidFill>
                <a:latin typeface="Calibri"/>
              </a:rPr>
              <a:t>Selected cells — the first three are losses, the last two are the largest gains</a:t>
            </a:r>
          </a:p>
        </c:rich>
      </c:tx>
      <c:overlay val="0"/>
    </c:title>
    <c:autoTitleDeleted val="0"/>
    <c:plotArea>
      <c:layout/>
      <c:barChart>
        <c:barDir val="col"/>
        <c:grouping val="clustered"/>
        <c:varyColors val="0"/>
        <c:ser>
          <c:idx val="0"/>
          <c:order val="0"/>
          <c:tx>
            <c:strRef>
              <c:f>Sheet1!$B$1</c:f>
              <c:strCache>
                <c:ptCount val="1"/>
                <c:pt idx="0">
                  <c:v>Direct fine-tuning</c:v>
                </c:pt>
              </c:strCache>
            </c:strRef>
          </c:tx>
          <c:spPr>
            <a:solidFill>
              <a:srgbClr val="C4B494"/>
            </a:solidFill>
            <a:effectLst/>
          </c:spPr>
          <c:invertIfNegative val="0"/>
          <c:dLbls>
            <c:numFmt formatCode="0.0" sourceLinked="0"/>
            <c:spPr>
              <a:noFill/>
              <a:ln>
                <a:noFill/>
              </a:ln>
              <a:effectLst/>
            </c:spPr>
            <c:txPr>
              <a:bodyPr/>
              <a:lstStyle/>
              <a:p>
                <a:pPr>
                  <a:defRPr sz="1000" b="0" i="0" u="none" strike="noStrike">
                    <a:solidFill>
                      <a:srgbClr val="362A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Lessing
XLM-R-large</c:v>
                </c:pt>
                <c:pt idx="1">
                  <c:v>Lessing
InfoXLM-base</c:v>
                </c:pt>
                <c:pt idx="2">
                  <c:v>Novels
InfoXLM-large</c:v>
                </c:pt>
                <c:pt idx="3">
                  <c:v>Austrian news
InfoXLM-large</c:v>
                </c:pt>
                <c:pt idx="4">
                  <c:v>EvaLatin
XLM-R-large</c:v>
                </c:pt>
              </c:strCache>
            </c:strRef>
          </c:cat>
          <c:val>
            <c:numRef>
              <c:f>Sheet1!$B$2:$B$6</c:f>
              <c:numCache>
                <c:formatCode>General</c:formatCode>
                <c:ptCount val="5"/>
                <c:pt idx="0">
                  <c:v>73.5</c:v>
                </c:pt>
                <c:pt idx="1">
                  <c:v>68.89</c:v>
                </c:pt>
                <c:pt idx="2">
                  <c:v>73.25</c:v>
                </c:pt>
                <c:pt idx="3">
                  <c:v>45.08</c:v>
                </c:pt>
                <c:pt idx="4">
                  <c:v>37.54</c:v>
                </c:pt>
              </c:numCache>
            </c:numRef>
          </c:val>
          <c:extLst>
            <c:ext xmlns:c16="http://schemas.microsoft.com/office/drawing/2014/chart" uri="{C3380CC4-5D6E-409C-BE32-E72D297353CC}">
              <c16:uniqueId val="{00000000-9771-EB44-957F-348D48E9915F}"/>
            </c:ext>
          </c:extLst>
        </c:ser>
        <c:ser>
          <c:idx val="1"/>
          <c:order val="1"/>
          <c:tx>
            <c:strRef>
              <c:f>Sheet1!$C$1</c:f>
              <c:strCache>
                <c:ptCount val="1"/>
                <c:pt idx="0">
                  <c:v>RAPA</c:v>
                </c:pt>
              </c:strCache>
            </c:strRef>
          </c:tx>
          <c:spPr>
            <a:solidFill>
              <a:srgbClr val="2E7D74"/>
            </a:solidFill>
            <a:effectLst/>
          </c:spPr>
          <c:invertIfNegative val="0"/>
          <c:dLbls>
            <c:numFmt formatCode="0.0" sourceLinked="0"/>
            <c:spPr>
              <a:noFill/>
              <a:ln>
                <a:noFill/>
              </a:ln>
              <a:effectLst/>
            </c:spPr>
            <c:txPr>
              <a:bodyPr/>
              <a:lstStyle/>
              <a:p>
                <a:pPr>
                  <a:defRPr sz="1000" b="0" i="0" u="none" strike="noStrike">
                    <a:solidFill>
                      <a:srgbClr val="362A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Lessing
XLM-R-large</c:v>
                </c:pt>
                <c:pt idx="1">
                  <c:v>Lessing
InfoXLM-base</c:v>
                </c:pt>
                <c:pt idx="2">
                  <c:v>Novels
InfoXLM-large</c:v>
                </c:pt>
                <c:pt idx="3">
                  <c:v>Austrian news
InfoXLM-large</c:v>
                </c:pt>
                <c:pt idx="4">
                  <c:v>EvaLatin
XLM-R-large</c:v>
                </c:pt>
              </c:strCache>
            </c:strRef>
          </c:cat>
          <c:val>
            <c:numRef>
              <c:f>Sheet1!$C$2:$C$6</c:f>
              <c:numCache>
                <c:formatCode>General</c:formatCode>
                <c:ptCount val="5"/>
                <c:pt idx="0">
                  <c:v>70.98</c:v>
                </c:pt>
                <c:pt idx="1">
                  <c:v>63.74</c:v>
                </c:pt>
                <c:pt idx="2">
                  <c:v>70.38</c:v>
                </c:pt>
                <c:pt idx="3">
                  <c:v>57.4</c:v>
                </c:pt>
                <c:pt idx="4">
                  <c:v>44.34</c:v>
                </c:pt>
              </c:numCache>
            </c:numRef>
          </c:val>
          <c:extLst>
            <c:ext xmlns:c16="http://schemas.microsoft.com/office/drawing/2014/chart" uri="{C3380CC4-5D6E-409C-BE32-E72D297353CC}">
              <c16:uniqueId val="{00000001-9771-EB44-957F-348D48E9915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E5E4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F0E9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5E4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6E5E48"/>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E5E48"/>
                </a:solidFill>
                <a:latin typeface="Calibri"/>
              </a:defRPr>
            </a:pPr>
            <a:r>
              <a:rPr sz="1200" b="0" i="0" u="none" strike="noStrike">
                <a:solidFill>
                  <a:srgbClr val="6E5E48"/>
                </a:solidFill>
                <a:latin typeface="Calibri"/>
              </a:rPr>
              <a:t>Downstream figures from XLM-R-base with prototype alignment</a:t>
            </a:r>
          </a:p>
        </c:rich>
      </c:tx>
      <c:overlay val="0"/>
    </c:title>
    <c:autoTitleDeleted val="0"/>
    <c:plotArea>
      <c:layout/>
      <c:barChart>
        <c:barDir val="col"/>
        <c:grouping val="clustered"/>
        <c:varyColors val="0"/>
        <c:ser>
          <c:idx val="0"/>
          <c:order val="0"/>
          <c:tx>
            <c:strRef>
              <c:f>Sheet1!$B$1</c:f>
              <c:strCache>
                <c:ptCount val="1"/>
                <c:pt idx="0">
                  <c:v>Annotation-quality gain from role-play</c:v>
                </c:pt>
              </c:strCache>
            </c:strRef>
          </c:tx>
          <c:spPr>
            <a:solidFill>
              <a:srgbClr val="8A6A3E"/>
            </a:solidFill>
            <a:effectLst/>
          </c:spPr>
          <c:invertIfNegative val="0"/>
          <c:dLbls>
            <c:numFmt formatCode="0.0" sourceLinked="0"/>
            <c:spPr>
              <a:noFill/>
              <a:ln>
                <a:noFill/>
              </a:ln>
              <a:effectLst/>
            </c:spPr>
            <c:txPr>
              <a:bodyPr/>
              <a:lstStyle/>
              <a:p>
                <a:pPr>
                  <a:defRPr sz="1050" b="0" i="0" u="none" strike="noStrike">
                    <a:solidFill>
                      <a:srgbClr val="362A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Lessing's plays</c:v>
                </c:pt>
                <c:pt idx="1">
                  <c:v>Scandinavian novels</c:v>
                </c:pt>
                <c:pt idx="2">
                  <c:v>Austrian newspapers</c:v>
                </c:pt>
                <c:pt idx="3">
                  <c:v>EvaLatin 2024</c:v>
                </c:pt>
              </c:strCache>
            </c:strRef>
          </c:cat>
          <c:val>
            <c:numRef>
              <c:f>Sheet1!$B$2:$B$5</c:f>
              <c:numCache>
                <c:formatCode>General</c:formatCode>
                <c:ptCount val="4"/>
                <c:pt idx="0">
                  <c:v>1.63</c:v>
                </c:pt>
                <c:pt idx="1">
                  <c:v>2.21</c:v>
                </c:pt>
                <c:pt idx="2">
                  <c:v>11.43</c:v>
                </c:pt>
                <c:pt idx="3">
                  <c:v>16.739999999999998</c:v>
                </c:pt>
              </c:numCache>
            </c:numRef>
          </c:val>
          <c:extLst>
            <c:ext xmlns:c16="http://schemas.microsoft.com/office/drawing/2014/chart" uri="{C3380CC4-5D6E-409C-BE32-E72D297353CC}">
              <c16:uniqueId val="{00000000-846A-DD4A-83CE-F2DB91DEB31C}"/>
            </c:ext>
          </c:extLst>
        </c:ser>
        <c:ser>
          <c:idx val="1"/>
          <c:order val="1"/>
          <c:tx>
            <c:strRef>
              <c:f>Sheet1!$C$1</c:f>
              <c:strCache>
                <c:ptCount val="1"/>
                <c:pt idx="0">
                  <c:v>Downstream macro-F1 gain from the same labels</c:v>
                </c:pt>
              </c:strCache>
            </c:strRef>
          </c:tx>
          <c:spPr>
            <a:solidFill>
              <a:srgbClr val="2E7D74"/>
            </a:solidFill>
            <a:effectLst/>
          </c:spPr>
          <c:invertIfNegative val="0"/>
          <c:dLbls>
            <c:numFmt formatCode="0.0" sourceLinked="0"/>
            <c:spPr>
              <a:noFill/>
              <a:ln>
                <a:noFill/>
              </a:ln>
              <a:effectLst/>
            </c:spPr>
            <c:txPr>
              <a:bodyPr/>
              <a:lstStyle/>
              <a:p>
                <a:pPr>
                  <a:defRPr sz="1050" b="0" i="0" u="none" strike="noStrike">
                    <a:solidFill>
                      <a:srgbClr val="362A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Lessing's plays</c:v>
                </c:pt>
                <c:pt idx="1">
                  <c:v>Scandinavian novels</c:v>
                </c:pt>
                <c:pt idx="2">
                  <c:v>Austrian newspapers</c:v>
                </c:pt>
                <c:pt idx="3">
                  <c:v>EvaLatin 2024</c:v>
                </c:pt>
              </c:strCache>
            </c:strRef>
          </c:cat>
          <c:val>
            <c:numRef>
              <c:f>Sheet1!$C$2:$C$5</c:f>
              <c:numCache>
                <c:formatCode>General</c:formatCode>
                <c:ptCount val="4"/>
                <c:pt idx="0">
                  <c:v>1.83</c:v>
                </c:pt>
                <c:pt idx="1">
                  <c:v>6.65</c:v>
                </c:pt>
                <c:pt idx="2">
                  <c:v>2.86</c:v>
                </c:pt>
                <c:pt idx="3">
                  <c:v>-1.57</c:v>
                </c:pt>
              </c:numCache>
            </c:numRef>
          </c:val>
          <c:extLst>
            <c:ext xmlns:c16="http://schemas.microsoft.com/office/drawing/2014/chart" uri="{C3380CC4-5D6E-409C-BE32-E72D297353CC}">
              <c16:uniqueId val="{00000001-846A-DD4A-83CE-F2DB91DEB31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5E4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F0E9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5E4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E5E48"/>
              </a:solidFill>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6E5E48"/>
                </a:solidFill>
                <a:latin typeface="Calibri"/>
              </a:defRPr>
            </a:pPr>
            <a:r>
              <a:rPr sz="1150" b="0" i="0" u="none" strike="noStrike">
                <a:solidFill>
                  <a:srgbClr val="6E5E48"/>
                </a:solidFill>
                <a:latin typeface="Calibri"/>
              </a:rPr>
              <a:t>Removing the high-resource anchors costs on all four corpora</a:t>
            </a:r>
          </a:p>
        </c:rich>
      </c:tx>
      <c:overlay val="0"/>
    </c:title>
    <c:autoTitleDeleted val="0"/>
    <c:plotArea>
      <c:layout/>
      <c:barChart>
        <c:barDir val="col"/>
        <c:grouping val="clustered"/>
        <c:varyColors val="0"/>
        <c:ser>
          <c:idx val="0"/>
          <c:order val="0"/>
          <c:tx>
            <c:strRef>
              <c:f>Sheet1!$B$1</c:f>
              <c:strCache>
                <c:ptCount val="1"/>
                <c:pt idx="0">
                  <c:v>Low-resource prototypes only</c:v>
                </c:pt>
              </c:strCache>
            </c:strRef>
          </c:tx>
          <c:spPr>
            <a:solidFill>
              <a:srgbClr val="C4B494"/>
            </a:solidFill>
            <a:effectLst/>
          </c:spPr>
          <c:invertIfNegative val="0"/>
          <c:dLbls>
            <c:numFmt formatCode="0.0" sourceLinked="0"/>
            <c:spPr>
              <a:noFill/>
              <a:ln>
                <a:noFill/>
              </a:ln>
              <a:effectLst/>
            </c:spPr>
            <c:txPr>
              <a:bodyPr/>
              <a:lstStyle/>
              <a:p>
                <a:pPr>
                  <a:defRPr sz="1000" b="0" i="0" u="none" strike="noStrike">
                    <a:solidFill>
                      <a:srgbClr val="362A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Lessing</c:v>
                </c:pt>
                <c:pt idx="1">
                  <c:v>Novels</c:v>
                </c:pt>
                <c:pt idx="2">
                  <c:v>Austrian news</c:v>
                </c:pt>
                <c:pt idx="3">
                  <c:v>EvaLatin</c:v>
                </c:pt>
              </c:strCache>
            </c:strRef>
          </c:cat>
          <c:val>
            <c:numRef>
              <c:f>Sheet1!$B$2:$B$5</c:f>
              <c:numCache>
                <c:formatCode>General</c:formatCode>
                <c:ptCount val="4"/>
                <c:pt idx="0">
                  <c:v>65.97</c:v>
                </c:pt>
                <c:pt idx="1">
                  <c:v>71.760000000000005</c:v>
                </c:pt>
                <c:pt idx="2">
                  <c:v>44.52</c:v>
                </c:pt>
                <c:pt idx="3">
                  <c:v>31.97</c:v>
                </c:pt>
              </c:numCache>
            </c:numRef>
          </c:val>
          <c:extLst>
            <c:ext xmlns:c16="http://schemas.microsoft.com/office/drawing/2014/chart" uri="{C3380CC4-5D6E-409C-BE32-E72D297353CC}">
              <c16:uniqueId val="{00000000-C3FB-304E-8F33-637DBC9846A2}"/>
            </c:ext>
          </c:extLst>
        </c:ser>
        <c:ser>
          <c:idx val="1"/>
          <c:order val="1"/>
          <c:tx>
            <c:strRef>
              <c:f>Sheet1!$C$1</c:f>
              <c:strCache>
                <c:ptCount val="1"/>
                <c:pt idx="0">
                  <c:v>RAPA (aligned to high-resource anchors)</c:v>
                </c:pt>
              </c:strCache>
            </c:strRef>
          </c:tx>
          <c:spPr>
            <a:solidFill>
              <a:srgbClr val="2E7D74"/>
            </a:solidFill>
            <a:effectLst/>
          </c:spPr>
          <c:invertIfNegative val="0"/>
          <c:dLbls>
            <c:numFmt formatCode="0.0" sourceLinked="0"/>
            <c:spPr>
              <a:noFill/>
              <a:ln>
                <a:noFill/>
              </a:ln>
              <a:effectLst/>
            </c:spPr>
            <c:txPr>
              <a:bodyPr/>
              <a:lstStyle/>
              <a:p>
                <a:pPr>
                  <a:defRPr sz="1000" b="0" i="0" u="none" strike="noStrike">
                    <a:solidFill>
                      <a:srgbClr val="362A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Lessing</c:v>
                </c:pt>
                <c:pt idx="1">
                  <c:v>Novels</c:v>
                </c:pt>
                <c:pt idx="2">
                  <c:v>Austrian news</c:v>
                </c:pt>
                <c:pt idx="3">
                  <c:v>EvaLatin</c:v>
                </c:pt>
              </c:strCache>
            </c:strRef>
          </c:cat>
          <c:val>
            <c:numRef>
              <c:f>Sheet1!$C$2:$C$5</c:f>
              <c:numCache>
                <c:formatCode>General</c:formatCode>
                <c:ptCount val="4"/>
                <c:pt idx="0">
                  <c:v>69.349999999999994</c:v>
                </c:pt>
                <c:pt idx="1">
                  <c:v>73.58</c:v>
                </c:pt>
                <c:pt idx="2">
                  <c:v>45.07</c:v>
                </c:pt>
                <c:pt idx="3">
                  <c:v>33.04</c:v>
                </c:pt>
              </c:numCache>
            </c:numRef>
          </c:val>
          <c:extLst>
            <c:ext xmlns:c16="http://schemas.microsoft.com/office/drawing/2014/chart" uri="{C3380CC4-5D6E-409C-BE32-E72D297353CC}">
              <c16:uniqueId val="{00000001-C3FB-304E-8F33-637DBC9846A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5E48"/>
                </a:solidFill>
                <a:latin typeface="Arial"/>
              </a:defRPr>
            </a:pPr>
            <a:endParaRPr lang="en-US"/>
          </a:p>
        </c:txPr>
        <c:crossAx val="2094734552"/>
        <c:crosses val="autoZero"/>
        <c:auto val="1"/>
        <c:lblAlgn val="ctr"/>
        <c:lblOffset val="100"/>
        <c:noMultiLvlLbl val="1"/>
      </c:catAx>
      <c:valAx>
        <c:axId val="2094734552"/>
        <c:scaling>
          <c:orientation val="minMax"/>
          <c:max val="80"/>
          <c:min val="20"/>
        </c:scaling>
        <c:delete val="0"/>
        <c:axPos val="l"/>
        <c:majorGridlines>
          <c:spPr>
            <a:ln w="12700" cap="flat">
              <a:solidFill>
                <a:srgbClr val="F0E9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5E4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6E5E48"/>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7608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Opening.
Pick up from CCoT-Emo. That paper imposed structure on the *input* to a frozen model. This one imposes structure on the *supervision* — on how an LLM is asked to produce labels in the first place — and then builds machinery to survive the fact that those labels are still wrong some of the time.
Note the author list: a literature professor from UC San Diego is the third author. That matters for the paper and is worth saying — the role-play prompts are not generic personas, they encode domain knowledge about how sentiment was expressed in specific periods.
Also note this is the first paper in the entire series with no audio in it at all. It is here because the problem is the same one we have been circling since the corpora sessions: where do affective labels come from, and what do you do when they are unreliable?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[2:00–4:00] Stakes.
The dark card is the reason this paper is in the syllabus despite having no audio. We have spent the term documenting that affective labels are noisy and then evaluating against them anyway. This paper assumes from the start that the labels are wrong and designs around it.
The zero-human-annotation figure is worth dwelling on. The test sets have gold human labels, but everything used for fine-tuning is machine-generated. That is the low-resource setting taken seriously.
The Latin figure previews the inversion: the biggest annotation gain, and as we will see, no downstream gain at all.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[4:10–6:20] The two problems.
The first problem is the conceptually interesting one and connects to something we established in the corpora sessions: emotion labels encode the annotator's frame, not just the signal. IEMOCAP's naive raters brought their own expectations; here the annotator is GPT-4o and its frame is 2024.
The second problem is the practical one and is the same move LTU made in a different domain: treat LLM-generated supervision as noisy by construction and design for it.
The dark card explains why the easy option is closed. For 19th-century Scandinavian or first-century Latin there is no SentiWordNet. That is what makes this genuinely low-resource rather than merely small.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[6:20–8:20] Semantic drift.
This slide is where the humanities co-author shows. The distinction between lexical drift and rhetorical change is not something a pure NLP framing would reach for, and it is the better half of the argument.
The dark card is the technically interesting bit. Most role-play prompting in the literature is additive — 'you are an expert in X'. Here there is a subtractive component: a sentence that removes knowledge rather than adding it. Whether a language model can meaningfully not-know something it knows is an open question, and the results give us partial evidence.
Good moment to ask the room: is this plausible as a mechanism, or is it just a style instruction dressed up as an epistemic 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[8:20–8:30]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[8:30–11:00] The prompt. Protect this slide — it is the paper's most concrete artefact.
Read the prompt aloud. It is short and it repays attention.
The three components in the first bullet are worth separating, because the ablation only tests role-play as a whole. The persona, the constraint and the interpretive criteria could each be ablated separately and are not.
The dark card is the honest accounting of where the expertise lives. These prompts are not generic — they contain claims about how to read specific corpora. That is a strength for the results and a limitation for scalability, and the paper says so in its limitations section.
Connect to the previous talk: CCoT-Emo also hand-designs its structure. Both papers put human knowledge into the prompt rather than into the weights.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[11:00–13:30] Annotation quality.
This is the better-controlled of the paper's two main experiments, and it should be presented as such. One variable changes.
The unevenness in the second bullet is the interesting structure. Role-play is close to free on the corpora GPT-4o already handles and transformative on the ones it does not — which is the pattern you would want from a method that supplies missing context.
The middle series sets up the next slide, which is the finding I think the paper under-reports.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[13:30–16:00] Modern versus historical. Protect this slide — it is a decomposition the paper does not make.
Compute the numbers live if you can: 56.52 minus 41.56 is 14.96; 58.30 minus 56.52 is 1.78. The modern persona does almost all the work on Latin.
Be careful about the conclusion. This does not undercut the paper — historical role-play is still best everywhere. What it shows is that the mechanism is not uniform, and 'historical situatedness helps' is too coarse a summary.
The dark card offers an explanation and should be flagged as a hypothesis. The Austrian prompt explicitly instructs the model not to apply 20th or 21st-century political values, which is exactly the failure mode you would expect on that corpus and not on Catullus.
Good discussion material: what other corpora would you predict fall on each side?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[16:00–16:10]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[16:10–19:00] The framework. Leave this up for the rest of section 3.
The conceptual move in the dark card is the paper's main technical contribution and it is worth spending time on. Label-level denoising asks 'is this label wrong?' Representation-level alignment asks 'regardless of the label, where should this text sit?'
The intuition: if a Latin line is semantically close to the negative prototype learned from fifty thousand IMDB reviews and SemEval tweets, the contrastive pull toward that prototype provides supervision even when GPT-4o labelled it mixed.
That assumes sentiment prototypes transfer across two thousand years and four languages, which is a strong assumption and worth naming as such. The paper's own representation analysis is the evidence for it and we look at that shortly.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59449-45D9-B27C-3543-A581DA610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563ABC-29BD-188E-CD34-0B3C70A938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0433F9-8E3D-7431-3EB7-A555589A1A1C}"/>
              </a:ext>
            </a:extLst>
          </p:cNvPr>
          <p:cNvSpPr>
            <a:spLocks noGrp="1"/>
          </p:cNvSpPr>
          <p:nvPr>
            <p:ph type="body" idx="1"/>
          </p:nvPr>
        </p:nvSpPr>
        <p:spPr/>
        <p:txBody>
          <a:bodyPr/>
          <a:lstStyle/>
          <a:p>
            <a:r>
              <a:rPr lang="en-US" dirty="0"/>
              <a:t>[16:10–19:00] The framework. Leave this up for the rest of section 3.
The conceptual move in the dark card is the paper's main technical contribution and it is worth spending time on. Label-level denoising asks 'is this label wrong?' Representation-level alignment asks 'regardless of the label, where should this text sit?'
The intuition: if a Latin line is semantically close to the negative prototype learned from fifty thousand IMDB reviews and SemEval tweets, the contrastive pull toward that prototype provides supervision even when GPT-4o labelled it mixed.
That assumes sentiment prototypes transfer across two thousand years and four languages, which is a strong assumption and worth naming as such. The paper's own representation analysis is the evidence for it and we look at that shortly.</a:t>
            </a:r>
          </a:p>
        </p:txBody>
      </p:sp>
      <p:sp>
        <p:nvSpPr>
          <p:cNvPr id="4" name="Slide Number Placeholder 3">
            <a:extLst>
              <a:ext uri="{FF2B5EF4-FFF2-40B4-BE49-F238E27FC236}">
                <a16:creationId xmlns:a16="http://schemas.microsoft.com/office/drawing/2014/main" id="{35CB94F2-8F15-2726-4BC0-01B9522FAEC3}"/>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2006161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[19:00–21:20] The loss.
The 'aligning prototypes, not examples' point in the first card is the one people miss. The contrastive loss operates on a C-by-C matrix where C is four — it is a tiny, cheap objective.
The α weighting is worth a remark in the context of this series. Recall that CLEP-DG summed its two losses with no weighting and no sensitivity analysis, and we flagged that. Here there is a weight and a sweep. The same group, a tighter paper.
The inference property in the third bullet is a genuine practical advantage: the high-resource prototypes are scaffolding that gets removed.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[21:20–23:40] Data.
The high-resource half is all contemporary social media and film reviews. That is a very long way from Catullus, and the transfer claim rests on sentiment prototypes being abstract enough to survive the distance.
The first bullet is a neat piece of corpus engineering worth crediting — 'mixed' is a label almost nothing provides, and repurposing GoEmotions for it is sensible.
The third bullet is the caveat to carry into the results. With a hundred test examples, a macro-F1 difference of two or three points is not something to over-interpret, and no variance is reported.
Credit the macro-F1 choice explicitly — we have spent several sessions criticising weighted accuracy on imbalanced affective data, and this paper does the right thing by default.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[23:40–23:50]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[23:50–26:10] Main results.
The averages all move in the right direction and the margins on the large models are substantial.
The fourth bullet is the one that supports the paper's thesis most directly: the denoising machinery helps most on the corpus with the worst labels. EvaLatin has four classes including neutral and mixed, the lowest annotation quality of the four, and the largest RAPA gains.
But the averages hide something, and the next slide unpacks it. RAPA is not uniformly better — it is worse on several individual cells.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[26:10–28:30] Where it does not help.
Present this as the paper does — the authors raise it themselves and their explanation is testable.
The hypothesis is clean: if your task has two classes and you align against four prototypes, two of the alignment targets are noise. The obvious fix is to mask the absent classes, and that is a single experiment nobody has run.
That is the first item I would put on a list of extensions. It is cheap and it would either confirm the mechanism or rule it out.
The dark card is the right note to end on — self-diagnosis with a predictive mechanism is good practice.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[28:30–31:30] The inversion. Protect this slide.
Be scrupulous here. The paper explicitly says Tables 3 and 4 serve different purposes and are not directly comparable — Table 3 is annotation quality, Table 4 is downstream performance. That caveat is correct and should be stated.
But the two tables are measured on the same four corpora with the same two annotation conditions, so the comparison of *gains* is legitimate and informative even if the absolute numbers are not.
Offer explanations rather than a verdict. One: label quality and label *consistency* are different things, and a model learns from consistency — which is exactly the HuBERT lesson about a teacher that is wrong systematically being usable. Two: on EvaLatin the training data is Catullus and the test data spans nineteen centuries, so better Catullus labels need not transfer. Three: with 301 test examples, 1.6 points is inside the noise.
This is the best discussion prompt in the deck.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[31:30–34:00] Ablations.
The dark card is the methodological compliment and it is deserved. The paper makes a geometric claim and then measures the geometry. That is the same move SALMONN made with its perplexity curves — testing the mechanism rather than just the outcome.
The 'mixed' class having the tightest alignment is a nice detail, and slightly surprising: you would expect the hardest, most heterogeneous class to be the loosest. One reading is that the GoEmotions-derived mixed examples are unusually homogeneous because they were selected by a rule.
There is also an α sweep in the appendix showing 0.6 is the best weighting, with both 0.3 and 0.9 degrading most datasets.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[34:00–34:10]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[34:10–36:30] Appraisal.
Give the strengths their due — the macro-F1 choice and the self-diagnosis both compare favourably with papers we have been harder on this term.
The first open thread is the one that most constrains what we can conclude. With a hundred test examples on the Scandinavian novels, a two-point macro-F1 difference moves with a handful of examples. Reporting across seeds would cost nothing and would firm up most of the claims.
The third thread is the cheapest and most interesting experiment: three prompt variants that separate persona from constraint from criteria. Given the modern-versus-historical decomposition we did earlier, the knowledge constraint is my guess for where the Austrian gain lives.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[36:30–39:00] The comparison.
Let people read, then walk the fourth row and the highlighted row.
The fourth row is the honest account of where the intelligence lives in both systems. CCoT-Emo's seven acoustic features are a choice made by people who know paralinguistics; RAPA's prompts are written by people who know the corpora. Neither method discovers its own structure.
That is not a criticism — it is a description of a design philosophy, and it is the opposite of the trend in the audio-LLM sessions, where everything was learned from scale. These two papers are a counter-current: put the knowledge in the prompt, keep the model small or frozen.
The last row is the practical pattern: both methods help most where the baseline is weakest, which is what you want from a method that supplies missing structure.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[39:00–40:20] Take-aways.
Read these; they are written to be transcribed. Number three is the one that connects furthest back — HuBERT's finding that a systematically wrong teacher is usable, arriving again in a completely different setting.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[40:20–45:00] Discussion and close.
Five prompts; take two. Question 1 is the strongest and the answer probably involves all three explanations on the inversion slide — consistency versus correctness, a train-test period mismatch on Catullus, and small test sets.
Question 4 is the deepest. The transfer assumes sentiment prototypes are abstract enough to survive two millennia and four languages. The paper's distance analysis gives partial evidence; a stronger test would be to swap in a deliberately mismatched high-resource domain and see whether the gains survive.
Question 5 is the right closer for the session and for the pairing: against a term of papers that scaled their way to performance, these two put the knowledge in the prompt. Both approaches work; the interesting question is when each is the better investment.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2E22"/>
        </a:solidFill>
        <a:effectLst/>
      </p:bgPr>
    </p:bg>
    <p:spTree>
      <p:nvGrpSpPr>
        <p:cNvPr id="1" name=""/>
        <p:cNvGrpSpPr/>
        <p:nvPr/>
      </p:nvGrpSpPr>
      <p:grpSpPr>
        <a:xfrm>
          <a:off x="0" y="0"/>
          <a:ext cx="0" cy="0"/>
          <a:chOff x="0" y="0"/>
          <a:chExt cx="0" cy="0"/>
        </a:xfrm>
      </p:grpSpPr>
      <p:sp>
        <p:nvSpPr>
          <p:cNvPr id="2" name="Shape 0"/>
          <p:cNvSpPr/>
          <p:nvPr/>
        </p:nvSpPr>
        <p:spPr>
          <a:xfrm>
            <a:off x="868680" y="1097280"/>
            <a:ext cx="261518" cy="261518"/>
          </a:xfrm>
          <a:prstGeom prst="ellipse">
            <a:avLst/>
          </a:prstGeom>
          <a:solidFill>
            <a:srgbClr val="DDCCB0"/>
          </a:solidFill>
          <a:ln w="12700">
            <a:solidFill>
              <a:srgbClr val="333333"/>
            </a:solidFill>
            <a:prstDash val="solid"/>
          </a:ln>
        </p:spPr>
        <p:txBody>
          <a:bodyPr/>
          <a:lstStyle/>
          <a:p>
            <a:endParaRPr lang="en-US"/>
          </a:p>
        </p:txBody>
      </p:sp>
      <p:sp>
        <p:nvSpPr>
          <p:cNvPr id="3" name="Shape 1"/>
          <p:cNvSpPr/>
          <p:nvPr/>
        </p:nvSpPr>
        <p:spPr>
          <a:xfrm>
            <a:off x="1272845" y="1097280"/>
            <a:ext cx="261518" cy="261518"/>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868680" y="1501445"/>
            <a:ext cx="261518" cy="261518"/>
          </a:xfrm>
          <a:prstGeom prst="ellipse">
            <a:avLst/>
          </a:prstGeom>
          <a:solidFill>
            <a:srgbClr val="DDCCB0"/>
          </a:solidFill>
          <a:ln w="12700">
            <a:solidFill>
              <a:srgbClr val="333333"/>
            </a:solidFill>
            <a:prstDash val="solid"/>
          </a:ln>
        </p:spPr>
        <p:txBody>
          <a:bodyPr/>
          <a:lstStyle/>
          <a:p>
            <a:endParaRPr lang="en-US"/>
          </a:p>
        </p:txBody>
      </p:sp>
      <p:sp>
        <p:nvSpPr>
          <p:cNvPr id="5" name="Shape 3"/>
          <p:cNvSpPr/>
          <p:nvPr/>
        </p:nvSpPr>
        <p:spPr>
          <a:xfrm>
            <a:off x="1272845" y="1501445"/>
            <a:ext cx="261518" cy="261518"/>
          </a:xfrm>
          <a:prstGeom prst="ellipse">
            <a:avLst/>
          </a:prstGeom>
          <a:solidFill>
            <a:srgbClr val="DDCCB0"/>
          </a:solidFill>
          <a:ln w="12700">
            <a:solidFill>
              <a:srgbClr val="333333"/>
            </a:solidFill>
            <a:prstDash val="solid"/>
          </a:ln>
        </p:spPr>
        <p:txBody>
          <a:bodyPr/>
          <a:lstStyle/>
          <a:p>
            <a:endParaRPr lang="en-US"/>
          </a:p>
        </p:txBody>
      </p:sp>
      <p:sp>
        <p:nvSpPr>
          <p:cNvPr id="6" name="Text 4"/>
          <p:cNvSpPr txBox="1"/>
          <p:nvPr/>
        </p:nvSpPr>
        <p:spPr>
          <a:xfrm>
            <a:off x="822960" y="1828800"/>
            <a:ext cx="10515600" cy="914400"/>
          </a:xfrm>
          <a:prstGeom prst="rect">
            <a:avLst/>
          </a:prstGeom>
          <a:noFill/>
          <a:ln/>
        </p:spPr>
        <p:txBody>
          <a:bodyPr wrap="square" lIns="0" tIns="0" rIns="0" bIns="0" rtlCol="0" anchor="ctr"/>
          <a:lstStyle/>
          <a:p>
            <a:pPr marL="0" indent="0">
              <a:buNone/>
            </a:pPr>
            <a:r>
              <a:rPr lang="en-US" sz="5000" b="1" kern="0" spc="100" dirty="0">
                <a:solidFill>
                  <a:srgbClr val="FFFFFF"/>
                </a:solidFill>
                <a:latin typeface="Cambria" pitchFamily="34" charset="0"/>
                <a:ea typeface="Cambria" pitchFamily="34" charset="-122"/>
                <a:cs typeface="Cambria" pitchFamily="34" charset="-120"/>
              </a:rPr>
              <a:t>RAPA</a:t>
            </a:r>
            <a:endParaRPr lang="en-US" sz="5000" dirty="0"/>
          </a:p>
        </p:txBody>
      </p:sp>
      <p:sp>
        <p:nvSpPr>
          <p:cNvPr id="7" name="Text 5"/>
          <p:cNvSpPr txBox="1"/>
          <p:nvPr/>
        </p:nvSpPr>
        <p:spPr>
          <a:xfrm>
            <a:off x="822960" y="2724912"/>
            <a:ext cx="10607040" cy="822960"/>
          </a:xfrm>
          <a:prstGeom prst="rect">
            <a:avLst/>
          </a:prstGeom>
          <a:noFill/>
          <a:ln/>
        </p:spPr>
        <p:txBody>
          <a:bodyPr wrap="square" lIns="0" tIns="0" rIns="0" bIns="0" rtlCol="0" anchor="ctr"/>
          <a:lstStyle/>
          <a:p>
            <a:pPr marL="0" indent="0">
              <a:lnSpc>
                <a:spcPct val="115000"/>
              </a:lnSpc>
              <a:buNone/>
            </a:pPr>
            <a:r>
              <a:rPr lang="en-US" sz="1750" i="1" dirty="0">
                <a:solidFill>
                  <a:srgbClr val="DDCCB0"/>
                </a:solidFill>
                <a:latin typeface="Cambria" pitchFamily="34" charset="0"/>
                <a:ea typeface="Cambria" pitchFamily="34" charset="-122"/>
                <a:cs typeface="Cambria" pitchFamily="34" charset="-120"/>
              </a:rPr>
              <a:t>Role-Guided Annotation and Prototype-Aligned Representation Learning</a:t>
            </a:r>
            <a:endParaRPr lang="en-US" sz="1750" dirty="0"/>
          </a:p>
          <a:p>
            <a:pPr marL="0" indent="0">
              <a:lnSpc>
                <a:spcPct val="115000"/>
              </a:lnSpc>
              <a:buNone/>
            </a:pPr>
            <a:r>
              <a:rPr lang="en-US" sz="1750" i="1" dirty="0">
                <a:solidFill>
                  <a:srgbClr val="DDCCB0"/>
                </a:solidFill>
                <a:latin typeface="Cambria" pitchFamily="34" charset="0"/>
                <a:ea typeface="Cambria" pitchFamily="34" charset="-122"/>
                <a:cs typeface="Cambria" pitchFamily="34" charset="-120"/>
              </a:rPr>
              <a:t>for Historical Literature Sentiment Classification</a:t>
            </a:r>
            <a:endParaRPr lang="en-US" sz="1750" dirty="0"/>
          </a:p>
        </p:txBody>
      </p:sp>
      <p:sp>
        <p:nvSpPr>
          <p:cNvPr id="8" name="Text 6"/>
          <p:cNvSpPr txBox="1"/>
          <p:nvPr/>
        </p:nvSpPr>
        <p:spPr>
          <a:xfrm>
            <a:off x="859536" y="3730752"/>
            <a:ext cx="10241280" cy="1005840"/>
          </a:xfrm>
          <a:prstGeom prst="rect">
            <a:avLst/>
          </a:prstGeom>
          <a:noFill/>
          <a:ln/>
        </p:spPr>
        <p:txBody>
          <a:bodyPr wrap="square" lIns="0" tIns="0" rIns="0" bIns="0" rtlCol="0" anchor="ctr"/>
          <a:lstStyle/>
          <a:p>
            <a:pPr marL="0" indent="0">
              <a:lnSpc>
                <a:spcPct val="125000"/>
              </a:lnSpc>
              <a:buNone/>
            </a:pPr>
            <a:r>
              <a:rPr lang="en-US" sz="1300" dirty="0">
                <a:solidFill>
                  <a:srgbClr val="C9B99D"/>
                </a:solidFill>
                <a:latin typeface="Calibri" pitchFamily="34" charset="0"/>
                <a:ea typeface="Calibri" pitchFamily="34" charset="-122"/>
                <a:cs typeface="Calibri" pitchFamily="34" charset="-120"/>
              </a:rPr>
              <a:t>Hongfei Du, Jiacheng Shi, Jacobo Myerston, Sidi Lu, Gang Zhou &amp; Ye Gao</a:t>
            </a:r>
            <a:endParaRPr lang="en-US" sz="1300" dirty="0"/>
          </a:p>
          <a:p>
            <a:pPr marL="0" indent="0">
              <a:lnSpc>
                <a:spcPct val="125000"/>
              </a:lnSpc>
              <a:buNone/>
            </a:pPr>
            <a:r>
              <a:rPr lang="en-US" sz="1300" dirty="0">
                <a:solidFill>
                  <a:srgbClr val="C9B99D"/>
                </a:solidFill>
                <a:latin typeface="Calibri" pitchFamily="34" charset="0"/>
                <a:ea typeface="Calibri" pitchFamily="34" charset="-122"/>
                <a:cs typeface="Calibri" pitchFamily="34" charset="-120"/>
              </a:rPr>
              <a:t>Findings of ACL: EMNLP 2025, pages 3756–3768  ·  doi:10.18653/v1/2025.findings-emnlp.201</a:t>
            </a:r>
            <a:endParaRPr lang="en-US" sz="1300" dirty="0"/>
          </a:p>
          <a:p>
            <a:pPr marL="0" indent="0">
              <a:lnSpc>
                <a:spcPct val="125000"/>
              </a:lnSpc>
              <a:buNone/>
            </a:pPr>
            <a:r>
              <a:rPr lang="en-US" sz="1300" dirty="0">
                <a:solidFill>
                  <a:srgbClr val="C9B99D"/>
                </a:solidFill>
                <a:latin typeface="Calibri" pitchFamily="34" charset="0"/>
                <a:ea typeface="Calibri" pitchFamily="34" charset="-122"/>
                <a:cs typeface="Calibri" pitchFamily="34" charset="-120"/>
              </a:rPr>
              <a:t>William &amp; Mary Computer Science, with UC San Diego Literature</a:t>
            </a:r>
            <a:endParaRPr lang="en-US" sz="1300" dirty="0"/>
          </a:p>
        </p:txBody>
      </p:sp>
      <p:sp>
        <p:nvSpPr>
          <p:cNvPr id="9" name="Text 7"/>
          <p:cNvSpPr txBox="1"/>
          <p:nvPr/>
        </p:nvSpPr>
        <p:spPr>
          <a:xfrm>
            <a:off x="859536" y="5175504"/>
            <a:ext cx="9144000" cy="365760"/>
          </a:xfrm>
          <a:prstGeom prst="rect">
            <a:avLst/>
          </a:prstGeom>
          <a:noFill/>
          <a:ln/>
        </p:spPr>
        <p:txBody>
          <a:bodyPr wrap="square" lIns="0" tIns="0" rIns="0" bIns="0" rtlCol="0" anchor="ctr"/>
          <a:lstStyle/>
          <a:p>
            <a:pPr marL="0" indent="0">
              <a:buNone/>
            </a:pPr>
            <a:r>
              <a:rPr lang="en-US" sz="1250" b="1" dirty="0">
                <a:solidFill>
                  <a:srgbClr val="2E7D74"/>
                </a:solidFill>
                <a:latin typeface="Calibri" pitchFamily="34" charset="0"/>
                <a:ea typeface="Calibri" pitchFamily="34" charset="-122"/>
                <a:cs typeface="Calibri" pitchFamily="34" charset="-120"/>
              </a:rPr>
              <a:t>Structured prompting and </a:t>
            </a:r>
            <a:r>
              <a:rPr lang="en-US" sz="1250" b="1">
                <a:solidFill>
                  <a:srgbClr val="2E7D74"/>
                </a:solidFill>
                <a:latin typeface="Calibri" pitchFamily="34" charset="0"/>
                <a:ea typeface="Calibri" pitchFamily="34" charset="-122"/>
                <a:cs typeface="Calibri" pitchFamily="34" charset="-120"/>
              </a:rPr>
              <a:t>low-resource affect</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Why this paper matters</a:t>
            </a:r>
            <a:endParaRPr lang="en-US" sz="2900" dirty="0"/>
          </a:p>
        </p:txBody>
      </p:sp>
      <p:sp>
        <p:nvSpPr>
          <p:cNvPr id="7" name="Text 5"/>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Affective labels for text nobody alive learned to read</a:t>
            </a:r>
            <a:endParaRPr lang="en-US" sz="135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3</a:t>
            </a:r>
            <a:endParaRPr lang="en-US" sz="900" dirty="0"/>
          </a:p>
        </p:txBody>
      </p:sp>
      <p:sp>
        <p:nvSpPr>
          <p:cNvPr id="9" name="Text 7"/>
          <p:cNvSpPr txBox="1"/>
          <p:nvPr/>
        </p:nvSpPr>
        <p:spPr>
          <a:xfrm>
            <a:off x="566928" y="1554480"/>
            <a:ext cx="2697480" cy="694944"/>
          </a:xfrm>
          <a:prstGeom prst="rect">
            <a:avLst/>
          </a:prstGeom>
          <a:noFill/>
          <a:ln/>
        </p:spPr>
        <p:txBody>
          <a:bodyPr wrap="square" lIns="0" tIns="0" rIns="0" bIns="0" rtlCol="0" anchor="ctr"/>
          <a:lstStyle/>
          <a:p>
            <a:pPr marL="0" indent="0" algn="ctr">
              <a:buNone/>
            </a:pPr>
            <a:r>
              <a:rPr lang="en-US" sz="3400" b="1" dirty="0">
                <a:solidFill>
                  <a:srgbClr val="8A6A3E"/>
                </a:solidFill>
                <a:latin typeface="Cambria" pitchFamily="34" charset="0"/>
                <a:ea typeface="Cambria" pitchFamily="34" charset="-122"/>
                <a:cs typeface="Cambria" pitchFamily="34" charset="-120"/>
              </a:rPr>
              <a:t>4</a:t>
            </a:r>
            <a:endParaRPr lang="en-US" sz="3400" dirty="0"/>
          </a:p>
        </p:txBody>
      </p:sp>
      <p:sp>
        <p:nvSpPr>
          <p:cNvPr id="10" name="Text 8"/>
          <p:cNvSpPr txBox="1"/>
          <p:nvPr/>
        </p:nvSpPr>
        <p:spPr>
          <a:xfrm>
            <a:off x="566928" y="2249424"/>
            <a:ext cx="2697480" cy="566928"/>
          </a:xfrm>
          <a:prstGeom prst="rect">
            <a:avLst/>
          </a:prstGeom>
          <a:noFill/>
          <a:ln/>
        </p:spPr>
        <p:txBody>
          <a:bodyPr wrap="square" lIns="0" tIns="0" rIns="0" bIns="0" rtlCol="0" anchor="ctr"/>
          <a:lstStyle/>
          <a:p>
            <a:pPr marL="0" indent="0" algn="ctr">
              <a:buNone/>
            </a:pPr>
            <a:r>
              <a:rPr lang="en-US" sz="1150" dirty="0">
                <a:solidFill>
                  <a:srgbClr val="6E5E48"/>
                </a:solidFill>
                <a:latin typeface="Calibri" pitchFamily="34" charset="0"/>
                <a:ea typeface="Calibri" pitchFamily="34" charset="-122"/>
                <a:cs typeface="Calibri" pitchFamily="34" charset="-120"/>
              </a:rPr>
              <a:t>historical corpora —</a:t>
            </a:r>
            <a:endParaRPr lang="en-US" sz="1150" dirty="0"/>
          </a:p>
          <a:p>
            <a:pPr marL="0" indent="0" algn="ctr">
              <a:buNone/>
            </a:pPr>
            <a:r>
              <a:rPr lang="en-US" sz="1150" dirty="0">
                <a:solidFill>
                  <a:srgbClr val="6E5E48"/>
                </a:solidFill>
                <a:latin typeface="Calibri" pitchFamily="34" charset="0"/>
                <a:ea typeface="Calibri" pitchFamily="34" charset="-122"/>
                <a:cs typeface="Calibri" pitchFamily="34" charset="-120"/>
              </a:rPr>
              <a:t>German, Scandinavian, Latin</a:t>
            </a:r>
            <a:endParaRPr lang="en-US" sz="1150" dirty="0"/>
          </a:p>
        </p:txBody>
      </p:sp>
      <p:sp>
        <p:nvSpPr>
          <p:cNvPr id="11" name="Text 9"/>
          <p:cNvSpPr txBox="1"/>
          <p:nvPr/>
        </p:nvSpPr>
        <p:spPr>
          <a:xfrm>
            <a:off x="3392424" y="1554480"/>
            <a:ext cx="2697480" cy="694944"/>
          </a:xfrm>
          <a:prstGeom prst="rect">
            <a:avLst/>
          </a:prstGeom>
          <a:noFill/>
          <a:ln/>
        </p:spPr>
        <p:txBody>
          <a:bodyPr wrap="square" lIns="0" tIns="0" rIns="0" bIns="0" rtlCol="0" anchor="ctr"/>
          <a:lstStyle/>
          <a:p>
            <a:pPr marL="0" indent="0" algn="ctr">
              <a:buNone/>
            </a:pPr>
            <a:r>
              <a:rPr lang="en-US" sz="3400" b="1" dirty="0">
                <a:solidFill>
                  <a:srgbClr val="2E7D74"/>
                </a:solidFill>
                <a:latin typeface="Cambria" pitchFamily="34" charset="0"/>
                <a:ea typeface="Cambria" pitchFamily="34" charset="-122"/>
                <a:cs typeface="Cambria" pitchFamily="34" charset="-120"/>
              </a:rPr>
              <a:t>+16.7</a:t>
            </a:r>
            <a:endParaRPr lang="en-US" sz="3400" dirty="0"/>
          </a:p>
        </p:txBody>
      </p:sp>
      <p:sp>
        <p:nvSpPr>
          <p:cNvPr id="12" name="Text 10"/>
          <p:cNvSpPr txBox="1"/>
          <p:nvPr/>
        </p:nvSpPr>
        <p:spPr>
          <a:xfrm>
            <a:off x="3392424" y="2249424"/>
            <a:ext cx="2697480" cy="566928"/>
          </a:xfrm>
          <a:prstGeom prst="rect">
            <a:avLst/>
          </a:prstGeom>
          <a:noFill/>
          <a:ln/>
        </p:spPr>
        <p:txBody>
          <a:bodyPr wrap="square" lIns="0" tIns="0" rIns="0" bIns="0" rtlCol="0" anchor="ctr"/>
          <a:lstStyle/>
          <a:p>
            <a:pPr marL="0" indent="0" algn="ctr">
              <a:buNone/>
            </a:pPr>
            <a:r>
              <a:rPr lang="en-US" sz="1150" dirty="0">
                <a:solidFill>
                  <a:srgbClr val="6E5E48"/>
                </a:solidFill>
                <a:latin typeface="Calibri" pitchFamily="34" charset="0"/>
                <a:ea typeface="Calibri" pitchFamily="34" charset="-122"/>
                <a:cs typeface="Calibri" pitchFamily="34" charset="-120"/>
              </a:rPr>
              <a:t>points of annotation quality</a:t>
            </a:r>
            <a:endParaRPr lang="en-US" sz="1150" dirty="0"/>
          </a:p>
          <a:p>
            <a:pPr marL="0" indent="0" algn="ctr">
              <a:buNone/>
            </a:pPr>
            <a:r>
              <a:rPr lang="en-US" sz="1150" dirty="0">
                <a:solidFill>
                  <a:srgbClr val="6E5E48"/>
                </a:solidFill>
                <a:latin typeface="Calibri" pitchFamily="34" charset="0"/>
                <a:ea typeface="Calibri" pitchFamily="34" charset="-122"/>
                <a:cs typeface="Calibri" pitchFamily="34" charset="-120"/>
              </a:rPr>
              <a:t>from role-play on Latin</a:t>
            </a:r>
            <a:endParaRPr lang="en-US" sz="1150" dirty="0"/>
          </a:p>
        </p:txBody>
      </p:sp>
      <p:sp>
        <p:nvSpPr>
          <p:cNvPr id="13" name="Text 11"/>
          <p:cNvSpPr txBox="1"/>
          <p:nvPr/>
        </p:nvSpPr>
        <p:spPr>
          <a:xfrm>
            <a:off x="6217920" y="1554480"/>
            <a:ext cx="2697480" cy="694944"/>
          </a:xfrm>
          <a:prstGeom prst="rect">
            <a:avLst/>
          </a:prstGeom>
          <a:noFill/>
          <a:ln/>
        </p:spPr>
        <p:txBody>
          <a:bodyPr wrap="square" lIns="0" tIns="0" rIns="0" bIns="0" rtlCol="0" anchor="ctr"/>
          <a:lstStyle/>
          <a:p>
            <a:pPr marL="0" indent="0" algn="ctr">
              <a:buNone/>
            </a:pPr>
            <a:r>
              <a:rPr lang="en-US" sz="3400" b="1" dirty="0">
                <a:solidFill>
                  <a:srgbClr val="8A6A3E"/>
                </a:solidFill>
                <a:latin typeface="Cambria" pitchFamily="34" charset="0"/>
                <a:ea typeface="Cambria" pitchFamily="34" charset="-122"/>
                <a:cs typeface="Cambria" pitchFamily="34" charset="-120"/>
              </a:rPr>
              <a:t>+12.3</a:t>
            </a:r>
            <a:endParaRPr lang="en-US" sz="3400" dirty="0"/>
          </a:p>
        </p:txBody>
      </p:sp>
      <p:sp>
        <p:nvSpPr>
          <p:cNvPr id="14" name="Text 12"/>
          <p:cNvSpPr txBox="1"/>
          <p:nvPr/>
        </p:nvSpPr>
        <p:spPr>
          <a:xfrm>
            <a:off x="6217920" y="2249424"/>
            <a:ext cx="2697480" cy="566928"/>
          </a:xfrm>
          <a:prstGeom prst="rect">
            <a:avLst/>
          </a:prstGeom>
          <a:noFill/>
          <a:ln/>
        </p:spPr>
        <p:txBody>
          <a:bodyPr wrap="square" lIns="0" tIns="0" rIns="0" bIns="0" rtlCol="0" anchor="ctr"/>
          <a:lstStyle/>
          <a:p>
            <a:pPr marL="0" indent="0" algn="ctr">
              <a:buNone/>
            </a:pPr>
            <a:r>
              <a:rPr lang="en-US" sz="1150" dirty="0">
                <a:solidFill>
                  <a:srgbClr val="6E5E48"/>
                </a:solidFill>
                <a:latin typeface="Calibri" pitchFamily="34" charset="0"/>
                <a:ea typeface="Calibri" pitchFamily="34" charset="-122"/>
                <a:cs typeface="Calibri" pitchFamily="34" charset="-120"/>
              </a:rPr>
              <a:t>macro-F1 on Austrian news</a:t>
            </a:r>
            <a:endParaRPr lang="en-US" sz="1150" dirty="0"/>
          </a:p>
          <a:p>
            <a:pPr marL="0" indent="0" algn="ctr">
              <a:buNone/>
            </a:pPr>
            <a:r>
              <a:rPr lang="en-US" sz="1150" dirty="0">
                <a:solidFill>
                  <a:srgbClr val="6E5E48"/>
                </a:solidFill>
                <a:latin typeface="Calibri" pitchFamily="34" charset="0"/>
                <a:ea typeface="Calibri" pitchFamily="34" charset="-122"/>
                <a:cs typeface="Calibri" pitchFamily="34" charset="-120"/>
              </a:rPr>
              <a:t>with InfoXLM-large</a:t>
            </a:r>
            <a:endParaRPr lang="en-US" sz="1150" dirty="0"/>
          </a:p>
        </p:txBody>
      </p:sp>
      <p:sp>
        <p:nvSpPr>
          <p:cNvPr id="15" name="Text 13"/>
          <p:cNvSpPr txBox="1"/>
          <p:nvPr/>
        </p:nvSpPr>
        <p:spPr>
          <a:xfrm>
            <a:off x="9043416" y="1554480"/>
            <a:ext cx="2587752" cy="694944"/>
          </a:xfrm>
          <a:prstGeom prst="rect">
            <a:avLst/>
          </a:prstGeom>
          <a:noFill/>
          <a:ln/>
        </p:spPr>
        <p:txBody>
          <a:bodyPr wrap="square" lIns="0" tIns="0" rIns="0" bIns="0" rtlCol="0" anchor="ctr"/>
          <a:lstStyle/>
          <a:p>
            <a:pPr marL="0" indent="0" algn="ctr">
              <a:buNone/>
            </a:pPr>
            <a:r>
              <a:rPr lang="en-US" sz="3400" b="1" dirty="0">
                <a:solidFill>
                  <a:srgbClr val="2E7D74"/>
                </a:solidFill>
                <a:latin typeface="Cambria" pitchFamily="34" charset="0"/>
                <a:ea typeface="Cambria" pitchFamily="34" charset="-122"/>
                <a:cs typeface="Cambria" pitchFamily="34" charset="-120"/>
              </a:rPr>
              <a:t>0</a:t>
            </a:r>
            <a:endParaRPr lang="en-US" sz="3400" dirty="0"/>
          </a:p>
        </p:txBody>
      </p:sp>
      <p:sp>
        <p:nvSpPr>
          <p:cNvPr id="16" name="Text 14"/>
          <p:cNvSpPr txBox="1"/>
          <p:nvPr/>
        </p:nvSpPr>
        <p:spPr>
          <a:xfrm>
            <a:off x="9043416" y="2249424"/>
            <a:ext cx="2587752" cy="566928"/>
          </a:xfrm>
          <a:prstGeom prst="rect">
            <a:avLst/>
          </a:prstGeom>
          <a:noFill/>
          <a:ln/>
        </p:spPr>
        <p:txBody>
          <a:bodyPr wrap="square" lIns="0" tIns="0" rIns="0" bIns="0" rtlCol="0" anchor="ctr"/>
          <a:lstStyle/>
          <a:p>
            <a:pPr marL="0" indent="0" algn="ctr">
              <a:buNone/>
            </a:pPr>
            <a:r>
              <a:rPr lang="en-US" sz="1150" dirty="0">
                <a:solidFill>
                  <a:srgbClr val="6E5E48"/>
                </a:solidFill>
                <a:latin typeface="Calibri" pitchFamily="34" charset="0"/>
                <a:ea typeface="Calibri" pitchFamily="34" charset="-122"/>
                <a:cs typeface="Calibri" pitchFamily="34" charset="-120"/>
              </a:rPr>
              <a:t>new human annotation —</a:t>
            </a:r>
            <a:endParaRPr lang="en-US" sz="1150" dirty="0"/>
          </a:p>
          <a:p>
            <a:pPr marL="0" indent="0" algn="ctr">
              <a:buNone/>
            </a:pPr>
            <a:r>
              <a:rPr lang="en-US" sz="1150" dirty="0">
                <a:solidFill>
                  <a:srgbClr val="6E5E48"/>
                </a:solidFill>
                <a:latin typeface="Calibri" pitchFamily="34" charset="0"/>
                <a:ea typeface="Calibri" pitchFamily="34" charset="-122"/>
                <a:cs typeface="Calibri" pitchFamily="34" charset="-120"/>
              </a:rPr>
              <a:t>all labels are LLM-generated</a:t>
            </a:r>
            <a:endParaRPr lang="en-US" sz="1150" dirty="0"/>
          </a:p>
        </p:txBody>
      </p:sp>
      <p:sp>
        <p:nvSpPr>
          <p:cNvPr id="17" name="Shape 15"/>
          <p:cNvSpPr/>
          <p:nvPr/>
        </p:nvSpPr>
        <p:spPr>
          <a:xfrm>
            <a:off x="566928" y="3200400"/>
            <a:ext cx="11064240" cy="1371600"/>
          </a:xfrm>
          <a:prstGeom prst="roundRect">
            <a:avLst>
              <a:gd name="adj" fmla="val 4000"/>
            </a:avLst>
          </a:prstGeom>
          <a:solidFill>
            <a:srgbClr val="F7F2E9"/>
          </a:solidFill>
          <a:ln w="12700">
            <a:solidFill>
              <a:srgbClr val="EBE2D2"/>
            </a:solidFill>
            <a:prstDash val="solid"/>
          </a:ln>
        </p:spPr>
        <p:txBody>
          <a:bodyPr/>
          <a:lstStyle/>
          <a:p>
            <a:endParaRPr lang="en-US"/>
          </a:p>
        </p:txBody>
      </p:sp>
      <p:sp>
        <p:nvSpPr>
          <p:cNvPr id="18" name="Shape 16"/>
          <p:cNvSpPr/>
          <p:nvPr/>
        </p:nvSpPr>
        <p:spPr>
          <a:xfrm>
            <a:off x="786384" y="3493008"/>
            <a:ext cx="109728" cy="109728"/>
          </a:xfrm>
          <a:prstGeom prst="ellipse">
            <a:avLst/>
          </a:prstGeom>
          <a:solidFill>
            <a:srgbClr val="8A6A3E"/>
          </a:solidFill>
          <a:ln w="12700">
            <a:solidFill>
              <a:srgbClr val="333333"/>
            </a:solidFill>
            <a:prstDash val="solid"/>
          </a:ln>
        </p:spPr>
        <p:txBody>
          <a:bodyPr/>
          <a:lstStyle/>
          <a:p>
            <a:endParaRPr lang="en-US"/>
          </a:p>
        </p:txBody>
      </p:sp>
      <p:sp>
        <p:nvSpPr>
          <p:cNvPr id="19" name="Text 17"/>
          <p:cNvSpPr txBox="1"/>
          <p:nvPr/>
        </p:nvSpPr>
        <p:spPr>
          <a:xfrm>
            <a:off x="987552" y="3364992"/>
            <a:ext cx="10424160" cy="365760"/>
          </a:xfrm>
          <a:prstGeom prst="rect">
            <a:avLst/>
          </a:prstGeom>
          <a:noFill/>
          <a:ln/>
        </p:spPr>
        <p:txBody>
          <a:bodyPr wrap="square" lIns="0" tIns="0" rIns="0" bIns="0" rtlCol="0" anchor="ctr"/>
          <a:lstStyle/>
          <a:p>
            <a:pPr marL="0" indent="0">
              <a:buNone/>
            </a:pPr>
            <a:r>
              <a:rPr lang="en-US" sz="1500" b="1" dirty="0">
                <a:solidFill>
                  <a:srgbClr val="2A2018"/>
                </a:solidFill>
                <a:latin typeface="Cambria" pitchFamily="34" charset="0"/>
                <a:ea typeface="Cambria" pitchFamily="34" charset="-122"/>
                <a:cs typeface="Cambria" pitchFamily="34" charset="-120"/>
              </a:rPr>
              <a:t>The claim</a:t>
            </a:r>
            <a:endParaRPr lang="en-US" sz="1500" dirty="0"/>
          </a:p>
        </p:txBody>
      </p:sp>
      <p:sp>
        <p:nvSpPr>
          <p:cNvPr id="20" name="Text 18"/>
          <p:cNvSpPr txBox="1"/>
          <p:nvPr/>
        </p:nvSpPr>
        <p:spPr>
          <a:xfrm>
            <a:off x="822960" y="3803904"/>
            <a:ext cx="10552176" cy="585216"/>
          </a:xfrm>
          <a:prstGeom prst="rect">
            <a:avLst/>
          </a:prstGeom>
          <a:noFill/>
          <a:ln/>
        </p:spPr>
        <p:txBody>
          <a:bodyPr wrap="square" lIns="0" tIns="0" rIns="0" bIns="0" rtlCol="0" anchor="t"/>
          <a:lstStyle/>
          <a:p>
            <a:pPr marL="0" indent="0">
              <a:lnSpc>
                <a:spcPct val="108000"/>
              </a:lnSpc>
              <a:buNone/>
            </a:pPr>
            <a:r>
              <a:rPr lang="en-US" sz="1340" dirty="0">
                <a:solidFill>
                  <a:srgbClr val="362A1E"/>
                </a:solidFill>
                <a:latin typeface="Calibri" pitchFamily="34" charset="0"/>
                <a:ea typeface="Calibri" pitchFamily="34" charset="-122"/>
                <a:cs typeface="Calibri" pitchFamily="34" charset="-120"/>
              </a:rPr>
              <a:t>Sentiment lexicons do not exist for most historical languages, and LLM labels reflect modern sentiment norms, missing the implicit, ironic and morally nuanced expression typical of historical literature. Fix the first half by making the LLM adopt a historically situated perspective; fix the remaining noise by aligning low-resource representations to stable prototypes learned from high-resource modern data.</a:t>
            </a:r>
            <a:endParaRPr lang="en-US" sz="1340" dirty="0"/>
          </a:p>
        </p:txBody>
      </p:sp>
      <p:sp>
        <p:nvSpPr>
          <p:cNvPr id="21" name="Shape 19"/>
          <p:cNvSpPr/>
          <p:nvPr/>
        </p:nvSpPr>
        <p:spPr>
          <a:xfrm>
            <a:off x="566928" y="4700016"/>
            <a:ext cx="11064240" cy="1353312"/>
          </a:xfrm>
          <a:prstGeom prst="roundRect">
            <a:avLst>
              <a:gd name="adj" fmla="val 4054"/>
            </a:avLst>
          </a:prstGeom>
          <a:solidFill>
            <a:srgbClr val="3A2E22"/>
          </a:solidFill>
          <a:ln w="12700">
            <a:solidFill>
              <a:srgbClr val="3A2E22"/>
            </a:solidFill>
            <a:prstDash val="solid"/>
          </a:ln>
        </p:spPr>
        <p:txBody>
          <a:bodyPr/>
          <a:lstStyle/>
          <a:p>
            <a:endParaRPr lang="en-US"/>
          </a:p>
        </p:txBody>
      </p:sp>
      <p:sp>
        <p:nvSpPr>
          <p:cNvPr id="22" name="Shape 20"/>
          <p:cNvSpPr/>
          <p:nvPr/>
        </p:nvSpPr>
        <p:spPr>
          <a:xfrm>
            <a:off x="786384" y="4992624"/>
            <a:ext cx="109728" cy="109728"/>
          </a:xfrm>
          <a:prstGeom prst="ellipse">
            <a:avLst/>
          </a:prstGeom>
          <a:solidFill>
            <a:srgbClr val="2E7D74"/>
          </a:solidFill>
          <a:ln w="12700">
            <a:solidFill>
              <a:srgbClr val="333333"/>
            </a:solidFill>
            <a:prstDash val="solid"/>
          </a:ln>
        </p:spPr>
        <p:txBody>
          <a:bodyPr/>
          <a:lstStyle/>
          <a:p>
            <a:endParaRPr lang="en-US"/>
          </a:p>
        </p:txBody>
      </p:sp>
      <p:sp>
        <p:nvSpPr>
          <p:cNvPr id="23" name="Text 21"/>
          <p:cNvSpPr txBox="1"/>
          <p:nvPr/>
        </p:nvSpPr>
        <p:spPr>
          <a:xfrm>
            <a:off x="987552" y="486460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this belongs in an affective computing seminar</a:t>
            </a:r>
            <a:endParaRPr lang="en-US" sz="1500" dirty="0"/>
          </a:p>
        </p:txBody>
      </p:sp>
      <p:sp>
        <p:nvSpPr>
          <p:cNvPr id="24" name="Text 22"/>
          <p:cNvSpPr txBox="1"/>
          <p:nvPr/>
        </p:nvSpPr>
        <p:spPr>
          <a:xfrm>
            <a:off x="822960" y="5303520"/>
            <a:ext cx="10552176" cy="566928"/>
          </a:xfrm>
          <a:prstGeom prst="rect">
            <a:avLst/>
          </a:prstGeom>
          <a:noFill/>
          <a:ln/>
        </p:spPr>
        <p:txBody>
          <a:bodyPr wrap="square" lIns="0" tIns="0" rIns="0" bIns="0" rtlCol="0" anchor="t"/>
          <a:lstStyle/>
          <a:p>
            <a:pPr marL="0" indent="0">
              <a:lnSpc>
                <a:spcPct val="108000"/>
              </a:lnSpc>
              <a:buNone/>
            </a:pPr>
            <a:r>
              <a:rPr lang="en-US" sz="1340" dirty="0">
                <a:solidFill>
                  <a:srgbClr val="DDCCB0"/>
                </a:solidFill>
                <a:latin typeface="Calibri" pitchFamily="34" charset="0"/>
                <a:ea typeface="Calibri" pitchFamily="34" charset="-122"/>
                <a:cs typeface="Calibri" pitchFamily="34" charset="-120"/>
              </a:rPr>
              <a:t>Every corpus session this term ended at the same place: the labels are the bottleneck. IEMOCAP's kappa of 0.27, CREMA-D's 60.7% agreement, AffectNet's single annotator for 92% of images. This paper takes label noise as the design problem rather than as a caveat.</a:t>
            </a:r>
            <a:endParaRPr lang="en-US" sz="13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3A2E22"/>
        </a:solidFill>
        <a:effectLst/>
      </p:bgPr>
    </p:bg>
    <p:spTree>
      <p:nvGrpSpPr>
        <p:cNvPr id="1" name=""/>
        <p:cNvGrpSpPr/>
        <p:nvPr/>
      </p:nvGrpSpPr>
      <p:grpSpPr>
        <a:xfrm>
          <a:off x="0" y="0"/>
          <a:ext cx="0" cy="0"/>
          <a:chOff x="0" y="0"/>
          <a:chExt cx="0" cy="0"/>
        </a:xfrm>
      </p:grpSpPr>
      <p:sp>
        <p:nvSpPr>
          <p:cNvPr id="2" name="Shape 0"/>
          <p:cNvSpPr/>
          <p:nvPr/>
        </p:nvSpPr>
        <p:spPr>
          <a:xfrm>
            <a:off x="10607040" y="5349240"/>
            <a:ext cx="201168" cy="201168"/>
          </a:xfrm>
          <a:prstGeom prst="ellipse">
            <a:avLst/>
          </a:prstGeom>
          <a:solidFill>
            <a:srgbClr val="DDCCB0"/>
          </a:solidFill>
          <a:ln w="12700">
            <a:solidFill>
              <a:srgbClr val="333333"/>
            </a:solidFill>
            <a:prstDash val="solid"/>
          </a:ln>
        </p:spPr>
        <p:txBody>
          <a:bodyPr/>
          <a:lstStyle/>
          <a:p>
            <a:endParaRPr lang="en-US"/>
          </a:p>
        </p:txBody>
      </p:sp>
      <p:sp>
        <p:nvSpPr>
          <p:cNvPr id="3" name="Shape 1"/>
          <p:cNvSpPr/>
          <p:nvPr/>
        </p:nvSpPr>
        <p:spPr>
          <a:xfrm>
            <a:off x="10917936" y="5349240"/>
            <a:ext cx="201168" cy="201168"/>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0607040" y="5660136"/>
            <a:ext cx="201168" cy="201168"/>
          </a:xfrm>
          <a:prstGeom prst="ellipse">
            <a:avLst/>
          </a:prstGeom>
          <a:solidFill>
            <a:srgbClr val="DDCCB0"/>
          </a:solidFill>
          <a:ln w="12700">
            <a:solidFill>
              <a:srgbClr val="333333"/>
            </a:solidFill>
            <a:prstDash val="solid"/>
          </a:ln>
        </p:spPr>
        <p:txBody>
          <a:bodyPr/>
          <a:lstStyle/>
          <a:p>
            <a:endParaRPr lang="en-US"/>
          </a:p>
        </p:txBody>
      </p:sp>
      <p:sp>
        <p:nvSpPr>
          <p:cNvPr id="5" name="Shape 3"/>
          <p:cNvSpPr/>
          <p:nvPr/>
        </p:nvSpPr>
        <p:spPr>
          <a:xfrm>
            <a:off x="10917936" y="5660136"/>
            <a:ext cx="201168" cy="201168"/>
          </a:xfrm>
          <a:prstGeom prst="ellipse">
            <a:avLst/>
          </a:prstGeom>
          <a:solidFill>
            <a:srgbClr val="DDCCB0"/>
          </a:solidFill>
          <a:ln w="12700">
            <a:solidFill>
              <a:srgbClr val="333333"/>
            </a:solidFill>
            <a:prstDash val="solid"/>
          </a:ln>
        </p:spPr>
        <p:txBody>
          <a:bodyPr/>
          <a:lstStyle/>
          <a:p>
            <a:endParaRPr lang="en-US"/>
          </a:p>
        </p:txBody>
      </p:sp>
      <p:sp>
        <p:nvSpPr>
          <p:cNvPr id="6" name="Text 4"/>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2E7D74"/>
                </a:solidFill>
                <a:latin typeface="Cambria" pitchFamily="34" charset="0"/>
                <a:ea typeface="Cambria" pitchFamily="34" charset="-122"/>
                <a:cs typeface="Cambria" pitchFamily="34" charset="-120"/>
              </a:rPr>
              <a:t>1</a:t>
            </a:r>
            <a:endParaRPr lang="en-US" sz="6600" dirty="0"/>
          </a:p>
        </p:txBody>
      </p:sp>
      <p:sp>
        <p:nvSpPr>
          <p:cNvPr id="7" name="Text 5"/>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Reading what we have forgotten</a:t>
            </a:r>
            <a:endParaRPr lang="en-US" sz="3300" dirty="0"/>
          </a:p>
        </p:txBody>
      </p:sp>
      <p:sp>
        <p:nvSpPr>
          <p:cNvPr id="8" name="Text 6"/>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DCCB0"/>
                </a:solidFill>
                <a:latin typeface="Calibri" pitchFamily="34" charset="0"/>
                <a:ea typeface="Calibri" pitchFamily="34" charset="-122"/>
                <a:cs typeface="Calibri" pitchFamily="34" charset="-120"/>
              </a:rPr>
              <a:t>Why modern sentiment models fail on historical text</a:t>
            </a:r>
            <a:endParaRPr lang="en-US" sz="150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Two problems with the obvious approach</a:t>
            </a:r>
            <a:endParaRPr lang="en-US" sz="2900" dirty="0"/>
          </a:p>
        </p:txBody>
      </p:sp>
      <p:sp>
        <p:nvSpPr>
          <p:cNvPr id="7" name="Text 5"/>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Both concern how LLM labels are produced and used</a:t>
            </a:r>
            <a:endParaRPr lang="en-US" sz="135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5</a:t>
            </a:r>
            <a:endParaRPr lang="en-US" sz="900" dirty="0"/>
          </a:p>
        </p:txBody>
      </p:sp>
      <p:sp>
        <p:nvSpPr>
          <p:cNvPr id="9" name="Shape 7"/>
          <p:cNvSpPr/>
          <p:nvPr/>
        </p:nvSpPr>
        <p:spPr>
          <a:xfrm>
            <a:off x="566928" y="1600200"/>
            <a:ext cx="5440680" cy="2331720"/>
          </a:xfrm>
          <a:prstGeom prst="roundRect">
            <a:avLst>
              <a:gd name="adj" fmla="val 2353"/>
            </a:avLst>
          </a:prstGeom>
          <a:solidFill>
            <a:srgbClr val="F7F2E9"/>
          </a:solidFill>
          <a:ln w="12700">
            <a:solidFill>
              <a:srgbClr val="EBE2D2"/>
            </a:solidFill>
            <a:prstDash val="solid"/>
          </a:ln>
        </p:spPr>
        <p:txBody>
          <a:bodyPr/>
          <a:lstStyle/>
          <a:p>
            <a:endParaRPr lang="en-US"/>
          </a:p>
        </p:txBody>
      </p:sp>
      <p:sp>
        <p:nvSpPr>
          <p:cNvPr id="10" name="Shape 8"/>
          <p:cNvSpPr/>
          <p:nvPr/>
        </p:nvSpPr>
        <p:spPr>
          <a:xfrm>
            <a:off x="786384" y="1892808"/>
            <a:ext cx="109728" cy="109728"/>
          </a:xfrm>
          <a:prstGeom prst="ellipse">
            <a:avLst/>
          </a:prstGeom>
          <a:solidFill>
            <a:srgbClr val="8A6A3E"/>
          </a:solidFill>
          <a:ln w="12700">
            <a:solidFill>
              <a:srgbClr val="333333"/>
            </a:solidFill>
            <a:prstDash val="solid"/>
          </a:ln>
        </p:spPr>
        <p:txBody>
          <a:bodyPr/>
          <a:lstStyle/>
          <a:p>
            <a:endParaRPr lang="en-US"/>
          </a:p>
        </p:txBody>
      </p:sp>
      <p:sp>
        <p:nvSpPr>
          <p:cNvPr id="11" name="Text 9"/>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2A2018"/>
                </a:solidFill>
                <a:latin typeface="Cambria" pitchFamily="34" charset="0"/>
                <a:ea typeface="Cambria" pitchFamily="34" charset="-122"/>
                <a:cs typeface="Cambria" pitchFamily="34" charset="-120"/>
              </a:rPr>
              <a:t>Problem 1 — the modern lens</a:t>
            </a:r>
            <a:endParaRPr lang="en-US" sz="1500" dirty="0"/>
          </a:p>
        </p:txBody>
      </p:sp>
      <p:sp>
        <p:nvSpPr>
          <p:cNvPr id="12" name="Text 10"/>
          <p:cNvSpPr txBox="1"/>
          <p:nvPr/>
        </p:nvSpPr>
        <p:spPr>
          <a:xfrm>
            <a:off x="822960" y="2203704"/>
            <a:ext cx="4928616" cy="1545336"/>
          </a:xfrm>
          <a:prstGeom prst="rect">
            <a:avLst/>
          </a:prstGeom>
          <a:noFill/>
          <a:ln/>
        </p:spPr>
        <p:txBody>
          <a:bodyPr wrap="square" lIns="0" tIns="0" rIns="0" bIns="0" rtlCol="0" anchor="t"/>
          <a:lstStyle/>
          <a:p>
            <a:pPr marL="0" indent="0">
              <a:lnSpc>
                <a:spcPct val="108000"/>
              </a:lnSpc>
              <a:buNone/>
            </a:pPr>
            <a:r>
              <a:rPr lang="en-US" sz="1250" dirty="0">
                <a:solidFill>
                  <a:srgbClr val="362A1E"/>
                </a:solidFill>
                <a:latin typeface="Calibri" pitchFamily="34" charset="0"/>
                <a:ea typeface="Calibri" pitchFamily="34" charset="-122"/>
                <a:cs typeface="Calibri" pitchFamily="34" charset="-120"/>
              </a:rPr>
              <a:t>Prompt-based annotation typically uses direct instructions such as 'choose the sentiment of the given text'.</a:t>
            </a:r>
            <a:endParaRPr lang="en-US" sz="1250" dirty="0"/>
          </a:p>
          <a:p>
            <a:pPr marL="0" indent="0">
              <a:lnSpc>
                <a:spcPct val="108000"/>
              </a:lnSpc>
              <a:buNone/>
            </a:pPr>
            <a:endParaRPr lang="en-US" sz="1250" dirty="0"/>
          </a:p>
          <a:p>
            <a:pPr marL="0" indent="0">
              <a:lnSpc>
                <a:spcPct val="108000"/>
              </a:lnSpc>
              <a:buNone/>
            </a:pPr>
            <a:r>
              <a:rPr lang="en-US" sz="1250" dirty="0">
                <a:solidFill>
                  <a:srgbClr val="362A1E"/>
                </a:solidFill>
                <a:latin typeface="Calibri" pitchFamily="34" charset="0"/>
                <a:ea typeface="Calibri" pitchFamily="34" charset="-122"/>
                <a:cs typeface="Calibri" pitchFamily="34" charset="-120"/>
              </a:rPr>
              <a:t>Such strategies implicitly assume that sentiment can be interpreted uniformly across time, culture and context — an assumption that does not hold where sentiment is conveyed implicitly and shaped by rhetorical and moral complexity.</a:t>
            </a:r>
            <a:endParaRPr lang="en-US" sz="1250" dirty="0"/>
          </a:p>
        </p:txBody>
      </p:sp>
      <p:sp>
        <p:nvSpPr>
          <p:cNvPr id="13" name="Shape 11"/>
          <p:cNvSpPr/>
          <p:nvPr/>
        </p:nvSpPr>
        <p:spPr>
          <a:xfrm>
            <a:off x="6190488" y="1600200"/>
            <a:ext cx="5440680" cy="2331720"/>
          </a:xfrm>
          <a:prstGeom prst="roundRect">
            <a:avLst>
              <a:gd name="adj" fmla="val 2353"/>
            </a:avLst>
          </a:prstGeom>
          <a:solidFill>
            <a:srgbClr val="F7F2E9"/>
          </a:solidFill>
          <a:ln w="12700">
            <a:solidFill>
              <a:srgbClr val="EBE2D2"/>
            </a:solidFill>
            <a:prstDash val="solid"/>
          </a:ln>
        </p:spPr>
        <p:txBody>
          <a:bodyPr/>
          <a:lstStyle/>
          <a:p>
            <a:endParaRPr lang="en-US"/>
          </a:p>
        </p:txBody>
      </p:sp>
      <p:sp>
        <p:nvSpPr>
          <p:cNvPr id="14" name="Shape 12"/>
          <p:cNvSpPr/>
          <p:nvPr/>
        </p:nvSpPr>
        <p:spPr>
          <a:xfrm>
            <a:off x="6409944" y="1892808"/>
            <a:ext cx="109728" cy="109728"/>
          </a:xfrm>
          <a:prstGeom prst="ellipse">
            <a:avLst/>
          </a:prstGeom>
          <a:solidFill>
            <a:srgbClr val="2E7D74"/>
          </a:solidFill>
          <a:ln w="12700">
            <a:solidFill>
              <a:srgbClr val="333333"/>
            </a:solidFill>
            <a:prstDash val="solid"/>
          </a:ln>
        </p:spPr>
        <p:txBody>
          <a:bodyPr/>
          <a:lstStyle/>
          <a:p>
            <a:endParaRPr lang="en-US"/>
          </a:p>
        </p:txBody>
      </p:sp>
      <p:sp>
        <p:nvSpPr>
          <p:cNvPr id="15" name="Text 13"/>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2A2018"/>
                </a:solidFill>
                <a:latin typeface="Cambria" pitchFamily="34" charset="0"/>
                <a:ea typeface="Cambria" pitchFamily="34" charset="-122"/>
                <a:cs typeface="Cambria" pitchFamily="34" charset="-120"/>
              </a:rPr>
              <a:t>Problem 2 — assuming the labels are right</a:t>
            </a:r>
            <a:endParaRPr lang="en-US" sz="1500" dirty="0"/>
          </a:p>
        </p:txBody>
      </p:sp>
      <p:sp>
        <p:nvSpPr>
          <p:cNvPr id="16" name="Text 14"/>
          <p:cNvSpPr txBox="1"/>
          <p:nvPr/>
        </p:nvSpPr>
        <p:spPr>
          <a:xfrm>
            <a:off x="6446520" y="2203704"/>
            <a:ext cx="4928616" cy="1545336"/>
          </a:xfrm>
          <a:prstGeom prst="rect">
            <a:avLst/>
          </a:prstGeom>
          <a:noFill/>
          <a:ln/>
        </p:spPr>
        <p:txBody>
          <a:bodyPr wrap="square" lIns="0" tIns="0" rIns="0" bIns="0" rtlCol="0" anchor="t"/>
          <a:lstStyle/>
          <a:p>
            <a:pPr marL="0" indent="0">
              <a:lnSpc>
                <a:spcPct val="108000"/>
              </a:lnSpc>
              <a:buNone/>
            </a:pPr>
            <a:r>
              <a:rPr lang="en-US" sz="1250" dirty="0">
                <a:solidFill>
                  <a:srgbClr val="362A1E"/>
                </a:solidFill>
                <a:latin typeface="Calibri" pitchFamily="34" charset="0"/>
                <a:ea typeface="Calibri" pitchFamily="34" charset="-122"/>
                <a:cs typeface="Calibri" pitchFamily="34" charset="-120"/>
              </a:rPr>
              <a:t>Existing work typically assumes the labels produced by LLMs are reliable and uses them directly for downstream training.</a:t>
            </a:r>
            <a:endParaRPr lang="en-US" sz="1250" dirty="0"/>
          </a:p>
          <a:p>
            <a:pPr marL="0" indent="0">
              <a:lnSpc>
                <a:spcPct val="108000"/>
              </a:lnSpc>
              <a:buNone/>
            </a:pPr>
            <a:endParaRPr lang="en-US" sz="1250" dirty="0"/>
          </a:p>
          <a:p>
            <a:pPr marL="0" indent="0">
              <a:lnSpc>
                <a:spcPct val="108000"/>
              </a:lnSpc>
              <a:buNone/>
            </a:pPr>
            <a:r>
              <a:rPr lang="en-US" sz="1250" dirty="0">
                <a:solidFill>
                  <a:srgbClr val="362A1E"/>
                </a:solidFill>
                <a:latin typeface="Calibri" pitchFamily="34" charset="0"/>
                <a:ea typeface="Calibri" pitchFamily="34" charset="-122"/>
                <a:cs typeface="Calibri" pitchFamily="34" charset="-120"/>
              </a:rPr>
              <a:t>But LLM labels are inherently noisy, especially for subtle or stylistically complex expressions. Training on them without denoising limits generalisation.</a:t>
            </a:r>
            <a:endParaRPr lang="en-US" sz="1250" dirty="0"/>
          </a:p>
        </p:txBody>
      </p:sp>
      <p:sp>
        <p:nvSpPr>
          <p:cNvPr id="17" name="Shape 15"/>
          <p:cNvSpPr/>
          <p:nvPr/>
        </p:nvSpPr>
        <p:spPr>
          <a:xfrm>
            <a:off x="566928" y="4169664"/>
            <a:ext cx="11064240" cy="1883664"/>
          </a:xfrm>
          <a:prstGeom prst="roundRect">
            <a:avLst>
              <a:gd name="adj" fmla="val 2913"/>
            </a:avLst>
          </a:prstGeom>
          <a:solidFill>
            <a:srgbClr val="3A2E22"/>
          </a:solidFill>
          <a:ln w="12700">
            <a:solidFill>
              <a:srgbClr val="3A2E22"/>
            </a:solidFill>
            <a:prstDash val="solid"/>
          </a:ln>
        </p:spPr>
        <p:txBody>
          <a:bodyPr/>
          <a:lstStyle/>
          <a:p>
            <a:endParaRPr lang="en-US"/>
          </a:p>
        </p:txBody>
      </p:sp>
      <p:sp>
        <p:nvSpPr>
          <p:cNvPr id="18" name="Shape 16"/>
          <p:cNvSpPr/>
          <p:nvPr/>
        </p:nvSpPr>
        <p:spPr>
          <a:xfrm>
            <a:off x="786384" y="4462272"/>
            <a:ext cx="109728" cy="109728"/>
          </a:xfrm>
          <a:prstGeom prst="ellipse">
            <a:avLst/>
          </a:prstGeom>
          <a:solidFill>
            <a:srgbClr val="2E7D74"/>
          </a:solidFill>
          <a:ln w="12700">
            <a:solidFill>
              <a:srgbClr val="333333"/>
            </a:solidFill>
            <a:prstDash val="solid"/>
          </a:ln>
        </p:spPr>
        <p:txBody>
          <a:bodyPr/>
          <a:lstStyle/>
          <a:p>
            <a:endParaRPr lang="en-US"/>
          </a:p>
        </p:txBody>
      </p:sp>
      <p:sp>
        <p:nvSpPr>
          <p:cNvPr id="19" name="Text 17"/>
          <p:cNvSpPr txBox="1"/>
          <p:nvPr/>
        </p:nvSpPr>
        <p:spPr>
          <a:xfrm>
            <a:off x="987552" y="4334256"/>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And the usual alternative is unavailable</a:t>
            </a:r>
            <a:endParaRPr lang="en-US" sz="1500" dirty="0"/>
          </a:p>
        </p:txBody>
      </p:sp>
      <p:sp>
        <p:nvSpPr>
          <p:cNvPr id="20" name="Text 18"/>
          <p:cNvSpPr txBox="1"/>
          <p:nvPr/>
        </p:nvSpPr>
        <p:spPr>
          <a:xfrm>
            <a:off x="822960" y="4773168"/>
            <a:ext cx="10552176" cy="1097280"/>
          </a:xfrm>
          <a:prstGeom prst="rect">
            <a:avLst/>
          </a:prstGeom>
          <a:noFill/>
          <a:ln/>
        </p:spPr>
        <p:txBody>
          <a:bodyPr wrap="square" lIns="0" tIns="0" rIns="0" bIns="0" rtlCol="0" anchor="t"/>
          <a:lstStyle/>
          <a:p>
            <a:pPr marL="0" indent="0">
              <a:lnSpc>
                <a:spcPct val="108000"/>
              </a:lnSpc>
              <a:buNone/>
            </a:pPr>
            <a:r>
              <a:rPr lang="en-US" sz="1300" dirty="0">
                <a:solidFill>
                  <a:srgbClr val="DDCCB0"/>
                </a:solidFill>
                <a:latin typeface="Calibri" pitchFamily="34" charset="0"/>
                <a:ea typeface="Calibri" pitchFamily="34" charset="-122"/>
                <a:cs typeface="Calibri" pitchFamily="34" charset="-120"/>
              </a:rPr>
              <a:t>The other branch of prior work uses sentiment lexicons, which are interpretable and easy to apply. But lexicons are often unavailable for historically under-represented texts because the linguistic resources do not exist.</a:t>
            </a:r>
            <a:endParaRPr lang="en-US" sz="1300" dirty="0"/>
          </a:p>
          <a:p>
            <a:pPr marL="0" indent="0">
              <a:lnSpc>
                <a:spcPct val="108000"/>
              </a:lnSpc>
              <a:buNone/>
            </a:pPr>
            <a:endParaRPr lang="en-US" sz="1300" dirty="0"/>
          </a:p>
          <a:p>
            <a:pPr marL="0" indent="0">
              <a:lnSpc>
                <a:spcPct val="108000"/>
              </a:lnSpc>
              <a:buNone/>
            </a:pPr>
            <a:r>
              <a:rPr lang="en-US" sz="1300" dirty="0">
                <a:solidFill>
                  <a:srgbClr val="DDCCB0"/>
                </a:solidFill>
                <a:latin typeface="Calibri" pitchFamily="34" charset="0"/>
                <a:ea typeface="Calibri" pitchFamily="34" charset="-122"/>
                <a:cs typeface="Calibri" pitchFamily="34" charset="-120"/>
              </a:rPr>
              <a:t>So the paper deliberately avoids lexicons as external knowledge — a constraint, stated as a methodological choice.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Semantic drift</a:t>
            </a:r>
            <a:endParaRPr lang="en-US" sz="2900" dirty="0"/>
          </a:p>
        </p:txBody>
      </p:sp>
      <p:sp>
        <p:nvSpPr>
          <p:cNvPr id="7" name="Text 5"/>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The mechanism behind the modern lens</a:t>
            </a:r>
            <a:endParaRPr lang="en-US" sz="135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6</a:t>
            </a:r>
            <a:endParaRPr lang="en-US" sz="900" dirty="0"/>
          </a:p>
        </p:txBody>
      </p:sp>
      <p:sp>
        <p:nvSpPr>
          <p:cNvPr id="9" name="Shape 7"/>
          <p:cNvSpPr/>
          <p:nvPr/>
        </p:nvSpPr>
        <p:spPr>
          <a:xfrm>
            <a:off x="566928" y="1600200"/>
            <a:ext cx="5440680" cy="2240280"/>
          </a:xfrm>
          <a:prstGeom prst="roundRect">
            <a:avLst>
              <a:gd name="adj" fmla="val 2449"/>
            </a:avLst>
          </a:prstGeom>
          <a:solidFill>
            <a:srgbClr val="F7F2E9"/>
          </a:solidFill>
          <a:ln w="12700">
            <a:solidFill>
              <a:srgbClr val="EBE2D2"/>
            </a:solidFill>
            <a:prstDash val="solid"/>
          </a:ln>
        </p:spPr>
        <p:txBody>
          <a:bodyPr/>
          <a:lstStyle/>
          <a:p>
            <a:endParaRPr lang="en-US"/>
          </a:p>
        </p:txBody>
      </p:sp>
      <p:sp>
        <p:nvSpPr>
          <p:cNvPr id="10" name="Shape 8"/>
          <p:cNvSpPr/>
          <p:nvPr/>
        </p:nvSpPr>
        <p:spPr>
          <a:xfrm>
            <a:off x="786384" y="1892808"/>
            <a:ext cx="109728" cy="109728"/>
          </a:xfrm>
          <a:prstGeom prst="ellipse">
            <a:avLst/>
          </a:prstGeom>
          <a:solidFill>
            <a:srgbClr val="8A6A3E"/>
          </a:solidFill>
          <a:ln w="12700">
            <a:solidFill>
              <a:srgbClr val="333333"/>
            </a:solidFill>
            <a:prstDash val="solid"/>
          </a:ln>
        </p:spPr>
        <p:txBody>
          <a:bodyPr/>
          <a:lstStyle/>
          <a:p>
            <a:endParaRPr lang="en-US"/>
          </a:p>
        </p:txBody>
      </p:sp>
      <p:sp>
        <p:nvSpPr>
          <p:cNvPr id="11" name="Text 9"/>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2A2018"/>
                </a:solidFill>
                <a:latin typeface="Cambria" pitchFamily="34" charset="0"/>
                <a:ea typeface="Cambria" pitchFamily="34" charset="-122"/>
                <a:cs typeface="Cambria" pitchFamily="34" charset="-120"/>
              </a:rPr>
              <a:t>What drifts</a:t>
            </a:r>
            <a:endParaRPr lang="en-US" sz="1500" dirty="0"/>
          </a:p>
        </p:txBody>
      </p:sp>
      <p:sp>
        <p:nvSpPr>
          <p:cNvPr id="12" name="Text 10"/>
          <p:cNvSpPr txBox="1"/>
          <p:nvPr/>
        </p:nvSpPr>
        <p:spPr>
          <a:xfrm>
            <a:off x="822960" y="2203704"/>
            <a:ext cx="4928616" cy="1453896"/>
          </a:xfrm>
          <a:prstGeom prst="rect">
            <a:avLst/>
          </a:prstGeom>
          <a:noFill/>
          <a:ln/>
        </p:spPr>
        <p:txBody>
          <a:bodyPr wrap="square" lIns="0" tIns="0" rIns="0" bIns="0" rtlCol="0" anchor="t"/>
          <a:lstStyle/>
          <a:p>
            <a:pPr marL="0" indent="0">
              <a:lnSpc>
                <a:spcPct val="108000"/>
              </a:lnSpc>
              <a:buNone/>
            </a:pPr>
            <a:r>
              <a:rPr lang="en-US" sz="1260" dirty="0">
                <a:solidFill>
                  <a:srgbClr val="362A1E"/>
                </a:solidFill>
                <a:latin typeface="Calibri" pitchFamily="34" charset="0"/>
                <a:ea typeface="Calibri" pitchFamily="34" charset="-122"/>
                <a:cs typeface="Calibri" pitchFamily="34" charset="-120"/>
              </a:rPr>
              <a:t>The sentiment connotations of words change over time. A word that was neutral in its original context may carry positive associations for a modern reader — the paper's example is a term whose modern celebrity associations did not exist when the text was written.</a:t>
            </a:r>
            <a:endParaRPr lang="en-US" sz="1260" dirty="0"/>
          </a:p>
          <a:p>
            <a:pPr marL="0" indent="0">
              <a:lnSpc>
                <a:spcPct val="108000"/>
              </a:lnSpc>
              <a:buNone/>
            </a:pPr>
            <a:endParaRPr lang="en-US" sz="1260" dirty="0"/>
          </a:p>
          <a:p>
            <a:pPr marL="0" indent="0">
              <a:lnSpc>
                <a:spcPct val="108000"/>
              </a:lnSpc>
              <a:buNone/>
            </a:pPr>
            <a:r>
              <a:rPr lang="en-US" sz="1260" dirty="0">
                <a:solidFill>
                  <a:srgbClr val="362A1E"/>
                </a:solidFill>
                <a:latin typeface="Calibri" pitchFamily="34" charset="0"/>
                <a:ea typeface="Calibri" pitchFamily="34" charset="-122"/>
                <a:cs typeface="Calibri" pitchFamily="34" charset="-120"/>
              </a:rPr>
              <a:t>An LLM reading historical text brings its whole training distribution with it.</a:t>
            </a:r>
            <a:endParaRPr lang="en-US" sz="1260" dirty="0"/>
          </a:p>
        </p:txBody>
      </p:sp>
      <p:sp>
        <p:nvSpPr>
          <p:cNvPr id="13" name="Shape 11"/>
          <p:cNvSpPr/>
          <p:nvPr/>
        </p:nvSpPr>
        <p:spPr>
          <a:xfrm>
            <a:off x="6190488" y="1600200"/>
            <a:ext cx="5440680" cy="2240280"/>
          </a:xfrm>
          <a:prstGeom prst="roundRect">
            <a:avLst>
              <a:gd name="adj" fmla="val 2449"/>
            </a:avLst>
          </a:prstGeom>
          <a:solidFill>
            <a:srgbClr val="F7F2E9"/>
          </a:solidFill>
          <a:ln w="12700">
            <a:solidFill>
              <a:srgbClr val="EBE2D2"/>
            </a:solidFill>
            <a:prstDash val="solid"/>
          </a:ln>
        </p:spPr>
        <p:txBody>
          <a:bodyPr/>
          <a:lstStyle/>
          <a:p>
            <a:endParaRPr lang="en-US"/>
          </a:p>
        </p:txBody>
      </p:sp>
      <p:sp>
        <p:nvSpPr>
          <p:cNvPr id="14" name="Shape 12"/>
          <p:cNvSpPr/>
          <p:nvPr/>
        </p:nvSpPr>
        <p:spPr>
          <a:xfrm>
            <a:off x="6409944" y="1892808"/>
            <a:ext cx="109728" cy="109728"/>
          </a:xfrm>
          <a:prstGeom prst="ellipse">
            <a:avLst/>
          </a:prstGeom>
          <a:solidFill>
            <a:srgbClr val="2E7D74"/>
          </a:solidFill>
          <a:ln w="12700">
            <a:solidFill>
              <a:srgbClr val="333333"/>
            </a:solidFill>
            <a:prstDash val="solid"/>
          </a:ln>
        </p:spPr>
        <p:txBody>
          <a:bodyPr/>
          <a:lstStyle/>
          <a:p>
            <a:endParaRPr lang="en-US"/>
          </a:p>
        </p:txBody>
      </p:sp>
      <p:sp>
        <p:nvSpPr>
          <p:cNvPr id="15" name="Text 13"/>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2A2018"/>
                </a:solidFill>
                <a:latin typeface="Cambria" pitchFamily="34" charset="0"/>
                <a:ea typeface="Cambria" pitchFamily="34" charset="-122"/>
                <a:cs typeface="Cambria" pitchFamily="34" charset="-120"/>
              </a:rPr>
              <a:t>And what else changes</a:t>
            </a:r>
            <a:endParaRPr lang="en-US" sz="1500" dirty="0"/>
          </a:p>
        </p:txBody>
      </p:sp>
      <p:sp>
        <p:nvSpPr>
          <p:cNvPr id="16" name="Text 14"/>
          <p:cNvSpPr txBox="1"/>
          <p:nvPr/>
        </p:nvSpPr>
        <p:spPr>
          <a:xfrm>
            <a:off x="6446520" y="2203704"/>
            <a:ext cx="4928616" cy="1453896"/>
          </a:xfrm>
          <a:prstGeom prst="rect">
            <a:avLst/>
          </a:prstGeom>
          <a:noFill/>
          <a:ln/>
        </p:spPr>
        <p:txBody>
          <a:bodyPr wrap="square" lIns="0" tIns="0" rIns="0" bIns="0" rtlCol="0" anchor="t"/>
          <a:lstStyle/>
          <a:p>
            <a:pPr marL="0" indent="0">
              <a:lnSpc>
                <a:spcPct val="108000"/>
              </a:lnSpc>
              <a:buNone/>
            </a:pPr>
            <a:r>
              <a:rPr lang="en-US" sz="1260" dirty="0">
                <a:solidFill>
                  <a:srgbClr val="362A1E"/>
                </a:solidFill>
                <a:latin typeface="Calibri" pitchFamily="34" charset="0"/>
                <a:ea typeface="Calibri" pitchFamily="34" charset="-122"/>
                <a:cs typeface="Calibri" pitchFamily="34" charset="-120"/>
              </a:rPr>
              <a:t>Beyond individual words: rhetorical strategies. Irony, indirection, and period-specific norms of sentiment expression.</a:t>
            </a:r>
            <a:endParaRPr lang="en-US" sz="1260" dirty="0"/>
          </a:p>
          <a:p>
            <a:pPr marL="0" indent="0">
              <a:lnSpc>
                <a:spcPct val="108000"/>
              </a:lnSpc>
              <a:buNone/>
            </a:pPr>
            <a:endParaRPr lang="en-US" sz="1260" dirty="0"/>
          </a:p>
          <a:p>
            <a:pPr marL="0" indent="0">
              <a:lnSpc>
                <a:spcPct val="108000"/>
              </a:lnSpc>
              <a:buNone/>
            </a:pPr>
            <a:r>
              <a:rPr lang="en-US" sz="1260" dirty="0">
                <a:solidFill>
                  <a:srgbClr val="362A1E"/>
                </a:solidFill>
                <a:latin typeface="Calibri" pitchFamily="34" charset="0"/>
                <a:ea typeface="Calibri" pitchFamily="34" charset="-122"/>
                <a:cs typeface="Calibri" pitchFamily="34" charset="-120"/>
              </a:rPr>
              <a:t>Classical and Enlightenment literature expresses judgement through virtue vocabulary, metre and allusion — registers a modern sentiment classifier has no handle on.</a:t>
            </a:r>
            <a:endParaRPr lang="en-US" sz="1260" dirty="0"/>
          </a:p>
        </p:txBody>
      </p:sp>
      <p:sp>
        <p:nvSpPr>
          <p:cNvPr id="17" name="Shape 15"/>
          <p:cNvSpPr/>
          <p:nvPr/>
        </p:nvSpPr>
        <p:spPr>
          <a:xfrm>
            <a:off x="566928" y="4041648"/>
            <a:ext cx="11064240" cy="2011680"/>
          </a:xfrm>
          <a:prstGeom prst="roundRect">
            <a:avLst>
              <a:gd name="adj" fmla="val 2727"/>
            </a:avLst>
          </a:prstGeom>
          <a:solidFill>
            <a:srgbClr val="3A2E22"/>
          </a:solidFill>
          <a:ln w="12700">
            <a:solidFill>
              <a:srgbClr val="3A2E22"/>
            </a:solidFill>
            <a:prstDash val="solid"/>
          </a:ln>
        </p:spPr>
        <p:txBody>
          <a:bodyPr/>
          <a:lstStyle/>
          <a:p>
            <a:endParaRPr lang="en-US"/>
          </a:p>
        </p:txBody>
      </p:sp>
      <p:sp>
        <p:nvSpPr>
          <p:cNvPr id="18" name="Shape 16"/>
          <p:cNvSpPr/>
          <p:nvPr/>
        </p:nvSpPr>
        <p:spPr>
          <a:xfrm>
            <a:off x="786384" y="4334256"/>
            <a:ext cx="109728" cy="109728"/>
          </a:xfrm>
          <a:prstGeom prst="ellipse">
            <a:avLst/>
          </a:prstGeom>
          <a:solidFill>
            <a:srgbClr val="2E7D74"/>
          </a:solidFill>
          <a:ln w="12700">
            <a:solidFill>
              <a:srgbClr val="333333"/>
            </a:solidFill>
            <a:prstDash val="solid"/>
          </a:ln>
        </p:spPr>
        <p:txBody>
          <a:bodyPr/>
          <a:lstStyle/>
          <a:p>
            <a:endParaRPr lang="en-US"/>
          </a:p>
        </p:txBody>
      </p:sp>
      <p:sp>
        <p:nvSpPr>
          <p:cNvPr id="19" name="Text 17"/>
          <p:cNvSpPr txBox="1"/>
          <p:nvPr/>
        </p:nvSpPr>
        <p:spPr>
          <a:xfrm>
            <a:off x="987552" y="420624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design response</a:t>
            </a:r>
            <a:endParaRPr lang="en-US" sz="1500" dirty="0"/>
          </a:p>
        </p:txBody>
      </p:sp>
      <p:sp>
        <p:nvSpPr>
          <p:cNvPr id="20" name="Text 18"/>
          <p:cNvSpPr txBox="1"/>
          <p:nvPr/>
        </p:nvSpPr>
        <p:spPr>
          <a:xfrm>
            <a:off x="822960" y="4645152"/>
            <a:ext cx="10552176" cy="1225296"/>
          </a:xfrm>
          <a:prstGeom prst="rect">
            <a:avLst/>
          </a:prstGeom>
          <a:noFill/>
          <a:ln/>
        </p:spPr>
        <p:txBody>
          <a:bodyPr wrap="square" lIns="0" tIns="0" rIns="0" bIns="0" rtlCol="0" anchor="t"/>
          <a:lstStyle/>
          <a:p>
            <a:pPr marL="0" indent="0">
              <a:lnSpc>
                <a:spcPct val="108000"/>
              </a:lnSpc>
              <a:buNone/>
            </a:pPr>
            <a:r>
              <a:rPr lang="en-US" sz="1300" dirty="0">
                <a:solidFill>
                  <a:srgbClr val="DDCCB0"/>
                </a:solidFill>
                <a:latin typeface="Calibri" pitchFamily="34" charset="0"/>
                <a:ea typeface="Calibri" pitchFamily="34" charset="-122"/>
                <a:cs typeface="Calibri" pitchFamily="34" charset="-120"/>
              </a:rPr>
              <a:t>The prompt does not merely ask for a historically informed reading. It explicitly constrains what the model is allowed to know: 'You know nothing of modern persons, events, or ideas.'</a:t>
            </a:r>
            <a:endParaRPr lang="en-US" sz="1300" dirty="0"/>
          </a:p>
          <a:p>
            <a:pPr marL="0" indent="0">
              <a:lnSpc>
                <a:spcPct val="108000"/>
              </a:lnSpc>
              <a:buNone/>
            </a:pPr>
            <a:endParaRPr lang="en-US" sz="1300" dirty="0"/>
          </a:p>
          <a:p>
            <a:pPr marL="0" indent="0">
              <a:lnSpc>
                <a:spcPct val="108000"/>
              </a:lnSpc>
              <a:buNone/>
            </a:pPr>
            <a:r>
              <a:rPr lang="en-US" sz="1300" dirty="0">
                <a:solidFill>
                  <a:srgbClr val="DDCCB0"/>
                </a:solidFill>
                <a:latin typeface="Calibri" pitchFamily="34" charset="0"/>
                <a:ea typeface="Calibri" pitchFamily="34" charset="-122"/>
                <a:cs typeface="Calibri" pitchFamily="34" charset="-120"/>
              </a:rPr>
              <a:t>That is a negative constraint on the model's knowledge, not a positive instruction about style — and the ablation suggests the constraint is where much of the gain lives.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3A2E22"/>
        </a:solidFill>
        <a:effectLst/>
      </p:bgPr>
    </p:bg>
    <p:spTree>
      <p:nvGrpSpPr>
        <p:cNvPr id="1" name=""/>
        <p:cNvGrpSpPr/>
        <p:nvPr/>
      </p:nvGrpSpPr>
      <p:grpSpPr>
        <a:xfrm>
          <a:off x="0" y="0"/>
          <a:ext cx="0" cy="0"/>
          <a:chOff x="0" y="0"/>
          <a:chExt cx="0" cy="0"/>
        </a:xfrm>
      </p:grpSpPr>
      <p:sp>
        <p:nvSpPr>
          <p:cNvPr id="2" name="Shape 0"/>
          <p:cNvSpPr/>
          <p:nvPr/>
        </p:nvSpPr>
        <p:spPr>
          <a:xfrm>
            <a:off x="10607040" y="5349240"/>
            <a:ext cx="201168" cy="201168"/>
          </a:xfrm>
          <a:prstGeom prst="ellipse">
            <a:avLst/>
          </a:prstGeom>
          <a:solidFill>
            <a:srgbClr val="DDCCB0"/>
          </a:solidFill>
          <a:ln w="12700">
            <a:solidFill>
              <a:srgbClr val="333333"/>
            </a:solidFill>
            <a:prstDash val="solid"/>
          </a:ln>
        </p:spPr>
        <p:txBody>
          <a:bodyPr/>
          <a:lstStyle/>
          <a:p>
            <a:endParaRPr lang="en-US"/>
          </a:p>
        </p:txBody>
      </p:sp>
      <p:sp>
        <p:nvSpPr>
          <p:cNvPr id="3" name="Shape 1"/>
          <p:cNvSpPr/>
          <p:nvPr/>
        </p:nvSpPr>
        <p:spPr>
          <a:xfrm>
            <a:off x="10917936" y="5349240"/>
            <a:ext cx="201168" cy="201168"/>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0607040" y="5660136"/>
            <a:ext cx="201168" cy="201168"/>
          </a:xfrm>
          <a:prstGeom prst="ellipse">
            <a:avLst/>
          </a:prstGeom>
          <a:solidFill>
            <a:srgbClr val="DDCCB0"/>
          </a:solidFill>
          <a:ln w="12700">
            <a:solidFill>
              <a:srgbClr val="333333"/>
            </a:solidFill>
            <a:prstDash val="solid"/>
          </a:ln>
        </p:spPr>
        <p:txBody>
          <a:bodyPr/>
          <a:lstStyle/>
          <a:p>
            <a:endParaRPr lang="en-US"/>
          </a:p>
        </p:txBody>
      </p:sp>
      <p:sp>
        <p:nvSpPr>
          <p:cNvPr id="5" name="Shape 3"/>
          <p:cNvSpPr/>
          <p:nvPr/>
        </p:nvSpPr>
        <p:spPr>
          <a:xfrm>
            <a:off x="10917936" y="5660136"/>
            <a:ext cx="201168" cy="201168"/>
          </a:xfrm>
          <a:prstGeom prst="ellipse">
            <a:avLst/>
          </a:prstGeom>
          <a:solidFill>
            <a:srgbClr val="DDCCB0"/>
          </a:solidFill>
          <a:ln w="12700">
            <a:solidFill>
              <a:srgbClr val="333333"/>
            </a:solidFill>
            <a:prstDash val="solid"/>
          </a:ln>
        </p:spPr>
        <p:txBody>
          <a:bodyPr/>
          <a:lstStyle/>
          <a:p>
            <a:endParaRPr lang="en-US"/>
          </a:p>
        </p:txBody>
      </p:sp>
      <p:sp>
        <p:nvSpPr>
          <p:cNvPr id="6" name="Text 4"/>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2E7D74"/>
                </a:solidFill>
                <a:latin typeface="Cambria" pitchFamily="34" charset="0"/>
                <a:ea typeface="Cambria" pitchFamily="34" charset="-122"/>
                <a:cs typeface="Cambria" pitchFamily="34" charset="-120"/>
              </a:rPr>
              <a:t>2</a:t>
            </a:r>
            <a:endParaRPr lang="en-US" sz="6600" dirty="0"/>
          </a:p>
        </p:txBody>
      </p:sp>
      <p:sp>
        <p:nvSpPr>
          <p:cNvPr id="7" name="Text 5"/>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Role-guided annotation</a:t>
            </a:r>
            <a:endParaRPr lang="en-US" sz="3300" dirty="0"/>
          </a:p>
        </p:txBody>
      </p:sp>
      <p:sp>
        <p:nvSpPr>
          <p:cNvPr id="8" name="Text 6"/>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DCCB0"/>
                </a:solidFill>
                <a:latin typeface="Calibri" pitchFamily="34" charset="0"/>
                <a:ea typeface="Calibri" pitchFamily="34" charset="-122"/>
                <a:cs typeface="Calibri" pitchFamily="34" charset="-120"/>
              </a:rPr>
              <a:t>Prompting an LLM to forget the present</a:t>
            </a:r>
            <a:endParaRPr lang="en-US" sz="150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The role-play prompt</a:t>
            </a:r>
            <a:endParaRPr lang="en-US" sz="2900" dirty="0"/>
          </a:p>
        </p:txBody>
      </p:sp>
      <p:sp>
        <p:nvSpPr>
          <p:cNvPr id="7" name="Text 5"/>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The Latin example, as printed in the paper</a:t>
            </a:r>
            <a:endParaRPr lang="en-US" sz="135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8</a:t>
            </a:r>
            <a:endParaRPr lang="en-US" sz="900" dirty="0"/>
          </a:p>
        </p:txBody>
      </p:sp>
      <p:sp>
        <p:nvSpPr>
          <p:cNvPr id="9" name="Shape 7"/>
          <p:cNvSpPr/>
          <p:nvPr/>
        </p:nvSpPr>
        <p:spPr>
          <a:xfrm>
            <a:off x="566928" y="1591056"/>
            <a:ext cx="6675120" cy="3291840"/>
          </a:xfrm>
          <a:prstGeom prst="roundRect">
            <a:avLst>
              <a:gd name="adj" fmla="val 1667"/>
            </a:avLst>
          </a:prstGeom>
          <a:solidFill>
            <a:srgbClr val="F7F2E9"/>
          </a:solidFill>
          <a:ln w="16510">
            <a:solidFill>
              <a:srgbClr val="8A6A3E"/>
            </a:solidFill>
            <a:prstDash val="solid"/>
          </a:ln>
        </p:spPr>
        <p:txBody>
          <a:bodyPr/>
          <a:lstStyle/>
          <a:p>
            <a:endParaRPr lang="en-US"/>
          </a:p>
        </p:txBody>
      </p:sp>
      <p:sp>
        <p:nvSpPr>
          <p:cNvPr id="10" name="Text 8"/>
          <p:cNvSpPr txBox="1"/>
          <p:nvPr/>
        </p:nvSpPr>
        <p:spPr>
          <a:xfrm>
            <a:off x="822960" y="1810512"/>
            <a:ext cx="6217920" cy="2834640"/>
          </a:xfrm>
          <a:prstGeom prst="rect">
            <a:avLst/>
          </a:prstGeom>
          <a:noFill/>
          <a:ln/>
        </p:spPr>
        <p:txBody>
          <a:bodyPr wrap="square" lIns="0" tIns="0" rIns="0" bIns="0" rtlCol="0" anchor="ctr"/>
          <a:lstStyle/>
          <a:p>
            <a:pPr marL="0" indent="0">
              <a:lnSpc>
                <a:spcPct val="105000"/>
              </a:lnSpc>
              <a:buNone/>
            </a:pPr>
            <a:r>
              <a:rPr lang="en-US" sz="1180" dirty="0">
                <a:solidFill>
                  <a:srgbClr val="362A1E"/>
                </a:solidFill>
                <a:latin typeface="Calibri" pitchFamily="34" charset="0"/>
                <a:ea typeface="Calibri" pitchFamily="34" charset="-122"/>
                <a:cs typeface="Calibri" pitchFamily="34" charset="-120"/>
              </a:rPr>
              <a:t>You are a Roman man of letters from the 1st century AD. You live and</a:t>
            </a:r>
            <a:endParaRPr lang="en-US" sz="1180" dirty="0"/>
          </a:p>
          <a:p>
            <a:pPr marL="0" indent="0">
              <a:lnSpc>
                <a:spcPct val="105000"/>
              </a:lnSpc>
              <a:buNone/>
            </a:pPr>
            <a:r>
              <a:rPr lang="en-US" sz="1180" dirty="0">
                <a:solidFill>
                  <a:srgbClr val="362A1E"/>
                </a:solidFill>
                <a:latin typeface="Calibri" pitchFamily="34" charset="0"/>
                <a:ea typeface="Calibri" pitchFamily="34" charset="-122"/>
                <a:cs typeface="Calibri" pitchFamily="34" charset="-120"/>
              </a:rPr>
              <a:t>think entirely within your time. Any word, name, or expression must be</a:t>
            </a:r>
            <a:endParaRPr lang="en-US" sz="1180" dirty="0"/>
          </a:p>
          <a:p>
            <a:pPr marL="0" indent="0">
              <a:lnSpc>
                <a:spcPct val="105000"/>
              </a:lnSpc>
              <a:buNone/>
            </a:pPr>
            <a:r>
              <a:rPr lang="en-US" sz="1180" dirty="0">
                <a:solidFill>
                  <a:srgbClr val="362A1E"/>
                </a:solidFill>
                <a:latin typeface="Calibri" pitchFamily="34" charset="0"/>
                <a:ea typeface="Calibri" pitchFamily="34" charset="-122"/>
                <a:cs typeface="Calibri" pitchFamily="34" charset="-120"/>
              </a:rPr>
              <a:t>interpreted only in the context of Roman knowledge and values.</a:t>
            </a:r>
            <a:endParaRPr lang="en-US" sz="1180" dirty="0"/>
          </a:p>
          <a:p>
            <a:pPr marL="0" indent="0">
              <a:lnSpc>
                <a:spcPct val="105000"/>
              </a:lnSpc>
              <a:buNone/>
            </a:pPr>
            <a:endParaRPr lang="en-US" sz="1180" dirty="0"/>
          </a:p>
          <a:p>
            <a:pPr marL="0" indent="0">
              <a:lnSpc>
                <a:spcPct val="105000"/>
              </a:lnSpc>
              <a:buNone/>
            </a:pPr>
            <a:r>
              <a:rPr lang="en-US" sz="1180" dirty="0">
                <a:solidFill>
                  <a:srgbClr val="362A1E"/>
                </a:solidFill>
                <a:latin typeface="Calibri" pitchFamily="34" charset="0"/>
                <a:ea typeface="Calibri" pitchFamily="34" charset="-122"/>
                <a:cs typeface="Calibri" pitchFamily="34" charset="-120"/>
              </a:rPr>
              <a:t>You know nothing of modern persons, events, or ideas.</a:t>
            </a:r>
            <a:endParaRPr lang="en-US" sz="1180" dirty="0"/>
          </a:p>
          <a:p>
            <a:pPr marL="0" indent="0">
              <a:lnSpc>
                <a:spcPct val="105000"/>
              </a:lnSpc>
              <a:buNone/>
            </a:pPr>
            <a:endParaRPr lang="en-US" sz="1180" dirty="0"/>
          </a:p>
          <a:p>
            <a:pPr marL="0" indent="0">
              <a:lnSpc>
                <a:spcPct val="105000"/>
              </a:lnSpc>
              <a:buNone/>
            </a:pPr>
            <a:r>
              <a:rPr lang="en-US" sz="1180" dirty="0">
                <a:solidFill>
                  <a:srgbClr val="362A1E"/>
                </a:solidFill>
                <a:latin typeface="Calibri" pitchFamily="34" charset="0"/>
                <a:ea typeface="Calibri" pitchFamily="34" charset="-122"/>
                <a:cs typeface="Calibri" pitchFamily="34" charset="-120"/>
              </a:rPr>
              <a:t>Interpret Latin poetry as a Roman would — by meter, style, image, virtue,</a:t>
            </a:r>
            <a:endParaRPr lang="en-US" sz="1180" dirty="0"/>
          </a:p>
          <a:p>
            <a:pPr marL="0" indent="0">
              <a:lnSpc>
                <a:spcPct val="105000"/>
              </a:lnSpc>
              <a:buNone/>
            </a:pPr>
            <a:r>
              <a:rPr lang="en-US" sz="1180" dirty="0">
                <a:solidFill>
                  <a:srgbClr val="362A1E"/>
                </a:solidFill>
                <a:latin typeface="Calibri" pitchFamily="34" charset="0"/>
                <a:ea typeface="Calibri" pitchFamily="34" charset="-122"/>
                <a:cs typeface="Calibri" pitchFamily="34" charset="-120"/>
              </a:rPr>
              <a:t>and feeling, not by the standards of later ages. You classify the overall</a:t>
            </a:r>
            <a:endParaRPr lang="en-US" sz="1180" dirty="0"/>
          </a:p>
          <a:p>
            <a:pPr marL="0" indent="0">
              <a:lnSpc>
                <a:spcPct val="105000"/>
              </a:lnSpc>
              <a:buNone/>
            </a:pPr>
            <a:r>
              <a:rPr lang="en-US" sz="1180" dirty="0">
                <a:solidFill>
                  <a:srgbClr val="362A1E"/>
                </a:solidFill>
                <a:latin typeface="Calibri" pitchFamily="34" charset="0"/>
                <a:ea typeface="Calibri" pitchFamily="34" charset="-122"/>
                <a:cs typeface="Calibri" pitchFamily="34" charset="-120"/>
              </a:rPr>
              <a:t>emotion polarity conveyed by Latin poetic sentences.</a:t>
            </a:r>
            <a:endParaRPr lang="en-US" sz="1180" dirty="0"/>
          </a:p>
          <a:p>
            <a:pPr marL="0" indent="0">
              <a:lnSpc>
                <a:spcPct val="105000"/>
              </a:lnSpc>
              <a:buNone/>
            </a:pPr>
            <a:endParaRPr lang="en-US" sz="1180" dirty="0"/>
          </a:p>
          <a:p>
            <a:pPr marL="0" indent="0">
              <a:lnSpc>
                <a:spcPct val="105000"/>
              </a:lnSpc>
              <a:buNone/>
            </a:pPr>
            <a:r>
              <a:rPr lang="en-US" sz="1180" dirty="0">
                <a:solidFill>
                  <a:srgbClr val="362A1E"/>
                </a:solidFill>
                <a:latin typeface="Calibri" pitchFamily="34" charset="0"/>
                <a:ea typeface="Calibri" pitchFamily="34" charset="-122"/>
                <a:cs typeface="Calibri" pitchFamily="34" charset="-120"/>
              </a:rPr>
              <a:t>Respond ONLY STRICTLY with: positive or negative or neutral or mixed.</a:t>
            </a:r>
            <a:endParaRPr lang="en-US" sz="1180" dirty="0"/>
          </a:p>
        </p:txBody>
      </p:sp>
      <p:sp>
        <p:nvSpPr>
          <p:cNvPr id="11" name="Text 9"/>
          <p:cNvSpPr txBox="1"/>
          <p:nvPr/>
        </p:nvSpPr>
        <p:spPr>
          <a:xfrm>
            <a:off x="7498080" y="1737360"/>
            <a:ext cx="4133088" cy="310896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Three components: a persona, a knowledge constraint, and an interpretive instruction naming period-appropriate criteria — metre, style, image, virtue.</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The knowledge constraint is the distinctive part and appears in every dataset's prompt in some form.</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Prompts are written per dataset. The Lessing prompt casts the model as Lessing himself; the Austrian newspaper prompt as a 19th-century Austrian expert.</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The paper lists this manual prompt design as a limitation: it limits the automation of the annotation process.</a:t>
            </a:r>
            <a:endParaRPr lang="en-US" sz="1220" dirty="0"/>
          </a:p>
        </p:txBody>
      </p:sp>
      <p:sp>
        <p:nvSpPr>
          <p:cNvPr id="12" name="Shape 10"/>
          <p:cNvSpPr/>
          <p:nvPr/>
        </p:nvSpPr>
        <p:spPr>
          <a:xfrm>
            <a:off x="566928" y="5029200"/>
            <a:ext cx="11064240" cy="1024128"/>
          </a:xfrm>
          <a:prstGeom prst="roundRect">
            <a:avLst>
              <a:gd name="adj" fmla="val 5357"/>
            </a:avLst>
          </a:prstGeom>
          <a:solidFill>
            <a:srgbClr val="3A2E22"/>
          </a:solidFill>
          <a:ln w="12700">
            <a:solidFill>
              <a:srgbClr val="3A2E22"/>
            </a:solidFill>
            <a:prstDash val="solid"/>
          </a:ln>
        </p:spPr>
        <p:txBody>
          <a:bodyPr/>
          <a:lstStyle/>
          <a:p>
            <a:endParaRPr lang="en-US"/>
          </a:p>
        </p:txBody>
      </p:sp>
      <p:sp>
        <p:nvSpPr>
          <p:cNvPr id="13" name="Text 11"/>
          <p:cNvSpPr txBox="1"/>
          <p:nvPr/>
        </p:nvSpPr>
        <p:spPr>
          <a:xfrm>
            <a:off x="822960" y="5248656"/>
            <a:ext cx="10552176" cy="603504"/>
          </a:xfrm>
          <a:prstGeom prst="rect">
            <a:avLst/>
          </a:prstGeom>
          <a:noFill/>
          <a:ln/>
        </p:spPr>
        <p:txBody>
          <a:bodyPr wrap="square" lIns="0" tIns="0" rIns="0" bIns="0" rtlCol="0" anchor="t"/>
          <a:lstStyle/>
          <a:p>
            <a:pPr marL="0" indent="0">
              <a:lnSpc>
                <a:spcPct val="108000"/>
              </a:lnSpc>
              <a:buNone/>
            </a:pPr>
            <a:r>
              <a:rPr lang="en-US" sz="1300" dirty="0">
                <a:solidFill>
                  <a:srgbClr val="DDCCB0"/>
                </a:solidFill>
                <a:latin typeface="Calibri" pitchFamily="34" charset="0"/>
                <a:ea typeface="Calibri" pitchFamily="34" charset="-122"/>
                <a:cs typeface="Calibri" pitchFamily="34" charset="-120"/>
              </a:rPr>
              <a:t>Worth noticing what the prompts encode: the Austrian one tells the model not to be influenced by comparative references to political parties or factions. That is historiographical knowledge, written into a prompt by someone who knows the corpus.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Does the role help?</a:t>
            </a:r>
            <a:endParaRPr lang="en-US" sz="2900" dirty="0"/>
          </a:p>
        </p:txBody>
      </p:sp>
      <p:sp>
        <p:nvSpPr>
          <p:cNvPr id="7" name="Text 5"/>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Annotation quality against gold human labels, macro-F1</a:t>
            </a:r>
            <a:endParaRPr lang="en-US" sz="135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9</a:t>
            </a:r>
            <a:endParaRPr lang="en-US" sz="900" dirty="0"/>
          </a:p>
        </p:txBody>
      </p:sp>
      <p:graphicFrame>
        <p:nvGraphicFramePr>
          <p:cNvPr id="9" name="Chart 0"/>
          <p:cNvGraphicFramePr/>
          <p:nvPr/>
        </p:nvGraphicFramePr>
        <p:xfrm>
          <a:off x="566928" y="1554480"/>
          <a:ext cx="68580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7680960" y="1700784"/>
            <a:ext cx="395020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Historical role-play is best on all four corpora — the paper's headline claim for this component.</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The gains are wildly uneven: +1.6 on Lessing, +2.2 on the novels, +11.4 on Austrian news, +16.7 on Latin.</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The pattern tracks difficulty: the two corpora where plain prompting already works well gain little; the two where it fails gain a lot.</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Note Latin is where a modern GPT-4o has least to go on — the baseline of 41.6 on four classes is close to unusable.</a:t>
            </a:r>
            <a:endParaRPr lang="en-US" sz="1220" dirty="0"/>
          </a:p>
        </p:txBody>
      </p:sp>
      <p:sp>
        <p:nvSpPr>
          <p:cNvPr id="11" name="Shape 8"/>
          <p:cNvSpPr/>
          <p:nvPr/>
        </p:nvSpPr>
        <p:spPr>
          <a:xfrm>
            <a:off x="566928" y="5266944"/>
            <a:ext cx="11064240" cy="786384"/>
          </a:xfrm>
          <a:prstGeom prst="roundRect">
            <a:avLst>
              <a:gd name="adj" fmla="val 6977"/>
            </a:avLst>
          </a:prstGeom>
          <a:solidFill>
            <a:srgbClr val="3A2E22"/>
          </a:solidFill>
          <a:ln w="12700">
            <a:solidFill>
              <a:srgbClr val="3A2E22"/>
            </a:solidFill>
            <a:prstDash val="solid"/>
          </a:ln>
        </p:spPr>
        <p:txBody>
          <a:bodyPr/>
          <a:lstStyle/>
          <a:p>
            <a:endParaRPr lang="en-US"/>
          </a:p>
        </p:txBody>
      </p:sp>
      <p:sp>
        <p:nvSpPr>
          <p:cNvPr id="12" name="Text 9"/>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DDCCB0"/>
                </a:solidFill>
                <a:latin typeface="Calibri" pitchFamily="34" charset="0"/>
                <a:ea typeface="Calibri" pitchFamily="34" charset="-122"/>
                <a:cs typeface="Calibri" pitchFamily="34" charset="-120"/>
              </a:rPr>
              <a:t>A clean result, well controlled: same model, same texts, same gold labels, only the prompt changes.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How much of the gain is the history?</a:t>
            </a:r>
            <a:endParaRPr lang="en-US" sz="2900" dirty="0"/>
          </a:p>
        </p:txBody>
      </p:sp>
      <p:sp>
        <p:nvSpPr>
          <p:cNvPr id="7" name="Text 5"/>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Decomposing role-play into persona and period</a:t>
            </a:r>
            <a:endParaRPr lang="en-US" sz="135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10</a:t>
            </a:r>
            <a:endParaRPr lang="en-US" sz="900" dirty="0"/>
          </a:p>
        </p:txBody>
      </p:sp>
      <p:graphicFrame>
        <p:nvGraphicFramePr>
          <p:cNvPr id="9"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On Latin, almost all of the gain comes from role-play as such: 15.0 of the 16.7 points arrive with a modern literary critic persona.</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On Austrian newspapers the picture reverses: 9.6 of the 11.4 points require the historical framing specifically.</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So the mechanism differs by corpus. For Latin, adopting any interpretive stance helps; for 19th-century political journalism, the period matters.</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The paper reports both conditions honestly but does not draw this decomposition out.</a:t>
            </a:r>
            <a:endParaRPr lang="en-US" sz="1220" dirty="0"/>
          </a:p>
        </p:txBody>
      </p:sp>
      <p:sp>
        <p:nvSpPr>
          <p:cNvPr id="11" name="Shape 8"/>
          <p:cNvSpPr/>
          <p:nvPr/>
        </p:nvSpPr>
        <p:spPr>
          <a:xfrm>
            <a:off x="566928" y="5266944"/>
            <a:ext cx="11064240" cy="786384"/>
          </a:xfrm>
          <a:prstGeom prst="roundRect">
            <a:avLst>
              <a:gd name="adj" fmla="val 6977"/>
            </a:avLst>
          </a:prstGeom>
          <a:solidFill>
            <a:srgbClr val="3A2E22"/>
          </a:solidFill>
          <a:ln w="12700">
            <a:solidFill>
              <a:srgbClr val="3A2E22"/>
            </a:solidFill>
            <a:prstDash val="solid"/>
          </a:ln>
        </p:spPr>
        <p:txBody>
          <a:bodyPr/>
          <a:lstStyle/>
          <a:p>
            <a:endParaRPr lang="en-US"/>
          </a:p>
        </p:txBody>
      </p:sp>
      <p:sp>
        <p:nvSpPr>
          <p:cNvPr id="12" name="Text 9"/>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DDCCB0"/>
                </a:solidFill>
                <a:latin typeface="Calibri" pitchFamily="34" charset="0"/>
                <a:ea typeface="Calibri" pitchFamily="34" charset="-122"/>
                <a:cs typeface="Calibri" pitchFamily="34" charset="-120"/>
              </a:rPr>
              <a:t>A plausible reading: the Austrian corpus is full of 19th-century political controversy that a modern reader would score by modern politics. Latin poetry has no such modern analogue to misapply.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3A2E22"/>
        </a:solidFill>
        <a:effectLst/>
      </p:bgPr>
    </p:bg>
    <p:spTree>
      <p:nvGrpSpPr>
        <p:cNvPr id="1" name=""/>
        <p:cNvGrpSpPr/>
        <p:nvPr/>
      </p:nvGrpSpPr>
      <p:grpSpPr>
        <a:xfrm>
          <a:off x="0" y="0"/>
          <a:ext cx="0" cy="0"/>
          <a:chOff x="0" y="0"/>
          <a:chExt cx="0" cy="0"/>
        </a:xfrm>
      </p:grpSpPr>
      <p:sp>
        <p:nvSpPr>
          <p:cNvPr id="2" name="Shape 0"/>
          <p:cNvSpPr/>
          <p:nvPr/>
        </p:nvSpPr>
        <p:spPr>
          <a:xfrm>
            <a:off x="10607040" y="5349240"/>
            <a:ext cx="201168" cy="201168"/>
          </a:xfrm>
          <a:prstGeom prst="ellipse">
            <a:avLst/>
          </a:prstGeom>
          <a:solidFill>
            <a:srgbClr val="DDCCB0"/>
          </a:solidFill>
          <a:ln w="12700">
            <a:solidFill>
              <a:srgbClr val="333333"/>
            </a:solidFill>
            <a:prstDash val="solid"/>
          </a:ln>
        </p:spPr>
        <p:txBody>
          <a:bodyPr/>
          <a:lstStyle/>
          <a:p>
            <a:endParaRPr lang="en-US"/>
          </a:p>
        </p:txBody>
      </p:sp>
      <p:sp>
        <p:nvSpPr>
          <p:cNvPr id="3" name="Shape 1"/>
          <p:cNvSpPr/>
          <p:nvPr/>
        </p:nvSpPr>
        <p:spPr>
          <a:xfrm>
            <a:off x="10917936" y="5349240"/>
            <a:ext cx="201168" cy="201168"/>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0607040" y="5660136"/>
            <a:ext cx="201168" cy="201168"/>
          </a:xfrm>
          <a:prstGeom prst="ellipse">
            <a:avLst/>
          </a:prstGeom>
          <a:solidFill>
            <a:srgbClr val="DDCCB0"/>
          </a:solidFill>
          <a:ln w="12700">
            <a:solidFill>
              <a:srgbClr val="333333"/>
            </a:solidFill>
            <a:prstDash val="solid"/>
          </a:ln>
        </p:spPr>
        <p:txBody>
          <a:bodyPr/>
          <a:lstStyle/>
          <a:p>
            <a:endParaRPr lang="en-US"/>
          </a:p>
        </p:txBody>
      </p:sp>
      <p:sp>
        <p:nvSpPr>
          <p:cNvPr id="5" name="Shape 3"/>
          <p:cNvSpPr/>
          <p:nvPr/>
        </p:nvSpPr>
        <p:spPr>
          <a:xfrm>
            <a:off x="10917936" y="5660136"/>
            <a:ext cx="201168" cy="201168"/>
          </a:xfrm>
          <a:prstGeom prst="ellipse">
            <a:avLst/>
          </a:prstGeom>
          <a:solidFill>
            <a:srgbClr val="DDCCB0"/>
          </a:solidFill>
          <a:ln w="12700">
            <a:solidFill>
              <a:srgbClr val="333333"/>
            </a:solidFill>
            <a:prstDash val="solid"/>
          </a:ln>
        </p:spPr>
        <p:txBody>
          <a:bodyPr/>
          <a:lstStyle/>
          <a:p>
            <a:endParaRPr lang="en-US"/>
          </a:p>
        </p:txBody>
      </p:sp>
      <p:sp>
        <p:nvSpPr>
          <p:cNvPr id="6" name="Text 4"/>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2E7D74"/>
                </a:solidFill>
                <a:latin typeface="Cambria" pitchFamily="34" charset="0"/>
                <a:ea typeface="Cambria" pitchFamily="34" charset="-122"/>
                <a:cs typeface="Cambria" pitchFamily="34" charset="-120"/>
              </a:rPr>
              <a:t>3</a:t>
            </a:r>
            <a:endParaRPr lang="en-US" sz="6600" dirty="0"/>
          </a:p>
        </p:txBody>
      </p:sp>
      <p:sp>
        <p:nvSpPr>
          <p:cNvPr id="7" name="Text 5"/>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Prototype-aligned representation learning</a:t>
            </a:r>
            <a:endParaRPr lang="en-US" sz="3300" dirty="0"/>
          </a:p>
        </p:txBody>
      </p:sp>
      <p:sp>
        <p:nvSpPr>
          <p:cNvPr id="8" name="Text 6"/>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DCCB0"/>
                </a:solidFill>
                <a:latin typeface="Calibri" pitchFamily="34" charset="0"/>
                <a:ea typeface="Calibri" pitchFamily="34" charset="-122"/>
                <a:cs typeface="Calibri" pitchFamily="34" charset="-120"/>
              </a:rPr>
              <a:t>Denoising in representation space, not label space</a:t>
            </a:r>
            <a:endParaRPr lang="en-US" sz="150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The two-stage framework</a:t>
            </a:r>
            <a:endParaRPr lang="en-US" sz="2900" dirty="0"/>
          </a:p>
        </p:txBody>
      </p:sp>
      <p:sp>
        <p:nvSpPr>
          <p:cNvPr id="7" name="Text 5"/>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Learn anchors from modern data, then pull historical data toward them</a:t>
            </a:r>
            <a:endParaRPr lang="en-US" sz="135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12</a:t>
            </a:r>
            <a:endParaRPr lang="en-US" sz="900" dirty="0"/>
          </a:p>
        </p:txBody>
      </p:sp>
      <p:sp>
        <p:nvSpPr>
          <p:cNvPr id="9" name="Shape 7"/>
          <p:cNvSpPr/>
          <p:nvPr/>
        </p:nvSpPr>
        <p:spPr>
          <a:xfrm>
            <a:off x="566928" y="1609344"/>
            <a:ext cx="5394960" cy="2286000"/>
          </a:xfrm>
          <a:prstGeom prst="roundRect">
            <a:avLst>
              <a:gd name="adj" fmla="val 2400"/>
            </a:avLst>
          </a:prstGeom>
          <a:solidFill>
            <a:srgbClr val="F7F2E9"/>
          </a:solidFill>
          <a:ln w="17780">
            <a:solidFill>
              <a:srgbClr val="8A6A3E"/>
            </a:solidFill>
            <a:prstDash val="solid"/>
          </a:ln>
        </p:spPr>
        <p:txBody>
          <a:bodyPr/>
          <a:lstStyle/>
          <a:p>
            <a:endParaRPr lang="en-US"/>
          </a:p>
        </p:txBody>
      </p:sp>
      <p:sp>
        <p:nvSpPr>
          <p:cNvPr id="10" name="Text 8"/>
          <p:cNvSpPr txBox="1"/>
          <p:nvPr/>
        </p:nvSpPr>
        <p:spPr>
          <a:xfrm>
            <a:off x="804672" y="1810512"/>
            <a:ext cx="4937760" cy="310896"/>
          </a:xfrm>
          <a:prstGeom prst="rect">
            <a:avLst/>
          </a:prstGeom>
          <a:noFill/>
          <a:ln/>
        </p:spPr>
        <p:txBody>
          <a:bodyPr wrap="square" lIns="0" tIns="0" rIns="0" bIns="0" rtlCol="0" anchor="ctr"/>
          <a:lstStyle/>
          <a:p>
            <a:pPr marL="0" indent="0">
              <a:buNone/>
            </a:pPr>
            <a:r>
              <a:rPr lang="en-US" sz="1500" b="1" dirty="0">
                <a:solidFill>
                  <a:srgbClr val="8A6A3E"/>
                </a:solidFill>
                <a:latin typeface="Cambria" pitchFamily="34" charset="0"/>
                <a:ea typeface="Cambria" pitchFamily="34" charset="-122"/>
                <a:cs typeface="Cambria" pitchFamily="34" charset="-120"/>
              </a:rPr>
              <a:t>Stage 1 — learn prototypes</a:t>
            </a:r>
            <a:endParaRPr lang="en-US" sz="1500" dirty="0"/>
          </a:p>
        </p:txBody>
      </p:sp>
      <p:sp>
        <p:nvSpPr>
          <p:cNvPr id="11" name="Text 9"/>
          <p:cNvSpPr txBox="1"/>
          <p:nvPr/>
        </p:nvSpPr>
        <p:spPr>
          <a:xfrm>
            <a:off x="804672" y="2194560"/>
            <a:ext cx="4937760" cy="1572768"/>
          </a:xfrm>
          <a:prstGeom prst="rect">
            <a:avLst/>
          </a:prstGeom>
          <a:noFill/>
          <a:ln/>
        </p:spPr>
        <p:txBody>
          <a:bodyPr wrap="square" lIns="0" tIns="0" rIns="0" bIns="0" rtlCol="0" anchor="ctr"/>
          <a:lstStyle/>
          <a:p>
            <a:pPr marL="0" indent="0">
              <a:buNone/>
            </a:pPr>
            <a:r>
              <a:rPr lang="en-US" sz="1200" dirty="0">
                <a:solidFill>
                  <a:srgbClr val="362A1E"/>
                </a:solidFill>
                <a:latin typeface="Calibri" pitchFamily="34" charset="0"/>
                <a:ea typeface="Calibri" pitchFamily="34" charset="-122"/>
                <a:cs typeface="Calibri" pitchFamily="34" charset="-120"/>
              </a:rPr>
              <a:t>Train a prototype classifier on high-resource modern data.</a:t>
            </a:r>
            <a:endParaRPr lang="en-US" sz="1200" dirty="0"/>
          </a:p>
          <a:p>
            <a:pPr marL="0" indent="0">
              <a:buNone/>
            </a:pPr>
            <a:endParaRPr lang="en-US" sz="1200" dirty="0"/>
          </a:p>
          <a:p>
            <a:pPr marL="0" indent="0">
              <a:buNone/>
            </a:pPr>
            <a:r>
              <a:rPr lang="en-US" sz="1200" dirty="0">
                <a:solidFill>
                  <a:srgbClr val="362A1E"/>
                </a:solidFill>
                <a:latin typeface="Calibri" pitchFamily="34" charset="0"/>
                <a:ea typeface="Calibri" pitchFamily="34" charset="-122"/>
                <a:cs typeface="Calibri" pitchFamily="34" charset="-120"/>
              </a:rPr>
              <a:t>A trainable matrix P_high ∈ ℝ^(C×d), one row per sentiment class. Classify by softmax over negative squared Euclidean distance from the [CLS] embedding.</a:t>
            </a:r>
            <a:endParaRPr lang="en-US" sz="1200" dirty="0"/>
          </a:p>
          <a:p>
            <a:pPr marL="0" indent="0">
              <a:buNone/>
            </a:pPr>
            <a:endParaRPr lang="en-US" sz="1200" dirty="0"/>
          </a:p>
          <a:p>
            <a:pPr marL="0" indent="0">
              <a:buNone/>
            </a:pPr>
            <a:r>
              <a:rPr lang="en-US" sz="1200" dirty="0">
                <a:solidFill>
                  <a:srgbClr val="362A1E"/>
                </a:solidFill>
                <a:latin typeface="Calibri" pitchFamily="34" charset="0"/>
                <a:ea typeface="Calibri" pitchFamily="34" charset="-122"/>
                <a:cs typeface="Calibri" pitchFamily="34" charset="-120"/>
              </a:rPr>
              <a:t>Keep the encoder and the prototypes.</a:t>
            </a:r>
            <a:endParaRPr lang="en-US" sz="1200" dirty="0"/>
          </a:p>
        </p:txBody>
      </p:sp>
      <p:sp>
        <p:nvSpPr>
          <p:cNvPr id="12" name="Shape 10"/>
          <p:cNvSpPr/>
          <p:nvPr/>
        </p:nvSpPr>
        <p:spPr>
          <a:xfrm>
            <a:off x="6236208" y="1609344"/>
            <a:ext cx="5394960" cy="2286000"/>
          </a:xfrm>
          <a:prstGeom prst="roundRect">
            <a:avLst>
              <a:gd name="adj" fmla="val 2400"/>
            </a:avLst>
          </a:prstGeom>
          <a:solidFill>
            <a:srgbClr val="E7F2F0"/>
          </a:solidFill>
          <a:ln w="17780">
            <a:solidFill>
              <a:srgbClr val="2E7D74"/>
            </a:solidFill>
            <a:prstDash val="solid"/>
          </a:ln>
        </p:spPr>
        <p:txBody>
          <a:bodyPr/>
          <a:lstStyle/>
          <a:p>
            <a:endParaRPr lang="en-US"/>
          </a:p>
        </p:txBody>
      </p:sp>
      <p:sp>
        <p:nvSpPr>
          <p:cNvPr id="13" name="Text 11"/>
          <p:cNvSpPr txBox="1"/>
          <p:nvPr/>
        </p:nvSpPr>
        <p:spPr>
          <a:xfrm>
            <a:off x="6473952" y="1810512"/>
            <a:ext cx="4937760" cy="310896"/>
          </a:xfrm>
          <a:prstGeom prst="rect">
            <a:avLst/>
          </a:prstGeom>
          <a:noFill/>
          <a:ln/>
        </p:spPr>
        <p:txBody>
          <a:bodyPr wrap="square" lIns="0" tIns="0" rIns="0" bIns="0" rtlCol="0" anchor="ctr"/>
          <a:lstStyle/>
          <a:p>
            <a:pPr marL="0" indent="0">
              <a:buNone/>
            </a:pPr>
            <a:r>
              <a:rPr lang="en-US" sz="1500" b="1" dirty="0">
                <a:solidFill>
                  <a:srgbClr val="2E7D74"/>
                </a:solidFill>
                <a:latin typeface="Cambria" pitchFamily="34" charset="0"/>
                <a:ea typeface="Cambria" pitchFamily="34" charset="-122"/>
                <a:cs typeface="Cambria" pitchFamily="34" charset="-120"/>
              </a:rPr>
              <a:t>Stage 2 — align</a:t>
            </a:r>
            <a:endParaRPr lang="en-US" sz="1500" dirty="0"/>
          </a:p>
        </p:txBody>
      </p:sp>
      <p:sp>
        <p:nvSpPr>
          <p:cNvPr id="14" name="Text 12"/>
          <p:cNvSpPr txBox="1"/>
          <p:nvPr/>
        </p:nvSpPr>
        <p:spPr>
          <a:xfrm>
            <a:off x="6473952" y="2194560"/>
            <a:ext cx="4937760" cy="1572768"/>
          </a:xfrm>
          <a:prstGeom prst="rect">
            <a:avLst/>
          </a:prstGeom>
          <a:noFill/>
          <a:ln/>
        </p:spPr>
        <p:txBody>
          <a:bodyPr wrap="square" lIns="0" tIns="0" rIns="0" bIns="0" rtlCol="0" anchor="ctr"/>
          <a:lstStyle/>
          <a:p>
            <a:pPr marL="0" indent="0">
              <a:buNone/>
            </a:pPr>
            <a:r>
              <a:rPr lang="en-US" sz="1200" dirty="0">
                <a:solidFill>
                  <a:srgbClr val="362A1E"/>
                </a:solidFill>
                <a:latin typeface="Calibri" pitchFamily="34" charset="0"/>
                <a:ea typeface="Calibri" pitchFamily="34" charset="-122"/>
                <a:cs typeface="Calibri" pitchFamily="34" charset="-120"/>
              </a:rPr>
              <a:t>Freeze P_high as anchors. Initialise low-resource prototypes P_low from class means of [CLS] embeddings.</a:t>
            </a:r>
            <a:endParaRPr lang="en-US" sz="1200" dirty="0"/>
          </a:p>
          <a:p>
            <a:pPr marL="0" indent="0">
              <a:buNone/>
            </a:pPr>
            <a:endParaRPr lang="en-US" sz="1200" dirty="0"/>
          </a:p>
          <a:p>
            <a:pPr marL="0" indent="0">
              <a:buNone/>
            </a:pPr>
            <a:r>
              <a:rPr lang="en-US" sz="1200" dirty="0">
                <a:solidFill>
                  <a:srgbClr val="362A1E"/>
                </a:solidFill>
                <a:latin typeface="Calibri" pitchFamily="34" charset="0"/>
                <a:ea typeface="Calibri" pitchFamily="34" charset="-122"/>
                <a:cs typeface="Calibri" pitchFamily="34" charset="-120"/>
              </a:rPr>
              <a:t>A non-linear mapper M — feedforward with ReLU and LayerNorm — transforms P_low into the high-resource space.</a:t>
            </a:r>
            <a:endParaRPr lang="en-US" sz="1200" dirty="0"/>
          </a:p>
          <a:p>
            <a:pPr marL="0" indent="0">
              <a:buNone/>
            </a:pPr>
            <a:endParaRPr lang="en-US" sz="1200" dirty="0"/>
          </a:p>
          <a:p>
            <a:pPr marL="0" indent="0">
              <a:buNone/>
            </a:pPr>
            <a:r>
              <a:rPr lang="en-US" sz="1200" dirty="0">
                <a:solidFill>
                  <a:srgbClr val="362A1E"/>
                </a:solidFill>
                <a:latin typeface="Calibri" pitchFamily="34" charset="0"/>
                <a:ea typeface="Calibri" pitchFamily="34" charset="-122"/>
                <a:cs typeface="Calibri" pitchFamily="34" charset="-120"/>
              </a:rPr>
              <a:t>Train with cross-entropy plus a symmetric contrastive alignment loss.</a:t>
            </a:r>
            <a:endParaRPr lang="en-US" sz="1200" dirty="0"/>
          </a:p>
        </p:txBody>
      </p:sp>
      <p:sp>
        <p:nvSpPr>
          <p:cNvPr id="15" name="Shape 13"/>
          <p:cNvSpPr/>
          <p:nvPr/>
        </p:nvSpPr>
        <p:spPr>
          <a:xfrm>
            <a:off x="5998464" y="2743200"/>
            <a:ext cx="182880" cy="0"/>
          </a:xfrm>
          <a:prstGeom prst="line">
            <a:avLst/>
          </a:prstGeom>
          <a:noFill/>
          <a:ln w="28575">
            <a:solidFill>
              <a:srgbClr val="C4B494"/>
            </a:solidFill>
            <a:prstDash val="solid"/>
            <a:tailEnd type="triangle"/>
          </a:ln>
        </p:spPr>
        <p:txBody>
          <a:bodyPr/>
          <a:lstStyle/>
          <a:p>
            <a:endParaRPr lang="en-US"/>
          </a:p>
        </p:txBody>
      </p:sp>
      <p:sp>
        <p:nvSpPr>
          <p:cNvPr id="16" name="Shape 14"/>
          <p:cNvSpPr/>
          <p:nvPr/>
        </p:nvSpPr>
        <p:spPr>
          <a:xfrm>
            <a:off x="566928" y="4078224"/>
            <a:ext cx="11064240" cy="1975104"/>
          </a:xfrm>
          <a:prstGeom prst="roundRect">
            <a:avLst>
              <a:gd name="adj" fmla="val 2778"/>
            </a:avLst>
          </a:prstGeom>
          <a:solidFill>
            <a:srgbClr val="3A2E22"/>
          </a:solidFill>
          <a:ln w="12700">
            <a:solidFill>
              <a:srgbClr val="3A2E22"/>
            </a:solidFill>
            <a:prstDash val="solid"/>
          </a:ln>
        </p:spPr>
        <p:txBody>
          <a:bodyPr/>
          <a:lstStyle/>
          <a:p>
            <a:endParaRPr lang="en-US"/>
          </a:p>
        </p:txBody>
      </p:sp>
      <p:sp>
        <p:nvSpPr>
          <p:cNvPr id="17" name="Shape 15"/>
          <p:cNvSpPr/>
          <p:nvPr/>
        </p:nvSpPr>
        <p:spPr>
          <a:xfrm>
            <a:off x="786384" y="4370832"/>
            <a:ext cx="109728" cy="109728"/>
          </a:xfrm>
          <a:prstGeom prst="ellipse">
            <a:avLst/>
          </a:prstGeom>
          <a:solidFill>
            <a:srgbClr val="2E7D74"/>
          </a:solidFill>
          <a:ln w="12700">
            <a:solidFill>
              <a:srgbClr val="333333"/>
            </a:solidFill>
            <a:prstDash val="solid"/>
          </a:ln>
        </p:spPr>
        <p:txBody>
          <a:bodyPr/>
          <a:lstStyle/>
          <a:p>
            <a:endParaRPr lang="en-US"/>
          </a:p>
        </p:txBody>
      </p:sp>
      <p:sp>
        <p:nvSpPr>
          <p:cNvPr id="18" name="Text 16"/>
          <p:cNvSpPr txBox="1"/>
          <p:nvPr/>
        </p:nvSpPr>
        <p:spPr>
          <a:xfrm>
            <a:off x="987552" y="4242816"/>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this is different from label-level denoising</a:t>
            </a:r>
            <a:endParaRPr lang="en-US" sz="1500" dirty="0"/>
          </a:p>
        </p:txBody>
      </p:sp>
      <p:sp>
        <p:nvSpPr>
          <p:cNvPr id="19" name="Text 17"/>
          <p:cNvSpPr txBox="1"/>
          <p:nvPr/>
        </p:nvSpPr>
        <p:spPr>
          <a:xfrm>
            <a:off x="822960" y="4681728"/>
            <a:ext cx="10552176" cy="1188720"/>
          </a:xfrm>
          <a:prstGeom prst="rect">
            <a:avLst/>
          </a:prstGeom>
          <a:noFill/>
          <a:ln/>
        </p:spPr>
        <p:txBody>
          <a:bodyPr wrap="square" lIns="0" tIns="0" rIns="0" bIns="0" rtlCol="0" anchor="t"/>
          <a:lstStyle/>
          <a:p>
            <a:pPr marL="0" indent="0">
              <a:lnSpc>
                <a:spcPct val="108000"/>
              </a:lnSpc>
              <a:buNone/>
            </a:pPr>
            <a:r>
              <a:rPr lang="en-US" sz="1300" dirty="0">
                <a:solidFill>
                  <a:srgbClr val="DDCCB0"/>
                </a:solidFill>
                <a:latin typeface="Calibri" pitchFamily="34" charset="0"/>
                <a:ea typeface="Calibri" pitchFamily="34" charset="-122"/>
                <a:cs typeface="Calibri" pitchFamily="34" charset="-120"/>
              </a:rPr>
              <a:t>Prior work identifies noisy labels and corrects or down-weights them before training. This acts on the representation instead: even when a label is wrong, the encoder is pulled toward the prototype its semantic content belongs near.</a:t>
            </a:r>
            <a:endParaRPr lang="en-US" sz="1300" dirty="0"/>
          </a:p>
          <a:p>
            <a:pPr marL="0" indent="0">
              <a:lnSpc>
                <a:spcPct val="108000"/>
              </a:lnSpc>
              <a:buNone/>
            </a:pPr>
            <a:endParaRPr lang="en-US" sz="1300" dirty="0"/>
          </a:p>
          <a:p>
            <a:pPr marL="0" indent="0">
              <a:lnSpc>
                <a:spcPct val="108000"/>
              </a:lnSpc>
              <a:buNone/>
            </a:pPr>
            <a:r>
              <a:rPr lang="en-US" sz="1300" dirty="0">
                <a:solidFill>
                  <a:srgbClr val="DDCCB0"/>
                </a:solidFill>
                <a:latin typeface="Calibri" pitchFamily="34" charset="0"/>
                <a:ea typeface="Calibri" pitchFamily="34" charset="-122"/>
                <a:cs typeface="Calibri" pitchFamily="34" charset="-120"/>
              </a:rPr>
              <a:t>The paper's framing: existing methods perform label-level denoising in preprocessing but ignore semantic inconsistencies in the representation space.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92509-CAB1-52A5-5610-C47EE549454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7C478DC-7E65-0A87-6DB6-F7D5DD4EDE89}"/>
              </a:ext>
            </a:extLst>
          </p:cNvPr>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a:extLst>
              <a:ext uri="{FF2B5EF4-FFF2-40B4-BE49-F238E27FC236}">
                <a16:creationId xmlns:a16="http://schemas.microsoft.com/office/drawing/2014/main" id="{F2428334-7A59-FCF7-D570-D16E447233A3}"/>
              </a:ext>
            </a:extLst>
          </p:cNvPr>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a:extLst>
              <a:ext uri="{FF2B5EF4-FFF2-40B4-BE49-F238E27FC236}">
                <a16:creationId xmlns:a16="http://schemas.microsoft.com/office/drawing/2014/main" id="{2B302241-04E7-3E8F-E6DE-55352C795788}"/>
              </a:ext>
            </a:extLst>
          </p:cNvPr>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a:extLst>
              <a:ext uri="{FF2B5EF4-FFF2-40B4-BE49-F238E27FC236}">
                <a16:creationId xmlns:a16="http://schemas.microsoft.com/office/drawing/2014/main" id="{E2627545-D98A-C5A2-A575-7E081ED29FC8}"/>
              </a:ext>
            </a:extLst>
          </p:cNvPr>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a:extLst>
              <a:ext uri="{FF2B5EF4-FFF2-40B4-BE49-F238E27FC236}">
                <a16:creationId xmlns:a16="http://schemas.microsoft.com/office/drawing/2014/main" id="{C724AF60-2769-BC78-5C04-F544E168BC31}"/>
              </a:ext>
            </a:extLst>
          </p:cNvPr>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The two-stage framework</a:t>
            </a:r>
            <a:endParaRPr lang="en-US" sz="2900" dirty="0"/>
          </a:p>
        </p:txBody>
      </p:sp>
      <p:sp>
        <p:nvSpPr>
          <p:cNvPr id="7" name="Text 5">
            <a:extLst>
              <a:ext uri="{FF2B5EF4-FFF2-40B4-BE49-F238E27FC236}">
                <a16:creationId xmlns:a16="http://schemas.microsoft.com/office/drawing/2014/main" id="{8C9FD5D2-6BAE-3693-2F8E-039A85F25170}"/>
              </a:ext>
            </a:extLst>
          </p:cNvPr>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Learn anchors from modern data, then pull historical data toward them</a:t>
            </a:r>
            <a:endParaRPr lang="en-US" sz="1350" dirty="0"/>
          </a:p>
        </p:txBody>
      </p:sp>
      <p:sp>
        <p:nvSpPr>
          <p:cNvPr id="8" name="Text 6">
            <a:extLst>
              <a:ext uri="{FF2B5EF4-FFF2-40B4-BE49-F238E27FC236}">
                <a16:creationId xmlns:a16="http://schemas.microsoft.com/office/drawing/2014/main" id="{C9377877-1C38-CAF9-25FB-88FB90026707}"/>
              </a:ext>
            </a:extLst>
          </p:cNvPr>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12</a:t>
            </a:r>
            <a:endParaRPr lang="en-US" sz="900" dirty="0"/>
          </a:p>
        </p:txBody>
      </p:sp>
      <p:pic>
        <p:nvPicPr>
          <p:cNvPr id="20" name="Picture 19">
            <a:extLst>
              <a:ext uri="{FF2B5EF4-FFF2-40B4-BE49-F238E27FC236}">
                <a16:creationId xmlns:a16="http://schemas.microsoft.com/office/drawing/2014/main" id="{EDCF1383-173F-BB32-9986-2AE8244967F8}"/>
              </a:ext>
            </a:extLst>
          </p:cNvPr>
          <p:cNvPicPr>
            <a:picLocks noChangeAspect="1"/>
          </p:cNvPicPr>
          <p:nvPr/>
        </p:nvPicPr>
        <p:blipFill>
          <a:blip r:embed="rId3"/>
          <a:stretch>
            <a:fillRect/>
          </a:stretch>
        </p:blipFill>
        <p:spPr>
          <a:xfrm>
            <a:off x="1066147" y="1212386"/>
            <a:ext cx="9297706" cy="5084064"/>
          </a:xfrm>
          <a:prstGeom prst="rect">
            <a:avLst/>
          </a:prstGeom>
        </p:spPr>
      </p:pic>
    </p:spTree>
    <p:extLst>
      <p:ext uri="{BB962C8B-B14F-4D97-AF65-F5344CB8AC3E}">
        <p14:creationId xmlns:p14="http://schemas.microsoft.com/office/powerpoint/2010/main" val="1666097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The alignment objective</a:t>
            </a:r>
            <a:endParaRPr lang="en-US" sz="2900" dirty="0"/>
          </a:p>
        </p:txBody>
      </p:sp>
      <p:sp>
        <p:nvSpPr>
          <p:cNvPr id="7" name="Text 5"/>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A symmetric contrastive loss against the identity matrix</a:t>
            </a:r>
            <a:endParaRPr lang="en-US" sz="135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13</a:t>
            </a:r>
            <a:endParaRPr lang="en-US" sz="900" dirty="0"/>
          </a:p>
        </p:txBody>
      </p:sp>
      <p:sp>
        <p:nvSpPr>
          <p:cNvPr id="9" name="Shape 7"/>
          <p:cNvSpPr/>
          <p:nvPr/>
        </p:nvSpPr>
        <p:spPr>
          <a:xfrm>
            <a:off x="566928" y="1600200"/>
            <a:ext cx="5440680" cy="2240280"/>
          </a:xfrm>
          <a:prstGeom prst="roundRect">
            <a:avLst>
              <a:gd name="adj" fmla="val 2449"/>
            </a:avLst>
          </a:prstGeom>
          <a:solidFill>
            <a:srgbClr val="F7F2E9"/>
          </a:solidFill>
          <a:ln w="12700">
            <a:solidFill>
              <a:srgbClr val="EBE2D2"/>
            </a:solidFill>
            <a:prstDash val="solid"/>
          </a:ln>
        </p:spPr>
        <p:txBody>
          <a:bodyPr/>
          <a:lstStyle/>
          <a:p>
            <a:endParaRPr lang="en-US"/>
          </a:p>
        </p:txBody>
      </p:sp>
      <p:sp>
        <p:nvSpPr>
          <p:cNvPr id="10" name="Shape 8"/>
          <p:cNvSpPr/>
          <p:nvPr/>
        </p:nvSpPr>
        <p:spPr>
          <a:xfrm>
            <a:off x="786384" y="1892808"/>
            <a:ext cx="109728" cy="109728"/>
          </a:xfrm>
          <a:prstGeom prst="ellipse">
            <a:avLst/>
          </a:prstGeom>
          <a:solidFill>
            <a:srgbClr val="8A6A3E"/>
          </a:solidFill>
          <a:ln w="12700">
            <a:solidFill>
              <a:srgbClr val="333333"/>
            </a:solidFill>
            <a:prstDash val="solid"/>
          </a:ln>
        </p:spPr>
        <p:txBody>
          <a:bodyPr/>
          <a:lstStyle/>
          <a:p>
            <a:endParaRPr lang="en-US"/>
          </a:p>
        </p:txBody>
      </p:sp>
      <p:sp>
        <p:nvSpPr>
          <p:cNvPr id="11" name="Text 9"/>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2A2018"/>
                </a:solidFill>
                <a:latin typeface="Cambria" pitchFamily="34" charset="0"/>
                <a:ea typeface="Cambria" pitchFamily="34" charset="-122"/>
                <a:cs typeface="Cambria" pitchFamily="34" charset="-120"/>
              </a:rPr>
              <a:t>What is being aligned</a:t>
            </a:r>
            <a:endParaRPr lang="en-US" sz="1500" dirty="0"/>
          </a:p>
        </p:txBody>
      </p:sp>
      <p:sp>
        <p:nvSpPr>
          <p:cNvPr id="12" name="Text 10"/>
          <p:cNvSpPr txBox="1"/>
          <p:nvPr/>
        </p:nvSpPr>
        <p:spPr>
          <a:xfrm>
            <a:off x="822960" y="2203704"/>
            <a:ext cx="4928616" cy="1453896"/>
          </a:xfrm>
          <a:prstGeom prst="rect">
            <a:avLst/>
          </a:prstGeom>
          <a:noFill/>
          <a:ln/>
        </p:spPr>
        <p:txBody>
          <a:bodyPr wrap="square" lIns="0" tIns="0" rIns="0" bIns="0" rtlCol="0" anchor="t"/>
          <a:lstStyle/>
          <a:p>
            <a:pPr marL="0" indent="0">
              <a:lnSpc>
                <a:spcPct val="108000"/>
              </a:lnSpc>
              <a:buNone/>
            </a:pPr>
            <a:r>
              <a:rPr lang="en-US" sz="1280" dirty="0">
                <a:solidFill>
                  <a:srgbClr val="362A1E"/>
                </a:solidFill>
                <a:latin typeface="Calibri" pitchFamily="34" charset="0"/>
                <a:ea typeface="Calibri" pitchFamily="34" charset="-122"/>
                <a:cs typeface="Calibri" pitchFamily="34" charset="-120"/>
              </a:rPr>
              <a:t>Not individual examples — class prototypes. The mapped low-resource prototype for 'positive' should match the high-resource prototype for 'positive', and nothing else.</a:t>
            </a:r>
            <a:endParaRPr lang="en-US" sz="1280" dirty="0"/>
          </a:p>
          <a:p>
            <a:pPr marL="0" indent="0">
              <a:lnSpc>
                <a:spcPct val="108000"/>
              </a:lnSpc>
              <a:buNone/>
            </a:pPr>
            <a:endParaRPr lang="en-US" sz="1280" dirty="0"/>
          </a:p>
          <a:p>
            <a:pPr marL="0" indent="0">
              <a:lnSpc>
                <a:spcPct val="108000"/>
              </a:lnSpc>
              <a:buNone/>
            </a:pPr>
            <a:r>
              <a:rPr lang="en-US" sz="1280" dirty="0">
                <a:solidFill>
                  <a:srgbClr val="362A1E"/>
                </a:solidFill>
                <a:latin typeface="Calibri" pitchFamily="34" charset="0"/>
                <a:ea typeface="Calibri" pitchFamily="34" charset="-122"/>
                <a:cs typeface="Calibri" pitchFamily="34" charset="-120"/>
              </a:rPr>
              <a:t>The similarity matrix between the two prototype sets is pushed toward the identity matrix, in both directions.</a:t>
            </a:r>
            <a:endParaRPr lang="en-US" sz="1280" dirty="0"/>
          </a:p>
        </p:txBody>
      </p:sp>
      <p:sp>
        <p:nvSpPr>
          <p:cNvPr id="13" name="Shape 11"/>
          <p:cNvSpPr/>
          <p:nvPr/>
        </p:nvSpPr>
        <p:spPr>
          <a:xfrm>
            <a:off x="6190488" y="1600200"/>
            <a:ext cx="5440680" cy="2240280"/>
          </a:xfrm>
          <a:prstGeom prst="roundRect">
            <a:avLst>
              <a:gd name="adj" fmla="val 2449"/>
            </a:avLst>
          </a:prstGeom>
          <a:solidFill>
            <a:srgbClr val="F7F2E9"/>
          </a:solidFill>
          <a:ln w="12700">
            <a:solidFill>
              <a:srgbClr val="EBE2D2"/>
            </a:solidFill>
            <a:prstDash val="solid"/>
          </a:ln>
        </p:spPr>
        <p:txBody>
          <a:bodyPr/>
          <a:lstStyle/>
          <a:p>
            <a:endParaRPr lang="en-US"/>
          </a:p>
        </p:txBody>
      </p:sp>
      <p:sp>
        <p:nvSpPr>
          <p:cNvPr id="14" name="Shape 12"/>
          <p:cNvSpPr/>
          <p:nvPr/>
        </p:nvSpPr>
        <p:spPr>
          <a:xfrm>
            <a:off x="6409944" y="1892808"/>
            <a:ext cx="109728" cy="109728"/>
          </a:xfrm>
          <a:prstGeom prst="ellipse">
            <a:avLst/>
          </a:prstGeom>
          <a:solidFill>
            <a:srgbClr val="2E7D74"/>
          </a:solidFill>
          <a:ln w="12700">
            <a:solidFill>
              <a:srgbClr val="333333"/>
            </a:solidFill>
            <a:prstDash val="solid"/>
          </a:ln>
        </p:spPr>
        <p:txBody>
          <a:bodyPr/>
          <a:lstStyle/>
          <a:p>
            <a:endParaRPr lang="en-US"/>
          </a:p>
        </p:txBody>
      </p:sp>
      <p:sp>
        <p:nvSpPr>
          <p:cNvPr id="15" name="Text 13"/>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2A2018"/>
                </a:solidFill>
                <a:latin typeface="Cambria" pitchFamily="34" charset="0"/>
                <a:ea typeface="Cambria" pitchFamily="34" charset="-122"/>
                <a:cs typeface="Cambria" pitchFamily="34" charset="-120"/>
              </a:rPr>
              <a:t>Why symmetric</a:t>
            </a:r>
            <a:endParaRPr lang="en-US" sz="1500" dirty="0"/>
          </a:p>
        </p:txBody>
      </p:sp>
      <p:sp>
        <p:nvSpPr>
          <p:cNvPr id="16" name="Text 14"/>
          <p:cNvSpPr txBox="1"/>
          <p:nvPr/>
        </p:nvSpPr>
        <p:spPr>
          <a:xfrm>
            <a:off x="6446520" y="2203704"/>
            <a:ext cx="4928616" cy="1453896"/>
          </a:xfrm>
          <a:prstGeom prst="rect">
            <a:avLst/>
          </a:prstGeom>
          <a:noFill/>
          <a:ln/>
        </p:spPr>
        <p:txBody>
          <a:bodyPr wrap="square" lIns="0" tIns="0" rIns="0" bIns="0" rtlCol="0" anchor="t"/>
          <a:lstStyle/>
          <a:p>
            <a:pPr marL="0" indent="0">
              <a:lnSpc>
                <a:spcPct val="108000"/>
              </a:lnSpc>
              <a:buNone/>
            </a:pPr>
            <a:r>
              <a:rPr lang="en-US" sz="1280" dirty="0">
                <a:solidFill>
                  <a:srgbClr val="362A1E"/>
                </a:solidFill>
                <a:latin typeface="Calibri" pitchFamily="34" charset="0"/>
                <a:ea typeface="Calibri" pitchFamily="34" charset="-122"/>
                <a:cs typeface="Calibri" pitchFamily="34" charset="-120"/>
              </a:rPr>
              <a:t>Computing similarities in both directions provides richer supervision signals and promotes one-to-one alignment.</a:t>
            </a:r>
            <a:endParaRPr lang="en-US" sz="1280" dirty="0"/>
          </a:p>
          <a:p>
            <a:pPr marL="0" indent="0">
              <a:lnSpc>
                <a:spcPct val="108000"/>
              </a:lnSpc>
              <a:buNone/>
            </a:pPr>
            <a:endParaRPr lang="en-US" sz="1280" dirty="0"/>
          </a:p>
          <a:p>
            <a:pPr marL="0" indent="0">
              <a:lnSpc>
                <a:spcPct val="108000"/>
              </a:lnSpc>
              <a:buNone/>
            </a:pPr>
            <a:r>
              <a:rPr lang="en-US" sz="1280" dirty="0">
                <a:solidFill>
                  <a:srgbClr val="362A1E"/>
                </a:solidFill>
                <a:latin typeface="Calibri" pitchFamily="34" charset="0"/>
                <a:ea typeface="Calibri" pitchFamily="34" charset="-122"/>
                <a:cs typeface="Calibri" pitchFamily="34" charset="-120"/>
              </a:rPr>
              <a:t>The same instinct as CLIP's symmetric contrastive loss, and as the dual cross-attention in EAA: do not make one side subordinate to the other.</a:t>
            </a:r>
            <a:endParaRPr lang="en-US" sz="1280" dirty="0"/>
          </a:p>
        </p:txBody>
      </p:sp>
      <p:sp>
        <p:nvSpPr>
          <p:cNvPr id="17" name="Text 15"/>
          <p:cNvSpPr txBox="1"/>
          <p:nvPr/>
        </p:nvSpPr>
        <p:spPr>
          <a:xfrm>
            <a:off x="566928" y="4041648"/>
            <a:ext cx="11064240" cy="2011680"/>
          </a:xfrm>
          <a:prstGeom prst="rect">
            <a:avLst/>
          </a:prstGeom>
          <a:noFill/>
          <a:ln/>
        </p:spPr>
        <p:txBody>
          <a:bodyPr wrap="square" lIns="0" tIns="0" rIns="0" bIns="0" rtlCol="0" anchor="t"/>
          <a:lstStyle/>
          <a:p>
            <a:pPr marL="342900" indent="-342900">
              <a:spcAft>
                <a:spcPts val="800"/>
              </a:spcAft>
              <a:buSzPct val="100000"/>
              <a:buChar char="●"/>
            </a:pPr>
            <a:r>
              <a:rPr lang="en-US" sz="1260" dirty="0">
                <a:solidFill>
                  <a:srgbClr val="362A1E"/>
                </a:solidFill>
                <a:latin typeface="Calibri" pitchFamily="34" charset="0"/>
                <a:ea typeface="Calibri" pitchFamily="34" charset="-122"/>
                <a:cs typeface="Calibri" pitchFamily="34" charset="-120"/>
              </a:rPr>
              <a:t>The total loss is L = (1 − α)·L_ce + α·L_proto, with α = 0.6 and temperature τ = 0.1.</a:t>
            </a:r>
            <a:endParaRPr lang="en-US" sz="1260" dirty="0"/>
          </a:p>
          <a:p>
            <a:pPr marL="342900" indent="-342900">
              <a:spcAft>
                <a:spcPts val="800"/>
              </a:spcAft>
              <a:buSzPct val="100000"/>
              <a:buChar char="●"/>
            </a:pPr>
            <a:r>
              <a:rPr lang="en-US" sz="1260" dirty="0">
                <a:solidFill>
                  <a:srgbClr val="362A1E"/>
                </a:solidFill>
                <a:latin typeface="Calibri" pitchFamily="34" charset="0"/>
                <a:ea typeface="Calibri" pitchFamily="34" charset="-122"/>
                <a:cs typeface="Calibri" pitchFamily="34" charset="-120"/>
              </a:rPr>
              <a:t>A sweep of α shows 0.6 is best; both 0.3 and 0.9 degrade performance on most datasets — alignment and classification have to be balanced.</a:t>
            </a:r>
            <a:endParaRPr lang="en-US" sz="1260" dirty="0"/>
          </a:p>
          <a:p>
            <a:pPr marL="342900" indent="-342900">
              <a:spcAft>
                <a:spcPts val="800"/>
              </a:spcAft>
              <a:buSzPct val="100000"/>
              <a:buChar char="●"/>
            </a:pPr>
            <a:r>
              <a:rPr lang="en-US" sz="1260" dirty="0">
                <a:solidFill>
                  <a:srgbClr val="362A1E"/>
                </a:solidFill>
                <a:latin typeface="Calibri" pitchFamily="34" charset="0"/>
                <a:ea typeface="Calibri" pitchFamily="34" charset="-122"/>
                <a:cs typeface="Calibri" pitchFamily="34" charset="-120"/>
              </a:rPr>
              <a:t>At inference the model uses only the low-resource encoder and mapped prototypes, assigning the nearest prototype in Euclidean space. The high-resource data is not needed.</a:t>
            </a:r>
            <a:endParaRPr lang="en-US" sz="1260" dirty="0"/>
          </a:p>
          <a:p>
            <a:pPr marL="342900" indent="-342900">
              <a:spcAft>
                <a:spcPts val="800"/>
              </a:spcAft>
              <a:buSzPct val="100000"/>
              <a:buChar char="●"/>
            </a:pPr>
            <a:r>
              <a:rPr lang="en-US" sz="1260" dirty="0">
                <a:solidFill>
                  <a:srgbClr val="362A1E"/>
                </a:solidFill>
                <a:latin typeface="Calibri" pitchFamily="34" charset="0"/>
                <a:ea typeface="Calibri" pitchFamily="34" charset="-122"/>
                <a:cs typeface="Calibri" pitchFamily="34" charset="-120"/>
              </a:rPr>
              <a:t>That makes deployment lightweight: a multilingual encoder plus four prototype vectors.</a:t>
            </a:r>
            <a:endParaRPr lang="en-US" sz="12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The data</a:t>
            </a:r>
            <a:endParaRPr lang="en-US" sz="2900" dirty="0"/>
          </a:p>
        </p:txBody>
      </p:sp>
      <p:sp>
        <p:nvSpPr>
          <p:cNvPr id="7" name="Text 5"/>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Modern corpora as anchors, historical corpora as targets</a:t>
            </a:r>
            <a:endParaRPr lang="en-US" sz="135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14</a:t>
            </a:r>
            <a:endParaRPr lang="en-US" sz="900" dirty="0"/>
          </a:p>
        </p:txBody>
      </p:sp>
      <p:sp>
        <p:nvSpPr>
          <p:cNvPr id="9" name="Text 7"/>
          <p:cNvSpPr txBox="1"/>
          <p:nvPr/>
        </p:nvSpPr>
        <p:spPr>
          <a:xfrm>
            <a:off x="786384" y="1426464"/>
            <a:ext cx="1828800" cy="274320"/>
          </a:xfrm>
          <a:prstGeom prst="rect">
            <a:avLst/>
          </a:prstGeom>
          <a:noFill/>
          <a:ln/>
        </p:spPr>
        <p:txBody>
          <a:bodyPr wrap="square" lIns="0" tIns="0" rIns="0" bIns="0" rtlCol="0" anchor="ctr"/>
          <a:lstStyle/>
          <a:p>
            <a:pPr marL="0" indent="0">
              <a:buNone/>
            </a:pPr>
            <a:r>
              <a:rPr lang="en-US" sz="1150" b="1" dirty="0">
                <a:solidFill>
                  <a:srgbClr val="6E5E48"/>
                </a:solidFill>
                <a:latin typeface="Calibri" pitchFamily="34" charset="0"/>
                <a:ea typeface="Calibri" pitchFamily="34" charset="-122"/>
                <a:cs typeface="Calibri" pitchFamily="34" charset="-120"/>
              </a:rPr>
              <a:t>Role</a:t>
            </a:r>
            <a:endParaRPr lang="en-US" sz="1150" dirty="0"/>
          </a:p>
        </p:txBody>
      </p:sp>
      <p:sp>
        <p:nvSpPr>
          <p:cNvPr id="10" name="Text 8"/>
          <p:cNvSpPr txBox="1"/>
          <p:nvPr/>
        </p:nvSpPr>
        <p:spPr>
          <a:xfrm>
            <a:off x="2651760" y="1426464"/>
            <a:ext cx="2377440" cy="274320"/>
          </a:xfrm>
          <a:prstGeom prst="rect">
            <a:avLst/>
          </a:prstGeom>
          <a:noFill/>
          <a:ln/>
        </p:spPr>
        <p:txBody>
          <a:bodyPr wrap="square" lIns="0" tIns="0" rIns="0" bIns="0" rtlCol="0" anchor="ctr"/>
          <a:lstStyle/>
          <a:p>
            <a:pPr marL="0" indent="0">
              <a:buNone/>
            </a:pPr>
            <a:r>
              <a:rPr lang="en-US" sz="1150" b="1" dirty="0">
                <a:solidFill>
                  <a:srgbClr val="6E5E48"/>
                </a:solidFill>
                <a:latin typeface="Calibri" pitchFamily="34" charset="0"/>
                <a:ea typeface="Calibri" pitchFamily="34" charset="-122"/>
                <a:cs typeface="Calibri" pitchFamily="34" charset="-120"/>
              </a:rPr>
              <a:t>Dataset</a:t>
            </a:r>
            <a:endParaRPr lang="en-US" sz="1150" dirty="0"/>
          </a:p>
        </p:txBody>
      </p:sp>
      <p:sp>
        <p:nvSpPr>
          <p:cNvPr id="11" name="Text 9"/>
          <p:cNvSpPr txBox="1"/>
          <p:nvPr/>
        </p:nvSpPr>
        <p:spPr>
          <a:xfrm>
            <a:off x="5029200" y="1426464"/>
            <a:ext cx="1463040" cy="274320"/>
          </a:xfrm>
          <a:prstGeom prst="rect">
            <a:avLst/>
          </a:prstGeom>
          <a:noFill/>
          <a:ln/>
        </p:spPr>
        <p:txBody>
          <a:bodyPr wrap="square" lIns="0" tIns="0" rIns="0" bIns="0" rtlCol="0" anchor="ctr"/>
          <a:lstStyle/>
          <a:p>
            <a:pPr marL="0" indent="0">
              <a:buNone/>
            </a:pPr>
            <a:r>
              <a:rPr lang="en-US" sz="1150" b="1" dirty="0">
                <a:solidFill>
                  <a:srgbClr val="6E5E48"/>
                </a:solidFill>
                <a:latin typeface="Calibri" pitchFamily="34" charset="0"/>
                <a:ea typeface="Calibri" pitchFamily="34" charset="-122"/>
                <a:cs typeface="Calibri" pitchFamily="34" charset="-120"/>
              </a:rPr>
              <a:t>Language</a:t>
            </a:r>
            <a:endParaRPr lang="en-US" sz="1150" dirty="0"/>
          </a:p>
        </p:txBody>
      </p:sp>
      <p:sp>
        <p:nvSpPr>
          <p:cNvPr id="12" name="Text 10"/>
          <p:cNvSpPr txBox="1"/>
          <p:nvPr/>
        </p:nvSpPr>
        <p:spPr>
          <a:xfrm>
            <a:off x="6492240" y="1426464"/>
            <a:ext cx="1645920" cy="274320"/>
          </a:xfrm>
          <a:prstGeom prst="rect">
            <a:avLst/>
          </a:prstGeom>
          <a:noFill/>
          <a:ln/>
        </p:spPr>
        <p:txBody>
          <a:bodyPr wrap="square" lIns="0" tIns="0" rIns="0" bIns="0" rtlCol="0" anchor="ctr"/>
          <a:lstStyle/>
          <a:p>
            <a:pPr marL="0" indent="0">
              <a:buNone/>
            </a:pPr>
            <a:r>
              <a:rPr lang="en-US" sz="1150" b="1" dirty="0">
                <a:solidFill>
                  <a:srgbClr val="6E5E48"/>
                </a:solidFill>
                <a:latin typeface="Calibri" pitchFamily="34" charset="0"/>
                <a:ea typeface="Calibri" pitchFamily="34" charset="-122"/>
                <a:cs typeface="Calibri" pitchFamily="34" charset="-120"/>
              </a:rPr>
              <a:t>Period</a:t>
            </a:r>
            <a:endParaRPr lang="en-US" sz="1150" dirty="0"/>
          </a:p>
        </p:txBody>
      </p:sp>
      <p:sp>
        <p:nvSpPr>
          <p:cNvPr id="13" name="Text 11"/>
          <p:cNvSpPr txBox="1"/>
          <p:nvPr/>
        </p:nvSpPr>
        <p:spPr>
          <a:xfrm>
            <a:off x="8138160" y="1426464"/>
            <a:ext cx="2377440" cy="274320"/>
          </a:xfrm>
          <a:prstGeom prst="rect">
            <a:avLst/>
          </a:prstGeom>
          <a:noFill/>
          <a:ln/>
        </p:spPr>
        <p:txBody>
          <a:bodyPr wrap="square" lIns="0" tIns="0" rIns="0" bIns="0" rtlCol="0" anchor="ctr"/>
          <a:lstStyle/>
          <a:p>
            <a:pPr marL="0" indent="0">
              <a:buNone/>
            </a:pPr>
            <a:r>
              <a:rPr lang="en-US" sz="1150" b="1" dirty="0">
                <a:solidFill>
                  <a:srgbClr val="6E5E48"/>
                </a:solidFill>
                <a:latin typeface="Calibri" pitchFamily="34" charset="0"/>
                <a:ea typeface="Calibri" pitchFamily="34" charset="-122"/>
                <a:cs typeface="Calibri" pitchFamily="34" charset="-120"/>
              </a:rPr>
              <a:t>Genre</a:t>
            </a:r>
            <a:endParaRPr lang="en-US" sz="1150" dirty="0"/>
          </a:p>
        </p:txBody>
      </p:sp>
      <p:sp>
        <p:nvSpPr>
          <p:cNvPr id="14" name="Text 12"/>
          <p:cNvSpPr txBox="1"/>
          <p:nvPr/>
        </p:nvSpPr>
        <p:spPr>
          <a:xfrm>
            <a:off x="10607040" y="1426464"/>
            <a:ext cx="914400" cy="274320"/>
          </a:xfrm>
          <a:prstGeom prst="rect">
            <a:avLst/>
          </a:prstGeom>
          <a:noFill/>
          <a:ln/>
        </p:spPr>
        <p:txBody>
          <a:bodyPr wrap="square" lIns="0" tIns="0" rIns="0" bIns="0" rtlCol="0" anchor="ctr"/>
          <a:lstStyle/>
          <a:p>
            <a:pPr marL="0" indent="0">
              <a:buNone/>
            </a:pPr>
            <a:r>
              <a:rPr lang="en-US" sz="1150" b="1" dirty="0">
                <a:solidFill>
                  <a:srgbClr val="6E5E48"/>
                </a:solidFill>
                <a:latin typeface="Calibri" pitchFamily="34" charset="0"/>
                <a:ea typeface="Calibri" pitchFamily="34" charset="-122"/>
                <a:cs typeface="Calibri" pitchFamily="34" charset="-120"/>
              </a:rPr>
              <a:t>Size</a:t>
            </a:r>
            <a:endParaRPr lang="en-US" sz="1150" dirty="0"/>
          </a:p>
        </p:txBody>
      </p:sp>
      <p:sp>
        <p:nvSpPr>
          <p:cNvPr id="15" name="Shape 13"/>
          <p:cNvSpPr/>
          <p:nvPr/>
        </p:nvSpPr>
        <p:spPr>
          <a:xfrm>
            <a:off x="566928" y="1719072"/>
            <a:ext cx="11064240" cy="402336"/>
          </a:xfrm>
          <a:prstGeom prst="roundRect">
            <a:avLst>
              <a:gd name="adj" fmla="val 4545"/>
            </a:avLst>
          </a:prstGeom>
          <a:solidFill>
            <a:srgbClr val="F7F2E9"/>
          </a:solidFill>
          <a:ln w="12700">
            <a:solidFill>
              <a:srgbClr val="F0E9DC"/>
            </a:solidFill>
            <a:prstDash val="solid"/>
          </a:ln>
        </p:spPr>
        <p:txBody>
          <a:bodyPr/>
          <a:lstStyle/>
          <a:p>
            <a:endParaRPr lang="en-US"/>
          </a:p>
        </p:txBody>
      </p:sp>
      <p:sp>
        <p:nvSpPr>
          <p:cNvPr id="16" name="Text 14"/>
          <p:cNvSpPr txBox="1"/>
          <p:nvPr/>
        </p:nvSpPr>
        <p:spPr>
          <a:xfrm>
            <a:off x="786384" y="1783080"/>
            <a:ext cx="1828800" cy="274320"/>
          </a:xfrm>
          <a:prstGeom prst="rect">
            <a:avLst/>
          </a:prstGeom>
          <a:noFill/>
          <a:ln/>
        </p:spPr>
        <p:txBody>
          <a:bodyPr wrap="square" lIns="0" tIns="0" rIns="0" bIns="0" rtlCol="0" anchor="ctr"/>
          <a:lstStyle/>
          <a:p>
            <a:pPr marL="0" indent="0">
              <a:buNone/>
            </a:pPr>
            <a:r>
              <a:rPr lang="en-US" sz="1140" b="1" dirty="0">
                <a:solidFill>
                  <a:srgbClr val="2A2018"/>
                </a:solidFill>
                <a:latin typeface="Calibri" pitchFamily="34" charset="0"/>
                <a:ea typeface="Calibri" pitchFamily="34" charset="-122"/>
                <a:cs typeface="Calibri" pitchFamily="34" charset="-120"/>
              </a:rPr>
              <a:t>High-resource</a:t>
            </a:r>
            <a:endParaRPr lang="en-US" sz="1140" dirty="0"/>
          </a:p>
        </p:txBody>
      </p:sp>
      <p:sp>
        <p:nvSpPr>
          <p:cNvPr id="17" name="Text 15"/>
          <p:cNvSpPr txBox="1"/>
          <p:nvPr/>
        </p:nvSpPr>
        <p:spPr>
          <a:xfrm>
            <a:off x="2651760" y="1783080"/>
            <a:ext cx="23774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SemEval 2017 Task 4</a:t>
            </a:r>
            <a:endParaRPr lang="en-US" sz="1140" dirty="0"/>
          </a:p>
        </p:txBody>
      </p:sp>
      <p:sp>
        <p:nvSpPr>
          <p:cNvPr id="18" name="Text 16"/>
          <p:cNvSpPr txBox="1"/>
          <p:nvPr/>
        </p:nvSpPr>
        <p:spPr>
          <a:xfrm>
            <a:off x="5029200" y="1783080"/>
            <a:ext cx="14630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En / Es / Ar</a:t>
            </a:r>
            <a:endParaRPr lang="en-US" sz="1140" dirty="0"/>
          </a:p>
        </p:txBody>
      </p:sp>
      <p:sp>
        <p:nvSpPr>
          <p:cNvPr id="19" name="Text 17"/>
          <p:cNvSpPr txBox="1"/>
          <p:nvPr/>
        </p:nvSpPr>
        <p:spPr>
          <a:xfrm>
            <a:off x="6492240" y="1783080"/>
            <a:ext cx="164592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Contemporary</a:t>
            </a:r>
            <a:endParaRPr lang="en-US" sz="1140" dirty="0"/>
          </a:p>
        </p:txBody>
      </p:sp>
      <p:sp>
        <p:nvSpPr>
          <p:cNvPr id="20" name="Text 18"/>
          <p:cNvSpPr txBox="1"/>
          <p:nvPr/>
        </p:nvSpPr>
        <p:spPr>
          <a:xfrm>
            <a:off x="8138160" y="1783080"/>
            <a:ext cx="23774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Twitter</a:t>
            </a:r>
            <a:endParaRPr lang="en-US" sz="1140" dirty="0"/>
          </a:p>
        </p:txBody>
      </p:sp>
      <p:sp>
        <p:nvSpPr>
          <p:cNvPr id="21" name="Text 19"/>
          <p:cNvSpPr txBox="1"/>
          <p:nvPr/>
        </p:nvSpPr>
        <p:spPr>
          <a:xfrm>
            <a:off x="10607040" y="1783080"/>
            <a:ext cx="91440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52,850</a:t>
            </a:r>
            <a:endParaRPr lang="en-US" sz="1140" dirty="0"/>
          </a:p>
        </p:txBody>
      </p:sp>
      <p:sp>
        <p:nvSpPr>
          <p:cNvPr id="22" name="Shape 20"/>
          <p:cNvSpPr/>
          <p:nvPr/>
        </p:nvSpPr>
        <p:spPr>
          <a:xfrm>
            <a:off x="566928" y="2157984"/>
            <a:ext cx="11064240" cy="402336"/>
          </a:xfrm>
          <a:prstGeom prst="roundRect">
            <a:avLst>
              <a:gd name="adj" fmla="val 4545"/>
            </a:avLst>
          </a:prstGeom>
          <a:solidFill>
            <a:srgbClr val="FFFFFF"/>
          </a:solidFill>
          <a:ln w="12700">
            <a:solidFill>
              <a:srgbClr val="F0E9DC"/>
            </a:solidFill>
            <a:prstDash val="solid"/>
          </a:ln>
        </p:spPr>
        <p:txBody>
          <a:bodyPr/>
          <a:lstStyle/>
          <a:p>
            <a:endParaRPr lang="en-US"/>
          </a:p>
        </p:txBody>
      </p:sp>
      <p:sp>
        <p:nvSpPr>
          <p:cNvPr id="23" name="Text 21"/>
          <p:cNvSpPr txBox="1"/>
          <p:nvPr/>
        </p:nvSpPr>
        <p:spPr>
          <a:xfrm>
            <a:off x="786384" y="2221992"/>
            <a:ext cx="1828800" cy="274320"/>
          </a:xfrm>
          <a:prstGeom prst="rect">
            <a:avLst/>
          </a:prstGeom>
          <a:noFill/>
          <a:ln/>
        </p:spPr>
        <p:txBody>
          <a:bodyPr wrap="square" lIns="0" tIns="0" rIns="0" bIns="0" rtlCol="0" anchor="ctr"/>
          <a:lstStyle/>
          <a:p>
            <a:pPr marL="0" indent="0">
              <a:buNone/>
            </a:pPr>
            <a:r>
              <a:rPr lang="en-US" sz="1140" b="1" dirty="0">
                <a:solidFill>
                  <a:srgbClr val="2A2018"/>
                </a:solidFill>
                <a:latin typeface="Calibri" pitchFamily="34" charset="0"/>
                <a:ea typeface="Calibri" pitchFamily="34" charset="-122"/>
                <a:cs typeface="Calibri" pitchFamily="34" charset="-120"/>
              </a:rPr>
              <a:t>High-resource</a:t>
            </a:r>
            <a:endParaRPr lang="en-US" sz="1140" dirty="0"/>
          </a:p>
        </p:txBody>
      </p:sp>
      <p:sp>
        <p:nvSpPr>
          <p:cNvPr id="24" name="Text 22"/>
          <p:cNvSpPr txBox="1"/>
          <p:nvPr/>
        </p:nvSpPr>
        <p:spPr>
          <a:xfrm>
            <a:off x="2651760" y="2221992"/>
            <a:ext cx="23774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IMDB</a:t>
            </a:r>
            <a:endParaRPr lang="en-US" sz="1140" dirty="0"/>
          </a:p>
        </p:txBody>
      </p:sp>
      <p:sp>
        <p:nvSpPr>
          <p:cNvPr id="25" name="Text 23"/>
          <p:cNvSpPr txBox="1"/>
          <p:nvPr/>
        </p:nvSpPr>
        <p:spPr>
          <a:xfrm>
            <a:off x="5029200" y="2221992"/>
            <a:ext cx="14630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English</a:t>
            </a:r>
            <a:endParaRPr lang="en-US" sz="1140" dirty="0"/>
          </a:p>
        </p:txBody>
      </p:sp>
      <p:sp>
        <p:nvSpPr>
          <p:cNvPr id="26" name="Text 24"/>
          <p:cNvSpPr txBox="1"/>
          <p:nvPr/>
        </p:nvSpPr>
        <p:spPr>
          <a:xfrm>
            <a:off x="6492240" y="2221992"/>
            <a:ext cx="164592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Contemporary</a:t>
            </a:r>
            <a:endParaRPr lang="en-US" sz="1140" dirty="0"/>
          </a:p>
        </p:txBody>
      </p:sp>
      <p:sp>
        <p:nvSpPr>
          <p:cNvPr id="27" name="Text 25"/>
          <p:cNvSpPr txBox="1"/>
          <p:nvPr/>
        </p:nvSpPr>
        <p:spPr>
          <a:xfrm>
            <a:off x="8138160" y="2221992"/>
            <a:ext cx="23774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Film reviews</a:t>
            </a:r>
            <a:endParaRPr lang="en-US" sz="1140" dirty="0"/>
          </a:p>
        </p:txBody>
      </p:sp>
      <p:sp>
        <p:nvSpPr>
          <p:cNvPr id="28" name="Text 26"/>
          <p:cNvSpPr txBox="1"/>
          <p:nvPr/>
        </p:nvSpPr>
        <p:spPr>
          <a:xfrm>
            <a:off x="10607040" y="2221992"/>
            <a:ext cx="91440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49,582</a:t>
            </a:r>
            <a:endParaRPr lang="en-US" sz="1140" dirty="0"/>
          </a:p>
        </p:txBody>
      </p:sp>
      <p:sp>
        <p:nvSpPr>
          <p:cNvPr id="29" name="Shape 27"/>
          <p:cNvSpPr/>
          <p:nvPr/>
        </p:nvSpPr>
        <p:spPr>
          <a:xfrm>
            <a:off x="566928" y="2596896"/>
            <a:ext cx="11064240" cy="402336"/>
          </a:xfrm>
          <a:prstGeom prst="roundRect">
            <a:avLst>
              <a:gd name="adj" fmla="val 4545"/>
            </a:avLst>
          </a:prstGeom>
          <a:solidFill>
            <a:srgbClr val="F7F2E9"/>
          </a:solidFill>
          <a:ln w="12700">
            <a:solidFill>
              <a:srgbClr val="F0E9DC"/>
            </a:solidFill>
            <a:prstDash val="solid"/>
          </a:ln>
        </p:spPr>
        <p:txBody>
          <a:bodyPr/>
          <a:lstStyle/>
          <a:p>
            <a:endParaRPr lang="en-US"/>
          </a:p>
        </p:txBody>
      </p:sp>
      <p:sp>
        <p:nvSpPr>
          <p:cNvPr id="30" name="Text 28"/>
          <p:cNvSpPr txBox="1"/>
          <p:nvPr/>
        </p:nvSpPr>
        <p:spPr>
          <a:xfrm>
            <a:off x="786384" y="2660904"/>
            <a:ext cx="1828800" cy="274320"/>
          </a:xfrm>
          <a:prstGeom prst="rect">
            <a:avLst/>
          </a:prstGeom>
          <a:noFill/>
          <a:ln/>
        </p:spPr>
        <p:txBody>
          <a:bodyPr wrap="square" lIns="0" tIns="0" rIns="0" bIns="0" rtlCol="0" anchor="ctr"/>
          <a:lstStyle/>
          <a:p>
            <a:pPr marL="0" indent="0">
              <a:buNone/>
            </a:pPr>
            <a:r>
              <a:rPr lang="en-US" sz="1140" b="1" dirty="0">
                <a:solidFill>
                  <a:srgbClr val="2A2018"/>
                </a:solidFill>
                <a:latin typeface="Calibri" pitchFamily="34" charset="0"/>
                <a:ea typeface="Calibri" pitchFamily="34" charset="-122"/>
                <a:cs typeface="Calibri" pitchFamily="34" charset="-120"/>
              </a:rPr>
              <a:t>High-resource</a:t>
            </a:r>
            <a:endParaRPr lang="en-US" sz="1140" dirty="0"/>
          </a:p>
        </p:txBody>
      </p:sp>
      <p:sp>
        <p:nvSpPr>
          <p:cNvPr id="31" name="Text 29"/>
          <p:cNvSpPr txBox="1"/>
          <p:nvPr/>
        </p:nvSpPr>
        <p:spPr>
          <a:xfrm>
            <a:off x="2651760" y="2660904"/>
            <a:ext cx="23774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GoEmotions subset</a:t>
            </a:r>
            <a:endParaRPr lang="en-US" sz="1140" dirty="0"/>
          </a:p>
        </p:txBody>
      </p:sp>
      <p:sp>
        <p:nvSpPr>
          <p:cNvPr id="32" name="Text 30"/>
          <p:cNvSpPr txBox="1"/>
          <p:nvPr/>
        </p:nvSpPr>
        <p:spPr>
          <a:xfrm>
            <a:off x="5029200" y="2660904"/>
            <a:ext cx="14630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English</a:t>
            </a:r>
            <a:endParaRPr lang="en-US" sz="1140" dirty="0"/>
          </a:p>
        </p:txBody>
      </p:sp>
      <p:sp>
        <p:nvSpPr>
          <p:cNvPr id="33" name="Text 31"/>
          <p:cNvSpPr txBox="1"/>
          <p:nvPr/>
        </p:nvSpPr>
        <p:spPr>
          <a:xfrm>
            <a:off x="6492240" y="2660904"/>
            <a:ext cx="164592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Contemporary</a:t>
            </a:r>
            <a:endParaRPr lang="en-US" sz="1140" dirty="0"/>
          </a:p>
        </p:txBody>
      </p:sp>
      <p:sp>
        <p:nvSpPr>
          <p:cNvPr id="34" name="Text 32"/>
          <p:cNvSpPr txBox="1"/>
          <p:nvPr/>
        </p:nvSpPr>
        <p:spPr>
          <a:xfrm>
            <a:off x="8138160" y="2660904"/>
            <a:ext cx="23774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Reddit — supplies 'mixed'</a:t>
            </a:r>
            <a:endParaRPr lang="en-US" sz="1140" dirty="0"/>
          </a:p>
        </p:txBody>
      </p:sp>
      <p:sp>
        <p:nvSpPr>
          <p:cNvPr id="35" name="Text 33"/>
          <p:cNvSpPr txBox="1"/>
          <p:nvPr/>
        </p:nvSpPr>
        <p:spPr>
          <a:xfrm>
            <a:off x="10607040" y="2660904"/>
            <a:ext cx="91440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1,021</a:t>
            </a:r>
            <a:endParaRPr lang="en-US" sz="1140" dirty="0"/>
          </a:p>
        </p:txBody>
      </p:sp>
      <p:sp>
        <p:nvSpPr>
          <p:cNvPr id="36" name="Shape 34"/>
          <p:cNvSpPr/>
          <p:nvPr/>
        </p:nvSpPr>
        <p:spPr>
          <a:xfrm>
            <a:off x="566928" y="3035808"/>
            <a:ext cx="11064240" cy="402336"/>
          </a:xfrm>
          <a:prstGeom prst="roundRect">
            <a:avLst>
              <a:gd name="adj" fmla="val 4545"/>
            </a:avLst>
          </a:prstGeom>
          <a:solidFill>
            <a:srgbClr val="FFFFFF"/>
          </a:solidFill>
          <a:ln w="12700">
            <a:solidFill>
              <a:srgbClr val="F0E9DC"/>
            </a:solidFill>
            <a:prstDash val="solid"/>
          </a:ln>
        </p:spPr>
        <p:txBody>
          <a:bodyPr/>
          <a:lstStyle/>
          <a:p>
            <a:endParaRPr lang="en-US"/>
          </a:p>
        </p:txBody>
      </p:sp>
      <p:sp>
        <p:nvSpPr>
          <p:cNvPr id="37" name="Text 35"/>
          <p:cNvSpPr txBox="1"/>
          <p:nvPr/>
        </p:nvSpPr>
        <p:spPr>
          <a:xfrm>
            <a:off x="786384" y="3099816"/>
            <a:ext cx="1828800" cy="274320"/>
          </a:xfrm>
          <a:prstGeom prst="rect">
            <a:avLst/>
          </a:prstGeom>
          <a:noFill/>
          <a:ln/>
        </p:spPr>
        <p:txBody>
          <a:bodyPr wrap="square" lIns="0" tIns="0" rIns="0" bIns="0" rtlCol="0" anchor="ctr"/>
          <a:lstStyle/>
          <a:p>
            <a:pPr marL="0" indent="0">
              <a:buNone/>
            </a:pPr>
            <a:r>
              <a:rPr lang="en-US" sz="1140" b="1" dirty="0">
                <a:solidFill>
                  <a:srgbClr val="2A2018"/>
                </a:solidFill>
                <a:latin typeface="Calibri" pitchFamily="34" charset="0"/>
                <a:ea typeface="Calibri" pitchFamily="34" charset="-122"/>
                <a:cs typeface="Calibri" pitchFamily="34" charset="-120"/>
              </a:rPr>
              <a:t>Low-resource</a:t>
            </a:r>
            <a:endParaRPr lang="en-US" sz="1140" dirty="0"/>
          </a:p>
        </p:txBody>
      </p:sp>
      <p:sp>
        <p:nvSpPr>
          <p:cNvPr id="38" name="Text 36"/>
          <p:cNvSpPr txBox="1"/>
          <p:nvPr/>
        </p:nvSpPr>
        <p:spPr>
          <a:xfrm>
            <a:off x="2651760" y="3099816"/>
            <a:ext cx="23774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Lessing's plays</a:t>
            </a:r>
            <a:endParaRPr lang="en-US" sz="1140" dirty="0"/>
          </a:p>
        </p:txBody>
      </p:sp>
      <p:sp>
        <p:nvSpPr>
          <p:cNvPr id="39" name="Text 37"/>
          <p:cNvSpPr txBox="1"/>
          <p:nvPr/>
        </p:nvSpPr>
        <p:spPr>
          <a:xfrm>
            <a:off x="5029200" y="3099816"/>
            <a:ext cx="14630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German</a:t>
            </a:r>
            <a:endParaRPr lang="en-US" sz="1140" dirty="0"/>
          </a:p>
        </p:txBody>
      </p:sp>
      <p:sp>
        <p:nvSpPr>
          <p:cNvPr id="40" name="Text 38"/>
          <p:cNvSpPr txBox="1"/>
          <p:nvPr/>
        </p:nvSpPr>
        <p:spPr>
          <a:xfrm>
            <a:off x="6492240" y="3099816"/>
            <a:ext cx="164592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18th century</a:t>
            </a:r>
            <a:endParaRPr lang="en-US" sz="1140" dirty="0"/>
          </a:p>
        </p:txBody>
      </p:sp>
      <p:sp>
        <p:nvSpPr>
          <p:cNvPr id="41" name="Text 39"/>
          <p:cNvSpPr txBox="1"/>
          <p:nvPr/>
        </p:nvSpPr>
        <p:spPr>
          <a:xfrm>
            <a:off x="8138160" y="3099816"/>
            <a:ext cx="23774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Drama</a:t>
            </a:r>
            <a:endParaRPr lang="en-US" sz="1140" dirty="0"/>
          </a:p>
        </p:txBody>
      </p:sp>
      <p:sp>
        <p:nvSpPr>
          <p:cNvPr id="42" name="Text 40"/>
          <p:cNvSpPr txBox="1"/>
          <p:nvPr/>
        </p:nvSpPr>
        <p:spPr>
          <a:xfrm>
            <a:off x="10607040" y="3099816"/>
            <a:ext cx="91440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200 test</a:t>
            </a:r>
            <a:endParaRPr lang="en-US" sz="1140" dirty="0"/>
          </a:p>
        </p:txBody>
      </p:sp>
      <p:sp>
        <p:nvSpPr>
          <p:cNvPr id="43" name="Shape 41"/>
          <p:cNvSpPr/>
          <p:nvPr/>
        </p:nvSpPr>
        <p:spPr>
          <a:xfrm>
            <a:off x="566928" y="3474720"/>
            <a:ext cx="11064240" cy="402336"/>
          </a:xfrm>
          <a:prstGeom prst="roundRect">
            <a:avLst>
              <a:gd name="adj" fmla="val 4545"/>
            </a:avLst>
          </a:prstGeom>
          <a:solidFill>
            <a:srgbClr val="F7F2E9"/>
          </a:solidFill>
          <a:ln w="12700">
            <a:solidFill>
              <a:srgbClr val="F0E9DC"/>
            </a:solidFill>
            <a:prstDash val="solid"/>
          </a:ln>
        </p:spPr>
        <p:txBody>
          <a:bodyPr/>
          <a:lstStyle/>
          <a:p>
            <a:endParaRPr lang="en-US"/>
          </a:p>
        </p:txBody>
      </p:sp>
      <p:sp>
        <p:nvSpPr>
          <p:cNvPr id="44" name="Text 42"/>
          <p:cNvSpPr txBox="1"/>
          <p:nvPr/>
        </p:nvSpPr>
        <p:spPr>
          <a:xfrm>
            <a:off x="786384" y="3538728"/>
            <a:ext cx="1828800" cy="274320"/>
          </a:xfrm>
          <a:prstGeom prst="rect">
            <a:avLst/>
          </a:prstGeom>
          <a:noFill/>
          <a:ln/>
        </p:spPr>
        <p:txBody>
          <a:bodyPr wrap="square" lIns="0" tIns="0" rIns="0" bIns="0" rtlCol="0" anchor="ctr"/>
          <a:lstStyle/>
          <a:p>
            <a:pPr marL="0" indent="0">
              <a:buNone/>
            </a:pPr>
            <a:r>
              <a:rPr lang="en-US" sz="1140" b="1" dirty="0">
                <a:solidFill>
                  <a:srgbClr val="2A2018"/>
                </a:solidFill>
                <a:latin typeface="Calibri" pitchFamily="34" charset="0"/>
                <a:ea typeface="Calibri" pitchFamily="34" charset="-122"/>
                <a:cs typeface="Calibri" pitchFamily="34" charset="-120"/>
              </a:rPr>
              <a:t>Low-resource</a:t>
            </a:r>
            <a:endParaRPr lang="en-US" sz="1140" dirty="0"/>
          </a:p>
        </p:txBody>
      </p:sp>
      <p:sp>
        <p:nvSpPr>
          <p:cNvPr id="45" name="Text 43"/>
          <p:cNvSpPr txBox="1"/>
          <p:nvPr/>
        </p:nvSpPr>
        <p:spPr>
          <a:xfrm>
            <a:off x="2651760" y="3538728"/>
            <a:ext cx="23774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Scandinavian novels</a:t>
            </a:r>
            <a:endParaRPr lang="en-US" sz="1140" dirty="0"/>
          </a:p>
        </p:txBody>
      </p:sp>
      <p:sp>
        <p:nvSpPr>
          <p:cNvPr id="46" name="Text 44"/>
          <p:cNvSpPr txBox="1"/>
          <p:nvPr/>
        </p:nvSpPr>
        <p:spPr>
          <a:xfrm>
            <a:off x="5029200" y="3538728"/>
            <a:ext cx="14630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Scandinavian</a:t>
            </a:r>
            <a:endParaRPr lang="en-US" sz="1140" dirty="0"/>
          </a:p>
        </p:txBody>
      </p:sp>
      <p:sp>
        <p:nvSpPr>
          <p:cNvPr id="47" name="Text 45"/>
          <p:cNvSpPr txBox="1"/>
          <p:nvPr/>
        </p:nvSpPr>
        <p:spPr>
          <a:xfrm>
            <a:off x="6492240" y="3538728"/>
            <a:ext cx="164592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19th century</a:t>
            </a:r>
            <a:endParaRPr lang="en-US" sz="1140" dirty="0"/>
          </a:p>
        </p:txBody>
      </p:sp>
      <p:sp>
        <p:nvSpPr>
          <p:cNvPr id="48" name="Text 46"/>
          <p:cNvSpPr txBox="1"/>
          <p:nvPr/>
        </p:nvSpPr>
        <p:spPr>
          <a:xfrm>
            <a:off x="8138160" y="3538728"/>
            <a:ext cx="23774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Fiction</a:t>
            </a:r>
            <a:endParaRPr lang="en-US" sz="1140" dirty="0"/>
          </a:p>
        </p:txBody>
      </p:sp>
      <p:sp>
        <p:nvSpPr>
          <p:cNvPr id="49" name="Text 47"/>
          <p:cNvSpPr txBox="1"/>
          <p:nvPr/>
        </p:nvSpPr>
        <p:spPr>
          <a:xfrm>
            <a:off x="10607040" y="3538728"/>
            <a:ext cx="91440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100 test</a:t>
            </a:r>
            <a:endParaRPr lang="en-US" sz="1140" dirty="0"/>
          </a:p>
        </p:txBody>
      </p:sp>
      <p:sp>
        <p:nvSpPr>
          <p:cNvPr id="50" name="Shape 48"/>
          <p:cNvSpPr/>
          <p:nvPr/>
        </p:nvSpPr>
        <p:spPr>
          <a:xfrm>
            <a:off x="566928" y="3913632"/>
            <a:ext cx="11064240" cy="402336"/>
          </a:xfrm>
          <a:prstGeom prst="roundRect">
            <a:avLst>
              <a:gd name="adj" fmla="val 4545"/>
            </a:avLst>
          </a:prstGeom>
          <a:solidFill>
            <a:srgbClr val="FFFFFF"/>
          </a:solidFill>
          <a:ln w="12700">
            <a:solidFill>
              <a:srgbClr val="F0E9DC"/>
            </a:solidFill>
            <a:prstDash val="solid"/>
          </a:ln>
        </p:spPr>
        <p:txBody>
          <a:bodyPr/>
          <a:lstStyle/>
          <a:p>
            <a:endParaRPr lang="en-US"/>
          </a:p>
        </p:txBody>
      </p:sp>
      <p:sp>
        <p:nvSpPr>
          <p:cNvPr id="51" name="Text 49"/>
          <p:cNvSpPr txBox="1"/>
          <p:nvPr/>
        </p:nvSpPr>
        <p:spPr>
          <a:xfrm>
            <a:off x="786384" y="3977640"/>
            <a:ext cx="1828800" cy="274320"/>
          </a:xfrm>
          <a:prstGeom prst="rect">
            <a:avLst/>
          </a:prstGeom>
          <a:noFill/>
          <a:ln/>
        </p:spPr>
        <p:txBody>
          <a:bodyPr wrap="square" lIns="0" tIns="0" rIns="0" bIns="0" rtlCol="0" anchor="ctr"/>
          <a:lstStyle/>
          <a:p>
            <a:pPr marL="0" indent="0">
              <a:buNone/>
            </a:pPr>
            <a:r>
              <a:rPr lang="en-US" sz="1140" b="1" dirty="0">
                <a:solidFill>
                  <a:srgbClr val="2A2018"/>
                </a:solidFill>
                <a:latin typeface="Calibri" pitchFamily="34" charset="0"/>
                <a:ea typeface="Calibri" pitchFamily="34" charset="-122"/>
                <a:cs typeface="Calibri" pitchFamily="34" charset="-120"/>
              </a:rPr>
              <a:t>Low-resource</a:t>
            </a:r>
            <a:endParaRPr lang="en-US" sz="1140" dirty="0"/>
          </a:p>
        </p:txBody>
      </p:sp>
      <p:sp>
        <p:nvSpPr>
          <p:cNvPr id="52" name="Text 50"/>
          <p:cNvSpPr txBox="1"/>
          <p:nvPr/>
        </p:nvSpPr>
        <p:spPr>
          <a:xfrm>
            <a:off x="2651760" y="3977640"/>
            <a:ext cx="23774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Austrian newspapers</a:t>
            </a:r>
            <a:endParaRPr lang="en-US" sz="1140" dirty="0"/>
          </a:p>
        </p:txBody>
      </p:sp>
      <p:sp>
        <p:nvSpPr>
          <p:cNvPr id="53" name="Text 51"/>
          <p:cNvSpPr txBox="1"/>
          <p:nvPr/>
        </p:nvSpPr>
        <p:spPr>
          <a:xfrm>
            <a:off x="5029200" y="3977640"/>
            <a:ext cx="14630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German</a:t>
            </a:r>
            <a:endParaRPr lang="en-US" sz="1140" dirty="0"/>
          </a:p>
        </p:txBody>
      </p:sp>
      <p:sp>
        <p:nvSpPr>
          <p:cNvPr id="54" name="Text 52"/>
          <p:cNvSpPr txBox="1"/>
          <p:nvPr/>
        </p:nvSpPr>
        <p:spPr>
          <a:xfrm>
            <a:off x="6492240" y="3977640"/>
            <a:ext cx="164592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19th century</a:t>
            </a:r>
            <a:endParaRPr lang="en-US" sz="1140" dirty="0"/>
          </a:p>
        </p:txBody>
      </p:sp>
      <p:sp>
        <p:nvSpPr>
          <p:cNvPr id="55" name="Text 53"/>
          <p:cNvSpPr txBox="1"/>
          <p:nvPr/>
        </p:nvSpPr>
        <p:spPr>
          <a:xfrm>
            <a:off x="8138160" y="3977640"/>
            <a:ext cx="23774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News</a:t>
            </a:r>
            <a:endParaRPr lang="en-US" sz="1140" dirty="0"/>
          </a:p>
        </p:txBody>
      </p:sp>
      <p:sp>
        <p:nvSpPr>
          <p:cNvPr id="56" name="Text 54"/>
          <p:cNvSpPr txBox="1"/>
          <p:nvPr/>
        </p:nvSpPr>
        <p:spPr>
          <a:xfrm>
            <a:off x="10607040" y="3977640"/>
            <a:ext cx="91440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200 test</a:t>
            </a:r>
            <a:endParaRPr lang="en-US" sz="1140" dirty="0"/>
          </a:p>
        </p:txBody>
      </p:sp>
      <p:sp>
        <p:nvSpPr>
          <p:cNvPr id="57" name="Shape 55"/>
          <p:cNvSpPr/>
          <p:nvPr/>
        </p:nvSpPr>
        <p:spPr>
          <a:xfrm>
            <a:off x="566928" y="4352544"/>
            <a:ext cx="11064240" cy="402336"/>
          </a:xfrm>
          <a:prstGeom prst="roundRect">
            <a:avLst>
              <a:gd name="adj" fmla="val 4545"/>
            </a:avLst>
          </a:prstGeom>
          <a:solidFill>
            <a:srgbClr val="F7F2E9"/>
          </a:solidFill>
          <a:ln w="12700">
            <a:solidFill>
              <a:srgbClr val="F0E9DC"/>
            </a:solidFill>
            <a:prstDash val="solid"/>
          </a:ln>
        </p:spPr>
        <p:txBody>
          <a:bodyPr/>
          <a:lstStyle/>
          <a:p>
            <a:endParaRPr lang="en-US"/>
          </a:p>
        </p:txBody>
      </p:sp>
      <p:sp>
        <p:nvSpPr>
          <p:cNvPr id="58" name="Text 56"/>
          <p:cNvSpPr txBox="1"/>
          <p:nvPr/>
        </p:nvSpPr>
        <p:spPr>
          <a:xfrm>
            <a:off x="786384" y="4416552"/>
            <a:ext cx="1828800" cy="274320"/>
          </a:xfrm>
          <a:prstGeom prst="rect">
            <a:avLst/>
          </a:prstGeom>
          <a:noFill/>
          <a:ln/>
        </p:spPr>
        <p:txBody>
          <a:bodyPr wrap="square" lIns="0" tIns="0" rIns="0" bIns="0" rtlCol="0" anchor="ctr"/>
          <a:lstStyle/>
          <a:p>
            <a:pPr marL="0" indent="0">
              <a:buNone/>
            </a:pPr>
            <a:r>
              <a:rPr lang="en-US" sz="1140" b="1" dirty="0">
                <a:solidFill>
                  <a:srgbClr val="2A2018"/>
                </a:solidFill>
                <a:latin typeface="Calibri" pitchFamily="34" charset="0"/>
                <a:ea typeface="Calibri" pitchFamily="34" charset="-122"/>
                <a:cs typeface="Calibri" pitchFamily="34" charset="-120"/>
              </a:rPr>
              <a:t>Low-resource</a:t>
            </a:r>
            <a:endParaRPr lang="en-US" sz="1140" dirty="0"/>
          </a:p>
        </p:txBody>
      </p:sp>
      <p:sp>
        <p:nvSpPr>
          <p:cNvPr id="59" name="Text 57"/>
          <p:cNvSpPr txBox="1"/>
          <p:nvPr/>
        </p:nvSpPr>
        <p:spPr>
          <a:xfrm>
            <a:off x="2651760" y="4416552"/>
            <a:ext cx="23774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EvaLatin 2024</a:t>
            </a:r>
            <a:endParaRPr lang="en-US" sz="1140" dirty="0"/>
          </a:p>
        </p:txBody>
      </p:sp>
      <p:sp>
        <p:nvSpPr>
          <p:cNvPr id="60" name="Text 58"/>
          <p:cNvSpPr txBox="1"/>
          <p:nvPr/>
        </p:nvSpPr>
        <p:spPr>
          <a:xfrm>
            <a:off x="5029200" y="4416552"/>
            <a:ext cx="14630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Latin</a:t>
            </a:r>
            <a:endParaRPr lang="en-US" sz="1140" dirty="0"/>
          </a:p>
        </p:txBody>
      </p:sp>
      <p:sp>
        <p:nvSpPr>
          <p:cNvPr id="61" name="Text 59"/>
          <p:cNvSpPr txBox="1"/>
          <p:nvPr/>
        </p:nvSpPr>
        <p:spPr>
          <a:xfrm>
            <a:off x="6492240" y="4416552"/>
            <a:ext cx="164592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1st–19th century</a:t>
            </a:r>
            <a:endParaRPr lang="en-US" sz="1140" dirty="0"/>
          </a:p>
        </p:txBody>
      </p:sp>
      <p:sp>
        <p:nvSpPr>
          <p:cNvPr id="62" name="Text 60"/>
          <p:cNvSpPr txBox="1"/>
          <p:nvPr/>
        </p:nvSpPr>
        <p:spPr>
          <a:xfrm>
            <a:off x="8138160" y="4416552"/>
            <a:ext cx="237744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Poetry</a:t>
            </a:r>
            <a:endParaRPr lang="en-US" sz="1140" dirty="0"/>
          </a:p>
        </p:txBody>
      </p:sp>
      <p:sp>
        <p:nvSpPr>
          <p:cNvPr id="63" name="Text 61"/>
          <p:cNvSpPr txBox="1"/>
          <p:nvPr/>
        </p:nvSpPr>
        <p:spPr>
          <a:xfrm>
            <a:off x="10607040" y="4416552"/>
            <a:ext cx="914400" cy="274320"/>
          </a:xfrm>
          <a:prstGeom prst="rect">
            <a:avLst/>
          </a:prstGeom>
          <a:noFill/>
          <a:ln/>
        </p:spPr>
        <p:txBody>
          <a:bodyPr wrap="square" lIns="0" tIns="0" rIns="0" bIns="0" rtlCol="0" anchor="ctr"/>
          <a:lstStyle/>
          <a:p>
            <a:pPr marL="0" indent="0">
              <a:buNone/>
            </a:pPr>
            <a:r>
              <a:rPr lang="en-US" sz="1140" dirty="0">
                <a:solidFill>
                  <a:srgbClr val="362A1E"/>
                </a:solidFill>
                <a:latin typeface="Calibri" pitchFamily="34" charset="0"/>
                <a:ea typeface="Calibri" pitchFamily="34" charset="-122"/>
                <a:cs typeface="Calibri" pitchFamily="34" charset="-120"/>
              </a:rPr>
              <a:t>301 test</a:t>
            </a:r>
            <a:endParaRPr lang="en-US" sz="1140" dirty="0"/>
          </a:p>
        </p:txBody>
      </p:sp>
      <p:sp>
        <p:nvSpPr>
          <p:cNvPr id="64" name="Text 62"/>
          <p:cNvSpPr txBox="1"/>
          <p:nvPr/>
        </p:nvSpPr>
        <p:spPr>
          <a:xfrm>
            <a:off x="566928" y="4846320"/>
            <a:ext cx="11064240" cy="1207008"/>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The 'mixed' class does not exist in standard sentiment corpora, so GoEmotions sentences containing both positive and negative emotions were relabelled to supply it.</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Lessing and EvaLatin have no training split, so the authors added two further Lessing plays and all 116 Catullus poems, with emotionally salient lines extracted by ChatGPT.</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The test sets are small — 100 to 301 examples — and imbalanced: Austrian news has 96 negative, 17 positive, 79 neutral and 8 mixed.</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Metric is macro-F1 throughout, which is the right choice given that imbalance.</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A2E22"/>
        </a:solidFill>
        <a:effectLst/>
      </p:bgPr>
    </p:bg>
    <p:spTree>
      <p:nvGrpSpPr>
        <p:cNvPr id="1" name=""/>
        <p:cNvGrpSpPr/>
        <p:nvPr/>
      </p:nvGrpSpPr>
      <p:grpSpPr>
        <a:xfrm>
          <a:off x="0" y="0"/>
          <a:ext cx="0" cy="0"/>
          <a:chOff x="0" y="0"/>
          <a:chExt cx="0" cy="0"/>
        </a:xfrm>
      </p:grpSpPr>
      <p:sp>
        <p:nvSpPr>
          <p:cNvPr id="2" name="Shape 0"/>
          <p:cNvSpPr/>
          <p:nvPr/>
        </p:nvSpPr>
        <p:spPr>
          <a:xfrm>
            <a:off x="10607040" y="5349240"/>
            <a:ext cx="201168" cy="201168"/>
          </a:xfrm>
          <a:prstGeom prst="ellipse">
            <a:avLst/>
          </a:prstGeom>
          <a:solidFill>
            <a:srgbClr val="DDCCB0"/>
          </a:solidFill>
          <a:ln w="12700">
            <a:solidFill>
              <a:srgbClr val="333333"/>
            </a:solidFill>
            <a:prstDash val="solid"/>
          </a:ln>
        </p:spPr>
        <p:txBody>
          <a:bodyPr/>
          <a:lstStyle/>
          <a:p>
            <a:endParaRPr lang="en-US"/>
          </a:p>
        </p:txBody>
      </p:sp>
      <p:sp>
        <p:nvSpPr>
          <p:cNvPr id="3" name="Shape 1"/>
          <p:cNvSpPr/>
          <p:nvPr/>
        </p:nvSpPr>
        <p:spPr>
          <a:xfrm>
            <a:off x="10917936" y="5349240"/>
            <a:ext cx="201168" cy="201168"/>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0607040" y="5660136"/>
            <a:ext cx="201168" cy="201168"/>
          </a:xfrm>
          <a:prstGeom prst="ellipse">
            <a:avLst/>
          </a:prstGeom>
          <a:solidFill>
            <a:srgbClr val="DDCCB0"/>
          </a:solidFill>
          <a:ln w="12700">
            <a:solidFill>
              <a:srgbClr val="333333"/>
            </a:solidFill>
            <a:prstDash val="solid"/>
          </a:ln>
        </p:spPr>
        <p:txBody>
          <a:bodyPr/>
          <a:lstStyle/>
          <a:p>
            <a:endParaRPr lang="en-US"/>
          </a:p>
        </p:txBody>
      </p:sp>
      <p:sp>
        <p:nvSpPr>
          <p:cNvPr id="5" name="Shape 3"/>
          <p:cNvSpPr/>
          <p:nvPr/>
        </p:nvSpPr>
        <p:spPr>
          <a:xfrm>
            <a:off x="10917936" y="5660136"/>
            <a:ext cx="201168" cy="201168"/>
          </a:xfrm>
          <a:prstGeom prst="ellipse">
            <a:avLst/>
          </a:prstGeom>
          <a:solidFill>
            <a:srgbClr val="DDCCB0"/>
          </a:solidFill>
          <a:ln w="12700">
            <a:solidFill>
              <a:srgbClr val="333333"/>
            </a:solidFill>
            <a:prstDash val="solid"/>
          </a:ln>
        </p:spPr>
        <p:txBody>
          <a:bodyPr/>
          <a:lstStyle/>
          <a:p>
            <a:endParaRPr lang="en-US"/>
          </a:p>
        </p:txBody>
      </p:sp>
      <p:sp>
        <p:nvSpPr>
          <p:cNvPr id="6" name="Text 4"/>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2E7D74"/>
                </a:solidFill>
                <a:latin typeface="Cambria" pitchFamily="34" charset="0"/>
                <a:ea typeface="Cambria" pitchFamily="34" charset="-122"/>
                <a:cs typeface="Cambria" pitchFamily="34" charset="-120"/>
              </a:rPr>
              <a:t>4</a:t>
            </a:r>
            <a:endParaRPr lang="en-US" sz="6600" dirty="0"/>
          </a:p>
        </p:txBody>
      </p:sp>
      <p:sp>
        <p:nvSpPr>
          <p:cNvPr id="7" name="Text 5"/>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Results</a:t>
            </a:r>
            <a:endParaRPr lang="en-US" sz="3300" dirty="0"/>
          </a:p>
        </p:txBody>
      </p:sp>
      <p:sp>
        <p:nvSpPr>
          <p:cNvPr id="8" name="Text 6"/>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DCCB0"/>
                </a:solidFill>
                <a:latin typeface="Calibri" pitchFamily="34" charset="0"/>
                <a:ea typeface="Calibri" pitchFamily="34" charset="-122"/>
                <a:cs typeface="Calibri" pitchFamily="34" charset="-120"/>
              </a:rPr>
              <a:t>Five backbones, four corpora, and one inversion</a:t>
            </a:r>
            <a:endParaRPr lang="en-US" sz="150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Main results</a:t>
            </a:r>
            <a:endParaRPr lang="en-US" sz="2900" dirty="0"/>
          </a:p>
        </p:txBody>
      </p:sp>
      <p:sp>
        <p:nvSpPr>
          <p:cNvPr id="7" name="Text 5"/>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Average macro-F1 across the four historical corpora</a:t>
            </a:r>
            <a:endParaRPr lang="en-US" sz="135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16</a:t>
            </a:r>
            <a:endParaRPr lang="en-US" sz="900" dirty="0"/>
          </a:p>
        </p:txBody>
      </p:sp>
      <p:graphicFrame>
        <p:nvGraphicFramePr>
          <p:cNvPr id="9"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RAPA improves the average for every backbone, by between 1.4 and 5.6 points.</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The largest gains go to the large models: InfoXLM-large +5.6, RemBERT +4.1, XLM-R-large +3.2.</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The single best cell is Austrian newspapers with InfoXLM-large: 45.08 to 57.40, a gain of 12.3.</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On EvaLatin, XLM-R-large improves by 6.8 and InfoXLM-large by 7.4 — the denoising working hardest where the labels are noisiest.</a:t>
            </a:r>
            <a:endParaRPr lang="en-US" sz="1220" dirty="0"/>
          </a:p>
        </p:txBody>
      </p:sp>
      <p:sp>
        <p:nvSpPr>
          <p:cNvPr id="11" name="Shape 8"/>
          <p:cNvSpPr/>
          <p:nvPr/>
        </p:nvSpPr>
        <p:spPr>
          <a:xfrm>
            <a:off x="566928" y="5266944"/>
            <a:ext cx="11064240" cy="786384"/>
          </a:xfrm>
          <a:prstGeom prst="roundRect">
            <a:avLst>
              <a:gd name="adj" fmla="val 6977"/>
            </a:avLst>
          </a:prstGeom>
          <a:solidFill>
            <a:srgbClr val="3A2E22"/>
          </a:solidFill>
          <a:ln w="12700">
            <a:solidFill>
              <a:srgbClr val="3A2E22"/>
            </a:solidFill>
            <a:prstDash val="solid"/>
          </a:ln>
        </p:spPr>
        <p:txBody>
          <a:bodyPr/>
          <a:lstStyle/>
          <a:p>
            <a:endParaRPr lang="en-US"/>
          </a:p>
        </p:txBody>
      </p:sp>
      <p:sp>
        <p:nvSpPr>
          <p:cNvPr id="12" name="Text 9"/>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DDCCB0"/>
                </a:solidFill>
                <a:latin typeface="Calibri" pitchFamily="34" charset="0"/>
                <a:ea typeface="Calibri" pitchFamily="34" charset="-122"/>
                <a:cs typeface="Calibri" pitchFamily="34" charset="-120"/>
              </a:rPr>
              <a:t>Consistency across five encoder architectures is the strongest form of the result — the same argument CCoT-Emo made with three audio LLMs.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Where RAPA does not help</a:t>
            </a:r>
            <a:endParaRPr lang="en-US" sz="2900" dirty="0"/>
          </a:p>
        </p:txBody>
      </p:sp>
      <p:sp>
        <p:nvSpPr>
          <p:cNvPr id="7" name="Text 5"/>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And the paper's explanation</a:t>
            </a:r>
            <a:endParaRPr lang="en-US" sz="135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17</a:t>
            </a:r>
            <a:endParaRPr lang="en-US" sz="900" dirty="0"/>
          </a:p>
        </p:txBody>
      </p:sp>
      <p:graphicFrame>
        <p:nvGraphicFramePr>
          <p:cNvPr id="9"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Lessing is binary — positive and negative only. Scandinavian novels have three classes. Austrian news and EvaLatin have four.</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The paper's hypothesis: a mismatch between the task label space and the prototype space. The framework learns four prototypes, so binary tasks are contrasted against prototypes that do not exist in the task.</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That unnecessary supervision may distort the representation space and hinder class separation.</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The gains line up with the hypothesis: the two four-class corpora gain the most, the binary corpus loses the most.</a:t>
            </a:r>
            <a:endParaRPr lang="en-US" sz="1220" dirty="0"/>
          </a:p>
        </p:txBody>
      </p:sp>
      <p:sp>
        <p:nvSpPr>
          <p:cNvPr id="11" name="Shape 8"/>
          <p:cNvSpPr/>
          <p:nvPr/>
        </p:nvSpPr>
        <p:spPr>
          <a:xfrm>
            <a:off x="566928" y="5266944"/>
            <a:ext cx="11064240" cy="786384"/>
          </a:xfrm>
          <a:prstGeom prst="roundRect">
            <a:avLst>
              <a:gd name="adj" fmla="val 6977"/>
            </a:avLst>
          </a:prstGeom>
          <a:solidFill>
            <a:srgbClr val="3A2E22"/>
          </a:solidFill>
          <a:ln w="12700">
            <a:solidFill>
              <a:srgbClr val="3A2E22"/>
            </a:solidFill>
            <a:prstDash val="solid"/>
          </a:ln>
        </p:spPr>
        <p:txBody>
          <a:bodyPr/>
          <a:lstStyle/>
          <a:p>
            <a:endParaRPr lang="en-US"/>
          </a:p>
        </p:txBody>
      </p:sp>
      <p:sp>
        <p:nvSpPr>
          <p:cNvPr id="12" name="Text 9"/>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DDCCB0"/>
                </a:solidFill>
                <a:latin typeface="Calibri" pitchFamily="34" charset="0"/>
                <a:ea typeface="Calibri" pitchFamily="34" charset="-122"/>
                <a:cs typeface="Calibri" pitchFamily="34" charset="-120"/>
              </a:rPr>
              <a:t>Credit where due: the paper identifies its own failure pattern, offers a mechanism, and the mechanism predicts the data. That is better than most limitations sections manage.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The inversion</a:t>
            </a:r>
            <a:endParaRPr lang="en-US" sz="2900" dirty="0"/>
          </a:p>
        </p:txBody>
      </p:sp>
      <p:sp>
        <p:nvSpPr>
          <p:cNvPr id="7" name="Text 5"/>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Better labels do not always mean a better model</a:t>
            </a:r>
            <a:endParaRPr lang="en-US" sz="135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18</a:t>
            </a:r>
            <a:endParaRPr lang="en-US" sz="900" dirty="0"/>
          </a:p>
        </p:txBody>
      </p:sp>
      <p:graphicFrame>
        <p:nvGraphicFramePr>
          <p:cNvPr id="9"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On EvaLatin, role-play improves annotation quality by 16.7 points and downstream macro-F1 falls by 1.6.</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On Scandinavian novels the reverse: 2.2 points of annotation gain produce 6.7 points downstream.</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On Austrian newspapers, 11.4 points of annotation gain produce 2.9 downstream.</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So there is no reliable relationship between how well the LLM matches gold labels and how well a model trained on those labels performs.</a:t>
            </a:r>
            <a:endParaRPr lang="en-US" sz="1220" dirty="0"/>
          </a:p>
        </p:txBody>
      </p:sp>
      <p:sp>
        <p:nvSpPr>
          <p:cNvPr id="11" name="Shape 8"/>
          <p:cNvSpPr/>
          <p:nvPr/>
        </p:nvSpPr>
        <p:spPr>
          <a:xfrm>
            <a:off x="566928" y="5266944"/>
            <a:ext cx="11064240" cy="786384"/>
          </a:xfrm>
          <a:prstGeom prst="roundRect">
            <a:avLst>
              <a:gd name="adj" fmla="val 6977"/>
            </a:avLst>
          </a:prstGeom>
          <a:solidFill>
            <a:srgbClr val="3A2E22"/>
          </a:solidFill>
          <a:ln w="12700">
            <a:solidFill>
              <a:srgbClr val="3A2E22"/>
            </a:solidFill>
            <a:prstDash val="solid"/>
          </a:ln>
        </p:spPr>
        <p:txBody>
          <a:bodyPr/>
          <a:lstStyle/>
          <a:p>
            <a:endParaRPr lang="en-US"/>
          </a:p>
        </p:txBody>
      </p:sp>
      <p:sp>
        <p:nvSpPr>
          <p:cNvPr id="12" name="Text 9"/>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DDCCB0"/>
                </a:solidFill>
                <a:latin typeface="Calibri" pitchFamily="34" charset="0"/>
                <a:ea typeface="Calibri" pitchFamily="34" charset="-122"/>
                <a:cs typeface="Calibri" pitchFamily="34" charset="-120"/>
              </a:rPr>
              <a:t>The paper reports both tables and notes they are not directly comparable. Putting them side by side is ours — and it is the most interesting thing in the paper.</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Ablations</a:t>
            </a:r>
            <a:endParaRPr lang="en-US" sz="2900" dirty="0"/>
          </a:p>
        </p:txBody>
      </p:sp>
      <p:sp>
        <p:nvSpPr>
          <p:cNvPr id="7" name="Text 5"/>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Two components of the prototype design, on XLM-R-base</a:t>
            </a:r>
            <a:endParaRPr lang="en-US" sz="135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19</a:t>
            </a:r>
            <a:endParaRPr lang="en-US" sz="900" dirty="0"/>
          </a:p>
        </p:txBody>
      </p:sp>
      <p:graphicFrame>
        <p:nvGraphicFramePr>
          <p:cNvPr id="9" name="Chart 0"/>
          <p:cNvGraphicFramePr/>
          <p:nvPr/>
        </p:nvGraphicFramePr>
        <p:xfrm>
          <a:off x="566928" y="1554480"/>
          <a:ext cx="60350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6858000" y="1700784"/>
            <a:ext cx="4773168" cy="310896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The anchors matter most on Lessing: 3.4 points. The alignment is not decorative.</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On prototype initialisation, trainable beats both mean pooling and first-instance selection — 55.26 against 54.48 and 53.79 on average.</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The representation analysis supports the mechanism: mapping reduces the Euclidean distance between low- and high-resource prototypes for every class, by 3.6 to 7.3 units.</a:t>
            </a:r>
            <a:endParaRPr lang="en-US" sz="1220" dirty="0"/>
          </a:p>
          <a:p>
            <a:pPr marL="342900" indent="-342900">
              <a:spcAft>
                <a:spcPts val="800"/>
              </a:spcAft>
              <a:buSzPct val="100000"/>
              <a:buChar char="●"/>
            </a:pPr>
            <a:r>
              <a:rPr lang="en-US" sz="1220" dirty="0">
                <a:solidFill>
                  <a:srgbClr val="362A1E"/>
                </a:solidFill>
                <a:latin typeface="Calibri" pitchFamily="34" charset="0"/>
                <a:ea typeface="Calibri" pitchFamily="34" charset="-122"/>
                <a:cs typeface="Calibri" pitchFamily="34" charset="-120"/>
              </a:rPr>
              <a:t>And the high-resource prototypes are well separated — each is closest to its own class, with 'mixed' showing the tightest intra-class alignment.</a:t>
            </a:r>
            <a:endParaRPr lang="en-US" sz="1220" dirty="0"/>
          </a:p>
        </p:txBody>
      </p:sp>
      <p:sp>
        <p:nvSpPr>
          <p:cNvPr id="11" name="Shape 8"/>
          <p:cNvSpPr/>
          <p:nvPr/>
        </p:nvSpPr>
        <p:spPr>
          <a:xfrm>
            <a:off x="566928" y="4974336"/>
            <a:ext cx="11064240" cy="1078992"/>
          </a:xfrm>
          <a:prstGeom prst="roundRect">
            <a:avLst>
              <a:gd name="adj" fmla="val 5085"/>
            </a:avLst>
          </a:prstGeom>
          <a:solidFill>
            <a:srgbClr val="3A2E22"/>
          </a:solidFill>
          <a:ln w="12700">
            <a:solidFill>
              <a:srgbClr val="3A2E22"/>
            </a:solidFill>
            <a:prstDash val="solid"/>
          </a:ln>
        </p:spPr>
        <p:txBody>
          <a:bodyPr/>
          <a:lstStyle/>
          <a:p>
            <a:endParaRPr lang="en-US"/>
          </a:p>
        </p:txBody>
      </p:sp>
      <p:sp>
        <p:nvSpPr>
          <p:cNvPr id="12" name="Shape 9"/>
          <p:cNvSpPr/>
          <p:nvPr/>
        </p:nvSpPr>
        <p:spPr>
          <a:xfrm>
            <a:off x="786384" y="5266944"/>
            <a:ext cx="109728" cy="109728"/>
          </a:xfrm>
          <a:prstGeom prst="ellipse">
            <a:avLst/>
          </a:prstGeom>
          <a:solidFill>
            <a:srgbClr val="2E7D74"/>
          </a:solidFill>
          <a:ln w="12700">
            <a:solidFill>
              <a:srgbClr val="333333"/>
            </a:solidFill>
            <a:prstDash val="solid"/>
          </a:ln>
        </p:spPr>
        <p:txBody>
          <a:bodyPr/>
          <a:lstStyle/>
          <a:p>
            <a:endParaRPr lang="en-US"/>
          </a:p>
        </p:txBody>
      </p:sp>
      <p:sp>
        <p:nvSpPr>
          <p:cNvPr id="13" name="Text 10"/>
          <p:cNvSpPr txBox="1"/>
          <p:nvPr/>
        </p:nvSpPr>
        <p:spPr>
          <a:xfrm>
            <a:off x="987552" y="513892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distance analysis is the right kind of evidence</a:t>
            </a:r>
            <a:endParaRPr lang="en-US" sz="1500" dirty="0"/>
          </a:p>
        </p:txBody>
      </p:sp>
      <p:sp>
        <p:nvSpPr>
          <p:cNvPr id="14" name="Text 11"/>
          <p:cNvSpPr txBox="1"/>
          <p:nvPr/>
        </p:nvSpPr>
        <p:spPr>
          <a:xfrm>
            <a:off x="822960" y="5577840"/>
            <a:ext cx="10552176" cy="292608"/>
          </a:xfrm>
          <a:prstGeom prst="rect">
            <a:avLst/>
          </a:prstGeom>
          <a:noFill/>
          <a:ln/>
        </p:spPr>
        <p:txBody>
          <a:bodyPr wrap="square" lIns="0" tIns="0" rIns="0" bIns="0" rtlCol="0" anchor="t"/>
          <a:lstStyle/>
          <a:p>
            <a:pPr marL="0" indent="0">
              <a:lnSpc>
                <a:spcPct val="108000"/>
              </a:lnSpc>
              <a:buNone/>
            </a:pPr>
            <a:r>
              <a:rPr lang="en-US" sz="1300" dirty="0">
                <a:solidFill>
                  <a:srgbClr val="DDCCB0"/>
                </a:solidFill>
                <a:latin typeface="Calibri" pitchFamily="34" charset="0"/>
                <a:ea typeface="Calibri" pitchFamily="34" charset="-122"/>
                <a:cs typeface="Calibri" pitchFamily="34" charset="-120"/>
              </a:rPr>
              <a:t>The claim was that a mapper pulls low-resource prototypes into the high-resource space. Measuring the distances before and after tests that claim directly, rather than inferring it from downstream accuracy.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A2E22"/>
        </a:solidFill>
        <a:effectLst/>
      </p:bgPr>
    </p:bg>
    <p:spTree>
      <p:nvGrpSpPr>
        <p:cNvPr id="1" name=""/>
        <p:cNvGrpSpPr/>
        <p:nvPr/>
      </p:nvGrpSpPr>
      <p:grpSpPr>
        <a:xfrm>
          <a:off x="0" y="0"/>
          <a:ext cx="0" cy="0"/>
          <a:chOff x="0" y="0"/>
          <a:chExt cx="0" cy="0"/>
        </a:xfrm>
      </p:grpSpPr>
      <p:sp>
        <p:nvSpPr>
          <p:cNvPr id="2" name="Shape 0"/>
          <p:cNvSpPr/>
          <p:nvPr/>
        </p:nvSpPr>
        <p:spPr>
          <a:xfrm>
            <a:off x="10607040" y="5349240"/>
            <a:ext cx="201168" cy="201168"/>
          </a:xfrm>
          <a:prstGeom prst="ellipse">
            <a:avLst/>
          </a:prstGeom>
          <a:solidFill>
            <a:srgbClr val="DDCCB0"/>
          </a:solidFill>
          <a:ln w="12700">
            <a:solidFill>
              <a:srgbClr val="333333"/>
            </a:solidFill>
            <a:prstDash val="solid"/>
          </a:ln>
        </p:spPr>
        <p:txBody>
          <a:bodyPr/>
          <a:lstStyle/>
          <a:p>
            <a:endParaRPr lang="en-US"/>
          </a:p>
        </p:txBody>
      </p:sp>
      <p:sp>
        <p:nvSpPr>
          <p:cNvPr id="3" name="Shape 1"/>
          <p:cNvSpPr/>
          <p:nvPr/>
        </p:nvSpPr>
        <p:spPr>
          <a:xfrm>
            <a:off x="10917936" y="5349240"/>
            <a:ext cx="201168" cy="201168"/>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0607040" y="5660136"/>
            <a:ext cx="201168" cy="201168"/>
          </a:xfrm>
          <a:prstGeom prst="ellipse">
            <a:avLst/>
          </a:prstGeom>
          <a:solidFill>
            <a:srgbClr val="DDCCB0"/>
          </a:solidFill>
          <a:ln w="12700">
            <a:solidFill>
              <a:srgbClr val="333333"/>
            </a:solidFill>
            <a:prstDash val="solid"/>
          </a:ln>
        </p:spPr>
        <p:txBody>
          <a:bodyPr/>
          <a:lstStyle/>
          <a:p>
            <a:endParaRPr lang="en-US"/>
          </a:p>
        </p:txBody>
      </p:sp>
      <p:sp>
        <p:nvSpPr>
          <p:cNvPr id="5" name="Shape 3"/>
          <p:cNvSpPr/>
          <p:nvPr/>
        </p:nvSpPr>
        <p:spPr>
          <a:xfrm>
            <a:off x="10917936" y="5660136"/>
            <a:ext cx="201168" cy="201168"/>
          </a:xfrm>
          <a:prstGeom prst="ellipse">
            <a:avLst/>
          </a:prstGeom>
          <a:solidFill>
            <a:srgbClr val="DDCCB0"/>
          </a:solidFill>
          <a:ln w="12700">
            <a:solidFill>
              <a:srgbClr val="333333"/>
            </a:solidFill>
            <a:prstDash val="solid"/>
          </a:ln>
        </p:spPr>
        <p:txBody>
          <a:bodyPr/>
          <a:lstStyle/>
          <a:p>
            <a:endParaRPr lang="en-US"/>
          </a:p>
        </p:txBody>
      </p:sp>
      <p:sp>
        <p:nvSpPr>
          <p:cNvPr id="6" name="Text 4"/>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2E7D74"/>
                </a:solidFill>
                <a:latin typeface="Cambria" pitchFamily="34" charset="0"/>
                <a:ea typeface="Cambria" pitchFamily="34" charset="-122"/>
                <a:cs typeface="Cambria" pitchFamily="34" charset="-120"/>
              </a:rPr>
              <a:t>5</a:t>
            </a:r>
            <a:endParaRPr lang="en-US" sz="6600" dirty="0"/>
          </a:p>
        </p:txBody>
      </p:sp>
      <p:sp>
        <p:nvSpPr>
          <p:cNvPr id="7" name="Text 5"/>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Appraisal and synthesis</a:t>
            </a:r>
            <a:endParaRPr lang="en-US" sz="3300" dirty="0"/>
          </a:p>
        </p:txBody>
      </p:sp>
      <p:sp>
        <p:nvSpPr>
          <p:cNvPr id="8" name="Text 6"/>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DCCB0"/>
                </a:solidFill>
                <a:latin typeface="Calibri" pitchFamily="34" charset="0"/>
                <a:ea typeface="Calibri" pitchFamily="34" charset="-122"/>
                <a:cs typeface="Calibri" pitchFamily="34" charset="-120"/>
              </a:rPr>
              <a:t>The two papers together</a:t>
            </a:r>
            <a:endParaRPr lang="en-US" sz="150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Appraisal</a:t>
            </a:r>
            <a:endParaRPr lang="en-US" sz="2900" dirty="0"/>
          </a:p>
        </p:txBody>
      </p:sp>
      <p:sp>
        <p:nvSpPr>
          <p:cNvPr id="7" name="Text 5"/>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What the design buys, and the open threads</a:t>
            </a:r>
            <a:endParaRPr lang="en-US" sz="135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21</a:t>
            </a:r>
            <a:endParaRPr lang="en-US" sz="900" dirty="0"/>
          </a:p>
        </p:txBody>
      </p:sp>
      <p:sp>
        <p:nvSpPr>
          <p:cNvPr id="9" name="Shape 7"/>
          <p:cNvSpPr/>
          <p:nvPr/>
        </p:nvSpPr>
        <p:spPr>
          <a:xfrm>
            <a:off x="566928" y="1554480"/>
            <a:ext cx="5440680" cy="4498848"/>
          </a:xfrm>
          <a:prstGeom prst="roundRect">
            <a:avLst>
              <a:gd name="adj" fmla="val 1220"/>
            </a:avLst>
          </a:prstGeom>
          <a:solidFill>
            <a:srgbClr val="F7F2E9"/>
          </a:solidFill>
          <a:ln w="12700">
            <a:solidFill>
              <a:srgbClr val="EBE2D2"/>
            </a:solidFill>
            <a:prstDash val="solid"/>
          </a:ln>
        </p:spPr>
        <p:txBody>
          <a:bodyPr/>
          <a:lstStyle/>
          <a:p>
            <a:endParaRPr lang="en-US"/>
          </a:p>
        </p:txBody>
      </p:sp>
      <p:sp>
        <p:nvSpPr>
          <p:cNvPr id="10" name="Shape 8"/>
          <p:cNvSpPr/>
          <p:nvPr/>
        </p:nvSpPr>
        <p:spPr>
          <a:xfrm>
            <a:off x="786384" y="1847088"/>
            <a:ext cx="109728" cy="109728"/>
          </a:xfrm>
          <a:prstGeom prst="ellipse">
            <a:avLst/>
          </a:prstGeom>
          <a:solidFill>
            <a:srgbClr val="8A6A3E"/>
          </a:solidFill>
          <a:ln w="12700">
            <a:solidFill>
              <a:srgbClr val="333333"/>
            </a:solidFill>
            <a:prstDash val="solid"/>
          </a:ln>
        </p:spPr>
        <p:txBody>
          <a:bodyPr/>
          <a:lstStyle/>
          <a:p>
            <a:endParaRPr lang="en-US"/>
          </a:p>
        </p:txBody>
      </p:sp>
      <p:sp>
        <p:nvSpPr>
          <p:cNvPr id="11" name="Text 9"/>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700" b="1" dirty="0">
                <a:solidFill>
                  <a:srgbClr val="2A2018"/>
                </a:solidFill>
                <a:latin typeface="Cambria" pitchFamily="34" charset="0"/>
                <a:ea typeface="Cambria" pitchFamily="34" charset="-122"/>
                <a:cs typeface="Cambria" pitchFamily="34" charset="-120"/>
              </a:rPr>
              <a:t>Strengths</a:t>
            </a:r>
            <a:endParaRPr lang="en-US" sz="1700" dirty="0"/>
          </a:p>
        </p:txBody>
      </p:sp>
      <p:sp>
        <p:nvSpPr>
          <p:cNvPr id="12" name="Text 10"/>
          <p:cNvSpPr txBox="1"/>
          <p:nvPr/>
        </p:nvSpPr>
        <p:spPr>
          <a:xfrm>
            <a:off x="822960" y="2157984"/>
            <a:ext cx="4928616" cy="3712464"/>
          </a:xfrm>
          <a:prstGeom prst="rect">
            <a:avLst/>
          </a:prstGeom>
          <a:noFill/>
          <a:ln/>
        </p:spPr>
        <p:txBody>
          <a:bodyPr wrap="square" lIns="0" tIns="0" rIns="0" bIns="0" rtlCol="0" anchor="t"/>
          <a:lstStyle/>
          <a:p>
            <a:pPr marL="0" indent="0">
              <a:lnSpc>
                <a:spcPct val="108000"/>
              </a:lnSpc>
              <a:buNone/>
            </a:pPr>
            <a:r>
              <a:rPr lang="en-US" sz="1220" dirty="0">
                <a:solidFill>
                  <a:srgbClr val="362A1E"/>
                </a:solidFill>
                <a:latin typeface="Calibri" pitchFamily="34" charset="0"/>
                <a:ea typeface="Calibri" pitchFamily="34" charset="-122"/>
                <a:cs typeface="Calibri" pitchFamily="34" charset="-120"/>
              </a:rPr>
              <a:t>A genuine interdisciplinary contribution: the prompts encode real knowledge about how specific corpora should be read, with a literature scholar as co-author.</a:t>
            </a:r>
            <a:endParaRPr lang="en-US" sz="1220" dirty="0"/>
          </a:p>
          <a:p>
            <a:pPr marL="0" indent="0">
              <a:lnSpc>
                <a:spcPct val="108000"/>
              </a:lnSpc>
              <a:buNone/>
            </a:pPr>
            <a:endParaRPr lang="en-US" sz="1220" dirty="0"/>
          </a:p>
          <a:p>
            <a:pPr marL="0" indent="0">
              <a:lnSpc>
                <a:spcPct val="108000"/>
              </a:lnSpc>
              <a:buNone/>
            </a:pPr>
            <a:r>
              <a:rPr lang="en-US" sz="1220" dirty="0">
                <a:solidFill>
                  <a:srgbClr val="362A1E"/>
                </a:solidFill>
                <a:latin typeface="Calibri" pitchFamily="34" charset="0"/>
                <a:ea typeface="Calibri" pitchFamily="34" charset="-122"/>
                <a:cs typeface="Calibri" pitchFamily="34" charset="-120"/>
              </a:rPr>
              <a:t>The annotation ablation is well controlled — same model, same texts, same gold labels, one variable.</a:t>
            </a:r>
            <a:endParaRPr lang="en-US" sz="1220" dirty="0"/>
          </a:p>
          <a:p>
            <a:pPr marL="0" indent="0">
              <a:lnSpc>
                <a:spcPct val="108000"/>
              </a:lnSpc>
              <a:buNone/>
            </a:pPr>
            <a:endParaRPr lang="en-US" sz="1220" dirty="0"/>
          </a:p>
          <a:p>
            <a:pPr marL="0" indent="0">
              <a:lnSpc>
                <a:spcPct val="108000"/>
              </a:lnSpc>
              <a:buNone/>
            </a:pPr>
            <a:r>
              <a:rPr lang="en-US" sz="1220" dirty="0">
                <a:solidFill>
                  <a:srgbClr val="362A1E"/>
                </a:solidFill>
                <a:latin typeface="Calibri" pitchFamily="34" charset="0"/>
                <a:ea typeface="Calibri" pitchFamily="34" charset="-122"/>
                <a:cs typeface="Calibri" pitchFamily="34" charset="-120"/>
              </a:rPr>
              <a:t>Consistent gains across five encoder backbones.</a:t>
            </a:r>
            <a:endParaRPr lang="en-US" sz="1220" dirty="0"/>
          </a:p>
          <a:p>
            <a:pPr marL="0" indent="0">
              <a:lnSpc>
                <a:spcPct val="108000"/>
              </a:lnSpc>
              <a:buNone/>
            </a:pPr>
            <a:endParaRPr lang="en-US" sz="1220" dirty="0"/>
          </a:p>
          <a:p>
            <a:pPr marL="0" indent="0">
              <a:lnSpc>
                <a:spcPct val="108000"/>
              </a:lnSpc>
              <a:buNone/>
            </a:pPr>
            <a:r>
              <a:rPr lang="en-US" sz="1220" dirty="0">
                <a:solidFill>
                  <a:srgbClr val="362A1E"/>
                </a:solidFill>
                <a:latin typeface="Calibri" pitchFamily="34" charset="0"/>
                <a:ea typeface="Calibri" pitchFamily="34" charset="-122"/>
                <a:cs typeface="Calibri" pitchFamily="34" charset="-120"/>
              </a:rPr>
              <a:t>Macro-F1 throughout, which is the right metric for imbalanced affective data and is not what most papers in this series chose.</a:t>
            </a:r>
            <a:endParaRPr lang="en-US" sz="1220" dirty="0"/>
          </a:p>
          <a:p>
            <a:pPr marL="0" indent="0">
              <a:lnSpc>
                <a:spcPct val="108000"/>
              </a:lnSpc>
              <a:buNone/>
            </a:pPr>
            <a:endParaRPr lang="en-US" sz="1220" dirty="0"/>
          </a:p>
          <a:p>
            <a:pPr marL="0" indent="0">
              <a:lnSpc>
                <a:spcPct val="108000"/>
              </a:lnSpc>
              <a:buNone/>
            </a:pPr>
            <a:r>
              <a:rPr lang="en-US" sz="1220" dirty="0">
                <a:solidFill>
                  <a:srgbClr val="362A1E"/>
                </a:solidFill>
                <a:latin typeface="Calibri" pitchFamily="34" charset="0"/>
                <a:ea typeface="Calibri" pitchFamily="34" charset="-122"/>
                <a:cs typeface="Calibri" pitchFamily="34" charset="-120"/>
              </a:rPr>
              <a:t>Self-diagnosis of the failure pattern, with a mechanism that predicts the data.</a:t>
            </a:r>
            <a:endParaRPr lang="en-US" sz="1220" dirty="0"/>
          </a:p>
          <a:p>
            <a:pPr marL="0" indent="0">
              <a:lnSpc>
                <a:spcPct val="108000"/>
              </a:lnSpc>
              <a:buNone/>
            </a:pPr>
            <a:endParaRPr lang="en-US" sz="1220" dirty="0"/>
          </a:p>
          <a:p>
            <a:pPr marL="0" indent="0">
              <a:lnSpc>
                <a:spcPct val="108000"/>
              </a:lnSpc>
              <a:buNone/>
            </a:pPr>
            <a:r>
              <a:rPr lang="en-US" sz="1220" dirty="0">
                <a:solidFill>
                  <a:srgbClr val="362A1E"/>
                </a:solidFill>
                <a:latin typeface="Calibri" pitchFamily="34" charset="0"/>
                <a:ea typeface="Calibri" pitchFamily="34" charset="-122"/>
                <a:cs typeface="Calibri" pitchFamily="34" charset="-120"/>
              </a:rPr>
              <a:t>The representation analysis tests the geometric claim directly rather than inferring it.</a:t>
            </a:r>
            <a:endParaRPr lang="en-US" sz="1220" dirty="0"/>
          </a:p>
        </p:txBody>
      </p:sp>
      <p:sp>
        <p:nvSpPr>
          <p:cNvPr id="13" name="Shape 11"/>
          <p:cNvSpPr/>
          <p:nvPr/>
        </p:nvSpPr>
        <p:spPr>
          <a:xfrm>
            <a:off x="6190488" y="1554480"/>
            <a:ext cx="5440680" cy="4498848"/>
          </a:xfrm>
          <a:prstGeom prst="roundRect">
            <a:avLst>
              <a:gd name="adj" fmla="val 1220"/>
            </a:avLst>
          </a:prstGeom>
          <a:solidFill>
            <a:srgbClr val="F7F2E9"/>
          </a:solidFill>
          <a:ln w="12700">
            <a:solidFill>
              <a:srgbClr val="EBE2D2"/>
            </a:solidFill>
            <a:prstDash val="solid"/>
          </a:ln>
        </p:spPr>
        <p:txBody>
          <a:bodyPr/>
          <a:lstStyle/>
          <a:p>
            <a:endParaRPr lang="en-US"/>
          </a:p>
        </p:txBody>
      </p:sp>
      <p:sp>
        <p:nvSpPr>
          <p:cNvPr id="14" name="Shape 12"/>
          <p:cNvSpPr/>
          <p:nvPr/>
        </p:nvSpPr>
        <p:spPr>
          <a:xfrm>
            <a:off x="6409944" y="1847088"/>
            <a:ext cx="109728" cy="109728"/>
          </a:xfrm>
          <a:prstGeom prst="ellipse">
            <a:avLst/>
          </a:prstGeom>
          <a:solidFill>
            <a:srgbClr val="2E7D74"/>
          </a:solidFill>
          <a:ln w="12700">
            <a:solidFill>
              <a:srgbClr val="333333"/>
            </a:solidFill>
            <a:prstDash val="solid"/>
          </a:ln>
        </p:spPr>
        <p:txBody>
          <a:bodyPr/>
          <a:lstStyle/>
          <a:p>
            <a:endParaRPr lang="en-US"/>
          </a:p>
        </p:txBody>
      </p:sp>
      <p:sp>
        <p:nvSpPr>
          <p:cNvPr id="15" name="Text 13"/>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700" b="1" dirty="0">
                <a:solidFill>
                  <a:srgbClr val="2A2018"/>
                </a:solidFill>
                <a:latin typeface="Cambria" pitchFamily="34" charset="0"/>
                <a:ea typeface="Cambria" pitchFamily="34" charset="-122"/>
                <a:cs typeface="Cambria" pitchFamily="34" charset="-120"/>
              </a:rPr>
              <a:t>Open threads</a:t>
            </a:r>
            <a:endParaRPr lang="en-US" sz="1700" dirty="0"/>
          </a:p>
        </p:txBody>
      </p:sp>
      <p:sp>
        <p:nvSpPr>
          <p:cNvPr id="16" name="Text 14"/>
          <p:cNvSpPr txBox="1"/>
          <p:nvPr/>
        </p:nvSpPr>
        <p:spPr>
          <a:xfrm>
            <a:off x="6446520" y="2157984"/>
            <a:ext cx="4928616" cy="3712464"/>
          </a:xfrm>
          <a:prstGeom prst="rect">
            <a:avLst/>
          </a:prstGeom>
          <a:noFill/>
          <a:ln/>
        </p:spPr>
        <p:txBody>
          <a:bodyPr wrap="square" lIns="0" tIns="0" rIns="0" bIns="0" rtlCol="0" anchor="t"/>
          <a:lstStyle/>
          <a:p>
            <a:pPr marL="0" indent="0">
              <a:lnSpc>
                <a:spcPct val="108000"/>
              </a:lnSpc>
              <a:buNone/>
            </a:pPr>
            <a:r>
              <a:rPr lang="en-US" sz="1220" dirty="0">
                <a:solidFill>
                  <a:srgbClr val="362A1E"/>
                </a:solidFill>
                <a:latin typeface="Calibri" pitchFamily="34" charset="0"/>
                <a:ea typeface="Calibri" pitchFamily="34" charset="-122"/>
                <a:cs typeface="Calibri" pitchFamily="34" charset="-120"/>
              </a:rPr>
              <a:t>Very small test sets — 100 to 301 examples — with no seeds or variance reported. Several reported differences are within plausible run-to-run noise.</a:t>
            </a:r>
            <a:endParaRPr lang="en-US" sz="1220" dirty="0"/>
          </a:p>
          <a:p>
            <a:pPr marL="0" indent="0">
              <a:lnSpc>
                <a:spcPct val="108000"/>
              </a:lnSpc>
              <a:buNone/>
            </a:pPr>
            <a:endParaRPr lang="en-US" sz="1220" dirty="0"/>
          </a:p>
          <a:p>
            <a:pPr marL="0" indent="0">
              <a:lnSpc>
                <a:spcPct val="108000"/>
              </a:lnSpc>
              <a:buNone/>
            </a:pPr>
            <a:r>
              <a:rPr lang="en-US" sz="1220" dirty="0">
                <a:solidFill>
                  <a:srgbClr val="362A1E"/>
                </a:solidFill>
                <a:latin typeface="Calibri" pitchFamily="34" charset="0"/>
                <a:ea typeface="Calibri" pitchFamily="34" charset="-122"/>
                <a:cs typeface="Calibri" pitchFamily="34" charset="-120"/>
              </a:rPr>
              <a:t>The label-space mismatch is diagnosed but not fixed; masking absent classes is one experiment.</a:t>
            </a:r>
            <a:endParaRPr lang="en-US" sz="1220" dirty="0"/>
          </a:p>
          <a:p>
            <a:pPr marL="0" indent="0">
              <a:lnSpc>
                <a:spcPct val="108000"/>
              </a:lnSpc>
              <a:buNone/>
            </a:pPr>
            <a:endParaRPr lang="en-US" sz="1220" dirty="0"/>
          </a:p>
          <a:p>
            <a:pPr marL="0" indent="0">
              <a:lnSpc>
                <a:spcPct val="108000"/>
              </a:lnSpc>
              <a:buNone/>
            </a:pPr>
            <a:r>
              <a:rPr lang="en-US" sz="1220" dirty="0">
                <a:solidFill>
                  <a:srgbClr val="362A1E"/>
                </a:solidFill>
                <a:latin typeface="Calibri" pitchFamily="34" charset="0"/>
                <a:ea typeface="Calibri" pitchFamily="34" charset="-122"/>
                <a:cs typeface="Calibri" pitchFamily="34" charset="-120"/>
              </a:rPr>
              <a:t>Role-play is ablated as a whole, so persona, knowledge constraint and interpretive criteria cannot be separated.</a:t>
            </a:r>
            <a:endParaRPr lang="en-US" sz="1220" dirty="0"/>
          </a:p>
          <a:p>
            <a:pPr marL="0" indent="0">
              <a:lnSpc>
                <a:spcPct val="108000"/>
              </a:lnSpc>
              <a:buNone/>
            </a:pPr>
            <a:endParaRPr lang="en-US" sz="1220" dirty="0"/>
          </a:p>
          <a:p>
            <a:pPr marL="0" indent="0">
              <a:lnSpc>
                <a:spcPct val="108000"/>
              </a:lnSpc>
              <a:buNone/>
            </a:pPr>
            <a:r>
              <a:rPr lang="en-US" sz="1220" dirty="0">
                <a:solidFill>
                  <a:srgbClr val="362A1E"/>
                </a:solidFill>
                <a:latin typeface="Calibri" pitchFamily="34" charset="0"/>
                <a:ea typeface="Calibri" pitchFamily="34" charset="-122"/>
                <a:cs typeface="Calibri" pitchFamily="34" charset="-120"/>
              </a:rPr>
              <a:t>The annotation-quality and downstream gains do not track each other, and the paper does not investigate why.</a:t>
            </a:r>
            <a:endParaRPr lang="en-US" sz="1220" dirty="0"/>
          </a:p>
          <a:p>
            <a:pPr marL="0" indent="0">
              <a:lnSpc>
                <a:spcPct val="108000"/>
              </a:lnSpc>
              <a:buNone/>
            </a:pPr>
            <a:endParaRPr lang="en-US" sz="1220" dirty="0"/>
          </a:p>
          <a:p>
            <a:pPr marL="0" indent="0">
              <a:lnSpc>
                <a:spcPct val="108000"/>
              </a:lnSpc>
              <a:buNone/>
            </a:pPr>
            <a:r>
              <a:rPr lang="en-US" sz="1220" dirty="0">
                <a:solidFill>
                  <a:srgbClr val="362A1E"/>
                </a:solidFill>
                <a:latin typeface="Calibri" pitchFamily="34" charset="0"/>
                <a:ea typeface="Calibri" pitchFamily="34" charset="-122"/>
                <a:cs typeface="Calibri" pitchFamily="34" charset="-120"/>
              </a:rPr>
              <a:t>Prompts are hand-written per corpus, which the authors list as limiting automation.</a:t>
            </a:r>
            <a:endParaRPr lang="en-US" sz="1220" dirty="0"/>
          </a:p>
          <a:p>
            <a:pPr marL="0" indent="0">
              <a:lnSpc>
                <a:spcPct val="108000"/>
              </a:lnSpc>
              <a:buNone/>
            </a:pPr>
            <a:endParaRPr lang="en-US" sz="1220" dirty="0"/>
          </a:p>
          <a:p>
            <a:pPr marL="0" indent="0">
              <a:lnSpc>
                <a:spcPct val="108000"/>
              </a:lnSpc>
              <a:buNone/>
            </a:pPr>
            <a:r>
              <a:rPr lang="en-US" sz="1220" dirty="0">
                <a:solidFill>
                  <a:srgbClr val="362A1E"/>
                </a:solidFill>
                <a:latin typeface="Calibri" pitchFamily="34" charset="0"/>
                <a:ea typeface="Calibri" pitchFamily="34" charset="-122"/>
                <a:cs typeface="Calibri" pitchFamily="34" charset="-120"/>
              </a:rPr>
              <a:t>Four languages and genres; generalisation to other historical corpora is untested.</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The two papers together</a:t>
            </a:r>
            <a:endParaRPr lang="en-US" sz="2900" dirty="0"/>
          </a:p>
        </p:txBody>
      </p:sp>
      <p:sp>
        <p:nvSpPr>
          <p:cNvPr id="7" name="Text 5"/>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Structure on the input, structure on the supervision</a:t>
            </a:r>
            <a:endParaRPr lang="en-US" sz="135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22</a:t>
            </a:r>
            <a:endParaRPr lang="en-US" sz="900" dirty="0"/>
          </a:p>
        </p:txBody>
      </p:sp>
      <p:sp>
        <p:nvSpPr>
          <p:cNvPr id="9" name="Text 7"/>
          <p:cNvSpPr txBox="1"/>
          <p:nvPr/>
        </p:nvSpPr>
        <p:spPr>
          <a:xfrm>
            <a:off x="4206240" y="1335024"/>
            <a:ext cx="3566160" cy="274320"/>
          </a:xfrm>
          <a:prstGeom prst="rect">
            <a:avLst/>
          </a:prstGeom>
          <a:noFill/>
          <a:ln/>
        </p:spPr>
        <p:txBody>
          <a:bodyPr wrap="square" lIns="0" tIns="0" rIns="0" bIns="0" rtlCol="0" anchor="ctr"/>
          <a:lstStyle/>
          <a:p>
            <a:pPr marL="0" indent="0">
              <a:buNone/>
            </a:pPr>
            <a:r>
              <a:rPr lang="en-US" sz="1250" b="1" dirty="0">
                <a:solidFill>
                  <a:srgbClr val="8A6A3E"/>
                </a:solidFill>
                <a:latin typeface="Calibri" pitchFamily="34" charset="0"/>
                <a:ea typeface="Calibri" pitchFamily="34" charset="-122"/>
                <a:cs typeface="Calibri" pitchFamily="34" charset="-120"/>
              </a:rPr>
              <a:t>CCoT-Emo (ICASSP 2026)</a:t>
            </a:r>
            <a:endParaRPr lang="en-US" sz="1250" dirty="0"/>
          </a:p>
        </p:txBody>
      </p:sp>
      <p:sp>
        <p:nvSpPr>
          <p:cNvPr id="10" name="Text 8"/>
          <p:cNvSpPr txBox="1"/>
          <p:nvPr/>
        </p:nvSpPr>
        <p:spPr>
          <a:xfrm>
            <a:off x="7955280" y="1335024"/>
            <a:ext cx="3657600" cy="274320"/>
          </a:xfrm>
          <a:prstGeom prst="rect">
            <a:avLst/>
          </a:prstGeom>
          <a:noFill/>
          <a:ln/>
        </p:spPr>
        <p:txBody>
          <a:bodyPr wrap="square" lIns="0" tIns="0" rIns="0" bIns="0" rtlCol="0" anchor="ctr"/>
          <a:lstStyle/>
          <a:p>
            <a:pPr marL="0" indent="0">
              <a:buNone/>
            </a:pPr>
            <a:r>
              <a:rPr lang="en-US" sz="1250" b="1" dirty="0">
                <a:solidFill>
                  <a:srgbClr val="2E7D74"/>
                </a:solidFill>
                <a:latin typeface="Calibri" pitchFamily="34" charset="0"/>
                <a:ea typeface="Calibri" pitchFamily="34" charset="-122"/>
                <a:cs typeface="Calibri" pitchFamily="34" charset="-120"/>
              </a:rPr>
              <a:t>RAPA (Findings of EMNLP 2025)</a:t>
            </a:r>
            <a:endParaRPr lang="en-US" sz="1250" dirty="0"/>
          </a:p>
        </p:txBody>
      </p:sp>
      <p:sp>
        <p:nvSpPr>
          <p:cNvPr id="11" name="Shape 9"/>
          <p:cNvSpPr/>
          <p:nvPr/>
        </p:nvSpPr>
        <p:spPr>
          <a:xfrm>
            <a:off x="566928" y="1627632"/>
            <a:ext cx="11064240" cy="475488"/>
          </a:xfrm>
          <a:prstGeom prst="roundRect">
            <a:avLst>
              <a:gd name="adj" fmla="val 3846"/>
            </a:avLst>
          </a:prstGeom>
          <a:solidFill>
            <a:srgbClr val="F7F2E9"/>
          </a:solidFill>
          <a:ln w="12700">
            <a:solidFill>
              <a:srgbClr val="F0E9DC"/>
            </a:solidFill>
            <a:prstDash val="solid"/>
          </a:ln>
        </p:spPr>
        <p:txBody>
          <a:bodyPr/>
          <a:lstStyle/>
          <a:p>
            <a:endParaRPr lang="en-US"/>
          </a:p>
        </p:txBody>
      </p:sp>
      <p:sp>
        <p:nvSpPr>
          <p:cNvPr id="12" name="Text 10"/>
          <p:cNvSpPr txBox="1"/>
          <p:nvPr/>
        </p:nvSpPr>
        <p:spPr>
          <a:xfrm>
            <a:off x="749808" y="1728216"/>
            <a:ext cx="3291840" cy="274320"/>
          </a:xfrm>
          <a:prstGeom prst="rect">
            <a:avLst/>
          </a:prstGeom>
          <a:noFill/>
          <a:ln/>
        </p:spPr>
        <p:txBody>
          <a:bodyPr wrap="square" lIns="0" tIns="0" rIns="0" bIns="0" rtlCol="0" anchor="ctr"/>
          <a:lstStyle/>
          <a:p>
            <a:pPr marL="0" indent="0">
              <a:buNone/>
            </a:pPr>
            <a:r>
              <a:rPr lang="en-US" sz="1130" b="1" dirty="0">
                <a:solidFill>
                  <a:srgbClr val="2A2018"/>
                </a:solidFill>
                <a:latin typeface="Calibri" pitchFamily="34" charset="0"/>
                <a:ea typeface="Calibri" pitchFamily="34" charset="-122"/>
                <a:cs typeface="Calibri" pitchFamily="34" charset="-120"/>
              </a:rPr>
              <a:t>What is structured</a:t>
            </a:r>
            <a:endParaRPr lang="en-US" sz="1130" dirty="0"/>
          </a:p>
        </p:txBody>
      </p:sp>
      <p:sp>
        <p:nvSpPr>
          <p:cNvPr id="13" name="Text 11"/>
          <p:cNvSpPr txBox="1"/>
          <p:nvPr/>
        </p:nvSpPr>
        <p:spPr>
          <a:xfrm>
            <a:off x="4206240" y="1728216"/>
            <a:ext cx="3566160" cy="274320"/>
          </a:xfrm>
          <a:prstGeom prst="rect">
            <a:avLst/>
          </a:prstGeom>
          <a:noFill/>
          <a:ln/>
        </p:spPr>
        <p:txBody>
          <a:bodyPr wrap="square" lIns="0" tIns="0" rIns="0" bIns="0" rtlCol="0" anchor="ctr"/>
          <a:lstStyle/>
          <a:p>
            <a:pPr marL="0" indent="0">
              <a:buNone/>
            </a:pPr>
            <a:r>
              <a:rPr lang="en-US" sz="1130" dirty="0">
                <a:solidFill>
                  <a:srgbClr val="362A1E"/>
                </a:solidFill>
                <a:latin typeface="Calibri" pitchFamily="34" charset="0"/>
                <a:ea typeface="Calibri" pitchFamily="34" charset="-122"/>
                <a:cs typeface="Calibri" pitchFamily="34" charset="-120"/>
              </a:rPr>
              <a:t>The prompt given to a frozen model</a:t>
            </a:r>
            <a:endParaRPr lang="en-US" sz="1130" dirty="0"/>
          </a:p>
        </p:txBody>
      </p:sp>
      <p:sp>
        <p:nvSpPr>
          <p:cNvPr id="14" name="Text 12"/>
          <p:cNvSpPr txBox="1"/>
          <p:nvPr/>
        </p:nvSpPr>
        <p:spPr>
          <a:xfrm>
            <a:off x="7955280" y="1728216"/>
            <a:ext cx="3657600" cy="274320"/>
          </a:xfrm>
          <a:prstGeom prst="rect">
            <a:avLst/>
          </a:prstGeom>
          <a:noFill/>
          <a:ln/>
        </p:spPr>
        <p:txBody>
          <a:bodyPr wrap="square" lIns="0" tIns="0" rIns="0" bIns="0" rtlCol="0" anchor="ctr"/>
          <a:lstStyle/>
          <a:p>
            <a:pPr marL="0" indent="0">
              <a:buNone/>
            </a:pPr>
            <a:r>
              <a:rPr lang="en-US" sz="1130" dirty="0">
                <a:solidFill>
                  <a:srgbClr val="362A1E"/>
                </a:solidFill>
                <a:latin typeface="Calibri" pitchFamily="34" charset="0"/>
                <a:ea typeface="Calibri" pitchFamily="34" charset="-122"/>
                <a:cs typeface="Calibri" pitchFamily="34" charset="-120"/>
              </a:rPr>
              <a:t>The labels used to train a small model</a:t>
            </a:r>
            <a:endParaRPr lang="en-US" sz="1130" dirty="0"/>
          </a:p>
        </p:txBody>
      </p:sp>
      <p:sp>
        <p:nvSpPr>
          <p:cNvPr id="15" name="Shape 13"/>
          <p:cNvSpPr/>
          <p:nvPr/>
        </p:nvSpPr>
        <p:spPr>
          <a:xfrm>
            <a:off x="566928" y="2139696"/>
            <a:ext cx="11064240" cy="475488"/>
          </a:xfrm>
          <a:prstGeom prst="roundRect">
            <a:avLst>
              <a:gd name="adj" fmla="val 3846"/>
            </a:avLst>
          </a:prstGeom>
          <a:solidFill>
            <a:srgbClr val="FFFFFF"/>
          </a:solidFill>
          <a:ln w="12700">
            <a:solidFill>
              <a:srgbClr val="F0E9DC"/>
            </a:solidFill>
            <a:prstDash val="solid"/>
          </a:ln>
        </p:spPr>
        <p:txBody>
          <a:bodyPr/>
          <a:lstStyle/>
          <a:p>
            <a:endParaRPr lang="en-US"/>
          </a:p>
        </p:txBody>
      </p:sp>
      <p:sp>
        <p:nvSpPr>
          <p:cNvPr id="16" name="Text 14"/>
          <p:cNvSpPr txBox="1"/>
          <p:nvPr/>
        </p:nvSpPr>
        <p:spPr>
          <a:xfrm>
            <a:off x="749808" y="2240280"/>
            <a:ext cx="3291840" cy="274320"/>
          </a:xfrm>
          <a:prstGeom prst="rect">
            <a:avLst/>
          </a:prstGeom>
          <a:noFill/>
          <a:ln/>
        </p:spPr>
        <p:txBody>
          <a:bodyPr wrap="square" lIns="0" tIns="0" rIns="0" bIns="0" rtlCol="0" anchor="ctr"/>
          <a:lstStyle/>
          <a:p>
            <a:pPr marL="0" indent="0">
              <a:buNone/>
            </a:pPr>
            <a:r>
              <a:rPr lang="en-US" sz="1130" b="1" dirty="0">
                <a:solidFill>
                  <a:srgbClr val="2A2018"/>
                </a:solidFill>
                <a:latin typeface="Calibri" pitchFamily="34" charset="0"/>
                <a:ea typeface="Calibri" pitchFamily="34" charset="-122"/>
                <a:cs typeface="Calibri" pitchFamily="34" charset="-120"/>
              </a:rPr>
              <a:t>The structure</a:t>
            </a:r>
            <a:endParaRPr lang="en-US" sz="1130" dirty="0"/>
          </a:p>
        </p:txBody>
      </p:sp>
      <p:sp>
        <p:nvSpPr>
          <p:cNvPr id="17" name="Text 15"/>
          <p:cNvSpPr txBox="1"/>
          <p:nvPr/>
        </p:nvSpPr>
        <p:spPr>
          <a:xfrm>
            <a:off x="4206240" y="2240280"/>
            <a:ext cx="3566160" cy="274320"/>
          </a:xfrm>
          <a:prstGeom prst="rect">
            <a:avLst/>
          </a:prstGeom>
          <a:noFill/>
          <a:ln/>
        </p:spPr>
        <p:txBody>
          <a:bodyPr wrap="square" lIns="0" tIns="0" rIns="0" bIns="0" rtlCol="0" anchor="ctr"/>
          <a:lstStyle/>
          <a:p>
            <a:pPr marL="0" indent="0">
              <a:buNone/>
            </a:pPr>
            <a:r>
              <a:rPr lang="en-US" sz="1130" dirty="0">
                <a:solidFill>
                  <a:srgbClr val="362A1E"/>
                </a:solidFill>
                <a:latin typeface="Calibri" pitchFamily="34" charset="0"/>
                <a:ea typeface="Calibri" pitchFamily="34" charset="-122"/>
                <a:cs typeface="Calibri" pitchFamily="34" charset="-120"/>
              </a:rPr>
              <a:t>An Emotion Graph — attributes and relations as JSON</a:t>
            </a:r>
            <a:endParaRPr lang="en-US" sz="1130" dirty="0"/>
          </a:p>
        </p:txBody>
      </p:sp>
      <p:sp>
        <p:nvSpPr>
          <p:cNvPr id="18" name="Text 16"/>
          <p:cNvSpPr txBox="1"/>
          <p:nvPr/>
        </p:nvSpPr>
        <p:spPr>
          <a:xfrm>
            <a:off x="7955280" y="2240280"/>
            <a:ext cx="3657600" cy="274320"/>
          </a:xfrm>
          <a:prstGeom prst="rect">
            <a:avLst/>
          </a:prstGeom>
          <a:noFill/>
          <a:ln/>
        </p:spPr>
        <p:txBody>
          <a:bodyPr wrap="square" lIns="0" tIns="0" rIns="0" bIns="0" rtlCol="0" anchor="ctr"/>
          <a:lstStyle/>
          <a:p>
            <a:pPr marL="0" indent="0">
              <a:buNone/>
            </a:pPr>
            <a:r>
              <a:rPr lang="en-US" sz="1130" dirty="0">
                <a:solidFill>
                  <a:srgbClr val="362A1E"/>
                </a:solidFill>
                <a:latin typeface="Calibri" pitchFamily="34" charset="0"/>
                <a:ea typeface="Calibri" pitchFamily="34" charset="-122"/>
                <a:cs typeface="Calibri" pitchFamily="34" charset="-120"/>
              </a:rPr>
              <a:t>A role-play persona with a knowledge constraint</a:t>
            </a:r>
            <a:endParaRPr lang="en-US" sz="1130" dirty="0"/>
          </a:p>
        </p:txBody>
      </p:sp>
      <p:sp>
        <p:nvSpPr>
          <p:cNvPr id="19" name="Shape 17"/>
          <p:cNvSpPr/>
          <p:nvPr/>
        </p:nvSpPr>
        <p:spPr>
          <a:xfrm>
            <a:off x="566928" y="2651760"/>
            <a:ext cx="11064240" cy="475488"/>
          </a:xfrm>
          <a:prstGeom prst="roundRect">
            <a:avLst>
              <a:gd name="adj" fmla="val 3846"/>
            </a:avLst>
          </a:prstGeom>
          <a:solidFill>
            <a:srgbClr val="F7F2E9"/>
          </a:solidFill>
          <a:ln w="12700">
            <a:solidFill>
              <a:srgbClr val="F0E9DC"/>
            </a:solidFill>
            <a:prstDash val="solid"/>
          </a:ln>
        </p:spPr>
        <p:txBody>
          <a:bodyPr/>
          <a:lstStyle/>
          <a:p>
            <a:endParaRPr lang="en-US"/>
          </a:p>
        </p:txBody>
      </p:sp>
      <p:sp>
        <p:nvSpPr>
          <p:cNvPr id="20" name="Text 18"/>
          <p:cNvSpPr txBox="1"/>
          <p:nvPr/>
        </p:nvSpPr>
        <p:spPr>
          <a:xfrm>
            <a:off x="749808" y="2752344"/>
            <a:ext cx="3291840" cy="274320"/>
          </a:xfrm>
          <a:prstGeom prst="rect">
            <a:avLst/>
          </a:prstGeom>
          <a:noFill/>
          <a:ln/>
        </p:spPr>
        <p:txBody>
          <a:bodyPr wrap="square" lIns="0" tIns="0" rIns="0" bIns="0" rtlCol="0" anchor="ctr"/>
          <a:lstStyle/>
          <a:p>
            <a:pPr marL="0" indent="0">
              <a:buNone/>
            </a:pPr>
            <a:r>
              <a:rPr lang="en-US" sz="1130" b="1" dirty="0">
                <a:solidFill>
                  <a:srgbClr val="2A2018"/>
                </a:solidFill>
                <a:latin typeface="Calibri" pitchFamily="34" charset="0"/>
                <a:ea typeface="Calibri" pitchFamily="34" charset="-122"/>
                <a:cs typeface="Calibri" pitchFamily="34" charset="-120"/>
              </a:rPr>
              <a:t>What is frozen</a:t>
            </a:r>
            <a:endParaRPr lang="en-US" sz="1130" dirty="0"/>
          </a:p>
        </p:txBody>
      </p:sp>
      <p:sp>
        <p:nvSpPr>
          <p:cNvPr id="21" name="Text 19"/>
          <p:cNvSpPr txBox="1"/>
          <p:nvPr/>
        </p:nvSpPr>
        <p:spPr>
          <a:xfrm>
            <a:off x="4206240" y="2752344"/>
            <a:ext cx="3566160" cy="274320"/>
          </a:xfrm>
          <a:prstGeom prst="rect">
            <a:avLst/>
          </a:prstGeom>
          <a:noFill/>
          <a:ln/>
        </p:spPr>
        <p:txBody>
          <a:bodyPr wrap="square" lIns="0" tIns="0" rIns="0" bIns="0" rtlCol="0" anchor="ctr"/>
          <a:lstStyle/>
          <a:p>
            <a:pPr marL="0" indent="0">
              <a:buNone/>
            </a:pPr>
            <a:r>
              <a:rPr lang="en-US" sz="1130" dirty="0">
                <a:solidFill>
                  <a:srgbClr val="362A1E"/>
                </a:solidFill>
                <a:latin typeface="Calibri" pitchFamily="34" charset="0"/>
                <a:ea typeface="Calibri" pitchFamily="34" charset="-122"/>
                <a:cs typeface="Calibri" pitchFamily="34" charset="-120"/>
              </a:rPr>
              <a:t>Everything — no gradients anywhere</a:t>
            </a:r>
            <a:endParaRPr lang="en-US" sz="1130" dirty="0"/>
          </a:p>
        </p:txBody>
      </p:sp>
      <p:sp>
        <p:nvSpPr>
          <p:cNvPr id="22" name="Text 20"/>
          <p:cNvSpPr txBox="1"/>
          <p:nvPr/>
        </p:nvSpPr>
        <p:spPr>
          <a:xfrm>
            <a:off x="7955280" y="2752344"/>
            <a:ext cx="3657600" cy="274320"/>
          </a:xfrm>
          <a:prstGeom prst="rect">
            <a:avLst/>
          </a:prstGeom>
          <a:noFill/>
          <a:ln/>
        </p:spPr>
        <p:txBody>
          <a:bodyPr wrap="square" lIns="0" tIns="0" rIns="0" bIns="0" rtlCol="0" anchor="ctr"/>
          <a:lstStyle/>
          <a:p>
            <a:pPr marL="0" indent="0">
              <a:buNone/>
            </a:pPr>
            <a:r>
              <a:rPr lang="en-US" sz="1130" dirty="0">
                <a:solidFill>
                  <a:srgbClr val="362A1E"/>
                </a:solidFill>
                <a:latin typeface="Calibri" pitchFamily="34" charset="0"/>
                <a:ea typeface="Calibri" pitchFamily="34" charset="-122"/>
                <a:cs typeface="Calibri" pitchFamily="34" charset="-120"/>
              </a:rPr>
              <a:t>Nothing — a multilingual encoder is fine-tuned</a:t>
            </a:r>
            <a:endParaRPr lang="en-US" sz="1130" dirty="0"/>
          </a:p>
        </p:txBody>
      </p:sp>
      <p:sp>
        <p:nvSpPr>
          <p:cNvPr id="23" name="Shape 21"/>
          <p:cNvSpPr/>
          <p:nvPr/>
        </p:nvSpPr>
        <p:spPr>
          <a:xfrm>
            <a:off x="566928" y="3163824"/>
            <a:ext cx="11064240" cy="475488"/>
          </a:xfrm>
          <a:prstGeom prst="roundRect">
            <a:avLst>
              <a:gd name="adj" fmla="val 3846"/>
            </a:avLst>
          </a:prstGeom>
          <a:solidFill>
            <a:srgbClr val="FFFFFF"/>
          </a:solidFill>
          <a:ln w="12700">
            <a:solidFill>
              <a:srgbClr val="F0E9DC"/>
            </a:solidFill>
            <a:prstDash val="solid"/>
          </a:ln>
        </p:spPr>
        <p:txBody>
          <a:bodyPr/>
          <a:lstStyle/>
          <a:p>
            <a:endParaRPr lang="en-US"/>
          </a:p>
        </p:txBody>
      </p:sp>
      <p:sp>
        <p:nvSpPr>
          <p:cNvPr id="24" name="Text 22"/>
          <p:cNvSpPr txBox="1"/>
          <p:nvPr/>
        </p:nvSpPr>
        <p:spPr>
          <a:xfrm>
            <a:off x="749808" y="3264408"/>
            <a:ext cx="3291840" cy="274320"/>
          </a:xfrm>
          <a:prstGeom prst="rect">
            <a:avLst/>
          </a:prstGeom>
          <a:noFill/>
          <a:ln/>
        </p:spPr>
        <p:txBody>
          <a:bodyPr wrap="square" lIns="0" tIns="0" rIns="0" bIns="0" rtlCol="0" anchor="ctr"/>
          <a:lstStyle/>
          <a:p>
            <a:pPr marL="0" indent="0">
              <a:buNone/>
            </a:pPr>
            <a:r>
              <a:rPr lang="en-US" sz="1130" b="1" dirty="0">
                <a:solidFill>
                  <a:srgbClr val="2A2018"/>
                </a:solidFill>
                <a:latin typeface="Calibri" pitchFamily="34" charset="0"/>
                <a:ea typeface="Calibri" pitchFamily="34" charset="-122"/>
                <a:cs typeface="Calibri" pitchFamily="34" charset="-120"/>
              </a:rPr>
              <a:t>Where human knowledge enters</a:t>
            </a:r>
            <a:endParaRPr lang="en-US" sz="1130" dirty="0"/>
          </a:p>
        </p:txBody>
      </p:sp>
      <p:sp>
        <p:nvSpPr>
          <p:cNvPr id="25" name="Text 23"/>
          <p:cNvSpPr txBox="1"/>
          <p:nvPr/>
        </p:nvSpPr>
        <p:spPr>
          <a:xfrm>
            <a:off x="4206240" y="3264408"/>
            <a:ext cx="3566160" cy="274320"/>
          </a:xfrm>
          <a:prstGeom prst="rect">
            <a:avLst/>
          </a:prstGeom>
          <a:noFill/>
          <a:ln/>
        </p:spPr>
        <p:txBody>
          <a:bodyPr wrap="square" lIns="0" tIns="0" rIns="0" bIns="0" rtlCol="0" anchor="ctr"/>
          <a:lstStyle/>
          <a:p>
            <a:pPr marL="0" indent="0">
              <a:buNone/>
            </a:pPr>
            <a:r>
              <a:rPr lang="en-US" sz="1130" dirty="0">
                <a:solidFill>
                  <a:srgbClr val="362A1E"/>
                </a:solidFill>
                <a:latin typeface="Calibri" pitchFamily="34" charset="0"/>
                <a:ea typeface="Calibri" pitchFamily="34" charset="-122"/>
                <a:cs typeface="Calibri" pitchFamily="34" charset="-120"/>
              </a:rPr>
              <a:t>The choice of seven acoustic features</a:t>
            </a:r>
            <a:endParaRPr lang="en-US" sz="1130" dirty="0"/>
          </a:p>
        </p:txBody>
      </p:sp>
      <p:sp>
        <p:nvSpPr>
          <p:cNvPr id="26" name="Text 24"/>
          <p:cNvSpPr txBox="1"/>
          <p:nvPr/>
        </p:nvSpPr>
        <p:spPr>
          <a:xfrm>
            <a:off x="7955280" y="3264408"/>
            <a:ext cx="3657600" cy="274320"/>
          </a:xfrm>
          <a:prstGeom prst="rect">
            <a:avLst/>
          </a:prstGeom>
          <a:noFill/>
          <a:ln/>
        </p:spPr>
        <p:txBody>
          <a:bodyPr wrap="square" lIns="0" tIns="0" rIns="0" bIns="0" rtlCol="0" anchor="ctr"/>
          <a:lstStyle/>
          <a:p>
            <a:pPr marL="0" indent="0">
              <a:buNone/>
            </a:pPr>
            <a:r>
              <a:rPr lang="en-US" sz="1130" dirty="0">
                <a:solidFill>
                  <a:srgbClr val="362A1E"/>
                </a:solidFill>
                <a:latin typeface="Calibri" pitchFamily="34" charset="0"/>
                <a:ea typeface="Calibri" pitchFamily="34" charset="-122"/>
                <a:cs typeface="Calibri" pitchFamily="34" charset="-120"/>
              </a:rPr>
              <a:t>Hand-written prompts encoding how to read each corpus</a:t>
            </a:r>
            <a:endParaRPr lang="en-US" sz="1130" dirty="0"/>
          </a:p>
        </p:txBody>
      </p:sp>
      <p:sp>
        <p:nvSpPr>
          <p:cNvPr id="27" name="Shape 25"/>
          <p:cNvSpPr/>
          <p:nvPr/>
        </p:nvSpPr>
        <p:spPr>
          <a:xfrm>
            <a:off x="566928" y="3675888"/>
            <a:ext cx="11064240" cy="475488"/>
          </a:xfrm>
          <a:prstGeom prst="roundRect">
            <a:avLst>
              <a:gd name="adj" fmla="val 3846"/>
            </a:avLst>
          </a:prstGeom>
          <a:solidFill>
            <a:srgbClr val="F7F2E9"/>
          </a:solidFill>
          <a:ln w="12700">
            <a:solidFill>
              <a:srgbClr val="F0E9DC"/>
            </a:solidFill>
            <a:prstDash val="solid"/>
          </a:ln>
        </p:spPr>
        <p:txBody>
          <a:bodyPr/>
          <a:lstStyle/>
          <a:p>
            <a:endParaRPr lang="en-US"/>
          </a:p>
        </p:txBody>
      </p:sp>
      <p:sp>
        <p:nvSpPr>
          <p:cNvPr id="28" name="Text 26"/>
          <p:cNvSpPr txBox="1"/>
          <p:nvPr/>
        </p:nvSpPr>
        <p:spPr>
          <a:xfrm>
            <a:off x="749808" y="3776472"/>
            <a:ext cx="3291840" cy="274320"/>
          </a:xfrm>
          <a:prstGeom prst="rect">
            <a:avLst/>
          </a:prstGeom>
          <a:noFill/>
          <a:ln/>
        </p:spPr>
        <p:txBody>
          <a:bodyPr wrap="square" lIns="0" tIns="0" rIns="0" bIns="0" rtlCol="0" anchor="ctr"/>
          <a:lstStyle/>
          <a:p>
            <a:pPr marL="0" indent="0">
              <a:buNone/>
            </a:pPr>
            <a:r>
              <a:rPr lang="en-US" sz="1130" b="1" dirty="0">
                <a:solidFill>
                  <a:srgbClr val="2A2018"/>
                </a:solidFill>
                <a:latin typeface="Calibri" pitchFamily="34" charset="0"/>
                <a:ea typeface="Calibri" pitchFamily="34" charset="-122"/>
                <a:cs typeface="Calibri" pitchFamily="34" charset="-120"/>
              </a:rPr>
              <a:t>Handling noise</a:t>
            </a:r>
            <a:endParaRPr lang="en-US" sz="1130" dirty="0"/>
          </a:p>
        </p:txBody>
      </p:sp>
      <p:sp>
        <p:nvSpPr>
          <p:cNvPr id="29" name="Text 27"/>
          <p:cNvSpPr txBox="1"/>
          <p:nvPr/>
        </p:nvSpPr>
        <p:spPr>
          <a:xfrm>
            <a:off x="4206240" y="3776472"/>
            <a:ext cx="3566160" cy="274320"/>
          </a:xfrm>
          <a:prstGeom prst="rect">
            <a:avLst/>
          </a:prstGeom>
          <a:noFill/>
          <a:ln/>
        </p:spPr>
        <p:txBody>
          <a:bodyPr wrap="square" lIns="0" tIns="0" rIns="0" bIns="0" rtlCol="0" anchor="ctr"/>
          <a:lstStyle/>
          <a:p>
            <a:pPr marL="0" indent="0">
              <a:buNone/>
            </a:pPr>
            <a:r>
              <a:rPr lang="en-US" sz="1130" dirty="0">
                <a:solidFill>
                  <a:srgbClr val="362A1E"/>
                </a:solidFill>
                <a:latin typeface="Calibri" pitchFamily="34" charset="0"/>
                <a:ea typeface="Calibri" pitchFamily="34" charset="-122"/>
                <a:cs typeface="Calibri" pitchFamily="34" charset="-120"/>
              </a:rPr>
              <a:t>Deterministic DSP so the measurement cannot be hallucinated</a:t>
            </a:r>
            <a:endParaRPr lang="en-US" sz="1130" dirty="0"/>
          </a:p>
        </p:txBody>
      </p:sp>
      <p:sp>
        <p:nvSpPr>
          <p:cNvPr id="30" name="Text 28"/>
          <p:cNvSpPr txBox="1"/>
          <p:nvPr/>
        </p:nvSpPr>
        <p:spPr>
          <a:xfrm>
            <a:off x="7955280" y="3776472"/>
            <a:ext cx="3657600" cy="274320"/>
          </a:xfrm>
          <a:prstGeom prst="rect">
            <a:avLst/>
          </a:prstGeom>
          <a:noFill/>
          <a:ln/>
        </p:spPr>
        <p:txBody>
          <a:bodyPr wrap="square" lIns="0" tIns="0" rIns="0" bIns="0" rtlCol="0" anchor="ctr"/>
          <a:lstStyle/>
          <a:p>
            <a:pPr marL="0" indent="0">
              <a:buNone/>
            </a:pPr>
            <a:r>
              <a:rPr lang="en-US" sz="1130" dirty="0">
                <a:solidFill>
                  <a:srgbClr val="362A1E"/>
                </a:solidFill>
                <a:latin typeface="Calibri" pitchFamily="34" charset="0"/>
                <a:ea typeface="Calibri" pitchFamily="34" charset="-122"/>
                <a:cs typeface="Calibri" pitchFamily="34" charset="-120"/>
              </a:rPr>
              <a:t>Representation-level alignment to stable prototypes</a:t>
            </a:r>
            <a:endParaRPr lang="en-US" sz="1130" dirty="0"/>
          </a:p>
        </p:txBody>
      </p:sp>
      <p:sp>
        <p:nvSpPr>
          <p:cNvPr id="31" name="Shape 29"/>
          <p:cNvSpPr/>
          <p:nvPr/>
        </p:nvSpPr>
        <p:spPr>
          <a:xfrm>
            <a:off x="566928" y="4187952"/>
            <a:ext cx="11064240" cy="475488"/>
          </a:xfrm>
          <a:prstGeom prst="roundRect">
            <a:avLst>
              <a:gd name="adj" fmla="val 3846"/>
            </a:avLst>
          </a:prstGeom>
          <a:solidFill>
            <a:srgbClr val="FFFFFF"/>
          </a:solidFill>
          <a:ln w="12700">
            <a:solidFill>
              <a:srgbClr val="F0E9DC"/>
            </a:solidFill>
            <a:prstDash val="solid"/>
          </a:ln>
        </p:spPr>
        <p:txBody>
          <a:bodyPr/>
          <a:lstStyle/>
          <a:p>
            <a:endParaRPr lang="en-US"/>
          </a:p>
        </p:txBody>
      </p:sp>
      <p:sp>
        <p:nvSpPr>
          <p:cNvPr id="32" name="Text 30"/>
          <p:cNvSpPr txBox="1"/>
          <p:nvPr/>
        </p:nvSpPr>
        <p:spPr>
          <a:xfrm>
            <a:off x="749808" y="4288536"/>
            <a:ext cx="3291840" cy="274320"/>
          </a:xfrm>
          <a:prstGeom prst="rect">
            <a:avLst/>
          </a:prstGeom>
          <a:noFill/>
          <a:ln/>
        </p:spPr>
        <p:txBody>
          <a:bodyPr wrap="square" lIns="0" tIns="0" rIns="0" bIns="0" rtlCol="0" anchor="ctr"/>
          <a:lstStyle/>
          <a:p>
            <a:pPr marL="0" indent="0">
              <a:buNone/>
            </a:pPr>
            <a:r>
              <a:rPr lang="en-US" sz="1130" b="1" dirty="0">
                <a:solidFill>
                  <a:srgbClr val="2A2018"/>
                </a:solidFill>
                <a:latin typeface="Calibri" pitchFamily="34" charset="0"/>
                <a:ea typeface="Calibri" pitchFamily="34" charset="-122"/>
                <a:cs typeface="Calibri" pitchFamily="34" charset="-120"/>
              </a:rPr>
              <a:t>Validated across</a:t>
            </a:r>
            <a:endParaRPr lang="en-US" sz="1130" dirty="0"/>
          </a:p>
        </p:txBody>
      </p:sp>
      <p:sp>
        <p:nvSpPr>
          <p:cNvPr id="33" name="Text 31"/>
          <p:cNvSpPr txBox="1"/>
          <p:nvPr/>
        </p:nvSpPr>
        <p:spPr>
          <a:xfrm>
            <a:off x="4206240" y="4288536"/>
            <a:ext cx="3566160" cy="274320"/>
          </a:xfrm>
          <a:prstGeom prst="rect">
            <a:avLst/>
          </a:prstGeom>
          <a:noFill/>
          <a:ln/>
        </p:spPr>
        <p:txBody>
          <a:bodyPr wrap="square" lIns="0" tIns="0" rIns="0" bIns="0" rtlCol="0" anchor="ctr"/>
          <a:lstStyle/>
          <a:p>
            <a:pPr marL="0" indent="0">
              <a:buNone/>
            </a:pPr>
            <a:r>
              <a:rPr lang="en-US" sz="1130" dirty="0">
                <a:solidFill>
                  <a:srgbClr val="362A1E"/>
                </a:solidFill>
                <a:latin typeface="Calibri" pitchFamily="34" charset="0"/>
                <a:ea typeface="Calibri" pitchFamily="34" charset="-122"/>
                <a:cs typeface="Calibri" pitchFamily="34" charset="-120"/>
              </a:rPr>
              <a:t>Three audio LLMs, five benchmarks</a:t>
            </a:r>
            <a:endParaRPr lang="en-US" sz="1130" dirty="0"/>
          </a:p>
        </p:txBody>
      </p:sp>
      <p:sp>
        <p:nvSpPr>
          <p:cNvPr id="34" name="Text 32"/>
          <p:cNvSpPr txBox="1"/>
          <p:nvPr/>
        </p:nvSpPr>
        <p:spPr>
          <a:xfrm>
            <a:off x="7955280" y="4288536"/>
            <a:ext cx="3657600" cy="274320"/>
          </a:xfrm>
          <a:prstGeom prst="rect">
            <a:avLst/>
          </a:prstGeom>
          <a:noFill/>
          <a:ln/>
        </p:spPr>
        <p:txBody>
          <a:bodyPr wrap="square" lIns="0" tIns="0" rIns="0" bIns="0" rtlCol="0" anchor="ctr"/>
          <a:lstStyle/>
          <a:p>
            <a:pPr marL="0" indent="0">
              <a:buNone/>
            </a:pPr>
            <a:r>
              <a:rPr lang="en-US" sz="1130" dirty="0">
                <a:solidFill>
                  <a:srgbClr val="362A1E"/>
                </a:solidFill>
                <a:latin typeface="Calibri" pitchFamily="34" charset="0"/>
                <a:ea typeface="Calibri" pitchFamily="34" charset="-122"/>
                <a:cs typeface="Calibri" pitchFamily="34" charset="-120"/>
              </a:rPr>
              <a:t>Five encoders, four corpora</a:t>
            </a:r>
            <a:endParaRPr lang="en-US" sz="1130" dirty="0"/>
          </a:p>
        </p:txBody>
      </p:sp>
      <p:sp>
        <p:nvSpPr>
          <p:cNvPr id="35" name="Shape 33"/>
          <p:cNvSpPr/>
          <p:nvPr/>
        </p:nvSpPr>
        <p:spPr>
          <a:xfrm>
            <a:off x="566928" y="4700016"/>
            <a:ext cx="11064240" cy="475488"/>
          </a:xfrm>
          <a:prstGeom prst="roundRect">
            <a:avLst>
              <a:gd name="adj" fmla="val 3846"/>
            </a:avLst>
          </a:prstGeom>
          <a:solidFill>
            <a:srgbClr val="F7F2E9"/>
          </a:solidFill>
          <a:ln w="12700">
            <a:solidFill>
              <a:srgbClr val="F0E9DC"/>
            </a:solidFill>
            <a:prstDash val="solid"/>
          </a:ln>
        </p:spPr>
        <p:txBody>
          <a:bodyPr/>
          <a:lstStyle/>
          <a:p>
            <a:endParaRPr lang="en-US"/>
          </a:p>
        </p:txBody>
      </p:sp>
      <p:sp>
        <p:nvSpPr>
          <p:cNvPr id="36" name="Text 34"/>
          <p:cNvSpPr txBox="1"/>
          <p:nvPr/>
        </p:nvSpPr>
        <p:spPr>
          <a:xfrm>
            <a:off x="749808" y="4800600"/>
            <a:ext cx="3291840" cy="274320"/>
          </a:xfrm>
          <a:prstGeom prst="rect">
            <a:avLst/>
          </a:prstGeom>
          <a:noFill/>
          <a:ln/>
        </p:spPr>
        <p:txBody>
          <a:bodyPr wrap="square" lIns="0" tIns="0" rIns="0" bIns="0" rtlCol="0" anchor="ctr"/>
          <a:lstStyle/>
          <a:p>
            <a:pPr marL="0" indent="0">
              <a:buNone/>
            </a:pPr>
            <a:r>
              <a:rPr lang="en-US" sz="1130" b="1" dirty="0">
                <a:solidFill>
                  <a:srgbClr val="2A2018"/>
                </a:solidFill>
                <a:latin typeface="Calibri" pitchFamily="34" charset="0"/>
                <a:ea typeface="Calibri" pitchFamily="34" charset="-122"/>
                <a:cs typeface="Calibri" pitchFamily="34" charset="-120"/>
              </a:rPr>
              <a:t>The dominant channel</a:t>
            </a:r>
            <a:endParaRPr lang="en-US" sz="1130" dirty="0"/>
          </a:p>
        </p:txBody>
      </p:sp>
      <p:sp>
        <p:nvSpPr>
          <p:cNvPr id="37" name="Text 35"/>
          <p:cNvSpPr txBox="1"/>
          <p:nvPr/>
        </p:nvSpPr>
        <p:spPr>
          <a:xfrm>
            <a:off x="4206240" y="4800600"/>
            <a:ext cx="3566160" cy="274320"/>
          </a:xfrm>
          <a:prstGeom prst="rect">
            <a:avLst/>
          </a:prstGeom>
          <a:noFill/>
          <a:ln/>
        </p:spPr>
        <p:txBody>
          <a:bodyPr wrap="square" lIns="0" tIns="0" rIns="0" bIns="0" rtlCol="0" anchor="ctr"/>
          <a:lstStyle/>
          <a:p>
            <a:pPr marL="0" indent="0">
              <a:buNone/>
            </a:pPr>
            <a:r>
              <a:rPr lang="en-US" sz="1130" dirty="0">
                <a:solidFill>
                  <a:srgbClr val="362A1E"/>
                </a:solidFill>
                <a:latin typeface="Calibri" pitchFamily="34" charset="0"/>
                <a:ea typeface="Calibri" pitchFamily="34" charset="-122"/>
                <a:cs typeface="Calibri" pitchFamily="34" charset="-120"/>
              </a:rPr>
              <a:t>Textual attributes — a supervised sentiment classifier</a:t>
            </a:r>
            <a:endParaRPr lang="en-US" sz="1130" dirty="0"/>
          </a:p>
        </p:txBody>
      </p:sp>
      <p:sp>
        <p:nvSpPr>
          <p:cNvPr id="38" name="Text 36"/>
          <p:cNvSpPr txBox="1"/>
          <p:nvPr/>
        </p:nvSpPr>
        <p:spPr>
          <a:xfrm>
            <a:off x="7955280" y="4800600"/>
            <a:ext cx="3657600" cy="274320"/>
          </a:xfrm>
          <a:prstGeom prst="rect">
            <a:avLst/>
          </a:prstGeom>
          <a:noFill/>
          <a:ln/>
        </p:spPr>
        <p:txBody>
          <a:bodyPr wrap="square" lIns="0" tIns="0" rIns="0" bIns="0" rtlCol="0" anchor="ctr"/>
          <a:lstStyle/>
          <a:p>
            <a:pPr marL="0" indent="0">
              <a:buNone/>
            </a:pPr>
            <a:r>
              <a:rPr lang="en-US" sz="1130" dirty="0">
                <a:solidFill>
                  <a:srgbClr val="362A1E"/>
                </a:solidFill>
                <a:latin typeface="Calibri" pitchFamily="34" charset="0"/>
                <a:ea typeface="Calibri" pitchFamily="34" charset="-122"/>
                <a:cs typeface="Calibri" pitchFamily="34" charset="-120"/>
              </a:rPr>
              <a:t>Not decomposed</a:t>
            </a:r>
            <a:endParaRPr lang="en-US" sz="1130" dirty="0"/>
          </a:p>
        </p:txBody>
      </p:sp>
      <p:sp>
        <p:nvSpPr>
          <p:cNvPr id="39" name="Shape 37"/>
          <p:cNvSpPr/>
          <p:nvPr/>
        </p:nvSpPr>
        <p:spPr>
          <a:xfrm>
            <a:off x="566928" y="5212080"/>
            <a:ext cx="11064240" cy="475488"/>
          </a:xfrm>
          <a:prstGeom prst="roundRect">
            <a:avLst>
              <a:gd name="adj" fmla="val 3846"/>
            </a:avLst>
          </a:prstGeom>
          <a:solidFill>
            <a:srgbClr val="E7F2F0"/>
          </a:solidFill>
          <a:ln w="12700">
            <a:solidFill>
              <a:srgbClr val="2E7D74"/>
            </a:solidFill>
            <a:prstDash val="solid"/>
          </a:ln>
        </p:spPr>
        <p:txBody>
          <a:bodyPr/>
          <a:lstStyle/>
          <a:p>
            <a:endParaRPr lang="en-US"/>
          </a:p>
        </p:txBody>
      </p:sp>
      <p:sp>
        <p:nvSpPr>
          <p:cNvPr id="40" name="Text 38"/>
          <p:cNvSpPr txBox="1"/>
          <p:nvPr/>
        </p:nvSpPr>
        <p:spPr>
          <a:xfrm>
            <a:off x="749808" y="5312664"/>
            <a:ext cx="3291840" cy="274320"/>
          </a:xfrm>
          <a:prstGeom prst="rect">
            <a:avLst/>
          </a:prstGeom>
          <a:noFill/>
          <a:ln/>
        </p:spPr>
        <p:txBody>
          <a:bodyPr wrap="square" lIns="0" tIns="0" rIns="0" bIns="0" rtlCol="0" anchor="ctr"/>
          <a:lstStyle/>
          <a:p>
            <a:pPr marL="0" indent="0">
              <a:buNone/>
            </a:pPr>
            <a:r>
              <a:rPr lang="en-US" sz="1130" b="1" dirty="0">
                <a:solidFill>
                  <a:srgbClr val="2A2018"/>
                </a:solidFill>
                <a:latin typeface="Calibri" pitchFamily="34" charset="0"/>
                <a:ea typeface="Calibri" pitchFamily="34" charset="-122"/>
                <a:cs typeface="Calibri" pitchFamily="34" charset="-120"/>
              </a:rPr>
              <a:t>Both share</a:t>
            </a:r>
            <a:endParaRPr lang="en-US" sz="1130" dirty="0"/>
          </a:p>
        </p:txBody>
      </p:sp>
      <p:sp>
        <p:nvSpPr>
          <p:cNvPr id="41" name="Text 39"/>
          <p:cNvSpPr txBox="1"/>
          <p:nvPr/>
        </p:nvSpPr>
        <p:spPr>
          <a:xfrm>
            <a:off x="4206240" y="5312664"/>
            <a:ext cx="3566160" cy="274320"/>
          </a:xfrm>
          <a:prstGeom prst="rect">
            <a:avLst/>
          </a:prstGeom>
          <a:noFill/>
          <a:ln/>
        </p:spPr>
        <p:txBody>
          <a:bodyPr wrap="square" lIns="0" tIns="0" rIns="0" bIns="0" rtlCol="0" anchor="ctr"/>
          <a:lstStyle/>
          <a:p>
            <a:pPr marL="0" indent="0">
              <a:buNone/>
            </a:pPr>
            <a:r>
              <a:rPr lang="en-US" sz="1130" dirty="0">
                <a:solidFill>
                  <a:srgbClr val="362A1E"/>
                </a:solidFill>
                <a:latin typeface="Calibri" pitchFamily="34" charset="0"/>
                <a:ea typeface="Calibri" pitchFamily="34" charset="-122"/>
                <a:cs typeface="Calibri" pitchFamily="34" charset="-120"/>
              </a:rPr>
              <a:t>Human knowledge in the prompt rather than in the weights</a:t>
            </a:r>
            <a:endParaRPr lang="en-US" sz="1130" dirty="0"/>
          </a:p>
        </p:txBody>
      </p:sp>
      <p:sp>
        <p:nvSpPr>
          <p:cNvPr id="42" name="Text 40"/>
          <p:cNvSpPr txBox="1"/>
          <p:nvPr/>
        </p:nvSpPr>
        <p:spPr>
          <a:xfrm>
            <a:off x="7955280" y="5312664"/>
            <a:ext cx="3657600" cy="274320"/>
          </a:xfrm>
          <a:prstGeom prst="rect">
            <a:avLst/>
          </a:prstGeom>
          <a:noFill/>
          <a:ln/>
        </p:spPr>
        <p:txBody>
          <a:bodyPr wrap="square" lIns="0" tIns="0" rIns="0" bIns="0" rtlCol="0" anchor="ctr"/>
          <a:lstStyle/>
          <a:p>
            <a:pPr marL="0" indent="0">
              <a:buNone/>
            </a:pPr>
            <a:r>
              <a:rPr lang="en-US" sz="1130" dirty="0">
                <a:solidFill>
                  <a:srgbClr val="362A1E"/>
                </a:solidFill>
                <a:latin typeface="Calibri" pitchFamily="34" charset="0"/>
                <a:ea typeface="Calibri" pitchFamily="34" charset="-122"/>
                <a:cs typeface="Calibri" pitchFamily="34" charset="-120"/>
              </a:rPr>
              <a:t>Gains that are large where the baseline is weak</a:t>
            </a:r>
            <a:endParaRPr lang="en-US" sz="1130" dirty="0"/>
          </a:p>
        </p:txBody>
      </p:sp>
      <p:sp>
        <p:nvSpPr>
          <p:cNvPr id="43" name="Text 41"/>
          <p:cNvSpPr txBox="1"/>
          <p:nvPr/>
        </p:nvSpPr>
        <p:spPr>
          <a:xfrm>
            <a:off x="566928" y="5760720"/>
            <a:ext cx="11064240" cy="274320"/>
          </a:xfrm>
          <a:prstGeom prst="rect">
            <a:avLst/>
          </a:prstGeom>
          <a:noFill/>
          <a:ln/>
        </p:spPr>
        <p:txBody>
          <a:bodyPr wrap="square" lIns="0" tIns="0" rIns="0" bIns="0" rtlCol="0" anchor="ctr"/>
          <a:lstStyle/>
          <a:p>
            <a:pPr marL="0" indent="0">
              <a:buNone/>
            </a:pPr>
            <a:r>
              <a:rPr lang="en-US" sz="1150" i="1" dirty="0">
                <a:solidFill>
                  <a:srgbClr val="6E5E48"/>
                </a:solidFill>
                <a:latin typeface="Calibri" pitchFamily="34" charset="0"/>
                <a:ea typeface="Calibri" pitchFamily="34" charset="-122"/>
                <a:cs typeface="Calibri" pitchFamily="34" charset="-120"/>
              </a:rPr>
              <a:t>The highlighted row is what makes the pairing worth the session.</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100584" cy="100584"/>
          </a:xfrm>
          <a:prstGeom prst="ellipse">
            <a:avLst/>
          </a:prstGeom>
          <a:solidFill>
            <a:srgbClr val="8A6A3E"/>
          </a:solidFill>
          <a:ln w="12700">
            <a:solidFill>
              <a:srgbClr val="333333"/>
            </a:solidFill>
            <a:prstDash val="solid"/>
          </a:ln>
        </p:spPr>
        <p:txBody>
          <a:bodyPr/>
          <a:lstStyle/>
          <a:p>
            <a:endParaRPr lang="en-US"/>
          </a:p>
        </p:txBody>
      </p:sp>
      <p:sp>
        <p:nvSpPr>
          <p:cNvPr id="3" name="Shape 1"/>
          <p:cNvSpPr/>
          <p:nvPr/>
        </p:nvSpPr>
        <p:spPr>
          <a:xfrm>
            <a:off x="11402568" y="457200"/>
            <a:ext cx="100584" cy="10058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1247120"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5" name="Shape 3"/>
          <p:cNvSpPr/>
          <p:nvPr/>
        </p:nvSpPr>
        <p:spPr>
          <a:xfrm>
            <a:off x="11402568" y="612648"/>
            <a:ext cx="100584" cy="100584"/>
          </a:xfrm>
          <a:prstGeom prst="ellipse">
            <a:avLst/>
          </a:prstGeom>
          <a:solidFill>
            <a:srgbClr val="8A6A3E"/>
          </a:solidFill>
          <a:ln w="12700">
            <a:solidFill>
              <a:srgbClr val="333333"/>
            </a:solidFill>
            <a:prstDash val="solid"/>
          </a:ln>
        </p:spPr>
        <p:txBody>
          <a:bodyPr/>
          <a:lstStyle/>
          <a:p>
            <a:endParaRPr lang="en-US"/>
          </a:p>
        </p:txBody>
      </p:sp>
      <p:sp>
        <p:nvSpPr>
          <p:cNvPr id="6" name="Text 4"/>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A2018"/>
                </a:solidFill>
                <a:latin typeface="Cambria" pitchFamily="34" charset="0"/>
                <a:ea typeface="Cambria" pitchFamily="34" charset="-122"/>
                <a:cs typeface="Cambria" pitchFamily="34" charset="-120"/>
              </a:rPr>
              <a:t>Take-aways</a:t>
            </a:r>
            <a:endParaRPr lang="en-US" sz="2900" dirty="0"/>
          </a:p>
        </p:txBody>
      </p:sp>
      <p:sp>
        <p:nvSpPr>
          <p:cNvPr id="7" name="Text 5"/>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E48"/>
                </a:solidFill>
                <a:latin typeface="Calibri" pitchFamily="34" charset="0"/>
                <a:ea typeface="Calibri" pitchFamily="34" charset="-122"/>
                <a:cs typeface="Calibri" pitchFamily="34" charset="-120"/>
              </a:rPr>
              <a:t>Four things to carry out of the session</a:t>
            </a:r>
            <a:endParaRPr lang="en-US" sz="135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0A084"/>
                </a:solidFill>
                <a:latin typeface="Calibri" pitchFamily="34" charset="0"/>
                <a:ea typeface="Calibri" pitchFamily="34" charset="-122"/>
                <a:cs typeface="Calibri" pitchFamily="34" charset="-120"/>
              </a:rPr>
              <a:t>RAPA · Du et al. 2025  |  23</a:t>
            </a:r>
            <a:endParaRPr lang="en-US" sz="900" dirty="0"/>
          </a:p>
        </p:txBody>
      </p:sp>
      <p:sp>
        <p:nvSpPr>
          <p:cNvPr id="9" name="Shape 7"/>
          <p:cNvSpPr/>
          <p:nvPr/>
        </p:nvSpPr>
        <p:spPr>
          <a:xfrm>
            <a:off x="566928" y="1572768"/>
            <a:ext cx="11064240" cy="1005840"/>
          </a:xfrm>
          <a:prstGeom prst="roundRect">
            <a:avLst>
              <a:gd name="adj" fmla="val 4545"/>
            </a:avLst>
          </a:prstGeom>
          <a:solidFill>
            <a:srgbClr val="F7F2E9"/>
          </a:solidFill>
          <a:ln w="12700">
            <a:solidFill>
              <a:srgbClr val="EBE2D2"/>
            </a:solidFill>
            <a:prstDash val="solid"/>
          </a:ln>
        </p:spPr>
        <p:txBody>
          <a:bodyPr/>
          <a:lstStyle/>
          <a:p>
            <a:endParaRPr lang="en-US"/>
          </a:p>
        </p:txBody>
      </p:sp>
      <p:sp>
        <p:nvSpPr>
          <p:cNvPr id="10" name="Shape 8"/>
          <p:cNvSpPr/>
          <p:nvPr/>
        </p:nvSpPr>
        <p:spPr>
          <a:xfrm>
            <a:off x="822960" y="1901952"/>
            <a:ext cx="347472" cy="347472"/>
          </a:xfrm>
          <a:prstGeom prst="ellipse">
            <a:avLst/>
          </a:prstGeom>
          <a:solidFill>
            <a:srgbClr val="8A6A3E"/>
          </a:solidFill>
          <a:ln w="12700">
            <a:solidFill>
              <a:srgbClr val="333333"/>
            </a:solidFill>
            <a:prstDash val="solid"/>
          </a:ln>
        </p:spPr>
        <p:txBody>
          <a:bodyPr/>
          <a:lstStyle/>
          <a:p>
            <a:endParaRPr lang="en-US"/>
          </a:p>
        </p:txBody>
      </p:sp>
      <p:sp>
        <p:nvSpPr>
          <p:cNvPr id="11" name="Text 9"/>
          <p:cNvSpPr txBox="1"/>
          <p:nvPr/>
        </p:nvSpPr>
        <p:spPr>
          <a:xfrm>
            <a:off x="822960" y="1929384"/>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2" name="Text 10"/>
          <p:cNvSpPr txBox="1"/>
          <p:nvPr/>
        </p:nvSpPr>
        <p:spPr>
          <a:xfrm>
            <a:off x="1335024" y="1719072"/>
            <a:ext cx="4114800" cy="731520"/>
          </a:xfrm>
          <a:prstGeom prst="rect">
            <a:avLst/>
          </a:prstGeom>
          <a:noFill/>
          <a:ln/>
        </p:spPr>
        <p:txBody>
          <a:bodyPr wrap="square" lIns="0" tIns="0" rIns="0" bIns="0" rtlCol="0" anchor="ctr"/>
          <a:lstStyle/>
          <a:p>
            <a:pPr marL="0" indent="0">
              <a:buNone/>
            </a:pPr>
            <a:r>
              <a:rPr lang="en-US" sz="1300" b="1" dirty="0">
                <a:solidFill>
                  <a:srgbClr val="2A2018"/>
                </a:solidFill>
                <a:latin typeface="Cambria" pitchFamily="34" charset="0"/>
                <a:ea typeface="Cambria" pitchFamily="34" charset="-122"/>
                <a:cs typeface="Cambria" pitchFamily="34" charset="-120"/>
              </a:rPr>
              <a:t>Denoise in representation space</a:t>
            </a:r>
            <a:endParaRPr lang="en-US" sz="1300" dirty="0"/>
          </a:p>
        </p:txBody>
      </p:sp>
      <p:sp>
        <p:nvSpPr>
          <p:cNvPr id="13" name="Text 11"/>
          <p:cNvSpPr txBox="1"/>
          <p:nvPr/>
        </p:nvSpPr>
        <p:spPr>
          <a:xfrm>
            <a:off x="5623560" y="1700784"/>
            <a:ext cx="5852160" cy="768096"/>
          </a:xfrm>
          <a:prstGeom prst="rect">
            <a:avLst/>
          </a:prstGeom>
          <a:noFill/>
          <a:ln/>
        </p:spPr>
        <p:txBody>
          <a:bodyPr wrap="square" lIns="0" tIns="0" rIns="0" bIns="0" rtlCol="0" anchor="ctr"/>
          <a:lstStyle/>
          <a:p>
            <a:pPr marL="0" indent="0">
              <a:buNone/>
            </a:pPr>
            <a:r>
              <a:rPr lang="en-US" sz="1200" dirty="0">
                <a:solidFill>
                  <a:srgbClr val="362A1E"/>
                </a:solidFill>
                <a:latin typeface="Calibri" pitchFamily="34" charset="0"/>
                <a:ea typeface="Calibri" pitchFamily="34" charset="-122"/>
                <a:cs typeface="Calibri" pitchFamily="34" charset="-120"/>
              </a:rPr>
              <a:t>Label-level correction asks whether a label is wrong. Prototype alignment asks where the text belongs regardless — and supervises accordingly.</a:t>
            </a:r>
            <a:endParaRPr lang="en-US" sz="1200" dirty="0"/>
          </a:p>
        </p:txBody>
      </p:sp>
      <p:sp>
        <p:nvSpPr>
          <p:cNvPr id="14" name="Shape 12"/>
          <p:cNvSpPr/>
          <p:nvPr/>
        </p:nvSpPr>
        <p:spPr>
          <a:xfrm>
            <a:off x="566928" y="2651760"/>
            <a:ext cx="11064240" cy="1005840"/>
          </a:xfrm>
          <a:prstGeom prst="roundRect">
            <a:avLst>
              <a:gd name="adj" fmla="val 4545"/>
            </a:avLst>
          </a:prstGeom>
          <a:solidFill>
            <a:srgbClr val="FFFFFF"/>
          </a:solidFill>
          <a:ln w="12700">
            <a:solidFill>
              <a:srgbClr val="EBE2D2"/>
            </a:solidFill>
            <a:prstDash val="solid"/>
          </a:ln>
        </p:spPr>
        <p:txBody>
          <a:bodyPr/>
          <a:lstStyle/>
          <a:p>
            <a:endParaRPr lang="en-US"/>
          </a:p>
        </p:txBody>
      </p:sp>
      <p:sp>
        <p:nvSpPr>
          <p:cNvPr id="15" name="Shape 13"/>
          <p:cNvSpPr/>
          <p:nvPr/>
        </p:nvSpPr>
        <p:spPr>
          <a:xfrm>
            <a:off x="822960" y="2980944"/>
            <a:ext cx="347472" cy="347472"/>
          </a:xfrm>
          <a:prstGeom prst="ellipse">
            <a:avLst/>
          </a:prstGeom>
          <a:solidFill>
            <a:srgbClr val="8A6A3E"/>
          </a:solidFill>
          <a:ln w="12700">
            <a:solidFill>
              <a:srgbClr val="333333"/>
            </a:solidFill>
            <a:prstDash val="solid"/>
          </a:ln>
        </p:spPr>
        <p:txBody>
          <a:bodyPr/>
          <a:lstStyle/>
          <a:p>
            <a:endParaRPr lang="en-US"/>
          </a:p>
        </p:txBody>
      </p:sp>
      <p:sp>
        <p:nvSpPr>
          <p:cNvPr id="16" name="Text 14"/>
          <p:cNvSpPr txBox="1"/>
          <p:nvPr/>
        </p:nvSpPr>
        <p:spPr>
          <a:xfrm>
            <a:off x="822960" y="3008376"/>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7" name="Text 15"/>
          <p:cNvSpPr txBox="1"/>
          <p:nvPr/>
        </p:nvSpPr>
        <p:spPr>
          <a:xfrm>
            <a:off x="1335024" y="2798064"/>
            <a:ext cx="4114800" cy="731520"/>
          </a:xfrm>
          <a:prstGeom prst="rect">
            <a:avLst/>
          </a:prstGeom>
          <a:noFill/>
          <a:ln/>
        </p:spPr>
        <p:txBody>
          <a:bodyPr wrap="square" lIns="0" tIns="0" rIns="0" bIns="0" rtlCol="0" anchor="ctr"/>
          <a:lstStyle/>
          <a:p>
            <a:pPr marL="0" indent="0">
              <a:buNone/>
            </a:pPr>
            <a:r>
              <a:rPr lang="en-US" sz="1300" b="1" dirty="0">
                <a:solidFill>
                  <a:srgbClr val="2A2018"/>
                </a:solidFill>
                <a:latin typeface="Cambria" pitchFamily="34" charset="0"/>
                <a:ea typeface="Cambria" pitchFamily="34" charset="-122"/>
                <a:cs typeface="Cambria" pitchFamily="34" charset="-120"/>
              </a:rPr>
              <a:t>Annotator framing is a design variable</a:t>
            </a:r>
            <a:endParaRPr lang="en-US" sz="1300" dirty="0"/>
          </a:p>
        </p:txBody>
      </p:sp>
      <p:sp>
        <p:nvSpPr>
          <p:cNvPr id="18" name="Text 16"/>
          <p:cNvSpPr txBox="1"/>
          <p:nvPr/>
        </p:nvSpPr>
        <p:spPr>
          <a:xfrm>
            <a:off x="5623560" y="2779776"/>
            <a:ext cx="5852160" cy="768096"/>
          </a:xfrm>
          <a:prstGeom prst="rect">
            <a:avLst/>
          </a:prstGeom>
          <a:noFill/>
          <a:ln/>
        </p:spPr>
        <p:txBody>
          <a:bodyPr wrap="square" lIns="0" tIns="0" rIns="0" bIns="0" rtlCol="0" anchor="ctr"/>
          <a:lstStyle/>
          <a:p>
            <a:pPr marL="0" indent="0">
              <a:buNone/>
            </a:pPr>
            <a:r>
              <a:rPr lang="en-US" sz="1200" dirty="0">
                <a:solidFill>
                  <a:srgbClr val="362A1E"/>
                </a:solidFill>
                <a:latin typeface="Calibri" pitchFamily="34" charset="0"/>
                <a:ea typeface="Calibri" pitchFamily="34" charset="-122"/>
                <a:cs typeface="Calibri" pitchFamily="34" charset="-120"/>
              </a:rPr>
              <a:t>Asking an LLM to read as a first-century Roman is worth 16.7 points of annotation quality on Latin. The prompt is part of the annotation protocol, not a detail of it.</a:t>
            </a:r>
            <a:endParaRPr lang="en-US" sz="1200" dirty="0"/>
          </a:p>
        </p:txBody>
      </p:sp>
      <p:sp>
        <p:nvSpPr>
          <p:cNvPr id="19" name="Shape 17"/>
          <p:cNvSpPr/>
          <p:nvPr/>
        </p:nvSpPr>
        <p:spPr>
          <a:xfrm>
            <a:off x="566928" y="3730752"/>
            <a:ext cx="11064240" cy="1005840"/>
          </a:xfrm>
          <a:prstGeom prst="roundRect">
            <a:avLst>
              <a:gd name="adj" fmla="val 4545"/>
            </a:avLst>
          </a:prstGeom>
          <a:solidFill>
            <a:srgbClr val="F7F2E9"/>
          </a:solidFill>
          <a:ln w="12700">
            <a:solidFill>
              <a:srgbClr val="EBE2D2"/>
            </a:solidFill>
            <a:prstDash val="solid"/>
          </a:ln>
        </p:spPr>
        <p:txBody>
          <a:bodyPr/>
          <a:lstStyle/>
          <a:p>
            <a:endParaRPr lang="en-US"/>
          </a:p>
        </p:txBody>
      </p:sp>
      <p:sp>
        <p:nvSpPr>
          <p:cNvPr id="20" name="Shape 18"/>
          <p:cNvSpPr/>
          <p:nvPr/>
        </p:nvSpPr>
        <p:spPr>
          <a:xfrm>
            <a:off x="822960" y="4059936"/>
            <a:ext cx="347472" cy="347472"/>
          </a:xfrm>
          <a:prstGeom prst="ellipse">
            <a:avLst/>
          </a:prstGeom>
          <a:solidFill>
            <a:srgbClr val="8A6A3E"/>
          </a:solidFill>
          <a:ln w="12700">
            <a:solidFill>
              <a:srgbClr val="333333"/>
            </a:solidFill>
            <a:prstDash val="solid"/>
          </a:ln>
        </p:spPr>
        <p:txBody>
          <a:bodyPr/>
          <a:lstStyle/>
          <a:p>
            <a:endParaRPr lang="en-US"/>
          </a:p>
        </p:txBody>
      </p:sp>
      <p:sp>
        <p:nvSpPr>
          <p:cNvPr id="21" name="Text 19"/>
          <p:cNvSpPr txBox="1"/>
          <p:nvPr/>
        </p:nvSpPr>
        <p:spPr>
          <a:xfrm>
            <a:off x="822960" y="4087368"/>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2" name="Text 20"/>
          <p:cNvSpPr txBox="1"/>
          <p:nvPr/>
        </p:nvSpPr>
        <p:spPr>
          <a:xfrm>
            <a:off x="1335024" y="3877056"/>
            <a:ext cx="4114800" cy="731520"/>
          </a:xfrm>
          <a:prstGeom prst="rect">
            <a:avLst/>
          </a:prstGeom>
          <a:noFill/>
          <a:ln/>
        </p:spPr>
        <p:txBody>
          <a:bodyPr wrap="square" lIns="0" tIns="0" rIns="0" bIns="0" rtlCol="0" anchor="ctr"/>
          <a:lstStyle/>
          <a:p>
            <a:pPr marL="0" indent="0">
              <a:buNone/>
            </a:pPr>
            <a:r>
              <a:rPr lang="en-US" sz="1300" b="1" dirty="0">
                <a:solidFill>
                  <a:srgbClr val="2A2018"/>
                </a:solidFill>
                <a:latin typeface="Cambria" pitchFamily="34" charset="0"/>
                <a:ea typeface="Cambria" pitchFamily="34" charset="-122"/>
                <a:cs typeface="Cambria" pitchFamily="34" charset="-120"/>
              </a:rPr>
              <a:t>Better labels are not always a better model</a:t>
            </a:r>
            <a:endParaRPr lang="en-US" sz="1300" dirty="0"/>
          </a:p>
        </p:txBody>
      </p:sp>
      <p:sp>
        <p:nvSpPr>
          <p:cNvPr id="23" name="Text 21"/>
          <p:cNvSpPr txBox="1"/>
          <p:nvPr/>
        </p:nvSpPr>
        <p:spPr>
          <a:xfrm>
            <a:off x="5623560" y="3858768"/>
            <a:ext cx="5852160" cy="768096"/>
          </a:xfrm>
          <a:prstGeom prst="rect">
            <a:avLst/>
          </a:prstGeom>
          <a:noFill/>
          <a:ln/>
        </p:spPr>
        <p:txBody>
          <a:bodyPr wrap="square" lIns="0" tIns="0" rIns="0" bIns="0" rtlCol="0" anchor="ctr"/>
          <a:lstStyle/>
          <a:p>
            <a:pPr marL="0" indent="0">
              <a:buNone/>
            </a:pPr>
            <a:r>
              <a:rPr lang="en-US" sz="1200" dirty="0">
                <a:solidFill>
                  <a:srgbClr val="362A1E"/>
                </a:solidFill>
                <a:latin typeface="Calibri" pitchFamily="34" charset="0"/>
                <a:ea typeface="Calibri" pitchFamily="34" charset="-122"/>
                <a:cs typeface="Calibri" pitchFamily="34" charset="-120"/>
              </a:rPr>
              <a:t>Annotation gains and downstream gains do not track each other across these four corpora. Consistency may matter more than correctness — the HuBERT lesson, in a different domain.</a:t>
            </a:r>
            <a:endParaRPr lang="en-US" sz="1200" dirty="0"/>
          </a:p>
        </p:txBody>
      </p:sp>
      <p:sp>
        <p:nvSpPr>
          <p:cNvPr id="24" name="Shape 22"/>
          <p:cNvSpPr/>
          <p:nvPr/>
        </p:nvSpPr>
        <p:spPr>
          <a:xfrm>
            <a:off x="566928" y="4809744"/>
            <a:ext cx="11064240" cy="1005840"/>
          </a:xfrm>
          <a:prstGeom prst="roundRect">
            <a:avLst>
              <a:gd name="adj" fmla="val 4545"/>
            </a:avLst>
          </a:prstGeom>
          <a:solidFill>
            <a:srgbClr val="FFFFFF"/>
          </a:solidFill>
          <a:ln w="12700">
            <a:solidFill>
              <a:srgbClr val="EBE2D2"/>
            </a:solidFill>
            <a:prstDash val="solid"/>
          </a:ln>
        </p:spPr>
        <p:txBody>
          <a:bodyPr/>
          <a:lstStyle/>
          <a:p>
            <a:endParaRPr lang="en-US"/>
          </a:p>
        </p:txBody>
      </p:sp>
      <p:sp>
        <p:nvSpPr>
          <p:cNvPr id="25" name="Shape 23"/>
          <p:cNvSpPr/>
          <p:nvPr/>
        </p:nvSpPr>
        <p:spPr>
          <a:xfrm>
            <a:off x="822960" y="5138928"/>
            <a:ext cx="347472" cy="347472"/>
          </a:xfrm>
          <a:prstGeom prst="ellipse">
            <a:avLst/>
          </a:prstGeom>
          <a:solidFill>
            <a:srgbClr val="8A6A3E"/>
          </a:solidFill>
          <a:ln w="12700">
            <a:solidFill>
              <a:srgbClr val="333333"/>
            </a:solidFill>
            <a:prstDash val="solid"/>
          </a:ln>
        </p:spPr>
        <p:txBody>
          <a:bodyPr/>
          <a:lstStyle/>
          <a:p>
            <a:endParaRPr lang="en-US"/>
          </a:p>
        </p:txBody>
      </p:sp>
      <p:sp>
        <p:nvSpPr>
          <p:cNvPr id="26" name="Text 24"/>
          <p:cNvSpPr txBox="1"/>
          <p:nvPr/>
        </p:nvSpPr>
        <p:spPr>
          <a:xfrm>
            <a:off x="822960" y="5166360"/>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7" name="Text 25"/>
          <p:cNvSpPr txBox="1"/>
          <p:nvPr/>
        </p:nvSpPr>
        <p:spPr>
          <a:xfrm>
            <a:off x="1335024" y="4956048"/>
            <a:ext cx="4114800" cy="731520"/>
          </a:xfrm>
          <a:prstGeom prst="rect">
            <a:avLst/>
          </a:prstGeom>
          <a:noFill/>
          <a:ln/>
        </p:spPr>
        <p:txBody>
          <a:bodyPr wrap="square" lIns="0" tIns="0" rIns="0" bIns="0" rtlCol="0" anchor="ctr"/>
          <a:lstStyle/>
          <a:p>
            <a:pPr marL="0" indent="0">
              <a:buNone/>
            </a:pPr>
            <a:r>
              <a:rPr lang="en-US" sz="1300" b="1" dirty="0">
                <a:solidFill>
                  <a:srgbClr val="2A2018"/>
                </a:solidFill>
                <a:latin typeface="Cambria" pitchFamily="34" charset="0"/>
                <a:ea typeface="Cambria" pitchFamily="34" charset="-122"/>
                <a:cs typeface="Cambria" pitchFamily="34" charset="-120"/>
              </a:rPr>
              <a:t>Check the label space matches the task</a:t>
            </a:r>
            <a:endParaRPr lang="en-US" sz="1300" dirty="0"/>
          </a:p>
        </p:txBody>
      </p:sp>
      <p:sp>
        <p:nvSpPr>
          <p:cNvPr id="28" name="Text 26"/>
          <p:cNvSpPr txBox="1"/>
          <p:nvPr/>
        </p:nvSpPr>
        <p:spPr>
          <a:xfrm>
            <a:off x="5623560" y="4937760"/>
            <a:ext cx="5852160" cy="768096"/>
          </a:xfrm>
          <a:prstGeom prst="rect">
            <a:avLst/>
          </a:prstGeom>
          <a:noFill/>
          <a:ln/>
        </p:spPr>
        <p:txBody>
          <a:bodyPr wrap="square" lIns="0" tIns="0" rIns="0" bIns="0" rtlCol="0" anchor="ctr"/>
          <a:lstStyle/>
          <a:p>
            <a:pPr marL="0" indent="0">
              <a:buNone/>
            </a:pPr>
            <a:r>
              <a:rPr lang="en-US" sz="1200" dirty="0">
                <a:solidFill>
                  <a:srgbClr val="362A1E"/>
                </a:solidFill>
                <a:latin typeface="Calibri" pitchFamily="34" charset="0"/>
                <a:ea typeface="Calibri" pitchFamily="34" charset="-122"/>
                <a:cs typeface="Calibri" pitchFamily="34" charset="-120"/>
              </a:rPr>
              <a:t>Aligning a binary task against four prototypes costs points. A mismatch between what you supervise and what you ask for is a real failure mode.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A2E22"/>
        </a:solidFill>
        <a:effectLst/>
      </p:bgPr>
    </p:bg>
    <p:spTree>
      <p:nvGrpSpPr>
        <p:cNvPr id="1" name=""/>
        <p:cNvGrpSpPr/>
        <p:nvPr/>
      </p:nvGrpSpPr>
      <p:grpSpPr>
        <a:xfrm>
          <a:off x="0" y="0"/>
          <a:ext cx="0" cy="0"/>
          <a:chOff x="0" y="0"/>
          <a:chExt cx="0" cy="0"/>
        </a:xfrm>
      </p:grpSpPr>
      <p:sp>
        <p:nvSpPr>
          <p:cNvPr id="2" name="Shape 0"/>
          <p:cNvSpPr/>
          <p:nvPr/>
        </p:nvSpPr>
        <p:spPr>
          <a:xfrm>
            <a:off x="10607040" y="676656"/>
            <a:ext cx="160934" cy="160934"/>
          </a:xfrm>
          <a:prstGeom prst="ellipse">
            <a:avLst/>
          </a:prstGeom>
          <a:solidFill>
            <a:srgbClr val="DDCCB0"/>
          </a:solidFill>
          <a:ln w="12700">
            <a:solidFill>
              <a:srgbClr val="333333"/>
            </a:solidFill>
            <a:prstDash val="solid"/>
          </a:ln>
        </p:spPr>
        <p:txBody>
          <a:bodyPr/>
          <a:lstStyle/>
          <a:p>
            <a:endParaRPr lang="en-US"/>
          </a:p>
        </p:txBody>
      </p:sp>
      <p:sp>
        <p:nvSpPr>
          <p:cNvPr id="3" name="Shape 1"/>
          <p:cNvSpPr/>
          <p:nvPr/>
        </p:nvSpPr>
        <p:spPr>
          <a:xfrm>
            <a:off x="10855757" y="676656"/>
            <a:ext cx="160934" cy="160934"/>
          </a:xfrm>
          <a:prstGeom prst="ellipse">
            <a:avLst/>
          </a:prstGeom>
          <a:solidFill>
            <a:srgbClr val="2E7D74"/>
          </a:solidFill>
          <a:ln w="12700">
            <a:solidFill>
              <a:srgbClr val="333333"/>
            </a:solidFill>
            <a:prstDash val="solid"/>
          </a:ln>
        </p:spPr>
        <p:txBody>
          <a:bodyPr/>
          <a:lstStyle/>
          <a:p>
            <a:endParaRPr lang="en-US"/>
          </a:p>
        </p:txBody>
      </p:sp>
      <p:sp>
        <p:nvSpPr>
          <p:cNvPr id="4" name="Shape 2"/>
          <p:cNvSpPr/>
          <p:nvPr/>
        </p:nvSpPr>
        <p:spPr>
          <a:xfrm>
            <a:off x="10607040" y="925373"/>
            <a:ext cx="160934" cy="160934"/>
          </a:xfrm>
          <a:prstGeom prst="ellipse">
            <a:avLst/>
          </a:prstGeom>
          <a:solidFill>
            <a:srgbClr val="DDCCB0"/>
          </a:solidFill>
          <a:ln w="12700">
            <a:solidFill>
              <a:srgbClr val="333333"/>
            </a:solidFill>
            <a:prstDash val="solid"/>
          </a:ln>
        </p:spPr>
        <p:txBody>
          <a:bodyPr/>
          <a:lstStyle/>
          <a:p>
            <a:endParaRPr lang="en-US"/>
          </a:p>
        </p:txBody>
      </p:sp>
      <p:sp>
        <p:nvSpPr>
          <p:cNvPr id="5" name="Shape 3"/>
          <p:cNvSpPr/>
          <p:nvPr/>
        </p:nvSpPr>
        <p:spPr>
          <a:xfrm>
            <a:off x="10855757" y="925373"/>
            <a:ext cx="160934" cy="160934"/>
          </a:xfrm>
          <a:prstGeom prst="ellipse">
            <a:avLst/>
          </a:prstGeom>
          <a:solidFill>
            <a:srgbClr val="DDCCB0"/>
          </a:solidFill>
          <a:ln w="12700">
            <a:solidFill>
              <a:srgbClr val="333333"/>
            </a:solidFill>
            <a:prstDash val="solid"/>
          </a:ln>
        </p:spPr>
        <p:txBody>
          <a:bodyPr/>
          <a:lstStyle/>
          <a:p>
            <a:endParaRPr lang="en-US"/>
          </a:p>
        </p:txBody>
      </p:sp>
      <p:sp>
        <p:nvSpPr>
          <p:cNvPr id="6" name="Text 4"/>
          <p:cNvSpPr txBox="1"/>
          <p:nvPr/>
        </p:nvSpPr>
        <p:spPr>
          <a:xfrm>
            <a:off x="822960" y="658368"/>
            <a:ext cx="10515600" cy="64008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Questions for discussion</a:t>
            </a:r>
            <a:endParaRPr lang="en-US" sz="3100" dirty="0"/>
          </a:p>
        </p:txBody>
      </p:sp>
      <p:sp>
        <p:nvSpPr>
          <p:cNvPr id="7" name="Shape 5"/>
          <p:cNvSpPr/>
          <p:nvPr/>
        </p:nvSpPr>
        <p:spPr>
          <a:xfrm>
            <a:off x="841248" y="1371600"/>
            <a:ext cx="329184" cy="329184"/>
          </a:xfrm>
          <a:prstGeom prst="ellipse">
            <a:avLst/>
          </a:prstGeom>
          <a:solidFill>
            <a:srgbClr val="2E7D74"/>
          </a:solidFill>
          <a:ln w="12700">
            <a:solidFill>
              <a:srgbClr val="333333"/>
            </a:solidFill>
            <a:prstDash val="solid"/>
          </a:ln>
        </p:spPr>
        <p:txBody>
          <a:bodyPr/>
          <a:lstStyle/>
          <a:p>
            <a:endParaRPr lang="en-US"/>
          </a:p>
        </p:txBody>
      </p:sp>
      <p:sp>
        <p:nvSpPr>
          <p:cNvPr id="8" name="Text 6"/>
          <p:cNvSpPr txBox="1"/>
          <p:nvPr/>
        </p:nvSpPr>
        <p:spPr>
          <a:xfrm>
            <a:off x="841248" y="1399032"/>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9" name="Text 7"/>
          <p:cNvSpPr txBox="1"/>
          <p:nvPr/>
        </p:nvSpPr>
        <p:spPr>
          <a:xfrm>
            <a:off x="1353312" y="1316736"/>
            <a:ext cx="10058400" cy="969264"/>
          </a:xfrm>
          <a:prstGeom prst="rect">
            <a:avLst/>
          </a:prstGeom>
          <a:noFill/>
          <a:ln/>
        </p:spPr>
        <p:txBody>
          <a:bodyPr wrap="square" lIns="0" tIns="0" rIns="0" bIns="0" rtlCol="0" anchor="ctr"/>
          <a:lstStyle/>
          <a:p>
            <a:pPr marL="0" indent="0">
              <a:buNone/>
            </a:pPr>
            <a:r>
              <a:rPr lang="en-US" sz="1250" dirty="0">
                <a:solidFill>
                  <a:srgbClr val="DDCCB0"/>
                </a:solidFill>
                <a:latin typeface="Calibri" pitchFamily="34" charset="0"/>
                <a:ea typeface="Calibri" pitchFamily="34" charset="-122"/>
                <a:cs typeface="Calibri" pitchFamily="34" charset="-120"/>
              </a:rPr>
              <a:t>Role-play improves EvaLatin annotation by 16.7 points and downstream macro-F1 falls by 1.6. What explains that, and does it change how you would select annotation strategies?</a:t>
            </a:r>
            <a:endParaRPr lang="en-US" sz="1250" dirty="0"/>
          </a:p>
        </p:txBody>
      </p:sp>
      <p:sp>
        <p:nvSpPr>
          <p:cNvPr id="10" name="Shape 8"/>
          <p:cNvSpPr/>
          <p:nvPr/>
        </p:nvSpPr>
        <p:spPr>
          <a:xfrm>
            <a:off x="841248" y="2359152"/>
            <a:ext cx="329184" cy="329184"/>
          </a:xfrm>
          <a:prstGeom prst="ellipse">
            <a:avLst/>
          </a:prstGeom>
          <a:solidFill>
            <a:srgbClr val="2E7D74"/>
          </a:solidFill>
          <a:ln w="12700">
            <a:solidFill>
              <a:srgbClr val="333333"/>
            </a:solidFill>
            <a:prstDash val="solid"/>
          </a:ln>
        </p:spPr>
        <p:txBody>
          <a:bodyPr/>
          <a:lstStyle/>
          <a:p>
            <a:endParaRPr lang="en-US"/>
          </a:p>
        </p:txBody>
      </p:sp>
      <p:sp>
        <p:nvSpPr>
          <p:cNvPr id="11" name="Text 9"/>
          <p:cNvSpPr txBox="1"/>
          <p:nvPr/>
        </p:nvSpPr>
        <p:spPr>
          <a:xfrm>
            <a:off x="841248" y="2386584"/>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2" name="Text 10"/>
          <p:cNvSpPr txBox="1"/>
          <p:nvPr/>
        </p:nvSpPr>
        <p:spPr>
          <a:xfrm>
            <a:off x="1353312" y="2304288"/>
            <a:ext cx="10058400" cy="969264"/>
          </a:xfrm>
          <a:prstGeom prst="rect">
            <a:avLst/>
          </a:prstGeom>
          <a:noFill/>
          <a:ln/>
        </p:spPr>
        <p:txBody>
          <a:bodyPr wrap="square" lIns="0" tIns="0" rIns="0" bIns="0" rtlCol="0" anchor="ctr"/>
          <a:lstStyle/>
          <a:p>
            <a:pPr marL="0" indent="0">
              <a:buNone/>
            </a:pPr>
            <a:r>
              <a:rPr lang="en-US" sz="1250" dirty="0">
                <a:solidFill>
                  <a:srgbClr val="DDCCB0"/>
                </a:solidFill>
                <a:latin typeface="Calibri" pitchFamily="34" charset="0"/>
                <a:ea typeface="Calibri" pitchFamily="34" charset="-122"/>
                <a:cs typeface="Calibri" pitchFamily="34" charset="-120"/>
              </a:rPr>
              <a:t>On Latin, almost all the annotation gain comes from adopting any persona; on Austrian newspapers, it requires the historical one. What distinguishes the two cases, and what would you predict for other corpora?</a:t>
            </a:r>
            <a:endParaRPr lang="en-US" sz="1250" dirty="0"/>
          </a:p>
        </p:txBody>
      </p:sp>
      <p:sp>
        <p:nvSpPr>
          <p:cNvPr id="13" name="Shape 11"/>
          <p:cNvSpPr/>
          <p:nvPr/>
        </p:nvSpPr>
        <p:spPr>
          <a:xfrm>
            <a:off x="841248" y="3346704"/>
            <a:ext cx="329184" cy="329184"/>
          </a:xfrm>
          <a:prstGeom prst="ellipse">
            <a:avLst/>
          </a:prstGeom>
          <a:solidFill>
            <a:srgbClr val="2E7D74"/>
          </a:solidFill>
          <a:ln w="12700">
            <a:solidFill>
              <a:srgbClr val="333333"/>
            </a:solidFill>
            <a:prstDash val="solid"/>
          </a:ln>
        </p:spPr>
        <p:txBody>
          <a:bodyPr/>
          <a:lstStyle/>
          <a:p>
            <a:endParaRPr lang="en-US"/>
          </a:p>
        </p:txBody>
      </p:sp>
      <p:sp>
        <p:nvSpPr>
          <p:cNvPr id="14" name="Text 12"/>
          <p:cNvSpPr txBox="1"/>
          <p:nvPr/>
        </p:nvSpPr>
        <p:spPr>
          <a:xfrm>
            <a:off x="841248" y="3374136"/>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5" name="Text 13"/>
          <p:cNvSpPr txBox="1"/>
          <p:nvPr/>
        </p:nvSpPr>
        <p:spPr>
          <a:xfrm>
            <a:off x="1353312" y="3291840"/>
            <a:ext cx="10058400" cy="969264"/>
          </a:xfrm>
          <a:prstGeom prst="rect">
            <a:avLst/>
          </a:prstGeom>
          <a:noFill/>
          <a:ln/>
        </p:spPr>
        <p:txBody>
          <a:bodyPr wrap="square" lIns="0" tIns="0" rIns="0" bIns="0" rtlCol="0" anchor="ctr"/>
          <a:lstStyle/>
          <a:p>
            <a:pPr marL="0" indent="0">
              <a:buNone/>
            </a:pPr>
            <a:r>
              <a:rPr lang="en-US" sz="1250" dirty="0">
                <a:solidFill>
                  <a:srgbClr val="DDCCB0"/>
                </a:solidFill>
                <a:latin typeface="Calibri" pitchFamily="34" charset="0"/>
                <a:ea typeface="Calibri" pitchFamily="34" charset="-122"/>
                <a:cs typeface="Calibri" pitchFamily="34" charset="-120"/>
              </a:rPr>
              <a:t>The prompt tells the model 'you know nothing of modern persons, events, or ideas'. Can a language model meaningfully not-know something, or is this a style instruction with an epistemic costume?</a:t>
            </a:r>
            <a:endParaRPr lang="en-US" sz="1250" dirty="0"/>
          </a:p>
        </p:txBody>
      </p:sp>
      <p:sp>
        <p:nvSpPr>
          <p:cNvPr id="16" name="Shape 14"/>
          <p:cNvSpPr/>
          <p:nvPr/>
        </p:nvSpPr>
        <p:spPr>
          <a:xfrm>
            <a:off x="841248" y="4334256"/>
            <a:ext cx="329184" cy="329184"/>
          </a:xfrm>
          <a:prstGeom prst="ellipse">
            <a:avLst/>
          </a:prstGeom>
          <a:solidFill>
            <a:srgbClr val="2E7D74"/>
          </a:solidFill>
          <a:ln w="12700">
            <a:solidFill>
              <a:srgbClr val="333333"/>
            </a:solidFill>
            <a:prstDash val="solid"/>
          </a:ln>
        </p:spPr>
        <p:txBody>
          <a:bodyPr/>
          <a:lstStyle/>
          <a:p>
            <a:endParaRPr lang="en-US"/>
          </a:p>
        </p:txBody>
      </p:sp>
      <p:sp>
        <p:nvSpPr>
          <p:cNvPr id="17" name="Text 15"/>
          <p:cNvSpPr txBox="1"/>
          <p:nvPr/>
        </p:nvSpPr>
        <p:spPr>
          <a:xfrm>
            <a:off x="841248" y="4361688"/>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8" name="Text 16"/>
          <p:cNvSpPr txBox="1"/>
          <p:nvPr/>
        </p:nvSpPr>
        <p:spPr>
          <a:xfrm>
            <a:off x="1353312" y="4279392"/>
            <a:ext cx="10058400" cy="969264"/>
          </a:xfrm>
          <a:prstGeom prst="rect">
            <a:avLst/>
          </a:prstGeom>
          <a:noFill/>
          <a:ln/>
        </p:spPr>
        <p:txBody>
          <a:bodyPr wrap="square" lIns="0" tIns="0" rIns="0" bIns="0" rtlCol="0" anchor="ctr"/>
          <a:lstStyle/>
          <a:p>
            <a:pPr marL="0" indent="0">
              <a:buNone/>
            </a:pPr>
            <a:r>
              <a:rPr lang="en-US" sz="1250" dirty="0">
                <a:solidFill>
                  <a:srgbClr val="DDCCB0"/>
                </a:solidFill>
                <a:latin typeface="Calibri" pitchFamily="34" charset="0"/>
                <a:ea typeface="Calibri" pitchFamily="34" charset="-122"/>
                <a:cs typeface="Calibri" pitchFamily="34" charset="-120"/>
              </a:rPr>
              <a:t>Sentiment prototypes learned from IMDB and Twitter are used as anchors for first-century Latin poetry. What has to be true about sentiment for that transfer to work, and how would you test it?</a:t>
            </a:r>
            <a:endParaRPr lang="en-US" sz="1250" dirty="0"/>
          </a:p>
        </p:txBody>
      </p:sp>
      <p:sp>
        <p:nvSpPr>
          <p:cNvPr id="19" name="Shape 17"/>
          <p:cNvSpPr/>
          <p:nvPr/>
        </p:nvSpPr>
        <p:spPr>
          <a:xfrm>
            <a:off x="841248" y="5321808"/>
            <a:ext cx="329184" cy="329184"/>
          </a:xfrm>
          <a:prstGeom prst="ellipse">
            <a:avLst/>
          </a:prstGeom>
          <a:solidFill>
            <a:srgbClr val="2E7D74"/>
          </a:solidFill>
          <a:ln w="12700">
            <a:solidFill>
              <a:srgbClr val="333333"/>
            </a:solidFill>
            <a:prstDash val="solid"/>
          </a:ln>
        </p:spPr>
        <p:txBody>
          <a:bodyPr/>
          <a:lstStyle/>
          <a:p>
            <a:endParaRPr lang="en-US"/>
          </a:p>
        </p:txBody>
      </p:sp>
      <p:sp>
        <p:nvSpPr>
          <p:cNvPr id="20" name="Text 18"/>
          <p:cNvSpPr txBox="1"/>
          <p:nvPr/>
        </p:nvSpPr>
        <p:spPr>
          <a:xfrm>
            <a:off x="841248" y="5349240"/>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1" name="Text 19"/>
          <p:cNvSpPr txBox="1"/>
          <p:nvPr/>
        </p:nvSpPr>
        <p:spPr>
          <a:xfrm>
            <a:off x="1353312" y="5266944"/>
            <a:ext cx="10058400" cy="969264"/>
          </a:xfrm>
          <a:prstGeom prst="rect">
            <a:avLst/>
          </a:prstGeom>
          <a:noFill/>
          <a:ln/>
        </p:spPr>
        <p:txBody>
          <a:bodyPr wrap="square" lIns="0" tIns="0" rIns="0" bIns="0" rtlCol="0" anchor="ctr"/>
          <a:lstStyle/>
          <a:p>
            <a:pPr marL="0" indent="0">
              <a:buNone/>
            </a:pPr>
            <a:r>
              <a:rPr lang="en-US" sz="1250" dirty="0">
                <a:solidFill>
                  <a:srgbClr val="DDCCB0"/>
                </a:solidFill>
                <a:latin typeface="Calibri" pitchFamily="34" charset="0"/>
                <a:ea typeface="Calibri" pitchFamily="34" charset="-122"/>
                <a:cs typeface="Calibri" pitchFamily="34" charset="-120"/>
              </a:rPr>
              <a:t>Both of today's papers put human expertise into the prompt rather than the weights, against the trend of everything else we read this term. When is that the right bet?</a:t>
            </a:r>
            <a:endParaRPr lang="en-US" sz="1250" dirty="0"/>
          </a:p>
        </p:txBody>
      </p:sp>
      <p:sp>
        <p:nvSpPr>
          <p:cNvPr id="22" name="Text 20"/>
          <p:cNvSpPr txBox="1"/>
          <p:nvPr/>
        </p:nvSpPr>
        <p:spPr>
          <a:xfrm>
            <a:off x="822960" y="6309360"/>
            <a:ext cx="10607040" cy="274320"/>
          </a:xfrm>
          <a:prstGeom prst="rect">
            <a:avLst/>
          </a:prstGeom>
          <a:noFill/>
          <a:ln/>
        </p:spPr>
        <p:txBody>
          <a:bodyPr wrap="square" lIns="0" tIns="0" rIns="0" bIns="0" rtlCol="0" anchor="ctr"/>
          <a:lstStyle/>
          <a:p>
            <a:pPr marL="0" indent="0">
              <a:buNone/>
            </a:pPr>
            <a:r>
              <a:rPr lang="en-US" sz="1000" dirty="0">
                <a:solidFill>
                  <a:srgbClr val="C9B99D"/>
                </a:solidFill>
                <a:latin typeface="Calibri" pitchFamily="34" charset="0"/>
                <a:ea typeface="Calibri" pitchFamily="34" charset="-122"/>
                <a:cs typeface="Calibri" pitchFamily="34" charset="-120"/>
              </a:rPr>
              <a:t>Du, Shi, Myerston, Lu, Zhou &amp; Gao (2025), Findings of EMNLP, 3756–3768  ·  Shi, Du, Hong &amp; Gao (2026), IEEE ICASSP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5924</Words>
  <Application>Microsoft Macintosh PowerPoint</Application>
  <PresentationFormat>Widescreen</PresentationFormat>
  <Paragraphs>374</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RAPA (Du et al., 2025)</dc:title>
  <dc:subject>PptxGenJS Presentation</dc:subject>
  <dc:creator>Seminar</dc:creator>
  <cp:lastModifiedBy>Gao, Ashley</cp:lastModifiedBy>
  <cp:revision>3</cp:revision>
  <dcterms:created xsi:type="dcterms:W3CDTF">2026-10-06T14:32:41Z</dcterms:created>
  <dcterms:modified xsi:type="dcterms:W3CDTF">2026-10-06T15:02:53Z</dcterms:modified>
</cp:coreProperties>
</file>