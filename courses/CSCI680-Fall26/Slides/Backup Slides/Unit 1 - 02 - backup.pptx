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- 1 minute. Frame the paper as a direct challenge to a familiar assumption in affective computing: that faces are readouts of emotions. Tell students the goal is not to deny that faces matter, but to ask what kind of evidence justifies which computational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Use this slide to set evaluation criteria for the seminar. Emphasize that the paper is translational: it addresses consumers of emotion research, including AI and computer vision researchers.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Give students the map. Emphasize that the seminar has one core argument and two evidence blocks. You can cut slides in each block if discussion runs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Ask the room: what are all the reasons someone might smile? Let them generate alternatives. Then introduce the paper as an argument that face-only emotion inference is a reverse inference with many possible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Connect the paper to affective computing domains students know. The key warning: a technical pipeline can be mathematically sophisticated while its target variable is under-justified.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Define the common view plainly. The common view has two halves: an emotion causes a specific facial configuration, and that configuration reveals the emotion. Affective computing often operationalizes both halves.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transition. Pause for 10 seconds and remind students where we are in the 80-minute arc.
The paper shifts us from intuitive labels to a measurement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Explain why the six categories matter: they dominate both popular belief and historical research. Then set up the two evidence blocks: production and perception.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Use Figure 1 to separate theoretical debates from the practical question. The paper does not require settling all emotion theory. It asks whether the evidence supports the face-emotion mapping consumers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Write the conditional probabilities on the board if useful. Explain why p(scowl | anger) can be nonzero while p(anger | scowl) is still weak. This is central to affective computing: most products make reverse inferences.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Spend extra time here. Have students define each criterion in their own words. Emphasize that specificity is often missing from published studies and from model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Highlight terminology discipline. A system that outputs AU12 + AU6 has detected a facial movement pattern; outputting happiness is an additional interpretive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Use this as a bridge to affective computing. Even when AU detection improves, the harder claim is what those movements mean. This distinction helps separate computer vision performance from affective inference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transition. Pause for 10 seconds and remind students where we are in the 80-minute arc.
Do people actually move their faces in the stereotyped ways during emotion episodes?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Explain that production studies ask the forward-inference question: given an emotional episode, what facial movements occur? But the emotional episode must itself be identified somehow.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Use this slide to make the stimulus problem tangible. These are recognizable stereotypes, but recognizability is not the same as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Walk through the y-axis and the emotion categories. Ask: would this be sufficient for a deployed classifier that claims to know a student, defendant, driver, or patient is angry or sad?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This is a key affective computing slide. Many datasets use posed labels. The figure shows that posed configurations can look more regular than what people do in actual episodes.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This is a memorable example. The point is not that winners were not happy, but that the smile was not a simple meter of happiness. Social context better explained the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This slide condenses several sections of the paper. Emphasize that these populations are important tests of universality: infants, remote cultures, and congenitally blind individuals.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Use this slide to close production evidence. Say clearly: the paper does not claim faces are meaningless. It claims the common view is not supported strongly enough for diagnostic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transition. Pause for 10 seconds and remind students where we are in the 80-minute arc.
Do observers reliably and specifically infer the same emotion from the same facial movement?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This is the central critique of perception studies. Emphasize that posed photographs cannot validate accuracy because the person in the photograph is often not feeling the target emotion.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Ask students to imagine a multiple-choice exam where only one answer is pleasant. Discuss how task structure can make a participant look more knowledgeable than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This slide conveys the core pattern in perception evidence. Stronger support for the common view tends to appear when the task is most constrained.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Use the chart to reinforce many-to-many mapping. Happiness is especially salient because datasets often have one smiling prototype, but natural images show many different configurations associated with happy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Explain why remote and small-scale societies matter for universality claims. Mention that the wide-eyed gasping face can be interpreted as threat or aggression in some contexts.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Briefly cover infant and child evidence. Stress that young children may use context more explicitly than adults in some tasks, and early experience changes attention to threat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This slide connects to graduate-level affective computing: virtual humans are not just applications, they can be methodological tools for studying context-sensitive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transition. Pause for 10 seconds and remind students where we are in the 80-minute arc.
The target variable matters as much as the model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This slide translates the paper into a design philosophy. Facial action detection can be one input; emotion inference should be probabilistic, contextual, and explicit about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Treat this as a practical checklist. You can ask students to apply it mentally to a dataset they have used, such as FER-style posed images or videos with crowd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Tie the four criteria back to ML evaluation. Stress false positives and out-of-distribution generalization. Ask what a confusion matrix misses when the labels themselves are questionable.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Discuss the difference between applications that manipulate faces for communication and applications that infer mental states. The first may not need emotion truth; the second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Present this as a constructive ending. The paper is not anti-computation; it calls for better computational science: higher-dimensional, contextual, dynamic, and person-sensitive.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minutes. Put students in groups of 3-4. Ask each group to audit a system: classroom engagement detector, interview screening, driver monitoring, therapy robot, or surveillance. Leave 2 minutes for report-out.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Close with the practical principle. Invite final questions about whether there are specific applications where a narrower facial-action target is appropriate.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reserve for after discussion or skip during live presentation. Include this slide for students who want to follow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Expressions Reconsidered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901952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to inferring emotion from human facial movements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seminar in affective computing | 1 hour 20 minutes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370332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Barrett, Adolphs, Marsella, Martinez, &amp; Pollak (2019)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4206240" cy="0"/>
          </a:xfrm>
          <a:prstGeom prst="line">
            <a:avLst/>
          </a:prstGeom>
          <a:noFill/>
          <a:ln w="4064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66344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question: when can a face-to-emotion inference be valid?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students should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508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facial movement detection from emotion inference.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25856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1671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reliability, specificity, generalizability, and validity.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916936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82549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evidence from production and perception studies.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7240" y="3575304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483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the critique into dataset, model, and deployment choices.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818120" y="15087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6FFFA"/>
          </a:solidFill>
          <a:ln w="6350">
            <a:solidFill>
              <a:srgbClr val="B2F5EA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stance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face is informative, but not a diagnostic fingerprint of emotion in isolation.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8120" y="37490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Affective computing question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our systems predict: emotion labels, facial actions, appraisals, social signals, or future behavior?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80-minute seminar arc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2148840"/>
            <a:ext cx="658368" cy="0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1874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facial emotion inference matters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658368" cy="0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468880" y="155448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2514600"/>
            <a:ext cx="1874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view, reverse inference, criteria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148840"/>
            <a:ext cx="658368" cy="0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343400" y="155448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9768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2514600"/>
            <a:ext cx="1874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people actually move their faces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658368" cy="0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217920" y="155448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45-60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2514600"/>
            <a:ext cx="1874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observers infer meaning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34272" y="2148840"/>
            <a:ext cx="658368" cy="0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92440" y="155448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09560" y="2514600"/>
            <a:ext cx="1874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Datasets, models, evaluation, deployment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908792" y="2148840"/>
            <a:ext cx="658368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9966960" y="155448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72-80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9212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0" y="2514600"/>
            <a:ext cx="2011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 face-emotion classifier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25880" y="4343400"/>
            <a:ext cx="9509760" cy="777240"/>
          </a:xfrm>
          <a:prstGeom prst="roundRect">
            <a:avLst>
              <a:gd name="adj" fmla="val 14118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interaction pattern: invite brief predictions before each evidence block, then revisit them after the data.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hook: what does a smile prove?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seen by a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05840" y="1965960"/>
            <a:ext cx="1920240" cy="1463040"/>
          </a:xfrm>
          <a:prstGeom prst="arc">
            <a:avLst/>
          </a:prstGeom>
          <a:noFill/>
          <a:ln w="63500">
            <a:solidFill>
              <a:srgbClr val="00A8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697480"/>
            <a:ext cx="1097280" cy="0"/>
          </a:xfrm>
          <a:prstGeom prst="line">
            <a:avLst/>
          </a:prstGeom>
          <a:noFill/>
          <a:ln w="50800">
            <a:solidFill>
              <a:srgbClr val="00A8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240280"/>
            <a:ext cx="164592" cy="16459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87168" y="2240280"/>
            <a:ext cx="164592" cy="16459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2743200"/>
            <a:ext cx="96012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074920" y="2148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0" y="2743200"/>
            <a:ext cx="91440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321040" y="2148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what else could it mean?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234440" y="475488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72184" y="46634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affiliation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5001768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4910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politeness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34440" y="5248656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72184" y="5157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34440" y="549554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72184" y="5404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34440" y="5742432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72184" y="56509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prompt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234440" y="598932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72184" y="58978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convention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12280" y="475488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46634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demand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12280" y="500176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0024" y="4910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posed expression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12280" y="5248656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0024" y="5157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12280" y="5495544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0024" y="5404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12280" y="5742432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0024" y="56509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2280" y="598932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0024" y="58978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joy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in affective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46120" y="1508760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6350">
            <a:solidFill>
              <a:srgbClr val="BFDBFE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training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06440" y="1508760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6350">
            <a:solidFill>
              <a:srgbClr val="FDE68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66760" y="1508760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FFE4E6"/>
          </a:solidFill>
          <a:ln w="6350">
            <a:solidFill>
              <a:srgbClr val="FECDD3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law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technical error can become a social error: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913632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38221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 label as ground truth when it is only human consensus.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56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438912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above-chance performance as deployment-ready accuracy.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504748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956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 static, isolated face as a complete social situation.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ASSUMPTION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view: one face, one emotion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3E4C59"/>
          </a:solidFill>
          <a:ln>
            <a:solidFill>
              <a:srgbClr val="3E4C59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scowl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40280" y="2157984"/>
            <a:ext cx="68580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3072384"/>
            <a:ext cx="68580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71800" y="20025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cause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71800" y="29169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clue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3E4C59"/>
          </a:solidFill>
          <a:ln>
            <a:solidFill>
              <a:srgbClr val="3E4C59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frown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18288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2743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3E4C59"/>
          </a:solidFill>
          <a:ln>
            <a:solidFill>
              <a:srgbClr val="3E4C59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12680" y="182880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29800" y="27432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3E4C59"/>
          </a:solidFill>
          <a:ln>
            <a:solidFill>
              <a:srgbClr val="3E4C59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eyes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9372600" cy="7315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asks whether this mapping is reliable, specific, and generalizable enough to support emotion inference in the real world.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7830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being evaluated?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12648" y="3246120"/>
            <a:ext cx="2834640" cy="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4930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shifts us from intuitive labels to a measurement problem.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SETUP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six categories, two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965960" y="15544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42B883"/>
          </a:solidFill>
          <a:ln>
            <a:solidFill>
              <a:srgbClr val="42B883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disgust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1554480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51960" y="155448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sadness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0" y="15544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3E4C59"/>
          </a:solidFill>
          <a:ln>
            <a:solidFill>
              <a:srgbClr val="3E4C5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57400" y="3017520"/>
            <a:ext cx="214884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3017520"/>
            <a:ext cx="-21945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242316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people move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faces during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episodes?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51960" y="242316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2440" y="242316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observers infer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from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movements?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70916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61772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is aimed at consumers of emotion research, including AI and computer vision.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521208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51206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concern is translational validity, not just theoretical disagreement.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BACKGROUND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theories differ: similarity and mechanism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289304"/>
            <a:ext cx="6565392" cy="4050792"/>
          </a:xfrm>
          <a:prstGeom prst="roundRect">
            <a:avLst>
              <a:gd name="adj" fmla="val 1129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fig1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38102"/>
            <a:ext cx="6492240" cy="3953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37667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Fig.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352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seminar framing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99248" y="2011680"/>
            <a:ext cx="118872" cy="1188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36992" y="19202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surface similarity: instances look alike.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699248" y="2606040"/>
            <a:ext cx="118872" cy="1188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36992" y="25146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deep similarity: instances share causal mechanisms.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699248" y="3200400"/>
            <a:ext cx="118872" cy="1188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36992" y="3108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view assumes strong enough similarity to make faces diagnostic.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inference is easier than reverse inference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episode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anger)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2560320"/>
            <a:ext cx="15087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983480" y="205740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movement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scowl)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4680" y="1600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p(face | emotion)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face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scowl)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4480560"/>
            <a:ext cx="15087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983480" y="397764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inferred emotion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anger)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54680" y="5074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p(emotion | face)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43800" y="246888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face can have many causes. Reverse inference needs strong evidence, not just intuition.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criteria for a defensible inference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197864"/>
            <a:ext cx="5239512" cy="3044952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fig3_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11" y="1234440"/>
            <a:ext cx="5138738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27939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Fig.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46520" y="1243584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Reliability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expected mapping occur often enough?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46520" y="2203704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Specificity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mapping unique to that emotion?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46520" y="3163824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Generalizability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replicate across people, cultures, contexts?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446520" y="4123944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Validity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person really in that emotional state?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2057400" y="5212080"/>
            <a:ext cx="7955280" cy="54864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high-stakes inference, above chance is not enough.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can smuggle in 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movement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2286000"/>
            <a:ext cx="118872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26280" y="187452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configuration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2286000"/>
            <a:ext cx="118872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366760" y="187452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expression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descriptive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926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interpretation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251960"/>
            <a:ext cx="9509760" cy="82296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FACS describes action units. It does not, by itself, say what emotion caused them.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helps measurement - and adds new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lab images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 AU accuracy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~99% same database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46120" y="2084832"/>
            <a:ext cx="137160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00600" y="1508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lab 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947672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 when conditions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controlled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78040" y="2084832"/>
            <a:ext cx="114300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503920" y="1508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1947672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&lt;83% accuracy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below .65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4023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Front-facing, well-lit, posed faces are the easy case.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459028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44988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Unconstrained videos add occlusion, illumination, movement, culture, and context.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065776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49743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detection is still not emotion recognition.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7830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I: producing facial movements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12648" y="3246120"/>
            <a:ext cx="2834640" cy="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4930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people actually move their faces in the stereotyped ways during emotion episodes?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production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788920"/>
            <a:ext cx="132588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120640" y="2788920"/>
            <a:ext cx="132588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0" y="2788920"/>
            <a:ext cx="123444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24028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24028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46920" y="224028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co-occurrence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434840"/>
            <a:ext cx="9372600" cy="777240"/>
          </a:xfrm>
          <a:prstGeom prst="roundRect">
            <a:avLst>
              <a:gd name="adj" fmla="val 14118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challenge: emotion itself is hard to verify independently, so many studies rely on self-report, observer judgment, or researcher assumptions.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stereotyped faces under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197864"/>
            <a:ext cx="5239512" cy="4782312"/>
          </a:xfrm>
          <a:prstGeom prst="roundRect">
            <a:avLst>
              <a:gd name="adj" fmla="val 956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fig4_fa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51242"/>
            <a:ext cx="5166360" cy="46755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01675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Fig. 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629400" y="1508760"/>
            <a:ext cx="42976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images are useful as stimuli and cultural symbols. The paper asks whether they are diagnostic displays.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720840" y="306324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58584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often posed or selected.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720840" y="3630168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58584" y="3538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exaggerate category differences.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720840" y="4197096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58584" y="41056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 shape participant expectations.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evidence: above chance, but weak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197864"/>
            <a:ext cx="6702552" cy="4370832"/>
          </a:xfrm>
          <a:prstGeom prst="roundRect">
            <a:avLst>
              <a:gd name="adj" fmla="val 1046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fig5_prod_m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662" y="1234440"/>
            <a:ext cx="5683116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605272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Fig. 5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18120" y="1645920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meta-analysis: average r around .32; average proportion around .19.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315468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faces sometimes match stereotypes, but more often they do not.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Posed expressions are not spontaneous expressions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197864"/>
            <a:ext cx="6702552" cy="4416552"/>
          </a:xfrm>
          <a:prstGeom prst="roundRect">
            <a:avLst>
              <a:gd name="adj" fmla="val 1035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fig6_posed_vs_sp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168" y="1234440"/>
            <a:ext cx="5668983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650992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Fig. 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909560" y="1691640"/>
            <a:ext cx="118872" cy="1188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47304" y="160020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Posing captures beliefs and display skills.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09560" y="2404872"/>
            <a:ext cx="118872" cy="1188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47304" y="231343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Spontaneous movement captures situated behavior.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909560" y="3118104"/>
            <a:ext cx="118872" cy="1188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47304" y="302666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posed faces as ground truth risks training stereotypes.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Naturalistic smiles: social signals, not readouts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830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71800" y="2240280"/>
            <a:ext cx="12801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434840" y="17830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4023360"/>
            <a:ext cx="12801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434840" y="35661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3108960"/>
            <a:ext cx="12801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09560" y="26060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Duchenne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516636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Judo winner studies: smiles were better predicted by social interaction with an audience than by reported happiness.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Converging production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Small-scale remote cultures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77640" y="1508760"/>
            <a:ext cx="6766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production studies of spontaneous emotional episodes; evidence is inconclusive.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9921240" cy="0"/>
          </a:xfrm>
          <a:prstGeom prst="line">
            <a:avLst/>
          </a:prstGeom>
          <a:noFill/>
          <a:ln w="8890">
            <a:solidFill>
              <a:srgbClr val="CBD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535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Infants and children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77640" y="2862072"/>
            <a:ext cx="6766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Movements often signal distress, arousal, or approach/avoidance; reliability and specificity for categories are weak.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22960" y="3776472"/>
            <a:ext cx="9921240" cy="0"/>
          </a:xfrm>
          <a:prstGeom prst="line">
            <a:avLst/>
          </a:prstGeom>
          <a:noFill/>
          <a:ln w="8890">
            <a:solidFill>
              <a:srgbClr val="CBD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06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Congenitally blind individuals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4215384"/>
            <a:ext cx="6766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Spontaneous facial movements are variable; posed movements differ, suggesting learning and convention.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22960" y="5129784"/>
            <a:ext cx="9921240" cy="0"/>
          </a:xfrm>
          <a:prstGeom prst="line">
            <a:avLst/>
          </a:prstGeom>
          <a:noFill/>
          <a:ln w="8890">
            <a:solidFill>
              <a:srgbClr val="CBD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5715000"/>
            <a:ext cx="9235440" cy="566928"/>
          </a:xfrm>
          <a:prstGeom prst="roundRect">
            <a:avLst>
              <a:gd name="adj" fmla="val 19355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populations, the theme is variability rather than diagnostic universality.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summary: no fingerprint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197864"/>
            <a:ext cx="4599432" cy="4599432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table4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75" y="1234440"/>
            <a:ext cx="438701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3387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Table 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89320" y="1508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summary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080760" y="214884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18504" y="2057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Spontaneous production: weak or unsupported reliability.</a:t>
            </a:r>
            <a:endParaRPr lang="en-US" sz="1720" dirty="0"/>
          </a:p>
        </p:txBody>
      </p:sp>
      <p:sp>
        <p:nvSpPr>
          <p:cNvPr id="11" name="Shape 8"/>
          <p:cNvSpPr/>
          <p:nvPr/>
        </p:nvSpPr>
        <p:spPr>
          <a:xfrm>
            <a:off x="6080760" y="271576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18504" y="2624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Specificity: often unknown or unsupported.</a:t>
            </a:r>
            <a:endParaRPr lang="en-US" sz="1720" dirty="0"/>
          </a:p>
        </p:txBody>
      </p:sp>
      <p:sp>
        <p:nvSpPr>
          <p:cNvPr id="13" name="Shape 10"/>
          <p:cNvSpPr/>
          <p:nvPr/>
        </p:nvSpPr>
        <p:spPr>
          <a:xfrm>
            <a:off x="6080760" y="3282696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504" y="31912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Posed production: stronger, but not the same phenomenon.</a:t>
            </a:r>
            <a:endParaRPr lang="en-US" sz="1720" dirty="0"/>
          </a:p>
        </p:txBody>
      </p:sp>
      <p:sp>
        <p:nvSpPr>
          <p:cNvPr id="15" name="Shape 12"/>
          <p:cNvSpPr/>
          <p:nvPr/>
        </p:nvSpPr>
        <p:spPr>
          <a:xfrm>
            <a:off x="6080760" y="3849624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8504" y="37581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vocabulary is safer: facial movements, not emotional expressions.</a:t>
            </a:r>
            <a:endParaRPr lang="en-US" sz="172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7830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II: perceiving emotion in faces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12648" y="3246120"/>
            <a:ext cx="2834640" cy="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4930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observers reliably and specifically infer the same emotion from the same facial movement?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or agreement?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3E4C59"/>
          </a:solidFill>
          <a:ln>
            <a:solidFill>
              <a:srgbClr val="3E4C59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posed actor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necessarily emotional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2542032"/>
            <a:ext cx="12801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617720" y="205740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a label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2542032"/>
            <a:ext cx="128016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366760" y="205740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calls it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4251960"/>
            <a:ext cx="9372600" cy="82296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independent ground truth, this is agreement with a label - not proof that the face revealed an emotion.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Choice-from-array tasks can inflate agreement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prompt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emotion is this?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794760" y="2057400"/>
            <a:ext cx="118872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166360" y="14630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answers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| sadness | fear | happiness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92440" y="2057400"/>
            <a:ext cx="1188720" cy="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464040" y="146304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result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common-view labels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97764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38862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options exclude many plausible meanings: confusion, threat, pain, politeness, effort.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448056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43891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words can prime what participants see or learn during the task.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498348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48920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can become elimination based on valence or arousal.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changes the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971800"/>
            <a:ext cx="9784080" cy="0"/>
          </a:xfrm>
          <a:prstGeom prst="line">
            <a:avLst/>
          </a:prstGeom>
          <a:noFill/>
          <a:ln w="1651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66360" y="214884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constrained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0" y="214884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choice-from-array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correlation / similarity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labeling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2331720" cy="822960"/>
          </a:xfrm>
          <a:prstGeom prst="roundRect">
            <a:avLst>
              <a:gd name="adj" fmla="val 13333"/>
            </a:avLst>
          </a:prstGeom>
          <a:solidFill>
            <a:srgbClr val="FFE4E6"/>
          </a:solidFill>
          <a:ln w="6350">
            <a:solidFill>
              <a:srgbClr val="FECDD3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to strong agreement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stereotyped labels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3886200"/>
            <a:ext cx="2788920" cy="82296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6350">
            <a:solidFill>
              <a:srgbClr val="FDE68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variability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similarity among categories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961120" y="388620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to moderate reliability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weak specificity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 mappings in open labeling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800600"/>
            <a:ext cx="5760720" cy="0"/>
          </a:xfrm>
          <a:prstGeom prst="line">
            <a:avLst/>
          </a:prstGeom>
          <a:noFill/>
          <a:ln w="11430">
            <a:solidFill>
              <a:srgbClr val="7B87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08760"/>
            <a:ext cx="0" cy="3291840"/>
          </a:xfrm>
          <a:prstGeom prst="line">
            <a:avLst/>
          </a:prstGeom>
          <a:noFill/>
          <a:ln w="11430">
            <a:solidFill>
              <a:srgbClr val="7B87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08760"/>
            <a:ext cx="822960" cy="32918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956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810512" y="3832412"/>
            <a:ext cx="822960" cy="9681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35763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10512" y="4956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798064" y="4026049"/>
            <a:ext cx="822960" cy="774551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377001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8064" y="4956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sadness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785616" y="4026049"/>
            <a:ext cx="822960" cy="774551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377001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85616" y="4956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773168" y="4413325"/>
            <a:ext cx="822960" cy="387275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157293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4956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760720" y="4606962"/>
            <a:ext cx="822960" cy="19363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35093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4956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disgust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22960" y="530352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facial configurations associated with label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160020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emotion word can be associated with multiple distinct facial configurations.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95160" y="306324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facial configuration can be associated with more than one emotion or social meaning.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68680" y="583387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from Srinivasan &amp; Martinez (2018), summarized by Barrett et al. (2019).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Cross-cultural evidence complicates universality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197864"/>
            <a:ext cx="5148072" cy="4553712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fig9_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234440"/>
            <a:ext cx="448056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7881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Fig. 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38544" y="16002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studies relied heavily on South Pacific samples and choice-from-array tasks.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400800" y="2386584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38544" y="22951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studies sampled broader ecological contexts and used less constrained methods.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400800" y="308152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38544" y="299008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often support valence or social/action meanings more than universal emotion categories.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Development: children learn situated meanings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pleasant / unpleasant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17373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arousal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/ calm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06440" y="17373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body, voice, situation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200" y="17373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and categories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74520" y="3017520"/>
            <a:ext cx="0" cy="82296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3017520"/>
            <a:ext cx="0" cy="82296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03720" y="3017520"/>
            <a:ext cx="0" cy="82296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555480" y="3017520"/>
            <a:ext cx="0" cy="82296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417320" y="4160520"/>
            <a:ext cx="9372600" cy="82296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perception is not simply switched on at birth; it develops through social experience.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humans: a bridge to affective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197864"/>
            <a:ext cx="5925312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7620">
            <a:solidFill>
              <a:srgbClr val="CBD2D9"/>
            </a:solidFill>
            <a:prstDash val="solid"/>
          </a:ln>
        </p:spPr>
      </p:sp>
      <p:pic>
        <p:nvPicPr>
          <p:cNvPr id="6" name="Image 0" descr="/mnt/data/affective_assets/fig7_virtual_hum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58521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021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Barrett et al. (2019), Fig. 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6424" y="40690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agents can manipulate timing, context, and contingency with experimental control.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4654296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06424" y="45628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show that the same smile can mean cooperation or competition depending on situation.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8680" y="5148072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06424" y="50566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 be used to study inference mechanisms instead of merely animating stereotypes.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7830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 for affective computing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12648" y="3246120"/>
            <a:ext cx="2834640" cy="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4930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variable matters as much as the model architecture.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IMPLICATIONS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face reading to situated inference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88920" y="182880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283464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384048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3172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907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66360" y="24231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situated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3800" y="2907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41080" y="242316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uncertainty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5349240"/>
            <a:ext cx="9875520" cy="594360"/>
          </a:xfrm>
          <a:prstGeom prst="roundRect">
            <a:avLst>
              <a:gd name="adj" fmla="val 18462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shift: detect observable behavior; infer psychological meaning only when context and evidence justify it.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IMPLICATIONS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audit: before you train 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source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97180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Self-report, observer consensus, scenario, actor prompt, or app metadata?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102412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ecology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971800" y="21762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or dynamic? Posed or spontaneous? Face alone or whole scene?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2770632"/>
            <a:ext cx="102412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971800" y="29809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faces, languages, cultures, ages, and contexts are sampled?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7240" y="3575304"/>
            <a:ext cx="102412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31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evidence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71800" y="37856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false positives and specificity reported?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" y="4379976"/>
            <a:ext cx="102412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36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claim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71800" y="4590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dataset justify emotion labels, or only facial-action labels?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77240" y="5184648"/>
            <a:ext cx="102412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IMPLICATIONS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evaluation: accuracy is not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80360" y="15270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model make the same inference under legitimate variation?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80360" y="2487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does it infer anger from non-anger situations?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Generalizability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3447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performance transfer across context, culture, age, lighting, and task?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80360" y="44074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label measuring emotion, behavior, social signal, or task consensus?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5486400"/>
            <a:ext cx="8138160" cy="548640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uncertainty and abstain when the evidence is insufficient.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IMPLICATIONS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choose claims that match the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claim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33172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3584" y="2240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facial actions or movement patterns.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89864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807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possible states for human review.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465576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33741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 low-stakes creative interfaces.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 claim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37960" y="233172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5704" y="2240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person is angry, lying, unsafe, engaged, or remorseful.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37960" y="2898648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2807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face alone establishes an internal state.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37960" y="3465576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33741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mapping holds across all people and contexts.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5532120"/>
            <a:ext cx="9144000" cy="54864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FED7A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High-stakes settings demand higher evidence because errors affect real outcomes.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IMPLICATIONS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agenda: build a science of situated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920240"/>
            <a:ext cx="0" cy="251460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31920" y="1920240"/>
            <a:ext cx="0" cy="251460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35040" y="1920240"/>
            <a:ext cx="0" cy="251460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138160" y="1920240"/>
            <a:ext cx="0" cy="2514600"/>
          </a:xfrm>
          <a:prstGeom prst="line">
            <a:avLst/>
          </a:prstGeom>
          <a:noFill/>
          <a:ln w="1778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05840" y="141732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8960" y="22402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30632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388620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person-level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72600" y="425196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544068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5349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individuals across situations and time, not just many isolated faces.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914400" y="576072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56692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 face, body, voice, physiology, task, and environment.</a:t>
            </a:r>
            <a:endParaRPr lang="en-US" sz="1620" dirty="0"/>
          </a:p>
        </p:txBody>
      </p:sp>
      <p:sp>
        <p:nvSpPr>
          <p:cNvPr id="18" name="Shape 16"/>
          <p:cNvSpPr/>
          <p:nvPr/>
        </p:nvSpPr>
        <p:spPr>
          <a:xfrm>
            <a:off x="914400" y="608076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59893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virtual humans for controlled, interactive, context-rich experiments.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activity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 face-emotion classifier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small groups, choose a real or hypothetical system and answer: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310896" cy="310896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278892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detected? What exactly is inferred?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310896" cy="310896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331927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label source, and what does it make valid?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849624"/>
            <a:ext cx="310896" cy="310896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38496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would false positives be most harmful?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379976"/>
            <a:ext cx="310896" cy="310896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437997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extra context would reduce ambiguity?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910328"/>
            <a:ext cx="310896" cy="310896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491032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the system abstain, explain, or hand off to a human?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51790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 are informative, but not standalone emotion fingerprints.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14400" y="2176272"/>
            <a:ext cx="438912" cy="438912"/>
          </a:xfrm>
          <a:prstGeom prst="ellipse">
            <a:avLst/>
          </a:prstGeom>
          <a:solidFill>
            <a:srgbClr val="00A8A8"/>
          </a:solidFill>
          <a:ln>
            <a:solidFill>
              <a:srgbClr val="00A8A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23113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Above-chance reliability is not enough for reverse inference.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38912" cy="438912"/>
          </a:xfrm>
          <a:prstGeom prst="ellipse">
            <a:avLst/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9443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 and validity are often missing from the evidence base.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14400" y="3602736"/>
            <a:ext cx="438912" cy="438912"/>
          </a:xfrm>
          <a:prstGeom prst="ellipse">
            <a:avLst/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657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design, labels, and culture shape apparent recognition.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914400" y="4315968"/>
            <a:ext cx="438912" cy="438912"/>
          </a:xfrm>
          <a:prstGeom prst="ellipse">
            <a:avLst/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3708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Affective computing should model situated, multimodal, uncertain meaning.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325880" y="5532120"/>
            <a:ext cx="9509760" cy="566928"/>
          </a:xfrm>
          <a:prstGeom prst="roundRect">
            <a:avLst>
              <a:gd name="adj" fmla="val 19355"/>
            </a:avLst>
          </a:prstGeom>
          <a:solidFill>
            <a:srgbClr val="E6FFFA"/>
          </a:solidFill>
          <a:ln w="6350">
            <a:solidFill>
              <a:srgbClr val="99F6E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one-sentence summary: do not ask a face alone to answer a question that requires a situation.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et al. (2019) | Affective computing seminar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suggested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B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" y="15087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Barrett, L. F., Adolphs, R., Marsella, S., Martinez, A. M., &amp; Pollak, S. D. (2019). Emotional Expressions Reconsidered. Psychological Science in the Public Interest, 20(1), 1-68.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868680" y="2350008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Barrett, L. F. (2017). How Emotions Are Made. Houghton Mifflin Harcourt.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868680" y="3099816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300837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Jack, R. E., &amp; Schyns, P. G. (2017). Toward a social psychophysics of face communication. Annual Review of Psychology.</a:t>
            </a:r>
            <a:endParaRPr lang="en-US" sz="1580" dirty="0"/>
          </a:p>
        </p:txBody>
      </p:sp>
      <p:sp>
        <p:nvSpPr>
          <p:cNvPr id="11" name="Shape 9"/>
          <p:cNvSpPr/>
          <p:nvPr/>
        </p:nvSpPr>
        <p:spPr>
          <a:xfrm>
            <a:off x="868680" y="3849624"/>
            <a:ext cx="118872" cy="118872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375818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Srinivasan, R., &amp; Martinez, A. M. (2018). Cross-cultural and cultural-specific production and perception of facial expressions in the wild.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1280160" y="5532120"/>
            <a:ext cx="9601200" cy="502920"/>
          </a:xfrm>
          <a:prstGeom prst="roundRect">
            <a:avLst>
              <a:gd name="adj" fmla="val 21818"/>
            </a:avLst>
          </a:prstGeom>
          <a:solidFill>
            <a:srgbClr val="F5F7FA"/>
          </a:solidFill>
          <a:ln w="6350">
            <a:solidFill>
              <a:srgbClr val="CBD2D9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figures are adapted from the assigned Barrett et al. article for classroom use.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deck generated from the uploaded article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Emotional Expressions Reconsidered - Graduate Seminar Slides</dc:title>
  <dc:subject>Graduate seminar on affective computing</dc:subject>
  <dc:creator>OpenAI</dc:creator>
  <cp:lastModifiedBy>OpenAI</cp:lastModifiedBy>
  <cp:revision>1</cp:revision>
  <dcterms:created xsi:type="dcterms:W3CDTF">2026-08-30T12:20:34Z</dcterms:created>
  <dcterms:modified xsi:type="dcterms:W3CDTF">2026-08-30T12:20:34Z</dcterms:modified>
</cp:coreProperties>
</file>