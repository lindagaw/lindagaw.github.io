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the contrast to static facial-expression datasets: IEMOCAP is not only an emotion-recognition benchmark, but a database-design argument. Its contribution is a controlled attempt to capture expressive emotion in dyadic interaction, with synchronized audio, video, motion capture, transcripts, and human annotations.
Source: Busso et al. 2008; USC IEMOCAP release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Emphasize that the seminar is not primarily about a classifier, but about the pipeline that makes classification possible. The paper is useful because it exposes trade-offs—naturalness versus control, subjectivity versus label reliability, and modality richness versus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Preview the major sections and invite students to keep a dataset-audit question in mind throughout the talk. The same question will return at the end and in the CREMA-D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abstract states the central claim: emotion is expressed through verbal and nonverbal channels, so speech and gesture need joint study. The paper reports 10 actors, dyadic sessions, markers on face/head/hands, scripted and spontaneous scenarios, and roughly 12 hours of data. Use these facts to frame why this database became a foundational benchmark.
Source: Busso et al., lines 7–19 of the PDF abstract and USC release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through the paper's critique of prior corpora. The authors discuss acted simulation, lack of context, audio-only data, and small speaker pools as obstacles. Then introduce their four design axes: scope, naturalness, context, and descriptors.
Source: Busso et al. lines 37–56 and lines 96–104.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the conceptual heart of the methods section. The authors explicitly note the trade-off between naturalness and control. IEMOCAP does not solve that tension; it chooses a compromise: dyadic interaction with trained actors, selected scripts, and designed improvisation prompts.
Source: Busso et al. lines 216–240 and lines 244–253.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Give concrete examples from Table 1: DMV conflict, military separation, marriage announcement, lost luggage, bereavement, USC acceptance. These scenarios show the dataset is designed around social situations, not merely signal labels.
Source: Busso et al. lines 223–240 and lines 256–304.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Explain that IEMOCAP is unusually rich because it included motion capture, not just RGB video or audio. Note a key limitation: markers were placed on one participant at a time, then switched, to avoid technical interference.
Source: Busso et al. lines 309–333 and 337–365.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Emphasize that the corpus is not simply captured; it is constructed. Segmentation choices define the unit of prediction. Transcription and alignment define what language features can be extracted. Annotation choices define the ground truth.
Source: Busso et al. lines 370–386 and lines 456–466.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paper reports 10,039 turns: 5,255 scripted and 4,784 spontaneous, with an average duration of 4.5 seconds and 11.4 words. Use this slide to ask what happens when affect changes within a turn. The authors acknowledge a simplifying assumption that emotion is constant within a turn.
Source: Busso et al. lines 372–381 and 467–473.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Discuss why the paper uses both discrete labels and valence/activation/dominance. This avoids forcing all affective behavior into a single basic-emotion taxonomy. Point out that raters can select multiple categories for blends.
Source: Busso et al. lines 456–458, 475–506, and 608–618.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Explain majority-vote labels as a pragmatic decision. The authors report agreement in 74.6% of turns, higher for spontaneous than scripted, and a Fleiss' kappa of .40 for agreement turns with original labels. Attribute ratings have Cronbach alpha of .809 for valence, .607 for activation, and .608 for dominance. The message: labels are consensus measurements, not inner-state ground truth.
Source: Busso et al. lines 511–520, 527–539, and 676–680.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Figure 7 percentages to make a methodological point: IEMOCAP is not a balanced six-basic-emotion database. It is heavily shaped by target states such as frustration, sadness, anger, excitement, and neutral. This matters for benchmarks and class collapsing.
Source: Busso et al. lines 517–521 and 540–561.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This is a rich discussion slide. The paper reports that self-evaluations from six actors agreed less with the observer-derived labels than other naive evaluators did. Treat this not as actors being wrong, but as a fundamental difference between expressed, felt, intended, and perceived emotion.
Source: Busso et al. lines 639–647 and 681–703.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Every high-quality corpus has engineering compromises. For IEMOCAP, the motion-capture setup enabled detailed 3D marker trajectories but introduced asymmetry, missing markers, seating constraints, and distancing. Discuss why this still may be a better trade-off than a lower-resolution naturalistic corpus for many questions.
Source: Busso et al. lines 325–333, 337–350, and 705–724.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Tie the features to research questions listed by the authors: personal styles, changes in affect, relation of language to gestures, facial areas that modulate affect, and dyadic behavior. Emphasize that the dataset can support questions beyond classification.
Source: Busso et al. lines 820–859.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this as a practical checklist for students reading papers that use IEMOCAP. Many published numbers are not directly comparable because they differ in label collapse, data split, modality, and whether ambiguous examples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students to work in pairs or small groups. The goal is not to get a perfect design, but to make visible how many decisions are required before a model can be trained. Use the activity to transition toward the final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Summarize and ask for one question before switching to CREMA-D. The strongest bridge is that IEMOCAP emphasizes context-rich interactions, while CREMA-D emphasizes systematic short clips and crowd perception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this slide to bridge into CREMA-D. Both datasets are foundational, but they are optimized for different questions. CREMA-D makes modality-specific human perception at scale more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2D"/>
        </a:solidFill>
      </p:bgPr>
    </p:bg>
    <p:spTree>
      <p:nvGrpSpPr>
        <p:cNvPr id="1" name=""/>
        <p:cNvGrpSpPr/>
        <p:nvPr/>
      </p:nvGrpSpPr>
      <p:grpSpPr>
        <a:xfrm>
          <a:off x="0" y="0"/>
          <a:ext cx="0" cy="0"/>
          <a:chOff x="0" y="0"/>
          <a:chExt cx="0" cy="0"/>
        </a:xfrm>
      </p:grpSpPr>
      <p:pic>
        <p:nvPicPr>
          <p:cNvPr id="2" name="Image 0" descr="/mnt/data/wide_cinematic_tech_lab_studio_scene_a_dark_m_batch_1.png">    </p:cNvPr>
          <p:cNvPicPr>
            <a:picLocks noChangeAspect="1"/>
          </p:cNvPicPr>
          <p:nvPr/>
        </p:nvPicPr>
        <p:blipFill>
          <a:blip r:embed="rId1"/>
          <a:srcRect l="23811" r="23811" t="0" b="0"/>
          <a:stretch/>
        </p:blipFill>
        <p:spPr>
          <a:xfrm>
            <a:off x="5806440" y="0"/>
            <a:ext cx="6382512" cy="6858000"/>
          </a:xfrm>
          <a:prstGeom prst="rect">
            <a:avLst/>
          </a:prstGeom>
        </p:spPr>
      </p:pic>
      <p:sp>
        <p:nvSpPr>
          <p:cNvPr id="3" name="Shape 0"/>
          <p:cNvSpPr/>
          <p:nvPr/>
        </p:nvSpPr>
        <p:spPr>
          <a:xfrm>
            <a:off x="0" y="0"/>
            <a:ext cx="5806440" cy="6858000"/>
          </a:xfrm>
          <a:prstGeom prst="rect">
            <a:avLst/>
          </a:prstGeom>
          <a:solidFill>
            <a:srgbClr val="0B1E2D"/>
          </a:solidFill>
          <a:ln w="12700">
            <a:solidFill>
              <a:srgbClr val="0B1E2D">
                <a:alpha val="0"/>
              </a:srgbClr>
            </a:solidFill>
            <a:prstDash val="solid"/>
          </a:ln>
        </p:spPr>
      </p:sp>
      <p:sp>
        <p:nvSpPr>
          <p:cNvPr id="4" name="Text 1"/>
          <p:cNvSpPr/>
          <p:nvPr/>
        </p:nvSpPr>
        <p:spPr>
          <a:xfrm>
            <a:off x="594360" y="594360"/>
            <a:ext cx="4389120" cy="228600"/>
          </a:xfrm>
          <a:prstGeom prst="rect">
            <a:avLst/>
          </a:prstGeom>
          <a:noFill/>
          <a:ln/>
        </p:spPr>
        <p:txBody>
          <a:bodyPr wrap="square" lIns="0" tIns="0" rIns="0" bIns="0" rtlCol="0" anchor="ctr"/>
          <a:lstStyle/>
          <a:p>
            <a:pPr indent="0" marL="0">
              <a:buNone/>
            </a:pPr>
            <a:r>
              <a:rPr lang="en-US" sz="1050" b="1" dirty="0">
                <a:solidFill>
                  <a:srgbClr val="2EC4B6"/>
                </a:solidFill>
                <a:latin typeface="Arial" pitchFamily="34" charset="0"/>
                <a:ea typeface="Arial" pitchFamily="34" charset="-122"/>
                <a:cs typeface="Arial" pitchFamily="34" charset="-120"/>
              </a:rPr>
              <a:t>Graduate seminar | Affective computing</a:t>
            </a:r>
            <a:endParaRPr lang="en-US" sz="1050" dirty="0"/>
          </a:p>
        </p:txBody>
      </p:sp>
      <p:sp>
        <p:nvSpPr>
          <p:cNvPr id="5" name="Text 2"/>
          <p:cNvSpPr/>
          <p:nvPr/>
        </p:nvSpPr>
        <p:spPr>
          <a:xfrm>
            <a:off x="594360" y="1325880"/>
            <a:ext cx="4754880" cy="502920"/>
          </a:xfrm>
          <a:prstGeom prst="rect">
            <a:avLst/>
          </a:prstGeom>
          <a:noFill/>
          <a:ln/>
        </p:spPr>
        <p:txBody>
          <a:bodyPr wrap="square" lIns="0" tIns="0" rIns="0" bIns="0" rtlCol="0" anchor="ctr"/>
          <a:lstStyle/>
          <a:p>
            <a:pPr indent="0" marL="0">
              <a:buNone/>
            </a:pPr>
            <a:r>
              <a:rPr lang="en-US" sz="3500" b="1" dirty="0">
                <a:solidFill>
                  <a:srgbClr val="FFFFFF"/>
                </a:solidFill>
                <a:latin typeface="Arial" pitchFamily="34" charset="0"/>
                <a:ea typeface="Arial" pitchFamily="34" charset="-122"/>
                <a:cs typeface="Arial" pitchFamily="34" charset="-120"/>
              </a:rPr>
              <a:t>IEMOCAP</a:t>
            </a:r>
            <a:endParaRPr lang="en-US" sz="3500" dirty="0"/>
          </a:p>
        </p:txBody>
      </p:sp>
      <p:sp>
        <p:nvSpPr>
          <p:cNvPr id="6" name="Text 3"/>
          <p:cNvSpPr/>
          <p:nvPr/>
        </p:nvSpPr>
        <p:spPr>
          <a:xfrm>
            <a:off x="612648" y="1920240"/>
            <a:ext cx="4754880" cy="731520"/>
          </a:xfrm>
          <a:prstGeom prst="rect">
            <a:avLst/>
          </a:prstGeom>
          <a:noFill/>
          <a:ln/>
        </p:spPr>
        <p:txBody>
          <a:bodyPr wrap="square" lIns="0" tIns="0" rIns="0" bIns="0" rtlCol="0" anchor="ctr">
            <a:normAutofit/>
          </a:bodyPr>
          <a:lstStyle/>
          <a:p>
            <a:pPr indent="0" marL="0">
              <a:buNone/>
            </a:pPr>
            <a:r>
              <a:rPr lang="en-US" sz="1700" b="1" dirty="0">
                <a:solidFill>
                  <a:srgbClr val="D9EAF7"/>
                </a:solidFill>
                <a:latin typeface="Arial" pitchFamily="34" charset="0"/>
                <a:ea typeface="Arial" pitchFamily="34" charset="-122"/>
                <a:cs typeface="Arial" pitchFamily="34" charset="-120"/>
              </a:rPr>
              <a:t>Interactive Emotional Dyadic Motion Capture Database</a:t>
            </a:r>
            <a:endParaRPr lang="en-US" sz="1700" dirty="0"/>
          </a:p>
        </p:txBody>
      </p:sp>
      <p:sp>
        <p:nvSpPr>
          <p:cNvPr id="7" name="Text 4"/>
          <p:cNvSpPr/>
          <p:nvPr/>
        </p:nvSpPr>
        <p:spPr>
          <a:xfrm>
            <a:off x="612648" y="2889504"/>
            <a:ext cx="4480560" cy="274320"/>
          </a:xfrm>
          <a:prstGeom prst="rect">
            <a:avLst/>
          </a:prstGeom>
          <a:noFill/>
          <a:ln/>
        </p:spPr>
        <p:txBody>
          <a:bodyPr wrap="square" lIns="0" tIns="0" rIns="0" bIns="0" rtlCol="0" anchor="ctr"/>
          <a:lstStyle/>
          <a:p>
            <a:pPr indent="0" marL="0">
              <a:buNone/>
            </a:pPr>
            <a:r>
              <a:rPr lang="en-US" sz="1150" dirty="0">
                <a:solidFill>
                  <a:srgbClr val="BFD7EA"/>
                </a:solidFill>
                <a:latin typeface="Arial" pitchFamily="34" charset="0"/>
                <a:ea typeface="Arial" pitchFamily="34" charset="-122"/>
                <a:cs typeface="Arial" pitchFamily="34" charset="-120"/>
              </a:rPr>
              <a:t>Busso et al., Language Resources and Evaluation 42(4), 2008</a:t>
            </a:r>
            <a:endParaRPr lang="en-US" sz="1150" dirty="0"/>
          </a:p>
        </p:txBody>
      </p:sp>
      <p:sp>
        <p:nvSpPr>
          <p:cNvPr id="8" name="Text 5"/>
          <p:cNvSpPr/>
          <p:nvPr/>
        </p:nvSpPr>
        <p:spPr>
          <a:xfrm>
            <a:off x="612648" y="5340096"/>
            <a:ext cx="3840480" cy="228600"/>
          </a:xfrm>
          <a:prstGeom prst="rect">
            <a:avLst/>
          </a:prstGeom>
          <a:noFill/>
          <a:ln/>
        </p:spPr>
        <p:txBody>
          <a:bodyPr wrap="square" lIns="0" tIns="0" rIns="0" bIns="0" rtlCol="0" anchor="ctr"/>
          <a:lstStyle/>
          <a:p>
            <a:pPr indent="0" marL="0">
              <a:buNone/>
            </a:pPr>
            <a:r>
              <a:rPr lang="en-US" sz="1050" dirty="0">
                <a:solidFill>
                  <a:srgbClr val="CBD2D9"/>
                </a:solidFill>
                <a:latin typeface="Arial" pitchFamily="34" charset="0"/>
                <a:ea typeface="Arial" pitchFamily="34" charset="-122"/>
                <a:cs typeface="Arial" pitchFamily="34" charset="-120"/>
              </a:rPr>
              <a:t>Planned time: 40 minutes</a:t>
            </a:r>
            <a:endParaRPr lang="en-US" sz="1050" dirty="0"/>
          </a:p>
        </p:txBody>
      </p:sp>
      <p:sp>
        <p:nvSpPr>
          <p:cNvPr id="9" name="Shape 6"/>
          <p:cNvSpPr/>
          <p:nvPr/>
        </p:nvSpPr>
        <p:spPr>
          <a:xfrm>
            <a:off x="612648" y="5650992"/>
            <a:ext cx="4206240" cy="0"/>
          </a:xfrm>
          <a:prstGeom prst="line">
            <a:avLst/>
          </a:prstGeom>
          <a:noFill/>
          <a:ln w="16510">
            <a:solidFill>
              <a:srgbClr val="00A8A8"/>
            </a:solidFill>
            <a:prstDash val="solid"/>
          </a:ln>
        </p:spPr>
      </p:sp>
      <p:sp>
        <p:nvSpPr>
          <p:cNvPr id="10" name="Text 7"/>
          <p:cNvSpPr/>
          <p:nvPr/>
        </p:nvSpPr>
        <p:spPr>
          <a:xfrm>
            <a:off x="612648" y="5806440"/>
            <a:ext cx="4572000" cy="438912"/>
          </a:xfrm>
          <a:prstGeom prst="rect">
            <a:avLst/>
          </a:prstGeom>
          <a:noFill/>
          <a:ln/>
        </p:spPr>
        <p:txBody>
          <a:bodyPr wrap="square" lIns="0" tIns="0" rIns="0" bIns="0" rtlCol="0" anchor="ctr">
            <a:normAutofit/>
          </a:bodyPr>
          <a:lstStyle/>
          <a:p>
            <a:pPr indent="0" marL="0">
              <a:buNone/>
            </a:pPr>
            <a:r>
              <a:rPr lang="en-US" sz="1050" dirty="0">
                <a:solidFill>
                  <a:srgbClr val="FFFFFF"/>
                </a:solidFill>
                <a:latin typeface="Arial" pitchFamily="34" charset="0"/>
                <a:ea typeface="Arial" pitchFamily="34" charset="-122"/>
                <a:cs typeface="Arial" pitchFamily="34" charset="-120"/>
              </a:rPr>
              <a:t>Core question: how do we build a corpus for emotion in interaction, rather than emotion in isolated signals?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SEMINAR GOALS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What students should be able to do</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685800" y="1508760"/>
            <a:ext cx="6675120" cy="2651760"/>
          </a:xfrm>
          <a:prstGeom prst="rect">
            <a:avLst/>
          </a:prstGeom>
          <a:noFill/>
          <a:ln/>
        </p:spPr>
        <p:txBody>
          <a:bodyPr wrap="square" lIns="381" tIns="381" rIns="381" bIns="381" rtlCol="0" anchor="t">
            <a:normAutofit/>
          </a:bodyPr>
          <a:lstStyle/>
          <a:p>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Explain why IEMOCAP was created and what limitations it addressed.</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Describe the corpus design: actors, dyads, elicitation, modalities, segmentation, and annotation.</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Interpret IEMOCAP’s annotation agreement as a measurement issue, not just a data-cleaning issue.</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Connect dataset design choices to modeling choices in multimodal affect recognition.</a:t>
            </a:r>
            <a:endParaRPr lang="en-US" sz="1550" dirty="0"/>
          </a:p>
        </p:txBody>
      </p:sp>
      <p:sp>
        <p:nvSpPr>
          <p:cNvPr id="6" name="Shape 4"/>
          <p:cNvSpPr/>
          <p:nvPr/>
        </p:nvSpPr>
        <p:spPr>
          <a:xfrm>
            <a:off x="7543800" y="1508760"/>
            <a:ext cx="3794760" cy="2103120"/>
          </a:xfrm>
          <a:prstGeom prst="roundRect">
            <a:avLst>
              <a:gd name="adj" fmla="val 3478"/>
            </a:avLst>
          </a:prstGeom>
          <a:solidFill>
            <a:srgbClr val="E6FFFB"/>
          </a:solidFill>
          <a:ln w="10160">
            <a:solidFill>
              <a:srgbClr val="B2F5EA"/>
            </a:solidFill>
            <a:prstDash val="solid"/>
          </a:ln>
        </p:spPr>
      </p:sp>
      <p:sp>
        <p:nvSpPr>
          <p:cNvPr id="7" name="Text 5"/>
          <p:cNvSpPr/>
          <p:nvPr/>
        </p:nvSpPr>
        <p:spPr>
          <a:xfrm>
            <a:off x="7818120" y="1783080"/>
            <a:ext cx="3291840" cy="219456"/>
          </a:xfrm>
          <a:prstGeom prst="rect">
            <a:avLst/>
          </a:prstGeom>
          <a:noFill/>
          <a:ln/>
        </p:spPr>
        <p:txBody>
          <a:bodyPr wrap="square" lIns="0" tIns="0" rIns="0" bIns="0" rtlCol="0" anchor="ctr"/>
          <a:lstStyle/>
          <a:p>
            <a:pPr indent="0" marL="0">
              <a:buNone/>
            </a:pPr>
            <a:r>
              <a:rPr lang="en-US" sz="1200" b="1" dirty="0">
                <a:solidFill>
                  <a:srgbClr val="102A43"/>
                </a:solidFill>
                <a:latin typeface="Arial" pitchFamily="34" charset="0"/>
                <a:ea typeface="Arial" pitchFamily="34" charset="-122"/>
                <a:cs typeface="Arial" pitchFamily="34" charset="-120"/>
              </a:rPr>
              <a:t>40-minute seminar stance</a:t>
            </a:r>
            <a:endParaRPr lang="en-US" sz="1200" dirty="0"/>
          </a:p>
        </p:txBody>
      </p:sp>
      <p:sp>
        <p:nvSpPr>
          <p:cNvPr id="8" name="Text 6"/>
          <p:cNvSpPr/>
          <p:nvPr/>
        </p:nvSpPr>
        <p:spPr>
          <a:xfrm>
            <a:off x="7818120" y="2148840"/>
            <a:ext cx="3200400" cy="1005840"/>
          </a:xfrm>
          <a:prstGeom prst="rect">
            <a:avLst/>
          </a:prstGeom>
          <a:noFill/>
          <a:ln/>
        </p:spPr>
        <p:txBody>
          <a:bodyPr wrap="square" lIns="381" tIns="381" rIns="381" bIns="381" rtlCol="0" anchor="ctr">
            <a:normAutofit/>
          </a:bodyPr>
          <a:lstStyle/>
          <a:p>
            <a:pPr indent="0" marL="0">
              <a:buNone/>
            </a:pPr>
            <a:r>
              <a:rPr lang="en-US" sz="1300" dirty="0">
                <a:solidFill>
                  <a:srgbClr val="3E4C59"/>
                </a:solidFill>
                <a:latin typeface="Arial" pitchFamily="34" charset="0"/>
                <a:ea typeface="Arial" pitchFamily="34" charset="-122"/>
                <a:cs typeface="Arial" pitchFamily="34" charset="-120"/>
              </a:rPr>
              <a:t>Treat IEMOCAP as a case study in affective dataset engineering: what counts as “emotion” depends on elicitation, context, and annotation.</a:t>
            </a:r>
            <a:endParaRPr lang="en-US" sz="1300" dirty="0"/>
          </a:p>
        </p:txBody>
      </p:sp>
      <p:sp>
        <p:nvSpPr>
          <p:cNvPr id="9" name="Text 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learning goals</a:t>
            </a:r>
            <a:endParaRPr lang="en-US" sz="750" dirty="0"/>
          </a:p>
        </p:txBody>
      </p:sp>
      <p:sp>
        <p:nvSpPr>
          <p:cNvPr id="10" name="Text 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ROADMAP</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40-minute seminar arc</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640080" y="1554480"/>
            <a:ext cx="1005840" cy="320040"/>
          </a:xfrm>
          <a:prstGeom prst="roundRect">
            <a:avLst>
              <a:gd name="adj" fmla="val 17143"/>
            </a:avLst>
          </a:prstGeom>
          <a:solidFill>
            <a:srgbClr val="00A8A8"/>
          </a:solidFill>
          <a:ln w="12700">
            <a:solidFill>
              <a:srgbClr val="00A8A8">
                <a:alpha val="0"/>
              </a:srgbClr>
            </a:solidFill>
            <a:prstDash val="solid"/>
          </a:ln>
        </p:spPr>
      </p:sp>
      <p:sp>
        <p:nvSpPr>
          <p:cNvPr id="6" name="Text 4"/>
          <p:cNvSpPr/>
          <p:nvPr/>
        </p:nvSpPr>
        <p:spPr>
          <a:xfrm>
            <a:off x="71323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0–5</a:t>
            </a:r>
            <a:endParaRPr lang="en-US" sz="850" dirty="0"/>
          </a:p>
        </p:txBody>
      </p:sp>
      <p:sp>
        <p:nvSpPr>
          <p:cNvPr id="7" name="Text 5"/>
          <p:cNvSpPr/>
          <p:nvPr/>
        </p:nvSpPr>
        <p:spPr>
          <a:xfrm>
            <a:off x="54864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Problem</a:t>
            </a:r>
            <a:endParaRPr lang="en-US" sz="1300" dirty="0"/>
          </a:p>
        </p:txBody>
      </p:sp>
      <p:sp>
        <p:nvSpPr>
          <p:cNvPr id="8" name="Text 6"/>
          <p:cNvSpPr/>
          <p:nvPr/>
        </p:nvSpPr>
        <p:spPr>
          <a:xfrm>
            <a:off x="41148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Why older corpora were insufficient</a:t>
            </a:r>
            <a:endParaRPr lang="en-US" sz="1050" dirty="0"/>
          </a:p>
        </p:txBody>
      </p:sp>
      <p:sp>
        <p:nvSpPr>
          <p:cNvPr id="9" name="Shape 7"/>
          <p:cNvSpPr/>
          <p:nvPr/>
        </p:nvSpPr>
        <p:spPr>
          <a:xfrm>
            <a:off x="2880360" y="1554480"/>
            <a:ext cx="1005840" cy="320040"/>
          </a:xfrm>
          <a:prstGeom prst="roundRect">
            <a:avLst>
              <a:gd name="adj" fmla="val 17143"/>
            </a:avLst>
          </a:prstGeom>
          <a:solidFill>
            <a:srgbClr val="7C3AED"/>
          </a:solidFill>
          <a:ln w="12700">
            <a:solidFill>
              <a:srgbClr val="7C3AED">
                <a:alpha val="0"/>
              </a:srgbClr>
            </a:solidFill>
            <a:prstDash val="solid"/>
          </a:ln>
        </p:spPr>
      </p:sp>
      <p:sp>
        <p:nvSpPr>
          <p:cNvPr id="10" name="Text 8"/>
          <p:cNvSpPr/>
          <p:nvPr/>
        </p:nvSpPr>
        <p:spPr>
          <a:xfrm>
            <a:off x="295351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5–15</a:t>
            </a:r>
            <a:endParaRPr lang="en-US" sz="850" dirty="0"/>
          </a:p>
        </p:txBody>
      </p:sp>
      <p:sp>
        <p:nvSpPr>
          <p:cNvPr id="11" name="Text 9"/>
          <p:cNvSpPr/>
          <p:nvPr/>
        </p:nvSpPr>
        <p:spPr>
          <a:xfrm>
            <a:off x="278892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Design</a:t>
            </a:r>
            <a:endParaRPr lang="en-US" sz="1300" dirty="0"/>
          </a:p>
        </p:txBody>
      </p:sp>
      <p:sp>
        <p:nvSpPr>
          <p:cNvPr id="12" name="Text 10"/>
          <p:cNvSpPr/>
          <p:nvPr/>
        </p:nvSpPr>
        <p:spPr>
          <a:xfrm>
            <a:off x="265176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IEMOCAP was built</a:t>
            </a:r>
            <a:endParaRPr lang="en-US" sz="1050" dirty="0"/>
          </a:p>
        </p:txBody>
      </p:sp>
      <p:sp>
        <p:nvSpPr>
          <p:cNvPr id="13" name="Shape 11"/>
          <p:cNvSpPr/>
          <p:nvPr/>
        </p:nvSpPr>
        <p:spPr>
          <a:xfrm>
            <a:off x="5120640" y="1554480"/>
            <a:ext cx="1005840" cy="320040"/>
          </a:xfrm>
          <a:prstGeom prst="roundRect">
            <a:avLst>
              <a:gd name="adj" fmla="val 17143"/>
            </a:avLst>
          </a:prstGeom>
          <a:solidFill>
            <a:srgbClr val="F4B400"/>
          </a:solidFill>
          <a:ln w="12700">
            <a:solidFill>
              <a:srgbClr val="F4B400">
                <a:alpha val="0"/>
              </a:srgbClr>
            </a:solidFill>
            <a:prstDash val="solid"/>
          </a:ln>
        </p:spPr>
      </p:sp>
      <p:sp>
        <p:nvSpPr>
          <p:cNvPr id="14" name="Text 12"/>
          <p:cNvSpPr/>
          <p:nvPr/>
        </p:nvSpPr>
        <p:spPr>
          <a:xfrm>
            <a:off x="519379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15–25</a:t>
            </a:r>
            <a:endParaRPr lang="en-US" sz="850" dirty="0"/>
          </a:p>
        </p:txBody>
      </p:sp>
      <p:sp>
        <p:nvSpPr>
          <p:cNvPr id="15" name="Text 13"/>
          <p:cNvSpPr/>
          <p:nvPr/>
        </p:nvSpPr>
        <p:spPr>
          <a:xfrm>
            <a:off x="502920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Annotation</a:t>
            </a:r>
            <a:endParaRPr lang="en-US" sz="1300" dirty="0"/>
          </a:p>
        </p:txBody>
      </p:sp>
      <p:sp>
        <p:nvSpPr>
          <p:cNvPr id="16" name="Text 14"/>
          <p:cNvSpPr/>
          <p:nvPr/>
        </p:nvSpPr>
        <p:spPr>
          <a:xfrm>
            <a:off x="489204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emotion labels were made</a:t>
            </a:r>
            <a:endParaRPr lang="en-US" sz="1050" dirty="0"/>
          </a:p>
        </p:txBody>
      </p:sp>
      <p:sp>
        <p:nvSpPr>
          <p:cNvPr id="17" name="Shape 15"/>
          <p:cNvSpPr/>
          <p:nvPr/>
        </p:nvSpPr>
        <p:spPr>
          <a:xfrm>
            <a:off x="7360920" y="1554480"/>
            <a:ext cx="1005840" cy="320040"/>
          </a:xfrm>
          <a:prstGeom prst="roundRect">
            <a:avLst>
              <a:gd name="adj" fmla="val 17143"/>
            </a:avLst>
          </a:prstGeom>
          <a:solidFill>
            <a:srgbClr val="FF6B6B"/>
          </a:solidFill>
          <a:ln w="12700">
            <a:solidFill>
              <a:srgbClr val="FF6B6B">
                <a:alpha val="0"/>
              </a:srgbClr>
            </a:solidFill>
            <a:prstDash val="solid"/>
          </a:ln>
        </p:spPr>
      </p:sp>
      <p:sp>
        <p:nvSpPr>
          <p:cNvPr id="18" name="Text 16"/>
          <p:cNvSpPr/>
          <p:nvPr/>
        </p:nvSpPr>
        <p:spPr>
          <a:xfrm>
            <a:off x="743407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25–35</a:t>
            </a:r>
            <a:endParaRPr lang="en-US" sz="850" dirty="0"/>
          </a:p>
        </p:txBody>
      </p:sp>
      <p:sp>
        <p:nvSpPr>
          <p:cNvPr id="19" name="Text 17"/>
          <p:cNvSpPr/>
          <p:nvPr/>
        </p:nvSpPr>
        <p:spPr>
          <a:xfrm>
            <a:off x="726948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Evidence</a:t>
            </a:r>
            <a:endParaRPr lang="en-US" sz="1300" dirty="0"/>
          </a:p>
        </p:txBody>
      </p:sp>
      <p:sp>
        <p:nvSpPr>
          <p:cNvPr id="20" name="Text 18"/>
          <p:cNvSpPr/>
          <p:nvPr/>
        </p:nvSpPr>
        <p:spPr>
          <a:xfrm>
            <a:off x="713232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What the corpus contains</a:t>
            </a:r>
            <a:endParaRPr lang="en-US" sz="1050" dirty="0"/>
          </a:p>
        </p:txBody>
      </p:sp>
      <p:sp>
        <p:nvSpPr>
          <p:cNvPr id="21" name="Shape 19"/>
          <p:cNvSpPr/>
          <p:nvPr/>
        </p:nvSpPr>
        <p:spPr>
          <a:xfrm>
            <a:off x="9601200" y="1554480"/>
            <a:ext cx="1005840" cy="320040"/>
          </a:xfrm>
          <a:prstGeom prst="roundRect">
            <a:avLst>
              <a:gd name="adj" fmla="val 17143"/>
            </a:avLst>
          </a:prstGeom>
          <a:solidFill>
            <a:srgbClr val="42B883"/>
          </a:solidFill>
          <a:ln w="12700">
            <a:solidFill>
              <a:srgbClr val="42B883">
                <a:alpha val="0"/>
              </a:srgbClr>
            </a:solidFill>
            <a:prstDash val="solid"/>
          </a:ln>
        </p:spPr>
      </p:sp>
      <p:sp>
        <p:nvSpPr>
          <p:cNvPr id="22" name="Text 20"/>
          <p:cNvSpPr/>
          <p:nvPr/>
        </p:nvSpPr>
        <p:spPr>
          <a:xfrm>
            <a:off x="967435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35–40</a:t>
            </a:r>
            <a:endParaRPr lang="en-US" sz="850" dirty="0"/>
          </a:p>
        </p:txBody>
      </p:sp>
      <p:sp>
        <p:nvSpPr>
          <p:cNvPr id="23" name="Text 21"/>
          <p:cNvSpPr/>
          <p:nvPr/>
        </p:nvSpPr>
        <p:spPr>
          <a:xfrm>
            <a:off x="950976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Implications</a:t>
            </a:r>
            <a:endParaRPr lang="en-US" sz="1300" dirty="0"/>
          </a:p>
        </p:txBody>
      </p:sp>
      <p:sp>
        <p:nvSpPr>
          <p:cNvPr id="24" name="Text 22"/>
          <p:cNvSpPr/>
          <p:nvPr/>
        </p:nvSpPr>
        <p:spPr>
          <a:xfrm>
            <a:off x="937260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to use it critically</a:t>
            </a:r>
            <a:endParaRPr lang="en-US" sz="1050" dirty="0"/>
          </a:p>
        </p:txBody>
      </p:sp>
      <p:sp>
        <p:nvSpPr>
          <p:cNvPr id="25" name="Shape 23"/>
          <p:cNvSpPr/>
          <p:nvPr/>
        </p:nvSpPr>
        <p:spPr>
          <a:xfrm>
            <a:off x="1097280" y="3749040"/>
            <a:ext cx="9875520" cy="960120"/>
          </a:xfrm>
          <a:prstGeom prst="roundRect">
            <a:avLst>
              <a:gd name="adj" fmla="val 7619"/>
            </a:avLst>
          </a:prstGeom>
          <a:solidFill>
            <a:srgbClr val="F5F7FA"/>
          </a:solidFill>
          <a:ln w="12700">
            <a:solidFill>
              <a:srgbClr val="E4E7EB"/>
            </a:solidFill>
            <a:prstDash val="solid"/>
          </a:ln>
        </p:spPr>
      </p:sp>
      <p:sp>
        <p:nvSpPr>
          <p:cNvPr id="26" name="Text 24"/>
          <p:cNvSpPr/>
          <p:nvPr/>
        </p:nvSpPr>
        <p:spPr>
          <a:xfrm>
            <a:off x="1417320" y="4050792"/>
            <a:ext cx="9326880" cy="320040"/>
          </a:xfrm>
          <a:prstGeom prst="rect">
            <a:avLst/>
          </a:prstGeom>
          <a:noFill/>
          <a:ln/>
        </p:spPr>
        <p:txBody>
          <a:bodyPr wrap="square" lIns="0" tIns="0" rIns="0" bIns="0" rtlCol="0" anchor="ctr"/>
          <a:lstStyle/>
          <a:p>
            <a:pPr algn="ctr" indent="0" marL="0">
              <a:buNone/>
            </a:pPr>
            <a:r>
              <a:rPr lang="en-US" sz="1600" b="1" dirty="0">
                <a:solidFill>
                  <a:srgbClr val="102A43"/>
                </a:solidFill>
                <a:latin typeface="Arial" pitchFamily="34" charset="0"/>
                <a:ea typeface="Arial" pitchFamily="34" charset="-122"/>
                <a:cs typeface="Arial" pitchFamily="34" charset="-120"/>
              </a:rPr>
              <a:t>Recurring question: What kind of emotion does the dataset make easy to see—and what kind does it make hard to see?</a:t>
            </a:r>
            <a:endParaRPr lang="en-US" sz="1600" dirty="0"/>
          </a:p>
        </p:txBody>
      </p:sp>
      <p:sp>
        <p:nvSpPr>
          <p:cNvPr id="27" name="Text 2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roadmap</a:t>
            </a:r>
            <a:endParaRPr lang="en-US" sz="750" dirty="0"/>
          </a:p>
        </p:txBody>
      </p:sp>
      <p:sp>
        <p:nvSpPr>
          <p:cNvPr id="28" name="Text 2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MOTIVATION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Why IEMOCAP mattered</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508760"/>
            <a:ext cx="1371600" cy="475488"/>
          </a:xfrm>
          <a:prstGeom prst="rect">
            <a:avLst/>
          </a:prstGeom>
          <a:noFill/>
          <a:ln/>
        </p:spPr>
        <p:txBody>
          <a:bodyPr wrap="square" lIns="0" tIns="0" rIns="0" bIns="0" rtlCol="0" anchor="ctr"/>
          <a:lstStyle/>
          <a:p>
            <a:pPr algn="ctr" indent="0" marL="0">
              <a:buNone/>
            </a:pPr>
            <a:r>
              <a:rPr lang="en-US" sz="2800" b="1" dirty="0">
                <a:solidFill>
                  <a:srgbClr val="00A8A8"/>
                </a:solidFill>
                <a:latin typeface="Arial" pitchFamily="34" charset="0"/>
                <a:ea typeface="Arial" pitchFamily="34" charset="-122"/>
                <a:cs typeface="Arial" pitchFamily="34" charset="-120"/>
              </a:rPr>
              <a:t>12h</a:t>
            </a:r>
            <a:endParaRPr lang="en-US" sz="2800" dirty="0"/>
          </a:p>
        </p:txBody>
      </p:sp>
      <p:sp>
        <p:nvSpPr>
          <p:cNvPr id="6" name="Text 4"/>
          <p:cNvSpPr/>
          <p:nvPr/>
        </p:nvSpPr>
        <p:spPr>
          <a:xfrm>
            <a:off x="822960" y="2011680"/>
            <a:ext cx="137160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approx. multimodal data</a:t>
            </a:r>
            <a:endParaRPr lang="en-US" sz="1050" dirty="0"/>
          </a:p>
        </p:txBody>
      </p:sp>
      <p:sp>
        <p:nvSpPr>
          <p:cNvPr id="7" name="Text 5"/>
          <p:cNvSpPr/>
          <p:nvPr/>
        </p:nvSpPr>
        <p:spPr>
          <a:xfrm>
            <a:off x="2514600" y="1508760"/>
            <a:ext cx="1554480" cy="475488"/>
          </a:xfrm>
          <a:prstGeom prst="rect">
            <a:avLst/>
          </a:prstGeom>
          <a:noFill/>
          <a:ln/>
        </p:spPr>
        <p:txBody>
          <a:bodyPr wrap="square" lIns="0" tIns="0" rIns="0" bIns="0" rtlCol="0" anchor="ctr"/>
          <a:lstStyle/>
          <a:p>
            <a:pPr algn="ctr" indent="0" marL="0">
              <a:buNone/>
            </a:pPr>
            <a:r>
              <a:rPr lang="en-US" sz="2800" b="1" dirty="0">
                <a:solidFill>
                  <a:srgbClr val="7C3AED"/>
                </a:solidFill>
                <a:latin typeface="Arial" pitchFamily="34" charset="0"/>
                <a:ea typeface="Arial" pitchFamily="34" charset="-122"/>
                <a:cs typeface="Arial" pitchFamily="34" charset="-120"/>
              </a:rPr>
              <a:t>10</a:t>
            </a:r>
            <a:endParaRPr lang="en-US" sz="2800" dirty="0"/>
          </a:p>
        </p:txBody>
      </p:sp>
      <p:sp>
        <p:nvSpPr>
          <p:cNvPr id="8" name="Text 6"/>
          <p:cNvSpPr/>
          <p:nvPr/>
        </p:nvSpPr>
        <p:spPr>
          <a:xfrm>
            <a:off x="2514600" y="2011680"/>
            <a:ext cx="155448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actors in 5 dyads</a:t>
            </a:r>
            <a:endParaRPr lang="en-US" sz="1050" dirty="0"/>
          </a:p>
        </p:txBody>
      </p:sp>
      <p:sp>
        <p:nvSpPr>
          <p:cNvPr id="9" name="Text 7"/>
          <p:cNvSpPr/>
          <p:nvPr/>
        </p:nvSpPr>
        <p:spPr>
          <a:xfrm>
            <a:off x="4343400" y="1508760"/>
            <a:ext cx="164592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10,039</a:t>
            </a:r>
            <a:endParaRPr lang="en-US" sz="2800" dirty="0"/>
          </a:p>
        </p:txBody>
      </p:sp>
      <p:sp>
        <p:nvSpPr>
          <p:cNvPr id="10" name="Text 8"/>
          <p:cNvSpPr/>
          <p:nvPr/>
        </p:nvSpPr>
        <p:spPr>
          <a:xfrm>
            <a:off x="4343400" y="2011680"/>
            <a:ext cx="164592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dialog turns</a:t>
            </a:r>
            <a:endParaRPr lang="en-US" sz="1050" dirty="0"/>
          </a:p>
        </p:txBody>
      </p:sp>
      <p:sp>
        <p:nvSpPr>
          <p:cNvPr id="11" name="Text 9"/>
          <p:cNvSpPr/>
          <p:nvPr/>
        </p:nvSpPr>
        <p:spPr>
          <a:xfrm>
            <a:off x="6309360" y="1508760"/>
            <a:ext cx="1463040" cy="475488"/>
          </a:xfrm>
          <a:prstGeom prst="rect">
            <a:avLst/>
          </a:prstGeom>
          <a:noFill/>
          <a:ln/>
        </p:spPr>
        <p:txBody>
          <a:bodyPr wrap="square" lIns="0" tIns="0" rIns="0" bIns="0" rtlCol="0" anchor="ctr"/>
          <a:lstStyle/>
          <a:p>
            <a:pPr algn="ctr" indent="0" marL="0">
              <a:buNone/>
            </a:pPr>
            <a:r>
              <a:rPr lang="en-US" sz="2800" b="1" dirty="0">
                <a:solidFill>
                  <a:srgbClr val="F4B400"/>
                </a:solidFill>
                <a:latin typeface="Arial" pitchFamily="34" charset="0"/>
                <a:ea typeface="Arial" pitchFamily="34" charset="-122"/>
                <a:cs typeface="Arial" pitchFamily="34" charset="-120"/>
              </a:rPr>
              <a:t>61</a:t>
            </a:r>
            <a:endParaRPr lang="en-US" sz="2800" dirty="0"/>
          </a:p>
        </p:txBody>
      </p:sp>
      <p:sp>
        <p:nvSpPr>
          <p:cNvPr id="12" name="Text 10"/>
          <p:cNvSpPr/>
          <p:nvPr/>
        </p:nvSpPr>
        <p:spPr>
          <a:xfrm>
            <a:off x="6309360" y="2011680"/>
            <a:ext cx="146304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motion markers</a:t>
            </a:r>
            <a:endParaRPr lang="en-US" sz="1050" dirty="0"/>
          </a:p>
        </p:txBody>
      </p:sp>
      <p:sp>
        <p:nvSpPr>
          <p:cNvPr id="13" name="Text 11"/>
          <p:cNvSpPr/>
          <p:nvPr/>
        </p:nvSpPr>
        <p:spPr>
          <a:xfrm>
            <a:off x="8046720" y="1508760"/>
            <a:ext cx="1554480" cy="475488"/>
          </a:xfrm>
          <a:prstGeom prst="rect">
            <a:avLst/>
          </a:prstGeom>
          <a:noFill/>
          <a:ln/>
        </p:spPr>
        <p:txBody>
          <a:bodyPr wrap="square" lIns="0" tIns="0" rIns="0" bIns="0" rtlCol="0" anchor="ctr"/>
          <a:lstStyle/>
          <a:p>
            <a:pPr algn="ctr" indent="0" marL="0">
              <a:buNone/>
            </a:pPr>
            <a:r>
              <a:rPr lang="en-US" sz="2800" b="1" dirty="0">
                <a:solidFill>
                  <a:srgbClr val="42B883"/>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8046720" y="2011680"/>
            <a:ext cx="155448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human annotators</a:t>
            </a:r>
            <a:endParaRPr lang="en-US" sz="1050" dirty="0"/>
          </a:p>
        </p:txBody>
      </p:sp>
      <p:sp>
        <p:nvSpPr>
          <p:cNvPr id="15" name="Text 13"/>
          <p:cNvSpPr/>
          <p:nvPr/>
        </p:nvSpPr>
        <p:spPr>
          <a:xfrm>
            <a:off x="1051560" y="3337560"/>
            <a:ext cx="9875520" cy="1508760"/>
          </a:xfrm>
          <a:prstGeom prst="rect">
            <a:avLst/>
          </a:prstGeom>
          <a:noFill/>
          <a:ln/>
        </p:spPr>
        <p:txBody>
          <a:bodyPr wrap="square" lIns="381" tIns="381" rIns="381" bIns="381" rtlCol="0" anchor="t">
            <a:normAutofit/>
          </a:bodyPr>
          <a:lstStyle/>
          <a:p>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Emotion is multimodal: speech, face, head, hands, posture, and timing interact.</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7C3AED"/>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Many earlier corpora were isolated sentences, monologues, or single-modality speech.</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FF6B6B"/>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IEMOCAP asked how to preserve enough context for interaction while keeping enough control for modeling.</a:t>
            </a:r>
            <a:endParaRPr lang="en-US" sz="1550" dirty="0"/>
          </a:p>
        </p:txBody>
      </p:sp>
      <p:sp>
        <p:nvSpPr>
          <p:cNvPr id="16" name="Text 1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motivation</a:t>
            </a:r>
            <a:endParaRPr lang="en-US" sz="750" dirty="0"/>
          </a:p>
        </p:txBody>
      </p:sp>
      <p:sp>
        <p:nvSpPr>
          <p:cNvPr id="17" name="Text 1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PROBLEM</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The dataset gap: what earlier corpora missed</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685800" y="1417320"/>
            <a:ext cx="2377440" cy="1417320"/>
          </a:xfrm>
          <a:prstGeom prst="roundRect">
            <a:avLst>
              <a:gd name="adj" fmla="val 5161"/>
            </a:avLst>
          </a:prstGeom>
          <a:solidFill>
            <a:srgbClr val="00A8A8"/>
          </a:solidFill>
          <a:ln w="12700">
            <a:solidFill>
              <a:srgbClr val="00A8A8">
                <a:alpha val="0"/>
              </a:srgbClr>
            </a:solidFill>
            <a:prstDash val="solid"/>
          </a:ln>
        </p:spPr>
      </p:sp>
      <p:sp>
        <p:nvSpPr>
          <p:cNvPr id="6" name="Text 4"/>
          <p:cNvSpPr/>
          <p:nvPr/>
        </p:nvSpPr>
        <p:spPr>
          <a:xfrm>
            <a:off x="868680" y="16916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Monologues</a:t>
            </a:r>
            <a:endParaRPr lang="en-US" sz="1600" dirty="0"/>
          </a:p>
        </p:txBody>
      </p:sp>
      <p:sp>
        <p:nvSpPr>
          <p:cNvPr id="7" name="Text 5"/>
          <p:cNvSpPr/>
          <p:nvPr/>
        </p:nvSpPr>
        <p:spPr>
          <a:xfrm>
            <a:off x="868680" y="2075688"/>
            <a:ext cx="2011680" cy="438912"/>
          </a:xfrm>
          <a:prstGeom prst="rect">
            <a:avLst/>
          </a:prstGeom>
          <a:noFill/>
          <a:ln/>
        </p:spPr>
        <p:txBody>
          <a:bodyPr wrap="square" lIns="254" tIns="254" rIns="254" bIns="254" rtlCol="0" anchor="ctr">
            <a:normAutofit/>
          </a:bodyPr>
          <a:lstStyle/>
          <a:p>
            <a:pPr algn="ctr" indent="0" marL="0">
              <a:buNone/>
            </a:pPr>
            <a:r>
              <a:rPr lang="en-US" sz="1050" dirty="0">
                <a:solidFill>
                  <a:srgbClr val="FFFFFF"/>
                </a:solidFill>
                <a:latin typeface="Arial" pitchFamily="34" charset="0"/>
                <a:ea typeface="Arial" pitchFamily="34" charset="-122"/>
                <a:cs typeface="Arial" pitchFamily="34" charset="-120"/>
              </a:rPr>
              <a:t>No partner, little interactional contingency</a:t>
            </a:r>
            <a:endParaRPr lang="en-US" sz="1050" dirty="0"/>
          </a:p>
        </p:txBody>
      </p:sp>
      <p:sp>
        <p:nvSpPr>
          <p:cNvPr id="8" name="Shape 6"/>
          <p:cNvSpPr/>
          <p:nvPr/>
        </p:nvSpPr>
        <p:spPr>
          <a:xfrm>
            <a:off x="3474720" y="1417320"/>
            <a:ext cx="2377440" cy="1417320"/>
          </a:xfrm>
          <a:prstGeom prst="roundRect">
            <a:avLst>
              <a:gd name="adj" fmla="val 5161"/>
            </a:avLst>
          </a:prstGeom>
          <a:solidFill>
            <a:srgbClr val="F4B400"/>
          </a:solidFill>
          <a:ln w="12700">
            <a:solidFill>
              <a:srgbClr val="F4B400">
                <a:alpha val="0"/>
              </a:srgbClr>
            </a:solidFill>
            <a:prstDash val="solid"/>
          </a:ln>
        </p:spPr>
      </p:sp>
      <p:sp>
        <p:nvSpPr>
          <p:cNvPr id="9" name="Text 7"/>
          <p:cNvSpPr/>
          <p:nvPr/>
        </p:nvSpPr>
        <p:spPr>
          <a:xfrm>
            <a:off x="3657600" y="16916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Isolated speech</a:t>
            </a:r>
            <a:endParaRPr lang="en-US" sz="1600" dirty="0"/>
          </a:p>
        </p:txBody>
      </p:sp>
      <p:sp>
        <p:nvSpPr>
          <p:cNvPr id="10" name="Text 8"/>
          <p:cNvSpPr/>
          <p:nvPr/>
        </p:nvSpPr>
        <p:spPr>
          <a:xfrm>
            <a:off x="3657600" y="2075688"/>
            <a:ext cx="2011680" cy="438912"/>
          </a:xfrm>
          <a:prstGeom prst="rect">
            <a:avLst/>
          </a:prstGeom>
          <a:noFill/>
          <a:ln/>
        </p:spPr>
        <p:txBody>
          <a:bodyPr wrap="square" lIns="254" tIns="254" rIns="254" bIns="254" rtlCol="0" anchor="ctr">
            <a:normAutofit/>
          </a:bodyPr>
          <a:lstStyle/>
          <a:p>
            <a:pPr algn="ctr" indent="0" marL="0">
              <a:buNone/>
            </a:pPr>
            <a:r>
              <a:rPr lang="en-US" sz="1050" dirty="0">
                <a:solidFill>
                  <a:srgbClr val="FFFFFF"/>
                </a:solidFill>
                <a:latin typeface="Arial" pitchFamily="34" charset="0"/>
                <a:ea typeface="Arial" pitchFamily="34" charset="-122"/>
                <a:cs typeface="Arial" pitchFamily="34" charset="-120"/>
              </a:rPr>
              <a:t>Short read utterances with weak discourse context</a:t>
            </a:r>
            <a:endParaRPr lang="en-US" sz="1050" dirty="0"/>
          </a:p>
        </p:txBody>
      </p:sp>
      <p:sp>
        <p:nvSpPr>
          <p:cNvPr id="11" name="Shape 9"/>
          <p:cNvSpPr/>
          <p:nvPr/>
        </p:nvSpPr>
        <p:spPr>
          <a:xfrm>
            <a:off x="6263640" y="1417320"/>
            <a:ext cx="2377440" cy="1417320"/>
          </a:xfrm>
          <a:prstGeom prst="roundRect">
            <a:avLst>
              <a:gd name="adj" fmla="val 5161"/>
            </a:avLst>
          </a:prstGeom>
          <a:solidFill>
            <a:srgbClr val="7C3AED"/>
          </a:solidFill>
          <a:ln w="12700">
            <a:solidFill>
              <a:srgbClr val="7C3AED">
                <a:alpha val="0"/>
              </a:srgbClr>
            </a:solidFill>
            <a:prstDash val="solid"/>
          </a:ln>
        </p:spPr>
      </p:sp>
      <p:sp>
        <p:nvSpPr>
          <p:cNvPr id="12" name="Text 10"/>
          <p:cNvSpPr/>
          <p:nvPr/>
        </p:nvSpPr>
        <p:spPr>
          <a:xfrm>
            <a:off x="6446520" y="16916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Audio-only</a:t>
            </a:r>
            <a:endParaRPr lang="en-US" sz="1600" dirty="0"/>
          </a:p>
        </p:txBody>
      </p:sp>
      <p:sp>
        <p:nvSpPr>
          <p:cNvPr id="13" name="Text 11"/>
          <p:cNvSpPr/>
          <p:nvPr/>
        </p:nvSpPr>
        <p:spPr>
          <a:xfrm>
            <a:off x="6446520" y="2075688"/>
            <a:ext cx="2011680" cy="438912"/>
          </a:xfrm>
          <a:prstGeom prst="rect">
            <a:avLst/>
          </a:prstGeom>
          <a:noFill/>
          <a:ln/>
        </p:spPr>
        <p:txBody>
          <a:bodyPr wrap="square" lIns="254" tIns="254" rIns="254" bIns="254" rtlCol="0" anchor="ctr">
            <a:normAutofit/>
          </a:bodyPr>
          <a:lstStyle/>
          <a:p>
            <a:pPr algn="ctr" indent="0" marL="0">
              <a:buNone/>
            </a:pPr>
            <a:r>
              <a:rPr lang="en-US" sz="1050" dirty="0">
                <a:solidFill>
                  <a:srgbClr val="FFFFFF"/>
                </a:solidFill>
                <a:latin typeface="Arial" pitchFamily="34" charset="0"/>
                <a:ea typeface="Arial" pitchFamily="34" charset="-122"/>
                <a:cs typeface="Arial" pitchFamily="34" charset="-120"/>
              </a:rPr>
              <a:t>No direct observation of facial or gestural cues</a:t>
            </a:r>
            <a:endParaRPr lang="en-US" sz="1050" dirty="0"/>
          </a:p>
        </p:txBody>
      </p:sp>
      <p:sp>
        <p:nvSpPr>
          <p:cNvPr id="14" name="Shape 12"/>
          <p:cNvSpPr/>
          <p:nvPr/>
        </p:nvSpPr>
        <p:spPr>
          <a:xfrm>
            <a:off x="9052560" y="1417320"/>
            <a:ext cx="2377440" cy="1417320"/>
          </a:xfrm>
          <a:prstGeom prst="roundRect">
            <a:avLst>
              <a:gd name="adj" fmla="val 5161"/>
            </a:avLst>
          </a:prstGeom>
          <a:solidFill>
            <a:srgbClr val="FF6B6B"/>
          </a:solidFill>
          <a:ln w="12700">
            <a:solidFill>
              <a:srgbClr val="FF6B6B">
                <a:alpha val="0"/>
              </a:srgbClr>
            </a:solidFill>
            <a:prstDash val="solid"/>
          </a:ln>
        </p:spPr>
      </p:sp>
      <p:sp>
        <p:nvSpPr>
          <p:cNvPr id="15" name="Text 13"/>
          <p:cNvSpPr/>
          <p:nvPr/>
        </p:nvSpPr>
        <p:spPr>
          <a:xfrm>
            <a:off x="9235440" y="16916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Tiny samples</a:t>
            </a:r>
            <a:endParaRPr lang="en-US" sz="1600" dirty="0"/>
          </a:p>
        </p:txBody>
      </p:sp>
      <p:sp>
        <p:nvSpPr>
          <p:cNvPr id="16" name="Text 14"/>
          <p:cNvSpPr/>
          <p:nvPr/>
        </p:nvSpPr>
        <p:spPr>
          <a:xfrm>
            <a:off x="9235440" y="2075688"/>
            <a:ext cx="2011680" cy="438912"/>
          </a:xfrm>
          <a:prstGeom prst="rect">
            <a:avLst/>
          </a:prstGeom>
          <a:noFill/>
          <a:ln/>
        </p:spPr>
        <p:txBody>
          <a:bodyPr wrap="square" lIns="254" tIns="254" rIns="254" bIns="254" rtlCol="0" anchor="ctr">
            <a:normAutofit/>
          </a:bodyPr>
          <a:lstStyle/>
          <a:p>
            <a:pPr algn="ctr" indent="0" marL="0">
              <a:buNone/>
            </a:pPr>
            <a:r>
              <a:rPr lang="en-US" sz="1050" dirty="0">
                <a:solidFill>
                  <a:srgbClr val="FFFFFF"/>
                </a:solidFill>
                <a:latin typeface="Arial" pitchFamily="34" charset="0"/>
                <a:ea typeface="Arial" pitchFamily="34" charset="-122"/>
                <a:cs typeface="Arial" pitchFamily="34" charset="-120"/>
              </a:rPr>
              <a:t>Too few speakers or too little data to learn robust patterns</a:t>
            </a:r>
            <a:endParaRPr lang="en-US" sz="1050" dirty="0"/>
          </a:p>
        </p:txBody>
      </p:sp>
      <p:sp>
        <p:nvSpPr>
          <p:cNvPr id="17" name="Shape 15"/>
          <p:cNvSpPr/>
          <p:nvPr/>
        </p:nvSpPr>
        <p:spPr>
          <a:xfrm>
            <a:off x="1828800" y="4023360"/>
            <a:ext cx="1463040" cy="713232"/>
          </a:xfrm>
          <a:prstGeom prst="roundRect">
            <a:avLst>
              <a:gd name="adj" fmla="val 7692"/>
            </a:avLst>
          </a:prstGeom>
          <a:solidFill>
            <a:srgbClr val="3E4C59"/>
          </a:solidFill>
          <a:ln w="12700">
            <a:solidFill>
              <a:srgbClr val="3E4C59">
                <a:alpha val="0"/>
              </a:srgbClr>
            </a:solidFill>
            <a:prstDash val="solid"/>
          </a:ln>
        </p:spPr>
      </p:sp>
      <p:sp>
        <p:nvSpPr>
          <p:cNvPr id="18" name="Text 16"/>
          <p:cNvSpPr/>
          <p:nvPr/>
        </p:nvSpPr>
        <p:spPr>
          <a:xfrm>
            <a:off x="1901952" y="419709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scope</a:t>
            </a:r>
            <a:endParaRPr lang="en-US" sz="1100" dirty="0"/>
          </a:p>
        </p:txBody>
      </p:sp>
      <p:sp>
        <p:nvSpPr>
          <p:cNvPr id="19" name="Shape 17"/>
          <p:cNvSpPr/>
          <p:nvPr/>
        </p:nvSpPr>
        <p:spPr>
          <a:xfrm>
            <a:off x="3364992" y="4251960"/>
            <a:ext cx="630936" cy="256032"/>
          </a:xfrm>
          <a:prstGeom prst="chevron">
            <a:avLst/>
          </a:prstGeom>
          <a:solidFill>
            <a:srgbClr val="CBD2D9"/>
          </a:solidFill>
          <a:ln w="12700">
            <a:solidFill>
              <a:srgbClr val="CBD2D9">
                <a:alpha val="0"/>
              </a:srgbClr>
            </a:solidFill>
            <a:prstDash val="solid"/>
          </a:ln>
        </p:spPr>
      </p:sp>
      <p:sp>
        <p:nvSpPr>
          <p:cNvPr id="20" name="Shape 18"/>
          <p:cNvSpPr/>
          <p:nvPr/>
        </p:nvSpPr>
        <p:spPr>
          <a:xfrm>
            <a:off x="4069080" y="4023360"/>
            <a:ext cx="1463040" cy="713232"/>
          </a:xfrm>
          <a:prstGeom prst="roundRect">
            <a:avLst>
              <a:gd name="adj" fmla="val 7692"/>
            </a:avLst>
          </a:prstGeom>
          <a:solidFill>
            <a:srgbClr val="3E4C59"/>
          </a:solidFill>
          <a:ln w="12700">
            <a:solidFill>
              <a:srgbClr val="3E4C59">
                <a:alpha val="0"/>
              </a:srgbClr>
            </a:solidFill>
            <a:prstDash val="solid"/>
          </a:ln>
        </p:spPr>
      </p:sp>
      <p:sp>
        <p:nvSpPr>
          <p:cNvPr id="21" name="Text 19"/>
          <p:cNvSpPr/>
          <p:nvPr/>
        </p:nvSpPr>
        <p:spPr>
          <a:xfrm>
            <a:off x="4142232" y="419709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naturalness</a:t>
            </a:r>
            <a:endParaRPr lang="en-US" sz="1100" dirty="0"/>
          </a:p>
        </p:txBody>
      </p:sp>
      <p:sp>
        <p:nvSpPr>
          <p:cNvPr id="22" name="Shape 20"/>
          <p:cNvSpPr/>
          <p:nvPr/>
        </p:nvSpPr>
        <p:spPr>
          <a:xfrm>
            <a:off x="5605272" y="4251960"/>
            <a:ext cx="630936" cy="256032"/>
          </a:xfrm>
          <a:prstGeom prst="chevron">
            <a:avLst/>
          </a:prstGeom>
          <a:solidFill>
            <a:srgbClr val="CBD2D9"/>
          </a:solidFill>
          <a:ln w="12700">
            <a:solidFill>
              <a:srgbClr val="CBD2D9">
                <a:alpha val="0"/>
              </a:srgbClr>
            </a:solidFill>
            <a:prstDash val="solid"/>
          </a:ln>
        </p:spPr>
      </p:sp>
      <p:sp>
        <p:nvSpPr>
          <p:cNvPr id="23" name="Shape 21"/>
          <p:cNvSpPr/>
          <p:nvPr/>
        </p:nvSpPr>
        <p:spPr>
          <a:xfrm>
            <a:off x="6309360" y="4023360"/>
            <a:ext cx="1463040" cy="713232"/>
          </a:xfrm>
          <a:prstGeom prst="roundRect">
            <a:avLst>
              <a:gd name="adj" fmla="val 7692"/>
            </a:avLst>
          </a:prstGeom>
          <a:solidFill>
            <a:srgbClr val="3E4C59"/>
          </a:solidFill>
          <a:ln w="12700">
            <a:solidFill>
              <a:srgbClr val="3E4C59">
                <a:alpha val="0"/>
              </a:srgbClr>
            </a:solidFill>
            <a:prstDash val="solid"/>
          </a:ln>
        </p:spPr>
      </p:sp>
      <p:sp>
        <p:nvSpPr>
          <p:cNvPr id="24" name="Text 22"/>
          <p:cNvSpPr/>
          <p:nvPr/>
        </p:nvSpPr>
        <p:spPr>
          <a:xfrm>
            <a:off x="6382512" y="419709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context</a:t>
            </a:r>
            <a:endParaRPr lang="en-US" sz="1100" dirty="0"/>
          </a:p>
        </p:txBody>
      </p:sp>
      <p:sp>
        <p:nvSpPr>
          <p:cNvPr id="25" name="Shape 23"/>
          <p:cNvSpPr/>
          <p:nvPr/>
        </p:nvSpPr>
        <p:spPr>
          <a:xfrm>
            <a:off x="7845552" y="4251960"/>
            <a:ext cx="630936" cy="256032"/>
          </a:xfrm>
          <a:prstGeom prst="chevron">
            <a:avLst/>
          </a:prstGeom>
          <a:solidFill>
            <a:srgbClr val="CBD2D9"/>
          </a:solidFill>
          <a:ln w="12700">
            <a:solidFill>
              <a:srgbClr val="CBD2D9">
                <a:alpha val="0"/>
              </a:srgbClr>
            </a:solidFill>
            <a:prstDash val="solid"/>
          </a:ln>
        </p:spPr>
      </p:sp>
      <p:sp>
        <p:nvSpPr>
          <p:cNvPr id="26" name="Shape 24"/>
          <p:cNvSpPr/>
          <p:nvPr/>
        </p:nvSpPr>
        <p:spPr>
          <a:xfrm>
            <a:off x="8549640" y="4023360"/>
            <a:ext cx="1463040" cy="713232"/>
          </a:xfrm>
          <a:prstGeom prst="roundRect">
            <a:avLst>
              <a:gd name="adj" fmla="val 7692"/>
            </a:avLst>
          </a:prstGeom>
          <a:solidFill>
            <a:srgbClr val="3E4C59"/>
          </a:solidFill>
          <a:ln w="12700">
            <a:solidFill>
              <a:srgbClr val="3E4C59">
                <a:alpha val="0"/>
              </a:srgbClr>
            </a:solidFill>
            <a:prstDash val="solid"/>
          </a:ln>
        </p:spPr>
      </p:sp>
      <p:sp>
        <p:nvSpPr>
          <p:cNvPr id="27" name="Text 25"/>
          <p:cNvSpPr/>
          <p:nvPr/>
        </p:nvSpPr>
        <p:spPr>
          <a:xfrm>
            <a:off x="8622792" y="419709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descriptors</a:t>
            </a:r>
            <a:endParaRPr lang="en-US" sz="1100" dirty="0"/>
          </a:p>
        </p:txBody>
      </p:sp>
      <p:sp>
        <p:nvSpPr>
          <p:cNvPr id="28" name="Text 26"/>
          <p:cNvSpPr/>
          <p:nvPr/>
        </p:nvSpPr>
        <p:spPr>
          <a:xfrm>
            <a:off x="1463040" y="5120640"/>
            <a:ext cx="9509760" cy="384048"/>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Busso et al. organize the design problem around four axes borrowed from prior reviews of affective corpora.</a:t>
            </a:r>
            <a:endParaRPr lang="en-US" sz="1500" dirty="0"/>
          </a:p>
        </p:txBody>
      </p:sp>
      <p:sp>
        <p:nvSpPr>
          <p:cNvPr id="29" name="Text 2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dataset gap</a:t>
            </a:r>
            <a:endParaRPr lang="en-US" sz="750" dirty="0"/>
          </a:p>
        </p:txBody>
      </p:sp>
      <p:sp>
        <p:nvSpPr>
          <p:cNvPr id="30" name="Text 2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METHOD</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Design tension: naturalness vs control</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777240" y="1691640"/>
            <a:ext cx="2194560" cy="320040"/>
          </a:xfrm>
          <a:prstGeom prst="rect">
            <a:avLst/>
          </a:prstGeom>
          <a:noFill/>
          <a:ln/>
        </p:spPr>
        <p:txBody>
          <a:bodyPr wrap="square" lIns="0" tIns="0" rIns="0" bIns="0" rtlCol="0" anchor="ctr"/>
          <a:lstStyle/>
          <a:p>
            <a:pPr algn="ctr" indent="0" marL="0">
              <a:buNone/>
            </a:pPr>
            <a:r>
              <a:rPr lang="en-US" sz="1700" b="1" dirty="0">
                <a:solidFill>
                  <a:srgbClr val="00A8A8"/>
                </a:solidFill>
                <a:latin typeface="Arial" pitchFamily="34" charset="0"/>
                <a:ea typeface="Arial" pitchFamily="34" charset="-122"/>
                <a:cs typeface="Arial" pitchFamily="34" charset="-120"/>
              </a:rPr>
              <a:t>Natural interaction</a:t>
            </a:r>
            <a:endParaRPr lang="en-US" sz="1700" dirty="0"/>
          </a:p>
        </p:txBody>
      </p:sp>
      <p:sp>
        <p:nvSpPr>
          <p:cNvPr id="6" name="Text 4"/>
          <p:cNvSpPr/>
          <p:nvPr/>
        </p:nvSpPr>
        <p:spPr>
          <a:xfrm>
            <a:off x="9144000" y="1691640"/>
            <a:ext cx="2377440" cy="320040"/>
          </a:xfrm>
          <a:prstGeom prst="rect">
            <a:avLst/>
          </a:prstGeom>
          <a:noFill/>
          <a:ln/>
        </p:spPr>
        <p:txBody>
          <a:bodyPr wrap="square" lIns="0" tIns="0" rIns="0" bIns="0" rtlCol="0" anchor="ctr"/>
          <a:lstStyle/>
          <a:p>
            <a:pPr algn="ctr" indent="0" marL="0">
              <a:buNone/>
            </a:pPr>
            <a:r>
              <a:rPr lang="en-US" sz="1700" b="1" dirty="0">
                <a:solidFill>
                  <a:srgbClr val="FF6B6B"/>
                </a:solidFill>
                <a:latin typeface="Arial" pitchFamily="34" charset="0"/>
                <a:ea typeface="Arial" pitchFamily="34" charset="-122"/>
                <a:cs typeface="Arial" pitchFamily="34" charset="-120"/>
              </a:rPr>
              <a:t>Experimental control</a:t>
            </a:r>
            <a:endParaRPr lang="en-US" sz="1700" dirty="0"/>
          </a:p>
        </p:txBody>
      </p:sp>
      <p:sp>
        <p:nvSpPr>
          <p:cNvPr id="7" name="Shape 5"/>
          <p:cNvSpPr/>
          <p:nvPr/>
        </p:nvSpPr>
        <p:spPr>
          <a:xfrm>
            <a:off x="1143000" y="2743200"/>
            <a:ext cx="9966960" cy="0"/>
          </a:xfrm>
          <a:prstGeom prst="line">
            <a:avLst/>
          </a:prstGeom>
          <a:noFill/>
          <a:ln w="63500">
            <a:solidFill>
              <a:srgbClr val="CBD2D9"/>
            </a:solidFill>
            <a:prstDash val="solid"/>
            <a:headEnd type="none"/>
            <a:tailEnd type="triangle"/>
          </a:ln>
        </p:spPr>
      </p:sp>
      <p:sp>
        <p:nvSpPr>
          <p:cNvPr id="8" name="Shape 6"/>
          <p:cNvSpPr/>
          <p:nvPr/>
        </p:nvSpPr>
        <p:spPr>
          <a:xfrm>
            <a:off x="3977640" y="2331720"/>
            <a:ext cx="1188720" cy="320040"/>
          </a:xfrm>
          <a:prstGeom prst="roundRect">
            <a:avLst>
              <a:gd name="adj" fmla="val 17143"/>
            </a:avLst>
          </a:prstGeom>
          <a:solidFill>
            <a:srgbClr val="F4B400"/>
          </a:solidFill>
          <a:ln w="12700">
            <a:solidFill>
              <a:srgbClr val="F4B400">
                <a:alpha val="0"/>
              </a:srgbClr>
            </a:solidFill>
            <a:prstDash val="solid"/>
          </a:ln>
        </p:spPr>
      </p:sp>
      <p:sp>
        <p:nvSpPr>
          <p:cNvPr id="9" name="Text 7"/>
          <p:cNvSpPr/>
          <p:nvPr/>
        </p:nvSpPr>
        <p:spPr>
          <a:xfrm>
            <a:off x="4050792" y="2414016"/>
            <a:ext cx="104241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scripts</a:t>
            </a:r>
            <a:endParaRPr lang="en-US" sz="850" dirty="0"/>
          </a:p>
        </p:txBody>
      </p:sp>
      <p:sp>
        <p:nvSpPr>
          <p:cNvPr id="10" name="Shape 8"/>
          <p:cNvSpPr/>
          <p:nvPr/>
        </p:nvSpPr>
        <p:spPr>
          <a:xfrm>
            <a:off x="5440680" y="2331720"/>
            <a:ext cx="1188720" cy="320040"/>
          </a:xfrm>
          <a:prstGeom prst="roundRect">
            <a:avLst>
              <a:gd name="adj" fmla="val 17143"/>
            </a:avLst>
          </a:prstGeom>
          <a:solidFill>
            <a:srgbClr val="00A8A8"/>
          </a:solidFill>
          <a:ln w="12700">
            <a:solidFill>
              <a:srgbClr val="00A8A8">
                <a:alpha val="0"/>
              </a:srgbClr>
            </a:solidFill>
            <a:prstDash val="solid"/>
          </a:ln>
        </p:spPr>
      </p:sp>
      <p:sp>
        <p:nvSpPr>
          <p:cNvPr id="11" name="Text 9"/>
          <p:cNvSpPr/>
          <p:nvPr/>
        </p:nvSpPr>
        <p:spPr>
          <a:xfrm>
            <a:off x="5513832" y="2414016"/>
            <a:ext cx="104241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dyads</a:t>
            </a:r>
            <a:endParaRPr lang="en-US" sz="850" dirty="0"/>
          </a:p>
        </p:txBody>
      </p:sp>
      <p:sp>
        <p:nvSpPr>
          <p:cNvPr id="12" name="Shape 10"/>
          <p:cNvSpPr/>
          <p:nvPr/>
        </p:nvSpPr>
        <p:spPr>
          <a:xfrm>
            <a:off x="6903720" y="2331720"/>
            <a:ext cx="1554480" cy="320040"/>
          </a:xfrm>
          <a:prstGeom prst="roundRect">
            <a:avLst>
              <a:gd name="adj" fmla="val 17143"/>
            </a:avLst>
          </a:prstGeom>
          <a:solidFill>
            <a:srgbClr val="7C3AED"/>
          </a:solidFill>
          <a:ln w="12700">
            <a:solidFill>
              <a:srgbClr val="7C3AED">
                <a:alpha val="0"/>
              </a:srgbClr>
            </a:solidFill>
            <a:prstDash val="solid"/>
          </a:ln>
        </p:spPr>
      </p:sp>
      <p:sp>
        <p:nvSpPr>
          <p:cNvPr id="13" name="Text 11"/>
          <p:cNvSpPr/>
          <p:nvPr/>
        </p:nvSpPr>
        <p:spPr>
          <a:xfrm>
            <a:off x="6976872" y="2414016"/>
            <a:ext cx="140817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improvisation</a:t>
            </a:r>
            <a:endParaRPr lang="en-US" sz="850" dirty="0"/>
          </a:p>
        </p:txBody>
      </p:sp>
      <p:sp>
        <p:nvSpPr>
          <p:cNvPr id="14" name="Text 12"/>
          <p:cNvSpPr/>
          <p:nvPr/>
        </p:nvSpPr>
        <p:spPr>
          <a:xfrm>
            <a:off x="1097280" y="3977640"/>
            <a:ext cx="9875520" cy="1280160"/>
          </a:xfrm>
          <a:prstGeom prst="rect">
            <a:avLst/>
          </a:prstGeom>
          <a:noFill/>
          <a:ln/>
        </p:spPr>
        <p:txBody>
          <a:bodyPr wrap="square" lIns="381" tIns="381" rIns="381" bIns="381" rtlCol="0" anchor="t">
            <a:normAutofit/>
          </a:bodyPr>
          <a:lstStyle/>
          <a:p>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Scripts constrain semantic and emotional content while preserving dialogue structure.</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Improvisational scenarios create freedom for spontaneous verbal expression.</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Experienced actors and a director provide emotional coherence without isolated read-speech artifacts.</a:t>
            </a:r>
            <a:endParaRPr lang="en-US" sz="1550" dirty="0"/>
          </a:p>
        </p:txBody>
      </p:sp>
      <p:sp>
        <p:nvSpPr>
          <p:cNvPr id="15" name="Text 13"/>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design tension</a:t>
            </a:r>
            <a:endParaRPr lang="en-US" sz="750" dirty="0"/>
          </a:p>
        </p:txBody>
      </p:sp>
      <p:sp>
        <p:nvSpPr>
          <p:cNvPr id="16" name="Text 1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METHOD</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Elicitation: two routes to emotion in context</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22960" y="1417320"/>
            <a:ext cx="4892040" cy="2926080"/>
          </a:xfrm>
          <a:prstGeom prst="roundRect">
            <a:avLst>
              <a:gd name="adj" fmla="val 2500"/>
            </a:avLst>
          </a:prstGeom>
          <a:solidFill>
            <a:srgbClr val="E6FFFB"/>
          </a:solidFill>
          <a:ln w="10160">
            <a:solidFill>
              <a:srgbClr val="B2F5EA"/>
            </a:solidFill>
            <a:prstDash val="solid"/>
          </a:ln>
        </p:spPr>
      </p:sp>
      <p:sp>
        <p:nvSpPr>
          <p:cNvPr id="6" name="Text 4"/>
          <p:cNvSpPr/>
          <p:nvPr/>
        </p:nvSpPr>
        <p:spPr>
          <a:xfrm>
            <a:off x="1143000" y="1737360"/>
            <a:ext cx="4206240" cy="256032"/>
          </a:xfrm>
          <a:prstGeom prst="rect">
            <a:avLst/>
          </a:prstGeom>
          <a:noFill/>
          <a:ln/>
        </p:spPr>
        <p:txBody>
          <a:bodyPr wrap="square" lIns="0" tIns="0" rIns="0" bIns="0" rtlCol="0" anchor="ctr"/>
          <a:lstStyle/>
          <a:p>
            <a:pPr indent="0" marL="0">
              <a:buNone/>
            </a:pPr>
            <a:r>
              <a:rPr lang="en-US" sz="2000" b="1" dirty="0">
                <a:solidFill>
                  <a:srgbClr val="102A43"/>
                </a:solidFill>
                <a:latin typeface="Arial" pitchFamily="34" charset="0"/>
                <a:ea typeface="Arial" pitchFamily="34" charset="-122"/>
                <a:cs typeface="Arial" pitchFamily="34" charset="-120"/>
              </a:rPr>
              <a:t>Scripted plays</a:t>
            </a:r>
            <a:endParaRPr lang="en-US" sz="2000" dirty="0"/>
          </a:p>
        </p:txBody>
      </p:sp>
      <p:sp>
        <p:nvSpPr>
          <p:cNvPr id="7" name="Text 5"/>
          <p:cNvSpPr/>
          <p:nvPr/>
        </p:nvSpPr>
        <p:spPr>
          <a:xfrm>
            <a:off x="1143000" y="2240280"/>
            <a:ext cx="4251960" cy="1417320"/>
          </a:xfrm>
          <a:prstGeom prst="rect">
            <a:avLst/>
          </a:prstGeom>
          <a:noFill/>
          <a:ln/>
        </p:spPr>
        <p:txBody>
          <a:bodyPr wrap="square" lIns="381" tIns="381" rIns="381" bIns="381" rtlCol="0" anchor="t">
            <a:normAutofit/>
          </a:bodyPr>
          <a:lstStyle/>
          <a:p>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Three selected 10-minute plays</a:t>
            </a:r>
            <a:pPr indent="0" marL="0">
              <a:buNone/>
            </a:pPr>
            <a:r>
              <a:rPr lang="en-US" sz="1350" dirty="0">
                <a:solidFill>
                  <a:srgbClr val="000000"/>
                </a:solidFill>
                <a:latin typeface="Arial" pitchFamily="34" charset="0"/>
                <a:ea typeface="Arial" pitchFamily="34" charset="-122"/>
                <a:cs typeface="Arial" pitchFamily="34" charset="-120"/>
              </a:rPr>
              <a:t>
</a:t>
            </a:r>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Female and male roles to balance dyads</a:t>
            </a:r>
            <a:pPr indent="0" marL="0">
              <a:buNone/>
            </a:pPr>
            <a:r>
              <a:rPr lang="en-US" sz="1350" dirty="0">
                <a:solidFill>
                  <a:srgbClr val="000000"/>
                </a:solidFill>
                <a:latin typeface="Arial" pitchFamily="34" charset="0"/>
                <a:ea typeface="Arial" pitchFamily="34" charset="-122"/>
                <a:cs typeface="Arial" pitchFamily="34" charset="-120"/>
              </a:rPr>
              <a:t>
</a:t>
            </a:r>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Progressive emotion shifts within a narrative</a:t>
            </a:r>
            <a:endParaRPr lang="en-US" sz="1350" dirty="0"/>
          </a:p>
        </p:txBody>
      </p:sp>
      <p:sp>
        <p:nvSpPr>
          <p:cNvPr id="8" name="Shape 6"/>
          <p:cNvSpPr/>
          <p:nvPr/>
        </p:nvSpPr>
        <p:spPr>
          <a:xfrm>
            <a:off x="6446520" y="1417320"/>
            <a:ext cx="4892040" cy="2926080"/>
          </a:xfrm>
          <a:prstGeom prst="roundRect">
            <a:avLst>
              <a:gd name="adj" fmla="val 2500"/>
            </a:avLst>
          </a:prstGeom>
          <a:solidFill>
            <a:srgbClr val="FFF7E6"/>
          </a:solidFill>
          <a:ln w="10160">
            <a:solidFill>
              <a:srgbClr val="FFE0A3"/>
            </a:solidFill>
            <a:prstDash val="solid"/>
          </a:ln>
        </p:spPr>
      </p:sp>
      <p:sp>
        <p:nvSpPr>
          <p:cNvPr id="9" name="Text 7"/>
          <p:cNvSpPr/>
          <p:nvPr/>
        </p:nvSpPr>
        <p:spPr>
          <a:xfrm>
            <a:off x="6766560" y="1737360"/>
            <a:ext cx="4206240" cy="256032"/>
          </a:xfrm>
          <a:prstGeom prst="rect">
            <a:avLst/>
          </a:prstGeom>
          <a:noFill/>
          <a:ln/>
        </p:spPr>
        <p:txBody>
          <a:bodyPr wrap="square" lIns="0" tIns="0" rIns="0" bIns="0" rtlCol="0" anchor="ctr"/>
          <a:lstStyle/>
          <a:p>
            <a:pPr indent="0" marL="0">
              <a:buNone/>
            </a:pPr>
            <a:r>
              <a:rPr lang="en-US" sz="2000" b="1" dirty="0">
                <a:solidFill>
                  <a:srgbClr val="102A43"/>
                </a:solidFill>
                <a:latin typeface="Arial" pitchFamily="34" charset="0"/>
                <a:ea typeface="Arial" pitchFamily="34" charset="-122"/>
                <a:cs typeface="Arial" pitchFamily="34" charset="-120"/>
              </a:rPr>
              <a:t>Improvised scenarios</a:t>
            </a:r>
            <a:endParaRPr lang="en-US" sz="2000" dirty="0"/>
          </a:p>
        </p:txBody>
      </p:sp>
      <p:sp>
        <p:nvSpPr>
          <p:cNvPr id="10" name="Text 8"/>
          <p:cNvSpPr/>
          <p:nvPr/>
        </p:nvSpPr>
        <p:spPr>
          <a:xfrm>
            <a:off x="6766560" y="2240280"/>
            <a:ext cx="4251960" cy="1417320"/>
          </a:xfrm>
          <a:prstGeom prst="rect">
            <a:avLst/>
          </a:prstGeom>
          <a:noFill/>
          <a:ln/>
        </p:spPr>
        <p:txBody>
          <a:bodyPr wrap="square" lIns="381" tIns="381" rIns="381" bIns="381" rtlCol="0" anchor="t">
            <a:normAutofit/>
          </a:bodyPr>
          <a:lstStyle/>
          <a:p>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DMV frustration, separation sadness, marriage happiness, lost luggage anger...</a:t>
            </a:r>
            <a:pPr indent="0" marL="0">
              <a:buNone/>
            </a:pPr>
            <a:r>
              <a:rPr lang="en-US" sz="1350" dirty="0">
                <a:solidFill>
                  <a:srgbClr val="000000"/>
                </a:solidFill>
                <a:latin typeface="Arial" pitchFamily="34" charset="0"/>
                <a:ea typeface="Arial" pitchFamily="34" charset="-122"/>
                <a:cs typeface="Arial" pitchFamily="34" charset="-120"/>
              </a:rPr>
              <a:t>
</a:t>
            </a:r>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Actors use their own words</a:t>
            </a:r>
            <a:pPr indent="0" marL="0">
              <a:buNone/>
            </a:pPr>
            <a:r>
              <a:rPr lang="en-US" sz="1350" dirty="0">
                <a:solidFill>
                  <a:srgbClr val="000000"/>
                </a:solidFill>
                <a:latin typeface="Arial" pitchFamily="34" charset="0"/>
                <a:ea typeface="Arial" pitchFamily="34" charset="-122"/>
                <a:cs typeface="Arial" pitchFamily="34" charset="-120"/>
              </a:rPr>
              <a:t>
</a:t>
            </a:r>
            <a:pPr indent="0" marL="0">
              <a:buNone/>
            </a:pPr>
            <a:r>
              <a:rPr lang="en-US" sz="1350" b="1" dirty="0">
                <a:solidFill>
                  <a:srgbClr val="00A8A8"/>
                </a:solidFill>
                <a:latin typeface="Arial" pitchFamily="34" charset="0"/>
                <a:ea typeface="Arial" pitchFamily="34" charset="-122"/>
                <a:cs typeface="Arial" pitchFamily="34" charset="-120"/>
              </a:rPr>
              <a:t>● </a:t>
            </a:r>
            <a:pPr indent="0" marL="0">
              <a:buNone/>
            </a:pPr>
            <a:r>
              <a:rPr lang="en-US" sz="1350" dirty="0">
                <a:solidFill>
                  <a:srgbClr val="17202A"/>
                </a:solidFill>
                <a:latin typeface="Arial" pitchFamily="34" charset="0"/>
                <a:ea typeface="Arial" pitchFamily="34" charset="-122"/>
                <a:cs typeface="Arial" pitchFamily="34" charset="-120"/>
              </a:rPr>
              <a:t>Designed around target emotional contexts</a:t>
            </a:r>
            <a:endParaRPr lang="en-US" sz="1350" dirty="0"/>
          </a:p>
        </p:txBody>
      </p:sp>
      <p:sp>
        <p:nvSpPr>
          <p:cNvPr id="11" name="Text 9"/>
          <p:cNvSpPr/>
          <p:nvPr/>
        </p:nvSpPr>
        <p:spPr>
          <a:xfrm>
            <a:off x="1051560" y="5212080"/>
            <a:ext cx="10058400" cy="320040"/>
          </a:xfrm>
          <a:prstGeom prst="rect">
            <a:avLst/>
          </a:prstGeom>
          <a:noFill/>
          <a:ln/>
        </p:spPr>
        <p:txBody>
          <a:bodyPr wrap="square" lIns="381" tIns="381" rIns="381" bIns="381" rtlCol="0" anchor="ctr">
            <a:normAutofit/>
          </a:bodyPr>
          <a:lstStyle/>
          <a:p>
            <a:pPr algn="ctr" indent="0" marL="0">
              <a:buNone/>
            </a:pPr>
            <a:r>
              <a:rPr lang="en-US" sz="1600" b="1" dirty="0">
                <a:solidFill>
                  <a:srgbClr val="102A43"/>
                </a:solidFill>
                <a:latin typeface="Arial" pitchFamily="34" charset="0"/>
                <a:ea typeface="Arial" pitchFamily="34" charset="-122"/>
                <a:cs typeface="Arial" pitchFamily="34" charset="-120"/>
              </a:rPr>
              <a:t>Methodological lesson: elicitation is never neutral; it encodes a theory of what situations produce affect.</a:t>
            </a:r>
            <a:endParaRPr lang="en-US" sz="1600" dirty="0"/>
          </a:p>
        </p:txBody>
      </p:sp>
      <p:sp>
        <p:nvSpPr>
          <p:cNvPr id="12" name="Text 10"/>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elicitation design</a:t>
            </a:r>
            <a:endParaRPr lang="en-US" sz="750" dirty="0"/>
          </a:p>
        </p:txBody>
      </p:sp>
      <p:sp>
        <p:nvSpPr>
          <p:cNvPr id="13" name="Text 1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METHOD</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Recording setup: synchronized multimodality</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685800" y="1554480"/>
            <a:ext cx="1463040" cy="713232"/>
          </a:xfrm>
          <a:prstGeom prst="roundRect">
            <a:avLst>
              <a:gd name="adj" fmla="val 7692"/>
            </a:avLst>
          </a:prstGeom>
          <a:solidFill>
            <a:srgbClr val="00A8A8"/>
          </a:solidFill>
          <a:ln w="12700">
            <a:solidFill>
              <a:srgbClr val="00A8A8">
                <a:alpha val="0"/>
              </a:srgbClr>
            </a:solidFill>
            <a:prstDash val="solid"/>
          </a:ln>
        </p:spPr>
      </p:sp>
      <p:sp>
        <p:nvSpPr>
          <p:cNvPr id="6" name="Text 4"/>
          <p:cNvSpPr/>
          <p:nvPr/>
        </p:nvSpPr>
        <p:spPr>
          <a:xfrm>
            <a:off x="75895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face markers</a:t>
            </a:r>
            <a:endParaRPr lang="en-US" sz="1100" dirty="0"/>
          </a:p>
        </p:txBody>
      </p:sp>
      <p:sp>
        <p:nvSpPr>
          <p:cNvPr id="7" name="Shape 5"/>
          <p:cNvSpPr/>
          <p:nvPr/>
        </p:nvSpPr>
        <p:spPr>
          <a:xfrm>
            <a:off x="2221992" y="1783080"/>
            <a:ext cx="265176" cy="256032"/>
          </a:xfrm>
          <a:prstGeom prst="chevron">
            <a:avLst/>
          </a:prstGeom>
          <a:solidFill>
            <a:srgbClr val="CBD2D9"/>
          </a:solidFill>
          <a:ln w="12700">
            <a:solidFill>
              <a:srgbClr val="CBD2D9">
                <a:alpha val="0"/>
              </a:srgbClr>
            </a:solidFill>
            <a:prstDash val="solid"/>
          </a:ln>
        </p:spPr>
      </p:sp>
      <p:sp>
        <p:nvSpPr>
          <p:cNvPr id="8" name="Shape 6"/>
          <p:cNvSpPr/>
          <p:nvPr/>
        </p:nvSpPr>
        <p:spPr>
          <a:xfrm>
            <a:off x="2560320" y="1554480"/>
            <a:ext cx="1463040" cy="713232"/>
          </a:xfrm>
          <a:prstGeom prst="roundRect">
            <a:avLst>
              <a:gd name="adj" fmla="val 7692"/>
            </a:avLst>
          </a:prstGeom>
          <a:solidFill>
            <a:srgbClr val="00A8A8"/>
          </a:solidFill>
          <a:ln w="12700">
            <a:solidFill>
              <a:srgbClr val="00A8A8">
                <a:alpha val="0"/>
              </a:srgbClr>
            </a:solidFill>
            <a:prstDash val="solid"/>
          </a:ln>
        </p:spPr>
      </p:sp>
      <p:sp>
        <p:nvSpPr>
          <p:cNvPr id="9" name="Text 7"/>
          <p:cNvSpPr/>
          <p:nvPr/>
        </p:nvSpPr>
        <p:spPr>
          <a:xfrm>
            <a:off x="263347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headband</a:t>
            </a:r>
            <a:endParaRPr lang="en-US" sz="1100" dirty="0"/>
          </a:p>
        </p:txBody>
      </p:sp>
      <p:sp>
        <p:nvSpPr>
          <p:cNvPr id="10" name="Shape 8"/>
          <p:cNvSpPr/>
          <p:nvPr/>
        </p:nvSpPr>
        <p:spPr>
          <a:xfrm>
            <a:off x="4096512" y="1783080"/>
            <a:ext cx="265176" cy="256032"/>
          </a:xfrm>
          <a:prstGeom prst="chevron">
            <a:avLst/>
          </a:prstGeom>
          <a:solidFill>
            <a:srgbClr val="CBD2D9"/>
          </a:solidFill>
          <a:ln w="12700">
            <a:solidFill>
              <a:srgbClr val="CBD2D9">
                <a:alpha val="0"/>
              </a:srgbClr>
            </a:solidFill>
            <a:prstDash val="solid"/>
          </a:ln>
        </p:spPr>
      </p:sp>
      <p:sp>
        <p:nvSpPr>
          <p:cNvPr id="11" name="Shape 9"/>
          <p:cNvSpPr/>
          <p:nvPr/>
        </p:nvSpPr>
        <p:spPr>
          <a:xfrm>
            <a:off x="4434840" y="1554480"/>
            <a:ext cx="1463040" cy="713232"/>
          </a:xfrm>
          <a:prstGeom prst="roundRect">
            <a:avLst>
              <a:gd name="adj" fmla="val 7692"/>
            </a:avLst>
          </a:prstGeom>
          <a:solidFill>
            <a:srgbClr val="00A8A8"/>
          </a:solidFill>
          <a:ln w="12700">
            <a:solidFill>
              <a:srgbClr val="00A8A8">
                <a:alpha val="0"/>
              </a:srgbClr>
            </a:solidFill>
            <a:prstDash val="solid"/>
          </a:ln>
        </p:spPr>
      </p:sp>
      <p:sp>
        <p:nvSpPr>
          <p:cNvPr id="12" name="Text 10"/>
          <p:cNvSpPr/>
          <p:nvPr/>
        </p:nvSpPr>
        <p:spPr>
          <a:xfrm>
            <a:off x="450799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hand markers</a:t>
            </a:r>
            <a:endParaRPr lang="en-US" sz="1100" dirty="0"/>
          </a:p>
        </p:txBody>
      </p:sp>
      <p:sp>
        <p:nvSpPr>
          <p:cNvPr id="13" name="Shape 11"/>
          <p:cNvSpPr/>
          <p:nvPr/>
        </p:nvSpPr>
        <p:spPr>
          <a:xfrm>
            <a:off x="5971032" y="1783080"/>
            <a:ext cx="265176"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6309360" y="1554480"/>
            <a:ext cx="1463040" cy="713232"/>
          </a:xfrm>
          <a:prstGeom prst="roundRect">
            <a:avLst>
              <a:gd name="adj" fmla="val 7692"/>
            </a:avLst>
          </a:prstGeom>
          <a:solidFill>
            <a:srgbClr val="7C3AED"/>
          </a:solidFill>
          <a:ln w="12700">
            <a:solidFill>
              <a:srgbClr val="7C3AED">
                <a:alpha val="0"/>
              </a:srgbClr>
            </a:solidFill>
            <a:prstDash val="solid"/>
          </a:ln>
        </p:spPr>
      </p:sp>
      <p:sp>
        <p:nvSpPr>
          <p:cNvPr id="15" name="Text 13"/>
          <p:cNvSpPr/>
          <p:nvPr/>
        </p:nvSpPr>
        <p:spPr>
          <a:xfrm>
            <a:off x="638251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audio</a:t>
            </a:r>
            <a:endParaRPr lang="en-US" sz="1100" dirty="0"/>
          </a:p>
        </p:txBody>
      </p:sp>
      <p:sp>
        <p:nvSpPr>
          <p:cNvPr id="16" name="Shape 14"/>
          <p:cNvSpPr/>
          <p:nvPr/>
        </p:nvSpPr>
        <p:spPr>
          <a:xfrm>
            <a:off x="7845552" y="1783080"/>
            <a:ext cx="265176"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8183880" y="1554480"/>
            <a:ext cx="1463040" cy="713232"/>
          </a:xfrm>
          <a:prstGeom prst="roundRect">
            <a:avLst>
              <a:gd name="adj" fmla="val 7692"/>
            </a:avLst>
          </a:prstGeom>
          <a:solidFill>
            <a:srgbClr val="7C3AED"/>
          </a:solidFill>
          <a:ln w="12700">
            <a:solidFill>
              <a:srgbClr val="7C3AED">
                <a:alpha val="0"/>
              </a:srgbClr>
            </a:solidFill>
            <a:prstDash val="solid"/>
          </a:ln>
        </p:spPr>
      </p:sp>
      <p:sp>
        <p:nvSpPr>
          <p:cNvPr id="18" name="Text 16"/>
          <p:cNvSpPr/>
          <p:nvPr/>
        </p:nvSpPr>
        <p:spPr>
          <a:xfrm>
            <a:off x="825703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video</a:t>
            </a:r>
            <a:endParaRPr lang="en-US" sz="1100" dirty="0"/>
          </a:p>
        </p:txBody>
      </p:sp>
      <p:sp>
        <p:nvSpPr>
          <p:cNvPr id="19" name="Shape 17"/>
          <p:cNvSpPr/>
          <p:nvPr/>
        </p:nvSpPr>
        <p:spPr>
          <a:xfrm>
            <a:off x="9720072" y="1783080"/>
            <a:ext cx="265176" cy="256032"/>
          </a:xfrm>
          <a:prstGeom prst="chevron">
            <a:avLst/>
          </a:prstGeom>
          <a:solidFill>
            <a:srgbClr val="CBD2D9"/>
          </a:solidFill>
          <a:ln w="12700">
            <a:solidFill>
              <a:srgbClr val="CBD2D9">
                <a:alpha val="0"/>
              </a:srgbClr>
            </a:solidFill>
            <a:prstDash val="solid"/>
          </a:ln>
        </p:spPr>
      </p:sp>
      <p:sp>
        <p:nvSpPr>
          <p:cNvPr id="20" name="Shape 18"/>
          <p:cNvSpPr/>
          <p:nvPr/>
        </p:nvSpPr>
        <p:spPr>
          <a:xfrm>
            <a:off x="10058400" y="1554480"/>
            <a:ext cx="1463040" cy="713232"/>
          </a:xfrm>
          <a:prstGeom prst="roundRect">
            <a:avLst>
              <a:gd name="adj" fmla="val 7692"/>
            </a:avLst>
          </a:prstGeom>
          <a:solidFill>
            <a:srgbClr val="F4B400"/>
          </a:solidFill>
          <a:ln w="12700">
            <a:solidFill>
              <a:srgbClr val="F4B400">
                <a:alpha val="0"/>
              </a:srgbClr>
            </a:solidFill>
            <a:prstDash val="solid"/>
          </a:ln>
        </p:spPr>
      </p:sp>
      <p:sp>
        <p:nvSpPr>
          <p:cNvPr id="21" name="Text 19"/>
          <p:cNvSpPr/>
          <p:nvPr/>
        </p:nvSpPr>
        <p:spPr>
          <a:xfrm>
            <a:off x="10131552" y="1728216"/>
            <a:ext cx="131673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transcript</a:t>
            </a:r>
            <a:endParaRPr lang="en-US" sz="1100" dirty="0"/>
          </a:p>
        </p:txBody>
      </p:sp>
      <p:sp>
        <p:nvSpPr>
          <p:cNvPr id="22" name="Text 20"/>
          <p:cNvSpPr/>
          <p:nvPr/>
        </p:nvSpPr>
        <p:spPr>
          <a:xfrm>
            <a:off x="868680" y="2834640"/>
            <a:ext cx="2103120" cy="274320"/>
          </a:xfrm>
          <a:prstGeom prst="rect">
            <a:avLst/>
          </a:prstGeom>
          <a:noFill/>
          <a:ln/>
        </p:spPr>
        <p:txBody>
          <a:bodyPr wrap="square" lIns="0" tIns="0" rIns="0" bIns="0" rtlCol="0" anchor="ctr"/>
          <a:lstStyle/>
          <a:p>
            <a:pPr algn="ctr" indent="0" marL="0">
              <a:buNone/>
            </a:pPr>
            <a:r>
              <a:rPr lang="en-US" sz="2000" b="1" dirty="0">
                <a:solidFill>
                  <a:srgbClr val="00A8A8"/>
                </a:solidFill>
                <a:latin typeface="Arial" pitchFamily="34" charset="0"/>
                <a:ea typeface="Arial" pitchFamily="34" charset="-122"/>
                <a:cs typeface="Arial" pitchFamily="34" charset="-120"/>
              </a:rPr>
              <a:t>53 facial markers</a:t>
            </a:r>
            <a:endParaRPr lang="en-US" sz="2000" dirty="0"/>
          </a:p>
        </p:txBody>
      </p:sp>
      <p:sp>
        <p:nvSpPr>
          <p:cNvPr id="23" name="Text 21"/>
          <p:cNvSpPr/>
          <p:nvPr/>
        </p:nvSpPr>
        <p:spPr>
          <a:xfrm>
            <a:off x="3611880" y="2834640"/>
            <a:ext cx="2103120" cy="274320"/>
          </a:xfrm>
          <a:prstGeom prst="rect">
            <a:avLst/>
          </a:prstGeom>
          <a:noFill/>
          <a:ln/>
        </p:spPr>
        <p:txBody>
          <a:bodyPr wrap="square" lIns="0" tIns="0" rIns="0" bIns="0" rtlCol="0" anchor="ctr"/>
          <a:lstStyle/>
          <a:p>
            <a:pPr algn="ctr" indent="0" marL="0">
              <a:buNone/>
            </a:pPr>
            <a:r>
              <a:rPr lang="en-US" sz="2000" b="1" dirty="0">
                <a:solidFill>
                  <a:srgbClr val="7C3AED"/>
                </a:solidFill>
                <a:latin typeface="Arial" pitchFamily="34" charset="0"/>
                <a:ea typeface="Arial" pitchFamily="34" charset="-122"/>
                <a:cs typeface="Arial" pitchFamily="34" charset="-120"/>
              </a:rPr>
              <a:t>61 markers total</a:t>
            </a:r>
            <a:endParaRPr lang="en-US" sz="2000" dirty="0"/>
          </a:p>
        </p:txBody>
      </p:sp>
      <p:sp>
        <p:nvSpPr>
          <p:cNvPr id="24" name="Text 22"/>
          <p:cNvSpPr/>
          <p:nvPr/>
        </p:nvSpPr>
        <p:spPr>
          <a:xfrm>
            <a:off x="6355080" y="2834640"/>
            <a:ext cx="2103120" cy="274320"/>
          </a:xfrm>
          <a:prstGeom prst="rect">
            <a:avLst/>
          </a:prstGeom>
          <a:noFill/>
          <a:ln/>
        </p:spPr>
        <p:txBody>
          <a:bodyPr wrap="square" lIns="0" tIns="0" rIns="0" bIns="0" rtlCol="0" anchor="ctr"/>
          <a:lstStyle/>
          <a:p>
            <a:pPr algn="ctr" indent="0" marL="0">
              <a:buNone/>
            </a:pPr>
            <a:r>
              <a:rPr lang="en-US" sz="2000" b="1" dirty="0">
                <a:solidFill>
                  <a:srgbClr val="FF6B6B"/>
                </a:solidFill>
                <a:latin typeface="Arial" pitchFamily="34" charset="0"/>
                <a:ea typeface="Arial" pitchFamily="34" charset="-122"/>
                <a:cs typeface="Arial" pitchFamily="34" charset="-120"/>
              </a:rPr>
              <a:t>120 fps MoCap</a:t>
            </a:r>
            <a:endParaRPr lang="en-US" sz="2000" dirty="0"/>
          </a:p>
        </p:txBody>
      </p:sp>
      <p:sp>
        <p:nvSpPr>
          <p:cNvPr id="25" name="Text 23"/>
          <p:cNvSpPr/>
          <p:nvPr/>
        </p:nvSpPr>
        <p:spPr>
          <a:xfrm>
            <a:off x="9098280" y="2834640"/>
            <a:ext cx="2103120" cy="274320"/>
          </a:xfrm>
          <a:prstGeom prst="rect">
            <a:avLst/>
          </a:prstGeom>
          <a:noFill/>
          <a:ln/>
        </p:spPr>
        <p:txBody>
          <a:bodyPr wrap="square" lIns="0" tIns="0" rIns="0" bIns="0" rtlCol="0" anchor="ctr"/>
          <a:lstStyle/>
          <a:p>
            <a:pPr algn="ctr" indent="0" marL="0">
              <a:buNone/>
            </a:pPr>
            <a:r>
              <a:rPr lang="en-US" sz="2000" b="1" dirty="0">
                <a:solidFill>
                  <a:srgbClr val="F4B400"/>
                </a:solidFill>
                <a:latin typeface="Arial" pitchFamily="34" charset="0"/>
                <a:ea typeface="Arial" pitchFamily="34" charset="-122"/>
                <a:cs typeface="Arial" pitchFamily="34" charset="-120"/>
              </a:rPr>
              <a:t>48 kHz audio</a:t>
            </a:r>
            <a:endParaRPr lang="en-US" sz="2000" dirty="0"/>
          </a:p>
        </p:txBody>
      </p:sp>
      <p:sp>
        <p:nvSpPr>
          <p:cNvPr id="26" name="Text 24"/>
          <p:cNvSpPr/>
          <p:nvPr/>
        </p:nvSpPr>
        <p:spPr>
          <a:xfrm>
            <a:off x="1097280" y="4069080"/>
            <a:ext cx="9875520" cy="1234440"/>
          </a:xfrm>
          <a:prstGeom prst="rect">
            <a:avLst/>
          </a:prstGeom>
          <a:noFill/>
          <a:ln/>
        </p:spPr>
        <p:txBody>
          <a:bodyPr wrap="square" lIns="381" tIns="381" rIns="381" bIns="381" rtlCol="0" anchor="t">
            <a:normAutofit/>
          </a:bodyPr>
          <a:lstStyle/>
          <a:p>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VICON system with eight cameras</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Two shotgun microphones plus high-resolution video</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Clapboard synchronization across modalities</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Subjects faced each other to preserve interaction</a:t>
            </a:r>
            <a:endParaRPr lang="en-US" sz="1500" dirty="0"/>
          </a:p>
        </p:txBody>
      </p:sp>
      <p:sp>
        <p:nvSpPr>
          <p:cNvPr id="27" name="Text 2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recording</a:t>
            </a:r>
            <a:endParaRPr lang="en-US" sz="750" dirty="0"/>
          </a:p>
        </p:txBody>
      </p:sp>
      <p:sp>
        <p:nvSpPr>
          <p:cNvPr id="28" name="Text 2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PIPELINE</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From raw interaction to analyzable corpus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22960" y="2011680"/>
            <a:ext cx="1417320" cy="713232"/>
          </a:xfrm>
          <a:prstGeom prst="roundRect">
            <a:avLst>
              <a:gd name="adj" fmla="val 7692"/>
            </a:avLst>
          </a:prstGeom>
          <a:solidFill>
            <a:srgbClr val="00A8A8"/>
          </a:solidFill>
          <a:ln w="12700">
            <a:solidFill>
              <a:srgbClr val="00A8A8">
                <a:alpha val="0"/>
              </a:srgbClr>
            </a:solidFill>
            <a:prstDash val="solid"/>
          </a:ln>
        </p:spPr>
      </p:sp>
      <p:sp>
        <p:nvSpPr>
          <p:cNvPr id="6" name="Text 4"/>
          <p:cNvSpPr/>
          <p:nvPr/>
        </p:nvSpPr>
        <p:spPr>
          <a:xfrm>
            <a:off x="896112"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record</a:t>
            </a:r>
            <a:endParaRPr lang="en-US" sz="1100" dirty="0"/>
          </a:p>
        </p:txBody>
      </p:sp>
      <p:sp>
        <p:nvSpPr>
          <p:cNvPr id="7" name="Shape 5"/>
          <p:cNvSpPr/>
          <p:nvPr/>
        </p:nvSpPr>
        <p:spPr>
          <a:xfrm>
            <a:off x="2313432" y="2240280"/>
            <a:ext cx="347472" cy="256032"/>
          </a:xfrm>
          <a:prstGeom prst="chevron">
            <a:avLst/>
          </a:prstGeom>
          <a:solidFill>
            <a:srgbClr val="CBD2D9"/>
          </a:solidFill>
          <a:ln w="12700">
            <a:solidFill>
              <a:srgbClr val="CBD2D9">
                <a:alpha val="0"/>
              </a:srgbClr>
            </a:solidFill>
            <a:prstDash val="solid"/>
          </a:ln>
        </p:spPr>
      </p:sp>
      <p:sp>
        <p:nvSpPr>
          <p:cNvPr id="8" name="Shape 6"/>
          <p:cNvSpPr/>
          <p:nvPr/>
        </p:nvSpPr>
        <p:spPr>
          <a:xfrm>
            <a:off x="2734056" y="2011680"/>
            <a:ext cx="1417320" cy="713232"/>
          </a:xfrm>
          <a:prstGeom prst="roundRect">
            <a:avLst>
              <a:gd name="adj" fmla="val 7692"/>
            </a:avLst>
          </a:prstGeom>
          <a:solidFill>
            <a:srgbClr val="7C3AED"/>
          </a:solidFill>
          <a:ln w="12700">
            <a:solidFill>
              <a:srgbClr val="7C3AED">
                <a:alpha val="0"/>
              </a:srgbClr>
            </a:solidFill>
            <a:prstDash val="solid"/>
          </a:ln>
        </p:spPr>
      </p:sp>
      <p:sp>
        <p:nvSpPr>
          <p:cNvPr id="9" name="Text 7"/>
          <p:cNvSpPr/>
          <p:nvPr/>
        </p:nvSpPr>
        <p:spPr>
          <a:xfrm>
            <a:off x="2807208"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segment turns</a:t>
            </a:r>
            <a:endParaRPr lang="en-US" sz="1100" dirty="0"/>
          </a:p>
        </p:txBody>
      </p:sp>
      <p:sp>
        <p:nvSpPr>
          <p:cNvPr id="10" name="Shape 8"/>
          <p:cNvSpPr/>
          <p:nvPr/>
        </p:nvSpPr>
        <p:spPr>
          <a:xfrm>
            <a:off x="4224528" y="2240280"/>
            <a:ext cx="347472" cy="256032"/>
          </a:xfrm>
          <a:prstGeom prst="chevron">
            <a:avLst/>
          </a:prstGeom>
          <a:solidFill>
            <a:srgbClr val="CBD2D9"/>
          </a:solidFill>
          <a:ln w="12700">
            <a:solidFill>
              <a:srgbClr val="CBD2D9">
                <a:alpha val="0"/>
              </a:srgbClr>
            </a:solidFill>
            <a:prstDash val="solid"/>
          </a:ln>
        </p:spPr>
      </p:sp>
      <p:sp>
        <p:nvSpPr>
          <p:cNvPr id="11" name="Shape 9"/>
          <p:cNvSpPr/>
          <p:nvPr/>
        </p:nvSpPr>
        <p:spPr>
          <a:xfrm>
            <a:off x="4645152" y="2011680"/>
            <a:ext cx="1417320" cy="713232"/>
          </a:xfrm>
          <a:prstGeom prst="roundRect">
            <a:avLst>
              <a:gd name="adj" fmla="val 7692"/>
            </a:avLst>
          </a:prstGeom>
          <a:solidFill>
            <a:srgbClr val="F4B400"/>
          </a:solidFill>
          <a:ln w="12700">
            <a:solidFill>
              <a:srgbClr val="F4B400">
                <a:alpha val="0"/>
              </a:srgbClr>
            </a:solidFill>
            <a:prstDash val="solid"/>
          </a:ln>
        </p:spPr>
      </p:sp>
      <p:sp>
        <p:nvSpPr>
          <p:cNvPr id="12" name="Text 10"/>
          <p:cNvSpPr/>
          <p:nvPr/>
        </p:nvSpPr>
        <p:spPr>
          <a:xfrm>
            <a:off x="4718304"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transcribe</a:t>
            </a:r>
            <a:endParaRPr lang="en-US" sz="1100" dirty="0"/>
          </a:p>
        </p:txBody>
      </p:sp>
      <p:sp>
        <p:nvSpPr>
          <p:cNvPr id="13" name="Shape 11"/>
          <p:cNvSpPr/>
          <p:nvPr/>
        </p:nvSpPr>
        <p:spPr>
          <a:xfrm>
            <a:off x="6135624" y="2240280"/>
            <a:ext cx="347472"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6556248" y="2011680"/>
            <a:ext cx="1417320" cy="713232"/>
          </a:xfrm>
          <a:prstGeom prst="roundRect">
            <a:avLst>
              <a:gd name="adj" fmla="val 7692"/>
            </a:avLst>
          </a:prstGeom>
          <a:solidFill>
            <a:srgbClr val="FF6B6B"/>
          </a:solidFill>
          <a:ln w="12700">
            <a:solidFill>
              <a:srgbClr val="FF6B6B">
                <a:alpha val="0"/>
              </a:srgbClr>
            </a:solidFill>
            <a:prstDash val="solid"/>
          </a:ln>
        </p:spPr>
      </p:sp>
      <p:sp>
        <p:nvSpPr>
          <p:cNvPr id="15" name="Text 13"/>
          <p:cNvSpPr/>
          <p:nvPr/>
        </p:nvSpPr>
        <p:spPr>
          <a:xfrm>
            <a:off x="6629400"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align</a:t>
            </a:r>
            <a:endParaRPr lang="en-US" sz="1100" dirty="0"/>
          </a:p>
        </p:txBody>
      </p:sp>
      <p:sp>
        <p:nvSpPr>
          <p:cNvPr id="16" name="Shape 14"/>
          <p:cNvSpPr/>
          <p:nvPr/>
        </p:nvSpPr>
        <p:spPr>
          <a:xfrm>
            <a:off x="8046720" y="2240280"/>
            <a:ext cx="347472"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8467344" y="2011680"/>
            <a:ext cx="1417320" cy="713232"/>
          </a:xfrm>
          <a:prstGeom prst="roundRect">
            <a:avLst>
              <a:gd name="adj" fmla="val 7692"/>
            </a:avLst>
          </a:prstGeom>
          <a:solidFill>
            <a:srgbClr val="42B883"/>
          </a:solidFill>
          <a:ln w="12700">
            <a:solidFill>
              <a:srgbClr val="42B883">
                <a:alpha val="0"/>
              </a:srgbClr>
            </a:solidFill>
            <a:prstDash val="solid"/>
          </a:ln>
        </p:spPr>
      </p:sp>
      <p:sp>
        <p:nvSpPr>
          <p:cNvPr id="18" name="Text 16"/>
          <p:cNvSpPr/>
          <p:nvPr/>
        </p:nvSpPr>
        <p:spPr>
          <a:xfrm>
            <a:off x="8540496"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annotate</a:t>
            </a:r>
            <a:endParaRPr lang="en-US" sz="1100" dirty="0"/>
          </a:p>
        </p:txBody>
      </p:sp>
      <p:sp>
        <p:nvSpPr>
          <p:cNvPr id="19" name="Shape 17"/>
          <p:cNvSpPr/>
          <p:nvPr/>
        </p:nvSpPr>
        <p:spPr>
          <a:xfrm>
            <a:off x="9957816" y="2240280"/>
            <a:ext cx="347472" cy="256032"/>
          </a:xfrm>
          <a:prstGeom prst="chevron">
            <a:avLst/>
          </a:prstGeom>
          <a:solidFill>
            <a:srgbClr val="CBD2D9"/>
          </a:solidFill>
          <a:ln w="12700">
            <a:solidFill>
              <a:srgbClr val="CBD2D9">
                <a:alpha val="0"/>
              </a:srgbClr>
            </a:solidFill>
            <a:prstDash val="solid"/>
          </a:ln>
        </p:spPr>
      </p:sp>
      <p:sp>
        <p:nvSpPr>
          <p:cNvPr id="20" name="Shape 18"/>
          <p:cNvSpPr/>
          <p:nvPr/>
        </p:nvSpPr>
        <p:spPr>
          <a:xfrm>
            <a:off x="10378440" y="2011680"/>
            <a:ext cx="1417320" cy="713232"/>
          </a:xfrm>
          <a:prstGeom prst="roundRect">
            <a:avLst>
              <a:gd name="adj" fmla="val 7692"/>
            </a:avLst>
          </a:prstGeom>
          <a:solidFill>
            <a:srgbClr val="3E4C59"/>
          </a:solidFill>
          <a:ln w="12700">
            <a:solidFill>
              <a:srgbClr val="3E4C59">
                <a:alpha val="0"/>
              </a:srgbClr>
            </a:solidFill>
            <a:prstDash val="solid"/>
          </a:ln>
        </p:spPr>
      </p:sp>
      <p:sp>
        <p:nvSpPr>
          <p:cNvPr id="21" name="Text 19"/>
          <p:cNvSpPr/>
          <p:nvPr/>
        </p:nvSpPr>
        <p:spPr>
          <a:xfrm>
            <a:off x="10451592" y="2185416"/>
            <a:ext cx="12710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release</a:t>
            </a:r>
            <a:endParaRPr lang="en-US" sz="1100" dirty="0"/>
          </a:p>
        </p:txBody>
      </p:sp>
      <p:sp>
        <p:nvSpPr>
          <p:cNvPr id="22" name="Text 20"/>
          <p:cNvSpPr/>
          <p:nvPr/>
        </p:nvSpPr>
        <p:spPr>
          <a:xfrm>
            <a:off x="1097280" y="3657600"/>
            <a:ext cx="9875520" cy="1325880"/>
          </a:xfrm>
          <a:prstGeom prst="rect">
            <a:avLst/>
          </a:prstGeom>
          <a:noFill/>
          <a:ln/>
        </p:spPr>
        <p:txBody>
          <a:bodyPr wrap="square" lIns="381" tIns="381" rIns="381" bIns="381" rtlCol="0" anchor="t">
            <a:normAutofit/>
          </a:bodyPr>
          <a:lstStyle/>
          <a:p>
            <a:pPr indent="0" marL="0">
              <a:buNone/>
            </a:pPr>
            <a:r>
              <a:rPr lang="en-US" sz="1520" b="1" dirty="0">
                <a:solidFill>
                  <a:srgbClr val="00A8A8"/>
                </a:solidFill>
                <a:latin typeface="Arial" pitchFamily="34" charset="0"/>
                <a:ea typeface="Arial" pitchFamily="34" charset="-122"/>
                <a:cs typeface="Arial" pitchFamily="34" charset="-120"/>
              </a:rPr>
              <a:t>● </a:t>
            </a:r>
            <a:pPr indent="0" marL="0">
              <a:buNone/>
            </a:pPr>
            <a:r>
              <a:rPr lang="en-US" sz="1520" dirty="0">
                <a:solidFill>
                  <a:srgbClr val="17202A"/>
                </a:solidFill>
                <a:latin typeface="Arial" pitchFamily="34" charset="0"/>
                <a:ea typeface="Arial" pitchFamily="34" charset="-122"/>
                <a:cs typeface="Arial" pitchFamily="34" charset="-120"/>
              </a:rPr>
              <a:t>Manual turn-level segmentation; short active-listening tokens were generally not segmented.</a:t>
            </a:r>
            <a:pPr indent="0" marL="0">
              <a:buNone/>
            </a:pPr>
            <a:r>
              <a:rPr lang="en-US" sz="1520" dirty="0">
                <a:solidFill>
                  <a:srgbClr val="000000"/>
                </a:solidFill>
                <a:latin typeface="Arial" pitchFamily="34" charset="0"/>
                <a:ea typeface="Arial" pitchFamily="34" charset="-122"/>
                <a:cs typeface="Arial" pitchFamily="34" charset="-120"/>
              </a:rPr>
              <a:t>
</a:t>
            </a:r>
            <a:pPr indent="0" marL="0">
              <a:buNone/>
            </a:pPr>
            <a:r>
              <a:rPr lang="en-US" sz="1520" b="1" dirty="0">
                <a:solidFill>
                  <a:srgbClr val="00A8A8"/>
                </a:solidFill>
                <a:latin typeface="Arial" pitchFamily="34" charset="0"/>
                <a:ea typeface="Arial" pitchFamily="34" charset="-122"/>
                <a:cs typeface="Arial" pitchFamily="34" charset="-120"/>
              </a:rPr>
              <a:t>● </a:t>
            </a:r>
            <a:pPr indent="0" marL="0">
              <a:buNone/>
            </a:pPr>
            <a:r>
              <a:rPr lang="en-US" sz="1520" dirty="0">
                <a:solidFill>
                  <a:srgbClr val="17202A"/>
                </a:solidFill>
                <a:latin typeface="Arial" pitchFamily="34" charset="0"/>
                <a:ea typeface="Arial" pitchFamily="34" charset="-122"/>
                <a:cs typeface="Arial" pitchFamily="34" charset="-120"/>
              </a:rPr>
              <a:t>Professional transcription plus forced word/phoneme alignment using Sphinx acoustic models.</a:t>
            </a:r>
            <a:pPr indent="0" marL="0">
              <a:buNone/>
            </a:pPr>
            <a:r>
              <a:rPr lang="en-US" sz="1520" dirty="0">
                <a:solidFill>
                  <a:srgbClr val="000000"/>
                </a:solidFill>
                <a:latin typeface="Arial" pitchFamily="34" charset="0"/>
                <a:ea typeface="Arial" pitchFamily="34" charset="-122"/>
                <a:cs typeface="Arial" pitchFamily="34" charset="-120"/>
              </a:rPr>
              <a:t>
</a:t>
            </a:r>
            <a:pPr indent="0" marL="0">
              <a:buNone/>
            </a:pPr>
            <a:r>
              <a:rPr lang="en-US" sz="1520" b="1" dirty="0">
                <a:solidFill>
                  <a:srgbClr val="00A8A8"/>
                </a:solidFill>
                <a:latin typeface="Arial" pitchFamily="34" charset="0"/>
                <a:ea typeface="Arial" pitchFamily="34" charset="-122"/>
                <a:cs typeface="Arial" pitchFamily="34" charset="-120"/>
              </a:rPr>
              <a:t>● </a:t>
            </a:r>
            <a:pPr indent="0" marL="0">
              <a:buNone/>
            </a:pPr>
            <a:r>
              <a:rPr lang="en-US" sz="1520" dirty="0">
                <a:solidFill>
                  <a:srgbClr val="17202A"/>
                </a:solidFill>
                <a:latin typeface="Arial" pitchFamily="34" charset="0"/>
                <a:ea typeface="Arial" pitchFamily="34" charset="-122"/>
                <a:cs typeface="Arial" pitchFamily="34" charset="-120"/>
              </a:rPr>
              <a:t>Human emotion annotation combines categorical labels with continuous valence, activation, dominance.</a:t>
            </a:r>
            <a:endParaRPr lang="en-US" sz="1520" dirty="0"/>
          </a:p>
        </p:txBody>
      </p:sp>
      <p:sp>
        <p:nvSpPr>
          <p:cNvPr id="23" name="Shape 21"/>
          <p:cNvSpPr/>
          <p:nvPr/>
        </p:nvSpPr>
        <p:spPr>
          <a:xfrm>
            <a:off x="2148840" y="5349240"/>
            <a:ext cx="7863840" cy="502920"/>
          </a:xfrm>
          <a:prstGeom prst="roundRect">
            <a:avLst>
              <a:gd name="adj" fmla="val 14545"/>
            </a:avLst>
          </a:prstGeom>
          <a:solidFill>
            <a:srgbClr val="E6FFFB"/>
          </a:solidFill>
          <a:ln w="12700">
            <a:solidFill>
              <a:srgbClr val="B2F5EA"/>
            </a:solidFill>
            <a:prstDash val="solid"/>
          </a:ln>
        </p:spPr>
      </p:sp>
      <p:sp>
        <p:nvSpPr>
          <p:cNvPr id="24" name="Text 22"/>
          <p:cNvSpPr/>
          <p:nvPr/>
        </p:nvSpPr>
        <p:spPr>
          <a:xfrm>
            <a:off x="2423160" y="5522976"/>
            <a:ext cx="7315200" cy="146304"/>
          </a:xfrm>
          <a:prstGeom prst="rect">
            <a:avLst/>
          </a:prstGeom>
          <a:noFill/>
          <a:ln/>
        </p:spPr>
        <p:txBody>
          <a:bodyPr wrap="square" lIns="381" tIns="381" rIns="381" bIns="381" rtlCol="0" anchor="ctr">
            <a:normAutofit/>
          </a:bodyPr>
          <a:lstStyle/>
          <a:p>
            <a:pPr algn="ctr" indent="0" marL="0">
              <a:buNone/>
            </a:pPr>
            <a:r>
              <a:rPr lang="en-US" sz="1250" b="1" dirty="0">
                <a:solidFill>
                  <a:srgbClr val="102A43"/>
                </a:solidFill>
                <a:latin typeface="Arial" pitchFamily="34" charset="0"/>
                <a:ea typeface="Arial" pitchFamily="34" charset="-122"/>
                <a:cs typeface="Arial" pitchFamily="34" charset="-120"/>
              </a:rPr>
              <a:t>Modeling starts after many human decisions have already shaped the data.</a:t>
            </a:r>
            <a:endParaRPr lang="en-US" sz="1250" dirty="0"/>
          </a:p>
        </p:txBody>
      </p:sp>
      <p:sp>
        <p:nvSpPr>
          <p:cNvPr id="25" name="Text 23"/>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processing pipeline</a:t>
            </a:r>
            <a:endParaRPr lang="en-US" sz="750" dirty="0"/>
          </a:p>
        </p:txBody>
      </p:sp>
      <p:sp>
        <p:nvSpPr>
          <p:cNvPr id="26" name="Text 2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CORPUS STATISTICS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The unit of analysis: dialog turns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1051560" y="1600200"/>
            <a:ext cx="1837944" cy="2011680"/>
          </a:xfrm>
          <a:prstGeom prst="rect">
            <a:avLst/>
          </a:prstGeom>
          <a:solidFill>
            <a:srgbClr val="00A8A8"/>
          </a:solidFill>
          <a:ln w="12700">
            <a:solidFill>
              <a:srgbClr val="00A8A8">
                <a:alpha val="0"/>
              </a:srgbClr>
            </a:solidFill>
            <a:prstDash val="solid"/>
          </a:ln>
        </p:spPr>
      </p:sp>
      <p:sp>
        <p:nvSpPr>
          <p:cNvPr id="6" name="Text 4"/>
          <p:cNvSpPr/>
          <p:nvPr/>
        </p:nvSpPr>
        <p:spPr>
          <a:xfrm>
            <a:off x="1051560" y="1399032"/>
            <a:ext cx="183794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5255</a:t>
            </a:r>
            <a:endParaRPr lang="en-US" sz="850" dirty="0"/>
          </a:p>
        </p:txBody>
      </p:sp>
      <p:sp>
        <p:nvSpPr>
          <p:cNvPr id="7" name="Text 5"/>
          <p:cNvSpPr/>
          <p:nvPr/>
        </p:nvSpPr>
        <p:spPr>
          <a:xfrm>
            <a:off x="1051560" y="3675888"/>
            <a:ext cx="183794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scripted</a:t>
            </a:r>
            <a:endParaRPr lang="en-US" sz="720" dirty="0"/>
          </a:p>
        </p:txBody>
      </p:sp>
      <p:sp>
        <p:nvSpPr>
          <p:cNvPr id="8" name="Shape 6"/>
          <p:cNvSpPr/>
          <p:nvPr/>
        </p:nvSpPr>
        <p:spPr>
          <a:xfrm>
            <a:off x="2962656" y="1780505"/>
            <a:ext cx="1837944" cy="1831375"/>
          </a:xfrm>
          <a:prstGeom prst="rect">
            <a:avLst/>
          </a:prstGeom>
          <a:solidFill>
            <a:srgbClr val="7C3AED"/>
          </a:solidFill>
          <a:ln w="12700">
            <a:solidFill>
              <a:srgbClr val="7C3AED">
                <a:alpha val="0"/>
              </a:srgbClr>
            </a:solidFill>
            <a:prstDash val="solid"/>
          </a:ln>
        </p:spPr>
      </p:sp>
      <p:sp>
        <p:nvSpPr>
          <p:cNvPr id="9" name="Text 7"/>
          <p:cNvSpPr/>
          <p:nvPr/>
        </p:nvSpPr>
        <p:spPr>
          <a:xfrm>
            <a:off x="2962656" y="1579337"/>
            <a:ext cx="183794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4784</a:t>
            </a:r>
            <a:endParaRPr lang="en-US" sz="850" dirty="0"/>
          </a:p>
        </p:txBody>
      </p:sp>
      <p:sp>
        <p:nvSpPr>
          <p:cNvPr id="10" name="Text 8"/>
          <p:cNvSpPr/>
          <p:nvPr/>
        </p:nvSpPr>
        <p:spPr>
          <a:xfrm>
            <a:off x="2962656" y="3675888"/>
            <a:ext cx="183794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spont.</a:t>
            </a:r>
            <a:endParaRPr lang="en-US" sz="720" dirty="0"/>
          </a:p>
        </p:txBody>
      </p:sp>
      <p:sp>
        <p:nvSpPr>
          <p:cNvPr id="11" name="Shape 9"/>
          <p:cNvSpPr/>
          <p:nvPr/>
        </p:nvSpPr>
        <p:spPr>
          <a:xfrm>
            <a:off x="1051560" y="3611880"/>
            <a:ext cx="3749040" cy="0"/>
          </a:xfrm>
          <a:prstGeom prst="line">
            <a:avLst/>
          </a:prstGeom>
          <a:noFill/>
          <a:ln w="7620">
            <a:solidFill>
              <a:srgbClr val="CBD2D9"/>
            </a:solidFill>
            <a:prstDash val="solid"/>
          </a:ln>
        </p:spPr>
      </p:sp>
      <p:sp>
        <p:nvSpPr>
          <p:cNvPr id="12" name="Text 10"/>
          <p:cNvSpPr/>
          <p:nvPr/>
        </p:nvSpPr>
        <p:spPr>
          <a:xfrm>
            <a:off x="1051560" y="3977640"/>
            <a:ext cx="3749040" cy="228600"/>
          </a:xfrm>
          <a:prstGeom prst="rect">
            <a:avLst/>
          </a:prstGeom>
          <a:noFill/>
          <a:ln/>
        </p:spPr>
        <p:txBody>
          <a:bodyPr wrap="square" lIns="0" tIns="0" rIns="0" bIns="0" rtlCol="0" anchor="ctr"/>
          <a:lstStyle/>
          <a:p>
            <a:pPr algn="ctr" indent="0" marL="0">
              <a:buNone/>
            </a:pPr>
            <a:r>
              <a:rPr lang="en-US" sz="1300" b="1" dirty="0">
                <a:solidFill>
                  <a:srgbClr val="3E4C59"/>
                </a:solidFill>
                <a:latin typeface="Arial" pitchFamily="34" charset="0"/>
                <a:ea typeface="Arial" pitchFamily="34" charset="-122"/>
                <a:cs typeface="Arial" pitchFamily="34" charset="-120"/>
              </a:rPr>
              <a:t>Turns by elicitation type</a:t>
            </a:r>
            <a:endParaRPr lang="en-US" sz="1300" dirty="0"/>
          </a:p>
        </p:txBody>
      </p:sp>
      <p:sp>
        <p:nvSpPr>
          <p:cNvPr id="13" name="Text 11"/>
          <p:cNvSpPr/>
          <p:nvPr/>
        </p:nvSpPr>
        <p:spPr>
          <a:xfrm>
            <a:off x="5669280" y="1691640"/>
            <a:ext cx="182880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4.5s</a:t>
            </a:r>
            <a:endParaRPr lang="en-US" sz="2800" dirty="0"/>
          </a:p>
        </p:txBody>
      </p:sp>
      <p:sp>
        <p:nvSpPr>
          <p:cNvPr id="14" name="Text 12"/>
          <p:cNvSpPr/>
          <p:nvPr/>
        </p:nvSpPr>
        <p:spPr>
          <a:xfrm>
            <a:off x="5669280" y="2194560"/>
            <a:ext cx="182880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average turn duration</a:t>
            </a:r>
            <a:endParaRPr lang="en-US" sz="1050" dirty="0"/>
          </a:p>
        </p:txBody>
      </p:sp>
      <p:sp>
        <p:nvSpPr>
          <p:cNvPr id="15" name="Text 13"/>
          <p:cNvSpPr/>
          <p:nvPr/>
        </p:nvSpPr>
        <p:spPr>
          <a:xfrm>
            <a:off x="8001000" y="1691640"/>
            <a:ext cx="1920240" cy="475488"/>
          </a:xfrm>
          <a:prstGeom prst="rect">
            <a:avLst/>
          </a:prstGeom>
          <a:noFill/>
          <a:ln/>
        </p:spPr>
        <p:txBody>
          <a:bodyPr wrap="square" lIns="0" tIns="0" rIns="0" bIns="0" rtlCol="0" anchor="ctr"/>
          <a:lstStyle/>
          <a:p>
            <a:pPr algn="ctr" indent="0" marL="0">
              <a:buNone/>
            </a:pPr>
            <a:r>
              <a:rPr lang="en-US" sz="2800" b="1" dirty="0">
                <a:solidFill>
                  <a:srgbClr val="F4B400"/>
                </a:solidFill>
                <a:latin typeface="Arial" pitchFamily="34" charset="0"/>
                <a:ea typeface="Arial" pitchFamily="34" charset="-122"/>
                <a:cs typeface="Arial" pitchFamily="34" charset="-120"/>
              </a:rPr>
              <a:t>11.4</a:t>
            </a:r>
            <a:endParaRPr lang="en-US" sz="2800" dirty="0"/>
          </a:p>
        </p:txBody>
      </p:sp>
      <p:sp>
        <p:nvSpPr>
          <p:cNvPr id="16" name="Text 14"/>
          <p:cNvSpPr/>
          <p:nvPr/>
        </p:nvSpPr>
        <p:spPr>
          <a:xfrm>
            <a:off x="8001000" y="2194560"/>
            <a:ext cx="192024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average words per turn</a:t>
            </a:r>
            <a:endParaRPr lang="en-US" sz="1050" dirty="0"/>
          </a:p>
        </p:txBody>
      </p:sp>
      <p:sp>
        <p:nvSpPr>
          <p:cNvPr id="17" name="Text 15"/>
          <p:cNvSpPr/>
          <p:nvPr/>
        </p:nvSpPr>
        <p:spPr>
          <a:xfrm>
            <a:off x="5486400" y="3246120"/>
            <a:ext cx="5120640" cy="1188720"/>
          </a:xfrm>
          <a:prstGeom prst="rect">
            <a:avLst/>
          </a:prstGeom>
          <a:noFill/>
          <a:ln/>
        </p:spPr>
        <p:txBody>
          <a:bodyPr wrap="square" lIns="381" tIns="381" rIns="381" bIns="381" rtlCol="0" anchor="t">
            <a:normAutofit/>
          </a:bodyPr>
          <a:lstStyle/>
          <a:p>
            <a:pPr indent="0" marL="0">
              <a:buNone/>
            </a:pPr>
            <a:r>
              <a:rPr lang="en-US" sz="1450" b="1" dirty="0">
                <a:solidFill>
                  <a:srgbClr val="00A8A8"/>
                </a:solidFill>
                <a:latin typeface="Arial" pitchFamily="34" charset="0"/>
                <a:ea typeface="Arial" pitchFamily="34" charset="-122"/>
                <a:cs typeface="Arial" pitchFamily="34" charset="-120"/>
              </a:rPr>
              <a:t>● </a:t>
            </a:r>
            <a:pPr indent="0" marL="0">
              <a:buNone/>
            </a:pPr>
            <a:r>
              <a:rPr lang="en-US" sz="1450" dirty="0">
                <a:solidFill>
                  <a:srgbClr val="17202A"/>
                </a:solidFill>
                <a:latin typeface="Arial" pitchFamily="34" charset="0"/>
                <a:ea typeface="Arial" pitchFamily="34" charset="-122"/>
                <a:cs typeface="Arial" pitchFamily="34" charset="-120"/>
              </a:rPr>
              <a:t>Turns are short enough to assume stable emotional content, but long enough to include local context.</a:t>
            </a:r>
            <a:pPr indent="0" marL="0">
              <a:buNone/>
            </a:pPr>
            <a:r>
              <a:rPr lang="en-US" sz="1450" dirty="0">
                <a:solidFill>
                  <a:srgbClr val="000000"/>
                </a:solidFill>
                <a:latin typeface="Arial" pitchFamily="34" charset="0"/>
                <a:ea typeface="Arial" pitchFamily="34" charset="-122"/>
                <a:cs typeface="Arial" pitchFamily="34" charset="-120"/>
              </a:rPr>
              <a:t>
</a:t>
            </a:r>
            <a:pPr indent="0" marL="0">
              <a:buNone/>
            </a:pPr>
            <a:r>
              <a:rPr lang="en-US" sz="1450" b="1" dirty="0">
                <a:solidFill>
                  <a:srgbClr val="00A8A8"/>
                </a:solidFill>
                <a:latin typeface="Arial" pitchFamily="34" charset="0"/>
                <a:ea typeface="Arial" pitchFamily="34" charset="-122"/>
                <a:cs typeface="Arial" pitchFamily="34" charset="-120"/>
              </a:rPr>
              <a:t>● </a:t>
            </a:r>
            <a:pPr indent="0" marL="0">
              <a:buNone/>
            </a:pPr>
            <a:r>
              <a:rPr lang="en-US" sz="1450" dirty="0">
                <a:solidFill>
                  <a:srgbClr val="17202A"/>
                </a:solidFill>
                <a:latin typeface="Arial" pitchFamily="34" charset="0"/>
                <a:ea typeface="Arial" pitchFamily="34" charset="-122"/>
                <a:cs typeface="Arial" pitchFamily="34" charset="-120"/>
              </a:rPr>
              <a:t>The turn boundary becomes the default unit for labels, features, and classification.</a:t>
            </a:r>
            <a:endParaRPr lang="en-US" sz="1450" dirty="0"/>
          </a:p>
        </p:txBody>
      </p:sp>
      <p:sp>
        <p:nvSpPr>
          <p:cNvPr id="18" name="Text 16"/>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segmentation</a:t>
            </a:r>
            <a:endParaRPr lang="en-US" sz="750" dirty="0"/>
          </a:p>
        </p:txBody>
      </p:sp>
      <p:sp>
        <p:nvSpPr>
          <p:cNvPr id="19" name="Text 17"/>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EMOTION LABELS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Annotation is the measurement instrument</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68680" y="1463040"/>
            <a:ext cx="4754880" cy="2057400"/>
          </a:xfrm>
          <a:prstGeom prst="roundRect">
            <a:avLst>
              <a:gd name="adj" fmla="val 3556"/>
            </a:avLst>
          </a:prstGeom>
          <a:solidFill>
            <a:srgbClr val="F5F7FA"/>
          </a:solidFill>
          <a:ln w="12700">
            <a:solidFill>
              <a:srgbClr val="E4E7EB"/>
            </a:solidFill>
            <a:prstDash val="solid"/>
          </a:ln>
        </p:spPr>
      </p:sp>
      <p:sp>
        <p:nvSpPr>
          <p:cNvPr id="6" name="Text 4"/>
          <p:cNvSpPr/>
          <p:nvPr/>
        </p:nvSpPr>
        <p:spPr>
          <a:xfrm>
            <a:off x="1143000" y="1755648"/>
            <a:ext cx="4206240" cy="228600"/>
          </a:xfrm>
          <a:prstGeom prst="rect">
            <a:avLst/>
          </a:prstGeom>
          <a:noFill/>
          <a:ln/>
        </p:spPr>
        <p:txBody>
          <a:bodyPr wrap="square" lIns="0" tIns="0" rIns="0" bIns="0" rtlCol="0" anchor="ctr"/>
          <a:lstStyle/>
          <a:p>
            <a:pPr indent="0" marL="0">
              <a:buNone/>
            </a:pPr>
            <a:r>
              <a:rPr lang="en-US" sz="1800" b="1" dirty="0">
                <a:solidFill>
                  <a:srgbClr val="102A43"/>
                </a:solidFill>
                <a:latin typeface="Arial" pitchFamily="34" charset="0"/>
                <a:ea typeface="Arial" pitchFamily="34" charset="-122"/>
                <a:cs typeface="Arial" pitchFamily="34" charset="-120"/>
              </a:rPr>
              <a:t>Categorical labels</a:t>
            </a:r>
            <a:endParaRPr lang="en-US" sz="1800" dirty="0"/>
          </a:p>
        </p:txBody>
      </p:sp>
      <p:sp>
        <p:nvSpPr>
          <p:cNvPr id="7" name="Text 5"/>
          <p:cNvSpPr/>
          <p:nvPr/>
        </p:nvSpPr>
        <p:spPr>
          <a:xfrm>
            <a:off x="1143000" y="2148840"/>
            <a:ext cx="4251960" cy="914400"/>
          </a:xfrm>
          <a:prstGeom prst="rect">
            <a:avLst/>
          </a:prstGeom>
          <a:noFill/>
          <a:ln/>
        </p:spPr>
        <p:txBody>
          <a:bodyPr wrap="square" lIns="381" tIns="381" rIns="381" bIns="381" rtlCol="0" anchor="t">
            <a:normAutofit/>
          </a:bodyPr>
          <a:lstStyle/>
          <a:p>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anger, sadness, happiness, disgust, fear, surprise</a:t>
            </a:r>
            <a:pPr indent="0" marL="0">
              <a:buNone/>
            </a:pPr>
            <a:r>
              <a:rPr lang="en-US" sz="1250" dirty="0">
                <a:solidFill>
                  <a:srgbClr val="000000"/>
                </a:solidFill>
                <a:latin typeface="Arial" pitchFamily="34" charset="0"/>
                <a:ea typeface="Arial" pitchFamily="34" charset="-122"/>
                <a:cs typeface="Arial" pitchFamily="34" charset="-120"/>
              </a:rPr>
              <a:t>
</a:t>
            </a:r>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plus frustration, excited, neutral, other</a:t>
            </a:r>
            <a:pPr indent="0" marL="0">
              <a:buNone/>
            </a:pPr>
            <a:r>
              <a:rPr lang="en-US" sz="1250" dirty="0">
                <a:solidFill>
                  <a:srgbClr val="000000"/>
                </a:solidFill>
                <a:latin typeface="Arial" pitchFamily="34" charset="0"/>
                <a:ea typeface="Arial" pitchFamily="34" charset="-122"/>
                <a:cs typeface="Arial" pitchFamily="34" charset="-120"/>
              </a:rPr>
              <a:t>
</a:t>
            </a:r>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3 raters per utterance; majority vote when unique</a:t>
            </a:r>
            <a:endParaRPr lang="en-US" sz="1250" dirty="0"/>
          </a:p>
        </p:txBody>
      </p:sp>
      <p:sp>
        <p:nvSpPr>
          <p:cNvPr id="8" name="Shape 6"/>
          <p:cNvSpPr/>
          <p:nvPr/>
        </p:nvSpPr>
        <p:spPr>
          <a:xfrm>
            <a:off x="6537960" y="1463040"/>
            <a:ext cx="4754880" cy="2057400"/>
          </a:xfrm>
          <a:prstGeom prst="roundRect">
            <a:avLst>
              <a:gd name="adj" fmla="val 3556"/>
            </a:avLst>
          </a:prstGeom>
          <a:solidFill>
            <a:srgbClr val="FFF7E6"/>
          </a:solidFill>
          <a:ln w="12700">
            <a:solidFill>
              <a:srgbClr val="FFE0A3"/>
            </a:solidFill>
            <a:prstDash val="solid"/>
          </a:ln>
        </p:spPr>
      </p:sp>
      <p:sp>
        <p:nvSpPr>
          <p:cNvPr id="9" name="Text 7"/>
          <p:cNvSpPr/>
          <p:nvPr/>
        </p:nvSpPr>
        <p:spPr>
          <a:xfrm>
            <a:off x="6812280" y="1755648"/>
            <a:ext cx="4206240" cy="228600"/>
          </a:xfrm>
          <a:prstGeom prst="rect">
            <a:avLst/>
          </a:prstGeom>
          <a:noFill/>
          <a:ln/>
        </p:spPr>
        <p:txBody>
          <a:bodyPr wrap="square" lIns="0" tIns="0" rIns="0" bIns="0" rtlCol="0" anchor="ctr"/>
          <a:lstStyle/>
          <a:p>
            <a:pPr indent="0" marL="0">
              <a:buNone/>
            </a:pPr>
            <a:r>
              <a:rPr lang="en-US" sz="1800" b="1" dirty="0">
                <a:solidFill>
                  <a:srgbClr val="102A43"/>
                </a:solidFill>
                <a:latin typeface="Arial" pitchFamily="34" charset="0"/>
                <a:ea typeface="Arial" pitchFamily="34" charset="-122"/>
                <a:cs typeface="Arial" pitchFamily="34" charset="-120"/>
              </a:rPr>
              <a:t>Continuous attributes</a:t>
            </a:r>
            <a:endParaRPr lang="en-US" sz="1800" dirty="0"/>
          </a:p>
        </p:txBody>
      </p:sp>
      <p:sp>
        <p:nvSpPr>
          <p:cNvPr id="10" name="Text 8"/>
          <p:cNvSpPr/>
          <p:nvPr/>
        </p:nvSpPr>
        <p:spPr>
          <a:xfrm>
            <a:off x="6812280" y="2148840"/>
            <a:ext cx="4251960" cy="914400"/>
          </a:xfrm>
          <a:prstGeom prst="rect">
            <a:avLst/>
          </a:prstGeom>
          <a:noFill/>
          <a:ln/>
        </p:spPr>
        <p:txBody>
          <a:bodyPr wrap="square" lIns="381" tIns="381" rIns="381" bIns="381" rtlCol="0" anchor="t">
            <a:normAutofit/>
          </a:bodyPr>
          <a:lstStyle/>
          <a:p>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valence: negative → positive</a:t>
            </a:r>
            <a:pPr indent="0" marL="0">
              <a:buNone/>
            </a:pPr>
            <a:r>
              <a:rPr lang="en-US" sz="1250" dirty="0">
                <a:solidFill>
                  <a:srgbClr val="000000"/>
                </a:solidFill>
                <a:latin typeface="Arial" pitchFamily="34" charset="0"/>
                <a:ea typeface="Arial" pitchFamily="34" charset="-122"/>
                <a:cs typeface="Arial" pitchFamily="34" charset="-120"/>
              </a:rPr>
              <a:t>
</a:t>
            </a:r>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activation: calm → excited</a:t>
            </a:r>
            <a:pPr indent="0" marL="0">
              <a:buNone/>
            </a:pPr>
            <a:r>
              <a:rPr lang="en-US" sz="1250" dirty="0">
                <a:solidFill>
                  <a:srgbClr val="000000"/>
                </a:solidFill>
                <a:latin typeface="Arial" pitchFamily="34" charset="0"/>
                <a:ea typeface="Arial" pitchFamily="34" charset="-122"/>
                <a:cs typeface="Arial" pitchFamily="34" charset="-120"/>
              </a:rPr>
              <a:t>
</a:t>
            </a:r>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dominance: weak → strong</a:t>
            </a:r>
            <a:pPr indent="0" marL="0">
              <a:buNone/>
            </a:pPr>
            <a:r>
              <a:rPr lang="en-US" sz="1250" dirty="0">
                <a:solidFill>
                  <a:srgbClr val="000000"/>
                </a:solidFill>
                <a:latin typeface="Arial" pitchFamily="34" charset="0"/>
                <a:ea typeface="Arial" pitchFamily="34" charset="-122"/>
                <a:cs typeface="Arial" pitchFamily="34" charset="-120"/>
              </a:rPr>
              <a:t>
</a:t>
            </a:r>
            <a:pPr indent="0" marL="0">
              <a:buNone/>
            </a:pPr>
            <a:r>
              <a:rPr lang="en-US" sz="1250" b="1" dirty="0">
                <a:solidFill>
                  <a:srgbClr val="00A8A8"/>
                </a:solidFill>
                <a:latin typeface="Arial" pitchFamily="34" charset="0"/>
                <a:ea typeface="Arial" pitchFamily="34" charset="-122"/>
                <a:cs typeface="Arial" pitchFamily="34" charset="-120"/>
              </a:rPr>
              <a:t>● </a:t>
            </a:r>
            <a:pPr indent="0" marL="0">
              <a:buNone/>
            </a:pPr>
            <a:r>
              <a:rPr lang="en-US" sz="1250" dirty="0">
                <a:solidFill>
                  <a:srgbClr val="17202A"/>
                </a:solidFill>
                <a:latin typeface="Arial" pitchFamily="34" charset="0"/>
                <a:ea typeface="Arial" pitchFamily="34" charset="-122"/>
                <a:cs typeface="Arial" pitchFamily="34" charset="-120"/>
              </a:rPr>
              <a:t>2 raters; SAM scale from 1 to 5</a:t>
            </a:r>
            <a:endParaRPr lang="en-US" sz="1250" dirty="0"/>
          </a:p>
        </p:txBody>
      </p:sp>
      <p:sp>
        <p:nvSpPr>
          <p:cNvPr id="11" name="Text 9"/>
          <p:cNvSpPr/>
          <p:nvPr/>
        </p:nvSpPr>
        <p:spPr>
          <a:xfrm>
            <a:off x="1143000" y="4617720"/>
            <a:ext cx="9875520" cy="36576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Key point: categorical emotion labels and dimensional affect ratings are complementary, not interchangeable.</a:t>
            </a:r>
            <a:endParaRPr lang="en-US" sz="1550" dirty="0"/>
          </a:p>
        </p:txBody>
      </p:sp>
      <p:sp>
        <p:nvSpPr>
          <p:cNvPr id="12" name="Text 10"/>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annotation scheme</a:t>
            </a:r>
            <a:endParaRPr lang="en-US" sz="750" dirty="0"/>
          </a:p>
        </p:txBody>
      </p:sp>
      <p:sp>
        <p:nvSpPr>
          <p:cNvPr id="13" name="Text 1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EMOTION LABELS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Agreement is evidence—and ambiguity is data</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554480"/>
            <a:ext cx="2194560" cy="475488"/>
          </a:xfrm>
          <a:prstGeom prst="rect">
            <a:avLst/>
          </a:prstGeom>
          <a:noFill/>
          <a:ln/>
        </p:spPr>
        <p:txBody>
          <a:bodyPr wrap="square" lIns="0" tIns="0" rIns="0" bIns="0" rtlCol="0" anchor="ctr"/>
          <a:lstStyle/>
          <a:p>
            <a:pPr algn="ctr" indent="0" marL="0">
              <a:buNone/>
            </a:pPr>
            <a:r>
              <a:rPr lang="en-US" sz="2800" b="1" dirty="0">
                <a:solidFill>
                  <a:srgbClr val="00A8A8"/>
                </a:solidFill>
                <a:latin typeface="Arial" pitchFamily="34" charset="0"/>
                <a:ea typeface="Arial" pitchFamily="34" charset="-122"/>
                <a:cs typeface="Arial" pitchFamily="34" charset="-120"/>
              </a:rPr>
              <a:t>74.6%</a:t>
            </a:r>
            <a:endParaRPr lang="en-US" sz="2800" dirty="0"/>
          </a:p>
        </p:txBody>
      </p:sp>
      <p:sp>
        <p:nvSpPr>
          <p:cNvPr id="6" name="Text 4"/>
          <p:cNvSpPr/>
          <p:nvPr/>
        </p:nvSpPr>
        <p:spPr>
          <a:xfrm>
            <a:off x="822960" y="2057400"/>
            <a:ext cx="21945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turns with unique majority label</a:t>
            </a:r>
            <a:endParaRPr lang="en-US" sz="1050" dirty="0"/>
          </a:p>
        </p:txBody>
      </p:sp>
      <p:sp>
        <p:nvSpPr>
          <p:cNvPr id="7" name="Text 5"/>
          <p:cNvSpPr/>
          <p:nvPr/>
        </p:nvSpPr>
        <p:spPr>
          <a:xfrm>
            <a:off x="3291840" y="1554480"/>
            <a:ext cx="1828800" cy="475488"/>
          </a:xfrm>
          <a:prstGeom prst="rect">
            <a:avLst/>
          </a:prstGeom>
          <a:noFill/>
          <a:ln/>
        </p:spPr>
        <p:txBody>
          <a:bodyPr wrap="square" lIns="0" tIns="0" rIns="0" bIns="0" rtlCol="0" anchor="ctr"/>
          <a:lstStyle/>
          <a:p>
            <a:pPr algn="ctr" indent="0" marL="0">
              <a:buNone/>
            </a:pPr>
            <a:r>
              <a:rPr lang="en-US" sz="2800" b="1" dirty="0">
                <a:solidFill>
                  <a:srgbClr val="7C3AED"/>
                </a:solidFill>
                <a:latin typeface="Arial" pitchFamily="34" charset="0"/>
                <a:ea typeface="Arial" pitchFamily="34" charset="-122"/>
                <a:cs typeface="Arial" pitchFamily="34" charset="-120"/>
              </a:rPr>
              <a:t>66.9%</a:t>
            </a:r>
            <a:endParaRPr lang="en-US" sz="2800" dirty="0"/>
          </a:p>
        </p:txBody>
      </p:sp>
      <p:sp>
        <p:nvSpPr>
          <p:cNvPr id="8" name="Text 6"/>
          <p:cNvSpPr/>
          <p:nvPr/>
        </p:nvSpPr>
        <p:spPr>
          <a:xfrm>
            <a:off x="3291840" y="2057400"/>
            <a:ext cx="182880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scripted sessions</a:t>
            </a:r>
            <a:endParaRPr lang="en-US" sz="1050" dirty="0"/>
          </a:p>
        </p:txBody>
      </p:sp>
      <p:sp>
        <p:nvSpPr>
          <p:cNvPr id="9" name="Text 7"/>
          <p:cNvSpPr/>
          <p:nvPr/>
        </p:nvSpPr>
        <p:spPr>
          <a:xfrm>
            <a:off x="5486400" y="1554480"/>
            <a:ext cx="192024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83.1%</a:t>
            </a:r>
            <a:endParaRPr lang="en-US" sz="2800" dirty="0"/>
          </a:p>
        </p:txBody>
      </p:sp>
      <p:sp>
        <p:nvSpPr>
          <p:cNvPr id="10" name="Text 8"/>
          <p:cNvSpPr/>
          <p:nvPr/>
        </p:nvSpPr>
        <p:spPr>
          <a:xfrm>
            <a:off x="5486400" y="2057400"/>
            <a:ext cx="192024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spontaneous sessions</a:t>
            </a:r>
            <a:endParaRPr lang="en-US" sz="1050" dirty="0"/>
          </a:p>
        </p:txBody>
      </p:sp>
      <p:sp>
        <p:nvSpPr>
          <p:cNvPr id="11" name="Text 9"/>
          <p:cNvSpPr/>
          <p:nvPr/>
        </p:nvSpPr>
        <p:spPr>
          <a:xfrm>
            <a:off x="7772400" y="1554480"/>
            <a:ext cx="1828800" cy="475488"/>
          </a:xfrm>
          <a:prstGeom prst="rect">
            <a:avLst/>
          </a:prstGeom>
          <a:noFill/>
          <a:ln/>
        </p:spPr>
        <p:txBody>
          <a:bodyPr wrap="square" lIns="0" tIns="0" rIns="0" bIns="0" rtlCol="0" anchor="ctr"/>
          <a:lstStyle/>
          <a:p>
            <a:pPr algn="ctr" indent="0" marL="0">
              <a:buNone/>
            </a:pPr>
            <a:r>
              <a:rPr lang="en-US" sz="2800" b="1" dirty="0">
                <a:solidFill>
                  <a:srgbClr val="F4B400"/>
                </a:solidFill>
                <a:latin typeface="Arial" pitchFamily="34" charset="0"/>
                <a:ea typeface="Arial" pitchFamily="34" charset="-122"/>
                <a:cs typeface="Arial" pitchFamily="34" charset="-120"/>
              </a:rPr>
              <a:t>κ=.40</a:t>
            </a:r>
            <a:endParaRPr lang="en-US" sz="2800" dirty="0"/>
          </a:p>
        </p:txBody>
      </p:sp>
      <p:sp>
        <p:nvSpPr>
          <p:cNvPr id="12" name="Text 10"/>
          <p:cNvSpPr/>
          <p:nvPr/>
        </p:nvSpPr>
        <p:spPr>
          <a:xfrm>
            <a:off x="7772400" y="2057400"/>
            <a:ext cx="182880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agreement among kept turns</a:t>
            </a:r>
            <a:endParaRPr lang="en-US" sz="1050" dirty="0"/>
          </a:p>
        </p:txBody>
      </p:sp>
      <p:sp>
        <p:nvSpPr>
          <p:cNvPr id="13" name="Shape 11"/>
          <p:cNvSpPr/>
          <p:nvPr/>
        </p:nvSpPr>
        <p:spPr>
          <a:xfrm>
            <a:off x="1051560" y="3657600"/>
            <a:ext cx="10058400" cy="841248"/>
          </a:xfrm>
          <a:prstGeom prst="roundRect">
            <a:avLst>
              <a:gd name="adj" fmla="val 8696"/>
            </a:avLst>
          </a:prstGeom>
          <a:solidFill>
            <a:srgbClr val="FFECEC"/>
          </a:solidFill>
          <a:ln w="12700">
            <a:solidFill>
              <a:srgbClr val="FFD2D2"/>
            </a:solidFill>
            <a:prstDash val="solid"/>
          </a:ln>
        </p:spPr>
      </p:sp>
      <p:sp>
        <p:nvSpPr>
          <p:cNvPr id="14" name="Text 12"/>
          <p:cNvSpPr/>
          <p:nvPr/>
        </p:nvSpPr>
        <p:spPr>
          <a:xfrm>
            <a:off x="1417320" y="3950208"/>
            <a:ext cx="9326880" cy="182880"/>
          </a:xfrm>
          <a:prstGeom prst="rect">
            <a:avLst/>
          </a:prstGeom>
          <a:noFill/>
          <a:ln/>
        </p:spPr>
        <p:txBody>
          <a:bodyPr wrap="square" lIns="381" tIns="381" rIns="381" bIns="381" rtlCol="0" anchor="ctr">
            <a:normAutofit/>
          </a:bodyPr>
          <a:lstStyle/>
          <a:p>
            <a:pPr algn="ctr" indent="0" marL="0">
              <a:buNone/>
            </a:pPr>
            <a:r>
              <a:rPr lang="en-US" sz="1350" b="1" dirty="0">
                <a:solidFill>
                  <a:srgbClr val="102A43"/>
                </a:solidFill>
                <a:latin typeface="Arial" pitchFamily="34" charset="0"/>
                <a:ea typeface="Arial" pitchFamily="34" charset="-122"/>
                <a:cs typeface="Arial" pitchFamily="34" charset="-120"/>
              </a:rPr>
              <a:t>Ambiguity is not merely noise: it tells us that observers do not always perceive the same emotion in the same behavior.</a:t>
            </a:r>
            <a:endParaRPr lang="en-US" sz="1350" dirty="0"/>
          </a:p>
        </p:txBody>
      </p:sp>
      <p:sp>
        <p:nvSpPr>
          <p:cNvPr id="15" name="Shape 13"/>
          <p:cNvSpPr/>
          <p:nvPr/>
        </p:nvSpPr>
        <p:spPr>
          <a:xfrm>
            <a:off x="2743200" y="4983480"/>
            <a:ext cx="2115312" cy="731520"/>
          </a:xfrm>
          <a:prstGeom prst="rect">
            <a:avLst/>
          </a:prstGeom>
          <a:solidFill>
            <a:srgbClr val="00A8A8"/>
          </a:solidFill>
          <a:ln w="12700">
            <a:solidFill>
              <a:srgbClr val="00A8A8">
                <a:alpha val="0"/>
              </a:srgbClr>
            </a:solidFill>
            <a:prstDash val="solid"/>
          </a:ln>
        </p:spPr>
      </p:sp>
      <p:sp>
        <p:nvSpPr>
          <p:cNvPr id="16" name="Text 14"/>
          <p:cNvSpPr/>
          <p:nvPr/>
        </p:nvSpPr>
        <p:spPr>
          <a:xfrm>
            <a:off x="2743200" y="4782312"/>
            <a:ext cx="2115312"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809</a:t>
            </a:r>
            <a:endParaRPr lang="en-US" sz="850" dirty="0"/>
          </a:p>
        </p:txBody>
      </p:sp>
      <p:sp>
        <p:nvSpPr>
          <p:cNvPr id="17" name="Text 15"/>
          <p:cNvSpPr/>
          <p:nvPr/>
        </p:nvSpPr>
        <p:spPr>
          <a:xfrm>
            <a:off x="2743200" y="5779008"/>
            <a:ext cx="2115312"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valence α</a:t>
            </a:r>
            <a:endParaRPr lang="en-US" sz="720" dirty="0"/>
          </a:p>
        </p:txBody>
      </p:sp>
      <p:sp>
        <p:nvSpPr>
          <p:cNvPr id="18" name="Shape 16"/>
          <p:cNvSpPr/>
          <p:nvPr/>
        </p:nvSpPr>
        <p:spPr>
          <a:xfrm>
            <a:off x="4931664" y="5166134"/>
            <a:ext cx="2115312" cy="548866"/>
          </a:xfrm>
          <a:prstGeom prst="rect">
            <a:avLst/>
          </a:prstGeom>
          <a:solidFill>
            <a:srgbClr val="7C3AED"/>
          </a:solidFill>
          <a:ln w="12700">
            <a:solidFill>
              <a:srgbClr val="7C3AED">
                <a:alpha val="0"/>
              </a:srgbClr>
            </a:solidFill>
            <a:prstDash val="solid"/>
          </a:ln>
        </p:spPr>
      </p:sp>
      <p:sp>
        <p:nvSpPr>
          <p:cNvPr id="19" name="Text 17"/>
          <p:cNvSpPr/>
          <p:nvPr/>
        </p:nvSpPr>
        <p:spPr>
          <a:xfrm>
            <a:off x="4931664" y="4964966"/>
            <a:ext cx="2115312"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607</a:t>
            </a:r>
            <a:endParaRPr lang="en-US" sz="850" dirty="0"/>
          </a:p>
        </p:txBody>
      </p:sp>
      <p:sp>
        <p:nvSpPr>
          <p:cNvPr id="20" name="Text 18"/>
          <p:cNvSpPr/>
          <p:nvPr/>
        </p:nvSpPr>
        <p:spPr>
          <a:xfrm>
            <a:off x="4931664" y="5779008"/>
            <a:ext cx="2115312"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activation α</a:t>
            </a:r>
            <a:endParaRPr lang="en-US" sz="720" dirty="0"/>
          </a:p>
        </p:txBody>
      </p:sp>
      <p:sp>
        <p:nvSpPr>
          <p:cNvPr id="21" name="Shape 19"/>
          <p:cNvSpPr/>
          <p:nvPr/>
        </p:nvSpPr>
        <p:spPr>
          <a:xfrm>
            <a:off x="7120128" y="5165230"/>
            <a:ext cx="2115312" cy="549770"/>
          </a:xfrm>
          <a:prstGeom prst="rect">
            <a:avLst/>
          </a:prstGeom>
          <a:solidFill>
            <a:srgbClr val="FF6B6B"/>
          </a:solidFill>
          <a:ln w="12700">
            <a:solidFill>
              <a:srgbClr val="FF6B6B">
                <a:alpha val="0"/>
              </a:srgbClr>
            </a:solidFill>
            <a:prstDash val="solid"/>
          </a:ln>
        </p:spPr>
      </p:sp>
      <p:sp>
        <p:nvSpPr>
          <p:cNvPr id="22" name="Text 20"/>
          <p:cNvSpPr/>
          <p:nvPr/>
        </p:nvSpPr>
        <p:spPr>
          <a:xfrm>
            <a:off x="7120128" y="4964062"/>
            <a:ext cx="2115312"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608</a:t>
            </a:r>
            <a:endParaRPr lang="en-US" sz="850" dirty="0"/>
          </a:p>
        </p:txBody>
      </p:sp>
      <p:sp>
        <p:nvSpPr>
          <p:cNvPr id="23" name="Text 21"/>
          <p:cNvSpPr/>
          <p:nvPr/>
        </p:nvSpPr>
        <p:spPr>
          <a:xfrm>
            <a:off x="7120128" y="5779008"/>
            <a:ext cx="2115312"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dominance α</a:t>
            </a:r>
            <a:endParaRPr lang="en-US" sz="720" dirty="0"/>
          </a:p>
        </p:txBody>
      </p:sp>
      <p:sp>
        <p:nvSpPr>
          <p:cNvPr id="24" name="Shape 22"/>
          <p:cNvSpPr/>
          <p:nvPr/>
        </p:nvSpPr>
        <p:spPr>
          <a:xfrm>
            <a:off x="2743200" y="5715000"/>
            <a:ext cx="6492240" cy="0"/>
          </a:xfrm>
          <a:prstGeom prst="line">
            <a:avLst/>
          </a:prstGeom>
          <a:noFill/>
          <a:ln w="7620">
            <a:solidFill>
              <a:srgbClr val="CBD2D9"/>
            </a:solidFill>
            <a:prstDash val="solid"/>
          </a:ln>
        </p:spPr>
      </p:sp>
      <p:sp>
        <p:nvSpPr>
          <p:cNvPr id="25" name="Text 23"/>
          <p:cNvSpPr/>
          <p:nvPr/>
        </p:nvSpPr>
        <p:spPr>
          <a:xfrm>
            <a:off x="2468880" y="6080760"/>
            <a:ext cx="7132320" cy="182880"/>
          </a:xfrm>
          <a:prstGeom prst="rect">
            <a:avLst/>
          </a:prstGeom>
          <a:noFill/>
          <a:ln/>
        </p:spPr>
        <p:txBody>
          <a:bodyPr wrap="square" lIns="381" tIns="381" rIns="381" bIns="381" rtlCol="0" anchor="ctr">
            <a:normAutofit/>
          </a:bodyPr>
          <a:lstStyle/>
          <a:p>
            <a:pPr algn="ctr" indent="0" marL="0">
              <a:buNone/>
            </a:pPr>
            <a:r>
              <a:rPr lang="en-US" sz="1150" dirty="0">
                <a:solidFill>
                  <a:srgbClr val="3E4C59"/>
                </a:solidFill>
                <a:latin typeface="Arial" pitchFamily="34" charset="0"/>
                <a:ea typeface="Arial" pitchFamily="34" charset="-122"/>
                <a:cs typeface="Arial" pitchFamily="34" charset="-120"/>
              </a:rPr>
              <a:t>Attribute rating reliability: valence is easier than activation or dominance.</a:t>
            </a:r>
            <a:endParaRPr lang="en-US" sz="1150" dirty="0"/>
          </a:p>
        </p:txBody>
      </p:sp>
      <p:sp>
        <p:nvSpPr>
          <p:cNvPr id="26" name="Text 2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agreement</a:t>
            </a:r>
            <a:endParaRPr lang="en-US" sz="750" dirty="0"/>
          </a:p>
        </p:txBody>
      </p:sp>
      <p:sp>
        <p:nvSpPr>
          <p:cNvPr id="27" name="Text 2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CORPUS STATISTICS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Emotion distribution reveals the elicitation design</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22960" y="1554480"/>
            <a:ext cx="616567" cy="2286000"/>
          </a:xfrm>
          <a:prstGeom prst="rect">
            <a:avLst/>
          </a:prstGeom>
          <a:solidFill>
            <a:srgbClr val="3E4C59"/>
          </a:solidFill>
          <a:ln w="12700">
            <a:solidFill>
              <a:srgbClr val="3E4C59">
                <a:alpha val="0"/>
              </a:srgbClr>
            </a:solidFill>
            <a:prstDash val="solid"/>
          </a:ln>
        </p:spPr>
      </p:sp>
      <p:sp>
        <p:nvSpPr>
          <p:cNvPr id="6" name="Text 4"/>
          <p:cNvSpPr/>
          <p:nvPr/>
        </p:nvSpPr>
        <p:spPr>
          <a:xfrm>
            <a:off x="822960" y="135331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28</a:t>
            </a:r>
            <a:endParaRPr lang="en-US" sz="850" dirty="0"/>
          </a:p>
        </p:txBody>
      </p:sp>
      <p:sp>
        <p:nvSpPr>
          <p:cNvPr id="7" name="Text 5"/>
          <p:cNvSpPr/>
          <p:nvPr/>
        </p:nvSpPr>
        <p:spPr>
          <a:xfrm>
            <a:off x="822960"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N</a:t>
            </a:r>
            <a:endParaRPr lang="en-US" sz="720" dirty="0"/>
          </a:p>
        </p:txBody>
      </p:sp>
      <p:sp>
        <p:nvSpPr>
          <p:cNvPr id="8" name="Shape 6"/>
          <p:cNvSpPr/>
          <p:nvPr/>
        </p:nvSpPr>
        <p:spPr>
          <a:xfrm>
            <a:off x="1512679" y="1881051"/>
            <a:ext cx="616567" cy="1959429"/>
          </a:xfrm>
          <a:prstGeom prst="rect">
            <a:avLst/>
          </a:prstGeom>
          <a:solidFill>
            <a:srgbClr val="FF6B6B"/>
          </a:solidFill>
          <a:ln w="12700">
            <a:solidFill>
              <a:srgbClr val="FF6B6B">
                <a:alpha val="0"/>
              </a:srgbClr>
            </a:solidFill>
            <a:prstDash val="solid"/>
          </a:ln>
        </p:spPr>
      </p:sp>
      <p:sp>
        <p:nvSpPr>
          <p:cNvPr id="9" name="Text 7"/>
          <p:cNvSpPr/>
          <p:nvPr/>
        </p:nvSpPr>
        <p:spPr>
          <a:xfrm>
            <a:off x="1512679" y="1679883"/>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24</a:t>
            </a:r>
            <a:endParaRPr lang="en-US" sz="850" dirty="0"/>
          </a:p>
        </p:txBody>
      </p:sp>
      <p:sp>
        <p:nvSpPr>
          <p:cNvPr id="10" name="Text 8"/>
          <p:cNvSpPr/>
          <p:nvPr/>
        </p:nvSpPr>
        <p:spPr>
          <a:xfrm>
            <a:off x="1512679"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Fr</a:t>
            </a:r>
            <a:endParaRPr lang="en-US" sz="720" dirty="0"/>
          </a:p>
        </p:txBody>
      </p:sp>
      <p:sp>
        <p:nvSpPr>
          <p:cNvPr id="11" name="Shape 9"/>
          <p:cNvSpPr/>
          <p:nvPr/>
        </p:nvSpPr>
        <p:spPr>
          <a:xfrm>
            <a:off x="2202398" y="2452551"/>
            <a:ext cx="616567" cy="1387929"/>
          </a:xfrm>
          <a:prstGeom prst="rect">
            <a:avLst/>
          </a:prstGeom>
          <a:solidFill>
            <a:srgbClr val="F4B400"/>
          </a:solidFill>
          <a:ln w="12700">
            <a:solidFill>
              <a:srgbClr val="F4B400">
                <a:alpha val="0"/>
              </a:srgbClr>
            </a:solidFill>
            <a:prstDash val="solid"/>
          </a:ln>
        </p:spPr>
      </p:sp>
      <p:sp>
        <p:nvSpPr>
          <p:cNvPr id="12" name="Text 10"/>
          <p:cNvSpPr/>
          <p:nvPr/>
        </p:nvSpPr>
        <p:spPr>
          <a:xfrm>
            <a:off x="2202398" y="2251383"/>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17</a:t>
            </a:r>
            <a:endParaRPr lang="en-US" sz="850" dirty="0"/>
          </a:p>
        </p:txBody>
      </p:sp>
      <p:sp>
        <p:nvSpPr>
          <p:cNvPr id="13" name="Text 11"/>
          <p:cNvSpPr/>
          <p:nvPr/>
        </p:nvSpPr>
        <p:spPr>
          <a:xfrm>
            <a:off x="2202398"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Ex</a:t>
            </a:r>
            <a:endParaRPr lang="en-US" sz="720" dirty="0"/>
          </a:p>
        </p:txBody>
      </p:sp>
      <p:sp>
        <p:nvSpPr>
          <p:cNvPr id="14" name="Shape 12"/>
          <p:cNvSpPr/>
          <p:nvPr/>
        </p:nvSpPr>
        <p:spPr>
          <a:xfrm>
            <a:off x="2892117" y="2615837"/>
            <a:ext cx="616567" cy="1224643"/>
          </a:xfrm>
          <a:prstGeom prst="rect">
            <a:avLst/>
          </a:prstGeom>
          <a:solidFill>
            <a:srgbClr val="7C3AED"/>
          </a:solidFill>
          <a:ln w="12700">
            <a:solidFill>
              <a:srgbClr val="7C3AED">
                <a:alpha val="0"/>
              </a:srgbClr>
            </a:solidFill>
            <a:prstDash val="solid"/>
          </a:ln>
        </p:spPr>
      </p:sp>
      <p:sp>
        <p:nvSpPr>
          <p:cNvPr id="15" name="Text 13"/>
          <p:cNvSpPr/>
          <p:nvPr/>
        </p:nvSpPr>
        <p:spPr>
          <a:xfrm>
            <a:off x="2892117" y="2414669"/>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15</a:t>
            </a:r>
            <a:endParaRPr lang="en-US" sz="850" dirty="0"/>
          </a:p>
        </p:txBody>
      </p:sp>
      <p:sp>
        <p:nvSpPr>
          <p:cNvPr id="16" name="Text 14"/>
          <p:cNvSpPr/>
          <p:nvPr/>
        </p:nvSpPr>
        <p:spPr>
          <a:xfrm>
            <a:off x="2892117"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Sd</a:t>
            </a:r>
            <a:endParaRPr lang="en-US" sz="720" dirty="0"/>
          </a:p>
        </p:txBody>
      </p:sp>
      <p:sp>
        <p:nvSpPr>
          <p:cNvPr id="17" name="Shape 15"/>
          <p:cNvSpPr/>
          <p:nvPr/>
        </p:nvSpPr>
        <p:spPr>
          <a:xfrm>
            <a:off x="3581835" y="3268980"/>
            <a:ext cx="616567" cy="571500"/>
          </a:xfrm>
          <a:prstGeom prst="rect">
            <a:avLst/>
          </a:prstGeom>
          <a:solidFill>
            <a:srgbClr val="D64545"/>
          </a:solidFill>
          <a:ln w="12700">
            <a:solidFill>
              <a:srgbClr val="D64545">
                <a:alpha val="0"/>
              </a:srgbClr>
            </a:solidFill>
            <a:prstDash val="solid"/>
          </a:ln>
        </p:spPr>
      </p:sp>
      <p:sp>
        <p:nvSpPr>
          <p:cNvPr id="18" name="Text 16"/>
          <p:cNvSpPr/>
          <p:nvPr/>
        </p:nvSpPr>
        <p:spPr>
          <a:xfrm>
            <a:off x="3581835" y="306781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7</a:t>
            </a:r>
            <a:endParaRPr lang="en-US" sz="850" dirty="0"/>
          </a:p>
        </p:txBody>
      </p:sp>
      <p:sp>
        <p:nvSpPr>
          <p:cNvPr id="19" name="Text 17"/>
          <p:cNvSpPr/>
          <p:nvPr/>
        </p:nvSpPr>
        <p:spPr>
          <a:xfrm>
            <a:off x="3581835"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An</a:t>
            </a:r>
            <a:endParaRPr lang="en-US" sz="720" dirty="0"/>
          </a:p>
        </p:txBody>
      </p:sp>
      <p:sp>
        <p:nvSpPr>
          <p:cNvPr id="20" name="Shape 18"/>
          <p:cNvSpPr/>
          <p:nvPr/>
        </p:nvSpPr>
        <p:spPr>
          <a:xfrm>
            <a:off x="4271554" y="3268980"/>
            <a:ext cx="616567" cy="571500"/>
          </a:xfrm>
          <a:prstGeom prst="rect">
            <a:avLst/>
          </a:prstGeom>
          <a:solidFill>
            <a:srgbClr val="00A8A8"/>
          </a:solidFill>
          <a:ln w="12700">
            <a:solidFill>
              <a:srgbClr val="00A8A8">
                <a:alpha val="0"/>
              </a:srgbClr>
            </a:solidFill>
            <a:prstDash val="solid"/>
          </a:ln>
        </p:spPr>
      </p:sp>
      <p:sp>
        <p:nvSpPr>
          <p:cNvPr id="21" name="Text 19"/>
          <p:cNvSpPr/>
          <p:nvPr/>
        </p:nvSpPr>
        <p:spPr>
          <a:xfrm>
            <a:off x="4271554" y="306781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7</a:t>
            </a:r>
            <a:endParaRPr lang="en-US" sz="850" dirty="0"/>
          </a:p>
        </p:txBody>
      </p:sp>
      <p:sp>
        <p:nvSpPr>
          <p:cNvPr id="22" name="Text 20"/>
          <p:cNvSpPr/>
          <p:nvPr/>
        </p:nvSpPr>
        <p:spPr>
          <a:xfrm>
            <a:off x="4271554"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Hp</a:t>
            </a:r>
            <a:endParaRPr lang="en-US" sz="720" dirty="0"/>
          </a:p>
        </p:txBody>
      </p:sp>
      <p:sp>
        <p:nvSpPr>
          <p:cNvPr id="23" name="Shape 21"/>
          <p:cNvSpPr/>
          <p:nvPr/>
        </p:nvSpPr>
        <p:spPr>
          <a:xfrm>
            <a:off x="4961273" y="3677194"/>
            <a:ext cx="616567" cy="163286"/>
          </a:xfrm>
          <a:prstGeom prst="rect">
            <a:avLst/>
          </a:prstGeom>
          <a:solidFill>
            <a:srgbClr val="42B883"/>
          </a:solidFill>
          <a:ln w="12700">
            <a:solidFill>
              <a:srgbClr val="42B883">
                <a:alpha val="0"/>
              </a:srgbClr>
            </a:solidFill>
            <a:prstDash val="solid"/>
          </a:ln>
        </p:spPr>
      </p:sp>
      <p:sp>
        <p:nvSpPr>
          <p:cNvPr id="24" name="Text 22"/>
          <p:cNvSpPr/>
          <p:nvPr/>
        </p:nvSpPr>
        <p:spPr>
          <a:xfrm>
            <a:off x="4961273" y="3476026"/>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25" name="Text 23"/>
          <p:cNvSpPr/>
          <p:nvPr/>
        </p:nvSpPr>
        <p:spPr>
          <a:xfrm>
            <a:off x="4961273"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Su</a:t>
            </a:r>
            <a:endParaRPr lang="en-US" sz="720" dirty="0"/>
          </a:p>
        </p:txBody>
      </p:sp>
      <p:sp>
        <p:nvSpPr>
          <p:cNvPr id="26" name="Shape 24"/>
          <p:cNvSpPr/>
          <p:nvPr/>
        </p:nvSpPr>
        <p:spPr>
          <a:xfrm>
            <a:off x="822960" y="3840480"/>
            <a:ext cx="4754880" cy="0"/>
          </a:xfrm>
          <a:prstGeom prst="line">
            <a:avLst/>
          </a:prstGeom>
          <a:noFill/>
          <a:ln w="7620">
            <a:solidFill>
              <a:srgbClr val="CBD2D9"/>
            </a:solidFill>
            <a:prstDash val="solid"/>
          </a:ln>
        </p:spPr>
      </p:sp>
      <p:sp>
        <p:nvSpPr>
          <p:cNvPr id="27" name="Text 25"/>
          <p:cNvSpPr/>
          <p:nvPr/>
        </p:nvSpPr>
        <p:spPr>
          <a:xfrm>
            <a:off x="822960" y="4343400"/>
            <a:ext cx="4754880" cy="219456"/>
          </a:xfrm>
          <a:prstGeom prst="rect">
            <a:avLst/>
          </a:prstGeom>
          <a:noFill/>
          <a:ln/>
        </p:spPr>
        <p:txBody>
          <a:bodyPr wrap="square" lIns="381" tIns="381" rIns="381" bIns="381" rtlCol="0" anchor="ctr">
            <a:normAutofit/>
          </a:bodyPr>
          <a:lstStyle/>
          <a:p>
            <a:pPr algn="ctr" indent="0" marL="0">
              <a:buNone/>
            </a:pPr>
            <a:r>
              <a:rPr lang="en-US" sz="1300" b="1" dirty="0">
                <a:solidFill>
                  <a:srgbClr val="3E4C59"/>
                </a:solidFill>
                <a:latin typeface="Arial" pitchFamily="34" charset="0"/>
                <a:ea typeface="Arial" pitchFamily="34" charset="-122"/>
                <a:cs typeface="Arial" pitchFamily="34" charset="-120"/>
              </a:rPr>
              <a:t>Scripted sessions (%)</a:t>
            </a:r>
            <a:endParaRPr lang="en-US" sz="1300" dirty="0"/>
          </a:p>
        </p:txBody>
      </p:sp>
      <p:sp>
        <p:nvSpPr>
          <p:cNvPr id="28" name="Shape 26"/>
          <p:cNvSpPr/>
          <p:nvPr/>
        </p:nvSpPr>
        <p:spPr>
          <a:xfrm>
            <a:off x="6446520" y="1554480"/>
            <a:ext cx="616567" cy="2286000"/>
          </a:xfrm>
          <a:prstGeom prst="rect">
            <a:avLst/>
          </a:prstGeom>
          <a:solidFill>
            <a:srgbClr val="FF6B6B"/>
          </a:solidFill>
          <a:ln w="12700">
            <a:solidFill>
              <a:srgbClr val="FF6B6B">
                <a:alpha val="0"/>
              </a:srgbClr>
            </a:solidFill>
            <a:prstDash val="solid"/>
          </a:ln>
        </p:spPr>
      </p:sp>
      <p:sp>
        <p:nvSpPr>
          <p:cNvPr id="29" name="Text 27"/>
          <p:cNvSpPr/>
          <p:nvPr/>
        </p:nvSpPr>
        <p:spPr>
          <a:xfrm>
            <a:off x="6446520" y="135331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25</a:t>
            </a:r>
            <a:endParaRPr lang="en-US" sz="850" dirty="0"/>
          </a:p>
        </p:txBody>
      </p:sp>
      <p:sp>
        <p:nvSpPr>
          <p:cNvPr id="30" name="Text 28"/>
          <p:cNvSpPr/>
          <p:nvPr/>
        </p:nvSpPr>
        <p:spPr>
          <a:xfrm>
            <a:off x="6446520"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Fr</a:t>
            </a:r>
            <a:endParaRPr lang="en-US" sz="720" dirty="0"/>
          </a:p>
        </p:txBody>
      </p:sp>
      <p:sp>
        <p:nvSpPr>
          <p:cNvPr id="31" name="Shape 29"/>
          <p:cNvSpPr/>
          <p:nvPr/>
        </p:nvSpPr>
        <p:spPr>
          <a:xfrm>
            <a:off x="7136239" y="1737360"/>
            <a:ext cx="616567" cy="2103120"/>
          </a:xfrm>
          <a:prstGeom prst="rect">
            <a:avLst/>
          </a:prstGeom>
          <a:solidFill>
            <a:srgbClr val="D64545"/>
          </a:solidFill>
          <a:ln w="12700">
            <a:solidFill>
              <a:srgbClr val="D64545">
                <a:alpha val="0"/>
              </a:srgbClr>
            </a:solidFill>
            <a:prstDash val="solid"/>
          </a:ln>
        </p:spPr>
      </p:sp>
      <p:sp>
        <p:nvSpPr>
          <p:cNvPr id="32" name="Text 30"/>
          <p:cNvSpPr/>
          <p:nvPr/>
        </p:nvSpPr>
        <p:spPr>
          <a:xfrm>
            <a:off x="7136239" y="153619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23</a:t>
            </a:r>
            <a:endParaRPr lang="en-US" sz="850" dirty="0"/>
          </a:p>
        </p:txBody>
      </p:sp>
      <p:sp>
        <p:nvSpPr>
          <p:cNvPr id="33" name="Text 31"/>
          <p:cNvSpPr/>
          <p:nvPr/>
        </p:nvSpPr>
        <p:spPr>
          <a:xfrm>
            <a:off x="7136239"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An</a:t>
            </a:r>
            <a:endParaRPr lang="en-US" sz="720" dirty="0"/>
          </a:p>
        </p:txBody>
      </p:sp>
      <p:sp>
        <p:nvSpPr>
          <p:cNvPr id="34" name="Shape 32"/>
          <p:cNvSpPr/>
          <p:nvPr/>
        </p:nvSpPr>
        <p:spPr>
          <a:xfrm>
            <a:off x="7825958" y="2286000"/>
            <a:ext cx="616567" cy="1554480"/>
          </a:xfrm>
          <a:prstGeom prst="rect">
            <a:avLst/>
          </a:prstGeom>
          <a:solidFill>
            <a:srgbClr val="3E4C59"/>
          </a:solidFill>
          <a:ln w="12700">
            <a:solidFill>
              <a:srgbClr val="3E4C59">
                <a:alpha val="0"/>
              </a:srgbClr>
            </a:solidFill>
            <a:prstDash val="solid"/>
          </a:ln>
        </p:spPr>
      </p:sp>
      <p:sp>
        <p:nvSpPr>
          <p:cNvPr id="35" name="Text 33"/>
          <p:cNvSpPr/>
          <p:nvPr/>
        </p:nvSpPr>
        <p:spPr>
          <a:xfrm>
            <a:off x="7825958" y="208483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17</a:t>
            </a:r>
            <a:endParaRPr lang="en-US" sz="850" dirty="0"/>
          </a:p>
        </p:txBody>
      </p:sp>
      <p:sp>
        <p:nvSpPr>
          <p:cNvPr id="36" name="Text 34"/>
          <p:cNvSpPr/>
          <p:nvPr/>
        </p:nvSpPr>
        <p:spPr>
          <a:xfrm>
            <a:off x="7825958"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N</a:t>
            </a:r>
            <a:endParaRPr lang="en-US" sz="720" dirty="0"/>
          </a:p>
        </p:txBody>
      </p:sp>
      <p:sp>
        <p:nvSpPr>
          <p:cNvPr id="37" name="Shape 35"/>
          <p:cNvSpPr/>
          <p:nvPr/>
        </p:nvSpPr>
        <p:spPr>
          <a:xfrm>
            <a:off x="8515677" y="2560320"/>
            <a:ext cx="616567" cy="1280160"/>
          </a:xfrm>
          <a:prstGeom prst="rect">
            <a:avLst/>
          </a:prstGeom>
          <a:solidFill>
            <a:srgbClr val="7C3AED"/>
          </a:solidFill>
          <a:ln w="12700">
            <a:solidFill>
              <a:srgbClr val="7C3AED">
                <a:alpha val="0"/>
              </a:srgbClr>
            </a:solidFill>
            <a:prstDash val="solid"/>
          </a:ln>
        </p:spPr>
      </p:sp>
      <p:sp>
        <p:nvSpPr>
          <p:cNvPr id="38" name="Text 36"/>
          <p:cNvSpPr/>
          <p:nvPr/>
        </p:nvSpPr>
        <p:spPr>
          <a:xfrm>
            <a:off x="8515677" y="235915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14</a:t>
            </a:r>
            <a:endParaRPr lang="en-US" sz="850" dirty="0"/>
          </a:p>
        </p:txBody>
      </p:sp>
      <p:sp>
        <p:nvSpPr>
          <p:cNvPr id="39" name="Text 37"/>
          <p:cNvSpPr/>
          <p:nvPr/>
        </p:nvSpPr>
        <p:spPr>
          <a:xfrm>
            <a:off x="8515677"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Sd</a:t>
            </a:r>
            <a:endParaRPr lang="en-US" sz="720" dirty="0"/>
          </a:p>
        </p:txBody>
      </p:sp>
      <p:sp>
        <p:nvSpPr>
          <p:cNvPr id="40" name="Shape 38"/>
          <p:cNvSpPr/>
          <p:nvPr/>
        </p:nvSpPr>
        <p:spPr>
          <a:xfrm>
            <a:off x="9205395" y="2834640"/>
            <a:ext cx="616567" cy="1005840"/>
          </a:xfrm>
          <a:prstGeom prst="rect">
            <a:avLst/>
          </a:prstGeom>
          <a:solidFill>
            <a:srgbClr val="F4B400"/>
          </a:solidFill>
          <a:ln w="12700">
            <a:solidFill>
              <a:srgbClr val="F4B400">
                <a:alpha val="0"/>
              </a:srgbClr>
            </a:solidFill>
            <a:prstDash val="solid"/>
          </a:ln>
        </p:spPr>
      </p:sp>
      <p:sp>
        <p:nvSpPr>
          <p:cNvPr id="41" name="Text 39"/>
          <p:cNvSpPr/>
          <p:nvPr/>
        </p:nvSpPr>
        <p:spPr>
          <a:xfrm>
            <a:off x="9205395" y="263347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11</a:t>
            </a:r>
            <a:endParaRPr lang="en-US" sz="850" dirty="0"/>
          </a:p>
        </p:txBody>
      </p:sp>
      <p:sp>
        <p:nvSpPr>
          <p:cNvPr id="42" name="Text 40"/>
          <p:cNvSpPr/>
          <p:nvPr/>
        </p:nvSpPr>
        <p:spPr>
          <a:xfrm>
            <a:off x="9205395"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Ex</a:t>
            </a:r>
            <a:endParaRPr lang="en-US" sz="720" dirty="0"/>
          </a:p>
        </p:txBody>
      </p:sp>
      <p:sp>
        <p:nvSpPr>
          <p:cNvPr id="43" name="Shape 41"/>
          <p:cNvSpPr/>
          <p:nvPr/>
        </p:nvSpPr>
        <p:spPr>
          <a:xfrm>
            <a:off x="9895114" y="3017520"/>
            <a:ext cx="616567" cy="822960"/>
          </a:xfrm>
          <a:prstGeom prst="rect">
            <a:avLst/>
          </a:prstGeom>
          <a:solidFill>
            <a:srgbClr val="00A8A8"/>
          </a:solidFill>
          <a:ln w="12700">
            <a:solidFill>
              <a:srgbClr val="00A8A8">
                <a:alpha val="0"/>
              </a:srgbClr>
            </a:solidFill>
            <a:prstDash val="solid"/>
          </a:ln>
        </p:spPr>
      </p:sp>
      <p:sp>
        <p:nvSpPr>
          <p:cNvPr id="44" name="Text 42"/>
          <p:cNvSpPr/>
          <p:nvPr/>
        </p:nvSpPr>
        <p:spPr>
          <a:xfrm>
            <a:off x="9895114" y="281635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9</a:t>
            </a:r>
            <a:endParaRPr lang="en-US" sz="850" dirty="0"/>
          </a:p>
        </p:txBody>
      </p:sp>
      <p:sp>
        <p:nvSpPr>
          <p:cNvPr id="45" name="Text 43"/>
          <p:cNvSpPr/>
          <p:nvPr/>
        </p:nvSpPr>
        <p:spPr>
          <a:xfrm>
            <a:off x="9895114"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Hp</a:t>
            </a:r>
            <a:endParaRPr lang="en-US" sz="720" dirty="0"/>
          </a:p>
        </p:txBody>
      </p:sp>
      <p:sp>
        <p:nvSpPr>
          <p:cNvPr id="46" name="Shape 44"/>
          <p:cNvSpPr/>
          <p:nvPr/>
        </p:nvSpPr>
        <p:spPr>
          <a:xfrm>
            <a:off x="10584833" y="3749040"/>
            <a:ext cx="616567" cy="91440"/>
          </a:xfrm>
          <a:prstGeom prst="rect">
            <a:avLst/>
          </a:prstGeom>
          <a:solidFill>
            <a:srgbClr val="42B883"/>
          </a:solidFill>
          <a:ln w="12700">
            <a:solidFill>
              <a:srgbClr val="42B883">
                <a:alpha val="0"/>
              </a:srgbClr>
            </a:solidFill>
            <a:prstDash val="solid"/>
          </a:ln>
        </p:spPr>
      </p:sp>
      <p:sp>
        <p:nvSpPr>
          <p:cNvPr id="47" name="Text 45"/>
          <p:cNvSpPr/>
          <p:nvPr/>
        </p:nvSpPr>
        <p:spPr>
          <a:xfrm>
            <a:off x="10584833" y="3547872"/>
            <a:ext cx="616567"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a:t>
            </a:r>
            <a:endParaRPr lang="en-US" sz="850" dirty="0"/>
          </a:p>
        </p:txBody>
      </p:sp>
      <p:sp>
        <p:nvSpPr>
          <p:cNvPr id="48" name="Text 46"/>
          <p:cNvSpPr/>
          <p:nvPr/>
        </p:nvSpPr>
        <p:spPr>
          <a:xfrm>
            <a:off x="10584833" y="3904488"/>
            <a:ext cx="616567"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Su</a:t>
            </a:r>
            <a:endParaRPr lang="en-US" sz="720" dirty="0"/>
          </a:p>
        </p:txBody>
      </p:sp>
      <p:sp>
        <p:nvSpPr>
          <p:cNvPr id="49" name="Shape 47"/>
          <p:cNvSpPr/>
          <p:nvPr/>
        </p:nvSpPr>
        <p:spPr>
          <a:xfrm>
            <a:off x="6446520" y="3840480"/>
            <a:ext cx="4754880" cy="0"/>
          </a:xfrm>
          <a:prstGeom prst="line">
            <a:avLst/>
          </a:prstGeom>
          <a:noFill/>
          <a:ln w="7620">
            <a:solidFill>
              <a:srgbClr val="CBD2D9"/>
            </a:solidFill>
            <a:prstDash val="solid"/>
          </a:ln>
        </p:spPr>
      </p:sp>
      <p:sp>
        <p:nvSpPr>
          <p:cNvPr id="50" name="Text 48"/>
          <p:cNvSpPr/>
          <p:nvPr/>
        </p:nvSpPr>
        <p:spPr>
          <a:xfrm>
            <a:off x="6446520" y="4343400"/>
            <a:ext cx="4754880" cy="219456"/>
          </a:xfrm>
          <a:prstGeom prst="rect">
            <a:avLst/>
          </a:prstGeom>
          <a:noFill/>
          <a:ln/>
        </p:spPr>
        <p:txBody>
          <a:bodyPr wrap="square" lIns="381" tIns="381" rIns="381" bIns="381" rtlCol="0" anchor="ctr">
            <a:normAutofit/>
          </a:bodyPr>
          <a:lstStyle/>
          <a:p>
            <a:pPr algn="ctr" indent="0" marL="0">
              <a:buNone/>
            </a:pPr>
            <a:r>
              <a:rPr lang="en-US" sz="1300" b="1" dirty="0">
                <a:solidFill>
                  <a:srgbClr val="3E4C59"/>
                </a:solidFill>
                <a:latin typeface="Arial" pitchFamily="34" charset="0"/>
                <a:ea typeface="Arial" pitchFamily="34" charset="-122"/>
                <a:cs typeface="Arial" pitchFamily="34" charset="-120"/>
              </a:rPr>
              <a:t>Spontaneous sessions (%)</a:t>
            </a:r>
            <a:endParaRPr lang="en-US" sz="1300" dirty="0"/>
          </a:p>
        </p:txBody>
      </p:sp>
      <p:sp>
        <p:nvSpPr>
          <p:cNvPr id="51" name="Text 49"/>
          <p:cNvSpPr/>
          <p:nvPr/>
        </p:nvSpPr>
        <p:spPr>
          <a:xfrm>
            <a:off x="1371600" y="5166360"/>
            <a:ext cx="960120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The target categories are balanced enough for modeling, but not every basic emotion is common.</a:t>
            </a:r>
            <a:endParaRPr lang="en-US" sz="1550" dirty="0"/>
          </a:p>
        </p:txBody>
      </p:sp>
      <p:sp>
        <p:nvSpPr>
          <p:cNvPr id="52" name="Text 50"/>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label distribution</a:t>
            </a:r>
            <a:endParaRPr lang="en-US" sz="750" dirty="0"/>
          </a:p>
        </p:txBody>
      </p:sp>
      <p:sp>
        <p:nvSpPr>
          <p:cNvPr id="53" name="Text 5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MEASUREMENT</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Self-ratings vs observer ratings: whose emotion?</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1828800" y="2128006"/>
            <a:ext cx="1563624" cy="1666754"/>
          </a:xfrm>
          <a:prstGeom prst="rect">
            <a:avLst/>
          </a:prstGeom>
          <a:solidFill>
            <a:srgbClr val="7C3AED"/>
          </a:solidFill>
          <a:ln w="12700">
            <a:solidFill>
              <a:srgbClr val="7C3AED">
                <a:alpha val="0"/>
              </a:srgbClr>
            </a:solidFill>
            <a:prstDash val="solid"/>
          </a:ln>
        </p:spPr>
      </p:sp>
      <p:sp>
        <p:nvSpPr>
          <p:cNvPr id="6" name="Text 4"/>
          <p:cNvSpPr/>
          <p:nvPr/>
        </p:nvSpPr>
        <p:spPr>
          <a:xfrm>
            <a:off x="1828800" y="1926838"/>
            <a:ext cx="156362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60</a:t>
            </a:r>
            <a:endParaRPr lang="en-US" sz="850" dirty="0"/>
          </a:p>
        </p:txBody>
      </p:sp>
      <p:sp>
        <p:nvSpPr>
          <p:cNvPr id="7" name="Text 5"/>
          <p:cNvSpPr/>
          <p:nvPr/>
        </p:nvSpPr>
        <p:spPr>
          <a:xfrm>
            <a:off x="1828800" y="3858768"/>
            <a:ext cx="156362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self</a:t>
            </a:r>
            <a:endParaRPr lang="en-US" sz="720" dirty="0"/>
          </a:p>
        </p:txBody>
      </p:sp>
      <p:sp>
        <p:nvSpPr>
          <p:cNvPr id="8" name="Shape 6"/>
          <p:cNvSpPr/>
          <p:nvPr/>
        </p:nvSpPr>
        <p:spPr>
          <a:xfrm>
            <a:off x="3465576" y="1600200"/>
            <a:ext cx="1563624" cy="2194560"/>
          </a:xfrm>
          <a:prstGeom prst="rect">
            <a:avLst/>
          </a:prstGeom>
          <a:solidFill>
            <a:srgbClr val="00A8A8"/>
          </a:solidFill>
          <a:ln w="12700">
            <a:solidFill>
              <a:srgbClr val="00A8A8">
                <a:alpha val="0"/>
              </a:srgbClr>
            </a:solidFill>
            <a:prstDash val="solid"/>
          </a:ln>
        </p:spPr>
      </p:sp>
      <p:sp>
        <p:nvSpPr>
          <p:cNvPr id="9" name="Text 7"/>
          <p:cNvSpPr/>
          <p:nvPr/>
        </p:nvSpPr>
        <p:spPr>
          <a:xfrm>
            <a:off x="3465576" y="1399032"/>
            <a:ext cx="156362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79</a:t>
            </a:r>
            <a:endParaRPr lang="en-US" sz="850" dirty="0"/>
          </a:p>
        </p:txBody>
      </p:sp>
      <p:sp>
        <p:nvSpPr>
          <p:cNvPr id="10" name="Text 8"/>
          <p:cNvSpPr/>
          <p:nvPr/>
        </p:nvSpPr>
        <p:spPr>
          <a:xfrm>
            <a:off x="3465576" y="3858768"/>
            <a:ext cx="156362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others</a:t>
            </a:r>
            <a:endParaRPr lang="en-US" sz="720" dirty="0"/>
          </a:p>
        </p:txBody>
      </p:sp>
      <p:sp>
        <p:nvSpPr>
          <p:cNvPr id="11" name="Shape 9"/>
          <p:cNvSpPr/>
          <p:nvPr/>
        </p:nvSpPr>
        <p:spPr>
          <a:xfrm>
            <a:off x="1828800" y="3794760"/>
            <a:ext cx="3200400" cy="0"/>
          </a:xfrm>
          <a:prstGeom prst="line">
            <a:avLst/>
          </a:prstGeom>
          <a:noFill/>
          <a:ln w="7620">
            <a:solidFill>
              <a:srgbClr val="CBD2D9"/>
            </a:solidFill>
            <a:prstDash val="solid"/>
          </a:ln>
        </p:spPr>
      </p:sp>
      <p:sp>
        <p:nvSpPr>
          <p:cNvPr id="12" name="Text 10"/>
          <p:cNvSpPr/>
          <p:nvPr/>
        </p:nvSpPr>
        <p:spPr>
          <a:xfrm>
            <a:off x="1280160" y="4343400"/>
            <a:ext cx="4480560" cy="411480"/>
          </a:xfrm>
          <a:prstGeom prst="rect">
            <a:avLst/>
          </a:prstGeom>
          <a:noFill/>
          <a:ln/>
        </p:spPr>
        <p:txBody>
          <a:bodyPr wrap="square" lIns="381" tIns="381" rIns="381" bIns="381" rtlCol="0" anchor="ctr">
            <a:normAutofit/>
          </a:bodyPr>
          <a:lstStyle/>
          <a:p>
            <a:pPr algn="ctr" indent="0" marL="0">
              <a:buNone/>
            </a:pPr>
            <a:r>
              <a:rPr lang="en-US" sz="1250" dirty="0">
                <a:solidFill>
                  <a:srgbClr val="3E4C59"/>
                </a:solidFill>
                <a:latin typeface="Arial" pitchFamily="34" charset="0"/>
                <a:ea typeface="Arial" pitchFamily="34" charset="-122"/>
                <a:cs typeface="Arial" pitchFamily="34" charset="-120"/>
              </a:rPr>
              <a:t>Average match to majority-vote labels in spontaneous scenarios</a:t>
            </a:r>
            <a:endParaRPr lang="en-US" sz="1250" dirty="0"/>
          </a:p>
        </p:txBody>
      </p:sp>
      <p:sp>
        <p:nvSpPr>
          <p:cNvPr id="13" name="Shape 11"/>
          <p:cNvSpPr/>
          <p:nvPr/>
        </p:nvSpPr>
        <p:spPr>
          <a:xfrm>
            <a:off x="6400800" y="1508760"/>
            <a:ext cx="4572000" cy="2834640"/>
          </a:xfrm>
          <a:prstGeom prst="roundRect">
            <a:avLst>
              <a:gd name="adj" fmla="val 2581"/>
            </a:avLst>
          </a:prstGeom>
          <a:solidFill>
            <a:srgbClr val="F5F7FA"/>
          </a:solidFill>
          <a:ln w="12700">
            <a:solidFill>
              <a:srgbClr val="E4E7EB"/>
            </a:solidFill>
            <a:prstDash val="solid"/>
          </a:ln>
        </p:spPr>
      </p:sp>
      <p:sp>
        <p:nvSpPr>
          <p:cNvPr id="14" name="Text 12"/>
          <p:cNvSpPr/>
          <p:nvPr/>
        </p:nvSpPr>
        <p:spPr>
          <a:xfrm>
            <a:off x="6720840" y="1828800"/>
            <a:ext cx="3840480" cy="201168"/>
          </a:xfrm>
          <a:prstGeom prst="rect">
            <a:avLst/>
          </a:prstGeom>
          <a:noFill/>
          <a:ln/>
        </p:spPr>
        <p:txBody>
          <a:bodyPr wrap="square" lIns="0" tIns="0" rIns="0" bIns="0" rtlCol="0" anchor="ctr"/>
          <a:lstStyle/>
          <a:p>
            <a:pPr indent="0" marL="0">
              <a:buNone/>
            </a:pPr>
            <a:r>
              <a:rPr lang="en-US" sz="1700" b="1" dirty="0">
                <a:solidFill>
                  <a:srgbClr val="102A43"/>
                </a:solidFill>
                <a:latin typeface="Arial" pitchFamily="34" charset="0"/>
                <a:ea typeface="Arial" pitchFamily="34" charset="-122"/>
                <a:cs typeface="Arial" pitchFamily="34" charset="-120"/>
              </a:rPr>
              <a:t>Interpretation</a:t>
            </a:r>
            <a:endParaRPr lang="en-US" sz="1700" dirty="0"/>
          </a:p>
        </p:txBody>
      </p:sp>
      <p:sp>
        <p:nvSpPr>
          <p:cNvPr id="15" name="Text 13"/>
          <p:cNvSpPr/>
          <p:nvPr/>
        </p:nvSpPr>
        <p:spPr>
          <a:xfrm>
            <a:off x="6720840" y="2240280"/>
            <a:ext cx="3886200" cy="1280160"/>
          </a:xfrm>
          <a:prstGeom prst="rect">
            <a:avLst/>
          </a:prstGeom>
          <a:noFill/>
          <a:ln/>
        </p:spPr>
        <p:txBody>
          <a:bodyPr wrap="square" lIns="381" tIns="381" rIns="381" bIns="381" rtlCol="0" anchor="t">
            <a:normAutofit/>
          </a:bodyPr>
          <a:lstStyle/>
          <a:p>
            <a:pPr indent="0" marL="0">
              <a:buNone/>
            </a:pPr>
            <a:r>
              <a:rPr lang="en-US" sz="1330" b="1" dirty="0">
                <a:solidFill>
                  <a:srgbClr val="00A8A8"/>
                </a:solidFill>
                <a:latin typeface="Arial" pitchFamily="34" charset="0"/>
                <a:ea typeface="Arial" pitchFamily="34" charset="-122"/>
                <a:cs typeface="Arial" pitchFamily="34" charset="-120"/>
              </a:rPr>
              <a:t>● </a:t>
            </a:r>
            <a:pPr indent="0" marL="0">
              <a:buNone/>
            </a:pPr>
            <a:r>
              <a:rPr lang="en-US" sz="1330" dirty="0">
                <a:solidFill>
                  <a:srgbClr val="17202A"/>
                </a:solidFill>
                <a:latin typeface="Arial" pitchFamily="34" charset="0"/>
                <a:ea typeface="Arial" pitchFamily="34" charset="-122"/>
                <a:cs typeface="Arial" pitchFamily="34" charset="-120"/>
              </a:rPr>
              <a:t>Actors may know what they intended or felt.</a:t>
            </a:r>
            <a:pPr indent="0" marL="0">
              <a:buNone/>
            </a:pPr>
            <a:r>
              <a:rPr lang="en-US" sz="1330" dirty="0">
                <a:solidFill>
                  <a:srgbClr val="000000"/>
                </a:solidFill>
                <a:latin typeface="Arial" pitchFamily="34" charset="0"/>
                <a:ea typeface="Arial" pitchFamily="34" charset="-122"/>
                <a:cs typeface="Arial" pitchFamily="34" charset="-120"/>
              </a:rPr>
              <a:t>
</a:t>
            </a:r>
            <a:pPr indent="0" marL="0">
              <a:buNone/>
            </a:pPr>
            <a:r>
              <a:rPr lang="en-US" sz="1330" b="1" dirty="0">
                <a:solidFill>
                  <a:srgbClr val="00A8A8"/>
                </a:solidFill>
                <a:latin typeface="Arial" pitchFamily="34" charset="0"/>
                <a:ea typeface="Arial" pitchFamily="34" charset="-122"/>
                <a:cs typeface="Arial" pitchFamily="34" charset="-120"/>
              </a:rPr>
              <a:t>● </a:t>
            </a:r>
            <a:pPr indent="0" marL="0">
              <a:buNone/>
            </a:pPr>
            <a:r>
              <a:rPr lang="en-US" sz="1330" dirty="0">
                <a:solidFill>
                  <a:srgbClr val="17202A"/>
                </a:solidFill>
                <a:latin typeface="Arial" pitchFamily="34" charset="0"/>
                <a:ea typeface="Arial" pitchFamily="34" charset="-122"/>
                <a:cs typeface="Arial" pitchFamily="34" charset="-120"/>
              </a:rPr>
              <a:t>Observers judge what they perceive from multimodal behavior.</a:t>
            </a:r>
            <a:pPr indent="0" marL="0">
              <a:buNone/>
            </a:pPr>
            <a:r>
              <a:rPr lang="en-US" sz="1330" dirty="0">
                <a:solidFill>
                  <a:srgbClr val="000000"/>
                </a:solidFill>
                <a:latin typeface="Arial" pitchFamily="34" charset="0"/>
                <a:ea typeface="Arial" pitchFamily="34" charset="-122"/>
                <a:cs typeface="Arial" pitchFamily="34" charset="-120"/>
              </a:rPr>
              <a:t>
</a:t>
            </a:r>
            <a:pPr indent="0" marL="0">
              <a:buNone/>
            </a:pPr>
            <a:r>
              <a:rPr lang="en-US" sz="1330" b="1" dirty="0">
                <a:solidFill>
                  <a:srgbClr val="00A8A8"/>
                </a:solidFill>
                <a:latin typeface="Arial" pitchFamily="34" charset="0"/>
                <a:ea typeface="Arial" pitchFamily="34" charset="-122"/>
                <a:cs typeface="Arial" pitchFamily="34" charset="-120"/>
              </a:rPr>
              <a:t>● </a:t>
            </a:r>
            <a:pPr indent="0" marL="0">
              <a:buNone/>
            </a:pPr>
            <a:r>
              <a:rPr lang="en-US" sz="1330" dirty="0">
                <a:solidFill>
                  <a:srgbClr val="17202A"/>
                </a:solidFill>
                <a:latin typeface="Arial" pitchFamily="34" charset="0"/>
                <a:ea typeface="Arial" pitchFamily="34" charset="-122"/>
                <a:cs typeface="Arial" pitchFamily="34" charset="-120"/>
              </a:rPr>
              <a:t>Affective computing often trains on observer consensus, not first-person experience.</a:t>
            </a:r>
            <a:endParaRPr lang="en-US" sz="1330" dirty="0"/>
          </a:p>
        </p:txBody>
      </p:sp>
      <p:sp>
        <p:nvSpPr>
          <p:cNvPr id="16" name="Text 14"/>
          <p:cNvSpPr/>
          <p:nvPr/>
        </p:nvSpPr>
        <p:spPr>
          <a:xfrm>
            <a:off x="1280160" y="5257800"/>
            <a:ext cx="9784080" cy="320040"/>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This is a direct bridge to the Barrett reading: recognition labels are often agreement labels.</a:t>
            </a:r>
            <a:endParaRPr lang="en-US" sz="1500" dirty="0"/>
          </a:p>
        </p:txBody>
      </p:sp>
      <p:sp>
        <p:nvSpPr>
          <p:cNvPr id="17" name="Text 1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self vs others</a:t>
            </a:r>
            <a:endParaRPr lang="en-US" sz="750" dirty="0"/>
          </a:p>
        </p:txBody>
      </p:sp>
      <p:sp>
        <p:nvSpPr>
          <p:cNvPr id="18" name="Text 1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LIMITATIONS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Technical friction is part of the dataset</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914400" y="1737360"/>
            <a:ext cx="1645920" cy="713232"/>
          </a:xfrm>
          <a:prstGeom prst="roundRect">
            <a:avLst>
              <a:gd name="adj" fmla="val 7692"/>
            </a:avLst>
          </a:prstGeom>
          <a:solidFill>
            <a:srgbClr val="00A8A8"/>
          </a:solidFill>
          <a:ln w="12700">
            <a:solidFill>
              <a:srgbClr val="00A8A8">
                <a:alpha val="0"/>
              </a:srgbClr>
            </a:solidFill>
            <a:prstDash val="solid"/>
          </a:ln>
        </p:spPr>
      </p:sp>
      <p:sp>
        <p:nvSpPr>
          <p:cNvPr id="6" name="Text 4"/>
          <p:cNvSpPr/>
          <p:nvPr/>
        </p:nvSpPr>
        <p:spPr>
          <a:xfrm>
            <a:off x="987552" y="191109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natural gestures</a:t>
            </a:r>
            <a:endParaRPr lang="en-US" sz="1100" dirty="0"/>
          </a:p>
        </p:txBody>
      </p:sp>
      <p:sp>
        <p:nvSpPr>
          <p:cNvPr id="7" name="Shape 5"/>
          <p:cNvSpPr/>
          <p:nvPr/>
        </p:nvSpPr>
        <p:spPr>
          <a:xfrm>
            <a:off x="2633472" y="1965960"/>
            <a:ext cx="356616" cy="256032"/>
          </a:xfrm>
          <a:prstGeom prst="chevron">
            <a:avLst/>
          </a:prstGeom>
          <a:solidFill>
            <a:srgbClr val="CBD2D9"/>
          </a:solidFill>
          <a:ln w="12700">
            <a:solidFill>
              <a:srgbClr val="CBD2D9">
                <a:alpha val="0"/>
              </a:srgbClr>
            </a:solidFill>
            <a:prstDash val="solid"/>
          </a:ln>
        </p:spPr>
      </p:sp>
      <p:sp>
        <p:nvSpPr>
          <p:cNvPr id="8" name="Shape 6"/>
          <p:cNvSpPr/>
          <p:nvPr/>
        </p:nvSpPr>
        <p:spPr>
          <a:xfrm>
            <a:off x="3063240" y="1737360"/>
            <a:ext cx="1645920" cy="713232"/>
          </a:xfrm>
          <a:prstGeom prst="roundRect">
            <a:avLst>
              <a:gd name="adj" fmla="val 7692"/>
            </a:avLst>
          </a:prstGeom>
          <a:solidFill>
            <a:srgbClr val="FF6B6B"/>
          </a:solidFill>
          <a:ln w="12700">
            <a:solidFill>
              <a:srgbClr val="FF6B6B">
                <a:alpha val="0"/>
              </a:srgbClr>
            </a:solidFill>
            <a:prstDash val="solid"/>
          </a:ln>
        </p:spPr>
      </p:sp>
      <p:sp>
        <p:nvSpPr>
          <p:cNvPr id="9" name="Text 7"/>
          <p:cNvSpPr/>
          <p:nvPr/>
        </p:nvSpPr>
        <p:spPr>
          <a:xfrm>
            <a:off x="3136392" y="191109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marker occlusion</a:t>
            </a:r>
            <a:endParaRPr lang="en-US" sz="1100" dirty="0"/>
          </a:p>
        </p:txBody>
      </p:sp>
      <p:sp>
        <p:nvSpPr>
          <p:cNvPr id="10" name="Shape 8"/>
          <p:cNvSpPr/>
          <p:nvPr/>
        </p:nvSpPr>
        <p:spPr>
          <a:xfrm>
            <a:off x="4782312" y="1965960"/>
            <a:ext cx="356616" cy="256032"/>
          </a:xfrm>
          <a:prstGeom prst="chevron">
            <a:avLst/>
          </a:prstGeom>
          <a:solidFill>
            <a:srgbClr val="CBD2D9"/>
          </a:solidFill>
          <a:ln w="12700">
            <a:solidFill>
              <a:srgbClr val="CBD2D9">
                <a:alpha val="0"/>
              </a:srgbClr>
            </a:solidFill>
            <a:prstDash val="solid"/>
          </a:ln>
        </p:spPr>
      </p:sp>
      <p:sp>
        <p:nvSpPr>
          <p:cNvPr id="11" name="Shape 9"/>
          <p:cNvSpPr/>
          <p:nvPr/>
        </p:nvSpPr>
        <p:spPr>
          <a:xfrm>
            <a:off x="5212080" y="1737360"/>
            <a:ext cx="1645920" cy="713232"/>
          </a:xfrm>
          <a:prstGeom prst="roundRect">
            <a:avLst>
              <a:gd name="adj" fmla="val 7692"/>
            </a:avLst>
          </a:prstGeom>
          <a:solidFill>
            <a:srgbClr val="F4B400"/>
          </a:solidFill>
          <a:ln w="12700">
            <a:solidFill>
              <a:srgbClr val="F4B400">
                <a:alpha val="0"/>
              </a:srgbClr>
            </a:solidFill>
            <a:prstDash val="solid"/>
          </a:ln>
        </p:spPr>
      </p:sp>
      <p:sp>
        <p:nvSpPr>
          <p:cNvPr id="12" name="Text 10"/>
          <p:cNvSpPr/>
          <p:nvPr/>
        </p:nvSpPr>
        <p:spPr>
          <a:xfrm>
            <a:off x="5285232" y="191109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missing frames</a:t>
            </a:r>
            <a:endParaRPr lang="en-US" sz="1100" dirty="0"/>
          </a:p>
        </p:txBody>
      </p:sp>
      <p:sp>
        <p:nvSpPr>
          <p:cNvPr id="13" name="Shape 11"/>
          <p:cNvSpPr/>
          <p:nvPr/>
        </p:nvSpPr>
        <p:spPr>
          <a:xfrm>
            <a:off x="6931152" y="1965960"/>
            <a:ext cx="356616"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7360920" y="1737360"/>
            <a:ext cx="1645920" cy="713232"/>
          </a:xfrm>
          <a:prstGeom prst="roundRect">
            <a:avLst>
              <a:gd name="adj" fmla="val 7692"/>
            </a:avLst>
          </a:prstGeom>
          <a:solidFill>
            <a:srgbClr val="7C3AED"/>
          </a:solidFill>
          <a:ln w="12700">
            <a:solidFill>
              <a:srgbClr val="7C3AED">
                <a:alpha val="0"/>
              </a:srgbClr>
            </a:solidFill>
            <a:prstDash val="solid"/>
          </a:ln>
        </p:spPr>
      </p:sp>
      <p:sp>
        <p:nvSpPr>
          <p:cNvPr id="15" name="Text 13"/>
          <p:cNvSpPr/>
          <p:nvPr/>
        </p:nvSpPr>
        <p:spPr>
          <a:xfrm>
            <a:off x="7434072" y="191109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interpolation</a:t>
            </a:r>
            <a:endParaRPr lang="en-US" sz="1100" dirty="0"/>
          </a:p>
        </p:txBody>
      </p:sp>
      <p:sp>
        <p:nvSpPr>
          <p:cNvPr id="16" name="Shape 14"/>
          <p:cNvSpPr/>
          <p:nvPr/>
        </p:nvSpPr>
        <p:spPr>
          <a:xfrm>
            <a:off x="9079992" y="1965960"/>
            <a:ext cx="356616"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9509760" y="1737360"/>
            <a:ext cx="1645920" cy="713232"/>
          </a:xfrm>
          <a:prstGeom prst="roundRect">
            <a:avLst>
              <a:gd name="adj" fmla="val 7692"/>
            </a:avLst>
          </a:prstGeom>
          <a:solidFill>
            <a:srgbClr val="3E4C59"/>
          </a:solidFill>
          <a:ln w="12700">
            <a:solidFill>
              <a:srgbClr val="3E4C59">
                <a:alpha val="0"/>
              </a:srgbClr>
            </a:solidFill>
            <a:prstDash val="solid"/>
          </a:ln>
        </p:spPr>
      </p:sp>
      <p:sp>
        <p:nvSpPr>
          <p:cNvPr id="18" name="Text 16"/>
          <p:cNvSpPr/>
          <p:nvPr/>
        </p:nvSpPr>
        <p:spPr>
          <a:xfrm>
            <a:off x="9582912" y="191109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model uncertainty</a:t>
            </a:r>
            <a:endParaRPr lang="en-US" sz="1100" dirty="0"/>
          </a:p>
        </p:txBody>
      </p:sp>
      <p:sp>
        <p:nvSpPr>
          <p:cNvPr id="19" name="Text 17"/>
          <p:cNvSpPr/>
          <p:nvPr/>
        </p:nvSpPr>
        <p:spPr>
          <a:xfrm>
            <a:off x="1143000" y="3337560"/>
            <a:ext cx="9784080" cy="1554480"/>
          </a:xfrm>
          <a:prstGeom prst="rect">
            <a:avLst/>
          </a:prstGeom>
          <a:noFill/>
          <a:ln/>
        </p:spPr>
        <p:txBody>
          <a:bodyPr wrap="square" lIns="381" tIns="381" rIns="381" bIns="381" rtlCol="0" anchor="t">
            <a:normAutofit/>
          </a:bodyPr>
          <a:lstStyle/>
          <a:p>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Only one dyad member had markers at a time; data are rich but asymmetric.</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Motion-capture constraints required seated participants and physical separation.</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Eyelid and hand markers were especially susceptible to missingness and occlusion.</a:t>
            </a:r>
            <a:pPr indent="0" marL="0">
              <a:buNone/>
            </a:pPr>
            <a:r>
              <a:rPr lang="en-US" sz="1500" dirty="0">
                <a:solidFill>
                  <a:srgbClr val="000000"/>
                </a:solidFill>
                <a:latin typeface="Arial" pitchFamily="34" charset="0"/>
                <a:ea typeface="Arial" pitchFamily="34" charset="-122"/>
                <a:cs typeface="Arial" pitchFamily="34" charset="-120"/>
              </a:rPr>
              <a:t>
</a:t>
            </a:r>
            <a:pPr indent="0" marL="0">
              <a:buNone/>
            </a:pPr>
            <a:r>
              <a:rPr lang="en-US" sz="1500" b="1" dirty="0">
                <a:solidFill>
                  <a:srgbClr val="00A8A8"/>
                </a:solidFill>
                <a:latin typeface="Arial" pitchFamily="34" charset="0"/>
                <a:ea typeface="Arial" pitchFamily="34" charset="-122"/>
                <a:cs typeface="Arial" pitchFamily="34" charset="-120"/>
              </a:rPr>
              <a:t>● </a:t>
            </a:r>
            <a:pPr indent="0" marL="0">
              <a:buNone/>
            </a:pPr>
            <a:r>
              <a:rPr lang="en-US" sz="1500" dirty="0">
                <a:solidFill>
                  <a:srgbClr val="17202A"/>
                </a:solidFill>
                <a:latin typeface="Arial" pitchFamily="34" charset="0"/>
                <a:ea typeface="Arial" pitchFamily="34" charset="-122"/>
                <a:cs typeface="Arial" pitchFamily="34" charset="-120"/>
              </a:rPr>
              <a:t>The corpus is semi-natural, not an unconstrained real-world recording.</a:t>
            </a:r>
            <a:endParaRPr lang="en-US" sz="1500" dirty="0"/>
          </a:p>
        </p:txBody>
      </p:sp>
      <p:sp>
        <p:nvSpPr>
          <p:cNvPr id="20" name="Text 18"/>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limitations</a:t>
            </a:r>
            <a:endParaRPr lang="en-US" sz="750" dirty="0"/>
          </a:p>
        </p:txBody>
      </p:sp>
      <p:sp>
        <p:nvSpPr>
          <p:cNvPr id="21" name="Text 19"/>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IMPACT</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What IEMOCAP enabled</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68680" y="1463040"/>
            <a:ext cx="3154680" cy="1005840"/>
          </a:xfrm>
          <a:prstGeom prst="roundRect">
            <a:avLst>
              <a:gd name="adj" fmla="val 7273"/>
            </a:avLst>
          </a:prstGeom>
          <a:solidFill>
            <a:srgbClr val="00A8A8"/>
          </a:solidFill>
          <a:ln w="12700">
            <a:solidFill>
              <a:srgbClr val="00A8A8">
                <a:alpha val="0"/>
              </a:srgbClr>
            </a:solidFill>
            <a:prstDash val="solid"/>
          </a:ln>
        </p:spPr>
      </p:sp>
      <p:sp>
        <p:nvSpPr>
          <p:cNvPr id="6" name="Text 4"/>
          <p:cNvSpPr/>
          <p:nvPr/>
        </p:nvSpPr>
        <p:spPr>
          <a:xfrm>
            <a:off x="1033272" y="1691640"/>
            <a:ext cx="283464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multimodal fusion</a:t>
            </a:r>
            <a:endParaRPr lang="en-US" sz="1500" dirty="0"/>
          </a:p>
        </p:txBody>
      </p:sp>
      <p:sp>
        <p:nvSpPr>
          <p:cNvPr id="7" name="Text 5"/>
          <p:cNvSpPr/>
          <p:nvPr/>
        </p:nvSpPr>
        <p:spPr>
          <a:xfrm>
            <a:off x="1033272" y="2011680"/>
            <a:ext cx="2834640" cy="256032"/>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speech + face + head + hands + language</a:t>
            </a:r>
            <a:endParaRPr lang="en-US" sz="950" dirty="0"/>
          </a:p>
        </p:txBody>
      </p:sp>
      <p:sp>
        <p:nvSpPr>
          <p:cNvPr id="8" name="Shape 6"/>
          <p:cNvSpPr/>
          <p:nvPr/>
        </p:nvSpPr>
        <p:spPr>
          <a:xfrm>
            <a:off x="4617720" y="1463040"/>
            <a:ext cx="3154680" cy="1005840"/>
          </a:xfrm>
          <a:prstGeom prst="roundRect">
            <a:avLst>
              <a:gd name="adj" fmla="val 7273"/>
            </a:avLst>
          </a:prstGeom>
          <a:solidFill>
            <a:srgbClr val="7C3AED"/>
          </a:solidFill>
          <a:ln w="12700">
            <a:solidFill>
              <a:srgbClr val="7C3AED">
                <a:alpha val="0"/>
              </a:srgbClr>
            </a:solidFill>
            <a:prstDash val="solid"/>
          </a:ln>
        </p:spPr>
      </p:sp>
      <p:sp>
        <p:nvSpPr>
          <p:cNvPr id="9" name="Text 7"/>
          <p:cNvSpPr/>
          <p:nvPr/>
        </p:nvSpPr>
        <p:spPr>
          <a:xfrm>
            <a:off x="4782312" y="1691640"/>
            <a:ext cx="283464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temporal modeling</a:t>
            </a:r>
            <a:endParaRPr lang="en-US" sz="1500" dirty="0"/>
          </a:p>
        </p:txBody>
      </p:sp>
      <p:sp>
        <p:nvSpPr>
          <p:cNvPr id="10" name="Text 8"/>
          <p:cNvSpPr/>
          <p:nvPr/>
        </p:nvSpPr>
        <p:spPr>
          <a:xfrm>
            <a:off x="4782312" y="2011680"/>
            <a:ext cx="2834640" cy="256032"/>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turns embedded in longer dialogs</a:t>
            </a:r>
            <a:endParaRPr lang="en-US" sz="950" dirty="0"/>
          </a:p>
        </p:txBody>
      </p:sp>
      <p:sp>
        <p:nvSpPr>
          <p:cNvPr id="11" name="Shape 9"/>
          <p:cNvSpPr/>
          <p:nvPr/>
        </p:nvSpPr>
        <p:spPr>
          <a:xfrm>
            <a:off x="8366760" y="1463040"/>
            <a:ext cx="3154680" cy="1005840"/>
          </a:xfrm>
          <a:prstGeom prst="roundRect">
            <a:avLst>
              <a:gd name="adj" fmla="val 7273"/>
            </a:avLst>
          </a:prstGeom>
          <a:solidFill>
            <a:srgbClr val="F4B400"/>
          </a:solidFill>
          <a:ln w="12700">
            <a:solidFill>
              <a:srgbClr val="F4B400">
                <a:alpha val="0"/>
              </a:srgbClr>
            </a:solidFill>
            <a:prstDash val="solid"/>
          </a:ln>
        </p:spPr>
      </p:sp>
      <p:sp>
        <p:nvSpPr>
          <p:cNvPr id="12" name="Text 10"/>
          <p:cNvSpPr/>
          <p:nvPr/>
        </p:nvSpPr>
        <p:spPr>
          <a:xfrm>
            <a:off x="8531352" y="1691640"/>
            <a:ext cx="283464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dyadic interaction</a:t>
            </a:r>
            <a:endParaRPr lang="en-US" sz="1500" dirty="0"/>
          </a:p>
        </p:txBody>
      </p:sp>
      <p:sp>
        <p:nvSpPr>
          <p:cNvPr id="13" name="Text 11"/>
          <p:cNvSpPr/>
          <p:nvPr/>
        </p:nvSpPr>
        <p:spPr>
          <a:xfrm>
            <a:off x="8531352" y="2011680"/>
            <a:ext cx="2834640" cy="256032"/>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speaker/listener dynamics and interruptions</a:t>
            </a:r>
            <a:endParaRPr lang="en-US" sz="950" dirty="0"/>
          </a:p>
        </p:txBody>
      </p:sp>
      <p:sp>
        <p:nvSpPr>
          <p:cNvPr id="14" name="Shape 12"/>
          <p:cNvSpPr/>
          <p:nvPr/>
        </p:nvSpPr>
        <p:spPr>
          <a:xfrm>
            <a:off x="868680" y="3017520"/>
            <a:ext cx="3154680" cy="1005840"/>
          </a:xfrm>
          <a:prstGeom prst="roundRect">
            <a:avLst>
              <a:gd name="adj" fmla="val 7273"/>
            </a:avLst>
          </a:prstGeom>
          <a:solidFill>
            <a:srgbClr val="FF6B6B"/>
          </a:solidFill>
          <a:ln w="12700">
            <a:solidFill>
              <a:srgbClr val="FF6B6B">
                <a:alpha val="0"/>
              </a:srgbClr>
            </a:solidFill>
            <a:prstDash val="solid"/>
          </a:ln>
        </p:spPr>
      </p:sp>
      <p:sp>
        <p:nvSpPr>
          <p:cNvPr id="15" name="Text 13"/>
          <p:cNvSpPr/>
          <p:nvPr/>
        </p:nvSpPr>
        <p:spPr>
          <a:xfrm>
            <a:off x="1033272" y="3246120"/>
            <a:ext cx="283464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virtual humans</a:t>
            </a:r>
            <a:endParaRPr lang="en-US" sz="1500" dirty="0"/>
          </a:p>
        </p:txBody>
      </p:sp>
      <p:sp>
        <p:nvSpPr>
          <p:cNvPr id="16" name="Text 14"/>
          <p:cNvSpPr/>
          <p:nvPr/>
        </p:nvSpPr>
        <p:spPr>
          <a:xfrm>
            <a:off x="1033272" y="3566160"/>
            <a:ext cx="2834640" cy="256032"/>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gesture and head-motion synthesis</a:t>
            </a:r>
            <a:endParaRPr lang="en-US" sz="950" dirty="0"/>
          </a:p>
        </p:txBody>
      </p:sp>
      <p:sp>
        <p:nvSpPr>
          <p:cNvPr id="17" name="Shape 15"/>
          <p:cNvSpPr/>
          <p:nvPr/>
        </p:nvSpPr>
        <p:spPr>
          <a:xfrm>
            <a:off x="4617720" y="3017520"/>
            <a:ext cx="3154680" cy="1005840"/>
          </a:xfrm>
          <a:prstGeom prst="roundRect">
            <a:avLst>
              <a:gd name="adj" fmla="val 7273"/>
            </a:avLst>
          </a:prstGeom>
          <a:solidFill>
            <a:srgbClr val="42B883"/>
          </a:solidFill>
          <a:ln w="12700">
            <a:solidFill>
              <a:srgbClr val="42B883">
                <a:alpha val="0"/>
              </a:srgbClr>
            </a:solidFill>
            <a:prstDash val="solid"/>
          </a:ln>
        </p:spPr>
      </p:sp>
      <p:sp>
        <p:nvSpPr>
          <p:cNvPr id="18" name="Text 16"/>
          <p:cNvSpPr/>
          <p:nvPr/>
        </p:nvSpPr>
        <p:spPr>
          <a:xfrm>
            <a:off x="4782312" y="3246120"/>
            <a:ext cx="283464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label research</a:t>
            </a:r>
            <a:endParaRPr lang="en-US" sz="1500" dirty="0"/>
          </a:p>
        </p:txBody>
      </p:sp>
      <p:sp>
        <p:nvSpPr>
          <p:cNvPr id="19" name="Text 17"/>
          <p:cNvSpPr/>
          <p:nvPr/>
        </p:nvSpPr>
        <p:spPr>
          <a:xfrm>
            <a:off x="4782312" y="3566160"/>
            <a:ext cx="2834640" cy="256032"/>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agreement, ambiguity, self vs other perception</a:t>
            </a:r>
            <a:endParaRPr lang="en-US" sz="950" dirty="0"/>
          </a:p>
        </p:txBody>
      </p:sp>
      <p:sp>
        <p:nvSpPr>
          <p:cNvPr id="20" name="Text 18"/>
          <p:cNvSpPr/>
          <p:nvPr/>
        </p:nvSpPr>
        <p:spPr>
          <a:xfrm>
            <a:off x="1005840" y="5074920"/>
            <a:ext cx="1014984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The database is a platform for asking better questions, not just a benchmark for higher accuracy.</a:t>
            </a:r>
            <a:endParaRPr lang="en-US" sz="1550" dirty="0"/>
          </a:p>
        </p:txBody>
      </p:sp>
      <p:sp>
        <p:nvSpPr>
          <p:cNvPr id="21" name="Text 19"/>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impact</a:t>
            </a:r>
            <a:endParaRPr lang="en-US" sz="750" dirty="0"/>
          </a:p>
        </p:txBody>
      </p:sp>
      <p:sp>
        <p:nvSpPr>
          <p:cNvPr id="22" name="Text 20"/>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PRACTICAL CRITIQUE</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Dataset audit: before you train on IEMOCAP</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914400" y="1463040"/>
            <a:ext cx="9966960" cy="2880360"/>
          </a:xfrm>
          <a:prstGeom prst="rect">
            <a:avLst/>
          </a:prstGeom>
          <a:noFill/>
          <a:ln/>
        </p:spPr>
        <p:txBody>
          <a:bodyPr wrap="square" lIns="381" tIns="381" rIns="381" bIns="381" rtlCol="0" anchor="t">
            <a:normAutofit/>
          </a:bodyPr>
          <a:lstStyle/>
          <a:p>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Label set: which categories will you collapse, and what will you lose?</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7C3AED"/>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Splits: are speakers disjoint between train and test?</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F4B400"/>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Modalities: audio-only, visual-only, language, motion capture, or fusion?</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FF6B6B"/>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Temporal unit: turn-level prediction, continuous labels, or dialogue trajectory?</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42B883"/>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Ground truth: observer consensus, actor self-report, or target elicitation?</a:t>
            </a:r>
            <a:endParaRPr lang="en-US" sz="1600" dirty="0"/>
          </a:p>
        </p:txBody>
      </p:sp>
      <p:sp>
        <p:nvSpPr>
          <p:cNvPr id="6" name="Shape 4"/>
          <p:cNvSpPr/>
          <p:nvPr/>
        </p:nvSpPr>
        <p:spPr>
          <a:xfrm>
            <a:off x="1828800" y="4983480"/>
            <a:ext cx="8503920" cy="594360"/>
          </a:xfrm>
          <a:prstGeom prst="roundRect">
            <a:avLst>
              <a:gd name="adj" fmla="val 12308"/>
            </a:avLst>
          </a:prstGeom>
          <a:solidFill>
            <a:srgbClr val="E6FFFB"/>
          </a:solidFill>
          <a:ln w="12700">
            <a:solidFill>
              <a:srgbClr val="B2F5EA"/>
            </a:solidFill>
            <a:prstDash val="solid"/>
          </a:ln>
        </p:spPr>
      </p:sp>
      <p:sp>
        <p:nvSpPr>
          <p:cNvPr id="7" name="Text 5"/>
          <p:cNvSpPr/>
          <p:nvPr/>
        </p:nvSpPr>
        <p:spPr>
          <a:xfrm>
            <a:off x="2194560" y="5175504"/>
            <a:ext cx="7772400" cy="182880"/>
          </a:xfrm>
          <a:prstGeom prst="rect">
            <a:avLst/>
          </a:prstGeom>
          <a:noFill/>
          <a:ln/>
        </p:spPr>
        <p:txBody>
          <a:bodyPr wrap="square" lIns="381" tIns="381" rIns="381" bIns="381" rtlCol="0" anchor="ctr">
            <a:normAutofit/>
          </a:bodyPr>
          <a:lstStyle/>
          <a:p>
            <a:pPr algn="ctr" indent="0" marL="0">
              <a:buNone/>
            </a:pPr>
            <a:r>
              <a:rPr lang="en-US" sz="1350" b="1" dirty="0">
                <a:solidFill>
                  <a:srgbClr val="102A43"/>
                </a:solidFill>
                <a:latin typeface="Arial" pitchFamily="34" charset="0"/>
                <a:ea typeface="Arial" pitchFamily="34" charset="-122"/>
                <a:cs typeface="Arial" pitchFamily="34" charset="-120"/>
              </a:rPr>
              <a:t>Report the choices. Otherwise, the model result is hard to interpret.</a:t>
            </a:r>
            <a:endParaRPr lang="en-US" sz="1350" dirty="0"/>
          </a:p>
        </p:txBody>
      </p:sp>
      <p:sp>
        <p:nvSpPr>
          <p:cNvPr id="8" name="Text 6"/>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dataset audit</a:t>
            </a:r>
            <a:endParaRPr lang="en-US" sz="750" dirty="0"/>
          </a:p>
        </p:txBody>
      </p:sp>
      <p:sp>
        <p:nvSpPr>
          <p:cNvPr id="9" name="Text 7"/>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E2D"/>
        </a:solidFill>
      </p:bgPr>
    </p:bg>
    <p:spTree>
      <p:nvGrpSpPr>
        <p:cNvPr id="1" name=""/>
        <p:cNvGrpSpPr/>
        <p:nvPr/>
      </p:nvGrpSpPr>
      <p:grpSpPr>
        <a:xfrm>
          <a:off x="0" y="0"/>
          <a:ext cx="0" cy="0"/>
          <a:chOff x="0" y="0"/>
          <a:chExt cx="0" cy="0"/>
        </a:xfrm>
      </p:grpSpPr>
      <p:sp>
        <p:nvSpPr>
          <p:cNvPr id="2" name="Text 0"/>
          <p:cNvSpPr/>
          <p:nvPr/>
        </p:nvSpPr>
        <p:spPr>
          <a:xfrm>
            <a:off x="685800" y="685800"/>
            <a:ext cx="2743200" cy="320040"/>
          </a:xfrm>
          <a:prstGeom prst="rect">
            <a:avLst/>
          </a:prstGeom>
          <a:noFill/>
          <a:ln/>
        </p:spPr>
        <p:txBody>
          <a:bodyPr wrap="square" lIns="0" tIns="0" rIns="0" bIns="0" rtlCol="0" anchor="ctr"/>
          <a:lstStyle/>
          <a:p>
            <a:pPr indent="0" marL="0">
              <a:buNone/>
            </a:pPr>
            <a:r>
              <a:rPr lang="en-US" sz="1200" b="1" dirty="0">
                <a:solidFill>
                  <a:srgbClr val="2EC4B6"/>
                </a:solidFill>
                <a:latin typeface="Arial" pitchFamily="34" charset="0"/>
                <a:ea typeface="Arial" pitchFamily="34" charset="-122"/>
                <a:cs typeface="Arial" pitchFamily="34" charset="-120"/>
              </a:rPr>
              <a:t>Seminar activity</a:t>
            </a:r>
            <a:endParaRPr lang="en-US" sz="1200" dirty="0"/>
          </a:p>
        </p:txBody>
      </p:sp>
      <p:sp>
        <p:nvSpPr>
          <p:cNvPr id="3" name="Text 1"/>
          <p:cNvSpPr/>
          <p:nvPr/>
        </p:nvSpPr>
        <p:spPr>
          <a:xfrm>
            <a:off x="685800" y="1508760"/>
            <a:ext cx="1024128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Design an IEMOCAP experiment</a:t>
            </a:r>
            <a:endParaRPr lang="en-US" sz="3000" dirty="0"/>
          </a:p>
        </p:txBody>
      </p:sp>
      <p:sp>
        <p:nvSpPr>
          <p:cNvPr id="4" name="Text 2"/>
          <p:cNvSpPr/>
          <p:nvPr/>
        </p:nvSpPr>
        <p:spPr>
          <a:xfrm>
            <a:off x="914400" y="2560320"/>
            <a:ext cx="10058400" cy="2194560"/>
          </a:xfrm>
          <a:prstGeom prst="rect">
            <a:avLst/>
          </a:prstGeom>
          <a:noFill/>
          <a:ln/>
        </p:spPr>
        <p:txBody>
          <a:bodyPr wrap="square" lIns="381" tIns="381" rIns="381" bIns="381" rtlCol="0" anchor="t">
            <a:normAutofit/>
          </a:bodyPr>
          <a:lstStyle/>
          <a:p>
            <a:pPr indent="0" marL="0">
              <a:buNone/>
            </a:pPr>
            <a:r>
              <a:rPr lang="en-US" sz="1650" b="1" dirty="0">
                <a:solidFill>
                  <a:srgbClr val="2EC4B6"/>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Prediction target: category label, VAD rating, or transition?</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F4B400"/>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Input: audio, language, face markers, head motion, hands, or fusion?</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FF6B6B"/>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Split: what counts as generalization?</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42B883"/>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Evaluation: accuracy, UAR, calibration, uncertainty, or human agreement ceiling?</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7C3AED"/>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Ethical claim: what can your model safely infer?</a:t>
            </a:r>
            <a:endParaRPr lang="en-US" sz="1650" dirty="0"/>
          </a:p>
        </p:txBody>
      </p:sp>
      <p:sp>
        <p:nvSpPr>
          <p:cNvPr id="5" name="Text 3"/>
          <p:cNvSpPr/>
          <p:nvPr/>
        </p:nvSpPr>
        <p:spPr>
          <a:xfrm>
            <a:off x="914400" y="5669280"/>
            <a:ext cx="96012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Small groups: choose one research question and defend one dataset split.</a:t>
            </a:r>
            <a:endParaRPr lang="en-US" sz="1400" dirty="0"/>
          </a:p>
        </p:txBody>
      </p:sp>
      <p:sp>
        <p:nvSpPr>
          <p:cNvPr id="6" name="Text 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activity</a:t>
            </a:r>
            <a:endParaRPr lang="en-US" sz="750" dirty="0"/>
          </a:p>
        </p:txBody>
      </p:sp>
      <p:sp>
        <p:nvSpPr>
          <p:cNvPr id="7" name="Text 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SUMMARY</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Five takeaways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914400" y="1389888"/>
            <a:ext cx="365760" cy="365760"/>
          </a:xfrm>
          <a:prstGeom prst="ellipse">
            <a:avLst/>
          </a:prstGeom>
          <a:solidFill>
            <a:srgbClr val="00A8A8"/>
          </a:solidFill>
          <a:ln w="12700">
            <a:solidFill>
              <a:srgbClr val="00A8A8">
                <a:alpha val="0"/>
              </a:srgbClr>
            </a:solidFill>
            <a:prstDash val="solid"/>
          </a:ln>
        </p:spPr>
      </p:sp>
      <p:sp>
        <p:nvSpPr>
          <p:cNvPr id="6" name="Text 4"/>
          <p:cNvSpPr/>
          <p:nvPr/>
        </p:nvSpPr>
        <p:spPr>
          <a:xfrm>
            <a:off x="1024128" y="1481328"/>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1463040" y="1399032"/>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IEMOCAP reframed emotion data as multimodal interaction, not isolated signal recognition.</a:t>
            </a:r>
            <a:endParaRPr lang="en-US" sz="1450" dirty="0"/>
          </a:p>
        </p:txBody>
      </p:sp>
      <p:sp>
        <p:nvSpPr>
          <p:cNvPr id="8" name="Shape 6"/>
          <p:cNvSpPr/>
          <p:nvPr/>
        </p:nvSpPr>
        <p:spPr>
          <a:xfrm>
            <a:off x="914400" y="2185416"/>
            <a:ext cx="365760" cy="365760"/>
          </a:xfrm>
          <a:prstGeom prst="ellipse">
            <a:avLst/>
          </a:prstGeom>
          <a:solidFill>
            <a:srgbClr val="7C3AED"/>
          </a:solidFill>
          <a:ln w="12700">
            <a:solidFill>
              <a:srgbClr val="7C3AED">
                <a:alpha val="0"/>
              </a:srgbClr>
            </a:solidFill>
            <a:prstDash val="solid"/>
          </a:ln>
        </p:spPr>
      </p:sp>
      <p:sp>
        <p:nvSpPr>
          <p:cNvPr id="9" name="Text 7"/>
          <p:cNvSpPr/>
          <p:nvPr/>
        </p:nvSpPr>
        <p:spPr>
          <a:xfrm>
            <a:off x="1024128" y="2276856"/>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1463040" y="2194560"/>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Its core innovation is the compromise between context-rich dyads and controlled elicitation.</a:t>
            </a:r>
            <a:endParaRPr lang="en-US" sz="1450" dirty="0"/>
          </a:p>
        </p:txBody>
      </p:sp>
      <p:sp>
        <p:nvSpPr>
          <p:cNvPr id="11" name="Shape 9"/>
          <p:cNvSpPr/>
          <p:nvPr/>
        </p:nvSpPr>
        <p:spPr>
          <a:xfrm>
            <a:off x="914400" y="2980944"/>
            <a:ext cx="365760" cy="365760"/>
          </a:xfrm>
          <a:prstGeom prst="ellipse">
            <a:avLst/>
          </a:prstGeom>
          <a:solidFill>
            <a:srgbClr val="FF6B6B"/>
          </a:solidFill>
          <a:ln w="12700">
            <a:solidFill>
              <a:srgbClr val="FF6B6B">
                <a:alpha val="0"/>
              </a:srgbClr>
            </a:solidFill>
            <a:prstDash val="solid"/>
          </a:ln>
        </p:spPr>
      </p:sp>
      <p:sp>
        <p:nvSpPr>
          <p:cNvPr id="12" name="Text 10"/>
          <p:cNvSpPr/>
          <p:nvPr/>
        </p:nvSpPr>
        <p:spPr>
          <a:xfrm>
            <a:off x="1024128" y="3072384"/>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1463040" y="2990088"/>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Labels are subjective consensus measurements; ambiguity is scientifically meaningful.</a:t>
            </a:r>
            <a:endParaRPr lang="en-US" sz="1450" dirty="0"/>
          </a:p>
        </p:txBody>
      </p:sp>
      <p:sp>
        <p:nvSpPr>
          <p:cNvPr id="14" name="Shape 12"/>
          <p:cNvSpPr/>
          <p:nvPr/>
        </p:nvSpPr>
        <p:spPr>
          <a:xfrm>
            <a:off x="914400" y="3776472"/>
            <a:ext cx="365760" cy="365760"/>
          </a:xfrm>
          <a:prstGeom prst="ellipse">
            <a:avLst/>
          </a:prstGeom>
          <a:solidFill>
            <a:srgbClr val="F4B400"/>
          </a:solidFill>
          <a:ln w="12700">
            <a:solidFill>
              <a:srgbClr val="F4B400">
                <a:alpha val="0"/>
              </a:srgbClr>
            </a:solidFill>
            <a:prstDash val="solid"/>
          </a:ln>
        </p:spPr>
      </p:sp>
      <p:sp>
        <p:nvSpPr>
          <p:cNvPr id="15" name="Text 13"/>
          <p:cNvSpPr/>
          <p:nvPr/>
        </p:nvSpPr>
        <p:spPr>
          <a:xfrm>
            <a:off x="1024128" y="3867912"/>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4"/>
          <p:cNvSpPr/>
          <p:nvPr/>
        </p:nvSpPr>
        <p:spPr>
          <a:xfrm>
            <a:off x="1463040" y="3785616"/>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The corpus enables fusion, temporal modeling, and dialogue research—but requires careful splits and label choices.</a:t>
            </a:r>
            <a:endParaRPr lang="en-US" sz="1450" dirty="0"/>
          </a:p>
        </p:txBody>
      </p:sp>
      <p:sp>
        <p:nvSpPr>
          <p:cNvPr id="17" name="Shape 15"/>
          <p:cNvSpPr/>
          <p:nvPr/>
        </p:nvSpPr>
        <p:spPr>
          <a:xfrm>
            <a:off x="914400" y="4572000"/>
            <a:ext cx="365760" cy="365760"/>
          </a:xfrm>
          <a:prstGeom prst="ellipse">
            <a:avLst/>
          </a:prstGeom>
          <a:solidFill>
            <a:srgbClr val="42B883"/>
          </a:solidFill>
          <a:ln w="12700">
            <a:solidFill>
              <a:srgbClr val="42B883">
                <a:alpha val="0"/>
              </a:srgbClr>
            </a:solidFill>
            <a:prstDash val="solid"/>
          </a:ln>
        </p:spPr>
      </p:sp>
      <p:sp>
        <p:nvSpPr>
          <p:cNvPr id="18" name="Text 16"/>
          <p:cNvSpPr/>
          <p:nvPr/>
        </p:nvSpPr>
        <p:spPr>
          <a:xfrm>
            <a:off x="1024128" y="4663440"/>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19" name="Text 17"/>
          <p:cNvSpPr/>
          <p:nvPr/>
        </p:nvSpPr>
        <p:spPr>
          <a:xfrm>
            <a:off x="1463040" y="4581144"/>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Affective computing systems should report what they infer: perceived affective signal, not private inner state.</a:t>
            </a:r>
            <a:endParaRPr lang="en-US" sz="1450" dirty="0"/>
          </a:p>
        </p:txBody>
      </p:sp>
      <p:sp>
        <p:nvSpPr>
          <p:cNvPr id="20" name="Text 18"/>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takeaways</a:t>
            </a:r>
            <a:endParaRPr lang="en-US" sz="750" dirty="0"/>
          </a:p>
        </p:txBody>
      </p:sp>
      <p:sp>
        <p:nvSpPr>
          <p:cNvPr id="21" name="Text 19"/>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TRANSITION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Bridge to CREMA-D: same field, different measurement philosophy</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554480"/>
            <a:ext cx="2011680" cy="201168"/>
          </a:xfrm>
          <a:prstGeom prst="rect">
            <a:avLst/>
          </a:prstGeom>
          <a:noFill/>
          <a:ln/>
        </p:spPr>
        <p:txBody>
          <a:bodyPr wrap="square" lIns="0" tIns="0" rIns="0" bIns="0" rtlCol="0" anchor="ctr"/>
          <a:lstStyle/>
          <a:p>
            <a:pPr indent="0" marL="0">
              <a:buNone/>
            </a:pPr>
            <a:r>
              <a:rPr lang="en-US" sz="1000" b="1" dirty="0">
                <a:solidFill>
                  <a:srgbClr val="3E4C59"/>
                </a:solidFill>
                <a:latin typeface="Arial" pitchFamily="34" charset="0"/>
                <a:ea typeface="Arial" pitchFamily="34" charset="-122"/>
                <a:cs typeface="Arial" pitchFamily="34" charset="-120"/>
              </a:rPr>
              <a:t>Design axis</a:t>
            </a:r>
            <a:endParaRPr lang="en-US" sz="1000" dirty="0"/>
          </a:p>
        </p:txBody>
      </p:sp>
      <p:sp>
        <p:nvSpPr>
          <p:cNvPr id="6" name="Text 4"/>
          <p:cNvSpPr/>
          <p:nvPr/>
        </p:nvSpPr>
        <p:spPr>
          <a:xfrm>
            <a:off x="2926080" y="1554480"/>
            <a:ext cx="3931920" cy="201168"/>
          </a:xfrm>
          <a:prstGeom prst="rect">
            <a:avLst/>
          </a:prstGeom>
          <a:noFill/>
          <a:ln/>
        </p:spPr>
        <p:txBody>
          <a:bodyPr wrap="square" lIns="0" tIns="0" rIns="0" bIns="0" rtlCol="0" anchor="ctr"/>
          <a:lstStyle/>
          <a:p>
            <a:pPr indent="0" marL="0">
              <a:buNone/>
            </a:pPr>
            <a:r>
              <a:rPr lang="en-US" sz="1000" b="1" dirty="0">
                <a:solidFill>
                  <a:srgbClr val="00A8A8"/>
                </a:solidFill>
                <a:latin typeface="Arial" pitchFamily="34" charset="0"/>
                <a:ea typeface="Arial" pitchFamily="34" charset="-122"/>
                <a:cs typeface="Arial" pitchFamily="34" charset="-120"/>
              </a:rPr>
              <a:t>IEMOCAP</a:t>
            </a:r>
            <a:endParaRPr lang="en-US" sz="1000" dirty="0"/>
          </a:p>
        </p:txBody>
      </p:sp>
      <p:sp>
        <p:nvSpPr>
          <p:cNvPr id="7" name="Text 5"/>
          <p:cNvSpPr/>
          <p:nvPr/>
        </p:nvSpPr>
        <p:spPr>
          <a:xfrm>
            <a:off x="6995160" y="1554480"/>
            <a:ext cx="3931920" cy="201168"/>
          </a:xfrm>
          <a:prstGeom prst="rect">
            <a:avLst/>
          </a:prstGeom>
          <a:noFill/>
          <a:ln/>
        </p:spPr>
        <p:txBody>
          <a:bodyPr wrap="square" lIns="0" tIns="0" rIns="0" bIns="0" rtlCol="0" anchor="ctr"/>
          <a:lstStyle/>
          <a:p>
            <a:pPr indent="0" marL="0">
              <a:buNone/>
            </a:pPr>
            <a:r>
              <a:rPr lang="en-US" sz="1000" b="1" dirty="0">
                <a:solidFill>
                  <a:srgbClr val="7C3AED"/>
                </a:solidFill>
                <a:latin typeface="Arial" pitchFamily="34" charset="0"/>
                <a:ea typeface="Arial" pitchFamily="34" charset="-122"/>
                <a:cs typeface="Arial" pitchFamily="34" charset="-120"/>
              </a:rPr>
              <a:t>CREMA-D</a:t>
            </a:r>
            <a:endParaRPr lang="en-US" sz="1000" dirty="0"/>
          </a:p>
        </p:txBody>
      </p:sp>
      <p:sp>
        <p:nvSpPr>
          <p:cNvPr id="8" name="Shape 6"/>
          <p:cNvSpPr/>
          <p:nvPr/>
        </p:nvSpPr>
        <p:spPr>
          <a:xfrm>
            <a:off x="822960" y="1865376"/>
            <a:ext cx="10515600" cy="493776"/>
          </a:xfrm>
          <a:prstGeom prst="rect">
            <a:avLst/>
          </a:prstGeom>
          <a:solidFill>
            <a:srgbClr val="F5F7FA"/>
          </a:solidFill>
          <a:ln w="12700">
            <a:solidFill>
              <a:srgbClr val="F5F7FA">
                <a:alpha val="0"/>
              </a:srgbClr>
            </a:solidFill>
            <a:prstDash val="solid"/>
          </a:ln>
        </p:spPr>
      </p:sp>
      <p:sp>
        <p:nvSpPr>
          <p:cNvPr id="9" name="Text 7"/>
          <p:cNvSpPr/>
          <p:nvPr/>
        </p:nvSpPr>
        <p:spPr>
          <a:xfrm>
            <a:off x="822960" y="1975104"/>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Interaction</a:t>
            </a:r>
            <a:endParaRPr lang="en-US" sz="1050" dirty="0"/>
          </a:p>
        </p:txBody>
      </p:sp>
      <p:sp>
        <p:nvSpPr>
          <p:cNvPr id="10" name="Text 8"/>
          <p:cNvSpPr/>
          <p:nvPr/>
        </p:nvSpPr>
        <p:spPr>
          <a:xfrm>
            <a:off x="2926080" y="1938528"/>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Dyadic, turn-taking, contextual dialogue</a:t>
            </a:r>
            <a:endParaRPr lang="en-US" sz="1050" dirty="0"/>
          </a:p>
        </p:txBody>
      </p:sp>
      <p:sp>
        <p:nvSpPr>
          <p:cNvPr id="11" name="Text 9"/>
          <p:cNvSpPr/>
          <p:nvPr/>
        </p:nvSpPr>
        <p:spPr>
          <a:xfrm>
            <a:off x="6995160" y="1938528"/>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Short acted clips, fixed sentences</a:t>
            </a:r>
            <a:endParaRPr lang="en-US" sz="1050" dirty="0"/>
          </a:p>
        </p:txBody>
      </p:sp>
      <p:sp>
        <p:nvSpPr>
          <p:cNvPr id="12" name="Shape 10"/>
          <p:cNvSpPr/>
          <p:nvPr/>
        </p:nvSpPr>
        <p:spPr>
          <a:xfrm>
            <a:off x="822960" y="2432304"/>
            <a:ext cx="10515600" cy="493776"/>
          </a:xfrm>
          <a:prstGeom prst="rect">
            <a:avLst/>
          </a:prstGeom>
          <a:solidFill>
            <a:srgbClr val="FFFFFF"/>
          </a:solidFill>
          <a:ln w="12700">
            <a:solidFill>
              <a:srgbClr val="FFFFFF">
                <a:alpha val="0"/>
              </a:srgbClr>
            </a:solidFill>
            <a:prstDash val="solid"/>
          </a:ln>
        </p:spPr>
      </p:sp>
      <p:sp>
        <p:nvSpPr>
          <p:cNvPr id="13" name="Text 11"/>
          <p:cNvSpPr/>
          <p:nvPr/>
        </p:nvSpPr>
        <p:spPr>
          <a:xfrm>
            <a:off x="822960" y="2542032"/>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Scale</a:t>
            </a:r>
            <a:endParaRPr lang="en-US" sz="1050" dirty="0"/>
          </a:p>
        </p:txBody>
      </p:sp>
      <p:sp>
        <p:nvSpPr>
          <p:cNvPr id="14" name="Text 12"/>
          <p:cNvSpPr/>
          <p:nvPr/>
        </p:nvSpPr>
        <p:spPr>
          <a:xfrm>
            <a:off x="2926080" y="2505456"/>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10 actors, ~12 hours, 10,039 turns</a:t>
            </a:r>
            <a:endParaRPr lang="en-US" sz="1050" dirty="0"/>
          </a:p>
        </p:txBody>
      </p:sp>
      <p:sp>
        <p:nvSpPr>
          <p:cNvPr id="15" name="Text 13"/>
          <p:cNvSpPr/>
          <p:nvPr/>
        </p:nvSpPr>
        <p:spPr>
          <a:xfrm>
            <a:off x="6995160" y="2505456"/>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91 actors, 7,442 clips</a:t>
            </a:r>
            <a:endParaRPr lang="en-US" sz="1050" dirty="0"/>
          </a:p>
        </p:txBody>
      </p:sp>
      <p:sp>
        <p:nvSpPr>
          <p:cNvPr id="16" name="Shape 14"/>
          <p:cNvSpPr/>
          <p:nvPr/>
        </p:nvSpPr>
        <p:spPr>
          <a:xfrm>
            <a:off x="822960" y="2999232"/>
            <a:ext cx="10515600" cy="493776"/>
          </a:xfrm>
          <a:prstGeom prst="rect">
            <a:avLst/>
          </a:prstGeom>
          <a:solidFill>
            <a:srgbClr val="F5F7FA"/>
          </a:solidFill>
          <a:ln w="12700">
            <a:solidFill>
              <a:srgbClr val="F5F7FA">
                <a:alpha val="0"/>
              </a:srgbClr>
            </a:solidFill>
            <a:prstDash val="solid"/>
          </a:ln>
        </p:spPr>
      </p:sp>
      <p:sp>
        <p:nvSpPr>
          <p:cNvPr id="17" name="Text 15"/>
          <p:cNvSpPr/>
          <p:nvPr/>
        </p:nvSpPr>
        <p:spPr>
          <a:xfrm>
            <a:off x="822960" y="3108960"/>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Modalities</a:t>
            </a:r>
            <a:endParaRPr lang="en-US" sz="1050" dirty="0"/>
          </a:p>
        </p:txBody>
      </p:sp>
      <p:sp>
        <p:nvSpPr>
          <p:cNvPr id="18" name="Text 16"/>
          <p:cNvSpPr/>
          <p:nvPr/>
        </p:nvSpPr>
        <p:spPr>
          <a:xfrm>
            <a:off x="2926080" y="3072384"/>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audio, video, MoCap, transcripts, alignments</a:t>
            </a:r>
            <a:endParaRPr lang="en-US" sz="1050" dirty="0"/>
          </a:p>
        </p:txBody>
      </p:sp>
      <p:sp>
        <p:nvSpPr>
          <p:cNvPr id="19" name="Text 17"/>
          <p:cNvSpPr/>
          <p:nvPr/>
        </p:nvSpPr>
        <p:spPr>
          <a:xfrm>
            <a:off x="6995160" y="3072384"/>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audio, video, audio-visual ratings</a:t>
            </a:r>
            <a:endParaRPr lang="en-US" sz="1050" dirty="0"/>
          </a:p>
        </p:txBody>
      </p:sp>
      <p:sp>
        <p:nvSpPr>
          <p:cNvPr id="20" name="Shape 18"/>
          <p:cNvSpPr/>
          <p:nvPr/>
        </p:nvSpPr>
        <p:spPr>
          <a:xfrm>
            <a:off x="822960" y="3566160"/>
            <a:ext cx="10515600" cy="493776"/>
          </a:xfrm>
          <a:prstGeom prst="rect">
            <a:avLst/>
          </a:prstGeom>
          <a:solidFill>
            <a:srgbClr val="FFFFFF"/>
          </a:solidFill>
          <a:ln w="12700">
            <a:solidFill>
              <a:srgbClr val="FFFFFF">
                <a:alpha val="0"/>
              </a:srgbClr>
            </a:solidFill>
            <a:prstDash val="solid"/>
          </a:ln>
        </p:spPr>
      </p:sp>
      <p:sp>
        <p:nvSpPr>
          <p:cNvPr id="21" name="Text 19"/>
          <p:cNvSpPr/>
          <p:nvPr/>
        </p:nvSpPr>
        <p:spPr>
          <a:xfrm>
            <a:off x="822960" y="3675888"/>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Annotation</a:t>
            </a:r>
            <a:endParaRPr lang="en-US" sz="1050" dirty="0"/>
          </a:p>
        </p:txBody>
      </p:sp>
      <p:sp>
        <p:nvSpPr>
          <p:cNvPr id="22" name="Text 20"/>
          <p:cNvSpPr/>
          <p:nvPr/>
        </p:nvSpPr>
        <p:spPr>
          <a:xfrm>
            <a:off x="2926080" y="3639312"/>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few trained/naive raters per turn + VAD</a:t>
            </a:r>
            <a:endParaRPr lang="en-US" sz="1050" dirty="0"/>
          </a:p>
        </p:txBody>
      </p:sp>
      <p:sp>
        <p:nvSpPr>
          <p:cNvPr id="23" name="Text 21"/>
          <p:cNvSpPr/>
          <p:nvPr/>
        </p:nvSpPr>
        <p:spPr>
          <a:xfrm>
            <a:off x="6995160" y="3639312"/>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large crowd ratings by modality</a:t>
            </a:r>
            <a:endParaRPr lang="en-US" sz="1050" dirty="0"/>
          </a:p>
        </p:txBody>
      </p:sp>
      <p:sp>
        <p:nvSpPr>
          <p:cNvPr id="24" name="Shape 22"/>
          <p:cNvSpPr/>
          <p:nvPr/>
        </p:nvSpPr>
        <p:spPr>
          <a:xfrm>
            <a:off x="822960" y="4133088"/>
            <a:ext cx="10515600" cy="493776"/>
          </a:xfrm>
          <a:prstGeom prst="rect">
            <a:avLst/>
          </a:prstGeom>
          <a:solidFill>
            <a:srgbClr val="F5F7FA"/>
          </a:solidFill>
          <a:ln w="12700">
            <a:solidFill>
              <a:srgbClr val="F5F7FA">
                <a:alpha val="0"/>
              </a:srgbClr>
            </a:solidFill>
            <a:prstDash val="solid"/>
          </a:ln>
        </p:spPr>
      </p:sp>
      <p:sp>
        <p:nvSpPr>
          <p:cNvPr id="25" name="Text 23"/>
          <p:cNvSpPr/>
          <p:nvPr/>
        </p:nvSpPr>
        <p:spPr>
          <a:xfrm>
            <a:off x="822960" y="4242816"/>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Best for</a:t>
            </a:r>
            <a:endParaRPr lang="en-US" sz="1050" dirty="0"/>
          </a:p>
        </p:txBody>
      </p:sp>
      <p:sp>
        <p:nvSpPr>
          <p:cNvPr id="26" name="Text 24"/>
          <p:cNvSpPr/>
          <p:nvPr/>
        </p:nvSpPr>
        <p:spPr>
          <a:xfrm>
            <a:off x="2926080" y="4206240"/>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temporal/dyadic modeling and multimodal behavior</a:t>
            </a:r>
            <a:endParaRPr lang="en-US" sz="1050" dirty="0"/>
          </a:p>
        </p:txBody>
      </p:sp>
      <p:sp>
        <p:nvSpPr>
          <p:cNvPr id="27" name="Text 25"/>
          <p:cNvSpPr/>
          <p:nvPr/>
        </p:nvSpPr>
        <p:spPr>
          <a:xfrm>
            <a:off x="6995160" y="4206240"/>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controlled benchmarking and perception analysis</a:t>
            </a:r>
            <a:endParaRPr lang="en-US" sz="1050" dirty="0"/>
          </a:p>
        </p:txBody>
      </p:sp>
      <p:sp>
        <p:nvSpPr>
          <p:cNvPr id="28" name="Text 26"/>
          <p:cNvSpPr/>
          <p:nvPr/>
        </p:nvSpPr>
        <p:spPr>
          <a:xfrm>
            <a:off x="1188720" y="5806440"/>
            <a:ext cx="9784080" cy="274320"/>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Keep asking: is the dataset measuring expression, perception, interaction, or all three?</a:t>
            </a:r>
            <a:endParaRPr lang="en-US" sz="1500" dirty="0"/>
          </a:p>
        </p:txBody>
      </p:sp>
      <p:sp>
        <p:nvSpPr>
          <p:cNvPr id="29" name="Text 2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IEMOCAP seminar | transition</a:t>
            </a:r>
            <a:endParaRPr lang="en-US" sz="750" dirty="0"/>
          </a:p>
        </p:txBody>
      </p:sp>
      <p:sp>
        <p:nvSpPr>
          <p:cNvPr id="30" name="Text 2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20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IEMOCAP - Graduate Seminar Slides</dc:title>
  <dc:subject>Graduate seminar on affective computing</dc:subject>
  <dc:creator>OpenAI</dc:creator>
  <cp:lastModifiedBy>OpenAI</cp:lastModifiedBy>
  <cp:revision>1</cp:revision>
  <dcterms:created xsi:type="dcterms:W3CDTF">2026-08-30T12:33:23Z</dcterms:created>
  <dcterms:modified xsi:type="dcterms:W3CDTF">2026-08-30T12:33:23Z</dcterms:modified>
</cp:coreProperties>
</file>