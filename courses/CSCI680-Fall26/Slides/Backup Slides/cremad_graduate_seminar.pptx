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 Introduce CREMA-D as a complementary case study: less interactional context than IEMOCAP, but larger actor diversity and large-scale crowd ratings across modalities.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Explain that this deck focuses on corpus design and annotation as measurement. We are using the paper to teach how benchmark datasets encode assumptions about emotion expression and perception.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 Make the continuity with IEMOCAP explicit. This deck shifts attention from interactional recording to controlled stimulus generation and crowd-sourced perception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Set the basic facts: 7,442 clips from 91 actors, with demographic diversity; 12 sentences; six emotions; four intensity levels; and thousands of crowd raters.
Sources: Cao et al. 2014 abstract and CREMA-D GitHub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This slide positions CREMA-D against IEMOCAP and other corpora. Its strengths are scale, standardization, diverse actors, and modality-specific perception labels. Its trade-off is that each stimulus is short and acted.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Discuss what demographic breadth makes possible, and what it does not solve. Diversity in actors is a start, but model evaluation still needs speaker-independent splits and attention to who rated the clips.
Source: CREMA-D GitHub README lines 185–188 and VideoDemographics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Explain why fixed sentences are useful: they help separate lexical content from paralinguistic/facial performance. The file naming convention also makes the dataset easy to use, but easy use can hide label complexity.
Source: CREMA-D GitHub README lines 316–344.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 minutes.
The key methodological contribution is not merely that the dataset is large, but that the labels come from many crowd raters and are separated by modality. Each participant rated 90 unique clips: 30 audio, 30 visual, and 30 audiovisual. Most clips have more than seven ratings.
Source: CREMA-D GitHub README lines 187–189.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Tie this to multimodal affective computing: a good dataset should not only provide inputs for fusion, but also allow us to interrogate whether fusion helps and when individual modalities carry conflicting cues.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Make this the key conceptual slide. A model trained on CREMA-D is usually learning perceived emotion labels, not direct access to the actor’s private emotional state. This connects to the Barrett paper and to the self/other issue in IEMOCAP.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The plotted numbers are schematic, but based on how CREMA-D stores votes. Use this slide to argue that majority labels discard valuable information. The repository includes vote counts, agreement, and majority emotion fields, which support uncertainty-aware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Show students that CREMA-D is not just media files. It includes the scripts and CSVs needed to understand how votes became labels. Point out the tabulated vote columns for anger, disgust, fear, happy, neutral, sad, agreement, majority vote, and emotion-level variables.
Source: CREMA-D GitHub README lines 217–234 and 269–305.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This is a practical slide for students who will read ML papers. Encourage them to scrutinize splits and labels, not only architecture. Ask: would this model generalize to a new speaker, a new recording setup, or a non-acted interaction?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Summarize the positive case for the dataset before critique. Stress that limitations do not make a corpus bad; they define which questions it can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Compare to the Barrett paper: even with high-quality dynamic clips and many raters, the target is still perceived emotion under a constrained task. Do not claim a model reads true emotion from the face or voice.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Draw out the research-design complementarity. IEMOCAP has richer interaction and continuous dimensions; CREMA-D has larger actor diversity and crowd perception labels. Each invites different models and different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This activity reinforces that benchmark use is an interpretive act. Ask students to identify claims that would be safe and claims that would be overreach.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This is the synthesis slide for the whole 80-minute seminar. Bring IEMOCAP and CREMA-D back to the Barrett paper: dataset labels are consensus or perception labels, not direct access to hidden emotion.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Summarize the CREMA-D deck and the combined seminar. Invite students to choose one dataset for their own research question and justify the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Use this slide to close the full 80-minute seminar and connect back to the previous Barrett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E2D"/>
        </a:solidFill>
      </p:bgPr>
    </p:bg>
    <p:spTree>
      <p:nvGrpSpPr>
        <p:cNvPr id="1" name=""/>
        <p:cNvGrpSpPr/>
        <p:nvPr/>
      </p:nvGrpSpPr>
      <p:grpSpPr>
        <a:xfrm>
          <a:off x="0" y="0"/>
          <a:ext cx="0" cy="0"/>
          <a:chOff x="0" y="0"/>
          <a:chExt cx="0" cy="0"/>
        </a:xfrm>
      </p:grpSpPr>
      <p:pic>
        <p:nvPicPr>
          <p:cNvPr id="2" name="Image 0" descr="/mnt/data/wide_cinematic_concept_art_ui_visualization_scen_batch_2.png">    </p:cNvPr>
          <p:cNvPicPr>
            <a:picLocks noChangeAspect="1"/>
          </p:cNvPicPr>
          <p:nvPr/>
        </p:nvPicPr>
        <p:blipFill>
          <a:blip r:embed="rId1"/>
          <a:srcRect l="23811" r="23811" t="0" b="0"/>
          <a:stretch/>
        </p:blipFill>
        <p:spPr>
          <a:xfrm>
            <a:off x="5806440" y="0"/>
            <a:ext cx="6382512" cy="6858000"/>
          </a:xfrm>
          <a:prstGeom prst="rect">
            <a:avLst/>
          </a:prstGeom>
        </p:spPr>
      </p:pic>
      <p:sp>
        <p:nvSpPr>
          <p:cNvPr id="3" name="Shape 0"/>
          <p:cNvSpPr/>
          <p:nvPr/>
        </p:nvSpPr>
        <p:spPr>
          <a:xfrm>
            <a:off x="0" y="0"/>
            <a:ext cx="5806440" cy="6858000"/>
          </a:xfrm>
          <a:prstGeom prst="rect">
            <a:avLst/>
          </a:prstGeom>
          <a:solidFill>
            <a:srgbClr val="0B1E2D"/>
          </a:solidFill>
          <a:ln w="12700">
            <a:solidFill>
              <a:srgbClr val="0B1E2D">
                <a:alpha val="0"/>
              </a:srgbClr>
            </a:solidFill>
            <a:prstDash val="solid"/>
          </a:ln>
        </p:spPr>
      </p:sp>
      <p:sp>
        <p:nvSpPr>
          <p:cNvPr id="4" name="Text 1"/>
          <p:cNvSpPr/>
          <p:nvPr/>
        </p:nvSpPr>
        <p:spPr>
          <a:xfrm>
            <a:off x="594360" y="594360"/>
            <a:ext cx="4389120" cy="228600"/>
          </a:xfrm>
          <a:prstGeom prst="rect">
            <a:avLst/>
          </a:prstGeom>
          <a:noFill/>
          <a:ln/>
        </p:spPr>
        <p:txBody>
          <a:bodyPr wrap="square" lIns="0" tIns="0" rIns="0" bIns="0" rtlCol="0" anchor="ctr"/>
          <a:lstStyle/>
          <a:p>
            <a:pPr indent="0" marL="0">
              <a:buNone/>
            </a:pPr>
            <a:r>
              <a:rPr lang="en-US" sz="1050" b="1" dirty="0">
                <a:solidFill>
                  <a:srgbClr val="2EC4B6"/>
                </a:solidFill>
                <a:latin typeface="Arial" pitchFamily="34" charset="0"/>
                <a:ea typeface="Arial" pitchFamily="34" charset="-122"/>
                <a:cs typeface="Arial" pitchFamily="34" charset="-120"/>
              </a:rPr>
              <a:t>Graduate seminar | Affective computing</a:t>
            </a:r>
            <a:endParaRPr lang="en-US" sz="1050" dirty="0"/>
          </a:p>
        </p:txBody>
      </p:sp>
      <p:sp>
        <p:nvSpPr>
          <p:cNvPr id="5" name="Text 2"/>
          <p:cNvSpPr/>
          <p:nvPr/>
        </p:nvSpPr>
        <p:spPr>
          <a:xfrm>
            <a:off x="594360" y="1325880"/>
            <a:ext cx="4754880" cy="502920"/>
          </a:xfrm>
          <a:prstGeom prst="rect">
            <a:avLst/>
          </a:prstGeom>
          <a:noFill/>
          <a:ln/>
        </p:spPr>
        <p:txBody>
          <a:bodyPr wrap="square" lIns="0" tIns="0" rIns="0" bIns="0" rtlCol="0" anchor="ctr"/>
          <a:lstStyle/>
          <a:p>
            <a:pPr indent="0" marL="0">
              <a:buNone/>
            </a:pPr>
            <a:r>
              <a:rPr lang="en-US" sz="3500" b="1" dirty="0">
                <a:solidFill>
                  <a:srgbClr val="FFFFFF"/>
                </a:solidFill>
                <a:latin typeface="Arial" pitchFamily="34" charset="0"/>
                <a:ea typeface="Arial" pitchFamily="34" charset="-122"/>
                <a:cs typeface="Arial" pitchFamily="34" charset="-120"/>
              </a:rPr>
              <a:t>CREMA-D</a:t>
            </a:r>
            <a:endParaRPr lang="en-US" sz="3500" dirty="0"/>
          </a:p>
        </p:txBody>
      </p:sp>
      <p:sp>
        <p:nvSpPr>
          <p:cNvPr id="6" name="Text 3"/>
          <p:cNvSpPr/>
          <p:nvPr/>
        </p:nvSpPr>
        <p:spPr>
          <a:xfrm>
            <a:off x="612648" y="1920240"/>
            <a:ext cx="4754880" cy="731520"/>
          </a:xfrm>
          <a:prstGeom prst="rect">
            <a:avLst/>
          </a:prstGeom>
          <a:noFill/>
          <a:ln/>
        </p:spPr>
        <p:txBody>
          <a:bodyPr wrap="square" lIns="0" tIns="0" rIns="0" bIns="0" rtlCol="0" anchor="ctr">
            <a:normAutofit/>
          </a:bodyPr>
          <a:lstStyle/>
          <a:p>
            <a:pPr indent="0" marL="0">
              <a:buNone/>
            </a:pPr>
            <a:r>
              <a:rPr lang="en-US" sz="1700" b="1" dirty="0">
                <a:solidFill>
                  <a:srgbClr val="D9EAF7"/>
                </a:solidFill>
                <a:latin typeface="Arial" pitchFamily="34" charset="0"/>
                <a:ea typeface="Arial" pitchFamily="34" charset="-122"/>
                <a:cs typeface="Arial" pitchFamily="34" charset="-120"/>
              </a:rPr>
              <a:t>Crowd-sourced Emotional Multimodal Actors Dataset</a:t>
            </a:r>
            <a:endParaRPr lang="en-US" sz="1700" dirty="0"/>
          </a:p>
        </p:txBody>
      </p:sp>
      <p:sp>
        <p:nvSpPr>
          <p:cNvPr id="7" name="Text 4"/>
          <p:cNvSpPr/>
          <p:nvPr/>
        </p:nvSpPr>
        <p:spPr>
          <a:xfrm>
            <a:off x="612648" y="2889504"/>
            <a:ext cx="4480560" cy="274320"/>
          </a:xfrm>
          <a:prstGeom prst="rect">
            <a:avLst/>
          </a:prstGeom>
          <a:noFill/>
          <a:ln/>
        </p:spPr>
        <p:txBody>
          <a:bodyPr wrap="square" lIns="0" tIns="0" rIns="0" bIns="0" rtlCol="0" anchor="ctr"/>
          <a:lstStyle/>
          <a:p>
            <a:pPr indent="0" marL="0">
              <a:buNone/>
            </a:pPr>
            <a:r>
              <a:rPr lang="en-US" sz="1150" dirty="0">
                <a:solidFill>
                  <a:srgbClr val="BFD7EA"/>
                </a:solidFill>
                <a:latin typeface="Arial" pitchFamily="34" charset="0"/>
                <a:ea typeface="Arial" pitchFamily="34" charset="-122"/>
                <a:cs typeface="Arial" pitchFamily="34" charset="-120"/>
              </a:rPr>
              <a:t>Cao et al., IEEE Transactions on Affective Computing 5(4), 2014</a:t>
            </a:r>
            <a:endParaRPr lang="en-US" sz="1150" dirty="0"/>
          </a:p>
        </p:txBody>
      </p:sp>
      <p:sp>
        <p:nvSpPr>
          <p:cNvPr id="8" name="Text 5"/>
          <p:cNvSpPr/>
          <p:nvPr/>
        </p:nvSpPr>
        <p:spPr>
          <a:xfrm>
            <a:off x="612648" y="5340096"/>
            <a:ext cx="3840480" cy="228600"/>
          </a:xfrm>
          <a:prstGeom prst="rect">
            <a:avLst/>
          </a:prstGeom>
          <a:noFill/>
          <a:ln/>
        </p:spPr>
        <p:txBody>
          <a:bodyPr wrap="square" lIns="0" tIns="0" rIns="0" bIns="0" rtlCol="0" anchor="ctr"/>
          <a:lstStyle/>
          <a:p>
            <a:pPr indent="0" marL="0">
              <a:buNone/>
            </a:pPr>
            <a:r>
              <a:rPr lang="en-US" sz="1050" dirty="0">
                <a:solidFill>
                  <a:srgbClr val="CBD2D9"/>
                </a:solidFill>
                <a:latin typeface="Arial" pitchFamily="34" charset="0"/>
                <a:ea typeface="Arial" pitchFamily="34" charset="-122"/>
                <a:cs typeface="Arial" pitchFamily="34" charset="-120"/>
              </a:rPr>
              <a:t>Planned time: 40 minutes</a:t>
            </a:r>
            <a:endParaRPr lang="en-US" sz="1050" dirty="0"/>
          </a:p>
        </p:txBody>
      </p:sp>
      <p:sp>
        <p:nvSpPr>
          <p:cNvPr id="9" name="Shape 6"/>
          <p:cNvSpPr/>
          <p:nvPr/>
        </p:nvSpPr>
        <p:spPr>
          <a:xfrm>
            <a:off x="612648" y="5650992"/>
            <a:ext cx="4206240" cy="0"/>
          </a:xfrm>
          <a:prstGeom prst="line">
            <a:avLst/>
          </a:prstGeom>
          <a:noFill/>
          <a:ln w="16510">
            <a:solidFill>
              <a:srgbClr val="00A8A8"/>
            </a:solidFill>
            <a:prstDash val="solid"/>
          </a:ln>
        </p:spPr>
      </p:sp>
      <p:sp>
        <p:nvSpPr>
          <p:cNvPr id="10" name="Text 7"/>
          <p:cNvSpPr/>
          <p:nvPr/>
        </p:nvSpPr>
        <p:spPr>
          <a:xfrm>
            <a:off x="612648" y="5806440"/>
            <a:ext cx="4572000" cy="438912"/>
          </a:xfrm>
          <a:prstGeom prst="rect">
            <a:avLst/>
          </a:prstGeom>
          <a:noFill/>
          <a:ln/>
        </p:spPr>
        <p:txBody>
          <a:bodyPr wrap="square" lIns="0" tIns="0" rIns="0" bIns="0" rtlCol="0" anchor="ctr">
            <a:normAutofit/>
          </a:bodyPr>
          <a:lstStyle/>
          <a:p>
            <a:pPr indent="0" marL="0">
              <a:buNone/>
            </a:pPr>
            <a:r>
              <a:rPr lang="en-US" sz="1050" dirty="0">
                <a:solidFill>
                  <a:srgbClr val="FFFFFF"/>
                </a:solidFill>
                <a:latin typeface="Arial" pitchFamily="34" charset="0"/>
                <a:ea typeface="Arial" pitchFamily="34" charset="-122"/>
                <a:cs typeface="Arial" pitchFamily="34" charset="-120"/>
              </a:rPr>
              <a:t>Core question: what changes when emotion labels are crowd-sourced across audio, visual, and audiovisual channels?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4114800" cy="201168"/>
          </a:xfrm>
          <a:prstGeom prst="rect">
            <a:avLst/>
          </a:prstGeom>
          <a:noFill/>
          <a:ln/>
        </p:spPr>
        <p:txBody>
          <a:bodyPr wrap="square" lIns="0" tIns="0" rIns="0" bIns="0" rtlCol="0" anchor="ctr"/>
          <a:lstStyle/>
          <a:p>
            <a:pPr indent="0" marL="0">
              <a:buNone/>
            </a:pPr>
            <a:r>
              <a:rPr lang="en-US" sz="850" b="1" dirty="0">
                <a:solidFill>
                  <a:srgbClr val="00A8A8"/>
                </a:solidFill>
                <a:latin typeface="Arial" pitchFamily="34" charset="0"/>
                <a:ea typeface="Arial" pitchFamily="34" charset="-122"/>
                <a:cs typeface="Arial" pitchFamily="34" charset="-120"/>
              </a:rPr>
              <a:t>SEMINAR GOALS</a:t>
            </a:r>
            <a:endParaRPr lang="en-US" sz="850" dirty="0"/>
          </a:p>
        </p:txBody>
      </p:sp>
      <p:sp>
        <p:nvSpPr>
          <p:cNvPr id="3" name="Text 1"/>
          <p:cNvSpPr/>
          <p:nvPr/>
        </p:nvSpPr>
        <p:spPr>
          <a:xfrm>
            <a:off x="502920" y="502920"/>
            <a:ext cx="11155680" cy="502920"/>
          </a:xfrm>
          <a:prstGeom prst="rect">
            <a:avLst/>
          </a:prstGeom>
          <a:noFill/>
          <a:ln/>
        </p:spPr>
        <p:txBody>
          <a:bodyPr wrap="square" lIns="0" tIns="0" rIns="0" bIns="0" rtlCol="0" anchor="ctr">
            <a:normAutofit/>
          </a:bodyPr>
          <a:lstStyle/>
          <a:p>
            <a:pPr indent="0" marL="0">
              <a:buNone/>
            </a:pPr>
            <a:r>
              <a:rPr lang="en-US" sz="3000" b="1" dirty="0">
                <a:solidFill>
                  <a:srgbClr val="102A43"/>
                </a:solidFill>
                <a:latin typeface="Arial" pitchFamily="34" charset="0"/>
                <a:ea typeface="Arial" pitchFamily="34" charset="-122"/>
                <a:cs typeface="Arial" pitchFamily="34" charset="-120"/>
              </a:rPr>
              <a:t>What students should be able to do</a:t>
            </a:r>
            <a:endParaRPr lang="en-US" sz="3000" dirty="0"/>
          </a:p>
        </p:txBody>
      </p:sp>
      <p:sp>
        <p:nvSpPr>
          <p:cNvPr id="4" name="Shape 2"/>
          <p:cNvSpPr/>
          <p:nvPr/>
        </p:nvSpPr>
        <p:spPr>
          <a:xfrm>
            <a:off x="502920" y="1078992"/>
            <a:ext cx="11155680" cy="0"/>
          </a:xfrm>
          <a:prstGeom prst="line">
            <a:avLst/>
          </a:prstGeom>
          <a:noFill/>
          <a:ln w="7620">
            <a:solidFill>
              <a:srgbClr val="CBD2D9"/>
            </a:solidFill>
            <a:prstDash val="solid"/>
          </a:ln>
        </p:spPr>
      </p:sp>
      <p:sp>
        <p:nvSpPr>
          <p:cNvPr id="5" name="Text 3"/>
          <p:cNvSpPr/>
          <p:nvPr/>
        </p:nvSpPr>
        <p:spPr>
          <a:xfrm>
            <a:off x="685800" y="1508760"/>
            <a:ext cx="6766560" cy="2651760"/>
          </a:xfrm>
          <a:prstGeom prst="rect">
            <a:avLst/>
          </a:prstGeom>
          <a:noFill/>
          <a:ln/>
        </p:spPr>
        <p:txBody>
          <a:bodyPr wrap="square" lIns="381" tIns="381" rIns="381" bIns="381" rtlCol="0" anchor="t">
            <a:normAutofit/>
          </a:bodyPr>
          <a:lstStyle/>
          <a:p>
            <a:pPr indent="0" marL="0">
              <a:buNone/>
            </a:pPr>
            <a:r>
              <a:rPr lang="en-US" sz="1550" b="1" dirty="0">
                <a:solidFill>
                  <a:srgbClr val="00A8A8"/>
                </a:solidFill>
                <a:latin typeface="Arial" pitchFamily="34" charset="0"/>
                <a:ea typeface="Arial" pitchFamily="34" charset="-122"/>
                <a:cs typeface="Arial" pitchFamily="34" charset="-120"/>
              </a:rPr>
              <a:t>● </a:t>
            </a:r>
            <a:pPr indent="0" marL="0">
              <a:buNone/>
            </a:pPr>
            <a:r>
              <a:rPr lang="en-US" sz="1550" dirty="0">
                <a:solidFill>
                  <a:srgbClr val="17202A"/>
                </a:solidFill>
                <a:latin typeface="Arial" pitchFamily="34" charset="0"/>
                <a:ea typeface="Arial" pitchFamily="34" charset="-122"/>
                <a:cs typeface="Arial" pitchFamily="34" charset="-120"/>
              </a:rPr>
              <a:t>Describe the CREMA-D corpus design: actors, sentences, emotions, intensities, and modalities.</a:t>
            </a:r>
            <a:pPr indent="0" marL="0">
              <a:buNone/>
            </a:pPr>
            <a:r>
              <a:rPr lang="en-US" sz="1550" dirty="0">
                <a:solidFill>
                  <a:srgbClr val="000000"/>
                </a:solidFill>
                <a:latin typeface="Arial" pitchFamily="34" charset="0"/>
                <a:ea typeface="Arial" pitchFamily="34" charset="-122"/>
                <a:cs typeface="Arial" pitchFamily="34" charset="-120"/>
              </a:rPr>
              <a:t>
</a:t>
            </a:r>
            <a:pPr indent="0" marL="0">
              <a:buNone/>
            </a:pPr>
            <a:r>
              <a:rPr lang="en-US" sz="1550" b="1" dirty="0">
                <a:solidFill>
                  <a:srgbClr val="00A8A8"/>
                </a:solidFill>
                <a:latin typeface="Arial" pitchFamily="34" charset="0"/>
                <a:ea typeface="Arial" pitchFamily="34" charset="-122"/>
                <a:cs typeface="Arial" pitchFamily="34" charset="-120"/>
              </a:rPr>
              <a:t>● </a:t>
            </a:r>
            <a:pPr indent="0" marL="0">
              <a:buNone/>
            </a:pPr>
            <a:r>
              <a:rPr lang="en-US" sz="1550" dirty="0">
                <a:solidFill>
                  <a:srgbClr val="17202A"/>
                </a:solidFill>
                <a:latin typeface="Arial" pitchFamily="34" charset="0"/>
                <a:ea typeface="Arial" pitchFamily="34" charset="-122"/>
                <a:cs typeface="Arial" pitchFamily="34" charset="-120"/>
              </a:rPr>
              <a:t>Explain why crowd-sourcing was used and how modality-specific ratings matter.</a:t>
            </a:r>
            <a:pPr indent="0" marL="0">
              <a:buNone/>
            </a:pPr>
            <a:r>
              <a:rPr lang="en-US" sz="1550" dirty="0">
                <a:solidFill>
                  <a:srgbClr val="000000"/>
                </a:solidFill>
                <a:latin typeface="Arial" pitchFamily="34" charset="0"/>
                <a:ea typeface="Arial" pitchFamily="34" charset="-122"/>
                <a:cs typeface="Arial" pitchFamily="34" charset="-120"/>
              </a:rPr>
              <a:t>
</a:t>
            </a:r>
            <a:pPr indent="0" marL="0">
              <a:buNone/>
            </a:pPr>
            <a:r>
              <a:rPr lang="en-US" sz="1550" b="1" dirty="0">
                <a:solidFill>
                  <a:srgbClr val="00A8A8"/>
                </a:solidFill>
                <a:latin typeface="Arial" pitchFamily="34" charset="0"/>
                <a:ea typeface="Arial" pitchFamily="34" charset="-122"/>
                <a:cs typeface="Arial" pitchFamily="34" charset="-120"/>
              </a:rPr>
              <a:t>● </a:t>
            </a:r>
            <a:pPr indent="0" marL="0">
              <a:buNone/>
            </a:pPr>
            <a:r>
              <a:rPr lang="en-US" sz="1550" dirty="0">
                <a:solidFill>
                  <a:srgbClr val="17202A"/>
                </a:solidFill>
                <a:latin typeface="Arial" pitchFamily="34" charset="0"/>
                <a:ea typeface="Arial" pitchFamily="34" charset="-122"/>
                <a:cs typeface="Arial" pitchFamily="34" charset="-120"/>
              </a:rPr>
              <a:t>Distinguish intended actor labels from perceived emotion labels.</a:t>
            </a:r>
            <a:pPr indent="0" marL="0">
              <a:buNone/>
            </a:pPr>
            <a:r>
              <a:rPr lang="en-US" sz="1550" dirty="0">
                <a:solidFill>
                  <a:srgbClr val="000000"/>
                </a:solidFill>
                <a:latin typeface="Arial" pitchFamily="34" charset="0"/>
                <a:ea typeface="Arial" pitchFamily="34" charset="-122"/>
                <a:cs typeface="Arial" pitchFamily="34" charset="-120"/>
              </a:rPr>
              <a:t>
</a:t>
            </a:r>
            <a:pPr indent="0" marL="0">
              <a:buNone/>
            </a:pPr>
            <a:r>
              <a:rPr lang="en-US" sz="1550" b="1" dirty="0">
                <a:solidFill>
                  <a:srgbClr val="00A8A8"/>
                </a:solidFill>
                <a:latin typeface="Arial" pitchFamily="34" charset="0"/>
                <a:ea typeface="Arial" pitchFamily="34" charset="-122"/>
                <a:cs typeface="Arial" pitchFamily="34" charset="-120"/>
              </a:rPr>
              <a:t>● </a:t>
            </a:r>
            <a:pPr indent="0" marL="0">
              <a:buNone/>
            </a:pPr>
            <a:r>
              <a:rPr lang="en-US" sz="1550" dirty="0">
                <a:solidFill>
                  <a:srgbClr val="17202A"/>
                </a:solidFill>
                <a:latin typeface="Arial" pitchFamily="34" charset="0"/>
                <a:ea typeface="Arial" pitchFamily="34" charset="-122"/>
                <a:cs typeface="Arial" pitchFamily="34" charset="-120"/>
              </a:rPr>
              <a:t>Evaluate CREMA-D as a benchmark: strengths, limitations, and leakage risks.</a:t>
            </a:r>
            <a:endParaRPr lang="en-US" sz="1550" dirty="0"/>
          </a:p>
        </p:txBody>
      </p:sp>
      <p:sp>
        <p:nvSpPr>
          <p:cNvPr id="6" name="Shape 4"/>
          <p:cNvSpPr/>
          <p:nvPr/>
        </p:nvSpPr>
        <p:spPr>
          <a:xfrm>
            <a:off x="7589520" y="1508760"/>
            <a:ext cx="3749040" cy="2103120"/>
          </a:xfrm>
          <a:prstGeom prst="roundRect">
            <a:avLst>
              <a:gd name="adj" fmla="val 3478"/>
            </a:avLst>
          </a:prstGeom>
          <a:solidFill>
            <a:srgbClr val="F3E8FF"/>
          </a:solidFill>
          <a:ln w="10160">
            <a:solidFill>
              <a:srgbClr val="DDD6FE"/>
            </a:solidFill>
            <a:prstDash val="solid"/>
          </a:ln>
        </p:spPr>
      </p:sp>
      <p:sp>
        <p:nvSpPr>
          <p:cNvPr id="7" name="Text 5"/>
          <p:cNvSpPr/>
          <p:nvPr/>
        </p:nvSpPr>
        <p:spPr>
          <a:xfrm>
            <a:off x="7863840" y="1783080"/>
            <a:ext cx="3200400" cy="219456"/>
          </a:xfrm>
          <a:prstGeom prst="rect">
            <a:avLst/>
          </a:prstGeom>
          <a:noFill/>
          <a:ln/>
        </p:spPr>
        <p:txBody>
          <a:bodyPr wrap="square" lIns="0" tIns="0" rIns="0" bIns="0" rtlCol="0" anchor="ctr"/>
          <a:lstStyle/>
          <a:p>
            <a:pPr indent="0" marL="0">
              <a:buNone/>
            </a:pPr>
            <a:r>
              <a:rPr lang="en-US" sz="1200" b="1" dirty="0">
                <a:solidFill>
                  <a:srgbClr val="102A43"/>
                </a:solidFill>
                <a:latin typeface="Arial" pitchFamily="34" charset="0"/>
                <a:ea typeface="Arial" pitchFamily="34" charset="-122"/>
                <a:cs typeface="Arial" pitchFamily="34" charset="-120"/>
              </a:rPr>
              <a:t>40-minute seminar stance</a:t>
            </a:r>
            <a:endParaRPr lang="en-US" sz="1200" dirty="0"/>
          </a:p>
        </p:txBody>
      </p:sp>
      <p:sp>
        <p:nvSpPr>
          <p:cNvPr id="8" name="Text 6"/>
          <p:cNvSpPr/>
          <p:nvPr/>
        </p:nvSpPr>
        <p:spPr>
          <a:xfrm>
            <a:off x="7863840" y="2148840"/>
            <a:ext cx="3154680" cy="1005840"/>
          </a:xfrm>
          <a:prstGeom prst="rect">
            <a:avLst/>
          </a:prstGeom>
          <a:noFill/>
          <a:ln/>
        </p:spPr>
        <p:txBody>
          <a:bodyPr wrap="square" lIns="381" tIns="381" rIns="381" bIns="381" rtlCol="0" anchor="ctr">
            <a:normAutofit/>
          </a:bodyPr>
          <a:lstStyle/>
          <a:p>
            <a:pPr indent="0" marL="0">
              <a:buNone/>
            </a:pPr>
            <a:r>
              <a:rPr lang="en-US" sz="1300" dirty="0">
                <a:solidFill>
                  <a:srgbClr val="3E4C59"/>
                </a:solidFill>
                <a:latin typeface="Arial" pitchFamily="34" charset="0"/>
                <a:ea typeface="Arial" pitchFamily="34" charset="-122"/>
                <a:cs typeface="Arial" pitchFamily="34" charset="-120"/>
              </a:rPr>
              <a:t>Treat CREMA-D as a case study in crowd-measured emotion perception: the labels encode how raters interpreted performances under different information conditions.</a:t>
            </a:r>
            <a:endParaRPr lang="en-US" sz="1300" dirty="0"/>
          </a:p>
        </p:txBody>
      </p:sp>
      <p:sp>
        <p:nvSpPr>
          <p:cNvPr id="9" name="Text 7"/>
          <p:cNvSpPr/>
          <p:nvPr/>
        </p:nvSpPr>
        <p:spPr>
          <a:xfrm>
            <a:off x="502920" y="6473952"/>
            <a:ext cx="9144000" cy="164592"/>
          </a:xfrm>
          <a:prstGeom prst="rect">
            <a:avLst/>
          </a:prstGeom>
          <a:noFill/>
          <a:ln/>
        </p:spPr>
        <p:txBody>
          <a:bodyPr wrap="square" lIns="0" tIns="0" rIns="0" bIns="0" rtlCol="0" anchor="ctr"/>
          <a:lstStyle/>
          <a:p>
            <a:pPr indent="0" marL="0">
              <a:buNone/>
            </a:pPr>
            <a:r>
              <a:rPr lang="en-US" sz="750" dirty="0">
                <a:solidFill>
                  <a:srgbClr val="7B8794"/>
                </a:solidFill>
                <a:latin typeface="Arial" pitchFamily="34" charset="0"/>
                <a:ea typeface="Arial" pitchFamily="34" charset="-122"/>
                <a:cs typeface="Arial" pitchFamily="34" charset="-120"/>
              </a:rPr>
              <a:t>CREMA-D seminar | learning goals</a:t>
            </a:r>
            <a:endParaRPr lang="en-US" sz="750" dirty="0"/>
          </a:p>
        </p:txBody>
      </p:sp>
      <p:sp>
        <p:nvSpPr>
          <p:cNvPr id="10" name="Text 8"/>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50" dirty="0">
                <a:solidFill>
                  <a:srgbClr val="7B8794"/>
                </a:solidFill>
                <a:latin typeface="Arial" pitchFamily="34" charset="0"/>
                <a:ea typeface="Arial" pitchFamily="34" charset="-122"/>
                <a:cs typeface="Arial" pitchFamily="34" charset="-120"/>
              </a:rPr>
              <a:t>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4114800" cy="201168"/>
          </a:xfrm>
          <a:prstGeom prst="rect">
            <a:avLst/>
          </a:prstGeom>
          <a:noFill/>
          <a:ln/>
        </p:spPr>
        <p:txBody>
          <a:bodyPr wrap="square" lIns="0" tIns="0" rIns="0" bIns="0" rtlCol="0" anchor="ctr"/>
          <a:lstStyle/>
          <a:p>
            <a:pPr indent="0" marL="0">
              <a:buNone/>
            </a:pPr>
            <a:r>
              <a:rPr lang="en-US" sz="850" b="1" dirty="0">
                <a:solidFill>
                  <a:srgbClr val="00A8A8"/>
                </a:solidFill>
                <a:latin typeface="Arial" pitchFamily="34" charset="0"/>
                <a:ea typeface="Arial" pitchFamily="34" charset="-122"/>
                <a:cs typeface="Arial" pitchFamily="34" charset="-120"/>
              </a:rPr>
              <a:t>ROADMAP</a:t>
            </a:r>
            <a:endParaRPr lang="en-US" sz="850" dirty="0"/>
          </a:p>
        </p:txBody>
      </p:sp>
      <p:sp>
        <p:nvSpPr>
          <p:cNvPr id="3" name="Text 1"/>
          <p:cNvSpPr/>
          <p:nvPr/>
        </p:nvSpPr>
        <p:spPr>
          <a:xfrm>
            <a:off x="502920" y="502920"/>
            <a:ext cx="11155680" cy="502920"/>
          </a:xfrm>
          <a:prstGeom prst="rect">
            <a:avLst/>
          </a:prstGeom>
          <a:noFill/>
          <a:ln/>
        </p:spPr>
        <p:txBody>
          <a:bodyPr wrap="square" lIns="0" tIns="0" rIns="0" bIns="0" rtlCol="0" anchor="ctr">
            <a:normAutofit/>
          </a:bodyPr>
          <a:lstStyle/>
          <a:p>
            <a:pPr indent="0" marL="0">
              <a:buNone/>
            </a:pPr>
            <a:r>
              <a:rPr lang="en-US" sz="3000" b="1" dirty="0">
                <a:solidFill>
                  <a:srgbClr val="102A43"/>
                </a:solidFill>
                <a:latin typeface="Arial" pitchFamily="34" charset="0"/>
                <a:ea typeface="Arial" pitchFamily="34" charset="-122"/>
                <a:cs typeface="Arial" pitchFamily="34" charset="-120"/>
              </a:rPr>
              <a:t>40-minute seminar arc</a:t>
            </a:r>
            <a:endParaRPr lang="en-US" sz="3000" dirty="0"/>
          </a:p>
        </p:txBody>
      </p:sp>
      <p:sp>
        <p:nvSpPr>
          <p:cNvPr id="4" name="Shape 2"/>
          <p:cNvSpPr/>
          <p:nvPr/>
        </p:nvSpPr>
        <p:spPr>
          <a:xfrm>
            <a:off x="502920" y="1078992"/>
            <a:ext cx="11155680" cy="0"/>
          </a:xfrm>
          <a:prstGeom prst="line">
            <a:avLst/>
          </a:prstGeom>
          <a:noFill/>
          <a:ln w="7620">
            <a:solidFill>
              <a:srgbClr val="CBD2D9"/>
            </a:solidFill>
            <a:prstDash val="solid"/>
          </a:ln>
        </p:spPr>
      </p:sp>
      <p:sp>
        <p:nvSpPr>
          <p:cNvPr id="5" name="Shape 3"/>
          <p:cNvSpPr/>
          <p:nvPr/>
        </p:nvSpPr>
        <p:spPr>
          <a:xfrm>
            <a:off x="640080" y="1554480"/>
            <a:ext cx="1005840" cy="320040"/>
          </a:xfrm>
          <a:prstGeom prst="roundRect">
            <a:avLst>
              <a:gd name="adj" fmla="val 17143"/>
            </a:avLst>
          </a:prstGeom>
          <a:solidFill>
            <a:srgbClr val="00A8A8"/>
          </a:solidFill>
          <a:ln w="12700">
            <a:solidFill>
              <a:srgbClr val="00A8A8">
                <a:alpha val="0"/>
              </a:srgbClr>
            </a:solidFill>
            <a:prstDash val="solid"/>
          </a:ln>
        </p:spPr>
      </p:sp>
      <p:sp>
        <p:nvSpPr>
          <p:cNvPr id="6" name="Text 4"/>
          <p:cNvSpPr/>
          <p:nvPr/>
        </p:nvSpPr>
        <p:spPr>
          <a:xfrm>
            <a:off x="713232" y="1636776"/>
            <a:ext cx="859536" cy="128016"/>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0–5</a:t>
            </a:r>
            <a:endParaRPr lang="en-US" sz="850" dirty="0"/>
          </a:p>
        </p:txBody>
      </p:sp>
      <p:sp>
        <p:nvSpPr>
          <p:cNvPr id="7" name="Text 5"/>
          <p:cNvSpPr/>
          <p:nvPr/>
        </p:nvSpPr>
        <p:spPr>
          <a:xfrm>
            <a:off x="548640" y="2011680"/>
            <a:ext cx="1234440" cy="219456"/>
          </a:xfrm>
          <a:prstGeom prst="rect">
            <a:avLst/>
          </a:prstGeom>
          <a:noFill/>
          <a:ln/>
        </p:spPr>
        <p:txBody>
          <a:bodyPr wrap="square" lIns="381" tIns="381" rIns="381" bIns="381" rtlCol="0" anchor="ctr">
            <a:normAutofit/>
          </a:bodyPr>
          <a:lstStyle/>
          <a:p>
            <a:pPr algn="ctr" indent="0" marL="0">
              <a:buNone/>
            </a:pPr>
            <a:r>
              <a:rPr lang="en-US" sz="1300" b="1" dirty="0">
                <a:solidFill>
                  <a:srgbClr val="102A43"/>
                </a:solidFill>
                <a:latin typeface="Arial" pitchFamily="34" charset="0"/>
                <a:ea typeface="Arial" pitchFamily="34" charset="-122"/>
                <a:cs typeface="Arial" pitchFamily="34" charset="-120"/>
              </a:rPr>
              <a:t>Problem</a:t>
            </a:r>
            <a:endParaRPr lang="en-US" sz="1300" dirty="0"/>
          </a:p>
        </p:txBody>
      </p:sp>
      <p:sp>
        <p:nvSpPr>
          <p:cNvPr id="8" name="Text 6"/>
          <p:cNvSpPr/>
          <p:nvPr/>
        </p:nvSpPr>
        <p:spPr>
          <a:xfrm>
            <a:off x="411480" y="2331720"/>
            <a:ext cx="1508760" cy="502920"/>
          </a:xfrm>
          <a:prstGeom prst="rect">
            <a:avLst/>
          </a:prstGeom>
          <a:noFill/>
          <a:ln/>
        </p:spPr>
        <p:txBody>
          <a:bodyPr wrap="square" lIns="381" tIns="381" rIns="381" bIns="381" rtlCol="0" anchor="ctr">
            <a:normAutofit/>
          </a:bodyPr>
          <a:lstStyle/>
          <a:p>
            <a:pPr algn="ctr" indent="0" marL="0">
              <a:buNone/>
            </a:pPr>
            <a:r>
              <a:rPr lang="en-US" sz="1050" dirty="0">
                <a:solidFill>
                  <a:srgbClr val="3E4C59"/>
                </a:solidFill>
                <a:latin typeface="Arial" pitchFamily="34" charset="0"/>
                <a:ea typeface="Arial" pitchFamily="34" charset="-122"/>
                <a:cs typeface="Arial" pitchFamily="34" charset="-120"/>
              </a:rPr>
              <a:t>Why a new multimodal actor dataset?</a:t>
            </a:r>
            <a:endParaRPr lang="en-US" sz="1050" dirty="0"/>
          </a:p>
        </p:txBody>
      </p:sp>
      <p:sp>
        <p:nvSpPr>
          <p:cNvPr id="9" name="Shape 7"/>
          <p:cNvSpPr/>
          <p:nvPr/>
        </p:nvSpPr>
        <p:spPr>
          <a:xfrm>
            <a:off x="2880360" y="1554480"/>
            <a:ext cx="1005840" cy="320040"/>
          </a:xfrm>
          <a:prstGeom prst="roundRect">
            <a:avLst>
              <a:gd name="adj" fmla="val 17143"/>
            </a:avLst>
          </a:prstGeom>
          <a:solidFill>
            <a:srgbClr val="7C3AED"/>
          </a:solidFill>
          <a:ln w="12700">
            <a:solidFill>
              <a:srgbClr val="7C3AED">
                <a:alpha val="0"/>
              </a:srgbClr>
            </a:solidFill>
            <a:prstDash val="solid"/>
          </a:ln>
        </p:spPr>
      </p:sp>
      <p:sp>
        <p:nvSpPr>
          <p:cNvPr id="10" name="Text 8"/>
          <p:cNvSpPr/>
          <p:nvPr/>
        </p:nvSpPr>
        <p:spPr>
          <a:xfrm>
            <a:off x="2953512" y="1636776"/>
            <a:ext cx="859536" cy="128016"/>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5–15</a:t>
            </a:r>
            <a:endParaRPr lang="en-US" sz="850" dirty="0"/>
          </a:p>
        </p:txBody>
      </p:sp>
      <p:sp>
        <p:nvSpPr>
          <p:cNvPr id="11" name="Text 9"/>
          <p:cNvSpPr/>
          <p:nvPr/>
        </p:nvSpPr>
        <p:spPr>
          <a:xfrm>
            <a:off x="2788920" y="2011680"/>
            <a:ext cx="1234440" cy="219456"/>
          </a:xfrm>
          <a:prstGeom prst="rect">
            <a:avLst/>
          </a:prstGeom>
          <a:noFill/>
          <a:ln/>
        </p:spPr>
        <p:txBody>
          <a:bodyPr wrap="square" lIns="381" tIns="381" rIns="381" bIns="381" rtlCol="0" anchor="ctr">
            <a:normAutofit/>
          </a:bodyPr>
          <a:lstStyle/>
          <a:p>
            <a:pPr algn="ctr" indent="0" marL="0">
              <a:buNone/>
            </a:pPr>
            <a:r>
              <a:rPr lang="en-US" sz="1300" b="1" dirty="0">
                <a:solidFill>
                  <a:srgbClr val="102A43"/>
                </a:solidFill>
                <a:latin typeface="Arial" pitchFamily="34" charset="0"/>
                <a:ea typeface="Arial" pitchFamily="34" charset="-122"/>
                <a:cs typeface="Arial" pitchFamily="34" charset="-120"/>
              </a:rPr>
              <a:t>Design</a:t>
            </a:r>
            <a:endParaRPr lang="en-US" sz="1300" dirty="0"/>
          </a:p>
        </p:txBody>
      </p:sp>
      <p:sp>
        <p:nvSpPr>
          <p:cNvPr id="12" name="Text 10"/>
          <p:cNvSpPr/>
          <p:nvPr/>
        </p:nvSpPr>
        <p:spPr>
          <a:xfrm>
            <a:off x="2651760" y="2331720"/>
            <a:ext cx="1508760" cy="502920"/>
          </a:xfrm>
          <a:prstGeom prst="rect">
            <a:avLst/>
          </a:prstGeom>
          <a:noFill/>
          <a:ln/>
        </p:spPr>
        <p:txBody>
          <a:bodyPr wrap="square" lIns="381" tIns="381" rIns="381" bIns="381" rtlCol="0" anchor="ctr">
            <a:normAutofit/>
          </a:bodyPr>
          <a:lstStyle/>
          <a:p>
            <a:pPr algn="ctr" indent="0" marL="0">
              <a:buNone/>
            </a:pPr>
            <a:r>
              <a:rPr lang="en-US" sz="1050" dirty="0">
                <a:solidFill>
                  <a:srgbClr val="3E4C59"/>
                </a:solidFill>
                <a:latin typeface="Arial" pitchFamily="34" charset="0"/>
                <a:ea typeface="Arial" pitchFamily="34" charset="-122"/>
                <a:cs typeface="Arial" pitchFamily="34" charset="-120"/>
              </a:rPr>
              <a:t>How the stimuli were constructed</a:t>
            </a:r>
            <a:endParaRPr lang="en-US" sz="1050" dirty="0"/>
          </a:p>
        </p:txBody>
      </p:sp>
      <p:sp>
        <p:nvSpPr>
          <p:cNvPr id="13" name="Shape 11"/>
          <p:cNvSpPr/>
          <p:nvPr/>
        </p:nvSpPr>
        <p:spPr>
          <a:xfrm>
            <a:off x="5120640" y="1554480"/>
            <a:ext cx="1005840" cy="320040"/>
          </a:xfrm>
          <a:prstGeom prst="roundRect">
            <a:avLst>
              <a:gd name="adj" fmla="val 17143"/>
            </a:avLst>
          </a:prstGeom>
          <a:solidFill>
            <a:srgbClr val="F4B400"/>
          </a:solidFill>
          <a:ln w="12700">
            <a:solidFill>
              <a:srgbClr val="F4B400">
                <a:alpha val="0"/>
              </a:srgbClr>
            </a:solidFill>
            <a:prstDash val="solid"/>
          </a:ln>
        </p:spPr>
      </p:sp>
      <p:sp>
        <p:nvSpPr>
          <p:cNvPr id="14" name="Text 12"/>
          <p:cNvSpPr/>
          <p:nvPr/>
        </p:nvSpPr>
        <p:spPr>
          <a:xfrm>
            <a:off x="5193792" y="1636776"/>
            <a:ext cx="859536" cy="128016"/>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15–25</a:t>
            </a:r>
            <a:endParaRPr lang="en-US" sz="850" dirty="0"/>
          </a:p>
        </p:txBody>
      </p:sp>
      <p:sp>
        <p:nvSpPr>
          <p:cNvPr id="15" name="Text 13"/>
          <p:cNvSpPr/>
          <p:nvPr/>
        </p:nvSpPr>
        <p:spPr>
          <a:xfrm>
            <a:off x="5029200" y="2011680"/>
            <a:ext cx="1234440" cy="219456"/>
          </a:xfrm>
          <a:prstGeom prst="rect">
            <a:avLst/>
          </a:prstGeom>
          <a:noFill/>
          <a:ln/>
        </p:spPr>
        <p:txBody>
          <a:bodyPr wrap="square" lIns="381" tIns="381" rIns="381" bIns="381" rtlCol="0" anchor="ctr">
            <a:normAutofit/>
          </a:bodyPr>
          <a:lstStyle/>
          <a:p>
            <a:pPr algn="ctr" indent="0" marL="0">
              <a:buNone/>
            </a:pPr>
            <a:r>
              <a:rPr lang="en-US" sz="1300" b="1" dirty="0">
                <a:solidFill>
                  <a:srgbClr val="102A43"/>
                </a:solidFill>
                <a:latin typeface="Arial" pitchFamily="34" charset="0"/>
                <a:ea typeface="Arial" pitchFamily="34" charset="-122"/>
                <a:cs typeface="Arial" pitchFamily="34" charset="-120"/>
              </a:rPr>
              <a:t>Crowdsourcing</a:t>
            </a:r>
            <a:endParaRPr lang="en-US" sz="1300" dirty="0"/>
          </a:p>
        </p:txBody>
      </p:sp>
      <p:sp>
        <p:nvSpPr>
          <p:cNvPr id="16" name="Text 14"/>
          <p:cNvSpPr/>
          <p:nvPr/>
        </p:nvSpPr>
        <p:spPr>
          <a:xfrm>
            <a:off x="4892040" y="2331720"/>
            <a:ext cx="1508760" cy="502920"/>
          </a:xfrm>
          <a:prstGeom prst="rect">
            <a:avLst/>
          </a:prstGeom>
          <a:noFill/>
          <a:ln/>
        </p:spPr>
        <p:txBody>
          <a:bodyPr wrap="square" lIns="381" tIns="381" rIns="381" bIns="381" rtlCol="0" anchor="ctr">
            <a:normAutofit/>
          </a:bodyPr>
          <a:lstStyle/>
          <a:p>
            <a:pPr algn="ctr" indent="0" marL="0">
              <a:buNone/>
            </a:pPr>
            <a:r>
              <a:rPr lang="en-US" sz="1050" dirty="0">
                <a:solidFill>
                  <a:srgbClr val="3E4C59"/>
                </a:solidFill>
                <a:latin typeface="Arial" pitchFamily="34" charset="0"/>
                <a:ea typeface="Arial" pitchFamily="34" charset="-122"/>
                <a:cs typeface="Arial" pitchFamily="34" charset="-120"/>
              </a:rPr>
              <a:t>How labels were gathered</a:t>
            </a:r>
            <a:endParaRPr lang="en-US" sz="1050" dirty="0"/>
          </a:p>
        </p:txBody>
      </p:sp>
      <p:sp>
        <p:nvSpPr>
          <p:cNvPr id="17" name="Shape 15"/>
          <p:cNvSpPr/>
          <p:nvPr/>
        </p:nvSpPr>
        <p:spPr>
          <a:xfrm>
            <a:off x="7360920" y="1554480"/>
            <a:ext cx="1005840" cy="320040"/>
          </a:xfrm>
          <a:prstGeom prst="roundRect">
            <a:avLst>
              <a:gd name="adj" fmla="val 17143"/>
            </a:avLst>
          </a:prstGeom>
          <a:solidFill>
            <a:srgbClr val="FF6B6B"/>
          </a:solidFill>
          <a:ln w="12700">
            <a:solidFill>
              <a:srgbClr val="FF6B6B">
                <a:alpha val="0"/>
              </a:srgbClr>
            </a:solidFill>
            <a:prstDash val="solid"/>
          </a:ln>
        </p:spPr>
      </p:sp>
      <p:sp>
        <p:nvSpPr>
          <p:cNvPr id="18" name="Text 16"/>
          <p:cNvSpPr/>
          <p:nvPr/>
        </p:nvSpPr>
        <p:spPr>
          <a:xfrm>
            <a:off x="7434072" y="1636776"/>
            <a:ext cx="859536" cy="128016"/>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25–35</a:t>
            </a:r>
            <a:endParaRPr lang="en-US" sz="850" dirty="0"/>
          </a:p>
        </p:txBody>
      </p:sp>
      <p:sp>
        <p:nvSpPr>
          <p:cNvPr id="19" name="Text 17"/>
          <p:cNvSpPr/>
          <p:nvPr/>
        </p:nvSpPr>
        <p:spPr>
          <a:xfrm>
            <a:off x="7269480" y="2011680"/>
            <a:ext cx="1234440" cy="219456"/>
          </a:xfrm>
          <a:prstGeom prst="rect">
            <a:avLst/>
          </a:prstGeom>
          <a:noFill/>
          <a:ln/>
        </p:spPr>
        <p:txBody>
          <a:bodyPr wrap="square" lIns="381" tIns="381" rIns="381" bIns="381" rtlCol="0" anchor="ctr">
            <a:normAutofit/>
          </a:bodyPr>
          <a:lstStyle/>
          <a:p>
            <a:pPr algn="ctr" indent="0" marL="0">
              <a:buNone/>
            </a:pPr>
            <a:r>
              <a:rPr lang="en-US" sz="1300" b="1" dirty="0">
                <a:solidFill>
                  <a:srgbClr val="102A43"/>
                </a:solidFill>
                <a:latin typeface="Arial" pitchFamily="34" charset="0"/>
                <a:ea typeface="Arial" pitchFamily="34" charset="-122"/>
                <a:cs typeface="Arial" pitchFamily="34" charset="-120"/>
              </a:rPr>
              <a:t>Benchmarking</a:t>
            </a:r>
            <a:endParaRPr lang="en-US" sz="1300" dirty="0"/>
          </a:p>
        </p:txBody>
      </p:sp>
      <p:sp>
        <p:nvSpPr>
          <p:cNvPr id="20" name="Text 18"/>
          <p:cNvSpPr/>
          <p:nvPr/>
        </p:nvSpPr>
        <p:spPr>
          <a:xfrm>
            <a:off x="7132320" y="2331720"/>
            <a:ext cx="1508760" cy="502920"/>
          </a:xfrm>
          <a:prstGeom prst="rect">
            <a:avLst/>
          </a:prstGeom>
          <a:noFill/>
          <a:ln/>
        </p:spPr>
        <p:txBody>
          <a:bodyPr wrap="square" lIns="381" tIns="381" rIns="381" bIns="381" rtlCol="0" anchor="ctr">
            <a:normAutofit/>
          </a:bodyPr>
          <a:lstStyle/>
          <a:p>
            <a:pPr algn="ctr" indent="0" marL="0">
              <a:buNone/>
            </a:pPr>
            <a:r>
              <a:rPr lang="en-US" sz="1050" dirty="0">
                <a:solidFill>
                  <a:srgbClr val="3E4C59"/>
                </a:solidFill>
                <a:latin typeface="Arial" pitchFamily="34" charset="0"/>
                <a:ea typeface="Arial" pitchFamily="34" charset="-122"/>
                <a:cs typeface="Arial" pitchFamily="34" charset="-120"/>
              </a:rPr>
              <a:t>How to use the corpus responsibly</a:t>
            </a:r>
            <a:endParaRPr lang="en-US" sz="1050" dirty="0"/>
          </a:p>
        </p:txBody>
      </p:sp>
      <p:sp>
        <p:nvSpPr>
          <p:cNvPr id="21" name="Shape 19"/>
          <p:cNvSpPr/>
          <p:nvPr/>
        </p:nvSpPr>
        <p:spPr>
          <a:xfrm>
            <a:off x="9601200" y="1554480"/>
            <a:ext cx="1005840" cy="320040"/>
          </a:xfrm>
          <a:prstGeom prst="roundRect">
            <a:avLst>
              <a:gd name="adj" fmla="val 17143"/>
            </a:avLst>
          </a:prstGeom>
          <a:solidFill>
            <a:srgbClr val="42B883"/>
          </a:solidFill>
          <a:ln w="12700">
            <a:solidFill>
              <a:srgbClr val="42B883">
                <a:alpha val="0"/>
              </a:srgbClr>
            </a:solidFill>
            <a:prstDash val="solid"/>
          </a:ln>
        </p:spPr>
      </p:sp>
      <p:sp>
        <p:nvSpPr>
          <p:cNvPr id="22" name="Text 20"/>
          <p:cNvSpPr/>
          <p:nvPr/>
        </p:nvSpPr>
        <p:spPr>
          <a:xfrm>
            <a:off x="9674352" y="1636776"/>
            <a:ext cx="859536" cy="128016"/>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35–40</a:t>
            </a:r>
            <a:endParaRPr lang="en-US" sz="850" dirty="0"/>
          </a:p>
        </p:txBody>
      </p:sp>
      <p:sp>
        <p:nvSpPr>
          <p:cNvPr id="23" name="Text 21"/>
          <p:cNvSpPr/>
          <p:nvPr/>
        </p:nvSpPr>
        <p:spPr>
          <a:xfrm>
            <a:off x="9509760" y="2011680"/>
            <a:ext cx="1234440" cy="219456"/>
          </a:xfrm>
          <a:prstGeom prst="rect">
            <a:avLst/>
          </a:prstGeom>
          <a:noFill/>
          <a:ln/>
        </p:spPr>
        <p:txBody>
          <a:bodyPr wrap="square" lIns="381" tIns="381" rIns="381" bIns="381" rtlCol="0" anchor="ctr">
            <a:normAutofit/>
          </a:bodyPr>
          <a:lstStyle/>
          <a:p>
            <a:pPr algn="ctr" indent="0" marL="0">
              <a:buNone/>
            </a:pPr>
            <a:r>
              <a:rPr lang="en-US" sz="1300" b="1" dirty="0">
                <a:solidFill>
                  <a:srgbClr val="102A43"/>
                </a:solidFill>
                <a:latin typeface="Arial" pitchFamily="34" charset="0"/>
                <a:ea typeface="Arial" pitchFamily="34" charset="-122"/>
                <a:cs typeface="Arial" pitchFamily="34" charset="-120"/>
              </a:rPr>
              <a:t>Synthesis</a:t>
            </a:r>
            <a:endParaRPr lang="en-US" sz="1300" dirty="0"/>
          </a:p>
        </p:txBody>
      </p:sp>
      <p:sp>
        <p:nvSpPr>
          <p:cNvPr id="24" name="Text 22"/>
          <p:cNvSpPr/>
          <p:nvPr/>
        </p:nvSpPr>
        <p:spPr>
          <a:xfrm>
            <a:off x="9372600" y="2331720"/>
            <a:ext cx="1508760" cy="502920"/>
          </a:xfrm>
          <a:prstGeom prst="rect">
            <a:avLst/>
          </a:prstGeom>
          <a:noFill/>
          <a:ln/>
        </p:spPr>
        <p:txBody>
          <a:bodyPr wrap="square" lIns="381" tIns="381" rIns="381" bIns="381" rtlCol="0" anchor="ctr">
            <a:normAutofit/>
          </a:bodyPr>
          <a:lstStyle/>
          <a:p>
            <a:pPr algn="ctr" indent="0" marL="0">
              <a:buNone/>
            </a:pPr>
            <a:r>
              <a:rPr lang="en-US" sz="1050" dirty="0">
                <a:solidFill>
                  <a:srgbClr val="3E4C59"/>
                </a:solidFill>
                <a:latin typeface="Arial" pitchFamily="34" charset="0"/>
                <a:ea typeface="Arial" pitchFamily="34" charset="-122"/>
                <a:cs typeface="Arial" pitchFamily="34" charset="-120"/>
              </a:rPr>
              <a:t>How it compares to IEMOCAP</a:t>
            </a:r>
            <a:endParaRPr lang="en-US" sz="1050" dirty="0"/>
          </a:p>
        </p:txBody>
      </p:sp>
      <p:sp>
        <p:nvSpPr>
          <p:cNvPr id="25" name="Shape 23"/>
          <p:cNvSpPr/>
          <p:nvPr/>
        </p:nvSpPr>
        <p:spPr>
          <a:xfrm>
            <a:off x="1097280" y="3749040"/>
            <a:ext cx="9875520" cy="960120"/>
          </a:xfrm>
          <a:prstGeom prst="roundRect">
            <a:avLst>
              <a:gd name="adj" fmla="val 7619"/>
            </a:avLst>
          </a:prstGeom>
          <a:solidFill>
            <a:srgbClr val="F5F7FA"/>
          </a:solidFill>
          <a:ln w="12700">
            <a:solidFill>
              <a:srgbClr val="E4E7EB"/>
            </a:solidFill>
            <a:prstDash val="solid"/>
          </a:ln>
        </p:spPr>
      </p:sp>
      <p:sp>
        <p:nvSpPr>
          <p:cNvPr id="26" name="Text 24"/>
          <p:cNvSpPr/>
          <p:nvPr/>
        </p:nvSpPr>
        <p:spPr>
          <a:xfrm>
            <a:off x="1417320" y="4050792"/>
            <a:ext cx="9326880" cy="320040"/>
          </a:xfrm>
          <a:prstGeom prst="rect">
            <a:avLst/>
          </a:prstGeom>
          <a:noFill/>
          <a:ln/>
        </p:spPr>
        <p:txBody>
          <a:bodyPr wrap="square" lIns="0" tIns="0" rIns="0" bIns="0" rtlCol="0" anchor="ctr"/>
          <a:lstStyle/>
          <a:p>
            <a:pPr algn="ctr" indent="0" marL="0">
              <a:buNone/>
            </a:pPr>
            <a:r>
              <a:rPr lang="en-US" sz="1600" b="1" dirty="0">
                <a:solidFill>
                  <a:srgbClr val="102A43"/>
                </a:solidFill>
                <a:latin typeface="Arial" pitchFamily="34" charset="0"/>
                <a:ea typeface="Arial" pitchFamily="34" charset="-122"/>
                <a:cs typeface="Arial" pitchFamily="34" charset="-120"/>
              </a:rPr>
              <a:t>Recurring question: Are we modeling what actors intended, what raters perceived, or what a deployed system should infer?</a:t>
            </a:r>
            <a:endParaRPr lang="en-US" sz="1600" dirty="0"/>
          </a:p>
        </p:txBody>
      </p:sp>
      <p:sp>
        <p:nvSpPr>
          <p:cNvPr id="27" name="Text 25"/>
          <p:cNvSpPr/>
          <p:nvPr/>
        </p:nvSpPr>
        <p:spPr>
          <a:xfrm>
            <a:off x="502920" y="6473952"/>
            <a:ext cx="9144000" cy="164592"/>
          </a:xfrm>
          <a:prstGeom prst="rect">
            <a:avLst/>
          </a:prstGeom>
          <a:noFill/>
          <a:ln/>
        </p:spPr>
        <p:txBody>
          <a:bodyPr wrap="square" lIns="0" tIns="0" rIns="0" bIns="0" rtlCol="0" anchor="ctr"/>
          <a:lstStyle/>
          <a:p>
            <a:pPr indent="0" marL="0">
              <a:buNone/>
            </a:pPr>
            <a:r>
              <a:rPr lang="en-US" sz="750" dirty="0">
                <a:solidFill>
                  <a:srgbClr val="7B8794"/>
                </a:solidFill>
                <a:latin typeface="Arial" pitchFamily="34" charset="0"/>
                <a:ea typeface="Arial" pitchFamily="34" charset="-122"/>
                <a:cs typeface="Arial" pitchFamily="34" charset="-120"/>
              </a:rPr>
              <a:t>CREMA-D seminar | roadmap</a:t>
            </a:r>
            <a:endParaRPr lang="en-US" sz="750" dirty="0"/>
          </a:p>
        </p:txBody>
      </p:sp>
      <p:sp>
        <p:nvSpPr>
          <p:cNvPr id="28" name="Text 26"/>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50" dirty="0">
                <a:solidFill>
                  <a:srgbClr val="7B8794"/>
                </a:solidFill>
                <a:latin typeface="Arial" pitchFamily="34" charset="0"/>
                <a:ea typeface="Arial" pitchFamily="34" charset="-122"/>
                <a:cs typeface="Arial" pitchFamily="34" charset="-120"/>
              </a:rPr>
              <a:t>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4114800" cy="201168"/>
          </a:xfrm>
          <a:prstGeom prst="rect">
            <a:avLst/>
          </a:prstGeom>
          <a:noFill/>
          <a:ln/>
        </p:spPr>
        <p:txBody>
          <a:bodyPr wrap="square" lIns="0" tIns="0" rIns="0" bIns="0" rtlCol="0" anchor="ctr"/>
          <a:lstStyle/>
          <a:p>
            <a:pPr indent="0" marL="0">
              <a:buNone/>
            </a:pPr>
            <a:r>
              <a:rPr lang="en-US" sz="850" b="1" dirty="0">
                <a:solidFill>
                  <a:srgbClr val="00A8A8"/>
                </a:solidFill>
                <a:latin typeface="Arial" pitchFamily="34" charset="0"/>
                <a:ea typeface="Arial" pitchFamily="34" charset="-122"/>
                <a:cs typeface="Arial" pitchFamily="34" charset="-120"/>
              </a:rPr>
              <a:t>DATASET OVERVIEW</a:t>
            </a:r>
            <a:endParaRPr lang="en-US" sz="850" dirty="0"/>
          </a:p>
        </p:txBody>
      </p:sp>
      <p:sp>
        <p:nvSpPr>
          <p:cNvPr id="3" name="Text 1"/>
          <p:cNvSpPr/>
          <p:nvPr/>
        </p:nvSpPr>
        <p:spPr>
          <a:xfrm>
            <a:off x="502920" y="502920"/>
            <a:ext cx="11155680" cy="502920"/>
          </a:xfrm>
          <a:prstGeom prst="rect">
            <a:avLst/>
          </a:prstGeom>
          <a:noFill/>
          <a:ln/>
        </p:spPr>
        <p:txBody>
          <a:bodyPr wrap="square" lIns="0" tIns="0" rIns="0" bIns="0" rtlCol="0" anchor="ctr">
            <a:normAutofit/>
          </a:bodyPr>
          <a:lstStyle/>
          <a:p>
            <a:pPr indent="0" marL="0">
              <a:buNone/>
            </a:pPr>
            <a:r>
              <a:rPr lang="en-US" sz="3000" b="1" dirty="0">
                <a:solidFill>
                  <a:srgbClr val="102A43"/>
                </a:solidFill>
                <a:latin typeface="Arial" pitchFamily="34" charset="0"/>
                <a:ea typeface="Arial" pitchFamily="34" charset="-122"/>
                <a:cs typeface="Arial" pitchFamily="34" charset="-120"/>
              </a:rPr>
              <a:t>CREMA-D at a glance</a:t>
            </a:r>
            <a:endParaRPr lang="en-US" sz="3000" dirty="0"/>
          </a:p>
        </p:txBody>
      </p:sp>
      <p:sp>
        <p:nvSpPr>
          <p:cNvPr id="4" name="Shape 2"/>
          <p:cNvSpPr/>
          <p:nvPr/>
        </p:nvSpPr>
        <p:spPr>
          <a:xfrm>
            <a:off x="502920" y="1078992"/>
            <a:ext cx="11155680" cy="0"/>
          </a:xfrm>
          <a:prstGeom prst="line">
            <a:avLst/>
          </a:prstGeom>
          <a:noFill/>
          <a:ln w="7620">
            <a:solidFill>
              <a:srgbClr val="CBD2D9"/>
            </a:solidFill>
            <a:prstDash val="solid"/>
          </a:ln>
        </p:spPr>
      </p:sp>
      <p:sp>
        <p:nvSpPr>
          <p:cNvPr id="5" name="Text 3"/>
          <p:cNvSpPr/>
          <p:nvPr/>
        </p:nvSpPr>
        <p:spPr>
          <a:xfrm>
            <a:off x="822960" y="1508760"/>
            <a:ext cx="1554480" cy="475488"/>
          </a:xfrm>
          <a:prstGeom prst="rect">
            <a:avLst/>
          </a:prstGeom>
          <a:noFill/>
          <a:ln/>
        </p:spPr>
        <p:txBody>
          <a:bodyPr wrap="square" lIns="0" tIns="0" rIns="0" bIns="0" rtlCol="0" anchor="ctr"/>
          <a:lstStyle/>
          <a:p>
            <a:pPr algn="ctr" indent="0" marL="0">
              <a:buNone/>
            </a:pPr>
            <a:r>
              <a:rPr lang="en-US" sz="2800" b="1" dirty="0">
                <a:solidFill>
                  <a:srgbClr val="00A8A8"/>
                </a:solidFill>
                <a:latin typeface="Arial" pitchFamily="34" charset="0"/>
                <a:ea typeface="Arial" pitchFamily="34" charset="-122"/>
                <a:cs typeface="Arial" pitchFamily="34" charset="-120"/>
              </a:rPr>
              <a:t>7,442</a:t>
            </a:r>
            <a:endParaRPr lang="en-US" sz="2800" dirty="0"/>
          </a:p>
        </p:txBody>
      </p:sp>
      <p:sp>
        <p:nvSpPr>
          <p:cNvPr id="6" name="Text 4"/>
          <p:cNvSpPr/>
          <p:nvPr/>
        </p:nvSpPr>
        <p:spPr>
          <a:xfrm>
            <a:off x="822960" y="2011680"/>
            <a:ext cx="1554480" cy="347472"/>
          </a:xfrm>
          <a:prstGeom prst="rect">
            <a:avLst/>
          </a:prstGeom>
          <a:noFill/>
          <a:ln/>
        </p:spPr>
        <p:txBody>
          <a:bodyPr wrap="square" lIns="254" tIns="254" rIns="254" bIns="254" rtlCol="0" anchor="ctr">
            <a:normAutofit/>
          </a:bodyPr>
          <a:lstStyle/>
          <a:p>
            <a:pPr algn="ctr" indent="0" marL="0">
              <a:buNone/>
            </a:pPr>
            <a:r>
              <a:rPr lang="en-US" sz="1050" dirty="0">
                <a:solidFill>
                  <a:srgbClr val="3E4C59"/>
                </a:solidFill>
                <a:latin typeface="Arial" pitchFamily="34" charset="0"/>
                <a:ea typeface="Arial" pitchFamily="34" charset="-122"/>
                <a:cs typeface="Arial" pitchFamily="34" charset="-120"/>
              </a:rPr>
              <a:t>original clips</a:t>
            </a:r>
            <a:endParaRPr lang="en-US" sz="1050" dirty="0"/>
          </a:p>
        </p:txBody>
      </p:sp>
      <p:sp>
        <p:nvSpPr>
          <p:cNvPr id="7" name="Text 5"/>
          <p:cNvSpPr/>
          <p:nvPr/>
        </p:nvSpPr>
        <p:spPr>
          <a:xfrm>
            <a:off x="2606040" y="1508760"/>
            <a:ext cx="1280160" cy="475488"/>
          </a:xfrm>
          <a:prstGeom prst="rect">
            <a:avLst/>
          </a:prstGeom>
          <a:noFill/>
          <a:ln/>
        </p:spPr>
        <p:txBody>
          <a:bodyPr wrap="square" lIns="0" tIns="0" rIns="0" bIns="0" rtlCol="0" anchor="ctr"/>
          <a:lstStyle/>
          <a:p>
            <a:pPr algn="ctr" indent="0" marL="0">
              <a:buNone/>
            </a:pPr>
            <a:r>
              <a:rPr lang="en-US" sz="2800" b="1" dirty="0">
                <a:solidFill>
                  <a:srgbClr val="7C3AED"/>
                </a:solidFill>
                <a:latin typeface="Arial" pitchFamily="34" charset="0"/>
                <a:ea typeface="Arial" pitchFamily="34" charset="-122"/>
                <a:cs typeface="Arial" pitchFamily="34" charset="-120"/>
              </a:rPr>
              <a:t>91</a:t>
            </a:r>
            <a:endParaRPr lang="en-US" sz="2800" dirty="0"/>
          </a:p>
        </p:txBody>
      </p:sp>
      <p:sp>
        <p:nvSpPr>
          <p:cNvPr id="8" name="Text 6"/>
          <p:cNvSpPr/>
          <p:nvPr/>
        </p:nvSpPr>
        <p:spPr>
          <a:xfrm>
            <a:off x="2606040" y="2011680"/>
            <a:ext cx="1280160" cy="347472"/>
          </a:xfrm>
          <a:prstGeom prst="rect">
            <a:avLst/>
          </a:prstGeom>
          <a:noFill/>
          <a:ln/>
        </p:spPr>
        <p:txBody>
          <a:bodyPr wrap="square" lIns="254" tIns="254" rIns="254" bIns="254" rtlCol="0" anchor="ctr">
            <a:normAutofit/>
          </a:bodyPr>
          <a:lstStyle/>
          <a:p>
            <a:pPr algn="ctr" indent="0" marL="0">
              <a:buNone/>
            </a:pPr>
            <a:r>
              <a:rPr lang="en-US" sz="1050" dirty="0">
                <a:solidFill>
                  <a:srgbClr val="3E4C59"/>
                </a:solidFill>
                <a:latin typeface="Arial" pitchFamily="34" charset="0"/>
                <a:ea typeface="Arial" pitchFamily="34" charset="-122"/>
                <a:cs typeface="Arial" pitchFamily="34" charset="-120"/>
              </a:rPr>
              <a:t>actors</a:t>
            </a:r>
            <a:endParaRPr lang="en-US" sz="1050" dirty="0"/>
          </a:p>
        </p:txBody>
      </p:sp>
      <p:sp>
        <p:nvSpPr>
          <p:cNvPr id="9" name="Text 7"/>
          <p:cNvSpPr/>
          <p:nvPr/>
        </p:nvSpPr>
        <p:spPr>
          <a:xfrm>
            <a:off x="4160520" y="1508760"/>
            <a:ext cx="1280160" cy="475488"/>
          </a:xfrm>
          <a:prstGeom prst="rect">
            <a:avLst/>
          </a:prstGeom>
          <a:noFill/>
          <a:ln/>
        </p:spPr>
        <p:txBody>
          <a:bodyPr wrap="square" lIns="0" tIns="0" rIns="0" bIns="0" rtlCol="0" anchor="ctr"/>
          <a:lstStyle/>
          <a:p>
            <a:pPr algn="ctr" indent="0" marL="0">
              <a:buNone/>
            </a:pPr>
            <a:r>
              <a:rPr lang="en-US" sz="2800" b="1" dirty="0">
                <a:solidFill>
                  <a:srgbClr val="F4B400"/>
                </a:solidFill>
                <a:latin typeface="Arial" pitchFamily="34" charset="0"/>
                <a:ea typeface="Arial" pitchFamily="34" charset="-122"/>
                <a:cs typeface="Arial" pitchFamily="34" charset="-120"/>
              </a:rPr>
              <a:t>12</a:t>
            </a:r>
            <a:endParaRPr lang="en-US" sz="2800" dirty="0"/>
          </a:p>
        </p:txBody>
      </p:sp>
      <p:sp>
        <p:nvSpPr>
          <p:cNvPr id="10" name="Text 8"/>
          <p:cNvSpPr/>
          <p:nvPr/>
        </p:nvSpPr>
        <p:spPr>
          <a:xfrm>
            <a:off x="4160520" y="2011680"/>
            <a:ext cx="1280160" cy="347472"/>
          </a:xfrm>
          <a:prstGeom prst="rect">
            <a:avLst/>
          </a:prstGeom>
          <a:noFill/>
          <a:ln/>
        </p:spPr>
        <p:txBody>
          <a:bodyPr wrap="square" lIns="254" tIns="254" rIns="254" bIns="254" rtlCol="0" anchor="ctr">
            <a:normAutofit/>
          </a:bodyPr>
          <a:lstStyle/>
          <a:p>
            <a:pPr algn="ctr" indent="0" marL="0">
              <a:buNone/>
            </a:pPr>
            <a:r>
              <a:rPr lang="en-US" sz="1050" dirty="0">
                <a:solidFill>
                  <a:srgbClr val="3E4C59"/>
                </a:solidFill>
                <a:latin typeface="Arial" pitchFamily="34" charset="0"/>
                <a:ea typeface="Arial" pitchFamily="34" charset="-122"/>
                <a:cs typeface="Arial" pitchFamily="34" charset="-120"/>
              </a:rPr>
              <a:t>sentences</a:t>
            </a:r>
            <a:endParaRPr lang="en-US" sz="1050" dirty="0"/>
          </a:p>
        </p:txBody>
      </p:sp>
      <p:sp>
        <p:nvSpPr>
          <p:cNvPr id="11" name="Text 9"/>
          <p:cNvSpPr/>
          <p:nvPr/>
        </p:nvSpPr>
        <p:spPr>
          <a:xfrm>
            <a:off x="5715000" y="1508760"/>
            <a:ext cx="1280160" cy="475488"/>
          </a:xfrm>
          <a:prstGeom prst="rect">
            <a:avLst/>
          </a:prstGeom>
          <a:noFill/>
          <a:ln/>
        </p:spPr>
        <p:txBody>
          <a:bodyPr wrap="square" lIns="0" tIns="0" rIns="0" bIns="0" rtlCol="0" anchor="ctr"/>
          <a:lstStyle/>
          <a:p>
            <a:pPr algn="ctr" indent="0" marL="0">
              <a:buNone/>
            </a:pPr>
            <a:r>
              <a:rPr lang="en-US" sz="2800" b="1" dirty="0">
                <a:solidFill>
                  <a:srgbClr val="FF6B6B"/>
                </a:solidFill>
                <a:latin typeface="Arial" pitchFamily="34" charset="0"/>
                <a:ea typeface="Arial" pitchFamily="34" charset="-122"/>
                <a:cs typeface="Arial" pitchFamily="34" charset="-120"/>
              </a:rPr>
              <a:t>6</a:t>
            </a:r>
            <a:endParaRPr lang="en-US" sz="2800" dirty="0"/>
          </a:p>
        </p:txBody>
      </p:sp>
      <p:sp>
        <p:nvSpPr>
          <p:cNvPr id="12" name="Text 10"/>
          <p:cNvSpPr/>
          <p:nvPr/>
        </p:nvSpPr>
        <p:spPr>
          <a:xfrm>
            <a:off x="5715000" y="2011680"/>
            <a:ext cx="1280160" cy="347472"/>
          </a:xfrm>
          <a:prstGeom prst="rect">
            <a:avLst/>
          </a:prstGeom>
          <a:noFill/>
          <a:ln/>
        </p:spPr>
        <p:txBody>
          <a:bodyPr wrap="square" lIns="254" tIns="254" rIns="254" bIns="254" rtlCol="0" anchor="ctr">
            <a:normAutofit/>
          </a:bodyPr>
          <a:lstStyle/>
          <a:p>
            <a:pPr algn="ctr" indent="0" marL="0">
              <a:buNone/>
            </a:pPr>
            <a:r>
              <a:rPr lang="en-US" sz="1050" dirty="0">
                <a:solidFill>
                  <a:srgbClr val="3E4C59"/>
                </a:solidFill>
                <a:latin typeface="Arial" pitchFamily="34" charset="0"/>
                <a:ea typeface="Arial" pitchFamily="34" charset="-122"/>
                <a:cs typeface="Arial" pitchFamily="34" charset="-120"/>
              </a:rPr>
              <a:t>emotion categories</a:t>
            </a:r>
            <a:endParaRPr lang="en-US" sz="1050" dirty="0"/>
          </a:p>
        </p:txBody>
      </p:sp>
      <p:sp>
        <p:nvSpPr>
          <p:cNvPr id="13" name="Text 11"/>
          <p:cNvSpPr/>
          <p:nvPr/>
        </p:nvSpPr>
        <p:spPr>
          <a:xfrm>
            <a:off x="7269480" y="1508760"/>
            <a:ext cx="1280160" cy="475488"/>
          </a:xfrm>
          <a:prstGeom prst="rect">
            <a:avLst/>
          </a:prstGeom>
          <a:noFill/>
          <a:ln/>
        </p:spPr>
        <p:txBody>
          <a:bodyPr wrap="square" lIns="0" tIns="0" rIns="0" bIns="0" rtlCol="0" anchor="ctr"/>
          <a:lstStyle/>
          <a:p>
            <a:pPr algn="ctr" indent="0" marL="0">
              <a:buNone/>
            </a:pPr>
            <a:r>
              <a:rPr lang="en-US" sz="2800" b="1" dirty="0">
                <a:solidFill>
                  <a:srgbClr val="42B883"/>
                </a:solidFill>
                <a:latin typeface="Arial" pitchFamily="34" charset="0"/>
                <a:ea typeface="Arial" pitchFamily="34" charset="-122"/>
                <a:cs typeface="Arial" pitchFamily="34" charset="-120"/>
              </a:rPr>
              <a:t>4</a:t>
            </a:r>
            <a:endParaRPr lang="en-US" sz="2800" dirty="0"/>
          </a:p>
        </p:txBody>
      </p:sp>
      <p:sp>
        <p:nvSpPr>
          <p:cNvPr id="14" name="Text 12"/>
          <p:cNvSpPr/>
          <p:nvPr/>
        </p:nvSpPr>
        <p:spPr>
          <a:xfrm>
            <a:off x="7269480" y="2011680"/>
            <a:ext cx="1280160" cy="347472"/>
          </a:xfrm>
          <a:prstGeom prst="rect">
            <a:avLst/>
          </a:prstGeom>
          <a:noFill/>
          <a:ln/>
        </p:spPr>
        <p:txBody>
          <a:bodyPr wrap="square" lIns="254" tIns="254" rIns="254" bIns="254" rtlCol="0" anchor="ctr">
            <a:normAutofit/>
          </a:bodyPr>
          <a:lstStyle/>
          <a:p>
            <a:pPr algn="ctr" indent="0" marL="0">
              <a:buNone/>
            </a:pPr>
            <a:r>
              <a:rPr lang="en-US" sz="1050" dirty="0">
                <a:solidFill>
                  <a:srgbClr val="3E4C59"/>
                </a:solidFill>
                <a:latin typeface="Arial" pitchFamily="34" charset="0"/>
                <a:ea typeface="Arial" pitchFamily="34" charset="-122"/>
                <a:cs typeface="Arial" pitchFamily="34" charset="-120"/>
              </a:rPr>
              <a:t>intensity levels</a:t>
            </a:r>
            <a:endParaRPr lang="en-US" sz="1050" dirty="0"/>
          </a:p>
        </p:txBody>
      </p:sp>
      <p:sp>
        <p:nvSpPr>
          <p:cNvPr id="15" name="Text 13"/>
          <p:cNvSpPr/>
          <p:nvPr/>
        </p:nvSpPr>
        <p:spPr>
          <a:xfrm>
            <a:off x="8823960" y="1508760"/>
            <a:ext cx="1645920" cy="475488"/>
          </a:xfrm>
          <a:prstGeom prst="rect">
            <a:avLst/>
          </a:prstGeom>
          <a:noFill/>
          <a:ln/>
        </p:spPr>
        <p:txBody>
          <a:bodyPr wrap="square" lIns="0" tIns="0" rIns="0" bIns="0" rtlCol="0" anchor="ctr"/>
          <a:lstStyle/>
          <a:p>
            <a:pPr algn="ctr" indent="0" marL="0">
              <a:buNone/>
            </a:pPr>
            <a:r>
              <a:rPr lang="en-US" sz="2800" b="1" dirty="0">
                <a:solidFill>
                  <a:srgbClr val="1976D2"/>
                </a:solidFill>
                <a:latin typeface="Arial" pitchFamily="34" charset="0"/>
                <a:ea typeface="Arial" pitchFamily="34" charset="-122"/>
                <a:cs typeface="Arial" pitchFamily="34" charset="-120"/>
              </a:rPr>
              <a:t>2,443</a:t>
            </a:r>
            <a:endParaRPr lang="en-US" sz="2800" dirty="0"/>
          </a:p>
        </p:txBody>
      </p:sp>
      <p:sp>
        <p:nvSpPr>
          <p:cNvPr id="16" name="Text 14"/>
          <p:cNvSpPr/>
          <p:nvPr/>
        </p:nvSpPr>
        <p:spPr>
          <a:xfrm>
            <a:off x="8823960" y="2011680"/>
            <a:ext cx="1645920" cy="347472"/>
          </a:xfrm>
          <a:prstGeom prst="rect">
            <a:avLst/>
          </a:prstGeom>
          <a:noFill/>
          <a:ln/>
        </p:spPr>
        <p:txBody>
          <a:bodyPr wrap="square" lIns="254" tIns="254" rIns="254" bIns="254" rtlCol="0" anchor="ctr">
            <a:normAutofit/>
          </a:bodyPr>
          <a:lstStyle/>
          <a:p>
            <a:pPr algn="ctr" indent="0" marL="0">
              <a:buNone/>
            </a:pPr>
            <a:r>
              <a:rPr lang="en-US" sz="1050" dirty="0">
                <a:solidFill>
                  <a:srgbClr val="3E4C59"/>
                </a:solidFill>
                <a:latin typeface="Arial" pitchFamily="34" charset="0"/>
                <a:ea typeface="Arial" pitchFamily="34" charset="-122"/>
                <a:cs typeface="Arial" pitchFamily="34" charset="-120"/>
              </a:rPr>
              <a:t>crowd raters</a:t>
            </a:r>
            <a:endParaRPr lang="en-US" sz="1050" dirty="0"/>
          </a:p>
        </p:txBody>
      </p:sp>
      <p:sp>
        <p:nvSpPr>
          <p:cNvPr id="17" name="Text 15"/>
          <p:cNvSpPr/>
          <p:nvPr/>
        </p:nvSpPr>
        <p:spPr>
          <a:xfrm>
            <a:off x="1143000" y="3383280"/>
            <a:ext cx="9784080" cy="1371600"/>
          </a:xfrm>
          <a:prstGeom prst="rect">
            <a:avLst/>
          </a:prstGeom>
          <a:noFill/>
          <a:ln/>
        </p:spPr>
        <p:txBody>
          <a:bodyPr wrap="square" lIns="381" tIns="381" rIns="381" bIns="381" rtlCol="0" anchor="t">
            <a:normAutofit/>
          </a:bodyPr>
          <a:lstStyle/>
          <a:p>
            <a:pPr indent="0" marL="0">
              <a:buNone/>
            </a:pPr>
            <a:r>
              <a:rPr lang="en-US" sz="1530" b="1" dirty="0">
                <a:solidFill>
                  <a:srgbClr val="00A8A8"/>
                </a:solidFill>
                <a:latin typeface="Arial" pitchFamily="34" charset="0"/>
                <a:ea typeface="Arial" pitchFamily="34" charset="-122"/>
                <a:cs typeface="Arial" pitchFamily="34" charset="-120"/>
              </a:rPr>
              <a:t>● </a:t>
            </a:r>
            <a:pPr indent="0" marL="0">
              <a:buNone/>
            </a:pPr>
            <a:r>
              <a:rPr lang="en-US" sz="1530" dirty="0">
                <a:solidFill>
                  <a:srgbClr val="17202A"/>
                </a:solidFill>
                <a:latin typeface="Arial" pitchFamily="34" charset="0"/>
                <a:ea typeface="Arial" pitchFamily="34" charset="-122"/>
                <a:cs typeface="Arial" pitchFamily="34" charset="-120"/>
              </a:rPr>
              <a:t>Each actor spoke selected sentences in anger, disgust, fear, happiness, neutral, and sadness.</a:t>
            </a:r>
            <a:pPr indent="0" marL="0">
              <a:buNone/>
            </a:pPr>
            <a:r>
              <a:rPr lang="en-US" sz="1530" dirty="0">
                <a:solidFill>
                  <a:srgbClr val="000000"/>
                </a:solidFill>
                <a:latin typeface="Arial" pitchFamily="34" charset="0"/>
                <a:ea typeface="Arial" pitchFamily="34" charset="-122"/>
                <a:cs typeface="Arial" pitchFamily="34" charset="-120"/>
              </a:rPr>
              <a:t>
</a:t>
            </a:r>
            <a:pPr indent="0" marL="0">
              <a:buNone/>
            </a:pPr>
            <a:r>
              <a:rPr lang="en-US" sz="1530" b="1" dirty="0">
                <a:solidFill>
                  <a:srgbClr val="00A8A8"/>
                </a:solidFill>
                <a:latin typeface="Arial" pitchFamily="34" charset="0"/>
                <a:ea typeface="Arial" pitchFamily="34" charset="-122"/>
                <a:cs typeface="Arial" pitchFamily="34" charset="-120"/>
              </a:rPr>
              <a:t>● </a:t>
            </a:r>
            <a:pPr indent="0" marL="0">
              <a:buNone/>
            </a:pPr>
            <a:r>
              <a:rPr lang="en-US" sz="1530" dirty="0">
                <a:solidFill>
                  <a:srgbClr val="17202A"/>
                </a:solidFill>
                <a:latin typeface="Arial" pitchFamily="34" charset="0"/>
                <a:ea typeface="Arial" pitchFamily="34" charset="-122"/>
                <a:cs typeface="Arial" pitchFamily="34" charset="-120"/>
              </a:rPr>
              <a:t>Ratings were collected for audio-only, visual-only, and audiovisual versions of the clips.</a:t>
            </a:r>
            <a:pPr indent="0" marL="0">
              <a:buNone/>
            </a:pPr>
            <a:r>
              <a:rPr lang="en-US" sz="1530" dirty="0">
                <a:solidFill>
                  <a:srgbClr val="000000"/>
                </a:solidFill>
                <a:latin typeface="Arial" pitchFamily="34" charset="0"/>
                <a:ea typeface="Arial" pitchFamily="34" charset="-122"/>
                <a:cs typeface="Arial" pitchFamily="34" charset="-120"/>
              </a:rPr>
              <a:t>
</a:t>
            </a:r>
            <a:pPr indent="0" marL="0">
              <a:buNone/>
            </a:pPr>
            <a:r>
              <a:rPr lang="en-US" sz="1530" b="1" dirty="0">
                <a:solidFill>
                  <a:srgbClr val="00A8A8"/>
                </a:solidFill>
                <a:latin typeface="Arial" pitchFamily="34" charset="0"/>
                <a:ea typeface="Arial" pitchFamily="34" charset="-122"/>
                <a:cs typeface="Arial" pitchFamily="34" charset="-120"/>
              </a:rPr>
              <a:t>● </a:t>
            </a:r>
            <a:pPr indent="0" marL="0">
              <a:buNone/>
            </a:pPr>
            <a:r>
              <a:rPr lang="en-US" sz="1530" dirty="0">
                <a:solidFill>
                  <a:srgbClr val="17202A"/>
                </a:solidFill>
                <a:latin typeface="Arial" pitchFamily="34" charset="0"/>
                <a:ea typeface="Arial" pitchFamily="34" charset="-122"/>
                <a:cs typeface="Arial" pitchFamily="34" charset="-120"/>
              </a:rPr>
              <a:t>The dataset is designed for multimodal emotion expression and perception research.</a:t>
            </a:r>
            <a:endParaRPr lang="en-US" sz="1530" dirty="0"/>
          </a:p>
        </p:txBody>
      </p:sp>
      <p:sp>
        <p:nvSpPr>
          <p:cNvPr id="18" name="Text 16"/>
          <p:cNvSpPr/>
          <p:nvPr/>
        </p:nvSpPr>
        <p:spPr>
          <a:xfrm>
            <a:off x="502920" y="6473952"/>
            <a:ext cx="9144000" cy="164592"/>
          </a:xfrm>
          <a:prstGeom prst="rect">
            <a:avLst/>
          </a:prstGeom>
          <a:noFill/>
          <a:ln/>
        </p:spPr>
        <p:txBody>
          <a:bodyPr wrap="square" lIns="0" tIns="0" rIns="0" bIns="0" rtlCol="0" anchor="ctr"/>
          <a:lstStyle/>
          <a:p>
            <a:pPr indent="0" marL="0">
              <a:buNone/>
            </a:pPr>
            <a:r>
              <a:rPr lang="en-US" sz="750" dirty="0">
                <a:solidFill>
                  <a:srgbClr val="7B8794"/>
                </a:solidFill>
                <a:latin typeface="Arial" pitchFamily="34" charset="0"/>
                <a:ea typeface="Arial" pitchFamily="34" charset="-122"/>
                <a:cs typeface="Arial" pitchFamily="34" charset="-120"/>
              </a:rPr>
              <a:t>CREMA-D seminar | overview</a:t>
            </a:r>
            <a:endParaRPr lang="en-US" sz="750" dirty="0"/>
          </a:p>
        </p:txBody>
      </p:sp>
      <p:sp>
        <p:nvSpPr>
          <p:cNvPr id="19" name="Text 17"/>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50" dirty="0">
                <a:solidFill>
                  <a:srgbClr val="7B8794"/>
                </a:solidFill>
                <a:latin typeface="Arial" pitchFamily="34" charset="0"/>
                <a:ea typeface="Arial" pitchFamily="34" charset="-122"/>
                <a:cs typeface="Arial" pitchFamily="34" charset="-120"/>
              </a:rPr>
              <a:t>4</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4114800" cy="201168"/>
          </a:xfrm>
          <a:prstGeom prst="rect">
            <a:avLst/>
          </a:prstGeom>
          <a:noFill/>
          <a:ln/>
        </p:spPr>
        <p:txBody>
          <a:bodyPr wrap="square" lIns="0" tIns="0" rIns="0" bIns="0" rtlCol="0" anchor="ctr"/>
          <a:lstStyle/>
          <a:p>
            <a:pPr indent="0" marL="0">
              <a:buNone/>
            </a:pPr>
            <a:r>
              <a:rPr lang="en-US" sz="850" b="1" dirty="0">
                <a:solidFill>
                  <a:srgbClr val="00A8A8"/>
                </a:solidFill>
                <a:latin typeface="Arial" pitchFamily="34" charset="0"/>
                <a:ea typeface="Arial" pitchFamily="34" charset="-122"/>
                <a:cs typeface="Arial" pitchFamily="34" charset="-120"/>
              </a:rPr>
              <a:t>MOTIVATION</a:t>
            </a:r>
            <a:endParaRPr lang="en-US" sz="850" dirty="0"/>
          </a:p>
        </p:txBody>
      </p:sp>
      <p:sp>
        <p:nvSpPr>
          <p:cNvPr id="3" name="Text 1"/>
          <p:cNvSpPr/>
          <p:nvPr/>
        </p:nvSpPr>
        <p:spPr>
          <a:xfrm>
            <a:off x="502920" y="502920"/>
            <a:ext cx="11155680" cy="502920"/>
          </a:xfrm>
          <a:prstGeom prst="rect">
            <a:avLst/>
          </a:prstGeom>
          <a:noFill/>
          <a:ln/>
        </p:spPr>
        <p:txBody>
          <a:bodyPr wrap="square" lIns="0" tIns="0" rIns="0" bIns="0" rtlCol="0" anchor="ctr">
            <a:normAutofit/>
          </a:bodyPr>
          <a:lstStyle/>
          <a:p>
            <a:pPr indent="0" marL="0">
              <a:buNone/>
            </a:pPr>
            <a:r>
              <a:rPr lang="en-US" sz="3000" b="1" dirty="0">
                <a:solidFill>
                  <a:srgbClr val="102A43"/>
                </a:solidFill>
                <a:latin typeface="Arial" pitchFamily="34" charset="0"/>
                <a:ea typeface="Arial" pitchFamily="34" charset="-122"/>
                <a:cs typeface="Arial" pitchFamily="34" charset="-120"/>
              </a:rPr>
              <a:t>Why create another emotional corpus?</a:t>
            </a:r>
            <a:endParaRPr lang="en-US" sz="3000" dirty="0"/>
          </a:p>
        </p:txBody>
      </p:sp>
      <p:sp>
        <p:nvSpPr>
          <p:cNvPr id="4" name="Shape 2"/>
          <p:cNvSpPr/>
          <p:nvPr/>
        </p:nvSpPr>
        <p:spPr>
          <a:xfrm>
            <a:off x="502920" y="1078992"/>
            <a:ext cx="11155680" cy="0"/>
          </a:xfrm>
          <a:prstGeom prst="line">
            <a:avLst/>
          </a:prstGeom>
          <a:noFill/>
          <a:ln w="7620">
            <a:solidFill>
              <a:srgbClr val="CBD2D9"/>
            </a:solidFill>
            <a:prstDash val="solid"/>
          </a:ln>
        </p:spPr>
      </p:sp>
      <p:sp>
        <p:nvSpPr>
          <p:cNvPr id="5" name="Shape 3"/>
          <p:cNvSpPr/>
          <p:nvPr/>
        </p:nvSpPr>
        <p:spPr>
          <a:xfrm>
            <a:off x="777240" y="1417320"/>
            <a:ext cx="3154680" cy="987552"/>
          </a:xfrm>
          <a:prstGeom prst="roundRect">
            <a:avLst>
              <a:gd name="adj" fmla="val 7407"/>
            </a:avLst>
          </a:prstGeom>
          <a:solidFill>
            <a:srgbClr val="00A8A8"/>
          </a:solidFill>
          <a:ln w="12700">
            <a:solidFill>
              <a:srgbClr val="00A8A8">
                <a:alpha val="0"/>
              </a:srgbClr>
            </a:solidFill>
            <a:prstDash val="solid"/>
          </a:ln>
        </p:spPr>
      </p:sp>
      <p:sp>
        <p:nvSpPr>
          <p:cNvPr id="6" name="Text 4"/>
          <p:cNvSpPr/>
          <p:nvPr/>
        </p:nvSpPr>
        <p:spPr>
          <a:xfrm>
            <a:off x="941832" y="1645920"/>
            <a:ext cx="2834640" cy="201168"/>
          </a:xfrm>
          <a:prstGeom prst="rect">
            <a:avLst/>
          </a:prstGeom>
          <a:noFill/>
          <a:ln/>
        </p:spPr>
        <p:txBody>
          <a:bodyPr wrap="square" lIns="0" tIns="0" rIns="0" bIns="0" rtlCol="0" anchor="ctr"/>
          <a:lstStyle/>
          <a:p>
            <a:pPr algn="ctr" indent="0" marL="0">
              <a:buNone/>
            </a:pPr>
            <a:r>
              <a:rPr lang="en-US" sz="1450" b="1" dirty="0">
                <a:solidFill>
                  <a:srgbClr val="FFFFFF"/>
                </a:solidFill>
                <a:latin typeface="Arial" pitchFamily="34" charset="0"/>
                <a:ea typeface="Arial" pitchFamily="34" charset="-122"/>
                <a:cs typeface="Arial" pitchFamily="34" charset="-120"/>
              </a:rPr>
              <a:t>Dynamic expressions</a:t>
            </a:r>
            <a:endParaRPr lang="en-US" sz="1450" dirty="0"/>
          </a:p>
        </p:txBody>
      </p:sp>
      <p:sp>
        <p:nvSpPr>
          <p:cNvPr id="7" name="Text 5"/>
          <p:cNvSpPr/>
          <p:nvPr/>
        </p:nvSpPr>
        <p:spPr>
          <a:xfrm>
            <a:off x="941832" y="1956816"/>
            <a:ext cx="2834640" cy="201168"/>
          </a:xfrm>
          <a:prstGeom prst="rect">
            <a:avLst/>
          </a:prstGeom>
          <a:noFill/>
          <a:ln/>
        </p:spPr>
        <p:txBody>
          <a:bodyPr wrap="square" lIns="0" tIns="0" rIns="0" bIns="0" rtlCol="0" anchor="ctr">
            <a:normAutofit/>
          </a:bodyPr>
          <a:lstStyle/>
          <a:p>
            <a:pPr algn="ctr" indent="0" marL="0">
              <a:buNone/>
            </a:pPr>
            <a:r>
              <a:rPr lang="en-US" sz="950" dirty="0">
                <a:solidFill>
                  <a:srgbClr val="FFFFFF"/>
                </a:solidFill>
                <a:latin typeface="Arial" pitchFamily="34" charset="0"/>
                <a:ea typeface="Arial" pitchFamily="34" charset="-122"/>
                <a:cs typeface="Arial" pitchFamily="34" charset="-120"/>
              </a:rPr>
              <a:t>video + audio over time</a:t>
            </a:r>
            <a:endParaRPr lang="en-US" sz="950" dirty="0"/>
          </a:p>
        </p:txBody>
      </p:sp>
      <p:sp>
        <p:nvSpPr>
          <p:cNvPr id="8" name="Shape 6"/>
          <p:cNvSpPr/>
          <p:nvPr/>
        </p:nvSpPr>
        <p:spPr>
          <a:xfrm>
            <a:off x="4544568" y="1417320"/>
            <a:ext cx="3154680" cy="987552"/>
          </a:xfrm>
          <a:prstGeom prst="roundRect">
            <a:avLst>
              <a:gd name="adj" fmla="val 7407"/>
            </a:avLst>
          </a:prstGeom>
          <a:solidFill>
            <a:srgbClr val="7C3AED"/>
          </a:solidFill>
          <a:ln w="12700">
            <a:solidFill>
              <a:srgbClr val="7C3AED">
                <a:alpha val="0"/>
              </a:srgbClr>
            </a:solidFill>
            <a:prstDash val="solid"/>
          </a:ln>
        </p:spPr>
      </p:sp>
      <p:sp>
        <p:nvSpPr>
          <p:cNvPr id="9" name="Text 7"/>
          <p:cNvSpPr/>
          <p:nvPr/>
        </p:nvSpPr>
        <p:spPr>
          <a:xfrm>
            <a:off x="4709160" y="1645920"/>
            <a:ext cx="2834640" cy="201168"/>
          </a:xfrm>
          <a:prstGeom prst="rect">
            <a:avLst/>
          </a:prstGeom>
          <a:noFill/>
          <a:ln/>
        </p:spPr>
        <p:txBody>
          <a:bodyPr wrap="square" lIns="0" tIns="0" rIns="0" bIns="0" rtlCol="0" anchor="ctr"/>
          <a:lstStyle/>
          <a:p>
            <a:pPr algn="ctr" indent="0" marL="0">
              <a:buNone/>
            </a:pPr>
            <a:r>
              <a:rPr lang="en-US" sz="1450" b="1" dirty="0">
                <a:solidFill>
                  <a:srgbClr val="FFFFFF"/>
                </a:solidFill>
                <a:latin typeface="Arial" pitchFamily="34" charset="0"/>
                <a:ea typeface="Arial" pitchFamily="34" charset="-122"/>
                <a:cs typeface="Arial" pitchFamily="34" charset="-120"/>
              </a:rPr>
              <a:t>Speaker diversity</a:t>
            </a:r>
            <a:endParaRPr lang="en-US" sz="1450" dirty="0"/>
          </a:p>
        </p:txBody>
      </p:sp>
      <p:sp>
        <p:nvSpPr>
          <p:cNvPr id="10" name="Text 8"/>
          <p:cNvSpPr/>
          <p:nvPr/>
        </p:nvSpPr>
        <p:spPr>
          <a:xfrm>
            <a:off x="4709160" y="1956816"/>
            <a:ext cx="2834640" cy="201168"/>
          </a:xfrm>
          <a:prstGeom prst="rect">
            <a:avLst/>
          </a:prstGeom>
          <a:noFill/>
          <a:ln/>
        </p:spPr>
        <p:txBody>
          <a:bodyPr wrap="square" lIns="0" tIns="0" rIns="0" bIns="0" rtlCol="0" anchor="ctr">
            <a:normAutofit/>
          </a:bodyPr>
          <a:lstStyle/>
          <a:p>
            <a:pPr algn="ctr" indent="0" marL="0">
              <a:buNone/>
            </a:pPr>
            <a:r>
              <a:rPr lang="en-US" sz="950" dirty="0">
                <a:solidFill>
                  <a:srgbClr val="FFFFFF"/>
                </a:solidFill>
                <a:latin typeface="Arial" pitchFamily="34" charset="0"/>
                <a:ea typeface="Arial" pitchFamily="34" charset="-122"/>
                <a:cs typeface="Arial" pitchFamily="34" charset="-120"/>
              </a:rPr>
              <a:t>many actors, age and race/ethnicity variation</a:t>
            </a:r>
            <a:endParaRPr lang="en-US" sz="950" dirty="0"/>
          </a:p>
        </p:txBody>
      </p:sp>
      <p:sp>
        <p:nvSpPr>
          <p:cNvPr id="11" name="Shape 9"/>
          <p:cNvSpPr/>
          <p:nvPr/>
        </p:nvSpPr>
        <p:spPr>
          <a:xfrm>
            <a:off x="8311896" y="1417320"/>
            <a:ext cx="3154680" cy="987552"/>
          </a:xfrm>
          <a:prstGeom prst="roundRect">
            <a:avLst>
              <a:gd name="adj" fmla="val 7407"/>
            </a:avLst>
          </a:prstGeom>
          <a:solidFill>
            <a:srgbClr val="F4B400"/>
          </a:solidFill>
          <a:ln w="12700">
            <a:solidFill>
              <a:srgbClr val="F4B400">
                <a:alpha val="0"/>
              </a:srgbClr>
            </a:solidFill>
            <a:prstDash val="solid"/>
          </a:ln>
        </p:spPr>
      </p:sp>
      <p:sp>
        <p:nvSpPr>
          <p:cNvPr id="12" name="Text 10"/>
          <p:cNvSpPr/>
          <p:nvPr/>
        </p:nvSpPr>
        <p:spPr>
          <a:xfrm>
            <a:off x="8476488" y="1645920"/>
            <a:ext cx="2834640" cy="201168"/>
          </a:xfrm>
          <a:prstGeom prst="rect">
            <a:avLst/>
          </a:prstGeom>
          <a:noFill/>
          <a:ln/>
        </p:spPr>
        <p:txBody>
          <a:bodyPr wrap="square" lIns="0" tIns="0" rIns="0" bIns="0" rtlCol="0" anchor="ctr"/>
          <a:lstStyle/>
          <a:p>
            <a:pPr algn="ctr" indent="0" marL="0">
              <a:buNone/>
            </a:pPr>
            <a:r>
              <a:rPr lang="en-US" sz="1450" b="1" dirty="0">
                <a:solidFill>
                  <a:srgbClr val="FFFFFF"/>
                </a:solidFill>
                <a:latin typeface="Arial" pitchFamily="34" charset="0"/>
                <a:ea typeface="Arial" pitchFamily="34" charset="-122"/>
                <a:cs typeface="Arial" pitchFamily="34" charset="-120"/>
              </a:rPr>
              <a:t>Controlled content</a:t>
            </a:r>
            <a:endParaRPr lang="en-US" sz="1450" dirty="0"/>
          </a:p>
        </p:txBody>
      </p:sp>
      <p:sp>
        <p:nvSpPr>
          <p:cNvPr id="13" name="Text 11"/>
          <p:cNvSpPr/>
          <p:nvPr/>
        </p:nvSpPr>
        <p:spPr>
          <a:xfrm>
            <a:off x="8476488" y="1956816"/>
            <a:ext cx="2834640" cy="201168"/>
          </a:xfrm>
          <a:prstGeom prst="rect">
            <a:avLst/>
          </a:prstGeom>
          <a:noFill/>
          <a:ln/>
        </p:spPr>
        <p:txBody>
          <a:bodyPr wrap="square" lIns="0" tIns="0" rIns="0" bIns="0" rtlCol="0" anchor="ctr">
            <a:normAutofit/>
          </a:bodyPr>
          <a:lstStyle/>
          <a:p>
            <a:pPr algn="ctr" indent="0" marL="0">
              <a:buNone/>
            </a:pPr>
            <a:r>
              <a:rPr lang="en-US" sz="950" dirty="0">
                <a:solidFill>
                  <a:srgbClr val="FFFFFF"/>
                </a:solidFill>
                <a:latin typeface="Arial" pitchFamily="34" charset="0"/>
                <a:ea typeface="Arial" pitchFamily="34" charset="-122"/>
                <a:cs typeface="Arial" pitchFamily="34" charset="-120"/>
              </a:rPr>
              <a:t>fixed sentences and emotion levels</a:t>
            </a:r>
            <a:endParaRPr lang="en-US" sz="950" dirty="0"/>
          </a:p>
        </p:txBody>
      </p:sp>
      <p:sp>
        <p:nvSpPr>
          <p:cNvPr id="14" name="Shape 12"/>
          <p:cNvSpPr/>
          <p:nvPr/>
        </p:nvSpPr>
        <p:spPr>
          <a:xfrm>
            <a:off x="777240" y="2990088"/>
            <a:ext cx="3154680" cy="987552"/>
          </a:xfrm>
          <a:prstGeom prst="roundRect">
            <a:avLst>
              <a:gd name="adj" fmla="val 7407"/>
            </a:avLst>
          </a:prstGeom>
          <a:solidFill>
            <a:srgbClr val="FF6B6B"/>
          </a:solidFill>
          <a:ln w="12700">
            <a:solidFill>
              <a:srgbClr val="FF6B6B">
                <a:alpha val="0"/>
              </a:srgbClr>
            </a:solidFill>
            <a:prstDash val="solid"/>
          </a:ln>
        </p:spPr>
      </p:sp>
      <p:sp>
        <p:nvSpPr>
          <p:cNvPr id="15" name="Text 13"/>
          <p:cNvSpPr/>
          <p:nvPr/>
        </p:nvSpPr>
        <p:spPr>
          <a:xfrm>
            <a:off x="941832" y="3218688"/>
            <a:ext cx="2834640" cy="201168"/>
          </a:xfrm>
          <a:prstGeom prst="rect">
            <a:avLst/>
          </a:prstGeom>
          <a:noFill/>
          <a:ln/>
        </p:spPr>
        <p:txBody>
          <a:bodyPr wrap="square" lIns="0" tIns="0" rIns="0" bIns="0" rtlCol="0" anchor="ctr"/>
          <a:lstStyle/>
          <a:p>
            <a:pPr algn="ctr" indent="0" marL="0">
              <a:buNone/>
            </a:pPr>
            <a:r>
              <a:rPr lang="en-US" sz="1450" b="1" dirty="0">
                <a:solidFill>
                  <a:srgbClr val="FFFFFF"/>
                </a:solidFill>
                <a:latin typeface="Arial" pitchFamily="34" charset="0"/>
                <a:ea typeface="Arial" pitchFamily="34" charset="-122"/>
                <a:cs typeface="Arial" pitchFamily="34" charset="-120"/>
              </a:rPr>
              <a:t>Perception labels</a:t>
            </a:r>
            <a:endParaRPr lang="en-US" sz="1450" dirty="0"/>
          </a:p>
        </p:txBody>
      </p:sp>
      <p:sp>
        <p:nvSpPr>
          <p:cNvPr id="16" name="Text 14"/>
          <p:cNvSpPr/>
          <p:nvPr/>
        </p:nvSpPr>
        <p:spPr>
          <a:xfrm>
            <a:off x="941832" y="3529584"/>
            <a:ext cx="2834640" cy="201168"/>
          </a:xfrm>
          <a:prstGeom prst="rect">
            <a:avLst/>
          </a:prstGeom>
          <a:noFill/>
          <a:ln/>
        </p:spPr>
        <p:txBody>
          <a:bodyPr wrap="square" lIns="0" tIns="0" rIns="0" bIns="0" rtlCol="0" anchor="ctr">
            <a:normAutofit/>
          </a:bodyPr>
          <a:lstStyle/>
          <a:p>
            <a:pPr algn="ctr" indent="0" marL="0">
              <a:buNone/>
            </a:pPr>
            <a:r>
              <a:rPr lang="en-US" sz="950" dirty="0">
                <a:solidFill>
                  <a:srgbClr val="FFFFFF"/>
                </a:solidFill>
                <a:latin typeface="Arial" pitchFamily="34" charset="0"/>
                <a:ea typeface="Arial" pitchFamily="34" charset="-122"/>
                <a:cs typeface="Arial" pitchFamily="34" charset="-120"/>
              </a:rPr>
              <a:t>crowd ratings by modality</a:t>
            </a:r>
            <a:endParaRPr lang="en-US" sz="950" dirty="0"/>
          </a:p>
        </p:txBody>
      </p:sp>
      <p:sp>
        <p:nvSpPr>
          <p:cNvPr id="17" name="Shape 15"/>
          <p:cNvSpPr/>
          <p:nvPr/>
        </p:nvSpPr>
        <p:spPr>
          <a:xfrm>
            <a:off x="4544568" y="2990088"/>
            <a:ext cx="3154680" cy="987552"/>
          </a:xfrm>
          <a:prstGeom prst="roundRect">
            <a:avLst>
              <a:gd name="adj" fmla="val 7407"/>
            </a:avLst>
          </a:prstGeom>
          <a:solidFill>
            <a:srgbClr val="42B883"/>
          </a:solidFill>
          <a:ln w="12700">
            <a:solidFill>
              <a:srgbClr val="42B883">
                <a:alpha val="0"/>
              </a:srgbClr>
            </a:solidFill>
            <a:prstDash val="solid"/>
          </a:ln>
        </p:spPr>
      </p:sp>
      <p:sp>
        <p:nvSpPr>
          <p:cNvPr id="18" name="Text 16"/>
          <p:cNvSpPr/>
          <p:nvPr/>
        </p:nvSpPr>
        <p:spPr>
          <a:xfrm>
            <a:off x="4709160" y="3218688"/>
            <a:ext cx="2834640" cy="201168"/>
          </a:xfrm>
          <a:prstGeom prst="rect">
            <a:avLst/>
          </a:prstGeom>
          <a:noFill/>
          <a:ln/>
        </p:spPr>
        <p:txBody>
          <a:bodyPr wrap="square" lIns="0" tIns="0" rIns="0" bIns="0" rtlCol="0" anchor="ctr"/>
          <a:lstStyle/>
          <a:p>
            <a:pPr algn="ctr" indent="0" marL="0">
              <a:buNone/>
            </a:pPr>
            <a:r>
              <a:rPr lang="en-US" sz="1450" b="1" dirty="0">
                <a:solidFill>
                  <a:srgbClr val="FFFFFF"/>
                </a:solidFill>
                <a:latin typeface="Arial" pitchFamily="34" charset="0"/>
                <a:ea typeface="Arial" pitchFamily="34" charset="-122"/>
                <a:cs typeface="Arial" pitchFamily="34" charset="-120"/>
              </a:rPr>
              <a:t>Benchmark access</a:t>
            </a:r>
            <a:endParaRPr lang="en-US" sz="1450" dirty="0"/>
          </a:p>
        </p:txBody>
      </p:sp>
      <p:sp>
        <p:nvSpPr>
          <p:cNvPr id="19" name="Text 17"/>
          <p:cNvSpPr/>
          <p:nvPr/>
        </p:nvSpPr>
        <p:spPr>
          <a:xfrm>
            <a:off x="4709160" y="3529584"/>
            <a:ext cx="2834640" cy="201168"/>
          </a:xfrm>
          <a:prstGeom prst="rect">
            <a:avLst/>
          </a:prstGeom>
          <a:noFill/>
          <a:ln/>
        </p:spPr>
        <p:txBody>
          <a:bodyPr wrap="square" lIns="0" tIns="0" rIns="0" bIns="0" rtlCol="0" anchor="ctr">
            <a:normAutofit/>
          </a:bodyPr>
          <a:lstStyle/>
          <a:p>
            <a:pPr algn="ctr" indent="0" marL="0">
              <a:buNone/>
            </a:pPr>
            <a:r>
              <a:rPr lang="en-US" sz="950" dirty="0">
                <a:solidFill>
                  <a:srgbClr val="FFFFFF"/>
                </a:solidFill>
                <a:latin typeface="Arial" pitchFamily="34" charset="0"/>
                <a:ea typeface="Arial" pitchFamily="34" charset="-122"/>
                <a:cs typeface="Arial" pitchFamily="34" charset="-120"/>
              </a:rPr>
              <a:t>open dataset and tabulated votes</a:t>
            </a:r>
            <a:endParaRPr lang="en-US" sz="950" dirty="0"/>
          </a:p>
        </p:txBody>
      </p:sp>
      <p:sp>
        <p:nvSpPr>
          <p:cNvPr id="20" name="Text 18"/>
          <p:cNvSpPr/>
          <p:nvPr/>
        </p:nvSpPr>
        <p:spPr>
          <a:xfrm>
            <a:off x="1188720" y="5074920"/>
            <a:ext cx="9784080" cy="320040"/>
          </a:xfrm>
          <a:prstGeom prst="rect">
            <a:avLst/>
          </a:prstGeom>
          <a:noFill/>
          <a:ln/>
        </p:spPr>
        <p:txBody>
          <a:bodyPr wrap="square" lIns="381" tIns="381" rIns="381" bIns="381" rtlCol="0" anchor="ctr">
            <a:normAutofit/>
          </a:bodyPr>
          <a:lstStyle/>
          <a:p>
            <a:pPr algn="ctr" indent="0" marL="0">
              <a:buNone/>
            </a:pPr>
            <a:r>
              <a:rPr lang="en-US" sz="1550" b="1" dirty="0">
                <a:solidFill>
                  <a:srgbClr val="102A43"/>
                </a:solidFill>
                <a:latin typeface="Arial" pitchFamily="34" charset="0"/>
                <a:ea typeface="Arial" pitchFamily="34" charset="-122"/>
                <a:cs typeface="Arial" pitchFamily="34" charset="-120"/>
              </a:rPr>
              <a:t>CREMA-D prioritizes systematic coverage and large-scale human perception judgments over long discourse context.</a:t>
            </a:r>
            <a:endParaRPr lang="en-US" sz="1550" dirty="0"/>
          </a:p>
        </p:txBody>
      </p:sp>
      <p:sp>
        <p:nvSpPr>
          <p:cNvPr id="21" name="Text 19"/>
          <p:cNvSpPr/>
          <p:nvPr/>
        </p:nvSpPr>
        <p:spPr>
          <a:xfrm>
            <a:off x="502920" y="6473952"/>
            <a:ext cx="9144000" cy="164592"/>
          </a:xfrm>
          <a:prstGeom prst="rect">
            <a:avLst/>
          </a:prstGeom>
          <a:noFill/>
          <a:ln/>
        </p:spPr>
        <p:txBody>
          <a:bodyPr wrap="square" lIns="0" tIns="0" rIns="0" bIns="0" rtlCol="0" anchor="ctr"/>
          <a:lstStyle/>
          <a:p>
            <a:pPr indent="0" marL="0">
              <a:buNone/>
            </a:pPr>
            <a:r>
              <a:rPr lang="en-US" sz="750" dirty="0">
                <a:solidFill>
                  <a:srgbClr val="7B8794"/>
                </a:solidFill>
                <a:latin typeface="Arial" pitchFamily="34" charset="0"/>
                <a:ea typeface="Arial" pitchFamily="34" charset="-122"/>
                <a:cs typeface="Arial" pitchFamily="34" charset="-120"/>
              </a:rPr>
              <a:t>CREMA-D seminar | motivation</a:t>
            </a:r>
            <a:endParaRPr lang="en-US" sz="750" dirty="0"/>
          </a:p>
        </p:txBody>
      </p:sp>
      <p:sp>
        <p:nvSpPr>
          <p:cNvPr id="22" name="Text 20"/>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50" dirty="0">
                <a:solidFill>
                  <a:srgbClr val="7B8794"/>
                </a:solidFill>
                <a:latin typeface="Arial" pitchFamily="34" charset="0"/>
                <a:ea typeface="Arial" pitchFamily="34" charset="-122"/>
                <a:cs typeface="Arial" pitchFamily="34" charset="-120"/>
              </a:rPr>
              <a:t>5</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4114800" cy="201168"/>
          </a:xfrm>
          <a:prstGeom prst="rect">
            <a:avLst/>
          </a:prstGeom>
          <a:noFill/>
          <a:ln/>
        </p:spPr>
        <p:txBody>
          <a:bodyPr wrap="square" lIns="0" tIns="0" rIns="0" bIns="0" rtlCol="0" anchor="ctr"/>
          <a:lstStyle/>
          <a:p>
            <a:pPr indent="0" marL="0">
              <a:buNone/>
            </a:pPr>
            <a:r>
              <a:rPr lang="en-US" sz="850" b="1" dirty="0">
                <a:solidFill>
                  <a:srgbClr val="00A8A8"/>
                </a:solidFill>
                <a:latin typeface="Arial" pitchFamily="34" charset="0"/>
                <a:ea typeface="Arial" pitchFamily="34" charset="-122"/>
                <a:cs typeface="Arial" pitchFamily="34" charset="-120"/>
              </a:rPr>
              <a:t>DATASET DESIGN</a:t>
            </a:r>
            <a:endParaRPr lang="en-US" sz="850" dirty="0"/>
          </a:p>
        </p:txBody>
      </p:sp>
      <p:sp>
        <p:nvSpPr>
          <p:cNvPr id="3" name="Text 1"/>
          <p:cNvSpPr/>
          <p:nvPr/>
        </p:nvSpPr>
        <p:spPr>
          <a:xfrm>
            <a:off x="502920" y="502920"/>
            <a:ext cx="11155680" cy="502920"/>
          </a:xfrm>
          <a:prstGeom prst="rect">
            <a:avLst/>
          </a:prstGeom>
          <a:noFill/>
          <a:ln/>
        </p:spPr>
        <p:txBody>
          <a:bodyPr wrap="square" lIns="0" tIns="0" rIns="0" bIns="0" rtlCol="0" anchor="ctr">
            <a:normAutofit/>
          </a:bodyPr>
          <a:lstStyle/>
          <a:p>
            <a:pPr indent="0" marL="0">
              <a:buNone/>
            </a:pPr>
            <a:r>
              <a:rPr lang="en-US" sz="3000" b="1" dirty="0">
                <a:solidFill>
                  <a:srgbClr val="102A43"/>
                </a:solidFill>
                <a:latin typeface="Arial" pitchFamily="34" charset="0"/>
                <a:ea typeface="Arial" pitchFamily="34" charset="-122"/>
                <a:cs typeface="Arial" pitchFamily="34" charset="-120"/>
              </a:rPr>
              <a:t>Actor sampling: scale and demographic spread</a:t>
            </a:r>
            <a:endParaRPr lang="en-US" sz="3000" dirty="0"/>
          </a:p>
        </p:txBody>
      </p:sp>
      <p:sp>
        <p:nvSpPr>
          <p:cNvPr id="4" name="Shape 2"/>
          <p:cNvSpPr/>
          <p:nvPr/>
        </p:nvSpPr>
        <p:spPr>
          <a:xfrm>
            <a:off x="502920" y="1078992"/>
            <a:ext cx="11155680" cy="0"/>
          </a:xfrm>
          <a:prstGeom prst="line">
            <a:avLst/>
          </a:prstGeom>
          <a:noFill/>
          <a:ln w="7620">
            <a:solidFill>
              <a:srgbClr val="CBD2D9"/>
            </a:solidFill>
            <a:prstDash val="solid"/>
          </a:ln>
        </p:spPr>
      </p:sp>
      <p:sp>
        <p:nvSpPr>
          <p:cNvPr id="5" name="Shape 3"/>
          <p:cNvSpPr/>
          <p:nvPr/>
        </p:nvSpPr>
        <p:spPr>
          <a:xfrm>
            <a:off x="1097280" y="1554480"/>
            <a:ext cx="1472184" cy="2011680"/>
          </a:xfrm>
          <a:prstGeom prst="rect">
            <a:avLst/>
          </a:prstGeom>
          <a:solidFill>
            <a:srgbClr val="00A8A8"/>
          </a:solidFill>
          <a:ln w="12700">
            <a:solidFill>
              <a:srgbClr val="00A8A8">
                <a:alpha val="0"/>
              </a:srgbClr>
            </a:solidFill>
            <a:prstDash val="solid"/>
          </a:ln>
        </p:spPr>
      </p:sp>
      <p:sp>
        <p:nvSpPr>
          <p:cNvPr id="6" name="Text 4"/>
          <p:cNvSpPr/>
          <p:nvPr/>
        </p:nvSpPr>
        <p:spPr>
          <a:xfrm>
            <a:off x="1097280" y="1353312"/>
            <a:ext cx="1472184" cy="146304"/>
          </a:xfrm>
          <a:prstGeom prst="rect">
            <a:avLst/>
          </a:prstGeom>
          <a:noFill/>
          <a:ln/>
        </p:spPr>
        <p:txBody>
          <a:bodyPr wrap="square" lIns="0" tIns="0" rIns="0" bIns="0" rtlCol="0" anchor="ctr"/>
          <a:lstStyle/>
          <a:p>
            <a:pPr algn="ctr" indent="0" marL="0">
              <a:buNone/>
            </a:pPr>
            <a:r>
              <a:rPr lang="en-US" sz="850" dirty="0">
                <a:solidFill>
                  <a:srgbClr val="3E4C59"/>
                </a:solidFill>
                <a:latin typeface="Arial" pitchFamily="34" charset="0"/>
                <a:ea typeface="Arial" pitchFamily="34" charset="-122"/>
                <a:cs typeface="Arial" pitchFamily="34" charset="-120"/>
              </a:rPr>
              <a:t>48</a:t>
            </a:r>
            <a:endParaRPr lang="en-US" sz="850" dirty="0"/>
          </a:p>
        </p:txBody>
      </p:sp>
      <p:sp>
        <p:nvSpPr>
          <p:cNvPr id="7" name="Text 5"/>
          <p:cNvSpPr/>
          <p:nvPr/>
        </p:nvSpPr>
        <p:spPr>
          <a:xfrm>
            <a:off x="1097280" y="3630168"/>
            <a:ext cx="1472184" cy="201168"/>
          </a:xfrm>
          <a:prstGeom prst="rect">
            <a:avLst/>
          </a:prstGeom>
          <a:noFill/>
          <a:ln/>
        </p:spPr>
        <p:txBody>
          <a:bodyPr wrap="square" lIns="0" tIns="0" rIns="0" bIns="0" rtlCol="0" anchor="ctr">
            <a:normAutofit/>
          </a:bodyPr>
          <a:lstStyle/>
          <a:p>
            <a:pPr algn="ctr" indent="0" marL="0">
              <a:buNone/>
            </a:pPr>
            <a:r>
              <a:rPr lang="en-US" sz="720" dirty="0">
                <a:solidFill>
                  <a:srgbClr val="3E4C59"/>
                </a:solidFill>
                <a:latin typeface="Arial" pitchFamily="34" charset="0"/>
                <a:ea typeface="Arial" pitchFamily="34" charset="-122"/>
                <a:cs typeface="Arial" pitchFamily="34" charset="-120"/>
              </a:rPr>
              <a:t>male</a:t>
            </a:r>
            <a:endParaRPr lang="en-US" sz="720" dirty="0"/>
          </a:p>
        </p:txBody>
      </p:sp>
      <p:sp>
        <p:nvSpPr>
          <p:cNvPr id="8" name="Shape 6"/>
          <p:cNvSpPr/>
          <p:nvPr/>
        </p:nvSpPr>
        <p:spPr>
          <a:xfrm>
            <a:off x="2642616" y="1764030"/>
            <a:ext cx="1472184" cy="1802130"/>
          </a:xfrm>
          <a:prstGeom prst="rect">
            <a:avLst/>
          </a:prstGeom>
          <a:solidFill>
            <a:srgbClr val="7C3AED"/>
          </a:solidFill>
          <a:ln w="12700">
            <a:solidFill>
              <a:srgbClr val="7C3AED">
                <a:alpha val="0"/>
              </a:srgbClr>
            </a:solidFill>
            <a:prstDash val="solid"/>
          </a:ln>
        </p:spPr>
      </p:sp>
      <p:sp>
        <p:nvSpPr>
          <p:cNvPr id="9" name="Text 7"/>
          <p:cNvSpPr/>
          <p:nvPr/>
        </p:nvSpPr>
        <p:spPr>
          <a:xfrm>
            <a:off x="2642616" y="1562862"/>
            <a:ext cx="1472184" cy="146304"/>
          </a:xfrm>
          <a:prstGeom prst="rect">
            <a:avLst/>
          </a:prstGeom>
          <a:noFill/>
          <a:ln/>
        </p:spPr>
        <p:txBody>
          <a:bodyPr wrap="square" lIns="0" tIns="0" rIns="0" bIns="0" rtlCol="0" anchor="ctr"/>
          <a:lstStyle/>
          <a:p>
            <a:pPr algn="ctr" indent="0" marL="0">
              <a:buNone/>
            </a:pPr>
            <a:r>
              <a:rPr lang="en-US" sz="850" dirty="0">
                <a:solidFill>
                  <a:srgbClr val="3E4C59"/>
                </a:solidFill>
                <a:latin typeface="Arial" pitchFamily="34" charset="0"/>
                <a:ea typeface="Arial" pitchFamily="34" charset="-122"/>
                <a:cs typeface="Arial" pitchFamily="34" charset="-120"/>
              </a:rPr>
              <a:t>43</a:t>
            </a:r>
            <a:endParaRPr lang="en-US" sz="850" dirty="0"/>
          </a:p>
        </p:txBody>
      </p:sp>
      <p:sp>
        <p:nvSpPr>
          <p:cNvPr id="10" name="Text 8"/>
          <p:cNvSpPr/>
          <p:nvPr/>
        </p:nvSpPr>
        <p:spPr>
          <a:xfrm>
            <a:off x="2642616" y="3630168"/>
            <a:ext cx="1472184" cy="201168"/>
          </a:xfrm>
          <a:prstGeom prst="rect">
            <a:avLst/>
          </a:prstGeom>
          <a:noFill/>
          <a:ln/>
        </p:spPr>
        <p:txBody>
          <a:bodyPr wrap="square" lIns="0" tIns="0" rIns="0" bIns="0" rtlCol="0" anchor="ctr">
            <a:normAutofit/>
          </a:bodyPr>
          <a:lstStyle/>
          <a:p>
            <a:pPr algn="ctr" indent="0" marL="0">
              <a:buNone/>
            </a:pPr>
            <a:r>
              <a:rPr lang="en-US" sz="720" dirty="0">
                <a:solidFill>
                  <a:srgbClr val="3E4C59"/>
                </a:solidFill>
                <a:latin typeface="Arial" pitchFamily="34" charset="0"/>
                <a:ea typeface="Arial" pitchFamily="34" charset="-122"/>
                <a:cs typeface="Arial" pitchFamily="34" charset="-120"/>
              </a:rPr>
              <a:t>female</a:t>
            </a:r>
            <a:endParaRPr lang="en-US" sz="720" dirty="0"/>
          </a:p>
        </p:txBody>
      </p:sp>
      <p:sp>
        <p:nvSpPr>
          <p:cNvPr id="11" name="Shape 9"/>
          <p:cNvSpPr/>
          <p:nvPr/>
        </p:nvSpPr>
        <p:spPr>
          <a:xfrm>
            <a:off x="1097280" y="3566160"/>
            <a:ext cx="3017520" cy="0"/>
          </a:xfrm>
          <a:prstGeom prst="line">
            <a:avLst/>
          </a:prstGeom>
          <a:noFill/>
          <a:ln w="7620">
            <a:solidFill>
              <a:srgbClr val="CBD2D9"/>
            </a:solidFill>
            <a:prstDash val="solid"/>
          </a:ln>
        </p:spPr>
      </p:sp>
      <p:sp>
        <p:nvSpPr>
          <p:cNvPr id="12" name="Text 10"/>
          <p:cNvSpPr/>
          <p:nvPr/>
        </p:nvSpPr>
        <p:spPr>
          <a:xfrm>
            <a:off x="1097280" y="4160520"/>
            <a:ext cx="3017520" cy="219456"/>
          </a:xfrm>
          <a:prstGeom prst="rect">
            <a:avLst/>
          </a:prstGeom>
          <a:noFill/>
          <a:ln/>
        </p:spPr>
        <p:txBody>
          <a:bodyPr wrap="square" lIns="381" tIns="381" rIns="381" bIns="381" rtlCol="0" anchor="ctr">
            <a:normAutofit/>
          </a:bodyPr>
          <a:lstStyle/>
          <a:p>
            <a:pPr algn="ctr" indent="0" marL="0">
              <a:buNone/>
            </a:pPr>
            <a:r>
              <a:rPr lang="en-US" sz="1250" b="1" dirty="0">
                <a:solidFill>
                  <a:srgbClr val="3E4C59"/>
                </a:solidFill>
                <a:latin typeface="Arial" pitchFamily="34" charset="0"/>
                <a:ea typeface="Arial" pitchFamily="34" charset="-122"/>
                <a:cs typeface="Arial" pitchFamily="34" charset="-120"/>
              </a:rPr>
              <a:t>Actor sex distribution</a:t>
            </a:r>
            <a:endParaRPr lang="en-US" sz="1250" dirty="0"/>
          </a:p>
        </p:txBody>
      </p:sp>
      <p:sp>
        <p:nvSpPr>
          <p:cNvPr id="13" name="Text 11"/>
          <p:cNvSpPr/>
          <p:nvPr/>
        </p:nvSpPr>
        <p:spPr>
          <a:xfrm>
            <a:off x="5029200" y="1828800"/>
            <a:ext cx="2011680" cy="475488"/>
          </a:xfrm>
          <a:prstGeom prst="rect">
            <a:avLst/>
          </a:prstGeom>
          <a:noFill/>
          <a:ln/>
        </p:spPr>
        <p:txBody>
          <a:bodyPr wrap="square" lIns="0" tIns="0" rIns="0" bIns="0" rtlCol="0" anchor="ctr"/>
          <a:lstStyle/>
          <a:p>
            <a:pPr algn="ctr" indent="0" marL="0">
              <a:buNone/>
            </a:pPr>
            <a:r>
              <a:rPr lang="en-US" sz="2800" b="1" dirty="0">
                <a:solidFill>
                  <a:srgbClr val="FF6B6B"/>
                </a:solidFill>
                <a:latin typeface="Arial" pitchFamily="34" charset="0"/>
                <a:ea typeface="Arial" pitchFamily="34" charset="-122"/>
                <a:cs typeface="Arial" pitchFamily="34" charset="-120"/>
              </a:rPr>
              <a:t>20–74</a:t>
            </a:r>
            <a:endParaRPr lang="en-US" sz="2800" dirty="0"/>
          </a:p>
        </p:txBody>
      </p:sp>
      <p:sp>
        <p:nvSpPr>
          <p:cNvPr id="14" name="Text 12"/>
          <p:cNvSpPr/>
          <p:nvPr/>
        </p:nvSpPr>
        <p:spPr>
          <a:xfrm>
            <a:off x="5029200" y="2331720"/>
            <a:ext cx="2011680" cy="347472"/>
          </a:xfrm>
          <a:prstGeom prst="rect">
            <a:avLst/>
          </a:prstGeom>
          <a:noFill/>
          <a:ln/>
        </p:spPr>
        <p:txBody>
          <a:bodyPr wrap="square" lIns="254" tIns="254" rIns="254" bIns="254" rtlCol="0" anchor="ctr">
            <a:normAutofit/>
          </a:bodyPr>
          <a:lstStyle/>
          <a:p>
            <a:pPr algn="ctr" indent="0" marL="0">
              <a:buNone/>
            </a:pPr>
            <a:r>
              <a:rPr lang="en-US" sz="1050" dirty="0">
                <a:solidFill>
                  <a:srgbClr val="3E4C59"/>
                </a:solidFill>
                <a:latin typeface="Arial" pitchFamily="34" charset="0"/>
                <a:ea typeface="Arial" pitchFamily="34" charset="-122"/>
                <a:cs typeface="Arial" pitchFamily="34" charset="-120"/>
              </a:rPr>
              <a:t>actor age range</a:t>
            </a:r>
            <a:endParaRPr lang="en-US" sz="1050" dirty="0"/>
          </a:p>
        </p:txBody>
      </p:sp>
      <p:sp>
        <p:nvSpPr>
          <p:cNvPr id="15" name="Shape 13"/>
          <p:cNvSpPr/>
          <p:nvPr/>
        </p:nvSpPr>
        <p:spPr>
          <a:xfrm>
            <a:off x="7589520" y="1508760"/>
            <a:ext cx="3383280" cy="2423160"/>
          </a:xfrm>
          <a:prstGeom prst="roundRect">
            <a:avLst>
              <a:gd name="adj" fmla="val 3019"/>
            </a:avLst>
          </a:prstGeom>
          <a:solidFill>
            <a:srgbClr val="F5F7FA"/>
          </a:solidFill>
          <a:ln w="12700">
            <a:solidFill>
              <a:srgbClr val="E4E7EB"/>
            </a:solidFill>
            <a:prstDash val="solid"/>
          </a:ln>
        </p:spPr>
      </p:sp>
      <p:sp>
        <p:nvSpPr>
          <p:cNvPr id="16" name="Text 14"/>
          <p:cNvSpPr/>
          <p:nvPr/>
        </p:nvSpPr>
        <p:spPr>
          <a:xfrm>
            <a:off x="7882128" y="1783080"/>
            <a:ext cx="2743200" cy="228600"/>
          </a:xfrm>
          <a:prstGeom prst="rect">
            <a:avLst/>
          </a:prstGeom>
          <a:noFill/>
          <a:ln/>
        </p:spPr>
        <p:txBody>
          <a:bodyPr wrap="square" lIns="0" tIns="0" rIns="0" bIns="0" rtlCol="0" anchor="ctr"/>
          <a:lstStyle/>
          <a:p>
            <a:pPr indent="0" marL="0">
              <a:buNone/>
            </a:pPr>
            <a:r>
              <a:rPr lang="en-US" sz="1500" b="1" dirty="0">
                <a:solidFill>
                  <a:srgbClr val="102A43"/>
                </a:solidFill>
                <a:latin typeface="Arial" pitchFamily="34" charset="0"/>
                <a:ea typeface="Arial" pitchFamily="34" charset="-122"/>
                <a:cs typeface="Arial" pitchFamily="34" charset="-120"/>
              </a:rPr>
              <a:t>Race / ethnicity labels</a:t>
            </a:r>
            <a:endParaRPr lang="en-US" sz="1500" dirty="0"/>
          </a:p>
        </p:txBody>
      </p:sp>
      <p:sp>
        <p:nvSpPr>
          <p:cNvPr id="17" name="Text 15"/>
          <p:cNvSpPr/>
          <p:nvPr/>
        </p:nvSpPr>
        <p:spPr>
          <a:xfrm>
            <a:off x="7882128" y="2221992"/>
            <a:ext cx="2743200" cy="1051560"/>
          </a:xfrm>
          <a:prstGeom prst="rect">
            <a:avLst/>
          </a:prstGeom>
          <a:noFill/>
          <a:ln/>
        </p:spPr>
        <p:txBody>
          <a:bodyPr wrap="square" lIns="381" tIns="381" rIns="381" bIns="381" rtlCol="0" anchor="t">
            <a:normAutofit/>
          </a:bodyPr>
          <a:lstStyle/>
          <a:p>
            <a:pPr indent="0" marL="0">
              <a:buNone/>
            </a:pPr>
            <a:r>
              <a:rPr lang="en-US" sz="1150" b="1" dirty="0">
                <a:solidFill>
                  <a:srgbClr val="00A8A8"/>
                </a:solidFill>
                <a:latin typeface="Arial" pitchFamily="34" charset="0"/>
                <a:ea typeface="Arial" pitchFamily="34" charset="-122"/>
                <a:cs typeface="Arial" pitchFamily="34" charset="-120"/>
              </a:rPr>
              <a:t>● </a:t>
            </a:r>
            <a:pPr indent="0" marL="0">
              <a:buNone/>
            </a:pPr>
            <a:r>
              <a:rPr lang="en-US" sz="1150" dirty="0">
                <a:solidFill>
                  <a:srgbClr val="17202A"/>
                </a:solidFill>
                <a:latin typeface="Arial" pitchFamily="34" charset="0"/>
                <a:ea typeface="Arial" pitchFamily="34" charset="-122"/>
                <a:cs typeface="Arial" pitchFamily="34" charset="-120"/>
              </a:rPr>
              <a:t>African American</a:t>
            </a:r>
            <a:pPr indent="0" marL="0">
              <a:buNone/>
            </a:pPr>
            <a:r>
              <a:rPr lang="en-US" sz="1150" dirty="0">
                <a:solidFill>
                  <a:srgbClr val="000000"/>
                </a:solidFill>
                <a:latin typeface="Arial" pitchFamily="34" charset="0"/>
                <a:ea typeface="Arial" pitchFamily="34" charset="-122"/>
                <a:cs typeface="Arial" pitchFamily="34" charset="-120"/>
              </a:rPr>
              <a:t>
</a:t>
            </a:r>
            <a:pPr indent="0" marL="0">
              <a:buNone/>
            </a:pPr>
            <a:r>
              <a:rPr lang="en-US" sz="1150" b="1" dirty="0">
                <a:solidFill>
                  <a:srgbClr val="00A8A8"/>
                </a:solidFill>
                <a:latin typeface="Arial" pitchFamily="34" charset="0"/>
                <a:ea typeface="Arial" pitchFamily="34" charset="-122"/>
                <a:cs typeface="Arial" pitchFamily="34" charset="-120"/>
              </a:rPr>
              <a:t>● </a:t>
            </a:r>
            <a:pPr indent="0" marL="0">
              <a:buNone/>
            </a:pPr>
            <a:r>
              <a:rPr lang="en-US" sz="1150" dirty="0">
                <a:solidFill>
                  <a:srgbClr val="17202A"/>
                </a:solidFill>
                <a:latin typeface="Arial" pitchFamily="34" charset="0"/>
                <a:ea typeface="Arial" pitchFamily="34" charset="-122"/>
                <a:cs typeface="Arial" pitchFamily="34" charset="-120"/>
              </a:rPr>
              <a:t>Asian</a:t>
            </a:r>
            <a:pPr indent="0" marL="0">
              <a:buNone/>
            </a:pPr>
            <a:r>
              <a:rPr lang="en-US" sz="1150" dirty="0">
                <a:solidFill>
                  <a:srgbClr val="000000"/>
                </a:solidFill>
                <a:latin typeface="Arial" pitchFamily="34" charset="0"/>
                <a:ea typeface="Arial" pitchFamily="34" charset="-122"/>
                <a:cs typeface="Arial" pitchFamily="34" charset="-120"/>
              </a:rPr>
              <a:t>
</a:t>
            </a:r>
            <a:pPr indent="0" marL="0">
              <a:buNone/>
            </a:pPr>
            <a:r>
              <a:rPr lang="en-US" sz="1150" b="1" dirty="0">
                <a:solidFill>
                  <a:srgbClr val="00A8A8"/>
                </a:solidFill>
                <a:latin typeface="Arial" pitchFamily="34" charset="0"/>
                <a:ea typeface="Arial" pitchFamily="34" charset="-122"/>
                <a:cs typeface="Arial" pitchFamily="34" charset="-120"/>
              </a:rPr>
              <a:t>● </a:t>
            </a:r>
            <a:pPr indent="0" marL="0">
              <a:buNone/>
            </a:pPr>
            <a:r>
              <a:rPr lang="en-US" sz="1150" dirty="0">
                <a:solidFill>
                  <a:srgbClr val="17202A"/>
                </a:solidFill>
                <a:latin typeface="Arial" pitchFamily="34" charset="0"/>
                <a:ea typeface="Arial" pitchFamily="34" charset="-122"/>
                <a:cs typeface="Arial" pitchFamily="34" charset="-120"/>
              </a:rPr>
              <a:t>Caucasian</a:t>
            </a:r>
            <a:pPr indent="0" marL="0">
              <a:buNone/>
            </a:pPr>
            <a:r>
              <a:rPr lang="en-US" sz="1150" dirty="0">
                <a:solidFill>
                  <a:srgbClr val="000000"/>
                </a:solidFill>
                <a:latin typeface="Arial" pitchFamily="34" charset="0"/>
                <a:ea typeface="Arial" pitchFamily="34" charset="-122"/>
                <a:cs typeface="Arial" pitchFamily="34" charset="-120"/>
              </a:rPr>
              <a:t>
</a:t>
            </a:r>
            <a:pPr indent="0" marL="0">
              <a:buNone/>
            </a:pPr>
            <a:r>
              <a:rPr lang="en-US" sz="1150" b="1" dirty="0">
                <a:solidFill>
                  <a:srgbClr val="00A8A8"/>
                </a:solidFill>
                <a:latin typeface="Arial" pitchFamily="34" charset="0"/>
                <a:ea typeface="Arial" pitchFamily="34" charset="-122"/>
                <a:cs typeface="Arial" pitchFamily="34" charset="-120"/>
              </a:rPr>
              <a:t>● </a:t>
            </a:r>
            <a:pPr indent="0" marL="0">
              <a:buNone/>
            </a:pPr>
            <a:r>
              <a:rPr lang="en-US" sz="1150" dirty="0">
                <a:solidFill>
                  <a:srgbClr val="17202A"/>
                </a:solidFill>
                <a:latin typeface="Arial" pitchFamily="34" charset="0"/>
                <a:ea typeface="Arial" pitchFamily="34" charset="-122"/>
                <a:cs typeface="Arial" pitchFamily="34" charset="-120"/>
              </a:rPr>
              <a:t>Hispanic</a:t>
            </a:r>
            <a:pPr indent="0" marL="0">
              <a:buNone/>
            </a:pPr>
            <a:r>
              <a:rPr lang="en-US" sz="1150" dirty="0">
                <a:solidFill>
                  <a:srgbClr val="000000"/>
                </a:solidFill>
                <a:latin typeface="Arial" pitchFamily="34" charset="0"/>
                <a:ea typeface="Arial" pitchFamily="34" charset="-122"/>
                <a:cs typeface="Arial" pitchFamily="34" charset="-120"/>
              </a:rPr>
              <a:t>
</a:t>
            </a:r>
            <a:pPr indent="0" marL="0">
              <a:buNone/>
            </a:pPr>
            <a:r>
              <a:rPr lang="en-US" sz="1150" b="1" dirty="0">
                <a:solidFill>
                  <a:srgbClr val="00A8A8"/>
                </a:solidFill>
                <a:latin typeface="Arial" pitchFamily="34" charset="0"/>
                <a:ea typeface="Arial" pitchFamily="34" charset="-122"/>
                <a:cs typeface="Arial" pitchFamily="34" charset="-120"/>
              </a:rPr>
              <a:t>● </a:t>
            </a:r>
            <a:pPr indent="0" marL="0">
              <a:buNone/>
            </a:pPr>
            <a:r>
              <a:rPr lang="en-US" sz="1150" dirty="0">
                <a:solidFill>
                  <a:srgbClr val="17202A"/>
                </a:solidFill>
                <a:latin typeface="Arial" pitchFamily="34" charset="0"/>
                <a:ea typeface="Arial" pitchFamily="34" charset="-122"/>
                <a:cs typeface="Arial" pitchFamily="34" charset="-120"/>
              </a:rPr>
              <a:t>Unspecified / unknown</a:t>
            </a:r>
            <a:endParaRPr lang="en-US" sz="1150" dirty="0"/>
          </a:p>
        </p:txBody>
      </p:sp>
      <p:sp>
        <p:nvSpPr>
          <p:cNvPr id="18" name="Text 16"/>
          <p:cNvSpPr/>
          <p:nvPr/>
        </p:nvSpPr>
        <p:spPr>
          <a:xfrm>
            <a:off x="1280160" y="4983480"/>
            <a:ext cx="9601200" cy="320040"/>
          </a:xfrm>
          <a:prstGeom prst="rect">
            <a:avLst/>
          </a:prstGeom>
          <a:noFill/>
          <a:ln/>
        </p:spPr>
        <p:txBody>
          <a:bodyPr wrap="square" lIns="381" tIns="381" rIns="381" bIns="381" rtlCol="0" anchor="ctr">
            <a:normAutofit/>
          </a:bodyPr>
          <a:lstStyle/>
          <a:p>
            <a:pPr algn="ctr" indent="0" marL="0">
              <a:buNone/>
            </a:pPr>
            <a:r>
              <a:rPr lang="en-US" sz="1550" b="1" dirty="0">
                <a:solidFill>
                  <a:srgbClr val="102A43"/>
                </a:solidFill>
                <a:latin typeface="Arial" pitchFamily="34" charset="0"/>
                <a:ea typeface="Arial" pitchFamily="34" charset="-122"/>
                <a:cs typeface="Arial" pitchFamily="34" charset="-120"/>
              </a:rPr>
              <a:t>Design lesson: actor diversity is not a decoration; it affects generalization and fairness claims.</a:t>
            </a:r>
            <a:endParaRPr lang="en-US" sz="1550" dirty="0"/>
          </a:p>
        </p:txBody>
      </p:sp>
      <p:sp>
        <p:nvSpPr>
          <p:cNvPr id="19" name="Text 17"/>
          <p:cNvSpPr/>
          <p:nvPr/>
        </p:nvSpPr>
        <p:spPr>
          <a:xfrm>
            <a:off x="502920" y="6473952"/>
            <a:ext cx="9144000" cy="164592"/>
          </a:xfrm>
          <a:prstGeom prst="rect">
            <a:avLst/>
          </a:prstGeom>
          <a:noFill/>
          <a:ln/>
        </p:spPr>
        <p:txBody>
          <a:bodyPr wrap="square" lIns="0" tIns="0" rIns="0" bIns="0" rtlCol="0" anchor="ctr"/>
          <a:lstStyle/>
          <a:p>
            <a:pPr indent="0" marL="0">
              <a:buNone/>
            </a:pPr>
            <a:r>
              <a:rPr lang="en-US" sz="750" dirty="0">
                <a:solidFill>
                  <a:srgbClr val="7B8794"/>
                </a:solidFill>
                <a:latin typeface="Arial" pitchFamily="34" charset="0"/>
                <a:ea typeface="Arial" pitchFamily="34" charset="-122"/>
                <a:cs typeface="Arial" pitchFamily="34" charset="-120"/>
              </a:rPr>
              <a:t>CREMA-D seminar | actors</a:t>
            </a:r>
            <a:endParaRPr lang="en-US" sz="750" dirty="0"/>
          </a:p>
        </p:txBody>
      </p:sp>
      <p:sp>
        <p:nvSpPr>
          <p:cNvPr id="20" name="Text 18"/>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50" dirty="0">
                <a:solidFill>
                  <a:srgbClr val="7B8794"/>
                </a:solidFill>
                <a:latin typeface="Arial" pitchFamily="34" charset="0"/>
                <a:ea typeface="Arial" pitchFamily="34" charset="-122"/>
                <a:cs typeface="Arial" pitchFamily="34" charset="-120"/>
              </a:rPr>
              <a:t>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4114800" cy="201168"/>
          </a:xfrm>
          <a:prstGeom prst="rect">
            <a:avLst/>
          </a:prstGeom>
          <a:noFill/>
          <a:ln/>
        </p:spPr>
        <p:txBody>
          <a:bodyPr wrap="square" lIns="0" tIns="0" rIns="0" bIns="0" rtlCol="0" anchor="ctr"/>
          <a:lstStyle/>
          <a:p>
            <a:pPr indent="0" marL="0">
              <a:buNone/>
            </a:pPr>
            <a:r>
              <a:rPr lang="en-US" sz="850" b="1" dirty="0">
                <a:solidFill>
                  <a:srgbClr val="00A8A8"/>
                </a:solidFill>
                <a:latin typeface="Arial" pitchFamily="34" charset="0"/>
                <a:ea typeface="Arial" pitchFamily="34" charset="-122"/>
                <a:cs typeface="Arial" pitchFamily="34" charset="-120"/>
              </a:rPr>
              <a:t>DATASET DESIGN</a:t>
            </a:r>
            <a:endParaRPr lang="en-US" sz="850" dirty="0"/>
          </a:p>
        </p:txBody>
      </p:sp>
      <p:sp>
        <p:nvSpPr>
          <p:cNvPr id="3" name="Text 1"/>
          <p:cNvSpPr/>
          <p:nvPr/>
        </p:nvSpPr>
        <p:spPr>
          <a:xfrm>
            <a:off x="502920" y="502920"/>
            <a:ext cx="11155680" cy="502920"/>
          </a:xfrm>
          <a:prstGeom prst="rect">
            <a:avLst/>
          </a:prstGeom>
          <a:noFill/>
          <a:ln/>
        </p:spPr>
        <p:txBody>
          <a:bodyPr wrap="square" lIns="0" tIns="0" rIns="0" bIns="0" rtlCol="0" anchor="ctr">
            <a:normAutofit/>
          </a:bodyPr>
          <a:lstStyle/>
          <a:p>
            <a:pPr indent="0" marL="0">
              <a:buNone/>
            </a:pPr>
            <a:r>
              <a:rPr lang="en-US" sz="3000" b="1" dirty="0">
                <a:solidFill>
                  <a:srgbClr val="102A43"/>
                </a:solidFill>
                <a:latin typeface="Arial" pitchFamily="34" charset="0"/>
                <a:ea typeface="Arial" pitchFamily="34" charset="-122"/>
                <a:cs typeface="Arial" pitchFamily="34" charset="-120"/>
              </a:rPr>
              <a:t>Stimulus structure: controlled emotional speech</a:t>
            </a:r>
            <a:endParaRPr lang="en-US" sz="3000" dirty="0"/>
          </a:p>
        </p:txBody>
      </p:sp>
      <p:sp>
        <p:nvSpPr>
          <p:cNvPr id="4" name="Shape 2"/>
          <p:cNvSpPr/>
          <p:nvPr/>
        </p:nvSpPr>
        <p:spPr>
          <a:xfrm>
            <a:off x="502920" y="1078992"/>
            <a:ext cx="11155680" cy="0"/>
          </a:xfrm>
          <a:prstGeom prst="line">
            <a:avLst/>
          </a:prstGeom>
          <a:noFill/>
          <a:ln w="7620">
            <a:solidFill>
              <a:srgbClr val="CBD2D9"/>
            </a:solidFill>
            <a:prstDash val="solid"/>
          </a:ln>
        </p:spPr>
      </p:sp>
      <p:sp>
        <p:nvSpPr>
          <p:cNvPr id="5" name="Shape 3"/>
          <p:cNvSpPr/>
          <p:nvPr/>
        </p:nvSpPr>
        <p:spPr>
          <a:xfrm>
            <a:off x="1143000" y="1737360"/>
            <a:ext cx="1600200" cy="713232"/>
          </a:xfrm>
          <a:prstGeom prst="roundRect">
            <a:avLst>
              <a:gd name="adj" fmla="val 7692"/>
            </a:avLst>
          </a:prstGeom>
          <a:solidFill>
            <a:srgbClr val="3E4C59"/>
          </a:solidFill>
          <a:ln w="12700">
            <a:solidFill>
              <a:srgbClr val="3E4C59">
                <a:alpha val="0"/>
              </a:srgbClr>
            </a:solidFill>
            <a:prstDash val="solid"/>
          </a:ln>
        </p:spPr>
      </p:sp>
      <p:sp>
        <p:nvSpPr>
          <p:cNvPr id="6" name="Text 4"/>
          <p:cNvSpPr/>
          <p:nvPr/>
        </p:nvSpPr>
        <p:spPr>
          <a:xfrm>
            <a:off x="1216152" y="1911096"/>
            <a:ext cx="1453896"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actor ID</a:t>
            </a:r>
            <a:endParaRPr lang="en-US" sz="1100" dirty="0"/>
          </a:p>
        </p:txBody>
      </p:sp>
      <p:sp>
        <p:nvSpPr>
          <p:cNvPr id="7" name="Shape 5"/>
          <p:cNvSpPr/>
          <p:nvPr/>
        </p:nvSpPr>
        <p:spPr>
          <a:xfrm>
            <a:off x="2816352" y="1965960"/>
            <a:ext cx="420624" cy="256032"/>
          </a:xfrm>
          <a:prstGeom prst="chevron">
            <a:avLst/>
          </a:prstGeom>
          <a:solidFill>
            <a:srgbClr val="CBD2D9"/>
          </a:solidFill>
          <a:ln w="12700">
            <a:solidFill>
              <a:srgbClr val="CBD2D9">
                <a:alpha val="0"/>
              </a:srgbClr>
            </a:solidFill>
            <a:prstDash val="solid"/>
          </a:ln>
        </p:spPr>
      </p:sp>
      <p:sp>
        <p:nvSpPr>
          <p:cNvPr id="8" name="Shape 6"/>
          <p:cNvSpPr/>
          <p:nvPr/>
        </p:nvSpPr>
        <p:spPr>
          <a:xfrm>
            <a:off x="3310128" y="1737360"/>
            <a:ext cx="1600200" cy="713232"/>
          </a:xfrm>
          <a:prstGeom prst="roundRect">
            <a:avLst>
              <a:gd name="adj" fmla="val 7692"/>
            </a:avLst>
          </a:prstGeom>
          <a:solidFill>
            <a:srgbClr val="00A8A8"/>
          </a:solidFill>
          <a:ln w="12700">
            <a:solidFill>
              <a:srgbClr val="00A8A8">
                <a:alpha val="0"/>
              </a:srgbClr>
            </a:solidFill>
            <a:prstDash val="solid"/>
          </a:ln>
        </p:spPr>
      </p:sp>
      <p:sp>
        <p:nvSpPr>
          <p:cNvPr id="9" name="Text 7"/>
          <p:cNvSpPr/>
          <p:nvPr/>
        </p:nvSpPr>
        <p:spPr>
          <a:xfrm>
            <a:off x="3383280" y="1911096"/>
            <a:ext cx="1453896"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sentence</a:t>
            </a:r>
            <a:endParaRPr lang="en-US" sz="1100" dirty="0"/>
          </a:p>
        </p:txBody>
      </p:sp>
      <p:sp>
        <p:nvSpPr>
          <p:cNvPr id="10" name="Shape 8"/>
          <p:cNvSpPr/>
          <p:nvPr/>
        </p:nvSpPr>
        <p:spPr>
          <a:xfrm>
            <a:off x="4983480" y="1965960"/>
            <a:ext cx="420624" cy="256032"/>
          </a:xfrm>
          <a:prstGeom prst="chevron">
            <a:avLst/>
          </a:prstGeom>
          <a:solidFill>
            <a:srgbClr val="CBD2D9"/>
          </a:solidFill>
          <a:ln w="12700">
            <a:solidFill>
              <a:srgbClr val="CBD2D9">
                <a:alpha val="0"/>
              </a:srgbClr>
            </a:solidFill>
            <a:prstDash val="solid"/>
          </a:ln>
        </p:spPr>
      </p:sp>
      <p:sp>
        <p:nvSpPr>
          <p:cNvPr id="11" name="Shape 9"/>
          <p:cNvSpPr/>
          <p:nvPr/>
        </p:nvSpPr>
        <p:spPr>
          <a:xfrm>
            <a:off x="5477256" y="1737360"/>
            <a:ext cx="1600200" cy="713232"/>
          </a:xfrm>
          <a:prstGeom prst="roundRect">
            <a:avLst>
              <a:gd name="adj" fmla="val 7692"/>
            </a:avLst>
          </a:prstGeom>
          <a:solidFill>
            <a:srgbClr val="FF6B6B"/>
          </a:solidFill>
          <a:ln w="12700">
            <a:solidFill>
              <a:srgbClr val="FF6B6B">
                <a:alpha val="0"/>
              </a:srgbClr>
            </a:solidFill>
            <a:prstDash val="solid"/>
          </a:ln>
        </p:spPr>
      </p:sp>
      <p:sp>
        <p:nvSpPr>
          <p:cNvPr id="12" name="Text 10"/>
          <p:cNvSpPr/>
          <p:nvPr/>
        </p:nvSpPr>
        <p:spPr>
          <a:xfrm>
            <a:off x="5550408" y="1911096"/>
            <a:ext cx="1453896"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emotion</a:t>
            </a:r>
            <a:endParaRPr lang="en-US" sz="1100" dirty="0"/>
          </a:p>
        </p:txBody>
      </p:sp>
      <p:sp>
        <p:nvSpPr>
          <p:cNvPr id="13" name="Shape 11"/>
          <p:cNvSpPr/>
          <p:nvPr/>
        </p:nvSpPr>
        <p:spPr>
          <a:xfrm>
            <a:off x="7150608" y="1965960"/>
            <a:ext cx="420624" cy="256032"/>
          </a:xfrm>
          <a:prstGeom prst="chevron">
            <a:avLst/>
          </a:prstGeom>
          <a:solidFill>
            <a:srgbClr val="CBD2D9"/>
          </a:solidFill>
          <a:ln w="12700">
            <a:solidFill>
              <a:srgbClr val="CBD2D9">
                <a:alpha val="0"/>
              </a:srgbClr>
            </a:solidFill>
            <a:prstDash val="solid"/>
          </a:ln>
        </p:spPr>
      </p:sp>
      <p:sp>
        <p:nvSpPr>
          <p:cNvPr id="14" name="Shape 12"/>
          <p:cNvSpPr/>
          <p:nvPr/>
        </p:nvSpPr>
        <p:spPr>
          <a:xfrm>
            <a:off x="7644384" y="1737360"/>
            <a:ext cx="1600200" cy="713232"/>
          </a:xfrm>
          <a:prstGeom prst="roundRect">
            <a:avLst>
              <a:gd name="adj" fmla="val 7692"/>
            </a:avLst>
          </a:prstGeom>
          <a:solidFill>
            <a:srgbClr val="F4B400"/>
          </a:solidFill>
          <a:ln w="12700">
            <a:solidFill>
              <a:srgbClr val="F4B400">
                <a:alpha val="0"/>
              </a:srgbClr>
            </a:solidFill>
            <a:prstDash val="solid"/>
          </a:ln>
        </p:spPr>
      </p:sp>
      <p:sp>
        <p:nvSpPr>
          <p:cNvPr id="15" name="Text 13"/>
          <p:cNvSpPr/>
          <p:nvPr/>
        </p:nvSpPr>
        <p:spPr>
          <a:xfrm>
            <a:off x="7717536" y="1911096"/>
            <a:ext cx="1453896"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intensity</a:t>
            </a:r>
            <a:endParaRPr lang="en-US" sz="1100" dirty="0"/>
          </a:p>
        </p:txBody>
      </p:sp>
      <p:sp>
        <p:nvSpPr>
          <p:cNvPr id="16" name="Shape 14"/>
          <p:cNvSpPr/>
          <p:nvPr/>
        </p:nvSpPr>
        <p:spPr>
          <a:xfrm>
            <a:off x="9317736" y="1965960"/>
            <a:ext cx="420624" cy="256032"/>
          </a:xfrm>
          <a:prstGeom prst="chevron">
            <a:avLst/>
          </a:prstGeom>
          <a:solidFill>
            <a:srgbClr val="CBD2D9"/>
          </a:solidFill>
          <a:ln w="12700">
            <a:solidFill>
              <a:srgbClr val="CBD2D9">
                <a:alpha val="0"/>
              </a:srgbClr>
            </a:solidFill>
            <a:prstDash val="solid"/>
          </a:ln>
        </p:spPr>
      </p:sp>
      <p:sp>
        <p:nvSpPr>
          <p:cNvPr id="17" name="Shape 15"/>
          <p:cNvSpPr/>
          <p:nvPr/>
        </p:nvSpPr>
        <p:spPr>
          <a:xfrm>
            <a:off x="9811512" y="1737360"/>
            <a:ext cx="1600200" cy="713232"/>
          </a:xfrm>
          <a:prstGeom prst="roundRect">
            <a:avLst>
              <a:gd name="adj" fmla="val 7692"/>
            </a:avLst>
          </a:prstGeom>
          <a:solidFill>
            <a:srgbClr val="7C3AED"/>
          </a:solidFill>
          <a:ln w="12700">
            <a:solidFill>
              <a:srgbClr val="7C3AED">
                <a:alpha val="0"/>
              </a:srgbClr>
            </a:solidFill>
            <a:prstDash val="solid"/>
          </a:ln>
        </p:spPr>
      </p:sp>
      <p:sp>
        <p:nvSpPr>
          <p:cNvPr id="18" name="Text 16"/>
          <p:cNvSpPr/>
          <p:nvPr/>
        </p:nvSpPr>
        <p:spPr>
          <a:xfrm>
            <a:off x="9884664" y="1911096"/>
            <a:ext cx="1453896"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modality ratings</a:t>
            </a:r>
            <a:endParaRPr lang="en-US" sz="1100" dirty="0"/>
          </a:p>
        </p:txBody>
      </p:sp>
      <p:sp>
        <p:nvSpPr>
          <p:cNvPr id="19" name="Shape 17"/>
          <p:cNvSpPr/>
          <p:nvPr/>
        </p:nvSpPr>
        <p:spPr>
          <a:xfrm>
            <a:off x="1828800" y="3246120"/>
            <a:ext cx="8412480" cy="960120"/>
          </a:xfrm>
          <a:prstGeom prst="roundRect">
            <a:avLst>
              <a:gd name="adj" fmla="val 7619"/>
            </a:avLst>
          </a:prstGeom>
          <a:solidFill>
            <a:srgbClr val="F5F7FA"/>
          </a:solidFill>
          <a:ln w="12700">
            <a:solidFill>
              <a:srgbClr val="E4E7EB"/>
            </a:solidFill>
            <a:prstDash val="solid"/>
          </a:ln>
        </p:spPr>
      </p:sp>
      <p:sp>
        <p:nvSpPr>
          <p:cNvPr id="20" name="Text 18"/>
          <p:cNvSpPr/>
          <p:nvPr/>
        </p:nvSpPr>
        <p:spPr>
          <a:xfrm>
            <a:off x="2194560" y="3538728"/>
            <a:ext cx="7680960" cy="256032"/>
          </a:xfrm>
          <a:prstGeom prst="rect">
            <a:avLst/>
          </a:prstGeom>
          <a:noFill/>
          <a:ln/>
        </p:spPr>
        <p:txBody>
          <a:bodyPr wrap="square" lIns="0" tIns="0" rIns="0" bIns="0" rtlCol="0" anchor="ctr"/>
          <a:lstStyle/>
          <a:p>
            <a:pPr algn="ctr" indent="0" marL="0">
              <a:buNone/>
            </a:pPr>
            <a:r>
              <a:rPr lang="en-US" sz="2100" b="1" dirty="0">
                <a:solidFill>
                  <a:srgbClr val="102A43"/>
                </a:solidFill>
                <a:latin typeface="Courier New" pitchFamily="34" charset="0"/>
                <a:ea typeface="Courier New" pitchFamily="34" charset="-122"/>
                <a:cs typeface="Courier New" pitchFamily="34" charset="-120"/>
              </a:rPr>
              <a:t>1001_TAI_HAP_XX.wav</a:t>
            </a:r>
            <a:endParaRPr lang="en-US" sz="2100" dirty="0"/>
          </a:p>
        </p:txBody>
      </p:sp>
      <p:sp>
        <p:nvSpPr>
          <p:cNvPr id="21" name="Text 19"/>
          <p:cNvSpPr/>
          <p:nvPr/>
        </p:nvSpPr>
        <p:spPr>
          <a:xfrm>
            <a:off x="2011680" y="4352544"/>
            <a:ext cx="8046720" cy="219456"/>
          </a:xfrm>
          <a:prstGeom prst="rect">
            <a:avLst/>
          </a:prstGeom>
          <a:noFill/>
          <a:ln/>
        </p:spPr>
        <p:txBody>
          <a:bodyPr wrap="square" lIns="0" tIns="0" rIns="0" bIns="0" rtlCol="0" anchor="ctr"/>
          <a:lstStyle/>
          <a:p>
            <a:pPr algn="ctr" indent="0" marL="0">
              <a:buNone/>
            </a:pPr>
            <a:r>
              <a:rPr lang="en-US" sz="1100" dirty="0">
                <a:solidFill>
                  <a:srgbClr val="3E4C59"/>
                </a:solidFill>
                <a:latin typeface="Arial" pitchFamily="34" charset="0"/>
                <a:ea typeface="Arial" pitchFamily="34" charset="-122"/>
                <a:cs typeface="Arial" pitchFamily="34" charset="-120"/>
              </a:rPr>
              <a:t>example filename convention: actor_sentence_emotion_intensity</a:t>
            </a:r>
            <a:endParaRPr lang="en-US" sz="1100" dirty="0"/>
          </a:p>
        </p:txBody>
      </p:sp>
      <p:sp>
        <p:nvSpPr>
          <p:cNvPr id="22" name="Text 20"/>
          <p:cNvSpPr/>
          <p:nvPr/>
        </p:nvSpPr>
        <p:spPr>
          <a:xfrm>
            <a:off x="1371600" y="4983480"/>
            <a:ext cx="9418320" cy="914400"/>
          </a:xfrm>
          <a:prstGeom prst="rect">
            <a:avLst/>
          </a:prstGeom>
          <a:noFill/>
          <a:ln/>
        </p:spPr>
        <p:txBody>
          <a:bodyPr wrap="square" lIns="381" tIns="381" rIns="381" bIns="381" rtlCol="0" anchor="t">
            <a:normAutofit/>
          </a:bodyPr>
          <a:lstStyle/>
          <a:p>
            <a:pPr indent="0" marL="0">
              <a:buNone/>
            </a:pPr>
            <a:r>
              <a:rPr lang="en-US" sz="1420" b="1" dirty="0">
                <a:solidFill>
                  <a:srgbClr val="00A8A8"/>
                </a:solidFill>
                <a:latin typeface="Arial" pitchFamily="34" charset="0"/>
                <a:ea typeface="Arial" pitchFamily="34" charset="-122"/>
                <a:cs typeface="Arial" pitchFamily="34" charset="-120"/>
              </a:rPr>
              <a:t>● </a:t>
            </a:r>
            <a:pPr indent="0" marL="0">
              <a:buNone/>
            </a:pPr>
            <a:r>
              <a:rPr lang="en-US" sz="1420" dirty="0">
                <a:solidFill>
                  <a:srgbClr val="17202A"/>
                </a:solidFill>
                <a:latin typeface="Arial" pitchFamily="34" charset="0"/>
                <a:ea typeface="Arial" pitchFamily="34" charset="-122"/>
                <a:cs typeface="Arial" pitchFamily="34" charset="-120"/>
              </a:rPr>
              <a:t>12 sentences are semantically simple and repeated across conditions.</a:t>
            </a:r>
            <a:pPr indent="0" marL="0">
              <a:buNone/>
            </a:pPr>
            <a:r>
              <a:rPr lang="en-US" sz="1420" dirty="0">
                <a:solidFill>
                  <a:srgbClr val="000000"/>
                </a:solidFill>
                <a:latin typeface="Arial" pitchFamily="34" charset="0"/>
                <a:ea typeface="Arial" pitchFamily="34" charset="-122"/>
                <a:cs typeface="Arial" pitchFamily="34" charset="-120"/>
              </a:rPr>
              <a:t>
</a:t>
            </a:r>
            <a:pPr indent="0" marL="0">
              <a:buNone/>
            </a:pPr>
            <a:r>
              <a:rPr lang="en-US" sz="1420" b="1" dirty="0">
                <a:solidFill>
                  <a:srgbClr val="00A8A8"/>
                </a:solidFill>
                <a:latin typeface="Arial" pitchFamily="34" charset="0"/>
                <a:ea typeface="Arial" pitchFamily="34" charset="-122"/>
                <a:cs typeface="Arial" pitchFamily="34" charset="-120"/>
              </a:rPr>
              <a:t>● </a:t>
            </a:r>
            <a:pPr indent="0" marL="0">
              <a:buNone/>
            </a:pPr>
            <a:r>
              <a:rPr lang="en-US" sz="1420" dirty="0">
                <a:solidFill>
                  <a:srgbClr val="17202A"/>
                </a:solidFill>
                <a:latin typeface="Arial" pitchFamily="34" charset="0"/>
                <a:ea typeface="Arial" pitchFamily="34" charset="-122"/>
                <a:cs typeface="Arial" pitchFamily="34" charset="-120"/>
              </a:rPr>
              <a:t>Six categories: anger, disgust, fear, happy, neutral, sad.</a:t>
            </a:r>
            <a:pPr indent="0" marL="0">
              <a:buNone/>
            </a:pPr>
            <a:r>
              <a:rPr lang="en-US" sz="1420" dirty="0">
                <a:solidFill>
                  <a:srgbClr val="000000"/>
                </a:solidFill>
                <a:latin typeface="Arial" pitchFamily="34" charset="0"/>
                <a:ea typeface="Arial" pitchFamily="34" charset="-122"/>
                <a:cs typeface="Arial" pitchFamily="34" charset="-120"/>
              </a:rPr>
              <a:t>
</a:t>
            </a:r>
            <a:pPr indent="0" marL="0">
              <a:buNone/>
            </a:pPr>
            <a:r>
              <a:rPr lang="en-US" sz="1420" b="1" dirty="0">
                <a:solidFill>
                  <a:srgbClr val="00A8A8"/>
                </a:solidFill>
                <a:latin typeface="Arial" pitchFamily="34" charset="0"/>
                <a:ea typeface="Arial" pitchFamily="34" charset="-122"/>
                <a:cs typeface="Arial" pitchFamily="34" charset="-120"/>
              </a:rPr>
              <a:t>● </a:t>
            </a:r>
            <a:pPr indent="0" marL="0">
              <a:buNone/>
            </a:pPr>
            <a:r>
              <a:rPr lang="en-US" sz="1420" dirty="0">
                <a:solidFill>
                  <a:srgbClr val="17202A"/>
                </a:solidFill>
                <a:latin typeface="Arial" pitchFamily="34" charset="0"/>
                <a:ea typeface="Arial" pitchFamily="34" charset="-122"/>
                <a:cs typeface="Arial" pitchFamily="34" charset="-120"/>
              </a:rPr>
              <a:t>Intensity levels: low, medium, high, and unspecified.</a:t>
            </a:r>
            <a:endParaRPr lang="en-US" sz="1420" dirty="0"/>
          </a:p>
        </p:txBody>
      </p:sp>
      <p:sp>
        <p:nvSpPr>
          <p:cNvPr id="23" name="Text 21"/>
          <p:cNvSpPr/>
          <p:nvPr/>
        </p:nvSpPr>
        <p:spPr>
          <a:xfrm>
            <a:off x="502920" y="6473952"/>
            <a:ext cx="9144000" cy="164592"/>
          </a:xfrm>
          <a:prstGeom prst="rect">
            <a:avLst/>
          </a:prstGeom>
          <a:noFill/>
          <a:ln/>
        </p:spPr>
        <p:txBody>
          <a:bodyPr wrap="square" lIns="0" tIns="0" rIns="0" bIns="0" rtlCol="0" anchor="ctr"/>
          <a:lstStyle/>
          <a:p>
            <a:pPr indent="0" marL="0">
              <a:buNone/>
            </a:pPr>
            <a:r>
              <a:rPr lang="en-US" sz="750" dirty="0">
                <a:solidFill>
                  <a:srgbClr val="7B8794"/>
                </a:solidFill>
                <a:latin typeface="Arial" pitchFamily="34" charset="0"/>
                <a:ea typeface="Arial" pitchFamily="34" charset="-122"/>
                <a:cs typeface="Arial" pitchFamily="34" charset="-120"/>
              </a:rPr>
              <a:t>CREMA-D seminar | stimulus design</a:t>
            </a:r>
            <a:endParaRPr lang="en-US" sz="750" dirty="0"/>
          </a:p>
        </p:txBody>
      </p:sp>
      <p:sp>
        <p:nvSpPr>
          <p:cNvPr id="24" name="Text 22"/>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50" dirty="0">
                <a:solidFill>
                  <a:srgbClr val="7B8794"/>
                </a:solidFill>
                <a:latin typeface="Arial" pitchFamily="34" charset="0"/>
                <a:ea typeface="Arial" pitchFamily="34" charset="-122"/>
                <a:cs typeface="Arial" pitchFamily="34" charset="-120"/>
              </a:rPr>
              <a:t>7</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4114800" cy="201168"/>
          </a:xfrm>
          <a:prstGeom prst="rect">
            <a:avLst/>
          </a:prstGeom>
          <a:noFill/>
          <a:ln/>
        </p:spPr>
        <p:txBody>
          <a:bodyPr wrap="square" lIns="0" tIns="0" rIns="0" bIns="0" rtlCol="0" anchor="ctr"/>
          <a:lstStyle/>
          <a:p>
            <a:pPr indent="0" marL="0">
              <a:buNone/>
            </a:pPr>
            <a:r>
              <a:rPr lang="en-US" sz="850" b="1" dirty="0">
                <a:solidFill>
                  <a:srgbClr val="00A8A8"/>
                </a:solidFill>
                <a:latin typeface="Arial" pitchFamily="34" charset="0"/>
                <a:ea typeface="Arial" pitchFamily="34" charset="-122"/>
                <a:cs typeface="Arial" pitchFamily="34" charset="-120"/>
              </a:rPr>
              <a:t>ANNOTATION</a:t>
            </a:r>
            <a:endParaRPr lang="en-US" sz="850" dirty="0"/>
          </a:p>
        </p:txBody>
      </p:sp>
      <p:sp>
        <p:nvSpPr>
          <p:cNvPr id="3" name="Text 1"/>
          <p:cNvSpPr/>
          <p:nvPr/>
        </p:nvSpPr>
        <p:spPr>
          <a:xfrm>
            <a:off x="502920" y="502920"/>
            <a:ext cx="11155680" cy="502920"/>
          </a:xfrm>
          <a:prstGeom prst="rect">
            <a:avLst/>
          </a:prstGeom>
          <a:noFill/>
          <a:ln/>
        </p:spPr>
        <p:txBody>
          <a:bodyPr wrap="square" lIns="0" tIns="0" rIns="0" bIns="0" rtlCol="0" anchor="ctr">
            <a:normAutofit/>
          </a:bodyPr>
          <a:lstStyle/>
          <a:p>
            <a:pPr indent="0" marL="0">
              <a:buNone/>
            </a:pPr>
            <a:r>
              <a:rPr lang="en-US" sz="3000" b="1" dirty="0">
                <a:solidFill>
                  <a:srgbClr val="102A43"/>
                </a:solidFill>
                <a:latin typeface="Arial" pitchFamily="34" charset="0"/>
                <a:ea typeface="Arial" pitchFamily="34" charset="-122"/>
                <a:cs typeface="Arial" pitchFamily="34" charset="-120"/>
              </a:rPr>
              <a:t>Crowd-sourcing: turning perception into labels</a:t>
            </a:r>
            <a:endParaRPr lang="en-US" sz="3000" dirty="0"/>
          </a:p>
        </p:txBody>
      </p:sp>
      <p:sp>
        <p:nvSpPr>
          <p:cNvPr id="4" name="Shape 2"/>
          <p:cNvSpPr/>
          <p:nvPr/>
        </p:nvSpPr>
        <p:spPr>
          <a:xfrm>
            <a:off x="502920" y="1078992"/>
            <a:ext cx="11155680" cy="0"/>
          </a:xfrm>
          <a:prstGeom prst="line">
            <a:avLst/>
          </a:prstGeom>
          <a:noFill/>
          <a:ln w="7620">
            <a:solidFill>
              <a:srgbClr val="CBD2D9"/>
            </a:solidFill>
            <a:prstDash val="solid"/>
          </a:ln>
        </p:spPr>
      </p:sp>
      <p:sp>
        <p:nvSpPr>
          <p:cNvPr id="5" name="Text 3"/>
          <p:cNvSpPr/>
          <p:nvPr/>
        </p:nvSpPr>
        <p:spPr>
          <a:xfrm>
            <a:off x="914400" y="1554480"/>
            <a:ext cx="1828800" cy="475488"/>
          </a:xfrm>
          <a:prstGeom prst="rect">
            <a:avLst/>
          </a:prstGeom>
          <a:noFill/>
          <a:ln/>
        </p:spPr>
        <p:txBody>
          <a:bodyPr wrap="square" lIns="0" tIns="0" rIns="0" bIns="0" rtlCol="0" anchor="ctr"/>
          <a:lstStyle/>
          <a:p>
            <a:pPr algn="ctr" indent="0" marL="0">
              <a:buNone/>
            </a:pPr>
            <a:r>
              <a:rPr lang="en-US" sz="2800" b="1" dirty="0">
                <a:solidFill>
                  <a:srgbClr val="00A8A8"/>
                </a:solidFill>
                <a:latin typeface="Arial" pitchFamily="34" charset="0"/>
                <a:ea typeface="Arial" pitchFamily="34" charset="-122"/>
                <a:cs typeface="Arial" pitchFamily="34" charset="-120"/>
              </a:rPr>
              <a:t>2,443</a:t>
            </a:r>
            <a:endParaRPr lang="en-US" sz="2800" dirty="0"/>
          </a:p>
        </p:txBody>
      </p:sp>
      <p:sp>
        <p:nvSpPr>
          <p:cNvPr id="6" name="Text 4"/>
          <p:cNvSpPr/>
          <p:nvPr/>
        </p:nvSpPr>
        <p:spPr>
          <a:xfrm>
            <a:off x="914400" y="2057400"/>
            <a:ext cx="1828800" cy="347472"/>
          </a:xfrm>
          <a:prstGeom prst="rect">
            <a:avLst/>
          </a:prstGeom>
          <a:noFill/>
          <a:ln/>
        </p:spPr>
        <p:txBody>
          <a:bodyPr wrap="square" lIns="254" tIns="254" rIns="254" bIns="254" rtlCol="0" anchor="ctr">
            <a:normAutofit/>
          </a:bodyPr>
          <a:lstStyle/>
          <a:p>
            <a:pPr algn="ctr" indent="0" marL="0">
              <a:buNone/>
            </a:pPr>
            <a:r>
              <a:rPr lang="en-US" sz="1050" dirty="0">
                <a:solidFill>
                  <a:srgbClr val="3E4C59"/>
                </a:solidFill>
                <a:latin typeface="Arial" pitchFamily="34" charset="0"/>
                <a:ea typeface="Arial" pitchFamily="34" charset="-122"/>
                <a:cs typeface="Arial" pitchFamily="34" charset="-120"/>
              </a:rPr>
              <a:t>participants</a:t>
            </a:r>
            <a:endParaRPr lang="en-US" sz="1050" dirty="0"/>
          </a:p>
        </p:txBody>
      </p:sp>
      <p:sp>
        <p:nvSpPr>
          <p:cNvPr id="7" name="Text 5"/>
          <p:cNvSpPr/>
          <p:nvPr/>
        </p:nvSpPr>
        <p:spPr>
          <a:xfrm>
            <a:off x="3291840" y="1554480"/>
            <a:ext cx="1920240" cy="475488"/>
          </a:xfrm>
          <a:prstGeom prst="rect">
            <a:avLst/>
          </a:prstGeom>
          <a:noFill/>
          <a:ln/>
        </p:spPr>
        <p:txBody>
          <a:bodyPr wrap="square" lIns="0" tIns="0" rIns="0" bIns="0" rtlCol="0" anchor="ctr"/>
          <a:lstStyle/>
          <a:p>
            <a:pPr algn="ctr" indent="0" marL="0">
              <a:buNone/>
            </a:pPr>
            <a:r>
              <a:rPr lang="en-US" sz="2800" b="1" dirty="0">
                <a:solidFill>
                  <a:srgbClr val="7C3AED"/>
                </a:solidFill>
                <a:latin typeface="Arial" pitchFamily="34" charset="0"/>
                <a:ea typeface="Arial" pitchFamily="34" charset="-122"/>
                <a:cs typeface="Arial" pitchFamily="34" charset="-120"/>
              </a:rPr>
              <a:t>90</a:t>
            </a:r>
            <a:endParaRPr lang="en-US" sz="2800" dirty="0"/>
          </a:p>
        </p:txBody>
      </p:sp>
      <p:sp>
        <p:nvSpPr>
          <p:cNvPr id="8" name="Text 6"/>
          <p:cNvSpPr/>
          <p:nvPr/>
        </p:nvSpPr>
        <p:spPr>
          <a:xfrm>
            <a:off x="3291840" y="2057400"/>
            <a:ext cx="1920240" cy="347472"/>
          </a:xfrm>
          <a:prstGeom prst="rect">
            <a:avLst/>
          </a:prstGeom>
          <a:noFill/>
          <a:ln/>
        </p:spPr>
        <p:txBody>
          <a:bodyPr wrap="square" lIns="254" tIns="254" rIns="254" bIns="254" rtlCol="0" anchor="ctr">
            <a:normAutofit/>
          </a:bodyPr>
          <a:lstStyle/>
          <a:p>
            <a:pPr algn="ctr" indent="0" marL="0">
              <a:buNone/>
            </a:pPr>
            <a:r>
              <a:rPr lang="en-US" sz="1050" dirty="0">
                <a:solidFill>
                  <a:srgbClr val="3E4C59"/>
                </a:solidFill>
                <a:latin typeface="Arial" pitchFamily="34" charset="0"/>
                <a:ea typeface="Arial" pitchFamily="34" charset="-122"/>
                <a:cs typeface="Arial" pitchFamily="34" charset="-120"/>
              </a:rPr>
              <a:t>clips rated per participant</a:t>
            </a:r>
            <a:endParaRPr lang="en-US" sz="1050" dirty="0"/>
          </a:p>
        </p:txBody>
      </p:sp>
      <p:sp>
        <p:nvSpPr>
          <p:cNvPr id="9" name="Text 7"/>
          <p:cNvSpPr/>
          <p:nvPr/>
        </p:nvSpPr>
        <p:spPr>
          <a:xfrm>
            <a:off x="5715000" y="1554480"/>
            <a:ext cx="2103120" cy="475488"/>
          </a:xfrm>
          <a:prstGeom prst="rect">
            <a:avLst/>
          </a:prstGeom>
          <a:noFill/>
          <a:ln/>
        </p:spPr>
        <p:txBody>
          <a:bodyPr wrap="square" lIns="0" tIns="0" rIns="0" bIns="0" rtlCol="0" anchor="ctr"/>
          <a:lstStyle/>
          <a:p>
            <a:pPr algn="ctr" indent="0" marL="0">
              <a:buNone/>
            </a:pPr>
            <a:r>
              <a:rPr lang="en-US" sz="2800" b="1" dirty="0">
                <a:solidFill>
                  <a:srgbClr val="FF6B6B"/>
                </a:solidFill>
                <a:latin typeface="Arial" pitchFamily="34" charset="0"/>
                <a:ea typeface="Arial" pitchFamily="34" charset="-122"/>
                <a:cs typeface="Arial" pitchFamily="34" charset="-120"/>
              </a:rPr>
              <a:t>30/30/30</a:t>
            </a:r>
            <a:endParaRPr lang="en-US" sz="2800" dirty="0"/>
          </a:p>
        </p:txBody>
      </p:sp>
      <p:sp>
        <p:nvSpPr>
          <p:cNvPr id="10" name="Text 8"/>
          <p:cNvSpPr/>
          <p:nvPr/>
        </p:nvSpPr>
        <p:spPr>
          <a:xfrm>
            <a:off x="5715000" y="2057400"/>
            <a:ext cx="2103120" cy="347472"/>
          </a:xfrm>
          <a:prstGeom prst="rect">
            <a:avLst/>
          </a:prstGeom>
          <a:noFill/>
          <a:ln/>
        </p:spPr>
        <p:txBody>
          <a:bodyPr wrap="square" lIns="254" tIns="254" rIns="254" bIns="254" rtlCol="0" anchor="ctr">
            <a:normAutofit/>
          </a:bodyPr>
          <a:lstStyle/>
          <a:p>
            <a:pPr algn="ctr" indent="0" marL="0">
              <a:buNone/>
            </a:pPr>
            <a:r>
              <a:rPr lang="en-US" sz="1050" dirty="0">
                <a:solidFill>
                  <a:srgbClr val="3E4C59"/>
                </a:solidFill>
                <a:latin typeface="Arial" pitchFamily="34" charset="0"/>
                <a:ea typeface="Arial" pitchFamily="34" charset="-122"/>
                <a:cs typeface="Arial" pitchFamily="34" charset="-120"/>
              </a:rPr>
              <a:t>audio / visual / AV</a:t>
            </a:r>
            <a:endParaRPr lang="en-US" sz="1050" dirty="0"/>
          </a:p>
        </p:txBody>
      </p:sp>
      <p:sp>
        <p:nvSpPr>
          <p:cNvPr id="11" name="Text 9"/>
          <p:cNvSpPr/>
          <p:nvPr/>
        </p:nvSpPr>
        <p:spPr>
          <a:xfrm>
            <a:off x="8366760" y="1554480"/>
            <a:ext cx="2194560" cy="475488"/>
          </a:xfrm>
          <a:prstGeom prst="rect">
            <a:avLst/>
          </a:prstGeom>
          <a:noFill/>
          <a:ln/>
        </p:spPr>
        <p:txBody>
          <a:bodyPr wrap="square" lIns="0" tIns="0" rIns="0" bIns="0" rtlCol="0" anchor="ctr"/>
          <a:lstStyle/>
          <a:p>
            <a:pPr algn="ctr" indent="0" marL="0">
              <a:buNone/>
            </a:pPr>
            <a:r>
              <a:rPr lang="en-US" sz="2800" b="1" dirty="0">
                <a:solidFill>
                  <a:srgbClr val="F4B400"/>
                </a:solidFill>
                <a:latin typeface="Arial" pitchFamily="34" charset="0"/>
                <a:ea typeface="Arial" pitchFamily="34" charset="-122"/>
                <a:cs typeface="Arial" pitchFamily="34" charset="-120"/>
              </a:rPr>
              <a:t>&gt;7</a:t>
            </a:r>
            <a:endParaRPr lang="en-US" sz="2800" dirty="0"/>
          </a:p>
        </p:txBody>
      </p:sp>
      <p:sp>
        <p:nvSpPr>
          <p:cNvPr id="12" name="Text 10"/>
          <p:cNvSpPr/>
          <p:nvPr/>
        </p:nvSpPr>
        <p:spPr>
          <a:xfrm>
            <a:off x="8366760" y="2057400"/>
            <a:ext cx="2194560" cy="347472"/>
          </a:xfrm>
          <a:prstGeom prst="rect">
            <a:avLst/>
          </a:prstGeom>
          <a:noFill/>
          <a:ln/>
        </p:spPr>
        <p:txBody>
          <a:bodyPr wrap="square" lIns="254" tIns="254" rIns="254" bIns="254" rtlCol="0" anchor="ctr">
            <a:normAutofit/>
          </a:bodyPr>
          <a:lstStyle/>
          <a:p>
            <a:pPr algn="ctr" indent="0" marL="0">
              <a:buNone/>
            </a:pPr>
            <a:r>
              <a:rPr lang="en-US" sz="1050" dirty="0">
                <a:solidFill>
                  <a:srgbClr val="3E4C59"/>
                </a:solidFill>
                <a:latin typeface="Arial" pitchFamily="34" charset="0"/>
                <a:ea typeface="Arial" pitchFamily="34" charset="-122"/>
                <a:cs typeface="Arial" pitchFamily="34" charset="-120"/>
              </a:rPr>
              <a:t>ratings for 95% of clips</a:t>
            </a:r>
            <a:endParaRPr lang="en-US" sz="1050" dirty="0"/>
          </a:p>
        </p:txBody>
      </p:sp>
      <p:sp>
        <p:nvSpPr>
          <p:cNvPr id="13" name="Shape 11"/>
          <p:cNvSpPr/>
          <p:nvPr/>
        </p:nvSpPr>
        <p:spPr>
          <a:xfrm>
            <a:off x="960120" y="3886200"/>
            <a:ext cx="1645920" cy="713232"/>
          </a:xfrm>
          <a:prstGeom prst="roundRect">
            <a:avLst>
              <a:gd name="adj" fmla="val 7692"/>
            </a:avLst>
          </a:prstGeom>
          <a:solidFill>
            <a:srgbClr val="00A8A8"/>
          </a:solidFill>
          <a:ln w="12700">
            <a:solidFill>
              <a:srgbClr val="00A8A8">
                <a:alpha val="0"/>
              </a:srgbClr>
            </a:solidFill>
            <a:prstDash val="solid"/>
          </a:ln>
        </p:spPr>
      </p:sp>
      <p:sp>
        <p:nvSpPr>
          <p:cNvPr id="14" name="Text 12"/>
          <p:cNvSpPr/>
          <p:nvPr/>
        </p:nvSpPr>
        <p:spPr>
          <a:xfrm>
            <a:off x="1033272" y="4059936"/>
            <a:ext cx="1499616"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clip shown</a:t>
            </a:r>
            <a:endParaRPr lang="en-US" sz="1100" dirty="0"/>
          </a:p>
        </p:txBody>
      </p:sp>
      <p:sp>
        <p:nvSpPr>
          <p:cNvPr id="15" name="Shape 13"/>
          <p:cNvSpPr/>
          <p:nvPr/>
        </p:nvSpPr>
        <p:spPr>
          <a:xfrm>
            <a:off x="2679192" y="4114800"/>
            <a:ext cx="356616" cy="256032"/>
          </a:xfrm>
          <a:prstGeom prst="chevron">
            <a:avLst/>
          </a:prstGeom>
          <a:solidFill>
            <a:srgbClr val="CBD2D9"/>
          </a:solidFill>
          <a:ln w="12700">
            <a:solidFill>
              <a:srgbClr val="CBD2D9">
                <a:alpha val="0"/>
              </a:srgbClr>
            </a:solidFill>
            <a:prstDash val="solid"/>
          </a:ln>
        </p:spPr>
      </p:sp>
      <p:sp>
        <p:nvSpPr>
          <p:cNvPr id="16" name="Shape 14"/>
          <p:cNvSpPr/>
          <p:nvPr/>
        </p:nvSpPr>
        <p:spPr>
          <a:xfrm>
            <a:off x="3108960" y="3886200"/>
            <a:ext cx="1645920" cy="713232"/>
          </a:xfrm>
          <a:prstGeom prst="roundRect">
            <a:avLst>
              <a:gd name="adj" fmla="val 7692"/>
            </a:avLst>
          </a:prstGeom>
          <a:solidFill>
            <a:srgbClr val="7C3AED"/>
          </a:solidFill>
          <a:ln w="12700">
            <a:solidFill>
              <a:srgbClr val="7C3AED">
                <a:alpha val="0"/>
              </a:srgbClr>
            </a:solidFill>
            <a:prstDash val="solid"/>
          </a:ln>
        </p:spPr>
      </p:sp>
      <p:sp>
        <p:nvSpPr>
          <p:cNvPr id="17" name="Text 15"/>
          <p:cNvSpPr/>
          <p:nvPr/>
        </p:nvSpPr>
        <p:spPr>
          <a:xfrm>
            <a:off x="3182112" y="4059936"/>
            <a:ext cx="1499616"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emotion chosen</a:t>
            </a:r>
            <a:endParaRPr lang="en-US" sz="1100" dirty="0"/>
          </a:p>
        </p:txBody>
      </p:sp>
      <p:sp>
        <p:nvSpPr>
          <p:cNvPr id="18" name="Shape 16"/>
          <p:cNvSpPr/>
          <p:nvPr/>
        </p:nvSpPr>
        <p:spPr>
          <a:xfrm>
            <a:off x="4828032" y="4114800"/>
            <a:ext cx="356616" cy="256032"/>
          </a:xfrm>
          <a:prstGeom prst="chevron">
            <a:avLst/>
          </a:prstGeom>
          <a:solidFill>
            <a:srgbClr val="CBD2D9"/>
          </a:solidFill>
          <a:ln w="12700">
            <a:solidFill>
              <a:srgbClr val="CBD2D9">
                <a:alpha val="0"/>
              </a:srgbClr>
            </a:solidFill>
            <a:prstDash val="solid"/>
          </a:ln>
        </p:spPr>
      </p:sp>
      <p:sp>
        <p:nvSpPr>
          <p:cNvPr id="19" name="Shape 17"/>
          <p:cNvSpPr/>
          <p:nvPr/>
        </p:nvSpPr>
        <p:spPr>
          <a:xfrm>
            <a:off x="5257800" y="3886200"/>
            <a:ext cx="1645920" cy="713232"/>
          </a:xfrm>
          <a:prstGeom prst="roundRect">
            <a:avLst>
              <a:gd name="adj" fmla="val 7692"/>
            </a:avLst>
          </a:prstGeom>
          <a:solidFill>
            <a:srgbClr val="F4B400"/>
          </a:solidFill>
          <a:ln w="12700">
            <a:solidFill>
              <a:srgbClr val="F4B400">
                <a:alpha val="0"/>
              </a:srgbClr>
            </a:solidFill>
            <a:prstDash val="solid"/>
          </a:ln>
        </p:spPr>
      </p:sp>
      <p:sp>
        <p:nvSpPr>
          <p:cNvPr id="20" name="Text 18"/>
          <p:cNvSpPr/>
          <p:nvPr/>
        </p:nvSpPr>
        <p:spPr>
          <a:xfrm>
            <a:off x="5330952" y="4059936"/>
            <a:ext cx="1499616"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intensity rated</a:t>
            </a:r>
            <a:endParaRPr lang="en-US" sz="1100" dirty="0"/>
          </a:p>
        </p:txBody>
      </p:sp>
      <p:sp>
        <p:nvSpPr>
          <p:cNvPr id="21" name="Shape 19"/>
          <p:cNvSpPr/>
          <p:nvPr/>
        </p:nvSpPr>
        <p:spPr>
          <a:xfrm>
            <a:off x="6976872" y="4114800"/>
            <a:ext cx="356616" cy="256032"/>
          </a:xfrm>
          <a:prstGeom prst="chevron">
            <a:avLst/>
          </a:prstGeom>
          <a:solidFill>
            <a:srgbClr val="CBD2D9"/>
          </a:solidFill>
          <a:ln w="12700">
            <a:solidFill>
              <a:srgbClr val="CBD2D9">
                <a:alpha val="0"/>
              </a:srgbClr>
            </a:solidFill>
            <a:prstDash val="solid"/>
          </a:ln>
        </p:spPr>
      </p:sp>
      <p:sp>
        <p:nvSpPr>
          <p:cNvPr id="22" name="Shape 20"/>
          <p:cNvSpPr/>
          <p:nvPr/>
        </p:nvSpPr>
        <p:spPr>
          <a:xfrm>
            <a:off x="7406640" y="3886200"/>
            <a:ext cx="1645920" cy="713232"/>
          </a:xfrm>
          <a:prstGeom prst="roundRect">
            <a:avLst>
              <a:gd name="adj" fmla="val 7692"/>
            </a:avLst>
          </a:prstGeom>
          <a:solidFill>
            <a:srgbClr val="FF6B6B"/>
          </a:solidFill>
          <a:ln w="12700">
            <a:solidFill>
              <a:srgbClr val="FF6B6B">
                <a:alpha val="0"/>
              </a:srgbClr>
            </a:solidFill>
            <a:prstDash val="solid"/>
          </a:ln>
        </p:spPr>
      </p:sp>
      <p:sp>
        <p:nvSpPr>
          <p:cNvPr id="23" name="Text 21"/>
          <p:cNvSpPr/>
          <p:nvPr/>
        </p:nvSpPr>
        <p:spPr>
          <a:xfrm>
            <a:off x="7479792" y="4059936"/>
            <a:ext cx="1499616"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votes tabulated</a:t>
            </a:r>
            <a:endParaRPr lang="en-US" sz="1100" dirty="0"/>
          </a:p>
        </p:txBody>
      </p:sp>
      <p:sp>
        <p:nvSpPr>
          <p:cNvPr id="24" name="Shape 22"/>
          <p:cNvSpPr/>
          <p:nvPr/>
        </p:nvSpPr>
        <p:spPr>
          <a:xfrm>
            <a:off x="9125712" y="4114800"/>
            <a:ext cx="356616" cy="256032"/>
          </a:xfrm>
          <a:prstGeom prst="chevron">
            <a:avLst/>
          </a:prstGeom>
          <a:solidFill>
            <a:srgbClr val="CBD2D9"/>
          </a:solidFill>
          <a:ln w="12700">
            <a:solidFill>
              <a:srgbClr val="CBD2D9">
                <a:alpha val="0"/>
              </a:srgbClr>
            </a:solidFill>
            <a:prstDash val="solid"/>
          </a:ln>
        </p:spPr>
      </p:sp>
      <p:sp>
        <p:nvSpPr>
          <p:cNvPr id="25" name="Shape 23"/>
          <p:cNvSpPr/>
          <p:nvPr/>
        </p:nvSpPr>
        <p:spPr>
          <a:xfrm>
            <a:off x="9555480" y="3886200"/>
            <a:ext cx="1645920" cy="713232"/>
          </a:xfrm>
          <a:prstGeom prst="roundRect">
            <a:avLst>
              <a:gd name="adj" fmla="val 7692"/>
            </a:avLst>
          </a:prstGeom>
          <a:solidFill>
            <a:srgbClr val="42B883"/>
          </a:solidFill>
          <a:ln w="12700">
            <a:solidFill>
              <a:srgbClr val="42B883">
                <a:alpha val="0"/>
              </a:srgbClr>
            </a:solidFill>
            <a:prstDash val="solid"/>
          </a:ln>
        </p:spPr>
      </p:sp>
      <p:sp>
        <p:nvSpPr>
          <p:cNvPr id="26" name="Text 24"/>
          <p:cNvSpPr/>
          <p:nvPr/>
        </p:nvSpPr>
        <p:spPr>
          <a:xfrm>
            <a:off x="9628632" y="4059936"/>
            <a:ext cx="1499616"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majority label</a:t>
            </a:r>
            <a:endParaRPr lang="en-US" sz="1100" dirty="0"/>
          </a:p>
        </p:txBody>
      </p:sp>
      <p:sp>
        <p:nvSpPr>
          <p:cNvPr id="27" name="Text 25"/>
          <p:cNvSpPr/>
          <p:nvPr/>
        </p:nvSpPr>
        <p:spPr>
          <a:xfrm>
            <a:off x="502920" y="6473952"/>
            <a:ext cx="9144000" cy="164592"/>
          </a:xfrm>
          <a:prstGeom prst="rect">
            <a:avLst/>
          </a:prstGeom>
          <a:noFill/>
          <a:ln/>
        </p:spPr>
        <p:txBody>
          <a:bodyPr wrap="square" lIns="0" tIns="0" rIns="0" bIns="0" rtlCol="0" anchor="ctr"/>
          <a:lstStyle/>
          <a:p>
            <a:pPr indent="0" marL="0">
              <a:buNone/>
            </a:pPr>
            <a:r>
              <a:rPr lang="en-US" sz="750" dirty="0">
                <a:solidFill>
                  <a:srgbClr val="7B8794"/>
                </a:solidFill>
                <a:latin typeface="Arial" pitchFamily="34" charset="0"/>
                <a:ea typeface="Arial" pitchFamily="34" charset="-122"/>
                <a:cs typeface="Arial" pitchFamily="34" charset="-120"/>
              </a:rPr>
              <a:t>CREMA-D seminar | crowd annotation</a:t>
            </a:r>
            <a:endParaRPr lang="en-US" sz="750" dirty="0"/>
          </a:p>
        </p:txBody>
      </p:sp>
      <p:sp>
        <p:nvSpPr>
          <p:cNvPr id="28" name="Text 26"/>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50" dirty="0">
                <a:solidFill>
                  <a:srgbClr val="7B8794"/>
                </a:solidFill>
                <a:latin typeface="Arial" pitchFamily="34" charset="0"/>
                <a:ea typeface="Arial" pitchFamily="34" charset="-122"/>
                <a:cs typeface="Arial" pitchFamily="34" charset="-120"/>
              </a:rPr>
              <a:t>8</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4114800" cy="201168"/>
          </a:xfrm>
          <a:prstGeom prst="rect">
            <a:avLst/>
          </a:prstGeom>
          <a:noFill/>
          <a:ln/>
        </p:spPr>
        <p:txBody>
          <a:bodyPr wrap="square" lIns="0" tIns="0" rIns="0" bIns="0" rtlCol="0" anchor="ctr"/>
          <a:lstStyle/>
          <a:p>
            <a:pPr indent="0" marL="0">
              <a:buNone/>
            </a:pPr>
            <a:r>
              <a:rPr lang="en-US" sz="850" b="1" dirty="0">
                <a:solidFill>
                  <a:srgbClr val="00A8A8"/>
                </a:solidFill>
                <a:latin typeface="Arial" pitchFamily="34" charset="0"/>
                <a:ea typeface="Arial" pitchFamily="34" charset="-122"/>
                <a:cs typeface="Arial" pitchFamily="34" charset="-120"/>
              </a:rPr>
              <a:t>ANNOTATION</a:t>
            </a:r>
            <a:endParaRPr lang="en-US" sz="850" dirty="0"/>
          </a:p>
        </p:txBody>
      </p:sp>
      <p:sp>
        <p:nvSpPr>
          <p:cNvPr id="3" name="Text 1"/>
          <p:cNvSpPr/>
          <p:nvPr/>
        </p:nvSpPr>
        <p:spPr>
          <a:xfrm>
            <a:off x="502920" y="502920"/>
            <a:ext cx="11155680" cy="502920"/>
          </a:xfrm>
          <a:prstGeom prst="rect">
            <a:avLst/>
          </a:prstGeom>
          <a:noFill/>
          <a:ln/>
        </p:spPr>
        <p:txBody>
          <a:bodyPr wrap="square" lIns="0" tIns="0" rIns="0" bIns="0" rtlCol="0" anchor="ctr">
            <a:normAutofit/>
          </a:bodyPr>
          <a:lstStyle/>
          <a:p>
            <a:pPr indent="0" marL="0">
              <a:buNone/>
            </a:pPr>
            <a:r>
              <a:rPr lang="en-US" sz="3000" b="1" dirty="0">
                <a:solidFill>
                  <a:srgbClr val="102A43"/>
                </a:solidFill>
                <a:latin typeface="Arial" pitchFamily="34" charset="0"/>
                <a:ea typeface="Arial" pitchFamily="34" charset="-122"/>
                <a:cs typeface="Arial" pitchFamily="34" charset="-120"/>
              </a:rPr>
              <a:t>Three perception conditions</a:t>
            </a:r>
            <a:endParaRPr lang="en-US" sz="3000" dirty="0"/>
          </a:p>
        </p:txBody>
      </p:sp>
      <p:sp>
        <p:nvSpPr>
          <p:cNvPr id="4" name="Shape 2"/>
          <p:cNvSpPr/>
          <p:nvPr/>
        </p:nvSpPr>
        <p:spPr>
          <a:xfrm>
            <a:off x="502920" y="1078992"/>
            <a:ext cx="11155680" cy="0"/>
          </a:xfrm>
          <a:prstGeom prst="line">
            <a:avLst/>
          </a:prstGeom>
          <a:noFill/>
          <a:ln w="7620">
            <a:solidFill>
              <a:srgbClr val="CBD2D9"/>
            </a:solidFill>
            <a:prstDash val="solid"/>
          </a:ln>
        </p:spPr>
      </p:sp>
      <p:sp>
        <p:nvSpPr>
          <p:cNvPr id="5" name="Shape 3"/>
          <p:cNvSpPr/>
          <p:nvPr/>
        </p:nvSpPr>
        <p:spPr>
          <a:xfrm>
            <a:off x="960120" y="1508760"/>
            <a:ext cx="3108960" cy="1920240"/>
          </a:xfrm>
          <a:prstGeom prst="roundRect">
            <a:avLst>
              <a:gd name="adj" fmla="val 3810"/>
            </a:avLst>
          </a:prstGeom>
          <a:solidFill>
            <a:srgbClr val="00A8A8"/>
          </a:solidFill>
          <a:ln w="12700">
            <a:solidFill>
              <a:srgbClr val="00A8A8">
                <a:alpha val="0"/>
              </a:srgbClr>
            </a:solidFill>
            <a:prstDash val="solid"/>
          </a:ln>
        </p:spPr>
      </p:sp>
      <p:sp>
        <p:nvSpPr>
          <p:cNvPr id="6" name="Text 4"/>
          <p:cNvSpPr/>
          <p:nvPr/>
        </p:nvSpPr>
        <p:spPr>
          <a:xfrm>
            <a:off x="1143000" y="1828800"/>
            <a:ext cx="2743200" cy="256032"/>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Audio only</a:t>
            </a:r>
            <a:endParaRPr lang="en-US" sz="1900" dirty="0"/>
          </a:p>
        </p:txBody>
      </p:sp>
      <p:sp>
        <p:nvSpPr>
          <p:cNvPr id="7" name="Text 5"/>
          <p:cNvSpPr/>
          <p:nvPr/>
        </p:nvSpPr>
        <p:spPr>
          <a:xfrm>
            <a:off x="1280160" y="2359152"/>
            <a:ext cx="2468880" cy="411480"/>
          </a:xfrm>
          <a:prstGeom prst="rect">
            <a:avLst/>
          </a:prstGeom>
          <a:noFill/>
          <a:ln/>
        </p:spPr>
        <p:txBody>
          <a:bodyPr wrap="square" lIns="0" tIns="0" rIns="0" bIns="0" rtlCol="0" anchor="ctr">
            <a:normAutofit/>
          </a:bodyPr>
          <a:lstStyle/>
          <a:p>
            <a:pPr algn="ctr" indent="0" marL="0">
              <a:buNone/>
            </a:pPr>
            <a:r>
              <a:rPr lang="en-US" sz="1100" dirty="0">
                <a:solidFill>
                  <a:srgbClr val="FFFFFF"/>
                </a:solidFill>
                <a:latin typeface="Arial" pitchFamily="34" charset="0"/>
                <a:ea typeface="Arial" pitchFamily="34" charset="-122"/>
                <a:cs typeface="Arial" pitchFamily="34" charset="-120"/>
              </a:rPr>
              <a:t>voice, prosody, speech acoustics</a:t>
            </a:r>
            <a:endParaRPr lang="en-US" sz="1100" dirty="0"/>
          </a:p>
        </p:txBody>
      </p:sp>
      <p:sp>
        <p:nvSpPr>
          <p:cNvPr id="8" name="Shape 6"/>
          <p:cNvSpPr/>
          <p:nvPr/>
        </p:nvSpPr>
        <p:spPr>
          <a:xfrm>
            <a:off x="4754880" y="1508760"/>
            <a:ext cx="3108960" cy="1920240"/>
          </a:xfrm>
          <a:prstGeom prst="roundRect">
            <a:avLst>
              <a:gd name="adj" fmla="val 3810"/>
            </a:avLst>
          </a:prstGeom>
          <a:solidFill>
            <a:srgbClr val="7C3AED"/>
          </a:solidFill>
          <a:ln w="12700">
            <a:solidFill>
              <a:srgbClr val="7C3AED">
                <a:alpha val="0"/>
              </a:srgbClr>
            </a:solidFill>
            <a:prstDash val="solid"/>
          </a:ln>
        </p:spPr>
      </p:sp>
      <p:sp>
        <p:nvSpPr>
          <p:cNvPr id="9" name="Text 7"/>
          <p:cNvSpPr/>
          <p:nvPr/>
        </p:nvSpPr>
        <p:spPr>
          <a:xfrm>
            <a:off x="4937760" y="1828800"/>
            <a:ext cx="2743200" cy="256032"/>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Visual only</a:t>
            </a:r>
            <a:endParaRPr lang="en-US" sz="1900" dirty="0"/>
          </a:p>
        </p:txBody>
      </p:sp>
      <p:sp>
        <p:nvSpPr>
          <p:cNvPr id="10" name="Text 8"/>
          <p:cNvSpPr/>
          <p:nvPr/>
        </p:nvSpPr>
        <p:spPr>
          <a:xfrm>
            <a:off x="5074920" y="2359152"/>
            <a:ext cx="2468880" cy="411480"/>
          </a:xfrm>
          <a:prstGeom prst="rect">
            <a:avLst/>
          </a:prstGeom>
          <a:noFill/>
          <a:ln/>
        </p:spPr>
        <p:txBody>
          <a:bodyPr wrap="square" lIns="0" tIns="0" rIns="0" bIns="0" rtlCol="0" anchor="ctr">
            <a:normAutofit/>
          </a:bodyPr>
          <a:lstStyle/>
          <a:p>
            <a:pPr algn="ctr" indent="0" marL="0">
              <a:buNone/>
            </a:pPr>
            <a:r>
              <a:rPr lang="en-US" sz="1100" dirty="0">
                <a:solidFill>
                  <a:srgbClr val="FFFFFF"/>
                </a:solidFill>
                <a:latin typeface="Arial" pitchFamily="34" charset="0"/>
                <a:ea typeface="Arial" pitchFamily="34" charset="-122"/>
                <a:cs typeface="Arial" pitchFamily="34" charset="-120"/>
              </a:rPr>
              <a:t>face, mouth, body/framing cues</a:t>
            </a:r>
            <a:endParaRPr lang="en-US" sz="1100" dirty="0"/>
          </a:p>
        </p:txBody>
      </p:sp>
      <p:sp>
        <p:nvSpPr>
          <p:cNvPr id="11" name="Shape 9"/>
          <p:cNvSpPr/>
          <p:nvPr/>
        </p:nvSpPr>
        <p:spPr>
          <a:xfrm>
            <a:off x="8549640" y="1508760"/>
            <a:ext cx="3108960" cy="1920240"/>
          </a:xfrm>
          <a:prstGeom prst="roundRect">
            <a:avLst>
              <a:gd name="adj" fmla="val 3810"/>
            </a:avLst>
          </a:prstGeom>
          <a:solidFill>
            <a:srgbClr val="FF6B6B"/>
          </a:solidFill>
          <a:ln w="12700">
            <a:solidFill>
              <a:srgbClr val="FF6B6B">
                <a:alpha val="0"/>
              </a:srgbClr>
            </a:solidFill>
            <a:prstDash val="solid"/>
          </a:ln>
        </p:spPr>
      </p:sp>
      <p:sp>
        <p:nvSpPr>
          <p:cNvPr id="12" name="Text 10"/>
          <p:cNvSpPr/>
          <p:nvPr/>
        </p:nvSpPr>
        <p:spPr>
          <a:xfrm>
            <a:off x="8732520" y="1828800"/>
            <a:ext cx="2743200" cy="256032"/>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Audiovisual</a:t>
            </a:r>
            <a:endParaRPr lang="en-US" sz="1900" dirty="0"/>
          </a:p>
        </p:txBody>
      </p:sp>
      <p:sp>
        <p:nvSpPr>
          <p:cNvPr id="13" name="Text 11"/>
          <p:cNvSpPr/>
          <p:nvPr/>
        </p:nvSpPr>
        <p:spPr>
          <a:xfrm>
            <a:off x="8869680" y="2359152"/>
            <a:ext cx="2468880" cy="411480"/>
          </a:xfrm>
          <a:prstGeom prst="rect">
            <a:avLst/>
          </a:prstGeom>
          <a:noFill/>
          <a:ln/>
        </p:spPr>
        <p:txBody>
          <a:bodyPr wrap="square" lIns="0" tIns="0" rIns="0" bIns="0" rtlCol="0" anchor="ctr">
            <a:normAutofit/>
          </a:bodyPr>
          <a:lstStyle/>
          <a:p>
            <a:pPr algn="ctr" indent="0" marL="0">
              <a:buNone/>
            </a:pPr>
            <a:r>
              <a:rPr lang="en-US" sz="1100" dirty="0">
                <a:solidFill>
                  <a:srgbClr val="FFFFFF"/>
                </a:solidFill>
                <a:latin typeface="Arial" pitchFamily="34" charset="0"/>
                <a:ea typeface="Arial" pitchFamily="34" charset="-122"/>
                <a:cs typeface="Arial" pitchFamily="34" charset="-120"/>
              </a:rPr>
              <a:t>integrated social signal</a:t>
            </a:r>
            <a:endParaRPr lang="en-US" sz="1100" dirty="0"/>
          </a:p>
        </p:txBody>
      </p:sp>
      <p:sp>
        <p:nvSpPr>
          <p:cNvPr id="14" name="Shape 12"/>
          <p:cNvSpPr/>
          <p:nvPr/>
        </p:nvSpPr>
        <p:spPr>
          <a:xfrm>
            <a:off x="1417320" y="4343400"/>
            <a:ext cx="9326880" cy="685800"/>
          </a:xfrm>
          <a:prstGeom prst="roundRect">
            <a:avLst>
              <a:gd name="adj" fmla="val 10667"/>
            </a:avLst>
          </a:prstGeom>
          <a:solidFill>
            <a:srgbClr val="E6FFFB"/>
          </a:solidFill>
          <a:ln w="12700">
            <a:solidFill>
              <a:srgbClr val="B2F5EA"/>
            </a:solidFill>
            <a:prstDash val="solid"/>
          </a:ln>
        </p:spPr>
      </p:sp>
      <p:sp>
        <p:nvSpPr>
          <p:cNvPr id="15" name="Text 13"/>
          <p:cNvSpPr/>
          <p:nvPr/>
        </p:nvSpPr>
        <p:spPr>
          <a:xfrm>
            <a:off x="1737360" y="4572000"/>
            <a:ext cx="8686800" cy="182880"/>
          </a:xfrm>
          <a:prstGeom prst="rect">
            <a:avLst/>
          </a:prstGeom>
          <a:noFill/>
          <a:ln/>
        </p:spPr>
        <p:txBody>
          <a:bodyPr wrap="square" lIns="381" tIns="381" rIns="381" bIns="381" rtlCol="0" anchor="ctr">
            <a:normAutofit/>
          </a:bodyPr>
          <a:lstStyle/>
          <a:p>
            <a:pPr algn="ctr" indent="0" marL="0">
              <a:buNone/>
            </a:pPr>
            <a:r>
              <a:rPr lang="en-US" sz="1320" b="1" dirty="0">
                <a:solidFill>
                  <a:srgbClr val="102A43"/>
                </a:solidFill>
                <a:latin typeface="Arial" pitchFamily="34" charset="0"/>
                <a:ea typeface="Arial" pitchFamily="34" charset="-122"/>
                <a:cs typeface="Arial" pitchFamily="34" charset="-120"/>
              </a:rPr>
              <a:t>Modality-specific labels let us ask: where is the emotion information perceived, and when do channels disagree?</a:t>
            </a:r>
            <a:endParaRPr lang="en-US" sz="1320" dirty="0"/>
          </a:p>
        </p:txBody>
      </p:sp>
      <p:sp>
        <p:nvSpPr>
          <p:cNvPr id="16" name="Text 14"/>
          <p:cNvSpPr/>
          <p:nvPr/>
        </p:nvSpPr>
        <p:spPr>
          <a:xfrm>
            <a:off x="502920" y="6473952"/>
            <a:ext cx="9144000" cy="164592"/>
          </a:xfrm>
          <a:prstGeom prst="rect">
            <a:avLst/>
          </a:prstGeom>
          <a:noFill/>
          <a:ln/>
        </p:spPr>
        <p:txBody>
          <a:bodyPr wrap="square" lIns="0" tIns="0" rIns="0" bIns="0" rtlCol="0" anchor="ctr"/>
          <a:lstStyle/>
          <a:p>
            <a:pPr indent="0" marL="0">
              <a:buNone/>
            </a:pPr>
            <a:r>
              <a:rPr lang="en-US" sz="750" dirty="0">
                <a:solidFill>
                  <a:srgbClr val="7B8794"/>
                </a:solidFill>
                <a:latin typeface="Arial" pitchFamily="34" charset="0"/>
                <a:ea typeface="Arial" pitchFamily="34" charset="-122"/>
                <a:cs typeface="Arial" pitchFamily="34" charset="-120"/>
              </a:rPr>
              <a:t>CREMA-D seminar | modality design</a:t>
            </a:r>
            <a:endParaRPr lang="en-US" sz="750" dirty="0"/>
          </a:p>
        </p:txBody>
      </p:sp>
      <p:sp>
        <p:nvSpPr>
          <p:cNvPr id="17" name="Text 15"/>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50" dirty="0">
                <a:solidFill>
                  <a:srgbClr val="7B8794"/>
                </a:solidFill>
                <a:latin typeface="Arial" pitchFamily="34" charset="0"/>
                <a:ea typeface="Arial" pitchFamily="34" charset="-122"/>
                <a:cs typeface="Arial" pitchFamily="34" charset="-120"/>
              </a:rPr>
              <a:t>9</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4114800" cy="201168"/>
          </a:xfrm>
          <a:prstGeom prst="rect">
            <a:avLst/>
          </a:prstGeom>
          <a:noFill/>
          <a:ln/>
        </p:spPr>
        <p:txBody>
          <a:bodyPr wrap="square" lIns="0" tIns="0" rIns="0" bIns="0" rtlCol="0" anchor="ctr"/>
          <a:lstStyle/>
          <a:p>
            <a:pPr indent="0" marL="0">
              <a:buNone/>
            </a:pPr>
            <a:r>
              <a:rPr lang="en-US" sz="850" b="1" dirty="0">
                <a:solidFill>
                  <a:srgbClr val="00A8A8"/>
                </a:solidFill>
                <a:latin typeface="Arial" pitchFamily="34" charset="0"/>
                <a:ea typeface="Arial" pitchFamily="34" charset="-122"/>
                <a:cs typeface="Arial" pitchFamily="34" charset="-120"/>
              </a:rPr>
              <a:t>MEASUREMENT</a:t>
            </a:r>
            <a:endParaRPr lang="en-US" sz="850" dirty="0"/>
          </a:p>
        </p:txBody>
      </p:sp>
      <p:sp>
        <p:nvSpPr>
          <p:cNvPr id="3" name="Text 1"/>
          <p:cNvSpPr/>
          <p:nvPr/>
        </p:nvSpPr>
        <p:spPr>
          <a:xfrm>
            <a:off x="502920" y="502920"/>
            <a:ext cx="11155680" cy="502920"/>
          </a:xfrm>
          <a:prstGeom prst="rect">
            <a:avLst/>
          </a:prstGeom>
          <a:noFill/>
          <a:ln/>
        </p:spPr>
        <p:txBody>
          <a:bodyPr wrap="square" lIns="0" tIns="0" rIns="0" bIns="0" rtlCol="0" anchor="ctr">
            <a:normAutofit/>
          </a:bodyPr>
          <a:lstStyle/>
          <a:p>
            <a:pPr indent="0" marL="0">
              <a:buNone/>
            </a:pPr>
            <a:r>
              <a:rPr lang="en-US" sz="3000" b="1" dirty="0">
                <a:solidFill>
                  <a:srgbClr val="102A43"/>
                </a:solidFill>
                <a:latin typeface="Arial" pitchFamily="34" charset="0"/>
                <a:ea typeface="Arial" pitchFamily="34" charset="-122"/>
                <a:cs typeface="Arial" pitchFamily="34" charset="-120"/>
              </a:rPr>
              <a:t>Intended emotion ≠ perceived emotion</a:t>
            </a:r>
            <a:endParaRPr lang="en-US" sz="3000" dirty="0"/>
          </a:p>
        </p:txBody>
      </p:sp>
      <p:sp>
        <p:nvSpPr>
          <p:cNvPr id="4" name="Shape 2"/>
          <p:cNvSpPr/>
          <p:nvPr/>
        </p:nvSpPr>
        <p:spPr>
          <a:xfrm>
            <a:off x="502920" y="1078992"/>
            <a:ext cx="11155680" cy="0"/>
          </a:xfrm>
          <a:prstGeom prst="line">
            <a:avLst/>
          </a:prstGeom>
          <a:noFill/>
          <a:ln w="7620">
            <a:solidFill>
              <a:srgbClr val="CBD2D9"/>
            </a:solidFill>
            <a:prstDash val="solid"/>
          </a:ln>
        </p:spPr>
      </p:sp>
      <p:sp>
        <p:nvSpPr>
          <p:cNvPr id="5" name="Shape 3"/>
          <p:cNvSpPr/>
          <p:nvPr/>
        </p:nvSpPr>
        <p:spPr>
          <a:xfrm>
            <a:off x="822960" y="1828800"/>
            <a:ext cx="1645920" cy="713232"/>
          </a:xfrm>
          <a:prstGeom prst="roundRect">
            <a:avLst>
              <a:gd name="adj" fmla="val 7692"/>
            </a:avLst>
          </a:prstGeom>
          <a:solidFill>
            <a:srgbClr val="3E4C59"/>
          </a:solidFill>
          <a:ln w="12700">
            <a:solidFill>
              <a:srgbClr val="3E4C59">
                <a:alpha val="0"/>
              </a:srgbClr>
            </a:solidFill>
            <a:prstDash val="solid"/>
          </a:ln>
        </p:spPr>
      </p:sp>
      <p:sp>
        <p:nvSpPr>
          <p:cNvPr id="6" name="Text 4"/>
          <p:cNvSpPr/>
          <p:nvPr/>
        </p:nvSpPr>
        <p:spPr>
          <a:xfrm>
            <a:off x="896112" y="2002536"/>
            <a:ext cx="1499616"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actor instruction</a:t>
            </a:r>
            <a:endParaRPr lang="en-US" sz="1100" dirty="0"/>
          </a:p>
        </p:txBody>
      </p:sp>
      <p:sp>
        <p:nvSpPr>
          <p:cNvPr id="7" name="Shape 5"/>
          <p:cNvSpPr/>
          <p:nvPr/>
        </p:nvSpPr>
        <p:spPr>
          <a:xfrm>
            <a:off x="2542032" y="2057400"/>
            <a:ext cx="356616" cy="256032"/>
          </a:xfrm>
          <a:prstGeom prst="chevron">
            <a:avLst/>
          </a:prstGeom>
          <a:solidFill>
            <a:srgbClr val="CBD2D9"/>
          </a:solidFill>
          <a:ln w="12700">
            <a:solidFill>
              <a:srgbClr val="CBD2D9">
                <a:alpha val="0"/>
              </a:srgbClr>
            </a:solidFill>
            <a:prstDash val="solid"/>
          </a:ln>
        </p:spPr>
      </p:sp>
      <p:sp>
        <p:nvSpPr>
          <p:cNvPr id="8" name="Shape 6"/>
          <p:cNvSpPr/>
          <p:nvPr/>
        </p:nvSpPr>
        <p:spPr>
          <a:xfrm>
            <a:off x="2971800" y="1828800"/>
            <a:ext cx="1645920" cy="713232"/>
          </a:xfrm>
          <a:prstGeom prst="roundRect">
            <a:avLst>
              <a:gd name="adj" fmla="val 7692"/>
            </a:avLst>
          </a:prstGeom>
          <a:solidFill>
            <a:srgbClr val="00A8A8"/>
          </a:solidFill>
          <a:ln w="12700">
            <a:solidFill>
              <a:srgbClr val="00A8A8">
                <a:alpha val="0"/>
              </a:srgbClr>
            </a:solidFill>
            <a:prstDash val="solid"/>
          </a:ln>
        </p:spPr>
      </p:sp>
      <p:sp>
        <p:nvSpPr>
          <p:cNvPr id="9" name="Text 7"/>
          <p:cNvSpPr/>
          <p:nvPr/>
        </p:nvSpPr>
        <p:spPr>
          <a:xfrm>
            <a:off x="3044952" y="2002536"/>
            <a:ext cx="1499616"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performed clip</a:t>
            </a:r>
            <a:endParaRPr lang="en-US" sz="1100" dirty="0"/>
          </a:p>
        </p:txBody>
      </p:sp>
      <p:sp>
        <p:nvSpPr>
          <p:cNvPr id="10" name="Shape 8"/>
          <p:cNvSpPr/>
          <p:nvPr/>
        </p:nvSpPr>
        <p:spPr>
          <a:xfrm>
            <a:off x="4690872" y="2057400"/>
            <a:ext cx="356616" cy="256032"/>
          </a:xfrm>
          <a:prstGeom prst="chevron">
            <a:avLst/>
          </a:prstGeom>
          <a:solidFill>
            <a:srgbClr val="CBD2D9"/>
          </a:solidFill>
          <a:ln w="12700">
            <a:solidFill>
              <a:srgbClr val="CBD2D9">
                <a:alpha val="0"/>
              </a:srgbClr>
            </a:solidFill>
            <a:prstDash val="solid"/>
          </a:ln>
        </p:spPr>
      </p:sp>
      <p:sp>
        <p:nvSpPr>
          <p:cNvPr id="11" name="Shape 9"/>
          <p:cNvSpPr/>
          <p:nvPr/>
        </p:nvSpPr>
        <p:spPr>
          <a:xfrm>
            <a:off x="5120640" y="1828800"/>
            <a:ext cx="1645920" cy="713232"/>
          </a:xfrm>
          <a:prstGeom prst="roundRect">
            <a:avLst>
              <a:gd name="adj" fmla="val 7692"/>
            </a:avLst>
          </a:prstGeom>
          <a:solidFill>
            <a:srgbClr val="7C3AED"/>
          </a:solidFill>
          <a:ln w="12700">
            <a:solidFill>
              <a:srgbClr val="7C3AED">
                <a:alpha val="0"/>
              </a:srgbClr>
            </a:solidFill>
            <a:prstDash val="solid"/>
          </a:ln>
        </p:spPr>
      </p:sp>
      <p:sp>
        <p:nvSpPr>
          <p:cNvPr id="12" name="Text 10"/>
          <p:cNvSpPr/>
          <p:nvPr/>
        </p:nvSpPr>
        <p:spPr>
          <a:xfrm>
            <a:off x="5193792" y="2002536"/>
            <a:ext cx="1499616"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rater perception</a:t>
            </a:r>
            <a:endParaRPr lang="en-US" sz="1100" dirty="0"/>
          </a:p>
        </p:txBody>
      </p:sp>
      <p:sp>
        <p:nvSpPr>
          <p:cNvPr id="13" name="Shape 11"/>
          <p:cNvSpPr/>
          <p:nvPr/>
        </p:nvSpPr>
        <p:spPr>
          <a:xfrm>
            <a:off x="6839712" y="2057400"/>
            <a:ext cx="356616" cy="256032"/>
          </a:xfrm>
          <a:prstGeom prst="chevron">
            <a:avLst/>
          </a:prstGeom>
          <a:solidFill>
            <a:srgbClr val="CBD2D9"/>
          </a:solidFill>
          <a:ln w="12700">
            <a:solidFill>
              <a:srgbClr val="CBD2D9">
                <a:alpha val="0"/>
              </a:srgbClr>
            </a:solidFill>
            <a:prstDash val="solid"/>
          </a:ln>
        </p:spPr>
      </p:sp>
      <p:sp>
        <p:nvSpPr>
          <p:cNvPr id="14" name="Shape 12"/>
          <p:cNvSpPr/>
          <p:nvPr/>
        </p:nvSpPr>
        <p:spPr>
          <a:xfrm>
            <a:off x="7269480" y="1828800"/>
            <a:ext cx="1645920" cy="713232"/>
          </a:xfrm>
          <a:prstGeom prst="roundRect">
            <a:avLst>
              <a:gd name="adj" fmla="val 7692"/>
            </a:avLst>
          </a:prstGeom>
          <a:solidFill>
            <a:srgbClr val="F4B400"/>
          </a:solidFill>
          <a:ln w="12700">
            <a:solidFill>
              <a:srgbClr val="F4B400">
                <a:alpha val="0"/>
              </a:srgbClr>
            </a:solidFill>
            <a:prstDash val="solid"/>
          </a:ln>
        </p:spPr>
      </p:sp>
      <p:sp>
        <p:nvSpPr>
          <p:cNvPr id="15" name="Text 13"/>
          <p:cNvSpPr/>
          <p:nvPr/>
        </p:nvSpPr>
        <p:spPr>
          <a:xfrm>
            <a:off x="7342632" y="2002536"/>
            <a:ext cx="1499616"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tabulated vote</a:t>
            </a:r>
            <a:endParaRPr lang="en-US" sz="1100" dirty="0"/>
          </a:p>
        </p:txBody>
      </p:sp>
      <p:sp>
        <p:nvSpPr>
          <p:cNvPr id="16" name="Shape 14"/>
          <p:cNvSpPr/>
          <p:nvPr/>
        </p:nvSpPr>
        <p:spPr>
          <a:xfrm>
            <a:off x="8988552" y="2057400"/>
            <a:ext cx="356616" cy="256032"/>
          </a:xfrm>
          <a:prstGeom prst="chevron">
            <a:avLst/>
          </a:prstGeom>
          <a:solidFill>
            <a:srgbClr val="CBD2D9"/>
          </a:solidFill>
          <a:ln w="12700">
            <a:solidFill>
              <a:srgbClr val="CBD2D9">
                <a:alpha val="0"/>
              </a:srgbClr>
            </a:solidFill>
            <a:prstDash val="solid"/>
          </a:ln>
        </p:spPr>
      </p:sp>
      <p:sp>
        <p:nvSpPr>
          <p:cNvPr id="17" name="Shape 15"/>
          <p:cNvSpPr/>
          <p:nvPr/>
        </p:nvSpPr>
        <p:spPr>
          <a:xfrm>
            <a:off x="9418320" y="1828800"/>
            <a:ext cx="1645920" cy="713232"/>
          </a:xfrm>
          <a:prstGeom prst="roundRect">
            <a:avLst>
              <a:gd name="adj" fmla="val 7692"/>
            </a:avLst>
          </a:prstGeom>
          <a:solidFill>
            <a:srgbClr val="FF6B6B"/>
          </a:solidFill>
          <a:ln w="12700">
            <a:solidFill>
              <a:srgbClr val="FF6B6B">
                <a:alpha val="0"/>
              </a:srgbClr>
            </a:solidFill>
            <a:prstDash val="solid"/>
          </a:ln>
        </p:spPr>
      </p:sp>
      <p:sp>
        <p:nvSpPr>
          <p:cNvPr id="18" name="Text 16"/>
          <p:cNvSpPr/>
          <p:nvPr/>
        </p:nvSpPr>
        <p:spPr>
          <a:xfrm>
            <a:off x="9491472" y="2002536"/>
            <a:ext cx="1499616"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training label</a:t>
            </a:r>
            <a:endParaRPr lang="en-US" sz="1100" dirty="0"/>
          </a:p>
        </p:txBody>
      </p:sp>
      <p:sp>
        <p:nvSpPr>
          <p:cNvPr id="19" name="Shape 17"/>
          <p:cNvSpPr/>
          <p:nvPr/>
        </p:nvSpPr>
        <p:spPr>
          <a:xfrm>
            <a:off x="1920240" y="3794760"/>
            <a:ext cx="8321040" cy="777240"/>
          </a:xfrm>
          <a:prstGeom prst="roundRect">
            <a:avLst>
              <a:gd name="adj" fmla="val 9412"/>
            </a:avLst>
          </a:prstGeom>
          <a:solidFill>
            <a:srgbClr val="FFF7E6"/>
          </a:solidFill>
          <a:ln w="12700">
            <a:solidFill>
              <a:srgbClr val="FFE0A3"/>
            </a:solidFill>
            <a:prstDash val="solid"/>
          </a:ln>
        </p:spPr>
      </p:sp>
      <p:sp>
        <p:nvSpPr>
          <p:cNvPr id="20" name="Text 18"/>
          <p:cNvSpPr/>
          <p:nvPr/>
        </p:nvSpPr>
        <p:spPr>
          <a:xfrm>
            <a:off x="2286000" y="4069080"/>
            <a:ext cx="7589520" cy="182880"/>
          </a:xfrm>
          <a:prstGeom prst="rect">
            <a:avLst/>
          </a:prstGeom>
          <a:noFill/>
          <a:ln/>
        </p:spPr>
        <p:txBody>
          <a:bodyPr wrap="square" lIns="381" tIns="381" rIns="381" bIns="381" rtlCol="0" anchor="ctr">
            <a:normAutofit/>
          </a:bodyPr>
          <a:lstStyle/>
          <a:p>
            <a:pPr algn="ctr" indent="0" marL="0">
              <a:buNone/>
            </a:pPr>
            <a:r>
              <a:rPr lang="en-US" sz="1350" b="1" dirty="0">
                <a:solidFill>
                  <a:srgbClr val="102A43"/>
                </a:solidFill>
                <a:latin typeface="Arial" pitchFamily="34" charset="0"/>
                <a:ea typeface="Arial" pitchFamily="34" charset="-122"/>
                <a:cs typeface="Arial" pitchFamily="34" charset="-120"/>
              </a:rPr>
              <a:t>The scientific object shifts from “what the actor produced” to “what raters perceived under a modality condition.”</a:t>
            </a:r>
            <a:endParaRPr lang="en-US" sz="1350" dirty="0"/>
          </a:p>
        </p:txBody>
      </p:sp>
      <p:sp>
        <p:nvSpPr>
          <p:cNvPr id="21" name="Text 19"/>
          <p:cNvSpPr/>
          <p:nvPr/>
        </p:nvSpPr>
        <p:spPr>
          <a:xfrm>
            <a:off x="2194560" y="5029200"/>
            <a:ext cx="8046720" cy="731520"/>
          </a:xfrm>
          <a:prstGeom prst="rect">
            <a:avLst/>
          </a:prstGeom>
          <a:noFill/>
          <a:ln/>
        </p:spPr>
        <p:txBody>
          <a:bodyPr wrap="square" lIns="381" tIns="381" rIns="381" bIns="381" rtlCol="0" anchor="t">
            <a:normAutofit/>
          </a:bodyPr>
          <a:lstStyle/>
          <a:p>
            <a:pPr indent="0" marL="0">
              <a:buNone/>
            </a:pPr>
            <a:r>
              <a:rPr lang="en-US" sz="1380" b="1" dirty="0">
                <a:solidFill>
                  <a:srgbClr val="00A8A8"/>
                </a:solidFill>
                <a:latin typeface="Arial" pitchFamily="34" charset="0"/>
                <a:ea typeface="Arial" pitchFamily="34" charset="-122"/>
                <a:cs typeface="Arial" pitchFamily="34" charset="-120"/>
              </a:rPr>
              <a:t>● </a:t>
            </a:r>
            <a:pPr indent="0" marL="0">
              <a:buNone/>
            </a:pPr>
            <a:r>
              <a:rPr lang="en-US" sz="1380" dirty="0">
                <a:solidFill>
                  <a:srgbClr val="17202A"/>
                </a:solidFill>
                <a:latin typeface="Arial" pitchFamily="34" charset="0"/>
                <a:ea typeface="Arial" pitchFamily="34" charset="-122"/>
                <a:cs typeface="Arial" pitchFamily="34" charset="-120"/>
              </a:rPr>
              <a:t>Desired emotion is useful for construction.</a:t>
            </a:r>
            <a:pPr indent="0" marL="0">
              <a:buNone/>
            </a:pPr>
            <a:r>
              <a:rPr lang="en-US" sz="1380" dirty="0">
                <a:solidFill>
                  <a:srgbClr val="000000"/>
                </a:solidFill>
                <a:latin typeface="Arial" pitchFamily="34" charset="0"/>
                <a:ea typeface="Arial" pitchFamily="34" charset="-122"/>
                <a:cs typeface="Arial" pitchFamily="34" charset="-120"/>
              </a:rPr>
              <a:t>
</a:t>
            </a:r>
            <a:pPr indent="0" marL="0">
              <a:buNone/>
            </a:pPr>
            <a:r>
              <a:rPr lang="en-US" sz="1380" b="1" dirty="0">
                <a:solidFill>
                  <a:srgbClr val="00A8A8"/>
                </a:solidFill>
                <a:latin typeface="Arial" pitchFamily="34" charset="0"/>
                <a:ea typeface="Arial" pitchFamily="34" charset="-122"/>
                <a:cs typeface="Arial" pitchFamily="34" charset="-120"/>
              </a:rPr>
              <a:t>● </a:t>
            </a:r>
            <a:pPr indent="0" marL="0">
              <a:buNone/>
            </a:pPr>
            <a:r>
              <a:rPr lang="en-US" sz="1380" dirty="0">
                <a:solidFill>
                  <a:srgbClr val="17202A"/>
                </a:solidFill>
                <a:latin typeface="Arial" pitchFamily="34" charset="0"/>
                <a:ea typeface="Arial" pitchFamily="34" charset="-122"/>
                <a:cs typeface="Arial" pitchFamily="34" charset="-120"/>
              </a:rPr>
              <a:t>Majority vote is useful for perception-grounded modeling.</a:t>
            </a:r>
            <a:pPr indent="0" marL="0">
              <a:buNone/>
            </a:pPr>
            <a:r>
              <a:rPr lang="en-US" sz="1380" dirty="0">
                <a:solidFill>
                  <a:srgbClr val="000000"/>
                </a:solidFill>
                <a:latin typeface="Arial" pitchFamily="34" charset="0"/>
                <a:ea typeface="Arial" pitchFamily="34" charset="-122"/>
                <a:cs typeface="Arial" pitchFamily="34" charset="-120"/>
              </a:rPr>
              <a:t>
</a:t>
            </a:r>
            <a:pPr indent="0" marL="0">
              <a:buNone/>
            </a:pPr>
            <a:r>
              <a:rPr lang="en-US" sz="1380" b="1" dirty="0">
                <a:solidFill>
                  <a:srgbClr val="00A8A8"/>
                </a:solidFill>
                <a:latin typeface="Arial" pitchFamily="34" charset="0"/>
                <a:ea typeface="Arial" pitchFamily="34" charset="-122"/>
                <a:cs typeface="Arial" pitchFamily="34" charset="-120"/>
              </a:rPr>
              <a:t>● </a:t>
            </a:r>
            <a:pPr indent="0" marL="0">
              <a:buNone/>
            </a:pPr>
            <a:r>
              <a:rPr lang="en-US" sz="1380" dirty="0">
                <a:solidFill>
                  <a:srgbClr val="17202A"/>
                </a:solidFill>
                <a:latin typeface="Arial" pitchFamily="34" charset="0"/>
                <a:ea typeface="Arial" pitchFamily="34" charset="-122"/>
                <a:cs typeface="Arial" pitchFamily="34" charset="-120"/>
              </a:rPr>
              <a:t>Disagreement is useful for uncertainty-aware modeling.</a:t>
            </a:r>
            <a:endParaRPr lang="en-US" sz="1380" dirty="0"/>
          </a:p>
        </p:txBody>
      </p:sp>
      <p:sp>
        <p:nvSpPr>
          <p:cNvPr id="22" name="Text 20"/>
          <p:cNvSpPr/>
          <p:nvPr/>
        </p:nvSpPr>
        <p:spPr>
          <a:xfrm>
            <a:off x="502920" y="6473952"/>
            <a:ext cx="9144000" cy="164592"/>
          </a:xfrm>
          <a:prstGeom prst="rect">
            <a:avLst/>
          </a:prstGeom>
          <a:noFill/>
          <a:ln/>
        </p:spPr>
        <p:txBody>
          <a:bodyPr wrap="square" lIns="0" tIns="0" rIns="0" bIns="0" rtlCol="0" anchor="ctr"/>
          <a:lstStyle/>
          <a:p>
            <a:pPr indent="0" marL="0">
              <a:buNone/>
            </a:pPr>
            <a:r>
              <a:rPr lang="en-US" sz="750" dirty="0">
                <a:solidFill>
                  <a:srgbClr val="7B8794"/>
                </a:solidFill>
                <a:latin typeface="Arial" pitchFamily="34" charset="0"/>
                <a:ea typeface="Arial" pitchFamily="34" charset="-122"/>
                <a:cs typeface="Arial" pitchFamily="34" charset="-120"/>
              </a:rPr>
              <a:t>CREMA-D seminar | intended vs perceived</a:t>
            </a:r>
            <a:endParaRPr lang="en-US" sz="750" dirty="0"/>
          </a:p>
        </p:txBody>
      </p:sp>
      <p:sp>
        <p:nvSpPr>
          <p:cNvPr id="23" name="Text 21"/>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50" dirty="0">
                <a:solidFill>
                  <a:srgbClr val="7B8794"/>
                </a:solidFill>
                <a:latin typeface="Arial" pitchFamily="34" charset="0"/>
                <a:ea typeface="Arial" pitchFamily="34" charset="-122"/>
                <a:cs typeface="Arial" pitchFamily="34" charset="-120"/>
              </a:rPr>
              <a:t>10</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4114800" cy="201168"/>
          </a:xfrm>
          <a:prstGeom prst="rect">
            <a:avLst/>
          </a:prstGeom>
          <a:noFill/>
          <a:ln/>
        </p:spPr>
        <p:txBody>
          <a:bodyPr wrap="square" lIns="0" tIns="0" rIns="0" bIns="0" rtlCol="0" anchor="ctr"/>
          <a:lstStyle/>
          <a:p>
            <a:pPr indent="0" marL="0">
              <a:buNone/>
            </a:pPr>
            <a:r>
              <a:rPr lang="en-US" sz="850" b="1" dirty="0">
                <a:solidFill>
                  <a:srgbClr val="00A8A8"/>
                </a:solidFill>
                <a:latin typeface="Arial" pitchFamily="34" charset="0"/>
                <a:ea typeface="Arial" pitchFamily="34" charset="-122"/>
                <a:cs typeface="Arial" pitchFamily="34" charset="-120"/>
              </a:rPr>
              <a:t>MEASUREMENT</a:t>
            </a:r>
            <a:endParaRPr lang="en-US" sz="850" dirty="0"/>
          </a:p>
        </p:txBody>
      </p:sp>
      <p:sp>
        <p:nvSpPr>
          <p:cNvPr id="3" name="Text 1"/>
          <p:cNvSpPr/>
          <p:nvPr/>
        </p:nvSpPr>
        <p:spPr>
          <a:xfrm>
            <a:off x="502920" y="502920"/>
            <a:ext cx="11155680" cy="502920"/>
          </a:xfrm>
          <a:prstGeom prst="rect">
            <a:avLst/>
          </a:prstGeom>
          <a:noFill/>
          <a:ln/>
        </p:spPr>
        <p:txBody>
          <a:bodyPr wrap="square" lIns="0" tIns="0" rIns="0" bIns="0" rtlCol="0" anchor="ctr">
            <a:normAutofit/>
          </a:bodyPr>
          <a:lstStyle/>
          <a:p>
            <a:pPr indent="0" marL="0">
              <a:buNone/>
            </a:pPr>
            <a:r>
              <a:rPr lang="en-US" sz="3000" b="1" dirty="0">
                <a:solidFill>
                  <a:srgbClr val="102A43"/>
                </a:solidFill>
                <a:latin typeface="Arial" pitchFamily="34" charset="0"/>
                <a:ea typeface="Arial" pitchFamily="34" charset="-122"/>
                <a:cs typeface="Arial" pitchFamily="34" charset="-120"/>
              </a:rPr>
              <a:t>Agreement should be treated as a distribution</a:t>
            </a:r>
            <a:endParaRPr lang="en-US" sz="3000" dirty="0"/>
          </a:p>
        </p:txBody>
      </p:sp>
      <p:sp>
        <p:nvSpPr>
          <p:cNvPr id="4" name="Shape 2"/>
          <p:cNvSpPr/>
          <p:nvPr/>
        </p:nvSpPr>
        <p:spPr>
          <a:xfrm>
            <a:off x="502920" y="1078992"/>
            <a:ext cx="11155680" cy="0"/>
          </a:xfrm>
          <a:prstGeom prst="line">
            <a:avLst/>
          </a:prstGeom>
          <a:noFill/>
          <a:ln w="7620">
            <a:solidFill>
              <a:srgbClr val="CBD2D9"/>
            </a:solidFill>
            <a:prstDash val="solid"/>
          </a:ln>
        </p:spPr>
      </p:sp>
      <p:sp>
        <p:nvSpPr>
          <p:cNvPr id="5" name="Shape 3"/>
          <p:cNvSpPr/>
          <p:nvPr/>
        </p:nvSpPr>
        <p:spPr>
          <a:xfrm>
            <a:off x="1280160" y="1554480"/>
            <a:ext cx="640080" cy="2011680"/>
          </a:xfrm>
          <a:prstGeom prst="rect">
            <a:avLst/>
          </a:prstGeom>
          <a:solidFill>
            <a:srgbClr val="FF6B6B"/>
          </a:solidFill>
          <a:ln w="12700">
            <a:solidFill>
              <a:srgbClr val="FF6B6B">
                <a:alpha val="0"/>
              </a:srgbClr>
            </a:solidFill>
            <a:prstDash val="solid"/>
          </a:ln>
        </p:spPr>
      </p:sp>
      <p:sp>
        <p:nvSpPr>
          <p:cNvPr id="6" name="Text 4"/>
          <p:cNvSpPr/>
          <p:nvPr/>
        </p:nvSpPr>
        <p:spPr>
          <a:xfrm>
            <a:off x="1280160" y="1353312"/>
            <a:ext cx="640080" cy="146304"/>
          </a:xfrm>
          <a:prstGeom prst="rect">
            <a:avLst/>
          </a:prstGeom>
          <a:noFill/>
          <a:ln/>
        </p:spPr>
        <p:txBody>
          <a:bodyPr wrap="square" lIns="0" tIns="0" rIns="0" bIns="0" rtlCol="0" anchor="ctr"/>
          <a:lstStyle/>
          <a:p>
            <a:pPr algn="ctr" indent="0" marL="0">
              <a:buNone/>
            </a:pPr>
            <a:r>
              <a:rPr lang="en-US" sz="850" dirty="0">
                <a:solidFill>
                  <a:srgbClr val="3E4C59"/>
                </a:solidFill>
                <a:latin typeface="Arial" pitchFamily="34" charset="0"/>
                <a:ea typeface="Arial" pitchFamily="34" charset="-122"/>
                <a:cs typeface="Arial" pitchFamily="34" charset="-120"/>
              </a:rPr>
              <a:t>5</a:t>
            </a:r>
            <a:endParaRPr lang="en-US" sz="850" dirty="0"/>
          </a:p>
        </p:txBody>
      </p:sp>
      <p:sp>
        <p:nvSpPr>
          <p:cNvPr id="7" name="Text 5"/>
          <p:cNvSpPr/>
          <p:nvPr/>
        </p:nvSpPr>
        <p:spPr>
          <a:xfrm>
            <a:off x="1280160" y="3630168"/>
            <a:ext cx="640080" cy="201168"/>
          </a:xfrm>
          <a:prstGeom prst="rect">
            <a:avLst/>
          </a:prstGeom>
          <a:noFill/>
          <a:ln/>
        </p:spPr>
        <p:txBody>
          <a:bodyPr wrap="square" lIns="0" tIns="0" rIns="0" bIns="0" rtlCol="0" anchor="ctr">
            <a:normAutofit/>
          </a:bodyPr>
          <a:lstStyle/>
          <a:p>
            <a:pPr algn="ctr" indent="0" marL="0">
              <a:buNone/>
            </a:pPr>
            <a:r>
              <a:rPr lang="en-US" sz="720" dirty="0">
                <a:solidFill>
                  <a:srgbClr val="3E4C59"/>
                </a:solidFill>
                <a:latin typeface="Arial" pitchFamily="34" charset="0"/>
                <a:ea typeface="Arial" pitchFamily="34" charset="-122"/>
                <a:cs typeface="Arial" pitchFamily="34" charset="-120"/>
              </a:rPr>
              <a:t>A</a:t>
            </a:r>
            <a:endParaRPr lang="en-US" sz="720" dirty="0"/>
          </a:p>
        </p:txBody>
      </p:sp>
      <p:sp>
        <p:nvSpPr>
          <p:cNvPr id="8" name="Shape 6"/>
          <p:cNvSpPr/>
          <p:nvPr/>
        </p:nvSpPr>
        <p:spPr>
          <a:xfrm>
            <a:off x="1993392" y="3566160"/>
            <a:ext cx="640080" cy="0"/>
          </a:xfrm>
          <a:prstGeom prst="rect">
            <a:avLst/>
          </a:prstGeom>
          <a:solidFill>
            <a:srgbClr val="42B883"/>
          </a:solidFill>
          <a:ln w="12700">
            <a:solidFill>
              <a:srgbClr val="42B883">
                <a:alpha val="0"/>
              </a:srgbClr>
            </a:solidFill>
            <a:prstDash val="solid"/>
          </a:ln>
        </p:spPr>
      </p:sp>
      <p:sp>
        <p:nvSpPr>
          <p:cNvPr id="9" name="Text 7"/>
          <p:cNvSpPr/>
          <p:nvPr/>
        </p:nvSpPr>
        <p:spPr>
          <a:xfrm>
            <a:off x="1993392" y="3364992"/>
            <a:ext cx="640080" cy="146304"/>
          </a:xfrm>
          <a:prstGeom prst="rect">
            <a:avLst/>
          </a:prstGeom>
          <a:noFill/>
          <a:ln/>
        </p:spPr>
        <p:txBody>
          <a:bodyPr wrap="square" lIns="0" tIns="0" rIns="0" bIns="0" rtlCol="0" anchor="ctr"/>
          <a:lstStyle/>
          <a:p>
            <a:pPr algn="ctr" indent="0" marL="0">
              <a:buNone/>
            </a:pPr>
            <a:r>
              <a:rPr lang="en-US" sz="850" dirty="0">
                <a:solidFill>
                  <a:srgbClr val="3E4C59"/>
                </a:solidFill>
                <a:latin typeface="Arial" pitchFamily="34" charset="0"/>
                <a:ea typeface="Arial" pitchFamily="34" charset="-122"/>
                <a:cs typeface="Arial" pitchFamily="34" charset="-120"/>
              </a:rPr>
              <a:t>0</a:t>
            </a:r>
            <a:endParaRPr lang="en-US" sz="850" dirty="0"/>
          </a:p>
        </p:txBody>
      </p:sp>
      <p:sp>
        <p:nvSpPr>
          <p:cNvPr id="10" name="Text 8"/>
          <p:cNvSpPr/>
          <p:nvPr/>
        </p:nvSpPr>
        <p:spPr>
          <a:xfrm>
            <a:off x="1993392" y="3630168"/>
            <a:ext cx="640080" cy="201168"/>
          </a:xfrm>
          <a:prstGeom prst="rect">
            <a:avLst/>
          </a:prstGeom>
          <a:noFill/>
          <a:ln/>
        </p:spPr>
        <p:txBody>
          <a:bodyPr wrap="square" lIns="0" tIns="0" rIns="0" bIns="0" rtlCol="0" anchor="ctr">
            <a:normAutofit/>
          </a:bodyPr>
          <a:lstStyle/>
          <a:p>
            <a:pPr algn="ctr" indent="0" marL="0">
              <a:buNone/>
            </a:pPr>
            <a:r>
              <a:rPr lang="en-US" sz="720" dirty="0">
                <a:solidFill>
                  <a:srgbClr val="3E4C59"/>
                </a:solidFill>
                <a:latin typeface="Arial" pitchFamily="34" charset="0"/>
                <a:ea typeface="Arial" pitchFamily="34" charset="-122"/>
                <a:cs typeface="Arial" pitchFamily="34" charset="-120"/>
              </a:rPr>
              <a:t>D</a:t>
            </a:r>
            <a:endParaRPr lang="en-US" sz="720" dirty="0"/>
          </a:p>
        </p:txBody>
      </p:sp>
      <p:sp>
        <p:nvSpPr>
          <p:cNvPr id="11" name="Shape 9"/>
          <p:cNvSpPr/>
          <p:nvPr/>
        </p:nvSpPr>
        <p:spPr>
          <a:xfrm>
            <a:off x="2706624" y="3163824"/>
            <a:ext cx="640080" cy="402336"/>
          </a:xfrm>
          <a:prstGeom prst="rect">
            <a:avLst/>
          </a:prstGeom>
          <a:solidFill>
            <a:srgbClr val="7C3AED"/>
          </a:solidFill>
          <a:ln w="12700">
            <a:solidFill>
              <a:srgbClr val="7C3AED">
                <a:alpha val="0"/>
              </a:srgbClr>
            </a:solidFill>
            <a:prstDash val="solid"/>
          </a:ln>
        </p:spPr>
      </p:sp>
      <p:sp>
        <p:nvSpPr>
          <p:cNvPr id="12" name="Text 10"/>
          <p:cNvSpPr/>
          <p:nvPr/>
        </p:nvSpPr>
        <p:spPr>
          <a:xfrm>
            <a:off x="2706624" y="2962656"/>
            <a:ext cx="640080" cy="146304"/>
          </a:xfrm>
          <a:prstGeom prst="rect">
            <a:avLst/>
          </a:prstGeom>
          <a:noFill/>
          <a:ln/>
        </p:spPr>
        <p:txBody>
          <a:bodyPr wrap="square" lIns="0" tIns="0" rIns="0" bIns="0" rtlCol="0" anchor="ctr"/>
          <a:lstStyle/>
          <a:p>
            <a:pPr algn="ctr" indent="0" marL="0">
              <a:buNone/>
            </a:pPr>
            <a:r>
              <a:rPr lang="en-US" sz="850" dirty="0">
                <a:solidFill>
                  <a:srgbClr val="3E4C59"/>
                </a:solidFill>
                <a:latin typeface="Arial" pitchFamily="34" charset="0"/>
                <a:ea typeface="Arial" pitchFamily="34" charset="-122"/>
                <a:cs typeface="Arial" pitchFamily="34" charset="-120"/>
              </a:rPr>
              <a:t>1</a:t>
            </a:r>
            <a:endParaRPr lang="en-US" sz="850" dirty="0"/>
          </a:p>
        </p:txBody>
      </p:sp>
      <p:sp>
        <p:nvSpPr>
          <p:cNvPr id="13" name="Text 11"/>
          <p:cNvSpPr/>
          <p:nvPr/>
        </p:nvSpPr>
        <p:spPr>
          <a:xfrm>
            <a:off x="2706624" y="3630168"/>
            <a:ext cx="640080" cy="201168"/>
          </a:xfrm>
          <a:prstGeom prst="rect">
            <a:avLst/>
          </a:prstGeom>
          <a:noFill/>
          <a:ln/>
        </p:spPr>
        <p:txBody>
          <a:bodyPr wrap="square" lIns="0" tIns="0" rIns="0" bIns="0" rtlCol="0" anchor="ctr">
            <a:normAutofit/>
          </a:bodyPr>
          <a:lstStyle/>
          <a:p>
            <a:pPr algn="ctr" indent="0" marL="0">
              <a:buNone/>
            </a:pPr>
            <a:r>
              <a:rPr lang="en-US" sz="720" dirty="0">
                <a:solidFill>
                  <a:srgbClr val="3E4C59"/>
                </a:solidFill>
                <a:latin typeface="Arial" pitchFamily="34" charset="0"/>
                <a:ea typeface="Arial" pitchFamily="34" charset="-122"/>
                <a:cs typeface="Arial" pitchFamily="34" charset="-120"/>
              </a:rPr>
              <a:t>F</a:t>
            </a:r>
            <a:endParaRPr lang="en-US" sz="720" dirty="0"/>
          </a:p>
        </p:txBody>
      </p:sp>
      <p:sp>
        <p:nvSpPr>
          <p:cNvPr id="14" name="Shape 12"/>
          <p:cNvSpPr/>
          <p:nvPr/>
        </p:nvSpPr>
        <p:spPr>
          <a:xfrm>
            <a:off x="3419856" y="3566160"/>
            <a:ext cx="640080" cy="0"/>
          </a:xfrm>
          <a:prstGeom prst="rect">
            <a:avLst/>
          </a:prstGeom>
          <a:solidFill>
            <a:srgbClr val="00A8A8"/>
          </a:solidFill>
          <a:ln w="12700">
            <a:solidFill>
              <a:srgbClr val="00A8A8">
                <a:alpha val="0"/>
              </a:srgbClr>
            </a:solidFill>
            <a:prstDash val="solid"/>
          </a:ln>
        </p:spPr>
      </p:sp>
      <p:sp>
        <p:nvSpPr>
          <p:cNvPr id="15" name="Text 13"/>
          <p:cNvSpPr/>
          <p:nvPr/>
        </p:nvSpPr>
        <p:spPr>
          <a:xfrm>
            <a:off x="3419856" y="3364992"/>
            <a:ext cx="640080" cy="146304"/>
          </a:xfrm>
          <a:prstGeom prst="rect">
            <a:avLst/>
          </a:prstGeom>
          <a:noFill/>
          <a:ln/>
        </p:spPr>
        <p:txBody>
          <a:bodyPr wrap="square" lIns="0" tIns="0" rIns="0" bIns="0" rtlCol="0" anchor="ctr"/>
          <a:lstStyle/>
          <a:p>
            <a:pPr algn="ctr" indent="0" marL="0">
              <a:buNone/>
            </a:pPr>
            <a:r>
              <a:rPr lang="en-US" sz="850" dirty="0">
                <a:solidFill>
                  <a:srgbClr val="3E4C59"/>
                </a:solidFill>
                <a:latin typeface="Arial" pitchFamily="34" charset="0"/>
                <a:ea typeface="Arial" pitchFamily="34" charset="-122"/>
                <a:cs typeface="Arial" pitchFamily="34" charset="-120"/>
              </a:rPr>
              <a:t>0</a:t>
            </a:r>
            <a:endParaRPr lang="en-US" sz="850" dirty="0"/>
          </a:p>
        </p:txBody>
      </p:sp>
      <p:sp>
        <p:nvSpPr>
          <p:cNvPr id="16" name="Text 14"/>
          <p:cNvSpPr/>
          <p:nvPr/>
        </p:nvSpPr>
        <p:spPr>
          <a:xfrm>
            <a:off x="3419856" y="3630168"/>
            <a:ext cx="640080" cy="201168"/>
          </a:xfrm>
          <a:prstGeom prst="rect">
            <a:avLst/>
          </a:prstGeom>
          <a:noFill/>
          <a:ln/>
        </p:spPr>
        <p:txBody>
          <a:bodyPr wrap="square" lIns="0" tIns="0" rIns="0" bIns="0" rtlCol="0" anchor="ctr">
            <a:normAutofit/>
          </a:bodyPr>
          <a:lstStyle/>
          <a:p>
            <a:pPr algn="ctr" indent="0" marL="0">
              <a:buNone/>
            </a:pPr>
            <a:r>
              <a:rPr lang="en-US" sz="720" dirty="0">
                <a:solidFill>
                  <a:srgbClr val="3E4C59"/>
                </a:solidFill>
                <a:latin typeface="Arial" pitchFamily="34" charset="0"/>
                <a:ea typeface="Arial" pitchFamily="34" charset="-122"/>
                <a:cs typeface="Arial" pitchFamily="34" charset="-120"/>
              </a:rPr>
              <a:t>H</a:t>
            </a:r>
            <a:endParaRPr lang="en-US" sz="720" dirty="0"/>
          </a:p>
        </p:txBody>
      </p:sp>
      <p:sp>
        <p:nvSpPr>
          <p:cNvPr id="17" name="Shape 15"/>
          <p:cNvSpPr/>
          <p:nvPr/>
        </p:nvSpPr>
        <p:spPr>
          <a:xfrm>
            <a:off x="4133088" y="2761488"/>
            <a:ext cx="640080" cy="804672"/>
          </a:xfrm>
          <a:prstGeom prst="rect">
            <a:avLst/>
          </a:prstGeom>
          <a:solidFill>
            <a:srgbClr val="3E4C59"/>
          </a:solidFill>
          <a:ln w="12700">
            <a:solidFill>
              <a:srgbClr val="3E4C59">
                <a:alpha val="0"/>
              </a:srgbClr>
            </a:solidFill>
            <a:prstDash val="solid"/>
          </a:ln>
        </p:spPr>
      </p:sp>
      <p:sp>
        <p:nvSpPr>
          <p:cNvPr id="18" name="Text 16"/>
          <p:cNvSpPr/>
          <p:nvPr/>
        </p:nvSpPr>
        <p:spPr>
          <a:xfrm>
            <a:off x="4133088" y="2560320"/>
            <a:ext cx="640080" cy="146304"/>
          </a:xfrm>
          <a:prstGeom prst="rect">
            <a:avLst/>
          </a:prstGeom>
          <a:noFill/>
          <a:ln/>
        </p:spPr>
        <p:txBody>
          <a:bodyPr wrap="square" lIns="0" tIns="0" rIns="0" bIns="0" rtlCol="0" anchor="ctr"/>
          <a:lstStyle/>
          <a:p>
            <a:pPr algn="ctr" indent="0" marL="0">
              <a:buNone/>
            </a:pPr>
            <a:r>
              <a:rPr lang="en-US" sz="850" dirty="0">
                <a:solidFill>
                  <a:srgbClr val="3E4C59"/>
                </a:solidFill>
                <a:latin typeface="Arial" pitchFamily="34" charset="0"/>
                <a:ea typeface="Arial" pitchFamily="34" charset="-122"/>
                <a:cs typeface="Arial" pitchFamily="34" charset="-120"/>
              </a:rPr>
              <a:t>2</a:t>
            </a:r>
            <a:endParaRPr lang="en-US" sz="850" dirty="0"/>
          </a:p>
        </p:txBody>
      </p:sp>
      <p:sp>
        <p:nvSpPr>
          <p:cNvPr id="19" name="Text 17"/>
          <p:cNvSpPr/>
          <p:nvPr/>
        </p:nvSpPr>
        <p:spPr>
          <a:xfrm>
            <a:off x="4133088" y="3630168"/>
            <a:ext cx="640080" cy="201168"/>
          </a:xfrm>
          <a:prstGeom prst="rect">
            <a:avLst/>
          </a:prstGeom>
          <a:noFill/>
          <a:ln/>
        </p:spPr>
        <p:txBody>
          <a:bodyPr wrap="square" lIns="0" tIns="0" rIns="0" bIns="0" rtlCol="0" anchor="ctr">
            <a:normAutofit/>
          </a:bodyPr>
          <a:lstStyle/>
          <a:p>
            <a:pPr algn="ctr" indent="0" marL="0">
              <a:buNone/>
            </a:pPr>
            <a:r>
              <a:rPr lang="en-US" sz="720" dirty="0">
                <a:solidFill>
                  <a:srgbClr val="3E4C59"/>
                </a:solidFill>
                <a:latin typeface="Arial" pitchFamily="34" charset="0"/>
                <a:ea typeface="Arial" pitchFamily="34" charset="-122"/>
                <a:cs typeface="Arial" pitchFamily="34" charset="-120"/>
              </a:rPr>
              <a:t>N</a:t>
            </a:r>
            <a:endParaRPr lang="en-US" sz="720" dirty="0"/>
          </a:p>
        </p:txBody>
      </p:sp>
      <p:sp>
        <p:nvSpPr>
          <p:cNvPr id="20" name="Shape 18"/>
          <p:cNvSpPr/>
          <p:nvPr/>
        </p:nvSpPr>
        <p:spPr>
          <a:xfrm>
            <a:off x="4846320" y="3163824"/>
            <a:ext cx="640080" cy="402336"/>
          </a:xfrm>
          <a:prstGeom prst="rect">
            <a:avLst/>
          </a:prstGeom>
          <a:solidFill>
            <a:srgbClr val="1976D2"/>
          </a:solidFill>
          <a:ln w="12700">
            <a:solidFill>
              <a:srgbClr val="1976D2">
                <a:alpha val="0"/>
              </a:srgbClr>
            </a:solidFill>
            <a:prstDash val="solid"/>
          </a:ln>
        </p:spPr>
      </p:sp>
      <p:sp>
        <p:nvSpPr>
          <p:cNvPr id="21" name="Text 19"/>
          <p:cNvSpPr/>
          <p:nvPr/>
        </p:nvSpPr>
        <p:spPr>
          <a:xfrm>
            <a:off x="4846320" y="2962656"/>
            <a:ext cx="640080" cy="146304"/>
          </a:xfrm>
          <a:prstGeom prst="rect">
            <a:avLst/>
          </a:prstGeom>
          <a:noFill/>
          <a:ln/>
        </p:spPr>
        <p:txBody>
          <a:bodyPr wrap="square" lIns="0" tIns="0" rIns="0" bIns="0" rtlCol="0" anchor="ctr"/>
          <a:lstStyle/>
          <a:p>
            <a:pPr algn="ctr" indent="0" marL="0">
              <a:buNone/>
            </a:pPr>
            <a:r>
              <a:rPr lang="en-US" sz="850" dirty="0">
                <a:solidFill>
                  <a:srgbClr val="3E4C59"/>
                </a:solidFill>
                <a:latin typeface="Arial" pitchFamily="34" charset="0"/>
                <a:ea typeface="Arial" pitchFamily="34" charset="-122"/>
                <a:cs typeface="Arial" pitchFamily="34" charset="-120"/>
              </a:rPr>
              <a:t>1</a:t>
            </a:r>
            <a:endParaRPr lang="en-US" sz="850" dirty="0"/>
          </a:p>
        </p:txBody>
      </p:sp>
      <p:sp>
        <p:nvSpPr>
          <p:cNvPr id="22" name="Text 20"/>
          <p:cNvSpPr/>
          <p:nvPr/>
        </p:nvSpPr>
        <p:spPr>
          <a:xfrm>
            <a:off x="4846320" y="3630168"/>
            <a:ext cx="640080" cy="201168"/>
          </a:xfrm>
          <a:prstGeom prst="rect">
            <a:avLst/>
          </a:prstGeom>
          <a:noFill/>
          <a:ln/>
        </p:spPr>
        <p:txBody>
          <a:bodyPr wrap="square" lIns="0" tIns="0" rIns="0" bIns="0" rtlCol="0" anchor="ctr">
            <a:normAutofit/>
          </a:bodyPr>
          <a:lstStyle/>
          <a:p>
            <a:pPr algn="ctr" indent="0" marL="0">
              <a:buNone/>
            </a:pPr>
            <a:r>
              <a:rPr lang="en-US" sz="720" dirty="0">
                <a:solidFill>
                  <a:srgbClr val="3E4C59"/>
                </a:solidFill>
                <a:latin typeface="Arial" pitchFamily="34" charset="0"/>
                <a:ea typeface="Arial" pitchFamily="34" charset="-122"/>
                <a:cs typeface="Arial" pitchFamily="34" charset="-120"/>
              </a:rPr>
              <a:t>S</a:t>
            </a:r>
            <a:endParaRPr lang="en-US" sz="720" dirty="0"/>
          </a:p>
        </p:txBody>
      </p:sp>
      <p:sp>
        <p:nvSpPr>
          <p:cNvPr id="23" name="Shape 21"/>
          <p:cNvSpPr/>
          <p:nvPr/>
        </p:nvSpPr>
        <p:spPr>
          <a:xfrm>
            <a:off x="1280160" y="3566160"/>
            <a:ext cx="4206240" cy="0"/>
          </a:xfrm>
          <a:prstGeom prst="line">
            <a:avLst/>
          </a:prstGeom>
          <a:noFill/>
          <a:ln w="7620">
            <a:solidFill>
              <a:srgbClr val="CBD2D9"/>
            </a:solidFill>
            <a:prstDash val="solid"/>
          </a:ln>
        </p:spPr>
      </p:sp>
      <p:sp>
        <p:nvSpPr>
          <p:cNvPr id="24" name="Text 22"/>
          <p:cNvSpPr/>
          <p:nvPr/>
        </p:nvSpPr>
        <p:spPr>
          <a:xfrm>
            <a:off x="1280160" y="4160520"/>
            <a:ext cx="4206240" cy="219456"/>
          </a:xfrm>
          <a:prstGeom prst="rect">
            <a:avLst/>
          </a:prstGeom>
          <a:noFill/>
          <a:ln/>
        </p:spPr>
        <p:txBody>
          <a:bodyPr wrap="square" lIns="381" tIns="381" rIns="381" bIns="381" rtlCol="0" anchor="ctr">
            <a:normAutofit/>
          </a:bodyPr>
          <a:lstStyle/>
          <a:p>
            <a:pPr algn="ctr" indent="0" marL="0">
              <a:buNone/>
            </a:pPr>
            <a:r>
              <a:rPr lang="en-US" sz="1250" b="1" dirty="0">
                <a:solidFill>
                  <a:srgbClr val="3E4C59"/>
                </a:solidFill>
                <a:latin typeface="Arial" pitchFamily="34" charset="0"/>
                <a:ea typeface="Arial" pitchFamily="34" charset="-122"/>
                <a:cs typeface="Arial" pitchFamily="34" charset="-120"/>
              </a:rPr>
              <a:t>Example clip A: clear majority</a:t>
            </a:r>
            <a:endParaRPr lang="en-US" sz="1250" dirty="0"/>
          </a:p>
        </p:txBody>
      </p:sp>
      <p:sp>
        <p:nvSpPr>
          <p:cNvPr id="25" name="Shape 23"/>
          <p:cNvSpPr/>
          <p:nvPr/>
        </p:nvSpPr>
        <p:spPr>
          <a:xfrm>
            <a:off x="6675120" y="1554480"/>
            <a:ext cx="640080" cy="2011680"/>
          </a:xfrm>
          <a:prstGeom prst="rect">
            <a:avLst/>
          </a:prstGeom>
          <a:solidFill>
            <a:srgbClr val="FF6B6B"/>
          </a:solidFill>
          <a:ln w="12700">
            <a:solidFill>
              <a:srgbClr val="FF6B6B">
                <a:alpha val="0"/>
              </a:srgbClr>
            </a:solidFill>
            <a:prstDash val="solid"/>
          </a:ln>
        </p:spPr>
      </p:sp>
      <p:sp>
        <p:nvSpPr>
          <p:cNvPr id="26" name="Text 24"/>
          <p:cNvSpPr/>
          <p:nvPr/>
        </p:nvSpPr>
        <p:spPr>
          <a:xfrm>
            <a:off x="6675120" y="1353312"/>
            <a:ext cx="640080" cy="146304"/>
          </a:xfrm>
          <a:prstGeom prst="rect">
            <a:avLst/>
          </a:prstGeom>
          <a:noFill/>
          <a:ln/>
        </p:spPr>
        <p:txBody>
          <a:bodyPr wrap="square" lIns="0" tIns="0" rIns="0" bIns="0" rtlCol="0" anchor="ctr"/>
          <a:lstStyle/>
          <a:p>
            <a:pPr algn="ctr" indent="0" marL="0">
              <a:buNone/>
            </a:pPr>
            <a:r>
              <a:rPr lang="en-US" sz="850" dirty="0">
                <a:solidFill>
                  <a:srgbClr val="3E4C59"/>
                </a:solidFill>
                <a:latin typeface="Arial" pitchFamily="34" charset="0"/>
                <a:ea typeface="Arial" pitchFamily="34" charset="-122"/>
                <a:cs typeface="Arial" pitchFamily="34" charset="-120"/>
              </a:rPr>
              <a:t>2</a:t>
            </a:r>
            <a:endParaRPr lang="en-US" sz="850" dirty="0"/>
          </a:p>
        </p:txBody>
      </p:sp>
      <p:sp>
        <p:nvSpPr>
          <p:cNvPr id="27" name="Text 25"/>
          <p:cNvSpPr/>
          <p:nvPr/>
        </p:nvSpPr>
        <p:spPr>
          <a:xfrm>
            <a:off x="6675120" y="3630168"/>
            <a:ext cx="640080" cy="201168"/>
          </a:xfrm>
          <a:prstGeom prst="rect">
            <a:avLst/>
          </a:prstGeom>
          <a:noFill/>
          <a:ln/>
        </p:spPr>
        <p:txBody>
          <a:bodyPr wrap="square" lIns="0" tIns="0" rIns="0" bIns="0" rtlCol="0" anchor="ctr">
            <a:normAutofit/>
          </a:bodyPr>
          <a:lstStyle/>
          <a:p>
            <a:pPr algn="ctr" indent="0" marL="0">
              <a:buNone/>
            </a:pPr>
            <a:r>
              <a:rPr lang="en-US" sz="720" dirty="0">
                <a:solidFill>
                  <a:srgbClr val="3E4C59"/>
                </a:solidFill>
                <a:latin typeface="Arial" pitchFamily="34" charset="0"/>
                <a:ea typeface="Arial" pitchFamily="34" charset="-122"/>
                <a:cs typeface="Arial" pitchFamily="34" charset="-120"/>
              </a:rPr>
              <a:t>A</a:t>
            </a:r>
            <a:endParaRPr lang="en-US" sz="720" dirty="0"/>
          </a:p>
        </p:txBody>
      </p:sp>
      <p:sp>
        <p:nvSpPr>
          <p:cNvPr id="28" name="Shape 26"/>
          <p:cNvSpPr/>
          <p:nvPr/>
        </p:nvSpPr>
        <p:spPr>
          <a:xfrm>
            <a:off x="7388352" y="2560320"/>
            <a:ext cx="640080" cy="1005840"/>
          </a:xfrm>
          <a:prstGeom prst="rect">
            <a:avLst/>
          </a:prstGeom>
          <a:solidFill>
            <a:srgbClr val="42B883"/>
          </a:solidFill>
          <a:ln w="12700">
            <a:solidFill>
              <a:srgbClr val="42B883">
                <a:alpha val="0"/>
              </a:srgbClr>
            </a:solidFill>
            <a:prstDash val="solid"/>
          </a:ln>
        </p:spPr>
      </p:sp>
      <p:sp>
        <p:nvSpPr>
          <p:cNvPr id="29" name="Text 27"/>
          <p:cNvSpPr/>
          <p:nvPr/>
        </p:nvSpPr>
        <p:spPr>
          <a:xfrm>
            <a:off x="7388352" y="2359152"/>
            <a:ext cx="640080" cy="146304"/>
          </a:xfrm>
          <a:prstGeom prst="rect">
            <a:avLst/>
          </a:prstGeom>
          <a:noFill/>
          <a:ln/>
        </p:spPr>
        <p:txBody>
          <a:bodyPr wrap="square" lIns="0" tIns="0" rIns="0" bIns="0" rtlCol="0" anchor="ctr"/>
          <a:lstStyle/>
          <a:p>
            <a:pPr algn="ctr" indent="0" marL="0">
              <a:buNone/>
            </a:pPr>
            <a:r>
              <a:rPr lang="en-US" sz="850" dirty="0">
                <a:solidFill>
                  <a:srgbClr val="3E4C59"/>
                </a:solidFill>
                <a:latin typeface="Arial" pitchFamily="34" charset="0"/>
                <a:ea typeface="Arial" pitchFamily="34" charset="-122"/>
                <a:cs typeface="Arial" pitchFamily="34" charset="-120"/>
              </a:rPr>
              <a:t>1</a:t>
            </a:r>
            <a:endParaRPr lang="en-US" sz="850" dirty="0"/>
          </a:p>
        </p:txBody>
      </p:sp>
      <p:sp>
        <p:nvSpPr>
          <p:cNvPr id="30" name="Text 28"/>
          <p:cNvSpPr/>
          <p:nvPr/>
        </p:nvSpPr>
        <p:spPr>
          <a:xfrm>
            <a:off x="7388352" y="3630168"/>
            <a:ext cx="640080" cy="201168"/>
          </a:xfrm>
          <a:prstGeom prst="rect">
            <a:avLst/>
          </a:prstGeom>
          <a:noFill/>
          <a:ln/>
        </p:spPr>
        <p:txBody>
          <a:bodyPr wrap="square" lIns="0" tIns="0" rIns="0" bIns="0" rtlCol="0" anchor="ctr">
            <a:normAutofit/>
          </a:bodyPr>
          <a:lstStyle/>
          <a:p>
            <a:pPr algn="ctr" indent="0" marL="0">
              <a:buNone/>
            </a:pPr>
            <a:r>
              <a:rPr lang="en-US" sz="720" dirty="0">
                <a:solidFill>
                  <a:srgbClr val="3E4C59"/>
                </a:solidFill>
                <a:latin typeface="Arial" pitchFamily="34" charset="0"/>
                <a:ea typeface="Arial" pitchFamily="34" charset="-122"/>
                <a:cs typeface="Arial" pitchFamily="34" charset="-120"/>
              </a:rPr>
              <a:t>D</a:t>
            </a:r>
            <a:endParaRPr lang="en-US" sz="720" dirty="0"/>
          </a:p>
        </p:txBody>
      </p:sp>
      <p:sp>
        <p:nvSpPr>
          <p:cNvPr id="31" name="Shape 29"/>
          <p:cNvSpPr/>
          <p:nvPr/>
        </p:nvSpPr>
        <p:spPr>
          <a:xfrm>
            <a:off x="8101584" y="1554480"/>
            <a:ext cx="640080" cy="2011680"/>
          </a:xfrm>
          <a:prstGeom prst="rect">
            <a:avLst/>
          </a:prstGeom>
          <a:solidFill>
            <a:srgbClr val="7C3AED"/>
          </a:solidFill>
          <a:ln w="12700">
            <a:solidFill>
              <a:srgbClr val="7C3AED">
                <a:alpha val="0"/>
              </a:srgbClr>
            </a:solidFill>
            <a:prstDash val="solid"/>
          </a:ln>
        </p:spPr>
      </p:sp>
      <p:sp>
        <p:nvSpPr>
          <p:cNvPr id="32" name="Text 30"/>
          <p:cNvSpPr/>
          <p:nvPr/>
        </p:nvSpPr>
        <p:spPr>
          <a:xfrm>
            <a:off x="8101584" y="1353312"/>
            <a:ext cx="640080" cy="146304"/>
          </a:xfrm>
          <a:prstGeom prst="rect">
            <a:avLst/>
          </a:prstGeom>
          <a:noFill/>
          <a:ln/>
        </p:spPr>
        <p:txBody>
          <a:bodyPr wrap="square" lIns="0" tIns="0" rIns="0" bIns="0" rtlCol="0" anchor="ctr"/>
          <a:lstStyle/>
          <a:p>
            <a:pPr algn="ctr" indent="0" marL="0">
              <a:buNone/>
            </a:pPr>
            <a:r>
              <a:rPr lang="en-US" sz="850" dirty="0">
                <a:solidFill>
                  <a:srgbClr val="3E4C59"/>
                </a:solidFill>
                <a:latin typeface="Arial" pitchFamily="34" charset="0"/>
                <a:ea typeface="Arial" pitchFamily="34" charset="-122"/>
                <a:cs typeface="Arial" pitchFamily="34" charset="-120"/>
              </a:rPr>
              <a:t>2</a:t>
            </a:r>
            <a:endParaRPr lang="en-US" sz="850" dirty="0"/>
          </a:p>
        </p:txBody>
      </p:sp>
      <p:sp>
        <p:nvSpPr>
          <p:cNvPr id="33" name="Text 31"/>
          <p:cNvSpPr/>
          <p:nvPr/>
        </p:nvSpPr>
        <p:spPr>
          <a:xfrm>
            <a:off x="8101584" y="3630168"/>
            <a:ext cx="640080" cy="201168"/>
          </a:xfrm>
          <a:prstGeom prst="rect">
            <a:avLst/>
          </a:prstGeom>
          <a:noFill/>
          <a:ln/>
        </p:spPr>
        <p:txBody>
          <a:bodyPr wrap="square" lIns="0" tIns="0" rIns="0" bIns="0" rtlCol="0" anchor="ctr">
            <a:normAutofit/>
          </a:bodyPr>
          <a:lstStyle/>
          <a:p>
            <a:pPr algn="ctr" indent="0" marL="0">
              <a:buNone/>
            </a:pPr>
            <a:r>
              <a:rPr lang="en-US" sz="720" dirty="0">
                <a:solidFill>
                  <a:srgbClr val="3E4C59"/>
                </a:solidFill>
                <a:latin typeface="Arial" pitchFamily="34" charset="0"/>
                <a:ea typeface="Arial" pitchFamily="34" charset="-122"/>
                <a:cs typeface="Arial" pitchFamily="34" charset="-120"/>
              </a:rPr>
              <a:t>F</a:t>
            </a:r>
            <a:endParaRPr lang="en-US" sz="720" dirty="0"/>
          </a:p>
        </p:txBody>
      </p:sp>
      <p:sp>
        <p:nvSpPr>
          <p:cNvPr id="34" name="Shape 32"/>
          <p:cNvSpPr/>
          <p:nvPr/>
        </p:nvSpPr>
        <p:spPr>
          <a:xfrm>
            <a:off x="8814816" y="2560320"/>
            <a:ext cx="640080" cy="1005840"/>
          </a:xfrm>
          <a:prstGeom prst="rect">
            <a:avLst/>
          </a:prstGeom>
          <a:solidFill>
            <a:srgbClr val="00A8A8"/>
          </a:solidFill>
          <a:ln w="12700">
            <a:solidFill>
              <a:srgbClr val="00A8A8">
                <a:alpha val="0"/>
              </a:srgbClr>
            </a:solidFill>
            <a:prstDash val="solid"/>
          </a:ln>
        </p:spPr>
      </p:sp>
      <p:sp>
        <p:nvSpPr>
          <p:cNvPr id="35" name="Text 33"/>
          <p:cNvSpPr/>
          <p:nvPr/>
        </p:nvSpPr>
        <p:spPr>
          <a:xfrm>
            <a:off x="8814816" y="2359152"/>
            <a:ext cx="640080" cy="146304"/>
          </a:xfrm>
          <a:prstGeom prst="rect">
            <a:avLst/>
          </a:prstGeom>
          <a:noFill/>
          <a:ln/>
        </p:spPr>
        <p:txBody>
          <a:bodyPr wrap="square" lIns="0" tIns="0" rIns="0" bIns="0" rtlCol="0" anchor="ctr"/>
          <a:lstStyle/>
          <a:p>
            <a:pPr algn="ctr" indent="0" marL="0">
              <a:buNone/>
            </a:pPr>
            <a:r>
              <a:rPr lang="en-US" sz="850" dirty="0">
                <a:solidFill>
                  <a:srgbClr val="3E4C59"/>
                </a:solidFill>
                <a:latin typeface="Arial" pitchFamily="34" charset="0"/>
                <a:ea typeface="Arial" pitchFamily="34" charset="-122"/>
                <a:cs typeface="Arial" pitchFamily="34" charset="-120"/>
              </a:rPr>
              <a:t>1</a:t>
            </a:r>
            <a:endParaRPr lang="en-US" sz="850" dirty="0"/>
          </a:p>
        </p:txBody>
      </p:sp>
      <p:sp>
        <p:nvSpPr>
          <p:cNvPr id="36" name="Text 34"/>
          <p:cNvSpPr/>
          <p:nvPr/>
        </p:nvSpPr>
        <p:spPr>
          <a:xfrm>
            <a:off x="8814816" y="3630168"/>
            <a:ext cx="640080" cy="201168"/>
          </a:xfrm>
          <a:prstGeom prst="rect">
            <a:avLst/>
          </a:prstGeom>
          <a:noFill/>
          <a:ln/>
        </p:spPr>
        <p:txBody>
          <a:bodyPr wrap="square" lIns="0" tIns="0" rIns="0" bIns="0" rtlCol="0" anchor="ctr">
            <a:normAutofit/>
          </a:bodyPr>
          <a:lstStyle/>
          <a:p>
            <a:pPr algn="ctr" indent="0" marL="0">
              <a:buNone/>
            </a:pPr>
            <a:r>
              <a:rPr lang="en-US" sz="720" dirty="0">
                <a:solidFill>
                  <a:srgbClr val="3E4C59"/>
                </a:solidFill>
                <a:latin typeface="Arial" pitchFamily="34" charset="0"/>
                <a:ea typeface="Arial" pitchFamily="34" charset="-122"/>
                <a:cs typeface="Arial" pitchFamily="34" charset="-120"/>
              </a:rPr>
              <a:t>H</a:t>
            </a:r>
            <a:endParaRPr lang="en-US" sz="720" dirty="0"/>
          </a:p>
        </p:txBody>
      </p:sp>
      <p:sp>
        <p:nvSpPr>
          <p:cNvPr id="37" name="Shape 35"/>
          <p:cNvSpPr/>
          <p:nvPr/>
        </p:nvSpPr>
        <p:spPr>
          <a:xfrm>
            <a:off x="9528048" y="1554480"/>
            <a:ext cx="640080" cy="2011680"/>
          </a:xfrm>
          <a:prstGeom prst="rect">
            <a:avLst/>
          </a:prstGeom>
          <a:solidFill>
            <a:srgbClr val="3E4C59"/>
          </a:solidFill>
          <a:ln w="12700">
            <a:solidFill>
              <a:srgbClr val="3E4C59">
                <a:alpha val="0"/>
              </a:srgbClr>
            </a:solidFill>
            <a:prstDash val="solid"/>
          </a:ln>
        </p:spPr>
      </p:sp>
      <p:sp>
        <p:nvSpPr>
          <p:cNvPr id="38" name="Text 36"/>
          <p:cNvSpPr/>
          <p:nvPr/>
        </p:nvSpPr>
        <p:spPr>
          <a:xfrm>
            <a:off x="9528048" y="1353312"/>
            <a:ext cx="640080" cy="146304"/>
          </a:xfrm>
          <a:prstGeom prst="rect">
            <a:avLst/>
          </a:prstGeom>
          <a:noFill/>
          <a:ln/>
        </p:spPr>
        <p:txBody>
          <a:bodyPr wrap="square" lIns="0" tIns="0" rIns="0" bIns="0" rtlCol="0" anchor="ctr"/>
          <a:lstStyle/>
          <a:p>
            <a:pPr algn="ctr" indent="0" marL="0">
              <a:buNone/>
            </a:pPr>
            <a:r>
              <a:rPr lang="en-US" sz="850" dirty="0">
                <a:solidFill>
                  <a:srgbClr val="3E4C59"/>
                </a:solidFill>
                <a:latin typeface="Arial" pitchFamily="34" charset="0"/>
                <a:ea typeface="Arial" pitchFamily="34" charset="-122"/>
                <a:cs typeface="Arial" pitchFamily="34" charset="-120"/>
              </a:rPr>
              <a:t>2</a:t>
            </a:r>
            <a:endParaRPr lang="en-US" sz="850" dirty="0"/>
          </a:p>
        </p:txBody>
      </p:sp>
      <p:sp>
        <p:nvSpPr>
          <p:cNvPr id="39" name="Text 37"/>
          <p:cNvSpPr/>
          <p:nvPr/>
        </p:nvSpPr>
        <p:spPr>
          <a:xfrm>
            <a:off x="9528048" y="3630168"/>
            <a:ext cx="640080" cy="201168"/>
          </a:xfrm>
          <a:prstGeom prst="rect">
            <a:avLst/>
          </a:prstGeom>
          <a:noFill/>
          <a:ln/>
        </p:spPr>
        <p:txBody>
          <a:bodyPr wrap="square" lIns="0" tIns="0" rIns="0" bIns="0" rtlCol="0" anchor="ctr">
            <a:normAutofit/>
          </a:bodyPr>
          <a:lstStyle/>
          <a:p>
            <a:pPr algn="ctr" indent="0" marL="0">
              <a:buNone/>
            </a:pPr>
            <a:r>
              <a:rPr lang="en-US" sz="720" dirty="0">
                <a:solidFill>
                  <a:srgbClr val="3E4C59"/>
                </a:solidFill>
                <a:latin typeface="Arial" pitchFamily="34" charset="0"/>
                <a:ea typeface="Arial" pitchFamily="34" charset="-122"/>
                <a:cs typeface="Arial" pitchFamily="34" charset="-120"/>
              </a:rPr>
              <a:t>N</a:t>
            </a:r>
            <a:endParaRPr lang="en-US" sz="720" dirty="0"/>
          </a:p>
        </p:txBody>
      </p:sp>
      <p:sp>
        <p:nvSpPr>
          <p:cNvPr id="40" name="Shape 38"/>
          <p:cNvSpPr/>
          <p:nvPr/>
        </p:nvSpPr>
        <p:spPr>
          <a:xfrm>
            <a:off x="10241280" y="1554480"/>
            <a:ext cx="640080" cy="2011680"/>
          </a:xfrm>
          <a:prstGeom prst="rect">
            <a:avLst/>
          </a:prstGeom>
          <a:solidFill>
            <a:srgbClr val="1976D2"/>
          </a:solidFill>
          <a:ln w="12700">
            <a:solidFill>
              <a:srgbClr val="1976D2">
                <a:alpha val="0"/>
              </a:srgbClr>
            </a:solidFill>
            <a:prstDash val="solid"/>
          </a:ln>
        </p:spPr>
      </p:sp>
      <p:sp>
        <p:nvSpPr>
          <p:cNvPr id="41" name="Text 39"/>
          <p:cNvSpPr/>
          <p:nvPr/>
        </p:nvSpPr>
        <p:spPr>
          <a:xfrm>
            <a:off x="10241280" y="1353312"/>
            <a:ext cx="640080" cy="146304"/>
          </a:xfrm>
          <a:prstGeom prst="rect">
            <a:avLst/>
          </a:prstGeom>
          <a:noFill/>
          <a:ln/>
        </p:spPr>
        <p:txBody>
          <a:bodyPr wrap="square" lIns="0" tIns="0" rIns="0" bIns="0" rtlCol="0" anchor="ctr"/>
          <a:lstStyle/>
          <a:p>
            <a:pPr algn="ctr" indent="0" marL="0">
              <a:buNone/>
            </a:pPr>
            <a:r>
              <a:rPr lang="en-US" sz="850" dirty="0">
                <a:solidFill>
                  <a:srgbClr val="3E4C59"/>
                </a:solidFill>
                <a:latin typeface="Arial" pitchFamily="34" charset="0"/>
                <a:ea typeface="Arial" pitchFamily="34" charset="-122"/>
                <a:cs typeface="Arial" pitchFamily="34" charset="-120"/>
              </a:rPr>
              <a:t>2</a:t>
            </a:r>
            <a:endParaRPr lang="en-US" sz="850" dirty="0"/>
          </a:p>
        </p:txBody>
      </p:sp>
      <p:sp>
        <p:nvSpPr>
          <p:cNvPr id="42" name="Text 40"/>
          <p:cNvSpPr/>
          <p:nvPr/>
        </p:nvSpPr>
        <p:spPr>
          <a:xfrm>
            <a:off x="10241280" y="3630168"/>
            <a:ext cx="640080" cy="201168"/>
          </a:xfrm>
          <a:prstGeom prst="rect">
            <a:avLst/>
          </a:prstGeom>
          <a:noFill/>
          <a:ln/>
        </p:spPr>
        <p:txBody>
          <a:bodyPr wrap="square" lIns="0" tIns="0" rIns="0" bIns="0" rtlCol="0" anchor="ctr">
            <a:normAutofit/>
          </a:bodyPr>
          <a:lstStyle/>
          <a:p>
            <a:pPr algn="ctr" indent="0" marL="0">
              <a:buNone/>
            </a:pPr>
            <a:r>
              <a:rPr lang="en-US" sz="720" dirty="0">
                <a:solidFill>
                  <a:srgbClr val="3E4C59"/>
                </a:solidFill>
                <a:latin typeface="Arial" pitchFamily="34" charset="0"/>
                <a:ea typeface="Arial" pitchFamily="34" charset="-122"/>
                <a:cs typeface="Arial" pitchFamily="34" charset="-120"/>
              </a:rPr>
              <a:t>S</a:t>
            </a:r>
            <a:endParaRPr lang="en-US" sz="720" dirty="0"/>
          </a:p>
        </p:txBody>
      </p:sp>
      <p:sp>
        <p:nvSpPr>
          <p:cNvPr id="43" name="Shape 41"/>
          <p:cNvSpPr/>
          <p:nvPr/>
        </p:nvSpPr>
        <p:spPr>
          <a:xfrm>
            <a:off x="6675120" y="3566160"/>
            <a:ext cx="4206240" cy="0"/>
          </a:xfrm>
          <a:prstGeom prst="line">
            <a:avLst/>
          </a:prstGeom>
          <a:noFill/>
          <a:ln w="7620">
            <a:solidFill>
              <a:srgbClr val="CBD2D9"/>
            </a:solidFill>
            <a:prstDash val="solid"/>
          </a:ln>
        </p:spPr>
      </p:sp>
      <p:sp>
        <p:nvSpPr>
          <p:cNvPr id="44" name="Text 42"/>
          <p:cNvSpPr/>
          <p:nvPr/>
        </p:nvSpPr>
        <p:spPr>
          <a:xfrm>
            <a:off x="6675120" y="4160520"/>
            <a:ext cx="4206240" cy="219456"/>
          </a:xfrm>
          <a:prstGeom prst="rect">
            <a:avLst/>
          </a:prstGeom>
          <a:noFill/>
          <a:ln/>
        </p:spPr>
        <p:txBody>
          <a:bodyPr wrap="square" lIns="381" tIns="381" rIns="381" bIns="381" rtlCol="0" anchor="ctr">
            <a:normAutofit/>
          </a:bodyPr>
          <a:lstStyle/>
          <a:p>
            <a:pPr algn="ctr" indent="0" marL="0">
              <a:buNone/>
            </a:pPr>
            <a:r>
              <a:rPr lang="en-US" sz="1250" b="1" dirty="0">
                <a:solidFill>
                  <a:srgbClr val="3E4C59"/>
                </a:solidFill>
                <a:latin typeface="Arial" pitchFamily="34" charset="0"/>
                <a:ea typeface="Arial" pitchFamily="34" charset="-122"/>
                <a:cs typeface="Arial" pitchFamily="34" charset="-120"/>
              </a:rPr>
              <a:t>Example clip B: ambiguous perception</a:t>
            </a:r>
            <a:endParaRPr lang="en-US" sz="1250" dirty="0"/>
          </a:p>
        </p:txBody>
      </p:sp>
      <p:sp>
        <p:nvSpPr>
          <p:cNvPr id="45" name="Text 43"/>
          <p:cNvSpPr/>
          <p:nvPr/>
        </p:nvSpPr>
        <p:spPr>
          <a:xfrm>
            <a:off x="1371600" y="5166360"/>
            <a:ext cx="9509760" cy="320040"/>
          </a:xfrm>
          <a:prstGeom prst="rect">
            <a:avLst/>
          </a:prstGeom>
          <a:noFill/>
          <a:ln/>
        </p:spPr>
        <p:txBody>
          <a:bodyPr wrap="square" lIns="381" tIns="381" rIns="381" bIns="381" rtlCol="0" anchor="ctr">
            <a:normAutofit/>
          </a:bodyPr>
          <a:lstStyle/>
          <a:p>
            <a:pPr algn="ctr" indent="0" marL="0">
              <a:buNone/>
            </a:pPr>
            <a:r>
              <a:rPr lang="en-US" sz="1500" b="1" dirty="0">
                <a:solidFill>
                  <a:srgbClr val="102A43"/>
                </a:solidFill>
                <a:latin typeface="Arial" pitchFamily="34" charset="0"/>
                <a:ea typeface="Arial" pitchFamily="34" charset="-122"/>
                <a:cs typeface="Arial" pitchFamily="34" charset="-120"/>
              </a:rPr>
              <a:t>Soft labels, confidence, and calibration may capture more of the corpus than hard majority labels.</a:t>
            </a:r>
            <a:endParaRPr lang="en-US" sz="1500" dirty="0"/>
          </a:p>
        </p:txBody>
      </p:sp>
      <p:sp>
        <p:nvSpPr>
          <p:cNvPr id="46" name="Text 44"/>
          <p:cNvSpPr/>
          <p:nvPr/>
        </p:nvSpPr>
        <p:spPr>
          <a:xfrm>
            <a:off x="502920" y="6473952"/>
            <a:ext cx="9144000" cy="164592"/>
          </a:xfrm>
          <a:prstGeom prst="rect">
            <a:avLst/>
          </a:prstGeom>
          <a:noFill/>
          <a:ln/>
        </p:spPr>
        <p:txBody>
          <a:bodyPr wrap="square" lIns="0" tIns="0" rIns="0" bIns="0" rtlCol="0" anchor="ctr"/>
          <a:lstStyle/>
          <a:p>
            <a:pPr indent="0" marL="0">
              <a:buNone/>
            </a:pPr>
            <a:r>
              <a:rPr lang="en-US" sz="750" dirty="0">
                <a:solidFill>
                  <a:srgbClr val="7B8794"/>
                </a:solidFill>
                <a:latin typeface="Arial" pitchFamily="34" charset="0"/>
                <a:ea typeface="Arial" pitchFamily="34" charset="-122"/>
                <a:cs typeface="Arial" pitchFamily="34" charset="-120"/>
              </a:rPr>
              <a:t>CREMA-D seminar | label distributions</a:t>
            </a:r>
            <a:endParaRPr lang="en-US" sz="750" dirty="0"/>
          </a:p>
        </p:txBody>
      </p:sp>
      <p:sp>
        <p:nvSpPr>
          <p:cNvPr id="47" name="Text 45"/>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50" dirty="0">
                <a:solidFill>
                  <a:srgbClr val="7B8794"/>
                </a:solidFill>
                <a:latin typeface="Arial" pitchFamily="34" charset="0"/>
                <a:ea typeface="Arial" pitchFamily="34" charset="-122"/>
                <a:cs typeface="Arial" pitchFamily="34" charset="-120"/>
              </a:rPr>
              <a:t>11</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4114800" cy="201168"/>
          </a:xfrm>
          <a:prstGeom prst="rect">
            <a:avLst/>
          </a:prstGeom>
          <a:noFill/>
          <a:ln/>
        </p:spPr>
        <p:txBody>
          <a:bodyPr wrap="square" lIns="0" tIns="0" rIns="0" bIns="0" rtlCol="0" anchor="ctr"/>
          <a:lstStyle/>
          <a:p>
            <a:pPr indent="0" marL="0">
              <a:buNone/>
            </a:pPr>
            <a:r>
              <a:rPr lang="en-US" sz="850" b="1" dirty="0">
                <a:solidFill>
                  <a:srgbClr val="00A8A8"/>
                </a:solidFill>
                <a:latin typeface="Arial" pitchFamily="34" charset="0"/>
                <a:ea typeface="Arial" pitchFamily="34" charset="-122"/>
                <a:cs typeface="Arial" pitchFamily="34" charset="-120"/>
              </a:rPr>
              <a:t>DATA FILES</a:t>
            </a:r>
            <a:endParaRPr lang="en-US" sz="850" dirty="0"/>
          </a:p>
        </p:txBody>
      </p:sp>
      <p:sp>
        <p:nvSpPr>
          <p:cNvPr id="3" name="Text 1"/>
          <p:cNvSpPr/>
          <p:nvPr/>
        </p:nvSpPr>
        <p:spPr>
          <a:xfrm>
            <a:off x="502920" y="502920"/>
            <a:ext cx="11155680" cy="502920"/>
          </a:xfrm>
          <a:prstGeom prst="rect">
            <a:avLst/>
          </a:prstGeom>
          <a:noFill/>
          <a:ln/>
        </p:spPr>
        <p:txBody>
          <a:bodyPr wrap="square" lIns="0" tIns="0" rIns="0" bIns="0" rtlCol="0" anchor="ctr">
            <a:normAutofit/>
          </a:bodyPr>
          <a:lstStyle/>
          <a:p>
            <a:pPr indent="0" marL="0">
              <a:buNone/>
            </a:pPr>
            <a:r>
              <a:rPr lang="en-US" sz="3000" b="1" dirty="0">
                <a:solidFill>
                  <a:srgbClr val="102A43"/>
                </a:solidFill>
                <a:latin typeface="Arial" pitchFamily="34" charset="0"/>
                <a:ea typeface="Arial" pitchFamily="34" charset="-122"/>
                <a:cs typeface="Arial" pitchFamily="34" charset="-120"/>
              </a:rPr>
              <a:t>What the released data gives you</a:t>
            </a:r>
            <a:endParaRPr lang="en-US" sz="3000" dirty="0"/>
          </a:p>
        </p:txBody>
      </p:sp>
      <p:sp>
        <p:nvSpPr>
          <p:cNvPr id="4" name="Shape 2"/>
          <p:cNvSpPr/>
          <p:nvPr/>
        </p:nvSpPr>
        <p:spPr>
          <a:xfrm>
            <a:off x="502920" y="1078992"/>
            <a:ext cx="11155680" cy="0"/>
          </a:xfrm>
          <a:prstGeom prst="line">
            <a:avLst/>
          </a:prstGeom>
          <a:noFill/>
          <a:ln w="7620">
            <a:solidFill>
              <a:srgbClr val="CBD2D9"/>
            </a:solidFill>
            <a:prstDash val="solid"/>
          </a:ln>
        </p:spPr>
      </p:sp>
      <p:sp>
        <p:nvSpPr>
          <p:cNvPr id="5" name="Shape 3"/>
          <p:cNvSpPr/>
          <p:nvPr/>
        </p:nvSpPr>
        <p:spPr>
          <a:xfrm>
            <a:off x="822960" y="1463040"/>
            <a:ext cx="3154680" cy="914400"/>
          </a:xfrm>
          <a:prstGeom prst="roundRect">
            <a:avLst>
              <a:gd name="adj" fmla="val 8000"/>
            </a:avLst>
          </a:prstGeom>
          <a:solidFill>
            <a:srgbClr val="00A8A8"/>
          </a:solidFill>
          <a:ln w="12700">
            <a:solidFill>
              <a:srgbClr val="00A8A8">
                <a:alpha val="0"/>
              </a:srgbClr>
            </a:solidFill>
            <a:prstDash val="solid"/>
          </a:ln>
        </p:spPr>
      </p:sp>
      <p:sp>
        <p:nvSpPr>
          <p:cNvPr id="6" name="Text 4"/>
          <p:cNvSpPr/>
          <p:nvPr/>
        </p:nvSpPr>
        <p:spPr>
          <a:xfrm>
            <a:off x="987552" y="1645920"/>
            <a:ext cx="2834640" cy="201168"/>
          </a:xfrm>
          <a:prstGeom prst="rect">
            <a:avLst/>
          </a:prstGeom>
          <a:noFill/>
          <a:ln/>
        </p:spPr>
        <p:txBody>
          <a:bodyPr wrap="square" lIns="0" tIns="0" rIns="0" bIns="0" rtlCol="0" anchor="ctr"/>
          <a:lstStyle/>
          <a:p>
            <a:pPr algn="ctr" indent="0" marL="0">
              <a:buNone/>
            </a:pPr>
            <a:r>
              <a:rPr lang="en-US" sz="1450" b="1" dirty="0">
                <a:solidFill>
                  <a:srgbClr val="FFFFFF"/>
                </a:solidFill>
                <a:latin typeface="Arial" pitchFamily="34" charset="0"/>
                <a:ea typeface="Arial" pitchFamily="34" charset="-122"/>
                <a:cs typeface="Arial" pitchFamily="34" charset="-120"/>
              </a:rPr>
              <a:t>audio + video</a:t>
            </a:r>
            <a:endParaRPr lang="en-US" sz="1450" dirty="0"/>
          </a:p>
        </p:txBody>
      </p:sp>
      <p:sp>
        <p:nvSpPr>
          <p:cNvPr id="7" name="Text 5"/>
          <p:cNvSpPr/>
          <p:nvPr/>
        </p:nvSpPr>
        <p:spPr>
          <a:xfrm>
            <a:off x="987552" y="1965960"/>
            <a:ext cx="2834640" cy="201168"/>
          </a:xfrm>
          <a:prstGeom prst="rect">
            <a:avLst/>
          </a:prstGeom>
          <a:noFill/>
          <a:ln/>
        </p:spPr>
        <p:txBody>
          <a:bodyPr wrap="square" lIns="0" tIns="0" rIns="0" bIns="0" rtlCol="0" anchor="ctr">
            <a:normAutofit/>
          </a:bodyPr>
          <a:lstStyle/>
          <a:p>
            <a:pPr algn="ctr" indent="0" marL="0">
              <a:buNone/>
            </a:pPr>
            <a:r>
              <a:rPr lang="en-US" sz="930" dirty="0">
                <a:solidFill>
                  <a:srgbClr val="FFFFFF"/>
                </a:solidFill>
                <a:latin typeface="Arial" pitchFamily="34" charset="0"/>
                <a:ea typeface="Arial" pitchFamily="34" charset="-122"/>
                <a:cs typeface="Arial" pitchFamily="34" charset="-120"/>
              </a:rPr>
              <a:t>AudioWAV, AudioMP3, VideoFlash</a:t>
            </a:r>
            <a:endParaRPr lang="en-US" sz="930" dirty="0"/>
          </a:p>
        </p:txBody>
      </p:sp>
      <p:sp>
        <p:nvSpPr>
          <p:cNvPr id="8" name="Shape 6"/>
          <p:cNvSpPr/>
          <p:nvPr/>
        </p:nvSpPr>
        <p:spPr>
          <a:xfrm>
            <a:off x="4572000" y="1463040"/>
            <a:ext cx="3154680" cy="914400"/>
          </a:xfrm>
          <a:prstGeom prst="roundRect">
            <a:avLst>
              <a:gd name="adj" fmla="val 8000"/>
            </a:avLst>
          </a:prstGeom>
          <a:solidFill>
            <a:srgbClr val="7C3AED"/>
          </a:solidFill>
          <a:ln w="12700">
            <a:solidFill>
              <a:srgbClr val="7C3AED">
                <a:alpha val="0"/>
              </a:srgbClr>
            </a:solidFill>
            <a:prstDash val="solid"/>
          </a:ln>
        </p:spPr>
      </p:sp>
      <p:sp>
        <p:nvSpPr>
          <p:cNvPr id="9" name="Text 7"/>
          <p:cNvSpPr/>
          <p:nvPr/>
        </p:nvSpPr>
        <p:spPr>
          <a:xfrm>
            <a:off x="4736592" y="1645920"/>
            <a:ext cx="2834640" cy="201168"/>
          </a:xfrm>
          <a:prstGeom prst="rect">
            <a:avLst/>
          </a:prstGeom>
          <a:noFill/>
          <a:ln/>
        </p:spPr>
        <p:txBody>
          <a:bodyPr wrap="square" lIns="0" tIns="0" rIns="0" bIns="0" rtlCol="0" anchor="ctr"/>
          <a:lstStyle/>
          <a:p>
            <a:pPr algn="ctr" indent="0" marL="0">
              <a:buNone/>
            </a:pPr>
            <a:r>
              <a:rPr lang="en-US" sz="1450" b="1" dirty="0">
                <a:solidFill>
                  <a:srgbClr val="FFFFFF"/>
                </a:solidFill>
                <a:latin typeface="Arial" pitchFamily="34" charset="0"/>
                <a:ea typeface="Arial" pitchFamily="34" charset="-122"/>
                <a:cs typeface="Arial" pitchFamily="34" charset="-120"/>
              </a:rPr>
              <a:t>sentences</a:t>
            </a:r>
            <a:endParaRPr lang="en-US" sz="1450" dirty="0"/>
          </a:p>
        </p:txBody>
      </p:sp>
      <p:sp>
        <p:nvSpPr>
          <p:cNvPr id="10" name="Text 8"/>
          <p:cNvSpPr/>
          <p:nvPr/>
        </p:nvSpPr>
        <p:spPr>
          <a:xfrm>
            <a:off x="4736592" y="1965960"/>
            <a:ext cx="2834640" cy="201168"/>
          </a:xfrm>
          <a:prstGeom prst="rect">
            <a:avLst/>
          </a:prstGeom>
          <a:noFill/>
          <a:ln/>
        </p:spPr>
        <p:txBody>
          <a:bodyPr wrap="square" lIns="0" tIns="0" rIns="0" bIns="0" rtlCol="0" anchor="ctr">
            <a:normAutofit/>
          </a:bodyPr>
          <a:lstStyle/>
          <a:p>
            <a:pPr algn="ctr" indent="0" marL="0">
              <a:buNone/>
            </a:pPr>
            <a:r>
              <a:rPr lang="en-US" sz="930" dirty="0">
                <a:solidFill>
                  <a:srgbClr val="FFFFFF"/>
                </a:solidFill>
                <a:latin typeface="Arial" pitchFamily="34" charset="0"/>
                <a:ea typeface="Arial" pitchFamily="34" charset="-122"/>
                <a:cs typeface="Arial" pitchFamily="34" charset="-120"/>
              </a:rPr>
              <a:t>SentenceFilenames.csv</a:t>
            </a:r>
            <a:endParaRPr lang="en-US" sz="930" dirty="0"/>
          </a:p>
        </p:txBody>
      </p:sp>
      <p:sp>
        <p:nvSpPr>
          <p:cNvPr id="11" name="Shape 9"/>
          <p:cNvSpPr/>
          <p:nvPr/>
        </p:nvSpPr>
        <p:spPr>
          <a:xfrm>
            <a:off x="8321040" y="1463040"/>
            <a:ext cx="3154680" cy="914400"/>
          </a:xfrm>
          <a:prstGeom prst="roundRect">
            <a:avLst>
              <a:gd name="adj" fmla="val 8000"/>
            </a:avLst>
          </a:prstGeom>
          <a:solidFill>
            <a:srgbClr val="F4B400"/>
          </a:solidFill>
          <a:ln w="12700">
            <a:solidFill>
              <a:srgbClr val="F4B400">
                <a:alpha val="0"/>
              </a:srgbClr>
            </a:solidFill>
            <a:prstDash val="solid"/>
          </a:ln>
        </p:spPr>
      </p:sp>
      <p:sp>
        <p:nvSpPr>
          <p:cNvPr id="12" name="Text 10"/>
          <p:cNvSpPr/>
          <p:nvPr/>
        </p:nvSpPr>
        <p:spPr>
          <a:xfrm>
            <a:off x="8485632" y="1645920"/>
            <a:ext cx="2834640" cy="201168"/>
          </a:xfrm>
          <a:prstGeom prst="rect">
            <a:avLst/>
          </a:prstGeom>
          <a:noFill/>
          <a:ln/>
        </p:spPr>
        <p:txBody>
          <a:bodyPr wrap="square" lIns="0" tIns="0" rIns="0" bIns="0" rtlCol="0" anchor="ctr"/>
          <a:lstStyle/>
          <a:p>
            <a:pPr algn="ctr" indent="0" marL="0">
              <a:buNone/>
            </a:pPr>
            <a:r>
              <a:rPr lang="en-US" sz="1450" b="1" dirty="0">
                <a:solidFill>
                  <a:srgbClr val="FFFFFF"/>
                </a:solidFill>
                <a:latin typeface="Arial" pitchFamily="34" charset="0"/>
                <a:ea typeface="Arial" pitchFamily="34" charset="-122"/>
                <a:cs typeface="Arial" pitchFamily="34" charset="-120"/>
              </a:rPr>
              <a:t>demographics</a:t>
            </a:r>
            <a:endParaRPr lang="en-US" sz="1450" dirty="0"/>
          </a:p>
        </p:txBody>
      </p:sp>
      <p:sp>
        <p:nvSpPr>
          <p:cNvPr id="13" name="Text 11"/>
          <p:cNvSpPr/>
          <p:nvPr/>
        </p:nvSpPr>
        <p:spPr>
          <a:xfrm>
            <a:off x="8485632" y="1965960"/>
            <a:ext cx="2834640" cy="201168"/>
          </a:xfrm>
          <a:prstGeom prst="rect">
            <a:avLst/>
          </a:prstGeom>
          <a:noFill/>
          <a:ln/>
        </p:spPr>
        <p:txBody>
          <a:bodyPr wrap="square" lIns="0" tIns="0" rIns="0" bIns="0" rtlCol="0" anchor="ctr">
            <a:normAutofit/>
          </a:bodyPr>
          <a:lstStyle/>
          <a:p>
            <a:pPr algn="ctr" indent="0" marL="0">
              <a:buNone/>
            </a:pPr>
            <a:r>
              <a:rPr lang="en-US" sz="930" dirty="0">
                <a:solidFill>
                  <a:srgbClr val="FFFFFF"/>
                </a:solidFill>
                <a:latin typeface="Arial" pitchFamily="34" charset="0"/>
                <a:ea typeface="Arial" pitchFamily="34" charset="-122"/>
                <a:cs typeface="Arial" pitchFamily="34" charset="-120"/>
              </a:rPr>
              <a:t>VideoDemographics.csv</a:t>
            </a:r>
            <a:endParaRPr lang="en-US" sz="930" dirty="0"/>
          </a:p>
        </p:txBody>
      </p:sp>
      <p:sp>
        <p:nvSpPr>
          <p:cNvPr id="14" name="Shape 12"/>
          <p:cNvSpPr/>
          <p:nvPr/>
        </p:nvSpPr>
        <p:spPr>
          <a:xfrm>
            <a:off x="822960" y="2971800"/>
            <a:ext cx="3154680" cy="914400"/>
          </a:xfrm>
          <a:prstGeom prst="roundRect">
            <a:avLst>
              <a:gd name="adj" fmla="val 8000"/>
            </a:avLst>
          </a:prstGeom>
          <a:solidFill>
            <a:srgbClr val="FF6B6B"/>
          </a:solidFill>
          <a:ln w="12700">
            <a:solidFill>
              <a:srgbClr val="FF6B6B">
                <a:alpha val="0"/>
              </a:srgbClr>
            </a:solidFill>
            <a:prstDash val="solid"/>
          </a:ln>
        </p:spPr>
      </p:sp>
      <p:sp>
        <p:nvSpPr>
          <p:cNvPr id="15" name="Text 13"/>
          <p:cNvSpPr/>
          <p:nvPr/>
        </p:nvSpPr>
        <p:spPr>
          <a:xfrm>
            <a:off x="987552" y="3154680"/>
            <a:ext cx="2834640" cy="201168"/>
          </a:xfrm>
          <a:prstGeom prst="rect">
            <a:avLst/>
          </a:prstGeom>
          <a:noFill/>
          <a:ln/>
        </p:spPr>
        <p:txBody>
          <a:bodyPr wrap="square" lIns="0" tIns="0" rIns="0" bIns="0" rtlCol="0" anchor="ctr"/>
          <a:lstStyle/>
          <a:p>
            <a:pPr algn="ctr" indent="0" marL="0">
              <a:buNone/>
            </a:pPr>
            <a:r>
              <a:rPr lang="en-US" sz="1450" b="1" dirty="0">
                <a:solidFill>
                  <a:srgbClr val="FFFFFF"/>
                </a:solidFill>
                <a:latin typeface="Arial" pitchFamily="34" charset="0"/>
                <a:ea typeface="Arial" pitchFamily="34" charset="-122"/>
                <a:cs typeface="Arial" pitchFamily="34" charset="-120"/>
              </a:rPr>
              <a:t>responses</a:t>
            </a:r>
            <a:endParaRPr lang="en-US" sz="1450" dirty="0"/>
          </a:p>
        </p:txBody>
      </p:sp>
      <p:sp>
        <p:nvSpPr>
          <p:cNvPr id="16" name="Text 14"/>
          <p:cNvSpPr/>
          <p:nvPr/>
        </p:nvSpPr>
        <p:spPr>
          <a:xfrm>
            <a:off x="987552" y="3474720"/>
            <a:ext cx="2834640" cy="201168"/>
          </a:xfrm>
          <a:prstGeom prst="rect">
            <a:avLst/>
          </a:prstGeom>
          <a:noFill/>
          <a:ln/>
        </p:spPr>
        <p:txBody>
          <a:bodyPr wrap="square" lIns="0" tIns="0" rIns="0" bIns="0" rtlCol="0" anchor="ctr">
            <a:normAutofit/>
          </a:bodyPr>
          <a:lstStyle/>
          <a:p>
            <a:pPr algn="ctr" indent="0" marL="0">
              <a:buNone/>
            </a:pPr>
            <a:r>
              <a:rPr lang="en-US" sz="930" dirty="0">
                <a:solidFill>
                  <a:srgbClr val="FFFFFF"/>
                </a:solidFill>
                <a:latin typeface="Arial" pitchFamily="34" charset="0"/>
                <a:ea typeface="Arial" pitchFamily="34" charset="-122"/>
                <a:cs typeface="Arial" pitchFamily="34" charset="-120"/>
              </a:rPr>
              <a:t>finishedResponses*.csv</a:t>
            </a:r>
            <a:endParaRPr lang="en-US" sz="930" dirty="0"/>
          </a:p>
        </p:txBody>
      </p:sp>
      <p:sp>
        <p:nvSpPr>
          <p:cNvPr id="17" name="Shape 15"/>
          <p:cNvSpPr/>
          <p:nvPr/>
        </p:nvSpPr>
        <p:spPr>
          <a:xfrm>
            <a:off x="4572000" y="2971800"/>
            <a:ext cx="3154680" cy="914400"/>
          </a:xfrm>
          <a:prstGeom prst="roundRect">
            <a:avLst>
              <a:gd name="adj" fmla="val 8000"/>
            </a:avLst>
          </a:prstGeom>
          <a:solidFill>
            <a:srgbClr val="42B883"/>
          </a:solidFill>
          <a:ln w="12700">
            <a:solidFill>
              <a:srgbClr val="42B883">
                <a:alpha val="0"/>
              </a:srgbClr>
            </a:solidFill>
            <a:prstDash val="solid"/>
          </a:ln>
        </p:spPr>
      </p:sp>
      <p:sp>
        <p:nvSpPr>
          <p:cNvPr id="18" name="Text 16"/>
          <p:cNvSpPr/>
          <p:nvPr/>
        </p:nvSpPr>
        <p:spPr>
          <a:xfrm>
            <a:off x="4736592" y="3154680"/>
            <a:ext cx="2834640" cy="201168"/>
          </a:xfrm>
          <a:prstGeom prst="rect">
            <a:avLst/>
          </a:prstGeom>
          <a:noFill/>
          <a:ln/>
        </p:spPr>
        <p:txBody>
          <a:bodyPr wrap="square" lIns="0" tIns="0" rIns="0" bIns="0" rtlCol="0" anchor="ctr"/>
          <a:lstStyle/>
          <a:p>
            <a:pPr algn="ctr" indent="0" marL="0">
              <a:buNone/>
            </a:pPr>
            <a:r>
              <a:rPr lang="en-US" sz="1450" b="1" dirty="0">
                <a:solidFill>
                  <a:srgbClr val="FFFFFF"/>
                </a:solidFill>
                <a:latin typeface="Arial" pitchFamily="34" charset="0"/>
                <a:ea typeface="Arial" pitchFamily="34" charset="-122"/>
                <a:cs typeface="Arial" pitchFamily="34" charset="-120"/>
              </a:rPr>
              <a:t>votes</a:t>
            </a:r>
            <a:endParaRPr lang="en-US" sz="1450" dirty="0"/>
          </a:p>
        </p:txBody>
      </p:sp>
      <p:sp>
        <p:nvSpPr>
          <p:cNvPr id="19" name="Text 17"/>
          <p:cNvSpPr/>
          <p:nvPr/>
        </p:nvSpPr>
        <p:spPr>
          <a:xfrm>
            <a:off x="4736592" y="3474720"/>
            <a:ext cx="2834640" cy="201168"/>
          </a:xfrm>
          <a:prstGeom prst="rect">
            <a:avLst/>
          </a:prstGeom>
          <a:noFill/>
          <a:ln/>
        </p:spPr>
        <p:txBody>
          <a:bodyPr wrap="square" lIns="0" tIns="0" rIns="0" bIns="0" rtlCol="0" anchor="ctr">
            <a:normAutofit/>
          </a:bodyPr>
          <a:lstStyle/>
          <a:p>
            <a:pPr algn="ctr" indent="0" marL="0">
              <a:buNone/>
            </a:pPr>
            <a:r>
              <a:rPr lang="en-US" sz="930" dirty="0">
                <a:solidFill>
                  <a:srgbClr val="FFFFFF"/>
                </a:solidFill>
                <a:latin typeface="Arial" pitchFamily="34" charset="0"/>
                <a:ea typeface="Arial" pitchFamily="34" charset="-122"/>
                <a:cs typeface="Arial" pitchFamily="34" charset="-120"/>
              </a:rPr>
              <a:t>processedResults/tabulatedVotes.csv</a:t>
            </a:r>
            <a:endParaRPr lang="en-US" sz="930" dirty="0"/>
          </a:p>
        </p:txBody>
      </p:sp>
      <p:sp>
        <p:nvSpPr>
          <p:cNvPr id="20" name="Text 18"/>
          <p:cNvSpPr/>
          <p:nvPr/>
        </p:nvSpPr>
        <p:spPr>
          <a:xfrm>
            <a:off x="1188720" y="5074920"/>
            <a:ext cx="9784080" cy="320040"/>
          </a:xfrm>
          <a:prstGeom prst="rect">
            <a:avLst/>
          </a:prstGeom>
          <a:noFill/>
          <a:ln/>
        </p:spPr>
        <p:txBody>
          <a:bodyPr wrap="square" lIns="381" tIns="381" rIns="381" bIns="381" rtlCol="0" anchor="ctr">
            <a:normAutofit/>
          </a:bodyPr>
          <a:lstStyle/>
          <a:p>
            <a:pPr algn="ctr" indent="0" marL="0">
              <a:buNone/>
            </a:pPr>
            <a:r>
              <a:rPr lang="en-US" sz="1550" b="1" dirty="0">
                <a:solidFill>
                  <a:srgbClr val="102A43"/>
                </a:solidFill>
                <a:latin typeface="Arial" pitchFamily="34" charset="0"/>
                <a:ea typeface="Arial" pitchFamily="34" charset="-122"/>
                <a:cs typeface="Arial" pitchFamily="34" charset="-120"/>
              </a:rPr>
              <a:t>The repository makes transparent the path from raw responses to tabulated votes.</a:t>
            </a:r>
            <a:endParaRPr lang="en-US" sz="1550" dirty="0"/>
          </a:p>
        </p:txBody>
      </p:sp>
      <p:sp>
        <p:nvSpPr>
          <p:cNvPr id="21" name="Text 19"/>
          <p:cNvSpPr/>
          <p:nvPr/>
        </p:nvSpPr>
        <p:spPr>
          <a:xfrm>
            <a:off x="502920" y="6473952"/>
            <a:ext cx="9144000" cy="164592"/>
          </a:xfrm>
          <a:prstGeom prst="rect">
            <a:avLst/>
          </a:prstGeom>
          <a:noFill/>
          <a:ln/>
        </p:spPr>
        <p:txBody>
          <a:bodyPr wrap="square" lIns="0" tIns="0" rIns="0" bIns="0" rtlCol="0" anchor="ctr"/>
          <a:lstStyle/>
          <a:p>
            <a:pPr indent="0" marL="0">
              <a:buNone/>
            </a:pPr>
            <a:r>
              <a:rPr lang="en-US" sz="750" dirty="0">
                <a:solidFill>
                  <a:srgbClr val="7B8794"/>
                </a:solidFill>
                <a:latin typeface="Arial" pitchFamily="34" charset="0"/>
                <a:ea typeface="Arial" pitchFamily="34" charset="-122"/>
                <a:cs typeface="Arial" pitchFamily="34" charset="-120"/>
              </a:rPr>
              <a:t>CREMA-D seminar | data release</a:t>
            </a:r>
            <a:endParaRPr lang="en-US" sz="750" dirty="0"/>
          </a:p>
        </p:txBody>
      </p:sp>
      <p:sp>
        <p:nvSpPr>
          <p:cNvPr id="22" name="Text 20"/>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50" dirty="0">
                <a:solidFill>
                  <a:srgbClr val="7B8794"/>
                </a:solidFill>
                <a:latin typeface="Arial" pitchFamily="34" charset="0"/>
                <a:ea typeface="Arial" pitchFamily="34" charset="-122"/>
                <a:cs typeface="Arial" pitchFamily="34" charset="-120"/>
              </a:rPr>
              <a:t>12</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4114800" cy="201168"/>
          </a:xfrm>
          <a:prstGeom prst="rect">
            <a:avLst/>
          </a:prstGeom>
          <a:noFill/>
          <a:ln/>
        </p:spPr>
        <p:txBody>
          <a:bodyPr wrap="square" lIns="0" tIns="0" rIns="0" bIns="0" rtlCol="0" anchor="ctr"/>
          <a:lstStyle/>
          <a:p>
            <a:pPr indent="0" marL="0">
              <a:buNone/>
            </a:pPr>
            <a:r>
              <a:rPr lang="en-US" sz="850" b="1" dirty="0">
                <a:solidFill>
                  <a:srgbClr val="00A8A8"/>
                </a:solidFill>
                <a:latin typeface="Arial" pitchFamily="34" charset="0"/>
                <a:ea typeface="Arial" pitchFamily="34" charset="-122"/>
                <a:cs typeface="Arial" pitchFamily="34" charset="-120"/>
              </a:rPr>
              <a:t>USING CREMA-D</a:t>
            </a:r>
            <a:endParaRPr lang="en-US" sz="850" dirty="0"/>
          </a:p>
        </p:txBody>
      </p:sp>
      <p:sp>
        <p:nvSpPr>
          <p:cNvPr id="3" name="Text 1"/>
          <p:cNvSpPr/>
          <p:nvPr/>
        </p:nvSpPr>
        <p:spPr>
          <a:xfrm>
            <a:off x="502920" y="502920"/>
            <a:ext cx="11155680" cy="502920"/>
          </a:xfrm>
          <a:prstGeom prst="rect">
            <a:avLst/>
          </a:prstGeom>
          <a:noFill/>
          <a:ln/>
        </p:spPr>
        <p:txBody>
          <a:bodyPr wrap="square" lIns="0" tIns="0" rIns="0" bIns="0" rtlCol="0" anchor="ctr">
            <a:normAutofit/>
          </a:bodyPr>
          <a:lstStyle/>
          <a:p>
            <a:pPr indent="0" marL="0">
              <a:buNone/>
            </a:pPr>
            <a:r>
              <a:rPr lang="en-US" sz="3000" b="1" dirty="0">
                <a:solidFill>
                  <a:srgbClr val="102A43"/>
                </a:solidFill>
                <a:latin typeface="Arial" pitchFamily="34" charset="0"/>
                <a:ea typeface="Arial" pitchFamily="34" charset="-122"/>
                <a:cs typeface="Arial" pitchFamily="34" charset="-120"/>
              </a:rPr>
              <a:t>Modeling implications: what a benchmark result means</a:t>
            </a:r>
            <a:endParaRPr lang="en-US" sz="3000" dirty="0"/>
          </a:p>
        </p:txBody>
      </p:sp>
      <p:sp>
        <p:nvSpPr>
          <p:cNvPr id="4" name="Shape 2"/>
          <p:cNvSpPr/>
          <p:nvPr/>
        </p:nvSpPr>
        <p:spPr>
          <a:xfrm>
            <a:off x="502920" y="1078992"/>
            <a:ext cx="11155680" cy="0"/>
          </a:xfrm>
          <a:prstGeom prst="line">
            <a:avLst/>
          </a:prstGeom>
          <a:noFill/>
          <a:ln w="7620">
            <a:solidFill>
              <a:srgbClr val="CBD2D9"/>
            </a:solidFill>
            <a:prstDash val="solid"/>
          </a:ln>
        </p:spPr>
      </p:sp>
      <p:sp>
        <p:nvSpPr>
          <p:cNvPr id="5" name="Text 3"/>
          <p:cNvSpPr/>
          <p:nvPr/>
        </p:nvSpPr>
        <p:spPr>
          <a:xfrm>
            <a:off x="914400" y="1463040"/>
            <a:ext cx="10058400" cy="2880360"/>
          </a:xfrm>
          <a:prstGeom prst="rect">
            <a:avLst/>
          </a:prstGeom>
          <a:noFill/>
          <a:ln/>
        </p:spPr>
        <p:txBody>
          <a:bodyPr wrap="square" lIns="381" tIns="381" rIns="381" bIns="381" rtlCol="0" anchor="t">
            <a:normAutofit/>
          </a:bodyPr>
          <a:lstStyle/>
          <a:p>
            <a:pPr indent="0" marL="0">
              <a:buNone/>
            </a:pPr>
            <a:r>
              <a:rPr lang="en-US" sz="1600" b="1" dirty="0">
                <a:solidFill>
                  <a:srgbClr val="00A8A8"/>
                </a:solidFill>
                <a:latin typeface="Arial" pitchFamily="34" charset="0"/>
                <a:ea typeface="Arial" pitchFamily="34" charset="-122"/>
                <a:cs typeface="Arial" pitchFamily="34" charset="-120"/>
              </a:rPr>
              <a:t>● </a:t>
            </a:r>
            <a:pPr indent="0" marL="0">
              <a:buNone/>
            </a:pPr>
            <a:r>
              <a:rPr lang="en-US" sz="1600" dirty="0">
                <a:solidFill>
                  <a:srgbClr val="17202A"/>
                </a:solidFill>
                <a:latin typeface="Arial" pitchFamily="34" charset="0"/>
                <a:ea typeface="Arial" pitchFamily="34" charset="-122"/>
                <a:cs typeface="Arial" pitchFamily="34" charset="-120"/>
              </a:rPr>
              <a:t>Speaker split: prevent actor identity from leaking into train/test performance.</a:t>
            </a:r>
            <a:pPr indent="0" marL="0">
              <a:buNone/>
            </a:pPr>
            <a:r>
              <a:rPr lang="en-US" sz="1600" dirty="0">
                <a:solidFill>
                  <a:srgbClr val="000000"/>
                </a:solidFill>
                <a:latin typeface="Arial" pitchFamily="34" charset="0"/>
                <a:ea typeface="Arial" pitchFamily="34" charset="-122"/>
                <a:cs typeface="Arial" pitchFamily="34" charset="-120"/>
              </a:rPr>
              <a:t>
</a:t>
            </a:r>
            <a:pPr indent="0" marL="0">
              <a:buNone/>
            </a:pPr>
            <a:r>
              <a:rPr lang="en-US" sz="1600" b="1" dirty="0">
                <a:solidFill>
                  <a:srgbClr val="7C3AED"/>
                </a:solidFill>
                <a:latin typeface="Arial" pitchFamily="34" charset="0"/>
                <a:ea typeface="Arial" pitchFamily="34" charset="-122"/>
                <a:cs typeface="Arial" pitchFamily="34" charset="-120"/>
              </a:rPr>
              <a:t>● </a:t>
            </a:r>
            <a:pPr indent="0" marL="0">
              <a:buNone/>
            </a:pPr>
            <a:r>
              <a:rPr lang="en-US" sz="1600" dirty="0">
                <a:solidFill>
                  <a:srgbClr val="17202A"/>
                </a:solidFill>
                <a:latin typeface="Arial" pitchFamily="34" charset="0"/>
                <a:ea typeface="Arial" pitchFamily="34" charset="-122"/>
                <a:cs typeface="Arial" pitchFamily="34" charset="-120"/>
              </a:rPr>
              <a:t>Modality split: report audio-only, visual-only, and audiovisual results separately.</a:t>
            </a:r>
            <a:pPr indent="0" marL="0">
              <a:buNone/>
            </a:pPr>
            <a:r>
              <a:rPr lang="en-US" sz="1600" dirty="0">
                <a:solidFill>
                  <a:srgbClr val="000000"/>
                </a:solidFill>
                <a:latin typeface="Arial" pitchFamily="34" charset="0"/>
                <a:ea typeface="Arial" pitchFamily="34" charset="-122"/>
                <a:cs typeface="Arial" pitchFamily="34" charset="-120"/>
              </a:rPr>
              <a:t>
</a:t>
            </a:r>
            <a:pPr indent="0" marL="0">
              <a:buNone/>
            </a:pPr>
            <a:r>
              <a:rPr lang="en-US" sz="1600" b="1" dirty="0">
                <a:solidFill>
                  <a:srgbClr val="F4B400"/>
                </a:solidFill>
                <a:latin typeface="Arial" pitchFamily="34" charset="0"/>
                <a:ea typeface="Arial" pitchFamily="34" charset="-122"/>
                <a:cs typeface="Arial" pitchFamily="34" charset="-120"/>
              </a:rPr>
              <a:t>● </a:t>
            </a:r>
            <a:pPr indent="0" marL="0">
              <a:buNone/>
            </a:pPr>
            <a:r>
              <a:rPr lang="en-US" sz="1600" dirty="0">
                <a:solidFill>
                  <a:srgbClr val="17202A"/>
                </a:solidFill>
                <a:latin typeface="Arial" pitchFamily="34" charset="0"/>
                <a:ea typeface="Arial" pitchFamily="34" charset="-122"/>
                <a:cs typeface="Arial" pitchFamily="34" charset="-120"/>
              </a:rPr>
              <a:t>Label choice: intended, majority-vote, modality-specific, or soft vote distribution?</a:t>
            </a:r>
            <a:pPr indent="0" marL="0">
              <a:buNone/>
            </a:pPr>
            <a:r>
              <a:rPr lang="en-US" sz="1600" dirty="0">
                <a:solidFill>
                  <a:srgbClr val="000000"/>
                </a:solidFill>
                <a:latin typeface="Arial" pitchFamily="34" charset="0"/>
                <a:ea typeface="Arial" pitchFamily="34" charset="-122"/>
                <a:cs typeface="Arial" pitchFamily="34" charset="-120"/>
              </a:rPr>
              <a:t>
</a:t>
            </a:r>
            <a:pPr indent="0" marL="0">
              <a:buNone/>
            </a:pPr>
            <a:r>
              <a:rPr lang="en-US" sz="1600" b="1" dirty="0">
                <a:solidFill>
                  <a:srgbClr val="FF6B6B"/>
                </a:solidFill>
                <a:latin typeface="Arial" pitchFamily="34" charset="0"/>
                <a:ea typeface="Arial" pitchFamily="34" charset="-122"/>
                <a:cs typeface="Arial" pitchFamily="34" charset="-120"/>
              </a:rPr>
              <a:t>● </a:t>
            </a:r>
            <a:pPr indent="0" marL="0">
              <a:buNone/>
            </a:pPr>
            <a:r>
              <a:rPr lang="en-US" sz="1600" dirty="0">
                <a:solidFill>
                  <a:srgbClr val="17202A"/>
                </a:solidFill>
                <a:latin typeface="Arial" pitchFamily="34" charset="0"/>
                <a:ea typeface="Arial" pitchFamily="34" charset="-122"/>
                <a:cs typeface="Arial" pitchFamily="34" charset="-120"/>
              </a:rPr>
              <a:t>Class imbalance: emotion counts and agreements differ across categories and intensities.</a:t>
            </a:r>
            <a:pPr indent="0" marL="0">
              <a:buNone/>
            </a:pPr>
            <a:r>
              <a:rPr lang="en-US" sz="1600" dirty="0">
                <a:solidFill>
                  <a:srgbClr val="000000"/>
                </a:solidFill>
                <a:latin typeface="Arial" pitchFamily="34" charset="0"/>
                <a:ea typeface="Arial" pitchFamily="34" charset="-122"/>
                <a:cs typeface="Arial" pitchFamily="34" charset="-120"/>
              </a:rPr>
              <a:t>
</a:t>
            </a:r>
            <a:pPr indent="0" marL="0">
              <a:buNone/>
            </a:pPr>
            <a:r>
              <a:rPr lang="en-US" sz="1600" b="1" dirty="0">
                <a:solidFill>
                  <a:srgbClr val="42B883"/>
                </a:solidFill>
                <a:latin typeface="Arial" pitchFamily="34" charset="0"/>
                <a:ea typeface="Arial" pitchFamily="34" charset="-122"/>
                <a:cs typeface="Arial" pitchFamily="34" charset="-120"/>
              </a:rPr>
              <a:t>● </a:t>
            </a:r>
            <a:pPr indent="0" marL="0">
              <a:buNone/>
            </a:pPr>
            <a:r>
              <a:rPr lang="en-US" sz="1600" dirty="0">
                <a:solidFill>
                  <a:srgbClr val="17202A"/>
                </a:solidFill>
                <a:latin typeface="Arial" pitchFamily="34" charset="0"/>
                <a:ea typeface="Arial" pitchFamily="34" charset="-122"/>
                <a:cs typeface="Arial" pitchFamily="34" charset="-120"/>
              </a:rPr>
              <a:t>Evaluation: accuracy alone misses uncertainty, calibration, and disagreement.</a:t>
            </a:r>
            <a:endParaRPr lang="en-US" sz="1600" dirty="0"/>
          </a:p>
        </p:txBody>
      </p:sp>
      <p:sp>
        <p:nvSpPr>
          <p:cNvPr id="6" name="Shape 4"/>
          <p:cNvSpPr/>
          <p:nvPr/>
        </p:nvSpPr>
        <p:spPr>
          <a:xfrm>
            <a:off x="1645920" y="4892040"/>
            <a:ext cx="8961120" cy="640080"/>
          </a:xfrm>
          <a:prstGeom prst="roundRect">
            <a:avLst>
              <a:gd name="adj" fmla="val 11429"/>
            </a:avLst>
          </a:prstGeom>
          <a:solidFill>
            <a:srgbClr val="F3E8FF"/>
          </a:solidFill>
          <a:ln w="12700">
            <a:solidFill>
              <a:srgbClr val="DDD6FE"/>
            </a:solidFill>
            <a:prstDash val="solid"/>
          </a:ln>
        </p:spPr>
      </p:sp>
      <p:sp>
        <p:nvSpPr>
          <p:cNvPr id="7" name="Text 5"/>
          <p:cNvSpPr/>
          <p:nvPr/>
        </p:nvSpPr>
        <p:spPr>
          <a:xfrm>
            <a:off x="2011680" y="5102352"/>
            <a:ext cx="8229600" cy="182880"/>
          </a:xfrm>
          <a:prstGeom prst="rect">
            <a:avLst/>
          </a:prstGeom>
          <a:noFill/>
          <a:ln/>
        </p:spPr>
        <p:txBody>
          <a:bodyPr wrap="square" lIns="381" tIns="381" rIns="381" bIns="381" rtlCol="0" anchor="ctr">
            <a:normAutofit/>
          </a:bodyPr>
          <a:lstStyle/>
          <a:p>
            <a:pPr algn="ctr" indent="0" marL="0">
              <a:buNone/>
            </a:pPr>
            <a:r>
              <a:rPr lang="en-US" sz="1300" b="1" dirty="0">
                <a:solidFill>
                  <a:srgbClr val="102A43"/>
                </a:solidFill>
                <a:latin typeface="Arial" pitchFamily="34" charset="0"/>
                <a:ea typeface="Arial" pitchFamily="34" charset="-122"/>
                <a:cs typeface="Arial" pitchFamily="34" charset="-120"/>
              </a:rPr>
              <a:t>A “high score” can reflect true affective inference—or shortcuts in stimulus, speaker, or label structure.</a:t>
            </a:r>
            <a:endParaRPr lang="en-US" sz="1300" dirty="0"/>
          </a:p>
        </p:txBody>
      </p:sp>
      <p:sp>
        <p:nvSpPr>
          <p:cNvPr id="8" name="Text 6"/>
          <p:cNvSpPr/>
          <p:nvPr/>
        </p:nvSpPr>
        <p:spPr>
          <a:xfrm>
            <a:off x="502920" y="6473952"/>
            <a:ext cx="9144000" cy="164592"/>
          </a:xfrm>
          <a:prstGeom prst="rect">
            <a:avLst/>
          </a:prstGeom>
          <a:noFill/>
          <a:ln/>
        </p:spPr>
        <p:txBody>
          <a:bodyPr wrap="square" lIns="0" tIns="0" rIns="0" bIns="0" rtlCol="0" anchor="ctr"/>
          <a:lstStyle/>
          <a:p>
            <a:pPr indent="0" marL="0">
              <a:buNone/>
            </a:pPr>
            <a:r>
              <a:rPr lang="en-US" sz="750" dirty="0">
                <a:solidFill>
                  <a:srgbClr val="7B8794"/>
                </a:solidFill>
                <a:latin typeface="Arial" pitchFamily="34" charset="0"/>
                <a:ea typeface="Arial" pitchFamily="34" charset="-122"/>
                <a:cs typeface="Arial" pitchFamily="34" charset="-120"/>
              </a:rPr>
              <a:t>CREMA-D seminar | modeling implications</a:t>
            </a:r>
            <a:endParaRPr lang="en-US" sz="750" dirty="0"/>
          </a:p>
        </p:txBody>
      </p:sp>
      <p:sp>
        <p:nvSpPr>
          <p:cNvPr id="9" name="Text 7"/>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50" dirty="0">
                <a:solidFill>
                  <a:srgbClr val="7B8794"/>
                </a:solidFill>
                <a:latin typeface="Arial" pitchFamily="34" charset="0"/>
                <a:ea typeface="Arial" pitchFamily="34" charset="-122"/>
                <a:cs typeface="Arial" pitchFamily="34" charset="-120"/>
              </a:rPr>
              <a:t>13</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4114800" cy="201168"/>
          </a:xfrm>
          <a:prstGeom prst="rect">
            <a:avLst/>
          </a:prstGeom>
          <a:noFill/>
          <a:ln/>
        </p:spPr>
        <p:txBody>
          <a:bodyPr wrap="square" lIns="0" tIns="0" rIns="0" bIns="0" rtlCol="0" anchor="ctr"/>
          <a:lstStyle/>
          <a:p>
            <a:pPr indent="0" marL="0">
              <a:buNone/>
            </a:pPr>
            <a:r>
              <a:rPr lang="en-US" sz="850" b="1" dirty="0">
                <a:solidFill>
                  <a:srgbClr val="00A8A8"/>
                </a:solidFill>
                <a:latin typeface="Arial" pitchFamily="34" charset="0"/>
                <a:ea typeface="Arial" pitchFamily="34" charset="-122"/>
                <a:cs typeface="Arial" pitchFamily="34" charset="-120"/>
              </a:rPr>
              <a:t>EVALUATION</a:t>
            </a:r>
            <a:endParaRPr lang="en-US" sz="850" dirty="0"/>
          </a:p>
        </p:txBody>
      </p:sp>
      <p:sp>
        <p:nvSpPr>
          <p:cNvPr id="3" name="Text 1"/>
          <p:cNvSpPr/>
          <p:nvPr/>
        </p:nvSpPr>
        <p:spPr>
          <a:xfrm>
            <a:off x="502920" y="502920"/>
            <a:ext cx="11155680" cy="502920"/>
          </a:xfrm>
          <a:prstGeom prst="rect">
            <a:avLst/>
          </a:prstGeom>
          <a:noFill/>
          <a:ln/>
        </p:spPr>
        <p:txBody>
          <a:bodyPr wrap="square" lIns="0" tIns="0" rIns="0" bIns="0" rtlCol="0" anchor="ctr">
            <a:normAutofit/>
          </a:bodyPr>
          <a:lstStyle/>
          <a:p>
            <a:pPr indent="0" marL="0">
              <a:buNone/>
            </a:pPr>
            <a:r>
              <a:rPr lang="en-US" sz="3000" b="1" dirty="0">
                <a:solidFill>
                  <a:srgbClr val="102A43"/>
                </a:solidFill>
                <a:latin typeface="Arial" pitchFamily="34" charset="0"/>
                <a:ea typeface="Arial" pitchFamily="34" charset="-122"/>
                <a:cs typeface="Arial" pitchFamily="34" charset="-120"/>
              </a:rPr>
              <a:t>Strengths: why CREMA-D became useful</a:t>
            </a:r>
            <a:endParaRPr lang="en-US" sz="3000" dirty="0"/>
          </a:p>
        </p:txBody>
      </p:sp>
      <p:sp>
        <p:nvSpPr>
          <p:cNvPr id="4" name="Shape 2"/>
          <p:cNvSpPr/>
          <p:nvPr/>
        </p:nvSpPr>
        <p:spPr>
          <a:xfrm>
            <a:off x="502920" y="1078992"/>
            <a:ext cx="11155680" cy="0"/>
          </a:xfrm>
          <a:prstGeom prst="line">
            <a:avLst/>
          </a:prstGeom>
          <a:noFill/>
          <a:ln w="7620">
            <a:solidFill>
              <a:srgbClr val="CBD2D9"/>
            </a:solidFill>
            <a:prstDash val="solid"/>
          </a:ln>
        </p:spPr>
      </p:sp>
      <p:sp>
        <p:nvSpPr>
          <p:cNvPr id="5" name="Text 3"/>
          <p:cNvSpPr/>
          <p:nvPr/>
        </p:nvSpPr>
        <p:spPr>
          <a:xfrm>
            <a:off x="868680" y="1417320"/>
            <a:ext cx="10332720" cy="2743200"/>
          </a:xfrm>
          <a:prstGeom prst="rect">
            <a:avLst/>
          </a:prstGeom>
          <a:noFill/>
          <a:ln/>
        </p:spPr>
        <p:txBody>
          <a:bodyPr wrap="square" lIns="381" tIns="381" rIns="381" bIns="381" rtlCol="0" anchor="t">
            <a:normAutofit/>
          </a:bodyPr>
          <a:lstStyle/>
          <a:p>
            <a:pPr indent="0" marL="0">
              <a:buNone/>
            </a:pPr>
            <a:r>
              <a:rPr lang="en-US" sz="1600" b="1" dirty="0">
                <a:solidFill>
                  <a:srgbClr val="00A8A8"/>
                </a:solidFill>
                <a:latin typeface="Arial" pitchFamily="34" charset="0"/>
                <a:ea typeface="Arial" pitchFamily="34" charset="-122"/>
                <a:cs typeface="Arial" pitchFamily="34" charset="-120"/>
              </a:rPr>
              <a:t>● </a:t>
            </a:r>
            <a:pPr indent="0" marL="0">
              <a:buNone/>
            </a:pPr>
            <a:r>
              <a:rPr lang="en-US" sz="1600" dirty="0">
                <a:solidFill>
                  <a:srgbClr val="17202A"/>
                </a:solidFill>
                <a:latin typeface="Arial" pitchFamily="34" charset="0"/>
                <a:ea typeface="Arial" pitchFamily="34" charset="-122"/>
                <a:cs typeface="Arial" pitchFamily="34" charset="-120"/>
              </a:rPr>
              <a:t>Large enough for modern supervised models, while still interpretable and manually inspectable.</a:t>
            </a:r>
            <a:pPr indent="0" marL="0">
              <a:buNone/>
            </a:pPr>
            <a:r>
              <a:rPr lang="en-US" sz="1600" dirty="0">
                <a:solidFill>
                  <a:srgbClr val="000000"/>
                </a:solidFill>
                <a:latin typeface="Arial" pitchFamily="34" charset="0"/>
                <a:ea typeface="Arial" pitchFamily="34" charset="-122"/>
                <a:cs typeface="Arial" pitchFamily="34" charset="-120"/>
              </a:rPr>
              <a:t>
</a:t>
            </a:r>
            <a:pPr indent="0" marL="0">
              <a:buNone/>
            </a:pPr>
            <a:r>
              <a:rPr lang="en-US" sz="1600" b="1" dirty="0">
                <a:solidFill>
                  <a:srgbClr val="00A8A8"/>
                </a:solidFill>
                <a:latin typeface="Arial" pitchFamily="34" charset="0"/>
                <a:ea typeface="Arial" pitchFamily="34" charset="-122"/>
                <a:cs typeface="Arial" pitchFamily="34" charset="-120"/>
              </a:rPr>
              <a:t>● </a:t>
            </a:r>
            <a:pPr indent="0" marL="0">
              <a:buNone/>
            </a:pPr>
            <a:r>
              <a:rPr lang="en-US" sz="1600" dirty="0">
                <a:solidFill>
                  <a:srgbClr val="17202A"/>
                </a:solidFill>
                <a:latin typeface="Arial" pitchFamily="34" charset="0"/>
                <a:ea typeface="Arial" pitchFamily="34" charset="-122"/>
                <a:cs typeface="Arial" pitchFamily="34" charset="-120"/>
              </a:rPr>
              <a:t>Dynamic audiovisual clips, not only still facial images or audio snippets.</a:t>
            </a:r>
            <a:pPr indent="0" marL="0">
              <a:buNone/>
            </a:pPr>
            <a:r>
              <a:rPr lang="en-US" sz="1600" dirty="0">
                <a:solidFill>
                  <a:srgbClr val="000000"/>
                </a:solidFill>
                <a:latin typeface="Arial" pitchFamily="34" charset="0"/>
                <a:ea typeface="Arial" pitchFamily="34" charset="-122"/>
                <a:cs typeface="Arial" pitchFamily="34" charset="-120"/>
              </a:rPr>
              <a:t>
</a:t>
            </a:r>
            <a:pPr indent="0" marL="0">
              <a:buNone/>
            </a:pPr>
            <a:r>
              <a:rPr lang="en-US" sz="1600" b="1" dirty="0">
                <a:solidFill>
                  <a:srgbClr val="00A8A8"/>
                </a:solidFill>
                <a:latin typeface="Arial" pitchFamily="34" charset="0"/>
                <a:ea typeface="Arial" pitchFamily="34" charset="-122"/>
                <a:cs typeface="Arial" pitchFamily="34" charset="-120"/>
              </a:rPr>
              <a:t>● </a:t>
            </a:r>
            <a:pPr indent="0" marL="0">
              <a:buNone/>
            </a:pPr>
            <a:r>
              <a:rPr lang="en-US" sz="1600" dirty="0">
                <a:solidFill>
                  <a:srgbClr val="17202A"/>
                </a:solidFill>
                <a:latin typeface="Arial" pitchFamily="34" charset="0"/>
                <a:ea typeface="Arial" pitchFamily="34" charset="-122"/>
                <a:cs typeface="Arial" pitchFamily="34" charset="-120"/>
              </a:rPr>
              <a:t>Diverse actor pool compared with many early emotion corpora.</a:t>
            </a:r>
            <a:pPr indent="0" marL="0">
              <a:buNone/>
            </a:pPr>
            <a:r>
              <a:rPr lang="en-US" sz="1600" dirty="0">
                <a:solidFill>
                  <a:srgbClr val="000000"/>
                </a:solidFill>
                <a:latin typeface="Arial" pitchFamily="34" charset="0"/>
                <a:ea typeface="Arial" pitchFamily="34" charset="-122"/>
                <a:cs typeface="Arial" pitchFamily="34" charset="-120"/>
              </a:rPr>
              <a:t>
</a:t>
            </a:r>
            <a:pPr indent="0" marL="0">
              <a:buNone/>
            </a:pPr>
            <a:r>
              <a:rPr lang="en-US" sz="1600" b="1" dirty="0">
                <a:solidFill>
                  <a:srgbClr val="00A8A8"/>
                </a:solidFill>
                <a:latin typeface="Arial" pitchFamily="34" charset="0"/>
                <a:ea typeface="Arial" pitchFamily="34" charset="-122"/>
                <a:cs typeface="Arial" pitchFamily="34" charset="-120"/>
              </a:rPr>
              <a:t>● </a:t>
            </a:r>
            <a:pPr indent="0" marL="0">
              <a:buNone/>
            </a:pPr>
            <a:r>
              <a:rPr lang="en-US" sz="1600" dirty="0">
                <a:solidFill>
                  <a:srgbClr val="17202A"/>
                </a:solidFill>
                <a:latin typeface="Arial" pitchFamily="34" charset="0"/>
                <a:ea typeface="Arial" pitchFamily="34" charset="-122"/>
                <a:cs typeface="Arial" pitchFamily="34" charset="-120"/>
              </a:rPr>
              <a:t>Crowd ratings provide modality-specific perception labels and agreement measures.</a:t>
            </a:r>
            <a:pPr indent="0" marL="0">
              <a:buNone/>
            </a:pPr>
            <a:r>
              <a:rPr lang="en-US" sz="1600" dirty="0">
                <a:solidFill>
                  <a:srgbClr val="000000"/>
                </a:solidFill>
                <a:latin typeface="Arial" pitchFamily="34" charset="0"/>
                <a:ea typeface="Arial" pitchFamily="34" charset="-122"/>
                <a:cs typeface="Arial" pitchFamily="34" charset="-120"/>
              </a:rPr>
              <a:t>
</a:t>
            </a:r>
            <a:pPr indent="0" marL="0">
              <a:buNone/>
            </a:pPr>
            <a:r>
              <a:rPr lang="en-US" sz="1600" b="1" dirty="0">
                <a:solidFill>
                  <a:srgbClr val="00A8A8"/>
                </a:solidFill>
                <a:latin typeface="Arial" pitchFamily="34" charset="0"/>
                <a:ea typeface="Arial" pitchFamily="34" charset="-122"/>
                <a:cs typeface="Arial" pitchFamily="34" charset="-120"/>
              </a:rPr>
              <a:t>● </a:t>
            </a:r>
            <a:pPr indent="0" marL="0">
              <a:buNone/>
            </a:pPr>
            <a:r>
              <a:rPr lang="en-US" sz="1600" dirty="0">
                <a:solidFill>
                  <a:srgbClr val="17202A"/>
                </a:solidFill>
                <a:latin typeface="Arial" pitchFamily="34" charset="0"/>
                <a:ea typeface="Arial" pitchFamily="34" charset="-122"/>
                <a:cs typeface="Arial" pitchFamily="34" charset="-120"/>
              </a:rPr>
              <a:t>Open release with media and tabulated responses supports reproducibility.</a:t>
            </a:r>
            <a:endParaRPr lang="en-US" sz="1600" dirty="0"/>
          </a:p>
        </p:txBody>
      </p:sp>
      <p:sp>
        <p:nvSpPr>
          <p:cNvPr id="6" name="Text 4"/>
          <p:cNvSpPr/>
          <p:nvPr/>
        </p:nvSpPr>
        <p:spPr>
          <a:xfrm>
            <a:off x="1234440" y="4983480"/>
            <a:ext cx="9601200" cy="320040"/>
          </a:xfrm>
          <a:prstGeom prst="rect">
            <a:avLst/>
          </a:prstGeom>
          <a:noFill/>
          <a:ln/>
        </p:spPr>
        <p:txBody>
          <a:bodyPr wrap="square" lIns="381" tIns="381" rIns="381" bIns="381" rtlCol="0" anchor="ctr">
            <a:normAutofit/>
          </a:bodyPr>
          <a:lstStyle/>
          <a:p>
            <a:pPr algn="ctr" indent="0" marL="0">
              <a:buNone/>
            </a:pPr>
            <a:r>
              <a:rPr lang="en-US" sz="1550" b="1" dirty="0">
                <a:solidFill>
                  <a:srgbClr val="102A43"/>
                </a:solidFill>
                <a:latin typeface="Arial" pitchFamily="34" charset="0"/>
                <a:ea typeface="Arial" pitchFamily="34" charset="-122"/>
                <a:cs typeface="Arial" pitchFamily="34" charset="-120"/>
              </a:rPr>
              <a:t>Best use case: controlled experiments on perceived emotion signals and multimodal fusion.</a:t>
            </a:r>
            <a:endParaRPr lang="en-US" sz="1550" dirty="0"/>
          </a:p>
        </p:txBody>
      </p:sp>
      <p:sp>
        <p:nvSpPr>
          <p:cNvPr id="7" name="Text 5"/>
          <p:cNvSpPr/>
          <p:nvPr/>
        </p:nvSpPr>
        <p:spPr>
          <a:xfrm>
            <a:off x="502920" y="6473952"/>
            <a:ext cx="9144000" cy="164592"/>
          </a:xfrm>
          <a:prstGeom prst="rect">
            <a:avLst/>
          </a:prstGeom>
          <a:noFill/>
          <a:ln/>
        </p:spPr>
        <p:txBody>
          <a:bodyPr wrap="square" lIns="0" tIns="0" rIns="0" bIns="0" rtlCol="0" anchor="ctr"/>
          <a:lstStyle/>
          <a:p>
            <a:pPr indent="0" marL="0">
              <a:buNone/>
            </a:pPr>
            <a:r>
              <a:rPr lang="en-US" sz="750" dirty="0">
                <a:solidFill>
                  <a:srgbClr val="7B8794"/>
                </a:solidFill>
                <a:latin typeface="Arial" pitchFamily="34" charset="0"/>
                <a:ea typeface="Arial" pitchFamily="34" charset="-122"/>
                <a:cs typeface="Arial" pitchFamily="34" charset="-120"/>
              </a:rPr>
              <a:t>CREMA-D seminar | strengths</a:t>
            </a:r>
            <a:endParaRPr lang="en-US" sz="750" dirty="0"/>
          </a:p>
        </p:txBody>
      </p:sp>
      <p:sp>
        <p:nvSpPr>
          <p:cNvPr id="8" name="Text 6"/>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50" dirty="0">
                <a:solidFill>
                  <a:srgbClr val="7B8794"/>
                </a:solidFill>
                <a:latin typeface="Arial" pitchFamily="34" charset="0"/>
                <a:ea typeface="Arial" pitchFamily="34" charset="-122"/>
                <a:cs typeface="Arial" pitchFamily="34" charset="-120"/>
              </a:rPr>
              <a:t>14</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4114800" cy="201168"/>
          </a:xfrm>
          <a:prstGeom prst="rect">
            <a:avLst/>
          </a:prstGeom>
          <a:noFill/>
          <a:ln/>
        </p:spPr>
        <p:txBody>
          <a:bodyPr wrap="square" lIns="0" tIns="0" rIns="0" bIns="0" rtlCol="0" anchor="ctr"/>
          <a:lstStyle/>
          <a:p>
            <a:pPr indent="0" marL="0">
              <a:buNone/>
            </a:pPr>
            <a:r>
              <a:rPr lang="en-US" sz="850" b="1" dirty="0">
                <a:solidFill>
                  <a:srgbClr val="00A8A8"/>
                </a:solidFill>
                <a:latin typeface="Arial" pitchFamily="34" charset="0"/>
                <a:ea typeface="Arial" pitchFamily="34" charset="-122"/>
                <a:cs typeface="Arial" pitchFamily="34" charset="-120"/>
              </a:rPr>
              <a:t>EVALUATION</a:t>
            </a:r>
            <a:endParaRPr lang="en-US" sz="850" dirty="0"/>
          </a:p>
        </p:txBody>
      </p:sp>
      <p:sp>
        <p:nvSpPr>
          <p:cNvPr id="3" name="Text 1"/>
          <p:cNvSpPr/>
          <p:nvPr/>
        </p:nvSpPr>
        <p:spPr>
          <a:xfrm>
            <a:off x="502920" y="502920"/>
            <a:ext cx="11155680" cy="502920"/>
          </a:xfrm>
          <a:prstGeom prst="rect">
            <a:avLst/>
          </a:prstGeom>
          <a:noFill/>
          <a:ln/>
        </p:spPr>
        <p:txBody>
          <a:bodyPr wrap="square" lIns="0" tIns="0" rIns="0" bIns="0" rtlCol="0" anchor="ctr">
            <a:normAutofit/>
          </a:bodyPr>
          <a:lstStyle/>
          <a:p>
            <a:pPr indent="0" marL="0">
              <a:buNone/>
            </a:pPr>
            <a:r>
              <a:rPr lang="en-US" sz="3000" b="1" dirty="0">
                <a:solidFill>
                  <a:srgbClr val="102A43"/>
                </a:solidFill>
                <a:latin typeface="Arial" pitchFamily="34" charset="0"/>
                <a:ea typeface="Arial" pitchFamily="34" charset="-122"/>
                <a:cs typeface="Arial" pitchFamily="34" charset="-120"/>
              </a:rPr>
              <a:t>Limitations: what CREMA-D cannot answer alone</a:t>
            </a:r>
            <a:endParaRPr lang="en-US" sz="3000" dirty="0"/>
          </a:p>
        </p:txBody>
      </p:sp>
      <p:sp>
        <p:nvSpPr>
          <p:cNvPr id="4" name="Shape 2"/>
          <p:cNvSpPr/>
          <p:nvPr/>
        </p:nvSpPr>
        <p:spPr>
          <a:xfrm>
            <a:off x="502920" y="1078992"/>
            <a:ext cx="11155680" cy="0"/>
          </a:xfrm>
          <a:prstGeom prst="line">
            <a:avLst/>
          </a:prstGeom>
          <a:noFill/>
          <a:ln w="7620">
            <a:solidFill>
              <a:srgbClr val="CBD2D9"/>
            </a:solidFill>
            <a:prstDash val="solid"/>
          </a:ln>
        </p:spPr>
      </p:sp>
      <p:sp>
        <p:nvSpPr>
          <p:cNvPr id="5" name="Shape 3"/>
          <p:cNvSpPr/>
          <p:nvPr/>
        </p:nvSpPr>
        <p:spPr>
          <a:xfrm>
            <a:off x="777240" y="1417320"/>
            <a:ext cx="3154680" cy="1005840"/>
          </a:xfrm>
          <a:prstGeom prst="roundRect">
            <a:avLst>
              <a:gd name="adj" fmla="val 7273"/>
            </a:avLst>
          </a:prstGeom>
          <a:solidFill>
            <a:srgbClr val="FF6B6B"/>
          </a:solidFill>
          <a:ln w="12700">
            <a:solidFill>
              <a:srgbClr val="FF6B6B">
                <a:alpha val="0"/>
              </a:srgbClr>
            </a:solidFill>
            <a:prstDash val="solid"/>
          </a:ln>
        </p:spPr>
      </p:sp>
      <p:sp>
        <p:nvSpPr>
          <p:cNvPr id="6" name="Text 4"/>
          <p:cNvSpPr/>
          <p:nvPr/>
        </p:nvSpPr>
        <p:spPr>
          <a:xfrm>
            <a:off x="941832" y="1645920"/>
            <a:ext cx="2834640" cy="201168"/>
          </a:xfrm>
          <a:prstGeom prst="rect">
            <a:avLst/>
          </a:prstGeom>
          <a:noFill/>
          <a:ln/>
        </p:spPr>
        <p:txBody>
          <a:bodyPr wrap="square" lIns="0" tIns="0" rIns="0" bIns="0" rtlCol="0" anchor="ctr"/>
          <a:lstStyle/>
          <a:p>
            <a:pPr algn="ctr" indent="0" marL="0">
              <a:buNone/>
            </a:pPr>
            <a:r>
              <a:rPr lang="en-US" sz="1450" b="1" dirty="0">
                <a:solidFill>
                  <a:srgbClr val="FFFFFF"/>
                </a:solidFill>
                <a:latin typeface="Arial" pitchFamily="34" charset="0"/>
                <a:ea typeface="Arial" pitchFamily="34" charset="-122"/>
                <a:cs typeface="Arial" pitchFamily="34" charset="-120"/>
              </a:rPr>
              <a:t>Acted performance</a:t>
            </a:r>
            <a:endParaRPr lang="en-US" sz="1450" dirty="0"/>
          </a:p>
        </p:txBody>
      </p:sp>
      <p:sp>
        <p:nvSpPr>
          <p:cNvPr id="7" name="Text 5"/>
          <p:cNvSpPr/>
          <p:nvPr/>
        </p:nvSpPr>
        <p:spPr>
          <a:xfrm>
            <a:off x="941832" y="1956816"/>
            <a:ext cx="2834640" cy="201168"/>
          </a:xfrm>
          <a:prstGeom prst="rect">
            <a:avLst/>
          </a:prstGeom>
          <a:noFill/>
          <a:ln/>
        </p:spPr>
        <p:txBody>
          <a:bodyPr wrap="square" lIns="0" tIns="0" rIns="0" bIns="0" rtlCol="0" anchor="ctr">
            <a:normAutofit/>
          </a:bodyPr>
          <a:lstStyle/>
          <a:p>
            <a:pPr algn="ctr" indent="0" marL="0">
              <a:buNone/>
            </a:pPr>
            <a:r>
              <a:rPr lang="en-US" sz="950" dirty="0">
                <a:solidFill>
                  <a:srgbClr val="FFFFFF"/>
                </a:solidFill>
                <a:latin typeface="Arial" pitchFamily="34" charset="0"/>
                <a:ea typeface="Arial" pitchFamily="34" charset="-122"/>
                <a:cs typeface="Arial" pitchFamily="34" charset="-120"/>
              </a:rPr>
              <a:t>not spontaneous everyday emotion</a:t>
            </a:r>
            <a:endParaRPr lang="en-US" sz="950" dirty="0"/>
          </a:p>
        </p:txBody>
      </p:sp>
      <p:sp>
        <p:nvSpPr>
          <p:cNvPr id="8" name="Shape 6"/>
          <p:cNvSpPr/>
          <p:nvPr/>
        </p:nvSpPr>
        <p:spPr>
          <a:xfrm>
            <a:off x="4544568" y="1417320"/>
            <a:ext cx="3154680" cy="1005840"/>
          </a:xfrm>
          <a:prstGeom prst="roundRect">
            <a:avLst>
              <a:gd name="adj" fmla="val 7273"/>
            </a:avLst>
          </a:prstGeom>
          <a:solidFill>
            <a:srgbClr val="F4B400"/>
          </a:solidFill>
          <a:ln w="12700">
            <a:solidFill>
              <a:srgbClr val="F4B400">
                <a:alpha val="0"/>
              </a:srgbClr>
            </a:solidFill>
            <a:prstDash val="solid"/>
          </a:ln>
        </p:spPr>
      </p:sp>
      <p:sp>
        <p:nvSpPr>
          <p:cNvPr id="9" name="Text 7"/>
          <p:cNvSpPr/>
          <p:nvPr/>
        </p:nvSpPr>
        <p:spPr>
          <a:xfrm>
            <a:off x="4709160" y="1645920"/>
            <a:ext cx="2834640" cy="201168"/>
          </a:xfrm>
          <a:prstGeom prst="rect">
            <a:avLst/>
          </a:prstGeom>
          <a:noFill/>
          <a:ln/>
        </p:spPr>
        <p:txBody>
          <a:bodyPr wrap="square" lIns="0" tIns="0" rIns="0" bIns="0" rtlCol="0" anchor="ctr"/>
          <a:lstStyle/>
          <a:p>
            <a:pPr algn="ctr" indent="0" marL="0">
              <a:buNone/>
            </a:pPr>
            <a:r>
              <a:rPr lang="en-US" sz="1450" b="1" dirty="0">
                <a:solidFill>
                  <a:srgbClr val="FFFFFF"/>
                </a:solidFill>
                <a:latin typeface="Arial" pitchFamily="34" charset="0"/>
                <a:ea typeface="Arial" pitchFamily="34" charset="-122"/>
                <a:cs typeface="Arial" pitchFamily="34" charset="-120"/>
              </a:rPr>
              <a:t>Short clips</a:t>
            </a:r>
            <a:endParaRPr lang="en-US" sz="1450" dirty="0"/>
          </a:p>
        </p:txBody>
      </p:sp>
      <p:sp>
        <p:nvSpPr>
          <p:cNvPr id="10" name="Text 8"/>
          <p:cNvSpPr/>
          <p:nvPr/>
        </p:nvSpPr>
        <p:spPr>
          <a:xfrm>
            <a:off x="4709160" y="1956816"/>
            <a:ext cx="2834640" cy="201168"/>
          </a:xfrm>
          <a:prstGeom prst="rect">
            <a:avLst/>
          </a:prstGeom>
          <a:noFill/>
          <a:ln/>
        </p:spPr>
        <p:txBody>
          <a:bodyPr wrap="square" lIns="0" tIns="0" rIns="0" bIns="0" rtlCol="0" anchor="ctr">
            <a:normAutofit/>
          </a:bodyPr>
          <a:lstStyle/>
          <a:p>
            <a:pPr algn="ctr" indent="0" marL="0">
              <a:buNone/>
            </a:pPr>
            <a:r>
              <a:rPr lang="en-US" sz="950" dirty="0">
                <a:solidFill>
                  <a:srgbClr val="FFFFFF"/>
                </a:solidFill>
                <a:latin typeface="Arial" pitchFamily="34" charset="0"/>
                <a:ea typeface="Arial" pitchFamily="34" charset="-122"/>
                <a:cs typeface="Arial" pitchFamily="34" charset="-120"/>
              </a:rPr>
              <a:t>minimal discourse context</a:t>
            </a:r>
            <a:endParaRPr lang="en-US" sz="950" dirty="0"/>
          </a:p>
        </p:txBody>
      </p:sp>
      <p:sp>
        <p:nvSpPr>
          <p:cNvPr id="11" name="Shape 9"/>
          <p:cNvSpPr/>
          <p:nvPr/>
        </p:nvSpPr>
        <p:spPr>
          <a:xfrm>
            <a:off x="8311896" y="1417320"/>
            <a:ext cx="3154680" cy="1005840"/>
          </a:xfrm>
          <a:prstGeom prst="roundRect">
            <a:avLst>
              <a:gd name="adj" fmla="val 7273"/>
            </a:avLst>
          </a:prstGeom>
          <a:solidFill>
            <a:srgbClr val="7C3AED"/>
          </a:solidFill>
          <a:ln w="12700">
            <a:solidFill>
              <a:srgbClr val="7C3AED">
                <a:alpha val="0"/>
              </a:srgbClr>
            </a:solidFill>
            <a:prstDash val="solid"/>
          </a:ln>
        </p:spPr>
      </p:sp>
      <p:sp>
        <p:nvSpPr>
          <p:cNvPr id="12" name="Text 10"/>
          <p:cNvSpPr/>
          <p:nvPr/>
        </p:nvSpPr>
        <p:spPr>
          <a:xfrm>
            <a:off x="8476488" y="1645920"/>
            <a:ext cx="2834640" cy="201168"/>
          </a:xfrm>
          <a:prstGeom prst="rect">
            <a:avLst/>
          </a:prstGeom>
          <a:noFill/>
          <a:ln/>
        </p:spPr>
        <p:txBody>
          <a:bodyPr wrap="square" lIns="0" tIns="0" rIns="0" bIns="0" rtlCol="0" anchor="ctr"/>
          <a:lstStyle/>
          <a:p>
            <a:pPr algn="ctr" indent="0" marL="0">
              <a:buNone/>
            </a:pPr>
            <a:r>
              <a:rPr lang="en-US" sz="1450" b="1" dirty="0">
                <a:solidFill>
                  <a:srgbClr val="FFFFFF"/>
                </a:solidFill>
                <a:latin typeface="Arial" pitchFamily="34" charset="0"/>
                <a:ea typeface="Arial" pitchFamily="34" charset="-122"/>
                <a:cs typeface="Arial" pitchFamily="34" charset="-120"/>
              </a:rPr>
              <a:t>English sentences</a:t>
            </a:r>
            <a:endParaRPr lang="en-US" sz="1450" dirty="0"/>
          </a:p>
        </p:txBody>
      </p:sp>
      <p:sp>
        <p:nvSpPr>
          <p:cNvPr id="13" name="Text 11"/>
          <p:cNvSpPr/>
          <p:nvPr/>
        </p:nvSpPr>
        <p:spPr>
          <a:xfrm>
            <a:off x="8476488" y="1956816"/>
            <a:ext cx="2834640" cy="201168"/>
          </a:xfrm>
          <a:prstGeom prst="rect">
            <a:avLst/>
          </a:prstGeom>
          <a:noFill/>
          <a:ln/>
        </p:spPr>
        <p:txBody>
          <a:bodyPr wrap="square" lIns="0" tIns="0" rIns="0" bIns="0" rtlCol="0" anchor="ctr">
            <a:normAutofit/>
          </a:bodyPr>
          <a:lstStyle/>
          <a:p>
            <a:pPr algn="ctr" indent="0" marL="0">
              <a:buNone/>
            </a:pPr>
            <a:r>
              <a:rPr lang="en-US" sz="950" dirty="0">
                <a:solidFill>
                  <a:srgbClr val="FFFFFF"/>
                </a:solidFill>
                <a:latin typeface="Arial" pitchFamily="34" charset="0"/>
                <a:ea typeface="Arial" pitchFamily="34" charset="-122"/>
                <a:cs typeface="Arial" pitchFamily="34" charset="-120"/>
              </a:rPr>
              <a:t>language and culture constraints</a:t>
            </a:r>
            <a:endParaRPr lang="en-US" sz="950" dirty="0"/>
          </a:p>
        </p:txBody>
      </p:sp>
      <p:sp>
        <p:nvSpPr>
          <p:cNvPr id="14" name="Shape 12"/>
          <p:cNvSpPr/>
          <p:nvPr/>
        </p:nvSpPr>
        <p:spPr>
          <a:xfrm>
            <a:off x="777240" y="2990088"/>
            <a:ext cx="3154680" cy="1005840"/>
          </a:xfrm>
          <a:prstGeom prst="roundRect">
            <a:avLst>
              <a:gd name="adj" fmla="val 7273"/>
            </a:avLst>
          </a:prstGeom>
          <a:solidFill>
            <a:srgbClr val="00A8A8"/>
          </a:solidFill>
          <a:ln w="12700">
            <a:solidFill>
              <a:srgbClr val="00A8A8">
                <a:alpha val="0"/>
              </a:srgbClr>
            </a:solidFill>
            <a:prstDash val="solid"/>
          </a:ln>
        </p:spPr>
      </p:sp>
      <p:sp>
        <p:nvSpPr>
          <p:cNvPr id="15" name="Text 13"/>
          <p:cNvSpPr/>
          <p:nvPr/>
        </p:nvSpPr>
        <p:spPr>
          <a:xfrm>
            <a:off x="941832" y="3218688"/>
            <a:ext cx="2834640" cy="201168"/>
          </a:xfrm>
          <a:prstGeom prst="rect">
            <a:avLst/>
          </a:prstGeom>
          <a:noFill/>
          <a:ln/>
        </p:spPr>
        <p:txBody>
          <a:bodyPr wrap="square" lIns="0" tIns="0" rIns="0" bIns="0" rtlCol="0" anchor="ctr"/>
          <a:lstStyle/>
          <a:p>
            <a:pPr algn="ctr" indent="0" marL="0">
              <a:buNone/>
            </a:pPr>
            <a:r>
              <a:rPr lang="en-US" sz="1450" b="1" dirty="0">
                <a:solidFill>
                  <a:srgbClr val="FFFFFF"/>
                </a:solidFill>
                <a:latin typeface="Arial" pitchFamily="34" charset="0"/>
                <a:ea typeface="Arial" pitchFamily="34" charset="-122"/>
                <a:cs typeface="Arial" pitchFamily="34" charset="-120"/>
              </a:rPr>
              <a:t>Rater perception</a:t>
            </a:r>
            <a:endParaRPr lang="en-US" sz="1450" dirty="0"/>
          </a:p>
        </p:txBody>
      </p:sp>
      <p:sp>
        <p:nvSpPr>
          <p:cNvPr id="16" name="Text 14"/>
          <p:cNvSpPr/>
          <p:nvPr/>
        </p:nvSpPr>
        <p:spPr>
          <a:xfrm>
            <a:off x="941832" y="3529584"/>
            <a:ext cx="2834640" cy="201168"/>
          </a:xfrm>
          <a:prstGeom prst="rect">
            <a:avLst/>
          </a:prstGeom>
          <a:noFill/>
          <a:ln/>
        </p:spPr>
        <p:txBody>
          <a:bodyPr wrap="square" lIns="0" tIns="0" rIns="0" bIns="0" rtlCol="0" anchor="ctr">
            <a:normAutofit/>
          </a:bodyPr>
          <a:lstStyle/>
          <a:p>
            <a:pPr algn="ctr" indent="0" marL="0">
              <a:buNone/>
            </a:pPr>
            <a:r>
              <a:rPr lang="en-US" sz="950" dirty="0">
                <a:solidFill>
                  <a:srgbClr val="FFFFFF"/>
                </a:solidFill>
                <a:latin typeface="Arial" pitchFamily="34" charset="0"/>
                <a:ea typeface="Arial" pitchFamily="34" charset="-122"/>
                <a:cs typeface="Arial" pitchFamily="34" charset="-120"/>
              </a:rPr>
              <a:t>not inner emotional state</a:t>
            </a:r>
            <a:endParaRPr lang="en-US" sz="950" dirty="0"/>
          </a:p>
        </p:txBody>
      </p:sp>
      <p:sp>
        <p:nvSpPr>
          <p:cNvPr id="17" name="Shape 15"/>
          <p:cNvSpPr/>
          <p:nvPr/>
        </p:nvSpPr>
        <p:spPr>
          <a:xfrm>
            <a:off x="4544568" y="2990088"/>
            <a:ext cx="3154680" cy="1005840"/>
          </a:xfrm>
          <a:prstGeom prst="roundRect">
            <a:avLst>
              <a:gd name="adj" fmla="val 7273"/>
            </a:avLst>
          </a:prstGeom>
          <a:solidFill>
            <a:srgbClr val="3E4C59"/>
          </a:solidFill>
          <a:ln w="12700">
            <a:solidFill>
              <a:srgbClr val="3E4C59">
                <a:alpha val="0"/>
              </a:srgbClr>
            </a:solidFill>
            <a:prstDash val="solid"/>
          </a:ln>
        </p:spPr>
      </p:sp>
      <p:sp>
        <p:nvSpPr>
          <p:cNvPr id="18" name="Text 16"/>
          <p:cNvSpPr/>
          <p:nvPr/>
        </p:nvSpPr>
        <p:spPr>
          <a:xfrm>
            <a:off x="4709160" y="3218688"/>
            <a:ext cx="2834640" cy="201168"/>
          </a:xfrm>
          <a:prstGeom prst="rect">
            <a:avLst/>
          </a:prstGeom>
          <a:noFill/>
          <a:ln/>
        </p:spPr>
        <p:txBody>
          <a:bodyPr wrap="square" lIns="0" tIns="0" rIns="0" bIns="0" rtlCol="0" anchor="ctr"/>
          <a:lstStyle/>
          <a:p>
            <a:pPr algn="ctr" indent="0" marL="0">
              <a:buNone/>
            </a:pPr>
            <a:r>
              <a:rPr lang="en-US" sz="1450" b="1" dirty="0">
                <a:solidFill>
                  <a:srgbClr val="FFFFFF"/>
                </a:solidFill>
                <a:latin typeface="Arial" pitchFamily="34" charset="0"/>
                <a:ea typeface="Arial" pitchFamily="34" charset="-122"/>
                <a:cs typeface="Arial" pitchFamily="34" charset="-120"/>
              </a:rPr>
              <a:t>Benchmark habit</a:t>
            </a:r>
            <a:endParaRPr lang="en-US" sz="1450" dirty="0"/>
          </a:p>
        </p:txBody>
      </p:sp>
      <p:sp>
        <p:nvSpPr>
          <p:cNvPr id="19" name="Text 17"/>
          <p:cNvSpPr/>
          <p:nvPr/>
        </p:nvSpPr>
        <p:spPr>
          <a:xfrm>
            <a:off x="4709160" y="3529584"/>
            <a:ext cx="2834640" cy="201168"/>
          </a:xfrm>
          <a:prstGeom prst="rect">
            <a:avLst/>
          </a:prstGeom>
          <a:noFill/>
          <a:ln/>
        </p:spPr>
        <p:txBody>
          <a:bodyPr wrap="square" lIns="0" tIns="0" rIns="0" bIns="0" rtlCol="0" anchor="ctr">
            <a:normAutofit/>
          </a:bodyPr>
          <a:lstStyle/>
          <a:p>
            <a:pPr algn="ctr" indent="0" marL="0">
              <a:buNone/>
            </a:pPr>
            <a:r>
              <a:rPr lang="en-US" sz="950" dirty="0">
                <a:solidFill>
                  <a:srgbClr val="FFFFFF"/>
                </a:solidFill>
                <a:latin typeface="Arial" pitchFamily="34" charset="0"/>
                <a:ea typeface="Arial" pitchFamily="34" charset="-122"/>
                <a:cs typeface="Arial" pitchFamily="34" charset="-120"/>
              </a:rPr>
              <a:t>risk of overfitting to corpus artifacts</a:t>
            </a:r>
            <a:endParaRPr lang="en-US" sz="950" dirty="0"/>
          </a:p>
        </p:txBody>
      </p:sp>
      <p:sp>
        <p:nvSpPr>
          <p:cNvPr id="20" name="Text 18"/>
          <p:cNvSpPr/>
          <p:nvPr/>
        </p:nvSpPr>
        <p:spPr>
          <a:xfrm>
            <a:off x="1188720" y="5074920"/>
            <a:ext cx="9784080" cy="320040"/>
          </a:xfrm>
          <a:prstGeom prst="rect">
            <a:avLst/>
          </a:prstGeom>
          <a:noFill/>
          <a:ln/>
        </p:spPr>
        <p:txBody>
          <a:bodyPr wrap="square" lIns="381" tIns="381" rIns="381" bIns="381" rtlCol="0" anchor="ctr">
            <a:normAutofit/>
          </a:bodyPr>
          <a:lstStyle/>
          <a:p>
            <a:pPr algn="ctr" indent="0" marL="0">
              <a:buNone/>
            </a:pPr>
            <a:r>
              <a:rPr lang="en-US" sz="1550" b="1" dirty="0">
                <a:solidFill>
                  <a:srgbClr val="102A43"/>
                </a:solidFill>
                <a:latin typeface="Arial" pitchFamily="34" charset="0"/>
                <a:ea typeface="Arial" pitchFamily="34" charset="-122"/>
                <a:cs typeface="Arial" pitchFamily="34" charset="-120"/>
              </a:rPr>
              <a:t>The right conclusion is not “do not use CREMA-D”; it is “do not overclaim what its labels mean.”</a:t>
            </a:r>
            <a:endParaRPr lang="en-US" sz="1550" dirty="0"/>
          </a:p>
        </p:txBody>
      </p:sp>
      <p:sp>
        <p:nvSpPr>
          <p:cNvPr id="21" name="Text 19"/>
          <p:cNvSpPr/>
          <p:nvPr/>
        </p:nvSpPr>
        <p:spPr>
          <a:xfrm>
            <a:off x="502920" y="6473952"/>
            <a:ext cx="9144000" cy="164592"/>
          </a:xfrm>
          <a:prstGeom prst="rect">
            <a:avLst/>
          </a:prstGeom>
          <a:noFill/>
          <a:ln/>
        </p:spPr>
        <p:txBody>
          <a:bodyPr wrap="square" lIns="0" tIns="0" rIns="0" bIns="0" rtlCol="0" anchor="ctr"/>
          <a:lstStyle/>
          <a:p>
            <a:pPr indent="0" marL="0">
              <a:buNone/>
            </a:pPr>
            <a:r>
              <a:rPr lang="en-US" sz="750" dirty="0">
                <a:solidFill>
                  <a:srgbClr val="7B8794"/>
                </a:solidFill>
                <a:latin typeface="Arial" pitchFamily="34" charset="0"/>
                <a:ea typeface="Arial" pitchFamily="34" charset="-122"/>
                <a:cs typeface="Arial" pitchFamily="34" charset="-120"/>
              </a:rPr>
              <a:t>CREMA-D seminar | limitations</a:t>
            </a:r>
            <a:endParaRPr lang="en-US" sz="750" dirty="0"/>
          </a:p>
        </p:txBody>
      </p:sp>
      <p:sp>
        <p:nvSpPr>
          <p:cNvPr id="22" name="Text 20"/>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50" dirty="0">
                <a:solidFill>
                  <a:srgbClr val="7B8794"/>
                </a:solidFill>
                <a:latin typeface="Arial" pitchFamily="34" charset="0"/>
                <a:ea typeface="Arial" pitchFamily="34" charset="-122"/>
                <a:cs typeface="Arial" pitchFamily="34" charset="-120"/>
              </a:rPr>
              <a:t>15</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4114800" cy="201168"/>
          </a:xfrm>
          <a:prstGeom prst="rect">
            <a:avLst/>
          </a:prstGeom>
          <a:noFill/>
          <a:ln/>
        </p:spPr>
        <p:txBody>
          <a:bodyPr wrap="square" lIns="0" tIns="0" rIns="0" bIns="0" rtlCol="0" anchor="ctr"/>
          <a:lstStyle/>
          <a:p>
            <a:pPr indent="0" marL="0">
              <a:buNone/>
            </a:pPr>
            <a:r>
              <a:rPr lang="en-US" sz="850" b="1" dirty="0">
                <a:solidFill>
                  <a:srgbClr val="00A8A8"/>
                </a:solidFill>
                <a:latin typeface="Arial" pitchFamily="34" charset="0"/>
                <a:ea typeface="Arial" pitchFamily="34" charset="-122"/>
                <a:cs typeface="Arial" pitchFamily="34" charset="-120"/>
              </a:rPr>
              <a:t>SYNTHESIS</a:t>
            </a:r>
            <a:endParaRPr lang="en-US" sz="850" dirty="0"/>
          </a:p>
        </p:txBody>
      </p:sp>
      <p:sp>
        <p:nvSpPr>
          <p:cNvPr id="3" name="Text 1"/>
          <p:cNvSpPr/>
          <p:nvPr/>
        </p:nvSpPr>
        <p:spPr>
          <a:xfrm>
            <a:off x="502920" y="502920"/>
            <a:ext cx="11155680" cy="502920"/>
          </a:xfrm>
          <a:prstGeom prst="rect">
            <a:avLst/>
          </a:prstGeom>
          <a:noFill/>
          <a:ln/>
        </p:spPr>
        <p:txBody>
          <a:bodyPr wrap="square" lIns="0" tIns="0" rIns="0" bIns="0" rtlCol="0" anchor="ctr">
            <a:normAutofit/>
          </a:bodyPr>
          <a:lstStyle/>
          <a:p>
            <a:pPr indent="0" marL="0">
              <a:buNone/>
            </a:pPr>
            <a:r>
              <a:rPr lang="en-US" sz="3000" b="1" dirty="0">
                <a:solidFill>
                  <a:srgbClr val="102A43"/>
                </a:solidFill>
                <a:latin typeface="Arial" pitchFamily="34" charset="0"/>
                <a:ea typeface="Arial" pitchFamily="34" charset="-122"/>
                <a:cs typeface="Arial" pitchFamily="34" charset="-120"/>
              </a:rPr>
              <a:t>IEMOCAP vs CREMA-D: complementary corpora</a:t>
            </a:r>
            <a:endParaRPr lang="en-US" sz="3000" dirty="0"/>
          </a:p>
        </p:txBody>
      </p:sp>
      <p:sp>
        <p:nvSpPr>
          <p:cNvPr id="4" name="Shape 2"/>
          <p:cNvSpPr/>
          <p:nvPr/>
        </p:nvSpPr>
        <p:spPr>
          <a:xfrm>
            <a:off x="502920" y="1078992"/>
            <a:ext cx="11155680" cy="0"/>
          </a:xfrm>
          <a:prstGeom prst="line">
            <a:avLst/>
          </a:prstGeom>
          <a:noFill/>
          <a:ln w="7620">
            <a:solidFill>
              <a:srgbClr val="CBD2D9"/>
            </a:solidFill>
            <a:prstDash val="solid"/>
          </a:ln>
        </p:spPr>
      </p:sp>
      <p:sp>
        <p:nvSpPr>
          <p:cNvPr id="5" name="Text 3"/>
          <p:cNvSpPr/>
          <p:nvPr/>
        </p:nvSpPr>
        <p:spPr>
          <a:xfrm>
            <a:off x="822960" y="1554480"/>
            <a:ext cx="2011680" cy="201168"/>
          </a:xfrm>
          <a:prstGeom prst="rect">
            <a:avLst/>
          </a:prstGeom>
          <a:noFill/>
          <a:ln/>
        </p:spPr>
        <p:txBody>
          <a:bodyPr wrap="square" lIns="0" tIns="0" rIns="0" bIns="0" rtlCol="0" anchor="ctr"/>
          <a:lstStyle/>
          <a:p>
            <a:pPr indent="0" marL="0">
              <a:buNone/>
            </a:pPr>
            <a:r>
              <a:rPr lang="en-US" sz="1000" b="1" dirty="0">
                <a:solidFill>
                  <a:srgbClr val="3E4C59"/>
                </a:solidFill>
                <a:latin typeface="Arial" pitchFamily="34" charset="0"/>
                <a:ea typeface="Arial" pitchFamily="34" charset="-122"/>
                <a:cs typeface="Arial" pitchFamily="34" charset="-120"/>
              </a:rPr>
              <a:t>Design axis</a:t>
            </a:r>
            <a:endParaRPr lang="en-US" sz="1000" dirty="0"/>
          </a:p>
        </p:txBody>
      </p:sp>
      <p:sp>
        <p:nvSpPr>
          <p:cNvPr id="6" name="Text 4"/>
          <p:cNvSpPr/>
          <p:nvPr/>
        </p:nvSpPr>
        <p:spPr>
          <a:xfrm>
            <a:off x="2926080" y="1554480"/>
            <a:ext cx="3931920" cy="201168"/>
          </a:xfrm>
          <a:prstGeom prst="rect">
            <a:avLst/>
          </a:prstGeom>
          <a:noFill/>
          <a:ln/>
        </p:spPr>
        <p:txBody>
          <a:bodyPr wrap="square" lIns="0" tIns="0" rIns="0" bIns="0" rtlCol="0" anchor="ctr"/>
          <a:lstStyle/>
          <a:p>
            <a:pPr indent="0" marL="0">
              <a:buNone/>
            </a:pPr>
            <a:r>
              <a:rPr lang="en-US" sz="1000" b="1" dirty="0">
                <a:solidFill>
                  <a:srgbClr val="00A8A8"/>
                </a:solidFill>
                <a:latin typeface="Arial" pitchFamily="34" charset="0"/>
                <a:ea typeface="Arial" pitchFamily="34" charset="-122"/>
                <a:cs typeface="Arial" pitchFamily="34" charset="-120"/>
              </a:rPr>
              <a:t>IEMOCAP</a:t>
            </a:r>
            <a:endParaRPr lang="en-US" sz="1000" dirty="0"/>
          </a:p>
        </p:txBody>
      </p:sp>
      <p:sp>
        <p:nvSpPr>
          <p:cNvPr id="7" name="Text 5"/>
          <p:cNvSpPr/>
          <p:nvPr/>
        </p:nvSpPr>
        <p:spPr>
          <a:xfrm>
            <a:off x="6995160" y="1554480"/>
            <a:ext cx="3931920" cy="201168"/>
          </a:xfrm>
          <a:prstGeom prst="rect">
            <a:avLst/>
          </a:prstGeom>
          <a:noFill/>
          <a:ln/>
        </p:spPr>
        <p:txBody>
          <a:bodyPr wrap="square" lIns="0" tIns="0" rIns="0" bIns="0" rtlCol="0" anchor="ctr"/>
          <a:lstStyle/>
          <a:p>
            <a:pPr indent="0" marL="0">
              <a:buNone/>
            </a:pPr>
            <a:r>
              <a:rPr lang="en-US" sz="1000" b="1" dirty="0">
                <a:solidFill>
                  <a:srgbClr val="7C3AED"/>
                </a:solidFill>
                <a:latin typeface="Arial" pitchFamily="34" charset="0"/>
                <a:ea typeface="Arial" pitchFamily="34" charset="-122"/>
                <a:cs typeface="Arial" pitchFamily="34" charset="-120"/>
              </a:rPr>
              <a:t>CREMA-D</a:t>
            </a:r>
            <a:endParaRPr lang="en-US" sz="1000" dirty="0"/>
          </a:p>
        </p:txBody>
      </p:sp>
      <p:sp>
        <p:nvSpPr>
          <p:cNvPr id="8" name="Shape 6"/>
          <p:cNvSpPr/>
          <p:nvPr/>
        </p:nvSpPr>
        <p:spPr>
          <a:xfrm>
            <a:off x="822960" y="1865376"/>
            <a:ext cx="10515600" cy="493776"/>
          </a:xfrm>
          <a:prstGeom prst="rect">
            <a:avLst/>
          </a:prstGeom>
          <a:solidFill>
            <a:srgbClr val="F5F7FA"/>
          </a:solidFill>
          <a:ln w="12700">
            <a:solidFill>
              <a:srgbClr val="F5F7FA">
                <a:alpha val="0"/>
              </a:srgbClr>
            </a:solidFill>
            <a:prstDash val="solid"/>
          </a:ln>
        </p:spPr>
      </p:sp>
      <p:sp>
        <p:nvSpPr>
          <p:cNvPr id="9" name="Text 7"/>
          <p:cNvSpPr/>
          <p:nvPr/>
        </p:nvSpPr>
        <p:spPr>
          <a:xfrm>
            <a:off x="822960" y="1975104"/>
            <a:ext cx="1965960" cy="201168"/>
          </a:xfrm>
          <a:prstGeom prst="rect">
            <a:avLst/>
          </a:prstGeom>
          <a:noFill/>
          <a:ln/>
        </p:spPr>
        <p:txBody>
          <a:bodyPr wrap="square" lIns="0" tIns="0" rIns="0" bIns="0" rtlCol="0" anchor="ctr">
            <a:normAutofit/>
          </a:bodyPr>
          <a:lstStyle/>
          <a:p>
            <a:pPr indent="0" marL="0">
              <a:buNone/>
            </a:pPr>
            <a:r>
              <a:rPr lang="en-US" sz="1050" b="1" dirty="0">
                <a:solidFill>
                  <a:srgbClr val="3E4C59"/>
                </a:solidFill>
                <a:latin typeface="Arial" pitchFamily="34" charset="0"/>
                <a:ea typeface="Arial" pitchFamily="34" charset="-122"/>
                <a:cs typeface="Arial" pitchFamily="34" charset="-120"/>
              </a:rPr>
              <a:t>Unit</a:t>
            </a:r>
            <a:endParaRPr lang="en-US" sz="1050" dirty="0"/>
          </a:p>
        </p:txBody>
      </p:sp>
      <p:sp>
        <p:nvSpPr>
          <p:cNvPr id="10" name="Text 8"/>
          <p:cNvSpPr/>
          <p:nvPr/>
        </p:nvSpPr>
        <p:spPr>
          <a:xfrm>
            <a:off x="2926080" y="1938528"/>
            <a:ext cx="3840480" cy="292608"/>
          </a:xfrm>
          <a:prstGeom prst="rect">
            <a:avLst/>
          </a:prstGeom>
          <a:noFill/>
          <a:ln/>
        </p:spPr>
        <p:txBody>
          <a:bodyPr wrap="square" lIns="254" tIns="254" rIns="254" bIns="254" rtlCol="0" anchor="ctr">
            <a:normAutofit/>
          </a:bodyPr>
          <a:lstStyle/>
          <a:p>
            <a:pPr indent="0" marL="0">
              <a:buNone/>
            </a:pPr>
            <a:r>
              <a:rPr lang="en-US" sz="1050" dirty="0">
                <a:solidFill>
                  <a:srgbClr val="17202A"/>
                </a:solidFill>
                <a:latin typeface="Arial" pitchFamily="34" charset="0"/>
                <a:ea typeface="Arial" pitchFamily="34" charset="-122"/>
                <a:cs typeface="Arial" pitchFamily="34" charset="-120"/>
              </a:rPr>
              <a:t>dialog turn in interaction</a:t>
            </a:r>
            <a:endParaRPr lang="en-US" sz="1050" dirty="0"/>
          </a:p>
        </p:txBody>
      </p:sp>
      <p:sp>
        <p:nvSpPr>
          <p:cNvPr id="11" name="Text 9"/>
          <p:cNvSpPr/>
          <p:nvPr/>
        </p:nvSpPr>
        <p:spPr>
          <a:xfrm>
            <a:off x="6995160" y="1938528"/>
            <a:ext cx="3840480" cy="292608"/>
          </a:xfrm>
          <a:prstGeom prst="rect">
            <a:avLst/>
          </a:prstGeom>
          <a:noFill/>
          <a:ln/>
        </p:spPr>
        <p:txBody>
          <a:bodyPr wrap="square" lIns="254" tIns="254" rIns="254" bIns="254" rtlCol="0" anchor="ctr">
            <a:normAutofit/>
          </a:bodyPr>
          <a:lstStyle/>
          <a:p>
            <a:pPr indent="0" marL="0">
              <a:buNone/>
            </a:pPr>
            <a:r>
              <a:rPr lang="en-US" sz="1050" dirty="0">
                <a:solidFill>
                  <a:srgbClr val="17202A"/>
                </a:solidFill>
                <a:latin typeface="Arial" pitchFamily="34" charset="0"/>
                <a:ea typeface="Arial" pitchFamily="34" charset="-122"/>
                <a:cs typeface="Arial" pitchFamily="34" charset="-120"/>
              </a:rPr>
              <a:t>short acted sentence clip</a:t>
            </a:r>
            <a:endParaRPr lang="en-US" sz="1050" dirty="0"/>
          </a:p>
        </p:txBody>
      </p:sp>
      <p:sp>
        <p:nvSpPr>
          <p:cNvPr id="12" name="Shape 10"/>
          <p:cNvSpPr/>
          <p:nvPr/>
        </p:nvSpPr>
        <p:spPr>
          <a:xfrm>
            <a:off x="822960" y="2432304"/>
            <a:ext cx="10515600" cy="493776"/>
          </a:xfrm>
          <a:prstGeom prst="rect">
            <a:avLst/>
          </a:prstGeom>
          <a:solidFill>
            <a:srgbClr val="FFFFFF"/>
          </a:solidFill>
          <a:ln w="12700">
            <a:solidFill>
              <a:srgbClr val="FFFFFF">
                <a:alpha val="0"/>
              </a:srgbClr>
            </a:solidFill>
            <a:prstDash val="solid"/>
          </a:ln>
        </p:spPr>
      </p:sp>
      <p:sp>
        <p:nvSpPr>
          <p:cNvPr id="13" name="Text 11"/>
          <p:cNvSpPr/>
          <p:nvPr/>
        </p:nvSpPr>
        <p:spPr>
          <a:xfrm>
            <a:off x="822960" y="2542032"/>
            <a:ext cx="1965960" cy="201168"/>
          </a:xfrm>
          <a:prstGeom prst="rect">
            <a:avLst/>
          </a:prstGeom>
          <a:noFill/>
          <a:ln/>
        </p:spPr>
        <p:txBody>
          <a:bodyPr wrap="square" lIns="0" tIns="0" rIns="0" bIns="0" rtlCol="0" anchor="ctr">
            <a:normAutofit/>
          </a:bodyPr>
          <a:lstStyle/>
          <a:p>
            <a:pPr indent="0" marL="0">
              <a:buNone/>
            </a:pPr>
            <a:r>
              <a:rPr lang="en-US" sz="1050" b="1" dirty="0">
                <a:solidFill>
                  <a:srgbClr val="3E4C59"/>
                </a:solidFill>
                <a:latin typeface="Arial" pitchFamily="34" charset="0"/>
                <a:ea typeface="Arial" pitchFamily="34" charset="-122"/>
                <a:cs typeface="Arial" pitchFamily="34" charset="-120"/>
              </a:rPr>
              <a:t>Context</a:t>
            </a:r>
            <a:endParaRPr lang="en-US" sz="1050" dirty="0"/>
          </a:p>
        </p:txBody>
      </p:sp>
      <p:sp>
        <p:nvSpPr>
          <p:cNvPr id="14" name="Text 12"/>
          <p:cNvSpPr/>
          <p:nvPr/>
        </p:nvSpPr>
        <p:spPr>
          <a:xfrm>
            <a:off x="2926080" y="2505456"/>
            <a:ext cx="3840480" cy="292608"/>
          </a:xfrm>
          <a:prstGeom prst="rect">
            <a:avLst/>
          </a:prstGeom>
          <a:noFill/>
          <a:ln/>
        </p:spPr>
        <p:txBody>
          <a:bodyPr wrap="square" lIns="254" tIns="254" rIns="254" bIns="254" rtlCol="0" anchor="ctr">
            <a:normAutofit/>
          </a:bodyPr>
          <a:lstStyle/>
          <a:p>
            <a:pPr indent="0" marL="0">
              <a:buNone/>
            </a:pPr>
            <a:r>
              <a:rPr lang="en-US" sz="1050" dirty="0">
                <a:solidFill>
                  <a:srgbClr val="17202A"/>
                </a:solidFill>
                <a:latin typeface="Arial" pitchFamily="34" charset="0"/>
                <a:ea typeface="Arial" pitchFamily="34" charset="-122"/>
                <a:cs typeface="Arial" pitchFamily="34" charset="-120"/>
              </a:rPr>
              <a:t>longer dyadic narrative and improvisation</a:t>
            </a:r>
            <a:endParaRPr lang="en-US" sz="1050" dirty="0"/>
          </a:p>
        </p:txBody>
      </p:sp>
      <p:sp>
        <p:nvSpPr>
          <p:cNvPr id="15" name="Text 13"/>
          <p:cNvSpPr/>
          <p:nvPr/>
        </p:nvSpPr>
        <p:spPr>
          <a:xfrm>
            <a:off x="6995160" y="2505456"/>
            <a:ext cx="3840480" cy="292608"/>
          </a:xfrm>
          <a:prstGeom prst="rect">
            <a:avLst/>
          </a:prstGeom>
          <a:noFill/>
          <a:ln/>
        </p:spPr>
        <p:txBody>
          <a:bodyPr wrap="square" lIns="254" tIns="254" rIns="254" bIns="254" rtlCol="0" anchor="ctr">
            <a:normAutofit/>
          </a:bodyPr>
          <a:lstStyle/>
          <a:p>
            <a:pPr indent="0" marL="0">
              <a:buNone/>
            </a:pPr>
            <a:r>
              <a:rPr lang="en-US" sz="1050" dirty="0">
                <a:solidFill>
                  <a:srgbClr val="17202A"/>
                </a:solidFill>
                <a:latin typeface="Arial" pitchFamily="34" charset="0"/>
                <a:ea typeface="Arial" pitchFamily="34" charset="-122"/>
                <a:cs typeface="Arial" pitchFamily="34" charset="-120"/>
              </a:rPr>
              <a:t>minimal discourse context, fixed sentences</a:t>
            </a:r>
            <a:endParaRPr lang="en-US" sz="1050" dirty="0"/>
          </a:p>
        </p:txBody>
      </p:sp>
      <p:sp>
        <p:nvSpPr>
          <p:cNvPr id="16" name="Shape 14"/>
          <p:cNvSpPr/>
          <p:nvPr/>
        </p:nvSpPr>
        <p:spPr>
          <a:xfrm>
            <a:off x="822960" y="2999232"/>
            <a:ext cx="10515600" cy="493776"/>
          </a:xfrm>
          <a:prstGeom prst="rect">
            <a:avLst/>
          </a:prstGeom>
          <a:solidFill>
            <a:srgbClr val="F5F7FA"/>
          </a:solidFill>
          <a:ln w="12700">
            <a:solidFill>
              <a:srgbClr val="F5F7FA">
                <a:alpha val="0"/>
              </a:srgbClr>
            </a:solidFill>
            <a:prstDash val="solid"/>
          </a:ln>
        </p:spPr>
      </p:sp>
      <p:sp>
        <p:nvSpPr>
          <p:cNvPr id="17" name="Text 15"/>
          <p:cNvSpPr/>
          <p:nvPr/>
        </p:nvSpPr>
        <p:spPr>
          <a:xfrm>
            <a:off x="822960" y="3108960"/>
            <a:ext cx="1965960" cy="201168"/>
          </a:xfrm>
          <a:prstGeom prst="rect">
            <a:avLst/>
          </a:prstGeom>
          <a:noFill/>
          <a:ln/>
        </p:spPr>
        <p:txBody>
          <a:bodyPr wrap="square" lIns="0" tIns="0" rIns="0" bIns="0" rtlCol="0" anchor="ctr">
            <a:normAutofit/>
          </a:bodyPr>
          <a:lstStyle/>
          <a:p>
            <a:pPr indent="0" marL="0">
              <a:buNone/>
            </a:pPr>
            <a:r>
              <a:rPr lang="en-US" sz="1050" b="1" dirty="0">
                <a:solidFill>
                  <a:srgbClr val="3E4C59"/>
                </a:solidFill>
                <a:latin typeface="Arial" pitchFamily="34" charset="0"/>
                <a:ea typeface="Arial" pitchFamily="34" charset="-122"/>
                <a:cs typeface="Arial" pitchFamily="34" charset="-120"/>
              </a:rPr>
              <a:t>Scale</a:t>
            </a:r>
            <a:endParaRPr lang="en-US" sz="1050" dirty="0"/>
          </a:p>
        </p:txBody>
      </p:sp>
      <p:sp>
        <p:nvSpPr>
          <p:cNvPr id="18" name="Text 16"/>
          <p:cNvSpPr/>
          <p:nvPr/>
        </p:nvSpPr>
        <p:spPr>
          <a:xfrm>
            <a:off x="2926080" y="3072384"/>
            <a:ext cx="3840480" cy="292608"/>
          </a:xfrm>
          <a:prstGeom prst="rect">
            <a:avLst/>
          </a:prstGeom>
          <a:noFill/>
          <a:ln/>
        </p:spPr>
        <p:txBody>
          <a:bodyPr wrap="square" lIns="254" tIns="254" rIns="254" bIns="254" rtlCol="0" anchor="ctr">
            <a:normAutofit/>
          </a:bodyPr>
          <a:lstStyle/>
          <a:p>
            <a:pPr indent="0" marL="0">
              <a:buNone/>
            </a:pPr>
            <a:r>
              <a:rPr lang="en-US" sz="1050" dirty="0">
                <a:solidFill>
                  <a:srgbClr val="17202A"/>
                </a:solidFill>
                <a:latin typeface="Arial" pitchFamily="34" charset="0"/>
                <a:ea typeface="Arial" pitchFamily="34" charset="-122"/>
                <a:cs typeface="Arial" pitchFamily="34" charset="-120"/>
              </a:rPr>
              <a:t>10 actors, ~12 hours, rich MoCap</a:t>
            </a:r>
            <a:endParaRPr lang="en-US" sz="1050" dirty="0"/>
          </a:p>
        </p:txBody>
      </p:sp>
      <p:sp>
        <p:nvSpPr>
          <p:cNvPr id="19" name="Text 17"/>
          <p:cNvSpPr/>
          <p:nvPr/>
        </p:nvSpPr>
        <p:spPr>
          <a:xfrm>
            <a:off x="6995160" y="3072384"/>
            <a:ext cx="3840480" cy="292608"/>
          </a:xfrm>
          <a:prstGeom prst="rect">
            <a:avLst/>
          </a:prstGeom>
          <a:noFill/>
          <a:ln/>
        </p:spPr>
        <p:txBody>
          <a:bodyPr wrap="square" lIns="254" tIns="254" rIns="254" bIns="254" rtlCol="0" anchor="ctr">
            <a:normAutofit/>
          </a:bodyPr>
          <a:lstStyle/>
          <a:p>
            <a:pPr indent="0" marL="0">
              <a:buNone/>
            </a:pPr>
            <a:r>
              <a:rPr lang="en-US" sz="1050" dirty="0">
                <a:solidFill>
                  <a:srgbClr val="17202A"/>
                </a:solidFill>
                <a:latin typeface="Arial" pitchFamily="34" charset="0"/>
                <a:ea typeface="Arial" pitchFamily="34" charset="-122"/>
                <a:cs typeface="Arial" pitchFamily="34" charset="-120"/>
              </a:rPr>
              <a:t>91 actors, 7,442 clips, crowd labels</a:t>
            </a:r>
            <a:endParaRPr lang="en-US" sz="1050" dirty="0"/>
          </a:p>
        </p:txBody>
      </p:sp>
      <p:sp>
        <p:nvSpPr>
          <p:cNvPr id="20" name="Shape 18"/>
          <p:cNvSpPr/>
          <p:nvPr/>
        </p:nvSpPr>
        <p:spPr>
          <a:xfrm>
            <a:off x="822960" y="3566160"/>
            <a:ext cx="10515600" cy="493776"/>
          </a:xfrm>
          <a:prstGeom prst="rect">
            <a:avLst/>
          </a:prstGeom>
          <a:solidFill>
            <a:srgbClr val="FFFFFF"/>
          </a:solidFill>
          <a:ln w="12700">
            <a:solidFill>
              <a:srgbClr val="FFFFFF">
                <a:alpha val="0"/>
              </a:srgbClr>
            </a:solidFill>
            <a:prstDash val="solid"/>
          </a:ln>
        </p:spPr>
      </p:sp>
      <p:sp>
        <p:nvSpPr>
          <p:cNvPr id="21" name="Text 19"/>
          <p:cNvSpPr/>
          <p:nvPr/>
        </p:nvSpPr>
        <p:spPr>
          <a:xfrm>
            <a:off x="822960" y="3675888"/>
            <a:ext cx="1965960" cy="201168"/>
          </a:xfrm>
          <a:prstGeom prst="rect">
            <a:avLst/>
          </a:prstGeom>
          <a:noFill/>
          <a:ln/>
        </p:spPr>
        <p:txBody>
          <a:bodyPr wrap="square" lIns="0" tIns="0" rIns="0" bIns="0" rtlCol="0" anchor="ctr">
            <a:normAutofit/>
          </a:bodyPr>
          <a:lstStyle/>
          <a:p>
            <a:pPr indent="0" marL="0">
              <a:buNone/>
            </a:pPr>
            <a:r>
              <a:rPr lang="en-US" sz="1050" b="1" dirty="0">
                <a:solidFill>
                  <a:srgbClr val="3E4C59"/>
                </a:solidFill>
                <a:latin typeface="Arial" pitchFamily="34" charset="0"/>
                <a:ea typeface="Arial" pitchFamily="34" charset="-122"/>
                <a:cs typeface="Arial" pitchFamily="34" charset="-120"/>
              </a:rPr>
              <a:t>Annotation</a:t>
            </a:r>
            <a:endParaRPr lang="en-US" sz="1050" dirty="0"/>
          </a:p>
        </p:txBody>
      </p:sp>
      <p:sp>
        <p:nvSpPr>
          <p:cNvPr id="22" name="Text 20"/>
          <p:cNvSpPr/>
          <p:nvPr/>
        </p:nvSpPr>
        <p:spPr>
          <a:xfrm>
            <a:off x="2926080" y="3639312"/>
            <a:ext cx="3840480" cy="292608"/>
          </a:xfrm>
          <a:prstGeom prst="rect">
            <a:avLst/>
          </a:prstGeom>
          <a:noFill/>
          <a:ln/>
        </p:spPr>
        <p:txBody>
          <a:bodyPr wrap="square" lIns="254" tIns="254" rIns="254" bIns="254" rtlCol="0" anchor="ctr">
            <a:normAutofit/>
          </a:bodyPr>
          <a:lstStyle/>
          <a:p>
            <a:pPr indent="0" marL="0">
              <a:buNone/>
            </a:pPr>
            <a:r>
              <a:rPr lang="en-US" sz="1050" dirty="0">
                <a:solidFill>
                  <a:srgbClr val="17202A"/>
                </a:solidFill>
                <a:latin typeface="Arial" pitchFamily="34" charset="0"/>
                <a:ea typeface="Arial" pitchFamily="34" charset="-122"/>
                <a:cs typeface="Arial" pitchFamily="34" charset="-120"/>
              </a:rPr>
              <a:t>few raters + VAD + self-ratings for subset</a:t>
            </a:r>
            <a:endParaRPr lang="en-US" sz="1050" dirty="0"/>
          </a:p>
        </p:txBody>
      </p:sp>
      <p:sp>
        <p:nvSpPr>
          <p:cNvPr id="23" name="Text 21"/>
          <p:cNvSpPr/>
          <p:nvPr/>
        </p:nvSpPr>
        <p:spPr>
          <a:xfrm>
            <a:off x="6995160" y="3639312"/>
            <a:ext cx="3840480" cy="292608"/>
          </a:xfrm>
          <a:prstGeom prst="rect">
            <a:avLst/>
          </a:prstGeom>
          <a:noFill/>
          <a:ln/>
        </p:spPr>
        <p:txBody>
          <a:bodyPr wrap="square" lIns="254" tIns="254" rIns="254" bIns="254" rtlCol="0" anchor="ctr">
            <a:normAutofit/>
          </a:bodyPr>
          <a:lstStyle/>
          <a:p>
            <a:pPr indent="0" marL="0">
              <a:buNone/>
            </a:pPr>
            <a:r>
              <a:rPr lang="en-US" sz="1050" dirty="0">
                <a:solidFill>
                  <a:srgbClr val="17202A"/>
                </a:solidFill>
                <a:latin typeface="Arial" pitchFamily="34" charset="0"/>
                <a:ea typeface="Arial" pitchFamily="34" charset="-122"/>
                <a:cs typeface="Arial" pitchFamily="34" charset="-120"/>
              </a:rPr>
              <a:t>many raters, modality-specific votes</a:t>
            </a:r>
            <a:endParaRPr lang="en-US" sz="1050" dirty="0"/>
          </a:p>
        </p:txBody>
      </p:sp>
      <p:sp>
        <p:nvSpPr>
          <p:cNvPr id="24" name="Shape 22"/>
          <p:cNvSpPr/>
          <p:nvPr/>
        </p:nvSpPr>
        <p:spPr>
          <a:xfrm>
            <a:off x="822960" y="4133088"/>
            <a:ext cx="10515600" cy="493776"/>
          </a:xfrm>
          <a:prstGeom prst="rect">
            <a:avLst/>
          </a:prstGeom>
          <a:solidFill>
            <a:srgbClr val="F5F7FA"/>
          </a:solidFill>
          <a:ln w="12700">
            <a:solidFill>
              <a:srgbClr val="F5F7FA">
                <a:alpha val="0"/>
              </a:srgbClr>
            </a:solidFill>
            <a:prstDash val="solid"/>
          </a:ln>
        </p:spPr>
      </p:sp>
      <p:sp>
        <p:nvSpPr>
          <p:cNvPr id="25" name="Text 23"/>
          <p:cNvSpPr/>
          <p:nvPr/>
        </p:nvSpPr>
        <p:spPr>
          <a:xfrm>
            <a:off x="822960" y="4242816"/>
            <a:ext cx="1965960" cy="201168"/>
          </a:xfrm>
          <a:prstGeom prst="rect">
            <a:avLst/>
          </a:prstGeom>
          <a:noFill/>
          <a:ln/>
        </p:spPr>
        <p:txBody>
          <a:bodyPr wrap="square" lIns="0" tIns="0" rIns="0" bIns="0" rtlCol="0" anchor="ctr">
            <a:normAutofit/>
          </a:bodyPr>
          <a:lstStyle/>
          <a:p>
            <a:pPr indent="0" marL="0">
              <a:buNone/>
            </a:pPr>
            <a:r>
              <a:rPr lang="en-US" sz="1050" b="1" dirty="0">
                <a:solidFill>
                  <a:srgbClr val="3E4C59"/>
                </a:solidFill>
                <a:latin typeface="Arial" pitchFamily="34" charset="0"/>
                <a:ea typeface="Arial" pitchFamily="34" charset="-122"/>
                <a:cs typeface="Arial" pitchFamily="34" charset="-120"/>
              </a:rPr>
              <a:t>Ideal question</a:t>
            </a:r>
            <a:endParaRPr lang="en-US" sz="1050" dirty="0"/>
          </a:p>
        </p:txBody>
      </p:sp>
      <p:sp>
        <p:nvSpPr>
          <p:cNvPr id="26" name="Text 24"/>
          <p:cNvSpPr/>
          <p:nvPr/>
        </p:nvSpPr>
        <p:spPr>
          <a:xfrm>
            <a:off x="2926080" y="4206240"/>
            <a:ext cx="3840480" cy="292608"/>
          </a:xfrm>
          <a:prstGeom prst="rect">
            <a:avLst/>
          </a:prstGeom>
          <a:noFill/>
          <a:ln/>
        </p:spPr>
        <p:txBody>
          <a:bodyPr wrap="square" lIns="254" tIns="254" rIns="254" bIns="254" rtlCol="0" anchor="ctr">
            <a:normAutofit/>
          </a:bodyPr>
          <a:lstStyle/>
          <a:p>
            <a:pPr indent="0" marL="0">
              <a:buNone/>
            </a:pPr>
            <a:r>
              <a:rPr lang="en-US" sz="1050" dirty="0">
                <a:solidFill>
                  <a:srgbClr val="17202A"/>
                </a:solidFill>
                <a:latin typeface="Arial" pitchFamily="34" charset="0"/>
                <a:ea typeface="Arial" pitchFamily="34" charset="-122"/>
                <a:cs typeface="Arial" pitchFamily="34" charset="-120"/>
              </a:rPr>
              <a:t>How does affect unfold in multimodal interaction?</a:t>
            </a:r>
            <a:endParaRPr lang="en-US" sz="1050" dirty="0"/>
          </a:p>
        </p:txBody>
      </p:sp>
      <p:sp>
        <p:nvSpPr>
          <p:cNvPr id="27" name="Text 25"/>
          <p:cNvSpPr/>
          <p:nvPr/>
        </p:nvSpPr>
        <p:spPr>
          <a:xfrm>
            <a:off x="6995160" y="4206240"/>
            <a:ext cx="3840480" cy="292608"/>
          </a:xfrm>
          <a:prstGeom prst="rect">
            <a:avLst/>
          </a:prstGeom>
          <a:noFill/>
          <a:ln/>
        </p:spPr>
        <p:txBody>
          <a:bodyPr wrap="square" lIns="254" tIns="254" rIns="254" bIns="254" rtlCol="0" anchor="ctr">
            <a:normAutofit/>
          </a:bodyPr>
          <a:lstStyle/>
          <a:p>
            <a:pPr indent="0" marL="0">
              <a:buNone/>
            </a:pPr>
            <a:r>
              <a:rPr lang="en-US" sz="1050" dirty="0">
                <a:solidFill>
                  <a:srgbClr val="17202A"/>
                </a:solidFill>
                <a:latin typeface="Arial" pitchFamily="34" charset="0"/>
                <a:ea typeface="Arial" pitchFamily="34" charset="-122"/>
                <a:cs typeface="Arial" pitchFamily="34" charset="-120"/>
              </a:rPr>
              <a:t>How are short emotional performances perceived?</a:t>
            </a:r>
            <a:endParaRPr lang="en-US" sz="1050" dirty="0"/>
          </a:p>
        </p:txBody>
      </p:sp>
      <p:sp>
        <p:nvSpPr>
          <p:cNvPr id="28" name="Text 26"/>
          <p:cNvSpPr/>
          <p:nvPr/>
        </p:nvSpPr>
        <p:spPr>
          <a:xfrm>
            <a:off x="1188720" y="5806440"/>
            <a:ext cx="9784080" cy="274320"/>
          </a:xfrm>
          <a:prstGeom prst="rect">
            <a:avLst/>
          </a:prstGeom>
          <a:noFill/>
          <a:ln/>
        </p:spPr>
        <p:txBody>
          <a:bodyPr wrap="square" lIns="381" tIns="381" rIns="381" bIns="381" rtlCol="0" anchor="ctr">
            <a:normAutofit/>
          </a:bodyPr>
          <a:lstStyle/>
          <a:p>
            <a:pPr algn="ctr" indent="0" marL="0">
              <a:buNone/>
            </a:pPr>
            <a:r>
              <a:rPr lang="en-US" sz="1500" b="1" dirty="0">
                <a:solidFill>
                  <a:srgbClr val="102A43"/>
                </a:solidFill>
                <a:latin typeface="Arial" pitchFamily="34" charset="0"/>
                <a:ea typeface="Arial" pitchFamily="34" charset="-122"/>
                <a:cs typeface="Arial" pitchFamily="34" charset="-120"/>
              </a:rPr>
              <a:t>Use both to triangulate—not to declare one universally better.</a:t>
            </a:r>
            <a:endParaRPr lang="en-US" sz="1500" dirty="0"/>
          </a:p>
        </p:txBody>
      </p:sp>
      <p:sp>
        <p:nvSpPr>
          <p:cNvPr id="29" name="Text 27"/>
          <p:cNvSpPr/>
          <p:nvPr/>
        </p:nvSpPr>
        <p:spPr>
          <a:xfrm>
            <a:off x="502920" y="6473952"/>
            <a:ext cx="9144000" cy="164592"/>
          </a:xfrm>
          <a:prstGeom prst="rect">
            <a:avLst/>
          </a:prstGeom>
          <a:noFill/>
          <a:ln/>
        </p:spPr>
        <p:txBody>
          <a:bodyPr wrap="square" lIns="0" tIns="0" rIns="0" bIns="0" rtlCol="0" anchor="ctr"/>
          <a:lstStyle/>
          <a:p>
            <a:pPr indent="0" marL="0">
              <a:buNone/>
            </a:pPr>
            <a:r>
              <a:rPr lang="en-US" sz="750" dirty="0">
                <a:solidFill>
                  <a:srgbClr val="7B8794"/>
                </a:solidFill>
                <a:latin typeface="Arial" pitchFamily="34" charset="0"/>
                <a:ea typeface="Arial" pitchFamily="34" charset="-122"/>
                <a:cs typeface="Arial" pitchFamily="34" charset="-120"/>
              </a:rPr>
              <a:t>CREMA-D seminar | comparison</a:t>
            </a:r>
            <a:endParaRPr lang="en-US" sz="750" dirty="0"/>
          </a:p>
        </p:txBody>
      </p:sp>
      <p:sp>
        <p:nvSpPr>
          <p:cNvPr id="30" name="Text 28"/>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50" dirty="0">
                <a:solidFill>
                  <a:srgbClr val="7B8794"/>
                </a:solidFill>
                <a:latin typeface="Arial" pitchFamily="34" charset="0"/>
                <a:ea typeface="Arial" pitchFamily="34" charset="-122"/>
                <a:cs typeface="Arial" pitchFamily="34" charset="-120"/>
              </a:rPr>
              <a:t>16</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E2D"/>
        </a:solidFill>
      </p:bgPr>
    </p:bg>
    <p:spTree>
      <p:nvGrpSpPr>
        <p:cNvPr id="1" name=""/>
        <p:cNvGrpSpPr/>
        <p:nvPr/>
      </p:nvGrpSpPr>
      <p:grpSpPr>
        <a:xfrm>
          <a:off x="0" y="0"/>
          <a:ext cx="0" cy="0"/>
          <a:chOff x="0" y="0"/>
          <a:chExt cx="0" cy="0"/>
        </a:xfrm>
      </p:grpSpPr>
      <p:sp>
        <p:nvSpPr>
          <p:cNvPr id="2" name="Text 0"/>
          <p:cNvSpPr/>
          <p:nvPr/>
        </p:nvSpPr>
        <p:spPr>
          <a:xfrm>
            <a:off x="685800" y="685800"/>
            <a:ext cx="2743200" cy="320040"/>
          </a:xfrm>
          <a:prstGeom prst="rect">
            <a:avLst/>
          </a:prstGeom>
          <a:noFill/>
          <a:ln/>
        </p:spPr>
        <p:txBody>
          <a:bodyPr wrap="square" lIns="0" tIns="0" rIns="0" bIns="0" rtlCol="0" anchor="ctr"/>
          <a:lstStyle/>
          <a:p>
            <a:pPr indent="0" marL="0">
              <a:buNone/>
            </a:pPr>
            <a:r>
              <a:rPr lang="en-US" sz="1200" b="1" dirty="0">
                <a:solidFill>
                  <a:srgbClr val="2EC4B6"/>
                </a:solidFill>
                <a:latin typeface="Arial" pitchFamily="34" charset="0"/>
                <a:ea typeface="Arial" pitchFamily="34" charset="-122"/>
                <a:cs typeface="Arial" pitchFamily="34" charset="-120"/>
              </a:rPr>
              <a:t>Seminar activity</a:t>
            </a:r>
            <a:endParaRPr lang="en-US" sz="1200" dirty="0"/>
          </a:p>
        </p:txBody>
      </p:sp>
      <p:sp>
        <p:nvSpPr>
          <p:cNvPr id="3" name="Text 1"/>
          <p:cNvSpPr/>
          <p:nvPr/>
        </p:nvSpPr>
        <p:spPr>
          <a:xfrm>
            <a:off x="685800" y="1508760"/>
            <a:ext cx="10241280" cy="54864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Audit a CREMA-D classifier</a:t>
            </a:r>
            <a:endParaRPr lang="en-US" sz="3000" dirty="0"/>
          </a:p>
        </p:txBody>
      </p:sp>
      <p:sp>
        <p:nvSpPr>
          <p:cNvPr id="4" name="Text 2"/>
          <p:cNvSpPr/>
          <p:nvPr/>
        </p:nvSpPr>
        <p:spPr>
          <a:xfrm>
            <a:off x="914400" y="2560320"/>
            <a:ext cx="10058400" cy="2148840"/>
          </a:xfrm>
          <a:prstGeom prst="rect">
            <a:avLst/>
          </a:prstGeom>
          <a:noFill/>
          <a:ln/>
        </p:spPr>
        <p:txBody>
          <a:bodyPr wrap="square" lIns="381" tIns="381" rIns="381" bIns="381" rtlCol="0" anchor="t">
            <a:normAutofit/>
          </a:bodyPr>
          <a:lstStyle/>
          <a:p>
            <a:pPr indent="0" marL="0">
              <a:buNone/>
            </a:pPr>
            <a:r>
              <a:rPr lang="en-US" sz="1650" b="1" dirty="0">
                <a:solidFill>
                  <a:srgbClr val="2EC4B6"/>
                </a:solidFill>
                <a:latin typeface="Arial" pitchFamily="34" charset="0"/>
                <a:ea typeface="Arial" pitchFamily="34" charset="-122"/>
                <a:cs typeface="Arial" pitchFamily="34" charset="-120"/>
              </a:rPr>
              <a:t>● </a:t>
            </a:r>
            <a:pPr indent="0" marL="0">
              <a:buNone/>
            </a:pPr>
            <a:r>
              <a:rPr lang="en-US" sz="1650" dirty="0">
                <a:solidFill>
                  <a:srgbClr val="FFFFFF"/>
                </a:solidFill>
                <a:latin typeface="Arial" pitchFamily="34" charset="0"/>
                <a:ea typeface="Arial" pitchFamily="34" charset="-122"/>
                <a:cs typeface="Arial" pitchFamily="34" charset="-120"/>
              </a:rPr>
              <a:t>What label did the model train on: intended or perceived?</a:t>
            </a:r>
            <a:pPr indent="0" marL="0">
              <a:buNone/>
            </a:pPr>
            <a:r>
              <a:rPr lang="en-US" sz="1650" dirty="0">
                <a:solidFill>
                  <a:srgbClr val="000000"/>
                </a:solidFill>
                <a:latin typeface="Arial" pitchFamily="34" charset="0"/>
                <a:ea typeface="Arial" pitchFamily="34" charset="-122"/>
                <a:cs typeface="Arial" pitchFamily="34" charset="-120"/>
              </a:rPr>
              <a:t>
</a:t>
            </a:r>
            <a:pPr indent="0" marL="0">
              <a:buNone/>
            </a:pPr>
            <a:r>
              <a:rPr lang="en-US" sz="1650" b="1" dirty="0">
                <a:solidFill>
                  <a:srgbClr val="F4B400"/>
                </a:solidFill>
                <a:latin typeface="Arial" pitchFamily="34" charset="0"/>
                <a:ea typeface="Arial" pitchFamily="34" charset="-122"/>
                <a:cs typeface="Arial" pitchFamily="34" charset="-120"/>
              </a:rPr>
              <a:t>● </a:t>
            </a:r>
            <a:pPr indent="0" marL="0">
              <a:buNone/>
            </a:pPr>
            <a:r>
              <a:rPr lang="en-US" sz="1650" dirty="0">
                <a:solidFill>
                  <a:srgbClr val="FFFFFF"/>
                </a:solidFill>
                <a:latin typeface="Arial" pitchFamily="34" charset="0"/>
                <a:ea typeface="Arial" pitchFamily="34" charset="-122"/>
                <a:cs typeface="Arial" pitchFamily="34" charset="-120"/>
              </a:rPr>
              <a:t>Were speakers split across train/test?</a:t>
            </a:r>
            <a:pPr indent="0" marL="0">
              <a:buNone/>
            </a:pPr>
            <a:r>
              <a:rPr lang="en-US" sz="1650" dirty="0">
                <a:solidFill>
                  <a:srgbClr val="000000"/>
                </a:solidFill>
                <a:latin typeface="Arial" pitchFamily="34" charset="0"/>
                <a:ea typeface="Arial" pitchFamily="34" charset="-122"/>
                <a:cs typeface="Arial" pitchFamily="34" charset="-120"/>
              </a:rPr>
              <a:t>
</a:t>
            </a:r>
            <a:pPr indent="0" marL="0">
              <a:buNone/>
            </a:pPr>
            <a:r>
              <a:rPr lang="en-US" sz="1650" b="1" dirty="0">
                <a:solidFill>
                  <a:srgbClr val="FF6B6B"/>
                </a:solidFill>
                <a:latin typeface="Arial" pitchFamily="34" charset="0"/>
                <a:ea typeface="Arial" pitchFamily="34" charset="-122"/>
                <a:cs typeface="Arial" pitchFamily="34" charset="-120"/>
              </a:rPr>
              <a:t>● </a:t>
            </a:r>
            <a:pPr indent="0" marL="0">
              <a:buNone/>
            </a:pPr>
            <a:r>
              <a:rPr lang="en-US" sz="1650" dirty="0">
                <a:solidFill>
                  <a:srgbClr val="FFFFFF"/>
                </a:solidFill>
                <a:latin typeface="Arial" pitchFamily="34" charset="0"/>
                <a:ea typeface="Arial" pitchFamily="34" charset="-122"/>
                <a:cs typeface="Arial" pitchFamily="34" charset="-120"/>
              </a:rPr>
              <a:t>Are audio, visual, and audiovisual results all reported?</a:t>
            </a:r>
            <a:pPr indent="0" marL="0">
              <a:buNone/>
            </a:pPr>
            <a:r>
              <a:rPr lang="en-US" sz="1650" dirty="0">
                <a:solidFill>
                  <a:srgbClr val="000000"/>
                </a:solidFill>
                <a:latin typeface="Arial" pitchFamily="34" charset="0"/>
                <a:ea typeface="Arial" pitchFamily="34" charset="-122"/>
                <a:cs typeface="Arial" pitchFamily="34" charset="-120"/>
              </a:rPr>
              <a:t>
</a:t>
            </a:r>
            <a:pPr indent="0" marL="0">
              <a:buNone/>
            </a:pPr>
            <a:r>
              <a:rPr lang="en-US" sz="1650" b="1" dirty="0">
                <a:solidFill>
                  <a:srgbClr val="42B883"/>
                </a:solidFill>
                <a:latin typeface="Arial" pitchFamily="34" charset="0"/>
                <a:ea typeface="Arial" pitchFamily="34" charset="-122"/>
                <a:cs typeface="Arial" pitchFamily="34" charset="-120"/>
              </a:rPr>
              <a:t>● </a:t>
            </a:r>
            <a:pPr indent="0" marL="0">
              <a:buNone/>
            </a:pPr>
            <a:r>
              <a:rPr lang="en-US" sz="1650" dirty="0">
                <a:solidFill>
                  <a:srgbClr val="FFFFFF"/>
                </a:solidFill>
                <a:latin typeface="Arial" pitchFamily="34" charset="0"/>
                <a:ea typeface="Arial" pitchFamily="34" charset="-122"/>
                <a:cs typeface="Arial" pitchFamily="34" charset="-120"/>
              </a:rPr>
              <a:t>Is disagreement treated as noise or uncertainty?</a:t>
            </a:r>
            <a:pPr indent="0" marL="0">
              <a:buNone/>
            </a:pPr>
            <a:r>
              <a:rPr lang="en-US" sz="1650" dirty="0">
                <a:solidFill>
                  <a:srgbClr val="000000"/>
                </a:solidFill>
                <a:latin typeface="Arial" pitchFamily="34" charset="0"/>
                <a:ea typeface="Arial" pitchFamily="34" charset="-122"/>
                <a:cs typeface="Arial" pitchFamily="34" charset="-120"/>
              </a:rPr>
              <a:t>
</a:t>
            </a:r>
            <a:pPr indent="0" marL="0">
              <a:buNone/>
            </a:pPr>
            <a:r>
              <a:rPr lang="en-US" sz="1650" b="1" dirty="0">
                <a:solidFill>
                  <a:srgbClr val="7C3AED"/>
                </a:solidFill>
                <a:latin typeface="Arial" pitchFamily="34" charset="0"/>
                <a:ea typeface="Arial" pitchFamily="34" charset="-122"/>
                <a:cs typeface="Arial" pitchFamily="34" charset="-120"/>
              </a:rPr>
              <a:t>● </a:t>
            </a:r>
            <a:pPr indent="0" marL="0">
              <a:buNone/>
            </a:pPr>
            <a:r>
              <a:rPr lang="en-US" sz="1650" dirty="0">
                <a:solidFill>
                  <a:srgbClr val="FFFFFF"/>
                </a:solidFill>
                <a:latin typeface="Arial" pitchFamily="34" charset="0"/>
                <a:ea typeface="Arial" pitchFamily="34" charset="-122"/>
                <a:cs typeface="Arial" pitchFamily="34" charset="-120"/>
              </a:rPr>
              <a:t>What real-world inference does the paper claim?</a:t>
            </a:r>
            <a:endParaRPr lang="en-US" sz="1650" dirty="0"/>
          </a:p>
        </p:txBody>
      </p:sp>
      <p:sp>
        <p:nvSpPr>
          <p:cNvPr id="5" name="Text 3"/>
          <p:cNvSpPr/>
          <p:nvPr/>
        </p:nvSpPr>
        <p:spPr>
          <a:xfrm>
            <a:off x="914400" y="5669280"/>
            <a:ext cx="9601200"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Small groups: create a “red flag / green flag” list for one hypothetical paper.</a:t>
            </a:r>
            <a:endParaRPr lang="en-US" sz="1400" dirty="0"/>
          </a:p>
        </p:txBody>
      </p:sp>
      <p:sp>
        <p:nvSpPr>
          <p:cNvPr id="6" name="Text 4"/>
          <p:cNvSpPr/>
          <p:nvPr/>
        </p:nvSpPr>
        <p:spPr>
          <a:xfrm>
            <a:off x="502920" y="6473952"/>
            <a:ext cx="9144000" cy="164592"/>
          </a:xfrm>
          <a:prstGeom prst="rect">
            <a:avLst/>
          </a:prstGeom>
          <a:noFill/>
          <a:ln/>
        </p:spPr>
        <p:txBody>
          <a:bodyPr wrap="square" lIns="0" tIns="0" rIns="0" bIns="0" rtlCol="0" anchor="ctr"/>
          <a:lstStyle/>
          <a:p>
            <a:pPr indent="0" marL="0">
              <a:buNone/>
            </a:pPr>
            <a:r>
              <a:rPr lang="en-US" sz="750" dirty="0">
                <a:solidFill>
                  <a:srgbClr val="7B8794"/>
                </a:solidFill>
                <a:latin typeface="Arial" pitchFamily="34" charset="0"/>
                <a:ea typeface="Arial" pitchFamily="34" charset="-122"/>
                <a:cs typeface="Arial" pitchFamily="34" charset="-120"/>
              </a:rPr>
              <a:t>CREMA-D seminar | activity</a:t>
            </a:r>
            <a:endParaRPr lang="en-US" sz="750" dirty="0"/>
          </a:p>
        </p:txBody>
      </p:sp>
      <p:sp>
        <p:nvSpPr>
          <p:cNvPr id="7" name="Text 5"/>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50" dirty="0">
                <a:solidFill>
                  <a:srgbClr val="7B8794"/>
                </a:solidFill>
                <a:latin typeface="Arial" pitchFamily="34" charset="0"/>
                <a:ea typeface="Arial" pitchFamily="34" charset="-122"/>
                <a:cs typeface="Arial" pitchFamily="34" charset="-120"/>
              </a:rPr>
              <a:t>17</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4114800" cy="201168"/>
          </a:xfrm>
          <a:prstGeom prst="rect">
            <a:avLst/>
          </a:prstGeom>
          <a:noFill/>
          <a:ln/>
        </p:spPr>
        <p:txBody>
          <a:bodyPr wrap="square" lIns="0" tIns="0" rIns="0" bIns="0" rtlCol="0" anchor="ctr"/>
          <a:lstStyle/>
          <a:p>
            <a:pPr indent="0" marL="0">
              <a:buNone/>
            </a:pPr>
            <a:r>
              <a:rPr lang="en-US" sz="850" b="1" dirty="0">
                <a:solidFill>
                  <a:srgbClr val="00A8A8"/>
                </a:solidFill>
                <a:latin typeface="Arial" pitchFamily="34" charset="0"/>
                <a:ea typeface="Arial" pitchFamily="34" charset="-122"/>
                <a:cs typeface="Arial" pitchFamily="34" charset="-120"/>
              </a:rPr>
              <a:t>SYNTHESIS</a:t>
            </a:r>
            <a:endParaRPr lang="en-US" sz="850" dirty="0"/>
          </a:p>
        </p:txBody>
      </p:sp>
      <p:sp>
        <p:nvSpPr>
          <p:cNvPr id="3" name="Text 1"/>
          <p:cNvSpPr/>
          <p:nvPr/>
        </p:nvSpPr>
        <p:spPr>
          <a:xfrm>
            <a:off x="502920" y="502920"/>
            <a:ext cx="11155680" cy="502920"/>
          </a:xfrm>
          <a:prstGeom prst="rect">
            <a:avLst/>
          </a:prstGeom>
          <a:noFill/>
          <a:ln/>
        </p:spPr>
        <p:txBody>
          <a:bodyPr wrap="square" lIns="0" tIns="0" rIns="0" bIns="0" rtlCol="0" anchor="ctr">
            <a:normAutofit/>
          </a:bodyPr>
          <a:lstStyle/>
          <a:p>
            <a:pPr indent="0" marL="0">
              <a:buNone/>
            </a:pPr>
            <a:r>
              <a:rPr lang="en-US" sz="3000" b="1" dirty="0">
                <a:solidFill>
                  <a:srgbClr val="102A43"/>
                </a:solidFill>
                <a:latin typeface="Arial" pitchFamily="34" charset="0"/>
                <a:ea typeface="Arial" pitchFamily="34" charset="-122"/>
                <a:cs typeface="Arial" pitchFamily="34" charset="-120"/>
              </a:rPr>
              <a:t>Integrated synthesis: what these two papers teach</a:t>
            </a:r>
            <a:endParaRPr lang="en-US" sz="3000" dirty="0"/>
          </a:p>
        </p:txBody>
      </p:sp>
      <p:sp>
        <p:nvSpPr>
          <p:cNvPr id="4" name="Shape 2"/>
          <p:cNvSpPr/>
          <p:nvPr/>
        </p:nvSpPr>
        <p:spPr>
          <a:xfrm>
            <a:off x="502920" y="1078992"/>
            <a:ext cx="11155680" cy="0"/>
          </a:xfrm>
          <a:prstGeom prst="line">
            <a:avLst/>
          </a:prstGeom>
          <a:noFill/>
          <a:ln w="7620">
            <a:solidFill>
              <a:srgbClr val="CBD2D9"/>
            </a:solidFill>
            <a:prstDash val="solid"/>
          </a:ln>
        </p:spPr>
      </p:sp>
      <p:sp>
        <p:nvSpPr>
          <p:cNvPr id="5" name="Shape 3"/>
          <p:cNvSpPr/>
          <p:nvPr/>
        </p:nvSpPr>
        <p:spPr>
          <a:xfrm>
            <a:off x="960120" y="1691640"/>
            <a:ext cx="1645920" cy="713232"/>
          </a:xfrm>
          <a:prstGeom prst="roundRect">
            <a:avLst>
              <a:gd name="adj" fmla="val 7692"/>
            </a:avLst>
          </a:prstGeom>
          <a:solidFill>
            <a:srgbClr val="00A8A8"/>
          </a:solidFill>
          <a:ln w="12700">
            <a:solidFill>
              <a:srgbClr val="00A8A8">
                <a:alpha val="0"/>
              </a:srgbClr>
            </a:solidFill>
            <a:prstDash val="solid"/>
          </a:ln>
        </p:spPr>
      </p:sp>
      <p:sp>
        <p:nvSpPr>
          <p:cNvPr id="6" name="Text 4"/>
          <p:cNvSpPr/>
          <p:nvPr/>
        </p:nvSpPr>
        <p:spPr>
          <a:xfrm>
            <a:off x="1033272" y="1865376"/>
            <a:ext cx="1499616"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corpus design</a:t>
            </a:r>
            <a:endParaRPr lang="en-US" sz="1100" dirty="0"/>
          </a:p>
        </p:txBody>
      </p:sp>
      <p:sp>
        <p:nvSpPr>
          <p:cNvPr id="7" name="Shape 5"/>
          <p:cNvSpPr/>
          <p:nvPr/>
        </p:nvSpPr>
        <p:spPr>
          <a:xfrm>
            <a:off x="2679192" y="1920240"/>
            <a:ext cx="356616" cy="256032"/>
          </a:xfrm>
          <a:prstGeom prst="chevron">
            <a:avLst/>
          </a:prstGeom>
          <a:solidFill>
            <a:srgbClr val="CBD2D9"/>
          </a:solidFill>
          <a:ln w="12700">
            <a:solidFill>
              <a:srgbClr val="CBD2D9">
                <a:alpha val="0"/>
              </a:srgbClr>
            </a:solidFill>
            <a:prstDash val="solid"/>
          </a:ln>
        </p:spPr>
      </p:sp>
      <p:sp>
        <p:nvSpPr>
          <p:cNvPr id="8" name="Shape 6"/>
          <p:cNvSpPr/>
          <p:nvPr/>
        </p:nvSpPr>
        <p:spPr>
          <a:xfrm>
            <a:off x="3108960" y="1691640"/>
            <a:ext cx="1645920" cy="713232"/>
          </a:xfrm>
          <a:prstGeom prst="roundRect">
            <a:avLst>
              <a:gd name="adj" fmla="val 7692"/>
            </a:avLst>
          </a:prstGeom>
          <a:solidFill>
            <a:srgbClr val="7C3AED"/>
          </a:solidFill>
          <a:ln w="12700">
            <a:solidFill>
              <a:srgbClr val="7C3AED">
                <a:alpha val="0"/>
              </a:srgbClr>
            </a:solidFill>
            <a:prstDash val="solid"/>
          </a:ln>
        </p:spPr>
      </p:sp>
      <p:sp>
        <p:nvSpPr>
          <p:cNvPr id="9" name="Text 7"/>
          <p:cNvSpPr/>
          <p:nvPr/>
        </p:nvSpPr>
        <p:spPr>
          <a:xfrm>
            <a:off x="3182112" y="1865376"/>
            <a:ext cx="1499616"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human annotation</a:t>
            </a:r>
            <a:endParaRPr lang="en-US" sz="1100" dirty="0"/>
          </a:p>
        </p:txBody>
      </p:sp>
      <p:sp>
        <p:nvSpPr>
          <p:cNvPr id="10" name="Shape 8"/>
          <p:cNvSpPr/>
          <p:nvPr/>
        </p:nvSpPr>
        <p:spPr>
          <a:xfrm>
            <a:off x="4828032" y="1920240"/>
            <a:ext cx="356616" cy="256032"/>
          </a:xfrm>
          <a:prstGeom prst="chevron">
            <a:avLst/>
          </a:prstGeom>
          <a:solidFill>
            <a:srgbClr val="CBD2D9"/>
          </a:solidFill>
          <a:ln w="12700">
            <a:solidFill>
              <a:srgbClr val="CBD2D9">
                <a:alpha val="0"/>
              </a:srgbClr>
            </a:solidFill>
            <a:prstDash val="solid"/>
          </a:ln>
        </p:spPr>
      </p:sp>
      <p:sp>
        <p:nvSpPr>
          <p:cNvPr id="11" name="Shape 9"/>
          <p:cNvSpPr/>
          <p:nvPr/>
        </p:nvSpPr>
        <p:spPr>
          <a:xfrm>
            <a:off x="5257800" y="1691640"/>
            <a:ext cx="1645920" cy="713232"/>
          </a:xfrm>
          <a:prstGeom prst="roundRect">
            <a:avLst>
              <a:gd name="adj" fmla="val 7692"/>
            </a:avLst>
          </a:prstGeom>
          <a:solidFill>
            <a:srgbClr val="F4B400"/>
          </a:solidFill>
          <a:ln w="12700">
            <a:solidFill>
              <a:srgbClr val="F4B400">
                <a:alpha val="0"/>
              </a:srgbClr>
            </a:solidFill>
            <a:prstDash val="solid"/>
          </a:ln>
        </p:spPr>
      </p:sp>
      <p:sp>
        <p:nvSpPr>
          <p:cNvPr id="12" name="Text 10"/>
          <p:cNvSpPr/>
          <p:nvPr/>
        </p:nvSpPr>
        <p:spPr>
          <a:xfrm>
            <a:off x="5330952" y="1865376"/>
            <a:ext cx="1499616"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model training</a:t>
            </a:r>
            <a:endParaRPr lang="en-US" sz="1100" dirty="0"/>
          </a:p>
        </p:txBody>
      </p:sp>
      <p:sp>
        <p:nvSpPr>
          <p:cNvPr id="13" name="Shape 11"/>
          <p:cNvSpPr/>
          <p:nvPr/>
        </p:nvSpPr>
        <p:spPr>
          <a:xfrm>
            <a:off x="6976872" y="1920240"/>
            <a:ext cx="356616" cy="256032"/>
          </a:xfrm>
          <a:prstGeom prst="chevron">
            <a:avLst/>
          </a:prstGeom>
          <a:solidFill>
            <a:srgbClr val="CBD2D9"/>
          </a:solidFill>
          <a:ln w="12700">
            <a:solidFill>
              <a:srgbClr val="CBD2D9">
                <a:alpha val="0"/>
              </a:srgbClr>
            </a:solidFill>
            <a:prstDash val="solid"/>
          </a:ln>
        </p:spPr>
      </p:sp>
      <p:sp>
        <p:nvSpPr>
          <p:cNvPr id="14" name="Shape 12"/>
          <p:cNvSpPr/>
          <p:nvPr/>
        </p:nvSpPr>
        <p:spPr>
          <a:xfrm>
            <a:off x="7406640" y="1691640"/>
            <a:ext cx="1645920" cy="713232"/>
          </a:xfrm>
          <a:prstGeom prst="roundRect">
            <a:avLst>
              <a:gd name="adj" fmla="val 7692"/>
            </a:avLst>
          </a:prstGeom>
          <a:solidFill>
            <a:srgbClr val="FF6B6B"/>
          </a:solidFill>
          <a:ln w="12700">
            <a:solidFill>
              <a:srgbClr val="FF6B6B">
                <a:alpha val="0"/>
              </a:srgbClr>
            </a:solidFill>
            <a:prstDash val="solid"/>
          </a:ln>
        </p:spPr>
      </p:sp>
      <p:sp>
        <p:nvSpPr>
          <p:cNvPr id="15" name="Text 13"/>
          <p:cNvSpPr/>
          <p:nvPr/>
        </p:nvSpPr>
        <p:spPr>
          <a:xfrm>
            <a:off x="7479792" y="1865376"/>
            <a:ext cx="1499616"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evaluation</a:t>
            </a:r>
            <a:endParaRPr lang="en-US" sz="1100" dirty="0"/>
          </a:p>
        </p:txBody>
      </p:sp>
      <p:sp>
        <p:nvSpPr>
          <p:cNvPr id="16" name="Shape 14"/>
          <p:cNvSpPr/>
          <p:nvPr/>
        </p:nvSpPr>
        <p:spPr>
          <a:xfrm>
            <a:off x="9125712" y="1920240"/>
            <a:ext cx="356616" cy="256032"/>
          </a:xfrm>
          <a:prstGeom prst="chevron">
            <a:avLst/>
          </a:prstGeom>
          <a:solidFill>
            <a:srgbClr val="CBD2D9"/>
          </a:solidFill>
          <a:ln w="12700">
            <a:solidFill>
              <a:srgbClr val="CBD2D9">
                <a:alpha val="0"/>
              </a:srgbClr>
            </a:solidFill>
            <a:prstDash val="solid"/>
          </a:ln>
        </p:spPr>
      </p:sp>
      <p:sp>
        <p:nvSpPr>
          <p:cNvPr id="17" name="Shape 15"/>
          <p:cNvSpPr/>
          <p:nvPr/>
        </p:nvSpPr>
        <p:spPr>
          <a:xfrm>
            <a:off x="9555480" y="1691640"/>
            <a:ext cx="1645920" cy="713232"/>
          </a:xfrm>
          <a:prstGeom prst="roundRect">
            <a:avLst>
              <a:gd name="adj" fmla="val 7692"/>
            </a:avLst>
          </a:prstGeom>
          <a:solidFill>
            <a:srgbClr val="42B883"/>
          </a:solidFill>
          <a:ln w="12700">
            <a:solidFill>
              <a:srgbClr val="42B883">
                <a:alpha val="0"/>
              </a:srgbClr>
            </a:solidFill>
            <a:prstDash val="solid"/>
          </a:ln>
        </p:spPr>
      </p:sp>
      <p:sp>
        <p:nvSpPr>
          <p:cNvPr id="18" name="Text 16"/>
          <p:cNvSpPr/>
          <p:nvPr/>
        </p:nvSpPr>
        <p:spPr>
          <a:xfrm>
            <a:off x="9628632" y="1865376"/>
            <a:ext cx="1499616" cy="31089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deployment claim</a:t>
            </a:r>
            <a:endParaRPr lang="en-US" sz="1100" dirty="0"/>
          </a:p>
        </p:txBody>
      </p:sp>
      <p:sp>
        <p:nvSpPr>
          <p:cNvPr id="19" name="Text 17"/>
          <p:cNvSpPr/>
          <p:nvPr/>
        </p:nvSpPr>
        <p:spPr>
          <a:xfrm>
            <a:off x="1097280" y="3337560"/>
            <a:ext cx="9875520" cy="1508760"/>
          </a:xfrm>
          <a:prstGeom prst="rect">
            <a:avLst/>
          </a:prstGeom>
          <a:noFill/>
          <a:ln/>
        </p:spPr>
        <p:txBody>
          <a:bodyPr wrap="square" lIns="381" tIns="381" rIns="381" bIns="381" rtlCol="0" anchor="t">
            <a:normAutofit/>
          </a:bodyPr>
          <a:lstStyle/>
          <a:p>
            <a:pPr indent="0" marL="0">
              <a:buNone/>
            </a:pPr>
            <a:r>
              <a:rPr lang="en-US" sz="1600" b="1" dirty="0">
                <a:solidFill>
                  <a:srgbClr val="00A8A8"/>
                </a:solidFill>
                <a:latin typeface="Arial" pitchFamily="34" charset="0"/>
                <a:ea typeface="Arial" pitchFamily="34" charset="-122"/>
                <a:cs typeface="Arial" pitchFamily="34" charset="-120"/>
              </a:rPr>
              <a:t>● </a:t>
            </a:r>
            <a:pPr indent="0" marL="0">
              <a:buNone/>
            </a:pPr>
            <a:r>
              <a:rPr lang="en-US" sz="1600" dirty="0">
                <a:solidFill>
                  <a:srgbClr val="17202A"/>
                </a:solidFill>
                <a:latin typeface="Arial" pitchFamily="34" charset="0"/>
                <a:ea typeface="Arial" pitchFamily="34" charset="-122"/>
                <a:cs typeface="Arial" pitchFamily="34" charset="-120"/>
              </a:rPr>
              <a:t>Affective datasets are measurement instruments, not neutral containers.</a:t>
            </a:r>
            <a:pPr indent="0" marL="0">
              <a:buNone/>
            </a:pPr>
            <a:r>
              <a:rPr lang="en-US" sz="1600" dirty="0">
                <a:solidFill>
                  <a:srgbClr val="000000"/>
                </a:solidFill>
                <a:latin typeface="Arial" pitchFamily="34" charset="0"/>
                <a:ea typeface="Arial" pitchFamily="34" charset="-122"/>
                <a:cs typeface="Arial" pitchFamily="34" charset="-120"/>
              </a:rPr>
              <a:t>
</a:t>
            </a:r>
            <a:pPr indent="0" marL="0">
              <a:buNone/>
            </a:pPr>
            <a:r>
              <a:rPr lang="en-US" sz="1600" b="1" dirty="0">
                <a:solidFill>
                  <a:srgbClr val="00A8A8"/>
                </a:solidFill>
                <a:latin typeface="Arial" pitchFamily="34" charset="0"/>
                <a:ea typeface="Arial" pitchFamily="34" charset="-122"/>
                <a:cs typeface="Arial" pitchFamily="34" charset="-120"/>
              </a:rPr>
              <a:t>● </a:t>
            </a:r>
            <a:pPr indent="0" marL="0">
              <a:buNone/>
            </a:pPr>
            <a:r>
              <a:rPr lang="en-US" sz="1600" dirty="0">
                <a:solidFill>
                  <a:srgbClr val="17202A"/>
                </a:solidFill>
                <a:latin typeface="Arial" pitchFamily="34" charset="0"/>
                <a:ea typeface="Arial" pitchFamily="34" charset="-122"/>
                <a:cs typeface="Arial" pitchFamily="34" charset="-120"/>
              </a:rPr>
              <a:t>Emotion labels often mean “perceived by observers under task constraints.”</a:t>
            </a:r>
            <a:pPr indent="0" marL="0">
              <a:buNone/>
            </a:pPr>
            <a:r>
              <a:rPr lang="en-US" sz="1600" dirty="0">
                <a:solidFill>
                  <a:srgbClr val="000000"/>
                </a:solidFill>
                <a:latin typeface="Arial" pitchFamily="34" charset="0"/>
                <a:ea typeface="Arial" pitchFamily="34" charset="-122"/>
                <a:cs typeface="Arial" pitchFamily="34" charset="-120"/>
              </a:rPr>
              <a:t>
</a:t>
            </a:r>
            <a:pPr indent="0" marL="0">
              <a:buNone/>
            </a:pPr>
            <a:r>
              <a:rPr lang="en-US" sz="1600" b="1" dirty="0">
                <a:solidFill>
                  <a:srgbClr val="00A8A8"/>
                </a:solidFill>
                <a:latin typeface="Arial" pitchFamily="34" charset="0"/>
                <a:ea typeface="Arial" pitchFamily="34" charset="-122"/>
                <a:cs typeface="Arial" pitchFamily="34" charset="-120"/>
              </a:rPr>
              <a:t>● </a:t>
            </a:r>
            <a:pPr indent="0" marL="0">
              <a:buNone/>
            </a:pPr>
            <a:r>
              <a:rPr lang="en-US" sz="1600" dirty="0">
                <a:solidFill>
                  <a:srgbClr val="17202A"/>
                </a:solidFill>
                <a:latin typeface="Arial" pitchFamily="34" charset="0"/>
                <a:ea typeface="Arial" pitchFamily="34" charset="-122"/>
                <a:cs typeface="Arial" pitchFamily="34" charset="-120"/>
              </a:rPr>
              <a:t>Multimodal fusion helps only when modality claims are carefully specified.</a:t>
            </a:r>
            <a:pPr indent="0" marL="0">
              <a:buNone/>
            </a:pPr>
            <a:r>
              <a:rPr lang="en-US" sz="1600" dirty="0">
                <a:solidFill>
                  <a:srgbClr val="000000"/>
                </a:solidFill>
                <a:latin typeface="Arial" pitchFamily="34" charset="0"/>
                <a:ea typeface="Arial" pitchFamily="34" charset="-122"/>
                <a:cs typeface="Arial" pitchFamily="34" charset="-120"/>
              </a:rPr>
              <a:t>
</a:t>
            </a:r>
            <a:pPr indent="0" marL="0">
              <a:buNone/>
            </a:pPr>
            <a:r>
              <a:rPr lang="en-US" sz="1600" b="1" dirty="0">
                <a:solidFill>
                  <a:srgbClr val="00A8A8"/>
                </a:solidFill>
                <a:latin typeface="Arial" pitchFamily="34" charset="0"/>
                <a:ea typeface="Arial" pitchFamily="34" charset="-122"/>
                <a:cs typeface="Arial" pitchFamily="34" charset="-120"/>
              </a:rPr>
              <a:t>● </a:t>
            </a:r>
            <a:pPr indent="0" marL="0">
              <a:buNone/>
            </a:pPr>
            <a:r>
              <a:rPr lang="en-US" sz="1600" dirty="0">
                <a:solidFill>
                  <a:srgbClr val="17202A"/>
                </a:solidFill>
                <a:latin typeface="Arial" pitchFamily="34" charset="0"/>
                <a:ea typeface="Arial" pitchFamily="34" charset="-122"/>
                <a:cs typeface="Arial" pitchFamily="34" charset="-120"/>
              </a:rPr>
              <a:t>Good affective computing research reports uncertainty and limits of inference.</a:t>
            </a:r>
            <a:endParaRPr lang="en-US" sz="1600" dirty="0"/>
          </a:p>
        </p:txBody>
      </p:sp>
      <p:sp>
        <p:nvSpPr>
          <p:cNvPr id="20" name="Text 18"/>
          <p:cNvSpPr/>
          <p:nvPr/>
        </p:nvSpPr>
        <p:spPr>
          <a:xfrm>
            <a:off x="1188720" y="5577840"/>
            <a:ext cx="9784080" cy="320040"/>
          </a:xfrm>
          <a:prstGeom prst="rect">
            <a:avLst/>
          </a:prstGeom>
          <a:noFill/>
          <a:ln/>
        </p:spPr>
        <p:txBody>
          <a:bodyPr wrap="square" lIns="381" tIns="381" rIns="381" bIns="381" rtlCol="0" anchor="ctr">
            <a:normAutofit/>
          </a:bodyPr>
          <a:lstStyle/>
          <a:p>
            <a:pPr algn="ctr" indent="0" marL="0">
              <a:buNone/>
            </a:pPr>
            <a:r>
              <a:rPr lang="en-US" sz="1500" b="1" dirty="0">
                <a:solidFill>
                  <a:srgbClr val="102A43"/>
                </a:solidFill>
                <a:latin typeface="Arial" pitchFamily="34" charset="0"/>
                <a:ea typeface="Arial" pitchFamily="34" charset="-122"/>
                <a:cs typeface="Arial" pitchFamily="34" charset="-120"/>
              </a:rPr>
              <a:t>The best question is not “what is the accuracy?” but “what exactly was measured, and what follows from that measurement?”</a:t>
            </a:r>
            <a:endParaRPr lang="en-US" sz="1500" dirty="0"/>
          </a:p>
        </p:txBody>
      </p:sp>
      <p:sp>
        <p:nvSpPr>
          <p:cNvPr id="21" name="Text 19"/>
          <p:cNvSpPr/>
          <p:nvPr/>
        </p:nvSpPr>
        <p:spPr>
          <a:xfrm>
            <a:off x="502920" y="6473952"/>
            <a:ext cx="9144000" cy="164592"/>
          </a:xfrm>
          <a:prstGeom prst="rect">
            <a:avLst/>
          </a:prstGeom>
          <a:noFill/>
          <a:ln/>
        </p:spPr>
        <p:txBody>
          <a:bodyPr wrap="square" lIns="0" tIns="0" rIns="0" bIns="0" rtlCol="0" anchor="ctr"/>
          <a:lstStyle/>
          <a:p>
            <a:pPr indent="0" marL="0">
              <a:buNone/>
            </a:pPr>
            <a:r>
              <a:rPr lang="en-US" sz="750" dirty="0">
                <a:solidFill>
                  <a:srgbClr val="7B8794"/>
                </a:solidFill>
                <a:latin typeface="Arial" pitchFamily="34" charset="0"/>
                <a:ea typeface="Arial" pitchFamily="34" charset="-122"/>
                <a:cs typeface="Arial" pitchFamily="34" charset="-120"/>
              </a:rPr>
              <a:t>CREMA-D seminar | integrated synthesis</a:t>
            </a:r>
            <a:endParaRPr lang="en-US" sz="750" dirty="0"/>
          </a:p>
        </p:txBody>
      </p:sp>
      <p:sp>
        <p:nvSpPr>
          <p:cNvPr id="22" name="Text 20"/>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50" dirty="0">
                <a:solidFill>
                  <a:srgbClr val="7B8794"/>
                </a:solidFill>
                <a:latin typeface="Arial" pitchFamily="34" charset="0"/>
                <a:ea typeface="Arial" pitchFamily="34" charset="-122"/>
                <a:cs typeface="Arial" pitchFamily="34" charset="-120"/>
              </a:rPr>
              <a:t>18</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4114800" cy="201168"/>
          </a:xfrm>
          <a:prstGeom prst="rect">
            <a:avLst/>
          </a:prstGeom>
          <a:noFill/>
          <a:ln/>
        </p:spPr>
        <p:txBody>
          <a:bodyPr wrap="square" lIns="0" tIns="0" rIns="0" bIns="0" rtlCol="0" anchor="ctr"/>
          <a:lstStyle/>
          <a:p>
            <a:pPr indent="0" marL="0">
              <a:buNone/>
            </a:pPr>
            <a:r>
              <a:rPr lang="en-US" sz="850" b="1" dirty="0">
                <a:solidFill>
                  <a:srgbClr val="00A8A8"/>
                </a:solidFill>
                <a:latin typeface="Arial" pitchFamily="34" charset="0"/>
                <a:ea typeface="Arial" pitchFamily="34" charset="-122"/>
                <a:cs typeface="Arial" pitchFamily="34" charset="-120"/>
              </a:rPr>
              <a:t>SUMMARY</a:t>
            </a:r>
            <a:endParaRPr lang="en-US" sz="850" dirty="0"/>
          </a:p>
        </p:txBody>
      </p:sp>
      <p:sp>
        <p:nvSpPr>
          <p:cNvPr id="3" name="Text 1"/>
          <p:cNvSpPr/>
          <p:nvPr/>
        </p:nvSpPr>
        <p:spPr>
          <a:xfrm>
            <a:off x="502920" y="502920"/>
            <a:ext cx="11155680" cy="502920"/>
          </a:xfrm>
          <a:prstGeom prst="rect">
            <a:avLst/>
          </a:prstGeom>
          <a:noFill/>
          <a:ln/>
        </p:spPr>
        <p:txBody>
          <a:bodyPr wrap="square" lIns="0" tIns="0" rIns="0" bIns="0" rtlCol="0" anchor="ctr">
            <a:normAutofit/>
          </a:bodyPr>
          <a:lstStyle/>
          <a:p>
            <a:pPr indent="0" marL="0">
              <a:buNone/>
            </a:pPr>
            <a:r>
              <a:rPr lang="en-US" sz="3000" b="1" dirty="0">
                <a:solidFill>
                  <a:srgbClr val="102A43"/>
                </a:solidFill>
                <a:latin typeface="Arial" pitchFamily="34" charset="0"/>
                <a:ea typeface="Arial" pitchFamily="34" charset="-122"/>
                <a:cs typeface="Arial" pitchFamily="34" charset="-120"/>
              </a:rPr>
              <a:t>Five takeaways</a:t>
            </a:r>
            <a:endParaRPr lang="en-US" sz="3000" dirty="0"/>
          </a:p>
        </p:txBody>
      </p:sp>
      <p:sp>
        <p:nvSpPr>
          <p:cNvPr id="4" name="Shape 2"/>
          <p:cNvSpPr/>
          <p:nvPr/>
        </p:nvSpPr>
        <p:spPr>
          <a:xfrm>
            <a:off x="502920" y="1078992"/>
            <a:ext cx="11155680" cy="0"/>
          </a:xfrm>
          <a:prstGeom prst="line">
            <a:avLst/>
          </a:prstGeom>
          <a:noFill/>
          <a:ln w="7620">
            <a:solidFill>
              <a:srgbClr val="CBD2D9"/>
            </a:solidFill>
            <a:prstDash val="solid"/>
          </a:ln>
        </p:spPr>
      </p:sp>
      <p:sp>
        <p:nvSpPr>
          <p:cNvPr id="5" name="Shape 3"/>
          <p:cNvSpPr/>
          <p:nvPr/>
        </p:nvSpPr>
        <p:spPr>
          <a:xfrm>
            <a:off x="914400" y="1389888"/>
            <a:ext cx="365760" cy="365760"/>
          </a:xfrm>
          <a:prstGeom prst="ellipse">
            <a:avLst/>
          </a:prstGeom>
          <a:solidFill>
            <a:srgbClr val="00A8A8"/>
          </a:solidFill>
          <a:ln w="12700">
            <a:solidFill>
              <a:srgbClr val="00A8A8">
                <a:alpha val="0"/>
              </a:srgbClr>
            </a:solidFill>
            <a:prstDash val="solid"/>
          </a:ln>
        </p:spPr>
      </p:sp>
      <p:sp>
        <p:nvSpPr>
          <p:cNvPr id="6" name="Text 4"/>
          <p:cNvSpPr/>
          <p:nvPr/>
        </p:nvSpPr>
        <p:spPr>
          <a:xfrm>
            <a:off x="1024128" y="1481328"/>
            <a:ext cx="146304" cy="9144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7" name="Text 5"/>
          <p:cNvSpPr/>
          <p:nvPr/>
        </p:nvSpPr>
        <p:spPr>
          <a:xfrm>
            <a:off x="1463040" y="1399032"/>
            <a:ext cx="9601200" cy="347472"/>
          </a:xfrm>
          <a:prstGeom prst="rect">
            <a:avLst/>
          </a:prstGeom>
          <a:noFill/>
          <a:ln/>
        </p:spPr>
        <p:txBody>
          <a:bodyPr wrap="square" lIns="0" tIns="0" rIns="0" bIns="0" rtlCol="0" anchor="ctr">
            <a:normAutofit/>
          </a:bodyPr>
          <a:lstStyle/>
          <a:p>
            <a:pPr indent="0" marL="0">
              <a:buNone/>
            </a:pPr>
            <a:r>
              <a:rPr lang="en-US" sz="1450" dirty="0">
                <a:solidFill>
                  <a:srgbClr val="17202A"/>
                </a:solidFill>
                <a:latin typeface="Arial" pitchFamily="34" charset="0"/>
                <a:ea typeface="Arial" pitchFamily="34" charset="-122"/>
                <a:cs typeface="Arial" pitchFamily="34" charset="-120"/>
              </a:rPr>
              <a:t>CREMA-D is a large, controlled, dynamic audiovisual dataset with crowd perception labels.</a:t>
            </a:r>
            <a:endParaRPr lang="en-US" sz="1450" dirty="0"/>
          </a:p>
        </p:txBody>
      </p:sp>
      <p:sp>
        <p:nvSpPr>
          <p:cNvPr id="8" name="Shape 6"/>
          <p:cNvSpPr/>
          <p:nvPr/>
        </p:nvSpPr>
        <p:spPr>
          <a:xfrm>
            <a:off x="914400" y="2185416"/>
            <a:ext cx="365760" cy="365760"/>
          </a:xfrm>
          <a:prstGeom prst="ellipse">
            <a:avLst/>
          </a:prstGeom>
          <a:solidFill>
            <a:srgbClr val="7C3AED"/>
          </a:solidFill>
          <a:ln w="12700">
            <a:solidFill>
              <a:srgbClr val="7C3AED">
                <a:alpha val="0"/>
              </a:srgbClr>
            </a:solidFill>
            <a:prstDash val="solid"/>
          </a:ln>
        </p:spPr>
      </p:sp>
      <p:sp>
        <p:nvSpPr>
          <p:cNvPr id="9" name="Text 7"/>
          <p:cNvSpPr/>
          <p:nvPr/>
        </p:nvSpPr>
        <p:spPr>
          <a:xfrm>
            <a:off x="1024128" y="2276856"/>
            <a:ext cx="146304" cy="9144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10" name="Text 8"/>
          <p:cNvSpPr/>
          <p:nvPr/>
        </p:nvSpPr>
        <p:spPr>
          <a:xfrm>
            <a:off x="1463040" y="2194560"/>
            <a:ext cx="9601200" cy="347472"/>
          </a:xfrm>
          <a:prstGeom prst="rect">
            <a:avLst/>
          </a:prstGeom>
          <a:noFill/>
          <a:ln/>
        </p:spPr>
        <p:txBody>
          <a:bodyPr wrap="square" lIns="0" tIns="0" rIns="0" bIns="0" rtlCol="0" anchor="ctr">
            <a:normAutofit/>
          </a:bodyPr>
          <a:lstStyle/>
          <a:p>
            <a:pPr indent="0" marL="0">
              <a:buNone/>
            </a:pPr>
            <a:r>
              <a:rPr lang="en-US" sz="1450" dirty="0">
                <a:solidFill>
                  <a:srgbClr val="17202A"/>
                </a:solidFill>
                <a:latin typeface="Arial" pitchFamily="34" charset="0"/>
                <a:ea typeface="Arial" pitchFamily="34" charset="-122"/>
                <a:cs typeface="Arial" pitchFamily="34" charset="-120"/>
              </a:rPr>
              <a:t>Its design separates audio-only, visual-only, and audiovisual ratings, making modality analysis possible.</a:t>
            </a:r>
            <a:endParaRPr lang="en-US" sz="1450" dirty="0"/>
          </a:p>
        </p:txBody>
      </p:sp>
      <p:sp>
        <p:nvSpPr>
          <p:cNvPr id="11" name="Shape 9"/>
          <p:cNvSpPr/>
          <p:nvPr/>
        </p:nvSpPr>
        <p:spPr>
          <a:xfrm>
            <a:off x="914400" y="2980944"/>
            <a:ext cx="365760" cy="365760"/>
          </a:xfrm>
          <a:prstGeom prst="ellipse">
            <a:avLst/>
          </a:prstGeom>
          <a:solidFill>
            <a:srgbClr val="FF6B6B"/>
          </a:solidFill>
          <a:ln w="12700">
            <a:solidFill>
              <a:srgbClr val="FF6B6B">
                <a:alpha val="0"/>
              </a:srgbClr>
            </a:solidFill>
            <a:prstDash val="solid"/>
          </a:ln>
        </p:spPr>
      </p:sp>
      <p:sp>
        <p:nvSpPr>
          <p:cNvPr id="12" name="Text 10"/>
          <p:cNvSpPr/>
          <p:nvPr/>
        </p:nvSpPr>
        <p:spPr>
          <a:xfrm>
            <a:off x="1024128" y="3072384"/>
            <a:ext cx="146304" cy="9144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13" name="Text 11"/>
          <p:cNvSpPr/>
          <p:nvPr/>
        </p:nvSpPr>
        <p:spPr>
          <a:xfrm>
            <a:off x="1463040" y="2990088"/>
            <a:ext cx="9601200" cy="347472"/>
          </a:xfrm>
          <a:prstGeom prst="rect">
            <a:avLst/>
          </a:prstGeom>
          <a:noFill/>
          <a:ln/>
        </p:spPr>
        <p:txBody>
          <a:bodyPr wrap="square" lIns="0" tIns="0" rIns="0" bIns="0" rtlCol="0" anchor="ctr">
            <a:normAutofit/>
          </a:bodyPr>
          <a:lstStyle/>
          <a:p>
            <a:pPr indent="0" marL="0">
              <a:buNone/>
            </a:pPr>
            <a:r>
              <a:rPr lang="en-US" sz="1450" dirty="0">
                <a:solidFill>
                  <a:srgbClr val="17202A"/>
                </a:solidFill>
                <a:latin typeface="Arial" pitchFamily="34" charset="0"/>
                <a:ea typeface="Arial" pitchFamily="34" charset="-122"/>
                <a:cs typeface="Arial" pitchFamily="34" charset="-120"/>
              </a:rPr>
              <a:t>The distinction between intended and perceived emotion is central to interpreting benchmark results.</a:t>
            </a:r>
            <a:endParaRPr lang="en-US" sz="1450" dirty="0"/>
          </a:p>
        </p:txBody>
      </p:sp>
      <p:sp>
        <p:nvSpPr>
          <p:cNvPr id="14" name="Shape 12"/>
          <p:cNvSpPr/>
          <p:nvPr/>
        </p:nvSpPr>
        <p:spPr>
          <a:xfrm>
            <a:off x="914400" y="3776472"/>
            <a:ext cx="365760" cy="365760"/>
          </a:xfrm>
          <a:prstGeom prst="ellipse">
            <a:avLst/>
          </a:prstGeom>
          <a:solidFill>
            <a:srgbClr val="F4B400"/>
          </a:solidFill>
          <a:ln w="12700">
            <a:solidFill>
              <a:srgbClr val="F4B400">
                <a:alpha val="0"/>
              </a:srgbClr>
            </a:solidFill>
            <a:prstDash val="solid"/>
          </a:ln>
        </p:spPr>
      </p:sp>
      <p:sp>
        <p:nvSpPr>
          <p:cNvPr id="15" name="Text 13"/>
          <p:cNvSpPr/>
          <p:nvPr/>
        </p:nvSpPr>
        <p:spPr>
          <a:xfrm>
            <a:off x="1024128" y="3867912"/>
            <a:ext cx="146304" cy="9144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16" name="Text 14"/>
          <p:cNvSpPr/>
          <p:nvPr/>
        </p:nvSpPr>
        <p:spPr>
          <a:xfrm>
            <a:off x="1463040" y="3785616"/>
            <a:ext cx="9601200" cy="347472"/>
          </a:xfrm>
          <a:prstGeom prst="rect">
            <a:avLst/>
          </a:prstGeom>
          <a:noFill/>
          <a:ln/>
        </p:spPr>
        <p:txBody>
          <a:bodyPr wrap="square" lIns="0" tIns="0" rIns="0" bIns="0" rtlCol="0" anchor="ctr">
            <a:normAutofit/>
          </a:bodyPr>
          <a:lstStyle/>
          <a:p>
            <a:pPr indent="0" marL="0">
              <a:buNone/>
            </a:pPr>
            <a:r>
              <a:rPr lang="en-US" sz="1450" dirty="0">
                <a:solidFill>
                  <a:srgbClr val="17202A"/>
                </a:solidFill>
                <a:latin typeface="Arial" pitchFamily="34" charset="0"/>
                <a:ea typeface="Arial" pitchFamily="34" charset="-122"/>
                <a:cs typeface="Arial" pitchFamily="34" charset="-120"/>
              </a:rPr>
              <a:t>Vote distributions and agreement scores are scientifically valuable, not merely preprocessing details.</a:t>
            </a:r>
            <a:endParaRPr lang="en-US" sz="1450" dirty="0"/>
          </a:p>
        </p:txBody>
      </p:sp>
      <p:sp>
        <p:nvSpPr>
          <p:cNvPr id="17" name="Shape 15"/>
          <p:cNvSpPr/>
          <p:nvPr/>
        </p:nvSpPr>
        <p:spPr>
          <a:xfrm>
            <a:off x="914400" y="4572000"/>
            <a:ext cx="365760" cy="365760"/>
          </a:xfrm>
          <a:prstGeom prst="ellipse">
            <a:avLst/>
          </a:prstGeom>
          <a:solidFill>
            <a:srgbClr val="42B883"/>
          </a:solidFill>
          <a:ln w="12700">
            <a:solidFill>
              <a:srgbClr val="42B883">
                <a:alpha val="0"/>
              </a:srgbClr>
            </a:solidFill>
            <a:prstDash val="solid"/>
          </a:ln>
        </p:spPr>
      </p:sp>
      <p:sp>
        <p:nvSpPr>
          <p:cNvPr id="18" name="Text 16"/>
          <p:cNvSpPr/>
          <p:nvPr/>
        </p:nvSpPr>
        <p:spPr>
          <a:xfrm>
            <a:off x="1024128" y="4663440"/>
            <a:ext cx="146304" cy="9144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5</a:t>
            </a:r>
            <a:endParaRPr lang="en-US" sz="900" dirty="0"/>
          </a:p>
        </p:txBody>
      </p:sp>
      <p:sp>
        <p:nvSpPr>
          <p:cNvPr id="19" name="Text 17"/>
          <p:cNvSpPr/>
          <p:nvPr/>
        </p:nvSpPr>
        <p:spPr>
          <a:xfrm>
            <a:off x="1463040" y="4581144"/>
            <a:ext cx="9601200" cy="347472"/>
          </a:xfrm>
          <a:prstGeom prst="rect">
            <a:avLst/>
          </a:prstGeom>
          <a:noFill/>
          <a:ln/>
        </p:spPr>
        <p:txBody>
          <a:bodyPr wrap="square" lIns="0" tIns="0" rIns="0" bIns="0" rtlCol="0" anchor="ctr">
            <a:normAutofit/>
          </a:bodyPr>
          <a:lstStyle/>
          <a:p>
            <a:pPr indent="0" marL="0">
              <a:buNone/>
            </a:pPr>
            <a:r>
              <a:rPr lang="en-US" sz="1450" dirty="0">
                <a:solidFill>
                  <a:srgbClr val="17202A"/>
                </a:solidFill>
                <a:latin typeface="Arial" pitchFamily="34" charset="0"/>
                <a:ea typeface="Arial" pitchFamily="34" charset="-122"/>
                <a:cs typeface="Arial" pitchFamily="34" charset="-120"/>
              </a:rPr>
              <a:t>Use CREMA-D and IEMOCAP together to teach how corpus design shapes affective computing claims.</a:t>
            </a:r>
            <a:endParaRPr lang="en-US" sz="1450" dirty="0"/>
          </a:p>
        </p:txBody>
      </p:sp>
      <p:sp>
        <p:nvSpPr>
          <p:cNvPr id="20" name="Text 18"/>
          <p:cNvSpPr/>
          <p:nvPr/>
        </p:nvSpPr>
        <p:spPr>
          <a:xfrm>
            <a:off x="502920" y="6473952"/>
            <a:ext cx="9144000" cy="164592"/>
          </a:xfrm>
          <a:prstGeom prst="rect">
            <a:avLst/>
          </a:prstGeom>
          <a:noFill/>
          <a:ln/>
        </p:spPr>
        <p:txBody>
          <a:bodyPr wrap="square" lIns="0" tIns="0" rIns="0" bIns="0" rtlCol="0" anchor="ctr"/>
          <a:lstStyle/>
          <a:p>
            <a:pPr indent="0" marL="0">
              <a:buNone/>
            </a:pPr>
            <a:r>
              <a:rPr lang="en-US" sz="750" dirty="0">
                <a:solidFill>
                  <a:srgbClr val="7B8794"/>
                </a:solidFill>
                <a:latin typeface="Arial" pitchFamily="34" charset="0"/>
                <a:ea typeface="Arial" pitchFamily="34" charset="-122"/>
                <a:cs typeface="Arial" pitchFamily="34" charset="-120"/>
              </a:rPr>
              <a:t>CREMA-D seminar | takeaways</a:t>
            </a:r>
            <a:endParaRPr lang="en-US" sz="750" dirty="0"/>
          </a:p>
        </p:txBody>
      </p:sp>
      <p:sp>
        <p:nvSpPr>
          <p:cNvPr id="21" name="Text 19"/>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50" dirty="0">
                <a:solidFill>
                  <a:srgbClr val="7B8794"/>
                </a:solidFill>
                <a:latin typeface="Arial" pitchFamily="34" charset="0"/>
                <a:ea typeface="Arial" pitchFamily="34" charset="-122"/>
                <a:cs typeface="Arial" pitchFamily="34" charset="-120"/>
              </a:rPr>
              <a:t>19</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4114800" cy="201168"/>
          </a:xfrm>
          <a:prstGeom prst="rect">
            <a:avLst/>
          </a:prstGeom>
          <a:noFill/>
          <a:ln/>
        </p:spPr>
        <p:txBody>
          <a:bodyPr wrap="square" lIns="0" tIns="0" rIns="0" bIns="0" rtlCol="0" anchor="ctr"/>
          <a:lstStyle/>
          <a:p>
            <a:pPr indent="0" marL="0">
              <a:buNone/>
            </a:pPr>
            <a:r>
              <a:rPr lang="en-US" sz="850" b="1" dirty="0">
                <a:solidFill>
                  <a:srgbClr val="00A8A8"/>
                </a:solidFill>
                <a:latin typeface="Arial" pitchFamily="34" charset="0"/>
                <a:ea typeface="Arial" pitchFamily="34" charset="-122"/>
                <a:cs typeface="Arial" pitchFamily="34" charset="-120"/>
              </a:rPr>
              <a:t>REFERENCES</a:t>
            </a:r>
            <a:endParaRPr lang="en-US" sz="850" dirty="0"/>
          </a:p>
        </p:txBody>
      </p:sp>
      <p:sp>
        <p:nvSpPr>
          <p:cNvPr id="3" name="Text 1"/>
          <p:cNvSpPr/>
          <p:nvPr/>
        </p:nvSpPr>
        <p:spPr>
          <a:xfrm>
            <a:off x="502920" y="502920"/>
            <a:ext cx="11155680" cy="502920"/>
          </a:xfrm>
          <a:prstGeom prst="rect">
            <a:avLst/>
          </a:prstGeom>
          <a:noFill/>
          <a:ln/>
        </p:spPr>
        <p:txBody>
          <a:bodyPr wrap="square" lIns="0" tIns="0" rIns="0" bIns="0" rtlCol="0" anchor="ctr">
            <a:normAutofit/>
          </a:bodyPr>
          <a:lstStyle/>
          <a:p>
            <a:pPr indent="0" marL="0">
              <a:buNone/>
            </a:pPr>
            <a:r>
              <a:rPr lang="en-US" sz="3000" b="1" dirty="0">
                <a:solidFill>
                  <a:srgbClr val="102A43"/>
                </a:solidFill>
                <a:latin typeface="Arial" pitchFamily="34" charset="0"/>
                <a:ea typeface="Arial" pitchFamily="34" charset="-122"/>
                <a:cs typeface="Arial" pitchFamily="34" charset="-120"/>
              </a:rPr>
              <a:t>References and suggested reading</a:t>
            </a:r>
            <a:endParaRPr lang="en-US" sz="3000" dirty="0"/>
          </a:p>
        </p:txBody>
      </p:sp>
      <p:sp>
        <p:nvSpPr>
          <p:cNvPr id="4" name="Shape 2"/>
          <p:cNvSpPr/>
          <p:nvPr/>
        </p:nvSpPr>
        <p:spPr>
          <a:xfrm>
            <a:off x="502920" y="1078992"/>
            <a:ext cx="11155680" cy="0"/>
          </a:xfrm>
          <a:prstGeom prst="line">
            <a:avLst/>
          </a:prstGeom>
          <a:noFill/>
          <a:ln w="7620">
            <a:solidFill>
              <a:srgbClr val="CBD2D9"/>
            </a:solidFill>
            <a:prstDash val="solid"/>
          </a:ln>
        </p:spPr>
      </p:sp>
      <p:sp>
        <p:nvSpPr>
          <p:cNvPr id="5" name="Text 3"/>
          <p:cNvSpPr/>
          <p:nvPr/>
        </p:nvSpPr>
        <p:spPr>
          <a:xfrm>
            <a:off x="822960" y="1417320"/>
            <a:ext cx="10515600" cy="2880360"/>
          </a:xfrm>
          <a:prstGeom prst="rect">
            <a:avLst/>
          </a:prstGeom>
          <a:noFill/>
          <a:ln/>
        </p:spPr>
        <p:txBody>
          <a:bodyPr wrap="square" lIns="381" tIns="381" rIns="381" bIns="381" rtlCol="0" anchor="t">
            <a:normAutofit/>
          </a:bodyPr>
          <a:lstStyle/>
          <a:p>
            <a:pPr indent="0" marL="0">
              <a:buNone/>
            </a:pPr>
            <a:r>
              <a:rPr lang="en-US" sz="1320" b="1" dirty="0">
                <a:solidFill>
                  <a:srgbClr val="00A8A8"/>
                </a:solidFill>
                <a:latin typeface="Arial" pitchFamily="34" charset="0"/>
                <a:ea typeface="Arial" pitchFamily="34" charset="-122"/>
                <a:cs typeface="Arial" pitchFamily="34" charset="-120"/>
              </a:rPr>
              <a:t>● </a:t>
            </a:r>
            <a:pPr indent="0" marL="0">
              <a:buNone/>
            </a:pPr>
            <a:r>
              <a:rPr lang="en-US" sz="1320" dirty="0">
                <a:solidFill>
                  <a:srgbClr val="17202A"/>
                </a:solidFill>
                <a:latin typeface="Arial" pitchFamily="34" charset="0"/>
                <a:ea typeface="Arial" pitchFamily="34" charset="-122"/>
                <a:cs typeface="Arial" pitchFamily="34" charset="-120"/>
              </a:rPr>
              <a:t>Cao, H., Cooper, D. G., Keutmann, M. K., Gur, R. C., Nenkova, A., &amp; Verma, R. (2014). CREMA-D: Crowd-sourced Emotional Multimodal Actors Dataset. IEEE Transactions on Affective Computing, 5(4), 377–390.</a:t>
            </a:r>
            <a:pPr indent="0" marL="0">
              <a:buNone/>
            </a:pPr>
            <a:r>
              <a:rPr lang="en-US" sz="1320" dirty="0">
                <a:solidFill>
                  <a:srgbClr val="000000"/>
                </a:solidFill>
                <a:latin typeface="Arial" pitchFamily="34" charset="0"/>
                <a:ea typeface="Arial" pitchFamily="34" charset="-122"/>
                <a:cs typeface="Arial" pitchFamily="34" charset="-120"/>
              </a:rPr>
              <a:t>
</a:t>
            </a:r>
            <a:pPr indent="0" marL="0">
              <a:buNone/>
            </a:pPr>
            <a:r>
              <a:rPr lang="en-US" sz="1320" b="1" dirty="0">
                <a:solidFill>
                  <a:srgbClr val="00A8A8"/>
                </a:solidFill>
                <a:latin typeface="Arial" pitchFamily="34" charset="0"/>
                <a:ea typeface="Arial" pitchFamily="34" charset="-122"/>
                <a:cs typeface="Arial" pitchFamily="34" charset="-120"/>
              </a:rPr>
              <a:t>● </a:t>
            </a:r>
            <a:pPr indent="0" marL="0">
              <a:buNone/>
            </a:pPr>
            <a:r>
              <a:rPr lang="en-US" sz="1320" dirty="0">
                <a:solidFill>
                  <a:srgbClr val="17202A"/>
                </a:solidFill>
                <a:latin typeface="Arial" pitchFamily="34" charset="0"/>
                <a:ea typeface="Arial" pitchFamily="34" charset="-122"/>
                <a:cs typeface="Arial" pitchFamily="34" charset="-120"/>
              </a:rPr>
              <a:t>CREMA-D GitHub repository: dataset files, README, ratings, demographics, and processing scripts.</a:t>
            </a:r>
            <a:pPr indent="0" marL="0">
              <a:buNone/>
            </a:pPr>
            <a:r>
              <a:rPr lang="en-US" sz="1320" dirty="0">
                <a:solidFill>
                  <a:srgbClr val="000000"/>
                </a:solidFill>
                <a:latin typeface="Arial" pitchFamily="34" charset="0"/>
                <a:ea typeface="Arial" pitchFamily="34" charset="-122"/>
                <a:cs typeface="Arial" pitchFamily="34" charset="-120"/>
              </a:rPr>
              <a:t>
</a:t>
            </a:r>
            <a:pPr indent="0" marL="0">
              <a:buNone/>
            </a:pPr>
            <a:r>
              <a:rPr lang="en-US" sz="1320" b="1" dirty="0">
                <a:solidFill>
                  <a:srgbClr val="00A8A8"/>
                </a:solidFill>
                <a:latin typeface="Arial" pitchFamily="34" charset="0"/>
                <a:ea typeface="Arial" pitchFamily="34" charset="-122"/>
                <a:cs typeface="Arial" pitchFamily="34" charset="-120"/>
              </a:rPr>
              <a:t>● </a:t>
            </a:r>
            <a:pPr indent="0" marL="0">
              <a:buNone/>
            </a:pPr>
            <a:r>
              <a:rPr lang="en-US" sz="1320" dirty="0">
                <a:solidFill>
                  <a:srgbClr val="17202A"/>
                </a:solidFill>
                <a:latin typeface="Arial" pitchFamily="34" charset="0"/>
                <a:ea typeface="Arial" pitchFamily="34" charset="-122"/>
                <a:cs typeface="Arial" pitchFamily="34" charset="-120"/>
              </a:rPr>
              <a:t>Busso, C. et al. (2008). IEMOCAP: Interactive emotional dyadic motion capture database. Language Resources and Evaluation, 42(4), 335–359.</a:t>
            </a:r>
            <a:pPr indent="0" marL="0">
              <a:buNone/>
            </a:pPr>
            <a:r>
              <a:rPr lang="en-US" sz="1320" dirty="0">
                <a:solidFill>
                  <a:srgbClr val="000000"/>
                </a:solidFill>
                <a:latin typeface="Arial" pitchFamily="34" charset="0"/>
                <a:ea typeface="Arial" pitchFamily="34" charset="-122"/>
                <a:cs typeface="Arial" pitchFamily="34" charset="-120"/>
              </a:rPr>
              <a:t>
</a:t>
            </a:r>
            <a:pPr indent="0" marL="0">
              <a:buNone/>
            </a:pPr>
            <a:r>
              <a:rPr lang="en-US" sz="1320" b="1" dirty="0">
                <a:solidFill>
                  <a:srgbClr val="00A8A8"/>
                </a:solidFill>
                <a:latin typeface="Arial" pitchFamily="34" charset="0"/>
                <a:ea typeface="Arial" pitchFamily="34" charset="-122"/>
                <a:cs typeface="Arial" pitchFamily="34" charset="-120"/>
              </a:rPr>
              <a:t>● </a:t>
            </a:r>
            <a:pPr indent="0" marL="0">
              <a:buNone/>
            </a:pPr>
            <a:r>
              <a:rPr lang="en-US" sz="1320" dirty="0">
                <a:solidFill>
                  <a:srgbClr val="17202A"/>
                </a:solidFill>
                <a:latin typeface="Arial" pitchFamily="34" charset="0"/>
                <a:ea typeface="Arial" pitchFamily="34" charset="-122"/>
                <a:cs typeface="Arial" pitchFamily="34" charset="-120"/>
              </a:rPr>
              <a:t>Barrett, L. F. et al. (2019). Emotional Expressions Reconsidered. Psychological Science in the Public Interest, 20(1), 1–68.</a:t>
            </a:r>
            <a:endParaRPr lang="en-US" sz="1320" dirty="0"/>
          </a:p>
        </p:txBody>
      </p:sp>
      <p:sp>
        <p:nvSpPr>
          <p:cNvPr id="6" name="Shape 4"/>
          <p:cNvSpPr/>
          <p:nvPr/>
        </p:nvSpPr>
        <p:spPr>
          <a:xfrm>
            <a:off x="2011680" y="5120640"/>
            <a:ext cx="8138160" cy="530352"/>
          </a:xfrm>
          <a:prstGeom prst="roundRect">
            <a:avLst>
              <a:gd name="adj" fmla="val 13793"/>
            </a:avLst>
          </a:prstGeom>
          <a:solidFill>
            <a:srgbClr val="F3E8FF"/>
          </a:solidFill>
          <a:ln w="12700">
            <a:solidFill>
              <a:srgbClr val="DDD6FE"/>
            </a:solidFill>
            <a:prstDash val="solid"/>
          </a:ln>
        </p:spPr>
      </p:sp>
      <p:sp>
        <p:nvSpPr>
          <p:cNvPr id="7" name="Text 5"/>
          <p:cNvSpPr/>
          <p:nvPr/>
        </p:nvSpPr>
        <p:spPr>
          <a:xfrm>
            <a:off x="2286000" y="5303520"/>
            <a:ext cx="7589520" cy="146304"/>
          </a:xfrm>
          <a:prstGeom prst="rect">
            <a:avLst/>
          </a:prstGeom>
          <a:noFill/>
          <a:ln/>
        </p:spPr>
        <p:txBody>
          <a:bodyPr wrap="square" lIns="381" tIns="381" rIns="381" bIns="381" rtlCol="0" anchor="ctr">
            <a:normAutofit/>
          </a:bodyPr>
          <a:lstStyle/>
          <a:p>
            <a:pPr algn="ctr" indent="0" marL="0">
              <a:buNone/>
            </a:pPr>
            <a:r>
              <a:rPr lang="en-US" sz="1150" b="1" dirty="0">
                <a:solidFill>
                  <a:srgbClr val="102A43"/>
                </a:solidFill>
                <a:latin typeface="Arial" pitchFamily="34" charset="0"/>
                <a:ea typeface="Arial" pitchFamily="34" charset="-122"/>
                <a:cs typeface="Arial" pitchFamily="34" charset="-120"/>
              </a:rPr>
              <a:t>Suggested closing question: what would you need to measure to support a claim about emotion, not only perceived expression?</a:t>
            </a:r>
            <a:endParaRPr lang="en-US" sz="1150" dirty="0"/>
          </a:p>
        </p:txBody>
      </p:sp>
      <p:sp>
        <p:nvSpPr>
          <p:cNvPr id="8" name="Text 6"/>
          <p:cNvSpPr/>
          <p:nvPr/>
        </p:nvSpPr>
        <p:spPr>
          <a:xfrm>
            <a:off x="502920" y="6473952"/>
            <a:ext cx="9144000" cy="164592"/>
          </a:xfrm>
          <a:prstGeom prst="rect">
            <a:avLst/>
          </a:prstGeom>
          <a:noFill/>
          <a:ln/>
        </p:spPr>
        <p:txBody>
          <a:bodyPr wrap="square" lIns="0" tIns="0" rIns="0" bIns="0" rtlCol="0" anchor="ctr"/>
          <a:lstStyle/>
          <a:p>
            <a:pPr indent="0" marL="0">
              <a:buNone/>
            </a:pPr>
            <a:r>
              <a:rPr lang="en-US" sz="750" dirty="0">
                <a:solidFill>
                  <a:srgbClr val="7B8794"/>
                </a:solidFill>
                <a:latin typeface="Arial" pitchFamily="34" charset="0"/>
                <a:ea typeface="Arial" pitchFamily="34" charset="-122"/>
                <a:cs typeface="Arial" pitchFamily="34" charset="-120"/>
              </a:rPr>
              <a:t>CREMA-D seminar | references</a:t>
            </a:r>
            <a:endParaRPr lang="en-US" sz="750" dirty="0"/>
          </a:p>
        </p:txBody>
      </p:sp>
      <p:sp>
        <p:nvSpPr>
          <p:cNvPr id="9" name="Text 7"/>
          <p:cNvSpPr/>
          <p:nvPr/>
        </p:nvSpPr>
        <p:spPr>
          <a:xfrm>
            <a:off x="11384280" y="6473952"/>
            <a:ext cx="320040" cy="164592"/>
          </a:xfrm>
          <a:prstGeom prst="rect">
            <a:avLst/>
          </a:prstGeom>
          <a:noFill/>
          <a:ln/>
        </p:spPr>
        <p:txBody>
          <a:bodyPr wrap="square" lIns="0" tIns="0" rIns="0" bIns="0" rtlCol="0" anchor="ctr"/>
          <a:lstStyle/>
          <a:p>
            <a:pPr algn="r" indent="0" marL="0">
              <a:buNone/>
            </a:pPr>
            <a:r>
              <a:rPr lang="en-US" sz="750" dirty="0">
                <a:solidFill>
                  <a:srgbClr val="7B8794"/>
                </a:solidFill>
                <a:latin typeface="Arial" pitchFamily="34" charset="0"/>
                <a:ea typeface="Arial" pitchFamily="34" charset="-122"/>
                <a:cs typeface="Arial" pitchFamily="34" charset="-120"/>
              </a:rPr>
              <a:t>20</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CREMA-D - Graduate Seminar Slides</dc:title>
  <dc:subject>Graduate seminar on affective computing</dc:subject>
  <dc:creator>OpenAI</dc:creator>
  <cp:lastModifiedBy>OpenAI</cp:lastModifiedBy>
  <cp:revision>1</cp:revision>
  <dcterms:created xsi:type="dcterms:W3CDTF">2026-08-30T12:33:23Z</dcterms:created>
  <dcterms:modified xsi:type="dcterms:W3CDTF">2026-08-30T12:33:23Z</dcterms:modified>
</cp:coreProperties>
</file>