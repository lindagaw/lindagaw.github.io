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1.xml" ContentType="application/vnd.openxmlformats-officedocument.drawingml.chart+xml"/>
  <Override PartName="/ppt/notesSlides/notesSlide23.xml" ContentType="application/vnd.openxmlformats-officedocument.presentationml.notesSlide+xml"/>
  <Override PartName="/ppt/charts/chart2.xml" ContentType="application/vnd.openxmlformats-officedocument.drawingml.chart+xml"/>
  <Override PartName="/ppt/notesSlides/notesSlide24.xml" ContentType="application/vnd.openxmlformats-officedocument.presentationml.notesSlide+xml"/>
  <Override PartName="/ppt/charts/chart3.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4.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0" d="100"/>
          <a:sy n="120" d="100"/>
        </p:scale>
        <p:origin x="4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A7059"/>
                </a:solidFill>
                <a:latin typeface="Calibri"/>
              </a:defRPr>
            </a:pPr>
            <a:r>
              <a:rPr lang="en-US" sz="1200" b="0" i="0" u="none" strike="noStrike">
                <a:solidFill>
                  <a:srgbClr val="6A7059"/>
                </a:solidFill>
                <a:latin typeface="Calibri"/>
              </a:rPr>
              <a:t>Lower is better — a frame-wise linear head with CTC</a:t>
            </a:r>
          </a:p>
        </c:rich>
      </c:tx>
      <c:overlay val="0"/>
    </c:title>
    <c:autoTitleDeleted val="0"/>
    <c:plotArea>
      <c:layout/>
      <c:barChart>
        <c:barDir val="bar"/>
        <c:grouping val="clustered"/>
        <c:varyColors val="0"/>
        <c:ser>
          <c:idx val="0"/>
          <c:order val="0"/>
          <c:tx>
            <c:strRef>
              <c:f>Sheet1!$B$1</c:f>
              <c:strCache>
                <c:ptCount val="1"/>
                <c:pt idx="0">
                  <c:v>Phone error rate (%)</c:v>
                </c:pt>
              </c:strCache>
            </c:strRef>
          </c:tx>
          <c:spPr>
            <a:solidFill>
              <a:srgbClr val="5F6B3A"/>
            </a:solidFill>
            <a:effectLst/>
          </c:spPr>
          <c:invertIfNegative val="0"/>
          <c:dLbls>
            <c:numFmt formatCode="0.00" sourceLinked="0"/>
            <c:spPr>
              <a:noFill/>
              <a:ln>
                <a:noFill/>
              </a:ln>
              <a:effectLst/>
            </c:spPr>
            <c:txPr>
              <a:bodyPr/>
              <a:lstStyle/>
              <a:p>
                <a:pPr>
                  <a:defRPr sz="1000" b="0" i="0" u="none" strike="noStrike">
                    <a:solidFill>
                      <a:srgbClr val="32372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FBANK</c:v>
                </c:pt>
                <c:pt idx="1">
                  <c:v>Mockingjay</c:v>
                </c:pt>
                <c:pt idx="2">
                  <c:v>PASE+</c:v>
                </c:pt>
                <c:pt idx="3">
                  <c:v>TERA</c:v>
                </c:pt>
                <c:pt idx="4">
                  <c:v>APC</c:v>
                </c:pt>
                <c:pt idx="5">
                  <c:v>wav2vec</c:v>
                </c:pt>
                <c:pt idx="6">
                  <c:v>DeCoAR 2.0</c:v>
                </c:pt>
                <c:pt idx="7">
                  <c:v>HuBERT Base</c:v>
                </c:pt>
                <c:pt idx="8">
                  <c:v>wav2vec 2.0 Base</c:v>
                </c:pt>
                <c:pt idx="9">
                  <c:v>wav2vec 2.0 Large</c:v>
                </c:pt>
                <c:pt idx="10">
                  <c:v>HuBERT Large</c:v>
                </c:pt>
              </c:strCache>
            </c:strRef>
          </c:cat>
          <c:val>
            <c:numRef>
              <c:f>Sheet1!$B$2:$B$12</c:f>
              <c:numCache>
                <c:formatCode>General</c:formatCode>
                <c:ptCount val="11"/>
                <c:pt idx="0">
                  <c:v>82.01</c:v>
                </c:pt>
                <c:pt idx="1">
                  <c:v>70.19</c:v>
                </c:pt>
                <c:pt idx="2">
                  <c:v>58.87</c:v>
                </c:pt>
                <c:pt idx="3">
                  <c:v>49.17</c:v>
                </c:pt>
                <c:pt idx="4">
                  <c:v>41.98</c:v>
                </c:pt>
                <c:pt idx="5">
                  <c:v>31.58</c:v>
                </c:pt>
                <c:pt idx="6">
                  <c:v>14.93</c:v>
                </c:pt>
                <c:pt idx="7">
                  <c:v>5.41</c:v>
                </c:pt>
                <c:pt idx="8">
                  <c:v>5.74</c:v>
                </c:pt>
                <c:pt idx="9">
                  <c:v>4.75</c:v>
                </c:pt>
                <c:pt idx="10">
                  <c:v>3.53</c:v>
                </c:pt>
              </c:numCache>
            </c:numRef>
          </c:val>
          <c:extLst>
            <c:ext xmlns:c16="http://schemas.microsoft.com/office/drawing/2014/chart" uri="{C3380CC4-5D6E-409C-BE32-E72D297353CC}">
              <c16:uniqueId val="{00000000-3854-4845-A67D-370DACF8E49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A705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9ED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6A705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A7059"/>
                </a:solidFill>
                <a:latin typeface="Calibri"/>
              </a:defRPr>
            </a:pPr>
            <a:r>
              <a:rPr lang="en-US" sz="1200" b="0" i="0" u="none" strike="noStrike">
                <a:solidFill>
                  <a:srgbClr val="6A7059"/>
                </a:solidFill>
                <a:latin typeface="Calibri"/>
              </a:rPr>
              <a:t>Accuracy (%) with mean pooling and a linear transformation</a:t>
            </a:r>
          </a:p>
        </c:rich>
      </c:tx>
      <c:overlay val="0"/>
    </c:title>
    <c:autoTitleDeleted val="0"/>
    <c:plotArea>
      <c:layout/>
      <c:barChart>
        <c:barDir val="col"/>
        <c:grouping val="clustered"/>
        <c:varyColors val="0"/>
        <c:ser>
          <c:idx val="0"/>
          <c:order val="0"/>
          <c:tx>
            <c:strRef>
              <c:f>Sheet1!$B$1</c:f>
              <c:strCache>
                <c:ptCount val="1"/>
                <c:pt idx="0">
                  <c:v>Intent classification</c:v>
                </c:pt>
              </c:strCache>
            </c:strRef>
          </c:tx>
          <c:spPr>
            <a:solidFill>
              <a:srgbClr val="5F6B3A"/>
            </a:solidFill>
            <a:effectLst/>
          </c:spPr>
          <c:invertIfNegative val="0"/>
          <c:dLbls>
            <c:numFmt formatCode="0.0" sourceLinked="0"/>
            <c:spPr>
              <a:noFill/>
              <a:ln>
                <a:noFill/>
              </a:ln>
              <a:effectLst/>
            </c:spPr>
            <c:txPr>
              <a:bodyPr/>
              <a:lstStyle/>
              <a:p>
                <a:pPr>
                  <a:defRPr sz="900" b="0" i="0" u="none" strike="noStrike">
                    <a:solidFill>
                      <a:srgbClr val="32372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FBANK</c:v>
                </c:pt>
                <c:pt idx="1">
                  <c:v>APC</c:v>
                </c:pt>
                <c:pt idx="2">
                  <c:v>wav2vec</c:v>
                </c:pt>
                <c:pt idx="3">
                  <c:v>wav2vec 2.0 Large</c:v>
                </c:pt>
                <c:pt idx="4">
                  <c:v>HuBERT Large</c:v>
                </c:pt>
              </c:strCache>
            </c:strRef>
          </c:cat>
          <c:val>
            <c:numRef>
              <c:f>Sheet1!$B$2:$B$6</c:f>
              <c:numCache>
                <c:formatCode>General</c:formatCode>
                <c:ptCount val="5"/>
                <c:pt idx="0">
                  <c:v>9.1</c:v>
                </c:pt>
                <c:pt idx="1">
                  <c:v>74.69</c:v>
                </c:pt>
                <c:pt idx="2">
                  <c:v>84.92</c:v>
                </c:pt>
                <c:pt idx="3">
                  <c:v>95.28</c:v>
                </c:pt>
                <c:pt idx="4">
                  <c:v>98.76</c:v>
                </c:pt>
              </c:numCache>
            </c:numRef>
          </c:val>
          <c:extLst>
            <c:ext xmlns:c16="http://schemas.microsoft.com/office/drawing/2014/chart" uri="{C3380CC4-5D6E-409C-BE32-E72D297353CC}">
              <c16:uniqueId val="{00000000-134A-4C42-9475-0E815C92AA35}"/>
            </c:ext>
          </c:extLst>
        </c:ser>
        <c:ser>
          <c:idx val="1"/>
          <c:order val="1"/>
          <c:tx>
            <c:strRef>
              <c:f>Sheet1!$C$1</c:f>
              <c:strCache>
                <c:ptCount val="1"/>
                <c:pt idx="0">
                  <c:v>Speaker identification</c:v>
                </c:pt>
              </c:strCache>
            </c:strRef>
          </c:tx>
          <c:spPr>
            <a:solidFill>
              <a:srgbClr val="D9614C"/>
            </a:solidFill>
            <a:effectLst/>
          </c:spPr>
          <c:invertIfNegative val="0"/>
          <c:dLbls>
            <c:numFmt formatCode="0.0" sourceLinked="0"/>
            <c:spPr>
              <a:noFill/>
              <a:ln>
                <a:noFill/>
              </a:ln>
              <a:effectLst/>
            </c:spPr>
            <c:txPr>
              <a:bodyPr/>
              <a:lstStyle/>
              <a:p>
                <a:pPr>
                  <a:defRPr sz="900" b="0" i="0" u="none" strike="noStrike">
                    <a:solidFill>
                      <a:srgbClr val="32372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FBANK</c:v>
                </c:pt>
                <c:pt idx="1">
                  <c:v>APC</c:v>
                </c:pt>
                <c:pt idx="2">
                  <c:v>wav2vec</c:v>
                </c:pt>
                <c:pt idx="3">
                  <c:v>wav2vec 2.0 Large</c:v>
                </c:pt>
                <c:pt idx="4">
                  <c:v>HuBERT Large</c:v>
                </c:pt>
              </c:strCache>
            </c:strRef>
          </c:cat>
          <c:val>
            <c:numRef>
              <c:f>Sheet1!$C$2:$C$6</c:f>
              <c:numCache>
                <c:formatCode>General</c:formatCode>
                <c:ptCount val="5"/>
                <c:pt idx="0">
                  <c:v>8.4999999999999995E-4</c:v>
                </c:pt>
                <c:pt idx="1">
                  <c:v>60.42</c:v>
                </c:pt>
                <c:pt idx="2">
                  <c:v>56.56</c:v>
                </c:pt>
                <c:pt idx="3">
                  <c:v>86.14</c:v>
                </c:pt>
                <c:pt idx="4">
                  <c:v>90.33</c:v>
                </c:pt>
              </c:numCache>
            </c:numRef>
          </c:val>
          <c:extLst>
            <c:ext xmlns:c16="http://schemas.microsoft.com/office/drawing/2014/chart" uri="{C3380CC4-5D6E-409C-BE32-E72D297353CC}">
              <c16:uniqueId val="{00000001-134A-4C42-9475-0E815C92AA35}"/>
            </c:ext>
          </c:extLst>
        </c:ser>
        <c:ser>
          <c:idx val="2"/>
          <c:order val="2"/>
          <c:tx>
            <c:strRef>
              <c:f>Sheet1!$D$1</c:f>
              <c:strCache>
                <c:ptCount val="1"/>
                <c:pt idx="0">
                  <c:v>Emotion recognition</c:v>
                </c:pt>
              </c:strCache>
            </c:strRef>
          </c:tx>
          <c:spPr>
            <a:solidFill>
              <a:srgbClr val="A3AB84"/>
            </a:solidFill>
            <a:effectLst/>
          </c:spPr>
          <c:invertIfNegative val="0"/>
          <c:dLbls>
            <c:numFmt formatCode="0.0" sourceLinked="0"/>
            <c:spPr>
              <a:noFill/>
              <a:ln>
                <a:noFill/>
              </a:ln>
              <a:effectLst/>
            </c:spPr>
            <c:txPr>
              <a:bodyPr/>
              <a:lstStyle/>
              <a:p>
                <a:pPr>
                  <a:defRPr sz="900" b="0" i="0" u="none" strike="noStrike">
                    <a:solidFill>
                      <a:srgbClr val="32372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FBANK</c:v>
                </c:pt>
                <c:pt idx="1">
                  <c:v>APC</c:v>
                </c:pt>
                <c:pt idx="2">
                  <c:v>wav2vec</c:v>
                </c:pt>
                <c:pt idx="3">
                  <c:v>wav2vec 2.0 Large</c:v>
                </c:pt>
                <c:pt idx="4">
                  <c:v>HuBERT Large</c:v>
                </c:pt>
              </c:strCache>
            </c:strRef>
          </c:cat>
          <c:val>
            <c:numRef>
              <c:f>Sheet1!$D$2:$D$6</c:f>
              <c:numCache>
                <c:formatCode>General</c:formatCode>
                <c:ptCount val="5"/>
                <c:pt idx="0">
                  <c:v>35.39</c:v>
                </c:pt>
                <c:pt idx="1">
                  <c:v>59.33</c:v>
                </c:pt>
                <c:pt idx="2">
                  <c:v>59.79</c:v>
                </c:pt>
                <c:pt idx="3">
                  <c:v>65.64</c:v>
                </c:pt>
                <c:pt idx="4">
                  <c:v>67.62</c:v>
                </c:pt>
              </c:numCache>
            </c:numRef>
          </c:val>
          <c:extLst>
            <c:ext xmlns:c16="http://schemas.microsoft.com/office/drawing/2014/chart" uri="{C3380CC4-5D6E-409C-BE32-E72D297353CC}">
              <c16:uniqueId val="{00000002-134A-4C42-9475-0E815C92AA3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A705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9ED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A705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A7059"/>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A7059"/>
                </a:solidFill>
                <a:latin typeface="Calibri"/>
              </a:defRPr>
            </a:pPr>
            <a:r>
              <a:rPr lang="en-US" sz="1200" b="0" i="0" u="none" strike="noStrike">
                <a:solidFill>
                  <a:srgbClr val="6A7059"/>
                </a:solidFill>
                <a:latin typeface="Calibri"/>
              </a:rPr>
              <a:t>Lower is better — filter banks shown first, in coral</a:t>
            </a:r>
          </a:p>
        </c:rich>
      </c:tx>
      <c:overlay val="0"/>
    </c:title>
    <c:autoTitleDeleted val="0"/>
    <c:plotArea>
      <c:layout/>
      <c:barChart>
        <c:barDir val="col"/>
        <c:grouping val="clustered"/>
        <c:varyColors val="0"/>
        <c:ser>
          <c:idx val="0"/>
          <c:order val="0"/>
          <c:tx>
            <c:strRef>
              <c:f>Sheet1!$B$1</c:f>
              <c:strCache>
                <c:ptCount val="1"/>
                <c:pt idx="0">
                  <c:v>Speaker verification EER (%)</c:v>
                </c:pt>
              </c:strCache>
            </c:strRef>
          </c:tx>
          <c:spPr>
            <a:solidFill>
              <a:srgbClr val="D9614C"/>
            </a:solidFill>
            <a:effectLst/>
          </c:spPr>
          <c:invertIfNegative val="0"/>
          <c:dPt>
            <c:idx val="0"/>
            <c:invertIfNegative val="0"/>
            <c:bubble3D val="0"/>
            <c:extLst>
              <c:ext xmlns:c16="http://schemas.microsoft.com/office/drawing/2014/chart" uri="{C3380CC4-5D6E-409C-BE32-E72D297353CC}">
                <c16:uniqueId val="{00000001-C20E-E446-A1E4-D9B8582998D0}"/>
              </c:ext>
            </c:extLst>
          </c:dPt>
          <c:dPt>
            <c:idx val="1"/>
            <c:invertIfNegative val="0"/>
            <c:bubble3D val="0"/>
            <c:spPr>
              <a:solidFill>
                <a:srgbClr val="5F6B3A"/>
              </a:solidFill>
              <a:effectLst/>
            </c:spPr>
            <c:extLst>
              <c:ext xmlns:c16="http://schemas.microsoft.com/office/drawing/2014/chart" uri="{C3380CC4-5D6E-409C-BE32-E72D297353CC}">
                <c16:uniqueId val="{00000003-C20E-E446-A1E4-D9B8582998D0}"/>
              </c:ext>
            </c:extLst>
          </c:dPt>
          <c:dPt>
            <c:idx val="2"/>
            <c:invertIfNegative val="0"/>
            <c:bubble3D val="0"/>
            <c:spPr>
              <a:solidFill>
                <a:srgbClr val="5F6B3A"/>
              </a:solidFill>
              <a:effectLst/>
            </c:spPr>
            <c:extLst>
              <c:ext xmlns:c16="http://schemas.microsoft.com/office/drawing/2014/chart" uri="{C3380CC4-5D6E-409C-BE32-E72D297353CC}">
                <c16:uniqueId val="{00000005-C20E-E446-A1E4-D9B8582998D0}"/>
              </c:ext>
            </c:extLst>
          </c:dPt>
          <c:dPt>
            <c:idx val="3"/>
            <c:invertIfNegative val="0"/>
            <c:bubble3D val="0"/>
            <c:spPr>
              <a:solidFill>
                <a:srgbClr val="5F6B3A"/>
              </a:solidFill>
              <a:effectLst/>
            </c:spPr>
            <c:extLst>
              <c:ext xmlns:c16="http://schemas.microsoft.com/office/drawing/2014/chart" uri="{C3380CC4-5D6E-409C-BE32-E72D297353CC}">
                <c16:uniqueId val="{00000007-C20E-E446-A1E4-D9B8582998D0}"/>
              </c:ext>
            </c:extLst>
          </c:dPt>
          <c:dPt>
            <c:idx val="4"/>
            <c:invertIfNegative val="0"/>
            <c:bubble3D val="0"/>
            <c:spPr>
              <a:solidFill>
                <a:srgbClr val="5F6B3A"/>
              </a:solidFill>
              <a:effectLst/>
            </c:spPr>
            <c:extLst>
              <c:ext xmlns:c16="http://schemas.microsoft.com/office/drawing/2014/chart" uri="{C3380CC4-5D6E-409C-BE32-E72D297353CC}">
                <c16:uniqueId val="{00000009-C20E-E446-A1E4-D9B8582998D0}"/>
              </c:ext>
            </c:extLst>
          </c:dPt>
          <c:dPt>
            <c:idx val="5"/>
            <c:invertIfNegative val="0"/>
            <c:bubble3D val="0"/>
            <c:spPr>
              <a:solidFill>
                <a:srgbClr val="5F6B3A"/>
              </a:solidFill>
              <a:effectLst/>
            </c:spPr>
            <c:extLst>
              <c:ext xmlns:c16="http://schemas.microsoft.com/office/drawing/2014/chart" uri="{C3380CC4-5D6E-409C-BE32-E72D297353CC}">
                <c16:uniqueId val="{0000000B-C20E-E446-A1E4-D9B8582998D0}"/>
              </c:ext>
            </c:extLst>
          </c:dPt>
          <c:dPt>
            <c:idx val="6"/>
            <c:invertIfNegative val="0"/>
            <c:bubble3D val="0"/>
            <c:spPr>
              <a:solidFill>
                <a:srgbClr val="5F6B3A"/>
              </a:solidFill>
              <a:effectLst/>
            </c:spPr>
            <c:extLst>
              <c:ext xmlns:c16="http://schemas.microsoft.com/office/drawing/2014/chart" uri="{C3380CC4-5D6E-409C-BE32-E72D297353CC}">
                <c16:uniqueId val="{0000000D-C20E-E446-A1E4-D9B8582998D0}"/>
              </c:ext>
            </c:extLst>
          </c:dPt>
          <c:dPt>
            <c:idx val="7"/>
            <c:invertIfNegative val="0"/>
            <c:bubble3D val="0"/>
            <c:spPr>
              <a:solidFill>
                <a:srgbClr val="5F6B3A"/>
              </a:solidFill>
              <a:effectLst/>
            </c:spPr>
            <c:extLst>
              <c:ext xmlns:c16="http://schemas.microsoft.com/office/drawing/2014/chart" uri="{C3380CC4-5D6E-409C-BE32-E72D297353CC}">
                <c16:uniqueId val="{0000000F-C20E-E446-A1E4-D9B8582998D0}"/>
              </c:ext>
            </c:extLst>
          </c:dPt>
          <c:dLbls>
            <c:numFmt formatCode="0.00" sourceLinked="0"/>
            <c:spPr>
              <a:noFill/>
              <a:ln>
                <a:noFill/>
              </a:ln>
              <a:effectLst/>
            </c:spPr>
            <c:txPr>
              <a:bodyPr/>
              <a:lstStyle/>
              <a:p>
                <a:pPr>
                  <a:defRPr sz="1000" b="0" i="0" u="none" strike="noStrike">
                    <a:solidFill>
                      <a:srgbClr val="32372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FBANK</c:v>
                </c:pt>
                <c:pt idx="1">
                  <c:v>PASE+</c:v>
                </c:pt>
                <c:pt idx="2">
                  <c:v>TERA</c:v>
                </c:pt>
                <c:pt idx="3">
                  <c:v>modified CPC</c:v>
                </c:pt>
                <c:pt idx="4">
                  <c:v>vq-wav2vec</c:v>
                </c:pt>
                <c:pt idx="5">
                  <c:v>APC</c:v>
                </c:pt>
                <c:pt idx="6">
                  <c:v>wav2vec</c:v>
                </c:pt>
                <c:pt idx="7">
                  <c:v>HuBERT Base</c:v>
                </c:pt>
              </c:strCache>
            </c:strRef>
          </c:cat>
          <c:val>
            <c:numRef>
              <c:f>Sheet1!$B$2:$B$9</c:f>
              <c:numCache>
                <c:formatCode>General</c:formatCode>
                <c:ptCount val="8"/>
                <c:pt idx="0">
                  <c:v>9.56</c:v>
                </c:pt>
                <c:pt idx="1">
                  <c:v>11.61</c:v>
                </c:pt>
                <c:pt idx="2">
                  <c:v>15.89</c:v>
                </c:pt>
                <c:pt idx="3">
                  <c:v>12.86</c:v>
                </c:pt>
                <c:pt idx="4">
                  <c:v>10.38</c:v>
                </c:pt>
                <c:pt idx="5">
                  <c:v>8.56</c:v>
                </c:pt>
                <c:pt idx="6">
                  <c:v>7.99</c:v>
                </c:pt>
                <c:pt idx="7">
                  <c:v>5.1100000000000003</c:v>
                </c:pt>
              </c:numCache>
            </c:numRef>
          </c:val>
          <c:extLst>
            <c:ext xmlns:c16="http://schemas.microsoft.com/office/drawing/2014/chart" uri="{C3380CC4-5D6E-409C-BE32-E72D297353CC}">
              <c16:uniqueId val="{00000010-C20E-E446-A1E4-D9B8582998D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A705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9ED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A705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A7059"/>
                </a:solidFill>
                <a:latin typeface="Calibri"/>
              </a:defRPr>
            </a:pPr>
            <a:r>
              <a:rPr lang="en-US" sz="1200" b="0" i="0" u="none" strike="noStrike">
                <a:solidFill>
                  <a:srgbClr val="6A7059"/>
                </a:solidFill>
                <a:latin typeface="Calibri"/>
              </a:rPr>
              <a:t>Three times the parameters, sixty times the pre-training data</a:t>
            </a:r>
          </a:p>
        </c:rich>
      </c:tx>
      <c:overlay val="0"/>
    </c:title>
    <c:autoTitleDeleted val="0"/>
    <c:plotArea>
      <c:layout/>
      <c:barChart>
        <c:barDir val="col"/>
        <c:grouping val="clustered"/>
        <c:varyColors val="0"/>
        <c:ser>
          <c:idx val="0"/>
          <c:order val="0"/>
          <c:tx>
            <c:strRef>
              <c:f>Sheet1!$B$1</c:f>
              <c:strCache>
                <c:ptCount val="1"/>
                <c:pt idx="0">
                  <c:v>HuBERT Base (95M, LS 960h)</c:v>
                </c:pt>
              </c:strCache>
            </c:strRef>
          </c:tx>
          <c:spPr>
            <a:solidFill>
              <a:srgbClr val="A3AB84"/>
            </a:solidFill>
            <a:effectLst/>
          </c:spPr>
          <c:invertIfNegative val="0"/>
          <c:dLbls>
            <c:numFmt formatCode="0.00" sourceLinked="0"/>
            <c:spPr>
              <a:noFill/>
              <a:ln>
                <a:noFill/>
              </a:ln>
              <a:effectLst/>
            </c:spPr>
            <c:txPr>
              <a:bodyPr/>
              <a:lstStyle/>
              <a:p>
                <a:pPr>
                  <a:defRPr sz="1000" b="0" i="0" u="none" strike="noStrike">
                    <a:solidFill>
                      <a:srgbClr val="32372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Phoneme rec.
(PER ↓)</c:v>
                </c:pt>
                <c:pt idx="1">
                  <c:v>Speaker ID
(Acc ↑)</c:v>
                </c:pt>
                <c:pt idx="2">
                  <c:v>Keyword spotting
(Acc ↑)</c:v>
                </c:pt>
                <c:pt idx="3">
                  <c:v>Speaker verif.
(EER ↓)</c:v>
                </c:pt>
              </c:strCache>
            </c:strRef>
          </c:cat>
          <c:val>
            <c:numRef>
              <c:f>Sheet1!$B$2:$B$5</c:f>
              <c:numCache>
                <c:formatCode>General</c:formatCode>
                <c:ptCount val="4"/>
                <c:pt idx="0">
                  <c:v>5.41</c:v>
                </c:pt>
                <c:pt idx="1">
                  <c:v>81.42</c:v>
                </c:pt>
                <c:pt idx="2">
                  <c:v>96.3</c:v>
                </c:pt>
                <c:pt idx="3">
                  <c:v>5.1100000000000003</c:v>
                </c:pt>
              </c:numCache>
            </c:numRef>
          </c:val>
          <c:extLst>
            <c:ext xmlns:c16="http://schemas.microsoft.com/office/drawing/2014/chart" uri="{C3380CC4-5D6E-409C-BE32-E72D297353CC}">
              <c16:uniqueId val="{00000000-6B1E-E14B-B067-0137D38C933A}"/>
            </c:ext>
          </c:extLst>
        </c:ser>
        <c:ser>
          <c:idx val="1"/>
          <c:order val="1"/>
          <c:tx>
            <c:strRef>
              <c:f>Sheet1!$C$1</c:f>
              <c:strCache>
                <c:ptCount val="1"/>
                <c:pt idx="0">
                  <c:v>HuBERT Large (317M, LL 60k h)</c:v>
                </c:pt>
              </c:strCache>
            </c:strRef>
          </c:tx>
          <c:spPr>
            <a:solidFill>
              <a:srgbClr val="5F6B3A"/>
            </a:solidFill>
            <a:effectLst/>
          </c:spPr>
          <c:invertIfNegative val="0"/>
          <c:dLbls>
            <c:numFmt formatCode="0.00" sourceLinked="0"/>
            <c:spPr>
              <a:noFill/>
              <a:ln>
                <a:noFill/>
              </a:ln>
              <a:effectLst/>
            </c:spPr>
            <c:txPr>
              <a:bodyPr/>
              <a:lstStyle/>
              <a:p>
                <a:pPr>
                  <a:defRPr sz="1000" b="0" i="0" u="none" strike="noStrike">
                    <a:solidFill>
                      <a:srgbClr val="32372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Phoneme rec.
(PER ↓)</c:v>
                </c:pt>
                <c:pt idx="1">
                  <c:v>Speaker ID
(Acc ↑)</c:v>
                </c:pt>
                <c:pt idx="2">
                  <c:v>Keyword spotting
(Acc ↑)</c:v>
                </c:pt>
                <c:pt idx="3">
                  <c:v>Speaker verif.
(EER ↓)</c:v>
                </c:pt>
              </c:strCache>
            </c:strRef>
          </c:cat>
          <c:val>
            <c:numRef>
              <c:f>Sheet1!$C$2:$C$5</c:f>
              <c:numCache>
                <c:formatCode>General</c:formatCode>
                <c:ptCount val="4"/>
                <c:pt idx="0">
                  <c:v>3.53</c:v>
                </c:pt>
                <c:pt idx="1">
                  <c:v>90.33</c:v>
                </c:pt>
                <c:pt idx="2">
                  <c:v>95.29</c:v>
                </c:pt>
                <c:pt idx="3">
                  <c:v>5.98</c:v>
                </c:pt>
              </c:numCache>
            </c:numRef>
          </c:val>
          <c:extLst>
            <c:ext xmlns:c16="http://schemas.microsoft.com/office/drawing/2014/chart" uri="{C3380CC4-5D6E-409C-BE32-E72D297353CC}">
              <c16:uniqueId val="{00000001-6B1E-E14B-B067-0137D38C933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A705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9ED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A705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A7059"/>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2873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[0:00–1:00] Opening.
Frame the session title carefully, because it is a question this paper does not quite answer.
SUPERB is the instrument the field adopted to answer 'what do these representations encode'. Every paper we have read this term reports on it — wav2vec 2.0 retrospectively, HuBERT through others, WavLM directly. So today we are not reading a model paper, we are reading the measuring device.
The stance for the session: take the benchmark seriously as an achievement, then ask what it can and cannot tell us. A benchmark is a theory of what matters, encoded as a scoring function, and it deserves the same scrutiny we gave the corpora.
Note this is a four-page Interspeech paper. Ninety minutes on it means we spend most of our time on interpretation, not exposition.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[2:30–4:30] Stakes.
Make the interpretability framing explicit here, because it is the reason this paper is in the syllabus rather than just being cited in passing.
The paper says of PR, KS, SID, IC and ER that they 'serve as the direct indication of representations' quality following the conventional linear evaluation protocol'. That is a probing claim, stated in one sentence and never examined. We will examine it in section 5.
The toolkit matters as much as the paper. s3prl is why the protocol was adopted — a benchmark that is hard to run does not become a standard.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[4:30–4:40]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[4:40–6:40] The problem.
This should feel familiar. It is the same complaint we made about IEMOCAP and CREMA-D in the corpora sessions: no official splits, every group inventing a protocol, numbers that look comparable and are not.
The fourth row is the one that drives the whole design. If you allow arbitrary downstream capacity, a benchmark measures the joint system, not the representation. Hence the frozen-encoder, lightweight-head constraint we will see in section 3.
Worth naming the ambition: this is deliberately GLUE for speech. The authors say so.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[6:40–8:40] The analogy.
The dark card is the conceptual point and it connects forward to the WavLM session. In NLP, doing well on one GLUE task rarely requires discarding what another task needs. In speech it does.
That is why SUPERB is a harder benchmark to interpret than GLUE: a model can lose points because it is specialised, not because it is weak. The leaderboard rewards a particular kind of generality that may or may not be what you want from a representation.
Put it to the room briefly: is 'good at all ten' actually the right target, or would a family of specialised encoders serve the field better? Park the answer for the discussion.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[8:40–10:40] Prior work.
The dark card sets up the whole of section 5, so make it deliberately.
With zero downstream training you measure the geometry of the representation space directly, which is interpretable but may not predict usefulness. With full fine-tuning you measure what the model can become, which predicts usefulness but tells you little about what was already there.
SUPERB's middle position is defensible and it is a choice, not a neutral default. Every number in the results table is conditional on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[10:40–10:50]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[10:50–12:40] The taxonomy.
Walk the four columns, then land the dark card — it is the observation this room should care about most, and it shapes the whole field's incentives.
If a benchmark devotes forty percent of its tasks to content and ten percent to paralinguistics, then models optimised against it will be optimised for content. WavLM's emotion gain being a side effect of a speaker objective is downstream of exactly this.
Also note what is missing entirely: the paper says it focuses on discriminative tasks for the initial release, so voice conversion, source separation and synthesis are absent. Those arrive later in SUPERB-SG.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[12:40–14:40] Content tasks.
The PR-versus-ASR distinction is the one worth explaining, because the paper later reports that the two rankings only weakly align — which is a genuine finding about representations and we come back to it.
QbE is the odd one out and deserves attention. It is the only task with essentially no trained downstream model: the system runs dynamic time warping over hidden states and scores query–document pairs by distance. So it is much closer to a pure representation-geometry probe than anything else in the suite.
Note the train-clean-100 choice throughout: this is a deliberately limited-label setting, which is the third design principle we meet shortly.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[14:40–16:30] Speaker tasks.
The difficulty ordering is worth holding onto, because the results show a striking pattern: many models do well on SID and badly on ASV and SD. The paper puts it bluntly — many SSL representations are worse than filter banks when it comes to real-world speaker problems beyond SID.
One interpretation to offer, and it is a good one for an interpretability session: closed-set identification can be solved by any feature that separates these particular speakers, including channel and recording artefacts. Open-set verification requires a representation of speaker identity that generalises. Those are different things, and SID does not test the second.
Note SD uses simulated LibriMix mixtures, not real conversation — the same simulated-versus-real caveat we raised for WavLM.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[16:30–18:40] Semantics and paralinguistics.
Move briskly through IC and SF; spend the time on the dark card.
This is the moment to cash in the corpora sessions. The SUPERB ER column is IEMOCAP four-class, which means: happy includes excitement, roughly a quarter of the corpus was discarded for lacking majority agreement, the speakers are ten drama students, and the human annotators agreed at a kappa of 0.27.
Credit where due: SUPERB does specify the protocol, including five-fold cross-validation on standard splits. That is better than most IEMOCAP papers manage, and it is why cross-paper comparison on this column actually works.
But the ceiling is inherited. An accuracy of 67.6% on a task where two humans agree about three-quarters of the time is a different kind of number from a word error rate.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[18:40–20:40] Design principles.
Each principle is reasonable; the consequences column is where the seminar value is.
The first consequence explains a curious fact: the original SUPERB paper has no overall score. Just a table. The single number everyone quotes was introduced later, by other papers aggregating the columns themselves — which we noted when reading WavLM.
The dark card previews the domain confound, which gets a full slide in section 5. Plant it now so it does not arrive as a surprise.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[20:40–22:40] The corpora.
Do not read the table. Point at the LibriSpeech rows and read the line at the bottom.
This is the single most important structural fact about SUPERB for anyone interpreting its numbers, and the paper never draws attention to it. Every model being ranked was pre-trained on LibriSpeech or Libri-Light, and three of the ten tasks evaluate on LibriSpeech or material generated from it.
That does not invalidate anything — it is standard practice and the alternative corpora did not exist. But it means a substantial part of the benchmark measures in-domain performance, and the generalisability claim is weaker than it sounds. We return to this in section 5.
Also note the second column repeats: VoxCeleb1 for two tasks, LibriSpeech for several. Ten tasks, eight corpora.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[22:40–22:50]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[22:50–25:00] The framework.
Walk the three boxes, then flag the middle one — it gets its own slide next, and a critical re-reading in section 5.
The re-usability argument is worth stating properly because it is the paper's real motivation. If every application needs its own fine-tuned copy of a 300-million-parameter model, you have not democratised anything. If one frozen encoder serves ten applications with ten small heads, you have.
That is an engineering argument, not a scientific one about representations — and the two get conflated throughout the paper.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[25:00–27:20] The weighted sum. Protect this slide.
The mechanism is sensible and we have been recommending it all term. The critical reading in the dark card is the new thing, and it is central to the session's question.
Spell it out: SUPERB does not ask 'does this model have a good general representation'. It asks 'does this model contain, somewhere in its layer stack, a linear combination that supports each task'. Those are different questions, and the second is much easier to satisfy.
A model could in principle be a collection of ten specialists stacked in depth and score perfectly. Whether that counts as a universal representation is a real question, and the paper's own title presupposes an answer.
Note the interpretability upside, which we flagged in the wav2vec session: the learned weights are themselves a result. They tell you where each task's information lives.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[27:20–29:40] The heads.
This table is not in the paper as a table — it is assembled from the prose of section 3.2, and assembling it is exactly what a seminar is for. Say so.
The variation is defensible: the paper's stated goal is that the best model in each task be competitive with supervised systems, and a linear head cannot do that for ASR or diarisation.
But it has two consequences. First, the ten columns are not commensurable as measures of representation quality — a BLSTM plus a language model can compensate for a lot. Second, the paper's own claim that five tasks serve as a direct indication of representation quality applies only to those five.
Flag the QbE row again: no learning at all, and the best distance function and hidden state pair is reported. That is a maximum over configurations, which is a more generous protocol than anything else here.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[29:40–31:40] Tuning policy.
Deliver the dark card slowly and without hostility. The protocol is genuinely good — far better specified than anything the field had before — and the maximisations are all applied equally to every model, so the comparison is fair.
The point is about what the number means, not whether the ranking is trustworthy. A SUPERB score is an upper bound on what you can extract from a frozen model under a fixed head, not a measurement of the representation itself.
Compare with the corpora sessions: there the problem was that nobody specified the protocol. Here the protocol is fully specified, and the remaining question is what the specified thing measures. That is progress, and it is a better class of problem to have.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[31:40–34:00] The models.
This is a good moment to note how much of the term's reading appears in one table: wav2vec 2.0 and HuBERT are both here, and WavLM was added to the leaderboard shortly afterwards.
The dark card is an important caveat on interpretation. Because the models differ in size, data, input type and objective simultaneously, SUPERB cannot attribute a difference to any one of those. It ranks artefacts, not design decisions.
That is a limitation of any leaderboard, and it is why controlled ablations inside individual papers — HuBERT's α experiment, WavLM's double dissociation — remain necessary.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[34:00–36:00] Recap.
Read the four sentences and let people write them down. Take quick clarifying questions on the protocol now rather than after the break.
Then set up Part II: we have the instrument, now what does it show — and what does it not show.</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[44:00–44:10] Section marker. Welcome people back.</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[44:10–46:30] Phoneme recognition.
Start here because it is the column where the benchmark works exactly as intended: a linear head, a huge spread, and a ranking that means something.
The surprise the paper reports is worth dwelling on. In 2021 nobody expected a linear layer on frozen features to reach three or four percent phone error. That result did more than anything else to establish that these models encode phonetic structure explicitly rather than implicitly.
Connect to HuBERT's own analysis: the PNMI numbers we discussed showed cluster targets recovering about seventy percent of phone information. This column is the downstream confirmation from a different direction.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[46:30–49:00] The linear-probe tasks.
This is the slide that most directly answers the session's title, so give it room.
The honest summary: phonetic content, speaker identity and intent are all substantially linearly decodable from frozen SSL features. That is a real and non-obvious finding about what these models encode.
Emotion is different, and there are at least three explanations worth putting to the room. One: the information is there but not linearly separable. Two: the information is genuinely attenuated, because these objectives treat speaker state as nuisance — the argument we made in the wav2vec session. Three: the ceiling is the label noise, and 67% against a kappa of 0.27 may already be close to it.
SUPERB cannot distinguish between those three. That is a limitation of the instrument for our purposes, and a good discussion prompt.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[49:00–51:30] The filter-bank result. Protect this slide.
Before SUPERB, the narrative was that self-supervised representations were simply better than hand-crafted features. This table shows that was true for content and false for open-set speaker tasks, in 2021.
Explain the mechanism using the SID-versus-ASV distinction from Part I. Closed-set identification can be solved by any feature that happens to separate these particular speakers. Open-set verification requires a representation of speaker identity that generalises to unseen people — and objectives built to abstract away from the speaker do not produce one.
Note what this result caused. It is the direct motivation for the first drawback WavLM lists in its introduction, and hence for the denoising objective. A benchmark that revealed a weakness, and a model built to fix it — that is the benchmark working as intended.
Small textual detail if anyone checks: the running text quotes the HuBERT verification result as 5.10 while the table gives 5.11.</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[51:30–53:40] Disagreeing rankings.
This slide exists to complicate the leaderboard framing, and it is a fair complication because all of it comes from the paper's own table.
Six tasks, four different winners, and the same model family occupying the top and the bottom of different columns. There is no total order over these models.
The PR-versus-ASR observation is the subtlest. You would expect a representation that supports phoneme recognition to support word recognition. It does, but only loosely — because ASR performance also depends on how well the BLSTM and the 4-gram language model can exploit the features, and those can compensate for different weaknesses.
Which is a reminder that the ten columns measure the representation through ten different lenses of varying thickness.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[53:40–56:00] Non-monotonic scaling.
This is a genuinely underappreciated result and it is sitting in plain sight in the table.
The QbE reversal is the most striking. Remember that QbE uses no trained head at all — it is dynamic time warping over hidden states. So it is the purest measure of representation geometry in the suite, and by that measure the smaller model is twice as good.
The interpretation on the last bullet is worth offering as a hypothesis rather than a fact: a deeper network can afford to specialise its layers, which helps tasks with a trained head that can select and recombine, and hurts tasks that need one geometrically coherent space.
That hypothesis is testable with the learned layer weights, and nobody in the paper tests it.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[56:00–56:10]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[56:10–58:30] The probing claim.
This is the core of the session and where your own field's methods have something to say. Take it slowly.
The distinction to make crisply: SUPERB's linear tasks measure linear decodability, which is a lower bound on informational content and an upper bound on nothing. A model that encodes emotion in a curved manifold would score poorly and still contain the information.
Bring it back to emotion specifically. The flat ER column could reflect genuinely weak encoding, or non-linear encoding, or label noise. Distinguishing those requires exactly the tools that are missing — control tasks, non-linear probes of matched capacity, and a noise-aware ceiling.
That gap is a research opportunity, and it is worth naming as one.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[58:30–61:00] The domain confound.
This is the strongest original criticism available and it is entirely supportable from the paper's own two tables — Table 1 gives the pre-training corpora, Table 2 gives the task corpora. Put them side by side and the pattern is obvious.
Be careful with the causal claim in the last paragraph. The correlation between out-of-domain evaluation and poor performance is real, but VoxCeleb and IEMOCAP are also intrinsically harder tasks. The honest statement is that SUPERB cannot separate the two explanations.
Connect forward: WavLM's largest single gain was on out-of-domain ASR, 44.1 to 32.3. That is the same confound viewed from the other side — fix the pre-training domain mismatch and the out-of-domain columns move most.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[61:00–63:30] Incommensurability.
The last row usually surprises people and is worth verifying live if you have the PDF: the original SUPERB paper contains no overall score. Table 2 is a table, not a leaderboard column.
The aggregate appeared later — the leaderboard has one, and papers like WavLM compute their own by inverting error rates, rescaling MTWV and averaging. We noted in that session that the aggregation was the authors' own choice.
So the number the field quotes as 'the SUPERB score' is a construction on top of this table, and different constructions would give different rankings. The third row is the one this room should care about most: a single average weights the emotion column, with its 0.27 kappa, the same as the word error rate column.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[63:30–66:00] The answer to the session's question. Protect this slide.
Deliver the dark card as the conclusion of the argument, not as a criticism. SUPERB does what it says it does, and it does it well. The slippage is in how the community reads it.
Point at the first item in the right-hand column as the constructive gap. The learned layer weights are computed for every model-task pair in every SUPERB run, they are a genuine interpretability result, and the paper does not report a single one. WavLM does report them, a year later, and they are among the most informative things in that paper.
That is a cheap, concrete improvement anyone running this benchmark could make.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[66:00–66:10]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[66:10–68:40] Appraisal.
Give the strengths their due first, and mean it. This paper solved a real coordination problem, and the comparability it created is worth more than any individual number in it.
Among the limitations, the first and the fifth are the ones with the most leverage for this room. The task balance determines what the field optimises for; the missing layer weights are a free result that nobody collected.
The English-only limitation is acknowledged in the paper as a first step, and ML-SUPERB addressed it two years later.</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[68:40–71:00] Legacy.
The last row is the one worth dwelling on, and it cuts both ways.
A benchmark that changes what people build is a successful benchmark. WavLM exists in the shape it does because SUPERB showed that self-supervised models were poor at open-set speaker tasks.
But it also means the benchmark's blind spots become the field's blind spots. One paralinguistic column out of ten, on a corpus with kappa 0.27, is what the field has been optimising emotional speech understanding against for four years.
Put that to the room as a serious question rather than a complaint: what would it take to make the paralinguistic side of this benchmark as trustworthy as the content side?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[71:00–73:40] The emotion column.
This is where the whole term's reading converges, so give it room and do not rush the dark card.
The flatness observation in the third bullet deserves interpretation. It could mean the models are similar in what they encode about emotion; it could mean the task is saturated by label noise; it could mean linear probes are the wrong instrument. SUPERB cannot tell us which.
The dark card is a research programme, and it is worth stating as one. Every ingredient has appeared in this seminar series: MSP-Podcast's later releases solved the split problem, CREMA-D showed how to collect per-modality perceptual data, and the corpora sessions established why majority votes throw away the most informative cases.
Invite the room to react. This is the best discussion prompt in the deck.</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[73:40–76:00] Series synthesis.
This is the closing argument for the whole term, so deliver it as one.
The claim in the dark card is arguable and should be offered as an argument. Some will object that plenty of hard representation problems remain — spontaneous speech, multilingual, clinical audio, long-context modelling. That objection is fair and worth taking.
But the direction of travel is real: between 2019 and 2022 the marginal value of a better acoustic model on IEMOCAP fell sharply, while the marginal value of a better-defined task and a cleaner protocol did not fall at all.
Then hand to the take-aways.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[76:00–78:00] Take-aways.
Read these; they are written to be transcribed.
Number five is the cheapest actionable improvement anyone in the room could make to their own work, and it is the one that connects this session most directly to interpretability.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[78:00–90:00] Discussion.
Twelve minutes, five prompts — take two or three.
Question 1 is the best for this group and is a genuinely open research question. A workable experimental design: run matched-capacity non-linear probes alongside the linear ones, add a control task with randomised labels to measure probe capacity, and report against an inter-annotator ceiling rather than 100%. If the non-linear probe finds much more, the information is there and curved; if it does not, and performance sits near the annotator ceiling, the task is saturated.
Question 5 is the natural closer because it ties all five sessions together and it is the one where the room can actually do something.
Close by returning to the session title: what these representations encode is not quite what SUPERB measures, and closing that gap is the interpretability work.</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2E1E"/>
        </a:solidFill>
        <a:effectLst/>
      </p:bgPr>
    </p:bg>
    <p:spTree>
      <p:nvGrpSpPr>
        <p:cNvPr id="1" name=""/>
        <p:cNvGrpSpPr/>
        <p:nvPr/>
      </p:nvGrpSpPr>
      <p:grpSpPr>
        <a:xfrm>
          <a:off x="0" y="0"/>
          <a:ext cx="0" cy="0"/>
          <a:chOff x="0" y="0"/>
          <a:chExt cx="0" cy="0"/>
        </a:xfrm>
      </p:grpSpPr>
      <p:sp>
        <p:nvSpPr>
          <p:cNvPr id="2" name="Shape 0"/>
          <p:cNvSpPr/>
          <p:nvPr/>
        </p:nvSpPr>
        <p:spPr>
          <a:xfrm>
            <a:off x="868680" y="1051560"/>
            <a:ext cx="1046074" cy="178308"/>
          </a:xfrm>
          <a:prstGeom prst="roundRect">
            <a:avLst>
              <a:gd name="adj" fmla="val 10256"/>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868680" y="1324966"/>
            <a:ext cx="713232" cy="178308"/>
          </a:xfrm>
          <a:prstGeom prst="roundRect">
            <a:avLst>
              <a:gd name="adj" fmla="val 10256"/>
            </a:avLst>
          </a:prstGeom>
          <a:solidFill>
            <a:srgbClr val="D6DCC0"/>
          </a:solidFill>
          <a:ln w="12700">
            <a:solidFill>
              <a:srgbClr val="333333"/>
            </a:solidFill>
            <a:prstDash val="solid"/>
          </a:ln>
        </p:spPr>
        <p:txBody>
          <a:bodyPr/>
          <a:lstStyle/>
          <a:p>
            <a:endParaRPr lang="en-US"/>
          </a:p>
        </p:txBody>
      </p:sp>
      <p:sp>
        <p:nvSpPr>
          <p:cNvPr id="4" name="Shape 2"/>
          <p:cNvSpPr/>
          <p:nvPr/>
        </p:nvSpPr>
        <p:spPr>
          <a:xfrm>
            <a:off x="868680" y="1598371"/>
            <a:ext cx="427939" cy="178308"/>
          </a:xfrm>
          <a:prstGeom prst="roundRect">
            <a:avLst>
              <a:gd name="adj" fmla="val 10256"/>
            </a:avLst>
          </a:prstGeom>
          <a:solidFill>
            <a:srgbClr val="D6DCC0"/>
          </a:solidFill>
          <a:ln w="12700">
            <a:solidFill>
              <a:srgbClr val="333333"/>
            </a:solidFill>
            <a:prstDash val="solid"/>
          </a:ln>
        </p:spPr>
        <p:txBody>
          <a:bodyPr/>
          <a:lstStyle/>
          <a:p>
            <a:endParaRPr lang="en-US"/>
          </a:p>
        </p:txBody>
      </p:sp>
      <p:sp>
        <p:nvSpPr>
          <p:cNvPr id="5" name="Text 3"/>
          <p:cNvSpPr txBox="1"/>
          <p:nvPr/>
        </p:nvSpPr>
        <p:spPr>
          <a:xfrm>
            <a:off x="822960" y="1874520"/>
            <a:ext cx="10515600" cy="914400"/>
          </a:xfrm>
          <a:prstGeom prst="rect">
            <a:avLst/>
          </a:prstGeom>
          <a:noFill/>
          <a:ln/>
        </p:spPr>
        <p:txBody>
          <a:bodyPr wrap="square" lIns="0" tIns="0" rIns="0" bIns="0" rtlCol="0" anchor="ctr"/>
          <a:lstStyle/>
          <a:p>
            <a:pPr marL="0" indent="0">
              <a:buNone/>
            </a:pPr>
            <a:r>
              <a:rPr lang="en-US" sz="5200" b="1" kern="0" spc="100" dirty="0">
                <a:solidFill>
                  <a:srgbClr val="FFFFFF"/>
                </a:solidFill>
                <a:latin typeface="Cambria" pitchFamily="34" charset="0"/>
                <a:ea typeface="Cambria" pitchFamily="34" charset="-122"/>
                <a:cs typeface="Cambria" pitchFamily="34" charset="-120"/>
              </a:rPr>
              <a:t>SUPERB</a:t>
            </a:r>
            <a:endParaRPr lang="en-US" sz="5200" dirty="0"/>
          </a:p>
        </p:txBody>
      </p:sp>
      <p:sp>
        <p:nvSpPr>
          <p:cNvPr id="6" name="Text 4"/>
          <p:cNvSpPr txBox="1"/>
          <p:nvPr/>
        </p:nvSpPr>
        <p:spPr>
          <a:xfrm>
            <a:off x="822960" y="2788920"/>
            <a:ext cx="10607040" cy="502920"/>
          </a:xfrm>
          <a:prstGeom prst="rect">
            <a:avLst/>
          </a:prstGeom>
          <a:noFill/>
          <a:ln/>
        </p:spPr>
        <p:txBody>
          <a:bodyPr wrap="square" lIns="0" tIns="0" rIns="0" bIns="0" rtlCol="0" anchor="ctr"/>
          <a:lstStyle/>
          <a:p>
            <a:pPr marL="0" indent="0">
              <a:buNone/>
            </a:pPr>
            <a:r>
              <a:rPr lang="en-US" sz="1900" i="1" dirty="0">
                <a:solidFill>
                  <a:srgbClr val="D6DCC0"/>
                </a:solidFill>
                <a:latin typeface="Cambria" pitchFamily="34" charset="0"/>
                <a:ea typeface="Cambria" pitchFamily="34" charset="-122"/>
                <a:cs typeface="Cambria" pitchFamily="34" charset="-120"/>
              </a:rPr>
              <a:t>Speech processing Universal PERformance Benchmark</a:t>
            </a:r>
            <a:endParaRPr lang="en-US" sz="1900" dirty="0"/>
          </a:p>
        </p:txBody>
      </p:sp>
      <p:sp>
        <p:nvSpPr>
          <p:cNvPr id="7" name="Text 5"/>
          <p:cNvSpPr txBox="1"/>
          <p:nvPr/>
        </p:nvSpPr>
        <p:spPr>
          <a:xfrm>
            <a:off x="859536" y="3611880"/>
            <a:ext cx="10241280" cy="1005840"/>
          </a:xfrm>
          <a:prstGeom prst="rect">
            <a:avLst/>
          </a:prstGeom>
          <a:noFill/>
          <a:ln/>
        </p:spPr>
        <p:txBody>
          <a:bodyPr wrap="square" lIns="0" tIns="0" rIns="0" bIns="0" rtlCol="0" anchor="ctr"/>
          <a:lstStyle/>
          <a:p>
            <a:pPr marL="0" indent="0">
              <a:lnSpc>
                <a:spcPct val="125000"/>
              </a:lnSpc>
              <a:buNone/>
            </a:pPr>
            <a:r>
              <a:rPr lang="en-US" sz="1300" dirty="0">
                <a:solidFill>
                  <a:srgbClr val="B4BC9C"/>
                </a:solidFill>
                <a:latin typeface="Calibri" pitchFamily="34" charset="0"/>
                <a:ea typeface="Calibri" pitchFamily="34" charset="-122"/>
                <a:cs typeface="Calibri" pitchFamily="34" charset="-120"/>
              </a:rPr>
              <a:t>Shu-wen Yang, Po-Han Chi, Yung-Sung Chuang, Cheng-I Jeff Lai and sixteen co-authors</a:t>
            </a:r>
            <a:endParaRPr lang="en-US" sz="1300" dirty="0"/>
          </a:p>
          <a:p>
            <a:pPr marL="0" indent="0">
              <a:lnSpc>
                <a:spcPct val="125000"/>
              </a:lnSpc>
              <a:buNone/>
            </a:pPr>
            <a:r>
              <a:rPr lang="en-US" sz="1300" dirty="0">
                <a:solidFill>
                  <a:srgbClr val="B4BC9C"/>
                </a:solidFill>
                <a:latin typeface="Calibri" pitchFamily="34" charset="0"/>
                <a:ea typeface="Calibri" pitchFamily="34" charset="-122"/>
                <a:cs typeface="Calibri" pitchFamily="34" charset="-120"/>
              </a:rPr>
              <a:t>Interspeech 2021  ·  arXiv:2105.01051</a:t>
            </a:r>
            <a:endParaRPr lang="en-US" sz="1300" dirty="0"/>
          </a:p>
          <a:p>
            <a:pPr marL="0" indent="0">
              <a:lnSpc>
                <a:spcPct val="125000"/>
              </a:lnSpc>
              <a:buNone/>
            </a:pPr>
            <a:r>
              <a:rPr lang="en-US" sz="1300" dirty="0">
                <a:solidFill>
                  <a:srgbClr val="B4BC9C"/>
                </a:solidFill>
                <a:latin typeface="Calibri" pitchFamily="34" charset="0"/>
                <a:ea typeface="Calibri" pitchFamily="34" charset="-122"/>
                <a:cs typeface="Calibri" pitchFamily="34" charset="-120"/>
              </a:rPr>
              <a:t>National Taiwan University, MIT, Facebook AI Research, Johns Hopkins, Amazon AI, Carnegie Mellon</a:t>
            </a:r>
            <a:endParaRPr lang="en-US" sz="1300" dirty="0"/>
          </a:p>
        </p:txBody>
      </p:sp>
      <p:sp>
        <p:nvSpPr>
          <p:cNvPr id="8" name="Text 6"/>
          <p:cNvSpPr txBox="1"/>
          <p:nvPr/>
        </p:nvSpPr>
        <p:spPr>
          <a:xfrm>
            <a:off x="859536" y="5120640"/>
            <a:ext cx="9144000" cy="365760"/>
          </a:xfrm>
          <a:prstGeom prst="rect">
            <a:avLst/>
          </a:prstGeom>
          <a:noFill/>
          <a:ln/>
        </p:spPr>
        <p:txBody>
          <a:bodyPr wrap="square" lIns="0" tIns="0" rIns="0" bIns="0" rtlCol="0" anchor="ctr"/>
          <a:lstStyle/>
          <a:p>
            <a:pPr marL="0" indent="0">
              <a:buNone/>
            </a:pPr>
            <a:r>
              <a:rPr lang="en-US" sz="1250" b="1" dirty="0">
                <a:solidFill>
                  <a:srgbClr val="D9614C"/>
                </a:solidFill>
                <a:latin typeface="Calibri" pitchFamily="34" charset="0"/>
                <a:ea typeface="Calibri" pitchFamily="34" charset="-122"/>
                <a:cs typeface="Calibri" pitchFamily="34" charset="-120"/>
              </a:rPr>
              <a:t>What do these representations actually encode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Why this paper matters</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A four-page benchmark paper that redefined how the field reports results</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3</a:t>
            </a:r>
            <a:endParaRPr lang="en-US" sz="900" dirty="0"/>
          </a:p>
        </p:txBody>
      </p:sp>
      <p:sp>
        <p:nvSpPr>
          <p:cNvPr id="8" name="Text 6"/>
          <p:cNvSpPr txBox="1"/>
          <p:nvPr/>
        </p:nvSpPr>
        <p:spPr>
          <a:xfrm>
            <a:off x="566928" y="1554480"/>
            <a:ext cx="2697480" cy="694944"/>
          </a:xfrm>
          <a:prstGeom prst="rect">
            <a:avLst/>
          </a:prstGeom>
          <a:noFill/>
          <a:ln/>
        </p:spPr>
        <p:txBody>
          <a:bodyPr wrap="square" lIns="0" tIns="0" rIns="0" bIns="0" rtlCol="0" anchor="ctr"/>
          <a:lstStyle/>
          <a:p>
            <a:pPr marL="0" indent="0" algn="ctr">
              <a:buNone/>
            </a:pPr>
            <a:r>
              <a:rPr lang="en-US" sz="3400" b="1" dirty="0">
                <a:solidFill>
                  <a:srgbClr val="5F6B3A"/>
                </a:solidFill>
                <a:latin typeface="Cambria" pitchFamily="34" charset="0"/>
                <a:ea typeface="Cambria" pitchFamily="34" charset="-122"/>
                <a:cs typeface="Cambria" pitchFamily="34" charset="-120"/>
              </a:rPr>
              <a:t>10</a:t>
            </a:r>
            <a:endParaRPr lang="en-US" sz="3400" dirty="0"/>
          </a:p>
        </p:txBody>
      </p:sp>
      <p:sp>
        <p:nvSpPr>
          <p:cNvPr id="9" name="Text 7"/>
          <p:cNvSpPr txBox="1"/>
          <p:nvPr/>
        </p:nvSpPr>
        <p:spPr>
          <a:xfrm>
            <a:off x="566928" y="2249424"/>
            <a:ext cx="2697480" cy="566928"/>
          </a:xfrm>
          <a:prstGeom prst="rect">
            <a:avLst/>
          </a:prstGeom>
          <a:noFill/>
          <a:ln/>
        </p:spPr>
        <p:txBody>
          <a:bodyPr wrap="square" lIns="0" tIns="0" rIns="0" bIns="0" rtlCol="0" anchor="ctr"/>
          <a:lstStyle/>
          <a:p>
            <a:pPr marL="0" indent="0" algn="ctr">
              <a:buNone/>
            </a:pPr>
            <a:r>
              <a:rPr lang="en-US" sz="1150" dirty="0">
                <a:solidFill>
                  <a:srgbClr val="6A7059"/>
                </a:solidFill>
                <a:latin typeface="Calibri" pitchFamily="34" charset="0"/>
                <a:ea typeface="Calibri" pitchFamily="34" charset="-122"/>
                <a:cs typeface="Calibri" pitchFamily="34" charset="-120"/>
              </a:rPr>
              <a:t>tasks across four aspects</a:t>
            </a:r>
            <a:endParaRPr lang="en-US" sz="1150" dirty="0"/>
          </a:p>
          <a:p>
            <a:pPr marL="0" indent="0" algn="ctr">
              <a:buNone/>
            </a:pPr>
            <a:r>
              <a:rPr lang="en-US" sz="1150" dirty="0">
                <a:solidFill>
                  <a:srgbClr val="6A7059"/>
                </a:solidFill>
                <a:latin typeface="Calibri" pitchFamily="34" charset="0"/>
                <a:ea typeface="Calibri" pitchFamily="34" charset="-122"/>
                <a:cs typeface="Calibri" pitchFamily="34" charset="-120"/>
              </a:rPr>
              <a:t>of speech</a:t>
            </a:r>
            <a:endParaRPr lang="en-US" sz="1150" dirty="0"/>
          </a:p>
        </p:txBody>
      </p:sp>
      <p:sp>
        <p:nvSpPr>
          <p:cNvPr id="10" name="Text 8"/>
          <p:cNvSpPr txBox="1"/>
          <p:nvPr/>
        </p:nvSpPr>
        <p:spPr>
          <a:xfrm>
            <a:off x="3392424" y="1554480"/>
            <a:ext cx="2697480" cy="694944"/>
          </a:xfrm>
          <a:prstGeom prst="rect">
            <a:avLst/>
          </a:prstGeom>
          <a:noFill/>
          <a:ln/>
        </p:spPr>
        <p:txBody>
          <a:bodyPr wrap="square" lIns="0" tIns="0" rIns="0" bIns="0" rtlCol="0" anchor="ctr"/>
          <a:lstStyle/>
          <a:p>
            <a:pPr marL="0" indent="0" algn="ctr">
              <a:buNone/>
            </a:pPr>
            <a:r>
              <a:rPr lang="en-US" sz="3400" b="1" dirty="0">
                <a:solidFill>
                  <a:srgbClr val="D9614C"/>
                </a:solidFill>
                <a:latin typeface="Cambria" pitchFamily="34" charset="0"/>
                <a:ea typeface="Cambria" pitchFamily="34" charset="-122"/>
                <a:cs typeface="Cambria" pitchFamily="34" charset="-120"/>
              </a:rPr>
              <a:t>14</a:t>
            </a:r>
            <a:endParaRPr lang="en-US" sz="3400" dirty="0"/>
          </a:p>
        </p:txBody>
      </p:sp>
      <p:sp>
        <p:nvSpPr>
          <p:cNvPr id="11" name="Text 9"/>
          <p:cNvSpPr txBox="1"/>
          <p:nvPr/>
        </p:nvSpPr>
        <p:spPr>
          <a:xfrm>
            <a:off x="3392424" y="2249424"/>
            <a:ext cx="2697480" cy="566928"/>
          </a:xfrm>
          <a:prstGeom prst="rect">
            <a:avLst/>
          </a:prstGeom>
          <a:noFill/>
          <a:ln/>
        </p:spPr>
        <p:txBody>
          <a:bodyPr wrap="square" lIns="0" tIns="0" rIns="0" bIns="0" rtlCol="0" anchor="ctr"/>
          <a:lstStyle/>
          <a:p>
            <a:pPr marL="0" indent="0" algn="ctr">
              <a:buNone/>
            </a:pPr>
            <a:r>
              <a:rPr lang="en-US" sz="1150" dirty="0">
                <a:solidFill>
                  <a:srgbClr val="6A7059"/>
                </a:solidFill>
                <a:latin typeface="Calibri" pitchFamily="34" charset="0"/>
                <a:ea typeface="Calibri" pitchFamily="34" charset="-122"/>
                <a:cs typeface="Calibri" pitchFamily="34" charset="-120"/>
              </a:rPr>
              <a:t>pre-trained models evaluated</a:t>
            </a:r>
            <a:endParaRPr lang="en-US" sz="1150" dirty="0"/>
          </a:p>
          <a:p>
            <a:pPr marL="0" indent="0" algn="ctr">
              <a:buNone/>
            </a:pPr>
            <a:r>
              <a:rPr lang="en-US" sz="1150" dirty="0">
                <a:solidFill>
                  <a:srgbClr val="6A7059"/>
                </a:solidFill>
                <a:latin typeface="Calibri" pitchFamily="34" charset="0"/>
                <a:ea typeface="Calibri" pitchFamily="34" charset="-122"/>
                <a:cs typeface="Calibri" pitchFamily="34" charset="-120"/>
              </a:rPr>
              <a:t>under one protocol</a:t>
            </a:r>
            <a:endParaRPr lang="en-US" sz="1150" dirty="0"/>
          </a:p>
        </p:txBody>
      </p:sp>
      <p:sp>
        <p:nvSpPr>
          <p:cNvPr id="12" name="Text 10"/>
          <p:cNvSpPr txBox="1"/>
          <p:nvPr/>
        </p:nvSpPr>
        <p:spPr>
          <a:xfrm>
            <a:off x="6217920" y="1554480"/>
            <a:ext cx="2697480" cy="694944"/>
          </a:xfrm>
          <a:prstGeom prst="rect">
            <a:avLst/>
          </a:prstGeom>
          <a:noFill/>
          <a:ln/>
        </p:spPr>
        <p:txBody>
          <a:bodyPr wrap="square" lIns="0" tIns="0" rIns="0" bIns="0" rtlCol="0" anchor="ctr"/>
          <a:lstStyle/>
          <a:p>
            <a:pPr marL="0" indent="0" algn="ctr">
              <a:buNone/>
            </a:pPr>
            <a:r>
              <a:rPr lang="en-US" sz="3400" b="1" dirty="0">
                <a:solidFill>
                  <a:srgbClr val="5F6B3A"/>
                </a:solidFill>
                <a:latin typeface="Cambria" pitchFamily="34" charset="0"/>
                <a:ea typeface="Cambria" pitchFamily="34" charset="-122"/>
                <a:cs typeface="Cambria" pitchFamily="34" charset="-120"/>
              </a:rPr>
              <a:t>frozen</a:t>
            </a:r>
            <a:endParaRPr lang="en-US" sz="3400" dirty="0"/>
          </a:p>
        </p:txBody>
      </p:sp>
      <p:sp>
        <p:nvSpPr>
          <p:cNvPr id="13" name="Text 11"/>
          <p:cNvSpPr txBox="1"/>
          <p:nvPr/>
        </p:nvSpPr>
        <p:spPr>
          <a:xfrm>
            <a:off x="6217920" y="2249424"/>
            <a:ext cx="2697480" cy="566928"/>
          </a:xfrm>
          <a:prstGeom prst="rect">
            <a:avLst/>
          </a:prstGeom>
          <a:noFill/>
          <a:ln/>
        </p:spPr>
        <p:txBody>
          <a:bodyPr wrap="square" lIns="0" tIns="0" rIns="0" bIns="0" rtlCol="0" anchor="ctr"/>
          <a:lstStyle/>
          <a:p>
            <a:pPr marL="0" indent="0" algn="ctr">
              <a:buNone/>
            </a:pPr>
            <a:r>
              <a:rPr lang="en-US" sz="1150" dirty="0">
                <a:solidFill>
                  <a:srgbClr val="6A7059"/>
                </a:solidFill>
                <a:latin typeface="Calibri" pitchFamily="34" charset="0"/>
                <a:ea typeface="Calibri" pitchFamily="34" charset="-122"/>
                <a:cs typeface="Calibri" pitchFamily="34" charset="-120"/>
              </a:rPr>
              <a:t>upstream model, shared</a:t>
            </a:r>
            <a:endParaRPr lang="en-US" sz="1150" dirty="0"/>
          </a:p>
          <a:p>
            <a:pPr marL="0" indent="0" algn="ctr">
              <a:buNone/>
            </a:pPr>
            <a:r>
              <a:rPr lang="en-US" sz="1150" dirty="0">
                <a:solidFill>
                  <a:srgbClr val="6A7059"/>
                </a:solidFill>
                <a:latin typeface="Calibri" pitchFamily="34" charset="0"/>
                <a:ea typeface="Calibri" pitchFamily="34" charset="-122"/>
                <a:cs typeface="Calibri" pitchFamily="34" charset="-120"/>
              </a:rPr>
              <a:t>across every task</a:t>
            </a:r>
            <a:endParaRPr lang="en-US" sz="1150" dirty="0"/>
          </a:p>
        </p:txBody>
      </p:sp>
      <p:sp>
        <p:nvSpPr>
          <p:cNvPr id="14" name="Text 12"/>
          <p:cNvSpPr txBox="1"/>
          <p:nvPr/>
        </p:nvSpPr>
        <p:spPr>
          <a:xfrm>
            <a:off x="9043416" y="1554480"/>
            <a:ext cx="2587752" cy="694944"/>
          </a:xfrm>
          <a:prstGeom prst="rect">
            <a:avLst/>
          </a:prstGeom>
          <a:noFill/>
          <a:ln/>
        </p:spPr>
        <p:txBody>
          <a:bodyPr wrap="square" lIns="0" tIns="0" rIns="0" bIns="0" rtlCol="0" anchor="ctr"/>
          <a:lstStyle/>
          <a:p>
            <a:pPr marL="0" indent="0" algn="ctr">
              <a:buNone/>
            </a:pPr>
            <a:r>
              <a:rPr lang="en-US" sz="3400" b="1" dirty="0">
                <a:solidFill>
                  <a:srgbClr val="D9614C"/>
                </a:solidFill>
                <a:latin typeface="Cambria" pitchFamily="34" charset="0"/>
                <a:ea typeface="Cambria" pitchFamily="34" charset="-122"/>
                <a:cs typeface="Cambria" pitchFamily="34" charset="-120"/>
              </a:rPr>
              <a:t>s3prl</a:t>
            </a:r>
            <a:endParaRPr lang="en-US" sz="3400" dirty="0"/>
          </a:p>
        </p:txBody>
      </p:sp>
      <p:sp>
        <p:nvSpPr>
          <p:cNvPr id="15" name="Text 13"/>
          <p:cNvSpPr txBox="1"/>
          <p:nvPr/>
        </p:nvSpPr>
        <p:spPr>
          <a:xfrm>
            <a:off x="9043416" y="2249424"/>
            <a:ext cx="2587752" cy="566928"/>
          </a:xfrm>
          <a:prstGeom prst="rect">
            <a:avLst/>
          </a:prstGeom>
          <a:noFill/>
          <a:ln/>
        </p:spPr>
        <p:txBody>
          <a:bodyPr wrap="square" lIns="0" tIns="0" rIns="0" bIns="0" rtlCol="0" anchor="ctr"/>
          <a:lstStyle/>
          <a:p>
            <a:pPr marL="0" indent="0" algn="ctr">
              <a:buNone/>
            </a:pPr>
            <a:r>
              <a:rPr lang="en-US" sz="1150" dirty="0">
                <a:solidFill>
                  <a:srgbClr val="6A7059"/>
                </a:solidFill>
                <a:latin typeface="Calibri" pitchFamily="34" charset="0"/>
                <a:ea typeface="Calibri" pitchFamily="34" charset="-122"/>
                <a:cs typeface="Calibri" pitchFamily="34" charset="-120"/>
              </a:rPr>
              <a:t>the open toolkit that made</a:t>
            </a:r>
            <a:endParaRPr lang="en-US" sz="1150" dirty="0"/>
          </a:p>
          <a:p>
            <a:pPr marL="0" indent="0" algn="ctr">
              <a:buNone/>
            </a:pPr>
            <a:r>
              <a:rPr lang="en-US" sz="1150" dirty="0">
                <a:solidFill>
                  <a:srgbClr val="6A7059"/>
                </a:solidFill>
                <a:latin typeface="Calibri" pitchFamily="34" charset="0"/>
                <a:ea typeface="Calibri" pitchFamily="34" charset="-122"/>
                <a:cs typeface="Calibri" pitchFamily="34" charset="-120"/>
              </a:rPr>
              <a:t>the protocol reproducible</a:t>
            </a:r>
            <a:endParaRPr lang="en-US" sz="1150" dirty="0"/>
          </a:p>
        </p:txBody>
      </p:sp>
      <p:sp>
        <p:nvSpPr>
          <p:cNvPr id="16" name="Shape 14"/>
          <p:cNvSpPr/>
          <p:nvPr/>
        </p:nvSpPr>
        <p:spPr>
          <a:xfrm>
            <a:off x="566928" y="3200400"/>
            <a:ext cx="11064240" cy="1371600"/>
          </a:xfrm>
          <a:prstGeom prst="roundRect">
            <a:avLst>
              <a:gd name="adj" fmla="val 4000"/>
            </a:avLst>
          </a:prstGeom>
          <a:solidFill>
            <a:srgbClr val="F3F5EC"/>
          </a:solidFill>
          <a:ln w="12700">
            <a:solidFill>
              <a:srgbClr val="E3E7D8"/>
            </a:solidFill>
            <a:prstDash val="solid"/>
          </a:ln>
        </p:spPr>
        <p:txBody>
          <a:bodyPr/>
          <a:lstStyle/>
          <a:p>
            <a:endParaRPr lang="en-US"/>
          </a:p>
        </p:txBody>
      </p:sp>
      <p:sp>
        <p:nvSpPr>
          <p:cNvPr id="17" name="Shape 15"/>
          <p:cNvSpPr/>
          <p:nvPr/>
        </p:nvSpPr>
        <p:spPr>
          <a:xfrm>
            <a:off x="786384" y="3493008"/>
            <a:ext cx="109728" cy="109728"/>
          </a:xfrm>
          <a:prstGeom prst="ellipse">
            <a:avLst/>
          </a:prstGeom>
          <a:solidFill>
            <a:srgbClr val="5F6B3A"/>
          </a:solidFill>
          <a:ln w="12700">
            <a:solidFill>
              <a:srgbClr val="333333"/>
            </a:solidFill>
            <a:prstDash val="solid"/>
          </a:ln>
        </p:spPr>
        <p:txBody>
          <a:bodyPr/>
          <a:lstStyle/>
          <a:p>
            <a:endParaRPr lang="en-US"/>
          </a:p>
        </p:txBody>
      </p:sp>
      <p:sp>
        <p:nvSpPr>
          <p:cNvPr id="18" name="Text 16"/>
          <p:cNvSpPr txBox="1"/>
          <p:nvPr/>
        </p:nvSpPr>
        <p:spPr>
          <a:xfrm>
            <a:off x="987552" y="3364992"/>
            <a:ext cx="10424160" cy="365760"/>
          </a:xfrm>
          <a:prstGeom prst="rect">
            <a:avLst/>
          </a:prstGeom>
          <a:noFill/>
          <a:ln/>
        </p:spPr>
        <p:txBody>
          <a:bodyPr wrap="square" lIns="0" tIns="0" rIns="0" bIns="0" rtlCol="0" anchor="ctr"/>
          <a:lstStyle/>
          <a:p>
            <a:pPr marL="0" indent="0">
              <a:buNone/>
            </a:pPr>
            <a:r>
              <a:rPr lang="en-US" sz="1500" b="1" dirty="0">
                <a:solidFill>
                  <a:srgbClr val="1E2116"/>
                </a:solidFill>
                <a:latin typeface="Cambria" pitchFamily="34" charset="0"/>
                <a:ea typeface="Cambria" pitchFamily="34" charset="-122"/>
                <a:cs typeface="Cambria" pitchFamily="34" charset="-120"/>
              </a:rPr>
              <a:t>The claim</a:t>
            </a:r>
            <a:endParaRPr lang="en-US" sz="1500" dirty="0"/>
          </a:p>
        </p:txBody>
      </p:sp>
      <p:sp>
        <p:nvSpPr>
          <p:cNvPr id="19" name="Text 17"/>
          <p:cNvSpPr txBox="1"/>
          <p:nvPr/>
        </p:nvSpPr>
        <p:spPr>
          <a:xfrm>
            <a:off x="822960" y="3803904"/>
            <a:ext cx="10552176" cy="585216"/>
          </a:xfrm>
          <a:prstGeom prst="rect">
            <a:avLst/>
          </a:prstGeom>
          <a:noFill/>
          <a:ln/>
        </p:spPr>
        <p:txBody>
          <a:bodyPr wrap="square" lIns="0" tIns="0" rIns="0" bIns="0" rtlCol="0" anchor="t"/>
          <a:lstStyle/>
          <a:p>
            <a:pPr marL="0" indent="0">
              <a:lnSpc>
                <a:spcPct val="108000"/>
              </a:lnSpc>
              <a:buNone/>
            </a:pPr>
            <a:r>
              <a:rPr lang="en-US" sz="1340" dirty="0">
                <a:solidFill>
                  <a:srgbClr val="323726"/>
                </a:solidFill>
                <a:latin typeface="Calibri" pitchFamily="34" charset="0"/>
                <a:ea typeface="Calibri" pitchFamily="34" charset="-122"/>
                <a:cs typeface="Calibri" pitchFamily="34" charset="-120"/>
              </a:rPr>
              <a:t>Freeze a self-supervised model, attach a lightweight prediction head per task, and you can reach competitive performance across ten different speech tasks. If that works, the field can develop one shared encoder rather than a bespoke system per application.</a:t>
            </a:r>
            <a:endParaRPr lang="en-US" sz="1340" dirty="0"/>
          </a:p>
        </p:txBody>
      </p:sp>
      <p:sp>
        <p:nvSpPr>
          <p:cNvPr id="20" name="Shape 18"/>
          <p:cNvSpPr/>
          <p:nvPr/>
        </p:nvSpPr>
        <p:spPr>
          <a:xfrm>
            <a:off x="566928" y="4700016"/>
            <a:ext cx="11064240" cy="1353312"/>
          </a:xfrm>
          <a:prstGeom prst="roundRect">
            <a:avLst>
              <a:gd name="adj" fmla="val 4054"/>
            </a:avLst>
          </a:prstGeom>
          <a:solidFill>
            <a:srgbClr val="2A2E1E"/>
          </a:solidFill>
          <a:ln w="12700">
            <a:solidFill>
              <a:srgbClr val="2A2E1E"/>
            </a:solidFill>
            <a:prstDash val="solid"/>
          </a:ln>
        </p:spPr>
        <p:txBody>
          <a:bodyPr/>
          <a:lstStyle/>
          <a:p>
            <a:endParaRPr lang="en-US"/>
          </a:p>
        </p:txBody>
      </p:sp>
      <p:sp>
        <p:nvSpPr>
          <p:cNvPr id="21" name="Shape 19"/>
          <p:cNvSpPr/>
          <p:nvPr/>
        </p:nvSpPr>
        <p:spPr>
          <a:xfrm>
            <a:off x="786384" y="4992624"/>
            <a:ext cx="109728" cy="109728"/>
          </a:xfrm>
          <a:prstGeom prst="ellipse">
            <a:avLst/>
          </a:prstGeom>
          <a:solidFill>
            <a:srgbClr val="D9614C"/>
          </a:solidFill>
          <a:ln w="12700">
            <a:solidFill>
              <a:srgbClr val="333333"/>
            </a:solidFill>
            <a:prstDash val="solid"/>
          </a:ln>
        </p:spPr>
        <p:txBody>
          <a:bodyPr/>
          <a:lstStyle/>
          <a:p>
            <a:endParaRPr lang="en-US"/>
          </a:p>
        </p:txBody>
      </p:sp>
      <p:sp>
        <p:nvSpPr>
          <p:cNvPr id="22" name="Text 20"/>
          <p:cNvSpPr txBox="1"/>
          <p:nvPr/>
        </p:nvSpPr>
        <p:spPr>
          <a:xfrm>
            <a:off x="987552" y="486460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Why we are reading it in a session about interpretability</a:t>
            </a:r>
            <a:endParaRPr lang="en-US" sz="1500" dirty="0"/>
          </a:p>
        </p:txBody>
      </p:sp>
      <p:sp>
        <p:nvSpPr>
          <p:cNvPr id="23" name="Text 21"/>
          <p:cNvSpPr txBox="1"/>
          <p:nvPr/>
        </p:nvSpPr>
        <p:spPr>
          <a:xfrm>
            <a:off x="822960" y="5303520"/>
            <a:ext cx="10552176" cy="566928"/>
          </a:xfrm>
          <a:prstGeom prst="rect">
            <a:avLst/>
          </a:prstGeom>
          <a:noFill/>
          <a:ln/>
        </p:spPr>
        <p:txBody>
          <a:bodyPr wrap="square" lIns="0" tIns="0" rIns="0" bIns="0" rtlCol="0" anchor="t"/>
          <a:lstStyle/>
          <a:p>
            <a:pPr marL="0" indent="0">
              <a:lnSpc>
                <a:spcPct val="108000"/>
              </a:lnSpc>
              <a:buNone/>
            </a:pPr>
            <a:r>
              <a:rPr lang="en-US" sz="1340" dirty="0">
                <a:solidFill>
                  <a:srgbClr val="D6DCC0"/>
                </a:solidFill>
                <a:latin typeface="Calibri" pitchFamily="34" charset="0"/>
                <a:ea typeface="Calibri" pitchFamily="34" charset="-122"/>
                <a:cs typeface="Calibri" pitchFamily="34" charset="-120"/>
              </a:rPr>
              <a:t>SUPERB is the closest thing the speech field has to a probing suite. Five of its ten tasks use linear heads, which the paper explicitly frames as a direct indication of representation quality. So the leaderboard is, in part, a claim about what information is linearly recoverable from these models — which is exactly our question.</a:t>
            </a:r>
            <a:endParaRPr lang="en-US" sz="13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2A2E1E"/>
        </a:solidFill>
        <a:effectLst/>
      </p:bgPr>
    </p:bg>
    <p:spTree>
      <p:nvGrpSpPr>
        <p:cNvPr id="1" name=""/>
        <p:cNvGrpSpPr/>
        <p:nvPr/>
      </p:nvGrpSpPr>
      <p:grpSpPr>
        <a:xfrm>
          <a:off x="0" y="0"/>
          <a:ext cx="0" cy="0"/>
          <a:chOff x="0" y="0"/>
          <a:chExt cx="0" cy="0"/>
        </a:xfrm>
      </p:grpSpPr>
      <p:sp>
        <p:nvSpPr>
          <p:cNvPr id="2" name="Shape 0"/>
          <p:cNvSpPr/>
          <p:nvPr/>
        </p:nvSpPr>
        <p:spPr>
          <a:xfrm>
            <a:off x="10607040" y="5303520"/>
            <a:ext cx="804672" cy="137160"/>
          </a:xfrm>
          <a:prstGeom prst="roundRect">
            <a:avLst>
              <a:gd name="adj" fmla="val 13333"/>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0607040" y="5513832"/>
            <a:ext cx="548640" cy="137160"/>
          </a:xfrm>
          <a:prstGeom prst="roundRect">
            <a:avLst>
              <a:gd name="adj" fmla="val 13333"/>
            </a:avLst>
          </a:prstGeom>
          <a:solidFill>
            <a:srgbClr val="D6DCC0"/>
          </a:solidFill>
          <a:ln w="12700">
            <a:solidFill>
              <a:srgbClr val="333333"/>
            </a:solidFill>
            <a:prstDash val="solid"/>
          </a:ln>
        </p:spPr>
        <p:txBody>
          <a:bodyPr/>
          <a:lstStyle/>
          <a:p>
            <a:endParaRPr lang="en-US"/>
          </a:p>
        </p:txBody>
      </p:sp>
      <p:sp>
        <p:nvSpPr>
          <p:cNvPr id="4" name="Shape 2"/>
          <p:cNvSpPr/>
          <p:nvPr/>
        </p:nvSpPr>
        <p:spPr>
          <a:xfrm>
            <a:off x="10607040" y="5724144"/>
            <a:ext cx="329184" cy="137160"/>
          </a:xfrm>
          <a:prstGeom prst="roundRect">
            <a:avLst>
              <a:gd name="adj" fmla="val 13333"/>
            </a:avLst>
          </a:prstGeom>
          <a:solidFill>
            <a:srgbClr val="D6DCC0"/>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D9614C"/>
                </a:solidFill>
                <a:latin typeface="Cambria" pitchFamily="34" charset="0"/>
                <a:ea typeface="Cambria" pitchFamily="34" charset="-122"/>
                <a:cs typeface="Cambria" pitchFamily="34" charset="-120"/>
              </a:rPr>
              <a:t>1</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Why a benchmark was needed</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6DCC0"/>
                </a:solidFill>
                <a:latin typeface="Calibri" pitchFamily="34" charset="0"/>
                <a:ea typeface="Calibri" pitchFamily="34" charset="-122"/>
                <a:cs typeface="Calibri" pitchFamily="34" charset="-120"/>
              </a:rPr>
              <a:t>The state of evaluation in speech before 2021</a:t>
            </a:r>
            <a:endParaRPr lang="en-US" sz="1500" dirty="0"/>
          </a:p>
        </p:txBody>
      </p:sp>
      <p:sp>
        <p:nvSpPr>
          <p:cNvPr id="8" name="Text 6"/>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The problem, as the paper states it</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Incomparable results across incomparable setups</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5</a:t>
            </a:r>
            <a:endParaRPr lang="en-US" sz="900" dirty="0"/>
          </a:p>
        </p:txBody>
      </p:sp>
      <p:sp>
        <p:nvSpPr>
          <p:cNvPr id="8" name="Shape 6"/>
          <p:cNvSpPr/>
          <p:nvPr/>
        </p:nvSpPr>
        <p:spPr>
          <a:xfrm>
            <a:off x="566928" y="1554480"/>
            <a:ext cx="11064240" cy="969264"/>
          </a:xfrm>
          <a:prstGeom prst="roundRect">
            <a:avLst>
              <a:gd name="adj" fmla="val 2830"/>
            </a:avLst>
          </a:prstGeom>
          <a:solidFill>
            <a:srgbClr val="F3F5EC"/>
          </a:solidFill>
          <a:ln w="12700">
            <a:solidFill>
              <a:srgbClr val="E9EDE1"/>
            </a:solidFill>
            <a:prstDash val="solid"/>
          </a:ln>
        </p:spPr>
        <p:txBody>
          <a:bodyPr/>
          <a:lstStyle/>
          <a:p>
            <a:endParaRPr lang="en-US"/>
          </a:p>
        </p:txBody>
      </p:sp>
      <p:sp>
        <p:nvSpPr>
          <p:cNvPr id="9" name="Shape 7"/>
          <p:cNvSpPr/>
          <p:nvPr/>
        </p:nvSpPr>
        <p:spPr>
          <a:xfrm>
            <a:off x="786384" y="1979676"/>
            <a:ext cx="118872" cy="118872"/>
          </a:xfrm>
          <a:prstGeom prst="ellipse">
            <a:avLst/>
          </a:prstGeom>
          <a:solidFill>
            <a:srgbClr val="5F6B3A"/>
          </a:solidFill>
          <a:ln w="12700">
            <a:solidFill>
              <a:srgbClr val="333333"/>
            </a:solidFill>
            <a:prstDash val="solid"/>
          </a:ln>
        </p:spPr>
        <p:txBody>
          <a:bodyPr/>
          <a:lstStyle/>
          <a:p>
            <a:endParaRPr lang="en-US"/>
          </a:p>
        </p:txBody>
      </p:sp>
      <p:sp>
        <p:nvSpPr>
          <p:cNvPr id="10" name="Text 8"/>
          <p:cNvSpPr txBox="1"/>
          <p:nvPr/>
        </p:nvSpPr>
        <p:spPr>
          <a:xfrm>
            <a:off x="1024128" y="1645920"/>
            <a:ext cx="3017520" cy="786384"/>
          </a:xfrm>
          <a:prstGeom prst="rect">
            <a:avLst/>
          </a:prstGeom>
          <a:noFill/>
          <a:ln/>
        </p:spPr>
        <p:txBody>
          <a:bodyPr wrap="square" lIns="0" tIns="0" rIns="0" bIns="0" rtlCol="0" anchor="ctr"/>
          <a:lstStyle/>
          <a:p>
            <a:pPr marL="0" indent="0">
              <a:buNone/>
            </a:pPr>
            <a:r>
              <a:rPr lang="en-US" sz="1350" b="1" dirty="0">
                <a:solidFill>
                  <a:srgbClr val="1E2116"/>
                </a:solidFill>
                <a:latin typeface="Cambria" pitchFamily="34" charset="0"/>
                <a:ea typeface="Cambria" pitchFamily="34" charset="-122"/>
                <a:cs typeface="Cambria" pitchFamily="34" charset="-120"/>
              </a:rPr>
              <a:t>Different datasets</a:t>
            </a:r>
            <a:endParaRPr lang="en-US" sz="1350" dirty="0"/>
          </a:p>
        </p:txBody>
      </p:sp>
      <p:sp>
        <p:nvSpPr>
          <p:cNvPr id="11" name="Text 9"/>
          <p:cNvSpPr txBox="1"/>
          <p:nvPr/>
        </p:nvSpPr>
        <p:spPr>
          <a:xfrm>
            <a:off x="4224528" y="1627632"/>
            <a:ext cx="7223760" cy="822960"/>
          </a:xfrm>
          <a:prstGeom prst="rect">
            <a:avLst/>
          </a:prstGeom>
          <a:noFill/>
          <a:ln/>
        </p:spPr>
        <p:txBody>
          <a:bodyPr wrap="square" lIns="0" tIns="0" rIns="0" bIns="0" rtlCol="0" anchor="ctr"/>
          <a:lstStyle/>
          <a:p>
            <a:pPr marL="0" indent="0">
              <a:buNone/>
            </a:pPr>
            <a:r>
              <a:rPr lang="en-US" sz="1240" dirty="0">
                <a:solidFill>
                  <a:srgbClr val="323726"/>
                </a:solidFill>
                <a:latin typeface="Calibri" pitchFamily="34" charset="0"/>
                <a:ea typeface="Calibri" pitchFamily="34" charset="-122"/>
                <a:cs typeface="Calibri" pitchFamily="34" charset="-120"/>
              </a:rPr>
              <a:t>Researchers had investigated phoneme classification, speaker identification, verification, emotion, ASR, translation, spoken language understanding, voice conversion and TTS — each with its own corpus and its own splits.</a:t>
            </a:r>
            <a:endParaRPr lang="en-US" sz="1240" dirty="0"/>
          </a:p>
        </p:txBody>
      </p:sp>
      <p:sp>
        <p:nvSpPr>
          <p:cNvPr id="12" name="Shape 10"/>
          <p:cNvSpPr/>
          <p:nvPr/>
        </p:nvSpPr>
        <p:spPr>
          <a:xfrm>
            <a:off x="566928" y="2578608"/>
            <a:ext cx="11064240" cy="969264"/>
          </a:xfrm>
          <a:prstGeom prst="roundRect">
            <a:avLst>
              <a:gd name="adj" fmla="val 2830"/>
            </a:avLst>
          </a:prstGeom>
          <a:solidFill>
            <a:srgbClr val="FFFFFF"/>
          </a:solidFill>
          <a:ln w="12700">
            <a:solidFill>
              <a:srgbClr val="E9EDE1"/>
            </a:solidFill>
            <a:prstDash val="solid"/>
          </a:ln>
        </p:spPr>
        <p:txBody>
          <a:bodyPr/>
          <a:lstStyle/>
          <a:p>
            <a:endParaRPr lang="en-US"/>
          </a:p>
        </p:txBody>
      </p:sp>
      <p:sp>
        <p:nvSpPr>
          <p:cNvPr id="13" name="Shape 11"/>
          <p:cNvSpPr/>
          <p:nvPr/>
        </p:nvSpPr>
        <p:spPr>
          <a:xfrm>
            <a:off x="786384" y="3003804"/>
            <a:ext cx="118872" cy="118872"/>
          </a:xfrm>
          <a:prstGeom prst="ellipse">
            <a:avLst/>
          </a:prstGeom>
          <a:solidFill>
            <a:srgbClr val="5F6B3A"/>
          </a:solidFill>
          <a:ln w="12700">
            <a:solidFill>
              <a:srgbClr val="333333"/>
            </a:solidFill>
            <a:prstDash val="solid"/>
          </a:ln>
        </p:spPr>
        <p:txBody>
          <a:bodyPr/>
          <a:lstStyle/>
          <a:p>
            <a:endParaRPr lang="en-US"/>
          </a:p>
        </p:txBody>
      </p:sp>
      <p:sp>
        <p:nvSpPr>
          <p:cNvPr id="14" name="Text 12"/>
          <p:cNvSpPr txBox="1"/>
          <p:nvPr/>
        </p:nvSpPr>
        <p:spPr>
          <a:xfrm>
            <a:off x="1024128" y="2670048"/>
            <a:ext cx="3017520" cy="786384"/>
          </a:xfrm>
          <a:prstGeom prst="rect">
            <a:avLst/>
          </a:prstGeom>
          <a:noFill/>
          <a:ln/>
        </p:spPr>
        <p:txBody>
          <a:bodyPr wrap="square" lIns="0" tIns="0" rIns="0" bIns="0" rtlCol="0" anchor="ctr"/>
          <a:lstStyle/>
          <a:p>
            <a:pPr marL="0" indent="0">
              <a:buNone/>
            </a:pPr>
            <a:r>
              <a:rPr lang="en-US" sz="1350" b="1" dirty="0">
                <a:solidFill>
                  <a:srgbClr val="1E2116"/>
                </a:solidFill>
                <a:latin typeface="Cambria" pitchFamily="34" charset="0"/>
                <a:ea typeface="Cambria" pitchFamily="34" charset="-122"/>
                <a:cs typeface="Cambria" pitchFamily="34" charset="-120"/>
              </a:rPr>
              <a:t>Different experimental setups</a:t>
            </a:r>
            <a:endParaRPr lang="en-US" sz="1350" dirty="0"/>
          </a:p>
        </p:txBody>
      </p:sp>
      <p:sp>
        <p:nvSpPr>
          <p:cNvPr id="15" name="Text 13"/>
          <p:cNvSpPr txBox="1"/>
          <p:nvPr/>
        </p:nvSpPr>
        <p:spPr>
          <a:xfrm>
            <a:off x="4224528" y="2651760"/>
            <a:ext cx="7223760" cy="822960"/>
          </a:xfrm>
          <a:prstGeom prst="rect">
            <a:avLst/>
          </a:prstGeom>
          <a:noFill/>
          <a:ln/>
        </p:spPr>
        <p:txBody>
          <a:bodyPr wrap="square" lIns="0" tIns="0" rIns="0" bIns="0" rtlCol="0" anchor="ctr"/>
          <a:lstStyle/>
          <a:p>
            <a:pPr marL="0" indent="0">
              <a:buNone/>
            </a:pPr>
            <a:r>
              <a:rPr lang="en-US" sz="1240" dirty="0">
                <a:solidFill>
                  <a:srgbClr val="323726"/>
                </a:solidFill>
                <a:latin typeface="Calibri" pitchFamily="34" charset="0"/>
                <a:ea typeface="Calibri" pitchFamily="34" charset="-122"/>
                <a:cs typeface="Calibri" pitchFamily="34" charset="-120"/>
              </a:rPr>
              <a:t>Absence of a shared benchmark makes it hard to compare and draw insights across the techniques. Two papers claiming improvement may not be measuring the same thing.</a:t>
            </a:r>
            <a:endParaRPr lang="en-US" sz="1240" dirty="0"/>
          </a:p>
        </p:txBody>
      </p:sp>
      <p:sp>
        <p:nvSpPr>
          <p:cNvPr id="16" name="Shape 14"/>
          <p:cNvSpPr/>
          <p:nvPr/>
        </p:nvSpPr>
        <p:spPr>
          <a:xfrm>
            <a:off x="566928" y="3602736"/>
            <a:ext cx="11064240" cy="969264"/>
          </a:xfrm>
          <a:prstGeom prst="roundRect">
            <a:avLst>
              <a:gd name="adj" fmla="val 2830"/>
            </a:avLst>
          </a:prstGeom>
          <a:solidFill>
            <a:srgbClr val="F3F5EC"/>
          </a:solidFill>
          <a:ln w="12700">
            <a:solidFill>
              <a:srgbClr val="E9EDE1"/>
            </a:solidFill>
            <a:prstDash val="solid"/>
          </a:ln>
        </p:spPr>
        <p:txBody>
          <a:bodyPr/>
          <a:lstStyle/>
          <a:p>
            <a:endParaRPr lang="en-US"/>
          </a:p>
        </p:txBody>
      </p:sp>
      <p:sp>
        <p:nvSpPr>
          <p:cNvPr id="17" name="Shape 15"/>
          <p:cNvSpPr/>
          <p:nvPr/>
        </p:nvSpPr>
        <p:spPr>
          <a:xfrm>
            <a:off x="786384" y="4027932"/>
            <a:ext cx="118872" cy="118872"/>
          </a:xfrm>
          <a:prstGeom prst="ellipse">
            <a:avLst/>
          </a:prstGeom>
          <a:solidFill>
            <a:srgbClr val="5F6B3A"/>
          </a:solidFill>
          <a:ln w="12700">
            <a:solidFill>
              <a:srgbClr val="333333"/>
            </a:solidFill>
            <a:prstDash val="solid"/>
          </a:ln>
        </p:spPr>
        <p:txBody>
          <a:bodyPr/>
          <a:lstStyle/>
          <a:p>
            <a:endParaRPr lang="en-US"/>
          </a:p>
        </p:txBody>
      </p:sp>
      <p:sp>
        <p:nvSpPr>
          <p:cNvPr id="18" name="Text 16"/>
          <p:cNvSpPr txBox="1"/>
          <p:nvPr/>
        </p:nvSpPr>
        <p:spPr>
          <a:xfrm>
            <a:off x="1024128" y="3694176"/>
            <a:ext cx="3017520" cy="786384"/>
          </a:xfrm>
          <a:prstGeom prst="rect">
            <a:avLst/>
          </a:prstGeom>
          <a:noFill/>
          <a:ln/>
        </p:spPr>
        <p:txBody>
          <a:bodyPr wrap="square" lIns="0" tIns="0" rIns="0" bIns="0" rtlCol="0" anchor="ctr"/>
          <a:lstStyle/>
          <a:p>
            <a:pPr marL="0" indent="0">
              <a:buNone/>
            </a:pPr>
            <a:r>
              <a:rPr lang="en-US" sz="1350" b="1" dirty="0">
                <a:solidFill>
                  <a:srgbClr val="1E2116"/>
                </a:solidFill>
                <a:latin typeface="Cambria" pitchFamily="34" charset="0"/>
                <a:ea typeface="Cambria" pitchFamily="34" charset="-122"/>
                <a:cs typeface="Cambria" pitchFamily="34" charset="-120"/>
              </a:rPr>
              <a:t>Too few tasks per paper</a:t>
            </a:r>
            <a:endParaRPr lang="en-US" sz="1350" dirty="0"/>
          </a:p>
        </p:txBody>
      </p:sp>
      <p:sp>
        <p:nvSpPr>
          <p:cNvPr id="19" name="Text 17"/>
          <p:cNvSpPr txBox="1"/>
          <p:nvPr/>
        </p:nvSpPr>
        <p:spPr>
          <a:xfrm>
            <a:off x="4224528" y="3675888"/>
            <a:ext cx="7223760" cy="822960"/>
          </a:xfrm>
          <a:prstGeom prst="rect">
            <a:avLst/>
          </a:prstGeom>
          <a:noFill/>
          <a:ln/>
        </p:spPr>
        <p:txBody>
          <a:bodyPr wrap="square" lIns="0" tIns="0" rIns="0" bIns="0" rtlCol="0" anchor="ctr"/>
          <a:lstStyle/>
          <a:p>
            <a:pPr marL="0" indent="0">
              <a:buNone/>
            </a:pPr>
            <a:r>
              <a:rPr lang="en-US" sz="1240" dirty="0">
                <a:solidFill>
                  <a:srgbClr val="323726"/>
                </a:solidFill>
                <a:latin typeface="Calibri" pitchFamily="34" charset="0"/>
                <a:ea typeface="Calibri" pitchFamily="34" charset="-122"/>
                <a:cs typeface="Calibri" pitchFamily="34" charset="-120"/>
              </a:rPr>
              <a:t>Existing works explored a limited number of tasks, so nothing established whether a representation was generally useful or merely useful for one application.</a:t>
            </a:r>
            <a:endParaRPr lang="en-US" sz="1240" dirty="0"/>
          </a:p>
        </p:txBody>
      </p:sp>
      <p:sp>
        <p:nvSpPr>
          <p:cNvPr id="20" name="Shape 18"/>
          <p:cNvSpPr/>
          <p:nvPr/>
        </p:nvSpPr>
        <p:spPr>
          <a:xfrm>
            <a:off x="566928" y="4626864"/>
            <a:ext cx="11064240" cy="969264"/>
          </a:xfrm>
          <a:prstGeom prst="roundRect">
            <a:avLst>
              <a:gd name="adj" fmla="val 2830"/>
            </a:avLst>
          </a:prstGeom>
          <a:solidFill>
            <a:srgbClr val="FFFFFF"/>
          </a:solidFill>
          <a:ln w="12700">
            <a:solidFill>
              <a:srgbClr val="E9EDE1"/>
            </a:solidFill>
            <a:prstDash val="solid"/>
          </a:ln>
        </p:spPr>
        <p:txBody>
          <a:bodyPr/>
          <a:lstStyle/>
          <a:p>
            <a:endParaRPr lang="en-US"/>
          </a:p>
        </p:txBody>
      </p:sp>
      <p:sp>
        <p:nvSpPr>
          <p:cNvPr id="21" name="Shape 19"/>
          <p:cNvSpPr/>
          <p:nvPr/>
        </p:nvSpPr>
        <p:spPr>
          <a:xfrm>
            <a:off x="786384" y="5052060"/>
            <a:ext cx="118872" cy="118872"/>
          </a:xfrm>
          <a:prstGeom prst="ellipse">
            <a:avLst/>
          </a:prstGeom>
          <a:solidFill>
            <a:srgbClr val="5F6B3A"/>
          </a:solidFill>
          <a:ln w="12700">
            <a:solidFill>
              <a:srgbClr val="333333"/>
            </a:solidFill>
            <a:prstDash val="solid"/>
          </a:ln>
        </p:spPr>
        <p:txBody>
          <a:bodyPr/>
          <a:lstStyle/>
          <a:p>
            <a:endParaRPr lang="en-US"/>
          </a:p>
        </p:txBody>
      </p:sp>
      <p:sp>
        <p:nvSpPr>
          <p:cNvPr id="22" name="Text 20"/>
          <p:cNvSpPr txBox="1"/>
          <p:nvPr/>
        </p:nvSpPr>
        <p:spPr>
          <a:xfrm>
            <a:off x="1024128" y="4718304"/>
            <a:ext cx="3017520" cy="786384"/>
          </a:xfrm>
          <a:prstGeom prst="rect">
            <a:avLst/>
          </a:prstGeom>
          <a:noFill/>
          <a:ln/>
        </p:spPr>
        <p:txBody>
          <a:bodyPr wrap="square" lIns="0" tIns="0" rIns="0" bIns="0" rtlCol="0" anchor="ctr"/>
          <a:lstStyle/>
          <a:p>
            <a:pPr marL="0" indent="0">
              <a:buNone/>
            </a:pPr>
            <a:r>
              <a:rPr lang="en-US" sz="1350" b="1" dirty="0">
                <a:solidFill>
                  <a:srgbClr val="1E2116"/>
                </a:solidFill>
                <a:latin typeface="Cambria" pitchFamily="34" charset="0"/>
                <a:ea typeface="Cambria" pitchFamily="34" charset="-122"/>
                <a:cs typeface="Cambria" pitchFamily="34" charset="-120"/>
              </a:rPr>
              <a:t>Heavyweight downstream training</a:t>
            </a:r>
            <a:endParaRPr lang="en-US" sz="1350" dirty="0"/>
          </a:p>
        </p:txBody>
      </p:sp>
      <p:sp>
        <p:nvSpPr>
          <p:cNvPr id="23" name="Text 21"/>
          <p:cNvSpPr txBox="1"/>
          <p:nvPr/>
        </p:nvSpPr>
        <p:spPr>
          <a:xfrm>
            <a:off x="4224528" y="4700016"/>
            <a:ext cx="7223760" cy="822960"/>
          </a:xfrm>
          <a:prstGeom prst="rect">
            <a:avLst/>
          </a:prstGeom>
          <a:noFill/>
          <a:ln/>
        </p:spPr>
        <p:txBody>
          <a:bodyPr wrap="square" lIns="0" tIns="0" rIns="0" bIns="0" rtlCol="0" anchor="ctr"/>
          <a:lstStyle/>
          <a:p>
            <a:pPr marL="0" indent="0">
              <a:buNone/>
            </a:pPr>
            <a:r>
              <a:rPr lang="en-US" sz="1240" dirty="0">
                <a:solidFill>
                  <a:srgbClr val="323726"/>
                </a:solidFill>
                <a:latin typeface="Calibri" pitchFamily="34" charset="0"/>
                <a:ea typeface="Calibri" pitchFamily="34" charset="-122"/>
                <a:cs typeface="Calibri" pitchFamily="34" charset="-120"/>
              </a:rPr>
              <a:t>Where evaluation did happen, it often involved fine-tuning the whole model or training a large downstream system — which blurs how much credit belongs to the representation.</a:t>
            </a:r>
            <a:endParaRPr lang="en-US" sz="1240" dirty="0"/>
          </a:p>
        </p:txBody>
      </p:sp>
      <p:sp>
        <p:nvSpPr>
          <p:cNvPr id="24" name="Shape 22"/>
          <p:cNvSpPr/>
          <p:nvPr/>
        </p:nvSpPr>
        <p:spPr>
          <a:xfrm>
            <a:off x="566928" y="5577840"/>
            <a:ext cx="11064240" cy="475488"/>
          </a:xfrm>
          <a:prstGeom prst="roundRect">
            <a:avLst>
              <a:gd name="adj" fmla="val 11538"/>
            </a:avLst>
          </a:prstGeom>
          <a:solidFill>
            <a:srgbClr val="2A2E1E"/>
          </a:solidFill>
          <a:ln w="12700">
            <a:solidFill>
              <a:srgbClr val="2A2E1E"/>
            </a:solidFill>
            <a:prstDash val="solid"/>
          </a:ln>
        </p:spPr>
        <p:txBody>
          <a:bodyPr/>
          <a:lstStyle/>
          <a:p>
            <a:endParaRPr lang="en-US"/>
          </a:p>
        </p:txBody>
      </p:sp>
      <p:sp>
        <p:nvSpPr>
          <p:cNvPr id="25" name="Text 23"/>
          <p:cNvSpPr txBox="1"/>
          <p:nvPr/>
        </p:nvSpPr>
        <p:spPr>
          <a:xfrm>
            <a:off x="822960" y="5797296"/>
            <a:ext cx="10552176" cy="54864"/>
          </a:xfrm>
          <a:prstGeom prst="rect">
            <a:avLst/>
          </a:prstGeom>
          <a:noFill/>
          <a:ln/>
        </p:spPr>
        <p:txBody>
          <a:bodyPr wrap="square" lIns="0" tIns="0" rIns="0" bIns="0" rtlCol="0" anchor="t"/>
          <a:lstStyle/>
          <a:p>
            <a:pPr marL="0" indent="0">
              <a:lnSpc>
                <a:spcPct val="108000"/>
              </a:lnSpc>
              <a:buNone/>
            </a:pPr>
            <a:r>
              <a:rPr lang="en-US" sz="1280" dirty="0">
                <a:solidFill>
                  <a:srgbClr val="D6DCC0"/>
                </a:solidFill>
                <a:latin typeface="Calibri" pitchFamily="34" charset="0"/>
                <a:ea typeface="Calibri" pitchFamily="34" charset="-122"/>
                <a:cs typeface="Calibri" pitchFamily="34" charset="-120"/>
              </a:rPr>
              <a:t>The fourth point is the sharpest: if the downstream model is powerful enough, it can compensate for a weak representation.</a:t>
            </a:r>
            <a:endParaRPr lang="en-US" sz="12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The GLUE analogy, and where it strains</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Speech is not text, and a benchmark has to reflect that</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6</a:t>
            </a:r>
            <a:endParaRPr lang="en-US" sz="900" dirty="0"/>
          </a:p>
        </p:txBody>
      </p:sp>
      <p:sp>
        <p:nvSpPr>
          <p:cNvPr id="8" name="Shape 6"/>
          <p:cNvSpPr/>
          <p:nvPr/>
        </p:nvSpPr>
        <p:spPr>
          <a:xfrm>
            <a:off x="566928" y="1572768"/>
            <a:ext cx="5440680" cy="2240280"/>
          </a:xfrm>
          <a:prstGeom prst="roundRect">
            <a:avLst>
              <a:gd name="adj" fmla="val 2449"/>
            </a:avLst>
          </a:prstGeom>
          <a:solidFill>
            <a:srgbClr val="F3F5EC"/>
          </a:solidFill>
          <a:ln w="12700">
            <a:solidFill>
              <a:srgbClr val="E3E7D8"/>
            </a:solidFill>
            <a:prstDash val="solid"/>
          </a:ln>
        </p:spPr>
        <p:txBody>
          <a:bodyPr/>
          <a:lstStyle/>
          <a:p>
            <a:endParaRPr lang="en-US"/>
          </a:p>
        </p:txBody>
      </p:sp>
      <p:sp>
        <p:nvSpPr>
          <p:cNvPr id="9" name="Shape 7"/>
          <p:cNvSpPr/>
          <p:nvPr/>
        </p:nvSpPr>
        <p:spPr>
          <a:xfrm>
            <a:off x="786384" y="1865376"/>
            <a:ext cx="109728" cy="109728"/>
          </a:xfrm>
          <a:prstGeom prst="ellipse">
            <a:avLst/>
          </a:prstGeom>
          <a:solidFill>
            <a:srgbClr val="5F6B3A"/>
          </a:solidFill>
          <a:ln w="12700">
            <a:solidFill>
              <a:srgbClr val="333333"/>
            </a:solidFill>
            <a:prstDash val="solid"/>
          </a:ln>
        </p:spPr>
        <p:txBody>
          <a:bodyPr/>
          <a:lstStyle/>
          <a:p>
            <a:endParaRPr lang="en-US"/>
          </a:p>
        </p:txBody>
      </p:sp>
      <p:sp>
        <p:nvSpPr>
          <p:cNvPr id="10" name="Text 8"/>
          <p:cNvSpPr txBox="1"/>
          <p:nvPr/>
        </p:nvSpPr>
        <p:spPr>
          <a:xfrm>
            <a:off x="987552" y="1737360"/>
            <a:ext cx="4800600" cy="365760"/>
          </a:xfrm>
          <a:prstGeom prst="rect">
            <a:avLst/>
          </a:prstGeom>
          <a:noFill/>
          <a:ln/>
        </p:spPr>
        <p:txBody>
          <a:bodyPr wrap="square" lIns="0" tIns="0" rIns="0" bIns="0" rtlCol="0" anchor="ctr"/>
          <a:lstStyle/>
          <a:p>
            <a:pPr marL="0" indent="0">
              <a:buNone/>
            </a:pPr>
            <a:r>
              <a:rPr lang="en-US" sz="1500" b="1" dirty="0">
                <a:solidFill>
                  <a:srgbClr val="1E2116"/>
                </a:solidFill>
                <a:latin typeface="Cambria" pitchFamily="34" charset="0"/>
                <a:ea typeface="Cambria" pitchFamily="34" charset="-122"/>
                <a:cs typeface="Cambria" pitchFamily="34" charset="-120"/>
              </a:rPr>
              <a:t>What transfers</a:t>
            </a:r>
            <a:endParaRPr lang="en-US" sz="1500" dirty="0"/>
          </a:p>
        </p:txBody>
      </p:sp>
      <p:sp>
        <p:nvSpPr>
          <p:cNvPr id="11" name="Text 9"/>
          <p:cNvSpPr txBox="1"/>
          <p:nvPr/>
        </p:nvSpPr>
        <p:spPr>
          <a:xfrm>
            <a:off x="822960" y="2176272"/>
            <a:ext cx="4928616" cy="1453896"/>
          </a:xfrm>
          <a:prstGeom prst="rect">
            <a:avLst/>
          </a:prstGeom>
          <a:noFill/>
          <a:ln/>
        </p:spPr>
        <p:txBody>
          <a:bodyPr wrap="square" lIns="0" tIns="0" rIns="0" bIns="0" rtlCol="0" anchor="t"/>
          <a:lstStyle/>
          <a:p>
            <a:pPr marL="0" indent="0">
              <a:lnSpc>
                <a:spcPct val="108000"/>
              </a:lnSpc>
              <a:buNone/>
            </a:pPr>
            <a:r>
              <a:rPr lang="en-US" sz="1260" dirty="0">
                <a:solidFill>
                  <a:srgbClr val="323726"/>
                </a:solidFill>
                <a:latin typeface="Calibri" pitchFamily="34" charset="0"/>
                <a:ea typeface="Calibri" pitchFamily="34" charset="-122"/>
                <a:cs typeface="Calibri" pitchFamily="34" charset="-120"/>
              </a:rPr>
              <a:t>Pre-train one shared model on unlabelled data, attach a small head per task, report a table. The logic that drove NLP from ELMo and BERT to a single-backbone field.</a:t>
            </a:r>
            <a:endParaRPr lang="en-US" sz="1260" dirty="0"/>
          </a:p>
          <a:p>
            <a:pPr marL="0" indent="0">
              <a:lnSpc>
                <a:spcPct val="108000"/>
              </a:lnSpc>
              <a:buNone/>
            </a:pPr>
            <a:endParaRPr lang="en-US" sz="1260" dirty="0"/>
          </a:p>
          <a:p>
            <a:pPr marL="0" indent="0">
              <a:lnSpc>
                <a:spcPct val="108000"/>
              </a:lnSpc>
              <a:buNone/>
            </a:pPr>
            <a:r>
              <a:rPr lang="en-US" sz="1260" dirty="0">
                <a:solidFill>
                  <a:srgbClr val="323726"/>
                </a:solidFill>
                <a:latin typeface="Calibri" pitchFamily="34" charset="0"/>
                <a:ea typeface="Calibri" pitchFamily="34" charset="-122"/>
                <a:cs typeface="Calibri" pitchFamily="34" charset="-120"/>
              </a:rPr>
              <a:t>The economic argument too: developing a deep model per use case is time- and cost-prohibitive, and a shared encoder lowers the barrier to entry.</a:t>
            </a:r>
            <a:endParaRPr lang="en-US" sz="1260" dirty="0"/>
          </a:p>
        </p:txBody>
      </p:sp>
      <p:sp>
        <p:nvSpPr>
          <p:cNvPr id="12" name="Shape 10"/>
          <p:cNvSpPr/>
          <p:nvPr/>
        </p:nvSpPr>
        <p:spPr>
          <a:xfrm>
            <a:off x="6190488" y="1572768"/>
            <a:ext cx="5440680" cy="2240280"/>
          </a:xfrm>
          <a:prstGeom prst="roundRect">
            <a:avLst>
              <a:gd name="adj" fmla="val 2449"/>
            </a:avLst>
          </a:prstGeom>
          <a:solidFill>
            <a:srgbClr val="F3F5EC"/>
          </a:solidFill>
          <a:ln w="12700">
            <a:solidFill>
              <a:srgbClr val="E3E7D8"/>
            </a:solidFill>
            <a:prstDash val="solid"/>
          </a:ln>
        </p:spPr>
        <p:txBody>
          <a:bodyPr/>
          <a:lstStyle/>
          <a:p>
            <a:endParaRPr lang="en-US"/>
          </a:p>
        </p:txBody>
      </p:sp>
      <p:sp>
        <p:nvSpPr>
          <p:cNvPr id="13" name="Shape 11"/>
          <p:cNvSpPr/>
          <p:nvPr/>
        </p:nvSpPr>
        <p:spPr>
          <a:xfrm>
            <a:off x="6409944" y="1865376"/>
            <a:ext cx="109728" cy="109728"/>
          </a:xfrm>
          <a:prstGeom prst="ellipse">
            <a:avLst/>
          </a:prstGeom>
          <a:solidFill>
            <a:srgbClr val="D9614C"/>
          </a:solidFill>
          <a:ln w="12700">
            <a:solidFill>
              <a:srgbClr val="333333"/>
            </a:solidFill>
            <a:prstDash val="solid"/>
          </a:ln>
        </p:spPr>
        <p:txBody>
          <a:bodyPr/>
          <a:lstStyle/>
          <a:p>
            <a:endParaRPr lang="en-US"/>
          </a:p>
        </p:txBody>
      </p:sp>
      <p:sp>
        <p:nvSpPr>
          <p:cNvPr id="14" name="Text 12"/>
          <p:cNvSpPr txBox="1"/>
          <p:nvPr/>
        </p:nvSpPr>
        <p:spPr>
          <a:xfrm>
            <a:off x="6611112" y="1737360"/>
            <a:ext cx="4800600" cy="365760"/>
          </a:xfrm>
          <a:prstGeom prst="rect">
            <a:avLst/>
          </a:prstGeom>
          <a:noFill/>
          <a:ln/>
        </p:spPr>
        <p:txBody>
          <a:bodyPr wrap="square" lIns="0" tIns="0" rIns="0" bIns="0" rtlCol="0" anchor="ctr"/>
          <a:lstStyle/>
          <a:p>
            <a:pPr marL="0" indent="0">
              <a:buNone/>
            </a:pPr>
            <a:r>
              <a:rPr lang="en-US" sz="1500" b="1" dirty="0">
                <a:solidFill>
                  <a:srgbClr val="1E2116"/>
                </a:solidFill>
                <a:latin typeface="Cambria" pitchFamily="34" charset="0"/>
                <a:ea typeface="Cambria" pitchFamily="34" charset="-122"/>
                <a:cs typeface="Cambria" pitchFamily="34" charset="-120"/>
              </a:rPr>
              <a:t>What does not</a:t>
            </a:r>
            <a:endParaRPr lang="en-US" sz="1500" dirty="0"/>
          </a:p>
        </p:txBody>
      </p:sp>
      <p:sp>
        <p:nvSpPr>
          <p:cNvPr id="15" name="Text 13"/>
          <p:cNvSpPr txBox="1"/>
          <p:nvPr/>
        </p:nvSpPr>
        <p:spPr>
          <a:xfrm>
            <a:off x="6446520" y="2176272"/>
            <a:ext cx="4928616" cy="1453896"/>
          </a:xfrm>
          <a:prstGeom prst="rect">
            <a:avLst/>
          </a:prstGeom>
          <a:noFill/>
          <a:ln/>
        </p:spPr>
        <p:txBody>
          <a:bodyPr wrap="square" lIns="0" tIns="0" rIns="0" bIns="0" rtlCol="0" anchor="t"/>
          <a:lstStyle/>
          <a:p>
            <a:pPr marL="0" indent="0">
              <a:lnSpc>
                <a:spcPct val="108000"/>
              </a:lnSpc>
              <a:buNone/>
            </a:pPr>
            <a:r>
              <a:rPr lang="en-US" sz="1260" dirty="0">
                <a:solidFill>
                  <a:srgbClr val="323726"/>
                </a:solidFill>
                <a:latin typeface="Calibri" pitchFamily="34" charset="0"/>
                <a:ea typeface="Calibri" pitchFamily="34" charset="-122"/>
                <a:cs typeface="Calibri" pitchFamily="34" charset="-120"/>
              </a:rPr>
              <a:t>GLUE's tasks are all classification or regression over sentences. SUPERB's span frame-level sequence labelling, utterance classification, retrieval, verification, and diarisation of overlapping speakers.</a:t>
            </a:r>
            <a:endParaRPr lang="en-US" sz="1260" dirty="0"/>
          </a:p>
          <a:p>
            <a:pPr marL="0" indent="0">
              <a:lnSpc>
                <a:spcPct val="108000"/>
              </a:lnSpc>
              <a:buNone/>
            </a:pPr>
            <a:endParaRPr lang="en-US" sz="1260" dirty="0"/>
          </a:p>
          <a:p>
            <a:pPr marL="0" indent="0">
              <a:lnSpc>
                <a:spcPct val="108000"/>
              </a:lnSpc>
              <a:buNone/>
            </a:pPr>
            <a:r>
              <a:rPr lang="en-US" sz="1260" dirty="0">
                <a:solidFill>
                  <a:srgbClr val="323726"/>
                </a:solidFill>
                <a:latin typeface="Calibri" pitchFamily="34" charset="0"/>
                <a:ea typeface="Calibri" pitchFamily="34" charset="-122"/>
                <a:cs typeface="Calibri" pitchFamily="34" charset="-120"/>
              </a:rPr>
              <a:t>That heterogeneity means the heads cannot be uniform — and that difference will matter in section 5.</a:t>
            </a:r>
            <a:endParaRPr lang="en-US" sz="1260" dirty="0"/>
          </a:p>
        </p:txBody>
      </p:sp>
      <p:sp>
        <p:nvSpPr>
          <p:cNvPr id="16" name="Shape 14"/>
          <p:cNvSpPr/>
          <p:nvPr/>
        </p:nvSpPr>
        <p:spPr>
          <a:xfrm>
            <a:off x="566928" y="4005072"/>
            <a:ext cx="11064240" cy="2048256"/>
          </a:xfrm>
          <a:prstGeom prst="roundRect">
            <a:avLst>
              <a:gd name="adj" fmla="val 2679"/>
            </a:avLst>
          </a:prstGeom>
          <a:solidFill>
            <a:srgbClr val="2A2E1E"/>
          </a:solidFill>
          <a:ln w="12700">
            <a:solidFill>
              <a:srgbClr val="2A2E1E"/>
            </a:solidFill>
            <a:prstDash val="solid"/>
          </a:ln>
        </p:spPr>
        <p:txBody>
          <a:bodyPr/>
          <a:lstStyle/>
          <a:p>
            <a:endParaRPr lang="en-US"/>
          </a:p>
        </p:txBody>
      </p:sp>
      <p:sp>
        <p:nvSpPr>
          <p:cNvPr id="17" name="Shape 15"/>
          <p:cNvSpPr/>
          <p:nvPr/>
        </p:nvSpPr>
        <p:spPr>
          <a:xfrm>
            <a:off x="786384" y="4297680"/>
            <a:ext cx="109728" cy="109728"/>
          </a:xfrm>
          <a:prstGeom prst="ellipse">
            <a:avLst/>
          </a:prstGeom>
          <a:solidFill>
            <a:srgbClr val="D9614C"/>
          </a:solidFill>
          <a:ln w="12700">
            <a:solidFill>
              <a:srgbClr val="333333"/>
            </a:solidFill>
            <a:prstDash val="solid"/>
          </a:ln>
        </p:spPr>
        <p:txBody>
          <a:bodyPr/>
          <a:lstStyle/>
          <a:p>
            <a:endParaRPr lang="en-US"/>
          </a:p>
        </p:txBody>
      </p:sp>
      <p:sp>
        <p:nvSpPr>
          <p:cNvPr id="18" name="Text 16"/>
          <p:cNvSpPr txBox="1"/>
          <p:nvPr/>
        </p:nvSpPr>
        <p:spPr>
          <a:xfrm>
            <a:off x="987552" y="4169664"/>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deeper disanalogy</a:t>
            </a:r>
            <a:endParaRPr lang="en-US" sz="1500" dirty="0"/>
          </a:p>
        </p:txBody>
      </p:sp>
      <p:sp>
        <p:nvSpPr>
          <p:cNvPr id="19" name="Text 17"/>
          <p:cNvSpPr txBox="1"/>
          <p:nvPr/>
        </p:nvSpPr>
        <p:spPr>
          <a:xfrm>
            <a:off x="822960" y="4608576"/>
            <a:ext cx="10552176" cy="1261872"/>
          </a:xfrm>
          <a:prstGeom prst="rect">
            <a:avLst/>
          </a:prstGeom>
          <a:noFill/>
          <a:ln/>
        </p:spPr>
        <p:txBody>
          <a:bodyPr wrap="square" lIns="0" tIns="0" rIns="0" bIns="0" rtlCol="0" anchor="t"/>
          <a:lstStyle/>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In text, every GLUE task is about meaning. In speech, the tasks pull in opposite directions: recognition wants the representation to discard speaker identity; verification wants it to preserve speaker identity and discard content.</a:t>
            </a:r>
            <a:endParaRPr lang="en-US" sz="1300" dirty="0"/>
          </a:p>
          <a:p>
            <a:pPr marL="0" indent="0">
              <a:lnSpc>
                <a:spcPct val="108000"/>
              </a:lnSpc>
              <a:buNone/>
            </a:pPr>
            <a:endParaRPr lang="en-US" sz="1300" dirty="0"/>
          </a:p>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So a single score across all ten tasks is asking one model to be good at mutually opposed things. That is a stronger demand than GLUE makes, and it is the tension WavLM was later built to address.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What already existed</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Two prior benchmarks, and why neither was sufficient</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7</a:t>
            </a:r>
            <a:endParaRPr lang="en-US" sz="900" dirty="0"/>
          </a:p>
        </p:txBody>
      </p:sp>
      <p:sp>
        <p:nvSpPr>
          <p:cNvPr id="8" name="Shape 6"/>
          <p:cNvSpPr/>
          <p:nvPr/>
        </p:nvSpPr>
        <p:spPr>
          <a:xfrm>
            <a:off x="566928" y="1600200"/>
            <a:ext cx="3584448" cy="2286000"/>
          </a:xfrm>
          <a:prstGeom prst="roundRect">
            <a:avLst>
              <a:gd name="adj" fmla="val 2400"/>
            </a:avLst>
          </a:prstGeom>
          <a:solidFill>
            <a:srgbClr val="F3F5EC"/>
          </a:solidFill>
          <a:ln w="12700">
            <a:solidFill>
              <a:srgbClr val="E3E7D8"/>
            </a:solidFill>
            <a:prstDash val="solid"/>
          </a:ln>
        </p:spPr>
        <p:txBody>
          <a:bodyPr/>
          <a:lstStyle/>
          <a:p>
            <a:endParaRPr lang="en-US"/>
          </a:p>
        </p:txBody>
      </p:sp>
      <p:sp>
        <p:nvSpPr>
          <p:cNvPr id="9" name="Shape 7"/>
          <p:cNvSpPr/>
          <p:nvPr/>
        </p:nvSpPr>
        <p:spPr>
          <a:xfrm>
            <a:off x="786384" y="1892808"/>
            <a:ext cx="109728" cy="109728"/>
          </a:xfrm>
          <a:prstGeom prst="ellipse">
            <a:avLst/>
          </a:prstGeom>
          <a:solidFill>
            <a:srgbClr val="5F6B3A"/>
          </a:solidFill>
          <a:ln w="12700">
            <a:solidFill>
              <a:srgbClr val="333333"/>
            </a:solidFill>
            <a:prstDash val="solid"/>
          </a:ln>
        </p:spPr>
        <p:txBody>
          <a:bodyPr/>
          <a:lstStyle/>
          <a:p>
            <a:endParaRPr lang="en-US"/>
          </a:p>
        </p:txBody>
      </p:sp>
      <p:sp>
        <p:nvSpPr>
          <p:cNvPr id="10" name="Text 8"/>
          <p:cNvSpPr txBox="1"/>
          <p:nvPr/>
        </p:nvSpPr>
        <p:spPr>
          <a:xfrm>
            <a:off x="987552" y="1764792"/>
            <a:ext cx="2944368" cy="365760"/>
          </a:xfrm>
          <a:prstGeom prst="rect">
            <a:avLst/>
          </a:prstGeom>
          <a:noFill/>
          <a:ln/>
        </p:spPr>
        <p:txBody>
          <a:bodyPr wrap="square" lIns="0" tIns="0" rIns="0" bIns="0" rtlCol="0" anchor="ctr"/>
          <a:lstStyle/>
          <a:p>
            <a:pPr marL="0" indent="0">
              <a:buNone/>
            </a:pPr>
            <a:r>
              <a:rPr lang="en-US" sz="1500" b="1" dirty="0">
                <a:solidFill>
                  <a:srgbClr val="1E2116"/>
                </a:solidFill>
                <a:latin typeface="Cambria" pitchFamily="34" charset="0"/>
                <a:ea typeface="Cambria" pitchFamily="34" charset="-122"/>
                <a:cs typeface="Cambria" pitchFamily="34" charset="-120"/>
              </a:rPr>
              <a:t>Zero Resource Speech 2021</a:t>
            </a:r>
            <a:endParaRPr lang="en-US" sz="1500" dirty="0"/>
          </a:p>
        </p:txBody>
      </p:sp>
      <p:sp>
        <p:nvSpPr>
          <p:cNvPr id="11" name="Text 9"/>
          <p:cNvSpPr txBox="1"/>
          <p:nvPr/>
        </p:nvSpPr>
        <p:spPr>
          <a:xfrm>
            <a:off x="822960" y="2203704"/>
            <a:ext cx="3072384" cy="1499616"/>
          </a:xfrm>
          <a:prstGeom prst="rect">
            <a:avLst/>
          </a:prstGeom>
          <a:noFill/>
          <a:ln/>
        </p:spPr>
        <p:txBody>
          <a:bodyPr wrap="square" lIns="0" tIns="0" rIns="0" bIns="0" rtlCol="0" anchor="t"/>
          <a:lstStyle/>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Evaluates representations' quality without any downstream training at all — distance-based and discrimination metrics computed directly on the features.</a:t>
            </a:r>
            <a:endParaRPr lang="en-US" sz="1240" dirty="0"/>
          </a:p>
          <a:p>
            <a:pPr marL="0" indent="0">
              <a:lnSpc>
                <a:spcPct val="108000"/>
              </a:lnSpc>
              <a:buNone/>
            </a:pPr>
            <a:endParaRPr lang="en-US" sz="1240" dirty="0"/>
          </a:p>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Clean, but it cannot tell you whether a representation is useful in a system.</a:t>
            </a:r>
            <a:endParaRPr lang="en-US" sz="1240" dirty="0"/>
          </a:p>
        </p:txBody>
      </p:sp>
      <p:sp>
        <p:nvSpPr>
          <p:cNvPr id="12" name="Shape 10"/>
          <p:cNvSpPr/>
          <p:nvPr/>
        </p:nvSpPr>
        <p:spPr>
          <a:xfrm>
            <a:off x="4279392" y="1600200"/>
            <a:ext cx="3584448" cy="2286000"/>
          </a:xfrm>
          <a:prstGeom prst="roundRect">
            <a:avLst>
              <a:gd name="adj" fmla="val 2400"/>
            </a:avLst>
          </a:prstGeom>
          <a:solidFill>
            <a:srgbClr val="F3F5EC"/>
          </a:solidFill>
          <a:ln w="12700">
            <a:solidFill>
              <a:srgbClr val="E3E7D8"/>
            </a:solidFill>
            <a:prstDash val="solid"/>
          </a:ln>
        </p:spPr>
        <p:txBody>
          <a:bodyPr/>
          <a:lstStyle/>
          <a:p>
            <a:endParaRPr lang="en-US"/>
          </a:p>
        </p:txBody>
      </p:sp>
      <p:sp>
        <p:nvSpPr>
          <p:cNvPr id="13" name="Shape 11"/>
          <p:cNvSpPr/>
          <p:nvPr/>
        </p:nvSpPr>
        <p:spPr>
          <a:xfrm>
            <a:off x="4498848" y="1892808"/>
            <a:ext cx="109728" cy="109728"/>
          </a:xfrm>
          <a:prstGeom prst="ellipse">
            <a:avLst/>
          </a:prstGeom>
          <a:solidFill>
            <a:srgbClr val="D9614C"/>
          </a:solidFill>
          <a:ln w="12700">
            <a:solidFill>
              <a:srgbClr val="333333"/>
            </a:solidFill>
            <a:prstDash val="solid"/>
          </a:ln>
        </p:spPr>
        <p:txBody>
          <a:bodyPr/>
          <a:lstStyle/>
          <a:p>
            <a:endParaRPr lang="en-US"/>
          </a:p>
        </p:txBody>
      </p:sp>
      <p:sp>
        <p:nvSpPr>
          <p:cNvPr id="14" name="Text 12"/>
          <p:cNvSpPr txBox="1"/>
          <p:nvPr/>
        </p:nvSpPr>
        <p:spPr>
          <a:xfrm>
            <a:off x="4700016" y="1764792"/>
            <a:ext cx="2944368" cy="365760"/>
          </a:xfrm>
          <a:prstGeom prst="rect">
            <a:avLst/>
          </a:prstGeom>
          <a:noFill/>
          <a:ln/>
        </p:spPr>
        <p:txBody>
          <a:bodyPr wrap="square" lIns="0" tIns="0" rIns="0" bIns="0" rtlCol="0" anchor="ctr"/>
          <a:lstStyle/>
          <a:p>
            <a:pPr marL="0" indent="0">
              <a:buNone/>
            </a:pPr>
            <a:r>
              <a:rPr lang="en-US" sz="1500" b="1" dirty="0">
                <a:solidFill>
                  <a:srgbClr val="1E2116"/>
                </a:solidFill>
                <a:latin typeface="Cambria" pitchFamily="34" charset="0"/>
                <a:ea typeface="Cambria" pitchFamily="34" charset="-122"/>
                <a:cs typeface="Cambria" pitchFamily="34" charset="-120"/>
              </a:rPr>
              <a:t>NOSS</a:t>
            </a:r>
            <a:endParaRPr lang="en-US" sz="1500" dirty="0"/>
          </a:p>
        </p:txBody>
      </p:sp>
      <p:sp>
        <p:nvSpPr>
          <p:cNvPr id="15" name="Text 13"/>
          <p:cNvSpPr txBox="1"/>
          <p:nvPr/>
        </p:nvSpPr>
        <p:spPr>
          <a:xfrm>
            <a:off x="4535424" y="2203704"/>
            <a:ext cx="3072384" cy="1499616"/>
          </a:xfrm>
          <a:prstGeom prst="rect">
            <a:avLst/>
          </a:prstGeom>
          <a:noFill/>
          <a:ln/>
        </p:spPr>
        <p:txBody>
          <a:bodyPr wrap="square" lIns="0" tIns="0" rIns="0" bIns="0" rtlCol="0" anchor="t"/>
          <a:lstStyle/>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The non-semantic speech benchmark — paralinguistic and speaker tasks, with content recognition tasks deliberately excluded.</a:t>
            </a:r>
            <a:endParaRPr lang="en-US" sz="1240" dirty="0"/>
          </a:p>
          <a:p>
            <a:pPr marL="0" indent="0">
              <a:lnSpc>
                <a:spcPct val="108000"/>
              </a:lnSpc>
              <a:buNone/>
            </a:pPr>
            <a:endParaRPr lang="en-US" sz="1240" dirty="0"/>
          </a:p>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Useful for its niche, but silent on whether a representation encodes linguistic content.</a:t>
            </a:r>
            <a:endParaRPr lang="en-US" sz="1240" dirty="0"/>
          </a:p>
        </p:txBody>
      </p:sp>
      <p:sp>
        <p:nvSpPr>
          <p:cNvPr id="16" name="Shape 14"/>
          <p:cNvSpPr/>
          <p:nvPr/>
        </p:nvSpPr>
        <p:spPr>
          <a:xfrm>
            <a:off x="7991856" y="1600200"/>
            <a:ext cx="3639312" cy="2286000"/>
          </a:xfrm>
          <a:prstGeom prst="roundRect">
            <a:avLst>
              <a:gd name="adj" fmla="val 2400"/>
            </a:avLst>
          </a:prstGeom>
          <a:solidFill>
            <a:srgbClr val="F3F5EC"/>
          </a:solidFill>
          <a:ln w="12700">
            <a:solidFill>
              <a:srgbClr val="E3E7D8"/>
            </a:solidFill>
            <a:prstDash val="solid"/>
          </a:ln>
        </p:spPr>
        <p:txBody>
          <a:bodyPr/>
          <a:lstStyle/>
          <a:p>
            <a:endParaRPr lang="en-US"/>
          </a:p>
        </p:txBody>
      </p:sp>
      <p:sp>
        <p:nvSpPr>
          <p:cNvPr id="17" name="Shape 15"/>
          <p:cNvSpPr/>
          <p:nvPr/>
        </p:nvSpPr>
        <p:spPr>
          <a:xfrm>
            <a:off x="8211312" y="1892808"/>
            <a:ext cx="109728" cy="109728"/>
          </a:xfrm>
          <a:prstGeom prst="ellipse">
            <a:avLst/>
          </a:prstGeom>
          <a:solidFill>
            <a:srgbClr val="5F6B3A"/>
          </a:solidFill>
          <a:ln w="12700">
            <a:solidFill>
              <a:srgbClr val="333333"/>
            </a:solidFill>
            <a:prstDash val="solid"/>
          </a:ln>
        </p:spPr>
        <p:txBody>
          <a:bodyPr/>
          <a:lstStyle/>
          <a:p>
            <a:endParaRPr lang="en-US"/>
          </a:p>
        </p:txBody>
      </p:sp>
      <p:sp>
        <p:nvSpPr>
          <p:cNvPr id="18" name="Text 16"/>
          <p:cNvSpPr txBox="1"/>
          <p:nvPr/>
        </p:nvSpPr>
        <p:spPr>
          <a:xfrm>
            <a:off x="8412480" y="1764792"/>
            <a:ext cx="2999232" cy="365760"/>
          </a:xfrm>
          <a:prstGeom prst="rect">
            <a:avLst/>
          </a:prstGeom>
          <a:noFill/>
          <a:ln/>
        </p:spPr>
        <p:txBody>
          <a:bodyPr wrap="square" lIns="0" tIns="0" rIns="0" bIns="0" rtlCol="0" anchor="ctr"/>
          <a:lstStyle/>
          <a:p>
            <a:pPr marL="0" indent="0">
              <a:buNone/>
            </a:pPr>
            <a:r>
              <a:rPr lang="en-US" sz="1500" b="1" dirty="0">
                <a:solidFill>
                  <a:srgbClr val="1E2116"/>
                </a:solidFill>
                <a:latin typeface="Cambria" pitchFamily="34" charset="0"/>
                <a:ea typeface="Cambria" pitchFamily="34" charset="-122"/>
                <a:cs typeface="Cambria" pitchFamily="34" charset="-120"/>
              </a:rPr>
              <a:t>SUPERB's position</a:t>
            </a:r>
            <a:endParaRPr lang="en-US" sz="1500" dirty="0"/>
          </a:p>
        </p:txBody>
      </p:sp>
      <p:sp>
        <p:nvSpPr>
          <p:cNvPr id="19" name="Text 17"/>
          <p:cNvSpPr txBox="1"/>
          <p:nvPr/>
        </p:nvSpPr>
        <p:spPr>
          <a:xfrm>
            <a:off x="8247888" y="2203704"/>
            <a:ext cx="3127248" cy="1499616"/>
          </a:xfrm>
          <a:prstGeom prst="rect">
            <a:avLst/>
          </a:prstGeom>
          <a:noFill/>
          <a:ln/>
        </p:spPr>
        <p:txBody>
          <a:bodyPr wrap="square" lIns="0" tIns="0" rIns="0" bIns="0" rtlCol="0" anchor="t"/>
          <a:lstStyle/>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Targets the direct usability of pre-trained models on popular tasks, spanning both content and non-content aspects, with a downstream training step that is real but deliberately small.</a:t>
            </a:r>
            <a:endParaRPr lang="en-US" sz="1240" dirty="0"/>
          </a:p>
          <a:p>
            <a:pPr marL="0" indent="0">
              <a:lnSpc>
                <a:spcPct val="108000"/>
              </a:lnSpc>
              <a:buNone/>
            </a:pPr>
            <a:endParaRPr lang="en-US" sz="1240" dirty="0"/>
          </a:p>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Between the two extremes, by design.</a:t>
            </a:r>
            <a:endParaRPr lang="en-US" sz="1240" dirty="0"/>
          </a:p>
        </p:txBody>
      </p:sp>
      <p:sp>
        <p:nvSpPr>
          <p:cNvPr id="20" name="Shape 18"/>
          <p:cNvSpPr/>
          <p:nvPr/>
        </p:nvSpPr>
        <p:spPr>
          <a:xfrm>
            <a:off x="566928" y="4078224"/>
            <a:ext cx="11064240" cy="1975104"/>
          </a:xfrm>
          <a:prstGeom prst="roundRect">
            <a:avLst>
              <a:gd name="adj" fmla="val 2778"/>
            </a:avLst>
          </a:prstGeom>
          <a:solidFill>
            <a:srgbClr val="2A2E1E"/>
          </a:solidFill>
          <a:ln w="12700">
            <a:solidFill>
              <a:srgbClr val="2A2E1E"/>
            </a:solidFill>
            <a:prstDash val="solid"/>
          </a:ln>
        </p:spPr>
        <p:txBody>
          <a:bodyPr/>
          <a:lstStyle/>
          <a:p>
            <a:endParaRPr lang="en-US"/>
          </a:p>
        </p:txBody>
      </p:sp>
      <p:sp>
        <p:nvSpPr>
          <p:cNvPr id="21" name="Shape 19"/>
          <p:cNvSpPr/>
          <p:nvPr/>
        </p:nvSpPr>
        <p:spPr>
          <a:xfrm>
            <a:off x="786384" y="4370832"/>
            <a:ext cx="109728" cy="109728"/>
          </a:xfrm>
          <a:prstGeom prst="ellipse">
            <a:avLst/>
          </a:prstGeom>
          <a:solidFill>
            <a:srgbClr val="D9614C"/>
          </a:solidFill>
          <a:ln w="12700">
            <a:solidFill>
              <a:srgbClr val="333333"/>
            </a:solidFill>
            <a:prstDash val="solid"/>
          </a:ln>
        </p:spPr>
        <p:txBody>
          <a:bodyPr/>
          <a:lstStyle/>
          <a:p>
            <a:endParaRPr lang="en-US"/>
          </a:p>
        </p:txBody>
      </p:sp>
      <p:sp>
        <p:nvSpPr>
          <p:cNvPr id="22" name="Text 20"/>
          <p:cNvSpPr txBox="1"/>
          <p:nvPr/>
        </p:nvSpPr>
        <p:spPr>
          <a:xfrm>
            <a:off x="987552" y="4242816"/>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design axis worth naming</a:t>
            </a:r>
            <a:endParaRPr lang="en-US" sz="1500" dirty="0"/>
          </a:p>
        </p:txBody>
      </p:sp>
      <p:sp>
        <p:nvSpPr>
          <p:cNvPr id="23" name="Text 21"/>
          <p:cNvSpPr txBox="1"/>
          <p:nvPr/>
        </p:nvSpPr>
        <p:spPr>
          <a:xfrm>
            <a:off x="822960" y="4681728"/>
            <a:ext cx="10552176" cy="1188720"/>
          </a:xfrm>
          <a:prstGeom prst="rect">
            <a:avLst/>
          </a:prstGeom>
          <a:noFill/>
          <a:ln/>
        </p:spPr>
        <p:txBody>
          <a:bodyPr wrap="square" lIns="0" tIns="0" rIns="0" bIns="0" rtlCol="0" anchor="t"/>
          <a:lstStyle/>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How much downstream learning should a representation benchmark allow? Zero says none. Full fine-tuning says unlimited. Each choice measures something different, and none is obviously right.</a:t>
            </a:r>
            <a:endParaRPr lang="en-US" sz="1300" dirty="0"/>
          </a:p>
          <a:p>
            <a:pPr marL="0" indent="0">
              <a:lnSpc>
                <a:spcPct val="108000"/>
              </a:lnSpc>
              <a:buNone/>
            </a:pPr>
            <a:endParaRPr lang="en-US" sz="1300" dirty="0"/>
          </a:p>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SUPERB picks a middle point — a frozen encoder plus a small trained head — and the interesting question for us is what that specific choice makes visible and what it hides.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2A2E1E"/>
        </a:solidFill>
        <a:effectLst/>
      </p:bgPr>
    </p:bg>
    <p:spTree>
      <p:nvGrpSpPr>
        <p:cNvPr id="1" name=""/>
        <p:cNvGrpSpPr/>
        <p:nvPr/>
      </p:nvGrpSpPr>
      <p:grpSpPr>
        <a:xfrm>
          <a:off x="0" y="0"/>
          <a:ext cx="0" cy="0"/>
          <a:chOff x="0" y="0"/>
          <a:chExt cx="0" cy="0"/>
        </a:xfrm>
      </p:grpSpPr>
      <p:sp>
        <p:nvSpPr>
          <p:cNvPr id="2" name="Shape 0"/>
          <p:cNvSpPr/>
          <p:nvPr/>
        </p:nvSpPr>
        <p:spPr>
          <a:xfrm>
            <a:off x="10607040" y="5303520"/>
            <a:ext cx="804672" cy="137160"/>
          </a:xfrm>
          <a:prstGeom prst="roundRect">
            <a:avLst>
              <a:gd name="adj" fmla="val 13333"/>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0607040" y="5513832"/>
            <a:ext cx="548640" cy="137160"/>
          </a:xfrm>
          <a:prstGeom prst="roundRect">
            <a:avLst>
              <a:gd name="adj" fmla="val 13333"/>
            </a:avLst>
          </a:prstGeom>
          <a:solidFill>
            <a:srgbClr val="D6DCC0"/>
          </a:solidFill>
          <a:ln w="12700">
            <a:solidFill>
              <a:srgbClr val="333333"/>
            </a:solidFill>
            <a:prstDash val="solid"/>
          </a:ln>
        </p:spPr>
        <p:txBody>
          <a:bodyPr/>
          <a:lstStyle/>
          <a:p>
            <a:endParaRPr lang="en-US"/>
          </a:p>
        </p:txBody>
      </p:sp>
      <p:sp>
        <p:nvSpPr>
          <p:cNvPr id="4" name="Shape 2"/>
          <p:cNvSpPr/>
          <p:nvPr/>
        </p:nvSpPr>
        <p:spPr>
          <a:xfrm>
            <a:off x="10607040" y="5724144"/>
            <a:ext cx="329184" cy="137160"/>
          </a:xfrm>
          <a:prstGeom prst="roundRect">
            <a:avLst>
              <a:gd name="adj" fmla="val 13333"/>
            </a:avLst>
          </a:prstGeom>
          <a:solidFill>
            <a:srgbClr val="D6DCC0"/>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D9614C"/>
                </a:solidFill>
                <a:latin typeface="Cambria" pitchFamily="34" charset="0"/>
                <a:ea typeface="Cambria" pitchFamily="34" charset="-122"/>
                <a:cs typeface="Cambria" pitchFamily="34" charset="-120"/>
              </a:rPr>
              <a:t>2</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The ten tasks</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6DCC0"/>
                </a:solidFill>
                <a:latin typeface="Calibri" pitchFamily="34" charset="0"/>
                <a:ea typeface="Calibri" pitchFamily="34" charset="-122"/>
                <a:cs typeface="Calibri" pitchFamily="34" charset="-120"/>
              </a:rPr>
              <a:t>Four aspects of speech, ten conventional evaluations</a:t>
            </a:r>
            <a:endParaRPr lang="en-US" sz="1500" dirty="0"/>
          </a:p>
        </p:txBody>
      </p:sp>
      <p:sp>
        <p:nvSpPr>
          <p:cNvPr id="8" name="Text 6"/>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Ten tasks, four aspects</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The taxonomy that organises the benchmark</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9</a:t>
            </a:r>
            <a:endParaRPr lang="en-US" sz="900" dirty="0"/>
          </a:p>
        </p:txBody>
      </p:sp>
      <p:sp>
        <p:nvSpPr>
          <p:cNvPr id="8" name="Shape 6"/>
          <p:cNvSpPr/>
          <p:nvPr/>
        </p:nvSpPr>
        <p:spPr>
          <a:xfrm>
            <a:off x="566928" y="1572768"/>
            <a:ext cx="2697480" cy="2971800"/>
          </a:xfrm>
          <a:prstGeom prst="roundRect">
            <a:avLst>
              <a:gd name="adj" fmla="val 2034"/>
            </a:avLst>
          </a:prstGeom>
          <a:solidFill>
            <a:srgbClr val="F3F5EC"/>
          </a:solidFill>
          <a:ln w="19050">
            <a:solidFill>
              <a:srgbClr val="5F6B3A"/>
            </a:solidFill>
            <a:prstDash val="solid"/>
          </a:ln>
        </p:spPr>
        <p:txBody>
          <a:bodyPr/>
          <a:lstStyle/>
          <a:p>
            <a:endParaRPr lang="en-US"/>
          </a:p>
        </p:txBody>
      </p:sp>
      <p:sp>
        <p:nvSpPr>
          <p:cNvPr id="9" name="Text 7"/>
          <p:cNvSpPr txBox="1"/>
          <p:nvPr/>
        </p:nvSpPr>
        <p:spPr>
          <a:xfrm>
            <a:off x="804672" y="1792224"/>
            <a:ext cx="2286000" cy="329184"/>
          </a:xfrm>
          <a:prstGeom prst="rect">
            <a:avLst/>
          </a:prstGeom>
          <a:noFill/>
          <a:ln/>
        </p:spPr>
        <p:txBody>
          <a:bodyPr wrap="square" lIns="0" tIns="0" rIns="0" bIns="0" rtlCol="0" anchor="ctr"/>
          <a:lstStyle/>
          <a:p>
            <a:pPr marL="0" indent="0">
              <a:buNone/>
            </a:pPr>
            <a:r>
              <a:rPr lang="en-US" sz="1700" b="1" dirty="0">
                <a:solidFill>
                  <a:srgbClr val="5F6B3A"/>
                </a:solidFill>
                <a:latin typeface="Cambria" pitchFamily="34" charset="0"/>
                <a:ea typeface="Cambria" pitchFamily="34" charset="-122"/>
                <a:cs typeface="Cambria" pitchFamily="34" charset="-120"/>
              </a:rPr>
              <a:t>Content</a:t>
            </a:r>
            <a:endParaRPr lang="en-US" sz="1700" dirty="0"/>
          </a:p>
        </p:txBody>
      </p:sp>
      <p:sp>
        <p:nvSpPr>
          <p:cNvPr id="10" name="Shape 8"/>
          <p:cNvSpPr/>
          <p:nvPr/>
        </p:nvSpPr>
        <p:spPr>
          <a:xfrm>
            <a:off x="822960" y="2359152"/>
            <a:ext cx="100584" cy="100584"/>
          </a:xfrm>
          <a:prstGeom prst="ellipse">
            <a:avLst/>
          </a:prstGeom>
          <a:solidFill>
            <a:srgbClr val="5F6B3A"/>
          </a:solidFill>
          <a:ln w="12700">
            <a:solidFill>
              <a:srgbClr val="333333"/>
            </a:solidFill>
            <a:prstDash val="solid"/>
          </a:ln>
        </p:spPr>
        <p:txBody>
          <a:bodyPr/>
          <a:lstStyle/>
          <a:p>
            <a:endParaRPr lang="en-US"/>
          </a:p>
        </p:txBody>
      </p:sp>
      <p:sp>
        <p:nvSpPr>
          <p:cNvPr id="11" name="Text 9"/>
          <p:cNvSpPr txBox="1"/>
          <p:nvPr/>
        </p:nvSpPr>
        <p:spPr>
          <a:xfrm>
            <a:off x="1024128" y="2286000"/>
            <a:ext cx="2103120" cy="457200"/>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PR — phoneme recognition</a:t>
            </a:r>
            <a:endParaRPr lang="en-US" sz="1180" dirty="0"/>
          </a:p>
        </p:txBody>
      </p:sp>
      <p:sp>
        <p:nvSpPr>
          <p:cNvPr id="12" name="Shape 10"/>
          <p:cNvSpPr/>
          <p:nvPr/>
        </p:nvSpPr>
        <p:spPr>
          <a:xfrm>
            <a:off x="822960" y="2871216"/>
            <a:ext cx="100584" cy="100584"/>
          </a:xfrm>
          <a:prstGeom prst="ellipse">
            <a:avLst/>
          </a:prstGeom>
          <a:solidFill>
            <a:srgbClr val="5F6B3A"/>
          </a:solidFill>
          <a:ln w="12700">
            <a:solidFill>
              <a:srgbClr val="333333"/>
            </a:solidFill>
            <a:prstDash val="solid"/>
          </a:ln>
        </p:spPr>
        <p:txBody>
          <a:bodyPr/>
          <a:lstStyle/>
          <a:p>
            <a:endParaRPr lang="en-US"/>
          </a:p>
        </p:txBody>
      </p:sp>
      <p:sp>
        <p:nvSpPr>
          <p:cNvPr id="13" name="Text 11"/>
          <p:cNvSpPr txBox="1"/>
          <p:nvPr/>
        </p:nvSpPr>
        <p:spPr>
          <a:xfrm>
            <a:off x="1024128" y="2798064"/>
            <a:ext cx="2103120" cy="457200"/>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ASR — speech recognition</a:t>
            </a:r>
            <a:endParaRPr lang="en-US" sz="1180" dirty="0"/>
          </a:p>
        </p:txBody>
      </p:sp>
      <p:sp>
        <p:nvSpPr>
          <p:cNvPr id="14" name="Shape 12"/>
          <p:cNvSpPr/>
          <p:nvPr/>
        </p:nvSpPr>
        <p:spPr>
          <a:xfrm>
            <a:off x="822960" y="3383280"/>
            <a:ext cx="100584" cy="100584"/>
          </a:xfrm>
          <a:prstGeom prst="ellipse">
            <a:avLst/>
          </a:prstGeom>
          <a:solidFill>
            <a:srgbClr val="5F6B3A"/>
          </a:solidFill>
          <a:ln w="12700">
            <a:solidFill>
              <a:srgbClr val="333333"/>
            </a:solidFill>
            <a:prstDash val="solid"/>
          </a:ln>
        </p:spPr>
        <p:txBody>
          <a:bodyPr/>
          <a:lstStyle/>
          <a:p>
            <a:endParaRPr lang="en-US"/>
          </a:p>
        </p:txBody>
      </p:sp>
      <p:sp>
        <p:nvSpPr>
          <p:cNvPr id="15" name="Text 13"/>
          <p:cNvSpPr txBox="1"/>
          <p:nvPr/>
        </p:nvSpPr>
        <p:spPr>
          <a:xfrm>
            <a:off x="1024128" y="3310128"/>
            <a:ext cx="2103120" cy="457200"/>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KS — keyword spotting</a:t>
            </a:r>
            <a:endParaRPr lang="en-US" sz="1180" dirty="0"/>
          </a:p>
        </p:txBody>
      </p:sp>
      <p:sp>
        <p:nvSpPr>
          <p:cNvPr id="16" name="Shape 14"/>
          <p:cNvSpPr/>
          <p:nvPr/>
        </p:nvSpPr>
        <p:spPr>
          <a:xfrm>
            <a:off x="822960" y="3895344"/>
            <a:ext cx="100584" cy="100584"/>
          </a:xfrm>
          <a:prstGeom prst="ellipse">
            <a:avLst/>
          </a:prstGeom>
          <a:solidFill>
            <a:srgbClr val="5F6B3A"/>
          </a:solidFill>
          <a:ln w="12700">
            <a:solidFill>
              <a:srgbClr val="333333"/>
            </a:solidFill>
            <a:prstDash val="solid"/>
          </a:ln>
        </p:spPr>
        <p:txBody>
          <a:bodyPr/>
          <a:lstStyle/>
          <a:p>
            <a:endParaRPr lang="en-US"/>
          </a:p>
        </p:txBody>
      </p:sp>
      <p:sp>
        <p:nvSpPr>
          <p:cNvPr id="17" name="Text 15"/>
          <p:cNvSpPr txBox="1"/>
          <p:nvPr/>
        </p:nvSpPr>
        <p:spPr>
          <a:xfrm>
            <a:off x="1024128" y="3822192"/>
            <a:ext cx="2103120" cy="457200"/>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QbE — query by example</a:t>
            </a:r>
            <a:endParaRPr lang="en-US" sz="1180" dirty="0"/>
          </a:p>
        </p:txBody>
      </p:sp>
      <p:sp>
        <p:nvSpPr>
          <p:cNvPr id="18" name="Shape 16"/>
          <p:cNvSpPr/>
          <p:nvPr/>
        </p:nvSpPr>
        <p:spPr>
          <a:xfrm>
            <a:off x="3392424" y="1572768"/>
            <a:ext cx="2697480" cy="2971800"/>
          </a:xfrm>
          <a:prstGeom prst="roundRect">
            <a:avLst>
              <a:gd name="adj" fmla="val 2034"/>
            </a:avLst>
          </a:prstGeom>
          <a:solidFill>
            <a:srgbClr val="F3F5EC"/>
          </a:solidFill>
          <a:ln w="19050">
            <a:solidFill>
              <a:srgbClr val="D9614C"/>
            </a:solidFill>
            <a:prstDash val="solid"/>
          </a:ln>
        </p:spPr>
        <p:txBody>
          <a:bodyPr/>
          <a:lstStyle/>
          <a:p>
            <a:endParaRPr lang="en-US"/>
          </a:p>
        </p:txBody>
      </p:sp>
      <p:sp>
        <p:nvSpPr>
          <p:cNvPr id="19" name="Text 17"/>
          <p:cNvSpPr txBox="1"/>
          <p:nvPr/>
        </p:nvSpPr>
        <p:spPr>
          <a:xfrm>
            <a:off x="3630168" y="1792224"/>
            <a:ext cx="2286000" cy="329184"/>
          </a:xfrm>
          <a:prstGeom prst="rect">
            <a:avLst/>
          </a:prstGeom>
          <a:noFill/>
          <a:ln/>
        </p:spPr>
        <p:txBody>
          <a:bodyPr wrap="square" lIns="0" tIns="0" rIns="0" bIns="0" rtlCol="0" anchor="ctr"/>
          <a:lstStyle/>
          <a:p>
            <a:pPr marL="0" indent="0">
              <a:buNone/>
            </a:pPr>
            <a:r>
              <a:rPr lang="en-US" sz="1700" b="1" dirty="0">
                <a:solidFill>
                  <a:srgbClr val="D9614C"/>
                </a:solidFill>
                <a:latin typeface="Cambria" pitchFamily="34" charset="0"/>
                <a:ea typeface="Cambria" pitchFamily="34" charset="-122"/>
                <a:cs typeface="Cambria" pitchFamily="34" charset="-120"/>
              </a:rPr>
              <a:t>Speaker</a:t>
            </a:r>
            <a:endParaRPr lang="en-US" sz="1700" dirty="0"/>
          </a:p>
        </p:txBody>
      </p:sp>
      <p:sp>
        <p:nvSpPr>
          <p:cNvPr id="20" name="Shape 18"/>
          <p:cNvSpPr/>
          <p:nvPr/>
        </p:nvSpPr>
        <p:spPr>
          <a:xfrm>
            <a:off x="3648456" y="2359152"/>
            <a:ext cx="100584" cy="100584"/>
          </a:xfrm>
          <a:prstGeom prst="ellipse">
            <a:avLst/>
          </a:prstGeom>
          <a:solidFill>
            <a:srgbClr val="D9614C"/>
          </a:solidFill>
          <a:ln w="12700">
            <a:solidFill>
              <a:srgbClr val="333333"/>
            </a:solidFill>
            <a:prstDash val="solid"/>
          </a:ln>
        </p:spPr>
        <p:txBody>
          <a:bodyPr/>
          <a:lstStyle/>
          <a:p>
            <a:endParaRPr lang="en-US"/>
          </a:p>
        </p:txBody>
      </p:sp>
      <p:sp>
        <p:nvSpPr>
          <p:cNvPr id="21" name="Text 19"/>
          <p:cNvSpPr txBox="1"/>
          <p:nvPr/>
        </p:nvSpPr>
        <p:spPr>
          <a:xfrm>
            <a:off x="3849624" y="2286000"/>
            <a:ext cx="2103120" cy="457200"/>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SID — speaker identification</a:t>
            </a:r>
            <a:endParaRPr lang="en-US" sz="1180" dirty="0"/>
          </a:p>
        </p:txBody>
      </p:sp>
      <p:sp>
        <p:nvSpPr>
          <p:cNvPr id="22" name="Shape 20"/>
          <p:cNvSpPr/>
          <p:nvPr/>
        </p:nvSpPr>
        <p:spPr>
          <a:xfrm>
            <a:off x="3648456" y="2871216"/>
            <a:ext cx="100584" cy="100584"/>
          </a:xfrm>
          <a:prstGeom prst="ellipse">
            <a:avLst/>
          </a:prstGeom>
          <a:solidFill>
            <a:srgbClr val="D9614C"/>
          </a:solidFill>
          <a:ln w="12700">
            <a:solidFill>
              <a:srgbClr val="333333"/>
            </a:solidFill>
            <a:prstDash val="solid"/>
          </a:ln>
        </p:spPr>
        <p:txBody>
          <a:bodyPr/>
          <a:lstStyle/>
          <a:p>
            <a:endParaRPr lang="en-US"/>
          </a:p>
        </p:txBody>
      </p:sp>
      <p:sp>
        <p:nvSpPr>
          <p:cNvPr id="23" name="Text 21"/>
          <p:cNvSpPr txBox="1"/>
          <p:nvPr/>
        </p:nvSpPr>
        <p:spPr>
          <a:xfrm>
            <a:off x="3849624" y="2798064"/>
            <a:ext cx="2103120" cy="457200"/>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ASV — speaker verification</a:t>
            </a:r>
            <a:endParaRPr lang="en-US" sz="1180" dirty="0"/>
          </a:p>
        </p:txBody>
      </p:sp>
      <p:sp>
        <p:nvSpPr>
          <p:cNvPr id="24" name="Shape 22"/>
          <p:cNvSpPr/>
          <p:nvPr/>
        </p:nvSpPr>
        <p:spPr>
          <a:xfrm>
            <a:off x="3648456" y="3383280"/>
            <a:ext cx="100584" cy="100584"/>
          </a:xfrm>
          <a:prstGeom prst="ellipse">
            <a:avLst/>
          </a:prstGeom>
          <a:solidFill>
            <a:srgbClr val="D9614C"/>
          </a:solidFill>
          <a:ln w="12700">
            <a:solidFill>
              <a:srgbClr val="333333"/>
            </a:solidFill>
            <a:prstDash val="solid"/>
          </a:ln>
        </p:spPr>
        <p:txBody>
          <a:bodyPr/>
          <a:lstStyle/>
          <a:p>
            <a:endParaRPr lang="en-US"/>
          </a:p>
        </p:txBody>
      </p:sp>
      <p:sp>
        <p:nvSpPr>
          <p:cNvPr id="25" name="Text 23"/>
          <p:cNvSpPr txBox="1"/>
          <p:nvPr/>
        </p:nvSpPr>
        <p:spPr>
          <a:xfrm>
            <a:off x="3849624" y="3310128"/>
            <a:ext cx="2103120" cy="457200"/>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SD — speaker diarisation</a:t>
            </a:r>
            <a:endParaRPr lang="en-US" sz="1180" dirty="0"/>
          </a:p>
        </p:txBody>
      </p:sp>
      <p:sp>
        <p:nvSpPr>
          <p:cNvPr id="26" name="Shape 24"/>
          <p:cNvSpPr/>
          <p:nvPr/>
        </p:nvSpPr>
        <p:spPr>
          <a:xfrm>
            <a:off x="6217920" y="1572768"/>
            <a:ext cx="2697480" cy="2971800"/>
          </a:xfrm>
          <a:prstGeom prst="roundRect">
            <a:avLst>
              <a:gd name="adj" fmla="val 2034"/>
            </a:avLst>
          </a:prstGeom>
          <a:solidFill>
            <a:srgbClr val="F3F5EC"/>
          </a:solidFill>
          <a:ln w="19050">
            <a:solidFill>
              <a:srgbClr val="5F6B3A"/>
            </a:solidFill>
            <a:prstDash val="solid"/>
          </a:ln>
        </p:spPr>
        <p:txBody>
          <a:bodyPr/>
          <a:lstStyle/>
          <a:p>
            <a:endParaRPr lang="en-US"/>
          </a:p>
        </p:txBody>
      </p:sp>
      <p:sp>
        <p:nvSpPr>
          <p:cNvPr id="27" name="Text 25"/>
          <p:cNvSpPr txBox="1"/>
          <p:nvPr/>
        </p:nvSpPr>
        <p:spPr>
          <a:xfrm>
            <a:off x="6455664" y="1792224"/>
            <a:ext cx="2286000" cy="329184"/>
          </a:xfrm>
          <a:prstGeom prst="rect">
            <a:avLst/>
          </a:prstGeom>
          <a:noFill/>
          <a:ln/>
        </p:spPr>
        <p:txBody>
          <a:bodyPr wrap="square" lIns="0" tIns="0" rIns="0" bIns="0" rtlCol="0" anchor="ctr"/>
          <a:lstStyle/>
          <a:p>
            <a:pPr marL="0" indent="0">
              <a:buNone/>
            </a:pPr>
            <a:r>
              <a:rPr lang="en-US" sz="1700" b="1" dirty="0">
                <a:solidFill>
                  <a:srgbClr val="5F6B3A"/>
                </a:solidFill>
                <a:latin typeface="Cambria" pitchFamily="34" charset="0"/>
                <a:ea typeface="Cambria" pitchFamily="34" charset="-122"/>
                <a:cs typeface="Cambria" pitchFamily="34" charset="-120"/>
              </a:rPr>
              <a:t>Semantics</a:t>
            </a:r>
            <a:endParaRPr lang="en-US" sz="1700" dirty="0"/>
          </a:p>
        </p:txBody>
      </p:sp>
      <p:sp>
        <p:nvSpPr>
          <p:cNvPr id="28" name="Shape 26"/>
          <p:cNvSpPr/>
          <p:nvPr/>
        </p:nvSpPr>
        <p:spPr>
          <a:xfrm>
            <a:off x="6473952" y="2359152"/>
            <a:ext cx="100584" cy="100584"/>
          </a:xfrm>
          <a:prstGeom prst="ellipse">
            <a:avLst/>
          </a:prstGeom>
          <a:solidFill>
            <a:srgbClr val="5F6B3A"/>
          </a:solidFill>
          <a:ln w="12700">
            <a:solidFill>
              <a:srgbClr val="333333"/>
            </a:solidFill>
            <a:prstDash val="solid"/>
          </a:ln>
        </p:spPr>
        <p:txBody>
          <a:bodyPr/>
          <a:lstStyle/>
          <a:p>
            <a:endParaRPr lang="en-US"/>
          </a:p>
        </p:txBody>
      </p:sp>
      <p:sp>
        <p:nvSpPr>
          <p:cNvPr id="29" name="Text 27"/>
          <p:cNvSpPr txBox="1"/>
          <p:nvPr/>
        </p:nvSpPr>
        <p:spPr>
          <a:xfrm>
            <a:off x="6675120" y="2286000"/>
            <a:ext cx="2103120" cy="457200"/>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IC — intent classification</a:t>
            </a:r>
            <a:endParaRPr lang="en-US" sz="1180" dirty="0"/>
          </a:p>
        </p:txBody>
      </p:sp>
      <p:sp>
        <p:nvSpPr>
          <p:cNvPr id="30" name="Shape 28"/>
          <p:cNvSpPr/>
          <p:nvPr/>
        </p:nvSpPr>
        <p:spPr>
          <a:xfrm>
            <a:off x="6473952" y="2871216"/>
            <a:ext cx="100584" cy="100584"/>
          </a:xfrm>
          <a:prstGeom prst="ellipse">
            <a:avLst/>
          </a:prstGeom>
          <a:solidFill>
            <a:srgbClr val="5F6B3A"/>
          </a:solidFill>
          <a:ln w="12700">
            <a:solidFill>
              <a:srgbClr val="333333"/>
            </a:solidFill>
            <a:prstDash val="solid"/>
          </a:ln>
        </p:spPr>
        <p:txBody>
          <a:bodyPr/>
          <a:lstStyle/>
          <a:p>
            <a:endParaRPr lang="en-US"/>
          </a:p>
        </p:txBody>
      </p:sp>
      <p:sp>
        <p:nvSpPr>
          <p:cNvPr id="31" name="Text 29"/>
          <p:cNvSpPr txBox="1"/>
          <p:nvPr/>
        </p:nvSpPr>
        <p:spPr>
          <a:xfrm>
            <a:off x="6675120" y="2798064"/>
            <a:ext cx="2103120" cy="457200"/>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SF — slot filling</a:t>
            </a:r>
            <a:endParaRPr lang="en-US" sz="1180" dirty="0"/>
          </a:p>
        </p:txBody>
      </p:sp>
      <p:sp>
        <p:nvSpPr>
          <p:cNvPr id="32" name="Shape 30"/>
          <p:cNvSpPr/>
          <p:nvPr/>
        </p:nvSpPr>
        <p:spPr>
          <a:xfrm>
            <a:off x="9043416" y="1572768"/>
            <a:ext cx="2697480" cy="2971800"/>
          </a:xfrm>
          <a:prstGeom prst="roundRect">
            <a:avLst>
              <a:gd name="adj" fmla="val 2034"/>
            </a:avLst>
          </a:prstGeom>
          <a:solidFill>
            <a:srgbClr val="F3F5EC"/>
          </a:solidFill>
          <a:ln w="19050">
            <a:solidFill>
              <a:srgbClr val="D9614C"/>
            </a:solidFill>
            <a:prstDash val="solid"/>
          </a:ln>
        </p:spPr>
        <p:txBody>
          <a:bodyPr/>
          <a:lstStyle/>
          <a:p>
            <a:endParaRPr lang="en-US"/>
          </a:p>
        </p:txBody>
      </p:sp>
      <p:sp>
        <p:nvSpPr>
          <p:cNvPr id="33" name="Text 31"/>
          <p:cNvSpPr txBox="1"/>
          <p:nvPr/>
        </p:nvSpPr>
        <p:spPr>
          <a:xfrm>
            <a:off x="9281160" y="1792224"/>
            <a:ext cx="2286000" cy="329184"/>
          </a:xfrm>
          <a:prstGeom prst="rect">
            <a:avLst/>
          </a:prstGeom>
          <a:noFill/>
          <a:ln/>
        </p:spPr>
        <p:txBody>
          <a:bodyPr wrap="square" lIns="0" tIns="0" rIns="0" bIns="0" rtlCol="0" anchor="ctr"/>
          <a:lstStyle/>
          <a:p>
            <a:pPr marL="0" indent="0">
              <a:buNone/>
            </a:pPr>
            <a:r>
              <a:rPr lang="en-US" sz="1700" b="1" dirty="0">
                <a:solidFill>
                  <a:srgbClr val="D9614C"/>
                </a:solidFill>
                <a:latin typeface="Cambria" pitchFamily="34" charset="0"/>
                <a:ea typeface="Cambria" pitchFamily="34" charset="-122"/>
                <a:cs typeface="Cambria" pitchFamily="34" charset="-120"/>
              </a:rPr>
              <a:t>Paralinguistics</a:t>
            </a:r>
            <a:endParaRPr lang="en-US" sz="1700" dirty="0"/>
          </a:p>
        </p:txBody>
      </p:sp>
      <p:sp>
        <p:nvSpPr>
          <p:cNvPr id="34" name="Shape 32"/>
          <p:cNvSpPr/>
          <p:nvPr/>
        </p:nvSpPr>
        <p:spPr>
          <a:xfrm>
            <a:off x="9299448" y="2359152"/>
            <a:ext cx="100584" cy="100584"/>
          </a:xfrm>
          <a:prstGeom prst="ellipse">
            <a:avLst/>
          </a:prstGeom>
          <a:solidFill>
            <a:srgbClr val="D9614C"/>
          </a:solidFill>
          <a:ln w="12700">
            <a:solidFill>
              <a:srgbClr val="333333"/>
            </a:solidFill>
            <a:prstDash val="solid"/>
          </a:ln>
        </p:spPr>
        <p:txBody>
          <a:bodyPr/>
          <a:lstStyle/>
          <a:p>
            <a:endParaRPr lang="en-US"/>
          </a:p>
        </p:txBody>
      </p:sp>
      <p:sp>
        <p:nvSpPr>
          <p:cNvPr id="35" name="Text 33"/>
          <p:cNvSpPr txBox="1"/>
          <p:nvPr/>
        </p:nvSpPr>
        <p:spPr>
          <a:xfrm>
            <a:off x="9500616" y="2286000"/>
            <a:ext cx="2103120" cy="457200"/>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ER — emotion recognition</a:t>
            </a:r>
            <a:endParaRPr lang="en-US" sz="1180" dirty="0"/>
          </a:p>
        </p:txBody>
      </p:sp>
      <p:sp>
        <p:nvSpPr>
          <p:cNvPr id="36" name="Shape 34"/>
          <p:cNvSpPr/>
          <p:nvPr/>
        </p:nvSpPr>
        <p:spPr>
          <a:xfrm>
            <a:off x="566928" y="4791456"/>
            <a:ext cx="11064240" cy="1261872"/>
          </a:xfrm>
          <a:prstGeom prst="roundRect">
            <a:avLst>
              <a:gd name="adj" fmla="val 4348"/>
            </a:avLst>
          </a:prstGeom>
          <a:solidFill>
            <a:srgbClr val="2A2E1E"/>
          </a:solidFill>
          <a:ln w="12700">
            <a:solidFill>
              <a:srgbClr val="2A2E1E"/>
            </a:solidFill>
            <a:prstDash val="solid"/>
          </a:ln>
        </p:spPr>
        <p:txBody>
          <a:bodyPr/>
          <a:lstStyle/>
          <a:p>
            <a:endParaRPr lang="en-US"/>
          </a:p>
        </p:txBody>
      </p:sp>
      <p:sp>
        <p:nvSpPr>
          <p:cNvPr id="37" name="Shape 35"/>
          <p:cNvSpPr/>
          <p:nvPr/>
        </p:nvSpPr>
        <p:spPr>
          <a:xfrm>
            <a:off x="786384" y="5084064"/>
            <a:ext cx="109728" cy="109728"/>
          </a:xfrm>
          <a:prstGeom prst="ellipse">
            <a:avLst/>
          </a:prstGeom>
          <a:solidFill>
            <a:srgbClr val="D9614C"/>
          </a:solidFill>
          <a:ln w="12700">
            <a:solidFill>
              <a:srgbClr val="333333"/>
            </a:solidFill>
            <a:prstDash val="solid"/>
          </a:ln>
        </p:spPr>
        <p:txBody>
          <a:bodyPr/>
          <a:lstStyle/>
          <a:p>
            <a:endParaRPr lang="en-US"/>
          </a:p>
        </p:txBody>
      </p:sp>
      <p:sp>
        <p:nvSpPr>
          <p:cNvPr id="38" name="Text 36"/>
          <p:cNvSpPr txBox="1"/>
          <p:nvPr/>
        </p:nvSpPr>
        <p:spPr>
          <a:xfrm>
            <a:off x="987552" y="495604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Notice the shape of this table</a:t>
            </a:r>
            <a:endParaRPr lang="en-US" sz="1500" dirty="0"/>
          </a:p>
        </p:txBody>
      </p:sp>
      <p:sp>
        <p:nvSpPr>
          <p:cNvPr id="39" name="Text 37"/>
          <p:cNvSpPr txBox="1"/>
          <p:nvPr/>
        </p:nvSpPr>
        <p:spPr>
          <a:xfrm>
            <a:off x="822960" y="5394960"/>
            <a:ext cx="10552176" cy="475488"/>
          </a:xfrm>
          <a:prstGeom prst="rect">
            <a:avLst/>
          </a:prstGeom>
          <a:noFill/>
          <a:ln/>
        </p:spPr>
        <p:txBody>
          <a:bodyPr wrap="square" lIns="0" tIns="0" rIns="0" bIns="0" rtlCol="0" anchor="t"/>
          <a:lstStyle/>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Four tasks for content, three for speaker, two for semantics — and one for paralinguistics. The benchmark is weighted four to one toward what is said over how it is said, and the single paralinguistic task is IEMOCAP four-class emotion recognition.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Content tasks</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Four tasks, two communities — transcribe, and detect</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10</a:t>
            </a:r>
            <a:endParaRPr lang="en-US" sz="900" dirty="0"/>
          </a:p>
        </p:txBody>
      </p:sp>
      <p:sp>
        <p:nvSpPr>
          <p:cNvPr id="8" name="Shape 6"/>
          <p:cNvSpPr/>
          <p:nvPr/>
        </p:nvSpPr>
        <p:spPr>
          <a:xfrm>
            <a:off x="566928" y="1554480"/>
            <a:ext cx="11064240" cy="1042416"/>
          </a:xfrm>
          <a:prstGeom prst="roundRect">
            <a:avLst>
              <a:gd name="adj" fmla="val 2632"/>
            </a:avLst>
          </a:prstGeom>
          <a:solidFill>
            <a:srgbClr val="F3F5EC"/>
          </a:solidFill>
          <a:ln w="12700">
            <a:solidFill>
              <a:srgbClr val="E9EDE1"/>
            </a:solidFill>
            <a:prstDash val="solid"/>
          </a:ln>
        </p:spPr>
        <p:txBody>
          <a:bodyPr/>
          <a:lstStyle/>
          <a:p>
            <a:endParaRPr lang="en-US"/>
          </a:p>
        </p:txBody>
      </p:sp>
      <p:sp>
        <p:nvSpPr>
          <p:cNvPr id="9" name="Shape 7"/>
          <p:cNvSpPr/>
          <p:nvPr/>
        </p:nvSpPr>
        <p:spPr>
          <a:xfrm>
            <a:off x="786384" y="2016252"/>
            <a:ext cx="118872" cy="118872"/>
          </a:xfrm>
          <a:prstGeom prst="ellipse">
            <a:avLst/>
          </a:prstGeom>
          <a:solidFill>
            <a:srgbClr val="5F6B3A"/>
          </a:solidFill>
          <a:ln w="12700">
            <a:solidFill>
              <a:srgbClr val="333333"/>
            </a:solidFill>
            <a:prstDash val="solid"/>
          </a:ln>
        </p:spPr>
        <p:txBody>
          <a:bodyPr/>
          <a:lstStyle/>
          <a:p>
            <a:endParaRPr lang="en-US"/>
          </a:p>
        </p:txBody>
      </p:sp>
      <p:sp>
        <p:nvSpPr>
          <p:cNvPr id="10" name="Text 8"/>
          <p:cNvSpPr txBox="1"/>
          <p:nvPr/>
        </p:nvSpPr>
        <p:spPr>
          <a:xfrm>
            <a:off x="1024128" y="1645920"/>
            <a:ext cx="3017520" cy="859536"/>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PR  ·  phoneme recognition</a:t>
            </a:r>
            <a:endParaRPr lang="en-US" sz="1300" dirty="0"/>
          </a:p>
        </p:txBody>
      </p:sp>
      <p:sp>
        <p:nvSpPr>
          <p:cNvPr id="11" name="Text 9"/>
          <p:cNvSpPr txBox="1"/>
          <p:nvPr/>
        </p:nvSpPr>
        <p:spPr>
          <a:xfrm>
            <a:off x="4224528" y="1627632"/>
            <a:ext cx="7223760" cy="896112"/>
          </a:xfrm>
          <a:prstGeom prst="rect">
            <a:avLst/>
          </a:prstGeom>
          <a:noFill/>
          <a:ln/>
        </p:spPr>
        <p:txBody>
          <a:bodyPr wrap="square" lIns="0" tIns="0" rIns="0" bIns="0" rtlCol="0" anchor="ctr"/>
          <a:lstStyle/>
          <a:p>
            <a:pPr marL="0" indent="0">
              <a:buNone/>
            </a:pPr>
            <a:r>
              <a:rPr lang="en-US" sz="1220" dirty="0">
                <a:solidFill>
                  <a:srgbClr val="323726"/>
                </a:solidFill>
                <a:latin typeface="Calibri" pitchFamily="34" charset="0"/>
                <a:ea typeface="Calibri" pitchFamily="34" charset="-122"/>
                <a:cs typeface="Calibri" pitchFamily="34" charset="-120"/>
              </a:rPr>
              <a:t>Transcribe an utterance into the smallest content units. Alignment modelling is included in the task to avoid relying on potentially inaccurate forced alignment. LibriSpeech train-clean-100, dev-clean, test-clean. Metric: phone error rate.</a:t>
            </a:r>
            <a:endParaRPr lang="en-US" sz="1220" dirty="0"/>
          </a:p>
        </p:txBody>
      </p:sp>
      <p:sp>
        <p:nvSpPr>
          <p:cNvPr id="12" name="Shape 10"/>
          <p:cNvSpPr/>
          <p:nvPr/>
        </p:nvSpPr>
        <p:spPr>
          <a:xfrm>
            <a:off x="566928" y="2651760"/>
            <a:ext cx="11064240" cy="1042416"/>
          </a:xfrm>
          <a:prstGeom prst="roundRect">
            <a:avLst>
              <a:gd name="adj" fmla="val 2632"/>
            </a:avLst>
          </a:prstGeom>
          <a:solidFill>
            <a:srgbClr val="FFFFFF"/>
          </a:solidFill>
          <a:ln w="12700">
            <a:solidFill>
              <a:srgbClr val="E9EDE1"/>
            </a:solidFill>
            <a:prstDash val="solid"/>
          </a:ln>
        </p:spPr>
        <p:txBody>
          <a:bodyPr/>
          <a:lstStyle/>
          <a:p>
            <a:endParaRPr lang="en-US"/>
          </a:p>
        </p:txBody>
      </p:sp>
      <p:sp>
        <p:nvSpPr>
          <p:cNvPr id="13" name="Shape 11"/>
          <p:cNvSpPr/>
          <p:nvPr/>
        </p:nvSpPr>
        <p:spPr>
          <a:xfrm>
            <a:off x="786384" y="3113532"/>
            <a:ext cx="118872" cy="118872"/>
          </a:xfrm>
          <a:prstGeom prst="ellipse">
            <a:avLst/>
          </a:prstGeom>
          <a:solidFill>
            <a:srgbClr val="5F6B3A"/>
          </a:solidFill>
          <a:ln w="12700">
            <a:solidFill>
              <a:srgbClr val="333333"/>
            </a:solidFill>
            <a:prstDash val="solid"/>
          </a:ln>
        </p:spPr>
        <p:txBody>
          <a:bodyPr/>
          <a:lstStyle/>
          <a:p>
            <a:endParaRPr lang="en-US"/>
          </a:p>
        </p:txBody>
      </p:sp>
      <p:sp>
        <p:nvSpPr>
          <p:cNvPr id="14" name="Text 12"/>
          <p:cNvSpPr txBox="1"/>
          <p:nvPr/>
        </p:nvSpPr>
        <p:spPr>
          <a:xfrm>
            <a:off x="1024128" y="2743200"/>
            <a:ext cx="3017520" cy="859536"/>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ASR  ·  speech recognition</a:t>
            </a:r>
            <a:endParaRPr lang="en-US" sz="1300" dirty="0"/>
          </a:p>
        </p:txBody>
      </p:sp>
      <p:sp>
        <p:nvSpPr>
          <p:cNvPr id="15" name="Text 13"/>
          <p:cNvSpPr txBox="1"/>
          <p:nvPr/>
        </p:nvSpPr>
        <p:spPr>
          <a:xfrm>
            <a:off x="4224528" y="2724912"/>
            <a:ext cx="7223760" cy="896112"/>
          </a:xfrm>
          <a:prstGeom prst="rect">
            <a:avLst/>
          </a:prstGeom>
          <a:noFill/>
          <a:ln/>
        </p:spPr>
        <p:txBody>
          <a:bodyPr wrap="square" lIns="0" tIns="0" rIns="0" bIns="0" rtlCol="0" anchor="ctr"/>
          <a:lstStyle/>
          <a:p>
            <a:pPr marL="0" indent="0">
              <a:buNone/>
            </a:pPr>
            <a:r>
              <a:rPr lang="en-US" sz="1220" dirty="0">
                <a:solidFill>
                  <a:srgbClr val="323726"/>
                </a:solidFill>
                <a:latin typeface="Calibri" pitchFamily="34" charset="0"/>
                <a:ea typeface="Calibri" pitchFamily="34" charset="-122"/>
                <a:cs typeface="Calibri" pitchFamily="34" charset="-120"/>
              </a:rPr>
              <a:t>Transcribe into words. Where PR analyses improvement in modelling phonetics, ASR reflects whether that improvement matters in a real scenario. Same LibriSpeech splits. Metric: word error rate.</a:t>
            </a:r>
            <a:endParaRPr lang="en-US" sz="1220" dirty="0"/>
          </a:p>
        </p:txBody>
      </p:sp>
      <p:sp>
        <p:nvSpPr>
          <p:cNvPr id="16" name="Shape 14"/>
          <p:cNvSpPr/>
          <p:nvPr/>
        </p:nvSpPr>
        <p:spPr>
          <a:xfrm>
            <a:off x="566928" y="3749040"/>
            <a:ext cx="11064240" cy="1042416"/>
          </a:xfrm>
          <a:prstGeom prst="roundRect">
            <a:avLst>
              <a:gd name="adj" fmla="val 2632"/>
            </a:avLst>
          </a:prstGeom>
          <a:solidFill>
            <a:srgbClr val="F3F5EC"/>
          </a:solidFill>
          <a:ln w="12700">
            <a:solidFill>
              <a:srgbClr val="E9EDE1"/>
            </a:solidFill>
            <a:prstDash val="solid"/>
          </a:ln>
        </p:spPr>
        <p:txBody>
          <a:bodyPr/>
          <a:lstStyle/>
          <a:p>
            <a:endParaRPr lang="en-US"/>
          </a:p>
        </p:txBody>
      </p:sp>
      <p:sp>
        <p:nvSpPr>
          <p:cNvPr id="17" name="Shape 15"/>
          <p:cNvSpPr/>
          <p:nvPr/>
        </p:nvSpPr>
        <p:spPr>
          <a:xfrm>
            <a:off x="786384" y="4210812"/>
            <a:ext cx="118872" cy="118872"/>
          </a:xfrm>
          <a:prstGeom prst="ellipse">
            <a:avLst/>
          </a:prstGeom>
          <a:solidFill>
            <a:srgbClr val="5F6B3A"/>
          </a:solidFill>
          <a:ln w="12700">
            <a:solidFill>
              <a:srgbClr val="333333"/>
            </a:solidFill>
            <a:prstDash val="solid"/>
          </a:ln>
        </p:spPr>
        <p:txBody>
          <a:bodyPr/>
          <a:lstStyle/>
          <a:p>
            <a:endParaRPr lang="en-US"/>
          </a:p>
        </p:txBody>
      </p:sp>
      <p:sp>
        <p:nvSpPr>
          <p:cNvPr id="18" name="Text 16"/>
          <p:cNvSpPr txBox="1"/>
          <p:nvPr/>
        </p:nvSpPr>
        <p:spPr>
          <a:xfrm>
            <a:off x="1024128" y="3840480"/>
            <a:ext cx="3017520" cy="859536"/>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KS  ·  keyword spotting</a:t>
            </a:r>
            <a:endParaRPr lang="en-US" sz="1300" dirty="0"/>
          </a:p>
        </p:txBody>
      </p:sp>
      <p:sp>
        <p:nvSpPr>
          <p:cNvPr id="19" name="Text 17"/>
          <p:cNvSpPr txBox="1"/>
          <p:nvPr/>
        </p:nvSpPr>
        <p:spPr>
          <a:xfrm>
            <a:off x="4224528" y="3822192"/>
            <a:ext cx="7223760" cy="896112"/>
          </a:xfrm>
          <a:prstGeom prst="rect">
            <a:avLst/>
          </a:prstGeom>
          <a:noFill/>
          <a:ln/>
        </p:spPr>
        <p:txBody>
          <a:bodyPr wrap="square" lIns="0" tIns="0" rIns="0" bIns="0" rtlCol="0" anchor="ctr"/>
          <a:lstStyle/>
          <a:p>
            <a:pPr marL="0" indent="0">
              <a:buNone/>
            </a:pPr>
            <a:r>
              <a:rPr lang="en-US" sz="1220" dirty="0">
                <a:solidFill>
                  <a:srgbClr val="323726"/>
                </a:solidFill>
                <a:latin typeface="Calibri" pitchFamily="34" charset="0"/>
                <a:ea typeface="Calibri" pitchFamily="34" charset="-122"/>
                <a:cs typeface="Calibri" pitchFamily="34" charset="-120"/>
              </a:rPr>
              <a:t>Classify utterances into a predefined keyword set. Usually performed on-device, so accuracy, model size and inference time all matter. Speech Commands v1.0: ten keyword classes, a silence class, and an unknown class for false positives. Metric: accuracy.</a:t>
            </a:r>
            <a:endParaRPr lang="en-US" sz="1220" dirty="0"/>
          </a:p>
        </p:txBody>
      </p:sp>
      <p:sp>
        <p:nvSpPr>
          <p:cNvPr id="20" name="Shape 18"/>
          <p:cNvSpPr/>
          <p:nvPr/>
        </p:nvSpPr>
        <p:spPr>
          <a:xfrm>
            <a:off x="566928" y="4846320"/>
            <a:ext cx="11064240" cy="1042416"/>
          </a:xfrm>
          <a:prstGeom prst="roundRect">
            <a:avLst>
              <a:gd name="adj" fmla="val 2632"/>
            </a:avLst>
          </a:prstGeom>
          <a:solidFill>
            <a:srgbClr val="FFFFFF"/>
          </a:solidFill>
          <a:ln w="12700">
            <a:solidFill>
              <a:srgbClr val="E9EDE1"/>
            </a:solidFill>
            <a:prstDash val="solid"/>
          </a:ln>
        </p:spPr>
        <p:txBody>
          <a:bodyPr/>
          <a:lstStyle/>
          <a:p>
            <a:endParaRPr lang="en-US"/>
          </a:p>
        </p:txBody>
      </p:sp>
      <p:sp>
        <p:nvSpPr>
          <p:cNvPr id="21" name="Shape 19"/>
          <p:cNvSpPr/>
          <p:nvPr/>
        </p:nvSpPr>
        <p:spPr>
          <a:xfrm>
            <a:off x="786384" y="5308092"/>
            <a:ext cx="118872" cy="118872"/>
          </a:xfrm>
          <a:prstGeom prst="ellipse">
            <a:avLst/>
          </a:prstGeom>
          <a:solidFill>
            <a:srgbClr val="5F6B3A"/>
          </a:solidFill>
          <a:ln w="12700">
            <a:solidFill>
              <a:srgbClr val="333333"/>
            </a:solidFill>
            <a:prstDash val="solid"/>
          </a:ln>
        </p:spPr>
        <p:txBody>
          <a:bodyPr/>
          <a:lstStyle/>
          <a:p>
            <a:endParaRPr lang="en-US"/>
          </a:p>
        </p:txBody>
      </p:sp>
      <p:sp>
        <p:nvSpPr>
          <p:cNvPr id="22" name="Text 20"/>
          <p:cNvSpPr txBox="1"/>
          <p:nvPr/>
        </p:nvSpPr>
        <p:spPr>
          <a:xfrm>
            <a:off x="1024128" y="4937760"/>
            <a:ext cx="3017520" cy="859536"/>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QbE  ·  query by example</a:t>
            </a:r>
            <a:endParaRPr lang="en-US" sz="1300" dirty="0"/>
          </a:p>
        </p:txBody>
      </p:sp>
      <p:sp>
        <p:nvSpPr>
          <p:cNvPr id="23" name="Text 21"/>
          <p:cNvSpPr txBox="1"/>
          <p:nvPr/>
        </p:nvSpPr>
        <p:spPr>
          <a:xfrm>
            <a:off x="4224528" y="4919472"/>
            <a:ext cx="7223760" cy="896112"/>
          </a:xfrm>
          <a:prstGeom prst="rect">
            <a:avLst/>
          </a:prstGeom>
          <a:noFill/>
          <a:ln/>
        </p:spPr>
        <p:txBody>
          <a:bodyPr wrap="square" lIns="0" tIns="0" rIns="0" bIns="0" rtlCol="0" anchor="ctr"/>
          <a:lstStyle/>
          <a:p>
            <a:pPr marL="0" indent="0">
              <a:buNone/>
            </a:pPr>
            <a:r>
              <a:rPr lang="en-US" sz="1220" dirty="0">
                <a:solidFill>
                  <a:srgbClr val="323726"/>
                </a:solidFill>
                <a:latin typeface="Calibri" pitchFamily="34" charset="0"/>
                <a:ea typeface="Calibri" pitchFamily="34" charset="-122"/>
                <a:cs typeface="Calibri" pitchFamily="34" charset="-120"/>
              </a:rPr>
              <a:t>Detect a spoken term in an audio database by deciding whether a query–document pair matches — spoken term detection without transcribing anything. English subset of QUESST 2014. Metric: maximum term weighted value, which balances misses against false alarms.</a:t>
            </a:r>
            <a:endParaRPr lang="en-US" sz="1220" dirty="0"/>
          </a:p>
        </p:txBody>
      </p:sp>
      <p:sp>
        <p:nvSpPr>
          <p:cNvPr id="24" name="Shape 22"/>
          <p:cNvSpPr/>
          <p:nvPr/>
        </p:nvSpPr>
        <p:spPr>
          <a:xfrm>
            <a:off x="566928" y="5870448"/>
            <a:ext cx="11064240" cy="182880"/>
          </a:xfrm>
          <a:prstGeom prst="roundRect">
            <a:avLst>
              <a:gd name="adj" fmla="val 30000"/>
            </a:avLst>
          </a:prstGeom>
          <a:solidFill>
            <a:srgbClr val="FFFFFF"/>
          </a:solidFill>
          <a:ln w="12700">
            <a:solidFill>
              <a:srgbClr val="FFFFFF"/>
            </a:solidFill>
            <a:prstDash val="solid"/>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Speaker tasks</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Three tasks of increasing difficulty</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11</a:t>
            </a:r>
            <a:endParaRPr lang="en-US" sz="900" dirty="0"/>
          </a:p>
        </p:txBody>
      </p:sp>
      <p:sp>
        <p:nvSpPr>
          <p:cNvPr id="8" name="Shape 6"/>
          <p:cNvSpPr/>
          <p:nvPr/>
        </p:nvSpPr>
        <p:spPr>
          <a:xfrm>
            <a:off x="566928" y="1554480"/>
            <a:ext cx="11064240" cy="1042416"/>
          </a:xfrm>
          <a:prstGeom prst="roundRect">
            <a:avLst>
              <a:gd name="adj" fmla="val 2632"/>
            </a:avLst>
          </a:prstGeom>
          <a:solidFill>
            <a:srgbClr val="F3F5EC"/>
          </a:solidFill>
          <a:ln w="12700">
            <a:solidFill>
              <a:srgbClr val="E9EDE1"/>
            </a:solidFill>
            <a:prstDash val="solid"/>
          </a:ln>
        </p:spPr>
        <p:txBody>
          <a:bodyPr/>
          <a:lstStyle/>
          <a:p>
            <a:endParaRPr lang="en-US"/>
          </a:p>
        </p:txBody>
      </p:sp>
      <p:sp>
        <p:nvSpPr>
          <p:cNvPr id="9" name="Shape 7"/>
          <p:cNvSpPr/>
          <p:nvPr/>
        </p:nvSpPr>
        <p:spPr>
          <a:xfrm>
            <a:off x="786384" y="2016252"/>
            <a:ext cx="118872" cy="118872"/>
          </a:xfrm>
          <a:prstGeom prst="ellipse">
            <a:avLst/>
          </a:prstGeom>
          <a:solidFill>
            <a:srgbClr val="5F6B3A"/>
          </a:solidFill>
          <a:ln w="12700">
            <a:solidFill>
              <a:srgbClr val="333333"/>
            </a:solidFill>
            <a:prstDash val="solid"/>
          </a:ln>
        </p:spPr>
        <p:txBody>
          <a:bodyPr/>
          <a:lstStyle/>
          <a:p>
            <a:endParaRPr lang="en-US"/>
          </a:p>
        </p:txBody>
      </p:sp>
      <p:sp>
        <p:nvSpPr>
          <p:cNvPr id="10" name="Text 8"/>
          <p:cNvSpPr txBox="1"/>
          <p:nvPr/>
        </p:nvSpPr>
        <p:spPr>
          <a:xfrm>
            <a:off x="1024128" y="1645920"/>
            <a:ext cx="2743200" cy="859536"/>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SID  ·  identification</a:t>
            </a:r>
            <a:endParaRPr lang="en-US" sz="1300" dirty="0"/>
          </a:p>
        </p:txBody>
      </p:sp>
      <p:sp>
        <p:nvSpPr>
          <p:cNvPr id="11" name="Text 9"/>
          <p:cNvSpPr txBox="1"/>
          <p:nvPr/>
        </p:nvSpPr>
        <p:spPr>
          <a:xfrm>
            <a:off x="3950208" y="1627632"/>
            <a:ext cx="7498080" cy="896112"/>
          </a:xfrm>
          <a:prstGeom prst="rect">
            <a:avLst/>
          </a:prstGeom>
          <a:noFill/>
          <a:ln/>
        </p:spPr>
        <p:txBody>
          <a:bodyPr wrap="square" lIns="0" tIns="0" rIns="0" bIns="0" rtlCol="0" anchor="ctr"/>
          <a:lstStyle/>
          <a:p>
            <a:pPr marL="0" indent="0">
              <a:buNone/>
            </a:pPr>
            <a:r>
              <a:rPr lang="en-US" sz="1220" dirty="0">
                <a:solidFill>
                  <a:srgbClr val="323726"/>
                </a:solidFill>
                <a:latin typeface="Calibri" pitchFamily="34" charset="0"/>
                <a:ea typeface="Calibri" pitchFamily="34" charset="-122"/>
                <a:cs typeface="Calibri" pitchFamily="34" charset="-120"/>
              </a:rPr>
              <a:t>Multi-class classification of each utterance into a speaker identity, where the same speaker set appears in training and testing. VoxCeleb1. Metric: accuracy. This is the easiest of the three — the model only has to separate a closed set.</a:t>
            </a:r>
            <a:endParaRPr lang="en-US" sz="1220" dirty="0"/>
          </a:p>
        </p:txBody>
      </p:sp>
      <p:sp>
        <p:nvSpPr>
          <p:cNvPr id="12" name="Shape 10"/>
          <p:cNvSpPr/>
          <p:nvPr/>
        </p:nvSpPr>
        <p:spPr>
          <a:xfrm>
            <a:off x="566928" y="2651760"/>
            <a:ext cx="11064240" cy="1042416"/>
          </a:xfrm>
          <a:prstGeom prst="roundRect">
            <a:avLst>
              <a:gd name="adj" fmla="val 2632"/>
            </a:avLst>
          </a:prstGeom>
          <a:solidFill>
            <a:srgbClr val="FFFFFF"/>
          </a:solidFill>
          <a:ln w="12700">
            <a:solidFill>
              <a:srgbClr val="E9EDE1"/>
            </a:solidFill>
            <a:prstDash val="solid"/>
          </a:ln>
        </p:spPr>
        <p:txBody>
          <a:bodyPr/>
          <a:lstStyle/>
          <a:p>
            <a:endParaRPr lang="en-US"/>
          </a:p>
        </p:txBody>
      </p:sp>
      <p:sp>
        <p:nvSpPr>
          <p:cNvPr id="13" name="Shape 11"/>
          <p:cNvSpPr/>
          <p:nvPr/>
        </p:nvSpPr>
        <p:spPr>
          <a:xfrm>
            <a:off x="786384" y="3113532"/>
            <a:ext cx="118872" cy="118872"/>
          </a:xfrm>
          <a:prstGeom prst="ellipse">
            <a:avLst/>
          </a:prstGeom>
          <a:solidFill>
            <a:srgbClr val="5F6B3A"/>
          </a:solidFill>
          <a:ln w="12700">
            <a:solidFill>
              <a:srgbClr val="333333"/>
            </a:solidFill>
            <a:prstDash val="solid"/>
          </a:ln>
        </p:spPr>
        <p:txBody>
          <a:bodyPr/>
          <a:lstStyle/>
          <a:p>
            <a:endParaRPr lang="en-US"/>
          </a:p>
        </p:txBody>
      </p:sp>
      <p:sp>
        <p:nvSpPr>
          <p:cNvPr id="14" name="Text 12"/>
          <p:cNvSpPr txBox="1"/>
          <p:nvPr/>
        </p:nvSpPr>
        <p:spPr>
          <a:xfrm>
            <a:off x="1024128" y="2743200"/>
            <a:ext cx="2743200" cy="859536"/>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ASV  ·  verification</a:t>
            </a:r>
            <a:endParaRPr lang="en-US" sz="1300" dirty="0"/>
          </a:p>
        </p:txBody>
      </p:sp>
      <p:sp>
        <p:nvSpPr>
          <p:cNvPr id="15" name="Text 13"/>
          <p:cNvSpPr txBox="1"/>
          <p:nvPr/>
        </p:nvSpPr>
        <p:spPr>
          <a:xfrm>
            <a:off x="3950208" y="2724912"/>
            <a:ext cx="7498080" cy="896112"/>
          </a:xfrm>
          <a:prstGeom prst="rect">
            <a:avLst/>
          </a:prstGeom>
          <a:noFill/>
          <a:ln/>
        </p:spPr>
        <p:txBody>
          <a:bodyPr wrap="square" lIns="0" tIns="0" rIns="0" bIns="0" rtlCol="0" anchor="ctr"/>
          <a:lstStyle/>
          <a:p>
            <a:pPr marL="0" indent="0">
              <a:buNone/>
            </a:pPr>
            <a:r>
              <a:rPr lang="en-US" sz="1220" dirty="0">
                <a:solidFill>
                  <a:srgbClr val="323726"/>
                </a:solidFill>
                <a:latin typeface="Calibri" pitchFamily="34" charset="0"/>
                <a:ea typeface="Calibri" pitchFamily="34" charset="-122"/>
                <a:cs typeface="Calibri" pitchFamily="34" charset="-120"/>
              </a:rPr>
              <a:t>Binary decision on whether two utterances share a speaker, where test speakers may never have been seen in training. VoxCeleb1 only, without VoxCeleb2 training data and without noise augmentation. Metric: equal error rate.</a:t>
            </a:r>
            <a:endParaRPr lang="en-US" sz="1220" dirty="0"/>
          </a:p>
        </p:txBody>
      </p:sp>
      <p:sp>
        <p:nvSpPr>
          <p:cNvPr id="16" name="Shape 14"/>
          <p:cNvSpPr/>
          <p:nvPr/>
        </p:nvSpPr>
        <p:spPr>
          <a:xfrm>
            <a:off x="566928" y="3749040"/>
            <a:ext cx="11064240" cy="1042416"/>
          </a:xfrm>
          <a:prstGeom prst="roundRect">
            <a:avLst>
              <a:gd name="adj" fmla="val 2632"/>
            </a:avLst>
          </a:prstGeom>
          <a:solidFill>
            <a:srgbClr val="F3F5EC"/>
          </a:solidFill>
          <a:ln w="12700">
            <a:solidFill>
              <a:srgbClr val="E9EDE1"/>
            </a:solidFill>
            <a:prstDash val="solid"/>
          </a:ln>
        </p:spPr>
        <p:txBody>
          <a:bodyPr/>
          <a:lstStyle/>
          <a:p>
            <a:endParaRPr lang="en-US"/>
          </a:p>
        </p:txBody>
      </p:sp>
      <p:sp>
        <p:nvSpPr>
          <p:cNvPr id="17" name="Shape 15"/>
          <p:cNvSpPr/>
          <p:nvPr/>
        </p:nvSpPr>
        <p:spPr>
          <a:xfrm>
            <a:off x="786384" y="4210812"/>
            <a:ext cx="118872" cy="118872"/>
          </a:xfrm>
          <a:prstGeom prst="ellipse">
            <a:avLst/>
          </a:prstGeom>
          <a:solidFill>
            <a:srgbClr val="5F6B3A"/>
          </a:solidFill>
          <a:ln w="12700">
            <a:solidFill>
              <a:srgbClr val="333333"/>
            </a:solidFill>
            <a:prstDash val="solid"/>
          </a:ln>
        </p:spPr>
        <p:txBody>
          <a:bodyPr/>
          <a:lstStyle/>
          <a:p>
            <a:endParaRPr lang="en-US"/>
          </a:p>
        </p:txBody>
      </p:sp>
      <p:sp>
        <p:nvSpPr>
          <p:cNvPr id="18" name="Text 16"/>
          <p:cNvSpPr txBox="1"/>
          <p:nvPr/>
        </p:nvSpPr>
        <p:spPr>
          <a:xfrm>
            <a:off x="1024128" y="3840480"/>
            <a:ext cx="2743200" cy="859536"/>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SD  ·  diarisation</a:t>
            </a:r>
            <a:endParaRPr lang="en-US" sz="1300" dirty="0"/>
          </a:p>
        </p:txBody>
      </p:sp>
      <p:sp>
        <p:nvSpPr>
          <p:cNvPr id="19" name="Text 17"/>
          <p:cNvSpPr txBox="1"/>
          <p:nvPr/>
        </p:nvSpPr>
        <p:spPr>
          <a:xfrm>
            <a:off x="3950208" y="3822192"/>
            <a:ext cx="7498080" cy="896112"/>
          </a:xfrm>
          <a:prstGeom prst="rect">
            <a:avLst/>
          </a:prstGeom>
          <a:noFill/>
          <a:ln/>
        </p:spPr>
        <p:txBody>
          <a:bodyPr wrap="square" lIns="0" tIns="0" rIns="0" bIns="0" rtlCol="0" anchor="ctr"/>
          <a:lstStyle/>
          <a:p>
            <a:pPr marL="0" indent="0">
              <a:buNone/>
            </a:pPr>
            <a:r>
              <a:rPr lang="en-US" sz="1220" dirty="0">
                <a:solidFill>
                  <a:srgbClr val="323726"/>
                </a:solidFill>
                <a:latin typeface="Calibri" pitchFamily="34" charset="0"/>
                <a:ea typeface="Calibri" pitchFamily="34" charset="-122"/>
                <a:cs typeface="Calibri" pitchFamily="34" charset="-120"/>
              </a:rPr>
              <a:t>Predict who is speaking when, at every timestamp, with multiple speakers able to speak simultaneously. Two-speaker mixtures generated from LibriSpeech via LibriMix; time-coded labels from Kaldi alignments. Metric: diarisation error rate.</a:t>
            </a:r>
            <a:endParaRPr lang="en-US" sz="1220" dirty="0"/>
          </a:p>
        </p:txBody>
      </p:sp>
      <p:sp>
        <p:nvSpPr>
          <p:cNvPr id="20" name="Shape 18"/>
          <p:cNvSpPr/>
          <p:nvPr/>
        </p:nvSpPr>
        <p:spPr>
          <a:xfrm>
            <a:off x="566928" y="4864608"/>
            <a:ext cx="11064240" cy="1188720"/>
          </a:xfrm>
          <a:prstGeom prst="roundRect">
            <a:avLst>
              <a:gd name="adj" fmla="val 4615"/>
            </a:avLst>
          </a:prstGeom>
          <a:solidFill>
            <a:srgbClr val="2A2E1E"/>
          </a:solidFill>
          <a:ln w="12700">
            <a:solidFill>
              <a:srgbClr val="2A2E1E"/>
            </a:solidFill>
            <a:prstDash val="solid"/>
          </a:ln>
        </p:spPr>
        <p:txBody>
          <a:bodyPr/>
          <a:lstStyle/>
          <a:p>
            <a:endParaRPr lang="en-US"/>
          </a:p>
        </p:txBody>
      </p:sp>
      <p:sp>
        <p:nvSpPr>
          <p:cNvPr id="21" name="Shape 19"/>
          <p:cNvSpPr/>
          <p:nvPr/>
        </p:nvSpPr>
        <p:spPr>
          <a:xfrm>
            <a:off x="786384" y="5157216"/>
            <a:ext cx="109728" cy="109728"/>
          </a:xfrm>
          <a:prstGeom prst="ellipse">
            <a:avLst/>
          </a:prstGeom>
          <a:solidFill>
            <a:srgbClr val="D9614C"/>
          </a:solidFill>
          <a:ln w="12700">
            <a:solidFill>
              <a:srgbClr val="333333"/>
            </a:solidFill>
            <a:prstDash val="solid"/>
          </a:ln>
        </p:spPr>
        <p:txBody>
          <a:bodyPr/>
          <a:lstStyle/>
          <a:p>
            <a:endParaRPr lang="en-US"/>
          </a:p>
        </p:txBody>
      </p:sp>
      <p:sp>
        <p:nvSpPr>
          <p:cNvPr id="22" name="Text 20"/>
          <p:cNvSpPr txBox="1"/>
          <p:nvPr/>
        </p:nvSpPr>
        <p:spPr>
          <a:xfrm>
            <a:off x="987552" y="5029200"/>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paper's own framing</a:t>
            </a:r>
            <a:endParaRPr lang="en-US" sz="1500" dirty="0"/>
          </a:p>
        </p:txBody>
      </p:sp>
      <p:sp>
        <p:nvSpPr>
          <p:cNvPr id="23" name="Text 21"/>
          <p:cNvSpPr txBox="1"/>
          <p:nvPr/>
        </p:nvSpPr>
        <p:spPr>
          <a:xfrm>
            <a:off x="822960" y="5468112"/>
            <a:ext cx="10552176" cy="402336"/>
          </a:xfrm>
          <a:prstGeom prst="rect">
            <a:avLst/>
          </a:prstGeom>
          <a:noFill/>
          <a:ln/>
        </p:spPr>
        <p:txBody>
          <a:bodyPr wrap="square" lIns="0" tIns="0" rIns="0" bIns="0" rtlCol="0" anchor="t"/>
          <a:lstStyle/>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ASV is harder than SID because the speakers are open-set, and SD is harder still because the model must encode rich speaker characteristics for each frame and represent mixtures of signals. That difficulty ordering becomes an interpretive tool when we read the results.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Semantics and paralinguistics</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Three tasks, and one of them should look familiar</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12</a:t>
            </a:r>
            <a:endParaRPr lang="en-US" sz="900" dirty="0"/>
          </a:p>
        </p:txBody>
      </p:sp>
      <p:sp>
        <p:nvSpPr>
          <p:cNvPr id="8" name="Shape 6"/>
          <p:cNvSpPr/>
          <p:nvPr/>
        </p:nvSpPr>
        <p:spPr>
          <a:xfrm>
            <a:off x="566928" y="1572768"/>
            <a:ext cx="5440680" cy="2148840"/>
          </a:xfrm>
          <a:prstGeom prst="roundRect">
            <a:avLst>
              <a:gd name="adj" fmla="val 2553"/>
            </a:avLst>
          </a:prstGeom>
          <a:solidFill>
            <a:srgbClr val="F3F5EC"/>
          </a:solidFill>
          <a:ln w="12700">
            <a:solidFill>
              <a:srgbClr val="E3E7D8"/>
            </a:solidFill>
            <a:prstDash val="solid"/>
          </a:ln>
        </p:spPr>
        <p:txBody>
          <a:bodyPr/>
          <a:lstStyle/>
          <a:p>
            <a:endParaRPr lang="en-US"/>
          </a:p>
        </p:txBody>
      </p:sp>
      <p:sp>
        <p:nvSpPr>
          <p:cNvPr id="9" name="Shape 7"/>
          <p:cNvSpPr/>
          <p:nvPr/>
        </p:nvSpPr>
        <p:spPr>
          <a:xfrm>
            <a:off x="786384" y="1865376"/>
            <a:ext cx="109728" cy="109728"/>
          </a:xfrm>
          <a:prstGeom prst="ellipse">
            <a:avLst/>
          </a:prstGeom>
          <a:solidFill>
            <a:srgbClr val="5F6B3A"/>
          </a:solidFill>
          <a:ln w="12700">
            <a:solidFill>
              <a:srgbClr val="333333"/>
            </a:solidFill>
            <a:prstDash val="solid"/>
          </a:ln>
        </p:spPr>
        <p:txBody>
          <a:bodyPr/>
          <a:lstStyle/>
          <a:p>
            <a:endParaRPr lang="en-US"/>
          </a:p>
        </p:txBody>
      </p:sp>
      <p:sp>
        <p:nvSpPr>
          <p:cNvPr id="10" name="Text 8"/>
          <p:cNvSpPr txBox="1"/>
          <p:nvPr/>
        </p:nvSpPr>
        <p:spPr>
          <a:xfrm>
            <a:off x="987552" y="1737360"/>
            <a:ext cx="4800600" cy="365760"/>
          </a:xfrm>
          <a:prstGeom prst="rect">
            <a:avLst/>
          </a:prstGeom>
          <a:noFill/>
          <a:ln/>
        </p:spPr>
        <p:txBody>
          <a:bodyPr wrap="square" lIns="0" tIns="0" rIns="0" bIns="0" rtlCol="0" anchor="ctr"/>
          <a:lstStyle/>
          <a:p>
            <a:pPr marL="0" indent="0">
              <a:buNone/>
            </a:pPr>
            <a:r>
              <a:rPr lang="en-US" sz="1500" b="1" dirty="0">
                <a:solidFill>
                  <a:srgbClr val="1E2116"/>
                </a:solidFill>
                <a:latin typeface="Cambria" pitchFamily="34" charset="0"/>
                <a:ea typeface="Cambria" pitchFamily="34" charset="-122"/>
                <a:cs typeface="Cambria" pitchFamily="34" charset="-120"/>
              </a:rPr>
              <a:t>IC  ·  intent classification</a:t>
            </a:r>
            <a:endParaRPr lang="en-US" sz="1500" dirty="0"/>
          </a:p>
        </p:txBody>
      </p:sp>
      <p:sp>
        <p:nvSpPr>
          <p:cNvPr id="11" name="Text 9"/>
          <p:cNvSpPr txBox="1"/>
          <p:nvPr/>
        </p:nvSpPr>
        <p:spPr>
          <a:xfrm>
            <a:off x="822960" y="2176272"/>
            <a:ext cx="4928616" cy="1362456"/>
          </a:xfrm>
          <a:prstGeom prst="rect">
            <a:avLst/>
          </a:prstGeom>
          <a:noFill/>
          <a:ln/>
        </p:spPr>
        <p:txBody>
          <a:bodyPr wrap="square" lIns="0" tIns="0" rIns="0" bIns="0" rtlCol="0" anchor="t"/>
          <a:lstStyle/>
          <a:p>
            <a:pPr marL="0" indent="0">
              <a:lnSpc>
                <a:spcPct val="108000"/>
              </a:lnSpc>
              <a:buNone/>
            </a:pPr>
            <a:r>
              <a:rPr lang="en-US" sz="1260" dirty="0">
                <a:solidFill>
                  <a:srgbClr val="323726"/>
                </a:solidFill>
                <a:latin typeface="Calibri" pitchFamily="34" charset="0"/>
                <a:ea typeface="Calibri" pitchFamily="34" charset="-122"/>
                <a:cs typeface="Calibri" pitchFamily="34" charset="-120"/>
              </a:rPr>
              <a:t>Classify an utterance into predefined intent classes. Fluent Speech Commands, where each utterance carries three intent labels: action, object and location. Metric: accuracy.</a:t>
            </a:r>
            <a:endParaRPr lang="en-US" sz="1260" dirty="0"/>
          </a:p>
          <a:p>
            <a:pPr marL="0" indent="0">
              <a:lnSpc>
                <a:spcPct val="108000"/>
              </a:lnSpc>
              <a:buNone/>
            </a:pPr>
            <a:endParaRPr lang="en-US" sz="1260" dirty="0"/>
          </a:p>
          <a:p>
            <a:pPr marL="0" indent="0">
              <a:lnSpc>
                <a:spcPct val="108000"/>
              </a:lnSpc>
              <a:buNone/>
            </a:pPr>
            <a:r>
              <a:rPr lang="en-US" sz="1260" dirty="0">
                <a:solidFill>
                  <a:srgbClr val="323726"/>
                </a:solidFill>
                <a:latin typeface="Calibri" pitchFamily="34" charset="0"/>
                <a:ea typeface="Calibri" pitchFamily="34" charset="-122"/>
                <a:cs typeface="Calibri" pitchFamily="34" charset="-120"/>
              </a:rPr>
              <a:t>The point is end-to-end: infer high-level semantics directly from audio rather than transcribing first and then parsing text.</a:t>
            </a:r>
            <a:endParaRPr lang="en-US" sz="1260" dirty="0"/>
          </a:p>
        </p:txBody>
      </p:sp>
      <p:sp>
        <p:nvSpPr>
          <p:cNvPr id="12" name="Shape 10"/>
          <p:cNvSpPr/>
          <p:nvPr/>
        </p:nvSpPr>
        <p:spPr>
          <a:xfrm>
            <a:off x="6190488" y="1572768"/>
            <a:ext cx="5440680" cy="2148840"/>
          </a:xfrm>
          <a:prstGeom prst="roundRect">
            <a:avLst>
              <a:gd name="adj" fmla="val 2553"/>
            </a:avLst>
          </a:prstGeom>
          <a:solidFill>
            <a:srgbClr val="F3F5EC"/>
          </a:solidFill>
          <a:ln w="12700">
            <a:solidFill>
              <a:srgbClr val="E3E7D8"/>
            </a:solidFill>
            <a:prstDash val="solid"/>
          </a:ln>
        </p:spPr>
        <p:txBody>
          <a:bodyPr/>
          <a:lstStyle/>
          <a:p>
            <a:endParaRPr lang="en-US"/>
          </a:p>
        </p:txBody>
      </p:sp>
      <p:sp>
        <p:nvSpPr>
          <p:cNvPr id="13" name="Shape 11"/>
          <p:cNvSpPr/>
          <p:nvPr/>
        </p:nvSpPr>
        <p:spPr>
          <a:xfrm>
            <a:off x="6409944" y="1865376"/>
            <a:ext cx="109728" cy="109728"/>
          </a:xfrm>
          <a:prstGeom prst="ellipse">
            <a:avLst/>
          </a:prstGeom>
          <a:solidFill>
            <a:srgbClr val="D9614C"/>
          </a:solidFill>
          <a:ln w="12700">
            <a:solidFill>
              <a:srgbClr val="333333"/>
            </a:solidFill>
            <a:prstDash val="solid"/>
          </a:ln>
        </p:spPr>
        <p:txBody>
          <a:bodyPr/>
          <a:lstStyle/>
          <a:p>
            <a:endParaRPr lang="en-US"/>
          </a:p>
        </p:txBody>
      </p:sp>
      <p:sp>
        <p:nvSpPr>
          <p:cNvPr id="14" name="Text 12"/>
          <p:cNvSpPr txBox="1"/>
          <p:nvPr/>
        </p:nvSpPr>
        <p:spPr>
          <a:xfrm>
            <a:off x="6611112" y="1737360"/>
            <a:ext cx="4800600" cy="365760"/>
          </a:xfrm>
          <a:prstGeom prst="rect">
            <a:avLst/>
          </a:prstGeom>
          <a:noFill/>
          <a:ln/>
        </p:spPr>
        <p:txBody>
          <a:bodyPr wrap="square" lIns="0" tIns="0" rIns="0" bIns="0" rtlCol="0" anchor="ctr"/>
          <a:lstStyle/>
          <a:p>
            <a:pPr marL="0" indent="0">
              <a:buNone/>
            </a:pPr>
            <a:r>
              <a:rPr lang="en-US" sz="1500" b="1" dirty="0">
                <a:solidFill>
                  <a:srgbClr val="1E2116"/>
                </a:solidFill>
                <a:latin typeface="Cambria" pitchFamily="34" charset="0"/>
                <a:ea typeface="Cambria" pitchFamily="34" charset="-122"/>
                <a:cs typeface="Cambria" pitchFamily="34" charset="-120"/>
              </a:rPr>
              <a:t>SF  ·  slot filling</a:t>
            </a:r>
            <a:endParaRPr lang="en-US" sz="1500" dirty="0"/>
          </a:p>
        </p:txBody>
      </p:sp>
      <p:sp>
        <p:nvSpPr>
          <p:cNvPr id="15" name="Text 13"/>
          <p:cNvSpPr txBox="1"/>
          <p:nvPr/>
        </p:nvSpPr>
        <p:spPr>
          <a:xfrm>
            <a:off x="6446520" y="2176272"/>
            <a:ext cx="4928616" cy="1362456"/>
          </a:xfrm>
          <a:prstGeom prst="rect">
            <a:avLst/>
          </a:prstGeom>
          <a:noFill/>
          <a:ln/>
        </p:spPr>
        <p:txBody>
          <a:bodyPr wrap="square" lIns="0" tIns="0" rIns="0" bIns="0" rtlCol="0" anchor="t"/>
          <a:lstStyle/>
          <a:p>
            <a:pPr marL="0" indent="0">
              <a:lnSpc>
                <a:spcPct val="108000"/>
              </a:lnSpc>
              <a:buNone/>
            </a:pPr>
            <a:r>
              <a:rPr lang="en-US" sz="1260" dirty="0">
                <a:solidFill>
                  <a:srgbClr val="323726"/>
                </a:solidFill>
                <a:latin typeface="Calibri" pitchFamily="34" charset="0"/>
                <a:ea typeface="Calibri" pitchFamily="34" charset="-122"/>
                <a:cs typeface="Calibri" pitchFamily="34" charset="-120"/>
              </a:rPr>
              <a:t>Predict semantic slot types from an utterance — a type such as FromLocation for a spoken value such as Taipei. Audio SNIPS, with US-accent speakers for training and others for validation and testing.</a:t>
            </a:r>
            <a:endParaRPr lang="en-US" sz="1260" dirty="0"/>
          </a:p>
          <a:p>
            <a:pPr marL="0" indent="0">
              <a:lnSpc>
                <a:spcPct val="108000"/>
              </a:lnSpc>
              <a:buNone/>
            </a:pPr>
            <a:endParaRPr lang="en-US" sz="1260" dirty="0"/>
          </a:p>
          <a:p>
            <a:pPr marL="0" indent="0">
              <a:lnSpc>
                <a:spcPct val="108000"/>
              </a:lnSpc>
              <a:buNone/>
            </a:pPr>
            <a:r>
              <a:rPr lang="en-US" sz="1260" dirty="0">
                <a:solidFill>
                  <a:srgbClr val="323726"/>
                </a:solidFill>
                <a:latin typeface="Calibri" pitchFamily="34" charset="0"/>
                <a:ea typeface="Calibri" pitchFamily="34" charset="-122"/>
                <a:cs typeface="Calibri" pitchFamily="34" charset="-120"/>
              </a:rPr>
              <a:t>Two metrics: slot-type F1 and slot-value character error rate. The task is reformulated as ASR with slot types encoded as special tokens.</a:t>
            </a:r>
            <a:endParaRPr lang="en-US" sz="1260" dirty="0"/>
          </a:p>
        </p:txBody>
      </p:sp>
      <p:sp>
        <p:nvSpPr>
          <p:cNvPr id="16" name="Shape 14"/>
          <p:cNvSpPr/>
          <p:nvPr/>
        </p:nvSpPr>
        <p:spPr>
          <a:xfrm>
            <a:off x="566928" y="3913632"/>
            <a:ext cx="11064240" cy="2139696"/>
          </a:xfrm>
          <a:prstGeom prst="roundRect">
            <a:avLst>
              <a:gd name="adj" fmla="val 2564"/>
            </a:avLst>
          </a:prstGeom>
          <a:solidFill>
            <a:srgbClr val="2A2E1E"/>
          </a:solidFill>
          <a:ln w="12700">
            <a:solidFill>
              <a:srgbClr val="2A2E1E"/>
            </a:solidFill>
            <a:prstDash val="solid"/>
          </a:ln>
        </p:spPr>
        <p:txBody>
          <a:bodyPr/>
          <a:lstStyle/>
          <a:p>
            <a:endParaRPr lang="en-US"/>
          </a:p>
        </p:txBody>
      </p:sp>
      <p:sp>
        <p:nvSpPr>
          <p:cNvPr id="17" name="Shape 15"/>
          <p:cNvSpPr/>
          <p:nvPr/>
        </p:nvSpPr>
        <p:spPr>
          <a:xfrm>
            <a:off x="786384" y="4206240"/>
            <a:ext cx="109728" cy="109728"/>
          </a:xfrm>
          <a:prstGeom prst="ellipse">
            <a:avLst/>
          </a:prstGeom>
          <a:solidFill>
            <a:srgbClr val="D9614C"/>
          </a:solidFill>
          <a:ln w="12700">
            <a:solidFill>
              <a:srgbClr val="333333"/>
            </a:solidFill>
            <a:prstDash val="solid"/>
          </a:ln>
        </p:spPr>
        <p:txBody>
          <a:bodyPr/>
          <a:lstStyle/>
          <a:p>
            <a:endParaRPr lang="en-US"/>
          </a:p>
        </p:txBody>
      </p:sp>
      <p:sp>
        <p:nvSpPr>
          <p:cNvPr id="18" name="Text 16"/>
          <p:cNvSpPr txBox="1"/>
          <p:nvPr/>
        </p:nvSpPr>
        <p:spPr>
          <a:xfrm>
            <a:off x="987552" y="4078224"/>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ER  ·  emotion recognition — the entire paralinguistics aspect</a:t>
            </a:r>
            <a:endParaRPr lang="en-US" sz="1500" dirty="0"/>
          </a:p>
        </p:txBody>
      </p:sp>
      <p:sp>
        <p:nvSpPr>
          <p:cNvPr id="19" name="Text 17"/>
          <p:cNvSpPr txBox="1"/>
          <p:nvPr/>
        </p:nvSpPr>
        <p:spPr>
          <a:xfrm>
            <a:off x="822960" y="4517136"/>
            <a:ext cx="10552176" cy="1353312"/>
          </a:xfrm>
          <a:prstGeom prst="rect">
            <a:avLst/>
          </a:prstGeom>
          <a:noFill/>
          <a:ln/>
        </p:spPr>
        <p:txBody>
          <a:bodyPr wrap="square" lIns="0" tIns="0" rIns="0" bIns="0" rtlCol="0" anchor="t"/>
          <a:lstStyle/>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IEMOCAP, following the conventional evaluation protocol: drop the unbalanced emotion classes to leave neutral, happy, sad and angry with a similar amount of data, and cross-validate on five folds of the standard splits. Metric: accuracy.</a:t>
            </a:r>
            <a:endParaRPr lang="en-US" sz="1300" dirty="0"/>
          </a:p>
          <a:p>
            <a:pPr marL="0" indent="0">
              <a:lnSpc>
                <a:spcPct val="108000"/>
              </a:lnSpc>
              <a:buNone/>
            </a:pPr>
            <a:endParaRPr lang="en-US" sz="1300" dirty="0"/>
          </a:p>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We spent a whole session on what that protocol involves — merged excitement, discarded no-agreement turns, ten actors, Fleiss kappa of 0.27. Every paralinguistic claim made on SUPERB rests on this one column.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Three design principles</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Stated explicitly, and each with a consequence</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13</a:t>
            </a:r>
            <a:endParaRPr lang="en-US" sz="900" dirty="0"/>
          </a:p>
        </p:txBody>
      </p:sp>
      <p:sp>
        <p:nvSpPr>
          <p:cNvPr id="8" name="Shape 6"/>
          <p:cNvSpPr/>
          <p:nvPr/>
        </p:nvSpPr>
        <p:spPr>
          <a:xfrm>
            <a:off x="566928" y="1572768"/>
            <a:ext cx="3584448" cy="3017520"/>
          </a:xfrm>
          <a:prstGeom prst="roundRect">
            <a:avLst>
              <a:gd name="adj" fmla="val 1818"/>
            </a:avLst>
          </a:prstGeom>
          <a:solidFill>
            <a:srgbClr val="F3F5EC"/>
          </a:solidFill>
          <a:ln w="12700">
            <a:solidFill>
              <a:srgbClr val="E3E7D8"/>
            </a:solidFill>
            <a:prstDash val="solid"/>
          </a:ln>
        </p:spPr>
        <p:txBody>
          <a:bodyPr/>
          <a:lstStyle/>
          <a:p>
            <a:endParaRPr lang="en-US"/>
          </a:p>
        </p:txBody>
      </p:sp>
      <p:sp>
        <p:nvSpPr>
          <p:cNvPr id="9" name="Shape 7"/>
          <p:cNvSpPr/>
          <p:nvPr/>
        </p:nvSpPr>
        <p:spPr>
          <a:xfrm>
            <a:off x="786384" y="1865376"/>
            <a:ext cx="109728" cy="109728"/>
          </a:xfrm>
          <a:prstGeom prst="ellipse">
            <a:avLst/>
          </a:prstGeom>
          <a:solidFill>
            <a:srgbClr val="5F6B3A"/>
          </a:solidFill>
          <a:ln w="12700">
            <a:solidFill>
              <a:srgbClr val="333333"/>
            </a:solidFill>
            <a:prstDash val="solid"/>
          </a:ln>
        </p:spPr>
        <p:txBody>
          <a:bodyPr/>
          <a:lstStyle/>
          <a:p>
            <a:endParaRPr lang="en-US"/>
          </a:p>
        </p:txBody>
      </p:sp>
      <p:sp>
        <p:nvSpPr>
          <p:cNvPr id="10" name="Text 8"/>
          <p:cNvSpPr txBox="1"/>
          <p:nvPr/>
        </p:nvSpPr>
        <p:spPr>
          <a:xfrm>
            <a:off x="987552" y="1737360"/>
            <a:ext cx="2944368" cy="365760"/>
          </a:xfrm>
          <a:prstGeom prst="rect">
            <a:avLst/>
          </a:prstGeom>
          <a:noFill/>
          <a:ln/>
        </p:spPr>
        <p:txBody>
          <a:bodyPr wrap="square" lIns="0" tIns="0" rIns="0" bIns="0" rtlCol="0" anchor="ctr"/>
          <a:lstStyle/>
          <a:p>
            <a:pPr marL="0" indent="0">
              <a:buNone/>
            </a:pPr>
            <a:r>
              <a:rPr lang="en-US" sz="1450" b="1" dirty="0">
                <a:solidFill>
                  <a:srgbClr val="1E2116"/>
                </a:solidFill>
                <a:latin typeface="Cambria" pitchFamily="34" charset="0"/>
                <a:ea typeface="Cambria" pitchFamily="34" charset="-122"/>
                <a:cs typeface="Cambria" pitchFamily="34" charset="-120"/>
              </a:rPr>
              <a:t>Conventional evaluation protocols</a:t>
            </a:r>
            <a:endParaRPr lang="en-US" sz="1450" dirty="0"/>
          </a:p>
        </p:txBody>
      </p:sp>
      <p:sp>
        <p:nvSpPr>
          <p:cNvPr id="11" name="Text 9"/>
          <p:cNvSpPr txBox="1"/>
          <p:nvPr/>
        </p:nvSpPr>
        <p:spPr>
          <a:xfrm>
            <a:off x="822960" y="2176272"/>
            <a:ext cx="3072384" cy="2231136"/>
          </a:xfrm>
          <a:prstGeom prst="rect">
            <a:avLst/>
          </a:prstGeom>
          <a:noFill/>
          <a:ln/>
        </p:spPr>
        <p:txBody>
          <a:bodyPr wrap="square" lIns="0" tIns="0" rIns="0" bIns="0" rtlCol="0" anchor="t"/>
          <a:lstStyle/>
          <a:p>
            <a:pPr marL="0" indent="0">
              <a:lnSpc>
                <a:spcPct val="108000"/>
              </a:lnSpc>
              <a:buNone/>
            </a:pPr>
            <a:r>
              <a:rPr lang="en-US" sz="1220" dirty="0">
                <a:solidFill>
                  <a:srgbClr val="323726"/>
                </a:solidFill>
                <a:latin typeface="Calibri" pitchFamily="34" charset="0"/>
                <a:ea typeface="Calibri" pitchFamily="34" charset="-122"/>
                <a:cs typeface="Calibri" pitchFamily="34" charset="-120"/>
              </a:rPr>
              <a:t>Each task uses the metric its own community already uses — PER, WER, accuracy, MTWV, EER, DER, F1.</a:t>
            </a:r>
            <a:endParaRPr lang="en-US" sz="1220" dirty="0"/>
          </a:p>
          <a:p>
            <a:pPr marL="0" indent="0">
              <a:lnSpc>
                <a:spcPct val="108000"/>
              </a:lnSpc>
              <a:buNone/>
            </a:pPr>
            <a:endParaRPr lang="en-US" sz="1220" dirty="0"/>
          </a:p>
          <a:p>
            <a:pPr marL="0" indent="0">
              <a:lnSpc>
                <a:spcPct val="108000"/>
              </a:lnSpc>
              <a:buNone/>
            </a:pPr>
            <a:r>
              <a:rPr lang="en-US" sz="1220" dirty="0">
                <a:solidFill>
                  <a:srgbClr val="323726"/>
                </a:solidFill>
                <a:latin typeface="Calibri" pitchFamily="34" charset="0"/>
                <a:ea typeface="Calibri" pitchFamily="34" charset="-122"/>
                <a:cs typeface="Calibri" pitchFamily="34" charset="-120"/>
              </a:rPr>
              <a:t>Consequence: the numbers are interpretable to specialists, but the ten metrics have different scales, directions and meanings, so they cannot simply be averaged.</a:t>
            </a:r>
            <a:endParaRPr lang="en-US" sz="1220" dirty="0"/>
          </a:p>
        </p:txBody>
      </p:sp>
      <p:sp>
        <p:nvSpPr>
          <p:cNvPr id="12" name="Shape 10"/>
          <p:cNvSpPr/>
          <p:nvPr/>
        </p:nvSpPr>
        <p:spPr>
          <a:xfrm>
            <a:off x="4279392" y="1572768"/>
            <a:ext cx="3584448" cy="3017520"/>
          </a:xfrm>
          <a:prstGeom prst="roundRect">
            <a:avLst>
              <a:gd name="adj" fmla="val 1818"/>
            </a:avLst>
          </a:prstGeom>
          <a:solidFill>
            <a:srgbClr val="F3F5EC"/>
          </a:solidFill>
          <a:ln w="12700">
            <a:solidFill>
              <a:srgbClr val="E3E7D8"/>
            </a:solidFill>
            <a:prstDash val="solid"/>
          </a:ln>
        </p:spPr>
        <p:txBody>
          <a:bodyPr/>
          <a:lstStyle/>
          <a:p>
            <a:endParaRPr lang="en-US"/>
          </a:p>
        </p:txBody>
      </p:sp>
      <p:sp>
        <p:nvSpPr>
          <p:cNvPr id="13" name="Shape 11"/>
          <p:cNvSpPr/>
          <p:nvPr/>
        </p:nvSpPr>
        <p:spPr>
          <a:xfrm>
            <a:off x="4498848" y="1865376"/>
            <a:ext cx="109728" cy="109728"/>
          </a:xfrm>
          <a:prstGeom prst="ellipse">
            <a:avLst/>
          </a:prstGeom>
          <a:solidFill>
            <a:srgbClr val="5F6B3A"/>
          </a:solidFill>
          <a:ln w="12700">
            <a:solidFill>
              <a:srgbClr val="333333"/>
            </a:solidFill>
            <a:prstDash val="solid"/>
          </a:ln>
        </p:spPr>
        <p:txBody>
          <a:bodyPr/>
          <a:lstStyle/>
          <a:p>
            <a:endParaRPr lang="en-US"/>
          </a:p>
        </p:txBody>
      </p:sp>
      <p:sp>
        <p:nvSpPr>
          <p:cNvPr id="14" name="Text 12"/>
          <p:cNvSpPr txBox="1"/>
          <p:nvPr/>
        </p:nvSpPr>
        <p:spPr>
          <a:xfrm>
            <a:off x="4700016" y="1737360"/>
            <a:ext cx="2944368" cy="365760"/>
          </a:xfrm>
          <a:prstGeom prst="rect">
            <a:avLst/>
          </a:prstGeom>
          <a:noFill/>
          <a:ln/>
        </p:spPr>
        <p:txBody>
          <a:bodyPr wrap="square" lIns="0" tIns="0" rIns="0" bIns="0" rtlCol="0" anchor="ctr"/>
          <a:lstStyle/>
          <a:p>
            <a:pPr marL="0" indent="0">
              <a:buNone/>
            </a:pPr>
            <a:r>
              <a:rPr lang="en-US" sz="1450" b="1" dirty="0">
                <a:solidFill>
                  <a:srgbClr val="1E2116"/>
                </a:solidFill>
                <a:latin typeface="Cambria" pitchFamily="34" charset="0"/>
                <a:ea typeface="Cambria" pitchFamily="34" charset="-122"/>
                <a:cs typeface="Cambria" pitchFamily="34" charset="-120"/>
              </a:rPr>
              <a:t>Publicly available datasets</a:t>
            </a:r>
            <a:endParaRPr lang="en-US" sz="1450" dirty="0"/>
          </a:p>
        </p:txBody>
      </p:sp>
      <p:sp>
        <p:nvSpPr>
          <p:cNvPr id="15" name="Text 13"/>
          <p:cNvSpPr txBox="1"/>
          <p:nvPr/>
        </p:nvSpPr>
        <p:spPr>
          <a:xfrm>
            <a:off x="4535424" y="2176272"/>
            <a:ext cx="3072384" cy="2231136"/>
          </a:xfrm>
          <a:prstGeom prst="rect">
            <a:avLst/>
          </a:prstGeom>
          <a:noFill/>
          <a:ln/>
        </p:spPr>
        <p:txBody>
          <a:bodyPr wrap="square" lIns="0" tIns="0" rIns="0" bIns="0" rtlCol="0" anchor="t"/>
          <a:lstStyle/>
          <a:p>
            <a:pPr marL="0" indent="0">
              <a:lnSpc>
                <a:spcPct val="108000"/>
              </a:lnSpc>
              <a:buNone/>
            </a:pPr>
            <a:r>
              <a:rPr lang="en-US" sz="1220" dirty="0">
                <a:solidFill>
                  <a:srgbClr val="323726"/>
                </a:solidFill>
                <a:latin typeface="Calibri" pitchFamily="34" charset="0"/>
                <a:ea typeface="Calibri" pitchFamily="34" charset="-122"/>
                <a:cs typeface="Calibri" pitchFamily="34" charset="-120"/>
              </a:rPr>
              <a:t>Everything is downloadable so anyone can participate.</a:t>
            </a:r>
            <a:endParaRPr lang="en-US" sz="1220" dirty="0"/>
          </a:p>
          <a:p>
            <a:pPr marL="0" indent="0">
              <a:lnSpc>
                <a:spcPct val="108000"/>
              </a:lnSpc>
              <a:buNone/>
            </a:pPr>
            <a:endParaRPr lang="en-US" sz="1220" dirty="0"/>
          </a:p>
          <a:p>
            <a:pPr marL="0" indent="0">
              <a:lnSpc>
                <a:spcPct val="108000"/>
              </a:lnSpc>
              <a:buNone/>
            </a:pPr>
            <a:r>
              <a:rPr lang="en-US" sz="1220" dirty="0">
                <a:solidFill>
                  <a:srgbClr val="323726"/>
                </a:solidFill>
                <a:latin typeface="Calibri" pitchFamily="34" charset="0"/>
                <a:ea typeface="Calibri" pitchFamily="34" charset="-122"/>
                <a:cs typeface="Calibri" pitchFamily="34" charset="-120"/>
              </a:rPr>
              <a:t>Consequence: the benchmark inherits the biases of the public corpora available in 2021 — which is to say LibriSpeech, VoxCeleb and IEMOCAP.</a:t>
            </a:r>
            <a:endParaRPr lang="en-US" sz="1220" dirty="0"/>
          </a:p>
        </p:txBody>
      </p:sp>
      <p:sp>
        <p:nvSpPr>
          <p:cNvPr id="16" name="Shape 14"/>
          <p:cNvSpPr/>
          <p:nvPr/>
        </p:nvSpPr>
        <p:spPr>
          <a:xfrm>
            <a:off x="7991856" y="1572768"/>
            <a:ext cx="3584448" cy="3017520"/>
          </a:xfrm>
          <a:prstGeom prst="roundRect">
            <a:avLst>
              <a:gd name="adj" fmla="val 1818"/>
            </a:avLst>
          </a:prstGeom>
          <a:solidFill>
            <a:srgbClr val="F3F5EC"/>
          </a:solidFill>
          <a:ln w="12700">
            <a:solidFill>
              <a:srgbClr val="E3E7D8"/>
            </a:solidFill>
            <a:prstDash val="solid"/>
          </a:ln>
        </p:spPr>
        <p:txBody>
          <a:bodyPr/>
          <a:lstStyle/>
          <a:p>
            <a:endParaRPr lang="en-US"/>
          </a:p>
        </p:txBody>
      </p:sp>
      <p:sp>
        <p:nvSpPr>
          <p:cNvPr id="17" name="Shape 15"/>
          <p:cNvSpPr/>
          <p:nvPr/>
        </p:nvSpPr>
        <p:spPr>
          <a:xfrm>
            <a:off x="8211312" y="1865376"/>
            <a:ext cx="109728" cy="109728"/>
          </a:xfrm>
          <a:prstGeom prst="ellipse">
            <a:avLst/>
          </a:prstGeom>
          <a:solidFill>
            <a:srgbClr val="5F6B3A"/>
          </a:solidFill>
          <a:ln w="12700">
            <a:solidFill>
              <a:srgbClr val="333333"/>
            </a:solidFill>
            <a:prstDash val="solid"/>
          </a:ln>
        </p:spPr>
        <p:txBody>
          <a:bodyPr/>
          <a:lstStyle/>
          <a:p>
            <a:endParaRPr lang="en-US"/>
          </a:p>
        </p:txBody>
      </p:sp>
      <p:sp>
        <p:nvSpPr>
          <p:cNvPr id="18" name="Text 16"/>
          <p:cNvSpPr txBox="1"/>
          <p:nvPr/>
        </p:nvSpPr>
        <p:spPr>
          <a:xfrm>
            <a:off x="8412480" y="1737360"/>
            <a:ext cx="2944368" cy="365760"/>
          </a:xfrm>
          <a:prstGeom prst="rect">
            <a:avLst/>
          </a:prstGeom>
          <a:noFill/>
          <a:ln/>
        </p:spPr>
        <p:txBody>
          <a:bodyPr wrap="square" lIns="0" tIns="0" rIns="0" bIns="0" rtlCol="0" anchor="ctr"/>
          <a:lstStyle/>
          <a:p>
            <a:pPr marL="0" indent="0">
              <a:buNone/>
            </a:pPr>
            <a:r>
              <a:rPr lang="en-US" sz="1450" b="1" dirty="0">
                <a:solidFill>
                  <a:srgbClr val="1E2116"/>
                </a:solidFill>
                <a:latin typeface="Cambria" pitchFamily="34" charset="0"/>
                <a:ea typeface="Cambria" pitchFamily="34" charset="-122"/>
                <a:cs typeface="Cambria" pitchFamily="34" charset="-120"/>
              </a:rPr>
              <a:t>Limited labelled data</a:t>
            </a:r>
            <a:endParaRPr lang="en-US" sz="1450" dirty="0"/>
          </a:p>
        </p:txBody>
      </p:sp>
      <p:sp>
        <p:nvSpPr>
          <p:cNvPr id="19" name="Text 17"/>
          <p:cNvSpPr txBox="1"/>
          <p:nvPr/>
        </p:nvSpPr>
        <p:spPr>
          <a:xfrm>
            <a:off x="8247888" y="2176272"/>
            <a:ext cx="3072384" cy="2231136"/>
          </a:xfrm>
          <a:prstGeom prst="rect">
            <a:avLst/>
          </a:prstGeom>
          <a:noFill/>
          <a:ln/>
        </p:spPr>
        <p:txBody>
          <a:bodyPr wrap="square" lIns="0" tIns="0" rIns="0" bIns="0" rtlCol="0" anchor="t"/>
          <a:lstStyle/>
          <a:p>
            <a:pPr marL="0" indent="0">
              <a:lnSpc>
                <a:spcPct val="108000"/>
              </a:lnSpc>
              <a:buNone/>
            </a:pPr>
            <a:r>
              <a:rPr lang="en-US" sz="1220" dirty="0">
                <a:solidFill>
                  <a:srgbClr val="323726"/>
                </a:solidFill>
                <a:latin typeface="Calibri" pitchFamily="34" charset="0"/>
                <a:ea typeface="Calibri" pitchFamily="34" charset="-122"/>
                <a:cs typeface="Calibri" pitchFamily="34" charset="-120"/>
              </a:rPr>
              <a:t>Small training sets, to benchmark generalisability rather than downstream data volume.</a:t>
            </a:r>
            <a:endParaRPr lang="en-US" sz="1220" dirty="0"/>
          </a:p>
          <a:p>
            <a:pPr marL="0" indent="0">
              <a:lnSpc>
                <a:spcPct val="108000"/>
              </a:lnSpc>
              <a:buNone/>
            </a:pPr>
            <a:endParaRPr lang="en-US" sz="1220" dirty="0"/>
          </a:p>
          <a:p>
            <a:pPr marL="0" indent="0">
              <a:lnSpc>
                <a:spcPct val="108000"/>
              </a:lnSpc>
              <a:buNone/>
            </a:pPr>
            <a:r>
              <a:rPr lang="en-US" sz="1220" dirty="0">
                <a:solidFill>
                  <a:srgbClr val="323726"/>
                </a:solidFill>
                <a:latin typeface="Calibri" pitchFamily="34" charset="0"/>
                <a:ea typeface="Calibri" pitchFamily="34" charset="-122"/>
                <a:cs typeface="Calibri" pitchFamily="34" charset="-120"/>
              </a:rPr>
              <a:t>Consequence: this is what makes it a representation benchmark. With enough labels, a weak representation catches up.</a:t>
            </a:r>
            <a:endParaRPr lang="en-US" sz="1220" dirty="0"/>
          </a:p>
        </p:txBody>
      </p:sp>
      <p:sp>
        <p:nvSpPr>
          <p:cNvPr id="20" name="Shape 18"/>
          <p:cNvSpPr/>
          <p:nvPr/>
        </p:nvSpPr>
        <p:spPr>
          <a:xfrm>
            <a:off x="566928" y="4791456"/>
            <a:ext cx="11064240" cy="1261872"/>
          </a:xfrm>
          <a:prstGeom prst="roundRect">
            <a:avLst>
              <a:gd name="adj" fmla="val 4348"/>
            </a:avLst>
          </a:prstGeom>
          <a:solidFill>
            <a:srgbClr val="2A2E1E"/>
          </a:solidFill>
          <a:ln w="12700">
            <a:solidFill>
              <a:srgbClr val="2A2E1E"/>
            </a:solidFill>
            <a:prstDash val="solid"/>
          </a:ln>
        </p:spPr>
        <p:txBody>
          <a:bodyPr/>
          <a:lstStyle/>
          <a:p>
            <a:endParaRPr lang="en-US"/>
          </a:p>
        </p:txBody>
      </p:sp>
      <p:sp>
        <p:nvSpPr>
          <p:cNvPr id="21" name="Text 19"/>
          <p:cNvSpPr txBox="1"/>
          <p:nvPr/>
        </p:nvSpPr>
        <p:spPr>
          <a:xfrm>
            <a:off x="822960" y="5010912"/>
            <a:ext cx="10552176" cy="841248"/>
          </a:xfrm>
          <a:prstGeom prst="rect">
            <a:avLst/>
          </a:prstGeom>
          <a:noFill/>
          <a:ln/>
        </p:spPr>
        <p:txBody>
          <a:bodyPr wrap="square" lIns="0" tIns="0" rIns="0" bIns="0" rtlCol="0" anchor="t"/>
          <a:lstStyle/>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The second principle is doing more work than it appears to. 'Publicly available' in 2021 meant read audiobooks, celebrity interview clips and acted emotional dialogues — and most of the models being evaluated were pre-trained on the first of those.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The corpora behind the ten tasks</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Worth listing, because the pattern matters</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14</a:t>
            </a:r>
            <a:endParaRPr lang="en-US" sz="900" dirty="0"/>
          </a:p>
        </p:txBody>
      </p:sp>
      <p:sp>
        <p:nvSpPr>
          <p:cNvPr id="8" name="Text 6"/>
          <p:cNvSpPr txBox="1"/>
          <p:nvPr/>
        </p:nvSpPr>
        <p:spPr>
          <a:xfrm>
            <a:off x="786384" y="1353312"/>
            <a:ext cx="1005840" cy="274320"/>
          </a:xfrm>
          <a:prstGeom prst="rect">
            <a:avLst/>
          </a:prstGeom>
          <a:noFill/>
          <a:ln/>
        </p:spPr>
        <p:txBody>
          <a:bodyPr wrap="square" lIns="0" tIns="0" rIns="0" bIns="0" rtlCol="0" anchor="ctr"/>
          <a:lstStyle/>
          <a:p>
            <a:pPr marL="0" indent="0">
              <a:buNone/>
            </a:pPr>
            <a:r>
              <a:rPr lang="en-US" sz="1150" b="1" dirty="0">
                <a:solidFill>
                  <a:srgbClr val="6A7059"/>
                </a:solidFill>
                <a:latin typeface="Calibri" pitchFamily="34" charset="0"/>
                <a:ea typeface="Calibri" pitchFamily="34" charset="-122"/>
                <a:cs typeface="Calibri" pitchFamily="34" charset="-120"/>
              </a:rPr>
              <a:t>Task</a:t>
            </a:r>
            <a:endParaRPr lang="en-US" sz="1150" dirty="0"/>
          </a:p>
        </p:txBody>
      </p:sp>
      <p:sp>
        <p:nvSpPr>
          <p:cNvPr id="9" name="Text 7"/>
          <p:cNvSpPr txBox="1"/>
          <p:nvPr/>
        </p:nvSpPr>
        <p:spPr>
          <a:xfrm>
            <a:off x="1828800" y="1353312"/>
            <a:ext cx="2560320" cy="274320"/>
          </a:xfrm>
          <a:prstGeom prst="rect">
            <a:avLst/>
          </a:prstGeom>
          <a:noFill/>
          <a:ln/>
        </p:spPr>
        <p:txBody>
          <a:bodyPr wrap="square" lIns="0" tIns="0" rIns="0" bIns="0" rtlCol="0" anchor="ctr"/>
          <a:lstStyle/>
          <a:p>
            <a:pPr marL="0" indent="0">
              <a:buNone/>
            </a:pPr>
            <a:r>
              <a:rPr lang="en-US" sz="1150" b="1" dirty="0">
                <a:solidFill>
                  <a:srgbClr val="6A7059"/>
                </a:solidFill>
                <a:latin typeface="Calibri" pitchFamily="34" charset="0"/>
                <a:ea typeface="Calibri" pitchFamily="34" charset="-122"/>
                <a:cs typeface="Calibri" pitchFamily="34" charset="-120"/>
              </a:rPr>
              <a:t>Dataset</a:t>
            </a:r>
            <a:endParaRPr lang="en-US" sz="1150" dirty="0"/>
          </a:p>
        </p:txBody>
      </p:sp>
      <p:sp>
        <p:nvSpPr>
          <p:cNvPr id="10" name="Text 8"/>
          <p:cNvSpPr txBox="1"/>
          <p:nvPr/>
        </p:nvSpPr>
        <p:spPr>
          <a:xfrm>
            <a:off x="4480560" y="1353312"/>
            <a:ext cx="5120640" cy="274320"/>
          </a:xfrm>
          <a:prstGeom prst="rect">
            <a:avLst/>
          </a:prstGeom>
          <a:noFill/>
          <a:ln/>
        </p:spPr>
        <p:txBody>
          <a:bodyPr wrap="square" lIns="0" tIns="0" rIns="0" bIns="0" rtlCol="0" anchor="ctr"/>
          <a:lstStyle/>
          <a:p>
            <a:pPr marL="0" indent="0">
              <a:buNone/>
            </a:pPr>
            <a:r>
              <a:rPr lang="en-US" sz="1150" b="1" dirty="0">
                <a:solidFill>
                  <a:srgbClr val="6A7059"/>
                </a:solidFill>
                <a:latin typeface="Calibri" pitchFamily="34" charset="0"/>
                <a:ea typeface="Calibri" pitchFamily="34" charset="-122"/>
                <a:cs typeface="Calibri" pitchFamily="34" charset="-120"/>
              </a:rPr>
              <a:t>Split or protocol</a:t>
            </a:r>
            <a:endParaRPr lang="en-US" sz="1150" dirty="0"/>
          </a:p>
        </p:txBody>
      </p:sp>
      <p:sp>
        <p:nvSpPr>
          <p:cNvPr id="11" name="Text 9"/>
          <p:cNvSpPr txBox="1"/>
          <p:nvPr/>
        </p:nvSpPr>
        <p:spPr>
          <a:xfrm>
            <a:off x="9692640" y="1353312"/>
            <a:ext cx="1828800" cy="274320"/>
          </a:xfrm>
          <a:prstGeom prst="rect">
            <a:avLst/>
          </a:prstGeom>
          <a:noFill/>
          <a:ln/>
        </p:spPr>
        <p:txBody>
          <a:bodyPr wrap="square" lIns="0" tIns="0" rIns="0" bIns="0" rtlCol="0" anchor="ctr"/>
          <a:lstStyle/>
          <a:p>
            <a:pPr marL="0" indent="0">
              <a:buNone/>
            </a:pPr>
            <a:r>
              <a:rPr lang="en-US" sz="1150" b="1" dirty="0">
                <a:solidFill>
                  <a:srgbClr val="6A7059"/>
                </a:solidFill>
                <a:latin typeface="Calibri" pitchFamily="34" charset="0"/>
                <a:ea typeface="Calibri" pitchFamily="34" charset="-122"/>
                <a:cs typeface="Calibri" pitchFamily="34" charset="-120"/>
              </a:rPr>
              <a:t>Metric</a:t>
            </a:r>
            <a:endParaRPr lang="en-US" sz="1150" dirty="0"/>
          </a:p>
        </p:txBody>
      </p:sp>
      <p:sp>
        <p:nvSpPr>
          <p:cNvPr id="12" name="Shape 10"/>
          <p:cNvSpPr/>
          <p:nvPr/>
        </p:nvSpPr>
        <p:spPr>
          <a:xfrm>
            <a:off x="566928" y="1645920"/>
            <a:ext cx="11064240" cy="384048"/>
          </a:xfrm>
          <a:prstGeom prst="roundRect">
            <a:avLst>
              <a:gd name="adj" fmla="val 4762"/>
            </a:avLst>
          </a:prstGeom>
          <a:solidFill>
            <a:srgbClr val="F3F5EC"/>
          </a:solidFill>
          <a:ln w="12700">
            <a:solidFill>
              <a:srgbClr val="E9EDE1"/>
            </a:solidFill>
            <a:prstDash val="solid"/>
          </a:ln>
        </p:spPr>
        <p:txBody>
          <a:bodyPr/>
          <a:lstStyle/>
          <a:p>
            <a:endParaRPr lang="en-US"/>
          </a:p>
        </p:txBody>
      </p:sp>
      <p:sp>
        <p:nvSpPr>
          <p:cNvPr id="13" name="Text 11"/>
          <p:cNvSpPr txBox="1"/>
          <p:nvPr/>
        </p:nvSpPr>
        <p:spPr>
          <a:xfrm>
            <a:off x="786384" y="1709928"/>
            <a:ext cx="1005840" cy="256032"/>
          </a:xfrm>
          <a:prstGeom prst="rect">
            <a:avLst/>
          </a:prstGeom>
          <a:noFill/>
          <a:ln/>
        </p:spPr>
        <p:txBody>
          <a:bodyPr wrap="square" lIns="0" tIns="0" rIns="0" bIns="0" rtlCol="0" anchor="ctr"/>
          <a:lstStyle/>
          <a:p>
            <a:pPr marL="0" indent="0">
              <a:buNone/>
            </a:pPr>
            <a:r>
              <a:rPr lang="en-US" sz="1150" b="1" dirty="0">
                <a:solidFill>
                  <a:srgbClr val="1E2116"/>
                </a:solidFill>
                <a:latin typeface="Calibri" pitchFamily="34" charset="0"/>
                <a:ea typeface="Calibri" pitchFamily="34" charset="-122"/>
                <a:cs typeface="Calibri" pitchFamily="34" charset="-120"/>
              </a:rPr>
              <a:t>PR</a:t>
            </a:r>
            <a:endParaRPr lang="en-US" sz="1150" dirty="0"/>
          </a:p>
        </p:txBody>
      </p:sp>
      <p:sp>
        <p:nvSpPr>
          <p:cNvPr id="14" name="Text 12"/>
          <p:cNvSpPr txBox="1"/>
          <p:nvPr/>
        </p:nvSpPr>
        <p:spPr>
          <a:xfrm>
            <a:off x="1828800" y="1709928"/>
            <a:ext cx="256032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LibriSpeech</a:t>
            </a:r>
            <a:endParaRPr lang="en-US" sz="1150" dirty="0"/>
          </a:p>
        </p:txBody>
      </p:sp>
      <p:sp>
        <p:nvSpPr>
          <p:cNvPr id="15" name="Text 13"/>
          <p:cNvSpPr txBox="1"/>
          <p:nvPr/>
        </p:nvSpPr>
        <p:spPr>
          <a:xfrm>
            <a:off x="4480560" y="1709928"/>
            <a:ext cx="512064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train-clean-100 / dev-clean / test-clean</a:t>
            </a:r>
            <a:endParaRPr lang="en-US" sz="1150" dirty="0"/>
          </a:p>
        </p:txBody>
      </p:sp>
      <p:sp>
        <p:nvSpPr>
          <p:cNvPr id="16" name="Text 14"/>
          <p:cNvSpPr txBox="1"/>
          <p:nvPr/>
        </p:nvSpPr>
        <p:spPr>
          <a:xfrm>
            <a:off x="9692640" y="1709928"/>
            <a:ext cx="182880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PER ↓</a:t>
            </a:r>
            <a:endParaRPr lang="en-US" sz="1150" dirty="0"/>
          </a:p>
        </p:txBody>
      </p:sp>
      <p:sp>
        <p:nvSpPr>
          <p:cNvPr id="17" name="Shape 15"/>
          <p:cNvSpPr/>
          <p:nvPr/>
        </p:nvSpPr>
        <p:spPr>
          <a:xfrm>
            <a:off x="566928" y="2066544"/>
            <a:ext cx="11064240" cy="384048"/>
          </a:xfrm>
          <a:prstGeom prst="roundRect">
            <a:avLst>
              <a:gd name="adj" fmla="val 4762"/>
            </a:avLst>
          </a:prstGeom>
          <a:solidFill>
            <a:srgbClr val="FFFFFF"/>
          </a:solidFill>
          <a:ln w="12700">
            <a:solidFill>
              <a:srgbClr val="E9EDE1"/>
            </a:solidFill>
            <a:prstDash val="solid"/>
          </a:ln>
        </p:spPr>
        <p:txBody>
          <a:bodyPr/>
          <a:lstStyle/>
          <a:p>
            <a:endParaRPr lang="en-US"/>
          </a:p>
        </p:txBody>
      </p:sp>
      <p:sp>
        <p:nvSpPr>
          <p:cNvPr id="18" name="Text 16"/>
          <p:cNvSpPr txBox="1"/>
          <p:nvPr/>
        </p:nvSpPr>
        <p:spPr>
          <a:xfrm>
            <a:off x="786384" y="2130552"/>
            <a:ext cx="1005840" cy="256032"/>
          </a:xfrm>
          <a:prstGeom prst="rect">
            <a:avLst/>
          </a:prstGeom>
          <a:noFill/>
          <a:ln/>
        </p:spPr>
        <p:txBody>
          <a:bodyPr wrap="square" lIns="0" tIns="0" rIns="0" bIns="0" rtlCol="0" anchor="ctr"/>
          <a:lstStyle/>
          <a:p>
            <a:pPr marL="0" indent="0">
              <a:buNone/>
            </a:pPr>
            <a:r>
              <a:rPr lang="en-US" sz="1150" b="1" dirty="0">
                <a:solidFill>
                  <a:srgbClr val="1E2116"/>
                </a:solidFill>
                <a:latin typeface="Calibri" pitchFamily="34" charset="0"/>
                <a:ea typeface="Calibri" pitchFamily="34" charset="-122"/>
                <a:cs typeface="Calibri" pitchFamily="34" charset="-120"/>
              </a:rPr>
              <a:t>ASR</a:t>
            </a:r>
            <a:endParaRPr lang="en-US" sz="1150" dirty="0"/>
          </a:p>
        </p:txBody>
      </p:sp>
      <p:sp>
        <p:nvSpPr>
          <p:cNvPr id="19" name="Text 17"/>
          <p:cNvSpPr txBox="1"/>
          <p:nvPr/>
        </p:nvSpPr>
        <p:spPr>
          <a:xfrm>
            <a:off x="1828800" y="2130552"/>
            <a:ext cx="256032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LibriSpeech</a:t>
            </a:r>
            <a:endParaRPr lang="en-US" sz="1150" dirty="0"/>
          </a:p>
        </p:txBody>
      </p:sp>
      <p:sp>
        <p:nvSpPr>
          <p:cNvPr id="20" name="Text 18"/>
          <p:cNvSpPr txBox="1"/>
          <p:nvPr/>
        </p:nvSpPr>
        <p:spPr>
          <a:xfrm>
            <a:off x="4480560" y="2130552"/>
            <a:ext cx="512064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train-clean-100 / dev-clean / test-clean, 4-gram LM</a:t>
            </a:r>
            <a:endParaRPr lang="en-US" sz="1150" dirty="0"/>
          </a:p>
        </p:txBody>
      </p:sp>
      <p:sp>
        <p:nvSpPr>
          <p:cNvPr id="21" name="Text 19"/>
          <p:cNvSpPr txBox="1"/>
          <p:nvPr/>
        </p:nvSpPr>
        <p:spPr>
          <a:xfrm>
            <a:off x="9692640" y="2130552"/>
            <a:ext cx="182880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WER ↓</a:t>
            </a:r>
            <a:endParaRPr lang="en-US" sz="1150" dirty="0"/>
          </a:p>
        </p:txBody>
      </p:sp>
      <p:sp>
        <p:nvSpPr>
          <p:cNvPr id="22" name="Shape 20"/>
          <p:cNvSpPr/>
          <p:nvPr/>
        </p:nvSpPr>
        <p:spPr>
          <a:xfrm>
            <a:off x="566928" y="2487168"/>
            <a:ext cx="11064240" cy="384048"/>
          </a:xfrm>
          <a:prstGeom prst="roundRect">
            <a:avLst>
              <a:gd name="adj" fmla="val 4762"/>
            </a:avLst>
          </a:prstGeom>
          <a:solidFill>
            <a:srgbClr val="F3F5EC"/>
          </a:solidFill>
          <a:ln w="12700">
            <a:solidFill>
              <a:srgbClr val="E9EDE1"/>
            </a:solidFill>
            <a:prstDash val="solid"/>
          </a:ln>
        </p:spPr>
        <p:txBody>
          <a:bodyPr/>
          <a:lstStyle/>
          <a:p>
            <a:endParaRPr lang="en-US"/>
          </a:p>
        </p:txBody>
      </p:sp>
      <p:sp>
        <p:nvSpPr>
          <p:cNvPr id="23" name="Text 21"/>
          <p:cNvSpPr txBox="1"/>
          <p:nvPr/>
        </p:nvSpPr>
        <p:spPr>
          <a:xfrm>
            <a:off x="786384" y="2551176"/>
            <a:ext cx="1005840" cy="256032"/>
          </a:xfrm>
          <a:prstGeom prst="rect">
            <a:avLst/>
          </a:prstGeom>
          <a:noFill/>
          <a:ln/>
        </p:spPr>
        <p:txBody>
          <a:bodyPr wrap="square" lIns="0" tIns="0" rIns="0" bIns="0" rtlCol="0" anchor="ctr"/>
          <a:lstStyle/>
          <a:p>
            <a:pPr marL="0" indent="0">
              <a:buNone/>
            </a:pPr>
            <a:r>
              <a:rPr lang="en-US" sz="1150" b="1" dirty="0">
                <a:solidFill>
                  <a:srgbClr val="1E2116"/>
                </a:solidFill>
                <a:latin typeface="Calibri" pitchFamily="34" charset="0"/>
                <a:ea typeface="Calibri" pitchFamily="34" charset="-122"/>
                <a:cs typeface="Calibri" pitchFamily="34" charset="-120"/>
              </a:rPr>
              <a:t>KS</a:t>
            </a:r>
            <a:endParaRPr lang="en-US" sz="1150" dirty="0"/>
          </a:p>
        </p:txBody>
      </p:sp>
      <p:sp>
        <p:nvSpPr>
          <p:cNvPr id="24" name="Text 22"/>
          <p:cNvSpPr txBox="1"/>
          <p:nvPr/>
        </p:nvSpPr>
        <p:spPr>
          <a:xfrm>
            <a:off x="1828800" y="2551176"/>
            <a:ext cx="256032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Speech Commands v1.0</a:t>
            </a:r>
            <a:endParaRPr lang="en-US" sz="1150" dirty="0"/>
          </a:p>
        </p:txBody>
      </p:sp>
      <p:sp>
        <p:nvSpPr>
          <p:cNvPr id="25" name="Text 23"/>
          <p:cNvSpPr txBox="1"/>
          <p:nvPr/>
        </p:nvSpPr>
        <p:spPr>
          <a:xfrm>
            <a:off x="4480560" y="2551176"/>
            <a:ext cx="512064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10 keywords + silence + unknown</a:t>
            </a:r>
            <a:endParaRPr lang="en-US" sz="1150" dirty="0"/>
          </a:p>
        </p:txBody>
      </p:sp>
      <p:sp>
        <p:nvSpPr>
          <p:cNvPr id="26" name="Text 24"/>
          <p:cNvSpPr txBox="1"/>
          <p:nvPr/>
        </p:nvSpPr>
        <p:spPr>
          <a:xfrm>
            <a:off x="9692640" y="2551176"/>
            <a:ext cx="182880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Accuracy ↑</a:t>
            </a:r>
            <a:endParaRPr lang="en-US" sz="1150" dirty="0"/>
          </a:p>
        </p:txBody>
      </p:sp>
      <p:sp>
        <p:nvSpPr>
          <p:cNvPr id="27" name="Shape 25"/>
          <p:cNvSpPr/>
          <p:nvPr/>
        </p:nvSpPr>
        <p:spPr>
          <a:xfrm>
            <a:off x="566928" y="2907792"/>
            <a:ext cx="11064240" cy="384048"/>
          </a:xfrm>
          <a:prstGeom prst="roundRect">
            <a:avLst>
              <a:gd name="adj" fmla="val 4762"/>
            </a:avLst>
          </a:prstGeom>
          <a:solidFill>
            <a:srgbClr val="FFFFFF"/>
          </a:solidFill>
          <a:ln w="12700">
            <a:solidFill>
              <a:srgbClr val="E9EDE1"/>
            </a:solidFill>
            <a:prstDash val="solid"/>
          </a:ln>
        </p:spPr>
        <p:txBody>
          <a:bodyPr/>
          <a:lstStyle/>
          <a:p>
            <a:endParaRPr lang="en-US"/>
          </a:p>
        </p:txBody>
      </p:sp>
      <p:sp>
        <p:nvSpPr>
          <p:cNvPr id="28" name="Text 26"/>
          <p:cNvSpPr txBox="1"/>
          <p:nvPr/>
        </p:nvSpPr>
        <p:spPr>
          <a:xfrm>
            <a:off x="786384" y="2971800"/>
            <a:ext cx="1005840" cy="256032"/>
          </a:xfrm>
          <a:prstGeom prst="rect">
            <a:avLst/>
          </a:prstGeom>
          <a:noFill/>
          <a:ln/>
        </p:spPr>
        <p:txBody>
          <a:bodyPr wrap="square" lIns="0" tIns="0" rIns="0" bIns="0" rtlCol="0" anchor="ctr"/>
          <a:lstStyle/>
          <a:p>
            <a:pPr marL="0" indent="0">
              <a:buNone/>
            </a:pPr>
            <a:r>
              <a:rPr lang="en-US" sz="1150" b="1" dirty="0">
                <a:solidFill>
                  <a:srgbClr val="1E2116"/>
                </a:solidFill>
                <a:latin typeface="Calibri" pitchFamily="34" charset="0"/>
                <a:ea typeface="Calibri" pitchFamily="34" charset="-122"/>
                <a:cs typeface="Calibri" pitchFamily="34" charset="-120"/>
              </a:rPr>
              <a:t>QbE</a:t>
            </a:r>
            <a:endParaRPr lang="en-US" sz="1150" dirty="0"/>
          </a:p>
        </p:txBody>
      </p:sp>
      <p:sp>
        <p:nvSpPr>
          <p:cNvPr id="29" name="Text 27"/>
          <p:cNvSpPr txBox="1"/>
          <p:nvPr/>
        </p:nvSpPr>
        <p:spPr>
          <a:xfrm>
            <a:off x="1828800" y="2971800"/>
            <a:ext cx="256032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QUESST 2014</a:t>
            </a:r>
            <a:endParaRPr lang="en-US" sz="1150" dirty="0"/>
          </a:p>
        </p:txBody>
      </p:sp>
      <p:sp>
        <p:nvSpPr>
          <p:cNvPr id="30" name="Text 28"/>
          <p:cNvSpPr txBox="1"/>
          <p:nvPr/>
        </p:nvSpPr>
        <p:spPr>
          <a:xfrm>
            <a:off x="4480560" y="2971800"/>
            <a:ext cx="512064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English subset only</a:t>
            </a:r>
            <a:endParaRPr lang="en-US" sz="1150" dirty="0"/>
          </a:p>
        </p:txBody>
      </p:sp>
      <p:sp>
        <p:nvSpPr>
          <p:cNvPr id="31" name="Text 29"/>
          <p:cNvSpPr txBox="1"/>
          <p:nvPr/>
        </p:nvSpPr>
        <p:spPr>
          <a:xfrm>
            <a:off x="9692640" y="2971800"/>
            <a:ext cx="182880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MTWV ↑</a:t>
            </a:r>
            <a:endParaRPr lang="en-US" sz="1150" dirty="0"/>
          </a:p>
        </p:txBody>
      </p:sp>
      <p:sp>
        <p:nvSpPr>
          <p:cNvPr id="32" name="Shape 30"/>
          <p:cNvSpPr/>
          <p:nvPr/>
        </p:nvSpPr>
        <p:spPr>
          <a:xfrm>
            <a:off x="566928" y="3328416"/>
            <a:ext cx="11064240" cy="384048"/>
          </a:xfrm>
          <a:prstGeom prst="roundRect">
            <a:avLst>
              <a:gd name="adj" fmla="val 4762"/>
            </a:avLst>
          </a:prstGeom>
          <a:solidFill>
            <a:srgbClr val="F3F5EC"/>
          </a:solidFill>
          <a:ln w="12700">
            <a:solidFill>
              <a:srgbClr val="E9EDE1"/>
            </a:solidFill>
            <a:prstDash val="solid"/>
          </a:ln>
        </p:spPr>
        <p:txBody>
          <a:bodyPr/>
          <a:lstStyle/>
          <a:p>
            <a:endParaRPr lang="en-US"/>
          </a:p>
        </p:txBody>
      </p:sp>
      <p:sp>
        <p:nvSpPr>
          <p:cNvPr id="33" name="Text 31"/>
          <p:cNvSpPr txBox="1"/>
          <p:nvPr/>
        </p:nvSpPr>
        <p:spPr>
          <a:xfrm>
            <a:off x="786384" y="3392424"/>
            <a:ext cx="1005840" cy="256032"/>
          </a:xfrm>
          <a:prstGeom prst="rect">
            <a:avLst/>
          </a:prstGeom>
          <a:noFill/>
          <a:ln/>
        </p:spPr>
        <p:txBody>
          <a:bodyPr wrap="square" lIns="0" tIns="0" rIns="0" bIns="0" rtlCol="0" anchor="ctr"/>
          <a:lstStyle/>
          <a:p>
            <a:pPr marL="0" indent="0">
              <a:buNone/>
            </a:pPr>
            <a:r>
              <a:rPr lang="en-US" sz="1150" b="1" dirty="0">
                <a:solidFill>
                  <a:srgbClr val="1E2116"/>
                </a:solidFill>
                <a:latin typeface="Calibri" pitchFamily="34" charset="0"/>
                <a:ea typeface="Calibri" pitchFamily="34" charset="-122"/>
                <a:cs typeface="Calibri" pitchFamily="34" charset="-120"/>
              </a:rPr>
              <a:t>SID</a:t>
            </a:r>
            <a:endParaRPr lang="en-US" sz="1150" dirty="0"/>
          </a:p>
        </p:txBody>
      </p:sp>
      <p:sp>
        <p:nvSpPr>
          <p:cNvPr id="34" name="Text 32"/>
          <p:cNvSpPr txBox="1"/>
          <p:nvPr/>
        </p:nvSpPr>
        <p:spPr>
          <a:xfrm>
            <a:off x="1828800" y="3392424"/>
            <a:ext cx="256032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VoxCeleb1</a:t>
            </a:r>
            <a:endParaRPr lang="en-US" sz="1150" dirty="0"/>
          </a:p>
        </p:txBody>
      </p:sp>
      <p:sp>
        <p:nvSpPr>
          <p:cNvPr id="35" name="Text 33"/>
          <p:cNvSpPr txBox="1"/>
          <p:nvPr/>
        </p:nvSpPr>
        <p:spPr>
          <a:xfrm>
            <a:off x="4480560" y="3392424"/>
            <a:ext cx="512064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Closed speaker set</a:t>
            </a:r>
            <a:endParaRPr lang="en-US" sz="1150" dirty="0"/>
          </a:p>
        </p:txBody>
      </p:sp>
      <p:sp>
        <p:nvSpPr>
          <p:cNvPr id="36" name="Text 34"/>
          <p:cNvSpPr txBox="1"/>
          <p:nvPr/>
        </p:nvSpPr>
        <p:spPr>
          <a:xfrm>
            <a:off x="9692640" y="3392424"/>
            <a:ext cx="182880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Accuracy ↑</a:t>
            </a:r>
            <a:endParaRPr lang="en-US" sz="1150" dirty="0"/>
          </a:p>
        </p:txBody>
      </p:sp>
      <p:sp>
        <p:nvSpPr>
          <p:cNvPr id="37" name="Shape 35"/>
          <p:cNvSpPr/>
          <p:nvPr/>
        </p:nvSpPr>
        <p:spPr>
          <a:xfrm>
            <a:off x="566928" y="3749040"/>
            <a:ext cx="11064240" cy="384048"/>
          </a:xfrm>
          <a:prstGeom prst="roundRect">
            <a:avLst>
              <a:gd name="adj" fmla="val 4762"/>
            </a:avLst>
          </a:prstGeom>
          <a:solidFill>
            <a:srgbClr val="FFFFFF"/>
          </a:solidFill>
          <a:ln w="12700">
            <a:solidFill>
              <a:srgbClr val="E9EDE1"/>
            </a:solidFill>
            <a:prstDash val="solid"/>
          </a:ln>
        </p:spPr>
        <p:txBody>
          <a:bodyPr/>
          <a:lstStyle/>
          <a:p>
            <a:endParaRPr lang="en-US"/>
          </a:p>
        </p:txBody>
      </p:sp>
      <p:sp>
        <p:nvSpPr>
          <p:cNvPr id="38" name="Text 36"/>
          <p:cNvSpPr txBox="1"/>
          <p:nvPr/>
        </p:nvSpPr>
        <p:spPr>
          <a:xfrm>
            <a:off x="786384" y="3813048"/>
            <a:ext cx="1005840" cy="256032"/>
          </a:xfrm>
          <a:prstGeom prst="rect">
            <a:avLst/>
          </a:prstGeom>
          <a:noFill/>
          <a:ln/>
        </p:spPr>
        <p:txBody>
          <a:bodyPr wrap="square" lIns="0" tIns="0" rIns="0" bIns="0" rtlCol="0" anchor="ctr"/>
          <a:lstStyle/>
          <a:p>
            <a:pPr marL="0" indent="0">
              <a:buNone/>
            </a:pPr>
            <a:r>
              <a:rPr lang="en-US" sz="1150" b="1" dirty="0">
                <a:solidFill>
                  <a:srgbClr val="1E2116"/>
                </a:solidFill>
                <a:latin typeface="Calibri" pitchFamily="34" charset="0"/>
                <a:ea typeface="Calibri" pitchFamily="34" charset="-122"/>
                <a:cs typeface="Calibri" pitchFamily="34" charset="-120"/>
              </a:rPr>
              <a:t>ASV</a:t>
            </a:r>
            <a:endParaRPr lang="en-US" sz="1150" dirty="0"/>
          </a:p>
        </p:txBody>
      </p:sp>
      <p:sp>
        <p:nvSpPr>
          <p:cNvPr id="39" name="Text 37"/>
          <p:cNvSpPr txBox="1"/>
          <p:nvPr/>
        </p:nvSpPr>
        <p:spPr>
          <a:xfrm>
            <a:off x="1828800" y="3813048"/>
            <a:ext cx="256032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VoxCeleb1</a:t>
            </a:r>
            <a:endParaRPr lang="en-US" sz="1150" dirty="0"/>
          </a:p>
        </p:txBody>
      </p:sp>
      <p:sp>
        <p:nvSpPr>
          <p:cNvPr id="40" name="Text 38"/>
          <p:cNvSpPr txBox="1"/>
          <p:nvPr/>
        </p:nvSpPr>
        <p:spPr>
          <a:xfrm>
            <a:off x="4480560" y="3813048"/>
            <a:ext cx="512064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No VoxCeleb2, no noise augmentation</a:t>
            </a:r>
            <a:endParaRPr lang="en-US" sz="1150" dirty="0"/>
          </a:p>
        </p:txBody>
      </p:sp>
      <p:sp>
        <p:nvSpPr>
          <p:cNvPr id="41" name="Text 39"/>
          <p:cNvSpPr txBox="1"/>
          <p:nvPr/>
        </p:nvSpPr>
        <p:spPr>
          <a:xfrm>
            <a:off x="9692640" y="3813048"/>
            <a:ext cx="182880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EER ↓</a:t>
            </a:r>
            <a:endParaRPr lang="en-US" sz="1150" dirty="0"/>
          </a:p>
        </p:txBody>
      </p:sp>
      <p:sp>
        <p:nvSpPr>
          <p:cNvPr id="42" name="Shape 40"/>
          <p:cNvSpPr/>
          <p:nvPr/>
        </p:nvSpPr>
        <p:spPr>
          <a:xfrm>
            <a:off x="566928" y="4169664"/>
            <a:ext cx="11064240" cy="384048"/>
          </a:xfrm>
          <a:prstGeom prst="roundRect">
            <a:avLst>
              <a:gd name="adj" fmla="val 4762"/>
            </a:avLst>
          </a:prstGeom>
          <a:solidFill>
            <a:srgbClr val="F3F5EC"/>
          </a:solidFill>
          <a:ln w="12700">
            <a:solidFill>
              <a:srgbClr val="E9EDE1"/>
            </a:solidFill>
            <a:prstDash val="solid"/>
          </a:ln>
        </p:spPr>
        <p:txBody>
          <a:bodyPr/>
          <a:lstStyle/>
          <a:p>
            <a:endParaRPr lang="en-US"/>
          </a:p>
        </p:txBody>
      </p:sp>
      <p:sp>
        <p:nvSpPr>
          <p:cNvPr id="43" name="Text 41"/>
          <p:cNvSpPr txBox="1"/>
          <p:nvPr/>
        </p:nvSpPr>
        <p:spPr>
          <a:xfrm>
            <a:off x="786384" y="4233672"/>
            <a:ext cx="1005840" cy="256032"/>
          </a:xfrm>
          <a:prstGeom prst="rect">
            <a:avLst/>
          </a:prstGeom>
          <a:noFill/>
          <a:ln/>
        </p:spPr>
        <p:txBody>
          <a:bodyPr wrap="square" lIns="0" tIns="0" rIns="0" bIns="0" rtlCol="0" anchor="ctr"/>
          <a:lstStyle/>
          <a:p>
            <a:pPr marL="0" indent="0">
              <a:buNone/>
            </a:pPr>
            <a:r>
              <a:rPr lang="en-US" sz="1150" b="1" dirty="0">
                <a:solidFill>
                  <a:srgbClr val="1E2116"/>
                </a:solidFill>
                <a:latin typeface="Calibri" pitchFamily="34" charset="0"/>
                <a:ea typeface="Calibri" pitchFamily="34" charset="-122"/>
                <a:cs typeface="Calibri" pitchFamily="34" charset="-120"/>
              </a:rPr>
              <a:t>SD</a:t>
            </a:r>
            <a:endParaRPr lang="en-US" sz="1150" dirty="0"/>
          </a:p>
        </p:txBody>
      </p:sp>
      <p:sp>
        <p:nvSpPr>
          <p:cNvPr id="44" name="Text 42"/>
          <p:cNvSpPr txBox="1"/>
          <p:nvPr/>
        </p:nvSpPr>
        <p:spPr>
          <a:xfrm>
            <a:off x="1828800" y="4233672"/>
            <a:ext cx="256032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LibriMix</a:t>
            </a:r>
            <a:endParaRPr lang="en-US" sz="1150" dirty="0"/>
          </a:p>
        </p:txBody>
      </p:sp>
      <p:sp>
        <p:nvSpPr>
          <p:cNvPr id="45" name="Text 43"/>
          <p:cNvSpPr txBox="1"/>
          <p:nvPr/>
        </p:nvSpPr>
        <p:spPr>
          <a:xfrm>
            <a:off x="4480560" y="4233672"/>
            <a:ext cx="512064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Two-speaker mixtures from LibriSpeech</a:t>
            </a:r>
            <a:endParaRPr lang="en-US" sz="1150" dirty="0"/>
          </a:p>
        </p:txBody>
      </p:sp>
      <p:sp>
        <p:nvSpPr>
          <p:cNvPr id="46" name="Text 44"/>
          <p:cNvSpPr txBox="1"/>
          <p:nvPr/>
        </p:nvSpPr>
        <p:spPr>
          <a:xfrm>
            <a:off x="9692640" y="4233672"/>
            <a:ext cx="182880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DER ↓</a:t>
            </a:r>
            <a:endParaRPr lang="en-US" sz="1150" dirty="0"/>
          </a:p>
        </p:txBody>
      </p:sp>
      <p:sp>
        <p:nvSpPr>
          <p:cNvPr id="47" name="Shape 45"/>
          <p:cNvSpPr/>
          <p:nvPr/>
        </p:nvSpPr>
        <p:spPr>
          <a:xfrm>
            <a:off x="566928" y="4590288"/>
            <a:ext cx="11064240" cy="384048"/>
          </a:xfrm>
          <a:prstGeom prst="roundRect">
            <a:avLst>
              <a:gd name="adj" fmla="val 4762"/>
            </a:avLst>
          </a:prstGeom>
          <a:solidFill>
            <a:srgbClr val="FFFFFF"/>
          </a:solidFill>
          <a:ln w="12700">
            <a:solidFill>
              <a:srgbClr val="E9EDE1"/>
            </a:solidFill>
            <a:prstDash val="solid"/>
          </a:ln>
        </p:spPr>
        <p:txBody>
          <a:bodyPr/>
          <a:lstStyle/>
          <a:p>
            <a:endParaRPr lang="en-US"/>
          </a:p>
        </p:txBody>
      </p:sp>
      <p:sp>
        <p:nvSpPr>
          <p:cNvPr id="48" name="Text 46"/>
          <p:cNvSpPr txBox="1"/>
          <p:nvPr/>
        </p:nvSpPr>
        <p:spPr>
          <a:xfrm>
            <a:off x="786384" y="4654296"/>
            <a:ext cx="1005840" cy="256032"/>
          </a:xfrm>
          <a:prstGeom prst="rect">
            <a:avLst/>
          </a:prstGeom>
          <a:noFill/>
          <a:ln/>
        </p:spPr>
        <p:txBody>
          <a:bodyPr wrap="square" lIns="0" tIns="0" rIns="0" bIns="0" rtlCol="0" anchor="ctr"/>
          <a:lstStyle/>
          <a:p>
            <a:pPr marL="0" indent="0">
              <a:buNone/>
            </a:pPr>
            <a:r>
              <a:rPr lang="en-US" sz="1150" b="1" dirty="0">
                <a:solidFill>
                  <a:srgbClr val="1E2116"/>
                </a:solidFill>
                <a:latin typeface="Calibri" pitchFamily="34" charset="0"/>
                <a:ea typeface="Calibri" pitchFamily="34" charset="-122"/>
                <a:cs typeface="Calibri" pitchFamily="34" charset="-120"/>
              </a:rPr>
              <a:t>IC</a:t>
            </a:r>
            <a:endParaRPr lang="en-US" sz="1150" dirty="0"/>
          </a:p>
        </p:txBody>
      </p:sp>
      <p:sp>
        <p:nvSpPr>
          <p:cNvPr id="49" name="Text 47"/>
          <p:cNvSpPr txBox="1"/>
          <p:nvPr/>
        </p:nvSpPr>
        <p:spPr>
          <a:xfrm>
            <a:off x="1828800" y="4654296"/>
            <a:ext cx="256032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Fluent Speech Commands</a:t>
            </a:r>
            <a:endParaRPr lang="en-US" sz="1150" dirty="0"/>
          </a:p>
        </p:txBody>
      </p:sp>
      <p:sp>
        <p:nvSpPr>
          <p:cNvPr id="50" name="Text 48"/>
          <p:cNvSpPr txBox="1"/>
          <p:nvPr/>
        </p:nvSpPr>
        <p:spPr>
          <a:xfrm>
            <a:off x="4480560" y="4654296"/>
            <a:ext cx="512064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Action, object and location labels</a:t>
            </a:r>
            <a:endParaRPr lang="en-US" sz="1150" dirty="0"/>
          </a:p>
        </p:txBody>
      </p:sp>
      <p:sp>
        <p:nvSpPr>
          <p:cNvPr id="51" name="Text 49"/>
          <p:cNvSpPr txBox="1"/>
          <p:nvPr/>
        </p:nvSpPr>
        <p:spPr>
          <a:xfrm>
            <a:off x="9692640" y="4654296"/>
            <a:ext cx="182880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Accuracy ↑</a:t>
            </a:r>
            <a:endParaRPr lang="en-US" sz="1150" dirty="0"/>
          </a:p>
        </p:txBody>
      </p:sp>
      <p:sp>
        <p:nvSpPr>
          <p:cNvPr id="52" name="Shape 50"/>
          <p:cNvSpPr/>
          <p:nvPr/>
        </p:nvSpPr>
        <p:spPr>
          <a:xfrm>
            <a:off x="566928" y="5010912"/>
            <a:ext cx="11064240" cy="384048"/>
          </a:xfrm>
          <a:prstGeom prst="roundRect">
            <a:avLst>
              <a:gd name="adj" fmla="val 4762"/>
            </a:avLst>
          </a:prstGeom>
          <a:solidFill>
            <a:srgbClr val="F3F5EC"/>
          </a:solidFill>
          <a:ln w="12700">
            <a:solidFill>
              <a:srgbClr val="E9EDE1"/>
            </a:solidFill>
            <a:prstDash val="solid"/>
          </a:ln>
        </p:spPr>
        <p:txBody>
          <a:bodyPr/>
          <a:lstStyle/>
          <a:p>
            <a:endParaRPr lang="en-US"/>
          </a:p>
        </p:txBody>
      </p:sp>
      <p:sp>
        <p:nvSpPr>
          <p:cNvPr id="53" name="Text 51"/>
          <p:cNvSpPr txBox="1"/>
          <p:nvPr/>
        </p:nvSpPr>
        <p:spPr>
          <a:xfrm>
            <a:off x="786384" y="5074920"/>
            <a:ext cx="1005840" cy="256032"/>
          </a:xfrm>
          <a:prstGeom prst="rect">
            <a:avLst/>
          </a:prstGeom>
          <a:noFill/>
          <a:ln/>
        </p:spPr>
        <p:txBody>
          <a:bodyPr wrap="square" lIns="0" tIns="0" rIns="0" bIns="0" rtlCol="0" anchor="ctr"/>
          <a:lstStyle/>
          <a:p>
            <a:pPr marL="0" indent="0">
              <a:buNone/>
            </a:pPr>
            <a:r>
              <a:rPr lang="en-US" sz="1150" b="1" dirty="0">
                <a:solidFill>
                  <a:srgbClr val="1E2116"/>
                </a:solidFill>
                <a:latin typeface="Calibri" pitchFamily="34" charset="0"/>
                <a:ea typeface="Calibri" pitchFamily="34" charset="-122"/>
                <a:cs typeface="Calibri" pitchFamily="34" charset="-120"/>
              </a:rPr>
              <a:t>SF</a:t>
            </a:r>
            <a:endParaRPr lang="en-US" sz="1150" dirty="0"/>
          </a:p>
        </p:txBody>
      </p:sp>
      <p:sp>
        <p:nvSpPr>
          <p:cNvPr id="54" name="Text 52"/>
          <p:cNvSpPr txBox="1"/>
          <p:nvPr/>
        </p:nvSpPr>
        <p:spPr>
          <a:xfrm>
            <a:off x="1828800" y="5074920"/>
            <a:ext cx="256032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Audio SNIPS</a:t>
            </a:r>
            <a:endParaRPr lang="en-US" sz="1150" dirty="0"/>
          </a:p>
        </p:txBody>
      </p:sp>
      <p:sp>
        <p:nvSpPr>
          <p:cNvPr id="55" name="Text 53"/>
          <p:cNvSpPr txBox="1"/>
          <p:nvPr/>
        </p:nvSpPr>
        <p:spPr>
          <a:xfrm>
            <a:off x="4480560" y="5074920"/>
            <a:ext cx="512064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US-accent speakers train, others test</a:t>
            </a:r>
            <a:endParaRPr lang="en-US" sz="1150" dirty="0"/>
          </a:p>
        </p:txBody>
      </p:sp>
      <p:sp>
        <p:nvSpPr>
          <p:cNvPr id="56" name="Text 54"/>
          <p:cNvSpPr txBox="1"/>
          <p:nvPr/>
        </p:nvSpPr>
        <p:spPr>
          <a:xfrm>
            <a:off x="9692640" y="5074920"/>
            <a:ext cx="182880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F1 ↑ / CER ↓</a:t>
            </a:r>
            <a:endParaRPr lang="en-US" sz="1150" dirty="0"/>
          </a:p>
        </p:txBody>
      </p:sp>
      <p:sp>
        <p:nvSpPr>
          <p:cNvPr id="57" name="Shape 55"/>
          <p:cNvSpPr/>
          <p:nvPr/>
        </p:nvSpPr>
        <p:spPr>
          <a:xfrm>
            <a:off x="566928" y="5431536"/>
            <a:ext cx="11064240" cy="384048"/>
          </a:xfrm>
          <a:prstGeom prst="roundRect">
            <a:avLst>
              <a:gd name="adj" fmla="val 4762"/>
            </a:avLst>
          </a:prstGeom>
          <a:solidFill>
            <a:srgbClr val="FFFFFF"/>
          </a:solidFill>
          <a:ln w="12700">
            <a:solidFill>
              <a:srgbClr val="E9EDE1"/>
            </a:solidFill>
            <a:prstDash val="solid"/>
          </a:ln>
        </p:spPr>
        <p:txBody>
          <a:bodyPr/>
          <a:lstStyle/>
          <a:p>
            <a:endParaRPr lang="en-US"/>
          </a:p>
        </p:txBody>
      </p:sp>
      <p:sp>
        <p:nvSpPr>
          <p:cNvPr id="58" name="Text 56"/>
          <p:cNvSpPr txBox="1"/>
          <p:nvPr/>
        </p:nvSpPr>
        <p:spPr>
          <a:xfrm>
            <a:off x="786384" y="5495544"/>
            <a:ext cx="1005840" cy="256032"/>
          </a:xfrm>
          <a:prstGeom prst="rect">
            <a:avLst/>
          </a:prstGeom>
          <a:noFill/>
          <a:ln/>
        </p:spPr>
        <p:txBody>
          <a:bodyPr wrap="square" lIns="0" tIns="0" rIns="0" bIns="0" rtlCol="0" anchor="ctr"/>
          <a:lstStyle/>
          <a:p>
            <a:pPr marL="0" indent="0">
              <a:buNone/>
            </a:pPr>
            <a:r>
              <a:rPr lang="en-US" sz="1150" b="1" dirty="0">
                <a:solidFill>
                  <a:srgbClr val="1E2116"/>
                </a:solidFill>
                <a:latin typeface="Calibri" pitchFamily="34" charset="0"/>
                <a:ea typeface="Calibri" pitchFamily="34" charset="-122"/>
                <a:cs typeface="Calibri" pitchFamily="34" charset="-120"/>
              </a:rPr>
              <a:t>ER</a:t>
            </a:r>
            <a:endParaRPr lang="en-US" sz="1150" dirty="0"/>
          </a:p>
        </p:txBody>
      </p:sp>
      <p:sp>
        <p:nvSpPr>
          <p:cNvPr id="59" name="Text 57"/>
          <p:cNvSpPr txBox="1"/>
          <p:nvPr/>
        </p:nvSpPr>
        <p:spPr>
          <a:xfrm>
            <a:off x="1828800" y="5495544"/>
            <a:ext cx="256032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IEMOCAP</a:t>
            </a:r>
            <a:endParaRPr lang="en-US" sz="1150" dirty="0"/>
          </a:p>
        </p:txBody>
      </p:sp>
      <p:sp>
        <p:nvSpPr>
          <p:cNvPr id="60" name="Text 58"/>
          <p:cNvSpPr txBox="1"/>
          <p:nvPr/>
        </p:nvSpPr>
        <p:spPr>
          <a:xfrm>
            <a:off x="4480560" y="5495544"/>
            <a:ext cx="512064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Four classes, five-fold cross-validation</a:t>
            </a:r>
            <a:endParaRPr lang="en-US" sz="1150" dirty="0"/>
          </a:p>
        </p:txBody>
      </p:sp>
      <p:sp>
        <p:nvSpPr>
          <p:cNvPr id="61" name="Text 59"/>
          <p:cNvSpPr txBox="1"/>
          <p:nvPr/>
        </p:nvSpPr>
        <p:spPr>
          <a:xfrm>
            <a:off x="9692640" y="5495544"/>
            <a:ext cx="1828800" cy="256032"/>
          </a:xfrm>
          <a:prstGeom prst="rect">
            <a:avLst/>
          </a:prstGeom>
          <a:noFill/>
          <a:ln/>
        </p:spPr>
        <p:txBody>
          <a:bodyPr wrap="square" lIns="0" tIns="0" rIns="0" bIns="0" rtlCol="0" anchor="ctr"/>
          <a:lstStyle/>
          <a:p>
            <a:pPr marL="0" indent="0">
              <a:buNone/>
            </a:pPr>
            <a:r>
              <a:rPr lang="en-US" sz="1150" dirty="0">
                <a:solidFill>
                  <a:srgbClr val="323726"/>
                </a:solidFill>
                <a:latin typeface="Calibri" pitchFamily="34" charset="0"/>
                <a:ea typeface="Calibri" pitchFamily="34" charset="-122"/>
                <a:cs typeface="Calibri" pitchFamily="34" charset="-120"/>
              </a:rPr>
              <a:t>Accuracy ↑</a:t>
            </a:r>
            <a:endParaRPr lang="en-US" sz="1150" dirty="0"/>
          </a:p>
        </p:txBody>
      </p:sp>
      <p:sp>
        <p:nvSpPr>
          <p:cNvPr id="62" name="Text 60"/>
          <p:cNvSpPr txBox="1"/>
          <p:nvPr/>
        </p:nvSpPr>
        <p:spPr>
          <a:xfrm>
            <a:off x="566928" y="5943600"/>
            <a:ext cx="11064240" cy="274320"/>
          </a:xfrm>
          <a:prstGeom prst="rect">
            <a:avLst/>
          </a:prstGeom>
          <a:noFill/>
          <a:ln/>
        </p:spPr>
        <p:txBody>
          <a:bodyPr wrap="square" lIns="0" tIns="0" rIns="0" bIns="0" rtlCol="0" anchor="ctr"/>
          <a:lstStyle/>
          <a:p>
            <a:pPr marL="0" indent="0">
              <a:buNone/>
            </a:pPr>
            <a:r>
              <a:rPr lang="en-US" sz="1150" b="1" dirty="0">
                <a:solidFill>
                  <a:srgbClr val="D9614C"/>
                </a:solidFill>
                <a:latin typeface="Calibri" pitchFamily="34" charset="0"/>
                <a:ea typeface="Calibri" pitchFamily="34" charset="-122"/>
                <a:cs typeface="Calibri" pitchFamily="34" charset="-120"/>
              </a:rPr>
              <a:t>Three of the ten tasks — PR, ASR and SD — are built on LibriSpeech or on material generated from it.</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2A2E1E"/>
        </a:solidFill>
        <a:effectLst/>
      </p:bgPr>
    </p:bg>
    <p:spTree>
      <p:nvGrpSpPr>
        <p:cNvPr id="1" name=""/>
        <p:cNvGrpSpPr/>
        <p:nvPr/>
      </p:nvGrpSpPr>
      <p:grpSpPr>
        <a:xfrm>
          <a:off x="0" y="0"/>
          <a:ext cx="0" cy="0"/>
          <a:chOff x="0" y="0"/>
          <a:chExt cx="0" cy="0"/>
        </a:xfrm>
      </p:grpSpPr>
      <p:sp>
        <p:nvSpPr>
          <p:cNvPr id="2" name="Shape 0"/>
          <p:cNvSpPr/>
          <p:nvPr/>
        </p:nvSpPr>
        <p:spPr>
          <a:xfrm>
            <a:off x="10607040" y="5303520"/>
            <a:ext cx="804672" cy="137160"/>
          </a:xfrm>
          <a:prstGeom prst="roundRect">
            <a:avLst>
              <a:gd name="adj" fmla="val 13333"/>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0607040" y="5513832"/>
            <a:ext cx="548640" cy="137160"/>
          </a:xfrm>
          <a:prstGeom prst="roundRect">
            <a:avLst>
              <a:gd name="adj" fmla="val 13333"/>
            </a:avLst>
          </a:prstGeom>
          <a:solidFill>
            <a:srgbClr val="D6DCC0"/>
          </a:solidFill>
          <a:ln w="12700">
            <a:solidFill>
              <a:srgbClr val="333333"/>
            </a:solidFill>
            <a:prstDash val="solid"/>
          </a:ln>
        </p:spPr>
        <p:txBody>
          <a:bodyPr/>
          <a:lstStyle/>
          <a:p>
            <a:endParaRPr lang="en-US"/>
          </a:p>
        </p:txBody>
      </p:sp>
      <p:sp>
        <p:nvSpPr>
          <p:cNvPr id="4" name="Shape 2"/>
          <p:cNvSpPr/>
          <p:nvPr/>
        </p:nvSpPr>
        <p:spPr>
          <a:xfrm>
            <a:off x="10607040" y="5724144"/>
            <a:ext cx="329184" cy="137160"/>
          </a:xfrm>
          <a:prstGeom prst="roundRect">
            <a:avLst>
              <a:gd name="adj" fmla="val 13333"/>
            </a:avLst>
          </a:prstGeom>
          <a:solidFill>
            <a:srgbClr val="D6DCC0"/>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D9614C"/>
                </a:solidFill>
                <a:latin typeface="Cambria" pitchFamily="34" charset="0"/>
                <a:ea typeface="Cambria" pitchFamily="34" charset="-122"/>
                <a:cs typeface="Cambria" pitchFamily="34" charset="-120"/>
              </a:rPr>
              <a:t>3</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The framework</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6DCC0"/>
                </a:solidFill>
                <a:latin typeface="Calibri" pitchFamily="34" charset="0"/>
                <a:ea typeface="Calibri" pitchFamily="34" charset="-122"/>
                <a:cs typeface="Calibri" pitchFamily="34" charset="-120"/>
              </a:rPr>
              <a:t>Frozen upstream, lightweight head, weighted layers</a:t>
            </a:r>
            <a:endParaRPr lang="en-US" sz="1500" dirty="0"/>
          </a:p>
        </p:txBody>
      </p:sp>
      <p:sp>
        <p:nvSpPr>
          <p:cNvPr id="8" name="Text 6"/>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The evaluation framework</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Three constraints that define what is being measured</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16</a:t>
            </a:r>
            <a:endParaRPr lang="en-US" sz="900" dirty="0"/>
          </a:p>
        </p:txBody>
      </p:sp>
      <p:sp>
        <p:nvSpPr>
          <p:cNvPr id="8" name="Shape 6"/>
          <p:cNvSpPr/>
          <p:nvPr/>
        </p:nvSpPr>
        <p:spPr>
          <a:xfrm>
            <a:off x="566928" y="1600200"/>
            <a:ext cx="3054096" cy="1828800"/>
          </a:xfrm>
          <a:prstGeom prst="roundRect">
            <a:avLst>
              <a:gd name="adj" fmla="val 3000"/>
            </a:avLst>
          </a:prstGeom>
          <a:solidFill>
            <a:srgbClr val="F3F5EC"/>
          </a:solidFill>
          <a:ln w="19050">
            <a:solidFill>
              <a:srgbClr val="5F6B3A"/>
            </a:solidFill>
            <a:prstDash val="solid"/>
          </a:ln>
        </p:spPr>
        <p:txBody>
          <a:bodyPr/>
          <a:lstStyle/>
          <a:p>
            <a:endParaRPr lang="en-US"/>
          </a:p>
        </p:txBody>
      </p:sp>
      <p:sp>
        <p:nvSpPr>
          <p:cNvPr id="9" name="Text 7"/>
          <p:cNvSpPr txBox="1"/>
          <p:nvPr/>
        </p:nvSpPr>
        <p:spPr>
          <a:xfrm>
            <a:off x="786384" y="1828800"/>
            <a:ext cx="2651760" cy="329184"/>
          </a:xfrm>
          <a:prstGeom prst="rect">
            <a:avLst/>
          </a:prstGeom>
          <a:noFill/>
          <a:ln/>
        </p:spPr>
        <p:txBody>
          <a:bodyPr wrap="square" lIns="0" tIns="0" rIns="0" bIns="0" rtlCol="0" anchor="ctr"/>
          <a:lstStyle/>
          <a:p>
            <a:pPr marL="0" indent="0">
              <a:buNone/>
            </a:pPr>
            <a:r>
              <a:rPr lang="en-US" sz="1600" b="1" dirty="0">
                <a:solidFill>
                  <a:srgbClr val="5F6B3A"/>
                </a:solidFill>
                <a:latin typeface="Cambria" pitchFamily="34" charset="0"/>
                <a:ea typeface="Cambria" pitchFamily="34" charset="-122"/>
                <a:cs typeface="Cambria" pitchFamily="34" charset="-120"/>
              </a:rPr>
              <a:t>Frozen SSL model</a:t>
            </a:r>
            <a:endParaRPr lang="en-US" sz="1600" dirty="0"/>
          </a:p>
        </p:txBody>
      </p:sp>
      <p:sp>
        <p:nvSpPr>
          <p:cNvPr id="10" name="Text 8"/>
          <p:cNvSpPr txBox="1"/>
          <p:nvPr/>
        </p:nvSpPr>
        <p:spPr>
          <a:xfrm>
            <a:off x="786384" y="2286000"/>
            <a:ext cx="2651760" cy="914400"/>
          </a:xfrm>
          <a:prstGeom prst="rect">
            <a:avLst/>
          </a:prstGeom>
          <a:noFill/>
          <a:ln/>
        </p:spPr>
        <p:txBody>
          <a:bodyPr wrap="square" lIns="0" tIns="0" rIns="0" bIns="0" rtlCol="0" anchor="ctr"/>
          <a:lstStyle/>
          <a:p>
            <a:pPr marL="0" indent="0">
              <a:buNone/>
            </a:pPr>
            <a:r>
              <a:rPr lang="en-US" sz="1240" dirty="0">
                <a:solidFill>
                  <a:srgbClr val="323726"/>
                </a:solidFill>
                <a:latin typeface="Calibri" pitchFamily="34" charset="0"/>
                <a:ea typeface="Calibri" pitchFamily="34" charset="-122"/>
                <a:cs typeface="Calibri" pitchFamily="34" charset="-120"/>
              </a:rPr>
              <a:t>parameters fixed</a:t>
            </a:r>
            <a:endParaRPr lang="en-US" sz="1240" dirty="0"/>
          </a:p>
          <a:p>
            <a:pPr marL="0" indent="0">
              <a:buNone/>
            </a:pPr>
            <a:r>
              <a:rPr lang="en-US" sz="1240" dirty="0">
                <a:solidFill>
                  <a:srgbClr val="323726"/>
                </a:solidFill>
                <a:latin typeface="Calibri" pitchFamily="34" charset="0"/>
                <a:ea typeface="Calibri" pitchFamily="34" charset="-122"/>
                <a:cs typeface="Calibri" pitchFamily="34" charset="-120"/>
              </a:rPr>
              <a:t>across every task</a:t>
            </a:r>
            <a:endParaRPr lang="en-US" sz="1240" dirty="0"/>
          </a:p>
        </p:txBody>
      </p:sp>
      <p:sp>
        <p:nvSpPr>
          <p:cNvPr id="11" name="Shape 9"/>
          <p:cNvSpPr/>
          <p:nvPr/>
        </p:nvSpPr>
        <p:spPr>
          <a:xfrm>
            <a:off x="4572000" y="1600200"/>
            <a:ext cx="3054096" cy="1828800"/>
          </a:xfrm>
          <a:prstGeom prst="roundRect">
            <a:avLst>
              <a:gd name="adj" fmla="val 3000"/>
            </a:avLst>
          </a:prstGeom>
          <a:solidFill>
            <a:srgbClr val="FBEEEA"/>
          </a:solidFill>
          <a:ln w="19050">
            <a:solidFill>
              <a:srgbClr val="D9614C"/>
            </a:solidFill>
            <a:prstDash val="solid"/>
          </a:ln>
        </p:spPr>
        <p:txBody>
          <a:bodyPr/>
          <a:lstStyle/>
          <a:p>
            <a:endParaRPr lang="en-US"/>
          </a:p>
        </p:txBody>
      </p:sp>
      <p:sp>
        <p:nvSpPr>
          <p:cNvPr id="12" name="Text 10"/>
          <p:cNvSpPr txBox="1"/>
          <p:nvPr/>
        </p:nvSpPr>
        <p:spPr>
          <a:xfrm>
            <a:off x="4791456" y="1828800"/>
            <a:ext cx="2651760" cy="329184"/>
          </a:xfrm>
          <a:prstGeom prst="rect">
            <a:avLst/>
          </a:prstGeom>
          <a:noFill/>
          <a:ln/>
        </p:spPr>
        <p:txBody>
          <a:bodyPr wrap="square" lIns="0" tIns="0" rIns="0" bIns="0" rtlCol="0" anchor="ctr"/>
          <a:lstStyle/>
          <a:p>
            <a:pPr marL="0" indent="0">
              <a:buNone/>
            </a:pPr>
            <a:r>
              <a:rPr lang="en-US" sz="1600" b="1" dirty="0">
                <a:solidFill>
                  <a:srgbClr val="D9614C"/>
                </a:solidFill>
                <a:latin typeface="Cambria" pitchFamily="34" charset="0"/>
                <a:ea typeface="Cambria" pitchFamily="34" charset="-122"/>
                <a:cs typeface="Cambria" pitchFamily="34" charset="-120"/>
              </a:rPr>
              <a:t>Weighted sum of layers</a:t>
            </a:r>
            <a:endParaRPr lang="en-US" sz="1600" dirty="0"/>
          </a:p>
        </p:txBody>
      </p:sp>
      <p:sp>
        <p:nvSpPr>
          <p:cNvPr id="13" name="Text 11"/>
          <p:cNvSpPr txBox="1"/>
          <p:nvPr/>
        </p:nvSpPr>
        <p:spPr>
          <a:xfrm>
            <a:off x="4791456" y="2286000"/>
            <a:ext cx="2651760" cy="914400"/>
          </a:xfrm>
          <a:prstGeom prst="rect">
            <a:avLst/>
          </a:prstGeom>
          <a:noFill/>
          <a:ln/>
        </p:spPr>
        <p:txBody>
          <a:bodyPr wrap="square" lIns="0" tIns="0" rIns="0" bIns="0" rtlCol="0" anchor="ctr"/>
          <a:lstStyle/>
          <a:p>
            <a:pPr marL="0" indent="0">
              <a:buNone/>
            </a:pPr>
            <a:r>
              <a:rPr lang="en-US" sz="1240" dirty="0">
                <a:solidFill>
                  <a:srgbClr val="323726"/>
                </a:solidFill>
                <a:latin typeface="Calibri" pitchFamily="34" charset="0"/>
                <a:ea typeface="Calibri" pitchFamily="34" charset="-122"/>
                <a:cs typeface="Calibri" pitchFamily="34" charset="-120"/>
              </a:rPr>
              <a:t>one learned weight vector</a:t>
            </a:r>
            <a:endParaRPr lang="en-US" sz="1240" dirty="0"/>
          </a:p>
          <a:p>
            <a:pPr marL="0" indent="0">
              <a:buNone/>
            </a:pPr>
            <a:r>
              <a:rPr lang="en-US" sz="1240" dirty="0">
                <a:solidFill>
                  <a:srgbClr val="323726"/>
                </a:solidFill>
                <a:latin typeface="Calibri" pitchFamily="34" charset="0"/>
                <a:ea typeface="Calibri" pitchFamily="34" charset="-122"/>
                <a:cs typeface="Calibri" pitchFamily="34" charset="-120"/>
              </a:rPr>
              <a:t>per task</a:t>
            </a:r>
            <a:endParaRPr lang="en-US" sz="1240" dirty="0"/>
          </a:p>
        </p:txBody>
      </p:sp>
      <p:sp>
        <p:nvSpPr>
          <p:cNvPr id="14" name="Shape 12"/>
          <p:cNvSpPr/>
          <p:nvPr/>
        </p:nvSpPr>
        <p:spPr>
          <a:xfrm>
            <a:off x="8577072" y="1600200"/>
            <a:ext cx="3054096" cy="1828800"/>
          </a:xfrm>
          <a:prstGeom prst="roundRect">
            <a:avLst>
              <a:gd name="adj" fmla="val 3000"/>
            </a:avLst>
          </a:prstGeom>
          <a:solidFill>
            <a:srgbClr val="F3F5EC"/>
          </a:solidFill>
          <a:ln w="19050">
            <a:solidFill>
              <a:srgbClr val="5F6B3A"/>
            </a:solidFill>
            <a:prstDash val="solid"/>
          </a:ln>
        </p:spPr>
        <p:txBody>
          <a:bodyPr/>
          <a:lstStyle/>
          <a:p>
            <a:endParaRPr lang="en-US"/>
          </a:p>
        </p:txBody>
      </p:sp>
      <p:sp>
        <p:nvSpPr>
          <p:cNvPr id="15" name="Text 13"/>
          <p:cNvSpPr txBox="1"/>
          <p:nvPr/>
        </p:nvSpPr>
        <p:spPr>
          <a:xfrm>
            <a:off x="8796528" y="1828800"/>
            <a:ext cx="2651760" cy="329184"/>
          </a:xfrm>
          <a:prstGeom prst="rect">
            <a:avLst/>
          </a:prstGeom>
          <a:noFill/>
          <a:ln/>
        </p:spPr>
        <p:txBody>
          <a:bodyPr wrap="square" lIns="0" tIns="0" rIns="0" bIns="0" rtlCol="0" anchor="ctr"/>
          <a:lstStyle/>
          <a:p>
            <a:pPr marL="0" indent="0">
              <a:buNone/>
            </a:pPr>
            <a:r>
              <a:rPr lang="en-US" sz="1600" b="1" dirty="0">
                <a:solidFill>
                  <a:srgbClr val="5F6B3A"/>
                </a:solidFill>
                <a:latin typeface="Cambria" pitchFamily="34" charset="0"/>
                <a:ea typeface="Cambria" pitchFamily="34" charset="-122"/>
                <a:cs typeface="Cambria" pitchFamily="34" charset="-120"/>
              </a:rPr>
              <a:t>Lightweight head</a:t>
            </a:r>
            <a:endParaRPr lang="en-US" sz="1600" dirty="0"/>
          </a:p>
        </p:txBody>
      </p:sp>
      <p:sp>
        <p:nvSpPr>
          <p:cNvPr id="16" name="Text 14"/>
          <p:cNvSpPr txBox="1"/>
          <p:nvPr/>
        </p:nvSpPr>
        <p:spPr>
          <a:xfrm>
            <a:off x="8796528" y="2286000"/>
            <a:ext cx="2651760" cy="914400"/>
          </a:xfrm>
          <a:prstGeom prst="rect">
            <a:avLst/>
          </a:prstGeom>
          <a:noFill/>
          <a:ln/>
        </p:spPr>
        <p:txBody>
          <a:bodyPr wrap="square" lIns="0" tIns="0" rIns="0" bIns="0" rtlCol="0" anchor="ctr"/>
          <a:lstStyle/>
          <a:p>
            <a:pPr marL="0" indent="0">
              <a:buNone/>
            </a:pPr>
            <a:r>
              <a:rPr lang="en-US" sz="1240" dirty="0">
                <a:solidFill>
                  <a:srgbClr val="323726"/>
                </a:solidFill>
                <a:latin typeface="Calibri" pitchFamily="34" charset="0"/>
                <a:ea typeface="Calibri" pitchFamily="34" charset="-122"/>
                <a:cs typeface="Calibri" pitchFamily="34" charset="-120"/>
              </a:rPr>
              <a:t>trained per task,</a:t>
            </a:r>
            <a:endParaRPr lang="en-US" sz="1240" dirty="0"/>
          </a:p>
          <a:p>
            <a:pPr marL="0" indent="0">
              <a:buNone/>
            </a:pPr>
            <a:r>
              <a:rPr lang="en-US" sz="1240" dirty="0">
                <a:solidFill>
                  <a:srgbClr val="323726"/>
                </a:solidFill>
                <a:latin typeface="Calibri" pitchFamily="34" charset="0"/>
                <a:ea typeface="Calibri" pitchFamily="34" charset="-122"/>
                <a:cs typeface="Calibri" pitchFamily="34" charset="-120"/>
              </a:rPr>
              <a:t>small by design</a:t>
            </a:r>
            <a:endParaRPr lang="en-US" sz="1240" dirty="0"/>
          </a:p>
        </p:txBody>
      </p:sp>
      <p:sp>
        <p:nvSpPr>
          <p:cNvPr id="17" name="Shape 15"/>
          <p:cNvSpPr/>
          <p:nvPr/>
        </p:nvSpPr>
        <p:spPr>
          <a:xfrm>
            <a:off x="3639312" y="2514600"/>
            <a:ext cx="859536" cy="0"/>
          </a:xfrm>
          <a:prstGeom prst="line">
            <a:avLst/>
          </a:prstGeom>
          <a:noFill/>
          <a:ln w="28575">
            <a:solidFill>
              <a:srgbClr val="A3AB84"/>
            </a:solidFill>
            <a:prstDash val="solid"/>
            <a:tailEnd type="triangle"/>
          </a:ln>
        </p:spPr>
        <p:txBody>
          <a:bodyPr/>
          <a:lstStyle/>
          <a:p>
            <a:endParaRPr lang="en-US"/>
          </a:p>
        </p:txBody>
      </p:sp>
      <p:sp>
        <p:nvSpPr>
          <p:cNvPr id="18" name="Shape 16"/>
          <p:cNvSpPr/>
          <p:nvPr/>
        </p:nvSpPr>
        <p:spPr>
          <a:xfrm>
            <a:off x="7644384" y="2514600"/>
            <a:ext cx="859536" cy="0"/>
          </a:xfrm>
          <a:prstGeom prst="line">
            <a:avLst/>
          </a:prstGeom>
          <a:noFill/>
          <a:ln w="28575">
            <a:solidFill>
              <a:srgbClr val="A3AB84"/>
            </a:solidFill>
            <a:prstDash val="solid"/>
            <a:tailEnd type="triangle"/>
          </a:ln>
        </p:spPr>
        <p:txBody>
          <a:bodyPr/>
          <a:lstStyle/>
          <a:p>
            <a:endParaRPr lang="en-US"/>
          </a:p>
        </p:txBody>
      </p:sp>
      <p:sp>
        <p:nvSpPr>
          <p:cNvPr id="19" name="Text 17"/>
          <p:cNvSpPr txBox="1"/>
          <p:nvPr/>
        </p:nvSpPr>
        <p:spPr>
          <a:xfrm>
            <a:off x="566928" y="3621024"/>
            <a:ext cx="11064240" cy="1463040"/>
          </a:xfrm>
          <a:prstGeom prst="rect">
            <a:avLst/>
          </a:prstGeom>
          <a:noFill/>
          <a:ln/>
        </p:spPr>
        <p:txBody>
          <a:bodyPr wrap="square" lIns="0" tIns="0" rIns="0" bIns="0" rtlCol="0" anchor="t"/>
          <a:lstStyle/>
          <a:p>
            <a:pPr marL="342900" indent="-342900">
              <a:spcAft>
                <a:spcPts val="800"/>
              </a:spcAft>
              <a:buSzPct val="100000"/>
              <a:buChar char="●"/>
            </a:pPr>
            <a:r>
              <a:rPr lang="en-US" sz="1280" dirty="0">
                <a:solidFill>
                  <a:srgbClr val="323726"/>
                </a:solidFill>
                <a:latin typeface="Calibri" pitchFamily="34" charset="0"/>
                <a:ea typeface="Calibri" pitchFamily="34" charset="-122"/>
                <a:cs typeface="Calibri" pitchFamily="34" charset="-120"/>
              </a:rPr>
              <a:t>Freezing is not only about fairness. The paper argues that fine-tuning requires huge resources and hinders re-usability — the whole point is a shared encoder serving many applications at once.</a:t>
            </a:r>
            <a:endParaRPr lang="en-US" sz="1280" dirty="0"/>
          </a:p>
          <a:p>
            <a:pPr marL="342900" indent="-342900">
              <a:spcAft>
                <a:spcPts val="800"/>
              </a:spcAft>
              <a:buSzPct val="100000"/>
              <a:buChar char="●"/>
            </a:pPr>
            <a:r>
              <a:rPr lang="en-US" sz="1280" dirty="0">
                <a:solidFill>
                  <a:srgbClr val="323726"/>
                </a:solidFill>
                <a:latin typeface="Calibri" pitchFamily="34" charset="0"/>
                <a:ea typeface="Calibri" pitchFamily="34" charset="-122"/>
                <a:cs typeface="Calibri" pitchFamily="34" charset="-120"/>
              </a:rPr>
              <a:t>The explicit constraint is that downstream models be as lightweight as possible for all tasks, because their parameter size and training cost are part of what makes the framework usable.</a:t>
            </a:r>
            <a:endParaRPr lang="en-US" sz="1280" dirty="0"/>
          </a:p>
          <a:p>
            <a:pPr marL="342900" indent="-342900">
              <a:spcAft>
                <a:spcPts val="800"/>
              </a:spcAft>
              <a:buSzPct val="100000"/>
              <a:buChar char="●"/>
            </a:pPr>
            <a:r>
              <a:rPr lang="en-US" sz="1280" dirty="0">
                <a:solidFill>
                  <a:srgbClr val="323726"/>
                </a:solidFill>
                <a:latin typeface="Calibri" pitchFamily="34" charset="0"/>
                <a:ea typeface="Calibri" pitchFamily="34" charset="-122"/>
                <a:cs typeface="Calibri" pitchFamily="34" charset="-120"/>
              </a:rPr>
              <a:t>A model that succeeds under all three constraints is what the paper calls a universal representation encoder.</a:t>
            </a:r>
            <a:endParaRPr lang="en-US" sz="1280" dirty="0"/>
          </a:p>
        </p:txBody>
      </p:sp>
      <p:sp>
        <p:nvSpPr>
          <p:cNvPr id="20" name="Shape 18"/>
          <p:cNvSpPr/>
          <p:nvPr/>
        </p:nvSpPr>
        <p:spPr>
          <a:xfrm>
            <a:off x="566928" y="5193792"/>
            <a:ext cx="11064240" cy="859536"/>
          </a:xfrm>
          <a:prstGeom prst="roundRect">
            <a:avLst>
              <a:gd name="adj" fmla="val 6383"/>
            </a:avLst>
          </a:prstGeom>
          <a:solidFill>
            <a:srgbClr val="2A2E1E"/>
          </a:solidFill>
          <a:ln w="12700">
            <a:solidFill>
              <a:srgbClr val="2A2E1E"/>
            </a:solidFill>
            <a:prstDash val="solid"/>
          </a:ln>
        </p:spPr>
        <p:txBody>
          <a:bodyPr/>
          <a:lstStyle/>
          <a:p>
            <a:endParaRPr lang="en-US"/>
          </a:p>
        </p:txBody>
      </p:sp>
      <p:sp>
        <p:nvSpPr>
          <p:cNvPr id="21" name="Text 19"/>
          <p:cNvSpPr txBox="1"/>
          <p:nvPr/>
        </p:nvSpPr>
        <p:spPr>
          <a:xfrm>
            <a:off x="822960" y="5413248"/>
            <a:ext cx="10552176" cy="438912"/>
          </a:xfrm>
          <a:prstGeom prst="rect">
            <a:avLst/>
          </a:prstGeom>
          <a:noFill/>
          <a:ln/>
        </p:spPr>
        <p:txBody>
          <a:bodyPr wrap="square" lIns="0" tIns="0" rIns="0" bIns="0" rtlCol="0" anchor="t"/>
          <a:lstStyle/>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Hold on to the middle box. It is the least discussed part of the protocol and, for our question, the most consequential.</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The weighted sum across layers</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One sentence in the paper; a large consequence</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17</a:t>
            </a:r>
            <a:endParaRPr lang="en-US" sz="900" dirty="0"/>
          </a:p>
        </p:txBody>
      </p:sp>
      <p:sp>
        <p:nvSpPr>
          <p:cNvPr id="8" name="Shape 6"/>
          <p:cNvSpPr/>
          <p:nvPr/>
        </p:nvSpPr>
        <p:spPr>
          <a:xfrm>
            <a:off x="566928" y="1600200"/>
            <a:ext cx="5440680" cy="2194560"/>
          </a:xfrm>
          <a:prstGeom prst="roundRect">
            <a:avLst>
              <a:gd name="adj" fmla="val 2500"/>
            </a:avLst>
          </a:prstGeom>
          <a:solidFill>
            <a:srgbClr val="F3F5EC"/>
          </a:solidFill>
          <a:ln w="12700">
            <a:solidFill>
              <a:srgbClr val="E3E7D8"/>
            </a:solidFill>
            <a:prstDash val="solid"/>
          </a:ln>
        </p:spPr>
        <p:txBody>
          <a:bodyPr/>
          <a:lstStyle/>
          <a:p>
            <a:endParaRPr lang="en-US"/>
          </a:p>
        </p:txBody>
      </p:sp>
      <p:sp>
        <p:nvSpPr>
          <p:cNvPr id="9" name="Shape 7"/>
          <p:cNvSpPr/>
          <p:nvPr/>
        </p:nvSpPr>
        <p:spPr>
          <a:xfrm>
            <a:off x="786384" y="1892808"/>
            <a:ext cx="109728" cy="109728"/>
          </a:xfrm>
          <a:prstGeom prst="ellipse">
            <a:avLst/>
          </a:prstGeom>
          <a:solidFill>
            <a:srgbClr val="5F6B3A"/>
          </a:solidFill>
          <a:ln w="12700">
            <a:solidFill>
              <a:srgbClr val="333333"/>
            </a:solidFill>
            <a:prstDash val="solid"/>
          </a:ln>
        </p:spPr>
        <p:txBody>
          <a:bodyPr/>
          <a:lstStyle/>
          <a:p>
            <a:endParaRPr lang="en-US"/>
          </a:p>
        </p:txBody>
      </p:sp>
      <p:sp>
        <p:nvSpPr>
          <p:cNvPr id="10" name="Text 8"/>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1E2116"/>
                </a:solidFill>
                <a:latin typeface="Cambria" pitchFamily="34" charset="0"/>
                <a:ea typeface="Cambria" pitchFamily="34" charset="-122"/>
                <a:cs typeface="Cambria" pitchFamily="34" charset="-120"/>
              </a:rPr>
              <a:t>What the paper says</a:t>
            </a:r>
            <a:endParaRPr lang="en-US" sz="1500" dirty="0"/>
          </a:p>
        </p:txBody>
      </p:sp>
      <p:sp>
        <p:nvSpPr>
          <p:cNvPr id="11" name="Text 9"/>
          <p:cNvSpPr txBox="1"/>
          <p:nvPr/>
        </p:nvSpPr>
        <p:spPr>
          <a:xfrm>
            <a:off x="822960" y="2203704"/>
            <a:ext cx="4928616" cy="1408176"/>
          </a:xfrm>
          <a:prstGeom prst="rect">
            <a:avLst/>
          </a:prstGeom>
          <a:noFill/>
          <a:ln/>
        </p:spPr>
        <p:txBody>
          <a:bodyPr wrap="square" lIns="0" tIns="0" rIns="0" bIns="0" rtlCol="0" anchor="t"/>
          <a:lstStyle/>
          <a:p>
            <a:pPr marL="0" indent="0">
              <a:lnSpc>
                <a:spcPct val="108000"/>
              </a:lnSpc>
              <a:buNone/>
            </a:pPr>
            <a:r>
              <a:rPr lang="en-US" sz="1280" dirty="0">
                <a:solidFill>
                  <a:srgbClr val="323726"/>
                </a:solidFill>
                <a:latin typeface="Calibri" pitchFamily="34" charset="0"/>
                <a:ea typeface="Calibri" pitchFamily="34" charset="-122"/>
                <a:cs typeface="Calibri" pitchFamily="34" charset="-120"/>
              </a:rPr>
              <a:t>Since the last-layer representation is not always the best, the framework collects multiple hidden states from the pre-trained model and weighted-sums them as the final representation.</a:t>
            </a:r>
            <a:endParaRPr lang="en-US" sz="1280" dirty="0"/>
          </a:p>
          <a:p>
            <a:pPr marL="0" indent="0">
              <a:lnSpc>
                <a:spcPct val="108000"/>
              </a:lnSpc>
              <a:buNone/>
            </a:pPr>
            <a:endParaRPr lang="en-US" sz="1280" dirty="0"/>
          </a:p>
          <a:p>
            <a:pPr marL="0" indent="0">
              <a:lnSpc>
                <a:spcPct val="108000"/>
              </a:lnSpc>
              <a:buNone/>
            </a:pPr>
            <a:r>
              <a:rPr lang="en-US" sz="1280" dirty="0">
                <a:solidFill>
                  <a:srgbClr val="323726"/>
                </a:solidFill>
                <a:latin typeface="Calibri" pitchFamily="34" charset="0"/>
                <a:ea typeface="Calibri" pitchFamily="34" charset="-122"/>
                <a:cs typeface="Calibri" pitchFamily="34" charset="-120"/>
              </a:rPr>
              <a:t>The weights are learned per task, jointly with the downstream head.</a:t>
            </a:r>
            <a:endParaRPr lang="en-US" sz="1280" dirty="0"/>
          </a:p>
        </p:txBody>
      </p:sp>
      <p:sp>
        <p:nvSpPr>
          <p:cNvPr id="12" name="Shape 10"/>
          <p:cNvSpPr/>
          <p:nvPr/>
        </p:nvSpPr>
        <p:spPr>
          <a:xfrm>
            <a:off x="6190488" y="1600200"/>
            <a:ext cx="5440680" cy="2194560"/>
          </a:xfrm>
          <a:prstGeom prst="roundRect">
            <a:avLst>
              <a:gd name="adj" fmla="val 2500"/>
            </a:avLst>
          </a:prstGeom>
          <a:solidFill>
            <a:srgbClr val="F3F5EC"/>
          </a:solidFill>
          <a:ln w="12700">
            <a:solidFill>
              <a:srgbClr val="E3E7D8"/>
            </a:solidFill>
            <a:prstDash val="solid"/>
          </a:ln>
        </p:spPr>
        <p:txBody>
          <a:bodyPr/>
          <a:lstStyle/>
          <a:p>
            <a:endParaRPr lang="en-US"/>
          </a:p>
        </p:txBody>
      </p:sp>
      <p:sp>
        <p:nvSpPr>
          <p:cNvPr id="13" name="Shape 11"/>
          <p:cNvSpPr/>
          <p:nvPr/>
        </p:nvSpPr>
        <p:spPr>
          <a:xfrm>
            <a:off x="6409944" y="1892808"/>
            <a:ext cx="109728" cy="109728"/>
          </a:xfrm>
          <a:prstGeom prst="ellipse">
            <a:avLst/>
          </a:prstGeom>
          <a:solidFill>
            <a:srgbClr val="D9614C"/>
          </a:solidFill>
          <a:ln w="12700">
            <a:solidFill>
              <a:srgbClr val="333333"/>
            </a:solidFill>
            <a:prstDash val="solid"/>
          </a:ln>
        </p:spPr>
        <p:txBody>
          <a:bodyPr/>
          <a:lstStyle/>
          <a:p>
            <a:endParaRPr lang="en-US"/>
          </a:p>
        </p:txBody>
      </p:sp>
      <p:sp>
        <p:nvSpPr>
          <p:cNvPr id="14" name="Text 12"/>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1E2116"/>
                </a:solidFill>
                <a:latin typeface="Cambria" pitchFamily="34" charset="0"/>
                <a:ea typeface="Cambria" pitchFamily="34" charset="-122"/>
                <a:cs typeface="Cambria" pitchFamily="34" charset="-120"/>
              </a:rPr>
              <a:t>Why this was necessary</a:t>
            </a:r>
            <a:endParaRPr lang="en-US" sz="1500" dirty="0"/>
          </a:p>
        </p:txBody>
      </p:sp>
      <p:sp>
        <p:nvSpPr>
          <p:cNvPr id="15" name="Text 13"/>
          <p:cNvSpPr txBox="1"/>
          <p:nvPr/>
        </p:nvSpPr>
        <p:spPr>
          <a:xfrm>
            <a:off x="6446520" y="2203704"/>
            <a:ext cx="4928616" cy="1408176"/>
          </a:xfrm>
          <a:prstGeom prst="rect">
            <a:avLst/>
          </a:prstGeom>
          <a:noFill/>
          <a:ln/>
        </p:spPr>
        <p:txBody>
          <a:bodyPr wrap="square" lIns="0" tIns="0" rIns="0" bIns="0" rtlCol="0" anchor="t"/>
          <a:lstStyle/>
          <a:p>
            <a:pPr marL="0" indent="0">
              <a:lnSpc>
                <a:spcPct val="108000"/>
              </a:lnSpc>
              <a:buNone/>
            </a:pPr>
            <a:r>
              <a:rPr lang="en-US" sz="1280" dirty="0">
                <a:solidFill>
                  <a:srgbClr val="323726"/>
                </a:solidFill>
                <a:latin typeface="Calibri" pitchFamily="34" charset="0"/>
                <a:ea typeface="Calibri" pitchFamily="34" charset="-122"/>
                <a:cs typeface="Calibri" pitchFamily="34" charset="-120"/>
              </a:rPr>
              <a:t>We saw the reason two sessions ago. Masked-prediction models behave like autoencoders: the deepest layers drift back toward the encoder output, and content and speaker information live at different depths.</a:t>
            </a:r>
            <a:endParaRPr lang="en-US" sz="1280" dirty="0"/>
          </a:p>
          <a:p>
            <a:pPr marL="0" indent="0">
              <a:lnSpc>
                <a:spcPct val="108000"/>
              </a:lnSpc>
              <a:buNone/>
            </a:pPr>
            <a:endParaRPr lang="en-US" sz="1280" dirty="0"/>
          </a:p>
          <a:p>
            <a:pPr marL="0" indent="0">
              <a:lnSpc>
                <a:spcPct val="108000"/>
              </a:lnSpc>
              <a:buNone/>
            </a:pPr>
            <a:r>
              <a:rPr lang="en-US" sz="1280" dirty="0">
                <a:solidFill>
                  <a:srgbClr val="323726"/>
                </a:solidFill>
                <a:latin typeface="Calibri" pitchFamily="34" charset="0"/>
                <a:ea typeface="Calibri" pitchFamily="34" charset="-122"/>
                <a:cs typeface="Calibri" pitchFamily="34" charset="-120"/>
              </a:rPr>
              <a:t>Taking the last layer would systematically understate every model.</a:t>
            </a:r>
            <a:endParaRPr lang="en-US" sz="1280" dirty="0"/>
          </a:p>
        </p:txBody>
      </p:sp>
      <p:sp>
        <p:nvSpPr>
          <p:cNvPr id="16" name="Shape 14"/>
          <p:cNvSpPr/>
          <p:nvPr/>
        </p:nvSpPr>
        <p:spPr>
          <a:xfrm>
            <a:off x="566928" y="3986784"/>
            <a:ext cx="11064240" cy="2066544"/>
          </a:xfrm>
          <a:prstGeom prst="roundRect">
            <a:avLst>
              <a:gd name="adj" fmla="val 2655"/>
            </a:avLst>
          </a:prstGeom>
          <a:solidFill>
            <a:srgbClr val="2A2E1E"/>
          </a:solidFill>
          <a:ln w="12700">
            <a:solidFill>
              <a:srgbClr val="2A2E1E"/>
            </a:solidFill>
            <a:prstDash val="solid"/>
          </a:ln>
        </p:spPr>
        <p:txBody>
          <a:bodyPr/>
          <a:lstStyle/>
          <a:p>
            <a:endParaRPr lang="en-US"/>
          </a:p>
        </p:txBody>
      </p:sp>
      <p:sp>
        <p:nvSpPr>
          <p:cNvPr id="17" name="Shape 15"/>
          <p:cNvSpPr/>
          <p:nvPr/>
        </p:nvSpPr>
        <p:spPr>
          <a:xfrm>
            <a:off x="786384" y="4279392"/>
            <a:ext cx="109728" cy="109728"/>
          </a:xfrm>
          <a:prstGeom prst="ellipse">
            <a:avLst/>
          </a:prstGeom>
          <a:solidFill>
            <a:srgbClr val="D9614C"/>
          </a:solidFill>
          <a:ln w="12700">
            <a:solidFill>
              <a:srgbClr val="333333"/>
            </a:solidFill>
            <a:prstDash val="solid"/>
          </a:ln>
        </p:spPr>
        <p:txBody>
          <a:bodyPr/>
          <a:lstStyle/>
          <a:p>
            <a:endParaRPr lang="en-US"/>
          </a:p>
        </p:txBody>
      </p:sp>
      <p:sp>
        <p:nvSpPr>
          <p:cNvPr id="18" name="Text 16"/>
          <p:cNvSpPr txBox="1"/>
          <p:nvPr/>
        </p:nvSpPr>
        <p:spPr>
          <a:xfrm>
            <a:off x="987552" y="4151376"/>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But notice what is now being benchmarked</a:t>
            </a:r>
            <a:endParaRPr lang="en-US" sz="1500" dirty="0"/>
          </a:p>
        </p:txBody>
      </p:sp>
      <p:sp>
        <p:nvSpPr>
          <p:cNvPr id="19" name="Text 17"/>
          <p:cNvSpPr txBox="1"/>
          <p:nvPr/>
        </p:nvSpPr>
        <p:spPr>
          <a:xfrm>
            <a:off x="822960" y="4590288"/>
            <a:ext cx="10552176" cy="1280160"/>
          </a:xfrm>
          <a:prstGeom prst="rect">
            <a:avLst/>
          </a:prstGeom>
          <a:noFill/>
          <a:ln/>
        </p:spPr>
        <p:txBody>
          <a:bodyPr wrap="square" lIns="0" tIns="0" rIns="0" bIns="0" rtlCol="0" anchor="t"/>
          <a:lstStyle/>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Not a representation — a family of representations, with the benchmark selecting the best convex combination for each task separately.</a:t>
            </a:r>
            <a:endParaRPr lang="en-US" sz="1300" dirty="0"/>
          </a:p>
          <a:p>
            <a:pPr marL="0" indent="0">
              <a:lnSpc>
                <a:spcPct val="108000"/>
              </a:lnSpc>
              <a:buNone/>
            </a:pPr>
            <a:endParaRPr lang="en-US" sz="1300" dirty="0"/>
          </a:p>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A twenty-four-layer model offers a richer family than a twelve-layer one, independent of how good any individual layer is. And a model whose layers are highly specialised can score well on all ten tasks without any single layer being generally useful.</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How lightweight is lightweight?</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The heads are not equally small, and that matters</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18</a:t>
            </a:r>
            <a:endParaRPr lang="en-US" sz="900" dirty="0"/>
          </a:p>
        </p:txBody>
      </p:sp>
      <p:sp>
        <p:nvSpPr>
          <p:cNvPr id="8" name="Text 6"/>
          <p:cNvSpPr txBox="1"/>
          <p:nvPr/>
        </p:nvSpPr>
        <p:spPr>
          <a:xfrm>
            <a:off x="786384" y="1444752"/>
            <a:ext cx="1371600" cy="274320"/>
          </a:xfrm>
          <a:prstGeom prst="rect">
            <a:avLst/>
          </a:prstGeom>
          <a:noFill/>
          <a:ln/>
        </p:spPr>
        <p:txBody>
          <a:bodyPr wrap="square" lIns="0" tIns="0" rIns="0" bIns="0" rtlCol="0" anchor="ctr"/>
          <a:lstStyle/>
          <a:p>
            <a:pPr marL="0" indent="0">
              <a:buNone/>
            </a:pPr>
            <a:r>
              <a:rPr lang="en-US" sz="1150" b="1" dirty="0">
                <a:solidFill>
                  <a:srgbClr val="6A7059"/>
                </a:solidFill>
                <a:latin typeface="Calibri" pitchFamily="34" charset="0"/>
                <a:ea typeface="Calibri" pitchFamily="34" charset="-122"/>
                <a:cs typeface="Calibri" pitchFamily="34" charset="-120"/>
              </a:rPr>
              <a:t>Task</a:t>
            </a:r>
            <a:endParaRPr lang="en-US" sz="1150" dirty="0"/>
          </a:p>
        </p:txBody>
      </p:sp>
      <p:sp>
        <p:nvSpPr>
          <p:cNvPr id="9" name="Text 7"/>
          <p:cNvSpPr txBox="1"/>
          <p:nvPr/>
        </p:nvSpPr>
        <p:spPr>
          <a:xfrm>
            <a:off x="2286000" y="1444752"/>
            <a:ext cx="5669280" cy="274320"/>
          </a:xfrm>
          <a:prstGeom prst="rect">
            <a:avLst/>
          </a:prstGeom>
          <a:noFill/>
          <a:ln/>
        </p:spPr>
        <p:txBody>
          <a:bodyPr wrap="square" lIns="0" tIns="0" rIns="0" bIns="0" rtlCol="0" anchor="ctr"/>
          <a:lstStyle/>
          <a:p>
            <a:pPr marL="0" indent="0">
              <a:buNone/>
            </a:pPr>
            <a:r>
              <a:rPr lang="en-US" sz="1150" b="1" dirty="0">
                <a:solidFill>
                  <a:srgbClr val="6A7059"/>
                </a:solidFill>
                <a:latin typeface="Calibri" pitchFamily="34" charset="0"/>
                <a:ea typeface="Calibri" pitchFamily="34" charset="-122"/>
                <a:cs typeface="Calibri" pitchFamily="34" charset="-120"/>
              </a:rPr>
              <a:t>Downstream model</a:t>
            </a:r>
            <a:endParaRPr lang="en-US" sz="1150" dirty="0"/>
          </a:p>
        </p:txBody>
      </p:sp>
      <p:sp>
        <p:nvSpPr>
          <p:cNvPr id="10" name="Text 8"/>
          <p:cNvSpPr txBox="1"/>
          <p:nvPr/>
        </p:nvSpPr>
        <p:spPr>
          <a:xfrm>
            <a:off x="8138160" y="1444752"/>
            <a:ext cx="3383280" cy="274320"/>
          </a:xfrm>
          <a:prstGeom prst="rect">
            <a:avLst/>
          </a:prstGeom>
          <a:noFill/>
          <a:ln/>
        </p:spPr>
        <p:txBody>
          <a:bodyPr wrap="square" lIns="0" tIns="0" rIns="0" bIns="0" rtlCol="0" anchor="ctr"/>
          <a:lstStyle/>
          <a:p>
            <a:pPr marL="0" indent="0">
              <a:buNone/>
            </a:pPr>
            <a:r>
              <a:rPr lang="en-US" sz="1150" b="1" dirty="0">
                <a:solidFill>
                  <a:srgbClr val="6A7059"/>
                </a:solidFill>
                <a:latin typeface="Calibri" pitchFamily="34" charset="0"/>
                <a:ea typeface="Calibri" pitchFamily="34" charset="-122"/>
                <a:cs typeface="Calibri" pitchFamily="34" charset="-120"/>
              </a:rPr>
              <a:t>Loss or scoring</a:t>
            </a:r>
            <a:endParaRPr lang="en-US" sz="1150" dirty="0"/>
          </a:p>
        </p:txBody>
      </p:sp>
      <p:sp>
        <p:nvSpPr>
          <p:cNvPr id="11" name="Shape 9"/>
          <p:cNvSpPr/>
          <p:nvPr/>
        </p:nvSpPr>
        <p:spPr>
          <a:xfrm>
            <a:off x="566928" y="1737360"/>
            <a:ext cx="11064240" cy="475488"/>
          </a:xfrm>
          <a:prstGeom prst="roundRect">
            <a:avLst>
              <a:gd name="adj" fmla="val 3846"/>
            </a:avLst>
          </a:prstGeom>
          <a:solidFill>
            <a:srgbClr val="F3F5EC"/>
          </a:solidFill>
          <a:ln w="12700">
            <a:solidFill>
              <a:srgbClr val="E9EDE1"/>
            </a:solidFill>
            <a:prstDash val="solid"/>
          </a:ln>
        </p:spPr>
        <p:txBody>
          <a:bodyPr/>
          <a:lstStyle/>
          <a:p>
            <a:endParaRPr lang="en-US"/>
          </a:p>
        </p:txBody>
      </p:sp>
      <p:sp>
        <p:nvSpPr>
          <p:cNvPr id="12" name="Text 10"/>
          <p:cNvSpPr txBox="1"/>
          <p:nvPr/>
        </p:nvSpPr>
        <p:spPr>
          <a:xfrm>
            <a:off x="786384" y="1801368"/>
            <a:ext cx="1371600" cy="347472"/>
          </a:xfrm>
          <a:prstGeom prst="rect">
            <a:avLst/>
          </a:prstGeom>
          <a:noFill/>
          <a:ln/>
        </p:spPr>
        <p:txBody>
          <a:bodyPr wrap="square" lIns="0" tIns="0" rIns="0" bIns="0" rtlCol="0" anchor="ctr"/>
          <a:lstStyle/>
          <a:p>
            <a:pPr marL="0" indent="0">
              <a:buNone/>
            </a:pPr>
            <a:r>
              <a:rPr lang="en-US" sz="1180" b="1" dirty="0">
                <a:solidFill>
                  <a:srgbClr val="1E2116"/>
                </a:solidFill>
                <a:latin typeface="Calibri" pitchFamily="34" charset="0"/>
                <a:ea typeface="Calibri" pitchFamily="34" charset="-122"/>
                <a:cs typeface="Calibri" pitchFamily="34" charset="-120"/>
              </a:rPr>
              <a:t>PR</a:t>
            </a:r>
            <a:endParaRPr lang="en-US" sz="1180" dirty="0"/>
          </a:p>
        </p:txBody>
      </p:sp>
      <p:sp>
        <p:nvSpPr>
          <p:cNvPr id="13" name="Text 11"/>
          <p:cNvSpPr txBox="1"/>
          <p:nvPr/>
        </p:nvSpPr>
        <p:spPr>
          <a:xfrm>
            <a:off x="2286000" y="1801368"/>
            <a:ext cx="5669280" cy="347472"/>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Frame-wise linear transformation</a:t>
            </a:r>
            <a:endParaRPr lang="en-US" sz="1180" dirty="0"/>
          </a:p>
        </p:txBody>
      </p:sp>
      <p:sp>
        <p:nvSpPr>
          <p:cNvPr id="14" name="Text 12"/>
          <p:cNvSpPr txBox="1"/>
          <p:nvPr/>
        </p:nvSpPr>
        <p:spPr>
          <a:xfrm>
            <a:off x="8138160" y="1801368"/>
            <a:ext cx="3383280" cy="347472"/>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CTC</a:t>
            </a:r>
            <a:endParaRPr lang="en-US" sz="1180" dirty="0"/>
          </a:p>
        </p:txBody>
      </p:sp>
      <p:sp>
        <p:nvSpPr>
          <p:cNvPr id="15" name="Shape 13"/>
          <p:cNvSpPr/>
          <p:nvPr/>
        </p:nvSpPr>
        <p:spPr>
          <a:xfrm>
            <a:off x="566928" y="2249424"/>
            <a:ext cx="11064240" cy="475488"/>
          </a:xfrm>
          <a:prstGeom prst="roundRect">
            <a:avLst>
              <a:gd name="adj" fmla="val 3846"/>
            </a:avLst>
          </a:prstGeom>
          <a:solidFill>
            <a:srgbClr val="FFFFFF"/>
          </a:solidFill>
          <a:ln w="12700">
            <a:solidFill>
              <a:srgbClr val="E9EDE1"/>
            </a:solidFill>
            <a:prstDash val="solid"/>
          </a:ln>
        </p:spPr>
        <p:txBody>
          <a:bodyPr/>
          <a:lstStyle/>
          <a:p>
            <a:endParaRPr lang="en-US"/>
          </a:p>
        </p:txBody>
      </p:sp>
      <p:sp>
        <p:nvSpPr>
          <p:cNvPr id="16" name="Text 14"/>
          <p:cNvSpPr txBox="1"/>
          <p:nvPr/>
        </p:nvSpPr>
        <p:spPr>
          <a:xfrm>
            <a:off x="786384" y="2313432"/>
            <a:ext cx="1371600" cy="347472"/>
          </a:xfrm>
          <a:prstGeom prst="rect">
            <a:avLst/>
          </a:prstGeom>
          <a:noFill/>
          <a:ln/>
        </p:spPr>
        <p:txBody>
          <a:bodyPr wrap="square" lIns="0" tIns="0" rIns="0" bIns="0" rtlCol="0" anchor="ctr"/>
          <a:lstStyle/>
          <a:p>
            <a:pPr marL="0" indent="0">
              <a:buNone/>
            </a:pPr>
            <a:r>
              <a:rPr lang="en-US" sz="1180" b="1" dirty="0">
                <a:solidFill>
                  <a:srgbClr val="1E2116"/>
                </a:solidFill>
                <a:latin typeface="Calibri" pitchFamily="34" charset="0"/>
                <a:ea typeface="Calibri" pitchFamily="34" charset="-122"/>
                <a:cs typeface="Calibri" pitchFamily="34" charset="-120"/>
              </a:rPr>
              <a:t>KS, SID, IC, ER</a:t>
            </a:r>
            <a:endParaRPr lang="en-US" sz="1180" dirty="0"/>
          </a:p>
        </p:txBody>
      </p:sp>
      <p:sp>
        <p:nvSpPr>
          <p:cNvPr id="17" name="Text 15"/>
          <p:cNvSpPr txBox="1"/>
          <p:nvPr/>
        </p:nvSpPr>
        <p:spPr>
          <a:xfrm>
            <a:off x="2286000" y="2313432"/>
            <a:ext cx="5669280" cy="347472"/>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Mean pooling, then a linear transformation</a:t>
            </a:r>
            <a:endParaRPr lang="en-US" sz="1180" dirty="0"/>
          </a:p>
        </p:txBody>
      </p:sp>
      <p:sp>
        <p:nvSpPr>
          <p:cNvPr id="18" name="Text 16"/>
          <p:cNvSpPr txBox="1"/>
          <p:nvPr/>
        </p:nvSpPr>
        <p:spPr>
          <a:xfrm>
            <a:off x="8138160" y="2313432"/>
            <a:ext cx="3383280" cy="347472"/>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Cross-entropy</a:t>
            </a:r>
            <a:endParaRPr lang="en-US" sz="1180" dirty="0"/>
          </a:p>
        </p:txBody>
      </p:sp>
      <p:sp>
        <p:nvSpPr>
          <p:cNvPr id="19" name="Shape 17"/>
          <p:cNvSpPr/>
          <p:nvPr/>
        </p:nvSpPr>
        <p:spPr>
          <a:xfrm>
            <a:off x="566928" y="2761488"/>
            <a:ext cx="11064240" cy="475488"/>
          </a:xfrm>
          <a:prstGeom prst="roundRect">
            <a:avLst>
              <a:gd name="adj" fmla="val 3846"/>
            </a:avLst>
          </a:prstGeom>
          <a:solidFill>
            <a:srgbClr val="F3F5EC"/>
          </a:solidFill>
          <a:ln w="12700">
            <a:solidFill>
              <a:srgbClr val="E9EDE1"/>
            </a:solidFill>
            <a:prstDash val="solid"/>
          </a:ln>
        </p:spPr>
        <p:txBody>
          <a:bodyPr/>
          <a:lstStyle/>
          <a:p>
            <a:endParaRPr lang="en-US"/>
          </a:p>
        </p:txBody>
      </p:sp>
      <p:sp>
        <p:nvSpPr>
          <p:cNvPr id="20" name="Text 18"/>
          <p:cNvSpPr txBox="1"/>
          <p:nvPr/>
        </p:nvSpPr>
        <p:spPr>
          <a:xfrm>
            <a:off x="786384" y="2825496"/>
            <a:ext cx="1371600" cy="347472"/>
          </a:xfrm>
          <a:prstGeom prst="rect">
            <a:avLst/>
          </a:prstGeom>
          <a:noFill/>
          <a:ln/>
        </p:spPr>
        <p:txBody>
          <a:bodyPr wrap="square" lIns="0" tIns="0" rIns="0" bIns="0" rtlCol="0" anchor="ctr"/>
          <a:lstStyle/>
          <a:p>
            <a:pPr marL="0" indent="0">
              <a:buNone/>
            </a:pPr>
            <a:r>
              <a:rPr lang="en-US" sz="1180" b="1" dirty="0">
                <a:solidFill>
                  <a:srgbClr val="1E2116"/>
                </a:solidFill>
                <a:latin typeface="Calibri" pitchFamily="34" charset="0"/>
                <a:ea typeface="Calibri" pitchFamily="34" charset="-122"/>
                <a:cs typeface="Calibri" pitchFamily="34" charset="-120"/>
              </a:rPr>
              <a:t>ASR</a:t>
            </a:r>
            <a:endParaRPr lang="en-US" sz="1180" dirty="0"/>
          </a:p>
        </p:txBody>
      </p:sp>
      <p:sp>
        <p:nvSpPr>
          <p:cNvPr id="21" name="Text 19"/>
          <p:cNvSpPr txBox="1"/>
          <p:nvPr/>
        </p:nvSpPr>
        <p:spPr>
          <a:xfrm>
            <a:off x="2286000" y="2825496"/>
            <a:ext cx="5669280" cy="347472"/>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Two-layer 1024-unit BLSTM, decoded with the official 4-gram LM</a:t>
            </a:r>
            <a:endParaRPr lang="en-US" sz="1180" dirty="0"/>
          </a:p>
        </p:txBody>
      </p:sp>
      <p:sp>
        <p:nvSpPr>
          <p:cNvPr id="22" name="Text 20"/>
          <p:cNvSpPr txBox="1"/>
          <p:nvPr/>
        </p:nvSpPr>
        <p:spPr>
          <a:xfrm>
            <a:off x="8138160" y="2825496"/>
            <a:ext cx="3383280" cy="347472"/>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CTC on characters</a:t>
            </a:r>
            <a:endParaRPr lang="en-US" sz="1180" dirty="0"/>
          </a:p>
        </p:txBody>
      </p:sp>
      <p:sp>
        <p:nvSpPr>
          <p:cNvPr id="23" name="Shape 21"/>
          <p:cNvSpPr/>
          <p:nvPr/>
        </p:nvSpPr>
        <p:spPr>
          <a:xfrm>
            <a:off x="566928" y="3273552"/>
            <a:ext cx="11064240" cy="475488"/>
          </a:xfrm>
          <a:prstGeom prst="roundRect">
            <a:avLst>
              <a:gd name="adj" fmla="val 3846"/>
            </a:avLst>
          </a:prstGeom>
          <a:solidFill>
            <a:srgbClr val="FFFFFF"/>
          </a:solidFill>
          <a:ln w="12700">
            <a:solidFill>
              <a:srgbClr val="E9EDE1"/>
            </a:solidFill>
            <a:prstDash val="solid"/>
          </a:ln>
        </p:spPr>
        <p:txBody>
          <a:bodyPr/>
          <a:lstStyle/>
          <a:p>
            <a:endParaRPr lang="en-US"/>
          </a:p>
        </p:txBody>
      </p:sp>
      <p:sp>
        <p:nvSpPr>
          <p:cNvPr id="24" name="Text 22"/>
          <p:cNvSpPr txBox="1"/>
          <p:nvPr/>
        </p:nvSpPr>
        <p:spPr>
          <a:xfrm>
            <a:off x="786384" y="3337560"/>
            <a:ext cx="1371600" cy="347472"/>
          </a:xfrm>
          <a:prstGeom prst="rect">
            <a:avLst/>
          </a:prstGeom>
          <a:noFill/>
          <a:ln/>
        </p:spPr>
        <p:txBody>
          <a:bodyPr wrap="square" lIns="0" tIns="0" rIns="0" bIns="0" rtlCol="0" anchor="ctr"/>
          <a:lstStyle/>
          <a:p>
            <a:pPr marL="0" indent="0">
              <a:buNone/>
            </a:pPr>
            <a:r>
              <a:rPr lang="en-US" sz="1180" b="1" dirty="0">
                <a:solidFill>
                  <a:srgbClr val="1E2116"/>
                </a:solidFill>
                <a:latin typeface="Calibri" pitchFamily="34" charset="0"/>
                <a:ea typeface="Calibri" pitchFamily="34" charset="-122"/>
                <a:cs typeface="Calibri" pitchFamily="34" charset="-120"/>
              </a:rPr>
              <a:t>SF</a:t>
            </a:r>
            <a:endParaRPr lang="en-US" sz="1180" dirty="0"/>
          </a:p>
        </p:txBody>
      </p:sp>
      <p:sp>
        <p:nvSpPr>
          <p:cNvPr id="25" name="Text 23"/>
          <p:cNvSpPr txBox="1"/>
          <p:nvPr/>
        </p:nvSpPr>
        <p:spPr>
          <a:xfrm>
            <a:off x="2286000" y="3337560"/>
            <a:ext cx="5669280" cy="347472"/>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Same as ASR, with slot types encoded as special tokens in the transcript</a:t>
            </a:r>
            <a:endParaRPr lang="en-US" sz="1180" dirty="0"/>
          </a:p>
        </p:txBody>
      </p:sp>
      <p:sp>
        <p:nvSpPr>
          <p:cNvPr id="26" name="Text 24"/>
          <p:cNvSpPr txBox="1"/>
          <p:nvPr/>
        </p:nvSpPr>
        <p:spPr>
          <a:xfrm>
            <a:off x="8138160" y="3337560"/>
            <a:ext cx="3383280" cy="347472"/>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CTC on characters</a:t>
            </a:r>
            <a:endParaRPr lang="en-US" sz="1180" dirty="0"/>
          </a:p>
        </p:txBody>
      </p:sp>
      <p:sp>
        <p:nvSpPr>
          <p:cNvPr id="27" name="Shape 25"/>
          <p:cNvSpPr/>
          <p:nvPr/>
        </p:nvSpPr>
        <p:spPr>
          <a:xfrm>
            <a:off x="566928" y="3785616"/>
            <a:ext cx="11064240" cy="475488"/>
          </a:xfrm>
          <a:prstGeom prst="roundRect">
            <a:avLst>
              <a:gd name="adj" fmla="val 3846"/>
            </a:avLst>
          </a:prstGeom>
          <a:solidFill>
            <a:srgbClr val="F3F5EC"/>
          </a:solidFill>
          <a:ln w="12700">
            <a:solidFill>
              <a:srgbClr val="E9EDE1"/>
            </a:solidFill>
            <a:prstDash val="solid"/>
          </a:ln>
        </p:spPr>
        <p:txBody>
          <a:bodyPr/>
          <a:lstStyle/>
          <a:p>
            <a:endParaRPr lang="en-US"/>
          </a:p>
        </p:txBody>
      </p:sp>
      <p:sp>
        <p:nvSpPr>
          <p:cNvPr id="28" name="Text 26"/>
          <p:cNvSpPr txBox="1"/>
          <p:nvPr/>
        </p:nvSpPr>
        <p:spPr>
          <a:xfrm>
            <a:off x="786384" y="3849624"/>
            <a:ext cx="1371600" cy="347472"/>
          </a:xfrm>
          <a:prstGeom prst="rect">
            <a:avLst/>
          </a:prstGeom>
          <a:noFill/>
          <a:ln/>
        </p:spPr>
        <p:txBody>
          <a:bodyPr wrap="square" lIns="0" tIns="0" rIns="0" bIns="0" rtlCol="0" anchor="ctr"/>
          <a:lstStyle/>
          <a:p>
            <a:pPr marL="0" indent="0">
              <a:buNone/>
            </a:pPr>
            <a:r>
              <a:rPr lang="en-US" sz="1180" b="1" dirty="0">
                <a:solidFill>
                  <a:srgbClr val="1E2116"/>
                </a:solidFill>
                <a:latin typeface="Calibri" pitchFamily="34" charset="0"/>
                <a:ea typeface="Calibri" pitchFamily="34" charset="-122"/>
                <a:cs typeface="Calibri" pitchFamily="34" charset="-120"/>
              </a:rPr>
              <a:t>ASV</a:t>
            </a:r>
            <a:endParaRPr lang="en-US" sz="1180" dirty="0"/>
          </a:p>
        </p:txBody>
      </p:sp>
      <p:sp>
        <p:nvSpPr>
          <p:cNvPr id="29" name="Text 27"/>
          <p:cNvSpPr txBox="1"/>
          <p:nvPr/>
        </p:nvSpPr>
        <p:spPr>
          <a:xfrm>
            <a:off x="2286000" y="3849624"/>
            <a:ext cx="5669280" cy="347472"/>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x-vector, with softmax replaced by AMSoftmax</a:t>
            </a:r>
            <a:endParaRPr lang="en-US" sz="1180" dirty="0"/>
          </a:p>
        </p:txBody>
      </p:sp>
      <p:sp>
        <p:nvSpPr>
          <p:cNvPr id="30" name="Text 28"/>
          <p:cNvSpPr txBox="1"/>
          <p:nvPr/>
        </p:nvSpPr>
        <p:spPr>
          <a:xfrm>
            <a:off x="8138160" y="3849624"/>
            <a:ext cx="3383280" cy="347472"/>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Cosine-similarity backend</a:t>
            </a:r>
            <a:endParaRPr lang="en-US" sz="1180" dirty="0"/>
          </a:p>
        </p:txBody>
      </p:sp>
      <p:sp>
        <p:nvSpPr>
          <p:cNvPr id="31" name="Shape 29"/>
          <p:cNvSpPr/>
          <p:nvPr/>
        </p:nvSpPr>
        <p:spPr>
          <a:xfrm>
            <a:off x="566928" y="4297680"/>
            <a:ext cx="11064240" cy="475488"/>
          </a:xfrm>
          <a:prstGeom prst="roundRect">
            <a:avLst>
              <a:gd name="adj" fmla="val 3846"/>
            </a:avLst>
          </a:prstGeom>
          <a:solidFill>
            <a:srgbClr val="FFFFFF"/>
          </a:solidFill>
          <a:ln w="12700">
            <a:solidFill>
              <a:srgbClr val="E9EDE1"/>
            </a:solidFill>
            <a:prstDash val="solid"/>
          </a:ln>
        </p:spPr>
        <p:txBody>
          <a:bodyPr/>
          <a:lstStyle/>
          <a:p>
            <a:endParaRPr lang="en-US"/>
          </a:p>
        </p:txBody>
      </p:sp>
      <p:sp>
        <p:nvSpPr>
          <p:cNvPr id="32" name="Text 30"/>
          <p:cNvSpPr txBox="1"/>
          <p:nvPr/>
        </p:nvSpPr>
        <p:spPr>
          <a:xfrm>
            <a:off x="786384" y="4361688"/>
            <a:ext cx="1371600" cy="347472"/>
          </a:xfrm>
          <a:prstGeom prst="rect">
            <a:avLst/>
          </a:prstGeom>
          <a:noFill/>
          <a:ln/>
        </p:spPr>
        <p:txBody>
          <a:bodyPr wrap="square" lIns="0" tIns="0" rIns="0" bIns="0" rtlCol="0" anchor="ctr"/>
          <a:lstStyle/>
          <a:p>
            <a:pPr marL="0" indent="0">
              <a:buNone/>
            </a:pPr>
            <a:r>
              <a:rPr lang="en-US" sz="1180" b="1" dirty="0">
                <a:solidFill>
                  <a:srgbClr val="1E2116"/>
                </a:solidFill>
                <a:latin typeface="Calibri" pitchFamily="34" charset="0"/>
                <a:ea typeface="Calibri" pitchFamily="34" charset="-122"/>
                <a:cs typeface="Calibri" pitchFamily="34" charset="-120"/>
              </a:rPr>
              <a:t>SD</a:t>
            </a:r>
            <a:endParaRPr lang="en-US" sz="1180" dirty="0"/>
          </a:p>
        </p:txBody>
      </p:sp>
      <p:sp>
        <p:nvSpPr>
          <p:cNvPr id="33" name="Text 31"/>
          <p:cNvSpPr txBox="1"/>
          <p:nvPr/>
        </p:nvSpPr>
        <p:spPr>
          <a:xfrm>
            <a:off x="2286000" y="4361688"/>
            <a:ext cx="5669280" cy="347472"/>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Single-layer 512-unit LSTM, end-to-end</a:t>
            </a:r>
            <a:endParaRPr lang="en-US" sz="1180" dirty="0"/>
          </a:p>
        </p:txBody>
      </p:sp>
      <p:sp>
        <p:nvSpPr>
          <p:cNvPr id="34" name="Text 32"/>
          <p:cNvSpPr txBox="1"/>
          <p:nvPr/>
        </p:nvSpPr>
        <p:spPr>
          <a:xfrm>
            <a:off x="8138160" y="4361688"/>
            <a:ext cx="3383280" cy="347472"/>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Permutation-invariant training</a:t>
            </a:r>
            <a:endParaRPr lang="en-US" sz="1180" dirty="0"/>
          </a:p>
        </p:txBody>
      </p:sp>
      <p:sp>
        <p:nvSpPr>
          <p:cNvPr id="35" name="Shape 33"/>
          <p:cNvSpPr/>
          <p:nvPr/>
        </p:nvSpPr>
        <p:spPr>
          <a:xfrm>
            <a:off x="566928" y="4809744"/>
            <a:ext cx="11064240" cy="475488"/>
          </a:xfrm>
          <a:prstGeom prst="roundRect">
            <a:avLst>
              <a:gd name="adj" fmla="val 3846"/>
            </a:avLst>
          </a:prstGeom>
          <a:solidFill>
            <a:srgbClr val="F3F5EC"/>
          </a:solidFill>
          <a:ln w="12700">
            <a:solidFill>
              <a:srgbClr val="E9EDE1"/>
            </a:solidFill>
            <a:prstDash val="solid"/>
          </a:ln>
        </p:spPr>
        <p:txBody>
          <a:bodyPr/>
          <a:lstStyle/>
          <a:p>
            <a:endParaRPr lang="en-US"/>
          </a:p>
        </p:txBody>
      </p:sp>
      <p:sp>
        <p:nvSpPr>
          <p:cNvPr id="36" name="Text 34"/>
          <p:cNvSpPr txBox="1"/>
          <p:nvPr/>
        </p:nvSpPr>
        <p:spPr>
          <a:xfrm>
            <a:off x="786384" y="4873752"/>
            <a:ext cx="1371600" cy="347472"/>
          </a:xfrm>
          <a:prstGeom prst="rect">
            <a:avLst/>
          </a:prstGeom>
          <a:noFill/>
          <a:ln/>
        </p:spPr>
        <p:txBody>
          <a:bodyPr wrap="square" lIns="0" tIns="0" rIns="0" bIns="0" rtlCol="0" anchor="ctr"/>
          <a:lstStyle/>
          <a:p>
            <a:pPr marL="0" indent="0">
              <a:buNone/>
            </a:pPr>
            <a:r>
              <a:rPr lang="en-US" sz="1180" b="1" dirty="0">
                <a:solidFill>
                  <a:srgbClr val="1E2116"/>
                </a:solidFill>
                <a:latin typeface="Calibri" pitchFamily="34" charset="0"/>
                <a:ea typeface="Calibri" pitchFamily="34" charset="-122"/>
                <a:cs typeface="Calibri" pitchFamily="34" charset="-120"/>
              </a:rPr>
              <a:t>QbE</a:t>
            </a:r>
            <a:endParaRPr lang="en-US" sz="1180" dirty="0"/>
          </a:p>
        </p:txBody>
      </p:sp>
      <p:sp>
        <p:nvSpPr>
          <p:cNvPr id="37" name="Text 35"/>
          <p:cNvSpPr txBox="1"/>
          <p:nvPr/>
        </p:nvSpPr>
        <p:spPr>
          <a:xfrm>
            <a:off x="2286000" y="4873752"/>
            <a:ext cx="5669280" cy="347472"/>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None — dynamic time warping over hidden states</a:t>
            </a:r>
            <a:endParaRPr lang="en-US" sz="1180" dirty="0"/>
          </a:p>
        </p:txBody>
      </p:sp>
      <p:sp>
        <p:nvSpPr>
          <p:cNvPr id="38" name="Text 36"/>
          <p:cNvSpPr txBox="1"/>
          <p:nvPr/>
        </p:nvSpPr>
        <p:spPr>
          <a:xfrm>
            <a:off x="8138160" y="4873752"/>
            <a:ext cx="3383280" cy="347472"/>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Best distance function and layer reported</a:t>
            </a:r>
            <a:endParaRPr lang="en-US" sz="1180" dirty="0"/>
          </a:p>
        </p:txBody>
      </p:sp>
      <p:sp>
        <p:nvSpPr>
          <p:cNvPr id="39" name="Shape 37"/>
          <p:cNvSpPr/>
          <p:nvPr/>
        </p:nvSpPr>
        <p:spPr>
          <a:xfrm>
            <a:off x="566928" y="5303520"/>
            <a:ext cx="11064240" cy="749808"/>
          </a:xfrm>
          <a:prstGeom prst="roundRect">
            <a:avLst>
              <a:gd name="adj" fmla="val 7317"/>
            </a:avLst>
          </a:prstGeom>
          <a:solidFill>
            <a:srgbClr val="2A2E1E"/>
          </a:solidFill>
          <a:ln w="12700">
            <a:solidFill>
              <a:srgbClr val="2A2E1E"/>
            </a:solidFill>
            <a:prstDash val="solid"/>
          </a:ln>
        </p:spPr>
        <p:txBody>
          <a:bodyPr/>
          <a:lstStyle/>
          <a:p>
            <a:endParaRPr lang="en-US"/>
          </a:p>
        </p:txBody>
      </p:sp>
      <p:sp>
        <p:nvSpPr>
          <p:cNvPr id="40" name="Text 38"/>
          <p:cNvSpPr txBox="1"/>
          <p:nvPr/>
        </p:nvSpPr>
        <p:spPr>
          <a:xfrm>
            <a:off x="822960" y="5522976"/>
            <a:ext cx="10552176" cy="329184"/>
          </a:xfrm>
          <a:prstGeom prst="rect">
            <a:avLst/>
          </a:prstGeom>
          <a:noFill/>
          <a:ln/>
        </p:spPr>
        <p:txBody>
          <a:bodyPr wrap="square" lIns="0" tIns="0" rIns="0" bIns="0" rtlCol="0" anchor="t"/>
          <a:lstStyle/>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Five tasks get a linear probe. Two get a recurrent network plus a 4-gram language model. One gets a purpose-built speaker architecture. One gets no training at all. 'Lightweight' covers a wide range.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The tuning policy</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What is allowed to vary, and what is held fixed</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19</a:t>
            </a:r>
            <a:endParaRPr lang="en-US" sz="900" dirty="0"/>
          </a:p>
        </p:txBody>
      </p:sp>
      <p:sp>
        <p:nvSpPr>
          <p:cNvPr id="8" name="Shape 6"/>
          <p:cNvSpPr/>
          <p:nvPr/>
        </p:nvSpPr>
        <p:spPr>
          <a:xfrm>
            <a:off x="566928" y="1600200"/>
            <a:ext cx="5440680" cy="2194560"/>
          </a:xfrm>
          <a:prstGeom prst="roundRect">
            <a:avLst>
              <a:gd name="adj" fmla="val 2500"/>
            </a:avLst>
          </a:prstGeom>
          <a:solidFill>
            <a:srgbClr val="F3F5EC"/>
          </a:solidFill>
          <a:ln w="12700">
            <a:solidFill>
              <a:srgbClr val="E3E7D8"/>
            </a:solidFill>
            <a:prstDash val="solid"/>
          </a:ln>
        </p:spPr>
        <p:txBody>
          <a:bodyPr/>
          <a:lstStyle/>
          <a:p>
            <a:endParaRPr lang="en-US"/>
          </a:p>
        </p:txBody>
      </p:sp>
      <p:sp>
        <p:nvSpPr>
          <p:cNvPr id="9" name="Shape 7"/>
          <p:cNvSpPr/>
          <p:nvPr/>
        </p:nvSpPr>
        <p:spPr>
          <a:xfrm>
            <a:off x="786384" y="1892808"/>
            <a:ext cx="109728" cy="109728"/>
          </a:xfrm>
          <a:prstGeom prst="ellipse">
            <a:avLst/>
          </a:prstGeom>
          <a:solidFill>
            <a:srgbClr val="5F6B3A"/>
          </a:solidFill>
          <a:ln w="12700">
            <a:solidFill>
              <a:srgbClr val="333333"/>
            </a:solidFill>
            <a:prstDash val="solid"/>
          </a:ln>
        </p:spPr>
        <p:txBody>
          <a:bodyPr/>
          <a:lstStyle/>
          <a:p>
            <a:endParaRPr lang="en-US"/>
          </a:p>
        </p:txBody>
      </p:sp>
      <p:sp>
        <p:nvSpPr>
          <p:cNvPr id="10" name="Text 8"/>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1E2116"/>
                </a:solidFill>
                <a:latin typeface="Cambria" pitchFamily="34" charset="0"/>
                <a:ea typeface="Cambria" pitchFamily="34" charset="-122"/>
                <a:cs typeface="Cambria" pitchFamily="34" charset="-120"/>
              </a:rPr>
              <a:t>Held fixed</a:t>
            </a:r>
            <a:endParaRPr lang="en-US" sz="1500" dirty="0"/>
          </a:p>
        </p:txBody>
      </p:sp>
      <p:sp>
        <p:nvSpPr>
          <p:cNvPr id="11" name="Text 9"/>
          <p:cNvSpPr txBox="1"/>
          <p:nvPr/>
        </p:nvSpPr>
        <p:spPr>
          <a:xfrm>
            <a:off x="822960" y="2203704"/>
            <a:ext cx="4928616" cy="1408176"/>
          </a:xfrm>
          <a:prstGeom prst="rect">
            <a:avLst/>
          </a:prstGeom>
          <a:noFill/>
          <a:ln/>
        </p:spPr>
        <p:txBody>
          <a:bodyPr wrap="square" lIns="0" tIns="0" rIns="0" bIns="0" rtlCol="0" anchor="t"/>
          <a:lstStyle/>
          <a:p>
            <a:pPr marL="0" indent="0">
              <a:lnSpc>
                <a:spcPct val="108000"/>
              </a:lnSpc>
              <a:buNone/>
            </a:pPr>
            <a:r>
              <a:rPr lang="en-US" sz="1280" dirty="0">
                <a:solidFill>
                  <a:srgbClr val="323726"/>
                </a:solidFill>
                <a:latin typeface="Calibri" pitchFamily="34" charset="0"/>
                <a:ea typeface="Calibri" pitchFamily="34" charset="-122"/>
                <a:cs typeface="Calibri" pitchFamily="34" charset="-120"/>
              </a:rPr>
              <a:t>The upstream model is frozen. The downstream architecture per task is identical across all candidate models. The datasets, splits and metrics are fixed.</a:t>
            </a:r>
            <a:endParaRPr lang="en-US" sz="1280" dirty="0"/>
          </a:p>
          <a:p>
            <a:pPr marL="0" indent="0">
              <a:lnSpc>
                <a:spcPct val="108000"/>
              </a:lnSpc>
              <a:buNone/>
            </a:pPr>
            <a:endParaRPr lang="en-US" sz="1280" dirty="0"/>
          </a:p>
          <a:p>
            <a:pPr marL="0" indent="0">
              <a:lnSpc>
                <a:spcPct val="108000"/>
              </a:lnSpc>
              <a:buNone/>
            </a:pPr>
            <a:r>
              <a:rPr lang="en-US" sz="1280" dirty="0">
                <a:solidFill>
                  <a:srgbClr val="323726"/>
                </a:solidFill>
                <a:latin typeface="Calibri" pitchFamily="34" charset="0"/>
                <a:ea typeface="Calibri" pitchFamily="34" charset="-122"/>
                <a:cs typeface="Calibri" pitchFamily="34" charset="-120"/>
              </a:rPr>
              <a:t>The constrained track of the challenge enforces all of this; an unconstrained track allowing fine-tuning was planned for later.</a:t>
            </a:r>
            <a:endParaRPr lang="en-US" sz="1280" dirty="0"/>
          </a:p>
        </p:txBody>
      </p:sp>
      <p:sp>
        <p:nvSpPr>
          <p:cNvPr id="12" name="Shape 10"/>
          <p:cNvSpPr/>
          <p:nvPr/>
        </p:nvSpPr>
        <p:spPr>
          <a:xfrm>
            <a:off x="6190488" y="1600200"/>
            <a:ext cx="5440680" cy="2194560"/>
          </a:xfrm>
          <a:prstGeom prst="roundRect">
            <a:avLst>
              <a:gd name="adj" fmla="val 2500"/>
            </a:avLst>
          </a:prstGeom>
          <a:solidFill>
            <a:srgbClr val="F3F5EC"/>
          </a:solidFill>
          <a:ln w="12700">
            <a:solidFill>
              <a:srgbClr val="E3E7D8"/>
            </a:solidFill>
            <a:prstDash val="solid"/>
          </a:ln>
        </p:spPr>
        <p:txBody>
          <a:bodyPr/>
          <a:lstStyle/>
          <a:p>
            <a:endParaRPr lang="en-US"/>
          </a:p>
        </p:txBody>
      </p:sp>
      <p:sp>
        <p:nvSpPr>
          <p:cNvPr id="13" name="Shape 11"/>
          <p:cNvSpPr/>
          <p:nvPr/>
        </p:nvSpPr>
        <p:spPr>
          <a:xfrm>
            <a:off x="6409944" y="1892808"/>
            <a:ext cx="109728" cy="109728"/>
          </a:xfrm>
          <a:prstGeom prst="ellipse">
            <a:avLst/>
          </a:prstGeom>
          <a:solidFill>
            <a:srgbClr val="D9614C"/>
          </a:solidFill>
          <a:ln w="12700">
            <a:solidFill>
              <a:srgbClr val="333333"/>
            </a:solidFill>
            <a:prstDash val="solid"/>
          </a:ln>
        </p:spPr>
        <p:txBody>
          <a:bodyPr/>
          <a:lstStyle/>
          <a:p>
            <a:endParaRPr lang="en-US"/>
          </a:p>
        </p:txBody>
      </p:sp>
      <p:sp>
        <p:nvSpPr>
          <p:cNvPr id="14" name="Text 12"/>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1E2116"/>
                </a:solidFill>
                <a:latin typeface="Cambria" pitchFamily="34" charset="0"/>
                <a:ea typeface="Cambria" pitchFamily="34" charset="-122"/>
                <a:cs typeface="Cambria" pitchFamily="34" charset="-120"/>
              </a:rPr>
              <a:t>Allowed to vary</a:t>
            </a:r>
            <a:endParaRPr lang="en-US" sz="1500" dirty="0"/>
          </a:p>
        </p:txBody>
      </p:sp>
      <p:sp>
        <p:nvSpPr>
          <p:cNvPr id="15" name="Text 13"/>
          <p:cNvSpPr txBox="1"/>
          <p:nvPr/>
        </p:nvSpPr>
        <p:spPr>
          <a:xfrm>
            <a:off x="6446520" y="2203704"/>
            <a:ext cx="4928616" cy="1408176"/>
          </a:xfrm>
          <a:prstGeom prst="rect">
            <a:avLst/>
          </a:prstGeom>
          <a:noFill/>
          <a:ln/>
        </p:spPr>
        <p:txBody>
          <a:bodyPr wrap="square" lIns="0" tIns="0" rIns="0" bIns="0" rtlCol="0" anchor="t"/>
          <a:lstStyle/>
          <a:p>
            <a:pPr marL="0" indent="0">
              <a:lnSpc>
                <a:spcPct val="108000"/>
              </a:lnSpc>
              <a:buNone/>
            </a:pPr>
            <a:r>
              <a:rPr lang="en-US" sz="1280" dirty="0">
                <a:solidFill>
                  <a:srgbClr val="323726"/>
                </a:solidFill>
                <a:latin typeface="Calibri" pitchFamily="34" charset="0"/>
                <a:ea typeface="Calibri" pitchFamily="34" charset="-122"/>
                <a:cs typeface="Calibri" pitchFamily="34" charset="-120"/>
              </a:rPr>
              <a:t>The learning rate is searched from 1e-1 to 1e-7 on a log scale, for every combination of representation and task.</a:t>
            </a:r>
            <a:endParaRPr lang="en-US" sz="1280" dirty="0"/>
          </a:p>
          <a:p>
            <a:pPr marL="0" indent="0">
              <a:lnSpc>
                <a:spcPct val="108000"/>
              </a:lnSpc>
              <a:buNone/>
            </a:pPr>
            <a:endParaRPr lang="en-US" sz="1280" dirty="0"/>
          </a:p>
          <a:p>
            <a:pPr marL="0" indent="0">
              <a:lnSpc>
                <a:spcPct val="108000"/>
              </a:lnSpc>
              <a:buNone/>
            </a:pPr>
            <a:r>
              <a:rPr lang="en-US" sz="1280" dirty="0">
                <a:solidFill>
                  <a:srgbClr val="323726"/>
                </a:solidFill>
                <a:latin typeface="Calibri" pitchFamily="34" charset="0"/>
                <a:ea typeface="Calibri" pitchFamily="34" charset="-122"/>
                <a:cs typeface="Calibri" pitchFamily="34" charset="-120"/>
              </a:rPr>
              <a:t>That is seven orders of magnitude, tuned per cell of the results table. The paper says the space for downstream hyper-parameter tuning is limited, and by the standards of the field it is — but it is not nothing.</a:t>
            </a:r>
            <a:endParaRPr lang="en-US" sz="1280" dirty="0"/>
          </a:p>
        </p:txBody>
      </p:sp>
      <p:sp>
        <p:nvSpPr>
          <p:cNvPr id="16" name="Shape 14"/>
          <p:cNvSpPr/>
          <p:nvPr/>
        </p:nvSpPr>
        <p:spPr>
          <a:xfrm>
            <a:off x="566928" y="3986784"/>
            <a:ext cx="11064240" cy="2066544"/>
          </a:xfrm>
          <a:prstGeom prst="roundRect">
            <a:avLst>
              <a:gd name="adj" fmla="val 2655"/>
            </a:avLst>
          </a:prstGeom>
          <a:solidFill>
            <a:srgbClr val="2A2E1E"/>
          </a:solidFill>
          <a:ln w="12700">
            <a:solidFill>
              <a:srgbClr val="2A2E1E"/>
            </a:solidFill>
            <a:prstDash val="solid"/>
          </a:ln>
        </p:spPr>
        <p:txBody>
          <a:bodyPr/>
          <a:lstStyle/>
          <a:p>
            <a:endParaRPr lang="en-US"/>
          </a:p>
        </p:txBody>
      </p:sp>
      <p:sp>
        <p:nvSpPr>
          <p:cNvPr id="17" name="Shape 15"/>
          <p:cNvSpPr/>
          <p:nvPr/>
        </p:nvSpPr>
        <p:spPr>
          <a:xfrm>
            <a:off x="786384" y="4279392"/>
            <a:ext cx="109728" cy="109728"/>
          </a:xfrm>
          <a:prstGeom prst="ellipse">
            <a:avLst/>
          </a:prstGeom>
          <a:solidFill>
            <a:srgbClr val="D9614C"/>
          </a:solidFill>
          <a:ln w="12700">
            <a:solidFill>
              <a:srgbClr val="333333"/>
            </a:solidFill>
            <a:prstDash val="solid"/>
          </a:ln>
        </p:spPr>
        <p:txBody>
          <a:bodyPr/>
          <a:lstStyle/>
          <a:p>
            <a:endParaRPr lang="en-US"/>
          </a:p>
        </p:txBody>
      </p:sp>
      <p:sp>
        <p:nvSpPr>
          <p:cNvPr id="18" name="Text 16"/>
          <p:cNvSpPr txBox="1"/>
          <p:nvPr/>
        </p:nvSpPr>
        <p:spPr>
          <a:xfrm>
            <a:off x="987552" y="4151376"/>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How to read a SUPERB number, precisely</a:t>
            </a:r>
            <a:endParaRPr lang="en-US" sz="1500" dirty="0"/>
          </a:p>
        </p:txBody>
      </p:sp>
      <p:sp>
        <p:nvSpPr>
          <p:cNvPr id="19" name="Text 17"/>
          <p:cNvSpPr txBox="1"/>
          <p:nvPr/>
        </p:nvSpPr>
        <p:spPr>
          <a:xfrm>
            <a:off x="822960" y="4590288"/>
            <a:ext cx="10552176" cy="1280160"/>
          </a:xfrm>
          <a:prstGeom prst="rect">
            <a:avLst/>
          </a:prstGeom>
          <a:noFill/>
          <a:ln/>
        </p:spPr>
        <p:txBody>
          <a:bodyPr wrap="square" lIns="0" tIns="0" rIns="0" bIns="0" rtlCol="0" anchor="t"/>
          <a:lstStyle/>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It is the best result achievable by: this frozen model, with the best learned convex combination of its layers, feeding a fixed downstream architecture, at the best learning rate in a seven-decade sweep.</a:t>
            </a:r>
            <a:endParaRPr lang="en-US" sz="1300" dirty="0"/>
          </a:p>
          <a:p>
            <a:pPr marL="0" indent="0">
              <a:lnSpc>
                <a:spcPct val="108000"/>
              </a:lnSpc>
              <a:buNone/>
            </a:pPr>
            <a:endParaRPr lang="en-US" sz="1300" dirty="0"/>
          </a:p>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That is a fair and well-specified protocol. It is also several maximisations away from 'the quality of this representation', and the gap is worth keeping in view.</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Fourteen models, three learning approaches</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Plus filter banks as the control</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20</a:t>
            </a:r>
            <a:endParaRPr lang="en-US" sz="900" dirty="0"/>
          </a:p>
        </p:txBody>
      </p:sp>
      <p:sp>
        <p:nvSpPr>
          <p:cNvPr id="8" name="Shape 6"/>
          <p:cNvSpPr/>
          <p:nvPr/>
        </p:nvSpPr>
        <p:spPr>
          <a:xfrm>
            <a:off x="566928" y="1572768"/>
            <a:ext cx="3584448" cy="3017520"/>
          </a:xfrm>
          <a:prstGeom prst="roundRect">
            <a:avLst>
              <a:gd name="adj" fmla="val 1818"/>
            </a:avLst>
          </a:prstGeom>
          <a:solidFill>
            <a:srgbClr val="F3F5EC"/>
          </a:solidFill>
          <a:ln w="12700">
            <a:solidFill>
              <a:srgbClr val="E3E7D8"/>
            </a:solidFill>
            <a:prstDash val="solid"/>
          </a:ln>
        </p:spPr>
        <p:txBody>
          <a:bodyPr/>
          <a:lstStyle/>
          <a:p>
            <a:endParaRPr lang="en-US"/>
          </a:p>
        </p:txBody>
      </p:sp>
      <p:sp>
        <p:nvSpPr>
          <p:cNvPr id="9" name="Shape 7"/>
          <p:cNvSpPr/>
          <p:nvPr/>
        </p:nvSpPr>
        <p:spPr>
          <a:xfrm>
            <a:off x="786384" y="1865376"/>
            <a:ext cx="109728" cy="109728"/>
          </a:xfrm>
          <a:prstGeom prst="ellipse">
            <a:avLst/>
          </a:prstGeom>
          <a:solidFill>
            <a:srgbClr val="5F6B3A"/>
          </a:solidFill>
          <a:ln w="12700">
            <a:solidFill>
              <a:srgbClr val="333333"/>
            </a:solidFill>
            <a:prstDash val="solid"/>
          </a:ln>
        </p:spPr>
        <p:txBody>
          <a:bodyPr/>
          <a:lstStyle/>
          <a:p>
            <a:endParaRPr lang="en-US"/>
          </a:p>
        </p:txBody>
      </p:sp>
      <p:sp>
        <p:nvSpPr>
          <p:cNvPr id="10" name="Text 8"/>
          <p:cNvSpPr txBox="1"/>
          <p:nvPr/>
        </p:nvSpPr>
        <p:spPr>
          <a:xfrm>
            <a:off x="987552" y="1737360"/>
            <a:ext cx="2944368" cy="365760"/>
          </a:xfrm>
          <a:prstGeom prst="rect">
            <a:avLst/>
          </a:prstGeom>
          <a:noFill/>
          <a:ln/>
        </p:spPr>
        <p:txBody>
          <a:bodyPr wrap="square" lIns="0" tIns="0" rIns="0" bIns="0" rtlCol="0" anchor="ctr"/>
          <a:lstStyle/>
          <a:p>
            <a:pPr marL="0" indent="0">
              <a:buNone/>
            </a:pPr>
            <a:r>
              <a:rPr lang="en-US" sz="1500" b="1" dirty="0">
                <a:solidFill>
                  <a:srgbClr val="1E2116"/>
                </a:solidFill>
                <a:latin typeface="Cambria" pitchFamily="34" charset="0"/>
                <a:ea typeface="Cambria" pitchFamily="34" charset="-122"/>
                <a:cs typeface="Cambria" pitchFamily="34" charset="-120"/>
              </a:rPr>
              <a:t>Generative</a:t>
            </a:r>
            <a:endParaRPr lang="en-US" sz="1500" dirty="0"/>
          </a:p>
        </p:txBody>
      </p:sp>
      <p:sp>
        <p:nvSpPr>
          <p:cNvPr id="11" name="Text 9"/>
          <p:cNvSpPr txBox="1"/>
          <p:nvPr/>
        </p:nvSpPr>
        <p:spPr>
          <a:xfrm>
            <a:off x="822960" y="2176272"/>
            <a:ext cx="3072384" cy="2231136"/>
          </a:xfrm>
          <a:prstGeom prst="rect">
            <a:avLst/>
          </a:prstGeom>
          <a:noFill/>
          <a:ln/>
        </p:spPr>
        <p:txBody>
          <a:bodyPr wrap="square" lIns="0" tIns="0" rIns="0" bIns="0" rtlCol="0" anchor="t"/>
          <a:lstStyle/>
          <a:p>
            <a:pPr marL="0" indent="0">
              <a:lnSpc>
                <a:spcPct val="108000"/>
              </a:lnSpc>
              <a:buNone/>
            </a:pPr>
            <a:r>
              <a:rPr lang="en-US" sz="1200" dirty="0">
                <a:solidFill>
                  <a:srgbClr val="323726"/>
                </a:solidFill>
                <a:latin typeface="Calibri" pitchFamily="34" charset="0"/>
                <a:ea typeface="Calibri" pitchFamily="34" charset="-122"/>
                <a:cs typeface="Calibri" pitchFamily="34" charset="-120"/>
              </a:rPr>
              <a:t>APC and VQ-APC — language-model-style generation of future frames from past ones, over filter bank input.</a:t>
            </a:r>
            <a:endParaRPr lang="en-US" sz="1200" dirty="0"/>
          </a:p>
          <a:p>
            <a:pPr marL="0" indent="0">
              <a:lnSpc>
                <a:spcPct val="108000"/>
              </a:lnSpc>
              <a:buNone/>
            </a:pPr>
            <a:endParaRPr lang="en-US" sz="1200" dirty="0"/>
          </a:p>
          <a:p>
            <a:pPr marL="0" indent="0">
              <a:lnSpc>
                <a:spcPct val="108000"/>
              </a:lnSpc>
              <a:buNone/>
            </a:pPr>
            <a:r>
              <a:rPr lang="en-US" sz="1200" dirty="0">
                <a:solidFill>
                  <a:srgbClr val="323726"/>
                </a:solidFill>
                <a:latin typeface="Calibri" pitchFamily="34" charset="0"/>
                <a:ea typeface="Calibri" pitchFamily="34" charset="-122"/>
                <a:cs typeface="Calibri" pitchFamily="34" charset="-120"/>
              </a:rPr>
              <a:t>Mockingjay and TERA — BERT-style masking of acoustic features in time, and in TERA also in frequency, then regenerating the masked parts.</a:t>
            </a:r>
            <a:endParaRPr lang="en-US" sz="1200" dirty="0"/>
          </a:p>
          <a:p>
            <a:pPr marL="0" indent="0">
              <a:lnSpc>
                <a:spcPct val="108000"/>
              </a:lnSpc>
              <a:buNone/>
            </a:pPr>
            <a:endParaRPr lang="en-US" sz="1200" dirty="0"/>
          </a:p>
          <a:p>
            <a:pPr marL="0" indent="0">
              <a:lnSpc>
                <a:spcPct val="108000"/>
              </a:lnSpc>
              <a:buNone/>
            </a:pPr>
            <a:r>
              <a:rPr lang="en-US" sz="1200" dirty="0">
                <a:solidFill>
                  <a:srgbClr val="323726"/>
                </a:solidFill>
                <a:latin typeface="Calibri" pitchFamily="34" charset="0"/>
                <a:ea typeface="Calibri" pitchFamily="34" charset="-122"/>
                <a:cs typeface="Calibri" pitchFamily="34" charset="-120"/>
              </a:rPr>
              <a:t>NPC — masked reconstruction with convolutions for speed.</a:t>
            </a:r>
            <a:endParaRPr lang="en-US" sz="1200" dirty="0"/>
          </a:p>
          <a:p>
            <a:pPr marL="0" indent="0">
              <a:lnSpc>
                <a:spcPct val="108000"/>
              </a:lnSpc>
              <a:buNone/>
            </a:pPr>
            <a:endParaRPr lang="en-US" sz="1200" dirty="0"/>
          </a:p>
          <a:p>
            <a:pPr marL="0" indent="0">
              <a:lnSpc>
                <a:spcPct val="108000"/>
              </a:lnSpc>
              <a:buNone/>
            </a:pPr>
            <a:r>
              <a:rPr lang="en-US" sz="1200" dirty="0">
                <a:solidFill>
                  <a:srgbClr val="323726"/>
                </a:solidFill>
                <a:latin typeface="Calibri" pitchFamily="34" charset="0"/>
                <a:ea typeface="Calibri" pitchFamily="34" charset="-122"/>
                <a:cs typeface="Calibri" pitchFamily="34" charset="-120"/>
              </a:rPr>
              <a:t>DeCoAR 2.0 — Mockingjay plus a vector-quantisation layer, larger masks, more data.</a:t>
            </a:r>
            <a:endParaRPr lang="en-US" sz="1200" dirty="0"/>
          </a:p>
        </p:txBody>
      </p:sp>
      <p:sp>
        <p:nvSpPr>
          <p:cNvPr id="12" name="Shape 10"/>
          <p:cNvSpPr/>
          <p:nvPr/>
        </p:nvSpPr>
        <p:spPr>
          <a:xfrm>
            <a:off x="4279392" y="1572768"/>
            <a:ext cx="3584448" cy="3017520"/>
          </a:xfrm>
          <a:prstGeom prst="roundRect">
            <a:avLst>
              <a:gd name="adj" fmla="val 1818"/>
            </a:avLst>
          </a:prstGeom>
          <a:solidFill>
            <a:srgbClr val="F3F5EC"/>
          </a:solidFill>
          <a:ln w="12700">
            <a:solidFill>
              <a:srgbClr val="E3E7D8"/>
            </a:solidFill>
            <a:prstDash val="solid"/>
          </a:ln>
        </p:spPr>
        <p:txBody>
          <a:bodyPr/>
          <a:lstStyle/>
          <a:p>
            <a:endParaRPr lang="en-US"/>
          </a:p>
        </p:txBody>
      </p:sp>
      <p:sp>
        <p:nvSpPr>
          <p:cNvPr id="13" name="Shape 11"/>
          <p:cNvSpPr/>
          <p:nvPr/>
        </p:nvSpPr>
        <p:spPr>
          <a:xfrm>
            <a:off x="4498848" y="1865376"/>
            <a:ext cx="109728" cy="109728"/>
          </a:xfrm>
          <a:prstGeom prst="ellipse">
            <a:avLst/>
          </a:prstGeom>
          <a:solidFill>
            <a:srgbClr val="D9614C"/>
          </a:solidFill>
          <a:ln w="12700">
            <a:solidFill>
              <a:srgbClr val="333333"/>
            </a:solidFill>
            <a:prstDash val="solid"/>
          </a:ln>
        </p:spPr>
        <p:txBody>
          <a:bodyPr/>
          <a:lstStyle/>
          <a:p>
            <a:endParaRPr lang="en-US"/>
          </a:p>
        </p:txBody>
      </p:sp>
      <p:sp>
        <p:nvSpPr>
          <p:cNvPr id="14" name="Text 12"/>
          <p:cNvSpPr txBox="1"/>
          <p:nvPr/>
        </p:nvSpPr>
        <p:spPr>
          <a:xfrm>
            <a:off x="4700016" y="1737360"/>
            <a:ext cx="2944368" cy="365760"/>
          </a:xfrm>
          <a:prstGeom prst="rect">
            <a:avLst/>
          </a:prstGeom>
          <a:noFill/>
          <a:ln/>
        </p:spPr>
        <p:txBody>
          <a:bodyPr wrap="square" lIns="0" tIns="0" rIns="0" bIns="0" rtlCol="0" anchor="ctr"/>
          <a:lstStyle/>
          <a:p>
            <a:pPr marL="0" indent="0">
              <a:buNone/>
            </a:pPr>
            <a:r>
              <a:rPr lang="en-US" sz="1500" b="1" dirty="0">
                <a:solidFill>
                  <a:srgbClr val="1E2116"/>
                </a:solidFill>
                <a:latin typeface="Cambria" pitchFamily="34" charset="0"/>
                <a:ea typeface="Cambria" pitchFamily="34" charset="-122"/>
                <a:cs typeface="Cambria" pitchFamily="34" charset="-120"/>
              </a:rPr>
              <a:t>Discriminative</a:t>
            </a:r>
            <a:endParaRPr lang="en-US" sz="1500" dirty="0"/>
          </a:p>
        </p:txBody>
      </p:sp>
      <p:sp>
        <p:nvSpPr>
          <p:cNvPr id="15" name="Text 13"/>
          <p:cNvSpPr txBox="1"/>
          <p:nvPr/>
        </p:nvSpPr>
        <p:spPr>
          <a:xfrm>
            <a:off x="4535424" y="2176272"/>
            <a:ext cx="3072384" cy="2231136"/>
          </a:xfrm>
          <a:prstGeom prst="rect">
            <a:avLst/>
          </a:prstGeom>
          <a:noFill/>
          <a:ln/>
        </p:spPr>
        <p:txBody>
          <a:bodyPr wrap="square" lIns="0" tIns="0" rIns="0" bIns="0" rtlCol="0" anchor="t"/>
          <a:lstStyle/>
          <a:p>
            <a:pPr marL="0" indent="0">
              <a:lnSpc>
                <a:spcPct val="108000"/>
              </a:lnSpc>
              <a:buNone/>
            </a:pPr>
            <a:r>
              <a:rPr lang="en-US" sz="1200" dirty="0">
                <a:solidFill>
                  <a:srgbClr val="323726"/>
                </a:solidFill>
                <a:latin typeface="Calibri" pitchFamily="34" charset="0"/>
                <a:ea typeface="Calibri" pitchFamily="34" charset="-122"/>
                <a:cs typeface="Calibri" pitchFamily="34" charset="-120"/>
              </a:rPr>
              <a:t>Modified CPC — contrastive InfoNCE prediction of future latents.</a:t>
            </a:r>
            <a:endParaRPr lang="en-US" sz="1200" dirty="0"/>
          </a:p>
          <a:p>
            <a:pPr marL="0" indent="0">
              <a:lnSpc>
                <a:spcPct val="108000"/>
              </a:lnSpc>
              <a:buNone/>
            </a:pPr>
            <a:endParaRPr lang="en-US" sz="1200" dirty="0"/>
          </a:p>
          <a:p>
            <a:pPr marL="0" indent="0">
              <a:lnSpc>
                <a:spcPct val="108000"/>
              </a:lnSpc>
              <a:buNone/>
            </a:pPr>
            <a:r>
              <a:rPr lang="en-US" sz="1200" dirty="0">
                <a:solidFill>
                  <a:srgbClr val="323726"/>
                </a:solidFill>
                <a:latin typeface="Calibri" pitchFamily="34" charset="0"/>
                <a:ea typeface="Calibri" pitchFamily="34" charset="-122"/>
                <a:cs typeface="Calibri" pitchFamily="34" charset="-120"/>
              </a:rPr>
              <a:t>wav2vec and vq-wav2vec — CPC for ASR, then with a quantisation module producing pseudo-text for a BERT.</a:t>
            </a:r>
            <a:endParaRPr lang="en-US" sz="1200" dirty="0"/>
          </a:p>
          <a:p>
            <a:pPr marL="0" indent="0">
              <a:lnSpc>
                <a:spcPct val="108000"/>
              </a:lnSpc>
              <a:buNone/>
            </a:pPr>
            <a:endParaRPr lang="en-US" sz="1200" dirty="0"/>
          </a:p>
          <a:p>
            <a:pPr marL="0" indent="0">
              <a:lnSpc>
                <a:spcPct val="108000"/>
              </a:lnSpc>
              <a:buNone/>
            </a:pPr>
            <a:r>
              <a:rPr lang="en-US" sz="1200" dirty="0">
                <a:solidFill>
                  <a:srgbClr val="323726"/>
                </a:solidFill>
                <a:latin typeface="Calibri" pitchFamily="34" charset="0"/>
                <a:ea typeface="Calibri" pitchFamily="34" charset="-122"/>
                <a:cs typeface="Calibri" pitchFamily="34" charset="-120"/>
              </a:rPr>
              <a:t>wav2vec 2.0 Base and Large — masking in latent space with contrastive targets, end to end.</a:t>
            </a:r>
            <a:endParaRPr lang="en-US" sz="1200" dirty="0"/>
          </a:p>
          <a:p>
            <a:pPr marL="0" indent="0">
              <a:lnSpc>
                <a:spcPct val="108000"/>
              </a:lnSpc>
              <a:buNone/>
            </a:pPr>
            <a:endParaRPr lang="en-US" sz="1200" dirty="0"/>
          </a:p>
          <a:p>
            <a:pPr marL="0" indent="0">
              <a:lnSpc>
                <a:spcPct val="108000"/>
              </a:lnSpc>
              <a:buNone/>
            </a:pPr>
            <a:r>
              <a:rPr lang="en-US" sz="1200" dirty="0">
                <a:solidFill>
                  <a:srgbClr val="323726"/>
                </a:solidFill>
                <a:latin typeface="Calibri" pitchFamily="34" charset="0"/>
                <a:ea typeface="Calibri" pitchFamily="34" charset="-122"/>
                <a:cs typeface="Calibri" pitchFamily="34" charset="-120"/>
              </a:rPr>
              <a:t>HuBERT Base and Large — masked prediction of offline cluster labels.</a:t>
            </a:r>
            <a:endParaRPr lang="en-US" sz="1200" dirty="0"/>
          </a:p>
        </p:txBody>
      </p:sp>
      <p:sp>
        <p:nvSpPr>
          <p:cNvPr id="16" name="Shape 14"/>
          <p:cNvSpPr/>
          <p:nvPr/>
        </p:nvSpPr>
        <p:spPr>
          <a:xfrm>
            <a:off x="7991856" y="1572768"/>
            <a:ext cx="3639312" cy="3017520"/>
          </a:xfrm>
          <a:prstGeom prst="roundRect">
            <a:avLst>
              <a:gd name="adj" fmla="val 1818"/>
            </a:avLst>
          </a:prstGeom>
          <a:solidFill>
            <a:srgbClr val="F3F5EC"/>
          </a:solidFill>
          <a:ln w="12700">
            <a:solidFill>
              <a:srgbClr val="E3E7D8"/>
            </a:solidFill>
            <a:prstDash val="solid"/>
          </a:ln>
        </p:spPr>
        <p:txBody>
          <a:bodyPr/>
          <a:lstStyle/>
          <a:p>
            <a:endParaRPr lang="en-US"/>
          </a:p>
        </p:txBody>
      </p:sp>
      <p:sp>
        <p:nvSpPr>
          <p:cNvPr id="17" name="Shape 15"/>
          <p:cNvSpPr/>
          <p:nvPr/>
        </p:nvSpPr>
        <p:spPr>
          <a:xfrm>
            <a:off x="8211312" y="1865376"/>
            <a:ext cx="109728" cy="109728"/>
          </a:xfrm>
          <a:prstGeom prst="ellipse">
            <a:avLst/>
          </a:prstGeom>
          <a:solidFill>
            <a:srgbClr val="5F6B3A"/>
          </a:solidFill>
          <a:ln w="12700">
            <a:solidFill>
              <a:srgbClr val="333333"/>
            </a:solidFill>
            <a:prstDash val="solid"/>
          </a:ln>
        </p:spPr>
        <p:txBody>
          <a:bodyPr/>
          <a:lstStyle/>
          <a:p>
            <a:endParaRPr lang="en-US"/>
          </a:p>
        </p:txBody>
      </p:sp>
      <p:sp>
        <p:nvSpPr>
          <p:cNvPr id="18" name="Text 16"/>
          <p:cNvSpPr txBox="1"/>
          <p:nvPr/>
        </p:nvSpPr>
        <p:spPr>
          <a:xfrm>
            <a:off x="8412480" y="1737360"/>
            <a:ext cx="2999232" cy="365760"/>
          </a:xfrm>
          <a:prstGeom prst="rect">
            <a:avLst/>
          </a:prstGeom>
          <a:noFill/>
          <a:ln/>
        </p:spPr>
        <p:txBody>
          <a:bodyPr wrap="square" lIns="0" tIns="0" rIns="0" bIns="0" rtlCol="0" anchor="ctr"/>
          <a:lstStyle/>
          <a:p>
            <a:pPr marL="0" indent="0">
              <a:buNone/>
            </a:pPr>
            <a:r>
              <a:rPr lang="en-US" sz="1500" b="1" dirty="0">
                <a:solidFill>
                  <a:srgbClr val="1E2116"/>
                </a:solidFill>
                <a:latin typeface="Cambria" pitchFamily="34" charset="0"/>
                <a:ea typeface="Cambria" pitchFamily="34" charset="-122"/>
                <a:cs typeface="Cambria" pitchFamily="34" charset="-120"/>
              </a:rPr>
              <a:t>Multi-task and control</a:t>
            </a:r>
            <a:endParaRPr lang="en-US" sz="1500" dirty="0"/>
          </a:p>
        </p:txBody>
      </p:sp>
      <p:sp>
        <p:nvSpPr>
          <p:cNvPr id="19" name="Text 17"/>
          <p:cNvSpPr txBox="1"/>
          <p:nvPr/>
        </p:nvSpPr>
        <p:spPr>
          <a:xfrm>
            <a:off x="8247888" y="2176272"/>
            <a:ext cx="3127248" cy="2231136"/>
          </a:xfrm>
          <a:prstGeom prst="rect">
            <a:avLst/>
          </a:prstGeom>
          <a:noFill/>
          <a:ln/>
        </p:spPr>
        <p:txBody>
          <a:bodyPr wrap="square" lIns="0" tIns="0" rIns="0" bIns="0" rtlCol="0" anchor="t"/>
          <a:lstStyle/>
          <a:p>
            <a:pPr marL="0" indent="0">
              <a:lnSpc>
                <a:spcPct val="108000"/>
              </a:lnSpc>
              <a:buNone/>
            </a:pPr>
            <a:r>
              <a:rPr lang="en-US" sz="1200" dirty="0">
                <a:solidFill>
                  <a:srgbClr val="323726"/>
                </a:solidFill>
                <a:latin typeface="Calibri" pitchFamily="34" charset="0"/>
                <a:ea typeface="Calibri" pitchFamily="34" charset="-122"/>
                <a:cs typeface="Calibri" pitchFamily="34" charset="-120"/>
              </a:rPr>
              <a:t>PASE+ — many objectives at once: waveform generation, prosody regression, contrastive InfoMax, with reverberation and additive noise applied to the input.</a:t>
            </a:r>
            <a:endParaRPr lang="en-US" sz="1200" dirty="0"/>
          </a:p>
          <a:p>
            <a:pPr marL="0" indent="0">
              <a:lnSpc>
                <a:spcPct val="108000"/>
              </a:lnSpc>
              <a:buNone/>
            </a:pPr>
            <a:endParaRPr lang="en-US" sz="1200" dirty="0"/>
          </a:p>
          <a:p>
            <a:pPr marL="0" indent="0">
              <a:lnSpc>
                <a:spcPct val="108000"/>
              </a:lnSpc>
              <a:buNone/>
            </a:pPr>
            <a:r>
              <a:rPr lang="en-US" sz="1200" dirty="0">
                <a:solidFill>
                  <a:srgbClr val="323726"/>
                </a:solidFill>
                <a:latin typeface="Calibri" pitchFamily="34" charset="0"/>
                <a:ea typeface="Calibri" pitchFamily="34" charset="-122"/>
                <a:cs typeface="Calibri" pitchFamily="34" charset="-120"/>
              </a:rPr>
              <a:t>FBANK — log mel filter banks, zero parameters, no pre-training. The control condition, and a surprisingly strong one.</a:t>
            </a:r>
            <a:endParaRPr lang="en-US" sz="1200" dirty="0"/>
          </a:p>
        </p:txBody>
      </p:sp>
      <p:sp>
        <p:nvSpPr>
          <p:cNvPr id="20" name="Shape 18"/>
          <p:cNvSpPr/>
          <p:nvPr/>
        </p:nvSpPr>
        <p:spPr>
          <a:xfrm>
            <a:off x="566928" y="4791456"/>
            <a:ext cx="11064240" cy="1261872"/>
          </a:xfrm>
          <a:prstGeom prst="roundRect">
            <a:avLst>
              <a:gd name="adj" fmla="val 4348"/>
            </a:avLst>
          </a:prstGeom>
          <a:solidFill>
            <a:srgbClr val="2A2E1E"/>
          </a:solidFill>
          <a:ln w="12700">
            <a:solidFill>
              <a:srgbClr val="2A2E1E"/>
            </a:solidFill>
            <a:prstDash val="solid"/>
          </a:ln>
        </p:spPr>
        <p:txBody>
          <a:bodyPr/>
          <a:lstStyle/>
          <a:p>
            <a:endParaRPr lang="en-US"/>
          </a:p>
        </p:txBody>
      </p:sp>
      <p:sp>
        <p:nvSpPr>
          <p:cNvPr id="21" name="Text 19"/>
          <p:cNvSpPr txBox="1"/>
          <p:nvPr/>
        </p:nvSpPr>
        <p:spPr>
          <a:xfrm>
            <a:off x="822960" y="5010912"/>
            <a:ext cx="10552176" cy="841248"/>
          </a:xfrm>
          <a:prstGeom prst="rect">
            <a:avLst/>
          </a:prstGeom>
          <a:noFill/>
          <a:ln/>
        </p:spPr>
        <p:txBody>
          <a:bodyPr wrap="square" lIns="0" tIns="0" rIns="0" bIns="0" rtlCol="0" anchor="t"/>
          <a:lstStyle/>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Parameter counts span four orders of magnitude, from 1.84 million for modified CPC to 317 million for wav2vec 2.0 Large. Pre-training data ranges from 50 hours to 60,000. The table compares models that differ on almost every axis at once.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Part I in four sentences</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Before the break</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21</a:t>
            </a:r>
            <a:endParaRPr lang="en-US" sz="900" dirty="0"/>
          </a:p>
        </p:txBody>
      </p:sp>
      <p:sp>
        <p:nvSpPr>
          <p:cNvPr id="8" name="Shape 6"/>
          <p:cNvSpPr/>
          <p:nvPr/>
        </p:nvSpPr>
        <p:spPr>
          <a:xfrm>
            <a:off x="566928" y="1645920"/>
            <a:ext cx="11064240" cy="969264"/>
          </a:xfrm>
          <a:prstGeom prst="roundRect">
            <a:avLst>
              <a:gd name="adj" fmla="val 4717"/>
            </a:avLst>
          </a:prstGeom>
          <a:solidFill>
            <a:srgbClr val="F3F5EC"/>
          </a:solidFill>
          <a:ln w="12700">
            <a:solidFill>
              <a:srgbClr val="E3E7D8"/>
            </a:solidFill>
            <a:prstDash val="solid"/>
          </a:ln>
        </p:spPr>
        <p:txBody>
          <a:bodyPr/>
          <a:lstStyle/>
          <a:p>
            <a:endParaRPr lang="en-US"/>
          </a:p>
        </p:txBody>
      </p:sp>
      <p:sp>
        <p:nvSpPr>
          <p:cNvPr id="9" name="Shape 7"/>
          <p:cNvSpPr/>
          <p:nvPr/>
        </p:nvSpPr>
        <p:spPr>
          <a:xfrm>
            <a:off x="822960" y="1956816"/>
            <a:ext cx="347472" cy="347472"/>
          </a:xfrm>
          <a:prstGeom prst="ellipse">
            <a:avLst/>
          </a:prstGeom>
          <a:solidFill>
            <a:srgbClr val="5F6B3A"/>
          </a:solidFill>
          <a:ln w="12700">
            <a:solidFill>
              <a:srgbClr val="333333"/>
            </a:solidFill>
            <a:prstDash val="solid"/>
          </a:ln>
        </p:spPr>
        <p:txBody>
          <a:bodyPr/>
          <a:lstStyle/>
          <a:p>
            <a:endParaRPr lang="en-US"/>
          </a:p>
        </p:txBody>
      </p:sp>
      <p:sp>
        <p:nvSpPr>
          <p:cNvPr id="10" name="Text 8"/>
          <p:cNvSpPr txBox="1"/>
          <p:nvPr/>
        </p:nvSpPr>
        <p:spPr>
          <a:xfrm>
            <a:off x="822960" y="1984248"/>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1" name="Text 9"/>
          <p:cNvSpPr txBox="1"/>
          <p:nvPr/>
        </p:nvSpPr>
        <p:spPr>
          <a:xfrm>
            <a:off x="1335024" y="1792224"/>
            <a:ext cx="10058400" cy="694944"/>
          </a:xfrm>
          <a:prstGeom prst="rect">
            <a:avLst/>
          </a:prstGeom>
          <a:noFill/>
          <a:ln/>
        </p:spPr>
        <p:txBody>
          <a:bodyPr wrap="square" lIns="0" tIns="0" rIns="0" bIns="0" rtlCol="0" anchor="ctr"/>
          <a:lstStyle/>
          <a:p>
            <a:pPr marL="0" indent="0">
              <a:buNone/>
            </a:pPr>
            <a:r>
              <a:rPr lang="en-US" sz="1300" dirty="0">
                <a:solidFill>
                  <a:srgbClr val="323726"/>
                </a:solidFill>
                <a:latin typeface="Calibri" pitchFamily="34" charset="0"/>
                <a:ea typeface="Calibri" pitchFamily="34" charset="-122"/>
                <a:cs typeface="Calibri" pitchFamily="34" charset="-120"/>
              </a:rPr>
              <a:t>SUPERB collects ten conventional speech tasks across content, speaker, semantics and paralinguistics, using public datasets and deliberately small labelled training sets.</a:t>
            </a:r>
            <a:endParaRPr lang="en-US" sz="1300" dirty="0"/>
          </a:p>
        </p:txBody>
      </p:sp>
      <p:sp>
        <p:nvSpPr>
          <p:cNvPr id="12" name="Shape 10"/>
          <p:cNvSpPr/>
          <p:nvPr/>
        </p:nvSpPr>
        <p:spPr>
          <a:xfrm>
            <a:off x="566928" y="2688336"/>
            <a:ext cx="11064240" cy="969264"/>
          </a:xfrm>
          <a:prstGeom prst="roundRect">
            <a:avLst>
              <a:gd name="adj" fmla="val 4717"/>
            </a:avLst>
          </a:prstGeom>
          <a:solidFill>
            <a:srgbClr val="F3F5EC"/>
          </a:solidFill>
          <a:ln w="12700">
            <a:solidFill>
              <a:srgbClr val="E3E7D8"/>
            </a:solidFill>
            <a:prstDash val="solid"/>
          </a:ln>
        </p:spPr>
        <p:txBody>
          <a:bodyPr/>
          <a:lstStyle/>
          <a:p>
            <a:endParaRPr lang="en-US"/>
          </a:p>
        </p:txBody>
      </p:sp>
      <p:sp>
        <p:nvSpPr>
          <p:cNvPr id="13" name="Shape 11"/>
          <p:cNvSpPr/>
          <p:nvPr/>
        </p:nvSpPr>
        <p:spPr>
          <a:xfrm>
            <a:off x="822960" y="2999232"/>
            <a:ext cx="347472" cy="347472"/>
          </a:xfrm>
          <a:prstGeom prst="ellipse">
            <a:avLst/>
          </a:prstGeom>
          <a:solidFill>
            <a:srgbClr val="5F6B3A"/>
          </a:solidFill>
          <a:ln w="12700">
            <a:solidFill>
              <a:srgbClr val="333333"/>
            </a:solidFill>
            <a:prstDash val="solid"/>
          </a:ln>
        </p:spPr>
        <p:txBody>
          <a:bodyPr/>
          <a:lstStyle/>
          <a:p>
            <a:endParaRPr lang="en-US"/>
          </a:p>
        </p:txBody>
      </p:sp>
      <p:sp>
        <p:nvSpPr>
          <p:cNvPr id="14" name="Text 12"/>
          <p:cNvSpPr txBox="1"/>
          <p:nvPr/>
        </p:nvSpPr>
        <p:spPr>
          <a:xfrm>
            <a:off x="822960" y="3026664"/>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5" name="Text 13"/>
          <p:cNvSpPr txBox="1"/>
          <p:nvPr/>
        </p:nvSpPr>
        <p:spPr>
          <a:xfrm>
            <a:off x="1335024" y="2834640"/>
            <a:ext cx="10058400" cy="694944"/>
          </a:xfrm>
          <a:prstGeom prst="rect">
            <a:avLst/>
          </a:prstGeom>
          <a:noFill/>
          <a:ln/>
        </p:spPr>
        <p:txBody>
          <a:bodyPr wrap="square" lIns="0" tIns="0" rIns="0" bIns="0" rtlCol="0" anchor="ctr"/>
          <a:lstStyle/>
          <a:p>
            <a:pPr marL="0" indent="0">
              <a:buNone/>
            </a:pPr>
            <a:r>
              <a:rPr lang="en-US" sz="1300" dirty="0">
                <a:solidFill>
                  <a:srgbClr val="323726"/>
                </a:solidFill>
                <a:latin typeface="Calibri" pitchFamily="34" charset="0"/>
                <a:ea typeface="Calibri" pitchFamily="34" charset="-122"/>
                <a:cs typeface="Calibri" pitchFamily="34" charset="-120"/>
              </a:rPr>
              <a:t>Every candidate model is frozen; only a per-task head is trained, plus a learned weighted sum over the model's hidden layers.</a:t>
            </a:r>
            <a:endParaRPr lang="en-US" sz="1300" dirty="0"/>
          </a:p>
        </p:txBody>
      </p:sp>
      <p:sp>
        <p:nvSpPr>
          <p:cNvPr id="16" name="Shape 14"/>
          <p:cNvSpPr/>
          <p:nvPr/>
        </p:nvSpPr>
        <p:spPr>
          <a:xfrm>
            <a:off x="566928" y="3730752"/>
            <a:ext cx="11064240" cy="969264"/>
          </a:xfrm>
          <a:prstGeom prst="roundRect">
            <a:avLst>
              <a:gd name="adj" fmla="val 4717"/>
            </a:avLst>
          </a:prstGeom>
          <a:solidFill>
            <a:srgbClr val="F3F5EC"/>
          </a:solidFill>
          <a:ln w="12700">
            <a:solidFill>
              <a:srgbClr val="E3E7D8"/>
            </a:solidFill>
            <a:prstDash val="solid"/>
          </a:ln>
        </p:spPr>
        <p:txBody>
          <a:bodyPr/>
          <a:lstStyle/>
          <a:p>
            <a:endParaRPr lang="en-US"/>
          </a:p>
        </p:txBody>
      </p:sp>
      <p:sp>
        <p:nvSpPr>
          <p:cNvPr id="17" name="Shape 15"/>
          <p:cNvSpPr/>
          <p:nvPr/>
        </p:nvSpPr>
        <p:spPr>
          <a:xfrm>
            <a:off x="822960" y="4041648"/>
            <a:ext cx="347472" cy="347472"/>
          </a:xfrm>
          <a:prstGeom prst="ellipse">
            <a:avLst/>
          </a:prstGeom>
          <a:solidFill>
            <a:srgbClr val="5F6B3A"/>
          </a:solidFill>
          <a:ln w="12700">
            <a:solidFill>
              <a:srgbClr val="333333"/>
            </a:solidFill>
            <a:prstDash val="solid"/>
          </a:ln>
        </p:spPr>
        <p:txBody>
          <a:bodyPr/>
          <a:lstStyle/>
          <a:p>
            <a:endParaRPr lang="en-US"/>
          </a:p>
        </p:txBody>
      </p:sp>
      <p:sp>
        <p:nvSpPr>
          <p:cNvPr id="18" name="Text 16"/>
          <p:cNvSpPr txBox="1"/>
          <p:nvPr/>
        </p:nvSpPr>
        <p:spPr>
          <a:xfrm>
            <a:off x="822960" y="4069080"/>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9" name="Text 17"/>
          <p:cNvSpPr txBox="1"/>
          <p:nvPr/>
        </p:nvSpPr>
        <p:spPr>
          <a:xfrm>
            <a:off x="1335024" y="3877056"/>
            <a:ext cx="10058400" cy="694944"/>
          </a:xfrm>
          <a:prstGeom prst="rect">
            <a:avLst/>
          </a:prstGeom>
          <a:noFill/>
          <a:ln/>
        </p:spPr>
        <p:txBody>
          <a:bodyPr wrap="square" lIns="0" tIns="0" rIns="0" bIns="0" rtlCol="0" anchor="ctr"/>
          <a:lstStyle/>
          <a:p>
            <a:pPr marL="0" indent="0">
              <a:buNone/>
            </a:pPr>
            <a:r>
              <a:rPr lang="en-US" sz="1300" dirty="0">
                <a:solidFill>
                  <a:srgbClr val="323726"/>
                </a:solidFill>
                <a:latin typeface="Calibri" pitchFamily="34" charset="0"/>
                <a:ea typeface="Calibri" pitchFamily="34" charset="-122"/>
                <a:cs typeface="Calibri" pitchFamily="34" charset="-120"/>
              </a:rPr>
              <a:t>Five tasks use linear heads and are framed as a direct indication of representation quality; the other five allow recurrent networks, an x-vector, a language model, or no training at all.</a:t>
            </a:r>
            <a:endParaRPr lang="en-US" sz="1300" dirty="0"/>
          </a:p>
        </p:txBody>
      </p:sp>
      <p:sp>
        <p:nvSpPr>
          <p:cNvPr id="20" name="Shape 18"/>
          <p:cNvSpPr/>
          <p:nvPr/>
        </p:nvSpPr>
        <p:spPr>
          <a:xfrm>
            <a:off x="566928" y="4773168"/>
            <a:ext cx="11064240" cy="969264"/>
          </a:xfrm>
          <a:prstGeom prst="roundRect">
            <a:avLst>
              <a:gd name="adj" fmla="val 4717"/>
            </a:avLst>
          </a:prstGeom>
          <a:solidFill>
            <a:srgbClr val="F3F5EC"/>
          </a:solidFill>
          <a:ln w="12700">
            <a:solidFill>
              <a:srgbClr val="E3E7D8"/>
            </a:solidFill>
            <a:prstDash val="solid"/>
          </a:ln>
        </p:spPr>
        <p:txBody>
          <a:bodyPr/>
          <a:lstStyle/>
          <a:p>
            <a:endParaRPr lang="en-US"/>
          </a:p>
        </p:txBody>
      </p:sp>
      <p:sp>
        <p:nvSpPr>
          <p:cNvPr id="21" name="Shape 19"/>
          <p:cNvSpPr/>
          <p:nvPr/>
        </p:nvSpPr>
        <p:spPr>
          <a:xfrm>
            <a:off x="822960" y="5084064"/>
            <a:ext cx="347472" cy="347472"/>
          </a:xfrm>
          <a:prstGeom prst="ellipse">
            <a:avLst/>
          </a:prstGeom>
          <a:solidFill>
            <a:srgbClr val="5F6B3A"/>
          </a:solidFill>
          <a:ln w="12700">
            <a:solidFill>
              <a:srgbClr val="333333"/>
            </a:solidFill>
            <a:prstDash val="solid"/>
          </a:ln>
        </p:spPr>
        <p:txBody>
          <a:bodyPr/>
          <a:lstStyle/>
          <a:p>
            <a:endParaRPr lang="en-US"/>
          </a:p>
        </p:txBody>
      </p:sp>
      <p:sp>
        <p:nvSpPr>
          <p:cNvPr id="22" name="Text 20"/>
          <p:cNvSpPr txBox="1"/>
          <p:nvPr/>
        </p:nvSpPr>
        <p:spPr>
          <a:xfrm>
            <a:off x="822960" y="5111496"/>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1"/>
          <p:cNvSpPr txBox="1"/>
          <p:nvPr/>
        </p:nvSpPr>
        <p:spPr>
          <a:xfrm>
            <a:off x="1335024" y="4919472"/>
            <a:ext cx="10058400" cy="694944"/>
          </a:xfrm>
          <a:prstGeom prst="rect">
            <a:avLst/>
          </a:prstGeom>
          <a:noFill/>
          <a:ln/>
        </p:spPr>
        <p:txBody>
          <a:bodyPr wrap="square" lIns="0" tIns="0" rIns="0" bIns="0" rtlCol="0" anchor="ctr"/>
          <a:lstStyle/>
          <a:p>
            <a:pPr marL="0" indent="0">
              <a:buNone/>
            </a:pPr>
            <a:r>
              <a:rPr lang="en-US" sz="1300" dirty="0">
                <a:solidFill>
                  <a:srgbClr val="323726"/>
                </a:solidFill>
                <a:latin typeface="Calibri" pitchFamily="34" charset="0"/>
                <a:ea typeface="Calibri" pitchFamily="34" charset="-122"/>
                <a:cs typeface="Calibri" pitchFamily="34" charset="-120"/>
              </a:rPr>
              <a:t>A reported number is therefore the best achievable under a fixed head, the best layer combination, and the best learning rate in a seven-decade sweep.</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2A2E1E"/>
        </a:solidFill>
        <a:effectLst/>
      </p:bgPr>
    </p:bg>
    <p:spTree>
      <p:nvGrpSpPr>
        <p:cNvPr id="1" name=""/>
        <p:cNvGrpSpPr/>
        <p:nvPr/>
      </p:nvGrpSpPr>
      <p:grpSpPr>
        <a:xfrm>
          <a:off x="0" y="0"/>
          <a:ext cx="0" cy="0"/>
          <a:chOff x="0" y="0"/>
          <a:chExt cx="0" cy="0"/>
        </a:xfrm>
      </p:grpSpPr>
      <p:sp>
        <p:nvSpPr>
          <p:cNvPr id="2" name="Shape 0"/>
          <p:cNvSpPr/>
          <p:nvPr/>
        </p:nvSpPr>
        <p:spPr>
          <a:xfrm>
            <a:off x="10607040" y="5303520"/>
            <a:ext cx="804672" cy="137160"/>
          </a:xfrm>
          <a:prstGeom prst="roundRect">
            <a:avLst>
              <a:gd name="adj" fmla="val 13333"/>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0607040" y="5513832"/>
            <a:ext cx="548640" cy="137160"/>
          </a:xfrm>
          <a:prstGeom prst="roundRect">
            <a:avLst>
              <a:gd name="adj" fmla="val 13333"/>
            </a:avLst>
          </a:prstGeom>
          <a:solidFill>
            <a:srgbClr val="D6DCC0"/>
          </a:solidFill>
          <a:ln w="12700">
            <a:solidFill>
              <a:srgbClr val="333333"/>
            </a:solidFill>
            <a:prstDash val="solid"/>
          </a:ln>
        </p:spPr>
        <p:txBody>
          <a:bodyPr/>
          <a:lstStyle/>
          <a:p>
            <a:endParaRPr lang="en-US"/>
          </a:p>
        </p:txBody>
      </p:sp>
      <p:sp>
        <p:nvSpPr>
          <p:cNvPr id="4" name="Shape 2"/>
          <p:cNvSpPr/>
          <p:nvPr/>
        </p:nvSpPr>
        <p:spPr>
          <a:xfrm>
            <a:off x="10607040" y="5724144"/>
            <a:ext cx="329184" cy="137160"/>
          </a:xfrm>
          <a:prstGeom prst="roundRect">
            <a:avLst>
              <a:gd name="adj" fmla="val 13333"/>
            </a:avLst>
          </a:prstGeom>
          <a:solidFill>
            <a:srgbClr val="D6DCC0"/>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D9614C"/>
                </a:solidFill>
                <a:latin typeface="Cambria" pitchFamily="34" charset="0"/>
                <a:ea typeface="Cambria" pitchFamily="34" charset="-122"/>
                <a:cs typeface="Cambria" pitchFamily="34" charset="-120"/>
              </a:rPr>
              <a:t>4</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Results</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6DCC0"/>
                </a:solidFill>
                <a:latin typeface="Calibri" pitchFamily="34" charset="0"/>
                <a:ea typeface="Calibri" pitchFamily="34" charset="-122"/>
                <a:cs typeface="Calibri" pitchFamily="34" charset="-120"/>
              </a:rPr>
              <a:t>What the table shows</a:t>
            </a:r>
            <a:endParaRPr lang="en-US" sz="1500" dirty="0"/>
          </a:p>
        </p:txBody>
      </p:sp>
      <p:sp>
        <p:nvSpPr>
          <p:cNvPr id="8" name="Text 6"/>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23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Phoneme recognition</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The clearest column in the table, and the widest spread</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24</a:t>
            </a:r>
            <a:endParaRPr lang="en-US" sz="900" dirty="0"/>
          </a:p>
        </p:txBody>
      </p:sp>
      <p:graphicFrame>
        <p:nvGraphicFramePr>
          <p:cNvPr id="8" name="Chart 0"/>
          <p:cNvGraphicFramePr/>
          <p:nvPr/>
        </p:nvGraphicFramePr>
        <p:xfrm>
          <a:off x="566928" y="1554480"/>
          <a:ext cx="667512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498080" y="1700784"/>
            <a:ext cx="413308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23726"/>
                </a:solidFill>
                <a:latin typeface="Calibri" pitchFamily="34" charset="0"/>
                <a:ea typeface="Calibri" pitchFamily="34" charset="-122"/>
                <a:cs typeface="Calibri" pitchFamily="34" charset="-120"/>
              </a:rPr>
              <a:t>Filter banks reach 82% phone error with a linear head — essentially unusable, as expected.</a:t>
            </a:r>
            <a:endParaRPr lang="en-US" sz="1220" dirty="0"/>
          </a:p>
          <a:p>
            <a:pPr marL="342900" indent="-342900">
              <a:spcAft>
                <a:spcPts val="800"/>
              </a:spcAft>
              <a:buSzPct val="100000"/>
              <a:buChar char="●"/>
            </a:pPr>
            <a:r>
              <a:rPr lang="en-US" sz="1220" dirty="0">
                <a:solidFill>
                  <a:srgbClr val="323726"/>
                </a:solidFill>
                <a:latin typeface="Calibri" pitchFamily="34" charset="0"/>
                <a:ea typeface="Calibri" pitchFamily="34" charset="-122"/>
                <a:cs typeface="Calibri" pitchFamily="34" charset="-120"/>
              </a:rPr>
              <a:t>wav2vec 2.0 and HuBERT reach single digits with nothing but a linear transformation. The paper calls this a surprise, and it is.</a:t>
            </a:r>
            <a:endParaRPr lang="en-US" sz="1220" dirty="0"/>
          </a:p>
          <a:p>
            <a:pPr marL="342900" indent="-342900">
              <a:spcAft>
                <a:spcPts val="800"/>
              </a:spcAft>
              <a:buSzPct val="100000"/>
              <a:buChar char="●"/>
            </a:pPr>
            <a:r>
              <a:rPr lang="en-US" sz="1220" dirty="0">
                <a:solidFill>
                  <a:srgbClr val="323726"/>
                </a:solidFill>
                <a:latin typeface="Calibri" pitchFamily="34" charset="0"/>
                <a:ea typeface="Calibri" pitchFamily="34" charset="-122"/>
                <a:cs typeface="Calibri" pitchFamily="34" charset="-120"/>
              </a:rPr>
              <a:t>That is the strongest evidence in the table for the probing claim: phonetic identity is close to linearly decodable from these representations.</a:t>
            </a:r>
            <a:endParaRPr lang="en-US" sz="1220" dirty="0"/>
          </a:p>
          <a:p>
            <a:pPr marL="342900" indent="-342900">
              <a:spcAft>
                <a:spcPts val="800"/>
              </a:spcAft>
              <a:buSzPct val="100000"/>
              <a:buChar char="●"/>
            </a:pPr>
            <a:r>
              <a:rPr lang="en-US" sz="1220" dirty="0">
                <a:solidFill>
                  <a:srgbClr val="323726"/>
                </a:solidFill>
                <a:latin typeface="Calibri" pitchFamily="34" charset="0"/>
                <a:ea typeface="Calibri" pitchFamily="34" charset="-122"/>
                <a:cs typeface="Calibri" pitchFamily="34" charset="-120"/>
              </a:rPr>
              <a:t>The jump from DeCoAR 2.0 at 14.93 to wav2vec 2.0 Base at 5.74 is the transition from filter-bank inputs to raw waveform with latent masking.</a:t>
            </a:r>
            <a:endParaRPr lang="en-US" sz="1220" dirty="0"/>
          </a:p>
        </p:txBody>
      </p:sp>
      <p:sp>
        <p:nvSpPr>
          <p:cNvPr id="10" name="Shape 7"/>
          <p:cNvSpPr/>
          <p:nvPr/>
        </p:nvSpPr>
        <p:spPr>
          <a:xfrm>
            <a:off x="566928" y="5303520"/>
            <a:ext cx="11064240" cy="749808"/>
          </a:xfrm>
          <a:prstGeom prst="roundRect">
            <a:avLst>
              <a:gd name="adj" fmla="val 7317"/>
            </a:avLst>
          </a:prstGeom>
          <a:solidFill>
            <a:srgbClr val="2A2E1E"/>
          </a:solidFill>
          <a:ln w="12700">
            <a:solidFill>
              <a:srgbClr val="2A2E1E"/>
            </a:solidFill>
            <a:prstDash val="solid"/>
          </a:ln>
        </p:spPr>
        <p:txBody>
          <a:bodyPr/>
          <a:lstStyle/>
          <a:p>
            <a:endParaRPr lang="en-US"/>
          </a:p>
        </p:txBody>
      </p:sp>
      <p:sp>
        <p:nvSpPr>
          <p:cNvPr id="11" name="Text 8"/>
          <p:cNvSpPr txBox="1"/>
          <p:nvPr/>
        </p:nvSpPr>
        <p:spPr>
          <a:xfrm>
            <a:off x="822960" y="5522976"/>
            <a:ext cx="10552176" cy="329184"/>
          </a:xfrm>
          <a:prstGeom prst="rect">
            <a:avLst/>
          </a:prstGeom>
          <a:noFill/>
          <a:ln/>
        </p:spPr>
        <p:txBody>
          <a:bodyPr wrap="square" lIns="0" tIns="0" rIns="0" bIns="0" rtlCol="0" anchor="t"/>
          <a:lstStyle/>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If you want one number for 'does this model encode phonetics', this column is it — and it is the closest thing in the suite to a clean probing result.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The five linear-probe tasks</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Where the paper's probing claim actually applies</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25</a:t>
            </a:r>
            <a:endParaRPr lang="en-US" sz="900" dirty="0"/>
          </a:p>
        </p:txBody>
      </p:sp>
      <p:graphicFrame>
        <p:nvGraphicFramePr>
          <p:cNvPr id="8" name="Chart 0"/>
          <p:cNvGraphicFramePr/>
          <p:nvPr/>
        </p:nvGraphicFramePr>
        <p:xfrm>
          <a:off x="566928" y="1554480"/>
          <a:ext cx="67665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589520" y="1700784"/>
            <a:ext cx="404164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23726"/>
                </a:solidFill>
                <a:latin typeface="Calibri" pitchFamily="34" charset="0"/>
                <a:ea typeface="Calibri" pitchFamily="34" charset="-122"/>
                <a:cs typeface="Calibri" pitchFamily="34" charset="-120"/>
              </a:rPr>
              <a:t>Filter banks score essentially zero on speaker identification with a linear head — 8.5 × 10⁻⁴ accuracy on a 1,251-way problem.</a:t>
            </a:r>
            <a:endParaRPr lang="en-US" sz="1220" dirty="0"/>
          </a:p>
          <a:p>
            <a:pPr marL="342900" indent="-342900">
              <a:spcAft>
                <a:spcPts val="800"/>
              </a:spcAft>
              <a:buSzPct val="100000"/>
              <a:buChar char="●"/>
            </a:pPr>
            <a:r>
              <a:rPr lang="en-US" sz="1220" dirty="0">
                <a:solidFill>
                  <a:srgbClr val="323726"/>
                </a:solidFill>
                <a:latin typeface="Calibri" pitchFamily="34" charset="0"/>
                <a:ea typeface="Calibri" pitchFamily="34" charset="-122"/>
                <a:cs typeface="Calibri" pitchFamily="34" charset="-120"/>
              </a:rPr>
              <a:t>Intent classification is close to solved: 98.76% from a linear layer on frozen HuBERT features.</a:t>
            </a:r>
            <a:endParaRPr lang="en-US" sz="1220" dirty="0"/>
          </a:p>
          <a:p>
            <a:pPr marL="342900" indent="-342900">
              <a:spcAft>
                <a:spcPts val="800"/>
              </a:spcAft>
              <a:buSzPct val="100000"/>
              <a:buChar char="●"/>
            </a:pPr>
            <a:r>
              <a:rPr lang="en-US" sz="1220" dirty="0">
                <a:solidFill>
                  <a:srgbClr val="323726"/>
                </a:solidFill>
                <a:latin typeface="Calibri" pitchFamily="34" charset="0"/>
                <a:ea typeface="Calibri" pitchFamily="34" charset="-122"/>
                <a:cs typeface="Calibri" pitchFamily="34" charset="-120"/>
              </a:rPr>
              <a:t>Emotion recognition is the flattest column in the whole table. From filter banks to the best model is 32 points; between the four SSL models shown, about eight.</a:t>
            </a:r>
            <a:endParaRPr lang="en-US" sz="1220" dirty="0"/>
          </a:p>
          <a:p>
            <a:pPr marL="342900" indent="-342900">
              <a:spcAft>
                <a:spcPts val="800"/>
              </a:spcAft>
              <a:buSzPct val="100000"/>
              <a:buChar char="●"/>
            </a:pPr>
            <a:r>
              <a:rPr lang="en-US" sz="1220" dirty="0">
                <a:solidFill>
                  <a:srgbClr val="323726"/>
                </a:solidFill>
                <a:latin typeface="Calibri" pitchFamily="34" charset="0"/>
                <a:ea typeface="Calibri" pitchFamily="34" charset="-122"/>
                <a:cs typeface="Calibri" pitchFamily="34" charset="-120"/>
              </a:rPr>
              <a:t>So three different kinds of information — phonetic, speaker, semantic — are all linearly recoverable, and the paralinguistic one least so.</a:t>
            </a:r>
            <a:endParaRPr lang="en-US" sz="1220" dirty="0"/>
          </a:p>
        </p:txBody>
      </p:sp>
      <p:sp>
        <p:nvSpPr>
          <p:cNvPr id="10" name="Shape 7"/>
          <p:cNvSpPr/>
          <p:nvPr/>
        </p:nvSpPr>
        <p:spPr>
          <a:xfrm>
            <a:off x="566928" y="5266944"/>
            <a:ext cx="11064240" cy="786384"/>
          </a:xfrm>
          <a:prstGeom prst="roundRect">
            <a:avLst>
              <a:gd name="adj" fmla="val 6977"/>
            </a:avLst>
          </a:prstGeom>
          <a:solidFill>
            <a:srgbClr val="2A2E1E"/>
          </a:solidFill>
          <a:ln w="12700">
            <a:solidFill>
              <a:srgbClr val="2A2E1E"/>
            </a:solidFill>
            <a:prstDash val="solid"/>
          </a:ln>
        </p:spPr>
        <p:txBody>
          <a:bodyPr/>
          <a:lstStyle/>
          <a:p>
            <a:endParaRPr lang="en-US"/>
          </a:p>
        </p:txBody>
      </p:sp>
      <p:sp>
        <p:nvSpPr>
          <p:cNvPr id="11" name="Text 8"/>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The flatness of the emotion column is the finding this room should take away, and we will come back to why it might be flat.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The most interesting result in the paper</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Filter banks beat many self-supervised models on the harder speaker tasks</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26</a:t>
            </a:r>
            <a:endParaRPr lang="en-US" sz="900" dirty="0"/>
          </a:p>
        </p:txBody>
      </p:sp>
      <p:graphicFrame>
        <p:nvGraphicFramePr>
          <p:cNvPr id="8" name="Chart 0"/>
          <p:cNvGraphicFramePr/>
          <p:nvPr/>
        </p:nvGraphicFramePr>
        <p:xfrm>
          <a:off x="566928" y="1554480"/>
          <a:ext cx="66751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498080" y="1700784"/>
            <a:ext cx="413308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23726"/>
                </a:solidFill>
                <a:latin typeface="Calibri" pitchFamily="34" charset="0"/>
                <a:ea typeface="Calibri" pitchFamily="34" charset="-122"/>
                <a:cs typeface="Calibri" pitchFamily="34" charset="-120"/>
              </a:rPr>
              <a:t>Four of the eight self-supervised models shown are worse than filter banks at speaker verification.</a:t>
            </a:r>
            <a:endParaRPr lang="en-US" sz="1220" dirty="0"/>
          </a:p>
          <a:p>
            <a:pPr marL="342900" indent="-342900">
              <a:spcAft>
                <a:spcPts val="800"/>
              </a:spcAft>
              <a:buSzPct val="100000"/>
              <a:buChar char="●"/>
            </a:pPr>
            <a:r>
              <a:rPr lang="en-US" sz="1220" dirty="0">
                <a:solidFill>
                  <a:srgbClr val="323726"/>
                </a:solidFill>
                <a:latin typeface="Calibri" pitchFamily="34" charset="0"/>
                <a:ea typeface="Calibri" pitchFamily="34" charset="-122"/>
                <a:cs typeface="Calibri" pitchFamily="34" charset="-120"/>
              </a:rPr>
              <a:t>The paper states it plainly: many SSL representations are worse than FBANK when it comes to real-world speaker problems beyond SID.</a:t>
            </a:r>
            <a:endParaRPr lang="en-US" sz="1220" dirty="0"/>
          </a:p>
          <a:p>
            <a:pPr marL="342900" indent="-342900">
              <a:spcAft>
                <a:spcPts val="800"/>
              </a:spcAft>
              <a:buSzPct val="100000"/>
              <a:buChar char="●"/>
            </a:pPr>
            <a:r>
              <a:rPr lang="en-US" sz="1220" dirty="0">
                <a:solidFill>
                  <a:srgbClr val="323726"/>
                </a:solidFill>
                <a:latin typeface="Calibri" pitchFamily="34" charset="0"/>
                <a:ea typeface="Calibri" pitchFamily="34" charset="-122"/>
                <a:cs typeface="Calibri" pitchFamily="34" charset="-120"/>
              </a:rPr>
              <a:t>The same pattern appears in diarisation, and filter banks are also competitive on ASR and slot filling once non-linear heads are allowed.</a:t>
            </a:r>
            <a:endParaRPr lang="en-US" sz="1220" dirty="0"/>
          </a:p>
          <a:p>
            <a:pPr marL="342900" indent="-342900">
              <a:spcAft>
                <a:spcPts val="800"/>
              </a:spcAft>
              <a:buSzPct val="100000"/>
              <a:buChar char="●"/>
            </a:pPr>
            <a:r>
              <a:rPr lang="en-US" sz="1220" dirty="0">
                <a:solidFill>
                  <a:srgbClr val="323726"/>
                </a:solidFill>
                <a:latin typeface="Calibri" pitchFamily="34" charset="0"/>
                <a:ea typeface="Calibri" pitchFamily="34" charset="-122"/>
                <a:cs typeface="Calibri" pitchFamily="34" charset="-120"/>
              </a:rPr>
              <a:t>HuBERT Base is the exception, taking verification error from 9.56 to 5.11 with no VoxCeleb2 data and no augmentation.</a:t>
            </a:r>
            <a:endParaRPr lang="en-US" sz="1220" dirty="0"/>
          </a:p>
        </p:txBody>
      </p:sp>
      <p:sp>
        <p:nvSpPr>
          <p:cNvPr id="10" name="Shape 7"/>
          <p:cNvSpPr/>
          <p:nvPr/>
        </p:nvSpPr>
        <p:spPr>
          <a:xfrm>
            <a:off x="566928" y="5266944"/>
            <a:ext cx="11064240" cy="786384"/>
          </a:xfrm>
          <a:prstGeom prst="roundRect">
            <a:avLst>
              <a:gd name="adj" fmla="val 6977"/>
            </a:avLst>
          </a:prstGeom>
          <a:solidFill>
            <a:srgbClr val="2A2E1E"/>
          </a:solidFill>
          <a:ln w="12700">
            <a:solidFill>
              <a:srgbClr val="2A2E1E"/>
            </a:solidFill>
            <a:prstDash val="solid"/>
          </a:ln>
        </p:spPr>
        <p:txBody>
          <a:bodyPr/>
          <a:lstStyle/>
          <a:p>
            <a:endParaRPr lang="en-US"/>
          </a:p>
        </p:txBody>
      </p:sp>
      <p:sp>
        <p:nvSpPr>
          <p:cNvPr id="11" name="Text 8"/>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A benchmark that lets the trivial baseline beat half the field is doing its job. This is the single most useful thing SUPERB contributed in 2021.</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The rankings disagree with each other</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There is no single ordering of these models</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27</a:t>
            </a:r>
            <a:endParaRPr lang="en-US" sz="900" dirty="0"/>
          </a:p>
        </p:txBody>
      </p:sp>
      <p:sp>
        <p:nvSpPr>
          <p:cNvPr id="8" name="Shape 6"/>
          <p:cNvSpPr/>
          <p:nvPr/>
        </p:nvSpPr>
        <p:spPr>
          <a:xfrm>
            <a:off x="566928" y="1591056"/>
            <a:ext cx="11064240" cy="603504"/>
          </a:xfrm>
          <a:prstGeom prst="roundRect">
            <a:avLst>
              <a:gd name="adj" fmla="val 6061"/>
            </a:avLst>
          </a:prstGeom>
          <a:solidFill>
            <a:srgbClr val="F3F5EC"/>
          </a:solidFill>
          <a:ln w="12700">
            <a:solidFill>
              <a:srgbClr val="E9EDE1"/>
            </a:solidFill>
            <a:prstDash val="solid"/>
          </a:ln>
        </p:spPr>
        <p:txBody>
          <a:bodyPr/>
          <a:lstStyle/>
          <a:p>
            <a:endParaRPr lang="en-US"/>
          </a:p>
        </p:txBody>
      </p:sp>
      <p:sp>
        <p:nvSpPr>
          <p:cNvPr id="9" name="Shape 7"/>
          <p:cNvSpPr/>
          <p:nvPr/>
        </p:nvSpPr>
        <p:spPr>
          <a:xfrm>
            <a:off x="804672" y="1828800"/>
            <a:ext cx="128016" cy="128016"/>
          </a:xfrm>
          <a:prstGeom prst="ellipse">
            <a:avLst/>
          </a:prstGeom>
          <a:solidFill>
            <a:srgbClr val="5F6B3A"/>
          </a:solidFill>
          <a:ln w="12700">
            <a:solidFill>
              <a:srgbClr val="333333"/>
            </a:solidFill>
            <a:prstDash val="solid"/>
          </a:ln>
        </p:spPr>
        <p:txBody>
          <a:bodyPr/>
          <a:lstStyle/>
          <a:p>
            <a:endParaRPr lang="en-US"/>
          </a:p>
        </p:txBody>
      </p:sp>
      <p:sp>
        <p:nvSpPr>
          <p:cNvPr id="10" name="Text 8"/>
          <p:cNvSpPr txBox="1"/>
          <p:nvPr/>
        </p:nvSpPr>
        <p:spPr>
          <a:xfrm>
            <a:off x="1097280" y="1755648"/>
            <a:ext cx="4206240" cy="292608"/>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Best on phoneme recognition</a:t>
            </a:r>
            <a:endParaRPr lang="en-US" sz="1300" dirty="0"/>
          </a:p>
        </p:txBody>
      </p:sp>
      <p:sp>
        <p:nvSpPr>
          <p:cNvPr id="11" name="Text 9"/>
          <p:cNvSpPr txBox="1"/>
          <p:nvPr/>
        </p:nvSpPr>
        <p:spPr>
          <a:xfrm>
            <a:off x="5486400" y="1755648"/>
            <a:ext cx="5943600" cy="292608"/>
          </a:xfrm>
          <a:prstGeom prst="rect">
            <a:avLst/>
          </a:prstGeom>
          <a:noFill/>
          <a:ln/>
        </p:spPr>
        <p:txBody>
          <a:bodyPr wrap="square" lIns="0" tIns="0" rIns="0" bIns="0" rtlCol="0" anchor="ctr"/>
          <a:lstStyle/>
          <a:p>
            <a:pPr marL="0" indent="0">
              <a:buNone/>
            </a:pPr>
            <a:r>
              <a:rPr lang="en-US" sz="1250" dirty="0">
                <a:solidFill>
                  <a:srgbClr val="323726"/>
                </a:solidFill>
                <a:latin typeface="Calibri" pitchFamily="34" charset="0"/>
                <a:ea typeface="Calibri" pitchFamily="34" charset="-122"/>
                <a:cs typeface="Calibri" pitchFamily="34" charset="-120"/>
              </a:rPr>
              <a:t>HuBERT Large  ·  3.53 PER</a:t>
            </a:r>
            <a:endParaRPr lang="en-US" sz="1250" dirty="0"/>
          </a:p>
        </p:txBody>
      </p:sp>
      <p:sp>
        <p:nvSpPr>
          <p:cNvPr id="12" name="Shape 10"/>
          <p:cNvSpPr/>
          <p:nvPr/>
        </p:nvSpPr>
        <p:spPr>
          <a:xfrm>
            <a:off x="566928" y="2249424"/>
            <a:ext cx="11064240" cy="603504"/>
          </a:xfrm>
          <a:prstGeom prst="roundRect">
            <a:avLst>
              <a:gd name="adj" fmla="val 6061"/>
            </a:avLst>
          </a:prstGeom>
          <a:solidFill>
            <a:srgbClr val="FFFFFF"/>
          </a:solidFill>
          <a:ln w="12700">
            <a:solidFill>
              <a:srgbClr val="E9EDE1"/>
            </a:solidFill>
            <a:prstDash val="solid"/>
          </a:ln>
        </p:spPr>
        <p:txBody>
          <a:bodyPr/>
          <a:lstStyle/>
          <a:p>
            <a:endParaRPr lang="en-US"/>
          </a:p>
        </p:txBody>
      </p:sp>
      <p:sp>
        <p:nvSpPr>
          <p:cNvPr id="13" name="Shape 11"/>
          <p:cNvSpPr/>
          <p:nvPr/>
        </p:nvSpPr>
        <p:spPr>
          <a:xfrm>
            <a:off x="804672" y="2487168"/>
            <a:ext cx="128016" cy="128016"/>
          </a:xfrm>
          <a:prstGeom prst="ellipse">
            <a:avLst/>
          </a:prstGeom>
          <a:solidFill>
            <a:srgbClr val="D9614C"/>
          </a:solidFill>
          <a:ln w="12700">
            <a:solidFill>
              <a:srgbClr val="333333"/>
            </a:solidFill>
            <a:prstDash val="solid"/>
          </a:ln>
        </p:spPr>
        <p:txBody>
          <a:bodyPr/>
          <a:lstStyle/>
          <a:p>
            <a:endParaRPr lang="en-US"/>
          </a:p>
        </p:txBody>
      </p:sp>
      <p:sp>
        <p:nvSpPr>
          <p:cNvPr id="14" name="Text 12"/>
          <p:cNvSpPr txBox="1"/>
          <p:nvPr/>
        </p:nvSpPr>
        <p:spPr>
          <a:xfrm>
            <a:off x="1097280" y="2414016"/>
            <a:ext cx="4206240" cy="292608"/>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Best on keyword spotting</a:t>
            </a:r>
            <a:endParaRPr lang="en-US" sz="1300" dirty="0"/>
          </a:p>
        </p:txBody>
      </p:sp>
      <p:sp>
        <p:nvSpPr>
          <p:cNvPr id="15" name="Text 13"/>
          <p:cNvSpPr txBox="1"/>
          <p:nvPr/>
        </p:nvSpPr>
        <p:spPr>
          <a:xfrm>
            <a:off x="5486400" y="2414016"/>
            <a:ext cx="5943600" cy="292608"/>
          </a:xfrm>
          <a:prstGeom prst="rect">
            <a:avLst/>
          </a:prstGeom>
          <a:noFill/>
          <a:ln/>
        </p:spPr>
        <p:txBody>
          <a:bodyPr wrap="square" lIns="0" tIns="0" rIns="0" bIns="0" rtlCol="0" anchor="ctr"/>
          <a:lstStyle/>
          <a:p>
            <a:pPr marL="0" indent="0">
              <a:buNone/>
            </a:pPr>
            <a:r>
              <a:rPr lang="en-US" sz="1250" dirty="0">
                <a:solidFill>
                  <a:srgbClr val="323726"/>
                </a:solidFill>
                <a:latin typeface="Calibri" pitchFamily="34" charset="0"/>
                <a:ea typeface="Calibri" pitchFamily="34" charset="-122"/>
                <a:cs typeface="Calibri" pitchFamily="34" charset="-120"/>
              </a:rPr>
              <a:t>wav2vec 2.0 Large  ·  96.66%  —  HuBERT Large is 8th</a:t>
            </a:r>
            <a:endParaRPr lang="en-US" sz="1250" dirty="0"/>
          </a:p>
        </p:txBody>
      </p:sp>
      <p:sp>
        <p:nvSpPr>
          <p:cNvPr id="16" name="Shape 14"/>
          <p:cNvSpPr/>
          <p:nvPr/>
        </p:nvSpPr>
        <p:spPr>
          <a:xfrm>
            <a:off x="566928" y="2907792"/>
            <a:ext cx="11064240" cy="603504"/>
          </a:xfrm>
          <a:prstGeom prst="roundRect">
            <a:avLst>
              <a:gd name="adj" fmla="val 6061"/>
            </a:avLst>
          </a:prstGeom>
          <a:solidFill>
            <a:srgbClr val="F3F5EC"/>
          </a:solidFill>
          <a:ln w="12700">
            <a:solidFill>
              <a:srgbClr val="E9EDE1"/>
            </a:solidFill>
            <a:prstDash val="solid"/>
          </a:ln>
        </p:spPr>
        <p:txBody>
          <a:bodyPr/>
          <a:lstStyle/>
          <a:p>
            <a:endParaRPr lang="en-US"/>
          </a:p>
        </p:txBody>
      </p:sp>
      <p:sp>
        <p:nvSpPr>
          <p:cNvPr id="17" name="Shape 15"/>
          <p:cNvSpPr/>
          <p:nvPr/>
        </p:nvSpPr>
        <p:spPr>
          <a:xfrm>
            <a:off x="804672" y="3145536"/>
            <a:ext cx="128016" cy="128016"/>
          </a:xfrm>
          <a:prstGeom prst="ellipse">
            <a:avLst/>
          </a:prstGeom>
          <a:solidFill>
            <a:srgbClr val="D9614C"/>
          </a:solidFill>
          <a:ln w="12700">
            <a:solidFill>
              <a:srgbClr val="333333"/>
            </a:solidFill>
            <a:prstDash val="solid"/>
          </a:ln>
        </p:spPr>
        <p:txBody>
          <a:bodyPr/>
          <a:lstStyle/>
          <a:p>
            <a:endParaRPr lang="en-US"/>
          </a:p>
        </p:txBody>
      </p:sp>
      <p:sp>
        <p:nvSpPr>
          <p:cNvPr id="18" name="Text 16"/>
          <p:cNvSpPr txBox="1"/>
          <p:nvPr/>
        </p:nvSpPr>
        <p:spPr>
          <a:xfrm>
            <a:off x="1097280" y="3072384"/>
            <a:ext cx="4206240" cy="292608"/>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Best on query by example</a:t>
            </a:r>
            <a:endParaRPr lang="en-US" sz="1300" dirty="0"/>
          </a:p>
        </p:txBody>
      </p:sp>
      <p:sp>
        <p:nvSpPr>
          <p:cNvPr id="19" name="Text 17"/>
          <p:cNvSpPr txBox="1"/>
          <p:nvPr/>
        </p:nvSpPr>
        <p:spPr>
          <a:xfrm>
            <a:off x="5486400" y="3072384"/>
            <a:ext cx="5943600" cy="292608"/>
          </a:xfrm>
          <a:prstGeom prst="rect">
            <a:avLst/>
          </a:prstGeom>
          <a:noFill/>
          <a:ln/>
        </p:spPr>
        <p:txBody>
          <a:bodyPr wrap="square" lIns="0" tIns="0" rIns="0" bIns="0" rtlCol="0" anchor="ctr"/>
          <a:lstStyle/>
          <a:p>
            <a:pPr marL="0" indent="0">
              <a:buNone/>
            </a:pPr>
            <a:r>
              <a:rPr lang="en-US" sz="1250" dirty="0">
                <a:solidFill>
                  <a:srgbClr val="323726"/>
                </a:solidFill>
                <a:latin typeface="Calibri" pitchFamily="34" charset="0"/>
                <a:ea typeface="Calibri" pitchFamily="34" charset="-122"/>
                <a:cs typeface="Calibri" pitchFamily="34" charset="-120"/>
              </a:rPr>
              <a:t>HuBERT Base  ·  0.0736 MTWV  —  HuBERT Large is 0.0353</a:t>
            </a:r>
            <a:endParaRPr lang="en-US" sz="1250" dirty="0"/>
          </a:p>
        </p:txBody>
      </p:sp>
      <p:sp>
        <p:nvSpPr>
          <p:cNvPr id="20" name="Shape 18"/>
          <p:cNvSpPr/>
          <p:nvPr/>
        </p:nvSpPr>
        <p:spPr>
          <a:xfrm>
            <a:off x="566928" y="3566160"/>
            <a:ext cx="11064240" cy="603504"/>
          </a:xfrm>
          <a:prstGeom prst="roundRect">
            <a:avLst>
              <a:gd name="adj" fmla="val 6061"/>
            </a:avLst>
          </a:prstGeom>
          <a:solidFill>
            <a:srgbClr val="FFFFFF"/>
          </a:solidFill>
          <a:ln w="12700">
            <a:solidFill>
              <a:srgbClr val="E9EDE1"/>
            </a:solidFill>
            <a:prstDash val="solid"/>
          </a:ln>
        </p:spPr>
        <p:txBody>
          <a:bodyPr/>
          <a:lstStyle/>
          <a:p>
            <a:endParaRPr lang="en-US"/>
          </a:p>
        </p:txBody>
      </p:sp>
      <p:sp>
        <p:nvSpPr>
          <p:cNvPr id="21" name="Shape 19"/>
          <p:cNvSpPr/>
          <p:nvPr/>
        </p:nvSpPr>
        <p:spPr>
          <a:xfrm>
            <a:off x="804672" y="3803904"/>
            <a:ext cx="128016" cy="128016"/>
          </a:xfrm>
          <a:prstGeom prst="ellipse">
            <a:avLst/>
          </a:prstGeom>
          <a:solidFill>
            <a:srgbClr val="D9614C"/>
          </a:solidFill>
          <a:ln w="12700">
            <a:solidFill>
              <a:srgbClr val="333333"/>
            </a:solidFill>
            <a:prstDash val="solid"/>
          </a:ln>
        </p:spPr>
        <p:txBody>
          <a:bodyPr/>
          <a:lstStyle/>
          <a:p>
            <a:endParaRPr lang="en-US"/>
          </a:p>
        </p:txBody>
      </p:sp>
      <p:sp>
        <p:nvSpPr>
          <p:cNvPr id="22" name="Text 20"/>
          <p:cNvSpPr txBox="1"/>
          <p:nvPr/>
        </p:nvSpPr>
        <p:spPr>
          <a:xfrm>
            <a:off x="1097280" y="3730752"/>
            <a:ext cx="4206240" cy="292608"/>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Best on speaker verification</a:t>
            </a:r>
            <a:endParaRPr lang="en-US" sz="1300" dirty="0"/>
          </a:p>
        </p:txBody>
      </p:sp>
      <p:sp>
        <p:nvSpPr>
          <p:cNvPr id="23" name="Text 21"/>
          <p:cNvSpPr txBox="1"/>
          <p:nvPr/>
        </p:nvSpPr>
        <p:spPr>
          <a:xfrm>
            <a:off x="5486400" y="3730752"/>
            <a:ext cx="5943600" cy="292608"/>
          </a:xfrm>
          <a:prstGeom prst="rect">
            <a:avLst/>
          </a:prstGeom>
          <a:noFill/>
          <a:ln/>
        </p:spPr>
        <p:txBody>
          <a:bodyPr wrap="square" lIns="0" tIns="0" rIns="0" bIns="0" rtlCol="0" anchor="ctr"/>
          <a:lstStyle/>
          <a:p>
            <a:pPr marL="0" indent="0">
              <a:buNone/>
            </a:pPr>
            <a:r>
              <a:rPr lang="en-US" sz="1250" dirty="0">
                <a:solidFill>
                  <a:srgbClr val="323726"/>
                </a:solidFill>
                <a:latin typeface="Calibri" pitchFamily="34" charset="0"/>
                <a:ea typeface="Calibri" pitchFamily="34" charset="-122"/>
                <a:cs typeface="Calibri" pitchFamily="34" charset="-120"/>
              </a:rPr>
              <a:t>HuBERT Base  ·  5.11 EER  —  ahead of both Large models</a:t>
            </a:r>
            <a:endParaRPr lang="en-US" sz="1250" dirty="0"/>
          </a:p>
        </p:txBody>
      </p:sp>
      <p:sp>
        <p:nvSpPr>
          <p:cNvPr id="24" name="Shape 22"/>
          <p:cNvSpPr/>
          <p:nvPr/>
        </p:nvSpPr>
        <p:spPr>
          <a:xfrm>
            <a:off x="566928" y="4224528"/>
            <a:ext cx="11064240" cy="603504"/>
          </a:xfrm>
          <a:prstGeom prst="roundRect">
            <a:avLst>
              <a:gd name="adj" fmla="val 6061"/>
            </a:avLst>
          </a:prstGeom>
          <a:solidFill>
            <a:srgbClr val="F3F5EC"/>
          </a:solidFill>
          <a:ln w="12700">
            <a:solidFill>
              <a:srgbClr val="E9EDE1"/>
            </a:solidFill>
            <a:prstDash val="solid"/>
          </a:ln>
        </p:spPr>
        <p:txBody>
          <a:bodyPr/>
          <a:lstStyle/>
          <a:p>
            <a:endParaRPr lang="en-US"/>
          </a:p>
        </p:txBody>
      </p:sp>
      <p:sp>
        <p:nvSpPr>
          <p:cNvPr id="25" name="Shape 23"/>
          <p:cNvSpPr/>
          <p:nvPr/>
        </p:nvSpPr>
        <p:spPr>
          <a:xfrm>
            <a:off x="804672" y="4462272"/>
            <a:ext cx="128016" cy="128016"/>
          </a:xfrm>
          <a:prstGeom prst="ellipse">
            <a:avLst/>
          </a:prstGeom>
          <a:solidFill>
            <a:srgbClr val="5F6B3A"/>
          </a:solidFill>
          <a:ln w="12700">
            <a:solidFill>
              <a:srgbClr val="333333"/>
            </a:solidFill>
            <a:prstDash val="solid"/>
          </a:ln>
        </p:spPr>
        <p:txBody>
          <a:bodyPr/>
          <a:lstStyle/>
          <a:p>
            <a:endParaRPr lang="en-US"/>
          </a:p>
        </p:txBody>
      </p:sp>
      <p:sp>
        <p:nvSpPr>
          <p:cNvPr id="26" name="Text 24"/>
          <p:cNvSpPr txBox="1"/>
          <p:nvPr/>
        </p:nvSpPr>
        <p:spPr>
          <a:xfrm>
            <a:off x="1097280" y="4389120"/>
            <a:ext cx="4206240" cy="292608"/>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Best on speaker identification</a:t>
            </a:r>
            <a:endParaRPr lang="en-US" sz="1300" dirty="0"/>
          </a:p>
        </p:txBody>
      </p:sp>
      <p:sp>
        <p:nvSpPr>
          <p:cNvPr id="27" name="Text 25"/>
          <p:cNvSpPr txBox="1"/>
          <p:nvPr/>
        </p:nvSpPr>
        <p:spPr>
          <a:xfrm>
            <a:off x="5486400" y="4389120"/>
            <a:ext cx="5943600" cy="292608"/>
          </a:xfrm>
          <a:prstGeom prst="rect">
            <a:avLst/>
          </a:prstGeom>
          <a:noFill/>
          <a:ln/>
        </p:spPr>
        <p:txBody>
          <a:bodyPr wrap="square" lIns="0" tIns="0" rIns="0" bIns="0" rtlCol="0" anchor="ctr"/>
          <a:lstStyle/>
          <a:p>
            <a:pPr marL="0" indent="0">
              <a:buNone/>
            </a:pPr>
            <a:r>
              <a:rPr lang="en-US" sz="1250" dirty="0">
                <a:solidFill>
                  <a:srgbClr val="323726"/>
                </a:solidFill>
                <a:latin typeface="Calibri" pitchFamily="34" charset="0"/>
                <a:ea typeface="Calibri" pitchFamily="34" charset="-122"/>
                <a:cs typeface="Calibri" pitchFamily="34" charset="-120"/>
              </a:rPr>
              <a:t>HuBERT Large  ·  90.33%</a:t>
            </a:r>
            <a:endParaRPr lang="en-US" sz="1250" dirty="0"/>
          </a:p>
        </p:txBody>
      </p:sp>
      <p:sp>
        <p:nvSpPr>
          <p:cNvPr id="28" name="Shape 26"/>
          <p:cNvSpPr/>
          <p:nvPr/>
        </p:nvSpPr>
        <p:spPr>
          <a:xfrm>
            <a:off x="566928" y="4882896"/>
            <a:ext cx="11064240" cy="603504"/>
          </a:xfrm>
          <a:prstGeom prst="roundRect">
            <a:avLst>
              <a:gd name="adj" fmla="val 6061"/>
            </a:avLst>
          </a:prstGeom>
          <a:solidFill>
            <a:srgbClr val="FFFFFF"/>
          </a:solidFill>
          <a:ln w="12700">
            <a:solidFill>
              <a:srgbClr val="E9EDE1"/>
            </a:solidFill>
            <a:prstDash val="solid"/>
          </a:ln>
        </p:spPr>
        <p:txBody>
          <a:bodyPr/>
          <a:lstStyle/>
          <a:p>
            <a:endParaRPr lang="en-US"/>
          </a:p>
        </p:txBody>
      </p:sp>
      <p:sp>
        <p:nvSpPr>
          <p:cNvPr id="29" name="Shape 27"/>
          <p:cNvSpPr/>
          <p:nvPr/>
        </p:nvSpPr>
        <p:spPr>
          <a:xfrm>
            <a:off x="804672" y="5120640"/>
            <a:ext cx="128016" cy="128016"/>
          </a:xfrm>
          <a:prstGeom prst="ellipse">
            <a:avLst/>
          </a:prstGeom>
          <a:solidFill>
            <a:srgbClr val="5F6B3A"/>
          </a:solidFill>
          <a:ln w="12700">
            <a:solidFill>
              <a:srgbClr val="333333"/>
            </a:solidFill>
            <a:prstDash val="solid"/>
          </a:ln>
        </p:spPr>
        <p:txBody>
          <a:bodyPr/>
          <a:lstStyle/>
          <a:p>
            <a:endParaRPr lang="en-US"/>
          </a:p>
        </p:txBody>
      </p:sp>
      <p:sp>
        <p:nvSpPr>
          <p:cNvPr id="30" name="Text 28"/>
          <p:cNvSpPr txBox="1"/>
          <p:nvPr/>
        </p:nvSpPr>
        <p:spPr>
          <a:xfrm>
            <a:off x="1097280" y="5047488"/>
            <a:ext cx="4206240" cy="292608"/>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Best on diarisation</a:t>
            </a:r>
            <a:endParaRPr lang="en-US" sz="1300" dirty="0"/>
          </a:p>
        </p:txBody>
      </p:sp>
      <p:sp>
        <p:nvSpPr>
          <p:cNvPr id="31" name="Text 29"/>
          <p:cNvSpPr txBox="1"/>
          <p:nvPr/>
        </p:nvSpPr>
        <p:spPr>
          <a:xfrm>
            <a:off x="5486400" y="5047488"/>
            <a:ext cx="5943600" cy="292608"/>
          </a:xfrm>
          <a:prstGeom prst="rect">
            <a:avLst/>
          </a:prstGeom>
          <a:noFill/>
          <a:ln/>
        </p:spPr>
        <p:txBody>
          <a:bodyPr wrap="square" lIns="0" tIns="0" rIns="0" bIns="0" rtlCol="0" anchor="ctr"/>
          <a:lstStyle/>
          <a:p>
            <a:pPr marL="0" indent="0">
              <a:buNone/>
            </a:pPr>
            <a:r>
              <a:rPr lang="en-US" sz="1250" dirty="0">
                <a:solidFill>
                  <a:srgbClr val="323726"/>
                </a:solidFill>
                <a:latin typeface="Calibri" pitchFamily="34" charset="0"/>
                <a:ea typeface="Calibri" pitchFamily="34" charset="-122"/>
                <a:cs typeface="Calibri" pitchFamily="34" charset="-120"/>
              </a:rPr>
              <a:t>wav2vec 2.0 Large  ·  5.62 DER</a:t>
            </a:r>
            <a:endParaRPr lang="en-US" sz="1250" dirty="0"/>
          </a:p>
        </p:txBody>
      </p:sp>
      <p:sp>
        <p:nvSpPr>
          <p:cNvPr id="32" name="Shape 30"/>
          <p:cNvSpPr/>
          <p:nvPr/>
        </p:nvSpPr>
        <p:spPr>
          <a:xfrm>
            <a:off x="566928" y="5541264"/>
            <a:ext cx="11064240" cy="512064"/>
          </a:xfrm>
          <a:prstGeom prst="roundRect">
            <a:avLst>
              <a:gd name="adj" fmla="val 10714"/>
            </a:avLst>
          </a:prstGeom>
          <a:solidFill>
            <a:srgbClr val="2A2E1E"/>
          </a:solidFill>
          <a:ln w="12700">
            <a:solidFill>
              <a:srgbClr val="2A2E1E"/>
            </a:solidFill>
            <a:prstDash val="solid"/>
          </a:ln>
        </p:spPr>
        <p:txBody>
          <a:bodyPr/>
          <a:lstStyle/>
          <a:p>
            <a:endParaRPr lang="en-US"/>
          </a:p>
        </p:txBody>
      </p:sp>
      <p:sp>
        <p:nvSpPr>
          <p:cNvPr id="33" name="Text 31"/>
          <p:cNvSpPr txBox="1"/>
          <p:nvPr/>
        </p:nvSpPr>
        <p:spPr>
          <a:xfrm>
            <a:off x="822960" y="5760720"/>
            <a:ext cx="10552176" cy="91440"/>
          </a:xfrm>
          <a:prstGeom prst="rect">
            <a:avLst/>
          </a:prstGeom>
          <a:noFill/>
          <a:ln/>
        </p:spPr>
        <p:txBody>
          <a:bodyPr wrap="square" lIns="0" tIns="0" rIns="0" bIns="0" rtlCol="0" anchor="t"/>
          <a:lstStyle/>
          <a:p>
            <a:pPr marL="0" indent="0">
              <a:lnSpc>
                <a:spcPct val="108000"/>
              </a:lnSpc>
              <a:buNone/>
            </a:pPr>
            <a:r>
              <a:rPr lang="en-US" sz="1280" dirty="0">
                <a:solidFill>
                  <a:srgbClr val="D6DCC0"/>
                </a:solidFill>
                <a:latin typeface="Calibri" pitchFamily="34" charset="0"/>
                <a:ea typeface="Calibri" pitchFamily="34" charset="-122"/>
                <a:cs typeface="Calibri" pitchFamily="34" charset="-120"/>
              </a:rPr>
              <a:t>The paper also notes that the ranking on phoneme recognition aligns only weakly with the ranking on speech recognition.</a:t>
            </a:r>
            <a:endParaRPr lang="en-US" sz="12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Bigger is not reliably better</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HuBERT Base against HuBERT Large, on four tasks</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28</a:t>
            </a:r>
            <a:endParaRPr lang="en-US" sz="900" dirty="0"/>
          </a:p>
        </p:txBody>
      </p:sp>
      <p:graphicFrame>
        <p:nvGraphicFramePr>
          <p:cNvPr id="8" name="Chart 0"/>
          <p:cNvGraphicFramePr/>
          <p:nvPr/>
        </p:nvGraphicFramePr>
        <p:xfrm>
          <a:off x="566928" y="1554480"/>
          <a:ext cx="67665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589520" y="1700784"/>
            <a:ext cx="404164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23726"/>
                </a:solidFill>
                <a:latin typeface="Calibri" pitchFamily="34" charset="0"/>
                <a:ea typeface="Calibri" pitchFamily="34" charset="-122"/>
                <a:cs typeface="Calibri" pitchFamily="34" charset="-120"/>
              </a:rPr>
              <a:t>Scale helps enormously on phoneme recognition and speaker identification.</a:t>
            </a:r>
            <a:endParaRPr lang="en-US" sz="1220" dirty="0"/>
          </a:p>
          <a:p>
            <a:pPr marL="342900" indent="-342900">
              <a:spcAft>
                <a:spcPts val="800"/>
              </a:spcAft>
              <a:buSzPct val="100000"/>
              <a:buChar char="●"/>
            </a:pPr>
            <a:r>
              <a:rPr lang="en-US" sz="1220" dirty="0">
                <a:solidFill>
                  <a:srgbClr val="323726"/>
                </a:solidFill>
                <a:latin typeface="Calibri" pitchFamily="34" charset="0"/>
                <a:ea typeface="Calibri" pitchFamily="34" charset="-122"/>
                <a:cs typeface="Calibri" pitchFamily="34" charset="-120"/>
              </a:rPr>
              <a:t>It slightly hurts keyword spotting, and it clearly hurts speaker verification — 5.11 becomes 5.98.</a:t>
            </a:r>
            <a:endParaRPr lang="en-US" sz="1220" dirty="0"/>
          </a:p>
          <a:p>
            <a:pPr marL="342900" indent="-342900">
              <a:spcAft>
                <a:spcPts val="800"/>
              </a:spcAft>
              <a:buSzPct val="100000"/>
              <a:buChar char="●"/>
            </a:pPr>
            <a:r>
              <a:rPr lang="en-US" sz="1220" dirty="0">
                <a:solidFill>
                  <a:srgbClr val="323726"/>
                </a:solidFill>
                <a:latin typeface="Calibri" pitchFamily="34" charset="0"/>
                <a:ea typeface="Calibri" pitchFamily="34" charset="-122"/>
                <a:cs typeface="Calibri" pitchFamily="34" charset="-120"/>
              </a:rPr>
              <a:t>Query by example is the starkest reversal: 0.0736 for Base against 0.0353 for Large, a halving.</a:t>
            </a:r>
            <a:endParaRPr lang="en-US" sz="1220" dirty="0"/>
          </a:p>
          <a:p>
            <a:pPr marL="342900" indent="-342900">
              <a:spcAft>
                <a:spcPts val="800"/>
              </a:spcAft>
              <a:buSzPct val="100000"/>
              <a:buChar char="●"/>
            </a:pPr>
            <a:r>
              <a:rPr lang="en-US" sz="1220" dirty="0">
                <a:solidFill>
                  <a:srgbClr val="323726"/>
                </a:solidFill>
                <a:latin typeface="Calibri" pitchFamily="34" charset="0"/>
                <a:ea typeface="Calibri" pitchFamily="34" charset="-122"/>
                <a:cs typeface="Calibri" pitchFamily="34" charset="-120"/>
              </a:rPr>
              <a:t>One reading: the larger model's layers are more specialised, so a single weighted sum serves some tasks better and others worse.</a:t>
            </a:r>
            <a:endParaRPr lang="en-US" sz="1220" dirty="0"/>
          </a:p>
        </p:txBody>
      </p:sp>
      <p:sp>
        <p:nvSpPr>
          <p:cNvPr id="10" name="Shape 7"/>
          <p:cNvSpPr/>
          <p:nvPr/>
        </p:nvSpPr>
        <p:spPr>
          <a:xfrm>
            <a:off x="566928" y="5266944"/>
            <a:ext cx="11064240" cy="786384"/>
          </a:xfrm>
          <a:prstGeom prst="roundRect">
            <a:avLst>
              <a:gd name="adj" fmla="val 6977"/>
            </a:avLst>
          </a:prstGeom>
          <a:solidFill>
            <a:srgbClr val="2A2E1E"/>
          </a:solidFill>
          <a:ln w="12700">
            <a:solidFill>
              <a:srgbClr val="2A2E1E"/>
            </a:solidFill>
            <a:prstDash val="solid"/>
          </a:ln>
        </p:spPr>
        <p:txBody>
          <a:bodyPr/>
          <a:lstStyle/>
          <a:p>
            <a:endParaRPr lang="en-US"/>
          </a:p>
        </p:txBody>
      </p:sp>
      <p:sp>
        <p:nvSpPr>
          <p:cNvPr id="11" name="Text 8"/>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Useful corrective to the scaling narrative: on a benchmark spanning several kinds of information, more parameters and more data do not move every column in the same direction.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9">
    <p:bg>
      <p:bgPr>
        <a:solidFill>
          <a:srgbClr val="2A2E1E"/>
        </a:solidFill>
        <a:effectLst/>
      </p:bgPr>
    </p:bg>
    <p:spTree>
      <p:nvGrpSpPr>
        <p:cNvPr id="1" name=""/>
        <p:cNvGrpSpPr/>
        <p:nvPr/>
      </p:nvGrpSpPr>
      <p:grpSpPr>
        <a:xfrm>
          <a:off x="0" y="0"/>
          <a:ext cx="0" cy="0"/>
          <a:chOff x="0" y="0"/>
          <a:chExt cx="0" cy="0"/>
        </a:xfrm>
      </p:grpSpPr>
      <p:sp>
        <p:nvSpPr>
          <p:cNvPr id="2" name="Shape 0"/>
          <p:cNvSpPr/>
          <p:nvPr/>
        </p:nvSpPr>
        <p:spPr>
          <a:xfrm>
            <a:off x="10607040" y="5303520"/>
            <a:ext cx="804672" cy="137160"/>
          </a:xfrm>
          <a:prstGeom prst="roundRect">
            <a:avLst>
              <a:gd name="adj" fmla="val 13333"/>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0607040" y="5513832"/>
            <a:ext cx="548640" cy="137160"/>
          </a:xfrm>
          <a:prstGeom prst="roundRect">
            <a:avLst>
              <a:gd name="adj" fmla="val 13333"/>
            </a:avLst>
          </a:prstGeom>
          <a:solidFill>
            <a:srgbClr val="D6DCC0"/>
          </a:solidFill>
          <a:ln w="12700">
            <a:solidFill>
              <a:srgbClr val="333333"/>
            </a:solidFill>
            <a:prstDash val="solid"/>
          </a:ln>
        </p:spPr>
        <p:txBody>
          <a:bodyPr/>
          <a:lstStyle/>
          <a:p>
            <a:endParaRPr lang="en-US"/>
          </a:p>
        </p:txBody>
      </p:sp>
      <p:sp>
        <p:nvSpPr>
          <p:cNvPr id="4" name="Shape 2"/>
          <p:cNvSpPr/>
          <p:nvPr/>
        </p:nvSpPr>
        <p:spPr>
          <a:xfrm>
            <a:off x="10607040" y="5724144"/>
            <a:ext cx="329184" cy="137160"/>
          </a:xfrm>
          <a:prstGeom prst="roundRect">
            <a:avLst>
              <a:gd name="adj" fmla="val 13333"/>
            </a:avLst>
          </a:prstGeom>
          <a:solidFill>
            <a:srgbClr val="D6DCC0"/>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D9614C"/>
                </a:solidFill>
                <a:latin typeface="Cambria" pitchFamily="34" charset="0"/>
                <a:ea typeface="Cambria" pitchFamily="34" charset="-122"/>
                <a:cs typeface="Cambria" pitchFamily="34" charset="-120"/>
              </a:rPr>
              <a:t>5</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What is actually being measured?</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6DCC0"/>
                </a:solidFill>
                <a:latin typeface="Calibri" pitchFamily="34" charset="0"/>
                <a:ea typeface="Calibri" pitchFamily="34" charset="-122"/>
                <a:cs typeface="Calibri" pitchFamily="34" charset="-120"/>
              </a:rPr>
              <a:t>The session's question, applied to the instrument</a:t>
            </a:r>
            <a:endParaRPr lang="en-US" sz="1500" dirty="0"/>
          </a:p>
        </p:txBody>
      </p:sp>
      <p:sp>
        <p:nvSpPr>
          <p:cNvPr id="8" name="Text 6"/>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29</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The probing claim</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What a linear head does and does not establish</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30</a:t>
            </a:r>
            <a:endParaRPr lang="en-US" sz="900" dirty="0"/>
          </a:p>
        </p:txBody>
      </p:sp>
      <p:sp>
        <p:nvSpPr>
          <p:cNvPr id="8" name="Shape 6"/>
          <p:cNvSpPr/>
          <p:nvPr/>
        </p:nvSpPr>
        <p:spPr>
          <a:xfrm>
            <a:off x="566928" y="1572768"/>
            <a:ext cx="5440680" cy="2194560"/>
          </a:xfrm>
          <a:prstGeom prst="roundRect">
            <a:avLst>
              <a:gd name="adj" fmla="val 2500"/>
            </a:avLst>
          </a:prstGeom>
          <a:solidFill>
            <a:srgbClr val="F3F5EC"/>
          </a:solidFill>
          <a:ln w="12700">
            <a:solidFill>
              <a:srgbClr val="E3E7D8"/>
            </a:solidFill>
            <a:prstDash val="solid"/>
          </a:ln>
        </p:spPr>
        <p:txBody>
          <a:bodyPr/>
          <a:lstStyle/>
          <a:p>
            <a:endParaRPr lang="en-US"/>
          </a:p>
        </p:txBody>
      </p:sp>
      <p:sp>
        <p:nvSpPr>
          <p:cNvPr id="9" name="Shape 7"/>
          <p:cNvSpPr/>
          <p:nvPr/>
        </p:nvSpPr>
        <p:spPr>
          <a:xfrm>
            <a:off x="786384" y="1865376"/>
            <a:ext cx="109728" cy="109728"/>
          </a:xfrm>
          <a:prstGeom prst="ellipse">
            <a:avLst/>
          </a:prstGeom>
          <a:solidFill>
            <a:srgbClr val="5F6B3A"/>
          </a:solidFill>
          <a:ln w="12700">
            <a:solidFill>
              <a:srgbClr val="333333"/>
            </a:solidFill>
            <a:prstDash val="solid"/>
          </a:ln>
        </p:spPr>
        <p:txBody>
          <a:bodyPr/>
          <a:lstStyle/>
          <a:p>
            <a:endParaRPr lang="en-US"/>
          </a:p>
        </p:txBody>
      </p:sp>
      <p:sp>
        <p:nvSpPr>
          <p:cNvPr id="10" name="Text 8"/>
          <p:cNvSpPr txBox="1"/>
          <p:nvPr/>
        </p:nvSpPr>
        <p:spPr>
          <a:xfrm>
            <a:off x="987552" y="1737360"/>
            <a:ext cx="4800600" cy="365760"/>
          </a:xfrm>
          <a:prstGeom prst="rect">
            <a:avLst/>
          </a:prstGeom>
          <a:noFill/>
          <a:ln/>
        </p:spPr>
        <p:txBody>
          <a:bodyPr wrap="square" lIns="0" tIns="0" rIns="0" bIns="0" rtlCol="0" anchor="ctr"/>
          <a:lstStyle/>
          <a:p>
            <a:pPr marL="0" indent="0">
              <a:buNone/>
            </a:pPr>
            <a:r>
              <a:rPr lang="en-US" sz="1500" b="1" dirty="0">
                <a:solidFill>
                  <a:srgbClr val="1E2116"/>
                </a:solidFill>
                <a:latin typeface="Cambria" pitchFamily="34" charset="0"/>
                <a:ea typeface="Cambria" pitchFamily="34" charset="-122"/>
                <a:cs typeface="Cambria" pitchFamily="34" charset="-120"/>
              </a:rPr>
              <a:t>What the paper asserts</a:t>
            </a:r>
            <a:endParaRPr lang="en-US" sz="1500" dirty="0"/>
          </a:p>
        </p:txBody>
      </p:sp>
      <p:sp>
        <p:nvSpPr>
          <p:cNvPr id="11" name="Text 9"/>
          <p:cNvSpPr txBox="1"/>
          <p:nvPr/>
        </p:nvSpPr>
        <p:spPr>
          <a:xfrm>
            <a:off x="822960" y="2176272"/>
            <a:ext cx="4928616" cy="1408176"/>
          </a:xfrm>
          <a:prstGeom prst="rect">
            <a:avLst/>
          </a:prstGeom>
          <a:noFill/>
          <a:ln/>
        </p:spPr>
        <p:txBody>
          <a:bodyPr wrap="square" lIns="0" tIns="0" rIns="0" bIns="0" rtlCol="0" anchor="t"/>
          <a:lstStyle/>
          <a:p>
            <a:pPr marL="0" indent="0">
              <a:lnSpc>
                <a:spcPct val="108000"/>
              </a:lnSpc>
              <a:buNone/>
            </a:pPr>
            <a:r>
              <a:rPr lang="en-US" sz="1280" dirty="0">
                <a:solidFill>
                  <a:srgbClr val="323726"/>
                </a:solidFill>
                <a:latin typeface="Calibri" pitchFamily="34" charset="0"/>
                <a:ea typeface="Calibri" pitchFamily="34" charset="-122"/>
                <a:cs typeface="Calibri" pitchFamily="34" charset="-120"/>
              </a:rPr>
              <a:t>That PR, KS, SID, IC and ER serve as the direct indication of representations' quality, following the conventional linear evaluation protocol.</a:t>
            </a:r>
            <a:endParaRPr lang="en-US" sz="1280" dirty="0"/>
          </a:p>
          <a:p>
            <a:pPr marL="0" indent="0">
              <a:lnSpc>
                <a:spcPct val="108000"/>
              </a:lnSpc>
              <a:buNone/>
            </a:pPr>
            <a:endParaRPr lang="en-US" sz="1280" dirty="0"/>
          </a:p>
          <a:p>
            <a:pPr marL="0" indent="0">
              <a:lnSpc>
                <a:spcPct val="108000"/>
              </a:lnSpc>
              <a:buNone/>
            </a:pPr>
            <a:r>
              <a:rPr lang="en-US" sz="1280" dirty="0">
                <a:solidFill>
                  <a:srgbClr val="323726"/>
                </a:solidFill>
                <a:latin typeface="Calibri" pitchFamily="34" charset="0"/>
                <a:ea typeface="Calibri" pitchFamily="34" charset="-122"/>
                <a:cs typeface="Calibri" pitchFamily="34" charset="-120"/>
              </a:rPr>
              <a:t>One sentence, no further discussion.</a:t>
            </a:r>
            <a:endParaRPr lang="en-US" sz="1280" dirty="0"/>
          </a:p>
        </p:txBody>
      </p:sp>
      <p:sp>
        <p:nvSpPr>
          <p:cNvPr id="12" name="Shape 10"/>
          <p:cNvSpPr/>
          <p:nvPr/>
        </p:nvSpPr>
        <p:spPr>
          <a:xfrm>
            <a:off x="6190488" y="1572768"/>
            <a:ext cx="5440680" cy="2194560"/>
          </a:xfrm>
          <a:prstGeom prst="roundRect">
            <a:avLst>
              <a:gd name="adj" fmla="val 2500"/>
            </a:avLst>
          </a:prstGeom>
          <a:solidFill>
            <a:srgbClr val="F3F5EC"/>
          </a:solidFill>
          <a:ln w="12700">
            <a:solidFill>
              <a:srgbClr val="E3E7D8"/>
            </a:solidFill>
            <a:prstDash val="solid"/>
          </a:ln>
        </p:spPr>
        <p:txBody>
          <a:bodyPr/>
          <a:lstStyle/>
          <a:p>
            <a:endParaRPr lang="en-US"/>
          </a:p>
        </p:txBody>
      </p:sp>
      <p:sp>
        <p:nvSpPr>
          <p:cNvPr id="13" name="Shape 11"/>
          <p:cNvSpPr/>
          <p:nvPr/>
        </p:nvSpPr>
        <p:spPr>
          <a:xfrm>
            <a:off x="6409944" y="1865376"/>
            <a:ext cx="109728" cy="109728"/>
          </a:xfrm>
          <a:prstGeom prst="ellipse">
            <a:avLst/>
          </a:prstGeom>
          <a:solidFill>
            <a:srgbClr val="D9614C"/>
          </a:solidFill>
          <a:ln w="12700">
            <a:solidFill>
              <a:srgbClr val="333333"/>
            </a:solidFill>
            <a:prstDash val="solid"/>
          </a:ln>
        </p:spPr>
        <p:txBody>
          <a:bodyPr/>
          <a:lstStyle/>
          <a:p>
            <a:endParaRPr lang="en-US"/>
          </a:p>
        </p:txBody>
      </p:sp>
      <p:sp>
        <p:nvSpPr>
          <p:cNvPr id="14" name="Text 12"/>
          <p:cNvSpPr txBox="1"/>
          <p:nvPr/>
        </p:nvSpPr>
        <p:spPr>
          <a:xfrm>
            <a:off x="6611112" y="1737360"/>
            <a:ext cx="4800600" cy="365760"/>
          </a:xfrm>
          <a:prstGeom prst="rect">
            <a:avLst/>
          </a:prstGeom>
          <a:noFill/>
          <a:ln/>
        </p:spPr>
        <p:txBody>
          <a:bodyPr wrap="square" lIns="0" tIns="0" rIns="0" bIns="0" rtlCol="0" anchor="ctr"/>
          <a:lstStyle/>
          <a:p>
            <a:pPr marL="0" indent="0">
              <a:buNone/>
            </a:pPr>
            <a:r>
              <a:rPr lang="en-US" sz="1500" b="1" dirty="0">
                <a:solidFill>
                  <a:srgbClr val="1E2116"/>
                </a:solidFill>
                <a:latin typeface="Cambria" pitchFamily="34" charset="0"/>
                <a:ea typeface="Cambria" pitchFamily="34" charset="-122"/>
                <a:cs typeface="Cambria" pitchFamily="34" charset="-120"/>
              </a:rPr>
              <a:t>What linear separability shows</a:t>
            </a:r>
            <a:endParaRPr lang="en-US" sz="1500" dirty="0"/>
          </a:p>
        </p:txBody>
      </p:sp>
      <p:sp>
        <p:nvSpPr>
          <p:cNvPr id="15" name="Text 13"/>
          <p:cNvSpPr txBox="1"/>
          <p:nvPr/>
        </p:nvSpPr>
        <p:spPr>
          <a:xfrm>
            <a:off x="6446520" y="2176272"/>
            <a:ext cx="4928616" cy="1408176"/>
          </a:xfrm>
          <a:prstGeom prst="rect">
            <a:avLst/>
          </a:prstGeom>
          <a:noFill/>
          <a:ln/>
        </p:spPr>
        <p:txBody>
          <a:bodyPr wrap="square" lIns="0" tIns="0" rIns="0" bIns="0" rtlCol="0" anchor="t"/>
          <a:lstStyle/>
          <a:p>
            <a:pPr marL="0" indent="0">
              <a:lnSpc>
                <a:spcPct val="108000"/>
              </a:lnSpc>
              <a:buNone/>
            </a:pPr>
            <a:r>
              <a:rPr lang="en-US" sz="1280" dirty="0">
                <a:solidFill>
                  <a:srgbClr val="323726"/>
                </a:solidFill>
                <a:latin typeface="Calibri" pitchFamily="34" charset="0"/>
                <a:ea typeface="Calibri" pitchFamily="34" charset="-122"/>
                <a:cs typeface="Calibri" pitchFamily="34" charset="-120"/>
              </a:rPr>
              <a:t>That the information is present and encoded in a linearly accessible geometry.</a:t>
            </a:r>
            <a:endParaRPr lang="en-US" sz="1280" dirty="0"/>
          </a:p>
          <a:p>
            <a:pPr marL="0" indent="0">
              <a:lnSpc>
                <a:spcPct val="108000"/>
              </a:lnSpc>
              <a:buNone/>
            </a:pPr>
            <a:endParaRPr lang="en-US" sz="1280" dirty="0"/>
          </a:p>
          <a:p>
            <a:pPr marL="0" indent="0">
              <a:lnSpc>
                <a:spcPct val="108000"/>
              </a:lnSpc>
              <a:buNone/>
            </a:pPr>
            <a:r>
              <a:rPr lang="en-US" sz="1280" dirty="0">
                <a:solidFill>
                  <a:srgbClr val="323726"/>
                </a:solidFill>
                <a:latin typeface="Calibri" pitchFamily="34" charset="0"/>
                <a:ea typeface="Calibri" pitchFamily="34" charset="-122"/>
                <a:cs typeface="Calibri" pitchFamily="34" charset="-120"/>
              </a:rPr>
              <a:t>It does not show that the model uses that information, that the information is represented in a form the model itself relies on, or that a non-linear probe would not find far more.</a:t>
            </a:r>
            <a:endParaRPr lang="en-US" sz="1280" dirty="0"/>
          </a:p>
        </p:txBody>
      </p:sp>
      <p:sp>
        <p:nvSpPr>
          <p:cNvPr id="16" name="Shape 14"/>
          <p:cNvSpPr/>
          <p:nvPr/>
        </p:nvSpPr>
        <p:spPr>
          <a:xfrm>
            <a:off x="566928" y="3968496"/>
            <a:ext cx="11064240" cy="2084832"/>
          </a:xfrm>
          <a:prstGeom prst="roundRect">
            <a:avLst>
              <a:gd name="adj" fmla="val 2632"/>
            </a:avLst>
          </a:prstGeom>
          <a:solidFill>
            <a:srgbClr val="2A2E1E"/>
          </a:solidFill>
          <a:ln w="12700">
            <a:solidFill>
              <a:srgbClr val="2A2E1E"/>
            </a:solidFill>
            <a:prstDash val="solid"/>
          </a:ln>
        </p:spPr>
        <p:txBody>
          <a:bodyPr/>
          <a:lstStyle/>
          <a:p>
            <a:endParaRPr lang="en-US"/>
          </a:p>
        </p:txBody>
      </p:sp>
      <p:sp>
        <p:nvSpPr>
          <p:cNvPr id="17" name="Shape 15"/>
          <p:cNvSpPr/>
          <p:nvPr/>
        </p:nvSpPr>
        <p:spPr>
          <a:xfrm>
            <a:off x="786384" y="4261104"/>
            <a:ext cx="109728" cy="109728"/>
          </a:xfrm>
          <a:prstGeom prst="ellipse">
            <a:avLst/>
          </a:prstGeom>
          <a:solidFill>
            <a:srgbClr val="D9614C"/>
          </a:solidFill>
          <a:ln w="12700">
            <a:solidFill>
              <a:srgbClr val="333333"/>
            </a:solidFill>
            <a:prstDash val="solid"/>
          </a:ln>
        </p:spPr>
        <p:txBody>
          <a:bodyPr/>
          <a:lstStyle/>
          <a:p>
            <a:endParaRPr lang="en-US"/>
          </a:p>
        </p:txBody>
      </p:sp>
      <p:sp>
        <p:nvSpPr>
          <p:cNvPr id="18" name="Text 16"/>
          <p:cNvSpPr txBox="1"/>
          <p:nvPr/>
        </p:nvSpPr>
        <p:spPr>
          <a:xfrm>
            <a:off x="987552" y="413308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standard objection from the probing literature</a:t>
            </a:r>
            <a:endParaRPr lang="en-US" sz="1500" dirty="0"/>
          </a:p>
        </p:txBody>
      </p:sp>
      <p:sp>
        <p:nvSpPr>
          <p:cNvPr id="19" name="Text 17"/>
          <p:cNvSpPr txBox="1"/>
          <p:nvPr/>
        </p:nvSpPr>
        <p:spPr>
          <a:xfrm>
            <a:off x="822960" y="4572000"/>
            <a:ext cx="10552176" cy="1298448"/>
          </a:xfrm>
          <a:prstGeom prst="rect">
            <a:avLst/>
          </a:prstGeom>
          <a:noFill/>
          <a:ln/>
        </p:spPr>
        <p:txBody>
          <a:bodyPr wrap="square" lIns="0" tIns="0" rIns="0" bIns="0" rtlCol="0" anchor="t"/>
          <a:lstStyle/>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A probe's accuracy conflates how much information is present with how easy it is to extract. Two models can encode the same information and score differently because one happens to encode it more linearly.</a:t>
            </a:r>
            <a:endParaRPr lang="en-US" sz="1300" dirty="0"/>
          </a:p>
          <a:p>
            <a:pPr marL="0" indent="0">
              <a:lnSpc>
                <a:spcPct val="108000"/>
              </a:lnSpc>
              <a:buNone/>
            </a:pPr>
            <a:endParaRPr lang="en-US" sz="1300" dirty="0"/>
          </a:p>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The usual remedies — control tasks, probe-complexity comparisons, selectivity measures — are absent here, which is fair for a four-page benchmark paper but matters for anyone reading SUPERB as evidence about representational content.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The domain confound</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Most of the models and several of the tasks share a corpus</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31</a:t>
            </a:r>
            <a:endParaRPr lang="en-US" sz="900" dirty="0"/>
          </a:p>
        </p:txBody>
      </p:sp>
      <p:sp>
        <p:nvSpPr>
          <p:cNvPr id="8" name="Shape 6"/>
          <p:cNvSpPr/>
          <p:nvPr/>
        </p:nvSpPr>
        <p:spPr>
          <a:xfrm>
            <a:off x="566928" y="1600200"/>
            <a:ext cx="5440680" cy="2194560"/>
          </a:xfrm>
          <a:prstGeom prst="roundRect">
            <a:avLst>
              <a:gd name="adj" fmla="val 2500"/>
            </a:avLst>
          </a:prstGeom>
          <a:solidFill>
            <a:srgbClr val="F3F5EC"/>
          </a:solidFill>
          <a:ln w="12700">
            <a:solidFill>
              <a:srgbClr val="E3E7D8"/>
            </a:solidFill>
            <a:prstDash val="solid"/>
          </a:ln>
        </p:spPr>
        <p:txBody>
          <a:bodyPr/>
          <a:lstStyle/>
          <a:p>
            <a:endParaRPr lang="en-US"/>
          </a:p>
        </p:txBody>
      </p:sp>
      <p:sp>
        <p:nvSpPr>
          <p:cNvPr id="9" name="Shape 7"/>
          <p:cNvSpPr/>
          <p:nvPr/>
        </p:nvSpPr>
        <p:spPr>
          <a:xfrm>
            <a:off x="786384" y="1892808"/>
            <a:ext cx="109728" cy="109728"/>
          </a:xfrm>
          <a:prstGeom prst="ellipse">
            <a:avLst/>
          </a:prstGeom>
          <a:solidFill>
            <a:srgbClr val="5F6B3A"/>
          </a:solidFill>
          <a:ln w="12700">
            <a:solidFill>
              <a:srgbClr val="333333"/>
            </a:solidFill>
            <a:prstDash val="solid"/>
          </a:ln>
        </p:spPr>
        <p:txBody>
          <a:bodyPr/>
          <a:lstStyle/>
          <a:p>
            <a:endParaRPr lang="en-US"/>
          </a:p>
        </p:txBody>
      </p:sp>
      <p:sp>
        <p:nvSpPr>
          <p:cNvPr id="10" name="Text 8"/>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1E2116"/>
                </a:solidFill>
                <a:latin typeface="Cambria" pitchFamily="34" charset="0"/>
                <a:ea typeface="Cambria" pitchFamily="34" charset="-122"/>
                <a:cs typeface="Cambria" pitchFamily="34" charset="-120"/>
              </a:rPr>
              <a:t>Where the models were pre-trained</a:t>
            </a:r>
            <a:endParaRPr lang="en-US" sz="1500" dirty="0"/>
          </a:p>
        </p:txBody>
      </p:sp>
      <p:sp>
        <p:nvSpPr>
          <p:cNvPr id="11" name="Text 9"/>
          <p:cNvSpPr txBox="1"/>
          <p:nvPr/>
        </p:nvSpPr>
        <p:spPr>
          <a:xfrm>
            <a:off x="822960" y="2203704"/>
            <a:ext cx="4928616" cy="1408176"/>
          </a:xfrm>
          <a:prstGeom prst="rect">
            <a:avLst/>
          </a:prstGeom>
          <a:noFill/>
          <a:ln/>
        </p:spPr>
        <p:txBody>
          <a:bodyPr wrap="square" lIns="0" tIns="0" rIns="0" bIns="0" rtlCol="0" anchor="t"/>
          <a:lstStyle/>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APC, VQ-APC, NPC, Mockingjay on LibriSpeech 360 hours. TERA, DeCoAR 2.0, wav2vec, vq-wav2vec, wav2vec 2.0 Base, HuBERT Base on LibriSpeech 960. PASE+ on LibriSpeech 50.</a:t>
            </a:r>
            <a:endParaRPr lang="en-US" sz="1240" dirty="0"/>
          </a:p>
          <a:p>
            <a:pPr marL="0" indent="0">
              <a:lnSpc>
                <a:spcPct val="108000"/>
              </a:lnSpc>
              <a:buNone/>
            </a:pPr>
            <a:endParaRPr lang="en-US" sz="1240" dirty="0"/>
          </a:p>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Modified CPC, wav2vec 2.0 Large and HuBERT Large on Libri-Light — which is also LibriVox audio.</a:t>
            </a:r>
            <a:endParaRPr lang="en-US" sz="1240" dirty="0"/>
          </a:p>
          <a:p>
            <a:pPr marL="0" indent="0">
              <a:lnSpc>
                <a:spcPct val="108000"/>
              </a:lnSpc>
              <a:buNone/>
            </a:pPr>
            <a:endParaRPr lang="en-US" sz="1240" dirty="0"/>
          </a:p>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Every model in the table is pre-trained on read audiobooks.</a:t>
            </a:r>
            <a:endParaRPr lang="en-US" sz="1240" dirty="0"/>
          </a:p>
        </p:txBody>
      </p:sp>
      <p:sp>
        <p:nvSpPr>
          <p:cNvPr id="12" name="Shape 10"/>
          <p:cNvSpPr/>
          <p:nvPr/>
        </p:nvSpPr>
        <p:spPr>
          <a:xfrm>
            <a:off x="6190488" y="1600200"/>
            <a:ext cx="5440680" cy="2194560"/>
          </a:xfrm>
          <a:prstGeom prst="roundRect">
            <a:avLst>
              <a:gd name="adj" fmla="val 2500"/>
            </a:avLst>
          </a:prstGeom>
          <a:solidFill>
            <a:srgbClr val="F3F5EC"/>
          </a:solidFill>
          <a:ln w="12700">
            <a:solidFill>
              <a:srgbClr val="E3E7D8"/>
            </a:solidFill>
            <a:prstDash val="solid"/>
          </a:ln>
        </p:spPr>
        <p:txBody>
          <a:bodyPr/>
          <a:lstStyle/>
          <a:p>
            <a:endParaRPr lang="en-US"/>
          </a:p>
        </p:txBody>
      </p:sp>
      <p:sp>
        <p:nvSpPr>
          <p:cNvPr id="13" name="Shape 11"/>
          <p:cNvSpPr/>
          <p:nvPr/>
        </p:nvSpPr>
        <p:spPr>
          <a:xfrm>
            <a:off x="6409944" y="1892808"/>
            <a:ext cx="109728" cy="109728"/>
          </a:xfrm>
          <a:prstGeom prst="ellipse">
            <a:avLst/>
          </a:prstGeom>
          <a:solidFill>
            <a:srgbClr val="D9614C"/>
          </a:solidFill>
          <a:ln w="12700">
            <a:solidFill>
              <a:srgbClr val="333333"/>
            </a:solidFill>
            <a:prstDash val="solid"/>
          </a:ln>
        </p:spPr>
        <p:txBody>
          <a:bodyPr/>
          <a:lstStyle/>
          <a:p>
            <a:endParaRPr lang="en-US"/>
          </a:p>
        </p:txBody>
      </p:sp>
      <p:sp>
        <p:nvSpPr>
          <p:cNvPr id="14" name="Text 12"/>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1E2116"/>
                </a:solidFill>
                <a:latin typeface="Cambria" pitchFamily="34" charset="0"/>
                <a:ea typeface="Cambria" pitchFamily="34" charset="-122"/>
                <a:cs typeface="Cambria" pitchFamily="34" charset="-120"/>
              </a:rPr>
              <a:t>Where the tasks are evaluated</a:t>
            </a:r>
            <a:endParaRPr lang="en-US" sz="1500" dirty="0"/>
          </a:p>
        </p:txBody>
      </p:sp>
      <p:sp>
        <p:nvSpPr>
          <p:cNvPr id="15" name="Text 13"/>
          <p:cNvSpPr txBox="1"/>
          <p:nvPr/>
        </p:nvSpPr>
        <p:spPr>
          <a:xfrm>
            <a:off x="6446520" y="2203704"/>
            <a:ext cx="4928616" cy="1408176"/>
          </a:xfrm>
          <a:prstGeom prst="rect">
            <a:avLst/>
          </a:prstGeom>
          <a:noFill/>
          <a:ln/>
        </p:spPr>
        <p:txBody>
          <a:bodyPr wrap="square" lIns="0" tIns="0" rIns="0" bIns="0" rtlCol="0" anchor="t"/>
          <a:lstStyle/>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PR and ASR on LibriSpeech test-clean. SD on LibriMix, which is generated from LibriSpeech. SF on synthesised multi-speaker audio.</a:t>
            </a:r>
            <a:endParaRPr lang="en-US" sz="1240" dirty="0"/>
          </a:p>
          <a:p>
            <a:pPr marL="0" indent="0">
              <a:lnSpc>
                <a:spcPct val="108000"/>
              </a:lnSpc>
              <a:buNone/>
            </a:pPr>
            <a:endParaRPr lang="en-US" sz="1240" dirty="0"/>
          </a:p>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Genuinely out of domain: KS on Speech Commands, QbE on QUESST, SID and ASV on VoxCeleb, IC on Fluent Speech Commands, ER on IEMOCAP.</a:t>
            </a:r>
            <a:endParaRPr lang="en-US" sz="1240" dirty="0"/>
          </a:p>
        </p:txBody>
      </p:sp>
      <p:sp>
        <p:nvSpPr>
          <p:cNvPr id="16" name="Shape 14"/>
          <p:cNvSpPr/>
          <p:nvPr/>
        </p:nvSpPr>
        <p:spPr>
          <a:xfrm>
            <a:off x="566928" y="3986784"/>
            <a:ext cx="11064240" cy="2066544"/>
          </a:xfrm>
          <a:prstGeom prst="roundRect">
            <a:avLst>
              <a:gd name="adj" fmla="val 2655"/>
            </a:avLst>
          </a:prstGeom>
          <a:solidFill>
            <a:srgbClr val="2A2E1E"/>
          </a:solidFill>
          <a:ln w="12700">
            <a:solidFill>
              <a:srgbClr val="2A2E1E"/>
            </a:solidFill>
            <a:prstDash val="solid"/>
          </a:ln>
        </p:spPr>
        <p:txBody>
          <a:bodyPr/>
          <a:lstStyle/>
          <a:p>
            <a:endParaRPr lang="en-US"/>
          </a:p>
        </p:txBody>
      </p:sp>
      <p:sp>
        <p:nvSpPr>
          <p:cNvPr id="17" name="Shape 15"/>
          <p:cNvSpPr/>
          <p:nvPr/>
        </p:nvSpPr>
        <p:spPr>
          <a:xfrm>
            <a:off x="786384" y="4279392"/>
            <a:ext cx="109728" cy="109728"/>
          </a:xfrm>
          <a:prstGeom prst="ellipse">
            <a:avLst/>
          </a:prstGeom>
          <a:solidFill>
            <a:srgbClr val="D9614C"/>
          </a:solidFill>
          <a:ln w="12700">
            <a:solidFill>
              <a:srgbClr val="333333"/>
            </a:solidFill>
            <a:prstDash val="solid"/>
          </a:ln>
        </p:spPr>
        <p:txBody>
          <a:bodyPr/>
          <a:lstStyle/>
          <a:p>
            <a:endParaRPr lang="en-US"/>
          </a:p>
        </p:txBody>
      </p:sp>
      <p:sp>
        <p:nvSpPr>
          <p:cNvPr id="18" name="Text 16"/>
          <p:cNvSpPr txBox="1"/>
          <p:nvPr/>
        </p:nvSpPr>
        <p:spPr>
          <a:xfrm>
            <a:off x="987552" y="4151376"/>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Why this complicates the generalisability claim</a:t>
            </a:r>
            <a:endParaRPr lang="en-US" sz="1500" dirty="0"/>
          </a:p>
        </p:txBody>
      </p:sp>
      <p:sp>
        <p:nvSpPr>
          <p:cNvPr id="19" name="Text 17"/>
          <p:cNvSpPr txBox="1"/>
          <p:nvPr/>
        </p:nvSpPr>
        <p:spPr>
          <a:xfrm>
            <a:off x="822960" y="4590288"/>
            <a:ext cx="10552176" cy="1280160"/>
          </a:xfrm>
          <a:prstGeom prst="rect">
            <a:avLst/>
          </a:prstGeom>
          <a:noFill/>
          <a:ln/>
        </p:spPr>
        <p:txBody>
          <a:bodyPr wrap="square" lIns="0" tIns="0" rIns="0" bIns="0" rtlCol="0" anchor="t"/>
          <a:lstStyle/>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Roughly a third of the benchmark evaluates models on the same corpus they were pre-trained on. Those columns measure in-domain quality; the others measure transfer. The table does not distinguish them, and any aggregate score mixes the two.</a:t>
            </a:r>
            <a:endParaRPr lang="en-US" sz="1300" dirty="0"/>
          </a:p>
          <a:p>
            <a:pPr marL="0" indent="0">
              <a:lnSpc>
                <a:spcPct val="108000"/>
              </a:lnSpc>
              <a:buNone/>
            </a:pPr>
            <a:endParaRPr lang="en-US" sz="1300" dirty="0"/>
          </a:p>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Note where the models do worst: speaker verification and emotion — both on corpora nothing was pre-trained on. That correlation is suggestive, and SUPERB provides no way to disentangle it from the difficulty of the tasks themselves.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Ten columns, ten different lenses</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Why the table resists aggregation</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32</a:t>
            </a:r>
            <a:endParaRPr lang="en-US" sz="900" dirty="0"/>
          </a:p>
        </p:txBody>
      </p:sp>
      <p:sp>
        <p:nvSpPr>
          <p:cNvPr id="8" name="Shape 6"/>
          <p:cNvSpPr/>
          <p:nvPr/>
        </p:nvSpPr>
        <p:spPr>
          <a:xfrm>
            <a:off x="566928" y="1554480"/>
            <a:ext cx="11064240" cy="859536"/>
          </a:xfrm>
          <a:prstGeom prst="roundRect">
            <a:avLst>
              <a:gd name="adj" fmla="val 3191"/>
            </a:avLst>
          </a:prstGeom>
          <a:solidFill>
            <a:srgbClr val="F3F5EC"/>
          </a:solidFill>
          <a:ln w="12700">
            <a:solidFill>
              <a:srgbClr val="E9EDE1"/>
            </a:solidFill>
            <a:prstDash val="solid"/>
          </a:ln>
        </p:spPr>
        <p:txBody>
          <a:bodyPr/>
          <a:lstStyle/>
          <a:p>
            <a:endParaRPr lang="en-US"/>
          </a:p>
        </p:txBody>
      </p:sp>
      <p:sp>
        <p:nvSpPr>
          <p:cNvPr id="9" name="Shape 7"/>
          <p:cNvSpPr/>
          <p:nvPr/>
        </p:nvSpPr>
        <p:spPr>
          <a:xfrm>
            <a:off x="786384" y="1924812"/>
            <a:ext cx="118872" cy="118872"/>
          </a:xfrm>
          <a:prstGeom prst="ellipse">
            <a:avLst/>
          </a:prstGeom>
          <a:solidFill>
            <a:srgbClr val="5F6B3A"/>
          </a:solidFill>
          <a:ln w="12700">
            <a:solidFill>
              <a:srgbClr val="333333"/>
            </a:solidFill>
            <a:prstDash val="solid"/>
          </a:ln>
        </p:spPr>
        <p:txBody>
          <a:bodyPr/>
          <a:lstStyle/>
          <a:p>
            <a:endParaRPr lang="en-US"/>
          </a:p>
        </p:txBody>
      </p:sp>
      <p:sp>
        <p:nvSpPr>
          <p:cNvPr id="10" name="Text 8"/>
          <p:cNvSpPr txBox="1"/>
          <p:nvPr/>
        </p:nvSpPr>
        <p:spPr>
          <a:xfrm>
            <a:off x="1024128" y="1645920"/>
            <a:ext cx="3017520" cy="676656"/>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Different head capacity</a:t>
            </a:r>
            <a:endParaRPr lang="en-US" sz="1300" dirty="0"/>
          </a:p>
        </p:txBody>
      </p:sp>
      <p:sp>
        <p:nvSpPr>
          <p:cNvPr id="11" name="Text 9"/>
          <p:cNvSpPr txBox="1"/>
          <p:nvPr/>
        </p:nvSpPr>
        <p:spPr>
          <a:xfrm>
            <a:off x="4224528" y="1627632"/>
            <a:ext cx="7223760" cy="713232"/>
          </a:xfrm>
          <a:prstGeom prst="rect">
            <a:avLst/>
          </a:prstGeom>
          <a:noFill/>
          <a:ln/>
        </p:spPr>
        <p:txBody>
          <a:bodyPr wrap="square" lIns="0" tIns="0" rIns="0" bIns="0" rtlCol="0" anchor="ctr"/>
          <a:lstStyle/>
          <a:p>
            <a:pPr marL="0" indent="0">
              <a:buNone/>
            </a:pPr>
            <a:r>
              <a:rPr lang="en-US" sz="1200" dirty="0">
                <a:solidFill>
                  <a:srgbClr val="323726"/>
                </a:solidFill>
                <a:latin typeface="Calibri" pitchFamily="34" charset="0"/>
                <a:ea typeface="Calibri" pitchFamily="34" charset="-122"/>
                <a:cs typeface="Calibri" pitchFamily="34" charset="-120"/>
              </a:rPr>
              <a:t>A linear layer for phoneme recognition; a two-layer BLSTM plus a 4-gram language model for speech recognition. The second can compensate for weaknesses the first exposes.</a:t>
            </a:r>
            <a:endParaRPr lang="en-US" sz="1200" dirty="0"/>
          </a:p>
        </p:txBody>
      </p:sp>
      <p:sp>
        <p:nvSpPr>
          <p:cNvPr id="12" name="Shape 10"/>
          <p:cNvSpPr/>
          <p:nvPr/>
        </p:nvSpPr>
        <p:spPr>
          <a:xfrm>
            <a:off x="566928" y="2468880"/>
            <a:ext cx="11064240" cy="859536"/>
          </a:xfrm>
          <a:prstGeom prst="roundRect">
            <a:avLst>
              <a:gd name="adj" fmla="val 3191"/>
            </a:avLst>
          </a:prstGeom>
          <a:solidFill>
            <a:srgbClr val="FFFFFF"/>
          </a:solidFill>
          <a:ln w="12700">
            <a:solidFill>
              <a:srgbClr val="E9EDE1"/>
            </a:solidFill>
            <a:prstDash val="solid"/>
          </a:ln>
        </p:spPr>
        <p:txBody>
          <a:bodyPr/>
          <a:lstStyle/>
          <a:p>
            <a:endParaRPr lang="en-US"/>
          </a:p>
        </p:txBody>
      </p:sp>
      <p:sp>
        <p:nvSpPr>
          <p:cNvPr id="13" name="Shape 11"/>
          <p:cNvSpPr/>
          <p:nvPr/>
        </p:nvSpPr>
        <p:spPr>
          <a:xfrm>
            <a:off x="786384" y="2839212"/>
            <a:ext cx="118872" cy="118872"/>
          </a:xfrm>
          <a:prstGeom prst="ellipse">
            <a:avLst/>
          </a:prstGeom>
          <a:solidFill>
            <a:srgbClr val="5F6B3A"/>
          </a:solidFill>
          <a:ln w="12700">
            <a:solidFill>
              <a:srgbClr val="333333"/>
            </a:solidFill>
            <a:prstDash val="solid"/>
          </a:ln>
        </p:spPr>
        <p:txBody>
          <a:bodyPr/>
          <a:lstStyle/>
          <a:p>
            <a:endParaRPr lang="en-US"/>
          </a:p>
        </p:txBody>
      </p:sp>
      <p:sp>
        <p:nvSpPr>
          <p:cNvPr id="14" name="Text 12"/>
          <p:cNvSpPr txBox="1"/>
          <p:nvPr/>
        </p:nvSpPr>
        <p:spPr>
          <a:xfrm>
            <a:off x="1024128" y="2560320"/>
            <a:ext cx="3017520" cy="676656"/>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Different metric direction and scale</a:t>
            </a:r>
            <a:endParaRPr lang="en-US" sz="1300" dirty="0"/>
          </a:p>
        </p:txBody>
      </p:sp>
      <p:sp>
        <p:nvSpPr>
          <p:cNvPr id="15" name="Text 13"/>
          <p:cNvSpPr txBox="1"/>
          <p:nvPr/>
        </p:nvSpPr>
        <p:spPr>
          <a:xfrm>
            <a:off x="4224528" y="2542032"/>
            <a:ext cx="7223760" cy="713232"/>
          </a:xfrm>
          <a:prstGeom prst="rect">
            <a:avLst/>
          </a:prstGeom>
          <a:noFill/>
          <a:ln/>
        </p:spPr>
        <p:txBody>
          <a:bodyPr wrap="square" lIns="0" tIns="0" rIns="0" bIns="0" rtlCol="0" anchor="ctr"/>
          <a:lstStyle/>
          <a:p>
            <a:pPr marL="0" indent="0">
              <a:buNone/>
            </a:pPr>
            <a:r>
              <a:rPr lang="en-US" sz="1200" dirty="0">
                <a:solidFill>
                  <a:srgbClr val="323726"/>
                </a:solidFill>
                <a:latin typeface="Calibri" pitchFamily="34" charset="0"/>
                <a:ea typeface="Calibri" pitchFamily="34" charset="-122"/>
                <a:cs typeface="Calibri" pitchFamily="34" charset="-120"/>
              </a:rPr>
              <a:t>Four metrics go up, four go down, one is a probability-like MTWV in the hundredths, and slot filling reports two numbers at once.</a:t>
            </a:r>
            <a:endParaRPr lang="en-US" sz="1200" dirty="0"/>
          </a:p>
        </p:txBody>
      </p:sp>
      <p:sp>
        <p:nvSpPr>
          <p:cNvPr id="16" name="Shape 14"/>
          <p:cNvSpPr/>
          <p:nvPr/>
        </p:nvSpPr>
        <p:spPr>
          <a:xfrm>
            <a:off x="566928" y="3383280"/>
            <a:ext cx="11064240" cy="859536"/>
          </a:xfrm>
          <a:prstGeom prst="roundRect">
            <a:avLst>
              <a:gd name="adj" fmla="val 3191"/>
            </a:avLst>
          </a:prstGeom>
          <a:solidFill>
            <a:srgbClr val="F3F5EC"/>
          </a:solidFill>
          <a:ln w="12700">
            <a:solidFill>
              <a:srgbClr val="E9EDE1"/>
            </a:solidFill>
            <a:prstDash val="solid"/>
          </a:ln>
        </p:spPr>
        <p:txBody>
          <a:bodyPr/>
          <a:lstStyle/>
          <a:p>
            <a:endParaRPr lang="en-US"/>
          </a:p>
        </p:txBody>
      </p:sp>
      <p:sp>
        <p:nvSpPr>
          <p:cNvPr id="17" name="Shape 15"/>
          <p:cNvSpPr/>
          <p:nvPr/>
        </p:nvSpPr>
        <p:spPr>
          <a:xfrm>
            <a:off x="786384" y="3753612"/>
            <a:ext cx="118872" cy="118872"/>
          </a:xfrm>
          <a:prstGeom prst="ellipse">
            <a:avLst/>
          </a:prstGeom>
          <a:solidFill>
            <a:srgbClr val="5F6B3A"/>
          </a:solidFill>
          <a:ln w="12700">
            <a:solidFill>
              <a:srgbClr val="333333"/>
            </a:solidFill>
            <a:prstDash val="solid"/>
          </a:ln>
        </p:spPr>
        <p:txBody>
          <a:bodyPr/>
          <a:lstStyle/>
          <a:p>
            <a:endParaRPr lang="en-US"/>
          </a:p>
        </p:txBody>
      </p:sp>
      <p:sp>
        <p:nvSpPr>
          <p:cNvPr id="18" name="Text 16"/>
          <p:cNvSpPr txBox="1"/>
          <p:nvPr/>
        </p:nvSpPr>
        <p:spPr>
          <a:xfrm>
            <a:off x="1024128" y="3474720"/>
            <a:ext cx="3017520" cy="676656"/>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Different label reliability</a:t>
            </a:r>
            <a:endParaRPr lang="en-US" sz="1300" dirty="0"/>
          </a:p>
        </p:txBody>
      </p:sp>
      <p:sp>
        <p:nvSpPr>
          <p:cNvPr id="19" name="Text 17"/>
          <p:cNvSpPr txBox="1"/>
          <p:nvPr/>
        </p:nvSpPr>
        <p:spPr>
          <a:xfrm>
            <a:off x="4224528" y="3456432"/>
            <a:ext cx="7223760" cy="713232"/>
          </a:xfrm>
          <a:prstGeom prst="rect">
            <a:avLst/>
          </a:prstGeom>
          <a:noFill/>
          <a:ln/>
        </p:spPr>
        <p:txBody>
          <a:bodyPr wrap="square" lIns="0" tIns="0" rIns="0" bIns="0" rtlCol="0" anchor="ctr"/>
          <a:lstStyle/>
          <a:p>
            <a:pPr marL="0" indent="0">
              <a:buNone/>
            </a:pPr>
            <a:r>
              <a:rPr lang="en-US" sz="1200" dirty="0">
                <a:solidFill>
                  <a:srgbClr val="323726"/>
                </a:solidFill>
                <a:latin typeface="Calibri" pitchFamily="34" charset="0"/>
                <a:ea typeface="Calibri" pitchFamily="34" charset="-122"/>
                <a:cs typeface="Calibri" pitchFamily="34" charset="-120"/>
              </a:rPr>
              <a:t>Word error rate is measured against transcripts. Emotion accuracy is measured against a majority vote among three annotators who agreed at a kappa of 0.27.</a:t>
            </a:r>
            <a:endParaRPr lang="en-US" sz="1200" dirty="0"/>
          </a:p>
        </p:txBody>
      </p:sp>
      <p:sp>
        <p:nvSpPr>
          <p:cNvPr id="20" name="Shape 18"/>
          <p:cNvSpPr/>
          <p:nvPr/>
        </p:nvSpPr>
        <p:spPr>
          <a:xfrm>
            <a:off x="566928" y="4297680"/>
            <a:ext cx="11064240" cy="859536"/>
          </a:xfrm>
          <a:prstGeom prst="roundRect">
            <a:avLst>
              <a:gd name="adj" fmla="val 3191"/>
            </a:avLst>
          </a:prstGeom>
          <a:solidFill>
            <a:srgbClr val="FFFFFF"/>
          </a:solidFill>
          <a:ln w="12700">
            <a:solidFill>
              <a:srgbClr val="E9EDE1"/>
            </a:solidFill>
            <a:prstDash val="solid"/>
          </a:ln>
        </p:spPr>
        <p:txBody>
          <a:bodyPr/>
          <a:lstStyle/>
          <a:p>
            <a:endParaRPr lang="en-US"/>
          </a:p>
        </p:txBody>
      </p:sp>
      <p:sp>
        <p:nvSpPr>
          <p:cNvPr id="21" name="Shape 19"/>
          <p:cNvSpPr/>
          <p:nvPr/>
        </p:nvSpPr>
        <p:spPr>
          <a:xfrm>
            <a:off x="786384" y="4668012"/>
            <a:ext cx="118872" cy="118872"/>
          </a:xfrm>
          <a:prstGeom prst="ellipse">
            <a:avLst/>
          </a:prstGeom>
          <a:solidFill>
            <a:srgbClr val="5F6B3A"/>
          </a:solidFill>
          <a:ln w="12700">
            <a:solidFill>
              <a:srgbClr val="333333"/>
            </a:solidFill>
            <a:prstDash val="solid"/>
          </a:ln>
        </p:spPr>
        <p:txBody>
          <a:bodyPr/>
          <a:lstStyle/>
          <a:p>
            <a:endParaRPr lang="en-US"/>
          </a:p>
        </p:txBody>
      </p:sp>
      <p:sp>
        <p:nvSpPr>
          <p:cNvPr id="22" name="Text 20"/>
          <p:cNvSpPr txBox="1"/>
          <p:nvPr/>
        </p:nvSpPr>
        <p:spPr>
          <a:xfrm>
            <a:off x="1024128" y="4389120"/>
            <a:ext cx="3017520" cy="676656"/>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Different domain relationship</a:t>
            </a:r>
            <a:endParaRPr lang="en-US" sz="1300" dirty="0"/>
          </a:p>
        </p:txBody>
      </p:sp>
      <p:sp>
        <p:nvSpPr>
          <p:cNvPr id="23" name="Text 21"/>
          <p:cNvSpPr txBox="1"/>
          <p:nvPr/>
        </p:nvSpPr>
        <p:spPr>
          <a:xfrm>
            <a:off x="4224528" y="4370832"/>
            <a:ext cx="7223760" cy="713232"/>
          </a:xfrm>
          <a:prstGeom prst="rect">
            <a:avLst/>
          </a:prstGeom>
          <a:noFill/>
          <a:ln/>
        </p:spPr>
        <p:txBody>
          <a:bodyPr wrap="square" lIns="0" tIns="0" rIns="0" bIns="0" rtlCol="0" anchor="ctr"/>
          <a:lstStyle/>
          <a:p>
            <a:pPr marL="0" indent="0">
              <a:buNone/>
            </a:pPr>
            <a:r>
              <a:rPr lang="en-US" sz="1200" dirty="0">
                <a:solidFill>
                  <a:srgbClr val="323726"/>
                </a:solidFill>
                <a:latin typeface="Calibri" pitchFamily="34" charset="0"/>
                <a:ea typeface="Calibri" pitchFamily="34" charset="-122"/>
                <a:cs typeface="Calibri" pitchFamily="34" charset="-120"/>
              </a:rPr>
              <a:t>Some columns are in-domain for nearly every model; others are transfer.</a:t>
            </a:r>
            <a:endParaRPr lang="en-US" sz="1200" dirty="0"/>
          </a:p>
        </p:txBody>
      </p:sp>
      <p:sp>
        <p:nvSpPr>
          <p:cNvPr id="24" name="Shape 22"/>
          <p:cNvSpPr/>
          <p:nvPr/>
        </p:nvSpPr>
        <p:spPr>
          <a:xfrm>
            <a:off x="566928" y="5212080"/>
            <a:ext cx="11064240" cy="859536"/>
          </a:xfrm>
          <a:prstGeom prst="roundRect">
            <a:avLst>
              <a:gd name="adj" fmla="val 3191"/>
            </a:avLst>
          </a:prstGeom>
          <a:solidFill>
            <a:srgbClr val="F3F5EC"/>
          </a:solidFill>
          <a:ln w="12700">
            <a:solidFill>
              <a:srgbClr val="E9EDE1"/>
            </a:solidFill>
            <a:prstDash val="solid"/>
          </a:ln>
        </p:spPr>
        <p:txBody>
          <a:bodyPr/>
          <a:lstStyle/>
          <a:p>
            <a:endParaRPr lang="en-US"/>
          </a:p>
        </p:txBody>
      </p:sp>
      <p:sp>
        <p:nvSpPr>
          <p:cNvPr id="25" name="Shape 23"/>
          <p:cNvSpPr/>
          <p:nvPr/>
        </p:nvSpPr>
        <p:spPr>
          <a:xfrm>
            <a:off x="786384" y="5582412"/>
            <a:ext cx="118872" cy="118872"/>
          </a:xfrm>
          <a:prstGeom prst="ellipse">
            <a:avLst/>
          </a:prstGeom>
          <a:solidFill>
            <a:srgbClr val="5F6B3A"/>
          </a:solidFill>
          <a:ln w="12700">
            <a:solidFill>
              <a:srgbClr val="333333"/>
            </a:solidFill>
            <a:prstDash val="solid"/>
          </a:ln>
        </p:spPr>
        <p:txBody>
          <a:bodyPr/>
          <a:lstStyle/>
          <a:p>
            <a:endParaRPr lang="en-US"/>
          </a:p>
        </p:txBody>
      </p:sp>
      <p:sp>
        <p:nvSpPr>
          <p:cNvPr id="26" name="Text 24"/>
          <p:cNvSpPr txBox="1"/>
          <p:nvPr/>
        </p:nvSpPr>
        <p:spPr>
          <a:xfrm>
            <a:off x="1024128" y="5303520"/>
            <a:ext cx="3017520" cy="676656"/>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No overall score in this paper</a:t>
            </a:r>
            <a:endParaRPr lang="en-US" sz="1300" dirty="0"/>
          </a:p>
        </p:txBody>
      </p:sp>
      <p:sp>
        <p:nvSpPr>
          <p:cNvPr id="27" name="Text 25"/>
          <p:cNvSpPr txBox="1"/>
          <p:nvPr/>
        </p:nvSpPr>
        <p:spPr>
          <a:xfrm>
            <a:off x="4224528" y="5285232"/>
            <a:ext cx="7223760" cy="713232"/>
          </a:xfrm>
          <a:prstGeom prst="rect">
            <a:avLst/>
          </a:prstGeom>
          <a:noFill/>
          <a:ln/>
        </p:spPr>
        <p:txBody>
          <a:bodyPr wrap="square" lIns="0" tIns="0" rIns="0" bIns="0" rtlCol="0" anchor="ctr"/>
          <a:lstStyle/>
          <a:p>
            <a:pPr marL="0" indent="0">
              <a:buNone/>
            </a:pPr>
            <a:r>
              <a:rPr lang="en-US" sz="1200" dirty="0">
                <a:solidFill>
                  <a:srgbClr val="323726"/>
                </a:solidFill>
                <a:latin typeface="Calibri" pitchFamily="34" charset="0"/>
                <a:ea typeface="Calibri" pitchFamily="34" charset="-122"/>
                <a:cs typeface="Calibri" pitchFamily="34" charset="-120"/>
              </a:rPr>
              <a:t>The single SUPERB number that later papers quote does not appear here. It was constructed afterwards by aggregating these columns — an operation this table does not license on its own.</a:t>
            </a:r>
            <a:endParaRPr lang="en-US" sz="1200" dirty="0"/>
          </a:p>
        </p:txBody>
      </p:sp>
      <p:sp>
        <p:nvSpPr>
          <p:cNvPr id="28" name="Shape 26"/>
          <p:cNvSpPr/>
          <p:nvPr/>
        </p:nvSpPr>
        <p:spPr>
          <a:xfrm>
            <a:off x="566928" y="6144768"/>
            <a:ext cx="11064240" cy="18288"/>
          </a:xfrm>
          <a:prstGeom prst="roundRect">
            <a:avLst>
              <a:gd name="adj" fmla="val 300000"/>
            </a:avLst>
          </a:prstGeom>
          <a:solidFill>
            <a:srgbClr val="FFFFFF"/>
          </a:solidFill>
          <a:ln w="12700">
            <a:solidFill>
              <a:srgbClr val="FFFFFF"/>
            </a:solidFill>
            <a:prstDash val="solid"/>
          </a:ln>
        </p:spPr>
        <p:txBody>
          <a:bodyPr/>
          <a:lstStyle/>
          <a:p>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So: what do these representations encode?</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What the benchmark can and cannot tell us</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33</a:t>
            </a:r>
            <a:endParaRPr lang="en-US" sz="900" dirty="0"/>
          </a:p>
        </p:txBody>
      </p:sp>
      <p:sp>
        <p:nvSpPr>
          <p:cNvPr id="8" name="Shape 6"/>
          <p:cNvSpPr/>
          <p:nvPr/>
        </p:nvSpPr>
        <p:spPr>
          <a:xfrm>
            <a:off x="566928" y="1572768"/>
            <a:ext cx="5440680" cy="2286000"/>
          </a:xfrm>
          <a:prstGeom prst="roundRect">
            <a:avLst>
              <a:gd name="adj" fmla="val 2400"/>
            </a:avLst>
          </a:prstGeom>
          <a:solidFill>
            <a:srgbClr val="F3F5EC"/>
          </a:solidFill>
          <a:ln w="12700">
            <a:solidFill>
              <a:srgbClr val="E3E7D8"/>
            </a:solidFill>
            <a:prstDash val="solid"/>
          </a:ln>
        </p:spPr>
        <p:txBody>
          <a:bodyPr/>
          <a:lstStyle/>
          <a:p>
            <a:endParaRPr lang="en-US"/>
          </a:p>
        </p:txBody>
      </p:sp>
      <p:sp>
        <p:nvSpPr>
          <p:cNvPr id="9" name="Shape 7"/>
          <p:cNvSpPr/>
          <p:nvPr/>
        </p:nvSpPr>
        <p:spPr>
          <a:xfrm>
            <a:off x="786384" y="1865376"/>
            <a:ext cx="109728" cy="109728"/>
          </a:xfrm>
          <a:prstGeom prst="ellipse">
            <a:avLst/>
          </a:prstGeom>
          <a:solidFill>
            <a:srgbClr val="5F6B3A"/>
          </a:solidFill>
          <a:ln w="12700">
            <a:solidFill>
              <a:srgbClr val="333333"/>
            </a:solidFill>
            <a:prstDash val="solid"/>
          </a:ln>
        </p:spPr>
        <p:txBody>
          <a:bodyPr/>
          <a:lstStyle/>
          <a:p>
            <a:endParaRPr lang="en-US"/>
          </a:p>
        </p:txBody>
      </p:sp>
      <p:sp>
        <p:nvSpPr>
          <p:cNvPr id="10" name="Text 8"/>
          <p:cNvSpPr txBox="1"/>
          <p:nvPr/>
        </p:nvSpPr>
        <p:spPr>
          <a:xfrm>
            <a:off x="987552" y="1737360"/>
            <a:ext cx="4800600" cy="365760"/>
          </a:xfrm>
          <a:prstGeom prst="rect">
            <a:avLst/>
          </a:prstGeom>
          <a:noFill/>
          <a:ln/>
        </p:spPr>
        <p:txBody>
          <a:bodyPr wrap="square" lIns="0" tIns="0" rIns="0" bIns="0" rtlCol="0" anchor="ctr"/>
          <a:lstStyle/>
          <a:p>
            <a:pPr marL="0" indent="0">
              <a:buNone/>
            </a:pPr>
            <a:r>
              <a:rPr lang="en-US" sz="1500" b="1" dirty="0">
                <a:solidFill>
                  <a:srgbClr val="1E2116"/>
                </a:solidFill>
                <a:latin typeface="Cambria" pitchFamily="34" charset="0"/>
                <a:ea typeface="Cambria" pitchFamily="34" charset="-122"/>
                <a:cs typeface="Cambria" pitchFamily="34" charset="-120"/>
              </a:rPr>
              <a:t>What it can answer</a:t>
            </a:r>
            <a:endParaRPr lang="en-US" sz="1500" dirty="0"/>
          </a:p>
        </p:txBody>
      </p:sp>
      <p:sp>
        <p:nvSpPr>
          <p:cNvPr id="11" name="Text 9"/>
          <p:cNvSpPr txBox="1"/>
          <p:nvPr/>
        </p:nvSpPr>
        <p:spPr>
          <a:xfrm>
            <a:off x="822960" y="2176272"/>
            <a:ext cx="4928616" cy="1499616"/>
          </a:xfrm>
          <a:prstGeom prst="rect">
            <a:avLst/>
          </a:prstGeom>
          <a:noFill/>
          <a:ln/>
        </p:spPr>
        <p:txBody>
          <a:bodyPr wrap="square" lIns="0" tIns="0" rIns="0" bIns="0" rtlCol="0" anchor="t"/>
          <a:lstStyle/>
          <a:p>
            <a:pPr marL="0" indent="0">
              <a:lnSpc>
                <a:spcPct val="108000"/>
              </a:lnSpc>
              <a:buNone/>
            </a:pPr>
            <a:r>
              <a:rPr lang="en-US" sz="1260" dirty="0">
                <a:solidFill>
                  <a:srgbClr val="323726"/>
                </a:solidFill>
                <a:latin typeface="Calibri" pitchFamily="34" charset="0"/>
                <a:ea typeface="Calibri" pitchFamily="34" charset="-122"/>
                <a:cs typeface="Calibri" pitchFamily="34" charset="-120"/>
              </a:rPr>
              <a:t>Is phonetic content linearly decodable from frozen features? Yes, strikingly so.</a:t>
            </a:r>
            <a:endParaRPr lang="en-US" sz="1260" dirty="0"/>
          </a:p>
          <a:p>
            <a:pPr marL="0" indent="0">
              <a:lnSpc>
                <a:spcPct val="108000"/>
              </a:lnSpc>
              <a:buNone/>
            </a:pPr>
            <a:endParaRPr lang="en-US" sz="1260" dirty="0"/>
          </a:p>
          <a:p>
            <a:pPr marL="0" indent="0">
              <a:lnSpc>
                <a:spcPct val="108000"/>
              </a:lnSpc>
              <a:buNone/>
            </a:pPr>
            <a:r>
              <a:rPr lang="en-US" sz="1260" dirty="0">
                <a:solidFill>
                  <a:srgbClr val="323726"/>
                </a:solidFill>
                <a:latin typeface="Calibri" pitchFamily="34" charset="0"/>
                <a:ea typeface="Calibri" pitchFamily="34" charset="-122"/>
                <a:cs typeface="Calibri" pitchFamily="34" charset="-120"/>
              </a:rPr>
              <a:t>Is speaker identity present in a closed-set sense? Yes. In an open-set sense? Much less than you would assume.</a:t>
            </a:r>
            <a:endParaRPr lang="en-US" sz="1260" dirty="0"/>
          </a:p>
          <a:p>
            <a:pPr marL="0" indent="0">
              <a:lnSpc>
                <a:spcPct val="108000"/>
              </a:lnSpc>
              <a:buNone/>
            </a:pPr>
            <a:endParaRPr lang="en-US" sz="1260" dirty="0"/>
          </a:p>
          <a:p>
            <a:pPr marL="0" indent="0">
              <a:lnSpc>
                <a:spcPct val="108000"/>
              </a:lnSpc>
              <a:buNone/>
            </a:pPr>
            <a:r>
              <a:rPr lang="en-US" sz="1260" dirty="0">
                <a:solidFill>
                  <a:srgbClr val="323726"/>
                </a:solidFill>
                <a:latin typeface="Calibri" pitchFamily="34" charset="0"/>
                <a:ea typeface="Calibri" pitchFamily="34" charset="-122"/>
                <a:cs typeface="Calibri" pitchFamily="34" charset="-120"/>
              </a:rPr>
              <a:t>Is high-level intent recoverable without transcription? Yes, almost perfectly.</a:t>
            </a:r>
            <a:endParaRPr lang="en-US" sz="1260" dirty="0"/>
          </a:p>
          <a:p>
            <a:pPr marL="0" indent="0">
              <a:lnSpc>
                <a:spcPct val="108000"/>
              </a:lnSpc>
              <a:buNone/>
            </a:pPr>
            <a:endParaRPr lang="en-US" sz="1260" dirty="0"/>
          </a:p>
          <a:p>
            <a:pPr marL="0" indent="0">
              <a:lnSpc>
                <a:spcPct val="108000"/>
              </a:lnSpc>
              <a:buNone/>
            </a:pPr>
            <a:r>
              <a:rPr lang="en-US" sz="1260" dirty="0">
                <a:solidFill>
                  <a:srgbClr val="323726"/>
                </a:solidFill>
                <a:latin typeface="Calibri" pitchFamily="34" charset="0"/>
                <a:ea typeface="Calibri" pitchFamily="34" charset="-122"/>
                <a:cs typeface="Calibri" pitchFamily="34" charset="-120"/>
              </a:rPr>
              <a:t>Does any one model dominate across aspects? No.</a:t>
            </a:r>
            <a:endParaRPr lang="en-US" sz="1260" dirty="0"/>
          </a:p>
        </p:txBody>
      </p:sp>
      <p:sp>
        <p:nvSpPr>
          <p:cNvPr id="12" name="Shape 10"/>
          <p:cNvSpPr/>
          <p:nvPr/>
        </p:nvSpPr>
        <p:spPr>
          <a:xfrm>
            <a:off x="6190488" y="1572768"/>
            <a:ext cx="5440680" cy="2286000"/>
          </a:xfrm>
          <a:prstGeom prst="roundRect">
            <a:avLst>
              <a:gd name="adj" fmla="val 2400"/>
            </a:avLst>
          </a:prstGeom>
          <a:solidFill>
            <a:srgbClr val="F3F5EC"/>
          </a:solidFill>
          <a:ln w="12700">
            <a:solidFill>
              <a:srgbClr val="E3E7D8"/>
            </a:solidFill>
            <a:prstDash val="solid"/>
          </a:ln>
        </p:spPr>
        <p:txBody>
          <a:bodyPr/>
          <a:lstStyle/>
          <a:p>
            <a:endParaRPr lang="en-US"/>
          </a:p>
        </p:txBody>
      </p:sp>
      <p:sp>
        <p:nvSpPr>
          <p:cNvPr id="13" name="Shape 11"/>
          <p:cNvSpPr/>
          <p:nvPr/>
        </p:nvSpPr>
        <p:spPr>
          <a:xfrm>
            <a:off x="6409944" y="1865376"/>
            <a:ext cx="109728" cy="109728"/>
          </a:xfrm>
          <a:prstGeom prst="ellipse">
            <a:avLst/>
          </a:prstGeom>
          <a:solidFill>
            <a:srgbClr val="D9614C"/>
          </a:solidFill>
          <a:ln w="12700">
            <a:solidFill>
              <a:srgbClr val="333333"/>
            </a:solidFill>
            <a:prstDash val="solid"/>
          </a:ln>
        </p:spPr>
        <p:txBody>
          <a:bodyPr/>
          <a:lstStyle/>
          <a:p>
            <a:endParaRPr lang="en-US"/>
          </a:p>
        </p:txBody>
      </p:sp>
      <p:sp>
        <p:nvSpPr>
          <p:cNvPr id="14" name="Text 12"/>
          <p:cNvSpPr txBox="1"/>
          <p:nvPr/>
        </p:nvSpPr>
        <p:spPr>
          <a:xfrm>
            <a:off x="6611112" y="1737360"/>
            <a:ext cx="4800600" cy="365760"/>
          </a:xfrm>
          <a:prstGeom prst="rect">
            <a:avLst/>
          </a:prstGeom>
          <a:noFill/>
          <a:ln/>
        </p:spPr>
        <p:txBody>
          <a:bodyPr wrap="square" lIns="0" tIns="0" rIns="0" bIns="0" rtlCol="0" anchor="ctr"/>
          <a:lstStyle/>
          <a:p>
            <a:pPr marL="0" indent="0">
              <a:buNone/>
            </a:pPr>
            <a:r>
              <a:rPr lang="en-US" sz="1500" b="1" dirty="0">
                <a:solidFill>
                  <a:srgbClr val="1E2116"/>
                </a:solidFill>
                <a:latin typeface="Cambria" pitchFamily="34" charset="0"/>
                <a:ea typeface="Cambria" pitchFamily="34" charset="-122"/>
                <a:cs typeface="Cambria" pitchFamily="34" charset="-120"/>
              </a:rPr>
              <a:t>What it cannot answer</a:t>
            </a:r>
            <a:endParaRPr lang="en-US" sz="1500" dirty="0"/>
          </a:p>
        </p:txBody>
      </p:sp>
      <p:sp>
        <p:nvSpPr>
          <p:cNvPr id="15" name="Text 13"/>
          <p:cNvSpPr txBox="1"/>
          <p:nvPr/>
        </p:nvSpPr>
        <p:spPr>
          <a:xfrm>
            <a:off x="6446520" y="2176272"/>
            <a:ext cx="4928616" cy="1499616"/>
          </a:xfrm>
          <a:prstGeom prst="rect">
            <a:avLst/>
          </a:prstGeom>
          <a:noFill/>
          <a:ln/>
        </p:spPr>
        <p:txBody>
          <a:bodyPr wrap="square" lIns="0" tIns="0" rIns="0" bIns="0" rtlCol="0" anchor="t"/>
          <a:lstStyle/>
          <a:p>
            <a:pPr marL="0" indent="0">
              <a:lnSpc>
                <a:spcPct val="108000"/>
              </a:lnSpc>
              <a:buNone/>
            </a:pPr>
            <a:r>
              <a:rPr lang="en-US" sz="1260" dirty="0">
                <a:solidFill>
                  <a:srgbClr val="323726"/>
                </a:solidFill>
                <a:latin typeface="Calibri" pitchFamily="34" charset="0"/>
                <a:ea typeface="Calibri" pitchFamily="34" charset="-122"/>
                <a:cs typeface="Calibri" pitchFamily="34" charset="-120"/>
              </a:rPr>
              <a:t>Where in the model the information lives — though the learned layer weights would say, and are not reported.</a:t>
            </a:r>
            <a:endParaRPr lang="en-US" sz="1260" dirty="0"/>
          </a:p>
          <a:p>
            <a:pPr marL="0" indent="0">
              <a:lnSpc>
                <a:spcPct val="108000"/>
              </a:lnSpc>
              <a:buNone/>
            </a:pPr>
            <a:endParaRPr lang="en-US" sz="1260" dirty="0"/>
          </a:p>
          <a:p>
            <a:pPr marL="0" indent="0">
              <a:lnSpc>
                <a:spcPct val="108000"/>
              </a:lnSpc>
              <a:buNone/>
            </a:pPr>
            <a:r>
              <a:rPr lang="en-US" sz="1260" dirty="0">
                <a:solidFill>
                  <a:srgbClr val="323726"/>
                </a:solidFill>
                <a:latin typeface="Calibri" pitchFamily="34" charset="0"/>
                <a:ea typeface="Calibri" pitchFamily="34" charset="-122"/>
                <a:cs typeface="Calibri" pitchFamily="34" charset="-120"/>
              </a:rPr>
              <a:t>Whether information absent from a linear probe is absent from the model.</a:t>
            </a:r>
            <a:endParaRPr lang="en-US" sz="1260" dirty="0"/>
          </a:p>
          <a:p>
            <a:pPr marL="0" indent="0">
              <a:lnSpc>
                <a:spcPct val="108000"/>
              </a:lnSpc>
              <a:buNone/>
            </a:pPr>
            <a:endParaRPr lang="en-US" sz="1260" dirty="0"/>
          </a:p>
          <a:p>
            <a:pPr marL="0" indent="0">
              <a:lnSpc>
                <a:spcPct val="108000"/>
              </a:lnSpc>
              <a:buNone/>
            </a:pPr>
            <a:r>
              <a:rPr lang="en-US" sz="1260" dirty="0">
                <a:solidFill>
                  <a:srgbClr val="323726"/>
                </a:solidFill>
                <a:latin typeface="Calibri" pitchFamily="34" charset="0"/>
                <a:ea typeface="Calibri" pitchFamily="34" charset="-122"/>
                <a:cs typeface="Calibri" pitchFamily="34" charset="-120"/>
              </a:rPr>
              <a:t>Whether a low score means weak encoding, non-linear encoding, or a noisy label set.</a:t>
            </a:r>
            <a:endParaRPr lang="en-US" sz="1260" dirty="0"/>
          </a:p>
          <a:p>
            <a:pPr marL="0" indent="0">
              <a:lnSpc>
                <a:spcPct val="108000"/>
              </a:lnSpc>
              <a:buNone/>
            </a:pPr>
            <a:endParaRPr lang="en-US" sz="1260" dirty="0"/>
          </a:p>
          <a:p>
            <a:pPr marL="0" indent="0">
              <a:lnSpc>
                <a:spcPct val="108000"/>
              </a:lnSpc>
              <a:buNone/>
            </a:pPr>
            <a:r>
              <a:rPr lang="en-US" sz="1260" dirty="0">
                <a:solidFill>
                  <a:srgbClr val="323726"/>
                </a:solidFill>
                <a:latin typeface="Calibri" pitchFamily="34" charset="0"/>
                <a:ea typeface="Calibri" pitchFamily="34" charset="-122"/>
                <a:cs typeface="Calibri" pitchFamily="34" charset="-120"/>
              </a:rPr>
              <a:t>Whether performance reflects representation quality or domain match.</a:t>
            </a:r>
            <a:endParaRPr lang="en-US" sz="1260" dirty="0"/>
          </a:p>
        </p:txBody>
      </p:sp>
      <p:sp>
        <p:nvSpPr>
          <p:cNvPr id="16" name="Shape 14"/>
          <p:cNvSpPr/>
          <p:nvPr/>
        </p:nvSpPr>
        <p:spPr>
          <a:xfrm>
            <a:off x="566928" y="4059936"/>
            <a:ext cx="11064240" cy="1993392"/>
          </a:xfrm>
          <a:prstGeom prst="roundRect">
            <a:avLst>
              <a:gd name="adj" fmla="val 2752"/>
            </a:avLst>
          </a:prstGeom>
          <a:solidFill>
            <a:srgbClr val="2A2E1E"/>
          </a:solidFill>
          <a:ln w="12700">
            <a:solidFill>
              <a:srgbClr val="2A2E1E"/>
            </a:solidFill>
            <a:prstDash val="solid"/>
          </a:ln>
        </p:spPr>
        <p:txBody>
          <a:bodyPr/>
          <a:lstStyle/>
          <a:p>
            <a:endParaRPr lang="en-US"/>
          </a:p>
        </p:txBody>
      </p:sp>
      <p:sp>
        <p:nvSpPr>
          <p:cNvPr id="17" name="Shape 15"/>
          <p:cNvSpPr/>
          <p:nvPr/>
        </p:nvSpPr>
        <p:spPr>
          <a:xfrm>
            <a:off x="786384" y="4352544"/>
            <a:ext cx="109728" cy="109728"/>
          </a:xfrm>
          <a:prstGeom prst="ellipse">
            <a:avLst/>
          </a:prstGeom>
          <a:solidFill>
            <a:srgbClr val="D9614C"/>
          </a:solidFill>
          <a:ln w="12700">
            <a:solidFill>
              <a:srgbClr val="333333"/>
            </a:solidFill>
            <a:prstDash val="solid"/>
          </a:ln>
        </p:spPr>
        <p:txBody>
          <a:bodyPr/>
          <a:lstStyle/>
          <a:p>
            <a:endParaRPr lang="en-US"/>
          </a:p>
        </p:txBody>
      </p:sp>
      <p:sp>
        <p:nvSpPr>
          <p:cNvPr id="18" name="Text 16"/>
          <p:cNvSpPr txBox="1"/>
          <p:nvPr/>
        </p:nvSpPr>
        <p:spPr>
          <a:xfrm>
            <a:off x="987552" y="422452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honest formulation</a:t>
            </a:r>
            <a:endParaRPr lang="en-US" sz="1500" dirty="0"/>
          </a:p>
        </p:txBody>
      </p:sp>
      <p:sp>
        <p:nvSpPr>
          <p:cNvPr id="19" name="Text 17"/>
          <p:cNvSpPr txBox="1"/>
          <p:nvPr/>
        </p:nvSpPr>
        <p:spPr>
          <a:xfrm>
            <a:off x="822960" y="4663440"/>
            <a:ext cx="10552176" cy="1207008"/>
          </a:xfrm>
          <a:prstGeom prst="rect">
            <a:avLst/>
          </a:prstGeom>
          <a:noFill/>
          <a:ln/>
        </p:spPr>
        <p:txBody>
          <a:bodyPr wrap="square" lIns="0" tIns="0" rIns="0" bIns="0" rtlCol="0" anchor="t"/>
          <a:lstStyle/>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SUPERB measures the downstream utility of frozen representations under a fixed, well-specified protocol. That is a valuable and previously missing measurement, and it is not the same as characterising what the representations encode.</a:t>
            </a:r>
            <a:endParaRPr lang="en-US" sz="1300" dirty="0"/>
          </a:p>
          <a:p>
            <a:pPr marL="0" indent="0">
              <a:lnSpc>
                <a:spcPct val="108000"/>
              </a:lnSpc>
              <a:buNone/>
            </a:pPr>
            <a:endParaRPr lang="en-US" sz="1300" dirty="0"/>
          </a:p>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The probing and layer-analysis literature answers the second question; SUPERB answers the first. The field has often read the first as evidence for the second.</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4">
    <p:bg>
      <p:bgPr>
        <a:solidFill>
          <a:srgbClr val="2A2E1E"/>
        </a:solidFill>
        <a:effectLst/>
      </p:bgPr>
    </p:bg>
    <p:spTree>
      <p:nvGrpSpPr>
        <p:cNvPr id="1" name=""/>
        <p:cNvGrpSpPr/>
        <p:nvPr/>
      </p:nvGrpSpPr>
      <p:grpSpPr>
        <a:xfrm>
          <a:off x="0" y="0"/>
          <a:ext cx="0" cy="0"/>
          <a:chOff x="0" y="0"/>
          <a:chExt cx="0" cy="0"/>
        </a:xfrm>
      </p:grpSpPr>
      <p:sp>
        <p:nvSpPr>
          <p:cNvPr id="2" name="Shape 0"/>
          <p:cNvSpPr/>
          <p:nvPr/>
        </p:nvSpPr>
        <p:spPr>
          <a:xfrm>
            <a:off x="10607040" y="5303520"/>
            <a:ext cx="804672" cy="137160"/>
          </a:xfrm>
          <a:prstGeom prst="roundRect">
            <a:avLst>
              <a:gd name="adj" fmla="val 13333"/>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0607040" y="5513832"/>
            <a:ext cx="548640" cy="137160"/>
          </a:xfrm>
          <a:prstGeom prst="roundRect">
            <a:avLst>
              <a:gd name="adj" fmla="val 13333"/>
            </a:avLst>
          </a:prstGeom>
          <a:solidFill>
            <a:srgbClr val="D6DCC0"/>
          </a:solidFill>
          <a:ln w="12700">
            <a:solidFill>
              <a:srgbClr val="333333"/>
            </a:solidFill>
            <a:prstDash val="solid"/>
          </a:ln>
        </p:spPr>
        <p:txBody>
          <a:bodyPr/>
          <a:lstStyle/>
          <a:p>
            <a:endParaRPr lang="en-US"/>
          </a:p>
        </p:txBody>
      </p:sp>
      <p:sp>
        <p:nvSpPr>
          <p:cNvPr id="4" name="Shape 2"/>
          <p:cNvSpPr/>
          <p:nvPr/>
        </p:nvSpPr>
        <p:spPr>
          <a:xfrm>
            <a:off x="10607040" y="5724144"/>
            <a:ext cx="329184" cy="137160"/>
          </a:xfrm>
          <a:prstGeom prst="roundRect">
            <a:avLst>
              <a:gd name="adj" fmla="val 13333"/>
            </a:avLst>
          </a:prstGeom>
          <a:solidFill>
            <a:srgbClr val="D6DCC0"/>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D9614C"/>
                </a:solidFill>
                <a:latin typeface="Cambria" pitchFamily="34" charset="0"/>
                <a:ea typeface="Cambria" pitchFamily="34" charset="-122"/>
                <a:cs typeface="Cambria" pitchFamily="34" charset="-120"/>
              </a:rPr>
              <a:t>6</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Appraisal and legacy</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6DCC0"/>
                </a:solidFill>
                <a:latin typeface="Calibri" pitchFamily="34" charset="0"/>
                <a:ea typeface="Calibri" pitchFamily="34" charset="-122"/>
                <a:cs typeface="Calibri" pitchFamily="34" charset="-120"/>
              </a:rPr>
              <a:t>What SUPERB achieved, and what it became</a:t>
            </a:r>
            <a:endParaRPr lang="en-US" sz="1500" dirty="0"/>
          </a:p>
        </p:txBody>
      </p:sp>
      <p:sp>
        <p:nvSpPr>
          <p:cNvPr id="8" name="Text 6"/>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34</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Critical appraisal</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What the design buys, and what it costs</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35</a:t>
            </a:r>
            <a:endParaRPr lang="en-US" sz="900" dirty="0"/>
          </a:p>
        </p:txBody>
      </p:sp>
      <p:sp>
        <p:nvSpPr>
          <p:cNvPr id="8" name="Shape 6"/>
          <p:cNvSpPr/>
          <p:nvPr/>
        </p:nvSpPr>
        <p:spPr>
          <a:xfrm>
            <a:off x="566928" y="1554480"/>
            <a:ext cx="5440680" cy="4498848"/>
          </a:xfrm>
          <a:prstGeom prst="roundRect">
            <a:avLst>
              <a:gd name="adj" fmla="val 1220"/>
            </a:avLst>
          </a:prstGeom>
          <a:solidFill>
            <a:srgbClr val="F3F5EC"/>
          </a:solidFill>
          <a:ln w="12700">
            <a:solidFill>
              <a:srgbClr val="E3E7D8"/>
            </a:solidFill>
            <a:prstDash val="solid"/>
          </a:ln>
        </p:spPr>
        <p:txBody>
          <a:bodyPr/>
          <a:lstStyle/>
          <a:p>
            <a:endParaRPr lang="en-US"/>
          </a:p>
        </p:txBody>
      </p:sp>
      <p:sp>
        <p:nvSpPr>
          <p:cNvPr id="9" name="Shape 7"/>
          <p:cNvSpPr/>
          <p:nvPr/>
        </p:nvSpPr>
        <p:spPr>
          <a:xfrm>
            <a:off x="786384" y="1847088"/>
            <a:ext cx="109728" cy="109728"/>
          </a:xfrm>
          <a:prstGeom prst="ellipse">
            <a:avLst/>
          </a:prstGeom>
          <a:solidFill>
            <a:srgbClr val="5F6B3A"/>
          </a:solidFill>
          <a:ln w="12700">
            <a:solidFill>
              <a:srgbClr val="333333"/>
            </a:solidFill>
            <a:prstDash val="solid"/>
          </a:ln>
        </p:spPr>
        <p:txBody>
          <a:bodyPr/>
          <a:lstStyle/>
          <a:p>
            <a:endParaRPr lang="en-US"/>
          </a:p>
        </p:txBody>
      </p:sp>
      <p:sp>
        <p:nvSpPr>
          <p:cNvPr id="10" name="Text 8"/>
          <p:cNvSpPr txBox="1"/>
          <p:nvPr/>
        </p:nvSpPr>
        <p:spPr>
          <a:xfrm>
            <a:off x="987552" y="1719072"/>
            <a:ext cx="4800600" cy="365760"/>
          </a:xfrm>
          <a:prstGeom prst="rect">
            <a:avLst/>
          </a:prstGeom>
          <a:noFill/>
          <a:ln/>
        </p:spPr>
        <p:txBody>
          <a:bodyPr wrap="square" lIns="0" tIns="0" rIns="0" bIns="0" rtlCol="0" anchor="ctr"/>
          <a:lstStyle/>
          <a:p>
            <a:pPr marL="0" indent="0">
              <a:buNone/>
            </a:pPr>
            <a:r>
              <a:rPr lang="en-US" sz="1700" b="1" dirty="0">
                <a:solidFill>
                  <a:srgbClr val="1E2116"/>
                </a:solidFill>
                <a:latin typeface="Cambria" pitchFamily="34" charset="0"/>
                <a:ea typeface="Cambria" pitchFamily="34" charset="-122"/>
                <a:cs typeface="Cambria" pitchFamily="34" charset="-120"/>
              </a:rPr>
              <a:t>Strengths</a:t>
            </a:r>
            <a:endParaRPr lang="en-US" sz="1700" dirty="0"/>
          </a:p>
        </p:txBody>
      </p:sp>
      <p:sp>
        <p:nvSpPr>
          <p:cNvPr id="11" name="Text 9"/>
          <p:cNvSpPr txBox="1"/>
          <p:nvPr/>
        </p:nvSpPr>
        <p:spPr>
          <a:xfrm>
            <a:off x="822960" y="2157984"/>
            <a:ext cx="4928616" cy="3712464"/>
          </a:xfrm>
          <a:prstGeom prst="rect">
            <a:avLst/>
          </a:prstGeom>
          <a:noFill/>
          <a:ln/>
        </p:spPr>
        <p:txBody>
          <a:bodyPr wrap="square" lIns="0" tIns="0" rIns="0" bIns="0" rtlCol="0" anchor="t"/>
          <a:lstStyle/>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It made results comparable. Before this, no two speech SSL papers were measuring the same thing.</a:t>
            </a:r>
            <a:endParaRPr lang="en-US" sz="1240" dirty="0"/>
          </a:p>
          <a:p>
            <a:pPr marL="0" indent="0">
              <a:lnSpc>
                <a:spcPct val="108000"/>
              </a:lnSpc>
              <a:buNone/>
            </a:pPr>
            <a:endParaRPr lang="en-US" sz="1240" dirty="0"/>
          </a:p>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Ten tasks across four aspects, with conventional metrics each community already trusted.</a:t>
            </a:r>
            <a:endParaRPr lang="en-US" sz="1240" dirty="0"/>
          </a:p>
          <a:p>
            <a:pPr marL="0" indent="0">
              <a:lnSpc>
                <a:spcPct val="108000"/>
              </a:lnSpc>
              <a:buNone/>
            </a:pPr>
            <a:endParaRPr lang="en-US" sz="1240" dirty="0"/>
          </a:p>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The frozen-encoder constraint is the right one for a representation benchmark, and the weighted-layer-sum mechanism became standard practice across the field.</a:t>
            </a:r>
            <a:endParaRPr lang="en-US" sz="1240" dirty="0"/>
          </a:p>
          <a:p>
            <a:pPr marL="0" indent="0">
              <a:lnSpc>
                <a:spcPct val="108000"/>
              </a:lnSpc>
              <a:buNone/>
            </a:pPr>
            <a:endParaRPr lang="en-US" sz="1240" dirty="0"/>
          </a:p>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It revealed a real weakness — the filter-bank result on open-set speaker tasks — that directly motivated later models.</a:t>
            </a:r>
            <a:endParaRPr lang="en-US" sz="1240" dirty="0"/>
          </a:p>
          <a:p>
            <a:pPr marL="0" indent="0">
              <a:lnSpc>
                <a:spcPct val="108000"/>
              </a:lnSpc>
              <a:buNone/>
            </a:pPr>
            <a:endParaRPr lang="en-US" sz="1240" dirty="0"/>
          </a:p>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An open toolkit, s3prl, without which none of the above would have been adopted.</a:t>
            </a:r>
            <a:endParaRPr lang="en-US" sz="1240" dirty="0"/>
          </a:p>
          <a:p>
            <a:pPr marL="0" indent="0">
              <a:lnSpc>
                <a:spcPct val="108000"/>
              </a:lnSpc>
              <a:buNone/>
            </a:pPr>
            <a:endParaRPr lang="en-US" sz="1240" dirty="0"/>
          </a:p>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Deliberately limited labelled data, which is what makes it a representation benchmark at all.</a:t>
            </a:r>
            <a:endParaRPr lang="en-US" sz="1240" dirty="0"/>
          </a:p>
        </p:txBody>
      </p:sp>
      <p:sp>
        <p:nvSpPr>
          <p:cNvPr id="12" name="Shape 10"/>
          <p:cNvSpPr/>
          <p:nvPr/>
        </p:nvSpPr>
        <p:spPr>
          <a:xfrm>
            <a:off x="6190488" y="1554480"/>
            <a:ext cx="5440680" cy="4498848"/>
          </a:xfrm>
          <a:prstGeom prst="roundRect">
            <a:avLst>
              <a:gd name="adj" fmla="val 1220"/>
            </a:avLst>
          </a:prstGeom>
          <a:solidFill>
            <a:srgbClr val="F3F5EC"/>
          </a:solidFill>
          <a:ln w="12700">
            <a:solidFill>
              <a:srgbClr val="E3E7D8"/>
            </a:solidFill>
            <a:prstDash val="solid"/>
          </a:ln>
        </p:spPr>
        <p:txBody>
          <a:bodyPr/>
          <a:lstStyle/>
          <a:p>
            <a:endParaRPr lang="en-US"/>
          </a:p>
        </p:txBody>
      </p:sp>
      <p:sp>
        <p:nvSpPr>
          <p:cNvPr id="13" name="Shape 11"/>
          <p:cNvSpPr/>
          <p:nvPr/>
        </p:nvSpPr>
        <p:spPr>
          <a:xfrm>
            <a:off x="6409944" y="1847088"/>
            <a:ext cx="109728" cy="109728"/>
          </a:xfrm>
          <a:prstGeom prst="ellipse">
            <a:avLst/>
          </a:prstGeom>
          <a:solidFill>
            <a:srgbClr val="D9614C"/>
          </a:solidFill>
          <a:ln w="12700">
            <a:solidFill>
              <a:srgbClr val="333333"/>
            </a:solidFill>
            <a:prstDash val="solid"/>
          </a:ln>
        </p:spPr>
        <p:txBody>
          <a:bodyPr/>
          <a:lstStyle/>
          <a:p>
            <a:endParaRPr lang="en-US"/>
          </a:p>
        </p:txBody>
      </p:sp>
      <p:sp>
        <p:nvSpPr>
          <p:cNvPr id="14" name="Text 12"/>
          <p:cNvSpPr txBox="1"/>
          <p:nvPr/>
        </p:nvSpPr>
        <p:spPr>
          <a:xfrm>
            <a:off x="6611112" y="1719072"/>
            <a:ext cx="4800600" cy="365760"/>
          </a:xfrm>
          <a:prstGeom prst="rect">
            <a:avLst/>
          </a:prstGeom>
          <a:noFill/>
          <a:ln/>
        </p:spPr>
        <p:txBody>
          <a:bodyPr wrap="square" lIns="0" tIns="0" rIns="0" bIns="0" rtlCol="0" anchor="ctr"/>
          <a:lstStyle/>
          <a:p>
            <a:pPr marL="0" indent="0">
              <a:buNone/>
            </a:pPr>
            <a:r>
              <a:rPr lang="en-US" sz="1700" b="1" dirty="0">
                <a:solidFill>
                  <a:srgbClr val="1E2116"/>
                </a:solidFill>
                <a:latin typeface="Cambria" pitchFamily="34" charset="0"/>
                <a:ea typeface="Cambria" pitchFamily="34" charset="-122"/>
                <a:cs typeface="Cambria" pitchFamily="34" charset="-120"/>
              </a:rPr>
              <a:t>Limitations</a:t>
            </a:r>
            <a:endParaRPr lang="en-US" sz="1700" dirty="0"/>
          </a:p>
        </p:txBody>
      </p:sp>
      <p:sp>
        <p:nvSpPr>
          <p:cNvPr id="15" name="Text 13"/>
          <p:cNvSpPr txBox="1"/>
          <p:nvPr/>
        </p:nvSpPr>
        <p:spPr>
          <a:xfrm>
            <a:off x="6446520" y="2157984"/>
            <a:ext cx="4928616" cy="3712464"/>
          </a:xfrm>
          <a:prstGeom prst="rect">
            <a:avLst/>
          </a:prstGeom>
          <a:noFill/>
          <a:ln/>
        </p:spPr>
        <p:txBody>
          <a:bodyPr wrap="square" lIns="0" tIns="0" rIns="0" bIns="0" rtlCol="0" anchor="t"/>
          <a:lstStyle/>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Four of ten tasks are content; one is paralinguistics, and it is IEMOCAP four-class.</a:t>
            </a:r>
            <a:endParaRPr lang="en-US" sz="1240" dirty="0"/>
          </a:p>
          <a:p>
            <a:pPr marL="0" indent="0">
              <a:lnSpc>
                <a:spcPct val="108000"/>
              </a:lnSpc>
              <a:buNone/>
            </a:pPr>
            <a:endParaRPr lang="en-US" sz="1240" dirty="0"/>
          </a:p>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Head capacity varies enormously, so the columns are not commensurable as representation measures.</a:t>
            </a:r>
            <a:endParaRPr lang="en-US" sz="1240" dirty="0"/>
          </a:p>
          <a:p>
            <a:pPr marL="0" indent="0">
              <a:lnSpc>
                <a:spcPct val="108000"/>
              </a:lnSpc>
              <a:buNone/>
            </a:pPr>
            <a:endParaRPr lang="en-US" sz="1240" dirty="0"/>
          </a:p>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Roughly a third of the benchmark is in-domain for the models being ranked.</a:t>
            </a:r>
            <a:endParaRPr lang="en-US" sz="1240" dirty="0"/>
          </a:p>
          <a:p>
            <a:pPr marL="0" indent="0">
              <a:lnSpc>
                <a:spcPct val="108000"/>
              </a:lnSpc>
              <a:buNone/>
            </a:pPr>
            <a:endParaRPr lang="en-US" sz="1240" dirty="0"/>
          </a:p>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The probing claim is asserted without control tasks, non-linear baselines or selectivity measures.</a:t>
            </a:r>
            <a:endParaRPr lang="en-US" sz="1240" dirty="0"/>
          </a:p>
          <a:p>
            <a:pPr marL="0" indent="0">
              <a:lnSpc>
                <a:spcPct val="108000"/>
              </a:lnSpc>
              <a:buNone/>
            </a:pPr>
            <a:endParaRPr lang="en-US" sz="1240" dirty="0"/>
          </a:p>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The learned layer weights — a free interpretability result — are never reported.</a:t>
            </a:r>
            <a:endParaRPr lang="en-US" sz="1240" dirty="0"/>
          </a:p>
          <a:p>
            <a:pPr marL="0" indent="0">
              <a:lnSpc>
                <a:spcPct val="108000"/>
              </a:lnSpc>
              <a:buNone/>
            </a:pPr>
            <a:endParaRPr lang="en-US" sz="1240" dirty="0"/>
          </a:p>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English only, discriminative tasks only, and the models compared differ in size, data and objective simultaneously.</a:t>
            </a:r>
            <a:endParaRPr lang="en-US" sz="124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What SUPERB became</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A benchmark that grew into a family</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36</a:t>
            </a:r>
            <a:endParaRPr lang="en-US" sz="900" dirty="0"/>
          </a:p>
        </p:txBody>
      </p:sp>
      <p:sp>
        <p:nvSpPr>
          <p:cNvPr id="8" name="Shape 6"/>
          <p:cNvSpPr/>
          <p:nvPr/>
        </p:nvSpPr>
        <p:spPr>
          <a:xfrm>
            <a:off x="566928" y="1536192"/>
            <a:ext cx="11064240" cy="822960"/>
          </a:xfrm>
          <a:prstGeom prst="roundRect">
            <a:avLst>
              <a:gd name="adj" fmla="val 3333"/>
            </a:avLst>
          </a:prstGeom>
          <a:solidFill>
            <a:srgbClr val="F3F5EC"/>
          </a:solidFill>
          <a:ln w="12700">
            <a:solidFill>
              <a:srgbClr val="E9EDE1"/>
            </a:solidFill>
            <a:prstDash val="solid"/>
          </a:ln>
        </p:spPr>
        <p:txBody>
          <a:bodyPr/>
          <a:lstStyle/>
          <a:p>
            <a:endParaRPr lang="en-US"/>
          </a:p>
        </p:txBody>
      </p:sp>
      <p:sp>
        <p:nvSpPr>
          <p:cNvPr id="9" name="Shape 7"/>
          <p:cNvSpPr/>
          <p:nvPr/>
        </p:nvSpPr>
        <p:spPr>
          <a:xfrm>
            <a:off x="786384" y="1888236"/>
            <a:ext cx="118872" cy="118872"/>
          </a:xfrm>
          <a:prstGeom prst="ellipse">
            <a:avLst/>
          </a:prstGeom>
          <a:solidFill>
            <a:srgbClr val="5F6B3A"/>
          </a:solidFill>
          <a:ln w="12700">
            <a:solidFill>
              <a:srgbClr val="333333"/>
            </a:solidFill>
            <a:prstDash val="solid"/>
          </a:ln>
        </p:spPr>
        <p:txBody>
          <a:bodyPr/>
          <a:lstStyle/>
          <a:p>
            <a:endParaRPr lang="en-US"/>
          </a:p>
        </p:txBody>
      </p:sp>
      <p:sp>
        <p:nvSpPr>
          <p:cNvPr id="10" name="Text 8"/>
          <p:cNvSpPr txBox="1"/>
          <p:nvPr/>
        </p:nvSpPr>
        <p:spPr>
          <a:xfrm>
            <a:off x="1024128" y="1627632"/>
            <a:ext cx="2468880" cy="640080"/>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SUPERB-SG</a:t>
            </a:r>
            <a:endParaRPr lang="en-US" sz="1300" dirty="0"/>
          </a:p>
        </p:txBody>
      </p:sp>
      <p:sp>
        <p:nvSpPr>
          <p:cNvPr id="11" name="Text 9"/>
          <p:cNvSpPr txBox="1"/>
          <p:nvPr/>
        </p:nvSpPr>
        <p:spPr>
          <a:xfrm>
            <a:off x="3675888" y="1609344"/>
            <a:ext cx="7772400" cy="676656"/>
          </a:xfrm>
          <a:prstGeom prst="rect">
            <a:avLst/>
          </a:prstGeom>
          <a:noFill/>
          <a:ln/>
        </p:spPr>
        <p:txBody>
          <a:bodyPr wrap="square" lIns="0" tIns="0" rIns="0" bIns="0" rtlCol="0" anchor="ctr"/>
          <a:lstStyle/>
          <a:p>
            <a:pPr marL="0" indent="0">
              <a:buNone/>
            </a:pPr>
            <a:r>
              <a:rPr lang="en-US" sz="1190" dirty="0">
                <a:solidFill>
                  <a:srgbClr val="323726"/>
                </a:solidFill>
                <a:latin typeface="Calibri" pitchFamily="34" charset="0"/>
                <a:ea typeface="Calibri" pitchFamily="34" charset="-122"/>
                <a:cs typeface="Calibri" pitchFamily="34" charset="-120"/>
              </a:rPr>
              <a:t>Adds the generative and semantic tasks the first release deferred — speech translation, voice conversion, speech enhancement and separation. The fifteen-task version that WavLM reports on.</a:t>
            </a:r>
            <a:endParaRPr lang="en-US" sz="1190" dirty="0"/>
          </a:p>
        </p:txBody>
      </p:sp>
      <p:sp>
        <p:nvSpPr>
          <p:cNvPr id="12" name="Shape 10"/>
          <p:cNvSpPr/>
          <p:nvPr/>
        </p:nvSpPr>
        <p:spPr>
          <a:xfrm>
            <a:off x="566928" y="2414016"/>
            <a:ext cx="11064240" cy="822960"/>
          </a:xfrm>
          <a:prstGeom prst="roundRect">
            <a:avLst>
              <a:gd name="adj" fmla="val 3333"/>
            </a:avLst>
          </a:prstGeom>
          <a:solidFill>
            <a:srgbClr val="FFFFFF"/>
          </a:solidFill>
          <a:ln w="12700">
            <a:solidFill>
              <a:srgbClr val="E9EDE1"/>
            </a:solidFill>
            <a:prstDash val="solid"/>
          </a:ln>
        </p:spPr>
        <p:txBody>
          <a:bodyPr/>
          <a:lstStyle/>
          <a:p>
            <a:endParaRPr lang="en-US"/>
          </a:p>
        </p:txBody>
      </p:sp>
      <p:sp>
        <p:nvSpPr>
          <p:cNvPr id="13" name="Shape 11"/>
          <p:cNvSpPr/>
          <p:nvPr/>
        </p:nvSpPr>
        <p:spPr>
          <a:xfrm>
            <a:off x="786384" y="2766060"/>
            <a:ext cx="118872" cy="118872"/>
          </a:xfrm>
          <a:prstGeom prst="ellipse">
            <a:avLst/>
          </a:prstGeom>
          <a:solidFill>
            <a:srgbClr val="5F6B3A"/>
          </a:solidFill>
          <a:ln w="12700">
            <a:solidFill>
              <a:srgbClr val="333333"/>
            </a:solidFill>
            <a:prstDash val="solid"/>
          </a:ln>
        </p:spPr>
        <p:txBody>
          <a:bodyPr/>
          <a:lstStyle/>
          <a:p>
            <a:endParaRPr lang="en-US"/>
          </a:p>
        </p:txBody>
      </p:sp>
      <p:sp>
        <p:nvSpPr>
          <p:cNvPr id="14" name="Text 12"/>
          <p:cNvSpPr txBox="1"/>
          <p:nvPr/>
        </p:nvSpPr>
        <p:spPr>
          <a:xfrm>
            <a:off x="1024128" y="2505456"/>
            <a:ext cx="2468880" cy="640080"/>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ML-SUPERB</a:t>
            </a:r>
            <a:endParaRPr lang="en-US" sz="1300" dirty="0"/>
          </a:p>
        </p:txBody>
      </p:sp>
      <p:sp>
        <p:nvSpPr>
          <p:cNvPr id="15" name="Text 13"/>
          <p:cNvSpPr txBox="1"/>
          <p:nvPr/>
        </p:nvSpPr>
        <p:spPr>
          <a:xfrm>
            <a:off x="3675888" y="2487168"/>
            <a:ext cx="7772400" cy="676656"/>
          </a:xfrm>
          <a:prstGeom prst="rect">
            <a:avLst/>
          </a:prstGeom>
          <a:noFill/>
          <a:ln/>
        </p:spPr>
        <p:txBody>
          <a:bodyPr wrap="square" lIns="0" tIns="0" rIns="0" bIns="0" rtlCol="0" anchor="ctr"/>
          <a:lstStyle/>
          <a:p>
            <a:pPr marL="0" indent="0">
              <a:buNone/>
            </a:pPr>
            <a:r>
              <a:rPr lang="en-US" sz="1190" dirty="0">
                <a:solidFill>
                  <a:srgbClr val="323726"/>
                </a:solidFill>
                <a:latin typeface="Calibri" pitchFamily="34" charset="0"/>
                <a:ea typeface="Calibri" pitchFamily="34" charset="-122"/>
                <a:cs typeface="Calibri" pitchFamily="34" charset="-120"/>
              </a:rPr>
              <a:t>The multilingual extension, covering more than a hundred languages, and a direct answer to the English-only limitation acknowledged here.</a:t>
            </a:r>
            <a:endParaRPr lang="en-US" sz="1190" dirty="0"/>
          </a:p>
        </p:txBody>
      </p:sp>
      <p:sp>
        <p:nvSpPr>
          <p:cNvPr id="16" name="Shape 14"/>
          <p:cNvSpPr/>
          <p:nvPr/>
        </p:nvSpPr>
        <p:spPr>
          <a:xfrm>
            <a:off x="566928" y="3291840"/>
            <a:ext cx="11064240" cy="822960"/>
          </a:xfrm>
          <a:prstGeom prst="roundRect">
            <a:avLst>
              <a:gd name="adj" fmla="val 3333"/>
            </a:avLst>
          </a:prstGeom>
          <a:solidFill>
            <a:srgbClr val="F3F5EC"/>
          </a:solidFill>
          <a:ln w="12700">
            <a:solidFill>
              <a:srgbClr val="E9EDE1"/>
            </a:solidFill>
            <a:prstDash val="solid"/>
          </a:ln>
        </p:spPr>
        <p:txBody>
          <a:bodyPr/>
          <a:lstStyle/>
          <a:p>
            <a:endParaRPr lang="en-US"/>
          </a:p>
        </p:txBody>
      </p:sp>
      <p:sp>
        <p:nvSpPr>
          <p:cNvPr id="17" name="Shape 15"/>
          <p:cNvSpPr/>
          <p:nvPr/>
        </p:nvSpPr>
        <p:spPr>
          <a:xfrm>
            <a:off x="786384" y="3643884"/>
            <a:ext cx="118872" cy="118872"/>
          </a:xfrm>
          <a:prstGeom prst="ellipse">
            <a:avLst/>
          </a:prstGeom>
          <a:solidFill>
            <a:srgbClr val="5F6B3A"/>
          </a:solidFill>
          <a:ln w="12700">
            <a:solidFill>
              <a:srgbClr val="333333"/>
            </a:solidFill>
            <a:prstDash val="solid"/>
          </a:ln>
        </p:spPr>
        <p:txBody>
          <a:bodyPr/>
          <a:lstStyle/>
          <a:p>
            <a:endParaRPr lang="en-US"/>
          </a:p>
        </p:txBody>
      </p:sp>
      <p:sp>
        <p:nvSpPr>
          <p:cNvPr id="18" name="Text 16"/>
          <p:cNvSpPr txBox="1"/>
          <p:nvPr/>
        </p:nvSpPr>
        <p:spPr>
          <a:xfrm>
            <a:off x="1024128" y="3383280"/>
            <a:ext cx="2468880" cy="640080"/>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Dynamic-SUPERB</a:t>
            </a:r>
            <a:endParaRPr lang="en-US" sz="1300" dirty="0"/>
          </a:p>
        </p:txBody>
      </p:sp>
      <p:sp>
        <p:nvSpPr>
          <p:cNvPr id="19" name="Text 17"/>
          <p:cNvSpPr txBox="1"/>
          <p:nvPr/>
        </p:nvSpPr>
        <p:spPr>
          <a:xfrm>
            <a:off x="3675888" y="3364992"/>
            <a:ext cx="7772400" cy="676656"/>
          </a:xfrm>
          <a:prstGeom prst="rect">
            <a:avLst/>
          </a:prstGeom>
          <a:noFill/>
          <a:ln/>
        </p:spPr>
        <p:txBody>
          <a:bodyPr wrap="square" lIns="0" tIns="0" rIns="0" bIns="0" rtlCol="0" anchor="ctr"/>
          <a:lstStyle/>
          <a:p>
            <a:pPr marL="0" indent="0">
              <a:buNone/>
            </a:pPr>
            <a:r>
              <a:rPr lang="en-US" sz="1190" dirty="0">
                <a:solidFill>
                  <a:srgbClr val="323726"/>
                </a:solidFill>
                <a:latin typeface="Calibri" pitchFamily="34" charset="0"/>
                <a:ea typeface="Calibri" pitchFamily="34" charset="-122"/>
                <a:cs typeface="Calibri" pitchFamily="34" charset="-120"/>
              </a:rPr>
              <a:t>An instruction-tuning benchmark for speech, reframing evaluation around a model that follows natural-language task descriptions rather than a fixed set of heads.</a:t>
            </a:r>
            <a:endParaRPr lang="en-US" sz="1190" dirty="0"/>
          </a:p>
        </p:txBody>
      </p:sp>
      <p:sp>
        <p:nvSpPr>
          <p:cNvPr id="20" name="Shape 18"/>
          <p:cNvSpPr/>
          <p:nvPr/>
        </p:nvSpPr>
        <p:spPr>
          <a:xfrm>
            <a:off x="566928" y="4169664"/>
            <a:ext cx="11064240" cy="822960"/>
          </a:xfrm>
          <a:prstGeom prst="roundRect">
            <a:avLst>
              <a:gd name="adj" fmla="val 3333"/>
            </a:avLst>
          </a:prstGeom>
          <a:solidFill>
            <a:srgbClr val="FFFFFF"/>
          </a:solidFill>
          <a:ln w="12700">
            <a:solidFill>
              <a:srgbClr val="E9EDE1"/>
            </a:solidFill>
            <a:prstDash val="solid"/>
          </a:ln>
        </p:spPr>
        <p:txBody>
          <a:bodyPr/>
          <a:lstStyle/>
          <a:p>
            <a:endParaRPr lang="en-US"/>
          </a:p>
        </p:txBody>
      </p:sp>
      <p:sp>
        <p:nvSpPr>
          <p:cNvPr id="21" name="Shape 19"/>
          <p:cNvSpPr/>
          <p:nvPr/>
        </p:nvSpPr>
        <p:spPr>
          <a:xfrm>
            <a:off x="786384" y="4521708"/>
            <a:ext cx="118872" cy="118872"/>
          </a:xfrm>
          <a:prstGeom prst="ellipse">
            <a:avLst/>
          </a:prstGeom>
          <a:solidFill>
            <a:srgbClr val="5F6B3A"/>
          </a:solidFill>
          <a:ln w="12700">
            <a:solidFill>
              <a:srgbClr val="333333"/>
            </a:solidFill>
            <a:prstDash val="solid"/>
          </a:ln>
        </p:spPr>
        <p:txBody>
          <a:bodyPr/>
          <a:lstStyle/>
          <a:p>
            <a:endParaRPr lang="en-US"/>
          </a:p>
        </p:txBody>
      </p:sp>
      <p:sp>
        <p:nvSpPr>
          <p:cNvPr id="22" name="Text 20"/>
          <p:cNvSpPr txBox="1"/>
          <p:nvPr/>
        </p:nvSpPr>
        <p:spPr>
          <a:xfrm>
            <a:off x="1024128" y="4261104"/>
            <a:ext cx="2468880" cy="640080"/>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The protocol itself</a:t>
            </a:r>
            <a:endParaRPr lang="en-US" sz="1300" dirty="0"/>
          </a:p>
        </p:txBody>
      </p:sp>
      <p:sp>
        <p:nvSpPr>
          <p:cNvPr id="23" name="Text 21"/>
          <p:cNvSpPr txBox="1"/>
          <p:nvPr/>
        </p:nvSpPr>
        <p:spPr>
          <a:xfrm>
            <a:off x="3675888" y="4242816"/>
            <a:ext cx="7772400" cy="676656"/>
          </a:xfrm>
          <a:prstGeom prst="rect">
            <a:avLst/>
          </a:prstGeom>
          <a:noFill/>
          <a:ln/>
        </p:spPr>
        <p:txBody>
          <a:bodyPr wrap="square" lIns="0" tIns="0" rIns="0" bIns="0" rtlCol="0" anchor="ctr"/>
          <a:lstStyle/>
          <a:p>
            <a:pPr marL="0" indent="0">
              <a:buNone/>
            </a:pPr>
            <a:r>
              <a:rPr lang="en-US" sz="1190" dirty="0">
                <a:solidFill>
                  <a:srgbClr val="323726"/>
                </a:solidFill>
                <a:latin typeface="Calibri" pitchFamily="34" charset="0"/>
                <a:ea typeface="Calibri" pitchFamily="34" charset="-122"/>
                <a:cs typeface="Calibri" pitchFamily="34" charset="-120"/>
              </a:rPr>
              <a:t>The frozen-encoder, weighted-layer-sum, lightweight-head recipe became the default way to evaluate any new speech representation — including in papers that never cite SUPERB.</a:t>
            </a:r>
            <a:endParaRPr lang="en-US" sz="1190" dirty="0"/>
          </a:p>
        </p:txBody>
      </p:sp>
      <p:sp>
        <p:nvSpPr>
          <p:cNvPr id="24" name="Shape 22"/>
          <p:cNvSpPr/>
          <p:nvPr/>
        </p:nvSpPr>
        <p:spPr>
          <a:xfrm>
            <a:off x="566928" y="5047488"/>
            <a:ext cx="11064240" cy="822960"/>
          </a:xfrm>
          <a:prstGeom prst="roundRect">
            <a:avLst>
              <a:gd name="adj" fmla="val 3333"/>
            </a:avLst>
          </a:prstGeom>
          <a:solidFill>
            <a:srgbClr val="F3F5EC"/>
          </a:solidFill>
          <a:ln w="12700">
            <a:solidFill>
              <a:srgbClr val="E9EDE1"/>
            </a:solidFill>
            <a:prstDash val="solid"/>
          </a:ln>
        </p:spPr>
        <p:txBody>
          <a:bodyPr/>
          <a:lstStyle/>
          <a:p>
            <a:endParaRPr lang="en-US"/>
          </a:p>
        </p:txBody>
      </p:sp>
      <p:sp>
        <p:nvSpPr>
          <p:cNvPr id="25" name="Shape 23"/>
          <p:cNvSpPr/>
          <p:nvPr/>
        </p:nvSpPr>
        <p:spPr>
          <a:xfrm>
            <a:off x="786384" y="5399532"/>
            <a:ext cx="118872" cy="118872"/>
          </a:xfrm>
          <a:prstGeom prst="ellipse">
            <a:avLst/>
          </a:prstGeom>
          <a:solidFill>
            <a:srgbClr val="5F6B3A"/>
          </a:solidFill>
          <a:ln w="12700">
            <a:solidFill>
              <a:srgbClr val="333333"/>
            </a:solidFill>
            <a:prstDash val="solid"/>
          </a:ln>
        </p:spPr>
        <p:txBody>
          <a:bodyPr/>
          <a:lstStyle/>
          <a:p>
            <a:endParaRPr lang="en-US"/>
          </a:p>
        </p:txBody>
      </p:sp>
      <p:sp>
        <p:nvSpPr>
          <p:cNvPr id="26" name="Text 24"/>
          <p:cNvSpPr txBox="1"/>
          <p:nvPr/>
        </p:nvSpPr>
        <p:spPr>
          <a:xfrm>
            <a:off x="1024128" y="5138928"/>
            <a:ext cx="2468880" cy="640080"/>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The leaderboard effect</a:t>
            </a:r>
            <a:endParaRPr lang="en-US" sz="1300" dirty="0"/>
          </a:p>
        </p:txBody>
      </p:sp>
      <p:sp>
        <p:nvSpPr>
          <p:cNvPr id="27" name="Text 25"/>
          <p:cNvSpPr txBox="1"/>
          <p:nvPr/>
        </p:nvSpPr>
        <p:spPr>
          <a:xfrm>
            <a:off x="3675888" y="5120640"/>
            <a:ext cx="7772400" cy="676656"/>
          </a:xfrm>
          <a:prstGeom prst="rect">
            <a:avLst/>
          </a:prstGeom>
          <a:noFill/>
          <a:ln/>
        </p:spPr>
        <p:txBody>
          <a:bodyPr wrap="square" lIns="0" tIns="0" rIns="0" bIns="0" rtlCol="0" anchor="ctr"/>
          <a:lstStyle/>
          <a:p>
            <a:pPr marL="0" indent="0">
              <a:buNone/>
            </a:pPr>
            <a:r>
              <a:rPr lang="en-US" sz="1190" dirty="0">
                <a:solidFill>
                  <a:srgbClr val="323726"/>
                </a:solidFill>
                <a:latin typeface="Calibri" pitchFamily="34" charset="0"/>
                <a:ea typeface="Calibri" pitchFamily="34" charset="-122"/>
                <a:cs typeface="Calibri" pitchFamily="34" charset="-120"/>
              </a:rPr>
              <a:t>Models began to be designed against these ten columns. WavLM's introduction reads as a direct response to two of them, and its denoising objective targets the speaker tasks this benchmark showed were weak.</a:t>
            </a:r>
            <a:endParaRPr lang="en-US" sz="1190" dirty="0"/>
          </a:p>
        </p:txBody>
      </p:sp>
      <p:sp>
        <p:nvSpPr>
          <p:cNvPr id="28" name="Shape 26"/>
          <p:cNvSpPr/>
          <p:nvPr/>
        </p:nvSpPr>
        <p:spPr>
          <a:xfrm>
            <a:off x="566928" y="5943600"/>
            <a:ext cx="11064240" cy="18288"/>
          </a:xfrm>
          <a:prstGeom prst="roundRect">
            <a:avLst>
              <a:gd name="adj" fmla="val 300000"/>
            </a:avLst>
          </a:prstGeom>
          <a:solidFill>
            <a:srgbClr val="FFFFFF"/>
          </a:solidFill>
          <a:ln w="12700">
            <a:solidFill>
              <a:srgbClr val="FFFFFF"/>
            </a:solidFill>
            <a:prstDash val="solid"/>
          </a:ln>
        </p:spPr>
        <p:txBody>
          <a:bodyPr/>
          <a:lstStyle/>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The ER column, revisited</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What this benchmark means for affective computing</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37</a:t>
            </a:r>
            <a:endParaRPr lang="en-US" sz="900" dirty="0"/>
          </a:p>
        </p:txBody>
      </p:sp>
      <p:sp>
        <p:nvSpPr>
          <p:cNvPr id="8" name="Text 6"/>
          <p:cNvSpPr txBox="1"/>
          <p:nvPr/>
        </p:nvSpPr>
        <p:spPr>
          <a:xfrm>
            <a:off x="566928" y="1572768"/>
            <a:ext cx="11064240" cy="24688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323726"/>
                </a:solidFill>
                <a:latin typeface="Calibri" pitchFamily="34" charset="0"/>
                <a:ea typeface="Calibri" pitchFamily="34" charset="-122"/>
                <a:cs typeface="Calibri" pitchFamily="34" charset="-120"/>
              </a:rPr>
              <a:t>One task out of ten. Emotion recognition is the entire paralinguistics aspect of SUPERB.</a:t>
            </a:r>
            <a:endParaRPr lang="en-US" sz="1300" dirty="0"/>
          </a:p>
          <a:p>
            <a:pPr marL="342900" indent="-342900">
              <a:spcAft>
                <a:spcPts val="800"/>
              </a:spcAft>
              <a:buSzPct val="100000"/>
              <a:buChar char="●"/>
            </a:pPr>
            <a:r>
              <a:rPr lang="en-US" sz="1300" dirty="0">
                <a:solidFill>
                  <a:srgbClr val="323726"/>
                </a:solidFill>
                <a:latin typeface="Calibri" pitchFamily="34" charset="0"/>
                <a:ea typeface="Calibri" pitchFamily="34" charset="-122"/>
                <a:cs typeface="Calibri" pitchFamily="34" charset="-120"/>
              </a:rPr>
              <a:t>It is IEMOCAP four-class with the conventional protocol — which we established means merged excitement, discarded no-agreement turns, ten actors, and a Fleiss kappa of 0.27 among the original annotators.</a:t>
            </a:r>
            <a:endParaRPr lang="en-US" sz="1300" dirty="0"/>
          </a:p>
          <a:p>
            <a:pPr marL="342900" indent="-342900">
              <a:spcAft>
                <a:spcPts val="800"/>
              </a:spcAft>
              <a:buSzPct val="100000"/>
              <a:buChar char="●"/>
            </a:pPr>
            <a:r>
              <a:rPr lang="en-US" sz="1300" dirty="0">
                <a:solidFill>
                  <a:srgbClr val="323726"/>
                </a:solidFill>
                <a:latin typeface="Calibri" pitchFamily="34" charset="0"/>
                <a:ea typeface="Calibri" pitchFamily="34" charset="-122"/>
                <a:cs typeface="Calibri" pitchFamily="34" charset="-120"/>
              </a:rPr>
              <a:t>The spread between self-supervised models on this column is small: about eight points between APC and HuBERT Large, against seventy-eight points on phoneme recognition.</a:t>
            </a:r>
            <a:endParaRPr lang="en-US" sz="1300" dirty="0"/>
          </a:p>
          <a:p>
            <a:pPr marL="342900" indent="-342900">
              <a:spcAft>
                <a:spcPts val="800"/>
              </a:spcAft>
              <a:buSzPct val="100000"/>
              <a:buChar char="●"/>
            </a:pPr>
            <a:r>
              <a:rPr lang="en-US" sz="1300" dirty="0">
                <a:solidFill>
                  <a:srgbClr val="323726"/>
                </a:solidFill>
                <a:latin typeface="Calibri" pitchFamily="34" charset="0"/>
                <a:ea typeface="Calibri" pitchFamily="34" charset="-122"/>
                <a:cs typeface="Calibri" pitchFamily="34" charset="-120"/>
              </a:rPr>
              <a:t>Credit where due: SUPERB specifies five-fold cross-validation on standard splits, which is more than most IEMOCAP papers do, and it is why this column is comparable across papers at all.</a:t>
            </a:r>
            <a:endParaRPr lang="en-US" sz="1300" dirty="0"/>
          </a:p>
          <a:p>
            <a:pPr marL="342900" indent="-342900">
              <a:spcAft>
                <a:spcPts val="800"/>
              </a:spcAft>
              <a:buSzPct val="100000"/>
              <a:buChar char="●"/>
            </a:pPr>
            <a:r>
              <a:rPr lang="en-US" sz="1300" dirty="0">
                <a:solidFill>
                  <a:srgbClr val="323726"/>
                </a:solidFill>
                <a:latin typeface="Calibri" pitchFamily="34" charset="0"/>
                <a:ea typeface="Calibri" pitchFamily="34" charset="-122"/>
                <a:cs typeface="Calibri" pitchFamily="34" charset="-120"/>
              </a:rPr>
              <a:t>But a score of 67.6% on a label set that noisy is not the same kind of measurement as a 3.5% phone error rate, and averaging them into one number treats them as if it were.</a:t>
            </a:r>
            <a:endParaRPr lang="en-US" sz="1300" dirty="0"/>
          </a:p>
        </p:txBody>
      </p:sp>
      <p:sp>
        <p:nvSpPr>
          <p:cNvPr id="9" name="Shape 7"/>
          <p:cNvSpPr/>
          <p:nvPr/>
        </p:nvSpPr>
        <p:spPr>
          <a:xfrm>
            <a:off x="566928" y="4206240"/>
            <a:ext cx="11064240" cy="1847088"/>
          </a:xfrm>
          <a:prstGeom prst="roundRect">
            <a:avLst>
              <a:gd name="adj" fmla="val 2970"/>
            </a:avLst>
          </a:prstGeom>
          <a:solidFill>
            <a:srgbClr val="2A2E1E"/>
          </a:solidFill>
          <a:ln w="12700">
            <a:solidFill>
              <a:srgbClr val="2A2E1E"/>
            </a:solidFill>
            <a:prstDash val="solid"/>
          </a:ln>
        </p:spPr>
        <p:txBody>
          <a:bodyPr/>
          <a:lstStyle/>
          <a:p>
            <a:endParaRPr lang="en-US"/>
          </a:p>
        </p:txBody>
      </p:sp>
      <p:sp>
        <p:nvSpPr>
          <p:cNvPr id="10" name="Shape 8"/>
          <p:cNvSpPr/>
          <p:nvPr/>
        </p:nvSpPr>
        <p:spPr>
          <a:xfrm>
            <a:off x="786384" y="4498848"/>
            <a:ext cx="109728" cy="109728"/>
          </a:xfrm>
          <a:prstGeom prst="ellipse">
            <a:avLst/>
          </a:prstGeom>
          <a:solidFill>
            <a:srgbClr val="D9614C"/>
          </a:solidFill>
          <a:ln w="12700">
            <a:solidFill>
              <a:srgbClr val="333333"/>
            </a:solidFill>
            <a:prstDash val="solid"/>
          </a:ln>
        </p:spPr>
        <p:txBody>
          <a:bodyPr/>
          <a:lstStyle/>
          <a:p>
            <a:endParaRPr lang="en-US"/>
          </a:p>
        </p:txBody>
      </p:sp>
      <p:sp>
        <p:nvSpPr>
          <p:cNvPr id="11" name="Text 9"/>
          <p:cNvSpPr txBox="1"/>
          <p:nvPr/>
        </p:nvSpPr>
        <p:spPr>
          <a:xfrm>
            <a:off x="987552" y="4370832"/>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A concrete opportunity</a:t>
            </a:r>
            <a:endParaRPr lang="en-US" sz="1500" dirty="0"/>
          </a:p>
        </p:txBody>
      </p:sp>
      <p:sp>
        <p:nvSpPr>
          <p:cNvPr id="12" name="Text 10"/>
          <p:cNvSpPr txBox="1"/>
          <p:nvPr/>
        </p:nvSpPr>
        <p:spPr>
          <a:xfrm>
            <a:off x="822960" y="4809744"/>
            <a:ext cx="10552176" cy="1060704"/>
          </a:xfrm>
          <a:prstGeom prst="rect">
            <a:avLst/>
          </a:prstGeom>
          <a:noFill/>
          <a:ln/>
        </p:spPr>
        <p:txBody>
          <a:bodyPr wrap="square" lIns="0" tIns="0" rIns="0" bIns="0" rtlCol="0" anchor="t"/>
          <a:lstStyle/>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Everything we would need for a better paralinguistic benchmark exists: MSP-Podcast with defined speaker-independent splits and a non-retrieved control partition, CREMA-D with per-modality perceptual ratings, and rater distributions rather than majority votes.</a:t>
            </a:r>
            <a:endParaRPr lang="en-US" sz="1300" dirty="0"/>
          </a:p>
          <a:p>
            <a:pPr marL="0" indent="0">
              <a:lnSpc>
                <a:spcPct val="108000"/>
              </a:lnSpc>
              <a:buNone/>
            </a:pPr>
            <a:endParaRPr lang="en-US" sz="1300" dirty="0"/>
          </a:p>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What is missing is the aggregation into a protocol with the rigour SUPERB brought to the content tasks — and the willingness to report against a noise-aware ceiling rather than against 100%.</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Where this sits in the series</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Five sessions, one recurring problem</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38</a:t>
            </a:r>
            <a:endParaRPr lang="en-US" sz="900" dirty="0"/>
          </a:p>
        </p:txBody>
      </p:sp>
      <p:sp>
        <p:nvSpPr>
          <p:cNvPr id="8" name="Shape 6"/>
          <p:cNvSpPr/>
          <p:nvPr/>
        </p:nvSpPr>
        <p:spPr>
          <a:xfrm>
            <a:off x="566928" y="1572768"/>
            <a:ext cx="3584448" cy="2286000"/>
          </a:xfrm>
          <a:prstGeom prst="roundRect">
            <a:avLst>
              <a:gd name="adj" fmla="val 2400"/>
            </a:avLst>
          </a:prstGeom>
          <a:solidFill>
            <a:srgbClr val="F3F5EC"/>
          </a:solidFill>
          <a:ln w="12700">
            <a:solidFill>
              <a:srgbClr val="E3E7D8"/>
            </a:solidFill>
            <a:prstDash val="solid"/>
          </a:ln>
        </p:spPr>
        <p:txBody>
          <a:bodyPr/>
          <a:lstStyle/>
          <a:p>
            <a:endParaRPr lang="en-US"/>
          </a:p>
        </p:txBody>
      </p:sp>
      <p:sp>
        <p:nvSpPr>
          <p:cNvPr id="9" name="Shape 7"/>
          <p:cNvSpPr/>
          <p:nvPr/>
        </p:nvSpPr>
        <p:spPr>
          <a:xfrm>
            <a:off x="786384" y="1865376"/>
            <a:ext cx="109728" cy="109728"/>
          </a:xfrm>
          <a:prstGeom prst="ellipse">
            <a:avLst/>
          </a:prstGeom>
          <a:solidFill>
            <a:srgbClr val="5F6B3A"/>
          </a:solidFill>
          <a:ln w="12700">
            <a:solidFill>
              <a:srgbClr val="333333"/>
            </a:solidFill>
            <a:prstDash val="solid"/>
          </a:ln>
        </p:spPr>
        <p:txBody>
          <a:bodyPr/>
          <a:lstStyle/>
          <a:p>
            <a:endParaRPr lang="en-US"/>
          </a:p>
        </p:txBody>
      </p:sp>
      <p:sp>
        <p:nvSpPr>
          <p:cNvPr id="10" name="Text 8"/>
          <p:cNvSpPr txBox="1"/>
          <p:nvPr/>
        </p:nvSpPr>
        <p:spPr>
          <a:xfrm>
            <a:off x="987552" y="1737360"/>
            <a:ext cx="2944368" cy="365760"/>
          </a:xfrm>
          <a:prstGeom prst="rect">
            <a:avLst/>
          </a:prstGeom>
          <a:noFill/>
          <a:ln/>
        </p:spPr>
        <p:txBody>
          <a:bodyPr wrap="square" lIns="0" tIns="0" rIns="0" bIns="0" rtlCol="0" anchor="ctr"/>
          <a:lstStyle/>
          <a:p>
            <a:pPr marL="0" indent="0">
              <a:buNone/>
            </a:pPr>
            <a:r>
              <a:rPr lang="en-US" sz="1500" b="1" dirty="0">
                <a:solidFill>
                  <a:srgbClr val="1E2116"/>
                </a:solidFill>
                <a:latin typeface="Cambria" pitchFamily="34" charset="0"/>
                <a:ea typeface="Cambria" pitchFamily="34" charset="-122"/>
                <a:cs typeface="Cambria" pitchFamily="34" charset="-120"/>
              </a:rPr>
              <a:t>The corpora sessions</a:t>
            </a:r>
            <a:endParaRPr lang="en-US" sz="1500" dirty="0"/>
          </a:p>
        </p:txBody>
      </p:sp>
      <p:sp>
        <p:nvSpPr>
          <p:cNvPr id="11" name="Text 9"/>
          <p:cNvSpPr txBox="1"/>
          <p:nvPr/>
        </p:nvSpPr>
        <p:spPr>
          <a:xfrm>
            <a:off x="822960" y="2176272"/>
            <a:ext cx="3072384" cy="1499616"/>
          </a:xfrm>
          <a:prstGeom prst="rect">
            <a:avLst/>
          </a:prstGeom>
          <a:noFill/>
          <a:ln/>
        </p:spPr>
        <p:txBody>
          <a:bodyPr wrap="square" lIns="0" tIns="0" rIns="0" bIns="0" rtlCol="0" anchor="t"/>
          <a:lstStyle/>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IEMOCAP and CREMA-D gave us labels, and showed that emotional labels are noisy, expensive and shaped by design choices most users never examine.</a:t>
            </a:r>
            <a:endParaRPr lang="en-US" sz="1240" dirty="0"/>
          </a:p>
          <a:p>
            <a:pPr marL="0" indent="0">
              <a:lnSpc>
                <a:spcPct val="108000"/>
              </a:lnSpc>
              <a:buNone/>
            </a:pPr>
            <a:endParaRPr lang="en-US" sz="1240" dirty="0"/>
          </a:p>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MSP-Podcast and AffectNet showed that harvesting moves the bias rather than removing it.</a:t>
            </a:r>
            <a:endParaRPr lang="en-US" sz="1240" dirty="0"/>
          </a:p>
        </p:txBody>
      </p:sp>
      <p:sp>
        <p:nvSpPr>
          <p:cNvPr id="12" name="Shape 10"/>
          <p:cNvSpPr/>
          <p:nvPr/>
        </p:nvSpPr>
        <p:spPr>
          <a:xfrm>
            <a:off x="4279392" y="1572768"/>
            <a:ext cx="3584448" cy="2286000"/>
          </a:xfrm>
          <a:prstGeom prst="roundRect">
            <a:avLst>
              <a:gd name="adj" fmla="val 2400"/>
            </a:avLst>
          </a:prstGeom>
          <a:solidFill>
            <a:srgbClr val="F3F5EC"/>
          </a:solidFill>
          <a:ln w="12700">
            <a:solidFill>
              <a:srgbClr val="E3E7D8"/>
            </a:solidFill>
            <a:prstDash val="solid"/>
          </a:ln>
        </p:spPr>
        <p:txBody>
          <a:bodyPr/>
          <a:lstStyle/>
          <a:p>
            <a:endParaRPr lang="en-US"/>
          </a:p>
        </p:txBody>
      </p:sp>
      <p:sp>
        <p:nvSpPr>
          <p:cNvPr id="13" name="Shape 11"/>
          <p:cNvSpPr/>
          <p:nvPr/>
        </p:nvSpPr>
        <p:spPr>
          <a:xfrm>
            <a:off x="4498848" y="1865376"/>
            <a:ext cx="109728" cy="109728"/>
          </a:xfrm>
          <a:prstGeom prst="ellipse">
            <a:avLst/>
          </a:prstGeom>
          <a:solidFill>
            <a:srgbClr val="D9614C"/>
          </a:solidFill>
          <a:ln w="12700">
            <a:solidFill>
              <a:srgbClr val="333333"/>
            </a:solidFill>
            <a:prstDash val="solid"/>
          </a:ln>
        </p:spPr>
        <p:txBody>
          <a:bodyPr/>
          <a:lstStyle/>
          <a:p>
            <a:endParaRPr lang="en-US"/>
          </a:p>
        </p:txBody>
      </p:sp>
      <p:sp>
        <p:nvSpPr>
          <p:cNvPr id="14" name="Text 12"/>
          <p:cNvSpPr txBox="1"/>
          <p:nvPr/>
        </p:nvSpPr>
        <p:spPr>
          <a:xfrm>
            <a:off x="4700016" y="1737360"/>
            <a:ext cx="2944368" cy="365760"/>
          </a:xfrm>
          <a:prstGeom prst="rect">
            <a:avLst/>
          </a:prstGeom>
          <a:noFill/>
          <a:ln/>
        </p:spPr>
        <p:txBody>
          <a:bodyPr wrap="square" lIns="0" tIns="0" rIns="0" bIns="0" rtlCol="0" anchor="ctr"/>
          <a:lstStyle/>
          <a:p>
            <a:pPr marL="0" indent="0">
              <a:buNone/>
            </a:pPr>
            <a:r>
              <a:rPr lang="en-US" sz="1500" b="1" dirty="0">
                <a:solidFill>
                  <a:srgbClr val="1E2116"/>
                </a:solidFill>
                <a:latin typeface="Cambria" pitchFamily="34" charset="0"/>
                <a:ea typeface="Cambria" pitchFamily="34" charset="-122"/>
                <a:cs typeface="Cambria" pitchFamily="34" charset="-120"/>
              </a:rPr>
              <a:t>The model sessions</a:t>
            </a:r>
            <a:endParaRPr lang="en-US" sz="1500" dirty="0"/>
          </a:p>
        </p:txBody>
      </p:sp>
      <p:sp>
        <p:nvSpPr>
          <p:cNvPr id="15" name="Text 13"/>
          <p:cNvSpPr txBox="1"/>
          <p:nvPr/>
        </p:nvSpPr>
        <p:spPr>
          <a:xfrm>
            <a:off x="4535424" y="2176272"/>
            <a:ext cx="3072384" cy="1499616"/>
          </a:xfrm>
          <a:prstGeom prst="rect">
            <a:avLst/>
          </a:prstGeom>
          <a:noFill/>
          <a:ln/>
        </p:spPr>
        <p:txBody>
          <a:bodyPr wrap="square" lIns="0" tIns="0" rIns="0" bIns="0" rtlCol="0" anchor="t"/>
          <a:lstStyle/>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wav2vec 2.0, HuBERT and WavLM showed that learning speech structure from unlabelled audio is now close to a solved and downloadable problem.</a:t>
            </a:r>
            <a:endParaRPr lang="en-US" sz="1240" dirty="0"/>
          </a:p>
          <a:p>
            <a:pPr marL="0" indent="0">
              <a:lnSpc>
                <a:spcPct val="108000"/>
              </a:lnSpc>
              <a:buNone/>
            </a:pPr>
            <a:endParaRPr lang="en-US" sz="1240" dirty="0"/>
          </a:p>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And that what the objective withholds determines what the representation generalises over.</a:t>
            </a:r>
            <a:endParaRPr lang="en-US" sz="1240" dirty="0"/>
          </a:p>
        </p:txBody>
      </p:sp>
      <p:sp>
        <p:nvSpPr>
          <p:cNvPr id="16" name="Shape 14"/>
          <p:cNvSpPr/>
          <p:nvPr/>
        </p:nvSpPr>
        <p:spPr>
          <a:xfrm>
            <a:off x="7991856" y="1572768"/>
            <a:ext cx="3639312" cy="2286000"/>
          </a:xfrm>
          <a:prstGeom prst="roundRect">
            <a:avLst>
              <a:gd name="adj" fmla="val 2400"/>
            </a:avLst>
          </a:prstGeom>
          <a:solidFill>
            <a:srgbClr val="F3F5EC"/>
          </a:solidFill>
          <a:ln w="12700">
            <a:solidFill>
              <a:srgbClr val="E3E7D8"/>
            </a:solidFill>
            <a:prstDash val="solid"/>
          </a:ln>
        </p:spPr>
        <p:txBody>
          <a:bodyPr/>
          <a:lstStyle/>
          <a:p>
            <a:endParaRPr lang="en-US"/>
          </a:p>
        </p:txBody>
      </p:sp>
      <p:sp>
        <p:nvSpPr>
          <p:cNvPr id="17" name="Shape 15"/>
          <p:cNvSpPr/>
          <p:nvPr/>
        </p:nvSpPr>
        <p:spPr>
          <a:xfrm>
            <a:off x="8211312" y="1865376"/>
            <a:ext cx="109728" cy="109728"/>
          </a:xfrm>
          <a:prstGeom prst="ellipse">
            <a:avLst/>
          </a:prstGeom>
          <a:solidFill>
            <a:srgbClr val="5F6B3A"/>
          </a:solidFill>
          <a:ln w="12700">
            <a:solidFill>
              <a:srgbClr val="333333"/>
            </a:solidFill>
            <a:prstDash val="solid"/>
          </a:ln>
        </p:spPr>
        <p:txBody>
          <a:bodyPr/>
          <a:lstStyle/>
          <a:p>
            <a:endParaRPr lang="en-US"/>
          </a:p>
        </p:txBody>
      </p:sp>
      <p:sp>
        <p:nvSpPr>
          <p:cNvPr id="18" name="Text 16"/>
          <p:cNvSpPr txBox="1"/>
          <p:nvPr/>
        </p:nvSpPr>
        <p:spPr>
          <a:xfrm>
            <a:off x="8412480" y="1737360"/>
            <a:ext cx="2999232" cy="365760"/>
          </a:xfrm>
          <a:prstGeom prst="rect">
            <a:avLst/>
          </a:prstGeom>
          <a:noFill/>
          <a:ln/>
        </p:spPr>
        <p:txBody>
          <a:bodyPr wrap="square" lIns="0" tIns="0" rIns="0" bIns="0" rtlCol="0" anchor="ctr"/>
          <a:lstStyle/>
          <a:p>
            <a:pPr marL="0" indent="0">
              <a:buNone/>
            </a:pPr>
            <a:r>
              <a:rPr lang="en-US" sz="1500" b="1" dirty="0">
                <a:solidFill>
                  <a:srgbClr val="1E2116"/>
                </a:solidFill>
                <a:latin typeface="Cambria" pitchFamily="34" charset="0"/>
                <a:ea typeface="Cambria" pitchFamily="34" charset="-122"/>
                <a:cs typeface="Cambria" pitchFamily="34" charset="-120"/>
              </a:rPr>
              <a:t>This session</a:t>
            </a:r>
            <a:endParaRPr lang="en-US" sz="1500" dirty="0"/>
          </a:p>
        </p:txBody>
      </p:sp>
      <p:sp>
        <p:nvSpPr>
          <p:cNvPr id="19" name="Text 17"/>
          <p:cNvSpPr txBox="1"/>
          <p:nvPr/>
        </p:nvSpPr>
        <p:spPr>
          <a:xfrm>
            <a:off x="8247888" y="2176272"/>
            <a:ext cx="3127248" cy="1499616"/>
          </a:xfrm>
          <a:prstGeom prst="rect">
            <a:avLst/>
          </a:prstGeom>
          <a:noFill/>
          <a:ln/>
        </p:spPr>
        <p:txBody>
          <a:bodyPr wrap="square" lIns="0" tIns="0" rIns="0" bIns="0" rtlCol="0" anchor="t"/>
          <a:lstStyle/>
          <a:p>
            <a:pPr marL="0" indent="0">
              <a:lnSpc>
                <a:spcPct val="108000"/>
              </a:lnSpc>
              <a:buNone/>
            </a:pPr>
            <a:r>
              <a:rPr lang="en-US" sz="1240" dirty="0">
                <a:solidFill>
                  <a:srgbClr val="323726"/>
                </a:solidFill>
                <a:latin typeface="Calibri" pitchFamily="34" charset="0"/>
                <a:ea typeface="Calibri" pitchFamily="34" charset="-122"/>
                <a:cs typeface="Calibri" pitchFamily="34" charset="-120"/>
              </a:rPr>
              <a:t>The instrument that connects the two. SUPERB is how the field decides whether a representation is any good — and it inherits the label problems from the first half while measuring the models from the second.</a:t>
            </a:r>
            <a:endParaRPr lang="en-US" sz="1240" dirty="0"/>
          </a:p>
        </p:txBody>
      </p:sp>
      <p:sp>
        <p:nvSpPr>
          <p:cNvPr id="20" name="Shape 18"/>
          <p:cNvSpPr/>
          <p:nvPr/>
        </p:nvSpPr>
        <p:spPr>
          <a:xfrm>
            <a:off x="566928" y="4059936"/>
            <a:ext cx="11064240" cy="1993392"/>
          </a:xfrm>
          <a:prstGeom prst="roundRect">
            <a:avLst>
              <a:gd name="adj" fmla="val 2752"/>
            </a:avLst>
          </a:prstGeom>
          <a:solidFill>
            <a:srgbClr val="2A2E1E"/>
          </a:solidFill>
          <a:ln w="12700">
            <a:solidFill>
              <a:srgbClr val="2A2E1E"/>
            </a:solidFill>
            <a:prstDash val="solid"/>
          </a:ln>
        </p:spPr>
        <p:txBody>
          <a:bodyPr/>
          <a:lstStyle/>
          <a:p>
            <a:endParaRPr lang="en-US"/>
          </a:p>
        </p:txBody>
      </p:sp>
      <p:sp>
        <p:nvSpPr>
          <p:cNvPr id="21" name="Shape 19"/>
          <p:cNvSpPr/>
          <p:nvPr/>
        </p:nvSpPr>
        <p:spPr>
          <a:xfrm>
            <a:off x="786384" y="4352544"/>
            <a:ext cx="109728" cy="109728"/>
          </a:xfrm>
          <a:prstGeom prst="ellipse">
            <a:avLst/>
          </a:prstGeom>
          <a:solidFill>
            <a:srgbClr val="D9614C"/>
          </a:solidFill>
          <a:ln w="12700">
            <a:solidFill>
              <a:srgbClr val="333333"/>
            </a:solidFill>
            <a:prstDash val="solid"/>
          </a:ln>
        </p:spPr>
        <p:txBody>
          <a:bodyPr/>
          <a:lstStyle/>
          <a:p>
            <a:endParaRPr lang="en-US"/>
          </a:p>
        </p:txBody>
      </p:sp>
      <p:sp>
        <p:nvSpPr>
          <p:cNvPr id="22" name="Text 20"/>
          <p:cNvSpPr txBox="1"/>
          <p:nvPr/>
        </p:nvSpPr>
        <p:spPr>
          <a:xfrm>
            <a:off x="987552" y="422452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recurring problem, in one sentence</a:t>
            </a:r>
            <a:endParaRPr lang="en-US" sz="1500" dirty="0"/>
          </a:p>
        </p:txBody>
      </p:sp>
      <p:sp>
        <p:nvSpPr>
          <p:cNvPr id="23" name="Text 21"/>
          <p:cNvSpPr txBox="1"/>
          <p:nvPr/>
        </p:nvSpPr>
        <p:spPr>
          <a:xfrm>
            <a:off x="822960" y="4663440"/>
            <a:ext cx="10552176" cy="1207008"/>
          </a:xfrm>
          <a:prstGeom prst="rect">
            <a:avLst/>
          </a:prstGeom>
          <a:noFill/>
          <a:ln/>
        </p:spPr>
        <p:txBody>
          <a:bodyPr wrap="square" lIns="0" tIns="0" rIns="0" bIns="0" rtlCol="0" anchor="t"/>
          <a:lstStyle/>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In every session the bottleneck turned out to be not the model but the measurement: no official splits, majority votes over disagreeing raters, selection mechanisms nobody could inspect, and benchmarks whose aggregate scores hide which columns are trustworthy.</a:t>
            </a:r>
            <a:endParaRPr lang="en-US" sz="1300" dirty="0"/>
          </a:p>
          <a:p>
            <a:pPr marL="0" indent="0">
              <a:lnSpc>
                <a:spcPct val="108000"/>
              </a:lnSpc>
              <a:buNone/>
            </a:pPr>
            <a:endParaRPr lang="en-US" sz="1300" dirty="0"/>
          </a:p>
          <a:p>
            <a:pPr marL="0" indent="0">
              <a:lnSpc>
                <a:spcPct val="108000"/>
              </a:lnSpc>
              <a:buNone/>
            </a:pPr>
            <a:r>
              <a:rPr lang="en-US" sz="1300" dirty="0">
                <a:solidFill>
                  <a:srgbClr val="D6DCC0"/>
                </a:solidFill>
                <a:latin typeface="Calibri" pitchFamily="34" charset="0"/>
                <a:ea typeface="Calibri" pitchFamily="34" charset="-122"/>
                <a:cs typeface="Calibri" pitchFamily="34" charset="-120"/>
              </a:rPr>
              <a:t>Better representations are now cheap. Better evaluation is not, and that is where the open work is.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47120" y="438912"/>
            <a:ext cx="402336" cy="68580"/>
          </a:xfrm>
          <a:prstGeom prst="roundRect">
            <a:avLst>
              <a:gd name="adj" fmla="val 2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1247120" y="544068"/>
            <a:ext cx="274320"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4" name="Shape 2"/>
          <p:cNvSpPr/>
          <p:nvPr/>
        </p:nvSpPr>
        <p:spPr>
          <a:xfrm>
            <a:off x="11247120" y="649224"/>
            <a:ext cx="164592" cy="68580"/>
          </a:xfrm>
          <a:prstGeom prst="roundRect">
            <a:avLst>
              <a:gd name="adj" fmla="val 26667"/>
            </a:avLst>
          </a:prstGeom>
          <a:solidFill>
            <a:srgbClr val="5F6B3A"/>
          </a:solidFill>
          <a:ln w="12700">
            <a:solidFill>
              <a:srgbClr val="333333"/>
            </a:solidFill>
            <a:prstDash val="solid"/>
          </a:ln>
        </p:spPr>
        <p:txBody>
          <a:bodyPr/>
          <a:lstStyle/>
          <a:p>
            <a:endParaRPr lang="en-US"/>
          </a:p>
        </p:txBody>
      </p:sp>
      <p:sp>
        <p:nvSpPr>
          <p:cNvPr id="5" name="Text 3"/>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1E2116"/>
                </a:solidFill>
                <a:latin typeface="Cambria" pitchFamily="34" charset="0"/>
                <a:ea typeface="Cambria" pitchFamily="34" charset="-122"/>
                <a:cs typeface="Cambria" pitchFamily="34" charset="-120"/>
              </a:rPr>
              <a:t>Take-aways</a:t>
            </a:r>
            <a:endParaRPr lang="en-US" sz="2900" dirty="0"/>
          </a:p>
        </p:txBody>
      </p:sp>
      <p:sp>
        <p:nvSpPr>
          <p:cNvPr id="6" name="Text 4"/>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6A7059"/>
                </a:solidFill>
                <a:latin typeface="Calibri" pitchFamily="34" charset="0"/>
                <a:ea typeface="Calibri" pitchFamily="34" charset="-122"/>
                <a:cs typeface="Calibri" pitchFamily="34" charset="-120"/>
              </a:rPr>
              <a:t>Five things to carry out of this session</a:t>
            </a:r>
            <a:endParaRPr lang="en-US" sz="1350" dirty="0"/>
          </a:p>
        </p:txBody>
      </p:sp>
      <p:sp>
        <p:nvSpPr>
          <p:cNvPr id="7" name="Text 5"/>
          <p:cNvSpPr txBox="1"/>
          <p:nvPr/>
        </p:nvSpPr>
        <p:spPr>
          <a:xfrm>
            <a:off x="9509760" y="6382512"/>
            <a:ext cx="2130552" cy="274320"/>
          </a:xfrm>
          <a:prstGeom prst="rect">
            <a:avLst/>
          </a:prstGeom>
          <a:noFill/>
          <a:ln/>
        </p:spPr>
        <p:txBody>
          <a:bodyPr wrap="square" lIns="0" tIns="0" rIns="0" bIns="0" rtlCol="0" anchor="ctr"/>
          <a:lstStyle/>
          <a:p>
            <a:pPr marL="0" indent="0" algn="r">
              <a:buNone/>
            </a:pPr>
            <a:r>
              <a:rPr lang="en-US" sz="900" dirty="0">
                <a:solidFill>
                  <a:srgbClr val="A8AE94"/>
                </a:solidFill>
                <a:latin typeface="Calibri" pitchFamily="34" charset="0"/>
                <a:ea typeface="Calibri" pitchFamily="34" charset="-122"/>
                <a:cs typeface="Calibri" pitchFamily="34" charset="-120"/>
              </a:rPr>
              <a:t>SUPERB · Yang et al. 2021  |  39</a:t>
            </a:r>
            <a:endParaRPr lang="en-US" sz="900" dirty="0"/>
          </a:p>
        </p:txBody>
      </p:sp>
      <p:sp>
        <p:nvSpPr>
          <p:cNvPr id="8" name="Shape 6"/>
          <p:cNvSpPr/>
          <p:nvPr/>
        </p:nvSpPr>
        <p:spPr>
          <a:xfrm>
            <a:off x="566928" y="1517904"/>
            <a:ext cx="11064240" cy="859536"/>
          </a:xfrm>
          <a:prstGeom prst="roundRect">
            <a:avLst>
              <a:gd name="adj" fmla="val 5319"/>
            </a:avLst>
          </a:prstGeom>
          <a:solidFill>
            <a:srgbClr val="F3F5EC"/>
          </a:solidFill>
          <a:ln w="12700">
            <a:solidFill>
              <a:srgbClr val="E3E7D8"/>
            </a:solidFill>
            <a:prstDash val="solid"/>
          </a:ln>
        </p:spPr>
        <p:txBody>
          <a:bodyPr/>
          <a:lstStyle/>
          <a:p>
            <a:endParaRPr lang="en-US"/>
          </a:p>
        </p:txBody>
      </p:sp>
      <p:sp>
        <p:nvSpPr>
          <p:cNvPr id="9" name="Shape 7"/>
          <p:cNvSpPr/>
          <p:nvPr/>
        </p:nvSpPr>
        <p:spPr>
          <a:xfrm>
            <a:off x="804672" y="1783080"/>
            <a:ext cx="329184" cy="329184"/>
          </a:xfrm>
          <a:prstGeom prst="ellipse">
            <a:avLst/>
          </a:prstGeom>
          <a:solidFill>
            <a:srgbClr val="5F6B3A"/>
          </a:solidFill>
          <a:ln w="12700">
            <a:solidFill>
              <a:srgbClr val="333333"/>
            </a:solidFill>
            <a:prstDash val="solid"/>
          </a:ln>
        </p:spPr>
        <p:txBody>
          <a:bodyPr/>
          <a:lstStyle/>
          <a:p>
            <a:endParaRPr lang="en-US"/>
          </a:p>
        </p:txBody>
      </p:sp>
      <p:sp>
        <p:nvSpPr>
          <p:cNvPr id="10" name="Text 8"/>
          <p:cNvSpPr txBox="1"/>
          <p:nvPr/>
        </p:nvSpPr>
        <p:spPr>
          <a:xfrm>
            <a:off x="804672" y="1810512"/>
            <a:ext cx="329184"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1</a:t>
            </a:r>
            <a:endParaRPr lang="en-US" sz="1250" dirty="0"/>
          </a:p>
        </p:txBody>
      </p:sp>
      <p:sp>
        <p:nvSpPr>
          <p:cNvPr id="11" name="Text 9"/>
          <p:cNvSpPr txBox="1"/>
          <p:nvPr/>
        </p:nvSpPr>
        <p:spPr>
          <a:xfrm>
            <a:off x="1298448" y="1627632"/>
            <a:ext cx="4023360" cy="640080"/>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A benchmark is a theory of what matters</a:t>
            </a:r>
            <a:endParaRPr lang="en-US" sz="1300" dirty="0"/>
          </a:p>
        </p:txBody>
      </p:sp>
      <p:sp>
        <p:nvSpPr>
          <p:cNvPr id="12" name="Text 10"/>
          <p:cNvSpPr txBox="1"/>
          <p:nvPr/>
        </p:nvSpPr>
        <p:spPr>
          <a:xfrm>
            <a:off x="5486400" y="1609344"/>
            <a:ext cx="5943600" cy="676656"/>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Ten columns, four of them content and one paralinguistics. That ratio became the field's priorities.</a:t>
            </a:r>
            <a:endParaRPr lang="en-US" sz="1180" dirty="0"/>
          </a:p>
        </p:txBody>
      </p:sp>
      <p:sp>
        <p:nvSpPr>
          <p:cNvPr id="13" name="Shape 11"/>
          <p:cNvSpPr/>
          <p:nvPr/>
        </p:nvSpPr>
        <p:spPr>
          <a:xfrm>
            <a:off x="566928" y="2432304"/>
            <a:ext cx="11064240" cy="859536"/>
          </a:xfrm>
          <a:prstGeom prst="roundRect">
            <a:avLst>
              <a:gd name="adj" fmla="val 5319"/>
            </a:avLst>
          </a:prstGeom>
          <a:solidFill>
            <a:srgbClr val="FFFFFF"/>
          </a:solidFill>
          <a:ln w="12700">
            <a:solidFill>
              <a:srgbClr val="E3E7D8"/>
            </a:solidFill>
            <a:prstDash val="solid"/>
          </a:ln>
        </p:spPr>
        <p:txBody>
          <a:bodyPr/>
          <a:lstStyle/>
          <a:p>
            <a:endParaRPr lang="en-US"/>
          </a:p>
        </p:txBody>
      </p:sp>
      <p:sp>
        <p:nvSpPr>
          <p:cNvPr id="14" name="Shape 12"/>
          <p:cNvSpPr/>
          <p:nvPr/>
        </p:nvSpPr>
        <p:spPr>
          <a:xfrm>
            <a:off x="804672" y="2697480"/>
            <a:ext cx="329184" cy="329184"/>
          </a:xfrm>
          <a:prstGeom prst="ellipse">
            <a:avLst/>
          </a:prstGeom>
          <a:solidFill>
            <a:srgbClr val="5F6B3A"/>
          </a:solidFill>
          <a:ln w="12700">
            <a:solidFill>
              <a:srgbClr val="333333"/>
            </a:solidFill>
            <a:prstDash val="solid"/>
          </a:ln>
        </p:spPr>
        <p:txBody>
          <a:bodyPr/>
          <a:lstStyle/>
          <a:p>
            <a:endParaRPr lang="en-US"/>
          </a:p>
        </p:txBody>
      </p:sp>
      <p:sp>
        <p:nvSpPr>
          <p:cNvPr id="15" name="Text 13"/>
          <p:cNvSpPr txBox="1"/>
          <p:nvPr/>
        </p:nvSpPr>
        <p:spPr>
          <a:xfrm>
            <a:off x="804672" y="2724912"/>
            <a:ext cx="329184"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2</a:t>
            </a:r>
            <a:endParaRPr lang="en-US" sz="1250" dirty="0"/>
          </a:p>
        </p:txBody>
      </p:sp>
      <p:sp>
        <p:nvSpPr>
          <p:cNvPr id="16" name="Text 14"/>
          <p:cNvSpPr txBox="1"/>
          <p:nvPr/>
        </p:nvSpPr>
        <p:spPr>
          <a:xfrm>
            <a:off x="1298448" y="2542032"/>
            <a:ext cx="4023360" cy="640080"/>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Linear decodability is a lower bound</a:t>
            </a:r>
            <a:endParaRPr lang="en-US" sz="1300" dirty="0"/>
          </a:p>
        </p:txBody>
      </p:sp>
      <p:sp>
        <p:nvSpPr>
          <p:cNvPr id="17" name="Text 15"/>
          <p:cNvSpPr txBox="1"/>
          <p:nvPr/>
        </p:nvSpPr>
        <p:spPr>
          <a:xfrm>
            <a:off x="5486400" y="2523744"/>
            <a:ext cx="5943600" cy="676656"/>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A low probe score means the information is not linearly accessible. It does not mean the information is absent.</a:t>
            </a:r>
            <a:endParaRPr lang="en-US" sz="1180" dirty="0"/>
          </a:p>
        </p:txBody>
      </p:sp>
      <p:sp>
        <p:nvSpPr>
          <p:cNvPr id="18" name="Shape 16"/>
          <p:cNvSpPr/>
          <p:nvPr/>
        </p:nvSpPr>
        <p:spPr>
          <a:xfrm>
            <a:off x="566928" y="3346704"/>
            <a:ext cx="11064240" cy="859536"/>
          </a:xfrm>
          <a:prstGeom prst="roundRect">
            <a:avLst>
              <a:gd name="adj" fmla="val 5319"/>
            </a:avLst>
          </a:prstGeom>
          <a:solidFill>
            <a:srgbClr val="F3F5EC"/>
          </a:solidFill>
          <a:ln w="12700">
            <a:solidFill>
              <a:srgbClr val="E3E7D8"/>
            </a:solidFill>
            <a:prstDash val="solid"/>
          </a:ln>
        </p:spPr>
        <p:txBody>
          <a:bodyPr/>
          <a:lstStyle/>
          <a:p>
            <a:endParaRPr lang="en-US"/>
          </a:p>
        </p:txBody>
      </p:sp>
      <p:sp>
        <p:nvSpPr>
          <p:cNvPr id="19" name="Shape 17"/>
          <p:cNvSpPr/>
          <p:nvPr/>
        </p:nvSpPr>
        <p:spPr>
          <a:xfrm>
            <a:off x="804672" y="3611880"/>
            <a:ext cx="329184" cy="329184"/>
          </a:xfrm>
          <a:prstGeom prst="ellipse">
            <a:avLst/>
          </a:prstGeom>
          <a:solidFill>
            <a:srgbClr val="5F6B3A"/>
          </a:solidFill>
          <a:ln w="12700">
            <a:solidFill>
              <a:srgbClr val="333333"/>
            </a:solidFill>
            <a:prstDash val="solid"/>
          </a:ln>
        </p:spPr>
        <p:txBody>
          <a:bodyPr/>
          <a:lstStyle/>
          <a:p>
            <a:endParaRPr lang="en-US"/>
          </a:p>
        </p:txBody>
      </p:sp>
      <p:sp>
        <p:nvSpPr>
          <p:cNvPr id="20" name="Text 18"/>
          <p:cNvSpPr txBox="1"/>
          <p:nvPr/>
        </p:nvSpPr>
        <p:spPr>
          <a:xfrm>
            <a:off x="804672" y="3639312"/>
            <a:ext cx="329184"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3</a:t>
            </a:r>
            <a:endParaRPr lang="en-US" sz="1250" dirty="0"/>
          </a:p>
        </p:txBody>
      </p:sp>
      <p:sp>
        <p:nvSpPr>
          <p:cNvPr id="21" name="Text 19"/>
          <p:cNvSpPr txBox="1"/>
          <p:nvPr/>
        </p:nvSpPr>
        <p:spPr>
          <a:xfrm>
            <a:off x="1298448" y="3456432"/>
            <a:ext cx="4023360" cy="640080"/>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Check the domain relationship</a:t>
            </a:r>
            <a:endParaRPr lang="en-US" sz="1300" dirty="0"/>
          </a:p>
        </p:txBody>
      </p:sp>
      <p:sp>
        <p:nvSpPr>
          <p:cNvPr id="22" name="Text 20"/>
          <p:cNvSpPr txBox="1"/>
          <p:nvPr/>
        </p:nvSpPr>
        <p:spPr>
          <a:xfrm>
            <a:off x="5486400" y="3438144"/>
            <a:ext cx="5943600" cy="676656"/>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About a third of SUPERB is in-domain for the models it ranks. In-domain and transfer columns measure different things and should not be averaged.</a:t>
            </a:r>
            <a:endParaRPr lang="en-US" sz="1180" dirty="0"/>
          </a:p>
        </p:txBody>
      </p:sp>
      <p:sp>
        <p:nvSpPr>
          <p:cNvPr id="23" name="Shape 21"/>
          <p:cNvSpPr/>
          <p:nvPr/>
        </p:nvSpPr>
        <p:spPr>
          <a:xfrm>
            <a:off x="566928" y="4261104"/>
            <a:ext cx="11064240" cy="859536"/>
          </a:xfrm>
          <a:prstGeom prst="roundRect">
            <a:avLst>
              <a:gd name="adj" fmla="val 5319"/>
            </a:avLst>
          </a:prstGeom>
          <a:solidFill>
            <a:srgbClr val="FFFFFF"/>
          </a:solidFill>
          <a:ln w="12700">
            <a:solidFill>
              <a:srgbClr val="E3E7D8"/>
            </a:solidFill>
            <a:prstDash val="solid"/>
          </a:ln>
        </p:spPr>
        <p:txBody>
          <a:bodyPr/>
          <a:lstStyle/>
          <a:p>
            <a:endParaRPr lang="en-US"/>
          </a:p>
        </p:txBody>
      </p:sp>
      <p:sp>
        <p:nvSpPr>
          <p:cNvPr id="24" name="Shape 22"/>
          <p:cNvSpPr/>
          <p:nvPr/>
        </p:nvSpPr>
        <p:spPr>
          <a:xfrm>
            <a:off x="804672" y="4526280"/>
            <a:ext cx="329184" cy="329184"/>
          </a:xfrm>
          <a:prstGeom prst="ellipse">
            <a:avLst/>
          </a:prstGeom>
          <a:solidFill>
            <a:srgbClr val="5F6B3A"/>
          </a:solidFill>
          <a:ln w="12700">
            <a:solidFill>
              <a:srgbClr val="333333"/>
            </a:solidFill>
            <a:prstDash val="solid"/>
          </a:ln>
        </p:spPr>
        <p:txBody>
          <a:bodyPr/>
          <a:lstStyle/>
          <a:p>
            <a:endParaRPr lang="en-US"/>
          </a:p>
        </p:txBody>
      </p:sp>
      <p:sp>
        <p:nvSpPr>
          <p:cNvPr id="25" name="Text 23"/>
          <p:cNvSpPr txBox="1"/>
          <p:nvPr/>
        </p:nvSpPr>
        <p:spPr>
          <a:xfrm>
            <a:off x="804672" y="4553712"/>
            <a:ext cx="329184"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4</a:t>
            </a:r>
            <a:endParaRPr lang="en-US" sz="1250" dirty="0"/>
          </a:p>
        </p:txBody>
      </p:sp>
      <p:sp>
        <p:nvSpPr>
          <p:cNvPr id="26" name="Text 24"/>
          <p:cNvSpPr txBox="1"/>
          <p:nvPr/>
        </p:nvSpPr>
        <p:spPr>
          <a:xfrm>
            <a:off x="1298448" y="4370832"/>
            <a:ext cx="4023360" cy="640080"/>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The trivial baseline is worth running</a:t>
            </a:r>
            <a:endParaRPr lang="en-US" sz="1300" dirty="0"/>
          </a:p>
        </p:txBody>
      </p:sp>
      <p:sp>
        <p:nvSpPr>
          <p:cNvPr id="27" name="Text 25"/>
          <p:cNvSpPr txBox="1"/>
          <p:nvPr/>
        </p:nvSpPr>
        <p:spPr>
          <a:xfrm>
            <a:off x="5486400" y="4352544"/>
            <a:ext cx="5943600" cy="676656"/>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Filter banks beat half the field on open-set speaker tasks, and that single result motivated the next generation of models.</a:t>
            </a:r>
            <a:endParaRPr lang="en-US" sz="1180" dirty="0"/>
          </a:p>
        </p:txBody>
      </p:sp>
      <p:sp>
        <p:nvSpPr>
          <p:cNvPr id="28" name="Shape 26"/>
          <p:cNvSpPr/>
          <p:nvPr/>
        </p:nvSpPr>
        <p:spPr>
          <a:xfrm>
            <a:off x="566928" y="5175504"/>
            <a:ext cx="11064240" cy="859536"/>
          </a:xfrm>
          <a:prstGeom prst="roundRect">
            <a:avLst>
              <a:gd name="adj" fmla="val 5319"/>
            </a:avLst>
          </a:prstGeom>
          <a:solidFill>
            <a:srgbClr val="F3F5EC"/>
          </a:solidFill>
          <a:ln w="12700">
            <a:solidFill>
              <a:srgbClr val="E3E7D8"/>
            </a:solidFill>
            <a:prstDash val="solid"/>
          </a:ln>
        </p:spPr>
        <p:txBody>
          <a:bodyPr/>
          <a:lstStyle/>
          <a:p>
            <a:endParaRPr lang="en-US"/>
          </a:p>
        </p:txBody>
      </p:sp>
      <p:sp>
        <p:nvSpPr>
          <p:cNvPr id="29" name="Shape 27"/>
          <p:cNvSpPr/>
          <p:nvPr/>
        </p:nvSpPr>
        <p:spPr>
          <a:xfrm>
            <a:off x="804672" y="5440680"/>
            <a:ext cx="329184" cy="329184"/>
          </a:xfrm>
          <a:prstGeom prst="ellipse">
            <a:avLst/>
          </a:prstGeom>
          <a:solidFill>
            <a:srgbClr val="5F6B3A"/>
          </a:solidFill>
          <a:ln w="12700">
            <a:solidFill>
              <a:srgbClr val="333333"/>
            </a:solidFill>
            <a:prstDash val="solid"/>
          </a:ln>
        </p:spPr>
        <p:txBody>
          <a:bodyPr/>
          <a:lstStyle/>
          <a:p>
            <a:endParaRPr lang="en-US"/>
          </a:p>
        </p:txBody>
      </p:sp>
      <p:sp>
        <p:nvSpPr>
          <p:cNvPr id="30" name="Text 28"/>
          <p:cNvSpPr txBox="1"/>
          <p:nvPr/>
        </p:nvSpPr>
        <p:spPr>
          <a:xfrm>
            <a:off x="804672" y="5468112"/>
            <a:ext cx="329184"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5</a:t>
            </a:r>
            <a:endParaRPr lang="en-US" sz="1250" dirty="0"/>
          </a:p>
        </p:txBody>
      </p:sp>
      <p:sp>
        <p:nvSpPr>
          <p:cNvPr id="31" name="Text 29"/>
          <p:cNvSpPr txBox="1"/>
          <p:nvPr/>
        </p:nvSpPr>
        <p:spPr>
          <a:xfrm>
            <a:off x="1298448" y="5285232"/>
            <a:ext cx="4023360" cy="640080"/>
          </a:xfrm>
          <a:prstGeom prst="rect">
            <a:avLst/>
          </a:prstGeom>
          <a:noFill/>
          <a:ln/>
        </p:spPr>
        <p:txBody>
          <a:bodyPr wrap="square" lIns="0" tIns="0" rIns="0" bIns="0" rtlCol="0" anchor="ctr"/>
          <a:lstStyle/>
          <a:p>
            <a:pPr marL="0" indent="0">
              <a:buNone/>
            </a:pPr>
            <a:r>
              <a:rPr lang="en-US" sz="1300" b="1" dirty="0">
                <a:solidFill>
                  <a:srgbClr val="1E2116"/>
                </a:solidFill>
                <a:latin typeface="Cambria" pitchFamily="34" charset="0"/>
                <a:ea typeface="Cambria" pitchFamily="34" charset="-122"/>
                <a:cs typeface="Cambria" pitchFamily="34" charset="-120"/>
              </a:rPr>
              <a:t>Report the layer weights</a:t>
            </a:r>
            <a:endParaRPr lang="en-US" sz="1300" dirty="0"/>
          </a:p>
        </p:txBody>
      </p:sp>
      <p:sp>
        <p:nvSpPr>
          <p:cNvPr id="32" name="Text 30"/>
          <p:cNvSpPr txBox="1"/>
          <p:nvPr/>
        </p:nvSpPr>
        <p:spPr>
          <a:xfrm>
            <a:off x="5486400" y="5266944"/>
            <a:ext cx="5943600" cy="676656"/>
          </a:xfrm>
          <a:prstGeom prst="rect">
            <a:avLst/>
          </a:prstGeom>
          <a:noFill/>
          <a:ln/>
        </p:spPr>
        <p:txBody>
          <a:bodyPr wrap="square" lIns="0" tIns="0" rIns="0" bIns="0" rtlCol="0" anchor="ctr"/>
          <a:lstStyle/>
          <a:p>
            <a:pPr marL="0" indent="0">
              <a:buNone/>
            </a:pPr>
            <a:r>
              <a:rPr lang="en-US" sz="1180" dirty="0">
                <a:solidFill>
                  <a:srgbClr val="323726"/>
                </a:solidFill>
                <a:latin typeface="Calibri" pitchFamily="34" charset="0"/>
                <a:ea typeface="Calibri" pitchFamily="34" charset="-122"/>
                <a:cs typeface="Calibri" pitchFamily="34" charset="-120"/>
              </a:rPr>
              <a:t>They are computed for free in every SUPERB run, they say where each task's information lives, and almost nobody publishes them.</a:t>
            </a:r>
            <a:endParaRPr lang="en-US" sz="118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0">
    <p:bg>
      <p:bgPr>
        <a:solidFill>
          <a:srgbClr val="2A2E1E"/>
        </a:solidFill>
        <a:effectLst/>
      </p:bgPr>
    </p:bg>
    <p:spTree>
      <p:nvGrpSpPr>
        <p:cNvPr id="1" name=""/>
        <p:cNvGrpSpPr/>
        <p:nvPr/>
      </p:nvGrpSpPr>
      <p:grpSpPr>
        <a:xfrm>
          <a:off x="0" y="0"/>
          <a:ext cx="0" cy="0"/>
          <a:chOff x="0" y="0"/>
          <a:chExt cx="0" cy="0"/>
        </a:xfrm>
      </p:grpSpPr>
      <p:sp>
        <p:nvSpPr>
          <p:cNvPr id="2" name="Shape 0"/>
          <p:cNvSpPr/>
          <p:nvPr/>
        </p:nvSpPr>
        <p:spPr>
          <a:xfrm>
            <a:off x="10698480" y="640080"/>
            <a:ext cx="643738" cy="109728"/>
          </a:xfrm>
          <a:prstGeom prst="roundRect">
            <a:avLst>
              <a:gd name="adj" fmla="val 16667"/>
            </a:avLst>
          </a:prstGeom>
          <a:solidFill>
            <a:srgbClr val="D9614C"/>
          </a:solidFill>
          <a:ln w="12700">
            <a:solidFill>
              <a:srgbClr val="333333"/>
            </a:solidFill>
            <a:prstDash val="solid"/>
          </a:ln>
        </p:spPr>
        <p:txBody>
          <a:bodyPr/>
          <a:lstStyle/>
          <a:p>
            <a:endParaRPr lang="en-US"/>
          </a:p>
        </p:txBody>
      </p:sp>
      <p:sp>
        <p:nvSpPr>
          <p:cNvPr id="3" name="Shape 1"/>
          <p:cNvSpPr/>
          <p:nvPr/>
        </p:nvSpPr>
        <p:spPr>
          <a:xfrm>
            <a:off x="10698480" y="808330"/>
            <a:ext cx="438912" cy="109728"/>
          </a:xfrm>
          <a:prstGeom prst="roundRect">
            <a:avLst>
              <a:gd name="adj" fmla="val 16667"/>
            </a:avLst>
          </a:prstGeom>
          <a:solidFill>
            <a:srgbClr val="D6DCC0"/>
          </a:solidFill>
          <a:ln w="12700">
            <a:solidFill>
              <a:srgbClr val="333333"/>
            </a:solidFill>
            <a:prstDash val="solid"/>
          </a:ln>
        </p:spPr>
        <p:txBody>
          <a:bodyPr/>
          <a:lstStyle/>
          <a:p>
            <a:endParaRPr lang="en-US"/>
          </a:p>
        </p:txBody>
      </p:sp>
      <p:sp>
        <p:nvSpPr>
          <p:cNvPr id="4" name="Shape 2"/>
          <p:cNvSpPr/>
          <p:nvPr/>
        </p:nvSpPr>
        <p:spPr>
          <a:xfrm>
            <a:off x="10698480" y="976579"/>
            <a:ext cx="263347" cy="109728"/>
          </a:xfrm>
          <a:prstGeom prst="roundRect">
            <a:avLst>
              <a:gd name="adj" fmla="val 16667"/>
            </a:avLst>
          </a:prstGeom>
          <a:solidFill>
            <a:srgbClr val="D6DCC0"/>
          </a:solidFill>
          <a:ln w="12700">
            <a:solidFill>
              <a:srgbClr val="333333"/>
            </a:solidFill>
            <a:prstDash val="solid"/>
          </a:ln>
        </p:spPr>
        <p:txBody>
          <a:bodyPr/>
          <a:lstStyle/>
          <a:p>
            <a:endParaRPr lang="en-US"/>
          </a:p>
        </p:txBody>
      </p:sp>
      <p:sp>
        <p:nvSpPr>
          <p:cNvPr id="5" name="Text 3"/>
          <p:cNvSpPr txBox="1"/>
          <p:nvPr/>
        </p:nvSpPr>
        <p:spPr>
          <a:xfrm>
            <a:off x="822960" y="658368"/>
            <a:ext cx="10515600" cy="640080"/>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Questions for discussion</a:t>
            </a:r>
            <a:endParaRPr lang="en-US" sz="3100" dirty="0"/>
          </a:p>
        </p:txBody>
      </p:sp>
      <p:sp>
        <p:nvSpPr>
          <p:cNvPr id="6" name="Shape 4"/>
          <p:cNvSpPr/>
          <p:nvPr/>
        </p:nvSpPr>
        <p:spPr>
          <a:xfrm>
            <a:off x="841248" y="1481328"/>
            <a:ext cx="329184" cy="329184"/>
          </a:xfrm>
          <a:prstGeom prst="ellipse">
            <a:avLst/>
          </a:prstGeom>
          <a:solidFill>
            <a:srgbClr val="D9614C"/>
          </a:solidFill>
          <a:ln w="12700">
            <a:solidFill>
              <a:srgbClr val="333333"/>
            </a:solidFill>
            <a:prstDash val="solid"/>
          </a:ln>
        </p:spPr>
        <p:txBody>
          <a:bodyPr/>
          <a:lstStyle/>
          <a:p>
            <a:endParaRPr lang="en-US"/>
          </a:p>
        </p:txBody>
      </p:sp>
      <p:sp>
        <p:nvSpPr>
          <p:cNvPr id="7" name="Text 5"/>
          <p:cNvSpPr txBox="1"/>
          <p:nvPr/>
        </p:nvSpPr>
        <p:spPr>
          <a:xfrm>
            <a:off x="841248" y="1508760"/>
            <a:ext cx="329184"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353312" y="1426464"/>
            <a:ext cx="10058400" cy="822960"/>
          </a:xfrm>
          <a:prstGeom prst="rect">
            <a:avLst/>
          </a:prstGeom>
          <a:noFill/>
          <a:ln/>
        </p:spPr>
        <p:txBody>
          <a:bodyPr wrap="square" lIns="0" tIns="0" rIns="0" bIns="0" rtlCol="0" anchor="ctr"/>
          <a:lstStyle/>
          <a:p>
            <a:pPr marL="0" indent="0">
              <a:buNone/>
            </a:pPr>
            <a:r>
              <a:rPr lang="en-US" sz="1250" dirty="0">
                <a:solidFill>
                  <a:srgbClr val="D6DCC0"/>
                </a:solidFill>
                <a:latin typeface="Calibri" pitchFamily="34" charset="0"/>
                <a:ea typeface="Calibri" pitchFamily="34" charset="-122"/>
                <a:cs typeface="Calibri" pitchFamily="34" charset="-120"/>
              </a:rPr>
              <a:t>The ER column is flat across every self-supervised model. Is that because these representations encode emotion similarly, because the information is non-linearly encoded, or because IEMOCAP's label noise has already saturated the task — and what experiment would separate the three?</a:t>
            </a:r>
            <a:endParaRPr lang="en-US" sz="1250" dirty="0"/>
          </a:p>
        </p:txBody>
      </p:sp>
      <p:sp>
        <p:nvSpPr>
          <p:cNvPr id="9" name="Shape 7"/>
          <p:cNvSpPr/>
          <p:nvPr/>
        </p:nvSpPr>
        <p:spPr>
          <a:xfrm>
            <a:off x="841248" y="2414016"/>
            <a:ext cx="329184" cy="329184"/>
          </a:xfrm>
          <a:prstGeom prst="ellipse">
            <a:avLst/>
          </a:prstGeom>
          <a:solidFill>
            <a:srgbClr val="D9614C"/>
          </a:solidFill>
          <a:ln w="12700">
            <a:solidFill>
              <a:srgbClr val="333333"/>
            </a:solidFill>
            <a:prstDash val="solid"/>
          </a:ln>
        </p:spPr>
        <p:txBody>
          <a:bodyPr/>
          <a:lstStyle/>
          <a:p>
            <a:endParaRPr lang="en-US"/>
          </a:p>
        </p:txBody>
      </p:sp>
      <p:sp>
        <p:nvSpPr>
          <p:cNvPr id="10" name="Text 8"/>
          <p:cNvSpPr txBox="1"/>
          <p:nvPr/>
        </p:nvSpPr>
        <p:spPr>
          <a:xfrm>
            <a:off x="841248" y="2441448"/>
            <a:ext cx="329184"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1" name="Text 9"/>
          <p:cNvSpPr txBox="1"/>
          <p:nvPr/>
        </p:nvSpPr>
        <p:spPr>
          <a:xfrm>
            <a:off x="1353312" y="2359152"/>
            <a:ext cx="10058400" cy="822960"/>
          </a:xfrm>
          <a:prstGeom prst="rect">
            <a:avLst/>
          </a:prstGeom>
          <a:noFill/>
          <a:ln/>
        </p:spPr>
        <p:txBody>
          <a:bodyPr wrap="square" lIns="0" tIns="0" rIns="0" bIns="0" rtlCol="0" anchor="ctr"/>
          <a:lstStyle/>
          <a:p>
            <a:pPr marL="0" indent="0">
              <a:buNone/>
            </a:pPr>
            <a:r>
              <a:rPr lang="en-US" sz="1250" dirty="0">
                <a:solidFill>
                  <a:srgbClr val="D6DCC0"/>
                </a:solidFill>
                <a:latin typeface="Calibri" pitchFamily="34" charset="0"/>
                <a:ea typeface="Calibri" pitchFamily="34" charset="-122"/>
                <a:cs typeface="Calibri" pitchFamily="34" charset="-120"/>
              </a:rPr>
              <a:t>SUPERB benchmarks the best convex combination of a model's layers, not any single representation. Is a model whose layers are ten specialists a universal representation encoder, and does the title's claim survive that reading?</a:t>
            </a:r>
            <a:endParaRPr lang="en-US" sz="1250" dirty="0"/>
          </a:p>
        </p:txBody>
      </p:sp>
      <p:sp>
        <p:nvSpPr>
          <p:cNvPr id="12" name="Shape 10"/>
          <p:cNvSpPr/>
          <p:nvPr/>
        </p:nvSpPr>
        <p:spPr>
          <a:xfrm>
            <a:off x="841248" y="3346704"/>
            <a:ext cx="329184" cy="329184"/>
          </a:xfrm>
          <a:prstGeom prst="ellipse">
            <a:avLst/>
          </a:prstGeom>
          <a:solidFill>
            <a:srgbClr val="D9614C"/>
          </a:solidFill>
          <a:ln w="12700">
            <a:solidFill>
              <a:srgbClr val="333333"/>
            </a:solidFill>
            <a:prstDash val="solid"/>
          </a:ln>
        </p:spPr>
        <p:txBody>
          <a:bodyPr/>
          <a:lstStyle/>
          <a:p>
            <a:endParaRPr lang="en-US"/>
          </a:p>
        </p:txBody>
      </p:sp>
      <p:sp>
        <p:nvSpPr>
          <p:cNvPr id="13" name="Text 11"/>
          <p:cNvSpPr txBox="1"/>
          <p:nvPr/>
        </p:nvSpPr>
        <p:spPr>
          <a:xfrm>
            <a:off x="841248" y="3374136"/>
            <a:ext cx="329184"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4" name="Text 12"/>
          <p:cNvSpPr txBox="1"/>
          <p:nvPr/>
        </p:nvSpPr>
        <p:spPr>
          <a:xfrm>
            <a:off x="1353312" y="3291840"/>
            <a:ext cx="10058400" cy="822960"/>
          </a:xfrm>
          <a:prstGeom prst="rect">
            <a:avLst/>
          </a:prstGeom>
          <a:noFill/>
          <a:ln/>
        </p:spPr>
        <p:txBody>
          <a:bodyPr wrap="square" lIns="0" tIns="0" rIns="0" bIns="0" rtlCol="0" anchor="ctr"/>
          <a:lstStyle/>
          <a:p>
            <a:pPr marL="0" indent="0">
              <a:buNone/>
            </a:pPr>
            <a:r>
              <a:rPr lang="en-US" sz="1250" dirty="0">
                <a:solidFill>
                  <a:srgbClr val="D6DCC0"/>
                </a:solidFill>
                <a:latin typeface="Calibri" pitchFamily="34" charset="0"/>
                <a:ea typeface="Calibri" pitchFamily="34" charset="-122"/>
                <a:cs typeface="Calibri" pitchFamily="34" charset="-120"/>
              </a:rPr>
              <a:t>Speech tasks pull in opposite directions: recognition wants speaker identity discarded, verification wants it preserved. Is one score across ten such tasks the right target, or should we expect a family of specialised encoders?</a:t>
            </a:r>
            <a:endParaRPr lang="en-US" sz="1250" dirty="0"/>
          </a:p>
        </p:txBody>
      </p:sp>
      <p:sp>
        <p:nvSpPr>
          <p:cNvPr id="15" name="Shape 13"/>
          <p:cNvSpPr/>
          <p:nvPr/>
        </p:nvSpPr>
        <p:spPr>
          <a:xfrm>
            <a:off x="841248" y="4279392"/>
            <a:ext cx="329184" cy="329184"/>
          </a:xfrm>
          <a:prstGeom prst="ellipse">
            <a:avLst/>
          </a:prstGeom>
          <a:solidFill>
            <a:srgbClr val="D9614C"/>
          </a:solidFill>
          <a:ln w="12700">
            <a:solidFill>
              <a:srgbClr val="333333"/>
            </a:solidFill>
            <a:prstDash val="solid"/>
          </a:ln>
        </p:spPr>
        <p:txBody>
          <a:bodyPr/>
          <a:lstStyle/>
          <a:p>
            <a:endParaRPr lang="en-US"/>
          </a:p>
        </p:txBody>
      </p:sp>
      <p:sp>
        <p:nvSpPr>
          <p:cNvPr id="16" name="Text 14"/>
          <p:cNvSpPr txBox="1"/>
          <p:nvPr/>
        </p:nvSpPr>
        <p:spPr>
          <a:xfrm>
            <a:off x="841248" y="4306824"/>
            <a:ext cx="329184"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17" name="Text 15"/>
          <p:cNvSpPr txBox="1"/>
          <p:nvPr/>
        </p:nvSpPr>
        <p:spPr>
          <a:xfrm>
            <a:off x="1353312" y="4224528"/>
            <a:ext cx="10058400" cy="822960"/>
          </a:xfrm>
          <a:prstGeom prst="rect">
            <a:avLst/>
          </a:prstGeom>
          <a:noFill/>
          <a:ln/>
        </p:spPr>
        <p:txBody>
          <a:bodyPr wrap="square" lIns="0" tIns="0" rIns="0" bIns="0" rtlCol="0" anchor="ctr"/>
          <a:lstStyle/>
          <a:p>
            <a:pPr marL="0" indent="0">
              <a:buNone/>
            </a:pPr>
            <a:r>
              <a:rPr lang="en-US" sz="1250" dirty="0">
                <a:solidFill>
                  <a:srgbClr val="D6DCC0"/>
                </a:solidFill>
                <a:latin typeface="Calibri" pitchFamily="34" charset="0"/>
                <a:ea typeface="Calibri" pitchFamily="34" charset="-122"/>
                <a:cs typeface="Calibri" pitchFamily="34" charset="-120"/>
              </a:rPr>
              <a:t>Roughly a third of the benchmark is in-domain for the models being ranked. What would a version of SUPERB look like that reported in-domain and transfer columns separately?</a:t>
            </a:r>
            <a:endParaRPr lang="en-US" sz="1250" dirty="0"/>
          </a:p>
        </p:txBody>
      </p:sp>
      <p:sp>
        <p:nvSpPr>
          <p:cNvPr id="18" name="Shape 16"/>
          <p:cNvSpPr/>
          <p:nvPr/>
        </p:nvSpPr>
        <p:spPr>
          <a:xfrm>
            <a:off x="841248" y="5212080"/>
            <a:ext cx="329184" cy="329184"/>
          </a:xfrm>
          <a:prstGeom prst="ellipse">
            <a:avLst/>
          </a:prstGeom>
          <a:solidFill>
            <a:srgbClr val="D9614C"/>
          </a:solidFill>
          <a:ln w="12700">
            <a:solidFill>
              <a:srgbClr val="333333"/>
            </a:solidFill>
            <a:prstDash val="solid"/>
          </a:ln>
        </p:spPr>
        <p:txBody>
          <a:bodyPr/>
          <a:lstStyle/>
          <a:p>
            <a:endParaRPr lang="en-US"/>
          </a:p>
        </p:txBody>
      </p:sp>
      <p:sp>
        <p:nvSpPr>
          <p:cNvPr id="19" name="Text 17"/>
          <p:cNvSpPr txBox="1"/>
          <p:nvPr/>
        </p:nvSpPr>
        <p:spPr>
          <a:xfrm>
            <a:off x="841248" y="5239512"/>
            <a:ext cx="329184"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20" name="Text 18"/>
          <p:cNvSpPr txBox="1"/>
          <p:nvPr/>
        </p:nvSpPr>
        <p:spPr>
          <a:xfrm>
            <a:off x="1353312" y="5157216"/>
            <a:ext cx="10058400" cy="822960"/>
          </a:xfrm>
          <a:prstGeom prst="rect">
            <a:avLst/>
          </a:prstGeom>
          <a:noFill/>
          <a:ln/>
        </p:spPr>
        <p:txBody>
          <a:bodyPr wrap="square" lIns="0" tIns="0" rIns="0" bIns="0" rtlCol="0" anchor="ctr"/>
          <a:lstStyle/>
          <a:p>
            <a:pPr marL="0" indent="0">
              <a:buNone/>
            </a:pPr>
            <a:r>
              <a:rPr lang="en-US" sz="1250" dirty="0">
                <a:solidFill>
                  <a:srgbClr val="D6DCC0"/>
                </a:solidFill>
                <a:latin typeface="Calibri" pitchFamily="34" charset="0"/>
                <a:ea typeface="Calibri" pitchFamily="34" charset="-122"/>
                <a:cs typeface="Calibri" pitchFamily="34" charset="-120"/>
              </a:rPr>
              <a:t>If you were designing the paralinguistic half of a benchmark today, with MSP-Podcast, CREMA-D and rater distributions available: what would the tasks be, and what would you evaluate against instead of a majority vote?</a:t>
            </a:r>
            <a:endParaRPr lang="en-US" sz="1250" dirty="0"/>
          </a:p>
        </p:txBody>
      </p:sp>
      <p:sp>
        <p:nvSpPr>
          <p:cNvPr id="21" name="Text 19"/>
          <p:cNvSpPr txBox="1"/>
          <p:nvPr/>
        </p:nvSpPr>
        <p:spPr>
          <a:xfrm>
            <a:off x="822960" y="6272784"/>
            <a:ext cx="10607040" cy="274320"/>
          </a:xfrm>
          <a:prstGeom prst="rect">
            <a:avLst/>
          </a:prstGeom>
          <a:noFill/>
          <a:ln/>
        </p:spPr>
        <p:txBody>
          <a:bodyPr wrap="square" lIns="0" tIns="0" rIns="0" bIns="0" rtlCol="0" anchor="ctr"/>
          <a:lstStyle/>
          <a:p>
            <a:pPr marL="0" indent="0">
              <a:buNone/>
            </a:pPr>
            <a:r>
              <a:rPr lang="en-US" sz="1000" dirty="0">
                <a:solidFill>
                  <a:srgbClr val="B4BC9C"/>
                </a:solidFill>
                <a:latin typeface="Calibri" pitchFamily="34" charset="0"/>
                <a:ea typeface="Calibri" pitchFamily="34" charset="-122"/>
                <a:cs typeface="Calibri" pitchFamily="34" charset="-120"/>
              </a:rPr>
              <a:t>Yang, Chi, Chuang, Lai et al. (2021), Interspeech  ·  arXiv:2105.01051  ·  superbbenchmark.org  ·  github.com/s3prl/s3prl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10322</Words>
  <Application>Microsoft Macintosh PowerPoint</Application>
  <PresentationFormat>Widescreen</PresentationFormat>
  <Paragraphs>619</Paragraphs>
  <Slides>38</Slides>
  <Notes>38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SUPERB (Yang et al., 2021)</dc:title>
  <dc:subject>PptxGenJS Presentation</dc:subject>
  <dc:creator>Seminar</dc:creator>
  <cp:lastModifiedBy>Gao, Ashley</cp:lastModifiedBy>
  <cp:revision>3</cp:revision>
  <dcterms:created xsi:type="dcterms:W3CDTF">2026-09-17T15:13:36Z</dcterms:created>
  <dcterms:modified xsi:type="dcterms:W3CDTF">2026-09-17T15:20:54Z</dcterms:modified>
</cp:coreProperties>
</file>