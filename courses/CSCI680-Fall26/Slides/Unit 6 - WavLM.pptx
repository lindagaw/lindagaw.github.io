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0707A"/>
                </a:solidFill>
                <a:latin typeface="Calibri"/>
              </a:defRPr>
            </a:pPr>
            <a:r>
              <a:rPr lang="en-US" sz="1200" b="0" i="0" u="none" strike="noStrike">
                <a:solidFill>
                  <a:srgbClr val="50707A"/>
                </a:solidFill>
                <a:latin typeface="Calibri"/>
              </a:rPr>
              <a:t>The Mix 94k hr pre-training set</a:t>
            </a:r>
          </a:p>
        </c:rich>
      </c:tx>
      <c:overlay val="0"/>
    </c:title>
    <c:autoTitleDeleted val="0"/>
    <c:plotArea>
      <c:layout/>
      <c:barChart>
        <c:barDir val="bar"/>
        <c:grouping val="clustered"/>
        <c:varyColors val="0"/>
        <c:ser>
          <c:idx val="0"/>
          <c:order val="0"/>
          <c:tx>
            <c:strRef>
              <c:f>Sheet1!$B$1</c:f>
              <c:strCache>
                <c:ptCount val="1"/>
                <c:pt idx="0">
                  <c:v>Hours of unlabelled audio</c:v>
                </c:pt>
              </c:strCache>
            </c:strRef>
          </c:tx>
          <c:spPr>
            <a:solidFill>
              <a:srgbClr val="24798C"/>
            </a:solidFill>
            <a:effectLst/>
          </c:spPr>
          <c:invertIfNegative val="0"/>
          <c:dLbls>
            <c:numFmt formatCode="#,##0" sourceLinked="0"/>
            <c:spPr>
              <a:noFill/>
              <a:ln>
                <a:noFill/>
              </a:ln>
              <a:effectLst/>
            </c:spPr>
            <c:txPr>
              <a:bodyPr/>
              <a:lstStyle/>
              <a:p>
                <a:pPr>
                  <a:defRPr sz="11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Libri-Light</c:v>
                </c:pt>
                <c:pt idx="1">
                  <c:v>VoxPopuli (English)</c:v>
                </c:pt>
                <c:pt idx="2">
                  <c:v>GigaSpeech</c:v>
                </c:pt>
              </c:strCache>
            </c:strRef>
          </c:cat>
          <c:val>
            <c:numRef>
              <c:f>Sheet1!$B$2:$B$4</c:f>
              <c:numCache>
                <c:formatCode>General</c:formatCode>
                <c:ptCount val="3"/>
                <c:pt idx="0">
                  <c:v>60000</c:v>
                </c:pt>
                <c:pt idx="1">
                  <c:v>24000</c:v>
                </c:pt>
                <c:pt idx="2">
                  <c:v>10000</c:v>
                </c:pt>
              </c:numCache>
            </c:numRef>
          </c:val>
          <c:extLst>
            <c:ext xmlns:c16="http://schemas.microsoft.com/office/drawing/2014/chart" uri="{C3380CC4-5D6E-409C-BE32-E72D297353CC}">
              <c16:uniqueId val="{00000000-31CE-3B43-8EC2-96C4114A74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070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4ED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070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0707A"/>
                </a:solidFill>
                <a:latin typeface="Calibri"/>
              </a:defRPr>
            </a:pPr>
            <a:r>
              <a:rPr lang="en-US" sz="1200" b="0" i="0" u="none" strike="noStrike">
                <a:solidFill>
                  <a:srgbClr val="50707A"/>
                </a:solidFill>
                <a:latin typeface="Calibri"/>
              </a:rPr>
              <a:t>Higher is better</a:t>
            </a:r>
          </a:p>
        </c:rich>
      </c:tx>
      <c:overlay val="0"/>
    </c:title>
    <c:autoTitleDeleted val="0"/>
    <c:plotArea>
      <c:layout/>
      <c:barChart>
        <c:barDir val="bar"/>
        <c:grouping val="clustered"/>
        <c:varyColors val="0"/>
        <c:ser>
          <c:idx val="0"/>
          <c:order val="0"/>
          <c:tx>
            <c:strRef>
              <c:f>Sheet1!$B$1</c:f>
              <c:strCache>
                <c:ptCount val="1"/>
                <c:pt idx="0">
                  <c:v>SUPERB overall score</c:v>
                </c:pt>
              </c:strCache>
            </c:strRef>
          </c:tx>
          <c:spPr>
            <a:solidFill>
              <a:srgbClr val="24798C"/>
            </a:solidFill>
            <a:effectLst/>
          </c:spPr>
          <c:invertIfNegative val="0"/>
          <c:dLbls>
            <c:numFmt formatCode="0.0" sourceLinked="0"/>
            <c:spPr>
              <a:noFill/>
              <a:ln>
                <a:noFill/>
              </a:ln>
              <a:effectLst/>
            </c:spPr>
            <c:txPr>
              <a:bodyPr/>
              <a:lstStyle/>
              <a:p>
                <a:pPr>
                  <a:defRPr sz="105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FBANK</c:v>
                </c:pt>
                <c:pt idx="1">
                  <c:v>wav2vec 2.0 Base</c:v>
                </c:pt>
                <c:pt idx="2">
                  <c:v>wav2vec 2.0 Large</c:v>
                </c:pt>
                <c:pt idx="3">
                  <c:v>HuBERT Base</c:v>
                </c:pt>
                <c:pt idx="4">
                  <c:v>HuBERT Large</c:v>
                </c:pt>
                <c:pt idx="5">
                  <c:v>WavLM Base</c:v>
                </c:pt>
                <c:pt idx="6">
                  <c:v>WavLM Base+</c:v>
                </c:pt>
                <c:pt idx="7">
                  <c:v>WavLM Large</c:v>
                </c:pt>
              </c:strCache>
            </c:strRef>
          </c:cat>
          <c:val>
            <c:numRef>
              <c:f>Sheet1!$B$2:$B$9</c:f>
              <c:numCache>
                <c:formatCode>General</c:formatCode>
                <c:ptCount val="8"/>
                <c:pt idx="0">
                  <c:v>43.2</c:v>
                </c:pt>
                <c:pt idx="1">
                  <c:v>69.599999999999994</c:v>
                </c:pt>
                <c:pt idx="2">
                  <c:v>70.400000000000006</c:v>
                </c:pt>
                <c:pt idx="3">
                  <c:v>70.900000000000006</c:v>
                </c:pt>
                <c:pt idx="4">
                  <c:v>72.2</c:v>
                </c:pt>
                <c:pt idx="5">
                  <c:v>72</c:v>
                </c:pt>
                <c:pt idx="6">
                  <c:v>73.400000000000006</c:v>
                </c:pt>
                <c:pt idx="7">
                  <c:v>74.599999999999994</c:v>
                </c:pt>
              </c:numCache>
            </c:numRef>
          </c:val>
          <c:extLst>
            <c:ext xmlns:c16="http://schemas.microsoft.com/office/drawing/2014/chart" uri="{C3380CC4-5D6E-409C-BE32-E72D297353CC}">
              <c16:uniqueId val="{00000000-C700-4A4B-AD8E-724F3E9968F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070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4ED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070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0707A"/>
                </a:solidFill>
                <a:latin typeface="Calibri"/>
              </a:defRPr>
            </a:pPr>
            <a:r>
              <a:rPr lang="en-US" sz="1200" b="0" i="0" u="none" strike="noStrike">
                <a:solidFill>
                  <a:srgbClr val="50707A"/>
                </a:solidFill>
                <a:latin typeface="Calibri"/>
              </a:rPr>
              <a:t>Higher is better for the first two; lower is better for the last two</a:t>
            </a:r>
          </a:p>
        </c:rich>
      </c:tx>
      <c:overlay val="0"/>
    </c:title>
    <c:autoTitleDeleted val="0"/>
    <c:plotArea>
      <c:layout/>
      <c:barChart>
        <c:barDir val="col"/>
        <c:grouping val="clustered"/>
        <c:varyColors val="0"/>
        <c:ser>
          <c:idx val="0"/>
          <c:order val="0"/>
          <c:tx>
            <c:strRef>
              <c:f>Sheet1!$B$1</c:f>
              <c:strCache>
                <c:ptCount val="1"/>
                <c:pt idx="0">
                  <c:v>HuBERT Large</c:v>
                </c:pt>
              </c:strCache>
            </c:strRef>
          </c:tx>
          <c:spPr>
            <a:solidFill>
              <a:srgbClr val="8FB0B8"/>
            </a:solidFill>
            <a:effectLst/>
          </c:spPr>
          <c:invertIfNegative val="0"/>
          <c:dLbls>
            <c:numFmt formatCode="0.00" sourceLinked="0"/>
            <c:spPr>
              <a:noFill/>
              <a:ln>
                <a:noFill/>
              </a:ln>
              <a:effectLst/>
            </c:spPr>
            <c:txPr>
              <a:bodyPr/>
              <a:lstStyle/>
              <a:p>
                <a:pPr>
                  <a:defRPr sz="10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Speaker ID
(accuracy %)</c:v>
                </c:pt>
                <c:pt idx="1">
                  <c:v>Emotion recognition
(accuracy %)</c:v>
                </c:pt>
                <c:pt idx="2">
                  <c:v>Out-of-domain ASR
(WER %)</c:v>
                </c:pt>
                <c:pt idx="3">
                  <c:v>Speaker diarisation
(DER %)</c:v>
                </c:pt>
              </c:strCache>
            </c:strRef>
          </c:cat>
          <c:val>
            <c:numRef>
              <c:f>Sheet1!$B$2:$B$5</c:f>
              <c:numCache>
                <c:formatCode>General</c:formatCode>
                <c:ptCount val="4"/>
                <c:pt idx="0">
                  <c:v>90.33</c:v>
                </c:pt>
                <c:pt idx="1">
                  <c:v>67.62</c:v>
                </c:pt>
                <c:pt idx="2">
                  <c:v>44.08</c:v>
                </c:pt>
                <c:pt idx="3">
                  <c:v>5.75</c:v>
                </c:pt>
              </c:numCache>
            </c:numRef>
          </c:val>
          <c:extLst>
            <c:ext xmlns:c16="http://schemas.microsoft.com/office/drawing/2014/chart" uri="{C3380CC4-5D6E-409C-BE32-E72D297353CC}">
              <c16:uniqueId val="{00000000-6021-FB49-ABFE-A7FF8BA2757C}"/>
            </c:ext>
          </c:extLst>
        </c:ser>
        <c:ser>
          <c:idx val="1"/>
          <c:order val="1"/>
          <c:tx>
            <c:strRef>
              <c:f>Sheet1!$C$1</c:f>
              <c:strCache>
                <c:ptCount val="1"/>
                <c:pt idx="0">
                  <c:v>WavLM Large</c:v>
                </c:pt>
              </c:strCache>
            </c:strRef>
          </c:tx>
          <c:spPr>
            <a:solidFill>
              <a:srgbClr val="D96F32"/>
            </a:solidFill>
            <a:effectLst/>
          </c:spPr>
          <c:invertIfNegative val="0"/>
          <c:dLbls>
            <c:numFmt formatCode="0.00" sourceLinked="0"/>
            <c:spPr>
              <a:noFill/>
              <a:ln>
                <a:noFill/>
              </a:ln>
              <a:effectLst/>
            </c:spPr>
            <c:txPr>
              <a:bodyPr/>
              <a:lstStyle/>
              <a:p>
                <a:pPr>
                  <a:defRPr sz="10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Speaker ID
(accuracy %)</c:v>
                </c:pt>
                <c:pt idx="1">
                  <c:v>Emotion recognition
(accuracy %)</c:v>
                </c:pt>
                <c:pt idx="2">
                  <c:v>Out-of-domain ASR
(WER %)</c:v>
                </c:pt>
                <c:pt idx="3">
                  <c:v>Speaker diarisation
(DER %)</c:v>
                </c:pt>
              </c:strCache>
            </c:strRef>
          </c:cat>
          <c:val>
            <c:numRef>
              <c:f>Sheet1!$C$2:$C$5</c:f>
              <c:numCache>
                <c:formatCode>General</c:formatCode>
                <c:ptCount val="4"/>
                <c:pt idx="0">
                  <c:v>95.49</c:v>
                </c:pt>
                <c:pt idx="1">
                  <c:v>70.62</c:v>
                </c:pt>
                <c:pt idx="2">
                  <c:v>32.270000000000003</c:v>
                </c:pt>
                <c:pt idx="3">
                  <c:v>3.24</c:v>
                </c:pt>
              </c:numCache>
            </c:numRef>
          </c:val>
          <c:extLst>
            <c:ext xmlns:c16="http://schemas.microsoft.com/office/drawing/2014/chart" uri="{C3380CC4-5D6E-409C-BE32-E72D297353CC}">
              <c16:uniqueId val="{00000001-6021-FB49-ABFE-A7FF8BA275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070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D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070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0707A"/>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0707A"/>
                </a:solidFill>
                <a:latin typeface="Calibri"/>
              </a:defRPr>
            </a:pPr>
            <a:r>
              <a:rPr lang="en-US" sz="1200" b="0" i="0" u="none" strike="noStrike">
                <a:solidFill>
                  <a:srgbClr val="50707A"/>
                </a:solidFill>
                <a:latin typeface="Calibri"/>
              </a:rPr>
              <a:t>Each modification helps the tasks it was designed for</a:t>
            </a:r>
          </a:p>
        </c:rich>
      </c:tx>
      <c:overlay val="0"/>
    </c:title>
    <c:autoTitleDeleted val="0"/>
    <c:plotArea>
      <c:layout/>
      <c:barChart>
        <c:barDir val="col"/>
        <c:grouping val="clustered"/>
        <c:varyColors val="0"/>
        <c:ser>
          <c:idx val="0"/>
          <c:order val="0"/>
          <c:tx>
            <c:strRef>
              <c:f>Sheet1!$B$1</c:f>
              <c:strCache>
                <c:ptCount val="1"/>
                <c:pt idx="0">
                  <c:v>WavLM Base</c:v>
                </c:pt>
              </c:strCache>
            </c:strRef>
          </c:tx>
          <c:spPr>
            <a:solidFill>
              <a:srgbClr val="24798C"/>
            </a:solidFill>
            <a:effectLst/>
          </c:spPr>
          <c:invertIfNegative val="0"/>
          <c:dLbls>
            <c:numFmt formatCode="0.00" sourceLinked="0"/>
            <c:spPr>
              <a:noFill/>
              <a:ln>
                <a:noFill/>
              </a:ln>
              <a:effectLst/>
            </c:spPr>
            <c:txPr>
              <a:bodyPr/>
              <a:lstStyle/>
              <a:p>
                <a:pPr>
                  <a:defRPr sz="10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Speaker diarisation
(DER %, lower better)</c:v>
                </c:pt>
                <c:pt idx="1">
                  <c:v>Speech recognition
(WER %, lower better)</c:v>
                </c:pt>
                <c:pt idx="2">
                  <c:v>Phoneme recognition
(PER %, lower better)</c:v>
                </c:pt>
              </c:strCache>
            </c:strRef>
          </c:cat>
          <c:val>
            <c:numRef>
              <c:f>Sheet1!$B$2:$B$4</c:f>
              <c:numCache>
                <c:formatCode>General</c:formatCode>
                <c:ptCount val="3"/>
                <c:pt idx="0">
                  <c:v>4.55</c:v>
                </c:pt>
                <c:pt idx="1">
                  <c:v>6.21</c:v>
                </c:pt>
                <c:pt idx="2">
                  <c:v>4.84</c:v>
                </c:pt>
              </c:numCache>
            </c:numRef>
          </c:val>
          <c:extLst>
            <c:ext xmlns:c16="http://schemas.microsoft.com/office/drawing/2014/chart" uri="{C3380CC4-5D6E-409C-BE32-E72D297353CC}">
              <c16:uniqueId val="{00000000-99BB-854F-AE99-182A54183F75}"/>
            </c:ext>
          </c:extLst>
        </c:ser>
        <c:ser>
          <c:idx val="1"/>
          <c:order val="1"/>
          <c:tx>
            <c:strRef>
              <c:f>Sheet1!$C$1</c:f>
              <c:strCache>
                <c:ptCount val="1"/>
                <c:pt idx="0">
                  <c:v>without denoising</c:v>
                </c:pt>
              </c:strCache>
            </c:strRef>
          </c:tx>
          <c:spPr>
            <a:solidFill>
              <a:srgbClr val="D96F32"/>
            </a:solidFill>
            <a:effectLst/>
          </c:spPr>
          <c:invertIfNegative val="0"/>
          <c:dLbls>
            <c:numFmt formatCode="0.00" sourceLinked="0"/>
            <c:spPr>
              <a:noFill/>
              <a:ln>
                <a:noFill/>
              </a:ln>
              <a:effectLst/>
            </c:spPr>
            <c:txPr>
              <a:bodyPr/>
              <a:lstStyle/>
              <a:p>
                <a:pPr>
                  <a:defRPr sz="10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Speaker diarisation
(DER %, lower better)</c:v>
                </c:pt>
                <c:pt idx="1">
                  <c:v>Speech recognition
(WER %, lower better)</c:v>
                </c:pt>
                <c:pt idx="2">
                  <c:v>Phoneme recognition
(PER %, lower better)</c:v>
                </c:pt>
              </c:strCache>
            </c:strRef>
          </c:cat>
          <c:val>
            <c:numRef>
              <c:f>Sheet1!$C$2:$C$4</c:f>
              <c:numCache>
                <c:formatCode>General</c:formatCode>
                <c:ptCount val="3"/>
                <c:pt idx="0">
                  <c:v>6.03</c:v>
                </c:pt>
                <c:pt idx="1">
                  <c:v>6.08</c:v>
                </c:pt>
                <c:pt idx="2">
                  <c:v>4.8499999999999996</c:v>
                </c:pt>
              </c:numCache>
            </c:numRef>
          </c:val>
          <c:extLst>
            <c:ext xmlns:c16="http://schemas.microsoft.com/office/drawing/2014/chart" uri="{C3380CC4-5D6E-409C-BE32-E72D297353CC}">
              <c16:uniqueId val="{00000001-99BB-854F-AE99-182A54183F75}"/>
            </c:ext>
          </c:extLst>
        </c:ser>
        <c:ser>
          <c:idx val="2"/>
          <c:order val="2"/>
          <c:tx>
            <c:strRef>
              <c:f>Sheet1!$D$1</c:f>
              <c:strCache>
                <c:ptCount val="1"/>
                <c:pt idx="0">
                  <c:v>without gated position bias</c:v>
                </c:pt>
              </c:strCache>
            </c:strRef>
          </c:tx>
          <c:spPr>
            <a:solidFill>
              <a:srgbClr val="8FB0B8"/>
            </a:solidFill>
            <a:effectLst/>
          </c:spPr>
          <c:invertIfNegative val="0"/>
          <c:dLbls>
            <c:numFmt formatCode="0.00" sourceLinked="0"/>
            <c:spPr>
              <a:noFill/>
              <a:ln>
                <a:noFill/>
              </a:ln>
              <a:effectLst/>
            </c:spPr>
            <c:txPr>
              <a:bodyPr/>
              <a:lstStyle/>
              <a:p>
                <a:pPr>
                  <a:defRPr sz="10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Speaker diarisation
(DER %, lower better)</c:v>
                </c:pt>
                <c:pt idx="1">
                  <c:v>Speech recognition
(WER %, lower better)</c:v>
                </c:pt>
                <c:pt idx="2">
                  <c:v>Phoneme recognition
(PER %, lower better)</c:v>
                </c:pt>
              </c:strCache>
            </c:strRef>
          </c:cat>
          <c:val>
            <c:numRef>
              <c:f>Sheet1!$D$2:$D$4</c:f>
              <c:numCache>
                <c:formatCode>General</c:formatCode>
                <c:ptCount val="3"/>
                <c:pt idx="0">
                  <c:v>4.72</c:v>
                </c:pt>
                <c:pt idx="1">
                  <c:v>6.8</c:v>
                </c:pt>
                <c:pt idx="2">
                  <c:v>5.22</c:v>
                </c:pt>
              </c:numCache>
            </c:numRef>
          </c:val>
          <c:extLst>
            <c:ext xmlns:c16="http://schemas.microsoft.com/office/drawing/2014/chart" uri="{C3380CC4-5D6E-409C-BE32-E72D297353CC}">
              <c16:uniqueId val="{00000002-99BB-854F-AE99-182A54183F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070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D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070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0707A"/>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0707A"/>
                </a:solidFill>
                <a:latin typeface="Calibri"/>
              </a:defRPr>
            </a:pPr>
            <a:r>
              <a:rPr lang="en-US" sz="1200" b="0" i="0" u="none" strike="noStrike">
                <a:solidFill>
                  <a:srgbClr val="50707A"/>
                </a:solidFill>
                <a:latin typeface="Calibri"/>
              </a:rPr>
              <a:t>Equal error rate (%) — lower is better</a:t>
            </a:r>
          </a:p>
        </c:rich>
      </c:tx>
      <c:overlay val="0"/>
    </c:title>
    <c:autoTitleDeleted val="0"/>
    <c:plotArea>
      <c:layout/>
      <c:barChart>
        <c:barDir val="col"/>
        <c:grouping val="clustered"/>
        <c:varyColors val="0"/>
        <c:ser>
          <c:idx val="0"/>
          <c:order val="0"/>
          <c:tx>
            <c:strRef>
              <c:f>Sheet1!$B$1</c:f>
              <c:strCache>
                <c:ptCount val="1"/>
                <c:pt idx="0">
                  <c:v>Vox1-O</c:v>
                </c:pt>
              </c:strCache>
            </c:strRef>
          </c:tx>
          <c:spPr>
            <a:solidFill>
              <a:srgbClr val="24798C"/>
            </a:solidFill>
            <a:effectLst/>
          </c:spPr>
          <c:invertIfNegative val="0"/>
          <c:dLbls>
            <c:numFmt formatCode="0.000" sourceLinked="0"/>
            <c:spPr>
              <a:noFill/>
              <a:ln>
                <a:noFill/>
              </a:ln>
              <a:effectLst/>
            </c:spPr>
            <c:txPr>
              <a:bodyPr/>
              <a:lstStyle/>
              <a:p>
                <a:pPr>
                  <a:defRPr sz="95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ECAPA-TDNN
(purpose-built)</c:v>
                </c:pt>
                <c:pt idx="1">
                  <c:v>HuBERT Base</c:v>
                </c:pt>
                <c:pt idx="2">
                  <c:v>HuBERT Large</c:v>
                </c:pt>
                <c:pt idx="3">
                  <c:v>WavLM Base+</c:v>
                </c:pt>
                <c:pt idx="4">
                  <c:v>WavLM Large</c:v>
                </c:pt>
                <c:pt idx="5">
                  <c:v>WavLM Large
+ calibration</c:v>
                </c:pt>
              </c:strCache>
            </c:strRef>
          </c:cat>
          <c:val>
            <c:numRef>
              <c:f>Sheet1!$B$2:$B$7</c:f>
              <c:numCache>
                <c:formatCode>General</c:formatCode>
                <c:ptCount val="6"/>
                <c:pt idx="0">
                  <c:v>1.01</c:v>
                </c:pt>
                <c:pt idx="1">
                  <c:v>0.98899999999999999</c:v>
                </c:pt>
                <c:pt idx="2">
                  <c:v>0.80800000000000005</c:v>
                </c:pt>
                <c:pt idx="3">
                  <c:v>0.84</c:v>
                </c:pt>
                <c:pt idx="4">
                  <c:v>0.61699999999999999</c:v>
                </c:pt>
                <c:pt idx="5">
                  <c:v>0.38300000000000001</c:v>
                </c:pt>
              </c:numCache>
            </c:numRef>
          </c:val>
          <c:extLst>
            <c:ext xmlns:c16="http://schemas.microsoft.com/office/drawing/2014/chart" uri="{C3380CC4-5D6E-409C-BE32-E72D297353CC}">
              <c16:uniqueId val="{00000000-0424-B447-BEA4-646037F27B59}"/>
            </c:ext>
          </c:extLst>
        </c:ser>
        <c:ser>
          <c:idx val="1"/>
          <c:order val="1"/>
          <c:tx>
            <c:strRef>
              <c:f>Sheet1!$C$1</c:f>
              <c:strCache>
                <c:ptCount val="1"/>
                <c:pt idx="0">
                  <c:v>Vox1-H</c:v>
                </c:pt>
              </c:strCache>
            </c:strRef>
          </c:tx>
          <c:spPr>
            <a:solidFill>
              <a:srgbClr val="D96F32"/>
            </a:solidFill>
            <a:effectLst/>
          </c:spPr>
          <c:invertIfNegative val="0"/>
          <c:dLbls>
            <c:numFmt formatCode="0.000" sourceLinked="0"/>
            <c:spPr>
              <a:noFill/>
              <a:ln>
                <a:noFill/>
              </a:ln>
              <a:effectLst/>
            </c:spPr>
            <c:txPr>
              <a:bodyPr/>
              <a:lstStyle/>
              <a:p>
                <a:pPr>
                  <a:defRPr sz="95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ECAPA-TDNN
(purpose-built)</c:v>
                </c:pt>
                <c:pt idx="1">
                  <c:v>HuBERT Base</c:v>
                </c:pt>
                <c:pt idx="2">
                  <c:v>HuBERT Large</c:v>
                </c:pt>
                <c:pt idx="3">
                  <c:v>WavLM Base+</c:v>
                </c:pt>
                <c:pt idx="4">
                  <c:v>WavLM Large</c:v>
                </c:pt>
                <c:pt idx="5">
                  <c:v>WavLM Large
+ calibration</c:v>
                </c:pt>
              </c:strCache>
            </c:strRef>
          </c:cat>
          <c:val>
            <c:numRef>
              <c:f>Sheet1!$C$2:$C$7</c:f>
              <c:numCache>
                <c:formatCode>General</c:formatCode>
                <c:ptCount val="6"/>
                <c:pt idx="0">
                  <c:v>2.3199999999999998</c:v>
                </c:pt>
                <c:pt idx="1">
                  <c:v>2.2160000000000002</c:v>
                </c:pt>
                <c:pt idx="2">
                  <c:v>1.6779999999999999</c:v>
                </c:pt>
                <c:pt idx="3">
                  <c:v>1.758</c:v>
                </c:pt>
                <c:pt idx="4">
                  <c:v>1.3180000000000001</c:v>
                </c:pt>
                <c:pt idx="5">
                  <c:v>0.98599999999999999</c:v>
                </c:pt>
              </c:numCache>
            </c:numRef>
          </c:val>
          <c:extLst>
            <c:ext xmlns:c16="http://schemas.microsoft.com/office/drawing/2014/chart" uri="{C3380CC4-5D6E-409C-BE32-E72D297353CC}">
              <c16:uniqueId val="{00000001-0424-B447-BEA4-646037F27B5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070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D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070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0707A"/>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50707A"/>
                </a:solidFill>
                <a:latin typeface="Calibri"/>
              </a:defRPr>
            </a:pPr>
            <a:r>
              <a:rPr lang="en-US" sz="1150" b="0" i="0" u="none" strike="noStrike">
                <a:solidFill>
                  <a:srgbClr val="50707A"/>
                </a:solidFill>
                <a:latin typeface="Calibri"/>
              </a:rPr>
              <a:t>Speaker diarisation — lower is better</a:t>
            </a:r>
          </a:p>
        </c:rich>
      </c:tx>
      <c:overlay val="0"/>
    </c:title>
    <c:autoTitleDeleted val="0"/>
    <c:plotArea>
      <c:layout/>
      <c:barChart>
        <c:barDir val="col"/>
        <c:grouping val="clustered"/>
        <c:varyColors val="0"/>
        <c:ser>
          <c:idx val="0"/>
          <c:order val="0"/>
          <c:tx>
            <c:strRef>
              <c:f>Sheet1!$B$1</c:f>
              <c:strCache>
                <c:ptCount val="1"/>
                <c:pt idx="0">
                  <c:v>Diarisation error rate, CALLHOME (%)</c:v>
                </c:pt>
              </c:strCache>
            </c:strRef>
          </c:tx>
          <c:spPr>
            <a:solidFill>
              <a:srgbClr val="24798C"/>
            </a:solidFill>
            <a:effectLst/>
          </c:spPr>
          <c:invertIfNegative val="0"/>
          <c:dLbls>
            <c:numFmt formatCode="0.00" sourceLinked="0"/>
            <c:spPr>
              <a:noFill/>
              <a:ln>
                <a:noFill/>
              </a:ln>
              <a:effectLst/>
            </c:spPr>
            <c:txPr>
              <a:bodyPr/>
              <a:lstStyle/>
              <a:p>
                <a:pPr>
                  <a:defRPr sz="10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Baseline system</c:v>
                </c:pt>
                <c:pt idx="1">
                  <c:v>HuBERT Base</c:v>
                </c:pt>
                <c:pt idx="2">
                  <c:v>HuBERT Large</c:v>
                </c:pt>
                <c:pt idx="3">
                  <c:v>WavLM Base+</c:v>
                </c:pt>
                <c:pt idx="4">
                  <c:v>WavLM Large</c:v>
                </c:pt>
              </c:strCache>
            </c:strRef>
          </c:cat>
          <c:val>
            <c:numRef>
              <c:f>Sheet1!$B$2:$B$6</c:f>
              <c:numCache>
                <c:formatCode>General</c:formatCode>
                <c:ptCount val="5"/>
                <c:pt idx="0">
                  <c:v>13.31</c:v>
                </c:pt>
                <c:pt idx="1">
                  <c:v>12.63</c:v>
                </c:pt>
                <c:pt idx="2">
                  <c:v>12.4</c:v>
                </c:pt>
                <c:pt idx="3">
                  <c:v>11.78</c:v>
                </c:pt>
                <c:pt idx="4">
                  <c:v>10.35</c:v>
                </c:pt>
              </c:numCache>
            </c:numRef>
          </c:val>
          <c:extLst>
            <c:ext xmlns:c16="http://schemas.microsoft.com/office/drawing/2014/chart" uri="{C3380CC4-5D6E-409C-BE32-E72D297353CC}">
              <c16:uniqueId val="{00000000-B789-8A43-BB68-535B78A5348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070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D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070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50707A"/>
                </a:solidFill>
                <a:latin typeface="Calibri"/>
              </a:defRPr>
            </a:pPr>
            <a:r>
              <a:rPr lang="en-US" sz="1150" b="0" i="0" u="none" strike="noStrike">
                <a:solidFill>
                  <a:srgbClr val="50707A"/>
                </a:solidFill>
                <a:latin typeface="Calibri"/>
              </a:rPr>
              <a:t>Speech separation, averaged over overlap ratios</a:t>
            </a:r>
          </a:p>
        </c:rich>
      </c:tx>
      <c:overlay val="0"/>
    </c:title>
    <c:autoTitleDeleted val="0"/>
    <c:plotArea>
      <c:layout/>
      <c:barChart>
        <c:barDir val="col"/>
        <c:grouping val="clustered"/>
        <c:varyColors val="0"/>
        <c:ser>
          <c:idx val="0"/>
          <c:order val="0"/>
          <c:tx>
            <c:strRef>
              <c:f>Sheet1!$B$1</c:f>
              <c:strCache>
                <c:ptCount val="1"/>
                <c:pt idx="0">
                  <c:v>Word error rate, LibriCSS (%)</c:v>
                </c:pt>
              </c:strCache>
            </c:strRef>
          </c:tx>
          <c:spPr>
            <a:solidFill>
              <a:srgbClr val="D96F32"/>
            </a:solidFill>
            <a:effectLst/>
          </c:spPr>
          <c:invertIfNegative val="0"/>
          <c:dLbls>
            <c:numFmt formatCode="0.0" sourceLinked="0"/>
            <c:spPr>
              <a:noFill/>
              <a:ln>
                <a:noFill/>
              </a:ln>
              <a:effectLst/>
            </c:spPr>
            <c:txPr>
              <a:bodyPr/>
              <a:lstStyle/>
              <a:p>
                <a:pPr>
                  <a:defRPr sz="1000" b="0" i="0" u="none" strike="noStrike">
                    <a:solidFill>
                      <a:srgbClr val="2738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Conformer
baseline</c:v>
                </c:pt>
                <c:pt idx="1">
                  <c:v>HuBERT
Base</c:v>
                </c:pt>
                <c:pt idx="2">
                  <c:v>WavLM
Base+</c:v>
                </c:pt>
                <c:pt idx="3">
                  <c:v>WavLM
Large</c:v>
                </c:pt>
              </c:strCache>
            </c:strRef>
          </c:cat>
          <c:val>
            <c:numRef>
              <c:f>Sheet1!$B$2:$B$5</c:f>
              <c:numCache>
                <c:formatCode>General</c:formatCode>
                <c:ptCount val="4"/>
                <c:pt idx="0">
                  <c:v>8.3000000000000007</c:v>
                </c:pt>
                <c:pt idx="1">
                  <c:v>8.1</c:v>
                </c:pt>
                <c:pt idx="2">
                  <c:v>7.4</c:v>
                </c:pt>
                <c:pt idx="3">
                  <c:v>6</c:v>
                </c:pt>
              </c:numCache>
            </c:numRef>
          </c:val>
          <c:extLst>
            <c:ext xmlns:c16="http://schemas.microsoft.com/office/drawing/2014/chart" uri="{C3380CC4-5D6E-409C-BE32-E72D297353CC}">
              <c16:uniqueId val="{00000000-18BF-7545-9E9E-18893D0D2FC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070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D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070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0651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Pick up directly from HuBERT. WavLM keeps the HuBERT framework wholesale — same architecture, same masked prediction loss, same k-means cluster targets — and changes three things: what goes into the model, how position is encoded, and how much data there is.
The framing that matters: HuBERT was a speech recognition paper that happened to produce good general representations. WavLM is the first paper that sets out to build a general speech model on purpose, and evaluates on nineteen tasks to prove it.
For this audience, note that emotion recognition is one of those nineteen — we will come 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The Base+ result in the dark card is the most persuasive number in the paper and worth leading with. A 95-million-parameter model beating a 317-million-parameter one is a strong claim that the modifications, not the capacity, are doing the work.
Be precise about what Base+ changes relative to Base: it is the same architecture and the same objective, trained on 94 thousand hours instead of 960, for 1.2 million steps instead of 400 thousand. So it is partly data and partly compute.
The speaker verification number is included because it is the clearest evidence of the paper's actual thesis: an SSL model beating a purpose-built speaker verification architecture at speaker verification.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[4:10–6:20] The two drawbacks.
The dark card is the through-line of this whole seminar series, so land it deliberately. We have now seen this tension three times: in the wav2vec 2.0 quantisation ablation, in the Pepino emotion results where ASR fine-tuning cost fourteen points, and now stated explicitly as the motivation for a new model.
The separation observation in the first card is worth flagging as an experimental claim the paper makes about someone else's model, which it then verifies in its own results section. That is good practice — the criticism is not rhetorical.
On the audiobook point: LibriVox recordings are volunteers reading books alone into a microphone. Clean, single-speaker, fluent, low-noise. Everything a real deployment is not.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[6:20–8:20] SUPERB.
This closes a loop from the wav2vec 2.0 seminar. We said then that the last layer is usually the wrong layer and that a learned weighted sum is the right default. Here that practice is baked into the benchmark that defines the field.
There is a nice footnote in the paper: the SUPERB paper itself does not emphasise the weighted-sum contribution in its text, only in the authors' conference presentation. WavLM's authors point to a specific timestamp in that talk. Small, but a good example of how much of a method can live outside the paper.
Flag the frozen-model caveat clearly. It means SUPERB measures representation quality, not achievable performance, and the two can diverge.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[8:20–8:30]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[8:30–10:00] What stays.
Move briskly; the point is the last line. Because everything else is held fixed, the ablations in section 3 actually isolate the contributions — which is more than most follow-up papers manage.
The fourth row catches people out. The gated relative position bias is an addition to the attention logits; the convolutional position embedding from wav2vec 2.0 and HuBERT is still there at the bottom of the stack. Both mechanisms coexist.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[10:00–12:30] The denoising objective. Protect this slide.
The key structural point, and the one most worth repeating: the input is corrupted, the target is not. Labels come from the clean audio. That is what makes it denoising rather than just noisy training.
Connect back to the HuBERT talk. HuBERT's insight was about *where* the loss is applied — masked positions only. WavLM's insight is about *what goes in* — corrupted audio. The two are orthogonal and compose cleanly.
The overlap cap is a small design detail with real consequence, and it is the kind of thing worth noticing in a seminar: without it the task has no well-defined answer. Compare CREMA-D's decision to force a six-way choice, or IEMOCAP's majority-vote rule — every corpus and every objective needs a tie-break, and the tie-break shapes what gets learned.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[12:30–14:30] The simulation.
This is data augmentation, and you should say so plainly — but augmentation designed so that the pre-training task itself becomes the multi-speaker task, rather than augmentation applied at fine-tuning time.
The last line is the practical point: because interferers are drawn from the current batch, this adds essentially no data-loading cost and no extra corpus. It is a very cheap modification for the size of the effect we will see.
Note also how small the dose is: only 20% of utterances are corrupted, and the noise variant is only 10% of those in the larger models. This is not a heavily corrupted training regime.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[14:30–16:40] Gated position bias.
The mechanism is fiddly and you do not need the equations. The intuition in the second card is what people should leave with, and the third bullet is the structural point: this paper makes two modifications that help two different halves of the benchmark, and the ablations show each doing its job.
The overflow fix in the last bullet is worth thirty seconds because it is the kind of engineering detail that determines whether a reproduction works. Attention logits exceeding the 16-bit float range produce NaN losses; subtracting the row maximum before scaling fixes it, exploiting the fact that softmax is translation invariant.
Origin note: the gated bias comes from XLM-E, a cross-lingual text model. Another case of a text technique moving into speech.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[16:40–18:40] Data.
The last bullet is the honest caveat and worth making yourself before someone else does: WavLM criticises the field for being 90% audiobook and then trains on a set that is roughly two-thirds audiobook. It is a real improvement, not a solution.
The dark card is the important reading of the Base-versus-Base-plus comparison. The gains are concentrated on exactly the tasks whose evaluation data does not look like LibriSpeech. That is a cleaner story than 'more data helps' and it connects to the domain-shift arguments from earlier sessions.
The GigaSpeech filtering detail is a nice reminder that at this scale, data quality control is a research contribution in itself.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[18:40–20:20] Configurations.
The footnote at the bottom is the detail worth catching, and it usually surprises people. WavLM does not run its own clustering bootstrap — it takes HuBERT's published targets off the shelf.
The paper is candid about why, and it is a genuinely odd finding: even though the first-iteration WavLM is better than HuBERT, using HuBERT's first-iteration pseudo-labels produces a slightly better second-iteration WavLM — about 0.2 WER better on dev-other.
Nobody explains that. It is a good discussion prompt, and it undercuts the tidy story that better teachers always give better students.
Also note Base and Base+ are the same size and differ only in data and training length — which is what makes their comparison informative.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[20:20–20:30]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[20:30–22:40] SUPERB overall.
The Base-versus-Base comparison in the first bullet is the scientifically clean one: same data, same size, same targets, only the objective and the position bias differ. Winning all fifteen subtasks in that setting is a strong result.
The dark card is a caveat worth stating without hostility. Aggregating fifteen heterogeneous metrics into one number requires choices — which inversion, which scaling, equal weights — and those choices are the authors'. The per-task results, which we look at next, are the more informative view.
Also worth noting for anyone comparing to published SUPERB leaderboards: numbers move as the benchmark evolves, so check the version before quoting.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[22:40–25:00] Where the gains are.
This slide is the argument of the paper in one chart. The gains are concentrated exactly where the modifications were aimed, and in-domain ASR is flat — which is the control condition.
Spend real time on the emotion result and the dark card. Last session we established that ASR fine-tuning damages paralinguistic information because transcription treats speaker state as nuisance. WavLM is the constructive response: change the pre-training objective so that speaker characteristics are something the model must preserve rather than discard, and paralinguistic performance improves for free.
Put the open question to the room: nobody has yet designed a pre-training objective aimed at emotion specifically. WavLM's gain on emotion is a side effect of a speaker-oriented objective. That is a research opportunity.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[25:00–27:10] Ablations.
The double dissociation in the third bullet is the phrase to use — it is the standard for showing two mechanisms are genuinely separate rather than both being generic improvements.
The fourth bullet is worth being honest about: the 'without denoising' model is marginally better on ASR, 6.08 against 6.21. So denoising costs a little content accuracy and buys a lot of speaker capability. That is a trade the authors make on purpose, and they report it rather than hiding it.
Note that WavLM Base without both modifications would essentially be HuBERT Base with a slightly different training run — and HuBERT Base scores 70.9 overall against WavLM Base's 72.0.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[27:10–29:20] Speaker verification.
The second bullet is the one that earns the paper. HuBERT Base — the model the whole field had adopted — is about level with filter banks for speaker verification, and slightly worse than filter banks on the hardest trial list. That is a real gap, and it is exactly the gap WavLM was built to close.
Be scrupulous about the last bar. The 0.383 figure includes large-margin fine-tuning and score calibration, which are standard speaker-verification tricks and not part of the representation. The like-for-like comparison against HuBERT Large with the same tricks is 0.383 against 0.585.
If someone asks why speaker information survives at all in a model trained to predict phonetic-ish cluster labels: partly because those clusters do encode speaker variation, and partly because the denoising task explicitly requires tracking one speaker through interference.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[29:20–31:40] Multi-speaker tasks.
This is the payoff slide for the denoising objective, and the first bullet closes the loop the paper opened in its introduction: it claimed HuBERT barely helps separation, and here it demonstrates that on its own reproduction of the baseline.
The last bullet is worth a moment because it generalises. Fine-tuning gave better training accuracy and worse evaluation results — because the training mixtures are simulated and LibriCSS is real recordings played back in a room. Freezing acts as regularisation against a train-test domain gap.
That is the same lesson as the cross-corpus discussion from the emotion seminars, in a different setting: your model can overfit the way your data was constructed.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[31:40–33:40] Speech recognition.
The dark card is the strategic point of the paper and a good moment to step back. LibriSpeech test-clean has saturated. wav2vec 2.0 got 1.8/3.3 in 2020; HuBERT got 1.9/3.3 in 2021; WavLM gets 1.8/3.2 in 2022. Three genuinely different objectives, one tenth apart.
The no-language-model column is the more informative comparison and it is worth telling people to look for it in papers. It isolates the acoustic model. WavLM Base beats wav2vec 2.0 by a wide margin there and ties it once a Transformer language model is bolted on.
Same caution we raised in the wav2vec seminar: a headline WER is a pipeline result, and the language model is doing a lot of the work.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[33:40–33:50]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[33:50–36:00] Layer analysis.
This closes a loop we opened two seminars ago with the Pasad layer-wise analysis of wav2vec 2.0. Same finding, arrived at differently: there, by probing; here, by reading off the weights the downstream heads learn.
The first bullet is the important one. Because HuBERT and WavLM show the same pattern, this is not a quirk of one model — it is what masked-prediction pre-training does. Speaker information ends up low, content ends up high.
The practical consequence for this room, restated: if you are doing emotion work and taking the last hidden layer, you are taking the layer that is most specialised for content and least informative about the speaker. Learn the weights instead — it costs one vector of parameters.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[36:00–36:10]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[36:10–38:20] Appraisal.
The simulated-mixing limitation is the most substantive and worth developing. Real overlapped speech has shared room acoustics, coordinated turn-taking, backchannels and interruption structure. Additive mixing of two unrelated utterances at a random offset has none of that. The results transfer surprisingly well anyway, which is itself interesting.
The last limitation is the one relevant to this room. SUPERB's emotion task is IEMOCAP four-class — the same benchmark, with all the caveats we spent a whole session on: merged excitement, discarded unlabelled turns, no official split. So 'WavLM improves emotion recognition' rests on a single number from a benchmark we have good reason to distrust.
That is not a criticism of WavLM so much as a statement about what the field has available to measure with.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[38:20–40:20] The comparison.
Let people read, then walk three rows: the question asked, the input during pre-training, and the evaluation.
The framing to insist on is that these are not competing methods. WavLM is HuBERT plus two changes, and the reason it looks better is largely that it is measured on things HuBERT never measured. On the benchmark HuBERT was optimised for, they tie.
The 'targets' row is worth a second look — WavLM literally downloads HuBERT's clustering outputs. The dependency is more than intellectual.
End on the 'what it left open' row, which sets up the discussion.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[40:20–41:40] Take-aways.
Read these; they are written to be transcribed.
Number one is the most transferable idea in the paper and it generalises well beyond speech: corrupting the input while keeping the target clean is a general recipe for making a model robust to a specific kind of interference, and for making it learn what it needs to see through that interference.
Number four is the practical one this room can act on tomorrow.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[41:40–45:00] Discussion and close.
Five prompts; take two. Question 1 is the best for this group and is a genuinely open research question. Plausible directions: corrupt the linguistic content while preserving prosody, or contrast utterances by the same speaker in different emotional states so that speaker identity becomes the nuisance rather than the signal.
Question 4 is the natural closer because it ties the whole series together — the corpus seminars, the wav2vec 2.0 seminar and these two papers all converge on it. Better representations are cheap now; better evaluation is not.
Close by naming the arc: we went from arguing about how to elicit emotion in a recording studio to models that learn speech structure from ninety-four thousand unlabelled hours. The bottleneck moved, and it landed back on the labels.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3A"/>
        </a:solidFill>
        <a:effectLst/>
      </p:bgPr>
    </p:bg>
    <p:spTree>
      <p:nvGrpSpPr>
        <p:cNvPr id="1" name=""/>
        <p:cNvGrpSpPr/>
        <p:nvPr/>
      </p:nvGrpSpPr>
      <p:grpSpPr>
        <a:xfrm>
          <a:off x="0" y="0"/>
          <a:ext cx="0" cy="0"/>
          <a:chOff x="0" y="0"/>
          <a:chExt cx="0" cy="0"/>
        </a:xfrm>
      </p:grpSpPr>
      <p:sp>
        <p:nvSpPr>
          <p:cNvPr id="2" name="Shape 0"/>
          <p:cNvSpPr/>
          <p:nvPr/>
        </p:nvSpPr>
        <p:spPr>
          <a:xfrm>
            <a:off x="868680" y="1051560"/>
            <a:ext cx="618134" cy="618134"/>
          </a:xfrm>
          <a:prstGeom prst="ellipse">
            <a:avLst/>
          </a:prstGeom>
          <a:solidFill>
            <a:srgbClr val="C2DBE0"/>
          </a:solidFill>
          <a:ln w="12700">
            <a:solidFill>
              <a:srgbClr val="333333"/>
            </a:solidFill>
            <a:prstDash val="solid"/>
          </a:ln>
        </p:spPr>
        <p:txBody>
          <a:bodyPr/>
          <a:lstStyle/>
          <a:p>
            <a:endParaRPr lang="en-US"/>
          </a:p>
        </p:txBody>
      </p:sp>
      <p:sp>
        <p:nvSpPr>
          <p:cNvPr id="3" name="Shape 1"/>
          <p:cNvSpPr/>
          <p:nvPr/>
        </p:nvSpPr>
        <p:spPr>
          <a:xfrm>
            <a:off x="1225296" y="1217981"/>
            <a:ext cx="618134" cy="61813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581912" y="1051560"/>
            <a:ext cx="618134" cy="618134"/>
          </a:xfrm>
          <a:prstGeom prst="ellipse">
            <a:avLst/>
          </a:prstGeom>
          <a:solidFill>
            <a:srgbClr val="8FB0B8"/>
          </a:solidFill>
          <a:ln w="12700">
            <a:solidFill>
              <a:srgbClr val="333333"/>
            </a:solidFill>
            <a:prstDash val="solid"/>
          </a:ln>
        </p:spPr>
        <p:txBody>
          <a:bodyPr/>
          <a:lstStyle/>
          <a:p>
            <a:endParaRPr lang="en-US"/>
          </a:p>
        </p:txBody>
      </p:sp>
      <p:sp>
        <p:nvSpPr>
          <p:cNvPr id="5" name="Text 3"/>
          <p:cNvSpPr txBox="1"/>
          <p:nvPr/>
        </p:nvSpPr>
        <p:spPr>
          <a:xfrm>
            <a:off x="822960" y="1874520"/>
            <a:ext cx="10515600" cy="914400"/>
          </a:xfrm>
          <a:prstGeom prst="rect">
            <a:avLst/>
          </a:prstGeom>
          <a:noFill/>
          <a:ln/>
        </p:spPr>
        <p:txBody>
          <a:bodyPr wrap="square" lIns="0" tIns="0" rIns="0" bIns="0" rtlCol="0" anchor="ctr"/>
          <a:lstStyle/>
          <a:p>
            <a:pPr marL="0" indent="0">
              <a:buNone/>
            </a:pPr>
            <a:r>
              <a:rPr lang="en-US" sz="5200" b="1" kern="0" spc="100" dirty="0">
                <a:solidFill>
                  <a:srgbClr val="FFFFFF"/>
                </a:solidFill>
                <a:latin typeface="Cambria" pitchFamily="34" charset="0"/>
                <a:ea typeface="Cambria" pitchFamily="34" charset="-122"/>
                <a:cs typeface="Cambria" pitchFamily="34" charset="-120"/>
              </a:rPr>
              <a:t>WavLM</a:t>
            </a:r>
            <a:endParaRPr lang="en-US" sz="5200" dirty="0"/>
          </a:p>
        </p:txBody>
      </p:sp>
      <p:sp>
        <p:nvSpPr>
          <p:cNvPr id="6" name="Text 4"/>
          <p:cNvSpPr txBox="1"/>
          <p:nvPr/>
        </p:nvSpPr>
        <p:spPr>
          <a:xfrm>
            <a:off x="822960" y="2788920"/>
            <a:ext cx="10607040" cy="502920"/>
          </a:xfrm>
          <a:prstGeom prst="rect">
            <a:avLst/>
          </a:prstGeom>
          <a:noFill/>
          <a:ln/>
        </p:spPr>
        <p:txBody>
          <a:bodyPr wrap="square" lIns="0" tIns="0" rIns="0" bIns="0" rtlCol="0" anchor="ctr"/>
          <a:lstStyle/>
          <a:p>
            <a:pPr marL="0" indent="0">
              <a:buNone/>
            </a:pPr>
            <a:r>
              <a:rPr lang="en-US" sz="1900" i="1" dirty="0">
                <a:solidFill>
                  <a:srgbClr val="C2DBE0"/>
                </a:solidFill>
                <a:latin typeface="Cambria" pitchFamily="34" charset="0"/>
                <a:ea typeface="Cambria" pitchFamily="34" charset="-122"/>
                <a:cs typeface="Cambria" pitchFamily="34" charset="-120"/>
              </a:rPr>
              <a:t>Large-Scale Self-Supervised Pre-Training for Full Stack Speech Processing</a:t>
            </a:r>
            <a:endParaRPr lang="en-US" sz="1900" dirty="0"/>
          </a:p>
        </p:txBody>
      </p:sp>
      <p:sp>
        <p:nvSpPr>
          <p:cNvPr id="7" name="Text 5"/>
          <p:cNvSpPr txBox="1"/>
          <p:nvPr/>
        </p:nvSpPr>
        <p:spPr>
          <a:xfrm>
            <a:off x="859536" y="3611880"/>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A5C0C7"/>
                </a:solidFill>
                <a:latin typeface="Calibri" pitchFamily="34" charset="0"/>
                <a:ea typeface="Calibri" pitchFamily="34" charset="-122"/>
                <a:cs typeface="Calibri" pitchFamily="34" charset="-120"/>
              </a:rPr>
              <a:t>Sanyuan Chen, Chengyi Wang, Zhengyang Chen, Yu Wu and fifteen co-authors</a:t>
            </a:r>
            <a:endParaRPr lang="en-US" sz="1300" dirty="0"/>
          </a:p>
          <a:p>
            <a:pPr marL="0" indent="0">
              <a:lnSpc>
                <a:spcPct val="125000"/>
              </a:lnSpc>
              <a:buNone/>
            </a:pPr>
            <a:r>
              <a:rPr lang="en-US" sz="1300" dirty="0">
                <a:solidFill>
                  <a:srgbClr val="A5C0C7"/>
                </a:solidFill>
                <a:latin typeface="Calibri" pitchFamily="34" charset="0"/>
                <a:ea typeface="Calibri" pitchFamily="34" charset="-122"/>
                <a:cs typeface="Calibri" pitchFamily="34" charset="-120"/>
              </a:rPr>
              <a:t>IEEE Journal of Selected Topics in Signal Processing (2022)  ·  arXiv:2110.13900</a:t>
            </a:r>
            <a:endParaRPr lang="en-US" sz="1300" dirty="0"/>
          </a:p>
          <a:p>
            <a:pPr marL="0" indent="0">
              <a:lnSpc>
                <a:spcPct val="125000"/>
              </a:lnSpc>
              <a:buNone/>
            </a:pPr>
            <a:r>
              <a:rPr lang="en-US" sz="1300" dirty="0">
                <a:solidFill>
                  <a:srgbClr val="A5C0C7"/>
                </a:solidFill>
                <a:latin typeface="Calibri" pitchFamily="34" charset="0"/>
                <a:ea typeface="Calibri" pitchFamily="34" charset="-122"/>
                <a:cs typeface="Calibri" pitchFamily="34" charset="-120"/>
              </a:rPr>
              <a:t>Microsoft, with Shanghai Jiao Tong University and Harbin Institute of Technology</a:t>
            </a:r>
            <a:endParaRPr lang="en-US" sz="1300" dirty="0"/>
          </a:p>
        </p:txBody>
      </p:sp>
      <p:sp>
        <p:nvSpPr>
          <p:cNvPr id="8" name="Text 6"/>
          <p:cNvSpPr txBox="1"/>
          <p:nvPr/>
        </p:nvSpPr>
        <p:spPr>
          <a:xfrm>
            <a:off x="859536" y="5120640"/>
            <a:ext cx="8229600" cy="365760"/>
          </a:xfrm>
          <a:prstGeom prst="rect">
            <a:avLst/>
          </a:prstGeom>
          <a:noFill/>
          <a:ln/>
        </p:spPr>
        <p:txBody>
          <a:bodyPr wrap="square" lIns="0" tIns="0" rIns="0" bIns="0" rtlCol="0" anchor="ctr"/>
          <a:lstStyle/>
          <a:p>
            <a:pPr marL="0" indent="0">
              <a:buNone/>
            </a:pPr>
            <a:r>
              <a:rPr lang="en-US" sz="1250" b="1" dirty="0">
                <a:solidFill>
                  <a:srgbClr val="D96F32"/>
                </a:solidFill>
                <a:latin typeface="Calibri" pitchFamily="34" charset="0"/>
                <a:ea typeface="Calibri" pitchFamily="34" charset="-122"/>
                <a:cs typeface="Calibri" pitchFamily="34" charset="-120"/>
              </a:rPr>
              <a:t>Masked prediction and full-stack pretraining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Why this paper matters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The first speech model built to be general on purpose</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3</a:t>
            </a:r>
            <a:endParaRPr lang="en-US" sz="900" dirty="0"/>
          </a:p>
        </p:txBody>
      </p:sp>
      <p:sp>
        <p:nvSpPr>
          <p:cNvPr id="8" name="Text 6"/>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24798C"/>
                </a:solidFill>
                <a:latin typeface="Cambria" pitchFamily="34" charset="0"/>
                <a:ea typeface="Cambria" pitchFamily="34" charset="-122"/>
                <a:cs typeface="Cambria" pitchFamily="34" charset="-120"/>
              </a:rPr>
              <a:t>94k h</a:t>
            </a:r>
            <a:endParaRPr lang="en-US" sz="3400" dirty="0"/>
          </a:p>
        </p:txBody>
      </p:sp>
      <p:sp>
        <p:nvSpPr>
          <p:cNvPr id="9" name="Text 7"/>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50707A"/>
                </a:solidFill>
                <a:latin typeface="Calibri" pitchFamily="34" charset="0"/>
                <a:ea typeface="Calibri" pitchFamily="34" charset="-122"/>
                <a:cs typeface="Calibri" pitchFamily="34" charset="-120"/>
              </a:rPr>
              <a:t>of pre-training audio, from three</a:t>
            </a:r>
            <a:endParaRPr lang="en-US" sz="1150" dirty="0"/>
          </a:p>
          <a:p>
            <a:pPr marL="0" indent="0" algn="ctr">
              <a:buNone/>
            </a:pPr>
            <a:r>
              <a:rPr lang="en-US" sz="1150" dirty="0">
                <a:solidFill>
                  <a:srgbClr val="50707A"/>
                </a:solidFill>
                <a:latin typeface="Calibri" pitchFamily="34" charset="0"/>
                <a:ea typeface="Calibri" pitchFamily="34" charset="-122"/>
                <a:cs typeface="Calibri" pitchFamily="34" charset="-120"/>
              </a:rPr>
              <a:t>different sources</a:t>
            </a:r>
            <a:endParaRPr lang="en-US" sz="1150" dirty="0"/>
          </a:p>
        </p:txBody>
      </p:sp>
      <p:sp>
        <p:nvSpPr>
          <p:cNvPr id="10" name="Text 8"/>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D96F32"/>
                </a:solidFill>
                <a:latin typeface="Cambria" pitchFamily="34" charset="0"/>
                <a:ea typeface="Cambria" pitchFamily="34" charset="-122"/>
                <a:cs typeface="Cambria" pitchFamily="34" charset="-120"/>
              </a:rPr>
              <a:t>19</a:t>
            </a:r>
            <a:endParaRPr lang="en-US" sz="3400" dirty="0"/>
          </a:p>
        </p:txBody>
      </p:sp>
      <p:sp>
        <p:nvSpPr>
          <p:cNvPr id="11" name="Text 9"/>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50707A"/>
                </a:solidFill>
                <a:latin typeface="Calibri" pitchFamily="34" charset="0"/>
                <a:ea typeface="Calibri" pitchFamily="34" charset="-122"/>
                <a:cs typeface="Calibri" pitchFamily="34" charset="-120"/>
              </a:rPr>
              <a:t>downstream tasks evaluated,</a:t>
            </a:r>
            <a:endParaRPr lang="en-US" sz="1150" dirty="0"/>
          </a:p>
          <a:p>
            <a:pPr marL="0" indent="0" algn="ctr">
              <a:buNone/>
            </a:pPr>
            <a:r>
              <a:rPr lang="en-US" sz="1150" dirty="0">
                <a:solidFill>
                  <a:srgbClr val="50707A"/>
                </a:solidFill>
                <a:latin typeface="Calibri" pitchFamily="34" charset="0"/>
                <a:ea typeface="Calibri" pitchFamily="34" charset="-122"/>
                <a:cs typeface="Calibri" pitchFamily="34" charset="-120"/>
              </a:rPr>
              <a:t>fifteen of them from SUPERB</a:t>
            </a:r>
            <a:endParaRPr lang="en-US" sz="1150" dirty="0"/>
          </a:p>
        </p:txBody>
      </p:sp>
      <p:sp>
        <p:nvSpPr>
          <p:cNvPr id="12" name="Text 10"/>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24798C"/>
                </a:solidFill>
                <a:latin typeface="Cambria" pitchFamily="34" charset="0"/>
                <a:ea typeface="Cambria" pitchFamily="34" charset="-122"/>
                <a:cs typeface="Cambria" pitchFamily="34" charset="-120"/>
              </a:rPr>
              <a:t>14 / 15</a:t>
            </a:r>
            <a:endParaRPr lang="en-US" sz="3400" dirty="0"/>
          </a:p>
        </p:txBody>
      </p:sp>
      <p:sp>
        <p:nvSpPr>
          <p:cNvPr id="13" name="Text 11"/>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50707A"/>
                </a:solidFill>
                <a:latin typeface="Calibri" pitchFamily="34" charset="0"/>
                <a:ea typeface="Calibri" pitchFamily="34" charset="-122"/>
                <a:cs typeface="Calibri" pitchFamily="34" charset="-120"/>
              </a:rPr>
              <a:t>SUPERB subtasks where WavLM</a:t>
            </a:r>
            <a:endParaRPr lang="en-US" sz="1150" dirty="0"/>
          </a:p>
          <a:p>
            <a:pPr marL="0" indent="0" algn="ctr">
              <a:buNone/>
            </a:pPr>
            <a:r>
              <a:rPr lang="en-US" sz="1150" dirty="0">
                <a:solidFill>
                  <a:srgbClr val="50707A"/>
                </a:solidFill>
                <a:latin typeface="Calibri" pitchFamily="34" charset="0"/>
                <a:ea typeface="Calibri" pitchFamily="34" charset="-122"/>
                <a:cs typeface="Calibri" pitchFamily="34" charset="-120"/>
              </a:rPr>
              <a:t>Large beats HuBERT Large</a:t>
            </a:r>
            <a:endParaRPr lang="en-US" sz="1150" dirty="0"/>
          </a:p>
        </p:txBody>
      </p:sp>
      <p:sp>
        <p:nvSpPr>
          <p:cNvPr id="14" name="Text 12"/>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D96F32"/>
                </a:solidFill>
                <a:latin typeface="Cambria" pitchFamily="34" charset="0"/>
                <a:ea typeface="Cambria" pitchFamily="34" charset="-122"/>
                <a:cs typeface="Cambria" pitchFamily="34" charset="-120"/>
              </a:rPr>
              <a:t>0.383%</a:t>
            </a:r>
            <a:endParaRPr lang="en-US" sz="3400" dirty="0"/>
          </a:p>
        </p:txBody>
      </p:sp>
      <p:sp>
        <p:nvSpPr>
          <p:cNvPr id="15" name="Text 13"/>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50707A"/>
                </a:solidFill>
                <a:latin typeface="Calibri" pitchFamily="34" charset="0"/>
                <a:ea typeface="Calibri" pitchFamily="34" charset="-122"/>
                <a:cs typeface="Calibri" pitchFamily="34" charset="-120"/>
              </a:rPr>
              <a:t>equal error rate on VoxCeleb1-O</a:t>
            </a:r>
            <a:endParaRPr lang="en-US" sz="1150" dirty="0"/>
          </a:p>
          <a:p>
            <a:pPr marL="0" indent="0" algn="ctr">
              <a:buNone/>
            </a:pPr>
            <a:r>
              <a:rPr lang="en-US" sz="1150" dirty="0">
                <a:solidFill>
                  <a:srgbClr val="50707A"/>
                </a:solidFill>
                <a:latin typeface="Calibri" pitchFamily="34" charset="0"/>
                <a:ea typeface="Calibri" pitchFamily="34" charset="-122"/>
                <a:cs typeface="Calibri" pitchFamily="34" charset="-120"/>
              </a:rPr>
              <a:t>speaker verification</a:t>
            </a:r>
            <a:endParaRPr lang="en-US" sz="1150" dirty="0"/>
          </a:p>
        </p:txBody>
      </p:sp>
      <p:sp>
        <p:nvSpPr>
          <p:cNvPr id="16" name="Shape 14"/>
          <p:cNvSpPr/>
          <p:nvPr/>
        </p:nvSpPr>
        <p:spPr>
          <a:xfrm>
            <a:off x="566928" y="3200400"/>
            <a:ext cx="11064240" cy="1371600"/>
          </a:xfrm>
          <a:prstGeom prst="roundRect">
            <a:avLst>
              <a:gd name="adj" fmla="val 4000"/>
            </a:avLst>
          </a:prstGeom>
          <a:solidFill>
            <a:srgbClr val="EEF5F6"/>
          </a:solidFill>
          <a:ln w="12700">
            <a:solidFill>
              <a:srgbClr val="DBE8EB"/>
            </a:solidFill>
            <a:prstDash val="solid"/>
          </a:ln>
        </p:spPr>
        <p:txBody>
          <a:bodyPr/>
          <a:lstStyle/>
          <a:p>
            <a:endParaRPr lang="en-US"/>
          </a:p>
        </p:txBody>
      </p:sp>
      <p:sp>
        <p:nvSpPr>
          <p:cNvPr id="17" name="Shape 15"/>
          <p:cNvSpPr/>
          <p:nvPr/>
        </p:nvSpPr>
        <p:spPr>
          <a:xfrm>
            <a:off x="786384" y="3493008"/>
            <a:ext cx="109728" cy="109728"/>
          </a:xfrm>
          <a:prstGeom prst="ellipse">
            <a:avLst/>
          </a:prstGeom>
          <a:solidFill>
            <a:srgbClr val="24798C"/>
          </a:solidFill>
          <a:ln w="12700">
            <a:solidFill>
              <a:srgbClr val="333333"/>
            </a:solidFill>
            <a:prstDash val="solid"/>
          </a:ln>
        </p:spPr>
        <p:txBody>
          <a:bodyPr/>
          <a:lstStyle/>
          <a:p>
            <a:endParaRPr lang="en-US"/>
          </a:p>
        </p:txBody>
      </p:sp>
      <p:sp>
        <p:nvSpPr>
          <p:cNvPr id="18" name="Text 16"/>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The claim</a:t>
            </a:r>
            <a:endParaRPr lang="en-US" sz="1500" dirty="0"/>
          </a:p>
        </p:txBody>
      </p:sp>
      <p:sp>
        <p:nvSpPr>
          <p:cNvPr id="19" name="Text 17"/>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27383E"/>
                </a:solidFill>
                <a:latin typeface="Calibri" pitchFamily="34" charset="0"/>
                <a:ea typeface="Calibri" pitchFamily="34" charset="-122"/>
                <a:cs typeface="Calibri" pitchFamily="34" charset="-120"/>
              </a:rPr>
              <a:t>Keep HuBERT's masked prediction of cluster targets, but feed the model artificially noisy and overlapped speech while still asking it to predict the labels of the clean original. The model learns to identify and follow the main speaker — which is what speaker, diarisation and separation tasks need — without giving up any content modelling.</a:t>
            </a:r>
            <a:endParaRPr lang="en-US" sz="1340" dirty="0"/>
          </a:p>
        </p:txBody>
      </p:sp>
      <p:sp>
        <p:nvSpPr>
          <p:cNvPr id="20" name="Shape 18"/>
          <p:cNvSpPr/>
          <p:nvPr/>
        </p:nvSpPr>
        <p:spPr>
          <a:xfrm>
            <a:off x="566928" y="4700016"/>
            <a:ext cx="11064240" cy="1353312"/>
          </a:xfrm>
          <a:prstGeom prst="roundRect">
            <a:avLst>
              <a:gd name="adj" fmla="val 4054"/>
            </a:avLst>
          </a:prstGeom>
          <a:solidFill>
            <a:srgbClr val="16323A"/>
          </a:solidFill>
          <a:ln w="12700">
            <a:solidFill>
              <a:srgbClr val="16323A"/>
            </a:solidFill>
            <a:prstDash val="solid"/>
          </a:ln>
        </p:spPr>
        <p:txBody>
          <a:bodyPr/>
          <a:lstStyle/>
          <a:p>
            <a:endParaRPr lang="en-US"/>
          </a:p>
        </p:txBody>
      </p:sp>
      <p:sp>
        <p:nvSpPr>
          <p:cNvPr id="21" name="Shape 19"/>
          <p:cNvSpPr/>
          <p:nvPr/>
        </p:nvSpPr>
        <p:spPr>
          <a:xfrm>
            <a:off x="786384" y="4992624"/>
            <a:ext cx="109728" cy="109728"/>
          </a:xfrm>
          <a:prstGeom prst="ellipse">
            <a:avLst/>
          </a:prstGeom>
          <a:solidFill>
            <a:srgbClr val="D96F32"/>
          </a:solidFill>
          <a:ln w="12700">
            <a:solidFill>
              <a:srgbClr val="333333"/>
            </a:solidFill>
            <a:prstDash val="solid"/>
          </a:ln>
        </p:spPr>
        <p:txBody>
          <a:bodyPr/>
          <a:lstStyle/>
          <a:p>
            <a:endParaRPr lang="en-US"/>
          </a:p>
        </p:txBody>
      </p:sp>
      <p:sp>
        <p:nvSpPr>
          <p:cNvPr id="22" name="Text 20"/>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result that makes the point</a:t>
            </a:r>
            <a:endParaRPr lang="en-US" sz="1500" dirty="0"/>
          </a:p>
        </p:txBody>
      </p:sp>
      <p:sp>
        <p:nvSpPr>
          <p:cNvPr id="23" name="Text 21"/>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C2DBE0"/>
                </a:solidFill>
                <a:latin typeface="Calibri" pitchFamily="34" charset="0"/>
                <a:ea typeface="Calibri" pitchFamily="34" charset="-122"/>
                <a:cs typeface="Calibri" pitchFamily="34" charset="-120"/>
              </a:rPr>
              <a:t>WavLM Base+ — a model three times smaller than HuBERT Large, with the same 95 million parameters as HuBERT Base — beats HuBERT Large on the SUPERB overall score. The gain comes from the objective and the data, not from scale.</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6323A"/>
        </a:solidFill>
        <a:effectLst/>
      </p:bgPr>
    </p:bg>
    <p:spTree>
      <p:nvGrpSpPr>
        <p:cNvPr id="1" name=""/>
        <p:cNvGrpSpPr/>
        <p:nvPr/>
      </p:nvGrpSpPr>
      <p:grpSpPr>
        <a:xfrm>
          <a:off x="0" y="0"/>
          <a:ext cx="0" cy="0"/>
          <a:chOff x="0" y="0"/>
          <a:chExt cx="0" cy="0"/>
        </a:xfrm>
      </p:grpSpPr>
      <p:sp>
        <p:nvSpPr>
          <p:cNvPr id="2" name="Shape 0"/>
          <p:cNvSpPr/>
          <p:nvPr/>
        </p:nvSpPr>
        <p:spPr>
          <a:xfrm>
            <a:off x="10515600" y="5303520"/>
            <a:ext cx="475488" cy="475488"/>
          </a:xfrm>
          <a:prstGeom prst="ellipse">
            <a:avLst/>
          </a:prstGeom>
          <a:solidFill>
            <a:srgbClr val="C2DBE0"/>
          </a:solidFill>
          <a:ln w="12700">
            <a:solidFill>
              <a:srgbClr val="333333"/>
            </a:solidFill>
            <a:prstDash val="solid"/>
          </a:ln>
        </p:spPr>
        <p:txBody>
          <a:bodyPr/>
          <a:lstStyle/>
          <a:p>
            <a:endParaRPr lang="en-US"/>
          </a:p>
        </p:txBody>
      </p:sp>
      <p:sp>
        <p:nvSpPr>
          <p:cNvPr id="3" name="Shape 1"/>
          <p:cNvSpPr/>
          <p:nvPr/>
        </p:nvSpPr>
        <p:spPr>
          <a:xfrm>
            <a:off x="10789920" y="5431536"/>
            <a:ext cx="475488" cy="475488"/>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064240" y="5303520"/>
            <a:ext cx="475488" cy="475488"/>
          </a:xfrm>
          <a:prstGeom prst="ellipse">
            <a:avLst/>
          </a:prstGeom>
          <a:solidFill>
            <a:srgbClr val="8FB0B8"/>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F32"/>
                </a:solidFill>
                <a:latin typeface="Cambria" pitchFamily="34" charset="0"/>
                <a:ea typeface="Cambria" pitchFamily="34" charset="-122"/>
                <a:cs typeface="Cambria" pitchFamily="34" charset="-120"/>
              </a:rPr>
              <a:t>1</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problem</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2DBE0"/>
                </a:solidFill>
                <a:latin typeface="Calibri" pitchFamily="34" charset="0"/>
                <a:ea typeface="Calibri" pitchFamily="34" charset="-122"/>
                <a:cs typeface="Calibri" pitchFamily="34" charset="-120"/>
              </a:rPr>
              <a:t>What ASR-focused pre-training leaves on the table</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Two concrete drawbacks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Both stated plainly in the paper's introduction</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5</a:t>
            </a:r>
            <a:endParaRPr lang="en-US" sz="900" dirty="0"/>
          </a:p>
        </p:txBody>
      </p:sp>
      <p:sp>
        <p:nvSpPr>
          <p:cNvPr id="8" name="Shape 6"/>
          <p:cNvSpPr/>
          <p:nvPr/>
        </p:nvSpPr>
        <p:spPr>
          <a:xfrm>
            <a:off x="566928" y="1600200"/>
            <a:ext cx="5440680" cy="2377440"/>
          </a:xfrm>
          <a:prstGeom prst="roundRect">
            <a:avLst>
              <a:gd name="adj" fmla="val 2308"/>
            </a:avLst>
          </a:prstGeom>
          <a:solidFill>
            <a:srgbClr val="EEF5F6"/>
          </a:solidFill>
          <a:ln w="12700">
            <a:solidFill>
              <a:srgbClr val="DBE8EB"/>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Multi-speaker tasks barely improve</a:t>
            </a:r>
            <a:endParaRPr lang="en-US" sz="1500" dirty="0"/>
          </a:p>
        </p:txBody>
      </p:sp>
      <p:sp>
        <p:nvSpPr>
          <p:cNvPr id="11" name="Text 9"/>
          <p:cNvSpPr txBox="1"/>
          <p:nvPr/>
        </p:nvSpPr>
        <p:spPr>
          <a:xfrm>
            <a:off x="822960" y="2203704"/>
            <a:ext cx="4928616" cy="159105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Speech separation models built on top of HuBERT achieve only marginal improvement over models trained from scratch.</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Two reasons the paper gives: the pre-training objective does not sufficiently enforce speaker discrimination, and the training data contains only single-speaker audio.</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A model that has never heard two people at once has no reason to learn to separate them.</a:t>
            </a:r>
            <a:endParaRPr lang="en-US" sz="1260" dirty="0"/>
          </a:p>
        </p:txBody>
      </p:sp>
      <p:sp>
        <p:nvSpPr>
          <p:cNvPr id="12" name="Shape 10"/>
          <p:cNvSpPr/>
          <p:nvPr/>
        </p:nvSpPr>
        <p:spPr>
          <a:xfrm>
            <a:off x="6190488" y="1600200"/>
            <a:ext cx="5440680" cy="2377440"/>
          </a:xfrm>
          <a:prstGeom prst="roundRect">
            <a:avLst>
              <a:gd name="adj" fmla="val 2308"/>
            </a:avLst>
          </a:prstGeom>
          <a:solidFill>
            <a:srgbClr val="EEF5F6"/>
          </a:solidFill>
          <a:ln w="12700">
            <a:solidFill>
              <a:srgbClr val="DBE8EB"/>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D96F32"/>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The audiobook problem</a:t>
            </a:r>
            <a:endParaRPr lang="en-US" sz="1500" dirty="0"/>
          </a:p>
        </p:txBody>
      </p:sp>
      <p:sp>
        <p:nvSpPr>
          <p:cNvPr id="15" name="Text 13"/>
          <p:cNvSpPr txBox="1"/>
          <p:nvPr/>
        </p:nvSpPr>
        <p:spPr>
          <a:xfrm>
            <a:off x="6446520" y="2203704"/>
            <a:ext cx="4928616" cy="159105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Libri-Light is the standard pre-training source, and its acoustic characteristics do not match real deployment conditions.</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The paper notes that even the robust wav2vec 2.0 work, which trained on larger and more diverse data, still had over 90% of its audio derived from audiobooks.</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So 'more data' had not yet meant 'more varied data'.</a:t>
            </a:r>
            <a:endParaRPr lang="en-US" sz="1260" dirty="0"/>
          </a:p>
        </p:txBody>
      </p:sp>
      <p:sp>
        <p:nvSpPr>
          <p:cNvPr id="16" name="Shape 14"/>
          <p:cNvSpPr/>
          <p:nvPr/>
        </p:nvSpPr>
        <p:spPr>
          <a:xfrm>
            <a:off x="566928" y="4169664"/>
            <a:ext cx="11064240" cy="1883664"/>
          </a:xfrm>
          <a:prstGeom prst="roundRect">
            <a:avLst>
              <a:gd name="adj" fmla="val 2913"/>
            </a:avLst>
          </a:prstGeom>
          <a:solidFill>
            <a:srgbClr val="16323A"/>
          </a:solidFill>
          <a:ln w="12700">
            <a:solidFill>
              <a:srgbClr val="16323A"/>
            </a:solidFill>
            <a:prstDash val="solid"/>
          </a:ln>
        </p:spPr>
        <p:txBody>
          <a:bodyPr/>
          <a:lstStyle/>
          <a:p>
            <a:endParaRPr lang="en-US"/>
          </a:p>
        </p:txBody>
      </p:sp>
      <p:sp>
        <p:nvSpPr>
          <p:cNvPr id="17" name="Shape 15"/>
          <p:cNvSpPr/>
          <p:nvPr/>
        </p:nvSpPr>
        <p:spPr>
          <a:xfrm>
            <a:off x="786384" y="4462272"/>
            <a:ext cx="109728" cy="109728"/>
          </a:xfrm>
          <a:prstGeom prst="ellipse">
            <a:avLst/>
          </a:prstGeom>
          <a:solidFill>
            <a:srgbClr val="D96F32"/>
          </a:solidFill>
          <a:ln w="12700">
            <a:solidFill>
              <a:srgbClr val="333333"/>
            </a:solidFill>
            <a:prstDash val="solid"/>
          </a:ln>
        </p:spPr>
        <p:txBody>
          <a:bodyPr/>
          <a:lstStyle/>
          <a:p>
            <a:endParaRPr lang="en-US"/>
          </a:p>
        </p:txBody>
      </p:sp>
      <p:sp>
        <p:nvSpPr>
          <p:cNvPr id="18" name="Text 16"/>
          <p:cNvSpPr txBox="1"/>
          <p:nvPr/>
        </p:nvSpPr>
        <p:spPr>
          <a:xfrm>
            <a:off x="987552" y="433425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tension the paper names</a:t>
            </a:r>
            <a:endParaRPr lang="en-US" sz="1500" dirty="0"/>
          </a:p>
        </p:txBody>
      </p:sp>
      <p:sp>
        <p:nvSpPr>
          <p:cNvPr id="19" name="Text 17"/>
          <p:cNvSpPr txBox="1"/>
          <p:nvPr/>
        </p:nvSpPr>
        <p:spPr>
          <a:xfrm>
            <a:off x="822960" y="4773168"/>
            <a:ext cx="10552176" cy="1097280"/>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Different tasks want opposite things. Speaker verification requires the network to learn speaker characteristics regardless of content; speech recognition requires it to discard speaker characteristics and attend only to content.</a:t>
            </a:r>
            <a:endParaRPr lang="en-US" sz="1300" dirty="0"/>
          </a:p>
          <a:p>
            <a:pPr marL="0" indent="0">
              <a:lnSpc>
                <a:spcPct val="108000"/>
              </a:lnSpc>
              <a:buNone/>
            </a:pPr>
            <a:endParaRPr lang="en-US" sz="1300" dirty="0"/>
          </a:p>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That is the same tension we found in the affective-computing results last session, where ASR fine-tuning measurably damaged emotional information. WavLM is an attempt to resolve it in one model.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SUPERB, and the insight it produced</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The benchmark that made 'full stack' a measurable claim</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6</a:t>
            </a:r>
            <a:endParaRPr lang="en-US" sz="900" dirty="0"/>
          </a:p>
        </p:txBody>
      </p:sp>
      <p:sp>
        <p:nvSpPr>
          <p:cNvPr id="8" name="Shape 6"/>
          <p:cNvSpPr/>
          <p:nvPr/>
        </p:nvSpPr>
        <p:spPr>
          <a:xfrm>
            <a:off x="566928" y="1572768"/>
            <a:ext cx="5440680" cy="2286000"/>
          </a:xfrm>
          <a:prstGeom prst="roundRect">
            <a:avLst>
              <a:gd name="adj" fmla="val 2400"/>
            </a:avLst>
          </a:prstGeom>
          <a:solidFill>
            <a:srgbClr val="EEF5F6"/>
          </a:solidFill>
          <a:ln w="12700">
            <a:solidFill>
              <a:srgbClr val="DBE8EB"/>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The setup</a:t>
            </a:r>
            <a:endParaRPr lang="en-US" sz="1500" dirty="0"/>
          </a:p>
        </p:txBody>
      </p:sp>
      <p:sp>
        <p:nvSpPr>
          <p:cNvPr id="11" name="Text 9"/>
          <p:cNvSpPr txBox="1"/>
          <p:nvPr/>
        </p:nvSpPr>
        <p:spPr>
          <a:xfrm>
            <a:off x="82296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Fifteen tasks grouped into five aspects of speech: content, speaker, semantics, paralinguistics and generation.</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The pre-trained model is frozen. Only a small task-specific head is trained, using a fixed downstream architecture per task, so the comparison is between representations rather than between systems.</a:t>
            </a:r>
            <a:endParaRPr lang="en-US" sz="1260" dirty="0"/>
          </a:p>
        </p:txBody>
      </p:sp>
      <p:sp>
        <p:nvSpPr>
          <p:cNvPr id="12" name="Shape 10"/>
          <p:cNvSpPr/>
          <p:nvPr/>
        </p:nvSpPr>
        <p:spPr>
          <a:xfrm>
            <a:off x="6190488" y="1572768"/>
            <a:ext cx="5440680" cy="2286000"/>
          </a:xfrm>
          <a:prstGeom prst="roundRect">
            <a:avLst>
              <a:gd name="adj" fmla="val 2400"/>
            </a:avLst>
          </a:prstGeom>
          <a:solidFill>
            <a:srgbClr val="EEF5F6"/>
          </a:solidFill>
          <a:ln w="12700">
            <a:solidFill>
              <a:srgbClr val="DBE8EB"/>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D96F32"/>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The insight</a:t>
            </a:r>
            <a:endParaRPr lang="en-US" sz="1500" dirty="0"/>
          </a:p>
        </p:txBody>
      </p:sp>
      <p:sp>
        <p:nvSpPr>
          <p:cNvPr id="15" name="Text 13"/>
          <p:cNvSpPr txBox="1"/>
          <p:nvPr/>
        </p:nvSpPr>
        <p:spPr>
          <a:xfrm>
            <a:off x="644652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The downstream head consumes a learned weighted sum of the hidden states from every layer, not the final layer.</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Different layers carry information useful for different tasks: top layers for recognition, bottom layers for speaker verification.</a:t>
            </a:r>
            <a:endParaRPr lang="en-US" sz="1260" dirty="0"/>
          </a:p>
        </p:txBody>
      </p:sp>
      <p:sp>
        <p:nvSpPr>
          <p:cNvPr id="16" name="Shape 14"/>
          <p:cNvSpPr/>
          <p:nvPr/>
        </p:nvSpPr>
        <p:spPr>
          <a:xfrm>
            <a:off x="566928" y="4059936"/>
            <a:ext cx="11064240" cy="1993392"/>
          </a:xfrm>
          <a:prstGeom prst="roundRect">
            <a:avLst>
              <a:gd name="adj" fmla="val 2752"/>
            </a:avLst>
          </a:prstGeom>
          <a:solidFill>
            <a:srgbClr val="16323A"/>
          </a:solidFill>
          <a:ln w="12700">
            <a:solidFill>
              <a:srgbClr val="16323A"/>
            </a:solidFill>
            <a:prstDash val="solid"/>
          </a:ln>
        </p:spPr>
        <p:txBody>
          <a:bodyPr/>
          <a:lstStyle/>
          <a:p>
            <a:endParaRPr lang="en-US"/>
          </a:p>
        </p:txBody>
      </p:sp>
      <p:sp>
        <p:nvSpPr>
          <p:cNvPr id="17" name="Shape 15"/>
          <p:cNvSpPr/>
          <p:nvPr/>
        </p:nvSpPr>
        <p:spPr>
          <a:xfrm>
            <a:off x="786384" y="4352544"/>
            <a:ext cx="109728" cy="109728"/>
          </a:xfrm>
          <a:prstGeom prst="ellipse">
            <a:avLst/>
          </a:prstGeom>
          <a:solidFill>
            <a:srgbClr val="D96F32"/>
          </a:solidFill>
          <a:ln w="12700">
            <a:solidFill>
              <a:srgbClr val="333333"/>
            </a:solidFill>
            <a:prstDash val="solid"/>
          </a:ln>
        </p:spPr>
        <p:txBody>
          <a:bodyPr/>
          <a:lstStyle/>
          <a:p>
            <a:endParaRPr lang="en-US"/>
          </a:p>
        </p:txBody>
      </p:sp>
      <p:sp>
        <p:nvSpPr>
          <p:cNvPr id="18" name="Text 16"/>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matters for reading everything that follows</a:t>
            </a:r>
            <a:endParaRPr lang="en-US" sz="1500" dirty="0"/>
          </a:p>
        </p:txBody>
      </p:sp>
      <p:sp>
        <p:nvSpPr>
          <p:cNvPr id="19" name="Text 17"/>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Every SUPERB number in this paper is a frozen-model, weighted-layer-sum number. The paper is explicit that this understates what the models can do, which is why it also runs four tasks with full fine-tuning on their own benchmarks.</a:t>
            </a:r>
            <a:endParaRPr lang="en-US" sz="1300" dirty="0"/>
          </a:p>
          <a:p>
            <a:pPr marL="0" indent="0">
              <a:lnSpc>
                <a:spcPct val="108000"/>
              </a:lnSpc>
              <a:buNone/>
            </a:pPr>
            <a:endParaRPr lang="en-US" sz="1300" dirty="0"/>
          </a:p>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This is the same practice we identified last session as essential for emotion work — and it is now the standard evaluation protocol for the whole field.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6323A"/>
        </a:solidFill>
        <a:effectLst/>
      </p:bgPr>
    </p:bg>
    <p:spTree>
      <p:nvGrpSpPr>
        <p:cNvPr id="1" name=""/>
        <p:cNvGrpSpPr/>
        <p:nvPr/>
      </p:nvGrpSpPr>
      <p:grpSpPr>
        <a:xfrm>
          <a:off x="0" y="0"/>
          <a:ext cx="0" cy="0"/>
          <a:chOff x="0" y="0"/>
          <a:chExt cx="0" cy="0"/>
        </a:xfrm>
      </p:grpSpPr>
      <p:sp>
        <p:nvSpPr>
          <p:cNvPr id="2" name="Shape 0"/>
          <p:cNvSpPr/>
          <p:nvPr/>
        </p:nvSpPr>
        <p:spPr>
          <a:xfrm>
            <a:off x="10515600" y="5303520"/>
            <a:ext cx="475488" cy="475488"/>
          </a:xfrm>
          <a:prstGeom prst="ellipse">
            <a:avLst/>
          </a:prstGeom>
          <a:solidFill>
            <a:srgbClr val="C2DBE0"/>
          </a:solidFill>
          <a:ln w="12700">
            <a:solidFill>
              <a:srgbClr val="333333"/>
            </a:solidFill>
            <a:prstDash val="solid"/>
          </a:ln>
        </p:spPr>
        <p:txBody>
          <a:bodyPr/>
          <a:lstStyle/>
          <a:p>
            <a:endParaRPr lang="en-US"/>
          </a:p>
        </p:txBody>
      </p:sp>
      <p:sp>
        <p:nvSpPr>
          <p:cNvPr id="3" name="Shape 1"/>
          <p:cNvSpPr/>
          <p:nvPr/>
        </p:nvSpPr>
        <p:spPr>
          <a:xfrm>
            <a:off x="10789920" y="5431536"/>
            <a:ext cx="475488" cy="475488"/>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064240" y="5303520"/>
            <a:ext cx="475488" cy="475488"/>
          </a:xfrm>
          <a:prstGeom prst="ellipse">
            <a:avLst/>
          </a:prstGeom>
          <a:solidFill>
            <a:srgbClr val="8FB0B8"/>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F32"/>
                </a:solidFill>
                <a:latin typeface="Cambria" pitchFamily="34" charset="0"/>
                <a:ea typeface="Cambria" pitchFamily="34" charset="-122"/>
                <a:cs typeface="Cambria" pitchFamily="34" charset="-120"/>
              </a:rPr>
              <a:t>2</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Three modifications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2DBE0"/>
                </a:solidFill>
                <a:latin typeface="Calibri" pitchFamily="34" charset="0"/>
                <a:ea typeface="Calibri" pitchFamily="34" charset="-122"/>
                <a:cs typeface="Calibri" pitchFamily="34" charset="-120"/>
              </a:rPr>
              <a:t>Denoising, gated relative position bias, and 94k hours</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What WavLM keeps from HuBERT</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Almost everything</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8</a:t>
            </a:r>
            <a:endParaRPr lang="en-US" sz="900" dirty="0"/>
          </a:p>
        </p:txBody>
      </p:sp>
      <p:sp>
        <p:nvSpPr>
          <p:cNvPr id="8" name="Shape 6"/>
          <p:cNvSpPr/>
          <p:nvPr/>
        </p:nvSpPr>
        <p:spPr>
          <a:xfrm>
            <a:off x="566928" y="1572768"/>
            <a:ext cx="11064240" cy="731520"/>
          </a:xfrm>
          <a:prstGeom prst="roundRect">
            <a:avLst>
              <a:gd name="adj" fmla="val 3750"/>
            </a:avLst>
          </a:prstGeom>
          <a:solidFill>
            <a:srgbClr val="EEF5F6"/>
          </a:solidFill>
          <a:ln w="12700">
            <a:solidFill>
              <a:srgbClr val="E4EDEF"/>
            </a:solidFill>
            <a:prstDash val="solid"/>
          </a:ln>
        </p:spPr>
        <p:txBody>
          <a:bodyPr/>
          <a:lstStyle/>
          <a:p>
            <a:endParaRPr lang="en-US"/>
          </a:p>
        </p:txBody>
      </p:sp>
      <p:sp>
        <p:nvSpPr>
          <p:cNvPr id="9" name="Shape 7"/>
          <p:cNvSpPr/>
          <p:nvPr/>
        </p:nvSpPr>
        <p:spPr>
          <a:xfrm>
            <a:off x="786384" y="1879092"/>
            <a:ext cx="118872" cy="118872"/>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1024128" y="1664208"/>
            <a:ext cx="3108960" cy="548640"/>
          </a:xfrm>
          <a:prstGeom prst="rect">
            <a:avLst/>
          </a:prstGeom>
          <a:noFill/>
          <a:ln/>
        </p:spPr>
        <p:txBody>
          <a:bodyPr wrap="square" lIns="0" tIns="0" rIns="0" bIns="0" rtlCol="0" anchor="ctr"/>
          <a:lstStyle/>
          <a:p>
            <a:pPr marL="0" indent="0">
              <a:buNone/>
            </a:pPr>
            <a:r>
              <a:rPr lang="en-US" sz="1250" b="1" dirty="0">
                <a:solidFill>
                  <a:srgbClr val="0F252B"/>
                </a:solidFill>
                <a:latin typeface="Cambria" pitchFamily="34" charset="0"/>
                <a:ea typeface="Cambria" pitchFamily="34" charset="-122"/>
                <a:cs typeface="Cambria" pitchFamily="34" charset="-120"/>
              </a:rPr>
              <a:t>The architecture</a:t>
            </a:r>
            <a:endParaRPr lang="en-US" sz="1250" dirty="0"/>
          </a:p>
        </p:txBody>
      </p:sp>
      <p:sp>
        <p:nvSpPr>
          <p:cNvPr id="11" name="Text 9"/>
          <p:cNvSpPr txBox="1"/>
          <p:nvPr/>
        </p:nvSpPr>
        <p:spPr>
          <a:xfrm>
            <a:off x="4315968" y="1645920"/>
            <a:ext cx="7132320" cy="585216"/>
          </a:xfrm>
          <a:prstGeom prst="rect">
            <a:avLst/>
          </a:prstGeom>
          <a:noFill/>
          <a:ln/>
        </p:spPr>
        <p:txBody>
          <a:bodyPr wrap="square" lIns="0" tIns="0" rIns="0" bIns="0" rtlCol="0" anchor="ctr"/>
          <a:lstStyle/>
          <a:p>
            <a:pPr marL="0" indent="0">
              <a:buNone/>
            </a:pPr>
            <a:r>
              <a:rPr lang="en-US" sz="1190" dirty="0">
                <a:solidFill>
                  <a:srgbClr val="27383E"/>
                </a:solidFill>
                <a:latin typeface="Calibri" pitchFamily="34" charset="0"/>
                <a:ea typeface="Calibri" pitchFamily="34" charset="-122"/>
                <a:cs typeface="Calibri" pitchFamily="34" charset="-120"/>
              </a:rPr>
              <a:t>Seven convolutional blocks with the same strides and kernel widths, giving 25 ms of audio per frame at a 20 ms stride, then a Transformer encoder.</a:t>
            </a:r>
            <a:endParaRPr lang="en-US" sz="1190" dirty="0"/>
          </a:p>
        </p:txBody>
      </p:sp>
      <p:sp>
        <p:nvSpPr>
          <p:cNvPr id="12" name="Shape 10"/>
          <p:cNvSpPr/>
          <p:nvPr/>
        </p:nvSpPr>
        <p:spPr>
          <a:xfrm>
            <a:off x="566928" y="2359152"/>
            <a:ext cx="11064240" cy="731520"/>
          </a:xfrm>
          <a:prstGeom prst="roundRect">
            <a:avLst>
              <a:gd name="adj" fmla="val 3750"/>
            </a:avLst>
          </a:prstGeom>
          <a:solidFill>
            <a:srgbClr val="FFFFFF"/>
          </a:solidFill>
          <a:ln w="12700">
            <a:solidFill>
              <a:srgbClr val="E4EDEF"/>
            </a:solidFill>
            <a:prstDash val="solid"/>
          </a:ln>
        </p:spPr>
        <p:txBody>
          <a:bodyPr/>
          <a:lstStyle/>
          <a:p>
            <a:endParaRPr lang="en-US"/>
          </a:p>
        </p:txBody>
      </p:sp>
      <p:sp>
        <p:nvSpPr>
          <p:cNvPr id="13" name="Shape 11"/>
          <p:cNvSpPr/>
          <p:nvPr/>
        </p:nvSpPr>
        <p:spPr>
          <a:xfrm>
            <a:off x="786384" y="2665476"/>
            <a:ext cx="118872" cy="118872"/>
          </a:xfrm>
          <a:prstGeom prst="ellipse">
            <a:avLst/>
          </a:prstGeom>
          <a:solidFill>
            <a:srgbClr val="24798C"/>
          </a:solidFill>
          <a:ln w="12700">
            <a:solidFill>
              <a:srgbClr val="333333"/>
            </a:solidFill>
            <a:prstDash val="solid"/>
          </a:ln>
        </p:spPr>
        <p:txBody>
          <a:bodyPr/>
          <a:lstStyle/>
          <a:p>
            <a:endParaRPr lang="en-US"/>
          </a:p>
        </p:txBody>
      </p:sp>
      <p:sp>
        <p:nvSpPr>
          <p:cNvPr id="14" name="Text 12"/>
          <p:cNvSpPr txBox="1"/>
          <p:nvPr/>
        </p:nvSpPr>
        <p:spPr>
          <a:xfrm>
            <a:off x="1024128" y="2450592"/>
            <a:ext cx="3108960" cy="548640"/>
          </a:xfrm>
          <a:prstGeom prst="rect">
            <a:avLst/>
          </a:prstGeom>
          <a:noFill/>
          <a:ln/>
        </p:spPr>
        <p:txBody>
          <a:bodyPr wrap="square" lIns="0" tIns="0" rIns="0" bIns="0" rtlCol="0" anchor="ctr"/>
          <a:lstStyle/>
          <a:p>
            <a:pPr marL="0" indent="0">
              <a:buNone/>
            </a:pPr>
            <a:r>
              <a:rPr lang="en-US" sz="1250" b="1" dirty="0">
                <a:solidFill>
                  <a:srgbClr val="0F252B"/>
                </a:solidFill>
                <a:latin typeface="Cambria" pitchFamily="34" charset="0"/>
                <a:ea typeface="Cambria" pitchFamily="34" charset="-122"/>
                <a:cs typeface="Cambria" pitchFamily="34" charset="-120"/>
              </a:rPr>
              <a:t>The objective</a:t>
            </a:r>
            <a:endParaRPr lang="en-US" sz="1250" dirty="0"/>
          </a:p>
        </p:txBody>
      </p:sp>
      <p:sp>
        <p:nvSpPr>
          <p:cNvPr id="15" name="Text 13"/>
          <p:cNvSpPr txBox="1"/>
          <p:nvPr/>
        </p:nvSpPr>
        <p:spPr>
          <a:xfrm>
            <a:off x="4315968" y="2432304"/>
            <a:ext cx="7132320" cy="585216"/>
          </a:xfrm>
          <a:prstGeom prst="rect">
            <a:avLst/>
          </a:prstGeom>
          <a:noFill/>
          <a:ln/>
        </p:spPr>
        <p:txBody>
          <a:bodyPr wrap="square" lIns="0" tIns="0" rIns="0" bIns="0" rtlCol="0" anchor="ctr"/>
          <a:lstStyle/>
          <a:p>
            <a:pPr marL="0" indent="0">
              <a:buNone/>
            </a:pPr>
            <a:r>
              <a:rPr lang="en-US" sz="1190" dirty="0">
                <a:solidFill>
                  <a:srgbClr val="27383E"/>
                </a:solidFill>
                <a:latin typeface="Calibri" pitchFamily="34" charset="0"/>
                <a:ea typeface="Calibri" pitchFamily="34" charset="-122"/>
                <a:cs typeface="Calibri" pitchFamily="34" charset="-120"/>
              </a:rPr>
              <a:t>Masked prediction of discrete pseudo-labels, cross-entropy over masked regions only, with cosine similarity to codeword embeddings scaled by a temperature of 0.1.</a:t>
            </a:r>
            <a:endParaRPr lang="en-US" sz="1190" dirty="0"/>
          </a:p>
        </p:txBody>
      </p:sp>
      <p:sp>
        <p:nvSpPr>
          <p:cNvPr id="16" name="Shape 14"/>
          <p:cNvSpPr/>
          <p:nvPr/>
        </p:nvSpPr>
        <p:spPr>
          <a:xfrm>
            <a:off x="566928" y="3145536"/>
            <a:ext cx="11064240" cy="731520"/>
          </a:xfrm>
          <a:prstGeom prst="roundRect">
            <a:avLst>
              <a:gd name="adj" fmla="val 3750"/>
            </a:avLst>
          </a:prstGeom>
          <a:solidFill>
            <a:srgbClr val="EEF5F6"/>
          </a:solidFill>
          <a:ln w="12700">
            <a:solidFill>
              <a:srgbClr val="E4EDEF"/>
            </a:solidFill>
            <a:prstDash val="solid"/>
          </a:ln>
        </p:spPr>
        <p:txBody>
          <a:bodyPr/>
          <a:lstStyle/>
          <a:p>
            <a:endParaRPr lang="en-US"/>
          </a:p>
        </p:txBody>
      </p:sp>
      <p:sp>
        <p:nvSpPr>
          <p:cNvPr id="17" name="Shape 15"/>
          <p:cNvSpPr/>
          <p:nvPr/>
        </p:nvSpPr>
        <p:spPr>
          <a:xfrm>
            <a:off x="786384" y="3451860"/>
            <a:ext cx="118872" cy="118872"/>
          </a:xfrm>
          <a:prstGeom prst="ellipse">
            <a:avLst/>
          </a:prstGeom>
          <a:solidFill>
            <a:srgbClr val="24798C"/>
          </a:solidFill>
          <a:ln w="12700">
            <a:solidFill>
              <a:srgbClr val="333333"/>
            </a:solidFill>
            <a:prstDash val="solid"/>
          </a:ln>
        </p:spPr>
        <p:txBody>
          <a:bodyPr/>
          <a:lstStyle/>
          <a:p>
            <a:endParaRPr lang="en-US"/>
          </a:p>
        </p:txBody>
      </p:sp>
      <p:sp>
        <p:nvSpPr>
          <p:cNvPr id="18" name="Text 16"/>
          <p:cNvSpPr txBox="1"/>
          <p:nvPr/>
        </p:nvSpPr>
        <p:spPr>
          <a:xfrm>
            <a:off x="1024128" y="3236976"/>
            <a:ext cx="3108960" cy="548640"/>
          </a:xfrm>
          <a:prstGeom prst="rect">
            <a:avLst/>
          </a:prstGeom>
          <a:noFill/>
          <a:ln/>
        </p:spPr>
        <p:txBody>
          <a:bodyPr wrap="square" lIns="0" tIns="0" rIns="0" bIns="0" rtlCol="0" anchor="ctr"/>
          <a:lstStyle/>
          <a:p>
            <a:pPr marL="0" indent="0">
              <a:buNone/>
            </a:pPr>
            <a:r>
              <a:rPr lang="en-US" sz="1250" b="1" dirty="0">
                <a:solidFill>
                  <a:srgbClr val="0F252B"/>
                </a:solidFill>
                <a:latin typeface="Cambria" pitchFamily="34" charset="0"/>
                <a:ea typeface="Cambria" pitchFamily="34" charset="-122"/>
                <a:cs typeface="Cambria" pitchFamily="34" charset="-120"/>
              </a:rPr>
              <a:t>The targets</a:t>
            </a:r>
            <a:endParaRPr lang="en-US" sz="1250" dirty="0"/>
          </a:p>
        </p:txBody>
      </p:sp>
      <p:sp>
        <p:nvSpPr>
          <p:cNvPr id="19" name="Text 17"/>
          <p:cNvSpPr txBox="1"/>
          <p:nvPr/>
        </p:nvSpPr>
        <p:spPr>
          <a:xfrm>
            <a:off x="4315968" y="3218688"/>
            <a:ext cx="7132320" cy="585216"/>
          </a:xfrm>
          <a:prstGeom prst="rect">
            <a:avLst/>
          </a:prstGeom>
          <a:noFill/>
          <a:ln/>
        </p:spPr>
        <p:txBody>
          <a:bodyPr wrap="square" lIns="0" tIns="0" rIns="0" bIns="0" rtlCol="0" anchor="ctr"/>
          <a:lstStyle/>
          <a:p>
            <a:pPr marL="0" indent="0">
              <a:buNone/>
            </a:pPr>
            <a:r>
              <a:rPr lang="en-US" sz="1190" dirty="0">
                <a:solidFill>
                  <a:srgbClr val="27383E"/>
                </a:solidFill>
                <a:latin typeface="Calibri" pitchFamily="34" charset="0"/>
                <a:ea typeface="Calibri" pitchFamily="34" charset="-122"/>
                <a:cs typeface="Calibri" pitchFamily="34" charset="-120"/>
              </a:rPr>
              <a:t>K-means cluster centres on MFCCs or on latent representations, produced by the same iterative re-clustering process.</a:t>
            </a:r>
            <a:endParaRPr lang="en-US" sz="1190" dirty="0"/>
          </a:p>
        </p:txBody>
      </p:sp>
      <p:sp>
        <p:nvSpPr>
          <p:cNvPr id="20" name="Shape 18"/>
          <p:cNvSpPr/>
          <p:nvPr/>
        </p:nvSpPr>
        <p:spPr>
          <a:xfrm>
            <a:off x="566928" y="3931920"/>
            <a:ext cx="11064240" cy="731520"/>
          </a:xfrm>
          <a:prstGeom prst="roundRect">
            <a:avLst>
              <a:gd name="adj" fmla="val 3750"/>
            </a:avLst>
          </a:prstGeom>
          <a:solidFill>
            <a:srgbClr val="FFFFFF"/>
          </a:solidFill>
          <a:ln w="12700">
            <a:solidFill>
              <a:srgbClr val="E4EDEF"/>
            </a:solidFill>
            <a:prstDash val="solid"/>
          </a:ln>
        </p:spPr>
        <p:txBody>
          <a:bodyPr/>
          <a:lstStyle/>
          <a:p>
            <a:endParaRPr lang="en-US"/>
          </a:p>
        </p:txBody>
      </p:sp>
      <p:sp>
        <p:nvSpPr>
          <p:cNvPr id="21" name="Shape 19"/>
          <p:cNvSpPr/>
          <p:nvPr/>
        </p:nvSpPr>
        <p:spPr>
          <a:xfrm>
            <a:off x="786384" y="4238244"/>
            <a:ext cx="118872" cy="118872"/>
          </a:xfrm>
          <a:prstGeom prst="ellipse">
            <a:avLst/>
          </a:prstGeom>
          <a:solidFill>
            <a:srgbClr val="24798C"/>
          </a:solidFill>
          <a:ln w="12700">
            <a:solidFill>
              <a:srgbClr val="333333"/>
            </a:solidFill>
            <a:prstDash val="solid"/>
          </a:ln>
        </p:spPr>
        <p:txBody>
          <a:bodyPr/>
          <a:lstStyle/>
          <a:p>
            <a:endParaRPr lang="en-US"/>
          </a:p>
        </p:txBody>
      </p:sp>
      <p:sp>
        <p:nvSpPr>
          <p:cNvPr id="22" name="Text 20"/>
          <p:cNvSpPr txBox="1"/>
          <p:nvPr/>
        </p:nvSpPr>
        <p:spPr>
          <a:xfrm>
            <a:off x="1024128" y="4023360"/>
            <a:ext cx="3108960" cy="548640"/>
          </a:xfrm>
          <a:prstGeom prst="rect">
            <a:avLst/>
          </a:prstGeom>
          <a:noFill/>
          <a:ln/>
        </p:spPr>
        <p:txBody>
          <a:bodyPr wrap="square" lIns="0" tIns="0" rIns="0" bIns="0" rtlCol="0" anchor="ctr"/>
          <a:lstStyle/>
          <a:p>
            <a:pPr marL="0" indent="0">
              <a:buNone/>
            </a:pPr>
            <a:r>
              <a:rPr lang="en-US" sz="1250" b="1" dirty="0">
                <a:solidFill>
                  <a:srgbClr val="0F252B"/>
                </a:solidFill>
                <a:latin typeface="Cambria" pitchFamily="34" charset="0"/>
                <a:ea typeface="Cambria" pitchFamily="34" charset="-122"/>
                <a:cs typeface="Cambria" pitchFamily="34" charset="-120"/>
              </a:rPr>
              <a:t>Convolutional position embedding</a:t>
            </a:r>
            <a:endParaRPr lang="en-US" sz="1250" dirty="0"/>
          </a:p>
        </p:txBody>
      </p:sp>
      <p:sp>
        <p:nvSpPr>
          <p:cNvPr id="23" name="Text 21"/>
          <p:cNvSpPr txBox="1"/>
          <p:nvPr/>
        </p:nvSpPr>
        <p:spPr>
          <a:xfrm>
            <a:off x="4315968" y="4005072"/>
            <a:ext cx="7132320" cy="585216"/>
          </a:xfrm>
          <a:prstGeom prst="rect">
            <a:avLst/>
          </a:prstGeom>
          <a:noFill/>
          <a:ln/>
        </p:spPr>
        <p:txBody>
          <a:bodyPr wrap="square" lIns="0" tIns="0" rIns="0" bIns="0" rtlCol="0" anchor="ctr"/>
          <a:lstStyle/>
          <a:p>
            <a:pPr marL="0" indent="0">
              <a:buNone/>
            </a:pPr>
            <a:r>
              <a:rPr lang="en-US" sz="1190" dirty="0">
                <a:solidFill>
                  <a:srgbClr val="27383E"/>
                </a:solidFill>
                <a:latin typeface="Calibri" pitchFamily="34" charset="0"/>
                <a:ea typeface="Calibri" pitchFamily="34" charset="-122"/>
                <a:cs typeface="Calibri" pitchFamily="34" charset="-120"/>
              </a:rPr>
              <a:t>The kernel-128, 16-group convolution at the bottom of the Transformer stays — the gated bias is added on top of it, not instead of it.</a:t>
            </a:r>
            <a:endParaRPr lang="en-US" sz="1190" dirty="0"/>
          </a:p>
        </p:txBody>
      </p:sp>
      <p:sp>
        <p:nvSpPr>
          <p:cNvPr id="24" name="Shape 22"/>
          <p:cNvSpPr/>
          <p:nvPr/>
        </p:nvSpPr>
        <p:spPr>
          <a:xfrm>
            <a:off x="566928" y="4718304"/>
            <a:ext cx="11064240" cy="731520"/>
          </a:xfrm>
          <a:prstGeom prst="roundRect">
            <a:avLst>
              <a:gd name="adj" fmla="val 3750"/>
            </a:avLst>
          </a:prstGeom>
          <a:solidFill>
            <a:srgbClr val="EEF5F6"/>
          </a:solidFill>
          <a:ln w="12700">
            <a:solidFill>
              <a:srgbClr val="E4EDEF"/>
            </a:solidFill>
            <a:prstDash val="solid"/>
          </a:ln>
        </p:spPr>
        <p:txBody>
          <a:bodyPr/>
          <a:lstStyle/>
          <a:p>
            <a:endParaRPr lang="en-US"/>
          </a:p>
        </p:txBody>
      </p:sp>
      <p:sp>
        <p:nvSpPr>
          <p:cNvPr id="25" name="Shape 23"/>
          <p:cNvSpPr/>
          <p:nvPr/>
        </p:nvSpPr>
        <p:spPr>
          <a:xfrm>
            <a:off x="786384" y="5024628"/>
            <a:ext cx="118872" cy="118872"/>
          </a:xfrm>
          <a:prstGeom prst="ellipse">
            <a:avLst/>
          </a:prstGeom>
          <a:solidFill>
            <a:srgbClr val="24798C"/>
          </a:solidFill>
          <a:ln w="12700">
            <a:solidFill>
              <a:srgbClr val="333333"/>
            </a:solidFill>
            <a:prstDash val="solid"/>
          </a:ln>
        </p:spPr>
        <p:txBody>
          <a:bodyPr/>
          <a:lstStyle/>
          <a:p>
            <a:endParaRPr lang="en-US"/>
          </a:p>
        </p:txBody>
      </p:sp>
      <p:sp>
        <p:nvSpPr>
          <p:cNvPr id="26" name="Text 24"/>
          <p:cNvSpPr txBox="1"/>
          <p:nvPr/>
        </p:nvSpPr>
        <p:spPr>
          <a:xfrm>
            <a:off x="1024128" y="4809744"/>
            <a:ext cx="3108960" cy="548640"/>
          </a:xfrm>
          <a:prstGeom prst="rect">
            <a:avLst/>
          </a:prstGeom>
          <a:noFill/>
          <a:ln/>
        </p:spPr>
        <p:txBody>
          <a:bodyPr wrap="square" lIns="0" tIns="0" rIns="0" bIns="0" rtlCol="0" anchor="ctr"/>
          <a:lstStyle/>
          <a:p>
            <a:pPr marL="0" indent="0">
              <a:buNone/>
            </a:pPr>
            <a:r>
              <a:rPr lang="en-US" sz="1250" b="1" dirty="0">
                <a:solidFill>
                  <a:srgbClr val="0F252B"/>
                </a:solidFill>
                <a:latin typeface="Cambria" pitchFamily="34" charset="0"/>
                <a:ea typeface="Cambria" pitchFamily="34" charset="-122"/>
                <a:cs typeface="Cambria" pitchFamily="34" charset="-120"/>
              </a:rPr>
              <a:t>The fine-tuning recipe</a:t>
            </a:r>
            <a:endParaRPr lang="en-US" sz="1250" dirty="0"/>
          </a:p>
        </p:txBody>
      </p:sp>
      <p:sp>
        <p:nvSpPr>
          <p:cNvPr id="27" name="Text 25"/>
          <p:cNvSpPr txBox="1"/>
          <p:nvPr/>
        </p:nvSpPr>
        <p:spPr>
          <a:xfrm>
            <a:off x="4315968" y="4791456"/>
            <a:ext cx="7132320" cy="585216"/>
          </a:xfrm>
          <a:prstGeom prst="rect">
            <a:avLst/>
          </a:prstGeom>
          <a:noFill/>
          <a:ln/>
        </p:spPr>
        <p:txBody>
          <a:bodyPr wrap="square" lIns="0" tIns="0" rIns="0" bIns="0" rtlCol="0" anchor="ctr"/>
          <a:lstStyle/>
          <a:p>
            <a:pPr marL="0" indent="0">
              <a:buNone/>
            </a:pPr>
            <a:r>
              <a:rPr lang="en-US" sz="1190" dirty="0">
                <a:solidFill>
                  <a:srgbClr val="27383E"/>
                </a:solidFill>
                <a:latin typeface="Calibri" pitchFamily="34" charset="0"/>
                <a:ea typeface="Calibri" pitchFamily="34" charset="-122"/>
                <a:cs typeface="Calibri" pitchFamily="34" charset="-120"/>
              </a:rPr>
              <a:t>CTC with 29 tokens, frozen convolutional encoder, Transformer frozen for the first 10k steps, tri-stage learning rate, SpecAugment-style masking.</a:t>
            </a:r>
            <a:endParaRPr lang="en-US" sz="1190" dirty="0"/>
          </a:p>
        </p:txBody>
      </p:sp>
      <p:sp>
        <p:nvSpPr>
          <p:cNvPr id="28" name="Shape 26"/>
          <p:cNvSpPr/>
          <p:nvPr/>
        </p:nvSpPr>
        <p:spPr>
          <a:xfrm>
            <a:off x="566928" y="5541264"/>
            <a:ext cx="11064240" cy="512064"/>
          </a:xfrm>
          <a:prstGeom prst="roundRect">
            <a:avLst>
              <a:gd name="adj" fmla="val 10714"/>
            </a:avLst>
          </a:prstGeom>
          <a:solidFill>
            <a:srgbClr val="16323A"/>
          </a:solidFill>
          <a:ln w="12700">
            <a:solidFill>
              <a:srgbClr val="16323A"/>
            </a:solidFill>
            <a:prstDash val="solid"/>
          </a:ln>
        </p:spPr>
        <p:txBody>
          <a:bodyPr/>
          <a:lstStyle/>
          <a:p>
            <a:endParaRPr lang="en-US"/>
          </a:p>
        </p:txBody>
      </p:sp>
      <p:sp>
        <p:nvSpPr>
          <p:cNvPr id="29" name="Text 27"/>
          <p:cNvSpPr txBox="1"/>
          <p:nvPr/>
        </p:nvSpPr>
        <p:spPr>
          <a:xfrm>
            <a:off x="822960" y="5760720"/>
            <a:ext cx="10552176" cy="91440"/>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So the paper is a controlled experiment on top of HuBERT: three changes, each ablated.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Modification 1: masked speech denoising and prediction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The one that matters most</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9</a:t>
            </a:r>
            <a:endParaRPr lang="en-US" sz="900" dirty="0"/>
          </a:p>
        </p:txBody>
      </p:sp>
      <p:sp>
        <p:nvSpPr>
          <p:cNvPr id="8" name="Shape 6"/>
          <p:cNvSpPr/>
          <p:nvPr/>
        </p:nvSpPr>
        <p:spPr>
          <a:xfrm>
            <a:off x="566928" y="1572768"/>
            <a:ext cx="5440680" cy="2423160"/>
          </a:xfrm>
          <a:prstGeom prst="roundRect">
            <a:avLst>
              <a:gd name="adj" fmla="val 2264"/>
            </a:avLst>
          </a:prstGeom>
          <a:solidFill>
            <a:srgbClr val="EEF5F6"/>
          </a:solidFill>
          <a:ln w="12700">
            <a:solidFill>
              <a:srgbClr val="DBE8EB"/>
            </a:solidFill>
            <a:prstDash val="solid"/>
          </a:ln>
        </p:spPr>
        <p:txBody>
          <a:bodyPr/>
          <a:lstStyle/>
          <a:p>
            <a:endParaRPr lang="en-US"/>
          </a:p>
        </p:txBody>
      </p:sp>
      <p:sp>
        <p:nvSpPr>
          <p:cNvPr id="9" name="Text 7"/>
          <p:cNvSpPr txBox="1"/>
          <p:nvPr/>
        </p:nvSpPr>
        <p:spPr>
          <a:xfrm>
            <a:off x="822960" y="1755648"/>
            <a:ext cx="4937760" cy="274320"/>
          </a:xfrm>
          <a:prstGeom prst="rect">
            <a:avLst/>
          </a:prstGeom>
          <a:noFill/>
          <a:ln/>
        </p:spPr>
        <p:txBody>
          <a:bodyPr wrap="square" lIns="0" tIns="0" rIns="0" bIns="0" rtlCol="0" anchor="ctr"/>
          <a:lstStyle/>
          <a:p>
            <a:pPr marL="0" indent="0">
              <a:buNone/>
            </a:pPr>
            <a:r>
              <a:rPr lang="en-US" sz="1250" b="1" dirty="0">
                <a:solidFill>
                  <a:srgbClr val="24798C"/>
                </a:solidFill>
                <a:latin typeface="Calibri" pitchFamily="34" charset="0"/>
                <a:ea typeface="Calibri" pitchFamily="34" charset="-122"/>
                <a:cs typeface="Calibri" pitchFamily="34" charset="-120"/>
              </a:rPr>
              <a:t>Input to the model</a:t>
            </a:r>
            <a:endParaRPr lang="en-US" sz="1250" dirty="0"/>
          </a:p>
        </p:txBody>
      </p:sp>
      <p:sp>
        <p:nvSpPr>
          <p:cNvPr id="10" name="Shape 8"/>
          <p:cNvSpPr/>
          <p:nvPr/>
        </p:nvSpPr>
        <p:spPr>
          <a:xfrm>
            <a:off x="868680" y="2121408"/>
            <a:ext cx="347472" cy="502920"/>
          </a:xfrm>
          <a:prstGeom prst="roundRect">
            <a:avLst>
              <a:gd name="adj" fmla="val 10526"/>
            </a:avLst>
          </a:prstGeom>
          <a:solidFill>
            <a:srgbClr val="24798C"/>
          </a:solidFill>
          <a:ln w="12700">
            <a:solidFill>
              <a:srgbClr val="333333"/>
            </a:solidFill>
            <a:prstDash val="solid"/>
          </a:ln>
        </p:spPr>
        <p:txBody>
          <a:bodyPr/>
          <a:lstStyle/>
          <a:p>
            <a:endParaRPr lang="en-US"/>
          </a:p>
        </p:txBody>
      </p:sp>
      <p:sp>
        <p:nvSpPr>
          <p:cNvPr id="11" name="Shape 9"/>
          <p:cNvSpPr/>
          <p:nvPr/>
        </p:nvSpPr>
        <p:spPr>
          <a:xfrm>
            <a:off x="1271016" y="2121408"/>
            <a:ext cx="347472" cy="502920"/>
          </a:xfrm>
          <a:prstGeom prst="roundRect">
            <a:avLst>
              <a:gd name="adj" fmla="val 10526"/>
            </a:avLst>
          </a:prstGeom>
          <a:solidFill>
            <a:srgbClr val="24798C"/>
          </a:solidFill>
          <a:ln w="12700">
            <a:solidFill>
              <a:srgbClr val="333333"/>
            </a:solidFill>
            <a:prstDash val="solid"/>
          </a:ln>
        </p:spPr>
        <p:txBody>
          <a:bodyPr/>
          <a:lstStyle/>
          <a:p>
            <a:endParaRPr lang="en-US"/>
          </a:p>
        </p:txBody>
      </p:sp>
      <p:sp>
        <p:nvSpPr>
          <p:cNvPr id="12" name="Shape 10"/>
          <p:cNvSpPr/>
          <p:nvPr/>
        </p:nvSpPr>
        <p:spPr>
          <a:xfrm>
            <a:off x="1673352" y="2121408"/>
            <a:ext cx="347472" cy="502920"/>
          </a:xfrm>
          <a:prstGeom prst="roundRect">
            <a:avLst>
              <a:gd name="adj" fmla="val 10526"/>
            </a:avLst>
          </a:prstGeom>
          <a:solidFill>
            <a:srgbClr val="9FB4BA"/>
          </a:solidFill>
          <a:ln w="12700">
            <a:solidFill>
              <a:srgbClr val="333333"/>
            </a:solidFill>
            <a:prstDash val="solid"/>
          </a:ln>
        </p:spPr>
        <p:txBody>
          <a:bodyPr/>
          <a:lstStyle/>
          <a:p>
            <a:endParaRPr lang="en-US"/>
          </a:p>
        </p:txBody>
      </p:sp>
      <p:sp>
        <p:nvSpPr>
          <p:cNvPr id="13" name="Shape 11"/>
          <p:cNvSpPr/>
          <p:nvPr/>
        </p:nvSpPr>
        <p:spPr>
          <a:xfrm>
            <a:off x="2075688" y="2121408"/>
            <a:ext cx="347472" cy="502920"/>
          </a:xfrm>
          <a:prstGeom prst="roundRect">
            <a:avLst>
              <a:gd name="adj" fmla="val 10526"/>
            </a:avLst>
          </a:prstGeom>
          <a:solidFill>
            <a:srgbClr val="9FB4BA"/>
          </a:solidFill>
          <a:ln w="12700">
            <a:solidFill>
              <a:srgbClr val="333333"/>
            </a:solidFill>
            <a:prstDash val="solid"/>
          </a:ln>
        </p:spPr>
        <p:txBody>
          <a:bodyPr/>
          <a:lstStyle/>
          <a:p>
            <a:endParaRPr lang="en-US"/>
          </a:p>
        </p:txBody>
      </p:sp>
      <p:sp>
        <p:nvSpPr>
          <p:cNvPr id="14" name="Shape 12"/>
          <p:cNvSpPr/>
          <p:nvPr/>
        </p:nvSpPr>
        <p:spPr>
          <a:xfrm>
            <a:off x="2478024" y="2121408"/>
            <a:ext cx="347472" cy="502920"/>
          </a:xfrm>
          <a:prstGeom prst="roundRect">
            <a:avLst>
              <a:gd name="adj" fmla="val 10526"/>
            </a:avLst>
          </a:prstGeom>
          <a:solidFill>
            <a:srgbClr val="D96F32"/>
          </a:solidFill>
          <a:ln w="12700">
            <a:solidFill>
              <a:srgbClr val="333333"/>
            </a:solidFill>
            <a:prstDash val="solid"/>
          </a:ln>
        </p:spPr>
        <p:txBody>
          <a:bodyPr/>
          <a:lstStyle/>
          <a:p>
            <a:endParaRPr lang="en-US"/>
          </a:p>
        </p:txBody>
      </p:sp>
      <p:sp>
        <p:nvSpPr>
          <p:cNvPr id="15" name="Shape 13"/>
          <p:cNvSpPr/>
          <p:nvPr/>
        </p:nvSpPr>
        <p:spPr>
          <a:xfrm>
            <a:off x="2880360" y="2121408"/>
            <a:ext cx="347472" cy="502920"/>
          </a:xfrm>
          <a:prstGeom prst="roundRect">
            <a:avLst>
              <a:gd name="adj" fmla="val 10526"/>
            </a:avLst>
          </a:prstGeom>
          <a:solidFill>
            <a:srgbClr val="D96F32"/>
          </a:solidFill>
          <a:ln w="12700">
            <a:solidFill>
              <a:srgbClr val="333333"/>
            </a:solidFill>
            <a:prstDash val="solid"/>
          </a:ln>
        </p:spPr>
        <p:txBody>
          <a:bodyPr/>
          <a:lstStyle/>
          <a:p>
            <a:endParaRPr lang="en-US"/>
          </a:p>
        </p:txBody>
      </p:sp>
      <p:sp>
        <p:nvSpPr>
          <p:cNvPr id="16" name="Shape 14"/>
          <p:cNvSpPr/>
          <p:nvPr/>
        </p:nvSpPr>
        <p:spPr>
          <a:xfrm>
            <a:off x="3282696" y="2121408"/>
            <a:ext cx="347472" cy="502920"/>
          </a:xfrm>
          <a:prstGeom prst="roundRect">
            <a:avLst>
              <a:gd name="adj" fmla="val 10526"/>
            </a:avLst>
          </a:prstGeom>
          <a:solidFill>
            <a:srgbClr val="D96F32"/>
          </a:solidFill>
          <a:ln w="12700">
            <a:solidFill>
              <a:srgbClr val="333333"/>
            </a:solidFill>
            <a:prstDash val="solid"/>
          </a:ln>
        </p:spPr>
        <p:txBody>
          <a:bodyPr/>
          <a:lstStyle/>
          <a:p>
            <a:endParaRPr lang="en-US"/>
          </a:p>
        </p:txBody>
      </p:sp>
      <p:sp>
        <p:nvSpPr>
          <p:cNvPr id="17" name="Shape 15"/>
          <p:cNvSpPr/>
          <p:nvPr/>
        </p:nvSpPr>
        <p:spPr>
          <a:xfrm>
            <a:off x="3685032" y="2121408"/>
            <a:ext cx="347472" cy="502920"/>
          </a:xfrm>
          <a:prstGeom prst="roundRect">
            <a:avLst>
              <a:gd name="adj" fmla="val 10526"/>
            </a:avLst>
          </a:prstGeom>
          <a:solidFill>
            <a:srgbClr val="24798C"/>
          </a:solidFill>
          <a:ln w="12700">
            <a:solidFill>
              <a:srgbClr val="333333"/>
            </a:solidFill>
            <a:prstDash val="solid"/>
          </a:ln>
        </p:spPr>
        <p:txBody>
          <a:bodyPr/>
          <a:lstStyle/>
          <a:p>
            <a:endParaRPr lang="en-US"/>
          </a:p>
        </p:txBody>
      </p:sp>
      <p:sp>
        <p:nvSpPr>
          <p:cNvPr id="18" name="Shape 16"/>
          <p:cNvSpPr/>
          <p:nvPr/>
        </p:nvSpPr>
        <p:spPr>
          <a:xfrm>
            <a:off x="4087368" y="2121408"/>
            <a:ext cx="347472" cy="502920"/>
          </a:xfrm>
          <a:prstGeom prst="roundRect">
            <a:avLst>
              <a:gd name="adj" fmla="val 10526"/>
            </a:avLst>
          </a:prstGeom>
          <a:solidFill>
            <a:srgbClr val="9FB4BA"/>
          </a:solidFill>
          <a:ln w="12700">
            <a:solidFill>
              <a:srgbClr val="333333"/>
            </a:solidFill>
            <a:prstDash val="solid"/>
          </a:ln>
        </p:spPr>
        <p:txBody>
          <a:bodyPr/>
          <a:lstStyle/>
          <a:p>
            <a:endParaRPr lang="en-US"/>
          </a:p>
        </p:txBody>
      </p:sp>
      <p:sp>
        <p:nvSpPr>
          <p:cNvPr id="19" name="Shape 17"/>
          <p:cNvSpPr/>
          <p:nvPr/>
        </p:nvSpPr>
        <p:spPr>
          <a:xfrm>
            <a:off x="4489704" y="2121408"/>
            <a:ext cx="347472" cy="502920"/>
          </a:xfrm>
          <a:prstGeom prst="roundRect">
            <a:avLst>
              <a:gd name="adj" fmla="val 10526"/>
            </a:avLst>
          </a:prstGeom>
          <a:solidFill>
            <a:srgbClr val="24798C"/>
          </a:solidFill>
          <a:ln w="12700">
            <a:solidFill>
              <a:srgbClr val="333333"/>
            </a:solidFill>
            <a:prstDash val="solid"/>
          </a:ln>
        </p:spPr>
        <p:txBody>
          <a:bodyPr/>
          <a:lstStyle/>
          <a:p>
            <a:endParaRPr lang="en-US"/>
          </a:p>
        </p:txBody>
      </p:sp>
      <p:sp>
        <p:nvSpPr>
          <p:cNvPr id="20" name="Shape 18"/>
          <p:cNvSpPr/>
          <p:nvPr/>
        </p:nvSpPr>
        <p:spPr>
          <a:xfrm>
            <a:off x="4892040" y="2121408"/>
            <a:ext cx="347472" cy="502920"/>
          </a:xfrm>
          <a:prstGeom prst="roundRect">
            <a:avLst>
              <a:gd name="adj" fmla="val 10526"/>
            </a:avLst>
          </a:prstGeom>
          <a:solidFill>
            <a:srgbClr val="24798C"/>
          </a:solidFill>
          <a:ln w="12700">
            <a:solidFill>
              <a:srgbClr val="333333"/>
            </a:solidFill>
            <a:prstDash val="solid"/>
          </a:ln>
        </p:spPr>
        <p:txBody>
          <a:bodyPr/>
          <a:lstStyle/>
          <a:p>
            <a:endParaRPr lang="en-US"/>
          </a:p>
        </p:txBody>
      </p:sp>
      <p:sp>
        <p:nvSpPr>
          <p:cNvPr id="21" name="Shape 19"/>
          <p:cNvSpPr/>
          <p:nvPr/>
        </p:nvSpPr>
        <p:spPr>
          <a:xfrm>
            <a:off x="5294376" y="2121408"/>
            <a:ext cx="347472" cy="502920"/>
          </a:xfrm>
          <a:prstGeom prst="roundRect">
            <a:avLst>
              <a:gd name="adj" fmla="val 10526"/>
            </a:avLst>
          </a:prstGeom>
          <a:solidFill>
            <a:srgbClr val="24798C"/>
          </a:solidFill>
          <a:ln w="12700">
            <a:solidFill>
              <a:srgbClr val="333333"/>
            </a:solidFill>
            <a:prstDash val="solid"/>
          </a:ln>
        </p:spPr>
        <p:txBody>
          <a:bodyPr/>
          <a:lstStyle/>
          <a:p>
            <a:endParaRPr lang="en-US"/>
          </a:p>
        </p:txBody>
      </p:sp>
      <p:sp>
        <p:nvSpPr>
          <p:cNvPr id="22" name="Text 20"/>
          <p:cNvSpPr txBox="1"/>
          <p:nvPr/>
        </p:nvSpPr>
        <p:spPr>
          <a:xfrm>
            <a:off x="868680" y="2706624"/>
            <a:ext cx="1188720" cy="237744"/>
          </a:xfrm>
          <a:prstGeom prst="rect">
            <a:avLst/>
          </a:prstGeom>
          <a:noFill/>
          <a:ln/>
        </p:spPr>
        <p:txBody>
          <a:bodyPr wrap="square" lIns="0" tIns="0" rIns="0" bIns="0" rtlCol="0" anchor="ctr"/>
          <a:lstStyle/>
          <a:p>
            <a:pPr marL="0" indent="0">
              <a:buNone/>
            </a:pPr>
            <a:r>
              <a:rPr lang="en-US" sz="1050" b="1" dirty="0">
                <a:solidFill>
                  <a:srgbClr val="24798C"/>
                </a:solidFill>
                <a:latin typeface="Calibri" pitchFamily="34" charset="0"/>
                <a:ea typeface="Calibri" pitchFamily="34" charset="-122"/>
                <a:cs typeface="Calibri" pitchFamily="34" charset="-120"/>
              </a:rPr>
              <a:t>primary</a:t>
            </a:r>
            <a:endParaRPr lang="en-US" sz="1050" dirty="0"/>
          </a:p>
        </p:txBody>
      </p:sp>
      <p:sp>
        <p:nvSpPr>
          <p:cNvPr id="23" name="Text 21"/>
          <p:cNvSpPr txBox="1"/>
          <p:nvPr/>
        </p:nvSpPr>
        <p:spPr>
          <a:xfrm>
            <a:off x="2468880" y="2706624"/>
            <a:ext cx="3108960" cy="237744"/>
          </a:xfrm>
          <a:prstGeom prst="rect">
            <a:avLst/>
          </a:prstGeom>
          <a:noFill/>
          <a:ln/>
        </p:spPr>
        <p:txBody>
          <a:bodyPr wrap="square" lIns="0" tIns="0" rIns="0" bIns="0" rtlCol="0" anchor="ctr"/>
          <a:lstStyle/>
          <a:p>
            <a:pPr marL="0" indent="0">
              <a:buNone/>
            </a:pPr>
            <a:r>
              <a:rPr lang="en-US" sz="1050" b="1" dirty="0">
                <a:solidFill>
                  <a:srgbClr val="D96F32"/>
                </a:solidFill>
                <a:latin typeface="Calibri" pitchFamily="34" charset="0"/>
                <a:ea typeface="Calibri" pitchFamily="34" charset="-122"/>
                <a:cs typeface="Calibri" pitchFamily="34" charset="-120"/>
              </a:rPr>
              <a:t>second speaker or noise mixed in</a:t>
            </a:r>
            <a:endParaRPr lang="en-US" sz="1050" dirty="0"/>
          </a:p>
        </p:txBody>
      </p:sp>
      <p:sp>
        <p:nvSpPr>
          <p:cNvPr id="24" name="Text 22"/>
          <p:cNvSpPr txBox="1"/>
          <p:nvPr/>
        </p:nvSpPr>
        <p:spPr>
          <a:xfrm>
            <a:off x="868680" y="2962656"/>
            <a:ext cx="1463040" cy="237744"/>
          </a:xfrm>
          <a:prstGeom prst="rect">
            <a:avLst/>
          </a:prstGeom>
          <a:noFill/>
          <a:ln/>
        </p:spPr>
        <p:txBody>
          <a:bodyPr wrap="square" lIns="0" tIns="0" rIns="0" bIns="0" rtlCol="0" anchor="ctr"/>
          <a:lstStyle/>
          <a:p>
            <a:pPr marL="0" indent="0">
              <a:buNone/>
            </a:pPr>
            <a:r>
              <a:rPr lang="en-US" sz="1050" b="1" dirty="0">
                <a:solidFill>
                  <a:srgbClr val="6E8A92"/>
                </a:solidFill>
                <a:latin typeface="Calibri" pitchFamily="34" charset="0"/>
                <a:ea typeface="Calibri" pitchFamily="34" charset="-122"/>
                <a:cs typeface="Calibri" pitchFamily="34" charset="-120"/>
              </a:rPr>
              <a:t>masked</a:t>
            </a:r>
            <a:endParaRPr lang="en-US" sz="1050" dirty="0"/>
          </a:p>
        </p:txBody>
      </p:sp>
      <p:sp>
        <p:nvSpPr>
          <p:cNvPr id="25" name="Text 23"/>
          <p:cNvSpPr txBox="1"/>
          <p:nvPr/>
        </p:nvSpPr>
        <p:spPr>
          <a:xfrm>
            <a:off x="868680" y="3291840"/>
            <a:ext cx="4937760" cy="548640"/>
          </a:xfrm>
          <a:prstGeom prst="rect">
            <a:avLst/>
          </a:prstGeom>
          <a:noFill/>
          <a:ln/>
        </p:spPr>
        <p:txBody>
          <a:bodyPr wrap="square" lIns="0" tIns="0" rIns="0" bIns="0" rtlCol="0" anchor="ctr"/>
          <a:lstStyle/>
          <a:p>
            <a:pPr marL="0" indent="0">
              <a:buNone/>
            </a:pPr>
            <a:r>
              <a:rPr lang="en-US" sz="1200" b="1" dirty="0">
                <a:solidFill>
                  <a:srgbClr val="0F252B"/>
                </a:solidFill>
                <a:latin typeface="Calibri" pitchFamily="34" charset="0"/>
                <a:ea typeface="Calibri" pitchFamily="34" charset="-122"/>
                <a:cs typeface="Calibri" pitchFamily="34" charset="-120"/>
              </a:rPr>
              <a:t>Target: the pseudo-labels of the CLEAN original,</a:t>
            </a:r>
            <a:endParaRPr lang="en-US" sz="1200" dirty="0"/>
          </a:p>
          <a:p>
            <a:pPr marL="0" indent="0">
              <a:buNone/>
            </a:pPr>
            <a:r>
              <a:rPr lang="en-US" sz="1200" b="1" dirty="0">
                <a:solidFill>
                  <a:srgbClr val="0F252B"/>
                </a:solidFill>
                <a:latin typeface="Calibri" pitchFamily="34" charset="0"/>
                <a:ea typeface="Calibri" pitchFamily="34" charset="-122"/>
                <a:cs typeface="Calibri" pitchFamily="34" charset="-120"/>
              </a:rPr>
              <a:t>at the masked positions only</a:t>
            </a:r>
            <a:endParaRPr lang="en-US" sz="1200" dirty="0"/>
          </a:p>
        </p:txBody>
      </p:sp>
      <p:sp>
        <p:nvSpPr>
          <p:cNvPr id="26" name="Shape 24"/>
          <p:cNvSpPr/>
          <p:nvPr/>
        </p:nvSpPr>
        <p:spPr>
          <a:xfrm>
            <a:off x="6190488" y="1572768"/>
            <a:ext cx="5440680" cy="2423160"/>
          </a:xfrm>
          <a:prstGeom prst="roundRect">
            <a:avLst>
              <a:gd name="adj" fmla="val 2264"/>
            </a:avLst>
          </a:prstGeom>
          <a:solidFill>
            <a:srgbClr val="EEF5F6"/>
          </a:solidFill>
          <a:ln w="12700">
            <a:solidFill>
              <a:srgbClr val="DBE8EB"/>
            </a:solidFill>
            <a:prstDash val="solid"/>
          </a:ln>
        </p:spPr>
        <p:txBody>
          <a:bodyPr/>
          <a:lstStyle/>
          <a:p>
            <a:endParaRPr lang="en-US"/>
          </a:p>
        </p:txBody>
      </p:sp>
      <p:sp>
        <p:nvSpPr>
          <p:cNvPr id="27" name="Shape 25"/>
          <p:cNvSpPr/>
          <p:nvPr/>
        </p:nvSpPr>
        <p:spPr>
          <a:xfrm>
            <a:off x="6409944" y="1865376"/>
            <a:ext cx="109728" cy="109728"/>
          </a:xfrm>
          <a:prstGeom prst="ellipse">
            <a:avLst/>
          </a:prstGeom>
          <a:solidFill>
            <a:srgbClr val="D96F32"/>
          </a:solidFill>
          <a:ln w="12700">
            <a:solidFill>
              <a:srgbClr val="333333"/>
            </a:solidFill>
            <a:prstDash val="solid"/>
          </a:ln>
        </p:spPr>
        <p:txBody>
          <a:bodyPr/>
          <a:lstStyle/>
          <a:p>
            <a:endParaRPr lang="en-US"/>
          </a:p>
        </p:txBody>
      </p:sp>
      <p:sp>
        <p:nvSpPr>
          <p:cNvPr id="28" name="Text 26"/>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What this asks the model to do</a:t>
            </a:r>
            <a:endParaRPr lang="en-US" sz="1500" dirty="0"/>
          </a:p>
        </p:txBody>
      </p:sp>
      <p:sp>
        <p:nvSpPr>
          <p:cNvPr id="29" name="Text 27"/>
          <p:cNvSpPr txBox="1"/>
          <p:nvPr/>
        </p:nvSpPr>
        <p:spPr>
          <a:xfrm>
            <a:off x="6446520" y="2176272"/>
            <a:ext cx="4928616" cy="163677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Identify which of the overlapping voices is the main speaker, follow that speaker through the interference, and predict what they were saying in the parts it cannot see.</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Speaker discrimination, denoising and content modelling, all enforced by one loss.</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Pseudo-labels are always generated by feeding the clean utterance to the previous-iteration network, so the target is never contaminated.</a:t>
            </a:r>
            <a:endParaRPr lang="en-US" sz="1260" dirty="0"/>
          </a:p>
        </p:txBody>
      </p:sp>
      <p:sp>
        <p:nvSpPr>
          <p:cNvPr id="30" name="Shape 28"/>
          <p:cNvSpPr/>
          <p:nvPr/>
        </p:nvSpPr>
        <p:spPr>
          <a:xfrm>
            <a:off x="566928" y="4187952"/>
            <a:ext cx="11064240" cy="1865376"/>
          </a:xfrm>
          <a:prstGeom prst="roundRect">
            <a:avLst>
              <a:gd name="adj" fmla="val 2941"/>
            </a:avLst>
          </a:prstGeom>
          <a:solidFill>
            <a:srgbClr val="16323A"/>
          </a:solidFill>
          <a:ln w="12700">
            <a:solidFill>
              <a:srgbClr val="16323A"/>
            </a:solidFill>
            <a:prstDash val="solid"/>
          </a:ln>
        </p:spPr>
        <p:txBody>
          <a:bodyPr/>
          <a:lstStyle/>
          <a:p>
            <a:endParaRPr lang="en-US"/>
          </a:p>
        </p:txBody>
      </p:sp>
      <p:sp>
        <p:nvSpPr>
          <p:cNvPr id="31" name="Shape 29"/>
          <p:cNvSpPr/>
          <p:nvPr/>
        </p:nvSpPr>
        <p:spPr>
          <a:xfrm>
            <a:off x="786384" y="4480560"/>
            <a:ext cx="109728" cy="109728"/>
          </a:xfrm>
          <a:prstGeom prst="ellipse">
            <a:avLst/>
          </a:prstGeom>
          <a:solidFill>
            <a:srgbClr val="D96F32"/>
          </a:solidFill>
          <a:ln w="12700">
            <a:solidFill>
              <a:srgbClr val="333333"/>
            </a:solidFill>
            <a:prstDash val="solid"/>
          </a:ln>
        </p:spPr>
        <p:txBody>
          <a:bodyPr/>
          <a:lstStyle/>
          <a:p>
            <a:endParaRPr lang="en-US"/>
          </a:p>
        </p:txBody>
      </p:sp>
      <p:sp>
        <p:nvSpPr>
          <p:cNvPr id="32" name="Text 30"/>
          <p:cNvSpPr txBox="1"/>
          <p:nvPr/>
        </p:nvSpPr>
        <p:spPr>
          <a:xfrm>
            <a:off x="987552" y="435254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the overlap is capped below 50%</a:t>
            </a:r>
            <a:endParaRPr lang="en-US" sz="1500" dirty="0"/>
          </a:p>
        </p:txBody>
      </p:sp>
      <p:sp>
        <p:nvSpPr>
          <p:cNvPr id="33" name="Text 31"/>
          <p:cNvSpPr txBox="1"/>
          <p:nvPr/>
        </p:nvSpPr>
        <p:spPr>
          <a:xfrm>
            <a:off x="822960" y="4791456"/>
            <a:ext cx="10552176" cy="1078992"/>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The mixing length is drawn uniformly from up to half the utterance, so the primary speaker is always present for longer than the secondary one.</a:t>
            </a:r>
            <a:endParaRPr lang="en-US" sz="1300" dirty="0"/>
          </a:p>
          <a:p>
            <a:pPr marL="0" indent="0">
              <a:lnSpc>
                <a:spcPct val="108000"/>
              </a:lnSpc>
              <a:buNone/>
            </a:pPr>
            <a:endParaRPr lang="en-US" sz="1300" dirty="0"/>
          </a:p>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Without that constraint, 'the main speaker' would be ambiguous and the target would be arbitrary. The constraint is what makes the task well posed.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How the mixtures are made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The simulation runs inside the training loop, on each batch</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10</a:t>
            </a:r>
            <a:endParaRPr lang="en-US" sz="900" dirty="0"/>
          </a:p>
        </p:txBody>
      </p:sp>
      <p:sp>
        <p:nvSpPr>
          <p:cNvPr id="8" name="Shape 6"/>
          <p:cNvSpPr/>
          <p:nvPr/>
        </p:nvSpPr>
        <p:spPr>
          <a:xfrm>
            <a:off x="566928" y="1554480"/>
            <a:ext cx="11064240" cy="822960"/>
          </a:xfrm>
          <a:prstGeom prst="roundRect">
            <a:avLst>
              <a:gd name="adj" fmla="val 4444"/>
            </a:avLst>
          </a:prstGeom>
          <a:solidFill>
            <a:srgbClr val="EEF5F6"/>
          </a:solidFill>
          <a:ln w="12700">
            <a:solidFill>
              <a:srgbClr val="E4EDEF"/>
            </a:solidFill>
            <a:prstDash val="solid"/>
          </a:ln>
        </p:spPr>
        <p:txBody>
          <a:bodyPr/>
          <a:lstStyle/>
          <a:p>
            <a:endParaRPr lang="en-US"/>
          </a:p>
        </p:txBody>
      </p:sp>
      <p:sp>
        <p:nvSpPr>
          <p:cNvPr id="9" name="Shape 7"/>
          <p:cNvSpPr/>
          <p:nvPr/>
        </p:nvSpPr>
        <p:spPr>
          <a:xfrm>
            <a:off x="786384" y="1810512"/>
            <a:ext cx="310896" cy="310896"/>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786384" y="1837944"/>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11" name="Text 9"/>
          <p:cNvSpPr txBox="1"/>
          <p:nvPr/>
        </p:nvSpPr>
        <p:spPr>
          <a:xfrm>
            <a:off x="1188720" y="1819656"/>
            <a:ext cx="2011680" cy="292608"/>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Select</a:t>
            </a:r>
            <a:endParaRPr lang="en-US" sz="1350" dirty="0"/>
          </a:p>
        </p:txBody>
      </p:sp>
      <p:sp>
        <p:nvSpPr>
          <p:cNvPr id="12" name="Text 10"/>
          <p:cNvSpPr txBox="1"/>
          <p:nvPr/>
        </p:nvSpPr>
        <p:spPr>
          <a:xfrm>
            <a:off x="3291840" y="1682496"/>
            <a:ext cx="8138160" cy="566928"/>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Choose a subset of utterances in the batch by Bernoulli sampling with probability p. In the released models, denoising is applied to 20% of utterances.</a:t>
            </a:r>
            <a:endParaRPr lang="en-US" sz="1200" dirty="0"/>
          </a:p>
        </p:txBody>
      </p:sp>
      <p:sp>
        <p:nvSpPr>
          <p:cNvPr id="13" name="Shape 11"/>
          <p:cNvSpPr/>
          <p:nvPr/>
        </p:nvSpPr>
        <p:spPr>
          <a:xfrm>
            <a:off x="566928" y="2432304"/>
            <a:ext cx="11064240" cy="822960"/>
          </a:xfrm>
          <a:prstGeom prst="roundRect">
            <a:avLst>
              <a:gd name="adj" fmla="val 4444"/>
            </a:avLst>
          </a:prstGeom>
          <a:solidFill>
            <a:srgbClr val="FFFFFF"/>
          </a:solidFill>
          <a:ln w="12700">
            <a:solidFill>
              <a:srgbClr val="E4EDEF"/>
            </a:solidFill>
            <a:prstDash val="solid"/>
          </a:ln>
        </p:spPr>
        <p:txBody>
          <a:bodyPr/>
          <a:lstStyle/>
          <a:p>
            <a:endParaRPr lang="en-US"/>
          </a:p>
        </p:txBody>
      </p:sp>
      <p:sp>
        <p:nvSpPr>
          <p:cNvPr id="14" name="Shape 12"/>
          <p:cNvSpPr/>
          <p:nvPr/>
        </p:nvSpPr>
        <p:spPr>
          <a:xfrm>
            <a:off x="786384" y="2688336"/>
            <a:ext cx="310896" cy="310896"/>
          </a:xfrm>
          <a:prstGeom prst="ellipse">
            <a:avLst/>
          </a:prstGeom>
          <a:solidFill>
            <a:srgbClr val="24798C"/>
          </a:solidFill>
          <a:ln w="12700">
            <a:solidFill>
              <a:srgbClr val="333333"/>
            </a:solidFill>
            <a:prstDash val="solid"/>
          </a:ln>
        </p:spPr>
        <p:txBody>
          <a:bodyPr/>
          <a:lstStyle/>
          <a:p>
            <a:endParaRPr lang="en-US"/>
          </a:p>
        </p:txBody>
      </p:sp>
      <p:sp>
        <p:nvSpPr>
          <p:cNvPr id="15" name="Text 13"/>
          <p:cNvSpPr txBox="1"/>
          <p:nvPr/>
        </p:nvSpPr>
        <p:spPr>
          <a:xfrm>
            <a:off x="786384" y="2715768"/>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6" name="Text 14"/>
          <p:cNvSpPr txBox="1"/>
          <p:nvPr/>
        </p:nvSpPr>
        <p:spPr>
          <a:xfrm>
            <a:off x="1188720" y="2697480"/>
            <a:ext cx="2011680" cy="292608"/>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Choose the interferer</a:t>
            </a:r>
            <a:endParaRPr lang="en-US" sz="1350" dirty="0"/>
          </a:p>
        </p:txBody>
      </p:sp>
      <p:sp>
        <p:nvSpPr>
          <p:cNvPr id="17" name="Text 15"/>
          <p:cNvSpPr txBox="1"/>
          <p:nvPr/>
        </p:nvSpPr>
        <p:spPr>
          <a:xfrm>
            <a:off x="3291840" y="2560320"/>
            <a:ext cx="8138160" cy="566928"/>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With probability pₙ mix in a noise clip from the DNS challenge noise set; otherwise mix in another utterance drawn from the same batch. pₙ is 0 for Base and 10% for Base+ and Large.</a:t>
            </a:r>
            <a:endParaRPr lang="en-US" sz="1200" dirty="0"/>
          </a:p>
        </p:txBody>
      </p:sp>
      <p:sp>
        <p:nvSpPr>
          <p:cNvPr id="18" name="Shape 16"/>
          <p:cNvSpPr/>
          <p:nvPr/>
        </p:nvSpPr>
        <p:spPr>
          <a:xfrm>
            <a:off x="566928" y="3310128"/>
            <a:ext cx="11064240" cy="822960"/>
          </a:xfrm>
          <a:prstGeom prst="roundRect">
            <a:avLst>
              <a:gd name="adj" fmla="val 4444"/>
            </a:avLst>
          </a:prstGeom>
          <a:solidFill>
            <a:srgbClr val="EEF5F6"/>
          </a:solidFill>
          <a:ln w="12700">
            <a:solidFill>
              <a:srgbClr val="E4EDEF"/>
            </a:solidFill>
            <a:prstDash val="solid"/>
          </a:ln>
        </p:spPr>
        <p:txBody>
          <a:bodyPr/>
          <a:lstStyle/>
          <a:p>
            <a:endParaRPr lang="en-US"/>
          </a:p>
        </p:txBody>
      </p:sp>
      <p:sp>
        <p:nvSpPr>
          <p:cNvPr id="19" name="Shape 17"/>
          <p:cNvSpPr/>
          <p:nvPr/>
        </p:nvSpPr>
        <p:spPr>
          <a:xfrm>
            <a:off x="786384" y="3566160"/>
            <a:ext cx="310896" cy="310896"/>
          </a:xfrm>
          <a:prstGeom prst="ellipse">
            <a:avLst/>
          </a:prstGeom>
          <a:solidFill>
            <a:srgbClr val="24798C"/>
          </a:solidFill>
          <a:ln w="12700">
            <a:solidFill>
              <a:srgbClr val="333333"/>
            </a:solidFill>
            <a:prstDash val="solid"/>
          </a:ln>
        </p:spPr>
        <p:txBody>
          <a:bodyPr/>
          <a:lstStyle/>
          <a:p>
            <a:endParaRPr lang="en-US"/>
          </a:p>
        </p:txBody>
      </p:sp>
      <p:sp>
        <p:nvSpPr>
          <p:cNvPr id="20" name="Text 18"/>
          <p:cNvSpPr txBox="1"/>
          <p:nvPr/>
        </p:nvSpPr>
        <p:spPr>
          <a:xfrm>
            <a:off x="786384" y="3593592"/>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21" name="Text 19"/>
          <p:cNvSpPr txBox="1"/>
          <p:nvPr/>
        </p:nvSpPr>
        <p:spPr>
          <a:xfrm>
            <a:off x="1188720" y="3575304"/>
            <a:ext cx="2011680" cy="292608"/>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Set the energy ratio</a:t>
            </a:r>
            <a:endParaRPr lang="en-US" sz="1350" dirty="0"/>
          </a:p>
        </p:txBody>
      </p:sp>
      <p:sp>
        <p:nvSpPr>
          <p:cNvPr id="22" name="Text 20"/>
          <p:cNvSpPr txBox="1"/>
          <p:nvPr/>
        </p:nvSpPr>
        <p:spPr>
          <a:xfrm>
            <a:off x="3291840" y="3438144"/>
            <a:ext cx="8138160" cy="566928"/>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Sampled uniformly from −5 to 5 dB for a secondary utterance, and from −5 to 20 dB for noise — following the standard simulation practice in speech separation.</a:t>
            </a:r>
            <a:endParaRPr lang="en-US" sz="1200" dirty="0"/>
          </a:p>
        </p:txBody>
      </p:sp>
      <p:sp>
        <p:nvSpPr>
          <p:cNvPr id="23" name="Shape 21"/>
          <p:cNvSpPr/>
          <p:nvPr/>
        </p:nvSpPr>
        <p:spPr>
          <a:xfrm>
            <a:off x="566928" y="4187952"/>
            <a:ext cx="11064240" cy="822960"/>
          </a:xfrm>
          <a:prstGeom prst="roundRect">
            <a:avLst>
              <a:gd name="adj" fmla="val 4444"/>
            </a:avLst>
          </a:prstGeom>
          <a:solidFill>
            <a:srgbClr val="FFFFFF"/>
          </a:solidFill>
          <a:ln w="12700">
            <a:solidFill>
              <a:srgbClr val="E4EDEF"/>
            </a:solidFill>
            <a:prstDash val="solid"/>
          </a:ln>
        </p:spPr>
        <p:txBody>
          <a:bodyPr/>
          <a:lstStyle/>
          <a:p>
            <a:endParaRPr lang="en-US"/>
          </a:p>
        </p:txBody>
      </p:sp>
      <p:sp>
        <p:nvSpPr>
          <p:cNvPr id="24" name="Shape 22"/>
          <p:cNvSpPr/>
          <p:nvPr/>
        </p:nvSpPr>
        <p:spPr>
          <a:xfrm>
            <a:off x="786384" y="4443984"/>
            <a:ext cx="310896" cy="310896"/>
          </a:xfrm>
          <a:prstGeom prst="ellipse">
            <a:avLst/>
          </a:prstGeom>
          <a:solidFill>
            <a:srgbClr val="24798C"/>
          </a:solidFill>
          <a:ln w="12700">
            <a:solidFill>
              <a:srgbClr val="333333"/>
            </a:solidFill>
            <a:prstDash val="solid"/>
          </a:ln>
        </p:spPr>
        <p:txBody>
          <a:bodyPr/>
          <a:lstStyle/>
          <a:p>
            <a:endParaRPr lang="en-US"/>
          </a:p>
        </p:txBody>
      </p:sp>
      <p:sp>
        <p:nvSpPr>
          <p:cNvPr id="25" name="Text 23"/>
          <p:cNvSpPr txBox="1"/>
          <p:nvPr/>
        </p:nvSpPr>
        <p:spPr>
          <a:xfrm>
            <a:off x="786384" y="4471416"/>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26" name="Text 24"/>
          <p:cNvSpPr txBox="1"/>
          <p:nvPr/>
        </p:nvSpPr>
        <p:spPr>
          <a:xfrm>
            <a:off x="1188720" y="4453128"/>
            <a:ext cx="2011680" cy="292608"/>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Choose the region</a:t>
            </a:r>
            <a:endParaRPr lang="en-US" sz="1350" dirty="0"/>
          </a:p>
        </p:txBody>
      </p:sp>
      <p:sp>
        <p:nvSpPr>
          <p:cNvPr id="27" name="Text 25"/>
          <p:cNvSpPr txBox="1"/>
          <p:nvPr/>
        </p:nvSpPr>
        <p:spPr>
          <a:xfrm>
            <a:off x="3291840" y="4315968"/>
            <a:ext cx="8138160" cy="566928"/>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The mixing length is sampled uniformly from one frame up to half the utterance; start positions for both signals are sampled uniformly and independently.</a:t>
            </a:r>
            <a:endParaRPr lang="en-US" sz="1200" dirty="0"/>
          </a:p>
        </p:txBody>
      </p:sp>
      <p:sp>
        <p:nvSpPr>
          <p:cNvPr id="28" name="Shape 26"/>
          <p:cNvSpPr/>
          <p:nvPr/>
        </p:nvSpPr>
        <p:spPr>
          <a:xfrm>
            <a:off x="566928" y="5065776"/>
            <a:ext cx="11064240" cy="822960"/>
          </a:xfrm>
          <a:prstGeom prst="roundRect">
            <a:avLst>
              <a:gd name="adj" fmla="val 4444"/>
            </a:avLst>
          </a:prstGeom>
          <a:solidFill>
            <a:srgbClr val="EEF5F6"/>
          </a:solidFill>
          <a:ln w="12700">
            <a:solidFill>
              <a:srgbClr val="E4EDEF"/>
            </a:solidFill>
            <a:prstDash val="solid"/>
          </a:ln>
        </p:spPr>
        <p:txBody>
          <a:bodyPr/>
          <a:lstStyle/>
          <a:p>
            <a:endParaRPr lang="en-US"/>
          </a:p>
        </p:txBody>
      </p:sp>
      <p:sp>
        <p:nvSpPr>
          <p:cNvPr id="29" name="Shape 27"/>
          <p:cNvSpPr/>
          <p:nvPr/>
        </p:nvSpPr>
        <p:spPr>
          <a:xfrm>
            <a:off x="786384" y="5321808"/>
            <a:ext cx="310896" cy="310896"/>
          </a:xfrm>
          <a:prstGeom prst="ellipse">
            <a:avLst/>
          </a:prstGeom>
          <a:solidFill>
            <a:srgbClr val="D96F32"/>
          </a:solidFill>
          <a:ln w="12700">
            <a:solidFill>
              <a:srgbClr val="333333"/>
            </a:solidFill>
            <a:prstDash val="solid"/>
          </a:ln>
        </p:spPr>
        <p:txBody>
          <a:bodyPr/>
          <a:lstStyle/>
          <a:p>
            <a:endParaRPr lang="en-US"/>
          </a:p>
        </p:txBody>
      </p:sp>
      <p:sp>
        <p:nvSpPr>
          <p:cNvPr id="30" name="Text 28"/>
          <p:cNvSpPr txBox="1"/>
          <p:nvPr/>
        </p:nvSpPr>
        <p:spPr>
          <a:xfrm>
            <a:off x="786384" y="5349240"/>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5</a:t>
            </a:r>
            <a:endParaRPr lang="en-US" sz="1150" dirty="0"/>
          </a:p>
        </p:txBody>
      </p:sp>
      <p:sp>
        <p:nvSpPr>
          <p:cNvPr id="31" name="Text 29"/>
          <p:cNvSpPr txBox="1"/>
          <p:nvPr/>
        </p:nvSpPr>
        <p:spPr>
          <a:xfrm>
            <a:off x="1188720" y="5330952"/>
            <a:ext cx="2011680" cy="292608"/>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Mix</a:t>
            </a:r>
            <a:endParaRPr lang="en-US" sz="1350" dirty="0"/>
          </a:p>
        </p:txBody>
      </p:sp>
      <p:sp>
        <p:nvSpPr>
          <p:cNvPr id="32" name="Text 30"/>
          <p:cNvSpPr txBox="1"/>
          <p:nvPr/>
        </p:nvSpPr>
        <p:spPr>
          <a:xfrm>
            <a:off x="3291840" y="5193792"/>
            <a:ext cx="8138160" cy="566928"/>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Scale the secondary signal by the computed ratio and add it to the selected region of the primary. The speaker of the first utterance is the main speaker.</a:t>
            </a:r>
            <a:endParaRPr lang="en-US" sz="1200" dirty="0"/>
          </a:p>
        </p:txBody>
      </p:sp>
      <p:sp>
        <p:nvSpPr>
          <p:cNvPr id="33" name="Text 31"/>
          <p:cNvSpPr txBox="1"/>
          <p:nvPr/>
        </p:nvSpPr>
        <p:spPr>
          <a:xfrm>
            <a:off x="566928" y="5998464"/>
            <a:ext cx="11064240" cy="274320"/>
          </a:xfrm>
          <a:prstGeom prst="rect">
            <a:avLst/>
          </a:prstGeom>
          <a:noFill/>
          <a:ln/>
        </p:spPr>
        <p:txBody>
          <a:bodyPr wrap="square" lIns="0" tIns="0" rIns="0" bIns="0" rtlCol="0" anchor="ctr"/>
          <a:lstStyle/>
          <a:p>
            <a:pPr marL="0" indent="0">
              <a:buNone/>
            </a:pPr>
            <a:r>
              <a:rPr lang="en-US" sz="1150" i="1" dirty="0">
                <a:solidFill>
                  <a:srgbClr val="50707A"/>
                </a:solidFill>
                <a:latin typeface="Calibri" pitchFamily="34" charset="0"/>
                <a:ea typeface="Calibri" pitchFamily="34" charset="-122"/>
                <a:cs typeface="Calibri" pitchFamily="34" charset="-120"/>
              </a:rPr>
              <a:t>Note that interferers come from the same batch — no separate corpus of mixtures is needed, and the simulation costs almost nothing.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Modification 2: gated relative position bias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A small change aimed squarely at recognition</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11</a:t>
            </a:r>
            <a:endParaRPr lang="en-US" sz="900" dirty="0"/>
          </a:p>
        </p:txBody>
      </p:sp>
      <p:sp>
        <p:nvSpPr>
          <p:cNvPr id="8" name="Shape 6"/>
          <p:cNvSpPr/>
          <p:nvPr/>
        </p:nvSpPr>
        <p:spPr>
          <a:xfrm>
            <a:off x="566928" y="1572768"/>
            <a:ext cx="5440680" cy="2286000"/>
          </a:xfrm>
          <a:prstGeom prst="roundRect">
            <a:avLst>
              <a:gd name="adj" fmla="val 2400"/>
            </a:avLst>
          </a:prstGeom>
          <a:solidFill>
            <a:srgbClr val="EEF5F6"/>
          </a:solidFill>
          <a:ln w="12700">
            <a:solidFill>
              <a:srgbClr val="DBE8EB"/>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The mechanism</a:t>
            </a:r>
            <a:endParaRPr lang="en-US" sz="1500" dirty="0"/>
          </a:p>
        </p:txBody>
      </p:sp>
      <p:sp>
        <p:nvSpPr>
          <p:cNvPr id="11" name="Text 9"/>
          <p:cNvSpPr txBox="1"/>
          <p:nvPr/>
        </p:nvSpPr>
        <p:spPr>
          <a:xfrm>
            <a:off x="82296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A learnable scalar bias is added to the attention logit for each query–key offset, on top of the usual scaled dot product.</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Two sigmoid gates, computed from the current query, then modulate that bias — an update gate and a reset gate, in the style of a gated recurrent unit.</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Bucketed offsets: 320 embeddings, spacing growing logarithmically up to a maximum offset of 800, shared across all layers.</a:t>
            </a:r>
            <a:endParaRPr lang="en-US" sz="1260" dirty="0"/>
          </a:p>
        </p:txBody>
      </p:sp>
      <p:sp>
        <p:nvSpPr>
          <p:cNvPr id="12" name="Shape 10"/>
          <p:cNvSpPr/>
          <p:nvPr/>
        </p:nvSpPr>
        <p:spPr>
          <a:xfrm>
            <a:off x="6190488" y="1572768"/>
            <a:ext cx="5440680" cy="2286000"/>
          </a:xfrm>
          <a:prstGeom prst="roundRect">
            <a:avLst>
              <a:gd name="adj" fmla="val 2400"/>
            </a:avLst>
          </a:prstGeom>
          <a:solidFill>
            <a:srgbClr val="EEF5F6"/>
          </a:solidFill>
          <a:ln w="12700">
            <a:solidFill>
              <a:srgbClr val="DBE8EB"/>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D96F32"/>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The intuition the paper gives</a:t>
            </a:r>
            <a:endParaRPr lang="en-US" sz="1500" dirty="0"/>
          </a:p>
        </p:txBody>
      </p:sp>
      <p:sp>
        <p:nvSpPr>
          <p:cNvPr id="15" name="Text 13"/>
          <p:cNvSpPr txBox="1"/>
          <p:nvPr/>
        </p:nvSpPr>
        <p:spPr>
          <a:xfrm>
            <a:off x="644652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The same distance between two frames means different things depending on what those frames contain. A gap of forty frames matters differently if one end is silence than if both ends are speech.</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Gating lets the position bias be adjusted by conditioning on the current speech content, rather than being a fixed function of distance alone.</a:t>
            </a:r>
            <a:endParaRPr lang="en-US" sz="1260" dirty="0"/>
          </a:p>
        </p:txBody>
      </p:sp>
      <p:sp>
        <p:nvSpPr>
          <p:cNvPr id="16" name="Text 14"/>
          <p:cNvSpPr txBox="1"/>
          <p:nvPr/>
        </p:nvSpPr>
        <p:spPr>
          <a:xfrm>
            <a:off x="566928" y="4041648"/>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27383E"/>
                </a:solidFill>
                <a:latin typeface="Calibri" pitchFamily="34" charset="0"/>
                <a:ea typeface="Calibri" pitchFamily="34" charset="-122"/>
                <a:cs typeface="Calibri" pitchFamily="34" charset="-120"/>
              </a:rPr>
              <a:t>Because the position embeddings are shared across layers, the parameter count barely moves — 94.70M for WavLM Base against 94.68M for HuBERT Base.</a:t>
            </a:r>
            <a:endParaRPr lang="en-US" sz="1260" dirty="0"/>
          </a:p>
          <a:p>
            <a:pPr marL="342900" indent="-342900">
              <a:spcAft>
                <a:spcPts val="800"/>
              </a:spcAft>
              <a:buSzPct val="100000"/>
              <a:buChar char="●"/>
            </a:pPr>
            <a:r>
              <a:rPr lang="en-US" sz="1260" dirty="0">
                <a:solidFill>
                  <a:srgbClr val="27383E"/>
                </a:solidFill>
                <a:latin typeface="Calibri" pitchFamily="34" charset="0"/>
                <a:ea typeface="Calibri" pitchFamily="34" charset="-122"/>
                <a:cs typeface="Calibri" pitchFamily="34" charset="-120"/>
              </a:rPr>
              <a:t>The ablation is specific: removing it costs mainly phoneme recognition and speech recognition, the content-related tasks. Speaker tasks barely notice.</a:t>
            </a:r>
            <a:endParaRPr lang="en-US" sz="1260" dirty="0"/>
          </a:p>
          <a:p>
            <a:pPr marL="342900" indent="-342900">
              <a:spcAft>
                <a:spcPts val="800"/>
              </a:spcAft>
              <a:buSzPct val="100000"/>
              <a:buChar char="●"/>
            </a:pPr>
            <a:r>
              <a:rPr lang="en-US" sz="1260" dirty="0">
                <a:solidFill>
                  <a:srgbClr val="27383E"/>
                </a:solidFill>
                <a:latin typeface="Calibri" pitchFamily="34" charset="0"/>
                <a:ea typeface="Calibri" pitchFamily="34" charset="-122"/>
                <a:cs typeface="Calibri" pitchFamily="34" charset="-120"/>
              </a:rPr>
              <a:t>So the two modifications are complementary by design: denoising targets speaker and multi-speaker tasks, gating targets content tasks.</a:t>
            </a:r>
            <a:endParaRPr lang="en-US" sz="1260" dirty="0"/>
          </a:p>
          <a:p>
            <a:pPr marL="342900" indent="-342900">
              <a:spcAft>
                <a:spcPts val="800"/>
              </a:spcAft>
              <a:buSzPct val="100000"/>
              <a:buChar char="●"/>
            </a:pPr>
            <a:r>
              <a:rPr lang="en-US" sz="1260" dirty="0">
                <a:solidFill>
                  <a:srgbClr val="27383E"/>
                </a:solidFill>
                <a:latin typeface="Calibri" pitchFamily="34" charset="0"/>
                <a:ea typeface="Calibri" pitchFamily="34" charset="-122"/>
                <a:cs typeface="Calibri" pitchFamily="34" charset="-120"/>
              </a:rPr>
              <a:t>A separate practical fix accompanies it: rescaling the attention logits before the softmax to prevent 16-bit overflow, which was destabilising large-model training.</a:t>
            </a:r>
            <a:endParaRPr lang="en-US" sz="12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Modification 3: 94,000 hours from three sources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Deliberately not all audiobooks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12</a:t>
            </a:r>
            <a:endParaRPr lang="en-US" sz="900" dirty="0"/>
          </a:p>
        </p:txBody>
      </p:sp>
      <p:graphicFrame>
        <p:nvGraphicFramePr>
          <p:cNvPr id="8" name="Chart 0"/>
          <p:cNvGraphicFramePr/>
          <p:nvPr/>
        </p:nvGraphicFramePr>
        <p:xfrm>
          <a:off x="566928" y="1554480"/>
          <a:ext cx="60350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6858000" y="1700784"/>
            <a:ext cx="4773168" cy="29260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GigaSpeech contributes audiobooks, podcasts and YouTube — read and spontaneous styles across many topics.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VoxPopuli contributes European Parliament recordings from 2009 to 2020: plenary sessions, committee meetings and other events.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Only 10k of GigaSpeech's 40k hours are used; the authors say the other 30k are poorly processed, with long silences and some utterances containing only background noise.</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So a substantial share is still audiobook. Libri-Light alone is 64% of the total.</a:t>
            </a:r>
            <a:endParaRPr lang="en-US" sz="1220" dirty="0"/>
          </a:p>
        </p:txBody>
      </p:sp>
      <p:sp>
        <p:nvSpPr>
          <p:cNvPr id="10" name="Shape 7"/>
          <p:cNvSpPr/>
          <p:nvPr/>
        </p:nvSpPr>
        <p:spPr>
          <a:xfrm>
            <a:off x="566928" y="4828032"/>
            <a:ext cx="11064240" cy="1225296"/>
          </a:xfrm>
          <a:prstGeom prst="roundRect">
            <a:avLst>
              <a:gd name="adj" fmla="val 4478"/>
            </a:avLst>
          </a:prstGeom>
          <a:solidFill>
            <a:srgbClr val="16323A"/>
          </a:solidFill>
          <a:ln w="12700">
            <a:solidFill>
              <a:srgbClr val="16323A"/>
            </a:solidFill>
            <a:prstDash val="solid"/>
          </a:ln>
        </p:spPr>
        <p:txBody>
          <a:bodyPr/>
          <a:lstStyle/>
          <a:p>
            <a:endParaRPr lang="en-US"/>
          </a:p>
        </p:txBody>
      </p:sp>
      <p:sp>
        <p:nvSpPr>
          <p:cNvPr id="11" name="Shape 8"/>
          <p:cNvSpPr/>
          <p:nvPr/>
        </p:nvSpPr>
        <p:spPr>
          <a:xfrm>
            <a:off x="786384" y="5120640"/>
            <a:ext cx="109728" cy="109728"/>
          </a:xfrm>
          <a:prstGeom prst="ellipse">
            <a:avLst/>
          </a:prstGeom>
          <a:solidFill>
            <a:srgbClr val="D96F32"/>
          </a:solidFill>
          <a:ln w="12700">
            <a:solidFill>
              <a:srgbClr val="333333"/>
            </a:solidFill>
            <a:prstDash val="solid"/>
          </a:ln>
        </p:spPr>
        <p:txBody>
          <a:bodyPr/>
          <a:lstStyle/>
          <a:p>
            <a:endParaRPr lang="en-US"/>
          </a:p>
        </p:txBody>
      </p:sp>
      <p:sp>
        <p:nvSpPr>
          <p:cNvPr id="12" name="Text 9"/>
          <p:cNvSpPr txBox="1"/>
          <p:nvPr/>
        </p:nvSpPr>
        <p:spPr>
          <a:xfrm>
            <a:off x="987552" y="499262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Where the extra data shows up</a:t>
            </a:r>
            <a:endParaRPr lang="en-US" sz="1500" dirty="0"/>
          </a:p>
        </p:txBody>
      </p:sp>
      <p:sp>
        <p:nvSpPr>
          <p:cNvPr id="13" name="Text 10"/>
          <p:cNvSpPr txBox="1"/>
          <p:nvPr/>
        </p:nvSpPr>
        <p:spPr>
          <a:xfrm>
            <a:off x="822960" y="5431536"/>
            <a:ext cx="10552176" cy="438912"/>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The paper is specific: the combined dataset especially boosts test sets that are not drawn from audiobooks — speaker verification, out-of-domain ASR, intent classification, slot filling and emotion recognition. Domain match, not volume, is doing the work.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Model configurations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And one detail that is easy to miss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13</a:t>
            </a:r>
            <a:endParaRPr lang="en-US" sz="900" dirty="0"/>
          </a:p>
        </p:txBody>
      </p:sp>
      <p:sp>
        <p:nvSpPr>
          <p:cNvPr id="8" name="Text 6"/>
          <p:cNvSpPr txBox="1"/>
          <p:nvPr/>
        </p:nvSpPr>
        <p:spPr>
          <a:xfrm>
            <a:off x="4480560" y="1335024"/>
            <a:ext cx="2286000" cy="274320"/>
          </a:xfrm>
          <a:prstGeom prst="rect">
            <a:avLst/>
          </a:prstGeom>
          <a:noFill/>
          <a:ln/>
        </p:spPr>
        <p:txBody>
          <a:bodyPr wrap="square" lIns="0" tIns="0" rIns="0" bIns="0" rtlCol="0" anchor="ctr"/>
          <a:lstStyle/>
          <a:p>
            <a:pPr marL="0" indent="0">
              <a:buNone/>
            </a:pPr>
            <a:r>
              <a:rPr lang="en-US" sz="1200" b="1" dirty="0">
                <a:solidFill>
                  <a:srgbClr val="24798C"/>
                </a:solidFill>
                <a:latin typeface="Calibri" pitchFamily="34" charset="0"/>
                <a:ea typeface="Calibri" pitchFamily="34" charset="-122"/>
                <a:cs typeface="Calibri" pitchFamily="34" charset="-120"/>
              </a:rPr>
              <a:t>WavLM Base</a:t>
            </a:r>
            <a:endParaRPr lang="en-US" sz="1200" dirty="0"/>
          </a:p>
        </p:txBody>
      </p:sp>
      <p:sp>
        <p:nvSpPr>
          <p:cNvPr id="9" name="Text 7"/>
          <p:cNvSpPr txBox="1"/>
          <p:nvPr/>
        </p:nvSpPr>
        <p:spPr>
          <a:xfrm>
            <a:off x="6903720" y="1335024"/>
            <a:ext cx="2286000" cy="274320"/>
          </a:xfrm>
          <a:prstGeom prst="rect">
            <a:avLst/>
          </a:prstGeom>
          <a:noFill/>
          <a:ln/>
        </p:spPr>
        <p:txBody>
          <a:bodyPr wrap="square" lIns="0" tIns="0" rIns="0" bIns="0" rtlCol="0" anchor="ctr"/>
          <a:lstStyle/>
          <a:p>
            <a:pPr marL="0" indent="0">
              <a:buNone/>
            </a:pPr>
            <a:r>
              <a:rPr lang="en-US" sz="1200" b="1" dirty="0">
                <a:solidFill>
                  <a:srgbClr val="24798C"/>
                </a:solidFill>
                <a:latin typeface="Calibri" pitchFamily="34" charset="0"/>
                <a:ea typeface="Calibri" pitchFamily="34" charset="-122"/>
                <a:cs typeface="Calibri" pitchFamily="34" charset="-120"/>
              </a:rPr>
              <a:t>WavLM Base+</a:t>
            </a:r>
            <a:endParaRPr lang="en-US" sz="1200" dirty="0"/>
          </a:p>
        </p:txBody>
      </p:sp>
      <p:sp>
        <p:nvSpPr>
          <p:cNvPr id="10" name="Text 8"/>
          <p:cNvSpPr txBox="1"/>
          <p:nvPr/>
        </p:nvSpPr>
        <p:spPr>
          <a:xfrm>
            <a:off x="9326880" y="1335024"/>
            <a:ext cx="2286000" cy="274320"/>
          </a:xfrm>
          <a:prstGeom prst="rect">
            <a:avLst/>
          </a:prstGeom>
          <a:noFill/>
          <a:ln/>
        </p:spPr>
        <p:txBody>
          <a:bodyPr wrap="square" lIns="0" tIns="0" rIns="0" bIns="0" rtlCol="0" anchor="ctr"/>
          <a:lstStyle/>
          <a:p>
            <a:pPr marL="0" indent="0">
              <a:buNone/>
            </a:pPr>
            <a:r>
              <a:rPr lang="en-US" sz="1200" b="1" dirty="0">
                <a:solidFill>
                  <a:srgbClr val="D96F32"/>
                </a:solidFill>
                <a:latin typeface="Calibri" pitchFamily="34" charset="0"/>
                <a:ea typeface="Calibri" pitchFamily="34" charset="-122"/>
                <a:cs typeface="Calibri" pitchFamily="34" charset="-120"/>
              </a:rPr>
              <a:t>WavLM Large</a:t>
            </a:r>
            <a:endParaRPr lang="en-US" sz="1200" dirty="0"/>
          </a:p>
        </p:txBody>
      </p:sp>
      <p:sp>
        <p:nvSpPr>
          <p:cNvPr id="11" name="Shape 9"/>
          <p:cNvSpPr/>
          <p:nvPr/>
        </p:nvSpPr>
        <p:spPr>
          <a:xfrm>
            <a:off x="566928" y="1627632"/>
            <a:ext cx="11064240" cy="329184"/>
          </a:xfrm>
          <a:prstGeom prst="roundRect">
            <a:avLst>
              <a:gd name="adj" fmla="val 5556"/>
            </a:avLst>
          </a:prstGeom>
          <a:solidFill>
            <a:srgbClr val="EEF5F6"/>
          </a:solidFill>
          <a:ln w="12700">
            <a:solidFill>
              <a:srgbClr val="E4EDEF"/>
            </a:solidFill>
            <a:prstDash val="solid"/>
          </a:ln>
        </p:spPr>
        <p:txBody>
          <a:bodyPr/>
          <a:lstStyle/>
          <a:p>
            <a:endParaRPr lang="en-US"/>
          </a:p>
        </p:txBody>
      </p:sp>
      <p:sp>
        <p:nvSpPr>
          <p:cNvPr id="12" name="Text 10"/>
          <p:cNvSpPr txBox="1"/>
          <p:nvPr/>
        </p:nvSpPr>
        <p:spPr>
          <a:xfrm>
            <a:off x="749808" y="168249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Transformer layers</a:t>
            </a:r>
            <a:endParaRPr lang="en-US" sz="1150" dirty="0"/>
          </a:p>
        </p:txBody>
      </p:sp>
      <p:sp>
        <p:nvSpPr>
          <p:cNvPr id="13" name="Text 11"/>
          <p:cNvSpPr txBox="1"/>
          <p:nvPr/>
        </p:nvSpPr>
        <p:spPr>
          <a:xfrm>
            <a:off x="4480560" y="16824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12</a:t>
            </a:r>
            <a:endParaRPr lang="en-US" sz="1150" dirty="0"/>
          </a:p>
        </p:txBody>
      </p:sp>
      <p:sp>
        <p:nvSpPr>
          <p:cNvPr id="14" name="Text 12"/>
          <p:cNvSpPr txBox="1"/>
          <p:nvPr/>
        </p:nvSpPr>
        <p:spPr>
          <a:xfrm>
            <a:off x="6903720" y="16824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12</a:t>
            </a:r>
            <a:endParaRPr lang="en-US" sz="1150" dirty="0"/>
          </a:p>
        </p:txBody>
      </p:sp>
      <p:sp>
        <p:nvSpPr>
          <p:cNvPr id="15" name="Text 13"/>
          <p:cNvSpPr txBox="1"/>
          <p:nvPr/>
        </p:nvSpPr>
        <p:spPr>
          <a:xfrm>
            <a:off x="9326880" y="16824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24</a:t>
            </a:r>
            <a:endParaRPr lang="en-US" sz="1150" dirty="0"/>
          </a:p>
        </p:txBody>
      </p:sp>
      <p:sp>
        <p:nvSpPr>
          <p:cNvPr id="16" name="Shape 14"/>
          <p:cNvSpPr/>
          <p:nvPr/>
        </p:nvSpPr>
        <p:spPr>
          <a:xfrm>
            <a:off x="566928" y="1993392"/>
            <a:ext cx="11064240" cy="329184"/>
          </a:xfrm>
          <a:prstGeom prst="roundRect">
            <a:avLst>
              <a:gd name="adj" fmla="val 5556"/>
            </a:avLst>
          </a:prstGeom>
          <a:solidFill>
            <a:srgbClr val="FFFFFF"/>
          </a:solidFill>
          <a:ln w="12700">
            <a:solidFill>
              <a:srgbClr val="E4EDEF"/>
            </a:solidFill>
            <a:prstDash val="solid"/>
          </a:ln>
        </p:spPr>
        <p:txBody>
          <a:bodyPr/>
          <a:lstStyle/>
          <a:p>
            <a:endParaRPr lang="en-US"/>
          </a:p>
        </p:txBody>
      </p:sp>
      <p:sp>
        <p:nvSpPr>
          <p:cNvPr id="17" name="Text 15"/>
          <p:cNvSpPr txBox="1"/>
          <p:nvPr/>
        </p:nvSpPr>
        <p:spPr>
          <a:xfrm>
            <a:off x="749808" y="204825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Hidden dimension</a:t>
            </a:r>
            <a:endParaRPr lang="en-US" sz="1150" dirty="0"/>
          </a:p>
        </p:txBody>
      </p:sp>
      <p:sp>
        <p:nvSpPr>
          <p:cNvPr id="18" name="Text 16"/>
          <p:cNvSpPr txBox="1"/>
          <p:nvPr/>
        </p:nvSpPr>
        <p:spPr>
          <a:xfrm>
            <a:off x="4480560" y="20482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768</a:t>
            </a:r>
            <a:endParaRPr lang="en-US" sz="1150" dirty="0"/>
          </a:p>
        </p:txBody>
      </p:sp>
      <p:sp>
        <p:nvSpPr>
          <p:cNvPr id="19" name="Text 17"/>
          <p:cNvSpPr txBox="1"/>
          <p:nvPr/>
        </p:nvSpPr>
        <p:spPr>
          <a:xfrm>
            <a:off x="6903720" y="20482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768</a:t>
            </a:r>
            <a:endParaRPr lang="en-US" sz="1150" dirty="0"/>
          </a:p>
        </p:txBody>
      </p:sp>
      <p:sp>
        <p:nvSpPr>
          <p:cNvPr id="20" name="Text 18"/>
          <p:cNvSpPr txBox="1"/>
          <p:nvPr/>
        </p:nvSpPr>
        <p:spPr>
          <a:xfrm>
            <a:off x="9326880" y="20482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1,024</a:t>
            </a:r>
            <a:endParaRPr lang="en-US" sz="1150" dirty="0"/>
          </a:p>
        </p:txBody>
      </p:sp>
      <p:sp>
        <p:nvSpPr>
          <p:cNvPr id="21" name="Shape 19"/>
          <p:cNvSpPr/>
          <p:nvPr/>
        </p:nvSpPr>
        <p:spPr>
          <a:xfrm>
            <a:off x="566928" y="2359152"/>
            <a:ext cx="11064240" cy="329184"/>
          </a:xfrm>
          <a:prstGeom prst="roundRect">
            <a:avLst>
              <a:gd name="adj" fmla="val 5556"/>
            </a:avLst>
          </a:prstGeom>
          <a:solidFill>
            <a:srgbClr val="EEF5F6"/>
          </a:solidFill>
          <a:ln w="12700">
            <a:solidFill>
              <a:srgbClr val="E4EDEF"/>
            </a:solidFill>
            <a:prstDash val="solid"/>
          </a:ln>
        </p:spPr>
        <p:txBody>
          <a:bodyPr/>
          <a:lstStyle/>
          <a:p>
            <a:endParaRPr lang="en-US"/>
          </a:p>
        </p:txBody>
      </p:sp>
      <p:sp>
        <p:nvSpPr>
          <p:cNvPr id="22" name="Text 20"/>
          <p:cNvSpPr txBox="1"/>
          <p:nvPr/>
        </p:nvSpPr>
        <p:spPr>
          <a:xfrm>
            <a:off x="749808" y="241401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Attention heads</a:t>
            </a:r>
            <a:endParaRPr lang="en-US" sz="1150" dirty="0"/>
          </a:p>
        </p:txBody>
      </p:sp>
      <p:sp>
        <p:nvSpPr>
          <p:cNvPr id="23" name="Text 21"/>
          <p:cNvSpPr txBox="1"/>
          <p:nvPr/>
        </p:nvSpPr>
        <p:spPr>
          <a:xfrm>
            <a:off x="4480560" y="241401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8</a:t>
            </a:r>
            <a:endParaRPr lang="en-US" sz="1150" dirty="0"/>
          </a:p>
        </p:txBody>
      </p:sp>
      <p:sp>
        <p:nvSpPr>
          <p:cNvPr id="24" name="Text 22"/>
          <p:cNvSpPr txBox="1"/>
          <p:nvPr/>
        </p:nvSpPr>
        <p:spPr>
          <a:xfrm>
            <a:off x="6903720" y="241401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8</a:t>
            </a:r>
            <a:endParaRPr lang="en-US" sz="1150" dirty="0"/>
          </a:p>
        </p:txBody>
      </p:sp>
      <p:sp>
        <p:nvSpPr>
          <p:cNvPr id="25" name="Text 23"/>
          <p:cNvSpPr txBox="1"/>
          <p:nvPr/>
        </p:nvSpPr>
        <p:spPr>
          <a:xfrm>
            <a:off x="9326880" y="241401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12</a:t>
            </a:r>
            <a:endParaRPr lang="en-US" sz="1150" dirty="0"/>
          </a:p>
        </p:txBody>
      </p:sp>
      <p:sp>
        <p:nvSpPr>
          <p:cNvPr id="26" name="Shape 24"/>
          <p:cNvSpPr/>
          <p:nvPr/>
        </p:nvSpPr>
        <p:spPr>
          <a:xfrm>
            <a:off x="566928" y="2724912"/>
            <a:ext cx="11064240" cy="329184"/>
          </a:xfrm>
          <a:prstGeom prst="roundRect">
            <a:avLst>
              <a:gd name="adj" fmla="val 5556"/>
            </a:avLst>
          </a:prstGeom>
          <a:solidFill>
            <a:srgbClr val="FFFFFF"/>
          </a:solidFill>
          <a:ln w="12700">
            <a:solidFill>
              <a:srgbClr val="E4EDEF"/>
            </a:solidFill>
            <a:prstDash val="solid"/>
          </a:ln>
        </p:spPr>
        <p:txBody>
          <a:bodyPr/>
          <a:lstStyle/>
          <a:p>
            <a:endParaRPr lang="en-US"/>
          </a:p>
        </p:txBody>
      </p:sp>
      <p:sp>
        <p:nvSpPr>
          <p:cNvPr id="27" name="Text 25"/>
          <p:cNvSpPr txBox="1"/>
          <p:nvPr/>
        </p:nvSpPr>
        <p:spPr>
          <a:xfrm>
            <a:off x="749808" y="277977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Parameters</a:t>
            </a:r>
            <a:endParaRPr lang="en-US" sz="1150" dirty="0"/>
          </a:p>
        </p:txBody>
      </p:sp>
      <p:sp>
        <p:nvSpPr>
          <p:cNvPr id="28" name="Text 26"/>
          <p:cNvSpPr txBox="1"/>
          <p:nvPr/>
        </p:nvSpPr>
        <p:spPr>
          <a:xfrm>
            <a:off x="4480560" y="277977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94.70M</a:t>
            </a:r>
            <a:endParaRPr lang="en-US" sz="1150" dirty="0"/>
          </a:p>
        </p:txBody>
      </p:sp>
      <p:sp>
        <p:nvSpPr>
          <p:cNvPr id="29" name="Text 27"/>
          <p:cNvSpPr txBox="1"/>
          <p:nvPr/>
        </p:nvSpPr>
        <p:spPr>
          <a:xfrm>
            <a:off x="6903720" y="277977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94.70M</a:t>
            </a:r>
            <a:endParaRPr lang="en-US" sz="1150" dirty="0"/>
          </a:p>
        </p:txBody>
      </p:sp>
      <p:sp>
        <p:nvSpPr>
          <p:cNvPr id="30" name="Text 28"/>
          <p:cNvSpPr txBox="1"/>
          <p:nvPr/>
        </p:nvSpPr>
        <p:spPr>
          <a:xfrm>
            <a:off x="9326880" y="277977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316.62M</a:t>
            </a:r>
            <a:endParaRPr lang="en-US" sz="1150" dirty="0"/>
          </a:p>
        </p:txBody>
      </p:sp>
      <p:sp>
        <p:nvSpPr>
          <p:cNvPr id="31" name="Shape 29"/>
          <p:cNvSpPr/>
          <p:nvPr/>
        </p:nvSpPr>
        <p:spPr>
          <a:xfrm>
            <a:off x="566928" y="3090672"/>
            <a:ext cx="11064240" cy="329184"/>
          </a:xfrm>
          <a:prstGeom prst="roundRect">
            <a:avLst>
              <a:gd name="adj" fmla="val 5556"/>
            </a:avLst>
          </a:prstGeom>
          <a:solidFill>
            <a:srgbClr val="EEF5F6"/>
          </a:solidFill>
          <a:ln w="12700">
            <a:solidFill>
              <a:srgbClr val="E4EDEF"/>
            </a:solidFill>
            <a:prstDash val="solid"/>
          </a:ln>
        </p:spPr>
        <p:txBody>
          <a:bodyPr/>
          <a:lstStyle/>
          <a:p>
            <a:endParaRPr lang="en-US"/>
          </a:p>
        </p:txBody>
      </p:sp>
      <p:sp>
        <p:nvSpPr>
          <p:cNvPr id="32" name="Text 30"/>
          <p:cNvSpPr txBox="1"/>
          <p:nvPr/>
        </p:nvSpPr>
        <p:spPr>
          <a:xfrm>
            <a:off x="749808" y="314553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Pre-training data</a:t>
            </a:r>
            <a:endParaRPr lang="en-US" sz="1150" dirty="0"/>
          </a:p>
        </p:txBody>
      </p:sp>
      <p:sp>
        <p:nvSpPr>
          <p:cNvPr id="33" name="Text 31"/>
          <p:cNvSpPr txBox="1"/>
          <p:nvPr/>
        </p:nvSpPr>
        <p:spPr>
          <a:xfrm>
            <a:off x="4480560" y="314553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LibriSpeech 960h</a:t>
            </a:r>
            <a:endParaRPr lang="en-US" sz="1150" dirty="0"/>
          </a:p>
        </p:txBody>
      </p:sp>
      <p:sp>
        <p:nvSpPr>
          <p:cNvPr id="34" name="Text 32"/>
          <p:cNvSpPr txBox="1"/>
          <p:nvPr/>
        </p:nvSpPr>
        <p:spPr>
          <a:xfrm>
            <a:off x="6903720" y="314553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Mix 94k hr</a:t>
            </a:r>
            <a:endParaRPr lang="en-US" sz="1150" dirty="0"/>
          </a:p>
        </p:txBody>
      </p:sp>
      <p:sp>
        <p:nvSpPr>
          <p:cNvPr id="35" name="Text 33"/>
          <p:cNvSpPr txBox="1"/>
          <p:nvPr/>
        </p:nvSpPr>
        <p:spPr>
          <a:xfrm>
            <a:off x="9326880" y="314553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Mix 94k hr</a:t>
            </a:r>
            <a:endParaRPr lang="en-US" sz="1150" dirty="0"/>
          </a:p>
        </p:txBody>
      </p:sp>
      <p:sp>
        <p:nvSpPr>
          <p:cNvPr id="36" name="Shape 34"/>
          <p:cNvSpPr/>
          <p:nvPr/>
        </p:nvSpPr>
        <p:spPr>
          <a:xfrm>
            <a:off x="566928" y="3456432"/>
            <a:ext cx="11064240" cy="329184"/>
          </a:xfrm>
          <a:prstGeom prst="roundRect">
            <a:avLst>
              <a:gd name="adj" fmla="val 5556"/>
            </a:avLst>
          </a:prstGeom>
          <a:solidFill>
            <a:srgbClr val="FFFFFF"/>
          </a:solidFill>
          <a:ln w="12700">
            <a:solidFill>
              <a:srgbClr val="E4EDEF"/>
            </a:solidFill>
            <a:prstDash val="solid"/>
          </a:ln>
        </p:spPr>
        <p:txBody>
          <a:bodyPr/>
          <a:lstStyle/>
          <a:p>
            <a:endParaRPr lang="en-US"/>
          </a:p>
        </p:txBody>
      </p:sp>
      <p:sp>
        <p:nvSpPr>
          <p:cNvPr id="37" name="Text 35"/>
          <p:cNvSpPr txBox="1"/>
          <p:nvPr/>
        </p:nvSpPr>
        <p:spPr>
          <a:xfrm>
            <a:off x="749808" y="351129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Update steps</a:t>
            </a:r>
            <a:endParaRPr lang="en-US" sz="1150" dirty="0"/>
          </a:p>
        </p:txBody>
      </p:sp>
      <p:sp>
        <p:nvSpPr>
          <p:cNvPr id="38" name="Text 36"/>
          <p:cNvSpPr txBox="1"/>
          <p:nvPr/>
        </p:nvSpPr>
        <p:spPr>
          <a:xfrm>
            <a:off x="4480560" y="35112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400k</a:t>
            </a:r>
            <a:endParaRPr lang="en-US" sz="1150" dirty="0"/>
          </a:p>
        </p:txBody>
      </p:sp>
      <p:sp>
        <p:nvSpPr>
          <p:cNvPr id="39" name="Text 37"/>
          <p:cNvSpPr txBox="1"/>
          <p:nvPr/>
        </p:nvSpPr>
        <p:spPr>
          <a:xfrm>
            <a:off x="6903720" y="35112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1.2M</a:t>
            </a:r>
            <a:endParaRPr lang="en-US" sz="1150" dirty="0"/>
          </a:p>
        </p:txBody>
      </p:sp>
      <p:sp>
        <p:nvSpPr>
          <p:cNvPr id="40" name="Text 38"/>
          <p:cNvSpPr txBox="1"/>
          <p:nvPr/>
        </p:nvSpPr>
        <p:spPr>
          <a:xfrm>
            <a:off x="9326880" y="35112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700k</a:t>
            </a:r>
            <a:endParaRPr lang="en-US" sz="1150" dirty="0"/>
          </a:p>
        </p:txBody>
      </p:sp>
      <p:sp>
        <p:nvSpPr>
          <p:cNvPr id="41" name="Shape 39"/>
          <p:cNvSpPr/>
          <p:nvPr/>
        </p:nvSpPr>
        <p:spPr>
          <a:xfrm>
            <a:off x="566928" y="3822192"/>
            <a:ext cx="11064240" cy="329184"/>
          </a:xfrm>
          <a:prstGeom prst="roundRect">
            <a:avLst>
              <a:gd name="adj" fmla="val 5556"/>
            </a:avLst>
          </a:prstGeom>
          <a:solidFill>
            <a:srgbClr val="EEF5F6"/>
          </a:solidFill>
          <a:ln w="12700">
            <a:solidFill>
              <a:srgbClr val="E4EDEF"/>
            </a:solidFill>
            <a:prstDash val="solid"/>
          </a:ln>
        </p:spPr>
        <p:txBody>
          <a:bodyPr/>
          <a:lstStyle/>
          <a:p>
            <a:endParaRPr lang="en-US"/>
          </a:p>
        </p:txBody>
      </p:sp>
      <p:sp>
        <p:nvSpPr>
          <p:cNvPr id="42" name="Text 40"/>
          <p:cNvSpPr txBox="1"/>
          <p:nvPr/>
        </p:nvSpPr>
        <p:spPr>
          <a:xfrm>
            <a:off x="749808" y="387705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Peak learning rate</a:t>
            </a:r>
            <a:endParaRPr lang="en-US" sz="1150" dirty="0"/>
          </a:p>
        </p:txBody>
      </p:sp>
      <p:sp>
        <p:nvSpPr>
          <p:cNvPr id="43" name="Text 41"/>
          <p:cNvSpPr txBox="1"/>
          <p:nvPr/>
        </p:nvSpPr>
        <p:spPr>
          <a:xfrm>
            <a:off x="4480560" y="38770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5 × 10⁻⁴</a:t>
            </a:r>
            <a:endParaRPr lang="en-US" sz="1150" dirty="0"/>
          </a:p>
        </p:txBody>
      </p:sp>
      <p:sp>
        <p:nvSpPr>
          <p:cNvPr id="44" name="Text 42"/>
          <p:cNvSpPr txBox="1"/>
          <p:nvPr/>
        </p:nvSpPr>
        <p:spPr>
          <a:xfrm>
            <a:off x="6903720" y="38770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5 × 10⁻⁴</a:t>
            </a:r>
            <a:endParaRPr lang="en-US" sz="1150" dirty="0"/>
          </a:p>
        </p:txBody>
      </p:sp>
      <p:sp>
        <p:nvSpPr>
          <p:cNvPr id="45" name="Text 43"/>
          <p:cNvSpPr txBox="1"/>
          <p:nvPr/>
        </p:nvSpPr>
        <p:spPr>
          <a:xfrm>
            <a:off x="9326880" y="38770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1.5 × 10⁻³</a:t>
            </a:r>
            <a:endParaRPr lang="en-US" sz="1150" dirty="0"/>
          </a:p>
        </p:txBody>
      </p:sp>
      <p:sp>
        <p:nvSpPr>
          <p:cNvPr id="46" name="Shape 44"/>
          <p:cNvSpPr/>
          <p:nvPr/>
        </p:nvSpPr>
        <p:spPr>
          <a:xfrm>
            <a:off x="566928" y="4187952"/>
            <a:ext cx="11064240" cy="329184"/>
          </a:xfrm>
          <a:prstGeom prst="roundRect">
            <a:avLst>
              <a:gd name="adj" fmla="val 5556"/>
            </a:avLst>
          </a:prstGeom>
          <a:solidFill>
            <a:srgbClr val="FFFFFF"/>
          </a:solidFill>
          <a:ln w="12700">
            <a:solidFill>
              <a:srgbClr val="E4EDEF"/>
            </a:solidFill>
            <a:prstDash val="solid"/>
          </a:ln>
        </p:spPr>
        <p:txBody>
          <a:bodyPr/>
          <a:lstStyle/>
          <a:p>
            <a:endParaRPr lang="en-US"/>
          </a:p>
        </p:txBody>
      </p:sp>
      <p:sp>
        <p:nvSpPr>
          <p:cNvPr id="47" name="Text 45"/>
          <p:cNvSpPr txBox="1"/>
          <p:nvPr/>
        </p:nvSpPr>
        <p:spPr>
          <a:xfrm>
            <a:off x="749808" y="424281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Warm-up steps</a:t>
            </a:r>
            <a:endParaRPr lang="en-US" sz="1150" dirty="0"/>
          </a:p>
        </p:txBody>
      </p:sp>
      <p:sp>
        <p:nvSpPr>
          <p:cNvPr id="48" name="Text 46"/>
          <p:cNvSpPr txBox="1"/>
          <p:nvPr/>
        </p:nvSpPr>
        <p:spPr>
          <a:xfrm>
            <a:off x="4480560" y="424281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32k</a:t>
            </a:r>
            <a:endParaRPr lang="en-US" sz="1150" dirty="0"/>
          </a:p>
        </p:txBody>
      </p:sp>
      <p:sp>
        <p:nvSpPr>
          <p:cNvPr id="49" name="Text 47"/>
          <p:cNvSpPr txBox="1"/>
          <p:nvPr/>
        </p:nvSpPr>
        <p:spPr>
          <a:xfrm>
            <a:off x="6903720" y="424281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96k</a:t>
            </a:r>
            <a:endParaRPr lang="en-US" sz="1150" dirty="0"/>
          </a:p>
        </p:txBody>
      </p:sp>
      <p:sp>
        <p:nvSpPr>
          <p:cNvPr id="50" name="Text 48"/>
          <p:cNvSpPr txBox="1"/>
          <p:nvPr/>
        </p:nvSpPr>
        <p:spPr>
          <a:xfrm>
            <a:off x="9326880" y="424281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32k</a:t>
            </a:r>
            <a:endParaRPr lang="en-US" sz="1150" dirty="0"/>
          </a:p>
        </p:txBody>
      </p:sp>
      <p:sp>
        <p:nvSpPr>
          <p:cNvPr id="51" name="Shape 49"/>
          <p:cNvSpPr/>
          <p:nvPr/>
        </p:nvSpPr>
        <p:spPr>
          <a:xfrm>
            <a:off x="566928" y="4553712"/>
            <a:ext cx="11064240" cy="329184"/>
          </a:xfrm>
          <a:prstGeom prst="roundRect">
            <a:avLst>
              <a:gd name="adj" fmla="val 5556"/>
            </a:avLst>
          </a:prstGeom>
          <a:solidFill>
            <a:srgbClr val="EEF5F6"/>
          </a:solidFill>
          <a:ln w="12700">
            <a:solidFill>
              <a:srgbClr val="E4EDEF"/>
            </a:solidFill>
            <a:prstDash val="solid"/>
          </a:ln>
        </p:spPr>
        <p:txBody>
          <a:bodyPr/>
          <a:lstStyle/>
          <a:p>
            <a:endParaRPr lang="en-US"/>
          </a:p>
        </p:txBody>
      </p:sp>
      <p:sp>
        <p:nvSpPr>
          <p:cNvPr id="52" name="Text 50"/>
          <p:cNvSpPr txBox="1"/>
          <p:nvPr/>
        </p:nvSpPr>
        <p:spPr>
          <a:xfrm>
            <a:off x="749808" y="460857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Batch size (audio)</a:t>
            </a:r>
            <a:endParaRPr lang="en-US" sz="1150" dirty="0"/>
          </a:p>
        </p:txBody>
      </p:sp>
      <p:sp>
        <p:nvSpPr>
          <p:cNvPr id="53" name="Text 51"/>
          <p:cNvSpPr txBox="1"/>
          <p:nvPr/>
        </p:nvSpPr>
        <p:spPr>
          <a:xfrm>
            <a:off x="4480560" y="460857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350 s</a:t>
            </a:r>
            <a:endParaRPr lang="en-US" sz="1150" dirty="0"/>
          </a:p>
        </p:txBody>
      </p:sp>
      <p:sp>
        <p:nvSpPr>
          <p:cNvPr id="54" name="Text 52"/>
          <p:cNvSpPr txBox="1"/>
          <p:nvPr/>
        </p:nvSpPr>
        <p:spPr>
          <a:xfrm>
            <a:off x="6903720" y="460857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350 s</a:t>
            </a:r>
            <a:endParaRPr lang="en-US" sz="1150" dirty="0"/>
          </a:p>
        </p:txBody>
      </p:sp>
      <p:sp>
        <p:nvSpPr>
          <p:cNvPr id="55" name="Text 53"/>
          <p:cNvSpPr txBox="1"/>
          <p:nvPr/>
        </p:nvSpPr>
        <p:spPr>
          <a:xfrm>
            <a:off x="9326880" y="460857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720 s</a:t>
            </a:r>
            <a:endParaRPr lang="en-US" sz="1150" dirty="0"/>
          </a:p>
        </p:txBody>
      </p:sp>
      <p:sp>
        <p:nvSpPr>
          <p:cNvPr id="56" name="Shape 54"/>
          <p:cNvSpPr/>
          <p:nvPr/>
        </p:nvSpPr>
        <p:spPr>
          <a:xfrm>
            <a:off x="566928" y="4919472"/>
            <a:ext cx="11064240" cy="329184"/>
          </a:xfrm>
          <a:prstGeom prst="roundRect">
            <a:avLst>
              <a:gd name="adj" fmla="val 5556"/>
            </a:avLst>
          </a:prstGeom>
          <a:solidFill>
            <a:srgbClr val="FFFFFF"/>
          </a:solidFill>
          <a:ln w="12700">
            <a:solidFill>
              <a:srgbClr val="E4EDEF"/>
            </a:solidFill>
            <a:prstDash val="solid"/>
          </a:ln>
        </p:spPr>
        <p:txBody>
          <a:bodyPr/>
          <a:lstStyle/>
          <a:p>
            <a:endParaRPr lang="en-US"/>
          </a:p>
        </p:txBody>
      </p:sp>
      <p:sp>
        <p:nvSpPr>
          <p:cNvPr id="57" name="Text 55"/>
          <p:cNvSpPr txBox="1"/>
          <p:nvPr/>
        </p:nvSpPr>
        <p:spPr>
          <a:xfrm>
            <a:off x="749808" y="497433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GPUs</a:t>
            </a:r>
            <a:endParaRPr lang="en-US" sz="1150" dirty="0"/>
          </a:p>
        </p:txBody>
      </p:sp>
      <p:sp>
        <p:nvSpPr>
          <p:cNvPr id="58" name="Text 56"/>
          <p:cNvSpPr txBox="1"/>
          <p:nvPr/>
        </p:nvSpPr>
        <p:spPr>
          <a:xfrm>
            <a:off x="4480560" y="497433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32 V100</a:t>
            </a:r>
            <a:endParaRPr lang="en-US" sz="1150" dirty="0"/>
          </a:p>
        </p:txBody>
      </p:sp>
      <p:sp>
        <p:nvSpPr>
          <p:cNvPr id="59" name="Text 57"/>
          <p:cNvSpPr txBox="1"/>
          <p:nvPr/>
        </p:nvSpPr>
        <p:spPr>
          <a:xfrm>
            <a:off x="6903720" y="497433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32 V100</a:t>
            </a:r>
            <a:endParaRPr lang="en-US" sz="1150" dirty="0"/>
          </a:p>
        </p:txBody>
      </p:sp>
      <p:sp>
        <p:nvSpPr>
          <p:cNvPr id="60" name="Text 58"/>
          <p:cNvSpPr txBox="1"/>
          <p:nvPr/>
        </p:nvSpPr>
        <p:spPr>
          <a:xfrm>
            <a:off x="9326880" y="497433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64 V100</a:t>
            </a:r>
            <a:endParaRPr lang="en-US" sz="1150" dirty="0"/>
          </a:p>
        </p:txBody>
      </p:sp>
      <p:sp>
        <p:nvSpPr>
          <p:cNvPr id="61" name="Shape 59"/>
          <p:cNvSpPr/>
          <p:nvPr/>
        </p:nvSpPr>
        <p:spPr>
          <a:xfrm>
            <a:off x="566928" y="5285232"/>
            <a:ext cx="11064240" cy="329184"/>
          </a:xfrm>
          <a:prstGeom prst="roundRect">
            <a:avLst>
              <a:gd name="adj" fmla="val 5556"/>
            </a:avLst>
          </a:prstGeom>
          <a:solidFill>
            <a:srgbClr val="EEF5F6"/>
          </a:solidFill>
          <a:ln w="12700">
            <a:solidFill>
              <a:srgbClr val="E4EDEF"/>
            </a:solidFill>
            <a:prstDash val="solid"/>
          </a:ln>
        </p:spPr>
        <p:txBody>
          <a:bodyPr/>
          <a:lstStyle/>
          <a:p>
            <a:endParaRPr lang="en-US"/>
          </a:p>
        </p:txBody>
      </p:sp>
      <p:sp>
        <p:nvSpPr>
          <p:cNvPr id="62" name="Text 60"/>
          <p:cNvSpPr txBox="1"/>
          <p:nvPr/>
        </p:nvSpPr>
        <p:spPr>
          <a:xfrm>
            <a:off x="749808" y="534009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Denoising applied to</a:t>
            </a:r>
            <a:endParaRPr lang="en-US" sz="1150" dirty="0"/>
          </a:p>
        </p:txBody>
      </p:sp>
      <p:sp>
        <p:nvSpPr>
          <p:cNvPr id="63" name="Text 61"/>
          <p:cNvSpPr txBox="1"/>
          <p:nvPr/>
        </p:nvSpPr>
        <p:spPr>
          <a:xfrm>
            <a:off x="4480560" y="53400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20% of utterances</a:t>
            </a:r>
            <a:endParaRPr lang="en-US" sz="1150" dirty="0"/>
          </a:p>
        </p:txBody>
      </p:sp>
      <p:sp>
        <p:nvSpPr>
          <p:cNvPr id="64" name="Text 62"/>
          <p:cNvSpPr txBox="1"/>
          <p:nvPr/>
        </p:nvSpPr>
        <p:spPr>
          <a:xfrm>
            <a:off x="6903720" y="53400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20% of utterances</a:t>
            </a:r>
            <a:endParaRPr lang="en-US" sz="1150" dirty="0"/>
          </a:p>
        </p:txBody>
      </p:sp>
      <p:sp>
        <p:nvSpPr>
          <p:cNvPr id="65" name="Text 63"/>
          <p:cNvSpPr txBox="1"/>
          <p:nvPr/>
        </p:nvSpPr>
        <p:spPr>
          <a:xfrm>
            <a:off x="9326880" y="534009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20% of utterances</a:t>
            </a:r>
            <a:endParaRPr lang="en-US" sz="1150" dirty="0"/>
          </a:p>
        </p:txBody>
      </p:sp>
      <p:sp>
        <p:nvSpPr>
          <p:cNvPr id="66" name="Shape 64"/>
          <p:cNvSpPr/>
          <p:nvPr/>
        </p:nvSpPr>
        <p:spPr>
          <a:xfrm>
            <a:off x="566928" y="5650992"/>
            <a:ext cx="11064240" cy="329184"/>
          </a:xfrm>
          <a:prstGeom prst="roundRect">
            <a:avLst>
              <a:gd name="adj" fmla="val 5556"/>
            </a:avLst>
          </a:prstGeom>
          <a:solidFill>
            <a:srgbClr val="FFFFFF"/>
          </a:solidFill>
          <a:ln w="12700">
            <a:solidFill>
              <a:srgbClr val="E4EDEF"/>
            </a:solidFill>
            <a:prstDash val="solid"/>
          </a:ln>
        </p:spPr>
        <p:txBody>
          <a:bodyPr/>
          <a:lstStyle/>
          <a:p>
            <a:endParaRPr lang="en-US"/>
          </a:p>
        </p:txBody>
      </p:sp>
      <p:sp>
        <p:nvSpPr>
          <p:cNvPr id="67" name="Text 65"/>
          <p:cNvSpPr txBox="1"/>
          <p:nvPr/>
        </p:nvSpPr>
        <p:spPr>
          <a:xfrm>
            <a:off x="749808" y="5705856"/>
            <a:ext cx="3657600" cy="246888"/>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Noise-mixing probability</a:t>
            </a:r>
            <a:endParaRPr lang="en-US" sz="1150" dirty="0"/>
          </a:p>
        </p:txBody>
      </p:sp>
      <p:sp>
        <p:nvSpPr>
          <p:cNvPr id="68" name="Text 66"/>
          <p:cNvSpPr txBox="1"/>
          <p:nvPr/>
        </p:nvSpPr>
        <p:spPr>
          <a:xfrm>
            <a:off x="4480560" y="57058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0</a:t>
            </a:r>
            <a:endParaRPr lang="en-US" sz="1150" dirty="0"/>
          </a:p>
        </p:txBody>
      </p:sp>
      <p:sp>
        <p:nvSpPr>
          <p:cNvPr id="69" name="Text 67"/>
          <p:cNvSpPr txBox="1"/>
          <p:nvPr/>
        </p:nvSpPr>
        <p:spPr>
          <a:xfrm>
            <a:off x="6903720" y="57058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10%</a:t>
            </a:r>
            <a:endParaRPr lang="en-US" sz="1150" dirty="0"/>
          </a:p>
        </p:txBody>
      </p:sp>
      <p:sp>
        <p:nvSpPr>
          <p:cNvPr id="70" name="Text 68"/>
          <p:cNvSpPr txBox="1"/>
          <p:nvPr/>
        </p:nvSpPr>
        <p:spPr>
          <a:xfrm>
            <a:off x="9326880" y="5705856"/>
            <a:ext cx="2286000" cy="246888"/>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10%</a:t>
            </a:r>
            <a:endParaRPr lang="en-US" sz="1150" dirty="0"/>
          </a:p>
        </p:txBody>
      </p:sp>
      <p:sp>
        <p:nvSpPr>
          <p:cNvPr id="71" name="Text 69"/>
          <p:cNvSpPr txBox="1"/>
          <p:nvPr/>
        </p:nvSpPr>
        <p:spPr>
          <a:xfrm>
            <a:off x="566928" y="6089904"/>
            <a:ext cx="11064240" cy="274320"/>
          </a:xfrm>
          <a:prstGeom prst="rect">
            <a:avLst/>
          </a:prstGeom>
          <a:noFill/>
          <a:ln/>
        </p:spPr>
        <p:txBody>
          <a:bodyPr wrap="square" lIns="0" tIns="0" rIns="0" bIns="0" rtlCol="0" anchor="ctr"/>
          <a:lstStyle/>
          <a:p>
            <a:pPr marL="0" indent="0">
              <a:buNone/>
            </a:pPr>
            <a:r>
              <a:rPr lang="en-US" sz="1150" i="1" dirty="0">
                <a:solidFill>
                  <a:srgbClr val="50707A"/>
                </a:solidFill>
                <a:latin typeface="Calibri" pitchFamily="34" charset="0"/>
                <a:ea typeface="Calibri" pitchFamily="34" charset="-122"/>
                <a:cs typeface="Calibri" pitchFamily="34" charset="-120"/>
              </a:rPr>
              <a:t>WavLM is trained on labels from HuBERT: Base uses the 6th layer of iteration-1 HuBERT Base; Base+ and Large use the 9th layer of iteration-2 HuBERT Base.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6323A"/>
        </a:solidFill>
        <a:effectLst/>
      </p:bgPr>
    </p:bg>
    <p:spTree>
      <p:nvGrpSpPr>
        <p:cNvPr id="1" name=""/>
        <p:cNvGrpSpPr/>
        <p:nvPr/>
      </p:nvGrpSpPr>
      <p:grpSpPr>
        <a:xfrm>
          <a:off x="0" y="0"/>
          <a:ext cx="0" cy="0"/>
          <a:chOff x="0" y="0"/>
          <a:chExt cx="0" cy="0"/>
        </a:xfrm>
      </p:grpSpPr>
      <p:sp>
        <p:nvSpPr>
          <p:cNvPr id="2" name="Shape 0"/>
          <p:cNvSpPr/>
          <p:nvPr/>
        </p:nvSpPr>
        <p:spPr>
          <a:xfrm>
            <a:off x="10515600" y="5303520"/>
            <a:ext cx="475488" cy="475488"/>
          </a:xfrm>
          <a:prstGeom prst="ellipse">
            <a:avLst/>
          </a:prstGeom>
          <a:solidFill>
            <a:srgbClr val="C2DBE0"/>
          </a:solidFill>
          <a:ln w="12700">
            <a:solidFill>
              <a:srgbClr val="333333"/>
            </a:solidFill>
            <a:prstDash val="solid"/>
          </a:ln>
        </p:spPr>
        <p:txBody>
          <a:bodyPr/>
          <a:lstStyle/>
          <a:p>
            <a:endParaRPr lang="en-US"/>
          </a:p>
        </p:txBody>
      </p:sp>
      <p:sp>
        <p:nvSpPr>
          <p:cNvPr id="3" name="Shape 1"/>
          <p:cNvSpPr/>
          <p:nvPr/>
        </p:nvSpPr>
        <p:spPr>
          <a:xfrm>
            <a:off x="10789920" y="5431536"/>
            <a:ext cx="475488" cy="475488"/>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064240" y="5303520"/>
            <a:ext cx="475488" cy="475488"/>
          </a:xfrm>
          <a:prstGeom prst="ellipse">
            <a:avLst/>
          </a:prstGeom>
          <a:solidFill>
            <a:srgbClr val="8FB0B8"/>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F32"/>
                </a:solidFill>
                <a:latin typeface="Cambria" pitchFamily="34" charset="0"/>
                <a:ea typeface="Cambria" pitchFamily="34" charset="-122"/>
                <a:cs typeface="Cambria" pitchFamily="34" charset="-120"/>
              </a:rPr>
              <a:t>3</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2DBE0"/>
                </a:solidFill>
                <a:latin typeface="Calibri" pitchFamily="34" charset="0"/>
                <a:ea typeface="Calibri" pitchFamily="34" charset="-122"/>
                <a:cs typeface="Calibri" pitchFamily="34" charset="-120"/>
              </a:rPr>
              <a:t>Fifteen frozen tasks, and four with full fine-tuning</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SUPERB overall score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Frozen models, weighted sum across layers, fifteen tasks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15</a:t>
            </a:r>
            <a:endParaRPr lang="en-US" sz="900" dirty="0"/>
          </a:p>
        </p:txBody>
      </p:sp>
      <p:graphicFrame>
        <p:nvGraphicFramePr>
          <p:cNvPr id="8" name="Chart 0"/>
          <p:cNvGraphicFramePr/>
          <p:nvPr/>
        </p:nvGraphicFramePr>
        <p:xfrm>
          <a:off x="566928" y="155448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WavLM Base beats both wav2vec 2.0 Base and HuBERT Base on every one of the fifteen subtasks — a fair comparison, since all three share data and parameter count.</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WavLM Base+ at 95M parameters beats HuBERT Large at 317M.</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WavLM Large improves on HuBERT Large by 2.4 points overall and is better on 14 of the 15 subtasks.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The FBANK row is the reference point: hand-crafted filter banks with the same downstream heads score 43.2.</a:t>
            </a:r>
            <a:endParaRPr lang="en-US" sz="1220" dirty="0"/>
          </a:p>
        </p:txBody>
      </p:sp>
      <p:sp>
        <p:nvSpPr>
          <p:cNvPr id="10" name="Shape 7"/>
          <p:cNvSpPr/>
          <p:nvPr/>
        </p:nvSpPr>
        <p:spPr>
          <a:xfrm>
            <a:off x="566928" y="5303520"/>
            <a:ext cx="11064240" cy="749808"/>
          </a:xfrm>
          <a:prstGeom prst="roundRect">
            <a:avLst>
              <a:gd name="adj" fmla="val 7317"/>
            </a:avLst>
          </a:prstGeom>
          <a:solidFill>
            <a:srgbClr val="16323A"/>
          </a:solidFill>
          <a:ln w="12700">
            <a:solidFill>
              <a:srgbClr val="16323A"/>
            </a:solidFill>
            <a:prstDash val="solid"/>
          </a:ln>
        </p:spPr>
        <p:txBody>
          <a:bodyPr/>
          <a:lstStyle/>
          <a:p>
            <a:endParaRPr lang="en-US"/>
          </a:p>
        </p:txBody>
      </p:sp>
      <p:sp>
        <p:nvSpPr>
          <p:cNvPr id="11" name="Text 8"/>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The overall score is computed by the authors, not by SUPERB — error rates inverted, the keyword-detection score rescaled, then averaged. Reasonable, but it is their aggregation.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Where the gains actually are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HuBERT Large against WavLM Large on selected subtasks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16</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Speaker identification rises by more than five points; diarisation error nearly halves.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Out-of-domain ASR falls from 44.1 to 32.3 — the single largest relative gain on the benchmark, and it is a domain-shift result, not a modelling one.</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Emotion recognition rises from 67.6 to 70.6 accuracy. For reference, filter banks score 35.4 and wav2vec 2.0 Base scores 63.4.</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In-domain ASR barely moves — 3.62 to 3.44 — which is exactly what you would expect if the modifications target non-content tasks.</a:t>
            </a:r>
            <a:endParaRPr lang="en-US" sz="1220" dirty="0"/>
          </a:p>
        </p:txBody>
      </p:sp>
      <p:sp>
        <p:nvSpPr>
          <p:cNvPr id="10" name="Shape 7"/>
          <p:cNvSpPr/>
          <p:nvPr/>
        </p:nvSpPr>
        <p:spPr>
          <a:xfrm>
            <a:off x="566928" y="5266944"/>
            <a:ext cx="11064240" cy="786384"/>
          </a:xfrm>
          <a:prstGeom prst="roundRect">
            <a:avLst>
              <a:gd name="adj" fmla="val 6977"/>
            </a:avLst>
          </a:prstGeom>
          <a:solidFill>
            <a:srgbClr val="16323A"/>
          </a:solidFill>
          <a:ln w="12700">
            <a:solidFill>
              <a:srgbClr val="16323A"/>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The emotion result is the one for us. A model whose only changes were mixing in interfering speakers and diversifying the pre-training audio gains three points on emotion recognition, with no emotional supervision anywhere.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The ablations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WavLM Base, with each modification removed in turn</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17</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Remove denoising and diarisation error rises from 4.55 to 6.03 — a third worse — while recognition is unaffected and even fractionally better.</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Remove the gated position bias and recognition and phoneme error both worsen, while diarisation barely changes.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This is a clean double dissociation: each change moves the tasks it targets and leaves the others alone.</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It also means the small ASR cost of denoising is real, and is being paid deliberately.</a:t>
            </a:r>
            <a:endParaRPr lang="en-US" sz="1220" dirty="0"/>
          </a:p>
        </p:txBody>
      </p:sp>
      <p:sp>
        <p:nvSpPr>
          <p:cNvPr id="10" name="Shape 7"/>
          <p:cNvSpPr/>
          <p:nvPr/>
        </p:nvSpPr>
        <p:spPr>
          <a:xfrm>
            <a:off x="566928" y="5266944"/>
            <a:ext cx="11064240" cy="786384"/>
          </a:xfrm>
          <a:prstGeom prst="roundRect">
            <a:avLst>
              <a:gd name="adj" fmla="val 6977"/>
            </a:avLst>
          </a:prstGeom>
          <a:solidFill>
            <a:srgbClr val="16323A"/>
          </a:solidFill>
          <a:ln w="12700">
            <a:solidFill>
              <a:srgbClr val="16323A"/>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Ablations like this are what make a follow-up paper worth reading. Two modifications, two distinct effects, each measured against the model that lacks it.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Speaker verification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Equal error rate on VoxCeleb1, with a fine-tuned downstream model</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18</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The downstream model is held constant — a small ECAPA-TDNN — so only the input representation changes.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HuBERT Base is roughly level with hand-crafted filter banks. Self-supervised features are not automatically good speaker features.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WavLM Large more than halves the error against the purpose-built baseline, and the final system beats the winner of the 2021 VoxSRC challenge on all three trial lists.</a:t>
            </a:r>
            <a:endParaRPr lang="en-US" sz="1220" dirty="0"/>
          </a:p>
          <a:p>
            <a:pPr marL="342900" indent="-342900">
              <a:spcAft>
                <a:spcPts val="800"/>
              </a:spcAft>
              <a:buSzPct val="100000"/>
              <a:buChar char="●"/>
            </a:pPr>
            <a:r>
              <a:rPr lang="en-US" sz="1220" dirty="0">
                <a:solidFill>
                  <a:srgbClr val="27383E"/>
                </a:solidFill>
                <a:latin typeface="Calibri" pitchFamily="34" charset="0"/>
                <a:ea typeface="Calibri" pitchFamily="34" charset="-122"/>
                <a:cs typeface="Calibri" pitchFamily="34" charset="-120"/>
              </a:rPr>
              <a:t>The last bar adds large-margin fine-tuning and quality-aware score calibration — engineering on top of the representation, not part of it.</a:t>
            </a:r>
            <a:endParaRPr lang="en-US" sz="1220" dirty="0"/>
          </a:p>
        </p:txBody>
      </p:sp>
      <p:sp>
        <p:nvSpPr>
          <p:cNvPr id="10" name="Shape 7"/>
          <p:cNvSpPr/>
          <p:nvPr/>
        </p:nvSpPr>
        <p:spPr>
          <a:xfrm>
            <a:off x="566928" y="5266944"/>
            <a:ext cx="11064240" cy="786384"/>
          </a:xfrm>
          <a:prstGeom prst="roundRect">
            <a:avLst>
              <a:gd name="adj" fmla="val 6977"/>
            </a:avLst>
          </a:prstGeom>
          <a:solidFill>
            <a:srgbClr val="16323A"/>
          </a:solidFill>
          <a:ln w="12700">
            <a:solidFill>
              <a:srgbClr val="16323A"/>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This is the clearest evidence for the paper's thesis: a general self-supervised model beating a specialised architecture at the task that architecture exists for.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The multi-speaker tasks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Where the denoising objective was supposed to pay off</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19</a:t>
            </a:r>
            <a:endParaRPr lang="en-US" sz="900" dirty="0"/>
          </a:p>
        </p:txBody>
      </p:sp>
      <p:graphicFrame>
        <p:nvGraphicFramePr>
          <p:cNvPr id="8" name="Chart 0"/>
          <p:cNvGraphicFramePr/>
          <p:nvPr/>
        </p:nvGraphicFramePr>
        <p:xfrm>
          <a:off x="566928" y="1554480"/>
          <a:ext cx="548640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
          <p:cNvGraphicFramePr/>
          <p:nvPr/>
        </p:nvGraphicFramePr>
        <p:xfrm>
          <a:off x="6236208" y="1554480"/>
          <a:ext cx="539496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txBox="1"/>
          <p:nvPr/>
        </p:nvSpPr>
        <p:spPr>
          <a:xfrm>
            <a:off x="566928" y="4901184"/>
            <a:ext cx="11064240" cy="1152144"/>
          </a:xfrm>
          <a:prstGeom prst="rect">
            <a:avLst/>
          </a:prstGeom>
          <a:noFill/>
          <a:ln/>
        </p:spPr>
        <p:txBody>
          <a:bodyPr wrap="square" lIns="0" tIns="0" rIns="0" bIns="0" rtlCol="0" anchor="t"/>
          <a:lstStyle/>
          <a:p>
            <a:pPr marL="342900" indent="-342900">
              <a:spcAft>
                <a:spcPts val="800"/>
              </a:spcAft>
              <a:buSzPct val="100000"/>
              <a:buChar char="●"/>
            </a:pPr>
            <a:r>
              <a:rPr lang="en-US" sz="1240" dirty="0">
                <a:solidFill>
                  <a:srgbClr val="27383E"/>
                </a:solidFill>
                <a:latin typeface="Calibri" pitchFamily="34" charset="0"/>
                <a:ea typeface="Calibri" pitchFamily="34" charset="-122"/>
                <a:cs typeface="Calibri" pitchFamily="34" charset="-120"/>
              </a:rPr>
              <a:t>HuBERT features give a separation result comparable to the baseline — the marginal improvement the paper predicted in its introduction, now measured.</a:t>
            </a:r>
            <a:endParaRPr lang="en-US" sz="1240" dirty="0"/>
          </a:p>
          <a:p>
            <a:pPr marL="342900" indent="-342900">
              <a:spcAft>
                <a:spcPts val="800"/>
              </a:spcAft>
              <a:buSzPct val="100000"/>
              <a:buChar char="●"/>
            </a:pPr>
            <a:r>
              <a:rPr lang="en-US" sz="1240" dirty="0">
                <a:solidFill>
                  <a:srgbClr val="27383E"/>
                </a:solidFill>
                <a:latin typeface="Calibri" pitchFamily="34" charset="0"/>
                <a:ea typeface="Calibri" pitchFamily="34" charset="-122"/>
                <a:cs typeface="Calibri" pitchFamily="34" charset="-120"/>
              </a:rPr>
              <a:t>WavLM Large cuts separation word error by 27.7% relative on average, and by 32.5% on the hardest 40% overlap condition.</a:t>
            </a:r>
            <a:endParaRPr lang="en-US" sz="1240" dirty="0"/>
          </a:p>
          <a:p>
            <a:pPr marL="342900" indent="-342900">
              <a:spcAft>
                <a:spcPts val="800"/>
              </a:spcAft>
              <a:buSzPct val="100000"/>
              <a:buChar char="●"/>
            </a:pPr>
            <a:r>
              <a:rPr lang="en-US" sz="1240" dirty="0">
                <a:solidFill>
                  <a:srgbClr val="27383E"/>
                </a:solidFill>
                <a:latin typeface="Calibri" pitchFamily="34" charset="0"/>
                <a:ea typeface="Calibri" pitchFamily="34" charset="-122"/>
                <a:cs typeface="Calibri" pitchFamily="34" charset="-120"/>
              </a:rPr>
              <a:t>On diarisation, WavLM Large sets a new best result on CALLHOME, and WavLM Base+ again beats HuBERT Large.</a:t>
            </a:r>
            <a:endParaRPr lang="en-US" sz="1240" dirty="0"/>
          </a:p>
          <a:p>
            <a:pPr marL="342900" indent="-342900">
              <a:spcAft>
                <a:spcPts val="800"/>
              </a:spcAft>
              <a:buSzPct val="100000"/>
              <a:buChar char="●"/>
            </a:pPr>
            <a:r>
              <a:rPr lang="en-US" sz="1240" dirty="0">
                <a:solidFill>
                  <a:srgbClr val="27383E"/>
                </a:solidFill>
                <a:latin typeface="Calibri" pitchFamily="34" charset="0"/>
                <a:ea typeface="Calibri" pitchFamily="34" charset="-122"/>
                <a:cs typeface="Calibri" pitchFamily="34" charset="-120"/>
              </a:rPr>
              <a:t>A counter-intuitive detail: for separation, freezing the pre-trained model works better than fine-tuning it — the fine-tuned model overfits simulated mixtures and is tested on real meeting recordings.</a:t>
            </a:r>
            <a:endParaRPr lang="en-US" sz="12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And speech recognition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The honest result</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20</a:t>
            </a:r>
            <a:endParaRPr lang="en-US" sz="900" dirty="0"/>
          </a:p>
        </p:txBody>
      </p:sp>
      <p:sp>
        <p:nvSpPr>
          <p:cNvPr id="8" name="Shape 6"/>
          <p:cNvSpPr/>
          <p:nvPr/>
        </p:nvSpPr>
        <p:spPr>
          <a:xfrm>
            <a:off x="566928" y="1600200"/>
            <a:ext cx="3584448" cy="2103120"/>
          </a:xfrm>
          <a:prstGeom prst="roundRect">
            <a:avLst>
              <a:gd name="adj" fmla="val 2609"/>
            </a:avLst>
          </a:prstGeom>
          <a:solidFill>
            <a:srgbClr val="EEF5F6"/>
          </a:solidFill>
          <a:ln w="12700">
            <a:solidFill>
              <a:srgbClr val="DBE8EB"/>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987552" y="1764792"/>
            <a:ext cx="2944368"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With all 960 labelled hours</a:t>
            </a:r>
            <a:endParaRPr lang="en-US" sz="1500" dirty="0"/>
          </a:p>
        </p:txBody>
      </p:sp>
      <p:sp>
        <p:nvSpPr>
          <p:cNvPr id="11" name="Text 9"/>
          <p:cNvSpPr txBox="1"/>
          <p:nvPr/>
        </p:nvSpPr>
        <p:spPr>
          <a:xfrm>
            <a:off x="822960" y="2203704"/>
            <a:ext cx="3072384" cy="131673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WavLM Large reaches 1.8 on test-clean and 3.2 on test-other.</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wav2vec 2.0 Large and HuBERT Large are at 1.8/3.3 and 1.9/3.3. Essentially a tie.</a:t>
            </a:r>
            <a:endParaRPr lang="en-US" sz="1260" dirty="0"/>
          </a:p>
        </p:txBody>
      </p:sp>
      <p:sp>
        <p:nvSpPr>
          <p:cNvPr id="12" name="Shape 10"/>
          <p:cNvSpPr/>
          <p:nvPr/>
        </p:nvSpPr>
        <p:spPr>
          <a:xfrm>
            <a:off x="4279392" y="1600200"/>
            <a:ext cx="3584448" cy="2103120"/>
          </a:xfrm>
          <a:prstGeom prst="roundRect">
            <a:avLst>
              <a:gd name="adj" fmla="val 2609"/>
            </a:avLst>
          </a:prstGeom>
          <a:solidFill>
            <a:srgbClr val="EEF5F6"/>
          </a:solidFill>
          <a:ln w="12700">
            <a:solidFill>
              <a:srgbClr val="DBE8EB"/>
            </a:solidFill>
            <a:prstDash val="solid"/>
          </a:ln>
        </p:spPr>
        <p:txBody>
          <a:bodyPr/>
          <a:lstStyle/>
          <a:p>
            <a:endParaRPr lang="en-US"/>
          </a:p>
        </p:txBody>
      </p:sp>
      <p:sp>
        <p:nvSpPr>
          <p:cNvPr id="13" name="Shape 11"/>
          <p:cNvSpPr/>
          <p:nvPr/>
        </p:nvSpPr>
        <p:spPr>
          <a:xfrm>
            <a:off x="4498848" y="1892808"/>
            <a:ext cx="109728" cy="109728"/>
          </a:xfrm>
          <a:prstGeom prst="ellipse">
            <a:avLst/>
          </a:prstGeom>
          <a:solidFill>
            <a:srgbClr val="D96F32"/>
          </a:solidFill>
          <a:ln w="12700">
            <a:solidFill>
              <a:srgbClr val="333333"/>
            </a:solidFill>
            <a:prstDash val="solid"/>
          </a:ln>
        </p:spPr>
        <p:txBody>
          <a:bodyPr/>
          <a:lstStyle/>
          <a:p>
            <a:endParaRPr lang="en-US"/>
          </a:p>
        </p:txBody>
      </p:sp>
      <p:sp>
        <p:nvSpPr>
          <p:cNvPr id="14" name="Text 12"/>
          <p:cNvSpPr txBox="1"/>
          <p:nvPr/>
        </p:nvSpPr>
        <p:spPr>
          <a:xfrm>
            <a:off x="4700016" y="1764792"/>
            <a:ext cx="2944368"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Without a language model</a:t>
            </a:r>
            <a:endParaRPr lang="en-US" sz="1500" dirty="0"/>
          </a:p>
        </p:txBody>
      </p:sp>
      <p:sp>
        <p:nvSpPr>
          <p:cNvPr id="15" name="Text 13"/>
          <p:cNvSpPr txBox="1"/>
          <p:nvPr/>
        </p:nvSpPr>
        <p:spPr>
          <a:xfrm>
            <a:off x="4535424" y="2203704"/>
            <a:ext cx="3072384" cy="131673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This is where WavLM Base clearly separates from wav2vec 2.0: 9.8 against 11.1 on test-clean with 10 hours of labels, and 5.7 against 6.1 with 100 hours.</a:t>
            </a:r>
            <a:endParaRPr lang="en-US" sz="1260" dirty="0"/>
          </a:p>
          <a:p>
            <a:pPr marL="0" indent="0">
              <a:lnSpc>
                <a:spcPct val="108000"/>
              </a:lnSpc>
              <a:buNone/>
            </a:pPr>
            <a:endParaRPr lang="en-US" sz="1260" dirty="0"/>
          </a:p>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A strong language model masks acoustic differences.</a:t>
            </a:r>
            <a:endParaRPr lang="en-US" sz="1260" dirty="0"/>
          </a:p>
        </p:txBody>
      </p:sp>
      <p:sp>
        <p:nvSpPr>
          <p:cNvPr id="16" name="Shape 14"/>
          <p:cNvSpPr/>
          <p:nvPr/>
        </p:nvSpPr>
        <p:spPr>
          <a:xfrm>
            <a:off x="7991856" y="1600200"/>
            <a:ext cx="3639312" cy="2103120"/>
          </a:xfrm>
          <a:prstGeom prst="roundRect">
            <a:avLst>
              <a:gd name="adj" fmla="val 2609"/>
            </a:avLst>
          </a:prstGeom>
          <a:solidFill>
            <a:srgbClr val="EEF5F6"/>
          </a:solidFill>
          <a:ln w="12700">
            <a:solidFill>
              <a:srgbClr val="DBE8EB"/>
            </a:solidFill>
            <a:prstDash val="solid"/>
          </a:ln>
        </p:spPr>
        <p:txBody>
          <a:bodyPr/>
          <a:lstStyle/>
          <a:p>
            <a:endParaRPr lang="en-US"/>
          </a:p>
        </p:txBody>
      </p:sp>
      <p:sp>
        <p:nvSpPr>
          <p:cNvPr id="17" name="Shape 15"/>
          <p:cNvSpPr/>
          <p:nvPr/>
        </p:nvSpPr>
        <p:spPr>
          <a:xfrm>
            <a:off x="8211312" y="1892808"/>
            <a:ext cx="109728" cy="109728"/>
          </a:xfrm>
          <a:prstGeom prst="ellipse">
            <a:avLst/>
          </a:prstGeom>
          <a:solidFill>
            <a:srgbClr val="24798C"/>
          </a:solidFill>
          <a:ln w="12700">
            <a:solidFill>
              <a:srgbClr val="333333"/>
            </a:solidFill>
            <a:prstDash val="solid"/>
          </a:ln>
        </p:spPr>
        <p:txBody>
          <a:bodyPr/>
          <a:lstStyle/>
          <a:p>
            <a:endParaRPr lang="en-US"/>
          </a:p>
        </p:txBody>
      </p:sp>
      <p:sp>
        <p:nvSpPr>
          <p:cNvPr id="18" name="Text 16"/>
          <p:cNvSpPr txBox="1"/>
          <p:nvPr/>
        </p:nvSpPr>
        <p:spPr>
          <a:xfrm>
            <a:off x="8412480" y="1764792"/>
            <a:ext cx="2999232" cy="365760"/>
          </a:xfrm>
          <a:prstGeom prst="rect">
            <a:avLst/>
          </a:prstGeom>
          <a:noFill/>
          <a:ln/>
        </p:spPr>
        <p:txBody>
          <a:bodyPr wrap="square" lIns="0" tIns="0" rIns="0" bIns="0" rtlCol="0" anchor="ctr"/>
          <a:lstStyle/>
          <a:p>
            <a:pPr marL="0" indent="0">
              <a:buNone/>
            </a:pPr>
            <a:r>
              <a:rPr lang="en-US" sz="1500" b="1" dirty="0">
                <a:solidFill>
                  <a:srgbClr val="0F252B"/>
                </a:solidFill>
                <a:latin typeface="Cambria" pitchFamily="34" charset="0"/>
                <a:ea typeface="Cambria" pitchFamily="34" charset="-122"/>
                <a:cs typeface="Cambria" pitchFamily="34" charset="-120"/>
              </a:rPr>
              <a:t>Out of domain, the gap is large</a:t>
            </a:r>
            <a:endParaRPr lang="en-US" sz="1500" dirty="0"/>
          </a:p>
        </p:txBody>
      </p:sp>
      <p:sp>
        <p:nvSpPr>
          <p:cNvPr id="19" name="Text 17"/>
          <p:cNvSpPr txBox="1"/>
          <p:nvPr/>
        </p:nvSpPr>
        <p:spPr>
          <a:xfrm>
            <a:off x="8247888" y="2203704"/>
            <a:ext cx="3127248" cy="1316736"/>
          </a:xfrm>
          <a:prstGeom prst="rect">
            <a:avLst/>
          </a:prstGeom>
          <a:noFill/>
          <a:ln/>
        </p:spPr>
        <p:txBody>
          <a:bodyPr wrap="square" lIns="0" tIns="0" rIns="0" bIns="0" rtlCol="0" anchor="t"/>
          <a:lstStyle/>
          <a:p>
            <a:pPr marL="0" indent="0">
              <a:lnSpc>
                <a:spcPct val="108000"/>
              </a:lnSpc>
              <a:buNone/>
            </a:pPr>
            <a:r>
              <a:rPr lang="en-US" sz="1260" dirty="0">
                <a:solidFill>
                  <a:srgbClr val="27383E"/>
                </a:solidFill>
                <a:latin typeface="Calibri" pitchFamily="34" charset="0"/>
                <a:ea typeface="Calibri" pitchFamily="34" charset="-122"/>
                <a:cs typeface="Calibri" pitchFamily="34" charset="-120"/>
              </a:rPr>
              <a:t>On SUPERB's out-of-domain ASR task, WavLM Large reaches 32.3 word error against HuBERT Large's 44.1 — a 27% relative reduction.</a:t>
            </a:r>
            <a:endParaRPr lang="en-US" sz="1260" dirty="0"/>
          </a:p>
        </p:txBody>
      </p:sp>
      <p:sp>
        <p:nvSpPr>
          <p:cNvPr id="20" name="Shape 18"/>
          <p:cNvSpPr/>
          <p:nvPr/>
        </p:nvSpPr>
        <p:spPr>
          <a:xfrm>
            <a:off x="566928" y="3913632"/>
            <a:ext cx="11064240" cy="2139696"/>
          </a:xfrm>
          <a:prstGeom prst="roundRect">
            <a:avLst>
              <a:gd name="adj" fmla="val 2564"/>
            </a:avLst>
          </a:prstGeom>
          <a:solidFill>
            <a:srgbClr val="16323A"/>
          </a:solidFill>
          <a:ln w="12700">
            <a:solidFill>
              <a:srgbClr val="16323A"/>
            </a:solidFill>
            <a:prstDash val="solid"/>
          </a:ln>
        </p:spPr>
        <p:txBody>
          <a:bodyPr/>
          <a:lstStyle/>
          <a:p>
            <a:endParaRPr lang="en-US"/>
          </a:p>
        </p:txBody>
      </p:sp>
      <p:sp>
        <p:nvSpPr>
          <p:cNvPr id="21" name="Shape 19"/>
          <p:cNvSpPr/>
          <p:nvPr/>
        </p:nvSpPr>
        <p:spPr>
          <a:xfrm>
            <a:off x="786384" y="4206240"/>
            <a:ext cx="109728" cy="109728"/>
          </a:xfrm>
          <a:prstGeom prst="ellipse">
            <a:avLst/>
          </a:prstGeom>
          <a:solidFill>
            <a:srgbClr val="D96F32"/>
          </a:solidFill>
          <a:ln w="12700">
            <a:solidFill>
              <a:srgbClr val="333333"/>
            </a:solidFill>
            <a:prstDash val="solid"/>
          </a:ln>
        </p:spPr>
        <p:txBody>
          <a:bodyPr/>
          <a:lstStyle/>
          <a:p>
            <a:endParaRPr lang="en-US"/>
          </a:p>
        </p:txBody>
      </p:sp>
      <p:sp>
        <p:nvSpPr>
          <p:cNvPr id="22" name="Text 20"/>
          <p:cNvSpPr txBox="1"/>
          <p:nvPr/>
        </p:nvSpPr>
        <p:spPr>
          <a:xfrm>
            <a:off x="987552" y="407822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How to read this</a:t>
            </a:r>
            <a:endParaRPr lang="en-US" sz="1500" dirty="0"/>
          </a:p>
        </p:txBody>
      </p:sp>
      <p:sp>
        <p:nvSpPr>
          <p:cNvPr id="23" name="Text 21"/>
          <p:cNvSpPr txBox="1"/>
          <p:nvPr/>
        </p:nvSpPr>
        <p:spPr>
          <a:xfrm>
            <a:off x="822960" y="4517136"/>
            <a:ext cx="10552176" cy="1353312"/>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On the benchmark the field had been optimising for four years — LibriSpeech with a Transformer language model — three quite different pre-training objectives all land within a tenth of each other. That benchmark has stopped discriminating between methods.</a:t>
            </a:r>
            <a:endParaRPr lang="en-US" sz="1300" dirty="0"/>
          </a:p>
          <a:p>
            <a:pPr marL="0" indent="0">
              <a:lnSpc>
                <a:spcPct val="108000"/>
              </a:lnSpc>
              <a:buNone/>
            </a:pPr>
            <a:endParaRPr lang="en-US" sz="1300" dirty="0"/>
          </a:p>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Where the models still differ is everywhere else: no language model, out of domain, multi-speaker, speaker identity, paralinguistics. Which is precisely the argument for evaluating on nineteen tasks instead of one.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6323A"/>
        </a:solidFill>
        <a:effectLst/>
      </p:bgPr>
    </p:bg>
    <p:spTree>
      <p:nvGrpSpPr>
        <p:cNvPr id="1" name=""/>
        <p:cNvGrpSpPr/>
        <p:nvPr/>
      </p:nvGrpSpPr>
      <p:grpSpPr>
        <a:xfrm>
          <a:off x="0" y="0"/>
          <a:ext cx="0" cy="0"/>
          <a:chOff x="0" y="0"/>
          <a:chExt cx="0" cy="0"/>
        </a:xfrm>
      </p:grpSpPr>
      <p:sp>
        <p:nvSpPr>
          <p:cNvPr id="2" name="Shape 0"/>
          <p:cNvSpPr/>
          <p:nvPr/>
        </p:nvSpPr>
        <p:spPr>
          <a:xfrm>
            <a:off x="10515600" y="5303520"/>
            <a:ext cx="475488" cy="475488"/>
          </a:xfrm>
          <a:prstGeom prst="ellipse">
            <a:avLst/>
          </a:prstGeom>
          <a:solidFill>
            <a:srgbClr val="C2DBE0"/>
          </a:solidFill>
          <a:ln w="12700">
            <a:solidFill>
              <a:srgbClr val="333333"/>
            </a:solidFill>
            <a:prstDash val="solid"/>
          </a:ln>
        </p:spPr>
        <p:txBody>
          <a:bodyPr/>
          <a:lstStyle/>
          <a:p>
            <a:endParaRPr lang="en-US"/>
          </a:p>
        </p:txBody>
      </p:sp>
      <p:sp>
        <p:nvSpPr>
          <p:cNvPr id="3" name="Shape 1"/>
          <p:cNvSpPr/>
          <p:nvPr/>
        </p:nvSpPr>
        <p:spPr>
          <a:xfrm>
            <a:off x="10789920" y="5431536"/>
            <a:ext cx="475488" cy="475488"/>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064240" y="5303520"/>
            <a:ext cx="475488" cy="475488"/>
          </a:xfrm>
          <a:prstGeom prst="ellipse">
            <a:avLst/>
          </a:prstGeom>
          <a:solidFill>
            <a:srgbClr val="8FB0B8"/>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F32"/>
                </a:solidFill>
                <a:latin typeface="Cambria" pitchFamily="34" charset="0"/>
                <a:ea typeface="Cambria" pitchFamily="34" charset="-122"/>
                <a:cs typeface="Cambria" pitchFamily="34" charset="-120"/>
              </a:rPr>
              <a:t>4</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Layer analysis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2DBE0"/>
                </a:solidFill>
                <a:latin typeface="Calibri" pitchFamily="34" charset="0"/>
                <a:ea typeface="Calibri" pitchFamily="34" charset="-122"/>
                <a:cs typeface="Calibri" pitchFamily="34" charset="-120"/>
              </a:rPr>
              <a:t>Where in the network each task lives</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What the learned layer weights show</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The weights the downstream heads assign to each layer, normalised</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22</a:t>
            </a:r>
            <a:endParaRPr lang="en-US" sz="900" dirty="0"/>
          </a:p>
        </p:txBody>
      </p:sp>
      <p:sp>
        <p:nvSpPr>
          <p:cNvPr id="8" name="Shape 6"/>
          <p:cNvSpPr/>
          <p:nvPr/>
        </p:nvSpPr>
        <p:spPr>
          <a:xfrm>
            <a:off x="566928" y="1600200"/>
            <a:ext cx="11064240" cy="1463040"/>
          </a:xfrm>
          <a:prstGeom prst="roundRect">
            <a:avLst>
              <a:gd name="adj" fmla="val 3750"/>
            </a:avLst>
          </a:prstGeom>
          <a:solidFill>
            <a:srgbClr val="EEF5F6"/>
          </a:solidFill>
          <a:ln w="12700">
            <a:solidFill>
              <a:srgbClr val="DBE8EB"/>
            </a:solidFill>
            <a:prstDash val="solid"/>
          </a:ln>
        </p:spPr>
        <p:txBody>
          <a:bodyPr/>
          <a:lstStyle/>
          <a:p>
            <a:endParaRPr lang="en-US"/>
          </a:p>
        </p:txBody>
      </p:sp>
      <p:sp>
        <p:nvSpPr>
          <p:cNvPr id="9" name="Shape 7"/>
          <p:cNvSpPr/>
          <p:nvPr/>
        </p:nvSpPr>
        <p:spPr>
          <a:xfrm>
            <a:off x="1005840" y="1993392"/>
            <a:ext cx="3017520" cy="365760"/>
          </a:xfrm>
          <a:prstGeom prst="roundRect">
            <a:avLst>
              <a:gd name="adj" fmla="val 10000"/>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1005840" y="2029968"/>
            <a:ext cx="301752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Bottom layers</a:t>
            </a:r>
            <a:endParaRPr lang="en-US" sz="1150" dirty="0"/>
          </a:p>
        </p:txBody>
      </p:sp>
      <p:sp>
        <p:nvSpPr>
          <p:cNvPr id="11" name="Text 9"/>
          <p:cNvSpPr txBox="1"/>
          <p:nvPr/>
        </p:nvSpPr>
        <p:spPr>
          <a:xfrm>
            <a:off x="1005840" y="2450592"/>
            <a:ext cx="3017520" cy="548640"/>
          </a:xfrm>
          <a:prstGeom prst="rect">
            <a:avLst/>
          </a:prstGeom>
          <a:noFill/>
          <a:ln/>
        </p:spPr>
        <p:txBody>
          <a:bodyPr wrap="square" lIns="0" tIns="0" rIns="0" bIns="0" rtlCol="0" anchor="ctr"/>
          <a:lstStyle/>
          <a:p>
            <a:pPr marL="0" indent="0" algn="ctr">
              <a:buNone/>
            </a:pPr>
            <a:r>
              <a:rPr lang="en-US" sz="1150" dirty="0">
                <a:solidFill>
                  <a:srgbClr val="50707A"/>
                </a:solidFill>
                <a:latin typeface="Calibri" pitchFamily="34" charset="0"/>
                <a:ea typeface="Calibri" pitchFamily="34" charset="-122"/>
                <a:cs typeface="Calibri" pitchFamily="34" charset="-120"/>
              </a:rPr>
              <a:t>speaker identity,</a:t>
            </a:r>
            <a:endParaRPr lang="en-US" sz="1150" dirty="0"/>
          </a:p>
          <a:p>
            <a:pPr marL="0" indent="0" algn="ctr">
              <a:buNone/>
            </a:pPr>
            <a:r>
              <a:rPr lang="en-US" sz="1150" dirty="0">
                <a:solidFill>
                  <a:srgbClr val="50707A"/>
                </a:solidFill>
                <a:latin typeface="Calibri" pitchFamily="34" charset="0"/>
                <a:ea typeface="Calibri" pitchFamily="34" charset="-122"/>
                <a:cs typeface="Calibri" pitchFamily="34" charset="-120"/>
              </a:rPr>
              <a:t>verification, diarisation</a:t>
            </a:r>
            <a:endParaRPr lang="en-US" sz="1150" dirty="0"/>
          </a:p>
        </p:txBody>
      </p:sp>
      <p:sp>
        <p:nvSpPr>
          <p:cNvPr id="12" name="Shape 10"/>
          <p:cNvSpPr/>
          <p:nvPr/>
        </p:nvSpPr>
        <p:spPr>
          <a:xfrm>
            <a:off x="4480560" y="1993392"/>
            <a:ext cx="3017520" cy="365760"/>
          </a:xfrm>
          <a:prstGeom prst="roundRect">
            <a:avLst>
              <a:gd name="adj" fmla="val 10000"/>
            </a:avLst>
          </a:prstGeom>
          <a:solidFill>
            <a:srgbClr val="D96F32"/>
          </a:solidFill>
          <a:ln w="12700">
            <a:solidFill>
              <a:srgbClr val="333333"/>
            </a:solidFill>
            <a:prstDash val="solid"/>
          </a:ln>
        </p:spPr>
        <p:txBody>
          <a:bodyPr/>
          <a:lstStyle/>
          <a:p>
            <a:endParaRPr lang="en-US"/>
          </a:p>
        </p:txBody>
      </p:sp>
      <p:sp>
        <p:nvSpPr>
          <p:cNvPr id="13" name="Text 11"/>
          <p:cNvSpPr txBox="1"/>
          <p:nvPr/>
        </p:nvSpPr>
        <p:spPr>
          <a:xfrm>
            <a:off x="4480560" y="2029968"/>
            <a:ext cx="301752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Middle layers</a:t>
            </a:r>
            <a:endParaRPr lang="en-US" sz="1150" dirty="0"/>
          </a:p>
        </p:txBody>
      </p:sp>
      <p:sp>
        <p:nvSpPr>
          <p:cNvPr id="14" name="Text 12"/>
          <p:cNvSpPr txBox="1"/>
          <p:nvPr/>
        </p:nvSpPr>
        <p:spPr>
          <a:xfrm>
            <a:off x="4480560" y="2450592"/>
            <a:ext cx="3017520" cy="548640"/>
          </a:xfrm>
          <a:prstGeom prst="rect">
            <a:avLst/>
          </a:prstGeom>
          <a:noFill/>
          <a:ln/>
        </p:spPr>
        <p:txBody>
          <a:bodyPr wrap="square" lIns="0" tIns="0" rIns="0" bIns="0" rtlCol="0" anchor="ctr"/>
          <a:lstStyle/>
          <a:p>
            <a:pPr marL="0" indent="0" algn="ctr">
              <a:buNone/>
            </a:pPr>
            <a:r>
              <a:rPr lang="en-US" sz="1150" dirty="0">
                <a:solidFill>
                  <a:srgbClr val="50707A"/>
                </a:solidFill>
                <a:latin typeface="Calibri" pitchFamily="34" charset="0"/>
                <a:ea typeface="Calibri" pitchFamily="34" charset="-122"/>
                <a:cs typeface="Calibri" pitchFamily="34" charset="-120"/>
              </a:rPr>
              <a:t>speaker tasks in the</a:t>
            </a:r>
            <a:endParaRPr lang="en-US" sz="1150" dirty="0"/>
          </a:p>
          <a:p>
            <a:pPr marL="0" indent="0" algn="ctr">
              <a:buNone/>
            </a:pPr>
            <a:r>
              <a:rPr lang="en-US" sz="1150" dirty="0">
                <a:solidFill>
                  <a:srgbClr val="50707A"/>
                </a:solidFill>
                <a:latin typeface="Calibri" pitchFamily="34" charset="0"/>
                <a:ea typeface="Calibri" pitchFamily="34" charset="-122"/>
                <a:cs typeface="Calibri" pitchFamily="34" charset="-120"/>
              </a:rPr>
              <a:t>Large models</a:t>
            </a:r>
            <a:endParaRPr lang="en-US" sz="1150" dirty="0"/>
          </a:p>
        </p:txBody>
      </p:sp>
      <p:sp>
        <p:nvSpPr>
          <p:cNvPr id="15" name="Shape 13"/>
          <p:cNvSpPr/>
          <p:nvPr/>
        </p:nvSpPr>
        <p:spPr>
          <a:xfrm>
            <a:off x="7955280" y="1993392"/>
            <a:ext cx="3017520" cy="365760"/>
          </a:xfrm>
          <a:prstGeom prst="roundRect">
            <a:avLst>
              <a:gd name="adj" fmla="val 10000"/>
            </a:avLst>
          </a:prstGeom>
          <a:solidFill>
            <a:srgbClr val="3E8FA0"/>
          </a:solidFill>
          <a:ln w="12700">
            <a:solidFill>
              <a:srgbClr val="333333"/>
            </a:solidFill>
            <a:prstDash val="solid"/>
          </a:ln>
        </p:spPr>
        <p:txBody>
          <a:bodyPr/>
          <a:lstStyle/>
          <a:p>
            <a:endParaRPr lang="en-US"/>
          </a:p>
        </p:txBody>
      </p:sp>
      <p:sp>
        <p:nvSpPr>
          <p:cNvPr id="16" name="Text 14"/>
          <p:cNvSpPr txBox="1"/>
          <p:nvPr/>
        </p:nvSpPr>
        <p:spPr>
          <a:xfrm>
            <a:off x="7955280" y="2029968"/>
            <a:ext cx="301752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Top layers</a:t>
            </a:r>
            <a:endParaRPr lang="en-US" sz="1150" dirty="0"/>
          </a:p>
        </p:txBody>
      </p:sp>
      <p:sp>
        <p:nvSpPr>
          <p:cNvPr id="17" name="Text 15"/>
          <p:cNvSpPr txBox="1"/>
          <p:nvPr/>
        </p:nvSpPr>
        <p:spPr>
          <a:xfrm>
            <a:off x="7955280" y="2450592"/>
            <a:ext cx="3017520" cy="548640"/>
          </a:xfrm>
          <a:prstGeom prst="rect">
            <a:avLst/>
          </a:prstGeom>
          <a:noFill/>
          <a:ln/>
        </p:spPr>
        <p:txBody>
          <a:bodyPr wrap="square" lIns="0" tIns="0" rIns="0" bIns="0" rtlCol="0" anchor="ctr"/>
          <a:lstStyle/>
          <a:p>
            <a:pPr marL="0" indent="0" algn="ctr">
              <a:buNone/>
            </a:pPr>
            <a:r>
              <a:rPr lang="en-US" sz="1150" dirty="0">
                <a:solidFill>
                  <a:srgbClr val="50707A"/>
                </a:solidFill>
                <a:latin typeface="Calibri" pitchFamily="34" charset="0"/>
                <a:ea typeface="Calibri" pitchFamily="34" charset="-122"/>
                <a:cs typeface="Calibri" pitchFamily="34" charset="-120"/>
              </a:rPr>
              <a:t>recognition, phonemes,</a:t>
            </a:r>
            <a:endParaRPr lang="en-US" sz="1150" dirty="0"/>
          </a:p>
          <a:p>
            <a:pPr marL="0" indent="0" algn="ctr">
              <a:buNone/>
            </a:pPr>
            <a:r>
              <a:rPr lang="en-US" sz="1150" dirty="0">
                <a:solidFill>
                  <a:srgbClr val="50707A"/>
                </a:solidFill>
                <a:latin typeface="Calibri" pitchFamily="34" charset="0"/>
                <a:ea typeface="Calibri" pitchFamily="34" charset="-122"/>
                <a:cs typeface="Calibri" pitchFamily="34" charset="-120"/>
              </a:rPr>
              <a:t>intent, slot filling</a:t>
            </a:r>
            <a:endParaRPr lang="en-US" sz="1150" dirty="0"/>
          </a:p>
        </p:txBody>
      </p:sp>
      <p:sp>
        <p:nvSpPr>
          <p:cNvPr id="18" name="Text 16"/>
          <p:cNvSpPr txBox="1"/>
          <p:nvPr/>
        </p:nvSpPr>
        <p:spPr>
          <a:xfrm>
            <a:off x="777240" y="1700784"/>
            <a:ext cx="2743200" cy="237744"/>
          </a:xfrm>
          <a:prstGeom prst="rect">
            <a:avLst/>
          </a:prstGeom>
          <a:noFill/>
          <a:ln/>
        </p:spPr>
        <p:txBody>
          <a:bodyPr wrap="square" lIns="0" tIns="0" rIns="0" bIns="0" rtlCol="0" anchor="ctr"/>
          <a:lstStyle/>
          <a:p>
            <a:pPr marL="0" indent="0">
              <a:buNone/>
            </a:pPr>
            <a:r>
              <a:rPr lang="en-US" sz="1100" b="1" dirty="0">
                <a:solidFill>
                  <a:srgbClr val="0F252B"/>
                </a:solidFill>
                <a:latin typeface="Calibri" pitchFamily="34" charset="0"/>
                <a:ea typeface="Calibri" pitchFamily="34" charset="-122"/>
                <a:cs typeface="Calibri" pitchFamily="34" charset="-120"/>
              </a:rPr>
              <a:t>shallow  →  deep</a:t>
            </a:r>
            <a:endParaRPr lang="en-US" sz="1100" dirty="0"/>
          </a:p>
        </p:txBody>
      </p:sp>
      <p:sp>
        <p:nvSpPr>
          <p:cNvPr id="19" name="Text 17"/>
          <p:cNvSpPr txBox="1"/>
          <p:nvPr/>
        </p:nvSpPr>
        <p:spPr>
          <a:xfrm>
            <a:off x="566928" y="3291840"/>
            <a:ext cx="11064240" cy="1828800"/>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27383E"/>
                </a:solidFill>
                <a:latin typeface="Calibri" pitchFamily="34" charset="0"/>
                <a:ea typeface="Calibri" pitchFamily="34" charset="-122"/>
                <a:cs typeface="Calibri" pitchFamily="34" charset="-120"/>
              </a:rPr>
              <a:t>The pattern is essentially the same for HuBERT and WavLM, which tells you it is a property of masked-prediction pre-training rather than of these particular modifications.</a:t>
            </a:r>
            <a:endParaRPr lang="en-US" sz="1280" dirty="0"/>
          </a:p>
          <a:p>
            <a:pPr marL="342900" indent="-342900">
              <a:spcAft>
                <a:spcPts val="800"/>
              </a:spcAft>
              <a:buSzPct val="100000"/>
              <a:buChar char="●"/>
            </a:pPr>
            <a:r>
              <a:rPr lang="en-US" sz="1280" dirty="0">
                <a:solidFill>
                  <a:srgbClr val="27383E"/>
                </a:solidFill>
                <a:latin typeface="Calibri" pitchFamily="34" charset="0"/>
                <a:ea typeface="Calibri" pitchFamily="34" charset="-122"/>
                <a:cs typeface="Calibri" pitchFamily="34" charset="-120"/>
              </a:rPr>
              <a:t>In the Base models, speaker information concentrates in the bottom layers; in the Large models it shifts to the middle.</a:t>
            </a:r>
            <a:endParaRPr lang="en-US" sz="1280" dirty="0"/>
          </a:p>
          <a:p>
            <a:pPr marL="342900" indent="-342900">
              <a:spcAft>
                <a:spcPts val="800"/>
              </a:spcAft>
              <a:buSzPct val="100000"/>
              <a:buChar char="●"/>
            </a:pPr>
            <a:r>
              <a:rPr lang="en-US" sz="1280" dirty="0">
                <a:solidFill>
                  <a:srgbClr val="27383E"/>
                </a:solidFill>
                <a:latin typeface="Calibri" pitchFamily="34" charset="0"/>
                <a:ea typeface="Calibri" pitchFamily="34" charset="-122"/>
                <a:cs typeface="Calibri" pitchFamily="34" charset="-120"/>
              </a:rPr>
              <a:t>Content and semantic information sits at the top in both.</a:t>
            </a:r>
            <a:endParaRPr lang="en-US" sz="1280" dirty="0"/>
          </a:p>
          <a:p>
            <a:pPr marL="342900" indent="-342900">
              <a:spcAft>
                <a:spcPts val="800"/>
              </a:spcAft>
              <a:buSzPct val="100000"/>
              <a:buChar char="●"/>
            </a:pPr>
            <a:r>
              <a:rPr lang="en-US" sz="1280" dirty="0">
                <a:solidFill>
                  <a:srgbClr val="27383E"/>
                </a:solidFill>
                <a:latin typeface="Calibri" pitchFamily="34" charset="0"/>
                <a:ea typeface="Calibri" pitchFamily="34" charset="-122"/>
                <a:cs typeface="Calibri" pitchFamily="34" charset="-120"/>
              </a:rPr>
              <a:t>The paper's own conclusion: how to leverage the hidden states of intermediate layers is the key to success on speaker-related tasks.</a:t>
            </a:r>
            <a:endParaRPr lang="en-US" sz="1280" dirty="0"/>
          </a:p>
          <a:p>
            <a:pPr marL="342900" indent="-342900">
              <a:spcAft>
                <a:spcPts val="800"/>
              </a:spcAft>
              <a:buSzPct val="100000"/>
              <a:buChar char="●"/>
            </a:pPr>
            <a:r>
              <a:rPr lang="en-US" sz="1280" dirty="0">
                <a:solidFill>
                  <a:srgbClr val="27383E"/>
                </a:solidFill>
                <a:latin typeface="Calibri" pitchFamily="34" charset="0"/>
                <a:ea typeface="Calibri" pitchFamily="34" charset="-122"/>
                <a:cs typeface="Calibri" pitchFamily="34" charset="-120"/>
              </a:rPr>
              <a:t>For speaker verification, diarisation and separation specifically, almost all the weight comes from the bottom layers.</a:t>
            </a:r>
            <a:endParaRPr lang="en-US" sz="1280" dirty="0"/>
          </a:p>
        </p:txBody>
      </p:sp>
      <p:sp>
        <p:nvSpPr>
          <p:cNvPr id="20" name="Shape 18"/>
          <p:cNvSpPr/>
          <p:nvPr/>
        </p:nvSpPr>
        <p:spPr>
          <a:xfrm>
            <a:off x="566928" y="5230368"/>
            <a:ext cx="11064240" cy="822960"/>
          </a:xfrm>
          <a:prstGeom prst="roundRect">
            <a:avLst>
              <a:gd name="adj" fmla="val 6667"/>
            </a:avLst>
          </a:prstGeom>
          <a:solidFill>
            <a:srgbClr val="16323A"/>
          </a:solidFill>
          <a:ln w="12700">
            <a:solidFill>
              <a:srgbClr val="16323A"/>
            </a:solidFill>
            <a:prstDash val="solid"/>
          </a:ln>
        </p:spPr>
        <p:txBody>
          <a:bodyPr/>
          <a:lstStyle/>
          <a:p>
            <a:endParaRPr lang="en-US"/>
          </a:p>
        </p:txBody>
      </p:sp>
      <p:sp>
        <p:nvSpPr>
          <p:cNvPr id="21" name="Text 19"/>
          <p:cNvSpPr txBox="1"/>
          <p:nvPr/>
        </p:nvSpPr>
        <p:spPr>
          <a:xfrm>
            <a:off x="822960" y="5449824"/>
            <a:ext cx="10552176" cy="402336"/>
          </a:xfrm>
          <a:prstGeom prst="rect">
            <a:avLst/>
          </a:prstGeom>
          <a:noFill/>
          <a:ln/>
        </p:spPr>
        <p:txBody>
          <a:bodyPr wrap="square" lIns="0" tIns="0" rIns="0" bIns="0" rtlCol="0" anchor="t"/>
          <a:lstStyle/>
          <a:p>
            <a:pPr marL="0" indent="0">
              <a:lnSpc>
                <a:spcPct val="108000"/>
              </a:lnSpc>
              <a:buNone/>
            </a:pPr>
            <a:r>
              <a:rPr lang="en-US" sz="1300" dirty="0">
                <a:solidFill>
                  <a:srgbClr val="C2DBE0"/>
                </a:solidFill>
                <a:latin typeface="Calibri" pitchFamily="34" charset="0"/>
                <a:ea typeface="Calibri" pitchFamily="34" charset="-122"/>
                <a:cs typeface="Calibri" pitchFamily="34" charset="-120"/>
              </a:rPr>
              <a:t>Which is why every result in this paper uses a weighted sum across layers — and why, for any paralinguistic task, you should too.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6323A"/>
        </a:solidFill>
        <a:effectLst/>
      </p:bgPr>
    </p:bg>
    <p:spTree>
      <p:nvGrpSpPr>
        <p:cNvPr id="1" name=""/>
        <p:cNvGrpSpPr/>
        <p:nvPr/>
      </p:nvGrpSpPr>
      <p:grpSpPr>
        <a:xfrm>
          <a:off x="0" y="0"/>
          <a:ext cx="0" cy="0"/>
          <a:chOff x="0" y="0"/>
          <a:chExt cx="0" cy="0"/>
        </a:xfrm>
      </p:grpSpPr>
      <p:sp>
        <p:nvSpPr>
          <p:cNvPr id="2" name="Shape 0"/>
          <p:cNvSpPr/>
          <p:nvPr/>
        </p:nvSpPr>
        <p:spPr>
          <a:xfrm>
            <a:off x="10515600" y="5303520"/>
            <a:ext cx="475488" cy="475488"/>
          </a:xfrm>
          <a:prstGeom prst="ellipse">
            <a:avLst/>
          </a:prstGeom>
          <a:solidFill>
            <a:srgbClr val="C2DBE0"/>
          </a:solidFill>
          <a:ln w="12700">
            <a:solidFill>
              <a:srgbClr val="333333"/>
            </a:solidFill>
            <a:prstDash val="solid"/>
          </a:ln>
        </p:spPr>
        <p:txBody>
          <a:bodyPr/>
          <a:lstStyle/>
          <a:p>
            <a:endParaRPr lang="en-US"/>
          </a:p>
        </p:txBody>
      </p:sp>
      <p:sp>
        <p:nvSpPr>
          <p:cNvPr id="3" name="Shape 1"/>
          <p:cNvSpPr/>
          <p:nvPr/>
        </p:nvSpPr>
        <p:spPr>
          <a:xfrm>
            <a:off x="10789920" y="5431536"/>
            <a:ext cx="475488" cy="475488"/>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064240" y="5303520"/>
            <a:ext cx="475488" cy="475488"/>
          </a:xfrm>
          <a:prstGeom prst="ellipse">
            <a:avLst/>
          </a:prstGeom>
          <a:solidFill>
            <a:srgbClr val="8FB0B8"/>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F32"/>
                </a:solidFill>
                <a:latin typeface="Cambria" pitchFamily="34" charset="0"/>
                <a:ea typeface="Cambria" pitchFamily="34" charset="-122"/>
                <a:cs typeface="Cambria" pitchFamily="34" charset="-120"/>
              </a:rPr>
              <a:t>5</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Appraisal and synthesis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2DBE0"/>
                </a:solidFill>
                <a:latin typeface="Calibri" pitchFamily="34" charset="0"/>
                <a:ea typeface="Calibri" pitchFamily="34" charset="-122"/>
                <a:cs typeface="Calibri" pitchFamily="34" charset="-120"/>
              </a:rPr>
              <a:t>The two papers together</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23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Critical appraisal</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What the design buys, and what it costs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24</a:t>
            </a:r>
            <a:endParaRPr lang="en-US" sz="900" dirty="0"/>
          </a:p>
        </p:txBody>
      </p:sp>
      <p:sp>
        <p:nvSpPr>
          <p:cNvPr id="8" name="Shape 6"/>
          <p:cNvSpPr/>
          <p:nvPr/>
        </p:nvSpPr>
        <p:spPr>
          <a:xfrm>
            <a:off x="566928" y="1554480"/>
            <a:ext cx="5440680" cy="4498848"/>
          </a:xfrm>
          <a:prstGeom prst="roundRect">
            <a:avLst>
              <a:gd name="adj" fmla="val 1220"/>
            </a:avLst>
          </a:prstGeom>
          <a:solidFill>
            <a:srgbClr val="EEF5F6"/>
          </a:solidFill>
          <a:ln w="12700">
            <a:solidFill>
              <a:srgbClr val="DBE8EB"/>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0F252B"/>
                </a:solidFill>
                <a:latin typeface="Cambria" pitchFamily="34" charset="0"/>
                <a:ea typeface="Cambria" pitchFamily="34" charset="-122"/>
                <a:cs typeface="Cambria" pitchFamily="34" charset="-120"/>
              </a:rPr>
              <a:t>Strengths</a:t>
            </a:r>
            <a:endParaRPr lang="en-US" sz="1700" dirty="0"/>
          </a:p>
        </p:txBody>
      </p:sp>
      <p:sp>
        <p:nvSpPr>
          <p:cNvPr id="11" name="Text 9"/>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Nineteen tasks, fifteen of them on a standard frozen-model benchmark. The breadth is the contribution and it is done properly.</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Clean ablations showing a double dissociation between the two modifications.</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The denoising simulation is cheap: interferers come from the batch, and only 20% of utterances are corrupted.</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A 95M-parameter model beating a 317M one is strong evidence that the objective, not scale, is responsible.</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Honest reporting of the small ASR cost, and of the odd finding that HuBERT's pseudo-labels work better than WavLM's own.</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Code and checkpoints released.</a:t>
            </a:r>
            <a:endParaRPr lang="en-US" sz="1240" dirty="0"/>
          </a:p>
        </p:txBody>
      </p:sp>
      <p:sp>
        <p:nvSpPr>
          <p:cNvPr id="12" name="Shape 10"/>
          <p:cNvSpPr/>
          <p:nvPr/>
        </p:nvSpPr>
        <p:spPr>
          <a:xfrm>
            <a:off x="6190488" y="1554480"/>
            <a:ext cx="5440680" cy="4498848"/>
          </a:xfrm>
          <a:prstGeom prst="roundRect">
            <a:avLst>
              <a:gd name="adj" fmla="val 1220"/>
            </a:avLst>
          </a:prstGeom>
          <a:solidFill>
            <a:srgbClr val="EEF5F6"/>
          </a:solidFill>
          <a:ln w="12700">
            <a:solidFill>
              <a:srgbClr val="DBE8EB"/>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D96F32"/>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0F252B"/>
                </a:solidFill>
                <a:latin typeface="Cambria" pitchFamily="34" charset="0"/>
                <a:ea typeface="Cambria" pitchFamily="34" charset="-122"/>
                <a:cs typeface="Cambria" pitchFamily="34" charset="-120"/>
              </a:rPr>
              <a:t>Limitations</a:t>
            </a:r>
            <a:endParaRPr lang="en-US" sz="1700" dirty="0"/>
          </a:p>
        </p:txBody>
      </p:sp>
      <p:sp>
        <p:nvSpPr>
          <p:cNvPr id="15" name="Text 13"/>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Still two-thirds audiobook, in a paper whose motivation is escaping audiobook bias.</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English only, despite VoxPopuli being a 23-language corpus from which only the English portion is used.</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The mixing is simulated: additive mixtures at sampled energy ratios, not real overlapped conversation with its own room acoustics and turn-taking.</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The overall SUPERB score is the authors' own aggregation of fifteen heterogeneous metrics.</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Depends on HuBERT for its targets, so the clustering bootstrap problem is inherited rather than solved.</a:t>
            </a:r>
            <a:endParaRPr lang="en-US" sz="1240" dirty="0"/>
          </a:p>
          <a:p>
            <a:pPr marL="0" indent="0">
              <a:lnSpc>
                <a:spcPct val="108000"/>
              </a:lnSpc>
              <a:buNone/>
            </a:pPr>
            <a:endParaRPr lang="en-US" sz="1240" dirty="0"/>
          </a:p>
          <a:p>
            <a:pPr marL="0" indent="0">
              <a:lnSpc>
                <a:spcPct val="108000"/>
              </a:lnSpc>
              <a:buNone/>
            </a:pPr>
            <a:r>
              <a:rPr lang="en-US" sz="1240" dirty="0">
                <a:solidFill>
                  <a:srgbClr val="27383E"/>
                </a:solidFill>
                <a:latin typeface="Calibri" pitchFamily="34" charset="0"/>
                <a:ea typeface="Calibri" pitchFamily="34" charset="-122"/>
                <a:cs typeface="Calibri" pitchFamily="34" charset="-120"/>
              </a:rPr>
              <a:t>No emotion-specific or health-related evaluation beyond SUPERB's single four-class emotion task.</a:t>
            </a:r>
            <a:endParaRPr lang="en-US" sz="12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The two papers side by side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One framework, two questions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25</a:t>
            </a:r>
            <a:endParaRPr lang="en-US" sz="900" dirty="0"/>
          </a:p>
        </p:txBody>
      </p:sp>
      <p:sp>
        <p:nvSpPr>
          <p:cNvPr id="8" name="Text 6"/>
          <p:cNvSpPr txBox="1"/>
          <p:nvPr/>
        </p:nvSpPr>
        <p:spPr>
          <a:xfrm>
            <a:off x="4206240" y="1335024"/>
            <a:ext cx="3566160" cy="274320"/>
          </a:xfrm>
          <a:prstGeom prst="rect">
            <a:avLst/>
          </a:prstGeom>
          <a:noFill/>
          <a:ln/>
        </p:spPr>
        <p:txBody>
          <a:bodyPr wrap="square" lIns="0" tIns="0" rIns="0" bIns="0" rtlCol="0" anchor="ctr"/>
          <a:lstStyle/>
          <a:p>
            <a:pPr marL="0" indent="0">
              <a:buNone/>
            </a:pPr>
            <a:r>
              <a:rPr lang="en-US" sz="1250" b="1" dirty="0">
                <a:solidFill>
                  <a:srgbClr val="24798C"/>
                </a:solidFill>
                <a:latin typeface="Calibri" pitchFamily="34" charset="0"/>
                <a:ea typeface="Calibri" pitchFamily="34" charset="-122"/>
                <a:cs typeface="Calibri" pitchFamily="34" charset="-120"/>
              </a:rPr>
              <a:t>HuBERT (2021)</a:t>
            </a:r>
            <a:endParaRPr lang="en-US" sz="1250" dirty="0"/>
          </a:p>
        </p:txBody>
      </p:sp>
      <p:sp>
        <p:nvSpPr>
          <p:cNvPr id="9" name="Text 7"/>
          <p:cNvSpPr txBox="1"/>
          <p:nvPr/>
        </p:nvSpPr>
        <p:spPr>
          <a:xfrm>
            <a:off x="7955280" y="1335024"/>
            <a:ext cx="3566160" cy="274320"/>
          </a:xfrm>
          <a:prstGeom prst="rect">
            <a:avLst/>
          </a:prstGeom>
          <a:noFill/>
          <a:ln/>
        </p:spPr>
        <p:txBody>
          <a:bodyPr wrap="square" lIns="0" tIns="0" rIns="0" bIns="0" rtlCol="0" anchor="ctr"/>
          <a:lstStyle/>
          <a:p>
            <a:pPr marL="0" indent="0">
              <a:buNone/>
            </a:pPr>
            <a:r>
              <a:rPr lang="en-US" sz="1250" b="1" dirty="0">
                <a:solidFill>
                  <a:srgbClr val="D96F32"/>
                </a:solidFill>
                <a:latin typeface="Calibri" pitchFamily="34" charset="0"/>
                <a:ea typeface="Calibri" pitchFamily="34" charset="-122"/>
                <a:cs typeface="Calibri" pitchFamily="34" charset="-120"/>
              </a:rPr>
              <a:t>WavLM (2022)</a:t>
            </a:r>
            <a:endParaRPr lang="en-US" sz="1250" dirty="0"/>
          </a:p>
        </p:txBody>
      </p:sp>
      <p:sp>
        <p:nvSpPr>
          <p:cNvPr id="10" name="Shape 8"/>
          <p:cNvSpPr/>
          <p:nvPr/>
        </p:nvSpPr>
        <p:spPr>
          <a:xfrm>
            <a:off x="566928" y="1627632"/>
            <a:ext cx="11064240" cy="420624"/>
          </a:xfrm>
          <a:prstGeom prst="roundRect">
            <a:avLst>
              <a:gd name="adj" fmla="val 4348"/>
            </a:avLst>
          </a:prstGeom>
          <a:solidFill>
            <a:srgbClr val="EEF5F6"/>
          </a:solidFill>
          <a:ln w="12700">
            <a:solidFill>
              <a:srgbClr val="E4EDEF"/>
            </a:solidFill>
            <a:prstDash val="solid"/>
          </a:ln>
        </p:spPr>
        <p:txBody>
          <a:bodyPr/>
          <a:lstStyle/>
          <a:p>
            <a:endParaRPr lang="en-US"/>
          </a:p>
        </p:txBody>
      </p:sp>
      <p:sp>
        <p:nvSpPr>
          <p:cNvPr id="11" name="Text 9"/>
          <p:cNvSpPr txBox="1"/>
          <p:nvPr/>
        </p:nvSpPr>
        <p:spPr>
          <a:xfrm>
            <a:off x="749808" y="1709928"/>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The question asked</a:t>
            </a:r>
            <a:endParaRPr lang="en-US" sz="1150" dirty="0"/>
          </a:p>
        </p:txBody>
      </p:sp>
      <p:sp>
        <p:nvSpPr>
          <p:cNvPr id="12" name="Text 10"/>
          <p:cNvSpPr txBox="1"/>
          <p:nvPr/>
        </p:nvSpPr>
        <p:spPr>
          <a:xfrm>
            <a:off x="4206240" y="1709928"/>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Can masked prediction work without a real lexicon?</a:t>
            </a:r>
            <a:endParaRPr lang="en-US" sz="1150" dirty="0"/>
          </a:p>
        </p:txBody>
      </p:sp>
      <p:sp>
        <p:nvSpPr>
          <p:cNvPr id="13" name="Text 11"/>
          <p:cNvSpPr txBox="1"/>
          <p:nvPr/>
        </p:nvSpPr>
        <p:spPr>
          <a:xfrm>
            <a:off x="7955280" y="1709928"/>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Can one model serve every speech task?</a:t>
            </a:r>
            <a:endParaRPr lang="en-US" sz="1150" dirty="0"/>
          </a:p>
        </p:txBody>
      </p:sp>
      <p:sp>
        <p:nvSpPr>
          <p:cNvPr id="14" name="Shape 12"/>
          <p:cNvSpPr/>
          <p:nvPr/>
        </p:nvSpPr>
        <p:spPr>
          <a:xfrm>
            <a:off x="566928" y="2103120"/>
            <a:ext cx="11064240" cy="420624"/>
          </a:xfrm>
          <a:prstGeom prst="roundRect">
            <a:avLst>
              <a:gd name="adj" fmla="val 4348"/>
            </a:avLst>
          </a:prstGeom>
          <a:solidFill>
            <a:srgbClr val="FFFFFF"/>
          </a:solidFill>
          <a:ln w="12700">
            <a:solidFill>
              <a:srgbClr val="E4EDEF"/>
            </a:solidFill>
            <a:prstDash val="solid"/>
          </a:ln>
        </p:spPr>
        <p:txBody>
          <a:bodyPr/>
          <a:lstStyle/>
          <a:p>
            <a:endParaRPr lang="en-US"/>
          </a:p>
        </p:txBody>
      </p:sp>
      <p:sp>
        <p:nvSpPr>
          <p:cNvPr id="15" name="Text 13"/>
          <p:cNvSpPr txBox="1"/>
          <p:nvPr/>
        </p:nvSpPr>
        <p:spPr>
          <a:xfrm>
            <a:off x="749808" y="2185416"/>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Core mechanism</a:t>
            </a:r>
            <a:endParaRPr lang="en-US" sz="1150" dirty="0"/>
          </a:p>
        </p:txBody>
      </p:sp>
      <p:sp>
        <p:nvSpPr>
          <p:cNvPr id="16" name="Text 14"/>
          <p:cNvSpPr txBox="1"/>
          <p:nvPr/>
        </p:nvSpPr>
        <p:spPr>
          <a:xfrm>
            <a:off x="4206240" y="2185416"/>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Offline k-means targets, loss on masked frames only</a:t>
            </a:r>
            <a:endParaRPr lang="en-US" sz="1150" dirty="0"/>
          </a:p>
        </p:txBody>
      </p:sp>
      <p:sp>
        <p:nvSpPr>
          <p:cNvPr id="17" name="Text 15"/>
          <p:cNvSpPr txBox="1"/>
          <p:nvPr/>
        </p:nvSpPr>
        <p:spPr>
          <a:xfrm>
            <a:off x="7955280" y="2185416"/>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Corrupted input, clean targets, gated position bias</a:t>
            </a:r>
            <a:endParaRPr lang="en-US" sz="1150" dirty="0"/>
          </a:p>
        </p:txBody>
      </p:sp>
      <p:sp>
        <p:nvSpPr>
          <p:cNvPr id="18" name="Shape 16"/>
          <p:cNvSpPr/>
          <p:nvPr/>
        </p:nvSpPr>
        <p:spPr>
          <a:xfrm>
            <a:off x="566928" y="2578608"/>
            <a:ext cx="11064240" cy="420624"/>
          </a:xfrm>
          <a:prstGeom prst="roundRect">
            <a:avLst>
              <a:gd name="adj" fmla="val 4348"/>
            </a:avLst>
          </a:prstGeom>
          <a:solidFill>
            <a:srgbClr val="EEF5F6"/>
          </a:solidFill>
          <a:ln w="12700">
            <a:solidFill>
              <a:srgbClr val="E4EDEF"/>
            </a:solidFill>
            <a:prstDash val="solid"/>
          </a:ln>
        </p:spPr>
        <p:txBody>
          <a:bodyPr/>
          <a:lstStyle/>
          <a:p>
            <a:endParaRPr lang="en-US"/>
          </a:p>
        </p:txBody>
      </p:sp>
      <p:sp>
        <p:nvSpPr>
          <p:cNvPr id="19" name="Text 17"/>
          <p:cNvSpPr txBox="1"/>
          <p:nvPr/>
        </p:nvSpPr>
        <p:spPr>
          <a:xfrm>
            <a:off x="749808" y="2660904"/>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Input during pre-training</a:t>
            </a:r>
            <a:endParaRPr lang="en-US" sz="1150" dirty="0"/>
          </a:p>
        </p:txBody>
      </p:sp>
      <p:sp>
        <p:nvSpPr>
          <p:cNvPr id="20" name="Text 18"/>
          <p:cNvSpPr txBox="1"/>
          <p:nvPr/>
        </p:nvSpPr>
        <p:spPr>
          <a:xfrm>
            <a:off x="4206240" y="2660904"/>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Clean single-speaker audio</a:t>
            </a:r>
            <a:endParaRPr lang="en-US" sz="1150" dirty="0"/>
          </a:p>
        </p:txBody>
      </p:sp>
      <p:sp>
        <p:nvSpPr>
          <p:cNvPr id="21" name="Text 19"/>
          <p:cNvSpPr txBox="1"/>
          <p:nvPr/>
        </p:nvSpPr>
        <p:spPr>
          <a:xfrm>
            <a:off x="7955280" y="2660904"/>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20% corrupted with a second speaker or noise</a:t>
            </a:r>
            <a:endParaRPr lang="en-US" sz="1150" dirty="0"/>
          </a:p>
        </p:txBody>
      </p:sp>
      <p:sp>
        <p:nvSpPr>
          <p:cNvPr id="22" name="Shape 20"/>
          <p:cNvSpPr/>
          <p:nvPr/>
        </p:nvSpPr>
        <p:spPr>
          <a:xfrm>
            <a:off x="566928" y="3054096"/>
            <a:ext cx="11064240" cy="420624"/>
          </a:xfrm>
          <a:prstGeom prst="roundRect">
            <a:avLst>
              <a:gd name="adj" fmla="val 4348"/>
            </a:avLst>
          </a:prstGeom>
          <a:solidFill>
            <a:srgbClr val="FFFFFF"/>
          </a:solidFill>
          <a:ln w="12700">
            <a:solidFill>
              <a:srgbClr val="E4EDEF"/>
            </a:solidFill>
            <a:prstDash val="solid"/>
          </a:ln>
        </p:spPr>
        <p:txBody>
          <a:bodyPr/>
          <a:lstStyle/>
          <a:p>
            <a:endParaRPr lang="en-US"/>
          </a:p>
        </p:txBody>
      </p:sp>
      <p:sp>
        <p:nvSpPr>
          <p:cNvPr id="23" name="Text 21"/>
          <p:cNvSpPr txBox="1"/>
          <p:nvPr/>
        </p:nvSpPr>
        <p:spPr>
          <a:xfrm>
            <a:off x="749808" y="3136392"/>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Pre-training data</a:t>
            </a:r>
            <a:endParaRPr lang="en-US" sz="1150" dirty="0"/>
          </a:p>
        </p:txBody>
      </p:sp>
      <p:sp>
        <p:nvSpPr>
          <p:cNvPr id="24" name="Text 22"/>
          <p:cNvSpPr txBox="1"/>
          <p:nvPr/>
        </p:nvSpPr>
        <p:spPr>
          <a:xfrm>
            <a:off x="4206240" y="3136392"/>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LibriSpeech 960h or Libri-Light 60k h</a:t>
            </a:r>
            <a:endParaRPr lang="en-US" sz="1150" dirty="0"/>
          </a:p>
        </p:txBody>
      </p:sp>
      <p:sp>
        <p:nvSpPr>
          <p:cNvPr id="25" name="Text 23"/>
          <p:cNvSpPr txBox="1"/>
          <p:nvPr/>
        </p:nvSpPr>
        <p:spPr>
          <a:xfrm>
            <a:off x="7955280" y="3136392"/>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Mix 94k hr from three sources</a:t>
            </a:r>
            <a:endParaRPr lang="en-US" sz="1150" dirty="0"/>
          </a:p>
        </p:txBody>
      </p:sp>
      <p:sp>
        <p:nvSpPr>
          <p:cNvPr id="26" name="Shape 24"/>
          <p:cNvSpPr/>
          <p:nvPr/>
        </p:nvSpPr>
        <p:spPr>
          <a:xfrm>
            <a:off x="566928" y="3529584"/>
            <a:ext cx="11064240" cy="420624"/>
          </a:xfrm>
          <a:prstGeom prst="roundRect">
            <a:avLst>
              <a:gd name="adj" fmla="val 4348"/>
            </a:avLst>
          </a:prstGeom>
          <a:solidFill>
            <a:srgbClr val="EEF5F6"/>
          </a:solidFill>
          <a:ln w="12700">
            <a:solidFill>
              <a:srgbClr val="E4EDEF"/>
            </a:solidFill>
            <a:prstDash val="solid"/>
          </a:ln>
        </p:spPr>
        <p:txBody>
          <a:bodyPr/>
          <a:lstStyle/>
          <a:p>
            <a:endParaRPr lang="en-US"/>
          </a:p>
        </p:txBody>
      </p:sp>
      <p:sp>
        <p:nvSpPr>
          <p:cNvPr id="27" name="Text 25"/>
          <p:cNvSpPr txBox="1"/>
          <p:nvPr/>
        </p:nvSpPr>
        <p:spPr>
          <a:xfrm>
            <a:off x="749808" y="3611880"/>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Targets</a:t>
            </a:r>
            <a:endParaRPr lang="en-US" sz="1150" dirty="0"/>
          </a:p>
        </p:txBody>
      </p:sp>
      <p:sp>
        <p:nvSpPr>
          <p:cNvPr id="28" name="Text 26"/>
          <p:cNvSpPr txBox="1"/>
          <p:nvPr/>
        </p:nvSpPr>
        <p:spPr>
          <a:xfrm>
            <a:off x="4206240" y="3611880"/>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Bootstrapped from MFCC k-means, refined twice</a:t>
            </a:r>
            <a:endParaRPr lang="en-US" sz="1150" dirty="0"/>
          </a:p>
        </p:txBody>
      </p:sp>
      <p:sp>
        <p:nvSpPr>
          <p:cNvPr id="29" name="Text 27"/>
          <p:cNvSpPr txBox="1"/>
          <p:nvPr/>
        </p:nvSpPr>
        <p:spPr>
          <a:xfrm>
            <a:off x="7955280" y="3611880"/>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Taken from released HuBERT models</a:t>
            </a:r>
            <a:endParaRPr lang="en-US" sz="1150" dirty="0"/>
          </a:p>
        </p:txBody>
      </p:sp>
      <p:sp>
        <p:nvSpPr>
          <p:cNvPr id="30" name="Shape 28"/>
          <p:cNvSpPr/>
          <p:nvPr/>
        </p:nvSpPr>
        <p:spPr>
          <a:xfrm>
            <a:off x="566928" y="4005072"/>
            <a:ext cx="11064240" cy="420624"/>
          </a:xfrm>
          <a:prstGeom prst="roundRect">
            <a:avLst>
              <a:gd name="adj" fmla="val 4348"/>
            </a:avLst>
          </a:prstGeom>
          <a:solidFill>
            <a:srgbClr val="FFFFFF"/>
          </a:solidFill>
          <a:ln w="12700">
            <a:solidFill>
              <a:srgbClr val="E4EDEF"/>
            </a:solidFill>
            <a:prstDash val="solid"/>
          </a:ln>
        </p:spPr>
        <p:txBody>
          <a:bodyPr/>
          <a:lstStyle/>
          <a:p>
            <a:endParaRPr lang="en-US"/>
          </a:p>
        </p:txBody>
      </p:sp>
      <p:sp>
        <p:nvSpPr>
          <p:cNvPr id="31" name="Text 29"/>
          <p:cNvSpPr txBox="1"/>
          <p:nvPr/>
        </p:nvSpPr>
        <p:spPr>
          <a:xfrm>
            <a:off x="749808" y="4087368"/>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Evaluation</a:t>
            </a:r>
            <a:endParaRPr lang="en-US" sz="1150" dirty="0"/>
          </a:p>
        </p:txBody>
      </p:sp>
      <p:sp>
        <p:nvSpPr>
          <p:cNvPr id="32" name="Text 30"/>
          <p:cNvSpPr txBox="1"/>
          <p:nvPr/>
        </p:nvSpPr>
        <p:spPr>
          <a:xfrm>
            <a:off x="4206240" y="4087368"/>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Speech recognition only</a:t>
            </a:r>
            <a:endParaRPr lang="en-US" sz="1150" dirty="0"/>
          </a:p>
        </p:txBody>
      </p:sp>
      <p:sp>
        <p:nvSpPr>
          <p:cNvPr id="33" name="Text 31"/>
          <p:cNvSpPr txBox="1"/>
          <p:nvPr/>
        </p:nvSpPr>
        <p:spPr>
          <a:xfrm>
            <a:off x="7955280" y="4087368"/>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Nineteen tasks across five aspects of speech</a:t>
            </a:r>
            <a:endParaRPr lang="en-US" sz="1150" dirty="0"/>
          </a:p>
        </p:txBody>
      </p:sp>
      <p:sp>
        <p:nvSpPr>
          <p:cNvPr id="34" name="Shape 32"/>
          <p:cNvSpPr/>
          <p:nvPr/>
        </p:nvSpPr>
        <p:spPr>
          <a:xfrm>
            <a:off x="566928" y="4480560"/>
            <a:ext cx="11064240" cy="420624"/>
          </a:xfrm>
          <a:prstGeom prst="roundRect">
            <a:avLst>
              <a:gd name="adj" fmla="val 4348"/>
            </a:avLst>
          </a:prstGeom>
          <a:solidFill>
            <a:srgbClr val="EEF5F6"/>
          </a:solidFill>
          <a:ln w="12700">
            <a:solidFill>
              <a:srgbClr val="E4EDEF"/>
            </a:solidFill>
            <a:prstDash val="solid"/>
          </a:ln>
        </p:spPr>
        <p:txBody>
          <a:bodyPr/>
          <a:lstStyle/>
          <a:p>
            <a:endParaRPr lang="en-US"/>
          </a:p>
        </p:txBody>
      </p:sp>
      <p:sp>
        <p:nvSpPr>
          <p:cNvPr id="35" name="Text 33"/>
          <p:cNvSpPr txBox="1"/>
          <p:nvPr/>
        </p:nvSpPr>
        <p:spPr>
          <a:xfrm>
            <a:off x="749808" y="4562856"/>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Best ASR result</a:t>
            </a:r>
            <a:endParaRPr lang="en-US" sz="1150" dirty="0"/>
          </a:p>
        </p:txBody>
      </p:sp>
      <p:sp>
        <p:nvSpPr>
          <p:cNvPr id="36" name="Text 34"/>
          <p:cNvSpPr txBox="1"/>
          <p:nvPr/>
        </p:nvSpPr>
        <p:spPr>
          <a:xfrm>
            <a:off x="4206240" y="4562856"/>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1.8 / 2.9 with a 1B-parameter model</a:t>
            </a:r>
            <a:endParaRPr lang="en-US" sz="1150" dirty="0"/>
          </a:p>
        </p:txBody>
      </p:sp>
      <p:sp>
        <p:nvSpPr>
          <p:cNvPr id="37" name="Text 35"/>
          <p:cNvSpPr txBox="1"/>
          <p:nvPr/>
        </p:nvSpPr>
        <p:spPr>
          <a:xfrm>
            <a:off x="7955280" y="4562856"/>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1.8 / 3.2 with 317M</a:t>
            </a:r>
            <a:endParaRPr lang="en-US" sz="1150" dirty="0"/>
          </a:p>
        </p:txBody>
      </p:sp>
      <p:sp>
        <p:nvSpPr>
          <p:cNvPr id="38" name="Shape 36"/>
          <p:cNvSpPr/>
          <p:nvPr/>
        </p:nvSpPr>
        <p:spPr>
          <a:xfrm>
            <a:off x="566928" y="4956048"/>
            <a:ext cx="11064240" cy="420624"/>
          </a:xfrm>
          <a:prstGeom prst="roundRect">
            <a:avLst>
              <a:gd name="adj" fmla="val 4348"/>
            </a:avLst>
          </a:prstGeom>
          <a:solidFill>
            <a:srgbClr val="FFFFFF"/>
          </a:solidFill>
          <a:ln w="12700">
            <a:solidFill>
              <a:srgbClr val="E4EDEF"/>
            </a:solidFill>
            <a:prstDash val="solid"/>
          </a:ln>
        </p:spPr>
        <p:txBody>
          <a:bodyPr/>
          <a:lstStyle/>
          <a:p>
            <a:endParaRPr lang="en-US"/>
          </a:p>
        </p:txBody>
      </p:sp>
      <p:sp>
        <p:nvSpPr>
          <p:cNvPr id="39" name="Text 37"/>
          <p:cNvSpPr txBox="1"/>
          <p:nvPr/>
        </p:nvSpPr>
        <p:spPr>
          <a:xfrm>
            <a:off x="749808" y="5038344"/>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Key ablation</a:t>
            </a:r>
            <a:endParaRPr lang="en-US" sz="1150" dirty="0"/>
          </a:p>
        </p:txBody>
      </p:sp>
      <p:sp>
        <p:nvSpPr>
          <p:cNvPr id="40" name="Text 38"/>
          <p:cNvSpPr txBox="1"/>
          <p:nvPr/>
        </p:nvSpPr>
        <p:spPr>
          <a:xfrm>
            <a:off x="4206240" y="5038344"/>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α: masked-only prediction versus all frames</a:t>
            </a:r>
            <a:endParaRPr lang="en-US" sz="1150" dirty="0"/>
          </a:p>
        </p:txBody>
      </p:sp>
      <p:sp>
        <p:nvSpPr>
          <p:cNvPr id="41" name="Text 39"/>
          <p:cNvSpPr txBox="1"/>
          <p:nvPr/>
        </p:nvSpPr>
        <p:spPr>
          <a:xfrm>
            <a:off x="7955280" y="5038344"/>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Each modification removed in turn</a:t>
            </a:r>
            <a:endParaRPr lang="en-US" sz="1150" dirty="0"/>
          </a:p>
        </p:txBody>
      </p:sp>
      <p:sp>
        <p:nvSpPr>
          <p:cNvPr id="42" name="Shape 40"/>
          <p:cNvSpPr/>
          <p:nvPr/>
        </p:nvSpPr>
        <p:spPr>
          <a:xfrm>
            <a:off x="566928" y="5431536"/>
            <a:ext cx="11064240" cy="420624"/>
          </a:xfrm>
          <a:prstGeom prst="roundRect">
            <a:avLst>
              <a:gd name="adj" fmla="val 4348"/>
            </a:avLst>
          </a:prstGeom>
          <a:solidFill>
            <a:srgbClr val="EEF5F6"/>
          </a:solidFill>
          <a:ln w="12700">
            <a:solidFill>
              <a:srgbClr val="E4EDEF"/>
            </a:solidFill>
            <a:prstDash val="solid"/>
          </a:ln>
        </p:spPr>
        <p:txBody>
          <a:bodyPr/>
          <a:lstStyle/>
          <a:p>
            <a:endParaRPr lang="en-US"/>
          </a:p>
        </p:txBody>
      </p:sp>
      <p:sp>
        <p:nvSpPr>
          <p:cNvPr id="43" name="Text 41"/>
          <p:cNvSpPr txBox="1"/>
          <p:nvPr/>
        </p:nvSpPr>
        <p:spPr>
          <a:xfrm>
            <a:off x="749808" y="5513832"/>
            <a:ext cx="3291840" cy="274320"/>
          </a:xfrm>
          <a:prstGeom prst="rect">
            <a:avLst/>
          </a:prstGeom>
          <a:noFill/>
          <a:ln/>
        </p:spPr>
        <p:txBody>
          <a:bodyPr wrap="square" lIns="0" tIns="0" rIns="0" bIns="0" rtlCol="0" anchor="ctr"/>
          <a:lstStyle/>
          <a:p>
            <a:pPr marL="0" indent="0">
              <a:buNone/>
            </a:pPr>
            <a:r>
              <a:rPr lang="en-US" sz="1150" b="1" dirty="0">
                <a:solidFill>
                  <a:srgbClr val="0F252B"/>
                </a:solidFill>
                <a:latin typeface="Calibri" pitchFamily="34" charset="0"/>
                <a:ea typeface="Calibri" pitchFamily="34" charset="-122"/>
                <a:cs typeface="Calibri" pitchFamily="34" charset="-120"/>
              </a:rPr>
              <a:t>What it left open</a:t>
            </a:r>
            <a:endParaRPr lang="en-US" sz="1150" dirty="0"/>
          </a:p>
        </p:txBody>
      </p:sp>
      <p:sp>
        <p:nvSpPr>
          <p:cNvPr id="44" name="Text 42"/>
          <p:cNvSpPr txBox="1"/>
          <p:nvPr/>
        </p:nvSpPr>
        <p:spPr>
          <a:xfrm>
            <a:off x="4206240" y="5513832"/>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Anything beyond ASR; single-phase training</a:t>
            </a:r>
            <a:endParaRPr lang="en-US" sz="1150" dirty="0"/>
          </a:p>
        </p:txBody>
      </p:sp>
      <p:sp>
        <p:nvSpPr>
          <p:cNvPr id="45" name="Text 43"/>
          <p:cNvSpPr txBox="1"/>
          <p:nvPr/>
        </p:nvSpPr>
        <p:spPr>
          <a:xfrm>
            <a:off x="7955280" y="5513832"/>
            <a:ext cx="3566160" cy="274320"/>
          </a:xfrm>
          <a:prstGeom prst="rect">
            <a:avLst/>
          </a:prstGeom>
          <a:noFill/>
          <a:ln/>
        </p:spPr>
        <p:txBody>
          <a:bodyPr wrap="square" lIns="0" tIns="0" rIns="0" bIns="0" rtlCol="0" anchor="ctr"/>
          <a:lstStyle/>
          <a:p>
            <a:pPr marL="0" indent="0">
              <a:buNone/>
            </a:pPr>
            <a:r>
              <a:rPr lang="en-US" sz="1150" dirty="0">
                <a:solidFill>
                  <a:srgbClr val="27383E"/>
                </a:solidFill>
                <a:latin typeface="Calibri" pitchFamily="34" charset="0"/>
                <a:ea typeface="Calibri" pitchFamily="34" charset="-122"/>
                <a:cs typeface="Calibri" pitchFamily="34" charset="-120"/>
              </a:rPr>
              <a:t>Multilingual, real overlap, non-audiobook data</a:t>
            </a:r>
            <a:endParaRPr lang="en-US" sz="1150" dirty="0"/>
          </a:p>
        </p:txBody>
      </p:sp>
      <p:sp>
        <p:nvSpPr>
          <p:cNvPr id="46" name="Text 44"/>
          <p:cNvSpPr txBox="1"/>
          <p:nvPr/>
        </p:nvSpPr>
        <p:spPr>
          <a:xfrm>
            <a:off x="566928" y="5943600"/>
            <a:ext cx="11064240" cy="274320"/>
          </a:xfrm>
          <a:prstGeom prst="rect">
            <a:avLst/>
          </a:prstGeom>
          <a:noFill/>
          <a:ln/>
        </p:spPr>
        <p:txBody>
          <a:bodyPr wrap="square" lIns="0" tIns="0" rIns="0" bIns="0" rtlCol="0" anchor="ctr"/>
          <a:lstStyle/>
          <a:p>
            <a:pPr marL="0" indent="0">
              <a:buNone/>
            </a:pPr>
            <a:r>
              <a:rPr lang="en-US" sz="1150" i="1" dirty="0">
                <a:solidFill>
                  <a:srgbClr val="50707A"/>
                </a:solidFill>
                <a:latin typeface="Calibri" pitchFamily="34" charset="0"/>
                <a:ea typeface="Calibri" pitchFamily="34" charset="-122"/>
                <a:cs typeface="Calibri" pitchFamily="34" charset="-120"/>
              </a:rPr>
              <a:t>WavLM changes what goes in and how position is encoded. Everything else is HuBERT.</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57200"/>
            <a:ext cx="237744" cy="237744"/>
          </a:xfrm>
          <a:prstGeom prst="ellipse">
            <a:avLst/>
          </a:prstGeom>
          <a:solidFill>
            <a:srgbClr val="24798C"/>
          </a:solidFill>
          <a:ln w="12700">
            <a:solidFill>
              <a:srgbClr val="333333"/>
            </a:solidFill>
            <a:prstDash val="solid"/>
          </a:ln>
        </p:spPr>
        <p:txBody>
          <a:bodyPr/>
          <a:lstStyle/>
          <a:p>
            <a:endParaRPr lang="en-US"/>
          </a:p>
        </p:txBody>
      </p:sp>
      <p:sp>
        <p:nvSpPr>
          <p:cNvPr id="3" name="Shape 1"/>
          <p:cNvSpPr/>
          <p:nvPr/>
        </p:nvSpPr>
        <p:spPr>
          <a:xfrm>
            <a:off x="11256264" y="521208"/>
            <a:ext cx="237744" cy="237744"/>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1393424" y="457200"/>
            <a:ext cx="237744" cy="237744"/>
          </a:xfrm>
          <a:prstGeom prst="ellipse">
            <a:avLst/>
          </a:prstGeom>
          <a:solidFill>
            <a:srgbClr val="9FC4CC"/>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0F252B"/>
                </a:solidFill>
                <a:latin typeface="Cambria" pitchFamily="34" charset="0"/>
                <a:ea typeface="Cambria" pitchFamily="34" charset="-122"/>
                <a:cs typeface="Cambria" pitchFamily="34" charset="-120"/>
              </a:rPr>
              <a:t>Take-aways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0707A"/>
                </a:solidFill>
                <a:latin typeface="Calibri" pitchFamily="34" charset="0"/>
                <a:ea typeface="Calibri" pitchFamily="34" charset="-122"/>
                <a:cs typeface="Calibri" pitchFamily="34" charset="-120"/>
              </a:rPr>
              <a:t>Four things to carry out of this session</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9BB3BA"/>
                </a:solidFill>
                <a:latin typeface="Calibri" pitchFamily="34" charset="0"/>
                <a:ea typeface="Calibri" pitchFamily="34" charset="-122"/>
                <a:cs typeface="Calibri" pitchFamily="34" charset="-120"/>
              </a:rPr>
              <a:t>WavLM · Chen et al. 2022  |  26</a:t>
            </a:r>
            <a:endParaRPr lang="en-US" sz="900" dirty="0"/>
          </a:p>
        </p:txBody>
      </p:sp>
      <p:sp>
        <p:nvSpPr>
          <p:cNvPr id="8" name="Shape 6"/>
          <p:cNvSpPr/>
          <p:nvPr/>
        </p:nvSpPr>
        <p:spPr>
          <a:xfrm>
            <a:off x="566928" y="1572768"/>
            <a:ext cx="11064240" cy="1005840"/>
          </a:xfrm>
          <a:prstGeom prst="roundRect">
            <a:avLst>
              <a:gd name="adj" fmla="val 4545"/>
            </a:avLst>
          </a:prstGeom>
          <a:solidFill>
            <a:srgbClr val="EEF5F6"/>
          </a:solidFill>
          <a:ln w="12700">
            <a:solidFill>
              <a:srgbClr val="DBE8EB"/>
            </a:solidFill>
            <a:prstDash val="solid"/>
          </a:ln>
        </p:spPr>
        <p:txBody>
          <a:bodyPr/>
          <a:lstStyle/>
          <a:p>
            <a:endParaRPr lang="en-US"/>
          </a:p>
        </p:txBody>
      </p:sp>
      <p:sp>
        <p:nvSpPr>
          <p:cNvPr id="9" name="Shape 7"/>
          <p:cNvSpPr/>
          <p:nvPr/>
        </p:nvSpPr>
        <p:spPr>
          <a:xfrm>
            <a:off x="822960" y="1901952"/>
            <a:ext cx="347472" cy="347472"/>
          </a:xfrm>
          <a:prstGeom prst="ellipse">
            <a:avLst/>
          </a:prstGeom>
          <a:solidFill>
            <a:srgbClr val="24798C"/>
          </a:solidFill>
          <a:ln w="12700">
            <a:solidFill>
              <a:srgbClr val="333333"/>
            </a:solidFill>
            <a:prstDash val="solid"/>
          </a:ln>
        </p:spPr>
        <p:txBody>
          <a:bodyPr/>
          <a:lstStyle/>
          <a:p>
            <a:endParaRPr lang="en-US"/>
          </a:p>
        </p:txBody>
      </p:sp>
      <p:sp>
        <p:nvSpPr>
          <p:cNvPr id="10" name="Text 8"/>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35024" y="1719072"/>
            <a:ext cx="3931920" cy="731520"/>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Corrupt the input, keep the target clean</a:t>
            </a:r>
            <a:endParaRPr lang="en-US" sz="1350" dirty="0"/>
          </a:p>
        </p:txBody>
      </p:sp>
      <p:sp>
        <p:nvSpPr>
          <p:cNvPr id="12" name="Text 10"/>
          <p:cNvSpPr txBox="1"/>
          <p:nvPr/>
        </p:nvSpPr>
        <p:spPr>
          <a:xfrm>
            <a:off x="5440680" y="1700784"/>
            <a:ext cx="6035040" cy="768096"/>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That single asymmetry turns a content model into a speaker model without a second loss term, a second head, or a second training stage.</a:t>
            </a:r>
            <a:endParaRPr lang="en-US" sz="1200" dirty="0"/>
          </a:p>
        </p:txBody>
      </p:sp>
      <p:sp>
        <p:nvSpPr>
          <p:cNvPr id="13" name="Shape 11"/>
          <p:cNvSpPr/>
          <p:nvPr/>
        </p:nvSpPr>
        <p:spPr>
          <a:xfrm>
            <a:off x="566928" y="2651760"/>
            <a:ext cx="11064240" cy="1005840"/>
          </a:xfrm>
          <a:prstGeom prst="roundRect">
            <a:avLst>
              <a:gd name="adj" fmla="val 4545"/>
            </a:avLst>
          </a:prstGeom>
          <a:solidFill>
            <a:srgbClr val="FFFFFF"/>
          </a:solidFill>
          <a:ln w="12700">
            <a:solidFill>
              <a:srgbClr val="DBE8EB"/>
            </a:solidFill>
            <a:prstDash val="solid"/>
          </a:ln>
        </p:spPr>
        <p:txBody>
          <a:bodyPr/>
          <a:lstStyle/>
          <a:p>
            <a:endParaRPr lang="en-US"/>
          </a:p>
        </p:txBody>
      </p:sp>
      <p:sp>
        <p:nvSpPr>
          <p:cNvPr id="14" name="Shape 12"/>
          <p:cNvSpPr/>
          <p:nvPr/>
        </p:nvSpPr>
        <p:spPr>
          <a:xfrm>
            <a:off x="822960" y="2980944"/>
            <a:ext cx="347472" cy="347472"/>
          </a:xfrm>
          <a:prstGeom prst="ellipse">
            <a:avLst/>
          </a:prstGeom>
          <a:solidFill>
            <a:srgbClr val="24798C"/>
          </a:solidFill>
          <a:ln w="12700">
            <a:solidFill>
              <a:srgbClr val="333333"/>
            </a:solidFill>
            <a:prstDash val="solid"/>
          </a:ln>
        </p:spPr>
        <p:txBody>
          <a:bodyPr/>
          <a:lstStyle/>
          <a:p>
            <a:endParaRPr lang="en-US"/>
          </a:p>
        </p:txBody>
      </p:sp>
      <p:sp>
        <p:nvSpPr>
          <p:cNvPr id="15" name="Text 13"/>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1335024" y="2798064"/>
            <a:ext cx="3931920" cy="731520"/>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Design the objective for the task you want</a:t>
            </a:r>
            <a:endParaRPr lang="en-US" sz="1350" dirty="0"/>
          </a:p>
        </p:txBody>
      </p:sp>
      <p:sp>
        <p:nvSpPr>
          <p:cNvPr id="17" name="Text 15"/>
          <p:cNvSpPr txBox="1"/>
          <p:nvPr/>
        </p:nvSpPr>
        <p:spPr>
          <a:xfrm>
            <a:off x="5440680" y="2779776"/>
            <a:ext cx="6035040" cy="768096"/>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Denoising helps speaker tasks; gated position bias helps content tasks. The ablation shows each moving only what it targets.</a:t>
            </a:r>
            <a:endParaRPr lang="en-US" sz="1200" dirty="0"/>
          </a:p>
        </p:txBody>
      </p:sp>
      <p:sp>
        <p:nvSpPr>
          <p:cNvPr id="18" name="Shape 16"/>
          <p:cNvSpPr/>
          <p:nvPr/>
        </p:nvSpPr>
        <p:spPr>
          <a:xfrm>
            <a:off x="566928" y="3730752"/>
            <a:ext cx="11064240" cy="1005840"/>
          </a:xfrm>
          <a:prstGeom prst="roundRect">
            <a:avLst>
              <a:gd name="adj" fmla="val 4545"/>
            </a:avLst>
          </a:prstGeom>
          <a:solidFill>
            <a:srgbClr val="EEF5F6"/>
          </a:solidFill>
          <a:ln w="12700">
            <a:solidFill>
              <a:srgbClr val="DBE8EB"/>
            </a:solidFill>
            <a:prstDash val="solid"/>
          </a:ln>
        </p:spPr>
        <p:txBody>
          <a:bodyPr/>
          <a:lstStyle/>
          <a:p>
            <a:endParaRPr lang="en-US"/>
          </a:p>
        </p:txBody>
      </p:sp>
      <p:sp>
        <p:nvSpPr>
          <p:cNvPr id="19" name="Shape 17"/>
          <p:cNvSpPr/>
          <p:nvPr/>
        </p:nvSpPr>
        <p:spPr>
          <a:xfrm>
            <a:off x="822960" y="4059936"/>
            <a:ext cx="347472" cy="347472"/>
          </a:xfrm>
          <a:prstGeom prst="ellipse">
            <a:avLst/>
          </a:prstGeom>
          <a:solidFill>
            <a:srgbClr val="24798C"/>
          </a:solidFill>
          <a:ln w="12700">
            <a:solidFill>
              <a:srgbClr val="333333"/>
            </a:solidFill>
            <a:prstDash val="solid"/>
          </a:ln>
        </p:spPr>
        <p:txBody>
          <a:bodyPr/>
          <a:lstStyle/>
          <a:p>
            <a:endParaRPr lang="en-US"/>
          </a:p>
        </p:txBody>
      </p:sp>
      <p:sp>
        <p:nvSpPr>
          <p:cNvPr id="20" name="Text 18"/>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1335024" y="3877056"/>
            <a:ext cx="3931920" cy="731520"/>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A saturated benchmark hides progress</a:t>
            </a:r>
            <a:endParaRPr lang="en-US" sz="1350" dirty="0"/>
          </a:p>
        </p:txBody>
      </p:sp>
      <p:sp>
        <p:nvSpPr>
          <p:cNvPr id="22" name="Text 20"/>
          <p:cNvSpPr txBox="1"/>
          <p:nvPr/>
        </p:nvSpPr>
        <p:spPr>
          <a:xfrm>
            <a:off x="5440680" y="3858768"/>
            <a:ext cx="6035040" cy="768096"/>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Three quite different objectives land within a tenth of each other on LibriSpeech, and differ by twelve points on out-of-domain ASR.</a:t>
            </a:r>
            <a:endParaRPr lang="en-US" sz="1200" dirty="0"/>
          </a:p>
        </p:txBody>
      </p:sp>
      <p:sp>
        <p:nvSpPr>
          <p:cNvPr id="23" name="Shape 21"/>
          <p:cNvSpPr/>
          <p:nvPr/>
        </p:nvSpPr>
        <p:spPr>
          <a:xfrm>
            <a:off x="566928" y="4809744"/>
            <a:ext cx="11064240" cy="1005840"/>
          </a:xfrm>
          <a:prstGeom prst="roundRect">
            <a:avLst>
              <a:gd name="adj" fmla="val 4545"/>
            </a:avLst>
          </a:prstGeom>
          <a:solidFill>
            <a:srgbClr val="FFFFFF"/>
          </a:solidFill>
          <a:ln w="12700">
            <a:solidFill>
              <a:srgbClr val="DBE8EB"/>
            </a:solidFill>
            <a:prstDash val="solid"/>
          </a:ln>
        </p:spPr>
        <p:txBody>
          <a:bodyPr/>
          <a:lstStyle/>
          <a:p>
            <a:endParaRPr lang="en-US"/>
          </a:p>
        </p:txBody>
      </p:sp>
      <p:sp>
        <p:nvSpPr>
          <p:cNvPr id="24" name="Shape 22"/>
          <p:cNvSpPr/>
          <p:nvPr/>
        </p:nvSpPr>
        <p:spPr>
          <a:xfrm>
            <a:off x="822960" y="5138928"/>
            <a:ext cx="347472" cy="347472"/>
          </a:xfrm>
          <a:prstGeom prst="ellipse">
            <a:avLst/>
          </a:prstGeom>
          <a:solidFill>
            <a:srgbClr val="24798C"/>
          </a:solidFill>
          <a:ln w="12700">
            <a:solidFill>
              <a:srgbClr val="333333"/>
            </a:solidFill>
            <a:prstDash val="solid"/>
          </a:ln>
        </p:spPr>
        <p:txBody>
          <a:bodyPr/>
          <a:lstStyle/>
          <a:p>
            <a:endParaRPr lang="en-US"/>
          </a:p>
        </p:txBody>
      </p:sp>
      <p:sp>
        <p:nvSpPr>
          <p:cNvPr id="25" name="Text 23"/>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1335024" y="4956048"/>
            <a:ext cx="3931920" cy="731520"/>
          </a:xfrm>
          <a:prstGeom prst="rect">
            <a:avLst/>
          </a:prstGeom>
          <a:noFill/>
          <a:ln/>
        </p:spPr>
        <p:txBody>
          <a:bodyPr wrap="square" lIns="0" tIns="0" rIns="0" bIns="0" rtlCol="0" anchor="ctr"/>
          <a:lstStyle/>
          <a:p>
            <a:pPr marL="0" indent="0">
              <a:buNone/>
            </a:pPr>
            <a:r>
              <a:rPr lang="en-US" sz="1350" b="1" dirty="0">
                <a:solidFill>
                  <a:srgbClr val="0F252B"/>
                </a:solidFill>
                <a:latin typeface="Cambria" pitchFamily="34" charset="0"/>
                <a:ea typeface="Cambria" pitchFamily="34" charset="-122"/>
                <a:cs typeface="Cambria" pitchFamily="34" charset="-120"/>
              </a:rPr>
              <a:t>Use the whole layer stack</a:t>
            </a:r>
            <a:endParaRPr lang="en-US" sz="1350" dirty="0"/>
          </a:p>
        </p:txBody>
      </p:sp>
      <p:sp>
        <p:nvSpPr>
          <p:cNvPr id="27" name="Text 25"/>
          <p:cNvSpPr txBox="1"/>
          <p:nvPr/>
        </p:nvSpPr>
        <p:spPr>
          <a:xfrm>
            <a:off x="5440680" y="4937760"/>
            <a:ext cx="6035040" cy="768096"/>
          </a:xfrm>
          <a:prstGeom prst="rect">
            <a:avLst/>
          </a:prstGeom>
          <a:noFill/>
          <a:ln/>
        </p:spPr>
        <p:txBody>
          <a:bodyPr wrap="square" lIns="0" tIns="0" rIns="0" bIns="0" rtlCol="0" anchor="ctr"/>
          <a:lstStyle/>
          <a:p>
            <a:pPr marL="0" indent="0">
              <a:buNone/>
            </a:pPr>
            <a:r>
              <a:rPr lang="en-US" sz="1200" dirty="0">
                <a:solidFill>
                  <a:srgbClr val="27383E"/>
                </a:solidFill>
                <a:latin typeface="Calibri" pitchFamily="34" charset="0"/>
                <a:ea typeface="Calibri" pitchFamily="34" charset="-122"/>
                <a:cs typeface="Calibri" pitchFamily="34" charset="-120"/>
              </a:rPr>
              <a:t>Both papers, and the interpretability work behind them, agree: speaker information is low, content is high, and the last layer is rarely the one you want.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16323A"/>
        </a:solidFill>
        <a:effectLst/>
      </p:bgPr>
    </p:bg>
    <p:spTree>
      <p:nvGrpSpPr>
        <p:cNvPr id="1" name=""/>
        <p:cNvGrpSpPr/>
        <p:nvPr/>
      </p:nvGrpSpPr>
      <p:grpSpPr>
        <a:xfrm>
          <a:off x="0" y="0"/>
          <a:ext cx="0" cy="0"/>
          <a:chOff x="0" y="0"/>
          <a:chExt cx="0" cy="0"/>
        </a:xfrm>
      </p:grpSpPr>
      <p:sp>
        <p:nvSpPr>
          <p:cNvPr id="2" name="Shape 0"/>
          <p:cNvSpPr/>
          <p:nvPr/>
        </p:nvSpPr>
        <p:spPr>
          <a:xfrm>
            <a:off x="10515600" y="640080"/>
            <a:ext cx="380390" cy="380390"/>
          </a:xfrm>
          <a:prstGeom prst="ellipse">
            <a:avLst/>
          </a:prstGeom>
          <a:solidFill>
            <a:srgbClr val="C2DBE0"/>
          </a:solidFill>
          <a:ln w="12700">
            <a:solidFill>
              <a:srgbClr val="333333"/>
            </a:solidFill>
            <a:prstDash val="solid"/>
          </a:ln>
        </p:spPr>
        <p:txBody>
          <a:bodyPr/>
          <a:lstStyle/>
          <a:p>
            <a:endParaRPr lang="en-US"/>
          </a:p>
        </p:txBody>
      </p:sp>
      <p:sp>
        <p:nvSpPr>
          <p:cNvPr id="3" name="Shape 1"/>
          <p:cNvSpPr/>
          <p:nvPr/>
        </p:nvSpPr>
        <p:spPr>
          <a:xfrm>
            <a:off x="10735056" y="742493"/>
            <a:ext cx="380390" cy="380390"/>
          </a:xfrm>
          <a:prstGeom prst="ellipse">
            <a:avLst/>
          </a:prstGeom>
          <a:solidFill>
            <a:srgbClr val="D96F32"/>
          </a:solidFill>
          <a:ln w="12700">
            <a:solidFill>
              <a:srgbClr val="333333"/>
            </a:solidFill>
            <a:prstDash val="solid"/>
          </a:ln>
        </p:spPr>
        <p:txBody>
          <a:bodyPr/>
          <a:lstStyle/>
          <a:p>
            <a:endParaRPr lang="en-US"/>
          </a:p>
        </p:txBody>
      </p:sp>
      <p:sp>
        <p:nvSpPr>
          <p:cNvPr id="4" name="Shape 2"/>
          <p:cNvSpPr/>
          <p:nvPr/>
        </p:nvSpPr>
        <p:spPr>
          <a:xfrm>
            <a:off x="10954512" y="640080"/>
            <a:ext cx="380390" cy="380390"/>
          </a:xfrm>
          <a:prstGeom prst="ellipse">
            <a:avLst/>
          </a:prstGeom>
          <a:solidFill>
            <a:srgbClr val="8FB0B8"/>
          </a:solidFill>
          <a:ln w="12700">
            <a:solidFill>
              <a:srgbClr val="333333"/>
            </a:solidFill>
            <a:prstDash val="solid"/>
          </a:ln>
        </p:spPr>
        <p:txBody>
          <a:bodyPr/>
          <a:lstStyle/>
          <a:p>
            <a:endParaRPr lang="en-US"/>
          </a:p>
        </p:txBody>
      </p:sp>
      <p:sp>
        <p:nvSpPr>
          <p:cNvPr id="5" name="Text 3"/>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6" name="Shape 4"/>
          <p:cNvSpPr/>
          <p:nvPr/>
        </p:nvSpPr>
        <p:spPr>
          <a:xfrm>
            <a:off x="841248" y="1600200"/>
            <a:ext cx="329184" cy="329184"/>
          </a:xfrm>
          <a:prstGeom prst="ellipse">
            <a:avLst/>
          </a:prstGeom>
          <a:solidFill>
            <a:srgbClr val="D96F32"/>
          </a:solidFill>
          <a:ln w="12700">
            <a:solidFill>
              <a:srgbClr val="333333"/>
            </a:solidFill>
            <a:prstDash val="solid"/>
          </a:ln>
        </p:spPr>
        <p:txBody>
          <a:bodyPr/>
          <a:lstStyle/>
          <a:p>
            <a:endParaRPr lang="en-US"/>
          </a:p>
        </p:txBody>
      </p:sp>
      <p:sp>
        <p:nvSpPr>
          <p:cNvPr id="7" name="Text 5"/>
          <p:cNvSpPr txBox="1"/>
          <p:nvPr/>
        </p:nvSpPr>
        <p:spPr>
          <a:xfrm>
            <a:off x="841248" y="1627632"/>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517904"/>
            <a:ext cx="10058400" cy="914400"/>
          </a:xfrm>
          <a:prstGeom prst="rect">
            <a:avLst/>
          </a:prstGeom>
          <a:noFill/>
          <a:ln/>
        </p:spPr>
        <p:txBody>
          <a:bodyPr wrap="square" lIns="0" tIns="0" rIns="0" bIns="0" rtlCol="0" anchor="ctr"/>
          <a:lstStyle/>
          <a:p>
            <a:pPr marL="0" indent="0">
              <a:buNone/>
            </a:pPr>
            <a:r>
              <a:rPr lang="en-US" sz="1250" dirty="0">
                <a:solidFill>
                  <a:srgbClr val="C2DBE0"/>
                </a:solidFill>
                <a:latin typeface="Calibri" pitchFamily="34" charset="0"/>
                <a:ea typeface="Calibri" pitchFamily="34" charset="-122"/>
                <a:cs typeface="Calibri" pitchFamily="34" charset="-120"/>
              </a:rPr>
              <a:t>WavLM's emotion gain is a side effect of an objective designed for speaker tasks. What would a pre-training corruption designed specifically for paralinguistics look like — and what would you corrupt?</a:t>
            </a:r>
            <a:endParaRPr lang="en-US" sz="1250" dirty="0"/>
          </a:p>
        </p:txBody>
      </p:sp>
      <p:sp>
        <p:nvSpPr>
          <p:cNvPr id="9" name="Shape 7"/>
          <p:cNvSpPr/>
          <p:nvPr/>
        </p:nvSpPr>
        <p:spPr>
          <a:xfrm>
            <a:off x="841248" y="2532888"/>
            <a:ext cx="329184" cy="329184"/>
          </a:xfrm>
          <a:prstGeom prst="ellipse">
            <a:avLst/>
          </a:prstGeom>
          <a:solidFill>
            <a:srgbClr val="D96F32"/>
          </a:solidFill>
          <a:ln w="12700">
            <a:solidFill>
              <a:srgbClr val="333333"/>
            </a:solidFill>
            <a:prstDash val="solid"/>
          </a:ln>
        </p:spPr>
        <p:txBody>
          <a:bodyPr/>
          <a:lstStyle/>
          <a:p>
            <a:endParaRPr lang="en-US"/>
          </a:p>
        </p:txBody>
      </p:sp>
      <p:sp>
        <p:nvSpPr>
          <p:cNvPr id="10" name="Text 8"/>
          <p:cNvSpPr txBox="1"/>
          <p:nvPr/>
        </p:nvSpPr>
        <p:spPr>
          <a:xfrm>
            <a:off x="841248" y="2560320"/>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450592"/>
            <a:ext cx="10058400" cy="914400"/>
          </a:xfrm>
          <a:prstGeom prst="rect">
            <a:avLst/>
          </a:prstGeom>
          <a:noFill/>
          <a:ln/>
        </p:spPr>
        <p:txBody>
          <a:bodyPr wrap="square" lIns="0" tIns="0" rIns="0" bIns="0" rtlCol="0" anchor="ctr"/>
          <a:lstStyle/>
          <a:p>
            <a:pPr marL="0" indent="0">
              <a:buNone/>
            </a:pPr>
            <a:r>
              <a:rPr lang="en-US" sz="1250" dirty="0">
                <a:solidFill>
                  <a:srgbClr val="C2DBE0"/>
                </a:solidFill>
                <a:latin typeface="Calibri" pitchFamily="34" charset="0"/>
                <a:ea typeface="Calibri" pitchFamily="34" charset="-122"/>
                <a:cs typeface="Calibri" pitchFamily="34" charset="-120"/>
              </a:rPr>
              <a:t>Adding denoising costs a little ASR accuracy and buys a lot of speaker capability. Is a single general model the right goal, or should we accept a family of objective-specialised backbones?</a:t>
            </a:r>
            <a:endParaRPr lang="en-US" sz="1250" dirty="0"/>
          </a:p>
        </p:txBody>
      </p:sp>
      <p:sp>
        <p:nvSpPr>
          <p:cNvPr id="12" name="Shape 10"/>
          <p:cNvSpPr/>
          <p:nvPr/>
        </p:nvSpPr>
        <p:spPr>
          <a:xfrm>
            <a:off x="841248" y="3465576"/>
            <a:ext cx="329184" cy="329184"/>
          </a:xfrm>
          <a:prstGeom prst="ellipse">
            <a:avLst/>
          </a:prstGeom>
          <a:solidFill>
            <a:srgbClr val="D96F32"/>
          </a:solidFill>
          <a:ln w="12700">
            <a:solidFill>
              <a:srgbClr val="333333"/>
            </a:solidFill>
            <a:prstDash val="solid"/>
          </a:ln>
        </p:spPr>
        <p:txBody>
          <a:bodyPr/>
          <a:lstStyle/>
          <a:p>
            <a:endParaRPr lang="en-US"/>
          </a:p>
        </p:txBody>
      </p:sp>
      <p:sp>
        <p:nvSpPr>
          <p:cNvPr id="13" name="Text 11"/>
          <p:cNvSpPr txBox="1"/>
          <p:nvPr/>
        </p:nvSpPr>
        <p:spPr>
          <a:xfrm>
            <a:off x="841248" y="3493008"/>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383280"/>
            <a:ext cx="10058400" cy="914400"/>
          </a:xfrm>
          <a:prstGeom prst="rect">
            <a:avLst/>
          </a:prstGeom>
          <a:noFill/>
          <a:ln/>
        </p:spPr>
        <p:txBody>
          <a:bodyPr wrap="square" lIns="0" tIns="0" rIns="0" bIns="0" rtlCol="0" anchor="ctr"/>
          <a:lstStyle/>
          <a:p>
            <a:pPr marL="0" indent="0">
              <a:buNone/>
            </a:pPr>
            <a:r>
              <a:rPr lang="en-US" sz="1250" dirty="0">
                <a:solidFill>
                  <a:srgbClr val="C2DBE0"/>
                </a:solidFill>
                <a:latin typeface="Calibri" pitchFamily="34" charset="0"/>
                <a:ea typeface="Calibri" pitchFamily="34" charset="-122"/>
                <a:cs typeface="Calibri" pitchFamily="34" charset="-120"/>
              </a:rPr>
              <a:t>The paper reports that HuBERT's pseudo-labels produce a better second-iteration WavLM than WavLM's own. What would explain that, and what does it say about the iterative refinement story?</a:t>
            </a:r>
            <a:endParaRPr lang="en-US" sz="1250" dirty="0"/>
          </a:p>
        </p:txBody>
      </p:sp>
      <p:sp>
        <p:nvSpPr>
          <p:cNvPr id="15" name="Shape 13"/>
          <p:cNvSpPr/>
          <p:nvPr/>
        </p:nvSpPr>
        <p:spPr>
          <a:xfrm>
            <a:off x="841248" y="4398264"/>
            <a:ext cx="329184" cy="329184"/>
          </a:xfrm>
          <a:prstGeom prst="ellipse">
            <a:avLst/>
          </a:prstGeom>
          <a:solidFill>
            <a:srgbClr val="D96F32"/>
          </a:solidFill>
          <a:ln w="12700">
            <a:solidFill>
              <a:srgbClr val="333333"/>
            </a:solidFill>
            <a:prstDash val="solid"/>
          </a:ln>
        </p:spPr>
        <p:txBody>
          <a:bodyPr/>
          <a:lstStyle/>
          <a:p>
            <a:endParaRPr lang="en-US"/>
          </a:p>
        </p:txBody>
      </p:sp>
      <p:sp>
        <p:nvSpPr>
          <p:cNvPr id="16" name="Text 14"/>
          <p:cNvSpPr txBox="1"/>
          <p:nvPr/>
        </p:nvSpPr>
        <p:spPr>
          <a:xfrm>
            <a:off x="841248" y="4425696"/>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315968"/>
            <a:ext cx="10058400" cy="914400"/>
          </a:xfrm>
          <a:prstGeom prst="rect">
            <a:avLst/>
          </a:prstGeom>
          <a:noFill/>
          <a:ln/>
        </p:spPr>
        <p:txBody>
          <a:bodyPr wrap="square" lIns="0" tIns="0" rIns="0" bIns="0" rtlCol="0" anchor="ctr"/>
          <a:lstStyle/>
          <a:p>
            <a:pPr marL="0" indent="0">
              <a:buNone/>
            </a:pPr>
            <a:r>
              <a:rPr lang="en-US" sz="1250" dirty="0">
                <a:solidFill>
                  <a:srgbClr val="C2DBE0"/>
                </a:solidFill>
                <a:latin typeface="Calibri" pitchFamily="34" charset="0"/>
                <a:ea typeface="Calibri" pitchFamily="34" charset="-122"/>
                <a:cs typeface="Calibri" pitchFamily="34" charset="-120"/>
              </a:rPr>
              <a:t>Every emotion claim in this paper rests on SUPERB's IEMOCAP four-class task — the benchmark we spent a session criticising. What would a trustworthy paralinguistic entry in a benchmark like SUPERB require?</a:t>
            </a:r>
            <a:endParaRPr lang="en-US" sz="1250" dirty="0"/>
          </a:p>
        </p:txBody>
      </p:sp>
      <p:sp>
        <p:nvSpPr>
          <p:cNvPr id="18" name="Shape 16"/>
          <p:cNvSpPr/>
          <p:nvPr/>
        </p:nvSpPr>
        <p:spPr>
          <a:xfrm>
            <a:off x="841248" y="5330952"/>
            <a:ext cx="329184" cy="329184"/>
          </a:xfrm>
          <a:prstGeom prst="ellipse">
            <a:avLst/>
          </a:prstGeom>
          <a:solidFill>
            <a:srgbClr val="D96F32"/>
          </a:solidFill>
          <a:ln w="12700">
            <a:solidFill>
              <a:srgbClr val="333333"/>
            </a:solidFill>
            <a:prstDash val="solid"/>
          </a:ln>
        </p:spPr>
        <p:txBody>
          <a:bodyPr/>
          <a:lstStyle/>
          <a:p>
            <a:endParaRPr lang="en-US"/>
          </a:p>
        </p:txBody>
      </p:sp>
      <p:sp>
        <p:nvSpPr>
          <p:cNvPr id="19" name="Text 17"/>
          <p:cNvSpPr txBox="1"/>
          <p:nvPr/>
        </p:nvSpPr>
        <p:spPr>
          <a:xfrm>
            <a:off x="841248" y="5358384"/>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248656"/>
            <a:ext cx="10058400" cy="914400"/>
          </a:xfrm>
          <a:prstGeom prst="rect">
            <a:avLst/>
          </a:prstGeom>
          <a:noFill/>
          <a:ln/>
        </p:spPr>
        <p:txBody>
          <a:bodyPr wrap="square" lIns="0" tIns="0" rIns="0" bIns="0" rtlCol="0" anchor="ctr"/>
          <a:lstStyle/>
          <a:p>
            <a:pPr marL="0" indent="0">
              <a:buNone/>
            </a:pPr>
            <a:r>
              <a:rPr lang="en-US" sz="1250" dirty="0">
                <a:solidFill>
                  <a:srgbClr val="C2DBE0"/>
                </a:solidFill>
                <a:latin typeface="Calibri" pitchFamily="34" charset="0"/>
                <a:ea typeface="Calibri" pitchFamily="34" charset="-122"/>
                <a:cs typeface="Calibri" pitchFamily="34" charset="-120"/>
              </a:rPr>
              <a:t>Three objectives now tie on LibriSpeech. What should replace it as the benchmark that tells us whether speech representation learning is still making progress?</a:t>
            </a:r>
            <a:endParaRPr lang="en-US" sz="1250" dirty="0"/>
          </a:p>
        </p:txBody>
      </p:sp>
      <p:sp>
        <p:nvSpPr>
          <p:cNvPr id="21" name="Text 19"/>
          <p:cNvSpPr txBox="1"/>
          <p:nvPr/>
        </p:nvSpPr>
        <p:spPr>
          <a:xfrm>
            <a:off x="822960" y="6236208"/>
            <a:ext cx="10607040" cy="274320"/>
          </a:xfrm>
          <a:prstGeom prst="rect">
            <a:avLst/>
          </a:prstGeom>
          <a:noFill/>
          <a:ln/>
        </p:spPr>
        <p:txBody>
          <a:bodyPr wrap="square" lIns="0" tIns="0" rIns="0" bIns="0" rtlCol="0" anchor="ctr"/>
          <a:lstStyle/>
          <a:p>
            <a:pPr marL="0" indent="0">
              <a:buNone/>
            </a:pPr>
            <a:r>
              <a:rPr lang="en-US" sz="1000" dirty="0">
                <a:solidFill>
                  <a:srgbClr val="A5C0C7"/>
                </a:solidFill>
                <a:latin typeface="Calibri" pitchFamily="34" charset="0"/>
                <a:ea typeface="Calibri" pitchFamily="34" charset="-122"/>
                <a:cs typeface="Calibri" pitchFamily="34" charset="-120"/>
              </a:rPr>
              <a:t>Chen et al. (2022), IEEE JSTSP  ·  arXiv:2110.13900  ·  Hsu et al. (2021), IEEE/ACM TASLP 29, 3451–3460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6696</Words>
  <Application>Microsoft Macintosh PowerPoint</Application>
  <PresentationFormat>Widescreen</PresentationFormat>
  <Paragraphs>433</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WavLM (Chen et al., 2022)</dc:title>
  <dc:subject>PptxGenJS Presentation</dc:subject>
  <dc:creator>Seminar</dc:creator>
  <cp:lastModifiedBy>Gao, Ashley</cp:lastModifiedBy>
  <cp:revision>2</cp:revision>
  <cp:lastPrinted>2026-09-15T14:46:49Z</cp:lastPrinted>
  <dcterms:created xsi:type="dcterms:W3CDTF">2026-09-10T13:58:27Z</dcterms:created>
  <dcterms:modified xsi:type="dcterms:W3CDTF">2026-09-15T14:47:31Z</dcterms:modified>
</cp:coreProperties>
</file>