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8" r:id="rId3"/>
    <p:sldId id="259" r:id="rId4"/>
    <p:sldId id="260" r:id="rId5"/>
    <p:sldId id="261" r:id="rId6"/>
    <p:sldId id="262" r:id="rId7"/>
    <p:sldId id="263" r:id="rId8"/>
    <p:sldId id="264" r:id="rId9"/>
    <p:sldId id="290"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B524C"/>
                </a:solidFill>
                <a:latin typeface="Calibri"/>
              </a:defRPr>
            </a:pPr>
            <a:r>
              <a:rPr lang="en-US" sz="1200" b="0" i="0" u="none" strike="noStrike">
                <a:solidFill>
                  <a:srgbClr val="6B524C"/>
                </a:solidFill>
                <a:latin typeface="Calibri"/>
              </a:rPr>
              <a:t>Higher is better</a:t>
            </a:r>
          </a:p>
        </c:rich>
      </c:tx>
      <c:overlay val="0"/>
    </c:title>
    <c:autoTitleDeleted val="0"/>
    <c:plotArea>
      <c:layout/>
      <c:barChart>
        <c:barDir val="bar"/>
        <c:grouping val="clustered"/>
        <c:varyColors val="0"/>
        <c:ser>
          <c:idx val="0"/>
          <c:order val="0"/>
          <c:tx>
            <c:strRef>
              <c:f>Sheet1!$B$1</c:f>
              <c:strCache>
                <c:ptCount val="1"/>
                <c:pt idx="0">
                  <c:v>MELD accuracy</c:v>
                </c:pt>
              </c:strCache>
            </c:strRef>
          </c:tx>
          <c:spPr>
            <a:solidFill>
              <a:srgbClr val="8C4A3C"/>
            </a:solidFill>
            <a:effectLst/>
          </c:spPr>
          <c:invertIfNegative val="0"/>
          <c:dLbls>
            <c:numFmt formatCode="0.000" sourceLinked="0"/>
            <c:spPr>
              <a:noFill/>
              <a:ln>
                <a:noFill/>
              </a:ln>
              <a:effectLst/>
            </c:spPr>
            <c:txPr>
              <a:bodyPr/>
              <a:lstStyle/>
              <a:p>
                <a:pPr>
                  <a:defRPr sz="1000" b="0" i="0" u="none" strike="noStrike">
                    <a:solidFill>
                      <a:srgbClr val="3422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Pengi</c:v>
                </c:pt>
                <c:pt idx="1">
                  <c:v>MERaLiON</c:v>
                </c:pt>
                <c:pt idx="2">
                  <c:v>SALMONN</c:v>
                </c:pt>
                <c:pt idx="3">
                  <c:v>Whisper + Llama3</c:v>
                </c:pt>
                <c:pt idx="4">
                  <c:v>WavLLM</c:v>
                </c:pt>
                <c:pt idx="5">
                  <c:v>WavLM-large</c:v>
                </c:pt>
                <c:pt idx="6">
                  <c:v>Qwen2-Audio</c:v>
                </c:pt>
                <c:pt idx="7">
                  <c:v>AffectGPT</c:v>
                </c:pt>
                <c:pt idx="8">
                  <c:v>Qwen-Audio</c:v>
                </c:pt>
                <c:pt idx="9">
                  <c:v>OSUM</c:v>
                </c:pt>
                <c:pt idx="10">
                  <c:v>BLSP-Emo</c:v>
                </c:pt>
                <c:pt idx="11">
                  <c:v>EAA</c:v>
                </c:pt>
              </c:strCache>
            </c:strRef>
          </c:cat>
          <c:val>
            <c:numRef>
              <c:f>Sheet1!$B$2:$B$13</c:f>
              <c:numCache>
                <c:formatCode>General</c:formatCode>
                <c:ptCount val="12"/>
                <c:pt idx="0">
                  <c:v>0.28899999999999998</c:v>
                </c:pt>
                <c:pt idx="1">
                  <c:v>0.30199999999999999</c:v>
                </c:pt>
                <c:pt idx="2">
                  <c:v>0.33100000000000002</c:v>
                </c:pt>
                <c:pt idx="3">
                  <c:v>0.33400000000000002</c:v>
                </c:pt>
                <c:pt idx="4">
                  <c:v>0.41099999999999998</c:v>
                </c:pt>
                <c:pt idx="5">
                  <c:v>0.54200000000000004</c:v>
                </c:pt>
                <c:pt idx="6">
                  <c:v>0.55300000000000005</c:v>
                </c:pt>
                <c:pt idx="7">
                  <c:v>0.55700000000000005</c:v>
                </c:pt>
                <c:pt idx="8">
                  <c:v>0.55700000000000005</c:v>
                </c:pt>
                <c:pt idx="9">
                  <c:v>0.56599999999999995</c:v>
                </c:pt>
                <c:pt idx="10">
                  <c:v>0.57299999999999995</c:v>
                </c:pt>
                <c:pt idx="11">
                  <c:v>0.68700000000000006</c:v>
                </c:pt>
              </c:numCache>
            </c:numRef>
          </c:val>
          <c:extLst>
            <c:ext xmlns:c16="http://schemas.microsoft.com/office/drawing/2014/chart" uri="{C3380CC4-5D6E-409C-BE32-E72D297353CC}">
              <c16:uniqueId val="{00000000-49F4-AF4B-BF7C-0B06032CAB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524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F0E7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B524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B524C"/>
                </a:solidFill>
                <a:latin typeface="Calibri"/>
              </a:defRPr>
            </a:pPr>
            <a:r>
              <a:rPr lang="en-US" sz="1200" b="0" i="0" u="none" strike="noStrike">
                <a:solidFill>
                  <a:srgbClr val="6B524C"/>
                </a:solidFill>
                <a:latin typeface="Calibri"/>
              </a:rPr>
              <a:t>Higher is better; T+A+V indicates text, audio and video</a:t>
            </a:r>
          </a:p>
        </c:rich>
      </c:tx>
      <c:overlay val="0"/>
    </c:title>
    <c:autoTitleDeleted val="0"/>
    <c:plotArea>
      <c:layout/>
      <c:barChart>
        <c:barDir val="bar"/>
        <c:grouping val="clustered"/>
        <c:varyColors val="0"/>
        <c:ser>
          <c:idx val="0"/>
          <c:order val="0"/>
          <c:tx>
            <c:strRef>
              <c:f>Sheet1!$B$1</c:f>
              <c:strCache>
                <c:ptCount val="1"/>
                <c:pt idx="0">
                  <c:v>MELD accuracy</c:v>
                </c:pt>
              </c:strCache>
            </c:strRef>
          </c:tx>
          <c:spPr>
            <a:solidFill>
              <a:srgbClr val="8C4A3C"/>
            </a:solidFill>
            <a:effectLst/>
          </c:spPr>
          <c:invertIfNegative val="0"/>
          <c:dLbls>
            <c:numFmt formatCode="0.000" sourceLinked="0"/>
            <c:spPr>
              <a:noFill/>
              <a:ln>
                <a:noFill/>
              </a:ln>
              <a:effectLst/>
            </c:spPr>
            <c:txPr>
              <a:bodyPr/>
              <a:lstStyle/>
              <a:p>
                <a:pPr>
                  <a:defRPr sz="1000" b="0" i="0" u="none" strike="noStrike">
                    <a:solidFill>
                      <a:srgbClr val="3422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UniMSE (T+A+V)</c:v>
                </c:pt>
                <c:pt idx="1">
                  <c:v>MPT-HCL (T+A+V)</c:v>
                </c:pt>
                <c:pt idx="2">
                  <c:v>SDT (T+A+V)</c:v>
                </c:pt>
                <c:pt idx="3">
                  <c:v>CFN-ESA (T+A+V)</c:v>
                </c:pt>
                <c:pt idx="4">
                  <c:v>M2FNet (T+A+V)</c:v>
                </c:pt>
                <c:pt idx="5">
                  <c:v>SACL-LSTM (text only)</c:v>
                </c:pt>
                <c:pt idx="6">
                  <c:v>Mamba-like (T+A+V)</c:v>
                </c:pt>
                <c:pt idx="7">
                  <c:v>GS-MCC (T+A+V)</c:v>
                </c:pt>
                <c:pt idx="8">
                  <c:v>DF-ERC (T+A+V)</c:v>
                </c:pt>
                <c:pt idx="9">
                  <c:v>ELR-GNN (T+A+V)</c:v>
                </c:pt>
                <c:pt idx="10">
                  <c:v>EAA (text + audio)</c:v>
                </c:pt>
              </c:strCache>
            </c:strRef>
          </c:cat>
          <c:val>
            <c:numRef>
              <c:f>Sheet1!$B$2:$B$12</c:f>
              <c:numCache>
                <c:formatCode>General</c:formatCode>
                <c:ptCount val="11"/>
                <c:pt idx="0">
                  <c:v>0.65100000000000002</c:v>
                </c:pt>
                <c:pt idx="1">
                  <c:v>0.65900000000000003</c:v>
                </c:pt>
                <c:pt idx="2">
                  <c:v>0.67600000000000005</c:v>
                </c:pt>
                <c:pt idx="3">
                  <c:v>0.67900000000000005</c:v>
                </c:pt>
                <c:pt idx="4">
                  <c:v>0.67900000000000005</c:v>
                </c:pt>
                <c:pt idx="5">
                  <c:v>0.67900000000000005</c:v>
                </c:pt>
                <c:pt idx="6">
                  <c:v>0.68</c:v>
                </c:pt>
                <c:pt idx="7">
                  <c:v>0.68100000000000005</c:v>
                </c:pt>
                <c:pt idx="8">
                  <c:v>0.68300000000000005</c:v>
                </c:pt>
                <c:pt idx="9">
                  <c:v>0.68700000000000006</c:v>
                </c:pt>
                <c:pt idx="10">
                  <c:v>0.68700000000000006</c:v>
                </c:pt>
              </c:numCache>
            </c:numRef>
          </c:val>
          <c:extLst>
            <c:ext xmlns:c16="http://schemas.microsoft.com/office/drawing/2014/chart" uri="{C3380CC4-5D6E-409C-BE32-E72D297353CC}">
              <c16:uniqueId val="{00000000-2851-5342-934D-596CFD35A6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B524C"/>
                </a:solidFill>
                <a:latin typeface="Arial"/>
              </a:defRPr>
            </a:pPr>
            <a:endParaRPr lang="en-US"/>
          </a:p>
        </c:txPr>
        <c:crossAx val="2094734552"/>
        <c:crosses val="autoZero"/>
        <c:auto val="1"/>
        <c:lblAlgn val="ctr"/>
        <c:lblOffset val="100"/>
        <c:noMultiLvlLbl val="1"/>
      </c:catAx>
      <c:valAx>
        <c:axId val="2094734552"/>
        <c:scaling>
          <c:orientation val="minMax"/>
          <c:min val="0.6"/>
        </c:scaling>
        <c:delete val="0"/>
        <c:axPos val="b"/>
        <c:majorGridlines>
          <c:spPr>
            <a:ln w="12700" cap="flat">
              <a:solidFill>
                <a:srgbClr val="F0E7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B524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B524C"/>
                </a:solidFill>
                <a:latin typeface="Calibri"/>
              </a:defRPr>
            </a:pPr>
            <a:r>
              <a:rPr lang="en-US" sz="1200" b="0" i="0" u="none" strike="noStrike">
                <a:solidFill>
                  <a:srgbClr val="6B524C"/>
                </a:solidFill>
                <a:latin typeface="Calibri"/>
              </a:rPr>
              <a:t>Same model throughout; only the text given to the LLM changes</a:t>
            </a:r>
          </a:p>
        </c:rich>
      </c:tx>
      <c:overlay val="0"/>
    </c:title>
    <c:autoTitleDeleted val="0"/>
    <c:plotArea>
      <c:layout/>
      <c:barChart>
        <c:barDir val="col"/>
        <c:grouping val="clustered"/>
        <c:varyColors val="0"/>
        <c:ser>
          <c:idx val="0"/>
          <c:order val="0"/>
          <c:tx>
            <c:strRef>
              <c:f>Sheet1!$B$1</c:f>
              <c:strCache>
                <c:ptCount val="1"/>
                <c:pt idx="0">
                  <c:v>MELD accuracy</c:v>
                </c:pt>
              </c:strCache>
            </c:strRef>
          </c:tx>
          <c:spPr>
            <a:solidFill>
              <a:srgbClr val="C0A49E"/>
            </a:solidFill>
            <a:effectLst/>
          </c:spPr>
          <c:invertIfNegative val="0"/>
          <c:dPt>
            <c:idx val="0"/>
            <c:invertIfNegative val="0"/>
            <c:bubble3D val="0"/>
            <c:spPr>
              <a:solidFill>
                <a:srgbClr val="C0A49E"/>
              </a:solidFill>
              <a:effectLst/>
            </c:spPr>
            <c:extLst>
              <c:ext xmlns:c16="http://schemas.microsoft.com/office/drawing/2014/chart" uri="{C3380CC4-5D6E-409C-BE32-E72D297353CC}">
                <c16:uniqueId val="{00000001-93F0-AC41-9608-3D26CF0B7AF0}"/>
              </c:ext>
            </c:extLst>
          </c:dPt>
          <c:dPt>
            <c:idx val="1"/>
            <c:invertIfNegative val="0"/>
            <c:bubble3D val="0"/>
            <c:spPr>
              <a:solidFill>
                <a:srgbClr val="8C4A3C"/>
              </a:solidFill>
              <a:effectLst/>
            </c:spPr>
            <c:extLst>
              <c:ext xmlns:c16="http://schemas.microsoft.com/office/drawing/2014/chart" uri="{C3380CC4-5D6E-409C-BE32-E72D297353CC}">
                <c16:uniqueId val="{00000003-93F0-AC41-9608-3D26CF0B7AF0}"/>
              </c:ext>
            </c:extLst>
          </c:dPt>
          <c:dPt>
            <c:idx val="2"/>
            <c:invertIfNegative val="0"/>
            <c:bubble3D val="0"/>
            <c:spPr>
              <a:solidFill>
                <a:srgbClr val="6E8B5F"/>
              </a:solidFill>
              <a:effectLst/>
            </c:spPr>
            <c:extLst>
              <c:ext xmlns:c16="http://schemas.microsoft.com/office/drawing/2014/chart" uri="{C3380CC4-5D6E-409C-BE32-E72D297353CC}">
                <c16:uniqueId val="{00000005-93F0-AC41-9608-3D26CF0B7AF0}"/>
              </c:ext>
            </c:extLst>
          </c:dPt>
          <c:dLbls>
            <c:numFmt formatCode="0.000" sourceLinked="0"/>
            <c:spPr>
              <a:noFill/>
              <a:ln>
                <a:noFill/>
              </a:ln>
              <a:effectLst/>
            </c:spPr>
            <c:txPr>
              <a:bodyPr/>
              <a:lstStyle/>
              <a:p>
                <a:pPr>
                  <a:defRPr sz="1200" b="0" i="0" u="none" strike="noStrike">
                    <a:solidFill>
                      <a:srgbClr val="3422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utterance text
(fused audio only)</c:v>
                </c:pt>
                <c:pt idx="1">
                  <c:v>Current utterance
text added</c:v>
                </c:pt>
                <c:pt idx="2">
                  <c:v>Current + preceding
utterance text</c:v>
                </c:pt>
              </c:strCache>
            </c:strRef>
          </c:cat>
          <c:val>
            <c:numRef>
              <c:f>Sheet1!$B$2:$B$4</c:f>
              <c:numCache>
                <c:formatCode>General</c:formatCode>
                <c:ptCount val="3"/>
                <c:pt idx="0">
                  <c:v>0.52300000000000002</c:v>
                </c:pt>
                <c:pt idx="1">
                  <c:v>0.66700000000000004</c:v>
                </c:pt>
                <c:pt idx="2">
                  <c:v>0.68700000000000006</c:v>
                </c:pt>
              </c:numCache>
            </c:numRef>
          </c:val>
          <c:extLst>
            <c:ext xmlns:c16="http://schemas.microsoft.com/office/drawing/2014/chart" uri="{C3380CC4-5D6E-409C-BE32-E72D297353CC}">
              <c16:uniqueId val="{00000006-93F0-AC41-9608-3D26CF0B7A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B524C"/>
                </a:solidFill>
                <a:latin typeface="Arial"/>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F0E7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24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6B524C"/>
                </a:solidFill>
                <a:latin typeface="Calibri"/>
              </a:defRPr>
            </a:pPr>
            <a:r>
              <a:rPr lang="en-US" sz="1150" b="0" i="0" u="none" strike="noStrike">
                <a:solidFill>
                  <a:srgbClr val="6B524C"/>
                </a:solidFill>
                <a:latin typeface="Calibri"/>
              </a:rPr>
              <a:t>Protocols differ between rows — read as a rough trajectory, not a leaderboard</a:t>
            </a:r>
          </a:p>
        </c:rich>
      </c:tx>
      <c:overlay val="0"/>
    </c:title>
    <c:autoTitleDeleted val="0"/>
    <c:plotArea>
      <c:layout/>
      <c:barChart>
        <c:barDir val="col"/>
        <c:grouping val="clustered"/>
        <c:varyColors val="0"/>
        <c:ser>
          <c:idx val="0"/>
          <c:order val="0"/>
          <c:tx>
            <c:strRef>
              <c:f>Sheet1!$B$1</c:f>
              <c:strCache>
                <c:ptCount val="1"/>
                <c:pt idx="0">
                  <c:v>MELD accuracy</c:v>
                </c:pt>
              </c:strCache>
            </c:strRef>
          </c:tx>
          <c:spPr>
            <a:solidFill>
              <a:srgbClr val="8C4A3C"/>
            </a:solidFill>
            <a:effectLst/>
          </c:spPr>
          <c:invertIfNegative val="0"/>
          <c:dLbls>
            <c:numFmt formatCode="0.000" sourceLinked="0"/>
            <c:spPr>
              <a:noFill/>
              <a:ln>
                <a:noFill/>
              </a:ln>
              <a:effectLst/>
            </c:spPr>
            <c:txPr>
              <a:bodyPr/>
              <a:lstStyle/>
              <a:p>
                <a:pPr>
                  <a:defRPr sz="1100" b="0" i="0" u="none" strike="noStrike">
                    <a:solidFill>
                      <a:srgbClr val="3422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Pengi
(NeurIPS 2023)</c:v>
                </c:pt>
                <c:pt idx="1">
                  <c:v>SALMONN
(ICLR 2024)</c:v>
                </c:pt>
                <c:pt idx="2">
                  <c:v>CLEP-DG
(Interspeech 2025)</c:v>
                </c:pt>
                <c:pt idx="3">
                  <c:v>WavLM-large
(JSTSP 2022)</c:v>
                </c:pt>
                <c:pt idx="4">
                  <c:v>Qwen-Audio
(2023)</c:v>
                </c:pt>
                <c:pt idx="5">
                  <c:v>EAA
(Interspeech 2025)</c:v>
                </c:pt>
              </c:strCache>
            </c:strRef>
          </c:cat>
          <c:val>
            <c:numRef>
              <c:f>Sheet1!$B$2:$B$7</c:f>
              <c:numCache>
                <c:formatCode>General</c:formatCode>
                <c:ptCount val="6"/>
                <c:pt idx="0">
                  <c:v>0.28899999999999998</c:v>
                </c:pt>
                <c:pt idx="1">
                  <c:v>0.33100000000000002</c:v>
                </c:pt>
                <c:pt idx="2">
                  <c:v>0.501</c:v>
                </c:pt>
                <c:pt idx="3">
                  <c:v>0.54200000000000004</c:v>
                </c:pt>
                <c:pt idx="4">
                  <c:v>0.55700000000000005</c:v>
                </c:pt>
                <c:pt idx="5">
                  <c:v>0.68700000000000006</c:v>
                </c:pt>
              </c:numCache>
            </c:numRef>
          </c:val>
          <c:extLst>
            <c:ext xmlns:c16="http://schemas.microsoft.com/office/drawing/2014/chart" uri="{C3380CC4-5D6E-409C-BE32-E72D297353CC}">
              <c16:uniqueId val="{00000000-B71A-9840-B26C-4CE2DC30C48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24C"/>
                </a:solidFill>
                <a:latin typeface="Arial"/>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F0E7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24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57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This session is the pay-off for the whole series, so open by naming that. Across six sessions we have found the same thing every time: audio language models are impressive at almost everything and thin at emotion. Pengi was at chance zero-shot on CREMA-D. SALMONN got 0.69 on IEMOCAP against an 0.81 specialist. Qwen-Audio reported one weighted accuracy on MELD. SUPERB gave paralinguistics one task out of fifteen.
This paper takes that gap as its starting point and asks what it would take to close it. It is a five-page Interspeech paper, so most of our ninety minutes goes on interpretation and on connecting it to everything we have read — not on exposition.
Note for whoever presents: this is a William &amp; Mary paper, so the appraisal sections are framed as open threads and next experiments rather than as complaints. That framing is more useful anyway.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[2:30–4:30] Stakes.
The dark card is the reason this paper closes the series. Its Table 1 is effectively a roll call of everything we have read.
One precision point to establish now and use throughout: the abstract says 'improving accuracy by 11.4%'. That is 0.687 minus 0.573, which is 11.4 percentage points, not a relative improvement. As a relative gain it would be about 20%. The phrasing is standard in the field and worth reading carefully — we have caught the same ambiguity in other papers this term.
The compute figure matters too: one H100, LoRA rank 2, batch size 2. Against Qwen-Audio's 500,000 pre-training steps at Alibaba, this is an academic-scale result.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[4:40–7:00] The running finding.
Take this slowly — it is the accumulated verdict of the term and it is what makes the paper worth a full session.
Four independent causes, and they compound. Noisy labels set a low ceiling. Benchmarks that under-weight emotion mean nobody optimises for it. Objectives built for transcription actively remove the signal. And the models that result are trained on emotion data that is a rounding error in their mixes.
EAA attacks the fourth and, partly, the third. It does not attack the first two, and we should be clear about that when we get to the appraisal.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[7:00–9:20] The two challenges.
Credit the survey — it is accurate, and we can verify it from our own reading rather than taking it on trust. That is unusual and it is a benefit of having read the baselines.
The 'What?' example in the second card is the best one-line statement of the context problem anywhere in the term's reading. Use it.
The last line of the dark card is the question to plant now and answer in section 4. A correct diagnosis and a large improvement do not by themselves establish that the diagnosis explains the improvement.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[9:20–11:20] Why fusion.
The dark card is the connection back to the corpora sessions and it is worth making explicitly. CREMA-D established that disgust is a face emotion, anger benefits from the voice, and sadness is weakly carried by either — so a fixed weighting across the two channels is provably wrong.
Here the two channels are acoustic and linguistic rather than audio and visual, but the argument transfers: if different emotions live in different channels, the fusion has to be adaptive.
Note this also connects to the CLEP-DG session's framing — that paper separated emotional content from acoustic environment; this one separates emotional content from linguistic content.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[11:20–11:30]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[11:30–14:00] The architecture. Leave this up whenever someone gets lost later.
Walk the two encoder paths, the fusion block, then the text path into LLaMA.
The first bullet is a design choice worth noticing. Pengi trained its audio encoder fully; SALMONN froze both encoders entirely; LTU trained its whole audio branch. Here it is the last two layers of each — a compromise that gives some adaptation without the compute of full training.
The last bullet connects to the whole series: like every model since Pengi, the output is generated text, which means the evaluation has to map free text onto the seven MELD classes. The paper does not describe how that mapping is done, and we come back to that.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2E8A9-4071-7724-C888-2842F607B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17D43-E218-3435-E774-C23F6743F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43DE1-3D5F-24D5-79FA-B1C0FB6BA03F}"/>
              </a:ext>
            </a:extLst>
          </p:cNvPr>
          <p:cNvSpPr>
            <a:spLocks noGrp="1"/>
          </p:cNvSpPr>
          <p:nvPr>
            <p:ph type="body" idx="1"/>
          </p:nvPr>
        </p:nvSpPr>
        <p:spPr/>
        <p:txBody>
          <a:bodyPr/>
          <a:lstStyle/>
          <a:p>
            <a:r>
              <a:rPr lang="en-US" dirty="0"/>
              <a:t>[11:30–14:00] The architecture. Leave this up whenever someone gets lost later.
Walk the two encoder paths, the fusion block, then the text path into LLaMA.
The first bullet is a design choice worth noticing. Pengi trained its audio encoder fully; SALMONN froze both encoders entirely; LTU trained its whole audio branch. Here it is the last two layers of each — a compromise that gives some adaptation without the compute of full training.
The last bullet connects to the whole series: like every model since Pengi, the output is generated text, which means the evaluation has to map free text onto the seven MELD classes. The paper does not describe how that mapping is done, and we come back to that.</a:t>
            </a:r>
          </a:p>
        </p:txBody>
      </p:sp>
      <p:sp>
        <p:nvSpPr>
          <p:cNvPr id="4" name="Slide Number Placeholder 3">
            <a:extLst>
              <a:ext uri="{FF2B5EF4-FFF2-40B4-BE49-F238E27FC236}">
                <a16:creationId xmlns:a16="http://schemas.microsoft.com/office/drawing/2014/main" id="{B169E7FE-91BC-7BBF-EAE1-FA73C1A5DA0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6847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[14:00–16:20] The two encoders.
This is where the series pays off: we have read both encoders in full and can evaluate the choice rather than accept it.
The dark card is the sharpest technical question in the deck and it is a genuinely open one. Pasad and colleagues showed the autoencoder behaviour: HuBERT's deepest layers move back toward the encoder output because the objective is self-predictive. If the model takes the final layer, the 'semantic' label is doing less work than the name suggests.
Deliver this as a question, not a verdict — it may well be that the last hidden states still carry plenty, and fine-tuning them changes what they encode. But it is the first thing to check, and it suggests an easy experiment: sweep the layer, or learn a weighted sum as SUPERB and WavLM 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[16:20–18:20] Alignment.
These three steps are easy to skim and worth two minutes, because cross-attention between two streams only means something if the streams are commensurable.
The dark card is a fair technical question rather than a criticism. Both HuBERT and BEATs output at 50 Hz — SALMONN's paper states this explicitly for the same pair — so the frame rates do match, which is presumably why this works. Worth saying that the coincidence is doing real work.
If asked why not resample or interpolate instead of pad: attention can in principle learn to align across a temporal offset, since every query sees every key. Padding only fixes the tensor shapes.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[18:20–20:40] The mechanism.
The equations are simple and the intuition in the two cards is what people should carry away. Explain the query-key-value roles concretely: in Att_s, the semantic side chooses what to look at in the acoustic side.
The last sentence of the dark card is an important honesty point and a research opportunity for an interpretability-minded audience. The adaptivity claim is a hypothesis about what the attention learns, and attention maps are cheap to inspect. Showing that acoustic weight rises on prosody-carried emotions and falls on lexically explicit ones would turn the motivating story into a result.
That is one of the five experiments on the appraisal slide, so flag it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[20:40–22:40] The concatenation.
The second card is the mechanistic reason and it is worth spelling out, because 'we keep the originals too' sounds like hedging until you see why it is necessary.
The dark card is the connection to the series and a genuinely useful generalisation. Every model we have read that works well gives the downstream component multiple views rather than one: SUPERB's weighted layer sum, WavLM's aggregation, LTU's closed-plus-open-ended mixture, and here the four concatenated streams.
One consequence worth noting: the fused representation is four times the width of a single stream, so the projection into LLaMA's hidden space is doing dimensional reduction as well as alignment.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[22:40–22:50]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[22:40–25:00] Context-aware instruction tuning.
The mechanism is simple and you can move quickly through the first two cards.
The dark card sets up the most important reading in the deck, so plant it carefully and do not resolve it yet. The paper's method section reads as though the preceding *audio* is being incorporated; the ablation table's own description says 'no additional text information about the input audio'. Those are different claims and the ablation numbers only make sense under the second reading.
Deliver this as genuine ambiguity in the write-up rather than as a caught error — the fix is one clarifying sentence, and it changes how a reader interprets the headline number.
Note also: only one preceding utterance, not a window. That is a deliberate minimal choice and it is ablatable.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[25:00–27:00] Implementation.
Do not read the table. Point at three rows: LoRA rank, batch size, and hardware.
LoRA rank 2 is remarkably low — SALMONN used 8, LTU used 8. Rank 2 on LLaMA-3-8B is a very small adaptation budget. Read alongside the prompt-tuning session, that is interesting rather than alarming: restricted capacity is what gave Lester's models their domain robustness. It does suggest the LLM is doing very little adapting and the work is happening in the fusion block.
Batch size 2 with no reported accumulation is worth noting for anyone reproducing this.
The footnote is the reproducibility gap and it is the cheapest thing to fix in an extended version: epochs, seeds, and variance across runs.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[27:00–29:00] Recap.
Read the four sentences and let people write them down.
Then set up Part II with one line: the results are strong, and one three-row ablation table tells you something about where they come from that the headline number does not.
Take quick clarifying questions on the method now rather than after the break.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[37:00–37:10] Section marker. Welcome people 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[37:10–39:40] The main table.
Walk the chart bottom to top. The shape is a story about the field: early audio LLMs near chance, the 2023–24 generation clustered in the mid-fifties, and then a jump.
The WavLM observation is worth dwelling on and connects to the SUPERB session, where filter banks beat half the self-supervised field on speaker verification. Here a frozen WavLM encoder beats Pengi, MERaLiON, SALMONN and WavLLM. Adding a language model does not automatically help.
Be careful about provenance: the table marks its sources — some numbers are cited from the original papers, some from AudioBench, some from Qwen-Audio's paper, and some were run by the authors. That is properly disclosed and it does mean the protocols differ. We come to that.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[39:40–42:00] Reading the table.
This is a reading-skills slide and it applies to every leaderboard we have seen this term, not just this one. Qwen-Audio's table had exactly the same structure.
The second row is the one with real teeth for this paper. Pengi's authors devoted a whole section to the problem of scoring a text generator on a closed set, and identified text-matching errors as a distinct error category. If EAA's label mapping is more permissive than a baseline's, some of the gap is mapping rather than modelling. Nobody can tell from the paper — which makes it a cheap thing to specify.
The third row is the reporting gap we have flagged in AffectNet, CLEP-DG and Qwen-Audio. It recurs because the field's convention is accuracy, not because any one paper chose badly.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[42:00–44:20] Traditional methods.
The second bullet is the paper's explanation for why audio LLMs generally underperform classifiers and it is a good one — it is the same generative-interface cost that Pengi's error taxonomy identified.
The fourth bullet is the caution. Eleven systems within four points of each other, on a single test set, with no variance reported, means the ordering at the top is not very meaningful. EAA tying ELR-GNN is the right claim; beating it would not be.
One row on this chart deserves its own slide, and it is next.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[44:20–46:40] The text-only baseline. Protect this slide.
This observation is available in the paper's own Table 2 and is not commented on. Be careful to frame it correctly: it is not a criticism of EAA, it is an observation about MELD and about the whole multimodal-conversation literature.
Look at the spread again. Text alone: 0.679. Text plus audio plus video, across seven different systems: 0.651 to 0.687. The extra modalities are contributing at most a point, and sometimes nothing.
That should make everyone in the room suspicious of MELD as a testbed for audio emotion, and it connects directly to the corpora sessions: MELD is Friends dialogue, where the script carries the emotion and the delivery is professional acting. Ask the room what dataset would separate the channels better — MSP-Podcast and IEMOCAP are the obvious answers.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[46:40–49:40] The context ablation. Protect this slide above all others.
Deliver the numbers plainly and let them land before interpreting. 0.523 with audio alone. 0.667 once the model can read what was said. 0.687 once it can also read the previous line.
Be scrupulous about what this does and does not show. It does not show the paper is wrong — EAA at 0.687 is the best audio-LLM result on MELD and the system works. What it shows is where the performance comes from, and it is mostly from text.
It also resolves the ambiguity we parked before the break: the context is text, not audio. Row one is explicitly described as having no text information.
And it reframes the title. 'Context-aware instruction tuning' is credited with the improvement, and in this table the preceding utterance contributes 2.0 points while the current transcript contributes 14.4.</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[49:40–52:20] What it implies.
This slide is the constructive half of the previous one. Offer all three readings as live, because they are — the ablation does not distinguish them.
The dark card is the key experiment and it should be stated as the deck's main recommendation. A text-only control is cheap, it is the natural complement to the audio-only row the paper already has, and together they would bracket the contribution of each channel.
Reading three is worth defending properly so this does not sound one-sided. Multimodal fusion often is not decomposable: the fused representation can be useless without an anchor and valuable with one. If that is what is happening here, the audio-only row understates the audio contribution, and only the text-only control would reveal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[52:20–54:40] The attention ablation.
Say plainly that this comparison is presented as a bar figure without a numeric table, which is why this slide gives the ordering rather than values. If you have the PDF, project Figure 2 here — it makes the point faster.
The directional asymmetry in row three is the interesting finding and it is under-explained. Why should acoustic-as-query beat semantic-as-query? One hypothesis worth putting to the room: there are more acoustic frames than word tokens, so acoustic-as-query produces a longer, finer-grained output sequence and retains more temporal detail.
The self-attention row is the honest one: a model with no cross-modal interaction at all still does 'relatively well'. That bounds how much the dual mechanism is worth, and a number would bound it precisely.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[54:40–54:50]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[54:50–57:20] Appraisal.
Give the strengths their due first and mean them. The mechanism is clean, the diagnosis is correct, and the ablation that creates the paper's main interpretive problem is one the authors chose to report. Many papers would have shown only the second and third rows.
Of the open threads, the first two are the ones a reviewer would press hardest on, and they are connected: without a text-only control on MELD, and without a second corpus where audio matters more, the audio contribution is hard to establish.
Frame all of these as things an extended version would add. Several are one training run each.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[57:20–60:20] Five experiments.
This slide is the most useful thing in the deck for anyone continuing the work, and the first item is highlighted because it is both the cheapest and the most decisive.
Item two connects to the CLEP-DG session directly — that paper already established the machinery for evaluating on held-out emotional corpora, and MSP-Podcast's later releases solved exactly the split problem that makes cross-corpus claims hard.
Item four is the one for an interpretability audience and it is genuinely cheap: the attention weights are computed anyway. Showing the acoustic-versus-semantic balance shift across emotion categories would be a figure worth having.
If discussion is lively, stop here and let it run rather than pushing on to synthesis.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[60:20–60:30]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[60:30–63:00] MELD across the series.
Be careful and explicit about the caveat in the chart title. These numbers come from different papers with different protocols, and CLEP-DG in particular measured MELD differently. The chart is a trajectory, not a ranking.
The third and fourth bullets are the important ones and they follow directly from the ablation. If you plot audio-only figures instead, the series looks much less like progress: Pengi near chance, SALMONN and Qwen-Audio in the mid-fifties on audio, and EAA's audio pathway at 0.523.
Deliver the dark card as the term's honest conclusion rather than as a deflation. Knowing where the gains come from is more valuable than the gains.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[63:00–65:20] What EAA adds.
This is the constructive summing-up and it should be delivered as such. The paper's contributions survive the appraisal; what changes is which contribution matters most.
The third card is the one to emphasise. A paper that reports an unflattering ablation row gives the field a number it did not have. Qwen-Audio reported one MELD accuracy and no decomposition; Pengi and SALMONN reported none at all. This is the first paper in the series from which we can say how much of a MELD result is audio.
The extension in the second card is a good project: the context window is one utterance because that is the minimal choice, and nobody has swept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[65:20–67:00] Take-aways.
Read these; they are written to be transcribed.
Number two is the reading habit the whole term has been building toward, and it generalises far beyond this paper — it is the same question we asked of SUPERB's in-domain columns and of CLEP-DG's missing audio-trained control.
Number five is the honest closing note and the one that points at future work.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[67:00–90:00] Discussion.
There is a lot of time here by design — this is the last session and the questions are the payoff.
Question 5 is the closer and it is the term's real question. Collect the evidence on the board before opening it up: kappa 0.27 on IEMOCAP and 60.7% agreement on CREMA-D say labels; one task in fifteen on SUPERB says evaluation; under 1,000 hours in Qwen-Audio's mix says data; and the wav2vec 2.0 quantisation result says objectives.
A defensible answer: the labels and the evaluation are the binding constraints, because no amount of modelling progress is visible through a weighted accuracy on a corpus where two annotators agree 60% of the time. That argument points back at the corpora sessions and closes the loop.
If the room wants something more concrete, question 1 and the text-only control give them a project they could run this month.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868680" y="1144829"/>
            <a:ext cx="309067" cy="309067"/>
          </a:xfrm>
          <a:prstGeom prst="roundRect">
            <a:avLst>
              <a:gd name="adj" fmla="val 5917"/>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581912" y="1144829"/>
            <a:ext cx="309067" cy="309067"/>
          </a:xfrm>
          <a:prstGeom prst="roundRect">
            <a:avLst>
              <a:gd name="adj" fmla="val 5917"/>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225296" y="1097280"/>
            <a:ext cx="404165" cy="404165"/>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182880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EAA</a:t>
            </a:r>
            <a:endParaRPr lang="en-US" sz="5200" dirty="0"/>
          </a:p>
        </p:txBody>
      </p:sp>
      <p:sp>
        <p:nvSpPr>
          <p:cNvPr id="6" name="Text 4"/>
          <p:cNvSpPr txBox="1"/>
          <p:nvPr/>
        </p:nvSpPr>
        <p:spPr>
          <a:xfrm>
            <a:off x="822960" y="2724912"/>
            <a:ext cx="10607040" cy="822960"/>
          </a:xfrm>
          <a:prstGeom prst="rect">
            <a:avLst/>
          </a:prstGeom>
          <a:noFill/>
          <a:ln/>
        </p:spPr>
        <p:txBody>
          <a:bodyPr wrap="square" lIns="0" tIns="0" rIns="0" bIns="0" rtlCol="0" anchor="ctr"/>
          <a:lstStyle/>
          <a:p>
            <a:pPr marL="0" indent="0">
              <a:lnSpc>
                <a:spcPct val="115000"/>
              </a:lnSpc>
              <a:buNone/>
            </a:pPr>
            <a:r>
              <a:rPr lang="en-US" sz="1750" i="1" dirty="0">
                <a:solidFill>
                  <a:srgbClr val="DCC5BF"/>
                </a:solidFill>
                <a:latin typeface="Cambria" pitchFamily="34" charset="0"/>
                <a:ea typeface="Cambria" pitchFamily="34" charset="-122"/>
                <a:cs typeface="Cambria" pitchFamily="34" charset="-120"/>
              </a:rPr>
              <a:t>Emotion-Aware Audio Large Language Models with Dual Cross-Attention</a:t>
            </a:r>
            <a:endParaRPr lang="en-US" sz="1750" dirty="0"/>
          </a:p>
          <a:p>
            <a:pPr marL="0" indent="0">
              <a:lnSpc>
                <a:spcPct val="115000"/>
              </a:lnSpc>
              <a:buNone/>
            </a:pPr>
            <a:r>
              <a:rPr lang="en-US" sz="1750" i="1" dirty="0">
                <a:solidFill>
                  <a:srgbClr val="DCC5BF"/>
                </a:solidFill>
                <a:latin typeface="Cambria" pitchFamily="34" charset="0"/>
                <a:ea typeface="Cambria" pitchFamily="34" charset="-122"/>
                <a:cs typeface="Cambria" pitchFamily="34" charset="-120"/>
              </a:rPr>
              <a:t>and Context-Aware Instruction Tuning</a:t>
            </a:r>
            <a:endParaRPr lang="en-US" sz="1750" dirty="0"/>
          </a:p>
        </p:txBody>
      </p:sp>
      <p:sp>
        <p:nvSpPr>
          <p:cNvPr id="7" name="Text 5"/>
          <p:cNvSpPr txBox="1"/>
          <p:nvPr/>
        </p:nvSpPr>
        <p:spPr>
          <a:xfrm>
            <a:off x="859536" y="3730752"/>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C7AEA8"/>
                </a:solidFill>
                <a:latin typeface="Calibri" pitchFamily="34" charset="0"/>
                <a:ea typeface="Calibri" pitchFamily="34" charset="-122"/>
                <a:cs typeface="Calibri" pitchFamily="34" charset="-120"/>
              </a:rPr>
              <a:t>Hongfei Du, Sidi Lu, Gang Zhou &amp; Ye Gao</a:t>
            </a:r>
            <a:endParaRPr lang="en-US" sz="1300" dirty="0"/>
          </a:p>
          <a:p>
            <a:pPr marL="0" indent="0">
              <a:lnSpc>
                <a:spcPct val="125000"/>
              </a:lnSpc>
              <a:buNone/>
            </a:pPr>
            <a:r>
              <a:rPr lang="en-US" sz="1300" dirty="0">
                <a:solidFill>
                  <a:srgbClr val="C7AEA8"/>
                </a:solidFill>
                <a:latin typeface="Calibri" pitchFamily="34" charset="0"/>
                <a:ea typeface="Calibri" pitchFamily="34" charset="-122"/>
                <a:cs typeface="Calibri" pitchFamily="34" charset="-120"/>
              </a:rPr>
              <a:t>Proc. Interspeech 2025, pages 5433–5437  ·  doi:10.21437/Interspeech.2025-1232</a:t>
            </a:r>
            <a:endParaRPr lang="en-US" sz="1300" dirty="0"/>
          </a:p>
          <a:p>
            <a:pPr marL="0" indent="0">
              <a:lnSpc>
                <a:spcPct val="125000"/>
              </a:lnSpc>
              <a:buNone/>
            </a:pPr>
            <a:r>
              <a:rPr lang="en-US" sz="1300" dirty="0">
                <a:solidFill>
                  <a:srgbClr val="C7AEA8"/>
                </a:solidFill>
                <a:latin typeface="Calibri" pitchFamily="34" charset="0"/>
                <a:ea typeface="Calibri" pitchFamily="34" charset="-122"/>
                <a:cs typeface="Calibri" pitchFamily="34" charset="-120"/>
              </a:rPr>
              <a:t>Department of Computer Science, William &amp; Mary</a:t>
            </a:r>
            <a:endParaRPr lang="en-US" sz="1300" dirty="0"/>
          </a:p>
        </p:txBody>
      </p:sp>
      <p:sp>
        <p:nvSpPr>
          <p:cNvPr id="8" name="Text 6"/>
          <p:cNvSpPr txBox="1"/>
          <p:nvPr/>
        </p:nvSpPr>
        <p:spPr>
          <a:xfrm>
            <a:off x="859536" y="5175504"/>
            <a:ext cx="9144000" cy="365760"/>
          </a:xfrm>
          <a:prstGeom prst="rect">
            <a:avLst/>
          </a:prstGeom>
          <a:noFill/>
          <a:ln/>
        </p:spPr>
        <p:txBody>
          <a:bodyPr wrap="square" lIns="0" tIns="0" rIns="0" bIns="0" rtlCol="0" anchor="ctr"/>
          <a:lstStyle/>
          <a:p>
            <a:pPr marL="0" indent="0">
              <a:buNone/>
            </a:pPr>
            <a:r>
              <a:rPr lang="en-US" sz="1250" b="1" dirty="0">
                <a:solidFill>
                  <a:srgbClr val="6E8B5F"/>
                </a:solidFill>
                <a:latin typeface="Calibri" pitchFamily="34" charset="0"/>
                <a:ea typeface="Calibri" pitchFamily="34" charset="-122"/>
                <a:cs typeface="Calibri" pitchFamily="34" charset="-120"/>
              </a:rPr>
              <a:t>Making audio LLMs emotion-aware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The first paper in this series whose whole purpose is emotion</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8C4A3C"/>
                </a:solidFill>
                <a:latin typeface="Cambria" pitchFamily="34" charset="0"/>
                <a:ea typeface="Cambria" pitchFamily="34" charset="-122"/>
                <a:cs typeface="Cambria" pitchFamily="34" charset="-120"/>
              </a:rPr>
              <a:t>0.687</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B524C"/>
                </a:solidFill>
                <a:latin typeface="Calibri" pitchFamily="34" charset="0"/>
                <a:ea typeface="Calibri" pitchFamily="34" charset="-122"/>
                <a:cs typeface="Calibri" pitchFamily="34" charset="-120"/>
              </a:rPr>
              <a:t>accuracy on MELD — the best</a:t>
            </a:r>
            <a:endParaRPr lang="en-US" sz="1150" dirty="0"/>
          </a:p>
          <a:p>
            <a:pPr marL="0" indent="0" algn="ctr">
              <a:buNone/>
            </a:pPr>
            <a:r>
              <a:rPr lang="en-US" sz="1150" dirty="0">
                <a:solidFill>
                  <a:srgbClr val="6B524C"/>
                </a:solidFill>
                <a:latin typeface="Calibri" pitchFamily="34" charset="0"/>
                <a:ea typeface="Calibri" pitchFamily="34" charset="-122"/>
                <a:cs typeface="Calibri" pitchFamily="34" charset="-120"/>
              </a:rPr>
              <a:t>audio LLM result on this set</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6E8B5F"/>
                </a:solidFill>
                <a:latin typeface="Cambria" pitchFamily="34" charset="0"/>
                <a:ea typeface="Cambria" pitchFamily="34" charset="-122"/>
                <a:cs typeface="Cambria" pitchFamily="34" charset="-120"/>
              </a:rPr>
              <a:t>+11.4</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B524C"/>
                </a:solidFill>
                <a:latin typeface="Calibri" pitchFamily="34" charset="0"/>
                <a:ea typeface="Calibri" pitchFamily="34" charset="-122"/>
                <a:cs typeface="Calibri" pitchFamily="34" charset="-120"/>
              </a:rPr>
              <a:t>points over the strongest</a:t>
            </a:r>
            <a:endParaRPr lang="en-US" sz="1150" dirty="0"/>
          </a:p>
          <a:p>
            <a:pPr marL="0" indent="0" algn="ctr">
              <a:buNone/>
            </a:pPr>
            <a:r>
              <a:rPr lang="en-US" sz="1150" dirty="0">
                <a:solidFill>
                  <a:srgbClr val="6B524C"/>
                </a:solidFill>
                <a:latin typeface="Calibri" pitchFamily="34" charset="0"/>
                <a:ea typeface="Calibri" pitchFamily="34" charset="-122"/>
                <a:cs typeface="Calibri" pitchFamily="34" charset="-120"/>
              </a:rPr>
              <a:t>prior audio LLM baseline</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8C4A3C"/>
                </a:solidFill>
                <a:latin typeface="Cambria" pitchFamily="34" charset="0"/>
                <a:ea typeface="Cambria" pitchFamily="34" charset="-122"/>
                <a:cs typeface="Cambria" pitchFamily="34" charset="-120"/>
              </a:rPr>
              <a:t>2</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B524C"/>
                </a:solidFill>
                <a:latin typeface="Calibri" pitchFamily="34" charset="0"/>
                <a:ea typeface="Calibri" pitchFamily="34" charset="-122"/>
                <a:cs typeface="Calibri" pitchFamily="34" charset="-120"/>
              </a:rPr>
              <a:t>encoders, fused by attention</a:t>
            </a:r>
            <a:endParaRPr lang="en-US" sz="1150" dirty="0"/>
          </a:p>
          <a:p>
            <a:pPr marL="0" indent="0" algn="ctr">
              <a:buNone/>
            </a:pPr>
            <a:r>
              <a:rPr lang="en-US" sz="1150" dirty="0">
                <a:solidFill>
                  <a:srgbClr val="6B524C"/>
                </a:solidFill>
                <a:latin typeface="Calibri" pitchFamily="34" charset="0"/>
                <a:ea typeface="Calibri" pitchFamily="34" charset="-122"/>
                <a:cs typeface="Calibri" pitchFamily="34" charset="-120"/>
              </a:rPr>
              <a:t>in both directions</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6E8B5F"/>
                </a:solidFill>
                <a:latin typeface="Cambria" pitchFamily="34" charset="0"/>
                <a:ea typeface="Cambria" pitchFamily="34" charset="-122"/>
                <a:cs typeface="Cambria" pitchFamily="34" charset="-120"/>
              </a:rPr>
              <a:t>1</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B524C"/>
                </a:solidFill>
                <a:latin typeface="Calibri" pitchFamily="34" charset="0"/>
                <a:ea typeface="Calibri" pitchFamily="34" charset="-122"/>
                <a:cs typeface="Calibri" pitchFamily="34" charset="-120"/>
              </a:rPr>
              <a:t>H100, LoRA rank 2 —</a:t>
            </a:r>
            <a:endParaRPr lang="en-US" sz="1150" dirty="0"/>
          </a:p>
          <a:p>
            <a:pPr marL="0" indent="0" algn="ctr">
              <a:buNone/>
            </a:pPr>
            <a:r>
              <a:rPr lang="en-US" sz="1150" dirty="0">
                <a:solidFill>
                  <a:srgbClr val="6B524C"/>
                </a:solidFill>
                <a:latin typeface="Calibri" pitchFamily="34" charset="0"/>
                <a:ea typeface="Calibri" pitchFamily="34" charset="-122"/>
                <a:cs typeface="Calibri" pitchFamily="34" charset="-120"/>
              </a:rPr>
              <a:t>a small-lab result</a:t>
            </a:r>
            <a:endParaRPr lang="en-US" sz="1150" dirty="0"/>
          </a:p>
        </p:txBody>
      </p:sp>
      <p:sp>
        <p:nvSpPr>
          <p:cNvPr id="16" name="Shape 14"/>
          <p:cNvSpPr/>
          <p:nvPr/>
        </p:nvSpPr>
        <p:spPr>
          <a:xfrm>
            <a:off x="566928" y="3200400"/>
            <a:ext cx="11064240" cy="1371600"/>
          </a:xfrm>
          <a:prstGeom prst="roundRect">
            <a:avLst>
              <a:gd name="adj" fmla="val 4000"/>
            </a:avLst>
          </a:prstGeom>
          <a:solidFill>
            <a:srgbClr val="F6F0EE"/>
          </a:solidFill>
          <a:ln w="12700">
            <a:solidFill>
              <a:srgbClr val="EBE0DC"/>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42220"/>
                </a:solidFill>
                <a:latin typeface="Calibri" pitchFamily="34" charset="0"/>
                <a:ea typeface="Calibri" pitchFamily="34" charset="-122"/>
                <a:cs typeface="Calibri" pitchFamily="34" charset="-120"/>
              </a:rPr>
              <a:t>Audio language models handle speech well and emotion badly for two specific reasons: they use a single encoder, or fuse two encoders by simple concatenation; and they judge each utterance in isolation when emotion evolves across a dialogue. Fix the fusion with bidirectional cross-attention and fix the isolation by putting the preceding utterance into the prompt.</a:t>
            </a:r>
            <a:endParaRPr lang="en-US" sz="1340" dirty="0"/>
          </a:p>
        </p:txBody>
      </p:sp>
      <p:sp>
        <p:nvSpPr>
          <p:cNvPr id="20" name="Shape 18"/>
          <p:cNvSpPr/>
          <p:nvPr/>
        </p:nvSpPr>
        <p:spPr>
          <a:xfrm>
            <a:off x="566928" y="4700016"/>
            <a:ext cx="11064240" cy="1353312"/>
          </a:xfrm>
          <a:prstGeom prst="roundRect">
            <a:avLst>
              <a:gd name="adj" fmla="val 4054"/>
            </a:avLst>
          </a:prstGeom>
          <a:solidFill>
            <a:srgbClr val="31211F"/>
          </a:solidFill>
          <a:ln w="12700">
            <a:solidFill>
              <a:srgbClr val="31211F"/>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6E8B5F"/>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Comments</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DCC5BF"/>
                </a:solidFill>
                <a:latin typeface="Calibri" pitchFamily="34" charset="0"/>
                <a:ea typeface="Calibri" pitchFamily="34" charset="-122"/>
                <a:cs typeface="Calibri" pitchFamily="34" charset="-120"/>
              </a:rPr>
              <a:t>Every model we have studied appears in this paper's baseline table, and every one of them is beaten by a wide margin: Pengi at 0.289, SALMONN at 0.331, Qwen-Audio at 0.557. EAA reaches the level of dedicated multimodal conversation models that also use video.</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Where the series left emotion</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Six sessions of evidence that something is missing</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running finding</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What we have established across the term</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5</a:t>
            </a:r>
            <a:endParaRPr lang="en-US" sz="900" dirty="0"/>
          </a:p>
        </p:txBody>
      </p:sp>
      <p:sp>
        <p:nvSpPr>
          <p:cNvPr id="8" name="Shape 6"/>
          <p:cNvSpPr/>
          <p:nvPr/>
        </p:nvSpPr>
        <p:spPr>
          <a:xfrm>
            <a:off x="566928" y="1554480"/>
            <a:ext cx="11064240" cy="1042416"/>
          </a:xfrm>
          <a:prstGeom prst="roundRect">
            <a:avLst>
              <a:gd name="adj" fmla="val 2632"/>
            </a:avLst>
          </a:prstGeom>
          <a:solidFill>
            <a:srgbClr val="F6F0EE"/>
          </a:solidFill>
          <a:ln w="12700">
            <a:solidFill>
              <a:srgbClr val="F0E7E3"/>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1024128" y="1645920"/>
            <a:ext cx="2926080" cy="859536"/>
          </a:xfrm>
          <a:prstGeom prst="rect">
            <a:avLst/>
          </a:prstGeom>
          <a:noFill/>
          <a:ln/>
        </p:spPr>
        <p:txBody>
          <a:bodyPr wrap="square" lIns="0" tIns="0" rIns="0" bIns="0" rtlCol="0" anchor="ctr"/>
          <a:lstStyle/>
          <a:p>
            <a:pPr marL="0" indent="0">
              <a:buNone/>
            </a:pPr>
            <a:r>
              <a:rPr lang="en-US" sz="1350" b="1" dirty="0">
                <a:solidFill>
                  <a:srgbClr val="231614"/>
                </a:solidFill>
                <a:latin typeface="Cambria" pitchFamily="34" charset="0"/>
                <a:ea typeface="Cambria" pitchFamily="34" charset="-122"/>
                <a:cs typeface="Cambria" pitchFamily="34" charset="-120"/>
              </a:rPr>
              <a:t>The corpora are noisy</a:t>
            </a:r>
            <a:endParaRPr lang="en-US" sz="1350" dirty="0"/>
          </a:p>
        </p:txBody>
      </p:sp>
      <p:sp>
        <p:nvSpPr>
          <p:cNvPr id="11" name="Text 9"/>
          <p:cNvSpPr txBox="1"/>
          <p:nvPr/>
        </p:nvSpPr>
        <p:spPr>
          <a:xfrm>
            <a:off x="4133088" y="1627632"/>
            <a:ext cx="731520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IEMOCAP's raters reach a Fleiss kappa of 0.27; CREMA-D's two annotators agree on the category 60.7% of the time. Every emotion result sits against a ceiling set by that disagreement.</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F0E7E3"/>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8C4A3C"/>
          </a:solidFill>
          <a:ln w="12700">
            <a:solidFill>
              <a:srgbClr val="333333"/>
            </a:solidFill>
            <a:prstDash val="solid"/>
          </a:ln>
        </p:spPr>
        <p:txBody>
          <a:bodyPr/>
          <a:lstStyle/>
          <a:p>
            <a:endParaRPr lang="en-US"/>
          </a:p>
        </p:txBody>
      </p:sp>
      <p:sp>
        <p:nvSpPr>
          <p:cNvPr id="14" name="Text 12"/>
          <p:cNvSpPr txBox="1"/>
          <p:nvPr/>
        </p:nvSpPr>
        <p:spPr>
          <a:xfrm>
            <a:off x="1024128" y="2743200"/>
            <a:ext cx="2926080" cy="859536"/>
          </a:xfrm>
          <a:prstGeom prst="rect">
            <a:avLst/>
          </a:prstGeom>
          <a:noFill/>
          <a:ln/>
        </p:spPr>
        <p:txBody>
          <a:bodyPr wrap="square" lIns="0" tIns="0" rIns="0" bIns="0" rtlCol="0" anchor="ctr"/>
          <a:lstStyle/>
          <a:p>
            <a:pPr marL="0" indent="0">
              <a:buNone/>
            </a:pPr>
            <a:r>
              <a:rPr lang="en-US" sz="1350" b="1" dirty="0">
                <a:solidFill>
                  <a:srgbClr val="231614"/>
                </a:solidFill>
                <a:latin typeface="Cambria" pitchFamily="34" charset="0"/>
                <a:ea typeface="Cambria" pitchFamily="34" charset="-122"/>
                <a:cs typeface="Cambria" pitchFamily="34" charset="-120"/>
              </a:rPr>
              <a:t>The benchmarks under-weight it</a:t>
            </a:r>
            <a:endParaRPr lang="en-US" sz="1350" dirty="0"/>
          </a:p>
        </p:txBody>
      </p:sp>
      <p:sp>
        <p:nvSpPr>
          <p:cNvPr id="15" name="Text 13"/>
          <p:cNvSpPr txBox="1"/>
          <p:nvPr/>
        </p:nvSpPr>
        <p:spPr>
          <a:xfrm>
            <a:off x="4133088" y="2724912"/>
            <a:ext cx="731520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SUPERB gives paralinguistics one task out of fifteen, and that task is IEMOCAP four-class. The emotion column is the flattest in the whole table.</a:t>
            </a:r>
            <a:endParaRPr lang="en-US" sz="1220" dirty="0"/>
          </a:p>
        </p:txBody>
      </p:sp>
      <p:sp>
        <p:nvSpPr>
          <p:cNvPr id="16" name="Shape 14"/>
          <p:cNvSpPr/>
          <p:nvPr/>
        </p:nvSpPr>
        <p:spPr>
          <a:xfrm>
            <a:off x="566928" y="3749040"/>
            <a:ext cx="11064240" cy="1042416"/>
          </a:xfrm>
          <a:prstGeom prst="roundRect">
            <a:avLst>
              <a:gd name="adj" fmla="val 2632"/>
            </a:avLst>
          </a:prstGeom>
          <a:solidFill>
            <a:srgbClr val="F6F0EE"/>
          </a:solidFill>
          <a:ln w="12700">
            <a:solidFill>
              <a:srgbClr val="F0E7E3"/>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1024128" y="3840480"/>
            <a:ext cx="2926080" cy="859536"/>
          </a:xfrm>
          <a:prstGeom prst="rect">
            <a:avLst/>
          </a:prstGeom>
          <a:noFill/>
          <a:ln/>
        </p:spPr>
        <p:txBody>
          <a:bodyPr wrap="square" lIns="0" tIns="0" rIns="0" bIns="0" rtlCol="0" anchor="ctr"/>
          <a:lstStyle/>
          <a:p>
            <a:pPr marL="0" indent="0">
              <a:buNone/>
            </a:pPr>
            <a:r>
              <a:rPr lang="en-US" sz="1350" b="1" dirty="0">
                <a:solidFill>
                  <a:srgbClr val="231614"/>
                </a:solidFill>
                <a:latin typeface="Cambria" pitchFamily="34" charset="0"/>
                <a:ea typeface="Cambria" pitchFamily="34" charset="-122"/>
                <a:cs typeface="Cambria" pitchFamily="34" charset="-120"/>
              </a:rPr>
              <a:t>The objectives discard it</a:t>
            </a:r>
            <a:endParaRPr lang="en-US" sz="1350" dirty="0"/>
          </a:p>
        </p:txBody>
      </p:sp>
      <p:sp>
        <p:nvSpPr>
          <p:cNvPr id="19" name="Text 17"/>
          <p:cNvSpPr txBox="1"/>
          <p:nvPr/>
        </p:nvSpPr>
        <p:spPr>
          <a:xfrm>
            <a:off x="4133088" y="3822192"/>
            <a:ext cx="731520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wav2vec 2.0's quantisation bottleneck abstracts away from speaker characteristics by design, and ASR fine-tuning measurably damages emotional information — 58.5 to 44.6 on the context encoder.</a:t>
            </a:r>
            <a:endParaRPr lang="en-US" sz="1220" dirty="0"/>
          </a:p>
        </p:txBody>
      </p:sp>
      <p:sp>
        <p:nvSpPr>
          <p:cNvPr id="20" name="Shape 18"/>
          <p:cNvSpPr/>
          <p:nvPr/>
        </p:nvSpPr>
        <p:spPr>
          <a:xfrm>
            <a:off x="566928" y="4846320"/>
            <a:ext cx="11064240" cy="1042416"/>
          </a:xfrm>
          <a:prstGeom prst="roundRect">
            <a:avLst>
              <a:gd name="adj" fmla="val 2632"/>
            </a:avLst>
          </a:prstGeom>
          <a:solidFill>
            <a:srgbClr val="FFFFFF"/>
          </a:solidFill>
          <a:ln w="12700">
            <a:solidFill>
              <a:srgbClr val="F0E7E3"/>
            </a:solidFill>
            <a:prstDash val="solid"/>
          </a:ln>
        </p:spPr>
        <p:txBody>
          <a:bodyPr/>
          <a:lstStyle/>
          <a:p>
            <a:endParaRPr lang="en-US"/>
          </a:p>
        </p:txBody>
      </p:sp>
      <p:sp>
        <p:nvSpPr>
          <p:cNvPr id="21" name="Shape 19"/>
          <p:cNvSpPr/>
          <p:nvPr/>
        </p:nvSpPr>
        <p:spPr>
          <a:xfrm>
            <a:off x="786384" y="5308092"/>
            <a:ext cx="118872" cy="118872"/>
          </a:xfrm>
          <a:prstGeom prst="ellipse">
            <a:avLst/>
          </a:prstGeom>
          <a:solidFill>
            <a:srgbClr val="8C4A3C"/>
          </a:solidFill>
          <a:ln w="12700">
            <a:solidFill>
              <a:srgbClr val="333333"/>
            </a:solidFill>
            <a:prstDash val="solid"/>
          </a:ln>
        </p:spPr>
        <p:txBody>
          <a:bodyPr/>
          <a:lstStyle/>
          <a:p>
            <a:endParaRPr lang="en-US"/>
          </a:p>
        </p:txBody>
      </p:sp>
      <p:sp>
        <p:nvSpPr>
          <p:cNvPr id="22" name="Text 20"/>
          <p:cNvSpPr txBox="1"/>
          <p:nvPr/>
        </p:nvSpPr>
        <p:spPr>
          <a:xfrm>
            <a:off x="1024128" y="4937760"/>
            <a:ext cx="2926080" cy="859536"/>
          </a:xfrm>
          <a:prstGeom prst="rect">
            <a:avLst/>
          </a:prstGeom>
          <a:noFill/>
          <a:ln/>
        </p:spPr>
        <p:txBody>
          <a:bodyPr wrap="square" lIns="0" tIns="0" rIns="0" bIns="0" rtlCol="0" anchor="ctr"/>
          <a:lstStyle/>
          <a:p>
            <a:pPr marL="0" indent="0">
              <a:buNone/>
            </a:pPr>
            <a:r>
              <a:rPr lang="en-US" sz="1350" b="1" dirty="0">
                <a:solidFill>
                  <a:srgbClr val="231614"/>
                </a:solidFill>
                <a:latin typeface="Cambria" pitchFamily="34" charset="0"/>
                <a:ea typeface="Cambria" pitchFamily="34" charset="-122"/>
                <a:cs typeface="Cambria" pitchFamily="34" charset="-120"/>
              </a:rPr>
              <a:t>The audio LLMs are thin on it</a:t>
            </a:r>
            <a:endParaRPr lang="en-US" sz="1350" dirty="0"/>
          </a:p>
        </p:txBody>
      </p:sp>
      <p:sp>
        <p:nvSpPr>
          <p:cNvPr id="23" name="Text 21"/>
          <p:cNvSpPr txBox="1"/>
          <p:nvPr/>
        </p:nvSpPr>
        <p:spPr>
          <a:xfrm>
            <a:off x="4133088" y="4919472"/>
            <a:ext cx="731520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Pengi at chance zero-shot on CREMA-D. SALMONN at 0.69 against an 0.81 specialist, trained on five hours of IEMOCAP in a 4,400-hour mix. Qwen-Audio: one weighted accuracy on MELD from under 1,000 hours.</a:t>
            </a:r>
            <a:endParaRPr lang="en-US" sz="1220" dirty="0"/>
          </a:p>
        </p:txBody>
      </p:sp>
      <p:sp>
        <p:nvSpPr>
          <p:cNvPr id="24" name="Shape 22"/>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two challenges the paper names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Both are claims about existing audio LLMs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6</a:t>
            </a:r>
            <a:endParaRPr lang="en-US" sz="900" dirty="0"/>
          </a:p>
        </p:txBody>
      </p:sp>
      <p:sp>
        <p:nvSpPr>
          <p:cNvPr id="8" name="Shape 6"/>
          <p:cNvSpPr/>
          <p:nvPr/>
        </p:nvSpPr>
        <p:spPr>
          <a:xfrm>
            <a:off x="566928" y="1600200"/>
            <a:ext cx="5440680" cy="2377440"/>
          </a:xfrm>
          <a:prstGeom prst="roundRect">
            <a:avLst>
              <a:gd name="adj" fmla="val 2308"/>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Challenge 1 — feature integration</a:t>
            </a:r>
            <a:endParaRPr lang="en-US" sz="1500" dirty="0"/>
          </a:p>
        </p:txBody>
      </p:sp>
      <p:sp>
        <p:nvSpPr>
          <p:cNvPr id="11" name="Text 9"/>
          <p:cNvSpPr txBox="1"/>
          <p:nvPr/>
        </p:nvSpPr>
        <p:spPr>
          <a:xfrm>
            <a:off x="822960" y="2203704"/>
            <a:ext cx="4928616" cy="1591056"/>
          </a:xfrm>
          <a:prstGeom prst="rect">
            <a:avLst/>
          </a:prstGeom>
          <a:noFill/>
          <a:ln/>
        </p:spPr>
        <p:txBody>
          <a:bodyPr wrap="square" lIns="0" tIns="0" rIns="0" bIns="0" rtlCol="0" anchor="t"/>
          <a:lstStyle/>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Most models rely solely on a single audio encoder. Others extract semantic and acoustic features separately and merely concatenate them, failing to capture the intricate interactions between the two feature types.</a:t>
            </a:r>
            <a:endParaRPr lang="en-US" sz="1250" dirty="0"/>
          </a:p>
          <a:p>
            <a:pPr marL="0" indent="0">
              <a:lnSpc>
                <a:spcPct val="108000"/>
              </a:lnSpc>
              <a:buNone/>
            </a:pPr>
            <a:endParaRPr lang="en-US" sz="1250" dirty="0"/>
          </a:p>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The paper's survey is specific: Pengi uses CLAP alone; Qwen-Audio and OSUM use Whisper alone; SALMONN splices Whisper and BEATs before a Q-Former; WavLLM fuses Whisper and WavLM with 1D convolution and adapters.</a:t>
            </a:r>
            <a:endParaRPr lang="en-US" sz="1250" dirty="0"/>
          </a:p>
        </p:txBody>
      </p:sp>
      <p:sp>
        <p:nvSpPr>
          <p:cNvPr id="12" name="Shape 10"/>
          <p:cNvSpPr/>
          <p:nvPr/>
        </p:nvSpPr>
        <p:spPr>
          <a:xfrm>
            <a:off x="6190488" y="1600200"/>
            <a:ext cx="5440680" cy="2377440"/>
          </a:xfrm>
          <a:prstGeom prst="roundRect">
            <a:avLst>
              <a:gd name="adj" fmla="val 2308"/>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Challenge 2 — context</a:t>
            </a:r>
            <a:endParaRPr lang="en-US" sz="1500" dirty="0"/>
          </a:p>
        </p:txBody>
      </p:sp>
      <p:sp>
        <p:nvSpPr>
          <p:cNvPr id="15" name="Text 13"/>
          <p:cNvSpPr txBox="1"/>
          <p:nvPr/>
        </p:nvSpPr>
        <p:spPr>
          <a:xfrm>
            <a:off x="6446520" y="2203704"/>
            <a:ext cx="4928616" cy="1591056"/>
          </a:xfrm>
          <a:prstGeom prst="rect">
            <a:avLst/>
          </a:prstGeom>
          <a:noFill/>
          <a:ln/>
        </p:spPr>
        <p:txBody>
          <a:bodyPr wrap="square" lIns="0" tIns="0" rIns="0" bIns="0" rtlCol="0" anchor="t"/>
          <a:lstStyle/>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Emotions in dialogue evolve progressively within context, making it difficult to perceive the overall emotional state from isolated audio segments.</a:t>
            </a:r>
            <a:endParaRPr lang="en-US" sz="1250" dirty="0"/>
          </a:p>
          <a:p>
            <a:pPr marL="0" indent="0">
              <a:lnSpc>
                <a:spcPct val="108000"/>
              </a:lnSpc>
              <a:buNone/>
            </a:pPr>
            <a:endParaRPr lang="en-US" sz="1250" dirty="0"/>
          </a:p>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The paper's example: the utterance 'What?' can be angry, neutral or surprised depending on whether it follows 'Did you just insult me?' or a piece of shocking news.</a:t>
            </a:r>
            <a:endParaRPr lang="en-US" sz="1250" dirty="0"/>
          </a:p>
          <a:p>
            <a:pPr marL="0" indent="0">
              <a:lnSpc>
                <a:spcPct val="108000"/>
              </a:lnSpc>
              <a:buNone/>
            </a:pPr>
            <a:endParaRPr lang="en-US" sz="1250" dirty="0"/>
          </a:p>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Most existing audio LLMs do not incorporate contextual information at all.</a:t>
            </a:r>
            <a:endParaRPr lang="en-US" sz="1250" dirty="0"/>
          </a:p>
        </p:txBody>
      </p:sp>
      <p:sp>
        <p:nvSpPr>
          <p:cNvPr id="16" name="Shape 14"/>
          <p:cNvSpPr/>
          <p:nvPr/>
        </p:nvSpPr>
        <p:spPr>
          <a:xfrm>
            <a:off x="566928" y="4169664"/>
            <a:ext cx="11064240" cy="1883664"/>
          </a:xfrm>
          <a:prstGeom prst="roundRect">
            <a:avLst>
              <a:gd name="adj" fmla="val 2913"/>
            </a:avLst>
          </a:prstGeom>
          <a:solidFill>
            <a:srgbClr val="31211F"/>
          </a:solidFill>
          <a:ln w="12700">
            <a:solidFill>
              <a:srgbClr val="31211F"/>
            </a:solidFill>
            <a:prstDash val="solid"/>
          </a:ln>
        </p:spPr>
        <p:txBody>
          <a:bodyPr/>
          <a:lstStyle/>
          <a:p>
            <a:endParaRPr lang="en-US"/>
          </a:p>
        </p:txBody>
      </p:sp>
      <p:sp>
        <p:nvSpPr>
          <p:cNvPr id="17" name="Shape 15"/>
          <p:cNvSpPr/>
          <p:nvPr/>
        </p:nvSpPr>
        <p:spPr>
          <a:xfrm>
            <a:off x="786384" y="4462272"/>
            <a:ext cx="109728" cy="109728"/>
          </a:xfrm>
          <a:prstGeom prst="ellipse">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987552" y="433425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Both are fair descriptions of what we read</a:t>
            </a:r>
            <a:endParaRPr lang="en-US" sz="1500" dirty="0"/>
          </a:p>
        </p:txBody>
      </p:sp>
      <p:sp>
        <p:nvSpPr>
          <p:cNvPr id="19" name="Text 17"/>
          <p:cNvSpPr txBox="1"/>
          <p:nvPr/>
        </p:nvSpPr>
        <p:spPr>
          <a:xfrm>
            <a:off x="822960" y="4773168"/>
            <a:ext cx="10552176" cy="1097280"/>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SALMONN concatenates Whisper and BEATs features frame by frame along the feature dimension — exactly the splicing the paper criticises. Qwen-Audio uses one encoder. None of the four audio LLMs we studied takes conversational context as input.</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So the diagnosis is accurate. The question the rest of the talk asks is whether the two proposed fixes are what produce the gain.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Why fusion, specifically</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Emotion is carried by two channels that trade off</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7</a:t>
            </a:r>
            <a:endParaRPr lang="en-US" sz="900" dirty="0"/>
          </a:p>
        </p:txBody>
      </p:sp>
      <p:sp>
        <p:nvSpPr>
          <p:cNvPr id="8" name="Shape 6"/>
          <p:cNvSpPr/>
          <p:nvPr/>
        </p:nvSpPr>
        <p:spPr>
          <a:xfrm>
            <a:off x="566928" y="1600200"/>
            <a:ext cx="5440680" cy="2194560"/>
          </a:xfrm>
          <a:prstGeom prst="roundRect">
            <a:avLst>
              <a:gd name="adj" fmla="val 2500"/>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When acoustics dominate</a:t>
            </a:r>
            <a:endParaRPr lang="en-US" sz="1500" dirty="0"/>
          </a:p>
        </p:txBody>
      </p:sp>
      <p:sp>
        <p:nvSpPr>
          <p:cNvPr id="11" name="Text 9"/>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High pitch for anger, slow speech for sadness. The words may be neutral or even contradict the delivery.</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Here the model should weight acoustic features more heavily.</a:t>
            </a:r>
            <a:endParaRPr lang="en-US" sz="1280" dirty="0"/>
          </a:p>
        </p:txBody>
      </p:sp>
      <p:sp>
        <p:nvSpPr>
          <p:cNvPr id="12" name="Shape 10"/>
          <p:cNvSpPr/>
          <p:nvPr/>
        </p:nvSpPr>
        <p:spPr>
          <a:xfrm>
            <a:off x="6190488" y="1600200"/>
            <a:ext cx="5440680" cy="2194560"/>
          </a:xfrm>
          <a:prstGeom prst="roundRect">
            <a:avLst>
              <a:gd name="adj" fmla="val 2500"/>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When words dominate</a:t>
            </a:r>
            <a:endParaRPr lang="en-US" sz="1500" dirty="0"/>
          </a:p>
        </p:txBody>
      </p:sp>
      <p:sp>
        <p:nvSpPr>
          <p:cNvPr id="15" name="Text 13"/>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Explicit emotion words — 'happy', 'angry' — carry the label directly, and the delivery may be flat.</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Here the model should prioritise linguistic features.</a:t>
            </a:r>
            <a:endParaRPr lang="en-US" sz="1280" dirty="0"/>
          </a:p>
        </p:txBody>
      </p:sp>
      <p:sp>
        <p:nvSpPr>
          <p:cNvPr id="16" name="Shape 14"/>
          <p:cNvSpPr/>
          <p:nvPr/>
        </p:nvSpPr>
        <p:spPr>
          <a:xfrm>
            <a:off x="566928" y="4041648"/>
            <a:ext cx="11064240" cy="2011680"/>
          </a:xfrm>
          <a:prstGeom prst="roundRect">
            <a:avLst>
              <a:gd name="adj" fmla="val 2727"/>
            </a:avLst>
          </a:prstGeom>
          <a:solidFill>
            <a:srgbClr val="31211F"/>
          </a:solidFill>
          <a:ln w="12700">
            <a:solidFill>
              <a:srgbClr val="31211F"/>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design goal, stated in the introduction</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A mechanism that dynamically adjusts feature importance based on context — so the weighting between the two channels is learned per example rather than fixed.</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Compare with the CREMA-D result from the corpora session: some emotions are carried by one channel and some by another, and the optimal weighting is emotion-dependent. That finding is the empirical case for exactly this design.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Dual cross-attention fusion</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The first of two contributions</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architecture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Two encoders, a fusion block, a frozen LLaMA with LoRA</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9</a:t>
            </a:r>
            <a:endParaRPr lang="en-US" sz="900" dirty="0"/>
          </a:p>
        </p:txBody>
      </p:sp>
      <p:sp>
        <p:nvSpPr>
          <p:cNvPr id="8" name="Shape 6"/>
          <p:cNvSpPr/>
          <p:nvPr/>
        </p:nvSpPr>
        <p:spPr>
          <a:xfrm>
            <a:off x="566928" y="1627632"/>
            <a:ext cx="2743200" cy="713232"/>
          </a:xfrm>
          <a:prstGeom prst="roundRect">
            <a:avLst>
              <a:gd name="adj" fmla="val 7692"/>
            </a:avLst>
          </a:prstGeom>
          <a:solidFill>
            <a:srgbClr val="F6F0EE"/>
          </a:solidFill>
          <a:ln w="19050">
            <a:solidFill>
              <a:srgbClr val="8C4A3C"/>
            </a:solidFill>
            <a:prstDash val="solid"/>
          </a:ln>
        </p:spPr>
        <p:txBody>
          <a:bodyPr/>
          <a:lstStyle/>
          <a:p>
            <a:endParaRPr lang="en-US"/>
          </a:p>
        </p:txBody>
      </p:sp>
      <p:sp>
        <p:nvSpPr>
          <p:cNvPr id="9" name="Text 7"/>
          <p:cNvSpPr txBox="1"/>
          <p:nvPr/>
        </p:nvSpPr>
        <p:spPr>
          <a:xfrm>
            <a:off x="676656" y="1737360"/>
            <a:ext cx="2523744" cy="274320"/>
          </a:xfrm>
          <a:prstGeom prst="rect">
            <a:avLst/>
          </a:prstGeom>
          <a:noFill/>
          <a:ln/>
        </p:spPr>
        <p:txBody>
          <a:bodyPr wrap="square" lIns="0" tIns="0" rIns="0" bIns="0" rtlCol="0" anchor="ctr"/>
          <a:lstStyle/>
          <a:p>
            <a:pPr marL="0" indent="0" algn="ctr">
              <a:buNone/>
            </a:pPr>
            <a:r>
              <a:rPr lang="en-US" sz="1250" b="1" dirty="0">
                <a:solidFill>
                  <a:srgbClr val="8C4A3C"/>
                </a:solidFill>
                <a:latin typeface="Calibri" pitchFamily="34" charset="0"/>
                <a:ea typeface="Calibri" pitchFamily="34" charset="-122"/>
                <a:cs typeface="Calibri" pitchFamily="34" charset="-120"/>
              </a:rPr>
              <a:t>Semantic encoder</a:t>
            </a:r>
            <a:endParaRPr lang="en-US" sz="1250" dirty="0"/>
          </a:p>
        </p:txBody>
      </p:sp>
      <p:sp>
        <p:nvSpPr>
          <p:cNvPr id="10" name="Text 8"/>
          <p:cNvSpPr txBox="1"/>
          <p:nvPr/>
        </p:nvSpPr>
        <p:spPr>
          <a:xfrm>
            <a:off x="676656" y="2020824"/>
            <a:ext cx="2523744" cy="256032"/>
          </a:xfrm>
          <a:prstGeom prst="rect">
            <a:avLst/>
          </a:prstGeom>
          <a:noFill/>
          <a:ln/>
        </p:spPr>
        <p:txBody>
          <a:bodyPr wrap="square" lIns="0" tIns="0" rIns="0" bIns="0" rtlCol="0" anchor="ctr"/>
          <a:lstStyle/>
          <a:p>
            <a:pPr marL="0" indent="0" algn="ctr">
              <a:buNone/>
            </a:pPr>
            <a:r>
              <a:rPr lang="en-US" sz="1050" dirty="0">
                <a:solidFill>
                  <a:srgbClr val="6B524C"/>
                </a:solidFill>
                <a:latin typeface="Calibri" pitchFamily="34" charset="0"/>
                <a:ea typeface="Calibri" pitchFamily="34" charset="-122"/>
                <a:cs typeface="Calibri" pitchFamily="34" charset="-120"/>
              </a:rPr>
              <a:t>HuBERT · last 2 layers trainable</a:t>
            </a:r>
            <a:endParaRPr lang="en-US" sz="1050" dirty="0"/>
          </a:p>
        </p:txBody>
      </p:sp>
      <p:sp>
        <p:nvSpPr>
          <p:cNvPr id="11" name="Shape 9"/>
          <p:cNvSpPr/>
          <p:nvPr/>
        </p:nvSpPr>
        <p:spPr>
          <a:xfrm>
            <a:off x="566928" y="2450592"/>
            <a:ext cx="2743200" cy="713232"/>
          </a:xfrm>
          <a:prstGeom prst="roundRect">
            <a:avLst>
              <a:gd name="adj" fmla="val 7692"/>
            </a:avLst>
          </a:prstGeom>
          <a:solidFill>
            <a:srgbClr val="F6F0EE"/>
          </a:solidFill>
          <a:ln w="19050">
            <a:solidFill>
              <a:srgbClr val="8C4A3C"/>
            </a:solidFill>
            <a:prstDash val="solid"/>
          </a:ln>
        </p:spPr>
        <p:txBody>
          <a:bodyPr/>
          <a:lstStyle/>
          <a:p>
            <a:endParaRPr lang="en-US"/>
          </a:p>
        </p:txBody>
      </p:sp>
      <p:sp>
        <p:nvSpPr>
          <p:cNvPr id="12" name="Text 10"/>
          <p:cNvSpPr txBox="1"/>
          <p:nvPr/>
        </p:nvSpPr>
        <p:spPr>
          <a:xfrm>
            <a:off x="676656" y="2560320"/>
            <a:ext cx="2523744" cy="274320"/>
          </a:xfrm>
          <a:prstGeom prst="rect">
            <a:avLst/>
          </a:prstGeom>
          <a:noFill/>
          <a:ln/>
        </p:spPr>
        <p:txBody>
          <a:bodyPr wrap="square" lIns="0" tIns="0" rIns="0" bIns="0" rtlCol="0" anchor="ctr"/>
          <a:lstStyle/>
          <a:p>
            <a:pPr marL="0" indent="0" algn="ctr">
              <a:buNone/>
            </a:pPr>
            <a:r>
              <a:rPr lang="en-US" sz="1250" b="1" dirty="0">
                <a:solidFill>
                  <a:srgbClr val="8C4A3C"/>
                </a:solidFill>
                <a:latin typeface="Calibri" pitchFamily="34" charset="0"/>
                <a:ea typeface="Calibri" pitchFamily="34" charset="-122"/>
                <a:cs typeface="Calibri" pitchFamily="34" charset="-120"/>
              </a:rPr>
              <a:t>Acoustic encoder</a:t>
            </a:r>
            <a:endParaRPr lang="en-US" sz="1250" dirty="0"/>
          </a:p>
        </p:txBody>
      </p:sp>
      <p:sp>
        <p:nvSpPr>
          <p:cNvPr id="13" name="Text 11"/>
          <p:cNvSpPr txBox="1"/>
          <p:nvPr/>
        </p:nvSpPr>
        <p:spPr>
          <a:xfrm>
            <a:off x="676656" y="2843784"/>
            <a:ext cx="2523744" cy="256032"/>
          </a:xfrm>
          <a:prstGeom prst="rect">
            <a:avLst/>
          </a:prstGeom>
          <a:noFill/>
          <a:ln/>
        </p:spPr>
        <p:txBody>
          <a:bodyPr wrap="square" lIns="0" tIns="0" rIns="0" bIns="0" rtlCol="0" anchor="ctr"/>
          <a:lstStyle/>
          <a:p>
            <a:pPr marL="0" indent="0" algn="ctr">
              <a:buNone/>
            </a:pPr>
            <a:r>
              <a:rPr lang="en-US" sz="1050" dirty="0">
                <a:solidFill>
                  <a:srgbClr val="6B524C"/>
                </a:solidFill>
                <a:latin typeface="Calibri" pitchFamily="34" charset="0"/>
                <a:ea typeface="Calibri" pitchFamily="34" charset="-122"/>
                <a:cs typeface="Calibri" pitchFamily="34" charset="-120"/>
              </a:rPr>
              <a:t>BEATs · last 2 layers trainable</a:t>
            </a:r>
            <a:endParaRPr lang="en-US" sz="1050" dirty="0"/>
          </a:p>
        </p:txBody>
      </p:sp>
      <p:sp>
        <p:nvSpPr>
          <p:cNvPr id="14" name="Shape 12"/>
          <p:cNvSpPr/>
          <p:nvPr/>
        </p:nvSpPr>
        <p:spPr>
          <a:xfrm>
            <a:off x="3749040" y="1627632"/>
            <a:ext cx="3017520" cy="1536192"/>
          </a:xfrm>
          <a:prstGeom prst="roundRect">
            <a:avLst>
              <a:gd name="adj" fmla="val 3571"/>
            </a:avLst>
          </a:prstGeom>
          <a:solidFill>
            <a:srgbClr val="EEF3EA"/>
          </a:solidFill>
          <a:ln w="19050">
            <a:solidFill>
              <a:srgbClr val="6E8B5F"/>
            </a:solidFill>
            <a:prstDash val="solid"/>
          </a:ln>
        </p:spPr>
        <p:txBody>
          <a:bodyPr/>
          <a:lstStyle/>
          <a:p>
            <a:endParaRPr lang="en-US"/>
          </a:p>
        </p:txBody>
      </p:sp>
      <p:sp>
        <p:nvSpPr>
          <p:cNvPr id="15" name="Text 13"/>
          <p:cNvSpPr txBox="1"/>
          <p:nvPr/>
        </p:nvSpPr>
        <p:spPr>
          <a:xfrm>
            <a:off x="3858768" y="1810512"/>
            <a:ext cx="2798064" cy="292608"/>
          </a:xfrm>
          <a:prstGeom prst="rect">
            <a:avLst/>
          </a:prstGeom>
          <a:noFill/>
          <a:ln/>
        </p:spPr>
        <p:txBody>
          <a:bodyPr wrap="square" lIns="0" tIns="0" rIns="0" bIns="0" rtlCol="0" anchor="ctr"/>
          <a:lstStyle/>
          <a:p>
            <a:pPr marL="0" indent="0" algn="ctr">
              <a:buNone/>
            </a:pPr>
            <a:r>
              <a:rPr lang="en-US" sz="1300" b="1" dirty="0">
                <a:solidFill>
                  <a:srgbClr val="6E8B5F"/>
                </a:solidFill>
                <a:latin typeface="Cambria" pitchFamily="34" charset="0"/>
                <a:ea typeface="Cambria" pitchFamily="34" charset="-122"/>
                <a:cs typeface="Cambria" pitchFamily="34" charset="-120"/>
              </a:rPr>
              <a:t>Dual cross-attention</a:t>
            </a:r>
            <a:endParaRPr lang="en-US" sz="1300" dirty="0"/>
          </a:p>
        </p:txBody>
      </p:sp>
      <p:sp>
        <p:nvSpPr>
          <p:cNvPr id="16" name="Text 14"/>
          <p:cNvSpPr txBox="1"/>
          <p:nvPr/>
        </p:nvSpPr>
        <p:spPr>
          <a:xfrm>
            <a:off x="3858768" y="2176272"/>
            <a:ext cx="2798064" cy="822960"/>
          </a:xfrm>
          <a:prstGeom prst="rect">
            <a:avLst/>
          </a:prstGeom>
          <a:noFill/>
          <a:ln/>
        </p:spPr>
        <p:txBody>
          <a:bodyPr wrap="square" lIns="0" tIns="0" rIns="0" bIns="0" rtlCol="0" anchor="ctr"/>
          <a:lstStyle/>
          <a:p>
            <a:pPr marL="0" indent="0" algn="ctr">
              <a:buNone/>
            </a:pPr>
            <a:r>
              <a:rPr lang="en-US" sz="1150" dirty="0">
                <a:solidFill>
                  <a:srgbClr val="342220"/>
                </a:solidFill>
                <a:latin typeface="Calibri" pitchFamily="34" charset="0"/>
                <a:ea typeface="Calibri" pitchFamily="34" charset="-122"/>
                <a:cs typeface="Calibri" pitchFamily="34" charset="-120"/>
              </a:rPr>
              <a:t>semantic → acoustic</a:t>
            </a:r>
            <a:endParaRPr lang="en-US" sz="1150" dirty="0"/>
          </a:p>
          <a:p>
            <a:pPr marL="0" indent="0" algn="ctr">
              <a:buNone/>
            </a:pPr>
            <a:r>
              <a:rPr lang="en-US" sz="1150" dirty="0">
                <a:solidFill>
                  <a:srgbClr val="342220"/>
                </a:solidFill>
                <a:latin typeface="Calibri" pitchFamily="34" charset="0"/>
                <a:ea typeface="Calibri" pitchFamily="34" charset="-122"/>
                <a:cs typeface="Calibri" pitchFamily="34" charset="-120"/>
              </a:rPr>
              <a:t>acoustic → semantic</a:t>
            </a:r>
            <a:endParaRPr lang="en-US" sz="1150" dirty="0"/>
          </a:p>
          <a:p>
            <a:pPr marL="0" indent="0" algn="ctr">
              <a:buNone/>
            </a:pPr>
            <a:r>
              <a:rPr lang="en-US" sz="1150" dirty="0">
                <a:solidFill>
                  <a:srgbClr val="342220"/>
                </a:solidFill>
                <a:latin typeface="Calibri" pitchFamily="34" charset="0"/>
                <a:ea typeface="Calibri" pitchFamily="34" charset="-122"/>
                <a:cs typeface="Calibri" pitchFamily="34" charset="-120"/>
              </a:rPr>
              <a:t>plus both originals</a:t>
            </a:r>
            <a:endParaRPr lang="en-US" sz="1150" dirty="0"/>
          </a:p>
        </p:txBody>
      </p:sp>
      <p:sp>
        <p:nvSpPr>
          <p:cNvPr id="17" name="Shape 15"/>
          <p:cNvSpPr/>
          <p:nvPr/>
        </p:nvSpPr>
        <p:spPr>
          <a:xfrm>
            <a:off x="3346704" y="1984248"/>
            <a:ext cx="347472" cy="0"/>
          </a:xfrm>
          <a:prstGeom prst="line">
            <a:avLst/>
          </a:prstGeom>
          <a:noFill/>
          <a:ln w="25400">
            <a:solidFill>
              <a:srgbClr val="C0A49E"/>
            </a:solidFill>
            <a:prstDash val="solid"/>
            <a:tailEnd type="triangle"/>
          </a:ln>
        </p:spPr>
        <p:txBody>
          <a:bodyPr/>
          <a:lstStyle/>
          <a:p>
            <a:endParaRPr lang="en-US"/>
          </a:p>
        </p:txBody>
      </p:sp>
      <p:sp>
        <p:nvSpPr>
          <p:cNvPr id="18" name="Shape 16"/>
          <p:cNvSpPr/>
          <p:nvPr/>
        </p:nvSpPr>
        <p:spPr>
          <a:xfrm>
            <a:off x="3346704" y="2807208"/>
            <a:ext cx="347472" cy="0"/>
          </a:xfrm>
          <a:prstGeom prst="line">
            <a:avLst/>
          </a:prstGeom>
          <a:noFill/>
          <a:ln w="25400">
            <a:solidFill>
              <a:srgbClr val="C0A49E"/>
            </a:solidFill>
            <a:prstDash val="solid"/>
            <a:tailEnd type="triangle"/>
          </a:ln>
        </p:spPr>
        <p:txBody>
          <a:bodyPr/>
          <a:lstStyle/>
          <a:p>
            <a:endParaRPr lang="en-US"/>
          </a:p>
        </p:txBody>
      </p:sp>
      <p:sp>
        <p:nvSpPr>
          <p:cNvPr id="19" name="Shape 17"/>
          <p:cNvSpPr/>
          <p:nvPr/>
        </p:nvSpPr>
        <p:spPr>
          <a:xfrm>
            <a:off x="7187184" y="1627632"/>
            <a:ext cx="4443984" cy="1536192"/>
          </a:xfrm>
          <a:prstGeom prst="roundRect">
            <a:avLst>
              <a:gd name="adj" fmla="val 3571"/>
            </a:avLst>
          </a:prstGeom>
          <a:solidFill>
            <a:srgbClr val="31211F"/>
          </a:solidFill>
          <a:ln w="12700">
            <a:solidFill>
              <a:srgbClr val="333333"/>
            </a:solidFill>
            <a:prstDash val="solid"/>
          </a:ln>
        </p:spPr>
        <p:txBody>
          <a:bodyPr/>
          <a:lstStyle/>
          <a:p>
            <a:endParaRPr lang="en-US"/>
          </a:p>
        </p:txBody>
      </p:sp>
      <p:sp>
        <p:nvSpPr>
          <p:cNvPr id="20" name="Text 18"/>
          <p:cNvSpPr txBox="1"/>
          <p:nvPr/>
        </p:nvSpPr>
        <p:spPr>
          <a:xfrm>
            <a:off x="7296912" y="1810512"/>
            <a:ext cx="4224528" cy="310896"/>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LLaMA-3-8B</a:t>
            </a:r>
            <a:endParaRPr lang="en-US" sz="1450" dirty="0"/>
          </a:p>
        </p:txBody>
      </p:sp>
      <p:sp>
        <p:nvSpPr>
          <p:cNvPr id="21" name="Text 19"/>
          <p:cNvSpPr txBox="1"/>
          <p:nvPr/>
        </p:nvSpPr>
        <p:spPr>
          <a:xfrm>
            <a:off x="7296912" y="2194560"/>
            <a:ext cx="4224528" cy="822960"/>
          </a:xfrm>
          <a:prstGeom prst="rect">
            <a:avLst/>
          </a:prstGeom>
          <a:noFill/>
          <a:ln/>
        </p:spPr>
        <p:txBody>
          <a:bodyPr wrap="square" lIns="0" tIns="0" rIns="0" bIns="0" rtlCol="0" anchor="ctr"/>
          <a:lstStyle/>
          <a:p>
            <a:pPr marL="0" indent="0" algn="ctr">
              <a:buNone/>
            </a:pPr>
            <a:r>
              <a:rPr lang="en-US" sz="1150" dirty="0">
                <a:solidFill>
                  <a:srgbClr val="DCC5BF"/>
                </a:solidFill>
                <a:latin typeface="Calibri" pitchFamily="34" charset="0"/>
                <a:ea typeface="Calibri" pitchFamily="34" charset="-122"/>
                <a:cs typeface="Calibri" pitchFamily="34" charset="-120"/>
              </a:rPr>
              <a:t>frozen · LoRA rank 2, α = 16, dropout 0.2</a:t>
            </a:r>
            <a:endParaRPr lang="en-US" sz="1150" dirty="0"/>
          </a:p>
          <a:p>
            <a:pPr marL="0" indent="0" algn="ctr">
              <a:buNone/>
            </a:pPr>
            <a:r>
              <a:rPr lang="en-US" sz="1150" dirty="0">
                <a:solidFill>
                  <a:srgbClr val="DCC5BF"/>
                </a:solidFill>
                <a:latin typeface="Calibri" pitchFamily="34" charset="0"/>
                <a:ea typeface="Calibri" pitchFamily="34" charset="-122"/>
                <a:cs typeface="Calibri" pitchFamily="34" charset="-120"/>
              </a:rPr>
              <a:t>+ instruction + context text</a:t>
            </a:r>
            <a:endParaRPr lang="en-US" sz="1150" dirty="0"/>
          </a:p>
          <a:p>
            <a:pPr marL="0" indent="0" algn="ctr">
              <a:buNone/>
            </a:pPr>
            <a:r>
              <a:rPr lang="en-US" sz="1150" dirty="0">
                <a:solidFill>
                  <a:srgbClr val="DCC5BF"/>
                </a:solidFill>
                <a:latin typeface="Calibri" pitchFamily="34" charset="0"/>
                <a:ea typeface="Calibri" pitchFamily="34" charset="-122"/>
                <a:cs typeface="Calibri" pitchFamily="34" charset="-120"/>
              </a:rPr>
              <a:t>→ one emotion word</a:t>
            </a:r>
            <a:endParaRPr lang="en-US" sz="1150" dirty="0"/>
          </a:p>
        </p:txBody>
      </p:sp>
      <p:sp>
        <p:nvSpPr>
          <p:cNvPr id="22" name="Shape 20"/>
          <p:cNvSpPr/>
          <p:nvPr/>
        </p:nvSpPr>
        <p:spPr>
          <a:xfrm>
            <a:off x="6803136" y="2395728"/>
            <a:ext cx="347472" cy="0"/>
          </a:xfrm>
          <a:prstGeom prst="line">
            <a:avLst/>
          </a:prstGeom>
          <a:noFill/>
          <a:ln w="25400">
            <a:solidFill>
              <a:srgbClr val="C0A49E"/>
            </a:solidFill>
            <a:prstDash val="solid"/>
            <a:tailEnd type="triangle"/>
          </a:ln>
        </p:spPr>
        <p:txBody>
          <a:bodyPr/>
          <a:lstStyle/>
          <a:p>
            <a:endParaRPr lang="en-US"/>
          </a:p>
        </p:txBody>
      </p:sp>
      <p:sp>
        <p:nvSpPr>
          <p:cNvPr id="23" name="Shape 21"/>
          <p:cNvSpPr/>
          <p:nvPr/>
        </p:nvSpPr>
        <p:spPr>
          <a:xfrm>
            <a:off x="3749040" y="3291840"/>
            <a:ext cx="3017520" cy="475488"/>
          </a:xfrm>
          <a:prstGeom prst="roundRect">
            <a:avLst>
              <a:gd name="adj" fmla="val 9615"/>
            </a:avLst>
          </a:prstGeom>
          <a:solidFill>
            <a:srgbClr val="F6F0EE"/>
          </a:solidFill>
          <a:ln w="12700">
            <a:solidFill>
              <a:srgbClr val="EBE0DC"/>
            </a:solidFill>
            <a:prstDash val="solid"/>
          </a:ln>
        </p:spPr>
        <p:txBody>
          <a:bodyPr/>
          <a:lstStyle/>
          <a:p>
            <a:endParaRPr lang="en-US"/>
          </a:p>
        </p:txBody>
      </p:sp>
      <p:sp>
        <p:nvSpPr>
          <p:cNvPr id="24" name="Text 22"/>
          <p:cNvSpPr txBox="1"/>
          <p:nvPr/>
        </p:nvSpPr>
        <p:spPr>
          <a:xfrm>
            <a:off x="3840480" y="3392424"/>
            <a:ext cx="2834640" cy="274320"/>
          </a:xfrm>
          <a:prstGeom prst="rect">
            <a:avLst/>
          </a:prstGeom>
          <a:noFill/>
          <a:ln/>
        </p:spPr>
        <p:txBody>
          <a:bodyPr wrap="square" lIns="0" tIns="0" rIns="0" bIns="0" rtlCol="0" anchor="ctr"/>
          <a:lstStyle/>
          <a:p>
            <a:pPr marL="0" indent="0" algn="ctr">
              <a:buNone/>
            </a:pPr>
            <a:r>
              <a:rPr lang="en-US" sz="1100" dirty="0">
                <a:solidFill>
                  <a:srgbClr val="342220"/>
                </a:solidFill>
                <a:latin typeface="Calibri" pitchFamily="34" charset="0"/>
                <a:ea typeface="Calibri" pitchFamily="34" charset="-122"/>
                <a:cs typeface="Calibri" pitchFamily="34" charset="-120"/>
              </a:rPr>
              <a:t>context + instruction text</a:t>
            </a:r>
            <a:endParaRPr lang="en-US" sz="1100" dirty="0"/>
          </a:p>
        </p:txBody>
      </p:sp>
      <p:sp>
        <p:nvSpPr>
          <p:cNvPr id="25" name="Shape 23"/>
          <p:cNvSpPr/>
          <p:nvPr/>
        </p:nvSpPr>
        <p:spPr>
          <a:xfrm>
            <a:off x="6803136" y="3529584"/>
            <a:ext cx="347472" cy="0"/>
          </a:xfrm>
          <a:prstGeom prst="line">
            <a:avLst/>
          </a:prstGeom>
          <a:noFill/>
          <a:ln w="25400">
            <a:solidFill>
              <a:srgbClr val="C0A49E"/>
            </a:solidFill>
            <a:prstDash val="solid"/>
          </a:ln>
        </p:spPr>
        <p:txBody>
          <a:bodyPr/>
          <a:lstStyle/>
          <a:p>
            <a:endParaRPr lang="en-US"/>
          </a:p>
        </p:txBody>
      </p:sp>
      <p:sp>
        <p:nvSpPr>
          <p:cNvPr id="26" name="Shape 24"/>
          <p:cNvSpPr/>
          <p:nvPr/>
        </p:nvSpPr>
        <p:spPr>
          <a:xfrm>
            <a:off x="7150608" y="3529584"/>
            <a:ext cx="0" cy="0"/>
          </a:xfrm>
          <a:prstGeom prst="line">
            <a:avLst/>
          </a:prstGeom>
          <a:noFill/>
          <a:ln w="25400">
            <a:solidFill>
              <a:srgbClr val="C0A49E"/>
            </a:solidFill>
            <a:prstDash val="solid"/>
            <a:tailEnd type="triangle"/>
          </a:ln>
        </p:spPr>
        <p:txBody>
          <a:bodyPr/>
          <a:lstStyle/>
          <a:p>
            <a:endParaRPr lang="en-US"/>
          </a:p>
        </p:txBody>
      </p:sp>
      <p:sp>
        <p:nvSpPr>
          <p:cNvPr id="27" name="Text 25"/>
          <p:cNvSpPr txBox="1"/>
          <p:nvPr/>
        </p:nvSpPr>
        <p:spPr>
          <a:xfrm>
            <a:off x="566928" y="4023360"/>
            <a:ext cx="11064240" cy="2029968"/>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342220"/>
                </a:solidFill>
                <a:latin typeface="Calibri" pitchFamily="34" charset="0"/>
                <a:ea typeface="Calibri" pitchFamily="34" charset="-122"/>
                <a:cs typeface="Calibri" pitchFamily="34" charset="-120"/>
              </a:rPr>
              <a:t>Both encoders are frozen except their last two layers — a middle position between fully frozen and fully trained.</a:t>
            </a:r>
            <a:endParaRPr lang="en-US" sz="1260" dirty="0"/>
          </a:p>
          <a:p>
            <a:pPr marL="342900" indent="-342900">
              <a:spcAft>
                <a:spcPts val="800"/>
              </a:spcAft>
              <a:buSzPct val="100000"/>
              <a:buChar char="●"/>
            </a:pPr>
            <a:r>
              <a:rPr lang="en-US" sz="1260" dirty="0">
                <a:solidFill>
                  <a:srgbClr val="342220"/>
                </a:solidFill>
                <a:latin typeface="Calibri" pitchFamily="34" charset="0"/>
                <a:ea typeface="Calibri" pitchFamily="34" charset="-122"/>
                <a:cs typeface="Calibri" pitchFamily="34" charset="-120"/>
              </a:rPr>
              <a:t>The fused representation is projected into LLaMA's hidden space and concatenated with the instruction and context text.</a:t>
            </a:r>
            <a:endParaRPr lang="en-US" sz="1260" dirty="0"/>
          </a:p>
          <a:p>
            <a:pPr marL="342900" indent="-342900">
              <a:spcAft>
                <a:spcPts val="800"/>
              </a:spcAft>
              <a:buSzPct val="100000"/>
              <a:buChar char="●"/>
            </a:pPr>
            <a:r>
              <a:rPr lang="en-US" sz="1260" dirty="0">
                <a:solidFill>
                  <a:srgbClr val="342220"/>
                </a:solidFill>
                <a:latin typeface="Calibri" pitchFamily="34" charset="0"/>
                <a:ea typeface="Calibri" pitchFamily="34" charset="-122"/>
                <a:cs typeface="Calibri" pitchFamily="34" charset="-120"/>
              </a:rPr>
              <a:t>The instruction is fixed: 'Describe the speaker's emotion in one word.' The output is a word, not a class index.</a:t>
            </a:r>
            <a:endParaRPr lang="en-US" sz="1260" dirty="0"/>
          </a:p>
          <a:p>
            <a:pPr marL="342900" indent="-342900">
              <a:spcAft>
                <a:spcPts val="800"/>
              </a:spcAft>
              <a:buSzPct val="100000"/>
              <a:buChar char="●"/>
            </a:pPr>
            <a:r>
              <a:rPr lang="en-US" sz="1260" dirty="0">
                <a:solidFill>
                  <a:srgbClr val="342220"/>
                </a:solidFill>
                <a:latin typeface="Calibri" pitchFamily="34" charset="0"/>
                <a:ea typeface="Calibri" pitchFamily="34" charset="-122"/>
                <a:cs typeface="Calibri" pitchFamily="34" charset="-120"/>
              </a:rPr>
              <a:t>Note what is not here: no Q-Former, no adapter stack, no separate classification head. The LLM produces the label as text.</a:t>
            </a:r>
            <a:endParaRPr lang="en-US" sz="12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8B84-8ACF-B65D-4E1F-F89D29C95A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91CA79-3300-2D44-FC79-0F502BA548E2}"/>
              </a:ext>
            </a:extLst>
          </p:cNvPr>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a:extLst>
              <a:ext uri="{FF2B5EF4-FFF2-40B4-BE49-F238E27FC236}">
                <a16:creationId xmlns:a16="http://schemas.microsoft.com/office/drawing/2014/main" id="{925C060A-F0B5-96A9-43BF-87B1F07CADF6}"/>
              </a:ext>
            </a:extLst>
          </p:cNvPr>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a:extLst>
              <a:ext uri="{FF2B5EF4-FFF2-40B4-BE49-F238E27FC236}">
                <a16:creationId xmlns:a16="http://schemas.microsoft.com/office/drawing/2014/main" id="{16BCF52E-C76D-6F10-E445-8E6F703F5993}"/>
              </a:ext>
            </a:extLst>
          </p:cNvPr>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a:extLst>
              <a:ext uri="{FF2B5EF4-FFF2-40B4-BE49-F238E27FC236}">
                <a16:creationId xmlns:a16="http://schemas.microsoft.com/office/drawing/2014/main" id="{9539519F-97E6-A211-7C95-0BD00AD74DAF}"/>
              </a:ext>
            </a:extLst>
          </p:cNvPr>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architecture</a:t>
            </a:r>
            <a:endParaRPr lang="en-US" sz="2900" dirty="0"/>
          </a:p>
        </p:txBody>
      </p:sp>
      <p:sp>
        <p:nvSpPr>
          <p:cNvPr id="6" name="Text 4">
            <a:extLst>
              <a:ext uri="{FF2B5EF4-FFF2-40B4-BE49-F238E27FC236}">
                <a16:creationId xmlns:a16="http://schemas.microsoft.com/office/drawing/2014/main" id="{39908DEF-2F2A-720B-A5AE-7B3163A8E58E}"/>
              </a:ext>
            </a:extLst>
          </p:cNvPr>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Two encoders, a fusion block, a frozen LLaMA with LoRA</a:t>
            </a:r>
            <a:endParaRPr lang="en-US" sz="1350" dirty="0"/>
          </a:p>
        </p:txBody>
      </p:sp>
      <p:sp>
        <p:nvSpPr>
          <p:cNvPr id="7" name="Text 5">
            <a:extLst>
              <a:ext uri="{FF2B5EF4-FFF2-40B4-BE49-F238E27FC236}">
                <a16:creationId xmlns:a16="http://schemas.microsoft.com/office/drawing/2014/main" id="{EA6881EB-D3C8-7497-1AAA-305756A919E2}"/>
              </a:ext>
            </a:extLst>
          </p:cNvPr>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9</a:t>
            </a:r>
            <a:endParaRPr lang="en-US" sz="900" dirty="0"/>
          </a:p>
        </p:txBody>
      </p:sp>
      <p:pic>
        <p:nvPicPr>
          <p:cNvPr id="28" name="Picture 27">
            <a:extLst>
              <a:ext uri="{FF2B5EF4-FFF2-40B4-BE49-F238E27FC236}">
                <a16:creationId xmlns:a16="http://schemas.microsoft.com/office/drawing/2014/main" id="{65ACCBC6-4B42-97CD-C8BE-6A0F7723F94A}"/>
              </a:ext>
            </a:extLst>
          </p:cNvPr>
          <p:cNvPicPr>
            <a:picLocks noChangeAspect="1"/>
          </p:cNvPicPr>
          <p:nvPr/>
        </p:nvPicPr>
        <p:blipFill>
          <a:blip r:embed="rId3"/>
          <a:stretch>
            <a:fillRect/>
          </a:stretch>
        </p:blipFill>
        <p:spPr>
          <a:xfrm>
            <a:off x="1158482" y="1564124"/>
            <a:ext cx="9373254" cy="4497953"/>
          </a:xfrm>
          <a:prstGeom prst="rect">
            <a:avLst/>
          </a:prstGeom>
        </p:spPr>
      </p:pic>
    </p:spTree>
    <p:extLst>
      <p:ext uri="{BB962C8B-B14F-4D97-AF65-F5344CB8AC3E}">
        <p14:creationId xmlns:p14="http://schemas.microsoft.com/office/powerpoint/2010/main" val="3492218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two encoders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Both are models we have read in full</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10</a:t>
            </a:r>
            <a:endParaRPr lang="en-US" sz="900" dirty="0"/>
          </a:p>
        </p:txBody>
      </p:sp>
      <p:sp>
        <p:nvSpPr>
          <p:cNvPr id="8" name="Shape 6"/>
          <p:cNvSpPr/>
          <p:nvPr/>
        </p:nvSpPr>
        <p:spPr>
          <a:xfrm>
            <a:off x="566928" y="1572768"/>
            <a:ext cx="5440680" cy="2377440"/>
          </a:xfrm>
          <a:prstGeom prst="roundRect">
            <a:avLst>
              <a:gd name="adj" fmla="val 2308"/>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HuBERT as the semantic encoder</a:t>
            </a:r>
            <a:endParaRPr lang="en-US" sz="1500" dirty="0"/>
          </a:p>
        </p:txBody>
      </p:sp>
      <p:sp>
        <p:nvSpPr>
          <p:cNvPr id="11" name="Text 9"/>
          <p:cNvSpPr txBox="1"/>
          <p:nvPr/>
        </p:nvSpPr>
        <p:spPr>
          <a:xfrm>
            <a:off x="822960" y="2176272"/>
            <a:ext cx="4928616" cy="1591056"/>
          </a:xfrm>
          <a:prstGeom prst="rect">
            <a:avLst/>
          </a:prstGeom>
          <a:noFill/>
          <a:ln/>
        </p:spPr>
        <p:txBody>
          <a:bodyPr wrap="square" lIns="0" tIns="0" rIns="0" bIns="0" rtlCol="0" anchor="t"/>
          <a:lstStyle/>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The paper's justification: HuBERT leverages pseudo-labels generated from spectral features or its own learned representations, which have been shown to contain rich semantic information.</a:t>
            </a:r>
            <a:endParaRPr lang="en-US" sz="1250" dirty="0"/>
          </a:p>
          <a:p>
            <a:pPr marL="0" indent="0">
              <a:lnSpc>
                <a:spcPct val="108000"/>
              </a:lnSpc>
              <a:buNone/>
            </a:pPr>
            <a:endParaRPr lang="en-US" sz="1250" dirty="0"/>
          </a:p>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From our HuBERT session: masked prediction of offline k-means cluster targets, bootstrapped from MFCCs and refined twice. The paper cites HuBERTopic for the semantic claim.</a:t>
            </a:r>
            <a:endParaRPr lang="en-US" sz="1250" dirty="0"/>
          </a:p>
        </p:txBody>
      </p:sp>
      <p:sp>
        <p:nvSpPr>
          <p:cNvPr id="12" name="Shape 10"/>
          <p:cNvSpPr/>
          <p:nvPr/>
        </p:nvSpPr>
        <p:spPr>
          <a:xfrm>
            <a:off x="6190488" y="1572768"/>
            <a:ext cx="5440680" cy="2377440"/>
          </a:xfrm>
          <a:prstGeom prst="roundRect">
            <a:avLst>
              <a:gd name="adj" fmla="val 2308"/>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BEATs as the acoustic encoder</a:t>
            </a:r>
            <a:endParaRPr lang="en-US" sz="1500" dirty="0"/>
          </a:p>
        </p:txBody>
      </p:sp>
      <p:sp>
        <p:nvSpPr>
          <p:cNvPr id="15" name="Text 13"/>
          <p:cNvSpPr txBox="1"/>
          <p:nvPr/>
        </p:nvSpPr>
        <p:spPr>
          <a:xfrm>
            <a:off x="6446520" y="2176272"/>
            <a:ext cx="4928616" cy="1591056"/>
          </a:xfrm>
          <a:prstGeom prst="rect">
            <a:avLst/>
          </a:prstGeom>
          <a:noFill/>
          <a:ln/>
        </p:spPr>
        <p:txBody>
          <a:bodyPr wrap="square" lIns="0" tIns="0" rIns="0" bIns="0" rtlCol="0" anchor="t"/>
          <a:lstStyle/>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The paper's justification: BEATs captures fine-grained spectral and prosodic characteristics directly from the raw audio signal.</a:t>
            </a:r>
            <a:endParaRPr lang="en-US" sz="1250" dirty="0"/>
          </a:p>
          <a:p>
            <a:pPr marL="0" indent="0">
              <a:lnSpc>
                <a:spcPct val="108000"/>
              </a:lnSpc>
              <a:buNone/>
            </a:pPr>
            <a:endParaRPr lang="en-US" sz="1250" dirty="0"/>
          </a:p>
          <a:p>
            <a:pPr marL="0" indent="0">
              <a:lnSpc>
                <a:spcPct val="108000"/>
              </a:lnSpc>
              <a:buNone/>
            </a:pPr>
            <a:r>
              <a:rPr lang="en-US" sz="1250" dirty="0">
                <a:solidFill>
                  <a:srgbClr val="342220"/>
                </a:solidFill>
                <a:latin typeface="Calibri" pitchFamily="34" charset="0"/>
                <a:ea typeface="Calibri" pitchFamily="34" charset="-122"/>
                <a:cs typeface="Calibri" pitchFamily="34" charset="-120"/>
              </a:rPr>
              <a:t>From our SALMONN session: BEATs is trained with iterative self-supervised learning and an acoustic tokeniser distilled from semantic knowledge — and SALMONN uses it for exactly the same non-speech-semantics role.</a:t>
            </a:r>
            <a:endParaRPr lang="en-US" sz="1250" dirty="0"/>
          </a:p>
        </p:txBody>
      </p:sp>
      <p:sp>
        <p:nvSpPr>
          <p:cNvPr id="16" name="Shape 14"/>
          <p:cNvSpPr/>
          <p:nvPr/>
        </p:nvSpPr>
        <p:spPr>
          <a:xfrm>
            <a:off x="566928" y="4151376"/>
            <a:ext cx="11064240" cy="1901952"/>
          </a:xfrm>
          <a:prstGeom prst="roundRect">
            <a:avLst>
              <a:gd name="adj" fmla="val 2885"/>
            </a:avLst>
          </a:prstGeom>
          <a:solidFill>
            <a:srgbClr val="31211F"/>
          </a:solidFill>
          <a:ln w="12700">
            <a:solidFill>
              <a:srgbClr val="31211F"/>
            </a:solidFill>
            <a:prstDash val="solid"/>
          </a:ln>
        </p:spPr>
        <p:txBody>
          <a:bodyPr/>
          <a:lstStyle/>
          <a:p>
            <a:endParaRPr lang="en-US"/>
          </a:p>
        </p:txBody>
      </p:sp>
      <p:sp>
        <p:nvSpPr>
          <p:cNvPr id="17" name="Shape 15"/>
          <p:cNvSpPr/>
          <p:nvPr/>
        </p:nvSpPr>
        <p:spPr>
          <a:xfrm>
            <a:off x="786384" y="4443984"/>
            <a:ext cx="109728" cy="109728"/>
          </a:xfrm>
          <a:prstGeom prst="ellipse">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987552" y="431596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rPr>
              <a:t>Question</a:t>
            </a:r>
            <a:endParaRPr lang="en-US" sz="1500" dirty="0"/>
          </a:p>
        </p:txBody>
      </p:sp>
      <p:sp>
        <p:nvSpPr>
          <p:cNvPr id="19" name="Text 17"/>
          <p:cNvSpPr txBox="1"/>
          <p:nvPr/>
        </p:nvSpPr>
        <p:spPr>
          <a:xfrm>
            <a:off x="822960" y="4754880"/>
            <a:ext cx="10552176" cy="1115568"/>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Is HuBERT a semantic encoder? The layer-wise analysis we read in the wav2vec 2.0 session says it depends entirely on which layer you take: shallow layers are acoustic, middle layers phonetic, upper-middle layers lexical, and the deepest layers drift back toward the input.</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paper does not say which layer it uses, and it fine-tunes the last two — which by that analysis are the least semantic ones in the stack.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Getting the two streams into the same space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Three preparatory steps before any attention happens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11</a:t>
            </a:r>
            <a:endParaRPr lang="en-US" sz="900" dirty="0"/>
          </a:p>
        </p:txBody>
      </p:sp>
      <p:sp>
        <p:nvSpPr>
          <p:cNvPr id="8" name="Shape 6"/>
          <p:cNvSpPr/>
          <p:nvPr/>
        </p:nvSpPr>
        <p:spPr>
          <a:xfrm>
            <a:off x="566928" y="1591056"/>
            <a:ext cx="11064240" cy="1005840"/>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9" name="Shape 7"/>
          <p:cNvSpPr/>
          <p:nvPr/>
        </p:nvSpPr>
        <p:spPr>
          <a:xfrm>
            <a:off x="822960" y="1920240"/>
            <a:ext cx="347472" cy="347472"/>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822960" y="1947672"/>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920240"/>
            <a:ext cx="1828800" cy="329184"/>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Project</a:t>
            </a:r>
            <a:endParaRPr lang="en-US" sz="1450" dirty="0"/>
          </a:p>
        </p:txBody>
      </p:sp>
      <p:sp>
        <p:nvSpPr>
          <p:cNvPr id="12" name="Text 10"/>
          <p:cNvSpPr txBox="1"/>
          <p:nvPr/>
        </p:nvSpPr>
        <p:spPr>
          <a:xfrm>
            <a:off x="3291840" y="1737360"/>
            <a:ext cx="8138160" cy="731520"/>
          </a:xfrm>
          <a:prstGeom prst="rect">
            <a:avLst/>
          </a:prstGeom>
          <a:noFill/>
          <a:ln/>
        </p:spPr>
        <p:txBody>
          <a:bodyPr wrap="square" lIns="0" tIns="0" rIns="0" bIns="0" rtlCol="0" anchor="ctr"/>
          <a:lstStyle/>
          <a:p>
            <a:pPr marL="0" indent="0">
              <a:buNone/>
            </a:pPr>
            <a:r>
              <a:rPr lang="en-US" sz="1240" dirty="0">
                <a:solidFill>
                  <a:srgbClr val="342220"/>
                </a:solidFill>
                <a:latin typeface="Calibri" pitchFamily="34" charset="0"/>
                <a:ea typeface="Calibri" pitchFamily="34" charset="-122"/>
                <a:cs typeface="Calibri" pitchFamily="34" charset="-120"/>
              </a:rPr>
              <a:t>Two trainable matrices map the HuBERT output S and the BEATs output A to a common dimension d: S̃ = W_s S + b_s and Ã = W_a A + b_a.</a:t>
            </a:r>
            <a:endParaRPr lang="en-US" sz="1240" dirty="0"/>
          </a:p>
        </p:txBody>
      </p:sp>
      <p:sp>
        <p:nvSpPr>
          <p:cNvPr id="13" name="Shape 11"/>
          <p:cNvSpPr/>
          <p:nvPr/>
        </p:nvSpPr>
        <p:spPr>
          <a:xfrm>
            <a:off x="566928" y="2670048"/>
            <a:ext cx="11064240" cy="1005840"/>
          </a:xfrm>
          <a:prstGeom prst="roundRect">
            <a:avLst>
              <a:gd name="adj" fmla="val 4545"/>
            </a:avLst>
          </a:prstGeom>
          <a:solidFill>
            <a:srgbClr val="FFFFFF"/>
          </a:solidFill>
          <a:ln w="12700">
            <a:solidFill>
              <a:srgbClr val="F0E7E3"/>
            </a:solidFill>
            <a:prstDash val="solid"/>
          </a:ln>
        </p:spPr>
        <p:txBody>
          <a:bodyPr/>
          <a:lstStyle/>
          <a:p>
            <a:endParaRPr lang="en-US"/>
          </a:p>
        </p:txBody>
      </p:sp>
      <p:sp>
        <p:nvSpPr>
          <p:cNvPr id="14" name="Shape 12"/>
          <p:cNvSpPr/>
          <p:nvPr/>
        </p:nvSpPr>
        <p:spPr>
          <a:xfrm>
            <a:off x="822960" y="2999232"/>
            <a:ext cx="347472" cy="347472"/>
          </a:xfrm>
          <a:prstGeom prst="ellipse">
            <a:avLst/>
          </a:prstGeom>
          <a:solidFill>
            <a:srgbClr val="8C4A3C"/>
          </a:solidFill>
          <a:ln w="12700">
            <a:solidFill>
              <a:srgbClr val="333333"/>
            </a:solidFill>
            <a:prstDash val="solid"/>
          </a:ln>
        </p:spPr>
        <p:txBody>
          <a:bodyPr/>
          <a:lstStyle/>
          <a:p>
            <a:endParaRPr lang="en-US"/>
          </a:p>
        </p:txBody>
      </p:sp>
      <p:sp>
        <p:nvSpPr>
          <p:cNvPr id="15" name="Text 13"/>
          <p:cNvSpPr txBox="1"/>
          <p:nvPr/>
        </p:nvSpPr>
        <p:spPr>
          <a:xfrm>
            <a:off x="822960" y="302666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35024" y="2999232"/>
            <a:ext cx="1828800" cy="329184"/>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Normalise</a:t>
            </a:r>
            <a:endParaRPr lang="en-US" sz="1450" dirty="0"/>
          </a:p>
        </p:txBody>
      </p:sp>
      <p:sp>
        <p:nvSpPr>
          <p:cNvPr id="17" name="Text 15"/>
          <p:cNvSpPr txBox="1"/>
          <p:nvPr/>
        </p:nvSpPr>
        <p:spPr>
          <a:xfrm>
            <a:off x="3291840" y="2816352"/>
            <a:ext cx="8138160" cy="731520"/>
          </a:xfrm>
          <a:prstGeom prst="rect">
            <a:avLst/>
          </a:prstGeom>
          <a:noFill/>
          <a:ln/>
        </p:spPr>
        <p:txBody>
          <a:bodyPr wrap="square" lIns="0" tIns="0" rIns="0" bIns="0" rtlCol="0" anchor="ctr"/>
          <a:lstStyle/>
          <a:p>
            <a:pPr marL="0" indent="0">
              <a:buNone/>
            </a:pPr>
            <a:r>
              <a:rPr lang="en-US" sz="1240" dirty="0">
                <a:solidFill>
                  <a:srgbClr val="342220"/>
                </a:solidFill>
                <a:latin typeface="Calibri" pitchFamily="34" charset="0"/>
                <a:ea typeface="Calibri" pitchFamily="34" charset="-122"/>
                <a:cs typeface="Calibri" pitchFamily="34" charset="-120"/>
              </a:rPr>
              <a:t>Layer normalisation is applied to both projected streams to stabilise training — necessary because the two encoders were trained with different objectives and have different activation scales.</a:t>
            </a:r>
            <a:endParaRPr lang="en-US" sz="1240" dirty="0"/>
          </a:p>
        </p:txBody>
      </p:sp>
      <p:sp>
        <p:nvSpPr>
          <p:cNvPr id="18" name="Shape 16"/>
          <p:cNvSpPr/>
          <p:nvPr/>
        </p:nvSpPr>
        <p:spPr>
          <a:xfrm>
            <a:off x="566928" y="3749040"/>
            <a:ext cx="11064240" cy="1005840"/>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19" name="Shape 17"/>
          <p:cNvSpPr/>
          <p:nvPr/>
        </p:nvSpPr>
        <p:spPr>
          <a:xfrm>
            <a:off x="822960" y="4078224"/>
            <a:ext cx="347472" cy="347472"/>
          </a:xfrm>
          <a:prstGeom prst="ellipse">
            <a:avLst/>
          </a:prstGeom>
          <a:solidFill>
            <a:srgbClr val="8C4A3C"/>
          </a:solidFill>
          <a:ln w="12700">
            <a:solidFill>
              <a:srgbClr val="333333"/>
            </a:solidFill>
            <a:prstDash val="solid"/>
          </a:ln>
        </p:spPr>
        <p:txBody>
          <a:bodyPr/>
          <a:lstStyle/>
          <a:p>
            <a:endParaRPr lang="en-US"/>
          </a:p>
        </p:txBody>
      </p:sp>
      <p:sp>
        <p:nvSpPr>
          <p:cNvPr id="20" name="Text 18"/>
          <p:cNvSpPr txBox="1"/>
          <p:nvPr/>
        </p:nvSpPr>
        <p:spPr>
          <a:xfrm>
            <a:off x="822960" y="410565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35024" y="4078224"/>
            <a:ext cx="1828800" cy="329184"/>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Pad</a:t>
            </a:r>
            <a:endParaRPr lang="en-US" sz="1450" dirty="0"/>
          </a:p>
        </p:txBody>
      </p:sp>
      <p:sp>
        <p:nvSpPr>
          <p:cNvPr id="22" name="Text 20"/>
          <p:cNvSpPr txBox="1"/>
          <p:nvPr/>
        </p:nvSpPr>
        <p:spPr>
          <a:xfrm>
            <a:off x="3291840" y="3895344"/>
            <a:ext cx="8138160" cy="731520"/>
          </a:xfrm>
          <a:prstGeom prst="rect">
            <a:avLst/>
          </a:prstGeom>
          <a:noFill/>
          <a:ln/>
        </p:spPr>
        <p:txBody>
          <a:bodyPr wrap="square" lIns="0" tIns="0" rIns="0" bIns="0" rtlCol="0" anchor="ctr"/>
          <a:lstStyle/>
          <a:p>
            <a:pPr marL="0" indent="0">
              <a:buNone/>
            </a:pPr>
            <a:r>
              <a:rPr lang="en-US" sz="1240" dirty="0">
                <a:solidFill>
                  <a:srgbClr val="342220"/>
                </a:solidFill>
                <a:latin typeface="Calibri" pitchFamily="34" charset="0"/>
                <a:ea typeface="Calibri" pitchFamily="34" charset="-122"/>
                <a:cs typeface="Calibri" pitchFamily="34" charset="-120"/>
              </a:rPr>
              <a:t>The two sequence lengths T_s and T_a may differ. The shorter sequence is zero-padded along the temporal axis to T = max(T_s, T_a), so attention operates over temporally aligned representations.</a:t>
            </a:r>
            <a:endParaRPr lang="en-US" sz="1240" dirty="0"/>
          </a:p>
        </p:txBody>
      </p:sp>
      <p:sp>
        <p:nvSpPr>
          <p:cNvPr id="23" name="Shape 21"/>
          <p:cNvSpPr/>
          <p:nvPr/>
        </p:nvSpPr>
        <p:spPr>
          <a:xfrm>
            <a:off x="566928" y="4937760"/>
            <a:ext cx="11064240" cy="1115568"/>
          </a:xfrm>
          <a:prstGeom prst="roundRect">
            <a:avLst>
              <a:gd name="adj" fmla="val 4918"/>
            </a:avLst>
          </a:prstGeom>
          <a:solidFill>
            <a:srgbClr val="31211F"/>
          </a:solidFill>
          <a:ln w="12700">
            <a:solidFill>
              <a:srgbClr val="31211F"/>
            </a:solidFill>
            <a:prstDash val="solid"/>
          </a:ln>
        </p:spPr>
        <p:txBody>
          <a:bodyPr/>
          <a:lstStyle/>
          <a:p>
            <a:endParaRPr lang="en-US"/>
          </a:p>
        </p:txBody>
      </p:sp>
      <p:sp>
        <p:nvSpPr>
          <p:cNvPr id="24" name="Shape 22"/>
          <p:cNvSpPr/>
          <p:nvPr/>
        </p:nvSpPr>
        <p:spPr>
          <a:xfrm>
            <a:off x="786384" y="5230368"/>
            <a:ext cx="109728" cy="109728"/>
          </a:xfrm>
          <a:prstGeom prst="ellipse">
            <a:avLst/>
          </a:prstGeom>
          <a:solidFill>
            <a:srgbClr val="6E8B5F"/>
          </a:solidFill>
          <a:ln w="12700">
            <a:solidFill>
              <a:srgbClr val="333333"/>
            </a:solidFill>
            <a:prstDash val="solid"/>
          </a:ln>
        </p:spPr>
        <p:txBody>
          <a:bodyPr/>
          <a:lstStyle/>
          <a:p>
            <a:endParaRPr lang="en-US"/>
          </a:p>
        </p:txBody>
      </p:sp>
      <p:sp>
        <p:nvSpPr>
          <p:cNvPr id="25" name="Text 23"/>
          <p:cNvSpPr txBox="1"/>
          <p:nvPr/>
        </p:nvSpPr>
        <p:spPr>
          <a:xfrm>
            <a:off x="987552" y="510235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padding step</a:t>
            </a:r>
            <a:endParaRPr lang="en-US" sz="1500" dirty="0"/>
          </a:p>
        </p:txBody>
      </p:sp>
      <p:sp>
        <p:nvSpPr>
          <p:cNvPr id="26" name="Text 24"/>
          <p:cNvSpPr txBox="1"/>
          <p:nvPr/>
        </p:nvSpPr>
        <p:spPr>
          <a:xfrm>
            <a:off x="822960" y="5541264"/>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Zero-padding aligns the sequences in length but not in time. HuBERT and BEATs both output at 50 Hz, so the frame rates match — but any offset in windowing or downsampling would mean frame t in one stream and frame t in the other are not the same moment of audio.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Dual cross-attention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Each stream queries the other</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12</a:t>
            </a:r>
            <a:endParaRPr lang="en-US" sz="900" dirty="0"/>
          </a:p>
        </p:txBody>
      </p:sp>
      <p:sp>
        <p:nvSpPr>
          <p:cNvPr id="8" name="Shape 6"/>
          <p:cNvSpPr/>
          <p:nvPr/>
        </p:nvSpPr>
        <p:spPr>
          <a:xfrm>
            <a:off x="566928" y="1600200"/>
            <a:ext cx="5440680" cy="2240280"/>
          </a:xfrm>
          <a:prstGeom prst="roundRect">
            <a:avLst>
              <a:gd name="adj" fmla="val 2449"/>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Semantic queries acoustic</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Att_s = Softmax(Q_s K_aᵀ / √d) V_a</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The semantic features ask: for each word-level position, which acoustic moments matter? This incorporates detailed acoustic characteristics into the linguistic representation.</a:t>
            </a:r>
            <a:endParaRPr lang="en-US" sz="1280" dirty="0"/>
          </a:p>
        </p:txBody>
      </p:sp>
      <p:sp>
        <p:nvSpPr>
          <p:cNvPr id="12" name="Shape 10"/>
          <p:cNvSpPr/>
          <p:nvPr/>
        </p:nvSpPr>
        <p:spPr>
          <a:xfrm>
            <a:off x="6190488" y="1600200"/>
            <a:ext cx="5440680" cy="2240280"/>
          </a:xfrm>
          <a:prstGeom prst="roundRect">
            <a:avLst>
              <a:gd name="adj" fmla="val 2449"/>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Acoustic queries semantic</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Att_a = Softmax(Q_a K_sᵀ / √d) V_s</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The acoustic features ask: for each prosodic moment, which words matter? This enriches the acoustic representation with linguistic information.</a:t>
            </a:r>
            <a:endParaRPr lang="en-US" sz="1280" dirty="0"/>
          </a:p>
        </p:txBody>
      </p:sp>
      <p:sp>
        <p:nvSpPr>
          <p:cNvPr id="16" name="Shape 14"/>
          <p:cNvSpPr/>
          <p:nvPr/>
        </p:nvSpPr>
        <p:spPr>
          <a:xfrm>
            <a:off x="566928" y="4041648"/>
            <a:ext cx="11064240" cy="2011680"/>
          </a:xfrm>
          <a:prstGeom prst="roundRect">
            <a:avLst>
              <a:gd name="adj" fmla="val 2727"/>
            </a:avLst>
          </a:prstGeom>
          <a:solidFill>
            <a:srgbClr val="31211F"/>
          </a:solidFill>
          <a:ln w="12700">
            <a:solidFill>
              <a:srgbClr val="31211F"/>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What 'dual' buys over 'single'</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A single cross-attention is asymmetric: one stream is enriched and the other is only consumed. Running it both ways means each representation is conditioned on the other, and neither is subordinate.</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paper's stated motivation is adaptivity: when acoustic cues predominate the model learns to weight them more, and when explicit emotion words dominate it prioritises the linguistic side. Whether the learned attention actually behaves that way is not measured.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Why the originals are kept too</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The fusion is four streams, not two</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13</a:t>
            </a:r>
            <a:endParaRPr lang="en-US" sz="900" dirty="0"/>
          </a:p>
        </p:txBody>
      </p:sp>
      <p:sp>
        <p:nvSpPr>
          <p:cNvPr id="8" name="Shape 6"/>
          <p:cNvSpPr/>
          <p:nvPr/>
        </p:nvSpPr>
        <p:spPr>
          <a:xfrm>
            <a:off x="566928" y="1627632"/>
            <a:ext cx="11064240" cy="1371600"/>
          </a:xfrm>
          <a:prstGeom prst="roundRect">
            <a:avLst>
              <a:gd name="adj" fmla="val 4000"/>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1463040" y="1847088"/>
            <a:ext cx="1828800" cy="868680"/>
          </a:xfrm>
          <a:prstGeom prst="roundRect">
            <a:avLst>
              <a:gd name="adj" fmla="val 5263"/>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1463040" y="1956816"/>
            <a:ext cx="18288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11" name="Text 9"/>
          <p:cNvSpPr txBox="1"/>
          <p:nvPr/>
        </p:nvSpPr>
        <p:spPr>
          <a:xfrm>
            <a:off x="1463040" y="2286000"/>
            <a:ext cx="1828800" cy="384048"/>
          </a:xfrm>
          <a:prstGeom prst="rect">
            <a:avLst/>
          </a:prstGeom>
          <a:noFill/>
          <a:ln/>
        </p:spPr>
        <p:txBody>
          <a:bodyPr wrap="square" lIns="0" tIns="0" rIns="0" bIns="0" rtlCol="0" anchor="ctr"/>
          <a:lstStyle/>
          <a:p>
            <a:pPr marL="0" indent="0" algn="ctr">
              <a:buNone/>
            </a:pPr>
            <a:r>
              <a:rPr lang="en-US" sz="1050" dirty="0">
                <a:solidFill>
                  <a:srgbClr val="F2EAE7"/>
                </a:solidFill>
                <a:latin typeface="Calibri" pitchFamily="34" charset="0"/>
                <a:ea typeface="Calibri" pitchFamily="34" charset="-122"/>
                <a:cs typeface="Calibri" pitchFamily="34" charset="-120"/>
              </a:rPr>
              <a:t>original</a:t>
            </a:r>
            <a:endParaRPr lang="en-US" sz="1050" dirty="0"/>
          </a:p>
          <a:p>
            <a:pPr marL="0" indent="0" algn="ctr">
              <a:buNone/>
            </a:pPr>
            <a:r>
              <a:rPr lang="en-US" sz="1050" dirty="0">
                <a:solidFill>
                  <a:srgbClr val="F2EAE7"/>
                </a:solidFill>
                <a:latin typeface="Calibri" pitchFamily="34" charset="0"/>
                <a:ea typeface="Calibri" pitchFamily="34" charset="-122"/>
                <a:cs typeface="Calibri" pitchFamily="34" charset="-120"/>
              </a:rPr>
              <a:t>semantic</a:t>
            </a:r>
            <a:endParaRPr lang="en-US" sz="1050" dirty="0"/>
          </a:p>
        </p:txBody>
      </p:sp>
      <p:sp>
        <p:nvSpPr>
          <p:cNvPr id="12" name="Text 10"/>
          <p:cNvSpPr txBox="1"/>
          <p:nvPr/>
        </p:nvSpPr>
        <p:spPr>
          <a:xfrm>
            <a:off x="3291840" y="2157984"/>
            <a:ext cx="457200" cy="274320"/>
          </a:xfrm>
          <a:prstGeom prst="rect">
            <a:avLst/>
          </a:prstGeom>
          <a:noFill/>
          <a:ln/>
        </p:spPr>
        <p:txBody>
          <a:bodyPr wrap="square" lIns="0" tIns="0" rIns="0" bIns="0" rtlCol="0" anchor="ctr"/>
          <a:lstStyle/>
          <a:p>
            <a:pPr marL="0" indent="0" algn="ctr">
              <a:buNone/>
            </a:pPr>
            <a:r>
              <a:rPr lang="en-US" sz="1600" b="1" dirty="0">
                <a:solidFill>
                  <a:srgbClr val="6B524C"/>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3749040" y="1847088"/>
            <a:ext cx="1828800" cy="868680"/>
          </a:xfrm>
          <a:prstGeom prst="roundRect">
            <a:avLst>
              <a:gd name="adj" fmla="val 5263"/>
            </a:avLst>
          </a:prstGeom>
          <a:solidFill>
            <a:srgbClr val="8C4A3C"/>
          </a:solidFill>
          <a:ln w="12700">
            <a:solidFill>
              <a:srgbClr val="333333"/>
            </a:solidFill>
            <a:prstDash val="solid"/>
          </a:ln>
        </p:spPr>
        <p:txBody>
          <a:bodyPr/>
          <a:lstStyle/>
          <a:p>
            <a:endParaRPr lang="en-US"/>
          </a:p>
        </p:txBody>
      </p:sp>
      <p:sp>
        <p:nvSpPr>
          <p:cNvPr id="14" name="Text 12"/>
          <p:cNvSpPr txBox="1"/>
          <p:nvPr/>
        </p:nvSpPr>
        <p:spPr>
          <a:xfrm>
            <a:off x="3749040" y="1956816"/>
            <a:ext cx="18288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Ã</a:t>
            </a:r>
            <a:endParaRPr lang="en-US" sz="1500" dirty="0"/>
          </a:p>
        </p:txBody>
      </p:sp>
      <p:sp>
        <p:nvSpPr>
          <p:cNvPr id="15" name="Text 13"/>
          <p:cNvSpPr txBox="1"/>
          <p:nvPr/>
        </p:nvSpPr>
        <p:spPr>
          <a:xfrm>
            <a:off x="3749040" y="2286000"/>
            <a:ext cx="1828800" cy="384048"/>
          </a:xfrm>
          <a:prstGeom prst="rect">
            <a:avLst/>
          </a:prstGeom>
          <a:noFill/>
          <a:ln/>
        </p:spPr>
        <p:txBody>
          <a:bodyPr wrap="square" lIns="0" tIns="0" rIns="0" bIns="0" rtlCol="0" anchor="ctr"/>
          <a:lstStyle/>
          <a:p>
            <a:pPr marL="0" indent="0" algn="ctr">
              <a:buNone/>
            </a:pPr>
            <a:r>
              <a:rPr lang="en-US" sz="1050" dirty="0">
                <a:solidFill>
                  <a:srgbClr val="F2EAE7"/>
                </a:solidFill>
                <a:latin typeface="Calibri" pitchFamily="34" charset="0"/>
                <a:ea typeface="Calibri" pitchFamily="34" charset="-122"/>
                <a:cs typeface="Calibri" pitchFamily="34" charset="-120"/>
              </a:rPr>
              <a:t>original</a:t>
            </a:r>
            <a:endParaRPr lang="en-US" sz="1050" dirty="0"/>
          </a:p>
          <a:p>
            <a:pPr marL="0" indent="0" algn="ctr">
              <a:buNone/>
            </a:pPr>
            <a:r>
              <a:rPr lang="en-US" sz="1050" dirty="0">
                <a:solidFill>
                  <a:srgbClr val="F2EAE7"/>
                </a:solidFill>
                <a:latin typeface="Calibri" pitchFamily="34" charset="0"/>
                <a:ea typeface="Calibri" pitchFamily="34" charset="-122"/>
                <a:cs typeface="Calibri" pitchFamily="34" charset="-120"/>
              </a:rPr>
              <a:t>acoustic</a:t>
            </a:r>
            <a:endParaRPr lang="en-US" sz="1050" dirty="0"/>
          </a:p>
        </p:txBody>
      </p:sp>
      <p:sp>
        <p:nvSpPr>
          <p:cNvPr id="16" name="Text 14"/>
          <p:cNvSpPr txBox="1"/>
          <p:nvPr/>
        </p:nvSpPr>
        <p:spPr>
          <a:xfrm>
            <a:off x="5577840" y="2157984"/>
            <a:ext cx="457200" cy="274320"/>
          </a:xfrm>
          <a:prstGeom prst="rect">
            <a:avLst/>
          </a:prstGeom>
          <a:noFill/>
          <a:ln/>
        </p:spPr>
        <p:txBody>
          <a:bodyPr wrap="square" lIns="0" tIns="0" rIns="0" bIns="0" rtlCol="0" anchor="ctr"/>
          <a:lstStyle/>
          <a:p>
            <a:pPr marL="0" indent="0" algn="ctr">
              <a:buNone/>
            </a:pPr>
            <a:r>
              <a:rPr lang="en-US" sz="1600" b="1" dirty="0">
                <a:solidFill>
                  <a:srgbClr val="6B524C"/>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035040" y="1847088"/>
            <a:ext cx="1828800" cy="868680"/>
          </a:xfrm>
          <a:prstGeom prst="roundRect">
            <a:avLst>
              <a:gd name="adj" fmla="val 5263"/>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6035040" y="1956816"/>
            <a:ext cx="18288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Att_s</a:t>
            </a:r>
            <a:endParaRPr lang="en-US" sz="1500" dirty="0"/>
          </a:p>
        </p:txBody>
      </p:sp>
      <p:sp>
        <p:nvSpPr>
          <p:cNvPr id="19" name="Text 17"/>
          <p:cNvSpPr txBox="1"/>
          <p:nvPr/>
        </p:nvSpPr>
        <p:spPr>
          <a:xfrm>
            <a:off x="6035040" y="2286000"/>
            <a:ext cx="1828800" cy="384048"/>
          </a:xfrm>
          <a:prstGeom prst="rect">
            <a:avLst/>
          </a:prstGeom>
          <a:noFill/>
          <a:ln/>
        </p:spPr>
        <p:txBody>
          <a:bodyPr wrap="square" lIns="0" tIns="0" rIns="0" bIns="0" rtlCol="0" anchor="ctr"/>
          <a:lstStyle/>
          <a:p>
            <a:pPr marL="0" indent="0" algn="ctr">
              <a:buNone/>
            </a:pPr>
            <a:r>
              <a:rPr lang="en-US" sz="1050" dirty="0">
                <a:solidFill>
                  <a:srgbClr val="F2EAE7"/>
                </a:solidFill>
                <a:latin typeface="Calibri" pitchFamily="34" charset="0"/>
                <a:ea typeface="Calibri" pitchFamily="34" charset="-122"/>
                <a:cs typeface="Calibri" pitchFamily="34" charset="-120"/>
              </a:rPr>
              <a:t>semantic queries</a:t>
            </a:r>
            <a:endParaRPr lang="en-US" sz="1050" dirty="0"/>
          </a:p>
          <a:p>
            <a:pPr marL="0" indent="0" algn="ctr">
              <a:buNone/>
            </a:pPr>
            <a:r>
              <a:rPr lang="en-US" sz="1050" dirty="0">
                <a:solidFill>
                  <a:srgbClr val="F2EAE7"/>
                </a:solidFill>
                <a:latin typeface="Calibri" pitchFamily="34" charset="0"/>
                <a:ea typeface="Calibri" pitchFamily="34" charset="-122"/>
                <a:cs typeface="Calibri" pitchFamily="34" charset="-120"/>
              </a:rPr>
              <a:t>acoustic</a:t>
            </a:r>
            <a:endParaRPr lang="en-US" sz="1050" dirty="0"/>
          </a:p>
        </p:txBody>
      </p:sp>
      <p:sp>
        <p:nvSpPr>
          <p:cNvPr id="20" name="Text 18"/>
          <p:cNvSpPr txBox="1"/>
          <p:nvPr/>
        </p:nvSpPr>
        <p:spPr>
          <a:xfrm>
            <a:off x="7863840" y="2157984"/>
            <a:ext cx="457200" cy="274320"/>
          </a:xfrm>
          <a:prstGeom prst="rect">
            <a:avLst/>
          </a:prstGeom>
          <a:noFill/>
          <a:ln/>
        </p:spPr>
        <p:txBody>
          <a:bodyPr wrap="square" lIns="0" tIns="0" rIns="0" bIns="0" rtlCol="0" anchor="ctr"/>
          <a:lstStyle/>
          <a:p>
            <a:pPr marL="0" indent="0" algn="ctr">
              <a:buNone/>
            </a:pPr>
            <a:r>
              <a:rPr lang="en-US" sz="1600" b="1" dirty="0">
                <a:solidFill>
                  <a:srgbClr val="6B524C"/>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8321040" y="1847088"/>
            <a:ext cx="1828800" cy="868680"/>
          </a:xfrm>
          <a:prstGeom prst="roundRect">
            <a:avLst>
              <a:gd name="adj" fmla="val 5263"/>
            </a:avLst>
          </a:prstGeom>
          <a:solidFill>
            <a:srgbClr val="6E8B5F"/>
          </a:solidFill>
          <a:ln w="12700">
            <a:solidFill>
              <a:srgbClr val="333333"/>
            </a:solidFill>
            <a:prstDash val="solid"/>
          </a:ln>
        </p:spPr>
        <p:txBody>
          <a:bodyPr/>
          <a:lstStyle/>
          <a:p>
            <a:endParaRPr lang="en-US"/>
          </a:p>
        </p:txBody>
      </p:sp>
      <p:sp>
        <p:nvSpPr>
          <p:cNvPr id="22" name="Text 20"/>
          <p:cNvSpPr txBox="1"/>
          <p:nvPr/>
        </p:nvSpPr>
        <p:spPr>
          <a:xfrm>
            <a:off x="8321040" y="1956816"/>
            <a:ext cx="182880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Att_a</a:t>
            </a:r>
            <a:endParaRPr lang="en-US" sz="1500" dirty="0"/>
          </a:p>
        </p:txBody>
      </p:sp>
      <p:sp>
        <p:nvSpPr>
          <p:cNvPr id="23" name="Text 21"/>
          <p:cNvSpPr txBox="1"/>
          <p:nvPr/>
        </p:nvSpPr>
        <p:spPr>
          <a:xfrm>
            <a:off x="8321040" y="2286000"/>
            <a:ext cx="1828800" cy="384048"/>
          </a:xfrm>
          <a:prstGeom prst="rect">
            <a:avLst/>
          </a:prstGeom>
          <a:noFill/>
          <a:ln/>
        </p:spPr>
        <p:txBody>
          <a:bodyPr wrap="square" lIns="0" tIns="0" rIns="0" bIns="0" rtlCol="0" anchor="ctr"/>
          <a:lstStyle/>
          <a:p>
            <a:pPr marL="0" indent="0" algn="ctr">
              <a:buNone/>
            </a:pPr>
            <a:r>
              <a:rPr lang="en-US" sz="1050" dirty="0">
                <a:solidFill>
                  <a:srgbClr val="F2EAE7"/>
                </a:solidFill>
                <a:latin typeface="Calibri" pitchFamily="34" charset="0"/>
                <a:ea typeface="Calibri" pitchFamily="34" charset="-122"/>
                <a:cs typeface="Calibri" pitchFamily="34" charset="-120"/>
              </a:rPr>
              <a:t>acoustic queries</a:t>
            </a:r>
            <a:endParaRPr lang="en-US" sz="1050" dirty="0"/>
          </a:p>
          <a:p>
            <a:pPr marL="0" indent="0" algn="ctr">
              <a:buNone/>
            </a:pPr>
            <a:r>
              <a:rPr lang="en-US" sz="1050" dirty="0">
                <a:solidFill>
                  <a:srgbClr val="F2EAE7"/>
                </a:solidFill>
                <a:latin typeface="Calibri" pitchFamily="34" charset="0"/>
                <a:ea typeface="Calibri" pitchFamily="34" charset="-122"/>
                <a:cs typeface="Calibri" pitchFamily="34" charset="-120"/>
              </a:rPr>
              <a:t>semantic</a:t>
            </a:r>
            <a:endParaRPr lang="en-US" sz="1050" dirty="0"/>
          </a:p>
        </p:txBody>
      </p:sp>
      <p:sp>
        <p:nvSpPr>
          <p:cNvPr id="24" name="Shape 22"/>
          <p:cNvSpPr/>
          <p:nvPr/>
        </p:nvSpPr>
        <p:spPr>
          <a:xfrm>
            <a:off x="566928" y="3182112"/>
            <a:ext cx="5440680" cy="1371600"/>
          </a:xfrm>
          <a:prstGeom prst="roundRect">
            <a:avLst>
              <a:gd name="adj" fmla="val 4000"/>
            </a:avLst>
          </a:prstGeom>
          <a:solidFill>
            <a:srgbClr val="F6F0EE"/>
          </a:solidFill>
          <a:ln w="12700">
            <a:solidFill>
              <a:srgbClr val="EBE0DC"/>
            </a:solidFill>
            <a:prstDash val="solid"/>
          </a:ln>
        </p:spPr>
        <p:txBody>
          <a:bodyPr/>
          <a:lstStyle/>
          <a:p>
            <a:endParaRPr lang="en-US"/>
          </a:p>
        </p:txBody>
      </p:sp>
      <p:sp>
        <p:nvSpPr>
          <p:cNvPr id="25" name="Shape 23"/>
          <p:cNvSpPr/>
          <p:nvPr/>
        </p:nvSpPr>
        <p:spPr>
          <a:xfrm>
            <a:off x="786384" y="3474720"/>
            <a:ext cx="109728" cy="109728"/>
          </a:xfrm>
          <a:prstGeom prst="ellipse">
            <a:avLst/>
          </a:prstGeom>
          <a:solidFill>
            <a:srgbClr val="8C4A3C"/>
          </a:solidFill>
          <a:ln w="12700">
            <a:solidFill>
              <a:srgbClr val="333333"/>
            </a:solidFill>
            <a:prstDash val="solid"/>
          </a:ln>
        </p:spPr>
        <p:txBody>
          <a:bodyPr/>
          <a:lstStyle/>
          <a:p>
            <a:endParaRPr lang="en-US"/>
          </a:p>
        </p:txBody>
      </p:sp>
      <p:sp>
        <p:nvSpPr>
          <p:cNvPr id="26" name="Text 24"/>
          <p:cNvSpPr txBox="1"/>
          <p:nvPr/>
        </p:nvSpPr>
        <p:spPr>
          <a:xfrm>
            <a:off x="987552" y="3346704"/>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The stated reason</a:t>
            </a:r>
            <a:endParaRPr lang="en-US" sz="1500" dirty="0"/>
          </a:p>
        </p:txBody>
      </p:sp>
      <p:sp>
        <p:nvSpPr>
          <p:cNvPr id="27" name="Text 25"/>
          <p:cNvSpPr txBox="1"/>
          <p:nvPr/>
        </p:nvSpPr>
        <p:spPr>
          <a:xfrm>
            <a:off x="822960" y="3785616"/>
            <a:ext cx="4928616" cy="58521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To maintain feature integrity while enhancing fusion. Concatenating the originals preserves unique feature characteristics while ensuring comprehensive integration.</a:t>
            </a:r>
            <a:endParaRPr lang="en-US" sz="1280" dirty="0"/>
          </a:p>
        </p:txBody>
      </p:sp>
      <p:sp>
        <p:nvSpPr>
          <p:cNvPr id="28" name="Shape 26"/>
          <p:cNvSpPr/>
          <p:nvPr/>
        </p:nvSpPr>
        <p:spPr>
          <a:xfrm>
            <a:off x="6190488" y="3182112"/>
            <a:ext cx="5440680" cy="1371600"/>
          </a:xfrm>
          <a:prstGeom prst="roundRect">
            <a:avLst>
              <a:gd name="adj" fmla="val 4000"/>
            </a:avLst>
          </a:prstGeom>
          <a:solidFill>
            <a:srgbClr val="F6F0EE"/>
          </a:solidFill>
          <a:ln w="12700">
            <a:solidFill>
              <a:srgbClr val="EBE0DC"/>
            </a:solidFill>
            <a:prstDash val="solid"/>
          </a:ln>
        </p:spPr>
        <p:txBody>
          <a:bodyPr/>
          <a:lstStyle/>
          <a:p>
            <a:endParaRPr lang="en-US"/>
          </a:p>
        </p:txBody>
      </p:sp>
      <p:sp>
        <p:nvSpPr>
          <p:cNvPr id="29" name="Shape 27"/>
          <p:cNvSpPr/>
          <p:nvPr/>
        </p:nvSpPr>
        <p:spPr>
          <a:xfrm>
            <a:off x="6409944" y="3474720"/>
            <a:ext cx="109728" cy="109728"/>
          </a:xfrm>
          <a:prstGeom prst="ellipse">
            <a:avLst/>
          </a:prstGeom>
          <a:solidFill>
            <a:srgbClr val="6E8B5F"/>
          </a:solidFill>
          <a:ln w="12700">
            <a:solidFill>
              <a:srgbClr val="333333"/>
            </a:solidFill>
            <a:prstDash val="solid"/>
          </a:ln>
        </p:spPr>
        <p:txBody>
          <a:bodyPr/>
          <a:lstStyle/>
          <a:p>
            <a:endParaRPr lang="en-US"/>
          </a:p>
        </p:txBody>
      </p:sp>
      <p:sp>
        <p:nvSpPr>
          <p:cNvPr id="30" name="Text 28"/>
          <p:cNvSpPr txBox="1"/>
          <p:nvPr/>
        </p:nvSpPr>
        <p:spPr>
          <a:xfrm>
            <a:off x="6611112" y="3346704"/>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Why this matters in practice</a:t>
            </a:r>
            <a:endParaRPr lang="en-US" sz="1500" dirty="0"/>
          </a:p>
        </p:txBody>
      </p:sp>
      <p:sp>
        <p:nvSpPr>
          <p:cNvPr id="31" name="Text 29"/>
          <p:cNvSpPr txBox="1"/>
          <p:nvPr/>
        </p:nvSpPr>
        <p:spPr>
          <a:xfrm>
            <a:off x="6446520" y="3785616"/>
            <a:ext cx="4928616" cy="58521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Attention output is a weighted average of value vectors. If a distinctive acoustic cue has no semantic anchor to attend from, it can be averaged away. Keeping the raw streams guarantees it still reaches the language model.</a:t>
            </a:r>
            <a:endParaRPr lang="en-US" sz="1280" dirty="0"/>
          </a:p>
        </p:txBody>
      </p:sp>
      <p:sp>
        <p:nvSpPr>
          <p:cNvPr id="32" name="Shape 30"/>
          <p:cNvSpPr/>
          <p:nvPr/>
        </p:nvSpPr>
        <p:spPr>
          <a:xfrm>
            <a:off x="566928" y="4736592"/>
            <a:ext cx="11064240" cy="1316736"/>
          </a:xfrm>
          <a:prstGeom prst="roundRect">
            <a:avLst>
              <a:gd name="adj" fmla="val 4167"/>
            </a:avLst>
          </a:prstGeom>
          <a:solidFill>
            <a:srgbClr val="31211F"/>
          </a:solidFill>
          <a:ln w="12700">
            <a:solidFill>
              <a:srgbClr val="31211F"/>
            </a:solidFill>
            <a:prstDash val="solid"/>
          </a:ln>
        </p:spPr>
        <p:txBody>
          <a:bodyPr/>
          <a:lstStyle/>
          <a:p>
            <a:endParaRPr lang="en-US"/>
          </a:p>
        </p:txBody>
      </p:sp>
      <p:sp>
        <p:nvSpPr>
          <p:cNvPr id="33" name="Shape 31"/>
          <p:cNvSpPr/>
          <p:nvPr/>
        </p:nvSpPr>
        <p:spPr>
          <a:xfrm>
            <a:off x="786384" y="5029200"/>
            <a:ext cx="109728" cy="109728"/>
          </a:xfrm>
          <a:prstGeom prst="ellipse">
            <a:avLst/>
          </a:prstGeom>
          <a:solidFill>
            <a:srgbClr val="6E8B5F"/>
          </a:solidFill>
          <a:ln w="12700">
            <a:solidFill>
              <a:srgbClr val="333333"/>
            </a:solidFill>
            <a:prstDash val="solid"/>
          </a:ln>
        </p:spPr>
        <p:txBody>
          <a:bodyPr/>
          <a:lstStyle/>
          <a:p>
            <a:endParaRPr lang="en-US"/>
          </a:p>
        </p:txBody>
      </p:sp>
      <p:sp>
        <p:nvSpPr>
          <p:cNvPr id="34" name="Text 32"/>
          <p:cNvSpPr txBox="1"/>
          <p:nvPr/>
        </p:nvSpPr>
        <p:spPr>
          <a:xfrm>
            <a:off x="987552" y="490118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familiar pattern</a:t>
            </a:r>
            <a:endParaRPr lang="en-US" sz="1500" dirty="0"/>
          </a:p>
        </p:txBody>
      </p:sp>
      <p:sp>
        <p:nvSpPr>
          <p:cNvPr id="35" name="Text 33"/>
          <p:cNvSpPr txBox="1"/>
          <p:nvPr/>
        </p:nvSpPr>
        <p:spPr>
          <a:xfrm>
            <a:off x="822960" y="5340096"/>
            <a:ext cx="10552176" cy="530352"/>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This is a residual connection in all but name, and it is the same instinct behind SUPERB's weighted layer sum and WavLM's layer aggregation: do not force the downstream model to accept one transformed view when you can hand it several and let it choose.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Context-aware instruction tuning</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The second contribution</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Context-aware instruction tuning</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One preceding utterance, concatenated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15</a:t>
            </a:r>
            <a:endParaRPr lang="en-US" sz="900" dirty="0"/>
          </a:p>
        </p:txBody>
      </p:sp>
      <p:sp>
        <p:nvSpPr>
          <p:cNvPr id="8" name="Shape 6"/>
          <p:cNvSpPr/>
          <p:nvPr/>
        </p:nvSpPr>
        <p:spPr>
          <a:xfrm>
            <a:off x="566928" y="1600200"/>
            <a:ext cx="5440680" cy="2240280"/>
          </a:xfrm>
          <a:prstGeom prst="roundRect">
            <a:avLst>
              <a:gd name="adj" fmla="val 2449"/>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The mechanism</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For an audio sample x_t at time t, retrieve the most recent preceding utterance x_{t−1} within the same conversation and concatenate at sentence level:</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C_t = x_{t−1} ⊕ x_t</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If no prior utterance exists, the current one is used alone.</a:t>
            </a:r>
            <a:endParaRPr lang="en-US" sz="1280" dirty="0"/>
          </a:p>
        </p:txBody>
      </p:sp>
      <p:sp>
        <p:nvSpPr>
          <p:cNvPr id="12" name="Shape 10"/>
          <p:cNvSpPr/>
          <p:nvPr/>
        </p:nvSpPr>
        <p:spPr>
          <a:xfrm>
            <a:off x="6190488" y="1600200"/>
            <a:ext cx="5440680" cy="2240280"/>
          </a:xfrm>
          <a:prstGeom prst="roundRect">
            <a:avLst>
              <a:gd name="adj" fmla="val 2449"/>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The instruction</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'Describe the speaker's emotion in one word.'</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The stated purpose is to make the output align with the expected emotion categories — a generative model asked for a single word is far more likely to produce something that maps cleanly onto one of the seven labels.</a:t>
            </a:r>
            <a:endParaRPr lang="en-US" sz="1280" dirty="0"/>
          </a:p>
          <a:p>
            <a:pPr marL="0" indent="0">
              <a:lnSpc>
                <a:spcPct val="108000"/>
              </a:lnSpc>
              <a:buNone/>
            </a:pPr>
            <a:endParaRPr lang="en-US" sz="1280" dirty="0"/>
          </a:p>
          <a:p>
            <a:pPr marL="0" indent="0">
              <a:lnSpc>
                <a:spcPct val="108000"/>
              </a:lnSpc>
              <a:buNone/>
            </a:pPr>
            <a:r>
              <a:rPr lang="en-US" sz="1280" dirty="0">
                <a:solidFill>
                  <a:srgbClr val="342220"/>
                </a:solidFill>
                <a:latin typeface="Calibri" pitchFamily="34" charset="0"/>
                <a:ea typeface="Calibri" pitchFamily="34" charset="-122"/>
                <a:cs typeface="Calibri" pitchFamily="34" charset="-120"/>
              </a:rPr>
              <a:t>The final input to LLaMA is the fused audio features, the instruction, and the context.</a:t>
            </a:r>
            <a:endParaRPr lang="en-US" sz="1280" dirty="0"/>
          </a:p>
        </p:txBody>
      </p:sp>
      <p:sp>
        <p:nvSpPr>
          <p:cNvPr id="16" name="Shape 14"/>
          <p:cNvSpPr/>
          <p:nvPr/>
        </p:nvSpPr>
        <p:spPr>
          <a:xfrm>
            <a:off x="566928" y="4041648"/>
            <a:ext cx="11064240" cy="2011680"/>
          </a:xfrm>
          <a:prstGeom prst="roundRect">
            <a:avLst>
              <a:gd name="adj" fmla="val 2727"/>
            </a:avLst>
          </a:prstGeom>
          <a:solidFill>
            <a:srgbClr val="31211F"/>
          </a:solidFill>
          <a:ln w="12700">
            <a:solidFill>
              <a:srgbClr val="31211F"/>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6E8B5F"/>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question the paper leaves implicit</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Is the context audio, or text? The method section says 'preceding audio utterances' and 'contextual representation'; the ablation table describes the settings in terms of whether text information about the audio is provided.</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distinction matters enormously for what the model is doing, and the ablation on the next slide is where it becomes decisive. Hold the question until then.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Implementation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A small-lab configuration</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16</a:t>
            </a:r>
            <a:endParaRPr lang="en-US" sz="900" dirty="0"/>
          </a:p>
        </p:txBody>
      </p:sp>
      <p:sp>
        <p:nvSpPr>
          <p:cNvPr id="8" name="Text 6"/>
          <p:cNvSpPr txBox="1"/>
          <p:nvPr/>
        </p:nvSpPr>
        <p:spPr>
          <a:xfrm>
            <a:off x="786384" y="1389888"/>
            <a:ext cx="2377440" cy="274320"/>
          </a:xfrm>
          <a:prstGeom prst="rect">
            <a:avLst/>
          </a:prstGeom>
          <a:noFill/>
          <a:ln/>
        </p:spPr>
        <p:txBody>
          <a:bodyPr wrap="square" lIns="0" tIns="0" rIns="0" bIns="0" rtlCol="0" anchor="ctr"/>
          <a:lstStyle/>
          <a:p>
            <a:pPr marL="0" indent="0">
              <a:buNone/>
            </a:pPr>
            <a:r>
              <a:rPr lang="en-US" sz="1150" b="1" dirty="0">
                <a:solidFill>
                  <a:srgbClr val="6B524C"/>
                </a:solidFill>
                <a:latin typeface="Calibri" pitchFamily="34" charset="0"/>
                <a:ea typeface="Calibri" pitchFamily="34" charset="-122"/>
                <a:cs typeface="Calibri" pitchFamily="34" charset="-120"/>
              </a:rPr>
              <a:t>Component</a:t>
            </a:r>
            <a:endParaRPr lang="en-US" sz="1150" dirty="0"/>
          </a:p>
        </p:txBody>
      </p:sp>
      <p:sp>
        <p:nvSpPr>
          <p:cNvPr id="9" name="Text 7"/>
          <p:cNvSpPr txBox="1"/>
          <p:nvPr/>
        </p:nvSpPr>
        <p:spPr>
          <a:xfrm>
            <a:off x="3291840" y="1389888"/>
            <a:ext cx="4663440" cy="274320"/>
          </a:xfrm>
          <a:prstGeom prst="rect">
            <a:avLst/>
          </a:prstGeom>
          <a:noFill/>
          <a:ln/>
        </p:spPr>
        <p:txBody>
          <a:bodyPr wrap="square" lIns="0" tIns="0" rIns="0" bIns="0" rtlCol="0" anchor="ctr"/>
          <a:lstStyle/>
          <a:p>
            <a:pPr marL="0" indent="0">
              <a:buNone/>
            </a:pPr>
            <a:r>
              <a:rPr lang="en-US" sz="1150" b="1" dirty="0">
                <a:solidFill>
                  <a:srgbClr val="6B524C"/>
                </a:solidFill>
                <a:latin typeface="Calibri" pitchFamily="34" charset="0"/>
                <a:ea typeface="Calibri" pitchFamily="34" charset="-122"/>
                <a:cs typeface="Calibri" pitchFamily="34" charset="-120"/>
              </a:rPr>
              <a:t>Setting</a:t>
            </a:r>
            <a:endParaRPr lang="en-US" sz="1150" dirty="0"/>
          </a:p>
        </p:txBody>
      </p:sp>
      <p:sp>
        <p:nvSpPr>
          <p:cNvPr id="10" name="Text 8"/>
          <p:cNvSpPr txBox="1"/>
          <p:nvPr/>
        </p:nvSpPr>
        <p:spPr>
          <a:xfrm>
            <a:off x="8138160" y="1389888"/>
            <a:ext cx="3383280" cy="274320"/>
          </a:xfrm>
          <a:prstGeom prst="rect">
            <a:avLst/>
          </a:prstGeom>
          <a:noFill/>
          <a:ln/>
        </p:spPr>
        <p:txBody>
          <a:bodyPr wrap="square" lIns="0" tIns="0" rIns="0" bIns="0" rtlCol="0" anchor="ctr"/>
          <a:lstStyle/>
          <a:p>
            <a:pPr marL="0" indent="0">
              <a:buNone/>
            </a:pPr>
            <a:r>
              <a:rPr lang="en-US" sz="1150" b="1" dirty="0">
                <a:solidFill>
                  <a:srgbClr val="6B524C"/>
                </a:solidFill>
                <a:latin typeface="Calibri" pitchFamily="34" charset="0"/>
                <a:ea typeface="Calibri" pitchFamily="34" charset="-122"/>
                <a:cs typeface="Calibri" pitchFamily="34" charset="-120"/>
              </a:rPr>
              <a:t>Note</a:t>
            </a:r>
            <a:endParaRPr lang="en-US" sz="1150" dirty="0"/>
          </a:p>
        </p:txBody>
      </p:sp>
      <p:sp>
        <p:nvSpPr>
          <p:cNvPr id="11" name="Shape 9"/>
          <p:cNvSpPr/>
          <p:nvPr/>
        </p:nvSpPr>
        <p:spPr>
          <a:xfrm>
            <a:off x="566928" y="1682496"/>
            <a:ext cx="11064240" cy="402336"/>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12" name="Text 10"/>
          <p:cNvSpPr txBox="1"/>
          <p:nvPr/>
        </p:nvSpPr>
        <p:spPr>
          <a:xfrm>
            <a:off x="786384" y="1746504"/>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Audio</a:t>
            </a:r>
            <a:endParaRPr lang="en-US" sz="1160" dirty="0"/>
          </a:p>
        </p:txBody>
      </p:sp>
      <p:sp>
        <p:nvSpPr>
          <p:cNvPr id="13" name="Text 11"/>
          <p:cNvSpPr txBox="1"/>
          <p:nvPr/>
        </p:nvSpPr>
        <p:spPr>
          <a:xfrm>
            <a:off x="3291840" y="1746504"/>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16 kHz, single channel, resampled as needed</a:t>
            </a:r>
            <a:endParaRPr lang="en-US" sz="1160" dirty="0"/>
          </a:p>
        </p:txBody>
      </p:sp>
      <p:sp>
        <p:nvSpPr>
          <p:cNvPr id="14" name="Text 12"/>
          <p:cNvSpPr txBox="1"/>
          <p:nvPr/>
        </p:nvSpPr>
        <p:spPr>
          <a:xfrm>
            <a:off x="8138160" y="1746504"/>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Standard</a:t>
            </a:r>
            <a:endParaRPr lang="en-US" sz="1160" dirty="0"/>
          </a:p>
        </p:txBody>
      </p:sp>
      <p:sp>
        <p:nvSpPr>
          <p:cNvPr id="15" name="Shape 13"/>
          <p:cNvSpPr/>
          <p:nvPr/>
        </p:nvSpPr>
        <p:spPr>
          <a:xfrm>
            <a:off x="566928" y="2121408"/>
            <a:ext cx="11064240" cy="402336"/>
          </a:xfrm>
          <a:prstGeom prst="roundRect">
            <a:avLst>
              <a:gd name="adj" fmla="val 4545"/>
            </a:avLst>
          </a:prstGeom>
          <a:solidFill>
            <a:srgbClr val="FFFFFF"/>
          </a:solidFill>
          <a:ln w="12700">
            <a:solidFill>
              <a:srgbClr val="F0E7E3"/>
            </a:solidFill>
            <a:prstDash val="solid"/>
          </a:ln>
        </p:spPr>
        <p:txBody>
          <a:bodyPr/>
          <a:lstStyle/>
          <a:p>
            <a:endParaRPr lang="en-US"/>
          </a:p>
        </p:txBody>
      </p:sp>
      <p:sp>
        <p:nvSpPr>
          <p:cNvPr id="16" name="Text 14"/>
          <p:cNvSpPr txBox="1"/>
          <p:nvPr/>
        </p:nvSpPr>
        <p:spPr>
          <a:xfrm>
            <a:off x="786384" y="2185416"/>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Semantic encoder</a:t>
            </a:r>
            <a:endParaRPr lang="en-US" sz="1160" dirty="0"/>
          </a:p>
        </p:txBody>
      </p:sp>
      <p:sp>
        <p:nvSpPr>
          <p:cNvPr id="17" name="Text 15"/>
          <p:cNvSpPr txBox="1"/>
          <p:nvPr/>
        </p:nvSpPr>
        <p:spPr>
          <a:xfrm>
            <a:off x="3291840" y="2185416"/>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HuBERT, all layers frozen except the last two</a:t>
            </a:r>
            <a:endParaRPr lang="en-US" sz="1160" dirty="0"/>
          </a:p>
        </p:txBody>
      </p:sp>
      <p:sp>
        <p:nvSpPr>
          <p:cNvPr id="18" name="Text 16"/>
          <p:cNvSpPr txBox="1"/>
          <p:nvPr/>
        </p:nvSpPr>
        <p:spPr>
          <a:xfrm>
            <a:off x="8138160" y="2185416"/>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Partial adaptation</a:t>
            </a:r>
            <a:endParaRPr lang="en-US" sz="1160" dirty="0"/>
          </a:p>
        </p:txBody>
      </p:sp>
      <p:sp>
        <p:nvSpPr>
          <p:cNvPr id="19" name="Shape 17"/>
          <p:cNvSpPr/>
          <p:nvPr/>
        </p:nvSpPr>
        <p:spPr>
          <a:xfrm>
            <a:off x="566928" y="2560320"/>
            <a:ext cx="11064240" cy="402336"/>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20" name="Text 18"/>
          <p:cNvSpPr txBox="1"/>
          <p:nvPr/>
        </p:nvSpPr>
        <p:spPr>
          <a:xfrm>
            <a:off x="786384" y="2624328"/>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Acoustic encoder</a:t>
            </a:r>
            <a:endParaRPr lang="en-US" sz="1160" dirty="0"/>
          </a:p>
        </p:txBody>
      </p:sp>
      <p:sp>
        <p:nvSpPr>
          <p:cNvPr id="21" name="Text 19"/>
          <p:cNvSpPr txBox="1"/>
          <p:nvPr/>
        </p:nvSpPr>
        <p:spPr>
          <a:xfrm>
            <a:off x="3291840" y="2624328"/>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BEATs, all layers frozen except the last two</a:t>
            </a:r>
            <a:endParaRPr lang="en-US" sz="1160" dirty="0"/>
          </a:p>
        </p:txBody>
      </p:sp>
      <p:sp>
        <p:nvSpPr>
          <p:cNvPr id="22" name="Text 20"/>
          <p:cNvSpPr txBox="1"/>
          <p:nvPr/>
        </p:nvSpPr>
        <p:spPr>
          <a:xfrm>
            <a:off x="8138160" y="2624328"/>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Same treatment</a:t>
            </a:r>
            <a:endParaRPr lang="en-US" sz="1160" dirty="0"/>
          </a:p>
        </p:txBody>
      </p:sp>
      <p:sp>
        <p:nvSpPr>
          <p:cNvPr id="23" name="Shape 21"/>
          <p:cNvSpPr/>
          <p:nvPr/>
        </p:nvSpPr>
        <p:spPr>
          <a:xfrm>
            <a:off x="566928" y="2999232"/>
            <a:ext cx="11064240" cy="402336"/>
          </a:xfrm>
          <a:prstGeom prst="roundRect">
            <a:avLst>
              <a:gd name="adj" fmla="val 4545"/>
            </a:avLst>
          </a:prstGeom>
          <a:solidFill>
            <a:srgbClr val="FFFFFF"/>
          </a:solidFill>
          <a:ln w="12700">
            <a:solidFill>
              <a:srgbClr val="F0E7E3"/>
            </a:solidFill>
            <a:prstDash val="solid"/>
          </a:ln>
        </p:spPr>
        <p:txBody>
          <a:bodyPr/>
          <a:lstStyle/>
          <a:p>
            <a:endParaRPr lang="en-US"/>
          </a:p>
        </p:txBody>
      </p:sp>
      <p:sp>
        <p:nvSpPr>
          <p:cNvPr id="24" name="Text 22"/>
          <p:cNvSpPr txBox="1"/>
          <p:nvPr/>
        </p:nvSpPr>
        <p:spPr>
          <a:xfrm>
            <a:off x="786384" y="3063240"/>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Language model</a:t>
            </a:r>
            <a:endParaRPr lang="en-US" sz="1160" dirty="0"/>
          </a:p>
        </p:txBody>
      </p:sp>
      <p:sp>
        <p:nvSpPr>
          <p:cNvPr id="25" name="Text 23"/>
          <p:cNvSpPr txBox="1"/>
          <p:nvPr/>
        </p:nvSpPr>
        <p:spPr>
          <a:xfrm>
            <a:off x="3291840" y="3063240"/>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LLaMA-3-8B with LoRA</a:t>
            </a:r>
            <a:endParaRPr lang="en-US" sz="1160" dirty="0"/>
          </a:p>
        </p:txBody>
      </p:sp>
      <p:sp>
        <p:nvSpPr>
          <p:cNvPr id="26" name="Text 24"/>
          <p:cNvSpPr txBox="1"/>
          <p:nvPr/>
        </p:nvSpPr>
        <p:spPr>
          <a:xfrm>
            <a:off x="8138160" y="3063240"/>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Frozen backbone</a:t>
            </a:r>
            <a:endParaRPr lang="en-US" sz="1160" dirty="0"/>
          </a:p>
        </p:txBody>
      </p:sp>
      <p:sp>
        <p:nvSpPr>
          <p:cNvPr id="27" name="Shape 25"/>
          <p:cNvSpPr/>
          <p:nvPr/>
        </p:nvSpPr>
        <p:spPr>
          <a:xfrm>
            <a:off x="566928" y="3438144"/>
            <a:ext cx="11064240" cy="402336"/>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28" name="Text 26"/>
          <p:cNvSpPr txBox="1"/>
          <p:nvPr/>
        </p:nvSpPr>
        <p:spPr>
          <a:xfrm>
            <a:off x="786384" y="3502152"/>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LoRA</a:t>
            </a:r>
            <a:endParaRPr lang="en-US" sz="1160" dirty="0"/>
          </a:p>
        </p:txBody>
      </p:sp>
      <p:sp>
        <p:nvSpPr>
          <p:cNvPr id="29" name="Text 27"/>
          <p:cNvSpPr txBox="1"/>
          <p:nvPr/>
        </p:nvSpPr>
        <p:spPr>
          <a:xfrm>
            <a:off x="3291840" y="3502152"/>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rank 2, α = 16, dropout 0.2</a:t>
            </a:r>
            <a:endParaRPr lang="en-US" sz="1160" dirty="0"/>
          </a:p>
        </p:txBody>
      </p:sp>
      <p:sp>
        <p:nvSpPr>
          <p:cNvPr id="30" name="Text 28"/>
          <p:cNvSpPr txBox="1"/>
          <p:nvPr/>
        </p:nvSpPr>
        <p:spPr>
          <a:xfrm>
            <a:off x="8138160" y="3502152"/>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Rank 2 is unusually low</a:t>
            </a:r>
            <a:endParaRPr lang="en-US" sz="1160" dirty="0"/>
          </a:p>
        </p:txBody>
      </p:sp>
      <p:sp>
        <p:nvSpPr>
          <p:cNvPr id="31" name="Shape 29"/>
          <p:cNvSpPr/>
          <p:nvPr/>
        </p:nvSpPr>
        <p:spPr>
          <a:xfrm>
            <a:off x="566928" y="3877056"/>
            <a:ext cx="11064240" cy="402336"/>
          </a:xfrm>
          <a:prstGeom prst="roundRect">
            <a:avLst>
              <a:gd name="adj" fmla="val 4545"/>
            </a:avLst>
          </a:prstGeom>
          <a:solidFill>
            <a:srgbClr val="FFFFFF"/>
          </a:solidFill>
          <a:ln w="12700">
            <a:solidFill>
              <a:srgbClr val="F0E7E3"/>
            </a:solidFill>
            <a:prstDash val="solid"/>
          </a:ln>
        </p:spPr>
        <p:txBody>
          <a:bodyPr/>
          <a:lstStyle/>
          <a:p>
            <a:endParaRPr lang="en-US"/>
          </a:p>
        </p:txBody>
      </p:sp>
      <p:sp>
        <p:nvSpPr>
          <p:cNvPr id="32" name="Text 30"/>
          <p:cNvSpPr txBox="1"/>
          <p:nvPr/>
        </p:nvSpPr>
        <p:spPr>
          <a:xfrm>
            <a:off x="786384" y="3941064"/>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Optimiser</a:t>
            </a:r>
            <a:endParaRPr lang="en-US" sz="1160" dirty="0"/>
          </a:p>
        </p:txBody>
      </p:sp>
      <p:sp>
        <p:nvSpPr>
          <p:cNvPr id="33" name="Text 31"/>
          <p:cNvSpPr txBox="1"/>
          <p:nvPr/>
        </p:nvSpPr>
        <p:spPr>
          <a:xfrm>
            <a:off x="3291840" y="3941064"/>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AdamW, learning rate 5 × 10⁻⁶, warm-up then cosine decay</a:t>
            </a:r>
            <a:endParaRPr lang="en-US" sz="1160" dirty="0"/>
          </a:p>
        </p:txBody>
      </p:sp>
      <p:sp>
        <p:nvSpPr>
          <p:cNvPr id="34" name="Text 32"/>
          <p:cNvSpPr txBox="1"/>
          <p:nvPr/>
        </p:nvSpPr>
        <p:spPr>
          <a:xfrm>
            <a:off x="8138160" y="3941064"/>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Conservative rate</a:t>
            </a:r>
            <a:endParaRPr lang="en-US" sz="1160" dirty="0"/>
          </a:p>
        </p:txBody>
      </p:sp>
      <p:sp>
        <p:nvSpPr>
          <p:cNvPr id="35" name="Shape 33"/>
          <p:cNvSpPr/>
          <p:nvPr/>
        </p:nvSpPr>
        <p:spPr>
          <a:xfrm>
            <a:off x="566928" y="4315968"/>
            <a:ext cx="11064240" cy="402336"/>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36" name="Text 34"/>
          <p:cNvSpPr txBox="1"/>
          <p:nvPr/>
        </p:nvSpPr>
        <p:spPr>
          <a:xfrm>
            <a:off x="786384" y="4379976"/>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Batch size</a:t>
            </a:r>
            <a:endParaRPr lang="en-US" sz="1160" dirty="0"/>
          </a:p>
        </p:txBody>
      </p:sp>
      <p:sp>
        <p:nvSpPr>
          <p:cNvPr id="37" name="Text 35"/>
          <p:cNvSpPr txBox="1"/>
          <p:nvPr/>
        </p:nvSpPr>
        <p:spPr>
          <a:xfrm>
            <a:off x="3291840" y="4379976"/>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2</a:t>
            </a:r>
            <a:endParaRPr lang="en-US" sz="1160" dirty="0"/>
          </a:p>
        </p:txBody>
      </p:sp>
      <p:sp>
        <p:nvSpPr>
          <p:cNvPr id="38" name="Text 36"/>
          <p:cNvSpPr txBox="1"/>
          <p:nvPr/>
        </p:nvSpPr>
        <p:spPr>
          <a:xfrm>
            <a:off x="8138160" y="4379976"/>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Very small — no gradient accumulation reported</a:t>
            </a:r>
            <a:endParaRPr lang="en-US" sz="1160" dirty="0"/>
          </a:p>
        </p:txBody>
      </p:sp>
      <p:sp>
        <p:nvSpPr>
          <p:cNvPr id="39" name="Shape 37"/>
          <p:cNvSpPr/>
          <p:nvPr/>
        </p:nvSpPr>
        <p:spPr>
          <a:xfrm>
            <a:off x="566928" y="4754880"/>
            <a:ext cx="11064240" cy="402336"/>
          </a:xfrm>
          <a:prstGeom prst="roundRect">
            <a:avLst>
              <a:gd name="adj" fmla="val 4545"/>
            </a:avLst>
          </a:prstGeom>
          <a:solidFill>
            <a:srgbClr val="FFFFFF"/>
          </a:solidFill>
          <a:ln w="12700">
            <a:solidFill>
              <a:srgbClr val="F0E7E3"/>
            </a:solidFill>
            <a:prstDash val="solid"/>
          </a:ln>
        </p:spPr>
        <p:txBody>
          <a:bodyPr/>
          <a:lstStyle/>
          <a:p>
            <a:endParaRPr lang="en-US"/>
          </a:p>
        </p:txBody>
      </p:sp>
      <p:sp>
        <p:nvSpPr>
          <p:cNvPr id="40" name="Text 38"/>
          <p:cNvSpPr txBox="1"/>
          <p:nvPr/>
        </p:nvSpPr>
        <p:spPr>
          <a:xfrm>
            <a:off x="786384" y="4818888"/>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Hidden size</a:t>
            </a:r>
            <a:endParaRPr lang="en-US" sz="1160" dirty="0"/>
          </a:p>
        </p:txBody>
      </p:sp>
      <p:sp>
        <p:nvSpPr>
          <p:cNvPr id="41" name="Text 39"/>
          <p:cNvSpPr txBox="1"/>
          <p:nvPr/>
        </p:nvSpPr>
        <p:spPr>
          <a:xfrm>
            <a:off x="3291840" y="4818888"/>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768</a:t>
            </a:r>
            <a:endParaRPr lang="en-US" sz="1160" dirty="0"/>
          </a:p>
        </p:txBody>
      </p:sp>
      <p:sp>
        <p:nvSpPr>
          <p:cNvPr id="42" name="Text 40"/>
          <p:cNvSpPr txBox="1"/>
          <p:nvPr/>
        </p:nvSpPr>
        <p:spPr>
          <a:xfrm>
            <a:off x="8138160" y="4818888"/>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The fusion dimension</a:t>
            </a:r>
            <a:endParaRPr lang="en-US" sz="1160" dirty="0"/>
          </a:p>
        </p:txBody>
      </p:sp>
      <p:sp>
        <p:nvSpPr>
          <p:cNvPr id="43" name="Shape 41"/>
          <p:cNvSpPr/>
          <p:nvPr/>
        </p:nvSpPr>
        <p:spPr>
          <a:xfrm>
            <a:off x="566928" y="5193792"/>
            <a:ext cx="11064240" cy="402336"/>
          </a:xfrm>
          <a:prstGeom prst="roundRect">
            <a:avLst>
              <a:gd name="adj" fmla="val 4545"/>
            </a:avLst>
          </a:prstGeom>
          <a:solidFill>
            <a:srgbClr val="F6F0EE"/>
          </a:solidFill>
          <a:ln w="12700">
            <a:solidFill>
              <a:srgbClr val="F0E7E3"/>
            </a:solidFill>
            <a:prstDash val="solid"/>
          </a:ln>
        </p:spPr>
        <p:txBody>
          <a:bodyPr/>
          <a:lstStyle/>
          <a:p>
            <a:endParaRPr lang="en-US"/>
          </a:p>
        </p:txBody>
      </p:sp>
      <p:sp>
        <p:nvSpPr>
          <p:cNvPr id="44" name="Text 42"/>
          <p:cNvSpPr txBox="1"/>
          <p:nvPr/>
        </p:nvSpPr>
        <p:spPr>
          <a:xfrm>
            <a:off x="786384" y="5257800"/>
            <a:ext cx="2377440" cy="274320"/>
          </a:xfrm>
          <a:prstGeom prst="rect">
            <a:avLst/>
          </a:prstGeom>
          <a:noFill/>
          <a:ln/>
        </p:spPr>
        <p:txBody>
          <a:bodyPr wrap="square" lIns="0" tIns="0" rIns="0" bIns="0" rtlCol="0" anchor="ctr"/>
          <a:lstStyle/>
          <a:p>
            <a:pPr marL="0" indent="0">
              <a:buNone/>
            </a:pPr>
            <a:r>
              <a:rPr lang="en-US" sz="1160" b="1" dirty="0">
                <a:solidFill>
                  <a:srgbClr val="231614"/>
                </a:solidFill>
                <a:latin typeface="Calibri" pitchFamily="34" charset="0"/>
                <a:ea typeface="Calibri" pitchFamily="34" charset="-122"/>
                <a:cs typeface="Calibri" pitchFamily="34" charset="-120"/>
              </a:rPr>
              <a:t>Hardware</a:t>
            </a:r>
            <a:endParaRPr lang="en-US" sz="1160" dirty="0"/>
          </a:p>
        </p:txBody>
      </p:sp>
      <p:sp>
        <p:nvSpPr>
          <p:cNvPr id="45" name="Text 43"/>
          <p:cNvSpPr txBox="1"/>
          <p:nvPr/>
        </p:nvSpPr>
        <p:spPr>
          <a:xfrm>
            <a:off x="3291840" y="5257800"/>
            <a:ext cx="466344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One H100 GPU</a:t>
            </a:r>
            <a:endParaRPr lang="en-US" sz="1160" dirty="0"/>
          </a:p>
        </p:txBody>
      </p:sp>
      <p:sp>
        <p:nvSpPr>
          <p:cNvPr id="46" name="Text 44"/>
          <p:cNvSpPr txBox="1"/>
          <p:nvPr/>
        </p:nvSpPr>
        <p:spPr>
          <a:xfrm>
            <a:off x="8138160" y="5257800"/>
            <a:ext cx="3383280" cy="274320"/>
          </a:xfrm>
          <a:prstGeom prst="rect">
            <a:avLst/>
          </a:prstGeom>
          <a:noFill/>
          <a:ln/>
        </p:spPr>
        <p:txBody>
          <a:bodyPr wrap="square" lIns="0" tIns="0" rIns="0" bIns="0" rtlCol="0" anchor="ctr"/>
          <a:lstStyle/>
          <a:p>
            <a:pPr marL="0" indent="0">
              <a:buNone/>
            </a:pPr>
            <a:r>
              <a:rPr lang="en-US" sz="1160" dirty="0">
                <a:solidFill>
                  <a:srgbClr val="342220"/>
                </a:solidFill>
                <a:latin typeface="Calibri" pitchFamily="34" charset="0"/>
                <a:ea typeface="Calibri" pitchFamily="34" charset="-122"/>
                <a:cs typeface="Calibri" pitchFamily="34" charset="-120"/>
              </a:rPr>
              <a:t>Compare Qwen-Audio's 500k-step industrial run</a:t>
            </a:r>
            <a:endParaRPr lang="en-US" sz="1160" dirty="0"/>
          </a:p>
        </p:txBody>
      </p:sp>
      <p:sp>
        <p:nvSpPr>
          <p:cNvPr id="47" name="Shape 45"/>
          <p:cNvSpPr/>
          <p:nvPr/>
        </p:nvSpPr>
        <p:spPr>
          <a:xfrm>
            <a:off x="566928" y="5705856"/>
            <a:ext cx="11064240" cy="347472"/>
          </a:xfrm>
          <a:prstGeom prst="roundRect">
            <a:avLst>
              <a:gd name="adj" fmla="val 15789"/>
            </a:avLst>
          </a:prstGeom>
          <a:solidFill>
            <a:srgbClr val="FFFFFF"/>
          </a:solidFill>
          <a:ln w="12700">
            <a:solidFill>
              <a:srgbClr val="FFFFFF"/>
            </a:solidFill>
            <a:prstDash val="solid"/>
          </a:ln>
        </p:spPr>
        <p:txBody>
          <a:bodyPr/>
          <a:lstStyle/>
          <a:p>
            <a:endParaRPr lang="en-US"/>
          </a:p>
        </p:txBody>
      </p:sp>
      <p:sp>
        <p:nvSpPr>
          <p:cNvPr id="48" name="Text 46"/>
          <p:cNvSpPr txBox="1"/>
          <p:nvPr/>
        </p:nvSpPr>
        <p:spPr>
          <a:xfrm>
            <a:off x="822960" y="5925312"/>
            <a:ext cx="10552176" cy="0"/>
          </a:xfrm>
          <a:prstGeom prst="rect">
            <a:avLst/>
          </a:prstGeom>
          <a:noFill/>
          <a:ln/>
        </p:spPr>
        <p:txBody>
          <a:bodyPr wrap="square" lIns="0" tIns="0" rIns="0" bIns="0" rtlCol="0" anchor="t"/>
          <a:lstStyle/>
          <a:p>
            <a:pPr marL="0" indent="0">
              <a:lnSpc>
                <a:spcPct val="108000"/>
              </a:lnSpc>
              <a:buNone/>
            </a:pPr>
            <a:r>
              <a:rPr lang="en-US" sz="1200" dirty="0">
                <a:solidFill>
                  <a:srgbClr val="342220"/>
                </a:solidFill>
                <a:latin typeface="Calibri" pitchFamily="34" charset="0"/>
                <a:ea typeface="Calibri" pitchFamily="34" charset="-122"/>
                <a:cs typeface="Calibri" pitchFamily="34" charset="-120"/>
              </a:rPr>
              <a:t>No training duration, epoch count, or seed is reported, and results are single runs.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Part I in four sentences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Before the break</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17</a:t>
            </a:r>
            <a:endParaRPr lang="en-US" sz="900" dirty="0"/>
          </a:p>
        </p:txBody>
      </p:sp>
      <p:sp>
        <p:nvSpPr>
          <p:cNvPr id="8" name="Shape 6"/>
          <p:cNvSpPr/>
          <p:nvPr/>
        </p:nvSpPr>
        <p:spPr>
          <a:xfrm>
            <a:off x="566928" y="1645920"/>
            <a:ext cx="11064240" cy="969264"/>
          </a:xfrm>
          <a:prstGeom prst="roundRect">
            <a:avLst>
              <a:gd name="adj" fmla="val 4717"/>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822960" y="1956816"/>
            <a:ext cx="347472" cy="347472"/>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822960" y="198424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92224"/>
            <a:ext cx="10058400" cy="694944"/>
          </a:xfrm>
          <a:prstGeom prst="rect">
            <a:avLst/>
          </a:prstGeom>
          <a:noFill/>
          <a:ln/>
        </p:spPr>
        <p:txBody>
          <a:bodyPr wrap="square" lIns="0" tIns="0" rIns="0" bIns="0" rtlCol="0" anchor="ctr"/>
          <a:lstStyle/>
          <a:p>
            <a:pPr marL="0" indent="0">
              <a:buNone/>
            </a:pPr>
            <a:r>
              <a:rPr lang="en-US" sz="1300" dirty="0">
                <a:solidFill>
                  <a:srgbClr val="342220"/>
                </a:solidFill>
                <a:latin typeface="Calibri" pitchFamily="34" charset="0"/>
                <a:ea typeface="Calibri" pitchFamily="34" charset="-122"/>
                <a:cs typeface="Calibri" pitchFamily="34" charset="-120"/>
              </a:rPr>
              <a:t>Across six sessions we established that audio language models handle emotion badly, for reasons ranging from noisy corpora to objectives that discard paralinguistic information.</a:t>
            </a:r>
            <a:endParaRPr lang="en-US" sz="1300" dirty="0"/>
          </a:p>
        </p:txBody>
      </p:sp>
      <p:sp>
        <p:nvSpPr>
          <p:cNvPr id="12" name="Shape 10"/>
          <p:cNvSpPr/>
          <p:nvPr/>
        </p:nvSpPr>
        <p:spPr>
          <a:xfrm>
            <a:off x="566928" y="2688336"/>
            <a:ext cx="11064240" cy="969264"/>
          </a:xfrm>
          <a:prstGeom prst="roundRect">
            <a:avLst>
              <a:gd name="adj" fmla="val 4717"/>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822960" y="2999232"/>
            <a:ext cx="347472" cy="347472"/>
          </a:xfrm>
          <a:prstGeom prst="ellipse">
            <a:avLst/>
          </a:prstGeom>
          <a:solidFill>
            <a:srgbClr val="8C4A3C"/>
          </a:solidFill>
          <a:ln w="12700">
            <a:solidFill>
              <a:srgbClr val="333333"/>
            </a:solidFill>
            <a:prstDash val="solid"/>
          </a:ln>
        </p:spPr>
        <p:txBody>
          <a:bodyPr/>
          <a:lstStyle/>
          <a:p>
            <a:endParaRPr lang="en-US"/>
          </a:p>
        </p:txBody>
      </p:sp>
      <p:sp>
        <p:nvSpPr>
          <p:cNvPr id="14" name="Text 12"/>
          <p:cNvSpPr txBox="1"/>
          <p:nvPr/>
        </p:nvSpPr>
        <p:spPr>
          <a:xfrm>
            <a:off x="822960" y="302666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35024" y="2834640"/>
            <a:ext cx="10058400" cy="694944"/>
          </a:xfrm>
          <a:prstGeom prst="rect">
            <a:avLst/>
          </a:prstGeom>
          <a:noFill/>
          <a:ln/>
        </p:spPr>
        <p:txBody>
          <a:bodyPr wrap="square" lIns="0" tIns="0" rIns="0" bIns="0" rtlCol="0" anchor="ctr"/>
          <a:lstStyle/>
          <a:p>
            <a:pPr marL="0" indent="0">
              <a:buNone/>
            </a:pPr>
            <a:r>
              <a:rPr lang="en-US" sz="1300" dirty="0">
                <a:solidFill>
                  <a:srgbClr val="342220"/>
                </a:solidFill>
                <a:latin typeface="Calibri" pitchFamily="34" charset="0"/>
                <a:ea typeface="Calibri" pitchFamily="34" charset="-122"/>
                <a:cs typeface="Calibri" pitchFamily="34" charset="-120"/>
              </a:rPr>
              <a:t>EAA diagnoses two specific causes: single-encoder or concatenation-based fusion, and judging each utterance in isolation when emotion evolves across a dialogue.</a:t>
            </a:r>
            <a:endParaRPr lang="en-US" sz="1300" dirty="0"/>
          </a:p>
        </p:txBody>
      </p:sp>
      <p:sp>
        <p:nvSpPr>
          <p:cNvPr id="16" name="Shape 14"/>
          <p:cNvSpPr/>
          <p:nvPr/>
        </p:nvSpPr>
        <p:spPr>
          <a:xfrm>
            <a:off x="566928" y="3730752"/>
            <a:ext cx="11064240" cy="969264"/>
          </a:xfrm>
          <a:prstGeom prst="roundRect">
            <a:avLst>
              <a:gd name="adj" fmla="val 4717"/>
            </a:avLst>
          </a:prstGeom>
          <a:solidFill>
            <a:srgbClr val="F6F0EE"/>
          </a:solidFill>
          <a:ln w="12700">
            <a:solidFill>
              <a:srgbClr val="EBE0DC"/>
            </a:solidFill>
            <a:prstDash val="solid"/>
          </a:ln>
        </p:spPr>
        <p:txBody>
          <a:bodyPr/>
          <a:lstStyle/>
          <a:p>
            <a:endParaRPr lang="en-US"/>
          </a:p>
        </p:txBody>
      </p:sp>
      <p:sp>
        <p:nvSpPr>
          <p:cNvPr id="17" name="Shape 15"/>
          <p:cNvSpPr/>
          <p:nvPr/>
        </p:nvSpPr>
        <p:spPr>
          <a:xfrm>
            <a:off x="822960" y="4041648"/>
            <a:ext cx="347472" cy="347472"/>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822960" y="406908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1335024" y="3877056"/>
            <a:ext cx="10058400" cy="694944"/>
          </a:xfrm>
          <a:prstGeom prst="rect">
            <a:avLst/>
          </a:prstGeom>
          <a:noFill/>
          <a:ln/>
        </p:spPr>
        <p:txBody>
          <a:bodyPr wrap="square" lIns="0" tIns="0" rIns="0" bIns="0" rtlCol="0" anchor="ctr"/>
          <a:lstStyle/>
          <a:p>
            <a:pPr marL="0" indent="0">
              <a:buNone/>
            </a:pPr>
            <a:r>
              <a:rPr lang="en-US" sz="1300" dirty="0">
                <a:solidFill>
                  <a:srgbClr val="342220"/>
                </a:solidFill>
                <a:latin typeface="Calibri" pitchFamily="34" charset="0"/>
                <a:ea typeface="Calibri" pitchFamily="34" charset="-122"/>
                <a:cs typeface="Calibri" pitchFamily="34" charset="-120"/>
              </a:rPr>
              <a:t>The fusion fix is bidirectional cross-attention between a HuBERT semantic stream and a BEATs acoustic stream, with both original streams concatenated back in.</a:t>
            </a:r>
            <a:endParaRPr lang="en-US" sz="1300" dirty="0"/>
          </a:p>
        </p:txBody>
      </p:sp>
      <p:sp>
        <p:nvSpPr>
          <p:cNvPr id="20" name="Shape 18"/>
          <p:cNvSpPr/>
          <p:nvPr/>
        </p:nvSpPr>
        <p:spPr>
          <a:xfrm>
            <a:off x="566928" y="4773168"/>
            <a:ext cx="11064240" cy="969264"/>
          </a:xfrm>
          <a:prstGeom prst="roundRect">
            <a:avLst>
              <a:gd name="adj" fmla="val 4717"/>
            </a:avLst>
          </a:prstGeom>
          <a:solidFill>
            <a:srgbClr val="F6F0EE"/>
          </a:solidFill>
          <a:ln w="12700">
            <a:solidFill>
              <a:srgbClr val="EBE0DC"/>
            </a:solidFill>
            <a:prstDash val="solid"/>
          </a:ln>
        </p:spPr>
        <p:txBody>
          <a:bodyPr/>
          <a:lstStyle/>
          <a:p>
            <a:endParaRPr lang="en-US"/>
          </a:p>
        </p:txBody>
      </p:sp>
      <p:sp>
        <p:nvSpPr>
          <p:cNvPr id="21" name="Shape 19"/>
          <p:cNvSpPr/>
          <p:nvPr/>
        </p:nvSpPr>
        <p:spPr>
          <a:xfrm>
            <a:off x="822960" y="5084064"/>
            <a:ext cx="347472" cy="347472"/>
          </a:xfrm>
          <a:prstGeom prst="ellipse">
            <a:avLst/>
          </a:prstGeom>
          <a:solidFill>
            <a:srgbClr val="8C4A3C"/>
          </a:solidFill>
          <a:ln w="12700">
            <a:solidFill>
              <a:srgbClr val="333333"/>
            </a:solidFill>
            <a:prstDash val="solid"/>
          </a:ln>
        </p:spPr>
        <p:txBody>
          <a:bodyPr/>
          <a:lstStyle/>
          <a:p>
            <a:endParaRPr lang="en-US"/>
          </a:p>
        </p:txBody>
      </p:sp>
      <p:sp>
        <p:nvSpPr>
          <p:cNvPr id="22" name="Text 20"/>
          <p:cNvSpPr txBox="1"/>
          <p:nvPr/>
        </p:nvSpPr>
        <p:spPr>
          <a:xfrm>
            <a:off x="822960" y="511149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35024" y="4919472"/>
            <a:ext cx="10058400" cy="694944"/>
          </a:xfrm>
          <a:prstGeom prst="rect">
            <a:avLst/>
          </a:prstGeom>
          <a:noFill/>
          <a:ln/>
        </p:spPr>
        <p:txBody>
          <a:bodyPr wrap="square" lIns="0" tIns="0" rIns="0" bIns="0" rtlCol="0" anchor="ctr"/>
          <a:lstStyle/>
          <a:p>
            <a:pPr marL="0" indent="0">
              <a:buNone/>
            </a:pPr>
            <a:r>
              <a:rPr lang="en-US" sz="1300" dirty="0">
                <a:solidFill>
                  <a:srgbClr val="342220"/>
                </a:solidFill>
                <a:latin typeface="Calibri" pitchFamily="34" charset="0"/>
                <a:ea typeface="Calibri" pitchFamily="34" charset="-122"/>
                <a:cs typeface="Calibri" pitchFamily="34" charset="-120"/>
              </a:rPr>
              <a:t>The context fix is to prepend the immediately preceding utterance, with a fixed instruction asking for the emotion in one word.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 and ablations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The table, and the three rows that reframe it</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Against audio language models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MELD accuracy — every model in this table is one we have read or discussed</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20</a:t>
            </a:r>
            <a:endParaRPr lang="en-US" sz="900" dirty="0"/>
          </a:p>
        </p:txBody>
      </p:sp>
      <p:graphicFrame>
        <p:nvGraphicFramePr>
          <p:cNvPr id="8"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EAA at 0.687 against the best prior audio LLM, BLSP-Emo, at 0.573 — the 11.4-point gain in the abstract.</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ordering is informative: general-purpose models cluster at 0.55 to 0.57, and the models that predate them sit near 0.30.</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Pengi at 0.289 on seven classes is barely above the 0.14 chance level — the same picture as its 0.185 on CREMA-D.</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WavLM-large at 0.542 is a frozen self-supervised encoder with a classification head, and it beats four audio LLMs.</a:t>
            </a:r>
            <a:endParaRPr lang="en-US" sz="1220" dirty="0"/>
          </a:p>
        </p:txBody>
      </p:sp>
      <p:sp>
        <p:nvSpPr>
          <p:cNvPr id="10" name="Shape 7"/>
          <p:cNvSpPr/>
          <p:nvPr/>
        </p:nvSpPr>
        <p:spPr>
          <a:xfrm>
            <a:off x="566928" y="5303520"/>
            <a:ext cx="11064240" cy="749808"/>
          </a:xfrm>
          <a:prstGeom prst="roundRect">
            <a:avLst>
              <a:gd name="adj" fmla="val 7317"/>
            </a:avLst>
          </a:prstGeom>
          <a:solidFill>
            <a:srgbClr val="31211F"/>
          </a:solidFill>
          <a:ln w="12700">
            <a:solidFill>
              <a:srgbClr val="31211F"/>
            </a:solidFill>
            <a:prstDash val="solid"/>
          </a:ln>
        </p:spPr>
        <p:txBody>
          <a:bodyPr/>
          <a:lstStyle/>
          <a:p>
            <a:endParaRPr lang="en-US"/>
          </a:p>
        </p:txBody>
      </p:sp>
      <p:sp>
        <p:nvSpPr>
          <p:cNvPr id="11" name="Text 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fourth bullet is the series' recurring embarrassment: a representation model with a linear head outperforming models built on eight-billion-parameter LLMs.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baselines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Four things the superscripts tell you</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21</a:t>
            </a:r>
            <a:endParaRPr lang="en-US" sz="900" dirty="0"/>
          </a:p>
        </p:txBody>
      </p:sp>
      <p:sp>
        <p:nvSpPr>
          <p:cNvPr id="8" name="Shape 6"/>
          <p:cNvSpPr/>
          <p:nvPr/>
        </p:nvSpPr>
        <p:spPr>
          <a:xfrm>
            <a:off x="566928" y="1554480"/>
            <a:ext cx="11064240" cy="1042416"/>
          </a:xfrm>
          <a:prstGeom prst="roundRect">
            <a:avLst>
              <a:gd name="adj" fmla="val 2632"/>
            </a:avLst>
          </a:prstGeom>
          <a:solidFill>
            <a:srgbClr val="F6F0EE"/>
          </a:solidFill>
          <a:ln w="12700">
            <a:solidFill>
              <a:srgbClr val="F0E7E3"/>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1024128" y="1645920"/>
            <a:ext cx="3108960" cy="859536"/>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Three provenances</a:t>
            </a:r>
            <a:endParaRPr lang="en-US" sz="1300" dirty="0"/>
          </a:p>
        </p:txBody>
      </p:sp>
      <p:sp>
        <p:nvSpPr>
          <p:cNvPr id="11" name="Text 9"/>
          <p:cNvSpPr txBox="1"/>
          <p:nvPr/>
        </p:nvSpPr>
        <p:spPr>
          <a:xfrm>
            <a:off x="4315968" y="1627632"/>
            <a:ext cx="713232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The table marks results cited from original papers, results reported by AudioBench, results reported by Qwen-Audio, and results the authors ran themselves. Properly disclosed, and it means decoding, prompting and label-mapping differ across rows.</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F0E7E3"/>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8C4A3C"/>
          </a:solidFill>
          <a:ln w="12700">
            <a:solidFill>
              <a:srgbClr val="333333"/>
            </a:solidFill>
            <a:prstDash val="solid"/>
          </a:ln>
        </p:spPr>
        <p:txBody>
          <a:bodyPr/>
          <a:lstStyle/>
          <a:p>
            <a:endParaRPr lang="en-US"/>
          </a:p>
        </p:txBody>
      </p:sp>
      <p:sp>
        <p:nvSpPr>
          <p:cNvPr id="14" name="Text 12"/>
          <p:cNvSpPr txBox="1"/>
          <p:nvPr/>
        </p:nvSpPr>
        <p:spPr>
          <a:xfrm>
            <a:off x="1024128" y="2743200"/>
            <a:ext cx="3108960" cy="859536"/>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Generative versus classification</a:t>
            </a:r>
            <a:endParaRPr lang="en-US" sz="1300" dirty="0"/>
          </a:p>
        </p:txBody>
      </p:sp>
      <p:sp>
        <p:nvSpPr>
          <p:cNvPr id="15" name="Text 13"/>
          <p:cNvSpPr txBox="1"/>
          <p:nvPr/>
        </p:nvSpPr>
        <p:spPr>
          <a:xfrm>
            <a:off x="4315968" y="2724912"/>
            <a:ext cx="713232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Most baselines generate a word that must then be matched to one of seven labels. How that matching is done is not stated for EAA or for the cited baselines — and from the Pengi session we know text-matching choices are worth several points.</a:t>
            </a:r>
            <a:endParaRPr lang="en-US" sz="1220" dirty="0"/>
          </a:p>
        </p:txBody>
      </p:sp>
      <p:sp>
        <p:nvSpPr>
          <p:cNvPr id="16" name="Shape 14"/>
          <p:cNvSpPr/>
          <p:nvPr/>
        </p:nvSpPr>
        <p:spPr>
          <a:xfrm>
            <a:off x="566928" y="3749040"/>
            <a:ext cx="11064240" cy="1042416"/>
          </a:xfrm>
          <a:prstGeom prst="roundRect">
            <a:avLst>
              <a:gd name="adj" fmla="val 2632"/>
            </a:avLst>
          </a:prstGeom>
          <a:solidFill>
            <a:srgbClr val="F6F0EE"/>
          </a:solidFill>
          <a:ln w="12700">
            <a:solidFill>
              <a:srgbClr val="F0E7E3"/>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1024128" y="3840480"/>
            <a:ext cx="3108960" cy="859536"/>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Accuracy only</a:t>
            </a:r>
            <a:endParaRPr lang="en-US" sz="1300" dirty="0"/>
          </a:p>
        </p:txBody>
      </p:sp>
      <p:sp>
        <p:nvSpPr>
          <p:cNvPr id="19" name="Text 17"/>
          <p:cNvSpPr txBox="1"/>
          <p:nvPr/>
        </p:nvSpPr>
        <p:spPr>
          <a:xfrm>
            <a:off x="4315968" y="3822192"/>
            <a:ext cx="713232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One number per model. MELD is heavily imbalanced toward neutral, and from the CLEP-DG session we know a weighted accuracy near 50 can accompany an unweighted accuracy near 23.</a:t>
            </a:r>
            <a:endParaRPr lang="en-US" sz="1220" dirty="0"/>
          </a:p>
        </p:txBody>
      </p:sp>
      <p:sp>
        <p:nvSpPr>
          <p:cNvPr id="20" name="Shape 18"/>
          <p:cNvSpPr/>
          <p:nvPr/>
        </p:nvSpPr>
        <p:spPr>
          <a:xfrm>
            <a:off x="566928" y="4846320"/>
            <a:ext cx="11064240" cy="1042416"/>
          </a:xfrm>
          <a:prstGeom prst="roundRect">
            <a:avLst>
              <a:gd name="adj" fmla="val 2632"/>
            </a:avLst>
          </a:prstGeom>
          <a:solidFill>
            <a:srgbClr val="FFFFFF"/>
          </a:solidFill>
          <a:ln w="12700">
            <a:solidFill>
              <a:srgbClr val="F0E7E3"/>
            </a:solidFill>
            <a:prstDash val="solid"/>
          </a:ln>
        </p:spPr>
        <p:txBody>
          <a:bodyPr/>
          <a:lstStyle/>
          <a:p>
            <a:endParaRPr lang="en-US"/>
          </a:p>
        </p:txBody>
      </p:sp>
      <p:sp>
        <p:nvSpPr>
          <p:cNvPr id="21" name="Shape 19"/>
          <p:cNvSpPr/>
          <p:nvPr/>
        </p:nvSpPr>
        <p:spPr>
          <a:xfrm>
            <a:off x="786384" y="5308092"/>
            <a:ext cx="118872" cy="118872"/>
          </a:xfrm>
          <a:prstGeom prst="ellipse">
            <a:avLst/>
          </a:prstGeom>
          <a:solidFill>
            <a:srgbClr val="8C4A3C"/>
          </a:solidFill>
          <a:ln w="12700">
            <a:solidFill>
              <a:srgbClr val="333333"/>
            </a:solidFill>
            <a:prstDash val="solid"/>
          </a:ln>
        </p:spPr>
        <p:txBody>
          <a:bodyPr/>
          <a:lstStyle/>
          <a:p>
            <a:endParaRPr lang="en-US"/>
          </a:p>
        </p:txBody>
      </p:sp>
      <p:sp>
        <p:nvSpPr>
          <p:cNvPr id="22" name="Text 20"/>
          <p:cNvSpPr txBox="1"/>
          <p:nvPr/>
        </p:nvSpPr>
        <p:spPr>
          <a:xfrm>
            <a:off x="1024128" y="4937760"/>
            <a:ext cx="3108960" cy="859536"/>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The comparison that is controlled</a:t>
            </a:r>
            <a:endParaRPr lang="en-US" sz="1300" dirty="0"/>
          </a:p>
        </p:txBody>
      </p:sp>
      <p:sp>
        <p:nvSpPr>
          <p:cNvPr id="23" name="Text 21"/>
          <p:cNvSpPr txBox="1"/>
          <p:nvPr/>
        </p:nvSpPr>
        <p:spPr>
          <a:xfrm>
            <a:off x="4315968" y="4919472"/>
            <a:ext cx="7132320" cy="896112"/>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None of them, strictly. The internally controlled evidence is the ablation table, which holds the model fixed and varies one factor — and that is the next slide.</a:t>
            </a:r>
            <a:endParaRPr lang="en-US" sz="1220" dirty="0"/>
          </a:p>
        </p:txBody>
      </p:sp>
      <p:sp>
        <p:nvSpPr>
          <p:cNvPr id="24" name="Shape 22"/>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Against purpose-built conversation models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Most of these use video as well</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22</a:t>
            </a:r>
            <a:endParaRPr lang="en-US" sz="900" dirty="0"/>
          </a:p>
        </p:txBody>
      </p:sp>
      <p:graphicFrame>
        <p:nvGraphicFramePr>
          <p:cNvPr id="8"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EAA matches ELR-GNN, the strongest specialist, which also uses video.</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paper's own reading: most audio LLMs lag traditional classifiers because classification picks from seven categories while generation must select an emotion word from a much larger vocabulary.</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framing is that EAA closes the gap between audio LLMs and purpose-built classifiers — which is a fair and appropriately modest claim.</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But note the axis: this chart starts at 0.60. The spread across eleven systems is under four points.</a:t>
            </a:r>
            <a:endParaRPr lang="en-US" sz="1220" dirty="0"/>
          </a:p>
        </p:txBody>
      </p:sp>
      <p:sp>
        <p:nvSpPr>
          <p:cNvPr id="10" name="Shape 7"/>
          <p:cNvSpPr/>
          <p:nvPr/>
        </p:nvSpPr>
        <p:spPr>
          <a:xfrm>
            <a:off x="566928" y="5303520"/>
            <a:ext cx="11064240" cy="749808"/>
          </a:xfrm>
          <a:prstGeom prst="roundRect">
            <a:avLst>
              <a:gd name="adj" fmla="val 7317"/>
            </a:avLst>
          </a:prstGeom>
          <a:solidFill>
            <a:srgbClr val="31211F"/>
          </a:solidFill>
          <a:ln w="12700">
            <a:solidFill>
              <a:srgbClr val="31211F"/>
            </a:solidFill>
            <a:prstDash val="solid"/>
          </a:ln>
        </p:spPr>
        <p:txBody>
          <a:bodyPr/>
          <a:lstStyle/>
          <a:p>
            <a:endParaRPr lang="en-US"/>
          </a:p>
        </p:txBody>
      </p:sp>
      <p:sp>
        <p:nvSpPr>
          <p:cNvPr id="11" name="Text 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Reaching a specialist's accuracy with one fewer modality is the strongest version of the claim, and it is the one the paper makes.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One observation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SACL-LSTM uses text and nothing else</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23</a:t>
            </a:r>
            <a:endParaRPr lang="en-US" sz="900" dirty="0"/>
          </a:p>
        </p:txBody>
      </p:sp>
      <p:sp>
        <p:nvSpPr>
          <p:cNvPr id="8" name="Shape 6"/>
          <p:cNvSpPr/>
          <p:nvPr/>
        </p:nvSpPr>
        <p:spPr>
          <a:xfrm>
            <a:off x="566928" y="1627632"/>
            <a:ext cx="5394960" cy="2194560"/>
          </a:xfrm>
          <a:prstGeom prst="roundRect">
            <a:avLst>
              <a:gd name="adj" fmla="val 2500"/>
            </a:avLst>
          </a:prstGeom>
          <a:solidFill>
            <a:srgbClr val="F6F0EE"/>
          </a:solidFill>
          <a:ln w="19050">
            <a:solidFill>
              <a:srgbClr val="8C4A3C"/>
            </a:solidFill>
            <a:prstDash val="solid"/>
          </a:ln>
        </p:spPr>
        <p:txBody>
          <a:bodyPr/>
          <a:lstStyle/>
          <a:p>
            <a:endParaRPr lang="en-US"/>
          </a:p>
        </p:txBody>
      </p:sp>
      <p:sp>
        <p:nvSpPr>
          <p:cNvPr id="9" name="Text 7"/>
          <p:cNvSpPr txBox="1"/>
          <p:nvPr/>
        </p:nvSpPr>
        <p:spPr>
          <a:xfrm>
            <a:off x="566928" y="1847088"/>
            <a:ext cx="5394960" cy="868680"/>
          </a:xfrm>
          <a:prstGeom prst="rect">
            <a:avLst/>
          </a:prstGeom>
          <a:noFill/>
          <a:ln/>
        </p:spPr>
        <p:txBody>
          <a:bodyPr wrap="square" lIns="0" tIns="0" rIns="0" bIns="0" rtlCol="0" anchor="ctr"/>
          <a:lstStyle/>
          <a:p>
            <a:pPr marL="0" indent="0" algn="ctr">
              <a:buNone/>
            </a:pPr>
            <a:r>
              <a:rPr lang="en-US" sz="5200" b="1" dirty="0">
                <a:solidFill>
                  <a:srgbClr val="8C4A3C"/>
                </a:solidFill>
                <a:latin typeface="Cambria" pitchFamily="34" charset="0"/>
                <a:ea typeface="Cambria" pitchFamily="34" charset="-122"/>
                <a:cs typeface="Cambria" pitchFamily="34" charset="-120"/>
              </a:rPr>
              <a:t>0.679</a:t>
            </a:r>
            <a:endParaRPr lang="en-US" sz="5200" dirty="0"/>
          </a:p>
        </p:txBody>
      </p:sp>
      <p:sp>
        <p:nvSpPr>
          <p:cNvPr id="10" name="Text 8"/>
          <p:cNvSpPr txBox="1"/>
          <p:nvPr/>
        </p:nvSpPr>
        <p:spPr>
          <a:xfrm>
            <a:off x="822960" y="2798064"/>
            <a:ext cx="4882896" cy="731520"/>
          </a:xfrm>
          <a:prstGeom prst="rect">
            <a:avLst/>
          </a:prstGeom>
          <a:noFill/>
          <a:ln/>
        </p:spPr>
        <p:txBody>
          <a:bodyPr wrap="square" lIns="0" tIns="0" rIns="0" bIns="0" rtlCol="0" anchor="ctr"/>
          <a:lstStyle/>
          <a:p>
            <a:pPr marL="0" indent="0" algn="ctr">
              <a:buNone/>
            </a:pPr>
            <a:r>
              <a:rPr lang="en-US" sz="1300" dirty="0">
                <a:solidFill>
                  <a:srgbClr val="6B524C"/>
                </a:solidFill>
                <a:latin typeface="Calibri" pitchFamily="34" charset="0"/>
                <a:ea typeface="Calibri" pitchFamily="34" charset="-122"/>
                <a:cs typeface="Calibri" pitchFamily="34" charset="-120"/>
              </a:rPr>
              <a:t>SACL-LSTM — text only,</a:t>
            </a:r>
            <a:endParaRPr lang="en-US" sz="1300" dirty="0"/>
          </a:p>
          <a:p>
            <a:pPr marL="0" indent="0" algn="ctr">
              <a:buNone/>
            </a:pPr>
            <a:r>
              <a:rPr lang="en-US" sz="1300" dirty="0">
                <a:solidFill>
                  <a:srgbClr val="6B524C"/>
                </a:solidFill>
                <a:latin typeface="Calibri" pitchFamily="34" charset="0"/>
                <a:ea typeface="Calibri" pitchFamily="34" charset="-122"/>
                <a:cs typeface="Calibri" pitchFamily="34" charset="-120"/>
              </a:rPr>
              <a:t>no audio, no video</a:t>
            </a:r>
            <a:endParaRPr lang="en-US" sz="1300" dirty="0"/>
          </a:p>
        </p:txBody>
      </p:sp>
      <p:sp>
        <p:nvSpPr>
          <p:cNvPr id="11" name="Shape 9"/>
          <p:cNvSpPr/>
          <p:nvPr/>
        </p:nvSpPr>
        <p:spPr>
          <a:xfrm>
            <a:off x="6236208" y="1627632"/>
            <a:ext cx="5394960" cy="2194560"/>
          </a:xfrm>
          <a:prstGeom prst="roundRect">
            <a:avLst>
              <a:gd name="adj" fmla="val 2500"/>
            </a:avLst>
          </a:prstGeom>
          <a:solidFill>
            <a:srgbClr val="EEF3EA"/>
          </a:solidFill>
          <a:ln w="19050">
            <a:solidFill>
              <a:srgbClr val="6E8B5F"/>
            </a:solidFill>
            <a:prstDash val="solid"/>
          </a:ln>
        </p:spPr>
        <p:txBody>
          <a:bodyPr/>
          <a:lstStyle/>
          <a:p>
            <a:endParaRPr lang="en-US"/>
          </a:p>
        </p:txBody>
      </p:sp>
      <p:sp>
        <p:nvSpPr>
          <p:cNvPr id="12" name="Text 10"/>
          <p:cNvSpPr txBox="1"/>
          <p:nvPr/>
        </p:nvSpPr>
        <p:spPr>
          <a:xfrm>
            <a:off x="6236208" y="1847088"/>
            <a:ext cx="5394960" cy="868680"/>
          </a:xfrm>
          <a:prstGeom prst="rect">
            <a:avLst/>
          </a:prstGeom>
          <a:noFill/>
          <a:ln/>
        </p:spPr>
        <p:txBody>
          <a:bodyPr wrap="square" lIns="0" tIns="0" rIns="0" bIns="0" rtlCol="0" anchor="ctr"/>
          <a:lstStyle/>
          <a:p>
            <a:pPr marL="0" indent="0" algn="ctr">
              <a:buNone/>
            </a:pPr>
            <a:r>
              <a:rPr lang="en-US" sz="5200" b="1" dirty="0">
                <a:solidFill>
                  <a:srgbClr val="6E8B5F"/>
                </a:solidFill>
                <a:latin typeface="Cambria" pitchFamily="34" charset="0"/>
                <a:ea typeface="Cambria" pitchFamily="34" charset="-122"/>
                <a:cs typeface="Cambria" pitchFamily="34" charset="-120"/>
              </a:rPr>
              <a:t>0.687</a:t>
            </a:r>
            <a:endParaRPr lang="en-US" sz="5200" dirty="0"/>
          </a:p>
        </p:txBody>
      </p:sp>
      <p:sp>
        <p:nvSpPr>
          <p:cNvPr id="13" name="Text 11"/>
          <p:cNvSpPr txBox="1"/>
          <p:nvPr/>
        </p:nvSpPr>
        <p:spPr>
          <a:xfrm>
            <a:off x="6492240" y="2798064"/>
            <a:ext cx="4882896" cy="731520"/>
          </a:xfrm>
          <a:prstGeom prst="rect">
            <a:avLst/>
          </a:prstGeom>
          <a:noFill/>
          <a:ln/>
        </p:spPr>
        <p:txBody>
          <a:bodyPr wrap="square" lIns="0" tIns="0" rIns="0" bIns="0" rtlCol="0" anchor="ctr"/>
          <a:lstStyle/>
          <a:p>
            <a:pPr marL="0" indent="0" algn="ctr">
              <a:buNone/>
            </a:pPr>
            <a:r>
              <a:rPr lang="en-US" sz="1300" dirty="0">
                <a:solidFill>
                  <a:srgbClr val="6B524C"/>
                </a:solidFill>
                <a:latin typeface="Calibri" pitchFamily="34" charset="0"/>
                <a:ea typeface="Calibri" pitchFamily="34" charset="-122"/>
                <a:cs typeface="Calibri" pitchFamily="34" charset="-120"/>
              </a:rPr>
              <a:t>EAA — text and audio,</a:t>
            </a:r>
            <a:endParaRPr lang="en-US" sz="1300" dirty="0"/>
          </a:p>
          <a:p>
            <a:pPr marL="0" indent="0" algn="ctr">
              <a:buNone/>
            </a:pPr>
            <a:r>
              <a:rPr lang="en-US" sz="1300" dirty="0">
                <a:solidFill>
                  <a:srgbClr val="6B524C"/>
                </a:solidFill>
                <a:latin typeface="Calibri" pitchFamily="34" charset="0"/>
                <a:ea typeface="Calibri" pitchFamily="34" charset="-122"/>
                <a:cs typeface="Calibri" pitchFamily="34" charset="-120"/>
              </a:rPr>
              <a:t>dual cross-attention fusion</a:t>
            </a:r>
            <a:endParaRPr lang="en-US" sz="1300" dirty="0"/>
          </a:p>
        </p:txBody>
      </p:sp>
      <p:sp>
        <p:nvSpPr>
          <p:cNvPr id="14" name="Shape 12"/>
          <p:cNvSpPr/>
          <p:nvPr/>
        </p:nvSpPr>
        <p:spPr>
          <a:xfrm>
            <a:off x="566928" y="4023360"/>
            <a:ext cx="11064240" cy="2029968"/>
          </a:xfrm>
          <a:prstGeom prst="roundRect">
            <a:avLst>
              <a:gd name="adj" fmla="val 2703"/>
            </a:avLst>
          </a:prstGeom>
          <a:solidFill>
            <a:srgbClr val="31211F"/>
          </a:solidFill>
          <a:ln w="12700">
            <a:solidFill>
              <a:srgbClr val="31211F"/>
            </a:solidFill>
            <a:prstDash val="solid"/>
          </a:ln>
        </p:spPr>
        <p:txBody>
          <a:bodyPr/>
          <a:lstStyle/>
          <a:p>
            <a:endParaRPr lang="en-US"/>
          </a:p>
        </p:txBody>
      </p:sp>
      <p:sp>
        <p:nvSpPr>
          <p:cNvPr id="15" name="Shape 13"/>
          <p:cNvSpPr/>
          <p:nvPr/>
        </p:nvSpPr>
        <p:spPr>
          <a:xfrm>
            <a:off x="786384" y="4315968"/>
            <a:ext cx="109728" cy="109728"/>
          </a:xfrm>
          <a:prstGeom prst="ellipse">
            <a:avLst/>
          </a:prstGeom>
          <a:solidFill>
            <a:srgbClr val="6E8B5F"/>
          </a:solidFill>
          <a:ln w="12700">
            <a:solidFill>
              <a:srgbClr val="333333"/>
            </a:solidFill>
            <a:prstDash val="solid"/>
          </a:ln>
        </p:spPr>
        <p:txBody>
          <a:bodyPr/>
          <a:lstStyle/>
          <a:p>
            <a:endParaRPr lang="en-US"/>
          </a:p>
        </p:txBody>
      </p:sp>
      <p:sp>
        <p:nvSpPr>
          <p:cNvPr id="16" name="Text 14"/>
          <p:cNvSpPr txBox="1"/>
          <p:nvPr/>
        </p:nvSpPr>
        <p:spPr>
          <a:xfrm>
            <a:off x="987552" y="418795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Eight tenths of a point for the entire audio pathway</a:t>
            </a:r>
            <a:endParaRPr lang="en-US" sz="1500" dirty="0"/>
          </a:p>
        </p:txBody>
      </p:sp>
      <p:sp>
        <p:nvSpPr>
          <p:cNvPr id="17" name="Text 15"/>
          <p:cNvSpPr txBox="1"/>
          <p:nvPr/>
        </p:nvSpPr>
        <p:spPr>
          <a:xfrm>
            <a:off x="822960" y="4626864"/>
            <a:ext cx="10552176" cy="1243584"/>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A supervised contrastive LSTM over transcripts alone reaches 0.679 on MELD. EAA, with two self-supervised audio encoders, bidirectional cross-attention and an eight-billion-parameter language model, reaches 0.687.</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This is not an argument against the paper — the same gap applies to every multimodal system in the table, several of which add video and gain less than a point. It is an argument about MELD, and about how much headroom the audio channel has on this dataset at all.</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ablation that reframes the paper</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Three rows, and the gap between the first two</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24</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paper's own description of row one: neither the current utterance nor the preceding sentence is provided — there is no additional text information about the input audio.</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So row one is the full audio pipeline — both encoders, dual cross-attention, LLaMA — with no transcript. It reaches 0.523.</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Adding the current utterance's text is worth 14.4 points. Adding the preceding utterance's text is worth a further 2.0.</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named contribution — context — accounts for 2.0 of the 16.4 points in this table.</a:t>
            </a:r>
            <a:endParaRPr lang="en-US" sz="1220" dirty="0"/>
          </a:p>
        </p:txBody>
      </p:sp>
      <p:sp>
        <p:nvSpPr>
          <p:cNvPr id="10" name="Shape 7"/>
          <p:cNvSpPr/>
          <p:nvPr/>
        </p:nvSpPr>
        <p:spPr>
          <a:xfrm>
            <a:off x="566928" y="5266944"/>
            <a:ext cx="11064240" cy="786384"/>
          </a:xfrm>
          <a:prstGeom prst="roundRect">
            <a:avLst>
              <a:gd name="adj" fmla="val 6977"/>
            </a:avLst>
          </a:prstGeom>
          <a:solidFill>
            <a:srgbClr val="31211F"/>
          </a:solidFill>
          <a:ln w="12700">
            <a:solidFill>
              <a:srgbClr val="31211F"/>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This is the most informative table in the paper, and it says the dominant factor is the transcript of the current utterance.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What that implies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Three readings, and how to tell them apart</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25</a:t>
            </a:r>
            <a:endParaRPr lang="en-US" sz="900" dirty="0"/>
          </a:p>
        </p:txBody>
      </p:sp>
      <p:sp>
        <p:nvSpPr>
          <p:cNvPr id="8" name="Shape 6"/>
          <p:cNvSpPr/>
          <p:nvPr/>
        </p:nvSpPr>
        <p:spPr>
          <a:xfrm>
            <a:off x="566928" y="1572768"/>
            <a:ext cx="3584448" cy="2926080"/>
          </a:xfrm>
          <a:prstGeom prst="roundRect">
            <a:avLst>
              <a:gd name="adj" fmla="val 1875"/>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The transcript is doing the work</a:t>
            </a:r>
            <a:endParaRPr lang="en-US" sz="1450" dirty="0"/>
          </a:p>
        </p:txBody>
      </p:sp>
      <p:sp>
        <p:nvSpPr>
          <p:cNvPr id="11" name="Text 9"/>
          <p:cNvSpPr txBox="1"/>
          <p:nvPr/>
        </p:nvSpPr>
        <p:spPr>
          <a:xfrm>
            <a:off x="822960"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342220"/>
                </a:solidFill>
                <a:latin typeface="Calibri" pitchFamily="34" charset="0"/>
                <a:ea typeface="Calibri" pitchFamily="34" charset="-122"/>
                <a:cs typeface="Calibri" pitchFamily="34" charset="-120"/>
              </a:rPr>
              <a:t>MELD's emotion is largely lexical — Friends dialogue where the script carries the affect. The text-only SACL-LSTM at 0.679 supports this. Under this reading, EAA is a strong text model with an audio assist.</a:t>
            </a:r>
            <a:endParaRPr lang="en-US" sz="1220" dirty="0"/>
          </a:p>
        </p:txBody>
      </p:sp>
      <p:sp>
        <p:nvSpPr>
          <p:cNvPr id="12" name="Shape 10"/>
          <p:cNvSpPr/>
          <p:nvPr/>
        </p:nvSpPr>
        <p:spPr>
          <a:xfrm>
            <a:off x="4279392" y="1572768"/>
            <a:ext cx="3584448" cy="2926080"/>
          </a:xfrm>
          <a:prstGeom prst="roundRect">
            <a:avLst>
              <a:gd name="adj" fmla="val 1875"/>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The audio pathway is under-trained</a:t>
            </a:r>
            <a:endParaRPr lang="en-US" sz="1450" dirty="0"/>
          </a:p>
        </p:txBody>
      </p:sp>
      <p:sp>
        <p:nvSpPr>
          <p:cNvPr id="15" name="Text 13"/>
          <p:cNvSpPr txBox="1"/>
          <p:nvPr/>
        </p:nvSpPr>
        <p:spPr>
          <a:xfrm>
            <a:off x="4535424"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342220"/>
                </a:solidFill>
                <a:latin typeface="Calibri" pitchFamily="34" charset="0"/>
                <a:ea typeface="Calibri" pitchFamily="34" charset="-122"/>
                <a:cs typeface="Calibri" pitchFamily="34" charset="-120"/>
              </a:rPr>
              <a:t>0.523 from two frozen-except-last-two-layers encoders, a fusion block, and LoRA rank 2 may simply reflect a small adaptation budget rather than a ceiling on what audio can contribute.</a:t>
            </a:r>
            <a:endParaRPr lang="en-US" sz="1220" dirty="0"/>
          </a:p>
        </p:txBody>
      </p:sp>
      <p:sp>
        <p:nvSpPr>
          <p:cNvPr id="16" name="Shape 14"/>
          <p:cNvSpPr/>
          <p:nvPr/>
        </p:nvSpPr>
        <p:spPr>
          <a:xfrm>
            <a:off x="7991856" y="1572768"/>
            <a:ext cx="3584448" cy="2926080"/>
          </a:xfrm>
          <a:prstGeom prst="roundRect">
            <a:avLst>
              <a:gd name="adj" fmla="val 1875"/>
            </a:avLst>
          </a:prstGeom>
          <a:solidFill>
            <a:srgbClr val="F6F0EE"/>
          </a:solidFill>
          <a:ln w="12700">
            <a:solidFill>
              <a:srgbClr val="EBE0DC"/>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8412480" y="1737360"/>
            <a:ext cx="2944368" cy="365760"/>
          </a:xfrm>
          <a:prstGeom prst="rect">
            <a:avLst/>
          </a:prstGeom>
          <a:noFill/>
          <a:ln/>
        </p:spPr>
        <p:txBody>
          <a:bodyPr wrap="square" lIns="0" tIns="0" rIns="0" bIns="0" rtlCol="0" anchor="ctr"/>
          <a:lstStyle/>
          <a:p>
            <a:pPr marL="0" indent="0">
              <a:buNone/>
            </a:pPr>
            <a:r>
              <a:rPr lang="en-US" sz="1450" b="1" dirty="0">
                <a:solidFill>
                  <a:srgbClr val="231614"/>
                </a:solidFill>
                <a:latin typeface="Cambria" pitchFamily="34" charset="0"/>
                <a:ea typeface="Cambria" pitchFamily="34" charset="-122"/>
                <a:cs typeface="Cambria" pitchFamily="34" charset="-120"/>
              </a:rPr>
              <a:t>The fusion needs the text to be useful</a:t>
            </a:r>
            <a:endParaRPr lang="en-US" sz="1450" dirty="0"/>
          </a:p>
        </p:txBody>
      </p:sp>
      <p:sp>
        <p:nvSpPr>
          <p:cNvPr id="19" name="Text 17"/>
          <p:cNvSpPr txBox="1"/>
          <p:nvPr/>
        </p:nvSpPr>
        <p:spPr>
          <a:xfrm>
            <a:off x="8247888" y="2176272"/>
            <a:ext cx="3072384" cy="2139696"/>
          </a:xfrm>
          <a:prstGeom prst="rect">
            <a:avLst/>
          </a:prstGeom>
          <a:noFill/>
          <a:ln/>
        </p:spPr>
        <p:txBody>
          <a:bodyPr wrap="square" lIns="0" tIns="0" rIns="0" bIns="0" rtlCol="0" anchor="t"/>
          <a:lstStyle/>
          <a:p>
            <a:pPr marL="0" indent="0">
              <a:lnSpc>
                <a:spcPct val="108000"/>
              </a:lnSpc>
              <a:buNone/>
            </a:pPr>
            <a:r>
              <a:rPr lang="en-US" sz="1220" dirty="0">
                <a:solidFill>
                  <a:srgbClr val="342220"/>
                </a:solidFill>
                <a:latin typeface="Calibri" pitchFamily="34" charset="0"/>
                <a:ea typeface="Calibri" pitchFamily="34" charset="-122"/>
                <a:cs typeface="Calibri" pitchFamily="34" charset="-120"/>
              </a:rPr>
              <a:t>The cross-attention output may only become discriminative once the LLM has linguistic context to anchor it. Under this reading the components are complementary and the decomposition is not additive.</a:t>
            </a:r>
            <a:endParaRPr lang="en-US" sz="1220" dirty="0"/>
          </a:p>
        </p:txBody>
      </p:sp>
      <p:sp>
        <p:nvSpPr>
          <p:cNvPr id="20" name="Shape 18"/>
          <p:cNvSpPr/>
          <p:nvPr/>
        </p:nvSpPr>
        <p:spPr>
          <a:xfrm>
            <a:off x="566928" y="4700016"/>
            <a:ext cx="11064240" cy="1353312"/>
          </a:xfrm>
          <a:prstGeom prst="roundRect">
            <a:avLst>
              <a:gd name="adj" fmla="val 4054"/>
            </a:avLst>
          </a:prstGeom>
          <a:solidFill>
            <a:srgbClr val="31211F"/>
          </a:solidFill>
          <a:ln w="12700">
            <a:solidFill>
              <a:srgbClr val="31211F"/>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6E8B5F"/>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experiment that separates them</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Run LLaMA with the same LoRA setup on transcripts alone, no audio at all. If that reaches the high sixties, reading one is right. If it lands well below 0.667, the audio pathway is contributing more than the ablation's first row suggests and reading three is in play.</a:t>
            </a:r>
            <a:endParaRPr lang="en-US" sz="1300" dirty="0"/>
          </a:p>
          <a:p>
            <a:pPr marL="0" indent="0">
              <a:lnSpc>
                <a:spcPct val="108000"/>
              </a:lnSpc>
              <a:buNone/>
            </a:pPr>
            <a:endParaRPr lang="en-US" sz="1300" dirty="0"/>
          </a:p>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It is one training run and it is the single most informative number missing from the paper.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The attention ablation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Four configurations, reported as a figure</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26</a:t>
            </a:r>
            <a:endParaRPr lang="en-US" sz="900" dirty="0"/>
          </a:p>
        </p:txBody>
      </p:sp>
      <p:sp>
        <p:nvSpPr>
          <p:cNvPr id="8" name="Shape 6"/>
          <p:cNvSpPr/>
          <p:nvPr/>
        </p:nvSpPr>
        <p:spPr>
          <a:xfrm>
            <a:off x="566928" y="1554480"/>
            <a:ext cx="11064240" cy="969264"/>
          </a:xfrm>
          <a:prstGeom prst="roundRect">
            <a:avLst>
              <a:gd name="adj" fmla="val 2830"/>
            </a:avLst>
          </a:prstGeom>
          <a:solidFill>
            <a:srgbClr val="F6F0EE"/>
          </a:solidFill>
          <a:ln w="12700">
            <a:solidFill>
              <a:srgbClr val="F0E7E3"/>
            </a:solidFill>
            <a:prstDash val="solid"/>
          </a:ln>
        </p:spPr>
        <p:txBody>
          <a:bodyPr/>
          <a:lstStyle/>
          <a:p>
            <a:endParaRPr lang="en-US"/>
          </a:p>
        </p:txBody>
      </p:sp>
      <p:sp>
        <p:nvSpPr>
          <p:cNvPr id="9" name="Shape 7"/>
          <p:cNvSpPr/>
          <p:nvPr/>
        </p:nvSpPr>
        <p:spPr>
          <a:xfrm>
            <a:off x="786384" y="1979676"/>
            <a:ext cx="118872" cy="118872"/>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1024128" y="1645920"/>
            <a:ext cx="3291840" cy="786384"/>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Self-attention only</a:t>
            </a:r>
            <a:endParaRPr lang="en-US" sz="1300" dirty="0"/>
          </a:p>
        </p:txBody>
      </p:sp>
      <p:sp>
        <p:nvSpPr>
          <p:cNvPr id="11" name="Text 9"/>
          <p:cNvSpPr txBox="1"/>
          <p:nvPr/>
        </p:nvSpPr>
        <p:spPr>
          <a:xfrm>
            <a:off x="4498848" y="1627632"/>
            <a:ext cx="6949440" cy="822960"/>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Acoustic and semantic features each undergo self-attention with no interaction. The paper reports this still achieves relatively good performance, but is not as effective as dual cross-attention.</a:t>
            </a:r>
            <a:endParaRPr lang="en-US" sz="1220" dirty="0"/>
          </a:p>
        </p:txBody>
      </p:sp>
      <p:sp>
        <p:nvSpPr>
          <p:cNvPr id="12" name="Shape 10"/>
          <p:cNvSpPr/>
          <p:nvPr/>
        </p:nvSpPr>
        <p:spPr>
          <a:xfrm>
            <a:off x="566928" y="2578608"/>
            <a:ext cx="11064240" cy="969264"/>
          </a:xfrm>
          <a:prstGeom prst="roundRect">
            <a:avLst>
              <a:gd name="adj" fmla="val 2830"/>
            </a:avLst>
          </a:prstGeom>
          <a:solidFill>
            <a:srgbClr val="FFFFFF"/>
          </a:solidFill>
          <a:ln w="12700">
            <a:solidFill>
              <a:srgbClr val="F0E7E3"/>
            </a:solidFill>
            <a:prstDash val="solid"/>
          </a:ln>
        </p:spPr>
        <p:txBody>
          <a:bodyPr/>
          <a:lstStyle/>
          <a:p>
            <a:endParaRPr lang="en-US"/>
          </a:p>
        </p:txBody>
      </p:sp>
      <p:sp>
        <p:nvSpPr>
          <p:cNvPr id="13" name="Shape 11"/>
          <p:cNvSpPr/>
          <p:nvPr/>
        </p:nvSpPr>
        <p:spPr>
          <a:xfrm>
            <a:off x="786384" y="3003804"/>
            <a:ext cx="118872" cy="118872"/>
          </a:xfrm>
          <a:prstGeom prst="ellipse">
            <a:avLst/>
          </a:prstGeom>
          <a:solidFill>
            <a:srgbClr val="8C4A3C"/>
          </a:solidFill>
          <a:ln w="12700">
            <a:solidFill>
              <a:srgbClr val="333333"/>
            </a:solidFill>
            <a:prstDash val="solid"/>
          </a:ln>
        </p:spPr>
        <p:txBody>
          <a:bodyPr/>
          <a:lstStyle/>
          <a:p>
            <a:endParaRPr lang="en-US"/>
          </a:p>
        </p:txBody>
      </p:sp>
      <p:sp>
        <p:nvSpPr>
          <p:cNvPr id="14" name="Text 12"/>
          <p:cNvSpPr txBox="1"/>
          <p:nvPr/>
        </p:nvSpPr>
        <p:spPr>
          <a:xfrm>
            <a:off x="1024128" y="2670048"/>
            <a:ext cx="3291840" cy="786384"/>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Single: acoustic queries semantic</a:t>
            </a:r>
            <a:endParaRPr lang="en-US" sz="1300" dirty="0"/>
          </a:p>
        </p:txBody>
      </p:sp>
      <p:sp>
        <p:nvSpPr>
          <p:cNvPr id="15" name="Text 13"/>
          <p:cNvSpPr txBox="1"/>
          <p:nvPr/>
        </p:nvSpPr>
        <p:spPr>
          <a:xfrm>
            <a:off x="4498848" y="2651760"/>
            <a:ext cx="6949440" cy="822960"/>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Acoustic features as query, semantic as key and value. Reported as the better of the two single-direction configurations.</a:t>
            </a:r>
            <a:endParaRPr lang="en-US" sz="1220" dirty="0"/>
          </a:p>
        </p:txBody>
      </p:sp>
      <p:sp>
        <p:nvSpPr>
          <p:cNvPr id="16" name="Shape 14"/>
          <p:cNvSpPr/>
          <p:nvPr/>
        </p:nvSpPr>
        <p:spPr>
          <a:xfrm>
            <a:off x="566928" y="3602736"/>
            <a:ext cx="11064240" cy="969264"/>
          </a:xfrm>
          <a:prstGeom prst="roundRect">
            <a:avLst>
              <a:gd name="adj" fmla="val 2830"/>
            </a:avLst>
          </a:prstGeom>
          <a:solidFill>
            <a:srgbClr val="F6F0EE"/>
          </a:solidFill>
          <a:ln w="12700">
            <a:solidFill>
              <a:srgbClr val="F0E7E3"/>
            </a:solidFill>
            <a:prstDash val="solid"/>
          </a:ln>
        </p:spPr>
        <p:txBody>
          <a:bodyPr/>
          <a:lstStyle/>
          <a:p>
            <a:endParaRPr lang="en-US"/>
          </a:p>
        </p:txBody>
      </p:sp>
      <p:sp>
        <p:nvSpPr>
          <p:cNvPr id="17" name="Shape 15"/>
          <p:cNvSpPr/>
          <p:nvPr/>
        </p:nvSpPr>
        <p:spPr>
          <a:xfrm>
            <a:off x="786384" y="4027932"/>
            <a:ext cx="118872" cy="118872"/>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1024128" y="3694176"/>
            <a:ext cx="3291840" cy="786384"/>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Single: semantic queries acoustic</a:t>
            </a:r>
            <a:endParaRPr lang="en-US" sz="1300" dirty="0"/>
          </a:p>
        </p:txBody>
      </p:sp>
      <p:sp>
        <p:nvSpPr>
          <p:cNvPr id="19" name="Text 17"/>
          <p:cNvSpPr txBox="1"/>
          <p:nvPr/>
        </p:nvSpPr>
        <p:spPr>
          <a:xfrm>
            <a:off x="4498848" y="3675888"/>
            <a:ext cx="6949440" cy="822960"/>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The reverse. Reported as weaker — cross-attention with acoustic features attending to semantic representations captures more useful information than the opposite direction.</a:t>
            </a:r>
            <a:endParaRPr lang="en-US" sz="1220" dirty="0"/>
          </a:p>
        </p:txBody>
      </p:sp>
      <p:sp>
        <p:nvSpPr>
          <p:cNvPr id="20" name="Shape 18"/>
          <p:cNvSpPr/>
          <p:nvPr/>
        </p:nvSpPr>
        <p:spPr>
          <a:xfrm>
            <a:off x="566928" y="4626864"/>
            <a:ext cx="11064240" cy="969264"/>
          </a:xfrm>
          <a:prstGeom prst="roundRect">
            <a:avLst>
              <a:gd name="adj" fmla="val 2830"/>
            </a:avLst>
          </a:prstGeom>
          <a:solidFill>
            <a:srgbClr val="FFFFFF"/>
          </a:solidFill>
          <a:ln w="12700">
            <a:solidFill>
              <a:srgbClr val="F0E7E3"/>
            </a:solidFill>
            <a:prstDash val="solid"/>
          </a:ln>
        </p:spPr>
        <p:txBody>
          <a:bodyPr/>
          <a:lstStyle/>
          <a:p>
            <a:endParaRPr lang="en-US"/>
          </a:p>
        </p:txBody>
      </p:sp>
      <p:sp>
        <p:nvSpPr>
          <p:cNvPr id="21" name="Shape 19"/>
          <p:cNvSpPr/>
          <p:nvPr/>
        </p:nvSpPr>
        <p:spPr>
          <a:xfrm>
            <a:off x="786384" y="5052060"/>
            <a:ext cx="118872" cy="118872"/>
          </a:xfrm>
          <a:prstGeom prst="ellipse">
            <a:avLst/>
          </a:prstGeom>
          <a:solidFill>
            <a:srgbClr val="8C4A3C"/>
          </a:solidFill>
          <a:ln w="12700">
            <a:solidFill>
              <a:srgbClr val="333333"/>
            </a:solidFill>
            <a:prstDash val="solid"/>
          </a:ln>
        </p:spPr>
        <p:txBody>
          <a:bodyPr/>
          <a:lstStyle/>
          <a:p>
            <a:endParaRPr lang="en-US"/>
          </a:p>
        </p:txBody>
      </p:sp>
      <p:sp>
        <p:nvSpPr>
          <p:cNvPr id="22" name="Text 20"/>
          <p:cNvSpPr txBox="1"/>
          <p:nvPr/>
        </p:nvSpPr>
        <p:spPr>
          <a:xfrm>
            <a:off x="1024128" y="4718304"/>
            <a:ext cx="3291840" cy="786384"/>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Dual (the proposed method)</a:t>
            </a:r>
            <a:endParaRPr lang="en-US" sz="1300" dirty="0"/>
          </a:p>
        </p:txBody>
      </p:sp>
      <p:sp>
        <p:nvSpPr>
          <p:cNvPr id="23" name="Text 21"/>
          <p:cNvSpPr txBox="1"/>
          <p:nvPr/>
        </p:nvSpPr>
        <p:spPr>
          <a:xfrm>
            <a:off x="4498848" y="4700016"/>
            <a:ext cx="6949440" cy="822960"/>
          </a:xfrm>
          <a:prstGeom prst="rect">
            <a:avLst/>
          </a:prstGeom>
          <a:noFill/>
          <a:ln/>
        </p:spPr>
        <p:txBody>
          <a:bodyPr wrap="square" lIns="0" tIns="0" rIns="0" bIns="0" rtlCol="0" anchor="ctr"/>
          <a:lstStyle/>
          <a:p>
            <a:pPr marL="0" indent="0">
              <a:buNone/>
            </a:pPr>
            <a:r>
              <a:rPr lang="en-US" sz="1220" dirty="0">
                <a:solidFill>
                  <a:srgbClr val="342220"/>
                </a:solidFill>
                <a:latin typeface="Calibri" pitchFamily="34" charset="0"/>
                <a:ea typeface="Calibri" pitchFamily="34" charset="-122"/>
                <a:cs typeface="Calibri" pitchFamily="34" charset="-120"/>
              </a:rPr>
              <a:t>Both directions, plus the two original streams concatenated. The best of the four.</a:t>
            </a:r>
            <a:endParaRPr lang="en-US" sz="1220" dirty="0"/>
          </a:p>
        </p:txBody>
      </p:sp>
      <p:sp>
        <p:nvSpPr>
          <p:cNvPr id="24" name="Shape 22"/>
          <p:cNvSpPr/>
          <p:nvPr/>
        </p:nvSpPr>
        <p:spPr>
          <a:xfrm>
            <a:off x="566928" y="5614416"/>
            <a:ext cx="11064240" cy="438912"/>
          </a:xfrm>
          <a:prstGeom prst="roundRect">
            <a:avLst>
              <a:gd name="adj" fmla="val 12500"/>
            </a:avLst>
          </a:prstGeom>
          <a:solidFill>
            <a:srgbClr val="31211F"/>
          </a:solidFill>
          <a:ln w="12700">
            <a:solidFill>
              <a:srgbClr val="31211F"/>
            </a:solidFill>
            <a:prstDash val="solid"/>
          </a:ln>
        </p:spPr>
        <p:txBody>
          <a:bodyPr/>
          <a:lstStyle/>
          <a:p>
            <a:endParaRPr lang="en-US"/>
          </a:p>
        </p:txBody>
      </p:sp>
      <p:sp>
        <p:nvSpPr>
          <p:cNvPr id="25" name="Text 23"/>
          <p:cNvSpPr txBox="1"/>
          <p:nvPr/>
        </p:nvSpPr>
        <p:spPr>
          <a:xfrm>
            <a:off x="822960" y="5833872"/>
            <a:ext cx="10552176" cy="18288"/>
          </a:xfrm>
          <a:prstGeom prst="rect">
            <a:avLst/>
          </a:prstGeom>
          <a:noFill/>
          <a:ln/>
        </p:spPr>
        <p:txBody>
          <a:bodyPr wrap="square" lIns="0" tIns="0" rIns="0" bIns="0" rtlCol="0" anchor="t"/>
          <a:lstStyle/>
          <a:p>
            <a:pPr marL="0" indent="0">
              <a:lnSpc>
                <a:spcPct val="108000"/>
              </a:lnSpc>
              <a:buNone/>
            </a:pPr>
            <a:r>
              <a:rPr lang="en-US" sz="1260" dirty="0">
                <a:solidFill>
                  <a:srgbClr val="DCC5BF"/>
                </a:solidFill>
                <a:latin typeface="Calibri" pitchFamily="34" charset="0"/>
                <a:ea typeface="Calibri" pitchFamily="34" charset="-122"/>
                <a:cs typeface="Calibri" pitchFamily="34" charset="-120"/>
              </a:rPr>
              <a:t>The ordering is reported; the values are in a figure rather than a table, so no numbers are quoted here.</a:t>
            </a:r>
            <a:endParaRPr lang="en-US" sz="12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What is established, and what is next</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An appraisal, and five experiments</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Appraisal</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What the design buys, and the open threads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28</a:t>
            </a:r>
            <a:endParaRPr lang="en-US" sz="900" dirty="0"/>
          </a:p>
        </p:txBody>
      </p:sp>
      <p:sp>
        <p:nvSpPr>
          <p:cNvPr id="8" name="Shape 6"/>
          <p:cNvSpPr/>
          <p:nvPr/>
        </p:nvSpPr>
        <p:spPr>
          <a:xfrm>
            <a:off x="566928" y="1554480"/>
            <a:ext cx="5440680" cy="4498848"/>
          </a:xfrm>
          <a:prstGeom prst="roundRect">
            <a:avLst>
              <a:gd name="adj" fmla="val 1220"/>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231614"/>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An accurate diagnosis: we can verify the survey of fusion strategies against our own reading of Pengi, SALMONN, Qwen-Audio and WavLLM.</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A clean, simple mechanism. Bidirectional cross-attention with the originals preserved is easy to describe, easy to implement, and motivated by a real property of emotional speech.</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The best audio-LLM result on MELD by a wide margin, and parity with a video-using specialist.</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An honest ablation. The audio-only row is not flattering, and reporting it is what makes the decomposition visible at all.</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Achieved on one GPU with LoRA rank 2 — an academic-scale result in a literature dominated by industrial training runs.</a:t>
            </a:r>
            <a:endParaRPr lang="en-US" sz="1240" dirty="0"/>
          </a:p>
        </p:txBody>
      </p:sp>
      <p:sp>
        <p:nvSpPr>
          <p:cNvPr id="12" name="Shape 10"/>
          <p:cNvSpPr/>
          <p:nvPr/>
        </p:nvSpPr>
        <p:spPr>
          <a:xfrm>
            <a:off x="6190488" y="1554480"/>
            <a:ext cx="5440680" cy="4498848"/>
          </a:xfrm>
          <a:prstGeom prst="roundRect">
            <a:avLst>
              <a:gd name="adj" fmla="val 1220"/>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231614"/>
                </a:solidFill>
                <a:latin typeface="Cambria" pitchFamily="34" charset="0"/>
                <a:ea typeface="Cambria" pitchFamily="34" charset="-122"/>
                <a:cs typeface="Cambria" pitchFamily="34" charset="-120"/>
              </a:rPr>
              <a:t>Open threads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No text-only control, so the contribution of the audio pathway cannot be bounded from above.</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One dataset. MELD only, where a text-only LSTM reaches 0.679 and every extra modality adds under a point.</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Accuracy only, on a corpus known to be imbalanced — no unweighted accuracy, F1, or per-class breakdown.</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The label-mapping step from generated word to one of seven classes is not described.</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The adaptivity claim about the attention is motivating rather than measured — no attention analysis is reported.</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No seeds, epochs, or variance; single runs throughout.</a:t>
            </a:r>
            <a:endParaRPr lang="en-US" sz="12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Five experiments that would strengthen it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Roughly in order of value per unit of effort</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29</a:t>
            </a:r>
            <a:endParaRPr lang="en-US" sz="900" dirty="0"/>
          </a:p>
        </p:txBody>
      </p:sp>
      <p:sp>
        <p:nvSpPr>
          <p:cNvPr id="8" name="Shape 6"/>
          <p:cNvSpPr/>
          <p:nvPr/>
        </p:nvSpPr>
        <p:spPr>
          <a:xfrm>
            <a:off x="566928" y="1536192"/>
            <a:ext cx="11064240" cy="896112"/>
          </a:xfrm>
          <a:prstGeom prst="roundRect">
            <a:avLst>
              <a:gd name="adj" fmla="val 5102"/>
            </a:avLst>
          </a:prstGeom>
          <a:solidFill>
            <a:srgbClr val="EEF3EA"/>
          </a:solidFill>
          <a:ln w="19050">
            <a:solidFill>
              <a:srgbClr val="6E8B5F"/>
            </a:solidFill>
            <a:prstDash val="solid"/>
          </a:ln>
        </p:spPr>
        <p:txBody>
          <a:bodyPr/>
          <a:lstStyle/>
          <a:p>
            <a:endParaRPr lang="en-US"/>
          </a:p>
        </p:txBody>
      </p:sp>
      <p:sp>
        <p:nvSpPr>
          <p:cNvPr id="9" name="Shape 7"/>
          <p:cNvSpPr/>
          <p:nvPr/>
        </p:nvSpPr>
        <p:spPr>
          <a:xfrm>
            <a:off x="804672" y="1828800"/>
            <a:ext cx="310896" cy="310896"/>
          </a:xfrm>
          <a:prstGeom prst="ellipse">
            <a:avLst/>
          </a:prstGeom>
          <a:solidFill>
            <a:srgbClr val="6E8B5F"/>
          </a:solidFill>
          <a:ln w="12700">
            <a:solidFill>
              <a:srgbClr val="333333"/>
            </a:solidFill>
            <a:prstDash val="solid"/>
          </a:ln>
        </p:spPr>
        <p:txBody>
          <a:bodyPr/>
          <a:lstStyle/>
          <a:p>
            <a:endParaRPr lang="en-US"/>
          </a:p>
        </p:txBody>
      </p:sp>
      <p:sp>
        <p:nvSpPr>
          <p:cNvPr id="10" name="Text 8"/>
          <p:cNvSpPr txBox="1"/>
          <p:nvPr/>
        </p:nvSpPr>
        <p:spPr>
          <a:xfrm>
            <a:off x="804672" y="1856232"/>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1</a:t>
            </a:r>
            <a:endParaRPr lang="en-US" sz="1150" dirty="0"/>
          </a:p>
        </p:txBody>
      </p:sp>
      <p:sp>
        <p:nvSpPr>
          <p:cNvPr id="11" name="Text 9"/>
          <p:cNvSpPr txBox="1"/>
          <p:nvPr/>
        </p:nvSpPr>
        <p:spPr>
          <a:xfrm>
            <a:off x="1207008" y="1837944"/>
            <a:ext cx="2743200" cy="292608"/>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The text-only control</a:t>
            </a:r>
            <a:endParaRPr lang="en-US" sz="1300" dirty="0"/>
          </a:p>
        </p:txBody>
      </p:sp>
      <p:sp>
        <p:nvSpPr>
          <p:cNvPr id="12" name="Text 10"/>
          <p:cNvSpPr txBox="1"/>
          <p:nvPr/>
        </p:nvSpPr>
        <p:spPr>
          <a:xfrm>
            <a:off x="4114800" y="1655064"/>
            <a:ext cx="7315200" cy="658368"/>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LLaMA-3-8B with the same LoRA setup on transcripts alone. Together with the existing audio-only row this brackets both channels and settles the three readings from the previous section. One run.</a:t>
            </a:r>
            <a:endParaRPr lang="en-US" sz="1180" dirty="0"/>
          </a:p>
        </p:txBody>
      </p:sp>
      <p:sp>
        <p:nvSpPr>
          <p:cNvPr id="13" name="Shape 11"/>
          <p:cNvSpPr/>
          <p:nvPr/>
        </p:nvSpPr>
        <p:spPr>
          <a:xfrm>
            <a:off x="566928" y="2487168"/>
            <a:ext cx="11064240" cy="896112"/>
          </a:xfrm>
          <a:prstGeom prst="roundRect">
            <a:avLst>
              <a:gd name="adj" fmla="val 5102"/>
            </a:avLst>
          </a:prstGeom>
          <a:solidFill>
            <a:srgbClr val="FFFFFF"/>
          </a:solidFill>
          <a:ln w="12700">
            <a:solidFill>
              <a:srgbClr val="EBE0DC"/>
            </a:solidFill>
            <a:prstDash val="solid"/>
          </a:ln>
        </p:spPr>
        <p:txBody>
          <a:bodyPr/>
          <a:lstStyle/>
          <a:p>
            <a:endParaRPr lang="en-US"/>
          </a:p>
        </p:txBody>
      </p:sp>
      <p:sp>
        <p:nvSpPr>
          <p:cNvPr id="14" name="Shape 12"/>
          <p:cNvSpPr/>
          <p:nvPr/>
        </p:nvSpPr>
        <p:spPr>
          <a:xfrm>
            <a:off x="804672" y="2779776"/>
            <a:ext cx="310896" cy="310896"/>
          </a:xfrm>
          <a:prstGeom prst="ellipse">
            <a:avLst/>
          </a:prstGeom>
          <a:solidFill>
            <a:srgbClr val="8C4A3C"/>
          </a:solidFill>
          <a:ln w="12700">
            <a:solidFill>
              <a:srgbClr val="333333"/>
            </a:solidFill>
            <a:prstDash val="solid"/>
          </a:ln>
        </p:spPr>
        <p:txBody>
          <a:bodyPr/>
          <a:lstStyle/>
          <a:p>
            <a:endParaRPr lang="en-US"/>
          </a:p>
        </p:txBody>
      </p:sp>
      <p:sp>
        <p:nvSpPr>
          <p:cNvPr id="15" name="Text 13"/>
          <p:cNvSpPr txBox="1"/>
          <p:nvPr/>
        </p:nvSpPr>
        <p:spPr>
          <a:xfrm>
            <a:off x="804672" y="2807208"/>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2</a:t>
            </a:r>
            <a:endParaRPr lang="en-US" sz="1150" dirty="0"/>
          </a:p>
        </p:txBody>
      </p:sp>
      <p:sp>
        <p:nvSpPr>
          <p:cNvPr id="16" name="Text 14"/>
          <p:cNvSpPr txBox="1"/>
          <p:nvPr/>
        </p:nvSpPr>
        <p:spPr>
          <a:xfrm>
            <a:off x="1207008" y="2788920"/>
            <a:ext cx="2743200" cy="292608"/>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A second corpus where audio matters</a:t>
            </a:r>
            <a:endParaRPr lang="en-US" sz="1300" dirty="0"/>
          </a:p>
        </p:txBody>
      </p:sp>
      <p:sp>
        <p:nvSpPr>
          <p:cNvPr id="17" name="Text 15"/>
          <p:cNvSpPr txBox="1"/>
          <p:nvPr/>
        </p:nvSpPr>
        <p:spPr>
          <a:xfrm>
            <a:off x="4114800" y="2606040"/>
            <a:ext cx="7315200" cy="658368"/>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MELD is scripted television where the text carries the affect. IEMOCAP or MSP-Podcast would test whether dual cross-attention helps when the words are less informative — and MSP-Podcast ships speaker-independent splits and a non-retrieved control partition.</a:t>
            </a:r>
            <a:endParaRPr lang="en-US" sz="1180" dirty="0"/>
          </a:p>
        </p:txBody>
      </p:sp>
      <p:sp>
        <p:nvSpPr>
          <p:cNvPr id="18" name="Shape 16"/>
          <p:cNvSpPr/>
          <p:nvPr/>
        </p:nvSpPr>
        <p:spPr>
          <a:xfrm>
            <a:off x="566928" y="3438144"/>
            <a:ext cx="11064240" cy="896112"/>
          </a:xfrm>
          <a:prstGeom prst="roundRect">
            <a:avLst>
              <a:gd name="adj" fmla="val 5102"/>
            </a:avLst>
          </a:prstGeom>
          <a:solidFill>
            <a:srgbClr val="F6F0EE"/>
          </a:solidFill>
          <a:ln w="12700">
            <a:solidFill>
              <a:srgbClr val="EBE0DC"/>
            </a:solidFill>
            <a:prstDash val="solid"/>
          </a:ln>
        </p:spPr>
        <p:txBody>
          <a:bodyPr/>
          <a:lstStyle/>
          <a:p>
            <a:endParaRPr lang="en-US"/>
          </a:p>
        </p:txBody>
      </p:sp>
      <p:sp>
        <p:nvSpPr>
          <p:cNvPr id="19" name="Shape 17"/>
          <p:cNvSpPr/>
          <p:nvPr/>
        </p:nvSpPr>
        <p:spPr>
          <a:xfrm>
            <a:off x="804672" y="3730752"/>
            <a:ext cx="310896" cy="310896"/>
          </a:xfrm>
          <a:prstGeom prst="ellipse">
            <a:avLst/>
          </a:prstGeom>
          <a:solidFill>
            <a:srgbClr val="8C4A3C"/>
          </a:solidFill>
          <a:ln w="12700">
            <a:solidFill>
              <a:srgbClr val="333333"/>
            </a:solidFill>
            <a:prstDash val="solid"/>
          </a:ln>
        </p:spPr>
        <p:txBody>
          <a:bodyPr/>
          <a:lstStyle/>
          <a:p>
            <a:endParaRPr lang="en-US"/>
          </a:p>
        </p:txBody>
      </p:sp>
      <p:sp>
        <p:nvSpPr>
          <p:cNvPr id="20" name="Text 18"/>
          <p:cNvSpPr txBox="1"/>
          <p:nvPr/>
        </p:nvSpPr>
        <p:spPr>
          <a:xfrm>
            <a:off x="804672" y="3758184"/>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3</a:t>
            </a:r>
            <a:endParaRPr lang="en-US" sz="1150" dirty="0"/>
          </a:p>
        </p:txBody>
      </p:sp>
      <p:sp>
        <p:nvSpPr>
          <p:cNvPr id="21" name="Text 19"/>
          <p:cNvSpPr txBox="1"/>
          <p:nvPr/>
        </p:nvSpPr>
        <p:spPr>
          <a:xfrm>
            <a:off x="1207008" y="3739896"/>
            <a:ext cx="2743200" cy="292608"/>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Report unweighted accuracy</a:t>
            </a:r>
            <a:endParaRPr lang="en-US" sz="1300" dirty="0"/>
          </a:p>
        </p:txBody>
      </p:sp>
      <p:sp>
        <p:nvSpPr>
          <p:cNvPr id="22" name="Text 20"/>
          <p:cNvSpPr txBox="1"/>
          <p:nvPr/>
        </p:nvSpPr>
        <p:spPr>
          <a:xfrm>
            <a:off x="4114800" y="3557016"/>
            <a:ext cx="7315200" cy="658368"/>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MELD is imbalanced toward neutral. A weighted accuracy of 0.687 is compatible with weak performance on the rare emotions, and the per-class picture is what a downstream user needs.</a:t>
            </a:r>
            <a:endParaRPr lang="en-US" sz="1180" dirty="0"/>
          </a:p>
        </p:txBody>
      </p:sp>
      <p:sp>
        <p:nvSpPr>
          <p:cNvPr id="23" name="Shape 21"/>
          <p:cNvSpPr/>
          <p:nvPr/>
        </p:nvSpPr>
        <p:spPr>
          <a:xfrm>
            <a:off x="566928" y="4389120"/>
            <a:ext cx="11064240" cy="896112"/>
          </a:xfrm>
          <a:prstGeom prst="roundRect">
            <a:avLst>
              <a:gd name="adj" fmla="val 5102"/>
            </a:avLst>
          </a:prstGeom>
          <a:solidFill>
            <a:srgbClr val="FFFFFF"/>
          </a:solidFill>
          <a:ln w="12700">
            <a:solidFill>
              <a:srgbClr val="EBE0DC"/>
            </a:solidFill>
            <a:prstDash val="solid"/>
          </a:ln>
        </p:spPr>
        <p:txBody>
          <a:bodyPr/>
          <a:lstStyle/>
          <a:p>
            <a:endParaRPr lang="en-US"/>
          </a:p>
        </p:txBody>
      </p:sp>
      <p:sp>
        <p:nvSpPr>
          <p:cNvPr id="24" name="Shape 22"/>
          <p:cNvSpPr/>
          <p:nvPr/>
        </p:nvSpPr>
        <p:spPr>
          <a:xfrm>
            <a:off x="804672" y="4681728"/>
            <a:ext cx="310896" cy="310896"/>
          </a:xfrm>
          <a:prstGeom prst="ellipse">
            <a:avLst/>
          </a:prstGeom>
          <a:solidFill>
            <a:srgbClr val="8C4A3C"/>
          </a:solidFill>
          <a:ln w="12700">
            <a:solidFill>
              <a:srgbClr val="333333"/>
            </a:solidFill>
            <a:prstDash val="solid"/>
          </a:ln>
        </p:spPr>
        <p:txBody>
          <a:bodyPr/>
          <a:lstStyle/>
          <a:p>
            <a:endParaRPr lang="en-US"/>
          </a:p>
        </p:txBody>
      </p:sp>
      <p:sp>
        <p:nvSpPr>
          <p:cNvPr id="25" name="Text 23"/>
          <p:cNvSpPr txBox="1"/>
          <p:nvPr/>
        </p:nvSpPr>
        <p:spPr>
          <a:xfrm>
            <a:off x="804672" y="4709160"/>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4</a:t>
            </a:r>
            <a:endParaRPr lang="en-US" sz="1150" dirty="0"/>
          </a:p>
        </p:txBody>
      </p:sp>
      <p:sp>
        <p:nvSpPr>
          <p:cNvPr id="26" name="Text 24"/>
          <p:cNvSpPr txBox="1"/>
          <p:nvPr/>
        </p:nvSpPr>
        <p:spPr>
          <a:xfrm>
            <a:off x="1207008" y="4690872"/>
            <a:ext cx="2743200" cy="292608"/>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Inspect the attention</a:t>
            </a:r>
            <a:endParaRPr lang="en-US" sz="1300" dirty="0"/>
          </a:p>
        </p:txBody>
      </p:sp>
      <p:sp>
        <p:nvSpPr>
          <p:cNvPr id="27" name="Text 25"/>
          <p:cNvSpPr txBox="1"/>
          <p:nvPr/>
        </p:nvSpPr>
        <p:spPr>
          <a:xfrm>
            <a:off x="4114800" y="4507992"/>
            <a:ext cx="7315200" cy="658368"/>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The adaptivity story predicts that acoustic weight rises on prosody-carried emotions and falls on lexically explicit ones. Attention maps are free to extract and would turn the motivation into a finding.</a:t>
            </a:r>
            <a:endParaRPr lang="en-US" sz="1180" dirty="0"/>
          </a:p>
        </p:txBody>
      </p:sp>
      <p:sp>
        <p:nvSpPr>
          <p:cNvPr id="28" name="Shape 26"/>
          <p:cNvSpPr/>
          <p:nvPr/>
        </p:nvSpPr>
        <p:spPr>
          <a:xfrm>
            <a:off x="566928" y="5340096"/>
            <a:ext cx="11064240" cy="896112"/>
          </a:xfrm>
          <a:prstGeom prst="roundRect">
            <a:avLst>
              <a:gd name="adj" fmla="val 5102"/>
            </a:avLst>
          </a:prstGeom>
          <a:solidFill>
            <a:srgbClr val="F6F0EE"/>
          </a:solidFill>
          <a:ln w="12700">
            <a:solidFill>
              <a:srgbClr val="EBE0DC"/>
            </a:solidFill>
            <a:prstDash val="solid"/>
          </a:ln>
        </p:spPr>
        <p:txBody>
          <a:bodyPr/>
          <a:lstStyle/>
          <a:p>
            <a:endParaRPr lang="en-US"/>
          </a:p>
        </p:txBody>
      </p:sp>
      <p:sp>
        <p:nvSpPr>
          <p:cNvPr id="29" name="Shape 27"/>
          <p:cNvSpPr/>
          <p:nvPr/>
        </p:nvSpPr>
        <p:spPr>
          <a:xfrm>
            <a:off x="804672" y="5632704"/>
            <a:ext cx="310896" cy="310896"/>
          </a:xfrm>
          <a:prstGeom prst="ellipse">
            <a:avLst/>
          </a:prstGeom>
          <a:solidFill>
            <a:srgbClr val="8C4A3C"/>
          </a:solidFill>
          <a:ln w="12700">
            <a:solidFill>
              <a:srgbClr val="333333"/>
            </a:solidFill>
            <a:prstDash val="solid"/>
          </a:ln>
        </p:spPr>
        <p:txBody>
          <a:bodyPr/>
          <a:lstStyle/>
          <a:p>
            <a:endParaRPr lang="en-US"/>
          </a:p>
        </p:txBody>
      </p:sp>
      <p:sp>
        <p:nvSpPr>
          <p:cNvPr id="30" name="Text 28"/>
          <p:cNvSpPr txBox="1"/>
          <p:nvPr/>
        </p:nvSpPr>
        <p:spPr>
          <a:xfrm>
            <a:off x="804672" y="5660136"/>
            <a:ext cx="310896"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5</a:t>
            </a:r>
            <a:endParaRPr lang="en-US" sz="1150" dirty="0"/>
          </a:p>
        </p:txBody>
      </p:sp>
      <p:sp>
        <p:nvSpPr>
          <p:cNvPr id="31" name="Text 29"/>
          <p:cNvSpPr txBox="1"/>
          <p:nvPr/>
        </p:nvSpPr>
        <p:spPr>
          <a:xfrm>
            <a:off x="1207008" y="5641848"/>
            <a:ext cx="2743200" cy="292608"/>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Sweep the HuBERT layer</a:t>
            </a:r>
            <a:endParaRPr lang="en-US" sz="1300" dirty="0"/>
          </a:p>
        </p:txBody>
      </p:sp>
      <p:sp>
        <p:nvSpPr>
          <p:cNvPr id="32" name="Text 30"/>
          <p:cNvSpPr txBox="1"/>
          <p:nvPr/>
        </p:nvSpPr>
        <p:spPr>
          <a:xfrm>
            <a:off x="4114800" y="5458968"/>
            <a:ext cx="7315200" cy="658368"/>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The layer-wise analysis says the deepest HuBERT layers are the least semantic. A layer sweep, or a learned weighted sum as SUPERB and WavLM use, is cheap and may move the audio-only number.</a:t>
            </a:r>
            <a:endParaRPr lang="en-US" sz="11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5385816"/>
            <a:ext cx="237744" cy="237744"/>
          </a:xfrm>
          <a:prstGeom prst="roundRect">
            <a:avLst>
              <a:gd name="adj" fmla="val 7692"/>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1064240" y="5385816"/>
            <a:ext cx="237744" cy="237744"/>
          </a:xfrm>
          <a:prstGeom prst="roundRect">
            <a:avLst>
              <a:gd name="adj" fmla="val 7692"/>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89920" y="5349240"/>
            <a:ext cx="310896" cy="310896"/>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6E8B5F"/>
                </a:solidFill>
                <a:latin typeface="Cambria" pitchFamily="34" charset="0"/>
                <a:ea typeface="Cambria" pitchFamily="34" charset="-122"/>
                <a:cs typeface="Cambria" pitchFamily="34" charset="-120"/>
              </a:rPr>
              <a:t>6</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Synthesis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CC5BF"/>
                </a:solidFill>
                <a:latin typeface="Calibri" pitchFamily="34" charset="0"/>
                <a:ea typeface="Calibri" pitchFamily="34" charset="-122"/>
                <a:cs typeface="Calibri" pitchFamily="34" charset="-120"/>
              </a:rPr>
              <a:t>Where this leaves the series</a:t>
            </a:r>
            <a:endParaRPr lang="en-US" sz="1500" dirty="0"/>
          </a:p>
        </p:txBody>
      </p:sp>
      <p:sp>
        <p:nvSpPr>
          <p:cNvPr id="8" name="Text 6"/>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MELD across the series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Every model we have read that reports this dataset</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31</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CLEP-DG's figure is weighted accuracy under its own protocol and is included for context, not as a like-for-like comparison.</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The trajectory is real: from barely above chance in 2023 to the level of purpose-built conversation models in 2025.</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But the EAA bar includes the transcript, and the ablation tells us 0.523 of it is the audio pathway alone.</a:t>
            </a:r>
            <a:endParaRPr lang="en-US" sz="1220" dirty="0"/>
          </a:p>
          <a:p>
            <a:pPr marL="342900" indent="-342900">
              <a:spcAft>
                <a:spcPts val="800"/>
              </a:spcAft>
              <a:buSzPct val="100000"/>
              <a:buChar char="●"/>
            </a:pPr>
            <a:r>
              <a:rPr lang="en-US" sz="1220" dirty="0">
                <a:solidFill>
                  <a:srgbClr val="342220"/>
                </a:solidFill>
                <a:latin typeface="Calibri" pitchFamily="34" charset="0"/>
                <a:ea typeface="Calibri" pitchFamily="34" charset="-122"/>
                <a:cs typeface="Calibri" pitchFamily="34" charset="-120"/>
              </a:rPr>
              <a:t>Read that way, the audio-only trajectory across the series is much flatter than this chart suggests.</a:t>
            </a:r>
            <a:endParaRPr lang="en-US" sz="1220" dirty="0"/>
          </a:p>
        </p:txBody>
      </p:sp>
      <p:sp>
        <p:nvSpPr>
          <p:cNvPr id="10" name="Shape 7"/>
          <p:cNvSpPr/>
          <p:nvPr/>
        </p:nvSpPr>
        <p:spPr>
          <a:xfrm>
            <a:off x="566928" y="5266944"/>
            <a:ext cx="11064240" cy="786384"/>
          </a:xfrm>
          <a:prstGeom prst="roundRect">
            <a:avLst>
              <a:gd name="adj" fmla="val 6977"/>
            </a:avLst>
          </a:prstGeom>
          <a:solidFill>
            <a:srgbClr val="31211F"/>
          </a:solidFill>
          <a:ln w="12700">
            <a:solidFill>
              <a:srgbClr val="31211F"/>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honest summary of the term: emotion recognition from audio language models has improved, and a large part of the visible improvement comes from giving the models the words.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What EAA adds to the picture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Three contributions that survive the appraisal</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32</a:t>
            </a:r>
            <a:endParaRPr lang="en-US" sz="900" dirty="0"/>
          </a:p>
        </p:txBody>
      </p:sp>
      <p:sp>
        <p:nvSpPr>
          <p:cNvPr id="8" name="Shape 6"/>
          <p:cNvSpPr/>
          <p:nvPr/>
        </p:nvSpPr>
        <p:spPr>
          <a:xfrm>
            <a:off x="566928" y="1572768"/>
            <a:ext cx="3584448" cy="2468880"/>
          </a:xfrm>
          <a:prstGeom prst="roundRect">
            <a:avLst>
              <a:gd name="adj" fmla="val 2222"/>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A design that takes emotion as the goal</a:t>
            </a:r>
            <a:endParaRPr lang="en-US" sz="1500" dirty="0"/>
          </a:p>
        </p:txBody>
      </p:sp>
      <p:sp>
        <p:nvSpPr>
          <p:cNvPr id="11" name="Text 9"/>
          <p:cNvSpPr txBox="1"/>
          <p:nvPr/>
        </p:nvSpPr>
        <p:spPr>
          <a:xfrm>
            <a:off x="822960" y="2176272"/>
            <a:ext cx="3072384" cy="1682496"/>
          </a:xfrm>
          <a:prstGeom prst="rect">
            <a:avLst/>
          </a:prstGeom>
          <a:noFill/>
          <a:ln/>
        </p:spPr>
        <p:txBody>
          <a:bodyPr wrap="square" lIns="0" tIns="0" rIns="0" bIns="0" rtlCol="0" anchor="t"/>
          <a:lstStyle/>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Every other model in the series treats emotion as one task among thirty. This is the first where the architecture is chosen for it — two encoders picked for complementary roles, fused adaptively.</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That reframing is worth something independent of the numbers.</a:t>
            </a:r>
            <a:endParaRPr lang="en-US" sz="1240" dirty="0"/>
          </a:p>
        </p:txBody>
      </p:sp>
      <p:sp>
        <p:nvSpPr>
          <p:cNvPr id="12" name="Shape 10"/>
          <p:cNvSpPr/>
          <p:nvPr/>
        </p:nvSpPr>
        <p:spPr>
          <a:xfrm>
            <a:off x="4279392" y="1572768"/>
            <a:ext cx="3584448" cy="2468880"/>
          </a:xfrm>
          <a:prstGeom prst="roundRect">
            <a:avLst>
              <a:gd name="adj" fmla="val 2222"/>
            </a:avLst>
          </a:prstGeom>
          <a:solidFill>
            <a:srgbClr val="F6F0EE"/>
          </a:solidFill>
          <a:ln w="12700">
            <a:solidFill>
              <a:srgbClr val="EBE0DC"/>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6E8B5F"/>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Evidence that context matters</a:t>
            </a:r>
            <a:endParaRPr lang="en-US" sz="1500" dirty="0"/>
          </a:p>
        </p:txBody>
      </p:sp>
      <p:sp>
        <p:nvSpPr>
          <p:cNvPr id="15" name="Text 13"/>
          <p:cNvSpPr txBox="1"/>
          <p:nvPr/>
        </p:nvSpPr>
        <p:spPr>
          <a:xfrm>
            <a:off x="4535424" y="2176272"/>
            <a:ext cx="3072384" cy="1682496"/>
          </a:xfrm>
          <a:prstGeom prst="rect">
            <a:avLst/>
          </a:prstGeom>
          <a:noFill/>
          <a:ln/>
        </p:spPr>
        <p:txBody>
          <a:bodyPr wrap="square" lIns="0" tIns="0" rIns="0" bIns="0" rtlCol="0" anchor="t"/>
          <a:lstStyle/>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Two points from one preceding utterance is small but real, and no other audio LLM in the series takes conversational context at all.</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It also suggests an obvious extension nobody has run: how much does a longer context window buy?</a:t>
            </a:r>
            <a:endParaRPr lang="en-US" sz="1240" dirty="0"/>
          </a:p>
        </p:txBody>
      </p:sp>
      <p:sp>
        <p:nvSpPr>
          <p:cNvPr id="16" name="Shape 14"/>
          <p:cNvSpPr/>
          <p:nvPr/>
        </p:nvSpPr>
        <p:spPr>
          <a:xfrm>
            <a:off x="7991856" y="1572768"/>
            <a:ext cx="3639312" cy="2468880"/>
          </a:xfrm>
          <a:prstGeom prst="roundRect">
            <a:avLst>
              <a:gd name="adj" fmla="val 2222"/>
            </a:avLst>
          </a:prstGeom>
          <a:solidFill>
            <a:srgbClr val="F6F0EE"/>
          </a:solidFill>
          <a:ln w="12700">
            <a:solidFill>
              <a:srgbClr val="EBE0DC"/>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8C4A3C"/>
          </a:solidFill>
          <a:ln w="12700">
            <a:solidFill>
              <a:srgbClr val="333333"/>
            </a:solidFill>
            <a:prstDash val="solid"/>
          </a:ln>
        </p:spPr>
        <p:txBody>
          <a:bodyPr/>
          <a:lstStyle/>
          <a:p>
            <a:endParaRPr lang="en-US"/>
          </a:p>
        </p:txBody>
      </p:sp>
      <p:sp>
        <p:nvSpPr>
          <p:cNvPr id="18" name="Text 16"/>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231614"/>
                </a:solidFill>
                <a:latin typeface="Cambria" pitchFamily="34" charset="0"/>
                <a:ea typeface="Cambria" pitchFamily="34" charset="-122"/>
                <a:cs typeface="Cambria" pitchFamily="34" charset="-120"/>
              </a:rPr>
              <a:t>A measurement of the channel split</a:t>
            </a:r>
            <a:endParaRPr lang="en-US" sz="1500" dirty="0"/>
          </a:p>
        </p:txBody>
      </p:sp>
      <p:sp>
        <p:nvSpPr>
          <p:cNvPr id="19" name="Text 17"/>
          <p:cNvSpPr txBox="1"/>
          <p:nvPr/>
        </p:nvSpPr>
        <p:spPr>
          <a:xfrm>
            <a:off x="8247888" y="2176272"/>
            <a:ext cx="3127248" cy="1682496"/>
          </a:xfrm>
          <a:prstGeom prst="rect">
            <a:avLst/>
          </a:prstGeom>
          <a:noFill/>
          <a:ln/>
        </p:spPr>
        <p:txBody>
          <a:bodyPr wrap="square" lIns="0" tIns="0" rIns="0" bIns="0" rtlCol="0" anchor="t"/>
          <a:lstStyle/>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Because the authors reported the audio-only row, we now have a number for how much of MELD emotion the audio pathway carries on its own: 0.523 against 0.687.</a:t>
            </a:r>
            <a:endParaRPr lang="en-US" sz="1240" dirty="0"/>
          </a:p>
          <a:p>
            <a:pPr marL="0" indent="0">
              <a:lnSpc>
                <a:spcPct val="108000"/>
              </a:lnSpc>
              <a:buNone/>
            </a:pPr>
            <a:endParaRPr lang="en-US" sz="1240" dirty="0"/>
          </a:p>
          <a:p>
            <a:pPr marL="0" indent="0">
              <a:lnSpc>
                <a:spcPct val="108000"/>
              </a:lnSpc>
              <a:buNone/>
            </a:pPr>
            <a:r>
              <a:rPr lang="en-US" sz="1240" dirty="0">
                <a:solidFill>
                  <a:srgbClr val="342220"/>
                </a:solidFill>
                <a:latin typeface="Calibri" pitchFamily="34" charset="0"/>
                <a:ea typeface="Calibri" pitchFamily="34" charset="-122"/>
                <a:cs typeface="Calibri" pitchFamily="34" charset="-120"/>
              </a:rPr>
              <a:t>That number is more useful to the field than the headline.</a:t>
            </a:r>
            <a:endParaRPr lang="en-US" sz="1240" dirty="0"/>
          </a:p>
        </p:txBody>
      </p:sp>
      <p:sp>
        <p:nvSpPr>
          <p:cNvPr id="20" name="Shape 18"/>
          <p:cNvSpPr/>
          <p:nvPr/>
        </p:nvSpPr>
        <p:spPr>
          <a:xfrm>
            <a:off x="566928" y="4261104"/>
            <a:ext cx="11064240" cy="1792224"/>
          </a:xfrm>
          <a:prstGeom prst="roundRect">
            <a:avLst>
              <a:gd name="adj" fmla="val 3061"/>
            </a:avLst>
          </a:prstGeom>
          <a:solidFill>
            <a:srgbClr val="31211F"/>
          </a:solidFill>
          <a:ln w="12700">
            <a:solidFill>
              <a:srgbClr val="31211F"/>
            </a:solidFill>
            <a:prstDash val="solid"/>
          </a:ln>
        </p:spPr>
        <p:txBody>
          <a:bodyPr/>
          <a:lstStyle/>
          <a:p>
            <a:endParaRPr lang="en-US"/>
          </a:p>
        </p:txBody>
      </p:sp>
      <p:sp>
        <p:nvSpPr>
          <p:cNvPr id="21" name="Shape 19"/>
          <p:cNvSpPr/>
          <p:nvPr/>
        </p:nvSpPr>
        <p:spPr>
          <a:xfrm>
            <a:off x="786384" y="4553712"/>
            <a:ext cx="109728" cy="109728"/>
          </a:xfrm>
          <a:prstGeom prst="ellipse">
            <a:avLst/>
          </a:prstGeom>
          <a:solidFill>
            <a:srgbClr val="6E8B5F"/>
          </a:solidFill>
          <a:ln w="12700">
            <a:solidFill>
              <a:srgbClr val="333333"/>
            </a:solidFill>
            <a:prstDash val="solid"/>
          </a:ln>
        </p:spPr>
        <p:txBody>
          <a:bodyPr/>
          <a:lstStyle/>
          <a:p>
            <a:endParaRPr lang="en-US"/>
          </a:p>
        </p:txBody>
      </p:sp>
      <p:sp>
        <p:nvSpPr>
          <p:cNvPr id="22" name="Text 20"/>
          <p:cNvSpPr txBox="1"/>
          <p:nvPr/>
        </p:nvSpPr>
        <p:spPr>
          <a:xfrm>
            <a:off x="987552" y="442569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framing</a:t>
            </a:r>
            <a:endParaRPr lang="en-US" sz="1500" dirty="0"/>
          </a:p>
        </p:txBody>
      </p:sp>
      <p:sp>
        <p:nvSpPr>
          <p:cNvPr id="23" name="Text 21"/>
          <p:cNvSpPr txBox="1"/>
          <p:nvPr/>
        </p:nvSpPr>
        <p:spPr>
          <a:xfrm>
            <a:off x="822960" y="4864608"/>
            <a:ext cx="10552176" cy="1005840"/>
          </a:xfrm>
          <a:prstGeom prst="rect">
            <a:avLst/>
          </a:prstGeom>
          <a:noFill/>
          <a:ln/>
        </p:spPr>
        <p:txBody>
          <a:bodyPr wrap="square" lIns="0" tIns="0" rIns="0" bIns="0" rtlCol="0" anchor="t"/>
          <a:lstStyle/>
          <a:p>
            <a:pPr marL="0" indent="0">
              <a:lnSpc>
                <a:spcPct val="108000"/>
              </a:lnSpc>
              <a:buNone/>
            </a:pPr>
            <a:r>
              <a:rPr lang="en-US" sz="1300" dirty="0">
                <a:solidFill>
                  <a:srgbClr val="DCC5BF"/>
                </a:solidFill>
                <a:latin typeface="Calibri" pitchFamily="34" charset="0"/>
                <a:ea typeface="Calibri" pitchFamily="34" charset="-122"/>
                <a:cs typeface="Calibri" pitchFamily="34" charset="-120"/>
              </a:rPr>
              <a:t>The series has shown repeatedly that emotion is the task where audio language models are weakest. This paper is the first to treat that as the problem to solve rather than a column in a table — and its most valuable output may be the ablation that shows how far there still is to go.</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19104" y="493776"/>
            <a:ext cx="118872" cy="118872"/>
          </a:xfrm>
          <a:prstGeom prst="roundRect">
            <a:avLst>
              <a:gd name="adj" fmla="val 15385"/>
            </a:avLst>
          </a:prstGeom>
          <a:solidFill>
            <a:srgbClr val="8C4A3C"/>
          </a:solidFill>
          <a:ln w="12700">
            <a:solidFill>
              <a:srgbClr val="333333"/>
            </a:solidFill>
            <a:prstDash val="solid"/>
          </a:ln>
        </p:spPr>
        <p:txBody>
          <a:bodyPr/>
          <a:lstStyle/>
          <a:p>
            <a:endParaRPr lang="en-US"/>
          </a:p>
        </p:txBody>
      </p:sp>
      <p:sp>
        <p:nvSpPr>
          <p:cNvPr id="3" name="Shape 1"/>
          <p:cNvSpPr/>
          <p:nvPr/>
        </p:nvSpPr>
        <p:spPr>
          <a:xfrm>
            <a:off x="11393424" y="493776"/>
            <a:ext cx="118872" cy="118872"/>
          </a:xfrm>
          <a:prstGeom prst="roundRect">
            <a:avLst>
              <a:gd name="adj" fmla="val 1538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1256264" y="475488"/>
            <a:ext cx="155448" cy="155448"/>
          </a:xfrm>
          <a:prstGeom prst="ellipse">
            <a:avLst/>
          </a:prstGeom>
          <a:solidFill>
            <a:srgbClr val="A8746A"/>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31614"/>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B524C"/>
                </a:solidFill>
                <a:latin typeface="Calibri" pitchFamily="34" charset="0"/>
                <a:ea typeface="Calibri" pitchFamily="34" charset="-122"/>
                <a:cs typeface="Calibri" pitchFamily="34" charset="-120"/>
              </a:rPr>
              <a:t>Five things to carry out of the series</a:t>
            </a:r>
            <a:endParaRPr lang="en-US" sz="1350" dirty="0"/>
          </a:p>
        </p:txBody>
      </p:sp>
      <p:sp>
        <p:nvSpPr>
          <p:cNvPr id="7" name="Text 5"/>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A98F89"/>
                </a:solidFill>
                <a:latin typeface="Calibri" pitchFamily="34" charset="0"/>
                <a:ea typeface="Calibri" pitchFamily="34" charset="-122"/>
                <a:cs typeface="Calibri" pitchFamily="34" charset="-120"/>
              </a:rPr>
              <a:t>EAA · Du, Lu, Zhou &amp; Gao 2025  |  33</a:t>
            </a:r>
            <a:endParaRPr lang="en-US" sz="900" dirty="0"/>
          </a:p>
        </p:txBody>
      </p:sp>
      <p:sp>
        <p:nvSpPr>
          <p:cNvPr id="8" name="Shape 6"/>
          <p:cNvSpPr/>
          <p:nvPr/>
        </p:nvSpPr>
        <p:spPr>
          <a:xfrm>
            <a:off x="566928" y="1517904"/>
            <a:ext cx="11064240" cy="859536"/>
          </a:xfrm>
          <a:prstGeom prst="roundRect">
            <a:avLst>
              <a:gd name="adj" fmla="val 5319"/>
            </a:avLst>
          </a:prstGeom>
          <a:solidFill>
            <a:srgbClr val="F6F0EE"/>
          </a:solidFill>
          <a:ln w="12700">
            <a:solidFill>
              <a:srgbClr val="EBE0DC"/>
            </a:solidFill>
            <a:prstDash val="solid"/>
          </a:ln>
        </p:spPr>
        <p:txBody>
          <a:bodyPr/>
          <a:lstStyle/>
          <a:p>
            <a:endParaRPr lang="en-US"/>
          </a:p>
        </p:txBody>
      </p:sp>
      <p:sp>
        <p:nvSpPr>
          <p:cNvPr id="9" name="Shape 7"/>
          <p:cNvSpPr/>
          <p:nvPr/>
        </p:nvSpPr>
        <p:spPr>
          <a:xfrm>
            <a:off x="804672" y="1783080"/>
            <a:ext cx="329184" cy="329184"/>
          </a:xfrm>
          <a:prstGeom prst="ellipse">
            <a:avLst/>
          </a:prstGeom>
          <a:solidFill>
            <a:srgbClr val="8C4A3C"/>
          </a:solidFill>
          <a:ln w="12700">
            <a:solidFill>
              <a:srgbClr val="333333"/>
            </a:solidFill>
            <a:prstDash val="solid"/>
          </a:ln>
        </p:spPr>
        <p:txBody>
          <a:bodyPr/>
          <a:lstStyle/>
          <a:p>
            <a:endParaRPr lang="en-US"/>
          </a:p>
        </p:txBody>
      </p:sp>
      <p:sp>
        <p:nvSpPr>
          <p:cNvPr id="10" name="Text 8"/>
          <p:cNvSpPr txBox="1"/>
          <p:nvPr/>
        </p:nvSpPr>
        <p:spPr>
          <a:xfrm>
            <a:off x="804672" y="18105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11" name="Text 9"/>
          <p:cNvSpPr txBox="1"/>
          <p:nvPr/>
        </p:nvSpPr>
        <p:spPr>
          <a:xfrm>
            <a:off x="1298448" y="1627632"/>
            <a:ext cx="4023360" cy="640080"/>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Bidirectional fusion beats concatenation</a:t>
            </a:r>
            <a:endParaRPr lang="en-US" sz="1300" dirty="0"/>
          </a:p>
        </p:txBody>
      </p:sp>
      <p:sp>
        <p:nvSpPr>
          <p:cNvPr id="12" name="Text 10"/>
          <p:cNvSpPr txBox="1"/>
          <p:nvPr/>
        </p:nvSpPr>
        <p:spPr>
          <a:xfrm>
            <a:off x="5486400" y="1609344"/>
            <a:ext cx="5943600" cy="676656"/>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Each stream conditioned on the other, with both originals preserved. Simple, cheap, and better than splicing — the mechanism is the paper's durable contribution.</a:t>
            </a:r>
            <a:endParaRPr lang="en-US" sz="1180" dirty="0"/>
          </a:p>
        </p:txBody>
      </p:sp>
      <p:sp>
        <p:nvSpPr>
          <p:cNvPr id="13" name="Shape 11"/>
          <p:cNvSpPr/>
          <p:nvPr/>
        </p:nvSpPr>
        <p:spPr>
          <a:xfrm>
            <a:off x="566928" y="2432304"/>
            <a:ext cx="11064240" cy="859536"/>
          </a:xfrm>
          <a:prstGeom prst="roundRect">
            <a:avLst>
              <a:gd name="adj" fmla="val 5319"/>
            </a:avLst>
          </a:prstGeom>
          <a:solidFill>
            <a:srgbClr val="FFFFFF"/>
          </a:solidFill>
          <a:ln w="12700">
            <a:solidFill>
              <a:srgbClr val="EBE0DC"/>
            </a:solidFill>
            <a:prstDash val="solid"/>
          </a:ln>
        </p:spPr>
        <p:txBody>
          <a:bodyPr/>
          <a:lstStyle/>
          <a:p>
            <a:endParaRPr lang="en-US"/>
          </a:p>
        </p:txBody>
      </p:sp>
      <p:sp>
        <p:nvSpPr>
          <p:cNvPr id="14" name="Shape 12"/>
          <p:cNvSpPr/>
          <p:nvPr/>
        </p:nvSpPr>
        <p:spPr>
          <a:xfrm>
            <a:off x="804672" y="2697480"/>
            <a:ext cx="329184" cy="329184"/>
          </a:xfrm>
          <a:prstGeom prst="ellipse">
            <a:avLst/>
          </a:prstGeom>
          <a:solidFill>
            <a:srgbClr val="8C4A3C"/>
          </a:solidFill>
          <a:ln w="12700">
            <a:solidFill>
              <a:srgbClr val="333333"/>
            </a:solidFill>
            <a:prstDash val="solid"/>
          </a:ln>
        </p:spPr>
        <p:txBody>
          <a:bodyPr/>
          <a:lstStyle/>
          <a:p>
            <a:endParaRPr lang="en-US"/>
          </a:p>
        </p:txBody>
      </p:sp>
      <p:sp>
        <p:nvSpPr>
          <p:cNvPr id="15" name="Text 13"/>
          <p:cNvSpPr txBox="1"/>
          <p:nvPr/>
        </p:nvSpPr>
        <p:spPr>
          <a:xfrm>
            <a:off x="804672" y="27249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16" name="Text 14"/>
          <p:cNvSpPr txBox="1"/>
          <p:nvPr/>
        </p:nvSpPr>
        <p:spPr>
          <a:xfrm>
            <a:off x="1298448" y="2542032"/>
            <a:ext cx="4023360" cy="640080"/>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Always ask what the text is doing</a:t>
            </a:r>
            <a:endParaRPr lang="en-US" sz="1300" dirty="0"/>
          </a:p>
        </p:txBody>
      </p:sp>
      <p:sp>
        <p:nvSpPr>
          <p:cNvPr id="17" name="Text 15"/>
          <p:cNvSpPr txBox="1"/>
          <p:nvPr/>
        </p:nvSpPr>
        <p:spPr>
          <a:xfrm>
            <a:off x="5486400" y="2523744"/>
            <a:ext cx="5943600" cy="676656"/>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When a multimodal model has access to transcripts, the single most informative control is the text-only baseline. Without it, the modality contributions cannot be bounded.</a:t>
            </a:r>
            <a:endParaRPr lang="en-US" sz="1180" dirty="0"/>
          </a:p>
        </p:txBody>
      </p:sp>
      <p:sp>
        <p:nvSpPr>
          <p:cNvPr id="18" name="Shape 16"/>
          <p:cNvSpPr/>
          <p:nvPr/>
        </p:nvSpPr>
        <p:spPr>
          <a:xfrm>
            <a:off x="566928" y="3346704"/>
            <a:ext cx="11064240" cy="859536"/>
          </a:xfrm>
          <a:prstGeom prst="roundRect">
            <a:avLst>
              <a:gd name="adj" fmla="val 5319"/>
            </a:avLst>
          </a:prstGeom>
          <a:solidFill>
            <a:srgbClr val="F6F0EE"/>
          </a:solidFill>
          <a:ln w="12700">
            <a:solidFill>
              <a:srgbClr val="EBE0DC"/>
            </a:solidFill>
            <a:prstDash val="solid"/>
          </a:ln>
        </p:spPr>
        <p:txBody>
          <a:bodyPr/>
          <a:lstStyle/>
          <a:p>
            <a:endParaRPr lang="en-US"/>
          </a:p>
        </p:txBody>
      </p:sp>
      <p:sp>
        <p:nvSpPr>
          <p:cNvPr id="19" name="Shape 17"/>
          <p:cNvSpPr/>
          <p:nvPr/>
        </p:nvSpPr>
        <p:spPr>
          <a:xfrm>
            <a:off x="804672" y="3611880"/>
            <a:ext cx="329184" cy="329184"/>
          </a:xfrm>
          <a:prstGeom prst="ellipse">
            <a:avLst/>
          </a:prstGeom>
          <a:solidFill>
            <a:srgbClr val="8C4A3C"/>
          </a:solidFill>
          <a:ln w="12700">
            <a:solidFill>
              <a:srgbClr val="333333"/>
            </a:solidFill>
            <a:prstDash val="solid"/>
          </a:ln>
        </p:spPr>
        <p:txBody>
          <a:bodyPr/>
          <a:lstStyle/>
          <a:p>
            <a:endParaRPr lang="en-US"/>
          </a:p>
        </p:txBody>
      </p:sp>
      <p:sp>
        <p:nvSpPr>
          <p:cNvPr id="20" name="Text 18"/>
          <p:cNvSpPr txBox="1"/>
          <p:nvPr/>
        </p:nvSpPr>
        <p:spPr>
          <a:xfrm>
            <a:off x="804672" y="36393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21" name="Text 19"/>
          <p:cNvSpPr txBox="1"/>
          <p:nvPr/>
        </p:nvSpPr>
        <p:spPr>
          <a:xfrm>
            <a:off x="1298448" y="3456432"/>
            <a:ext cx="4023360" cy="640080"/>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Choose the dataset to fit the question</a:t>
            </a:r>
            <a:endParaRPr lang="en-US" sz="1300" dirty="0"/>
          </a:p>
        </p:txBody>
      </p:sp>
      <p:sp>
        <p:nvSpPr>
          <p:cNvPr id="22" name="Text 20"/>
          <p:cNvSpPr txBox="1"/>
          <p:nvPr/>
        </p:nvSpPr>
        <p:spPr>
          <a:xfrm>
            <a:off x="5486400" y="3438144"/>
            <a:ext cx="5943600" cy="676656"/>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On MELD a text-only LSTM reaches 0.679 and every extra modality adds under a point. A corpus where the words carry the emotion is a weak test of audio emotion.</a:t>
            </a:r>
            <a:endParaRPr lang="en-US" sz="1180" dirty="0"/>
          </a:p>
        </p:txBody>
      </p:sp>
      <p:sp>
        <p:nvSpPr>
          <p:cNvPr id="23" name="Shape 21"/>
          <p:cNvSpPr/>
          <p:nvPr/>
        </p:nvSpPr>
        <p:spPr>
          <a:xfrm>
            <a:off x="566928" y="4261104"/>
            <a:ext cx="11064240" cy="859536"/>
          </a:xfrm>
          <a:prstGeom prst="roundRect">
            <a:avLst>
              <a:gd name="adj" fmla="val 5319"/>
            </a:avLst>
          </a:prstGeom>
          <a:solidFill>
            <a:srgbClr val="FFFFFF"/>
          </a:solidFill>
          <a:ln w="12700">
            <a:solidFill>
              <a:srgbClr val="EBE0DC"/>
            </a:solidFill>
            <a:prstDash val="solid"/>
          </a:ln>
        </p:spPr>
        <p:txBody>
          <a:bodyPr/>
          <a:lstStyle/>
          <a:p>
            <a:endParaRPr lang="en-US"/>
          </a:p>
        </p:txBody>
      </p:sp>
      <p:sp>
        <p:nvSpPr>
          <p:cNvPr id="24" name="Shape 22"/>
          <p:cNvSpPr/>
          <p:nvPr/>
        </p:nvSpPr>
        <p:spPr>
          <a:xfrm>
            <a:off x="804672" y="4526280"/>
            <a:ext cx="329184" cy="329184"/>
          </a:xfrm>
          <a:prstGeom prst="ellipse">
            <a:avLst/>
          </a:prstGeom>
          <a:solidFill>
            <a:srgbClr val="8C4A3C"/>
          </a:solidFill>
          <a:ln w="12700">
            <a:solidFill>
              <a:srgbClr val="333333"/>
            </a:solidFill>
            <a:prstDash val="solid"/>
          </a:ln>
        </p:spPr>
        <p:txBody>
          <a:bodyPr/>
          <a:lstStyle/>
          <a:p>
            <a:endParaRPr lang="en-US"/>
          </a:p>
        </p:txBody>
      </p:sp>
      <p:sp>
        <p:nvSpPr>
          <p:cNvPr id="25" name="Text 23"/>
          <p:cNvSpPr txBox="1"/>
          <p:nvPr/>
        </p:nvSpPr>
        <p:spPr>
          <a:xfrm>
            <a:off x="804672" y="45537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4</a:t>
            </a:r>
            <a:endParaRPr lang="en-US" sz="1250" dirty="0"/>
          </a:p>
        </p:txBody>
      </p:sp>
      <p:sp>
        <p:nvSpPr>
          <p:cNvPr id="26" name="Text 24"/>
          <p:cNvSpPr txBox="1"/>
          <p:nvPr/>
        </p:nvSpPr>
        <p:spPr>
          <a:xfrm>
            <a:off x="1298448" y="4370832"/>
            <a:ext cx="4023360" cy="640080"/>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Report the unflattering row</a:t>
            </a:r>
            <a:endParaRPr lang="en-US" sz="1300" dirty="0"/>
          </a:p>
        </p:txBody>
      </p:sp>
      <p:sp>
        <p:nvSpPr>
          <p:cNvPr id="27" name="Text 25"/>
          <p:cNvSpPr txBox="1"/>
          <p:nvPr/>
        </p:nvSpPr>
        <p:spPr>
          <a:xfrm>
            <a:off x="5486400" y="4352544"/>
            <a:ext cx="5943600" cy="676656"/>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The audio-only ablation is what makes this paper interpretable. A result you can decompose is worth more than a result you cannot.</a:t>
            </a:r>
            <a:endParaRPr lang="en-US" sz="1180" dirty="0"/>
          </a:p>
        </p:txBody>
      </p:sp>
      <p:sp>
        <p:nvSpPr>
          <p:cNvPr id="28" name="Shape 26"/>
          <p:cNvSpPr/>
          <p:nvPr/>
        </p:nvSpPr>
        <p:spPr>
          <a:xfrm>
            <a:off x="566928" y="5175504"/>
            <a:ext cx="11064240" cy="859536"/>
          </a:xfrm>
          <a:prstGeom prst="roundRect">
            <a:avLst>
              <a:gd name="adj" fmla="val 5319"/>
            </a:avLst>
          </a:prstGeom>
          <a:solidFill>
            <a:srgbClr val="F6F0EE"/>
          </a:solidFill>
          <a:ln w="12700">
            <a:solidFill>
              <a:srgbClr val="EBE0DC"/>
            </a:solidFill>
            <a:prstDash val="solid"/>
          </a:ln>
        </p:spPr>
        <p:txBody>
          <a:bodyPr/>
          <a:lstStyle/>
          <a:p>
            <a:endParaRPr lang="en-US"/>
          </a:p>
        </p:txBody>
      </p:sp>
      <p:sp>
        <p:nvSpPr>
          <p:cNvPr id="29" name="Shape 27"/>
          <p:cNvSpPr/>
          <p:nvPr/>
        </p:nvSpPr>
        <p:spPr>
          <a:xfrm>
            <a:off x="804672" y="5440680"/>
            <a:ext cx="329184" cy="329184"/>
          </a:xfrm>
          <a:prstGeom prst="ellipse">
            <a:avLst/>
          </a:prstGeom>
          <a:solidFill>
            <a:srgbClr val="8C4A3C"/>
          </a:solidFill>
          <a:ln w="12700">
            <a:solidFill>
              <a:srgbClr val="333333"/>
            </a:solidFill>
            <a:prstDash val="solid"/>
          </a:ln>
        </p:spPr>
        <p:txBody>
          <a:bodyPr/>
          <a:lstStyle/>
          <a:p>
            <a:endParaRPr lang="en-US"/>
          </a:p>
        </p:txBody>
      </p:sp>
      <p:sp>
        <p:nvSpPr>
          <p:cNvPr id="30" name="Text 28"/>
          <p:cNvSpPr txBox="1"/>
          <p:nvPr/>
        </p:nvSpPr>
        <p:spPr>
          <a:xfrm>
            <a:off x="804672" y="54681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5</a:t>
            </a:r>
            <a:endParaRPr lang="en-US" sz="1250" dirty="0"/>
          </a:p>
        </p:txBody>
      </p:sp>
      <p:sp>
        <p:nvSpPr>
          <p:cNvPr id="31" name="Text 29"/>
          <p:cNvSpPr txBox="1"/>
          <p:nvPr/>
        </p:nvSpPr>
        <p:spPr>
          <a:xfrm>
            <a:off x="1298448" y="5285232"/>
            <a:ext cx="4023360" cy="640080"/>
          </a:xfrm>
          <a:prstGeom prst="rect">
            <a:avLst/>
          </a:prstGeom>
          <a:noFill/>
          <a:ln/>
        </p:spPr>
        <p:txBody>
          <a:bodyPr wrap="square" lIns="0" tIns="0" rIns="0" bIns="0" rtlCol="0" anchor="ctr"/>
          <a:lstStyle/>
          <a:p>
            <a:pPr marL="0" indent="0">
              <a:buNone/>
            </a:pPr>
            <a:r>
              <a:rPr lang="en-US" sz="1300" b="1" dirty="0">
                <a:solidFill>
                  <a:srgbClr val="231614"/>
                </a:solidFill>
                <a:latin typeface="Cambria" pitchFamily="34" charset="0"/>
                <a:ea typeface="Cambria" pitchFamily="34" charset="-122"/>
                <a:cs typeface="Cambria" pitchFamily="34" charset="-120"/>
              </a:rPr>
              <a:t>Emotion is still the open problem</a:t>
            </a:r>
            <a:endParaRPr lang="en-US" sz="1300" dirty="0"/>
          </a:p>
        </p:txBody>
      </p:sp>
      <p:sp>
        <p:nvSpPr>
          <p:cNvPr id="32" name="Text 30"/>
          <p:cNvSpPr txBox="1"/>
          <p:nvPr/>
        </p:nvSpPr>
        <p:spPr>
          <a:xfrm>
            <a:off x="5486400" y="5266944"/>
            <a:ext cx="5943600" cy="676656"/>
          </a:xfrm>
          <a:prstGeom prst="rect">
            <a:avLst/>
          </a:prstGeom>
          <a:noFill/>
          <a:ln/>
        </p:spPr>
        <p:txBody>
          <a:bodyPr wrap="square" lIns="0" tIns="0" rIns="0" bIns="0" rtlCol="0" anchor="ctr"/>
          <a:lstStyle/>
          <a:p>
            <a:pPr marL="0" indent="0">
              <a:buNone/>
            </a:pPr>
            <a:r>
              <a:rPr lang="en-US" sz="1180" dirty="0">
                <a:solidFill>
                  <a:srgbClr val="342220"/>
                </a:solidFill>
                <a:latin typeface="Calibri" pitchFamily="34" charset="0"/>
                <a:ea typeface="Calibri" pitchFamily="34" charset="-122"/>
                <a:cs typeface="Calibri" pitchFamily="34" charset="-120"/>
              </a:rPr>
              <a:t>Six sessions, four audio LLMs, two benchmark papers and four corpora, and the honest audio-only number on conversational emotion is in the low fifties.</a:t>
            </a:r>
            <a:endParaRPr lang="en-US" sz="11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31211F"/>
        </a:solidFill>
        <a:effectLst/>
      </p:bgPr>
    </p:bg>
    <p:spTree>
      <p:nvGrpSpPr>
        <p:cNvPr id="1" name=""/>
        <p:cNvGrpSpPr/>
        <p:nvPr/>
      </p:nvGrpSpPr>
      <p:grpSpPr>
        <a:xfrm>
          <a:off x="0" y="0"/>
          <a:ext cx="0" cy="0"/>
          <a:chOff x="0" y="0"/>
          <a:chExt cx="0" cy="0"/>
        </a:xfrm>
      </p:grpSpPr>
      <p:sp>
        <p:nvSpPr>
          <p:cNvPr id="2" name="Shape 0"/>
          <p:cNvSpPr/>
          <p:nvPr/>
        </p:nvSpPr>
        <p:spPr>
          <a:xfrm>
            <a:off x="10515600" y="687629"/>
            <a:ext cx="190195" cy="190195"/>
          </a:xfrm>
          <a:prstGeom prst="roundRect">
            <a:avLst>
              <a:gd name="adj" fmla="val 9615"/>
            </a:avLst>
          </a:prstGeom>
          <a:solidFill>
            <a:srgbClr val="DCC5BF"/>
          </a:solidFill>
          <a:ln w="12700">
            <a:solidFill>
              <a:srgbClr val="333333"/>
            </a:solidFill>
            <a:prstDash val="solid"/>
          </a:ln>
        </p:spPr>
        <p:txBody>
          <a:bodyPr/>
          <a:lstStyle/>
          <a:p>
            <a:endParaRPr lang="en-US"/>
          </a:p>
        </p:txBody>
      </p:sp>
      <p:sp>
        <p:nvSpPr>
          <p:cNvPr id="3" name="Shape 1"/>
          <p:cNvSpPr/>
          <p:nvPr/>
        </p:nvSpPr>
        <p:spPr>
          <a:xfrm>
            <a:off x="10954512" y="687629"/>
            <a:ext cx="190195" cy="190195"/>
          </a:xfrm>
          <a:prstGeom prst="roundRect">
            <a:avLst>
              <a:gd name="adj" fmla="val 9615"/>
            </a:avLst>
          </a:prstGeom>
          <a:solidFill>
            <a:srgbClr val="6E8B5F"/>
          </a:solidFill>
          <a:ln w="12700">
            <a:solidFill>
              <a:srgbClr val="333333"/>
            </a:solidFill>
            <a:prstDash val="solid"/>
          </a:ln>
        </p:spPr>
        <p:txBody>
          <a:bodyPr/>
          <a:lstStyle/>
          <a:p>
            <a:endParaRPr lang="en-US"/>
          </a:p>
        </p:txBody>
      </p:sp>
      <p:sp>
        <p:nvSpPr>
          <p:cNvPr id="4" name="Shape 2"/>
          <p:cNvSpPr/>
          <p:nvPr/>
        </p:nvSpPr>
        <p:spPr>
          <a:xfrm>
            <a:off x="10735056" y="658368"/>
            <a:ext cx="248717" cy="248717"/>
          </a:xfrm>
          <a:prstGeom prst="ellipse">
            <a:avLst/>
          </a:prstGeom>
          <a:solidFill>
            <a:srgbClr val="C0A49E"/>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371600"/>
            <a:ext cx="329184" cy="329184"/>
          </a:xfrm>
          <a:prstGeom prst="ellipse">
            <a:avLst/>
          </a:prstGeom>
          <a:solidFill>
            <a:srgbClr val="6E8B5F"/>
          </a:solidFill>
          <a:ln w="12700">
            <a:solidFill>
              <a:srgbClr val="333333"/>
            </a:solidFill>
            <a:prstDash val="solid"/>
          </a:ln>
        </p:spPr>
        <p:txBody>
          <a:bodyPr/>
          <a:lstStyle/>
          <a:p>
            <a:endParaRPr lang="en-US"/>
          </a:p>
        </p:txBody>
      </p:sp>
      <p:sp>
        <p:nvSpPr>
          <p:cNvPr id="7" name="Text 5"/>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31211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DCC5BF"/>
                </a:solidFill>
                <a:latin typeface="Calibri" pitchFamily="34" charset="0"/>
                <a:ea typeface="Calibri" pitchFamily="34" charset="-122"/>
                <a:cs typeface="Calibri" pitchFamily="34" charset="-120"/>
              </a:rPr>
              <a:t>The audio-only row reaches 0.523 and the full system 0.687. What would you predict a text-only control returns — and does your prediction change what you think the dual cross-attention is contributing?</a:t>
            </a:r>
            <a:endParaRPr lang="en-US" sz="1250" dirty="0"/>
          </a:p>
        </p:txBody>
      </p:sp>
      <p:sp>
        <p:nvSpPr>
          <p:cNvPr id="9" name="Shape 7"/>
          <p:cNvSpPr/>
          <p:nvPr/>
        </p:nvSpPr>
        <p:spPr>
          <a:xfrm>
            <a:off x="841248" y="2359152"/>
            <a:ext cx="329184" cy="329184"/>
          </a:xfrm>
          <a:prstGeom prst="ellipse">
            <a:avLst/>
          </a:prstGeom>
          <a:solidFill>
            <a:srgbClr val="6E8B5F"/>
          </a:solidFill>
          <a:ln w="12700">
            <a:solidFill>
              <a:srgbClr val="333333"/>
            </a:solidFill>
            <a:prstDash val="solid"/>
          </a:ln>
        </p:spPr>
        <p:txBody>
          <a:bodyPr/>
          <a:lstStyle/>
          <a:p>
            <a:endParaRPr lang="en-US"/>
          </a:p>
        </p:txBody>
      </p:sp>
      <p:sp>
        <p:nvSpPr>
          <p:cNvPr id="10" name="Text 8"/>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31211F"/>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DCC5BF"/>
                </a:solidFill>
                <a:latin typeface="Calibri" pitchFamily="34" charset="0"/>
                <a:ea typeface="Calibri" pitchFamily="34" charset="-122"/>
                <a:cs typeface="Calibri" pitchFamily="34" charset="-120"/>
              </a:rPr>
              <a:t>On MELD a text-only LSTM reaches 0.679 and seven systems using text, audio and video span 0.651 to 0.687. Is MELD a good testbed for audio emotion at all, and what would you replace it with?</a:t>
            </a:r>
            <a:endParaRPr lang="en-US" sz="1250" dirty="0"/>
          </a:p>
        </p:txBody>
      </p:sp>
      <p:sp>
        <p:nvSpPr>
          <p:cNvPr id="12" name="Shape 10"/>
          <p:cNvSpPr/>
          <p:nvPr/>
        </p:nvSpPr>
        <p:spPr>
          <a:xfrm>
            <a:off x="841248" y="3346704"/>
            <a:ext cx="329184" cy="329184"/>
          </a:xfrm>
          <a:prstGeom prst="ellipse">
            <a:avLst/>
          </a:prstGeom>
          <a:solidFill>
            <a:srgbClr val="6E8B5F"/>
          </a:solidFill>
          <a:ln w="12700">
            <a:solidFill>
              <a:srgbClr val="333333"/>
            </a:solidFill>
            <a:prstDash val="solid"/>
          </a:ln>
        </p:spPr>
        <p:txBody>
          <a:bodyPr/>
          <a:lstStyle/>
          <a:p>
            <a:endParaRPr lang="en-US"/>
          </a:p>
        </p:txBody>
      </p:sp>
      <p:sp>
        <p:nvSpPr>
          <p:cNvPr id="13" name="Text 11"/>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31211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DCC5BF"/>
                </a:solidFill>
                <a:latin typeface="Calibri" pitchFamily="34" charset="0"/>
                <a:ea typeface="Calibri" pitchFamily="34" charset="-122"/>
                <a:cs typeface="Calibri" pitchFamily="34" charset="-120"/>
              </a:rPr>
              <a:t>The paper motivates dual cross-attention by saying the model should weight acoustics when prosody carries the emotion and words when it does not. How would you test whether the learned attention actually does that?</a:t>
            </a:r>
            <a:endParaRPr lang="en-US" sz="1250" dirty="0"/>
          </a:p>
        </p:txBody>
      </p:sp>
      <p:sp>
        <p:nvSpPr>
          <p:cNvPr id="15" name="Shape 13"/>
          <p:cNvSpPr/>
          <p:nvPr/>
        </p:nvSpPr>
        <p:spPr>
          <a:xfrm>
            <a:off x="841248" y="4334256"/>
            <a:ext cx="329184" cy="329184"/>
          </a:xfrm>
          <a:prstGeom prst="ellipse">
            <a:avLst/>
          </a:prstGeom>
          <a:solidFill>
            <a:srgbClr val="6E8B5F"/>
          </a:solidFill>
          <a:ln w="12700">
            <a:solidFill>
              <a:srgbClr val="333333"/>
            </a:solidFill>
            <a:prstDash val="solid"/>
          </a:ln>
        </p:spPr>
        <p:txBody>
          <a:bodyPr/>
          <a:lstStyle/>
          <a:p>
            <a:endParaRPr lang="en-US"/>
          </a:p>
        </p:txBody>
      </p:sp>
      <p:sp>
        <p:nvSpPr>
          <p:cNvPr id="16" name="Text 14"/>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31211F"/>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DCC5BF"/>
                </a:solidFill>
                <a:latin typeface="Calibri" pitchFamily="34" charset="0"/>
                <a:ea typeface="Calibri" pitchFamily="34" charset="-122"/>
                <a:cs typeface="Calibri" pitchFamily="34" charset="-120"/>
              </a:rPr>
              <a:t>HuBERT is used as the semantic encoder with its last two layers fine-tuned — the layers the layer-wise analysis says are least semantic. Does the 'semantic encoder' framing survive, and what would you change?</a:t>
            </a:r>
            <a:endParaRPr lang="en-US" sz="1250" dirty="0"/>
          </a:p>
        </p:txBody>
      </p:sp>
      <p:sp>
        <p:nvSpPr>
          <p:cNvPr id="18" name="Shape 16"/>
          <p:cNvSpPr/>
          <p:nvPr/>
        </p:nvSpPr>
        <p:spPr>
          <a:xfrm>
            <a:off x="841248" y="5321808"/>
            <a:ext cx="329184" cy="329184"/>
          </a:xfrm>
          <a:prstGeom prst="ellipse">
            <a:avLst/>
          </a:prstGeom>
          <a:solidFill>
            <a:srgbClr val="6E8B5F"/>
          </a:solidFill>
          <a:ln w="12700">
            <a:solidFill>
              <a:srgbClr val="333333"/>
            </a:solidFill>
            <a:prstDash val="solid"/>
          </a:ln>
        </p:spPr>
        <p:txBody>
          <a:bodyPr/>
          <a:lstStyle/>
          <a:p>
            <a:endParaRPr lang="en-US"/>
          </a:p>
        </p:txBody>
      </p:sp>
      <p:sp>
        <p:nvSpPr>
          <p:cNvPr id="19" name="Text 17"/>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31211F"/>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DCC5BF"/>
                </a:solidFill>
                <a:latin typeface="Calibri" pitchFamily="34" charset="0"/>
                <a:ea typeface="Calibri" pitchFamily="34" charset="-122"/>
                <a:cs typeface="Calibri" pitchFamily="34" charset="-120"/>
              </a:rPr>
              <a:t>Across six sessions the audio-only number on conversational emotion has barely moved. Is the bottleneck the models, the corpora, the labels, or the evaluation — and which would you attack first?</a:t>
            </a:r>
            <a:endParaRPr lang="en-US" sz="1250" dirty="0"/>
          </a:p>
        </p:txBody>
      </p:sp>
      <p:sp>
        <p:nvSpPr>
          <p:cNvPr id="21" name="Text 19"/>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C7AEA8"/>
                </a:solidFill>
                <a:latin typeface="Calibri" pitchFamily="34" charset="0"/>
                <a:ea typeface="Calibri" pitchFamily="34" charset="-122"/>
                <a:cs typeface="Calibri" pitchFamily="34" charset="-120"/>
              </a:rPr>
              <a:t>Du, H., Lu, S., Zhou, G., Gao, Y. (2025) Proc. Interspeech 2025, 5433–5437  ·  doi:10.21437/Interspeech.2025-1232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8655</Words>
  <Application>Microsoft Macintosh PowerPoint</Application>
  <PresentationFormat>Widescreen</PresentationFormat>
  <Paragraphs>489</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EAA (Du et al., 2025)</dc:title>
  <dc:subject>PptxGenJS Presentation</dc:subject>
  <dc:creator>Seminar</dc:creator>
  <cp:lastModifiedBy>Gao, Ashley</cp:lastModifiedBy>
  <cp:revision>2</cp:revision>
  <dcterms:created xsi:type="dcterms:W3CDTF">2026-09-30T14:48:35Z</dcterms:created>
  <dcterms:modified xsi:type="dcterms:W3CDTF">2026-09-30T15:00:25Z</dcterms:modified>
</cp:coreProperties>
</file>