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5C77"/>
                </a:solidFill>
                <a:latin typeface="Calibri"/>
              </a:defRPr>
            </a:pPr>
            <a:r>
              <a:rPr lang="en-US" sz="1200" b="0" i="0" u="none" strike="noStrike">
                <a:solidFill>
                  <a:srgbClr val="6A5C77"/>
                </a:solidFill>
                <a:latin typeface="Calibri"/>
              </a:rPr>
              <a:t>Acted corpora in the upper half, spontaneous in the lower</a:t>
            </a:r>
          </a:p>
        </c:rich>
      </c:tx>
      <c:overlay val="0"/>
    </c:title>
    <c:autoTitleDeleted val="0"/>
    <c:plotArea>
      <c:layout/>
      <c:barChart>
        <c:barDir val="bar"/>
        <c:grouping val="clustered"/>
        <c:varyColors val="0"/>
        <c:ser>
          <c:idx val="0"/>
          <c:order val="0"/>
          <c:tx>
            <c:strRef>
              <c:f>Sheet1!$B$1</c:f>
              <c:strCache>
                <c:ptCount val="1"/>
                <c:pt idx="0">
                  <c:v>Hours of audio</c:v>
                </c:pt>
              </c:strCache>
            </c:strRef>
          </c:tx>
          <c:spPr>
            <a:solidFill>
              <a:srgbClr val="6A4A8C"/>
            </a:solidFill>
            <a:effectLst/>
          </c:spPr>
          <c:invertIfNegative val="0"/>
          <c:dLbls>
            <c:numFmt formatCode="0.0" sourceLinked="0"/>
            <c:spPr>
              <a:noFill/>
              <a:ln>
                <a:noFill/>
              </a:ln>
              <a:effectLst/>
            </c:spPr>
            <c:txPr>
              <a:bodyPr/>
              <a:lstStyle/>
              <a:p>
                <a:pPr>
                  <a:defRPr sz="1000" b="0" i="0" u="none" strike="noStrike">
                    <a:solidFill>
                      <a:srgbClr val="3A30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IEMOCAP</c:v>
                </c:pt>
                <c:pt idx="1">
                  <c:v>TUM AVIC</c:v>
                </c:pt>
                <c:pt idx="2">
                  <c:v>MSP-IMPROV</c:v>
                </c:pt>
                <c:pt idx="3">
                  <c:v>FAU-AIBO</c:v>
                </c:pt>
                <c:pt idx="4">
                  <c:v>SEMAINE</c:v>
                </c:pt>
                <c:pt idx="5">
                  <c:v>RECOLA</c:v>
                </c:pt>
                <c:pt idx="6">
                  <c:v>VAM-Audio</c:v>
                </c:pt>
                <c:pt idx="7">
                  <c:v>Emo-DB</c:v>
                </c:pt>
              </c:strCache>
            </c:strRef>
          </c:cat>
          <c:val>
            <c:numRef>
              <c:f>Sheet1!$B$2:$B$9</c:f>
              <c:numCache>
                <c:formatCode>General</c:formatCode>
                <c:ptCount val="8"/>
                <c:pt idx="0">
                  <c:v>12.43</c:v>
                </c:pt>
                <c:pt idx="1">
                  <c:v>10.38</c:v>
                </c:pt>
                <c:pt idx="2">
                  <c:v>9.58</c:v>
                </c:pt>
                <c:pt idx="3">
                  <c:v>9.1999999999999993</c:v>
                </c:pt>
                <c:pt idx="4">
                  <c:v>6.35</c:v>
                </c:pt>
                <c:pt idx="5">
                  <c:v>2.83</c:v>
                </c:pt>
                <c:pt idx="6">
                  <c:v>0.8</c:v>
                </c:pt>
                <c:pt idx="7">
                  <c:v>0.37</c:v>
                </c:pt>
              </c:numCache>
            </c:numRef>
          </c:val>
          <c:extLst>
            <c:ext xmlns:c16="http://schemas.microsoft.com/office/drawing/2014/chart" uri="{C3380CC4-5D6E-409C-BE32-E72D297353CC}">
              <c16:uniqueId val="{00000000-0D8D-EA4B-8BB4-4433F399F6F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A5C7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AE4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A5C7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5C77"/>
                </a:solidFill>
                <a:latin typeface="Calibri"/>
              </a:defRPr>
            </a:pPr>
            <a:r>
              <a:rPr lang="en-US" sz="1200" b="0" i="0" u="none" strike="noStrike">
                <a:solidFill>
                  <a:srgbClr val="6A5C77"/>
                </a:solidFill>
                <a:latin typeface="Calibri"/>
              </a:rPr>
              <a:t>Reported agreement coefficients (higher is better)</a:t>
            </a:r>
          </a:p>
        </c:rich>
      </c:tx>
      <c:overlay val="0"/>
    </c:title>
    <c:autoTitleDeleted val="0"/>
    <c:plotArea>
      <c:layout/>
      <c:barChart>
        <c:barDir val="col"/>
        <c:grouping val="clustered"/>
        <c:varyColors val="0"/>
        <c:ser>
          <c:idx val="0"/>
          <c:order val="0"/>
          <c:tx>
            <c:strRef>
              <c:f>Sheet1!$B$1</c:f>
              <c:strCache>
                <c:ptCount val="1"/>
                <c:pt idx="0">
                  <c:v>Inter-evaluator agreement</c:v>
                </c:pt>
              </c:strCache>
            </c:strRef>
          </c:tx>
          <c:spPr>
            <a:solidFill>
              <a:srgbClr val="6A4A8C"/>
            </a:solidFill>
            <a:effectLst/>
          </c:spPr>
          <c:invertIfNegative val="0"/>
          <c:dPt>
            <c:idx val="0"/>
            <c:invertIfNegative val="0"/>
            <c:bubble3D val="0"/>
            <c:extLst>
              <c:ext xmlns:c16="http://schemas.microsoft.com/office/drawing/2014/chart" uri="{C3380CC4-5D6E-409C-BE32-E72D297353CC}">
                <c16:uniqueId val="{00000001-3841-134F-8C8F-6A376878B1E5}"/>
              </c:ext>
            </c:extLst>
          </c:dPt>
          <c:dPt>
            <c:idx val="1"/>
            <c:invertIfNegative val="0"/>
            <c:bubble3D val="0"/>
            <c:extLst>
              <c:ext xmlns:c16="http://schemas.microsoft.com/office/drawing/2014/chart" uri="{C3380CC4-5D6E-409C-BE32-E72D297353CC}">
                <c16:uniqueId val="{00000003-3841-134F-8C8F-6A376878B1E5}"/>
              </c:ext>
            </c:extLst>
          </c:dPt>
          <c:dPt>
            <c:idx val="2"/>
            <c:invertIfNegative val="0"/>
            <c:bubble3D val="0"/>
            <c:extLst>
              <c:ext xmlns:c16="http://schemas.microsoft.com/office/drawing/2014/chart" uri="{C3380CC4-5D6E-409C-BE32-E72D297353CC}">
                <c16:uniqueId val="{00000005-3841-134F-8C8F-6A376878B1E5}"/>
              </c:ext>
            </c:extLst>
          </c:dPt>
          <c:dPt>
            <c:idx val="3"/>
            <c:invertIfNegative val="0"/>
            <c:bubble3D val="0"/>
            <c:spPr>
              <a:solidFill>
                <a:srgbClr val="D98C2B"/>
              </a:solidFill>
              <a:effectLst/>
            </c:spPr>
            <c:extLst>
              <c:ext xmlns:c16="http://schemas.microsoft.com/office/drawing/2014/chart" uri="{C3380CC4-5D6E-409C-BE32-E72D297353CC}">
                <c16:uniqueId val="{00000007-3841-134F-8C8F-6A376878B1E5}"/>
              </c:ext>
            </c:extLst>
          </c:dPt>
          <c:dLbls>
            <c:numFmt formatCode="0.000" sourceLinked="0"/>
            <c:spPr>
              <a:noFill/>
              <a:ln>
                <a:noFill/>
              </a:ln>
              <a:effectLst/>
            </c:spPr>
            <c:txPr>
              <a:bodyPr/>
              <a:lstStyle/>
              <a:p>
                <a:pPr>
                  <a:defRPr sz="1100" b="0" i="0" u="none" strike="noStrike">
                    <a:solidFill>
                      <a:srgbClr val="3A30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Valence</c:v>
                </c:pt>
                <c:pt idx="1">
                  <c:v>Arousal</c:v>
                </c:pt>
                <c:pt idx="2">
                  <c:v>Dominance</c:v>
                </c:pt>
                <c:pt idx="3">
                  <c:v>Primary emotion</c:v>
                </c:pt>
              </c:strCache>
            </c:strRef>
          </c:cat>
          <c:val>
            <c:numRef>
              <c:f>Sheet1!$B$2:$B$5</c:f>
              <c:numCache>
                <c:formatCode>General</c:formatCode>
                <c:ptCount val="4"/>
                <c:pt idx="0">
                  <c:v>0.45900000000000002</c:v>
                </c:pt>
                <c:pt idx="1">
                  <c:v>0.42599999999999999</c:v>
                </c:pt>
                <c:pt idx="2">
                  <c:v>0.40200000000000002</c:v>
                </c:pt>
                <c:pt idx="3">
                  <c:v>0.22900000000000001</c:v>
                </c:pt>
              </c:numCache>
            </c:numRef>
          </c:val>
          <c:extLst>
            <c:ext xmlns:c16="http://schemas.microsoft.com/office/drawing/2014/chart" uri="{C3380CC4-5D6E-409C-BE32-E72D297353CC}">
              <c16:uniqueId val="{00000008-3841-134F-8C8F-6A376878B1E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A5C77"/>
                </a:solidFill>
                <a:latin typeface="Arial"/>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12700" cap="flat">
              <a:solidFill>
                <a:srgbClr val="EAE4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5C7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5C77"/>
                </a:solidFill>
                <a:latin typeface="Calibri"/>
              </a:defRPr>
            </a:pPr>
            <a:r>
              <a:rPr lang="en-US" sz="1200" b="0" i="0" u="none" strike="noStrike">
                <a:solidFill>
                  <a:srgbClr val="6A5C77"/>
                </a:solidFill>
                <a:latin typeface="Calibri"/>
              </a:rPr>
              <a:t>Annotated speaking turns across releases</a:t>
            </a:r>
          </a:p>
        </c:rich>
      </c:tx>
      <c:overlay val="0"/>
    </c:title>
    <c:autoTitleDeleted val="0"/>
    <c:plotArea>
      <c:layout/>
      <c:barChart>
        <c:barDir val="bar"/>
        <c:grouping val="clustered"/>
        <c:varyColors val="0"/>
        <c:ser>
          <c:idx val="0"/>
          <c:order val="0"/>
          <c:tx>
            <c:strRef>
              <c:f>Sheet1!$B$1</c:f>
              <c:strCache>
                <c:ptCount val="1"/>
                <c:pt idx="0">
                  <c:v>Speaking turns</c:v>
                </c:pt>
              </c:strCache>
            </c:strRef>
          </c:tx>
          <c:spPr>
            <a:solidFill>
              <a:srgbClr val="6A4A8C"/>
            </a:solidFill>
            <a:effectLst/>
          </c:spPr>
          <c:invertIfNegative val="0"/>
          <c:dLbls>
            <c:numFmt formatCode="#,##0" sourceLinked="0"/>
            <c:spPr>
              <a:noFill/>
              <a:ln>
                <a:noFill/>
              </a:ln>
              <a:effectLst/>
            </c:spPr>
            <c:txPr>
              <a:bodyPr/>
              <a:lstStyle/>
              <a:p>
                <a:pPr>
                  <a:defRPr sz="1100" b="0" i="0" u="none" strike="noStrike">
                    <a:solidFill>
                      <a:srgbClr val="3A30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This paper (2017)</c:v>
                </c:pt>
                <c:pt idx="1">
                  <c:v>By publication (2019)</c:v>
                </c:pt>
                <c:pt idx="2">
                  <c:v>Release 2.0</c:v>
                </c:pt>
              </c:strCache>
            </c:strRef>
          </c:cat>
          <c:val>
            <c:numRef>
              <c:f>Sheet1!$B$2:$B$4</c:f>
              <c:numCache>
                <c:formatCode>General</c:formatCode>
                <c:ptCount val="3"/>
                <c:pt idx="0">
                  <c:v>2317</c:v>
                </c:pt>
                <c:pt idx="1">
                  <c:v>18238</c:v>
                </c:pt>
                <c:pt idx="2">
                  <c:v>264705</c:v>
                </c:pt>
              </c:numCache>
            </c:numRef>
          </c:val>
          <c:extLst>
            <c:ext xmlns:c16="http://schemas.microsoft.com/office/drawing/2014/chart" uri="{C3380CC4-5D6E-409C-BE32-E72D297353CC}">
              <c16:uniqueId val="{00000000-5B95-4B44-B178-A83A251B349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A5C7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AE4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A5C7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88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Set the frame for the session. In the first corpora seminar we looked at two acted corpora and found the same tradeoff running through both: control against naturalness. Today's two papers both try to escape that tradeoff by refusing to record anything at all. They harvest data that already exists — podcasts in one case, web images in the other.
The interesting question for both is what you inherit when you do that. You inherit real behaviour, which is what you wanted. You also inherit whatever biases produced the material in the first place, and you give up any control over who is in your data.
Note the author overlap: Carlos Busso co-authored IEMOCAP. This paper is, in part, his answer to the limitations of his own earlier corpus.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Get the framing right early, because the headline number invites the wrong reaction. Somebody will notice that 2,317 sentences is less than a quarter of IEMOCAP and conclude the paper is thin.
The response is that this is a proof of concept for a pipeline. The claim being tested is 'can machine learning retrieval produce an emotionally balanced sample from unbalanced natural speech', and 2,317 annotated sentences is enough to answer that.
The scaling numbers vindicate it. Check the current release figure before you present — the corpus is still growing, and version 2.0 stands at 264,705 turns and 409 hours.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[4:10–6:10] The four limitations.
This is the same Douglas-Cowie-style diagnostic framework we used for IEMOCAP and CREMA-D, in slightly different words. Point that out — it is the standard checklist for corpus papers in this field, and Busso has now written papers on both sides of it.
Spend your time on the second card. Make the mechanism concrete: the recording scenario determines the emotion distribution, not the other way round. VAM comes from a relationship-conflict talk show, so it is dominated by negative valence. RECOLA is a collaborative video-conference task, so it is mildly positive and mostly neutral.
That is not a flaw in those corpora. It is a structural property of collecting spontaneous data at all, and it is what makes the balance problem worth a paper.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[6:10–8:00] The landscape.
Durations here are converted from the paper's table, which reports them as hours and minutes. CREMA-D and Chen Bimodal are omitted because the paper explicitly notes it does not know their total duration — those papers only report sample counts. Say so if asked; it is a nice example of how inconsistent corpus reporting was.
The Librispeech comparison in the first bullet is worth making explicitly if the room sat through the wav2vec 2.0 seminar. Speech recognition had a thousand hours; speech emotion had twelve. That gap is why emotion recognition lagged behind ASR through the deep-learning transition.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[8:00–10:00] The irony, and the setup for the whole paper.
This is the pivot slide. Deliver the finding as a genuine surprise, because it is one: you would expect natural data to be richer, and by this measure it is poorer.
The explanation is worth spelling out. Balance in IEMOCAP is not an accident of natural conversation, it is the product of eight designed scenarios and three chosen plays. Everything we said in the first seminar about IEMOCAP's emotion profile reflecting its scenarios rather than the world — that is the same fact seen from the other side.
The dispersion figures are in the paper (Figure 1). If you have the PDF to hand, put them on screen here; they make the point much faster than words.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[10:00–10:10]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[10:10–12:00] Why podcasts.
The licence point is the one worth dwelling on, and it connects straight back to the first seminar. IEMOCAP's own paper rejected broadcast and television sources partly because copyright and privacy prevent redistribution. Creative Commons podcasts solve that problem outright — and note that the resulting corpus can be used commercially, which is rare in this field.
The second row is a nice piece of accidental engineering. They wanted a permissive licence and got music-free audio for free, because rights-cleared podcasts cannot play copyrighted music either.
The fourth row is an argument rather than a measurement, and it is fair to flag it as such. Whether podcast speech is more emotionally varied than radio speech is asserted, not tested.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[12:00–14:00] The pipeline.
Walk it once left to right, then make the scaling argument in the dark card.
The placement of the manual step is the design insight. If you screened every candidate segment by hand you would be reviewing 84,000 turns, which is no cheaper than annotating them. Because retrieval comes first, the human only inspects what the models have already selected.
Detail worth mentioning: the podcasts themselves range from three to a hundred and ninety minutes, so diarisation is doing serious work here — the raw material is long-form multi-speaker audio, not clips.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[14:00–16:00] Filters.
The duration window is the row that matters conceptually, because it encodes an assumption we met in the IEMOCAP seminar: that emotion is constant within a segment. Here the assumption is made explicitly and the window is chosen to protect it.
The music detector's 63.8% precision is worth pausing on. That is a component the pipeline depends on, performing at roughly two-thirds precision, and the authors say so in print rather than burying it. It is also why the manual screening step exists.
Point out what these filters do to the resulting corpus, because it comes back under limitations: MSP-Podcast is naturalistic speech that has been selected for being clean, single-speaker, wideband and music-free. That is naturalistic, but it is not unfiltered reality.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[16:00–18:00] The pool.
The rejection breakdown is a useful reality check on how good automatic diarisation was in 2016. Better than one in five retrieved segments still had more than one speaker in it.
The second card sets up section 3 and should be delivered as a question to the room: you have eighty-four thousand turns and money to annotate maybe two thousand. Most of the pool is neutral. How do you choose?
Let a few answers come back before you move on. Random sampling is the obvious baseline, and the paper runs it — we will see how it does.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[18:00–18:10]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[18:10–20:20] The central idea. This is the slide to protect.
The dark card is the intellectual content of the paper. Make it slowly.
In the wav2vec seminar we talked about cross-corpus transfer as a measure of how much of 'emotion recognition' is really corpus recognition. Here the same imperfect transfer is put to work: a model that gets 70% of the ranking right is useless as a product and perfectly adequate as a filter, because a human checks everything it selects afterwards.
It is a bootstrapping argument. Existing corpora are too small to train good models; use the mediocre models they do support to build a corpus big enough to train good ones. Ask the room whether they see a circularity problem in that — the answer is yes, and it comes up under limitations.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[20:20–22:20] The three families.
You do not need to explain the algorithms in depth; the audience needs the shape of each family and why anyone would try three.
BOC-DL deserves one sentence because it addresses something we criticised in the IEMOCAP seminar: the standard practice of chopping continuous attribute ratings into binary classes throws away information. Busso and Mariooryad have a separate paper on the cost of doing that, and BOC-DL is their fix.
The bottom card is the conceptual point and it echoes the CREMA-D discussion about rater distributions. Ranking is a way of extracting a reliable signal from ratings that are individually unreliable, which is exactly the situation emotion annotation is always 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[22:20–24:20] Training setup.
The P@K definition is worth explaining properly, because the metric is unfamiliar to most people outside information retrieval and the numbers on the next slide are meaningless without it. Use the worked example on the card.
The dark card is a limitation dressed up as an observation, and it is deliberately planted here so it lands twice. Everything MSP-Podcast knows about what 'high arousal' sounds like, at retrieval time, it learned from ten USC drama students and twelve UT Dallas actors.
That is defensible as a bootstrap. But it means the corpus is not a neutral sample of emotional podcast speech; it is a sample of podcast speech that resembles acted emotional speech.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[24:20–26:20] Retrieval performance.
The paper reports these as precision-at-K curves rather than a table, which is why this slide gives the qualitative reading rather than a chart. Do not invent numbers; if someone wants specifics, point them at Figure 5.
The valence difficulty connects directly to the CREMA-D seminar, where the face-versus-voice result showed the same thing from the perception side: valence is poorly carried by the acoustic channel alone. Here it shows up as a retrieval failure. Same underlying fact, two different experiments.
The multi-model hedge in the third card is a genuinely good design decision and is worth praising. If you retrieve with one model, your corpus becomes a monument to that model's biases.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[26:20–28:00] The retrieval design.
Two things to draw out.
First, the random control. Including it is what turns this from a data-collection exercise into an experiment — without it there would be no way to show that retrieval did anything. Praise the design; it costs 100 annotations and it is what makes the results interpretable.
Second, the overlap. Twelve conditions of 200 plus 100 random is 2,500 requested, but only 2,317 distinct segments came out. So the three methods agreed on roughly 200 segments — different algorithms converging on the same audio. That is mild evidence the retrieval is picking up something real rather than model-specific artefacts.
The replacement policy in the footnote matters for reproducibility: rejected samples are backfilled from further down the list, so the final set is the top 200 that survived screening, not the top 200 overall.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[28:00–28:10]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[28:10–30:10] The questionnaire.
The dark card is the callback to the first seminar and it is the most useful comparison you can make here. Three corpora, three different answers to the same question about how to record ambiguity.
The nine-way primary choice has a cost, and the paper says so: adding surprise, fear, disgust and contempt to the earlier five-way set measurably lowers agreement. More categories, finer description, worse reliability. That tradeoff was in the IEMOCAP paper too.
Seven-point scales rather than IEMOCAP's five is a small change worth noting — finer resolution on the attributes, which matters when you are going to average five ratings.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[30:10–32:30] Quality control. Protect this slide — it is the part of the paper most likely to be useful in the audience's own work.
The insight is that annotation quality is not a fixed property of a worker, it is a property of a worker at a moment. People start well and degrade as they tire or lose interest. A qualification test at the start cannot detect that; continuous monitoring can.
The payment structure is the part people usually miss and it is genuinely clever. The obvious failure mode of a stopping rule is that workers rush to hit the minimum and start a new task. Paying double for everything after sentence twelve inverts that incentive.
Contrast with CREMA-D, which used redundancy alone: ten raters per clip, averaging out carelessness. This design instead tries to prevent bad annotations from being produced. Both are defensible; ask the room which they would choose on a fixed budget.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[32:30–34:30] Reliability.
The third bullet is a genuine inconsistency in the paper. Table 3 puts all four numbers in a row labelled with the Krippendorff alpha symbol, while the text of section 5.3 says Fleiss' kappa was used for primary emotions. Verify it yourself before presenting — it is a small thing, but it is exactly the kind of detail a seminar should catch, and it affects how you cite the number.
The dark card is the important reading. Compare with IEMOCAP's Fleiss kappa of 0.27 for nine categories with three raters. This corpus has five or more raters, a qualification test, real-time monitoring and a payment scheme designed to sustain attention — and lands in the same band.
The honest conclusion: most of the disagreement in emotion annotation is not carelessness. It is that people genuinely perceive emotion differently.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[34:30–34:40]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[34:40–36:50] Did it work.
The random control is the most persuasive part of the results and takes ten seconds to explain: draw at random from real podcast audio and you get neutral speech. That is the balance problem, measured rather than argued.
Be even-handed about valence. The arousal result is strong, the valence result is partial, and the authors say so. That asymmetry traces all the way back to the retrieval precision curves and forward into what the corpus contains.
The valence-arousal leakage in the bottom-left card is an honest limitation the authors raise themselves and propose as future work: retrieving for a target region of the plane rather than for a single dimension at a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[36:50–38:30] The unbalanced half.
This is where to be genuinely critical, and the paper makes it easy by being candid.
The title of the paper promises an emotionally balanced corpus. What is delivered is a corpus balanced in the two-dimensional attribute space and noticeably unbalanced in the categorical one. Both statements are true; the title only advertises the first.
The dark card is the transferable lesson and is worth writing down. Balance is always relative to a label space. Anyone claiming a balanced dataset should be asked: balanced with respect to what?
Note also the no-agreement segments. Same problem as IEMOCAP — the hardest, most ambiguous samples are the ones that get dropped from categorical evaluation, which quietly makes every reported accuracy optimistic.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[38:30–40:30] Appraisal.
The retrieval-bias point is the most important criticism and it is structural, not fixable by more data. If your selection mechanism cannot recognise a kind of emotional expression, that kind never enters your corpus, and no amount of scaling helps. The multi-model hedge mitigates but does not remove it.
Ask the room how you would even detect this bias. It is genuinely hard: you would need a sample annotated without retrieval to compare against. Later releases of MSP-Podcast do exactly that — one of the test partitions is randomly sampled rather than retrieved, precisely so the bias can be measured.
The filtered-naturalness point matters for anyone planning to deploy. A model trained here has never heard overlapped speech, telephone audio or a noisy room.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[40:30–42:00] Legacy.
Numbers beyond the 2019 paper come from the MSP lab's corpus page and the later MSP-Podcast corpus paper — attribute them rather than presenting them as results of this paper, and check the current release before presenting since it is still growing.
The dark card is the point to end on. Every criticism we levelled at IEMOCAP and CREMA-D in the first seminar — no official splits, no way to check selection bias, evaluation protocols invented per paper — is addressed in the later MSP-Podcast releases.
That is what progress in corpus design actually looks like. Not a better elicitation trick, but better infrastructure around the data.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[42:00–45:00] Discussion.
Five prompts; take two. Question 1 is the strongest and connects to everything in section 3. Question 5 is the natural bridge to the AffectNet talk, because AffectNet has the same problem in a different modality: the web contains the images people chose to publish.
If discussion is slow, put question 4 to the room directly. It divides people, and it is a live research question — the field is currently moving toward modelling annotator distributions rather than collapsing them to a majority.
Close by setting up the second half in one sentence: same escape from the recording studio, same inherited biases, but a hundred times the scale and a very different annotation philosophy.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868680" y="1051560"/>
            <a:ext cx="1046074" cy="178308"/>
          </a:xfrm>
          <a:prstGeom prst="roundRect">
            <a:avLst>
              <a:gd name="adj" fmla="val 10256"/>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35101" y="1313078"/>
            <a:ext cx="713232" cy="178308"/>
          </a:xfrm>
          <a:prstGeom prst="roundRect">
            <a:avLst>
              <a:gd name="adj" fmla="val 10256"/>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201522" y="1574597"/>
            <a:ext cx="380390" cy="178308"/>
          </a:xfrm>
          <a:prstGeom prst="roundRect">
            <a:avLst>
              <a:gd name="adj" fmla="val 10256"/>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1874520"/>
            <a:ext cx="10515600" cy="914400"/>
          </a:xfrm>
          <a:prstGeom prst="rect">
            <a:avLst/>
          </a:prstGeom>
          <a:noFill/>
          <a:ln/>
        </p:spPr>
        <p:txBody>
          <a:bodyPr wrap="square" lIns="0" tIns="0" rIns="0" bIns="0" rtlCol="0" anchor="ctr"/>
          <a:lstStyle/>
          <a:p>
            <a:pPr marL="0" indent="0">
              <a:buNone/>
            </a:pPr>
            <a:r>
              <a:rPr lang="en-US" sz="5000" b="1" kern="0" spc="100" dirty="0">
                <a:solidFill>
                  <a:srgbClr val="FFFFFF"/>
                </a:solidFill>
                <a:latin typeface="Cambria" pitchFamily="34" charset="0"/>
                <a:ea typeface="Cambria" pitchFamily="34" charset="-122"/>
                <a:cs typeface="Cambria" pitchFamily="34" charset="-120"/>
              </a:rPr>
              <a:t>MSP-Podcast</a:t>
            </a:r>
            <a:endParaRPr lang="en-US" sz="5000" dirty="0"/>
          </a:p>
        </p:txBody>
      </p:sp>
      <p:sp>
        <p:nvSpPr>
          <p:cNvPr id="6" name="Text 4"/>
          <p:cNvSpPr txBox="1"/>
          <p:nvPr/>
        </p:nvSpPr>
        <p:spPr>
          <a:xfrm>
            <a:off x="822960" y="2761488"/>
            <a:ext cx="10607040" cy="822960"/>
          </a:xfrm>
          <a:prstGeom prst="rect">
            <a:avLst/>
          </a:prstGeom>
          <a:noFill/>
          <a:ln/>
        </p:spPr>
        <p:txBody>
          <a:bodyPr wrap="square" lIns="0" tIns="0" rIns="0" bIns="0" rtlCol="0" anchor="ctr"/>
          <a:lstStyle/>
          <a:p>
            <a:pPr marL="0" indent="0">
              <a:lnSpc>
                <a:spcPct val="115000"/>
              </a:lnSpc>
              <a:buNone/>
            </a:pPr>
            <a:r>
              <a:rPr lang="en-US" sz="1800" i="1" dirty="0">
                <a:solidFill>
                  <a:srgbClr val="D7C9E4"/>
                </a:solidFill>
                <a:latin typeface="Cambria" pitchFamily="34" charset="0"/>
                <a:ea typeface="Cambria" pitchFamily="34" charset="-122"/>
                <a:cs typeface="Cambria" pitchFamily="34" charset="-120"/>
              </a:rPr>
              <a:t>Building Naturalistic Emotionally Balanced Speech Corpus by Retrieving</a:t>
            </a:r>
            <a:endParaRPr lang="en-US" sz="1800" dirty="0"/>
          </a:p>
          <a:p>
            <a:pPr marL="0" indent="0">
              <a:lnSpc>
                <a:spcPct val="115000"/>
              </a:lnSpc>
              <a:buNone/>
            </a:pPr>
            <a:r>
              <a:rPr lang="en-US" sz="1800" i="1" dirty="0">
                <a:solidFill>
                  <a:srgbClr val="D7C9E4"/>
                </a:solidFill>
                <a:latin typeface="Cambria" pitchFamily="34" charset="0"/>
                <a:ea typeface="Cambria" pitchFamily="34" charset="-122"/>
                <a:cs typeface="Cambria" pitchFamily="34" charset="-120"/>
              </a:rPr>
              <a:t>Emotional Speech From Existing Podcast Recordings</a:t>
            </a:r>
            <a:endParaRPr lang="en-US" sz="1800" dirty="0"/>
          </a:p>
        </p:txBody>
      </p:sp>
      <p:sp>
        <p:nvSpPr>
          <p:cNvPr id="7" name="Text 5"/>
          <p:cNvSpPr txBox="1"/>
          <p:nvPr/>
        </p:nvSpPr>
        <p:spPr>
          <a:xfrm>
            <a:off x="859536" y="3767328"/>
            <a:ext cx="10058400" cy="1005840"/>
          </a:xfrm>
          <a:prstGeom prst="rect">
            <a:avLst/>
          </a:prstGeom>
          <a:noFill/>
          <a:ln/>
        </p:spPr>
        <p:txBody>
          <a:bodyPr wrap="square" lIns="0" tIns="0" rIns="0" bIns="0" rtlCol="0" anchor="ctr"/>
          <a:lstStyle/>
          <a:p>
            <a:pPr marL="0" indent="0">
              <a:lnSpc>
                <a:spcPct val="125000"/>
              </a:lnSpc>
              <a:buNone/>
            </a:pPr>
            <a:r>
              <a:rPr lang="en-US" sz="1350" dirty="0">
                <a:solidFill>
                  <a:srgbClr val="B7A8C6"/>
                </a:solidFill>
                <a:latin typeface="Calibri" pitchFamily="34" charset="0"/>
                <a:ea typeface="Calibri" pitchFamily="34" charset="-122"/>
                <a:cs typeface="Calibri" pitchFamily="34" charset="-120"/>
              </a:rPr>
              <a:t>Reza Lotfian &amp; Carlos Busso</a:t>
            </a:r>
            <a:endParaRPr lang="en-US" sz="1350" dirty="0"/>
          </a:p>
          <a:p>
            <a:pPr marL="0" indent="0">
              <a:lnSpc>
                <a:spcPct val="125000"/>
              </a:lnSpc>
              <a:buNone/>
            </a:pPr>
            <a:r>
              <a:rPr lang="en-US" sz="1350" dirty="0">
                <a:solidFill>
                  <a:srgbClr val="B7A8C6"/>
                </a:solidFill>
                <a:latin typeface="Calibri" pitchFamily="34" charset="0"/>
                <a:ea typeface="Calibri" pitchFamily="34" charset="-122"/>
                <a:cs typeface="Calibri" pitchFamily="34" charset="-120"/>
              </a:rPr>
              <a:t>IEEE Transactions on Affective Computing, 10(4), 471–483 (2019)</a:t>
            </a:r>
            <a:endParaRPr lang="en-US" sz="1350" dirty="0"/>
          </a:p>
          <a:p>
            <a:pPr marL="0" indent="0">
              <a:lnSpc>
                <a:spcPct val="125000"/>
              </a:lnSpc>
              <a:buNone/>
            </a:pPr>
            <a:r>
              <a:rPr lang="en-US" sz="1350" dirty="0">
                <a:solidFill>
                  <a:srgbClr val="B7A8C6"/>
                </a:solidFill>
                <a:latin typeface="Calibri" pitchFamily="34" charset="0"/>
                <a:ea typeface="Calibri" pitchFamily="34" charset="-122"/>
                <a:cs typeface="Calibri" pitchFamily="34" charset="-120"/>
              </a:rPr>
              <a:t>Multimodal Signal Processing Laboratory, The University of Texas at Dallas</a:t>
            </a:r>
            <a:endParaRPr lang="en-US" sz="1350" dirty="0"/>
          </a:p>
        </p:txBody>
      </p:sp>
      <p:sp>
        <p:nvSpPr>
          <p:cNvPr id="8" name="Text 6"/>
          <p:cNvSpPr txBox="1"/>
          <p:nvPr/>
        </p:nvSpPr>
        <p:spPr>
          <a:xfrm>
            <a:off x="859536" y="5166360"/>
            <a:ext cx="8229600" cy="365760"/>
          </a:xfrm>
          <a:prstGeom prst="rect">
            <a:avLst/>
          </a:prstGeom>
          <a:noFill/>
          <a:ln/>
        </p:spPr>
        <p:txBody>
          <a:bodyPr wrap="square" lIns="0" tIns="0" rIns="0" bIns="0" rtlCol="0" anchor="ctr"/>
          <a:lstStyle/>
          <a:p>
            <a:pPr marL="0" indent="0">
              <a:buNone/>
            </a:pPr>
            <a:r>
              <a:rPr lang="en-US" sz="1250" b="1" dirty="0">
                <a:solidFill>
                  <a:srgbClr val="D98C2B"/>
                </a:solidFill>
                <a:latin typeface="Calibri" pitchFamily="34" charset="0"/>
                <a:ea typeface="Calibri" pitchFamily="34" charset="-122"/>
                <a:cs typeface="Calibri" pitchFamily="34" charset="-120"/>
              </a:rPr>
              <a:t>Corpora II: naturalistic and in-the-wild data </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It is a methods paper disguised as a corpus paper</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403</a:t>
            </a:r>
            <a:endParaRPr lang="en-US" sz="36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podcasts downloaded under</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permissive Creative Commons licences</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600" b="1" dirty="0">
                <a:solidFill>
                  <a:srgbClr val="D98C2B"/>
                </a:solidFill>
                <a:latin typeface="Cambria" pitchFamily="34" charset="0"/>
                <a:ea typeface="Cambria" pitchFamily="34" charset="-122"/>
                <a:cs typeface="Cambria" pitchFamily="34" charset="-120"/>
              </a:rPr>
              <a:t>84,125</a:t>
            </a:r>
            <a:endParaRPr lang="en-US" sz="36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candidate speaking turns</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in the unlabelled pool</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2,317</a:t>
            </a:r>
            <a:endParaRPr lang="en-US" sz="36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turns retrieved and annotated</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in this proof of concept</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600" b="1" dirty="0">
                <a:solidFill>
                  <a:srgbClr val="D98C2B"/>
                </a:solidFill>
                <a:latin typeface="Cambria" pitchFamily="34" charset="0"/>
                <a:ea typeface="Cambria" pitchFamily="34" charset="-122"/>
                <a:cs typeface="Cambria" pitchFamily="34" charset="-120"/>
              </a:rPr>
              <a:t>278</a:t>
            </a:r>
            <a:endParaRPr lang="en-US" sz="36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crowd workers, at least five</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ratings per sentence</a:t>
            </a:r>
            <a:endParaRPr lang="en-US" sz="1150" dirty="0"/>
          </a:p>
        </p:txBody>
      </p:sp>
      <p:sp>
        <p:nvSpPr>
          <p:cNvPr id="16" name="Shape 14"/>
          <p:cNvSpPr/>
          <p:nvPr/>
        </p:nvSpPr>
        <p:spPr>
          <a:xfrm>
            <a:off x="566928" y="3218688"/>
            <a:ext cx="11064240" cy="1371600"/>
          </a:xfrm>
          <a:prstGeom prst="roundRect">
            <a:avLst>
              <a:gd name="adj" fmla="val 4000"/>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786384" y="3511296"/>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987552" y="3383280"/>
            <a:ext cx="1042416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The proposal</a:t>
            </a:r>
            <a:endParaRPr lang="en-US" sz="1500" dirty="0"/>
          </a:p>
        </p:txBody>
      </p:sp>
      <p:sp>
        <p:nvSpPr>
          <p:cNvPr id="19" name="Text 17"/>
          <p:cNvSpPr txBox="1"/>
          <p:nvPr/>
        </p:nvSpPr>
        <p:spPr>
          <a:xfrm>
            <a:off x="822960" y="3822192"/>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3A3045"/>
                </a:solidFill>
                <a:latin typeface="Calibri" pitchFamily="34" charset="0"/>
                <a:ea typeface="Calibri" pitchFamily="34" charset="-122"/>
                <a:cs typeface="Calibri" pitchFamily="34" charset="-120"/>
              </a:rPr>
              <a:t>Do not record an emotional corpus. Harvest one. Take spontaneous speech that already exists on audio-sharing sites, filter it automatically into clean single-speaker turns, then use emotion models trained on existing corpora to decide which of those turns are worth paying humans to annotate.</a:t>
            </a:r>
            <a:endParaRPr lang="en-US" sz="1340" dirty="0"/>
          </a:p>
        </p:txBody>
      </p:sp>
      <p:sp>
        <p:nvSpPr>
          <p:cNvPr id="20" name="Shape 18"/>
          <p:cNvSpPr/>
          <p:nvPr/>
        </p:nvSpPr>
        <p:spPr>
          <a:xfrm>
            <a:off x="566928" y="4718304"/>
            <a:ext cx="11064240" cy="1335024"/>
          </a:xfrm>
          <a:prstGeom prst="roundRect">
            <a:avLst>
              <a:gd name="adj" fmla="val 4110"/>
            </a:avLst>
          </a:prstGeom>
          <a:solidFill>
            <a:srgbClr val="2B1B3D"/>
          </a:solidFill>
          <a:ln w="12700">
            <a:solidFill>
              <a:srgbClr val="2B1B3D"/>
            </a:solidFill>
            <a:prstDash val="solid"/>
          </a:ln>
        </p:spPr>
        <p:txBody>
          <a:bodyPr/>
          <a:lstStyle/>
          <a:p>
            <a:endParaRPr lang="en-US"/>
          </a:p>
        </p:txBody>
      </p:sp>
      <p:sp>
        <p:nvSpPr>
          <p:cNvPr id="21" name="Shape 19"/>
          <p:cNvSpPr/>
          <p:nvPr/>
        </p:nvSpPr>
        <p:spPr>
          <a:xfrm>
            <a:off x="786384" y="5010912"/>
            <a:ext cx="109728" cy="109728"/>
          </a:xfrm>
          <a:prstGeom prst="ellipse">
            <a:avLst/>
          </a:prstGeom>
          <a:solidFill>
            <a:srgbClr val="D98C2B"/>
          </a:solidFill>
          <a:ln w="12700">
            <a:solidFill>
              <a:srgbClr val="333333"/>
            </a:solidFill>
            <a:prstDash val="solid"/>
          </a:ln>
        </p:spPr>
        <p:txBody>
          <a:bodyPr/>
          <a:lstStyle/>
          <a:p>
            <a:endParaRPr lang="en-US"/>
          </a:p>
        </p:txBody>
      </p:sp>
      <p:sp>
        <p:nvSpPr>
          <p:cNvPr id="22" name="Text 20"/>
          <p:cNvSpPr txBox="1"/>
          <p:nvPr/>
        </p:nvSpPr>
        <p:spPr>
          <a:xfrm>
            <a:off x="987552" y="488289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numbers above are the wrong way to judge it</a:t>
            </a:r>
            <a:endParaRPr lang="en-US" sz="1500" dirty="0"/>
          </a:p>
        </p:txBody>
      </p:sp>
      <p:sp>
        <p:nvSpPr>
          <p:cNvPr id="23" name="Text 21"/>
          <p:cNvSpPr txBox="1"/>
          <p:nvPr/>
        </p:nvSpPr>
        <p:spPr>
          <a:xfrm>
            <a:off x="822960" y="5321808"/>
            <a:ext cx="10552176" cy="548640"/>
          </a:xfrm>
          <a:prstGeom prst="rect">
            <a:avLst/>
          </a:prstGeom>
          <a:noFill/>
          <a:ln/>
        </p:spPr>
        <p:txBody>
          <a:bodyPr wrap="square" lIns="0" tIns="0" rIns="0" bIns="0" rtlCol="0" anchor="t"/>
          <a:lstStyle/>
          <a:p>
            <a:pPr marL="0" indent="0">
              <a:lnSpc>
                <a:spcPct val="108000"/>
              </a:lnSpc>
              <a:buNone/>
            </a:pPr>
            <a:r>
              <a:rPr lang="en-US" sz="1340" dirty="0">
                <a:solidFill>
                  <a:srgbClr val="D7C9E4"/>
                </a:solidFill>
                <a:latin typeface="Calibri" pitchFamily="34" charset="0"/>
                <a:ea typeface="Calibri" pitchFamily="34" charset="-122"/>
                <a:cs typeface="Calibri" pitchFamily="34" charset="-120"/>
              </a:rPr>
              <a:t>2,317 sentences is small — smaller than IEMOCAP. But the paper is not offering a corpus, it is offering a protocol that scales. By the time it appeared in print the same pipeline had produced over 27 hours; the corpus now stands at 409 hours and is the largest naturalistic emotional speech resource in the field.</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735056" y="5504688"/>
            <a:ext cx="548640"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0863072" y="5705856"/>
            <a:ext cx="292608" cy="137160"/>
          </a:xfrm>
          <a:prstGeom prst="roundRect">
            <a:avLst>
              <a:gd name="adj" fmla="val 13333"/>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8C2B"/>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problem with naturalistic corpora</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7C9E4"/>
                </a:solidFill>
                <a:latin typeface="Calibri" pitchFamily="34" charset="0"/>
                <a:ea typeface="Calibri" pitchFamily="34" charset="-122"/>
                <a:cs typeface="Calibri" pitchFamily="34" charset="-120"/>
              </a:rPr>
              <a:t>Four limitations, and one that nobody had solved</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Four limitations of existing emotional corpora</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The paper's own diagnosis, and the framework for everything that follows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5</a:t>
            </a:r>
            <a:endParaRPr lang="en-US" sz="900" dirty="0"/>
          </a:p>
        </p:txBody>
      </p:sp>
      <p:sp>
        <p:nvSpPr>
          <p:cNvPr id="8" name="Shape 6"/>
          <p:cNvSpPr/>
          <p:nvPr/>
        </p:nvSpPr>
        <p:spPr>
          <a:xfrm>
            <a:off x="566928" y="1572768"/>
            <a:ext cx="2697480" cy="2788920"/>
          </a:xfrm>
          <a:prstGeom prst="roundRect">
            <a:avLst>
              <a:gd name="adj" fmla="val 2034"/>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37360"/>
            <a:ext cx="2057400" cy="365760"/>
          </a:xfrm>
          <a:prstGeom prst="rect">
            <a:avLst/>
          </a:prstGeom>
          <a:noFill/>
          <a:ln/>
        </p:spPr>
        <p:txBody>
          <a:bodyPr wrap="square" lIns="0" tIns="0" rIns="0" bIns="0" rtlCol="0" anchor="ctr"/>
          <a:lstStyle/>
          <a:p>
            <a:pPr marL="0" indent="0">
              <a:buNone/>
            </a:pPr>
            <a:r>
              <a:rPr lang="en-US" sz="1450" b="1" dirty="0">
                <a:solidFill>
                  <a:srgbClr val="1E1230"/>
                </a:solidFill>
                <a:latin typeface="Cambria" pitchFamily="34" charset="0"/>
                <a:ea typeface="Cambria" pitchFamily="34" charset="-122"/>
                <a:cs typeface="Cambria" pitchFamily="34" charset="-120"/>
              </a:rPr>
              <a:t>Lack of naturalness</a:t>
            </a:r>
            <a:endParaRPr lang="en-US" sz="1450" dirty="0"/>
          </a:p>
        </p:txBody>
      </p:sp>
      <p:sp>
        <p:nvSpPr>
          <p:cNvPr id="11" name="Text 9"/>
          <p:cNvSpPr txBox="1"/>
          <p:nvPr/>
        </p:nvSpPr>
        <p:spPr>
          <a:xfrm>
            <a:off x="822960" y="2176272"/>
            <a:ext cx="2185416" cy="2002536"/>
          </a:xfrm>
          <a:prstGeom prst="rect">
            <a:avLst/>
          </a:prstGeom>
          <a:noFill/>
          <a:ln/>
        </p:spPr>
        <p:txBody>
          <a:bodyPr wrap="square" lIns="0" tIns="0" rIns="0" bIns="0" rtlCol="0" anchor="t"/>
          <a:lstStyle/>
          <a:p>
            <a:pPr marL="0" indent="0">
              <a:lnSpc>
                <a:spcPct val="108000"/>
              </a:lnSpc>
              <a:buNone/>
            </a:pPr>
            <a:r>
              <a:rPr lang="en-US" sz="1200" dirty="0">
                <a:solidFill>
                  <a:srgbClr val="3A3045"/>
                </a:solidFill>
                <a:latin typeface="Calibri" pitchFamily="34" charset="0"/>
                <a:ea typeface="Calibri" pitchFamily="34" charset="-122"/>
                <a:cs typeface="Calibri" pitchFamily="34" charset="-120"/>
              </a:rPr>
              <a:t>Actors reading or improvising produce prototypical displays, not the ambiguous behaviour of daily interaction. Recognisers trained on them degrade in deployment.</a:t>
            </a:r>
            <a:endParaRPr lang="en-US" sz="1200" dirty="0"/>
          </a:p>
        </p:txBody>
      </p:sp>
      <p:sp>
        <p:nvSpPr>
          <p:cNvPr id="12" name="Shape 10"/>
          <p:cNvSpPr/>
          <p:nvPr/>
        </p:nvSpPr>
        <p:spPr>
          <a:xfrm>
            <a:off x="3392424" y="1572768"/>
            <a:ext cx="2697480" cy="2788920"/>
          </a:xfrm>
          <a:prstGeom prst="roundRect">
            <a:avLst>
              <a:gd name="adj" fmla="val 2034"/>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3611880" y="1865376"/>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3813048" y="1737360"/>
            <a:ext cx="2057400" cy="365760"/>
          </a:xfrm>
          <a:prstGeom prst="rect">
            <a:avLst/>
          </a:prstGeom>
          <a:noFill/>
          <a:ln/>
        </p:spPr>
        <p:txBody>
          <a:bodyPr wrap="square" lIns="0" tIns="0" rIns="0" bIns="0" rtlCol="0" anchor="ctr"/>
          <a:lstStyle/>
          <a:p>
            <a:pPr marL="0" indent="0">
              <a:buNone/>
            </a:pPr>
            <a:r>
              <a:rPr lang="en-US" sz="1450" b="1" dirty="0">
                <a:solidFill>
                  <a:srgbClr val="1E1230"/>
                </a:solidFill>
                <a:latin typeface="Cambria" pitchFamily="34" charset="0"/>
                <a:ea typeface="Cambria" pitchFamily="34" charset="-122"/>
                <a:cs typeface="Cambria" pitchFamily="34" charset="-120"/>
              </a:rPr>
              <a:t>Unbalanced emotional content</a:t>
            </a:r>
            <a:endParaRPr lang="en-US" sz="1450" dirty="0"/>
          </a:p>
        </p:txBody>
      </p:sp>
      <p:sp>
        <p:nvSpPr>
          <p:cNvPr id="15" name="Text 13"/>
          <p:cNvSpPr txBox="1"/>
          <p:nvPr/>
        </p:nvSpPr>
        <p:spPr>
          <a:xfrm>
            <a:off x="3648456" y="2176272"/>
            <a:ext cx="2185416" cy="2002536"/>
          </a:xfrm>
          <a:prstGeom prst="rect">
            <a:avLst/>
          </a:prstGeom>
          <a:noFill/>
          <a:ln/>
        </p:spPr>
        <p:txBody>
          <a:bodyPr wrap="square" lIns="0" tIns="0" rIns="0" bIns="0" rtlCol="0" anchor="t"/>
          <a:lstStyle/>
          <a:p>
            <a:pPr marL="0" indent="0">
              <a:lnSpc>
                <a:spcPct val="108000"/>
              </a:lnSpc>
              <a:buNone/>
            </a:pPr>
            <a:r>
              <a:rPr lang="en-US" sz="1200" dirty="0">
                <a:solidFill>
                  <a:srgbClr val="3A3045"/>
                </a:solidFill>
                <a:latin typeface="Calibri" pitchFamily="34" charset="0"/>
                <a:ea typeface="Calibri" pitchFamily="34" charset="-122"/>
                <a:cs typeface="Calibri" pitchFamily="34" charset="-120"/>
              </a:rPr>
              <a:t>In spontaneous recordings the emotion distribution is dictated by the recording protocol. Couples arguing gives you negative valence; colloquial chat gives you positive.</a:t>
            </a:r>
            <a:endParaRPr lang="en-US" sz="1200" dirty="0"/>
          </a:p>
        </p:txBody>
      </p:sp>
      <p:sp>
        <p:nvSpPr>
          <p:cNvPr id="16" name="Shape 14"/>
          <p:cNvSpPr/>
          <p:nvPr/>
        </p:nvSpPr>
        <p:spPr>
          <a:xfrm>
            <a:off x="6217920" y="1572768"/>
            <a:ext cx="2697480" cy="2788920"/>
          </a:xfrm>
          <a:prstGeom prst="roundRect">
            <a:avLst>
              <a:gd name="adj" fmla="val 2034"/>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6437376"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6638544" y="1737360"/>
            <a:ext cx="2057400" cy="365760"/>
          </a:xfrm>
          <a:prstGeom prst="rect">
            <a:avLst/>
          </a:prstGeom>
          <a:noFill/>
          <a:ln/>
        </p:spPr>
        <p:txBody>
          <a:bodyPr wrap="square" lIns="0" tIns="0" rIns="0" bIns="0" rtlCol="0" anchor="ctr"/>
          <a:lstStyle/>
          <a:p>
            <a:pPr marL="0" indent="0">
              <a:buNone/>
            </a:pPr>
            <a:r>
              <a:rPr lang="en-US" sz="1450" b="1" dirty="0">
                <a:solidFill>
                  <a:srgbClr val="1E1230"/>
                </a:solidFill>
                <a:latin typeface="Cambria" pitchFamily="34" charset="0"/>
                <a:ea typeface="Cambria" pitchFamily="34" charset="-122"/>
                <a:cs typeface="Cambria" pitchFamily="34" charset="-120"/>
              </a:rPr>
              <a:t>Limited size</a:t>
            </a:r>
            <a:endParaRPr lang="en-US" sz="1450" dirty="0"/>
          </a:p>
        </p:txBody>
      </p:sp>
      <p:sp>
        <p:nvSpPr>
          <p:cNvPr id="19" name="Text 17"/>
          <p:cNvSpPr txBox="1"/>
          <p:nvPr/>
        </p:nvSpPr>
        <p:spPr>
          <a:xfrm>
            <a:off x="6473952" y="2176272"/>
            <a:ext cx="2185416" cy="2002536"/>
          </a:xfrm>
          <a:prstGeom prst="rect">
            <a:avLst/>
          </a:prstGeom>
          <a:noFill/>
          <a:ln/>
        </p:spPr>
        <p:txBody>
          <a:bodyPr wrap="square" lIns="0" tIns="0" rIns="0" bIns="0" rtlCol="0" anchor="t"/>
          <a:lstStyle/>
          <a:p>
            <a:pPr marL="0" indent="0">
              <a:lnSpc>
                <a:spcPct val="108000"/>
              </a:lnSpc>
              <a:buNone/>
            </a:pPr>
            <a:r>
              <a:rPr lang="en-US" sz="1200" dirty="0">
                <a:solidFill>
                  <a:srgbClr val="3A3045"/>
                </a:solidFill>
                <a:latin typeface="Calibri" pitchFamily="34" charset="0"/>
                <a:ea typeface="Calibri" pitchFamily="34" charset="-122"/>
                <a:cs typeface="Calibri" pitchFamily="34" charset="-120"/>
              </a:rPr>
              <a:t>Most emotional corpora run to a few hours. Only IEMOCAP, MSP-IMPROV, TUM-AVIC and FAU-AIBO exceeded nine hours. Deep models need far more.</a:t>
            </a:r>
            <a:endParaRPr lang="en-US" sz="1200" dirty="0"/>
          </a:p>
        </p:txBody>
      </p:sp>
      <p:sp>
        <p:nvSpPr>
          <p:cNvPr id="20" name="Shape 18"/>
          <p:cNvSpPr/>
          <p:nvPr/>
        </p:nvSpPr>
        <p:spPr>
          <a:xfrm>
            <a:off x="9043416" y="1572768"/>
            <a:ext cx="2697480" cy="2788920"/>
          </a:xfrm>
          <a:prstGeom prst="roundRect">
            <a:avLst>
              <a:gd name="adj" fmla="val 2034"/>
            </a:avLst>
          </a:prstGeom>
          <a:solidFill>
            <a:srgbClr val="F4F1F7"/>
          </a:solidFill>
          <a:ln w="12700">
            <a:solidFill>
              <a:srgbClr val="E3DCEA"/>
            </a:solidFill>
            <a:prstDash val="solid"/>
          </a:ln>
        </p:spPr>
        <p:txBody>
          <a:bodyPr/>
          <a:lstStyle/>
          <a:p>
            <a:endParaRPr lang="en-US"/>
          </a:p>
        </p:txBody>
      </p:sp>
      <p:sp>
        <p:nvSpPr>
          <p:cNvPr id="21" name="Shape 19"/>
          <p:cNvSpPr/>
          <p:nvPr/>
        </p:nvSpPr>
        <p:spPr>
          <a:xfrm>
            <a:off x="9262872" y="1865376"/>
            <a:ext cx="109728" cy="109728"/>
          </a:xfrm>
          <a:prstGeom prst="ellipse">
            <a:avLst/>
          </a:prstGeom>
          <a:solidFill>
            <a:srgbClr val="D98C2B"/>
          </a:solidFill>
          <a:ln w="12700">
            <a:solidFill>
              <a:srgbClr val="333333"/>
            </a:solidFill>
            <a:prstDash val="solid"/>
          </a:ln>
        </p:spPr>
        <p:txBody>
          <a:bodyPr/>
          <a:lstStyle/>
          <a:p>
            <a:endParaRPr lang="en-US"/>
          </a:p>
        </p:txBody>
      </p:sp>
      <p:sp>
        <p:nvSpPr>
          <p:cNvPr id="22" name="Text 20"/>
          <p:cNvSpPr txBox="1"/>
          <p:nvPr/>
        </p:nvSpPr>
        <p:spPr>
          <a:xfrm>
            <a:off x="9464040" y="1737360"/>
            <a:ext cx="2057400" cy="365760"/>
          </a:xfrm>
          <a:prstGeom prst="rect">
            <a:avLst/>
          </a:prstGeom>
          <a:noFill/>
          <a:ln/>
        </p:spPr>
        <p:txBody>
          <a:bodyPr wrap="square" lIns="0" tIns="0" rIns="0" bIns="0" rtlCol="0" anchor="ctr"/>
          <a:lstStyle/>
          <a:p>
            <a:pPr marL="0" indent="0">
              <a:buNone/>
            </a:pPr>
            <a:r>
              <a:rPr lang="en-US" sz="1450" b="1" dirty="0">
                <a:solidFill>
                  <a:srgbClr val="1E1230"/>
                </a:solidFill>
                <a:latin typeface="Cambria" pitchFamily="34" charset="0"/>
                <a:ea typeface="Cambria" pitchFamily="34" charset="-122"/>
                <a:cs typeface="Cambria" pitchFamily="34" charset="-120"/>
              </a:rPr>
              <a:t>Limited speakers</a:t>
            </a:r>
            <a:endParaRPr lang="en-US" sz="1450" dirty="0"/>
          </a:p>
        </p:txBody>
      </p:sp>
      <p:sp>
        <p:nvSpPr>
          <p:cNvPr id="23" name="Text 21"/>
          <p:cNvSpPr txBox="1"/>
          <p:nvPr/>
        </p:nvSpPr>
        <p:spPr>
          <a:xfrm>
            <a:off x="9299448" y="2176272"/>
            <a:ext cx="2185416" cy="2002536"/>
          </a:xfrm>
          <a:prstGeom prst="rect">
            <a:avLst/>
          </a:prstGeom>
          <a:noFill/>
          <a:ln/>
        </p:spPr>
        <p:txBody>
          <a:bodyPr wrap="square" lIns="0" tIns="0" rIns="0" bIns="0" rtlCol="0" anchor="t"/>
          <a:lstStyle/>
          <a:p>
            <a:pPr marL="0" indent="0">
              <a:lnSpc>
                <a:spcPct val="108000"/>
              </a:lnSpc>
              <a:buNone/>
            </a:pPr>
            <a:r>
              <a:rPr lang="en-US" sz="1200" dirty="0">
                <a:solidFill>
                  <a:srgbClr val="3A3045"/>
                </a:solidFill>
                <a:latin typeface="Calibri" pitchFamily="34" charset="0"/>
                <a:ea typeface="Calibri" pitchFamily="34" charset="-122"/>
                <a:cs typeface="Calibri" pitchFamily="34" charset="-120"/>
              </a:rPr>
              <a:t>Most corpora have fewer than twenty speakers. Only CREMA-D, FAU-AIBO and Chen Bimodal exceed fifty — and none has enough audio per speaker for speaker-verification work.</a:t>
            </a:r>
            <a:endParaRPr lang="en-US" sz="1200" dirty="0"/>
          </a:p>
        </p:txBody>
      </p:sp>
      <p:sp>
        <p:nvSpPr>
          <p:cNvPr id="24" name="Shape 22"/>
          <p:cNvSpPr/>
          <p:nvPr/>
        </p:nvSpPr>
        <p:spPr>
          <a:xfrm>
            <a:off x="566928" y="4608576"/>
            <a:ext cx="11064240" cy="1444752"/>
          </a:xfrm>
          <a:prstGeom prst="roundRect">
            <a:avLst>
              <a:gd name="adj" fmla="val 3797"/>
            </a:avLst>
          </a:prstGeom>
          <a:solidFill>
            <a:srgbClr val="2B1B3D"/>
          </a:solidFill>
          <a:ln w="12700">
            <a:solidFill>
              <a:srgbClr val="2B1B3D"/>
            </a:solidFill>
            <a:prstDash val="solid"/>
          </a:ln>
        </p:spPr>
        <p:txBody>
          <a:bodyPr/>
          <a:lstStyle/>
          <a:p>
            <a:endParaRPr lang="en-US"/>
          </a:p>
        </p:txBody>
      </p:sp>
      <p:sp>
        <p:nvSpPr>
          <p:cNvPr id="25" name="Shape 23"/>
          <p:cNvSpPr/>
          <p:nvPr/>
        </p:nvSpPr>
        <p:spPr>
          <a:xfrm>
            <a:off x="786384" y="4901184"/>
            <a:ext cx="109728" cy="109728"/>
          </a:xfrm>
          <a:prstGeom prst="ellipse">
            <a:avLst/>
          </a:prstGeom>
          <a:solidFill>
            <a:srgbClr val="D98C2B"/>
          </a:solidFill>
          <a:ln w="12700">
            <a:solidFill>
              <a:srgbClr val="333333"/>
            </a:solidFill>
            <a:prstDash val="solid"/>
          </a:ln>
        </p:spPr>
        <p:txBody>
          <a:bodyPr/>
          <a:lstStyle/>
          <a:p>
            <a:endParaRPr lang="en-US"/>
          </a:p>
        </p:txBody>
      </p:sp>
      <p:sp>
        <p:nvSpPr>
          <p:cNvPr id="26" name="Text 24"/>
          <p:cNvSpPr txBox="1"/>
          <p:nvPr/>
        </p:nvSpPr>
        <p:spPr>
          <a:xfrm>
            <a:off x="987552" y="477316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second one is the interesting problem</a:t>
            </a:r>
            <a:endParaRPr lang="en-US" sz="1500" dirty="0"/>
          </a:p>
        </p:txBody>
      </p:sp>
      <p:sp>
        <p:nvSpPr>
          <p:cNvPr id="27" name="Text 25"/>
          <p:cNvSpPr txBox="1"/>
          <p:nvPr/>
        </p:nvSpPr>
        <p:spPr>
          <a:xfrm>
            <a:off x="822960" y="5212080"/>
            <a:ext cx="10552176" cy="658368"/>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Size and speaker count are engineering problems — collect more. Naturalness is a known tradeoff. But balance is genuinely hard: you cannot ask spontaneous speech to be emotionally diverse, because the very thing that makes it spontaneous is that nobody is controlling what happens.</a:t>
            </a:r>
            <a:endParaRPr lang="en-US" sz="1300" dirty="0"/>
          </a:p>
          <a:p>
            <a:pPr marL="0" indent="0">
              <a:lnSpc>
                <a:spcPct val="108000"/>
              </a:lnSpc>
              <a:buNone/>
            </a:pPr>
            <a:endParaRPr lang="en-US" sz="1300" dirty="0"/>
          </a:p>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This paper's whole contribution is a way to get balance without giving up spontaneity.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The landscape in 2017</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Duration of the corpora the paper surveys, in hours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6</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3A3045"/>
                </a:solidFill>
                <a:latin typeface="Calibri" pitchFamily="34" charset="0"/>
                <a:ea typeface="Calibri" pitchFamily="34" charset="-122"/>
                <a:cs typeface="Calibri" pitchFamily="34" charset="-120"/>
              </a:rPr>
              <a:t>Nothing in the field exceeded thirteen hours. Compare Librispeech, where 960 labelled hours was the standard supervised setup.</a:t>
            </a:r>
            <a:endParaRPr lang="en-US" sz="1240" dirty="0"/>
          </a:p>
          <a:p>
            <a:pPr marL="342900" indent="-342900">
              <a:spcAft>
                <a:spcPts val="800"/>
              </a:spcAft>
              <a:buSzPct val="100000"/>
              <a:buChar char="●"/>
            </a:pPr>
            <a:r>
              <a:rPr lang="en-US" sz="1240" dirty="0">
                <a:solidFill>
                  <a:srgbClr val="3A3045"/>
                </a:solidFill>
                <a:latin typeface="Calibri" pitchFamily="34" charset="0"/>
                <a:ea typeface="Calibri" pitchFamily="34" charset="-122"/>
                <a:cs typeface="Calibri" pitchFamily="34" charset="-120"/>
              </a:rPr>
              <a:t>Speaker counts are similarly small: 10 for IEMOCAP, 12 for MSP-IMPROV, 20 for SEMAINE, 46 for RECOLA.</a:t>
            </a:r>
            <a:endParaRPr lang="en-US" sz="1240" dirty="0"/>
          </a:p>
          <a:p>
            <a:pPr marL="342900" indent="-342900">
              <a:spcAft>
                <a:spcPts val="800"/>
              </a:spcAft>
              <a:buSzPct val="100000"/>
              <a:buChar char="●"/>
            </a:pPr>
            <a:r>
              <a:rPr lang="en-US" sz="1240" dirty="0">
                <a:solidFill>
                  <a:srgbClr val="3A3045"/>
                </a:solidFill>
                <a:latin typeface="Calibri" pitchFamily="34" charset="0"/>
                <a:ea typeface="Calibri" pitchFamily="34" charset="-122"/>
                <a:cs typeface="Calibri" pitchFamily="34" charset="-120"/>
              </a:rPr>
              <a:t>The exception is CREMA-D, with 91 speakers — but only 7,442 short clips, and acted.</a:t>
            </a:r>
            <a:endParaRPr lang="en-US" sz="1240" dirty="0"/>
          </a:p>
          <a:p>
            <a:pPr marL="342900" indent="-342900">
              <a:spcAft>
                <a:spcPts val="800"/>
              </a:spcAft>
              <a:buSzPct val="100000"/>
              <a:buChar char="●"/>
            </a:pPr>
            <a:r>
              <a:rPr lang="en-US" sz="1240" dirty="0">
                <a:solidFill>
                  <a:srgbClr val="3A3045"/>
                </a:solidFill>
                <a:latin typeface="Calibri" pitchFamily="34" charset="0"/>
                <a:ea typeface="Calibri" pitchFamily="34" charset="-122"/>
                <a:cs typeface="Calibri" pitchFamily="34" charset="-120"/>
              </a:rPr>
              <a:t>So the field had a choice between naturalistic and small, or acted and slightly less small. Neither supports the deep models arriving at the time.</a:t>
            </a:r>
            <a:endParaRPr lang="en-US" sz="1240" dirty="0"/>
          </a:p>
        </p:txBody>
      </p:sp>
      <p:sp>
        <p:nvSpPr>
          <p:cNvPr id="10" name="Shape 7"/>
          <p:cNvSpPr/>
          <p:nvPr/>
        </p:nvSpPr>
        <p:spPr>
          <a:xfrm>
            <a:off x="566928" y="5266944"/>
            <a:ext cx="11064240" cy="786384"/>
          </a:xfrm>
          <a:prstGeom prst="roundRect">
            <a:avLst>
              <a:gd name="adj" fmla="val 6977"/>
            </a:avLst>
          </a:prstGeom>
          <a:solidFill>
            <a:srgbClr val="2B1B3D"/>
          </a:solidFill>
          <a:ln w="12700">
            <a:solidFill>
              <a:srgbClr val="2B1B3D"/>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The paper is explicit that this is the bottleneck: the community cannot use powerful learning algorithms because it does not have the data to train them 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An uncomfortable finding in the survey</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The most emotionally balanced corpora are the acted ones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7</a:t>
            </a:r>
            <a:endParaRPr lang="en-US" sz="900" dirty="0"/>
          </a:p>
        </p:txBody>
      </p:sp>
      <p:sp>
        <p:nvSpPr>
          <p:cNvPr id="8" name="Shape 6"/>
          <p:cNvSpPr/>
          <p:nvPr/>
        </p:nvSpPr>
        <p:spPr>
          <a:xfrm>
            <a:off x="566928" y="1600200"/>
            <a:ext cx="5440680" cy="2194560"/>
          </a:xfrm>
          <a:prstGeom prst="roundRect">
            <a:avLst>
              <a:gd name="adj" fmla="val 2500"/>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How the paper measures balance</a:t>
            </a:r>
            <a:endParaRPr lang="en-US" sz="1500" dirty="0"/>
          </a:p>
        </p:txBody>
      </p:sp>
      <p:sp>
        <p:nvSpPr>
          <p:cNvPr id="11" name="Text 9"/>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Plot every speaking turn as a point in the arousal–valence plane, then colour each region by the average distance to its twenty nearest neighbours. Dark regions are densely populated; light regions are gaps.</a:t>
            </a:r>
            <a:endParaRPr lang="en-US" sz="1280" dirty="0"/>
          </a:p>
          <a:p>
            <a:pPr marL="0" indent="0">
              <a:lnSpc>
                <a:spcPct val="108000"/>
              </a:lnSpc>
              <a:buNone/>
            </a:pPr>
            <a:endParaRPr lang="en-US" sz="1280" dirty="0"/>
          </a:p>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A thousand turns are sampled from each corpus so the comparison is size-independent.</a:t>
            </a:r>
            <a:endParaRPr lang="en-US" sz="1280" dirty="0"/>
          </a:p>
        </p:txBody>
      </p:sp>
      <p:sp>
        <p:nvSpPr>
          <p:cNvPr id="12" name="Shape 10"/>
          <p:cNvSpPr/>
          <p:nvPr/>
        </p:nvSpPr>
        <p:spPr>
          <a:xfrm>
            <a:off x="6190488" y="1600200"/>
            <a:ext cx="5440680" cy="2194560"/>
          </a:xfrm>
          <a:prstGeom prst="roundRect">
            <a:avLst>
              <a:gd name="adj" fmla="val 2500"/>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What the maps show</a:t>
            </a:r>
            <a:endParaRPr lang="en-US" sz="1500" dirty="0"/>
          </a:p>
        </p:txBody>
      </p:sp>
      <p:sp>
        <p:nvSpPr>
          <p:cNvPr id="15" name="Text 13"/>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IEMOCAP and MSP-IMPROV cover the space most evenly — both acted, both with scenarios chosen to elicit target emotions.</a:t>
            </a:r>
            <a:endParaRPr lang="en-US" sz="1280" dirty="0"/>
          </a:p>
          <a:p>
            <a:pPr marL="0" indent="0">
              <a:lnSpc>
                <a:spcPct val="108000"/>
              </a:lnSpc>
              <a:buNone/>
            </a:pPr>
            <a:endParaRPr lang="en-US" sz="1280" dirty="0"/>
          </a:p>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SEMAINE has almost no negative valence. RECOLA is mostly neutral and mildly positive. VAM is concentrated in negative valence, because it comes from a conflict-driven talk show.</a:t>
            </a:r>
            <a:endParaRPr lang="en-US" sz="1280" dirty="0"/>
          </a:p>
        </p:txBody>
      </p:sp>
      <p:sp>
        <p:nvSpPr>
          <p:cNvPr id="16" name="Shape 14"/>
          <p:cNvSpPr/>
          <p:nvPr/>
        </p:nvSpPr>
        <p:spPr>
          <a:xfrm>
            <a:off x="566928" y="3950208"/>
            <a:ext cx="11064240" cy="2103120"/>
          </a:xfrm>
          <a:prstGeom prst="roundRect">
            <a:avLst>
              <a:gd name="adj" fmla="val 2609"/>
            </a:avLst>
          </a:prstGeom>
          <a:solidFill>
            <a:srgbClr val="2B1B3D"/>
          </a:solidFill>
          <a:ln w="12700">
            <a:solidFill>
              <a:srgbClr val="2B1B3D"/>
            </a:solidFill>
            <a:prstDash val="solid"/>
          </a:ln>
        </p:spPr>
        <p:txBody>
          <a:bodyPr/>
          <a:lstStyle/>
          <a:p>
            <a:endParaRPr lang="en-US"/>
          </a:p>
        </p:txBody>
      </p:sp>
      <p:sp>
        <p:nvSpPr>
          <p:cNvPr id="17" name="Shape 15"/>
          <p:cNvSpPr/>
          <p:nvPr/>
        </p:nvSpPr>
        <p:spPr>
          <a:xfrm>
            <a:off x="786384" y="4242816"/>
            <a:ext cx="109728" cy="109728"/>
          </a:xfrm>
          <a:prstGeom prst="ellipse">
            <a:avLst/>
          </a:prstGeom>
          <a:solidFill>
            <a:srgbClr val="D98C2B"/>
          </a:solidFill>
          <a:ln w="12700">
            <a:solidFill>
              <a:srgbClr val="333333"/>
            </a:solidFill>
            <a:prstDash val="solid"/>
          </a:ln>
        </p:spPr>
        <p:txBody>
          <a:bodyPr/>
          <a:lstStyle/>
          <a:p>
            <a:endParaRPr lang="en-US"/>
          </a:p>
        </p:txBody>
      </p:sp>
      <p:sp>
        <p:nvSpPr>
          <p:cNvPr id="18" name="Text 16"/>
          <p:cNvSpPr txBox="1"/>
          <p:nvPr/>
        </p:nvSpPr>
        <p:spPr>
          <a:xfrm>
            <a:off x="987552" y="411480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bind this creates</a:t>
            </a:r>
            <a:endParaRPr lang="en-US" sz="1500" dirty="0"/>
          </a:p>
        </p:txBody>
      </p:sp>
      <p:sp>
        <p:nvSpPr>
          <p:cNvPr id="19" name="Text 17"/>
          <p:cNvSpPr txBox="1"/>
          <p:nvPr/>
        </p:nvSpPr>
        <p:spPr>
          <a:xfrm>
            <a:off x="822960" y="4553712"/>
            <a:ext cx="10552176" cy="1316736"/>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Acting is what buys you balance. The scenarios in IEMOCAP exist precisely so that anger, sadness, happiness and frustration all appear in reasonable quantity. Remove the actors and you lose the control that produced the coverage.</a:t>
            </a:r>
            <a:endParaRPr lang="en-US" sz="1300" dirty="0"/>
          </a:p>
          <a:p>
            <a:pPr marL="0" indent="0">
              <a:lnSpc>
                <a:spcPct val="108000"/>
              </a:lnSpc>
              <a:buNone/>
            </a:pPr>
            <a:endParaRPr lang="en-US" sz="1300" dirty="0"/>
          </a:p>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So the field faced a genuine dilemma, not a tradeoff to be tuned: naturalness and balance appeared to be obtainable only at each other's expense. The retrieval idea in section 3 is an attempt to break that.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735056" y="5504688"/>
            <a:ext cx="548640"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0863072" y="5705856"/>
            <a:ext cx="292608" cy="137160"/>
          </a:xfrm>
          <a:prstGeom prst="roundRect">
            <a:avLst>
              <a:gd name="adj" fmla="val 13333"/>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8C2B"/>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From podcast to candidate turn</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7C9E4"/>
                </a:solidFill>
                <a:latin typeface="Calibri" pitchFamily="34" charset="0"/>
                <a:ea typeface="Calibri" pitchFamily="34" charset="-122"/>
                <a:cs typeface="Calibri" pitchFamily="34" charset="-120"/>
              </a:rPr>
              <a:t>An almost entirely automatic pipeline</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Why podcasts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Four properties that make them unusually well suited</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9</a:t>
            </a:r>
            <a:endParaRPr lang="en-US" sz="900" dirty="0"/>
          </a:p>
        </p:txBody>
      </p:sp>
      <p:sp>
        <p:nvSpPr>
          <p:cNvPr id="8" name="Shape 6"/>
          <p:cNvSpPr/>
          <p:nvPr/>
        </p:nvSpPr>
        <p:spPr>
          <a:xfrm>
            <a:off x="566928" y="1536192"/>
            <a:ext cx="11064240" cy="914400"/>
          </a:xfrm>
          <a:prstGeom prst="roundRect">
            <a:avLst>
              <a:gd name="adj" fmla="val 3000"/>
            </a:avLst>
          </a:prstGeom>
          <a:solidFill>
            <a:srgbClr val="F4F1F7"/>
          </a:solidFill>
          <a:ln w="12700">
            <a:solidFill>
              <a:srgbClr val="EAE4EF"/>
            </a:solidFill>
            <a:prstDash val="solid"/>
          </a:ln>
        </p:spPr>
        <p:txBody>
          <a:bodyPr/>
          <a:lstStyle/>
          <a:p>
            <a:endParaRPr lang="en-US"/>
          </a:p>
        </p:txBody>
      </p:sp>
      <p:sp>
        <p:nvSpPr>
          <p:cNvPr id="9" name="Shape 7"/>
          <p:cNvSpPr/>
          <p:nvPr/>
        </p:nvSpPr>
        <p:spPr>
          <a:xfrm>
            <a:off x="786384" y="1933956"/>
            <a:ext cx="118872" cy="118872"/>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1024128" y="1627632"/>
            <a:ext cx="2651760" cy="731520"/>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Redistributable</a:t>
            </a:r>
            <a:endParaRPr lang="en-US" sz="1350" dirty="0"/>
          </a:p>
        </p:txBody>
      </p:sp>
      <p:sp>
        <p:nvSpPr>
          <p:cNvPr id="11" name="Text 9"/>
          <p:cNvSpPr txBox="1"/>
          <p:nvPr/>
        </p:nvSpPr>
        <p:spPr>
          <a:xfrm>
            <a:off x="3858768" y="1609344"/>
            <a:ext cx="7589520" cy="768096"/>
          </a:xfrm>
          <a:prstGeom prst="rect">
            <a:avLst/>
          </a:prstGeom>
          <a:noFill/>
          <a:ln/>
        </p:spPr>
        <p:txBody>
          <a:bodyPr wrap="square" lIns="0" tIns="0" rIns="0" bIns="0" rtlCol="0" anchor="ctr"/>
          <a:lstStyle/>
          <a:p>
            <a:pPr marL="0" indent="0">
              <a:buNone/>
            </a:pPr>
            <a:r>
              <a:rPr lang="en-US" sz="1240" dirty="0">
                <a:solidFill>
                  <a:srgbClr val="3A3045"/>
                </a:solidFill>
                <a:latin typeface="Calibri" pitchFamily="34" charset="0"/>
                <a:ea typeface="Calibri" pitchFamily="34" charset="-122"/>
                <a:cs typeface="Calibri" pitchFamily="34" charset="-120"/>
              </a:rPr>
              <a:t>Only episodes under CC-BY or CC-BY-SA are downloaded — the least restrictive clauses, which allow the team to modify, redistribute and even commercialise the resulting corpus. Almost no other naturalistic source clears this bar.</a:t>
            </a:r>
            <a:endParaRPr lang="en-US" sz="1240" dirty="0"/>
          </a:p>
        </p:txBody>
      </p:sp>
      <p:sp>
        <p:nvSpPr>
          <p:cNvPr id="12" name="Shape 10"/>
          <p:cNvSpPr/>
          <p:nvPr/>
        </p:nvSpPr>
        <p:spPr>
          <a:xfrm>
            <a:off x="566928" y="2505456"/>
            <a:ext cx="11064240" cy="914400"/>
          </a:xfrm>
          <a:prstGeom prst="roundRect">
            <a:avLst>
              <a:gd name="adj" fmla="val 3000"/>
            </a:avLst>
          </a:prstGeom>
          <a:solidFill>
            <a:srgbClr val="FFFFFF"/>
          </a:solidFill>
          <a:ln w="12700">
            <a:solidFill>
              <a:srgbClr val="EAE4EF"/>
            </a:solidFill>
            <a:prstDash val="solid"/>
          </a:ln>
        </p:spPr>
        <p:txBody>
          <a:bodyPr/>
          <a:lstStyle/>
          <a:p>
            <a:endParaRPr lang="en-US"/>
          </a:p>
        </p:txBody>
      </p:sp>
      <p:sp>
        <p:nvSpPr>
          <p:cNvPr id="13" name="Shape 11"/>
          <p:cNvSpPr/>
          <p:nvPr/>
        </p:nvSpPr>
        <p:spPr>
          <a:xfrm>
            <a:off x="786384" y="2903220"/>
            <a:ext cx="118872" cy="118872"/>
          </a:xfrm>
          <a:prstGeom prst="ellipse">
            <a:avLst/>
          </a:prstGeom>
          <a:solidFill>
            <a:srgbClr val="6A4A8C"/>
          </a:solidFill>
          <a:ln w="12700">
            <a:solidFill>
              <a:srgbClr val="333333"/>
            </a:solidFill>
            <a:prstDash val="solid"/>
          </a:ln>
        </p:spPr>
        <p:txBody>
          <a:bodyPr/>
          <a:lstStyle/>
          <a:p>
            <a:endParaRPr lang="en-US"/>
          </a:p>
        </p:txBody>
      </p:sp>
      <p:sp>
        <p:nvSpPr>
          <p:cNvPr id="14" name="Text 12"/>
          <p:cNvSpPr txBox="1"/>
          <p:nvPr/>
        </p:nvSpPr>
        <p:spPr>
          <a:xfrm>
            <a:off x="1024128" y="2596896"/>
            <a:ext cx="2651760" cy="731520"/>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Music-free by construction</a:t>
            </a:r>
            <a:endParaRPr lang="en-US" sz="1350" dirty="0"/>
          </a:p>
        </p:txBody>
      </p:sp>
      <p:sp>
        <p:nvSpPr>
          <p:cNvPr id="15" name="Text 13"/>
          <p:cNvSpPr txBox="1"/>
          <p:nvPr/>
        </p:nvSpPr>
        <p:spPr>
          <a:xfrm>
            <a:off x="3858768" y="2578608"/>
            <a:ext cx="7589520" cy="768096"/>
          </a:xfrm>
          <a:prstGeom prst="rect">
            <a:avLst/>
          </a:prstGeom>
          <a:noFill/>
          <a:ln/>
        </p:spPr>
        <p:txBody>
          <a:bodyPr wrap="square" lIns="0" tIns="0" rIns="0" bIns="0" rtlCol="0" anchor="ctr"/>
          <a:lstStyle/>
          <a:p>
            <a:pPr marL="0" indent="0">
              <a:buNone/>
            </a:pPr>
            <a:r>
              <a:rPr lang="en-US" sz="1240" dirty="0">
                <a:solidFill>
                  <a:srgbClr val="3A3045"/>
                </a:solidFill>
                <a:latin typeface="Calibri" pitchFamily="34" charset="0"/>
                <a:ea typeface="Calibri" pitchFamily="34" charset="-122"/>
                <a:cs typeface="Calibri" pitchFamily="34" charset="-120"/>
              </a:rPr>
              <a:t>Producers releasing under these licences generally cannot include broadcast music, because they do not hold the distribution rights. The licence filter is doing acoustic work as a side effect.</a:t>
            </a:r>
            <a:endParaRPr lang="en-US" sz="1240" dirty="0"/>
          </a:p>
        </p:txBody>
      </p:sp>
      <p:sp>
        <p:nvSpPr>
          <p:cNvPr id="16" name="Shape 14"/>
          <p:cNvSpPr/>
          <p:nvPr/>
        </p:nvSpPr>
        <p:spPr>
          <a:xfrm>
            <a:off x="566928" y="3474720"/>
            <a:ext cx="11064240" cy="914400"/>
          </a:xfrm>
          <a:prstGeom prst="roundRect">
            <a:avLst>
              <a:gd name="adj" fmla="val 3000"/>
            </a:avLst>
          </a:prstGeom>
          <a:solidFill>
            <a:srgbClr val="F4F1F7"/>
          </a:solidFill>
          <a:ln w="12700">
            <a:solidFill>
              <a:srgbClr val="EAE4EF"/>
            </a:solidFill>
            <a:prstDash val="solid"/>
          </a:ln>
        </p:spPr>
        <p:txBody>
          <a:bodyPr/>
          <a:lstStyle/>
          <a:p>
            <a:endParaRPr lang="en-US"/>
          </a:p>
        </p:txBody>
      </p:sp>
      <p:sp>
        <p:nvSpPr>
          <p:cNvPr id="17" name="Shape 15"/>
          <p:cNvSpPr/>
          <p:nvPr/>
        </p:nvSpPr>
        <p:spPr>
          <a:xfrm>
            <a:off x="786384" y="3872484"/>
            <a:ext cx="118872" cy="118872"/>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1024128" y="3566160"/>
            <a:ext cx="2651760" cy="731520"/>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Topically diverse</a:t>
            </a:r>
            <a:endParaRPr lang="en-US" sz="1350" dirty="0"/>
          </a:p>
        </p:txBody>
      </p:sp>
      <p:sp>
        <p:nvSpPr>
          <p:cNvPr id="19" name="Text 17"/>
          <p:cNvSpPr txBox="1"/>
          <p:nvPr/>
        </p:nvSpPr>
        <p:spPr>
          <a:xfrm>
            <a:off x="3858768" y="3547872"/>
            <a:ext cx="7589520" cy="768096"/>
          </a:xfrm>
          <a:prstGeom prst="rect">
            <a:avLst/>
          </a:prstGeom>
          <a:noFill/>
          <a:ln/>
        </p:spPr>
        <p:txBody>
          <a:bodyPr wrap="square" lIns="0" tIns="0" rIns="0" bIns="0" rtlCol="0" anchor="ctr"/>
          <a:lstStyle/>
          <a:p>
            <a:pPr marL="0" indent="0">
              <a:buNone/>
            </a:pPr>
            <a:r>
              <a:rPr lang="en-US" sz="1240" dirty="0">
                <a:solidFill>
                  <a:srgbClr val="3A3045"/>
                </a:solidFill>
                <a:latin typeface="Calibri" pitchFamily="34" charset="0"/>
                <a:ea typeface="Calibri" pitchFamily="34" charset="-122"/>
                <a:cs typeface="Calibri" pitchFamily="34" charset="-120"/>
              </a:rPr>
              <a:t>Episodes are chosen manually across science, technology, politics, economics, business, arts, culture, medicine, lifestyle and sport — so the emotional range is not fixed by a single recording scenario.</a:t>
            </a:r>
            <a:endParaRPr lang="en-US" sz="1240" dirty="0"/>
          </a:p>
        </p:txBody>
      </p:sp>
      <p:sp>
        <p:nvSpPr>
          <p:cNvPr id="20" name="Shape 18"/>
          <p:cNvSpPr/>
          <p:nvPr/>
        </p:nvSpPr>
        <p:spPr>
          <a:xfrm>
            <a:off x="566928" y="4443984"/>
            <a:ext cx="11064240" cy="914400"/>
          </a:xfrm>
          <a:prstGeom prst="roundRect">
            <a:avLst>
              <a:gd name="adj" fmla="val 3000"/>
            </a:avLst>
          </a:prstGeom>
          <a:solidFill>
            <a:srgbClr val="FFFFFF"/>
          </a:solidFill>
          <a:ln w="12700">
            <a:solidFill>
              <a:srgbClr val="EAE4EF"/>
            </a:solidFill>
            <a:prstDash val="solid"/>
          </a:ln>
        </p:spPr>
        <p:txBody>
          <a:bodyPr/>
          <a:lstStyle/>
          <a:p>
            <a:endParaRPr lang="en-US"/>
          </a:p>
        </p:txBody>
      </p:sp>
      <p:sp>
        <p:nvSpPr>
          <p:cNvPr id="21" name="Shape 19"/>
          <p:cNvSpPr/>
          <p:nvPr/>
        </p:nvSpPr>
        <p:spPr>
          <a:xfrm>
            <a:off x="786384" y="4841748"/>
            <a:ext cx="118872" cy="118872"/>
          </a:xfrm>
          <a:prstGeom prst="ellipse">
            <a:avLst/>
          </a:prstGeom>
          <a:solidFill>
            <a:srgbClr val="6A4A8C"/>
          </a:solidFill>
          <a:ln w="12700">
            <a:solidFill>
              <a:srgbClr val="333333"/>
            </a:solidFill>
            <a:prstDash val="solid"/>
          </a:ln>
        </p:spPr>
        <p:txBody>
          <a:bodyPr/>
          <a:lstStyle/>
          <a:p>
            <a:endParaRPr lang="en-US"/>
          </a:p>
        </p:txBody>
      </p:sp>
      <p:sp>
        <p:nvSpPr>
          <p:cNvPr id="22" name="Text 20"/>
          <p:cNvSpPr txBox="1"/>
          <p:nvPr/>
        </p:nvSpPr>
        <p:spPr>
          <a:xfrm>
            <a:off x="1024128" y="4535424"/>
            <a:ext cx="2651760" cy="731520"/>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Unscripted and unprofessional</a:t>
            </a:r>
            <a:endParaRPr lang="en-US" sz="1350" dirty="0"/>
          </a:p>
        </p:txBody>
      </p:sp>
      <p:sp>
        <p:nvSpPr>
          <p:cNvPr id="23" name="Text 21"/>
          <p:cNvSpPr txBox="1"/>
          <p:nvPr/>
        </p:nvSpPr>
        <p:spPr>
          <a:xfrm>
            <a:off x="3858768" y="4517136"/>
            <a:ext cx="7589520" cy="768096"/>
          </a:xfrm>
          <a:prstGeom prst="rect">
            <a:avLst/>
          </a:prstGeom>
          <a:noFill/>
          <a:ln/>
        </p:spPr>
        <p:txBody>
          <a:bodyPr wrap="square" lIns="0" tIns="0" rIns="0" bIns="0" rtlCol="0" anchor="ctr"/>
          <a:lstStyle/>
          <a:p>
            <a:pPr marL="0" indent="0">
              <a:buNone/>
            </a:pPr>
            <a:r>
              <a:rPr lang="en-US" sz="1240" dirty="0">
                <a:solidFill>
                  <a:srgbClr val="3A3045"/>
                </a:solidFill>
                <a:latin typeface="Calibri" pitchFamily="34" charset="0"/>
                <a:ea typeface="Calibri" pitchFamily="34" charset="-122"/>
                <a:cs typeface="Calibri" pitchFamily="34" charset="-120"/>
              </a:rPr>
              <a:t>Many podcasts have no fixed transcript and no professional host. The paper argues that ordinary people recording conversations produce more lifelike speech across a broader emotional range than radio presenters would.</a:t>
            </a:r>
            <a:endParaRPr lang="en-US" sz="1240" dirty="0"/>
          </a:p>
        </p:txBody>
      </p:sp>
      <p:sp>
        <p:nvSpPr>
          <p:cNvPr id="24" name="Shape 22"/>
          <p:cNvSpPr/>
          <p:nvPr/>
        </p:nvSpPr>
        <p:spPr>
          <a:xfrm>
            <a:off x="566928" y="5468112"/>
            <a:ext cx="11064240" cy="585216"/>
          </a:xfrm>
          <a:prstGeom prst="roundRect">
            <a:avLst>
              <a:gd name="adj" fmla="val 9375"/>
            </a:avLst>
          </a:prstGeom>
          <a:solidFill>
            <a:srgbClr val="2B1B3D"/>
          </a:solidFill>
          <a:ln w="12700">
            <a:solidFill>
              <a:srgbClr val="2B1B3D"/>
            </a:solidFill>
            <a:prstDash val="solid"/>
          </a:ln>
        </p:spPr>
        <p:txBody>
          <a:bodyPr/>
          <a:lstStyle/>
          <a:p>
            <a:endParaRPr lang="en-US"/>
          </a:p>
        </p:txBody>
      </p:sp>
      <p:sp>
        <p:nvSpPr>
          <p:cNvPr id="25" name="Text 23"/>
          <p:cNvSpPr txBox="1"/>
          <p:nvPr/>
        </p:nvSpPr>
        <p:spPr>
          <a:xfrm>
            <a:off x="822960" y="5687568"/>
            <a:ext cx="10552176" cy="164592"/>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Also excluded by design: acted material. Searches target interviews, talk shows, news, discussions, education, storytelling and debates.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The processing pipeline</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One manual step, and it is not where you would expect</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10</a:t>
            </a:r>
            <a:endParaRPr lang="en-US" sz="900" dirty="0"/>
          </a:p>
        </p:txBody>
      </p:sp>
      <p:sp>
        <p:nvSpPr>
          <p:cNvPr id="8" name="Shape 6"/>
          <p:cNvSpPr/>
          <p:nvPr/>
        </p:nvSpPr>
        <p:spPr>
          <a:xfrm>
            <a:off x="566928" y="1591056"/>
            <a:ext cx="2615184" cy="1463040"/>
          </a:xfrm>
          <a:prstGeom prst="roundRect">
            <a:avLst>
              <a:gd name="adj" fmla="val 3750"/>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68096" y="1810512"/>
            <a:ext cx="310896" cy="310896"/>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768096" y="1837944"/>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11" name="Text 9"/>
          <p:cNvSpPr txBox="1"/>
          <p:nvPr/>
        </p:nvSpPr>
        <p:spPr>
          <a:xfrm>
            <a:off x="1170432" y="1828800"/>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Download</a:t>
            </a:r>
            <a:endParaRPr lang="en-US" sz="1350" dirty="0"/>
          </a:p>
        </p:txBody>
      </p:sp>
      <p:sp>
        <p:nvSpPr>
          <p:cNvPr id="12" name="Text 10"/>
          <p:cNvSpPr txBox="1"/>
          <p:nvPr/>
        </p:nvSpPr>
        <p:spPr>
          <a:xfrm>
            <a:off x="786384" y="2249424"/>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audio-sharing sites</a:t>
            </a:r>
            <a:endParaRPr lang="en-US" sz="1150" dirty="0"/>
          </a:p>
          <a:p>
            <a:pPr marL="0" indent="0">
              <a:buNone/>
            </a:pPr>
            <a:r>
              <a:rPr lang="en-US" sz="1150" dirty="0">
                <a:solidFill>
                  <a:srgbClr val="6A5C77"/>
                </a:solidFill>
                <a:latin typeface="Calibri" pitchFamily="34" charset="0"/>
                <a:ea typeface="Calibri" pitchFamily="34" charset="-122"/>
                <a:cs typeface="Calibri" pitchFamily="34" charset="-120"/>
              </a:rPr>
              <a:t>CC-BY / CC-BY-SA</a:t>
            </a:r>
            <a:endParaRPr lang="en-US" sz="1150" dirty="0"/>
          </a:p>
        </p:txBody>
      </p:sp>
      <p:sp>
        <p:nvSpPr>
          <p:cNvPr id="13" name="Shape 11"/>
          <p:cNvSpPr/>
          <p:nvPr/>
        </p:nvSpPr>
        <p:spPr>
          <a:xfrm>
            <a:off x="3200400" y="2322576"/>
            <a:ext cx="146304" cy="0"/>
          </a:xfrm>
          <a:prstGeom prst="line">
            <a:avLst/>
          </a:prstGeom>
          <a:noFill/>
          <a:ln w="25400">
            <a:solidFill>
              <a:srgbClr val="9B87AE"/>
            </a:solidFill>
            <a:prstDash val="solid"/>
            <a:tailEnd type="triangle"/>
          </a:ln>
        </p:spPr>
        <p:txBody>
          <a:bodyPr/>
          <a:lstStyle/>
          <a:p>
            <a:endParaRPr lang="en-US"/>
          </a:p>
        </p:txBody>
      </p:sp>
      <p:sp>
        <p:nvSpPr>
          <p:cNvPr id="14" name="Shape 12"/>
          <p:cNvSpPr/>
          <p:nvPr/>
        </p:nvSpPr>
        <p:spPr>
          <a:xfrm>
            <a:off x="3346704" y="1591056"/>
            <a:ext cx="2615184" cy="1463040"/>
          </a:xfrm>
          <a:prstGeom prst="roundRect">
            <a:avLst>
              <a:gd name="adj" fmla="val 3750"/>
            </a:avLst>
          </a:prstGeom>
          <a:solidFill>
            <a:srgbClr val="F4F1F7"/>
          </a:solidFill>
          <a:ln w="12700">
            <a:solidFill>
              <a:srgbClr val="E3DCEA"/>
            </a:solidFill>
            <a:prstDash val="solid"/>
          </a:ln>
        </p:spPr>
        <p:txBody>
          <a:bodyPr/>
          <a:lstStyle/>
          <a:p>
            <a:endParaRPr lang="en-US"/>
          </a:p>
        </p:txBody>
      </p:sp>
      <p:sp>
        <p:nvSpPr>
          <p:cNvPr id="15" name="Shape 13"/>
          <p:cNvSpPr/>
          <p:nvPr/>
        </p:nvSpPr>
        <p:spPr>
          <a:xfrm>
            <a:off x="3547872" y="1810512"/>
            <a:ext cx="310896" cy="310896"/>
          </a:xfrm>
          <a:prstGeom prst="ellipse">
            <a:avLst/>
          </a:prstGeom>
          <a:solidFill>
            <a:srgbClr val="6A4A8C"/>
          </a:solidFill>
          <a:ln w="12700">
            <a:solidFill>
              <a:srgbClr val="333333"/>
            </a:solidFill>
            <a:prstDash val="solid"/>
          </a:ln>
        </p:spPr>
        <p:txBody>
          <a:bodyPr/>
          <a:lstStyle/>
          <a:p>
            <a:endParaRPr lang="en-US"/>
          </a:p>
        </p:txBody>
      </p:sp>
      <p:sp>
        <p:nvSpPr>
          <p:cNvPr id="16" name="Text 14"/>
          <p:cNvSpPr txBox="1"/>
          <p:nvPr/>
        </p:nvSpPr>
        <p:spPr>
          <a:xfrm>
            <a:off x="3547872" y="1837944"/>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7" name="Text 15"/>
          <p:cNvSpPr txBox="1"/>
          <p:nvPr/>
        </p:nvSpPr>
        <p:spPr>
          <a:xfrm>
            <a:off x="3950208" y="1828800"/>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Format</a:t>
            </a:r>
            <a:endParaRPr lang="en-US" sz="1350" dirty="0"/>
          </a:p>
        </p:txBody>
      </p:sp>
      <p:sp>
        <p:nvSpPr>
          <p:cNvPr id="18" name="Text 16"/>
          <p:cNvSpPr txBox="1"/>
          <p:nvPr/>
        </p:nvSpPr>
        <p:spPr>
          <a:xfrm>
            <a:off x="3566160" y="2249424"/>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16 kHz, 16-bit</a:t>
            </a:r>
            <a:endParaRPr lang="en-US" sz="1150" dirty="0"/>
          </a:p>
          <a:p>
            <a:pPr marL="0" indent="0">
              <a:buNone/>
            </a:pPr>
            <a:r>
              <a:rPr lang="en-US" sz="1150" dirty="0">
                <a:solidFill>
                  <a:srgbClr val="6A5C77"/>
                </a:solidFill>
                <a:latin typeface="Calibri" pitchFamily="34" charset="0"/>
                <a:ea typeface="Calibri" pitchFamily="34" charset="-122"/>
                <a:cs typeface="Calibri" pitchFamily="34" charset="-120"/>
              </a:rPr>
              <a:t>PCM, mono (SoX)</a:t>
            </a:r>
            <a:endParaRPr lang="en-US" sz="1150" dirty="0"/>
          </a:p>
        </p:txBody>
      </p:sp>
      <p:sp>
        <p:nvSpPr>
          <p:cNvPr id="19" name="Shape 17"/>
          <p:cNvSpPr/>
          <p:nvPr/>
        </p:nvSpPr>
        <p:spPr>
          <a:xfrm>
            <a:off x="5980176" y="2322576"/>
            <a:ext cx="146304" cy="0"/>
          </a:xfrm>
          <a:prstGeom prst="line">
            <a:avLst/>
          </a:prstGeom>
          <a:noFill/>
          <a:ln w="25400">
            <a:solidFill>
              <a:srgbClr val="9B87AE"/>
            </a:solidFill>
            <a:prstDash val="solid"/>
            <a:tailEnd type="triangle"/>
          </a:ln>
        </p:spPr>
        <p:txBody>
          <a:bodyPr/>
          <a:lstStyle/>
          <a:p>
            <a:endParaRPr lang="en-US"/>
          </a:p>
        </p:txBody>
      </p:sp>
      <p:sp>
        <p:nvSpPr>
          <p:cNvPr id="20" name="Shape 18"/>
          <p:cNvSpPr/>
          <p:nvPr/>
        </p:nvSpPr>
        <p:spPr>
          <a:xfrm>
            <a:off x="6126480" y="1591056"/>
            <a:ext cx="2615184" cy="1463040"/>
          </a:xfrm>
          <a:prstGeom prst="roundRect">
            <a:avLst>
              <a:gd name="adj" fmla="val 3750"/>
            </a:avLst>
          </a:prstGeom>
          <a:solidFill>
            <a:srgbClr val="F4F1F7"/>
          </a:solidFill>
          <a:ln w="12700">
            <a:solidFill>
              <a:srgbClr val="E3DCEA"/>
            </a:solidFill>
            <a:prstDash val="solid"/>
          </a:ln>
        </p:spPr>
        <p:txBody>
          <a:bodyPr/>
          <a:lstStyle/>
          <a:p>
            <a:endParaRPr lang="en-US"/>
          </a:p>
        </p:txBody>
      </p:sp>
      <p:sp>
        <p:nvSpPr>
          <p:cNvPr id="21" name="Shape 19"/>
          <p:cNvSpPr/>
          <p:nvPr/>
        </p:nvSpPr>
        <p:spPr>
          <a:xfrm>
            <a:off x="6327648" y="1810512"/>
            <a:ext cx="310896" cy="310896"/>
          </a:xfrm>
          <a:prstGeom prst="ellipse">
            <a:avLst/>
          </a:prstGeom>
          <a:solidFill>
            <a:srgbClr val="6A4A8C"/>
          </a:solidFill>
          <a:ln w="12700">
            <a:solidFill>
              <a:srgbClr val="333333"/>
            </a:solidFill>
            <a:prstDash val="solid"/>
          </a:ln>
        </p:spPr>
        <p:txBody>
          <a:bodyPr/>
          <a:lstStyle/>
          <a:p>
            <a:endParaRPr lang="en-US"/>
          </a:p>
        </p:txBody>
      </p:sp>
      <p:sp>
        <p:nvSpPr>
          <p:cNvPr id="22" name="Text 20"/>
          <p:cNvSpPr txBox="1"/>
          <p:nvPr/>
        </p:nvSpPr>
        <p:spPr>
          <a:xfrm>
            <a:off x="6327648" y="1837944"/>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23" name="Text 21"/>
          <p:cNvSpPr txBox="1"/>
          <p:nvPr/>
        </p:nvSpPr>
        <p:spPr>
          <a:xfrm>
            <a:off x="6729984" y="1828800"/>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Diarise</a:t>
            </a:r>
            <a:endParaRPr lang="en-US" sz="1350" dirty="0"/>
          </a:p>
        </p:txBody>
      </p:sp>
      <p:sp>
        <p:nvSpPr>
          <p:cNvPr id="24" name="Text 22"/>
          <p:cNvSpPr txBox="1"/>
          <p:nvPr/>
        </p:nvSpPr>
        <p:spPr>
          <a:xfrm>
            <a:off x="6345936" y="2249424"/>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speaker attribution</a:t>
            </a:r>
            <a:endParaRPr lang="en-US" sz="1150" dirty="0"/>
          </a:p>
          <a:p>
            <a:pPr marL="0" indent="0">
              <a:buNone/>
            </a:pPr>
            <a:r>
              <a:rPr lang="en-US" sz="1150" dirty="0">
                <a:solidFill>
                  <a:srgbClr val="6A5C77"/>
                </a:solidFill>
                <a:latin typeface="Calibri" pitchFamily="34" charset="0"/>
                <a:ea typeface="Calibri" pitchFamily="34" charset="-122"/>
                <a:cs typeface="Calibri" pitchFamily="34" charset="-120"/>
              </a:rPr>
              <a:t>service</a:t>
            </a:r>
            <a:endParaRPr lang="en-US" sz="1150" dirty="0"/>
          </a:p>
        </p:txBody>
      </p:sp>
      <p:sp>
        <p:nvSpPr>
          <p:cNvPr id="25" name="Shape 23"/>
          <p:cNvSpPr/>
          <p:nvPr/>
        </p:nvSpPr>
        <p:spPr>
          <a:xfrm>
            <a:off x="8759952" y="2322576"/>
            <a:ext cx="146304" cy="0"/>
          </a:xfrm>
          <a:prstGeom prst="line">
            <a:avLst/>
          </a:prstGeom>
          <a:noFill/>
          <a:ln w="25400">
            <a:solidFill>
              <a:srgbClr val="9B87AE"/>
            </a:solidFill>
            <a:prstDash val="solid"/>
            <a:tailEnd type="triangle"/>
          </a:ln>
        </p:spPr>
        <p:txBody>
          <a:bodyPr/>
          <a:lstStyle/>
          <a:p>
            <a:endParaRPr lang="en-US"/>
          </a:p>
        </p:txBody>
      </p:sp>
      <p:sp>
        <p:nvSpPr>
          <p:cNvPr id="26" name="Shape 24"/>
          <p:cNvSpPr/>
          <p:nvPr/>
        </p:nvSpPr>
        <p:spPr>
          <a:xfrm>
            <a:off x="8906256" y="1591056"/>
            <a:ext cx="2615184" cy="1463040"/>
          </a:xfrm>
          <a:prstGeom prst="roundRect">
            <a:avLst>
              <a:gd name="adj" fmla="val 3750"/>
            </a:avLst>
          </a:prstGeom>
          <a:solidFill>
            <a:srgbClr val="F4F1F7"/>
          </a:solidFill>
          <a:ln w="12700">
            <a:solidFill>
              <a:srgbClr val="E3DCEA"/>
            </a:solidFill>
            <a:prstDash val="solid"/>
          </a:ln>
        </p:spPr>
        <p:txBody>
          <a:bodyPr/>
          <a:lstStyle/>
          <a:p>
            <a:endParaRPr lang="en-US"/>
          </a:p>
        </p:txBody>
      </p:sp>
      <p:sp>
        <p:nvSpPr>
          <p:cNvPr id="27" name="Shape 25"/>
          <p:cNvSpPr/>
          <p:nvPr/>
        </p:nvSpPr>
        <p:spPr>
          <a:xfrm>
            <a:off x="9107424" y="1810512"/>
            <a:ext cx="310896" cy="310896"/>
          </a:xfrm>
          <a:prstGeom prst="ellipse">
            <a:avLst/>
          </a:prstGeom>
          <a:solidFill>
            <a:srgbClr val="6A4A8C"/>
          </a:solidFill>
          <a:ln w="12700">
            <a:solidFill>
              <a:srgbClr val="333333"/>
            </a:solidFill>
            <a:prstDash val="solid"/>
          </a:ln>
        </p:spPr>
        <p:txBody>
          <a:bodyPr/>
          <a:lstStyle/>
          <a:p>
            <a:endParaRPr lang="en-US"/>
          </a:p>
        </p:txBody>
      </p:sp>
      <p:sp>
        <p:nvSpPr>
          <p:cNvPr id="28" name="Text 26"/>
          <p:cNvSpPr txBox="1"/>
          <p:nvPr/>
        </p:nvSpPr>
        <p:spPr>
          <a:xfrm>
            <a:off x="9107424" y="1837944"/>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29" name="Text 27"/>
          <p:cNvSpPr txBox="1"/>
          <p:nvPr/>
        </p:nvSpPr>
        <p:spPr>
          <a:xfrm>
            <a:off x="9509760" y="1828800"/>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Duration filter</a:t>
            </a:r>
            <a:endParaRPr lang="en-US" sz="1350" dirty="0"/>
          </a:p>
        </p:txBody>
      </p:sp>
      <p:sp>
        <p:nvSpPr>
          <p:cNvPr id="30" name="Text 28"/>
          <p:cNvSpPr txBox="1"/>
          <p:nvPr/>
        </p:nvSpPr>
        <p:spPr>
          <a:xfrm>
            <a:off x="9125712" y="2249424"/>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keep 2.75 s – 11 s</a:t>
            </a:r>
            <a:endParaRPr lang="en-US" sz="1150" dirty="0"/>
          </a:p>
        </p:txBody>
      </p:sp>
      <p:sp>
        <p:nvSpPr>
          <p:cNvPr id="31" name="Shape 29"/>
          <p:cNvSpPr/>
          <p:nvPr/>
        </p:nvSpPr>
        <p:spPr>
          <a:xfrm>
            <a:off x="566928" y="3493008"/>
            <a:ext cx="2615184" cy="1463040"/>
          </a:xfrm>
          <a:prstGeom prst="roundRect">
            <a:avLst>
              <a:gd name="adj" fmla="val 3750"/>
            </a:avLst>
          </a:prstGeom>
          <a:solidFill>
            <a:srgbClr val="F4F1F7"/>
          </a:solidFill>
          <a:ln w="12700">
            <a:solidFill>
              <a:srgbClr val="E3DCEA"/>
            </a:solidFill>
            <a:prstDash val="solid"/>
          </a:ln>
        </p:spPr>
        <p:txBody>
          <a:bodyPr/>
          <a:lstStyle/>
          <a:p>
            <a:endParaRPr lang="en-US"/>
          </a:p>
        </p:txBody>
      </p:sp>
      <p:sp>
        <p:nvSpPr>
          <p:cNvPr id="32" name="Shape 30"/>
          <p:cNvSpPr/>
          <p:nvPr/>
        </p:nvSpPr>
        <p:spPr>
          <a:xfrm>
            <a:off x="768096" y="3712464"/>
            <a:ext cx="310896" cy="310896"/>
          </a:xfrm>
          <a:prstGeom prst="ellipse">
            <a:avLst/>
          </a:prstGeom>
          <a:solidFill>
            <a:srgbClr val="6A4A8C"/>
          </a:solidFill>
          <a:ln w="12700">
            <a:solidFill>
              <a:srgbClr val="333333"/>
            </a:solidFill>
            <a:prstDash val="solid"/>
          </a:ln>
        </p:spPr>
        <p:txBody>
          <a:bodyPr/>
          <a:lstStyle/>
          <a:p>
            <a:endParaRPr lang="en-US"/>
          </a:p>
        </p:txBody>
      </p:sp>
      <p:sp>
        <p:nvSpPr>
          <p:cNvPr id="33" name="Text 31"/>
          <p:cNvSpPr txBox="1"/>
          <p:nvPr/>
        </p:nvSpPr>
        <p:spPr>
          <a:xfrm>
            <a:off x="768096" y="3739896"/>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5</a:t>
            </a:r>
            <a:endParaRPr lang="en-US" sz="1150" dirty="0"/>
          </a:p>
        </p:txBody>
      </p:sp>
      <p:sp>
        <p:nvSpPr>
          <p:cNvPr id="34" name="Text 32"/>
          <p:cNvSpPr txBox="1"/>
          <p:nvPr/>
        </p:nvSpPr>
        <p:spPr>
          <a:xfrm>
            <a:off x="1170432" y="3730752"/>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SNR filter</a:t>
            </a:r>
            <a:endParaRPr lang="en-US" sz="1350" dirty="0"/>
          </a:p>
        </p:txBody>
      </p:sp>
      <p:sp>
        <p:nvSpPr>
          <p:cNvPr id="35" name="Text 33"/>
          <p:cNvSpPr txBox="1"/>
          <p:nvPr/>
        </p:nvSpPr>
        <p:spPr>
          <a:xfrm>
            <a:off x="786384" y="4151376"/>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WADA-SNR ≥ 20 dB</a:t>
            </a:r>
            <a:endParaRPr lang="en-US" sz="1150" dirty="0"/>
          </a:p>
          <a:p>
            <a:pPr marL="0" indent="0">
              <a:buNone/>
            </a:pPr>
            <a:r>
              <a:rPr lang="en-US" sz="1150" dirty="0">
                <a:solidFill>
                  <a:srgbClr val="6A5C77"/>
                </a:solidFill>
                <a:latin typeface="Calibri" pitchFamily="34" charset="0"/>
                <a:ea typeface="Calibri" pitchFamily="34" charset="-122"/>
                <a:cs typeface="Calibri" pitchFamily="34" charset="-120"/>
              </a:rPr>
              <a:t>drop phone-band audio</a:t>
            </a:r>
            <a:endParaRPr lang="en-US" sz="1150" dirty="0"/>
          </a:p>
        </p:txBody>
      </p:sp>
      <p:sp>
        <p:nvSpPr>
          <p:cNvPr id="36" name="Shape 34"/>
          <p:cNvSpPr/>
          <p:nvPr/>
        </p:nvSpPr>
        <p:spPr>
          <a:xfrm>
            <a:off x="3200400" y="4224528"/>
            <a:ext cx="146304" cy="0"/>
          </a:xfrm>
          <a:prstGeom prst="line">
            <a:avLst/>
          </a:prstGeom>
          <a:noFill/>
          <a:ln w="25400">
            <a:solidFill>
              <a:srgbClr val="9B87AE"/>
            </a:solidFill>
            <a:prstDash val="solid"/>
            <a:tailEnd type="triangle"/>
          </a:ln>
        </p:spPr>
        <p:txBody>
          <a:bodyPr/>
          <a:lstStyle/>
          <a:p>
            <a:endParaRPr lang="en-US"/>
          </a:p>
        </p:txBody>
      </p:sp>
      <p:sp>
        <p:nvSpPr>
          <p:cNvPr id="37" name="Shape 35"/>
          <p:cNvSpPr/>
          <p:nvPr/>
        </p:nvSpPr>
        <p:spPr>
          <a:xfrm>
            <a:off x="3346704" y="3493008"/>
            <a:ext cx="2615184" cy="1463040"/>
          </a:xfrm>
          <a:prstGeom prst="roundRect">
            <a:avLst>
              <a:gd name="adj" fmla="val 3750"/>
            </a:avLst>
          </a:prstGeom>
          <a:solidFill>
            <a:srgbClr val="F4F1F7"/>
          </a:solidFill>
          <a:ln w="12700">
            <a:solidFill>
              <a:srgbClr val="E3DCEA"/>
            </a:solidFill>
            <a:prstDash val="solid"/>
          </a:ln>
        </p:spPr>
        <p:txBody>
          <a:bodyPr/>
          <a:lstStyle/>
          <a:p>
            <a:endParaRPr lang="en-US"/>
          </a:p>
        </p:txBody>
      </p:sp>
      <p:sp>
        <p:nvSpPr>
          <p:cNvPr id="38" name="Shape 36"/>
          <p:cNvSpPr/>
          <p:nvPr/>
        </p:nvSpPr>
        <p:spPr>
          <a:xfrm>
            <a:off x="3547872" y="3712464"/>
            <a:ext cx="310896" cy="310896"/>
          </a:xfrm>
          <a:prstGeom prst="ellipse">
            <a:avLst/>
          </a:prstGeom>
          <a:solidFill>
            <a:srgbClr val="6A4A8C"/>
          </a:solidFill>
          <a:ln w="12700">
            <a:solidFill>
              <a:srgbClr val="333333"/>
            </a:solidFill>
            <a:prstDash val="solid"/>
          </a:ln>
        </p:spPr>
        <p:txBody>
          <a:bodyPr/>
          <a:lstStyle/>
          <a:p>
            <a:endParaRPr lang="en-US"/>
          </a:p>
        </p:txBody>
      </p:sp>
      <p:sp>
        <p:nvSpPr>
          <p:cNvPr id="39" name="Text 37"/>
          <p:cNvSpPr txBox="1"/>
          <p:nvPr/>
        </p:nvSpPr>
        <p:spPr>
          <a:xfrm>
            <a:off x="3547872" y="3739896"/>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6</a:t>
            </a:r>
            <a:endParaRPr lang="en-US" sz="1150" dirty="0"/>
          </a:p>
        </p:txBody>
      </p:sp>
      <p:sp>
        <p:nvSpPr>
          <p:cNvPr id="40" name="Text 38"/>
          <p:cNvSpPr txBox="1"/>
          <p:nvPr/>
        </p:nvSpPr>
        <p:spPr>
          <a:xfrm>
            <a:off x="3950208" y="3730752"/>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Music detection</a:t>
            </a:r>
            <a:endParaRPr lang="en-US" sz="1350" dirty="0"/>
          </a:p>
        </p:txBody>
      </p:sp>
      <p:sp>
        <p:nvSpPr>
          <p:cNvPr id="41" name="Text 39"/>
          <p:cNvSpPr txBox="1"/>
          <p:nvPr/>
        </p:nvSpPr>
        <p:spPr>
          <a:xfrm>
            <a:off x="3566160" y="4151376"/>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SVM on pyknogram</a:t>
            </a:r>
            <a:endParaRPr lang="en-US" sz="1150" dirty="0"/>
          </a:p>
          <a:p>
            <a:pPr marL="0" indent="0">
              <a:buNone/>
            </a:pPr>
            <a:r>
              <a:rPr lang="en-US" sz="1150" dirty="0">
                <a:solidFill>
                  <a:srgbClr val="6A5C77"/>
                </a:solidFill>
                <a:latin typeface="Calibri" pitchFamily="34" charset="0"/>
                <a:ea typeface="Calibri" pitchFamily="34" charset="-122"/>
                <a:cs typeface="Calibri" pitchFamily="34" charset="-120"/>
              </a:rPr>
              <a:t>spectral patterns</a:t>
            </a:r>
            <a:endParaRPr lang="en-US" sz="1150" dirty="0"/>
          </a:p>
        </p:txBody>
      </p:sp>
      <p:sp>
        <p:nvSpPr>
          <p:cNvPr id="42" name="Shape 40"/>
          <p:cNvSpPr/>
          <p:nvPr/>
        </p:nvSpPr>
        <p:spPr>
          <a:xfrm>
            <a:off x="5980176" y="4224528"/>
            <a:ext cx="146304" cy="0"/>
          </a:xfrm>
          <a:prstGeom prst="line">
            <a:avLst/>
          </a:prstGeom>
          <a:noFill/>
          <a:ln w="25400">
            <a:solidFill>
              <a:srgbClr val="9B87AE"/>
            </a:solidFill>
            <a:prstDash val="solid"/>
            <a:tailEnd type="triangle"/>
          </a:ln>
        </p:spPr>
        <p:txBody>
          <a:bodyPr/>
          <a:lstStyle/>
          <a:p>
            <a:endParaRPr lang="en-US"/>
          </a:p>
        </p:txBody>
      </p:sp>
      <p:sp>
        <p:nvSpPr>
          <p:cNvPr id="43" name="Shape 41"/>
          <p:cNvSpPr/>
          <p:nvPr/>
        </p:nvSpPr>
        <p:spPr>
          <a:xfrm>
            <a:off x="6126480" y="3493008"/>
            <a:ext cx="2615184" cy="1463040"/>
          </a:xfrm>
          <a:prstGeom prst="roundRect">
            <a:avLst>
              <a:gd name="adj" fmla="val 3750"/>
            </a:avLst>
          </a:prstGeom>
          <a:solidFill>
            <a:srgbClr val="FBF2E4"/>
          </a:solidFill>
          <a:ln w="19050">
            <a:solidFill>
              <a:srgbClr val="D98C2B"/>
            </a:solidFill>
            <a:prstDash val="solid"/>
          </a:ln>
        </p:spPr>
        <p:txBody>
          <a:bodyPr/>
          <a:lstStyle/>
          <a:p>
            <a:endParaRPr lang="en-US"/>
          </a:p>
        </p:txBody>
      </p:sp>
      <p:sp>
        <p:nvSpPr>
          <p:cNvPr id="44" name="Shape 42"/>
          <p:cNvSpPr/>
          <p:nvPr/>
        </p:nvSpPr>
        <p:spPr>
          <a:xfrm>
            <a:off x="6327648" y="3712464"/>
            <a:ext cx="310896" cy="310896"/>
          </a:xfrm>
          <a:prstGeom prst="ellipse">
            <a:avLst/>
          </a:prstGeom>
          <a:solidFill>
            <a:srgbClr val="D98C2B"/>
          </a:solidFill>
          <a:ln w="12700">
            <a:solidFill>
              <a:srgbClr val="333333"/>
            </a:solidFill>
            <a:prstDash val="solid"/>
          </a:ln>
        </p:spPr>
        <p:txBody>
          <a:bodyPr/>
          <a:lstStyle/>
          <a:p>
            <a:endParaRPr lang="en-US"/>
          </a:p>
        </p:txBody>
      </p:sp>
      <p:sp>
        <p:nvSpPr>
          <p:cNvPr id="45" name="Text 43"/>
          <p:cNvSpPr txBox="1"/>
          <p:nvPr/>
        </p:nvSpPr>
        <p:spPr>
          <a:xfrm>
            <a:off x="6327648" y="3739896"/>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7</a:t>
            </a:r>
            <a:endParaRPr lang="en-US" sz="1150" dirty="0"/>
          </a:p>
        </p:txBody>
      </p:sp>
      <p:sp>
        <p:nvSpPr>
          <p:cNvPr id="46" name="Text 44"/>
          <p:cNvSpPr txBox="1"/>
          <p:nvPr/>
        </p:nvSpPr>
        <p:spPr>
          <a:xfrm>
            <a:off x="6729984" y="3730752"/>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Emotion retrieval</a:t>
            </a:r>
            <a:endParaRPr lang="en-US" sz="1350" dirty="0"/>
          </a:p>
        </p:txBody>
      </p:sp>
      <p:sp>
        <p:nvSpPr>
          <p:cNvPr id="47" name="Text 45"/>
          <p:cNvSpPr txBox="1"/>
          <p:nvPr/>
        </p:nvSpPr>
        <p:spPr>
          <a:xfrm>
            <a:off x="6345936" y="4151376"/>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machine learning</a:t>
            </a:r>
            <a:endParaRPr lang="en-US" sz="1150" dirty="0"/>
          </a:p>
          <a:p>
            <a:pPr marL="0" indent="0">
              <a:buNone/>
            </a:pPr>
            <a:r>
              <a:rPr lang="en-US" sz="1150" dirty="0">
                <a:solidFill>
                  <a:srgbClr val="6A5C77"/>
                </a:solidFill>
                <a:latin typeface="Calibri" pitchFamily="34" charset="0"/>
                <a:ea typeface="Calibri" pitchFamily="34" charset="-122"/>
                <a:cs typeface="Calibri" pitchFamily="34" charset="-120"/>
              </a:rPr>
              <a:t>(Section 3)</a:t>
            </a:r>
            <a:endParaRPr lang="en-US" sz="1150" dirty="0"/>
          </a:p>
        </p:txBody>
      </p:sp>
      <p:sp>
        <p:nvSpPr>
          <p:cNvPr id="48" name="Shape 46"/>
          <p:cNvSpPr/>
          <p:nvPr/>
        </p:nvSpPr>
        <p:spPr>
          <a:xfrm>
            <a:off x="8759952" y="4224528"/>
            <a:ext cx="146304" cy="0"/>
          </a:xfrm>
          <a:prstGeom prst="line">
            <a:avLst/>
          </a:prstGeom>
          <a:noFill/>
          <a:ln w="25400">
            <a:solidFill>
              <a:srgbClr val="9B87AE"/>
            </a:solidFill>
            <a:prstDash val="solid"/>
            <a:tailEnd type="triangle"/>
          </a:ln>
        </p:spPr>
        <p:txBody>
          <a:bodyPr/>
          <a:lstStyle/>
          <a:p>
            <a:endParaRPr lang="en-US"/>
          </a:p>
        </p:txBody>
      </p:sp>
      <p:sp>
        <p:nvSpPr>
          <p:cNvPr id="49" name="Shape 47"/>
          <p:cNvSpPr/>
          <p:nvPr/>
        </p:nvSpPr>
        <p:spPr>
          <a:xfrm>
            <a:off x="8906256" y="3493008"/>
            <a:ext cx="2615184" cy="1463040"/>
          </a:xfrm>
          <a:prstGeom prst="roundRect">
            <a:avLst>
              <a:gd name="adj" fmla="val 3750"/>
            </a:avLst>
          </a:prstGeom>
          <a:solidFill>
            <a:srgbClr val="FBF2E4"/>
          </a:solidFill>
          <a:ln w="19050">
            <a:solidFill>
              <a:srgbClr val="D98C2B"/>
            </a:solidFill>
            <a:prstDash val="solid"/>
          </a:ln>
        </p:spPr>
        <p:txBody>
          <a:bodyPr/>
          <a:lstStyle/>
          <a:p>
            <a:endParaRPr lang="en-US"/>
          </a:p>
        </p:txBody>
      </p:sp>
      <p:sp>
        <p:nvSpPr>
          <p:cNvPr id="50" name="Shape 48"/>
          <p:cNvSpPr/>
          <p:nvPr/>
        </p:nvSpPr>
        <p:spPr>
          <a:xfrm>
            <a:off x="9107424" y="3712464"/>
            <a:ext cx="310896" cy="310896"/>
          </a:xfrm>
          <a:prstGeom prst="ellipse">
            <a:avLst/>
          </a:prstGeom>
          <a:solidFill>
            <a:srgbClr val="D98C2B"/>
          </a:solidFill>
          <a:ln w="12700">
            <a:solidFill>
              <a:srgbClr val="333333"/>
            </a:solidFill>
            <a:prstDash val="solid"/>
          </a:ln>
        </p:spPr>
        <p:txBody>
          <a:bodyPr/>
          <a:lstStyle/>
          <a:p>
            <a:endParaRPr lang="en-US"/>
          </a:p>
        </p:txBody>
      </p:sp>
      <p:sp>
        <p:nvSpPr>
          <p:cNvPr id="51" name="Text 49"/>
          <p:cNvSpPr txBox="1"/>
          <p:nvPr/>
        </p:nvSpPr>
        <p:spPr>
          <a:xfrm>
            <a:off x="9107424" y="3739896"/>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8</a:t>
            </a:r>
            <a:endParaRPr lang="en-US" sz="1150" dirty="0"/>
          </a:p>
        </p:txBody>
      </p:sp>
      <p:sp>
        <p:nvSpPr>
          <p:cNvPr id="52" name="Text 50"/>
          <p:cNvSpPr txBox="1"/>
          <p:nvPr/>
        </p:nvSpPr>
        <p:spPr>
          <a:xfrm>
            <a:off x="9509760" y="3730752"/>
            <a:ext cx="1792224" cy="292608"/>
          </a:xfrm>
          <a:prstGeom prst="rect">
            <a:avLst/>
          </a:prstGeom>
          <a:noFill/>
          <a:ln/>
        </p:spPr>
        <p:txBody>
          <a:bodyPr wrap="square" lIns="0" tIns="0" rIns="0" bIns="0" rtlCol="0" anchor="ctr"/>
          <a:lstStyle/>
          <a:p>
            <a:pPr marL="0" indent="0">
              <a:buNone/>
            </a:pPr>
            <a:r>
              <a:rPr lang="en-US" sz="1350" b="1" dirty="0">
                <a:solidFill>
                  <a:srgbClr val="1E1230"/>
                </a:solidFill>
                <a:latin typeface="Cambria" pitchFamily="34" charset="0"/>
                <a:ea typeface="Cambria" pitchFamily="34" charset="-122"/>
                <a:cs typeface="Cambria" pitchFamily="34" charset="-120"/>
              </a:rPr>
              <a:t>Manual screening</a:t>
            </a:r>
            <a:endParaRPr lang="en-US" sz="1350" dirty="0"/>
          </a:p>
        </p:txBody>
      </p:sp>
      <p:sp>
        <p:nvSpPr>
          <p:cNvPr id="53" name="Text 51"/>
          <p:cNvSpPr txBox="1"/>
          <p:nvPr/>
        </p:nvSpPr>
        <p:spPr>
          <a:xfrm>
            <a:off x="9125712" y="4151376"/>
            <a:ext cx="2176272" cy="658368"/>
          </a:xfrm>
          <a:prstGeom prst="rect">
            <a:avLst/>
          </a:prstGeom>
          <a:noFill/>
          <a:ln/>
        </p:spPr>
        <p:txBody>
          <a:bodyPr wrap="square" lIns="0" tIns="0" rIns="0" bIns="0" rtlCol="0" anchor="ctr"/>
          <a:lstStyle/>
          <a:p>
            <a:pPr marL="0" indent="0">
              <a:buNone/>
            </a:pPr>
            <a:r>
              <a:rPr lang="en-US" sz="1150" dirty="0">
                <a:solidFill>
                  <a:srgbClr val="6A5C77"/>
                </a:solidFill>
                <a:latin typeface="Calibri" pitchFamily="34" charset="0"/>
                <a:ea typeface="Calibri" pitchFamily="34" charset="-122"/>
                <a:cs typeface="Calibri" pitchFamily="34" charset="-120"/>
              </a:rPr>
              <a:t>the only human step</a:t>
            </a:r>
            <a:endParaRPr lang="en-US" sz="1150" dirty="0"/>
          </a:p>
        </p:txBody>
      </p:sp>
      <p:sp>
        <p:nvSpPr>
          <p:cNvPr id="54" name="Shape 52"/>
          <p:cNvSpPr/>
          <p:nvPr/>
        </p:nvSpPr>
        <p:spPr>
          <a:xfrm>
            <a:off x="566928" y="5175504"/>
            <a:ext cx="11064240" cy="877824"/>
          </a:xfrm>
          <a:prstGeom prst="roundRect">
            <a:avLst>
              <a:gd name="adj" fmla="val 6250"/>
            </a:avLst>
          </a:prstGeom>
          <a:solidFill>
            <a:srgbClr val="2B1B3D"/>
          </a:solidFill>
          <a:ln w="12700">
            <a:solidFill>
              <a:srgbClr val="2B1B3D"/>
            </a:solidFill>
            <a:prstDash val="solid"/>
          </a:ln>
        </p:spPr>
        <p:txBody>
          <a:bodyPr/>
          <a:lstStyle/>
          <a:p>
            <a:endParaRPr lang="en-US"/>
          </a:p>
        </p:txBody>
      </p:sp>
      <p:sp>
        <p:nvSpPr>
          <p:cNvPr id="55" name="Text 53"/>
          <p:cNvSpPr txBox="1"/>
          <p:nvPr/>
        </p:nvSpPr>
        <p:spPr>
          <a:xfrm>
            <a:off x="822960" y="5394960"/>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Every stage except the last is automatic, which is what makes the approach scale. The human reviews only the few hundred segments that survive retrieval — not the tens of thousands in the pool.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What the filters actually reject</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And the reasoning behind each threshold</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11</a:t>
            </a:r>
            <a:endParaRPr lang="en-US" sz="900" dirty="0"/>
          </a:p>
        </p:txBody>
      </p:sp>
      <p:sp>
        <p:nvSpPr>
          <p:cNvPr id="8" name="Shape 6"/>
          <p:cNvSpPr/>
          <p:nvPr/>
        </p:nvSpPr>
        <p:spPr>
          <a:xfrm>
            <a:off x="566928" y="1554480"/>
            <a:ext cx="11064240" cy="822960"/>
          </a:xfrm>
          <a:prstGeom prst="roundRect">
            <a:avLst>
              <a:gd name="adj" fmla="val 3333"/>
            </a:avLst>
          </a:prstGeom>
          <a:solidFill>
            <a:srgbClr val="F4F1F7"/>
          </a:solidFill>
          <a:ln w="12700">
            <a:solidFill>
              <a:srgbClr val="EAE4EF"/>
            </a:solidFill>
            <a:prstDash val="solid"/>
          </a:ln>
        </p:spPr>
        <p:txBody>
          <a:bodyPr/>
          <a:lstStyle/>
          <a:p>
            <a:endParaRPr lang="en-US"/>
          </a:p>
        </p:txBody>
      </p:sp>
      <p:sp>
        <p:nvSpPr>
          <p:cNvPr id="9" name="Shape 7"/>
          <p:cNvSpPr/>
          <p:nvPr/>
        </p:nvSpPr>
        <p:spPr>
          <a:xfrm>
            <a:off x="786384" y="1906524"/>
            <a:ext cx="118872" cy="118872"/>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1024128" y="1645920"/>
            <a:ext cx="2743200" cy="640080"/>
          </a:xfrm>
          <a:prstGeom prst="rect">
            <a:avLst/>
          </a:prstGeom>
          <a:noFill/>
          <a:ln/>
        </p:spPr>
        <p:txBody>
          <a:bodyPr wrap="square" lIns="0" tIns="0" rIns="0" bIns="0" rtlCol="0" anchor="ctr"/>
          <a:lstStyle/>
          <a:p>
            <a:pPr marL="0" indent="0">
              <a:buNone/>
            </a:pPr>
            <a:r>
              <a:rPr lang="en-US" sz="1300" b="1" dirty="0">
                <a:solidFill>
                  <a:srgbClr val="1E1230"/>
                </a:solidFill>
                <a:latin typeface="Cambria" pitchFamily="34" charset="0"/>
                <a:ea typeface="Cambria" pitchFamily="34" charset="-122"/>
                <a:cs typeface="Cambria" pitchFamily="34" charset="-120"/>
              </a:rPr>
              <a:t>2.75 to 11 seconds</a:t>
            </a:r>
            <a:endParaRPr lang="en-US" sz="1300" dirty="0"/>
          </a:p>
        </p:txBody>
      </p:sp>
      <p:sp>
        <p:nvSpPr>
          <p:cNvPr id="11" name="Text 9"/>
          <p:cNvSpPr txBox="1"/>
          <p:nvPr/>
        </p:nvSpPr>
        <p:spPr>
          <a:xfrm>
            <a:off x="3950208" y="1627632"/>
            <a:ext cx="7498080" cy="676656"/>
          </a:xfrm>
          <a:prstGeom prst="rect">
            <a:avLst/>
          </a:prstGeom>
          <a:noFill/>
          <a:ln/>
        </p:spPr>
        <p:txBody>
          <a:bodyPr wrap="square" lIns="0" tIns="0" rIns="0" bIns="0" rtlCol="0" anchor="ctr"/>
          <a:lstStyle/>
          <a:p>
            <a:pPr marL="0" indent="0">
              <a:buNone/>
            </a:pPr>
            <a:r>
              <a:rPr lang="en-US" sz="1200" dirty="0">
                <a:solidFill>
                  <a:srgbClr val="3A3045"/>
                </a:solidFill>
                <a:latin typeface="Calibri" pitchFamily="34" charset="0"/>
                <a:ea typeface="Calibri" pitchFamily="34" charset="-122"/>
                <a:cs typeface="Calibri" pitchFamily="34" charset="-120"/>
              </a:rPr>
              <a:t>A real tradeoff. Longer segments let the emotion drift, so a single label stops being accurate; shorter ones give raters too little to judge and produce unreliable acoustic features.</a:t>
            </a:r>
            <a:endParaRPr lang="en-US" sz="1200" dirty="0"/>
          </a:p>
        </p:txBody>
      </p:sp>
      <p:sp>
        <p:nvSpPr>
          <p:cNvPr id="12" name="Shape 10"/>
          <p:cNvSpPr/>
          <p:nvPr/>
        </p:nvSpPr>
        <p:spPr>
          <a:xfrm>
            <a:off x="566928" y="2432304"/>
            <a:ext cx="11064240" cy="822960"/>
          </a:xfrm>
          <a:prstGeom prst="roundRect">
            <a:avLst>
              <a:gd name="adj" fmla="val 3333"/>
            </a:avLst>
          </a:prstGeom>
          <a:solidFill>
            <a:srgbClr val="FFFFFF"/>
          </a:solidFill>
          <a:ln w="12700">
            <a:solidFill>
              <a:srgbClr val="EAE4EF"/>
            </a:solidFill>
            <a:prstDash val="solid"/>
          </a:ln>
        </p:spPr>
        <p:txBody>
          <a:bodyPr/>
          <a:lstStyle/>
          <a:p>
            <a:endParaRPr lang="en-US"/>
          </a:p>
        </p:txBody>
      </p:sp>
      <p:sp>
        <p:nvSpPr>
          <p:cNvPr id="13" name="Shape 11"/>
          <p:cNvSpPr/>
          <p:nvPr/>
        </p:nvSpPr>
        <p:spPr>
          <a:xfrm>
            <a:off x="786384" y="2784348"/>
            <a:ext cx="118872" cy="118872"/>
          </a:xfrm>
          <a:prstGeom prst="ellipse">
            <a:avLst/>
          </a:prstGeom>
          <a:solidFill>
            <a:srgbClr val="6A4A8C"/>
          </a:solidFill>
          <a:ln w="12700">
            <a:solidFill>
              <a:srgbClr val="333333"/>
            </a:solidFill>
            <a:prstDash val="solid"/>
          </a:ln>
        </p:spPr>
        <p:txBody>
          <a:bodyPr/>
          <a:lstStyle/>
          <a:p>
            <a:endParaRPr lang="en-US"/>
          </a:p>
        </p:txBody>
      </p:sp>
      <p:sp>
        <p:nvSpPr>
          <p:cNvPr id="14" name="Text 12"/>
          <p:cNvSpPr txBox="1"/>
          <p:nvPr/>
        </p:nvSpPr>
        <p:spPr>
          <a:xfrm>
            <a:off x="1024128" y="2523744"/>
            <a:ext cx="2743200" cy="640080"/>
          </a:xfrm>
          <a:prstGeom prst="rect">
            <a:avLst/>
          </a:prstGeom>
          <a:noFill/>
          <a:ln/>
        </p:spPr>
        <p:txBody>
          <a:bodyPr wrap="square" lIns="0" tIns="0" rIns="0" bIns="0" rtlCol="0" anchor="ctr"/>
          <a:lstStyle/>
          <a:p>
            <a:pPr marL="0" indent="0">
              <a:buNone/>
            </a:pPr>
            <a:r>
              <a:rPr lang="en-US" sz="1300" b="1" dirty="0">
                <a:solidFill>
                  <a:srgbClr val="1E1230"/>
                </a:solidFill>
                <a:latin typeface="Cambria" pitchFamily="34" charset="0"/>
                <a:ea typeface="Cambria" pitchFamily="34" charset="-122"/>
                <a:cs typeface="Cambria" pitchFamily="34" charset="-120"/>
              </a:rPr>
              <a:t>Speech activity detection</a:t>
            </a:r>
            <a:endParaRPr lang="en-US" sz="1300" dirty="0"/>
          </a:p>
        </p:txBody>
      </p:sp>
      <p:sp>
        <p:nvSpPr>
          <p:cNvPr id="15" name="Text 13"/>
          <p:cNvSpPr txBox="1"/>
          <p:nvPr/>
        </p:nvSpPr>
        <p:spPr>
          <a:xfrm>
            <a:off x="3950208" y="2505456"/>
            <a:ext cx="7498080" cy="676656"/>
          </a:xfrm>
          <a:prstGeom prst="rect">
            <a:avLst/>
          </a:prstGeom>
          <a:noFill/>
          <a:ln/>
        </p:spPr>
        <p:txBody>
          <a:bodyPr wrap="square" lIns="0" tIns="0" rIns="0" bIns="0" rtlCol="0" anchor="ctr"/>
          <a:lstStyle/>
          <a:p>
            <a:pPr marL="0" indent="0">
              <a:buNone/>
            </a:pPr>
            <a:r>
              <a:rPr lang="en-US" sz="1200" dirty="0">
                <a:solidFill>
                  <a:srgbClr val="3A3045"/>
                </a:solidFill>
                <a:latin typeface="Calibri" pitchFamily="34" charset="0"/>
                <a:ea typeface="Calibri" pitchFamily="34" charset="-122"/>
                <a:cs typeface="Calibri" pitchFamily="34" charset="-120"/>
              </a:rPr>
              <a:t>Diarisation can still return a 2.75-second segment that is mostly silence, so a separate detector removes samples with too little actual speech.</a:t>
            </a:r>
            <a:endParaRPr lang="en-US" sz="1200" dirty="0"/>
          </a:p>
        </p:txBody>
      </p:sp>
      <p:sp>
        <p:nvSpPr>
          <p:cNvPr id="16" name="Shape 14"/>
          <p:cNvSpPr/>
          <p:nvPr/>
        </p:nvSpPr>
        <p:spPr>
          <a:xfrm>
            <a:off x="566928" y="3310128"/>
            <a:ext cx="11064240" cy="822960"/>
          </a:xfrm>
          <a:prstGeom prst="roundRect">
            <a:avLst>
              <a:gd name="adj" fmla="val 3333"/>
            </a:avLst>
          </a:prstGeom>
          <a:solidFill>
            <a:srgbClr val="F4F1F7"/>
          </a:solidFill>
          <a:ln w="12700">
            <a:solidFill>
              <a:srgbClr val="EAE4EF"/>
            </a:solidFill>
            <a:prstDash val="solid"/>
          </a:ln>
        </p:spPr>
        <p:txBody>
          <a:bodyPr/>
          <a:lstStyle/>
          <a:p>
            <a:endParaRPr lang="en-US"/>
          </a:p>
        </p:txBody>
      </p:sp>
      <p:sp>
        <p:nvSpPr>
          <p:cNvPr id="17" name="Shape 15"/>
          <p:cNvSpPr/>
          <p:nvPr/>
        </p:nvSpPr>
        <p:spPr>
          <a:xfrm>
            <a:off x="786384" y="3662172"/>
            <a:ext cx="118872" cy="118872"/>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1024128" y="3401568"/>
            <a:ext cx="2743200" cy="640080"/>
          </a:xfrm>
          <a:prstGeom prst="rect">
            <a:avLst/>
          </a:prstGeom>
          <a:noFill/>
          <a:ln/>
        </p:spPr>
        <p:txBody>
          <a:bodyPr wrap="square" lIns="0" tIns="0" rIns="0" bIns="0" rtlCol="0" anchor="ctr"/>
          <a:lstStyle/>
          <a:p>
            <a:pPr marL="0" indent="0">
              <a:buNone/>
            </a:pPr>
            <a:r>
              <a:rPr lang="en-US" sz="1300" b="1" dirty="0">
                <a:solidFill>
                  <a:srgbClr val="1E1230"/>
                </a:solidFill>
                <a:latin typeface="Cambria" pitchFamily="34" charset="0"/>
                <a:ea typeface="Cambria" pitchFamily="34" charset="-122"/>
                <a:cs typeface="Cambria" pitchFamily="34" charset="-120"/>
              </a:rPr>
              <a:t>SNR of at least 20 dB</a:t>
            </a:r>
            <a:endParaRPr lang="en-US" sz="1300" dirty="0"/>
          </a:p>
        </p:txBody>
      </p:sp>
      <p:sp>
        <p:nvSpPr>
          <p:cNvPr id="19" name="Text 17"/>
          <p:cNvSpPr txBox="1"/>
          <p:nvPr/>
        </p:nvSpPr>
        <p:spPr>
          <a:xfrm>
            <a:off x="3950208" y="3383280"/>
            <a:ext cx="7498080" cy="676656"/>
          </a:xfrm>
          <a:prstGeom prst="rect">
            <a:avLst/>
          </a:prstGeom>
          <a:noFill/>
          <a:ln/>
        </p:spPr>
        <p:txBody>
          <a:bodyPr wrap="square" lIns="0" tIns="0" rIns="0" bIns="0" rtlCol="0" anchor="ctr"/>
          <a:lstStyle/>
          <a:p>
            <a:pPr marL="0" indent="0">
              <a:buNone/>
            </a:pPr>
            <a:r>
              <a:rPr lang="en-US" sz="1200" dirty="0">
                <a:solidFill>
                  <a:srgbClr val="3A3045"/>
                </a:solidFill>
                <a:latin typeface="Calibri" pitchFamily="34" charset="0"/>
                <a:ea typeface="Calibri" pitchFamily="34" charset="-122"/>
                <a:cs typeface="Calibri" pitchFamily="34" charset="-120"/>
              </a:rPr>
              <a:t>Estimated with waveform amplitude distribution analysis. Noisy recordings are discarded outright rather than kept and flagged.</a:t>
            </a:r>
            <a:endParaRPr lang="en-US" sz="1200" dirty="0"/>
          </a:p>
        </p:txBody>
      </p:sp>
      <p:sp>
        <p:nvSpPr>
          <p:cNvPr id="20" name="Shape 18"/>
          <p:cNvSpPr/>
          <p:nvPr/>
        </p:nvSpPr>
        <p:spPr>
          <a:xfrm>
            <a:off x="566928" y="4187952"/>
            <a:ext cx="11064240" cy="822960"/>
          </a:xfrm>
          <a:prstGeom prst="roundRect">
            <a:avLst>
              <a:gd name="adj" fmla="val 3333"/>
            </a:avLst>
          </a:prstGeom>
          <a:solidFill>
            <a:srgbClr val="FFFFFF"/>
          </a:solidFill>
          <a:ln w="12700">
            <a:solidFill>
              <a:srgbClr val="EAE4EF"/>
            </a:solidFill>
            <a:prstDash val="solid"/>
          </a:ln>
        </p:spPr>
        <p:txBody>
          <a:bodyPr/>
          <a:lstStyle/>
          <a:p>
            <a:endParaRPr lang="en-US"/>
          </a:p>
        </p:txBody>
      </p:sp>
      <p:sp>
        <p:nvSpPr>
          <p:cNvPr id="21" name="Shape 19"/>
          <p:cNvSpPr/>
          <p:nvPr/>
        </p:nvSpPr>
        <p:spPr>
          <a:xfrm>
            <a:off x="786384" y="4539996"/>
            <a:ext cx="118872" cy="118872"/>
          </a:xfrm>
          <a:prstGeom prst="ellipse">
            <a:avLst/>
          </a:prstGeom>
          <a:solidFill>
            <a:srgbClr val="6A4A8C"/>
          </a:solidFill>
          <a:ln w="12700">
            <a:solidFill>
              <a:srgbClr val="333333"/>
            </a:solidFill>
            <a:prstDash val="solid"/>
          </a:ln>
        </p:spPr>
        <p:txBody>
          <a:bodyPr/>
          <a:lstStyle/>
          <a:p>
            <a:endParaRPr lang="en-US"/>
          </a:p>
        </p:txBody>
      </p:sp>
      <p:sp>
        <p:nvSpPr>
          <p:cNvPr id="22" name="Text 20"/>
          <p:cNvSpPr txBox="1"/>
          <p:nvPr/>
        </p:nvSpPr>
        <p:spPr>
          <a:xfrm>
            <a:off x="1024128" y="4279392"/>
            <a:ext cx="2743200" cy="640080"/>
          </a:xfrm>
          <a:prstGeom prst="rect">
            <a:avLst/>
          </a:prstGeom>
          <a:noFill/>
          <a:ln/>
        </p:spPr>
        <p:txBody>
          <a:bodyPr wrap="square" lIns="0" tIns="0" rIns="0" bIns="0" rtlCol="0" anchor="ctr"/>
          <a:lstStyle/>
          <a:p>
            <a:pPr marL="0" indent="0">
              <a:buNone/>
            </a:pPr>
            <a:r>
              <a:rPr lang="en-US" sz="1300" b="1" dirty="0">
                <a:solidFill>
                  <a:srgbClr val="1E1230"/>
                </a:solidFill>
                <a:latin typeface="Cambria" pitchFamily="34" charset="0"/>
                <a:ea typeface="Cambria" pitchFamily="34" charset="-122"/>
                <a:cs typeface="Cambria" pitchFamily="34" charset="-120"/>
              </a:rPr>
              <a:t>No telephone-band audio</a:t>
            </a:r>
            <a:endParaRPr lang="en-US" sz="1300" dirty="0"/>
          </a:p>
        </p:txBody>
      </p:sp>
      <p:sp>
        <p:nvSpPr>
          <p:cNvPr id="23" name="Text 21"/>
          <p:cNvSpPr txBox="1"/>
          <p:nvPr/>
        </p:nvSpPr>
        <p:spPr>
          <a:xfrm>
            <a:off x="3950208" y="4261104"/>
            <a:ext cx="7498080" cy="676656"/>
          </a:xfrm>
          <a:prstGeom prst="rect">
            <a:avLst/>
          </a:prstGeom>
          <a:noFill/>
          <a:ln/>
        </p:spPr>
        <p:txBody>
          <a:bodyPr wrap="square" lIns="0" tIns="0" rIns="0" bIns="0" rtlCol="0" anchor="ctr"/>
          <a:lstStyle/>
          <a:p>
            <a:pPr marL="0" indent="0">
              <a:buNone/>
            </a:pPr>
            <a:r>
              <a:rPr lang="en-US" sz="1200" dirty="0">
                <a:solidFill>
                  <a:srgbClr val="3A3045"/>
                </a:solidFill>
                <a:latin typeface="Calibri" pitchFamily="34" charset="0"/>
                <a:ea typeface="Calibri" pitchFamily="34" charset="-122"/>
                <a:cs typeface="Calibri" pitchFamily="34" charset="-120"/>
              </a:rPr>
              <a:t>Phone speech is sampled at 8 kHz, so it lacks the spectral content above 4 kHz that emotion features rely on. Segments with no significant energy there are removed.</a:t>
            </a:r>
            <a:endParaRPr lang="en-US" sz="1200" dirty="0"/>
          </a:p>
        </p:txBody>
      </p:sp>
      <p:sp>
        <p:nvSpPr>
          <p:cNvPr id="24" name="Shape 22"/>
          <p:cNvSpPr/>
          <p:nvPr/>
        </p:nvSpPr>
        <p:spPr>
          <a:xfrm>
            <a:off x="566928" y="5065776"/>
            <a:ext cx="11064240" cy="822960"/>
          </a:xfrm>
          <a:prstGeom prst="roundRect">
            <a:avLst>
              <a:gd name="adj" fmla="val 3333"/>
            </a:avLst>
          </a:prstGeom>
          <a:solidFill>
            <a:srgbClr val="F4F1F7"/>
          </a:solidFill>
          <a:ln w="12700">
            <a:solidFill>
              <a:srgbClr val="EAE4EF"/>
            </a:solidFill>
            <a:prstDash val="solid"/>
          </a:ln>
        </p:spPr>
        <p:txBody>
          <a:bodyPr/>
          <a:lstStyle/>
          <a:p>
            <a:endParaRPr lang="en-US"/>
          </a:p>
        </p:txBody>
      </p:sp>
      <p:sp>
        <p:nvSpPr>
          <p:cNvPr id="25" name="Shape 23"/>
          <p:cNvSpPr/>
          <p:nvPr/>
        </p:nvSpPr>
        <p:spPr>
          <a:xfrm>
            <a:off x="786384" y="5417820"/>
            <a:ext cx="118872" cy="118872"/>
          </a:xfrm>
          <a:prstGeom prst="ellipse">
            <a:avLst/>
          </a:prstGeom>
          <a:solidFill>
            <a:srgbClr val="6A4A8C"/>
          </a:solidFill>
          <a:ln w="12700">
            <a:solidFill>
              <a:srgbClr val="333333"/>
            </a:solidFill>
            <a:prstDash val="solid"/>
          </a:ln>
        </p:spPr>
        <p:txBody>
          <a:bodyPr/>
          <a:lstStyle/>
          <a:p>
            <a:endParaRPr lang="en-US"/>
          </a:p>
        </p:txBody>
      </p:sp>
      <p:sp>
        <p:nvSpPr>
          <p:cNvPr id="26" name="Text 24"/>
          <p:cNvSpPr txBox="1"/>
          <p:nvPr/>
        </p:nvSpPr>
        <p:spPr>
          <a:xfrm>
            <a:off x="1024128" y="5157216"/>
            <a:ext cx="2743200" cy="640080"/>
          </a:xfrm>
          <a:prstGeom prst="rect">
            <a:avLst/>
          </a:prstGeom>
          <a:noFill/>
          <a:ln/>
        </p:spPr>
        <p:txBody>
          <a:bodyPr wrap="square" lIns="0" tIns="0" rIns="0" bIns="0" rtlCol="0" anchor="ctr"/>
          <a:lstStyle/>
          <a:p>
            <a:pPr marL="0" indent="0">
              <a:buNone/>
            </a:pPr>
            <a:r>
              <a:rPr lang="en-US" sz="1300" b="1" dirty="0">
                <a:solidFill>
                  <a:srgbClr val="1E1230"/>
                </a:solidFill>
                <a:latin typeface="Cambria" pitchFamily="34" charset="0"/>
                <a:ea typeface="Cambria" pitchFamily="34" charset="-122"/>
                <a:cs typeface="Cambria" pitchFamily="34" charset="-120"/>
              </a:rPr>
              <a:t>No music or background music</a:t>
            </a:r>
            <a:endParaRPr lang="en-US" sz="1300" dirty="0"/>
          </a:p>
        </p:txBody>
      </p:sp>
      <p:sp>
        <p:nvSpPr>
          <p:cNvPr id="27" name="Text 25"/>
          <p:cNvSpPr txBox="1"/>
          <p:nvPr/>
        </p:nvSpPr>
        <p:spPr>
          <a:xfrm>
            <a:off x="3950208" y="5138928"/>
            <a:ext cx="7498080" cy="676656"/>
          </a:xfrm>
          <a:prstGeom prst="rect">
            <a:avLst/>
          </a:prstGeom>
          <a:noFill/>
          <a:ln/>
        </p:spPr>
        <p:txBody>
          <a:bodyPr wrap="square" lIns="0" tIns="0" rIns="0" bIns="0" rtlCol="0" anchor="ctr"/>
          <a:lstStyle/>
          <a:p>
            <a:pPr marL="0" indent="0">
              <a:buNone/>
            </a:pPr>
            <a:r>
              <a:rPr lang="en-US" sz="1200" dirty="0">
                <a:solidFill>
                  <a:srgbClr val="3A3045"/>
                </a:solidFill>
                <a:latin typeface="Calibri" pitchFamily="34" charset="0"/>
                <a:ea typeface="Calibri" pitchFamily="34" charset="-122"/>
                <a:cs typeface="Calibri" pitchFamily="34" charset="-120"/>
              </a:rPr>
              <a:t>A support vector machine over pyknogram spectral patterns, trained on 105 manually segmented podcasts. Of 500 segments it flagged as music, 63.8% genuinely contained music.</a:t>
            </a:r>
            <a:endParaRPr lang="en-US" sz="1200" dirty="0"/>
          </a:p>
        </p:txBody>
      </p:sp>
      <p:sp>
        <p:nvSpPr>
          <p:cNvPr id="28" name="Shape 26"/>
          <p:cNvSpPr/>
          <p:nvPr/>
        </p:nvSpPr>
        <p:spPr>
          <a:xfrm>
            <a:off x="566928" y="5541264"/>
            <a:ext cx="11064240" cy="512064"/>
          </a:xfrm>
          <a:prstGeom prst="roundRect">
            <a:avLst>
              <a:gd name="adj" fmla="val 10714"/>
            </a:avLst>
          </a:prstGeom>
          <a:solidFill>
            <a:srgbClr val="F4F1F7"/>
          </a:solidFill>
          <a:ln w="12700">
            <a:solidFill>
              <a:srgbClr val="E3DCEA"/>
            </a:solidFill>
            <a:prstDash val="solid"/>
          </a:ln>
        </p:spPr>
        <p:txBody>
          <a:bodyPr/>
          <a:lstStyle/>
          <a:p>
            <a:endParaRPr lang="en-US"/>
          </a:p>
        </p:txBody>
      </p:sp>
      <p:sp>
        <p:nvSpPr>
          <p:cNvPr id="29" name="Text 27"/>
          <p:cNvSpPr txBox="1"/>
          <p:nvPr/>
        </p:nvSpPr>
        <p:spPr>
          <a:xfrm>
            <a:off x="822960" y="5760720"/>
            <a:ext cx="10552176" cy="91440"/>
          </a:xfrm>
          <a:prstGeom prst="rect">
            <a:avLst/>
          </a:prstGeom>
          <a:noFill/>
          <a:ln/>
        </p:spPr>
        <p:txBody>
          <a:bodyPr wrap="square" lIns="0" tIns="0" rIns="0" bIns="0" rtlCol="0" anchor="t"/>
          <a:lstStyle/>
          <a:p>
            <a:pPr marL="0" indent="0">
              <a:lnSpc>
                <a:spcPct val="108000"/>
              </a:lnSpc>
              <a:buNone/>
            </a:pPr>
            <a:r>
              <a:rPr lang="en-US" sz="1300" dirty="0">
                <a:solidFill>
                  <a:srgbClr val="3A3045"/>
                </a:solidFill>
                <a:latin typeface="Calibri" pitchFamily="34" charset="0"/>
                <a:ea typeface="Calibri" pitchFamily="34" charset="-122"/>
                <a:cs typeface="Calibri" pitchFamily="34" charset="-120"/>
              </a:rPr>
              <a:t>The paper reports that last figure plainly and adds: there is room for improvement. Honest, and worth noticing.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What survives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The pool, and the one place a human still looks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12</a:t>
            </a:r>
            <a:endParaRPr lang="en-US" sz="900" dirty="0"/>
          </a:p>
        </p:txBody>
      </p:sp>
      <p:sp>
        <p:nvSpPr>
          <p:cNvPr id="8" name="Text 6"/>
          <p:cNvSpPr txBox="1"/>
          <p:nvPr/>
        </p:nvSpPr>
        <p:spPr>
          <a:xfrm>
            <a:off x="566928" y="1572768"/>
            <a:ext cx="3584448"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403 → 84,125</a:t>
            </a:r>
            <a:endParaRPr lang="en-US" sz="3600" dirty="0"/>
          </a:p>
        </p:txBody>
      </p:sp>
      <p:sp>
        <p:nvSpPr>
          <p:cNvPr id="9" name="Text 7"/>
          <p:cNvSpPr txBox="1"/>
          <p:nvPr/>
        </p:nvSpPr>
        <p:spPr>
          <a:xfrm>
            <a:off x="566928" y="2267712"/>
            <a:ext cx="3584448"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podcasts in, candidate speaking</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turns out</a:t>
            </a:r>
            <a:endParaRPr lang="en-US" sz="1150" dirty="0"/>
          </a:p>
        </p:txBody>
      </p:sp>
      <p:sp>
        <p:nvSpPr>
          <p:cNvPr id="10" name="Text 8"/>
          <p:cNvSpPr txBox="1"/>
          <p:nvPr/>
        </p:nvSpPr>
        <p:spPr>
          <a:xfrm>
            <a:off x="4279392" y="1572768"/>
            <a:ext cx="3584448" cy="694944"/>
          </a:xfrm>
          <a:prstGeom prst="rect">
            <a:avLst/>
          </a:prstGeom>
          <a:noFill/>
          <a:ln/>
        </p:spPr>
        <p:txBody>
          <a:bodyPr wrap="square" lIns="0" tIns="0" rIns="0" bIns="0" rtlCol="0" anchor="ctr"/>
          <a:lstStyle/>
          <a:p>
            <a:pPr marL="0" indent="0" algn="ctr">
              <a:buNone/>
            </a:pPr>
            <a:r>
              <a:rPr lang="en-US" sz="3600" b="1" dirty="0">
                <a:solidFill>
                  <a:srgbClr val="D98C2B"/>
                </a:solidFill>
                <a:latin typeface="Cambria" pitchFamily="34" charset="0"/>
                <a:ea typeface="Cambria" pitchFamily="34" charset="-122"/>
                <a:cs typeface="Cambria" pitchFamily="34" charset="-120"/>
              </a:rPr>
              <a:t>65.6%</a:t>
            </a:r>
            <a:endParaRPr lang="en-US" sz="3600" dirty="0"/>
          </a:p>
        </p:txBody>
      </p:sp>
      <p:sp>
        <p:nvSpPr>
          <p:cNvPr id="11" name="Text 9"/>
          <p:cNvSpPr txBox="1"/>
          <p:nvPr/>
        </p:nvSpPr>
        <p:spPr>
          <a:xfrm>
            <a:off x="4279392" y="2267712"/>
            <a:ext cx="3584448"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of retrieved segments passed</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manual screening</a:t>
            </a:r>
            <a:endParaRPr lang="en-US" sz="1150" dirty="0"/>
          </a:p>
        </p:txBody>
      </p:sp>
      <p:sp>
        <p:nvSpPr>
          <p:cNvPr id="12" name="Text 10"/>
          <p:cNvSpPr txBox="1"/>
          <p:nvPr/>
        </p:nvSpPr>
        <p:spPr>
          <a:xfrm>
            <a:off x="7991856" y="1572768"/>
            <a:ext cx="3639312"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22.3%</a:t>
            </a:r>
            <a:endParaRPr lang="en-US" sz="3600" dirty="0"/>
          </a:p>
        </p:txBody>
      </p:sp>
      <p:sp>
        <p:nvSpPr>
          <p:cNvPr id="13" name="Text 11"/>
          <p:cNvSpPr txBox="1"/>
          <p:nvPr/>
        </p:nvSpPr>
        <p:spPr>
          <a:xfrm>
            <a:off x="7991856" y="2267712"/>
            <a:ext cx="3639312"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rejected because more than</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one speaker was present</a:t>
            </a:r>
            <a:endParaRPr lang="en-US" sz="1150" dirty="0"/>
          </a:p>
        </p:txBody>
      </p:sp>
      <p:sp>
        <p:nvSpPr>
          <p:cNvPr id="14" name="Shape 12"/>
          <p:cNvSpPr/>
          <p:nvPr/>
        </p:nvSpPr>
        <p:spPr>
          <a:xfrm>
            <a:off x="566928" y="3163824"/>
            <a:ext cx="5440680" cy="1783080"/>
          </a:xfrm>
          <a:prstGeom prst="roundRect">
            <a:avLst>
              <a:gd name="adj" fmla="val 3077"/>
            </a:avLst>
          </a:prstGeom>
          <a:solidFill>
            <a:srgbClr val="F4F1F7"/>
          </a:solidFill>
          <a:ln w="12700">
            <a:solidFill>
              <a:srgbClr val="E3DCEA"/>
            </a:solidFill>
            <a:prstDash val="solid"/>
          </a:ln>
        </p:spPr>
        <p:txBody>
          <a:bodyPr/>
          <a:lstStyle/>
          <a:p>
            <a:endParaRPr lang="en-US"/>
          </a:p>
        </p:txBody>
      </p:sp>
      <p:sp>
        <p:nvSpPr>
          <p:cNvPr id="15" name="Shape 13"/>
          <p:cNvSpPr/>
          <p:nvPr/>
        </p:nvSpPr>
        <p:spPr>
          <a:xfrm>
            <a:off x="786384" y="3456432"/>
            <a:ext cx="109728" cy="109728"/>
          </a:xfrm>
          <a:prstGeom prst="ellipse">
            <a:avLst/>
          </a:prstGeom>
          <a:solidFill>
            <a:srgbClr val="6A4A8C"/>
          </a:solidFill>
          <a:ln w="12700">
            <a:solidFill>
              <a:srgbClr val="333333"/>
            </a:solidFill>
            <a:prstDash val="solid"/>
          </a:ln>
        </p:spPr>
        <p:txBody>
          <a:bodyPr/>
          <a:lstStyle/>
          <a:p>
            <a:endParaRPr lang="en-US"/>
          </a:p>
        </p:txBody>
      </p:sp>
      <p:sp>
        <p:nvSpPr>
          <p:cNvPr id="16" name="Text 14"/>
          <p:cNvSpPr txBox="1"/>
          <p:nvPr/>
        </p:nvSpPr>
        <p:spPr>
          <a:xfrm>
            <a:off x="987552" y="3328416"/>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Why segments were rejected</a:t>
            </a:r>
            <a:endParaRPr lang="en-US" sz="1500" dirty="0"/>
          </a:p>
        </p:txBody>
      </p:sp>
      <p:sp>
        <p:nvSpPr>
          <p:cNvPr id="17" name="Text 15"/>
          <p:cNvSpPr txBox="1"/>
          <p:nvPr/>
        </p:nvSpPr>
        <p:spPr>
          <a:xfrm>
            <a:off x="822960" y="3767328"/>
            <a:ext cx="4928616" cy="99669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Multiple speakers is the dominant failure, at 22.3% — diarisation and the absence of an overlapped-speech detector are the weak links.</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Other reasons: residual silence, undetected music, and content problems such as offensive language, explicit sexual references, or speech in languages other than English.</a:t>
            </a:r>
            <a:endParaRPr lang="en-US" sz="1260" dirty="0"/>
          </a:p>
        </p:txBody>
      </p:sp>
      <p:sp>
        <p:nvSpPr>
          <p:cNvPr id="18" name="Shape 16"/>
          <p:cNvSpPr/>
          <p:nvPr/>
        </p:nvSpPr>
        <p:spPr>
          <a:xfrm>
            <a:off x="6190488" y="3163824"/>
            <a:ext cx="5440680" cy="1783080"/>
          </a:xfrm>
          <a:prstGeom prst="roundRect">
            <a:avLst>
              <a:gd name="adj" fmla="val 3077"/>
            </a:avLst>
          </a:prstGeom>
          <a:solidFill>
            <a:srgbClr val="F4F1F7"/>
          </a:solidFill>
          <a:ln w="12700">
            <a:solidFill>
              <a:srgbClr val="E3DCEA"/>
            </a:solidFill>
            <a:prstDash val="solid"/>
          </a:ln>
        </p:spPr>
        <p:txBody>
          <a:bodyPr/>
          <a:lstStyle/>
          <a:p>
            <a:endParaRPr lang="en-US"/>
          </a:p>
        </p:txBody>
      </p:sp>
      <p:sp>
        <p:nvSpPr>
          <p:cNvPr id="19" name="Shape 17"/>
          <p:cNvSpPr/>
          <p:nvPr/>
        </p:nvSpPr>
        <p:spPr>
          <a:xfrm>
            <a:off x="6409944" y="3456432"/>
            <a:ext cx="109728" cy="109728"/>
          </a:xfrm>
          <a:prstGeom prst="ellipse">
            <a:avLst/>
          </a:prstGeom>
          <a:solidFill>
            <a:srgbClr val="D98C2B"/>
          </a:solidFill>
          <a:ln w="12700">
            <a:solidFill>
              <a:srgbClr val="333333"/>
            </a:solidFill>
            <a:prstDash val="solid"/>
          </a:ln>
        </p:spPr>
        <p:txBody>
          <a:bodyPr/>
          <a:lstStyle/>
          <a:p>
            <a:endParaRPr lang="en-US"/>
          </a:p>
        </p:txBody>
      </p:sp>
      <p:sp>
        <p:nvSpPr>
          <p:cNvPr id="20" name="Text 18"/>
          <p:cNvSpPr txBox="1"/>
          <p:nvPr/>
        </p:nvSpPr>
        <p:spPr>
          <a:xfrm>
            <a:off x="6611112" y="3328416"/>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What the pool is, and is not</a:t>
            </a:r>
            <a:endParaRPr lang="en-US" sz="1500" dirty="0"/>
          </a:p>
        </p:txBody>
      </p:sp>
      <p:sp>
        <p:nvSpPr>
          <p:cNvPr id="21" name="Text 19"/>
          <p:cNvSpPr txBox="1"/>
          <p:nvPr/>
        </p:nvSpPr>
        <p:spPr>
          <a:xfrm>
            <a:off x="6446520" y="3767328"/>
            <a:ext cx="4928616" cy="99669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84,125 turns is the reservoir, not the corpus. Almost all of it is expected to be emotionally neutral — which is exactly the balance problem from section 1, now sitting in front of them as a concrete pile of audio.</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question the rest of the paper answers: which few hundred of these do you pay people to listen to?</a:t>
            </a:r>
            <a:endParaRPr lang="en-US" sz="1260" dirty="0"/>
          </a:p>
        </p:txBody>
      </p:sp>
      <p:sp>
        <p:nvSpPr>
          <p:cNvPr id="22" name="Shape 20"/>
          <p:cNvSpPr/>
          <p:nvPr/>
        </p:nvSpPr>
        <p:spPr>
          <a:xfrm>
            <a:off x="566928" y="5065776"/>
            <a:ext cx="11064240" cy="987552"/>
          </a:xfrm>
          <a:prstGeom prst="roundRect">
            <a:avLst>
              <a:gd name="adj" fmla="val 5556"/>
            </a:avLst>
          </a:prstGeom>
          <a:solidFill>
            <a:srgbClr val="2B1B3D"/>
          </a:solidFill>
          <a:ln w="12700">
            <a:solidFill>
              <a:srgbClr val="2B1B3D"/>
            </a:solidFill>
            <a:prstDash val="solid"/>
          </a:ln>
        </p:spPr>
        <p:txBody>
          <a:bodyPr/>
          <a:lstStyle/>
          <a:p>
            <a:endParaRPr lang="en-US"/>
          </a:p>
        </p:txBody>
      </p:sp>
      <p:sp>
        <p:nvSpPr>
          <p:cNvPr id="23" name="Text 21"/>
          <p:cNvSpPr txBox="1"/>
          <p:nvPr/>
        </p:nvSpPr>
        <p:spPr>
          <a:xfrm>
            <a:off x="822960" y="5285232"/>
            <a:ext cx="10552176" cy="566928"/>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Notice the economics. Annotation is the expensive step, so every design decision upstream exists to make sure the annotation budget lands on segments that are worth annotating.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735056" y="5504688"/>
            <a:ext cx="548640"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0863072" y="5705856"/>
            <a:ext cx="292608" cy="137160"/>
          </a:xfrm>
          <a:prstGeom prst="roundRect">
            <a:avLst>
              <a:gd name="adj" fmla="val 13333"/>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8C2B"/>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Retrieval</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7C9E4"/>
                </a:solidFill>
                <a:latin typeface="Calibri" pitchFamily="34" charset="0"/>
                <a:ea typeface="Calibri" pitchFamily="34" charset="-122"/>
                <a:cs typeface="Calibri" pitchFamily="34" charset="-120"/>
              </a:rPr>
              <a:t>Buying emotional balance with machine learning</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The central idea</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Reframe corpus construction as an information retrieval problem</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14</a:t>
            </a:r>
            <a:endParaRPr lang="en-US" sz="900" dirty="0"/>
          </a:p>
        </p:txBody>
      </p:sp>
      <p:sp>
        <p:nvSpPr>
          <p:cNvPr id="8" name="Shape 6"/>
          <p:cNvSpPr/>
          <p:nvPr/>
        </p:nvSpPr>
        <p:spPr>
          <a:xfrm>
            <a:off x="566928" y="1600200"/>
            <a:ext cx="5440680" cy="2286000"/>
          </a:xfrm>
          <a:prstGeom prst="roundRect">
            <a:avLst>
              <a:gd name="adj" fmla="val 2400"/>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The formulation</a:t>
            </a:r>
            <a:endParaRPr lang="en-US" sz="1500" dirty="0"/>
          </a:p>
        </p:txBody>
      </p:sp>
      <p:sp>
        <p:nvSpPr>
          <p:cNvPr id="11" name="Text 9"/>
          <p:cNvSpPr txBox="1"/>
          <p:nvPr/>
        </p:nvSpPr>
        <p:spPr>
          <a:xfrm>
            <a:off x="822960" y="220370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Train emotion models on corpora that already have labels. Run them over the unlabelled pool. Use their outputs to rank the pool, and annotate the extremes.</a:t>
            </a:r>
            <a:endParaRPr lang="en-US" sz="1280" dirty="0"/>
          </a:p>
          <a:p>
            <a:pPr marL="0" indent="0">
              <a:lnSpc>
                <a:spcPct val="108000"/>
              </a:lnSpc>
              <a:buNone/>
            </a:pPr>
            <a:endParaRPr lang="en-US" sz="1280" dirty="0"/>
          </a:p>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Four retrieval targets, run separately: high arousal, low arousal, high valence, low valence. Attacking the four corners is what produces coverage of the space.</a:t>
            </a:r>
            <a:endParaRPr lang="en-US" sz="1280" dirty="0"/>
          </a:p>
        </p:txBody>
      </p:sp>
      <p:sp>
        <p:nvSpPr>
          <p:cNvPr id="12" name="Shape 10"/>
          <p:cNvSpPr/>
          <p:nvPr/>
        </p:nvSpPr>
        <p:spPr>
          <a:xfrm>
            <a:off x="6190488" y="1600200"/>
            <a:ext cx="5440680" cy="2286000"/>
          </a:xfrm>
          <a:prstGeom prst="roundRect">
            <a:avLst>
              <a:gd name="adj" fmla="val 2400"/>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Why attributes rather than categories</a:t>
            </a:r>
            <a:endParaRPr lang="en-US" sz="1500" dirty="0"/>
          </a:p>
        </p:txBody>
      </p:sp>
      <p:sp>
        <p:nvSpPr>
          <p:cNvPr id="15" name="Text 13"/>
          <p:cNvSpPr txBox="1"/>
          <p:nvPr/>
        </p:nvSpPr>
        <p:spPr>
          <a:xfrm>
            <a:off x="6446520" y="220370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Two reasons the paper gives. First, emotional category sets differ wildly between corpora, so training a category model across them is awkward. Arousal and valence annotations exist almost everywhere.</a:t>
            </a:r>
            <a:endParaRPr lang="en-US" sz="1280" dirty="0"/>
          </a:p>
          <a:p>
            <a:pPr marL="0" indent="0">
              <a:lnSpc>
                <a:spcPct val="108000"/>
              </a:lnSpc>
              <a:buNone/>
            </a:pPr>
            <a:endParaRPr lang="en-US" sz="1280" dirty="0"/>
          </a:p>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Second, dominance correlates strongly with arousal, so it adds little; only two dimensions are used.</a:t>
            </a:r>
            <a:endParaRPr lang="en-US" sz="1280" dirty="0"/>
          </a:p>
        </p:txBody>
      </p:sp>
      <p:sp>
        <p:nvSpPr>
          <p:cNvPr id="16" name="Shape 14"/>
          <p:cNvSpPr/>
          <p:nvPr/>
        </p:nvSpPr>
        <p:spPr>
          <a:xfrm>
            <a:off x="566928" y="4041648"/>
            <a:ext cx="11064240" cy="2011680"/>
          </a:xfrm>
          <a:prstGeom prst="roundRect">
            <a:avLst>
              <a:gd name="adj" fmla="val 2727"/>
            </a:avLst>
          </a:prstGeom>
          <a:solidFill>
            <a:srgbClr val="2B1B3D"/>
          </a:solidFill>
          <a:ln w="12700">
            <a:solidFill>
              <a:srgbClr val="2B1B3D"/>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D98C2B"/>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What is really being proposed here</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Cross-corpus emotion recognition is usually treated as a benchmark — you train on one corpus, test on another, and report how much accuracy you lose. This paper treats it as a tool instead. The models do not need to be accurate enough to deploy; they only need to be better than chance at sorting a list.</a:t>
            </a:r>
            <a:endParaRPr lang="en-US" sz="1300" dirty="0"/>
          </a:p>
          <a:p>
            <a:pPr marL="0" indent="0">
              <a:lnSpc>
                <a:spcPct val="108000"/>
              </a:lnSpc>
              <a:buNone/>
            </a:pPr>
            <a:endParaRPr lang="en-US" sz="1300" dirty="0"/>
          </a:p>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That is a much lower bar, and it turns a known weakness of the field into a way of building the data that would fix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Five methods across three families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Each turns the retrieval problem into a different learning problem</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15</a:t>
            </a:r>
            <a:endParaRPr lang="en-US" sz="900" dirty="0"/>
          </a:p>
        </p:txBody>
      </p:sp>
      <p:sp>
        <p:nvSpPr>
          <p:cNvPr id="8" name="Shape 6"/>
          <p:cNvSpPr/>
          <p:nvPr/>
        </p:nvSpPr>
        <p:spPr>
          <a:xfrm>
            <a:off x="566928" y="1572768"/>
            <a:ext cx="3584448" cy="3200400"/>
          </a:xfrm>
          <a:prstGeom prst="roundRect">
            <a:avLst>
              <a:gd name="adj" fmla="val 1714"/>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650" b="1" dirty="0">
                <a:solidFill>
                  <a:srgbClr val="1E1230"/>
                </a:solidFill>
                <a:latin typeface="Cambria" pitchFamily="34" charset="0"/>
                <a:ea typeface="Cambria" pitchFamily="34" charset="-122"/>
                <a:cs typeface="Cambria" pitchFamily="34" charset="-120"/>
              </a:rPr>
              <a:t>Classification</a:t>
            </a:r>
            <a:endParaRPr lang="en-US" sz="1650" dirty="0"/>
          </a:p>
        </p:txBody>
      </p:sp>
      <p:sp>
        <p:nvSpPr>
          <p:cNvPr id="11" name="Text 9"/>
          <p:cNvSpPr txBox="1"/>
          <p:nvPr/>
        </p:nvSpPr>
        <p:spPr>
          <a:xfrm>
            <a:off x="822960" y="2176272"/>
            <a:ext cx="3072384" cy="2414016"/>
          </a:xfrm>
          <a:prstGeom prst="rect">
            <a:avLst/>
          </a:prstGeom>
          <a:noFill/>
          <a:ln/>
        </p:spPr>
        <p:txBody>
          <a:bodyPr wrap="square" lIns="0" tIns="0" rIns="0" bIns="0" rtlCol="0" anchor="t"/>
          <a:lstStyle/>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Train a binary classifier for high versus low, then rank by distance from the decision boundary.</a:t>
            </a:r>
            <a:endParaRPr lang="en-US" sz="1220" dirty="0"/>
          </a:p>
          <a:p>
            <a:pPr marL="0" indent="0">
              <a:lnSpc>
                <a:spcPct val="108000"/>
              </a:lnSpc>
              <a:buNone/>
            </a:pPr>
            <a:endParaRPr lang="en-US" sz="1220" dirty="0"/>
          </a:p>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SVM with a linear kernel</a:t>
            </a:r>
            <a:endParaRPr lang="en-US" sz="1220" dirty="0"/>
          </a:p>
          <a:p>
            <a:pPr marL="0" indent="0">
              <a:lnSpc>
                <a:spcPct val="108000"/>
              </a:lnSpc>
              <a:buNone/>
            </a:pPr>
            <a:endParaRPr lang="en-US" sz="1220" dirty="0"/>
          </a:p>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Bayesian-optimal classifier for dichotomised labels (BOC-DL), which uses the original continuous scores rather than throwing them away when binarising</a:t>
            </a:r>
            <a:endParaRPr lang="en-US" sz="1220" dirty="0"/>
          </a:p>
        </p:txBody>
      </p:sp>
      <p:sp>
        <p:nvSpPr>
          <p:cNvPr id="12" name="Shape 10"/>
          <p:cNvSpPr/>
          <p:nvPr/>
        </p:nvSpPr>
        <p:spPr>
          <a:xfrm>
            <a:off x="4279392" y="1572768"/>
            <a:ext cx="3584448" cy="3200400"/>
          </a:xfrm>
          <a:prstGeom prst="roundRect">
            <a:avLst>
              <a:gd name="adj" fmla="val 1714"/>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650" b="1" dirty="0">
                <a:solidFill>
                  <a:srgbClr val="1E1230"/>
                </a:solidFill>
                <a:latin typeface="Cambria" pitchFamily="34" charset="0"/>
                <a:ea typeface="Cambria" pitchFamily="34" charset="-122"/>
                <a:cs typeface="Cambria" pitchFamily="34" charset="-120"/>
              </a:rPr>
              <a:t>Preference learning</a:t>
            </a:r>
            <a:endParaRPr lang="en-US" sz="1650" dirty="0"/>
          </a:p>
        </p:txBody>
      </p:sp>
      <p:sp>
        <p:nvSpPr>
          <p:cNvPr id="15" name="Text 13"/>
          <p:cNvSpPr txBox="1"/>
          <p:nvPr/>
        </p:nvSpPr>
        <p:spPr>
          <a:xfrm>
            <a:off x="4535424" y="2176272"/>
            <a:ext cx="3072384" cy="2414016"/>
          </a:xfrm>
          <a:prstGeom prst="rect">
            <a:avLst/>
          </a:prstGeom>
          <a:noFill/>
          <a:ln/>
        </p:spPr>
        <p:txBody>
          <a:bodyPr wrap="square" lIns="0" tIns="0" rIns="0" bIns="0" rtlCol="0" anchor="t"/>
          <a:lstStyle/>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Train on pairs — 'A has higher arousal than B' — and rank the pool by a learned scoring function.</a:t>
            </a:r>
            <a:endParaRPr lang="en-US" sz="1220" dirty="0"/>
          </a:p>
          <a:p>
            <a:pPr marL="0" indent="0">
              <a:lnSpc>
                <a:spcPct val="108000"/>
              </a:lnSpc>
              <a:buNone/>
            </a:pPr>
            <a:endParaRPr lang="en-US" sz="1220" dirty="0"/>
          </a:p>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Rank-SVM</a:t>
            </a:r>
            <a:endParaRPr lang="en-US" sz="1220" dirty="0"/>
          </a:p>
          <a:p>
            <a:pPr marL="0" indent="0">
              <a:lnSpc>
                <a:spcPct val="108000"/>
              </a:lnSpc>
              <a:buNone/>
            </a:pPr>
            <a:endParaRPr lang="en-US" sz="1220" dirty="0"/>
          </a:p>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Gaussian-process ranking, a probabilistic kernel method for preference learning</a:t>
            </a:r>
            <a:endParaRPr lang="en-US" sz="1220" dirty="0"/>
          </a:p>
        </p:txBody>
      </p:sp>
      <p:sp>
        <p:nvSpPr>
          <p:cNvPr id="16" name="Shape 14"/>
          <p:cNvSpPr/>
          <p:nvPr/>
        </p:nvSpPr>
        <p:spPr>
          <a:xfrm>
            <a:off x="7991856" y="1572768"/>
            <a:ext cx="3584448" cy="3200400"/>
          </a:xfrm>
          <a:prstGeom prst="roundRect">
            <a:avLst>
              <a:gd name="adj" fmla="val 1714"/>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8412480" y="1737360"/>
            <a:ext cx="2944368" cy="365760"/>
          </a:xfrm>
          <a:prstGeom prst="rect">
            <a:avLst/>
          </a:prstGeom>
          <a:noFill/>
          <a:ln/>
        </p:spPr>
        <p:txBody>
          <a:bodyPr wrap="square" lIns="0" tIns="0" rIns="0" bIns="0" rtlCol="0" anchor="ctr"/>
          <a:lstStyle/>
          <a:p>
            <a:pPr marL="0" indent="0">
              <a:buNone/>
            </a:pPr>
            <a:r>
              <a:rPr lang="en-US" sz="1650" b="1" dirty="0">
                <a:solidFill>
                  <a:srgbClr val="1E1230"/>
                </a:solidFill>
                <a:latin typeface="Cambria" pitchFamily="34" charset="0"/>
                <a:ea typeface="Cambria" pitchFamily="34" charset="-122"/>
                <a:cs typeface="Cambria" pitchFamily="34" charset="-120"/>
              </a:rPr>
              <a:t>Regression</a:t>
            </a:r>
            <a:endParaRPr lang="en-US" sz="1650" dirty="0"/>
          </a:p>
        </p:txBody>
      </p:sp>
      <p:sp>
        <p:nvSpPr>
          <p:cNvPr id="19" name="Text 17"/>
          <p:cNvSpPr txBox="1"/>
          <p:nvPr/>
        </p:nvSpPr>
        <p:spPr>
          <a:xfrm>
            <a:off x="8247888" y="2176272"/>
            <a:ext cx="3072384" cy="2414016"/>
          </a:xfrm>
          <a:prstGeom prst="rect">
            <a:avLst/>
          </a:prstGeom>
          <a:noFill/>
          <a:ln/>
        </p:spPr>
        <p:txBody>
          <a:bodyPr wrap="square" lIns="0" tIns="0" rIns="0" bIns="0" rtlCol="0" anchor="t"/>
          <a:lstStyle/>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Predict the attribute value directly and take the top and bottom of the sorted list.</a:t>
            </a:r>
            <a:endParaRPr lang="en-US" sz="1220" dirty="0"/>
          </a:p>
          <a:p>
            <a:pPr marL="0" indent="0">
              <a:lnSpc>
                <a:spcPct val="108000"/>
              </a:lnSpc>
              <a:buNone/>
            </a:pPr>
            <a:endParaRPr lang="en-US" sz="1220" dirty="0"/>
          </a:p>
          <a:p>
            <a:pPr marL="0" indent="0">
              <a:lnSpc>
                <a:spcPct val="108000"/>
              </a:lnSpc>
              <a:buNone/>
            </a:pPr>
            <a:r>
              <a:rPr lang="en-US" sz="1220" dirty="0">
                <a:solidFill>
                  <a:srgbClr val="3A3045"/>
                </a:solidFill>
                <a:latin typeface="Calibri" pitchFamily="34" charset="0"/>
                <a:ea typeface="Calibri" pitchFamily="34" charset="-122"/>
                <a:cs typeface="Calibri" pitchFamily="34" charset="-120"/>
              </a:rPr>
              <a:t>Support vector regression</a:t>
            </a:r>
            <a:endParaRPr lang="en-US" sz="1220" dirty="0"/>
          </a:p>
        </p:txBody>
      </p:sp>
      <p:sp>
        <p:nvSpPr>
          <p:cNvPr id="20" name="Shape 18"/>
          <p:cNvSpPr/>
          <p:nvPr/>
        </p:nvSpPr>
        <p:spPr>
          <a:xfrm>
            <a:off x="566928" y="5010912"/>
            <a:ext cx="11064240" cy="1042416"/>
          </a:xfrm>
          <a:prstGeom prst="roundRect">
            <a:avLst>
              <a:gd name="adj" fmla="val 5263"/>
            </a:avLst>
          </a:prstGeom>
          <a:solidFill>
            <a:srgbClr val="F4F1F7"/>
          </a:solidFill>
          <a:ln w="12700">
            <a:solidFill>
              <a:srgbClr val="E3DCEA"/>
            </a:solidFill>
            <a:prstDash val="solid"/>
          </a:ln>
        </p:spPr>
        <p:txBody>
          <a:bodyPr/>
          <a:lstStyle/>
          <a:p>
            <a:endParaRPr lang="en-US"/>
          </a:p>
        </p:txBody>
      </p:sp>
      <p:sp>
        <p:nvSpPr>
          <p:cNvPr id="21" name="Shape 19"/>
          <p:cNvSpPr/>
          <p:nvPr/>
        </p:nvSpPr>
        <p:spPr>
          <a:xfrm>
            <a:off x="786384" y="5303520"/>
            <a:ext cx="109728" cy="109728"/>
          </a:xfrm>
          <a:prstGeom prst="ellipse">
            <a:avLst/>
          </a:prstGeom>
          <a:solidFill>
            <a:srgbClr val="6A4A8C"/>
          </a:solidFill>
          <a:ln w="12700">
            <a:solidFill>
              <a:srgbClr val="333333"/>
            </a:solidFill>
            <a:prstDash val="solid"/>
          </a:ln>
        </p:spPr>
        <p:txBody>
          <a:bodyPr/>
          <a:lstStyle/>
          <a:p>
            <a:endParaRPr lang="en-US"/>
          </a:p>
        </p:txBody>
      </p:sp>
      <p:sp>
        <p:nvSpPr>
          <p:cNvPr id="22" name="Text 20"/>
          <p:cNvSpPr txBox="1"/>
          <p:nvPr/>
        </p:nvSpPr>
        <p:spPr>
          <a:xfrm>
            <a:off x="987552" y="5175504"/>
            <a:ext cx="1042416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Why preference learning is a natural fit</a:t>
            </a:r>
            <a:endParaRPr lang="en-US" sz="1500" dirty="0"/>
          </a:p>
        </p:txBody>
      </p:sp>
      <p:sp>
        <p:nvSpPr>
          <p:cNvPr id="23" name="Text 21"/>
          <p:cNvSpPr txBox="1"/>
          <p:nvPr/>
        </p:nvSpPr>
        <p:spPr>
          <a:xfrm>
            <a:off x="822960" y="5614416"/>
            <a:ext cx="10552176" cy="256032"/>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Emotional attribute scores are not really absolute quantities — a rating of 4 from one annotator is not the same as a 4 from another. Relative judgements survive that; absolute ones do not. Ranking sidesteps the calibration problem entirely.</a:t>
            </a:r>
            <a:endParaRPr lang="en-US" sz="12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How the retrieval models were trained</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Two acted corpora, used as a springboard for a natural one</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16</a:t>
            </a:r>
            <a:endParaRPr lang="en-US" sz="900" dirty="0"/>
          </a:p>
        </p:txBody>
      </p:sp>
      <p:sp>
        <p:nvSpPr>
          <p:cNvPr id="8" name="Text 6"/>
          <p:cNvSpPr txBox="1"/>
          <p:nvPr/>
        </p:nvSpPr>
        <p:spPr>
          <a:xfrm>
            <a:off x="566928" y="1572768"/>
            <a:ext cx="2697480"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13,222</a:t>
            </a:r>
            <a:endParaRPr lang="en-US" sz="3600" dirty="0"/>
          </a:p>
        </p:txBody>
      </p:sp>
      <p:sp>
        <p:nvSpPr>
          <p:cNvPr id="9" name="Text 7"/>
          <p:cNvSpPr txBox="1"/>
          <p:nvPr/>
        </p:nvSpPr>
        <p:spPr>
          <a:xfrm>
            <a:off x="566928" y="2267712"/>
            <a:ext cx="26974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sentences from IEMOCAP</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and MSP-IMPROV combined</a:t>
            </a:r>
            <a:endParaRPr lang="en-US" sz="1150" dirty="0"/>
          </a:p>
        </p:txBody>
      </p:sp>
      <p:sp>
        <p:nvSpPr>
          <p:cNvPr id="10" name="Text 8"/>
          <p:cNvSpPr txBox="1"/>
          <p:nvPr/>
        </p:nvSpPr>
        <p:spPr>
          <a:xfrm>
            <a:off x="3392424" y="1572768"/>
            <a:ext cx="2697480" cy="694944"/>
          </a:xfrm>
          <a:prstGeom prst="rect">
            <a:avLst/>
          </a:prstGeom>
          <a:noFill/>
          <a:ln/>
        </p:spPr>
        <p:txBody>
          <a:bodyPr wrap="square" lIns="0" tIns="0" rIns="0" bIns="0" rtlCol="0" anchor="ctr"/>
          <a:lstStyle/>
          <a:p>
            <a:pPr marL="0" indent="0" algn="ctr">
              <a:buNone/>
            </a:pPr>
            <a:r>
              <a:rPr lang="en-US" sz="3600" b="1" dirty="0">
                <a:solidFill>
                  <a:srgbClr val="D98C2B"/>
                </a:solidFill>
                <a:latin typeface="Cambria" pitchFamily="34" charset="0"/>
                <a:ea typeface="Cambria" pitchFamily="34" charset="-122"/>
                <a:cs typeface="Cambria" pitchFamily="34" charset="-120"/>
              </a:rPr>
              <a:t>50 / 50</a:t>
            </a:r>
            <a:endParaRPr lang="en-US" sz="3600" dirty="0"/>
          </a:p>
        </p:txBody>
      </p:sp>
      <p:sp>
        <p:nvSpPr>
          <p:cNvPr id="11" name="Text 9"/>
          <p:cNvSpPr txBox="1"/>
          <p:nvPr/>
        </p:nvSpPr>
        <p:spPr>
          <a:xfrm>
            <a:off x="3392424" y="2267712"/>
            <a:ext cx="26974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speaker-independent train</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and test partitions</a:t>
            </a:r>
            <a:endParaRPr lang="en-US" sz="1150" dirty="0"/>
          </a:p>
        </p:txBody>
      </p:sp>
      <p:sp>
        <p:nvSpPr>
          <p:cNvPr id="12" name="Text 10"/>
          <p:cNvSpPr txBox="1"/>
          <p:nvPr/>
        </p:nvSpPr>
        <p:spPr>
          <a:xfrm>
            <a:off x="6217920" y="1572768"/>
            <a:ext cx="2697480"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eGeMAPS</a:t>
            </a:r>
            <a:endParaRPr lang="en-US" sz="3600" dirty="0"/>
          </a:p>
        </p:txBody>
      </p:sp>
      <p:sp>
        <p:nvSpPr>
          <p:cNvPr id="13" name="Text 11"/>
          <p:cNvSpPr txBox="1"/>
          <p:nvPr/>
        </p:nvSpPr>
        <p:spPr>
          <a:xfrm>
            <a:off x="6217920" y="2267712"/>
            <a:ext cx="26974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the Geneva minimalistic</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acoustic parameter set</a:t>
            </a:r>
            <a:endParaRPr lang="en-US" sz="1150" dirty="0"/>
          </a:p>
        </p:txBody>
      </p:sp>
      <p:sp>
        <p:nvSpPr>
          <p:cNvPr id="14" name="Text 12"/>
          <p:cNvSpPr txBox="1"/>
          <p:nvPr/>
        </p:nvSpPr>
        <p:spPr>
          <a:xfrm>
            <a:off x="9043416" y="1572768"/>
            <a:ext cx="2587752" cy="694944"/>
          </a:xfrm>
          <a:prstGeom prst="rect">
            <a:avLst/>
          </a:prstGeom>
          <a:noFill/>
          <a:ln/>
        </p:spPr>
        <p:txBody>
          <a:bodyPr wrap="square" lIns="0" tIns="0" rIns="0" bIns="0" rtlCol="0" anchor="ctr"/>
          <a:lstStyle/>
          <a:p>
            <a:pPr marL="0" indent="0" algn="ctr">
              <a:buNone/>
            </a:pPr>
            <a:r>
              <a:rPr lang="en-US" sz="3600" b="1" dirty="0">
                <a:solidFill>
                  <a:srgbClr val="D98C2B"/>
                </a:solidFill>
                <a:latin typeface="Cambria" pitchFamily="34" charset="0"/>
                <a:ea typeface="Cambria" pitchFamily="34" charset="-122"/>
                <a:cs typeface="Cambria" pitchFamily="34" charset="-120"/>
              </a:rPr>
              <a:t>P@K</a:t>
            </a:r>
            <a:endParaRPr lang="en-US" sz="3600" dirty="0"/>
          </a:p>
        </p:txBody>
      </p:sp>
      <p:sp>
        <p:nvSpPr>
          <p:cNvPr id="15" name="Text 13"/>
          <p:cNvSpPr txBox="1"/>
          <p:nvPr/>
        </p:nvSpPr>
        <p:spPr>
          <a:xfrm>
            <a:off x="9043416" y="2267712"/>
            <a:ext cx="2587752"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precision at K — the</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retrieval evaluation metric</a:t>
            </a:r>
            <a:endParaRPr lang="en-US" sz="1150" dirty="0"/>
          </a:p>
        </p:txBody>
      </p:sp>
      <p:sp>
        <p:nvSpPr>
          <p:cNvPr id="16" name="Shape 14"/>
          <p:cNvSpPr/>
          <p:nvPr/>
        </p:nvSpPr>
        <p:spPr>
          <a:xfrm>
            <a:off x="566928" y="3200400"/>
            <a:ext cx="5440680" cy="1737360"/>
          </a:xfrm>
          <a:prstGeom prst="roundRect">
            <a:avLst>
              <a:gd name="adj" fmla="val 3158"/>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987552" y="33649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Why eGeMAPS</a:t>
            </a:r>
            <a:endParaRPr lang="en-US" sz="1500" dirty="0"/>
          </a:p>
        </p:txBody>
      </p:sp>
      <p:sp>
        <p:nvSpPr>
          <p:cNvPr id="19" name="Text 17"/>
          <p:cNvSpPr txBox="1"/>
          <p:nvPr/>
        </p:nvSpPr>
        <p:spPr>
          <a:xfrm>
            <a:off x="822960" y="3803904"/>
            <a:ext cx="4928616" cy="95097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A small, theoretically motivated set of prosodic, spectral and voice-quality parameters, chosen for their standing as markers of affective change.</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paper's stated reason for using it: the set is small enough that no feature selection is needed, which makes the results reproducible by other groups.</a:t>
            </a:r>
            <a:endParaRPr lang="en-US" sz="1260" dirty="0"/>
          </a:p>
        </p:txBody>
      </p:sp>
      <p:sp>
        <p:nvSpPr>
          <p:cNvPr id="20" name="Shape 18"/>
          <p:cNvSpPr/>
          <p:nvPr/>
        </p:nvSpPr>
        <p:spPr>
          <a:xfrm>
            <a:off x="6190488" y="3200400"/>
            <a:ext cx="5440680" cy="1737360"/>
          </a:xfrm>
          <a:prstGeom prst="roundRect">
            <a:avLst>
              <a:gd name="adj" fmla="val 3158"/>
            </a:avLst>
          </a:prstGeom>
          <a:solidFill>
            <a:srgbClr val="F4F1F7"/>
          </a:solidFill>
          <a:ln w="12700">
            <a:solidFill>
              <a:srgbClr val="E3DCEA"/>
            </a:solidFill>
            <a:prstDash val="solid"/>
          </a:ln>
        </p:spPr>
        <p:txBody>
          <a:bodyPr/>
          <a:lstStyle/>
          <a:p>
            <a:endParaRPr lang="en-US"/>
          </a:p>
        </p:txBody>
      </p:sp>
      <p:sp>
        <p:nvSpPr>
          <p:cNvPr id="21" name="Shape 19"/>
          <p:cNvSpPr/>
          <p:nvPr/>
        </p:nvSpPr>
        <p:spPr>
          <a:xfrm>
            <a:off x="6409944" y="3493008"/>
            <a:ext cx="109728" cy="109728"/>
          </a:xfrm>
          <a:prstGeom prst="ellipse">
            <a:avLst/>
          </a:prstGeom>
          <a:solidFill>
            <a:srgbClr val="D98C2B"/>
          </a:solidFill>
          <a:ln w="12700">
            <a:solidFill>
              <a:srgbClr val="333333"/>
            </a:solidFill>
            <a:prstDash val="solid"/>
          </a:ln>
        </p:spPr>
        <p:txBody>
          <a:bodyPr/>
          <a:lstStyle/>
          <a:p>
            <a:endParaRPr lang="en-US"/>
          </a:p>
        </p:txBody>
      </p:sp>
      <p:sp>
        <p:nvSpPr>
          <p:cNvPr id="22" name="Text 20"/>
          <p:cNvSpPr txBox="1"/>
          <p:nvPr/>
        </p:nvSpPr>
        <p:spPr>
          <a:xfrm>
            <a:off x="6611112" y="33649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How precision at K is defined here</a:t>
            </a:r>
            <a:endParaRPr lang="en-US" sz="1500" dirty="0"/>
          </a:p>
        </p:txBody>
      </p:sp>
      <p:sp>
        <p:nvSpPr>
          <p:cNvPr id="23" name="Text 21"/>
          <p:cNvSpPr txBox="1"/>
          <p:nvPr/>
        </p:nvSpPr>
        <p:spPr>
          <a:xfrm>
            <a:off x="6446520" y="3803904"/>
            <a:ext cx="4928616" cy="95097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Split the test set at the median for each attribute. A retrieved sample counts as correct if it falls on the intended side.</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P@10 of 87% for arousal means: retrieve the top 10% and bottom 10% of the ranked list, and 87% of those land on the correct side. P@50 covers everything, so it equals binary accuracy.</a:t>
            </a:r>
            <a:endParaRPr lang="en-US" sz="1260" dirty="0"/>
          </a:p>
        </p:txBody>
      </p:sp>
      <p:sp>
        <p:nvSpPr>
          <p:cNvPr id="24" name="Shape 22"/>
          <p:cNvSpPr/>
          <p:nvPr/>
        </p:nvSpPr>
        <p:spPr>
          <a:xfrm>
            <a:off x="566928" y="5065776"/>
            <a:ext cx="11064240" cy="987552"/>
          </a:xfrm>
          <a:prstGeom prst="roundRect">
            <a:avLst>
              <a:gd name="adj" fmla="val 5556"/>
            </a:avLst>
          </a:prstGeom>
          <a:solidFill>
            <a:srgbClr val="2B1B3D"/>
          </a:solidFill>
          <a:ln w="12700">
            <a:solidFill>
              <a:srgbClr val="2B1B3D"/>
            </a:solidFill>
            <a:prstDash val="solid"/>
          </a:ln>
        </p:spPr>
        <p:txBody>
          <a:bodyPr/>
          <a:lstStyle/>
          <a:p>
            <a:endParaRPr lang="en-US"/>
          </a:p>
        </p:txBody>
      </p:sp>
      <p:sp>
        <p:nvSpPr>
          <p:cNvPr id="25" name="Text 23"/>
          <p:cNvSpPr txBox="1"/>
          <p:nvPr/>
        </p:nvSpPr>
        <p:spPr>
          <a:xfrm>
            <a:off x="822960" y="5285232"/>
            <a:ext cx="10552176" cy="566928"/>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Note the irony sitting inside the method: the models that find naturalistic emotional speech are trained entirely on acted speech, from twenty-two actors between the two corpora. We will come back to what that means.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Which methods work</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Retrieval performance on the held-out acted data</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17</a:t>
            </a:r>
            <a:endParaRPr lang="en-US" sz="900" dirty="0"/>
          </a:p>
        </p:txBody>
      </p:sp>
      <p:sp>
        <p:nvSpPr>
          <p:cNvPr id="8" name="Shape 6"/>
          <p:cNvSpPr/>
          <p:nvPr/>
        </p:nvSpPr>
        <p:spPr>
          <a:xfrm>
            <a:off x="566928" y="1600200"/>
            <a:ext cx="5440680" cy="2148840"/>
          </a:xfrm>
          <a:prstGeom prst="roundRect">
            <a:avLst>
              <a:gd name="adj" fmla="val 2553"/>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Arousal is easy</a:t>
            </a:r>
            <a:endParaRPr lang="en-US" sz="1500" dirty="0"/>
          </a:p>
        </p:txBody>
      </p:sp>
      <p:sp>
        <p:nvSpPr>
          <p:cNvPr id="11" name="Text 9"/>
          <p:cNvSpPr txBox="1"/>
          <p:nvPr/>
        </p:nvSpPr>
        <p:spPr>
          <a:xfrm>
            <a:off x="822960" y="2203704"/>
            <a:ext cx="4928616" cy="1362456"/>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Support vector regression, Rank-SVM and Gaussian-process ranking are all competitive, with precision above 80% when 20% of the list is retrieved.</a:t>
            </a:r>
            <a:endParaRPr lang="en-US" sz="1280" dirty="0"/>
          </a:p>
          <a:p>
            <a:pPr marL="0" indent="0">
              <a:lnSpc>
                <a:spcPct val="108000"/>
              </a:lnSpc>
              <a:buNone/>
            </a:pPr>
            <a:endParaRPr lang="en-US" sz="1280" dirty="0"/>
          </a:p>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Arousal is carried by loudness, pitch range and speaking rate — properties that acoustic features capture directly.</a:t>
            </a:r>
            <a:endParaRPr lang="en-US" sz="1280" dirty="0"/>
          </a:p>
        </p:txBody>
      </p:sp>
      <p:sp>
        <p:nvSpPr>
          <p:cNvPr id="12" name="Shape 10"/>
          <p:cNvSpPr/>
          <p:nvPr/>
        </p:nvSpPr>
        <p:spPr>
          <a:xfrm>
            <a:off x="6190488" y="1600200"/>
            <a:ext cx="5440680" cy="2148840"/>
          </a:xfrm>
          <a:prstGeom prst="roundRect">
            <a:avLst>
              <a:gd name="adj" fmla="val 2553"/>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Valence is hard</a:t>
            </a:r>
            <a:endParaRPr lang="en-US" sz="1500" dirty="0"/>
          </a:p>
        </p:txBody>
      </p:sp>
      <p:sp>
        <p:nvSpPr>
          <p:cNvPr id="15" name="Text 13"/>
          <p:cNvSpPr txBox="1"/>
          <p:nvPr/>
        </p:nvSpPr>
        <p:spPr>
          <a:xfrm>
            <a:off x="6446520" y="2203704"/>
            <a:ext cx="4928616" cy="1362456"/>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Precision rates are markedly lower across every method. The two ranking approaches do best, with BOC-DL also competitive.</a:t>
            </a:r>
            <a:endParaRPr lang="en-US" sz="1280" dirty="0"/>
          </a:p>
          <a:p>
            <a:pPr marL="0" indent="0">
              <a:lnSpc>
                <a:spcPct val="108000"/>
              </a:lnSpc>
              <a:buNone/>
            </a:pPr>
            <a:endParaRPr lang="en-US" sz="1280" dirty="0"/>
          </a:p>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This is a standing result in the field: few acoustic parameters discriminate valence, which is why text and facial cues usually carry it.</a:t>
            </a:r>
            <a:endParaRPr lang="en-US" sz="1280" dirty="0"/>
          </a:p>
        </p:txBody>
      </p:sp>
      <p:sp>
        <p:nvSpPr>
          <p:cNvPr id="16" name="Shape 14"/>
          <p:cNvSpPr/>
          <p:nvPr/>
        </p:nvSpPr>
        <p:spPr>
          <a:xfrm>
            <a:off x="566928" y="3950208"/>
            <a:ext cx="11064240" cy="1042416"/>
          </a:xfrm>
          <a:prstGeom prst="roundRect">
            <a:avLst>
              <a:gd name="adj" fmla="val 5263"/>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786384" y="4242816"/>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987552" y="4114800"/>
            <a:ext cx="1042416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The three methods taken forward</a:t>
            </a:r>
            <a:endParaRPr lang="en-US" sz="1500" dirty="0"/>
          </a:p>
        </p:txBody>
      </p:sp>
      <p:sp>
        <p:nvSpPr>
          <p:cNvPr id="19" name="Text 17"/>
          <p:cNvSpPr txBox="1"/>
          <p:nvPr/>
        </p:nvSpPr>
        <p:spPr>
          <a:xfrm>
            <a:off x="822960" y="4553712"/>
            <a:ext cx="10552176" cy="256032"/>
          </a:xfrm>
          <a:prstGeom prst="rect">
            <a:avLst/>
          </a:prstGeom>
          <a:noFill/>
          <a:ln/>
        </p:spPr>
        <p:txBody>
          <a:bodyPr wrap="square" lIns="0" tIns="0" rIns="0" bIns="0" rtlCol="0" anchor="t"/>
          <a:lstStyle/>
          <a:p>
            <a:pPr marL="0" indent="0">
              <a:lnSpc>
                <a:spcPct val="108000"/>
              </a:lnSpc>
              <a:buNone/>
            </a:pPr>
            <a:r>
              <a:rPr lang="en-US" sz="1280" dirty="0">
                <a:solidFill>
                  <a:srgbClr val="3A3045"/>
                </a:solidFill>
                <a:latin typeface="Calibri" pitchFamily="34" charset="0"/>
                <a:ea typeface="Calibri" pitchFamily="34" charset="-122"/>
                <a:cs typeface="Calibri" pitchFamily="34" charset="-120"/>
              </a:rPr>
              <a:t>BOC-DL for classification, Gaussian-process ranking for preference learning, and support vector regression for regression — the best in each family. Using three rather than one hedges against any single model's blind spots being baked into the corpus.</a:t>
            </a:r>
            <a:endParaRPr lang="en-US" sz="1280" dirty="0"/>
          </a:p>
        </p:txBody>
      </p:sp>
      <p:sp>
        <p:nvSpPr>
          <p:cNvPr id="20" name="Shape 18"/>
          <p:cNvSpPr/>
          <p:nvPr/>
        </p:nvSpPr>
        <p:spPr>
          <a:xfrm>
            <a:off x="566928" y="5120640"/>
            <a:ext cx="11064240" cy="932688"/>
          </a:xfrm>
          <a:prstGeom prst="roundRect">
            <a:avLst>
              <a:gd name="adj" fmla="val 5882"/>
            </a:avLst>
          </a:prstGeom>
          <a:solidFill>
            <a:srgbClr val="2B1B3D"/>
          </a:solidFill>
          <a:ln w="12700">
            <a:solidFill>
              <a:srgbClr val="2B1B3D"/>
            </a:solidFill>
            <a:prstDash val="solid"/>
          </a:ln>
        </p:spPr>
        <p:txBody>
          <a:bodyPr/>
          <a:lstStyle/>
          <a:p>
            <a:endParaRPr lang="en-US"/>
          </a:p>
        </p:txBody>
      </p:sp>
      <p:sp>
        <p:nvSpPr>
          <p:cNvPr id="21" name="Text 19"/>
          <p:cNvSpPr txBox="1"/>
          <p:nvPr/>
        </p:nvSpPr>
        <p:spPr>
          <a:xfrm>
            <a:off x="822960" y="5340096"/>
            <a:ext cx="10552176" cy="512064"/>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The arousal–valence asymmetry is the single most consequential result in the paper. It shapes what the corpus ends up containing, and it recurs in the final results. Watch for it.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What was actually retrieved</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Twelve targeted conditions plus a control</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18</a:t>
            </a:r>
            <a:endParaRPr lang="en-US" sz="900" dirty="0"/>
          </a:p>
        </p:txBody>
      </p:sp>
      <p:sp>
        <p:nvSpPr>
          <p:cNvPr id="8" name="Text 6"/>
          <p:cNvSpPr txBox="1"/>
          <p:nvPr/>
        </p:nvSpPr>
        <p:spPr>
          <a:xfrm>
            <a:off x="4572000" y="1371600"/>
            <a:ext cx="2011680" cy="274320"/>
          </a:xfrm>
          <a:prstGeom prst="rect">
            <a:avLst/>
          </a:prstGeom>
          <a:noFill/>
          <a:ln/>
        </p:spPr>
        <p:txBody>
          <a:bodyPr wrap="square" lIns="0" tIns="0" rIns="0" bIns="0" rtlCol="0" anchor="ctr"/>
          <a:lstStyle/>
          <a:p>
            <a:pPr marL="0" indent="0">
              <a:buNone/>
            </a:pPr>
            <a:r>
              <a:rPr lang="en-US" sz="1250" b="1" dirty="0">
                <a:solidFill>
                  <a:srgbClr val="6A4A8C"/>
                </a:solidFill>
                <a:latin typeface="Calibri" pitchFamily="34" charset="0"/>
                <a:ea typeface="Calibri" pitchFamily="34" charset="-122"/>
                <a:cs typeface="Calibri" pitchFamily="34" charset="-120"/>
              </a:rPr>
              <a:t>GP-rank</a:t>
            </a:r>
            <a:endParaRPr lang="en-US" sz="1250" dirty="0"/>
          </a:p>
        </p:txBody>
      </p:sp>
      <p:sp>
        <p:nvSpPr>
          <p:cNvPr id="9" name="Text 7"/>
          <p:cNvSpPr txBox="1"/>
          <p:nvPr/>
        </p:nvSpPr>
        <p:spPr>
          <a:xfrm>
            <a:off x="6675120" y="1371600"/>
            <a:ext cx="2011680" cy="274320"/>
          </a:xfrm>
          <a:prstGeom prst="rect">
            <a:avLst/>
          </a:prstGeom>
          <a:noFill/>
          <a:ln/>
        </p:spPr>
        <p:txBody>
          <a:bodyPr wrap="square" lIns="0" tIns="0" rIns="0" bIns="0" rtlCol="0" anchor="ctr"/>
          <a:lstStyle/>
          <a:p>
            <a:pPr marL="0" indent="0">
              <a:buNone/>
            </a:pPr>
            <a:r>
              <a:rPr lang="en-US" sz="1250" b="1" dirty="0">
                <a:solidFill>
                  <a:srgbClr val="D98C2B"/>
                </a:solidFill>
                <a:latin typeface="Calibri" pitchFamily="34" charset="0"/>
                <a:ea typeface="Calibri" pitchFamily="34" charset="-122"/>
                <a:cs typeface="Calibri" pitchFamily="34" charset="-120"/>
              </a:rPr>
              <a:t>SVR</a:t>
            </a:r>
            <a:endParaRPr lang="en-US" sz="1250" dirty="0"/>
          </a:p>
        </p:txBody>
      </p:sp>
      <p:sp>
        <p:nvSpPr>
          <p:cNvPr id="10" name="Text 8"/>
          <p:cNvSpPr txBox="1"/>
          <p:nvPr/>
        </p:nvSpPr>
        <p:spPr>
          <a:xfrm>
            <a:off x="8778240" y="1371600"/>
            <a:ext cx="2011680" cy="274320"/>
          </a:xfrm>
          <a:prstGeom prst="rect">
            <a:avLst/>
          </a:prstGeom>
          <a:noFill/>
          <a:ln/>
        </p:spPr>
        <p:txBody>
          <a:bodyPr wrap="square" lIns="0" tIns="0" rIns="0" bIns="0" rtlCol="0" anchor="ctr"/>
          <a:lstStyle/>
          <a:p>
            <a:pPr marL="0" indent="0">
              <a:buNone/>
            </a:pPr>
            <a:r>
              <a:rPr lang="en-US" sz="1250" b="1" dirty="0">
                <a:solidFill>
                  <a:srgbClr val="6A4A8C"/>
                </a:solidFill>
                <a:latin typeface="Calibri" pitchFamily="34" charset="0"/>
                <a:ea typeface="Calibri" pitchFamily="34" charset="-122"/>
                <a:cs typeface="Calibri" pitchFamily="34" charset="-120"/>
              </a:rPr>
              <a:t>BOC-DL</a:t>
            </a:r>
            <a:endParaRPr lang="en-US" sz="1250" dirty="0"/>
          </a:p>
        </p:txBody>
      </p:sp>
      <p:sp>
        <p:nvSpPr>
          <p:cNvPr id="11" name="Shape 9"/>
          <p:cNvSpPr/>
          <p:nvPr/>
        </p:nvSpPr>
        <p:spPr>
          <a:xfrm>
            <a:off x="566928" y="1682496"/>
            <a:ext cx="11064240" cy="475488"/>
          </a:xfrm>
          <a:prstGeom prst="roundRect">
            <a:avLst>
              <a:gd name="adj" fmla="val 5769"/>
            </a:avLst>
          </a:prstGeom>
          <a:solidFill>
            <a:srgbClr val="F4F1F7"/>
          </a:solidFill>
          <a:ln w="12700">
            <a:solidFill>
              <a:srgbClr val="EAE4EF"/>
            </a:solidFill>
            <a:prstDash val="solid"/>
          </a:ln>
        </p:spPr>
        <p:txBody>
          <a:bodyPr/>
          <a:lstStyle/>
          <a:p>
            <a:endParaRPr lang="en-US"/>
          </a:p>
        </p:txBody>
      </p:sp>
      <p:sp>
        <p:nvSpPr>
          <p:cNvPr id="12" name="Text 10"/>
          <p:cNvSpPr txBox="1"/>
          <p:nvPr/>
        </p:nvSpPr>
        <p:spPr>
          <a:xfrm>
            <a:off x="786384" y="1792224"/>
            <a:ext cx="3291840" cy="274320"/>
          </a:xfrm>
          <a:prstGeom prst="rect">
            <a:avLst/>
          </a:prstGeom>
          <a:noFill/>
          <a:ln/>
        </p:spPr>
        <p:txBody>
          <a:bodyPr wrap="square" lIns="0" tIns="0" rIns="0" bIns="0" rtlCol="0" anchor="ctr"/>
          <a:lstStyle/>
          <a:p>
            <a:pPr marL="0" indent="0">
              <a:buNone/>
            </a:pPr>
            <a:r>
              <a:rPr lang="en-US" sz="1300" b="1" dirty="0">
                <a:solidFill>
                  <a:srgbClr val="1E1230"/>
                </a:solidFill>
                <a:latin typeface="Calibri" pitchFamily="34" charset="0"/>
                <a:ea typeface="Calibri" pitchFamily="34" charset="-122"/>
                <a:cs typeface="Calibri" pitchFamily="34" charset="-120"/>
              </a:rPr>
              <a:t>High arousal</a:t>
            </a:r>
            <a:endParaRPr lang="en-US" sz="1300" dirty="0"/>
          </a:p>
        </p:txBody>
      </p:sp>
      <p:sp>
        <p:nvSpPr>
          <p:cNvPr id="13" name="Text 11"/>
          <p:cNvSpPr txBox="1"/>
          <p:nvPr/>
        </p:nvSpPr>
        <p:spPr>
          <a:xfrm>
            <a:off x="4572000" y="1792224"/>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14" name="Text 12"/>
          <p:cNvSpPr txBox="1"/>
          <p:nvPr/>
        </p:nvSpPr>
        <p:spPr>
          <a:xfrm>
            <a:off x="6675120" y="1792224"/>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15" name="Text 13"/>
          <p:cNvSpPr txBox="1"/>
          <p:nvPr/>
        </p:nvSpPr>
        <p:spPr>
          <a:xfrm>
            <a:off x="8778240" y="1792224"/>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16" name="Shape 14"/>
          <p:cNvSpPr/>
          <p:nvPr/>
        </p:nvSpPr>
        <p:spPr>
          <a:xfrm>
            <a:off x="566928" y="2212848"/>
            <a:ext cx="11064240" cy="475488"/>
          </a:xfrm>
          <a:prstGeom prst="roundRect">
            <a:avLst>
              <a:gd name="adj" fmla="val 5769"/>
            </a:avLst>
          </a:prstGeom>
          <a:solidFill>
            <a:srgbClr val="FFFFFF"/>
          </a:solidFill>
          <a:ln w="12700">
            <a:solidFill>
              <a:srgbClr val="EAE4EF"/>
            </a:solidFill>
            <a:prstDash val="solid"/>
          </a:ln>
        </p:spPr>
        <p:txBody>
          <a:bodyPr/>
          <a:lstStyle/>
          <a:p>
            <a:endParaRPr lang="en-US"/>
          </a:p>
        </p:txBody>
      </p:sp>
      <p:sp>
        <p:nvSpPr>
          <p:cNvPr id="17" name="Text 15"/>
          <p:cNvSpPr txBox="1"/>
          <p:nvPr/>
        </p:nvSpPr>
        <p:spPr>
          <a:xfrm>
            <a:off x="786384" y="2322576"/>
            <a:ext cx="3291840" cy="274320"/>
          </a:xfrm>
          <a:prstGeom prst="rect">
            <a:avLst/>
          </a:prstGeom>
          <a:noFill/>
          <a:ln/>
        </p:spPr>
        <p:txBody>
          <a:bodyPr wrap="square" lIns="0" tIns="0" rIns="0" bIns="0" rtlCol="0" anchor="ctr"/>
          <a:lstStyle/>
          <a:p>
            <a:pPr marL="0" indent="0">
              <a:buNone/>
            </a:pPr>
            <a:r>
              <a:rPr lang="en-US" sz="1300" b="1" dirty="0">
                <a:solidFill>
                  <a:srgbClr val="1E1230"/>
                </a:solidFill>
                <a:latin typeface="Calibri" pitchFamily="34" charset="0"/>
                <a:ea typeface="Calibri" pitchFamily="34" charset="-122"/>
                <a:cs typeface="Calibri" pitchFamily="34" charset="-120"/>
              </a:rPr>
              <a:t>Low arousal</a:t>
            </a:r>
            <a:endParaRPr lang="en-US" sz="1300" dirty="0"/>
          </a:p>
        </p:txBody>
      </p:sp>
      <p:sp>
        <p:nvSpPr>
          <p:cNvPr id="18" name="Text 16"/>
          <p:cNvSpPr txBox="1"/>
          <p:nvPr/>
        </p:nvSpPr>
        <p:spPr>
          <a:xfrm>
            <a:off x="4572000" y="2322576"/>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19" name="Text 17"/>
          <p:cNvSpPr txBox="1"/>
          <p:nvPr/>
        </p:nvSpPr>
        <p:spPr>
          <a:xfrm>
            <a:off x="6675120" y="2322576"/>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20" name="Text 18"/>
          <p:cNvSpPr txBox="1"/>
          <p:nvPr/>
        </p:nvSpPr>
        <p:spPr>
          <a:xfrm>
            <a:off x="8778240" y="2322576"/>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21" name="Shape 19"/>
          <p:cNvSpPr/>
          <p:nvPr/>
        </p:nvSpPr>
        <p:spPr>
          <a:xfrm>
            <a:off x="566928" y="2743200"/>
            <a:ext cx="11064240" cy="475488"/>
          </a:xfrm>
          <a:prstGeom prst="roundRect">
            <a:avLst>
              <a:gd name="adj" fmla="val 5769"/>
            </a:avLst>
          </a:prstGeom>
          <a:solidFill>
            <a:srgbClr val="F4F1F7"/>
          </a:solidFill>
          <a:ln w="12700">
            <a:solidFill>
              <a:srgbClr val="EAE4EF"/>
            </a:solidFill>
            <a:prstDash val="solid"/>
          </a:ln>
        </p:spPr>
        <p:txBody>
          <a:bodyPr/>
          <a:lstStyle/>
          <a:p>
            <a:endParaRPr lang="en-US"/>
          </a:p>
        </p:txBody>
      </p:sp>
      <p:sp>
        <p:nvSpPr>
          <p:cNvPr id="22" name="Text 20"/>
          <p:cNvSpPr txBox="1"/>
          <p:nvPr/>
        </p:nvSpPr>
        <p:spPr>
          <a:xfrm>
            <a:off x="786384" y="2852928"/>
            <a:ext cx="3291840" cy="274320"/>
          </a:xfrm>
          <a:prstGeom prst="rect">
            <a:avLst/>
          </a:prstGeom>
          <a:noFill/>
          <a:ln/>
        </p:spPr>
        <p:txBody>
          <a:bodyPr wrap="square" lIns="0" tIns="0" rIns="0" bIns="0" rtlCol="0" anchor="ctr"/>
          <a:lstStyle/>
          <a:p>
            <a:pPr marL="0" indent="0">
              <a:buNone/>
            </a:pPr>
            <a:r>
              <a:rPr lang="en-US" sz="1300" b="1" dirty="0">
                <a:solidFill>
                  <a:srgbClr val="1E1230"/>
                </a:solidFill>
                <a:latin typeface="Calibri" pitchFamily="34" charset="0"/>
                <a:ea typeface="Calibri" pitchFamily="34" charset="-122"/>
                <a:cs typeface="Calibri" pitchFamily="34" charset="-120"/>
              </a:rPr>
              <a:t>High valence</a:t>
            </a:r>
            <a:endParaRPr lang="en-US" sz="1300" dirty="0"/>
          </a:p>
        </p:txBody>
      </p:sp>
      <p:sp>
        <p:nvSpPr>
          <p:cNvPr id="23" name="Text 21"/>
          <p:cNvSpPr txBox="1"/>
          <p:nvPr/>
        </p:nvSpPr>
        <p:spPr>
          <a:xfrm>
            <a:off x="4572000" y="2852928"/>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24" name="Text 22"/>
          <p:cNvSpPr txBox="1"/>
          <p:nvPr/>
        </p:nvSpPr>
        <p:spPr>
          <a:xfrm>
            <a:off x="6675120" y="2852928"/>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25" name="Text 23"/>
          <p:cNvSpPr txBox="1"/>
          <p:nvPr/>
        </p:nvSpPr>
        <p:spPr>
          <a:xfrm>
            <a:off x="8778240" y="2852928"/>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26" name="Shape 24"/>
          <p:cNvSpPr/>
          <p:nvPr/>
        </p:nvSpPr>
        <p:spPr>
          <a:xfrm>
            <a:off x="566928" y="3273552"/>
            <a:ext cx="11064240" cy="475488"/>
          </a:xfrm>
          <a:prstGeom prst="roundRect">
            <a:avLst>
              <a:gd name="adj" fmla="val 5769"/>
            </a:avLst>
          </a:prstGeom>
          <a:solidFill>
            <a:srgbClr val="FFFFFF"/>
          </a:solidFill>
          <a:ln w="12700">
            <a:solidFill>
              <a:srgbClr val="EAE4EF"/>
            </a:solidFill>
            <a:prstDash val="solid"/>
          </a:ln>
        </p:spPr>
        <p:txBody>
          <a:bodyPr/>
          <a:lstStyle/>
          <a:p>
            <a:endParaRPr lang="en-US"/>
          </a:p>
        </p:txBody>
      </p:sp>
      <p:sp>
        <p:nvSpPr>
          <p:cNvPr id="27" name="Text 25"/>
          <p:cNvSpPr txBox="1"/>
          <p:nvPr/>
        </p:nvSpPr>
        <p:spPr>
          <a:xfrm>
            <a:off x="786384" y="3383280"/>
            <a:ext cx="3291840" cy="274320"/>
          </a:xfrm>
          <a:prstGeom prst="rect">
            <a:avLst/>
          </a:prstGeom>
          <a:noFill/>
          <a:ln/>
        </p:spPr>
        <p:txBody>
          <a:bodyPr wrap="square" lIns="0" tIns="0" rIns="0" bIns="0" rtlCol="0" anchor="ctr"/>
          <a:lstStyle/>
          <a:p>
            <a:pPr marL="0" indent="0">
              <a:buNone/>
            </a:pPr>
            <a:r>
              <a:rPr lang="en-US" sz="1300" b="1" dirty="0">
                <a:solidFill>
                  <a:srgbClr val="1E1230"/>
                </a:solidFill>
                <a:latin typeface="Calibri" pitchFamily="34" charset="0"/>
                <a:ea typeface="Calibri" pitchFamily="34" charset="-122"/>
                <a:cs typeface="Calibri" pitchFamily="34" charset="-120"/>
              </a:rPr>
              <a:t>Low valence</a:t>
            </a:r>
            <a:endParaRPr lang="en-US" sz="1300" dirty="0"/>
          </a:p>
        </p:txBody>
      </p:sp>
      <p:sp>
        <p:nvSpPr>
          <p:cNvPr id="28" name="Text 26"/>
          <p:cNvSpPr txBox="1"/>
          <p:nvPr/>
        </p:nvSpPr>
        <p:spPr>
          <a:xfrm>
            <a:off x="4572000" y="3383280"/>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29" name="Text 27"/>
          <p:cNvSpPr txBox="1"/>
          <p:nvPr/>
        </p:nvSpPr>
        <p:spPr>
          <a:xfrm>
            <a:off x="6675120" y="3383280"/>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30" name="Text 28"/>
          <p:cNvSpPr txBox="1"/>
          <p:nvPr/>
        </p:nvSpPr>
        <p:spPr>
          <a:xfrm>
            <a:off x="8778240" y="3383280"/>
            <a:ext cx="1463040" cy="274320"/>
          </a:xfrm>
          <a:prstGeom prst="rect">
            <a:avLst/>
          </a:prstGeom>
          <a:noFill/>
          <a:ln/>
        </p:spPr>
        <p:txBody>
          <a:bodyPr wrap="square" lIns="0" tIns="0" rIns="0" bIns="0" rtlCol="0" anchor="ctr"/>
          <a:lstStyle/>
          <a:p>
            <a:pPr marL="0" indent="0">
              <a:buNone/>
            </a:pPr>
            <a:r>
              <a:rPr lang="en-US" sz="1300" dirty="0">
                <a:solidFill>
                  <a:srgbClr val="3A3045"/>
                </a:solidFill>
                <a:latin typeface="Calibri" pitchFamily="34" charset="0"/>
                <a:ea typeface="Calibri" pitchFamily="34" charset="-122"/>
                <a:cs typeface="Calibri" pitchFamily="34" charset="-120"/>
              </a:rPr>
              <a:t>200</a:t>
            </a:r>
            <a:endParaRPr lang="en-US" sz="1300" dirty="0"/>
          </a:p>
        </p:txBody>
      </p:sp>
      <p:sp>
        <p:nvSpPr>
          <p:cNvPr id="31" name="Shape 29"/>
          <p:cNvSpPr/>
          <p:nvPr/>
        </p:nvSpPr>
        <p:spPr>
          <a:xfrm>
            <a:off x="566928" y="3858768"/>
            <a:ext cx="11064240" cy="475488"/>
          </a:xfrm>
          <a:prstGeom prst="roundRect">
            <a:avLst>
              <a:gd name="adj" fmla="val 5769"/>
            </a:avLst>
          </a:prstGeom>
          <a:solidFill>
            <a:srgbClr val="FBF2E4"/>
          </a:solidFill>
          <a:ln w="12700">
            <a:solidFill>
              <a:srgbClr val="D98C2B"/>
            </a:solidFill>
            <a:prstDash val="solid"/>
          </a:ln>
        </p:spPr>
        <p:txBody>
          <a:bodyPr/>
          <a:lstStyle/>
          <a:p>
            <a:endParaRPr lang="en-US"/>
          </a:p>
        </p:txBody>
      </p:sp>
      <p:sp>
        <p:nvSpPr>
          <p:cNvPr id="32" name="Text 30"/>
          <p:cNvSpPr txBox="1"/>
          <p:nvPr/>
        </p:nvSpPr>
        <p:spPr>
          <a:xfrm>
            <a:off x="786384" y="3968496"/>
            <a:ext cx="3291840" cy="274320"/>
          </a:xfrm>
          <a:prstGeom prst="rect">
            <a:avLst/>
          </a:prstGeom>
          <a:noFill/>
          <a:ln/>
        </p:spPr>
        <p:txBody>
          <a:bodyPr wrap="square" lIns="0" tIns="0" rIns="0" bIns="0" rtlCol="0" anchor="ctr"/>
          <a:lstStyle/>
          <a:p>
            <a:pPr marL="0" indent="0">
              <a:buNone/>
            </a:pPr>
            <a:r>
              <a:rPr lang="en-US" sz="1300" b="1" dirty="0">
                <a:solidFill>
                  <a:srgbClr val="1E1230"/>
                </a:solidFill>
                <a:latin typeface="Calibri" pitchFamily="34" charset="0"/>
                <a:ea typeface="Calibri" pitchFamily="34" charset="-122"/>
                <a:cs typeface="Calibri" pitchFamily="34" charset="-120"/>
              </a:rPr>
              <a:t>Random control</a:t>
            </a:r>
            <a:endParaRPr lang="en-US" sz="1300" dirty="0"/>
          </a:p>
        </p:txBody>
      </p:sp>
      <p:sp>
        <p:nvSpPr>
          <p:cNvPr id="33" name="Text 31"/>
          <p:cNvSpPr txBox="1"/>
          <p:nvPr/>
        </p:nvSpPr>
        <p:spPr>
          <a:xfrm>
            <a:off x="4572000" y="3968496"/>
            <a:ext cx="6400800" cy="274320"/>
          </a:xfrm>
          <a:prstGeom prst="rect">
            <a:avLst/>
          </a:prstGeom>
          <a:noFill/>
          <a:ln/>
        </p:spPr>
        <p:txBody>
          <a:bodyPr wrap="square" lIns="0" tIns="0" rIns="0" bIns="0" rtlCol="0" anchor="ctr"/>
          <a:lstStyle/>
          <a:p>
            <a:pPr marL="0" indent="0">
              <a:buNone/>
            </a:pPr>
            <a:r>
              <a:rPr lang="en-US" sz="1250" dirty="0">
                <a:solidFill>
                  <a:srgbClr val="3A3045"/>
                </a:solidFill>
                <a:latin typeface="Calibri" pitchFamily="34" charset="0"/>
                <a:ea typeface="Calibri" pitchFamily="34" charset="-122"/>
                <a:cs typeface="Calibri" pitchFamily="34" charset="-120"/>
              </a:rPr>
              <a:t>100 sentences drawn at random from the pool</a:t>
            </a:r>
            <a:endParaRPr lang="en-US" sz="1250" dirty="0"/>
          </a:p>
        </p:txBody>
      </p:sp>
      <p:sp>
        <p:nvSpPr>
          <p:cNvPr id="34" name="Text 32"/>
          <p:cNvSpPr txBox="1"/>
          <p:nvPr/>
        </p:nvSpPr>
        <p:spPr>
          <a:xfrm>
            <a:off x="566928" y="4315968"/>
            <a:ext cx="5440680" cy="694944"/>
          </a:xfrm>
          <a:prstGeom prst="rect">
            <a:avLst/>
          </a:prstGeom>
          <a:noFill/>
          <a:ln/>
        </p:spPr>
        <p:txBody>
          <a:bodyPr wrap="square" lIns="0" tIns="0" rIns="0" bIns="0" rtlCol="0" anchor="ctr"/>
          <a:lstStyle/>
          <a:p>
            <a:pPr marL="0" indent="0" algn="ctr">
              <a:buNone/>
            </a:pPr>
            <a:r>
              <a:rPr lang="en-US" sz="3600" b="1" dirty="0">
                <a:solidFill>
                  <a:srgbClr val="6A4A8C"/>
                </a:solidFill>
                <a:latin typeface="Cambria" pitchFamily="34" charset="0"/>
                <a:ea typeface="Cambria" pitchFamily="34" charset="-122"/>
                <a:cs typeface="Cambria" pitchFamily="34" charset="-120"/>
              </a:rPr>
              <a:t>2,400 + 100</a:t>
            </a:r>
            <a:endParaRPr lang="en-US" sz="3600" dirty="0"/>
          </a:p>
        </p:txBody>
      </p:sp>
      <p:sp>
        <p:nvSpPr>
          <p:cNvPr id="35" name="Text 33"/>
          <p:cNvSpPr txBox="1"/>
          <p:nvPr/>
        </p:nvSpPr>
        <p:spPr>
          <a:xfrm>
            <a:off x="566928" y="5010912"/>
            <a:ext cx="54406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sentences requested — but the three</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methods often selected the same segments</a:t>
            </a:r>
            <a:endParaRPr lang="en-US" sz="1150" dirty="0"/>
          </a:p>
        </p:txBody>
      </p:sp>
      <p:sp>
        <p:nvSpPr>
          <p:cNvPr id="36" name="Text 34"/>
          <p:cNvSpPr txBox="1"/>
          <p:nvPr/>
        </p:nvSpPr>
        <p:spPr>
          <a:xfrm>
            <a:off x="6190488" y="4315968"/>
            <a:ext cx="5440680" cy="694944"/>
          </a:xfrm>
          <a:prstGeom prst="rect">
            <a:avLst/>
          </a:prstGeom>
          <a:noFill/>
          <a:ln/>
        </p:spPr>
        <p:txBody>
          <a:bodyPr wrap="square" lIns="0" tIns="0" rIns="0" bIns="0" rtlCol="0" anchor="ctr"/>
          <a:lstStyle/>
          <a:p>
            <a:pPr marL="0" indent="0" algn="ctr">
              <a:buNone/>
            </a:pPr>
            <a:r>
              <a:rPr lang="en-US" sz="3600" b="1" dirty="0">
                <a:solidFill>
                  <a:srgbClr val="D98C2B"/>
                </a:solidFill>
                <a:latin typeface="Cambria" pitchFamily="34" charset="0"/>
                <a:ea typeface="Cambria" pitchFamily="34" charset="-122"/>
                <a:cs typeface="Cambria" pitchFamily="34" charset="-120"/>
              </a:rPr>
              <a:t>2,317</a:t>
            </a:r>
            <a:endParaRPr lang="en-US" sz="3600" dirty="0"/>
          </a:p>
        </p:txBody>
      </p:sp>
      <p:sp>
        <p:nvSpPr>
          <p:cNvPr id="37" name="Text 35"/>
          <p:cNvSpPr txBox="1"/>
          <p:nvPr/>
        </p:nvSpPr>
        <p:spPr>
          <a:xfrm>
            <a:off x="6190488" y="5010912"/>
            <a:ext cx="5440680" cy="566928"/>
          </a:xfrm>
          <a:prstGeom prst="rect">
            <a:avLst/>
          </a:prstGeom>
          <a:noFill/>
          <a:ln/>
        </p:spPr>
        <p:txBody>
          <a:bodyPr wrap="square" lIns="0" tIns="0" rIns="0" bIns="0" rtlCol="0" anchor="ctr"/>
          <a:lstStyle/>
          <a:p>
            <a:pPr marL="0" indent="0" algn="ctr">
              <a:buNone/>
            </a:pPr>
            <a:r>
              <a:rPr lang="en-US" sz="1150" dirty="0">
                <a:solidFill>
                  <a:srgbClr val="6A5C77"/>
                </a:solidFill>
                <a:latin typeface="Calibri" pitchFamily="34" charset="0"/>
                <a:ea typeface="Calibri" pitchFamily="34" charset="-122"/>
                <a:cs typeface="Calibri" pitchFamily="34" charset="-120"/>
              </a:rPr>
              <a:t>distinct sentences after removing the</a:t>
            </a:r>
            <a:endParaRPr lang="en-US" sz="1150" dirty="0"/>
          </a:p>
          <a:p>
            <a:pPr marL="0" indent="0" algn="ctr">
              <a:buNone/>
            </a:pPr>
            <a:r>
              <a:rPr lang="en-US" sz="1150" dirty="0">
                <a:solidFill>
                  <a:srgbClr val="6A5C77"/>
                </a:solidFill>
                <a:latin typeface="Calibri" pitchFamily="34" charset="0"/>
                <a:ea typeface="Calibri" pitchFamily="34" charset="-122"/>
                <a:cs typeface="Calibri" pitchFamily="34" charset="-120"/>
              </a:rPr>
              <a:t>overlap, all annotated</a:t>
            </a:r>
            <a:endParaRPr lang="en-US" sz="1150" dirty="0"/>
          </a:p>
        </p:txBody>
      </p:sp>
      <p:sp>
        <p:nvSpPr>
          <p:cNvPr id="38" name="Shape 36"/>
          <p:cNvSpPr/>
          <p:nvPr/>
        </p:nvSpPr>
        <p:spPr>
          <a:xfrm>
            <a:off x="566928" y="5742432"/>
            <a:ext cx="11064240" cy="310896"/>
          </a:xfrm>
          <a:prstGeom prst="roundRect">
            <a:avLst>
              <a:gd name="adj" fmla="val 17647"/>
            </a:avLst>
          </a:prstGeom>
          <a:solidFill>
            <a:srgbClr val="FFFFFF"/>
          </a:solidFill>
          <a:ln w="12700">
            <a:solidFill>
              <a:srgbClr val="FFFFFF"/>
            </a:solidFill>
            <a:prstDash val="solid"/>
          </a:ln>
        </p:spPr>
        <p:txBody>
          <a:bodyPr/>
          <a:lstStyle/>
          <a:p>
            <a:endParaRPr lang="en-US"/>
          </a:p>
        </p:txBody>
      </p:sp>
      <p:sp>
        <p:nvSpPr>
          <p:cNvPr id="39" name="Text 37"/>
          <p:cNvSpPr txBox="1"/>
          <p:nvPr/>
        </p:nvSpPr>
        <p:spPr>
          <a:xfrm>
            <a:off x="822960" y="5961888"/>
            <a:ext cx="10552176" cy="0"/>
          </a:xfrm>
          <a:prstGeom prst="rect">
            <a:avLst/>
          </a:prstGeom>
          <a:noFill/>
          <a:ln/>
        </p:spPr>
        <p:txBody>
          <a:bodyPr wrap="square" lIns="0" tIns="0" rIns="0" bIns="0" rtlCol="0" anchor="t"/>
          <a:lstStyle/>
          <a:p>
            <a:pPr marL="0" indent="0">
              <a:lnSpc>
                <a:spcPct val="108000"/>
              </a:lnSpc>
              <a:buNone/>
            </a:pPr>
            <a:r>
              <a:rPr lang="en-US" sz="1200" dirty="0">
                <a:solidFill>
                  <a:srgbClr val="3A3045"/>
                </a:solidFill>
                <a:latin typeface="Calibri" pitchFamily="34" charset="0"/>
                <a:ea typeface="Calibri" pitchFamily="34" charset="-122"/>
                <a:cs typeface="Calibri" pitchFamily="34" charset="-120"/>
              </a:rPr>
              <a:t>Rejected segments were replaced by the next entries in each sorted list until 200 were reached per condition.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735056" y="5504688"/>
            <a:ext cx="548640"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0863072" y="5705856"/>
            <a:ext cx="292608" cy="137160"/>
          </a:xfrm>
          <a:prstGeom prst="roundRect">
            <a:avLst>
              <a:gd name="adj" fmla="val 13333"/>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8C2B"/>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Annotation</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7C9E4"/>
                </a:solidFill>
                <a:latin typeface="Calibri" pitchFamily="34" charset="0"/>
                <a:ea typeface="Calibri" pitchFamily="34" charset="-122"/>
                <a:cs typeface="Calibri" pitchFamily="34" charset="-120"/>
              </a:rPr>
              <a:t>Crowdsourcing that watches its workers in real time</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The questionnaire</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Three attributes, one primary emotion, and an open secondary set</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20</a:t>
            </a:r>
            <a:endParaRPr lang="en-US" sz="900" dirty="0"/>
          </a:p>
        </p:txBody>
      </p:sp>
      <p:sp>
        <p:nvSpPr>
          <p:cNvPr id="8" name="Shape 6"/>
          <p:cNvSpPr/>
          <p:nvPr/>
        </p:nvSpPr>
        <p:spPr>
          <a:xfrm>
            <a:off x="566928" y="1572768"/>
            <a:ext cx="3584448" cy="2468880"/>
          </a:xfrm>
          <a:prstGeom prst="roundRect">
            <a:avLst>
              <a:gd name="adj" fmla="val 2222"/>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Attributes</a:t>
            </a:r>
            <a:endParaRPr lang="en-US" sz="1500" dirty="0"/>
          </a:p>
        </p:txBody>
      </p:sp>
      <p:sp>
        <p:nvSpPr>
          <p:cNvPr id="11" name="Text 9"/>
          <p:cNvSpPr txBox="1"/>
          <p:nvPr/>
        </p:nvSpPr>
        <p:spPr>
          <a:xfrm>
            <a:off x="822960" y="2176272"/>
            <a:ext cx="3072384" cy="1682496"/>
          </a:xfrm>
          <a:prstGeom prst="rect">
            <a:avLst/>
          </a:prstGeom>
          <a:noFill/>
          <a:ln/>
        </p:spPr>
        <p:txBody>
          <a:bodyPr wrap="square" lIns="0" tIns="0" rIns="0" bIns="0" rtlCol="0" anchor="t"/>
          <a:lstStyle/>
          <a:p>
            <a:pPr marL="0" indent="0">
              <a:lnSpc>
                <a:spcPct val="108000"/>
              </a:lnSpc>
              <a:buNone/>
            </a:pPr>
            <a:r>
              <a:rPr lang="en-US" sz="1240" dirty="0">
                <a:solidFill>
                  <a:srgbClr val="3A3045"/>
                </a:solidFill>
                <a:latin typeface="Calibri" pitchFamily="34" charset="0"/>
                <a:ea typeface="Calibri" pitchFamily="34" charset="-122"/>
                <a:cs typeface="Calibri" pitchFamily="34" charset="-120"/>
              </a:rPr>
              <a:t>Valence, arousal and dominance, each on a seven-point Likert scale.</a:t>
            </a:r>
            <a:endParaRPr lang="en-US" sz="1240" dirty="0"/>
          </a:p>
          <a:p>
            <a:pPr marL="0" indent="0">
              <a:lnSpc>
                <a:spcPct val="108000"/>
              </a:lnSpc>
              <a:buNone/>
            </a:pPr>
            <a:endParaRPr lang="en-US" sz="1240" dirty="0"/>
          </a:p>
          <a:p>
            <a:pPr marL="0" indent="0">
              <a:lnSpc>
                <a:spcPct val="108000"/>
              </a:lnSpc>
              <a:buNone/>
            </a:pPr>
            <a:r>
              <a:rPr lang="en-US" sz="1240" dirty="0">
                <a:solidFill>
                  <a:srgbClr val="3A3045"/>
                </a:solidFill>
                <a:latin typeface="Calibri" pitchFamily="34" charset="0"/>
                <a:ea typeface="Calibri" pitchFamily="34" charset="-122"/>
                <a:cs typeface="Calibri" pitchFamily="34" charset="-120"/>
              </a:rPr>
              <a:t>Self-assessment manikins guide the ratings visually — the same lexicon-free instrument used in IEMOCAP, chosen because raters do not have to share a definition of any emotion word.</a:t>
            </a:r>
            <a:endParaRPr lang="en-US" sz="1240" dirty="0"/>
          </a:p>
        </p:txBody>
      </p:sp>
      <p:sp>
        <p:nvSpPr>
          <p:cNvPr id="12" name="Shape 10"/>
          <p:cNvSpPr/>
          <p:nvPr/>
        </p:nvSpPr>
        <p:spPr>
          <a:xfrm>
            <a:off x="4279392" y="1572768"/>
            <a:ext cx="3584448" cy="2468880"/>
          </a:xfrm>
          <a:prstGeom prst="roundRect">
            <a:avLst>
              <a:gd name="adj" fmla="val 2222"/>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Primary emotion</a:t>
            </a:r>
            <a:endParaRPr lang="en-US" sz="1500" dirty="0"/>
          </a:p>
        </p:txBody>
      </p:sp>
      <p:sp>
        <p:nvSpPr>
          <p:cNvPr id="15" name="Text 13"/>
          <p:cNvSpPr txBox="1"/>
          <p:nvPr/>
        </p:nvSpPr>
        <p:spPr>
          <a:xfrm>
            <a:off x="4535424" y="2176272"/>
            <a:ext cx="3072384" cy="1682496"/>
          </a:xfrm>
          <a:prstGeom prst="rect">
            <a:avLst/>
          </a:prstGeom>
          <a:noFill/>
          <a:ln/>
        </p:spPr>
        <p:txBody>
          <a:bodyPr wrap="square" lIns="0" tIns="0" rIns="0" bIns="0" rtlCol="0" anchor="t"/>
          <a:lstStyle/>
          <a:p>
            <a:pPr marL="0" indent="0">
              <a:lnSpc>
                <a:spcPct val="108000"/>
              </a:lnSpc>
              <a:buNone/>
            </a:pPr>
            <a:r>
              <a:rPr lang="en-US" sz="1240" dirty="0">
                <a:solidFill>
                  <a:srgbClr val="3A3045"/>
                </a:solidFill>
                <a:latin typeface="Calibri" pitchFamily="34" charset="0"/>
                <a:ea typeface="Calibri" pitchFamily="34" charset="-122"/>
                <a:cs typeface="Calibri" pitchFamily="34" charset="-120"/>
              </a:rPr>
              <a:t>One choice only, from: anger, sadness, happiness, surprise, fear, disgust, contempt, neutral, and other with a free-text box.</a:t>
            </a:r>
            <a:endParaRPr lang="en-US" sz="1240" dirty="0"/>
          </a:p>
          <a:p>
            <a:pPr marL="0" indent="0">
              <a:lnSpc>
                <a:spcPct val="108000"/>
              </a:lnSpc>
              <a:buNone/>
            </a:pPr>
            <a:endParaRPr lang="en-US" sz="1240" dirty="0"/>
          </a:p>
          <a:p>
            <a:pPr marL="0" indent="0">
              <a:lnSpc>
                <a:spcPct val="108000"/>
              </a:lnSpc>
              <a:buNone/>
            </a:pPr>
            <a:r>
              <a:rPr lang="en-US" sz="1240" dirty="0">
                <a:solidFill>
                  <a:srgbClr val="3A3045"/>
                </a:solidFill>
                <a:latin typeface="Calibri" pitchFamily="34" charset="0"/>
                <a:ea typeface="Calibri" pitchFamily="34" charset="-122"/>
                <a:cs typeface="Calibri" pitchFamily="34" charset="-120"/>
              </a:rPr>
              <a:t>Nine options, against the five that IEMOCAP originally targeted and the six in CREMA-D.</a:t>
            </a:r>
            <a:endParaRPr lang="en-US" sz="1240" dirty="0"/>
          </a:p>
        </p:txBody>
      </p:sp>
      <p:sp>
        <p:nvSpPr>
          <p:cNvPr id="16" name="Shape 14"/>
          <p:cNvSpPr/>
          <p:nvPr/>
        </p:nvSpPr>
        <p:spPr>
          <a:xfrm>
            <a:off x="7991856" y="1572768"/>
            <a:ext cx="3639312" cy="2468880"/>
          </a:xfrm>
          <a:prstGeom prst="roundRect">
            <a:avLst>
              <a:gd name="adj" fmla="val 2222"/>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Secondary emotions</a:t>
            </a:r>
            <a:endParaRPr lang="en-US" sz="1500" dirty="0"/>
          </a:p>
        </p:txBody>
      </p:sp>
      <p:sp>
        <p:nvSpPr>
          <p:cNvPr id="19" name="Text 17"/>
          <p:cNvSpPr txBox="1"/>
          <p:nvPr/>
        </p:nvSpPr>
        <p:spPr>
          <a:xfrm>
            <a:off x="8247888" y="2176272"/>
            <a:ext cx="3127248" cy="1682496"/>
          </a:xfrm>
          <a:prstGeom prst="rect">
            <a:avLst/>
          </a:prstGeom>
          <a:noFill/>
          <a:ln/>
        </p:spPr>
        <p:txBody>
          <a:bodyPr wrap="square" lIns="0" tIns="0" rIns="0" bIns="0" rtlCol="0" anchor="t"/>
          <a:lstStyle/>
          <a:p>
            <a:pPr marL="0" indent="0">
              <a:lnSpc>
                <a:spcPct val="108000"/>
              </a:lnSpc>
              <a:buNone/>
            </a:pPr>
            <a:r>
              <a:rPr lang="en-US" sz="1240" dirty="0">
                <a:solidFill>
                  <a:srgbClr val="3A3045"/>
                </a:solidFill>
                <a:latin typeface="Calibri" pitchFamily="34" charset="0"/>
                <a:ea typeface="Calibri" pitchFamily="34" charset="-122"/>
                <a:cs typeface="Calibri" pitchFamily="34" charset="-120"/>
              </a:rPr>
              <a:t>Select all that apply, from an extended list adding amused, frustrated, depressed, concerned, disappointed, excited, confused and annoyed.</a:t>
            </a:r>
            <a:endParaRPr lang="en-US" sz="1240" dirty="0"/>
          </a:p>
          <a:p>
            <a:pPr marL="0" indent="0">
              <a:lnSpc>
                <a:spcPct val="108000"/>
              </a:lnSpc>
              <a:buNone/>
            </a:pPr>
            <a:endParaRPr lang="en-US" sz="1240" dirty="0"/>
          </a:p>
          <a:p>
            <a:pPr marL="0" indent="0">
              <a:lnSpc>
                <a:spcPct val="108000"/>
              </a:lnSpc>
              <a:buNone/>
            </a:pPr>
            <a:r>
              <a:rPr lang="en-US" sz="1240" dirty="0">
                <a:solidFill>
                  <a:srgbClr val="3A3045"/>
                </a:solidFill>
                <a:latin typeface="Calibri" pitchFamily="34" charset="0"/>
                <a:ea typeface="Calibri" pitchFamily="34" charset="-122"/>
                <a:cs typeface="Calibri" pitchFamily="34" charset="-120"/>
              </a:rPr>
              <a:t>Similar classes are grouped in the interface to reduce cognitive load.</a:t>
            </a:r>
            <a:endParaRPr lang="en-US" sz="1240" dirty="0"/>
          </a:p>
        </p:txBody>
      </p:sp>
      <p:sp>
        <p:nvSpPr>
          <p:cNvPr id="20" name="Shape 18"/>
          <p:cNvSpPr/>
          <p:nvPr/>
        </p:nvSpPr>
        <p:spPr>
          <a:xfrm>
            <a:off x="566928" y="4242816"/>
            <a:ext cx="11064240" cy="1810512"/>
          </a:xfrm>
          <a:prstGeom prst="roundRect">
            <a:avLst>
              <a:gd name="adj" fmla="val 3030"/>
            </a:avLst>
          </a:prstGeom>
          <a:solidFill>
            <a:srgbClr val="2B1B3D"/>
          </a:solidFill>
          <a:ln w="12700">
            <a:solidFill>
              <a:srgbClr val="2B1B3D"/>
            </a:solidFill>
            <a:prstDash val="solid"/>
          </a:ln>
        </p:spPr>
        <p:txBody>
          <a:bodyPr/>
          <a:lstStyle/>
          <a:p>
            <a:endParaRPr lang="en-US"/>
          </a:p>
        </p:txBody>
      </p:sp>
      <p:sp>
        <p:nvSpPr>
          <p:cNvPr id="21" name="Shape 19"/>
          <p:cNvSpPr/>
          <p:nvPr/>
        </p:nvSpPr>
        <p:spPr>
          <a:xfrm>
            <a:off x="786384" y="4535424"/>
            <a:ext cx="109728" cy="109728"/>
          </a:xfrm>
          <a:prstGeom prst="ellipse">
            <a:avLst/>
          </a:prstGeom>
          <a:solidFill>
            <a:srgbClr val="D98C2B"/>
          </a:solidFill>
          <a:ln w="12700">
            <a:solidFill>
              <a:srgbClr val="333333"/>
            </a:solidFill>
            <a:prstDash val="solid"/>
          </a:ln>
        </p:spPr>
        <p:txBody>
          <a:bodyPr/>
          <a:lstStyle/>
          <a:p>
            <a:endParaRPr lang="en-US"/>
          </a:p>
        </p:txBody>
      </p:sp>
      <p:sp>
        <p:nvSpPr>
          <p:cNvPr id="22" name="Text 20"/>
          <p:cNvSpPr txBox="1"/>
          <p:nvPr/>
        </p:nvSpPr>
        <p:spPr>
          <a:xfrm>
            <a:off x="987552" y="44074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secondary layer exists</a:t>
            </a:r>
            <a:endParaRPr lang="en-US" sz="1500" dirty="0"/>
          </a:p>
        </p:txBody>
      </p:sp>
      <p:sp>
        <p:nvSpPr>
          <p:cNvPr id="23" name="Text 21"/>
          <p:cNvSpPr txBox="1"/>
          <p:nvPr/>
        </p:nvSpPr>
        <p:spPr>
          <a:xfrm>
            <a:off x="822960" y="4846320"/>
            <a:ext cx="10552176" cy="1024128"/>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Naturalistic speech routinely conveys blends that no single label describes — sadness with frustration, amusement with contempt. Forcing one choice discards that; recording both a forced primary and an unforced multi-label secondary keeps it.</a:t>
            </a:r>
            <a:endParaRPr lang="en-US" sz="1300" dirty="0"/>
          </a:p>
          <a:p>
            <a:pPr marL="0" indent="0">
              <a:lnSpc>
                <a:spcPct val="108000"/>
              </a:lnSpc>
              <a:buNone/>
            </a:pPr>
            <a:endParaRPr lang="en-US" sz="1300" dirty="0"/>
          </a:p>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Compare the two corpora from the first seminar: IEMOCAP allowed multiple labels but shipped a majority vote; CREMA-D forced six-way choice with no 'other'. This design keeps both readings.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Real-time quality control</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The most transferable piece of craft in the paper</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21</a:t>
            </a:r>
            <a:endParaRPr lang="en-US" sz="900" dirty="0"/>
          </a:p>
        </p:txBody>
      </p:sp>
      <p:sp>
        <p:nvSpPr>
          <p:cNvPr id="8" name="Shape 6"/>
          <p:cNvSpPr/>
          <p:nvPr/>
        </p:nvSpPr>
        <p:spPr>
          <a:xfrm>
            <a:off x="566928" y="1554480"/>
            <a:ext cx="5440680" cy="2286000"/>
          </a:xfrm>
          <a:prstGeom prst="roundRect">
            <a:avLst>
              <a:gd name="adj" fmla="val 2400"/>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The mechanism</a:t>
            </a:r>
            <a:endParaRPr lang="en-US" sz="1500" dirty="0"/>
          </a:p>
        </p:txBody>
      </p:sp>
      <p:sp>
        <p:nvSpPr>
          <p:cNvPr id="11" name="Text 9"/>
          <p:cNvSpPr txBox="1"/>
          <p:nvPr/>
        </p:nvSpPr>
        <p:spPr>
          <a:xfrm>
            <a:off x="822960" y="2157984"/>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Reference sentences whose emotional content is already known are interleaved with new ones. The system tracks each worker's agreement with those references as they go, and stops the task when performance drops.</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Workers do at least 12 sentences and may do up to 100 if quality holds.</a:t>
            </a:r>
            <a:endParaRPr lang="en-US" sz="1260" dirty="0"/>
          </a:p>
        </p:txBody>
      </p:sp>
      <p:sp>
        <p:nvSpPr>
          <p:cNvPr id="12" name="Shape 10"/>
          <p:cNvSpPr/>
          <p:nvPr/>
        </p:nvSpPr>
        <p:spPr>
          <a:xfrm>
            <a:off x="6190488" y="1554480"/>
            <a:ext cx="5440680" cy="2286000"/>
          </a:xfrm>
          <a:prstGeom prst="roundRect">
            <a:avLst>
              <a:gd name="adj" fmla="val 2400"/>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Three changes on the previous protocol</a:t>
            </a:r>
            <a:endParaRPr lang="en-US" sz="1500" dirty="0"/>
          </a:p>
        </p:txBody>
      </p:sp>
      <p:sp>
        <p:nvSpPr>
          <p:cNvPr id="15" name="Text 13"/>
          <p:cNvSpPr txBox="1"/>
          <p:nvPr/>
        </p:nvSpPr>
        <p:spPr>
          <a:xfrm>
            <a:off x="6446520" y="2157984"/>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One reference every four new sentences instead of five in twenty — finer temporal resolution, and overhead falls from 28% to 20%.</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reference position within each block is randomised, so workers cannot tell when they are being tested.</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stopping rule now watches arousal and valence as well as primary emotion.</a:t>
            </a:r>
            <a:endParaRPr lang="en-US" sz="1260" dirty="0"/>
          </a:p>
        </p:txBody>
      </p:sp>
      <p:sp>
        <p:nvSpPr>
          <p:cNvPr id="16" name="Text 14"/>
          <p:cNvSpPr txBox="1"/>
          <p:nvPr/>
        </p:nvSpPr>
        <p:spPr>
          <a:xfrm>
            <a:off x="566928" y="4041648"/>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3A3045"/>
                </a:solidFill>
                <a:latin typeface="Calibri" pitchFamily="34" charset="0"/>
                <a:ea typeface="Calibri" pitchFamily="34" charset="-122"/>
                <a:cs typeface="Calibri" pitchFamily="34" charset="-120"/>
              </a:rPr>
              <a:t>Two thresholds per metric. Average: the new labels are as good as those in the reference set. Low: the new labels beat only 10% of reference annotations.</a:t>
            </a:r>
            <a:endParaRPr lang="en-US" sz="1260" dirty="0"/>
          </a:p>
          <a:p>
            <a:pPr marL="342900" indent="-342900">
              <a:spcAft>
                <a:spcPts val="800"/>
              </a:spcAft>
              <a:buSzPct val="100000"/>
              <a:buChar char="●"/>
            </a:pPr>
            <a:r>
              <a:rPr lang="en-US" sz="1260" dirty="0">
                <a:solidFill>
                  <a:srgbClr val="3A3045"/>
                </a:solidFill>
                <a:latin typeface="Calibri" pitchFamily="34" charset="0"/>
                <a:ea typeface="Calibri" pitchFamily="34" charset="-122"/>
                <a:cs typeface="Calibri" pitchFamily="34" charset="-120"/>
              </a:rPr>
              <a:t>Evaluation stops if any metric falls below the low threshold, or if two metrics fall below the average threshold, or if the worker quits after the first 12 sentences.</a:t>
            </a:r>
            <a:endParaRPr lang="en-US" sz="1260" dirty="0"/>
          </a:p>
          <a:p>
            <a:pPr marL="342900" indent="-342900">
              <a:spcAft>
                <a:spcPts val="800"/>
              </a:spcAft>
              <a:buSzPct val="100000"/>
              <a:buChar char="●"/>
            </a:pPr>
            <a:r>
              <a:rPr lang="en-US" sz="1260" dirty="0">
                <a:solidFill>
                  <a:srgbClr val="3A3045"/>
                </a:solidFill>
                <a:latin typeface="Calibri" pitchFamily="34" charset="0"/>
                <a:ea typeface="Calibri" pitchFamily="34" charset="-122"/>
                <a:cs typeface="Calibri" pitchFamily="34" charset="-120"/>
              </a:rPr>
              <a:t>Payment is designed to match: a fixed rate for the first 12 sentences, then a bonus per sentence at twice that rate — so staying and staying accurate pays better than starting a fresh task.</a:t>
            </a:r>
            <a:endParaRPr lang="en-US" sz="1260" dirty="0"/>
          </a:p>
          <a:p>
            <a:pPr marL="342900" indent="-342900">
              <a:spcAft>
                <a:spcPts val="800"/>
              </a:spcAft>
              <a:buSzPct val="100000"/>
              <a:buChar char="●"/>
            </a:pPr>
            <a:r>
              <a:rPr lang="en-US" sz="1260" dirty="0">
                <a:solidFill>
                  <a:srgbClr val="3A3045"/>
                </a:solidFill>
                <a:latin typeface="Calibri" pitchFamily="34" charset="0"/>
                <a:ea typeface="Calibri" pitchFamily="34" charset="-122"/>
                <a:cs typeface="Calibri" pitchFamily="34" charset="-120"/>
              </a:rPr>
              <a:t>Quality is assessed over the three most recent reference sentences, so a worker who tires is caught within minutes rather than after twenty.</a:t>
            </a:r>
            <a:endParaRPr lang="en-US" sz="12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How reliable are the resulting labels?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Agreement across at least five raters per sentence</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22</a:t>
            </a:r>
            <a:endParaRPr lang="en-US" sz="900" dirty="0"/>
          </a:p>
        </p:txBody>
      </p:sp>
      <p:graphicFrame>
        <p:nvGraphicFramePr>
          <p:cNvPr id="8" name="Chart 0"/>
          <p:cNvGraphicFramePr/>
          <p:nvPr/>
        </p:nvGraphicFramePr>
        <p:xfrm>
          <a:off x="566928" y="1554480"/>
          <a:ext cx="65836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20040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Valence is the most reliable attribute, as it was in IEMOCAP — judging pleasantness is easier than judging arousal.</a:t>
            </a:r>
            <a:endParaRPr lang="en-US" sz="1220" dirty="0"/>
          </a:p>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Primary emotion is far weaker, and the paper explains why: the category set grew from five options to nine, and every added option costs agreement.</a:t>
            </a:r>
            <a:endParaRPr lang="en-US" sz="1220" dirty="0"/>
          </a:p>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A wording note worth catching: the table labels all four coefficients α, while the text says primary emotion was measured with Fleiss' kappa. Quote the number, and say which you mean.</a:t>
            </a:r>
            <a:endParaRPr lang="en-US" sz="1220" dirty="0"/>
          </a:p>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These values are in the same fair-to-moderate band we found for IEMOCAP and CREMA-D. Emotion annotation lives here.</a:t>
            </a:r>
            <a:endParaRPr lang="en-US" sz="1220" dirty="0"/>
          </a:p>
        </p:txBody>
      </p:sp>
      <p:sp>
        <p:nvSpPr>
          <p:cNvPr id="10" name="Shape 7"/>
          <p:cNvSpPr/>
          <p:nvPr/>
        </p:nvSpPr>
        <p:spPr>
          <a:xfrm>
            <a:off x="566928" y="5084064"/>
            <a:ext cx="11064240" cy="969264"/>
          </a:xfrm>
          <a:prstGeom prst="roundRect">
            <a:avLst>
              <a:gd name="adj" fmla="val 5660"/>
            </a:avLst>
          </a:prstGeom>
          <a:solidFill>
            <a:srgbClr val="2B1B3D"/>
          </a:solidFill>
          <a:ln w="12700">
            <a:solidFill>
              <a:srgbClr val="2B1B3D"/>
            </a:solidFill>
            <a:prstDash val="solid"/>
          </a:ln>
        </p:spPr>
        <p:txBody>
          <a:bodyPr/>
          <a:lstStyle/>
          <a:p>
            <a:endParaRPr lang="en-US"/>
          </a:p>
        </p:txBody>
      </p:sp>
      <p:sp>
        <p:nvSpPr>
          <p:cNvPr id="11" name="Text 8"/>
          <p:cNvSpPr txBox="1"/>
          <p:nvPr/>
        </p:nvSpPr>
        <p:spPr>
          <a:xfrm>
            <a:off x="822960" y="5303520"/>
            <a:ext cx="10552176" cy="548640"/>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Read this alongside the previous slide. All that quality-control machinery buys agreement that is still only moderate — which tells you how much of the disagreement is irreducible rather than sloppy.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735056" y="5504688"/>
            <a:ext cx="548640" cy="137160"/>
          </a:xfrm>
          <a:prstGeom prst="roundRect">
            <a:avLst>
              <a:gd name="adj" fmla="val 13333"/>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0863072" y="5705856"/>
            <a:ext cx="292608" cy="137160"/>
          </a:xfrm>
          <a:prstGeom prst="roundRect">
            <a:avLst>
              <a:gd name="adj" fmla="val 13333"/>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8C2B"/>
                </a:solidFill>
                <a:latin typeface="Cambria" pitchFamily="34" charset="0"/>
                <a:ea typeface="Cambria" pitchFamily="34" charset="-122"/>
                <a:cs typeface="Cambria" pitchFamily="34" charset="-120"/>
              </a:rPr>
              <a:t>5</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 and appraisal</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7C9E4"/>
                </a:solidFill>
                <a:latin typeface="Calibri" pitchFamily="34" charset="0"/>
                <a:ea typeface="Calibri" pitchFamily="34" charset="-122"/>
                <a:cs typeface="Calibri" pitchFamily="34" charset="-120"/>
              </a:rPr>
              <a:t>Did retrieval deliver balance?</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Did retrieval work?</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Judged by the human ratings the retrieved segments actually received</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24</a:t>
            </a:r>
            <a:endParaRPr lang="en-US" sz="900" dirty="0"/>
          </a:p>
        </p:txBody>
      </p:sp>
      <p:sp>
        <p:nvSpPr>
          <p:cNvPr id="8" name="Shape 6"/>
          <p:cNvSpPr/>
          <p:nvPr/>
        </p:nvSpPr>
        <p:spPr>
          <a:xfrm>
            <a:off x="566928" y="1572768"/>
            <a:ext cx="3584448" cy="2331720"/>
          </a:xfrm>
          <a:prstGeom prst="roundRect">
            <a:avLst>
              <a:gd name="adj" fmla="val 2353"/>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Arousal: clearly yes</a:t>
            </a:r>
            <a:endParaRPr lang="en-US" sz="1500" dirty="0"/>
          </a:p>
        </p:txBody>
      </p:sp>
      <p:sp>
        <p:nvSpPr>
          <p:cNvPr id="11" name="Text 9"/>
          <p:cNvSpPr txBox="1"/>
          <p:nvPr/>
        </p:nvSpPr>
        <p:spPr>
          <a:xfrm>
            <a:off x="822960" y="2176272"/>
            <a:ext cx="3072384" cy="154533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histograms of high-arousal and low-arousal retrievals separate cleanly for all three methods. The models found what they were asked to find.</a:t>
            </a:r>
            <a:endParaRPr lang="en-US" sz="1260" dirty="0"/>
          </a:p>
        </p:txBody>
      </p:sp>
      <p:sp>
        <p:nvSpPr>
          <p:cNvPr id="12" name="Shape 10"/>
          <p:cNvSpPr/>
          <p:nvPr/>
        </p:nvSpPr>
        <p:spPr>
          <a:xfrm>
            <a:off x="4279392" y="1572768"/>
            <a:ext cx="3584448" cy="2331720"/>
          </a:xfrm>
          <a:prstGeom prst="roundRect">
            <a:avLst>
              <a:gd name="adj" fmla="val 2353"/>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Valence: partially</a:t>
            </a:r>
            <a:endParaRPr lang="en-US" sz="1500" dirty="0"/>
          </a:p>
        </p:txBody>
      </p:sp>
      <p:sp>
        <p:nvSpPr>
          <p:cNvPr id="15" name="Text 13"/>
          <p:cNvSpPr txBox="1"/>
          <p:nvPr/>
        </p:nvSpPr>
        <p:spPr>
          <a:xfrm>
            <a:off x="4535424" y="2176272"/>
            <a:ext cx="3072384" cy="154533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There is a real difference between the high and low sets, but the separation is much weaker. Gaussian-process ranking gives the best valence separation of the three.</a:t>
            </a:r>
            <a:endParaRPr lang="en-US" sz="1260" dirty="0"/>
          </a:p>
        </p:txBody>
      </p:sp>
      <p:sp>
        <p:nvSpPr>
          <p:cNvPr id="16" name="Shape 14"/>
          <p:cNvSpPr/>
          <p:nvPr/>
        </p:nvSpPr>
        <p:spPr>
          <a:xfrm>
            <a:off x="7991856" y="1572768"/>
            <a:ext cx="3639312" cy="2331720"/>
          </a:xfrm>
          <a:prstGeom prst="roundRect">
            <a:avLst>
              <a:gd name="adj" fmla="val 2353"/>
            </a:avLst>
          </a:prstGeom>
          <a:solidFill>
            <a:srgbClr val="F4F1F7"/>
          </a:solidFill>
          <a:ln w="12700">
            <a:solidFill>
              <a:srgbClr val="E3DCEA"/>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6A4A8C"/>
          </a:solidFill>
          <a:ln w="12700">
            <a:solidFill>
              <a:srgbClr val="333333"/>
            </a:solidFill>
            <a:prstDash val="solid"/>
          </a:ln>
        </p:spPr>
        <p:txBody>
          <a:bodyPr/>
          <a:lstStyle/>
          <a:p>
            <a:endParaRPr lang="en-US"/>
          </a:p>
        </p:txBody>
      </p:sp>
      <p:sp>
        <p:nvSpPr>
          <p:cNvPr id="18" name="Text 16"/>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The control: exactly as predicted</a:t>
            </a:r>
            <a:endParaRPr lang="en-US" sz="1500" dirty="0"/>
          </a:p>
        </p:txBody>
      </p:sp>
      <p:sp>
        <p:nvSpPr>
          <p:cNvPr id="19" name="Text 17"/>
          <p:cNvSpPr txBox="1"/>
          <p:nvPr/>
        </p:nvSpPr>
        <p:spPr>
          <a:xfrm>
            <a:off x="8247888" y="2176272"/>
            <a:ext cx="3127248" cy="154533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100 randomly drawn sentences average close to zero on both arousal and valence.</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Most podcast speech is emotionally neutral. Random sampling would have wasted the annotation budget.</a:t>
            </a:r>
            <a:endParaRPr lang="en-US" sz="1260" dirty="0"/>
          </a:p>
        </p:txBody>
      </p:sp>
      <p:sp>
        <p:nvSpPr>
          <p:cNvPr id="20" name="Shape 18"/>
          <p:cNvSpPr/>
          <p:nvPr/>
        </p:nvSpPr>
        <p:spPr>
          <a:xfrm>
            <a:off x="566928" y="4096512"/>
            <a:ext cx="5440680" cy="1956816"/>
          </a:xfrm>
          <a:prstGeom prst="roundRect">
            <a:avLst>
              <a:gd name="adj" fmla="val 2804"/>
            </a:avLst>
          </a:prstGeom>
          <a:solidFill>
            <a:srgbClr val="F4F1F7"/>
          </a:solidFill>
          <a:ln w="12700">
            <a:solidFill>
              <a:srgbClr val="E3DCEA"/>
            </a:solidFill>
            <a:prstDash val="solid"/>
          </a:ln>
        </p:spPr>
        <p:txBody>
          <a:bodyPr/>
          <a:lstStyle/>
          <a:p>
            <a:endParaRPr lang="en-US"/>
          </a:p>
        </p:txBody>
      </p:sp>
      <p:sp>
        <p:nvSpPr>
          <p:cNvPr id="21" name="Shape 19"/>
          <p:cNvSpPr/>
          <p:nvPr/>
        </p:nvSpPr>
        <p:spPr>
          <a:xfrm>
            <a:off x="786384" y="4389120"/>
            <a:ext cx="109728" cy="109728"/>
          </a:xfrm>
          <a:prstGeom prst="ellipse">
            <a:avLst/>
          </a:prstGeom>
          <a:solidFill>
            <a:srgbClr val="6A4A8C"/>
          </a:solidFill>
          <a:ln w="12700">
            <a:solidFill>
              <a:srgbClr val="333333"/>
            </a:solidFill>
            <a:prstDash val="solid"/>
          </a:ln>
        </p:spPr>
        <p:txBody>
          <a:bodyPr/>
          <a:lstStyle/>
          <a:p>
            <a:endParaRPr lang="en-US"/>
          </a:p>
        </p:txBody>
      </p:sp>
      <p:sp>
        <p:nvSpPr>
          <p:cNvPr id="22" name="Text 20"/>
          <p:cNvSpPr txBox="1"/>
          <p:nvPr/>
        </p:nvSpPr>
        <p:spPr>
          <a:xfrm>
            <a:off x="987552" y="4261104"/>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A leakage the authors flag themselves</a:t>
            </a:r>
            <a:endParaRPr lang="en-US" sz="1500" dirty="0"/>
          </a:p>
        </p:txBody>
      </p:sp>
      <p:sp>
        <p:nvSpPr>
          <p:cNvPr id="23" name="Text 21"/>
          <p:cNvSpPr txBox="1"/>
          <p:nvPr/>
        </p:nvSpPr>
        <p:spPr>
          <a:xfrm>
            <a:off x="822960" y="4700016"/>
            <a:ext cx="4928616" cy="1170432"/>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Segments retrieved for high or low valence tend to have high arousal scores as well. The arousal rankers, by contrast, return samples that are symmetric in valence.</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So the coverage is better than any comparable natural corpus, but it is not uniform: the low-arousal corners of the space stay thin.</a:t>
            </a:r>
            <a:endParaRPr lang="en-US" sz="1260" dirty="0"/>
          </a:p>
        </p:txBody>
      </p:sp>
      <p:sp>
        <p:nvSpPr>
          <p:cNvPr id="24" name="Shape 22"/>
          <p:cNvSpPr/>
          <p:nvPr/>
        </p:nvSpPr>
        <p:spPr>
          <a:xfrm>
            <a:off x="6190488" y="4096512"/>
            <a:ext cx="5440680" cy="1956816"/>
          </a:xfrm>
          <a:prstGeom prst="roundRect">
            <a:avLst>
              <a:gd name="adj" fmla="val 2804"/>
            </a:avLst>
          </a:prstGeom>
          <a:solidFill>
            <a:srgbClr val="2B1B3D"/>
          </a:solidFill>
          <a:ln w="12700">
            <a:solidFill>
              <a:srgbClr val="2B1B3D"/>
            </a:solidFill>
            <a:prstDash val="solid"/>
          </a:ln>
        </p:spPr>
        <p:txBody>
          <a:bodyPr/>
          <a:lstStyle/>
          <a:p>
            <a:endParaRPr lang="en-US"/>
          </a:p>
        </p:txBody>
      </p:sp>
      <p:sp>
        <p:nvSpPr>
          <p:cNvPr id="25" name="Shape 23"/>
          <p:cNvSpPr/>
          <p:nvPr/>
        </p:nvSpPr>
        <p:spPr>
          <a:xfrm>
            <a:off x="6409944" y="4389120"/>
            <a:ext cx="109728" cy="109728"/>
          </a:xfrm>
          <a:prstGeom prst="ellipse">
            <a:avLst/>
          </a:prstGeom>
          <a:solidFill>
            <a:srgbClr val="D98C2B"/>
          </a:solidFill>
          <a:ln w="12700">
            <a:solidFill>
              <a:srgbClr val="333333"/>
            </a:solidFill>
            <a:prstDash val="solid"/>
          </a:ln>
        </p:spPr>
        <p:txBody>
          <a:bodyPr/>
          <a:lstStyle/>
          <a:p>
            <a:endParaRPr lang="en-US"/>
          </a:p>
        </p:txBody>
      </p:sp>
      <p:sp>
        <p:nvSpPr>
          <p:cNvPr id="26" name="Text 24"/>
          <p:cNvSpPr txBox="1"/>
          <p:nvPr/>
        </p:nvSpPr>
        <p:spPr>
          <a:xfrm>
            <a:off x="6611112" y="4261104"/>
            <a:ext cx="48006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headline claim</a:t>
            </a:r>
            <a:endParaRPr lang="en-US" sz="1500" dirty="0"/>
          </a:p>
        </p:txBody>
      </p:sp>
      <p:sp>
        <p:nvSpPr>
          <p:cNvPr id="27" name="Text 25"/>
          <p:cNvSpPr txBox="1"/>
          <p:nvPr/>
        </p:nvSpPr>
        <p:spPr>
          <a:xfrm>
            <a:off x="6446520" y="4700016"/>
            <a:ext cx="4928616" cy="1170432"/>
          </a:xfrm>
          <a:prstGeom prst="rect">
            <a:avLst/>
          </a:prstGeom>
          <a:noFill/>
          <a:ln/>
        </p:spPr>
        <p:txBody>
          <a:bodyPr wrap="square" lIns="0" tIns="0" rIns="0" bIns="0" rtlCol="0" anchor="t"/>
          <a:lstStyle/>
          <a:p>
            <a:pPr marL="0" indent="0">
              <a:lnSpc>
                <a:spcPct val="108000"/>
              </a:lnSpc>
              <a:buNone/>
            </a:pPr>
            <a:r>
              <a:rPr lang="en-US" sz="1260" dirty="0">
                <a:solidFill>
                  <a:srgbClr val="D7C9E4"/>
                </a:solidFill>
                <a:latin typeface="Calibri" pitchFamily="34" charset="0"/>
                <a:ea typeface="Calibri" pitchFamily="34" charset="-122"/>
                <a:cs typeface="Calibri" pitchFamily="34" charset="-120"/>
              </a:rPr>
              <a:t>Redraw the dispersion map from section 1 with the retrieved MSP-Podcast segments and it has smaller light areas than SEMAINE, RECOLA or VAM. Naturalistic recordings with coverage approaching that of designed acted corpora.</a:t>
            </a:r>
            <a:endParaRPr lang="en-US" sz="1260" dirty="0"/>
          </a:p>
          <a:p>
            <a:pPr marL="0" indent="0">
              <a:lnSpc>
                <a:spcPct val="108000"/>
              </a:lnSpc>
              <a:buNone/>
            </a:pPr>
            <a:endParaRPr lang="en-US" sz="1260" dirty="0"/>
          </a:p>
          <a:p>
            <a:pPr marL="0" indent="0">
              <a:lnSpc>
                <a:spcPct val="108000"/>
              </a:lnSpc>
              <a:buNone/>
            </a:pPr>
            <a:r>
              <a:rPr lang="en-US" sz="1260" dirty="0">
                <a:solidFill>
                  <a:srgbClr val="D7C9E4"/>
                </a:solidFill>
                <a:latin typeface="Calibri" pitchFamily="34" charset="0"/>
                <a:ea typeface="Calibri" pitchFamily="34" charset="-122"/>
                <a:cs typeface="Calibri" pitchFamily="34" charset="-120"/>
              </a:rPr>
              <a:t>That is the result the paper set out to demonstrate, and it does.</a:t>
            </a:r>
            <a:endParaRPr lang="en-US" sz="12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What the corpus is not balanced for</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Attribute balance does not deliver category balance</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25</a:t>
            </a:r>
            <a:endParaRPr lang="en-US" sz="900" dirty="0"/>
          </a:p>
        </p:txBody>
      </p:sp>
      <p:sp>
        <p:nvSpPr>
          <p:cNvPr id="8" name="Text 6"/>
          <p:cNvSpPr txBox="1"/>
          <p:nvPr/>
        </p:nvSpPr>
        <p:spPr>
          <a:xfrm>
            <a:off x="566928" y="1572768"/>
            <a:ext cx="11064240" cy="1920240"/>
          </a:xfrm>
          <a:prstGeom prst="rect">
            <a:avLst/>
          </a:prstGeom>
          <a:noFill/>
          <a:ln/>
        </p:spPr>
        <p:txBody>
          <a:bodyPr wrap="square" lIns="0" tIns="0" rIns="0" bIns="0" rtlCol="0" anchor="t"/>
          <a:lstStyle/>
          <a:p>
            <a:pPr marL="342900" indent="-342900">
              <a:spcAft>
                <a:spcPts val="800"/>
              </a:spcAft>
              <a:buSzPct val="100000"/>
              <a:buChar char="●"/>
            </a:pPr>
            <a:r>
              <a:rPr lang="en-US" sz="1340" dirty="0">
                <a:solidFill>
                  <a:srgbClr val="3A3045"/>
                </a:solidFill>
                <a:latin typeface="Calibri" pitchFamily="34" charset="0"/>
                <a:ea typeface="Calibri" pitchFamily="34" charset="-122"/>
                <a:cs typeface="Calibri" pitchFamily="34" charset="-120"/>
              </a:rPr>
              <a:t>The retrieval targeted arousal and valence. Nothing in the pipeline targeted emotional categories.</a:t>
            </a:r>
            <a:endParaRPr lang="en-US" sz="1340" dirty="0"/>
          </a:p>
          <a:p>
            <a:pPr marL="342900" indent="-342900">
              <a:spcAft>
                <a:spcPts val="800"/>
              </a:spcAft>
              <a:buSzPct val="100000"/>
              <a:buChar char="●"/>
            </a:pPr>
            <a:r>
              <a:rPr lang="en-US" sz="1340" dirty="0">
                <a:solidFill>
                  <a:srgbClr val="3A3045"/>
                </a:solidFill>
                <a:latin typeface="Calibri" pitchFamily="34" charset="0"/>
                <a:ea typeface="Calibri" pitchFamily="34" charset="-122"/>
                <a:cs typeface="Calibri" pitchFamily="34" charset="-120"/>
              </a:rPr>
              <a:t>The resulting distribution of primary emotions is lopsided: neutral, happiness and anger dominate; fear and sadness are scarce.</a:t>
            </a:r>
            <a:endParaRPr lang="en-US" sz="1340" dirty="0"/>
          </a:p>
          <a:p>
            <a:pPr marL="342900" indent="-342900">
              <a:spcAft>
                <a:spcPts val="800"/>
              </a:spcAft>
              <a:buSzPct val="100000"/>
              <a:buChar char="●"/>
            </a:pPr>
            <a:r>
              <a:rPr lang="en-US" sz="1340" dirty="0">
                <a:solidFill>
                  <a:srgbClr val="3A3045"/>
                </a:solidFill>
                <a:latin typeface="Calibri" pitchFamily="34" charset="0"/>
                <a:ea typeface="Calibri" pitchFamily="34" charset="-122"/>
                <a:cs typeface="Calibri" pitchFamily="34" charset="-120"/>
              </a:rPr>
              <a:t>A substantial share of segments reach no majority agreement at all and carry no categorical label — the same silent filtering step we found in IEMOCAP.</a:t>
            </a:r>
            <a:endParaRPr lang="en-US" sz="1340" dirty="0"/>
          </a:p>
          <a:p>
            <a:pPr marL="342900" indent="-342900">
              <a:spcAft>
                <a:spcPts val="800"/>
              </a:spcAft>
              <a:buSzPct val="100000"/>
              <a:buChar char="●"/>
            </a:pPr>
            <a:r>
              <a:rPr lang="en-US" sz="1340" dirty="0">
                <a:solidFill>
                  <a:srgbClr val="3A3045"/>
                </a:solidFill>
                <a:latin typeface="Calibri" pitchFamily="34" charset="0"/>
                <a:ea typeface="Calibri" pitchFamily="34" charset="-122"/>
                <a:cs typeface="Calibri" pitchFamily="34" charset="-120"/>
              </a:rPr>
              <a:t>So a corpus that is well spread across the arousal–valence plane can still be unusable for six-way categorical classification.</a:t>
            </a:r>
            <a:endParaRPr lang="en-US" sz="1340" dirty="0"/>
          </a:p>
        </p:txBody>
      </p:sp>
      <p:sp>
        <p:nvSpPr>
          <p:cNvPr id="9" name="Shape 7"/>
          <p:cNvSpPr/>
          <p:nvPr/>
        </p:nvSpPr>
        <p:spPr>
          <a:xfrm>
            <a:off x="566928" y="3639312"/>
            <a:ext cx="5440680" cy="1188720"/>
          </a:xfrm>
          <a:prstGeom prst="roundRect">
            <a:avLst>
              <a:gd name="adj" fmla="val 4615"/>
            </a:avLst>
          </a:prstGeom>
          <a:solidFill>
            <a:srgbClr val="F4F1F7"/>
          </a:solidFill>
          <a:ln w="12700">
            <a:solidFill>
              <a:srgbClr val="E3DCEA"/>
            </a:solidFill>
            <a:prstDash val="solid"/>
          </a:ln>
        </p:spPr>
        <p:txBody>
          <a:bodyPr/>
          <a:lstStyle/>
          <a:p>
            <a:endParaRPr lang="en-US"/>
          </a:p>
        </p:txBody>
      </p:sp>
      <p:sp>
        <p:nvSpPr>
          <p:cNvPr id="10" name="Shape 8"/>
          <p:cNvSpPr/>
          <p:nvPr/>
        </p:nvSpPr>
        <p:spPr>
          <a:xfrm>
            <a:off x="786384" y="3931920"/>
            <a:ext cx="109728" cy="109728"/>
          </a:xfrm>
          <a:prstGeom prst="ellipse">
            <a:avLst/>
          </a:prstGeom>
          <a:solidFill>
            <a:srgbClr val="6A4A8C"/>
          </a:solidFill>
          <a:ln w="12700">
            <a:solidFill>
              <a:srgbClr val="333333"/>
            </a:solidFill>
            <a:prstDash val="solid"/>
          </a:ln>
        </p:spPr>
        <p:txBody>
          <a:bodyPr/>
          <a:lstStyle/>
          <a:p>
            <a:endParaRPr lang="en-US"/>
          </a:p>
        </p:txBody>
      </p:sp>
      <p:sp>
        <p:nvSpPr>
          <p:cNvPr id="11" name="Text 9"/>
          <p:cNvSpPr txBox="1"/>
          <p:nvPr/>
        </p:nvSpPr>
        <p:spPr>
          <a:xfrm>
            <a:off x="987552" y="3803904"/>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Why this happens</a:t>
            </a:r>
            <a:endParaRPr lang="en-US" sz="1500" dirty="0"/>
          </a:p>
        </p:txBody>
      </p:sp>
      <p:sp>
        <p:nvSpPr>
          <p:cNvPr id="12" name="Text 10"/>
          <p:cNvSpPr txBox="1"/>
          <p:nvPr/>
        </p:nvSpPr>
        <p:spPr>
          <a:xfrm>
            <a:off x="822960" y="4242816"/>
            <a:ext cx="4928616" cy="40233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Categories and attributes are not interchangeable. Fear and sadness occupy regions that arousal and valence rankers do not specifically target, so nothing pulls them into the sample.</a:t>
            </a:r>
            <a:endParaRPr lang="en-US" sz="1260" dirty="0"/>
          </a:p>
        </p:txBody>
      </p:sp>
      <p:sp>
        <p:nvSpPr>
          <p:cNvPr id="13" name="Shape 11"/>
          <p:cNvSpPr/>
          <p:nvPr/>
        </p:nvSpPr>
        <p:spPr>
          <a:xfrm>
            <a:off x="6190488" y="3639312"/>
            <a:ext cx="5440680" cy="1188720"/>
          </a:xfrm>
          <a:prstGeom prst="roundRect">
            <a:avLst>
              <a:gd name="adj" fmla="val 4615"/>
            </a:avLst>
          </a:prstGeom>
          <a:solidFill>
            <a:srgbClr val="F4F1F7"/>
          </a:solidFill>
          <a:ln w="12700">
            <a:solidFill>
              <a:srgbClr val="E3DCEA"/>
            </a:solidFill>
            <a:prstDash val="solid"/>
          </a:ln>
        </p:spPr>
        <p:txBody>
          <a:bodyPr/>
          <a:lstStyle/>
          <a:p>
            <a:endParaRPr lang="en-US"/>
          </a:p>
        </p:txBody>
      </p:sp>
      <p:sp>
        <p:nvSpPr>
          <p:cNvPr id="14" name="Shape 12"/>
          <p:cNvSpPr/>
          <p:nvPr/>
        </p:nvSpPr>
        <p:spPr>
          <a:xfrm>
            <a:off x="6409944" y="3931920"/>
            <a:ext cx="109728" cy="109728"/>
          </a:xfrm>
          <a:prstGeom prst="ellipse">
            <a:avLst/>
          </a:prstGeom>
          <a:solidFill>
            <a:srgbClr val="D98C2B"/>
          </a:solidFill>
          <a:ln w="12700">
            <a:solidFill>
              <a:srgbClr val="333333"/>
            </a:solidFill>
            <a:prstDash val="solid"/>
          </a:ln>
        </p:spPr>
        <p:txBody>
          <a:bodyPr/>
          <a:lstStyle/>
          <a:p>
            <a:endParaRPr lang="en-US"/>
          </a:p>
        </p:txBody>
      </p:sp>
      <p:sp>
        <p:nvSpPr>
          <p:cNvPr id="15" name="Text 13"/>
          <p:cNvSpPr txBox="1"/>
          <p:nvPr/>
        </p:nvSpPr>
        <p:spPr>
          <a:xfrm>
            <a:off x="6611112" y="3803904"/>
            <a:ext cx="4800600" cy="365760"/>
          </a:xfrm>
          <a:prstGeom prst="rect">
            <a:avLst/>
          </a:prstGeom>
          <a:noFill/>
          <a:ln/>
        </p:spPr>
        <p:txBody>
          <a:bodyPr wrap="square" lIns="0" tIns="0" rIns="0" bIns="0" rtlCol="0" anchor="ctr"/>
          <a:lstStyle/>
          <a:p>
            <a:pPr marL="0" indent="0">
              <a:buNone/>
            </a:pPr>
            <a:r>
              <a:rPr lang="en-US" sz="1500" b="1" dirty="0">
                <a:solidFill>
                  <a:srgbClr val="1E1230"/>
                </a:solidFill>
                <a:latin typeface="Cambria" pitchFamily="34" charset="0"/>
                <a:ea typeface="Cambria" pitchFamily="34" charset="-122"/>
                <a:cs typeface="Cambria" pitchFamily="34" charset="-120"/>
              </a:rPr>
              <a:t>The authors' response</a:t>
            </a:r>
            <a:endParaRPr lang="en-US" sz="1500" dirty="0"/>
          </a:p>
        </p:txBody>
      </p:sp>
      <p:sp>
        <p:nvSpPr>
          <p:cNvPr id="16" name="Text 14"/>
          <p:cNvSpPr txBox="1"/>
          <p:nvPr/>
        </p:nvSpPr>
        <p:spPr>
          <a:xfrm>
            <a:off x="6446520" y="4242816"/>
            <a:ext cx="4928616" cy="402336"/>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They treat it as the next research problem rather than a defect: build category-specific rankers — a 'sad ranker', an 'angry ranker' — and add podcasts likely to contain the missing classes.</a:t>
            </a:r>
            <a:endParaRPr lang="en-US" sz="1260" dirty="0"/>
          </a:p>
        </p:txBody>
      </p:sp>
      <p:sp>
        <p:nvSpPr>
          <p:cNvPr id="17" name="Shape 15"/>
          <p:cNvSpPr/>
          <p:nvPr/>
        </p:nvSpPr>
        <p:spPr>
          <a:xfrm>
            <a:off x="566928" y="5029200"/>
            <a:ext cx="11064240" cy="1024128"/>
          </a:xfrm>
          <a:prstGeom prst="roundRect">
            <a:avLst>
              <a:gd name="adj" fmla="val 5357"/>
            </a:avLst>
          </a:prstGeom>
          <a:solidFill>
            <a:srgbClr val="2B1B3D"/>
          </a:solidFill>
          <a:ln w="12700">
            <a:solidFill>
              <a:srgbClr val="2B1B3D"/>
            </a:solidFill>
            <a:prstDash val="solid"/>
          </a:ln>
        </p:spPr>
        <p:txBody>
          <a:bodyPr/>
          <a:lstStyle/>
          <a:p>
            <a:endParaRPr lang="en-US"/>
          </a:p>
        </p:txBody>
      </p:sp>
      <p:sp>
        <p:nvSpPr>
          <p:cNvPr id="18" name="Text 16"/>
          <p:cNvSpPr txBox="1"/>
          <p:nvPr/>
        </p:nvSpPr>
        <p:spPr>
          <a:xfrm>
            <a:off x="822960" y="5248656"/>
            <a:ext cx="10552176" cy="603504"/>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A useful general lesson: 'balanced' is never a property of a dataset on its own. It is a property of a dataset with respect to a particular label space, and balancing one can leave another as skewed as before.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Critical appraisal</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What the design buys, and what it costs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26</a:t>
            </a:r>
            <a:endParaRPr lang="en-US" sz="900" dirty="0"/>
          </a:p>
        </p:txBody>
      </p:sp>
      <p:sp>
        <p:nvSpPr>
          <p:cNvPr id="8" name="Shape 6"/>
          <p:cNvSpPr/>
          <p:nvPr/>
        </p:nvSpPr>
        <p:spPr>
          <a:xfrm>
            <a:off x="566928" y="1554480"/>
            <a:ext cx="5440680" cy="4498848"/>
          </a:xfrm>
          <a:prstGeom prst="roundRect">
            <a:avLst>
              <a:gd name="adj" fmla="val 1220"/>
            </a:avLst>
          </a:prstGeom>
          <a:solidFill>
            <a:srgbClr val="F4F1F7"/>
          </a:solidFill>
          <a:ln w="12700">
            <a:solidFill>
              <a:srgbClr val="E3DCEA"/>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6A4A8C"/>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1E1230"/>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Genuinely spontaneous speech, from many speakers, in many channel conditions — none of it acted.</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A licence position almost nobody else has: the corpus can be redistributed and used commercially.</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pipeline is automatic apart from one screening step, so it scales. The corpus has grown roughly two hundred-fold since this paper.</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Attribute and categorical descriptors together, with primary and secondary categorical labels, and at least five raters per segment.</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A random control that makes the central claim testable rather than merely plausible.</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The annotation quality-control protocol is reusable by anyone, in any domain.</a:t>
            </a:r>
            <a:endParaRPr lang="en-US" sz="1260" dirty="0"/>
          </a:p>
        </p:txBody>
      </p:sp>
      <p:sp>
        <p:nvSpPr>
          <p:cNvPr id="12" name="Shape 10"/>
          <p:cNvSpPr/>
          <p:nvPr/>
        </p:nvSpPr>
        <p:spPr>
          <a:xfrm>
            <a:off x="6190488" y="1554480"/>
            <a:ext cx="5440680" cy="4498848"/>
          </a:xfrm>
          <a:prstGeom prst="roundRect">
            <a:avLst>
              <a:gd name="adj" fmla="val 1220"/>
            </a:avLst>
          </a:prstGeom>
          <a:solidFill>
            <a:srgbClr val="F4F1F7"/>
          </a:solidFill>
          <a:ln w="12700">
            <a:solidFill>
              <a:srgbClr val="E3DCEA"/>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D98C2B"/>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1E1230"/>
                </a:solidFill>
                <a:latin typeface="Cambria" pitchFamily="34" charset="0"/>
                <a:ea typeface="Cambria" pitchFamily="34" charset="-122"/>
                <a:cs typeface="Cambria" pitchFamily="34" charset="-120"/>
              </a:rPr>
              <a:t>Limitations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Retrieval bias: the models were trained on twenty-two actors, so the corpus over-represents podcast speech that sounds like acted emotional speech. Emotional behaviour those models cannot detect will never be annotated.</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Filtered naturalness: clean, single-speaker, wideband, music-free, 2.75 to 11 seconds. Real conversation is noisier and overlaps constantly.</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Category imbalance persists, and fear and sadness remain scarce.</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Podcasts are a genre, not the world. English-only, self-selected speakers, broadly performative public speech.</a:t>
            </a:r>
            <a:endParaRPr lang="en-US" sz="1260" dirty="0"/>
          </a:p>
          <a:p>
            <a:pPr marL="0" indent="0">
              <a:lnSpc>
                <a:spcPct val="108000"/>
              </a:lnSpc>
              <a:buNone/>
            </a:pPr>
            <a:endParaRPr lang="en-US" sz="1260" dirty="0"/>
          </a:p>
          <a:p>
            <a:pPr marL="0" indent="0">
              <a:lnSpc>
                <a:spcPct val="108000"/>
              </a:lnSpc>
              <a:buNone/>
            </a:pPr>
            <a:r>
              <a:rPr lang="en-US" sz="1260" dirty="0">
                <a:solidFill>
                  <a:srgbClr val="3A3045"/>
                </a:solidFill>
                <a:latin typeface="Calibri" pitchFamily="34" charset="0"/>
                <a:ea typeface="Calibri" pitchFamily="34" charset="-122"/>
                <a:cs typeface="Calibri" pitchFamily="34" charset="-120"/>
              </a:rPr>
              <a:t>Speaker identities were unavailable at collection and had to be annotated afterwards, so speaker-independent splits were not possible from the start.</a:t>
            </a:r>
            <a:endParaRPr lang="en-US" sz="12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57200"/>
            <a:ext cx="402336"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3" name="Shape 1"/>
          <p:cNvSpPr/>
          <p:nvPr/>
        </p:nvSpPr>
        <p:spPr>
          <a:xfrm>
            <a:off x="11311128" y="557784"/>
            <a:ext cx="274320" cy="68580"/>
          </a:xfrm>
          <a:prstGeom prst="roundRect">
            <a:avLst>
              <a:gd name="adj" fmla="val 26667"/>
            </a:avLst>
          </a:prstGeom>
          <a:solidFill>
            <a:srgbClr val="6A4A8C"/>
          </a:solidFill>
          <a:ln w="12700">
            <a:solidFill>
              <a:srgbClr val="333333"/>
            </a:solidFill>
            <a:prstDash val="solid"/>
          </a:ln>
        </p:spPr>
        <p:txBody>
          <a:bodyPr/>
          <a:lstStyle/>
          <a:p>
            <a:endParaRPr lang="en-US"/>
          </a:p>
        </p:txBody>
      </p:sp>
      <p:sp>
        <p:nvSpPr>
          <p:cNvPr id="4" name="Shape 2"/>
          <p:cNvSpPr/>
          <p:nvPr/>
        </p:nvSpPr>
        <p:spPr>
          <a:xfrm>
            <a:off x="11375136" y="658368"/>
            <a:ext cx="146304" cy="68580"/>
          </a:xfrm>
          <a:prstGeom prst="roundRect">
            <a:avLst>
              <a:gd name="adj" fmla="val 2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1230"/>
                </a:solidFill>
                <a:latin typeface="Cambria" pitchFamily="34" charset="0"/>
                <a:ea typeface="Cambria" pitchFamily="34" charset="-122"/>
                <a:cs typeface="Cambria" pitchFamily="34" charset="-120"/>
              </a:rPr>
              <a:t>What it became</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5C77"/>
                </a:solidFill>
                <a:latin typeface="Calibri" pitchFamily="34" charset="0"/>
                <a:ea typeface="Calibri" pitchFamily="34" charset="-122"/>
                <a:cs typeface="Calibri" pitchFamily="34" charset="-120"/>
              </a:rPr>
              <a:t>The protocol validated by what it produced</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79BB2"/>
                </a:solidFill>
                <a:latin typeface="Calibri" pitchFamily="34" charset="0"/>
                <a:ea typeface="Calibri" pitchFamily="34" charset="-122"/>
                <a:cs typeface="Calibri" pitchFamily="34" charset="-120"/>
              </a:rPr>
              <a:t>MSP-Podcast · Lotfian &amp; Busso 2019  |  27</a:t>
            </a:r>
            <a:endParaRPr lang="en-US" sz="900" dirty="0"/>
          </a:p>
        </p:txBody>
      </p:sp>
      <p:graphicFrame>
        <p:nvGraphicFramePr>
          <p:cNvPr id="8" name="Chart 0"/>
          <p:cNvGraphicFramePr/>
          <p:nvPr/>
        </p:nvGraphicFramePr>
        <p:xfrm>
          <a:off x="566928" y="1554480"/>
          <a:ext cx="6583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10896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By the time this paper appeared: 920 podcasts, 18,238 sentences, 27 hours 42 minutes, speaker identities annotated for 9,670 sentences across 151 speakers.</a:t>
            </a:r>
            <a:endParaRPr lang="en-US" sz="1220" dirty="0"/>
          </a:p>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Release 2.0: 264,705 turns and 409 hours, with defined speaker-independent train, development and three test partitions.</a:t>
            </a:r>
            <a:endParaRPr lang="en-US" sz="1220" dirty="0"/>
          </a:p>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One test set is drawn at random rather than by retrieval, so the retrieval bias can be measured directly.</a:t>
            </a:r>
            <a:endParaRPr lang="en-US" sz="1220" dirty="0"/>
          </a:p>
          <a:p>
            <a:pPr marL="342900" indent="-342900">
              <a:spcAft>
                <a:spcPts val="800"/>
              </a:spcAft>
              <a:buSzPct val="100000"/>
              <a:buChar char="●"/>
            </a:pPr>
            <a:r>
              <a:rPr lang="en-US" sz="1220" dirty="0">
                <a:solidFill>
                  <a:srgbClr val="3A3045"/>
                </a:solidFill>
                <a:latin typeface="Calibri" pitchFamily="34" charset="0"/>
                <a:ea typeface="Calibri" pitchFamily="34" charset="-122"/>
                <a:cs typeface="Calibri" pitchFamily="34" charset="-120"/>
              </a:rPr>
              <a:t>A third test partition withholds its labels entirely and is scored through a web interface — a corpus that ships with a leaderboard.</a:t>
            </a:r>
            <a:endParaRPr lang="en-US" sz="1220" dirty="0"/>
          </a:p>
        </p:txBody>
      </p:sp>
      <p:sp>
        <p:nvSpPr>
          <p:cNvPr id="10" name="Shape 7"/>
          <p:cNvSpPr/>
          <p:nvPr/>
        </p:nvSpPr>
        <p:spPr>
          <a:xfrm>
            <a:off x="566928" y="4992624"/>
            <a:ext cx="11064240" cy="1060704"/>
          </a:xfrm>
          <a:prstGeom prst="roundRect">
            <a:avLst>
              <a:gd name="adj" fmla="val 5172"/>
            </a:avLst>
          </a:prstGeom>
          <a:solidFill>
            <a:srgbClr val="2B1B3D"/>
          </a:solidFill>
          <a:ln w="12700">
            <a:solidFill>
              <a:srgbClr val="2B1B3D"/>
            </a:solidFill>
            <a:prstDash val="solid"/>
          </a:ln>
        </p:spPr>
        <p:txBody>
          <a:bodyPr/>
          <a:lstStyle/>
          <a:p>
            <a:endParaRPr lang="en-US"/>
          </a:p>
        </p:txBody>
      </p:sp>
      <p:sp>
        <p:nvSpPr>
          <p:cNvPr id="11" name="Text 8"/>
          <p:cNvSpPr txBox="1"/>
          <p:nvPr/>
        </p:nvSpPr>
        <p:spPr>
          <a:xfrm>
            <a:off x="822960" y="5212080"/>
            <a:ext cx="10552176" cy="640080"/>
          </a:xfrm>
          <a:prstGeom prst="rect">
            <a:avLst/>
          </a:prstGeom>
          <a:noFill/>
          <a:ln/>
        </p:spPr>
        <p:txBody>
          <a:bodyPr wrap="square" lIns="0" tIns="0" rIns="0" bIns="0" rtlCol="0" anchor="t"/>
          <a:lstStyle/>
          <a:p>
            <a:pPr marL="0" indent="0">
              <a:lnSpc>
                <a:spcPct val="108000"/>
              </a:lnSpc>
              <a:buNone/>
            </a:pPr>
            <a:r>
              <a:rPr lang="en-US" sz="1300" dirty="0">
                <a:solidFill>
                  <a:srgbClr val="D7C9E4"/>
                </a:solidFill>
                <a:latin typeface="Calibri" pitchFamily="34" charset="0"/>
                <a:ea typeface="Calibri" pitchFamily="34" charset="-122"/>
                <a:cs typeface="Calibri" pitchFamily="34" charset="-120"/>
              </a:rPr>
              <a:t>Note what the later releases fixed: defined speaker-independent splits, a non-retrieved control partition, and held-out labels. Every one of those is a direct answer to a problem we identified in IEMOCAP and CREMA-D — this is the field learning from its own corpus papers.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10607040" y="658368"/>
            <a:ext cx="643738" cy="109728"/>
          </a:xfrm>
          <a:prstGeom prst="roundRect">
            <a:avLst>
              <a:gd name="adj" fmla="val 16667"/>
            </a:avLst>
          </a:prstGeom>
          <a:solidFill>
            <a:srgbClr val="D7C9E4"/>
          </a:solidFill>
          <a:ln w="12700">
            <a:solidFill>
              <a:srgbClr val="333333"/>
            </a:solidFill>
            <a:prstDash val="solid"/>
          </a:ln>
        </p:spPr>
        <p:txBody>
          <a:bodyPr/>
          <a:lstStyle/>
          <a:p>
            <a:endParaRPr lang="en-US"/>
          </a:p>
        </p:txBody>
      </p:sp>
      <p:sp>
        <p:nvSpPr>
          <p:cNvPr id="3" name="Shape 1"/>
          <p:cNvSpPr/>
          <p:nvPr/>
        </p:nvSpPr>
        <p:spPr>
          <a:xfrm>
            <a:off x="10709453" y="819302"/>
            <a:ext cx="438912" cy="109728"/>
          </a:xfrm>
          <a:prstGeom prst="roundRect">
            <a:avLst>
              <a:gd name="adj" fmla="val 16667"/>
            </a:avLst>
          </a:prstGeom>
          <a:solidFill>
            <a:srgbClr val="D7C9E4"/>
          </a:solidFill>
          <a:ln w="12700">
            <a:solidFill>
              <a:srgbClr val="333333"/>
            </a:solidFill>
            <a:prstDash val="solid"/>
          </a:ln>
        </p:spPr>
        <p:txBody>
          <a:bodyPr/>
          <a:lstStyle/>
          <a:p>
            <a:endParaRPr lang="en-US"/>
          </a:p>
        </p:txBody>
      </p:sp>
      <p:sp>
        <p:nvSpPr>
          <p:cNvPr id="4" name="Shape 2"/>
          <p:cNvSpPr/>
          <p:nvPr/>
        </p:nvSpPr>
        <p:spPr>
          <a:xfrm>
            <a:off x="10811866" y="980237"/>
            <a:ext cx="234086" cy="109728"/>
          </a:xfrm>
          <a:prstGeom prst="roundRect">
            <a:avLst>
              <a:gd name="adj" fmla="val 16667"/>
            </a:avLst>
          </a:prstGeom>
          <a:solidFill>
            <a:srgbClr val="D98C2B"/>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600200"/>
            <a:ext cx="329184" cy="329184"/>
          </a:xfrm>
          <a:prstGeom prst="ellipse">
            <a:avLst/>
          </a:prstGeom>
          <a:solidFill>
            <a:srgbClr val="D98C2B"/>
          </a:solidFill>
          <a:ln w="12700">
            <a:solidFill>
              <a:srgbClr val="333333"/>
            </a:solidFill>
            <a:prstDash val="solid"/>
          </a:ln>
        </p:spPr>
        <p:txBody>
          <a:bodyPr/>
          <a:lstStyle/>
          <a:p>
            <a:endParaRPr lang="en-US"/>
          </a:p>
        </p:txBody>
      </p:sp>
      <p:sp>
        <p:nvSpPr>
          <p:cNvPr id="7" name="Text 5"/>
          <p:cNvSpPr txBox="1"/>
          <p:nvPr/>
        </p:nvSpPr>
        <p:spPr>
          <a:xfrm>
            <a:off x="841248" y="1627632"/>
            <a:ext cx="329184" cy="274320"/>
          </a:xfrm>
          <a:prstGeom prst="rect">
            <a:avLst/>
          </a:prstGeom>
          <a:noFill/>
          <a:ln/>
        </p:spPr>
        <p:txBody>
          <a:bodyPr wrap="square" lIns="0" tIns="0" rIns="0" bIns="0" rtlCol="0" anchor="ctr"/>
          <a:lstStyle/>
          <a:p>
            <a:pPr marL="0" indent="0" algn="ctr">
              <a:buNone/>
            </a:pPr>
            <a:r>
              <a:rPr lang="en-US" sz="1200" b="1" dirty="0">
                <a:solidFill>
                  <a:srgbClr val="2B1B3D"/>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517904"/>
            <a:ext cx="10058400" cy="914400"/>
          </a:xfrm>
          <a:prstGeom prst="rect">
            <a:avLst/>
          </a:prstGeom>
          <a:noFill/>
          <a:ln/>
        </p:spPr>
        <p:txBody>
          <a:bodyPr wrap="square" lIns="0" tIns="0" rIns="0" bIns="0" rtlCol="0" anchor="ctr"/>
          <a:lstStyle/>
          <a:p>
            <a:pPr marL="0" indent="0">
              <a:buNone/>
            </a:pPr>
            <a:r>
              <a:rPr lang="en-US" sz="1250" dirty="0">
                <a:solidFill>
                  <a:srgbClr val="D7C9E4"/>
                </a:solidFill>
                <a:latin typeface="Calibri" pitchFamily="34" charset="0"/>
                <a:ea typeface="Calibri" pitchFamily="34" charset="-122"/>
                <a:cs typeface="Calibri" pitchFamily="34" charset="-120"/>
              </a:rPr>
              <a:t>The retrieval models were trained on acted speech from twenty-two actors. How much does that shape what ends up in a corpus advertised as naturalistic — and how would you measure it without simply annotating everything?</a:t>
            </a:r>
            <a:endParaRPr lang="en-US" sz="1250" dirty="0"/>
          </a:p>
        </p:txBody>
      </p:sp>
      <p:sp>
        <p:nvSpPr>
          <p:cNvPr id="9" name="Shape 7"/>
          <p:cNvSpPr/>
          <p:nvPr/>
        </p:nvSpPr>
        <p:spPr>
          <a:xfrm>
            <a:off x="841248" y="2532888"/>
            <a:ext cx="329184" cy="329184"/>
          </a:xfrm>
          <a:prstGeom prst="ellipse">
            <a:avLst/>
          </a:prstGeom>
          <a:solidFill>
            <a:srgbClr val="D98C2B"/>
          </a:solidFill>
          <a:ln w="12700">
            <a:solidFill>
              <a:srgbClr val="333333"/>
            </a:solidFill>
            <a:prstDash val="solid"/>
          </a:ln>
        </p:spPr>
        <p:txBody>
          <a:bodyPr/>
          <a:lstStyle/>
          <a:p>
            <a:endParaRPr lang="en-US"/>
          </a:p>
        </p:txBody>
      </p:sp>
      <p:sp>
        <p:nvSpPr>
          <p:cNvPr id="10" name="Text 8"/>
          <p:cNvSpPr txBox="1"/>
          <p:nvPr/>
        </p:nvSpPr>
        <p:spPr>
          <a:xfrm>
            <a:off x="841248" y="2560320"/>
            <a:ext cx="329184" cy="274320"/>
          </a:xfrm>
          <a:prstGeom prst="rect">
            <a:avLst/>
          </a:prstGeom>
          <a:noFill/>
          <a:ln/>
        </p:spPr>
        <p:txBody>
          <a:bodyPr wrap="square" lIns="0" tIns="0" rIns="0" bIns="0" rtlCol="0" anchor="ctr"/>
          <a:lstStyle/>
          <a:p>
            <a:pPr marL="0" indent="0" algn="ctr">
              <a:buNone/>
            </a:pPr>
            <a:r>
              <a:rPr lang="en-US" sz="1200" b="1" dirty="0">
                <a:solidFill>
                  <a:srgbClr val="2B1B3D"/>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450592"/>
            <a:ext cx="10058400" cy="914400"/>
          </a:xfrm>
          <a:prstGeom prst="rect">
            <a:avLst/>
          </a:prstGeom>
          <a:noFill/>
          <a:ln/>
        </p:spPr>
        <p:txBody>
          <a:bodyPr wrap="square" lIns="0" tIns="0" rIns="0" bIns="0" rtlCol="0" anchor="ctr"/>
          <a:lstStyle/>
          <a:p>
            <a:pPr marL="0" indent="0">
              <a:buNone/>
            </a:pPr>
            <a:r>
              <a:rPr lang="en-US" sz="1250" dirty="0">
                <a:solidFill>
                  <a:srgbClr val="D7C9E4"/>
                </a:solidFill>
                <a:latin typeface="Calibri" pitchFamily="34" charset="0"/>
                <a:ea typeface="Calibri" pitchFamily="34" charset="-122"/>
                <a:cs typeface="Calibri" pitchFamily="34" charset="-120"/>
              </a:rPr>
              <a:t>Attribute balance was achieved; category balance was not. Is 'emotionally balanced' a meaningful claim at all without naming the label space it refers to?</a:t>
            </a:r>
            <a:endParaRPr lang="en-US" sz="1250" dirty="0"/>
          </a:p>
        </p:txBody>
      </p:sp>
      <p:sp>
        <p:nvSpPr>
          <p:cNvPr id="12" name="Shape 10"/>
          <p:cNvSpPr/>
          <p:nvPr/>
        </p:nvSpPr>
        <p:spPr>
          <a:xfrm>
            <a:off x="841248" y="3465576"/>
            <a:ext cx="329184" cy="329184"/>
          </a:xfrm>
          <a:prstGeom prst="ellipse">
            <a:avLst/>
          </a:prstGeom>
          <a:solidFill>
            <a:srgbClr val="D98C2B"/>
          </a:solidFill>
          <a:ln w="12700">
            <a:solidFill>
              <a:srgbClr val="333333"/>
            </a:solidFill>
            <a:prstDash val="solid"/>
          </a:ln>
        </p:spPr>
        <p:txBody>
          <a:bodyPr/>
          <a:lstStyle/>
          <a:p>
            <a:endParaRPr lang="en-US"/>
          </a:p>
        </p:txBody>
      </p:sp>
      <p:sp>
        <p:nvSpPr>
          <p:cNvPr id="13" name="Text 11"/>
          <p:cNvSpPr txBox="1"/>
          <p:nvPr/>
        </p:nvSpPr>
        <p:spPr>
          <a:xfrm>
            <a:off x="841248" y="3493008"/>
            <a:ext cx="329184" cy="274320"/>
          </a:xfrm>
          <a:prstGeom prst="rect">
            <a:avLst/>
          </a:prstGeom>
          <a:noFill/>
          <a:ln/>
        </p:spPr>
        <p:txBody>
          <a:bodyPr wrap="square" lIns="0" tIns="0" rIns="0" bIns="0" rtlCol="0" anchor="ctr"/>
          <a:lstStyle/>
          <a:p>
            <a:pPr marL="0" indent="0" algn="ctr">
              <a:buNone/>
            </a:pPr>
            <a:r>
              <a:rPr lang="en-US" sz="1200" b="1" dirty="0">
                <a:solidFill>
                  <a:srgbClr val="2B1B3D"/>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383280"/>
            <a:ext cx="10058400" cy="914400"/>
          </a:xfrm>
          <a:prstGeom prst="rect">
            <a:avLst/>
          </a:prstGeom>
          <a:noFill/>
          <a:ln/>
        </p:spPr>
        <p:txBody>
          <a:bodyPr wrap="square" lIns="0" tIns="0" rIns="0" bIns="0" rtlCol="0" anchor="ctr"/>
          <a:lstStyle/>
          <a:p>
            <a:pPr marL="0" indent="0">
              <a:buNone/>
            </a:pPr>
            <a:r>
              <a:rPr lang="en-US" sz="1250" dirty="0">
                <a:solidFill>
                  <a:srgbClr val="D7C9E4"/>
                </a:solidFill>
                <a:latin typeface="Calibri" pitchFamily="34" charset="0"/>
                <a:ea typeface="Calibri" pitchFamily="34" charset="-122"/>
                <a:cs typeface="Calibri" pitchFamily="34" charset="-120"/>
              </a:rPr>
              <a:t>The quality-control protocol prevents bad annotations; CREMA-D's redundancy averages them out. On a fixed budget, which do you buy?</a:t>
            </a:r>
            <a:endParaRPr lang="en-US" sz="1250" dirty="0"/>
          </a:p>
        </p:txBody>
      </p:sp>
      <p:sp>
        <p:nvSpPr>
          <p:cNvPr id="15" name="Shape 13"/>
          <p:cNvSpPr/>
          <p:nvPr/>
        </p:nvSpPr>
        <p:spPr>
          <a:xfrm>
            <a:off x="841248" y="4398264"/>
            <a:ext cx="329184" cy="329184"/>
          </a:xfrm>
          <a:prstGeom prst="ellipse">
            <a:avLst/>
          </a:prstGeom>
          <a:solidFill>
            <a:srgbClr val="D98C2B"/>
          </a:solidFill>
          <a:ln w="12700">
            <a:solidFill>
              <a:srgbClr val="333333"/>
            </a:solidFill>
            <a:prstDash val="solid"/>
          </a:ln>
        </p:spPr>
        <p:txBody>
          <a:bodyPr/>
          <a:lstStyle/>
          <a:p>
            <a:endParaRPr lang="en-US"/>
          </a:p>
        </p:txBody>
      </p:sp>
      <p:sp>
        <p:nvSpPr>
          <p:cNvPr id="16" name="Text 14"/>
          <p:cNvSpPr txBox="1"/>
          <p:nvPr/>
        </p:nvSpPr>
        <p:spPr>
          <a:xfrm>
            <a:off x="841248" y="4425696"/>
            <a:ext cx="329184" cy="274320"/>
          </a:xfrm>
          <a:prstGeom prst="rect">
            <a:avLst/>
          </a:prstGeom>
          <a:noFill/>
          <a:ln/>
        </p:spPr>
        <p:txBody>
          <a:bodyPr wrap="square" lIns="0" tIns="0" rIns="0" bIns="0" rtlCol="0" anchor="ctr"/>
          <a:lstStyle/>
          <a:p>
            <a:pPr marL="0" indent="0" algn="ctr">
              <a:buNone/>
            </a:pPr>
            <a:r>
              <a:rPr lang="en-US" sz="1200" b="1" dirty="0">
                <a:solidFill>
                  <a:srgbClr val="2B1B3D"/>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315968"/>
            <a:ext cx="10058400" cy="914400"/>
          </a:xfrm>
          <a:prstGeom prst="rect">
            <a:avLst/>
          </a:prstGeom>
          <a:noFill/>
          <a:ln/>
        </p:spPr>
        <p:txBody>
          <a:bodyPr wrap="square" lIns="0" tIns="0" rIns="0" bIns="0" rtlCol="0" anchor="ctr"/>
          <a:lstStyle/>
          <a:p>
            <a:pPr marL="0" indent="0">
              <a:buNone/>
            </a:pPr>
            <a:r>
              <a:rPr lang="en-US" sz="1250" dirty="0">
                <a:solidFill>
                  <a:srgbClr val="D7C9E4"/>
                </a:solidFill>
                <a:latin typeface="Calibri" pitchFamily="34" charset="0"/>
                <a:ea typeface="Calibri" pitchFamily="34" charset="-122"/>
                <a:cs typeface="Calibri" pitchFamily="34" charset="-120"/>
              </a:rPr>
              <a:t>All that monitoring still yields only moderate agreement. At what point do we stop treating rater disagreement as noise to be reduced and start treating it as the signal?</a:t>
            </a:r>
            <a:endParaRPr lang="en-US" sz="1250" dirty="0"/>
          </a:p>
        </p:txBody>
      </p:sp>
      <p:sp>
        <p:nvSpPr>
          <p:cNvPr id="18" name="Shape 16"/>
          <p:cNvSpPr/>
          <p:nvPr/>
        </p:nvSpPr>
        <p:spPr>
          <a:xfrm>
            <a:off x="841248" y="5330952"/>
            <a:ext cx="329184" cy="329184"/>
          </a:xfrm>
          <a:prstGeom prst="ellipse">
            <a:avLst/>
          </a:prstGeom>
          <a:solidFill>
            <a:srgbClr val="D98C2B"/>
          </a:solidFill>
          <a:ln w="12700">
            <a:solidFill>
              <a:srgbClr val="333333"/>
            </a:solidFill>
            <a:prstDash val="solid"/>
          </a:ln>
        </p:spPr>
        <p:txBody>
          <a:bodyPr/>
          <a:lstStyle/>
          <a:p>
            <a:endParaRPr lang="en-US"/>
          </a:p>
        </p:txBody>
      </p:sp>
      <p:sp>
        <p:nvSpPr>
          <p:cNvPr id="19" name="Text 17"/>
          <p:cNvSpPr txBox="1"/>
          <p:nvPr/>
        </p:nvSpPr>
        <p:spPr>
          <a:xfrm>
            <a:off x="841248" y="5358384"/>
            <a:ext cx="329184" cy="274320"/>
          </a:xfrm>
          <a:prstGeom prst="rect">
            <a:avLst/>
          </a:prstGeom>
          <a:noFill/>
          <a:ln/>
        </p:spPr>
        <p:txBody>
          <a:bodyPr wrap="square" lIns="0" tIns="0" rIns="0" bIns="0" rtlCol="0" anchor="ctr"/>
          <a:lstStyle/>
          <a:p>
            <a:pPr marL="0" indent="0" algn="ctr">
              <a:buNone/>
            </a:pPr>
            <a:r>
              <a:rPr lang="en-US" sz="1200" b="1" dirty="0">
                <a:solidFill>
                  <a:srgbClr val="2B1B3D"/>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48656"/>
            <a:ext cx="10058400" cy="914400"/>
          </a:xfrm>
          <a:prstGeom prst="rect">
            <a:avLst/>
          </a:prstGeom>
          <a:noFill/>
          <a:ln/>
        </p:spPr>
        <p:txBody>
          <a:bodyPr wrap="square" lIns="0" tIns="0" rIns="0" bIns="0" rtlCol="0" anchor="ctr"/>
          <a:lstStyle/>
          <a:p>
            <a:pPr marL="0" indent="0">
              <a:buNone/>
            </a:pPr>
            <a:r>
              <a:rPr lang="en-US" sz="1250" dirty="0">
                <a:solidFill>
                  <a:srgbClr val="D7C9E4"/>
                </a:solidFill>
                <a:latin typeface="Calibri" pitchFamily="34" charset="0"/>
                <a:ea typeface="Calibri" pitchFamily="34" charset="-122"/>
                <a:cs typeface="Calibri" pitchFamily="34" charset="-120"/>
              </a:rPr>
              <a:t>Podcasts are public, performative, self-selected speech from people who chose to publish. What kinds of emotional behaviour can this source never contain?</a:t>
            </a:r>
            <a:endParaRPr lang="en-US" sz="1250" dirty="0"/>
          </a:p>
        </p:txBody>
      </p:sp>
      <p:sp>
        <p:nvSpPr>
          <p:cNvPr id="21" name="Text 19"/>
          <p:cNvSpPr txBox="1"/>
          <p:nvPr/>
        </p:nvSpPr>
        <p:spPr>
          <a:xfrm>
            <a:off x="822960" y="6236208"/>
            <a:ext cx="10607040" cy="274320"/>
          </a:xfrm>
          <a:prstGeom prst="rect">
            <a:avLst/>
          </a:prstGeom>
          <a:noFill/>
          <a:ln/>
        </p:spPr>
        <p:txBody>
          <a:bodyPr wrap="square" lIns="0" tIns="0" rIns="0" bIns="0" rtlCol="0" anchor="ctr"/>
          <a:lstStyle/>
          <a:p>
            <a:pPr marL="0" indent="0">
              <a:buNone/>
            </a:pPr>
            <a:r>
              <a:rPr lang="en-US" sz="1000" dirty="0">
                <a:solidFill>
                  <a:srgbClr val="B7A8C6"/>
                </a:solidFill>
                <a:latin typeface="Calibri" pitchFamily="34" charset="0"/>
                <a:ea typeface="Calibri" pitchFamily="34" charset="-122"/>
                <a:cs typeface="Calibri" pitchFamily="34" charset="-120"/>
              </a:rPr>
              <a:t>Lotfian &amp; Busso (2019), IEEE Transactions on Affective Computing 10(4), 471–483  ·  corpus: lab-msp.com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7473</Words>
  <Application>Microsoft Macintosh PowerPoint</Application>
  <PresentationFormat>Widescreen</PresentationFormat>
  <Paragraphs>447</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MSP-Podcast (Lotfian &amp; Busso, 2019)</dc:title>
  <dc:subject>PptxGenJS Presentation</dc:subject>
  <dc:creator>Seminar</dc:creator>
  <cp:lastModifiedBy>Gao, Ashley</cp:lastModifiedBy>
  <cp:revision>2</cp:revision>
  <dcterms:created xsi:type="dcterms:W3CDTF">2026-09-08T17:54:36Z</dcterms:created>
  <dcterms:modified xsi:type="dcterms:W3CDTF">2026-09-08T18:27:12Z</dcterms:modified>
</cp:coreProperties>
</file>