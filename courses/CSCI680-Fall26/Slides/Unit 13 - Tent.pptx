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charts/chart2.xml" ContentType="application/vnd.openxmlformats-officedocument.drawingml.chart+xml"/>
  <Override PartName="/ppt/notesSlides/notesSlide14.xml" ContentType="application/vnd.openxmlformats-officedocument.presentationml.notesSlide+xml"/>
  <Override PartName="/ppt/charts/chart3.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9" d="100"/>
          <a:sy n="119" d="100"/>
        </p:scale>
        <p:origin x="50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5A6180"/>
                </a:solidFill>
                <a:latin typeface="Calibri"/>
              </a:defRPr>
            </a:pPr>
            <a:r>
              <a:rPr sz="1200" b="0" i="0" u="none" strike="noStrike">
                <a:solidFill>
                  <a:srgbClr val="5A6180"/>
                </a:solidFill>
                <a:latin typeface="Calibri"/>
              </a:rPr>
              <a:t>Lower is better — only BN, PL and Tent are fully test-time</a:t>
            </a:r>
          </a:p>
        </c:rich>
      </c:tx>
      <c:overlay val="0"/>
    </c:title>
    <c:autoTitleDeleted val="0"/>
    <c:plotArea>
      <c:layout/>
      <c:barChart>
        <c:barDir val="col"/>
        <c:grouping val="clustered"/>
        <c:varyColors val="0"/>
        <c:ser>
          <c:idx val="0"/>
          <c:order val="0"/>
          <c:tx>
            <c:strRef>
              <c:f>Sheet1!$B$1</c:f>
              <c:strCache>
                <c:ptCount val="1"/>
                <c:pt idx="0">
                  <c:v>CIFAR-10-C error (%)</c:v>
                </c:pt>
              </c:strCache>
            </c:strRef>
          </c:tx>
          <c:spPr>
            <a:solidFill>
              <a:srgbClr val="9EA7C4"/>
            </a:solidFill>
            <a:effectLst/>
          </c:spPr>
          <c:invertIfNegative val="0"/>
          <c:dLbls>
            <c:numFmt formatCode="0.0" sourceLinked="0"/>
            <c:spPr>
              <a:noFill/>
              <a:ln>
                <a:noFill/>
              </a:ln>
              <a:effectLst/>
            </c:spPr>
            <c:txPr>
              <a:bodyPr/>
              <a:lstStyle/>
              <a:p>
                <a:pPr>
                  <a:defRPr sz="950" b="0" i="0" u="none" strike="noStrike">
                    <a:solidFill>
                      <a:srgbClr val="262C44"/>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Source
(no adaptation)</c:v>
                </c:pt>
                <c:pt idx="1">
                  <c:v>RG
(domain adapt.)</c:v>
                </c:pt>
                <c:pt idx="2">
                  <c:v>UDA-SS
(domain adapt.)</c:v>
                </c:pt>
                <c:pt idx="3">
                  <c:v>TTT
(test-time train.)</c:v>
                </c:pt>
                <c:pt idx="4">
                  <c:v>BN
(test-time norm.)</c:v>
                </c:pt>
                <c:pt idx="5">
                  <c:v>PL
(pseudo-label)</c:v>
                </c:pt>
                <c:pt idx="6">
                  <c:v>Tent</c:v>
                </c:pt>
              </c:strCache>
            </c:strRef>
          </c:cat>
          <c:val>
            <c:numRef>
              <c:f>Sheet1!$B$2:$B$8</c:f>
              <c:numCache>
                <c:formatCode>General</c:formatCode>
                <c:ptCount val="7"/>
                <c:pt idx="0">
                  <c:v>40.799999999999997</c:v>
                </c:pt>
                <c:pt idx="1">
                  <c:v>18.3</c:v>
                </c:pt>
                <c:pt idx="2">
                  <c:v>16.7</c:v>
                </c:pt>
                <c:pt idx="3">
                  <c:v>17.5</c:v>
                </c:pt>
                <c:pt idx="4">
                  <c:v>17.3</c:v>
                </c:pt>
                <c:pt idx="5">
                  <c:v>15.7</c:v>
                </c:pt>
                <c:pt idx="6">
                  <c:v>14.3</c:v>
                </c:pt>
              </c:numCache>
            </c:numRef>
          </c:val>
          <c:extLst>
            <c:ext xmlns:c16="http://schemas.microsoft.com/office/drawing/2014/chart" uri="{C3380CC4-5D6E-409C-BE32-E72D297353CC}">
              <c16:uniqueId val="{00000000-10F6-654B-A7F3-3742143BA3A0}"/>
            </c:ext>
          </c:extLst>
        </c:ser>
        <c:ser>
          <c:idx val="1"/>
          <c:order val="1"/>
          <c:tx>
            <c:strRef>
              <c:f>Sheet1!$C$1</c:f>
              <c:strCache>
                <c:ptCount val="1"/>
                <c:pt idx="0">
                  <c:v>CIFAR-100-C error (%)</c:v>
                </c:pt>
              </c:strCache>
            </c:strRef>
          </c:tx>
          <c:spPr>
            <a:solidFill>
              <a:srgbClr val="3B4A7A"/>
            </a:solidFill>
            <a:effectLst/>
          </c:spPr>
          <c:invertIfNegative val="0"/>
          <c:dLbls>
            <c:numFmt formatCode="0.0" sourceLinked="0"/>
            <c:spPr>
              <a:noFill/>
              <a:ln>
                <a:noFill/>
              </a:ln>
              <a:effectLst/>
            </c:spPr>
            <c:txPr>
              <a:bodyPr/>
              <a:lstStyle/>
              <a:p>
                <a:pPr>
                  <a:defRPr sz="950" b="0" i="0" u="none" strike="noStrike">
                    <a:solidFill>
                      <a:srgbClr val="262C44"/>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Source
(no adaptation)</c:v>
                </c:pt>
                <c:pt idx="1">
                  <c:v>RG
(domain adapt.)</c:v>
                </c:pt>
                <c:pt idx="2">
                  <c:v>UDA-SS
(domain adapt.)</c:v>
                </c:pt>
                <c:pt idx="3">
                  <c:v>TTT
(test-time train.)</c:v>
                </c:pt>
                <c:pt idx="4">
                  <c:v>BN
(test-time norm.)</c:v>
                </c:pt>
                <c:pt idx="5">
                  <c:v>PL
(pseudo-label)</c:v>
                </c:pt>
                <c:pt idx="6">
                  <c:v>Tent</c:v>
                </c:pt>
              </c:strCache>
            </c:strRef>
          </c:cat>
          <c:val>
            <c:numRef>
              <c:f>Sheet1!$C$2:$C$8</c:f>
              <c:numCache>
                <c:formatCode>General</c:formatCode>
                <c:ptCount val="7"/>
                <c:pt idx="0">
                  <c:v>67.2</c:v>
                </c:pt>
                <c:pt idx="1">
                  <c:v>38.9</c:v>
                </c:pt>
                <c:pt idx="2">
                  <c:v>47</c:v>
                </c:pt>
                <c:pt idx="3">
                  <c:v>45</c:v>
                </c:pt>
                <c:pt idx="4">
                  <c:v>42.6</c:v>
                </c:pt>
                <c:pt idx="5">
                  <c:v>41.2</c:v>
                </c:pt>
                <c:pt idx="6">
                  <c:v>37.299999999999997</c:v>
                </c:pt>
              </c:numCache>
            </c:numRef>
          </c:val>
          <c:extLst>
            <c:ext xmlns:c16="http://schemas.microsoft.com/office/drawing/2014/chart" uri="{C3380CC4-5D6E-409C-BE32-E72D297353CC}">
              <c16:uniqueId val="{00000001-10F6-654B-A7F3-3742143BA3A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5A618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8EB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1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A6180"/>
              </a:solidFil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5A6180"/>
                </a:solidFill>
                <a:latin typeface="Calibri"/>
              </a:defRPr>
            </a:pPr>
            <a:r>
              <a:rPr sz="1200" b="0" i="0" u="none" strike="noStrike">
                <a:solidFill>
                  <a:srgbClr val="5A6180"/>
                </a:solidFill>
                <a:latin typeface="Calibri"/>
              </a:rPr>
              <a:t>Lower is better — averaged over corruption types and severities</a:t>
            </a:r>
          </a:p>
        </c:rich>
      </c:tx>
      <c:overlay val="0"/>
    </c:title>
    <c:autoTitleDeleted val="0"/>
    <c:plotArea>
      <c:layout/>
      <c:barChart>
        <c:barDir val="col"/>
        <c:grouping val="clustered"/>
        <c:varyColors val="0"/>
        <c:ser>
          <c:idx val="0"/>
          <c:order val="0"/>
          <c:tx>
            <c:strRef>
              <c:f>Sheet1!$B$1</c:f>
              <c:strCache>
                <c:ptCount val="1"/>
                <c:pt idx="0">
                  <c:v>ImageNet-C error (%)</c:v>
                </c:pt>
              </c:strCache>
            </c:strRef>
          </c:tx>
          <c:spPr>
            <a:solidFill>
              <a:srgbClr val="9EA7C4"/>
            </a:solidFill>
            <a:effectLst/>
          </c:spPr>
          <c:invertIfNegative val="0"/>
          <c:dPt>
            <c:idx val="0"/>
            <c:invertIfNegative val="0"/>
            <c:bubble3D val="0"/>
            <c:extLst>
              <c:ext xmlns:c16="http://schemas.microsoft.com/office/drawing/2014/chart" uri="{C3380CC4-5D6E-409C-BE32-E72D297353CC}">
                <c16:uniqueId val="{00000001-DD84-B84E-9E62-D5842E47A1A3}"/>
              </c:ext>
            </c:extLst>
          </c:dPt>
          <c:dPt>
            <c:idx val="1"/>
            <c:invertIfNegative val="0"/>
            <c:bubble3D val="0"/>
            <c:extLst>
              <c:ext xmlns:c16="http://schemas.microsoft.com/office/drawing/2014/chart" uri="{C3380CC4-5D6E-409C-BE32-E72D297353CC}">
                <c16:uniqueId val="{00000003-DD84-B84E-9E62-D5842E47A1A3}"/>
              </c:ext>
            </c:extLst>
          </c:dPt>
          <c:dPt>
            <c:idx val="2"/>
            <c:invertIfNegative val="0"/>
            <c:bubble3D val="0"/>
            <c:extLst>
              <c:ext xmlns:c16="http://schemas.microsoft.com/office/drawing/2014/chart" uri="{C3380CC4-5D6E-409C-BE32-E72D297353CC}">
                <c16:uniqueId val="{00000005-DD84-B84E-9E62-D5842E47A1A3}"/>
              </c:ext>
            </c:extLst>
          </c:dPt>
          <c:dPt>
            <c:idx val="3"/>
            <c:invertIfNegative val="0"/>
            <c:bubble3D val="0"/>
            <c:extLst>
              <c:ext xmlns:c16="http://schemas.microsoft.com/office/drawing/2014/chart" uri="{C3380CC4-5D6E-409C-BE32-E72D297353CC}">
                <c16:uniqueId val="{00000007-DD84-B84E-9E62-D5842E47A1A3}"/>
              </c:ext>
            </c:extLst>
          </c:dPt>
          <c:dPt>
            <c:idx val="4"/>
            <c:invertIfNegative val="0"/>
            <c:bubble3D val="0"/>
            <c:spPr>
              <a:solidFill>
                <a:srgbClr val="2FA8B8"/>
              </a:solidFill>
              <a:effectLst/>
            </c:spPr>
            <c:extLst>
              <c:ext xmlns:c16="http://schemas.microsoft.com/office/drawing/2014/chart" uri="{C3380CC4-5D6E-409C-BE32-E72D297353CC}">
                <c16:uniqueId val="{00000009-DD84-B84E-9E62-D5842E47A1A3}"/>
              </c:ext>
            </c:extLst>
          </c:dPt>
          <c:dPt>
            <c:idx val="5"/>
            <c:invertIfNegative val="0"/>
            <c:bubble3D val="0"/>
            <c:spPr>
              <a:solidFill>
                <a:srgbClr val="3B4A7A"/>
              </a:solidFill>
              <a:effectLst/>
            </c:spPr>
            <c:extLst>
              <c:ext xmlns:c16="http://schemas.microsoft.com/office/drawing/2014/chart" uri="{C3380CC4-5D6E-409C-BE32-E72D297353CC}">
                <c16:uniqueId val="{0000000B-DD84-B84E-9E62-D5842E47A1A3}"/>
              </c:ext>
            </c:extLst>
          </c:dPt>
          <c:dLbls>
            <c:numFmt formatCode="0.0" sourceLinked="0"/>
            <c:spPr>
              <a:noFill/>
              <a:ln>
                <a:noFill/>
              </a:ln>
              <a:effectLst/>
            </c:spPr>
            <c:txPr>
              <a:bodyPr/>
              <a:lstStyle/>
              <a:p>
                <a:pPr>
                  <a:defRPr sz="1050" b="0" i="0" u="none" strike="noStrike">
                    <a:solidFill>
                      <a:srgbClr val="262C44"/>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AugMix
(robust training)</c:v>
                </c:pt>
                <c:pt idx="1">
                  <c:v>ANT
(robust training)</c:v>
                </c:pt>
                <c:pt idx="2">
                  <c:v>Test-time norm
(BN)</c:v>
                </c:pt>
                <c:pt idx="3">
                  <c:v>ANT + SIN
(+ external images)</c:v>
                </c:pt>
                <c:pt idx="4">
                  <c:v>Tent
(online)</c:v>
                </c:pt>
                <c:pt idx="5">
                  <c:v>Tent
(offline)</c:v>
                </c:pt>
              </c:strCache>
            </c:strRef>
          </c:cat>
          <c:val>
            <c:numRef>
              <c:f>Sheet1!$B$2:$B$7</c:f>
              <c:numCache>
                <c:formatCode>General</c:formatCode>
                <c:ptCount val="6"/>
                <c:pt idx="0">
                  <c:v>51.7</c:v>
                </c:pt>
                <c:pt idx="1">
                  <c:v>50.2</c:v>
                </c:pt>
                <c:pt idx="2">
                  <c:v>49.9</c:v>
                </c:pt>
                <c:pt idx="3">
                  <c:v>47.4</c:v>
                </c:pt>
                <c:pt idx="4">
                  <c:v>44</c:v>
                </c:pt>
                <c:pt idx="5">
                  <c:v>42.3</c:v>
                </c:pt>
              </c:numCache>
            </c:numRef>
          </c:val>
          <c:extLst>
            <c:ext xmlns:c16="http://schemas.microsoft.com/office/drawing/2014/chart" uri="{C3380CC4-5D6E-409C-BE32-E72D297353CC}">
              <c16:uniqueId val="{0000000C-DD84-B84E-9E62-D5842E47A1A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A6180"/>
                </a:solidFill>
                <a:latin typeface="Arial"/>
              </a:defRPr>
            </a:pPr>
            <a:endParaRPr lang="en-US"/>
          </a:p>
        </c:txPr>
        <c:crossAx val="2094734552"/>
        <c:crosses val="autoZero"/>
        <c:auto val="1"/>
        <c:lblAlgn val="ctr"/>
        <c:lblOffset val="100"/>
        <c:noMultiLvlLbl val="1"/>
      </c:catAx>
      <c:valAx>
        <c:axId val="2094734552"/>
        <c:scaling>
          <c:orientation val="minMax"/>
          <c:max val="60"/>
          <c:min val="30"/>
        </c:scaling>
        <c:delete val="0"/>
        <c:axPos val="l"/>
        <c:majorGridlines>
          <c:spPr>
            <a:ln w="12700" cap="flat">
              <a:solidFill>
                <a:srgbClr val="E8EB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1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5A6180"/>
                </a:solidFill>
                <a:latin typeface="Calibri"/>
              </a:defRPr>
            </a:pPr>
            <a:r>
              <a:rPr sz="1200" b="0" i="0" u="none" strike="noStrike">
                <a:solidFill>
                  <a:srgbClr val="5A6180"/>
                </a:solidFill>
                <a:latin typeface="Calibri"/>
              </a:rPr>
              <a:t>Error (%) — lower is better; epochs are source + target</a:t>
            </a:r>
          </a:p>
        </c:rich>
      </c:tx>
      <c:overlay val="0"/>
    </c:title>
    <c:autoTitleDeleted val="0"/>
    <c:plotArea>
      <c:layout/>
      <c:barChart>
        <c:barDir val="col"/>
        <c:grouping val="clustered"/>
        <c:varyColors val="0"/>
        <c:ser>
          <c:idx val="0"/>
          <c:order val="0"/>
          <c:tx>
            <c:strRef>
              <c:f>Sheet1!$B$1</c:f>
              <c:strCache>
                <c:ptCount val="1"/>
                <c:pt idx="0">
                  <c:v>MNIST</c:v>
                </c:pt>
              </c:strCache>
            </c:strRef>
          </c:tx>
          <c:spPr>
            <a:solidFill>
              <a:srgbClr val="3B4A7A"/>
            </a:solidFill>
            <a:effectLst/>
          </c:spPr>
          <c:invertIfNegative val="0"/>
          <c:dLbls>
            <c:numFmt formatCode="0.0" sourceLinked="0"/>
            <c:spPr>
              <a:noFill/>
              <a:ln>
                <a:noFill/>
              </a:ln>
              <a:effectLst/>
            </c:spPr>
            <c:txPr>
              <a:bodyPr/>
              <a:lstStyle/>
              <a:p>
                <a:pPr>
                  <a:defRPr sz="850" b="0" i="0" u="none" strike="noStrike">
                    <a:solidFill>
                      <a:srgbClr val="262C44"/>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Source</c:v>
                </c:pt>
                <c:pt idx="1">
                  <c:v>RG
(10+10 epochs)</c:v>
                </c:pt>
                <c:pt idx="2">
                  <c:v>UDA-SS
(10+10 epochs)</c:v>
                </c:pt>
                <c:pt idx="3">
                  <c:v>BN
(0+1)</c:v>
                </c:pt>
                <c:pt idx="4">
                  <c:v>Tent
(0+1)</c:v>
                </c:pt>
                <c:pt idx="5">
                  <c:v>Tent
(0+10)</c:v>
                </c:pt>
              </c:strCache>
            </c:strRef>
          </c:cat>
          <c:val>
            <c:numRef>
              <c:f>Sheet1!$B$2:$B$7</c:f>
              <c:numCache>
                <c:formatCode>General</c:formatCode>
                <c:ptCount val="6"/>
                <c:pt idx="0">
                  <c:v>18.2</c:v>
                </c:pt>
                <c:pt idx="1">
                  <c:v>15</c:v>
                </c:pt>
                <c:pt idx="2">
                  <c:v>11.1</c:v>
                </c:pt>
                <c:pt idx="3">
                  <c:v>15.7</c:v>
                </c:pt>
                <c:pt idx="4">
                  <c:v>10</c:v>
                </c:pt>
                <c:pt idx="5">
                  <c:v>8.1999999999999993</c:v>
                </c:pt>
              </c:numCache>
            </c:numRef>
          </c:val>
          <c:extLst>
            <c:ext xmlns:c16="http://schemas.microsoft.com/office/drawing/2014/chart" uri="{C3380CC4-5D6E-409C-BE32-E72D297353CC}">
              <c16:uniqueId val="{00000000-0D0C-3148-ABF9-7A8364FBD560}"/>
            </c:ext>
          </c:extLst>
        </c:ser>
        <c:ser>
          <c:idx val="1"/>
          <c:order val="1"/>
          <c:tx>
            <c:strRef>
              <c:f>Sheet1!$C$1</c:f>
              <c:strCache>
                <c:ptCount val="1"/>
                <c:pt idx="0">
                  <c:v>MNIST-M</c:v>
                </c:pt>
              </c:strCache>
            </c:strRef>
          </c:tx>
          <c:spPr>
            <a:solidFill>
              <a:srgbClr val="9EA7C4"/>
            </a:solidFill>
            <a:effectLst/>
          </c:spPr>
          <c:invertIfNegative val="0"/>
          <c:dLbls>
            <c:numFmt formatCode="0.0" sourceLinked="0"/>
            <c:spPr>
              <a:noFill/>
              <a:ln>
                <a:noFill/>
              </a:ln>
              <a:effectLst/>
            </c:spPr>
            <c:txPr>
              <a:bodyPr/>
              <a:lstStyle/>
              <a:p>
                <a:pPr>
                  <a:defRPr sz="850" b="0" i="0" u="none" strike="noStrike">
                    <a:solidFill>
                      <a:srgbClr val="262C44"/>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Source</c:v>
                </c:pt>
                <c:pt idx="1">
                  <c:v>RG
(10+10 epochs)</c:v>
                </c:pt>
                <c:pt idx="2">
                  <c:v>UDA-SS
(10+10 epochs)</c:v>
                </c:pt>
                <c:pt idx="3">
                  <c:v>BN
(0+1)</c:v>
                </c:pt>
                <c:pt idx="4">
                  <c:v>Tent
(0+1)</c:v>
                </c:pt>
                <c:pt idx="5">
                  <c:v>Tent
(0+10)</c:v>
                </c:pt>
              </c:strCache>
            </c:strRef>
          </c:cat>
          <c:val>
            <c:numRef>
              <c:f>Sheet1!$C$2:$C$7</c:f>
              <c:numCache>
                <c:formatCode>General</c:formatCode>
                <c:ptCount val="6"/>
                <c:pt idx="0">
                  <c:v>39.700000000000003</c:v>
                </c:pt>
                <c:pt idx="1">
                  <c:v>33.4</c:v>
                </c:pt>
                <c:pt idx="2">
                  <c:v>22.2</c:v>
                </c:pt>
                <c:pt idx="3">
                  <c:v>39.700000000000003</c:v>
                </c:pt>
                <c:pt idx="4">
                  <c:v>37</c:v>
                </c:pt>
                <c:pt idx="5">
                  <c:v>36.799999999999997</c:v>
                </c:pt>
              </c:numCache>
            </c:numRef>
          </c:val>
          <c:extLst>
            <c:ext xmlns:c16="http://schemas.microsoft.com/office/drawing/2014/chart" uri="{C3380CC4-5D6E-409C-BE32-E72D297353CC}">
              <c16:uniqueId val="{00000001-0D0C-3148-ABF9-7A8364FBD560}"/>
            </c:ext>
          </c:extLst>
        </c:ser>
        <c:ser>
          <c:idx val="2"/>
          <c:order val="2"/>
          <c:tx>
            <c:strRef>
              <c:f>Sheet1!$D$1</c:f>
              <c:strCache>
                <c:ptCount val="1"/>
                <c:pt idx="0">
                  <c:v>USPS</c:v>
                </c:pt>
              </c:strCache>
            </c:strRef>
          </c:tx>
          <c:spPr>
            <a:solidFill>
              <a:srgbClr val="2FA8B8"/>
            </a:solidFill>
            <a:effectLst/>
          </c:spPr>
          <c:invertIfNegative val="0"/>
          <c:dLbls>
            <c:numFmt formatCode="0.0" sourceLinked="0"/>
            <c:spPr>
              <a:noFill/>
              <a:ln>
                <a:noFill/>
              </a:ln>
              <a:effectLst/>
            </c:spPr>
            <c:txPr>
              <a:bodyPr/>
              <a:lstStyle/>
              <a:p>
                <a:pPr>
                  <a:defRPr sz="850" b="0" i="0" u="none" strike="noStrike">
                    <a:solidFill>
                      <a:srgbClr val="262C44"/>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Source</c:v>
                </c:pt>
                <c:pt idx="1">
                  <c:v>RG
(10+10 epochs)</c:v>
                </c:pt>
                <c:pt idx="2">
                  <c:v>UDA-SS
(10+10 epochs)</c:v>
                </c:pt>
                <c:pt idx="3">
                  <c:v>BN
(0+1)</c:v>
                </c:pt>
                <c:pt idx="4">
                  <c:v>Tent
(0+1)</c:v>
                </c:pt>
                <c:pt idx="5">
                  <c:v>Tent
(0+10)</c:v>
                </c:pt>
              </c:strCache>
            </c:strRef>
          </c:cat>
          <c:val>
            <c:numRef>
              <c:f>Sheet1!$D$2:$D$7</c:f>
              <c:numCache>
                <c:formatCode>General</c:formatCode>
                <c:ptCount val="6"/>
                <c:pt idx="0">
                  <c:v>19.3</c:v>
                </c:pt>
                <c:pt idx="1">
                  <c:v>18.899999999999999</c:v>
                </c:pt>
                <c:pt idx="2">
                  <c:v>18.399999999999999</c:v>
                </c:pt>
                <c:pt idx="3">
                  <c:v>18</c:v>
                </c:pt>
                <c:pt idx="4">
                  <c:v>16.3</c:v>
                </c:pt>
                <c:pt idx="5">
                  <c:v>14.4</c:v>
                </c:pt>
              </c:numCache>
            </c:numRef>
          </c:val>
          <c:extLst>
            <c:ext xmlns:c16="http://schemas.microsoft.com/office/drawing/2014/chart" uri="{C3380CC4-5D6E-409C-BE32-E72D297353CC}">
              <c16:uniqueId val="{00000002-0D0C-3148-ABF9-7A8364FBD56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5A618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8EB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1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A6180"/>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67377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[0:00–1:00] Opening.
This is the second paper in the series from outside speech, and like the prompt-tuning session it is here because it defines the setting that the second talk operates in.
The question Tent asks: a model is deployed, the data shifts, and you have neither the training data nor any labels. Can the model fix itself using only its own predictions on the test stream?
The answer turns out to be a one-line loss. The entropy of the model's own predictions, minimised over a few thousand parameters, with one gradient step per batch.
After the break we see the same idea applied to speech emotion recognition — with the gradient removed entirely.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[2:00–4:00] Stakes.
The dark card is an unusually honest statement of novelty and worth crediting. Grandvalet and Bengio proposed entropy minimisation in 2005; what is new here is the setting and the demonstration that nothing else is needed.
That is the same shape of claim Lester made for prompt tuning in our earlier session — not a new mechanism, but a demonstration that a simple one suffices. Both papers landed hard for the same reason.
The ImageNet-C number is the one that got attention: beating methods that spent extra epochs on the training set, by adapting at inference with one gradient per point.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[4:00–4:10]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[4:10–6:20] The four settings.
This table is the paper's clearest contribution to how the field talks about adaptation, and it is worth walking row by row. Each row removes something.
The distinction from test-time training in the dark card is the one that matters and is easy to blur. TTT, from Sun and colleagues, adapts at test time too — but you have to have planned for it during training by adding a rotation-prediction head or similar. If someone hands you a trained checkpoint, TTT is unavailable and Tent is not.
That is the practical argument and it is what made the setting catch 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[6:20–8:20] Why this setting.
The privacy argument in the first card has become much more prominent since 2020 and is the main reason this setting matters commercially. You ship weights, not data.
The dark card sets up the second talk and is worth making concretely. Recall from the CLEP-DG session and from EAA that cross-corpus emotion transfer is where the losses are largest. That is exactly the condition Tent was built for — except that emotion corpora are small, utterances arrive singly, and the shifts are speaker and channel rather than Gaussian noise.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[8:20–8:30]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[8:30–10:40] Why entropy.
The first two cards are Figures 1 and 2 of the paper. Both are correlational and both are on CIFAR-100-C; we come back in section 4 to how strong that evidence actually is.
The third card is the argument from principle and it is the one that holds up best. A rotation classifier can get better at rotations while the object classifier gets worse — the losses are genuinely separate. Entropy is computed on the very distribution you care about.
Connect to the term: this is the same complaint HuBERT made about wav2vec 2.0's auxiliary diversity loss, and the same instinct behind SALMONN's activation tuning. Fewer, better-targeted objectives.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[10:40–12:40] The objective. Protect this slide — the dark card is the bridge to the second talk.
The degenerate-solution point is the one people miss and it is important. Entropy minimisation on a single sample is trivially satisfied by becoming maximally confident about whatever you already thought. What prevents collapse is that the same few thousand parameters have to serve the whole batch.
Spell out the consequence: batch size is not a tuning knob here, it is load-bearing. Later work found Tent degrades sharply at small batch sizes and under correlated class ordering, which is exactly what this analysis predicts.
Flag that Emo-TTA operates at batch size one and so must do something structurally different.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[12:40–14:40] Which parameters.
The restricted-capacity argument in the first card should sound familiar — it is exactly Lester's argument for prompt tuning, arrived at independently in a different setting. A small adaptation budget protects the model from destroying what it knows.
The dark card is the structural insight and it is worth drawing out, because the normalisation half alone is a strong baseline. Test-time normalisation gives 49.9% on ImageNet-C; Tent gives 44.0%. So roughly speaking, estimating statistics gets you most of the way and the gradient gets you the rest.
The implementation point matters for why this spread: repurposing existing batch-norm layers means no architectural change and no retraining.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[14:40–16:40] The algorithm.
The highlighted third row is the detail that makes online adaptation free. Because the update lands after the prediction, you never re-run the forward pass — the batch you just predicted pays for the improvement of the next batch.
That means the adapted model is always one batch behind, which is a real cost on short streams and no cost on long ones.
Note the first row: the source statistics are discarded, not blended. That is more aggressive than it sounds and it is why Tent inherits test-time normalisation's behaviour as a floor.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[16:40–16:50]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[16:50–19:00] Corruption benchmark.
The third bullet is the honest decomposition and it should not be skipped. Simply recomputing batch normalisation statistics on the target data does most of the work. That finding was concurrent — Schneider and colleagues and Nado and colleagues both reported it in 2020 — and Tent builds on it rather than replacing it.
So read Tent as normalisation plus a modest gradient refinement, not as a method that works from nothing.
Note UDA-SS does better than Tent on CIFAR-10-C in some framings but much worse on CIFAR-100-C at 47.0 — these domain adaptation methods are not uniformly strong.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[19:00–21:00] ImageNet-C.
This is the result that made Tent a spotlight paper. In 2020 the robustness literature was about augmentation and adversarial training — things you do before deployment, at considerable cost. Tent beat them by doing nothing until deployment.
The fourth bullet is the fair caveat and the paper makes it: ANT wins on noise because ANT is trained on noise. Specialisation beats adaptation where the specialisation matches.
Note also that Tent does not increase error on the original uncorrupted data, which matters for deployment — you do not want an adaptation method that hurts when nothing has shifted.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[21:00–23:00] Digits.
The MNIST-M column is the honest one and the dark card is the authors' own concession. Where the shift is large, having the source data genuinely helps, and Tent cannot close that gap.
The paper also names DIRT-T reaching 0.6% error on SVHN-to-MNIST and excludes it from the table for stated reasons — incomparable architecture and model selection with labelled target data. Flag that as a careful piece of reporting.
The efficiency figure in the third bullet is the real argument: eighty times less computation for comparable or better accuracy on two of three shifts.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[23:00–25:00] Beyond classification.
The single-image segmentation result in the first row is the most conceptually interesting. An image is in effect a batch of pixel-wise predictions, so the batch requirement is satisfied within one input. Episodic adaptation fits a custom model to each image.
That is worth holding onto for the second half: whether a setting admits single-sample adaptation depends on whether the sample contains enough internal structure to form a batch. One utterance with one label does not.
The VisDA row is a nice piece of honesty — the SHOT parameterisation beats Tent's own, and the paper reports it.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[25:00–25:10]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[25:10–27:30] Does entropy track error. Protect this slide.
This is the most important critical observation in the deck and it comes entirely from the paper's own figure caption. Deliver it without hostility: the number is reported, it is just reported quietly.
A rank correlation of 0.22 means that across the 75 conditions, knowing whether entropy fell tells you relatively little about whether loss fell. The method works on average; the mechanism is loose.
This is worth connecting to the term's recurring theme about proxies. HuBERT's pretext accuracy went down while downstream performance went up; here the proxy and the target move together only weakly. Optimising a proxy is always a bet on a correlation, and it is worth knowing how strong the correlation is.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[27:30–29:40] The parameter ablation.
The fourth row is the one to dwell on and it is unambiguous: updating the whole model on this objective never helps. Entropy minimisation over a full network collapses.
That is a strong constraint and it explains why a decade of entropy-regularisation work used it as one term among several. On its own it needs a tight capacity budget to stay stable.
The last row is a nice control that is easy to overlook: if adaptation only helped on the exact points used for updates, it would be a form of transduction rather than adaptation. It generalises, so the modulation is genuinely domain-level.
There is also a feature analysis showing Tent does not move features back toward the uncorrupted reference — unlike normalisation — but toward an oracle trained on target labels. Different mechanism, task-specific effect.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[29:40–32:00] Where Tent fails. Protect this slide.
The MNIST-to-SVHN result is reported plainly in the paper and deserves credit — many papers would have omitted it.
The dark card is the mechanism and it is the key intuition for the whole method. Entropy minimisation is a confidence amplifier. It has no information about correctness, only about certainty, so it reinforces the model's existing decision boundaries.
That explains both the successes and the failures: under mild corruption the boundaries are roughly right and sharpening helps; under a severe shift they are wrong and sharpening entrenches the error.
It also predicts the later literature on error accumulation and collapse in continual test-time adaptation, which became a whole subfield.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[32:00–34:00] The discussion as agenda.
Every one of these four became a literature, which is a good argument for reading discussion sections carefully.
The third row is the one that bears directly on the second half. 'Is there an effective loss for episodic optimisation, one point at a time?' is literally the question Emo-TTA answers — and its answer is to abandon the loss entirely and use a closed-form statistical update instead.
The calibration remark in the fourth row is prescient: subsequent work showed that entropy-based adaptation is sensitive to how well-calibrated the source model is, which is a real problem for modern over-confident networks.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[34:00–34:10]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[34:10–36:30] Appraisal.
Give the strengths their due — this is a model of how to write a short, clear method paper, and the honest failure reporting is genuinely unusual.
The fifth limitation is the one the field spent the next few years on. There is a well-known follow-up titled 'Realistic Evaluation of Test-Time Adaptation Algorithms: Unsupervised Hyperparameter Selection' which exists precisely because you cannot tune a learning rate when you have no labels — and reported gains can shrink substantially under honest protocols.
Flag that as something to watch for in the second talk, which also has tuned hyperparameters.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[36:30–38:30] Legacy and bridge.
The second row is the most interesting consequence and it follows directly from the mechanism we identified: a confidence amplifier run indefinitely eventually becomes confidently wrong about everything.
The third row sets up the second half and is worth stating precisely: a systematic 2026 evaluation of eleven TTA methods on speech emotion recognition found backpropagation-free methods most promising. Emo-TTA is one of those.
So the arc of the session is: Tent defines the setting with a gradient-based loss; five years later the speech community finds that for their data the gradient is the part to remove.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[38:30–39:50] Take-aways.
Read these; they are written to be transcribed. Number two is the one that explains both halves of the paper's results and predicts the later literature on collapse.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[39:50–45:00] Discussion.
Five prompts; take two. Question 4 is the bridge to the second half and the answer is worth previewing rather than resolving: an episodic objective either needs internal structure in the sample, as the single-image segmentation case had, or it needs to carry state across samples — which is what Emo-TTA does.
Question 2 is the most practically important and largely open. Entropy itself is a shift detector, per Figure 2, so one could in principle refuse to adapt when entropy is very high — but that is exactly when adaptation is most wanted.
Question 5 is the methodological one and it recurs in the second talk.</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440"/>
        </a:solidFill>
        <a:effectLst/>
      </p:bgPr>
    </p:bg>
    <p:spTree>
      <p:nvGrpSpPr>
        <p:cNvPr id="1" name=""/>
        <p:cNvGrpSpPr/>
        <p:nvPr/>
      </p:nvGrpSpPr>
      <p:grpSpPr>
        <a:xfrm>
          <a:off x="0" y="0"/>
          <a:ext cx="0" cy="0"/>
          <a:chOff x="0" y="0"/>
          <a:chExt cx="0" cy="0"/>
        </a:xfrm>
      </p:grpSpPr>
      <p:sp>
        <p:nvSpPr>
          <p:cNvPr id="2" name="Shape 0"/>
          <p:cNvSpPr/>
          <p:nvPr/>
        </p:nvSpPr>
        <p:spPr>
          <a:xfrm>
            <a:off x="868680" y="1097280"/>
            <a:ext cx="998525" cy="713232"/>
          </a:xfrm>
          <a:prstGeom prst="triangle">
            <a:avLst/>
          </a:prstGeom>
          <a:solidFill>
            <a:srgbClr val="C5CBE0"/>
          </a:solidFill>
          <a:ln w="12700">
            <a:solidFill>
              <a:srgbClr val="333333"/>
            </a:solidFill>
            <a:prstDash val="solid"/>
          </a:ln>
        </p:spPr>
        <p:txBody>
          <a:bodyPr/>
          <a:lstStyle/>
          <a:p>
            <a:endParaRPr lang="en-US"/>
          </a:p>
        </p:txBody>
      </p:sp>
      <p:sp>
        <p:nvSpPr>
          <p:cNvPr id="3" name="Shape 1"/>
          <p:cNvSpPr/>
          <p:nvPr/>
        </p:nvSpPr>
        <p:spPr>
          <a:xfrm>
            <a:off x="1225296" y="1382573"/>
            <a:ext cx="285293" cy="427939"/>
          </a:xfrm>
          <a:prstGeom prst="triangle">
            <a:avLst/>
          </a:prstGeom>
          <a:solidFill>
            <a:srgbClr val="2FA8B8"/>
          </a:solidFill>
          <a:ln w="12700">
            <a:solidFill>
              <a:srgbClr val="333333"/>
            </a:solidFill>
            <a:prstDash val="solid"/>
          </a:ln>
        </p:spPr>
        <p:txBody>
          <a:bodyPr/>
          <a:lstStyle/>
          <a:p>
            <a:endParaRPr lang="en-US"/>
          </a:p>
        </p:txBody>
      </p:sp>
      <p:sp>
        <p:nvSpPr>
          <p:cNvPr id="4" name="Text 2"/>
          <p:cNvSpPr txBox="1"/>
          <p:nvPr/>
        </p:nvSpPr>
        <p:spPr>
          <a:xfrm>
            <a:off x="822960" y="1874520"/>
            <a:ext cx="10515600" cy="914400"/>
          </a:xfrm>
          <a:prstGeom prst="rect">
            <a:avLst/>
          </a:prstGeom>
          <a:noFill/>
          <a:ln/>
        </p:spPr>
        <p:txBody>
          <a:bodyPr wrap="square" lIns="0" tIns="0" rIns="0" bIns="0" rtlCol="0" anchor="ctr"/>
          <a:lstStyle/>
          <a:p>
            <a:pPr marL="0" indent="0">
              <a:buNone/>
            </a:pPr>
            <a:r>
              <a:rPr lang="en-US" sz="5200" b="1" kern="0" spc="100" dirty="0">
                <a:solidFill>
                  <a:srgbClr val="FFFFFF"/>
                </a:solidFill>
                <a:latin typeface="Cambria" pitchFamily="34" charset="0"/>
                <a:ea typeface="Cambria" pitchFamily="34" charset="-122"/>
                <a:cs typeface="Cambria" pitchFamily="34" charset="-120"/>
              </a:rPr>
              <a:t>Tent</a:t>
            </a:r>
            <a:endParaRPr lang="en-US" sz="5200" dirty="0"/>
          </a:p>
        </p:txBody>
      </p:sp>
      <p:sp>
        <p:nvSpPr>
          <p:cNvPr id="5" name="Text 3"/>
          <p:cNvSpPr txBox="1"/>
          <p:nvPr/>
        </p:nvSpPr>
        <p:spPr>
          <a:xfrm>
            <a:off x="822960" y="2788920"/>
            <a:ext cx="10607040" cy="502920"/>
          </a:xfrm>
          <a:prstGeom prst="rect">
            <a:avLst/>
          </a:prstGeom>
          <a:noFill/>
          <a:ln/>
        </p:spPr>
        <p:txBody>
          <a:bodyPr wrap="square" lIns="0" tIns="0" rIns="0" bIns="0" rtlCol="0" anchor="ctr"/>
          <a:lstStyle/>
          <a:p>
            <a:pPr marL="0" indent="0">
              <a:buNone/>
            </a:pPr>
            <a:r>
              <a:rPr lang="en-US" sz="2100" i="1" dirty="0">
                <a:solidFill>
                  <a:srgbClr val="C5CBE0"/>
                </a:solidFill>
                <a:latin typeface="Cambria" pitchFamily="34" charset="0"/>
                <a:ea typeface="Cambria" pitchFamily="34" charset="-122"/>
                <a:cs typeface="Cambria" pitchFamily="34" charset="-120"/>
              </a:rPr>
              <a:t>Fully Test-Time Adaptation by Entropy Minimization</a:t>
            </a:r>
            <a:endParaRPr lang="en-US" sz="2100" dirty="0"/>
          </a:p>
        </p:txBody>
      </p:sp>
      <p:sp>
        <p:nvSpPr>
          <p:cNvPr id="6" name="Text 4"/>
          <p:cNvSpPr txBox="1"/>
          <p:nvPr/>
        </p:nvSpPr>
        <p:spPr>
          <a:xfrm>
            <a:off x="859536" y="3611880"/>
            <a:ext cx="10241280" cy="1005840"/>
          </a:xfrm>
          <a:prstGeom prst="rect">
            <a:avLst/>
          </a:prstGeom>
          <a:noFill/>
          <a:ln/>
        </p:spPr>
        <p:txBody>
          <a:bodyPr wrap="square" lIns="0" tIns="0" rIns="0" bIns="0" rtlCol="0" anchor="ctr"/>
          <a:lstStyle/>
          <a:p>
            <a:pPr marL="0" indent="0">
              <a:lnSpc>
                <a:spcPct val="125000"/>
              </a:lnSpc>
              <a:buNone/>
            </a:pPr>
            <a:r>
              <a:rPr lang="en-US" sz="1350" dirty="0">
                <a:solidFill>
                  <a:srgbClr val="ADB5CE"/>
                </a:solidFill>
                <a:latin typeface="Calibri" pitchFamily="34" charset="0"/>
                <a:ea typeface="Calibri" pitchFamily="34" charset="-122"/>
                <a:cs typeface="Calibri" pitchFamily="34" charset="-120"/>
              </a:rPr>
              <a:t>Dequan Wang, Evan Shelhamer, Shaoteng Liu, Bruno Olshausen &amp; Trevor Darrell</a:t>
            </a:r>
            <a:endParaRPr lang="en-US" sz="1350" dirty="0"/>
          </a:p>
          <a:p>
            <a:pPr marL="0" indent="0">
              <a:lnSpc>
                <a:spcPct val="125000"/>
              </a:lnSpc>
              <a:buNone/>
            </a:pPr>
            <a:r>
              <a:rPr lang="en-US" sz="1350" dirty="0">
                <a:solidFill>
                  <a:srgbClr val="ADB5CE"/>
                </a:solidFill>
                <a:latin typeface="Calibri" pitchFamily="34" charset="0"/>
                <a:ea typeface="Calibri" pitchFamily="34" charset="-122"/>
                <a:cs typeface="Calibri" pitchFamily="34" charset="-120"/>
              </a:rPr>
              <a:t>ICLR 2021 (Spotlight)  ·  arXiv:2006.10726</a:t>
            </a:r>
            <a:endParaRPr lang="en-US" sz="1350" dirty="0"/>
          </a:p>
          <a:p>
            <a:pPr marL="0" indent="0">
              <a:lnSpc>
                <a:spcPct val="125000"/>
              </a:lnSpc>
              <a:buNone/>
            </a:pPr>
            <a:r>
              <a:rPr lang="en-US" sz="1350" dirty="0">
                <a:solidFill>
                  <a:srgbClr val="ADB5CE"/>
                </a:solidFill>
                <a:latin typeface="Calibri" pitchFamily="34" charset="0"/>
                <a:ea typeface="Calibri" pitchFamily="34" charset="-122"/>
                <a:cs typeface="Calibri" pitchFamily="34" charset="-120"/>
              </a:rPr>
              <a:t>UC Berkeley and Adobe Research</a:t>
            </a:r>
            <a:endParaRPr lang="en-US" sz="1350" dirty="0"/>
          </a:p>
        </p:txBody>
      </p:sp>
      <p:sp>
        <p:nvSpPr>
          <p:cNvPr id="7" name="Text 5"/>
          <p:cNvSpPr txBox="1"/>
          <p:nvPr/>
        </p:nvSpPr>
        <p:spPr>
          <a:xfrm>
            <a:off x="859536" y="5120640"/>
            <a:ext cx="9144000" cy="365760"/>
          </a:xfrm>
          <a:prstGeom prst="rect">
            <a:avLst/>
          </a:prstGeom>
          <a:noFill/>
          <a:ln/>
        </p:spPr>
        <p:txBody>
          <a:bodyPr wrap="square" lIns="0" tIns="0" rIns="0" bIns="0" rtlCol="0" anchor="ctr"/>
          <a:lstStyle/>
          <a:p>
            <a:pPr marL="0" indent="0">
              <a:buNone/>
            </a:pPr>
            <a:r>
              <a:rPr lang="en-US" sz="1250" b="1" dirty="0">
                <a:solidFill>
                  <a:srgbClr val="2FA8B8"/>
                </a:solidFill>
                <a:latin typeface="Calibri" pitchFamily="34" charset="0"/>
                <a:ea typeface="Calibri" pitchFamily="34" charset="-122"/>
                <a:cs typeface="Calibri" pitchFamily="34" charset="-120"/>
              </a:rPr>
              <a:t>Adapting at test time  </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75488"/>
            <a:ext cx="384048" cy="274320"/>
          </a:xfrm>
          <a:prstGeom prst="triangle">
            <a:avLst/>
          </a:prstGeom>
          <a:solidFill>
            <a:srgbClr val="3B4A7A"/>
          </a:solidFill>
          <a:ln w="12700">
            <a:solidFill>
              <a:srgbClr val="333333"/>
            </a:solidFill>
            <a:prstDash val="solid"/>
          </a:ln>
        </p:spPr>
        <p:txBody>
          <a:bodyPr/>
          <a:lstStyle/>
          <a:p>
            <a:endParaRPr lang="en-US"/>
          </a:p>
        </p:txBody>
      </p:sp>
      <p:sp>
        <p:nvSpPr>
          <p:cNvPr id="3" name="Shape 1"/>
          <p:cNvSpPr/>
          <p:nvPr/>
        </p:nvSpPr>
        <p:spPr>
          <a:xfrm>
            <a:off x="11256264" y="585216"/>
            <a:ext cx="109728" cy="164592"/>
          </a:xfrm>
          <a:prstGeom prst="triangle">
            <a:avLst/>
          </a:prstGeom>
          <a:solidFill>
            <a:srgbClr val="2FA8B8"/>
          </a:solidFill>
          <a:ln w="12700">
            <a:solidFill>
              <a:srgbClr val="333333"/>
            </a:solidFill>
            <a:prstDash val="solid"/>
          </a:ln>
        </p:spPr>
        <p:txBody>
          <a:bodyPr/>
          <a:lstStyle/>
          <a:p>
            <a:endParaRPr lang="en-US"/>
          </a:p>
        </p:txBody>
      </p:sp>
      <p:sp>
        <p:nvSpPr>
          <p:cNvPr id="4" name="Text 2"/>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41A2E"/>
                </a:solidFill>
                <a:latin typeface="Cambria" pitchFamily="34" charset="0"/>
                <a:ea typeface="Cambria" pitchFamily="34" charset="-122"/>
                <a:cs typeface="Cambria" pitchFamily="34" charset="-120"/>
              </a:rPr>
              <a:t>Why this paper matters</a:t>
            </a:r>
            <a:endParaRPr lang="en-US" sz="2900" dirty="0"/>
          </a:p>
        </p:txBody>
      </p:sp>
      <p:sp>
        <p:nvSpPr>
          <p:cNvPr id="5" name="Text 3"/>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A6180"/>
                </a:solidFill>
                <a:latin typeface="Calibri" pitchFamily="34" charset="0"/>
                <a:ea typeface="Calibri" pitchFamily="34" charset="-122"/>
                <a:cs typeface="Calibri" pitchFamily="34" charset="-120"/>
              </a:rPr>
              <a:t>A one-line loss that defined a subfield</a:t>
            </a:r>
            <a:endParaRPr lang="en-US" sz="1350" dirty="0"/>
          </a:p>
        </p:txBody>
      </p:sp>
      <p:sp>
        <p:nvSpPr>
          <p:cNvPr id="6" name="Text 4"/>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9BA3BE"/>
                </a:solidFill>
                <a:latin typeface="Calibri" pitchFamily="34" charset="0"/>
                <a:ea typeface="Calibri" pitchFamily="34" charset="-122"/>
                <a:cs typeface="Calibri" pitchFamily="34" charset="-120"/>
              </a:rPr>
              <a:t>Tent · Wang et al. 2021  |  3</a:t>
            </a:r>
            <a:endParaRPr lang="en-US" sz="900" dirty="0"/>
          </a:p>
        </p:txBody>
      </p:sp>
      <p:sp>
        <p:nvSpPr>
          <p:cNvPr id="7" name="Text 5"/>
          <p:cNvSpPr txBox="1"/>
          <p:nvPr/>
        </p:nvSpPr>
        <p:spPr>
          <a:xfrm>
            <a:off x="566928" y="1554480"/>
            <a:ext cx="2697480" cy="694944"/>
          </a:xfrm>
          <a:prstGeom prst="rect">
            <a:avLst/>
          </a:prstGeom>
          <a:noFill/>
          <a:ln/>
        </p:spPr>
        <p:txBody>
          <a:bodyPr wrap="square" lIns="0" tIns="0" rIns="0" bIns="0" rtlCol="0" anchor="ctr"/>
          <a:lstStyle/>
          <a:p>
            <a:pPr marL="0" indent="0" algn="ctr">
              <a:buNone/>
            </a:pPr>
            <a:r>
              <a:rPr lang="en-US" sz="3400" b="1" dirty="0">
                <a:solidFill>
                  <a:srgbClr val="3B4A7A"/>
                </a:solidFill>
                <a:latin typeface="Cambria" pitchFamily="34" charset="0"/>
                <a:ea typeface="Cambria" pitchFamily="34" charset="-122"/>
                <a:cs typeface="Cambria" pitchFamily="34" charset="-120"/>
              </a:rPr>
              <a:t>&lt; 1%</a:t>
            </a:r>
            <a:endParaRPr lang="en-US" sz="3400" dirty="0"/>
          </a:p>
        </p:txBody>
      </p:sp>
      <p:sp>
        <p:nvSpPr>
          <p:cNvPr id="8" name="Text 6"/>
          <p:cNvSpPr txBox="1"/>
          <p:nvPr/>
        </p:nvSpPr>
        <p:spPr>
          <a:xfrm>
            <a:off x="566928" y="2249424"/>
            <a:ext cx="2697480" cy="566928"/>
          </a:xfrm>
          <a:prstGeom prst="rect">
            <a:avLst/>
          </a:prstGeom>
          <a:noFill/>
          <a:ln/>
        </p:spPr>
        <p:txBody>
          <a:bodyPr wrap="square" lIns="0" tIns="0" rIns="0" bIns="0" rtlCol="0" anchor="ctr"/>
          <a:lstStyle/>
          <a:p>
            <a:pPr marL="0" indent="0" algn="ctr">
              <a:buNone/>
            </a:pPr>
            <a:r>
              <a:rPr lang="en-US" sz="1150" dirty="0">
                <a:solidFill>
                  <a:srgbClr val="5A6180"/>
                </a:solidFill>
                <a:latin typeface="Calibri" pitchFamily="34" charset="0"/>
                <a:ea typeface="Calibri" pitchFamily="34" charset="-122"/>
                <a:cs typeface="Calibri" pitchFamily="34" charset="-120"/>
              </a:rPr>
              <a:t>of model parameters are</a:t>
            </a:r>
            <a:endParaRPr lang="en-US" sz="1150" dirty="0"/>
          </a:p>
          <a:p>
            <a:pPr marL="0" indent="0" algn="ctr">
              <a:buNone/>
            </a:pPr>
            <a:r>
              <a:rPr lang="en-US" sz="1150" dirty="0">
                <a:solidFill>
                  <a:srgbClr val="5A6180"/>
                </a:solidFill>
                <a:latin typeface="Calibri" pitchFamily="34" charset="0"/>
                <a:ea typeface="Calibri" pitchFamily="34" charset="-122"/>
                <a:cs typeface="Calibri" pitchFamily="34" charset="-120"/>
              </a:rPr>
              <a:t>updated at test time</a:t>
            </a:r>
            <a:endParaRPr lang="en-US" sz="1150" dirty="0"/>
          </a:p>
        </p:txBody>
      </p:sp>
      <p:sp>
        <p:nvSpPr>
          <p:cNvPr id="9" name="Text 7"/>
          <p:cNvSpPr txBox="1"/>
          <p:nvPr/>
        </p:nvSpPr>
        <p:spPr>
          <a:xfrm>
            <a:off x="3392424" y="1554480"/>
            <a:ext cx="2697480" cy="694944"/>
          </a:xfrm>
          <a:prstGeom prst="rect">
            <a:avLst/>
          </a:prstGeom>
          <a:noFill/>
          <a:ln/>
        </p:spPr>
        <p:txBody>
          <a:bodyPr wrap="square" lIns="0" tIns="0" rIns="0" bIns="0" rtlCol="0" anchor="ctr"/>
          <a:lstStyle/>
          <a:p>
            <a:pPr marL="0" indent="0" algn="ctr">
              <a:buNone/>
            </a:pPr>
            <a:r>
              <a:rPr lang="en-US" sz="3400" b="1" dirty="0">
                <a:solidFill>
                  <a:srgbClr val="2FA8B8"/>
                </a:solidFill>
                <a:latin typeface="Cambria" pitchFamily="34" charset="0"/>
                <a:ea typeface="Cambria" pitchFamily="34" charset="-122"/>
                <a:cs typeface="Cambria" pitchFamily="34" charset="-120"/>
              </a:rPr>
              <a:t>1</a:t>
            </a:r>
            <a:endParaRPr lang="en-US" sz="3400" dirty="0"/>
          </a:p>
        </p:txBody>
      </p:sp>
      <p:sp>
        <p:nvSpPr>
          <p:cNvPr id="10" name="Text 8"/>
          <p:cNvSpPr txBox="1"/>
          <p:nvPr/>
        </p:nvSpPr>
        <p:spPr>
          <a:xfrm>
            <a:off x="3392424" y="2249424"/>
            <a:ext cx="2697480" cy="566928"/>
          </a:xfrm>
          <a:prstGeom prst="rect">
            <a:avLst/>
          </a:prstGeom>
          <a:noFill/>
          <a:ln/>
        </p:spPr>
        <p:txBody>
          <a:bodyPr wrap="square" lIns="0" tIns="0" rIns="0" bIns="0" rtlCol="0" anchor="ctr"/>
          <a:lstStyle/>
          <a:p>
            <a:pPr marL="0" indent="0" algn="ctr">
              <a:buNone/>
            </a:pPr>
            <a:r>
              <a:rPr lang="en-US" sz="1150" dirty="0">
                <a:solidFill>
                  <a:srgbClr val="5A6180"/>
                </a:solidFill>
                <a:latin typeface="Calibri" pitchFamily="34" charset="0"/>
                <a:ea typeface="Calibri" pitchFamily="34" charset="-122"/>
                <a:cs typeface="Calibri" pitchFamily="34" charset="-120"/>
              </a:rPr>
              <a:t>gradient per test point —</a:t>
            </a:r>
            <a:endParaRPr lang="en-US" sz="1150" dirty="0"/>
          </a:p>
          <a:p>
            <a:pPr marL="0" indent="0" algn="ctr">
              <a:buNone/>
            </a:pPr>
            <a:r>
              <a:rPr lang="en-US" sz="1150" dirty="0">
                <a:solidFill>
                  <a:srgbClr val="5A6180"/>
                </a:solidFill>
                <a:latin typeface="Calibri" pitchFamily="34" charset="0"/>
                <a:ea typeface="Calibri" pitchFamily="34" charset="-122"/>
                <a:cs typeface="Calibri" pitchFamily="34" charset="-120"/>
              </a:rPr>
              <a:t>no extra forward passes</a:t>
            </a:r>
            <a:endParaRPr lang="en-US" sz="1150" dirty="0"/>
          </a:p>
        </p:txBody>
      </p:sp>
      <p:sp>
        <p:nvSpPr>
          <p:cNvPr id="11" name="Text 9"/>
          <p:cNvSpPr txBox="1"/>
          <p:nvPr/>
        </p:nvSpPr>
        <p:spPr>
          <a:xfrm>
            <a:off x="6217920" y="1554480"/>
            <a:ext cx="2697480" cy="694944"/>
          </a:xfrm>
          <a:prstGeom prst="rect">
            <a:avLst/>
          </a:prstGeom>
          <a:noFill/>
          <a:ln/>
        </p:spPr>
        <p:txBody>
          <a:bodyPr wrap="square" lIns="0" tIns="0" rIns="0" bIns="0" rtlCol="0" anchor="ctr"/>
          <a:lstStyle/>
          <a:p>
            <a:pPr marL="0" indent="0" algn="ctr">
              <a:buNone/>
            </a:pPr>
            <a:r>
              <a:rPr lang="en-US" sz="3400" b="1" dirty="0">
                <a:solidFill>
                  <a:srgbClr val="3B4A7A"/>
                </a:solidFill>
                <a:latin typeface="Cambria" pitchFamily="34" charset="0"/>
                <a:ea typeface="Cambria" pitchFamily="34" charset="-122"/>
                <a:cs typeface="Cambria" pitchFamily="34" charset="-120"/>
              </a:rPr>
              <a:t>44.0%</a:t>
            </a:r>
            <a:endParaRPr lang="en-US" sz="3400" dirty="0"/>
          </a:p>
        </p:txBody>
      </p:sp>
      <p:sp>
        <p:nvSpPr>
          <p:cNvPr id="12" name="Text 10"/>
          <p:cNvSpPr txBox="1"/>
          <p:nvPr/>
        </p:nvSpPr>
        <p:spPr>
          <a:xfrm>
            <a:off x="6217920" y="2249424"/>
            <a:ext cx="2697480" cy="566928"/>
          </a:xfrm>
          <a:prstGeom prst="rect">
            <a:avLst/>
          </a:prstGeom>
          <a:noFill/>
          <a:ln/>
        </p:spPr>
        <p:txBody>
          <a:bodyPr wrap="square" lIns="0" tIns="0" rIns="0" bIns="0" rtlCol="0" anchor="ctr"/>
          <a:lstStyle/>
          <a:p>
            <a:pPr marL="0" indent="0" algn="ctr">
              <a:buNone/>
            </a:pPr>
            <a:r>
              <a:rPr lang="en-US" sz="1150" dirty="0">
                <a:solidFill>
                  <a:srgbClr val="5A6180"/>
                </a:solidFill>
                <a:latin typeface="Calibri" pitchFamily="34" charset="0"/>
                <a:ea typeface="Calibri" pitchFamily="34" charset="-122"/>
                <a:cs typeface="Calibri" pitchFamily="34" charset="-120"/>
              </a:rPr>
              <a:t>ImageNet-C error, against</a:t>
            </a:r>
            <a:endParaRPr lang="en-US" sz="1150" dirty="0"/>
          </a:p>
          <a:p>
            <a:pPr marL="0" indent="0" algn="ctr">
              <a:buNone/>
            </a:pPr>
            <a:r>
              <a:rPr lang="en-US" sz="1150" dirty="0">
                <a:solidFill>
                  <a:srgbClr val="5A6180"/>
                </a:solidFill>
                <a:latin typeface="Calibri" pitchFamily="34" charset="0"/>
                <a:ea typeface="Calibri" pitchFamily="34" charset="-122"/>
                <a:cs typeface="Calibri" pitchFamily="34" charset="-120"/>
              </a:rPr>
              <a:t>50.2% for robust training</a:t>
            </a:r>
            <a:endParaRPr lang="en-US" sz="1150" dirty="0"/>
          </a:p>
        </p:txBody>
      </p:sp>
      <p:sp>
        <p:nvSpPr>
          <p:cNvPr id="13" name="Text 11"/>
          <p:cNvSpPr txBox="1"/>
          <p:nvPr/>
        </p:nvSpPr>
        <p:spPr>
          <a:xfrm>
            <a:off x="9043416" y="1554480"/>
            <a:ext cx="2587752" cy="694944"/>
          </a:xfrm>
          <a:prstGeom prst="rect">
            <a:avLst/>
          </a:prstGeom>
          <a:noFill/>
          <a:ln/>
        </p:spPr>
        <p:txBody>
          <a:bodyPr wrap="square" lIns="0" tIns="0" rIns="0" bIns="0" rtlCol="0" anchor="ctr"/>
          <a:lstStyle/>
          <a:p>
            <a:pPr marL="0" indent="0" algn="ctr">
              <a:buNone/>
            </a:pPr>
            <a:r>
              <a:rPr lang="en-US" sz="3400" b="1" dirty="0">
                <a:solidFill>
                  <a:srgbClr val="2FA8B8"/>
                </a:solidFill>
                <a:latin typeface="Cambria" pitchFamily="34" charset="0"/>
                <a:ea typeface="Cambria" pitchFamily="34" charset="-122"/>
                <a:cs typeface="Cambria" pitchFamily="34" charset="-120"/>
              </a:rPr>
              <a:t>0</a:t>
            </a:r>
            <a:endParaRPr lang="en-US" sz="3400" dirty="0"/>
          </a:p>
        </p:txBody>
      </p:sp>
      <p:sp>
        <p:nvSpPr>
          <p:cNvPr id="14" name="Text 12"/>
          <p:cNvSpPr txBox="1"/>
          <p:nvPr/>
        </p:nvSpPr>
        <p:spPr>
          <a:xfrm>
            <a:off x="9043416" y="2249424"/>
            <a:ext cx="2587752" cy="566928"/>
          </a:xfrm>
          <a:prstGeom prst="rect">
            <a:avLst/>
          </a:prstGeom>
          <a:noFill/>
          <a:ln/>
        </p:spPr>
        <p:txBody>
          <a:bodyPr wrap="square" lIns="0" tIns="0" rIns="0" bIns="0" rtlCol="0" anchor="ctr"/>
          <a:lstStyle/>
          <a:p>
            <a:pPr marL="0" indent="0" algn="ctr">
              <a:buNone/>
            </a:pPr>
            <a:r>
              <a:rPr lang="en-US" sz="1150" dirty="0">
                <a:solidFill>
                  <a:srgbClr val="5A6180"/>
                </a:solidFill>
                <a:latin typeface="Calibri" pitchFamily="34" charset="0"/>
                <a:ea typeface="Calibri" pitchFamily="34" charset="-122"/>
                <a:cs typeface="Calibri" pitchFamily="34" charset="-120"/>
              </a:rPr>
              <a:t>source data, labels, or</a:t>
            </a:r>
            <a:endParaRPr lang="en-US" sz="1150" dirty="0"/>
          </a:p>
          <a:p>
            <a:pPr marL="0" indent="0" algn="ctr">
              <a:buNone/>
            </a:pPr>
            <a:r>
              <a:rPr lang="en-US" sz="1150" dirty="0">
                <a:solidFill>
                  <a:srgbClr val="5A6180"/>
                </a:solidFill>
                <a:latin typeface="Calibri" pitchFamily="34" charset="0"/>
                <a:ea typeface="Calibri" pitchFamily="34" charset="-122"/>
                <a:cs typeface="Calibri" pitchFamily="34" charset="-120"/>
              </a:rPr>
              <a:t>changes to training</a:t>
            </a:r>
            <a:endParaRPr lang="en-US" sz="1150" dirty="0"/>
          </a:p>
        </p:txBody>
      </p:sp>
      <p:sp>
        <p:nvSpPr>
          <p:cNvPr id="15" name="Shape 13"/>
          <p:cNvSpPr/>
          <p:nvPr/>
        </p:nvSpPr>
        <p:spPr>
          <a:xfrm>
            <a:off x="566928" y="3200400"/>
            <a:ext cx="11064240" cy="1371600"/>
          </a:xfrm>
          <a:prstGeom prst="roundRect">
            <a:avLst>
              <a:gd name="adj" fmla="val 4000"/>
            </a:avLst>
          </a:prstGeom>
          <a:solidFill>
            <a:srgbClr val="F1F2F7"/>
          </a:solidFill>
          <a:ln w="12700">
            <a:solidFill>
              <a:srgbClr val="E1E4EE"/>
            </a:solidFill>
            <a:prstDash val="solid"/>
          </a:ln>
        </p:spPr>
        <p:txBody>
          <a:bodyPr/>
          <a:lstStyle/>
          <a:p>
            <a:endParaRPr lang="en-US"/>
          </a:p>
        </p:txBody>
      </p:sp>
      <p:sp>
        <p:nvSpPr>
          <p:cNvPr id="16" name="Shape 14"/>
          <p:cNvSpPr/>
          <p:nvPr/>
        </p:nvSpPr>
        <p:spPr>
          <a:xfrm>
            <a:off x="786384" y="3493008"/>
            <a:ext cx="109728" cy="109728"/>
          </a:xfrm>
          <a:prstGeom prst="ellipse">
            <a:avLst/>
          </a:prstGeom>
          <a:solidFill>
            <a:srgbClr val="3B4A7A"/>
          </a:solidFill>
          <a:ln w="12700">
            <a:solidFill>
              <a:srgbClr val="333333"/>
            </a:solidFill>
            <a:prstDash val="solid"/>
          </a:ln>
        </p:spPr>
        <p:txBody>
          <a:bodyPr/>
          <a:lstStyle/>
          <a:p>
            <a:endParaRPr lang="en-US"/>
          </a:p>
        </p:txBody>
      </p:sp>
      <p:sp>
        <p:nvSpPr>
          <p:cNvPr id="17" name="Text 15"/>
          <p:cNvSpPr txBox="1"/>
          <p:nvPr/>
        </p:nvSpPr>
        <p:spPr>
          <a:xfrm>
            <a:off x="987552" y="3364992"/>
            <a:ext cx="10424160" cy="365760"/>
          </a:xfrm>
          <a:prstGeom prst="rect">
            <a:avLst/>
          </a:prstGeom>
          <a:noFill/>
          <a:ln/>
        </p:spPr>
        <p:txBody>
          <a:bodyPr wrap="square" lIns="0" tIns="0" rIns="0" bIns="0" rtlCol="0" anchor="ctr"/>
          <a:lstStyle/>
          <a:p>
            <a:pPr marL="0" indent="0">
              <a:buNone/>
            </a:pPr>
            <a:r>
              <a:rPr lang="en-US" sz="1500" b="1" dirty="0">
                <a:solidFill>
                  <a:srgbClr val="141A2E"/>
                </a:solidFill>
                <a:latin typeface="Cambria" pitchFamily="34" charset="0"/>
                <a:ea typeface="Cambria" pitchFamily="34" charset="-122"/>
                <a:cs typeface="Cambria" pitchFamily="34" charset="-120"/>
              </a:rPr>
              <a:t>The claim</a:t>
            </a:r>
            <a:endParaRPr lang="en-US" sz="1500" dirty="0"/>
          </a:p>
        </p:txBody>
      </p:sp>
      <p:sp>
        <p:nvSpPr>
          <p:cNvPr id="18" name="Text 16"/>
          <p:cNvSpPr txBox="1"/>
          <p:nvPr/>
        </p:nvSpPr>
        <p:spPr>
          <a:xfrm>
            <a:off x="822960" y="3803904"/>
            <a:ext cx="10552176" cy="585216"/>
          </a:xfrm>
          <a:prstGeom prst="rect">
            <a:avLst/>
          </a:prstGeom>
          <a:noFill/>
          <a:ln/>
        </p:spPr>
        <p:txBody>
          <a:bodyPr wrap="square" lIns="0" tIns="0" rIns="0" bIns="0" rtlCol="0" anchor="t"/>
          <a:lstStyle/>
          <a:p>
            <a:pPr marL="0" indent="0">
              <a:lnSpc>
                <a:spcPct val="108000"/>
              </a:lnSpc>
              <a:buNone/>
            </a:pPr>
            <a:r>
              <a:rPr lang="en-US" sz="1340" dirty="0">
                <a:solidFill>
                  <a:srgbClr val="262C44"/>
                </a:solidFill>
                <a:latin typeface="Calibri" pitchFamily="34" charset="0"/>
                <a:ea typeface="Calibri" pitchFamily="34" charset="-122"/>
                <a:cs typeface="Calibri" pitchFamily="34" charset="-120"/>
              </a:rPr>
              <a:t>A deployed model meets data it was not trained for, and accuracy suffers. It has only its own parameters and the unlabelled test stream. Minimise the entropy of its own predictions, updating only the channel-wise scales and shifts in its normalisation layers, and error falls — in one epoch, without altering training at all.</a:t>
            </a:r>
            <a:endParaRPr lang="en-US" sz="1340" dirty="0"/>
          </a:p>
        </p:txBody>
      </p:sp>
      <p:sp>
        <p:nvSpPr>
          <p:cNvPr id="19" name="Shape 17"/>
          <p:cNvSpPr/>
          <p:nvPr/>
        </p:nvSpPr>
        <p:spPr>
          <a:xfrm>
            <a:off x="566928" y="4700016"/>
            <a:ext cx="11064240" cy="1353312"/>
          </a:xfrm>
          <a:prstGeom prst="roundRect">
            <a:avLst>
              <a:gd name="adj" fmla="val 4054"/>
            </a:avLst>
          </a:prstGeom>
          <a:solidFill>
            <a:srgbClr val="1C2440"/>
          </a:solidFill>
          <a:ln w="12700">
            <a:solidFill>
              <a:srgbClr val="1C2440"/>
            </a:solidFill>
            <a:prstDash val="solid"/>
          </a:ln>
        </p:spPr>
        <p:txBody>
          <a:bodyPr/>
          <a:lstStyle/>
          <a:p>
            <a:endParaRPr lang="en-US"/>
          </a:p>
        </p:txBody>
      </p:sp>
      <p:sp>
        <p:nvSpPr>
          <p:cNvPr id="20" name="Shape 18"/>
          <p:cNvSpPr/>
          <p:nvPr/>
        </p:nvSpPr>
        <p:spPr>
          <a:xfrm>
            <a:off x="786384" y="4992624"/>
            <a:ext cx="109728" cy="109728"/>
          </a:xfrm>
          <a:prstGeom prst="ellipse">
            <a:avLst/>
          </a:prstGeom>
          <a:solidFill>
            <a:srgbClr val="2FA8B8"/>
          </a:solidFill>
          <a:ln w="12700">
            <a:solidFill>
              <a:srgbClr val="333333"/>
            </a:solidFill>
            <a:prstDash val="solid"/>
          </a:ln>
        </p:spPr>
        <p:txBody>
          <a:bodyPr/>
          <a:lstStyle/>
          <a:p>
            <a:endParaRPr lang="en-US"/>
          </a:p>
        </p:txBody>
      </p:sp>
      <p:sp>
        <p:nvSpPr>
          <p:cNvPr id="21" name="Text 19"/>
          <p:cNvSpPr txBox="1"/>
          <p:nvPr/>
        </p:nvSpPr>
        <p:spPr>
          <a:xfrm>
            <a:off x="987552" y="4864608"/>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The authors' own framing of the contribution</a:t>
            </a:r>
            <a:endParaRPr lang="en-US" sz="1500" dirty="0"/>
          </a:p>
        </p:txBody>
      </p:sp>
      <p:sp>
        <p:nvSpPr>
          <p:cNvPr id="22" name="Text 20"/>
          <p:cNvSpPr txBox="1"/>
          <p:nvPr/>
        </p:nvSpPr>
        <p:spPr>
          <a:xfrm>
            <a:off x="822960" y="5303520"/>
            <a:ext cx="10552176" cy="566928"/>
          </a:xfrm>
          <a:prstGeom prst="rect">
            <a:avLst/>
          </a:prstGeom>
          <a:noFill/>
          <a:ln/>
        </p:spPr>
        <p:txBody>
          <a:bodyPr wrap="square" lIns="0" tIns="0" rIns="0" bIns="0" rtlCol="0" anchor="t"/>
          <a:lstStyle/>
          <a:p>
            <a:pPr marL="0" indent="0">
              <a:lnSpc>
                <a:spcPct val="108000"/>
              </a:lnSpc>
              <a:buNone/>
            </a:pPr>
            <a:r>
              <a:rPr lang="en-US" sz="1340" dirty="0">
                <a:solidFill>
                  <a:srgbClr val="C5CBE0"/>
                </a:solidFill>
                <a:latin typeface="Calibri" pitchFamily="34" charset="0"/>
                <a:ea typeface="Calibri" pitchFamily="34" charset="-122"/>
                <a:cs typeface="Calibri" pitchFamily="34" charset="-120"/>
              </a:rPr>
              <a:t>Entropy minimisation was already well established as a regulariser for domain adaptation, semi-supervised learning and few-shot learning. The contribution is to exhibit entropy as the sole loss for fully test-time adaptation — not a new objective, but a demonstration that one familiar objective suffices on its own.</a:t>
            </a:r>
            <a:endParaRPr lang="en-US" sz="13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1C2440"/>
        </a:solidFill>
        <a:effectLst/>
      </p:bgPr>
    </p:bg>
    <p:spTree>
      <p:nvGrpSpPr>
        <p:cNvPr id="1" name=""/>
        <p:cNvGrpSpPr/>
        <p:nvPr/>
      </p:nvGrpSpPr>
      <p:grpSpPr>
        <a:xfrm>
          <a:off x="0" y="0"/>
          <a:ext cx="0" cy="0"/>
          <a:chOff x="0" y="0"/>
          <a:chExt cx="0" cy="0"/>
        </a:xfrm>
      </p:grpSpPr>
      <p:sp>
        <p:nvSpPr>
          <p:cNvPr id="2" name="Shape 0"/>
          <p:cNvSpPr/>
          <p:nvPr/>
        </p:nvSpPr>
        <p:spPr>
          <a:xfrm>
            <a:off x="10515600" y="5349240"/>
            <a:ext cx="768096" cy="548640"/>
          </a:xfrm>
          <a:prstGeom prst="triangle">
            <a:avLst/>
          </a:prstGeom>
          <a:solidFill>
            <a:srgbClr val="C5CBE0"/>
          </a:solidFill>
          <a:ln w="12700">
            <a:solidFill>
              <a:srgbClr val="333333"/>
            </a:solidFill>
            <a:prstDash val="solid"/>
          </a:ln>
        </p:spPr>
        <p:txBody>
          <a:bodyPr/>
          <a:lstStyle/>
          <a:p>
            <a:endParaRPr lang="en-US"/>
          </a:p>
        </p:txBody>
      </p:sp>
      <p:sp>
        <p:nvSpPr>
          <p:cNvPr id="3" name="Shape 1"/>
          <p:cNvSpPr/>
          <p:nvPr/>
        </p:nvSpPr>
        <p:spPr>
          <a:xfrm>
            <a:off x="10789920" y="5568696"/>
            <a:ext cx="219456" cy="329184"/>
          </a:xfrm>
          <a:prstGeom prst="triangle">
            <a:avLst/>
          </a:prstGeom>
          <a:solidFill>
            <a:srgbClr val="2FA8B8"/>
          </a:solidFill>
          <a:ln w="12700">
            <a:solidFill>
              <a:srgbClr val="333333"/>
            </a:solidFill>
            <a:prstDash val="solid"/>
          </a:ln>
        </p:spPr>
        <p:txBody>
          <a:bodyPr/>
          <a:lstStyle/>
          <a:p>
            <a:endParaRPr lang="en-US"/>
          </a:p>
        </p:txBody>
      </p:sp>
      <p:sp>
        <p:nvSpPr>
          <p:cNvPr id="4" name="Text 2"/>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2FA8B8"/>
                </a:solidFill>
                <a:latin typeface="Cambria" pitchFamily="34" charset="0"/>
                <a:ea typeface="Cambria" pitchFamily="34" charset="-122"/>
                <a:cs typeface="Cambria" pitchFamily="34" charset="-120"/>
              </a:rPr>
              <a:t>1</a:t>
            </a:r>
            <a:endParaRPr lang="en-US" sz="6600" dirty="0"/>
          </a:p>
        </p:txBody>
      </p:sp>
      <p:sp>
        <p:nvSpPr>
          <p:cNvPr id="5" name="Text 3"/>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The setting</a:t>
            </a:r>
            <a:endParaRPr lang="en-US" sz="3300" dirty="0"/>
          </a:p>
        </p:txBody>
      </p:sp>
      <p:sp>
        <p:nvSpPr>
          <p:cNvPr id="6" name="Text 4"/>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C5CBE0"/>
                </a:solidFill>
                <a:latin typeface="Calibri" pitchFamily="34" charset="0"/>
                <a:ea typeface="Calibri" pitchFamily="34" charset="-122"/>
                <a:cs typeface="Calibri" pitchFamily="34" charset="-120"/>
              </a:rPr>
              <a:t>What 'fully test-time' excludes, and why that matters</a:t>
            </a:r>
            <a:endParaRPr lang="en-US" sz="150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9BA3BE"/>
                </a:solidFill>
                <a:latin typeface="Calibri" pitchFamily="34" charset="0"/>
                <a:ea typeface="Calibri" pitchFamily="34" charset="-122"/>
                <a:cs typeface="Calibri" pitchFamily="34" charset="-120"/>
              </a:rPr>
              <a:t>Tent · Wang et al. 2021  |  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75488"/>
            <a:ext cx="384048" cy="274320"/>
          </a:xfrm>
          <a:prstGeom prst="triangle">
            <a:avLst/>
          </a:prstGeom>
          <a:solidFill>
            <a:srgbClr val="3B4A7A"/>
          </a:solidFill>
          <a:ln w="12700">
            <a:solidFill>
              <a:srgbClr val="333333"/>
            </a:solidFill>
            <a:prstDash val="solid"/>
          </a:ln>
        </p:spPr>
        <p:txBody>
          <a:bodyPr/>
          <a:lstStyle/>
          <a:p>
            <a:endParaRPr lang="en-US"/>
          </a:p>
        </p:txBody>
      </p:sp>
      <p:sp>
        <p:nvSpPr>
          <p:cNvPr id="3" name="Shape 1"/>
          <p:cNvSpPr/>
          <p:nvPr/>
        </p:nvSpPr>
        <p:spPr>
          <a:xfrm>
            <a:off x="11256264" y="585216"/>
            <a:ext cx="109728" cy="164592"/>
          </a:xfrm>
          <a:prstGeom prst="triangle">
            <a:avLst/>
          </a:prstGeom>
          <a:solidFill>
            <a:srgbClr val="2FA8B8"/>
          </a:solidFill>
          <a:ln w="12700">
            <a:solidFill>
              <a:srgbClr val="333333"/>
            </a:solidFill>
            <a:prstDash val="solid"/>
          </a:ln>
        </p:spPr>
        <p:txBody>
          <a:bodyPr/>
          <a:lstStyle/>
          <a:p>
            <a:endParaRPr lang="en-US"/>
          </a:p>
        </p:txBody>
      </p:sp>
      <p:sp>
        <p:nvSpPr>
          <p:cNvPr id="4" name="Text 2"/>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41A2E"/>
                </a:solidFill>
                <a:latin typeface="Cambria" pitchFamily="34" charset="0"/>
                <a:ea typeface="Cambria" pitchFamily="34" charset="-122"/>
                <a:cs typeface="Cambria" pitchFamily="34" charset="-120"/>
              </a:rPr>
              <a:t>Four adaptation settings</a:t>
            </a:r>
            <a:endParaRPr lang="en-US" sz="2900" dirty="0"/>
          </a:p>
        </p:txBody>
      </p:sp>
      <p:sp>
        <p:nvSpPr>
          <p:cNvPr id="5" name="Text 3"/>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A6180"/>
                </a:solidFill>
                <a:latin typeface="Calibri" pitchFamily="34" charset="0"/>
                <a:ea typeface="Calibri" pitchFamily="34" charset="-122"/>
                <a:cs typeface="Calibri" pitchFamily="34" charset="-120"/>
              </a:rPr>
              <a:t>They differ by what data is available, and therefore what loss is possible</a:t>
            </a:r>
            <a:endParaRPr lang="en-US" sz="1350" dirty="0"/>
          </a:p>
        </p:txBody>
      </p:sp>
      <p:sp>
        <p:nvSpPr>
          <p:cNvPr id="6" name="Text 4"/>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9BA3BE"/>
                </a:solidFill>
                <a:latin typeface="Calibri" pitchFamily="34" charset="0"/>
                <a:ea typeface="Calibri" pitchFamily="34" charset="-122"/>
                <a:cs typeface="Calibri" pitchFamily="34" charset="-120"/>
              </a:rPr>
              <a:t>Tent · Wang et al. 2021  |  5</a:t>
            </a:r>
            <a:endParaRPr lang="en-US" sz="900" dirty="0"/>
          </a:p>
        </p:txBody>
      </p:sp>
      <p:sp>
        <p:nvSpPr>
          <p:cNvPr id="7" name="Text 5"/>
          <p:cNvSpPr txBox="1"/>
          <p:nvPr/>
        </p:nvSpPr>
        <p:spPr>
          <a:xfrm>
            <a:off x="786384" y="1481328"/>
            <a:ext cx="2834640" cy="274320"/>
          </a:xfrm>
          <a:prstGeom prst="rect">
            <a:avLst/>
          </a:prstGeom>
          <a:noFill/>
          <a:ln/>
        </p:spPr>
        <p:txBody>
          <a:bodyPr wrap="square" lIns="0" tIns="0" rIns="0" bIns="0" rtlCol="0" anchor="ctr"/>
          <a:lstStyle/>
          <a:p>
            <a:pPr marL="0" indent="0">
              <a:buNone/>
            </a:pPr>
            <a:r>
              <a:rPr lang="en-US" sz="1150" b="1" dirty="0">
                <a:solidFill>
                  <a:srgbClr val="5A6180"/>
                </a:solidFill>
                <a:latin typeface="Calibri" pitchFamily="34" charset="0"/>
                <a:ea typeface="Calibri" pitchFamily="34" charset="-122"/>
                <a:cs typeface="Calibri" pitchFamily="34" charset="-120"/>
              </a:rPr>
              <a:t>Setting</a:t>
            </a:r>
            <a:endParaRPr lang="en-US" sz="1150" dirty="0"/>
          </a:p>
        </p:txBody>
      </p:sp>
      <p:sp>
        <p:nvSpPr>
          <p:cNvPr id="8" name="Text 6"/>
          <p:cNvSpPr txBox="1"/>
          <p:nvPr/>
        </p:nvSpPr>
        <p:spPr>
          <a:xfrm>
            <a:off x="3749040" y="1481328"/>
            <a:ext cx="1645920" cy="274320"/>
          </a:xfrm>
          <a:prstGeom prst="rect">
            <a:avLst/>
          </a:prstGeom>
          <a:noFill/>
          <a:ln/>
        </p:spPr>
        <p:txBody>
          <a:bodyPr wrap="square" lIns="0" tIns="0" rIns="0" bIns="0" rtlCol="0" anchor="ctr"/>
          <a:lstStyle/>
          <a:p>
            <a:pPr marL="0" indent="0">
              <a:buNone/>
            </a:pPr>
            <a:r>
              <a:rPr lang="en-US" sz="1150" b="1" dirty="0">
                <a:solidFill>
                  <a:srgbClr val="5A6180"/>
                </a:solidFill>
                <a:latin typeface="Calibri" pitchFamily="34" charset="0"/>
                <a:ea typeface="Calibri" pitchFamily="34" charset="-122"/>
                <a:cs typeface="Calibri" pitchFamily="34" charset="-120"/>
              </a:rPr>
              <a:t>Source data</a:t>
            </a:r>
            <a:endParaRPr lang="en-US" sz="1150" dirty="0"/>
          </a:p>
        </p:txBody>
      </p:sp>
      <p:sp>
        <p:nvSpPr>
          <p:cNvPr id="9" name="Text 7"/>
          <p:cNvSpPr txBox="1"/>
          <p:nvPr/>
        </p:nvSpPr>
        <p:spPr>
          <a:xfrm>
            <a:off x="5577840" y="1481328"/>
            <a:ext cx="1463040" cy="274320"/>
          </a:xfrm>
          <a:prstGeom prst="rect">
            <a:avLst/>
          </a:prstGeom>
          <a:noFill/>
          <a:ln/>
        </p:spPr>
        <p:txBody>
          <a:bodyPr wrap="square" lIns="0" tIns="0" rIns="0" bIns="0" rtlCol="0" anchor="ctr"/>
          <a:lstStyle/>
          <a:p>
            <a:pPr marL="0" indent="0">
              <a:buNone/>
            </a:pPr>
            <a:r>
              <a:rPr lang="en-US" sz="1150" b="1" dirty="0">
                <a:solidFill>
                  <a:srgbClr val="5A6180"/>
                </a:solidFill>
                <a:latin typeface="Calibri" pitchFamily="34" charset="0"/>
                <a:ea typeface="Calibri" pitchFamily="34" charset="-122"/>
                <a:cs typeface="Calibri" pitchFamily="34" charset="-120"/>
              </a:rPr>
              <a:t>Target data</a:t>
            </a:r>
            <a:endParaRPr lang="en-US" sz="1150" dirty="0"/>
          </a:p>
        </p:txBody>
      </p:sp>
      <p:sp>
        <p:nvSpPr>
          <p:cNvPr id="10" name="Text 8"/>
          <p:cNvSpPr txBox="1"/>
          <p:nvPr/>
        </p:nvSpPr>
        <p:spPr>
          <a:xfrm>
            <a:off x="7223760" y="1481328"/>
            <a:ext cx="2560320" cy="274320"/>
          </a:xfrm>
          <a:prstGeom prst="rect">
            <a:avLst/>
          </a:prstGeom>
          <a:noFill/>
          <a:ln/>
        </p:spPr>
        <p:txBody>
          <a:bodyPr wrap="square" lIns="0" tIns="0" rIns="0" bIns="0" rtlCol="0" anchor="ctr"/>
          <a:lstStyle/>
          <a:p>
            <a:pPr marL="0" indent="0">
              <a:buNone/>
            </a:pPr>
            <a:r>
              <a:rPr lang="en-US" sz="1150" b="1" dirty="0">
                <a:solidFill>
                  <a:srgbClr val="5A6180"/>
                </a:solidFill>
                <a:latin typeface="Calibri" pitchFamily="34" charset="0"/>
                <a:ea typeface="Calibri" pitchFamily="34" charset="-122"/>
                <a:cs typeface="Calibri" pitchFamily="34" charset="-120"/>
              </a:rPr>
              <a:t>Train loss</a:t>
            </a:r>
            <a:endParaRPr lang="en-US" sz="1150" dirty="0"/>
          </a:p>
        </p:txBody>
      </p:sp>
      <p:sp>
        <p:nvSpPr>
          <p:cNvPr id="11" name="Text 9"/>
          <p:cNvSpPr txBox="1"/>
          <p:nvPr/>
        </p:nvSpPr>
        <p:spPr>
          <a:xfrm>
            <a:off x="9966960" y="1481328"/>
            <a:ext cx="1645920" cy="274320"/>
          </a:xfrm>
          <a:prstGeom prst="rect">
            <a:avLst/>
          </a:prstGeom>
          <a:noFill/>
          <a:ln/>
        </p:spPr>
        <p:txBody>
          <a:bodyPr wrap="square" lIns="0" tIns="0" rIns="0" bIns="0" rtlCol="0" anchor="ctr"/>
          <a:lstStyle/>
          <a:p>
            <a:pPr marL="0" indent="0">
              <a:buNone/>
            </a:pPr>
            <a:r>
              <a:rPr lang="en-US" sz="1150" b="1" dirty="0">
                <a:solidFill>
                  <a:srgbClr val="5A6180"/>
                </a:solidFill>
                <a:latin typeface="Calibri" pitchFamily="34" charset="0"/>
                <a:ea typeface="Calibri" pitchFamily="34" charset="-122"/>
                <a:cs typeface="Calibri" pitchFamily="34" charset="-120"/>
              </a:rPr>
              <a:t>Test loss</a:t>
            </a:r>
            <a:endParaRPr lang="en-US" sz="1150" dirty="0"/>
          </a:p>
        </p:txBody>
      </p:sp>
      <p:sp>
        <p:nvSpPr>
          <p:cNvPr id="12" name="Shape 10"/>
          <p:cNvSpPr/>
          <p:nvPr/>
        </p:nvSpPr>
        <p:spPr>
          <a:xfrm>
            <a:off x="566928" y="1773936"/>
            <a:ext cx="11064240" cy="603504"/>
          </a:xfrm>
          <a:prstGeom prst="roundRect">
            <a:avLst>
              <a:gd name="adj" fmla="val 3030"/>
            </a:avLst>
          </a:prstGeom>
          <a:solidFill>
            <a:srgbClr val="F1F2F7"/>
          </a:solidFill>
          <a:ln w="12700">
            <a:solidFill>
              <a:srgbClr val="E8EBF2"/>
            </a:solidFill>
            <a:prstDash val="solid"/>
          </a:ln>
        </p:spPr>
        <p:txBody>
          <a:bodyPr/>
          <a:lstStyle/>
          <a:p>
            <a:endParaRPr lang="en-US"/>
          </a:p>
        </p:txBody>
      </p:sp>
      <p:sp>
        <p:nvSpPr>
          <p:cNvPr id="13" name="Text 11"/>
          <p:cNvSpPr txBox="1"/>
          <p:nvPr/>
        </p:nvSpPr>
        <p:spPr>
          <a:xfrm>
            <a:off x="786384" y="1837944"/>
            <a:ext cx="2834640" cy="475488"/>
          </a:xfrm>
          <a:prstGeom prst="rect">
            <a:avLst/>
          </a:prstGeom>
          <a:noFill/>
          <a:ln/>
        </p:spPr>
        <p:txBody>
          <a:bodyPr wrap="square" lIns="0" tIns="0" rIns="0" bIns="0" rtlCol="0" anchor="ctr"/>
          <a:lstStyle/>
          <a:p>
            <a:pPr marL="0" indent="0">
              <a:buNone/>
            </a:pPr>
            <a:r>
              <a:rPr lang="en-US" sz="1180" b="1" dirty="0">
                <a:solidFill>
                  <a:srgbClr val="141A2E"/>
                </a:solidFill>
                <a:latin typeface="Calibri" pitchFamily="34" charset="0"/>
                <a:ea typeface="Calibri" pitchFamily="34" charset="-122"/>
                <a:cs typeface="Calibri" pitchFamily="34" charset="-120"/>
              </a:rPr>
              <a:t>Fine-tuning</a:t>
            </a:r>
            <a:endParaRPr lang="en-US" sz="1180" dirty="0"/>
          </a:p>
        </p:txBody>
      </p:sp>
      <p:sp>
        <p:nvSpPr>
          <p:cNvPr id="14" name="Text 12"/>
          <p:cNvSpPr txBox="1"/>
          <p:nvPr/>
        </p:nvSpPr>
        <p:spPr>
          <a:xfrm>
            <a:off x="3749040" y="1837944"/>
            <a:ext cx="1645920" cy="475488"/>
          </a:xfrm>
          <a:prstGeom prst="rect">
            <a:avLst/>
          </a:prstGeom>
          <a:noFill/>
          <a:ln/>
        </p:spPr>
        <p:txBody>
          <a:bodyPr wrap="square" lIns="0" tIns="0" rIns="0" bIns="0" rtlCol="0" anchor="ctr"/>
          <a:lstStyle/>
          <a:p>
            <a:pPr marL="0" indent="0">
              <a:buNone/>
            </a:pPr>
            <a:r>
              <a:rPr lang="en-US" sz="1180" dirty="0">
                <a:solidFill>
                  <a:srgbClr val="262C44"/>
                </a:solidFill>
                <a:latin typeface="Calibri" pitchFamily="34" charset="0"/>
                <a:ea typeface="Calibri" pitchFamily="34" charset="-122"/>
                <a:cs typeface="Calibri" pitchFamily="34" charset="-120"/>
              </a:rPr>
              <a:t>—</a:t>
            </a:r>
            <a:endParaRPr lang="en-US" sz="1180" dirty="0"/>
          </a:p>
        </p:txBody>
      </p:sp>
      <p:sp>
        <p:nvSpPr>
          <p:cNvPr id="15" name="Text 13"/>
          <p:cNvSpPr txBox="1"/>
          <p:nvPr/>
        </p:nvSpPr>
        <p:spPr>
          <a:xfrm>
            <a:off x="5577840" y="1837944"/>
            <a:ext cx="1463040" cy="475488"/>
          </a:xfrm>
          <a:prstGeom prst="rect">
            <a:avLst/>
          </a:prstGeom>
          <a:noFill/>
          <a:ln/>
        </p:spPr>
        <p:txBody>
          <a:bodyPr wrap="square" lIns="0" tIns="0" rIns="0" bIns="0" rtlCol="0" anchor="ctr"/>
          <a:lstStyle/>
          <a:p>
            <a:pPr marL="0" indent="0">
              <a:buNone/>
            </a:pPr>
            <a:r>
              <a:rPr lang="en-US" sz="1180" dirty="0">
                <a:solidFill>
                  <a:srgbClr val="262C44"/>
                </a:solidFill>
                <a:latin typeface="Calibri" pitchFamily="34" charset="0"/>
                <a:ea typeface="Calibri" pitchFamily="34" charset="-122"/>
                <a:cs typeface="Calibri" pitchFamily="34" charset="-120"/>
              </a:rPr>
              <a:t>x_t, y_t</a:t>
            </a:r>
            <a:endParaRPr lang="en-US" sz="1180" dirty="0"/>
          </a:p>
        </p:txBody>
      </p:sp>
      <p:sp>
        <p:nvSpPr>
          <p:cNvPr id="16" name="Text 14"/>
          <p:cNvSpPr txBox="1"/>
          <p:nvPr/>
        </p:nvSpPr>
        <p:spPr>
          <a:xfrm>
            <a:off x="7223760" y="1837944"/>
            <a:ext cx="2560320" cy="475488"/>
          </a:xfrm>
          <a:prstGeom prst="rect">
            <a:avLst/>
          </a:prstGeom>
          <a:noFill/>
          <a:ln/>
        </p:spPr>
        <p:txBody>
          <a:bodyPr wrap="square" lIns="0" tIns="0" rIns="0" bIns="0" rtlCol="0" anchor="ctr"/>
          <a:lstStyle/>
          <a:p>
            <a:pPr marL="0" indent="0">
              <a:buNone/>
            </a:pPr>
            <a:r>
              <a:rPr lang="en-US" sz="1180" dirty="0">
                <a:solidFill>
                  <a:srgbClr val="262C44"/>
                </a:solidFill>
                <a:latin typeface="Calibri" pitchFamily="34" charset="0"/>
                <a:ea typeface="Calibri" pitchFamily="34" charset="-122"/>
                <a:cs typeface="Calibri" pitchFamily="34" charset="-120"/>
              </a:rPr>
              <a:t>L(x_t, y_t)</a:t>
            </a:r>
            <a:endParaRPr lang="en-US" sz="1180" dirty="0"/>
          </a:p>
        </p:txBody>
      </p:sp>
      <p:sp>
        <p:nvSpPr>
          <p:cNvPr id="17" name="Text 15"/>
          <p:cNvSpPr txBox="1"/>
          <p:nvPr/>
        </p:nvSpPr>
        <p:spPr>
          <a:xfrm>
            <a:off x="9966960" y="1837944"/>
            <a:ext cx="1645920" cy="475488"/>
          </a:xfrm>
          <a:prstGeom prst="rect">
            <a:avLst/>
          </a:prstGeom>
          <a:noFill/>
          <a:ln/>
        </p:spPr>
        <p:txBody>
          <a:bodyPr wrap="square" lIns="0" tIns="0" rIns="0" bIns="0" rtlCol="0" anchor="ctr"/>
          <a:lstStyle/>
          <a:p>
            <a:pPr marL="0" indent="0">
              <a:buNone/>
            </a:pPr>
            <a:r>
              <a:rPr lang="en-US" sz="1180" dirty="0">
                <a:solidFill>
                  <a:srgbClr val="262C44"/>
                </a:solidFill>
                <a:latin typeface="Calibri" pitchFamily="34" charset="0"/>
                <a:ea typeface="Calibri" pitchFamily="34" charset="-122"/>
                <a:cs typeface="Calibri" pitchFamily="34" charset="-120"/>
              </a:rPr>
              <a:t>—</a:t>
            </a:r>
            <a:endParaRPr lang="en-US" sz="1180" dirty="0"/>
          </a:p>
        </p:txBody>
      </p:sp>
      <p:sp>
        <p:nvSpPr>
          <p:cNvPr id="18" name="Shape 16"/>
          <p:cNvSpPr/>
          <p:nvPr/>
        </p:nvSpPr>
        <p:spPr>
          <a:xfrm>
            <a:off x="566928" y="2414016"/>
            <a:ext cx="11064240" cy="603504"/>
          </a:xfrm>
          <a:prstGeom prst="roundRect">
            <a:avLst>
              <a:gd name="adj" fmla="val 3030"/>
            </a:avLst>
          </a:prstGeom>
          <a:solidFill>
            <a:srgbClr val="FFFFFF"/>
          </a:solidFill>
          <a:ln w="12700">
            <a:solidFill>
              <a:srgbClr val="E8EBF2"/>
            </a:solidFill>
            <a:prstDash val="solid"/>
          </a:ln>
        </p:spPr>
        <p:txBody>
          <a:bodyPr/>
          <a:lstStyle/>
          <a:p>
            <a:endParaRPr lang="en-US"/>
          </a:p>
        </p:txBody>
      </p:sp>
      <p:sp>
        <p:nvSpPr>
          <p:cNvPr id="19" name="Text 17"/>
          <p:cNvSpPr txBox="1"/>
          <p:nvPr/>
        </p:nvSpPr>
        <p:spPr>
          <a:xfrm>
            <a:off x="786384" y="2478024"/>
            <a:ext cx="2834640" cy="475488"/>
          </a:xfrm>
          <a:prstGeom prst="rect">
            <a:avLst/>
          </a:prstGeom>
          <a:noFill/>
          <a:ln/>
        </p:spPr>
        <p:txBody>
          <a:bodyPr wrap="square" lIns="0" tIns="0" rIns="0" bIns="0" rtlCol="0" anchor="ctr"/>
          <a:lstStyle/>
          <a:p>
            <a:pPr marL="0" indent="0">
              <a:buNone/>
            </a:pPr>
            <a:r>
              <a:rPr lang="en-US" sz="1180" b="1" dirty="0">
                <a:solidFill>
                  <a:srgbClr val="141A2E"/>
                </a:solidFill>
                <a:latin typeface="Calibri" pitchFamily="34" charset="0"/>
                <a:ea typeface="Calibri" pitchFamily="34" charset="-122"/>
                <a:cs typeface="Calibri" pitchFamily="34" charset="-120"/>
              </a:rPr>
              <a:t>Domain adaptation</a:t>
            </a:r>
            <a:endParaRPr lang="en-US" sz="1180" dirty="0"/>
          </a:p>
        </p:txBody>
      </p:sp>
      <p:sp>
        <p:nvSpPr>
          <p:cNvPr id="20" name="Text 18"/>
          <p:cNvSpPr txBox="1"/>
          <p:nvPr/>
        </p:nvSpPr>
        <p:spPr>
          <a:xfrm>
            <a:off x="3749040" y="2478024"/>
            <a:ext cx="1645920" cy="475488"/>
          </a:xfrm>
          <a:prstGeom prst="rect">
            <a:avLst/>
          </a:prstGeom>
          <a:noFill/>
          <a:ln/>
        </p:spPr>
        <p:txBody>
          <a:bodyPr wrap="square" lIns="0" tIns="0" rIns="0" bIns="0" rtlCol="0" anchor="ctr"/>
          <a:lstStyle/>
          <a:p>
            <a:pPr marL="0" indent="0">
              <a:buNone/>
            </a:pPr>
            <a:r>
              <a:rPr lang="en-US" sz="1180" dirty="0">
                <a:solidFill>
                  <a:srgbClr val="262C44"/>
                </a:solidFill>
                <a:latin typeface="Calibri" pitchFamily="34" charset="0"/>
                <a:ea typeface="Calibri" pitchFamily="34" charset="-122"/>
                <a:cs typeface="Calibri" pitchFamily="34" charset="-120"/>
              </a:rPr>
              <a:t>x_s, y_s</a:t>
            </a:r>
            <a:endParaRPr lang="en-US" sz="1180" dirty="0"/>
          </a:p>
        </p:txBody>
      </p:sp>
      <p:sp>
        <p:nvSpPr>
          <p:cNvPr id="21" name="Text 19"/>
          <p:cNvSpPr txBox="1"/>
          <p:nvPr/>
        </p:nvSpPr>
        <p:spPr>
          <a:xfrm>
            <a:off x="5577840" y="2478024"/>
            <a:ext cx="1463040" cy="475488"/>
          </a:xfrm>
          <a:prstGeom prst="rect">
            <a:avLst/>
          </a:prstGeom>
          <a:noFill/>
          <a:ln/>
        </p:spPr>
        <p:txBody>
          <a:bodyPr wrap="square" lIns="0" tIns="0" rIns="0" bIns="0" rtlCol="0" anchor="ctr"/>
          <a:lstStyle/>
          <a:p>
            <a:pPr marL="0" indent="0">
              <a:buNone/>
            </a:pPr>
            <a:r>
              <a:rPr lang="en-US" sz="1180" dirty="0">
                <a:solidFill>
                  <a:srgbClr val="262C44"/>
                </a:solidFill>
                <a:latin typeface="Calibri" pitchFamily="34" charset="0"/>
                <a:ea typeface="Calibri" pitchFamily="34" charset="-122"/>
                <a:cs typeface="Calibri" pitchFamily="34" charset="-120"/>
              </a:rPr>
              <a:t>x_t</a:t>
            </a:r>
            <a:endParaRPr lang="en-US" sz="1180" dirty="0"/>
          </a:p>
        </p:txBody>
      </p:sp>
      <p:sp>
        <p:nvSpPr>
          <p:cNvPr id="22" name="Text 20"/>
          <p:cNvSpPr txBox="1"/>
          <p:nvPr/>
        </p:nvSpPr>
        <p:spPr>
          <a:xfrm>
            <a:off x="7223760" y="2478024"/>
            <a:ext cx="2560320" cy="475488"/>
          </a:xfrm>
          <a:prstGeom prst="rect">
            <a:avLst/>
          </a:prstGeom>
          <a:noFill/>
          <a:ln/>
        </p:spPr>
        <p:txBody>
          <a:bodyPr wrap="square" lIns="0" tIns="0" rIns="0" bIns="0" rtlCol="0" anchor="ctr"/>
          <a:lstStyle/>
          <a:p>
            <a:pPr marL="0" indent="0">
              <a:buNone/>
            </a:pPr>
            <a:r>
              <a:rPr lang="en-US" sz="1180" dirty="0">
                <a:solidFill>
                  <a:srgbClr val="262C44"/>
                </a:solidFill>
                <a:latin typeface="Calibri" pitchFamily="34" charset="0"/>
                <a:ea typeface="Calibri" pitchFamily="34" charset="-122"/>
                <a:cs typeface="Calibri" pitchFamily="34" charset="-120"/>
              </a:rPr>
              <a:t>L(x_s, y_s) + L(x_s, x_t)</a:t>
            </a:r>
            <a:endParaRPr lang="en-US" sz="1180" dirty="0"/>
          </a:p>
        </p:txBody>
      </p:sp>
      <p:sp>
        <p:nvSpPr>
          <p:cNvPr id="23" name="Text 21"/>
          <p:cNvSpPr txBox="1"/>
          <p:nvPr/>
        </p:nvSpPr>
        <p:spPr>
          <a:xfrm>
            <a:off x="9966960" y="2478024"/>
            <a:ext cx="1645920" cy="475488"/>
          </a:xfrm>
          <a:prstGeom prst="rect">
            <a:avLst/>
          </a:prstGeom>
          <a:noFill/>
          <a:ln/>
        </p:spPr>
        <p:txBody>
          <a:bodyPr wrap="square" lIns="0" tIns="0" rIns="0" bIns="0" rtlCol="0" anchor="ctr"/>
          <a:lstStyle/>
          <a:p>
            <a:pPr marL="0" indent="0">
              <a:buNone/>
            </a:pPr>
            <a:r>
              <a:rPr lang="en-US" sz="1180" dirty="0">
                <a:solidFill>
                  <a:srgbClr val="262C44"/>
                </a:solidFill>
                <a:latin typeface="Calibri" pitchFamily="34" charset="0"/>
                <a:ea typeface="Calibri" pitchFamily="34" charset="-122"/>
                <a:cs typeface="Calibri" pitchFamily="34" charset="-120"/>
              </a:rPr>
              <a:t>—</a:t>
            </a:r>
            <a:endParaRPr lang="en-US" sz="1180" dirty="0"/>
          </a:p>
        </p:txBody>
      </p:sp>
      <p:sp>
        <p:nvSpPr>
          <p:cNvPr id="24" name="Shape 22"/>
          <p:cNvSpPr/>
          <p:nvPr/>
        </p:nvSpPr>
        <p:spPr>
          <a:xfrm>
            <a:off x="566928" y="3054096"/>
            <a:ext cx="11064240" cy="603504"/>
          </a:xfrm>
          <a:prstGeom prst="roundRect">
            <a:avLst>
              <a:gd name="adj" fmla="val 3030"/>
            </a:avLst>
          </a:prstGeom>
          <a:solidFill>
            <a:srgbClr val="F1F2F7"/>
          </a:solidFill>
          <a:ln w="12700">
            <a:solidFill>
              <a:srgbClr val="E8EBF2"/>
            </a:solidFill>
            <a:prstDash val="solid"/>
          </a:ln>
        </p:spPr>
        <p:txBody>
          <a:bodyPr/>
          <a:lstStyle/>
          <a:p>
            <a:endParaRPr lang="en-US"/>
          </a:p>
        </p:txBody>
      </p:sp>
      <p:sp>
        <p:nvSpPr>
          <p:cNvPr id="25" name="Text 23"/>
          <p:cNvSpPr txBox="1"/>
          <p:nvPr/>
        </p:nvSpPr>
        <p:spPr>
          <a:xfrm>
            <a:off x="786384" y="3118104"/>
            <a:ext cx="2834640" cy="475488"/>
          </a:xfrm>
          <a:prstGeom prst="rect">
            <a:avLst/>
          </a:prstGeom>
          <a:noFill/>
          <a:ln/>
        </p:spPr>
        <p:txBody>
          <a:bodyPr wrap="square" lIns="0" tIns="0" rIns="0" bIns="0" rtlCol="0" anchor="ctr"/>
          <a:lstStyle/>
          <a:p>
            <a:pPr marL="0" indent="0">
              <a:buNone/>
            </a:pPr>
            <a:r>
              <a:rPr lang="en-US" sz="1180" b="1" dirty="0">
                <a:solidFill>
                  <a:srgbClr val="141A2E"/>
                </a:solidFill>
                <a:latin typeface="Calibri" pitchFamily="34" charset="0"/>
                <a:ea typeface="Calibri" pitchFamily="34" charset="-122"/>
                <a:cs typeface="Calibri" pitchFamily="34" charset="-120"/>
              </a:rPr>
              <a:t>Test-time training</a:t>
            </a:r>
            <a:endParaRPr lang="en-US" sz="1180" dirty="0"/>
          </a:p>
        </p:txBody>
      </p:sp>
      <p:sp>
        <p:nvSpPr>
          <p:cNvPr id="26" name="Text 24"/>
          <p:cNvSpPr txBox="1"/>
          <p:nvPr/>
        </p:nvSpPr>
        <p:spPr>
          <a:xfrm>
            <a:off x="3749040" y="3118104"/>
            <a:ext cx="1645920" cy="475488"/>
          </a:xfrm>
          <a:prstGeom prst="rect">
            <a:avLst/>
          </a:prstGeom>
          <a:noFill/>
          <a:ln/>
        </p:spPr>
        <p:txBody>
          <a:bodyPr wrap="square" lIns="0" tIns="0" rIns="0" bIns="0" rtlCol="0" anchor="ctr"/>
          <a:lstStyle/>
          <a:p>
            <a:pPr marL="0" indent="0">
              <a:buNone/>
            </a:pPr>
            <a:r>
              <a:rPr lang="en-US" sz="1180" dirty="0">
                <a:solidFill>
                  <a:srgbClr val="262C44"/>
                </a:solidFill>
                <a:latin typeface="Calibri" pitchFamily="34" charset="0"/>
                <a:ea typeface="Calibri" pitchFamily="34" charset="-122"/>
                <a:cs typeface="Calibri" pitchFamily="34" charset="-120"/>
              </a:rPr>
              <a:t>x_s, y_s</a:t>
            </a:r>
            <a:endParaRPr lang="en-US" sz="1180" dirty="0"/>
          </a:p>
        </p:txBody>
      </p:sp>
      <p:sp>
        <p:nvSpPr>
          <p:cNvPr id="27" name="Text 25"/>
          <p:cNvSpPr txBox="1"/>
          <p:nvPr/>
        </p:nvSpPr>
        <p:spPr>
          <a:xfrm>
            <a:off x="5577840" y="3118104"/>
            <a:ext cx="1463040" cy="475488"/>
          </a:xfrm>
          <a:prstGeom prst="rect">
            <a:avLst/>
          </a:prstGeom>
          <a:noFill/>
          <a:ln/>
        </p:spPr>
        <p:txBody>
          <a:bodyPr wrap="square" lIns="0" tIns="0" rIns="0" bIns="0" rtlCol="0" anchor="ctr"/>
          <a:lstStyle/>
          <a:p>
            <a:pPr marL="0" indent="0">
              <a:buNone/>
            </a:pPr>
            <a:r>
              <a:rPr lang="en-US" sz="1180" dirty="0">
                <a:solidFill>
                  <a:srgbClr val="262C44"/>
                </a:solidFill>
                <a:latin typeface="Calibri" pitchFamily="34" charset="0"/>
                <a:ea typeface="Calibri" pitchFamily="34" charset="-122"/>
                <a:cs typeface="Calibri" pitchFamily="34" charset="-120"/>
              </a:rPr>
              <a:t>x_t</a:t>
            </a:r>
            <a:endParaRPr lang="en-US" sz="1180" dirty="0"/>
          </a:p>
        </p:txBody>
      </p:sp>
      <p:sp>
        <p:nvSpPr>
          <p:cNvPr id="28" name="Text 26"/>
          <p:cNvSpPr txBox="1"/>
          <p:nvPr/>
        </p:nvSpPr>
        <p:spPr>
          <a:xfrm>
            <a:off x="7223760" y="3118104"/>
            <a:ext cx="2560320" cy="475488"/>
          </a:xfrm>
          <a:prstGeom prst="rect">
            <a:avLst/>
          </a:prstGeom>
          <a:noFill/>
          <a:ln/>
        </p:spPr>
        <p:txBody>
          <a:bodyPr wrap="square" lIns="0" tIns="0" rIns="0" bIns="0" rtlCol="0" anchor="ctr"/>
          <a:lstStyle/>
          <a:p>
            <a:pPr marL="0" indent="0">
              <a:buNone/>
            </a:pPr>
            <a:r>
              <a:rPr lang="en-US" sz="1180" dirty="0">
                <a:solidFill>
                  <a:srgbClr val="262C44"/>
                </a:solidFill>
                <a:latin typeface="Calibri" pitchFamily="34" charset="0"/>
                <a:ea typeface="Calibri" pitchFamily="34" charset="-122"/>
                <a:cs typeface="Calibri" pitchFamily="34" charset="-120"/>
              </a:rPr>
              <a:t>L(x_s, y_s) + L(x_s)</a:t>
            </a:r>
            <a:endParaRPr lang="en-US" sz="1180" dirty="0"/>
          </a:p>
        </p:txBody>
      </p:sp>
      <p:sp>
        <p:nvSpPr>
          <p:cNvPr id="29" name="Text 27"/>
          <p:cNvSpPr txBox="1"/>
          <p:nvPr/>
        </p:nvSpPr>
        <p:spPr>
          <a:xfrm>
            <a:off x="9966960" y="3118104"/>
            <a:ext cx="1645920" cy="475488"/>
          </a:xfrm>
          <a:prstGeom prst="rect">
            <a:avLst/>
          </a:prstGeom>
          <a:noFill/>
          <a:ln/>
        </p:spPr>
        <p:txBody>
          <a:bodyPr wrap="square" lIns="0" tIns="0" rIns="0" bIns="0" rtlCol="0" anchor="ctr"/>
          <a:lstStyle/>
          <a:p>
            <a:pPr marL="0" indent="0">
              <a:buNone/>
            </a:pPr>
            <a:r>
              <a:rPr lang="en-US" sz="1180" dirty="0">
                <a:solidFill>
                  <a:srgbClr val="262C44"/>
                </a:solidFill>
                <a:latin typeface="Calibri" pitchFamily="34" charset="0"/>
                <a:ea typeface="Calibri" pitchFamily="34" charset="-122"/>
                <a:cs typeface="Calibri" pitchFamily="34" charset="-120"/>
              </a:rPr>
              <a:t>L(x_t)</a:t>
            </a:r>
            <a:endParaRPr lang="en-US" sz="1180" dirty="0"/>
          </a:p>
        </p:txBody>
      </p:sp>
      <p:sp>
        <p:nvSpPr>
          <p:cNvPr id="30" name="Shape 28"/>
          <p:cNvSpPr/>
          <p:nvPr/>
        </p:nvSpPr>
        <p:spPr>
          <a:xfrm>
            <a:off x="566928" y="3694176"/>
            <a:ext cx="11064240" cy="603504"/>
          </a:xfrm>
          <a:prstGeom prst="roundRect">
            <a:avLst>
              <a:gd name="adj" fmla="val 3030"/>
            </a:avLst>
          </a:prstGeom>
          <a:solidFill>
            <a:srgbClr val="FFFFFF"/>
          </a:solidFill>
          <a:ln w="12700">
            <a:solidFill>
              <a:srgbClr val="E8EBF2"/>
            </a:solidFill>
            <a:prstDash val="solid"/>
          </a:ln>
        </p:spPr>
        <p:txBody>
          <a:bodyPr/>
          <a:lstStyle/>
          <a:p>
            <a:endParaRPr lang="en-US"/>
          </a:p>
        </p:txBody>
      </p:sp>
      <p:sp>
        <p:nvSpPr>
          <p:cNvPr id="31" name="Text 29"/>
          <p:cNvSpPr txBox="1"/>
          <p:nvPr/>
        </p:nvSpPr>
        <p:spPr>
          <a:xfrm>
            <a:off x="786384" y="3758184"/>
            <a:ext cx="2834640" cy="475488"/>
          </a:xfrm>
          <a:prstGeom prst="rect">
            <a:avLst/>
          </a:prstGeom>
          <a:noFill/>
          <a:ln/>
        </p:spPr>
        <p:txBody>
          <a:bodyPr wrap="square" lIns="0" tIns="0" rIns="0" bIns="0" rtlCol="0" anchor="ctr"/>
          <a:lstStyle/>
          <a:p>
            <a:pPr marL="0" indent="0">
              <a:buNone/>
            </a:pPr>
            <a:r>
              <a:rPr lang="en-US" sz="1180" b="1" dirty="0">
                <a:solidFill>
                  <a:srgbClr val="141A2E"/>
                </a:solidFill>
                <a:latin typeface="Calibri" pitchFamily="34" charset="0"/>
                <a:ea typeface="Calibri" pitchFamily="34" charset="-122"/>
                <a:cs typeface="Calibri" pitchFamily="34" charset="-120"/>
              </a:rPr>
              <a:t>Fully test-time adaptation</a:t>
            </a:r>
            <a:endParaRPr lang="en-US" sz="1180" dirty="0"/>
          </a:p>
        </p:txBody>
      </p:sp>
      <p:sp>
        <p:nvSpPr>
          <p:cNvPr id="32" name="Text 30"/>
          <p:cNvSpPr txBox="1"/>
          <p:nvPr/>
        </p:nvSpPr>
        <p:spPr>
          <a:xfrm>
            <a:off x="3749040" y="3758184"/>
            <a:ext cx="1645920" cy="475488"/>
          </a:xfrm>
          <a:prstGeom prst="rect">
            <a:avLst/>
          </a:prstGeom>
          <a:noFill/>
          <a:ln/>
        </p:spPr>
        <p:txBody>
          <a:bodyPr wrap="square" lIns="0" tIns="0" rIns="0" bIns="0" rtlCol="0" anchor="ctr"/>
          <a:lstStyle/>
          <a:p>
            <a:pPr marL="0" indent="0">
              <a:buNone/>
            </a:pPr>
            <a:r>
              <a:rPr lang="en-US" sz="1180" dirty="0">
                <a:solidFill>
                  <a:srgbClr val="262C44"/>
                </a:solidFill>
                <a:latin typeface="Calibri" pitchFamily="34" charset="0"/>
                <a:ea typeface="Calibri" pitchFamily="34" charset="-122"/>
                <a:cs typeface="Calibri" pitchFamily="34" charset="-120"/>
              </a:rPr>
              <a:t>—</a:t>
            </a:r>
            <a:endParaRPr lang="en-US" sz="1180" dirty="0"/>
          </a:p>
        </p:txBody>
      </p:sp>
      <p:sp>
        <p:nvSpPr>
          <p:cNvPr id="33" name="Text 31"/>
          <p:cNvSpPr txBox="1"/>
          <p:nvPr/>
        </p:nvSpPr>
        <p:spPr>
          <a:xfrm>
            <a:off x="5577840" y="3758184"/>
            <a:ext cx="1463040" cy="475488"/>
          </a:xfrm>
          <a:prstGeom prst="rect">
            <a:avLst/>
          </a:prstGeom>
          <a:noFill/>
          <a:ln/>
        </p:spPr>
        <p:txBody>
          <a:bodyPr wrap="square" lIns="0" tIns="0" rIns="0" bIns="0" rtlCol="0" anchor="ctr"/>
          <a:lstStyle/>
          <a:p>
            <a:pPr marL="0" indent="0">
              <a:buNone/>
            </a:pPr>
            <a:r>
              <a:rPr lang="en-US" sz="1180" dirty="0">
                <a:solidFill>
                  <a:srgbClr val="262C44"/>
                </a:solidFill>
                <a:latin typeface="Calibri" pitchFamily="34" charset="0"/>
                <a:ea typeface="Calibri" pitchFamily="34" charset="-122"/>
                <a:cs typeface="Calibri" pitchFamily="34" charset="-120"/>
              </a:rPr>
              <a:t>x_t</a:t>
            </a:r>
            <a:endParaRPr lang="en-US" sz="1180" dirty="0"/>
          </a:p>
        </p:txBody>
      </p:sp>
      <p:sp>
        <p:nvSpPr>
          <p:cNvPr id="34" name="Text 32"/>
          <p:cNvSpPr txBox="1"/>
          <p:nvPr/>
        </p:nvSpPr>
        <p:spPr>
          <a:xfrm>
            <a:off x="7223760" y="3758184"/>
            <a:ext cx="2560320" cy="475488"/>
          </a:xfrm>
          <a:prstGeom prst="rect">
            <a:avLst/>
          </a:prstGeom>
          <a:noFill/>
          <a:ln/>
        </p:spPr>
        <p:txBody>
          <a:bodyPr wrap="square" lIns="0" tIns="0" rIns="0" bIns="0" rtlCol="0" anchor="ctr"/>
          <a:lstStyle/>
          <a:p>
            <a:pPr marL="0" indent="0">
              <a:buNone/>
            </a:pPr>
            <a:r>
              <a:rPr lang="en-US" sz="1180" dirty="0">
                <a:solidFill>
                  <a:srgbClr val="262C44"/>
                </a:solidFill>
                <a:latin typeface="Calibri" pitchFamily="34" charset="0"/>
                <a:ea typeface="Calibri" pitchFamily="34" charset="-122"/>
                <a:cs typeface="Calibri" pitchFamily="34" charset="-120"/>
              </a:rPr>
              <a:t>— (training unchanged)</a:t>
            </a:r>
            <a:endParaRPr lang="en-US" sz="1180" dirty="0"/>
          </a:p>
        </p:txBody>
      </p:sp>
      <p:sp>
        <p:nvSpPr>
          <p:cNvPr id="35" name="Text 33"/>
          <p:cNvSpPr txBox="1"/>
          <p:nvPr/>
        </p:nvSpPr>
        <p:spPr>
          <a:xfrm>
            <a:off x="9966960" y="3758184"/>
            <a:ext cx="1645920" cy="475488"/>
          </a:xfrm>
          <a:prstGeom prst="rect">
            <a:avLst/>
          </a:prstGeom>
          <a:noFill/>
          <a:ln/>
        </p:spPr>
        <p:txBody>
          <a:bodyPr wrap="square" lIns="0" tIns="0" rIns="0" bIns="0" rtlCol="0" anchor="ctr"/>
          <a:lstStyle/>
          <a:p>
            <a:pPr marL="0" indent="0">
              <a:buNone/>
            </a:pPr>
            <a:r>
              <a:rPr lang="en-US" sz="1180" dirty="0">
                <a:solidFill>
                  <a:srgbClr val="262C44"/>
                </a:solidFill>
                <a:latin typeface="Calibri" pitchFamily="34" charset="0"/>
                <a:ea typeface="Calibri" pitchFamily="34" charset="-122"/>
                <a:cs typeface="Calibri" pitchFamily="34" charset="-120"/>
              </a:rPr>
              <a:t>L(x_t)</a:t>
            </a:r>
            <a:endParaRPr lang="en-US" sz="1180" dirty="0"/>
          </a:p>
        </p:txBody>
      </p:sp>
      <p:sp>
        <p:nvSpPr>
          <p:cNvPr id="36" name="Shape 34"/>
          <p:cNvSpPr/>
          <p:nvPr/>
        </p:nvSpPr>
        <p:spPr>
          <a:xfrm>
            <a:off x="566928" y="4407408"/>
            <a:ext cx="11064240" cy="1645920"/>
          </a:xfrm>
          <a:prstGeom prst="roundRect">
            <a:avLst>
              <a:gd name="adj" fmla="val 3333"/>
            </a:avLst>
          </a:prstGeom>
          <a:solidFill>
            <a:srgbClr val="1C2440"/>
          </a:solidFill>
          <a:ln w="12700">
            <a:solidFill>
              <a:srgbClr val="1C2440"/>
            </a:solidFill>
            <a:prstDash val="solid"/>
          </a:ln>
        </p:spPr>
        <p:txBody>
          <a:bodyPr/>
          <a:lstStyle/>
          <a:p>
            <a:endParaRPr lang="en-US"/>
          </a:p>
        </p:txBody>
      </p:sp>
      <p:sp>
        <p:nvSpPr>
          <p:cNvPr id="37" name="Shape 35"/>
          <p:cNvSpPr/>
          <p:nvPr/>
        </p:nvSpPr>
        <p:spPr>
          <a:xfrm>
            <a:off x="786384" y="4700016"/>
            <a:ext cx="109728" cy="109728"/>
          </a:xfrm>
          <a:prstGeom prst="ellipse">
            <a:avLst/>
          </a:prstGeom>
          <a:solidFill>
            <a:srgbClr val="2FA8B8"/>
          </a:solidFill>
          <a:ln w="12700">
            <a:solidFill>
              <a:srgbClr val="333333"/>
            </a:solidFill>
            <a:prstDash val="solid"/>
          </a:ln>
        </p:spPr>
        <p:txBody>
          <a:bodyPr/>
          <a:lstStyle/>
          <a:p>
            <a:endParaRPr lang="en-US"/>
          </a:p>
        </p:txBody>
      </p:sp>
      <p:sp>
        <p:nvSpPr>
          <p:cNvPr id="38" name="Text 36"/>
          <p:cNvSpPr txBox="1"/>
          <p:nvPr/>
        </p:nvSpPr>
        <p:spPr>
          <a:xfrm>
            <a:off x="987552" y="4572000"/>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The row that is new</a:t>
            </a:r>
            <a:endParaRPr lang="en-US" sz="1500" dirty="0"/>
          </a:p>
        </p:txBody>
      </p:sp>
      <p:sp>
        <p:nvSpPr>
          <p:cNvPr id="39" name="Text 37"/>
          <p:cNvSpPr txBox="1"/>
          <p:nvPr/>
        </p:nvSpPr>
        <p:spPr>
          <a:xfrm>
            <a:off x="822960" y="5010912"/>
            <a:ext cx="10552176" cy="859536"/>
          </a:xfrm>
          <a:prstGeom prst="rect">
            <a:avLst/>
          </a:prstGeom>
          <a:noFill/>
          <a:ln/>
        </p:spPr>
        <p:txBody>
          <a:bodyPr wrap="square" lIns="0" tIns="0" rIns="0" bIns="0" rtlCol="0" anchor="t"/>
          <a:lstStyle/>
          <a:p>
            <a:pPr marL="0" indent="0">
              <a:lnSpc>
                <a:spcPct val="108000"/>
              </a:lnSpc>
              <a:buNone/>
            </a:pPr>
            <a:r>
              <a:rPr lang="en-US" sz="1300" dirty="0">
                <a:solidFill>
                  <a:srgbClr val="C5CBE0"/>
                </a:solidFill>
                <a:latin typeface="Calibri" pitchFamily="34" charset="0"/>
                <a:ea typeface="Calibri" pitchFamily="34" charset="-122"/>
                <a:cs typeface="Calibri" pitchFamily="34" charset="-120"/>
              </a:rPr>
              <a:t>Test-time training also adapts during testing, but it must alter training first — jointly optimising a supervised loss and a self-supervised proxy on source so the parameters are shared and compatible with adaptation later.</a:t>
            </a:r>
            <a:endParaRPr lang="en-US" sz="1300" dirty="0"/>
          </a:p>
          <a:p>
            <a:pPr marL="0" indent="0">
              <a:lnSpc>
                <a:spcPct val="108000"/>
              </a:lnSpc>
              <a:buNone/>
            </a:pPr>
            <a:endParaRPr lang="en-US" sz="1300" dirty="0"/>
          </a:p>
          <a:p>
            <a:pPr marL="0" indent="0">
              <a:lnSpc>
                <a:spcPct val="108000"/>
              </a:lnSpc>
              <a:buNone/>
            </a:pPr>
            <a:r>
              <a:rPr lang="en-US" sz="1300" dirty="0">
                <a:solidFill>
                  <a:srgbClr val="C5CBE0"/>
                </a:solidFill>
                <a:latin typeface="Calibri" pitchFamily="34" charset="0"/>
                <a:ea typeface="Calibri" pitchFamily="34" charset="-122"/>
                <a:cs typeface="Calibri" pitchFamily="34" charset="-120"/>
              </a:rPr>
              <a:t>Fully test-time adaptation is independent of the training data and training loss given the parameters. In the authors' phrase: if the model can be run, it can be adapted.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75488"/>
            <a:ext cx="384048" cy="274320"/>
          </a:xfrm>
          <a:prstGeom prst="triangle">
            <a:avLst/>
          </a:prstGeom>
          <a:solidFill>
            <a:srgbClr val="3B4A7A"/>
          </a:solidFill>
          <a:ln w="12700">
            <a:solidFill>
              <a:srgbClr val="333333"/>
            </a:solidFill>
            <a:prstDash val="solid"/>
          </a:ln>
        </p:spPr>
        <p:txBody>
          <a:bodyPr/>
          <a:lstStyle/>
          <a:p>
            <a:endParaRPr lang="en-US"/>
          </a:p>
        </p:txBody>
      </p:sp>
      <p:sp>
        <p:nvSpPr>
          <p:cNvPr id="3" name="Shape 1"/>
          <p:cNvSpPr/>
          <p:nvPr/>
        </p:nvSpPr>
        <p:spPr>
          <a:xfrm>
            <a:off x="11256264" y="585216"/>
            <a:ext cx="109728" cy="164592"/>
          </a:xfrm>
          <a:prstGeom prst="triangle">
            <a:avLst/>
          </a:prstGeom>
          <a:solidFill>
            <a:srgbClr val="2FA8B8"/>
          </a:solidFill>
          <a:ln w="12700">
            <a:solidFill>
              <a:srgbClr val="333333"/>
            </a:solidFill>
            <a:prstDash val="solid"/>
          </a:ln>
        </p:spPr>
        <p:txBody>
          <a:bodyPr/>
          <a:lstStyle/>
          <a:p>
            <a:endParaRPr lang="en-US"/>
          </a:p>
        </p:txBody>
      </p:sp>
      <p:sp>
        <p:nvSpPr>
          <p:cNvPr id="4" name="Text 2"/>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41A2E"/>
                </a:solidFill>
                <a:latin typeface="Cambria" pitchFamily="34" charset="0"/>
                <a:ea typeface="Cambria" pitchFamily="34" charset="-122"/>
                <a:cs typeface="Cambria" pitchFamily="34" charset="-120"/>
              </a:rPr>
              <a:t>Why this setting is the realistic one</a:t>
            </a:r>
            <a:endParaRPr lang="en-US" sz="2900" dirty="0"/>
          </a:p>
        </p:txBody>
      </p:sp>
      <p:sp>
        <p:nvSpPr>
          <p:cNvPr id="5" name="Text 3"/>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A6180"/>
                </a:solidFill>
                <a:latin typeface="Calibri" pitchFamily="34" charset="0"/>
                <a:ea typeface="Calibri" pitchFamily="34" charset="-122"/>
                <a:cs typeface="Calibri" pitchFamily="34" charset="-120"/>
              </a:rPr>
              <a:t>Three motivations from the introduction</a:t>
            </a:r>
            <a:endParaRPr lang="en-US" sz="1350" dirty="0"/>
          </a:p>
        </p:txBody>
      </p:sp>
      <p:sp>
        <p:nvSpPr>
          <p:cNvPr id="6" name="Text 4"/>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9BA3BE"/>
                </a:solidFill>
                <a:latin typeface="Calibri" pitchFamily="34" charset="0"/>
                <a:ea typeface="Calibri" pitchFamily="34" charset="-122"/>
                <a:cs typeface="Calibri" pitchFamily="34" charset="-120"/>
              </a:rPr>
              <a:t>Tent · Wang et al. 2021  |  6</a:t>
            </a:r>
            <a:endParaRPr lang="en-US" sz="900" dirty="0"/>
          </a:p>
        </p:txBody>
      </p:sp>
      <p:sp>
        <p:nvSpPr>
          <p:cNvPr id="7" name="Shape 5"/>
          <p:cNvSpPr/>
          <p:nvPr/>
        </p:nvSpPr>
        <p:spPr>
          <a:xfrm>
            <a:off x="566928" y="1572768"/>
            <a:ext cx="3584448" cy="2743200"/>
          </a:xfrm>
          <a:prstGeom prst="roundRect">
            <a:avLst>
              <a:gd name="adj" fmla="val 2000"/>
            </a:avLst>
          </a:prstGeom>
          <a:solidFill>
            <a:srgbClr val="F1F2F7"/>
          </a:solidFill>
          <a:ln w="12700">
            <a:solidFill>
              <a:srgbClr val="E1E4EE"/>
            </a:solidFill>
            <a:prstDash val="solid"/>
          </a:ln>
        </p:spPr>
        <p:txBody>
          <a:bodyPr/>
          <a:lstStyle/>
          <a:p>
            <a:endParaRPr lang="en-US"/>
          </a:p>
        </p:txBody>
      </p:sp>
      <p:sp>
        <p:nvSpPr>
          <p:cNvPr id="8" name="Shape 6"/>
          <p:cNvSpPr/>
          <p:nvPr/>
        </p:nvSpPr>
        <p:spPr>
          <a:xfrm>
            <a:off x="786384" y="1865376"/>
            <a:ext cx="109728" cy="109728"/>
          </a:xfrm>
          <a:prstGeom prst="ellipse">
            <a:avLst/>
          </a:prstGeom>
          <a:solidFill>
            <a:srgbClr val="3B4A7A"/>
          </a:solidFill>
          <a:ln w="12700">
            <a:solidFill>
              <a:srgbClr val="333333"/>
            </a:solidFill>
            <a:prstDash val="solid"/>
          </a:ln>
        </p:spPr>
        <p:txBody>
          <a:bodyPr/>
          <a:lstStyle/>
          <a:p>
            <a:endParaRPr lang="en-US"/>
          </a:p>
        </p:txBody>
      </p:sp>
      <p:sp>
        <p:nvSpPr>
          <p:cNvPr id="9" name="Text 7"/>
          <p:cNvSpPr txBox="1"/>
          <p:nvPr/>
        </p:nvSpPr>
        <p:spPr>
          <a:xfrm>
            <a:off x="987552" y="1737360"/>
            <a:ext cx="2944368" cy="365760"/>
          </a:xfrm>
          <a:prstGeom prst="rect">
            <a:avLst/>
          </a:prstGeom>
          <a:noFill/>
          <a:ln/>
        </p:spPr>
        <p:txBody>
          <a:bodyPr wrap="square" lIns="0" tIns="0" rIns="0" bIns="0" rtlCol="0" anchor="ctr"/>
          <a:lstStyle/>
          <a:p>
            <a:pPr marL="0" indent="0">
              <a:buNone/>
            </a:pPr>
            <a:r>
              <a:rPr lang="en-US" sz="1600" b="1" dirty="0">
                <a:solidFill>
                  <a:srgbClr val="141A2E"/>
                </a:solidFill>
                <a:latin typeface="Cambria" pitchFamily="34" charset="0"/>
                <a:ea typeface="Cambria" pitchFamily="34" charset="-122"/>
                <a:cs typeface="Cambria" pitchFamily="34" charset="-120"/>
              </a:rPr>
              <a:t>Availability</a:t>
            </a:r>
            <a:endParaRPr lang="en-US" sz="1600" dirty="0"/>
          </a:p>
        </p:txBody>
      </p:sp>
      <p:sp>
        <p:nvSpPr>
          <p:cNvPr id="10" name="Text 8"/>
          <p:cNvSpPr txBox="1"/>
          <p:nvPr/>
        </p:nvSpPr>
        <p:spPr>
          <a:xfrm>
            <a:off x="822960" y="2176272"/>
            <a:ext cx="3072384" cy="1956816"/>
          </a:xfrm>
          <a:prstGeom prst="rect">
            <a:avLst/>
          </a:prstGeom>
          <a:noFill/>
          <a:ln/>
        </p:spPr>
        <p:txBody>
          <a:bodyPr wrap="square" lIns="0" tIns="0" rIns="0" bIns="0" rtlCol="0" anchor="t"/>
          <a:lstStyle/>
          <a:p>
            <a:pPr marL="0" indent="0">
              <a:lnSpc>
                <a:spcPct val="108000"/>
              </a:lnSpc>
              <a:buNone/>
            </a:pPr>
            <a:r>
              <a:rPr lang="en-US" sz="1240" dirty="0">
                <a:solidFill>
                  <a:srgbClr val="262C44"/>
                </a:solidFill>
                <a:latin typeface="Calibri" pitchFamily="34" charset="0"/>
                <a:ea typeface="Calibri" pitchFamily="34" charset="-122"/>
                <a:cs typeface="Calibri" pitchFamily="34" charset="-120"/>
              </a:rPr>
              <a:t>A model might be distributed without its source data — for bandwidth, for privacy, or because the data is commercially valuable. The weights ship; the training set does not.</a:t>
            </a:r>
            <a:endParaRPr lang="en-US" sz="1240" dirty="0"/>
          </a:p>
        </p:txBody>
      </p:sp>
      <p:sp>
        <p:nvSpPr>
          <p:cNvPr id="11" name="Shape 9"/>
          <p:cNvSpPr/>
          <p:nvPr/>
        </p:nvSpPr>
        <p:spPr>
          <a:xfrm>
            <a:off x="4279392" y="1572768"/>
            <a:ext cx="3584448" cy="2743200"/>
          </a:xfrm>
          <a:prstGeom prst="roundRect">
            <a:avLst>
              <a:gd name="adj" fmla="val 2000"/>
            </a:avLst>
          </a:prstGeom>
          <a:solidFill>
            <a:srgbClr val="F1F2F7"/>
          </a:solidFill>
          <a:ln w="12700">
            <a:solidFill>
              <a:srgbClr val="E1E4EE"/>
            </a:solidFill>
            <a:prstDash val="solid"/>
          </a:ln>
        </p:spPr>
        <p:txBody>
          <a:bodyPr/>
          <a:lstStyle/>
          <a:p>
            <a:endParaRPr lang="en-US"/>
          </a:p>
        </p:txBody>
      </p:sp>
      <p:sp>
        <p:nvSpPr>
          <p:cNvPr id="12" name="Shape 10"/>
          <p:cNvSpPr/>
          <p:nvPr/>
        </p:nvSpPr>
        <p:spPr>
          <a:xfrm>
            <a:off x="4498848" y="1865376"/>
            <a:ext cx="109728" cy="109728"/>
          </a:xfrm>
          <a:prstGeom prst="ellipse">
            <a:avLst/>
          </a:prstGeom>
          <a:solidFill>
            <a:srgbClr val="2FA8B8"/>
          </a:solidFill>
          <a:ln w="12700">
            <a:solidFill>
              <a:srgbClr val="333333"/>
            </a:solidFill>
            <a:prstDash val="solid"/>
          </a:ln>
        </p:spPr>
        <p:txBody>
          <a:bodyPr/>
          <a:lstStyle/>
          <a:p>
            <a:endParaRPr lang="en-US"/>
          </a:p>
        </p:txBody>
      </p:sp>
      <p:sp>
        <p:nvSpPr>
          <p:cNvPr id="13" name="Text 11"/>
          <p:cNvSpPr txBox="1"/>
          <p:nvPr/>
        </p:nvSpPr>
        <p:spPr>
          <a:xfrm>
            <a:off x="4700016" y="1737360"/>
            <a:ext cx="2944368" cy="365760"/>
          </a:xfrm>
          <a:prstGeom prst="rect">
            <a:avLst/>
          </a:prstGeom>
          <a:noFill/>
          <a:ln/>
        </p:spPr>
        <p:txBody>
          <a:bodyPr wrap="square" lIns="0" tIns="0" rIns="0" bIns="0" rtlCol="0" anchor="ctr"/>
          <a:lstStyle/>
          <a:p>
            <a:pPr marL="0" indent="0">
              <a:buNone/>
            </a:pPr>
            <a:r>
              <a:rPr lang="en-US" sz="1600" b="1" dirty="0">
                <a:solidFill>
                  <a:srgbClr val="141A2E"/>
                </a:solidFill>
                <a:latin typeface="Cambria" pitchFamily="34" charset="0"/>
                <a:ea typeface="Cambria" pitchFamily="34" charset="-122"/>
                <a:cs typeface="Cambria" pitchFamily="34" charset="-120"/>
              </a:rPr>
              <a:t>Efficiency</a:t>
            </a:r>
            <a:endParaRPr lang="en-US" sz="1600" dirty="0"/>
          </a:p>
        </p:txBody>
      </p:sp>
      <p:sp>
        <p:nvSpPr>
          <p:cNvPr id="14" name="Text 12"/>
          <p:cNvSpPr txBox="1"/>
          <p:nvPr/>
        </p:nvSpPr>
        <p:spPr>
          <a:xfrm>
            <a:off x="4535424" y="2176272"/>
            <a:ext cx="3072384" cy="1956816"/>
          </a:xfrm>
          <a:prstGeom prst="rect">
            <a:avLst/>
          </a:prstGeom>
          <a:noFill/>
          <a:ln/>
        </p:spPr>
        <p:txBody>
          <a:bodyPr wrap="square" lIns="0" tIns="0" rIns="0" bIns="0" rtlCol="0" anchor="t"/>
          <a:lstStyle/>
          <a:p>
            <a:pPr marL="0" indent="0">
              <a:lnSpc>
                <a:spcPct val="108000"/>
              </a:lnSpc>
              <a:buNone/>
            </a:pPr>
            <a:r>
              <a:rPr lang="en-US" sz="1240" dirty="0">
                <a:solidFill>
                  <a:srgbClr val="262C44"/>
                </a:solidFill>
                <a:latin typeface="Calibri" pitchFamily="34" charset="0"/>
                <a:ea typeface="Calibri" pitchFamily="34" charset="-122"/>
                <a:cs typeface="Calibri" pitchFamily="34" charset="-120"/>
              </a:rPr>
              <a:t>Even where the source data exists, it may not be computationally practical to reprocess it during testing. ImageNet is over a million images; the adaptation window is an inference call.</a:t>
            </a:r>
            <a:endParaRPr lang="en-US" sz="1240" dirty="0"/>
          </a:p>
        </p:txBody>
      </p:sp>
      <p:sp>
        <p:nvSpPr>
          <p:cNvPr id="15" name="Shape 13"/>
          <p:cNvSpPr/>
          <p:nvPr/>
        </p:nvSpPr>
        <p:spPr>
          <a:xfrm>
            <a:off x="7991856" y="1572768"/>
            <a:ext cx="3584448" cy="2743200"/>
          </a:xfrm>
          <a:prstGeom prst="roundRect">
            <a:avLst>
              <a:gd name="adj" fmla="val 2000"/>
            </a:avLst>
          </a:prstGeom>
          <a:solidFill>
            <a:srgbClr val="F1F2F7"/>
          </a:solidFill>
          <a:ln w="12700">
            <a:solidFill>
              <a:srgbClr val="E1E4EE"/>
            </a:solidFill>
            <a:prstDash val="solid"/>
          </a:ln>
        </p:spPr>
        <p:txBody>
          <a:bodyPr/>
          <a:lstStyle/>
          <a:p>
            <a:endParaRPr lang="en-US"/>
          </a:p>
        </p:txBody>
      </p:sp>
      <p:sp>
        <p:nvSpPr>
          <p:cNvPr id="16" name="Shape 14"/>
          <p:cNvSpPr/>
          <p:nvPr/>
        </p:nvSpPr>
        <p:spPr>
          <a:xfrm>
            <a:off x="8211312" y="1865376"/>
            <a:ext cx="109728" cy="109728"/>
          </a:xfrm>
          <a:prstGeom prst="ellipse">
            <a:avLst/>
          </a:prstGeom>
          <a:solidFill>
            <a:srgbClr val="3B4A7A"/>
          </a:solidFill>
          <a:ln w="12700">
            <a:solidFill>
              <a:srgbClr val="333333"/>
            </a:solidFill>
            <a:prstDash val="solid"/>
          </a:ln>
        </p:spPr>
        <p:txBody>
          <a:bodyPr/>
          <a:lstStyle/>
          <a:p>
            <a:endParaRPr lang="en-US"/>
          </a:p>
        </p:txBody>
      </p:sp>
      <p:sp>
        <p:nvSpPr>
          <p:cNvPr id="17" name="Text 15"/>
          <p:cNvSpPr txBox="1"/>
          <p:nvPr/>
        </p:nvSpPr>
        <p:spPr>
          <a:xfrm>
            <a:off x="8412480" y="1737360"/>
            <a:ext cx="2944368" cy="365760"/>
          </a:xfrm>
          <a:prstGeom prst="rect">
            <a:avLst/>
          </a:prstGeom>
          <a:noFill/>
          <a:ln/>
        </p:spPr>
        <p:txBody>
          <a:bodyPr wrap="square" lIns="0" tIns="0" rIns="0" bIns="0" rtlCol="0" anchor="ctr"/>
          <a:lstStyle/>
          <a:p>
            <a:pPr marL="0" indent="0">
              <a:buNone/>
            </a:pPr>
            <a:r>
              <a:rPr lang="en-US" sz="1600" b="1" dirty="0">
                <a:solidFill>
                  <a:srgbClr val="141A2E"/>
                </a:solidFill>
                <a:latin typeface="Cambria" pitchFamily="34" charset="0"/>
                <a:ea typeface="Cambria" pitchFamily="34" charset="-122"/>
                <a:cs typeface="Cambria" pitchFamily="34" charset="-120"/>
              </a:rPr>
              <a:t>Accuracy</a:t>
            </a:r>
            <a:endParaRPr lang="en-US" sz="1600" dirty="0"/>
          </a:p>
        </p:txBody>
      </p:sp>
      <p:sp>
        <p:nvSpPr>
          <p:cNvPr id="18" name="Text 16"/>
          <p:cNvSpPr txBox="1"/>
          <p:nvPr/>
        </p:nvSpPr>
        <p:spPr>
          <a:xfrm>
            <a:off x="8247888" y="2176272"/>
            <a:ext cx="3072384" cy="1956816"/>
          </a:xfrm>
          <a:prstGeom prst="rect">
            <a:avLst/>
          </a:prstGeom>
          <a:noFill/>
          <a:ln/>
        </p:spPr>
        <p:txBody>
          <a:bodyPr wrap="square" lIns="0" tIns="0" rIns="0" bIns="0" rtlCol="0" anchor="t"/>
          <a:lstStyle/>
          <a:p>
            <a:pPr marL="0" indent="0">
              <a:lnSpc>
                <a:spcPct val="108000"/>
              </a:lnSpc>
              <a:buNone/>
            </a:pPr>
            <a:r>
              <a:rPr lang="en-US" sz="1240" dirty="0">
                <a:solidFill>
                  <a:srgbClr val="262C44"/>
                </a:solidFill>
                <a:latin typeface="Calibri" pitchFamily="34" charset="0"/>
                <a:ea typeface="Calibri" pitchFamily="34" charset="-122"/>
                <a:cs typeface="Calibri" pitchFamily="34" charset="-120"/>
              </a:rPr>
              <a:t>A model might simply be too inaccurate without adaptation to serve its purpose. Inference has to go on before new data can be collected and annotated.</a:t>
            </a:r>
            <a:endParaRPr lang="en-US" sz="1240" dirty="0"/>
          </a:p>
        </p:txBody>
      </p:sp>
      <p:sp>
        <p:nvSpPr>
          <p:cNvPr id="19" name="Shape 17"/>
          <p:cNvSpPr/>
          <p:nvPr/>
        </p:nvSpPr>
        <p:spPr>
          <a:xfrm>
            <a:off x="566928" y="4517136"/>
            <a:ext cx="11064240" cy="1536192"/>
          </a:xfrm>
          <a:prstGeom prst="roundRect">
            <a:avLst>
              <a:gd name="adj" fmla="val 3571"/>
            </a:avLst>
          </a:prstGeom>
          <a:solidFill>
            <a:srgbClr val="1C2440"/>
          </a:solidFill>
          <a:ln w="12700">
            <a:solidFill>
              <a:srgbClr val="1C2440"/>
            </a:solidFill>
            <a:prstDash val="solid"/>
          </a:ln>
        </p:spPr>
        <p:txBody>
          <a:bodyPr/>
          <a:lstStyle/>
          <a:p>
            <a:endParaRPr lang="en-US"/>
          </a:p>
        </p:txBody>
      </p:sp>
      <p:sp>
        <p:nvSpPr>
          <p:cNvPr id="20" name="Shape 18"/>
          <p:cNvSpPr/>
          <p:nvPr/>
        </p:nvSpPr>
        <p:spPr>
          <a:xfrm>
            <a:off x="786384" y="4809744"/>
            <a:ext cx="109728" cy="109728"/>
          </a:xfrm>
          <a:prstGeom prst="ellipse">
            <a:avLst/>
          </a:prstGeom>
          <a:solidFill>
            <a:srgbClr val="2FA8B8"/>
          </a:solidFill>
          <a:ln w="12700">
            <a:solidFill>
              <a:srgbClr val="333333"/>
            </a:solidFill>
            <a:prstDash val="solid"/>
          </a:ln>
        </p:spPr>
        <p:txBody>
          <a:bodyPr/>
          <a:lstStyle/>
          <a:p>
            <a:endParaRPr lang="en-US"/>
          </a:p>
        </p:txBody>
      </p:sp>
      <p:sp>
        <p:nvSpPr>
          <p:cNvPr id="21" name="Text 19"/>
          <p:cNvSpPr txBox="1"/>
          <p:nvPr/>
        </p:nvSpPr>
        <p:spPr>
          <a:xfrm>
            <a:off x="987552" y="4681728"/>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Why this matters for the second half</a:t>
            </a:r>
            <a:endParaRPr lang="en-US" sz="1500" dirty="0"/>
          </a:p>
        </p:txBody>
      </p:sp>
      <p:sp>
        <p:nvSpPr>
          <p:cNvPr id="22" name="Text 20"/>
          <p:cNvSpPr txBox="1"/>
          <p:nvPr/>
        </p:nvSpPr>
        <p:spPr>
          <a:xfrm>
            <a:off x="822960" y="5120640"/>
            <a:ext cx="10552176" cy="749808"/>
          </a:xfrm>
          <a:prstGeom prst="rect">
            <a:avLst/>
          </a:prstGeom>
          <a:noFill/>
          <a:ln/>
        </p:spPr>
        <p:txBody>
          <a:bodyPr wrap="square" lIns="0" tIns="0" rIns="0" bIns="0" rtlCol="0" anchor="t"/>
          <a:lstStyle/>
          <a:p>
            <a:pPr marL="0" indent="0">
              <a:lnSpc>
                <a:spcPct val="108000"/>
              </a:lnSpc>
              <a:buNone/>
            </a:pPr>
            <a:r>
              <a:rPr lang="en-US" sz="1300" dirty="0">
                <a:solidFill>
                  <a:srgbClr val="C5CBE0"/>
                </a:solidFill>
                <a:latin typeface="Calibri" pitchFamily="34" charset="0"/>
                <a:ea typeface="Calibri" pitchFamily="34" charset="-122"/>
                <a:cs typeface="Calibri" pitchFamily="34" charset="-120"/>
              </a:rPr>
              <a:t>All three motivations apply with extra force in speech emotion recognition: the source corpora are often licence-restricted, utterances arrive one at a time, and we have spent the whole term documenting how badly emotion models transfer across corpora.</a:t>
            </a:r>
            <a:endParaRPr lang="en-US" sz="1300" dirty="0"/>
          </a:p>
          <a:p>
            <a:pPr marL="0" indent="0">
              <a:lnSpc>
                <a:spcPct val="108000"/>
              </a:lnSpc>
              <a:buNone/>
            </a:pPr>
            <a:endParaRPr lang="en-US" sz="1300" dirty="0"/>
          </a:p>
          <a:p>
            <a:pPr marL="0" indent="0">
              <a:lnSpc>
                <a:spcPct val="108000"/>
              </a:lnSpc>
              <a:buNone/>
            </a:pPr>
            <a:r>
              <a:rPr lang="en-US" sz="1300" dirty="0">
                <a:solidFill>
                  <a:srgbClr val="C5CBE0"/>
                </a:solidFill>
                <a:latin typeface="Calibri" pitchFamily="34" charset="0"/>
                <a:ea typeface="Calibri" pitchFamily="34" charset="-122"/>
                <a:cs typeface="Calibri" pitchFamily="34" charset="-120"/>
              </a:rPr>
              <a:t>Emo-TTA takes the setting and tightens it further — to a single sample, with no gradients at all.</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1C2440"/>
        </a:solidFill>
        <a:effectLst/>
      </p:bgPr>
    </p:bg>
    <p:spTree>
      <p:nvGrpSpPr>
        <p:cNvPr id="1" name=""/>
        <p:cNvGrpSpPr/>
        <p:nvPr/>
      </p:nvGrpSpPr>
      <p:grpSpPr>
        <a:xfrm>
          <a:off x="0" y="0"/>
          <a:ext cx="0" cy="0"/>
          <a:chOff x="0" y="0"/>
          <a:chExt cx="0" cy="0"/>
        </a:xfrm>
      </p:grpSpPr>
      <p:sp>
        <p:nvSpPr>
          <p:cNvPr id="2" name="Shape 0"/>
          <p:cNvSpPr/>
          <p:nvPr/>
        </p:nvSpPr>
        <p:spPr>
          <a:xfrm>
            <a:off x="10515600" y="5349240"/>
            <a:ext cx="768096" cy="548640"/>
          </a:xfrm>
          <a:prstGeom prst="triangle">
            <a:avLst/>
          </a:prstGeom>
          <a:solidFill>
            <a:srgbClr val="C5CBE0"/>
          </a:solidFill>
          <a:ln w="12700">
            <a:solidFill>
              <a:srgbClr val="333333"/>
            </a:solidFill>
            <a:prstDash val="solid"/>
          </a:ln>
        </p:spPr>
        <p:txBody>
          <a:bodyPr/>
          <a:lstStyle/>
          <a:p>
            <a:endParaRPr lang="en-US"/>
          </a:p>
        </p:txBody>
      </p:sp>
      <p:sp>
        <p:nvSpPr>
          <p:cNvPr id="3" name="Shape 1"/>
          <p:cNvSpPr/>
          <p:nvPr/>
        </p:nvSpPr>
        <p:spPr>
          <a:xfrm>
            <a:off x="10789920" y="5568696"/>
            <a:ext cx="219456" cy="329184"/>
          </a:xfrm>
          <a:prstGeom prst="triangle">
            <a:avLst/>
          </a:prstGeom>
          <a:solidFill>
            <a:srgbClr val="2FA8B8"/>
          </a:solidFill>
          <a:ln w="12700">
            <a:solidFill>
              <a:srgbClr val="333333"/>
            </a:solidFill>
            <a:prstDash val="solid"/>
          </a:ln>
        </p:spPr>
        <p:txBody>
          <a:bodyPr/>
          <a:lstStyle/>
          <a:p>
            <a:endParaRPr lang="en-US"/>
          </a:p>
        </p:txBody>
      </p:sp>
      <p:sp>
        <p:nvSpPr>
          <p:cNvPr id="4" name="Text 2"/>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2FA8B8"/>
                </a:solidFill>
                <a:latin typeface="Cambria" pitchFamily="34" charset="0"/>
                <a:ea typeface="Cambria" pitchFamily="34" charset="-122"/>
                <a:cs typeface="Cambria" pitchFamily="34" charset="-120"/>
              </a:rPr>
              <a:t>2</a:t>
            </a:r>
            <a:endParaRPr lang="en-US" sz="6600" dirty="0"/>
          </a:p>
        </p:txBody>
      </p:sp>
      <p:sp>
        <p:nvSpPr>
          <p:cNvPr id="5" name="Text 3"/>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The method</a:t>
            </a:r>
            <a:endParaRPr lang="en-US" sz="3300" dirty="0"/>
          </a:p>
        </p:txBody>
      </p:sp>
      <p:sp>
        <p:nvSpPr>
          <p:cNvPr id="6" name="Text 4"/>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C5CBE0"/>
                </a:solidFill>
                <a:latin typeface="Calibri" pitchFamily="34" charset="0"/>
                <a:ea typeface="Calibri" pitchFamily="34" charset="-122"/>
                <a:cs typeface="Calibri" pitchFamily="34" charset="-120"/>
              </a:rPr>
              <a:t>Why entropy, which parameters, and the algorithm</a:t>
            </a:r>
            <a:endParaRPr lang="en-US" sz="150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9BA3BE"/>
                </a:solidFill>
                <a:latin typeface="Calibri" pitchFamily="34" charset="0"/>
                <a:ea typeface="Calibri" pitchFamily="34" charset="-122"/>
                <a:cs typeface="Calibri" pitchFamily="34" charset="-120"/>
              </a:rPr>
              <a:t>Tent · Wang et al. 2021  |  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75488"/>
            <a:ext cx="384048" cy="274320"/>
          </a:xfrm>
          <a:prstGeom prst="triangle">
            <a:avLst/>
          </a:prstGeom>
          <a:solidFill>
            <a:srgbClr val="3B4A7A"/>
          </a:solidFill>
          <a:ln w="12700">
            <a:solidFill>
              <a:srgbClr val="333333"/>
            </a:solidFill>
            <a:prstDash val="solid"/>
          </a:ln>
        </p:spPr>
        <p:txBody>
          <a:bodyPr/>
          <a:lstStyle/>
          <a:p>
            <a:endParaRPr lang="en-US"/>
          </a:p>
        </p:txBody>
      </p:sp>
      <p:sp>
        <p:nvSpPr>
          <p:cNvPr id="3" name="Shape 1"/>
          <p:cNvSpPr/>
          <p:nvPr/>
        </p:nvSpPr>
        <p:spPr>
          <a:xfrm>
            <a:off x="11256264" y="585216"/>
            <a:ext cx="109728" cy="164592"/>
          </a:xfrm>
          <a:prstGeom prst="triangle">
            <a:avLst/>
          </a:prstGeom>
          <a:solidFill>
            <a:srgbClr val="2FA8B8"/>
          </a:solidFill>
          <a:ln w="12700">
            <a:solidFill>
              <a:srgbClr val="333333"/>
            </a:solidFill>
            <a:prstDash val="solid"/>
          </a:ln>
        </p:spPr>
        <p:txBody>
          <a:bodyPr/>
          <a:lstStyle/>
          <a:p>
            <a:endParaRPr lang="en-US"/>
          </a:p>
        </p:txBody>
      </p:sp>
      <p:sp>
        <p:nvSpPr>
          <p:cNvPr id="4" name="Text 2"/>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41A2E"/>
                </a:solidFill>
                <a:latin typeface="Cambria" pitchFamily="34" charset="0"/>
                <a:ea typeface="Cambria" pitchFamily="34" charset="-122"/>
                <a:cs typeface="Cambria" pitchFamily="34" charset="-120"/>
              </a:rPr>
              <a:t>Why entropy</a:t>
            </a:r>
            <a:endParaRPr lang="en-US" sz="2900" dirty="0"/>
          </a:p>
        </p:txBody>
      </p:sp>
      <p:sp>
        <p:nvSpPr>
          <p:cNvPr id="5" name="Text 3"/>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A6180"/>
                </a:solidFill>
                <a:latin typeface="Calibri" pitchFamily="34" charset="0"/>
                <a:ea typeface="Calibri" pitchFamily="34" charset="-122"/>
                <a:cs typeface="Calibri" pitchFamily="34" charset="-120"/>
              </a:rPr>
              <a:t>Two empirical observations, and one argument from principle</a:t>
            </a:r>
            <a:endParaRPr lang="en-US" sz="1350" dirty="0"/>
          </a:p>
        </p:txBody>
      </p:sp>
      <p:sp>
        <p:nvSpPr>
          <p:cNvPr id="6" name="Text 4"/>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9BA3BE"/>
                </a:solidFill>
                <a:latin typeface="Calibri" pitchFamily="34" charset="0"/>
                <a:ea typeface="Calibri" pitchFamily="34" charset="-122"/>
                <a:cs typeface="Calibri" pitchFamily="34" charset="-120"/>
              </a:rPr>
              <a:t>Tent · Wang et al. 2021  |  8</a:t>
            </a:r>
            <a:endParaRPr lang="en-US" sz="900" dirty="0"/>
          </a:p>
        </p:txBody>
      </p:sp>
      <p:sp>
        <p:nvSpPr>
          <p:cNvPr id="7" name="Shape 5"/>
          <p:cNvSpPr/>
          <p:nvPr/>
        </p:nvSpPr>
        <p:spPr>
          <a:xfrm>
            <a:off x="566928" y="1572768"/>
            <a:ext cx="3584448" cy="2651760"/>
          </a:xfrm>
          <a:prstGeom prst="roundRect">
            <a:avLst>
              <a:gd name="adj" fmla="val 2069"/>
            </a:avLst>
          </a:prstGeom>
          <a:solidFill>
            <a:srgbClr val="F1F2F7"/>
          </a:solidFill>
          <a:ln w="12700">
            <a:solidFill>
              <a:srgbClr val="E1E4EE"/>
            </a:solidFill>
            <a:prstDash val="solid"/>
          </a:ln>
        </p:spPr>
        <p:txBody>
          <a:bodyPr/>
          <a:lstStyle/>
          <a:p>
            <a:endParaRPr lang="en-US"/>
          </a:p>
        </p:txBody>
      </p:sp>
      <p:sp>
        <p:nvSpPr>
          <p:cNvPr id="8" name="Shape 6"/>
          <p:cNvSpPr/>
          <p:nvPr/>
        </p:nvSpPr>
        <p:spPr>
          <a:xfrm>
            <a:off x="786384" y="1865376"/>
            <a:ext cx="109728" cy="109728"/>
          </a:xfrm>
          <a:prstGeom prst="ellipse">
            <a:avLst/>
          </a:prstGeom>
          <a:solidFill>
            <a:srgbClr val="3B4A7A"/>
          </a:solidFill>
          <a:ln w="12700">
            <a:solidFill>
              <a:srgbClr val="333333"/>
            </a:solidFill>
            <a:prstDash val="solid"/>
          </a:ln>
        </p:spPr>
        <p:txBody>
          <a:bodyPr/>
          <a:lstStyle/>
          <a:p>
            <a:endParaRPr lang="en-US"/>
          </a:p>
        </p:txBody>
      </p:sp>
      <p:sp>
        <p:nvSpPr>
          <p:cNvPr id="9" name="Text 7"/>
          <p:cNvSpPr txBox="1"/>
          <p:nvPr/>
        </p:nvSpPr>
        <p:spPr>
          <a:xfrm>
            <a:off x="987552" y="1737360"/>
            <a:ext cx="2944368" cy="365760"/>
          </a:xfrm>
          <a:prstGeom prst="rect">
            <a:avLst/>
          </a:prstGeom>
          <a:noFill/>
          <a:ln/>
        </p:spPr>
        <p:txBody>
          <a:bodyPr wrap="square" lIns="0" tIns="0" rIns="0" bIns="0" rtlCol="0" anchor="ctr"/>
          <a:lstStyle/>
          <a:p>
            <a:pPr marL="0" indent="0">
              <a:buNone/>
            </a:pPr>
            <a:r>
              <a:rPr lang="en-US" sz="1500" b="1" dirty="0">
                <a:solidFill>
                  <a:srgbClr val="141A2E"/>
                </a:solidFill>
                <a:latin typeface="Cambria" pitchFamily="34" charset="0"/>
                <a:ea typeface="Cambria" pitchFamily="34" charset="-122"/>
                <a:cs typeface="Cambria" pitchFamily="34" charset="-120"/>
              </a:rPr>
              <a:t>Entropy tracks error</a:t>
            </a:r>
            <a:endParaRPr lang="en-US" sz="1500" dirty="0"/>
          </a:p>
        </p:txBody>
      </p:sp>
      <p:sp>
        <p:nvSpPr>
          <p:cNvPr id="10" name="Text 8"/>
          <p:cNvSpPr txBox="1"/>
          <p:nvPr/>
        </p:nvSpPr>
        <p:spPr>
          <a:xfrm>
            <a:off x="822960" y="2176272"/>
            <a:ext cx="3072384" cy="1865376"/>
          </a:xfrm>
          <a:prstGeom prst="rect">
            <a:avLst/>
          </a:prstGeom>
          <a:noFill/>
          <a:ln/>
        </p:spPr>
        <p:txBody>
          <a:bodyPr wrap="square" lIns="0" tIns="0" rIns="0" bIns="0" rtlCol="0" anchor="t"/>
          <a:lstStyle/>
          <a:p>
            <a:pPr marL="0" indent="0">
              <a:lnSpc>
                <a:spcPct val="108000"/>
              </a:lnSpc>
              <a:buNone/>
            </a:pPr>
            <a:r>
              <a:rPr lang="en-US" sz="1240" dirty="0">
                <a:solidFill>
                  <a:srgbClr val="262C44"/>
                </a:solidFill>
                <a:latin typeface="Calibri" pitchFamily="34" charset="0"/>
                <a:ea typeface="Calibri" pitchFamily="34" charset="-122"/>
                <a:cs typeface="Calibri" pitchFamily="34" charset="-120"/>
              </a:rPr>
              <a:t>On corrupted CIFAR-100, predictions with lower entropy have lower error rates.</a:t>
            </a:r>
            <a:endParaRPr lang="en-US" sz="1240" dirty="0"/>
          </a:p>
          <a:p>
            <a:pPr marL="0" indent="0">
              <a:lnSpc>
                <a:spcPct val="108000"/>
              </a:lnSpc>
              <a:buNone/>
            </a:pPr>
            <a:endParaRPr lang="en-US" sz="1240" dirty="0"/>
          </a:p>
          <a:p>
            <a:pPr marL="0" indent="0">
              <a:lnSpc>
                <a:spcPct val="108000"/>
              </a:lnSpc>
              <a:buNone/>
            </a:pPr>
            <a:r>
              <a:rPr lang="en-US" sz="1240" dirty="0">
                <a:solidFill>
                  <a:srgbClr val="262C44"/>
                </a:solidFill>
                <a:latin typeface="Calibri" pitchFamily="34" charset="0"/>
                <a:ea typeface="Calibri" pitchFamily="34" charset="-122"/>
                <a:cs typeface="Calibri" pitchFamily="34" charset="-120"/>
              </a:rPr>
              <a:t>So certainty can serve as supervision during testing — the model's own confidence stands in for the labels it does not have.</a:t>
            </a:r>
            <a:endParaRPr lang="en-US" sz="1240" dirty="0"/>
          </a:p>
        </p:txBody>
      </p:sp>
      <p:sp>
        <p:nvSpPr>
          <p:cNvPr id="11" name="Shape 9"/>
          <p:cNvSpPr/>
          <p:nvPr/>
        </p:nvSpPr>
        <p:spPr>
          <a:xfrm>
            <a:off x="4279392" y="1572768"/>
            <a:ext cx="3584448" cy="2651760"/>
          </a:xfrm>
          <a:prstGeom prst="roundRect">
            <a:avLst>
              <a:gd name="adj" fmla="val 2069"/>
            </a:avLst>
          </a:prstGeom>
          <a:solidFill>
            <a:srgbClr val="F1F2F7"/>
          </a:solidFill>
          <a:ln w="12700">
            <a:solidFill>
              <a:srgbClr val="E1E4EE"/>
            </a:solidFill>
            <a:prstDash val="solid"/>
          </a:ln>
        </p:spPr>
        <p:txBody>
          <a:bodyPr/>
          <a:lstStyle/>
          <a:p>
            <a:endParaRPr lang="en-US"/>
          </a:p>
        </p:txBody>
      </p:sp>
      <p:sp>
        <p:nvSpPr>
          <p:cNvPr id="12" name="Shape 10"/>
          <p:cNvSpPr/>
          <p:nvPr/>
        </p:nvSpPr>
        <p:spPr>
          <a:xfrm>
            <a:off x="4498848" y="1865376"/>
            <a:ext cx="109728" cy="109728"/>
          </a:xfrm>
          <a:prstGeom prst="ellipse">
            <a:avLst/>
          </a:prstGeom>
          <a:solidFill>
            <a:srgbClr val="2FA8B8"/>
          </a:solidFill>
          <a:ln w="12700">
            <a:solidFill>
              <a:srgbClr val="333333"/>
            </a:solidFill>
            <a:prstDash val="solid"/>
          </a:ln>
        </p:spPr>
        <p:txBody>
          <a:bodyPr/>
          <a:lstStyle/>
          <a:p>
            <a:endParaRPr lang="en-US"/>
          </a:p>
        </p:txBody>
      </p:sp>
      <p:sp>
        <p:nvSpPr>
          <p:cNvPr id="13" name="Text 11"/>
          <p:cNvSpPr txBox="1"/>
          <p:nvPr/>
        </p:nvSpPr>
        <p:spPr>
          <a:xfrm>
            <a:off x="4700016" y="1737360"/>
            <a:ext cx="2944368" cy="365760"/>
          </a:xfrm>
          <a:prstGeom prst="rect">
            <a:avLst/>
          </a:prstGeom>
          <a:noFill/>
          <a:ln/>
        </p:spPr>
        <p:txBody>
          <a:bodyPr wrap="square" lIns="0" tIns="0" rIns="0" bIns="0" rtlCol="0" anchor="ctr"/>
          <a:lstStyle/>
          <a:p>
            <a:pPr marL="0" indent="0">
              <a:buNone/>
            </a:pPr>
            <a:r>
              <a:rPr lang="en-US" sz="1500" b="1" dirty="0">
                <a:solidFill>
                  <a:srgbClr val="141A2E"/>
                </a:solidFill>
                <a:latin typeface="Cambria" pitchFamily="34" charset="0"/>
                <a:ea typeface="Cambria" pitchFamily="34" charset="-122"/>
                <a:cs typeface="Cambria" pitchFamily="34" charset="-120"/>
              </a:rPr>
              <a:t>Entropy tracks shift</a:t>
            </a:r>
            <a:endParaRPr lang="en-US" sz="1500" dirty="0"/>
          </a:p>
        </p:txBody>
      </p:sp>
      <p:sp>
        <p:nvSpPr>
          <p:cNvPr id="14" name="Text 12"/>
          <p:cNvSpPr txBox="1"/>
          <p:nvPr/>
        </p:nvSpPr>
        <p:spPr>
          <a:xfrm>
            <a:off x="4535424" y="2176272"/>
            <a:ext cx="3072384" cy="1865376"/>
          </a:xfrm>
          <a:prstGeom prst="rect">
            <a:avLst/>
          </a:prstGeom>
          <a:noFill/>
          <a:ln/>
        </p:spPr>
        <p:txBody>
          <a:bodyPr wrap="square" lIns="0" tIns="0" rIns="0" bIns="0" rtlCol="0" anchor="t"/>
          <a:lstStyle/>
          <a:p>
            <a:pPr marL="0" indent="0">
              <a:lnSpc>
                <a:spcPct val="108000"/>
              </a:lnSpc>
              <a:buNone/>
            </a:pPr>
            <a:r>
              <a:rPr lang="en-US" sz="1240" dirty="0">
                <a:solidFill>
                  <a:srgbClr val="262C44"/>
                </a:solidFill>
                <a:latin typeface="Calibri" pitchFamily="34" charset="0"/>
                <a:ea typeface="Calibri" pitchFamily="34" charset="-122"/>
                <a:cs typeface="Calibri" pitchFamily="34" charset="-120"/>
              </a:rPr>
              <a:t>More corruption causes more loss and more entropy, with a strong rank correlation as the severity level rises.</a:t>
            </a:r>
            <a:endParaRPr lang="en-US" sz="1240" dirty="0"/>
          </a:p>
          <a:p>
            <a:pPr marL="0" indent="0">
              <a:lnSpc>
                <a:spcPct val="108000"/>
              </a:lnSpc>
              <a:buNone/>
            </a:pPr>
            <a:endParaRPr lang="en-US" sz="1240" dirty="0"/>
          </a:p>
          <a:p>
            <a:pPr marL="0" indent="0">
              <a:lnSpc>
                <a:spcPct val="108000"/>
              </a:lnSpc>
              <a:buNone/>
            </a:pPr>
            <a:r>
              <a:rPr lang="en-US" sz="1240" dirty="0">
                <a:solidFill>
                  <a:srgbClr val="262C44"/>
                </a:solidFill>
                <a:latin typeface="Calibri" pitchFamily="34" charset="0"/>
                <a:ea typeface="Calibri" pitchFamily="34" charset="-122"/>
                <a:cs typeface="Calibri" pitchFamily="34" charset="-120"/>
              </a:rPr>
              <a:t>So entropy can estimate the degree of shift without training data or labels — it is a signal that something has changed.</a:t>
            </a:r>
            <a:endParaRPr lang="en-US" sz="1240" dirty="0"/>
          </a:p>
        </p:txBody>
      </p:sp>
      <p:sp>
        <p:nvSpPr>
          <p:cNvPr id="15" name="Shape 13"/>
          <p:cNvSpPr/>
          <p:nvPr/>
        </p:nvSpPr>
        <p:spPr>
          <a:xfrm>
            <a:off x="7991856" y="1572768"/>
            <a:ext cx="3639312" cy="2651760"/>
          </a:xfrm>
          <a:prstGeom prst="roundRect">
            <a:avLst>
              <a:gd name="adj" fmla="val 2069"/>
            </a:avLst>
          </a:prstGeom>
          <a:solidFill>
            <a:srgbClr val="F1F2F7"/>
          </a:solidFill>
          <a:ln w="12700">
            <a:solidFill>
              <a:srgbClr val="E1E4EE"/>
            </a:solidFill>
            <a:prstDash val="solid"/>
          </a:ln>
        </p:spPr>
        <p:txBody>
          <a:bodyPr/>
          <a:lstStyle/>
          <a:p>
            <a:endParaRPr lang="en-US"/>
          </a:p>
        </p:txBody>
      </p:sp>
      <p:sp>
        <p:nvSpPr>
          <p:cNvPr id="16" name="Shape 14"/>
          <p:cNvSpPr/>
          <p:nvPr/>
        </p:nvSpPr>
        <p:spPr>
          <a:xfrm>
            <a:off x="8211312" y="1865376"/>
            <a:ext cx="109728" cy="109728"/>
          </a:xfrm>
          <a:prstGeom prst="ellipse">
            <a:avLst/>
          </a:prstGeom>
          <a:solidFill>
            <a:srgbClr val="3B4A7A"/>
          </a:solidFill>
          <a:ln w="12700">
            <a:solidFill>
              <a:srgbClr val="333333"/>
            </a:solidFill>
            <a:prstDash val="solid"/>
          </a:ln>
        </p:spPr>
        <p:txBody>
          <a:bodyPr/>
          <a:lstStyle/>
          <a:p>
            <a:endParaRPr lang="en-US"/>
          </a:p>
        </p:txBody>
      </p:sp>
      <p:sp>
        <p:nvSpPr>
          <p:cNvPr id="17" name="Text 15"/>
          <p:cNvSpPr txBox="1"/>
          <p:nvPr/>
        </p:nvSpPr>
        <p:spPr>
          <a:xfrm>
            <a:off x="8412480" y="1737360"/>
            <a:ext cx="2999232" cy="365760"/>
          </a:xfrm>
          <a:prstGeom prst="rect">
            <a:avLst/>
          </a:prstGeom>
          <a:noFill/>
          <a:ln/>
        </p:spPr>
        <p:txBody>
          <a:bodyPr wrap="square" lIns="0" tIns="0" rIns="0" bIns="0" rtlCol="0" anchor="ctr"/>
          <a:lstStyle/>
          <a:p>
            <a:pPr marL="0" indent="0">
              <a:buNone/>
            </a:pPr>
            <a:r>
              <a:rPr lang="en-US" sz="1500" b="1" dirty="0">
                <a:solidFill>
                  <a:srgbClr val="141A2E"/>
                </a:solidFill>
                <a:latin typeface="Cambria" pitchFamily="34" charset="0"/>
                <a:ea typeface="Cambria" pitchFamily="34" charset="-122"/>
                <a:cs typeface="Cambria" pitchFamily="34" charset="-120"/>
              </a:rPr>
              <a:t>And it is task-defined</a:t>
            </a:r>
            <a:endParaRPr lang="en-US" sz="1500" dirty="0"/>
          </a:p>
        </p:txBody>
      </p:sp>
      <p:sp>
        <p:nvSpPr>
          <p:cNvPr id="18" name="Text 16"/>
          <p:cNvSpPr txBox="1"/>
          <p:nvPr/>
        </p:nvSpPr>
        <p:spPr>
          <a:xfrm>
            <a:off x="8247888" y="2176272"/>
            <a:ext cx="3127248" cy="1865376"/>
          </a:xfrm>
          <a:prstGeom prst="rect">
            <a:avLst/>
          </a:prstGeom>
          <a:noFill/>
          <a:ln/>
        </p:spPr>
        <p:txBody>
          <a:bodyPr wrap="square" lIns="0" tIns="0" rIns="0" bIns="0" rtlCol="0" anchor="t"/>
          <a:lstStyle/>
          <a:p>
            <a:pPr marL="0" indent="0">
              <a:lnSpc>
                <a:spcPct val="108000"/>
              </a:lnSpc>
              <a:buNone/>
            </a:pPr>
            <a:r>
              <a:rPr lang="en-US" sz="1240" dirty="0">
                <a:solidFill>
                  <a:srgbClr val="262C44"/>
                </a:solidFill>
                <a:latin typeface="Calibri" pitchFamily="34" charset="0"/>
                <a:ea typeface="Calibri" pitchFamily="34" charset="-122"/>
                <a:cs typeface="Calibri" pitchFamily="34" charset="-120"/>
              </a:rPr>
              <a:t>Self-supervised proxy tasks — rotation prediction, context prediction, colourisation — are not directly related to the supervised task, so progress on the proxy can interfere with the task.</a:t>
            </a:r>
            <a:endParaRPr lang="en-US" sz="1240" dirty="0"/>
          </a:p>
          <a:p>
            <a:pPr marL="0" indent="0">
              <a:lnSpc>
                <a:spcPct val="108000"/>
              </a:lnSpc>
              <a:buNone/>
            </a:pPr>
            <a:endParaRPr lang="en-US" sz="1240" dirty="0"/>
          </a:p>
          <a:p>
            <a:pPr marL="0" indent="0">
              <a:lnSpc>
                <a:spcPct val="108000"/>
              </a:lnSpc>
              <a:buNone/>
            </a:pPr>
            <a:r>
              <a:rPr lang="en-US" sz="1240" dirty="0">
                <a:solidFill>
                  <a:srgbClr val="262C44"/>
                </a:solidFill>
                <a:latin typeface="Calibri" pitchFamily="34" charset="0"/>
                <a:ea typeface="Calibri" pitchFamily="34" charset="-122"/>
                <a:cs typeface="Calibri" pitchFamily="34" charset="-120"/>
              </a:rPr>
              <a:t>Entropy is a measure of the predictions themselves, so it cannot be off-task.</a:t>
            </a:r>
            <a:endParaRPr lang="en-US" sz="1240" dirty="0"/>
          </a:p>
        </p:txBody>
      </p:sp>
      <p:sp>
        <p:nvSpPr>
          <p:cNvPr id="19" name="Shape 17"/>
          <p:cNvSpPr/>
          <p:nvPr/>
        </p:nvSpPr>
        <p:spPr>
          <a:xfrm>
            <a:off x="566928" y="4425696"/>
            <a:ext cx="11064240" cy="1627632"/>
          </a:xfrm>
          <a:prstGeom prst="roundRect">
            <a:avLst>
              <a:gd name="adj" fmla="val 3371"/>
            </a:avLst>
          </a:prstGeom>
          <a:solidFill>
            <a:srgbClr val="1C2440"/>
          </a:solidFill>
          <a:ln w="12700">
            <a:solidFill>
              <a:srgbClr val="1C2440"/>
            </a:solidFill>
            <a:prstDash val="solid"/>
          </a:ln>
        </p:spPr>
        <p:txBody>
          <a:bodyPr/>
          <a:lstStyle/>
          <a:p>
            <a:endParaRPr lang="en-US"/>
          </a:p>
        </p:txBody>
      </p:sp>
      <p:sp>
        <p:nvSpPr>
          <p:cNvPr id="20" name="Shape 18"/>
          <p:cNvSpPr/>
          <p:nvPr/>
        </p:nvSpPr>
        <p:spPr>
          <a:xfrm>
            <a:off x="786384" y="4718304"/>
            <a:ext cx="109728" cy="109728"/>
          </a:xfrm>
          <a:prstGeom prst="ellipse">
            <a:avLst/>
          </a:prstGeom>
          <a:solidFill>
            <a:srgbClr val="2FA8B8"/>
          </a:solidFill>
          <a:ln w="12700">
            <a:solidFill>
              <a:srgbClr val="333333"/>
            </a:solidFill>
            <a:prstDash val="solid"/>
          </a:ln>
        </p:spPr>
        <p:txBody>
          <a:bodyPr/>
          <a:lstStyle/>
          <a:p>
            <a:endParaRPr lang="en-US"/>
          </a:p>
        </p:txBody>
      </p:sp>
      <p:sp>
        <p:nvSpPr>
          <p:cNvPr id="21" name="Text 19"/>
          <p:cNvSpPr txBox="1"/>
          <p:nvPr/>
        </p:nvSpPr>
        <p:spPr>
          <a:xfrm>
            <a:off x="987552" y="4590288"/>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The third argument is the strongest</a:t>
            </a:r>
            <a:endParaRPr lang="en-US" sz="1500" dirty="0"/>
          </a:p>
        </p:txBody>
      </p:sp>
      <p:sp>
        <p:nvSpPr>
          <p:cNvPr id="22" name="Text 20"/>
          <p:cNvSpPr txBox="1"/>
          <p:nvPr/>
        </p:nvSpPr>
        <p:spPr>
          <a:xfrm>
            <a:off x="822960" y="5029200"/>
            <a:ext cx="10552176" cy="841248"/>
          </a:xfrm>
          <a:prstGeom prst="rect">
            <a:avLst/>
          </a:prstGeom>
          <a:noFill/>
          <a:ln/>
        </p:spPr>
        <p:txBody>
          <a:bodyPr wrap="square" lIns="0" tIns="0" rIns="0" bIns="0" rtlCol="0" anchor="t"/>
          <a:lstStyle/>
          <a:p>
            <a:pPr marL="0" indent="0">
              <a:lnSpc>
                <a:spcPct val="108000"/>
              </a:lnSpc>
              <a:buNone/>
            </a:pPr>
            <a:r>
              <a:rPr lang="en-US" sz="1300" dirty="0">
                <a:solidFill>
                  <a:srgbClr val="C5CBE0"/>
                </a:solidFill>
                <a:latin typeface="Calibri" pitchFamily="34" charset="0"/>
                <a:ea typeface="Calibri" pitchFamily="34" charset="-122"/>
                <a:cs typeface="Calibri" pitchFamily="34" charset="-120"/>
              </a:rPr>
              <a:t>Test-time training needs a proxy that is, in its authors' words, both well-defined and non-trivial in the new domain — which requires choosing the proxy, designing its head, and balancing two losses.</a:t>
            </a:r>
            <a:endParaRPr lang="en-US" sz="1300" dirty="0"/>
          </a:p>
          <a:p>
            <a:pPr marL="0" indent="0">
              <a:lnSpc>
                <a:spcPct val="108000"/>
              </a:lnSpc>
              <a:buNone/>
            </a:pPr>
            <a:endParaRPr lang="en-US" sz="1300" dirty="0"/>
          </a:p>
          <a:p>
            <a:pPr marL="0" indent="0">
              <a:lnSpc>
                <a:spcPct val="108000"/>
              </a:lnSpc>
              <a:buNone/>
            </a:pPr>
            <a:r>
              <a:rPr lang="en-US" sz="1300" dirty="0">
                <a:solidFill>
                  <a:srgbClr val="C5CBE0"/>
                </a:solidFill>
                <a:latin typeface="Calibri" pitchFamily="34" charset="0"/>
                <a:ea typeface="Calibri" pitchFamily="34" charset="-122"/>
                <a:cs typeface="Calibri" pitchFamily="34" charset="-120"/>
              </a:rPr>
              <a:t>Entropy needs none of that. It is defined by the task the model was already trained for.</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75488"/>
            <a:ext cx="384048" cy="274320"/>
          </a:xfrm>
          <a:prstGeom prst="triangle">
            <a:avLst/>
          </a:prstGeom>
          <a:solidFill>
            <a:srgbClr val="3B4A7A"/>
          </a:solidFill>
          <a:ln w="12700">
            <a:solidFill>
              <a:srgbClr val="333333"/>
            </a:solidFill>
            <a:prstDash val="solid"/>
          </a:ln>
        </p:spPr>
        <p:txBody>
          <a:bodyPr/>
          <a:lstStyle/>
          <a:p>
            <a:endParaRPr lang="en-US"/>
          </a:p>
        </p:txBody>
      </p:sp>
      <p:sp>
        <p:nvSpPr>
          <p:cNvPr id="3" name="Shape 1"/>
          <p:cNvSpPr/>
          <p:nvPr/>
        </p:nvSpPr>
        <p:spPr>
          <a:xfrm>
            <a:off x="11256264" y="585216"/>
            <a:ext cx="109728" cy="164592"/>
          </a:xfrm>
          <a:prstGeom prst="triangle">
            <a:avLst/>
          </a:prstGeom>
          <a:solidFill>
            <a:srgbClr val="2FA8B8"/>
          </a:solidFill>
          <a:ln w="12700">
            <a:solidFill>
              <a:srgbClr val="333333"/>
            </a:solidFill>
            <a:prstDash val="solid"/>
          </a:ln>
        </p:spPr>
        <p:txBody>
          <a:bodyPr/>
          <a:lstStyle/>
          <a:p>
            <a:endParaRPr lang="en-US"/>
          </a:p>
        </p:txBody>
      </p:sp>
      <p:sp>
        <p:nvSpPr>
          <p:cNvPr id="4" name="Text 2"/>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41A2E"/>
                </a:solidFill>
                <a:latin typeface="Cambria" pitchFamily="34" charset="0"/>
                <a:ea typeface="Cambria" pitchFamily="34" charset="-122"/>
                <a:cs typeface="Cambria" pitchFamily="34" charset="-120"/>
              </a:rPr>
              <a:t>The objective</a:t>
            </a:r>
            <a:endParaRPr lang="en-US" sz="2900" dirty="0"/>
          </a:p>
        </p:txBody>
      </p:sp>
      <p:sp>
        <p:nvSpPr>
          <p:cNvPr id="5" name="Text 3"/>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A6180"/>
                </a:solidFill>
                <a:latin typeface="Calibri" pitchFamily="34" charset="0"/>
                <a:ea typeface="Calibri" pitchFamily="34" charset="-122"/>
                <a:cs typeface="Calibri" pitchFamily="34" charset="-120"/>
              </a:rPr>
              <a:t>Shannon entropy, and why it needs a batch</a:t>
            </a:r>
            <a:endParaRPr lang="en-US" sz="1350" dirty="0"/>
          </a:p>
        </p:txBody>
      </p:sp>
      <p:sp>
        <p:nvSpPr>
          <p:cNvPr id="6" name="Text 4"/>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9BA3BE"/>
                </a:solidFill>
                <a:latin typeface="Calibri" pitchFamily="34" charset="0"/>
                <a:ea typeface="Calibri" pitchFamily="34" charset="-122"/>
                <a:cs typeface="Calibri" pitchFamily="34" charset="-120"/>
              </a:rPr>
              <a:t>Tent · Wang et al. 2021  |  9</a:t>
            </a:r>
            <a:endParaRPr lang="en-US" sz="900" dirty="0"/>
          </a:p>
        </p:txBody>
      </p:sp>
      <p:sp>
        <p:nvSpPr>
          <p:cNvPr id="7" name="Shape 5"/>
          <p:cNvSpPr/>
          <p:nvPr/>
        </p:nvSpPr>
        <p:spPr>
          <a:xfrm>
            <a:off x="566928" y="1600200"/>
            <a:ext cx="5440680" cy="2194560"/>
          </a:xfrm>
          <a:prstGeom prst="roundRect">
            <a:avLst>
              <a:gd name="adj" fmla="val 2500"/>
            </a:avLst>
          </a:prstGeom>
          <a:solidFill>
            <a:srgbClr val="F1F2F7"/>
          </a:solidFill>
          <a:ln w="12700">
            <a:solidFill>
              <a:srgbClr val="E1E4EE"/>
            </a:solidFill>
            <a:prstDash val="solid"/>
          </a:ln>
        </p:spPr>
        <p:txBody>
          <a:bodyPr/>
          <a:lstStyle/>
          <a:p>
            <a:endParaRPr lang="en-US"/>
          </a:p>
        </p:txBody>
      </p:sp>
      <p:sp>
        <p:nvSpPr>
          <p:cNvPr id="8" name="Shape 6"/>
          <p:cNvSpPr/>
          <p:nvPr/>
        </p:nvSpPr>
        <p:spPr>
          <a:xfrm>
            <a:off x="786384" y="1892808"/>
            <a:ext cx="109728" cy="109728"/>
          </a:xfrm>
          <a:prstGeom prst="ellipse">
            <a:avLst/>
          </a:prstGeom>
          <a:solidFill>
            <a:srgbClr val="3B4A7A"/>
          </a:solidFill>
          <a:ln w="12700">
            <a:solidFill>
              <a:srgbClr val="333333"/>
            </a:solidFill>
            <a:prstDash val="solid"/>
          </a:ln>
        </p:spPr>
        <p:txBody>
          <a:bodyPr/>
          <a:lstStyle/>
          <a:p>
            <a:endParaRPr lang="en-US"/>
          </a:p>
        </p:txBody>
      </p:sp>
      <p:sp>
        <p:nvSpPr>
          <p:cNvPr id="9" name="Text 7"/>
          <p:cNvSpPr txBox="1"/>
          <p:nvPr/>
        </p:nvSpPr>
        <p:spPr>
          <a:xfrm>
            <a:off x="987552" y="1764792"/>
            <a:ext cx="4800600" cy="365760"/>
          </a:xfrm>
          <a:prstGeom prst="rect">
            <a:avLst/>
          </a:prstGeom>
          <a:noFill/>
          <a:ln/>
        </p:spPr>
        <p:txBody>
          <a:bodyPr wrap="square" lIns="0" tIns="0" rIns="0" bIns="0" rtlCol="0" anchor="ctr"/>
          <a:lstStyle/>
          <a:p>
            <a:pPr marL="0" indent="0">
              <a:buNone/>
            </a:pPr>
            <a:r>
              <a:rPr lang="en-US" sz="1500" b="1" dirty="0">
                <a:solidFill>
                  <a:srgbClr val="141A2E"/>
                </a:solidFill>
                <a:latin typeface="Cambria" pitchFamily="34" charset="0"/>
                <a:ea typeface="Cambria" pitchFamily="34" charset="-122"/>
                <a:cs typeface="Cambria" pitchFamily="34" charset="-120"/>
              </a:rPr>
              <a:t>The loss</a:t>
            </a:r>
            <a:endParaRPr lang="en-US" sz="1500" dirty="0"/>
          </a:p>
        </p:txBody>
      </p:sp>
      <p:sp>
        <p:nvSpPr>
          <p:cNvPr id="10" name="Text 8"/>
          <p:cNvSpPr txBox="1"/>
          <p:nvPr/>
        </p:nvSpPr>
        <p:spPr>
          <a:xfrm>
            <a:off x="822960" y="2203704"/>
            <a:ext cx="4928616" cy="1408176"/>
          </a:xfrm>
          <a:prstGeom prst="rect">
            <a:avLst/>
          </a:prstGeom>
          <a:noFill/>
          <a:ln/>
        </p:spPr>
        <p:txBody>
          <a:bodyPr wrap="square" lIns="0" tIns="0" rIns="0" bIns="0" rtlCol="0" anchor="t"/>
          <a:lstStyle/>
          <a:p>
            <a:pPr marL="0" indent="0">
              <a:lnSpc>
                <a:spcPct val="108000"/>
              </a:lnSpc>
              <a:buNone/>
            </a:pPr>
            <a:r>
              <a:rPr lang="en-US" sz="1280" dirty="0">
                <a:solidFill>
                  <a:srgbClr val="262C44"/>
                </a:solidFill>
                <a:latin typeface="Calibri" pitchFamily="34" charset="0"/>
                <a:ea typeface="Calibri" pitchFamily="34" charset="-122"/>
                <a:cs typeface="Calibri" pitchFamily="34" charset="-120"/>
              </a:rPr>
              <a:t>H(ŷ) = − Σ_c p(ŷ_c) log p(ŷ_c), the Shannon entropy of the predicted distribution over classes.</a:t>
            </a:r>
            <a:endParaRPr lang="en-US" sz="1280" dirty="0"/>
          </a:p>
          <a:p>
            <a:pPr marL="0" indent="0">
              <a:lnSpc>
                <a:spcPct val="108000"/>
              </a:lnSpc>
              <a:buNone/>
            </a:pPr>
            <a:endParaRPr lang="en-US" sz="1280" dirty="0"/>
          </a:p>
          <a:p>
            <a:pPr marL="0" indent="0">
              <a:lnSpc>
                <a:spcPct val="108000"/>
              </a:lnSpc>
              <a:buNone/>
            </a:pPr>
            <a:r>
              <a:rPr lang="en-US" sz="1280" dirty="0">
                <a:solidFill>
                  <a:srgbClr val="262C44"/>
                </a:solidFill>
                <a:latin typeface="Calibri" pitchFamily="34" charset="0"/>
                <a:ea typeface="Calibri" pitchFamily="34" charset="-122"/>
                <a:cs typeface="Calibri" pitchFamily="34" charset="-120"/>
              </a:rPr>
              <a:t>It depends only on predictions, not annotations — which is what makes it available at test time.</a:t>
            </a:r>
            <a:endParaRPr lang="en-US" sz="1280" dirty="0"/>
          </a:p>
        </p:txBody>
      </p:sp>
      <p:sp>
        <p:nvSpPr>
          <p:cNvPr id="11" name="Shape 9"/>
          <p:cNvSpPr/>
          <p:nvPr/>
        </p:nvSpPr>
        <p:spPr>
          <a:xfrm>
            <a:off x="6190488" y="1600200"/>
            <a:ext cx="5440680" cy="2194560"/>
          </a:xfrm>
          <a:prstGeom prst="roundRect">
            <a:avLst>
              <a:gd name="adj" fmla="val 2500"/>
            </a:avLst>
          </a:prstGeom>
          <a:solidFill>
            <a:srgbClr val="F1F2F7"/>
          </a:solidFill>
          <a:ln w="12700">
            <a:solidFill>
              <a:srgbClr val="E1E4EE"/>
            </a:solidFill>
            <a:prstDash val="solid"/>
          </a:ln>
        </p:spPr>
        <p:txBody>
          <a:bodyPr/>
          <a:lstStyle/>
          <a:p>
            <a:endParaRPr lang="en-US"/>
          </a:p>
        </p:txBody>
      </p:sp>
      <p:sp>
        <p:nvSpPr>
          <p:cNvPr id="12" name="Shape 10"/>
          <p:cNvSpPr/>
          <p:nvPr/>
        </p:nvSpPr>
        <p:spPr>
          <a:xfrm>
            <a:off x="6409944" y="1892808"/>
            <a:ext cx="109728" cy="109728"/>
          </a:xfrm>
          <a:prstGeom prst="ellipse">
            <a:avLst/>
          </a:prstGeom>
          <a:solidFill>
            <a:srgbClr val="2FA8B8"/>
          </a:solidFill>
          <a:ln w="12700">
            <a:solidFill>
              <a:srgbClr val="333333"/>
            </a:solidFill>
            <a:prstDash val="solid"/>
          </a:ln>
        </p:spPr>
        <p:txBody>
          <a:bodyPr/>
          <a:lstStyle/>
          <a:p>
            <a:endParaRPr lang="en-US"/>
          </a:p>
        </p:txBody>
      </p:sp>
      <p:sp>
        <p:nvSpPr>
          <p:cNvPr id="13" name="Text 11"/>
          <p:cNvSpPr txBox="1"/>
          <p:nvPr/>
        </p:nvSpPr>
        <p:spPr>
          <a:xfrm>
            <a:off x="6611112" y="1764792"/>
            <a:ext cx="4800600" cy="365760"/>
          </a:xfrm>
          <a:prstGeom prst="rect">
            <a:avLst/>
          </a:prstGeom>
          <a:noFill/>
          <a:ln/>
        </p:spPr>
        <p:txBody>
          <a:bodyPr wrap="square" lIns="0" tIns="0" rIns="0" bIns="0" rtlCol="0" anchor="ctr"/>
          <a:lstStyle/>
          <a:p>
            <a:pPr marL="0" indent="0">
              <a:buNone/>
            </a:pPr>
            <a:r>
              <a:rPr lang="en-US" sz="1500" b="1" dirty="0">
                <a:solidFill>
                  <a:srgbClr val="141A2E"/>
                </a:solidFill>
                <a:latin typeface="Cambria" pitchFamily="34" charset="0"/>
                <a:ea typeface="Cambria" pitchFamily="34" charset="-122"/>
                <a:cs typeface="Cambria" pitchFamily="34" charset="-120"/>
              </a:rPr>
              <a:t>The degenerate solution</a:t>
            </a:r>
            <a:endParaRPr lang="en-US" sz="1500" dirty="0"/>
          </a:p>
        </p:txBody>
      </p:sp>
      <p:sp>
        <p:nvSpPr>
          <p:cNvPr id="14" name="Text 12"/>
          <p:cNvSpPr txBox="1"/>
          <p:nvPr/>
        </p:nvSpPr>
        <p:spPr>
          <a:xfrm>
            <a:off x="6446520" y="2203704"/>
            <a:ext cx="4928616" cy="1408176"/>
          </a:xfrm>
          <a:prstGeom prst="rect">
            <a:avLst/>
          </a:prstGeom>
          <a:noFill/>
          <a:ln/>
        </p:spPr>
        <p:txBody>
          <a:bodyPr wrap="square" lIns="0" tIns="0" rIns="0" bIns="0" rtlCol="0" anchor="t"/>
          <a:lstStyle/>
          <a:p>
            <a:pPr marL="0" indent="0">
              <a:lnSpc>
                <a:spcPct val="108000"/>
              </a:lnSpc>
              <a:buNone/>
            </a:pPr>
            <a:r>
              <a:rPr lang="en-US" sz="1280" dirty="0">
                <a:solidFill>
                  <a:srgbClr val="262C44"/>
                </a:solidFill>
                <a:latin typeface="Calibri" pitchFamily="34" charset="0"/>
                <a:ea typeface="Calibri" pitchFamily="34" charset="-122"/>
                <a:cs typeface="Calibri" pitchFamily="34" charset="-120"/>
              </a:rPr>
              <a:t>Optimising a single prediction has a trivial solution: assign all probability to the most probable class. Entropy goes to zero and nothing is learned.</a:t>
            </a:r>
            <a:endParaRPr lang="en-US" sz="1280" dirty="0"/>
          </a:p>
          <a:p>
            <a:pPr marL="0" indent="0">
              <a:lnSpc>
                <a:spcPct val="108000"/>
              </a:lnSpc>
              <a:buNone/>
            </a:pPr>
            <a:endParaRPr lang="en-US" sz="1280" dirty="0"/>
          </a:p>
          <a:p>
            <a:pPr marL="0" indent="0">
              <a:lnSpc>
                <a:spcPct val="108000"/>
              </a:lnSpc>
              <a:buNone/>
            </a:pPr>
            <a:r>
              <a:rPr lang="en-US" sz="1280" dirty="0">
                <a:solidFill>
                  <a:srgbClr val="262C44"/>
                </a:solidFill>
                <a:latin typeface="Calibri" pitchFamily="34" charset="0"/>
                <a:ea typeface="Calibri" pitchFamily="34" charset="-122"/>
                <a:cs typeface="Calibri" pitchFamily="34" charset="-120"/>
              </a:rPr>
              <a:t>The fix is to jointly optimise batched predictions over parameters shared across the batch — so the collapse would have to be consistent across many different inputs.</a:t>
            </a:r>
            <a:endParaRPr lang="en-US" sz="1280" dirty="0"/>
          </a:p>
        </p:txBody>
      </p:sp>
      <p:sp>
        <p:nvSpPr>
          <p:cNvPr id="15" name="Shape 13"/>
          <p:cNvSpPr/>
          <p:nvPr/>
        </p:nvSpPr>
        <p:spPr>
          <a:xfrm>
            <a:off x="566928" y="4041648"/>
            <a:ext cx="11064240" cy="2011680"/>
          </a:xfrm>
          <a:prstGeom prst="roundRect">
            <a:avLst>
              <a:gd name="adj" fmla="val 2727"/>
            </a:avLst>
          </a:prstGeom>
          <a:solidFill>
            <a:srgbClr val="1C2440"/>
          </a:solidFill>
          <a:ln w="12700">
            <a:solidFill>
              <a:srgbClr val="1C2440"/>
            </a:solidFill>
            <a:prstDash val="solid"/>
          </a:ln>
        </p:spPr>
        <p:txBody>
          <a:bodyPr/>
          <a:lstStyle/>
          <a:p>
            <a:endParaRPr lang="en-US"/>
          </a:p>
        </p:txBody>
      </p:sp>
      <p:sp>
        <p:nvSpPr>
          <p:cNvPr id="16" name="Shape 14"/>
          <p:cNvSpPr/>
          <p:nvPr/>
        </p:nvSpPr>
        <p:spPr>
          <a:xfrm>
            <a:off x="786384" y="4334256"/>
            <a:ext cx="109728" cy="109728"/>
          </a:xfrm>
          <a:prstGeom prst="ellipse">
            <a:avLst/>
          </a:prstGeom>
          <a:solidFill>
            <a:srgbClr val="2FA8B8"/>
          </a:solidFill>
          <a:ln w="12700">
            <a:solidFill>
              <a:srgbClr val="333333"/>
            </a:solidFill>
            <a:prstDash val="solid"/>
          </a:ln>
        </p:spPr>
        <p:txBody>
          <a:bodyPr/>
          <a:lstStyle/>
          <a:p>
            <a:endParaRPr lang="en-US"/>
          </a:p>
        </p:txBody>
      </p:sp>
      <p:sp>
        <p:nvSpPr>
          <p:cNvPr id="17" name="Text 15"/>
          <p:cNvSpPr txBox="1"/>
          <p:nvPr/>
        </p:nvSpPr>
        <p:spPr>
          <a:xfrm>
            <a:off x="987552" y="4206240"/>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This constraint is the one the second talk removes</a:t>
            </a:r>
            <a:endParaRPr lang="en-US" sz="1500" dirty="0"/>
          </a:p>
        </p:txBody>
      </p:sp>
      <p:sp>
        <p:nvSpPr>
          <p:cNvPr id="18" name="Text 16"/>
          <p:cNvSpPr txBox="1"/>
          <p:nvPr/>
        </p:nvSpPr>
        <p:spPr>
          <a:xfrm>
            <a:off x="822960" y="4645152"/>
            <a:ext cx="10552176" cy="1225296"/>
          </a:xfrm>
          <a:prstGeom prst="rect">
            <a:avLst/>
          </a:prstGeom>
          <a:noFill/>
          <a:ln/>
        </p:spPr>
        <p:txBody>
          <a:bodyPr wrap="square" lIns="0" tIns="0" rIns="0" bIns="0" rtlCol="0" anchor="t"/>
          <a:lstStyle/>
          <a:p>
            <a:pPr marL="0" indent="0">
              <a:lnSpc>
                <a:spcPct val="108000"/>
              </a:lnSpc>
              <a:buNone/>
            </a:pPr>
            <a:r>
              <a:rPr lang="en-US" sz="1300" dirty="0">
                <a:solidFill>
                  <a:srgbClr val="C5CBE0"/>
                </a:solidFill>
                <a:latin typeface="Calibri" pitchFamily="34" charset="0"/>
                <a:ea typeface="Calibri" pitchFamily="34" charset="-122"/>
                <a:cs typeface="Calibri" pitchFamily="34" charset="-120"/>
              </a:rPr>
              <a:t>Tent's entropy objective structurally requires a batch. That is fine for image classification, where test data arrives in bulk, and awkward for streaming speech, where an utterance arrives alone.</a:t>
            </a:r>
            <a:endParaRPr lang="en-US" sz="1300" dirty="0"/>
          </a:p>
          <a:p>
            <a:pPr marL="0" indent="0">
              <a:lnSpc>
                <a:spcPct val="108000"/>
              </a:lnSpc>
              <a:buNone/>
            </a:pPr>
            <a:endParaRPr lang="en-US" sz="1300" dirty="0"/>
          </a:p>
          <a:p>
            <a:pPr marL="0" indent="0">
              <a:lnSpc>
                <a:spcPct val="108000"/>
              </a:lnSpc>
              <a:buNone/>
            </a:pPr>
            <a:r>
              <a:rPr lang="en-US" sz="1300" dirty="0">
                <a:solidFill>
                  <a:srgbClr val="C5CBE0"/>
                </a:solidFill>
                <a:latin typeface="Calibri" pitchFamily="34" charset="0"/>
                <a:ea typeface="Calibri" pitchFamily="34" charset="-122"/>
                <a:cs typeface="Calibri" pitchFamily="34" charset="-120"/>
              </a:rPr>
              <a:t>The paper names this as an open problem in its own discussion: entropy needs batches for optimisation, and cannot update episodically on one point at a time.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75488"/>
            <a:ext cx="384048" cy="274320"/>
          </a:xfrm>
          <a:prstGeom prst="triangle">
            <a:avLst/>
          </a:prstGeom>
          <a:solidFill>
            <a:srgbClr val="3B4A7A"/>
          </a:solidFill>
          <a:ln w="12700">
            <a:solidFill>
              <a:srgbClr val="333333"/>
            </a:solidFill>
            <a:prstDash val="solid"/>
          </a:ln>
        </p:spPr>
        <p:txBody>
          <a:bodyPr/>
          <a:lstStyle/>
          <a:p>
            <a:endParaRPr lang="en-US"/>
          </a:p>
        </p:txBody>
      </p:sp>
      <p:sp>
        <p:nvSpPr>
          <p:cNvPr id="3" name="Shape 1"/>
          <p:cNvSpPr/>
          <p:nvPr/>
        </p:nvSpPr>
        <p:spPr>
          <a:xfrm>
            <a:off x="11256264" y="585216"/>
            <a:ext cx="109728" cy="164592"/>
          </a:xfrm>
          <a:prstGeom prst="triangle">
            <a:avLst/>
          </a:prstGeom>
          <a:solidFill>
            <a:srgbClr val="2FA8B8"/>
          </a:solidFill>
          <a:ln w="12700">
            <a:solidFill>
              <a:srgbClr val="333333"/>
            </a:solidFill>
            <a:prstDash val="solid"/>
          </a:ln>
        </p:spPr>
        <p:txBody>
          <a:bodyPr/>
          <a:lstStyle/>
          <a:p>
            <a:endParaRPr lang="en-US"/>
          </a:p>
        </p:txBody>
      </p:sp>
      <p:sp>
        <p:nvSpPr>
          <p:cNvPr id="4" name="Text 2"/>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41A2E"/>
                </a:solidFill>
                <a:latin typeface="Cambria" pitchFamily="34" charset="0"/>
                <a:ea typeface="Cambria" pitchFamily="34" charset="-122"/>
                <a:cs typeface="Cambria" pitchFamily="34" charset="-120"/>
              </a:rPr>
              <a:t>Which parameters to update</a:t>
            </a:r>
            <a:endParaRPr lang="en-US" sz="2900" dirty="0"/>
          </a:p>
        </p:txBody>
      </p:sp>
      <p:sp>
        <p:nvSpPr>
          <p:cNvPr id="5" name="Text 3"/>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A6180"/>
                </a:solidFill>
                <a:latin typeface="Calibri" pitchFamily="34" charset="0"/>
                <a:ea typeface="Calibri" pitchFamily="34" charset="-122"/>
                <a:cs typeface="Calibri" pitchFamily="34" charset="-120"/>
              </a:rPr>
              <a:t>The argument against updating the model</a:t>
            </a:r>
            <a:endParaRPr lang="en-US" sz="1350" dirty="0"/>
          </a:p>
        </p:txBody>
      </p:sp>
      <p:sp>
        <p:nvSpPr>
          <p:cNvPr id="6" name="Text 4"/>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9BA3BE"/>
                </a:solidFill>
                <a:latin typeface="Calibri" pitchFamily="34" charset="0"/>
                <a:ea typeface="Calibri" pitchFamily="34" charset="-122"/>
                <a:cs typeface="Calibri" pitchFamily="34" charset="-120"/>
              </a:rPr>
              <a:t>Tent · Wang et al. 2021  |  10</a:t>
            </a:r>
            <a:endParaRPr lang="en-US" sz="900" dirty="0"/>
          </a:p>
        </p:txBody>
      </p:sp>
      <p:sp>
        <p:nvSpPr>
          <p:cNvPr id="7" name="Shape 5"/>
          <p:cNvSpPr/>
          <p:nvPr/>
        </p:nvSpPr>
        <p:spPr>
          <a:xfrm>
            <a:off x="566928" y="1572768"/>
            <a:ext cx="5440680" cy="2286000"/>
          </a:xfrm>
          <a:prstGeom prst="roundRect">
            <a:avLst>
              <a:gd name="adj" fmla="val 2400"/>
            </a:avLst>
          </a:prstGeom>
          <a:solidFill>
            <a:srgbClr val="F1F2F7"/>
          </a:solidFill>
          <a:ln w="12700">
            <a:solidFill>
              <a:srgbClr val="E1E4EE"/>
            </a:solidFill>
            <a:prstDash val="solid"/>
          </a:ln>
        </p:spPr>
        <p:txBody>
          <a:bodyPr/>
          <a:lstStyle/>
          <a:p>
            <a:endParaRPr lang="en-US"/>
          </a:p>
        </p:txBody>
      </p:sp>
      <p:sp>
        <p:nvSpPr>
          <p:cNvPr id="8" name="Shape 6"/>
          <p:cNvSpPr/>
          <p:nvPr/>
        </p:nvSpPr>
        <p:spPr>
          <a:xfrm>
            <a:off x="786384" y="1865376"/>
            <a:ext cx="109728" cy="109728"/>
          </a:xfrm>
          <a:prstGeom prst="ellipse">
            <a:avLst/>
          </a:prstGeom>
          <a:solidFill>
            <a:srgbClr val="3B4A7A"/>
          </a:solidFill>
          <a:ln w="12700">
            <a:solidFill>
              <a:srgbClr val="333333"/>
            </a:solidFill>
            <a:prstDash val="solid"/>
          </a:ln>
        </p:spPr>
        <p:txBody>
          <a:bodyPr/>
          <a:lstStyle/>
          <a:p>
            <a:endParaRPr lang="en-US"/>
          </a:p>
        </p:txBody>
      </p:sp>
      <p:sp>
        <p:nvSpPr>
          <p:cNvPr id="9" name="Text 7"/>
          <p:cNvSpPr txBox="1"/>
          <p:nvPr/>
        </p:nvSpPr>
        <p:spPr>
          <a:xfrm>
            <a:off x="987552" y="1737360"/>
            <a:ext cx="4800600" cy="365760"/>
          </a:xfrm>
          <a:prstGeom prst="rect">
            <a:avLst/>
          </a:prstGeom>
          <a:noFill/>
          <a:ln/>
        </p:spPr>
        <p:txBody>
          <a:bodyPr wrap="square" lIns="0" tIns="0" rIns="0" bIns="0" rtlCol="0" anchor="ctr"/>
          <a:lstStyle/>
          <a:p>
            <a:pPr marL="0" indent="0">
              <a:buNone/>
            </a:pPr>
            <a:r>
              <a:rPr lang="en-US" sz="1500" b="1" dirty="0">
                <a:solidFill>
                  <a:srgbClr val="141A2E"/>
                </a:solidFill>
                <a:latin typeface="Cambria" pitchFamily="34" charset="0"/>
                <a:ea typeface="Cambria" pitchFamily="34" charset="-122"/>
                <a:cs typeface="Cambria" pitchFamily="34" charset="-120"/>
              </a:rPr>
              <a:t>Why not all of θ</a:t>
            </a:r>
            <a:endParaRPr lang="en-US" sz="1500" dirty="0"/>
          </a:p>
        </p:txBody>
      </p:sp>
      <p:sp>
        <p:nvSpPr>
          <p:cNvPr id="10" name="Text 8"/>
          <p:cNvSpPr txBox="1"/>
          <p:nvPr/>
        </p:nvSpPr>
        <p:spPr>
          <a:xfrm>
            <a:off x="822960" y="2176272"/>
            <a:ext cx="4928616" cy="1499616"/>
          </a:xfrm>
          <a:prstGeom prst="rect">
            <a:avLst/>
          </a:prstGeom>
          <a:noFill/>
          <a:ln/>
        </p:spPr>
        <p:txBody>
          <a:bodyPr wrap="square" lIns="0" tIns="0" rIns="0" bIns="0" rtlCol="0" anchor="t"/>
          <a:lstStyle/>
          <a:p>
            <a:pPr marL="0" indent="0">
              <a:lnSpc>
                <a:spcPct val="108000"/>
              </a:lnSpc>
              <a:buNone/>
            </a:pPr>
            <a:r>
              <a:rPr lang="en-US" sz="1250" dirty="0">
                <a:solidFill>
                  <a:srgbClr val="262C44"/>
                </a:solidFill>
                <a:latin typeface="Calibri" pitchFamily="34" charset="0"/>
                <a:ea typeface="Calibri" pitchFamily="34" charset="-122"/>
                <a:cs typeface="Calibri" pitchFamily="34" charset="-120"/>
              </a:rPr>
              <a:t>Three objections, all stated in the paper:</a:t>
            </a:r>
            <a:endParaRPr lang="en-US" sz="1250" dirty="0"/>
          </a:p>
          <a:p>
            <a:pPr marL="0" indent="0">
              <a:lnSpc>
                <a:spcPct val="108000"/>
              </a:lnSpc>
              <a:buNone/>
            </a:pPr>
            <a:endParaRPr lang="en-US" sz="1250" dirty="0"/>
          </a:p>
          <a:p>
            <a:pPr marL="0" indent="0">
              <a:lnSpc>
                <a:spcPct val="108000"/>
              </a:lnSpc>
              <a:buNone/>
            </a:pPr>
            <a:r>
              <a:rPr lang="en-US" sz="1250" dirty="0">
                <a:solidFill>
                  <a:srgbClr val="262C44"/>
                </a:solidFill>
                <a:latin typeface="Calibri" pitchFamily="34" charset="0"/>
                <a:ea typeface="Calibri" pitchFamily="34" charset="-122"/>
                <a:cs typeface="Calibri" pitchFamily="34" charset="-120"/>
              </a:rPr>
              <a:t>θ is the only representation of the training data in this setting, so altering it could cause the model to diverge from its training.</a:t>
            </a:r>
            <a:endParaRPr lang="en-US" sz="1250" dirty="0"/>
          </a:p>
          <a:p>
            <a:pPr marL="0" indent="0">
              <a:lnSpc>
                <a:spcPct val="108000"/>
              </a:lnSpc>
              <a:buNone/>
            </a:pPr>
            <a:endParaRPr lang="en-US" sz="1250" dirty="0"/>
          </a:p>
          <a:p>
            <a:pPr marL="0" indent="0">
              <a:lnSpc>
                <a:spcPct val="108000"/>
              </a:lnSpc>
              <a:buNone/>
            </a:pPr>
            <a:r>
              <a:rPr lang="en-US" sz="1250" dirty="0">
                <a:solidFill>
                  <a:srgbClr val="262C44"/>
                </a:solidFill>
                <a:latin typeface="Calibri" pitchFamily="34" charset="0"/>
                <a:ea typeface="Calibri" pitchFamily="34" charset="-122"/>
                <a:cs typeface="Calibri" pitchFamily="34" charset="-120"/>
              </a:rPr>
              <a:t>The function is non-linear and θ is high-dimensional, making optimisation too sensitive and inefficient for test-time use.</a:t>
            </a:r>
            <a:endParaRPr lang="en-US" sz="1250" dirty="0"/>
          </a:p>
        </p:txBody>
      </p:sp>
      <p:sp>
        <p:nvSpPr>
          <p:cNvPr id="11" name="Shape 9"/>
          <p:cNvSpPr/>
          <p:nvPr/>
        </p:nvSpPr>
        <p:spPr>
          <a:xfrm>
            <a:off x="6190488" y="1572768"/>
            <a:ext cx="5440680" cy="2286000"/>
          </a:xfrm>
          <a:prstGeom prst="roundRect">
            <a:avLst>
              <a:gd name="adj" fmla="val 2400"/>
            </a:avLst>
          </a:prstGeom>
          <a:solidFill>
            <a:srgbClr val="F1F2F7"/>
          </a:solidFill>
          <a:ln w="12700">
            <a:solidFill>
              <a:srgbClr val="E1E4EE"/>
            </a:solidFill>
            <a:prstDash val="solid"/>
          </a:ln>
        </p:spPr>
        <p:txBody>
          <a:bodyPr/>
          <a:lstStyle/>
          <a:p>
            <a:endParaRPr lang="en-US"/>
          </a:p>
        </p:txBody>
      </p:sp>
      <p:sp>
        <p:nvSpPr>
          <p:cNvPr id="12" name="Shape 10"/>
          <p:cNvSpPr/>
          <p:nvPr/>
        </p:nvSpPr>
        <p:spPr>
          <a:xfrm>
            <a:off x="6409944" y="1865376"/>
            <a:ext cx="109728" cy="109728"/>
          </a:xfrm>
          <a:prstGeom prst="ellipse">
            <a:avLst/>
          </a:prstGeom>
          <a:solidFill>
            <a:srgbClr val="2FA8B8"/>
          </a:solidFill>
          <a:ln w="12700">
            <a:solidFill>
              <a:srgbClr val="333333"/>
            </a:solidFill>
            <a:prstDash val="solid"/>
          </a:ln>
        </p:spPr>
        <p:txBody>
          <a:bodyPr/>
          <a:lstStyle/>
          <a:p>
            <a:endParaRPr lang="en-US"/>
          </a:p>
        </p:txBody>
      </p:sp>
      <p:sp>
        <p:nvSpPr>
          <p:cNvPr id="13" name="Text 11"/>
          <p:cNvSpPr txBox="1"/>
          <p:nvPr/>
        </p:nvSpPr>
        <p:spPr>
          <a:xfrm>
            <a:off x="6611112" y="1737360"/>
            <a:ext cx="4800600" cy="365760"/>
          </a:xfrm>
          <a:prstGeom prst="rect">
            <a:avLst/>
          </a:prstGeom>
          <a:noFill/>
          <a:ln/>
        </p:spPr>
        <p:txBody>
          <a:bodyPr wrap="square" lIns="0" tIns="0" rIns="0" bIns="0" rtlCol="0" anchor="ctr"/>
          <a:lstStyle/>
          <a:p>
            <a:pPr marL="0" indent="0">
              <a:buNone/>
            </a:pPr>
            <a:r>
              <a:rPr lang="en-US" sz="1500" b="1" dirty="0">
                <a:solidFill>
                  <a:srgbClr val="141A2E"/>
                </a:solidFill>
                <a:latin typeface="Cambria" pitchFamily="34" charset="0"/>
                <a:ea typeface="Cambria" pitchFamily="34" charset="-122"/>
                <a:cs typeface="Cambria" pitchFamily="34" charset="-120"/>
              </a:rPr>
              <a:t>What is updated instead</a:t>
            </a:r>
            <a:endParaRPr lang="en-US" sz="1500" dirty="0"/>
          </a:p>
        </p:txBody>
      </p:sp>
      <p:sp>
        <p:nvSpPr>
          <p:cNvPr id="14" name="Text 12"/>
          <p:cNvSpPr txBox="1"/>
          <p:nvPr/>
        </p:nvSpPr>
        <p:spPr>
          <a:xfrm>
            <a:off x="6446520" y="2176272"/>
            <a:ext cx="4928616" cy="1499616"/>
          </a:xfrm>
          <a:prstGeom prst="rect">
            <a:avLst/>
          </a:prstGeom>
          <a:noFill/>
          <a:ln/>
        </p:spPr>
        <p:txBody>
          <a:bodyPr wrap="square" lIns="0" tIns="0" rIns="0" bIns="0" rtlCol="0" anchor="t"/>
          <a:lstStyle/>
          <a:p>
            <a:pPr marL="0" indent="0">
              <a:lnSpc>
                <a:spcPct val="108000"/>
              </a:lnSpc>
              <a:buNone/>
            </a:pPr>
            <a:r>
              <a:rPr lang="en-US" sz="1250" dirty="0">
                <a:solidFill>
                  <a:srgbClr val="262C44"/>
                </a:solidFill>
                <a:latin typeface="Calibri" pitchFamily="34" charset="0"/>
                <a:ea typeface="Calibri" pitchFamily="34" charset="-122"/>
                <a:cs typeface="Calibri" pitchFamily="34" charset="-120"/>
              </a:rPr>
              <a:t>Feature modulations that are linear — scales and shifts — and low-dimensional — channel-wise.</a:t>
            </a:r>
            <a:endParaRPr lang="en-US" sz="1250" dirty="0"/>
          </a:p>
          <a:p>
            <a:pPr marL="0" indent="0">
              <a:lnSpc>
                <a:spcPct val="108000"/>
              </a:lnSpc>
              <a:buNone/>
            </a:pPr>
            <a:endParaRPr lang="en-US" sz="1250" dirty="0"/>
          </a:p>
          <a:p>
            <a:pPr marL="0" indent="0">
              <a:lnSpc>
                <a:spcPct val="108000"/>
              </a:lnSpc>
              <a:buNone/>
            </a:pPr>
            <a:r>
              <a:rPr lang="en-US" sz="1250" dirty="0">
                <a:solidFill>
                  <a:srgbClr val="262C44"/>
                </a:solidFill>
                <a:latin typeface="Calibri" pitchFamily="34" charset="0"/>
                <a:ea typeface="Calibri" pitchFamily="34" charset="-122"/>
                <a:cs typeface="Calibri" pitchFamily="34" charset="-120"/>
              </a:rPr>
              <a:t>Normalisation: estimate μ and σ from the target data, discarding the source statistics entirely.</a:t>
            </a:r>
            <a:endParaRPr lang="en-US" sz="1250" dirty="0"/>
          </a:p>
          <a:p>
            <a:pPr marL="0" indent="0">
              <a:lnSpc>
                <a:spcPct val="108000"/>
              </a:lnSpc>
              <a:buNone/>
            </a:pPr>
            <a:endParaRPr lang="en-US" sz="1250" dirty="0"/>
          </a:p>
          <a:p>
            <a:pPr marL="0" indent="0">
              <a:lnSpc>
                <a:spcPct val="108000"/>
              </a:lnSpc>
              <a:buNone/>
            </a:pPr>
            <a:r>
              <a:rPr lang="en-US" sz="1250" dirty="0">
                <a:solidFill>
                  <a:srgbClr val="262C44"/>
                </a:solidFill>
                <a:latin typeface="Calibri" pitchFamily="34" charset="0"/>
                <a:ea typeface="Calibri" pitchFamily="34" charset="-122"/>
                <a:cs typeface="Calibri" pitchFamily="34" charset="-120"/>
              </a:rPr>
              <a:t>Transformation: optimise the affine parameters γ and β by the gradient of the entropy.</a:t>
            </a:r>
            <a:endParaRPr lang="en-US" sz="1250" dirty="0"/>
          </a:p>
          <a:p>
            <a:pPr marL="0" indent="0">
              <a:lnSpc>
                <a:spcPct val="108000"/>
              </a:lnSpc>
              <a:buNone/>
            </a:pPr>
            <a:endParaRPr lang="en-US" sz="1250" dirty="0"/>
          </a:p>
          <a:p>
            <a:pPr marL="0" indent="0">
              <a:lnSpc>
                <a:spcPct val="108000"/>
              </a:lnSpc>
              <a:buNone/>
            </a:pPr>
            <a:r>
              <a:rPr lang="en-US" sz="1250" dirty="0">
                <a:solidFill>
                  <a:srgbClr val="262C44"/>
                </a:solidFill>
                <a:latin typeface="Calibri" pitchFamily="34" charset="0"/>
                <a:ea typeface="Calibri" pitchFamily="34" charset="-122"/>
                <a:cs typeface="Calibri" pitchFamily="34" charset="-120"/>
              </a:rPr>
              <a:t>Together these are under 1% of model parameters.</a:t>
            </a:r>
            <a:endParaRPr lang="en-US" sz="1250" dirty="0"/>
          </a:p>
        </p:txBody>
      </p:sp>
      <p:sp>
        <p:nvSpPr>
          <p:cNvPr id="15" name="Shape 13"/>
          <p:cNvSpPr/>
          <p:nvPr/>
        </p:nvSpPr>
        <p:spPr>
          <a:xfrm>
            <a:off x="566928" y="4059936"/>
            <a:ext cx="11064240" cy="1993392"/>
          </a:xfrm>
          <a:prstGeom prst="roundRect">
            <a:avLst>
              <a:gd name="adj" fmla="val 2752"/>
            </a:avLst>
          </a:prstGeom>
          <a:solidFill>
            <a:srgbClr val="1C2440"/>
          </a:solidFill>
          <a:ln w="12700">
            <a:solidFill>
              <a:srgbClr val="1C2440"/>
            </a:solidFill>
            <a:prstDash val="solid"/>
          </a:ln>
        </p:spPr>
        <p:txBody>
          <a:bodyPr/>
          <a:lstStyle/>
          <a:p>
            <a:endParaRPr lang="en-US"/>
          </a:p>
        </p:txBody>
      </p:sp>
      <p:sp>
        <p:nvSpPr>
          <p:cNvPr id="16" name="Shape 14"/>
          <p:cNvSpPr/>
          <p:nvPr/>
        </p:nvSpPr>
        <p:spPr>
          <a:xfrm>
            <a:off x="786384" y="4352544"/>
            <a:ext cx="109728" cy="109728"/>
          </a:xfrm>
          <a:prstGeom prst="ellipse">
            <a:avLst/>
          </a:prstGeom>
          <a:solidFill>
            <a:srgbClr val="2FA8B8"/>
          </a:solidFill>
          <a:ln w="12700">
            <a:solidFill>
              <a:srgbClr val="333333"/>
            </a:solidFill>
            <a:prstDash val="solid"/>
          </a:ln>
        </p:spPr>
        <p:txBody>
          <a:bodyPr/>
          <a:lstStyle/>
          <a:p>
            <a:endParaRPr lang="en-US"/>
          </a:p>
        </p:txBody>
      </p:sp>
      <p:sp>
        <p:nvSpPr>
          <p:cNvPr id="17" name="Text 15"/>
          <p:cNvSpPr txBox="1"/>
          <p:nvPr/>
        </p:nvSpPr>
        <p:spPr>
          <a:xfrm>
            <a:off x="987552" y="4224528"/>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Note the division of labour</a:t>
            </a:r>
            <a:endParaRPr lang="en-US" sz="1500" dirty="0"/>
          </a:p>
        </p:txBody>
      </p:sp>
      <p:sp>
        <p:nvSpPr>
          <p:cNvPr id="18" name="Text 16"/>
          <p:cNvSpPr txBox="1"/>
          <p:nvPr/>
        </p:nvSpPr>
        <p:spPr>
          <a:xfrm>
            <a:off x="822960" y="4663440"/>
            <a:ext cx="10552176" cy="1207008"/>
          </a:xfrm>
          <a:prstGeom prst="rect">
            <a:avLst/>
          </a:prstGeom>
          <a:noFill/>
          <a:ln/>
        </p:spPr>
        <p:txBody>
          <a:bodyPr wrap="square" lIns="0" tIns="0" rIns="0" bIns="0" rtlCol="0" anchor="t"/>
          <a:lstStyle/>
          <a:p>
            <a:pPr marL="0" indent="0">
              <a:lnSpc>
                <a:spcPct val="108000"/>
              </a:lnSpc>
              <a:buNone/>
            </a:pPr>
            <a:r>
              <a:rPr lang="en-US" sz="1300" dirty="0">
                <a:solidFill>
                  <a:srgbClr val="C5CBE0"/>
                </a:solidFill>
                <a:latin typeface="Calibri" pitchFamily="34" charset="0"/>
                <a:ea typeface="Calibri" pitchFamily="34" charset="-122"/>
                <a:cs typeface="Calibri" pitchFamily="34" charset="-120"/>
              </a:rPr>
              <a:t>The statistics μ, σ are estimated from the data. The parameters γ, β are *optimised by the loss*. Two different mechanisms in the same layer, and the ablation shows both are needed.</a:t>
            </a:r>
            <a:endParaRPr lang="en-US" sz="1300" dirty="0"/>
          </a:p>
          <a:p>
            <a:pPr marL="0" indent="0">
              <a:lnSpc>
                <a:spcPct val="108000"/>
              </a:lnSpc>
              <a:buNone/>
            </a:pPr>
            <a:endParaRPr lang="en-US" sz="1300" dirty="0"/>
          </a:p>
          <a:p>
            <a:pPr marL="0" indent="0">
              <a:lnSpc>
                <a:spcPct val="108000"/>
              </a:lnSpc>
              <a:buNone/>
            </a:pPr>
            <a:r>
              <a:rPr lang="en-US" sz="1300" dirty="0">
                <a:solidFill>
                  <a:srgbClr val="C5CBE0"/>
                </a:solidFill>
                <a:latin typeface="Calibri" pitchFamily="34" charset="0"/>
                <a:ea typeface="Calibri" pitchFamily="34" charset="-122"/>
                <a:cs typeface="Calibri" pitchFamily="34" charset="-120"/>
              </a:rPr>
              <a:t>In implementation this is simply repurposing the normalisation layers the source model already has, which is why Tent works on any architecture with them and why it is about ten lines of code.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75488"/>
            <a:ext cx="384048" cy="274320"/>
          </a:xfrm>
          <a:prstGeom prst="triangle">
            <a:avLst/>
          </a:prstGeom>
          <a:solidFill>
            <a:srgbClr val="3B4A7A"/>
          </a:solidFill>
          <a:ln w="12700">
            <a:solidFill>
              <a:srgbClr val="333333"/>
            </a:solidFill>
            <a:prstDash val="solid"/>
          </a:ln>
        </p:spPr>
        <p:txBody>
          <a:bodyPr/>
          <a:lstStyle/>
          <a:p>
            <a:endParaRPr lang="en-US"/>
          </a:p>
        </p:txBody>
      </p:sp>
      <p:sp>
        <p:nvSpPr>
          <p:cNvPr id="3" name="Shape 1"/>
          <p:cNvSpPr/>
          <p:nvPr/>
        </p:nvSpPr>
        <p:spPr>
          <a:xfrm>
            <a:off x="11256264" y="585216"/>
            <a:ext cx="109728" cy="164592"/>
          </a:xfrm>
          <a:prstGeom prst="triangle">
            <a:avLst/>
          </a:prstGeom>
          <a:solidFill>
            <a:srgbClr val="2FA8B8"/>
          </a:solidFill>
          <a:ln w="12700">
            <a:solidFill>
              <a:srgbClr val="333333"/>
            </a:solidFill>
            <a:prstDash val="solid"/>
          </a:ln>
        </p:spPr>
        <p:txBody>
          <a:bodyPr/>
          <a:lstStyle/>
          <a:p>
            <a:endParaRPr lang="en-US"/>
          </a:p>
        </p:txBody>
      </p:sp>
      <p:sp>
        <p:nvSpPr>
          <p:cNvPr id="4" name="Text 2"/>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41A2E"/>
                </a:solidFill>
                <a:latin typeface="Cambria" pitchFamily="34" charset="0"/>
                <a:ea typeface="Cambria" pitchFamily="34" charset="-122"/>
                <a:cs typeface="Cambria" pitchFamily="34" charset="-120"/>
              </a:rPr>
              <a:t>The algorithm</a:t>
            </a:r>
            <a:endParaRPr lang="en-US" sz="2900" dirty="0"/>
          </a:p>
        </p:txBody>
      </p:sp>
      <p:sp>
        <p:nvSpPr>
          <p:cNvPr id="5" name="Text 3"/>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A6180"/>
                </a:solidFill>
                <a:latin typeface="Calibri" pitchFamily="34" charset="0"/>
                <a:ea typeface="Calibri" pitchFamily="34" charset="-122"/>
                <a:cs typeface="Calibri" pitchFamily="34" charset="-120"/>
              </a:rPr>
              <a:t>Three steps, and one scheduling detail</a:t>
            </a:r>
            <a:endParaRPr lang="en-US" sz="1350" dirty="0"/>
          </a:p>
        </p:txBody>
      </p:sp>
      <p:sp>
        <p:nvSpPr>
          <p:cNvPr id="6" name="Text 4"/>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9BA3BE"/>
                </a:solidFill>
                <a:latin typeface="Calibri" pitchFamily="34" charset="0"/>
                <a:ea typeface="Calibri" pitchFamily="34" charset="-122"/>
                <a:cs typeface="Calibri" pitchFamily="34" charset="-120"/>
              </a:rPr>
              <a:t>Tent · Wang et al. 2021  |  11</a:t>
            </a:r>
            <a:endParaRPr lang="en-US" sz="900" dirty="0"/>
          </a:p>
        </p:txBody>
      </p:sp>
      <p:sp>
        <p:nvSpPr>
          <p:cNvPr id="7" name="Shape 5"/>
          <p:cNvSpPr/>
          <p:nvPr/>
        </p:nvSpPr>
        <p:spPr>
          <a:xfrm>
            <a:off x="566928" y="1572768"/>
            <a:ext cx="11064240" cy="1005840"/>
          </a:xfrm>
          <a:prstGeom prst="roundRect">
            <a:avLst>
              <a:gd name="adj" fmla="val 4545"/>
            </a:avLst>
          </a:prstGeom>
          <a:solidFill>
            <a:srgbClr val="F1F2F7"/>
          </a:solidFill>
          <a:ln w="12700">
            <a:solidFill>
              <a:srgbClr val="E1E4EE"/>
            </a:solidFill>
            <a:prstDash val="solid"/>
          </a:ln>
        </p:spPr>
        <p:txBody>
          <a:bodyPr/>
          <a:lstStyle/>
          <a:p>
            <a:endParaRPr lang="en-US"/>
          </a:p>
        </p:txBody>
      </p:sp>
      <p:sp>
        <p:nvSpPr>
          <p:cNvPr id="8" name="Shape 6"/>
          <p:cNvSpPr/>
          <p:nvPr/>
        </p:nvSpPr>
        <p:spPr>
          <a:xfrm>
            <a:off x="822960" y="1901952"/>
            <a:ext cx="347472" cy="347472"/>
          </a:xfrm>
          <a:prstGeom prst="ellipse">
            <a:avLst/>
          </a:prstGeom>
          <a:solidFill>
            <a:srgbClr val="3B4A7A"/>
          </a:solidFill>
          <a:ln w="12700">
            <a:solidFill>
              <a:srgbClr val="333333"/>
            </a:solidFill>
            <a:prstDash val="solid"/>
          </a:ln>
        </p:spPr>
        <p:txBody>
          <a:bodyPr/>
          <a:lstStyle/>
          <a:p>
            <a:endParaRPr lang="en-US"/>
          </a:p>
        </p:txBody>
      </p:sp>
      <p:sp>
        <p:nvSpPr>
          <p:cNvPr id="9" name="Text 7"/>
          <p:cNvSpPr txBox="1"/>
          <p:nvPr/>
        </p:nvSpPr>
        <p:spPr>
          <a:xfrm>
            <a:off x="822960" y="1929384"/>
            <a:ext cx="347472"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0" name="Text 8"/>
          <p:cNvSpPr txBox="1"/>
          <p:nvPr/>
        </p:nvSpPr>
        <p:spPr>
          <a:xfrm>
            <a:off x="1335024" y="1901952"/>
            <a:ext cx="2286000" cy="329184"/>
          </a:xfrm>
          <a:prstGeom prst="rect">
            <a:avLst/>
          </a:prstGeom>
          <a:noFill/>
          <a:ln/>
        </p:spPr>
        <p:txBody>
          <a:bodyPr wrap="square" lIns="0" tIns="0" rIns="0" bIns="0" rtlCol="0" anchor="ctr"/>
          <a:lstStyle/>
          <a:p>
            <a:pPr marL="0" indent="0">
              <a:buNone/>
            </a:pPr>
            <a:r>
              <a:rPr lang="en-US" sz="1400" b="1" dirty="0">
                <a:solidFill>
                  <a:srgbClr val="141A2E"/>
                </a:solidFill>
                <a:latin typeface="Cambria" pitchFamily="34" charset="0"/>
                <a:ea typeface="Cambria" pitchFamily="34" charset="-122"/>
                <a:cs typeface="Cambria" pitchFamily="34" charset="-120"/>
              </a:rPr>
              <a:t>Initialisation</a:t>
            </a:r>
            <a:endParaRPr lang="en-US" sz="1400" dirty="0"/>
          </a:p>
        </p:txBody>
      </p:sp>
      <p:sp>
        <p:nvSpPr>
          <p:cNvPr id="11" name="Text 9"/>
          <p:cNvSpPr txBox="1"/>
          <p:nvPr/>
        </p:nvSpPr>
        <p:spPr>
          <a:xfrm>
            <a:off x="3794760" y="1700784"/>
            <a:ext cx="7680960" cy="768096"/>
          </a:xfrm>
          <a:prstGeom prst="rect">
            <a:avLst/>
          </a:prstGeom>
          <a:noFill/>
          <a:ln/>
        </p:spPr>
        <p:txBody>
          <a:bodyPr wrap="square" lIns="0" tIns="0" rIns="0" bIns="0" rtlCol="0" anchor="ctr"/>
          <a:lstStyle/>
          <a:p>
            <a:pPr marL="0" indent="0">
              <a:buNone/>
            </a:pPr>
            <a:r>
              <a:rPr lang="en-US" sz="1220" dirty="0">
                <a:solidFill>
                  <a:srgbClr val="262C44"/>
                </a:solidFill>
                <a:latin typeface="Calibri" pitchFamily="34" charset="0"/>
                <a:ea typeface="Calibri" pitchFamily="34" charset="-122"/>
                <a:cs typeface="Calibri" pitchFamily="34" charset="-120"/>
              </a:rPr>
              <a:t>Collect the affine parameters {γ, β} for every normalisation layer and channel. Fix everything else. Discard the source normalisation statistics entirely.</a:t>
            </a:r>
            <a:endParaRPr lang="en-US" sz="1220" dirty="0"/>
          </a:p>
        </p:txBody>
      </p:sp>
      <p:sp>
        <p:nvSpPr>
          <p:cNvPr id="12" name="Shape 10"/>
          <p:cNvSpPr/>
          <p:nvPr/>
        </p:nvSpPr>
        <p:spPr>
          <a:xfrm>
            <a:off x="566928" y="2651760"/>
            <a:ext cx="11064240" cy="1005840"/>
          </a:xfrm>
          <a:prstGeom prst="roundRect">
            <a:avLst>
              <a:gd name="adj" fmla="val 4545"/>
            </a:avLst>
          </a:prstGeom>
          <a:solidFill>
            <a:srgbClr val="FFFFFF"/>
          </a:solidFill>
          <a:ln w="12700">
            <a:solidFill>
              <a:srgbClr val="E1E4EE"/>
            </a:solidFill>
            <a:prstDash val="solid"/>
          </a:ln>
        </p:spPr>
        <p:txBody>
          <a:bodyPr/>
          <a:lstStyle/>
          <a:p>
            <a:endParaRPr lang="en-US"/>
          </a:p>
        </p:txBody>
      </p:sp>
      <p:sp>
        <p:nvSpPr>
          <p:cNvPr id="13" name="Shape 11"/>
          <p:cNvSpPr/>
          <p:nvPr/>
        </p:nvSpPr>
        <p:spPr>
          <a:xfrm>
            <a:off x="822960" y="2980944"/>
            <a:ext cx="347472" cy="347472"/>
          </a:xfrm>
          <a:prstGeom prst="ellipse">
            <a:avLst/>
          </a:prstGeom>
          <a:solidFill>
            <a:srgbClr val="3B4A7A"/>
          </a:solidFill>
          <a:ln w="12700">
            <a:solidFill>
              <a:srgbClr val="333333"/>
            </a:solidFill>
            <a:prstDash val="solid"/>
          </a:ln>
        </p:spPr>
        <p:txBody>
          <a:bodyPr/>
          <a:lstStyle/>
          <a:p>
            <a:endParaRPr lang="en-US"/>
          </a:p>
        </p:txBody>
      </p:sp>
      <p:sp>
        <p:nvSpPr>
          <p:cNvPr id="14" name="Text 12"/>
          <p:cNvSpPr txBox="1"/>
          <p:nvPr/>
        </p:nvSpPr>
        <p:spPr>
          <a:xfrm>
            <a:off x="822960" y="3008376"/>
            <a:ext cx="347472"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5" name="Text 13"/>
          <p:cNvSpPr txBox="1"/>
          <p:nvPr/>
        </p:nvSpPr>
        <p:spPr>
          <a:xfrm>
            <a:off x="1335024" y="2980944"/>
            <a:ext cx="2286000" cy="329184"/>
          </a:xfrm>
          <a:prstGeom prst="rect">
            <a:avLst/>
          </a:prstGeom>
          <a:noFill/>
          <a:ln/>
        </p:spPr>
        <p:txBody>
          <a:bodyPr wrap="square" lIns="0" tIns="0" rIns="0" bIns="0" rtlCol="0" anchor="ctr"/>
          <a:lstStyle/>
          <a:p>
            <a:pPr marL="0" indent="0">
              <a:buNone/>
            </a:pPr>
            <a:r>
              <a:rPr lang="en-US" sz="1400" b="1" dirty="0">
                <a:solidFill>
                  <a:srgbClr val="141A2E"/>
                </a:solidFill>
                <a:latin typeface="Cambria" pitchFamily="34" charset="0"/>
                <a:ea typeface="Cambria" pitchFamily="34" charset="-122"/>
                <a:cs typeface="Cambria" pitchFamily="34" charset="-120"/>
              </a:rPr>
              <a:t>Iteration</a:t>
            </a:r>
            <a:endParaRPr lang="en-US" sz="1400" dirty="0"/>
          </a:p>
        </p:txBody>
      </p:sp>
      <p:sp>
        <p:nvSpPr>
          <p:cNvPr id="16" name="Text 14"/>
          <p:cNvSpPr txBox="1"/>
          <p:nvPr/>
        </p:nvSpPr>
        <p:spPr>
          <a:xfrm>
            <a:off x="3794760" y="2779776"/>
            <a:ext cx="7680960" cy="768096"/>
          </a:xfrm>
          <a:prstGeom prst="rect">
            <a:avLst/>
          </a:prstGeom>
          <a:noFill/>
          <a:ln/>
        </p:spPr>
        <p:txBody>
          <a:bodyPr wrap="square" lIns="0" tIns="0" rIns="0" bIns="0" rtlCol="0" anchor="ctr"/>
          <a:lstStyle/>
          <a:p>
            <a:pPr marL="0" indent="0">
              <a:buNone/>
            </a:pPr>
            <a:r>
              <a:rPr lang="en-US" sz="1220" dirty="0">
                <a:solidFill>
                  <a:srgbClr val="262C44"/>
                </a:solidFill>
                <a:latin typeface="Calibri" pitchFamily="34" charset="0"/>
                <a:ea typeface="Calibri" pitchFamily="34" charset="-122"/>
                <a:cs typeface="Calibri" pitchFamily="34" charset="-120"/>
              </a:rPr>
              <a:t>Per batch: estimate normalisation statistics layer by layer during the forward pass; update γ and β by the gradient of the prediction entropy during the backward pass.</a:t>
            </a:r>
            <a:endParaRPr lang="en-US" sz="1220" dirty="0"/>
          </a:p>
        </p:txBody>
      </p:sp>
      <p:sp>
        <p:nvSpPr>
          <p:cNvPr id="17" name="Shape 15"/>
          <p:cNvSpPr/>
          <p:nvPr/>
        </p:nvSpPr>
        <p:spPr>
          <a:xfrm>
            <a:off x="566928" y="3730752"/>
            <a:ext cx="11064240" cy="1005840"/>
          </a:xfrm>
          <a:prstGeom prst="roundRect">
            <a:avLst>
              <a:gd name="adj" fmla="val 4545"/>
            </a:avLst>
          </a:prstGeom>
          <a:solidFill>
            <a:srgbClr val="E6F4F6"/>
          </a:solidFill>
          <a:ln w="19050">
            <a:solidFill>
              <a:srgbClr val="2FA8B8"/>
            </a:solidFill>
            <a:prstDash val="solid"/>
          </a:ln>
        </p:spPr>
        <p:txBody>
          <a:bodyPr/>
          <a:lstStyle/>
          <a:p>
            <a:endParaRPr lang="en-US"/>
          </a:p>
        </p:txBody>
      </p:sp>
      <p:sp>
        <p:nvSpPr>
          <p:cNvPr id="18" name="Shape 16"/>
          <p:cNvSpPr/>
          <p:nvPr/>
        </p:nvSpPr>
        <p:spPr>
          <a:xfrm>
            <a:off x="822960" y="4059936"/>
            <a:ext cx="347472" cy="347472"/>
          </a:xfrm>
          <a:prstGeom prst="ellipse">
            <a:avLst/>
          </a:prstGeom>
          <a:solidFill>
            <a:srgbClr val="2FA8B8"/>
          </a:solidFill>
          <a:ln w="12700">
            <a:solidFill>
              <a:srgbClr val="333333"/>
            </a:solidFill>
            <a:prstDash val="solid"/>
          </a:ln>
        </p:spPr>
        <p:txBody>
          <a:bodyPr/>
          <a:lstStyle/>
          <a:p>
            <a:endParaRPr lang="en-US"/>
          </a:p>
        </p:txBody>
      </p:sp>
      <p:sp>
        <p:nvSpPr>
          <p:cNvPr id="19" name="Text 17"/>
          <p:cNvSpPr txBox="1"/>
          <p:nvPr/>
        </p:nvSpPr>
        <p:spPr>
          <a:xfrm>
            <a:off x="822960" y="4087368"/>
            <a:ext cx="347472"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0" name="Text 18"/>
          <p:cNvSpPr txBox="1"/>
          <p:nvPr/>
        </p:nvSpPr>
        <p:spPr>
          <a:xfrm>
            <a:off x="1335024" y="4059936"/>
            <a:ext cx="2286000" cy="329184"/>
          </a:xfrm>
          <a:prstGeom prst="rect">
            <a:avLst/>
          </a:prstGeom>
          <a:noFill/>
          <a:ln/>
        </p:spPr>
        <p:txBody>
          <a:bodyPr wrap="square" lIns="0" tIns="0" rIns="0" bIns="0" rtlCol="0" anchor="ctr"/>
          <a:lstStyle/>
          <a:p>
            <a:pPr marL="0" indent="0">
              <a:buNone/>
            </a:pPr>
            <a:r>
              <a:rPr lang="en-US" sz="1400" b="1" dirty="0">
                <a:solidFill>
                  <a:srgbClr val="141A2E"/>
                </a:solidFill>
                <a:latin typeface="Cambria" pitchFamily="34" charset="0"/>
                <a:ea typeface="Cambria" pitchFamily="34" charset="-122"/>
                <a:cs typeface="Cambria" pitchFamily="34" charset="-120"/>
              </a:rPr>
              <a:t>The scheduling detail</a:t>
            </a:r>
            <a:endParaRPr lang="en-US" sz="1400" dirty="0"/>
          </a:p>
        </p:txBody>
      </p:sp>
      <p:sp>
        <p:nvSpPr>
          <p:cNvPr id="21" name="Text 19"/>
          <p:cNvSpPr txBox="1"/>
          <p:nvPr/>
        </p:nvSpPr>
        <p:spPr>
          <a:xfrm>
            <a:off x="3794760" y="3858768"/>
            <a:ext cx="7680960" cy="768096"/>
          </a:xfrm>
          <a:prstGeom prst="rect">
            <a:avLst/>
          </a:prstGeom>
          <a:noFill/>
          <a:ln/>
        </p:spPr>
        <p:txBody>
          <a:bodyPr wrap="square" lIns="0" tIns="0" rIns="0" bIns="0" rtlCol="0" anchor="ctr"/>
          <a:lstStyle/>
          <a:p>
            <a:pPr marL="0" indent="0">
              <a:buNone/>
            </a:pPr>
            <a:r>
              <a:rPr lang="en-US" sz="1220" dirty="0">
                <a:solidFill>
                  <a:srgbClr val="262C44"/>
                </a:solidFill>
                <a:latin typeface="Calibri" pitchFamily="34" charset="0"/>
                <a:ea typeface="Calibri" pitchFamily="34" charset="-122"/>
                <a:cs typeface="Calibri" pitchFamily="34" charset="-120"/>
              </a:rPr>
              <a:t>The transformation update follows the prediction for the current batch, so it only affects the next batch. This costs one gradient per point and no extra forward passes — which is why it is the default.</a:t>
            </a:r>
            <a:endParaRPr lang="en-US" sz="1220" dirty="0"/>
          </a:p>
        </p:txBody>
      </p:sp>
      <p:sp>
        <p:nvSpPr>
          <p:cNvPr id="22" name="Shape 20"/>
          <p:cNvSpPr/>
          <p:nvPr/>
        </p:nvSpPr>
        <p:spPr>
          <a:xfrm>
            <a:off x="566928" y="4809744"/>
            <a:ext cx="11064240" cy="1005840"/>
          </a:xfrm>
          <a:prstGeom prst="roundRect">
            <a:avLst>
              <a:gd name="adj" fmla="val 4545"/>
            </a:avLst>
          </a:prstGeom>
          <a:solidFill>
            <a:srgbClr val="FFFFFF"/>
          </a:solidFill>
          <a:ln w="12700">
            <a:solidFill>
              <a:srgbClr val="E1E4EE"/>
            </a:solidFill>
            <a:prstDash val="solid"/>
          </a:ln>
        </p:spPr>
        <p:txBody>
          <a:bodyPr/>
          <a:lstStyle/>
          <a:p>
            <a:endParaRPr lang="en-US"/>
          </a:p>
        </p:txBody>
      </p:sp>
      <p:sp>
        <p:nvSpPr>
          <p:cNvPr id="23" name="Shape 21"/>
          <p:cNvSpPr/>
          <p:nvPr/>
        </p:nvSpPr>
        <p:spPr>
          <a:xfrm>
            <a:off x="822960" y="5138928"/>
            <a:ext cx="347472" cy="347472"/>
          </a:xfrm>
          <a:prstGeom prst="ellipse">
            <a:avLst/>
          </a:prstGeom>
          <a:solidFill>
            <a:srgbClr val="3B4A7A"/>
          </a:solidFill>
          <a:ln w="12700">
            <a:solidFill>
              <a:srgbClr val="333333"/>
            </a:solidFill>
            <a:prstDash val="solid"/>
          </a:ln>
        </p:spPr>
        <p:txBody>
          <a:bodyPr/>
          <a:lstStyle/>
          <a:p>
            <a:endParaRPr lang="en-US"/>
          </a:p>
        </p:txBody>
      </p:sp>
      <p:sp>
        <p:nvSpPr>
          <p:cNvPr id="24" name="Text 22"/>
          <p:cNvSpPr txBox="1"/>
          <p:nvPr/>
        </p:nvSpPr>
        <p:spPr>
          <a:xfrm>
            <a:off x="822960" y="5166360"/>
            <a:ext cx="347472"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5" name="Text 23"/>
          <p:cNvSpPr txBox="1"/>
          <p:nvPr/>
        </p:nvSpPr>
        <p:spPr>
          <a:xfrm>
            <a:off x="1335024" y="5138928"/>
            <a:ext cx="2286000" cy="329184"/>
          </a:xfrm>
          <a:prstGeom prst="rect">
            <a:avLst/>
          </a:prstGeom>
          <a:noFill/>
          <a:ln/>
        </p:spPr>
        <p:txBody>
          <a:bodyPr wrap="square" lIns="0" tIns="0" rIns="0" bIns="0" rtlCol="0" anchor="ctr"/>
          <a:lstStyle/>
          <a:p>
            <a:pPr marL="0" indent="0">
              <a:buNone/>
            </a:pPr>
            <a:r>
              <a:rPr lang="en-US" sz="1400" b="1" dirty="0">
                <a:solidFill>
                  <a:srgbClr val="141A2E"/>
                </a:solidFill>
                <a:latin typeface="Cambria" pitchFamily="34" charset="0"/>
                <a:ea typeface="Cambria" pitchFamily="34" charset="-122"/>
                <a:cs typeface="Cambria" pitchFamily="34" charset="-120"/>
              </a:rPr>
              <a:t>Termination</a:t>
            </a:r>
            <a:endParaRPr lang="en-US" sz="1400" dirty="0"/>
          </a:p>
        </p:txBody>
      </p:sp>
      <p:sp>
        <p:nvSpPr>
          <p:cNvPr id="26" name="Text 24"/>
          <p:cNvSpPr txBox="1"/>
          <p:nvPr/>
        </p:nvSpPr>
        <p:spPr>
          <a:xfrm>
            <a:off x="3794760" y="4937760"/>
            <a:ext cx="7680960" cy="768096"/>
          </a:xfrm>
          <a:prstGeom prst="rect">
            <a:avLst/>
          </a:prstGeom>
          <a:noFill/>
          <a:ln/>
        </p:spPr>
        <p:txBody>
          <a:bodyPr wrap="square" lIns="0" tIns="0" rIns="0" bIns="0" rtlCol="0" anchor="ctr"/>
          <a:lstStyle/>
          <a:p>
            <a:pPr marL="0" indent="0">
              <a:buNone/>
            </a:pPr>
            <a:r>
              <a:rPr lang="en-US" sz="1220" dirty="0">
                <a:solidFill>
                  <a:srgbClr val="262C44"/>
                </a:solidFill>
                <a:latin typeface="Calibri" pitchFamily="34" charset="0"/>
                <a:ea typeface="Calibri" pitchFamily="34" charset="-122"/>
                <a:cs typeface="Calibri" pitchFamily="34" charset="-120"/>
              </a:rPr>
              <a:t>Online: never — iteration continues as long as test data arrives. Offline: update first, then repeat inference, optionally for multiple epochs.</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1C2440"/>
        </a:solidFill>
        <a:effectLst/>
      </p:bgPr>
    </p:bg>
    <p:spTree>
      <p:nvGrpSpPr>
        <p:cNvPr id="1" name=""/>
        <p:cNvGrpSpPr/>
        <p:nvPr/>
      </p:nvGrpSpPr>
      <p:grpSpPr>
        <a:xfrm>
          <a:off x="0" y="0"/>
          <a:ext cx="0" cy="0"/>
          <a:chOff x="0" y="0"/>
          <a:chExt cx="0" cy="0"/>
        </a:xfrm>
      </p:grpSpPr>
      <p:sp>
        <p:nvSpPr>
          <p:cNvPr id="2" name="Shape 0"/>
          <p:cNvSpPr/>
          <p:nvPr/>
        </p:nvSpPr>
        <p:spPr>
          <a:xfrm>
            <a:off x="10515600" y="5349240"/>
            <a:ext cx="768096" cy="548640"/>
          </a:xfrm>
          <a:prstGeom prst="triangle">
            <a:avLst/>
          </a:prstGeom>
          <a:solidFill>
            <a:srgbClr val="C5CBE0"/>
          </a:solidFill>
          <a:ln w="12700">
            <a:solidFill>
              <a:srgbClr val="333333"/>
            </a:solidFill>
            <a:prstDash val="solid"/>
          </a:ln>
        </p:spPr>
        <p:txBody>
          <a:bodyPr/>
          <a:lstStyle/>
          <a:p>
            <a:endParaRPr lang="en-US"/>
          </a:p>
        </p:txBody>
      </p:sp>
      <p:sp>
        <p:nvSpPr>
          <p:cNvPr id="3" name="Shape 1"/>
          <p:cNvSpPr/>
          <p:nvPr/>
        </p:nvSpPr>
        <p:spPr>
          <a:xfrm>
            <a:off x="10789920" y="5568696"/>
            <a:ext cx="219456" cy="329184"/>
          </a:xfrm>
          <a:prstGeom prst="triangle">
            <a:avLst/>
          </a:prstGeom>
          <a:solidFill>
            <a:srgbClr val="2FA8B8"/>
          </a:solidFill>
          <a:ln w="12700">
            <a:solidFill>
              <a:srgbClr val="333333"/>
            </a:solidFill>
            <a:prstDash val="solid"/>
          </a:ln>
        </p:spPr>
        <p:txBody>
          <a:bodyPr/>
          <a:lstStyle/>
          <a:p>
            <a:endParaRPr lang="en-US"/>
          </a:p>
        </p:txBody>
      </p:sp>
      <p:sp>
        <p:nvSpPr>
          <p:cNvPr id="4" name="Text 2"/>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2FA8B8"/>
                </a:solidFill>
                <a:latin typeface="Cambria" pitchFamily="34" charset="0"/>
                <a:ea typeface="Cambria" pitchFamily="34" charset="-122"/>
                <a:cs typeface="Cambria" pitchFamily="34" charset="-120"/>
              </a:rPr>
              <a:t>3</a:t>
            </a:r>
            <a:endParaRPr lang="en-US" sz="6600" dirty="0"/>
          </a:p>
        </p:txBody>
      </p:sp>
      <p:sp>
        <p:nvSpPr>
          <p:cNvPr id="5" name="Text 3"/>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Results</a:t>
            </a:r>
            <a:endParaRPr lang="en-US" sz="3300" dirty="0"/>
          </a:p>
        </p:txBody>
      </p:sp>
      <p:sp>
        <p:nvSpPr>
          <p:cNvPr id="6" name="Text 4"/>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C5CBE0"/>
                </a:solidFill>
                <a:latin typeface="Calibri" pitchFamily="34" charset="0"/>
                <a:ea typeface="Calibri" pitchFamily="34" charset="-122"/>
                <a:cs typeface="Calibri" pitchFamily="34" charset="-120"/>
              </a:rPr>
              <a:t>Corruptions, digits, segmentation, VisDA</a:t>
            </a:r>
            <a:endParaRPr lang="en-US" sz="150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9BA3BE"/>
                </a:solidFill>
                <a:latin typeface="Calibri" pitchFamily="34" charset="0"/>
                <a:ea typeface="Calibri" pitchFamily="34" charset="-122"/>
                <a:cs typeface="Calibri" pitchFamily="34" charset="-120"/>
              </a:rPr>
              <a:t>Tent · Wang et al. 2021  |  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75488"/>
            <a:ext cx="384048" cy="274320"/>
          </a:xfrm>
          <a:prstGeom prst="triangle">
            <a:avLst/>
          </a:prstGeom>
          <a:solidFill>
            <a:srgbClr val="3B4A7A"/>
          </a:solidFill>
          <a:ln w="12700">
            <a:solidFill>
              <a:srgbClr val="333333"/>
            </a:solidFill>
            <a:prstDash val="solid"/>
          </a:ln>
        </p:spPr>
        <p:txBody>
          <a:bodyPr/>
          <a:lstStyle/>
          <a:p>
            <a:endParaRPr lang="en-US"/>
          </a:p>
        </p:txBody>
      </p:sp>
      <p:sp>
        <p:nvSpPr>
          <p:cNvPr id="3" name="Shape 1"/>
          <p:cNvSpPr/>
          <p:nvPr/>
        </p:nvSpPr>
        <p:spPr>
          <a:xfrm>
            <a:off x="11256264" y="585216"/>
            <a:ext cx="109728" cy="164592"/>
          </a:xfrm>
          <a:prstGeom prst="triangle">
            <a:avLst/>
          </a:prstGeom>
          <a:solidFill>
            <a:srgbClr val="2FA8B8"/>
          </a:solidFill>
          <a:ln w="12700">
            <a:solidFill>
              <a:srgbClr val="333333"/>
            </a:solidFill>
            <a:prstDash val="solid"/>
          </a:ln>
        </p:spPr>
        <p:txBody>
          <a:bodyPr/>
          <a:lstStyle/>
          <a:p>
            <a:endParaRPr lang="en-US"/>
          </a:p>
        </p:txBody>
      </p:sp>
      <p:sp>
        <p:nvSpPr>
          <p:cNvPr id="4" name="Text 2"/>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41A2E"/>
                </a:solidFill>
                <a:latin typeface="Cambria" pitchFamily="34" charset="0"/>
                <a:ea typeface="Cambria" pitchFamily="34" charset="-122"/>
                <a:cs typeface="Cambria" pitchFamily="34" charset="-120"/>
              </a:rPr>
              <a:t>Corruption robustness</a:t>
            </a:r>
            <a:endParaRPr lang="en-US" sz="2900" dirty="0"/>
          </a:p>
        </p:txBody>
      </p:sp>
      <p:sp>
        <p:nvSpPr>
          <p:cNvPr id="5" name="Text 3"/>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A6180"/>
                </a:solidFill>
                <a:latin typeface="Calibri" pitchFamily="34" charset="0"/>
                <a:ea typeface="Calibri" pitchFamily="34" charset="-122"/>
                <a:cs typeface="Calibri" pitchFamily="34" charset="-120"/>
              </a:rPr>
              <a:t>CIFAR-10-C and CIFAR-100-C at the highest severity</a:t>
            </a:r>
            <a:endParaRPr lang="en-US" sz="1350" dirty="0"/>
          </a:p>
        </p:txBody>
      </p:sp>
      <p:sp>
        <p:nvSpPr>
          <p:cNvPr id="6" name="Text 4"/>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9BA3BE"/>
                </a:solidFill>
                <a:latin typeface="Calibri" pitchFamily="34" charset="0"/>
                <a:ea typeface="Calibri" pitchFamily="34" charset="-122"/>
                <a:cs typeface="Calibri" pitchFamily="34" charset="-120"/>
              </a:rPr>
              <a:t>Tent · Wang et al. 2021  |  13</a:t>
            </a:r>
            <a:endParaRPr lang="en-US" sz="900" dirty="0"/>
          </a:p>
        </p:txBody>
      </p:sp>
      <p:graphicFrame>
        <p:nvGraphicFramePr>
          <p:cNvPr id="7" name="Chart 0"/>
          <p:cNvGraphicFramePr/>
          <p:nvPr/>
        </p:nvGraphicFramePr>
        <p:xfrm>
          <a:off x="566928" y="1554480"/>
          <a:ext cx="685800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txBox="1"/>
          <p:nvPr/>
        </p:nvSpPr>
        <p:spPr>
          <a:xfrm>
            <a:off x="7680960" y="1700784"/>
            <a:ext cx="3950208" cy="3383280"/>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262C44"/>
                </a:solidFill>
                <a:latin typeface="Calibri" pitchFamily="34" charset="0"/>
                <a:ea typeface="Calibri" pitchFamily="34" charset="-122"/>
                <a:cs typeface="Calibri" pitchFamily="34" charset="-120"/>
              </a:rPr>
              <a:t>Tent has the lowest error on both, beating methods that use the source data and several epochs of joint optimisation.</a:t>
            </a:r>
            <a:endParaRPr lang="en-US" sz="1220" dirty="0"/>
          </a:p>
          <a:p>
            <a:pPr marL="342900" indent="-342900">
              <a:spcAft>
                <a:spcPts val="800"/>
              </a:spcAft>
              <a:buSzPct val="100000"/>
              <a:buChar char="●"/>
            </a:pPr>
            <a:r>
              <a:rPr lang="en-US" sz="1220" dirty="0">
                <a:solidFill>
                  <a:srgbClr val="262C44"/>
                </a:solidFill>
                <a:latin typeface="Calibri" pitchFamily="34" charset="0"/>
                <a:ea typeface="Calibri" pitchFamily="34" charset="-122"/>
                <a:cs typeface="Calibri" pitchFamily="34" charset="-120"/>
              </a:rPr>
              <a:t>The three middle methods all require more: RG and UDA-SS train jointly on source and target; TTT alters training with a self-supervised proxy.</a:t>
            </a:r>
            <a:endParaRPr lang="en-US" sz="1220" dirty="0"/>
          </a:p>
          <a:p>
            <a:pPr marL="342900" indent="-342900">
              <a:spcAft>
                <a:spcPts val="800"/>
              </a:spcAft>
              <a:buSzPct val="100000"/>
              <a:buChar char="●"/>
            </a:pPr>
            <a:r>
              <a:rPr lang="en-US" sz="1220" dirty="0">
                <a:solidFill>
                  <a:srgbClr val="262C44"/>
                </a:solidFill>
                <a:latin typeface="Calibri" pitchFamily="34" charset="0"/>
                <a:ea typeface="Calibri" pitchFamily="34" charset="-122"/>
                <a:cs typeface="Calibri" pitchFamily="34" charset="-120"/>
              </a:rPr>
              <a:t>Test-time normalisation alone already recovers most of the gap — 67.2 to 42.6 on CIFAR-100-C. Tent's gradient adds a further 5.3.</a:t>
            </a:r>
            <a:endParaRPr lang="en-US" sz="1220" dirty="0"/>
          </a:p>
          <a:p>
            <a:pPr marL="342900" indent="-342900">
              <a:spcAft>
                <a:spcPts val="800"/>
              </a:spcAft>
              <a:buSzPct val="100000"/>
              <a:buChar char="●"/>
            </a:pPr>
            <a:r>
              <a:rPr lang="en-US" sz="1220" dirty="0">
                <a:solidFill>
                  <a:srgbClr val="262C44"/>
                </a:solidFill>
                <a:latin typeface="Calibri" pitchFamily="34" charset="0"/>
                <a:ea typeface="Calibri" pitchFamily="34" charset="-122"/>
                <a:cs typeface="Calibri" pitchFamily="34" charset="-120"/>
              </a:rPr>
              <a:t>Pseudo-labelling, the other fully test-time baseline, sits between them.</a:t>
            </a:r>
            <a:endParaRPr lang="en-US" sz="1220" dirty="0"/>
          </a:p>
        </p:txBody>
      </p:sp>
      <p:sp>
        <p:nvSpPr>
          <p:cNvPr id="9" name="Shape 6"/>
          <p:cNvSpPr/>
          <p:nvPr/>
        </p:nvSpPr>
        <p:spPr>
          <a:xfrm>
            <a:off x="566928" y="5266944"/>
            <a:ext cx="11064240" cy="786384"/>
          </a:xfrm>
          <a:prstGeom prst="roundRect">
            <a:avLst>
              <a:gd name="adj" fmla="val 6977"/>
            </a:avLst>
          </a:prstGeom>
          <a:solidFill>
            <a:srgbClr val="1C2440"/>
          </a:solidFill>
          <a:ln w="12700">
            <a:solidFill>
              <a:srgbClr val="1C2440"/>
            </a:solidFill>
            <a:prstDash val="solid"/>
          </a:ln>
        </p:spPr>
        <p:txBody>
          <a:bodyPr/>
          <a:lstStyle/>
          <a:p>
            <a:endParaRPr lang="en-US"/>
          </a:p>
        </p:txBody>
      </p:sp>
      <p:sp>
        <p:nvSpPr>
          <p:cNvPr id="10" name="Text 7"/>
          <p:cNvSpPr txBox="1"/>
          <p:nvPr/>
        </p:nvSpPr>
        <p:spPr>
          <a:xfrm>
            <a:off x="822960" y="5486400"/>
            <a:ext cx="10552176" cy="365760"/>
          </a:xfrm>
          <a:prstGeom prst="rect">
            <a:avLst/>
          </a:prstGeom>
          <a:noFill/>
          <a:ln/>
        </p:spPr>
        <p:txBody>
          <a:bodyPr wrap="square" lIns="0" tIns="0" rIns="0" bIns="0" rtlCol="0" anchor="t"/>
          <a:lstStyle/>
          <a:p>
            <a:pPr marL="0" indent="0">
              <a:lnSpc>
                <a:spcPct val="108000"/>
              </a:lnSpc>
              <a:buNone/>
            </a:pPr>
            <a:r>
              <a:rPr lang="en-US" sz="1300" dirty="0">
                <a:solidFill>
                  <a:srgbClr val="C5CBE0"/>
                </a:solidFill>
                <a:latin typeface="Calibri" pitchFamily="34" charset="0"/>
                <a:ea typeface="Calibri" pitchFamily="34" charset="-122"/>
                <a:cs typeface="Calibri" pitchFamily="34" charset="-120"/>
              </a:rPr>
              <a:t>The striking comparison is with the middle three: less data, less optimisation, and no change to training — and lower error.</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75488"/>
            <a:ext cx="384048" cy="274320"/>
          </a:xfrm>
          <a:prstGeom prst="triangle">
            <a:avLst/>
          </a:prstGeom>
          <a:solidFill>
            <a:srgbClr val="3B4A7A"/>
          </a:solidFill>
          <a:ln w="12700">
            <a:solidFill>
              <a:srgbClr val="333333"/>
            </a:solidFill>
            <a:prstDash val="solid"/>
          </a:ln>
        </p:spPr>
        <p:txBody>
          <a:bodyPr/>
          <a:lstStyle/>
          <a:p>
            <a:endParaRPr lang="en-US"/>
          </a:p>
        </p:txBody>
      </p:sp>
      <p:sp>
        <p:nvSpPr>
          <p:cNvPr id="3" name="Shape 1"/>
          <p:cNvSpPr/>
          <p:nvPr/>
        </p:nvSpPr>
        <p:spPr>
          <a:xfrm>
            <a:off x="11256264" y="585216"/>
            <a:ext cx="109728" cy="164592"/>
          </a:xfrm>
          <a:prstGeom prst="triangle">
            <a:avLst/>
          </a:prstGeom>
          <a:solidFill>
            <a:srgbClr val="2FA8B8"/>
          </a:solidFill>
          <a:ln w="12700">
            <a:solidFill>
              <a:srgbClr val="333333"/>
            </a:solidFill>
            <a:prstDash val="solid"/>
          </a:ln>
        </p:spPr>
        <p:txBody>
          <a:bodyPr/>
          <a:lstStyle/>
          <a:p>
            <a:endParaRPr lang="en-US"/>
          </a:p>
        </p:txBody>
      </p:sp>
      <p:sp>
        <p:nvSpPr>
          <p:cNvPr id="4" name="Text 2"/>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41A2E"/>
                </a:solidFill>
                <a:latin typeface="Cambria" pitchFamily="34" charset="0"/>
                <a:ea typeface="Cambria" pitchFamily="34" charset="-122"/>
                <a:cs typeface="Cambria" pitchFamily="34" charset="-120"/>
              </a:rPr>
              <a:t>ImageNet-C</a:t>
            </a:r>
            <a:endParaRPr lang="en-US" sz="2900" dirty="0"/>
          </a:p>
        </p:txBody>
      </p:sp>
      <p:sp>
        <p:nvSpPr>
          <p:cNvPr id="5" name="Text 3"/>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A6180"/>
                </a:solidFill>
                <a:latin typeface="Calibri" pitchFamily="34" charset="0"/>
                <a:ea typeface="Calibri" pitchFamily="34" charset="-122"/>
                <a:cs typeface="Calibri" pitchFamily="34" charset="-120"/>
              </a:rPr>
              <a:t>A new state of the art without altering training</a:t>
            </a:r>
            <a:endParaRPr lang="en-US" sz="1350" dirty="0"/>
          </a:p>
        </p:txBody>
      </p:sp>
      <p:sp>
        <p:nvSpPr>
          <p:cNvPr id="6" name="Text 4"/>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9BA3BE"/>
                </a:solidFill>
                <a:latin typeface="Calibri" pitchFamily="34" charset="0"/>
                <a:ea typeface="Calibri" pitchFamily="34" charset="-122"/>
                <a:cs typeface="Calibri" pitchFamily="34" charset="-120"/>
              </a:rPr>
              <a:t>Tent · Wang et al. 2021  |  14</a:t>
            </a:r>
            <a:endParaRPr lang="en-US" sz="900" dirty="0"/>
          </a:p>
        </p:txBody>
      </p:sp>
      <p:graphicFrame>
        <p:nvGraphicFramePr>
          <p:cNvPr id="7" name="Chart 0"/>
          <p:cNvGraphicFramePr/>
          <p:nvPr/>
        </p:nvGraphicFramePr>
        <p:xfrm>
          <a:off x="566928" y="1554480"/>
          <a:ext cx="66751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txBox="1"/>
          <p:nvPr/>
        </p:nvSpPr>
        <p:spPr>
          <a:xfrm>
            <a:off x="7498080" y="1700784"/>
            <a:ext cx="4133088" cy="3383280"/>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262C44"/>
                </a:solidFill>
                <a:latin typeface="Calibri" pitchFamily="34" charset="0"/>
                <a:ea typeface="Calibri" pitchFamily="34" charset="-122"/>
                <a:cs typeface="Calibri" pitchFamily="34" charset="-120"/>
              </a:rPr>
              <a:t>The prior state of the art, adversarial noise training, spends extra epochs on the full ImageNet training set. Tent spends one gradient per test point.</a:t>
            </a:r>
            <a:endParaRPr lang="en-US" sz="1220" dirty="0"/>
          </a:p>
          <a:p>
            <a:pPr marL="342900" indent="-342900">
              <a:spcAft>
                <a:spcPts val="800"/>
              </a:spcAft>
              <a:buSzPct val="100000"/>
              <a:buChar char="●"/>
            </a:pPr>
            <a:r>
              <a:rPr lang="en-US" sz="1220" dirty="0">
                <a:solidFill>
                  <a:srgbClr val="262C44"/>
                </a:solidFill>
                <a:latin typeface="Calibri" pitchFamily="34" charset="0"/>
                <a:ea typeface="Calibri" pitchFamily="34" charset="-122"/>
                <a:cs typeface="Calibri" pitchFamily="34" charset="-120"/>
              </a:rPr>
              <a:t>Combining robust training with stylisation from external images reaches 47.4; Tent reaches 44.0 online and 42.3 offline, with neither.</a:t>
            </a:r>
            <a:endParaRPr lang="en-US" sz="1220" dirty="0"/>
          </a:p>
          <a:p>
            <a:pPr marL="342900" indent="-342900">
              <a:spcAft>
                <a:spcPts val="800"/>
              </a:spcAft>
              <a:buSzPct val="100000"/>
              <a:buChar char="●"/>
            </a:pPr>
            <a:r>
              <a:rPr lang="en-US" sz="1220" dirty="0">
                <a:solidFill>
                  <a:srgbClr val="262C44"/>
                </a:solidFill>
                <a:latin typeface="Calibri" pitchFamily="34" charset="0"/>
                <a:ea typeface="Calibri" pitchFamily="34" charset="-122"/>
                <a:cs typeface="Calibri" pitchFamily="34" charset="-120"/>
              </a:rPr>
              <a:t>A relative 18% improvement over test-time normalisation among fully test-time methods.</a:t>
            </a:r>
            <a:endParaRPr lang="en-US" sz="1220" dirty="0"/>
          </a:p>
          <a:p>
            <a:pPr marL="342900" indent="-342900">
              <a:spcAft>
                <a:spcPts val="800"/>
              </a:spcAft>
              <a:buSzPct val="100000"/>
              <a:buChar char="●"/>
            </a:pPr>
            <a:r>
              <a:rPr lang="en-US" sz="1220" dirty="0">
                <a:solidFill>
                  <a:srgbClr val="262C44"/>
                </a:solidFill>
                <a:latin typeface="Calibri" pitchFamily="34" charset="0"/>
                <a:ea typeface="Calibri" pitchFamily="34" charset="-122"/>
                <a:cs typeface="Calibri" pitchFamily="34" charset="-120"/>
              </a:rPr>
              <a:t>Tent improves on ANT for every corruption type except noise — the one ANT is explicitly trained on.</a:t>
            </a:r>
            <a:endParaRPr lang="en-US" sz="1220" dirty="0"/>
          </a:p>
        </p:txBody>
      </p:sp>
      <p:sp>
        <p:nvSpPr>
          <p:cNvPr id="9" name="Shape 6"/>
          <p:cNvSpPr/>
          <p:nvPr/>
        </p:nvSpPr>
        <p:spPr>
          <a:xfrm>
            <a:off x="566928" y="5266944"/>
            <a:ext cx="11064240" cy="786384"/>
          </a:xfrm>
          <a:prstGeom prst="roundRect">
            <a:avLst>
              <a:gd name="adj" fmla="val 6977"/>
            </a:avLst>
          </a:prstGeom>
          <a:solidFill>
            <a:srgbClr val="1C2440"/>
          </a:solidFill>
          <a:ln w="12700">
            <a:solidFill>
              <a:srgbClr val="1C2440"/>
            </a:solidFill>
            <a:prstDash val="solid"/>
          </a:ln>
        </p:spPr>
        <p:txBody>
          <a:bodyPr/>
          <a:lstStyle/>
          <a:p>
            <a:endParaRPr lang="en-US"/>
          </a:p>
        </p:txBody>
      </p:sp>
      <p:sp>
        <p:nvSpPr>
          <p:cNvPr id="10" name="Text 7"/>
          <p:cNvSpPr txBox="1"/>
          <p:nvPr/>
        </p:nvSpPr>
        <p:spPr>
          <a:xfrm>
            <a:off x="822960" y="5486400"/>
            <a:ext cx="10552176" cy="365760"/>
          </a:xfrm>
          <a:prstGeom prst="rect">
            <a:avLst/>
          </a:prstGeom>
          <a:noFill/>
          <a:ln/>
        </p:spPr>
        <p:txBody>
          <a:bodyPr wrap="square" lIns="0" tIns="0" rIns="0" bIns="0" rtlCol="0" anchor="t"/>
          <a:lstStyle/>
          <a:p>
            <a:pPr marL="0" indent="0">
              <a:lnSpc>
                <a:spcPct val="108000"/>
              </a:lnSpc>
              <a:buNone/>
            </a:pPr>
            <a:r>
              <a:rPr lang="en-US" sz="1300" dirty="0">
                <a:solidFill>
                  <a:srgbClr val="C5CBE0"/>
                </a:solidFill>
                <a:latin typeface="Calibri" pitchFamily="34" charset="0"/>
                <a:ea typeface="Calibri" pitchFamily="34" charset="-122"/>
                <a:cs typeface="Calibri" pitchFamily="34" charset="-120"/>
              </a:rPr>
              <a:t>The headline that carried the paper: you can beat training-time robustness methods by adapting at inference, for less compute than they spend.</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75488"/>
            <a:ext cx="384048" cy="274320"/>
          </a:xfrm>
          <a:prstGeom prst="triangle">
            <a:avLst/>
          </a:prstGeom>
          <a:solidFill>
            <a:srgbClr val="3B4A7A"/>
          </a:solidFill>
          <a:ln w="12700">
            <a:solidFill>
              <a:srgbClr val="333333"/>
            </a:solidFill>
            <a:prstDash val="solid"/>
          </a:ln>
        </p:spPr>
        <p:txBody>
          <a:bodyPr/>
          <a:lstStyle/>
          <a:p>
            <a:endParaRPr lang="en-US"/>
          </a:p>
        </p:txBody>
      </p:sp>
      <p:sp>
        <p:nvSpPr>
          <p:cNvPr id="3" name="Shape 1"/>
          <p:cNvSpPr/>
          <p:nvPr/>
        </p:nvSpPr>
        <p:spPr>
          <a:xfrm>
            <a:off x="11256264" y="585216"/>
            <a:ext cx="109728" cy="164592"/>
          </a:xfrm>
          <a:prstGeom prst="triangle">
            <a:avLst/>
          </a:prstGeom>
          <a:solidFill>
            <a:srgbClr val="2FA8B8"/>
          </a:solidFill>
          <a:ln w="12700">
            <a:solidFill>
              <a:srgbClr val="333333"/>
            </a:solidFill>
            <a:prstDash val="solid"/>
          </a:ln>
        </p:spPr>
        <p:txBody>
          <a:bodyPr/>
          <a:lstStyle/>
          <a:p>
            <a:endParaRPr lang="en-US"/>
          </a:p>
        </p:txBody>
      </p:sp>
      <p:sp>
        <p:nvSpPr>
          <p:cNvPr id="4" name="Text 2"/>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41A2E"/>
                </a:solidFill>
                <a:latin typeface="Cambria" pitchFamily="34" charset="0"/>
                <a:ea typeface="Cambria" pitchFamily="34" charset="-122"/>
                <a:cs typeface="Cambria" pitchFamily="34" charset="-120"/>
              </a:rPr>
              <a:t>Source-free domain adaptation</a:t>
            </a:r>
            <a:endParaRPr lang="en-US" sz="2900" dirty="0"/>
          </a:p>
        </p:txBody>
      </p:sp>
      <p:sp>
        <p:nvSpPr>
          <p:cNvPr id="5" name="Text 3"/>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A6180"/>
                </a:solidFill>
                <a:latin typeface="Calibri" pitchFamily="34" charset="0"/>
                <a:ea typeface="Calibri" pitchFamily="34" charset="-122"/>
                <a:cs typeface="Calibri" pitchFamily="34" charset="-120"/>
              </a:rPr>
              <a:t>SVHN to MNIST, MNIST-M and USPS</a:t>
            </a:r>
            <a:endParaRPr lang="en-US" sz="1350" dirty="0"/>
          </a:p>
        </p:txBody>
      </p:sp>
      <p:sp>
        <p:nvSpPr>
          <p:cNvPr id="6" name="Text 4"/>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9BA3BE"/>
                </a:solidFill>
                <a:latin typeface="Calibri" pitchFamily="34" charset="0"/>
                <a:ea typeface="Calibri" pitchFamily="34" charset="-122"/>
                <a:cs typeface="Calibri" pitchFamily="34" charset="-120"/>
              </a:rPr>
              <a:t>Tent · Wang et al. 2021  |  15</a:t>
            </a:r>
            <a:endParaRPr lang="en-US" sz="900" dirty="0"/>
          </a:p>
        </p:txBody>
      </p:sp>
      <p:graphicFrame>
        <p:nvGraphicFramePr>
          <p:cNvPr id="7" name="Chart 0"/>
          <p:cNvGraphicFramePr/>
          <p:nvPr/>
        </p:nvGraphicFramePr>
        <p:xfrm>
          <a:off x="566928" y="1554480"/>
          <a:ext cx="685800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txBox="1"/>
          <p:nvPr/>
        </p:nvSpPr>
        <p:spPr>
          <a:xfrm>
            <a:off x="7680960" y="1700784"/>
            <a:ext cx="3950208" cy="3383280"/>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262C44"/>
                </a:solidFill>
                <a:latin typeface="Calibri" pitchFamily="34" charset="0"/>
                <a:ea typeface="Calibri" pitchFamily="34" charset="-122"/>
                <a:cs typeface="Calibri" pitchFamily="34" charset="-120"/>
              </a:rPr>
              <a:t>Tent always beats both the source model and test-time normalisation, and wins outright on two of the three shifts.</a:t>
            </a:r>
            <a:endParaRPr lang="en-US" sz="1220" dirty="0"/>
          </a:p>
          <a:p>
            <a:pPr marL="342900" indent="-342900">
              <a:spcAft>
                <a:spcPts val="800"/>
              </a:spcAft>
              <a:buSzPct val="100000"/>
              <a:buChar char="●"/>
            </a:pPr>
            <a:r>
              <a:rPr lang="en-US" sz="1220" dirty="0">
                <a:solidFill>
                  <a:srgbClr val="262C44"/>
                </a:solidFill>
                <a:latin typeface="Calibri" pitchFamily="34" charset="0"/>
                <a:ea typeface="Calibri" pitchFamily="34" charset="-122"/>
                <a:cs typeface="Calibri" pitchFamily="34" charset="-120"/>
              </a:rPr>
              <a:t>On MNIST-M, self-supervised domain adaptation is far ahead — 22.2 against 37.0 — because it can use the source data jointly.</a:t>
            </a:r>
            <a:endParaRPr lang="en-US" sz="1220" dirty="0"/>
          </a:p>
          <a:p>
            <a:pPr marL="342900" indent="-342900">
              <a:spcAft>
                <a:spcPts val="800"/>
              </a:spcAft>
              <a:buSzPct val="100000"/>
              <a:buChar char="●"/>
            </a:pPr>
            <a:r>
              <a:rPr lang="en-US" sz="1220" dirty="0">
                <a:solidFill>
                  <a:srgbClr val="262C44"/>
                </a:solidFill>
                <a:latin typeface="Calibri" pitchFamily="34" charset="0"/>
                <a:ea typeface="Calibri" pitchFamily="34" charset="-122"/>
                <a:cs typeface="Calibri" pitchFamily="34" charset="-120"/>
              </a:rPr>
              <a:t>The efficiency argument: RG and UDA-SS also process SVHN train, roughly seven times the size of the target, for ten epochs. Tent adapts with about eighty times less computation.</a:t>
            </a:r>
            <a:endParaRPr lang="en-US" sz="1220" dirty="0"/>
          </a:p>
          <a:p>
            <a:pPr marL="342900" indent="-342900">
              <a:spcAft>
                <a:spcPts val="800"/>
              </a:spcAft>
              <a:buSzPct val="100000"/>
              <a:buChar char="●"/>
            </a:pPr>
            <a:r>
              <a:rPr lang="en-US" sz="1220" dirty="0">
                <a:solidFill>
                  <a:srgbClr val="262C44"/>
                </a:solidFill>
                <a:latin typeface="Calibri" pitchFamily="34" charset="0"/>
                <a:ea typeface="Calibri" pitchFamily="34" charset="-122"/>
                <a:cs typeface="Calibri" pitchFamily="34" charset="-120"/>
              </a:rPr>
              <a:t>With more updates Tent keeps improving: 8.2 at ten epochs and 6.5 at a hundred.</a:t>
            </a:r>
            <a:endParaRPr lang="en-US" sz="1220" dirty="0"/>
          </a:p>
        </p:txBody>
      </p:sp>
      <p:sp>
        <p:nvSpPr>
          <p:cNvPr id="9" name="Shape 6"/>
          <p:cNvSpPr/>
          <p:nvPr/>
        </p:nvSpPr>
        <p:spPr>
          <a:xfrm>
            <a:off x="566928" y="5266944"/>
            <a:ext cx="11064240" cy="786384"/>
          </a:xfrm>
          <a:prstGeom prst="roundRect">
            <a:avLst>
              <a:gd name="adj" fmla="val 6977"/>
            </a:avLst>
          </a:prstGeom>
          <a:solidFill>
            <a:srgbClr val="1C2440"/>
          </a:solidFill>
          <a:ln w="12700">
            <a:solidFill>
              <a:srgbClr val="1C2440"/>
            </a:solidFill>
            <a:prstDash val="solid"/>
          </a:ln>
        </p:spPr>
        <p:txBody>
          <a:bodyPr/>
          <a:lstStyle/>
          <a:p>
            <a:endParaRPr lang="en-US"/>
          </a:p>
        </p:txBody>
      </p:sp>
      <p:sp>
        <p:nvSpPr>
          <p:cNvPr id="10" name="Text 7"/>
          <p:cNvSpPr txBox="1"/>
          <p:nvPr/>
        </p:nvSpPr>
        <p:spPr>
          <a:xfrm>
            <a:off x="822960" y="5486400"/>
            <a:ext cx="10552176" cy="365760"/>
          </a:xfrm>
          <a:prstGeom prst="rect">
            <a:avLst/>
          </a:prstGeom>
          <a:noFill/>
          <a:ln/>
        </p:spPr>
        <p:txBody>
          <a:bodyPr wrap="square" lIns="0" tIns="0" rIns="0" bIns="0" rtlCol="0" anchor="t"/>
          <a:lstStyle/>
          <a:p>
            <a:pPr marL="0" indent="0">
              <a:lnSpc>
                <a:spcPct val="108000"/>
              </a:lnSpc>
              <a:buNone/>
            </a:pPr>
            <a:r>
              <a:rPr lang="en-US" sz="1300" dirty="0">
                <a:solidFill>
                  <a:srgbClr val="C5CBE0"/>
                </a:solidFill>
                <a:latin typeface="Calibri" pitchFamily="34" charset="0"/>
                <a:ea typeface="Calibri" pitchFamily="34" charset="-122"/>
                <a:cs typeface="Calibri" pitchFamily="34" charset="-120"/>
              </a:rPr>
              <a:t>The paper's own conclusion: unsupervised domain adaptation remains necessary for the highest accuracy and the harder shifts.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75488"/>
            <a:ext cx="384048" cy="274320"/>
          </a:xfrm>
          <a:prstGeom prst="triangle">
            <a:avLst/>
          </a:prstGeom>
          <a:solidFill>
            <a:srgbClr val="3B4A7A"/>
          </a:solidFill>
          <a:ln w="12700">
            <a:solidFill>
              <a:srgbClr val="333333"/>
            </a:solidFill>
            <a:prstDash val="solid"/>
          </a:ln>
        </p:spPr>
        <p:txBody>
          <a:bodyPr/>
          <a:lstStyle/>
          <a:p>
            <a:endParaRPr lang="en-US"/>
          </a:p>
        </p:txBody>
      </p:sp>
      <p:sp>
        <p:nvSpPr>
          <p:cNvPr id="3" name="Shape 1"/>
          <p:cNvSpPr/>
          <p:nvPr/>
        </p:nvSpPr>
        <p:spPr>
          <a:xfrm>
            <a:off x="11256264" y="585216"/>
            <a:ext cx="109728" cy="164592"/>
          </a:xfrm>
          <a:prstGeom prst="triangle">
            <a:avLst/>
          </a:prstGeom>
          <a:solidFill>
            <a:srgbClr val="2FA8B8"/>
          </a:solidFill>
          <a:ln w="12700">
            <a:solidFill>
              <a:srgbClr val="333333"/>
            </a:solidFill>
            <a:prstDash val="solid"/>
          </a:ln>
        </p:spPr>
        <p:txBody>
          <a:bodyPr/>
          <a:lstStyle/>
          <a:p>
            <a:endParaRPr lang="en-US"/>
          </a:p>
        </p:txBody>
      </p:sp>
      <p:sp>
        <p:nvSpPr>
          <p:cNvPr id="4" name="Text 2"/>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41A2E"/>
                </a:solidFill>
                <a:latin typeface="Cambria" pitchFamily="34" charset="0"/>
                <a:ea typeface="Cambria" pitchFamily="34" charset="-122"/>
                <a:cs typeface="Cambria" pitchFamily="34" charset="-120"/>
              </a:rPr>
              <a:t>Beyond classification</a:t>
            </a:r>
            <a:endParaRPr lang="en-US" sz="2900" dirty="0"/>
          </a:p>
        </p:txBody>
      </p:sp>
      <p:sp>
        <p:nvSpPr>
          <p:cNvPr id="5" name="Text 3"/>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A6180"/>
                </a:solidFill>
                <a:latin typeface="Calibri" pitchFamily="34" charset="0"/>
                <a:ea typeface="Calibri" pitchFamily="34" charset="-122"/>
                <a:cs typeface="Calibri" pitchFamily="34" charset="-120"/>
              </a:rPr>
              <a:t>Segmentation, VisDA, and other architectures</a:t>
            </a:r>
            <a:endParaRPr lang="en-US" sz="1350" dirty="0"/>
          </a:p>
        </p:txBody>
      </p:sp>
      <p:sp>
        <p:nvSpPr>
          <p:cNvPr id="6" name="Text 4"/>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9BA3BE"/>
                </a:solidFill>
                <a:latin typeface="Calibri" pitchFamily="34" charset="0"/>
                <a:ea typeface="Calibri" pitchFamily="34" charset="-122"/>
                <a:cs typeface="Calibri" pitchFamily="34" charset="-120"/>
              </a:rPr>
              <a:t>Tent · Wang et al. 2021  |  16</a:t>
            </a:r>
            <a:endParaRPr lang="en-US" sz="900" dirty="0"/>
          </a:p>
        </p:txBody>
      </p:sp>
      <p:sp>
        <p:nvSpPr>
          <p:cNvPr id="7" name="Shape 5"/>
          <p:cNvSpPr/>
          <p:nvPr/>
        </p:nvSpPr>
        <p:spPr>
          <a:xfrm>
            <a:off x="566928" y="1554480"/>
            <a:ext cx="11064240" cy="1078992"/>
          </a:xfrm>
          <a:prstGeom prst="roundRect">
            <a:avLst>
              <a:gd name="adj" fmla="val 2542"/>
            </a:avLst>
          </a:prstGeom>
          <a:solidFill>
            <a:srgbClr val="F1F2F7"/>
          </a:solidFill>
          <a:ln w="12700">
            <a:solidFill>
              <a:srgbClr val="E8EBF2"/>
            </a:solidFill>
            <a:prstDash val="solid"/>
          </a:ln>
        </p:spPr>
        <p:txBody>
          <a:bodyPr/>
          <a:lstStyle/>
          <a:p>
            <a:endParaRPr lang="en-US"/>
          </a:p>
        </p:txBody>
      </p:sp>
      <p:sp>
        <p:nvSpPr>
          <p:cNvPr id="8" name="Shape 6"/>
          <p:cNvSpPr/>
          <p:nvPr/>
        </p:nvSpPr>
        <p:spPr>
          <a:xfrm>
            <a:off x="786384" y="2034540"/>
            <a:ext cx="118872" cy="118872"/>
          </a:xfrm>
          <a:prstGeom prst="ellipse">
            <a:avLst/>
          </a:prstGeom>
          <a:solidFill>
            <a:srgbClr val="3B4A7A"/>
          </a:solidFill>
          <a:ln w="12700">
            <a:solidFill>
              <a:srgbClr val="333333"/>
            </a:solidFill>
            <a:prstDash val="solid"/>
          </a:ln>
        </p:spPr>
        <p:txBody>
          <a:bodyPr/>
          <a:lstStyle/>
          <a:p>
            <a:endParaRPr lang="en-US"/>
          </a:p>
        </p:txBody>
      </p:sp>
      <p:sp>
        <p:nvSpPr>
          <p:cNvPr id="9" name="Text 7"/>
          <p:cNvSpPr txBox="1"/>
          <p:nvPr/>
        </p:nvSpPr>
        <p:spPr>
          <a:xfrm>
            <a:off x="1024128" y="1645920"/>
            <a:ext cx="3017520" cy="896112"/>
          </a:xfrm>
          <a:prstGeom prst="rect">
            <a:avLst/>
          </a:prstGeom>
          <a:noFill/>
          <a:ln/>
        </p:spPr>
        <p:txBody>
          <a:bodyPr wrap="square" lIns="0" tIns="0" rIns="0" bIns="0" rtlCol="0" anchor="ctr"/>
          <a:lstStyle/>
          <a:p>
            <a:pPr marL="0" indent="0">
              <a:buNone/>
            </a:pPr>
            <a:r>
              <a:rPr lang="en-US" sz="1300" b="1" dirty="0">
                <a:solidFill>
                  <a:srgbClr val="141A2E"/>
                </a:solidFill>
                <a:latin typeface="Cambria" pitchFamily="34" charset="0"/>
                <a:ea typeface="Cambria" pitchFamily="34" charset="-122"/>
                <a:cs typeface="Cambria" pitchFamily="34" charset="-120"/>
              </a:rPr>
              <a:t>Semantic segmentation</a:t>
            </a:r>
            <a:endParaRPr lang="en-US" sz="1300" dirty="0"/>
          </a:p>
        </p:txBody>
      </p:sp>
      <p:sp>
        <p:nvSpPr>
          <p:cNvPr id="10" name="Text 8"/>
          <p:cNvSpPr txBox="1"/>
          <p:nvPr/>
        </p:nvSpPr>
        <p:spPr>
          <a:xfrm>
            <a:off x="4224528" y="1627632"/>
            <a:ext cx="7223760" cy="932688"/>
          </a:xfrm>
          <a:prstGeom prst="rect">
            <a:avLst/>
          </a:prstGeom>
          <a:noFill/>
          <a:ln/>
        </p:spPr>
        <p:txBody>
          <a:bodyPr wrap="square" lIns="0" tIns="0" rIns="0" bIns="0" rtlCol="0" anchor="ctr"/>
          <a:lstStyle/>
          <a:p>
            <a:pPr marL="0" indent="0">
              <a:buNone/>
            </a:pPr>
            <a:r>
              <a:rPr lang="en-US" sz="1220" dirty="0">
                <a:solidFill>
                  <a:srgbClr val="262C44"/>
                </a:solidFill>
                <a:latin typeface="Calibri" pitchFamily="34" charset="0"/>
                <a:ea typeface="Calibri" pitchFamily="34" charset="-122"/>
                <a:cs typeface="Calibri" pitchFamily="34" charset="-120"/>
              </a:rPr>
              <a:t>Simulation-to-real from GTA to Cityscapes with HRNet-W18. Intersection-over-union: source 28.8%, test-time normalisation 31.4%, Tent 35.8%. Adapting to a single image — treating it as a batch of pixels — reaches 36.4% in ten iterations.</a:t>
            </a:r>
            <a:endParaRPr lang="en-US" sz="1220" dirty="0"/>
          </a:p>
        </p:txBody>
      </p:sp>
      <p:sp>
        <p:nvSpPr>
          <p:cNvPr id="11" name="Shape 9"/>
          <p:cNvSpPr/>
          <p:nvPr/>
        </p:nvSpPr>
        <p:spPr>
          <a:xfrm>
            <a:off x="566928" y="2688336"/>
            <a:ext cx="11064240" cy="1078992"/>
          </a:xfrm>
          <a:prstGeom prst="roundRect">
            <a:avLst>
              <a:gd name="adj" fmla="val 2542"/>
            </a:avLst>
          </a:prstGeom>
          <a:solidFill>
            <a:srgbClr val="FFFFFF"/>
          </a:solidFill>
          <a:ln w="12700">
            <a:solidFill>
              <a:srgbClr val="E8EBF2"/>
            </a:solidFill>
            <a:prstDash val="solid"/>
          </a:ln>
        </p:spPr>
        <p:txBody>
          <a:bodyPr/>
          <a:lstStyle/>
          <a:p>
            <a:endParaRPr lang="en-US"/>
          </a:p>
        </p:txBody>
      </p:sp>
      <p:sp>
        <p:nvSpPr>
          <p:cNvPr id="12" name="Shape 10"/>
          <p:cNvSpPr/>
          <p:nvPr/>
        </p:nvSpPr>
        <p:spPr>
          <a:xfrm>
            <a:off x="786384" y="3168396"/>
            <a:ext cx="118872" cy="118872"/>
          </a:xfrm>
          <a:prstGeom prst="ellipse">
            <a:avLst/>
          </a:prstGeom>
          <a:solidFill>
            <a:srgbClr val="3B4A7A"/>
          </a:solidFill>
          <a:ln w="12700">
            <a:solidFill>
              <a:srgbClr val="333333"/>
            </a:solidFill>
            <a:prstDash val="solid"/>
          </a:ln>
        </p:spPr>
        <p:txBody>
          <a:bodyPr/>
          <a:lstStyle/>
          <a:p>
            <a:endParaRPr lang="en-US"/>
          </a:p>
        </p:txBody>
      </p:sp>
      <p:sp>
        <p:nvSpPr>
          <p:cNvPr id="13" name="Text 11"/>
          <p:cNvSpPr txBox="1"/>
          <p:nvPr/>
        </p:nvSpPr>
        <p:spPr>
          <a:xfrm>
            <a:off x="1024128" y="2779776"/>
            <a:ext cx="3017520" cy="896112"/>
          </a:xfrm>
          <a:prstGeom prst="rect">
            <a:avLst/>
          </a:prstGeom>
          <a:noFill/>
          <a:ln/>
        </p:spPr>
        <p:txBody>
          <a:bodyPr wrap="square" lIns="0" tIns="0" rIns="0" bIns="0" rtlCol="0" anchor="ctr"/>
          <a:lstStyle/>
          <a:p>
            <a:pPr marL="0" indent="0">
              <a:buNone/>
            </a:pPr>
            <a:r>
              <a:rPr lang="en-US" sz="1300" b="1" dirty="0">
                <a:solidFill>
                  <a:srgbClr val="141A2E"/>
                </a:solidFill>
                <a:latin typeface="Cambria" pitchFamily="34" charset="0"/>
                <a:ea typeface="Cambria" pitchFamily="34" charset="-122"/>
                <a:cs typeface="Cambria" pitchFamily="34" charset="-120"/>
              </a:rPr>
              <a:t>VisDA-C</a:t>
            </a:r>
            <a:endParaRPr lang="en-US" sz="1300" dirty="0"/>
          </a:p>
        </p:txBody>
      </p:sp>
      <p:sp>
        <p:nvSpPr>
          <p:cNvPr id="14" name="Text 12"/>
          <p:cNvSpPr txBox="1"/>
          <p:nvPr/>
        </p:nvSpPr>
        <p:spPr>
          <a:xfrm>
            <a:off x="4224528" y="2761488"/>
            <a:ext cx="7223760" cy="932688"/>
          </a:xfrm>
          <a:prstGeom prst="rect">
            <a:avLst/>
          </a:prstGeom>
          <a:noFill/>
          <a:ln/>
        </p:spPr>
        <p:txBody>
          <a:bodyPr wrap="square" lIns="0" tIns="0" rIns="0" bIns="0" rtlCol="0" anchor="ctr"/>
          <a:lstStyle/>
          <a:p>
            <a:pPr marL="0" indent="0">
              <a:buNone/>
            </a:pPr>
            <a:r>
              <a:rPr lang="en-US" sz="1220" dirty="0">
                <a:solidFill>
                  <a:srgbClr val="262C44"/>
                </a:solidFill>
                <a:latin typeface="Calibri" pitchFamily="34" charset="0"/>
                <a:ea typeface="Calibri" pitchFamily="34" charset="-122"/>
                <a:cs typeface="Calibri" pitchFamily="34" charset="-120"/>
              </a:rPr>
              <a:t>Synthetic-to-real object recognition over twelve classes. Source error 56.1%, Tent 45.6%, and 39.6% when updating all layers except the final classifier as SHOT does. Offline source-free methods reach lower error with more computation and tuning.</a:t>
            </a:r>
            <a:endParaRPr lang="en-US" sz="1220" dirty="0"/>
          </a:p>
        </p:txBody>
      </p:sp>
      <p:sp>
        <p:nvSpPr>
          <p:cNvPr id="15" name="Shape 13"/>
          <p:cNvSpPr/>
          <p:nvPr/>
        </p:nvSpPr>
        <p:spPr>
          <a:xfrm>
            <a:off x="566928" y="3822192"/>
            <a:ext cx="11064240" cy="1078992"/>
          </a:xfrm>
          <a:prstGeom prst="roundRect">
            <a:avLst>
              <a:gd name="adj" fmla="val 2542"/>
            </a:avLst>
          </a:prstGeom>
          <a:solidFill>
            <a:srgbClr val="F1F2F7"/>
          </a:solidFill>
          <a:ln w="12700">
            <a:solidFill>
              <a:srgbClr val="E8EBF2"/>
            </a:solidFill>
            <a:prstDash val="solid"/>
          </a:ln>
        </p:spPr>
        <p:txBody>
          <a:bodyPr/>
          <a:lstStyle/>
          <a:p>
            <a:endParaRPr lang="en-US"/>
          </a:p>
        </p:txBody>
      </p:sp>
      <p:sp>
        <p:nvSpPr>
          <p:cNvPr id="16" name="Shape 14"/>
          <p:cNvSpPr/>
          <p:nvPr/>
        </p:nvSpPr>
        <p:spPr>
          <a:xfrm>
            <a:off x="786384" y="4302252"/>
            <a:ext cx="118872" cy="118872"/>
          </a:xfrm>
          <a:prstGeom prst="ellipse">
            <a:avLst/>
          </a:prstGeom>
          <a:solidFill>
            <a:srgbClr val="3B4A7A"/>
          </a:solidFill>
          <a:ln w="12700">
            <a:solidFill>
              <a:srgbClr val="333333"/>
            </a:solidFill>
            <a:prstDash val="solid"/>
          </a:ln>
        </p:spPr>
        <p:txBody>
          <a:bodyPr/>
          <a:lstStyle/>
          <a:p>
            <a:endParaRPr lang="en-US"/>
          </a:p>
        </p:txBody>
      </p:sp>
      <p:sp>
        <p:nvSpPr>
          <p:cNvPr id="17" name="Text 15"/>
          <p:cNvSpPr txBox="1"/>
          <p:nvPr/>
        </p:nvSpPr>
        <p:spPr>
          <a:xfrm>
            <a:off x="1024128" y="3913632"/>
            <a:ext cx="3017520" cy="896112"/>
          </a:xfrm>
          <a:prstGeom prst="rect">
            <a:avLst/>
          </a:prstGeom>
          <a:noFill/>
          <a:ln/>
        </p:spPr>
        <p:txBody>
          <a:bodyPr wrap="square" lIns="0" tIns="0" rIns="0" bIns="0" rtlCol="0" anchor="ctr"/>
          <a:lstStyle/>
          <a:p>
            <a:pPr marL="0" indent="0">
              <a:buNone/>
            </a:pPr>
            <a:r>
              <a:rPr lang="en-US" sz="1300" b="1" dirty="0">
                <a:solidFill>
                  <a:srgbClr val="141A2E"/>
                </a:solidFill>
                <a:latin typeface="Cambria" pitchFamily="34" charset="0"/>
                <a:ea typeface="Cambria" pitchFamily="34" charset="-122"/>
                <a:cs typeface="Cambria" pitchFamily="34" charset="-120"/>
              </a:rPr>
              <a:t>Other architectures</a:t>
            </a:r>
            <a:endParaRPr lang="en-US" sz="1300" dirty="0"/>
          </a:p>
        </p:txBody>
      </p:sp>
      <p:sp>
        <p:nvSpPr>
          <p:cNvPr id="18" name="Text 16"/>
          <p:cNvSpPr txBox="1"/>
          <p:nvPr/>
        </p:nvSpPr>
        <p:spPr>
          <a:xfrm>
            <a:off x="4224528" y="3895344"/>
            <a:ext cx="7223760" cy="932688"/>
          </a:xfrm>
          <a:prstGeom prst="rect">
            <a:avLst/>
          </a:prstGeom>
          <a:noFill/>
          <a:ln/>
        </p:spPr>
        <p:txBody>
          <a:bodyPr wrap="square" lIns="0" tIns="0" rIns="0" bIns="0" rtlCol="0" anchor="ctr"/>
          <a:lstStyle/>
          <a:p>
            <a:pPr marL="0" indent="0">
              <a:buNone/>
            </a:pPr>
            <a:r>
              <a:rPr lang="en-US" sz="1220" dirty="0">
                <a:solidFill>
                  <a:srgbClr val="262C44"/>
                </a:solidFill>
                <a:latin typeface="Calibri" pitchFamily="34" charset="0"/>
                <a:ea typeface="Calibri" pitchFamily="34" charset="-122"/>
                <a:cs typeface="Calibri" pitchFamily="34" charset="-120"/>
              </a:rPr>
              <a:t>On CIFAR-100-C, Tent transfers without tuning to self-attention networks (55.3 → 36.7 and 48.0 → 29.2) and to a deep equilibrium model (53.3 → 41.7).</a:t>
            </a:r>
            <a:endParaRPr lang="en-US" sz="1220" dirty="0"/>
          </a:p>
        </p:txBody>
      </p:sp>
      <p:sp>
        <p:nvSpPr>
          <p:cNvPr id="19" name="Shape 17"/>
          <p:cNvSpPr/>
          <p:nvPr/>
        </p:nvSpPr>
        <p:spPr>
          <a:xfrm>
            <a:off x="566928" y="4956048"/>
            <a:ext cx="11064240" cy="1078992"/>
          </a:xfrm>
          <a:prstGeom prst="roundRect">
            <a:avLst>
              <a:gd name="adj" fmla="val 2542"/>
            </a:avLst>
          </a:prstGeom>
          <a:solidFill>
            <a:srgbClr val="FFFFFF"/>
          </a:solidFill>
          <a:ln w="12700">
            <a:solidFill>
              <a:srgbClr val="E8EBF2"/>
            </a:solidFill>
            <a:prstDash val="solid"/>
          </a:ln>
        </p:spPr>
        <p:txBody>
          <a:bodyPr/>
          <a:lstStyle/>
          <a:p>
            <a:endParaRPr lang="en-US"/>
          </a:p>
        </p:txBody>
      </p:sp>
      <p:sp>
        <p:nvSpPr>
          <p:cNvPr id="20" name="Shape 18"/>
          <p:cNvSpPr/>
          <p:nvPr/>
        </p:nvSpPr>
        <p:spPr>
          <a:xfrm>
            <a:off x="786384" y="5436108"/>
            <a:ext cx="118872" cy="118872"/>
          </a:xfrm>
          <a:prstGeom prst="ellipse">
            <a:avLst/>
          </a:prstGeom>
          <a:solidFill>
            <a:srgbClr val="3B4A7A"/>
          </a:solidFill>
          <a:ln w="12700">
            <a:solidFill>
              <a:srgbClr val="333333"/>
            </a:solidFill>
            <a:prstDash val="solid"/>
          </a:ln>
        </p:spPr>
        <p:txBody>
          <a:bodyPr/>
          <a:lstStyle/>
          <a:p>
            <a:endParaRPr lang="en-US"/>
          </a:p>
        </p:txBody>
      </p:sp>
      <p:sp>
        <p:nvSpPr>
          <p:cNvPr id="21" name="Text 19"/>
          <p:cNvSpPr txBox="1"/>
          <p:nvPr/>
        </p:nvSpPr>
        <p:spPr>
          <a:xfrm>
            <a:off x="1024128" y="5047488"/>
            <a:ext cx="3017520" cy="896112"/>
          </a:xfrm>
          <a:prstGeom prst="rect">
            <a:avLst/>
          </a:prstGeom>
          <a:noFill/>
          <a:ln/>
        </p:spPr>
        <p:txBody>
          <a:bodyPr wrap="square" lIns="0" tIns="0" rIns="0" bIns="0" rtlCol="0" anchor="ctr"/>
          <a:lstStyle/>
          <a:p>
            <a:pPr marL="0" indent="0">
              <a:buNone/>
            </a:pPr>
            <a:r>
              <a:rPr lang="en-US" sz="1300" b="1" dirty="0">
                <a:solidFill>
                  <a:srgbClr val="141A2E"/>
                </a:solidFill>
                <a:latin typeface="Cambria" pitchFamily="34" charset="0"/>
                <a:ea typeface="Cambria" pitchFamily="34" charset="-122"/>
                <a:cs typeface="Cambria" pitchFamily="34" charset="-120"/>
              </a:rPr>
              <a:t>The generality claim</a:t>
            </a:r>
            <a:endParaRPr lang="en-US" sz="1300" dirty="0"/>
          </a:p>
        </p:txBody>
      </p:sp>
      <p:sp>
        <p:nvSpPr>
          <p:cNvPr id="22" name="Text 20"/>
          <p:cNvSpPr txBox="1"/>
          <p:nvPr/>
        </p:nvSpPr>
        <p:spPr>
          <a:xfrm>
            <a:off x="4224528" y="5029200"/>
            <a:ext cx="7223760" cy="932688"/>
          </a:xfrm>
          <a:prstGeom prst="rect">
            <a:avLst/>
          </a:prstGeom>
          <a:noFill/>
          <a:ln/>
        </p:spPr>
        <p:txBody>
          <a:bodyPr wrap="square" lIns="0" tIns="0" rIns="0" bIns="0" rtlCol="0" anchor="ctr"/>
          <a:lstStyle/>
          <a:p>
            <a:pPr marL="0" indent="0">
              <a:buNone/>
            </a:pPr>
            <a:r>
              <a:rPr lang="en-US" sz="1220" dirty="0">
                <a:solidFill>
                  <a:srgbClr val="262C44"/>
                </a:solidFill>
                <a:latin typeface="Calibri" pitchFamily="34" charset="0"/>
                <a:ea typeface="Calibri" pitchFamily="34" charset="-122"/>
                <a:cs typeface="Calibri" pitchFamily="34" charset="-120"/>
              </a:rPr>
              <a:t>Tent needs a model that is trained, probabilistic and differentiable, with normalisation layers. Typical supervised deep networks satisfy all of these.</a:t>
            </a:r>
            <a:endParaRPr lang="en-US" sz="1220" dirty="0"/>
          </a:p>
        </p:txBody>
      </p:sp>
      <p:sp>
        <p:nvSpPr>
          <p:cNvPr id="23" name="Shape 21"/>
          <p:cNvSpPr/>
          <p:nvPr/>
        </p:nvSpPr>
        <p:spPr>
          <a:xfrm>
            <a:off x="566928" y="6089904"/>
            <a:ext cx="11064240" cy="18288"/>
          </a:xfrm>
          <a:prstGeom prst="roundRect">
            <a:avLst>
              <a:gd name="adj" fmla="val 300000"/>
            </a:avLst>
          </a:prstGeom>
          <a:solidFill>
            <a:srgbClr val="FFFFFF"/>
          </a:solidFill>
          <a:ln w="12700">
            <a:solidFill>
              <a:srgbClr val="FFFFFF"/>
            </a:solidFill>
            <a:prstDash val="solid"/>
          </a:ln>
        </p:spPr>
        <p:txBody>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1C2440"/>
        </a:solidFill>
        <a:effectLst/>
      </p:bgPr>
    </p:bg>
    <p:spTree>
      <p:nvGrpSpPr>
        <p:cNvPr id="1" name=""/>
        <p:cNvGrpSpPr/>
        <p:nvPr/>
      </p:nvGrpSpPr>
      <p:grpSpPr>
        <a:xfrm>
          <a:off x="0" y="0"/>
          <a:ext cx="0" cy="0"/>
          <a:chOff x="0" y="0"/>
          <a:chExt cx="0" cy="0"/>
        </a:xfrm>
      </p:grpSpPr>
      <p:sp>
        <p:nvSpPr>
          <p:cNvPr id="2" name="Shape 0"/>
          <p:cNvSpPr/>
          <p:nvPr/>
        </p:nvSpPr>
        <p:spPr>
          <a:xfrm>
            <a:off x="10515600" y="5349240"/>
            <a:ext cx="768096" cy="548640"/>
          </a:xfrm>
          <a:prstGeom prst="triangle">
            <a:avLst/>
          </a:prstGeom>
          <a:solidFill>
            <a:srgbClr val="C5CBE0"/>
          </a:solidFill>
          <a:ln w="12700">
            <a:solidFill>
              <a:srgbClr val="333333"/>
            </a:solidFill>
            <a:prstDash val="solid"/>
          </a:ln>
        </p:spPr>
        <p:txBody>
          <a:bodyPr/>
          <a:lstStyle/>
          <a:p>
            <a:endParaRPr lang="en-US"/>
          </a:p>
        </p:txBody>
      </p:sp>
      <p:sp>
        <p:nvSpPr>
          <p:cNvPr id="3" name="Shape 1"/>
          <p:cNvSpPr/>
          <p:nvPr/>
        </p:nvSpPr>
        <p:spPr>
          <a:xfrm>
            <a:off x="10789920" y="5568696"/>
            <a:ext cx="219456" cy="329184"/>
          </a:xfrm>
          <a:prstGeom prst="triangle">
            <a:avLst/>
          </a:prstGeom>
          <a:solidFill>
            <a:srgbClr val="2FA8B8"/>
          </a:solidFill>
          <a:ln w="12700">
            <a:solidFill>
              <a:srgbClr val="333333"/>
            </a:solidFill>
            <a:prstDash val="solid"/>
          </a:ln>
        </p:spPr>
        <p:txBody>
          <a:bodyPr/>
          <a:lstStyle/>
          <a:p>
            <a:endParaRPr lang="en-US"/>
          </a:p>
        </p:txBody>
      </p:sp>
      <p:sp>
        <p:nvSpPr>
          <p:cNvPr id="4" name="Text 2"/>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2FA8B8"/>
                </a:solidFill>
                <a:latin typeface="Cambria" pitchFamily="34" charset="0"/>
                <a:ea typeface="Cambria" pitchFamily="34" charset="-122"/>
                <a:cs typeface="Cambria" pitchFamily="34" charset="-120"/>
              </a:rPr>
              <a:t>4</a:t>
            </a:r>
            <a:endParaRPr lang="en-US" sz="6600" dirty="0"/>
          </a:p>
        </p:txBody>
      </p:sp>
      <p:sp>
        <p:nvSpPr>
          <p:cNvPr id="5" name="Text 3"/>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Analysis and limits</a:t>
            </a:r>
            <a:endParaRPr lang="en-US" sz="3300" dirty="0"/>
          </a:p>
        </p:txBody>
      </p:sp>
      <p:sp>
        <p:nvSpPr>
          <p:cNvPr id="6" name="Text 4"/>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C5CBE0"/>
                </a:solidFill>
                <a:latin typeface="Calibri" pitchFamily="34" charset="0"/>
                <a:ea typeface="Calibri" pitchFamily="34" charset="-122"/>
                <a:cs typeface="Calibri" pitchFamily="34" charset="-120"/>
              </a:rPr>
              <a:t>Where the premise is thin, and where the method fails</a:t>
            </a:r>
            <a:endParaRPr lang="en-US" sz="150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9BA3BE"/>
                </a:solidFill>
                <a:latin typeface="Calibri" pitchFamily="34" charset="0"/>
                <a:ea typeface="Calibri" pitchFamily="34" charset="-122"/>
                <a:cs typeface="Calibri" pitchFamily="34" charset="-120"/>
              </a:rPr>
              <a:t>Tent · Wang et al. 2021  |  17</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75488"/>
            <a:ext cx="384048" cy="274320"/>
          </a:xfrm>
          <a:prstGeom prst="triangle">
            <a:avLst/>
          </a:prstGeom>
          <a:solidFill>
            <a:srgbClr val="3B4A7A"/>
          </a:solidFill>
          <a:ln w="12700">
            <a:solidFill>
              <a:srgbClr val="333333"/>
            </a:solidFill>
            <a:prstDash val="solid"/>
          </a:ln>
        </p:spPr>
        <p:txBody>
          <a:bodyPr/>
          <a:lstStyle/>
          <a:p>
            <a:endParaRPr lang="en-US"/>
          </a:p>
        </p:txBody>
      </p:sp>
      <p:sp>
        <p:nvSpPr>
          <p:cNvPr id="3" name="Shape 1"/>
          <p:cNvSpPr/>
          <p:nvPr/>
        </p:nvSpPr>
        <p:spPr>
          <a:xfrm>
            <a:off x="11256264" y="585216"/>
            <a:ext cx="109728" cy="164592"/>
          </a:xfrm>
          <a:prstGeom prst="triangle">
            <a:avLst/>
          </a:prstGeom>
          <a:solidFill>
            <a:srgbClr val="2FA8B8"/>
          </a:solidFill>
          <a:ln w="12700">
            <a:solidFill>
              <a:srgbClr val="333333"/>
            </a:solidFill>
            <a:prstDash val="solid"/>
          </a:ln>
        </p:spPr>
        <p:txBody>
          <a:bodyPr/>
          <a:lstStyle/>
          <a:p>
            <a:endParaRPr lang="en-US"/>
          </a:p>
        </p:txBody>
      </p:sp>
      <p:sp>
        <p:nvSpPr>
          <p:cNvPr id="4" name="Text 2"/>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41A2E"/>
                </a:solidFill>
                <a:latin typeface="Cambria" pitchFamily="34" charset="0"/>
                <a:ea typeface="Cambria" pitchFamily="34" charset="-122"/>
                <a:cs typeface="Cambria" pitchFamily="34" charset="-120"/>
              </a:rPr>
              <a:t>Does entropy actually track error?</a:t>
            </a:r>
            <a:endParaRPr lang="en-US" sz="2900" dirty="0"/>
          </a:p>
        </p:txBody>
      </p:sp>
      <p:sp>
        <p:nvSpPr>
          <p:cNvPr id="5" name="Text 3"/>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A6180"/>
                </a:solidFill>
                <a:latin typeface="Calibri" pitchFamily="34" charset="0"/>
                <a:ea typeface="Calibri" pitchFamily="34" charset="-122"/>
                <a:cs typeface="Calibri" pitchFamily="34" charset="-120"/>
              </a:rPr>
              <a:t>The evidence for the central premise</a:t>
            </a:r>
            <a:endParaRPr lang="en-US" sz="1350" dirty="0"/>
          </a:p>
        </p:txBody>
      </p:sp>
      <p:sp>
        <p:nvSpPr>
          <p:cNvPr id="6" name="Text 4"/>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9BA3BE"/>
                </a:solidFill>
                <a:latin typeface="Calibri" pitchFamily="34" charset="0"/>
                <a:ea typeface="Calibri" pitchFamily="34" charset="-122"/>
                <a:cs typeface="Calibri" pitchFamily="34" charset="-120"/>
              </a:rPr>
              <a:t>Tent · Wang et al. 2021  |  18</a:t>
            </a:r>
            <a:endParaRPr lang="en-US" sz="900" dirty="0"/>
          </a:p>
        </p:txBody>
      </p:sp>
      <p:sp>
        <p:nvSpPr>
          <p:cNvPr id="7" name="Shape 5"/>
          <p:cNvSpPr/>
          <p:nvPr/>
        </p:nvSpPr>
        <p:spPr>
          <a:xfrm>
            <a:off x="566928" y="1600200"/>
            <a:ext cx="5440680" cy="2240280"/>
          </a:xfrm>
          <a:prstGeom prst="roundRect">
            <a:avLst>
              <a:gd name="adj" fmla="val 2449"/>
            </a:avLst>
          </a:prstGeom>
          <a:solidFill>
            <a:srgbClr val="F1F2F7"/>
          </a:solidFill>
          <a:ln w="12700">
            <a:solidFill>
              <a:srgbClr val="E1E4EE"/>
            </a:solidFill>
            <a:prstDash val="solid"/>
          </a:ln>
        </p:spPr>
        <p:txBody>
          <a:bodyPr/>
          <a:lstStyle/>
          <a:p>
            <a:endParaRPr lang="en-US"/>
          </a:p>
        </p:txBody>
      </p:sp>
      <p:sp>
        <p:nvSpPr>
          <p:cNvPr id="8" name="Shape 6"/>
          <p:cNvSpPr/>
          <p:nvPr/>
        </p:nvSpPr>
        <p:spPr>
          <a:xfrm>
            <a:off x="786384" y="1892808"/>
            <a:ext cx="109728" cy="109728"/>
          </a:xfrm>
          <a:prstGeom prst="ellipse">
            <a:avLst/>
          </a:prstGeom>
          <a:solidFill>
            <a:srgbClr val="3B4A7A"/>
          </a:solidFill>
          <a:ln w="12700">
            <a:solidFill>
              <a:srgbClr val="333333"/>
            </a:solidFill>
            <a:prstDash val="solid"/>
          </a:ln>
        </p:spPr>
        <p:txBody>
          <a:bodyPr/>
          <a:lstStyle/>
          <a:p>
            <a:endParaRPr lang="en-US"/>
          </a:p>
        </p:txBody>
      </p:sp>
      <p:sp>
        <p:nvSpPr>
          <p:cNvPr id="9" name="Text 7"/>
          <p:cNvSpPr txBox="1"/>
          <p:nvPr/>
        </p:nvSpPr>
        <p:spPr>
          <a:xfrm>
            <a:off x="987552" y="1764792"/>
            <a:ext cx="4800600" cy="365760"/>
          </a:xfrm>
          <a:prstGeom prst="rect">
            <a:avLst/>
          </a:prstGeom>
          <a:noFill/>
          <a:ln/>
        </p:spPr>
        <p:txBody>
          <a:bodyPr wrap="square" lIns="0" tIns="0" rIns="0" bIns="0" rtlCol="0" anchor="ctr"/>
          <a:lstStyle/>
          <a:p>
            <a:pPr marL="0" indent="0">
              <a:buNone/>
            </a:pPr>
            <a:r>
              <a:rPr lang="en-US" sz="1500" b="1" dirty="0">
                <a:solidFill>
                  <a:srgbClr val="141A2E"/>
                </a:solidFill>
                <a:latin typeface="Cambria" pitchFamily="34" charset="0"/>
                <a:ea typeface="Cambria" pitchFamily="34" charset="-122"/>
                <a:cs typeface="Cambria" pitchFamily="34" charset="-120"/>
              </a:rPr>
              <a:t>What was measured</a:t>
            </a:r>
            <a:endParaRPr lang="en-US" sz="1500" dirty="0"/>
          </a:p>
        </p:txBody>
      </p:sp>
      <p:sp>
        <p:nvSpPr>
          <p:cNvPr id="10" name="Text 8"/>
          <p:cNvSpPr txBox="1"/>
          <p:nvPr/>
        </p:nvSpPr>
        <p:spPr>
          <a:xfrm>
            <a:off x="822960" y="2203704"/>
            <a:ext cx="4928616" cy="1453896"/>
          </a:xfrm>
          <a:prstGeom prst="rect">
            <a:avLst/>
          </a:prstGeom>
          <a:noFill/>
          <a:ln/>
        </p:spPr>
        <p:txBody>
          <a:bodyPr wrap="square" lIns="0" tIns="0" rIns="0" bIns="0" rtlCol="0" anchor="t"/>
          <a:lstStyle/>
          <a:p>
            <a:pPr marL="0" indent="0">
              <a:lnSpc>
                <a:spcPct val="108000"/>
              </a:lnSpc>
              <a:buNone/>
            </a:pPr>
            <a:r>
              <a:rPr lang="en-US" sz="1260" dirty="0">
                <a:solidFill>
                  <a:srgbClr val="262C44"/>
                </a:solidFill>
                <a:latin typeface="Calibri" pitchFamily="34" charset="0"/>
                <a:ea typeface="Calibri" pitchFamily="34" charset="-122"/>
                <a:cs typeface="Calibri" pitchFamily="34" charset="-120"/>
              </a:rPr>
              <a:t>For all 75 combinations of corruption type and level on CIFAR-100-C, the paper plots the change in entropy against the change in task loss after adaptation.</a:t>
            </a:r>
            <a:endParaRPr lang="en-US" sz="1260" dirty="0"/>
          </a:p>
          <a:p>
            <a:pPr marL="0" indent="0">
              <a:lnSpc>
                <a:spcPct val="108000"/>
              </a:lnSpc>
              <a:buNone/>
            </a:pPr>
            <a:endParaRPr lang="en-US" sz="1260" dirty="0"/>
          </a:p>
          <a:p>
            <a:pPr marL="0" indent="0">
              <a:lnSpc>
                <a:spcPct val="108000"/>
              </a:lnSpc>
              <a:buNone/>
            </a:pPr>
            <a:r>
              <a:rPr lang="en-US" sz="1260" dirty="0">
                <a:solidFill>
                  <a:srgbClr val="262C44"/>
                </a:solidFill>
                <a:latin typeface="Calibri" pitchFamily="34" charset="0"/>
                <a:ea typeface="Calibri" pitchFamily="34" charset="-122"/>
                <a:cs typeface="Calibri" pitchFamily="34" charset="-120"/>
              </a:rPr>
              <a:t>Both axes normalised by the maximum entropy of a prediction and clipped. Most points have lower entropy and lower error after adaptation.</a:t>
            </a:r>
            <a:endParaRPr lang="en-US" sz="1260" dirty="0"/>
          </a:p>
        </p:txBody>
      </p:sp>
      <p:sp>
        <p:nvSpPr>
          <p:cNvPr id="11" name="Shape 9"/>
          <p:cNvSpPr/>
          <p:nvPr/>
        </p:nvSpPr>
        <p:spPr>
          <a:xfrm>
            <a:off x="6190488" y="1600200"/>
            <a:ext cx="5440680" cy="2240280"/>
          </a:xfrm>
          <a:prstGeom prst="roundRect">
            <a:avLst>
              <a:gd name="adj" fmla="val 2449"/>
            </a:avLst>
          </a:prstGeom>
          <a:solidFill>
            <a:srgbClr val="F1F2F7"/>
          </a:solidFill>
          <a:ln w="12700">
            <a:solidFill>
              <a:srgbClr val="E1E4EE"/>
            </a:solidFill>
            <a:prstDash val="solid"/>
          </a:ln>
        </p:spPr>
        <p:txBody>
          <a:bodyPr/>
          <a:lstStyle/>
          <a:p>
            <a:endParaRPr lang="en-US"/>
          </a:p>
        </p:txBody>
      </p:sp>
      <p:sp>
        <p:nvSpPr>
          <p:cNvPr id="12" name="Shape 10"/>
          <p:cNvSpPr/>
          <p:nvPr/>
        </p:nvSpPr>
        <p:spPr>
          <a:xfrm>
            <a:off x="6409944" y="1892808"/>
            <a:ext cx="109728" cy="109728"/>
          </a:xfrm>
          <a:prstGeom prst="ellipse">
            <a:avLst/>
          </a:prstGeom>
          <a:solidFill>
            <a:srgbClr val="2FA8B8"/>
          </a:solidFill>
          <a:ln w="12700">
            <a:solidFill>
              <a:srgbClr val="333333"/>
            </a:solidFill>
            <a:prstDash val="solid"/>
          </a:ln>
        </p:spPr>
        <p:txBody>
          <a:bodyPr/>
          <a:lstStyle/>
          <a:p>
            <a:endParaRPr lang="en-US"/>
          </a:p>
        </p:txBody>
      </p:sp>
      <p:sp>
        <p:nvSpPr>
          <p:cNvPr id="13" name="Text 11"/>
          <p:cNvSpPr txBox="1"/>
          <p:nvPr/>
        </p:nvSpPr>
        <p:spPr>
          <a:xfrm>
            <a:off x="6611112" y="1764792"/>
            <a:ext cx="4800600" cy="365760"/>
          </a:xfrm>
          <a:prstGeom prst="rect">
            <a:avLst/>
          </a:prstGeom>
          <a:noFill/>
          <a:ln/>
        </p:spPr>
        <p:txBody>
          <a:bodyPr wrap="square" lIns="0" tIns="0" rIns="0" bIns="0" rtlCol="0" anchor="ctr"/>
          <a:lstStyle/>
          <a:p>
            <a:pPr marL="0" indent="0">
              <a:buNone/>
            </a:pPr>
            <a:r>
              <a:rPr lang="en-US" sz="1500" b="1" dirty="0">
                <a:solidFill>
                  <a:srgbClr val="141A2E"/>
                </a:solidFill>
                <a:latin typeface="Cambria" pitchFamily="34" charset="0"/>
                <a:ea typeface="Cambria" pitchFamily="34" charset="-122"/>
                <a:cs typeface="Cambria" pitchFamily="34" charset="-120"/>
              </a:rPr>
              <a:t>The number</a:t>
            </a:r>
            <a:endParaRPr lang="en-US" sz="1500" dirty="0"/>
          </a:p>
        </p:txBody>
      </p:sp>
      <p:sp>
        <p:nvSpPr>
          <p:cNvPr id="14" name="Text 12"/>
          <p:cNvSpPr txBox="1"/>
          <p:nvPr/>
        </p:nvSpPr>
        <p:spPr>
          <a:xfrm>
            <a:off x="6446520" y="2203704"/>
            <a:ext cx="4928616" cy="1453896"/>
          </a:xfrm>
          <a:prstGeom prst="rect">
            <a:avLst/>
          </a:prstGeom>
          <a:noFill/>
          <a:ln/>
        </p:spPr>
        <p:txBody>
          <a:bodyPr wrap="square" lIns="0" tIns="0" rIns="0" bIns="0" rtlCol="0" anchor="t"/>
          <a:lstStyle/>
          <a:p>
            <a:pPr marL="0" indent="0">
              <a:lnSpc>
                <a:spcPct val="108000"/>
              </a:lnSpc>
              <a:buNone/>
            </a:pPr>
            <a:r>
              <a:rPr lang="en-US" sz="1260" dirty="0">
                <a:solidFill>
                  <a:srgbClr val="262C44"/>
                </a:solidFill>
                <a:latin typeface="Calibri" pitchFamily="34" charset="0"/>
                <a:ea typeface="Calibri" pitchFamily="34" charset="-122"/>
                <a:cs typeface="Calibri" pitchFamily="34" charset="-120"/>
              </a:rPr>
              <a:t>The rank correlation coefficient between change in entropy and change in loss is 0.22.</a:t>
            </a:r>
            <a:endParaRPr lang="en-US" sz="1260" dirty="0"/>
          </a:p>
          <a:p>
            <a:pPr marL="0" indent="0">
              <a:lnSpc>
                <a:spcPct val="108000"/>
              </a:lnSpc>
              <a:buNone/>
            </a:pPr>
            <a:endParaRPr lang="en-US" sz="1260" dirty="0"/>
          </a:p>
          <a:p>
            <a:pPr marL="0" indent="0">
              <a:lnSpc>
                <a:spcPct val="108000"/>
              </a:lnSpc>
              <a:buNone/>
            </a:pPr>
            <a:r>
              <a:rPr lang="en-US" sz="1260" dirty="0">
                <a:solidFill>
                  <a:srgbClr val="262C44"/>
                </a:solidFill>
                <a:latin typeface="Calibri" pitchFamily="34" charset="0"/>
                <a:ea typeface="Calibri" pitchFamily="34" charset="-122"/>
                <a:cs typeface="Calibri" pitchFamily="34" charset="-120"/>
              </a:rPr>
              <a:t>The paper reports this in a figure caption, alongside 'note the dark diagonal', and does not comment on its magnitude.</a:t>
            </a:r>
            <a:endParaRPr lang="en-US" sz="1260" dirty="0"/>
          </a:p>
          <a:p>
            <a:pPr marL="0" indent="0">
              <a:lnSpc>
                <a:spcPct val="108000"/>
              </a:lnSpc>
              <a:buNone/>
            </a:pPr>
            <a:endParaRPr lang="en-US" sz="1260" dirty="0"/>
          </a:p>
          <a:p>
            <a:pPr marL="0" indent="0">
              <a:lnSpc>
                <a:spcPct val="108000"/>
              </a:lnSpc>
              <a:buNone/>
            </a:pPr>
            <a:r>
              <a:rPr lang="en-US" sz="1260" dirty="0">
                <a:solidFill>
                  <a:srgbClr val="262C44"/>
                </a:solidFill>
                <a:latin typeface="Calibri" pitchFamily="34" charset="0"/>
                <a:ea typeface="Calibri" pitchFamily="34" charset="-122"/>
                <a:cs typeface="Calibri" pitchFamily="34" charset="-120"/>
              </a:rPr>
              <a:t>The caption also notes a case where Tent decreases entropy but increases loss.</a:t>
            </a:r>
            <a:endParaRPr lang="en-US" sz="1260" dirty="0"/>
          </a:p>
        </p:txBody>
      </p:sp>
      <p:sp>
        <p:nvSpPr>
          <p:cNvPr id="15" name="Shape 13"/>
          <p:cNvSpPr/>
          <p:nvPr/>
        </p:nvSpPr>
        <p:spPr>
          <a:xfrm>
            <a:off x="566928" y="4041648"/>
            <a:ext cx="11064240" cy="2011680"/>
          </a:xfrm>
          <a:prstGeom prst="roundRect">
            <a:avLst>
              <a:gd name="adj" fmla="val 2727"/>
            </a:avLst>
          </a:prstGeom>
          <a:solidFill>
            <a:srgbClr val="1C2440"/>
          </a:solidFill>
          <a:ln w="12700">
            <a:solidFill>
              <a:srgbClr val="1C2440"/>
            </a:solidFill>
            <a:prstDash val="solid"/>
          </a:ln>
        </p:spPr>
        <p:txBody>
          <a:bodyPr/>
          <a:lstStyle/>
          <a:p>
            <a:endParaRPr lang="en-US"/>
          </a:p>
        </p:txBody>
      </p:sp>
      <p:sp>
        <p:nvSpPr>
          <p:cNvPr id="16" name="Shape 14"/>
          <p:cNvSpPr/>
          <p:nvPr/>
        </p:nvSpPr>
        <p:spPr>
          <a:xfrm>
            <a:off x="786384" y="4334256"/>
            <a:ext cx="109728" cy="109728"/>
          </a:xfrm>
          <a:prstGeom prst="ellipse">
            <a:avLst/>
          </a:prstGeom>
          <a:solidFill>
            <a:srgbClr val="2FA8B8"/>
          </a:solidFill>
          <a:ln w="12700">
            <a:solidFill>
              <a:srgbClr val="333333"/>
            </a:solidFill>
            <a:prstDash val="solid"/>
          </a:ln>
        </p:spPr>
        <p:txBody>
          <a:bodyPr/>
          <a:lstStyle/>
          <a:p>
            <a:endParaRPr lang="en-US"/>
          </a:p>
        </p:txBody>
      </p:sp>
      <p:sp>
        <p:nvSpPr>
          <p:cNvPr id="17" name="Text 15"/>
          <p:cNvSpPr txBox="1"/>
          <p:nvPr/>
        </p:nvSpPr>
        <p:spPr>
          <a:xfrm>
            <a:off x="987552" y="4206240"/>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How to read that</a:t>
            </a:r>
            <a:endParaRPr lang="en-US" sz="1500" dirty="0"/>
          </a:p>
        </p:txBody>
      </p:sp>
      <p:sp>
        <p:nvSpPr>
          <p:cNvPr id="18" name="Text 16"/>
          <p:cNvSpPr txBox="1"/>
          <p:nvPr/>
        </p:nvSpPr>
        <p:spPr>
          <a:xfrm>
            <a:off x="822960" y="4645152"/>
            <a:ext cx="10552176" cy="1225296"/>
          </a:xfrm>
          <a:prstGeom prst="rect">
            <a:avLst/>
          </a:prstGeom>
          <a:noFill/>
          <a:ln/>
        </p:spPr>
        <p:txBody>
          <a:bodyPr wrap="square" lIns="0" tIns="0" rIns="0" bIns="0" rtlCol="0" anchor="t"/>
          <a:lstStyle/>
          <a:p>
            <a:pPr marL="0" indent="0">
              <a:lnSpc>
                <a:spcPct val="108000"/>
              </a:lnSpc>
              <a:buNone/>
            </a:pPr>
            <a:r>
              <a:rPr lang="en-US" sz="1300" dirty="0">
                <a:solidFill>
                  <a:srgbClr val="C5CBE0"/>
                </a:solidFill>
                <a:latin typeface="Calibri" pitchFamily="34" charset="0"/>
                <a:ea typeface="Calibri" pitchFamily="34" charset="-122"/>
                <a:cs typeface="Calibri" pitchFamily="34" charset="-120"/>
              </a:rPr>
              <a:t>A rank correlation of 0.22 is a weak positive relationship. It is consistent with the premise — reducing entropy usually reduces error — and it is a long way from the premise being reliable.</a:t>
            </a:r>
            <a:endParaRPr lang="en-US" sz="1300" dirty="0"/>
          </a:p>
          <a:p>
            <a:pPr marL="0" indent="0">
              <a:lnSpc>
                <a:spcPct val="108000"/>
              </a:lnSpc>
              <a:buNone/>
            </a:pPr>
            <a:endParaRPr lang="en-US" sz="1300" dirty="0"/>
          </a:p>
          <a:p>
            <a:pPr marL="0" indent="0">
              <a:lnSpc>
                <a:spcPct val="108000"/>
              </a:lnSpc>
              <a:buNone/>
            </a:pPr>
            <a:r>
              <a:rPr lang="en-US" sz="1300" dirty="0">
                <a:solidFill>
                  <a:srgbClr val="C5CBE0"/>
                </a:solidFill>
                <a:latin typeface="Calibri" pitchFamily="34" charset="0"/>
                <a:ea typeface="Calibri" pitchFamily="34" charset="-122"/>
                <a:cs typeface="Calibri" pitchFamily="34" charset="-120"/>
              </a:rPr>
              <a:t>That is the honest version of the paper's thesis: entropy is a usable proxy for error, not a faithful one. Everything downstream, including the failure case two slides from now, follows from that gap.</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75488"/>
            <a:ext cx="384048" cy="274320"/>
          </a:xfrm>
          <a:prstGeom prst="triangle">
            <a:avLst/>
          </a:prstGeom>
          <a:solidFill>
            <a:srgbClr val="3B4A7A"/>
          </a:solidFill>
          <a:ln w="12700">
            <a:solidFill>
              <a:srgbClr val="333333"/>
            </a:solidFill>
            <a:prstDash val="solid"/>
          </a:ln>
        </p:spPr>
        <p:txBody>
          <a:bodyPr/>
          <a:lstStyle/>
          <a:p>
            <a:endParaRPr lang="en-US"/>
          </a:p>
        </p:txBody>
      </p:sp>
      <p:sp>
        <p:nvSpPr>
          <p:cNvPr id="3" name="Shape 1"/>
          <p:cNvSpPr/>
          <p:nvPr/>
        </p:nvSpPr>
        <p:spPr>
          <a:xfrm>
            <a:off x="11256264" y="585216"/>
            <a:ext cx="109728" cy="164592"/>
          </a:xfrm>
          <a:prstGeom prst="triangle">
            <a:avLst/>
          </a:prstGeom>
          <a:solidFill>
            <a:srgbClr val="2FA8B8"/>
          </a:solidFill>
          <a:ln w="12700">
            <a:solidFill>
              <a:srgbClr val="333333"/>
            </a:solidFill>
            <a:prstDash val="solid"/>
          </a:ln>
        </p:spPr>
        <p:txBody>
          <a:bodyPr/>
          <a:lstStyle/>
          <a:p>
            <a:endParaRPr lang="en-US"/>
          </a:p>
        </p:txBody>
      </p:sp>
      <p:sp>
        <p:nvSpPr>
          <p:cNvPr id="4" name="Text 2"/>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41A2E"/>
                </a:solidFill>
                <a:latin typeface="Cambria" pitchFamily="34" charset="0"/>
                <a:ea typeface="Cambria" pitchFamily="34" charset="-122"/>
                <a:cs typeface="Cambria" pitchFamily="34" charset="-120"/>
              </a:rPr>
              <a:t>Which parameters, tested</a:t>
            </a:r>
            <a:endParaRPr lang="en-US" sz="2900" dirty="0"/>
          </a:p>
        </p:txBody>
      </p:sp>
      <p:sp>
        <p:nvSpPr>
          <p:cNvPr id="5" name="Text 3"/>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A6180"/>
                </a:solidFill>
                <a:latin typeface="Calibri" pitchFamily="34" charset="0"/>
                <a:ea typeface="Calibri" pitchFamily="34" charset="-122"/>
                <a:cs typeface="Calibri" pitchFamily="34" charset="-120"/>
              </a:rPr>
              <a:t>The ablation that justifies the design</a:t>
            </a:r>
            <a:endParaRPr lang="en-US" sz="1350" dirty="0"/>
          </a:p>
        </p:txBody>
      </p:sp>
      <p:sp>
        <p:nvSpPr>
          <p:cNvPr id="6" name="Text 4"/>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9BA3BE"/>
                </a:solidFill>
                <a:latin typeface="Calibri" pitchFamily="34" charset="0"/>
                <a:ea typeface="Calibri" pitchFamily="34" charset="-122"/>
                <a:cs typeface="Calibri" pitchFamily="34" charset="-120"/>
              </a:rPr>
              <a:t>Tent · Wang et al. 2021  |  19</a:t>
            </a:r>
            <a:endParaRPr lang="en-US" sz="900" dirty="0"/>
          </a:p>
        </p:txBody>
      </p:sp>
      <p:sp>
        <p:nvSpPr>
          <p:cNvPr id="7" name="Shape 5"/>
          <p:cNvSpPr/>
          <p:nvPr/>
        </p:nvSpPr>
        <p:spPr>
          <a:xfrm>
            <a:off x="566928" y="1554480"/>
            <a:ext cx="11064240" cy="859536"/>
          </a:xfrm>
          <a:prstGeom prst="roundRect">
            <a:avLst>
              <a:gd name="adj" fmla="val 3191"/>
            </a:avLst>
          </a:prstGeom>
          <a:solidFill>
            <a:srgbClr val="F1F2F7"/>
          </a:solidFill>
          <a:ln w="12700">
            <a:solidFill>
              <a:srgbClr val="E8EBF2"/>
            </a:solidFill>
            <a:prstDash val="solid"/>
          </a:ln>
        </p:spPr>
        <p:txBody>
          <a:bodyPr/>
          <a:lstStyle/>
          <a:p>
            <a:endParaRPr lang="en-US"/>
          </a:p>
        </p:txBody>
      </p:sp>
      <p:sp>
        <p:nvSpPr>
          <p:cNvPr id="8" name="Shape 6"/>
          <p:cNvSpPr/>
          <p:nvPr/>
        </p:nvSpPr>
        <p:spPr>
          <a:xfrm>
            <a:off x="786384" y="1924812"/>
            <a:ext cx="118872" cy="118872"/>
          </a:xfrm>
          <a:prstGeom prst="ellipse">
            <a:avLst/>
          </a:prstGeom>
          <a:solidFill>
            <a:srgbClr val="3B4A7A"/>
          </a:solidFill>
          <a:ln w="12700">
            <a:solidFill>
              <a:srgbClr val="333333"/>
            </a:solidFill>
            <a:prstDash val="solid"/>
          </a:ln>
        </p:spPr>
        <p:txBody>
          <a:bodyPr/>
          <a:lstStyle/>
          <a:p>
            <a:endParaRPr lang="en-US"/>
          </a:p>
        </p:txBody>
      </p:sp>
      <p:sp>
        <p:nvSpPr>
          <p:cNvPr id="9" name="Text 7"/>
          <p:cNvSpPr txBox="1"/>
          <p:nvPr/>
        </p:nvSpPr>
        <p:spPr>
          <a:xfrm>
            <a:off x="1024128" y="1645920"/>
            <a:ext cx="3200400" cy="676656"/>
          </a:xfrm>
          <a:prstGeom prst="rect">
            <a:avLst/>
          </a:prstGeom>
          <a:noFill/>
          <a:ln/>
        </p:spPr>
        <p:txBody>
          <a:bodyPr wrap="square" lIns="0" tIns="0" rIns="0" bIns="0" rtlCol="0" anchor="ctr"/>
          <a:lstStyle/>
          <a:p>
            <a:pPr marL="0" indent="0">
              <a:buNone/>
            </a:pPr>
            <a:r>
              <a:rPr lang="en-US" sz="1300" b="1" dirty="0">
                <a:solidFill>
                  <a:srgbClr val="141A2E"/>
                </a:solidFill>
                <a:latin typeface="Cambria" pitchFamily="34" charset="0"/>
                <a:ea typeface="Cambria" pitchFamily="34" charset="-122"/>
                <a:cs typeface="Cambria" pitchFamily="34" charset="-120"/>
              </a:rPr>
              <a:t>Not updating normalisation</a:t>
            </a:r>
            <a:endParaRPr lang="en-US" sz="1300" dirty="0"/>
          </a:p>
        </p:txBody>
      </p:sp>
      <p:sp>
        <p:nvSpPr>
          <p:cNvPr id="10" name="Text 8"/>
          <p:cNvSpPr txBox="1"/>
          <p:nvPr/>
        </p:nvSpPr>
        <p:spPr>
          <a:xfrm>
            <a:off x="4407408" y="1627632"/>
            <a:ext cx="7040880" cy="713232"/>
          </a:xfrm>
          <a:prstGeom prst="rect">
            <a:avLst/>
          </a:prstGeom>
          <a:noFill/>
          <a:ln/>
        </p:spPr>
        <p:txBody>
          <a:bodyPr wrap="square" lIns="0" tIns="0" rIns="0" bIns="0" rtlCol="0" anchor="ctr"/>
          <a:lstStyle/>
          <a:p>
            <a:pPr marL="0" indent="0">
              <a:buNone/>
            </a:pPr>
            <a:r>
              <a:rPr lang="en-US" sz="1200" dirty="0">
                <a:solidFill>
                  <a:srgbClr val="262C44"/>
                </a:solidFill>
                <a:latin typeface="Calibri" pitchFamily="34" charset="0"/>
                <a:ea typeface="Calibri" pitchFamily="34" charset="-122"/>
                <a:cs typeface="Calibri" pitchFamily="34" charset="-120"/>
              </a:rPr>
              <a:t>Errors increase, and the method can fail to improve over test-time normalisation or pseudo-labelling. The statistics estimation is doing real work.</a:t>
            </a:r>
            <a:endParaRPr lang="en-US" sz="1200" dirty="0"/>
          </a:p>
        </p:txBody>
      </p:sp>
      <p:sp>
        <p:nvSpPr>
          <p:cNvPr id="11" name="Shape 9"/>
          <p:cNvSpPr/>
          <p:nvPr/>
        </p:nvSpPr>
        <p:spPr>
          <a:xfrm>
            <a:off x="566928" y="2468880"/>
            <a:ext cx="11064240" cy="859536"/>
          </a:xfrm>
          <a:prstGeom prst="roundRect">
            <a:avLst>
              <a:gd name="adj" fmla="val 3191"/>
            </a:avLst>
          </a:prstGeom>
          <a:solidFill>
            <a:srgbClr val="FFFFFF"/>
          </a:solidFill>
          <a:ln w="12700">
            <a:solidFill>
              <a:srgbClr val="E8EBF2"/>
            </a:solidFill>
            <a:prstDash val="solid"/>
          </a:ln>
        </p:spPr>
        <p:txBody>
          <a:bodyPr/>
          <a:lstStyle/>
          <a:p>
            <a:endParaRPr lang="en-US"/>
          </a:p>
        </p:txBody>
      </p:sp>
      <p:sp>
        <p:nvSpPr>
          <p:cNvPr id="12" name="Shape 10"/>
          <p:cNvSpPr/>
          <p:nvPr/>
        </p:nvSpPr>
        <p:spPr>
          <a:xfrm>
            <a:off x="786384" y="2839212"/>
            <a:ext cx="118872" cy="118872"/>
          </a:xfrm>
          <a:prstGeom prst="ellipse">
            <a:avLst/>
          </a:prstGeom>
          <a:solidFill>
            <a:srgbClr val="3B4A7A"/>
          </a:solidFill>
          <a:ln w="12700">
            <a:solidFill>
              <a:srgbClr val="333333"/>
            </a:solidFill>
            <a:prstDash val="solid"/>
          </a:ln>
        </p:spPr>
        <p:txBody>
          <a:bodyPr/>
          <a:lstStyle/>
          <a:p>
            <a:endParaRPr lang="en-US"/>
          </a:p>
        </p:txBody>
      </p:sp>
      <p:sp>
        <p:nvSpPr>
          <p:cNvPr id="13" name="Text 11"/>
          <p:cNvSpPr txBox="1"/>
          <p:nvPr/>
        </p:nvSpPr>
        <p:spPr>
          <a:xfrm>
            <a:off x="1024128" y="2560320"/>
            <a:ext cx="3200400" cy="676656"/>
          </a:xfrm>
          <a:prstGeom prst="rect">
            <a:avLst/>
          </a:prstGeom>
          <a:noFill/>
          <a:ln/>
        </p:spPr>
        <p:txBody>
          <a:bodyPr wrap="square" lIns="0" tIns="0" rIns="0" bIns="0" rtlCol="0" anchor="ctr"/>
          <a:lstStyle/>
          <a:p>
            <a:pPr marL="0" indent="0">
              <a:buNone/>
            </a:pPr>
            <a:r>
              <a:rPr lang="en-US" sz="1300" b="1" dirty="0">
                <a:solidFill>
                  <a:srgbClr val="141A2E"/>
                </a:solidFill>
                <a:latin typeface="Cambria" pitchFamily="34" charset="0"/>
                <a:ea typeface="Cambria" pitchFamily="34" charset="-122"/>
                <a:cs typeface="Cambria" pitchFamily="34" charset="-120"/>
              </a:rPr>
              <a:t>Not updating transformation</a:t>
            </a:r>
            <a:endParaRPr lang="en-US" sz="1300" dirty="0"/>
          </a:p>
        </p:txBody>
      </p:sp>
      <p:sp>
        <p:nvSpPr>
          <p:cNvPr id="14" name="Text 12"/>
          <p:cNvSpPr txBox="1"/>
          <p:nvPr/>
        </p:nvSpPr>
        <p:spPr>
          <a:xfrm>
            <a:off x="4407408" y="2542032"/>
            <a:ext cx="7040880" cy="713232"/>
          </a:xfrm>
          <a:prstGeom prst="rect">
            <a:avLst/>
          </a:prstGeom>
          <a:noFill/>
          <a:ln/>
        </p:spPr>
        <p:txBody>
          <a:bodyPr wrap="square" lIns="0" tIns="0" rIns="0" bIns="0" rtlCol="0" anchor="ctr"/>
          <a:lstStyle/>
          <a:p>
            <a:pPr marL="0" indent="0">
              <a:buNone/>
            </a:pPr>
            <a:r>
              <a:rPr lang="en-US" sz="1200" dirty="0">
                <a:solidFill>
                  <a:srgbClr val="262C44"/>
                </a:solidFill>
                <a:latin typeface="Calibri" pitchFamily="34" charset="0"/>
                <a:ea typeface="Calibri" pitchFamily="34" charset="-122"/>
                <a:cs typeface="Calibri" pitchFamily="34" charset="-120"/>
              </a:rPr>
              <a:t>Reduces the method to test-time normalisation — a strong baseline, but 5.9 points worse on ImageNet-C.</a:t>
            </a:r>
            <a:endParaRPr lang="en-US" sz="1200" dirty="0"/>
          </a:p>
        </p:txBody>
      </p:sp>
      <p:sp>
        <p:nvSpPr>
          <p:cNvPr id="15" name="Shape 13"/>
          <p:cNvSpPr/>
          <p:nvPr/>
        </p:nvSpPr>
        <p:spPr>
          <a:xfrm>
            <a:off x="566928" y="3383280"/>
            <a:ext cx="11064240" cy="859536"/>
          </a:xfrm>
          <a:prstGeom prst="roundRect">
            <a:avLst>
              <a:gd name="adj" fmla="val 3191"/>
            </a:avLst>
          </a:prstGeom>
          <a:solidFill>
            <a:srgbClr val="F1F2F7"/>
          </a:solidFill>
          <a:ln w="12700">
            <a:solidFill>
              <a:srgbClr val="E8EBF2"/>
            </a:solidFill>
            <a:prstDash val="solid"/>
          </a:ln>
        </p:spPr>
        <p:txBody>
          <a:bodyPr/>
          <a:lstStyle/>
          <a:p>
            <a:endParaRPr lang="en-US"/>
          </a:p>
        </p:txBody>
      </p:sp>
      <p:sp>
        <p:nvSpPr>
          <p:cNvPr id="16" name="Shape 14"/>
          <p:cNvSpPr/>
          <p:nvPr/>
        </p:nvSpPr>
        <p:spPr>
          <a:xfrm>
            <a:off x="786384" y="3753612"/>
            <a:ext cx="118872" cy="118872"/>
          </a:xfrm>
          <a:prstGeom prst="ellipse">
            <a:avLst/>
          </a:prstGeom>
          <a:solidFill>
            <a:srgbClr val="3B4A7A"/>
          </a:solidFill>
          <a:ln w="12700">
            <a:solidFill>
              <a:srgbClr val="333333"/>
            </a:solidFill>
            <a:prstDash val="solid"/>
          </a:ln>
        </p:spPr>
        <p:txBody>
          <a:bodyPr/>
          <a:lstStyle/>
          <a:p>
            <a:endParaRPr lang="en-US"/>
          </a:p>
        </p:txBody>
      </p:sp>
      <p:sp>
        <p:nvSpPr>
          <p:cNvPr id="17" name="Text 15"/>
          <p:cNvSpPr txBox="1"/>
          <p:nvPr/>
        </p:nvSpPr>
        <p:spPr>
          <a:xfrm>
            <a:off x="1024128" y="3474720"/>
            <a:ext cx="3200400" cy="676656"/>
          </a:xfrm>
          <a:prstGeom prst="rect">
            <a:avLst/>
          </a:prstGeom>
          <a:noFill/>
          <a:ln/>
        </p:spPr>
        <p:txBody>
          <a:bodyPr wrap="square" lIns="0" tIns="0" rIns="0" bIns="0" rtlCol="0" anchor="ctr"/>
          <a:lstStyle/>
          <a:p>
            <a:pPr marL="0" indent="0">
              <a:buNone/>
            </a:pPr>
            <a:r>
              <a:rPr lang="en-US" sz="1300" b="1" dirty="0">
                <a:solidFill>
                  <a:srgbClr val="141A2E"/>
                </a:solidFill>
                <a:latin typeface="Cambria" pitchFamily="34" charset="0"/>
                <a:ea typeface="Cambria" pitchFamily="34" charset="-122"/>
                <a:cs typeface="Cambria" pitchFamily="34" charset="-120"/>
              </a:rPr>
              <a:t>Updating only the last layer</a:t>
            </a:r>
            <a:endParaRPr lang="en-US" sz="1300" dirty="0"/>
          </a:p>
        </p:txBody>
      </p:sp>
      <p:sp>
        <p:nvSpPr>
          <p:cNvPr id="18" name="Text 16"/>
          <p:cNvSpPr txBox="1"/>
          <p:nvPr/>
        </p:nvSpPr>
        <p:spPr>
          <a:xfrm>
            <a:off x="4407408" y="3456432"/>
            <a:ext cx="7040880" cy="713232"/>
          </a:xfrm>
          <a:prstGeom prst="rect">
            <a:avLst/>
          </a:prstGeom>
          <a:noFill/>
          <a:ln/>
        </p:spPr>
        <p:txBody>
          <a:bodyPr wrap="square" lIns="0" tIns="0" rIns="0" bIns="0" rtlCol="0" anchor="ctr"/>
          <a:lstStyle/>
          <a:p>
            <a:pPr marL="0" indent="0">
              <a:buNone/>
            </a:pPr>
            <a:r>
              <a:rPr lang="en-US" sz="1200" dirty="0">
                <a:solidFill>
                  <a:srgbClr val="262C44"/>
                </a:solidFill>
                <a:latin typeface="Calibri" pitchFamily="34" charset="0"/>
                <a:ea typeface="Calibri" pitchFamily="34" charset="-122"/>
                <a:cs typeface="Calibri" pitchFamily="34" charset="-120"/>
              </a:rPr>
              <a:t>Can improve, but then degrades with further optimisation. Capacity in the wrong place is unstable.</a:t>
            </a:r>
            <a:endParaRPr lang="en-US" sz="1200" dirty="0"/>
          </a:p>
        </p:txBody>
      </p:sp>
      <p:sp>
        <p:nvSpPr>
          <p:cNvPr id="19" name="Shape 17"/>
          <p:cNvSpPr/>
          <p:nvPr/>
        </p:nvSpPr>
        <p:spPr>
          <a:xfrm>
            <a:off x="566928" y="4297680"/>
            <a:ext cx="11064240" cy="859536"/>
          </a:xfrm>
          <a:prstGeom prst="roundRect">
            <a:avLst>
              <a:gd name="adj" fmla="val 3191"/>
            </a:avLst>
          </a:prstGeom>
          <a:solidFill>
            <a:srgbClr val="FFFFFF"/>
          </a:solidFill>
          <a:ln w="12700">
            <a:solidFill>
              <a:srgbClr val="E8EBF2"/>
            </a:solidFill>
            <a:prstDash val="solid"/>
          </a:ln>
        </p:spPr>
        <p:txBody>
          <a:bodyPr/>
          <a:lstStyle/>
          <a:p>
            <a:endParaRPr lang="en-US"/>
          </a:p>
        </p:txBody>
      </p:sp>
      <p:sp>
        <p:nvSpPr>
          <p:cNvPr id="20" name="Shape 18"/>
          <p:cNvSpPr/>
          <p:nvPr/>
        </p:nvSpPr>
        <p:spPr>
          <a:xfrm>
            <a:off x="786384" y="4668012"/>
            <a:ext cx="118872" cy="118872"/>
          </a:xfrm>
          <a:prstGeom prst="ellipse">
            <a:avLst/>
          </a:prstGeom>
          <a:solidFill>
            <a:srgbClr val="3B4A7A"/>
          </a:solidFill>
          <a:ln w="12700">
            <a:solidFill>
              <a:srgbClr val="333333"/>
            </a:solidFill>
            <a:prstDash val="solid"/>
          </a:ln>
        </p:spPr>
        <p:txBody>
          <a:bodyPr/>
          <a:lstStyle/>
          <a:p>
            <a:endParaRPr lang="en-US"/>
          </a:p>
        </p:txBody>
      </p:sp>
      <p:sp>
        <p:nvSpPr>
          <p:cNvPr id="21" name="Text 19"/>
          <p:cNvSpPr txBox="1"/>
          <p:nvPr/>
        </p:nvSpPr>
        <p:spPr>
          <a:xfrm>
            <a:off x="1024128" y="4389120"/>
            <a:ext cx="3200400" cy="676656"/>
          </a:xfrm>
          <a:prstGeom prst="rect">
            <a:avLst/>
          </a:prstGeom>
          <a:noFill/>
          <a:ln/>
        </p:spPr>
        <p:txBody>
          <a:bodyPr wrap="square" lIns="0" tIns="0" rIns="0" bIns="0" rtlCol="0" anchor="ctr"/>
          <a:lstStyle/>
          <a:p>
            <a:pPr marL="0" indent="0">
              <a:buNone/>
            </a:pPr>
            <a:r>
              <a:rPr lang="en-US" sz="1300" b="1" dirty="0">
                <a:solidFill>
                  <a:srgbClr val="141A2E"/>
                </a:solidFill>
                <a:latin typeface="Cambria" pitchFamily="34" charset="0"/>
                <a:ea typeface="Cambria" pitchFamily="34" charset="-122"/>
                <a:cs typeface="Cambria" pitchFamily="34" charset="-120"/>
              </a:rPr>
              <a:t>Updating the full model θ</a:t>
            </a:r>
            <a:endParaRPr lang="en-US" sz="1300" dirty="0"/>
          </a:p>
        </p:txBody>
      </p:sp>
      <p:sp>
        <p:nvSpPr>
          <p:cNvPr id="22" name="Text 20"/>
          <p:cNvSpPr txBox="1"/>
          <p:nvPr/>
        </p:nvSpPr>
        <p:spPr>
          <a:xfrm>
            <a:off x="4407408" y="4370832"/>
            <a:ext cx="7040880" cy="713232"/>
          </a:xfrm>
          <a:prstGeom prst="rect">
            <a:avLst/>
          </a:prstGeom>
          <a:noFill/>
          <a:ln/>
        </p:spPr>
        <p:txBody>
          <a:bodyPr wrap="square" lIns="0" tIns="0" rIns="0" bIns="0" rtlCol="0" anchor="ctr"/>
          <a:lstStyle/>
          <a:p>
            <a:pPr marL="0" indent="0">
              <a:buNone/>
            </a:pPr>
            <a:r>
              <a:rPr lang="en-US" sz="1200" dirty="0">
                <a:solidFill>
                  <a:srgbClr val="262C44"/>
                </a:solidFill>
                <a:latin typeface="Calibri" pitchFamily="34" charset="0"/>
                <a:ea typeface="Calibri" pitchFamily="34" charset="-122"/>
                <a:cs typeface="Calibri" pitchFamily="34" charset="-120"/>
              </a:rPr>
              <a:t>Never improves over the unadapted source model. The paper's sharpest negative result, and the justification for restricting to modulation.</a:t>
            </a:r>
            <a:endParaRPr lang="en-US" sz="1200" dirty="0"/>
          </a:p>
        </p:txBody>
      </p:sp>
      <p:sp>
        <p:nvSpPr>
          <p:cNvPr id="23" name="Shape 21"/>
          <p:cNvSpPr/>
          <p:nvPr/>
        </p:nvSpPr>
        <p:spPr>
          <a:xfrm>
            <a:off x="566928" y="5212080"/>
            <a:ext cx="11064240" cy="859536"/>
          </a:xfrm>
          <a:prstGeom prst="roundRect">
            <a:avLst>
              <a:gd name="adj" fmla="val 3191"/>
            </a:avLst>
          </a:prstGeom>
          <a:solidFill>
            <a:srgbClr val="F1F2F7"/>
          </a:solidFill>
          <a:ln w="12700">
            <a:solidFill>
              <a:srgbClr val="E8EBF2"/>
            </a:solidFill>
            <a:prstDash val="solid"/>
          </a:ln>
        </p:spPr>
        <p:txBody>
          <a:bodyPr/>
          <a:lstStyle/>
          <a:p>
            <a:endParaRPr lang="en-US"/>
          </a:p>
        </p:txBody>
      </p:sp>
      <p:sp>
        <p:nvSpPr>
          <p:cNvPr id="24" name="Shape 22"/>
          <p:cNvSpPr/>
          <p:nvPr/>
        </p:nvSpPr>
        <p:spPr>
          <a:xfrm>
            <a:off x="786384" y="5582412"/>
            <a:ext cx="118872" cy="118872"/>
          </a:xfrm>
          <a:prstGeom prst="ellipse">
            <a:avLst/>
          </a:prstGeom>
          <a:solidFill>
            <a:srgbClr val="3B4A7A"/>
          </a:solidFill>
          <a:ln w="12700">
            <a:solidFill>
              <a:srgbClr val="333333"/>
            </a:solidFill>
            <a:prstDash val="solid"/>
          </a:ln>
        </p:spPr>
        <p:txBody>
          <a:bodyPr/>
          <a:lstStyle/>
          <a:p>
            <a:endParaRPr lang="en-US"/>
          </a:p>
        </p:txBody>
      </p:sp>
      <p:sp>
        <p:nvSpPr>
          <p:cNvPr id="25" name="Text 23"/>
          <p:cNvSpPr txBox="1"/>
          <p:nvPr/>
        </p:nvSpPr>
        <p:spPr>
          <a:xfrm>
            <a:off x="1024128" y="5303520"/>
            <a:ext cx="3200400" cy="676656"/>
          </a:xfrm>
          <a:prstGeom prst="rect">
            <a:avLst/>
          </a:prstGeom>
          <a:noFill/>
          <a:ln/>
        </p:spPr>
        <p:txBody>
          <a:bodyPr wrap="square" lIns="0" tIns="0" rIns="0" bIns="0" rtlCol="0" anchor="ctr"/>
          <a:lstStyle/>
          <a:p>
            <a:pPr marL="0" indent="0">
              <a:buNone/>
            </a:pPr>
            <a:r>
              <a:rPr lang="en-US" sz="1300" b="1" dirty="0">
                <a:solidFill>
                  <a:srgbClr val="141A2E"/>
                </a:solidFill>
                <a:latin typeface="Cambria" pitchFamily="34" charset="0"/>
                <a:ea typeface="Cambria" pitchFamily="34" charset="-122"/>
                <a:cs typeface="Cambria" pitchFamily="34" charset="-120"/>
              </a:rPr>
              <a:t>Generalisation across points</a:t>
            </a:r>
            <a:endParaRPr lang="en-US" sz="1300" dirty="0"/>
          </a:p>
        </p:txBody>
      </p:sp>
      <p:sp>
        <p:nvSpPr>
          <p:cNvPr id="26" name="Text 24"/>
          <p:cNvSpPr txBox="1"/>
          <p:nvPr/>
        </p:nvSpPr>
        <p:spPr>
          <a:xfrm>
            <a:off x="4407408" y="5285232"/>
            <a:ext cx="7040880" cy="713232"/>
          </a:xfrm>
          <a:prstGeom prst="rect">
            <a:avLst/>
          </a:prstGeom>
          <a:noFill/>
          <a:ln/>
        </p:spPr>
        <p:txBody>
          <a:bodyPr wrap="square" lIns="0" tIns="0" rIns="0" bIns="0" rtlCol="0" anchor="ctr"/>
          <a:lstStyle/>
          <a:p>
            <a:pPr marL="0" indent="0">
              <a:buNone/>
            </a:pPr>
            <a:r>
              <a:rPr lang="en-US" sz="1200" dirty="0">
                <a:solidFill>
                  <a:srgbClr val="262C44"/>
                </a:solidFill>
                <a:latin typeface="Calibri" pitchFamily="34" charset="0"/>
                <a:ea typeface="Calibri" pitchFamily="34" charset="-122"/>
                <a:cs typeface="Calibri" pitchFamily="34" charset="-120"/>
              </a:rPr>
              <a:t>Adapting on target train and evaluating on target test still helps — CIFAR-100-C goes from 37.3 to 34.2. So what is learned is not point-specific.</a:t>
            </a:r>
            <a:endParaRPr lang="en-US" sz="1200" dirty="0"/>
          </a:p>
        </p:txBody>
      </p:sp>
      <p:sp>
        <p:nvSpPr>
          <p:cNvPr id="27" name="Shape 25"/>
          <p:cNvSpPr/>
          <p:nvPr/>
        </p:nvSpPr>
        <p:spPr>
          <a:xfrm>
            <a:off x="566928" y="6144768"/>
            <a:ext cx="11064240" cy="18288"/>
          </a:xfrm>
          <a:prstGeom prst="roundRect">
            <a:avLst>
              <a:gd name="adj" fmla="val 300000"/>
            </a:avLst>
          </a:prstGeom>
          <a:solidFill>
            <a:srgbClr val="FFFFFF"/>
          </a:solidFill>
          <a:ln w="12700">
            <a:solidFill>
              <a:srgbClr val="FFFFFF"/>
            </a:solidFill>
            <a:prstDash val="solid"/>
          </a:ln>
        </p:spPr>
        <p:txBody>
          <a:bodyPr/>
          <a:lstStyle/>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75488"/>
            <a:ext cx="384048" cy="274320"/>
          </a:xfrm>
          <a:prstGeom prst="triangle">
            <a:avLst/>
          </a:prstGeom>
          <a:solidFill>
            <a:srgbClr val="3B4A7A"/>
          </a:solidFill>
          <a:ln w="12700">
            <a:solidFill>
              <a:srgbClr val="333333"/>
            </a:solidFill>
            <a:prstDash val="solid"/>
          </a:ln>
        </p:spPr>
        <p:txBody>
          <a:bodyPr/>
          <a:lstStyle/>
          <a:p>
            <a:endParaRPr lang="en-US"/>
          </a:p>
        </p:txBody>
      </p:sp>
      <p:sp>
        <p:nvSpPr>
          <p:cNvPr id="3" name="Shape 1"/>
          <p:cNvSpPr/>
          <p:nvPr/>
        </p:nvSpPr>
        <p:spPr>
          <a:xfrm>
            <a:off x="11256264" y="585216"/>
            <a:ext cx="109728" cy="164592"/>
          </a:xfrm>
          <a:prstGeom prst="triangle">
            <a:avLst/>
          </a:prstGeom>
          <a:solidFill>
            <a:srgbClr val="2FA8B8"/>
          </a:solidFill>
          <a:ln w="12700">
            <a:solidFill>
              <a:srgbClr val="333333"/>
            </a:solidFill>
            <a:prstDash val="solid"/>
          </a:ln>
        </p:spPr>
        <p:txBody>
          <a:bodyPr/>
          <a:lstStyle/>
          <a:p>
            <a:endParaRPr lang="en-US"/>
          </a:p>
        </p:txBody>
      </p:sp>
      <p:sp>
        <p:nvSpPr>
          <p:cNvPr id="4" name="Text 2"/>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41A2E"/>
                </a:solidFill>
                <a:latin typeface="Cambria" pitchFamily="34" charset="0"/>
                <a:ea typeface="Cambria" pitchFamily="34" charset="-122"/>
                <a:cs typeface="Cambria" pitchFamily="34" charset="-120"/>
              </a:rPr>
              <a:t>Where Tent fails</a:t>
            </a:r>
            <a:endParaRPr lang="en-US" sz="2900" dirty="0"/>
          </a:p>
        </p:txBody>
      </p:sp>
      <p:sp>
        <p:nvSpPr>
          <p:cNvPr id="5" name="Text 3"/>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A6180"/>
                </a:solidFill>
                <a:latin typeface="Calibri" pitchFamily="34" charset="0"/>
                <a:ea typeface="Calibri" pitchFamily="34" charset="-122"/>
                <a:cs typeface="Calibri" pitchFamily="34" charset="-120"/>
              </a:rPr>
              <a:t>Three honest limitations from the paper</a:t>
            </a:r>
            <a:endParaRPr lang="en-US" sz="1350" dirty="0"/>
          </a:p>
        </p:txBody>
      </p:sp>
      <p:sp>
        <p:nvSpPr>
          <p:cNvPr id="6" name="Text 4"/>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9BA3BE"/>
                </a:solidFill>
                <a:latin typeface="Calibri" pitchFamily="34" charset="0"/>
                <a:ea typeface="Calibri" pitchFamily="34" charset="-122"/>
                <a:cs typeface="Calibri" pitchFamily="34" charset="-120"/>
              </a:rPr>
              <a:t>Tent · Wang et al. 2021  |  20</a:t>
            </a:r>
            <a:endParaRPr lang="en-US" sz="900" dirty="0"/>
          </a:p>
        </p:txBody>
      </p:sp>
      <p:sp>
        <p:nvSpPr>
          <p:cNvPr id="7" name="Shape 5"/>
          <p:cNvSpPr/>
          <p:nvPr/>
        </p:nvSpPr>
        <p:spPr>
          <a:xfrm>
            <a:off x="566928" y="1600200"/>
            <a:ext cx="3584448" cy="2560320"/>
          </a:xfrm>
          <a:prstGeom prst="roundRect">
            <a:avLst>
              <a:gd name="adj" fmla="val 2143"/>
            </a:avLst>
          </a:prstGeom>
          <a:solidFill>
            <a:srgbClr val="F1F2F7"/>
          </a:solidFill>
          <a:ln w="12700">
            <a:solidFill>
              <a:srgbClr val="E1E4EE"/>
            </a:solidFill>
            <a:prstDash val="solid"/>
          </a:ln>
        </p:spPr>
        <p:txBody>
          <a:bodyPr/>
          <a:lstStyle/>
          <a:p>
            <a:endParaRPr lang="en-US"/>
          </a:p>
        </p:txBody>
      </p:sp>
      <p:sp>
        <p:nvSpPr>
          <p:cNvPr id="8" name="Shape 6"/>
          <p:cNvSpPr/>
          <p:nvPr/>
        </p:nvSpPr>
        <p:spPr>
          <a:xfrm>
            <a:off x="786384" y="1892808"/>
            <a:ext cx="109728" cy="109728"/>
          </a:xfrm>
          <a:prstGeom prst="ellipse">
            <a:avLst/>
          </a:prstGeom>
          <a:solidFill>
            <a:srgbClr val="3B4A7A"/>
          </a:solidFill>
          <a:ln w="12700">
            <a:solidFill>
              <a:srgbClr val="333333"/>
            </a:solidFill>
            <a:prstDash val="solid"/>
          </a:ln>
        </p:spPr>
        <p:txBody>
          <a:bodyPr/>
          <a:lstStyle/>
          <a:p>
            <a:endParaRPr lang="en-US"/>
          </a:p>
        </p:txBody>
      </p:sp>
      <p:sp>
        <p:nvSpPr>
          <p:cNvPr id="9" name="Text 7"/>
          <p:cNvSpPr txBox="1"/>
          <p:nvPr/>
        </p:nvSpPr>
        <p:spPr>
          <a:xfrm>
            <a:off x="987552" y="1764792"/>
            <a:ext cx="2944368" cy="365760"/>
          </a:xfrm>
          <a:prstGeom prst="rect">
            <a:avLst/>
          </a:prstGeom>
          <a:noFill/>
          <a:ln/>
        </p:spPr>
        <p:txBody>
          <a:bodyPr wrap="square" lIns="0" tIns="0" rIns="0" bIns="0" rtlCol="0" anchor="ctr"/>
          <a:lstStyle/>
          <a:p>
            <a:pPr marL="0" indent="0">
              <a:buNone/>
            </a:pPr>
            <a:r>
              <a:rPr lang="en-US" sz="1500" b="1" dirty="0">
                <a:solidFill>
                  <a:srgbClr val="141A2E"/>
                </a:solidFill>
                <a:latin typeface="Cambria" pitchFamily="34" charset="0"/>
                <a:ea typeface="Cambria" pitchFamily="34" charset="-122"/>
                <a:cs typeface="Cambria" pitchFamily="34" charset="-120"/>
              </a:rPr>
              <a:t>A hard shift</a:t>
            </a:r>
            <a:endParaRPr lang="en-US" sz="1500" dirty="0"/>
          </a:p>
        </p:txBody>
      </p:sp>
      <p:sp>
        <p:nvSpPr>
          <p:cNvPr id="10" name="Text 8"/>
          <p:cNvSpPr txBox="1"/>
          <p:nvPr/>
        </p:nvSpPr>
        <p:spPr>
          <a:xfrm>
            <a:off x="822960" y="2203704"/>
            <a:ext cx="3072384" cy="1773936"/>
          </a:xfrm>
          <a:prstGeom prst="rect">
            <a:avLst/>
          </a:prstGeom>
          <a:noFill/>
          <a:ln/>
        </p:spPr>
        <p:txBody>
          <a:bodyPr wrap="square" lIns="0" tIns="0" rIns="0" bIns="0" rtlCol="0" anchor="t"/>
          <a:lstStyle/>
          <a:p>
            <a:pPr marL="0" indent="0">
              <a:lnSpc>
                <a:spcPct val="108000"/>
              </a:lnSpc>
              <a:buNone/>
            </a:pPr>
            <a:r>
              <a:rPr lang="en-US" sz="1240" dirty="0">
                <a:solidFill>
                  <a:srgbClr val="262C44"/>
                </a:solidFill>
                <a:latin typeface="Calibri" pitchFamily="34" charset="0"/>
                <a:ea typeface="Calibri" pitchFamily="34" charset="-122"/>
                <a:cs typeface="Calibri" pitchFamily="34" charset="-120"/>
              </a:rPr>
              <a:t>MNIST to SVHN, with a source-only error of 71.3%.</a:t>
            </a:r>
            <a:endParaRPr lang="en-US" sz="1240" dirty="0"/>
          </a:p>
          <a:p>
            <a:pPr marL="0" indent="0">
              <a:lnSpc>
                <a:spcPct val="108000"/>
              </a:lnSpc>
              <a:buNone/>
            </a:pPr>
            <a:endParaRPr lang="en-US" sz="1240" dirty="0"/>
          </a:p>
          <a:p>
            <a:pPr marL="0" indent="0">
              <a:lnSpc>
                <a:spcPct val="108000"/>
              </a:lnSpc>
              <a:buNone/>
            </a:pPr>
            <a:r>
              <a:rPr lang="en-US" sz="1240" dirty="0">
                <a:solidFill>
                  <a:srgbClr val="262C44"/>
                </a:solidFill>
                <a:latin typeface="Calibri" pitchFamily="34" charset="0"/>
                <a:ea typeface="Calibri" pitchFamily="34" charset="-122"/>
                <a:cs typeface="Calibri" pitchFamily="34" charset="-120"/>
              </a:rPr>
              <a:t>UDA-SS reaches 38.7% and DIRT-T 45.5%.</a:t>
            </a:r>
            <a:endParaRPr lang="en-US" sz="1240" dirty="0"/>
          </a:p>
          <a:p>
            <a:pPr marL="0" indent="0">
              <a:lnSpc>
                <a:spcPct val="108000"/>
              </a:lnSpc>
              <a:buNone/>
            </a:pPr>
            <a:endParaRPr lang="en-US" sz="1240" dirty="0"/>
          </a:p>
          <a:p>
            <a:pPr marL="0" indent="0">
              <a:lnSpc>
                <a:spcPct val="108000"/>
              </a:lnSpc>
              <a:buNone/>
            </a:pPr>
            <a:r>
              <a:rPr lang="en-US" sz="1240" dirty="0">
                <a:solidFill>
                  <a:srgbClr val="262C44"/>
                </a:solidFill>
                <a:latin typeface="Calibri" pitchFamily="34" charset="0"/>
                <a:ea typeface="Calibri" pitchFamily="34" charset="-122"/>
                <a:cs typeface="Calibri" pitchFamily="34" charset="-120"/>
              </a:rPr>
              <a:t>Tent *fails on this shift and increases error to 79.8%* — worse than doing nothing.</a:t>
            </a:r>
            <a:endParaRPr lang="en-US" sz="1240" dirty="0"/>
          </a:p>
        </p:txBody>
      </p:sp>
      <p:sp>
        <p:nvSpPr>
          <p:cNvPr id="11" name="Shape 9"/>
          <p:cNvSpPr/>
          <p:nvPr/>
        </p:nvSpPr>
        <p:spPr>
          <a:xfrm>
            <a:off x="4279392" y="1600200"/>
            <a:ext cx="3584448" cy="2560320"/>
          </a:xfrm>
          <a:prstGeom prst="roundRect">
            <a:avLst>
              <a:gd name="adj" fmla="val 2143"/>
            </a:avLst>
          </a:prstGeom>
          <a:solidFill>
            <a:srgbClr val="F1F2F7"/>
          </a:solidFill>
          <a:ln w="12700">
            <a:solidFill>
              <a:srgbClr val="E1E4EE"/>
            </a:solidFill>
            <a:prstDash val="solid"/>
          </a:ln>
        </p:spPr>
        <p:txBody>
          <a:bodyPr/>
          <a:lstStyle/>
          <a:p>
            <a:endParaRPr lang="en-US"/>
          </a:p>
        </p:txBody>
      </p:sp>
      <p:sp>
        <p:nvSpPr>
          <p:cNvPr id="12" name="Shape 10"/>
          <p:cNvSpPr/>
          <p:nvPr/>
        </p:nvSpPr>
        <p:spPr>
          <a:xfrm>
            <a:off x="4498848" y="1892808"/>
            <a:ext cx="109728" cy="109728"/>
          </a:xfrm>
          <a:prstGeom prst="ellipse">
            <a:avLst/>
          </a:prstGeom>
          <a:solidFill>
            <a:srgbClr val="2FA8B8"/>
          </a:solidFill>
          <a:ln w="12700">
            <a:solidFill>
              <a:srgbClr val="333333"/>
            </a:solidFill>
            <a:prstDash val="solid"/>
          </a:ln>
        </p:spPr>
        <p:txBody>
          <a:bodyPr/>
          <a:lstStyle/>
          <a:p>
            <a:endParaRPr lang="en-US"/>
          </a:p>
        </p:txBody>
      </p:sp>
      <p:sp>
        <p:nvSpPr>
          <p:cNvPr id="13" name="Text 11"/>
          <p:cNvSpPr txBox="1"/>
          <p:nvPr/>
        </p:nvSpPr>
        <p:spPr>
          <a:xfrm>
            <a:off x="4700016" y="1764792"/>
            <a:ext cx="2944368" cy="365760"/>
          </a:xfrm>
          <a:prstGeom prst="rect">
            <a:avLst/>
          </a:prstGeom>
          <a:noFill/>
          <a:ln/>
        </p:spPr>
        <p:txBody>
          <a:bodyPr wrap="square" lIns="0" tIns="0" rIns="0" bIns="0" rtlCol="0" anchor="ctr"/>
          <a:lstStyle/>
          <a:p>
            <a:pPr marL="0" indent="0">
              <a:buNone/>
            </a:pPr>
            <a:r>
              <a:rPr lang="en-US" sz="1500" b="1" dirty="0">
                <a:solidFill>
                  <a:srgbClr val="141A2E"/>
                </a:solidFill>
                <a:latin typeface="Cambria" pitchFamily="34" charset="0"/>
                <a:ea typeface="Cambria" pitchFamily="34" charset="-122"/>
                <a:cs typeface="Cambria" pitchFamily="34" charset="-120"/>
              </a:rPr>
              <a:t>Natural shifts</a:t>
            </a:r>
            <a:endParaRPr lang="en-US" sz="1500" dirty="0"/>
          </a:p>
        </p:txBody>
      </p:sp>
      <p:sp>
        <p:nvSpPr>
          <p:cNvPr id="14" name="Text 12"/>
          <p:cNvSpPr txBox="1"/>
          <p:nvPr/>
        </p:nvSpPr>
        <p:spPr>
          <a:xfrm>
            <a:off x="4535424" y="2203704"/>
            <a:ext cx="3072384" cy="1773936"/>
          </a:xfrm>
          <a:prstGeom prst="rect">
            <a:avLst/>
          </a:prstGeom>
          <a:noFill/>
          <a:ln/>
        </p:spPr>
        <p:txBody>
          <a:bodyPr wrap="square" lIns="0" tIns="0" rIns="0" bIns="0" rtlCol="0" anchor="t"/>
          <a:lstStyle/>
          <a:p>
            <a:pPr marL="0" indent="0">
              <a:lnSpc>
                <a:spcPct val="108000"/>
              </a:lnSpc>
              <a:buNone/>
            </a:pPr>
            <a:r>
              <a:rPr lang="en-US" sz="1240" dirty="0">
                <a:solidFill>
                  <a:srgbClr val="262C44"/>
                </a:solidFill>
                <a:latin typeface="Calibri" pitchFamily="34" charset="0"/>
                <a:ea typeface="Calibri" pitchFamily="34" charset="-122"/>
                <a:cs typeface="Calibri" pitchFamily="34" charset="-120"/>
              </a:rPr>
              <a:t>CIFAR-10.1 and ImageNetV2 were built by reproducing the original dataset collection procedures, so they entail natural but unknown shifts.</a:t>
            </a:r>
            <a:endParaRPr lang="en-US" sz="1240" dirty="0"/>
          </a:p>
          <a:p>
            <a:pPr marL="0" indent="0">
              <a:lnSpc>
                <a:spcPct val="108000"/>
              </a:lnSpc>
              <a:buNone/>
            </a:pPr>
            <a:endParaRPr lang="en-US" sz="1240" dirty="0"/>
          </a:p>
          <a:p>
            <a:pPr marL="0" indent="0">
              <a:lnSpc>
                <a:spcPct val="108000"/>
              </a:lnSpc>
              <a:buNone/>
            </a:pPr>
            <a:r>
              <a:rPr lang="en-US" sz="1240" dirty="0">
                <a:solidFill>
                  <a:srgbClr val="262C44"/>
                </a:solidFill>
                <a:latin typeface="Calibri" pitchFamily="34" charset="0"/>
                <a:ea typeface="Calibri" pitchFamily="34" charset="-122"/>
                <a:cs typeface="Calibri" pitchFamily="34" charset="-120"/>
              </a:rPr>
              <a:t>Error is higher on both, indicating shift is present — and Tent does not improve generalisation.</a:t>
            </a:r>
            <a:endParaRPr lang="en-US" sz="1240" dirty="0"/>
          </a:p>
        </p:txBody>
      </p:sp>
      <p:sp>
        <p:nvSpPr>
          <p:cNvPr id="15" name="Shape 13"/>
          <p:cNvSpPr/>
          <p:nvPr/>
        </p:nvSpPr>
        <p:spPr>
          <a:xfrm>
            <a:off x="7991856" y="1600200"/>
            <a:ext cx="3639312" cy="2560320"/>
          </a:xfrm>
          <a:prstGeom prst="roundRect">
            <a:avLst>
              <a:gd name="adj" fmla="val 2143"/>
            </a:avLst>
          </a:prstGeom>
          <a:solidFill>
            <a:srgbClr val="F1F2F7"/>
          </a:solidFill>
          <a:ln w="12700">
            <a:solidFill>
              <a:srgbClr val="E1E4EE"/>
            </a:solidFill>
            <a:prstDash val="solid"/>
          </a:ln>
        </p:spPr>
        <p:txBody>
          <a:bodyPr/>
          <a:lstStyle/>
          <a:p>
            <a:endParaRPr lang="en-US"/>
          </a:p>
        </p:txBody>
      </p:sp>
      <p:sp>
        <p:nvSpPr>
          <p:cNvPr id="16" name="Shape 14"/>
          <p:cNvSpPr/>
          <p:nvPr/>
        </p:nvSpPr>
        <p:spPr>
          <a:xfrm>
            <a:off x="8211312" y="1892808"/>
            <a:ext cx="109728" cy="109728"/>
          </a:xfrm>
          <a:prstGeom prst="ellipse">
            <a:avLst/>
          </a:prstGeom>
          <a:solidFill>
            <a:srgbClr val="3B4A7A"/>
          </a:solidFill>
          <a:ln w="12700">
            <a:solidFill>
              <a:srgbClr val="333333"/>
            </a:solidFill>
            <a:prstDash val="solid"/>
          </a:ln>
        </p:spPr>
        <p:txBody>
          <a:bodyPr/>
          <a:lstStyle/>
          <a:p>
            <a:endParaRPr lang="en-US"/>
          </a:p>
        </p:txBody>
      </p:sp>
      <p:sp>
        <p:nvSpPr>
          <p:cNvPr id="17" name="Text 15"/>
          <p:cNvSpPr txBox="1"/>
          <p:nvPr/>
        </p:nvSpPr>
        <p:spPr>
          <a:xfrm>
            <a:off x="8412480" y="1764792"/>
            <a:ext cx="2999232" cy="365760"/>
          </a:xfrm>
          <a:prstGeom prst="rect">
            <a:avLst/>
          </a:prstGeom>
          <a:noFill/>
          <a:ln/>
        </p:spPr>
        <p:txBody>
          <a:bodyPr wrap="square" lIns="0" tIns="0" rIns="0" bIns="0" rtlCol="0" anchor="ctr"/>
          <a:lstStyle/>
          <a:p>
            <a:pPr marL="0" indent="0">
              <a:buNone/>
            </a:pPr>
            <a:r>
              <a:rPr lang="en-US" sz="1500" b="1" dirty="0">
                <a:solidFill>
                  <a:srgbClr val="141A2E"/>
                </a:solidFill>
                <a:latin typeface="Cambria" pitchFamily="34" charset="0"/>
                <a:ea typeface="Cambria" pitchFamily="34" charset="-122"/>
                <a:cs typeface="Cambria" pitchFamily="34" charset="-120"/>
              </a:rPr>
              <a:t>The batch requirement</a:t>
            </a:r>
            <a:endParaRPr lang="en-US" sz="1500" dirty="0"/>
          </a:p>
        </p:txBody>
      </p:sp>
      <p:sp>
        <p:nvSpPr>
          <p:cNvPr id="18" name="Text 16"/>
          <p:cNvSpPr txBox="1"/>
          <p:nvPr/>
        </p:nvSpPr>
        <p:spPr>
          <a:xfrm>
            <a:off x="8247888" y="2203704"/>
            <a:ext cx="3127248" cy="1773936"/>
          </a:xfrm>
          <a:prstGeom prst="rect">
            <a:avLst/>
          </a:prstGeom>
          <a:noFill/>
          <a:ln/>
        </p:spPr>
        <p:txBody>
          <a:bodyPr wrap="square" lIns="0" tIns="0" rIns="0" bIns="0" rtlCol="0" anchor="t"/>
          <a:lstStyle/>
          <a:p>
            <a:pPr marL="0" indent="0">
              <a:lnSpc>
                <a:spcPct val="108000"/>
              </a:lnSpc>
              <a:buNone/>
            </a:pPr>
            <a:r>
              <a:rPr lang="en-US" sz="1240" dirty="0">
                <a:solidFill>
                  <a:srgbClr val="262C44"/>
                </a:solidFill>
                <a:latin typeface="Calibri" pitchFamily="34" charset="0"/>
                <a:ea typeface="Calibri" pitchFamily="34" charset="-122"/>
                <a:cs typeface="Calibri" pitchFamily="34" charset="-120"/>
              </a:rPr>
              <a:t>Entropy needs batches for optimisation and cannot update episodically on one point at a time.</a:t>
            </a:r>
            <a:endParaRPr lang="en-US" sz="1240" dirty="0"/>
          </a:p>
          <a:p>
            <a:pPr marL="0" indent="0">
              <a:lnSpc>
                <a:spcPct val="108000"/>
              </a:lnSpc>
              <a:buNone/>
            </a:pPr>
            <a:endParaRPr lang="en-US" sz="1240" dirty="0"/>
          </a:p>
          <a:p>
            <a:pPr marL="0" indent="0">
              <a:lnSpc>
                <a:spcPct val="108000"/>
              </a:lnSpc>
              <a:buNone/>
            </a:pPr>
            <a:r>
              <a:rPr lang="en-US" sz="1240" dirty="0">
                <a:solidFill>
                  <a:srgbClr val="262C44"/>
                </a:solidFill>
                <a:latin typeface="Calibri" pitchFamily="34" charset="0"/>
                <a:ea typeface="Calibri" pitchFamily="34" charset="-122"/>
                <a:cs typeface="Calibri" pitchFamily="34" charset="-120"/>
              </a:rPr>
              <a:t>Test-time training can do so, but only with the right proxy task.</a:t>
            </a:r>
            <a:endParaRPr lang="en-US" sz="1240" dirty="0"/>
          </a:p>
        </p:txBody>
      </p:sp>
      <p:sp>
        <p:nvSpPr>
          <p:cNvPr id="19" name="Shape 17"/>
          <p:cNvSpPr/>
          <p:nvPr/>
        </p:nvSpPr>
        <p:spPr>
          <a:xfrm>
            <a:off x="566928" y="4334256"/>
            <a:ext cx="11064240" cy="1719072"/>
          </a:xfrm>
          <a:prstGeom prst="roundRect">
            <a:avLst>
              <a:gd name="adj" fmla="val 3191"/>
            </a:avLst>
          </a:prstGeom>
          <a:solidFill>
            <a:srgbClr val="1C2440"/>
          </a:solidFill>
          <a:ln w="12700">
            <a:solidFill>
              <a:srgbClr val="1C2440"/>
            </a:solidFill>
            <a:prstDash val="solid"/>
          </a:ln>
        </p:spPr>
        <p:txBody>
          <a:bodyPr/>
          <a:lstStyle/>
          <a:p>
            <a:endParaRPr lang="en-US"/>
          </a:p>
        </p:txBody>
      </p:sp>
      <p:sp>
        <p:nvSpPr>
          <p:cNvPr id="20" name="Shape 18"/>
          <p:cNvSpPr/>
          <p:nvPr/>
        </p:nvSpPr>
        <p:spPr>
          <a:xfrm>
            <a:off x="786384" y="4626864"/>
            <a:ext cx="109728" cy="109728"/>
          </a:xfrm>
          <a:prstGeom prst="ellipse">
            <a:avLst/>
          </a:prstGeom>
          <a:solidFill>
            <a:srgbClr val="2FA8B8"/>
          </a:solidFill>
          <a:ln w="12700">
            <a:solidFill>
              <a:srgbClr val="333333"/>
            </a:solidFill>
            <a:prstDash val="solid"/>
          </a:ln>
        </p:spPr>
        <p:txBody>
          <a:bodyPr/>
          <a:lstStyle/>
          <a:p>
            <a:endParaRPr lang="en-US"/>
          </a:p>
        </p:txBody>
      </p:sp>
      <p:sp>
        <p:nvSpPr>
          <p:cNvPr id="21" name="Text 19"/>
          <p:cNvSpPr txBox="1"/>
          <p:nvPr/>
        </p:nvSpPr>
        <p:spPr>
          <a:xfrm>
            <a:off x="987552" y="4498848"/>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Why the first failure is instructive</a:t>
            </a:r>
            <a:endParaRPr lang="en-US" sz="1500" dirty="0"/>
          </a:p>
        </p:txBody>
      </p:sp>
      <p:sp>
        <p:nvSpPr>
          <p:cNvPr id="22" name="Text 20"/>
          <p:cNvSpPr txBox="1"/>
          <p:nvPr/>
        </p:nvSpPr>
        <p:spPr>
          <a:xfrm>
            <a:off x="822960" y="4937760"/>
            <a:ext cx="10552176" cy="932688"/>
          </a:xfrm>
          <a:prstGeom prst="rect">
            <a:avLst/>
          </a:prstGeom>
          <a:noFill/>
          <a:ln/>
        </p:spPr>
        <p:txBody>
          <a:bodyPr wrap="square" lIns="0" tIns="0" rIns="0" bIns="0" rtlCol="0" anchor="t"/>
          <a:lstStyle/>
          <a:p>
            <a:pPr marL="0" indent="0">
              <a:lnSpc>
                <a:spcPct val="108000"/>
              </a:lnSpc>
              <a:buNone/>
            </a:pPr>
            <a:r>
              <a:rPr lang="en-US" sz="1300" dirty="0">
                <a:solidFill>
                  <a:srgbClr val="C5CBE0"/>
                </a:solidFill>
                <a:latin typeface="Calibri" pitchFamily="34" charset="0"/>
                <a:ea typeface="Calibri" pitchFamily="34" charset="-122"/>
                <a:cs typeface="Calibri" pitchFamily="34" charset="-120"/>
              </a:rPr>
              <a:t>When the source model is already badly wrong, its confident predictions are confidently wrong — and minimising entropy makes it more confident in exactly those errors.</a:t>
            </a:r>
            <a:endParaRPr lang="en-US" sz="1300" dirty="0"/>
          </a:p>
          <a:p>
            <a:pPr marL="0" indent="0">
              <a:lnSpc>
                <a:spcPct val="108000"/>
              </a:lnSpc>
              <a:buNone/>
            </a:pPr>
            <a:endParaRPr lang="en-US" sz="1300" dirty="0"/>
          </a:p>
          <a:p>
            <a:pPr marL="0" indent="0">
              <a:lnSpc>
                <a:spcPct val="108000"/>
              </a:lnSpc>
              <a:buNone/>
            </a:pPr>
            <a:r>
              <a:rPr lang="en-US" sz="1300" dirty="0">
                <a:solidFill>
                  <a:srgbClr val="C5CBE0"/>
                </a:solidFill>
                <a:latin typeface="Calibri" pitchFamily="34" charset="0"/>
                <a:ea typeface="Calibri" pitchFamily="34" charset="-122"/>
                <a:cs typeface="Calibri" pitchFamily="34" charset="-120"/>
              </a:rPr>
              <a:t>Entropy minimisation amplifies whatever the model already believes. That is a feature when it is roughly right and a failure mode when it is not.</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75488"/>
            <a:ext cx="384048" cy="274320"/>
          </a:xfrm>
          <a:prstGeom prst="triangle">
            <a:avLst/>
          </a:prstGeom>
          <a:solidFill>
            <a:srgbClr val="3B4A7A"/>
          </a:solidFill>
          <a:ln w="12700">
            <a:solidFill>
              <a:srgbClr val="333333"/>
            </a:solidFill>
            <a:prstDash val="solid"/>
          </a:ln>
        </p:spPr>
        <p:txBody>
          <a:bodyPr/>
          <a:lstStyle/>
          <a:p>
            <a:endParaRPr lang="en-US"/>
          </a:p>
        </p:txBody>
      </p:sp>
      <p:sp>
        <p:nvSpPr>
          <p:cNvPr id="3" name="Shape 1"/>
          <p:cNvSpPr/>
          <p:nvPr/>
        </p:nvSpPr>
        <p:spPr>
          <a:xfrm>
            <a:off x="11256264" y="585216"/>
            <a:ext cx="109728" cy="164592"/>
          </a:xfrm>
          <a:prstGeom prst="triangle">
            <a:avLst/>
          </a:prstGeom>
          <a:solidFill>
            <a:srgbClr val="2FA8B8"/>
          </a:solidFill>
          <a:ln w="12700">
            <a:solidFill>
              <a:srgbClr val="333333"/>
            </a:solidFill>
            <a:prstDash val="solid"/>
          </a:ln>
        </p:spPr>
        <p:txBody>
          <a:bodyPr/>
          <a:lstStyle/>
          <a:p>
            <a:endParaRPr lang="en-US"/>
          </a:p>
        </p:txBody>
      </p:sp>
      <p:sp>
        <p:nvSpPr>
          <p:cNvPr id="4" name="Text 2"/>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41A2E"/>
                </a:solidFill>
                <a:latin typeface="Cambria" pitchFamily="34" charset="0"/>
                <a:ea typeface="Cambria" pitchFamily="34" charset="-122"/>
                <a:cs typeface="Cambria" pitchFamily="34" charset="-120"/>
              </a:rPr>
              <a:t>The discussion section as a research agenda</a:t>
            </a:r>
            <a:endParaRPr lang="en-US" sz="2900" dirty="0"/>
          </a:p>
        </p:txBody>
      </p:sp>
      <p:sp>
        <p:nvSpPr>
          <p:cNvPr id="5" name="Text 3"/>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A6180"/>
                </a:solidFill>
                <a:latin typeface="Calibri" pitchFamily="34" charset="0"/>
                <a:ea typeface="Calibri" pitchFamily="34" charset="-122"/>
                <a:cs typeface="Calibri" pitchFamily="34" charset="-120"/>
              </a:rPr>
              <a:t>Three questions the paper poses and does not answer</a:t>
            </a:r>
            <a:endParaRPr lang="en-US" sz="1350" dirty="0"/>
          </a:p>
        </p:txBody>
      </p:sp>
      <p:sp>
        <p:nvSpPr>
          <p:cNvPr id="6" name="Text 4"/>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9BA3BE"/>
                </a:solidFill>
                <a:latin typeface="Calibri" pitchFamily="34" charset="0"/>
                <a:ea typeface="Calibri" pitchFamily="34" charset="-122"/>
                <a:cs typeface="Calibri" pitchFamily="34" charset="-120"/>
              </a:rPr>
              <a:t>Tent · Wang et al. 2021  |  21</a:t>
            </a:r>
            <a:endParaRPr lang="en-US" sz="900" dirty="0"/>
          </a:p>
        </p:txBody>
      </p:sp>
      <p:sp>
        <p:nvSpPr>
          <p:cNvPr id="7" name="Shape 5"/>
          <p:cNvSpPr/>
          <p:nvPr/>
        </p:nvSpPr>
        <p:spPr>
          <a:xfrm>
            <a:off x="566928" y="1554480"/>
            <a:ext cx="11064240" cy="1078992"/>
          </a:xfrm>
          <a:prstGeom prst="roundRect">
            <a:avLst>
              <a:gd name="adj" fmla="val 2542"/>
            </a:avLst>
          </a:prstGeom>
          <a:solidFill>
            <a:srgbClr val="F1F2F7"/>
          </a:solidFill>
          <a:ln w="12700">
            <a:solidFill>
              <a:srgbClr val="E8EBF2"/>
            </a:solidFill>
            <a:prstDash val="solid"/>
          </a:ln>
        </p:spPr>
        <p:txBody>
          <a:bodyPr/>
          <a:lstStyle/>
          <a:p>
            <a:endParaRPr lang="en-US"/>
          </a:p>
        </p:txBody>
      </p:sp>
      <p:sp>
        <p:nvSpPr>
          <p:cNvPr id="8" name="Shape 6"/>
          <p:cNvSpPr/>
          <p:nvPr/>
        </p:nvSpPr>
        <p:spPr>
          <a:xfrm>
            <a:off x="786384" y="2034540"/>
            <a:ext cx="118872" cy="118872"/>
          </a:xfrm>
          <a:prstGeom prst="ellipse">
            <a:avLst/>
          </a:prstGeom>
          <a:solidFill>
            <a:srgbClr val="3B4A7A"/>
          </a:solidFill>
          <a:ln w="12700">
            <a:solidFill>
              <a:srgbClr val="333333"/>
            </a:solidFill>
            <a:prstDash val="solid"/>
          </a:ln>
        </p:spPr>
        <p:txBody>
          <a:bodyPr/>
          <a:lstStyle/>
          <a:p>
            <a:endParaRPr lang="en-US"/>
          </a:p>
        </p:txBody>
      </p:sp>
      <p:sp>
        <p:nvSpPr>
          <p:cNvPr id="9" name="Text 7"/>
          <p:cNvSpPr txBox="1"/>
          <p:nvPr/>
        </p:nvSpPr>
        <p:spPr>
          <a:xfrm>
            <a:off x="1024128" y="1645920"/>
            <a:ext cx="2194560" cy="896112"/>
          </a:xfrm>
          <a:prstGeom prst="rect">
            <a:avLst/>
          </a:prstGeom>
          <a:noFill/>
          <a:ln/>
        </p:spPr>
        <p:txBody>
          <a:bodyPr wrap="square" lIns="0" tIns="0" rIns="0" bIns="0" rtlCol="0" anchor="ctr"/>
          <a:lstStyle/>
          <a:p>
            <a:pPr marL="0" indent="0">
              <a:buNone/>
            </a:pPr>
            <a:r>
              <a:rPr lang="en-US" sz="1350" b="1" dirty="0">
                <a:solidFill>
                  <a:srgbClr val="141A2E"/>
                </a:solidFill>
                <a:latin typeface="Cambria" pitchFamily="34" charset="0"/>
                <a:ea typeface="Cambria" pitchFamily="34" charset="-122"/>
                <a:cs typeface="Cambria" pitchFamily="34" charset="-120"/>
              </a:rPr>
              <a:t>Shifts</a:t>
            </a:r>
            <a:endParaRPr lang="en-US" sz="1350" dirty="0"/>
          </a:p>
        </p:txBody>
      </p:sp>
      <p:sp>
        <p:nvSpPr>
          <p:cNvPr id="10" name="Text 8"/>
          <p:cNvSpPr txBox="1"/>
          <p:nvPr/>
        </p:nvSpPr>
        <p:spPr>
          <a:xfrm>
            <a:off x="3401568" y="1627632"/>
            <a:ext cx="8046720" cy="932688"/>
          </a:xfrm>
          <a:prstGeom prst="rect">
            <a:avLst/>
          </a:prstGeom>
          <a:noFill/>
          <a:ln/>
        </p:spPr>
        <p:txBody>
          <a:bodyPr wrap="square" lIns="0" tIns="0" rIns="0" bIns="0" rtlCol="0" anchor="ctr"/>
          <a:lstStyle/>
          <a:p>
            <a:pPr marL="0" indent="0">
              <a:buNone/>
            </a:pPr>
            <a:r>
              <a:rPr lang="en-US" sz="1220" dirty="0">
                <a:solidFill>
                  <a:srgbClr val="262C44"/>
                </a:solidFill>
                <a:latin typeface="Calibri" pitchFamily="34" charset="0"/>
                <a:ea typeface="Calibri" pitchFamily="34" charset="-122"/>
                <a:cs typeface="Calibri" pitchFamily="34" charset="-120"/>
              </a:rPr>
              <a:t>Tent handles corruptions, simple appearance changes and simulation-to-real. It does not help on natural shifts, and adversarial shifts are untested. What other real-world shifts exist, and which does test-time adaptation address?</a:t>
            </a:r>
            <a:endParaRPr lang="en-US" sz="1220" dirty="0"/>
          </a:p>
        </p:txBody>
      </p:sp>
      <p:sp>
        <p:nvSpPr>
          <p:cNvPr id="11" name="Shape 9"/>
          <p:cNvSpPr/>
          <p:nvPr/>
        </p:nvSpPr>
        <p:spPr>
          <a:xfrm>
            <a:off x="566928" y="2688336"/>
            <a:ext cx="11064240" cy="1078992"/>
          </a:xfrm>
          <a:prstGeom prst="roundRect">
            <a:avLst>
              <a:gd name="adj" fmla="val 2542"/>
            </a:avLst>
          </a:prstGeom>
          <a:solidFill>
            <a:srgbClr val="FFFFFF"/>
          </a:solidFill>
          <a:ln w="12700">
            <a:solidFill>
              <a:srgbClr val="E8EBF2"/>
            </a:solidFill>
            <a:prstDash val="solid"/>
          </a:ln>
        </p:spPr>
        <p:txBody>
          <a:bodyPr/>
          <a:lstStyle/>
          <a:p>
            <a:endParaRPr lang="en-US"/>
          </a:p>
        </p:txBody>
      </p:sp>
      <p:sp>
        <p:nvSpPr>
          <p:cNvPr id="12" name="Shape 10"/>
          <p:cNvSpPr/>
          <p:nvPr/>
        </p:nvSpPr>
        <p:spPr>
          <a:xfrm>
            <a:off x="786384" y="3168396"/>
            <a:ext cx="118872" cy="118872"/>
          </a:xfrm>
          <a:prstGeom prst="ellipse">
            <a:avLst/>
          </a:prstGeom>
          <a:solidFill>
            <a:srgbClr val="3B4A7A"/>
          </a:solidFill>
          <a:ln w="12700">
            <a:solidFill>
              <a:srgbClr val="333333"/>
            </a:solidFill>
            <a:prstDash val="solid"/>
          </a:ln>
        </p:spPr>
        <p:txBody>
          <a:bodyPr/>
          <a:lstStyle/>
          <a:p>
            <a:endParaRPr lang="en-US"/>
          </a:p>
        </p:txBody>
      </p:sp>
      <p:sp>
        <p:nvSpPr>
          <p:cNvPr id="13" name="Text 11"/>
          <p:cNvSpPr txBox="1"/>
          <p:nvPr/>
        </p:nvSpPr>
        <p:spPr>
          <a:xfrm>
            <a:off x="1024128" y="2779776"/>
            <a:ext cx="2194560" cy="896112"/>
          </a:xfrm>
          <a:prstGeom prst="rect">
            <a:avLst/>
          </a:prstGeom>
          <a:noFill/>
          <a:ln/>
        </p:spPr>
        <p:txBody>
          <a:bodyPr wrap="square" lIns="0" tIns="0" rIns="0" bIns="0" rtlCol="0" anchor="ctr"/>
          <a:lstStyle/>
          <a:p>
            <a:pPr marL="0" indent="0">
              <a:buNone/>
            </a:pPr>
            <a:r>
              <a:rPr lang="en-US" sz="1350" b="1" dirty="0">
                <a:solidFill>
                  <a:srgbClr val="141A2E"/>
                </a:solidFill>
                <a:latin typeface="Cambria" pitchFamily="34" charset="0"/>
                <a:ea typeface="Cambria" pitchFamily="34" charset="-122"/>
                <a:cs typeface="Cambria" pitchFamily="34" charset="-120"/>
              </a:rPr>
              <a:t>Parameters</a:t>
            </a:r>
            <a:endParaRPr lang="en-US" sz="1350" dirty="0"/>
          </a:p>
        </p:txBody>
      </p:sp>
      <p:sp>
        <p:nvSpPr>
          <p:cNvPr id="14" name="Text 12"/>
          <p:cNvSpPr txBox="1"/>
          <p:nvPr/>
        </p:nvSpPr>
        <p:spPr>
          <a:xfrm>
            <a:off x="3401568" y="2761488"/>
            <a:ext cx="8046720" cy="932688"/>
          </a:xfrm>
          <a:prstGeom prst="rect">
            <a:avLst/>
          </a:prstGeom>
          <a:noFill/>
          <a:ln/>
        </p:spPr>
        <p:txBody>
          <a:bodyPr wrap="square" lIns="0" tIns="0" rIns="0" bIns="0" rtlCol="0" anchor="ctr"/>
          <a:lstStyle/>
          <a:p>
            <a:pPr marL="0" indent="0">
              <a:buNone/>
            </a:pPr>
            <a:r>
              <a:rPr lang="en-US" sz="1220" dirty="0">
                <a:solidFill>
                  <a:srgbClr val="262C44"/>
                </a:solidFill>
                <a:latin typeface="Calibri" pitchFamily="34" charset="0"/>
                <a:ea typeface="Calibri" pitchFamily="34" charset="-122"/>
                <a:cs typeface="Calibri" pitchFamily="34" charset="-120"/>
              </a:rPr>
              <a:t>Modulation is reliable but limited. The issue is identifying parameters that are both expressive and reliable, and this may interact with the choice of loss. Adapting the input rather than the model is floated as a more general alternative.</a:t>
            </a:r>
            <a:endParaRPr lang="en-US" sz="1220" dirty="0"/>
          </a:p>
        </p:txBody>
      </p:sp>
      <p:sp>
        <p:nvSpPr>
          <p:cNvPr id="15" name="Shape 13"/>
          <p:cNvSpPr/>
          <p:nvPr/>
        </p:nvSpPr>
        <p:spPr>
          <a:xfrm>
            <a:off x="566928" y="3822192"/>
            <a:ext cx="11064240" cy="1078992"/>
          </a:xfrm>
          <a:prstGeom prst="roundRect">
            <a:avLst>
              <a:gd name="adj" fmla="val 2542"/>
            </a:avLst>
          </a:prstGeom>
          <a:solidFill>
            <a:srgbClr val="F1F2F7"/>
          </a:solidFill>
          <a:ln w="12700">
            <a:solidFill>
              <a:srgbClr val="E8EBF2"/>
            </a:solidFill>
            <a:prstDash val="solid"/>
          </a:ln>
        </p:spPr>
        <p:txBody>
          <a:bodyPr/>
          <a:lstStyle/>
          <a:p>
            <a:endParaRPr lang="en-US"/>
          </a:p>
        </p:txBody>
      </p:sp>
      <p:sp>
        <p:nvSpPr>
          <p:cNvPr id="16" name="Shape 14"/>
          <p:cNvSpPr/>
          <p:nvPr/>
        </p:nvSpPr>
        <p:spPr>
          <a:xfrm>
            <a:off x="786384" y="4302252"/>
            <a:ext cx="118872" cy="118872"/>
          </a:xfrm>
          <a:prstGeom prst="ellipse">
            <a:avLst/>
          </a:prstGeom>
          <a:solidFill>
            <a:srgbClr val="3B4A7A"/>
          </a:solidFill>
          <a:ln w="12700">
            <a:solidFill>
              <a:srgbClr val="333333"/>
            </a:solidFill>
            <a:prstDash val="solid"/>
          </a:ln>
        </p:spPr>
        <p:txBody>
          <a:bodyPr/>
          <a:lstStyle/>
          <a:p>
            <a:endParaRPr lang="en-US"/>
          </a:p>
        </p:txBody>
      </p:sp>
      <p:sp>
        <p:nvSpPr>
          <p:cNvPr id="17" name="Text 15"/>
          <p:cNvSpPr txBox="1"/>
          <p:nvPr/>
        </p:nvSpPr>
        <p:spPr>
          <a:xfrm>
            <a:off x="1024128" y="3913632"/>
            <a:ext cx="2194560" cy="896112"/>
          </a:xfrm>
          <a:prstGeom prst="rect">
            <a:avLst/>
          </a:prstGeom>
          <a:noFill/>
          <a:ln/>
        </p:spPr>
        <p:txBody>
          <a:bodyPr wrap="square" lIns="0" tIns="0" rIns="0" bIns="0" rtlCol="0" anchor="ctr"/>
          <a:lstStyle/>
          <a:p>
            <a:pPr marL="0" indent="0">
              <a:buNone/>
            </a:pPr>
            <a:r>
              <a:rPr lang="en-US" sz="1350" b="1" dirty="0">
                <a:solidFill>
                  <a:srgbClr val="141A2E"/>
                </a:solidFill>
                <a:latin typeface="Cambria" pitchFamily="34" charset="0"/>
                <a:ea typeface="Cambria" pitchFamily="34" charset="-122"/>
                <a:cs typeface="Cambria" pitchFamily="34" charset="-120"/>
              </a:rPr>
              <a:t>Losses</a:t>
            </a:r>
            <a:endParaRPr lang="en-US" sz="1350" dirty="0"/>
          </a:p>
        </p:txBody>
      </p:sp>
      <p:sp>
        <p:nvSpPr>
          <p:cNvPr id="18" name="Text 16"/>
          <p:cNvSpPr txBox="1"/>
          <p:nvPr/>
        </p:nvSpPr>
        <p:spPr>
          <a:xfrm>
            <a:off x="3401568" y="3895344"/>
            <a:ext cx="8046720" cy="932688"/>
          </a:xfrm>
          <a:prstGeom prst="rect">
            <a:avLst/>
          </a:prstGeom>
          <a:noFill/>
          <a:ln/>
        </p:spPr>
        <p:txBody>
          <a:bodyPr wrap="square" lIns="0" tIns="0" rIns="0" bIns="0" rtlCol="0" anchor="ctr"/>
          <a:lstStyle/>
          <a:p>
            <a:pPr marL="0" indent="0">
              <a:buNone/>
            </a:pPr>
            <a:r>
              <a:rPr lang="en-US" sz="1220" dirty="0">
                <a:solidFill>
                  <a:srgbClr val="262C44"/>
                </a:solidFill>
                <a:latin typeface="Calibri" pitchFamily="34" charset="0"/>
                <a:ea typeface="Calibri" pitchFamily="34" charset="-122"/>
                <a:cs typeface="Calibri" pitchFamily="34" charset="-120"/>
              </a:rPr>
              <a:t>Is there an effective loss for general but episodic optimisation — one point at a time? And could a loss defined on the representation rather than the prediction avoid recomputing the model for every update?</a:t>
            </a:r>
            <a:endParaRPr lang="en-US" sz="1220" dirty="0"/>
          </a:p>
        </p:txBody>
      </p:sp>
      <p:sp>
        <p:nvSpPr>
          <p:cNvPr id="19" name="Shape 17"/>
          <p:cNvSpPr/>
          <p:nvPr/>
        </p:nvSpPr>
        <p:spPr>
          <a:xfrm>
            <a:off x="566928" y="4956048"/>
            <a:ext cx="11064240" cy="1078992"/>
          </a:xfrm>
          <a:prstGeom prst="roundRect">
            <a:avLst>
              <a:gd name="adj" fmla="val 2542"/>
            </a:avLst>
          </a:prstGeom>
          <a:solidFill>
            <a:srgbClr val="FFFFFF"/>
          </a:solidFill>
          <a:ln w="12700">
            <a:solidFill>
              <a:srgbClr val="E8EBF2"/>
            </a:solidFill>
            <a:prstDash val="solid"/>
          </a:ln>
        </p:spPr>
        <p:txBody>
          <a:bodyPr/>
          <a:lstStyle/>
          <a:p>
            <a:endParaRPr lang="en-US"/>
          </a:p>
        </p:txBody>
      </p:sp>
      <p:sp>
        <p:nvSpPr>
          <p:cNvPr id="20" name="Shape 18"/>
          <p:cNvSpPr/>
          <p:nvPr/>
        </p:nvSpPr>
        <p:spPr>
          <a:xfrm>
            <a:off x="786384" y="5436108"/>
            <a:ext cx="118872" cy="118872"/>
          </a:xfrm>
          <a:prstGeom prst="ellipse">
            <a:avLst/>
          </a:prstGeom>
          <a:solidFill>
            <a:srgbClr val="3B4A7A"/>
          </a:solidFill>
          <a:ln w="12700">
            <a:solidFill>
              <a:srgbClr val="333333"/>
            </a:solidFill>
            <a:prstDash val="solid"/>
          </a:ln>
        </p:spPr>
        <p:txBody>
          <a:bodyPr/>
          <a:lstStyle/>
          <a:p>
            <a:endParaRPr lang="en-US"/>
          </a:p>
        </p:txBody>
      </p:sp>
      <p:sp>
        <p:nvSpPr>
          <p:cNvPr id="21" name="Text 19"/>
          <p:cNvSpPr txBox="1"/>
          <p:nvPr/>
        </p:nvSpPr>
        <p:spPr>
          <a:xfrm>
            <a:off x="1024128" y="5047488"/>
            <a:ext cx="2194560" cy="896112"/>
          </a:xfrm>
          <a:prstGeom prst="rect">
            <a:avLst/>
          </a:prstGeom>
          <a:noFill/>
          <a:ln/>
        </p:spPr>
        <p:txBody>
          <a:bodyPr wrap="square" lIns="0" tIns="0" rIns="0" bIns="0" rtlCol="0" anchor="ctr"/>
          <a:lstStyle/>
          <a:p>
            <a:pPr marL="0" indent="0">
              <a:buNone/>
            </a:pPr>
            <a:r>
              <a:rPr lang="en-US" sz="1350" b="1" dirty="0">
                <a:solidFill>
                  <a:srgbClr val="141A2E"/>
                </a:solidFill>
                <a:latin typeface="Cambria" pitchFamily="34" charset="0"/>
                <a:ea typeface="Cambria" pitchFamily="34" charset="-122"/>
                <a:cs typeface="Cambria" pitchFamily="34" charset="-120"/>
              </a:rPr>
              <a:t>Calibration</a:t>
            </a:r>
            <a:endParaRPr lang="en-US" sz="1350" dirty="0"/>
          </a:p>
        </p:txBody>
      </p:sp>
      <p:sp>
        <p:nvSpPr>
          <p:cNvPr id="22" name="Text 20"/>
          <p:cNvSpPr txBox="1"/>
          <p:nvPr/>
        </p:nvSpPr>
        <p:spPr>
          <a:xfrm>
            <a:off x="3401568" y="5029200"/>
            <a:ext cx="8046720" cy="932688"/>
          </a:xfrm>
          <a:prstGeom prst="rect">
            <a:avLst/>
          </a:prstGeom>
          <a:noFill/>
          <a:ln/>
        </p:spPr>
        <p:txBody>
          <a:bodyPr wrap="square" lIns="0" tIns="0" rIns="0" bIns="0" rtlCol="0" anchor="ctr"/>
          <a:lstStyle/>
          <a:p>
            <a:pPr marL="0" indent="0">
              <a:buNone/>
            </a:pPr>
            <a:r>
              <a:rPr lang="en-US" sz="1220" dirty="0">
                <a:solidFill>
                  <a:srgbClr val="262C44"/>
                </a:solidFill>
                <a:latin typeface="Calibri" pitchFamily="34" charset="0"/>
                <a:ea typeface="Calibri" pitchFamily="34" charset="-122"/>
                <a:cs typeface="Calibri" pitchFamily="34" charset="-120"/>
              </a:rPr>
              <a:t>The final suggestion: entropy may interact with calibration, since better uncertainty estimation could drive better adaptation.</a:t>
            </a:r>
            <a:endParaRPr lang="en-US" sz="1220" dirty="0"/>
          </a:p>
        </p:txBody>
      </p:sp>
      <p:sp>
        <p:nvSpPr>
          <p:cNvPr id="23" name="Shape 21"/>
          <p:cNvSpPr/>
          <p:nvPr/>
        </p:nvSpPr>
        <p:spPr>
          <a:xfrm>
            <a:off x="566928" y="6089904"/>
            <a:ext cx="11064240" cy="18288"/>
          </a:xfrm>
          <a:prstGeom prst="roundRect">
            <a:avLst>
              <a:gd name="adj" fmla="val 300000"/>
            </a:avLst>
          </a:prstGeom>
          <a:solidFill>
            <a:srgbClr val="FFFFFF"/>
          </a:solidFill>
          <a:ln w="12700">
            <a:solidFill>
              <a:srgbClr val="FFFFFF"/>
            </a:solidFill>
            <a:prstDash val="solid"/>
          </a:ln>
        </p:spPr>
        <p:txBody>
          <a:bodyPr/>
          <a:lstStyle/>
          <a:p>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1C2440"/>
        </a:solidFill>
        <a:effectLst/>
      </p:bgPr>
    </p:bg>
    <p:spTree>
      <p:nvGrpSpPr>
        <p:cNvPr id="1" name=""/>
        <p:cNvGrpSpPr/>
        <p:nvPr/>
      </p:nvGrpSpPr>
      <p:grpSpPr>
        <a:xfrm>
          <a:off x="0" y="0"/>
          <a:ext cx="0" cy="0"/>
          <a:chOff x="0" y="0"/>
          <a:chExt cx="0" cy="0"/>
        </a:xfrm>
      </p:grpSpPr>
      <p:sp>
        <p:nvSpPr>
          <p:cNvPr id="2" name="Shape 0"/>
          <p:cNvSpPr/>
          <p:nvPr/>
        </p:nvSpPr>
        <p:spPr>
          <a:xfrm>
            <a:off x="10515600" y="5349240"/>
            <a:ext cx="768096" cy="548640"/>
          </a:xfrm>
          <a:prstGeom prst="triangle">
            <a:avLst/>
          </a:prstGeom>
          <a:solidFill>
            <a:srgbClr val="C5CBE0"/>
          </a:solidFill>
          <a:ln w="12700">
            <a:solidFill>
              <a:srgbClr val="333333"/>
            </a:solidFill>
            <a:prstDash val="solid"/>
          </a:ln>
        </p:spPr>
        <p:txBody>
          <a:bodyPr/>
          <a:lstStyle/>
          <a:p>
            <a:endParaRPr lang="en-US"/>
          </a:p>
        </p:txBody>
      </p:sp>
      <p:sp>
        <p:nvSpPr>
          <p:cNvPr id="3" name="Shape 1"/>
          <p:cNvSpPr/>
          <p:nvPr/>
        </p:nvSpPr>
        <p:spPr>
          <a:xfrm>
            <a:off x="10789920" y="5568696"/>
            <a:ext cx="219456" cy="329184"/>
          </a:xfrm>
          <a:prstGeom prst="triangle">
            <a:avLst/>
          </a:prstGeom>
          <a:solidFill>
            <a:srgbClr val="2FA8B8"/>
          </a:solidFill>
          <a:ln w="12700">
            <a:solidFill>
              <a:srgbClr val="333333"/>
            </a:solidFill>
            <a:prstDash val="solid"/>
          </a:ln>
        </p:spPr>
        <p:txBody>
          <a:bodyPr/>
          <a:lstStyle/>
          <a:p>
            <a:endParaRPr lang="en-US"/>
          </a:p>
        </p:txBody>
      </p:sp>
      <p:sp>
        <p:nvSpPr>
          <p:cNvPr id="4" name="Text 2"/>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2FA8B8"/>
                </a:solidFill>
                <a:latin typeface="Cambria" pitchFamily="34" charset="0"/>
                <a:ea typeface="Cambria" pitchFamily="34" charset="-122"/>
                <a:cs typeface="Cambria" pitchFamily="34" charset="-120"/>
              </a:rPr>
              <a:t>5</a:t>
            </a:r>
            <a:endParaRPr lang="en-US" sz="6600" dirty="0"/>
          </a:p>
        </p:txBody>
      </p:sp>
      <p:sp>
        <p:nvSpPr>
          <p:cNvPr id="5" name="Text 3"/>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Appraisal and legacy</a:t>
            </a:r>
            <a:endParaRPr lang="en-US" sz="3300" dirty="0"/>
          </a:p>
        </p:txBody>
      </p:sp>
      <p:sp>
        <p:nvSpPr>
          <p:cNvPr id="6" name="Text 4"/>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C5CBE0"/>
                </a:solidFill>
                <a:latin typeface="Calibri" pitchFamily="34" charset="0"/>
                <a:ea typeface="Calibri" pitchFamily="34" charset="-122"/>
                <a:cs typeface="Calibri" pitchFamily="34" charset="-120"/>
              </a:rPr>
              <a:t>What Tent started</a:t>
            </a:r>
            <a:endParaRPr lang="en-US" sz="150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9BA3BE"/>
                </a:solidFill>
                <a:latin typeface="Calibri" pitchFamily="34" charset="0"/>
                <a:ea typeface="Calibri" pitchFamily="34" charset="-122"/>
                <a:cs typeface="Calibri" pitchFamily="34" charset="-120"/>
              </a:rPr>
              <a:t>Tent · Wang et al. 2021  |  22</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75488"/>
            <a:ext cx="384048" cy="274320"/>
          </a:xfrm>
          <a:prstGeom prst="triangle">
            <a:avLst/>
          </a:prstGeom>
          <a:solidFill>
            <a:srgbClr val="3B4A7A"/>
          </a:solidFill>
          <a:ln w="12700">
            <a:solidFill>
              <a:srgbClr val="333333"/>
            </a:solidFill>
            <a:prstDash val="solid"/>
          </a:ln>
        </p:spPr>
        <p:txBody>
          <a:bodyPr/>
          <a:lstStyle/>
          <a:p>
            <a:endParaRPr lang="en-US"/>
          </a:p>
        </p:txBody>
      </p:sp>
      <p:sp>
        <p:nvSpPr>
          <p:cNvPr id="3" name="Shape 1"/>
          <p:cNvSpPr/>
          <p:nvPr/>
        </p:nvSpPr>
        <p:spPr>
          <a:xfrm>
            <a:off x="11256264" y="585216"/>
            <a:ext cx="109728" cy="164592"/>
          </a:xfrm>
          <a:prstGeom prst="triangle">
            <a:avLst/>
          </a:prstGeom>
          <a:solidFill>
            <a:srgbClr val="2FA8B8"/>
          </a:solidFill>
          <a:ln w="12700">
            <a:solidFill>
              <a:srgbClr val="333333"/>
            </a:solidFill>
            <a:prstDash val="solid"/>
          </a:ln>
        </p:spPr>
        <p:txBody>
          <a:bodyPr/>
          <a:lstStyle/>
          <a:p>
            <a:endParaRPr lang="en-US"/>
          </a:p>
        </p:txBody>
      </p:sp>
      <p:sp>
        <p:nvSpPr>
          <p:cNvPr id="4" name="Text 2"/>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41A2E"/>
                </a:solidFill>
                <a:latin typeface="Cambria" pitchFamily="34" charset="0"/>
                <a:ea typeface="Cambria" pitchFamily="34" charset="-122"/>
                <a:cs typeface="Cambria" pitchFamily="34" charset="-120"/>
              </a:rPr>
              <a:t>Critical appraisal</a:t>
            </a:r>
            <a:endParaRPr lang="en-US" sz="2900" dirty="0"/>
          </a:p>
        </p:txBody>
      </p:sp>
      <p:sp>
        <p:nvSpPr>
          <p:cNvPr id="5" name="Text 3"/>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A6180"/>
                </a:solidFill>
                <a:latin typeface="Calibri" pitchFamily="34" charset="0"/>
                <a:ea typeface="Calibri" pitchFamily="34" charset="-122"/>
                <a:cs typeface="Calibri" pitchFamily="34" charset="-120"/>
              </a:rPr>
              <a:t>What the design buys, and what it costs</a:t>
            </a:r>
            <a:endParaRPr lang="en-US" sz="1350" dirty="0"/>
          </a:p>
        </p:txBody>
      </p:sp>
      <p:sp>
        <p:nvSpPr>
          <p:cNvPr id="6" name="Text 4"/>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9BA3BE"/>
                </a:solidFill>
                <a:latin typeface="Calibri" pitchFamily="34" charset="0"/>
                <a:ea typeface="Calibri" pitchFamily="34" charset="-122"/>
                <a:cs typeface="Calibri" pitchFamily="34" charset="-120"/>
              </a:rPr>
              <a:t>Tent · Wang et al. 2021  |  23</a:t>
            </a:r>
            <a:endParaRPr lang="en-US" sz="900" dirty="0"/>
          </a:p>
        </p:txBody>
      </p:sp>
      <p:sp>
        <p:nvSpPr>
          <p:cNvPr id="7" name="Shape 5"/>
          <p:cNvSpPr/>
          <p:nvPr/>
        </p:nvSpPr>
        <p:spPr>
          <a:xfrm>
            <a:off x="566928" y="1554480"/>
            <a:ext cx="5440680" cy="4498848"/>
          </a:xfrm>
          <a:prstGeom prst="roundRect">
            <a:avLst>
              <a:gd name="adj" fmla="val 1220"/>
            </a:avLst>
          </a:prstGeom>
          <a:solidFill>
            <a:srgbClr val="F1F2F7"/>
          </a:solidFill>
          <a:ln w="12700">
            <a:solidFill>
              <a:srgbClr val="E1E4EE"/>
            </a:solidFill>
            <a:prstDash val="solid"/>
          </a:ln>
        </p:spPr>
        <p:txBody>
          <a:bodyPr/>
          <a:lstStyle/>
          <a:p>
            <a:endParaRPr lang="en-US"/>
          </a:p>
        </p:txBody>
      </p:sp>
      <p:sp>
        <p:nvSpPr>
          <p:cNvPr id="8" name="Shape 6"/>
          <p:cNvSpPr/>
          <p:nvPr/>
        </p:nvSpPr>
        <p:spPr>
          <a:xfrm>
            <a:off x="786384" y="1847088"/>
            <a:ext cx="109728" cy="109728"/>
          </a:xfrm>
          <a:prstGeom prst="ellipse">
            <a:avLst/>
          </a:prstGeom>
          <a:solidFill>
            <a:srgbClr val="3B4A7A"/>
          </a:solidFill>
          <a:ln w="12700">
            <a:solidFill>
              <a:srgbClr val="333333"/>
            </a:solidFill>
            <a:prstDash val="solid"/>
          </a:ln>
        </p:spPr>
        <p:txBody>
          <a:bodyPr/>
          <a:lstStyle/>
          <a:p>
            <a:endParaRPr lang="en-US"/>
          </a:p>
        </p:txBody>
      </p:sp>
      <p:sp>
        <p:nvSpPr>
          <p:cNvPr id="9" name="Text 7"/>
          <p:cNvSpPr txBox="1"/>
          <p:nvPr/>
        </p:nvSpPr>
        <p:spPr>
          <a:xfrm>
            <a:off x="987552" y="1719072"/>
            <a:ext cx="4800600" cy="365760"/>
          </a:xfrm>
          <a:prstGeom prst="rect">
            <a:avLst/>
          </a:prstGeom>
          <a:noFill/>
          <a:ln/>
        </p:spPr>
        <p:txBody>
          <a:bodyPr wrap="square" lIns="0" tIns="0" rIns="0" bIns="0" rtlCol="0" anchor="ctr"/>
          <a:lstStyle/>
          <a:p>
            <a:pPr marL="0" indent="0">
              <a:buNone/>
            </a:pPr>
            <a:r>
              <a:rPr lang="en-US" sz="1700" b="1" dirty="0">
                <a:solidFill>
                  <a:srgbClr val="141A2E"/>
                </a:solidFill>
                <a:latin typeface="Cambria" pitchFamily="34" charset="0"/>
                <a:ea typeface="Cambria" pitchFamily="34" charset="-122"/>
                <a:cs typeface="Cambria" pitchFamily="34" charset="-120"/>
              </a:rPr>
              <a:t>Strengths</a:t>
            </a:r>
            <a:endParaRPr lang="en-US" sz="1700" dirty="0"/>
          </a:p>
        </p:txBody>
      </p:sp>
      <p:sp>
        <p:nvSpPr>
          <p:cNvPr id="10" name="Text 8"/>
          <p:cNvSpPr txBox="1"/>
          <p:nvPr/>
        </p:nvSpPr>
        <p:spPr>
          <a:xfrm>
            <a:off x="822960" y="2157984"/>
            <a:ext cx="4928616" cy="3712464"/>
          </a:xfrm>
          <a:prstGeom prst="rect">
            <a:avLst/>
          </a:prstGeom>
          <a:noFill/>
          <a:ln/>
        </p:spPr>
        <p:txBody>
          <a:bodyPr wrap="square" lIns="0" tIns="0" rIns="0" bIns="0" rtlCol="0" anchor="t"/>
          <a:lstStyle/>
          <a:p>
            <a:pPr marL="0" indent="0">
              <a:lnSpc>
                <a:spcPct val="108000"/>
              </a:lnSpc>
              <a:buNone/>
            </a:pPr>
            <a:r>
              <a:rPr lang="en-US" sz="1220" dirty="0">
                <a:solidFill>
                  <a:srgbClr val="262C44"/>
                </a:solidFill>
                <a:latin typeface="Calibri" pitchFamily="34" charset="0"/>
                <a:ea typeface="Calibri" pitchFamily="34" charset="-122"/>
                <a:cs typeface="Calibri" pitchFamily="34" charset="-120"/>
              </a:rPr>
              <a:t>A clean definition of a setting the field needed, with a table that made the distinctions legible.</a:t>
            </a:r>
            <a:endParaRPr lang="en-US" sz="1220" dirty="0"/>
          </a:p>
          <a:p>
            <a:pPr marL="0" indent="0">
              <a:lnSpc>
                <a:spcPct val="108000"/>
              </a:lnSpc>
              <a:buNone/>
            </a:pPr>
            <a:endParaRPr lang="en-US" sz="1220" dirty="0"/>
          </a:p>
          <a:p>
            <a:pPr marL="0" indent="0">
              <a:lnSpc>
                <a:spcPct val="108000"/>
              </a:lnSpc>
              <a:buNone/>
            </a:pPr>
            <a:r>
              <a:rPr lang="en-US" sz="1220" dirty="0">
                <a:solidFill>
                  <a:srgbClr val="262C44"/>
                </a:solidFill>
                <a:latin typeface="Calibri" pitchFamily="34" charset="0"/>
                <a:ea typeface="Calibri" pitchFamily="34" charset="-122"/>
                <a:cs typeface="Calibri" pitchFamily="34" charset="-120"/>
              </a:rPr>
              <a:t>Radical simplicity: one loss, under 1% of parameters, one gradient per point, about ten lines of code on top of existing normalisation layers.</a:t>
            </a:r>
            <a:endParaRPr lang="en-US" sz="1220" dirty="0"/>
          </a:p>
          <a:p>
            <a:pPr marL="0" indent="0">
              <a:lnSpc>
                <a:spcPct val="108000"/>
              </a:lnSpc>
              <a:buNone/>
            </a:pPr>
            <a:endParaRPr lang="en-US" sz="1220" dirty="0"/>
          </a:p>
          <a:p>
            <a:pPr marL="0" indent="0">
              <a:lnSpc>
                <a:spcPct val="108000"/>
              </a:lnSpc>
              <a:buNone/>
            </a:pPr>
            <a:r>
              <a:rPr lang="en-US" sz="1220" dirty="0">
                <a:solidFill>
                  <a:srgbClr val="262C44"/>
                </a:solidFill>
                <a:latin typeface="Calibri" pitchFamily="34" charset="0"/>
                <a:ea typeface="Calibri" pitchFamily="34" charset="-122"/>
                <a:cs typeface="Calibri" pitchFamily="34" charset="-120"/>
              </a:rPr>
              <a:t>Breadth of evidence: corruptions at two scales, three digit shifts, segmentation, VisDA, and three architectures including non-convolutional ones.</a:t>
            </a:r>
            <a:endParaRPr lang="en-US" sz="1220" dirty="0"/>
          </a:p>
          <a:p>
            <a:pPr marL="0" indent="0">
              <a:lnSpc>
                <a:spcPct val="108000"/>
              </a:lnSpc>
              <a:buNone/>
            </a:pPr>
            <a:endParaRPr lang="en-US" sz="1220" dirty="0"/>
          </a:p>
          <a:p>
            <a:pPr marL="0" indent="0">
              <a:lnSpc>
                <a:spcPct val="108000"/>
              </a:lnSpc>
              <a:buNone/>
            </a:pPr>
            <a:r>
              <a:rPr lang="en-US" sz="1220" dirty="0">
                <a:solidFill>
                  <a:srgbClr val="262C44"/>
                </a:solidFill>
                <a:latin typeface="Calibri" pitchFamily="34" charset="0"/>
                <a:ea typeface="Calibri" pitchFamily="34" charset="-122"/>
                <a:cs typeface="Calibri" pitchFamily="34" charset="-120"/>
              </a:rPr>
              <a:t>Honest failure reporting — MNIST-to-SVHN, natural shifts, and the cases where domain adaptation still wins.</a:t>
            </a:r>
            <a:endParaRPr lang="en-US" sz="1220" dirty="0"/>
          </a:p>
          <a:p>
            <a:pPr marL="0" indent="0">
              <a:lnSpc>
                <a:spcPct val="108000"/>
              </a:lnSpc>
              <a:buNone/>
            </a:pPr>
            <a:endParaRPr lang="en-US" sz="1220" dirty="0"/>
          </a:p>
          <a:p>
            <a:pPr marL="0" indent="0">
              <a:lnSpc>
                <a:spcPct val="108000"/>
              </a:lnSpc>
              <a:buNone/>
            </a:pPr>
            <a:r>
              <a:rPr lang="en-US" sz="1220" dirty="0">
                <a:solidFill>
                  <a:srgbClr val="262C44"/>
                </a:solidFill>
                <a:latin typeface="Calibri" pitchFamily="34" charset="0"/>
                <a:ea typeface="Calibri" pitchFamily="34" charset="-122"/>
                <a:cs typeface="Calibri" pitchFamily="34" charset="-120"/>
              </a:rPr>
              <a:t>A discussion section that reads as a research agenda, and largely became one.</a:t>
            </a:r>
            <a:endParaRPr lang="en-US" sz="1220" dirty="0"/>
          </a:p>
          <a:p>
            <a:pPr marL="0" indent="0">
              <a:lnSpc>
                <a:spcPct val="108000"/>
              </a:lnSpc>
              <a:buNone/>
            </a:pPr>
            <a:endParaRPr lang="en-US" sz="1220" dirty="0"/>
          </a:p>
          <a:p>
            <a:pPr marL="0" indent="0">
              <a:lnSpc>
                <a:spcPct val="108000"/>
              </a:lnSpc>
              <a:buNone/>
            </a:pPr>
            <a:r>
              <a:rPr lang="en-US" sz="1220" dirty="0">
                <a:solidFill>
                  <a:srgbClr val="262C44"/>
                </a:solidFill>
                <a:latin typeface="Calibri" pitchFamily="34" charset="0"/>
                <a:ea typeface="Calibri" pitchFamily="34" charset="-122"/>
                <a:cs typeface="Calibri" pitchFamily="34" charset="-120"/>
              </a:rPr>
              <a:t>Code released and widely reproduced.</a:t>
            </a:r>
            <a:endParaRPr lang="en-US" sz="1220" dirty="0"/>
          </a:p>
        </p:txBody>
      </p:sp>
      <p:sp>
        <p:nvSpPr>
          <p:cNvPr id="11" name="Shape 9"/>
          <p:cNvSpPr/>
          <p:nvPr/>
        </p:nvSpPr>
        <p:spPr>
          <a:xfrm>
            <a:off x="6190488" y="1554480"/>
            <a:ext cx="5440680" cy="4498848"/>
          </a:xfrm>
          <a:prstGeom prst="roundRect">
            <a:avLst>
              <a:gd name="adj" fmla="val 1220"/>
            </a:avLst>
          </a:prstGeom>
          <a:solidFill>
            <a:srgbClr val="F1F2F7"/>
          </a:solidFill>
          <a:ln w="12700">
            <a:solidFill>
              <a:srgbClr val="E1E4EE"/>
            </a:solidFill>
            <a:prstDash val="solid"/>
          </a:ln>
        </p:spPr>
        <p:txBody>
          <a:bodyPr/>
          <a:lstStyle/>
          <a:p>
            <a:endParaRPr lang="en-US"/>
          </a:p>
        </p:txBody>
      </p:sp>
      <p:sp>
        <p:nvSpPr>
          <p:cNvPr id="12" name="Shape 10"/>
          <p:cNvSpPr/>
          <p:nvPr/>
        </p:nvSpPr>
        <p:spPr>
          <a:xfrm>
            <a:off x="6409944" y="1847088"/>
            <a:ext cx="109728" cy="109728"/>
          </a:xfrm>
          <a:prstGeom prst="ellipse">
            <a:avLst/>
          </a:prstGeom>
          <a:solidFill>
            <a:srgbClr val="2FA8B8"/>
          </a:solidFill>
          <a:ln w="12700">
            <a:solidFill>
              <a:srgbClr val="333333"/>
            </a:solidFill>
            <a:prstDash val="solid"/>
          </a:ln>
        </p:spPr>
        <p:txBody>
          <a:bodyPr/>
          <a:lstStyle/>
          <a:p>
            <a:endParaRPr lang="en-US"/>
          </a:p>
        </p:txBody>
      </p:sp>
      <p:sp>
        <p:nvSpPr>
          <p:cNvPr id="13" name="Text 11"/>
          <p:cNvSpPr txBox="1"/>
          <p:nvPr/>
        </p:nvSpPr>
        <p:spPr>
          <a:xfrm>
            <a:off x="6611112" y="1719072"/>
            <a:ext cx="4800600" cy="365760"/>
          </a:xfrm>
          <a:prstGeom prst="rect">
            <a:avLst/>
          </a:prstGeom>
          <a:noFill/>
          <a:ln/>
        </p:spPr>
        <p:txBody>
          <a:bodyPr wrap="square" lIns="0" tIns="0" rIns="0" bIns="0" rtlCol="0" anchor="ctr"/>
          <a:lstStyle/>
          <a:p>
            <a:pPr marL="0" indent="0">
              <a:buNone/>
            </a:pPr>
            <a:r>
              <a:rPr lang="en-US" sz="1700" b="1" dirty="0">
                <a:solidFill>
                  <a:srgbClr val="141A2E"/>
                </a:solidFill>
                <a:latin typeface="Cambria" pitchFamily="34" charset="0"/>
                <a:ea typeface="Cambria" pitchFamily="34" charset="-122"/>
                <a:cs typeface="Cambria" pitchFamily="34" charset="-120"/>
              </a:rPr>
              <a:t>Limitations</a:t>
            </a:r>
            <a:endParaRPr lang="en-US" sz="1700" dirty="0"/>
          </a:p>
        </p:txBody>
      </p:sp>
      <p:sp>
        <p:nvSpPr>
          <p:cNvPr id="14" name="Text 12"/>
          <p:cNvSpPr txBox="1"/>
          <p:nvPr/>
        </p:nvSpPr>
        <p:spPr>
          <a:xfrm>
            <a:off x="6446520" y="2157984"/>
            <a:ext cx="4928616" cy="3712464"/>
          </a:xfrm>
          <a:prstGeom prst="rect">
            <a:avLst/>
          </a:prstGeom>
          <a:noFill/>
          <a:ln/>
        </p:spPr>
        <p:txBody>
          <a:bodyPr wrap="square" lIns="0" tIns="0" rIns="0" bIns="0" rtlCol="0" anchor="t"/>
          <a:lstStyle/>
          <a:p>
            <a:pPr marL="0" indent="0">
              <a:lnSpc>
                <a:spcPct val="108000"/>
              </a:lnSpc>
              <a:buNone/>
            </a:pPr>
            <a:r>
              <a:rPr lang="en-US" sz="1220" dirty="0">
                <a:solidFill>
                  <a:srgbClr val="262C44"/>
                </a:solidFill>
                <a:latin typeface="Calibri" pitchFamily="34" charset="0"/>
                <a:ea typeface="Calibri" pitchFamily="34" charset="-122"/>
                <a:cs typeface="Calibri" pitchFamily="34" charset="-120"/>
              </a:rPr>
              <a:t>The central premise rests on a rank correlation of 0.22 between entropy change and loss change.</a:t>
            </a:r>
            <a:endParaRPr lang="en-US" sz="1220" dirty="0"/>
          </a:p>
          <a:p>
            <a:pPr marL="0" indent="0">
              <a:lnSpc>
                <a:spcPct val="108000"/>
              </a:lnSpc>
              <a:buNone/>
            </a:pPr>
            <a:endParaRPr lang="en-US" sz="1220" dirty="0"/>
          </a:p>
          <a:p>
            <a:pPr marL="0" indent="0">
              <a:lnSpc>
                <a:spcPct val="108000"/>
              </a:lnSpc>
              <a:buNone/>
            </a:pPr>
            <a:r>
              <a:rPr lang="en-US" sz="1220" dirty="0">
                <a:solidFill>
                  <a:srgbClr val="262C44"/>
                </a:solidFill>
                <a:latin typeface="Calibri" pitchFamily="34" charset="0"/>
                <a:ea typeface="Calibri" pitchFamily="34" charset="-122"/>
                <a:cs typeface="Calibri" pitchFamily="34" charset="-120"/>
              </a:rPr>
              <a:t>Entropy minimisation amplifies existing beliefs, so it entrenches errors under severe shift.</a:t>
            </a:r>
            <a:endParaRPr lang="en-US" sz="1220" dirty="0"/>
          </a:p>
          <a:p>
            <a:pPr marL="0" indent="0">
              <a:lnSpc>
                <a:spcPct val="108000"/>
              </a:lnSpc>
              <a:buNone/>
            </a:pPr>
            <a:endParaRPr lang="en-US" sz="1220" dirty="0"/>
          </a:p>
          <a:p>
            <a:pPr marL="0" indent="0">
              <a:lnSpc>
                <a:spcPct val="108000"/>
              </a:lnSpc>
              <a:buNone/>
            </a:pPr>
            <a:r>
              <a:rPr lang="en-US" sz="1220" dirty="0">
                <a:solidFill>
                  <a:srgbClr val="262C44"/>
                </a:solidFill>
                <a:latin typeface="Calibri" pitchFamily="34" charset="0"/>
                <a:ea typeface="Calibri" pitchFamily="34" charset="-122"/>
                <a:cs typeface="Calibri" pitchFamily="34" charset="-120"/>
              </a:rPr>
              <a:t>The batch requirement is structural, not incidental, and rules out single-sample streaming.</a:t>
            </a:r>
            <a:endParaRPr lang="en-US" sz="1220" dirty="0"/>
          </a:p>
          <a:p>
            <a:pPr marL="0" indent="0">
              <a:lnSpc>
                <a:spcPct val="108000"/>
              </a:lnSpc>
              <a:buNone/>
            </a:pPr>
            <a:endParaRPr lang="en-US" sz="1220" dirty="0"/>
          </a:p>
          <a:p>
            <a:pPr marL="0" indent="0">
              <a:lnSpc>
                <a:spcPct val="108000"/>
              </a:lnSpc>
              <a:buNone/>
            </a:pPr>
            <a:r>
              <a:rPr lang="en-US" sz="1220" dirty="0">
                <a:solidFill>
                  <a:srgbClr val="262C44"/>
                </a:solidFill>
                <a:latin typeface="Calibri" pitchFamily="34" charset="0"/>
                <a:ea typeface="Calibri" pitchFamily="34" charset="-122"/>
                <a:cs typeface="Calibri" pitchFamily="34" charset="-120"/>
              </a:rPr>
              <a:t>Depends on normalisation layers — the method has no obvious form for architectures without them.</a:t>
            </a:r>
            <a:endParaRPr lang="en-US" sz="1220" dirty="0"/>
          </a:p>
          <a:p>
            <a:pPr marL="0" indent="0">
              <a:lnSpc>
                <a:spcPct val="108000"/>
              </a:lnSpc>
              <a:buNone/>
            </a:pPr>
            <a:endParaRPr lang="en-US" sz="1220" dirty="0"/>
          </a:p>
          <a:p>
            <a:pPr marL="0" indent="0">
              <a:lnSpc>
                <a:spcPct val="108000"/>
              </a:lnSpc>
              <a:buNone/>
            </a:pPr>
            <a:r>
              <a:rPr lang="en-US" sz="1220" dirty="0">
                <a:solidFill>
                  <a:srgbClr val="262C44"/>
                </a:solidFill>
                <a:latin typeface="Calibri" pitchFamily="34" charset="0"/>
                <a:ea typeface="Calibri" pitchFamily="34" charset="-122"/>
                <a:cs typeface="Calibri" pitchFamily="34" charset="-120"/>
              </a:rPr>
              <a:t>Hyperparameters are set by following the source model's training recipe, and later work showed test-time adaptation is unusually sensitive to this choice with no labelled data to tune on.</a:t>
            </a:r>
            <a:endParaRPr lang="en-US" sz="1220" dirty="0"/>
          </a:p>
          <a:p>
            <a:pPr marL="0" indent="0">
              <a:lnSpc>
                <a:spcPct val="108000"/>
              </a:lnSpc>
              <a:buNone/>
            </a:pPr>
            <a:endParaRPr lang="en-US" sz="1220" dirty="0"/>
          </a:p>
          <a:p>
            <a:pPr marL="0" indent="0">
              <a:lnSpc>
                <a:spcPct val="108000"/>
              </a:lnSpc>
              <a:buNone/>
            </a:pPr>
            <a:r>
              <a:rPr lang="en-US" sz="1220" dirty="0">
                <a:solidFill>
                  <a:srgbClr val="262C44"/>
                </a:solidFill>
                <a:latin typeface="Calibri" pitchFamily="34" charset="0"/>
                <a:ea typeface="Calibri" pitchFamily="34" charset="-122"/>
                <a:cs typeface="Calibri" pitchFamily="34" charset="-120"/>
              </a:rPr>
              <a:t>No treatment of what happens over long streams, where errors can compound.</a:t>
            </a:r>
            <a:endParaRPr lang="en-US" sz="122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75488"/>
            <a:ext cx="384048" cy="274320"/>
          </a:xfrm>
          <a:prstGeom prst="triangle">
            <a:avLst/>
          </a:prstGeom>
          <a:solidFill>
            <a:srgbClr val="3B4A7A"/>
          </a:solidFill>
          <a:ln w="12700">
            <a:solidFill>
              <a:srgbClr val="333333"/>
            </a:solidFill>
            <a:prstDash val="solid"/>
          </a:ln>
        </p:spPr>
        <p:txBody>
          <a:bodyPr/>
          <a:lstStyle/>
          <a:p>
            <a:endParaRPr lang="en-US"/>
          </a:p>
        </p:txBody>
      </p:sp>
      <p:sp>
        <p:nvSpPr>
          <p:cNvPr id="3" name="Shape 1"/>
          <p:cNvSpPr/>
          <p:nvPr/>
        </p:nvSpPr>
        <p:spPr>
          <a:xfrm>
            <a:off x="11256264" y="585216"/>
            <a:ext cx="109728" cy="164592"/>
          </a:xfrm>
          <a:prstGeom prst="triangle">
            <a:avLst/>
          </a:prstGeom>
          <a:solidFill>
            <a:srgbClr val="2FA8B8"/>
          </a:solidFill>
          <a:ln w="12700">
            <a:solidFill>
              <a:srgbClr val="333333"/>
            </a:solidFill>
            <a:prstDash val="solid"/>
          </a:ln>
        </p:spPr>
        <p:txBody>
          <a:bodyPr/>
          <a:lstStyle/>
          <a:p>
            <a:endParaRPr lang="en-US"/>
          </a:p>
        </p:txBody>
      </p:sp>
      <p:sp>
        <p:nvSpPr>
          <p:cNvPr id="4" name="Text 2"/>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41A2E"/>
                </a:solidFill>
                <a:latin typeface="Cambria" pitchFamily="34" charset="0"/>
                <a:ea typeface="Cambria" pitchFamily="34" charset="-122"/>
                <a:cs typeface="Cambria" pitchFamily="34" charset="-120"/>
              </a:rPr>
              <a:t>Legacy</a:t>
            </a:r>
            <a:endParaRPr lang="en-US" sz="2900" dirty="0"/>
          </a:p>
        </p:txBody>
      </p:sp>
      <p:sp>
        <p:nvSpPr>
          <p:cNvPr id="5" name="Text 3"/>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A6180"/>
                </a:solidFill>
                <a:latin typeface="Calibri" pitchFamily="34" charset="0"/>
                <a:ea typeface="Calibri" pitchFamily="34" charset="-122"/>
                <a:cs typeface="Calibri" pitchFamily="34" charset="-120"/>
              </a:rPr>
              <a:t>What Tent started, and the bridge to the second half</a:t>
            </a:r>
            <a:endParaRPr lang="en-US" sz="1350" dirty="0"/>
          </a:p>
        </p:txBody>
      </p:sp>
      <p:sp>
        <p:nvSpPr>
          <p:cNvPr id="6" name="Text 4"/>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9BA3BE"/>
                </a:solidFill>
                <a:latin typeface="Calibri" pitchFamily="34" charset="0"/>
                <a:ea typeface="Calibri" pitchFamily="34" charset="-122"/>
                <a:cs typeface="Calibri" pitchFamily="34" charset="-120"/>
              </a:rPr>
              <a:t>Tent · Wang et al. 2021  |  24</a:t>
            </a:r>
            <a:endParaRPr lang="en-US" sz="900" dirty="0"/>
          </a:p>
        </p:txBody>
      </p:sp>
      <p:sp>
        <p:nvSpPr>
          <p:cNvPr id="7" name="Shape 5"/>
          <p:cNvSpPr/>
          <p:nvPr/>
        </p:nvSpPr>
        <p:spPr>
          <a:xfrm>
            <a:off x="566928" y="1554480"/>
            <a:ext cx="11064240" cy="1078992"/>
          </a:xfrm>
          <a:prstGeom prst="roundRect">
            <a:avLst>
              <a:gd name="adj" fmla="val 2542"/>
            </a:avLst>
          </a:prstGeom>
          <a:solidFill>
            <a:srgbClr val="F1F2F7"/>
          </a:solidFill>
          <a:ln w="12700">
            <a:solidFill>
              <a:srgbClr val="E8EBF2"/>
            </a:solidFill>
            <a:prstDash val="solid"/>
          </a:ln>
        </p:spPr>
        <p:txBody>
          <a:bodyPr/>
          <a:lstStyle/>
          <a:p>
            <a:endParaRPr lang="en-US"/>
          </a:p>
        </p:txBody>
      </p:sp>
      <p:sp>
        <p:nvSpPr>
          <p:cNvPr id="8" name="Shape 6"/>
          <p:cNvSpPr/>
          <p:nvPr/>
        </p:nvSpPr>
        <p:spPr>
          <a:xfrm>
            <a:off x="786384" y="2034540"/>
            <a:ext cx="118872" cy="118872"/>
          </a:xfrm>
          <a:prstGeom prst="ellipse">
            <a:avLst/>
          </a:prstGeom>
          <a:solidFill>
            <a:srgbClr val="3B4A7A"/>
          </a:solidFill>
          <a:ln w="12700">
            <a:solidFill>
              <a:srgbClr val="333333"/>
            </a:solidFill>
            <a:prstDash val="solid"/>
          </a:ln>
        </p:spPr>
        <p:txBody>
          <a:bodyPr/>
          <a:lstStyle/>
          <a:p>
            <a:endParaRPr lang="en-US"/>
          </a:p>
        </p:txBody>
      </p:sp>
      <p:sp>
        <p:nvSpPr>
          <p:cNvPr id="9" name="Text 7"/>
          <p:cNvSpPr txBox="1"/>
          <p:nvPr/>
        </p:nvSpPr>
        <p:spPr>
          <a:xfrm>
            <a:off x="1024128" y="1645920"/>
            <a:ext cx="2926080" cy="896112"/>
          </a:xfrm>
          <a:prstGeom prst="rect">
            <a:avLst/>
          </a:prstGeom>
          <a:noFill/>
          <a:ln/>
        </p:spPr>
        <p:txBody>
          <a:bodyPr wrap="square" lIns="0" tIns="0" rIns="0" bIns="0" rtlCol="0" anchor="ctr"/>
          <a:lstStyle/>
          <a:p>
            <a:pPr marL="0" indent="0">
              <a:buNone/>
            </a:pPr>
            <a:r>
              <a:rPr lang="en-US" sz="1300" b="1" dirty="0">
                <a:solidFill>
                  <a:srgbClr val="141A2E"/>
                </a:solidFill>
                <a:latin typeface="Cambria" pitchFamily="34" charset="0"/>
                <a:ea typeface="Cambria" pitchFamily="34" charset="-122"/>
                <a:cs typeface="Cambria" pitchFamily="34" charset="-120"/>
              </a:rPr>
              <a:t>The TTA subfield</a:t>
            </a:r>
            <a:endParaRPr lang="en-US" sz="1300" dirty="0"/>
          </a:p>
        </p:txBody>
      </p:sp>
      <p:sp>
        <p:nvSpPr>
          <p:cNvPr id="10" name="Text 8"/>
          <p:cNvSpPr txBox="1"/>
          <p:nvPr/>
        </p:nvSpPr>
        <p:spPr>
          <a:xfrm>
            <a:off x="4133088" y="1627632"/>
            <a:ext cx="7315200" cy="932688"/>
          </a:xfrm>
          <a:prstGeom prst="rect">
            <a:avLst/>
          </a:prstGeom>
          <a:noFill/>
          <a:ln/>
        </p:spPr>
        <p:txBody>
          <a:bodyPr wrap="square" lIns="0" tIns="0" rIns="0" bIns="0" rtlCol="0" anchor="ctr"/>
          <a:lstStyle/>
          <a:p>
            <a:pPr marL="0" indent="0">
              <a:buNone/>
            </a:pPr>
            <a:r>
              <a:rPr lang="en-US" sz="1220" dirty="0">
                <a:solidFill>
                  <a:srgbClr val="262C44"/>
                </a:solidFill>
                <a:latin typeface="Calibri" pitchFamily="34" charset="0"/>
                <a:ea typeface="Calibri" pitchFamily="34" charset="-122"/>
                <a:cs typeface="Calibri" pitchFamily="34" charset="-120"/>
              </a:rPr>
              <a:t>Fully test-time adaptation became a standard setting with its own benchmarks, and Tent is the baseline every subsequent method reports against.</a:t>
            </a:r>
            <a:endParaRPr lang="en-US" sz="1220" dirty="0"/>
          </a:p>
        </p:txBody>
      </p:sp>
      <p:sp>
        <p:nvSpPr>
          <p:cNvPr id="11" name="Shape 9"/>
          <p:cNvSpPr/>
          <p:nvPr/>
        </p:nvSpPr>
        <p:spPr>
          <a:xfrm>
            <a:off x="566928" y="2688336"/>
            <a:ext cx="11064240" cy="1078992"/>
          </a:xfrm>
          <a:prstGeom prst="roundRect">
            <a:avLst>
              <a:gd name="adj" fmla="val 2542"/>
            </a:avLst>
          </a:prstGeom>
          <a:solidFill>
            <a:srgbClr val="FFFFFF"/>
          </a:solidFill>
          <a:ln w="12700">
            <a:solidFill>
              <a:srgbClr val="E8EBF2"/>
            </a:solidFill>
            <a:prstDash val="solid"/>
          </a:ln>
        </p:spPr>
        <p:txBody>
          <a:bodyPr/>
          <a:lstStyle/>
          <a:p>
            <a:endParaRPr lang="en-US"/>
          </a:p>
        </p:txBody>
      </p:sp>
      <p:sp>
        <p:nvSpPr>
          <p:cNvPr id="12" name="Shape 10"/>
          <p:cNvSpPr/>
          <p:nvPr/>
        </p:nvSpPr>
        <p:spPr>
          <a:xfrm>
            <a:off x="786384" y="3168396"/>
            <a:ext cx="118872" cy="118872"/>
          </a:xfrm>
          <a:prstGeom prst="ellipse">
            <a:avLst/>
          </a:prstGeom>
          <a:solidFill>
            <a:srgbClr val="3B4A7A"/>
          </a:solidFill>
          <a:ln w="12700">
            <a:solidFill>
              <a:srgbClr val="333333"/>
            </a:solidFill>
            <a:prstDash val="solid"/>
          </a:ln>
        </p:spPr>
        <p:txBody>
          <a:bodyPr/>
          <a:lstStyle/>
          <a:p>
            <a:endParaRPr lang="en-US"/>
          </a:p>
        </p:txBody>
      </p:sp>
      <p:sp>
        <p:nvSpPr>
          <p:cNvPr id="13" name="Text 11"/>
          <p:cNvSpPr txBox="1"/>
          <p:nvPr/>
        </p:nvSpPr>
        <p:spPr>
          <a:xfrm>
            <a:off x="1024128" y="2779776"/>
            <a:ext cx="2926080" cy="896112"/>
          </a:xfrm>
          <a:prstGeom prst="rect">
            <a:avLst/>
          </a:prstGeom>
          <a:noFill/>
          <a:ln/>
        </p:spPr>
        <p:txBody>
          <a:bodyPr wrap="square" lIns="0" tIns="0" rIns="0" bIns="0" rtlCol="0" anchor="ctr"/>
          <a:lstStyle/>
          <a:p>
            <a:pPr marL="0" indent="0">
              <a:buNone/>
            </a:pPr>
            <a:r>
              <a:rPr lang="en-US" sz="1300" b="1" dirty="0">
                <a:solidFill>
                  <a:srgbClr val="141A2E"/>
                </a:solidFill>
                <a:latin typeface="Cambria" pitchFamily="34" charset="0"/>
                <a:ea typeface="Cambria" pitchFamily="34" charset="-122"/>
                <a:cs typeface="Cambria" pitchFamily="34" charset="-120"/>
              </a:rPr>
              <a:t>Continual and lifelong TTA</a:t>
            </a:r>
            <a:endParaRPr lang="en-US" sz="1300" dirty="0"/>
          </a:p>
        </p:txBody>
      </p:sp>
      <p:sp>
        <p:nvSpPr>
          <p:cNvPr id="14" name="Text 12"/>
          <p:cNvSpPr txBox="1"/>
          <p:nvPr/>
        </p:nvSpPr>
        <p:spPr>
          <a:xfrm>
            <a:off x="4133088" y="2761488"/>
            <a:ext cx="7315200" cy="932688"/>
          </a:xfrm>
          <a:prstGeom prst="rect">
            <a:avLst/>
          </a:prstGeom>
          <a:noFill/>
          <a:ln/>
        </p:spPr>
        <p:txBody>
          <a:bodyPr wrap="square" lIns="0" tIns="0" rIns="0" bIns="0" rtlCol="0" anchor="ctr"/>
          <a:lstStyle/>
          <a:p>
            <a:pPr marL="0" indent="0">
              <a:buNone/>
            </a:pPr>
            <a:r>
              <a:rPr lang="en-US" sz="1220" dirty="0">
                <a:solidFill>
                  <a:srgbClr val="262C44"/>
                </a:solidFill>
                <a:latin typeface="Calibri" pitchFamily="34" charset="0"/>
                <a:ea typeface="Calibri" pitchFamily="34" charset="-122"/>
                <a:cs typeface="Calibri" pitchFamily="34" charset="-120"/>
              </a:rPr>
              <a:t>Work on long test streams found that Tent accumulates error and eventually collapses — the confidence-amplification mechanism, played out over time — prompting methods with resets, teachers, and stability constraints.</a:t>
            </a:r>
            <a:endParaRPr lang="en-US" sz="1220" dirty="0"/>
          </a:p>
        </p:txBody>
      </p:sp>
      <p:sp>
        <p:nvSpPr>
          <p:cNvPr id="15" name="Shape 13"/>
          <p:cNvSpPr/>
          <p:nvPr/>
        </p:nvSpPr>
        <p:spPr>
          <a:xfrm>
            <a:off x="566928" y="3822192"/>
            <a:ext cx="11064240" cy="1078992"/>
          </a:xfrm>
          <a:prstGeom prst="roundRect">
            <a:avLst>
              <a:gd name="adj" fmla="val 2542"/>
            </a:avLst>
          </a:prstGeom>
          <a:solidFill>
            <a:srgbClr val="F1F2F7"/>
          </a:solidFill>
          <a:ln w="12700">
            <a:solidFill>
              <a:srgbClr val="E8EBF2"/>
            </a:solidFill>
            <a:prstDash val="solid"/>
          </a:ln>
        </p:spPr>
        <p:txBody>
          <a:bodyPr/>
          <a:lstStyle/>
          <a:p>
            <a:endParaRPr lang="en-US"/>
          </a:p>
        </p:txBody>
      </p:sp>
      <p:sp>
        <p:nvSpPr>
          <p:cNvPr id="16" name="Shape 14"/>
          <p:cNvSpPr/>
          <p:nvPr/>
        </p:nvSpPr>
        <p:spPr>
          <a:xfrm>
            <a:off x="786384" y="4302252"/>
            <a:ext cx="118872" cy="118872"/>
          </a:xfrm>
          <a:prstGeom prst="ellipse">
            <a:avLst/>
          </a:prstGeom>
          <a:solidFill>
            <a:srgbClr val="3B4A7A"/>
          </a:solidFill>
          <a:ln w="12700">
            <a:solidFill>
              <a:srgbClr val="333333"/>
            </a:solidFill>
            <a:prstDash val="solid"/>
          </a:ln>
        </p:spPr>
        <p:txBody>
          <a:bodyPr/>
          <a:lstStyle/>
          <a:p>
            <a:endParaRPr lang="en-US"/>
          </a:p>
        </p:txBody>
      </p:sp>
      <p:sp>
        <p:nvSpPr>
          <p:cNvPr id="17" name="Text 15"/>
          <p:cNvSpPr txBox="1"/>
          <p:nvPr/>
        </p:nvSpPr>
        <p:spPr>
          <a:xfrm>
            <a:off x="1024128" y="3913632"/>
            <a:ext cx="2926080" cy="896112"/>
          </a:xfrm>
          <a:prstGeom prst="rect">
            <a:avLst/>
          </a:prstGeom>
          <a:noFill/>
          <a:ln/>
        </p:spPr>
        <p:txBody>
          <a:bodyPr wrap="square" lIns="0" tIns="0" rIns="0" bIns="0" rtlCol="0" anchor="ctr"/>
          <a:lstStyle/>
          <a:p>
            <a:pPr marL="0" indent="0">
              <a:buNone/>
            </a:pPr>
            <a:r>
              <a:rPr lang="en-US" sz="1300" b="1" dirty="0">
                <a:solidFill>
                  <a:srgbClr val="141A2E"/>
                </a:solidFill>
                <a:latin typeface="Cambria" pitchFamily="34" charset="0"/>
                <a:ea typeface="Cambria" pitchFamily="34" charset="-122"/>
                <a:cs typeface="Cambria" pitchFamily="34" charset="-120"/>
              </a:rPr>
              <a:t>Beyond vision</a:t>
            </a:r>
            <a:endParaRPr lang="en-US" sz="1300" dirty="0"/>
          </a:p>
        </p:txBody>
      </p:sp>
      <p:sp>
        <p:nvSpPr>
          <p:cNvPr id="18" name="Text 16"/>
          <p:cNvSpPr txBox="1"/>
          <p:nvPr/>
        </p:nvSpPr>
        <p:spPr>
          <a:xfrm>
            <a:off x="4133088" y="3895344"/>
            <a:ext cx="7315200" cy="932688"/>
          </a:xfrm>
          <a:prstGeom prst="rect">
            <a:avLst/>
          </a:prstGeom>
          <a:noFill/>
          <a:ln/>
        </p:spPr>
        <p:txBody>
          <a:bodyPr wrap="square" lIns="0" tIns="0" rIns="0" bIns="0" rtlCol="0" anchor="ctr"/>
          <a:lstStyle/>
          <a:p>
            <a:pPr marL="0" indent="0">
              <a:buNone/>
            </a:pPr>
            <a:r>
              <a:rPr lang="en-US" sz="1220" dirty="0">
                <a:solidFill>
                  <a:srgbClr val="262C44"/>
                </a:solidFill>
                <a:latin typeface="Calibri" pitchFamily="34" charset="0"/>
                <a:ea typeface="Calibri" pitchFamily="34" charset="-122"/>
                <a:cs typeface="Calibri" pitchFamily="34" charset="-120"/>
              </a:rPr>
              <a:t>Test-time adaptation moved into speech recognition and, more slowly, into speech emotion recognition. A 2026 systematic evaluation across eleven TTA methods and three SER tasks concluded that backpropagation-free methods are the most promising.</a:t>
            </a:r>
            <a:endParaRPr lang="en-US" sz="1220" dirty="0"/>
          </a:p>
        </p:txBody>
      </p:sp>
      <p:sp>
        <p:nvSpPr>
          <p:cNvPr id="19" name="Shape 17"/>
          <p:cNvSpPr/>
          <p:nvPr/>
        </p:nvSpPr>
        <p:spPr>
          <a:xfrm>
            <a:off x="566928" y="4956048"/>
            <a:ext cx="11064240" cy="1078992"/>
          </a:xfrm>
          <a:prstGeom prst="roundRect">
            <a:avLst>
              <a:gd name="adj" fmla="val 2542"/>
            </a:avLst>
          </a:prstGeom>
          <a:solidFill>
            <a:srgbClr val="FFFFFF"/>
          </a:solidFill>
          <a:ln w="12700">
            <a:solidFill>
              <a:srgbClr val="E8EBF2"/>
            </a:solidFill>
            <a:prstDash val="solid"/>
          </a:ln>
        </p:spPr>
        <p:txBody>
          <a:bodyPr/>
          <a:lstStyle/>
          <a:p>
            <a:endParaRPr lang="en-US"/>
          </a:p>
        </p:txBody>
      </p:sp>
      <p:sp>
        <p:nvSpPr>
          <p:cNvPr id="20" name="Shape 18"/>
          <p:cNvSpPr/>
          <p:nvPr/>
        </p:nvSpPr>
        <p:spPr>
          <a:xfrm>
            <a:off x="786384" y="5436108"/>
            <a:ext cx="118872" cy="118872"/>
          </a:xfrm>
          <a:prstGeom prst="ellipse">
            <a:avLst/>
          </a:prstGeom>
          <a:solidFill>
            <a:srgbClr val="3B4A7A"/>
          </a:solidFill>
          <a:ln w="12700">
            <a:solidFill>
              <a:srgbClr val="333333"/>
            </a:solidFill>
            <a:prstDash val="solid"/>
          </a:ln>
        </p:spPr>
        <p:txBody>
          <a:bodyPr/>
          <a:lstStyle/>
          <a:p>
            <a:endParaRPr lang="en-US"/>
          </a:p>
        </p:txBody>
      </p:sp>
      <p:sp>
        <p:nvSpPr>
          <p:cNvPr id="21" name="Text 19"/>
          <p:cNvSpPr txBox="1"/>
          <p:nvPr/>
        </p:nvSpPr>
        <p:spPr>
          <a:xfrm>
            <a:off x="1024128" y="5047488"/>
            <a:ext cx="2926080" cy="896112"/>
          </a:xfrm>
          <a:prstGeom prst="rect">
            <a:avLst/>
          </a:prstGeom>
          <a:noFill/>
          <a:ln/>
        </p:spPr>
        <p:txBody>
          <a:bodyPr wrap="square" lIns="0" tIns="0" rIns="0" bIns="0" rtlCol="0" anchor="ctr"/>
          <a:lstStyle/>
          <a:p>
            <a:pPr marL="0" indent="0">
              <a:buNone/>
            </a:pPr>
            <a:r>
              <a:rPr lang="en-US" sz="1300" b="1" dirty="0">
                <a:solidFill>
                  <a:srgbClr val="141A2E"/>
                </a:solidFill>
                <a:latin typeface="Cambria" pitchFamily="34" charset="0"/>
                <a:ea typeface="Cambria" pitchFamily="34" charset="-122"/>
                <a:cs typeface="Cambria" pitchFamily="34" charset="-120"/>
              </a:rPr>
              <a:t>The gradient-free turn</a:t>
            </a:r>
            <a:endParaRPr lang="en-US" sz="1300" dirty="0"/>
          </a:p>
        </p:txBody>
      </p:sp>
      <p:sp>
        <p:nvSpPr>
          <p:cNvPr id="22" name="Text 20"/>
          <p:cNvSpPr txBox="1"/>
          <p:nvPr/>
        </p:nvSpPr>
        <p:spPr>
          <a:xfrm>
            <a:off x="4133088" y="5029200"/>
            <a:ext cx="7315200" cy="932688"/>
          </a:xfrm>
          <a:prstGeom prst="rect">
            <a:avLst/>
          </a:prstGeom>
          <a:noFill/>
          <a:ln/>
        </p:spPr>
        <p:txBody>
          <a:bodyPr wrap="square" lIns="0" tIns="0" rIns="0" bIns="0" rtlCol="0" anchor="ctr"/>
          <a:lstStyle/>
          <a:p>
            <a:pPr marL="0" indent="0">
              <a:buNone/>
            </a:pPr>
            <a:r>
              <a:rPr lang="en-US" sz="1220" dirty="0">
                <a:solidFill>
                  <a:srgbClr val="262C44"/>
                </a:solidFill>
                <a:latin typeface="Calibri" pitchFamily="34" charset="0"/>
                <a:ea typeface="Calibri" pitchFamily="34" charset="-122"/>
                <a:cs typeface="Calibri" pitchFamily="34" charset="-120"/>
              </a:rPr>
              <a:t>Methods that avoid backpropagation entirely — using retrieval, caching, or closed-form statistical updates — became the practical answer for streaming and privacy-sensitive settings. That is where the second talk sits.</a:t>
            </a:r>
            <a:endParaRPr lang="en-US" sz="1220" dirty="0"/>
          </a:p>
        </p:txBody>
      </p:sp>
      <p:sp>
        <p:nvSpPr>
          <p:cNvPr id="23" name="Shape 21"/>
          <p:cNvSpPr/>
          <p:nvPr/>
        </p:nvSpPr>
        <p:spPr>
          <a:xfrm>
            <a:off x="566928" y="6089904"/>
            <a:ext cx="11064240" cy="18288"/>
          </a:xfrm>
          <a:prstGeom prst="roundRect">
            <a:avLst>
              <a:gd name="adj" fmla="val 300000"/>
            </a:avLst>
          </a:prstGeom>
          <a:solidFill>
            <a:srgbClr val="FFFFFF"/>
          </a:solidFill>
          <a:ln w="12700">
            <a:solidFill>
              <a:srgbClr val="FFFFFF"/>
            </a:solidFill>
            <a:prstDash val="solid"/>
          </a:ln>
        </p:spPr>
        <p:txBody>
          <a:bodyPr/>
          <a:lstStyle/>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75488"/>
            <a:ext cx="384048" cy="274320"/>
          </a:xfrm>
          <a:prstGeom prst="triangle">
            <a:avLst/>
          </a:prstGeom>
          <a:solidFill>
            <a:srgbClr val="3B4A7A"/>
          </a:solidFill>
          <a:ln w="12700">
            <a:solidFill>
              <a:srgbClr val="333333"/>
            </a:solidFill>
            <a:prstDash val="solid"/>
          </a:ln>
        </p:spPr>
        <p:txBody>
          <a:bodyPr/>
          <a:lstStyle/>
          <a:p>
            <a:endParaRPr lang="en-US"/>
          </a:p>
        </p:txBody>
      </p:sp>
      <p:sp>
        <p:nvSpPr>
          <p:cNvPr id="3" name="Shape 1"/>
          <p:cNvSpPr/>
          <p:nvPr/>
        </p:nvSpPr>
        <p:spPr>
          <a:xfrm>
            <a:off x="11256264" y="585216"/>
            <a:ext cx="109728" cy="164592"/>
          </a:xfrm>
          <a:prstGeom prst="triangle">
            <a:avLst/>
          </a:prstGeom>
          <a:solidFill>
            <a:srgbClr val="2FA8B8"/>
          </a:solidFill>
          <a:ln w="12700">
            <a:solidFill>
              <a:srgbClr val="333333"/>
            </a:solidFill>
            <a:prstDash val="solid"/>
          </a:ln>
        </p:spPr>
        <p:txBody>
          <a:bodyPr/>
          <a:lstStyle/>
          <a:p>
            <a:endParaRPr lang="en-US"/>
          </a:p>
        </p:txBody>
      </p:sp>
      <p:sp>
        <p:nvSpPr>
          <p:cNvPr id="4" name="Text 2"/>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41A2E"/>
                </a:solidFill>
                <a:latin typeface="Cambria" pitchFamily="34" charset="0"/>
                <a:ea typeface="Cambria" pitchFamily="34" charset="-122"/>
                <a:cs typeface="Cambria" pitchFamily="34" charset="-120"/>
              </a:rPr>
              <a:t>Take-aways</a:t>
            </a:r>
            <a:endParaRPr lang="en-US" sz="2900" dirty="0"/>
          </a:p>
        </p:txBody>
      </p:sp>
      <p:sp>
        <p:nvSpPr>
          <p:cNvPr id="5" name="Text 3"/>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5A6180"/>
                </a:solidFill>
                <a:latin typeface="Calibri" pitchFamily="34" charset="0"/>
                <a:ea typeface="Calibri" pitchFamily="34" charset="-122"/>
                <a:cs typeface="Calibri" pitchFamily="34" charset="-120"/>
              </a:rPr>
              <a:t>Four things to carry into the second half</a:t>
            </a:r>
            <a:endParaRPr lang="en-US" sz="1350" dirty="0"/>
          </a:p>
        </p:txBody>
      </p:sp>
      <p:sp>
        <p:nvSpPr>
          <p:cNvPr id="6" name="Text 4"/>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9BA3BE"/>
                </a:solidFill>
                <a:latin typeface="Calibri" pitchFamily="34" charset="0"/>
                <a:ea typeface="Calibri" pitchFamily="34" charset="-122"/>
                <a:cs typeface="Calibri" pitchFamily="34" charset="-120"/>
              </a:rPr>
              <a:t>Tent · Wang et al. 2021  |  25</a:t>
            </a:r>
            <a:endParaRPr lang="en-US" sz="900" dirty="0"/>
          </a:p>
        </p:txBody>
      </p:sp>
      <p:sp>
        <p:nvSpPr>
          <p:cNvPr id="7" name="Shape 5"/>
          <p:cNvSpPr/>
          <p:nvPr/>
        </p:nvSpPr>
        <p:spPr>
          <a:xfrm>
            <a:off x="566928" y="1572768"/>
            <a:ext cx="11064240" cy="1005840"/>
          </a:xfrm>
          <a:prstGeom prst="roundRect">
            <a:avLst>
              <a:gd name="adj" fmla="val 4545"/>
            </a:avLst>
          </a:prstGeom>
          <a:solidFill>
            <a:srgbClr val="F1F2F7"/>
          </a:solidFill>
          <a:ln w="12700">
            <a:solidFill>
              <a:srgbClr val="E1E4EE"/>
            </a:solidFill>
            <a:prstDash val="solid"/>
          </a:ln>
        </p:spPr>
        <p:txBody>
          <a:bodyPr/>
          <a:lstStyle/>
          <a:p>
            <a:endParaRPr lang="en-US"/>
          </a:p>
        </p:txBody>
      </p:sp>
      <p:sp>
        <p:nvSpPr>
          <p:cNvPr id="8" name="Shape 6"/>
          <p:cNvSpPr/>
          <p:nvPr/>
        </p:nvSpPr>
        <p:spPr>
          <a:xfrm>
            <a:off x="822960" y="1901952"/>
            <a:ext cx="347472" cy="347472"/>
          </a:xfrm>
          <a:prstGeom prst="ellipse">
            <a:avLst/>
          </a:prstGeom>
          <a:solidFill>
            <a:srgbClr val="3B4A7A"/>
          </a:solidFill>
          <a:ln w="12700">
            <a:solidFill>
              <a:srgbClr val="333333"/>
            </a:solidFill>
            <a:prstDash val="solid"/>
          </a:ln>
        </p:spPr>
        <p:txBody>
          <a:bodyPr/>
          <a:lstStyle/>
          <a:p>
            <a:endParaRPr lang="en-US"/>
          </a:p>
        </p:txBody>
      </p:sp>
      <p:sp>
        <p:nvSpPr>
          <p:cNvPr id="9" name="Text 7"/>
          <p:cNvSpPr txBox="1"/>
          <p:nvPr/>
        </p:nvSpPr>
        <p:spPr>
          <a:xfrm>
            <a:off x="822960" y="1929384"/>
            <a:ext cx="347472"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0" name="Text 8"/>
          <p:cNvSpPr txBox="1"/>
          <p:nvPr/>
        </p:nvSpPr>
        <p:spPr>
          <a:xfrm>
            <a:off x="1335024" y="1719072"/>
            <a:ext cx="4114800" cy="731520"/>
          </a:xfrm>
          <a:prstGeom prst="rect">
            <a:avLst/>
          </a:prstGeom>
          <a:noFill/>
          <a:ln/>
        </p:spPr>
        <p:txBody>
          <a:bodyPr wrap="square" lIns="0" tIns="0" rIns="0" bIns="0" rtlCol="0" anchor="ctr"/>
          <a:lstStyle/>
          <a:p>
            <a:pPr marL="0" indent="0">
              <a:buNone/>
            </a:pPr>
            <a:r>
              <a:rPr lang="en-US" sz="1300" b="1" dirty="0">
                <a:solidFill>
                  <a:srgbClr val="141A2E"/>
                </a:solidFill>
                <a:latin typeface="Cambria" pitchFamily="34" charset="0"/>
                <a:ea typeface="Cambria" pitchFamily="34" charset="-122"/>
                <a:cs typeface="Cambria" pitchFamily="34" charset="-120"/>
              </a:rPr>
              <a:t>Confidence can substitute for labels</a:t>
            </a:r>
            <a:endParaRPr lang="en-US" sz="1300" dirty="0"/>
          </a:p>
        </p:txBody>
      </p:sp>
      <p:sp>
        <p:nvSpPr>
          <p:cNvPr id="11" name="Text 9"/>
          <p:cNvSpPr txBox="1"/>
          <p:nvPr/>
        </p:nvSpPr>
        <p:spPr>
          <a:xfrm>
            <a:off x="5623560" y="1700784"/>
            <a:ext cx="5852160" cy="768096"/>
          </a:xfrm>
          <a:prstGeom prst="rect">
            <a:avLst/>
          </a:prstGeom>
          <a:noFill/>
          <a:ln/>
        </p:spPr>
        <p:txBody>
          <a:bodyPr wrap="square" lIns="0" tIns="0" rIns="0" bIns="0" rtlCol="0" anchor="ctr"/>
          <a:lstStyle/>
          <a:p>
            <a:pPr marL="0" indent="0">
              <a:buNone/>
            </a:pPr>
            <a:r>
              <a:rPr lang="en-US" sz="1200" dirty="0">
                <a:solidFill>
                  <a:srgbClr val="262C44"/>
                </a:solidFill>
                <a:latin typeface="Calibri" pitchFamily="34" charset="0"/>
                <a:ea typeface="Calibri" pitchFamily="34" charset="-122"/>
                <a:cs typeface="Calibri" pitchFamily="34" charset="-120"/>
              </a:rPr>
              <a:t>Entropy is available at test time, defined by the task, and needs no proxy design. That combination is why one familiar objective was enough to define a setting.</a:t>
            </a:r>
            <a:endParaRPr lang="en-US" sz="1200" dirty="0"/>
          </a:p>
        </p:txBody>
      </p:sp>
      <p:sp>
        <p:nvSpPr>
          <p:cNvPr id="12" name="Shape 10"/>
          <p:cNvSpPr/>
          <p:nvPr/>
        </p:nvSpPr>
        <p:spPr>
          <a:xfrm>
            <a:off x="566928" y="2651760"/>
            <a:ext cx="11064240" cy="1005840"/>
          </a:xfrm>
          <a:prstGeom prst="roundRect">
            <a:avLst>
              <a:gd name="adj" fmla="val 4545"/>
            </a:avLst>
          </a:prstGeom>
          <a:solidFill>
            <a:srgbClr val="FFFFFF"/>
          </a:solidFill>
          <a:ln w="12700">
            <a:solidFill>
              <a:srgbClr val="E1E4EE"/>
            </a:solidFill>
            <a:prstDash val="solid"/>
          </a:ln>
        </p:spPr>
        <p:txBody>
          <a:bodyPr/>
          <a:lstStyle/>
          <a:p>
            <a:endParaRPr lang="en-US"/>
          </a:p>
        </p:txBody>
      </p:sp>
      <p:sp>
        <p:nvSpPr>
          <p:cNvPr id="13" name="Shape 11"/>
          <p:cNvSpPr/>
          <p:nvPr/>
        </p:nvSpPr>
        <p:spPr>
          <a:xfrm>
            <a:off x="822960" y="2980944"/>
            <a:ext cx="347472" cy="347472"/>
          </a:xfrm>
          <a:prstGeom prst="ellipse">
            <a:avLst/>
          </a:prstGeom>
          <a:solidFill>
            <a:srgbClr val="3B4A7A"/>
          </a:solidFill>
          <a:ln w="12700">
            <a:solidFill>
              <a:srgbClr val="333333"/>
            </a:solidFill>
            <a:prstDash val="solid"/>
          </a:ln>
        </p:spPr>
        <p:txBody>
          <a:bodyPr/>
          <a:lstStyle/>
          <a:p>
            <a:endParaRPr lang="en-US"/>
          </a:p>
        </p:txBody>
      </p:sp>
      <p:sp>
        <p:nvSpPr>
          <p:cNvPr id="14" name="Text 12"/>
          <p:cNvSpPr txBox="1"/>
          <p:nvPr/>
        </p:nvSpPr>
        <p:spPr>
          <a:xfrm>
            <a:off x="822960" y="3008376"/>
            <a:ext cx="347472"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5" name="Text 13"/>
          <p:cNvSpPr txBox="1"/>
          <p:nvPr/>
        </p:nvSpPr>
        <p:spPr>
          <a:xfrm>
            <a:off x="1335024" y="2798064"/>
            <a:ext cx="4114800" cy="731520"/>
          </a:xfrm>
          <a:prstGeom prst="rect">
            <a:avLst/>
          </a:prstGeom>
          <a:noFill/>
          <a:ln/>
        </p:spPr>
        <p:txBody>
          <a:bodyPr wrap="square" lIns="0" tIns="0" rIns="0" bIns="0" rtlCol="0" anchor="ctr"/>
          <a:lstStyle/>
          <a:p>
            <a:pPr marL="0" indent="0">
              <a:buNone/>
            </a:pPr>
            <a:r>
              <a:rPr lang="en-US" sz="1300" b="1" dirty="0">
                <a:solidFill>
                  <a:srgbClr val="141A2E"/>
                </a:solidFill>
                <a:latin typeface="Cambria" pitchFamily="34" charset="0"/>
                <a:ea typeface="Cambria" pitchFamily="34" charset="-122"/>
                <a:cs typeface="Cambria" pitchFamily="34" charset="-120"/>
              </a:rPr>
              <a:t>It amplifies, it does not correct</a:t>
            </a:r>
            <a:endParaRPr lang="en-US" sz="1300" dirty="0"/>
          </a:p>
        </p:txBody>
      </p:sp>
      <p:sp>
        <p:nvSpPr>
          <p:cNvPr id="16" name="Text 14"/>
          <p:cNvSpPr txBox="1"/>
          <p:nvPr/>
        </p:nvSpPr>
        <p:spPr>
          <a:xfrm>
            <a:off x="5623560" y="2779776"/>
            <a:ext cx="5852160" cy="768096"/>
          </a:xfrm>
          <a:prstGeom prst="rect">
            <a:avLst/>
          </a:prstGeom>
          <a:noFill/>
          <a:ln/>
        </p:spPr>
        <p:txBody>
          <a:bodyPr wrap="square" lIns="0" tIns="0" rIns="0" bIns="0" rtlCol="0" anchor="ctr"/>
          <a:lstStyle/>
          <a:p>
            <a:pPr marL="0" indent="0">
              <a:buNone/>
            </a:pPr>
            <a:r>
              <a:rPr lang="en-US" sz="1200" dirty="0">
                <a:solidFill>
                  <a:srgbClr val="262C44"/>
                </a:solidFill>
                <a:latin typeface="Calibri" pitchFamily="34" charset="0"/>
                <a:ea typeface="Calibri" pitchFamily="34" charset="-122"/>
                <a:cs typeface="Calibri" pitchFamily="34" charset="-120"/>
              </a:rPr>
              <a:t>Entropy minimisation sharpens existing decision boundaries. Helpful when they are roughly right; it entrenches error when they are not, as MNIST-to-SVHN shows.</a:t>
            </a:r>
            <a:endParaRPr lang="en-US" sz="1200" dirty="0"/>
          </a:p>
        </p:txBody>
      </p:sp>
      <p:sp>
        <p:nvSpPr>
          <p:cNvPr id="17" name="Shape 15"/>
          <p:cNvSpPr/>
          <p:nvPr/>
        </p:nvSpPr>
        <p:spPr>
          <a:xfrm>
            <a:off x="566928" y="3730752"/>
            <a:ext cx="11064240" cy="1005840"/>
          </a:xfrm>
          <a:prstGeom prst="roundRect">
            <a:avLst>
              <a:gd name="adj" fmla="val 4545"/>
            </a:avLst>
          </a:prstGeom>
          <a:solidFill>
            <a:srgbClr val="F1F2F7"/>
          </a:solidFill>
          <a:ln w="12700">
            <a:solidFill>
              <a:srgbClr val="E1E4EE"/>
            </a:solidFill>
            <a:prstDash val="solid"/>
          </a:ln>
        </p:spPr>
        <p:txBody>
          <a:bodyPr/>
          <a:lstStyle/>
          <a:p>
            <a:endParaRPr lang="en-US"/>
          </a:p>
        </p:txBody>
      </p:sp>
      <p:sp>
        <p:nvSpPr>
          <p:cNvPr id="18" name="Shape 16"/>
          <p:cNvSpPr/>
          <p:nvPr/>
        </p:nvSpPr>
        <p:spPr>
          <a:xfrm>
            <a:off x="822960" y="4059936"/>
            <a:ext cx="347472" cy="347472"/>
          </a:xfrm>
          <a:prstGeom prst="ellipse">
            <a:avLst/>
          </a:prstGeom>
          <a:solidFill>
            <a:srgbClr val="3B4A7A"/>
          </a:solidFill>
          <a:ln w="12700">
            <a:solidFill>
              <a:srgbClr val="333333"/>
            </a:solidFill>
            <a:prstDash val="solid"/>
          </a:ln>
        </p:spPr>
        <p:txBody>
          <a:bodyPr/>
          <a:lstStyle/>
          <a:p>
            <a:endParaRPr lang="en-US"/>
          </a:p>
        </p:txBody>
      </p:sp>
      <p:sp>
        <p:nvSpPr>
          <p:cNvPr id="19" name="Text 17"/>
          <p:cNvSpPr txBox="1"/>
          <p:nvPr/>
        </p:nvSpPr>
        <p:spPr>
          <a:xfrm>
            <a:off x="822960" y="4087368"/>
            <a:ext cx="347472"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0" name="Text 18"/>
          <p:cNvSpPr txBox="1"/>
          <p:nvPr/>
        </p:nvSpPr>
        <p:spPr>
          <a:xfrm>
            <a:off x="1335024" y="3877056"/>
            <a:ext cx="4114800" cy="731520"/>
          </a:xfrm>
          <a:prstGeom prst="rect">
            <a:avLst/>
          </a:prstGeom>
          <a:noFill/>
          <a:ln/>
        </p:spPr>
        <p:txBody>
          <a:bodyPr wrap="square" lIns="0" tIns="0" rIns="0" bIns="0" rtlCol="0" anchor="ctr"/>
          <a:lstStyle/>
          <a:p>
            <a:pPr marL="0" indent="0">
              <a:buNone/>
            </a:pPr>
            <a:r>
              <a:rPr lang="en-US" sz="1300" b="1" dirty="0">
                <a:solidFill>
                  <a:srgbClr val="141A2E"/>
                </a:solidFill>
                <a:latin typeface="Cambria" pitchFamily="34" charset="0"/>
                <a:ea typeface="Cambria" pitchFamily="34" charset="-122"/>
                <a:cs typeface="Cambria" pitchFamily="34" charset="-120"/>
              </a:rPr>
              <a:t>Restricted capacity is what keeps it stable</a:t>
            </a:r>
            <a:endParaRPr lang="en-US" sz="1300" dirty="0"/>
          </a:p>
        </p:txBody>
      </p:sp>
      <p:sp>
        <p:nvSpPr>
          <p:cNvPr id="21" name="Text 19"/>
          <p:cNvSpPr txBox="1"/>
          <p:nvPr/>
        </p:nvSpPr>
        <p:spPr>
          <a:xfrm>
            <a:off x="5623560" y="3858768"/>
            <a:ext cx="5852160" cy="768096"/>
          </a:xfrm>
          <a:prstGeom prst="rect">
            <a:avLst/>
          </a:prstGeom>
          <a:noFill/>
          <a:ln/>
        </p:spPr>
        <p:txBody>
          <a:bodyPr wrap="square" lIns="0" tIns="0" rIns="0" bIns="0" rtlCol="0" anchor="ctr"/>
          <a:lstStyle/>
          <a:p>
            <a:pPr marL="0" indent="0">
              <a:buNone/>
            </a:pPr>
            <a:r>
              <a:rPr lang="en-US" sz="1200" dirty="0">
                <a:solidFill>
                  <a:srgbClr val="262C44"/>
                </a:solidFill>
                <a:latin typeface="Calibri" pitchFamily="34" charset="0"/>
                <a:ea typeface="Calibri" pitchFamily="34" charset="-122"/>
                <a:cs typeface="Calibri" pitchFamily="34" charset="-120"/>
              </a:rPr>
              <a:t>Updating the full model never improves. Under 1% of parameters, channel-wise and affine — the same restricted-budget logic as prompt tuning.</a:t>
            </a:r>
            <a:endParaRPr lang="en-US" sz="1200" dirty="0"/>
          </a:p>
        </p:txBody>
      </p:sp>
      <p:sp>
        <p:nvSpPr>
          <p:cNvPr id="22" name="Shape 20"/>
          <p:cNvSpPr/>
          <p:nvPr/>
        </p:nvSpPr>
        <p:spPr>
          <a:xfrm>
            <a:off x="566928" y="4809744"/>
            <a:ext cx="11064240" cy="1005840"/>
          </a:xfrm>
          <a:prstGeom prst="roundRect">
            <a:avLst>
              <a:gd name="adj" fmla="val 4545"/>
            </a:avLst>
          </a:prstGeom>
          <a:solidFill>
            <a:srgbClr val="FFFFFF"/>
          </a:solidFill>
          <a:ln w="12700">
            <a:solidFill>
              <a:srgbClr val="E1E4EE"/>
            </a:solidFill>
            <a:prstDash val="solid"/>
          </a:ln>
        </p:spPr>
        <p:txBody>
          <a:bodyPr/>
          <a:lstStyle/>
          <a:p>
            <a:endParaRPr lang="en-US"/>
          </a:p>
        </p:txBody>
      </p:sp>
      <p:sp>
        <p:nvSpPr>
          <p:cNvPr id="23" name="Shape 21"/>
          <p:cNvSpPr/>
          <p:nvPr/>
        </p:nvSpPr>
        <p:spPr>
          <a:xfrm>
            <a:off x="822960" y="5138928"/>
            <a:ext cx="347472" cy="347472"/>
          </a:xfrm>
          <a:prstGeom prst="ellipse">
            <a:avLst/>
          </a:prstGeom>
          <a:solidFill>
            <a:srgbClr val="3B4A7A"/>
          </a:solidFill>
          <a:ln w="12700">
            <a:solidFill>
              <a:srgbClr val="333333"/>
            </a:solidFill>
            <a:prstDash val="solid"/>
          </a:ln>
        </p:spPr>
        <p:txBody>
          <a:bodyPr/>
          <a:lstStyle/>
          <a:p>
            <a:endParaRPr lang="en-US"/>
          </a:p>
        </p:txBody>
      </p:sp>
      <p:sp>
        <p:nvSpPr>
          <p:cNvPr id="24" name="Text 22"/>
          <p:cNvSpPr txBox="1"/>
          <p:nvPr/>
        </p:nvSpPr>
        <p:spPr>
          <a:xfrm>
            <a:off x="822960" y="5166360"/>
            <a:ext cx="347472"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5" name="Text 23"/>
          <p:cNvSpPr txBox="1"/>
          <p:nvPr/>
        </p:nvSpPr>
        <p:spPr>
          <a:xfrm>
            <a:off x="1335024" y="4956048"/>
            <a:ext cx="4114800" cy="731520"/>
          </a:xfrm>
          <a:prstGeom prst="rect">
            <a:avLst/>
          </a:prstGeom>
          <a:noFill/>
          <a:ln/>
        </p:spPr>
        <p:txBody>
          <a:bodyPr wrap="square" lIns="0" tIns="0" rIns="0" bIns="0" rtlCol="0" anchor="ctr"/>
          <a:lstStyle/>
          <a:p>
            <a:pPr marL="0" indent="0">
              <a:buNone/>
            </a:pPr>
            <a:r>
              <a:rPr lang="en-US" sz="1300" b="1" dirty="0">
                <a:solidFill>
                  <a:srgbClr val="141A2E"/>
                </a:solidFill>
                <a:latin typeface="Cambria" pitchFamily="34" charset="0"/>
                <a:ea typeface="Cambria" pitchFamily="34" charset="-122"/>
                <a:cs typeface="Cambria" pitchFamily="34" charset="-120"/>
              </a:rPr>
              <a:t>Check how strong the proxy correlation is</a:t>
            </a:r>
            <a:endParaRPr lang="en-US" sz="1300" dirty="0"/>
          </a:p>
        </p:txBody>
      </p:sp>
      <p:sp>
        <p:nvSpPr>
          <p:cNvPr id="26" name="Text 24"/>
          <p:cNvSpPr txBox="1"/>
          <p:nvPr/>
        </p:nvSpPr>
        <p:spPr>
          <a:xfrm>
            <a:off x="5623560" y="4937760"/>
            <a:ext cx="5852160" cy="768096"/>
          </a:xfrm>
          <a:prstGeom prst="rect">
            <a:avLst/>
          </a:prstGeom>
          <a:noFill/>
          <a:ln/>
        </p:spPr>
        <p:txBody>
          <a:bodyPr wrap="square" lIns="0" tIns="0" rIns="0" bIns="0" rtlCol="0" anchor="ctr"/>
          <a:lstStyle/>
          <a:p>
            <a:pPr marL="0" indent="0">
              <a:buNone/>
            </a:pPr>
            <a:r>
              <a:rPr lang="en-US" sz="1200" dirty="0">
                <a:solidFill>
                  <a:srgbClr val="262C44"/>
                </a:solidFill>
                <a:latin typeface="Calibri" pitchFamily="34" charset="0"/>
                <a:ea typeface="Calibri" pitchFamily="34" charset="-122"/>
                <a:cs typeface="Calibri" pitchFamily="34" charset="-120"/>
              </a:rPr>
              <a:t>The premise rests on a rank correlation of 0.22. A method can work reliably on a loose mechanism, but you should know which you have.</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1C2440"/>
        </a:solidFill>
        <a:effectLst/>
      </p:bgPr>
    </p:bg>
    <p:spTree>
      <p:nvGrpSpPr>
        <p:cNvPr id="1" name=""/>
        <p:cNvGrpSpPr/>
        <p:nvPr/>
      </p:nvGrpSpPr>
      <p:grpSpPr>
        <a:xfrm>
          <a:off x="0" y="0"/>
          <a:ext cx="0" cy="0"/>
          <a:chOff x="0" y="0"/>
          <a:chExt cx="0" cy="0"/>
        </a:xfrm>
      </p:grpSpPr>
      <p:sp>
        <p:nvSpPr>
          <p:cNvPr id="2" name="Shape 0"/>
          <p:cNvSpPr/>
          <p:nvPr/>
        </p:nvSpPr>
        <p:spPr>
          <a:xfrm>
            <a:off x="10607040" y="676656"/>
            <a:ext cx="614477" cy="438912"/>
          </a:xfrm>
          <a:prstGeom prst="triangle">
            <a:avLst/>
          </a:prstGeom>
          <a:solidFill>
            <a:srgbClr val="C5CBE0"/>
          </a:solidFill>
          <a:ln w="12700">
            <a:solidFill>
              <a:srgbClr val="333333"/>
            </a:solidFill>
            <a:prstDash val="solid"/>
          </a:ln>
        </p:spPr>
        <p:txBody>
          <a:bodyPr/>
          <a:lstStyle/>
          <a:p>
            <a:endParaRPr lang="en-US"/>
          </a:p>
        </p:txBody>
      </p:sp>
      <p:sp>
        <p:nvSpPr>
          <p:cNvPr id="3" name="Shape 1"/>
          <p:cNvSpPr/>
          <p:nvPr/>
        </p:nvSpPr>
        <p:spPr>
          <a:xfrm>
            <a:off x="10826496" y="852221"/>
            <a:ext cx="175565" cy="263347"/>
          </a:xfrm>
          <a:prstGeom prst="triangle">
            <a:avLst/>
          </a:prstGeom>
          <a:solidFill>
            <a:srgbClr val="2FA8B8"/>
          </a:solidFill>
          <a:ln w="12700">
            <a:solidFill>
              <a:srgbClr val="333333"/>
            </a:solidFill>
            <a:prstDash val="solid"/>
          </a:ln>
        </p:spPr>
        <p:txBody>
          <a:bodyPr/>
          <a:lstStyle/>
          <a:p>
            <a:endParaRPr lang="en-US"/>
          </a:p>
        </p:txBody>
      </p:sp>
      <p:sp>
        <p:nvSpPr>
          <p:cNvPr id="4" name="Text 2"/>
          <p:cNvSpPr txBox="1"/>
          <p:nvPr/>
        </p:nvSpPr>
        <p:spPr>
          <a:xfrm>
            <a:off x="822960" y="658368"/>
            <a:ext cx="10515600" cy="640080"/>
          </a:xfrm>
          <a:prstGeom prst="rect">
            <a:avLst/>
          </a:prstGeom>
          <a:noFill/>
          <a:ln/>
        </p:spPr>
        <p:txBody>
          <a:bodyPr wrap="square" lIns="0" tIns="0" rIns="0" bIns="0" rtlCol="0" anchor="ctr"/>
          <a:lstStyle/>
          <a:p>
            <a:pPr marL="0" indent="0">
              <a:buNone/>
            </a:pPr>
            <a:r>
              <a:rPr lang="en-US" sz="3100" b="1" dirty="0">
                <a:solidFill>
                  <a:srgbClr val="FFFFFF"/>
                </a:solidFill>
                <a:latin typeface="Cambria" pitchFamily="34" charset="0"/>
                <a:ea typeface="Cambria" pitchFamily="34" charset="-122"/>
                <a:cs typeface="Cambria" pitchFamily="34" charset="-120"/>
              </a:rPr>
              <a:t>Questions for discussion</a:t>
            </a:r>
            <a:endParaRPr lang="en-US" sz="3100" dirty="0"/>
          </a:p>
        </p:txBody>
      </p:sp>
      <p:sp>
        <p:nvSpPr>
          <p:cNvPr id="5" name="Shape 3"/>
          <p:cNvSpPr/>
          <p:nvPr/>
        </p:nvSpPr>
        <p:spPr>
          <a:xfrm>
            <a:off x="841248" y="1371600"/>
            <a:ext cx="329184" cy="329184"/>
          </a:xfrm>
          <a:prstGeom prst="ellipse">
            <a:avLst/>
          </a:prstGeom>
          <a:solidFill>
            <a:srgbClr val="2FA8B8"/>
          </a:solidFill>
          <a:ln w="12700">
            <a:solidFill>
              <a:srgbClr val="333333"/>
            </a:solidFill>
            <a:prstDash val="solid"/>
          </a:ln>
        </p:spPr>
        <p:txBody>
          <a:bodyPr/>
          <a:lstStyle/>
          <a:p>
            <a:endParaRPr lang="en-US"/>
          </a:p>
        </p:txBody>
      </p:sp>
      <p:sp>
        <p:nvSpPr>
          <p:cNvPr id="6" name="Text 4"/>
          <p:cNvSpPr txBox="1"/>
          <p:nvPr/>
        </p:nvSpPr>
        <p:spPr>
          <a:xfrm>
            <a:off x="841248" y="1399032"/>
            <a:ext cx="329184" cy="274320"/>
          </a:xfrm>
          <a:prstGeom prst="rect">
            <a:avLst/>
          </a:prstGeom>
          <a:noFill/>
          <a:ln/>
        </p:spPr>
        <p:txBody>
          <a:bodyPr wrap="square" lIns="0" tIns="0" rIns="0" bIns="0" rtlCol="0" anchor="ctr"/>
          <a:lstStyle/>
          <a:p>
            <a:pPr marL="0" indent="0" algn="ctr">
              <a:buNone/>
            </a:pPr>
            <a:r>
              <a:rPr lang="en-US" sz="1200" b="1" dirty="0">
                <a:solidFill>
                  <a:srgbClr val="1C2440"/>
                </a:solidFill>
                <a:latin typeface="Cambria" pitchFamily="34" charset="0"/>
                <a:ea typeface="Cambria" pitchFamily="34" charset="-122"/>
                <a:cs typeface="Cambria" pitchFamily="34" charset="-120"/>
              </a:rPr>
              <a:t>1</a:t>
            </a:r>
            <a:endParaRPr lang="en-US" sz="1200" dirty="0"/>
          </a:p>
        </p:txBody>
      </p:sp>
      <p:sp>
        <p:nvSpPr>
          <p:cNvPr id="7" name="Text 5"/>
          <p:cNvSpPr txBox="1"/>
          <p:nvPr/>
        </p:nvSpPr>
        <p:spPr>
          <a:xfrm>
            <a:off x="1353312" y="1316736"/>
            <a:ext cx="10058400" cy="969264"/>
          </a:xfrm>
          <a:prstGeom prst="rect">
            <a:avLst/>
          </a:prstGeom>
          <a:noFill/>
          <a:ln/>
        </p:spPr>
        <p:txBody>
          <a:bodyPr wrap="square" lIns="0" tIns="0" rIns="0" bIns="0" rtlCol="0" anchor="ctr"/>
          <a:lstStyle/>
          <a:p>
            <a:pPr marL="0" indent="0">
              <a:buNone/>
            </a:pPr>
            <a:r>
              <a:rPr lang="en-US" sz="1250" dirty="0">
                <a:solidFill>
                  <a:srgbClr val="C5CBE0"/>
                </a:solidFill>
                <a:latin typeface="Calibri" pitchFamily="34" charset="0"/>
                <a:ea typeface="Calibri" pitchFamily="34" charset="-122"/>
                <a:cs typeface="Calibri" pitchFamily="34" charset="-120"/>
              </a:rPr>
              <a:t>The rank correlation between entropy change and loss change is 0.22. Is that enough to justify entropy as the sole objective — and what would a stronger proxy look like?</a:t>
            </a:r>
            <a:endParaRPr lang="en-US" sz="1250" dirty="0"/>
          </a:p>
        </p:txBody>
      </p:sp>
      <p:sp>
        <p:nvSpPr>
          <p:cNvPr id="8" name="Shape 6"/>
          <p:cNvSpPr/>
          <p:nvPr/>
        </p:nvSpPr>
        <p:spPr>
          <a:xfrm>
            <a:off x="841248" y="2359152"/>
            <a:ext cx="329184" cy="329184"/>
          </a:xfrm>
          <a:prstGeom prst="ellipse">
            <a:avLst/>
          </a:prstGeom>
          <a:solidFill>
            <a:srgbClr val="2FA8B8"/>
          </a:solidFill>
          <a:ln w="12700">
            <a:solidFill>
              <a:srgbClr val="333333"/>
            </a:solidFill>
            <a:prstDash val="solid"/>
          </a:ln>
        </p:spPr>
        <p:txBody>
          <a:bodyPr/>
          <a:lstStyle/>
          <a:p>
            <a:endParaRPr lang="en-US"/>
          </a:p>
        </p:txBody>
      </p:sp>
      <p:sp>
        <p:nvSpPr>
          <p:cNvPr id="9" name="Text 7"/>
          <p:cNvSpPr txBox="1"/>
          <p:nvPr/>
        </p:nvSpPr>
        <p:spPr>
          <a:xfrm>
            <a:off x="841248" y="2386584"/>
            <a:ext cx="329184" cy="274320"/>
          </a:xfrm>
          <a:prstGeom prst="rect">
            <a:avLst/>
          </a:prstGeom>
          <a:noFill/>
          <a:ln/>
        </p:spPr>
        <p:txBody>
          <a:bodyPr wrap="square" lIns="0" tIns="0" rIns="0" bIns="0" rtlCol="0" anchor="ctr"/>
          <a:lstStyle/>
          <a:p>
            <a:pPr marL="0" indent="0" algn="ctr">
              <a:buNone/>
            </a:pPr>
            <a:r>
              <a:rPr lang="en-US" sz="1200" b="1" dirty="0">
                <a:solidFill>
                  <a:srgbClr val="1C2440"/>
                </a:solidFill>
                <a:latin typeface="Cambria" pitchFamily="34" charset="0"/>
                <a:ea typeface="Cambria" pitchFamily="34" charset="-122"/>
                <a:cs typeface="Cambria" pitchFamily="34" charset="-120"/>
              </a:rPr>
              <a:t>2</a:t>
            </a:r>
            <a:endParaRPr lang="en-US" sz="1200" dirty="0"/>
          </a:p>
        </p:txBody>
      </p:sp>
      <p:sp>
        <p:nvSpPr>
          <p:cNvPr id="10" name="Text 8"/>
          <p:cNvSpPr txBox="1"/>
          <p:nvPr/>
        </p:nvSpPr>
        <p:spPr>
          <a:xfrm>
            <a:off x="1353312" y="2304288"/>
            <a:ext cx="10058400" cy="969264"/>
          </a:xfrm>
          <a:prstGeom prst="rect">
            <a:avLst/>
          </a:prstGeom>
          <a:noFill/>
          <a:ln/>
        </p:spPr>
        <p:txBody>
          <a:bodyPr wrap="square" lIns="0" tIns="0" rIns="0" bIns="0" rtlCol="0" anchor="ctr"/>
          <a:lstStyle/>
          <a:p>
            <a:pPr marL="0" indent="0">
              <a:buNone/>
            </a:pPr>
            <a:r>
              <a:rPr lang="en-US" sz="1250" dirty="0">
                <a:solidFill>
                  <a:srgbClr val="C5CBE0"/>
                </a:solidFill>
                <a:latin typeface="Calibri" pitchFamily="34" charset="0"/>
                <a:ea typeface="Calibri" pitchFamily="34" charset="-122"/>
                <a:cs typeface="Calibri" pitchFamily="34" charset="-120"/>
              </a:rPr>
              <a:t>Tent fails on MNIST-to-SVHN, raising error from 71.3% to 79.8%. Could a method detect that it is about to make things worse, using only unlabelled test data?</a:t>
            </a:r>
            <a:endParaRPr lang="en-US" sz="1250" dirty="0"/>
          </a:p>
        </p:txBody>
      </p:sp>
      <p:sp>
        <p:nvSpPr>
          <p:cNvPr id="11" name="Shape 9"/>
          <p:cNvSpPr/>
          <p:nvPr/>
        </p:nvSpPr>
        <p:spPr>
          <a:xfrm>
            <a:off x="841248" y="3346704"/>
            <a:ext cx="329184" cy="329184"/>
          </a:xfrm>
          <a:prstGeom prst="ellipse">
            <a:avLst/>
          </a:prstGeom>
          <a:solidFill>
            <a:srgbClr val="2FA8B8"/>
          </a:solidFill>
          <a:ln w="12700">
            <a:solidFill>
              <a:srgbClr val="333333"/>
            </a:solidFill>
            <a:prstDash val="solid"/>
          </a:ln>
        </p:spPr>
        <p:txBody>
          <a:bodyPr/>
          <a:lstStyle/>
          <a:p>
            <a:endParaRPr lang="en-US"/>
          </a:p>
        </p:txBody>
      </p:sp>
      <p:sp>
        <p:nvSpPr>
          <p:cNvPr id="12" name="Text 10"/>
          <p:cNvSpPr txBox="1"/>
          <p:nvPr/>
        </p:nvSpPr>
        <p:spPr>
          <a:xfrm>
            <a:off x="841248" y="3374136"/>
            <a:ext cx="329184" cy="274320"/>
          </a:xfrm>
          <a:prstGeom prst="rect">
            <a:avLst/>
          </a:prstGeom>
          <a:noFill/>
          <a:ln/>
        </p:spPr>
        <p:txBody>
          <a:bodyPr wrap="square" lIns="0" tIns="0" rIns="0" bIns="0" rtlCol="0" anchor="ctr"/>
          <a:lstStyle/>
          <a:p>
            <a:pPr marL="0" indent="0" algn="ctr">
              <a:buNone/>
            </a:pPr>
            <a:r>
              <a:rPr lang="en-US" sz="1200" b="1" dirty="0">
                <a:solidFill>
                  <a:srgbClr val="1C2440"/>
                </a:solidFill>
                <a:latin typeface="Cambria" pitchFamily="34" charset="0"/>
                <a:ea typeface="Cambria" pitchFamily="34" charset="-122"/>
                <a:cs typeface="Cambria" pitchFamily="34" charset="-120"/>
              </a:rPr>
              <a:t>3</a:t>
            </a:r>
            <a:endParaRPr lang="en-US" sz="1200" dirty="0"/>
          </a:p>
        </p:txBody>
      </p:sp>
      <p:sp>
        <p:nvSpPr>
          <p:cNvPr id="13" name="Text 11"/>
          <p:cNvSpPr txBox="1"/>
          <p:nvPr/>
        </p:nvSpPr>
        <p:spPr>
          <a:xfrm>
            <a:off x="1353312" y="3291840"/>
            <a:ext cx="10058400" cy="969264"/>
          </a:xfrm>
          <a:prstGeom prst="rect">
            <a:avLst/>
          </a:prstGeom>
          <a:noFill/>
          <a:ln/>
        </p:spPr>
        <p:txBody>
          <a:bodyPr wrap="square" lIns="0" tIns="0" rIns="0" bIns="0" rtlCol="0" anchor="ctr"/>
          <a:lstStyle/>
          <a:p>
            <a:pPr marL="0" indent="0">
              <a:buNone/>
            </a:pPr>
            <a:r>
              <a:rPr lang="en-US" sz="1250" dirty="0">
                <a:solidFill>
                  <a:srgbClr val="C5CBE0"/>
                </a:solidFill>
                <a:latin typeface="Calibri" pitchFamily="34" charset="0"/>
                <a:ea typeface="Calibri" pitchFamily="34" charset="-122"/>
                <a:cs typeface="Calibri" pitchFamily="34" charset="-120"/>
              </a:rPr>
              <a:t>Updating the full model never improves, but updating under 1% of it does. Is the lesson about entropy specifically, or about unsupervised test-time objectives in general?</a:t>
            </a:r>
            <a:endParaRPr lang="en-US" sz="1250" dirty="0"/>
          </a:p>
        </p:txBody>
      </p:sp>
      <p:sp>
        <p:nvSpPr>
          <p:cNvPr id="14" name="Shape 12"/>
          <p:cNvSpPr/>
          <p:nvPr/>
        </p:nvSpPr>
        <p:spPr>
          <a:xfrm>
            <a:off x="841248" y="4334256"/>
            <a:ext cx="329184" cy="329184"/>
          </a:xfrm>
          <a:prstGeom prst="ellipse">
            <a:avLst/>
          </a:prstGeom>
          <a:solidFill>
            <a:srgbClr val="2FA8B8"/>
          </a:solidFill>
          <a:ln w="12700">
            <a:solidFill>
              <a:srgbClr val="333333"/>
            </a:solidFill>
            <a:prstDash val="solid"/>
          </a:ln>
        </p:spPr>
        <p:txBody>
          <a:bodyPr/>
          <a:lstStyle/>
          <a:p>
            <a:endParaRPr lang="en-US"/>
          </a:p>
        </p:txBody>
      </p:sp>
      <p:sp>
        <p:nvSpPr>
          <p:cNvPr id="15" name="Text 13"/>
          <p:cNvSpPr txBox="1"/>
          <p:nvPr/>
        </p:nvSpPr>
        <p:spPr>
          <a:xfrm>
            <a:off x="841248" y="4361688"/>
            <a:ext cx="329184" cy="274320"/>
          </a:xfrm>
          <a:prstGeom prst="rect">
            <a:avLst/>
          </a:prstGeom>
          <a:noFill/>
          <a:ln/>
        </p:spPr>
        <p:txBody>
          <a:bodyPr wrap="square" lIns="0" tIns="0" rIns="0" bIns="0" rtlCol="0" anchor="ctr"/>
          <a:lstStyle/>
          <a:p>
            <a:pPr marL="0" indent="0" algn="ctr">
              <a:buNone/>
            </a:pPr>
            <a:r>
              <a:rPr lang="en-US" sz="1200" b="1" dirty="0">
                <a:solidFill>
                  <a:srgbClr val="1C2440"/>
                </a:solidFill>
                <a:latin typeface="Cambria" pitchFamily="34" charset="0"/>
                <a:ea typeface="Cambria" pitchFamily="34" charset="-122"/>
                <a:cs typeface="Cambria" pitchFamily="34" charset="-120"/>
              </a:rPr>
              <a:t>4</a:t>
            </a:r>
            <a:endParaRPr lang="en-US" sz="1200" dirty="0"/>
          </a:p>
        </p:txBody>
      </p:sp>
      <p:sp>
        <p:nvSpPr>
          <p:cNvPr id="16" name="Text 14"/>
          <p:cNvSpPr txBox="1"/>
          <p:nvPr/>
        </p:nvSpPr>
        <p:spPr>
          <a:xfrm>
            <a:off x="1353312" y="4279392"/>
            <a:ext cx="10058400" cy="969264"/>
          </a:xfrm>
          <a:prstGeom prst="rect">
            <a:avLst/>
          </a:prstGeom>
          <a:noFill/>
          <a:ln/>
        </p:spPr>
        <p:txBody>
          <a:bodyPr wrap="square" lIns="0" tIns="0" rIns="0" bIns="0" rtlCol="0" anchor="ctr"/>
          <a:lstStyle/>
          <a:p>
            <a:pPr marL="0" indent="0">
              <a:buNone/>
            </a:pPr>
            <a:r>
              <a:rPr lang="en-US" sz="1250" dirty="0">
                <a:solidFill>
                  <a:srgbClr val="C5CBE0"/>
                </a:solidFill>
                <a:latin typeface="Calibri" pitchFamily="34" charset="0"/>
                <a:ea typeface="Calibri" pitchFamily="34" charset="-122"/>
                <a:cs typeface="Calibri" pitchFamily="34" charset="-120"/>
              </a:rPr>
              <a:t>The batch requirement is structural. What would an episodic, single-sample test-time objective have to look like — and what does that rule out?</a:t>
            </a:r>
            <a:endParaRPr lang="en-US" sz="1250" dirty="0"/>
          </a:p>
        </p:txBody>
      </p:sp>
      <p:sp>
        <p:nvSpPr>
          <p:cNvPr id="17" name="Shape 15"/>
          <p:cNvSpPr/>
          <p:nvPr/>
        </p:nvSpPr>
        <p:spPr>
          <a:xfrm>
            <a:off x="841248" y="5321808"/>
            <a:ext cx="329184" cy="329184"/>
          </a:xfrm>
          <a:prstGeom prst="ellipse">
            <a:avLst/>
          </a:prstGeom>
          <a:solidFill>
            <a:srgbClr val="2FA8B8"/>
          </a:solidFill>
          <a:ln w="12700">
            <a:solidFill>
              <a:srgbClr val="333333"/>
            </a:solidFill>
            <a:prstDash val="solid"/>
          </a:ln>
        </p:spPr>
        <p:txBody>
          <a:bodyPr/>
          <a:lstStyle/>
          <a:p>
            <a:endParaRPr lang="en-US"/>
          </a:p>
        </p:txBody>
      </p:sp>
      <p:sp>
        <p:nvSpPr>
          <p:cNvPr id="18" name="Text 16"/>
          <p:cNvSpPr txBox="1"/>
          <p:nvPr/>
        </p:nvSpPr>
        <p:spPr>
          <a:xfrm>
            <a:off x="841248" y="5349240"/>
            <a:ext cx="329184" cy="274320"/>
          </a:xfrm>
          <a:prstGeom prst="rect">
            <a:avLst/>
          </a:prstGeom>
          <a:noFill/>
          <a:ln/>
        </p:spPr>
        <p:txBody>
          <a:bodyPr wrap="square" lIns="0" tIns="0" rIns="0" bIns="0" rtlCol="0" anchor="ctr"/>
          <a:lstStyle/>
          <a:p>
            <a:pPr marL="0" indent="0" algn="ctr">
              <a:buNone/>
            </a:pPr>
            <a:r>
              <a:rPr lang="en-US" sz="1200" b="1" dirty="0">
                <a:solidFill>
                  <a:srgbClr val="1C2440"/>
                </a:solidFill>
                <a:latin typeface="Cambria" pitchFamily="34" charset="0"/>
                <a:ea typeface="Cambria" pitchFamily="34" charset="-122"/>
                <a:cs typeface="Cambria" pitchFamily="34" charset="-120"/>
              </a:rPr>
              <a:t>5</a:t>
            </a:r>
            <a:endParaRPr lang="en-US" sz="1200" dirty="0"/>
          </a:p>
        </p:txBody>
      </p:sp>
      <p:sp>
        <p:nvSpPr>
          <p:cNvPr id="19" name="Text 17"/>
          <p:cNvSpPr txBox="1"/>
          <p:nvPr/>
        </p:nvSpPr>
        <p:spPr>
          <a:xfrm>
            <a:off x="1353312" y="5266944"/>
            <a:ext cx="10058400" cy="969264"/>
          </a:xfrm>
          <a:prstGeom prst="rect">
            <a:avLst/>
          </a:prstGeom>
          <a:noFill/>
          <a:ln/>
        </p:spPr>
        <p:txBody>
          <a:bodyPr wrap="square" lIns="0" tIns="0" rIns="0" bIns="0" rtlCol="0" anchor="ctr"/>
          <a:lstStyle/>
          <a:p>
            <a:pPr marL="0" indent="0">
              <a:buNone/>
            </a:pPr>
            <a:r>
              <a:rPr lang="en-US" sz="1250" dirty="0">
                <a:solidFill>
                  <a:srgbClr val="C5CBE0"/>
                </a:solidFill>
                <a:latin typeface="Calibri" pitchFamily="34" charset="0"/>
                <a:ea typeface="Calibri" pitchFamily="34" charset="-122"/>
                <a:cs typeface="Calibri" pitchFamily="34" charset="-120"/>
              </a:rPr>
              <a:t>Tent has no labelled data and yet needs a learning rate. How should test-time adaptation methods be evaluated when their hyperparameters cannot honestly be tuned?</a:t>
            </a:r>
            <a:endParaRPr lang="en-US" sz="1250" dirty="0"/>
          </a:p>
        </p:txBody>
      </p:sp>
      <p:sp>
        <p:nvSpPr>
          <p:cNvPr id="20" name="Text 18"/>
          <p:cNvSpPr txBox="1"/>
          <p:nvPr/>
        </p:nvSpPr>
        <p:spPr>
          <a:xfrm>
            <a:off x="822960" y="6309360"/>
            <a:ext cx="10607040" cy="274320"/>
          </a:xfrm>
          <a:prstGeom prst="rect">
            <a:avLst/>
          </a:prstGeom>
          <a:noFill/>
          <a:ln/>
        </p:spPr>
        <p:txBody>
          <a:bodyPr wrap="square" lIns="0" tIns="0" rIns="0" bIns="0" rtlCol="0" anchor="ctr"/>
          <a:lstStyle/>
          <a:p>
            <a:pPr marL="0" indent="0">
              <a:buNone/>
            </a:pPr>
            <a:r>
              <a:rPr lang="en-US" sz="1000" dirty="0">
                <a:solidFill>
                  <a:srgbClr val="ADB5CE"/>
                </a:solidFill>
                <a:latin typeface="Calibri" pitchFamily="34" charset="0"/>
                <a:ea typeface="Calibri" pitchFamily="34" charset="-122"/>
                <a:cs typeface="Calibri" pitchFamily="34" charset="-120"/>
              </a:rPr>
              <a:t>Wang, Shelhamer, Liu, Olshausen &amp; Darrell (2021), ICLR Spotlight  ·  arXiv:2006.10726  ·  github.com/DequanWang/tent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6061</Words>
  <Application>Microsoft Macintosh PowerPoint</Application>
  <PresentationFormat>Widescreen</PresentationFormat>
  <Paragraphs>375</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Tent (Wang et al., 2021)</dc:title>
  <dc:subject>PptxGenJS Presentation</dc:subject>
  <dc:creator>Seminar</dc:creator>
  <cp:lastModifiedBy>Gao, Ashley</cp:lastModifiedBy>
  <cp:revision>2</cp:revision>
  <dcterms:created xsi:type="dcterms:W3CDTF">2026-10-06T15:17:28Z</dcterms:created>
  <dcterms:modified xsi:type="dcterms:W3CDTF">2026-10-06T15:18:56Z</dcterms:modified>
</cp:coreProperties>
</file>