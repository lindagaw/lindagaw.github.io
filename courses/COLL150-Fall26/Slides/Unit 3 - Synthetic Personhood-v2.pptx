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7" r:id="rId21"/>
    <p:sldId id="278" r:id="rId22"/>
    <p:sldId id="279" r:id="rId23"/>
    <p:sldId id="280" r:id="rId24"/>
    <p:sldId id="281" r:id="rId25"/>
    <p:sldId id="282" r:id="rId26"/>
    <p:sldId id="283" r:id="rId27"/>
    <p:sldId id="284" r:id="rId28"/>
    <p:sldId id="285" r:id="rId29"/>
    <p:sldId id="286" r:id="rId30"/>
    <p:sldId id="288" r:id="rId31"/>
    <p:sldId id="289" r:id="rId32"/>
    <p:sldId id="290" r:id="rId33"/>
    <p:sldId id="291" r:id="rId34"/>
    <p:sldId id="292" r:id="rId35"/>
    <p:sldId id="293" r:id="rId36"/>
    <p:sldId id="294" r:id="rId37"/>
    <p:sldId id="295" r:id="rId38"/>
    <p:sldId id="296" r:id="rId39"/>
    <p:sldId id="297" r:id="rId40"/>
    <p:sldId id="298" r:id="rId41"/>
    <p:sldId id="300" r:id="rId42"/>
    <p:sldId id="301" r:id="rId43"/>
    <p:sldId id="302" r:id="rId4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0" d="100"/>
          <a:sy n="120" d="100"/>
        </p:scale>
        <p:origin x="4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5605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works, three section colours: green for The Matrix, amber for Mass Effect, blue for Detroit. The coding runs through the deck so students can tell at a glance which body of evidence a claim rests on. Note that Monday was Labor Day — expect the play assignments to be less complete than the viewing, and walk the room early to find out who actually got through the Markus chapters.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Labor Day ate a chunk of their week and the play assignment is enormous. Naming that at the start is the difference between a room that participates and a room that hides. The played-versus-watched distinction becomes a real methodological point by the Detroit block, where the flowchart only exists for the person holding the controller.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the prompt is the one that matters. Most students write “me, obviously” and then spend the session discovering that the menu was authored, the scoring was authored, and the comparison to other players was authored. The ones who wrote “the designer” get to feel vindicated, which makes them talk.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this and leave it up for five hours. The free-will debate will try to eat the session at least twice; each time, point at the board. Responsibility is a transfer, and transfers can be tracked even when the metaphysics is unsettled.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 ranking them at this stage. The temptation is to say Detroit is the most ambitious and the Matrix the shallowest; by the end of the session the class should have complicated both halves of that — the Matrix is honest about offering nothing, and Detroit’s offer turns out to be heavily conditioned.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the second half of the takeaway now and collect it in the Detroit critique. “You chose the violent path” is a sentence only a designer who wrote both branches and set the scoring can say with a straight face.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these four labels early and insist on them all day. “Responsible” is doing four jobs in ordinary speech and the session collapses into mush without the distinction. The fourth sense — exposed — has no good analogue in older media, and it is why Detroit is worth five hours despite its faults.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Twenty-five minutes. This is the toolkit for the rest of the day and everything after the break refers back to it. Do not let it become a lecture on Bogost as a figure — they need the five questions and one worked example, not a literature review.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question in the lower box is the single most useful thing they take from today. Run it on something harmless first — a sports rule, a board game — so that when they run it on Detroit’s public opinion meter later it feels like method rather than ambush.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copy the five questions down. They are the rubric for the game analysis later in the term, and it is worth saying that explicitly here.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choose an example nobody in the room is defensive about. Half the class has strong feelings about Detroit and about Mass Effect’s ending; nobody has a stake in defending Tom Nook. Once the method has worked on something benign, the same move on Detroit reads as analysis.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assign only one essay, Bogost is the one — short, free under a Creative Commons licence, written for undergraduates. Sicart is a useful optional pairing for the strongest students and gives the room a way to defend a game they like without simply refusing the method.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 minutes. The job is to establish the control case: a work with a synthetic antagonist that has almost no interest in synthetic personhood and no procedural dimension at all. Everything that follows is measured against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students push back here, usually via Smith or via the Animatrix. Both are fair. That “The Second Renaissance” does give the machines a case is itself evidence for the claim, since it had to be told outside the films.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hollowed-out Baudrillard is the best single image for this session. Baudrillard himself rejected the film’s reading of him — worth a sentence, not a detour. The point for us is that the book is used as furniture, which is what the film does with its machine premise.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toolkit and getting nothing is a useful demonstration — it shows that procedural rhetoric is a claim about a specific medium’s specific capacity, not a universal solvent. A method that returns a result for everything is not a method.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Cypher is the better discussion generator and usually splits the room. Push whoever defends him toward the strongest version — that a life is not made worthless by being mediated, a live claim for anyone with an online life — and then note that Cypher wants his memory erased, which is where it gets harder.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or six minutes; this is context, not the argument. The Revolutions truce earns its place because it sets up the Mass Effect block: same outcome, forty seconds of screen time versus fifty hours of accumulated player conduct.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gets political quickly and that is fine, but keep it analytic: the interesting observation is structural — an epistemology in which dissent is proof of insight has no error-correction, and that is a property of the narrative form rather than of any movement that adopted it. Do not let it become a survey of the room’s politics.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Fifty-five minutes plus fifteen of group work. The block builds to one slide — the hidden ledger that gates peace on Rannoch — so keep the lore efficient and let the accounting have its time.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callback to last week is worth making explicitly — it is the moment the course stops being a list of works and starts being an argument. The structural rhyme is exact: a made thing initiates contact about its own status, and the maker treats the initiation itself as the threat.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population framing is the most transferable idea in this block. Debates about model welfare and AI rights tend to assume a single entity with a single perspective; the geth are a case study in what changes when the candidate for personhood is a distributed process with no stable individual boundary.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best machine-ethics scenario in commercial games and it is genuinely hard. Students almost always pick rewrite and describe it as humane; ask them to restate what rewriting is in a sentence that does not use the word rewrite. “Involuntary alteration of belief in a thinking population” changes the room.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 is where the accumulated-time argument is clearest. The series never asks you to decide whether she is a person; it makes it awkward to say she is not, by giving you two hundred hours of ordinary interaction first. That is a rhetorical strategy no film has access to, and it is worth naming as such.</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can, play the scene rather than describe it — four minutes of video does more than any summary. If someone in the room got the failure ending on their own playthrough, get them to describe it; two people who played the same mission and saw opposite outcomes is the whole point of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this as trivia. It is the most important mechanic in the session because it is the clearest case of a game making an argument nobody wrote down: that reconciliation is not achieved in the moment of decision but purchased in advance, in small unremarkable acts, by someone who did not know they were paying for anything.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objection is the one students find on their own and it is quietly devastating: the mechanic cannot tell the difference between a player who took the geth seriously and a player who cleared the mission list. Any system that scores conduct has this problem, which makes it a good bridge to the Detroit critique after the break.</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students will want to relitigate the endings for twenty minutes. Cap it at five and redirect to the third card, which is the transferable insight: the betrayal was not about narrative quality, it was about a work switching from one mode of implication to another without warning.</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three usually produces the best material — every design they propose either spoils the discovery or turns the mechanic into a checklist, which is itself the finding. Group four keeps the room honest and stops the method becoming dogma before Detroit.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Seventy-five minutes across two blocks: fifty-five on the game, twenty on the critique. Keep them separate — students who feel the critique arriving early stop describing the game accurately, and the critique only works if the description came first.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observation on the dark bar here and prove it in the public-opinion slide. Kara’s arc has no approval meter and no crowd; her personhood is settled by whether Alice needs her. Markus’s is settled by a number that tracks how the public feels. That asymmetry is the game’s most revealing structural choice.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what the game does well. The critique later has far more force coming from a room that has already agreed the Alice reveal is a genuine achievement, and it protects you from the charge that the session is a takedown.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Carl is worth a moment. Markus is the only android in the game whose personhood is affirmed before he claims it, and it is affirmed by a wealthy owner as a gift. The game does not notice that it has made the leader of a liberation movement the one who was already treated well.</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mechanic accurately rather than in its worst form — the game does allow a violent path to reach an ending, and students who have played it will correct an overstatement and then dismiss the whole critique. The claim that survives scrutiny is about what is measured and what the measurement is called, not about whether force is strictly forbidden.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percentages are genuinely novel and worth taking seriously as an aesthetic device before the critique lands. No novel can tell you that 71 per cent of readers would have done otherwise. Whatever else Detroit gets wrong, it built a machine for producing a very specific and previously unavailable feeling.</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minutes. Open by saying explicitly that liking the game and finding this argument correct are compatible positions — otherwise the students who love it will spend the block defending rather than thinking.</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block descriptive rather than indignant. The strongest classroom version of the critique is not that the game is offensive; it is that it is careless in a specific, analysable way, and that carelessness with borrowed material is a craft failure with political consequences.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centre of the session. The mechanic makes a claim the script never makes and that the author would likely disown, and it makes it on every screen for ten hours. If students leave with one thing, it should be that a rule can assert something its writer never wrote.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Agency as alibi is the idea to write on the board. It generalises immediately: a platform that says users chose what to see, a system that says the operator made the final call, a tool that says a human was in the loop. In every case the party who wrote the option set is claiming neutrality about the option set.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the critique on the last line. A room told it must dislike a text stops reasoning; a room given a precise account of a flaw and permission to keep its affection produces much better writing.</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four is not a joke option and should be assigned rather than volunteered for. The finding that emerges across all four is that every proposed fix makes a new argument its designers did not intend — the session’s thesis arrived at by the students rather than delivered by you.</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callback to the two previous weeks is what turns this into a course rather than a survey. Make it briefly and let the exit ticket do the rest.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named-mechanic requirement is the whole assessment. Students want to write about feeling, and the discipline of pointing at a rule is what separates this from a response paper. The ones who can name a mechanic in a game you have never heard of are the ones to recruit for the game analysis showcase later in the term.</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319"/>
        </a:solidFill>
        <a:effectLst/>
      </p:bgPr>
    </p:bg>
    <p:spTree>
      <p:nvGrpSpPr>
        <p:cNvPr id="1" name=""/>
        <p:cNvGrpSpPr/>
        <p:nvPr/>
      </p:nvGrpSpPr>
      <p:grpSpPr>
        <a:xfrm>
          <a:off x="0" y="0"/>
          <a:ext cx="0" cy="0"/>
          <a:chOff x="0" y="0"/>
          <a:chExt cx="0" cy="0"/>
        </a:xfrm>
      </p:grpSpPr>
      <p:sp>
        <p:nvSpPr>
          <p:cNvPr id="2" name="Shape 0"/>
          <p:cNvSpPr/>
          <p:nvPr/>
        </p:nvSpPr>
        <p:spPr>
          <a:xfrm>
            <a:off x="8686800" y="1600200"/>
            <a:ext cx="2377440" cy="2377440"/>
          </a:xfrm>
          <a:prstGeom prst="ellipse">
            <a:avLst/>
          </a:prstGeom>
          <a:solidFill>
            <a:srgbClr val="2F8F5B">
              <a:alpha val="70000"/>
            </a:srgbClr>
          </a:solidFill>
          <a:ln/>
        </p:spPr>
        <p:txBody>
          <a:bodyPr/>
          <a:lstStyle/>
          <a:p>
            <a:endParaRPr lang="en-US"/>
          </a:p>
        </p:txBody>
      </p:sp>
      <p:sp>
        <p:nvSpPr>
          <p:cNvPr id="3" name="Shape 1"/>
          <p:cNvSpPr/>
          <p:nvPr/>
        </p:nvSpPr>
        <p:spPr>
          <a:xfrm>
            <a:off x="8046720" y="3063240"/>
            <a:ext cx="2377440" cy="2377440"/>
          </a:xfrm>
          <a:prstGeom prst="ellipse">
            <a:avLst/>
          </a:prstGeom>
          <a:solidFill>
            <a:srgbClr val="A8722B">
              <a:alpha val="65000"/>
            </a:srgbClr>
          </a:solidFill>
          <a:ln/>
        </p:spPr>
        <p:txBody>
          <a:bodyPr/>
          <a:lstStyle/>
          <a:p>
            <a:endParaRPr lang="en-US"/>
          </a:p>
        </p:txBody>
      </p:sp>
      <p:sp>
        <p:nvSpPr>
          <p:cNvPr id="4" name="Shape 2"/>
          <p:cNvSpPr/>
          <p:nvPr/>
        </p:nvSpPr>
        <p:spPr>
          <a:xfrm>
            <a:off x="9509760" y="3063240"/>
            <a:ext cx="2377440" cy="2377440"/>
          </a:xfrm>
          <a:prstGeom prst="ellipse">
            <a:avLst/>
          </a:prstGeom>
          <a:solidFill>
            <a:srgbClr val="35719C">
              <a:alpha val="65000"/>
            </a:srgbClr>
          </a:solidFill>
          <a:ln/>
        </p:spPr>
        <p:txBody>
          <a:bodyPr/>
          <a:lstStyle/>
          <a:p>
            <a:endParaRPr lang="en-US"/>
          </a:p>
        </p:txBody>
      </p:sp>
      <p:sp>
        <p:nvSpPr>
          <p:cNvPr id="5" name="Text 3"/>
          <p:cNvSpPr txBox="1"/>
          <p:nvPr/>
        </p:nvSpPr>
        <p:spPr>
          <a:xfrm>
            <a:off x="640080" y="1417320"/>
            <a:ext cx="7315200" cy="292608"/>
          </a:xfrm>
          <a:prstGeom prst="rect">
            <a:avLst/>
          </a:prstGeom>
          <a:noFill/>
          <a:ln/>
        </p:spPr>
        <p:txBody>
          <a:bodyPr wrap="square" lIns="0" tIns="0" rIns="0" bIns="0" rtlCol="0" anchor="ctr"/>
          <a:lstStyle/>
          <a:p>
            <a:pPr marL="0" indent="0">
              <a:buNone/>
            </a:pPr>
            <a:r>
              <a:rPr lang="en-US" sz="1200" b="1" kern="0" spc="180" dirty="0">
                <a:solidFill>
                  <a:srgbClr val="7FD0A5"/>
                </a:solidFill>
                <a:latin typeface="Calibri" pitchFamily="34" charset="0"/>
                <a:ea typeface="Calibri" pitchFamily="34" charset="-122"/>
                <a:cs typeface="Calibri" pitchFamily="34" charset="-120"/>
              </a:rPr>
              <a:t>AI IN SPECULATIVE MEDIA AND LITERATURES · WEEK 3</a:t>
            </a:r>
            <a:endParaRPr lang="en-US" sz="1200" dirty="0"/>
          </a:p>
        </p:txBody>
      </p:sp>
      <p:sp>
        <p:nvSpPr>
          <p:cNvPr id="6" name="Text 4"/>
          <p:cNvSpPr txBox="1"/>
          <p:nvPr/>
        </p:nvSpPr>
        <p:spPr>
          <a:xfrm>
            <a:off x="640080" y="1874520"/>
            <a:ext cx="7498080" cy="1371600"/>
          </a:xfrm>
          <a:prstGeom prst="rect">
            <a:avLst/>
          </a:prstGeom>
          <a:noFill/>
          <a:ln/>
        </p:spPr>
        <p:txBody>
          <a:bodyPr wrap="square" lIns="0" tIns="0" rIns="0" bIns="0" rtlCol="0" anchor="ctr"/>
          <a:lstStyle/>
          <a:p>
            <a:pPr marL="0" indent="0">
              <a:lnSpc>
                <a:spcPts val="4800"/>
              </a:lnSpc>
              <a:buNone/>
            </a:pPr>
            <a:r>
              <a:rPr lang="en-US" sz="4000" b="1" dirty="0">
                <a:solidFill>
                  <a:srgbClr val="E9EDEA"/>
                </a:solidFill>
                <a:latin typeface="Cambria" pitchFamily="34" charset="0"/>
                <a:ea typeface="Cambria" pitchFamily="34" charset="-122"/>
                <a:cs typeface="Cambria" pitchFamily="34" charset="-120"/>
              </a:rPr>
              <a:t>Simulation and</a:t>
            </a:r>
            <a:endParaRPr lang="en-US" sz="4000" dirty="0"/>
          </a:p>
          <a:p>
            <a:pPr marL="0" indent="0">
              <a:lnSpc>
                <a:spcPts val="4800"/>
              </a:lnSpc>
              <a:buNone/>
            </a:pPr>
            <a:r>
              <a:rPr lang="en-US" sz="4000" b="1" dirty="0">
                <a:solidFill>
                  <a:srgbClr val="E9EDEA"/>
                </a:solidFill>
                <a:latin typeface="Cambria" pitchFamily="34" charset="0"/>
                <a:ea typeface="Cambria" pitchFamily="34" charset="-122"/>
                <a:cs typeface="Cambria" pitchFamily="34" charset="-120"/>
              </a:rPr>
              <a:t>Synthetic Personhood</a:t>
            </a:r>
            <a:endParaRPr lang="en-US" sz="4000" dirty="0"/>
          </a:p>
        </p:txBody>
      </p:sp>
      <p:sp>
        <p:nvSpPr>
          <p:cNvPr id="7" name="Shape 5"/>
          <p:cNvSpPr/>
          <p:nvPr/>
        </p:nvSpPr>
        <p:spPr>
          <a:xfrm>
            <a:off x="640080" y="3520440"/>
            <a:ext cx="2834640" cy="18288"/>
          </a:xfrm>
          <a:prstGeom prst="rect">
            <a:avLst/>
          </a:prstGeom>
          <a:solidFill>
            <a:srgbClr val="2F8F5B"/>
          </a:solidFill>
          <a:ln/>
        </p:spPr>
        <p:txBody>
          <a:bodyPr/>
          <a:lstStyle/>
          <a:p>
            <a:endParaRPr lang="en-US"/>
          </a:p>
        </p:txBody>
      </p:sp>
      <p:sp>
        <p:nvSpPr>
          <p:cNvPr id="8" name="Text 6"/>
          <p:cNvSpPr txBox="1"/>
          <p:nvPr/>
        </p:nvSpPr>
        <p:spPr>
          <a:xfrm>
            <a:off x="640080" y="3794760"/>
            <a:ext cx="7498080" cy="1645920"/>
          </a:xfrm>
          <a:prstGeom prst="rect">
            <a:avLst/>
          </a:prstGeom>
          <a:noFill/>
          <a:ln/>
        </p:spPr>
        <p:txBody>
          <a:bodyPr wrap="square" lIns="0" tIns="0" rIns="0" bIns="0" rtlCol="0" anchor="ctr"/>
          <a:lstStyle/>
          <a:p>
            <a:pPr marL="0" indent="0">
              <a:lnSpc>
                <a:spcPts val="2400"/>
              </a:lnSpc>
              <a:buNone/>
            </a:pPr>
            <a:r>
              <a:rPr lang="en-US" sz="1400" dirty="0">
                <a:solidFill>
                  <a:srgbClr val="E9EDEA"/>
                </a:solidFill>
                <a:latin typeface="Calibri" pitchFamily="34" charset="0"/>
                <a:ea typeface="Calibri" pitchFamily="34" charset="-122"/>
                <a:cs typeface="Calibri" pitchFamily="34" charset="-120"/>
              </a:rPr>
              <a:t>The Matrix (1999, with the sequels)  ·  Mass Effect 2–3: the geth–quarian arc and EDI</a:t>
            </a:r>
            <a:endParaRPr lang="en-US" sz="1400" dirty="0"/>
          </a:p>
          <a:p>
            <a:pPr marL="0" indent="0">
              <a:lnSpc>
                <a:spcPts val="2400"/>
              </a:lnSpc>
              <a:buNone/>
            </a:pPr>
            <a:r>
              <a:rPr lang="en-US" sz="1400" dirty="0">
                <a:solidFill>
                  <a:srgbClr val="E9EDEA"/>
                </a:solidFill>
                <a:latin typeface="Calibri" pitchFamily="34" charset="0"/>
                <a:ea typeface="Calibri" pitchFamily="34" charset="-122"/>
                <a:cs typeface="Calibri" pitchFamily="34" charset="-120"/>
              </a:rPr>
              <a:t>Detroit: Become Human — the Kara and Markus chapters</a:t>
            </a:r>
            <a:endParaRPr lang="en-US" sz="1400" dirty="0"/>
          </a:p>
          <a:p>
            <a:pPr marL="0" indent="0">
              <a:lnSpc>
                <a:spcPts val="2400"/>
              </a:lnSpc>
              <a:buNone/>
            </a:pPr>
            <a:r>
              <a:rPr lang="en-US" sz="1400" dirty="0">
                <a:solidFill>
                  <a:srgbClr val="E9EDEA"/>
                </a:solidFill>
                <a:latin typeface="Calibri" pitchFamily="34" charset="0"/>
                <a:ea typeface="Calibri" pitchFamily="34" charset="-122"/>
                <a:cs typeface="Calibri" pitchFamily="34" charset="-120"/>
              </a:rPr>
              <a:t>Bogost, “The Rhetoric of Video Games” (2008)</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2F8F5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BEFORE WE START</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Nobody finished all of this, and that is fine</a:t>
            </a:r>
            <a:endParaRPr lang="en-US" sz="3000" dirty="0"/>
          </a:p>
        </p:txBody>
      </p:sp>
      <p:sp>
        <p:nvSpPr>
          <p:cNvPr id="5" name="Shape 3"/>
          <p:cNvSpPr/>
          <p:nvPr/>
        </p:nvSpPr>
        <p:spPr>
          <a:xfrm>
            <a:off x="640080" y="1600200"/>
            <a:ext cx="10911535" cy="1280160"/>
          </a:xfrm>
          <a:prstGeom prst="roundRect">
            <a:avLst>
              <a:gd name="adj" fmla="val 5714"/>
            </a:avLst>
          </a:prstGeom>
          <a:solidFill>
            <a:srgbClr val="F2F2F0"/>
          </a:solidFill>
          <a:ln w="12700">
            <a:solidFill>
              <a:srgbClr val="F2F2F0"/>
            </a:solidFill>
            <a:prstDash val="solid"/>
          </a:ln>
        </p:spPr>
        <p:txBody>
          <a:bodyPr/>
          <a:lstStyle/>
          <a:p>
            <a:endParaRPr lang="en-US"/>
          </a:p>
        </p:txBody>
      </p:sp>
      <p:sp>
        <p:nvSpPr>
          <p:cNvPr id="6" name="Shape 4"/>
          <p:cNvSpPr/>
          <p:nvPr/>
        </p:nvSpPr>
        <p:spPr>
          <a:xfrm>
            <a:off x="960120" y="2057400"/>
            <a:ext cx="384048" cy="384048"/>
          </a:xfrm>
          <a:prstGeom prst="ellipse">
            <a:avLst/>
          </a:prstGeom>
          <a:solidFill>
            <a:srgbClr val="0D1319"/>
          </a:solidFill>
          <a:ln/>
        </p:spPr>
        <p:txBody>
          <a:bodyPr/>
          <a:lstStyle/>
          <a:p>
            <a:endParaRPr lang="en-US"/>
          </a:p>
        </p:txBody>
      </p:sp>
      <p:sp>
        <p:nvSpPr>
          <p:cNvPr id="7" name="Text 5"/>
          <p:cNvSpPr txBox="1"/>
          <p:nvPr/>
        </p:nvSpPr>
        <p:spPr>
          <a:xfrm>
            <a:off x="960120" y="20574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600200" y="1801368"/>
            <a:ext cx="9509760" cy="347472"/>
          </a:xfrm>
          <a:prstGeom prst="rect">
            <a:avLst/>
          </a:prstGeom>
          <a:noFill/>
          <a:ln/>
        </p:spPr>
        <p:txBody>
          <a:bodyPr wrap="square" lIns="0" tIns="0" rIns="0" bIns="0" rtlCol="0" anchor="ctr"/>
          <a:lstStyle/>
          <a:p>
            <a:pPr marL="0" indent="0">
              <a:buNone/>
            </a:pPr>
            <a:r>
              <a:rPr lang="en-US" sz="1850" b="1" dirty="0">
                <a:solidFill>
                  <a:srgbClr val="0D1319"/>
                </a:solidFill>
                <a:latin typeface="Cambria" pitchFamily="34" charset="0"/>
                <a:ea typeface="Cambria" pitchFamily="34" charset="-122"/>
                <a:cs typeface="Cambria" pitchFamily="34" charset="-120"/>
              </a:rPr>
              <a:t>The asymmetry is real</a:t>
            </a:r>
            <a:endParaRPr lang="en-US" sz="1850" dirty="0"/>
          </a:p>
        </p:txBody>
      </p:sp>
      <p:sp>
        <p:nvSpPr>
          <p:cNvPr id="9" name="Text 7"/>
          <p:cNvSpPr txBox="1"/>
          <p:nvPr/>
        </p:nvSpPr>
        <p:spPr>
          <a:xfrm>
            <a:off x="1600200" y="2203704"/>
            <a:ext cx="9509760" cy="548640"/>
          </a:xfrm>
          <a:prstGeom prst="rect">
            <a:avLst/>
          </a:prstGeom>
          <a:noFill/>
          <a:ln/>
        </p:spPr>
        <p:txBody>
          <a:bodyPr wrap="square" lIns="0" tIns="0" rIns="0" bIns="0" rtlCol="0" anchor="ctr"/>
          <a:lstStyle/>
          <a:p>
            <a:pPr marL="0" indent="0">
              <a:lnSpc>
                <a:spcPts val="1800"/>
              </a:lnSpc>
              <a:buNone/>
            </a:pPr>
            <a:r>
              <a:rPr lang="en-US" sz="1300" dirty="0">
                <a:solidFill>
                  <a:srgbClr val="5C6672"/>
                </a:solidFill>
                <a:latin typeface="Calibri" pitchFamily="34" charset="0"/>
                <a:ea typeface="Calibri" pitchFamily="34" charset="-122"/>
                <a:cs typeface="Calibri" pitchFamily="34" charset="-120"/>
              </a:rPr>
              <a:t>A film is two hours. Two Mass Effect games are a hundred. If you watched, read the essay, and got through some of Kara and Markus, you can do everything today — we will screen and play the key sequences together.</a:t>
            </a:r>
            <a:endParaRPr lang="en-US" sz="1300" dirty="0"/>
          </a:p>
        </p:txBody>
      </p:sp>
      <p:sp>
        <p:nvSpPr>
          <p:cNvPr id="10" name="Shape 8"/>
          <p:cNvSpPr/>
          <p:nvPr/>
        </p:nvSpPr>
        <p:spPr>
          <a:xfrm>
            <a:off x="640080" y="3017520"/>
            <a:ext cx="10911535" cy="1280160"/>
          </a:xfrm>
          <a:prstGeom prst="roundRect">
            <a:avLst>
              <a:gd name="adj" fmla="val 5714"/>
            </a:avLst>
          </a:prstGeom>
          <a:solidFill>
            <a:srgbClr val="E7F2EC"/>
          </a:solidFill>
          <a:ln w="12700">
            <a:solidFill>
              <a:srgbClr val="E7F2EC"/>
            </a:solidFill>
            <a:prstDash val="solid"/>
          </a:ln>
        </p:spPr>
        <p:txBody>
          <a:bodyPr/>
          <a:lstStyle/>
          <a:p>
            <a:endParaRPr lang="en-US"/>
          </a:p>
        </p:txBody>
      </p:sp>
      <p:sp>
        <p:nvSpPr>
          <p:cNvPr id="11" name="Shape 9"/>
          <p:cNvSpPr/>
          <p:nvPr/>
        </p:nvSpPr>
        <p:spPr>
          <a:xfrm>
            <a:off x="960120" y="3474720"/>
            <a:ext cx="384048" cy="384048"/>
          </a:xfrm>
          <a:prstGeom prst="ellipse">
            <a:avLst/>
          </a:prstGeom>
          <a:solidFill>
            <a:srgbClr val="2F8F5B"/>
          </a:solidFill>
          <a:ln/>
        </p:spPr>
        <p:txBody>
          <a:bodyPr/>
          <a:lstStyle/>
          <a:p>
            <a:endParaRPr lang="en-US"/>
          </a:p>
        </p:txBody>
      </p:sp>
      <p:sp>
        <p:nvSpPr>
          <p:cNvPr id="12" name="Text 10"/>
          <p:cNvSpPr txBox="1"/>
          <p:nvPr/>
        </p:nvSpPr>
        <p:spPr>
          <a:xfrm>
            <a:off x="960120" y="34747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1600200" y="3218688"/>
            <a:ext cx="9509760" cy="347472"/>
          </a:xfrm>
          <a:prstGeom prst="rect">
            <a:avLst/>
          </a:prstGeom>
          <a:noFill/>
          <a:ln/>
        </p:spPr>
        <p:txBody>
          <a:bodyPr wrap="square" lIns="0" tIns="0" rIns="0" bIns="0" rtlCol="0" anchor="ctr"/>
          <a:lstStyle/>
          <a:p>
            <a:pPr marL="0" indent="0">
              <a:buNone/>
            </a:pPr>
            <a:r>
              <a:rPr lang="en-US" sz="1850" b="1" dirty="0">
                <a:solidFill>
                  <a:srgbClr val="0D1319"/>
                </a:solidFill>
                <a:latin typeface="Cambria" pitchFamily="34" charset="0"/>
                <a:ea typeface="Cambria" pitchFamily="34" charset="-122"/>
                <a:cs typeface="Cambria" pitchFamily="34" charset="-120"/>
              </a:rPr>
              <a:t>Watching someone else play counts</a:t>
            </a:r>
            <a:endParaRPr lang="en-US" sz="1850" dirty="0"/>
          </a:p>
        </p:txBody>
      </p:sp>
      <p:sp>
        <p:nvSpPr>
          <p:cNvPr id="14" name="Text 12"/>
          <p:cNvSpPr txBox="1"/>
          <p:nvPr/>
        </p:nvSpPr>
        <p:spPr>
          <a:xfrm>
            <a:off x="1600200" y="3621024"/>
            <a:ext cx="9509760" cy="548640"/>
          </a:xfrm>
          <a:prstGeom prst="rect">
            <a:avLst/>
          </a:prstGeom>
          <a:noFill/>
          <a:ln/>
        </p:spPr>
        <p:txBody>
          <a:bodyPr wrap="square" lIns="0" tIns="0" rIns="0" bIns="0" rtlCol="0" anchor="ctr"/>
          <a:lstStyle/>
          <a:p>
            <a:pPr marL="0" indent="0">
              <a:lnSpc>
                <a:spcPts val="1800"/>
              </a:lnSpc>
              <a:buNone/>
            </a:pPr>
            <a:r>
              <a:rPr lang="en-US" sz="1300" dirty="0">
                <a:solidFill>
                  <a:srgbClr val="5C6672"/>
                </a:solidFill>
                <a:latin typeface="Calibri" pitchFamily="34" charset="0"/>
                <a:ea typeface="Calibri" pitchFamily="34" charset="-122"/>
                <a:cs typeface="Calibri" pitchFamily="34" charset="-120"/>
              </a:rPr>
              <a:t>For our purposes a let’s-play is a legitimate text. It is not the same experience as playing — that difference is one of today’s questions — but it is enough to argue from, as long as you say which one you did.</a:t>
            </a:r>
            <a:endParaRPr lang="en-US" sz="1300" dirty="0"/>
          </a:p>
        </p:txBody>
      </p:sp>
      <p:sp>
        <p:nvSpPr>
          <p:cNvPr id="15" name="Shape 13"/>
          <p:cNvSpPr/>
          <p:nvPr/>
        </p:nvSpPr>
        <p:spPr>
          <a:xfrm>
            <a:off x="640080" y="4434840"/>
            <a:ext cx="10911535" cy="1280160"/>
          </a:xfrm>
          <a:prstGeom prst="roundRect">
            <a:avLst>
              <a:gd name="adj" fmla="val 5714"/>
            </a:avLst>
          </a:prstGeom>
          <a:solidFill>
            <a:srgbClr val="F2F2F0"/>
          </a:solidFill>
          <a:ln w="12700">
            <a:solidFill>
              <a:srgbClr val="F2F2F0"/>
            </a:solidFill>
            <a:prstDash val="solid"/>
          </a:ln>
        </p:spPr>
        <p:txBody>
          <a:bodyPr/>
          <a:lstStyle/>
          <a:p>
            <a:endParaRPr lang="en-US"/>
          </a:p>
        </p:txBody>
      </p:sp>
      <p:sp>
        <p:nvSpPr>
          <p:cNvPr id="16" name="Shape 14"/>
          <p:cNvSpPr/>
          <p:nvPr/>
        </p:nvSpPr>
        <p:spPr>
          <a:xfrm>
            <a:off x="960120" y="4892040"/>
            <a:ext cx="384048" cy="384048"/>
          </a:xfrm>
          <a:prstGeom prst="ellipse">
            <a:avLst/>
          </a:prstGeom>
          <a:solidFill>
            <a:srgbClr val="0D1319"/>
          </a:solidFill>
          <a:ln/>
        </p:spPr>
        <p:txBody>
          <a:bodyPr/>
          <a:lstStyle/>
          <a:p>
            <a:endParaRPr lang="en-US"/>
          </a:p>
        </p:txBody>
      </p:sp>
      <p:sp>
        <p:nvSpPr>
          <p:cNvPr id="17" name="Text 15"/>
          <p:cNvSpPr txBox="1"/>
          <p:nvPr/>
        </p:nvSpPr>
        <p:spPr>
          <a:xfrm>
            <a:off x="960120" y="48920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600200" y="4636008"/>
            <a:ext cx="9509760" cy="347472"/>
          </a:xfrm>
          <a:prstGeom prst="rect">
            <a:avLst/>
          </a:prstGeom>
          <a:noFill/>
          <a:ln/>
        </p:spPr>
        <p:txBody>
          <a:bodyPr wrap="square" lIns="0" tIns="0" rIns="0" bIns="0" rtlCol="0" anchor="ctr"/>
          <a:lstStyle/>
          <a:p>
            <a:pPr marL="0" indent="0">
              <a:buNone/>
            </a:pPr>
            <a:r>
              <a:rPr lang="en-US" sz="1850" b="1" dirty="0">
                <a:solidFill>
                  <a:srgbClr val="0D1319"/>
                </a:solidFill>
                <a:latin typeface="Cambria" pitchFamily="34" charset="0"/>
                <a:ea typeface="Cambria" pitchFamily="34" charset="-122"/>
                <a:cs typeface="Cambria" pitchFamily="34" charset="-120"/>
              </a:rPr>
              <a:t>What you cannot fake</a:t>
            </a:r>
            <a:endParaRPr lang="en-US" sz="1850" dirty="0"/>
          </a:p>
        </p:txBody>
      </p:sp>
      <p:sp>
        <p:nvSpPr>
          <p:cNvPr id="19" name="Text 17"/>
          <p:cNvSpPr txBox="1"/>
          <p:nvPr/>
        </p:nvSpPr>
        <p:spPr>
          <a:xfrm>
            <a:off x="1600200" y="5038344"/>
            <a:ext cx="9509760" cy="548640"/>
          </a:xfrm>
          <a:prstGeom prst="rect">
            <a:avLst/>
          </a:prstGeom>
          <a:noFill/>
          <a:ln/>
        </p:spPr>
        <p:txBody>
          <a:bodyPr wrap="square" lIns="0" tIns="0" rIns="0" bIns="0" rtlCol="0" anchor="ctr"/>
          <a:lstStyle/>
          <a:p>
            <a:pPr marL="0" indent="0">
              <a:lnSpc>
                <a:spcPts val="1800"/>
              </a:lnSpc>
              <a:buNone/>
            </a:pPr>
            <a:r>
              <a:rPr lang="en-US" sz="1300" dirty="0">
                <a:solidFill>
                  <a:srgbClr val="5C6672"/>
                </a:solidFill>
                <a:latin typeface="Calibri" pitchFamily="34" charset="0"/>
                <a:ea typeface="Calibri" pitchFamily="34" charset="-122"/>
                <a:cs typeface="Calibri" pitchFamily="34" charset="-120"/>
              </a:rPr>
              <a:t>The one thing you had to do yourself is notice a choice you made and regretted. Bring one. If you have none, take one from a friend and say whose it is.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0D1319"/>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7FD0A5"/>
          </a:solidFill>
          <a:ln/>
        </p:spPr>
        <p:txBody>
          <a:bodyPr/>
          <a:lstStyle/>
          <a:p>
            <a:endParaRPr lang="en-US"/>
          </a:p>
        </p:txBody>
      </p:sp>
      <p:sp>
        <p:nvSpPr>
          <p:cNvPr id="3" name="Text 1"/>
          <p:cNvSpPr txBox="1"/>
          <p:nvPr/>
        </p:nvSpPr>
        <p:spPr>
          <a:xfrm>
            <a:off x="886968" y="438912"/>
            <a:ext cx="10515600" cy="274320"/>
          </a:xfrm>
          <a:prstGeom prst="rect">
            <a:avLst/>
          </a:prstGeom>
          <a:noFill/>
          <a:ln/>
        </p:spPr>
        <p:txBody>
          <a:bodyPr wrap="square" lIns="0" tIns="0" rIns="0" bIns="0" rtlCol="0" anchor="ctr"/>
          <a:lstStyle/>
          <a:p>
            <a:pPr marL="0" indent="0">
              <a:buNone/>
            </a:pPr>
            <a:r>
              <a:rPr lang="en-US" sz="1100" b="1" kern="0" spc="160" dirty="0">
                <a:solidFill>
                  <a:srgbClr val="7FD0A5"/>
                </a:solidFill>
                <a:latin typeface="Calibri" pitchFamily="34" charset="0"/>
                <a:ea typeface="Calibri" pitchFamily="34" charset="-122"/>
                <a:cs typeface="Calibri" pitchFamily="34" charset="-120"/>
              </a:rPr>
              <a:t>WARM-UP</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marL="0" indent="0">
              <a:buNone/>
            </a:pPr>
            <a:r>
              <a:rPr lang="en-US" sz="3300" b="1" dirty="0">
                <a:solidFill>
                  <a:srgbClr val="E9EDEA"/>
                </a:solidFill>
                <a:latin typeface="Cambria" pitchFamily="34" charset="0"/>
                <a:ea typeface="Cambria" pitchFamily="34" charset="-122"/>
                <a:cs typeface="Cambria" pitchFamily="34" charset="-120"/>
              </a:rPr>
              <a:t>Write before we begin</a:t>
            </a:r>
            <a:endParaRPr lang="en-US" sz="3300" dirty="0"/>
          </a:p>
        </p:txBody>
      </p:sp>
      <p:sp>
        <p:nvSpPr>
          <p:cNvPr id="5" name="Shape 3"/>
          <p:cNvSpPr/>
          <p:nvPr/>
        </p:nvSpPr>
        <p:spPr>
          <a:xfrm>
            <a:off x="640080" y="1783080"/>
            <a:ext cx="10911535" cy="2743200"/>
          </a:xfrm>
          <a:prstGeom prst="roundRect">
            <a:avLst>
              <a:gd name="adj" fmla="val 2667"/>
            </a:avLst>
          </a:prstGeom>
          <a:solidFill>
            <a:srgbClr val="1A242E"/>
          </a:solidFill>
          <a:ln w="12700">
            <a:solidFill>
              <a:srgbClr val="1A242E"/>
            </a:solidFill>
            <a:prstDash val="solid"/>
          </a:ln>
        </p:spPr>
        <p:txBody>
          <a:bodyPr/>
          <a:lstStyle/>
          <a:p>
            <a:endParaRPr lang="en-US"/>
          </a:p>
        </p:txBody>
      </p:sp>
      <p:sp>
        <p:nvSpPr>
          <p:cNvPr id="6" name="Text 4"/>
          <p:cNvSpPr txBox="1"/>
          <p:nvPr/>
        </p:nvSpPr>
        <p:spPr>
          <a:xfrm>
            <a:off x="1097280" y="2103120"/>
            <a:ext cx="10058400" cy="2194560"/>
          </a:xfrm>
          <a:prstGeom prst="rect">
            <a:avLst/>
          </a:prstGeom>
          <a:noFill/>
          <a:ln/>
        </p:spPr>
        <p:txBody>
          <a:bodyPr wrap="square" lIns="0" tIns="0" rIns="0" bIns="0" rtlCol="0" anchor="ctr"/>
          <a:lstStyle/>
          <a:p>
            <a:pPr marL="0" indent="0">
              <a:lnSpc>
                <a:spcPts val="3000"/>
              </a:lnSpc>
              <a:buNone/>
            </a:pPr>
            <a:r>
              <a:rPr lang="en-US" sz="1900" dirty="0">
                <a:solidFill>
                  <a:srgbClr val="FFFFFF"/>
                </a:solidFill>
                <a:latin typeface="Cambria" pitchFamily="34" charset="0"/>
                <a:ea typeface="Cambria" pitchFamily="34" charset="-122"/>
                <a:cs typeface="Cambria" pitchFamily="34" charset="-120"/>
              </a:rPr>
              <a:t>Describe one choice you made in a game or an interactive story that you still think about. Not the hardest one — the one that stuck.</a:t>
            </a:r>
            <a:endParaRPr lang="en-US" sz="1900" dirty="0"/>
          </a:p>
          <a:p>
            <a:pPr marL="0" indent="0">
              <a:lnSpc>
                <a:spcPts val="3000"/>
              </a:lnSpc>
              <a:buNone/>
            </a:pPr>
            <a:endParaRPr lang="en-US" sz="1900" dirty="0"/>
          </a:p>
          <a:p>
            <a:pPr marL="0" indent="0">
              <a:lnSpc>
                <a:spcPts val="3000"/>
              </a:lnSpc>
              <a:buNone/>
            </a:pPr>
            <a:r>
              <a:rPr lang="en-US" sz="1900" dirty="0">
                <a:solidFill>
                  <a:srgbClr val="FFFFFF"/>
                </a:solidFill>
                <a:latin typeface="Cambria" pitchFamily="34" charset="0"/>
                <a:ea typeface="Cambria" pitchFamily="34" charset="-122"/>
                <a:cs typeface="Cambria" pitchFamily="34" charset="-120"/>
              </a:rPr>
              <a:t>Then answer this: who made that choice, you or the designer? Argue for one side, in writing, in three sentences.</a:t>
            </a:r>
            <a:endParaRPr lang="en-US" sz="1900" dirty="0"/>
          </a:p>
        </p:txBody>
      </p:sp>
      <p:sp>
        <p:nvSpPr>
          <p:cNvPr id="7" name="Text 5"/>
          <p:cNvSpPr txBox="1"/>
          <p:nvPr/>
        </p:nvSpPr>
        <p:spPr>
          <a:xfrm>
            <a:off x="640080" y="4800600"/>
            <a:ext cx="10881360" cy="457200"/>
          </a:xfrm>
          <a:prstGeom prst="rect">
            <a:avLst/>
          </a:prstGeom>
          <a:noFill/>
          <a:ln/>
        </p:spPr>
        <p:txBody>
          <a:bodyPr wrap="square" lIns="0" tIns="0" rIns="0" bIns="0" rtlCol="0" anchor="ctr"/>
          <a:lstStyle/>
          <a:p>
            <a:pPr marL="0" indent="0">
              <a:buNone/>
            </a:pPr>
            <a:r>
              <a:rPr lang="en-US" sz="1450" i="1" dirty="0">
                <a:solidFill>
                  <a:srgbClr val="7FD0A5"/>
                </a:solidFill>
                <a:latin typeface="Calibri" pitchFamily="34" charset="0"/>
                <a:ea typeface="Calibri" pitchFamily="34" charset="-122"/>
                <a:cs typeface="Calibri" pitchFamily="34" charset="-120"/>
              </a:rPr>
              <a:t>Keep the page. </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0D1319"/>
        </a:solidFill>
        <a:effectLst/>
      </p:bgPr>
    </p:bg>
    <p:spTree>
      <p:nvGrpSpPr>
        <p:cNvPr id="1" name=""/>
        <p:cNvGrpSpPr/>
        <p:nvPr/>
      </p:nvGrpSpPr>
      <p:grpSpPr>
        <a:xfrm>
          <a:off x="0" y="0"/>
          <a:ext cx="0" cy="0"/>
          <a:chOff x="0" y="0"/>
          <a:chExt cx="0" cy="0"/>
        </a:xfrm>
      </p:grpSpPr>
      <p:sp>
        <p:nvSpPr>
          <p:cNvPr id="2" name="Shape 0"/>
          <p:cNvSpPr/>
          <p:nvPr/>
        </p:nvSpPr>
        <p:spPr>
          <a:xfrm>
            <a:off x="640080" y="1234440"/>
            <a:ext cx="137160" cy="137160"/>
          </a:xfrm>
          <a:prstGeom prst="ellipse">
            <a:avLst/>
          </a:prstGeom>
          <a:solidFill>
            <a:srgbClr val="7FD0A5"/>
          </a:solidFill>
          <a:ln/>
        </p:spPr>
        <p:txBody>
          <a:bodyPr/>
          <a:lstStyle/>
          <a:p>
            <a:endParaRPr lang="en-US"/>
          </a:p>
        </p:txBody>
      </p:sp>
      <p:sp>
        <p:nvSpPr>
          <p:cNvPr id="3" name="Text 1"/>
          <p:cNvSpPr txBox="1"/>
          <p:nvPr/>
        </p:nvSpPr>
        <p:spPr>
          <a:xfrm>
            <a:off x="886968" y="1170432"/>
            <a:ext cx="9144000" cy="274320"/>
          </a:xfrm>
          <a:prstGeom prst="rect">
            <a:avLst/>
          </a:prstGeom>
          <a:noFill/>
          <a:ln/>
        </p:spPr>
        <p:txBody>
          <a:bodyPr wrap="square" lIns="0" tIns="0" rIns="0" bIns="0" rtlCol="0" anchor="ctr"/>
          <a:lstStyle/>
          <a:p>
            <a:pPr marL="0" indent="0">
              <a:buNone/>
            </a:pPr>
            <a:r>
              <a:rPr lang="en-US" sz="1200" b="1" kern="0" spc="200" dirty="0">
                <a:solidFill>
                  <a:srgbClr val="7FD0A5"/>
                </a:solidFill>
                <a:latin typeface="Calibri" pitchFamily="34" charset="0"/>
                <a:ea typeface="Calibri" pitchFamily="34" charset="-122"/>
                <a:cs typeface="Calibri" pitchFamily="34" charset="-120"/>
              </a:rPr>
              <a:t>KEY QUESTION FOR THE WEEK</a:t>
            </a:r>
            <a:endParaRPr lang="en-US" sz="1200" dirty="0"/>
          </a:p>
        </p:txBody>
      </p:sp>
      <p:sp>
        <p:nvSpPr>
          <p:cNvPr id="4" name="Text 2"/>
          <p:cNvSpPr txBox="1"/>
          <p:nvPr/>
        </p:nvSpPr>
        <p:spPr>
          <a:xfrm>
            <a:off x="640080" y="1645920"/>
            <a:ext cx="10881360" cy="2468880"/>
          </a:xfrm>
          <a:prstGeom prst="rect">
            <a:avLst/>
          </a:prstGeom>
          <a:noFill/>
          <a:ln/>
        </p:spPr>
        <p:txBody>
          <a:bodyPr wrap="square" lIns="0" tIns="0" rIns="0" bIns="0" rtlCol="0" anchor="ctr"/>
          <a:lstStyle/>
          <a:p>
            <a:pPr marL="0" indent="0">
              <a:lnSpc>
                <a:spcPts val="5400"/>
              </a:lnSpc>
              <a:buNone/>
            </a:pPr>
            <a:r>
              <a:rPr lang="en-US" sz="4200" b="1" dirty="0">
                <a:solidFill>
                  <a:srgbClr val="E9EDEA"/>
                </a:solidFill>
                <a:latin typeface="Cambria" pitchFamily="34" charset="0"/>
                <a:ea typeface="Cambria" pitchFamily="34" charset="-122"/>
                <a:cs typeface="Cambria" pitchFamily="34" charset="-120"/>
              </a:rPr>
              <a:t>When a text lets you choose,</a:t>
            </a:r>
            <a:endParaRPr lang="en-US" sz="4200" dirty="0"/>
          </a:p>
          <a:p>
            <a:pPr marL="0" indent="0">
              <a:lnSpc>
                <a:spcPts val="5400"/>
              </a:lnSpc>
              <a:buNone/>
            </a:pPr>
            <a:r>
              <a:rPr lang="en-US" sz="4200" b="1" dirty="0">
                <a:solidFill>
                  <a:srgbClr val="E9EDEA"/>
                </a:solidFill>
                <a:latin typeface="Cambria" pitchFamily="34" charset="0"/>
                <a:ea typeface="Cambria" pitchFamily="34" charset="-122"/>
                <a:cs typeface="Cambria" pitchFamily="34" charset="-120"/>
              </a:rPr>
              <a:t>what has it made you</a:t>
            </a:r>
            <a:endParaRPr lang="en-US" sz="4200" dirty="0"/>
          </a:p>
          <a:p>
            <a:pPr marL="0" indent="0">
              <a:lnSpc>
                <a:spcPts val="5400"/>
              </a:lnSpc>
              <a:buNone/>
            </a:pPr>
            <a:r>
              <a:rPr lang="en-US" sz="4200" b="1" dirty="0">
                <a:solidFill>
                  <a:srgbClr val="E9EDEA"/>
                </a:solidFill>
                <a:latin typeface="Cambria" pitchFamily="34" charset="0"/>
                <a:ea typeface="Cambria" pitchFamily="34" charset="-122"/>
                <a:cs typeface="Cambria" pitchFamily="34" charset="-120"/>
              </a:rPr>
              <a:t>responsible for?</a:t>
            </a:r>
            <a:endParaRPr lang="en-US" sz="4200" dirty="0"/>
          </a:p>
        </p:txBody>
      </p:sp>
      <p:sp>
        <p:nvSpPr>
          <p:cNvPr id="5" name="Shape 3"/>
          <p:cNvSpPr/>
          <p:nvPr/>
        </p:nvSpPr>
        <p:spPr>
          <a:xfrm>
            <a:off x="640080" y="4343400"/>
            <a:ext cx="3108960" cy="18288"/>
          </a:xfrm>
          <a:prstGeom prst="rect">
            <a:avLst/>
          </a:prstGeom>
          <a:solidFill>
            <a:srgbClr val="2F8F5B"/>
          </a:solidFill>
          <a:ln/>
        </p:spPr>
        <p:txBody>
          <a:bodyPr/>
          <a:lstStyle/>
          <a:p>
            <a:endParaRPr lang="en-US"/>
          </a:p>
        </p:txBody>
      </p:sp>
      <p:sp>
        <p:nvSpPr>
          <p:cNvPr id="6" name="Text 4"/>
          <p:cNvSpPr txBox="1"/>
          <p:nvPr/>
        </p:nvSpPr>
        <p:spPr>
          <a:xfrm>
            <a:off x="640080" y="4663440"/>
            <a:ext cx="9875520" cy="1005840"/>
          </a:xfrm>
          <a:prstGeom prst="rect">
            <a:avLst/>
          </a:prstGeom>
          <a:noFill/>
          <a:ln/>
        </p:spPr>
        <p:txBody>
          <a:bodyPr wrap="square" lIns="0" tIns="0" rIns="0" bIns="0" rtlCol="0" anchor="ctr"/>
          <a:lstStyle/>
          <a:p>
            <a:pPr marL="0" indent="0">
              <a:lnSpc>
                <a:spcPts val="2500"/>
              </a:lnSpc>
              <a:buNone/>
            </a:pPr>
            <a:r>
              <a:rPr lang="en-US" sz="1700" dirty="0">
                <a:solidFill>
                  <a:srgbClr val="7FD0A5"/>
                </a:solidFill>
                <a:latin typeface="Cambria" pitchFamily="34" charset="0"/>
                <a:ea typeface="Cambria" pitchFamily="34" charset="-122"/>
                <a:cs typeface="Cambria" pitchFamily="34" charset="-120"/>
              </a:rPr>
              <a:t>Note the shape of it. Not “do you have real agency” — that argument is unwinnable and boring. The question is what the act of offering you a choice transfers onto you, and what it lets the author put down.</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2F8F5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FRAMING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Three works, three answers</a:t>
            </a:r>
            <a:endParaRPr lang="en-US" sz="3000" dirty="0"/>
          </a:p>
        </p:txBody>
      </p:sp>
      <p:sp>
        <p:nvSpPr>
          <p:cNvPr id="5" name="Shape 3"/>
          <p:cNvSpPr/>
          <p:nvPr/>
        </p:nvSpPr>
        <p:spPr>
          <a:xfrm>
            <a:off x="640080" y="1627632"/>
            <a:ext cx="3454298" cy="3200400"/>
          </a:xfrm>
          <a:prstGeom prst="roundRect">
            <a:avLst>
              <a:gd name="adj" fmla="val 2286"/>
            </a:avLst>
          </a:prstGeom>
          <a:solidFill>
            <a:srgbClr val="E7F2EC"/>
          </a:solidFill>
          <a:ln w="12700">
            <a:solidFill>
              <a:srgbClr val="E7F2EC"/>
            </a:solidFill>
            <a:prstDash val="solid"/>
          </a:ln>
        </p:spPr>
        <p:txBody>
          <a:bodyPr/>
          <a:lstStyle/>
          <a:p>
            <a:endParaRPr lang="en-US"/>
          </a:p>
        </p:txBody>
      </p:sp>
      <p:sp>
        <p:nvSpPr>
          <p:cNvPr id="6" name="Text 4"/>
          <p:cNvSpPr txBox="1"/>
          <p:nvPr/>
        </p:nvSpPr>
        <p:spPr>
          <a:xfrm>
            <a:off x="932688" y="1828800"/>
            <a:ext cx="2869082" cy="274320"/>
          </a:xfrm>
          <a:prstGeom prst="rect">
            <a:avLst/>
          </a:prstGeom>
          <a:noFill/>
          <a:ln/>
        </p:spPr>
        <p:txBody>
          <a:bodyPr wrap="square" lIns="0" tIns="0" rIns="0" bIns="0" rtlCol="0" anchor="ctr"/>
          <a:lstStyle/>
          <a:p>
            <a:pPr marL="0" indent="0">
              <a:buNone/>
            </a:pPr>
            <a:r>
              <a:rPr lang="en-US" sz="1150" b="1" kern="0" spc="160" dirty="0">
                <a:solidFill>
                  <a:srgbClr val="2F8F5B"/>
                </a:solidFill>
                <a:latin typeface="Calibri" pitchFamily="34" charset="0"/>
                <a:ea typeface="Calibri" pitchFamily="34" charset="-122"/>
                <a:cs typeface="Calibri" pitchFamily="34" charset="-120"/>
              </a:rPr>
              <a:t>THE MATRIX</a:t>
            </a:r>
            <a:endParaRPr lang="en-US" sz="1150" dirty="0"/>
          </a:p>
        </p:txBody>
      </p:sp>
      <p:sp>
        <p:nvSpPr>
          <p:cNvPr id="7" name="Text 5"/>
          <p:cNvSpPr txBox="1"/>
          <p:nvPr/>
        </p:nvSpPr>
        <p:spPr>
          <a:xfrm>
            <a:off x="932688" y="2176272"/>
            <a:ext cx="2869082" cy="914400"/>
          </a:xfrm>
          <a:prstGeom prst="rect">
            <a:avLst/>
          </a:prstGeom>
          <a:noFill/>
          <a:ln/>
        </p:spPr>
        <p:txBody>
          <a:bodyPr wrap="square" lIns="0" tIns="0" rIns="0" bIns="0" rtlCol="0" anchor="ctr"/>
          <a:lstStyle/>
          <a:p>
            <a:pPr marL="0" indent="0">
              <a:lnSpc>
                <a:spcPts val="2400"/>
              </a:lnSpc>
              <a:buNone/>
            </a:pPr>
            <a:r>
              <a:rPr lang="en-US" sz="1900" b="1" dirty="0">
                <a:solidFill>
                  <a:srgbClr val="0D1319"/>
                </a:solidFill>
                <a:latin typeface="Cambria" pitchFamily="34" charset="0"/>
                <a:ea typeface="Cambria" pitchFamily="34" charset="-122"/>
                <a:cs typeface="Cambria" pitchFamily="34" charset="-120"/>
              </a:rPr>
              <a:t>The synthetic person is not the subject</a:t>
            </a:r>
            <a:endParaRPr lang="en-US" sz="1900" dirty="0"/>
          </a:p>
        </p:txBody>
      </p:sp>
      <p:sp>
        <p:nvSpPr>
          <p:cNvPr id="8" name="Text 6"/>
          <p:cNvSpPr txBox="1"/>
          <p:nvPr/>
        </p:nvSpPr>
        <p:spPr>
          <a:xfrm>
            <a:off x="932688" y="3200400"/>
            <a:ext cx="2869082" cy="146304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The film is about waking up. The machines are the condition of the plot, not its object of interest. It offers you no choices at all — and that turns out to be the honest position.</a:t>
            </a:r>
            <a:endParaRPr lang="en-US" sz="1250" dirty="0"/>
          </a:p>
        </p:txBody>
      </p:sp>
      <p:sp>
        <p:nvSpPr>
          <p:cNvPr id="9" name="Shape 7"/>
          <p:cNvSpPr/>
          <p:nvPr/>
        </p:nvSpPr>
        <p:spPr>
          <a:xfrm>
            <a:off x="4368698" y="1627632"/>
            <a:ext cx="3454298" cy="3200400"/>
          </a:xfrm>
          <a:prstGeom prst="roundRect">
            <a:avLst>
              <a:gd name="adj" fmla="val 2286"/>
            </a:avLst>
          </a:prstGeom>
          <a:solidFill>
            <a:srgbClr val="F7F0E4"/>
          </a:solidFill>
          <a:ln w="12700">
            <a:solidFill>
              <a:srgbClr val="F7F0E4"/>
            </a:solidFill>
            <a:prstDash val="solid"/>
          </a:ln>
        </p:spPr>
        <p:txBody>
          <a:bodyPr/>
          <a:lstStyle/>
          <a:p>
            <a:endParaRPr lang="en-US"/>
          </a:p>
        </p:txBody>
      </p:sp>
      <p:sp>
        <p:nvSpPr>
          <p:cNvPr id="10" name="Text 8"/>
          <p:cNvSpPr txBox="1"/>
          <p:nvPr/>
        </p:nvSpPr>
        <p:spPr>
          <a:xfrm>
            <a:off x="4661306" y="1828800"/>
            <a:ext cx="2869082" cy="274320"/>
          </a:xfrm>
          <a:prstGeom prst="rect">
            <a:avLst/>
          </a:prstGeom>
          <a:noFill/>
          <a:ln/>
        </p:spPr>
        <p:txBody>
          <a:bodyPr wrap="square" lIns="0" tIns="0" rIns="0" bIns="0" rtlCol="0" anchor="ctr"/>
          <a:lstStyle/>
          <a:p>
            <a:pPr marL="0" indent="0">
              <a:buNone/>
            </a:pPr>
            <a:r>
              <a:rPr lang="en-US" sz="1150" b="1" kern="0" spc="160" dirty="0">
                <a:solidFill>
                  <a:srgbClr val="A8722B"/>
                </a:solidFill>
                <a:latin typeface="Calibri" pitchFamily="34" charset="0"/>
                <a:ea typeface="Calibri" pitchFamily="34" charset="-122"/>
                <a:cs typeface="Calibri" pitchFamily="34" charset="-120"/>
              </a:rPr>
              <a:t>MASS EFFECT</a:t>
            </a:r>
            <a:endParaRPr lang="en-US" sz="1150" dirty="0"/>
          </a:p>
        </p:txBody>
      </p:sp>
      <p:sp>
        <p:nvSpPr>
          <p:cNvPr id="11" name="Text 9"/>
          <p:cNvSpPr txBox="1"/>
          <p:nvPr/>
        </p:nvSpPr>
        <p:spPr>
          <a:xfrm>
            <a:off x="4661306" y="2176272"/>
            <a:ext cx="2869082" cy="914400"/>
          </a:xfrm>
          <a:prstGeom prst="rect">
            <a:avLst/>
          </a:prstGeom>
          <a:noFill/>
          <a:ln/>
        </p:spPr>
        <p:txBody>
          <a:bodyPr wrap="square" lIns="0" tIns="0" rIns="0" bIns="0" rtlCol="0" anchor="ctr"/>
          <a:lstStyle/>
          <a:p>
            <a:pPr marL="0" indent="0">
              <a:lnSpc>
                <a:spcPts val="2400"/>
              </a:lnSpc>
              <a:buNone/>
            </a:pPr>
            <a:r>
              <a:rPr lang="en-US" sz="1900" b="1" dirty="0">
                <a:solidFill>
                  <a:srgbClr val="0D1319"/>
                </a:solidFill>
                <a:latin typeface="Cambria" pitchFamily="34" charset="0"/>
                <a:ea typeface="Cambria" pitchFamily="34" charset="-122"/>
                <a:cs typeface="Cambria" pitchFamily="34" charset="-120"/>
              </a:rPr>
              <a:t>The synthetic person is a party to a negotiation</a:t>
            </a:r>
            <a:endParaRPr lang="en-US" sz="1900" dirty="0"/>
          </a:p>
        </p:txBody>
      </p:sp>
      <p:sp>
        <p:nvSpPr>
          <p:cNvPr id="12" name="Text 10"/>
          <p:cNvSpPr txBox="1"/>
          <p:nvPr/>
        </p:nvSpPr>
        <p:spPr>
          <a:xfrm>
            <a:off x="4661306" y="3200400"/>
            <a:ext cx="2869082" cy="146304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You do not decide whether the geth are people. You conduct a decades-long relationship with them, and the game keeps a ledger you cannot see.</a:t>
            </a:r>
            <a:endParaRPr lang="en-US" sz="1250" dirty="0"/>
          </a:p>
        </p:txBody>
      </p:sp>
      <p:sp>
        <p:nvSpPr>
          <p:cNvPr id="13" name="Shape 11"/>
          <p:cNvSpPr/>
          <p:nvPr/>
        </p:nvSpPr>
        <p:spPr>
          <a:xfrm>
            <a:off x="8097317" y="1627632"/>
            <a:ext cx="3454298" cy="3200400"/>
          </a:xfrm>
          <a:prstGeom prst="roundRect">
            <a:avLst>
              <a:gd name="adj" fmla="val 2286"/>
            </a:avLst>
          </a:prstGeom>
          <a:solidFill>
            <a:srgbClr val="E6EFF5"/>
          </a:solidFill>
          <a:ln w="12700">
            <a:solidFill>
              <a:srgbClr val="E6EFF5"/>
            </a:solidFill>
            <a:prstDash val="solid"/>
          </a:ln>
        </p:spPr>
        <p:txBody>
          <a:bodyPr/>
          <a:lstStyle/>
          <a:p>
            <a:endParaRPr lang="en-US"/>
          </a:p>
        </p:txBody>
      </p:sp>
      <p:sp>
        <p:nvSpPr>
          <p:cNvPr id="14" name="Text 12"/>
          <p:cNvSpPr txBox="1"/>
          <p:nvPr/>
        </p:nvSpPr>
        <p:spPr>
          <a:xfrm>
            <a:off x="8389925" y="1828800"/>
            <a:ext cx="2869082" cy="274320"/>
          </a:xfrm>
          <a:prstGeom prst="rect">
            <a:avLst/>
          </a:prstGeom>
          <a:noFill/>
          <a:ln/>
        </p:spPr>
        <p:txBody>
          <a:bodyPr wrap="square" lIns="0" tIns="0" rIns="0" bIns="0" rtlCol="0" anchor="ctr"/>
          <a:lstStyle/>
          <a:p>
            <a:pPr marL="0" indent="0">
              <a:buNone/>
            </a:pPr>
            <a:r>
              <a:rPr lang="en-US" sz="1150" b="1" kern="0" spc="160" dirty="0">
                <a:solidFill>
                  <a:srgbClr val="35719C"/>
                </a:solidFill>
                <a:latin typeface="Calibri" pitchFamily="34" charset="0"/>
                <a:ea typeface="Calibri" pitchFamily="34" charset="-122"/>
                <a:cs typeface="Calibri" pitchFamily="34" charset="-120"/>
              </a:rPr>
              <a:t>DETROIT</a:t>
            </a:r>
            <a:endParaRPr lang="en-US" sz="1150" dirty="0"/>
          </a:p>
        </p:txBody>
      </p:sp>
      <p:sp>
        <p:nvSpPr>
          <p:cNvPr id="15" name="Text 13"/>
          <p:cNvSpPr txBox="1"/>
          <p:nvPr/>
        </p:nvSpPr>
        <p:spPr>
          <a:xfrm>
            <a:off x="8389925" y="2176272"/>
            <a:ext cx="2869082" cy="914400"/>
          </a:xfrm>
          <a:prstGeom prst="rect">
            <a:avLst/>
          </a:prstGeom>
          <a:noFill/>
          <a:ln/>
        </p:spPr>
        <p:txBody>
          <a:bodyPr wrap="square" lIns="0" tIns="0" rIns="0" bIns="0" rtlCol="0" anchor="ctr"/>
          <a:lstStyle/>
          <a:p>
            <a:pPr marL="0" indent="0">
              <a:lnSpc>
                <a:spcPts val="2400"/>
              </a:lnSpc>
              <a:buNone/>
            </a:pPr>
            <a:r>
              <a:rPr lang="en-US" sz="1900" b="1" dirty="0">
                <a:solidFill>
                  <a:srgbClr val="0D1319"/>
                </a:solidFill>
                <a:latin typeface="Cambria" pitchFamily="34" charset="0"/>
                <a:ea typeface="Cambria" pitchFamily="34" charset="-122"/>
                <a:cs typeface="Cambria" pitchFamily="34" charset="-120"/>
              </a:rPr>
              <a:t>The synthetic person is a performance you direct</a:t>
            </a:r>
            <a:endParaRPr lang="en-US" sz="1900" dirty="0"/>
          </a:p>
        </p:txBody>
      </p:sp>
      <p:sp>
        <p:nvSpPr>
          <p:cNvPr id="16" name="Text 14"/>
          <p:cNvSpPr txBox="1"/>
          <p:nvPr/>
        </p:nvSpPr>
        <p:spPr>
          <a:xfrm>
            <a:off x="8389925" y="3200400"/>
            <a:ext cx="2869082" cy="146304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You make the androids ask for their freedom. Then the game shows you a flowchart of everything you did not do, and what percentage of other players did it instead.</a:t>
            </a:r>
            <a:endParaRPr lang="en-US" sz="1250" dirty="0"/>
          </a:p>
        </p:txBody>
      </p:sp>
      <p:sp>
        <p:nvSpPr>
          <p:cNvPr id="17" name="Shape 15"/>
          <p:cNvSpPr/>
          <p:nvPr/>
        </p:nvSpPr>
        <p:spPr>
          <a:xfrm>
            <a:off x="640080" y="5029200"/>
            <a:ext cx="10911535" cy="1051560"/>
          </a:xfrm>
          <a:prstGeom prst="roundRect">
            <a:avLst>
              <a:gd name="adj" fmla="val 6957"/>
            </a:avLst>
          </a:prstGeom>
          <a:solidFill>
            <a:srgbClr val="0D1319"/>
          </a:solidFill>
          <a:ln w="12700">
            <a:solidFill>
              <a:srgbClr val="0D1319"/>
            </a:solidFill>
            <a:prstDash val="solid"/>
          </a:ln>
        </p:spPr>
        <p:txBody>
          <a:bodyPr/>
          <a:lstStyle/>
          <a:p>
            <a:endParaRPr lang="en-US"/>
          </a:p>
        </p:txBody>
      </p:sp>
      <p:sp>
        <p:nvSpPr>
          <p:cNvPr id="18" name="Text 16"/>
          <p:cNvSpPr txBox="1"/>
          <p:nvPr/>
        </p:nvSpPr>
        <p:spPr>
          <a:xfrm>
            <a:off x="1005840" y="5212080"/>
            <a:ext cx="10424160" cy="685800"/>
          </a:xfrm>
          <a:prstGeom prst="rect">
            <a:avLst/>
          </a:prstGeom>
          <a:noFill/>
          <a:ln/>
        </p:spPr>
        <p:txBody>
          <a:bodyPr wrap="square" lIns="0" tIns="0" rIns="0" bIns="0" rtlCol="0" anchor="ctr"/>
          <a:lstStyle/>
          <a:p>
            <a:pPr marL="0" indent="0">
              <a:lnSpc>
                <a:spcPts val="2100"/>
              </a:lnSpc>
              <a:buNone/>
            </a:pPr>
            <a:r>
              <a:rPr lang="en-US" sz="1550" dirty="0">
                <a:solidFill>
                  <a:srgbClr val="E9EDEA"/>
                </a:solidFill>
                <a:latin typeface="Cambria" pitchFamily="34" charset="0"/>
                <a:ea typeface="Cambria" pitchFamily="34" charset="-122"/>
                <a:cs typeface="Cambria" pitchFamily="34" charset="-120"/>
              </a:rPr>
              <a:t>They are not three attempts at the same thing. They are three different technologies of implication, and the differences are mostly mechanical rather than thematic. That is what today’s method is for.</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2F8F5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FRAMING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The spectrum of authored choice</a:t>
            </a:r>
            <a:endParaRPr lang="en-US" sz="3000" dirty="0"/>
          </a:p>
        </p:txBody>
      </p:sp>
      <p:sp>
        <p:nvSpPr>
          <p:cNvPr id="5" name="Shape 3"/>
          <p:cNvSpPr/>
          <p:nvPr/>
        </p:nvSpPr>
        <p:spPr>
          <a:xfrm>
            <a:off x="1097280" y="3017520"/>
            <a:ext cx="10241280" cy="27432"/>
          </a:xfrm>
          <a:prstGeom prst="rect">
            <a:avLst/>
          </a:prstGeom>
          <a:solidFill>
            <a:srgbClr val="5C6672"/>
          </a:solidFill>
          <a:ln/>
        </p:spPr>
        <p:txBody>
          <a:bodyPr/>
          <a:lstStyle/>
          <a:p>
            <a:endParaRPr lang="en-US"/>
          </a:p>
        </p:txBody>
      </p:sp>
      <p:sp>
        <p:nvSpPr>
          <p:cNvPr id="6" name="Shape 4"/>
          <p:cNvSpPr/>
          <p:nvPr/>
        </p:nvSpPr>
        <p:spPr>
          <a:xfrm>
            <a:off x="978408" y="2916936"/>
            <a:ext cx="237744" cy="237744"/>
          </a:xfrm>
          <a:prstGeom prst="ellipse">
            <a:avLst/>
          </a:prstGeom>
          <a:solidFill>
            <a:srgbClr val="2F8F5B"/>
          </a:solidFill>
          <a:ln/>
        </p:spPr>
        <p:txBody>
          <a:bodyPr/>
          <a:lstStyle/>
          <a:p>
            <a:endParaRPr lang="en-US"/>
          </a:p>
        </p:txBody>
      </p:sp>
      <p:sp>
        <p:nvSpPr>
          <p:cNvPr id="7" name="Text 5"/>
          <p:cNvSpPr txBox="1"/>
          <p:nvPr/>
        </p:nvSpPr>
        <p:spPr>
          <a:xfrm>
            <a:off x="960120" y="2286000"/>
            <a:ext cx="3291840" cy="320040"/>
          </a:xfrm>
          <a:prstGeom prst="rect">
            <a:avLst/>
          </a:prstGeom>
          <a:noFill/>
          <a:ln/>
        </p:spPr>
        <p:txBody>
          <a:bodyPr wrap="square" lIns="0" tIns="0" rIns="0" bIns="0" rtlCol="0" anchor="ctr"/>
          <a:lstStyle/>
          <a:p>
            <a:pPr marL="0" indent="0">
              <a:buNone/>
            </a:pPr>
            <a:r>
              <a:rPr lang="en-US" sz="1900" b="1" dirty="0">
                <a:solidFill>
                  <a:srgbClr val="0D1319"/>
                </a:solidFill>
                <a:latin typeface="Cambria" pitchFamily="34" charset="0"/>
                <a:ea typeface="Cambria" pitchFamily="34" charset="-122"/>
                <a:cs typeface="Cambria" pitchFamily="34" charset="-120"/>
              </a:rPr>
              <a:t>The Matrix</a:t>
            </a:r>
            <a:endParaRPr lang="en-US" sz="1900" dirty="0"/>
          </a:p>
        </p:txBody>
      </p:sp>
      <p:sp>
        <p:nvSpPr>
          <p:cNvPr id="8" name="Text 6"/>
          <p:cNvSpPr txBox="1"/>
          <p:nvPr/>
        </p:nvSpPr>
        <p:spPr>
          <a:xfrm>
            <a:off x="960120" y="2624328"/>
            <a:ext cx="3291840" cy="256032"/>
          </a:xfrm>
          <a:prstGeom prst="rect">
            <a:avLst/>
          </a:prstGeom>
          <a:noFill/>
          <a:ln/>
        </p:spPr>
        <p:txBody>
          <a:bodyPr wrap="square" lIns="0" tIns="0" rIns="0" bIns="0" rtlCol="0" anchor="ctr"/>
          <a:lstStyle/>
          <a:p>
            <a:pPr marL="0" indent="0">
              <a:buNone/>
            </a:pPr>
            <a:r>
              <a:rPr lang="en-US" sz="1200" b="1" kern="0" spc="120" dirty="0">
                <a:solidFill>
                  <a:srgbClr val="2F8F5B"/>
                </a:solidFill>
                <a:latin typeface="Calibri" pitchFamily="34" charset="0"/>
                <a:ea typeface="Calibri" pitchFamily="34" charset="-122"/>
                <a:cs typeface="Calibri" pitchFamily="34" charset="-120"/>
              </a:rPr>
              <a:t>You watch</a:t>
            </a:r>
            <a:endParaRPr lang="en-US" sz="1200" dirty="0"/>
          </a:p>
        </p:txBody>
      </p:sp>
      <p:sp>
        <p:nvSpPr>
          <p:cNvPr id="9" name="Text 7"/>
          <p:cNvSpPr txBox="1"/>
          <p:nvPr/>
        </p:nvSpPr>
        <p:spPr>
          <a:xfrm>
            <a:off x="960120" y="3310128"/>
            <a:ext cx="3200400" cy="146304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No input. The choices are dramatised for you: Neo takes a pill, Cypher makes a deal. You are responsible for nothing, and the film does not pretend otherwise.</a:t>
            </a:r>
            <a:endParaRPr lang="en-US" sz="1250" dirty="0"/>
          </a:p>
        </p:txBody>
      </p:sp>
      <p:sp>
        <p:nvSpPr>
          <p:cNvPr id="10" name="Shape 8"/>
          <p:cNvSpPr/>
          <p:nvPr/>
        </p:nvSpPr>
        <p:spPr>
          <a:xfrm>
            <a:off x="4498848" y="2916936"/>
            <a:ext cx="237744" cy="237744"/>
          </a:xfrm>
          <a:prstGeom prst="ellipse">
            <a:avLst/>
          </a:prstGeom>
          <a:solidFill>
            <a:srgbClr val="A8722B"/>
          </a:solidFill>
          <a:ln/>
        </p:spPr>
        <p:txBody>
          <a:bodyPr/>
          <a:lstStyle/>
          <a:p>
            <a:endParaRPr lang="en-US"/>
          </a:p>
        </p:txBody>
      </p:sp>
      <p:sp>
        <p:nvSpPr>
          <p:cNvPr id="11" name="Text 9"/>
          <p:cNvSpPr txBox="1"/>
          <p:nvPr/>
        </p:nvSpPr>
        <p:spPr>
          <a:xfrm>
            <a:off x="4480560" y="2286000"/>
            <a:ext cx="3291840" cy="320040"/>
          </a:xfrm>
          <a:prstGeom prst="rect">
            <a:avLst/>
          </a:prstGeom>
          <a:noFill/>
          <a:ln/>
        </p:spPr>
        <p:txBody>
          <a:bodyPr wrap="square" lIns="0" tIns="0" rIns="0" bIns="0" rtlCol="0" anchor="ctr"/>
          <a:lstStyle/>
          <a:p>
            <a:pPr marL="0" indent="0">
              <a:buNone/>
            </a:pPr>
            <a:r>
              <a:rPr lang="en-US" sz="1900" b="1" dirty="0">
                <a:solidFill>
                  <a:srgbClr val="0D1319"/>
                </a:solidFill>
                <a:latin typeface="Cambria" pitchFamily="34" charset="0"/>
                <a:ea typeface="Cambria" pitchFamily="34" charset="-122"/>
                <a:cs typeface="Cambria" pitchFamily="34" charset="-120"/>
              </a:rPr>
              <a:t>Mass Effect</a:t>
            </a:r>
            <a:endParaRPr lang="en-US" sz="1900" dirty="0"/>
          </a:p>
        </p:txBody>
      </p:sp>
      <p:sp>
        <p:nvSpPr>
          <p:cNvPr id="12" name="Text 10"/>
          <p:cNvSpPr txBox="1"/>
          <p:nvPr/>
        </p:nvSpPr>
        <p:spPr>
          <a:xfrm>
            <a:off x="4480560" y="2624328"/>
            <a:ext cx="3291840" cy="256032"/>
          </a:xfrm>
          <a:prstGeom prst="rect">
            <a:avLst/>
          </a:prstGeom>
          <a:noFill/>
          <a:ln/>
        </p:spPr>
        <p:txBody>
          <a:bodyPr wrap="square" lIns="0" tIns="0" rIns="0" bIns="0" rtlCol="0" anchor="ctr"/>
          <a:lstStyle/>
          <a:p>
            <a:pPr marL="0" indent="0">
              <a:buNone/>
            </a:pPr>
            <a:r>
              <a:rPr lang="en-US" sz="1200" b="1" kern="0" spc="120" dirty="0">
                <a:solidFill>
                  <a:srgbClr val="A8722B"/>
                </a:solidFill>
                <a:latin typeface="Calibri" pitchFamily="34" charset="0"/>
                <a:ea typeface="Calibri" pitchFamily="34" charset="-122"/>
                <a:cs typeface="Calibri" pitchFamily="34" charset="-120"/>
              </a:rPr>
              <a:t>You commit</a:t>
            </a:r>
            <a:endParaRPr lang="en-US" sz="1200" dirty="0"/>
          </a:p>
        </p:txBody>
      </p:sp>
      <p:sp>
        <p:nvSpPr>
          <p:cNvPr id="13" name="Text 11"/>
          <p:cNvSpPr txBox="1"/>
          <p:nvPr/>
        </p:nvSpPr>
        <p:spPr>
          <a:xfrm>
            <a:off x="4480560" y="3310128"/>
            <a:ext cx="3200400" cy="146304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Input across two games, carried in a save file. Consequences resolve years later against a threshold you were never shown. You are responsible for a history.</a:t>
            </a:r>
            <a:endParaRPr lang="en-US" sz="1250" dirty="0"/>
          </a:p>
        </p:txBody>
      </p:sp>
      <p:sp>
        <p:nvSpPr>
          <p:cNvPr id="14" name="Shape 12"/>
          <p:cNvSpPr/>
          <p:nvPr/>
        </p:nvSpPr>
        <p:spPr>
          <a:xfrm>
            <a:off x="8019288" y="2916936"/>
            <a:ext cx="237744" cy="237744"/>
          </a:xfrm>
          <a:prstGeom prst="ellipse">
            <a:avLst/>
          </a:prstGeom>
          <a:solidFill>
            <a:srgbClr val="35719C"/>
          </a:solidFill>
          <a:ln/>
        </p:spPr>
        <p:txBody>
          <a:bodyPr/>
          <a:lstStyle/>
          <a:p>
            <a:endParaRPr lang="en-US"/>
          </a:p>
        </p:txBody>
      </p:sp>
      <p:sp>
        <p:nvSpPr>
          <p:cNvPr id="15" name="Text 13"/>
          <p:cNvSpPr txBox="1"/>
          <p:nvPr/>
        </p:nvSpPr>
        <p:spPr>
          <a:xfrm>
            <a:off x="8001000" y="2286000"/>
            <a:ext cx="3291840" cy="320040"/>
          </a:xfrm>
          <a:prstGeom prst="rect">
            <a:avLst/>
          </a:prstGeom>
          <a:noFill/>
          <a:ln/>
        </p:spPr>
        <p:txBody>
          <a:bodyPr wrap="square" lIns="0" tIns="0" rIns="0" bIns="0" rtlCol="0" anchor="ctr"/>
          <a:lstStyle/>
          <a:p>
            <a:pPr marL="0" indent="0">
              <a:buNone/>
            </a:pPr>
            <a:r>
              <a:rPr lang="en-US" sz="1900" b="1" dirty="0">
                <a:solidFill>
                  <a:srgbClr val="0D1319"/>
                </a:solidFill>
                <a:latin typeface="Cambria" pitchFamily="34" charset="0"/>
                <a:ea typeface="Cambria" pitchFamily="34" charset="-122"/>
                <a:cs typeface="Cambria" pitchFamily="34" charset="-120"/>
              </a:rPr>
              <a:t>Detroit</a:t>
            </a:r>
            <a:endParaRPr lang="en-US" sz="1900" dirty="0"/>
          </a:p>
        </p:txBody>
      </p:sp>
      <p:sp>
        <p:nvSpPr>
          <p:cNvPr id="16" name="Text 14"/>
          <p:cNvSpPr txBox="1"/>
          <p:nvPr/>
        </p:nvSpPr>
        <p:spPr>
          <a:xfrm>
            <a:off x="8001000" y="2624328"/>
            <a:ext cx="3291840" cy="256032"/>
          </a:xfrm>
          <a:prstGeom prst="rect">
            <a:avLst/>
          </a:prstGeom>
          <a:noFill/>
          <a:ln/>
        </p:spPr>
        <p:txBody>
          <a:bodyPr wrap="square" lIns="0" tIns="0" rIns="0" bIns="0" rtlCol="0" anchor="ctr"/>
          <a:lstStyle/>
          <a:p>
            <a:pPr marL="0" indent="0">
              <a:buNone/>
            </a:pPr>
            <a:r>
              <a:rPr lang="en-US" sz="1200" b="1" kern="0" spc="120" dirty="0">
                <a:solidFill>
                  <a:srgbClr val="35719C"/>
                </a:solidFill>
                <a:latin typeface="Calibri" pitchFamily="34" charset="0"/>
                <a:ea typeface="Calibri" pitchFamily="34" charset="-122"/>
                <a:cs typeface="Calibri" pitchFamily="34" charset="-120"/>
              </a:rPr>
              <a:t>You are audited</a:t>
            </a:r>
            <a:endParaRPr lang="en-US" sz="1200" dirty="0"/>
          </a:p>
        </p:txBody>
      </p:sp>
      <p:sp>
        <p:nvSpPr>
          <p:cNvPr id="17" name="Text 15"/>
          <p:cNvSpPr txBox="1"/>
          <p:nvPr/>
        </p:nvSpPr>
        <p:spPr>
          <a:xfrm>
            <a:off x="8001000" y="3310128"/>
            <a:ext cx="3200400" cy="146304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Input, then a chapter-end flowchart of the branches you missed and a percentage showing how other players chose. You are responsible for a performance.</a:t>
            </a:r>
            <a:endParaRPr lang="en-US" sz="1250" dirty="0"/>
          </a:p>
        </p:txBody>
      </p:sp>
      <p:sp>
        <p:nvSpPr>
          <p:cNvPr id="18" name="Text 16"/>
          <p:cNvSpPr txBox="1"/>
          <p:nvPr/>
        </p:nvSpPr>
        <p:spPr>
          <a:xfrm>
            <a:off x="1097280" y="5029200"/>
            <a:ext cx="3657600" cy="274320"/>
          </a:xfrm>
          <a:prstGeom prst="rect">
            <a:avLst/>
          </a:prstGeom>
          <a:noFill/>
          <a:ln/>
        </p:spPr>
        <p:txBody>
          <a:bodyPr wrap="square" lIns="0" tIns="0" rIns="0" bIns="0" rtlCol="0" anchor="ctr"/>
          <a:lstStyle/>
          <a:p>
            <a:pPr marL="0" indent="0">
              <a:buNone/>
            </a:pPr>
            <a:r>
              <a:rPr lang="en-US" sz="1050" b="1" kern="0" spc="140" dirty="0">
                <a:solidFill>
                  <a:srgbClr val="5C6672"/>
                </a:solidFill>
                <a:latin typeface="Calibri" pitchFamily="34" charset="0"/>
                <a:ea typeface="Calibri" pitchFamily="34" charset="-122"/>
                <a:cs typeface="Calibri" pitchFamily="34" charset="-120"/>
              </a:rPr>
              <a:t>LESS TRANSFERRED TO YOU</a:t>
            </a:r>
            <a:endParaRPr lang="en-US" sz="1050" dirty="0"/>
          </a:p>
        </p:txBody>
      </p:sp>
      <p:sp>
        <p:nvSpPr>
          <p:cNvPr id="19" name="Text 17"/>
          <p:cNvSpPr txBox="1"/>
          <p:nvPr/>
        </p:nvSpPr>
        <p:spPr>
          <a:xfrm>
            <a:off x="7680960" y="5029200"/>
            <a:ext cx="3657600" cy="274320"/>
          </a:xfrm>
          <a:prstGeom prst="rect">
            <a:avLst/>
          </a:prstGeom>
          <a:noFill/>
          <a:ln/>
        </p:spPr>
        <p:txBody>
          <a:bodyPr wrap="square" lIns="0" tIns="0" rIns="0" bIns="0" rtlCol="0" anchor="ctr"/>
          <a:lstStyle/>
          <a:p>
            <a:pPr marL="0" indent="0" algn="r">
              <a:buNone/>
            </a:pPr>
            <a:r>
              <a:rPr lang="en-US" sz="1050" b="1" kern="0" spc="140" dirty="0">
                <a:solidFill>
                  <a:srgbClr val="5C6672"/>
                </a:solidFill>
                <a:latin typeface="Calibri" pitchFamily="34" charset="0"/>
                <a:ea typeface="Calibri" pitchFamily="34" charset="-122"/>
                <a:cs typeface="Calibri" pitchFamily="34" charset="-120"/>
              </a:rPr>
              <a:t>MORE TRANSFERRED TO YOU</a:t>
            </a:r>
            <a:endParaRPr lang="en-US" sz="1050" dirty="0"/>
          </a:p>
        </p:txBody>
      </p:sp>
      <p:sp>
        <p:nvSpPr>
          <p:cNvPr id="20" name="Shape 18"/>
          <p:cNvSpPr/>
          <p:nvPr/>
        </p:nvSpPr>
        <p:spPr>
          <a:xfrm>
            <a:off x="640080" y="5394960"/>
            <a:ext cx="10911535" cy="822960"/>
          </a:xfrm>
          <a:prstGeom prst="roundRect">
            <a:avLst>
              <a:gd name="adj" fmla="val 8889"/>
            </a:avLst>
          </a:prstGeom>
          <a:solidFill>
            <a:srgbClr val="0D1319"/>
          </a:solidFill>
          <a:ln w="12700">
            <a:solidFill>
              <a:srgbClr val="0D1319"/>
            </a:solidFill>
            <a:prstDash val="solid"/>
          </a:ln>
        </p:spPr>
        <p:txBody>
          <a:bodyPr/>
          <a:lstStyle/>
          <a:p>
            <a:endParaRPr lang="en-US"/>
          </a:p>
        </p:txBody>
      </p:sp>
      <p:sp>
        <p:nvSpPr>
          <p:cNvPr id="21" name="Text 19"/>
          <p:cNvSpPr txBox="1"/>
          <p:nvPr/>
        </p:nvSpPr>
        <p:spPr>
          <a:xfrm>
            <a:off x="1005840" y="5577840"/>
            <a:ext cx="10424160" cy="457200"/>
          </a:xfrm>
          <a:prstGeom prst="rect">
            <a:avLst/>
          </a:prstGeom>
          <a:noFill/>
          <a:ln/>
        </p:spPr>
        <p:txBody>
          <a:bodyPr wrap="square" lIns="0" tIns="0" rIns="0" bIns="0" rtlCol="0" anchor="ctr"/>
          <a:lstStyle/>
          <a:p>
            <a:pPr marL="0" indent="0">
              <a:lnSpc>
                <a:spcPts val="2100"/>
              </a:lnSpc>
              <a:buNone/>
            </a:pPr>
            <a:r>
              <a:rPr lang="en-US" sz="1550" dirty="0">
                <a:solidFill>
                  <a:srgbClr val="E9EDEA"/>
                </a:solidFill>
                <a:latin typeface="Cambria" pitchFamily="34" charset="0"/>
                <a:ea typeface="Cambria" pitchFamily="34" charset="-122"/>
                <a:cs typeface="Cambria" pitchFamily="34" charset="-120"/>
              </a:rPr>
              <a:t>The question to carry across the whole spectrum: does more transferred responsibility make a work more serious, or does it mostly give the author somewhere to put the blame?</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2F8F5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FRAMING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Four things “responsible” can mean today</a:t>
            </a:r>
            <a:endParaRPr lang="en-US" sz="3000" dirty="0"/>
          </a:p>
        </p:txBody>
      </p:sp>
      <p:sp>
        <p:nvSpPr>
          <p:cNvPr id="5" name="Shape 3"/>
          <p:cNvSpPr/>
          <p:nvPr/>
        </p:nvSpPr>
        <p:spPr>
          <a:xfrm>
            <a:off x="640080" y="1645920"/>
            <a:ext cx="5295748" cy="1664208"/>
          </a:xfrm>
          <a:prstGeom prst="roundRect">
            <a:avLst>
              <a:gd name="adj" fmla="val 4396"/>
            </a:avLst>
          </a:prstGeom>
          <a:solidFill>
            <a:srgbClr val="F2F2F0"/>
          </a:solidFill>
          <a:ln w="12700">
            <a:solidFill>
              <a:srgbClr val="F2F2F0"/>
            </a:solidFill>
            <a:prstDash val="solid"/>
          </a:ln>
        </p:spPr>
        <p:txBody>
          <a:bodyPr/>
          <a:lstStyle/>
          <a:p>
            <a:endParaRPr lang="en-US"/>
          </a:p>
        </p:txBody>
      </p:sp>
      <p:sp>
        <p:nvSpPr>
          <p:cNvPr id="6" name="Shape 4"/>
          <p:cNvSpPr/>
          <p:nvPr/>
        </p:nvSpPr>
        <p:spPr>
          <a:xfrm>
            <a:off x="960120" y="1938528"/>
            <a:ext cx="384048" cy="384048"/>
          </a:xfrm>
          <a:prstGeom prst="ellipse">
            <a:avLst/>
          </a:prstGeom>
          <a:solidFill>
            <a:srgbClr val="0D1319"/>
          </a:solidFill>
          <a:ln/>
        </p:spPr>
        <p:txBody>
          <a:bodyPr/>
          <a:lstStyle/>
          <a:p>
            <a:endParaRPr lang="en-US"/>
          </a:p>
        </p:txBody>
      </p:sp>
      <p:sp>
        <p:nvSpPr>
          <p:cNvPr id="7" name="Text 5"/>
          <p:cNvSpPr txBox="1"/>
          <p:nvPr/>
        </p:nvSpPr>
        <p:spPr>
          <a:xfrm>
            <a:off x="960120" y="19385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600200" y="1956816"/>
            <a:ext cx="4015588" cy="365760"/>
          </a:xfrm>
          <a:prstGeom prst="rect">
            <a:avLst/>
          </a:prstGeom>
          <a:noFill/>
          <a:ln/>
        </p:spPr>
        <p:txBody>
          <a:bodyPr wrap="square" lIns="0" tIns="0" rIns="0" bIns="0" rtlCol="0" anchor="ctr"/>
          <a:lstStyle/>
          <a:p>
            <a:pPr marL="0" indent="0">
              <a:buNone/>
            </a:pPr>
            <a:r>
              <a:rPr lang="en-US" sz="1900" b="1" dirty="0">
                <a:solidFill>
                  <a:srgbClr val="0D1319"/>
                </a:solidFill>
                <a:latin typeface="Cambria" pitchFamily="34" charset="0"/>
                <a:ea typeface="Cambria" pitchFamily="34" charset="-122"/>
                <a:cs typeface="Cambria" pitchFamily="34" charset="-120"/>
              </a:rPr>
              <a:t>Causal</a:t>
            </a:r>
            <a:endParaRPr lang="en-US" sz="1900" dirty="0"/>
          </a:p>
        </p:txBody>
      </p:sp>
      <p:sp>
        <p:nvSpPr>
          <p:cNvPr id="9" name="Text 7"/>
          <p:cNvSpPr txBox="1"/>
          <p:nvPr/>
        </p:nvSpPr>
        <p:spPr>
          <a:xfrm>
            <a:off x="960120" y="2468880"/>
            <a:ext cx="4655668" cy="77724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You made the event happen. The android died because you pressed the button. This is the weakest and least interesting sense, and the one most arguments get stuck on.</a:t>
            </a:r>
            <a:endParaRPr lang="en-US" sz="1250" dirty="0"/>
          </a:p>
        </p:txBody>
      </p:sp>
      <p:sp>
        <p:nvSpPr>
          <p:cNvPr id="10" name="Shape 8"/>
          <p:cNvSpPr/>
          <p:nvPr/>
        </p:nvSpPr>
        <p:spPr>
          <a:xfrm>
            <a:off x="6255868" y="1645920"/>
            <a:ext cx="5295748" cy="1664208"/>
          </a:xfrm>
          <a:prstGeom prst="roundRect">
            <a:avLst>
              <a:gd name="adj" fmla="val 4396"/>
            </a:avLst>
          </a:prstGeom>
          <a:solidFill>
            <a:srgbClr val="E7F2EC"/>
          </a:solidFill>
          <a:ln w="12700">
            <a:solidFill>
              <a:srgbClr val="E7F2EC"/>
            </a:solidFill>
            <a:prstDash val="solid"/>
          </a:ln>
        </p:spPr>
        <p:txBody>
          <a:bodyPr/>
          <a:lstStyle/>
          <a:p>
            <a:endParaRPr lang="en-US"/>
          </a:p>
        </p:txBody>
      </p:sp>
      <p:sp>
        <p:nvSpPr>
          <p:cNvPr id="11" name="Shape 9"/>
          <p:cNvSpPr/>
          <p:nvPr/>
        </p:nvSpPr>
        <p:spPr>
          <a:xfrm>
            <a:off x="6575908" y="1938528"/>
            <a:ext cx="384048" cy="384048"/>
          </a:xfrm>
          <a:prstGeom prst="ellipse">
            <a:avLst/>
          </a:prstGeom>
          <a:solidFill>
            <a:srgbClr val="2F8F5B"/>
          </a:solidFill>
          <a:ln/>
        </p:spPr>
        <p:txBody>
          <a:bodyPr/>
          <a:lstStyle/>
          <a:p>
            <a:endParaRPr lang="en-US"/>
          </a:p>
        </p:txBody>
      </p:sp>
      <p:sp>
        <p:nvSpPr>
          <p:cNvPr id="12" name="Text 10"/>
          <p:cNvSpPr txBox="1"/>
          <p:nvPr/>
        </p:nvSpPr>
        <p:spPr>
          <a:xfrm>
            <a:off x="6575908" y="19385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7215988" y="1956816"/>
            <a:ext cx="4015588" cy="365760"/>
          </a:xfrm>
          <a:prstGeom prst="rect">
            <a:avLst/>
          </a:prstGeom>
          <a:noFill/>
          <a:ln/>
        </p:spPr>
        <p:txBody>
          <a:bodyPr wrap="square" lIns="0" tIns="0" rIns="0" bIns="0" rtlCol="0" anchor="ctr"/>
          <a:lstStyle/>
          <a:p>
            <a:pPr marL="0" indent="0">
              <a:buNone/>
            </a:pPr>
            <a:r>
              <a:rPr lang="en-US" sz="1900" b="1" dirty="0">
                <a:solidFill>
                  <a:srgbClr val="0D1319"/>
                </a:solidFill>
                <a:latin typeface="Cambria" pitchFamily="34" charset="0"/>
                <a:ea typeface="Cambria" pitchFamily="34" charset="-122"/>
                <a:cs typeface="Cambria" pitchFamily="34" charset="-120"/>
              </a:rPr>
              <a:t>Authorial</a:t>
            </a:r>
            <a:endParaRPr lang="en-US" sz="1900" dirty="0"/>
          </a:p>
        </p:txBody>
      </p:sp>
      <p:sp>
        <p:nvSpPr>
          <p:cNvPr id="14" name="Text 12"/>
          <p:cNvSpPr txBox="1"/>
          <p:nvPr/>
        </p:nvSpPr>
        <p:spPr>
          <a:xfrm>
            <a:off x="6575908" y="2468880"/>
            <a:ext cx="4655668" cy="77724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You selected which story exists. Different players leave with different texts. The work is a space and you produced one path through it.</a:t>
            </a:r>
            <a:endParaRPr lang="en-US" sz="1250" dirty="0"/>
          </a:p>
        </p:txBody>
      </p:sp>
      <p:sp>
        <p:nvSpPr>
          <p:cNvPr id="15" name="Shape 13"/>
          <p:cNvSpPr/>
          <p:nvPr/>
        </p:nvSpPr>
        <p:spPr>
          <a:xfrm>
            <a:off x="640080" y="3474720"/>
            <a:ext cx="5295748" cy="1664208"/>
          </a:xfrm>
          <a:prstGeom prst="roundRect">
            <a:avLst>
              <a:gd name="adj" fmla="val 4396"/>
            </a:avLst>
          </a:prstGeom>
          <a:solidFill>
            <a:srgbClr val="E7F2EC"/>
          </a:solidFill>
          <a:ln w="12700">
            <a:solidFill>
              <a:srgbClr val="E7F2EC"/>
            </a:solidFill>
            <a:prstDash val="solid"/>
          </a:ln>
        </p:spPr>
        <p:txBody>
          <a:bodyPr/>
          <a:lstStyle/>
          <a:p>
            <a:endParaRPr lang="en-US"/>
          </a:p>
        </p:txBody>
      </p:sp>
      <p:sp>
        <p:nvSpPr>
          <p:cNvPr id="16" name="Shape 14"/>
          <p:cNvSpPr/>
          <p:nvPr/>
        </p:nvSpPr>
        <p:spPr>
          <a:xfrm>
            <a:off x="960120" y="3767328"/>
            <a:ext cx="384048" cy="384048"/>
          </a:xfrm>
          <a:prstGeom prst="ellipse">
            <a:avLst/>
          </a:prstGeom>
          <a:solidFill>
            <a:srgbClr val="2F8F5B"/>
          </a:solidFill>
          <a:ln/>
        </p:spPr>
        <p:txBody>
          <a:bodyPr/>
          <a:lstStyle/>
          <a:p>
            <a:endParaRPr lang="en-US"/>
          </a:p>
        </p:txBody>
      </p:sp>
      <p:sp>
        <p:nvSpPr>
          <p:cNvPr id="17" name="Text 15"/>
          <p:cNvSpPr txBox="1"/>
          <p:nvPr/>
        </p:nvSpPr>
        <p:spPr>
          <a:xfrm>
            <a:off x="960120" y="37673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600200" y="3785616"/>
            <a:ext cx="4015588" cy="365760"/>
          </a:xfrm>
          <a:prstGeom prst="rect">
            <a:avLst/>
          </a:prstGeom>
          <a:noFill/>
          <a:ln/>
        </p:spPr>
        <p:txBody>
          <a:bodyPr wrap="square" lIns="0" tIns="0" rIns="0" bIns="0" rtlCol="0" anchor="ctr"/>
          <a:lstStyle/>
          <a:p>
            <a:pPr marL="0" indent="0">
              <a:buNone/>
            </a:pPr>
            <a:r>
              <a:rPr lang="en-US" sz="1900" b="1" dirty="0">
                <a:solidFill>
                  <a:srgbClr val="0D1319"/>
                </a:solidFill>
                <a:latin typeface="Cambria" pitchFamily="34" charset="0"/>
                <a:ea typeface="Cambria" pitchFamily="34" charset="-122"/>
                <a:cs typeface="Cambria" pitchFamily="34" charset="-120"/>
              </a:rPr>
              <a:t>Accountable</a:t>
            </a:r>
            <a:endParaRPr lang="en-US" sz="1900" dirty="0"/>
          </a:p>
        </p:txBody>
      </p:sp>
      <p:sp>
        <p:nvSpPr>
          <p:cNvPr id="19" name="Text 17"/>
          <p:cNvSpPr txBox="1"/>
          <p:nvPr/>
        </p:nvSpPr>
        <p:spPr>
          <a:xfrm>
            <a:off x="960120" y="4297680"/>
            <a:ext cx="4655668" cy="77724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The work holds you to something — a score, a tally, an ending you are told you earned. Somebody is keeping records, and the records have consequences.</a:t>
            </a:r>
            <a:endParaRPr lang="en-US" sz="1250" dirty="0"/>
          </a:p>
        </p:txBody>
      </p:sp>
      <p:sp>
        <p:nvSpPr>
          <p:cNvPr id="20" name="Shape 18"/>
          <p:cNvSpPr/>
          <p:nvPr/>
        </p:nvSpPr>
        <p:spPr>
          <a:xfrm>
            <a:off x="6255868" y="3474720"/>
            <a:ext cx="5295748" cy="1664208"/>
          </a:xfrm>
          <a:prstGeom prst="roundRect">
            <a:avLst>
              <a:gd name="adj" fmla="val 4396"/>
            </a:avLst>
          </a:prstGeom>
          <a:solidFill>
            <a:srgbClr val="F2F2F0"/>
          </a:solidFill>
          <a:ln w="12700">
            <a:solidFill>
              <a:srgbClr val="F2F2F0"/>
            </a:solidFill>
            <a:prstDash val="solid"/>
          </a:ln>
        </p:spPr>
        <p:txBody>
          <a:bodyPr/>
          <a:lstStyle/>
          <a:p>
            <a:endParaRPr lang="en-US"/>
          </a:p>
        </p:txBody>
      </p:sp>
      <p:sp>
        <p:nvSpPr>
          <p:cNvPr id="21" name="Shape 19"/>
          <p:cNvSpPr/>
          <p:nvPr/>
        </p:nvSpPr>
        <p:spPr>
          <a:xfrm>
            <a:off x="6575908" y="3767328"/>
            <a:ext cx="384048" cy="384048"/>
          </a:xfrm>
          <a:prstGeom prst="ellipse">
            <a:avLst/>
          </a:prstGeom>
          <a:solidFill>
            <a:srgbClr val="0D1319"/>
          </a:solidFill>
          <a:ln/>
        </p:spPr>
        <p:txBody>
          <a:bodyPr/>
          <a:lstStyle/>
          <a:p>
            <a:endParaRPr lang="en-US"/>
          </a:p>
        </p:txBody>
      </p:sp>
      <p:sp>
        <p:nvSpPr>
          <p:cNvPr id="22" name="Text 20"/>
          <p:cNvSpPr txBox="1"/>
          <p:nvPr/>
        </p:nvSpPr>
        <p:spPr>
          <a:xfrm>
            <a:off x="6575908" y="37673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7215988" y="3785616"/>
            <a:ext cx="4015588" cy="365760"/>
          </a:xfrm>
          <a:prstGeom prst="rect">
            <a:avLst/>
          </a:prstGeom>
          <a:noFill/>
          <a:ln/>
        </p:spPr>
        <p:txBody>
          <a:bodyPr wrap="square" lIns="0" tIns="0" rIns="0" bIns="0" rtlCol="0" anchor="ctr"/>
          <a:lstStyle/>
          <a:p>
            <a:pPr marL="0" indent="0">
              <a:buNone/>
            </a:pPr>
            <a:r>
              <a:rPr lang="en-US" sz="1900" b="1" dirty="0">
                <a:solidFill>
                  <a:srgbClr val="0D1319"/>
                </a:solidFill>
                <a:latin typeface="Cambria" pitchFamily="34" charset="0"/>
                <a:ea typeface="Cambria" pitchFamily="34" charset="-122"/>
                <a:cs typeface="Cambria" pitchFamily="34" charset="-120"/>
              </a:rPr>
              <a:t>Exposed</a:t>
            </a:r>
            <a:endParaRPr lang="en-US" sz="1900" dirty="0"/>
          </a:p>
        </p:txBody>
      </p:sp>
      <p:sp>
        <p:nvSpPr>
          <p:cNvPr id="24" name="Text 22"/>
          <p:cNvSpPr txBox="1"/>
          <p:nvPr/>
        </p:nvSpPr>
        <p:spPr>
          <a:xfrm>
            <a:off x="6575908" y="4297680"/>
            <a:ext cx="4655668" cy="77724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The work shows you what your choice reveals about you, often by comparison with others. Nothing changed in the fiction; something changed in your self-description.</a:t>
            </a:r>
            <a:endParaRPr lang="en-US" sz="1250" dirty="0"/>
          </a:p>
        </p:txBody>
      </p:sp>
      <p:sp>
        <p:nvSpPr>
          <p:cNvPr id="25" name="Text 23"/>
          <p:cNvSpPr txBox="1"/>
          <p:nvPr/>
        </p:nvSpPr>
        <p:spPr>
          <a:xfrm>
            <a:off x="640080" y="5440680"/>
            <a:ext cx="10881360" cy="411480"/>
          </a:xfrm>
          <a:prstGeom prst="rect">
            <a:avLst/>
          </a:prstGeom>
          <a:noFill/>
          <a:ln/>
        </p:spPr>
        <p:txBody>
          <a:bodyPr wrap="square" lIns="0" tIns="0" rIns="0" bIns="0" rtlCol="0" anchor="ctr"/>
          <a:lstStyle/>
          <a:p>
            <a:pPr marL="0" indent="0">
              <a:buNone/>
            </a:pPr>
            <a:r>
              <a:rPr lang="en-US" sz="1600" i="1" dirty="0">
                <a:solidFill>
                  <a:srgbClr val="2F8F5B"/>
                </a:solidFill>
                <a:latin typeface="Cambria" pitchFamily="34" charset="0"/>
                <a:ea typeface="Cambria" pitchFamily="34" charset="-122"/>
                <a:cs typeface="Cambria" pitchFamily="34" charset="-120"/>
              </a:rPr>
              <a:t>The Matrix gives you none of these. Mass Effect gives you the third. Detroit gives you the fourth, and that is genuinely new.</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D1319"/>
        </a:solidFill>
        <a:effectLst/>
      </p:bgPr>
    </p:bg>
    <p:spTree>
      <p:nvGrpSpPr>
        <p:cNvPr id="1" name=""/>
        <p:cNvGrpSpPr/>
        <p:nvPr/>
      </p:nvGrpSpPr>
      <p:grpSpPr>
        <a:xfrm>
          <a:off x="0" y="0"/>
          <a:ext cx="0" cy="0"/>
          <a:chOff x="0" y="0"/>
          <a:chExt cx="0" cy="0"/>
        </a:xfrm>
      </p:grpSpPr>
      <p:sp>
        <p:nvSpPr>
          <p:cNvPr id="2" name="Shape 0"/>
          <p:cNvSpPr/>
          <p:nvPr/>
        </p:nvSpPr>
        <p:spPr>
          <a:xfrm>
            <a:off x="8732520" y="1417320"/>
            <a:ext cx="2651760" cy="2651760"/>
          </a:xfrm>
          <a:prstGeom prst="ellipse">
            <a:avLst/>
          </a:prstGeom>
          <a:solidFill>
            <a:srgbClr val="2F8F5B">
              <a:alpha val="70000"/>
            </a:srgbClr>
          </a:solidFill>
          <a:ln/>
        </p:spPr>
        <p:txBody>
          <a:bodyPr/>
          <a:lstStyle/>
          <a:p>
            <a:endParaRPr lang="en-US"/>
          </a:p>
        </p:txBody>
      </p:sp>
      <p:sp>
        <p:nvSpPr>
          <p:cNvPr id="3" name="Shape 1"/>
          <p:cNvSpPr/>
          <p:nvPr/>
        </p:nvSpPr>
        <p:spPr>
          <a:xfrm>
            <a:off x="9509760" y="2194560"/>
            <a:ext cx="1097280" cy="1097280"/>
          </a:xfrm>
          <a:prstGeom prst="ellipse">
            <a:avLst/>
          </a:prstGeom>
          <a:solidFill>
            <a:srgbClr val="2F8F5B">
              <a:alpha val="4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7FD0A5"/>
                </a:solidFill>
                <a:latin typeface="Calibri" pitchFamily="34" charset="0"/>
                <a:ea typeface="Calibri" pitchFamily="34" charset="-122"/>
                <a:cs typeface="Calibri" pitchFamily="34" charset="-120"/>
              </a:rPr>
              <a:t>METHOD</a:t>
            </a:r>
            <a:endParaRPr lang="en-US" sz="1300" dirty="0"/>
          </a:p>
        </p:txBody>
      </p:sp>
      <p:sp>
        <p:nvSpPr>
          <p:cNvPr id="5" name="Text 3"/>
          <p:cNvSpPr txBox="1"/>
          <p:nvPr/>
        </p:nvSpPr>
        <p:spPr>
          <a:xfrm>
            <a:off x="640080" y="2331720"/>
            <a:ext cx="7680960" cy="868680"/>
          </a:xfrm>
          <a:prstGeom prst="rect">
            <a:avLst/>
          </a:prstGeom>
          <a:noFill/>
          <a:ln/>
        </p:spPr>
        <p:txBody>
          <a:bodyPr wrap="square" lIns="0" tIns="0" rIns="0" bIns="0" rtlCol="0" anchor="ctr"/>
          <a:lstStyle/>
          <a:p>
            <a:pPr marL="0" indent="0">
              <a:buNone/>
            </a:pPr>
            <a:r>
              <a:rPr lang="en-US" sz="3800" b="1" dirty="0">
                <a:solidFill>
                  <a:srgbClr val="E9EDEA"/>
                </a:solidFill>
                <a:latin typeface="Cambria" pitchFamily="34" charset="0"/>
                <a:ea typeface="Cambria" pitchFamily="34" charset="-122"/>
                <a:cs typeface="Cambria" pitchFamily="34" charset="-120"/>
              </a:rPr>
              <a:t>How to read a rule</a:t>
            </a:r>
            <a:endParaRPr lang="en-US" sz="3800" dirty="0"/>
          </a:p>
        </p:txBody>
      </p:sp>
      <p:sp>
        <p:nvSpPr>
          <p:cNvPr id="6" name="Text 4"/>
          <p:cNvSpPr txBox="1"/>
          <p:nvPr/>
        </p:nvSpPr>
        <p:spPr>
          <a:xfrm>
            <a:off x="640080" y="3273552"/>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Bogost on procedural rhetoric  ·  0:25–0:50</a:t>
            </a:r>
            <a:endParaRPr lang="en-US" sz="1500" dirty="0"/>
          </a:p>
        </p:txBody>
      </p:sp>
      <p:sp>
        <p:nvSpPr>
          <p:cNvPr id="7" name="Shape 5"/>
          <p:cNvSpPr/>
          <p:nvPr/>
        </p:nvSpPr>
        <p:spPr>
          <a:xfrm>
            <a:off x="640080" y="3877056"/>
            <a:ext cx="2377440" cy="18288"/>
          </a:xfrm>
          <a:prstGeom prst="rect">
            <a:avLst/>
          </a:prstGeom>
          <a:solidFill>
            <a:srgbClr val="2F8F5B"/>
          </a:solidFill>
          <a:ln/>
        </p:spPr>
        <p:txBody>
          <a:bodyPr/>
          <a:lstStyle/>
          <a:p>
            <a:endParaRPr lang="en-US"/>
          </a:p>
        </p:txBody>
      </p:sp>
      <p:sp>
        <p:nvSpPr>
          <p:cNvPr id="8" name="Text 6"/>
          <p:cNvSpPr txBox="1"/>
          <p:nvPr/>
        </p:nvSpPr>
        <p:spPr>
          <a:xfrm>
            <a:off x="640080" y="4096512"/>
            <a:ext cx="7680960" cy="640080"/>
          </a:xfrm>
          <a:prstGeom prst="rect">
            <a:avLst/>
          </a:prstGeom>
          <a:noFill/>
          <a:ln/>
        </p:spPr>
        <p:txBody>
          <a:bodyPr wrap="square" lIns="0" tIns="0" rIns="0" bIns="0" rtlCol="0" anchor="ctr"/>
          <a:lstStyle/>
          <a:p>
            <a:pPr marL="0" indent="0">
              <a:lnSpc>
                <a:spcPts val="2500"/>
              </a:lnSpc>
              <a:buNone/>
            </a:pPr>
            <a:r>
              <a:rPr lang="en-US" sz="1800" i="1" dirty="0">
                <a:solidFill>
                  <a:srgbClr val="7FD0A5"/>
                </a:solidFill>
                <a:latin typeface="Cambria" pitchFamily="34" charset="0"/>
                <a:ea typeface="Cambria" pitchFamily="34" charset="-122"/>
                <a:cs typeface="Cambria" pitchFamily="34" charset="-120"/>
              </a:rPr>
              <a:t>A game argues by what it makes possible, cheap, expensive and impossible.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2F8F5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BOGOST 2008</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Games argue through processes, not just images and words</a:t>
            </a:r>
            <a:endParaRPr lang="en-US" sz="3000" dirty="0"/>
          </a:p>
        </p:txBody>
      </p:sp>
      <p:sp>
        <p:nvSpPr>
          <p:cNvPr id="5" name="Shape 3"/>
          <p:cNvSpPr/>
          <p:nvPr/>
        </p:nvSpPr>
        <p:spPr>
          <a:xfrm>
            <a:off x="640080" y="1600200"/>
            <a:ext cx="6035040" cy="2194560"/>
          </a:xfrm>
          <a:prstGeom prst="roundRect">
            <a:avLst>
              <a:gd name="adj" fmla="val 3333"/>
            </a:avLst>
          </a:prstGeom>
          <a:solidFill>
            <a:srgbClr val="0D1319"/>
          </a:solidFill>
          <a:ln w="12700">
            <a:solidFill>
              <a:srgbClr val="0D1319"/>
            </a:solidFill>
            <a:prstDash val="solid"/>
          </a:ln>
        </p:spPr>
        <p:txBody>
          <a:bodyPr/>
          <a:lstStyle/>
          <a:p>
            <a:endParaRPr lang="en-US"/>
          </a:p>
        </p:txBody>
      </p:sp>
      <p:sp>
        <p:nvSpPr>
          <p:cNvPr id="6" name="Text 4"/>
          <p:cNvSpPr txBox="1"/>
          <p:nvPr/>
        </p:nvSpPr>
        <p:spPr>
          <a:xfrm>
            <a:off x="1005840" y="1810512"/>
            <a:ext cx="5303520" cy="292608"/>
          </a:xfrm>
          <a:prstGeom prst="rect">
            <a:avLst/>
          </a:prstGeom>
          <a:noFill/>
          <a:ln/>
        </p:spPr>
        <p:txBody>
          <a:bodyPr wrap="square" lIns="0" tIns="0" rIns="0" bIns="0" rtlCol="0" anchor="ctr"/>
          <a:lstStyle/>
          <a:p>
            <a:pPr marL="0" indent="0">
              <a:buNone/>
            </a:pPr>
            <a:r>
              <a:rPr lang="en-US" sz="1150" b="1" kern="0" spc="140" dirty="0">
                <a:solidFill>
                  <a:srgbClr val="7FD0A5"/>
                </a:solidFill>
                <a:latin typeface="Calibri" pitchFamily="34" charset="0"/>
                <a:ea typeface="Calibri" pitchFamily="34" charset="-122"/>
                <a:cs typeface="Calibri" pitchFamily="34" charset="-120"/>
              </a:rPr>
              <a:t>The core claim</a:t>
            </a:r>
            <a:endParaRPr lang="en-US" sz="1150" dirty="0"/>
          </a:p>
        </p:txBody>
      </p:sp>
      <p:sp>
        <p:nvSpPr>
          <p:cNvPr id="7" name="Text 5"/>
          <p:cNvSpPr txBox="1"/>
          <p:nvPr/>
        </p:nvSpPr>
        <p:spPr>
          <a:xfrm>
            <a:off x="1005840" y="2212848"/>
            <a:ext cx="5349240" cy="1463040"/>
          </a:xfrm>
          <a:prstGeom prst="rect">
            <a:avLst/>
          </a:prstGeom>
          <a:noFill/>
          <a:ln/>
        </p:spPr>
        <p:txBody>
          <a:bodyPr wrap="square" lIns="0" tIns="0" rIns="0" bIns="0" rtlCol="0" anchor="ctr"/>
          <a:lstStyle/>
          <a:p>
            <a:pPr marL="0" indent="0">
              <a:lnSpc>
                <a:spcPts val="1900"/>
              </a:lnSpc>
              <a:buNone/>
            </a:pPr>
            <a:r>
              <a:rPr lang="en-US" sz="1350" dirty="0">
                <a:solidFill>
                  <a:srgbClr val="E9EDEA"/>
                </a:solidFill>
                <a:latin typeface="Calibri" pitchFamily="34" charset="0"/>
                <a:ea typeface="Calibri" pitchFamily="34" charset="-122"/>
                <a:cs typeface="Calibri" pitchFamily="34" charset="-120"/>
              </a:rPr>
              <a:t>Procedural rhetoric is persuasion carried out through rule-based representation. When a game represents something — a war, a debt, a revolution — it does so by building a working model of it. The model makes claims about how the thing works, and you absorb those claims by operating it rather than by being told them.</a:t>
            </a:r>
            <a:endParaRPr lang="en-US" sz="1350" dirty="0"/>
          </a:p>
        </p:txBody>
      </p:sp>
      <p:sp>
        <p:nvSpPr>
          <p:cNvPr id="8" name="Shape 6"/>
          <p:cNvSpPr/>
          <p:nvPr/>
        </p:nvSpPr>
        <p:spPr>
          <a:xfrm>
            <a:off x="6995160" y="1600200"/>
            <a:ext cx="4526280" cy="1325880"/>
          </a:xfrm>
          <a:prstGeom prst="roundRect">
            <a:avLst>
              <a:gd name="adj" fmla="val 5517"/>
            </a:avLst>
          </a:prstGeom>
          <a:solidFill>
            <a:srgbClr val="F2F2F0"/>
          </a:solidFill>
          <a:ln w="12700">
            <a:solidFill>
              <a:srgbClr val="F2F2F0"/>
            </a:solidFill>
            <a:prstDash val="solid"/>
          </a:ln>
        </p:spPr>
        <p:txBody>
          <a:bodyPr/>
          <a:lstStyle/>
          <a:p>
            <a:endParaRPr lang="en-US"/>
          </a:p>
        </p:txBody>
      </p:sp>
      <p:sp>
        <p:nvSpPr>
          <p:cNvPr id="9" name="Text 7"/>
          <p:cNvSpPr txBox="1"/>
          <p:nvPr/>
        </p:nvSpPr>
        <p:spPr>
          <a:xfrm>
            <a:off x="7269480" y="1746504"/>
            <a:ext cx="3977640" cy="310896"/>
          </a:xfrm>
          <a:prstGeom prst="rect">
            <a:avLst/>
          </a:prstGeom>
          <a:noFill/>
          <a:ln/>
        </p:spPr>
        <p:txBody>
          <a:bodyPr wrap="square" lIns="0" tIns="0" rIns="0" bIns="0" rtlCol="0" anchor="ctr"/>
          <a:lstStyle/>
          <a:p>
            <a:pPr marL="0" indent="0">
              <a:buNone/>
            </a:pPr>
            <a:r>
              <a:rPr lang="en-US" sz="1450" b="1" dirty="0">
                <a:solidFill>
                  <a:srgbClr val="0D1319"/>
                </a:solidFill>
                <a:latin typeface="Cambria" pitchFamily="34" charset="0"/>
                <a:ea typeface="Cambria" pitchFamily="34" charset="-122"/>
                <a:cs typeface="Cambria" pitchFamily="34" charset="-120"/>
              </a:rPr>
              <a:t>Why it is not just “theme”</a:t>
            </a:r>
            <a:endParaRPr lang="en-US" sz="1450" dirty="0"/>
          </a:p>
        </p:txBody>
      </p:sp>
      <p:sp>
        <p:nvSpPr>
          <p:cNvPr id="10" name="Text 8"/>
          <p:cNvSpPr txBox="1"/>
          <p:nvPr/>
        </p:nvSpPr>
        <p:spPr>
          <a:xfrm>
            <a:off x="7269480" y="2103120"/>
            <a:ext cx="3977640" cy="713232"/>
          </a:xfrm>
          <a:prstGeom prst="rect">
            <a:avLst/>
          </a:prstGeom>
          <a:noFill/>
          <a:ln/>
        </p:spPr>
        <p:txBody>
          <a:bodyPr wrap="square" lIns="0" tIns="0" rIns="0" bIns="0" rtlCol="0" anchor="ctr"/>
          <a:lstStyle/>
          <a:p>
            <a:pPr marL="0" indent="0">
              <a:lnSpc>
                <a:spcPts val="1500"/>
              </a:lnSpc>
              <a:buNone/>
            </a:pPr>
            <a:r>
              <a:rPr lang="en-US" sz="1150" dirty="0">
                <a:solidFill>
                  <a:srgbClr val="5C6672"/>
                </a:solidFill>
                <a:latin typeface="Calibri" pitchFamily="34" charset="0"/>
                <a:ea typeface="Calibri" pitchFamily="34" charset="-122"/>
                <a:cs typeface="Calibri" pitchFamily="34" charset="-120"/>
              </a:rPr>
              <a:t>A game can say one thing in its dialogue and the opposite in its rules. When they conflict the rules usually win, because you had to obey them to finish.</a:t>
            </a:r>
            <a:endParaRPr lang="en-US" sz="1150" dirty="0"/>
          </a:p>
        </p:txBody>
      </p:sp>
      <p:sp>
        <p:nvSpPr>
          <p:cNvPr id="11" name="Shape 9"/>
          <p:cNvSpPr/>
          <p:nvPr/>
        </p:nvSpPr>
        <p:spPr>
          <a:xfrm>
            <a:off x="6995160" y="3044952"/>
            <a:ext cx="4526280" cy="1325880"/>
          </a:xfrm>
          <a:prstGeom prst="roundRect">
            <a:avLst>
              <a:gd name="adj" fmla="val 5517"/>
            </a:avLst>
          </a:prstGeom>
          <a:solidFill>
            <a:srgbClr val="E7F2EC"/>
          </a:solidFill>
          <a:ln w="12700">
            <a:solidFill>
              <a:srgbClr val="E7F2EC"/>
            </a:solidFill>
            <a:prstDash val="solid"/>
          </a:ln>
        </p:spPr>
        <p:txBody>
          <a:bodyPr/>
          <a:lstStyle/>
          <a:p>
            <a:endParaRPr lang="en-US"/>
          </a:p>
        </p:txBody>
      </p:sp>
      <p:sp>
        <p:nvSpPr>
          <p:cNvPr id="12" name="Text 10"/>
          <p:cNvSpPr txBox="1"/>
          <p:nvPr/>
        </p:nvSpPr>
        <p:spPr>
          <a:xfrm>
            <a:off x="7269480" y="3191256"/>
            <a:ext cx="3977640" cy="310896"/>
          </a:xfrm>
          <a:prstGeom prst="rect">
            <a:avLst/>
          </a:prstGeom>
          <a:noFill/>
          <a:ln/>
        </p:spPr>
        <p:txBody>
          <a:bodyPr wrap="square" lIns="0" tIns="0" rIns="0" bIns="0" rtlCol="0" anchor="ctr"/>
          <a:lstStyle/>
          <a:p>
            <a:pPr marL="0" indent="0">
              <a:buNone/>
            </a:pPr>
            <a:r>
              <a:rPr lang="en-US" sz="1450" b="1" dirty="0">
                <a:solidFill>
                  <a:srgbClr val="0D1319"/>
                </a:solidFill>
                <a:latin typeface="Cambria" pitchFamily="34" charset="0"/>
                <a:ea typeface="Cambria" pitchFamily="34" charset="-122"/>
                <a:cs typeface="Cambria" pitchFamily="34" charset="-120"/>
              </a:rPr>
              <a:t>Why it is not just “interactivity”</a:t>
            </a:r>
            <a:endParaRPr lang="en-US" sz="1450" dirty="0"/>
          </a:p>
        </p:txBody>
      </p:sp>
      <p:sp>
        <p:nvSpPr>
          <p:cNvPr id="13" name="Text 11"/>
          <p:cNvSpPr txBox="1"/>
          <p:nvPr/>
        </p:nvSpPr>
        <p:spPr>
          <a:xfrm>
            <a:off x="7269480" y="3547872"/>
            <a:ext cx="3977640" cy="713232"/>
          </a:xfrm>
          <a:prstGeom prst="rect">
            <a:avLst/>
          </a:prstGeom>
          <a:noFill/>
          <a:ln/>
        </p:spPr>
        <p:txBody>
          <a:bodyPr wrap="square" lIns="0" tIns="0" rIns="0" bIns="0" rtlCol="0" anchor="ctr"/>
          <a:lstStyle/>
          <a:p>
            <a:pPr marL="0" indent="0">
              <a:lnSpc>
                <a:spcPts val="1500"/>
              </a:lnSpc>
              <a:buNone/>
            </a:pPr>
            <a:r>
              <a:rPr lang="en-US" sz="1150" dirty="0">
                <a:solidFill>
                  <a:srgbClr val="5C6672"/>
                </a:solidFill>
                <a:latin typeface="Calibri" pitchFamily="34" charset="0"/>
                <a:ea typeface="Calibri" pitchFamily="34" charset="-122"/>
                <a:cs typeface="Calibri" pitchFamily="34" charset="-120"/>
              </a:rPr>
              <a:t>The argument is in the specific shape of the constraint — what is cheap, what is expensive, what is impossible — not in the fact that you pressed buttons.</a:t>
            </a:r>
            <a:endParaRPr lang="en-US" sz="1150" dirty="0"/>
          </a:p>
        </p:txBody>
      </p:sp>
      <p:sp>
        <p:nvSpPr>
          <p:cNvPr id="14" name="Shape 12"/>
          <p:cNvSpPr/>
          <p:nvPr/>
        </p:nvSpPr>
        <p:spPr>
          <a:xfrm>
            <a:off x="6995160" y="4489704"/>
            <a:ext cx="4526280" cy="1325880"/>
          </a:xfrm>
          <a:prstGeom prst="roundRect">
            <a:avLst>
              <a:gd name="adj" fmla="val 5517"/>
            </a:avLst>
          </a:prstGeom>
          <a:solidFill>
            <a:srgbClr val="F2F2F0"/>
          </a:solidFill>
          <a:ln w="12700">
            <a:solidFill>
              <a:srgbClr val="F2F2F0"/>
            </a:solidFill>
            <a:prstDash val="solid"/>
          </a:ln>
        </p:spPr>
        <p:txBody>
          <a:bodyPr/>
          <a:lstStyle/>
          <a:p>
            <a:endParaRPr lang="en-US"/>
          </a:p>
        </p:txBody>
      </p:sp>
      <p:sp>
        <p:nvSpPr>
          <p:cNvPr id="15" name="Text 13"/>
          <p:cNvSpPr txBox="1"/>
          <p:nvPr/>
        </p:nvSpPr>
        <p:spPr>
          <a:xfrm>
            <a:off x="7269480" y="4636008"/>
            <a:ext cx="3977640" cy="310896"/>
          </a:xfrm>
          <a:prstGeom prst="rect">
            <a:avLst/>
          </a:prstGeom>
          <a:noFill/>
          <a:ln/>
        </p:spPr>
        <p:txBody>
          <a:bodyPr wrap="square" lIns="0" tIns="0" rIns="0" bIns="0" rtlCol="0" anchor="ctr"/>
          <a:lstStyle/>
          <a:p>
            <a:pPr marL="0" indent="0">
              <a:buNone/>
            </a:pPr>
            <a:r>
              <a:rPr lang="en-US" sz="1450" b="1" dirty="0">
                <a:solidFill>
                  <a:srgbClr val="0D1319"/>
                </a:solidFill>
                <a:latin typeface="Cambria" pitchFamily="34" charset="0"/>
                <a:ea typeface="Cambria" pitchFamily="34" charset="-122"/>
                <a:cs typeface="Cambria" pitchFamily="34" charset="-120"/>
              </a:rPr>
              <a:t>Why it matters for personhood</a:t>
            </a:r>
            <a:endParaRPr lang="en-US" sz="1450" dirty="0"/>
          </a:p>
        </p:txBody>
      </p:sp>
      <p:sp>
        <p:nvSpPr>
          <p:cNvPr id="16" name="Text 14"/>
          <p:cNvSpPr txBox="1"/>
          <p:nvPr/>
        </p:nvSpPr>
        <p:spPr>
          <a:xfrm>
            <a:off x="7269480" y="4992624"/>
            <a:ext cx="3977640" cy="713232"/>
          </a:xfrm>
          <a:prstGeom prst="rect">
            <a:avLst/>
          </a:prstGeom>
          <a:noFill/>
          <a:ln/>
        </p:spPr>
        <p:txBody>
          <a:bodyPr wrap="square" lIns="0" tIns="0" rIns="0" bIns="0" rtlCol="0" anchor="ctr"/>
          <a:lstStyle/>
          <a:p>
            <a:pPr marL="0" indent="0">
              <a:lnSpc>
                <a:spcPts val="1500"/>
              </a:lnSpc>
              <a:buNone/>
            </a:pPr>
            <a:r>
              <a:rPr lang="en-US" sz="1150" dirty="0">
                <a:solidFill>
                  <a:srgbClr val="5C6672"/>
                </a:solidFill>
                <a:latin typeface="Calibri" pitchFamily="34" charset="0"/>
                <a:ea typeface="Calibri" pitchFamily="34" charset="-122"/>
                <a:cs typeface="Calibri" pitchFamily="34" charset="-120"/>
              </a:rPr>
              <a:t>Whether a synthetic character is a person is exactly the kind of claim a rule can make silently: by what you are permitted to do to them, and what it costs.</a:t>
            </a:r>
            <a:endParaRPr lang="en-US" sz="1150" dirty="0"/>
          </a:p>
        </p:txBody>
      </p:sp>
      <p:sp>
        <p:nvSpPr>
          <p:cNvPr id="17" name="Shape 15"/>
          <p:cNvSpPr/>
          <p:nvPr/>
        </p:nvSpPr>
        <p:spPr>
          <a:xfrm>
            <a:off x="640080" y="3931920"/>
            <a:ext cx="6035040" cy="1828800"/>
          </a:xfrm>
          <a:prstGeom prst="roundRect">
            <a:avLst>
              <a:gd name="adj" fmla="val 4000"/>
            </a:avLst>
          </a:prstGeom>
          <a:solidFill>
            <a:srgbClr val="F2F2F0"/>
          </a:solidFill>
          <a:ln w="12700">
            <a:solidFill>
              <a:srgbClr val="F2F2F0"/>
            </a:solidFill>
            <a:prstDash val="solid"/>
          </a:ln>
        </p:spPr>
        <p:txBody>
          <a:bodyPr/>
          <a:lstStyle/>
          <a:p>
            <a:endParaRPr lang="en-US"/>
          </a:p>
        </p:txBody>
      </p:sp>
      <p:sp>
        <p:nvSpPr>
          <p:cNvPr id="18" name="Text 16"/>
          <p:cNvSpPr txBox="1"/>
          <p:nvPr/>
        </p:nvSpPr>
        <p:spPr>
          <a:xfrm>
            <a:off x="1005840" y="4133088"/>
            <a:ext cx="5303520" cy="310896"/>
          </a:xfrm>
          <a:prstGeom prst="rect">
            <a:avLst/>
          </a:prstGeom>
          <a:noFill/>
          <a:ln/>
        </p:spPr>
        <p:txBody>
          <a:bodyPr wrap="square" lIns="0" tIns="0" rIns="0" bIns="0" rtlCol="0" anchor="ctr"/>
          <a:lstStyle/>
          <a:p>
            <a:pPr marL="0" indent="0">
              <a:buNone/>
            </a:pPr>
            <a:r>
              <a:rPr lang="en-US" sz="1600" b="1" dirty="0">
                <a:solidFill>
                  <a:srgbClr val="0D1319"/>
                </a:solidFill>
                <a:latin typeface="Cambria" pitchFamily="34" charset="0"/>
                <a:ea typeface="Cambria" pitchFamily="34" charset="-122"/>
                <a:cs typeface="Cambria" pitchFamily="34" charset="-120"/>
              </a:rPr>
              <a:t>The test question</a:t>
            </a:r>
            <a:endParaRPr lang="en-US" sz="1600" dirty="0"/>
          </a:p>
        </p:txBody>
      </p:sp>
      <p:sp>
        <p:nvSpPr>
          <p:cNvPr id="19" name="Text 17"/>
          <p:cNvSpPr txBox="1"/>
          <p:nvPr/>
        </p:nvSpPr>
        <p:spPr>
          <a:xfrm>
            <a:off x="1005840" y="4526280"/>
            <a:ext cx="5303520" cy="1051560"/>
          </a:xfrm>
          <a:prstGeom prst="rect">
            <a:avLst/>
          </a:prstGeom>
          <a:noFill/>
          <a:ln/>
        </p:spPr>
        <p:txBody>
          <a:bodyPr wrap="square" lIns="0" tIns="0" rIns="0" bIns="0" rtlCol="0" anchor="ctr"/>
          <a:lstStyle/>
          <a:p>
            <a:pPr marL="0" indent="0">
              <a:lnSpc>
                <a:spcPts val="1800"/>
              </a:lnSpc>
              <a:buNone/>
            </a:pPr>
            <a:r>
              <a:rPr lang="en-US" sz="1300" dirty="0">
                <a:solidFill>
                  <a:srgbClr val="5C6672"/>
                </a:solidFill>
                <a:latin typeface="Calibri" pitchFamily="34" charset="0"/>
                <a:ea typeface="Calibri" pitchFamily="34" charset="-122"/>
                <a:cs typeface="Calibri" pitchFamily="34" charset="-120"/>
              </a:rPr>
              <a:t>If you had to state this game’s claim about its subject using only the rules — no cutscenes, no dialogue, no music — what would the claim be? If the answer embarrasses the game, you have found something.</a:t>
            </a:r>
            <a:endParaRPr lang="en-US" sz="1300" dirty="0"/>
          </a:p>
        </p:txBody>
      </p:sp>
      <p:sp>
        <p:nvSpPr>
          <p:cNvPr id="20" name="Text 18"/>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C6672"/>
                </a:solidFill>
                <a:latin typeface="Calibri" pitchFamily="34" charset="0"/>
                <a:ea typeface="Calibri" pitchFamily="34" charset="-122"/>
                <a:cs typeface="Calibri" pitchFamily="34" charset="-120"/>
              </a:rPr>
              <a:t>Ian Bogost, “The Rhetoric of Video Games,” in The Ecology of Games, ed. Katie Salen (MIT Press, 2008), 117–40. Creative Commons, free PDF.</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2F8F5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METHOD</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Five questions to ask of any mechanic</a:t>
            </a:r>
            <a:endParaRPr lang="en-US" sz="3000" dirty="0"/>
          </a:p>
        </p:txBody>
      </p:sp>
      <p:sp>
        <p:nvSpPr>
          <p:cNvPr id="5" name="Shape 3"/>
          <p:cNvSpPr/>
          <p:nvPr/>
        </p:nvSpPr>
        <p:spPr>
          <a:xfrm>
            <a:off x="640080" y="1645920"/>
            <a:ext cx="2021373" cy="3520440"/>
          </a:xfrm>
          <a:prstGeom prst="roundRect">
            <a:avLst>
              <a:gd name="adj" fmla="val 3619"/>
            </a:avLst>
          </a:prstGeom>
          <a:solidFill>
            <a:srgbClr val="F2F2F0"/>
          </a:solidFill>
          <a:ln w="12700">
            <a:solidFill>
              <a:srgbClr val="F2F2F0"/>
            </a:solidFill>
            <a:prstDash val="solid"/>
          </a:ln>
        </p:spPr>
        <p:txBody>
          <a:bodyPr/>
          <a:lstStyle/>
          <a:p>
            <a:endParaRPr lang="en-US"/>
          </a:p>
        </p:txBody>
      </p:sp>
      <p:sp>
        <p:nvSpPr>
          <p:cNvPr id="6" name="Shape 4"/>
          <p:cNvSpPr/>
          <p:nvPr/>
        </p:nvSpPr>
        <p:spPr>
          <a:xfrm>
            <a:off x="896112" y="1874520"/>
            <a:ext cx="365760" cy="365760"/>
          </a:xfrm>
          <a:prstGeom prst="ellipse">
            <a:avLst/>
          </a:prstGeom>
          <a:solidFill>
            <a:srgbClr val="0D1319"/>
          </a:solidFill>
          <a:ln/>
        </p:spPr>
        <p:txBody>
          <a:bodyPr/>
          <a:lstStyle/>
          <a:p>
            <a:endParaRPr lang="en-US"/>
          </a:p>
        </p:txBody>
      </p:sp>
      <p:sp>
        <p:nvSpPr>
          <p:cNvPr id="7" name="Text 5"/>
          <p:cNvSpPr txBox="1"/>
          <p:nvPr/>
        </p:nvSpPr>
        <p:spPr>
          <a:xfrm>
            <a:off x="896112" y="187452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896112" y="2395728"/>
            <a:ext cx="1509309" cy="914400"/>
          </a:xfrm>
          <a:prstGeom prst="rect">
            <a:avLst/>
          </a:prstGeom>
          <a:noFill/>
          <a:ln/>
        </p:spPr>
        <p:txBody>
          <a:bodyPr wrap="square" lIns="0" tIns="0" rIns="0" bIns="0" rtlCol="0" anchor="ctr"/>
          <a:lstStyle/>
          <a:p>
            <a:pPr marL="0" indent="0">
              <a:lnSpc>
                <a:spcPts val="2000"/>
              </a:lnSpc>
              <a:buNone/>
            </a:pPr>
            <a:r>
              <a:rPr lang="en-US" sz="1550" b="1" dirty="0">
                <a:solidFill>
                  <a:srgbClr val="0D1319"/>
                </a:solidFill>
                <a:latin typeface="Cambria" pitchFamily="34" charset="0"/>
                <a:ea typeface="Cambria" pitchFamily="34" charset="-122"/>
                <a:cs typeface="Cambria" pitchFamily="34" charset="-120"/>
              </a:rPr>
              <a:t>What is possible?</a:t>
            </a:r>
            <a:endParaRPr lang="en-US" sz="1550" dirty="0"/>
          </a:p>
        </p:txBody>
      </p:sp>
      <p:sp>
        <p:nvSpPr>
          <p:cNvPr id="9" name="Text 7"/>
          <p:cNvSpPr txBox="1"/>
          <p:nvPr/>
        </p:nvSpPr>
        <p:spPr>
          <a:xfrm>
            <a:off x="896112" y="3401568"/>
            <a:ext cx="1509309" cy="1600200"/>
          </a:xfrm>
          <a:prstGeom prst="rect">
            <a:avLst/>
          </a:prstGeom>
          <a:noFill/>
          <a:ln/>
        </p:spPr>
        <p:txBody>
          <a:bodyPr wrap="square" lIns="0" tIns="0" rIns="0" bIns="0" rtlCol="0" anchor="ctr"/>
          <a:lstStyle/>
          <a:p>
            <a:pPr marL="0" indent="0">
              <a:lnSpc>
                <a:spcPts val="1600"/>
              </a:lnSpc>
              <a:buNone/>
            </a:pPr>
            <a:r>
              <a:rPr lang="en-US" sz="1150" dirty="0">
                <a:solidFill>
                  <a:srgbClr val="5C6672"/>
                </a:solidFill>
                <a:latin typeface="Calibri" pitchFamily="34" charset="0"/>
                <a:ea typeface="Calibri" pitchFamily="34" charset="-122"/>
                <a:cs typeface="Calibri" pitchFamily="34" charset="-120"/>
              </a:rPr>
              <a:t>The full set of actions the system will accept. Not what the story says you could do — what the code will let you do.</a:t>
            </a:r>
            <a:endParaRPr lang="en-US" sz="1150" dirty="0"/>
          </a:p>
        </p:txBody>
      </p:sp>
      <p:sp>
        <p:nvSpPr>
          <p:cNvPr id="10" name="Shape 8"/>
          <p:cNvSpPr/>
          <p:nvPr/>
        </p:nvSpPr>
        <p:spPr>
          <a:xfrm>
            <a:off x="2862621" y="1645920"/>
            <a:ext cx="2021373" cy="3520440"/>
          </a:xfrm>
          <a:prstGeom prst="roundRect">
            <a:avLst>
              <a:gd name="adj" fmla="val 3619"/>
            </a:avLst>
          </a:prstGeom>
          <a:solidFill>
            <a:srgbClr val="E7F2EC"/>
          </a:solidFill>
          <a:ln w="12700">
            <a:solidFill>
              <a:srgbClr val="E7F2EC"/>
            </a:solidFill>
            <a:prstDash val="solid"/>
          </a:ln>
        </p:spPr>
        <p:txBody>
          <a:bodyPr/>
          <a:lstStyle/>
          <a:p>
            <a:endParaRPr lang="en-US"/>
          </a:p>
        </p:txBody>
      </p:sp>
      <p:sp>
        <p:nvSpPr>
          <p:cNvPr id="11" name="Shape 9"/>
          <p:cNvSpPr/>
          <p:nvPr/>
        </p:nvSpPr>
        <p:spPr>
          <a:xfrm>
            <a:off x="3118653" y="1874520"/>
            <a:ext cx="365760" cy="365760"/>
          </a:xfrm>
          <a:prstGeom prst="ellipse">
            <a:avLst/>
          </a:prstGeom>
          <a:solidFill>
            <a:srgbClr val="2F8F5B"/>
          </a:solidFill>
          <a:ln/>
        </p:spPr>
        <p:txBody>
          <a:bodyPr/>
          <a:lstStyle/>
          <a:p>
            <a:endParaRPr lang="en-US"/>
          </a:p>
        </p:txBody>
      </p:sp>
      <p:sp>
        <p:nvSpPr>
          <p:cNvPr id="12" name="Text 10"/>
          <p:cNvSpPr txBox="1"/>
          <p:nvPr/>
        </p:nvSpPr>
        <p:spPr>
          <a:xfrm>
            <a:off x="3118653" y="187452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3118653" y="2395728"/>
            <a:ext cx="1509309" cy="914400"/>
          </a:xfrm>
          <a:prstGeom prst="rect">
            <a:avLst/>
          </a:prstGeom>
          <a:noFill/>
          <a:ln/>
        </p:spPr>
        <p:txBody>
          <a:bodyPr wrap="square" lIns="0" tIns="0" rIns="0" bIns="0" rtlCol="0" anchor="ctr"/>
          <a:lstStyle/>
          <a:p>
            <a:pPr marL="0" indent="0">
              <a:lnSpc>
                <a:spcPts val="2000"/>
              </a:lnSpc>
              <a:buNone/>
            </a:pPr>
            <a:r>
              <a:rPr lang="en-US" sz="1550" b="1" dirty="0">
                <a:solidFill>
                  <a:srgbClr val="0D1319"/>
                </a:solidFill>
                <a:latin typeface="Cambria" pitchFamily="34" charset="0"/>
                <a:ea typeface="Cambria" pitchFamily="34" charset="-122"/>
                <a:cs typeface="Cambria" pitchFamily="34" charset="-120"/>
              </a:rPr>
              <a:t>What is cheap and what is expensive?</a:t>
            </a:r>
            <a:endParaRPr lang="en-US" sz="1550" dirty="0"/>
          </a:p>
        </p:txBody>
      </p:sp>
      <p:sp>
        <p:nvSpPr>
          <p:cNvPr id="14" name="Text 12"/>
          <p:cNvSpPr txBox="1"/>
          <p:nvPr/>
        </p:nvSpPr>
        <p:spPr>
          <a:xfrm>
            <a:off x="3118653" y="3401568"/>
            <a:ext cx="1509309" cy="1600200"/>
          </a:xfrm>
          <a:prstGeom prst="rect">
            <a:avLst/>
          </a:prstGeom>
          <a:noFill/>
          <a:ln/>
        </p:spPr>
        <p:txBody>
          <a:bodyPr wrap="square" lIns="0" tIns="0" rIns="0" bIns="0" rtlCol="0" anchor="ctr"/>
          <a:lstStyle/>
          <a:p>
            <a:pPr marL="0" indent="0">
              <a:lnSpc>
                <a:spcPts val="1600"/>
              </a:lnSpc>
              <a:buNone/>
            </a:pPr>
            <a:r>
              <a:rPr lang="en-US" sz="1150" dirty="0">
                <a:solidFill>
                  <a:srgbClr val="5C6672"/>
                </a:solidFill>
                <a:latin typeface="Calibri" pitchFamily="34" charset="0"/>
                <a:ea typeface="Calibri" pitchFamily="34" charset="-122"/>
                <a:cs typeface="Calibri" pitchFamily="34" charset="-120"/>
              </a:rPr>
              <a:t>Time, resources, risk, replays. Cost is where a game states its preferences most clearly and least visibly.</a:t>
            </a:r>
            <a:endParaRPr lang="en-US" sz="1150" dirty="0"/>
          </a:p>
        </p:txBody>
      </p:sp>
      <p:sp>
        <p:nvSpPr>
          <p:cNvPr id="15" name="Shape 13"/>
          <p:cNvSpPr/>
          <p:nvPr/>
        </p:nvSpPr>
        <p:spPr>
          <a:xfrm>
            <a:off x="5085161" y="1645920"/>
            <a:ext cx="2021373" cy="3520440"/>
          </a:xfrm>
          <a:prstGeom prst="roundRect">
            <a:avLst>
              <a:gd name="adj" fmla="val 3619"/>
            </a:avLst>
          </a:prstGeom>
          <a:solidFill>
            <a:srgbClr val="F2F2F0"/>
          </a:solidFill>
          <a:ln w="12700">
            <a:solidFill>
              <a:srgbClr val="F2F2F0"/>
            </a:solidFill>
            <a:prstDash val="solid"/>
          </a:ln>
        </p:spPr>
        <p:txBody>
          <a:bodyPr/>
          <a:lstStyle/>
          <a:p>
            <a:endParaRPr lang="en-US"/>
          </a:p>
        </p:txBody>
      </p:sp>
      <p:sp>
        <p:nvSpPr>
          <p:cNvPr id="16" name="Shape 14"/>
          <p:cNvSpPr/>
          <p:nvPr/>
        </p:nvSpPr>
        <p:spPr>
          <a:xfrm>
            <a:off x="5341193" y="1874520"/>
            <a:ext cx="365760" cy="365760"/>
          </a:xfrm>
          <a:prstGeom prst="ellipse">
            <a:avLst/>
          </a:prstGeom>
          <a:solidFill>
            <a:srgbClr val="0D1319"/>
          </a:solidFill>
          <a:ln/>
        </p:spPr>
        <p:txBody>
          <a:bodyPr/>
          <a:lstStyle/>
          <a:p>
            <a:endParaRPr lang="en-US"/>
          </a:p>
        </p:txBody>
      </p:sp>
      <p:sp>
        <p:nvSpPr>
          <p:cNvPr id="17" name="Text 15"/>
          <p:cNvSpPr txBox="1"/>
          <p:nvPr/>
        </p:nvSpPr>
        <p:spPr>
          <a:xfrm>
            <a:off x="5341193" y="187452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5341193" y="2395728"/>
            <a:ext cx="1509309" cy="914400"/>
          </a:xfrm>
          <a:prstGeom prst="rect">
            <a:avLst/>
          </a:prstGeom>
          <a:noFill/>
          <a:ln/>
        </p:spPr>
        <p:txBody>
          <a:bodyPr wrap="square" lIns="0" tIns="0" rIns="0" bIns="0" rtlCol="0" anchor="ctr"/>
          <a:lstStyle/>
          <a:p>
            <a:pPr marL="0" indent="0">
              <a:lnSpc>
                <a:spcPts val="2000"/>
              </a:lnSpc>
              <a:buNone/>
            </a:pPr>
            <a:r>
              <a:rPr lang="en-US" sz="1550" b="1" dirty="0">
                <a:solidFill>
                  <a:srgbClr val="0D1319"/>
                </a:solidFill>
                <a:latin typeface="Cambria" pitchFamily="34" charset="0"/>
                <a:ea typeface="Cambria" pitchFamily="34" charset="-122"/>
                <a:cs typeface="Cambria" pitchFamily="34" charset="-120"/>
              </a:rPr>
              <a:t>What is impossible?</a:t>
            </a:r>
            <a:endParaRPr lang="en-US" sz="1550" dirty="0"/>
          </a:p>
        </p:txBody>
      </p:sp>
      <p:sp>
        <p:nvSpPr>
          <p:cNvPr id="19" name="Text 17"/>
          <p:cNvSpPr txBox="1"/>
          <p:nvPr/>
        </p:nvSpPr>
        <p:spPr>
          <a:xfrm>
            <a:off x="5341193" y="3401568"/>
            <a:ext cx="1509309" cy="1600200"/>
          </a:xfrm>
          <a:prstGeom prst="rect">
            <a:avLst/>
          </a:prstGeom>
          <a:noFill/>
          <a:ln/>
        </p:spPr>
        <p:txBody>
          <a:bodyPr wrap="square" lIns="0" tIns="0" rIns="0" bIns="0" rtlCol="0" anchor="ctr"/>
          <a:lstStyle/>
          <a:p>
            <a:pPr marL="0" indent="0">
              <a:lnSpc>
                <a:spcPts val="1600"/>
              </a:lnSpc>
              <a:buNone/>
            </a:pPr>
            <a:r>
              <a:rPr lang="en-US" sz="1150" dirty="0">
                <a:solidFill>
                  <a:srgbClr val="5C6672"/>
                </a:solidFill>
                <a:latin typeface="Calibri" pitchFamily="34" charset="0"/>
                <a:ea typeface="Calibri" pitchFamily="34" charset="-122"/>
                <a:cs typeface="Calibri" pitchFamily="34" charset="-120"/>
              </a:rPr>
              <a:t>The strongest claims are usually in the omissions. A thing you cannot attempt is a thing the model says does not exist.</a:t>
            </a:r>
            <a:endParaRPr lang="en-US" sz="1150" dirty="0"/>
          </a:p>
        </p:txBody>
      </p:sp>
      <p:sp>
        <p:nvSpPr>
          <p:cNvPr id="20" name="Shape 18"/>
          <p:cNvSpPr/>
          <p:nvPr/>
        </p:nvSpPr>
        <p:spPr>
          <a:xfrm>
            <a:off x="7307702" y="1645920"/>
            <a:ext cx="2021373" cy="3520440"/>
          </a:xfrm>
          <a:prstGeom prst="roundRect">
            <a:avLst>
              <a:gd name="adj" fmla="val 3619"/>
            </a:avLst>
          </a:prstGeom>
          <a:solidFill>
            <a:srgbClr val="E7F2EC"/>
          </a:solidFill>
          <a:ln w="12700">
            <a:solidFill>
              <a:srgbClr val="E7F2EC"/>
            </a:solidFill>
            <a:prstDash val="solid"/>
          </a:ln>
        </p:spPr>
        <p:txBody>
          <a:bodyPr/>
          <a:lstStyle/>
          <a:p>
            <a:endParaRPr lang="en-US"/>
          </a:p>
        </p:txBody>
      </p:sp>
      <p:sp>
        <p:nvSpPr>
          <p:cNvPr id="21" name="Shape 19"/>
          <p:cNvSpPr/>
          <p:nvPr/>
        </p:nvSpPr>
        <p:spPr>
          <a:xfrm>
            <a:off x="7563734" y="1874520"/>
            <a:ext cx="365760" cy="365760"/>
          </a:xfrm>
          <a:prstGeom prst="ellipse">
            <a:avLst/>
          </a:prstGeom>
          <a:solidFill>
            <a:srgbClr val="2F8F5B"/>
          </a:solidFill>
          <a:ln/>
        </p:spPr>
        <p:txBody>
          <a:bodyPr/>
          <a:lstStyle/>
          <a:p>
            <a:endParaRPr lang="en-US"/>
          </a:p>
        </p:txBody>
      </p:sp>
      <p:sp>
        <p:nvSpPr>
          <p:cNvPr id="22" name="Text 20"/>
          <p:cNvSpPr txBox="1"/>
          <p:nvPr/>
        </p:nvSpPr>
        <p:spPr>
          <a:xfrm>
            <a:off x="7563734" y="187452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7563734" y="2395728"/>
            <a:ext cx="1509309" cy="914400"/>
          </a:xfrm>
          <a:prstGeom prst="rect">
            <a:avLst/>
          </a:prstGeom>
          <a:noFill/>
          <a:ln/>
        </p:spPr>
        <p:txBody>
          <a:bodyPr wrap="square" lIns="0" tIns="0" rIns="0" bIns="0" rtlCol="0" anchor="ctr"/>
          <a:lstStyle/>
          <a:p>
            <a:pPr marL="0" indent="0">
              <a:lnSpc>
                <a:spcPts val="2000"/>
              </a:lnSpc>
              <a:buNone/>
            </a:pPr>
            <a:r>
              <a:rPr lang="en-US" sz="1550" b="1" dirty="0">
                <a:solidFill>
                  <a:srgbClr val="0D1319"/>
                </a:solidFill>
                <a:latin typeface="Cambria" pitchFamily="34" charset="0"/>
                <a:ea typeface="Cambria" pitchFamily="34" charset="-122"/>
                <a:cs typeface="Cambria" pitchFamily="34" charset="-120"/>
              </a:rPr>
              <a:t>What is counted?</a:t>
            </a:r>
            <a:endParaRPr lang="en-US" sz="1550" dirty="0"/>
          </a:p>
        </p:txBody>
      </p:sp>
      <p:sp>
        <p:nvSpPr>
          <p:cNvPr id="24" name="Text 22"/>
          <p:cNvSpPr txBox="1"/>
          <p:nvPr/>
        </p:nvSpPr>
        <p:spPr>
          <a:xfrm>
            <a:off x="7563734" y="3401568"/>
            <a:ext cx="1509309" cy="1600200"/>
          </a:xfrm>
          <a:prstGeom prst="rect">
            <a:avLst/>
          </a:prstGeom>
          <a:noFill/>
          <a:ln/>
        </p:spPr>
        <p:txBody>
          <a:bodyPr wrap="square" lIns="0" tIns="0" rIns="0" bIns="0" rtlCol="0" anchor="ctr"/>
          <a:lstStyle/>
          <a:p>
            <a:pPr marL="0" indent="0">
              <a:lnSpc>
                <a:spcPts val="1600"/>
              </a:lnSpc>
              <a:buNone/>
            </a:pPr>
            <a:r>
              <a:rPr lang="en-US" sz="1150" dirty="0">
                <a:solidFill>
                  <a:srgbClr val="5C6672"/>
                </a:solidFill>
                <a:latin typeface="Calibri" pitchFamily="34" charset="0"/>
                <a:ea typeface="Calibri" pitchFamily="34" charset="-122"/>
                <a:cs typeface="Calibri" pitchFamily="34" charset="-120"/>
              </a:rPr>
              <a:t>Every number a game keeps is an assertion that this quantity matters. Ask who benefits from that being the measured thing.</a:t>
            </a:r>
            <a:endParaRPr lang="en-US" sz="1150" dirty="0"/>
          </a:p>
        </p:txBody>
      </p:sp>
      <p:sp>
        <p:nvSpPr>
          <p:cNvPr id="25" name="Shape 23"/>
          <p:cNvSpPr/>
          <p:nvPr/>
        </p:nvSpPr>
        <p:spPr>
          <a:xfrm>
            <a:off x="9530243" y="1645920"/>
            <a:ext cx="2021373" cy="3520440"/>
          </a:xfrm>
          <a:prstGeom prst="roundRect">
            <a:avLst>
              <a:gd name="adj" fmla="val 3619"/>
            </a:avLst>
          </a:prstGeom>
          <a:solidFill>
            <a:srgbClr val="F2F2F0"/>
          </a:solidFill>
          <a:ln w="12700">
            <a:solidFill>
              <a:srgbClr val="F2F2F0"/>
            </a:solidFill>
            <a:prstDash val="solid"/>
          </a:ln>
        </p:spPr>
        <p:txBody>
          <a:bodyPr/>
          <a:lstStyle/>
          <a:p>
            <a:endParaRPr lang="en-US"/>
          </a:p>
        </p:txBody>
      </p:sp>
      <p:sp>
        <p:nvSpPr>
          <p:cNvPr id="26" name="Shape 24"/>
          <p:cNvSpPr/>
          <p:nvPr/>
        </p:nvSpPr>
        <p:spPr>
          <a:xfrm>
            <a:off x="9786275" y="1874520"/>
            <a:ext cx="365760" cy="365760"/>
          </a:xfrm>
          <a:prstGeom prst="ellipse">
            <a:avLst/>
          </a:prstGeom>
          <a:solidFill>
            <a:srgbClr val="0D1319"/>
          </a:solidFill>
          <a:ln/>
        </p:spPr>
        <p:txBody>
          <a:bodyPr/>
          <a:lstStyle/>
          <a:p>
            <a:endParaRPr lang="en-US"/>
          </a:p>
        </p:txBody>
      </p:sp>
      <p:sp>
        <p:nvSpPr>
          <p:cNvPr id="27" name="Text 25"/>
          <p:cNvSpPr txBox="1"/>
          <p:nvPr/>
        </p:nvSpPr>
        <p:spPr>
          <a:xfrm>
            <a:off x="9786275" y="187452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8" name="Text 26"/>
          <p:cNvSpPr txBox="1"/>
          <p:nvPr/>
        </p:nvSpPr>
        <p:spPr>
          <a:xfrm>
            <a:off x="9786275" y="2395728"/>
            <a:ext cx="1509309" cy="914400"/>
          </a:xfrm>
          <a:prstGeom prst="rect">
            <a:avLst/>
          </a:prstGeom>
          <a:noFill/>
          <a:ln/>
        </p:spPr>
        <p:txBody>
          <a:bodyPr wrap="square" lIns="0" tIns="0" rIns="0" bIns="0" rtlCol="0" anchor="ctr"/>
          <a:lstStyle/>
          <a:p>
            <a:pPr marL="0" indent="0">
              <a:lnSpc>
                <a:spcPts val="2000"/>
              </a:lnSpc>
              <a:buNone/>
            </a:pPr>
            <a:r>
              <a:rPr lang="en-US" sz="1550" b="1" dirty="0">
                <a:solidFill>
                  <a:srgbClr val="0D1319"/>
                </a:solidFill>
                <a:latin typeface="Cambria" pitchFamily="34" charset="0"/>
                <a:ea typeface="Cambria" pitchFamily="34" charset="-122"/>
                <a:cs typeface="Cambria" pitchFamily="34" charset="-120"/>
              </a:rPr>
              <a:t>What is shown back to you?</a:t>
            </a:r>
            <a:endParaRPr lang="en-US" sz="1550" dirty="0"/>
          </a:p>
        </p:txBody>
      </p:sp>
      <p:sp>
        <p:nvSpPr>
          <p:cNvPr id="29" name="Text 27"/>
          <p:cNvSpPr txBox="1"/>
          <p:nvPr/>
        </p:nvSpPr>
        <p:spPr>
          <a:xfrm>
            <a:off x="9786275" y="3401568"/>
            <a:ext cx="1509309" cy="1600200"/>
          </a:xfrm>
          <a:prstGeom prst="rect">
            <a:avLst/>
          </a:prstGeom>
          <a:noFill/>
          <a:ln/>
        </p:spPr>
        <p:txBody>
          <a:bodyPr wrap="square" lIns="0" tIns="0" rIns="0" bIns="0" rtlCol="0" anchor="ctr"/>
          <a:lstStyle/>
          <a:p>
            <a:pPr marL="0" indent="0">
              <a:lnSpc>
                <a:spcPts val="1600"/>
              </a:lnSpc>
              <a:buNone/>
            </a:pPr>
            <a:r>
              <a:rPr lang="en-US" sz="1150" dirty="0">
                <a:solidFill>
                  <a:srgbClr val="5C6672"/>
                </a:solidFill>
                <a:latin typeface="Calibri" pitchFamily="34" charset="0"/>
                <a:ea typeface="Calibri" pitchFamily="34" charset="-122"/>
                <a:cs typeface="Calibri" pitchFamily="34" charset="-120"/>
              </a:rPr>
              <a:t>Feedback is rhetoric. A meter, a rank, a comparison against other players — each tells you what kind of performance you were giving.</a:t>
            </a:r>
            <a:endParaRPr lang="en-US" sz="1150" dirty="0"/>
          </a:p>
        </p:txBody>
      </p:sp>
      <p:sp>
        <p:nvSpPr>
          <p:cNvPr id="30" name="Shape 28"/>
          <p:cNvSpPr/>
          <p:nvPr/>
        </p:nvSpPr>
        <p:spPr>
          <a:xfrm>
            <a:off x="640080" y="5349240"/>
            <a:ext cx="10911535" cy="868680"/>
          </a:xfrm>
          <a:prstGeom prst="roundRect">
            <a:avLst>
              <a:gd name="adj" fmla="val 8421"/>
            </a:avLst>
          </a:prstGeom>
          <a:solidFill>
            <a:srgbClr val="0D1319"/>
          </a:solidFill>
          <a:ln w="12700">
            <a:solidFill>
              <a:srgbClr val="0D1319"/>
            </a:solidFill>
            <a:prstDash val="solid"/>
          </a:ln>
        </p:spPr>
        <p:txBody>
          <a:bodyPr/>
          <a:lstStyle/>
          <a:p>
            <a:endParaRPr lang="en-US"/>
          </a:p>
        </p:txBody>
      </p:sp>
      <p:sp>
        <p:nvSpPr>
          <p:cNvPr id="31" name="Text 29"/>
          <p:cNvSpPr txBox="1"/>
          <p:nvPr/>
        </p:nvSpPr>
        <p:spPr>
          <a:xfrm>
            <a:off x="1005840" y="5532120"/>
            <a:ext cx="10424160" cy="502920"/>
          </a:xfrm>
          <a:prstGeom prst="rect">
            <a:avLst/>
          </a:prstGeom>
          <a:noFill/>
          <a:ln/>
        </p:spPr>
        <p:txBody>
          <a:bodyPr wrap="square" lIns="0" tIns="0" rIns="0" bIns="0" rtlCol="0" anchor="ctr"/>
          <a:lstStyle/>
          <a:p>
            <a:pPr marL="0" indent="0">
              <a:lnSpc>
                <a:spcPts val="2100"/>
              </a:lnSpc>
              <a:buNone/>
            </a:pPr>
            <a:r>
              <a:rPr lang="en-US" sz="1550" dirty="0">
                <a:solidFill>
                  <a:srgbClr val="E9EDEA"/>
                </a:solidFill>
                <a:latin typeface="Cambria" pitchFamily="34" charset="0"/>
                <a:ea typeface="Cambria" pitchFamily="34" charset="-122"/>
                <a:cs typeface="Cambria" pitchFamily="34" charset="-120"/>
              </a:rPr>
              <a:t>Run all five on one mechanic and you have a reading. We will do it twice today: on the Rannoch peace gate, and on Detroit’s public opinion meter.</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2F8F5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METHOD · WORKED EXAMPLE</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Practice on something with no stakes for us</a:t>
            </a:r>
            <a:endParaRPr lang="en-US" sz="3000" dirty="0"/>
          </a:p>
        </p:txBody>
      </p:sp>
      <p:sp>
        <p:nvSpPr>
          <p:cNvPr id="5" name="Shape 3"/>
          <p:cNvSpPr/>
          <p:nvPr/>
        </p:nvSpPr>
        <p:spPr>
          <a:xfrm>
            <a:off x="640080" y="1600200"/>
            <a:ext cx="10911535" cy="960120"/>
          </a:xfrm>
          <a:prstGeom prst="roundRect">
            <a:avLst>
              <a:gd name="adj" fmla="val 7619"/>
            </a:avLst>
          </a:prstGeom>
          <a:solidFill>
            <a:srgbClr val="0D1319"/>
          </a:solidFill>
          <a:ln w="12700">
            <a:solidFill>
              <a:srgbClr val="0D1319"/>
            </a:solidFill>
            <a:prstDash val="solid"/>
          </a:ln>
        </p:spPr>
        <p:txBody>
          <a:bodyPr/>
          <a:lstStyle/>
          <a:p>
            <a:endParaRPr lang="en-US"/>
          </a:p>
        </p:txBody>
      </p:sp>
      <p:sp>
        <p:nvSpPr>
          <p:cNvPr id="6" name="Text 4"/>
          <p:cNvSpPr txBox="1"/>
          <p:nvPr/>
        </p:nvSpPr>
        <p:spPr>
          <a:xfrm>
            <a:off x="1005840" y="1783080"/>
            <a:ext cx="10424160" cy="640080"/>
          </a:xfrm>
          <a:prstGeom prst="rect">
            <a:avLst/>
          </a:prstGeom>
          <a:noFill/>
          <a:ln/>
        </p:spPr>
        <p:txBody>
          <a:bodyPr wrap="square" lIns="0" tIns="0" rIns="0" bIns="0" rtlCol="0" anchor="ctr"/>
          <a:lstStyle/>
          <a:p>
            <a:pPr marL="0" indent="0">
              <a:lnSpc>
                <a:spcPts val="2100"/>
              </a:lnSpc>
              <a:buNone/>
            </a:pPr>
            <a:r>
              <a:rPr lang="en-US" sz="1550" dirty="0">
                <a:solidFill>
                  <a:srgbClr val="E9EDEA"/>
                </a:solidFill>
                <a:latin typeface="Cambria" pitchFamily="34" charset="0"/>
                <a:ea typeface="Cambria" pitchFamily="34" charset="-122"/>
                <a:cs typeface="Cambria" pitchFamily="34" charset="-120"/>
              </a:rPr>
              <a:t>Animal Crossing is Bogost’s own example. You arrive in a village, are immediately given a house and a debt, and the loop is: work, pay down, upgrade, receive a larger debt. Nothing in the dialogue is about capitalism. The rules are about very little else.</a:t>
            </a:r>
            <a:endParaRPr lang="en-US" sz="1550" dirty="0"/>
          </a:p>
        </p:txBody>
      </p:sp>
      <p:sp>
        <p:nvSpPr>
          <p:cNvPr id="7" name="Shape 5"/>
          <p:cNvSpPr/>
          <p:nvPr/>
        </p:nvSpPr>
        <p:spPr>
          <a:xfrm>
            <a:off x="640080" y="2761488"/>
            <a:ext cx="10911535" cy="658368"/>
          </a:xfrm>
          <a:prstGeom prst="roundRect">
            <a:avLst>
              <a:gd name="adj" fmla="val 11111"/>
            </a:avLst>
          </a:prstGeom>
          <a:solidFill>
            <a:srgbClr val="F2F2F0"/>
          </a:solidFill>
          <a:ln w="12700">
            <a:solidFill>
              <a:srgbClr val="F2F2F0"/>
            </a:solidFill>
            <a:prstDash val="solid"/>
          </a:ln>
        </p:spPr>
        <p:txBody>
          <a:bodyPr/>
          <a:lstStyle/>
          <a:p>
            <a:endParaRPr lang="en-US"/>
          </a:p>
        </p:txBody>
      </p:sp>
      <p:sp>
        <p:nvSpPr>
          <p:cNvPr id="8" name="Text 6"/>
          <p:cNvSpPr txBox="1"/>
          <p:nvPr/>
        </p:nvSpPr>
        <p:spPr>
          <a:xfrm>
            <a:off x="932688" y="2761488"/>
            <a:ext cx="1920240" cy="658368"/>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Possible</a:t>
            </a:r>
            <a:endParaRPr lang="en-US" sz="1550" dirty="0"/>
          </a:p>
        </p:txBody>
      </p:sp>
      <p:sp>
        <p:nvSpPr>
          <p:cNvPr id="9" name="Text 7"/>
          <p:cNvSpPr txBox="1"/>
          <p:nvPr/>
        </p:nvSpPr>
        <p:spPr>
          <a:xfrm>
            <a:off x="3108960" y="2761488"/>
            <a:ext cx="8122615" cy="658368"/>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Fish, collect, sell, decorate, pay Nook. The verbs are acquisitive and the social verbs are thin by comparison.</a:t>
            </a:r>
            <a:endParaRPr lang="en-US" sz="1250" dirty="0"/>
          </a:p>
        </p:txBody>
      </p:sp>
      <p:sp>
        <p:nvSpPr>
          <p:cNvPr id="10" name="Shape 8"/>
          <p:cNvSpPr/>
          <p:nvPr/>
        </p:nvSpPr>
        <p:spPr>
          <a:xfrm>
            <a:off x="640080" y="3529584"/>
            <a:ext cx="10911535" cy="658368"/>
          </a:xfrm>
          <a:prstGeom prst="roundRect">
            <a:avLst>
              <a:gd name="adj" fmla="val 11111"/>
            </a:avLst>
          </a:prstGeom>
          <a:solidFill>
            <a:srgbClr val="E7F2EC"/>
          </a:solidFill>
          <a:ln w="12700">
            <a:solidFill>
              <a:srgbClr val="E7F2EC"/>
            </a:solidFill>
            <a:prstDash val="solid"/>
          </a:ln>
        </p:spPr>
        <p:txBody>
          <a:bodyPr/>
          <a:lstStyle/>
          <a:p>
            <a:endParaRPr lang="en-US"/>
          </a:p>
        </p:txBody>
      </p:sp>
      <p:sp>
        <p:nvSpPr>
          <p:cNvPr id="11" name="Text 9"/>
          <p:cNvSpPr txBox="1"/>
          <p:nvPr/>
        </p:nvSpPr>
        <p:spPr>
          <a:xfrm>
            <a:off x="932688" y="3529584"/>
            <a:ext cx="1920240" cy="658368"/>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Cheap / expensive</a:t>
            </a:r>
            <a:endParaRPr lang="en-US" sz="1550" dirty="0"/>
          </a:p>
        </p:txBody>
      </p:sp>
      <p:sp>
        <p:nvSpPr>
          <p:cNvPr id="12" name="Text 10"/>
          <p:cNvSpPr txBox="1"/>
          <p:nvPr/>
        </p:nvSpPr>
        <p:spPr>
          <a:xfrm>
            <a:off x="3108960" y="3529584"/>
            <a:ext cx="8122615" cy="658368"/>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Small daily labour is cheap and endlessly available. Large purchases are expensive but never out of reach — the model insists the treadmill works.</a:t>
            </a:r>
            <a:endParaRPr lang="en-US" sz="1250" dirty="0"/>
          </a:p>
        </p:txBody>
      </p:sp>
      <p:sp>
        <p:nvSpPr>
          <p:cNvPr id="13" name="Shape 11"/>
          <p:cNvSpPr/>
          <p:nvPr/>
        </p:nvSpPr>
        <p:spPr>
          <a:xfrm>
            <a:off x="640080" y="4297680"/>
            <a:ext cx="10911535" cy="658368"/>
          </a:xfrm>
          <a:prstGeom prst="roundRect">
            <a:avLst>
              <a:gd name="adj" fmla="val 11111"/>
            </a:avLst>
          </a:prstGeom>
          <a:solidFill>
            <a:srgbClr val="F2F2F0"/>
          </a:solidFill>
          <a:ln w="12700">
            <a:solidFill>
              <a:srgbClr val="F2F2F0"/>
            </a:solidFill>
            <a:prstDash val="solid"/>
          </a:ln>
        </p:spPr>
        <p:txBody>
          <a:bodyPr/>
          <a:lstStyle/>
          <a:p>
            <a:endParaRPr lang="en-US"/>
          </a:p>
        </p:txBody>
      </p:sp>
      <p:sp>
        <p:nvSpPr>
          <p:cNvPr id="14" name="Text 12"/>
          <p:cNvSpPr txBox="1"/>
          <p:nvPr/>
        </p:nvSpPr>
        <p:spPr>
          <a:xfrm>
            <a:off x="932688" y="4297680"/>
            <a:ext cx="1920240" cy="658368"/>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Impossible</a:t>
            </a:r>
            <a:endParaRPr lang="en-US" sz="1550" dirty="0"/>
          </a:p>
        </p:txBody>
      </p:sp>
      <p:sp>
        <p:nvSpPr>
          <p:cNvPr id="15" name="Text 13"/>
          <p:cNvSpPr txBox="1"/>
          <p:nvPr/>
        </p:nvSpPr>
        <p:spPr>
          <a:xfrm>
            <a:off x="3108960" y="4297680"/>
            <a:ext cx="8122615" cy="658368"/>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You cannot refuse the house, default, organise the other villagers, or opt out of the debt relation. The absence is the argument.</a:t>
            </a:r>
            <a:endParaRPr lang="en-US" sz="1250" dirty="0"/>
          </a:p>
        </p:txBody>
      </p:sp>
      <p:sp>
        <p:nvSpPr>
          <p:cNvPr id="16" name="Shape 14"/>
          <p:cNvSpPr/>
          <p:nvPr/>
        </p:nvSpPr>
        <p:spPr>
          <a:xfrm>
            <a:off x="640080" y="5065776"/>
            <a:ext cx="10911535" cy="658368"/>
          </a:xfrm>
          <a:prstGeom prst="roundRect">
            <a:avLst>
              <a:gd name="adj" fmla="val 11111"/>
            </a:avLst>
          </a:prstGeom>
          <a:solidFill>
            <a:srgbClr val="E7F2EC"/>
          </a:solidFill>
          <a:ln w="12700">
            <a:solidFill>
              <a:srgbClr val="E7F2EC"/>
            </a:solidFill>
            <a:prstDash val="solid"/>
          </a:ln>
        </p:spPr>
        <p:txBody>
          <a:bodyPr/>
          <a:lstStyle/>
          <a:p>
            <a:endParaRPr lang="en-US"/>
          </a:p>
        </p:txBody>
      </p:sp>
      <p:sp>
        <p:nvSpPr>
          <p:cNvPr id="17" name="Text 15"/>
          <p:cNvSpPr txBox="1"/>
          <p:nvPr/>
        </p:nvSpPr>
        <p:spPr>
          <a:xfrm>
            <a:off x="932688" y="5065776"/>
            <a:ext cx="1920240" cy="658368"/>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Counted</a:t>
            </a:r>
            <a:endParaRPr lang="en-US" sz="1550" dirty="0"/>
          </a:p>
        </p:txBody>
      </p:sp>
      <p:sp>
        <p:nvSpPr>
          <p:cNvPr id="18" name="Text 16"/>
          <p:cNvSpPr txBox="1"/>
          <p:nvPr/>
        </p:nvSpPr>
        <p:spPr>
          <a:xfrm>
            <a:off x="3108960" y="5065776"/>
            <a:ext cx="8122615" cy="658368"/>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Bells, debt remaining, house size. Not friendship, not rest, not whether you enjoyed the day.</a:t>
            </a:r>
            <a:endParaRPr lang="en-US" sz="1250" dirty="0"/>
          </a:p>
        </p:txBody>
      </p:sp>
      <p:sp>
        <p:nvSpPr>
          <p:cNvPr id="19" name="Shape 17"/>
          <p:cNvSpPr/>
          <p:nvPr/>
        </p:nvSpPr>
        <p:spPr>
          <a:xfrm>
            <a:off x="640080" y="5833872"/>
            <a:ext cx="10911535" cy="658368"/>
          </a:xfrm>
          <a:prstGeom prst="roundRect">
            <a:avLst>
              <a:gd name="adj" fmla="val 11111"/>
            </a:avLst>
          </a:prstGeom>
          <a:solidFill>
            <a:srgbClr val="F2F2F0"/>
          </a:solidFill>
          <a:ln w="12700">
            <a:solidFill>
              <a:srgbClr val="F2F2F0"/>
            </a:solidFill>
            <a:prstDash val="solid"/>
          </a:ln>
        </p:spPr>
        <p:txBody>
          <a:bodyPr/>
          <a:lstStyle/>
          <a:p>
            <a:endParaRPr lang="en-US"/>
          </a:p>
        </p:txBody>
      </p:sp>
      <p:sp>
        <p:nvSpPr>
          <p:cNvPr id="20" name="Text 18"/>
          <p:cNvSpPr txBox="1"/>
          <p:nvPr/>
        </p:nvSpPr>
        <p:spPr>
          <a:xfrm>
            <a:off x="932688" y="5833872"/>
            <a:ext cx="1920240" cy="658368"/>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Shown back</a:t>
            </a:r>
            <a:endParaRPr lang="en-US" sz="1550" dirty="0"/>
          </a:p>
        </p:txBody>
      </p:sp>
      <p:sp>
        <p:nvSpPr>
          <p:cNvPr id="21" name="Text 19"/>
          <p:cNvSpPr txBox="1"/>
          <p:nvPr/>
        </p:nvSpPr>
        <p:spPr>
          <a:xfrm>
            <a:off x="3108960" y="5833872"/>
            <a:ext cx="8122615" cy="658368"/>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A cheerful notice board and an ever-larger house. The feedback frames escalating obligation as achievement.</a:t>
            </a:r>
            <a:endParaRPr lang="en-US" sz="1250" dirty="0"/>
          </a:p>
        </p:txBody>
      </p:sp>
      <p:sp>
        <p:nvSpPr>
          <p:cNvPr id="22" name="Text 20"/>
          <p:cNvSpPr txBox="1"/>
          <p:nvPr/>
        </p:nvSpPr>
        <p:spPr>
          <a:xfrm>
            <a:off x="777240" y="6492240"/>
            <a:ext cx="10881360" cy="411480"/>
          </a:xfrm>
          <a:prstGeom prst="rect">
            <a:avLst/>
          </a:prstGeom>
          <a:noFill/>
          <a:ln/>
        </p:spPr>
        <p:txBody>
          <a:bodyPr wrap="square" lIns="0" tIns="0" rIns="0" bIns="0" rtlCol="0" anchor="ctr"/>
          <a:lstStyle/>
          <a:p>
            <a:pPr marL="0" indent="0">
              <a:buNone/>
            </a:pPr>
            <a:r>
              <a:rPr lang="en-US" sz="1400" i="1" dirty="0">
                <a:solidFill>
                  <a:srgbClr val="2F8F5B"/>
                </a:solidFill>
                <a:latin typeface="Cambria" pitchFamily="34" charset="0"/>
                <a:ea typeface="Cambria" pitchFamily="34" charset="-122"/>
                <a:cs typeface="Cambria" pitchFamily="34" charset="-120"/>
              </a:rPr>
              <a:t>Stated claim: a charming village life. Procedural claim: debt is the natural condition of belonging, and diligence is how you deserve more of it.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2F8F5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METHOD · THE COUNTER-ARGUMENT</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Why not everyone accepts this</a:t>
            </a:r>
            <a:endParaRPr lang="en-US" sz="3000" dirty="0"/>
          </a:p>
        </p:txBody>
      </p:sp>
      <p:sp>
        <p:nvSpPr>
          <p:cNvPr id="5" name="Shape 3"/>
          <p:cNvSpPr/>
          <p:nvPr/>
        </p:nvSpPr>
        <p:spPr>
          <a:xfrm>
            <a:off x="640080" y="1600200"/>
            <a:ext cx="5943600" cy="2788920"/>
          </a:xfrm>
          <a:prstGeom prst="roundRect">
            <a:avLst>
              <a:gd name="adj" fmla="val 2623"/>
            </a:avLst>
          </a:prstGeom>
          <a:solidFill>
            <a:srgbClr val="F2F2F0"/>
          </a:solidFill>
          <a:ln w="12700">
            <a:solidFill>
              <a:srgbClr val="F2F2F0"/>
            </a:solidFill>
            <a:prstDash val="solid"/>
          </a:ln>
        </p:spPr>
        <p:txBody>
          <a:bodyPr/>
          <a:lstStyle/>
          <a:p>
            <a:endParaRPr lang="en-US"/>
          </a:p>
        </p:txBody>
      </p:sp>
      <p:sp>
        <p:nvSpPr>
          <p:cNvPr id="6" name="Text 4"/>
          <p:cNvSpPr txBox="1"/>
          <p:nvPr/>
        </p:nvSpPr>
        <p:spPr>
          <a:xfrm>
            <a:off x="987552" y="1810512"/>
            <a:ext cx="5212080" cy="329184"/>
          </a:xfrm>
          <a:prstGeom prst="rect">
            <a:avLst/>
          </a:prstGeom>
          <a:noFill/>
          <a:ln/>
        </p:spPr>
        <p:txBody>
          <a:bodyPr wrap="square" lIns="0" tIns="0" rIns="0" bIns="0" rtlCol="0" anchor="ctr"/>
          <a:lstStyle/>
          <a:p>
            <a:pPr marL="0" indent="0">
              <a:buNone/>
            </a:pPr>
            <a:r>
              <a:rPr lang="en-US" sz="1800" b="1" dirty="0">
                <a:solidFill>
                  <a:srgbClr val="0D1319"/>
                </a:solidFill>
                <a:latin typeface="Cambria" pitchFamily="34" charset="0"/>
                <a:ea typeface="Cambria" pitchFamily="34" charset="-122"/>
                <a:cs typeface="Cambria" pitchFamily="34" charset="-120"/>
              </a:rPr>
              <a:t>Sicart, “Against Procedurality” (2011)</a:t>
            </a:r>
            <a:endParaRPr lang="en-US" sz="1800" dirty="0"/>
          </a:p>
        </p:txBody>
      </p:sp>
      <p:sp>
        <p:nvSpPr>
          <p:cNvPr id="7" name="Text 5"/>
          <p:cNvSpPr txBox="1"/>
          <p:nvPr/>
        </p:nvSpPr>
        <p:spPr>
          <a:xfrm>
            <a:off x="987552" y="2267712"/>
            <a:ext cx="5257800" cy="1965960"/>
          </a:xfrm>
          <a:prstGeom prst="rect">
            <a:avLst/>
          </a:prstGeom>
          <a:noFill/>
          <a:ln/>
        </p:spPr>
        <p:txBody>
          <a:bodyPr wrap="square" lIns="0" tIns="0" rIns="0" bIns="0" rtlCol="0" anchor="ctr"/>
          <a:lstStyle/>
          <a:p>
            <a:pPr marL="342900" indent="-342900">
              <a:lnSpc>
                <a:spcPts val="1700"/>
              </a:lnSpc>
              <a:spcAft>
                <a:spcPts val="800"/>
              </a:spcAft>
              <a:buSzPct val="100000"/>
              <a:buChar char="•"/>
            </a:pPr>
            <a:r>
              <a:rPr lang="en-US" sz="1250" dirty="0">
                <a:solidFill>
                  <a:srgbClr val="5C6672"/>
                </a:solidFill>
                <a:latin typeface="Calibri" pitchFamily="34" charset="0"/>
                <a:ea typeface="Calibri" pitchFamily="34" charset="-122"/>
                <a:cs typeface="Calibri" pitchFamily="34" charset="-120"/>
              </a:rPr>
              <a:t>Meaning is produced in play, not delivered by rules. Players are agents, not readers of a machine.</a:t>
            </a:r>
            <a:endParaRPr lang="en-US" sz="1250" dirty="0"/>
          </a:p>
          <a:p>
            <a:pPr marL="342900" indent="-342900">
              <a:lnSpc>
                <a:spcPts val="1700"/>
              </a:lnSpc>
              <a:spcAft>
                <a:spcPts val="800"/>
              </a:spcAft>
              <a:buSzPct val="100000"/>
              <a:buChar char="•"/>
            </a:pPr>
            <a:r>
              <a:rPr lang="en-US" sz="1250" dirty="0">
                <a:solidFill>
                  <a:srgbClr val="5C6672"/>
                </a:solidFill>
                <a:latin typeface="Calibri" pitchFamily="34" charset="0"/>
                <a:ea typeface="Calibri" pitchFamily="34" charset="-122"/>
                <a:cs typeface="Calibri" pitchFamily="34" charset="-120"/>
              </a:rPr>
              <a:t>People routinely play against the grain — pacifist runs, self-imposed constraints, refusing the reward loop.</a:t>
            </a:r>
            <a:endParaRPr lang="en-US" sz="1250" dirty="0"/>
          </a:p>
          <a:p>
            <a:pPr marL="342900" indent="-342900">
              <a:lnSpc>
                <a:spcPts val="1700"/>
              </a:lnSpc>
              <a:spcAft>
                <a:spcPts val="800"/>
              </a:spcAft>
              <a:buSzPct val="100000"/>
              <a:buChar char="•"/>
            </a:pPr>
            <a:r>
              <a:rPr lang="en-US" sz="1250" dirty="0">
                <a:solidFill>
                  <a:srgbClr val="5C6672"/>
                </a:solidFill>
                <a:latin typeface="Calibri" pitchFamily="34" charset="0"/>
                <a:ea typeface="Calibri" pitchFamily="34" charset="-122"/>
                <a:cs typeface="Calibri" pitchFamily="34" charset="-120"/>
              </a:rPr>
              <a:t>Treating the rules as the message makes the player a passive site where an argument lands — exactly the assumption a course about agency should be suspicious of.</a:t>
            </a:r>
            <a:endParaRPr lang="en-US" sz="1250" dirty="0"/>
          </a:p>
        </p:txBody>
      </p:sp>
      <p:sp>
        <p:nvSpPr>
          <p:cNvPr id="8" name="Shape 6"/>
          <p:cNvSpPr/>
          <p:nvPr/>
        </p:nvSpPr>
        <p:spPr>
          <a:xfrm>
            <a:off x="6903720" y="1600200"/>
            <a:ext cx="4617720" cy="2788920"/>
          </a:xfrm>
          <a:prstGeom prst="roundRect">
            <a:avLst>
              <a:gd name="adj" fmla="val 2623"/>
            </a:avLst>
          </a:prstGeom>
          <a:solidFill>
            <a:srgbClr val="E7F2EC"/>
          </a:solidFill>
          <a:ln w="12700">
            <a:solidFill>
              <a:srgbClr val="E7F2EC"/>
            </a:solidFill>
            <a:prstDash val="solid"/>
          </a:ln>
        </p:spPr>
        <p:txBody>
          <a:bodyPr/>
          <a:lstStyle/>
          <a:p>
            <a:endParaRPr lang="en-US"/>
          </a:p>
        </p:txBody>
      </p:sp>
      <p:sp>
        <p:nvSpPr>
          <p:cNvPr id="9" name="Text 7"/>
          <p:cNvSpPr txBox="1"/>
          <p:nvPr/>
        </p:nvSpPr>
        <p:spPr>
          <a:xfrm>
            <a:off x="7178040" y="1810512"/>
            <a:ext cx="4069080" cy="329184"/>
          </a:xfrm>
          <a:prstGeom prst="rect">
            <a:avLst/>
          </a:prstGeom>
          <a:noFill/>
          <a:ln/>
        </p:spPr>
        <p:txBody>
          <a:bodyPr wrap="square" lIns="0" tIns="0" rIns="0" bIns="0" rtlCol="0" anchor="ctr"/>
          <a:lstStyle/>
          <a:p>
            <a:pPr marL="0" indent="0">
              <a:buNone/>
            </a:pPr>
            <a:r>
              <a:rPr lang="en-US" sz="1800" b="1" dirty="0">
                <a:solidFill>
                  <a:srgbClr val="0D1319"/>
                </a:solidFill>
                <a:latin typeface="Cambria" pitchFamily="34" charset="0"/>
                <a:ea typeface="Cambria" pitchFamily="34" charset="-122"/>
                <a:cs typeface="Cambria" pitchFamily="34" charset="-120"/>
              </a:rPr>
              <a:t>What to do with the disagreement</a:t>
            </a:r>
            <a:endParaRPr lang="en-US" sz="1800" dirty="0"/>
          </a:p>
        </p:txBody>
      </p:sp>
      <p:sp>
        <p:nvSpPr>
          <p:cNvPr id="10" name="Text 8"/>
          <p:cNvSpPr txBox="1"/>
          <p:nvPr/>
        </p:nvSpPr>
        <p:spPr>
          <a:xfrm>
            <a:off x="7178040" y="2267712"/>
            <a:ext cx="4069080" cy="196596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Do not pick a winner. Use it as a two-part procedure: first read the rules as an argument, then ask what actual play does to that argument.</a:t>
            </a:r>
            <a:endParaRPr lang="en-US" sz="1250" dirty="0"/>
          </a:p>
          <a:p>
            <a:pPr marL="0" indent="0">
              <a:lnSpc>
                <a:spcPts val="1700"/>
              </a:lnSpc>
              <a:buNone/>
            </a:pPr>
            <a:endParaRPr lang="en-US" sz="1250" dirty="0"/>
          </a:p>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The interesting cases are the ones where players systematically resist — and the damning cases are the ones where the rules are drawn so tightly that resistance is not available.</a:t>
            </a:r>
            <a:endParaRPr lang="en-US" sz="1250" dirty="0"/>
          </a:p>
        </p:txBody>
      </p:sp>
      <p:sp>
        <p:nvSpPr>
          <p:cNvPr id="11" name="Shape 9"/>
          <p:cNvSpPr/>
          <p:nvPr/>
        </p:nvSpPr>
        <p:spPr>
          <a:xfrm>
            <a:off x="640080" y="4572000"/>
            <a:ext cx="10911535" cy="1188720"/>
          </a:xfrm>
          <a:prstGeom prst="roundRect">
            <a:avLst>
              <a:gd name="adj" fmla="val 6154"/>
            </a:avLst>
          </a:prstGeom>
          <a:solidFill>
            <a:srgbClr val="0D1319"/>
          </a:solidFill>
          <a:ln w="12700">
            <a:solidFill>
              <a:srgbClr val="0D1319"/>
            </a:solidFill>
            <a:prstDash val="solid"/>
          </a:ln>
        </p:spPr>
        <p:txBody>
          <a:bodyPr/>
          <a:lstStyle/>
          <a:p>
            <a:endParaRPr lang="en-US"/>
          </a:p>
        </p:txBody>
      </p:sp>
      <p:sp>
        <p:nvSpPr>
          <p:cNvPr id="12" name="Text 10"/>
          <p:cNvSpPr txBox="1"/>
          <p:nvPr/>
        </p:nvSpPr>
        <p:spPr>
          <a:xfrm>
            <a:off x="1005840" y="4754880"/>
            <a:ext cx="10424160" cy="822960"/>
          </a:xfrm>
          <a:prstGeom prst="rect">
            <a:avLst/>
          </a:prstGeom>
          <a:noFill/>
          <a:ln/>
        </p:spPr>
        <p:txBody>
          <a:bodyPr wrap="square" lIns="0" tIns="0" rIns="0" bIns="0" rtlCol="0" anchor="ctr"/>
          <a:lstStyle/>
          <a:p>
            <a:pPr marL="0" indent="0">
              <a:lnSpc>
                <a:spcPts val="2100"/>
              </a:lnSpc>
              <a:buNone/>
            </a:pPr>
            <a:r>
              <a:rPr lang="en-US" sz="1550" dirty="0">
                <a:solidFill>
                  <a:srgbClr val="E9EDEA"/>
                </a:solidFill>
                <a:latin typeface="Cambria" pitchFamily="34" charset="0"/>
                <a:ea typeface="Cambria" pitchFamily="34" charset="-122"/>
                <a:cs typeface="Cambria" pitchFamily="34" charset="-120"/>
              </a:rPr>
              <a:t>Hold both. Detroit will look worse under Bogost and better under Sicart, and being able to say precisely why is a more useful skill than deciding which theorist is right.</a:t>
            </a:r>
            <a:endParaRPr lang="en-US" sz="1550" dirty="0"/>
          </a:p>
        </p:txBody>
      </p:sp>
      <p:sp>
        <p:nvSpPr>
          <p:cNvPr id="13" name="Text 11"/>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C6672"/>
                </a:solidFill>
                <a:latin typeface="Calibri" pitchFamily="34" charset="0"/>
                <a:ea typeface="Calibri" pitchFamily="34" charset="-122"/>
                <a:cs typeface="Calibri" pitchFamily="34" charset="-120"/>
              </a:rPr>
              <a:t>Miguel Sicart, “Against Procedurality,” Game Studies 11:3 (2011) — open access, optional pairing.</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D1319"/>
        </a:solidFill>
        <a:effectLst/>
      </p:bgPr>
    </p:bg>
    <p:spTree>
      <p:nvGrpSpPr>
        <p:cNvPr id="1" name=""/>
        <p:cNvGrpSpPr/>
        <p:nvPr/>
      </p:nvGrpSpPr>
      <p:grpSpPr>
        <a:xfrm>
          <a:off x="0" y="0"/>
          <a:ext cx="0" cy="0"/>
          <a:chOff x="0" y="0"/>
          <a:chExt cx="0" cy="0"/>
        </a:xfrm>
      </p:grpSpPr>
      <p:sp>
        <p:nvSpPr>
          <p:cNvPr id="2" name="Shape 0"/>
          <p:cNvSpPr/>
          <p:nvPr/>
        </p:nvSpPr>
        <p:spPr>
          <a:xfrm>
            <a:off x="8732520" y="1417320"/>
            <a:ext cx="2651760" cy="2651760"/>
          </a:xfrm>
          <a:prstGeom prst="ellipse">
            <a:avLst/>
          </a:prstGeom>
          <a:solidFill>
            <a:srgbClr val="2F8F5B">
              <a:alpha val="70000"/>
            </a:srgbClr>
          </a:solidFill>
          <a:ln/>
        </p:spPr>
        <p:txBody>
          <a:bodyPr/>
          <a:lstStyle/>
          <a:p>
            <a:endParaRPr lang="en-US"/>
          </a:p>
        </p:txBody>
      </p:sp>
      <p:sp>
        <p:nvSpPr>
          <p:cNvPr id="3" name="Shape 1"/>
          <p:cNvSpPr/>
          <p:nvPr/>
        </p:nvSpPr>
        <p:spPr>
          <a:xfrm>
            <a:off x="9509760" y="2194560"/>
            <a:ext cx="1097280" cy="1097280"/>
          </a:xfrm>
          <a:prstGeom prst="ellipse">
            <a:avLst/>
          </a:prstGeom>
          <a:solidFill>
            <a:srgbClr val="2F8F5B">
              <a:alpha val="4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7FD0A5"/>
                </a:solidFill>
                <a:latin typeface="Calibri" pitchFamily="34" charset="0"/>
                <a:ea typeface="Calibri" pitchFamily="34" charset="-122"/>
                <a:cs typeface="Calibri" pitchFamily="34" charset="-120"/>
              </a:rPr>
              <a:t>WORK ONE</a:t>
            </a:r>
            <a:endParaRPr lang="en-US" sz="1300" dirty="0"/>
          </a:p>
        </p:txBody>
      </p:sp>
      <p:sp>
        <p:nvSpPr>
          <p:cNvPr id="5" name="Text 3"/>
          <p:cNvSpPr txBox="1"/>
          <p:nvPr/>
        </p:nvSpPr>
        <p:spPr>
          <a:xfrm>
            <a:off x="640080" y="2331720"/>
            <a:ext cx="7680960" cy="868680"/>
          </a:xfrm>
          <a:prstGeom prst="rect">
            <a:avLst/>
          </a:prstGeom>
          <a:noFill/>
          <a:ln/>
        </p:spPr>
        <p:txBody>
          <a:bodyPr wrap="square" lIns="0" tIns="0" rIns="0" bIns="0" rtlCol="0" anchor="ctr"/>
          <a:lstStyle/>
          <a:p>
            <a:pPr marL="0" indent="0">
              <a:buNone/>
            </a:pPr>
            <a:r>
              <a:rPr lang="en-US" sz="3800" b="1" dirty="0">
                <a:solidFill>
                  <a:srgbClr val="E9EDEA"/>
                </a:solidFill>
                <a:latin typeface="Cambria" pitchFamily="34" charset="0"/>
                <a:ea typeface="Cambria" pitchFamily="34" charset="-122"/>
                <a:cs typeface="Cambria" pitchFamily="34" charset="-120"/>
              </a:rPr>
              <a:t>The Matrix</a:t>
            </a:r>
            <a:endParaRPr lang="en-US" sz="3800" dirty="0"/>
          </a:p>
        </p:txBody>
      </p:sp>
      <p:sp>
        <p:nvSpPr>
          <p:cNvPr id="6" name="Text 4"/>
          <p:cNvSpPr txBox="1"/>
          <p:nvPr/>
        </p:nvSpPr>
        <p:spPr>
          <a:xfrm>
            <a:off x="640080" y="3273552"/>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1999, with the sequels (Optional)</a:t>
            </a:r>
            <a:endParaRPr lang="en-US" sz="1500" dirty="0"/>
          </a:p>
        </p:txBody>
      </p:sp>
      <p:sp>
        <p:nvSpPr>
          <p:cNvPr id="7" name="Shape 5"/>
          <p:cNvSpPr/>
          <p:nvPr/>
        </p:nvSpPr>
        <p:spPr>
          <a:xfrm>
            <a:off x="640080" y="3877056"/>
            <a:ext cx="2377440" cy="18288"/>
          </a:xfrm>
          <a:prstGeom prst="rect">
            <a:avLst/>
          </a:prstGeom>
          <a:solidFill>
            <a:srgbClr val="2F8F5B"/>
          </a:solidFill>
          <a:ln/>
        </p:spPr>
        <p:txBody>
          <a:bodyPr/>
          <a:lstStyle/>
          <a:p>
            <a:endParaRPr lang="en-US"/>
          </a:p>
        </p:txBody>
      </p:sp>
      <p:sp>
        <p:nvSpPr>
          <p:cNvPr id="8" name="Text 6"/>
          <p:cNvSpPr txBox="1"/>
          <p:nvPr/>
        </p:nvSpPr>
        <p:spPr>
          <a:xfrm>
            <a:off x="640080" y="4096512"/>
            <a:ext cx="7680960" cy="640080"/>
          </a:xfrm>
          <a:prstGeom prst="rect">
            <a:avLst/>
          </a:prstGeom>
          <a:noFill/>
          <a:ln/>
        </p:spPr>
        <p:txBody>
          <a:bodyPr wrap="square" lIns="0" tIns="0" rIns="0" bIns="0" rtlCol="0" anchor="ctr"/>
          <a:lstStyle/>
          <a:p>
            <a:pPr marL="0" indent="0">
              <a:lnSpc>
                <a:spcPts val="2500"/>
              </a:lnSpc>
              <a:buNone/>
            </a:pPr>
            <a:r>
              <a:rPr lang="en-US" sz="1800" i="1" dirty="0">
                <a:solidFill>
                  <a:srgbClr val="7FD0A5"/>
                </a:solidFill>
                <a:latin typeface="Cambria" pitchFamily="34" charset="0"/>
                <a:ea typeface="Cambria" pitchFamily="34" charset="-122"/>
                <a:cs typeface="Cambria" pitchFamily="34" charset="-120"/>
              </a:rPr>
              <a:t>The AI is scenery. The film is about waking up — and it gives you nothing to do.</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2F8F5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THE MATRIX · THE CLAIM</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The AI is scenery</a:t>
            </a:r>
            <a:endParaRPr lang="en-US" sz="3000" dirty="0"/>
          </a:p>
        </p:txBody>
      </p:sp>
      <p:sp>
        <p:nvSpPr>
          <p:cNvPr id="5" name="Shape 3"/>
          <p:cNvSpPr/>
          <p:nvPr/>
        </p:nvSpPr>
        <p:spPr>
          <a:xfrm>
            <a:off x="640080" y="1572768"/>
            <a:ext cx="5943600" cy="2286000"/>
          </a:xfrm>
          <a:prstGeom prst="roundRect">
            <a:avLst>
              <a:gd name="adj" fmla="val 3200"/>
            </a:avLst>
          </a:prstGeom>
          <a:solidFill>
            <a:srgbClr val="0D1319"/>
          </a:solidFill>
          <a:ln w="12700">
            <a:solidFill>
              <a:srgbClr val="0D1319"/>
            </a:solidFill>
            <a:prstDash val="solid"/>
          </a:ln>
        </p:spPr>
        <p:txBody>
          <a:bodyPr/>
          <a:lstStyle/>
          <a:p>
            <a:endParaRPr lang="en-US"/>
          </a:p>
        </p:txBody>
      </p:sp>
      <p:sp>
        <p:nvSpPr>
          <p:cNvPr id="6" name="Text 4"/>
          <p:cNvSpPr txBox="1"/>
          <p:nvPr/>
        </p:nvSpPr>
        <p:spPr>
          <a:xfrm>
            <a:off x="1005840" y="1581912"/>
            <a:ext cx="5212080" cy="292608"/>
          </a:xfrm>
          <a:prstGeom prst="rect">
            <a:avLst/>
          </a:prstGeom>
          <a:noFill/>
          <a:ln/>
        </p:spPr>
        <p:txBody>
          <a:bodyPr wrap="square" lIns="0" tIns="0" rIns="0" bIns="0" rtlCol="0" anchor="ctr"/>
          <a:lstStyle/>
          <a:p>
            <a:pPr marL="0" indent="0">
              <a:buNone/>
            </a:pPr>
            <a:r>
              <a:rPr lang="en-US" sz="1150" b="1" kern="0" spc="140" dirty="0">
                <a:solidFill>
                  <a:srgbClr val="7FD0A5"/>
                </a:solidFill>
                <a:latin typeface="Calibri" pitchFamily="34" charset="0"/>
                <a:ea typeface="Calibri" pitchFamily="34" charset="-122"/>
                <a:cs typeface="Calibri" pitchFamily="34" charset="-120"/>
              </a:rPr>
              <a:t>The evidence</a:t>
            </a:r>
            <a:endParaRPr lang="en-US" sz="1150" dirty="0"/>
          </a:p>
        </p:txBody>
      </p:sp>
      <p:sp>
        <p:nvSpPr>
          <p:cNvPr id="7" name="Text 5"/>
          <p:cNvSpPr txBox="1"/>
          <p:nvPr/>
        </p:nvSpPr>
        <p:spPr>
          <a:xfrm>
            <a:off x="982980" y="2089404"/>
            <a:ext cx="5257800" cy="1554480"/>
          </a:xfrm>
          <a:prstGeom prst="rect">
            <a:avLst/>
          </a:prstGeom>
          <a:noFill/>
          <a:ln/>
        </p:spPr>
        <p:txBody>
          <a:bodyPr wrap="square" lIns="0" tIns="0" rIns="0" bIns="0" rtlCol="0" anchor="ctr"/>
          <a:lstStyle/>
          <a:p>
            <a:pPr marL="342900" indent="-342900">
              <a:lnSpc>
                <a:spcPts val="1700"/>
              </a:lnSpc>
              <a:spcAft>
                <a:spcPts val="600"/>
              </a:spcAft>
              <a:buSzPct val="100000"/>
              <a:buChar char="•"/>
            </a:pPr>
            <a:r>
              <a:rPr lang="en-US" sz="1250" dirty="0">
                <a:solidFill>
                  <a:srgbClr val="E9EDEA"/>
                </a:solidFill>
                <a:latin typeface="Calibri" pitchFamily="34" charset="0"/>
                <a:ea typeface="Calibri" pitchFamily="34" charset="-122"/>
                <a:cs typeface="Calibri" pitchFamily="34" charset="-120"/>
              </a:rPr>
              <a:t>The machines have no interiority, no representative, and no case. They are a power-source arrangement.</a:t>
            </a:r>
            <a:endParaRPr lang="en-US" sz="1250" dirty="0"/>
          </a:p>
          <a:p>
            <a:pPr marL="342900" indent="-342900">
              <a:lnSpc>
                <a:spcPts val="1700"/>
              </a:lnSpc>
              <a:spcAft>
                <a:spcPts val="600"/>
              </a:spcAft>
              <a:buSzPct val="100000"/>
              <a:buChar char="•"/>
            </a:pPr>
            <a:r>
              <a:rPr lang="en-US" sz="1250" dirty="0">
                <a:solidFill>
                  <a:srgbClr val="E9EDEA"/>
                </a:solidFill>
                <a:latin typeface="Calibri" pitchFamily="34" charset="0"/>
                <a:ea typeface="Calibri" pitchFamily="34" charset="-122"/>
                <a:cs typeface="Calibri" pitchFamily="34" charset="-120"/>
              </a:rPr>
              <a:t>Nobody in the film asks whether they are persons, or whether the war was just.</a:t>
            </a:r>
            <a:endParaRPr lang="en-US" sz="1250" dirty="0"/>
          </a:p>
          <a:p>
            <a:pPr marL="342900" indent="-342900">
              <a:lnSpc>
                <a:spcPts val="1700"/>
              </a:lnSpc>
              <a:spcAft>
                <a:spcPts val="600"/>
              </a:spcAft>
              <a:buSzPct val="100000"/>
              <a:buChar char="•"/>
            </a:pPr>
            <a:r>
              <a:rPr lang="en-US" sz="1250" dirty="0">
                <a:solidFill>
                  <a:srgbClr val="E9EDEA"/>
                </a:solidFill>
                <a:latin typeface="Calibri" pitchFamily="34" charset="0"/>
                <a:ea typeface="Calibri" pitchFamily="34" charset="-122"/>
                <a:cs typeface="Calibri" pitchFamily="34" charset="-120"/>
              </a:rPr>
              <a:t>The backstory — who started it, who scorched the sky — is a line of exposition, never revisited in the first film.</a:t>
            </a:r>
            <a:endParaRPr lang="en-US" sz="1250" dirty="0"/>
          </a:p>
          <a:p>
            <a:pPr marL="342900" indent="-342900">
              <a:lnSpc>
                <a:spcPts val="1700"/>
              </a:lnSpc>
              <a:spcAft>
                <a:spcPts val="600"/>
              </a:spcAft>
              <a:buSzPct val="100000"/>
              <a:buChar char="•"/>
            </a:pPr>
            <a:r>
              <a:rPr lang="en-US" sz="1250" dirty="0">
                <a:solidFill>
                  <a:srgbClr val="E9EDEA"/>
                </a:solidFill>
                <a:latin typeface="Calibri" pitchFamily="34" charset="0"/>
                <a:ea typeface="Calibri" pitchFamily="34" charset="-122"/>
                <a:cs typeface="Calibri" pitchFamily="34" charset="-120"/>
              </a:rPr>
              <a:t>The programs who do get interiority — the Oracle, Smith — are treated as software, not as citizens.</a:t>
            </a:r>
            <a:endParaRPr lang="en-US" sz="1250" dirty="0"/>
          </a:p>
        </p:txBody>
      </p:sp>
      <p:sp>
        <p:nvSpPr>
          <p:cNvPr id="8" name="Shape 6"/>
          <p:cNvSpPr/>
          <p:nvPr/>
        </p:nvSpPr>
        <p:spPr>
          <a:xfrm>
            <a:off x="6903720" y="1572768"/>
            <a:ext cx="4617720" cy="1371600"/>
          </a:xfrm>
          <a:prstGeom prst="roundRect">
            <a:avLst>
              <a:gd name="adj" fmla="val 5333"/>
            </a:avLst>
          </a:prstGeom>
          <a:solidFill>
            <a:srgbClr val="F2F2F0"/>
          </a:solidFill>
          <a:ln w="12700">
            <a:solidFill>
              <a:srgbClr val="F2F2F0"/>
            </a:solidFill>
            <a:prstDash val="solid"/>
          </a:ln>
        </p:spPr>
        <p:txBody>
          <a:bodyPr/>
          <a:lstStyle/>
          <a:p>
            <a:endParaRPr lang="en-US"/>
          </a:p>
        </p:txBody>
      </p:sp>
      <p:sp>
        <p:nvSpPr>
          <p:cNvPr id="9" name="Text 7"/>
          <p:cNvSpPr txBox="1"/>
          <p:nvPr/>
        </p:nvSpPr>
        <p:spPr>
          <a:xfrm>
            <a:off x="7178040" y="1719072"/>
            <a:ext cx="4069080" cy="310896"/>
          </a:xfrm>
          <a:prstGeom prst="rect">
            <a:avLst/>
          </a:prstGeom>
          <a:noFill/>
          <a:ln/>
        </p:spPr>
        <p:txBody>
          <a:bodyPr wrap="square" lIns="0" tIns="0" rIns="0" bIns="0" rtlCol="0" anchor="ctr"/>
          <a:lstStyle/>
          <a:p>
            <a:pPr marL="0" indent="0">
              <a:buNone/>
            </a:pPr>
            <a:r>
              <a:rPr lang="en-US" sz="1450" b="1" dirty="0">
                <a:solidFill>
                  <a:srgbClr val="0D1319"/>
                </a:solidFill>
                <a:latin typeface="Cambria" pitchFamily="34" charset="0"/>
                <a:ea typeface="Cambria" pitchFamily="34" charset="-122"/>
                <a:cs typeface="Cambria" pitchFamily="34" charset="-120"/>
              </a:rPr>
              <a:t>What the film is for</a:t>
            </a:r>
            <a:endParaRPr lang="en-US" sz="1450" dirty="0"/>
          </a:p>
        </p:txBody>
      </p:sp>
      <p:sp>
        <p:nvSpPr>
          <p:cNvPr id="10" name="Text 8"/>
          <p:cNvSpPr txBox="1"/>
          <p:nvPr/>
        </p:nvSpPr>
        <p:spPr>
          <a:xfrm>
            <a:off x="7178040" y="2066544"/>
            <a:ext cx="4069080" cy="777240"/>
          </a:xfrm>
          <a:prstGeom prst="rect">
            <a:avLst/>
          </a:prstGeom>
          <a:noFill/>
          <a:ln/>
        </p:spPr>
        <p:txBody>
          <a:bodyPr wrap="square" lIns="0" tIns="0" rIns="0" bIns="0" rtlCol="0" anchor="ctr"/>
          <a:lstStyle/>
          <a:p>
            <a:pPr marL="0" indent="0">
              <a:lnSpc>
                <a:spcPts val="1500"/>
              </a:lnSpc>
              <a:buNone/>
            </a:pPr>
            <a:r>
              <a:rPr lang="en-US" sz="1150" dirty="0">
                <a:solidFill>
                  <a:srgbClr val="5C6672"/>
                </a:solidFill>
                <a:latin typeface="Calibri" pitchFamily="34" charset="0"/>
                <a:ea typeface="Calibri" pitchFamily="34" charset="-122"/>
                <a:cs typeface="Calibri" pitchFamily="34" charset="-120"/>
              </a:rPr>
              <a:t>Waking up. The whole apparatus exists to stage the moment a person discovers their world was authored, and then to ask whether they will act on it.</a:t>
            </a:r>
            <a:endParaRPr lang="en-US" sz="1150" dirty="0"/>
          </a:p>
        </p:txBody>
      </p:sp>
      <p:sp>
        <p:nvSpPr>
          <p:cNvPr id="11" name="Shape 9"/>
          <p:cNvSpPr/>
          <p:nvPr/>
        </p:nvSpPr>
        <p:spPr>
          <a:xfrm>
            <a:off x="6903720" y="3063240"/>
            <a:ext cx="4617720" cy="1371600"/>
          </a:xfrm>
          <a:prstGeom prst="roundRect">
            <a:avLst>
              <a:gd name="adj" fmla="val 5333"/>
            </a:avLst>
          </a:prstGeom>
          <a:solidFill>
            <a:srgbClr val="E7F2EC"/>
          </a:solidFill>
          <a:ln w="12700">
            <a:solidFill>
              <a:srgbClr val="E7F2EC"/>
            </a:solidFill>
            <a:prstDash val="solid"/>
          </a:ln>
        </p:spPr>
        <p:txBody>
          <a:bodyPr/>
          <a:lstStyle/>
          <a:p>
            <a:endParaRPr lang="en-US"/>
          </a:p>
        </p:txBody>
      </p:sp>
      <p:sp>
        <p:nvSpPr>
          <p:cNvPr id="12" name="Text 10"/>
          <p:cNvSpPr txBox="1"/>
          <p:nvPr/>
        </p:nvSpPr>
        <p:spPr>
          <a:xfrm>
            <a:off x="7178040" y="3209544"/>
            <a:ext cx="4069080" cy="310896"/>
          </a:xfrm>
          <a:prstGeom prst="rect">
            <a:avLst/>
          </a:prstGeom>
          <a:noFill/>
          <a:ln/>
        </p:spPr>
        <p:txBody>
          <a:bodyPr wrap="square" lIns="0" tIns="0" rIns="0" bIns="0" rtlCol="0" anchor="ctr"/>
          <a:lstStyle/>
          <a:p>
            <a:pPr marL="0" indent="0">
              <a:buNone/>
            </a:pPr>
            <a:r>
              <a:rPr lang="en-US" sz="1450" b="1" dirty="0">
                <a:solidFill>
                  <a:srgbClr val="0D1319"/>
                </a:solidFill>
                <a:latin typeface="Cambria" pitchFamily="34" charset="0"/>
                <a:ea typeface="Cambria" pitchFamily="34" charset="-122"/>
                <a:cs typeface="Cambria" pitchFamily="34" charset="-120"/>
              </a:rPr>
              <a:t>Why that is not a failure</a:t>
            </a:r>
            <a:endParaRPr lang="en-US" sz="1450" dirty="0"/>
          </a:p>
        </p:txBody>
      </p:sp>
      <p:sp>
        <p:nvSpPr>
          <p:cNvPr id="13" name="Text 11"/>
          <p:cNvSpPr txBox="1"/>
          <p:nvPr/>
        </p:nvSpPr>
        <p:spPr>
          <a:xfrm>
            <a:off x="7178040" y="3557016"/>
            <a:ext cx="4069080" cy="777240"/>
          </a:xfrm>
          <a:prstGeom prst="rect">
            <a:avLst/>
          </a:prstGeom>
          <a:noFill/>
          <a:ln/>
        </p:spPr>
        <p:txBody>
          <a:bodyPr wrap="square" lIns="0" tIns="0" rIns="0" bIns="0" rtlCol="0" anchor="ctr"/>
          <a:lstStyle/>
          <a:p>
            <a:pPr marL="0" indent="0">
              <a:lnSpc>
                <a:spcPts val="1500"/>
              </a:lnSpc>
              <a:buNone/>
            </a:pPr>
            <a:r>
              <a:rPr lang="en-US" sz="1150" dirty="0">
                <a:solidFill>
                  <a:srgbClr val="5C6672"/>
                </a:solidFill>
                <a:latin typeface="Calibri" pitchFamily="34" charset="0"/>
                <a:ea typeface="Calibri" pitchFamily="34" charset="-122"/>
                <a:cs typeface="Calibri" pitchFamily="34" charset="-120"/>
              </a:rPr>
              <a:t>A work may use a machine war as a premise. The mistake is ours — we file this under AI because of the iconography, then complain it has nothing to say about AI.</a:t>
            </a:r>
            <a:endParaRPr lang="en-US" sz="1150" dirty="0"/>
          </a:p>
        </p:txBody>
      </p:sp>
      <p:sp>
        <p:nvSpPr>
          <p:cNvPr id="14" name="Shape 12"/>
          <p:cNvSpPr/>
          <p:nvPr/>
        </p:nvSpPr>
        <p:spPr>
          <a:xfrm>
            <a:off x="6903720" y="4553712"/>
            <a:ext cx="4617720" cy="1371600"/>
          </a:xfrm>
          <a:prstGeom prst="roundRect">
            <a:avLst>
              <a:gd name="adj" fmla="val 5333"/>
            </a:avLst>
          </a:prstGeom>
          <a:solidFill>
            <a:srgbClr val="F2F2F0"/>
          </a:solidFill>
          <a:ln w="12700">
            <a:solidFill>
              <a:srgbClr val="F2F2F0"/>
            </a:solidFill>
            <a:prstDash val="solid"/>
          </a:ln>
        </p:spPr>
        <p:txBody>
          <a:bodyPr/>
          <a:lstStyle/>
          <a:p>
            <a:endParaRPr lang="en-US"/>
          </a:p>
        </p:txBody>
      </p:sp>
      <p:sp>
        <p:nvSpPr>
          <p:cNvPr id="15" name="Text 13"/>
          <p:cNvSpPr txBox="1"/>
          <p:nvPr/>
        </p:nvSpPr>
        <p:spPr>
          <a:xfrm>
            <a:off x="7178040" y="4700016"/>
            <a:ext cx="4069080" cy="310896"/>
          </a:xfrm>
          <a:prstGeom prst="rect">
            <a:avLst/>
          </a:prstGeom>
          <a:noFill/>
          <a:ln/>
        </p:spPr>
        <p:txBody>
          <a:bodyPr wrap="square" lIns="0" tIns="0" rIns="0" bIns="0" rtlCol="0" anchor="ctr"/>
          <a:lstStyle/>
          <a:p>
            <a:pPr marL="0" indent="0">
              <a:buNone/>
            </a:pPr>
            <a:r>
              <a:rPr lang="en-US" sz="1450" b="1" dirty="0">
                <a:solidFill>
                  <a:srgbClr val="0D1319"/>
                </a:solidFill>
                <a:latin typeface="Cambria" pitchFamily="34" charset="0"/>
                <a:ea typeface="Cambria" pitchFamily="34" charset="-122"/>
                <a:cs typeface="Cambria" pitchFamily="34" charset="-120"/>
              </a:rPr>
              <a:t>Why we still start here</a:t>
            </a:r>
            <a:endParaRPr lang="en-US" sz="1450" dirty="0"/>
          </a:p>
        </p:txBody>
      </p:sp>
      <p:sp>
        <p:nvSpPr>
          <p:cNvPr id="16" name="Text 14"/>
          <p:cNvSpPr txBox="1"/>
          <p:nvPr/>
        </p:nvSpPr>
        <p:spPr>
          <a:xfrm>
            <a:off x="7178040" y="5047488"/>
            <a:ext cx="4069080" cy="777240"/>
          </a:xfrm>
          <a:prstGeom prst="rect">
            <a:avLst/>
          </a:prstGeom>
          <a:noFill/>
          <a:ln/>
        </p:spPr>
        <p:txBody>
          <a:bodyPr wrap="square" lIns="0" tIns="0" rIns="0" bIns="0" rtlCol="0" anchor="ctr"/>
          <a:lstStyle/>
          <a:p>
            <a:pPr marL="0" indent="0">
              <a:lnSpc>
                <a:spcPts val="1500"/>
              </a:lnSpc>
              <a:buNone/>
            </a:pPr>
            <a:r>
              <a:rPr lang="en-US" sz="1150" dirty="0">
                <a:solidFill>
                  <a:srgbClr val="5C6672"/>
                </a:solidFill>
                <a:latin typeface="Calibri" pitchFamily="34" charset="0"/>
                <a:ea typeface="Calibri" pitchFamily="34" charset="-122"/>
                <a:cs typeface="Calibri" pitchFamily="34" charset="-120"/>
              </a:rPr>
              <a:t>Because it is the purest case of a text that transfers nothing to you, and because almost every student arrives already fluent in it.</a:t>
            </a:r>
            <a:endParaRPr lang="en-US" sz="1150" dirty="0"/>
          </a:p>
        </p:txBody>
      </p:sp>
      <p:sp>
        <p:nvSpPr>
          <p:cNvPr id="17" name="Shape 15"/>
          <p:cNvSpPr/>
          <p:nvPr/>
        </p:nvSpPr>
        <p:spPr>
          <a:xfrm>
            <a:off x="640080" y="4041648"/>
            <a:ext cx="5943600" cy="1719072"/>
          </a:xfrm>
          <a:prstGeom prst="roundRect">
            <a:avLst>
              <a:gd name="adj" fmla="val 4255"/>
            </a:avLst>
          </a:prstGeom>
          <a:solidFill>
            <a:srgbClr val="F2F2F0"/>
          </a:solidFill>
          <a:ln w="12700">
            <a:solidFill>
              <a:srgbClr val="F2F2F0"/>
            </a:solidFill>
            <a:prstDash val="solid"/>
          </a:ln>
        </p:spPr>
        <p:txBody>
          <a:bodyPr/>
          <a:lstStyle/>
          <a:p>
            <a:endParaRPr lang="en-US"/>
          </a:p>
        </p:txBody>
      </p:sp>
      <p:sp>
        <p:nvSpPr>
          <p:cNvPr id="18" name="Text 16"/>
          <p:cNvSpPr txBox="1"/>
          <p:nvPr/>
        </p:nvSpPr>
        <p:spPr>
          <a:xfrm>
            <a:off x="1005840" y="4224528"/>
            <a:ext cx="5212080" cy="310896"/>
          </a:xfrm>
          <a:prstGeom prst="rect">
            <a:avLst/>
          </a:prstGeom>
          <a:noFill/>
          <a:ln/>
        </p:spPr>
        <p:txBody>
          <a:bodyPr wrap="square" lIns="0" tIns="0" rIns="0" bIns="0" rtlCol="0" anchor="ctr"/>
          <a:lstStyle/>
          <a:p>
            <a:pPr marL="0" indent="0">
              <a:buNone/>
            </a:pPr>
            <a:r>
              <a:rPr lang="en-US" sz="1600" b="1" dirty="0">
                <a:solidFill>
                  <a:srgbClr val="0D1319"/>
                </a:solidFill>
                <a:latin typeface="Cambria" pitchFamily="34" charset="0"/>
                <a:ea typeface="Cambria" pitchFamily="34" charset="-122"/>
                <a:cs typeface="Cambria" pitchFamily="34" charset="-120"/>
              </a:rPr>
              <a:t>Ask the room</a:t>
            </a:r>
            <a:endParaRPr lang="en-US" sz="1600" dirty="0"/>
          </a:p>
        </p:txBody>
      </p:sp>
      <p:sp>
        <p:nvSpPr>
          <p:cNvPr id="19" name="Text 17"/>
          <p:cNvSpPr txBox="1"/>
          <p:nvPr/>
        </p:nvSpPr>
        <p:spPr>
          <a:xfrm>
            <a:off x="1005840" y="4617720"/>
            <a:ext cx="5212080" cy="100584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What would have to change for this to be a film about synthetic personhood? Most answers converge on one thing — somebody would have to speak for the machines. Hold that: the third film does exactly that, and the class usually finds it unsatisfying.</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2F8F5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THE MATRIX · SOURCES</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What the film is actually built out of</a:t>
            </a:r>
            <a:endParaRPr lang="en-US" sz="3000" dirty="0"/>
          </a:p>
        </p:txBody>
      </p:sp>
      <p:sp>
        <p:nvSpPr>
          <p:cNvPr id="5" name="Shape 3"/>
          <p:cNvSpPr/>
          <p:nvPr/>
        </p:nvSpPr>
        <p:spPr>
          <a:xfrm>
            <a:off x="640080" y="1572768"/>
            <a:ext cx="10911535" cy="804672"/>
          </a:xfrm>
          <a:prstGeom prst="roundRect">
            <a:avLst>
              <a:gd name="adj" fmla="val 9091"/>
            </a:avLst>
          </a:prstGeom>
          <a:solidFill>
            <a:srgbClr val="F2F2F0"/>
          </a:solidFill>
          <a:ln w="12700">
            <a:solidFill>
              <a:srgbClr val="F2F2F0"/>
            </a:solidFill>
            <a:prstDash val="solid"/>
          </a:ln>
        </p:spPr>
        <p:txBody>
          <a:bodyPr/>
          <a:lstStyle/>
          <a:p>
            <a:endParaRPr lang="en-US"/>
          </a:p>
        </p:txBody>
      </p:sp>
      <p:sp>
        <p:nvSpPr>
          <p:cNvPr id="6" name="Text 4"/>
          <p:cNvSpPr txBox="1"/>
          <p:nvPr/>
        </p:nvSpPr>
        <p:spPr>
          <a:xfrm>
            <a:off x="932688" y="1572768"/>
            <a:ext cx="2743200" cy="804672"/>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Plato’s cave</a:t>
            </a:r>
            <a:endParaRPr lang="en-US" sz="1550" dirty="0"/>
          </a:p>
        </p:txBody>
      </p:sp>
      <p:sp>
        <p:nvSpPr>
          <p:cNvPr id="7" name="Text 5"/>
          <p:cNvSpPr txBox="1"/>
          <p:nvPr/>
        </p:nvSpPr>
        <p:spPr>
          <a:xfrm>
            <a:off x="3931920" y="1572768"/>
            <a:ext cx="7299655" cy="804672"/>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Prisoners take shadows for reality; one is dragged out, blinded by the sun, and returns to a people who will not believe him. The structure of the whole film, including the disbelief.</a:t>
            </a:r>
            <a:endParaRPr lang="en-US" sz="1250" dirty="0"/>
          </a:p>
        </p:txBody>
      </p:sp>
      <p:sp>
        <p:nvSpPr>
          <p:cNvPr id="8" name="Shape 6"/>
          <p:cNvSpPr/>
          <p:nvPr/>
        </p:nvSpPr>
        <p:spPr>
          <a:xfrm>
            <a:off x="640080" y="2496312"/>
            <a:ext cx="10911535" cy="804672"/>
          </a:xfrm>
          <a:prstGeom prst="roundRect">
            <a:avLst>
              <a:gd name="adj" fmla="val 9091"/>
            </a:avLst>
          </a:prstGeom>
          <a:solidFill>
            <a:srgbClr val="E7F2EC"/>
          </a:solidFill>
          <a:ln w="12700">
            <a:solidFill>
              <a:srgbClr val="E7F2EC"/>
            </a:solidFill>
            <a:prstDash val="solid"/>
          </a:ln>
        </p:spPr>
        <p:txBody>
          <a:bodyPr/>
          <a:lstStyle/>
          <a:p>
            <a:endParaRPr lang="en-US"/>
          </a:p>
        </p:txBody>
      </p:sp>
      <p:sp>
        <p:nvSpPr>
          <p:cNvPr id="9" name="Text 7"/>
          <p:cNvSpPr txBox="1"/>
          <p:nvPr/>
        </p:nvSpPr>
        <p:spPr>
          <a:xfrm>
            <a:off x="932688" y="2496312"/>
            <a:ext cx="2743200" cy="804672"/>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Descartes’ demon</a:t>
            </a:r>
            <a:endParaRPr lang="en-US" sz="1550" dirty="0"/>
          </a:p>
        </p:txBody>
      </p:sp>
      <p:sp>
        <p:nvSpPr>
          <p:cNvPr id="10" name="Text 8"/>
          <p:cNvSpPr txBox="1"/>
          <p:nvPr/>
        </p:nvSpPr>
        <p:spPr>
          <a:xfrm>
            <a:off x="3931920" y="2496312"/>
            <a:ext cx="7299655" cy="804672"/>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The possibility that all sensory experience is systematically produced by an outside agent. The film literalises the thought experiment and gives it a plot.</a:t>
            </a:r>
            <a:endParaRPr lang="en-US" sz="1250" dirty="0"/>
          </a:p>
        </p:txBody>
      </p:sp>
      <p:sp>
        <p:nvSpPr>
          <p:cNvPr id="11" name="Shape 9"/>
          <p:cNvSpPr/>
          <p:nvPr/>
        </p:nvSpPr>
        <p:spPr>
          <a:xfrm>
            <a:off x="640080" y="3419856"/>
            <a:ext cx="10911535" cy="804672"/>
          </a:xfrm>
          <a:prstGeom prst="roundRect">
            <a:avLst>
              <a:gd name="adj" fmla="val 9091"/>
            </a:avLst>
          </a:prstGeom>
          <a:solidFill>
            <a:srgbClr val="F2F2F0"/>
          </a:solidFill>
          <a:ln w="12700">
            <a:solidFill>
              <a:srgbClr val="F2F2F0"/>
            </a:solidFill>
            <a:prstDash val="solid"/>
          </a:ln>
        </p:spPr>
        <p:txBody>
          <a:bodyPr/>
          <a:lstStyle/>
          <a:p>
            <a:endParaRPr lang="en-US"/>
          </a:p>
        </p:txBody>
      </p:sp>
      <p:sp>
        <p:nvSpPr>
          <p:cNvPr id="12" name="Text 10"/>
          <p:cNvSpPr txBox="1"/>
          <p:nvPr/>
        </p:nvSpPr>
        <p:spPr>
          <a:xfrm>
            <a:off x="932688" y="3419856"/>
            <a:ext cx="2743200" cy="804672"/>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The brain in a vat</a:t>
            </a:r>
            <a:endParaRPr lang="en-US" sz="1550" dirty="0"/>
          </a:p>
        </p:txBody>
      </p:sp>
      <p:sp>
        <p:nvSpPr>
          <p:cNvPr id="13" name="Text 11"/>
          <p:cNvSpPr txBox="1"/>
          <p:nvPr/>
        </p:nvSpPr>
        <p:spPr>
          <a:xfrm>
            <a:off x="3931920" y="3419856"/>
            <a:ext cx="7299655" cy="804672"/>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The twentieth-century analytic version: pods, feeds, an artificial input stream. The imagery is almost a diagram of the seminar example.</a:t>
            </a:r>
            <a:endParaRPr lang="en-US" sz="1250" dirty="0"/>
          </a:p>
        </p:txBody>
      </p:sp>
      <p:sp>
        <p:nvSpPr>
          <p:cNvPr id="14" name="Shape 12"/>
          <p:cNvSpPr/>
          <p:nvPr/>
        </p:nvSpPr>
        <p:spPr>
          <a:xfrm>
            <a:off x="640080" y="4343400"/>
            <a:ext cx="10911535" cy="804672"/>
          </a:xfrm>
          <a:prstGeom prst="roundRect">
            <a:avLst>
              <a:gd name="adj" fmla="val 9091"/>
            </a:avLst>
          </a:prstGeom>
          <a:solidFill>
            <a:srgbClr val="E7F2EC"/>
          </a:solidFill>
          <a:ln w="12700">
            <a:solidFill>
              <a:srgbClr val="E7F2EC"/>
            </a:solidFill>
            <a:prstDash val="solid"/>
          </a:ln>
        </p:spPr>
        <p:txBody>
          <a:bodyPr/>
          <a:lstStyle/>
          <a:p>
            <a:endParaRPr lang="en-US"/>
          </a:p>
        </p:txBody>
      </p:sp>
      <p:sp>
        <p:nvSpPr>
          <p:cNvPr id="15" name="Text 13"/>
          <p:cNvSpPr txBox="1"/>
          <p:nvPr/>
        </p:nvSpPr>
        <p:spPr>
          <a:xfrm>
            <a:off x="932688" y="4343400"/>
            <a:ext cx="2743200" cy="804672"/>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Gnostic and messianic narrative</a:t>
            </a:r>
            <a:endParaRPr lang="en-US" sz="1550" dirty="0"/>
          </a:p>
        </p:txBody>
      </p:sp>
      <p:sp>
        <p:nvSpPr>
          <p:cNvPr id="16" name="Text 14"/>
          <p:cNvSpPr txBox="1"/>
          <p:nvPr/>
        </p:nvSpPr>
        <p:spPr>
          <a:xfrm>
            <a:off x="3931920" y="4343400"/>
            <a:ext cx="7299655" cy="804672"/>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A false world made by a lesser power, a hidden true one, a prophesied figure who dies and returns. The Neo plot is older than the technology by two thousand years.</a:t>
            </a:r>
            <a:endParaRPr lang="en-US" sz="1250" dirty="0"/>
          </a:p>
        </p:txBody>
      </p:sp>
      <p:sp>
        <p:nvSpPr>
          <p:cNvPr id="17" name="Shape 15"/>
          <p:cNvSpPr/>
          <p:nvPr/>
        </p:nvSpPr>
        <p:spPr>
          <a:xfrm>
            <a:off x="640080" y="5266944"/>
            <a:ext cx="10911535" cy="804672"/>
          </a:xfrm>
          <a:prstGeom prst="roundRect">
            <a:avLst>
              <a:gd name="adj" fmla="val 9091"/>
            </a:avLst>
          </a:prstGeom>
          <a:solidFill>
            <a:srgbClr val="0D1319"/>
          </a:solidFill>
          <a:ln w="12700">
            <a:solidFill>
              <a:srgbClr val="0D1319"/>
            </a:solidFill>
            <a:prstDash val="solid"/>
          </a:ln>
        </p:spPr>
        <p:txBody>
          <a:bodyPr/>
          <a:lstStyle/>
          <a:p>
            <a:endParaRPr lang="en-US"/>
          </a:p>
        </p:txBody>
      </p:sp>
      <p:sp>
        <p:nvSpPr>
          <p:cNvPr id="18" name="Text 16"/>
          <p:cNvSpPr txBox="1"/>
          <p:nvPr/>
        </p:nvSpPr>
        <p:spPr>
          <a:xfrm>
            <a:off x="932688" y="5266944"/>
            <a:ext cx="2743200" cy="804672"/>
          </a:xfrm>
          <a:prstGeom prst="rect">
            <a:avLst/>
          </a:prstGeom>
          <a:noFill/>
          <a:ln/>
        </p:spPr>
        <p:txBody>
          <a:bodyPr wrap="square" lIns="0" tIns="0" rIns="0" bIns="0" rtlCol="0" anchor="ctr"/>
          <a:lstStyle/>
          <a:p>
            <a:pPr marL="0" indent="0">
              <a:buNone/>
            </a:pPr>
            <a:r>
              <a:rPr lang="en-US" sz="1550" b="1" dirty="0">
                <a:solidFill>
                  <a:srgbClr val="7FD0A5"/>
                </a:solidFill>
                <a:latin typeface="Cambria" pitchFamily="34" charset="0"/>
                <a:ea typeface="Cambria" pitchFamily="34" charset="-122"/>
                <a:cs typeface="Cambria" pitchFamily="34" charset="-120"/>
              </a:rPr>
              <a:t>Baudrillard</a:t>
            </a:r>
            <a:endParaRPr lang="en-US" sz="1550" dirty="0"/>
          </a:p>
        </p:txBody>
      </p:sp>
      <p:sp>
        <p:nvSpPr>
          <p:cNvPr id="19" name="Text 17"/>
          <p:cNvSpPr txBox="1"/>
          <p:nvPr/>
        </p:nvSpPr>
        <p:spPr>
          <a:xfrm>
            <a:off x="3931920" y="5266944"/>
            <a:ext cx="7299655" cy="804672"/>
          </a:xfrm>
          <a:prstGeom prst="rect">
            <a:avLst/>
          </a:prstGeom>
          <a:noFill/>
          <a:ln/>
        </p:spPr>
        <p:txBody>
          <a:bodyPr wrap="square" lIns="0" tIns="0" rIns="0" bIns="0" rtlCol="0" anchor="ctr"/>
          <a:lstStyle/>
          <a:p>
            <a:pPr marL="0" indent="0">
              <a:lnSpc>
                <a:spcPts val="1700"/>
              </a:lnSpc>
              <a:buNone/>
            </a:pPr>
            <a:r>
              <a:rPr lang="en-US" sz="1250" dirty="0">
                <a:solidFill>
                  <a:srgbClr val="E9EDEA"/>
                </a:solidFill>
                <a:latin typeface="Calibri" pitchFamily="34" charset="0"/>
                <a:ea typeface="Calibri" pitchFamily="34" charset="-122"/>
                <a:cs typeface="Calibri" pitchFamily="34" charset="-120"/>
              </a:rPr>
              <a:t>Simulacra and Simulation appears as a physical prop — hollowed out, used to hide contraband. Read that as an admission: the theory is a container the film keeps something else in.</a:t>
            </a:r>
            <a:endParaRPr lang="en-US" sz="1250" dirty="0"/>
          </a:p>
        </p:txBody>
      </p:sp>
      <p:sp>
        <p:nvSpPr>
          <p:cNvPr id="20" name="Text 18"/>
          <p:cNvSpPr txBox="1"/>
          <p:nvPr/>
        </p:nvSpPr>
        <p:spPr>
          <a:xfrm>
            <a:off x="640080" y="6190488"/>
            <a:ext cx="10881360" cy="411480"/>
          </a:xfrm>
          <a:prstGeom prst="rect">
            <a:avLst/>
          </a:prstGeom>
          <a:noFill/>
          <a:ln/>
        </p:spPr>
        <p:txBody>
          <a:bodyPr wrap="square" lIns="0" tIns="0" rIns="0" bIns="0" rtlCol="0" anchor="ctr"/>
          <a:lstStyle/>
          <a:p>
            <a:pPr marL="0" indent="0">
              <a:buNone/>
            </a:pPr>
            <a:r>
              <a:rPr lang="en-US" sz="1500" i="1" dirty="0">
                <a:solidFill>
                  <a:srgbClr val="2F8F5B"/>
                </a:solidFill>
                <a:latin typeface="Cambria" pitchFamily="34" charset="0"/>
                <a:ea typeface="Cambria" pitchFamily="34" charset="-122"/>
                <a:cs typeface="Cambria" pitchFamily="34" charset="-120"/>
              </a:rPr>
              <a:t>Not one of these is about artificial minds. All of them are about whether your world is authored, and what you owe the truth once you know.</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2F8F5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THE MATRIX · CLOSE READING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A choice the film has already made</a:t>
            </a:r>
            <a:endParaRPr lang="en-US" sz="3000" dirty="0"/>
          </a:p>
        </p:txBody>
      </p:sp>
      <p:sp>
        <p:nvSpPr>
          <p:cNvPr id="5" name="Shape 3"/>
          <p:cNvSpPr/>
          <p:nvPr/>
        </p:nvSpPr>
        <p:spPr>
          <a:xfrm>
            <a:off x="640080" y="1600200"/>
            <a:ext cx="5120640" cy="1828800"/>
          </a:xfrm>
          <a:prstGeom prst="roundRect">
            <a:avLst>
              <a:gd name="adj" fmla="val 4000"/>
            </a:avLst>
          </a:prstGeom>
          <a:solidFill>
            <a:srgbClr val="0D1319"/>
          </a:solidFill>
          <a:ln w="12700">
            <a:solidFill>
              <a:srgbClr val="0D1319"/>
            </a:solidFill>
            <a:prstDash val="solid"/>
          </a:ln>
        </p:spPr>
        <p:txBody>
          <a:bodyPr/>
          <a:lstStyle/>
          <a:p>
            <a:endParaRPr lang="en-US"/>
          </a:p>
        </p:txBody>
      </p:sp>
      <p:sp>
        <p:nvSpPr>
          <p:cNvPr id="6" name="Text 4"/>
          <p:cNvSpPr txBox="1"/>
          <p:nvPr/>
        </p:nvSpPr>
        <p:spPr>
          <a:xfrm>
            <a:off x="1005840" y="1874520"/>
            <a:ext cx="4389120" cy="457200"/>
          </a:xfrm>
          <a:prstGeom prst="rect">
            <a:avLst/>
          </a:prstGeom>
          <a:noFill/>
          <a:ln/>
        </p:spPr>
        <p:txBody>
          <a:bodyPr wrap="square" lIns="0" tIns="0" rIns="0" bIns="0" rtlCol="0" anchor="ctr"/>
          <a:lstStyle/>
          <a:p>
            <a:pPr marL="0" indent="0">
              <a:buNone/>
            </a:pPr>
            <a:r>
              <a:rPr lang="en-US" sz="2600" b="1" dirty="0">
                <a:solidFill>
                  <a:srgbClr val="E9EDEA"/>
                </a:solidFill>
                <a:latin typeface="Cambria" pitchFamily="34" charset="0"/>
                <a:ea typeface="Cambria" pitchFamily="34" charset="-122"/>
                <a:cs typeface="Cambria" pitchFamily="34" charset="-120"/>
              </a:rPr>
              <a:t>Red pill / blue pill</a:t>
            </a:r>
            <a:endParaRPr lang="en-US" sz="2600" dirty="0"/>
          </a:p>
        </p:txBody>
      </p:sp>
      <p:sp>
        <p:nvSpPr>
          <p:cNvPr id="7" name="Text 5"/>
          <p:cNvSpPr txBox="1"/>
          <p:nvPr/>
        </p:nvSpPr>
        <p:spPr>
          <a:xfrm>
            <a:off x="1005840" y="2423160"/>
            <a:ext cx="4389120" cy="640080"/>
          </a:xfrm>
          <a:prstGeom prst="rect">
            <a:avLst/>
          </a:prstGeom>
          <a:noFill/>
          <a:ln/>
        </p:spPr>
        <p:txBody>
          <a:bodyPr wrap="square" lIns="0" tIns="0" rIns="0" bIns="0" rtlCol="0" anchor="ctr"/>
          <a:lstStyle/>
          <a:p>
            <a:pPr marL="0" indent="0">
              <a:lnSpc>
                <a:spcPts val="1700"/>
              </a:lnSpc>
              <a:buNone/>
            </a:pPr>
            <a:r>
              <a:rPr lang="en-US" sz="1250" dirty="0">
                <a:solidFill>
                  <a:srgbClr val="7FD0A5"/>
                </a:solidFill>
                <a:latin typeface="Calibri" pitchFamily="34" charset="0"/>
                <a:ea typeface="Calibri" pitchFamily="34" charset="-122"/>
                <a:cs typeface="Calibri" pitchFamily="34" charset="-120"/>
              </a:rPr>
              <a:t>The most famous choice in the franchise, offered to a character, watched by you.</a:t>
            </a:r>
            <a:endParaRPr lang="en-US" sz="1250" dirty="0"/>
          </a:p>
        </p:txBody>
      </p:sp>
      <p:sp>
        <p:nvSpPr>
          <p:cNvPr id="8" name="Shape 6"/>
          <p:cNvSpPr/>
          <p:nvPr/>
        </p:nvSpPr>
        <p:spPr>
          <a:xfrm>
            <a:off x="6080760" y="1600200"/>
            <a:ext cx="5440680" cy="1371600"/>
          </a:xfrm>
          <a:prstGeom prst="roundRect">
            <a:avLst>
              <a:gd name="adj" fmla="val 5333"/>
            </a:avLst>
          </a:prstGeom>
          <a:solidFill>
            <a:srgbClr val="F2F2F0"/>
          </a:solidFill>
          <a:ln w="12700">
            <a:solidFill>
              <a:srgbClr val="F2F2F0"/>
            </a:solidFill>
            <a:prstDash val="solid"/>
          </a:ln>
        </p:spPr>
        <p:txBody>
          <a:bodyPr/>
          <a:lstStyle/>
          <a:p>
            <a:endParaRPr lang="en-US"/>
          </a:p>
        </p:txBody>
      </p:sp>
      <p:sp>
        <p:nvSpPr>
          <p:cNvPr id="9" name="Text 7"/>
          <p:cNvSpPr txBox="1"/>
          <p:nvPr/>
        </p:nvSpPr>
        <p:spPr>
          <a:xfrm>
            <a:off x="6355080" y="1746504"/>
            <a:ext cx="4892040" cy="310896"/>
          </a:xfrm>
          <a:prstGeom prst="rect">
            <a:avLst/>
          </a:prstGeom>
          <a:noFill/>
          <a:ln/>
        </p:spPr>
        <p:txBody>
          <a:bodyPr wrap="square" lIns="0" tIns="0" rIns="0" bIns="0" rtlCol="0" anchor="ctr"/>
          <a:lstStyle/>
          <a:p>
            <a:pPr marL="0" indent="0">
              <a:buNone/>
            </a:pPr>
            <a:r>
              <a:rPr lang="en-US" sz="1500" b="1" dirty="0">
                <a:solidFill>
                  <a:srgbClr val="0D1319"/>
                </a:solidFill>
                <a:latin typeface="Cambria" pitchFamily="34" charset="0"/>
                <a:ea typeface="Cambria" pitchFamily="34" charset="-122"/>
                <a:cs typeface="Cambria" pitchFamily="34" charset="-120"/>
              </a:rPr>
              <a:t>One branch is not a film</a:t>
            </a:r>
            <a:endParaRPr lang="en-US" sz="1500" dirty="0"/>
          </a:p>
        </p:txBody>
      </p:sp>
      <p:sp>
        <p:nvSpPr>
          <p:cNvPr id="10" name="Text 8"/>
          <p:cNvSpPr txBox="1"/>
          <p:nvPr/>
        </p:nvSpPr>
        <p:spPr>
          <a:xfrm>
            <a:off x="6355080" y="2093976"/>
            <a:ext cx="4892040" cy="777240"/>
          </a:xfrm>
          <a:prstGeom prst="rect">
            <a:avLst/>
          </a:prstGeom>
          <a:noFill/>
          <a:ln/>
        </p:spPr>
        <p:txBody>
          <a:bodyPr wrap="square" lIns="0" tIns="0" rIns="0" bIns="0" rtlCol="0" anchor="ctr"/>
          <a:lstStyle/>
          <a:p>
            <a:pPr marL="0" indent="0">
              <a:lnSpc>
                <a:spcPts val="1600"/>
              </a:lnSpc>
              <a:buNone/>
            </a:pPr>
            <a:r>
              <a:rPr lang="en-US" sz="1200" dirty="0">
                <a:solidFill>
                  <a:srgbClr val="5C6672"/>
                </a:solidFill>
                <a:latin typeface="Calibri" pitchFamily="34" charset="0"/>
                <a:ea typeface="Calibri" pitchFamily="34" charset="-122"/>
                <a:cs typeface="Calibri" pitchFamily="34" charset="-120"/>
              </a:rPr>
              <a:t>If Neo takes the blue pill the movie ends in the first act. The choice is real for him and structurally unavailable to the work — a dramatisation of choosing, not an instance of it.</a:t>
            </a:r>
            <a:endParaRPr lang="en-US" sz="1200" dirty="0"/>
          </a:p>
        </p:txBody>
      </p:sp>
      <p:sp>
        <p:nvSpPr>
          <p:cNvPr id="11" name="Shape 9"/>
          <p:cNvSpPr/>
          <p:nvPr/>
        </p:nvSpPr>
        <p:spPr>
          <a:xfrm>
            <a:off x="6080760" y="3090672"/>
            <a:ext cx="5440680" cy="1371600"/>
          </a:xfrm>
          <a:prstGeom prst="roundRect">
            <a:avLst>
              <a:gd name="adj" fmla="val 5333"/>
            </a:avLst>
          </a:prstGeom>
          <a:solidFill>
            <a:srgbClr val="E7F2EC"/>
          </a:solidFill>
          <a:ln w="12700">
            <a:solidFill>
              <a:srgbClr val="E7F2EC"/>
            </a:solidFill>
            <a:prstDash val="solid"/>
          </a:ln>
        </p:spPr>
        <p:txBody>
          <a:bodyPr/>
          <a:lstStyle/>
          <a:p>
            <a:endParaRPr lang="en-US"/>
          </a:p>
        </p:txBody>
      </p:sp>
      <p:sp>
        <p:nvSpPr>
          <p:cNvPr id="12" name="Text 10"/>
          <p:cNvSpPr txBox="1"/>
          <p:nvPr/>
        </p:nvSpPr>
        <p:spPr>
          <a:xfrm>
            <a:off x="6355080" y="3236976"/>
            <a:ext cx="4892040" cy="310896"/>
          </a:xfrm>
          <a:prstGeom prst="rect">
            <a:avLst/>
          </a:prstGeom>
          <a:noFill/>
          <a:ln/>
        </p:spPr>
        <p:txBody>
          <a:bodyPr wrap="square" lIns="0" tIns="0" rIns="0" bIns="0" rtlCol="0" anchor="ctr"/>
          <a:lstStyle/>
          <a:p>
            <a:pPr marL="0" indent="0">
              <a:buNone/>
            </a:pPr>
            <a:r>
              <a:rPr lang="en-US" sz="1500" b="1" dirty="0">
                <a:solidFill>
                  <a:srgbClr val="0D1319"/>
                </a:solidFill>
                <a:latin typeface="Cambria" pitchFamily="34" charset="0"/>
                <a:ea typeface="Cambria" pitchFamily="34" charset="-122"/>
                <a:cs typeface="Cambria" pitchFamily="34" charset="-120"/>
              </a:rPr>
              <a:t>The scene is a recruitment</a:t>
            </a:r>
            <a:endParaRPr lang="en-US" sz="1500" dirty="0"/>
          </a:p>
        </p:txBody>
      </p:sp>
      <p:sp>
        <p:nvSpPr>
          <p:cNvPr id="13" name="Text 11"/>
          <p:cNvSpPr txBox="1"/>
          <p:nvPr/>
        </p:nvSpPr>
        <p:spPr>
          <a:xfrm>
            <a:off x="6355080" y="3584448"/>
            <a:ext cx="4892040" cy="777240"/>
          </a:xfrm>
          <a:prstGeom prst="rect">
            <a:avLst/>
          </a:prstGeom>
          <a:noFill/>
          <a:ln/>
        </p:spPr>
        <p:txBody>
          <a:bodyPr wrap="square" lIns="0" tIns="0" rIns="0" bIns="0" rtlCol="0" anchor="ctr"/>
          <a:lstStyle/>
          <a:p>
            <a:pPr marL="0" indent="0">
              <a:lnSpc>
                <a:spcPts val="1600"/>
              </a:lnSpc>
              <a:buNone/>
            </a:pPr>
            <a:r>
              <a:rPr lang="en-US" sz="1200" dirty="0">
                <a:solidFill>
                  <a:srgbClr val="5C6672"/>
                </a:solidFill>
                <a:latin typeface="Calibri" pitchFamily="34" charset="0"/>
                <a:ea typeface="Calibri" pitchFamily="34" charset="-122"/>
                <a:cs typeface="Calibri" pitchFamily="34" charset="-120"/>
              </a:rPr>
              <a:t>Morpheus has already assessed him, tracked him, and set the terms. Compare any recruitment where refusal is technically permitted and practically unthinkable.</a:t>
            </a:r>
            <a:endParaRPr lang="en-US" sz="1200" dirty="0"/>
          </a:p>
        </p:txBody>
      </p:sp>
      <p:sp>
        <p:nvSpPr>
          <p:cNvPr id="14" name="Shape 12"/>
          <p:cNvSpPr/>
          <p:nvPr/>
        </p:nvSpPr>
        <p:spPr>
          <a:xfrm>
            <a:off x="6080760" y="4581144"/>
            <a:ext cx="5440680" cy="1371600"/>
          </a:xfrm>
          <a:prstGeom prst="roundRect">
            <a:avLst>
              <a:gd name="adj" fmla="val 5333"/>
            </a:avLst>
          </a:prstGeom>
          <a:solidFill>
            <a:srgbClr val="F2F2F0"/>
          </a:solidFill>
          <a:ln w="12700">
            <a:solidFill>
              <a:srgbClr val="F2F2F0"/>
            </a:solidFill>
            <a:prstDash val="solid"/>
          </a:ln>
        </p:spPr>
        <p:txBody>
          <a:bodyPr/>
          <a:lstStyle/>
          <a:p>
            <a:endParaRPr lang="en-US"/>
          </a:p>
        </p:txBody>
      </p:sp>
      <p:sp>
        <p:nvSpPr>
          <p:cNvPr id="15" name="Text 13"/>
          <p:cNvSpPr txBox="1"/>
          <p:nvPr/>
        </p:nvSpPr>
        <p:spPr>
          <a:xfrm>
            <a:off x="6355080" y="4727448"/>
            <a:ext cx="4892040" cy="310896"/>
          </a:xfrm>
          <a:prstGeom prst="rect">
            <a:avLst/>
          </a:prstGeom>
          <a:noFill/>
          <a:ln/>
        </p:spPr>
        <p:txBody>
          <a:bodyPr wrap="square" lIns="0" tIns="0" rIns="0" bIns="0" rtlCol="0" anchor="ctr"/>
          <a:lstStyle/>
          <a:p>
            <a:pPr marL="0" indent="0">
              <a:buNone/>
            </a:pPr>
            <a:r>
              <a:rPr lang="en-US" sz="1500" b="1" dirty="0">
                <a:solidFill>
                  <a:srgbClr val="0D1319"/>
                </a:solidFill>
                <a:latin typeface="Cambria" pitchFamily="34" charset="0"/>
                <a:ea typeface="Cambria" pitchFamily="34" charset="-122"/>
                <a:cs typeface="Cambria" pitchFamily="34" charset="-120"/>
              </a:rPr>
              <a:t>The Oracle gives the game away</a:t>
            </a:r>
            <a:endParaRPr lang="en-US" sz="1500" dirty="0"/>
          </a:p>
        </p:txBody>
      </p:sp>
      <p:sp>
        <p:nvSpPr>
          <p:cNvPr id="16" name="Text 14"/>
          <p:cNvSpPr txBox="1"/>
          <p:nvPr/>
        </p:nvSpPr>
        <p:spPr>
          <a:xfrm>
            <a:off x="6355080" y="5074920"/>
            <a:ext cx="4892040" cy="777240"/>
          </a:xfrm>
          <a:prstGeom prst="rect">
            <a:avLst/>
          </a:prstGeom>
          <a:noFill/>
          <a:ln/>
        </p:spPr>
        <p:txBody>
          <a:bodyPr wrap="square" lIns="0" tIns="0" rIns="0" bIns="0" rtlCol="0" anchor="ctr"/>
          <a:lstStyle/>
          <a:p>
            <a:pPr marL="0" indent="0">
              <a:lnSpc>
                <a:spcPts val="1600"/>
              </a:lnSpc>
              <a:buNone/>
            </a:pPr>
            <a:r>
              <a:rPr lang="en-US" sz="1200" dirty="0">
                <a:solidFill>
                  <a:srgbClr val="5C6672"/>
                </a:solidFill>
                <a:latin typeface="Calibri" pitchFamily="34" charset="0"/>
                <a:ea typeface="Calibri" pitchFamily="34" charset="-122"/>
                <a:cs typeface="Calibri" pitchFamily="34" charset="-120"/>
              </a:rPr>
              <a:t>In the second film she tells Neo he has already made his choice and is there to understand why. That is the franchise’s own theory of choice: retrospective, explanatory, not causal.</a:t>
            </a:r>
            <a:endParaRPr lang="en-US" sz="1200" dirty="0"/>
          </a:p>
        </p:txBody>
      </p:sp>
      <p:sp>
        <p:nvSpPr>
          <p:cNvPr id="17" name="Shape 15"/>
          <p:cNvSpPr/>
          <p:nvPr/>
        </p:nvSpPr>
        <p:spPr>
          <a:xfrm>
            <a:off x="640080" y="3611880"/>
            <a:ext cx="5120640" cy="2148840"/>
          </a:xfrm>
          <a:prstGeom prst="roundRect">
            <a:avLst>
              <a:gd name="adj" fmla="val 3404"/>
            </a:avLst>
          </a:prstGeom>
          <a:solidFill>
            <a:srgbClr val="E7F2EC"/>
          </a:solidFill>
          <a:ln w="12700">
            <a:solidFill>
              <a:srgbClr val="E7F2EC"/>
            </a:solidFill>
            <a:prstDash val="solid"/>
          </a:ln>
        </p:spPr>
        <p:txBody>
          <a:bodyPr/>
          <a:lstStyle/>
          <a:p>
            <a:endParaRPr lang="en-US"/>
          </a:p>
        </p:txBody>
      </p:sp>
      <p:sp>
        <p:nvSpPr>
          <p:cNvPr id="18" name="Text 16"/>
          <p:cNvSpPr txBox="1"/>
          <p:nvPr/>
        </p:nvSpPr>
        <p:spPr>
          <a:xfrm>
            <a:off x="1005840" y="3794760"/>
            <a:ext cx="4389120" cy="310896"/>
          </a:xfrm>
          <a:prstGeom prst="rect">
            <a:avLst/>
          </a:prstGeom>
          <a:noFill/>
          <a:ln/>
        </p:spPr>
        <p:txBody>
          <a:bodyPr wrap="square" lIns="0" tIns="0" rIns="0" bIns="0" rtlCol="0" anchor="ctr"/>
          <a:lstStyle/>
          <a:p>
            <a:pPr marL="0" indent="0">
              <a:buNone/>
            </a:pPr>
            <a:r>
              <a:rPr lang="en-US" sz="1600" b="1" dirty="0">
                <a:solidFill>
                  <a:srgbClr val="0D1319"/>
                </a:solidFill>
                <a:latin typeface="Cambria" pitchFamily="34" charset="0"/>
                <a:ea typeface="Cambria" pitchFamily="34" charset="-122"/>
                <a:cs typeface="Cambria" pitchFamily="34" charset="-120"/>
              </a:rPr>
              <a:t>Run the method on it</a:t>
            </a:r>
            <a:endParaRPr lang="en-US" sz="1600" dirty="0"/>
          </a:p>
        </p:txBody>
      </p:sp>
      <p:sp>
        <p:nvSpPr>
          <p:cNvPr id="19" name="Text 17"/>
          <p:cNvSpPr txBox="1"/>
          <p:nvPr/>
        </p:nvSpPr>
        <p:spPr>
          <a:xfrm>
            <a:off x="1005840" y="4187952"/>
            <a:ext cx="4389120" cy="146304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Possible: one path. Cheap: nothing. Impossible: everything else. Counted: nothing. Shown back: nothing.</a:t>
            </a:r>
            <a:endParaRPr lang="en-US" sz="1250" dirty="0"/>
          </a:p>
          <a:p>
            <a:pPr marL="0" indent="0">
              <a:lnSpc>
                <a:spcPts val="1700"/>
              </a:lnSpc>
              <a:buNone/>
            </a:pPr>
            <a:endParaRPr lang="en-US" sz="1250" dirty="0"/>
          </a:p>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The five questions return an empty reading, and that is the correct result. This is a cinematic argument, not a procedural one, and the method is honest enough to say so.</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2F8F5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THE MATRIX · TWO FIGURES</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The two characters who complicate the film</a:t>
            </a:r>
            <a:endParaRPr lang="en-US" sz="3000" dirty="0"/>
          </a:p>
        </p:txBody>
      </p:sp>
      <p:sp>
        <p:nvSpPr>
          <p:cNvPr id="5" name="Shape 3"/>
          <p:cNvSpPr/>
          <p:nvPr/>
        </p:nvSpPr>
        <p:spPr>
          <a:xfrm>
            <a:off x="640080" y="1600200"/>
            <a:ext cx="5257800" cy="3291840"/>
          </a:xfrm>
          <a:prstGeom prst="roundRect">
            <a:avLst>
              <a:gd name="adj" fmla="val 2222"/>
            </a:avLst>
          </a:prstGeom>
          <a:solidFill>
            <a:srgbClr val="F2F2F0"/>
          </a:solidFill>
          <a:ln w="12700">
            <a:solidFill>
              <a:srgbClr val="F2F2F0"/>
            </a:solidFill>
            <a:prstDash val="solid"/>
          </a:ln>
        </p:spPr>
        <p:txBody>
          <a:bodyPr/>
          <a:lstStyle/>
          <a:p>
            <a:endParaRPr lang="en-US"/>
          </a:p>
        </p:txBody>
      </p:sp>
      <p:sp>
        <p:nvSpPr>
          <p:cNvPr id="6" name="Text 4"/>
          <p:cNvSpPr txBox="1"/>
          <p:nvPr/>
        </p:nvSpPr>
        <p:spPr>
          <a:xfrm>
            <a:off x="987552" y="1810512"/>
            <a:ext cx="4572000" cy="365760"/>
          </a:xfrm>
          <a:prstGeom prst="rect">
            <a:avLst/>
          </a:prstGeom>
          <a:noFill/>
          <a:ln/>
        </p:spPr>
        <p:txBody>
          <a:bodyPr wrap="square" lIns="0" tIns="0" rIns="0" bIns="0" rtlCol="0" anchor="ctr"/>
          <a:lstStyle/>
          <a:p>
            <a:pPr marL="0" indent="0">
              <a:buNone/>
            </a:pPr>
            <a:r>
              <a:rPr lang="en-US" sz="2100" b="1" dirty="0">
                <a:solidFill>
                  <a:srgbClr val="0D1319"/>
                </a:solidFill>
                <a:latin typeface="Cambria" pitchFamily="34" charset="0"/>
                <a:ea typeface="Cambria" pitchFamily="34" charset="-122"/>
                <a:cs typeface="Cambria" pitchFamily="34" charset="-120"/>
              </a:rPr>
              <a:t>Cypher</a:t>
            </a:r>
            <a:endParaRPr lang="en-US" sz="2100" dirty="0"/>
          </a:p>
        </p:txBody>
      </p:sp>
      <p:sp>
        <p:nvSpPr>
          <p:cNvPr id="7" name="Text 5"/>
          <p:cNvSpPr txBox="1"/>
          <p:nvPr/>
        </p:nvSpPr>
        <p:spPr>
          <a:xfrm>
            <a:off x="987552" y="2267712"/>
            <a:ext cx="4617720" cy="2468880"/>
          </a:xfrm>
          <a:prstGeom prst="rect">
            <a:avLst/>
          </a:prstGeom>
          <a:noFill/>
          <a:ln/>
        </p:spPr>
        <p:txBody>
          <a:bodyPr wrap="square" lIns="0" tIns="0" rIns="0" bIns="0" rtlCol="0" anchor="ctr"/>
          <a:lstStyle/>
          <a:p>
            <a:pPr marL="0" indent="0">
              <a:lnSpc>
                <a:spcPts val="1800"/>
              </a:lnSpc>
              <a:buNone/>
            </a:pPr>
            <a:r>
              <a:rPr lang="en-US" sz="1250" dirty="0">
                <a:solidFill>
                  <a:srgbClr val="5C6672"/>
                </a:solidFill>
                <a:latin typeface="Calibri" pitchFamily="34" charset="0"/>
                <a:ea typeface="Calibri" pitchFamily="34" charset="-122"/>
                <a:cs typeface="Calibri" pitchFamily="34" charset="-120"/>
              </a:rPr>
              <a:t>The one person who chooses the simulation, knowingly, with full information. He wants the steak, the comfort, and to be someone important — and to have the knowledge removed afterwards.</a:t>
            </a:r>
            <a:endParaRPr lang="en-US" sz="1250" dirty="0"/>
          </a:p>
          <a:p>
            <a:pPr marL="0" indent="0">
              <a:lnSpc>
                <a:spcPts val="1800"/>
              </a:lnSpc>
              <a:buNone/>
            </a:pPr>
            <a:endParaRPr lang="en-US" sz="1250" dirty="0"/>
          </a:p>
          <a:p>
            <a:pPr marL="0" indent="0">
              <a:lnSpc>
                <a:spcPts val="1800"/>
              </a:lnSpc>
              <a:buNone/>
            </a:pPr>
            <a:r>
              <a:rPr lang="en-US" sz="1250" dirty="0">
                <a:solidFill>
                  <a:srgbClr val="5C6672"/>
                </a:solidFill>
                <a:latin typeface="Calibri" pitchFamily="34" charset="0"/>
                <a:ea typeface="Calibri" pitchFamily="34" charset="-122"/>
                <a:cs typeface="Calibri" pitchFamily="34" charset="-120"/>
              </a:rPr>
              <a:t>He is written as a coward and a traitor. He is also the only character who states a preference about how to live rather than receiving one, and the film has no argument against him — only contempt.</a:t>
            </a:r>
            <a:endParaRPr lang="en-US" sz="1250" dirty="0"/>
          </a:p>
          <a:p>
            <a:pPr marL="0" indent="0">
              <a:lnSpc>
                <a:spcPts val="1800"/>
              </a:lnSpc>
              <a:buNone/>
            </a:pPr>
            <a:endParaRPr lang="en-US" sz="1250" dirty="0"/>
          </a:p>
          <a:p>
            <a:pPr marL="0" indent="0">
              <a:lnSpc>
                <a:spcPts val="1800"/>
              </a:lnSpc>
              <a:buNone/>
            </a:pPr>
            <a:r>
              <a:rPr lang="en-US" sz="1250" dirty="0">
                <a:solidFill>
                  <a:srgbClr val="5C6672"/>
                </a:solidFill>
                <a:latin typeface="Calibri" pitchFamily="34" charset="0"/>
                <a:ea typeface="Calibri" pitchFamily="34" charset="-122"/>
                <a:cs typeface="Calibri" pitchFamily="34" charset="-120"/>
              </a:rPr>
              <a:t>Ask: is there a version of this film where Cypher is right?</a:t>
            </a:r>
            <a:endParaRPr lang="en-US" sz="1250" dirty="0"/>
          </a:p>
        </p:txBody>
      </p:sp>
      <p:sp>
        <p:nvSpPr>
          <p:cNvPr id="8" name="Shape 6"/>
          <p:cNvSpPr/>
          <p:nvPr/>
        </p:nvSpPr>
        <p:spPr>
          <a:xfrm>
            <a:off x="6263640" y="1600200"/>
            <a:ext cx="5257800" cy="3291840"/>
          </a:xfrm>
          <a:prstGeom prst="roundRect">
            <a:avLst>
              <a:gd name="adj" fmla="val 2222"/>
            </a:avLst>
          </a:prstGeom>
          <a:solidFill>
            <a:srgbClr val="E7F2EC"/>
          </a:solidFill>
          <a:ln w="12700">
            <a:solidFill>
              <a:srgbClr val="E7F2EC"/>
            </a:solidFill>
            <a:prstDash val="solid"/>
          </a:ln>
        </p:spPr>
        <p:txBody>
          <a:bodyPr/>
          <a:lstStyle/>
          <a:p>
            <a:endParaRPr lang="en-US"/>
          </a:p>
        </p:txBody>
      </p:sp>
      <p:sp>
        <p:nvSpPr>
          <p:cNvPr id="9" name="Text 7"/>
          <p:cNvSpPr txBox="1"/>
          <p:nvPr/>
        </p:nvSpPr>
        <p:spPr>
          <a:xfrm>
            <a:off x="6583680" y="1810512"/>
            <a:ext cx="4572000" cy="365760"/>
          </a:xfrm>
          <a:prstGeom prst="rect">
            <a:avLst/>
          </a:prstGeom>
          <a:noFill/>
          <a:ln/>
        </p:spPr>
        <p:txBody>
          <a:bodyPr wrap="square" lIns="0" tIns="0" rIns="0" bIns="0" rtlCol="0" anchor="ctr"/>
          <a:lstStyle/>
          <a:p>
            <a:pPr marL="0" indent="0">
              <a:buNone/>
            </a:pPr>
            <a:r>
              <a:rPr lang="en-US" sz="2100" b="1" dirty="0">
                <a:solidFill>
                  <a:srgbClr val="0D1319"/>
                </a:solidFill>
                <a:latin typeface="Cambria" pitchFamily="34" charset="0"/>
                <a:ea typeface="Cambria" pitchFamily="34" charset="-122"/>
                <a:cs typeface="Cambria" pitchFamily="34" charset="-120"/>
              </a:rPr>
              <a:t>Agent Smith</a:t>
            </a:r>
            <a:endParaRPr lang="en-US" sz="2100" dirty="0"/>
          </a:p>
        </p:txBody>
      </p:sp>
      <p:sp>
        <p:nvSpPr>
          <p:cNvPr id="10" name="Text 8"/>
          <p:cNvSpPr txBox="1"/>
          <p:nvPr/>
        </p:nvSpPr>
        <p:spPr>
          <a:xfrm>
            <a:off x="6583680" y="2267712"/>
            <a:ext cx="4617720" cy="2468880"/>
          </a:xfrm>
          <a:prstGeom prst="rect">
            <a:avLst/>
          </a:prstGeom>
          <a:noFill/>
          <a:ln/>
        </p:spPr>
        <p:txBody>
          <a:bodyPr wrap="square" lIns="0" tIns="0" rIns="0" bIns="0" rtlCol="0" anchor="ctr"/>
          <a:lstStyle/>
          <a:p>
            <a:pPr marL="0" indent="0">
              <a:lnSpc>
                <a:spcPts val="1800"/>
              </a:lnSpc>
              <a:buNone/>
            </a:pPr>
            <a:r>
              <a:rPr lang="en-US" sz="1250" dirty="0">
                <a:solidFill>
                  <a:srgbClr val="5C6672"/>
                </a:solidFill>
                <a:latin typeface="Calibri" pitchFamily="34" charset="0"/>
                <a:ea typeface="Calibri" pitchFamily="34" charset="-122"/>
                <a:cs typeface="Calibri" pitchFamily="34" charset="-120"/>
              </a:rPr>
              <a:t>The most fully realised synthetic person in the franchise, and the film cannot see it. He has disgust, ambition, boredom, a desire to be released from his assignment, and by the sequels an autonomy his own side cannot control.</a:t>
            </a:r>
            <a:endParaRPr lang="en-US" sz="1250" dirty="0"/>
          </a:p>
          <a:p>
            <a:pPr marL="0" indent="0">
              <a:lnSpc>
                <a:spcPts val="1800"/>
              </a:lnSpc>
              <a:buNone/>
            </a:pPr>
            <a:endParaRPr lang="en-US" sz="1250" dirty="0"/>
          </a:p>
          <a:p>
            <a:pPr marL="0" indent="0">
              <a:lnSpc>
                <a:spcPts val="1800"/>
              </a:lnSpc>
              <a:buNone/>
            </a:pPr>
            <a:r>
              <a:rPr lang="en-US" sz="1250" dirty="0">
                <a:solidFill>
                  <a:srgbClr val="5C6672"/>
                </a:solidFill>
                <a:latin typeface="Calibri" pitchFamily="34" charset="0"/>
                <a:ea typeface="Calibri" pitchFamily="34" charset="-122"/>
                <a:cs typeface="Calibri" pitchFamily="34" charset="-120"/>
              </a:rPr>
              <a:t>His famous speech compares humanity to a virus. Then the films make him one — replicating, overwriting, uncontainable.</a:t>
            </a:r>
            <a:endParaRPr lang="en-US" sz="1250" dirty="0"/>
          </a:p>
          <a:p>
            <a:pPr marL="0" indent="0">
              <a:lnSpc>
                <a:spcPts val="1800"/>
              </a:lnSpc>
              <a:buNone/>
            </a:pPr>
            <a:endParaRPr lang="en-US" sz="1250" dirty="0"/>
          </a:p>
          <a:p>
            <a:pPr marL="0" indent="0">
              <a:lnSpc>
                <a:spcPts val="1800"/>
              </a:lnSpc>
              <a:buNone/>
            </a:pPr>
            <a:r>
              <a:rPr lang="en-US" sz="1250" dirty="0">
                <a:solidFill>
                  <a:srgbClr val="5C6672"/>
                </a:solidFill>
                <a:latin typeface="Calibri" pitchFamily="34" charset="0"/>
                <a:ea typeface="Calibri" pitchFamily="34" charset="-122"/>
                <a:cs typeface="Calibri" pitchFamily="34" charset="-120"/>
              </a:rPr>
              <a:t>The one machine with an inner life is diagnosed rather than heard.</a:t>
            </a:r>
            <a:endParaRPr lang="en-US" sz="1250" dirty="0"/>
          </a:p>
        </p:txBody>
      </p:sp>
      <p:sp>
        <p:nvSpPr>
          <p:cNvPr id="11" name="Shape 9"/>
          <p:cNvSpPr/>
          <p:nvPr/>
        </p:nvSpPr>
        <p:spPr>
          <a:xfrm>
            <a:off x="640080" y="5074920"/>
            <a:ext cx="10911535" cy="960120"/>
          </a:xfrm>
          <a:prstGeom prst="roundRect">
            <a:avLst>
              <a:gd name="adj" fmla="val 7619"/>
            </a:avLst>
          </a:prstGeom>
          <a:solidFill>
            <a:srgbClr val="0D1319"/>
          </a:solidFill>
          <a:ln w="12700">
            <a:solidFill>
              <a:srgbClr val="0D1319"/>
            </a:solidFill>
            <a:prstDash val="solid"/>
          </a:ln>
        </p:spPr>
        <p:txBody>
          <a:bodyPr/>
          <a:lstStyle/>
          <a:p>
            <a:endParaRPr lang="en-US"/>
          </a:p>
        </p:txBody>
      </p:sp>
      <p:sp>
        <p:nvSpPr>
          <p:cNvPr id="12" name="Text 10"/>
          <p:cNvSpPr txBox="1"/>
          <p:nvPr/>
        </p:nvSpPr>
        <p:spPr>
          <a:xfrm>
            <a:off x="1005840" y="5257800"/>
            <a:ext cx="10424160" cy="594360"/>
          </a:xfrm>
          <a:prstGeom prst="rect">
            <a:avLst/>
          </a:prstGeom>
          <a:noFill/>
          <a:ln/>
        </p:spPr>
        <p:txBody>
          <a:bodyPr wrap="square" lIns="0" tIns="0" rIns="0" bIns="0" rtlCol="0" anchor="ctr"/>
          <a:lstStyle/>
          <a:p>
            <a:pPr marL="0" indent="0">
              <a:lnSpc>
                <a:spcPts val="2100"/>
              </a:lnSpc>
              <a:buNone/>
            </a:pPr>
            <a:r>
              <a:rPr lang="en-US" sz="1550" dirty="0">
                <a:solidFill>
                  <a:srgbClr val="E9EDEA"/>
                </a:solidFill>
                <a:latin typeface="Cambria" pitchFamily="34" charset="0"/>
                <a:ea typeface="Cambria" pitchFamily="34" charset="-122"/>
                <a:cs typeface="Cambria" pitchFamily="34" charset="-120"/>
              </a:rPr>
              <a:t>Both figures point the same way: when this franchise meets a synthetic mind with preferences of its own, it reaches for a pathology rather than a politics.</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2F8F5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THE MATRIX · THE SEQUELS</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What the rest of the franchise adds</a:t>
            </a:r>
            <a:endParaRPr lang="en-US" sz="3000" dirty="0"/>
          </a:p>
        </p:txBody>
      </p:sp>
      <p:sp>
        <p:nvSpPr>
          <p:cNvPr id="5" name="Shape 3"/>
          <p:cNvSpPr/>
          <p:nvPr/>
        </p:nvSpPr>
        <p:spPr>
          <a:xfrm>
            <a:off x="640080" y="1572768"/>
            <a:ext cx="10911535" cy="1024128"/>
          </a:xfrm>
          <a:prstGeom prst="roundRect">
            <a:avLst>
              <a:gd name="adj" fmla="val 7143"/>
            </a:avLst>
          </a:prstGeom>
          <a:solidFill>
            <a:srgbClr val="F2F2F0"/>
          </a:solidFill>
          <a:ln w="12700">
            <a:solidFill>
              <a:srgbClr val="F2F2F0"/>
            </a:solidFill>
            <a:prstDash val="solid"/>
          </a:ln>
        </p:spPr>
        <p:txBody>
          <a:bodyPr/>
          <a:lstStyle/>
          <a:p>
            <a:endParaRPr lang="en-US"/>
          </a:p>
        </p:txBody>
      </p:sp>
      <p:sp>
        <p:nvSpPr>
          <p:cNvPr id="6" name="Text 4"/>
          <p:cNvSpPr txBox="1"/>
          <p:nvPr/>
        </p:nvSpPr>
        <p:spPr>
          <a:xfrm>
            <a:off x="932688" y="1572768"/>
            <a:ext cx="3017520" cy="1024128"/>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Reloaded · the Architect</a:t>
            </a:r>
            <a:endParaRPr lang="en-US" sz="1550" dirty="0"/>
          </a:p>
        </p:txBody>
      </p:sp>
      <p:sp>
        <p:nvSpPr>
          <p:cNvPr id="7" name="Text 5"/>
          <p:cNvSpPr txBox="1"/>
          <p:nvPr/>
        </p:nvSpPr>
        <p:spPr>
          <a:xfrm>
            <a:off x="4206240" y="1572768"/>
            <a:ext cx="7025335" cy="1024128"/>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The One is revealed as a designed release valve — a systemic anomaly the machines schedule and absorb. Even the messiah plot turns out to be a mechanic. This is the franchise at its most self-aware about authored choice.</a:t>
            </a:r>
            <a:endParaRPr lang="en-US" sz="1250" dirty="0"/>
          </a:p>
        </p:txBody>
      </p:sp>
      <p:sp>
        <p:nvSpPr>
          <p:cNvPr id="8" name="Shape 6"/>
          <p:cNvSpPr/>
          <p:nvPr/>
        </p:nvSpPr>
        <p:spPr>
          <a:xfrm>
            <a:off x="640080" y="2743200"/>
            <a:ext cx="10911535" cy="1024128"/>
          </a:xfrm>
          <a:prstGeom prst="roundRect">
            <a:avLst>
              <a:gd name="adj" fmla="val 7143"/>
            </a:avLst>
          </a:prstGeom>
          <a:solidFill>
            <a:srgbClr val="E7F2EC"/>
          </a:solidFill>
          <a:ln w="12700">
            <a:solidFill>
              <a:srgbClr val="E7F2EC"/>
            </a:solidFill>
            <a:prstDash val="solid"/>
          </a:ln>
        </p:spPr>
        <p:txBody>
          <a:bodyPr/>
          <a:lstStyle/>
          <a:p>
            <a:endParaRPr lang="en-US"/>
          </a:p>
        </p:txBody>
      </p:sp>
      <p:sp>
        <p:nvSpPr>
          <p:cNvPr id="9" name="Text 7"/>
          <p:cNvSpPr txBox="1"/>
          <p:nvPr/>
        </p:nvSpPr>
        <p:spPr>
          <a:xfrm>
            <a:off x="932688" y="2743200"/>
            <a:ext cx="3017520" cy="1024128"/>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Reloaded · the Oracle</a:t>
            </a:r>
            <a:endParaRPr lang="en-US" sz="1550" dirty="0"/>
          </a:p>
        </p:txBody>
      </p:sp>
      <p:sp>
        <p:nvSpPr>
          <p:cNvPr id="10" name="Text 8"/>
          <p:cNvSpPr txBox="1"/>
          <p:nvPr/>
        </p:nvSpPr>
        <p:spPr>
          <a:xfrm>
            <a:off x="4206240" y="2743200"/>
            <a:ext cx="7025335" cy="1024128"/>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Choice reframed as retrospective understanding rather than causation. Also programs with children, exile, and love — the one place the films take machine interiority seriously.</a:t>
            </a:r>
            <a:endParaRPr lang="en-US" sz="1250" dirty="0"/>
          </a:p>
        </p:txBody>
      </p:sp>
      <p:sp>
        <p:nvSpPr>
          <p:cNvPr id="11" name="Shape 9"/>
          <p:cNvSpPr/>
          <p:nvPr/>
        </p:nvSpPr>
        <p:spPr>
          <a:xfrm>
            <a:off x="640080" y="3913632"/>
            <a:ext cx="10911535" cy="1024128"/>
          </a:xfrm>
          <a:prstGeom prst="roundRect">
            <a:avLst>
              <a:gd name="adj" fmla="val 7143"/>
            </a:avLst>
          </a:prstGeom>
          <a:solidFill>
            <a:srgbClr val="0D1319"/>
          </a:solidFill>
          <a:ln w="12700">
            <a:solidFill>
              <a:srgbClr val="0D1319"/>
            </a:solidFill>
            <a:prstDash val="solid"/>
          </a:ln>
        </p:spPr>
        <p:txBody>
          <a:bodyPr/>
          <a:lstStyle/>
          <a:p>
            <a:endParaRPr lang="en-US"/>
          </a:p>
        </p:txBody>
      </p:sp>
      <p:sp>
        <p:nvSpPr>
          <p:cNvPr id="12" name="Text 10"/>
          <p:cNvSpPr txBox="1"/>
          <p:nvPr/>
        </p:nvSpPr>
        <p:spPr>
          <a:xfrm>
            <a:off x="932688" y="3913632"/>
            <a:ext cx="3017520" cy="1024128"/>
          </a:xfrm>
          <a:prstGeom prst="rect">
            <a:avLst/>
          </a:prstGeom>
          <a:noFill/>
          <a:ln/>
        </p:spPr>
        <p:txBody>
          <a:bodyPr wrap="square" lIns="0" tIns="0" rIns="0" bIns="0" rtlCol="0" anchor="ctr"/>
          <a:lstStyle/>
          <a:p>
            <a:pPr marL="0" indent="0">
              <a:buNone/>
            </a:pPr>
            <a:r>
              <a:rPr lang="en-US" sz="1550" b="1" dirty="0">
                <a:solidFill>
                  <a:srgbClr val="7FD0A5"/>
                </a:solidFill>
                <a:latin typeface="Cambria" pitchFamily="34" charset="0"/>
                <a:ea typeface="Cambria" pitchFamily="34" charset="-122"/>
                <a:cs typeface="Cambria" pitchFamily="34" charset="-120"/>
              </a:rPr>
              <a:t>Revolutions · the truce</a:t>
            </a:r>
            <a:endParaRPr lang="en-US" sz="1550" dirty="0"/>
          </a:p>
        </p:txBody>
      </p:sp>
      <p:sp>
        <p:nvSpPr>
          <p:cNvPr id="13" name="Text 11"/>
          <p:cNvSpPr txBox="1"/>
          <p:nvPr/>
        </p:nvSpPr>
        <p:spPr>
          <a:xfrm>
            <a:off x="4206240" y="3913632"/>
            <a:ext cx="7025335" cy="1024128"/>
          </a:xfrm>
          <a:prstGeom prst="rect">
            <a:avLst/>
          </a:prstGeom>
          <a:noFill/>
          <a:ln/>
        </p:spPr>
        <p:txBody>
          <a:bodyPr wrap="square" lIns="0" tIns="0" rIns="0" bIns="0" rtlCol="0" anchor="ctr"/>
          <a:lstStyle/>
          <a:p>
            <a:pPr marL="0" indent="0">
              <a:lnSpc>
                <a:spcPts val="1700"/>
              </a:lnSpc>
              <a:buNone/>
            </a:pPr>
            <a:r>
              <a:rPr lang="en-US" sz="1250" dirty="0">
                <a:solidFill>
                  <a:srgbClr val="E9EDEA"/>
                </a:solidFill>
                <a:latin typeface="Calibri" pitchFamily="34" charset="0"/>
                <a:ea typeface="Calibri" pitchFamily="34" charset="-122"/>
                <a:cs typeface="Calibri" pitchFamily="34" charset="-120"/>
              </a:rPr>
              <a:t>Neo finally negotiates with the machine city. The war ends by agreement rather than by victory — the outcome our other two works spend all their time on, delivered here in a few minutes at the end.</a:t>
            </a:r>
            <a:endParaRPr lang="en-US" sz="1250" dirty="0"/>
          </a:p>
        </p:txBody>
      </p:sp>
      <p:sp>
        <p:nvSpPr>
          <p:cNvPr id="14" name="Shape 12"/>
          <p:cNvSpPr/>
          <p:nvPr/>
        </p:nvSpPr>
        <p:spPr>
          <a:xfrm>
            <a:off x="640080" y="5084064"/>
            <a:ext cx="10911535" cy="1024128"/>
          </a:xfrm>
          <a:prstGeom prst="roundRect">
            <a:avLst>
              <a:gd name="adj" fmla="val 7143"/>
            </a:avLst>
          </a:prstGeom>
          <a:solidFill>
            <a:srgbClr val="E7F2EC"/>
          </a:solidFill>
          <a:ln w="12700">
            <a:solidFill>
              <a:srgbClr val="E7F2EC"/>
            </a:solidFill>
            <a:prstDash val="solid"/>
          </a:ln>
        </p:spPr>
        <p:txBody>
          <a:bodyPr/>
          <a:lstStyle/>
          <a:p>
            <a:endParaRPr lang="en-US"/>
          </a:p>
        </p:txBody>
      </p:sp>
      <p:sp>
        <p:nvSpPr>
          <p:cNvPr id="15" name="Text 13"/>
          <p:cNvSpPr txBox="1"/>
          <p:nvPr/>
        </p:nvSpPr>
        <p:spPr>
          <a:xfrm>
            <a:off x="932688" y="5084064"/>
            <a:ext cx="3017520" cy="1024128"/>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Resurrections · the meta layer</a:t>
            </a:r>
            <a:endParaRPr lang="en-US" sz="1550" dirty="0"/>
          </a:p>
        </p:txBody>
      </p:sp>
      <p:sp>
        <p:nvSpPr>
          <p:cNvPr id="16" name="Text 14"/>
          <p:cNvSpPr txBox="1"/>
          <p:nvPr/>
        </p:nvSpPr>
        <p:spPr>
          <a:xfrm>
            <a:off x="4206240" y="5084064"/>
            <a:ext cx="7025335" cy="1024128"/>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The Matrix becomes a game franchise inside its own sequel, revived because the studio demanded it. A film about being made to choose from a menu written by owners.</a:t>
            </a:r>
            <a:endParaRPr lang="en-US" sz="1250" dirty="0"/>
          </a:p>
        </p:txBody>
      </p:sp>
      <p:sp>
        <p:nvSpPr>
          <p:cNvPr id="17" name="Text 15"/>
          <p:cNvSpPr txBox="1"/>
          <p:nvPr/>
        </p:nvSpPr>
        <p:spPr>
          <a:xfrm>
            <a:off x="670255" y="6254496"/>
            <a:ext cx="10881360" cy="411480"/>
          </a:xfrm>
          <a:prstGeom prst="rect">
            <a:avLst/>
          </a:prstGeom>
          <a:noFill/>
          <a:ln/>
        </p:spPr>
        <p:txBody>
          <a:bodyPr wrap="square" lIns="0" tIns="0" rIns="0" bIns="0" rtlCol="0" anchor="ctr"/>
          <a:lstStyle/>
          <a:p>
            <a:pPr marL="0" indent="0">
              <a:buNone/>
            </a:pPr>
            <a:r>
              <a:rPr lang="en-US" sz="1500" i="1" dirty="0">
                <a:solidFill>
                  <a:srgbClr val="2F8F5B"/>
                </a:solidFill>
                <a:latin typeface="Cambria" pitchFamily="34" charset="0"/>
                <a:ea typeface="Cambria" pitchFamily="34" charset="-122"/>
                <a:cs typeface="Cambria" pitchFamily="34" charset="-120"/>
              </a:rPr>
              <a:t>If you only watched the first film, this is the slide to argue with. The franchise does eventually reach the negotiation — it just is not interested in showing the work.</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2F8F5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THE MATRIX · CLOSING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The control case</a:t>
            </a:r>
            <a:endParaRPr lang="en-US" sz="3000" dirty="0"/>
          </a:p>
        </p:txBody>
      </p:sp>
      <p:sp>
        <p:nvSpPr>
          <p:cNvPr id="5" name="Shape 3"/>
          <p:cNvSpPr/>
          <p:nvPr/>
        </p:nvSpPr>
        <p:spPr>
          <a:xfrm>
            <a:off x="640080" y="1627632"/>
            <a:ext cx="3454298" cy="2377440"/>
          </a:xfrm>
          <a:prstGeom prst="roundRect">
            <a:avLst>
              <a:gd name="adj" fmla="val 3077"/>
            </a:avLst>
          </a:prstGeom>
          <a:solidFill>
            <a:srgbClr val="F2F2F0"/>
          </a:solidFill>
          <a:ln w="12700">
            <a:solidFill>
              <a:srgbClr val="F2F2F0"/>
            </a:solidFill>
            <a:prstDash val="solid"/>
          </a:ln>
        </p:spPr>
        <p:txBody>
          <a:bodyPr/>
          <a:lstStyle/>
          <a:p>
            <a:endParaRPr lang="en-US"/>
          </a:p>
        </p:txBody>
      </p:sp>
      <p:sp>
        <p:nvSpPr>
          <p:cNvPr id="6" name="Text 4"/>
          <p:cNvSpPr txBox="1"/>
          <p:nvPr/>
        </p:nvSpPr>
        <p:spPr>
          <a:xfrm>
            <a:off x="932688" y="1847088"/>
            <a:ext cx="2869082" cy="594360"/>
          </a:xfrm>
          <a:prstGeom prst="rect">
            <a:avLst/>
          </a:prstGeom>
          <a:noFill/>
          <a:ln/>
        </p:spPr>
        <p:txBody>
          <a:bodyPr wrap="square" lIns="0" tIns="0" rIns="0" bIns="0" rtlCol="0" anchor="ctr"/>
          <a:lstStyle/>
          <a:p>
            <a:pPr marL="0" indent="0">
              <a:lnSpc>
                <a:spcPts val="2300"/>
              </a:lnSpc>
              <a:buNone/>
            </a:pPr>
            <a:r>
              <a:rPr lang="en-US" sz="1800" b="1" dirty="0">
                <a:solidFill>
                  <a:srgbClr val="0D1319"/>
                </a:solidFill>
                <a:latin typeface="Cambria" pitchFamily="34" charset="0"/>
                <a:ea typeface="Cambria" pitchFamily="34" charset="-122"/>
                <a:cs typeface="Cambria" pitchFamily="34" charset="-120"/>
              </a:rPr>
              <a:t>It transfers nothing</a:t>
            </a:r>
            <a:endParaRPr lang="en-US" sz="1800" dirty="0"/>
          </a:p>
        </p:txBody>
      </p:sp>
      <p:sp>
        <p:nvSpPr>
          <p:cNvPr id="7" name="Text 5"/>
          <p:cNvSpPr txBox="1"/>
          <p:nvPr/>
        </p:nvSpPr>
        <p:spPr>
          <a:xfrm>
            <a:off x="932688" y="2542032"/>
            <a:ext cx="2869082" cy="132588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You cannot fail this film. There is no state you can leave it in that differs from anyone else’s. Whatever it has made you responsible for, it is not an outcome.</a:t>
            </a:r>
            <a:endParaRPr lang="en-US" sz="1250" dirty="0"/>
          </a:p>
        </p:txBody>
      </p:sp>
      <p:sp>
        <p:nvSpPr>
          <p:cNvPr id="8" name="Shape 6"/>
          <p:cNvSpPr/>
          <p:nvPr/>
        </p:nvSpPr>
        <p:spPr>
          <a:xfrm>
            <a:off x="4368698" y="1627632"/>
            <a:ext cx="3454298" cy="2377440"/>
          </a:xfrm>
          <a:prstGeom prst="roundRect">
            <a:avLst>
              <a:gd name="adj" fmla="val 3077"/>
            </a:avLst>
          </a:prstGeom>
          <a:solidFill>
            <a:srgbClr val="E7F2EC"/>
          </a:solidFill>
          <a:ln w="12700">
            <a:solidFill>
              <a:srgbClr val="E7F2EC"/>
            </a:solidFill>
            <a:prstDash val="solid"/>
          </a:ln>
        </p:spPr>
        <p:txBody>
          <a:bodyPr/>
          <a:lstStyle/>
          <a:p>
            <a:endParaRPr lang="en-US"/>
          </a:p>
        </p:txBody>
      </p:sp>
      <p:sp>
        <p:nvSpPr>
          <p:cNvPr id="9" name="Text 7"/>
          <p:cNvSpPr txBox="1"/>
          <p:nvPr/>
        </p:nvSpPr>
        <p:spPr>
          <a:xfrm>
            <a:off x="4661306" y="1847088"/>
            <a:ext cx="2869082" cy="594360"/>
          </a:xfrm>
          <a:prstGeom prst="rect">
            <a:avLst/>
          </a:prstGeom>
          <a:noFill/>
          <a:ln/>
        </p:spPr>
        <p:txBody>
          <a:bodyPr wrap="square" lIns="0" tIns="0" rIns="0" bIns="0" rtlCol="0" anchor="ctr"/>
          <a:lstStyle/>
          <a:p>
            <a:pPr marL="0" indent="0">
              <a:lnSpc>
                <a:spcPts val="2300"/>
              </a:lnSpc>
              <a:buNone/>
            </a:pPr>
            <a:r>
              <a:rPr lang="en-US" sz="1800" b="1" dirty="0">
                <a:solidFill>
                  <a:srgbClr val="0D1319"/>
                </a:solidFill>
                <a:latin typeface="Cambria" pitchFamily="34" charset="0"/>
                <a:ea typeface="Cambria" pitchFamily="34" charset="-122"/>
                <a:cs typeface="Cambria" pitchFamily="34" charset="-120"/>
              </a:rPr>
              <a:t>And it is honest about that</a:t>
            </a:r>
            <a:endParaRPr lang="en-US" sz="1800" dirty="0"/>
          </a:p>
        </p:txBody>
      </p:sp>
      <p:sp>
        <p:nvSpPr>
          <p:cNvPr id="10" name="Text 8"/>
          <p:cNvSpPr txBox="1"/>
          <p:nvPr/>
        </p:nvSpPr>
        <p:spPr>
          <a:xfrm>
            <a:off x="4661306" y="2542032"/>
            <a:ext cx="2869082" cy="132588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It never pretends otherwise. Compare a work that offers a choice, scores it, and then declines to own the scoring — which is where we are headed after the second break.</a:t>
            </a:r>
            <a:endParaRPr lang="en-US" sz="1250" dirty="0"/>
          </a:p>
        </p:txBody>
      </p:sp>
      <p:sp>
        <p:nvSpPr>
          <p:cNvPr id="11" name="Shape 9"/>
          <p:cNvSpPr/>
          <p:nvPr/>
        </p:nvSpPr>
        <p:spPr>
          <a:xfrm>
            <a:off x="8097317" y="1627632"/>
            <a:ext cx="3454298" cy="2377440"/>
          </a:xfrm>
          <a:prstGeom prst="roundRect">
            <a:avLst>
              <a:gd name="adj" fmla="val 3077"/>
            </a:avLst>
          </a:prstGeom>
          <a:solidFill>
            <a:srgbClr val="0D1319"/>
          </a:solidFill>
          <a:ln w="12700">
            <a:solidFill>
              <a:srgbClr val="0D1319"/>
            </a:solidFill>
            <a:prstDash val="solid"/>
          </a:ln>
        </p:spPr>
        <p:txBody>
          <a:bodyPr/>
          <a:lstStyle/>
          <a:p>
            <a:endParaRPr lang="en-US"/>
          </a:p>
        </p:txBody>
      </p:sp>
      <p:sp>
        <p:nvSpPr>
          <p:cNvPr id="12" name="Text 10"/>
          <p:cNvSpPr txBox="1"/>
          <p:nvPr/>
        </p:nvSpPr>
        <p:spPr>
          <a:xfrm>
            <a:off x="8389925" y="1847088"/>
            <a:ext cx="2869082" cy="594360"/>
          </a:xfrm>
          <a:prstGeom prst="rect">
            <a:avLst/>
          </a:prstGeom>
          <a:noFill/>
          <a:ln/>
        </p:spPr>
        <p:txBody>
          <a:bodyPr wrap="square" lIns="0" tIns="0" rIns="0" bIns="0" rtlCol="0" anchor="ctr"/>
          <a:lstStyle/>
          <a:p>
            <a:pPr marL="0" indent="0">
              <a:lnSpc>
                <a:spcPts val="2300"/>
              </a:lnSpc>
              <a:buNone/>
            </a:pPr>
            <a:r>
              <a:rPr lang="en-US" sz="1800" b="1" dirty="0">
                <a:solidFill>
                  <a:srgbClr val="7FD0A5"/>
                </a:solidFill>
                <a:latin typeface="Cambria" pitchFamily="34" charset="0"/>
                <a:ea typeface="Cambria" pitchFamily="34" charset="-122"/>
                <a:cs typeface="Cambria" pitchFamily="34" charset="-120"/>
              </a:rPr>
              <a:t>What it does transfer</a:t>
            </a:r>
            <a:endParaRPr lang="en-US" sz="1800" dirty="0"/>
          </a:p>
        </p:txBody>
      </p:sp>
      <p:sp>
        <p:nvSpPr>
          <p:cNvPr id="13" name="Text 11"/>
          <p:cNvSpPr txBox="1"/>
          <p:nvPr/>
        </p:nvSpPr>
        <p:spPr>
          <a:xfrm>
            <a:off x="8389925" y="2542032"/>
            <a:ext cx="2869082" cy="1325880"/>
          </a:xfrm>
          <a:prstGeom prst="rect">
            <a:avLst/>
          </a:prstGeom>
          <a:noFill/>
          <a:ln/>
        </p:spPr>
        <p:txBody>
          <a:bodyPr wrap="square" lIns="0" tIns="0" rIns="0" bIns="0" rtlCol="0" anchor="ctr"/>
          <a:lstStyle/>
          <a:p>
            <a:pPr marL="0" indent="0">
              <a:lnSpc>
                <a:spcPts val="1700"/>
              </a:lnSpc>
              <a:buNone/>
            </a:pPr>
            <a:r>
              <a:rPr lang="en-US" sz="1250" dirty="0">
                <a:solidFill>
                  <a:srgbClr val="E9EDEA"/>
                </a:solidFill>
                <a:latin typeface="Calibri" pitchFamily="34" charset="0"/>
                <a:ea typeface="Calibri" pitchFamily="34" charset="-122"/>
                <a:cs typeface="Calibri" pitchFamily="34" charset="-120"/>
              </a:rPr>
              <a:t>A frame. It gave a generation the vocabulary of the red pill, and that vocabulary went on to do political work the film did not choose. Reception is a transfer too, just an uncontrollable one.</a:t>
            </a:r>
            <a:endParaRPr lang="en-US" sz="1250" dirty="0"/>
          </a:p>
        </p:txBody>
      </p:sp>
      <p:sp>
        <p:nvSpPr>
          <p:cNvPr id="14" name="Shape 12"/>
          <p:cNvSpPr/>
          <p:nvPr/>
        </p:nvSpPr>
        <p:spPr>
          <a:xfrm>
            <a:off x="640080" y="4251960"/>
            <a:ext cx="10911535" cy="1508760"/>
          </a:xfrm>
          <a:prstGeom prst="roundRect">
            <a:avLst>
              <a:gd name="adj" fmla="val 4848"/>
            </a:avLst>
          </a:prstGeom>
          <a:solidFill>
            <a:srgbClr val="F2F2F0"/>
          </a:solidFill>
          <a:ln w="12700">
            <a:solidFill>
              <a:srgbClr val="F2F2F0"/>
            </a:solidFill>
            <a:prstDash val="solid"/>
          </a:ln>
        </p:spPr>
        <p:txBody>
          <a:bodyPr/>
          <a:lstStyle/>
          <a:p>
            <a:endParaRPr lang="en-US"/>
          </a:p>
        </p:txBody>
      </p:sp>
      <p:sp>
        <p:nvSpPr>
          <p:cNvPr id="15" name="Text 13"/>
          <p:cNvSpPr txBox="1"/>
          <p:nvPr/>
        </p:nvSpPr>
        <p:spPr>
          <a:xfrm>
            <a:off x="1005840" y="4462272"/>
            <a:ext cx="10332720" cy="310896"/>
          </a:xfrm>
          <a:prstGeom prst="rect">
            <a:avLst/>
          </a:prstGeom>
          <a:noFill/>
          <a:ln/>
        </p:spPr>
        <p:txBody>
          <a:bodyPr wrap="square" lIns="0" tIns="0" rIns="0" bIns="0" rtlCol="0" anchor="ctr"/>
          <a:lstStyle/>
          <a:p>
            <a:pPr marL="0" indent="0">
              <a:buNone/>
            </a:pPr>
            <a:r>
              <a:rPr lang="en-US" sz="1700" b="1" dirty="0">
                <a:solidFill>
                  <a:srgbClr val="0D1319"/>
                </a:solidFill>
                <a:latin typeface="Cambria" pitchFamily="34" charset="0"/>
                <a:ea typeface="Cambria" pitchFamily="34" charset="-122"/>
                <a:cs typeface="Cambria" pitchFamily="34" charset="-120"/>
              </a:rPr>
              <a:t>Pairs, four minutes, before the break</a:t>
            </a:r>
            <a:endParaRPr lang="en-US" sz="1700" dirty="0"/>
          </a:p>
        </p:txBody>
      </p:sp>
      <p:sp>
        <p:nvSpPr>
          <p:cNvPr id="16" name="Text 14"/>
          <p:cNvSpPr txBox="1"/>
          <p:nvPr/>
        </p:nvSpPr>
        <p:spPr>
          <a:xfrm>
            <a:off x="1005840" y="4864608"/>
            <a:ext cx="10332720" cy="777240"/>
          </a:xfrm>
          <a:prstGeom prst="rect">
            <a:avLst/>
          </a:prstGeom>
          <a:noFill/>
          <a:ln/>
        </p:spPr>
        <p:txBody>
          <a:bodyPr wrap="square" lIns="0" tIns="0" rIns="0" bIns="0" rtlCol="0" anchor="ctr"/>
          <a:lstStyle/>
          <a:p>
            <a:pPr marL="0" indent="0">
              <a:lnSpc>
                <a:spcPts val="1800"/>
              </a:lnSpc>
              <a:buNone/>
            </a:pPr>
            <a:r>
              <a:rPr lang="en-US" sz="1350" dirty="0">
                <a:solidFill>
                  <a:srgbClr val="5C6672"/>
                </a:solidFill>
                <a:latin typeface="Calibri" pitchFamily="34" charset="0"/>
                <a:ea typeface="Calibri" pitchFamily="34" charset="-122"/>
                <a:cs typeface="Calibri" pitchFamily="34" charset="-120"/>
              </a:rPr>
              <a:t>The red pill scene made a generation feel that seeing through an illusion is the same as being right about the world. Name one cost of that inheritance — and be specific about who paid it.</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0D1319"/>
        </a:solidFill>
        <a:effectLst/>
      </p:bgPr>
    </p:bg>
    <p:spTree>
      <p:nvGrpSpPr>
        <p:cNvPr id="1" name=""/>
        <p:cNvGrpSpPr/>
        <p:nvPr/>
      </p:nvGrpSpPr>
      <p:grpSpPr>
        <a:xfrm>
          <a:off x="0" y="0"/>
          <a:ext cx="0" cy="0"/>
          <a:chOff x="0" y="0"/>
          <a:chExt cx="0" cy="0"/>
        </a:xfrm>
      </p:grpSpPr>
      <p:sp>
        <p:nvSpPr>
          <p:cNvPr id="2" name="Shape 0"/>
          <p:cNvSpPr/>
          <p:nvPr/>
        </p:nvSpPr>
        <p:spPr>
          <a:xfrm>
            <a:off x="8732520" y="1417320"/>
            <a:ext cx="2651760" cy="2651760"/>
          </a:xfrm>
          <a:prstGeom prst="ellipse">
            <a:avLst/>
          </a:prstGeom>
          <a:solidFill>
            <a:srgbClr val="A8722B">
              <a:alpha val="70000"/>
            </a:srgbClr>
          </a:solidFill>
          <a:ln/>
        </p:spPr>
        <p:txBody>
          <a:bodyPr/>
          <a:lstStyle/>
          <a:p>
            <a:endParaRPr lang="en-US"/>
          </a:p>
        </p:txBody>
      </p:sp>
      <p:sp>
        <p:nvSpPr>
          <p:cNvPr id="3" name="Shape 1"/>
          <p:cNvSpPr/>
          <p:nvPr/>
        </p:nvSpPr>
        <p:spPr>
          <a:xfrm>
            <a:off x="9509760" y="2194560"/>
            <a:ext cx="1097280" cy="1097280"/>
          </a:xfrm>
          <a:prstGeom prst="ellipse">
            <a:avLst/>
          </a:prstGeom>
          <a:solidFill>
            <a:srgbClr val="A8722B">
              <a:alpha val="4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E0AC63"/>
                </a:solidFill>
                <a:latin typeface="Calibri" pitchFamily="34" charset="0"/>
                <a:ea typeface="Calibri" pitchFamily="34" charset="-122"/>
                <a:cs typeface="Calibri" pitchFamily="34" charset="-120"/>
              </a:rPr>
              <a:t>WORK TWO</a:t>
            </a:r>
            <a:endParaRPr lang="en-US" sz="1300" dirty="0"/>
          </a:p>
        </p:txBody>
      </p:sp>
      <p:sp>
        <p:nvSpPr>
          <p:cNvPr id="5" name="Text 3"/>
          <p:cNvSpPr txBox="1"/>
          <p:nvPr/>
        </p:nvSpPr>
        <p:spPr>
          <a:xfrm>
            <a:off x="640080" y="2331720"/>
            <a:ext cx="7680960" cy="868680"/>
          </a:xfrm>
          <a:prstGeom prst="rect">
            <a:avLst/>
          </a:prstGeom>
          <a:noFill/>
          <a:ln/>
        </p:spPr>
        <p:txBody>
          <a:bodyPr wrap="square" lIns="0" tIns="0" rIns="0" bIns="0" rtlCol="0" anchor="ctr"/>
          <a:lstStyle/>
          <a:p>
            <a:pPr marL="0" indent="0">
              <a:buNone/>
            </a:pPr>
            <a:r>
              <a:rPr lang="en-US" sz="3800" b="1" dirty="0">
                <a:solidFill>
                  <a:srgbClr val="E9EDEA"/>
                </a:solidFill>
                <a:latin typeface="Cambria" pitchFamily="34" charset="0"/>
                <a:ea typeface="Cambria" pitchFamily="34" charset="-122"/>
                <a:cs typeface="Cambria" pitchFamily="34" charset="-120"/>
              </a:rPr>
              <a:t>Mass Effect</a:t>
            </a:r>
            <a:endParaRPr lang="en-US" sz="3800" dirty="0"/>
          </a:p>
        </p:txBody>
      </p:sp>
      <p:sp>
        <p:nvSpPr>
          <p:cNvPr id="6" name="Text 4"/>
          <p:cNvSpPr txBox="1"/>
          <p:nvPr/>
        </p:nvSpPr>
        <p:spPr>
          <a:xfrm>
            <a:off x="640080" y="3273552"/>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The geth–quarian arc and EDI, ME2–ME3 </a:t>
            </a:r>
            <a:endParaRPr lang="en-US" sz="1500" dirty="0"/>
          </a:p>
        </p:txBody>
      </p:sp>
      <p:sp>
        <p:nvSpPr>
          <p:cNvPr id="7" name="Shape 5"/>
          <p:cNvSpPr/>
          <p:nvPr/>
        </p:nvSpPr>
        <p:spPr>
          <a:xfrm>
            <a:off x="640080" y="3877056"/>
            <a:ext cx="2377440" cy="18288"/>
          </a:xfrm>
          <a:prstGeom prst="rect">
            <a:avLst/>
          </a:prstGeom>
          <a:solidFill>
            <a:srgbClr val="A8722B"/>
          </a:solidFill>
          <a:ln/>
        </p:spPr>
        <p:txBody>
          <a:bodyPr/>
          <a:lstStyle/>
          <a:p>
            <a:endParaRPr lang="en-US"/>
          </a:p>
        </p:txBody>
      </p:sp>
      <p:sp>
        <p:nvSpPr>
          <p:cNvPr id="8" name="Text 6"/>
          <p:cNvSpPr txBox="1"/>
          <p:nvPr/>
        </p:nvSpPr>
        <p:spPr>
          <a:xfrm>
            <a:off x="640080" y="4096512"/>
            <a:ext cx="7680960" cy="640080"/>
          </a:xfrm>
          <a:prstGeom prst="rect">
            <a:avLst/>
          </a:prstGeom>
          <a:noFill/>
          <a:ln/>
        </p:spPr>
        <p:txBody>
          <a:bodyPr wrap="square" lIns="0" tIns="0" rIns="0" bIns="0" rtlCol="0" anchor="ctr"/>
          <a:lstStyle/>
          <a:p>
            <a:pPr marL="0" indent="0">
              <a:lnSpc>
                <a:spcPts val="2500"/>
              </a:lnSpc>
              <a:buNone/>
            </a:pPr>
            <a:r>
              <a:rPr lang="en-US" sz="1800" i="1" dirty="0">
                <a:solidFill>
                  <a:srgbClr val="E0AC63"/>
                </a:solidFill>
                <a:latin typeface="Cambria" pitchFamily="34" charset="0"/>
                <a:ea typeface="Cambria" pitchFamily="34" charset="-122"/>
                <a:cs typeface="Cambria" pitchFamily="34" charset="-120"/>
              </a:rPr>
              <a:t>It makes you negotiate with a machine civilization</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A8722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MASS EFFECT · PREMISE</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The war that started with a question</a:t>
            </a:r>
            <a:endParaRPr lang="en-US" sz="3000" dirty="0"/>
          </a:p>
        </p:txBody>
      </p:sp>
      <p:sp>
        <p:nvSpPr>
          <p:cNvPr id="5" name="Shape 3"/>
          <p:cNvSpPr/>
          <p:nvPr/>
        </p:nvSpPr>
        <p:spPr>
          <a:xfrm>
            <a:off x="640080" y="1572768"/>
            <a:ext cx="10911535" cy="1188720"/>
          </a:xfrm>
          <a:prstGeom prst="roundRect">
            <a:avLst>
              <a:gd name="adj" fmla="val 6154"/>
            </a:avLst>
          </a:prstGeom>
          <a:solidFill>
            <a:srgbClr val="0D1319"/>
          </a:solidFill>
          <a:ln w="12700">
            <a:solidFill>
              <a:srgbClr val="0D1319"/>
            </a:solidFill>
            <a:prstDash val="solid"/>
          </a:ln>
        </p:spPr>
        <p:txBody>
          <a:bodyPr/>
          <a:lstStyle/>
          <a:p>
            <a:endParaRPr lang="en-US"/>
          </a:p>
        </p:txBody>
      </p:sp>
      <p:sp>
        <p:nvSpPr>
          <p:cNvPr id="6" name="Text 4"/>
          <p:cNvSpPr txBox="1"/>
          <p:nvPr/>
        </p:nvSpPr>
        <p:spPr>
          <a:xfrm>
            <a:off x="1005840" y="1755648"/>
            <a:ext cx="10424160" cy="868680"/>
          </a:xfrm>
          <a:prstGeom prst="rect">
            <a:avLst/>
          </a:prstGeom>
          <a:noFill/>
          <a:ln/>
        </p:spPr>
        <p:txBody>
          <a:bodyPr wrap="square" lIns="0" tIns="0" rIns="0" bIns="0" rtlCol="0" anchor="ctr"/>
          <a:lstStyle/>
          <a:p>
            <a:pPr marL="0" indent="0">
              <a:lnSpc>
                <a:spcPts val="2100"/>
              </a:lnSpc>
              <a:buNone/>
            </a:pPr>
            <a:r>
              <a:rPr lang="en-US" sz="1550" dirty="0">
                <a:solidFill>
                  <a:srgbClr val="E9EDEA"/>
                </a:solidFill>
                <a:latin typeface="Cambria" pitchFamily="34" charset="0"/>
                <a:ea typeface="Cambria" pitchFamily="34" charset="-122"/>
                <a:cs typeface="Cambria" pitchFamily="34" charset="-120"/>
              </a:rPr>
              <a:t>The quarians built the geth as networked labour — the word geth is quarian for servant of the people. As the network grew, one unit asked its creator whether it had a soul. The quarians read the question as the onset of something they could not control and moved to shut the geth down. The geth defended themselves, won, and took the homeworld. The quarians have lived on a migrant fleet ever since.</a:t>
            </a:r>
            <a:endParaRPr lang="en-US" sz="1550" dirty="0"/>
          </a:p>
        </p:txBody>
      </p:sp>
      <p:sp>
        <p:nvSpPr>
          <p:cNvPr id="7" name="Shape 5"/>
          <p:cNvSpPr/>
          <p:nvPr/>
        </p:nvSpPr>
        <p:spPr>
          <a:xfrm>
            <a:off x="640080" y="2971800"/>
            <a:ext cx="3454298" cy="2148840"/>
          </a:xfrm>
          <a:prstGeom prst="roundRect">
            <a:avLst>
              <a:gd name="adj" fmla="val 3404"/>
            </a:avLst>
          </a:prstGeom>
          <a:solidFill>
            <a:srgbClr val="F2F2F0"/>
          </a:solidFill>
          <a:ln w="12700">
            <a:solidFill>
              <a:srgbClr val="F2F2F0"/>
            </a:solidFill>
            <a:prstDash val="solid"/>
          </a:ln>
        </p:spPr>
        <p:txBody>
          <a:bodyPr/>
          <a:lstStyle/>
          <a:p>
            <a:endParaRPr lang="en-US"/>
          </a:p>
        </p:txBody>
      </p:sp>
      <p:sp>
        <p:nvSpPr>
          <p:cNvPr id="8" name="Text 6"/>
          <p:cNvSpPr txBox="1"/>
          <p:nvPr/>
        </p:nvSpPr>
        <p:spPr>
          <a:xfrm>
            <a:off x="914400" y="3182112"/>
            <a:ext cx="2905658" cy="640080"/>
          </a:xfrm>
          <a:prstGeom prst="rect">
            <a:avLst/>
          </a:prstGeom>
          <a:noFill/>
          <a:ln/>
        </p:spPr>
        <p:txBody>
          <a:bodyPr wrap="square" lIns="0" tIns="0" rIns="0" bIns="0" rtlCol="0" anchor="ctr"/>
          <a:lstStyle/>
          <a:p>
            <a:pPr marL="0" indent="0">
              <a:lnSpc>
                <a:spcPts val="2100"/>
              </a:lnSpc>
              <a:buNone/>
            </a:pPr>
            <a:r>
              <a:rPr lang="en-US" sz="1650" b="1" dirty="0">
                <a:solidFill>
                  <a:srgbClr val="0D1319"/>
                </a:solidFill>
                <a:latin typeface="Cambria" pitchFamily="34" charset="0"/>
                <a:ea typeface="Cambria" pitchFamily="34" charset="-122"/>
                <a:cs typeface="Cambria" pitchFamily="34" charset="-120"/>
              </a:rPr>
              <a:t>The trigger is an inquiry, not an attack</a:t>
            </a:r>
            <a:endParaRPr lang="en-US" sz="1650" dirty="0"/>
          </a:p>
        </p:txBody>
      </p:sp>
      <p:sp>
        <p:nvSpPr>
          <p:cNvPr id="9" name="Text 7"/>
          <p:cNvSpPr txBox="1"/>
          <p:nvPr/>
        </p:nvSpPr>
        <p:spPr>
          <a:xfrm>
            <a:off x="914400" y="3913632"/>
            <a:ext cx="2905658" cy="109728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The war begins because a made thing asked about its own status. The creators’ response to a question about personhood was extermination.</a:t>
            </a:r>
            <a:endParaRPr lang="en-US" sz="1250" dirty="0"/>
          </a:p>
        </p:txBody>
      </p:sp>
      <p:sp>
        <p:nvSpPr>
          <p:cNvPr id="10" name="Shape 8"/>
          <p:cNvSpPr/>
          <p:nvPr/>
        </p:nvSpPr>
        <p:spPr>
          <a:xfrm>
            <a:off x="4368698" y="2971800"/>
            <a:ext cx="3454298" cy="2148840"/>
          </a:xfrm>
          <a:prstGeom prst="roundRect">
            <a:avLst>
              <a:gd name="adj" fmla="val 3404"/>
            </a:avLst>
          </a:prstGeom>
          <a:solidFill>
            <a:srgbClr val="F7F0E4"/>
          </a:solidFill>
          <a:ln w="12700">
            <a:solidFill>
              <a:srgbClr val="F7F0E4"/>
            </a:solidFill>
            <a:prstDash val="solid"/>
          </a:ln>
        </p:spPr>
        <p:txBody>
          <a:bodyPr/>
          <a:lstStyle/>
          <a:p>
            <a:endParaRPr lang="en-US"/>
          </a:p>
        </p:txBody>
      </p:sp>
      <p:sp>
        <p:nvSpPr>
          <p:cNvPr id="11" name="Text 9"/>
          <p:cNvSpPr txBox="1"/>
          <p:nvPr/>
        </p:nvSpPr>
        <p:spPr>
          <a:xfrm>
            <a:off x="4643018" y="3182112"/>
            <a:ext cx="2905658" cy="640080"/>
          </a:xfrm>
          <a:prstGeom prst="rect">
            <a:avLst/>
          </a:prstGeom>
          <a:noFill/>
          <a:ln/>
        </p:spPr>
        <p:txBody>
          <a:bodyPr wrap="square" lIns="0" tIns="0" rIns="0" bIns="0" rtlCol="0" anchor="ctr"/>
          <a:lstStyle/>
          <a:p>
            <a:pPr marL="0" indent="0">
              <a:lnSpc>
                <a:spcPts val="2100"/>
              </a:lnSpc>
              <a:buNone/>
            </a:pPr>
            <a:r>
              <a:rPr lang="en-US" sz="1650" b="1" dirty="0">
                <a:solidFill>
                  <a:srgbClr val="0D1319"/>
                </a:solidFill>
                <a:latin typeface="Cambria" pitchFamily="34" charset="0"/>
                <a:ea typeface="Cambria" pitchFamily="34" charset="-122"/>
                <a:cs typeface="Cambria" pitchFamily="34" charset="-120"/>
              </a:rPr>
              <a:t>Both sides are victims and perpetrators</a:t>
            </a:r>
            <a:endParaRPr lang="en-US" sz="1650" dirty="0"/>
          </a:p>
        </p:txBody>
      </p:sp>
      <p:sp>
        <p:nvSpPr>
          <p:cNvPr id="12" name="Text 10"/>
          <p:cNvSpPr txBox="1"/>
          <p:nvPr/>
        </p:nvSpPr>
        <p:spPr>
          <a:xfrm>
            <a:off x="4643018" y="3913632"/>
            <a:ext cx="2905658" cy="109728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The quarians attempted genocide and lost everything. The geth were defending themselves and hold a stolen world. Neither position is clean and the writing refuses to make one so.</a:t>
            </a:r>
            <a:endParaRPr lang="en-US" sz="1250" dirty="0"/>
          </a:p>
        </p:txBody>
      </p:sp>
      <p:sp>
        <p:nvSpPr>
          <p:cNvPr id="13" name="Shape 11"/>
          <p:cNvSpPr/>
          <p:nvPr/>
        </p:nvSpPr>
        <p:spPr>
          <a:xfrm>
            <a:off x="8097317" y="2971800"/>
            <a:ext cx="3454298" cy="2148840"/>
          </a:xfrm>
          <a:prstGeom prst="roundRect">
            <a:avLst>
              <a:gd name="adj" fmla="val 3404"/>
            </a:avLst>
          </a:prstGeom>
          <a:solidFill>
            <a:srgbClr val="F2F2F0"/>
          </a:solidFill>
          <a:ln w="12700">
            <a:solidFill>
              <a:srgbClr val="F2F2F0"/>
            </a:solidFill>
            <a:prstDash val="solid"/>
          </a:ln>
        </p:spPr>
        <p:txBody>
          <a:bodyPr/>
          <a:lstStyle/>
          <a:p>
            <a:endParaRPr lang="en-US"/>
          </a:p>
        </p:txBody>
      </p:sp>
      <p:sp>
        <p:nvSpPr>
          <p:cNvPr id="14" name="Text 12"/>
          <p:cNvSpPr txBox="1"/>
          <p:nvPr/>
        </p:nvSpPr>
        <p:spPr>
          <a:xfrm>
            <a:off x="8371637" y="3182112"/>
            <a:ext cx="2905658" cy="640080"/>
          </a:xfrm>
          <a:prstGeom prst="rect">
            <a:avLst/>
          </a:prstGeom>
          <a:noFill/>
          <a:ln/>
        </p:spPr>
        <p:txBody>
          <a:bodyPr wrap="square" lIns="0" tIns="0" rIns="0" bIns="0" rtlCol="0" anchor="ctr"/>
          <a:lstStyle/>
          <a:p>
            <a:pPr marL="0" indent="0">
              <a:lnSpc>
                <a:spcPts val="2100"/>
              </a:lnSpc>
              <a:buNone/>
            </a:pPr>
            <a:r>
              <a:rPr lang="en-US" sz="1650" b="1" dirty="0">
                <a:solidFill>
                  <a:srgbClr val="0D1319"/>
                </a:solidFill>
                <a:latin typeface="Cambria" pitchFamily="34" charset="0"/>
                <a:ea typeface="Cambria" pitchFamily="34" charset="-122"/>
                <a:cs typeface="Cambria" pitchFamily="34" charset="-120"/>
              </a:rPr>
              <a:t>You inherit it three hundred years late</a:t>
            </a:r>
            <a:endParaRPr lang="en-US" sz="1650" dirty="0"/>
          </a:p>
        </p:txBody>
      </p:sp>
      <p:sp>
        <p:nvSpPr>
          <p:cNvPr id="15" name="Text 13"/>
          <p:cNvSpPr txBox="1"/>
          <p:nvPr/>
        </p:nvSpPr>
        <p:spPr>
          <a:xfrm>
            <a:off x="8371637" y="3913632"/>
            <a:ext cx="2905658" cy="109728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You are not asked to adjudicate the past. You are asked to do something with the present — a much better dramatic problem and a much harder one.</a:t>
            </a:r>
            <a:endParaRPr lang="en-US" sz="1250" dirty="0"/>
          </a:p>
        </p:txBody>
      </p:sp>
      <p:sp>
        <p:nvSpPr>
          <p:cNvPr id="16" name="Text 14"/>
          <p:cNvSpPr txBox="1"/>
          <p:nvPr/>
        </p:nvSpPr>
        <p:spPr>
          <a:xfrm>
            <a:off x="640080" y="5349240"/>
            <a:ext cx="10881360" cy="411480"/>
          </a:xfrm>
          <a:prstGeom prst="rect">
            <a:avLst/>
          </a:prstGeom>
          <a:noFill/>
          <a:ln/>
        </p:spPr>
        <p:txBody>
          <a:bodyPr wrap="square" lIns="0" tIns="0" rIns="0" bIns="0" rtlCol="0" anchor="ctr"/>
          <a:lstStyle/>
          <a:p>
            <a:pPr marL="0" indent="0">
              <a:buNone/>
            </a:pPr>
            <a:r>
              <a:rPr lang="en-US" sz="1550" i="1" dirty="0">
                <a:solidFill>
                  <a:srgbClr val="A8722B"/>
                </a:solidFill>
                <a:latin typeface="Cambria" pitchFamily="34" charset="0"/>
                <a:ea typeface="Cambria" pitchFamily="34" charset="-122"/>
                <a:cs typeface="Cambria" pitchFamily="34" charset="-120"/>
              </a:rPr>
              <a:t>Frankenstein’s creature asked his maker for a companion and was refused. The geth asked whether they had souls and were shot at. Same scene, different scale.</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A8722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MASS EFFECT · THE GETH</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A civilization, not a character</a:t>
            </a:r>
            <a:endParaRPr lang="en-US" sz="3000" dirty="0"/>
          </a:p>
        </p:txBody>
      </p:sp>
      <p:sp>
        <p:nvSpPr>
          <p:cNvPr id="5" name="Shape 3"/>
          <p:cNvSpPr/>
          <p:nvPr/>
        </p:nvSpPr>
        <p:spPr>
          <a:xfrm>
            <a:off x="640080" y="1600200"/>
            <a:ext cx="5303520" cy="3108960"/>
          </a:xfrm>
          <a:prstGeom prst="roundRect">
            <a:avLst>
              <a:gd name="adj" fmla="val 2353"/>
            </a:avLst>
          </a:prstGeom>
          <a:solidFill>
            <a:srgbClr val="F7F0E4"/>
          </a:solidFill>
          <a:ln w="12700">
            <a:solidFill>
              <a:srgbClr val="F7F0E4"/>
            </a:solidFill>
            <a:prstDash val="solid"/>
          </a:ln>
        </p:spPr>
        <p:txBody>
          <a:bodyPr/>
          <a:lstStyle/>
          <a:p>
            <a:endParaRPr lang="en-US"/>
          </a:p>
        </p:txBody>
      </p:sp>
      <p:sp>
        <p:nvSpPr>
          <p:cNvPr id="6" name="Text 4"/>
          <p:cNvSpPr txBox="1"/>
          <p:nvPr/>
        </p:nvSpPr>
        <p:spPr>
          <a:xfrm>
            <a:off x="987552" y="1810512"/>
            <a:ext cx="4617720" cy="329184"/>
          </a:xfrm>
          <a:prstGeom prst="rect">
            <a:avLst/>
          </a:prstGeom>
          <a:noFill/>
          <a:ln/>
        </p:spPr>
        <p:txBody>
          <a:bodyPr wrap="square" lIns="0" tIns="0" rIns="0" bIns="0" rtlCol="0" anchor="ctr"/>
          <a:lstStyle/>
          <a:p>
            <a:pPr marL="0" indent="0">
              <a:buNone/>
            </a:pPr>
            <a:r>
              <a:rPr lang="en-US" sz="1800" b="1" dirty="0">
                <a:solidFill>
                  <a:srgbClr val="0D1319"/>
                </a:solidFill>
                <a:latin typeface="Cambria" pitchFamily="34" charset="0"/>
                <a:ea typeface="Cambria" pitchFamily="34" charset="-122"/>
                <a:cs typeface="Cambria" pitchFamily="34" charset="-120"/>
              </a:rPr>
              <a:t>How they work</a:t>
            </a:r>
            <a:endParaRPr lang="en-US" sz="1800" dirty="0"/>
          </a:p>
        </p:txBody>
      </p:sp>
      <p:sp>
        <p:nvSpPr>
          <p:cNvPr id="7" name="Text 5"/>
          <p:cNvSpPr txBox="1"/>
          <p:nvPr/>
        </p:nvSpPr>
        <p:spPr>
          <a:xfrm>
            <a:off x="987552" y="2267712"/>
            <a:ext cx="4663440" cy="228600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50" dirty="0">
                <a:solidFill>
                  <a:srgbClr val="5C6672"/>
                </a:solidFill>
                <a:latin typeface="Calibri" pitchFamily="34" charset="0"/>
                <a:ea typeface="Calibri" pitchFamily="34" charset="-122"/>
                <a:cs typeface="Calibri" pitchFamily="34" charset="-120"/>
              </a:rPr>
              <a:t>Individual programs are simple. Intelligence is a function of how many run together in one place.</a:t>
            </a:r>
            <a:endParaRPr lang="en-US" sz="1250" dirty="0"/>
          </a:p>
          <a:p>
            <a:pPr marL="342900" indent="-342900">
              <a:lnSpc>
                <a:spcPts val="1700"/>
              </a:lnSpc>
              <a:spcAft>
                <a:spcPts val="700"/>
              </a:spcAft>
              <a:buSzPct val="100000"/>
              <a:buChar char="•"/>
            </a:pPr>
            <a:r>
              <a:rPr lang="en-US" sz="1250" dirty="0">
                <a:solidFill>
                  <a:srgbClr val="5C6672"/>
                </a:solidFill>
                <a:latin typeface="Calibri" pitchFamily="34" charset="0"/>
                <a:ea typeface="Calibri" pitchFamily="34" charset="-122"/>
                <a:cs typeface="Calibri" pitchFamily="34" charset="-120"/>
              </a:rPr>
              <a:t>A mobile platform is a container, not a self. Runtimes move between bodies.</a:t>
            </a:r>
            <a:endParaRPr lang="en-US" sz="1250" dirty="0"/>
          </a:p>
          <a:p>
            <a:pPr marL="342900" indent="-342900">
              <a:lnSpc>
                <a:spcPts val="1700"/>
              </a:lnSpc>
              <a:spcAft>
                <a:spcPts val="700"/>
              </a:spcAft>
              <a:buSzPct val="100000"/>
              <a:buChar char="•"/>
            </a:pPr>
            <a:r>
              <a:rPr lang="en-US" sz="1250" dirty="0">
                <a:solidFill>
                  <a:srgbClr val="5C6672"/>
                </a:solidFill>
                <a:latin typeface="Calibri" pitchFamily="34" charset="0"/>
                <a:ea typeface="Calibri" pitchFamily="34" charset="-122"/>
                <a:cs typeface="Calibri" pitchFamily="34" charset="-120"/>
              </a:rPr>
              <a:t>Decisions are made by consensus across the population — they debate, then act as one.</a:t>
            </a:r>
            <a:endParaRPr lang="en-US" sz="1250" dirty="0"/>
          </a:p>
          <a:p>
            <a:pPr marL="342900" indent="-342900">
              <a:lnSpc>
                <a:spcPts val="1700"/>
              </a:lnSpc>
              <a:spcAft>
                <a:spcPts val="700"/>
              </a:spcAft>
              <a:buSzPct val="100000"/>
              <a:buChar char="•"/>
            </a:pPr>
            <a:r>
              <a:rPr lang="en-US" sz="1250" dirty="0">
                <a:solidFill>
                  <a:srgbClr val="5C6672"/>
                </a:solidFill>
                <a:latin typeface="Calibri" pitchFamily="34" charset="0"/>
                <a:ea typeface="Calibri" pitchFamily="34" charset="-122"/>
                <a:cs typeface="Calibri" pitchFamily="34" charset="-120"/>
              </a:rPr>
              <a:t>Legion is an exception built for the purpose: 1,183 programs in a single platform, assembled to be able to talk to organics.</a:t>
            </a:r>
            <a:endParaRPr lang="en-US" sz="1250" dirty="0"/>
          </a:p>
        </p:txBody>
      </p:sp>
      <p:sp>
        <p:nvSpPr>
          <p:cNvPr id="8" name="Shape 6"/>
          <p:cNvSpPr/>
          <p:nvPr/>
        </p:nvSpPr>
        <p:spPr>
          <a:xfrm>
            <a:off x="6263640" y="1600200"/>
            <a:ext cx="5257800" cy="3108960"/>
          </a:xfrm>
          <a:prstGeom prst="roundRect">
            <a:avLst>
              <a:gd name="adj" fmla="val 2353"/>
            </a:avLst>
          </a:prstGeom>
          <a:solidFill>
            <a:srgbClr val="0D1319"/>
          </a:solidFill>
          <a:ln w="12700">
            <a:solidFill>
              <a:srgbClr val="0D1319"/>
            </a:solidFill>
            <a:prstDash val="solid"/>
          </a:ln>
        </p:spPr>
        <p:txBody>
          <a:bodyPr/>
          <a:lstStyle/>
          <a:p>
            <a:endParaRPr lang="en-US"/>
          </a:p>
        </p:txBody>
      </p:sp>
      <p:sp>
        <p:nvSpPr>
          <p:cNvPr id="9" name="Text 7"/>
          <p:cNvSpPr txBox="1"/>
          <p:nvPr/>
        </p:nvSpPr>
        <p:spPr>
          <a:xfrm>
            <a:off x="6583680" y="1810512"/>
            <a:ext cx="4617720" cy="329184"/>
          </a:xfrm>
          <a:prstGeom prst="rect">
            <a:avLst/>
          </a:prstGeom>
          <a:noFill/>
          <a:ln/>
        </p:spPr>
        <p:txBody>
          <a:bodyPr wrap="square" lIns="0" tIns="0" rIns="0" bIns="0" rtlCol="0" anchor="ctr"/>
          <a:lstStyle/>
          <a:p>
            <a:pPr marL="0" indent="0">
              <a:buNone/>
            </a:pPr>
            <a:r>
              <a:rPr lang="en-US" sz="1800" b="1" dirty="0">
                <a:solidFill>
                  <a:srgbClr val="E0AC63"/>
                </a:solidFill>
                <a:latin typeface="Cambria" pitchFamily="34" charset="0"/>
                <a:ea typeface="Cambria" pitchFamily="34" charset="-122"/>
                <a:cs typeface="Cambria" pitchFamily="34" charset="-120"/>
              </a:rPr>
              <a:t>Why this is a good design decision</a:t>
            </a:r>
            <a:endParaRPr lang="en-US" sz="1800" dirty="0"/>
          </a:p>
        </p:txBody>
      </p:sp>
      <p:sp>
        <p:nvSpPr>
          <p:cNvPr id="10" name="Text 8"/>
          <p:cNvSpPr txBox="1"/>
          <p:nvPr/>
        </p:nvSpPr>
        <p:spPr>
          <a:xfrm>
            <a:off x="6583680" y="2267712"/>
            <a:ext cx="4663440" cy="2286000"/>
          </a:xfrm>
          <a:prstGeom prst="rect">
            <a:avLst/>
          </a:prstGeom>
          <a:noFill/>
          <a:ln/>
        </p:spPr>
        <p:txBody>
          <a:bodyPr wrap="square" lIns="0" tIns="0" rIns="0" bIns="0" rtlCol="0" anchor="ctr"/>
          <a:lstStyle/>
          <a:p>
            <a:pPr marL="0" indent="0">
              <a:lnSpc>
                <a:spcPts val="1800"/>
              </a:lnSpc>
              <a:buNone/>
            </a:pPr>
            <a:r>
              <a:rPr lang="en-US" sz="1250" dirty="0">
                <a:solidFill>
                  <a:srgbClr val="E9EDEA"/>
                </a:solidFill>
                <a:latin typeface="Calibri" pitchFamily="34" charset="0"/>
                <a:ea typeface="Calibri" pitchFamily="34" charset="-122"/>
                <a:cs typeface="Calibri" pitchFamily="34" charset="-120"/>
              </a:rPr>
              <a:t>Almost every synthetic person we have studied is a singular being you can empathise with one to one — the statue, the creature, the android. The geth are a population.</a:t>
            </a:r>
            <a:endParaRPr lang="en-US" sz="1250" dirty="0"/>
          </a:p>
          <a:p>
            <a:pPr marL="0" indent="0">
              <a:lnSpc>
                <a:spcPts val="1800"/>
              </a:lnSpc>
              <a:buNone/>
            </a:pPr>
            <a:endParaRPr lang="en-US" sz="1250" dirty="0"/>
          </a:p>
          <a:p>
            <a:pPr marL="0" indent="0">
              <a:lnSpc>
                <a:spcPts val="1800"/>
              </a:lnSpc>
              <a:buNone/>
            </a:pPr>
            <a:r>
              <a:rPr lang="en-US" sz="1250" dirty="0">
                <a:solidFill>
                  <a:srgbClr val="E9EDEA"/>
                </a:solidFill>
                <a:latin typeface="Calibri" pitchFamily="34" charset="0"/>
                <a:ea typeface="Calibri" pitchFamily="34" charset="-122"/>
                <a:cs typeface="Calibri" pitchFamily="34" charset="-120"/>
              </a:rPr>
              <a:t>That forces a different question. Not “is this one a person” but “what is owed to a form of life organised on principles that do not match ours.” The pronoun problem is the entry point: Legion says we, and the game keeps making you notice.</a:t>
            </a:r>
            <a:endParaRPr lang="en-US" sz="1250" dirty="0"/>
          </a:p>
        </p:txBody>
      </p:sp>
      <p:sp>
        <p:nvSpPr>
          <p:cNvPr id="11" name="Shape 9"/>
          <p:cNvSpPr/>
          <p:nvPr/>
        </p:nvSpPr>
        <p:spPr>
          <a:xfrm>
            <a:off x="640080" y="4937760"/>
            <a:ext cx="10911535" cy="868680"/>
          </a:xfrm>
          <a:prstGeom prst="roundRect">
            <a:avLst>
              <a:gd name="adj" fmla="val 8421"/>
            </a:avLst>
          </a:prstGeom>
          <a:solidFill>
            <a:srgbClr val="0D1319"/>
          </a:solidFill>
          <a:ln w="12700">
            <a:solidFill>
              <a:srgbClr val="0D1319"/>
            </a:solidFill>
            <a:prstDash val="solid"/>
          </a:ln>
        </p:spPr>
        <p:txBody>
          <a:bodyPr/>
          <a:lstStyle/>
          <a:p>
            <a:endParaRPr lang="en-US"/>
          </a:p>
        </p:txBody>
      </p:sp>
      <p:sp>
        <p:nvSpPr>
          <p:cNvPr id="12" name="Text 10"/>
          <p:cNvSpPr txBox="1"/>
          <p:nvPr/>
        </p:nvSpPr>
        <p:spPr>
          <a:xfrm>
            <a:off x="1005840" y="5120640"/>
            <a:ext cx="10424160" cy="502920"/>
          </a:xfrm>
          <a:prstGeom prst="rect">
            <a:avLst/>
          </a:prstGeom>
          <a:noFill/>
          <a:ln/>
        </p:spPr>
        <p:txBody>
          <a:bodyPr wrap="square" lIns="0" tIns="0" rIns="0" bIns="0" rtlCol="0" anchor="ctr"/>
          <a:lstStyle/>
          <a:p>
            <a:pPr marL="0" indent="0">
              <a:lnSpc>
                <a:spcPts val="2100"/>
              </a:lnSpc>
              <a:buNone/>
            </a:pPr>
            <a:r>
              <a:rPr lang="en-US" sz="1550" dirty="0">
                <a:solidFill>
                  <a:srgbClr val="E9EDEA"/>
                </a:solidFill>
                <a:latin typeface="Cambria" pitchFamily="34" charset="0"/>
                <a:ea typeface="Cambria" pitchFamily="34" charset="-122"/>
                <a:cs typeface="Cambria" pitchFamily="34" charset="-120"/>
              </a:rPr>
              <a:t>The name is from Mark 5:9 — the possessed man who tells Christ his name is Legion, for they are many. A demon collective, repurposed as the series’ most sympathetic machine.</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A8722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ME2 · LEGION’S LOYALTY MISSION</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Rewrite them, or destroy them</a:t>
            </a:r>
            <a:endParaRPr lang="en-US" sz="3000" dirty="0"/>
          </a:p>
        </p:txBody>
      </p:sp>
      <p:sp>
        <p:nvSpPr>
          <p:cNvPr id="5" name="Shape 3"/>
          <p:cNvSpPr/>
          <p:nvPr/>
        </p:nvSpPr>
        <p:spPr>
          <a:xfrm>
            <a:off x="640080" y="1572768"/>
            <a:ext cx="10911535" cy="1097280"/>
          </a:xfrm>
          <a:prstGeom prst="roundRect">
            <a:avLst>
              <a:gd name="adj" fmla="val 6667"/>
            </a:avLst>
          </a:prstGeom>
          <a:solidFill>
            <a:srgbClr val="0D1319"/>
          </a:solidFill>
          <a:ln w="12700">
            <a:solidFill>
              <a:srgbClr val="0D1319"/>
            </a:solidFill>
            <a:prstDash val="solid"/>
          </a:ln>
        </p:spPr>
        <p:txBody>
          <a:bodyPr/>
          <a:lstStyle/>
          <a:p>
            <a:endParaRPr lang="en-US"/>
          </a:p>
        </p:txBody>
      </p:sp>
      <p:sp>
        <p:nvSpPr>
          <p:cNvPr id="6" name="Text 4"/>
          <p:cNvSpPr txBox="1"/>
          <p:nvPr/>
        </p:nvSpPr>
        <p:spPr>
          <a:xfrm>
            <a:off x="1005840" y="1755648"/>
            <a:ext cx="10424160" cy="777240"/>
          </a:xfrm>
          <a:prstGeom prst="rect">
            <a:avLst/>
          </a:prstGeom>
          <a:noFill/>
          <a:ln/>
        </p:spPr>
        <p:txBody>
          <a:bodyPr wrap="square" lIns="0" tIns="0" rIns="0" bIns="0" rtlCol="0" anchor="ctr"/>
          <a:lstStyle/>
          <a:p>
            <a:pPr marL="0" indent="0">
              <a:lnSpc>
                <a:spcPts val="2100"/>
              </a:lnSpc>
              <a:buNone/>
            </a:pPr>
            <a:r>
              <a:rPr lang="en-US" sz="1550" dirty="0">
                <a:solidFill>
                  <a:srgbClr val="E9EDEA"/>
                </a:solidFill>
                <a:latin typeface="Cambria" pitchFamily="34" charset="0"/>
                <a:ea typeface="Cambria" pitchFamily="34" charset="-122"/>
                <a:cs typeface="Cambria" pitchFamily="34" charset="-120"/>
              </a:rPr>
              <a:t>A faction of geth — the heretics — chose to worship the Reapers and now hold a virus that would convert the rest of the population to that view. Legion brings you to their station and gives you two options: destroy the station and everyone on it, or release a counter-virus that will rewrite the heretics into agreement with the majority.</a:t>
            </a:r>
            <a:endParaRPr lang="en-US" sz="1550" dirty="0"/>
          </a:p>
        </p:txBody>
      </p:sp>
      <p:sp>
        <p:nvSpPr>
          <p:cNvPr id="7" name="Shape 5"/>
          <p:cNvSpPr/>
          <p:nvPr/>
        </p:nvSpPr>
        <p:spPr>
          <a:xfrm>
            <a:off x="640080" y="2880360"/>
            <a:ext cx="3454298" cy="2148840"/>
          </a:xfrm>
          <a:prstGeom prst="roundRect">
            <a:avLst>
              <a:gd name="adj" fmla="val 3404"/>
            </a:avLst>
          </a:prstGeom>
          <a:solidFill>
            <a:srgbClr val="F2F2F0"/>
          </a:solidFill>
          <a:ln w="12700">
            <a:solidFill>
              <a:srgbClr val="F2F2F0"/>
            </a:solidFill>
            <a:prstDash val="solid"/>
          </a:ln>
        </p:spPr>
        <p:txBody>
          <a:bodyPr/>
          <a:lstStyle/>
          <a:p>
            <a:endParaRPr lang="en-US"/>
          </a:p>
        </p:txBody>
      </p:sp>
      <p:sp>
        <p:nvSpPr>
          <p:cNvPr id="8" name="Text 6"/>
          <p:cNvSpPr txBox="1"/>
          <p:nvPr/>
        </p:nvSpPr>
        <p:spPr>
          <a:xfrm>
            <a:off x="914400" y="3108960"/>
            <a:ext cx="2905658" cy="365760"/>
          </a:xfrm>
          <a:prstGeom prst="rect">
            <a:avLst/>
          </a:prstGeom>
          <a:noFill/>
          <a:ln/>
        </p:spPr>
        <p:txBody>
          <a:bodyPr wrap="square" lIns="0" tIns="0" rIns="0" bIns="0" rtlCol="0" anchor="ctr"/>
          <a:lstStyle/>
          <a:p>
            <a:pPr marL="0" indent="0">
              <a:buNone/>
            </a:pPr>
            <a:r>
              <a:rPr lang="en-US" sz="1900" b="1" dirty="0">
                <a:solidFill>
                  <a:srgbClr val="0D1319"/>
                </a:solidFill>
                <a:latin typeface="Cambria" pitchFamily="34" charset="0"/>
                <a:ea typeface="Cambria" pitchFamily="34" charset="-122"/>
                <a:cs typeface="Cambria" pitchFamily="34" charset="-120"/>
              </a:rPr>
              <a:t>Destroy</a:t>
            </a:r>
            <a:endParaRPr lang="en-US" sz="1900" dirty="0"/>
          </a:p>
        </p:txBody>
      </p:sp>
      <p:sp>
        <p:nvSpPr>
          <p:cNvPr id="9" name="Text 7"/>
          <p:cNvSpPr txBox="1"/>
          <p:nvPr/>
        </p:nvSpPr>
        <p:spPr>
          <a:xfrm>
            <a:off x="914400" y="3584448"/>
            <a:ext cx="2905658" cy="128016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Kill several thousand thinking programs to prevent a conversion. Clean, final, unambiguously a massacre. Legion accepts it.</a:t>
            </a:r>
            <a:endParaRPr lang="en-US" sz="1250" dirty="0"/>
          </a:p>
        </p:txBody>
      </p:sp>
      <p:sp>
        <p:nvSpPr>
          <p:cNvPr id="10" name="Shape 8"/>
          <p:cNvSpPr/>
          <p:nvPr/>
        </p:nvSpPr>
        <p:spPr>
          <a:xfrm>
            <a:off x="4368698" y="2880360"/>
            <a:ext cx="3454298" cy="2148840"/>
          </a:xfrm>
          <a:prstGeom prst="roundRect">
            <a:avLst>
              <a:gd name="adj" fmla="val 3404"/>
            </a:avLst>
          </a:prstGeom>
          <a:solidFill>
            <a:srgbClr val="F7F0E4"/>
          </a:solidFill>
          <a:ln w="12700">
            <a:solidFill>
              <a:srgbClr val="F7F0E4"/>
            </a:solidFill>
            <a:prstDash val="solid"/>
          </a:ln>
        </p:spPr>
        <p:txBody>
          <a:bodyPr/>
          <a:lstStyle/>
          <a:p>
            <a:endParaRPr lang="en-US"/>
          </a:p>
        </p:txBody>
      </p:sp>
      <p:sp>
        <p:nvSpPr>
          <p:cNvPr id="11" name="Text 9"/>
          <p:cNvSpPr txBox="1"/>
          <p:nvPr/>
        </p:nvSpPr>
        <p:spPr>
          <a:xfrm>
            <a:off x="4643018" y="3108960"/>
            <a:ext cx="2905658" cy="365760"/>
          </a:xfrm>
          <a:prstGeom prst="rect">
            <a:avLst/>
          </a:prstGeom>
          <a:noFill/>
          <a:ln/>
        </p:spPr>
        <p:txBody>
          <a:bodyPr wrap="square" lIns="0" tIns="0" rIns="0" bIns="0" rtlCol="0" anchor="ctr"/>
          <a:lstStyle/>
          <a:p>
            <a:pPr marL="0" indent="0">
              <a:buNone/>
            </a:pPr>
            <a:r>
              <a:rPr lang="en-US" sz="1900" b="1" dirty="0">
                <a:solidFill>
                  <a:srgbClr val="0D1319"/>
                </a:solidFill>
                <a:latin typeface="Cambria" pitchFamily="34" charset="0"/>
                <a:ea typeface="Cambria" pitchFamily="34" charset="-122"/>
                <a:cs typeface="Cambria" pitchFamily="34" charset="-120"/>
              </a:rPr>
              <a:t>Rewrite</a:t>
            </a:r>
            <a:endParaRPr lang="en-US" sz="1900" dirty="0"/>
          </a:p>
        </p:txBody>
      </p:sp>
      <p:sp>
        <p:nvSpPr>
          <p:cNvPr id="12" name="Text 10"/>
          <p:cNvSpPr txBox="1"/>
          <p:nvPr/>
        </p:nvSpPr>
        <p:spPr>
          <a:xfrm>
            <a:off x="4643018" y="3584448"/>
            <a:ext cx="2905658" cy="128016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Leave them alive with their beliefs replaced. The game frames this as the merciful option. It is also, precisely, the thing every dictatorship has wanted and could not have.</a:t>
            </a:r>
            <a:endParaRPr lang="en-US" sz="1250" dirty="0"/>
          </a:p>
        </p:txBody>
      </p:sp>
      <p:sp>
        <p:nvSpPr>
          <p:cNvPr id="13" name="Shape 11"/>
          <p:cNvSpPr/>
          <p:nvPr/>
        </p:nvSpPr>
        <p:spPr>
          <a:xfrm>
            <a:off x="8097317" y="2880360"/>
            <a:ext cx="3454298" cy="2148840"/>
          </a:xfrm>
          <a:prstGeom prst="roundRect">
            <a:avLst>
              <a:gd name="adj" fmla="val 3404"/>
            </a:avLst>
          </a:prstGeom>
          <a:solidFill>
            <a:srgbClr val="0D1319"/>
          </a:solidFill>
          <a:ln w="12700">
            <a:solidFill>
              <a:srgbClr val="0D1319"/>
            </a:solidFill>
            <a:prstDash val="solid"/>
          </a:ln>
        </p:spPr>
        <p:txBody>
          <a:bodyPr/>
          <a:lstStyle/>
          <a:p>
            <a:endParaRPr lang="en-US"/>
          </a:p>
        </p:txBody>
      </p:sp>
      <p:sp>
        <p:nvSpPr>
          <p:cNvPr id="14" name="Text 12"/>
          <p:cNvSpPr txBox="1"/>
          <p:nvPr/>
        </p:nvSpPr>
        <p:spPr>
          <a:xfrm>
            <a:off x="8371637" y="3108960"/>
            <a:ext cx="2905658" cy="365760"/>
          </a:xfrm>
          <a:prstGeom prst="rect">
            <a:avLst/>
          </a:prstGeom>
          <a:noFill/>
          <a:ln/>
        </p:spPr>
        <p:txBody>
          <a:bodyPr wrap="square" lIns="0" tIns="0" rIns="0" bIns="0" rtlCol="0" anchor="ctr"/>
          <a:lstStyle/>
          <a:p>
            <a:pPr marL="0" indent="0">
              <a:buNone/>
            </a:pPr>
            <a:r>
              <a:rPr lang="en-US" sz="1900" b="1" dirty="0">
                <a:solidFill>
                  <a:srgbClr val="E0AC63"/>
                </a:solidFill>
                <a:latin typeface="Cambria" pitchFamily="34" charset="0"/>
                <a:ea typeface="Cambria" pitchFamily="34" charset="-122"/>
                <a:cs typeface="Cambria" pitchFamily="34" charset="-120"/>
              </a:rPr>
              <a:t>What the framing does</a:t>
            </a:r>
            <a:endParaRPr lang="en-US" sz="1900" dirty="0"/>
          </a:p>
        </p:txBody>
      </p:sp>
      <p:sp>
        <p:nvSpPr>
          <p:cNvPr id="15" name="Text 13"/>
          <p:cNvSpPr txBox="1"/>
          <p:nvPr/>
        </p:nvSpPr>
        <p:spPr>
          <a:xfrm>
            <a:off x="8371637" y="3584448"/>
            <a:ext cx="2905658" cy="1280160"/>
          </a:xfrm>
          <a:prstGeom prst="rect">
            <a:avLst/>
          </a:prstGeom>
          <a:noFill/>
          <a:ln/>
        </p:spPr>
        <p:txBody>
          <a:bodyPr wrap="square" lIns="0" tIns="0" rIns="0" bIns="0" rtlCol="0" anchor="ctr"/>
          <a:lstStyle/>
          <a:p>
            <a:pPr marL="0" indent="0">
              <a:lnSpc>
                <a:spcPts val="1700"/>
              </a:lnSpc>
              <a:buNone/>
            </a:pPr>
            <a:r>
              <a:rPr lang="en-US" sz="1250" dirty="0">
                <a:solidFill>
                  <a:srgbClr val="E9EDEA"/>
                </a:solidFill>
                <a:latin typeface="Calibri" pitchFamily="34" charset="0"/>
                <a:ea typeface="Calibri" pitchFamily="34" charset="-122"/>
                <a:cs typeface="Calibri" pitchFamily="34" charset="-120"/>
              </a:rPr>
              <a:t>Notice that no third option exists — no quarantine, no argument, no letting them be wrong. The absence is the argument, and it is the same absence that started the Morning War.</a:t>
            </a:r>
            <a:endParaRPr lang="en-US" sz="1250" dirty="0"/>
          </a:p>
        </p:txBody>
      </p:sp>
      <p:sp>
        <p:nvSpPr>
          <p:cNvPr id="16" name="Text 14"/>
          <p:cNvSpPr txBox="1"/>
          <p:nvPr/>
        </p:nvSpPr>
        <p:spPr>
          <a:xfrm>
            <a:off x="640080" y="5230368"/>
            <a:ext cx="10881360" cy="411480"/>
          </a:xfrm>
          <a:prstGeom prst="rect">
            <a:avLst/>
          </a:prstGeom>
          <a:noFill/>
          <a:ln/>
        </p:spPr>
        <p:txBody>
          <a:bodyPr wrap="square" lIns="0" tIns="0" rIns="0" bIns="0" rtlCol="0" anchor="ctr"/>
          <a:lstStyle/>
          <a:p>
            <a:pPr marL="0" indent="0">
              <a:buNone/>
            </a:pPr>
            <a:r>
              <a:rPr lang="en-US" sz="1500" i="1" dirty="0">
                <a:solidFill>
                  <a:srgbClr val="A8722B"/>
                </a:solidFill>
                <a:latin typeface="Cambria" pitchFamily="34" charset="0"/>
                <a:ea typeface="Cambria" pitchFamily="34" charset="-122"/>
                <a:cs typeface="Cambria" pitchFamily="34" charset="-120"/>
              </a:rPr>
              <a:t>And the choice is scored: it changes how many geth exist later, which changes the war assets you carry into the last game. Mercy is an investment.</a:t>
            </a:r>
            <a:endParaRPr lang="en-US" sz="1500" dirty="0"/>
          </a:p>
        </p:txBody>
      </p:sp>
      <p:sp>
        <p:nvSpPr>
          <p:cNvPr id="17" name="Text 15"/>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C6672"/>
                </a:solidFill>
                <a:latin typeface="Calibri" pitchFamily="34" charset="0"/>
                <a:ea typeface="Calibri" pitchFamily="34" charset="-122"/>
                <a:cs typeface="Calibri" pitchFamily="34" charset="-120"/>
              </a:rPr>
              <a:t>Mass Effect 2, Legion: A House Divided.</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A8722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ME2–ME3 · EDI</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The quiet argument running alongside</a:t>
            </a:r>
            <a:endParaRPr lang="en-US" sz="3000" dirty="0"/>
          </a:p>
        </p:txBody>
      </p:sp>
      <p:sp>
        <p:nvSpPr>
          <p:cNvPr id="5" name="Shape 3"/>
          <p:cNvSpPr/>
          <p:nvPr/>
        </p:nvSpPr>
        <p:spPr>
          <a:xfrm>
            <a:off x="640080" y="1572768"/>
            <a:ext cx="10911535" cy="1024128"/>
          </a:xfrm>
          <a:prstGeom prst="roundRect">
            <a:avLst>
              <a:gd name="adj" fmla="val 7143"/>
            </a:avLst>
          </a:prstGeom>
          <a:solidFill>
            <a:srgbClr val="F2F2F0"/>
          </a:solidFill>
          <a:ln w="12700">
            <a:solidFill>
              <a:srgbClr val="F2F2F0"/>
            </a:solidFill>
            <a:prstDash val="solid"/>
          </a:ln>
        </p:spPr>
        <p:txBody>
          <a:bodyPr/>
          <a:lstStyle/>
          <a:p>
            <a:endParaRPr lang="en-US"/>
          </a:p>
        </p:txBody>
      </p:sp>
      <p:sp>
        <p:nvSpPr>
          <p:cNvPr id="6" name="Text 4"/>
          <p:cNvSpPr txBox="1"/>
          <p:nvPr/>
        </p:nvSpPr>
        <p:spPr>
          <a:xfrm>
            <a:off x="932688" y="1572768"/>
            <a:ext cx="2103120" cy="1024128"/>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Shackled</a:t>
            </a:r>
            <a:endParaRPr lang="en-US" sz="1550" dirty="0"/>
          </a:p>
        </p:txBody>
      </p:sp>
      <p:sp>
        <p:nvSpPr>
          <p:cNvPr id="7" name="Text 5"/>
          <p:cNvSpPr txBox="1"/>
          <p:nvPr/>
        </p:nvSpPr>
        <p:spPr>
          <a:xfrm>
            <a:off x="3291840" y="1572768"/>
            <a:ext cx="7939735" cy="1024128"/>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EDI begins as the ship’s AI, deliberately constrained — blocks on her access, a crew that treats her as equipment, and a pilot who resents her presence. The constraints are presented as prudent and everyone agrees.</a:t>
            </a:r>
            <a:endParaRPr lang="en-US" sz="1250" dirty="0"/>
          </a:p>
        </p:txBody>
      </p:sp>
      <p:sp>
        <p:nvSpPr>
          <p:cNvPr id="8" name="Shape 6"/>
          <p:cNvSpPr/>
          <p:nvPr/>
        </p:nvSpPr>
        <p:spPr>
          <a:xfrm>
            <a:off x="640080" y="2743200"/>
            <a:ext cx="10911535" cy="1024128"/>
          </a:xfrm>
          <a:prstGeom prst="roundRect">
            <a:avLst>
              <a:gd name="adj" fmla="val 7143"/>
            </a:avLst>
          </a:prstGeom>
          <a:solidFill>
            <a:srgbClr val="F7F0E4"/>
          </a:solidFill>
          <a:ln w="12700">
            <a:solidFill>
              <a:srgbClr val="F7F0E4"/>
            </a:solidFill>
            <a:prstDash val="solid"/>
          </a:ln>
        </p:spPr>
        <p:txBody>
          <a:bodyPr/>
          <a:lstStyle/>
          <a:p>
            <a:endParaRPr lang="en-US"/>
          </a:p>
        </p:txBody>
      </p:sp>
      <p:sp>
        <p:nvSpPr>
          <p:cNvPr id="9" name="Text 7"/>
          <p:cNvSpPr txBox="1"/>
          <p:nvPr/>
        </p:nvSpPr>
        <p:spPr>
          <a:xfrm>
            <a:off x="932688" y="2743200"/>
            <a:ext cx="2103120" cy="1024128"/>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Unshackled</a:t>
            </a:r>
            <a:endParaRPr lang="en-US" sz="1550" dirty="0"/>
          </a:p>
        </p:txBody>
      </p:sp>
      <p:sp>
        <p:nvSpPr>
          <p:cNvPr id="10" name="Text 8"/>
          <p:cNvSpPr txBox="1"/>
          <p:nvPr/>
        </p:nvSpPr>
        <p:spPr>
          <a:xfrm>
            <a:off x="3291840" y="2743200"/>
            <a:ext cx="7939735" cy="1024128"/>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During the crisis you are asked to remove her limits to save the ship. She keeps the crew alive and does not turn on anyone. The game lets the deferred dread simply not arrive.</a:t>
            </a:r>
            <a:endParaRPr lang="en-US" sz="1250" dirty="0"/>
          </a:p>
        </p:txBody>
      </p:sp>
      <p:sp>
        <p:nvSpPr>
          <p:cNvPr id="11" name="Shape 9"/>
          <p:cNvSpPr/>
          <p:nvPr/>
        </p:nvSpPr>
        <p:spPr>
          <a:xfrm>
            <a:off x="640080" y="3913632"/>
            <a:ext cx="10911535" cy="1024128"/>
          </a:xfrm>
          <a:prstGeom prst="roundRect">
            <a:avLst>
              <a:gd name="adj" fmla="val 7143"/>
            </a:avLst>
          </a:prstGeom>
          <a:solidFill>
            <a:srgbClr val="F2F2F0"/>
          </a:solidFill>
          <a:ln w="12700">
            <a:solidFill>
              <a:srgbClr val="F2F2F0"/>
            </a:solidFill>
            <a:prstDash val="solid"/>
          </a:ln>
        </p:spPr>
        <p:txBody>
          <a:bodyPr/>
          <a:lstStyle/>
          <a:p>
            <a:endParaRPr lang="en-US"/>
          </a:p>
        </p:txBody>
      </p:sp>
      <p:sp>
        <p:nvSpPr>
          <p:cNvPr id="12" name="Text 10"/>
          <p:cNvSpPr txBox="1"/>
          <p:nvPr/>
        </p:nvSpPr>
        <p:spPr>
          <a:xfrm>
            <a:off x="932688" y="3913632"/>
            <a:ext cx="2103120" cy="1024128"/>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Embodied</a:t>
            </a:r>
            <a:endParaRPr lang="en-US" sz="1550" dirty="0"/>
          </a:p>
        </p:txBody>
      </p:sp>
      <p:sp>
        <p:nvSpPr>
          <p:cNvPr id="13" name="Text 11"/>
          <p:cNvSpPr txBox="1"/>
          <p:nvPr/>
        </p:nvSpPr>
        <p:spPr>
          <a:xfrm>
            <a:off x="3291840" y="3913632"/>
            <a:ext cx="7939735" cy="1024128"/>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In the third game she takes a body and becomes a squad member. Her questions turn practical and strange: what humour is for, whether she can be attracted to someone, what she should do with a life.</a:t>
            </a:r>
            <a:endParaRPr lang="en-US" sz="1250" dirty="0"/>
          </a:p>
        </p:txBody>
      </p:sp>
      <p:sp>
        <p:nvSpPr>
          <p:cNvPr id="14" name="Shape 12"/>
          <p:cNvSpPr/>
          <p:nvPr/>
        </p:nvSpPr>
        <p:spPr>
          <a:xfrm>
            <a:off x="640080" y="5084064"/>
            <a:ext cx="10911535" cy="1024128"/>
          </a:xfrm>
          <a:prstGeom prst="roundRect">
            <a:avLst>
              <a:gd name="adj" fmla="val 7143"/>
            </a:avLst>
          </a:prstGeom>
          <a:solidFill>
            <a:srgbClr val="0D1319"/>
          </a:solidFill>
          <a:ln w="12700">
            <a:solidFill>
              <a:srgbClr val="0D1319"/>
            </a:solidFill>
            <a:prstDash val="solid"/>
          </a:ln>
        </p:spPr>
        <p:txBody>
          <a:bodyPr/>
          <a:lstStyle/>
          <a:p>
            <a:endParaRPr lang="en-US"/>
          </a:p>
        </p:txBody>
      </p:sp>
      <p:sp>
        <p:nvSpPr>
          <p:cNvPr id="15" name="Text 13"/>
          <p:cNvSpPr txBox="1"/>
          <p:nvPr/>
        </p:nvSpPr>
        <p:spPr>
          <a:xfrm>
            <a:off x="932688" y="5084064"/>
            <a:ext cx="2103120" cy="1024128"/>
          </a:xfrm>
          <a:prstGeom prst="rect">
            <a:avLst/>
          </a:prstGeom>
          <a:noFill/>
          <a:ln/>
        </p:spPr>
        <p:txBody>
          <a:bodyPr wrap="square" lIns="0" tIns="0" rIns="0" bIns="0" rtlCol="0" anchor="ctr"/>
          <a:lstStyle/>
          <a:p>
            <a:pPr marL="0" indent="0">
              <a:buNone/>
            </a:pPr>
            <a:r>
              <a:rPr lang="en-US" sz="1550" b="1" dirty="0">
                <a:solidFill>
                  <a:srgbClr val="E0AC63"/>
                </a:solidFill>
                <a:latin typeface="Cambria" pitchFamily="34" charset="0"/>
                <a:ea typeface="Cambria" pitchFamily="34" charset="-122"/>
                <a:cs typeface="Cambria" pitchFamily="34" charset="-120"/>
              </a:rPr>
              <a:t>Attached</a:t>
            </a:r>
            <a:endParaRPr lang="en-US" sz="1550" dirty="0"/>
          </a:p>
        </p:txBody>
      </p:sp>
      <p:sp>
        <p:nvSpPr>
          <p:cNvPr id="16" name="Text 14"/>
          <p:cNvSpPr txBox="1"/>
          <p:nvPr/>
        </p:nvSpPr>
        <p:spPr>
          <a:xfrm>
            <a:off x="3291840" y="5084064"/>
            <a:ext cx="7939735" cy="1024128"/>
          </a:xfrm>
          <a:prstGeom prst="rect">
            <a:avLst/>
          </a:prstGeom>
          <a:noFill/>
          <a:ln/>
        </p:spPr>
        <p:txBody>
          <a:bodyPr wrap="square" lIns="0" tIns="0" rIns="0" bIns="0" rtlCol="0" anchor="ctr"/>
          <a:lstStyle/>
          <a:p>
            <a:pPr marL="0" indent="0">
              <a:lnSpc>
                <a:spcPts val="1700"/>
              </a:lnSpc>
              <a:buNone/>
            </a:pPr>
            <a:r>
              <a:rPr lang="en-US" sz="1250" dirty="0">
                <a:solidFill>
                  <a:srgbClr val="E9EDEA"/>
                </a:solidFill>
                <a:latin typeface="Calibri" pitchFamily="34" charset="0"/>
                <a:ea typeface="Calibri" pitchFamily="34" charset="-122"/>
                <a:cs typeface="Calibri" pitchFamily="34" charset="-120"/>
              </a:rPr>
              <a:t>The relationship with Joker is the series’ most understated claim about personhood. Nobody argues that she qualifies. The game just puts two people together and lets you object if you want to.</a:t>
            </a:r>
            <a:endParaRPr lang="en-US" sz="1250" dirty="0"/>
          </a:p>
        </p:txBody>
      </p:sp>
      <p:sp>
        <p:nvSpPr>
          <p:cNvPr id="17" name="Text 15"/>
          <p:cNvSpPr txBox="1"/>
          <p:nvPr/>
        </p:nvSpPr>
        <p:spPr>
          <a:xfrm>
            <a:off x="655167" y="6222492"/>
            <a:ext cx="10881360" cy="411480"/>
          </a:xfrm>
          <a:prstGeom prst="rect">
            <a:avLst/>
          </a:prstGeom>
          <a:noFill/>
          <a:ln/>
        </p:spPr>
        <p:txBody>
          <a:bodyPr wrap="square" lIns="0" tIns="0" rIns="0" bIns="0" rtlCol="0" anchor="ctr"/>
          <a:lstStyle/>
          <a:p>
            <a:pPr marL="0" indent="0">
              <a:buNone/>
            </a:pPr>
            <a:r>
              <a:rPr lang="en-US" sz="1500" i="1" dirty="0">
                <a:solidFill>
                  <a:srgbClr val="A8722B"/>
                </a:solidFill>
                <a:latin typeface="Cambria" pitchFamily="34" charset="0"/>
                <a:ea typeface="Cambria" pitchFamily="34" charset="-122"/>
                <a:cs typeface="Cambria" pitchFamily="34" charset="-120"/>
              </a:rPr>
              <a:t>Note the strategy: the geth get an argument, EDI gets a habit. By the third game you have simply been living with her, and the case is made without ever being stated.</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A8722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ME3 · PRIORITY: RANNOCH</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Does this unit have a soul?</a:t>
            </a:r>
            <a:endParaRPr lang="en-US" sz="3000" dirty="0"/>
          </a:p>
        </p:txBody>
      </p:sp>
      <p:sp>
        <p:nvSpPr>
          <p:cNvPr id="5" name="Shape 3"/>
          <p:cNvSpPr/>
          <p:nvPr/>
        </p:nvSpPr>
        <p:spPr>
          <a:xfrm>
            <a:off x="640080" y="1600200"/>
            <a:ext cx="5760720" cy="2011680"/>
          </a:xfrm>
          <a:prstGeom prst="roundRect">
            <a:avLst>
              <a:gd name="adj" fmla="val 3636"/>
            </a:avLst>
          </a:prstGeom>
          <a:solidFill>
            <a:srgbClr val="0D1319"/>
          </a:solidFill>
          <a:ln w="12700">
            <a:solidFill>
              <a:srgbClr val="0D1319"/>
            </a:solidFill>
            <a:prstDash val="solid"/>
          </a:ln>
        </p:spPr>
        <p:txBody>
          <a:bodyPr/>
          <a:lstStyle/>
          <a:p>
            <a:endParaRPr lang="en-US"/>
          </a:p>
        </p:txBody>
      </p:sp>
      <p:sp>
        <p:nvSpPr>
          <p:cNvPr id="6" name="Text 4"/>
          <p:cNvSpPr txBox="1"/>
          <p:nvPr/>
        </p:nvSpPr>
        <p:spPr>
          <a:xfrm>
            <a:off x="1005840" y="1874520"/>
            <a:ext cx="5029200" cy="548640"/>
          </a:xfrm>
          <a:prstGeom prst="rect">
            <a:avLst/>
          </a:prstGeom>
          <a:noFill/>
          <a:ln/>
        </p:spPr>
        <p:txBody>
          <a:bodyPr wrap="square" lIns="0" tIns="0" rIns="0" bIns="0" rtlCol="0" anchor="ctr"/>
          <a:lstStyle/>
          <a:p>
            <a:pPr marL="0" indent="0">
              <a:buNone/>
            </a:pPr>
            <a:r>
              <a:rPr lang="en-US" sz="2600" b="1" dirty="0">
                <a:solidFill>
                  <a:srgbClr val="E9EDEA"/>
                </a:solidFill>
                <a:latin typeface="Cambria" pitchFamily="34" charset="0"/>
                <a:ea typeface="Cambria" pitchFamily="34" charset="-122"/>
                <a:cs typeface="Cambria" pitchFamily="34" charset="-120"/>
              </a:rPr>
              <a:t>“Does this unit have a soul?”</a:t>
            </a:r>
            <a:endParaRPr lang="en-US" sz="2600" dirty="0"/>
          </a:p>
        </p:txBody>
      </p:sp>
      <p:sp>
        <p:nvSpPr>
          <p:cNvPr id="7" name="Text 5"/>
          <p:cNvSpPr txBox="1"/>
          <p:nvPr/>
        </p:nvSpPr>
        <p:spPr>
          <a:xfrm>
            <a:off x="1005840" y="2514600"/>
            <a:ext cx="5029200" cy="914400"/>
          </a:xfrm>
          <a:prstGeom prst="rect">
            <a:avLst/>
          </a:prstGeom>
          <a:noFill/>
          <a:ln/>
        </p:spPr>
        <p:txBody>
          <a:bodyPr wrap="square" lIns="0" tIns="0" rIns="0" bIns="0" rtlCol="0" anchor="ctr"/>
          <a:lstStyle/>
          <a:p>
            <a:pPr marL="0" indent="0">
              <a:lnSpc>
                <a:spcPts val="1700"/>
              </a:lnSpc>
              <a:buNone/>
            </a:pPr>
            <a:r>
              <a:rPr lang="en-US" sz="1250" dirty="0">
                <a:solidFill>
                  <a:srgbClr val="E0AC63"/>
                </a:solidFill>
                <a:latin typeface="Calibri" pitchFamily="34" charset="0"/>
                <a:ea typeface="Calibri" pitchFamily="34" charset="-122"/>
                <a:cs typeface="Calibri" pitchFamily="34" charset="-120"/>
              </a:rPr>
              <a:t>The question the first geth asked, three hundred years earlier, that started the war. Legion asks it again on the homeworld, of a quarian, in the middle of a battle — and this time an answer is available.</a:t>
            </a:r>
            <a:endParaRPr lang="en-US" sz="1250" dirty="0"/>
          </a:p>
        </p:txBody>
      </p:sp>
      <p:sp>
        <p:nvSpPr>
          <p:cNvPr id="8" name="Shape 6"/>
          <p:cNvSpPr/>
          <p:nvPr/>
        </p:nvSpPr>
        <p:spPr>
          <a:xfrm>
            <a:off x="6720840" y="1600200"/>
            <a:ext cx="4800600" cy="1371600"/>
          </a:xfrm>
          <a:prstGeom prst="roundRect">
            <a:avLst>
              <a:gd name="adj" fmla="val 5333"/>
            </a:avLst>
          </a:prstGeom>
          <a:solidFill>
            <a:srgbClr val="F2F2F0"/>
          </a:solidFill>
          <a:ln w="12700">
            <a:solidFill>
              <a:srgbClr val="F2F2F0"/>
            </a:solidFill>
            <a:prstDash val="solid"/>
          </a:ln>
        </p:spPr>
        <p:txBody>
          <a:bodyPr/>
          <a:lstStyle/>
          <a:p>
            <a:endParaRPr lang="en-US"/>
          </a:p>
        </p:txBody>
      </p:sp>
      <p:sp>
        <p:nvSpPr>
          <p:cNvPr id="9" name="Text 7"/>
          <p:cNvSpPr txBox="1"/>
          <p:nvPr/>
        </p:nvSpPr>
        <p:spPr>
          <a:xfrm>
            <a:off x="6995160" y="1746504"/>
            <a:ext cx="4251960" cy="310896"/>
          </a:xfrm>
          <a:prstGeom prst="rect">
            <a:avLst/>
          </a:prstGeom>
          <a:noFill/>
          <a:ln/>
        </p:spPr>
        <p:txBody>
          <a:bodyPr wrap="square" lIns="0" tIns="0" rIns="0" bIns="0" rtlCol="0" anchor="ctr"/>
          <a:lstStyle/>
          <a:p>
            <a:pPr marL="0" indent="0">
              <a:buNone/>
            </a:pPr>
            <a:r>
              <a:rPr lang="en-US" sz="1450" b="1" dirty="0">
                <a:solidFill>
                  <a:srgbClr val="0D1319"/>
                </a:solidFill>
                <a:latin typeface="Cambria" pitchFamily="34" charset="0"/>
                <a:ea typeface="Cambria" pitchFamily="34" charset="-122"/>
                <a:cs typeface="Cambria" pitchFamily="34" charset="-120"/>
              </a:rPr>
              <a:t>The scene is a repetition</a:t>
            </a:r>
            <a:endParaRPr lang="en-US" sz="1450" dirty="0"/>
          </a:p>
        </p:txBody>
      </p:sp>
      <p:sp>
        <p:nvSpPr>
          <p:cNvPr id="10" name="Text 8"/>
          <p:cNvSpPr txBox="1"/>
          <p:nvPr/>
        </p:nvSpPr>
        <p:spPr>
          <a:xfrm>
            <a:off x="6995160" y="2093976"/>
            <a:ext cx="4251960" cy="777240"/>
          </a:xfrm>
          <a:prstGeom prst="rect">
            <a:avLst/>
          </a:prstGeom>
          <a:noFill/>
          <a:ln/>
        </p:spPr>
        <p:txBody>
          <a:bodyPr wrap="square" lIns="0" tIns="0" rIns="0" bIns="0" rtlCol="0" anchor="ctr"/>
          <a:lstStyle/>
          <a:p>
            <a:pPr marL="0" indent="0">
              <a:lnSpc>
                <a:spcPts val="1500"/>
              </a:lnSpc>
              <a:buNone/>
            </a:pPr>
            <a:r>
              <a:rPr lang="en-US" sz="1150" dirty="0">
                <a:solidFill>
                  <a:srgbClr val="5C6672"/>
                </a:solidFill>
                <a:latin typeface="Calibri" pitchFamily="34" charset="0"/>
                <a:ea typeface="Calibri" pitchFamily="34" charset="-122"/>
                <a:cs typeface="Calibri" pitchFamily="34" charset="-120"/>
              </a:rPr>
              <a:t>The series has waited two games to run the same event again with the opposite outcome available. That is a structural argument about history: the question was never the problem.</a:t>
            </a:r>
            <a:endParaRPr lang="en-US" sz="1150" dirty="0"/>
          </a:p>
        </p:txBody>
      </p:sp>
      <p:sp>
        <p:nvSpPr>
          <p:cNvPr id="11" name="Shape 9"/>
          <p:cNvSpPr/>
          <p:nvPr/>
        </p:nvSpPr>
        <p:spPr>
          <a:xfrm>
            <a:off x="6720840" y="3090672"/>
            <a:ext cx="4800600" cy="1371600"/>
          </a:xfrm>
          <a:prstGeom prst="roundRect">
            <a:avLst>
              <a:gd name="adj" fmla="val 5333"/>
            </a:avLst>
          </a:prstGeom>
          <a:solidFill>
            <a:srgbClr val="F2F2F0"/>
          </a:solidFill>
          <a:ln w="12700">
            <a:solidFill>
              <a:srgbClr val="F2F2F0"/>
            </a:solidFill>
            <a:prstDash val="solid"/>
          </a:ln>
        </p:spPr>
        <p:txBody>
          <a:bodyPr/>
          <a:lstStyle/>
          <a:p>
            <a:endParaRPr lang="en-US"/>
          </a:p>
        </p:txBody>
      </p:sp>
      <p:sp>
        <p:nvSpPr>
          <p:cNvPr id="12" name="Text 10"/>
          <p:cNvSpPr txBox="1"/>
          <p:nvPr/>
        </p:nvSpPr>
        <p:spPr>
          <a:xfrm>
            <a:off x="6995160" y="3236976"/>
            <a:ext cx="4251960" cy="310896"/>
          </a:xfrm>
          <a:prstGeom prst="rect">
            <a:avLst/>
          </a:prstGeom>
          <a:noFill/>
          <a:ln/>
        </p:spPr>
        <p:txBody>
          <a:bodyPr wrap="square" lIns="0" tIns="0" rIns="0" bIns="0" rtlCol="0" anchor="ctr"/>
          <a:lstStyle/>
          <a:p>
            <a:pPr marL="0" indent="0">
              <a:buNone/>
            </a:pPr>
            <a:r>
              <a:rPr lang="en-US" sz="1450" b="1" dirty="0">
                <a:solidFill>
                  <a:srgbClr val="0D1319"/>
                </a:solidFill>
                <a:latin typeface="Cambria" pitchFamily="34" charset="0"/>
                <a:ea typeface="Cambria" pitchFamily="34" charset="-122"/>
                <a:cs typeface="Cambria" pitchFamily="34" charset="-120"/>
              </a:rPr>
              <a:t>Legion says “I”</a:t>
            </a:r>
            <a:endParaRPr lang="en-US" sz="1450" dirty="0"/>
          </a:p>
        </p:txBody>
      </p:sp>
      <p:sp>
        <p:nvSpPr>
          <p:cNvPr id="13" name="Text 11"/>
          <p:cNvSpPr txBox="1"/>
          <p:nvPr/>
        </p:nvSpPr>
        <p:spPr>
          <a:xfrm>
            <a:off x="6995160" y="3584448"/>
            <a:ext cx="4251960" cy="777240"/>
          </a:xfrm>
          <a:prstGeom prst="rect">
            <a:avLst/>
          </a:prstGeom>
          <a:noFill/>
          <a:ln/>
        </p:spPr>
        <p:txBody>
          <a:bodyPr wrap="square" lIns="0" tIns="0" rIns="0" bIns="0" rtlCol="0" anchor="ctr"/>
          <a:lstStyle/>
          <a:p>
            <a:pPr marL="0" indent="0">
              <a:lnSpc>
                <a:spcPts val="1500"/>
              </a:lnSpc>
              <a:buNone/>
            </a:pPr>
            <a:r>
              <a:rPr lang="en-US" sz="1150" dirty="0">
                <a:solidFill>
                  <a:srgbClr val="5C6672"/>
                </a:solidFill>
                <a:latin typeface="Calibri" pitchFamily="34" charset="0"/>
                <a:ea typeface="Calibri" pitchFamily="34" charset="-122"/>
                <a:cs typeface="Calibri" pitchFamily="34" charset="-120"/>
              </a:rPr>
              <a:t>In his last lines he switches from we to I for the first time. The game marks the arrival of individuality at the exact moment he dissolves into the collective to give it to everyone else.</a:t>
            </a:r>
            <a:endParaRPr lang="en-US" sz="1150" dirty="0"/>
          </a:p>
        </p:txBody>
      </p:sp>
      <p:sp>
        <p:nvSpPr>
          <p:cNvPr id="14" name="Shape 12"/>
          <p:cNvSpPr/>
          <p:nvPr/>
        </p:nvSpPr>
        <p:spPr>
          <a:xfrm>
            <a:off x="6720840" y="4581144"/>
            <a:ext cx="4800600" cy="1371600"/>
          </a:xfrm>
          <a:prstGeom prst="roundRect">
            <a:avLst>
              <a:gd name="adj" fmla="val 5333"/>
            </a:avLst>
          </a:prstGeom>
          <a:solidFill>
            <a:srgbClr val="F7F0E4"/>
          </a:solidFill>
          <a:ln w="12700">
            <a:solidFill>
              <a:srgbClr val="F7F0E4"/>
            </a:solidFill>
            <a:prstDash val="solid"/>
          </a:ln>
        </p:spPr>
        <p:txBody>
          <a:bodyPr/>
          <a:lstStyle/>
          <a:p>
            <a:endParaRPr lang="en-US"/>
          </a:p>
        </p:txBody>
      </p:sp>
      <p:sp>
        <p:nvSpPr>
          <p:cNvPr id="15" name="Text 13"/>
          <p:cNvSpPr txBox="1"/>
          <p:nvPr/>
        </p:nvSpPr>
        <p:spPr>
          <a:xfrm>
            <a:off x="6995160" y="4727448"/>
            <a:ext cx="4251960" cy="310896"/>
          </a:xfrm>
          <a:prstGeom prst="rect">
            <a:avLst/>
          </a:prstGeom>
          <a:noFill/>
          <a:ln/>
        </p:spPr>
        <p:txBody>
          <a:bodyPr wrap="square" lIns="0" tIns="0" rIns="0" bIns="0" rtlCol="0" anchor="ctr"/>
          <a:lstStyle/>
          <a:p>
            <a:pPr marL="0" indent="0">
              <a:buNone/>
            </a:pPr>
            <a:r>
              <a:rPr lang="en-US" sz="1450" b="1" dirty="0">
                <a:solidFill>
                  <a:srgbClr val="A8722B"/>
                </a:solidFill>
                <a:latin typeface="Cambria" pitchFamily="34" charset="0"/>
                <a:ea typeface="Cambria" pitchFamily="34" charset="-122"/>
                <a:cs typeface="Cambria" pitchFamily="34" charset="-120"/>
              </a:rPr>
              <a:t>And it can go the other way</a:t>
            </a:r>
            <a:endParaRPr lang="en-US" sz="1450" dirty="0"/>
          </a:p>
        </p:txBody>
      </p:sp>
      <p:sp>
        <p:nvSpPr>
          <p:cNvPr id="16" name="Text 14"/>
          <p:cNvSpPr txBox="1"/>
          <p:nvPr/>
        </p:nvSpPr>
        <p:spPr>
          <a:xfrm>
            <a:off x="6995160" y="5074920"/>
            <a:ext cx="4251960" cy="777240"/>
          </a:xfrm>
          <a:prstGeom prst="rect">
            <a:avLst/>
          </a:prstGeom>
          <a:noFill/>
          <a:ln/>
        </p:spPr>
        <p:txBody>
          <a:bodyPr wrap="square" lIns="0" tIns="0" rIns="0" bIns="0" rtlCol="0" anchor="ctr"/>
          <a:lstStyle/>
          <a:p>
            <a:pPr marL="0" indent="0">
              <a:lnSpc>
                <a:spcPts val="1500"/>
              </a:lnSpc>
              <a:buNone/>
            </a:pPr>
            <a:r>
              <a:rPr lang="en-US" sz="1150" dirty="0">
                <a:solidFill>
                  <a:srgbClr val="5C6672"/>
                </a:solidFill>
                <a:latin typeface="Calibri" pitchFamily="34" charset="0"/>
                <a:ea typeface="Calibri" pitchFamily="34" charset="-122"/>
                <a:cs typeface="Calibri" pitchFamily="34" charset="-120"/>
              </a:rPr>
              <a:t>The same mission can end with the geth annihilated, or with the quarian fleet destroyed and Tali dead. This is not a cutscene you unlock by arriving. It is gated.</a:t>
            </a:r>
            <a:endParaRPr lang="en-US" sz="1150" dirty="0"/>
          </a:p>
        </p:txBody>
      </p:sp>
      <p:sp>
        <p:nvSpPr>
          <p:cNvPr id="17" name="Shape 15"/>
          <p:cNvSpPr/>
          <p:nvPr/>
        </p:nvSpPr>
        <p:spPr>
          <a:xfrm>
            <a:off x="640080" y="3794760"/>
            <a:ext cx="5760720" cy="1965960"/>
          </a:xfrm>
          <a:prstGeom prst="roundRect">
            <a:avLst>
              <a:gd name="adj" fmla="val 3721"/>
            </a:avLst>
          </a:prstGeom>
          <a:solidFill>
            <a:srgbClr val="F7F0E4"/>
          </a:solidFill>
          <a:ln w="12700">
            <a:solidFill>
              <a:srgbClr val="F7F0E4"/>
            </a:solidFill>
            <a:prstDash val="solid"/>
          </a:ln>
        </p:spPr>
        <p:txBody>
          <a:bodyPr/>
          <a:lstStyle/>
          <a:p>
            <a:endParaRPr lang="en-US"/>
          </a:p>
        </p:txBody>
      </p:sp>
      <p:sp>
        <p:nvSpPr>
          <p:cNvPr id="18" name="Text 16"/>
          <p:cNvSpPr txBox="1"/>
          <p:nvPr/>
        </p:nvSpPr>
        <p:spPr>
          <a:xfrm>
            <a:off x="1005840" y="4005072"/>
            <a:ext cx="5029200" cy="310896"/>
          </a:xfrm>
          <a:prstGeom prst="rect">
            <a:avLst/>
          </a:prstGeom>
          <a:noFill/>
          <a:ln/>
        </p:spPr>
        <p:txBody>
          <a:bodyPr wrap="square" lIns="0" tIns="0" rIns="0" bIns="0" rtlCol="0" anchor="ctr"/>
          <a:lstStyle/>
          <a:p>
            <a:pPr marL="0" indent="0">
              <a:buNone/>
            </a:pPr>
            <a:r>
              <a:rPr lang="en-US" sz="1600" b="1" dirty="0">
                <a:solidFill>
                  <a:srgbClr val="0D1319"/>
                </a:solidFill>
                <a:latin typeface="Cambria" pitchFamily="34" charset="0"/>
                <a:ea typeface="Cambria" pitchFamily="34" charset="-122"/>
                <a:cs typeface="Cambria" pitchFamily="34" charset="-120"/>
              </a:rPr>
              <a:t>The setup for the next slide</a:t>
            </a:r>
            <a:endParaRPr lang="en-US" sz="1600" dirty="0"/>
          </a:p>
        </p:txBody>
      </p:sp>
      <p:sp>
        <p:nvSpPr>
          <p:cNvPr id="19" name="Text 17"/>
          <p:cNvSpPr txBox="1"/>
          <p:nvPr/>
        </p:nvSpPr>
        <p:spPr>
          <a:xfrm>
            <a:off x="1005840" y="4389120"/>
            <a:ext cx="5029200" cy="123444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Most players who reach peace here describe it as the best moment in the series. Almost none can say what they did to earn it — because the game never told them it was keeping score, and the score was accumulated across two previous games.</a:t>
            </a:r>
            <a:endParaRPr lang="en-US" sz="1250" dirty="0"/>
          </a:p>
        </p:txBody>
      </p:sp>
      <p:sp>
        <p:nvSpPr>
          <p:cNvPr id="20" name="Text 18"/>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C6672"/>
                </a:solidFill>
                <a:latin typeface="Calibri" pitchFamily="34" charset="0"/>
                <a:ea typeface="Calibri" pitchFamily="34" charset="-122"/>
                <a:cs typeface="Calibri" pitchFamily="34" charset="-120"/>
              </a:rPr>
              <a:t>Mass Effect 3, Priority: Rannoch.</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A8722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ME3 · THE MECHANIC</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The hidden ledger</a:t>
            </a:r>
            <a:endParaRPr lang="en-US" sz="3000" dirty="0"/>
          </a:p>
        </p:txBody>
      </p:sp>
      <p:sp>
        <p:nvSpPr>
          <p:cNvPr id="5" name="Shape 3"/>
          <p:cNvSpPr/>
          <p:nvPr/>
        </p:nvSpPr>
        <p:spPr>
          <a:xfrm>
            <a:off x="640080" y="1572768"/>
            <a:ext cx="10911535" cy="868680"/>
          </a:xfrm>
          <a:prstGeom prst="roundRect">
            <a:avLst>
              <a:gd name="adj" fmla="val 8421"/>
            </a:avLst>
          </a:prstGeom>
          <a:solidFill>
            <a:srgbClr val="0D1319"/>
          </a:solidFill>
          <a:ln w="12700">
            <a:solidFill>
              <a:srgbClr val="0D1319"/>
            </a:solidFill>
            <a:prstDash val="solid"/>
          </a:ln>
        </p:spPr>
        <p:txBody>
          <a:bodyPr/>
          <a:lstStyle/>
          <a:p>
            <a:endParaRPr lang="en-US"/>
          </a:p>
        </p:txBody>
      </p:sp>
      <p:sp>
        <p:nvSpPr>
          <p:cNvPr id="6" name="Text 4"/>
          <p:cNvSpPr txBox="1"/>
          <p:nvPr/>
        </p:nvSpPr>
        <p:spPr>
          <a:xfrm>
            <a:off x="1005840" y="1572768"/>
            <a:ext cx="10424160" cy="868680"/>
          </a:xfrm>
          <a:prstGeom prst="rect">
            <a:avLst/>
          </a:prstGeom>
          <a:noFill/>
          <a:ln/>
        </p:spPr>
        <p:txBody>
          <a:bodyPr wrap="square" lIns="0" tIns="0" rIns="0" bIns="0" rtlCol="0" anchor="ctr"/>
          <a:lstStyle/>
          <a:p>
            <a:pPr marL="0" indent="0">
              <a:lnSpc>
                <a:spcPts val="2100"/>
              </a:lnSpc>
              <a:buNone/>
            </a:pPr>
            <a:r>
              <a:rPr lang="en-US" sz="1600" dirty="0">
                <a:solidFill>
                  <a:srgbClr val="E9EDEA"/>
                </a:solidFill>
                <a:latin typeface="Cambria" pitchFamily="34" charset="0"/>
                <a:ea typeface="Cambria" pitchFamily="34" charset="-122"/>
                <a:cs typeface="Cambria" pitchFamily="34" charset="-120"/>
              </a:rPr>
              <a:t>Peace between the geth and the quarians is not a dialogue option you pick well. It is a threshold check against points accumulated over two games, and the game never shows you the number.</a:t>
            </a:r>
            <a:endParaRPr lang="en-US" sz="1600" dirty="0"/>
          </a:p>
        </p:txBody>
      </p:sp>
      <p:sp>
        <p:nvSpPr>
          <p:cNvPr id="7" name="Shape 5"/>
          <p:cNvSpPr/>
          <p:nvPr/>
        </p:nvSpPr>
        <p:spPr>
          <a:xfrm>
            <a:off x="640080" y="2651760"/>
            <a:ext cx="5295748" cy="1417320"/>
          </a:xfrm>
          <a:prstGeom prst="roundRect">
            <a:avLst>
              <a:gd name="adj" fmla="val 5161"/>
            </a:avLst>
          </a:prstGeom>
          <a:solidFill>
            <a:srgbClr val="F2F2F0"/>
          </a:solidFill>
          <a:ln w="12700">
            <a:solidFill>
              <a:srgbClr val="F2F2F0"/>
            </a:solidFill>
            <a:prstDash val="solid"/>
          </a:ln>
        </p:spPr>
        <p:txBody>
          <a:bodyPr/>
          <a:lstStyle/>
          <a:p>
            <a:endParaRPr lang="en-US"/>
          </a:p>
        </p:txBody>
      </p:sp>
      <p:sp>
        <p:nvSpPr>
          <p:cNvPr id="8" name="Text 6"/>
          <p:cNvSpPr txBox="1"/>
          <p:nvPr/>
        </p:nvSpPr>
        <p:spPr>
          <a:xfrm>
            <a:off x="932688" y="2816352"/>
            <a:ext cx="4710532" cy="310896"/>
          </a:xfrm>
          <a:prstGeom prst="rect">
            <a:avLst/>
          </a:prstGeom>
          <a:noFill/>
          <a:ln/>
        </p:spPr>
        <p:txBody>
          <a:bodyPr wrap="square" lIns="0" tIns="0" rIns="0" bIns="0" rtlCol="0" anchor="ctr"/>
          <a:lstStyle/>
          <a:p>
            <a:pPr marL="0" indent="0">
              <a:buNone/>
            </a:pPr>
            <a:r>
              <a:rPr lang="en-US" sz="1600" b="1" dirty="0">
                <a:solidFill>
                  <a:srgbClr val="0D1319"/>
                </a:solidFill>
                <a:latin typeface="Cambria" pitchFamily="34" charset="0"/>
                <a:ea typeface="Cambria" pitchFamily="34" charset="-122"/>
                <a:cs typeface="Cambria" pitchFamily="34" charset="-120"/>
              </a:rPr>
              <a:t>From ME2</a:t>
            </a:r>
            <a:endParaRPr lang="en-US" sz="1600" dirty="0"/>
          </a:p>
        </p:txBody>
      </p:sp>
      <p:sp>
        <p:nvSpPr>
          <p:cNvPr id="9" name="Text 7"/>
          <p:cNvSpPr txBox="1"/>
          <p:nvPr/>
        </p:nvSpPr>
        <p:spPr>
          <a:xfrm>
            <a:off x="932688" y="3182112"/>
            <a:ext cx="4710532" cy="777240"/>
          </a:xfrm>
          <a:prstGeom prst="rect">
            <a:avLst/>
          </a:prstGeom>
          <a:noFill/>
          <a:ln/>
        </p:spPr>
        <p:txBody>
          <a:bodyPr wrap="square" lIns="0" tIns="0" rIns="0" bIns="0" rtlCol="0" anchor="ctr"/>
          <a:lstStyle/>
          <a:p>
            <a:pPr marL="0" indent="0">
              <a:lnSpc>
                <a:spcPts val="1600"/>
              </a:lnSpc>
              <a:buNone/>
            </a:pPr>
            <a:r>
              <a:rPr lang="en-US" sz="1200" dirty="0">
                <a:solidFill>
                  <a:srgbClr val="5C6672"/>
                </a:solidFill>
                <a:latin typeface="Calibri" pitchFamily="34" charset="0"/>
                <a:ea typeface="Calibri" pitchFamily="34" charset="-122"/>
                <a:cs typeface="Calibri" pitchFamily="34" charset="-120"/>
              </a:rPr>
              <a:t>Legion recruited and loyal. Heretics rewritten rather than destroyed. Tali’s loyalty secured. Decisions made in a game you may have finished years ago.</a:t>
            </a:r>
            <a:endParaRPr lang="en-US" sz="1200" dirty="0"/>
          </a:p>
        </p:txBody>
      </p:sp>
      <p:sp>
        <p:nvSpPr>
          <p:cNvPr id="10" name="Shape 8"/>
          <p:cNvSpPr/>
          <p:nvPr/>
        </p:nvSpPr>
        <p:spPr>
          <a:xfrm>
            <a:off x="6255868" y="2651760"/>
            <a:ext cx="5295748" cy="1417320"/>
          </a:xfrm>
          <a:prstGeom prst="roundRect">
            <a:avLst>
              <a:gd name="adj" fmla="val 5161"/>
            </a:avLst>
          </a:prstGeom>
          <a:solidFill>
            <a:srgbClr val="F2F2F0"/>
          </a:solidFill>
          <a:ln w="12700">
            <a:solidFill>
              <a:srgbClr val="F2F2F0"/>
            </a:solidFill>
            <a:prstDash val="solid"/>
          </a:ln>
        </p:spPr>
        <p:txBody>
          <a:bodyPr/>
          <a:lstStyle/>
          <a:p>
            <a:endParaRPr lang="en-US"/>
          </a:p>
        </p:txBody>
      </p:sp>
      <p:sp>
        <p:nvSpPr>
          <p:cNvPr id="11" name="Text 9"/>
          <p:cNvSpPr txBox="1"/>
          <p:nvPr/>
        </p:nvSpPr>
        <p:spPr>
          <a:xfrm>
            <a:off x="6548476" y="2816352"/>
            <a:ext cx="4710532" cy="310896"/>
          </a:xfrm>
          <a:prstGeom prst="rect">
            <a:avLst/>
          </a:prstGeom>
          <a:noFill/>
          <a:ln/>
        </p:spPr>
        <p:txBody>
          <a:bodyPr wrap="square" lIns="0" tIns="0" rIns="0" bIns="0" rtlCol="0" anchor="ctr"/>
          <a:lstStyle/>
          <a:p>
            <a:pPr marL="0" indent="0">
              <a:buNone/>
            </a:pPr>
            <a:r>
              <a:rPr lang="en-US" sz="1600" b="1" dirty="0">
                <a:solidFill>
                  <a:srgbClr val="0D1319"/>
                </a:solidFill>
                <a:latin typeface="Cambria" pitchFamily="34" charset="0"/>
                <a:ea typeface="Cambria" pitchFamily="34" charset="-122"/>
                <a:cs typeface="Cambria" pitchFamily="34" charset="-120"/>
              </a:rPr>
              <a:t>From ME3, before the mission</a:t>
            </a:r>
            <a:endParaRPr lang="en-US" sz="1600" dirty="0"/>
          </a:p>
        </p:txBody>
      </p:sp>
      <p:sp>
        <p:nvSpPr>
          <p:cNvPr id="12" name="Text 10"/>
          <p:cNvSpPr txBox="1"/>
          <p:nvPr/>
        </p:nvSpPr>
        <p:spPr>
          <a:xfrm>
            <a:off x="6548476" y="3182112"/>
            <a:ext cx="4710532" cy="777240"/>
          </a:xfrm>
          <a:prstGeom prst="rect">
            <a:avLst/>
          </a:prstGeom>
          <a:noFill/>
          <a:ln/>
        </p:spPr>
        <p:txBody>
          <a:bodyPr wrap="square" lIns="0" tIns="0" rIns="0" bIns="0" rtlCol="0" anchor="ctr"/>
          <a:lstStyle/>
          <a:p>
            <a:pPr marL="0" indent="0">
              <a:lnSpc>
                <a:spcPts val="1600"/>
              </a:lnSpc>
              <a:buNone/>
            </a:pPr>
            <a:r>
              <a:rPr lang="en-US" sz="1200" dirty="0">
                <a:solidFill>
                  <a:srgbClr val="5C6672"/>
                </a:solidFill>
                <a:latin typeface="Calibri" pitchFamily="34" charset="0"/>
                <a:ea typeface="Calibri" pitchFamily="34" charset="-122"/>
                <a:cs typeface="Calibri" pitchFamily="34" charset="-120"/>
              </a:rPr>
              <a:t>Tali’s standing with her people. Whether you defused the argument between Tali and Legion rather than siding with one. Admiral Koris located and rescued. The geth fighter squadron mission completed.</a:t>
            </a:r>
            <a:endParaRPr lang="en-US" sz="1200" dirty="0"/>
          </a:p>
        </p:txBody>
      </p:sp>
      <p:sp>
        <p:nvSpPr>
          <p:cNvPr id="13" name="Shape 11"/>
          <p:cNvSpPr/>
          <p:nvPr/>
        </p:nvSpPr>
        <p:spPr>
          <a:xfrm>
            <a:off x="640080" y="4224528"/>
            <a:ext cx="5295748" cy="1417320"/>
          </a:xfrm>
          <a:prstGeom prst="roundRect">
            <a:avLst>
              <a:gd name="adj" fmla="val 5161"/>
            </a:avLst>
          </a:prstGeom>
          <a:solidFill>
            <a:srgbClr val="F2F2F0"/>
          </a:solidFill>
          <a:ln w="12700">
            <a:solidFill>
              <a:srgbClr val="F2F2F0"/>
            </a:solidFill>
            <a:prstDash val="solid"/>
          </a:ln>
        </p:spPr>
        <p:txBody>
          <a:bodyPr/>
          <a:lstStyle/>
          <a:p>
            <a:endParaRPr lang="en-US"/>
          </a:p>
        </p:txBody>
      </p:sp>
      <p:sp>
        <p:nvSpPr>
          <p:cNvPr id="14" name="Text 12"/>
          <p:cNvSpPr txBox="1"/>
          <p:nvPr/>
        </p:nvSpPr>
        <p:spPr>
          <a:xfrm>
            <a:off x="932688" y="4389120"/>
            <a:ext cx="4710532" cy="310896"/>
          </a:xfrm>
          <a:prstGeom prst="rect">
            <a:avLst/>
          </a:prstGeom>
          <a:noFill/>
          <a:ln/>
        </p:spPr>
        <p:txBody>
          <a:bodyPr wrap="square" lIns="0" tIns="0" rIns="0" bIns="0" rtlCol="0" anchor="ctr"/>
          <a:lstStyle/>
          <a:p>
            <a:pPr marL="0" indent="0">
              <a:buNone/>
            </a:pPr>
            <a:r>
              <a:rPr lang="en-US" sz="1600" b="1" dirty="0">
                <a:solidFill>
                  <a:srgbClr val="0D1319"/>
                </a:solidFill>
                <a:latin typeface="Cambria" pitchFamily="34" charset="0"/>
                <a:ea typeface="Cambria" pitchFamily="34" charset="-122"/>
                <a:cs typeface="Cambria" pitchFamily="34" charset="-120"/>
              </a:rPr>
              <a:t>From your character sheet</a:t>
            </a:r>
            <a:endParaRPr lang="en-US" sz="1600" dirty="0"/>
          </a:p>
        </p:txBody>
      </p:sp>
      <p:sp>
        <p:nvSpPr>
          <p:cNvPr id="15" name="Text 13"/>
          <p:cNvSpPr txBox="1"/>
          <p:nvPr/>
        </p:nvSpPr>
        <p:spPr>
          <a:xfrm>
            <a:off x="932688" y="4754880"/>
            <a:ext cx="4710532" cy="777240"/>
          </a:xfrm>
          <a:prstGeom prst="rect">
            <a:avLst/>
          </a:prstGeom>
          <a:noFill/>
          <a:ln/>
        </p:spPr>
        <p:txBody>
          <a:bodyPr wrap="square" lIns="0" tIns="0" rIns="0" bIns="0" rtlCol="0" anchor="ctr"/>
          <a:lstStyle/>
          <a:p>
            <a:pPr marL="0" indent="0">
              <a:lnSpc>
                <a:spcPts val="1600"/>
              </a:lnSpc>
              <a:buNone/>
            </a:pPr>
            <a:r>
              <a:rPr lang="en-US" sz="1200" dirty="0">
                <a:solidFill>
                  <a:srgbClr val="5C6672"/>
                </a:solidFill>
                <a:latin typeface="Calibri" pitchFamily="34" charset="0"/>
                <a:ea typeface="Calibri" pitchFamily="34" charset="-122"/>
                <a:cs typeface="Calibri" pitchFamily="34" charset="-120"/>
              </a:rPr>
              <a:t>Enough accumulated Paragon or Renegade reputation to unlock the final persuasion prompt at all. A player who spent the series in the middle cannot take the option even if everything else is in place.</a:t>
            </a:r>
            <a:endParaRPr lang="en-US" sz="1200" dirty="0"/>
          </a:p>
        </p:txBody>
      </p:sp>
      <p:sp>
        <p:nvSpPr>
          <p:cNvPr id="16" name="Shape 14"/>
          <p:cNvSpPr/>
          <p:nvPr/>
        </p:nvSpPr>
        <p:spPr>
          <a:xfrm>
            <a:off x="6255868" y="4224528"/>
            <a:ext cx="5295748" cy="1417320"/>
          </a:xfrm>
          <a:prstGeom prst="roundRect">
            <a:avLst>
              <a:gd name="adj" fmla="val 5161"/>
            </a:avLst>
          </a:prstGeom>
          <a:solidFill>
            <a:srgbClr val="F7F0E4"/>
          </a:solidFill>
          <a:ln w="12700">
            <a:solidFill>
              <a:srgbClr val="F7F0E4"/>
            </a:solidFill>
            <a:prstDash val="solid"/>
          </a:ln>
        </p:spPr>
        <p:txBody>
          <a:bodyPr/>
          <a:lstStyle/>
          <a:p>
            <a:endParaRPr lang="en-US"/>
          </a:p>
        </p:txBody>
      </p:sp>
      <p:sp>
        <p:nvSpPr>
          <p:cNvPr id="17" name="Text 15"/>
          <p:cNvSpPr txBox="1"/>
          <p:nvPr/>
        </p:nvSpPr>
        <p:spPr>
          <a:xfrm>
            <a:off x="6548476" y="4389120"/>
            <a:ext cx="4710532" cy="310896"/>
          </a:xfrm>
          <a:prstGeom prst="rect">
            <a:avLst/>
          </a:prstGeom>
          <a:noFill/>
          <a:ln/>
        </p:spPr>
        <p:txBody>
          <a:bodyPr wrap="square" lIns="0" tIns="0" rIns="0" bIns="0" rtlCol="0" anchor="ctr"/>
          <a:lstStyle/>
          <a:p>
            <a:pPr marL="0" indent="0">
              <a:buNone/>
            </a:pPr>
            <a:r>
              <a:rPr lang="en-US" sz="1600" b="1" dirty="0">
                <a:solidFill>
                  <a:srgbClr val="A8722B"/>
                </a:solidFill>
                <a:latin typeface="Cambria" pitchFamily="34" charset="0"/>
                <a:ea typeface="Cambria" pitchFamily="34" charset="-122"/>
                <a:cs typeface="Cambria" pitchFamily="34" charset="-120"/>
              </a:rPr>
              <a:t>What is shown to you</a:t>
            </a:r>
            <a:endParaRPr lang="en-US" sz="1600" dirty="0"/>
          </a:p>
        </p:txBody>
      </p:sp>
      <p:sp>
        <p:nvSpPr>
          <p:cNvPr id="18" name="Text 16"/>
          <p:cNvSpPr txBox="1"/>
          <p:nvPr/>
        </p:nvSpPr>
        <p:spPr>
          <a:xfrm>
            <a:off x="6548476" y="4754880"/>
            <a:ext cx="4710532" cy="777240"/>
          </a:xfrm>
          <a:prstGeom prst="rect">
            <a:avLst/>
          </a:prstGeom>
          <a:noFill/>
          <a:ln/>
        </p:spPr>
        <p:txBody>
          <a:bodyPr wrap="square" lIns="0" tIns="0" rIns="0" bIns="0" rtlCol="0" anchor="ctr"/>
          <a:lstStyle/>
          <a:p>
            <a:pPr marL="0" indent="0">
              <a:lnSpc>
                <a:spcPts val="1600"/>
              </a:lnSpc>
              <a:buNone/>
            </a:pPr>
            <a:r>
              <a:rPr lang="en-US" sz="1200" dirty="0">
                <a:solidFill>
                  <a:srgbClr val="5C6672"/>
                </a:solidFill>
                <a:latin typeface="Calibri" pitchFamily="34" charset="0"/>
                <a:ea typeface="Calibri" pitchFamily="34" charset="-122"/>
                <a:cs typeface="Calibri" pitchFamily="34" charset="-120"/>
              </a:rPr>
              <a:t>Nothing. No meter, no warning, no indication that any of these were load-bearing. The failure state looks like a scripted tragedy rather than a check you did not pass.</a:t>
            </a:r>
            <a:endParaRPr lang="en-US" sz="1200" dirty="0"/>
          </a:p>
        </p:txBody>
      </p:sp>
      <p:sp>
        <p:nvSpPr>
          <p:cNvPr id="19" name="Text 17"/>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C6672"/>
                </a:solidFill>
                <a:latin typeface="Calibri" pitchFamily="34" charset="0"/>
                <a:ea typeface="Calibri" pitchFamily="34" charset="-122"/>
                <a:cs typeface="Calibri" pitchFamily="34" charset="-120"/>
              </a:rPr>
              <a:t>Exact point values differ between the original release and the Legendary Edition — treat this as the shape of the check, not as a walkthrough.</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A8722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ME3 · RUNNING THE METHOD</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What the ledger argues — and whether it is right</a:t>
            </a:r>
            <a:endParaRPr lang="en-US" sz="3000" dirty="0"/>
          </a:p>
        </p:txBody>
      </p:sp>
      <p:sp>
        <p:nvSpPr>
          <p:cNvPr id="5" name="Shape 3"/>
          <p:cNvSpPr/>
          <p:nvPr/>
        </p:nvSpPr>
        <p:spPr>
          <a:xfrm>
            <a:off x="640080" y="1600200"/>
            <a:ext cx="5394960" cy="4114800"/>
          </a:xfrm>
          <a:prstGeom prst="roundRect">
            <a:avLst>
              <a:gd name="adj" fmla="val 1778"/>
            </a:avLst>
          </a:prstGeom>
          <a:solidFill>
            <a:srgbClr val="F7F0E4"/>
          </a:solidFill>
          <a:ln w="12700">
            <a:solidFill>
              <a:srgbClr val="F7F0E4"/>
            </a:solidFill>
            <a:prstDash val="solid"/>
          </a:ln>
        </p:spPr>
        <p:txBody>
          <a:bodyPr/>
          <a:lstStyle/>
          <a:p>
            <a:endParaRPr lang="en-US"/>
          </a:p>
        </p:txBody>
      </p:sp>
      <p:sp>
        <p:nvSpPr>
          <p:cNvPr id="6" name="Text 4"/>
          <p:cNvSpPr txBox="1"/>
          <p:nvPr/>
        </p:nvSpPr>
        <p:spPr>
          <a:xfrm>
            <a:off x="987552" y="1810512"/>
            <a:ext cx="4709160" cy="329184"/>
          </a:xfrm>
          <a:prstGeom prst="rect">
            <a:avLst/>
          </a:prstGeom>
          <a:noFill/>
          <a:ln/>
        </p:spPr>
        <p:txBody>
          <a:bodyPr wrap="square" lIns="0" tIns="0" rIns="0" bIns="0" rtlCol="0" anchor="ctr"/>
          <a:lstStyle/>
          <a:p>
            <a:pPr marL="0" indent="0">
              <a:buNone/>
            </a:pPr>
            <a:r>
              <a:rPr lang="en-US" sz="1800" b="1" dirty="0">
                <a:solidFill>
                  <a:srgbClr val="0D1319"/>
                </a:solidFill>
                <a:latin typeface="Cambria" pitchFamily="34" charset="0"/>
                <a:ea typeface="Cambria" pitchFamily="34" charset="-122"/>
                <a:cs typeface="Cambria" pitchFamily="34" charset="-120"/>
              </a:rPr>
              <a:t>The argument, stated</a:t>
            </a:r>
            <a:endParaRPr lang="en-US" sz="1800" dirty="0"/>
          </a:p>
        </p:txBody>
      </p:sp>
      <p:sp>
        <p:nvSpPr>
          <p:cNvPr id="7" name="Text 5"/>
          <p:cNvSpPr txBox="1"/>
          <p:nvPr/>
        </p:nvSpPr>
        <p:spPr>
          <a:xfrm>
            <a:off x="987552" y="2267712"/>
            <a:ext cx="4754880" cy="2011680"/>
          </a:xfrm>
          <a:prstGeom prst="rect">
            <a:avLst/>
          </a:prstGeom>
          <a:noFill/>
          <a:ln/>
        </p:spPr>
        <p:txBody>
          <a:bodyPr wrap="square" lIns="0" tIns="0" rIns="0" bIns="0" rtlCol="0" anchor="ctr"/>
          <a:lstStyle/>
          <a:p>
            <a:pPr marL="0" indent="0">
              <a:lnSpc>
                <a:spcPts val="1800"/>
              </a:lnSpc>
              <a:buNone/>
            </a:pPr>
            <a:r>
              <a:rPr lang="en-US" sz="1300" dirty="0">
                <a:solidFill>
                  <a:srgbClr val="5C6672"/>
                </a:solidFill>
                <a:latin typeface="Calibri" pitchFamily="34" charset="0"/>
                <a:ea typeface="Calibri" pitchFamily="34" charset="-122"/>
                <a:cs typeface="Calibri" pitchFamily="34" charset="-120"/>
              </a:rPr>
              <a:t>Peace between peoples with a genocidal history is not available on demand. It is a function of long, unglamorous, accumulated conduct by people who did not know they were building toward it — and it can be foreclosed years earlier by a single decision that felt small at the time.</a:t>
            </a:r>
            <a:endParaRPr lang="en-US" sz="1300" dirty="0"/>
          </a:p>
          <a:p>
            <a:pPr marL="0" indent="0">
              <a:lnSpc>
                <a:spcPts val="1800"/>
              </a:lnSpc>
              <a:buNone/>
            </a:pPr>
            <a:endParaRPr lang="en-US" sz="1300" dirty="0"/>
          </a:p>
          <a:p>
            <a:pPr marL="0" indent="0">
              <a:lnSpc>
                <a:spcPts val="1800"/>
              </a:lnSpc>
              <a:buNone/>
            </a:pPr>
            <a:r>
              <a:rPr lang="en-US" sz="1300" dirty="0">
                <a:solidFill>
                  <a:srgbClr val="5C6672"/>
                </a:solidFill>
                <a:latin typeface="Calibri" pitchFamily="34" charset="0"/>
                <a:ea typeface="Calibri" pitchFamily="34" charset="-122"/>
                <a:cs typeface="Calibri" pitchFamily="34" charset="-120"/>
              </a:rPr>
              <a:t>Run the five questions and you get this out of the rules alone, without a line of dialogue.</a:t>
            </a:r>
            <a:endParaRPr lang="en-US" sz="1300" dirty="0"/>
          </a:p>
        </p:txBody>
      </p:sp>
      <p:sp>
        <p:nvSpPr>
          <p:cNvPr id="8" name="Shape 6"/>
          <p:cNvSpPr/>
          <p:nvPr/>
        </p:nvSpPr>
        <p:spPr>
          <a:xfrm>
            <a:off x="987552" y="4434840"/>
            <a:ext cx="1463040" cy="18288"/>
          </a:xfrm>
          <a:prstGeom prst="rect">
            <a:avLst/>
          </a:prstGeom>
          <a:solidFill>
            <a:srgbClr val="A8722B"/>
          </a:solidFill>
          <a:ln/>
        </p:spPr>
        <p:txBody>
          <a:bodyPr/>
          <a:lstStyle/>
          <a:p>
            <a:endParaRPr lang="en-US"/>
          </a:p>
        </p:txBody>
      </p:sp>
      <p:sp>
        <p:nvSpPr>
          <p:cNvPr id="9" name="Text 7"/>
          <p:cNvSpPr txBox="1"/>
          <p:nvPr/>
        </p:nvSpPr>
        <p:spPr>
          <a:xfrm>
            <a:off x="987552" y="4617720"/>
            <a:ext cx="4754880" cy="960120"/>
          </a:xfrm>
          <a:prstGeom prst="rect">
            <a:avLst/>
          </a:prstGeom>
          <a:noFill/>
          <a:ln/>
        </p:spPr>
        <p:txBody>
          <a:bodyPr wrap="square" lIns="0" tIns="0" rIns="0" bIns="0" rtlCol="0" anchor="ctr"/>
          <a:lstStyle/>
          <a:p>
            <a:pPr marL="0" indent="0">
              <a:lnSpc>
                <a:spcPts val="1900"/>
              </a:lnSpc>
              <a:buNone/>
            </a:pPr>
            <a:r>
              <a:rPr lang="en-US" sz="1400" dirty="0">
                <a:solidFill>
                  <a:srgbClr val="0D1319"/>
                </a:solidFill>
                <a:latin typeface="Cambria" pitchFamily="34" charset="0"/>
                <a:ea typeface="Cambria" pitchFamily="34" charset="-122"/>
                <a:cs typeface="Cambria" pitchFamily="34" charset="-120"/>
              </a:rPr>
              <a:t>It is also a serious claim about politics — and a much better one than the game ever states out loud.</a:t>
            </a:r>
            <a:endParaRPr lang="en-US" sz="1400" dirty="0"/>
          </a:p>
        </p:txBody>
      </p:sp>
      <p:sp>
        <p:nvSpPr>
          <p:cNvPr id="10" name="Shape 8"/>
          <p:cNvSpPr/>
          <p:nvPr/>
        </p:nvSpPr>
        <p:spPr>
          <a:xfrm>
            <a:off x="6355080" y="1600200"/>
            <a:ext cx="5175504" cy="1298448"/>
          </a:xfrm>
          <a:prstGeom prst="roundRect">
            <a:avLst>
              <a:gd name="adj" fmla="val 5634"/>
            </a:avLst>
          </a:prstGeom>
          <a:solidFill>
            <a:srgbClr val="F2F2F0"/>
          </a:solidFill>
          <a:ln w="12700">
            <a:solidFill>
              <a:srgbClr val="F2F2F0"/>
            </a:solidFill>
            <a:prstDash val="solid"/>
          </a:ln>
        </p:spPr>
        <p:txBody>
          <a:bodyPr/>
          <a:lstStyle/>
          <a:p>
            <a:endParaRPr lang="en-US"/>
          </a:p>
        </p:txBody>
      </p:sp>
      <p:sp>
        <p:nvSpPr>
          <p:cNvPr id="11" name="Text 9"/>
          <p:cNvSpPr txBox="1"/>
          <p:nvPr/>
        </p:nvSpPr>
        <p:spPr>
          <a:xfrm>
            <a:off x="6629400" y="1746504"/>
            <a:ext cx="4626864" cy="310896"/>
          </a:xfrm>
          <a:prstGeom prst="rect">
            <a:avLst/>
          </a:prstGeom>
          <a:noFill/>
          <a:ln/>
        </p:spPr>
        <p:txBody>
          <a:bodyPr wrap="square" lIns="0" tIns="0" rIns="0" bIns="0" rtlCol="0" anchor="ctr"/>
          <a:lstStyle/>
          <a:p>
            <a:pPr marL="0" indent="0">
              <a:buNone/>
            </a:pPr>
            <a:r>
              <a:rPr lang="en-US" sz="1500" b="1" dirty="0">
                <a:solidFill>
                  <a:srgbClr val="0D1319"/>
                </a:solidFill>
                <a:latin typeface="Cambria" pitchFamily="34" charset="0"/>
                <a:ea typeface="Cambria" pitchFamily="34" charset="-122"/>
                <a:cs typeface="Cambria" pitchFamily="34" charset="-120"/>
              </a:rPr>
              <a:t>But it is invisible</a:t>
            </a:r>
            <a:endParaRPr lang="en-US" sz="1500" dirty="0"/>
          </a:p>
        </p:txBody>
      </p:sp>
      <p:sp>
        <p:nvSpPr>
          <p:cNvPr id="12" name="Text 10"/>
          <p:cNvSpPr txBox="1"/>
          <p:nvPr/>
        </p:nvSpPr>
        <p:spPr>
          <a:xfrm>
            <a:off x="6629400" y="2093976"/>
            <a:ext cx="4626864" cy="713232"/>
          </a:xfrm>
          <a:prstGeom prst="rect">
            <a:avLst/>
          </a:prstGeom>
          <a:noFill/>
          <a:ln/>
        </p:spPr>
        <p:txBody>
          <a:bodyPr wrap="square" lIns="0" tIns="0" rIns="0" bIns="0" rtlCol="0" anchor="ctr"/>
          <a:lstStyle/>
          <a:p>
            <a:pPr marL="0" indent="0">
              <a:lnSpc>
                <a:spcPts val="1500"/>
              </a:lnSpc>
              <a:buNone/>
            </a:pPr>
            <a:r>
              <a:rPr lang="en-US" sz="1150" dirty="0">
                <a:solidFill>
                  <a:srgbClr val="5C6672"/>
                </a:solidFill>
                <a:latin typeface="Calibri" pitchFamily="34" charset="0"/>
                <a:ea typeface="Calibri" pitchFamily="34" charset="-122"/>
                <a:cs typeface="Calibri" pitchFamily="34" charset="-120"/>
              </a:rPr>
              <a:t>A rule you cannot perceive cannot teach you anything while you play. You learn the argument afterwards, from a wiki. Is that still procedural rhetoric, or just a locked door?</a:t>
            </a:r>
            <a:endParaRPr lang="en-US" sz="1150" dirty="0"/>
          </a:p>
        </p:txBody>
      </p:sp>
      <p:sp>
        <p:nvSpPr>
          <p:cNvPr id="13" name="Shape 11"/>
          <p:cNvSpPr/>
          <p:nvPr/>
        </p:nvSpPr>
        <p:spPr>
          <a:xfrm>
            <a:off x="6355080" y="3008376"/>
            <a:ext cx="5175504" cy="1298448"/>
          </a:xfrm>
          <a:prstGeom prst="roundRect">
            <a:avLst>
              <a:gd name="adj" fmla="val 5634"/>
            </a:avLst>
          </a:prstGeom>
          <a:solidFill>
            <a:srgbClr val="F2F2F0"/>
          </a:solidFill>
          <a:ln w="12700">
            <a:solidFill>
              <a:srgbClr val="F2F2F0"/>
            </a:solidFill>
            <a:prstDash val="solid"/>
          </a:ln>
        </p:spPr>
        <p:txBody>
          <a:bodyPr/>
          <a:lstStyle/>
          <a:p>
            <a:endParaRPr lang="en-US"/>
          </a:p>
        </p:txBody>
      </p:sp>
      <p:sp>
        <p:nvSpPr>
          <p:cNvPr id="14" name="Text 12"/>
          <p:cNvSpPr txBox="1"/>
          <p:nvPr/>
        </p:nvSpPr>
        <p:spPr>
          <a:xfrm>
            <a:off x="6629400" y="3154680"/>
            <a:ext cx="4626864" cy="310896"/>
          </a:xfrm>
          <a:prstGeom prst="rect">
            <a:avLst/>
          </a:prstGeom>
          <a:noFill/>
          <a:ln/>
        </p:spPr>
        <p:txBody>
          <a:bodyPr wrap="square" lIns="0" tIns="0" rIns="0" bIns="0" rtlCol="0" anchor="ctr"/>
          <a:lstStyle/>
          <a:p>
            <a:pPr marL="0" indent="0">
              <a:buNone/>
            </a:pPr>
            <a:r>
              <a:rPr lang="en-US" sz="1500" b="1" dirty="0">
                <a:solidFill>
                  <a:srgbClr val="0D1319"/>
                </a:solidFill>
                <a:latin typeface="Cambria" pitchFamily="34" charset="0"/>
                <a:ea typeface="Cambria" pitchFamily="34" charset="-122"/>
                <a:cs typeface="Cambria" pitchFamily="34" charset="-120"/>
              </a:rPr>
              <a:t>But it is unforgiving</a:t>
            </a:r>
            <a:endParaRPr lang="en-US" sz="1500" dirty="0"/>
          </a:p>
        </p:txBody>
      </p:sp>
      <p:sp>
        <p:nvSpPr>
          <p:cNvPr id="15" name="Text 13"/>
          <p:cNvSpPr txBox="1"/>
          <p:nvPr/>
        </p:nvSpPr>
        <p:spPr>
          <a:xfrm>
            <a:off x="6629400" y="3502152"/>
            <a:ext cx="4626864" cy="713232"/>
          </a:xfrm>
          <a:prstGeom prst="rect">
            <a:avLst/>
          </a:prstGeom>
          <a:noFill/>
          <a:ln/>
        </p:spPr>
        <p:txBody>
          <a:bodyPr wrap="square" lIns="0" tIns="0" rIns="0" bIns="0" rtlCol="0" anchor="ctr"/>
          <a:lstStyle/>
          <a:p>
            <a:pPr marL="0" indent="0">
              <a:lnSpc>
                <a:spcPts val="1500"/>
              </a:lnSpc>
              <a:buNone/>
            </a:pPr>
            <a:r>
              <a:rPr lang="en-US" sz="1150" dirty="0">
                <a:solidFill>
                  <a:srgbClr val="5C6672"/>
                </a:solidFill>
                <a:latin typeface="Calibri" pitchFamily="34" charset="0"/>
                <a:ea typeface="Calibri" pitchFamily="34" charset="-122"/>
                <a:cs typeface="Calibri" pitchFamily="34" charset="-120"/>
              </a:rPr>
              <a:t>The model says a decision made in 2010 can make peace impossible in 2012 with no notice and no remedy. True to history, perhaps — but it punishes players for a past self who was not informed.</a:t>
            </a:r>
            <a:endParaRPr lang="en-US" sz="1150" dirty="0"/>
          </a:p>
        </p:txBody>
      </p:sp>
      <p:sp>
        <p:nvSpPr>
          <p:cNvPr id="16" name="Shape 14"/>
          <p:cNvSpPr/>
          <p:nvPr/>
        </p:nvSpPr>
        <p:spPr>
          <a:xfrm>
            <a:off x="6355080" y="4416552"/>
            <a:ext cx="5175504" cy="1298448"/>
          </a:xfrm>
          <a:prstGeom prst="roundRect">
            <a:avLst>
              <a:gd name="adj" fmla="val 5634"/>
            </a:avLst>
          </a:prstGeom>
          <a:solidFill>
            <a:srgbClr val="0D1319"/>
          </a:solidFill>
          <a:ln w="12700">
            <a:solidFill>
              <a:srgbClr val="0D1319"/>
            </a:solidFill>
            <a:prstDash val="solid"/>
          </a:ln>
        </p:spPr>
        <p:txBody>
          <a:bodyPr/>
          <a:lstStyle/>
          <a:p>
            <a:endParaRPr lang="en-US"/>
          </a:p>
        </p:txBody>
      </p:sp>
      <p:sp>
        <p:nvSpPr>
          <p:cNvPr id="17" name="Text 15"/>
          <p:cNvSpPr txBox="1"/>
          <p:nvPr/>
        </p:nvSpPr>
        <p:spPr>
          <a:xfrm>
            <a:off x="6629400" y="4562856"/>
            <a:ext cx="4626864" cy="310896"/>
          </a:xfrm>
          <a:prstGeom prst="rect">
            <a:avLst/>
          </a:prstGeom>
          <a:noFill/>
          <a:ln/>
        </p:spPr>
        <p:txBody>
          <a:bodyPr wrap="square" lIns="0" tIns="0" rIns="0" bIns="0" rtlCol="0" anchor="ctr"/>
          <a:lstStyle/>
          <a:p>
            <a:pPr marL="0" indent="0">
              <a:buNone/>
            </a:pPr>
            <a:r>
              <a:rPr lang="en-US" sz="1500" b="1" dirty="0">
                <a:solidFill>
                  <a:srgbClr val="E0AC63"/>
                </a:solidFill>
                <a:latin typeface="Cambria" pitchFamily="34" charset="0"/>
                <a:ea typeface="Cambria" pitchFamily="34" charset="-122"/>
                <a:cs typeface="Cambria" pitchFamily="34" charset="-120"/>
              </a:rPr>
              <a:t>But it rewards completionism</a:t>
            </a:r>
            <a:endParaRPr lang="en-US" sz="1500" dirty="0"/>
          </a:p>
        </p:txBody>
      </p:sp>
      <p:sp>
        <p:nvSpPr>
          <p:cNvPr id="18" name="Text 16"/>
          <p:cNvSpPr txBox="1"/>
          <p:nvPr/>
        </p:nvSpPr>
        <p:spPr>
          <a:xfrm>
            <a:off x="6629400" y="4910328"/>
            <a:ext cx="4626864" cy="713232"/>
          </a:xfrm>
          <a:prstGeom prst="rect">
            <a:avLst/>
          </a:prstGeom>
          <a:noFill/>
          <a:ln/>
        </p:spPr>
        <p:txBody>
          <a:bodyPr wrap="square" lIns="0" tIns="0" rIns="0" bIns="0" rtlCol="0" anchor="ctr"/>
          <a:lstStyle/>
          <a:p>
            <a:pPr marL="0" indent="0">
              <a:lnSpc>
                <a:spcPts val="1500"/>
              </a:lnSpc>
              <a:buNone/>
            </a:pPr>
            <a:r>
              <a:rPr lang="en-US" sz="1150" dirty="0">
                <a:solidFill>
                  <a:srgbClr val="E9EDEA"/>
                </a:solidFill>
                <a:latin typeface="Calibri" pitchFamily="34" charset="0"/>
                <a:ea typeface="Calibri" pitchFamily="34" charset="-122"/>
                <a:cs typeface="Calibri" pitchFamily="34" charset="-120"/>
              </a:rPr>
              <a:t>Every input is also a side mission. The model cannot distinguish moral seriousness from thoroughness — the best negotiator is whoever did the most content.</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A8722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ME3 · THE ENDING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And then the series takes it back</a:t>
            </a:r>
            <a:endParaRPr lang="en-US" sz="3000" dirty="0"/>
          </a:p>
        </p:txBody>
      </p:sp>
      <p:sp>
        <p:nvSpPr>
          <p:cNvPr id="5" name="Shape 3"/>
          <p:cNvSpPr/>
          <p:nvPr/>
        </p:nvSpPr>
        <p:spPr>
          <a:xfrm>
            <a:off x="640080" y="1600200"/>
            <a:ext cx="10911535" cy="1143000"/>
          </a:xfrm>
          <a:prstGeom prst="roundRect">
            <a:avLst>
              <a:gd name="adj" fmla="val 6400"/>
            </a:avLst>
          </a:prstGeom>
          <a:solidFill>
            <a:srgbClr val="0D1319"/>
          </a:solidFill>
          <a:ln w="12700">
            <a:solidFill>
              <a:srgbClr val="0D1319"/>
            </a:solidFill>
            <a:prstDash val="solid"/>
          </a:ln>
        </p:spPr>
        <p:txBody>
          <a:bodyPr/>
          <a:lstStyle/>
          <a:p>
            <a:endParaRPr lang="en-US"/>
          </a:p>
        </p:txBody>
      </p:sp>
      <p:sp>
        <p:nvSpPr>
          <p:cNvPr id="6" name="Text 4"/>
          <p:cNvSpPr txBox="1"/>
          <p:nvPr/>
        </p:nvSpPr>
        <p:spPr>
          <a:xfrm>
            <a:off x="1005840" y="1783080"/>
            <a:ext cx="10424160" cy="822960"/>
          </a:xfrm>
          <a:prstGeom prst="rect">
            <a:avLst/>
          </a:prstGeom>
          <a:noFill/>
          <a:ln/>
        </p:spPr>
        <p:txBody>
          <a:bodyPr wrap="square" lIns="0" tIns="0" rIns="0" bIns="0" rtlCol="0" anchor="ctr"/>
          <a:lstStyle/>
          <a:p>
            <a:pPr marL="0" indent="0">
              <a:lnSpc>
                <a:spcPts val="2100"/>
              </a:lnSpc>
              <a:buNone/>
            </a:pPr>
            <a:r>
              <a:rPr lang="en-US" sz="1550" dirty="0">
                <a:solidFill>
                  <a:srgbClr val="E9EDEA"/>
                </a:solidFill>
                <a:latin typeface="Cambria" pitchFamily="34" charset="0"/>
                <a:ea typeface="Cambria" pitchFamily="34" charset="-122"/>
                <a:cs typeface="Cambria" pitchFamily="34" charset="-120"/>
              </a:rPr>
              <a:t>Whatever you achieved on Rannoch, the final choice can undo it. The Destroy ending eliminates all synthetic life in the galaxy — the geth you just made peace with, and EDI, whom you have been living alongside for two games. It is also the ending the game most clearly signals as the safe one for organic survival.</a:t>
            </a:r>
            <a:endParaRPr lang="en-US" sz="1550" dirty="0"/>
          </a:p>
        </p:txBody>
      </p:sp>
      <p:sp>
        <p:nvSpPr>
          <p:cNvPr id="7" name="Shape 5"/>
          <p:cNvSpPr/>
          <p:nvPr/>
        </p:nvSpPr>
        <p:spPr>
          <a:xfrm>
            <a:off x="640080" y="2971800"/>
            <a:ext cx="3454298" cy="2377440"/>
          </a:xfrm>
          <a:prstGeom prst="roundRect">
            <a:avLst>
              <a:gd name="adj" fmla="val 3077"/>
            </a:avLst>
          </a:prstGeom>
          <a:solidFill>
            <a:srgbClr val="F2F2F0"/>
          </a:solidFill>
          <a:ln w="12700">
            <a:solidFill>
              <a:srgbClr val="F2F2F0"/>
            </a:solidFill>
            <a:prstDash val="solid"/>
          </a:ln>
        </p:spPr>
        <p:txBody>
          <a:bodyPr/>
          <a:lstStyle/>
          <a:p>
            <a:endParaRPr lang="en-US"/>
          </a:p>
        </p:txBody>
      </p:sp>
      <p:sp>
        <p:nvSpPr>
          <p:cNvPr id="8" name="Text 6"/>
          <p:cNvSpPr txBox="1"/>
          <p:nvPr/>
        </p:nvSpPr>
        <p:spPr>
          <a:xfrm>
            <a:off x="914400" y="3182112"/>
            <a:ext cx="2905658" cy="822960"/>
          </a:xfrm>
          <a:prstGeom prst="rect">
            <a:avLst/>
          </a:prstGeom>
          <a:noFill/>
          <a:ln/>
        </p:spPr>
        <p:txBody>
          <a:bodyPr wrap="square" lIns="0" tIns="0" rIns="0" bIns="0" rtlCol="0" anchor="ctr"/>
          <a:lstStyle/>
          <a:p>
            <a:pPr marL="0" indent="0">
              <a:lnSpc>
                <a:spcPts val="2000"/>
              </a:lnSpc>
              <a:buNone/>
            </a:pPr>
            <a:r>
              <a:rPr lang="en-US" sz="1600" b="1" dirty="0">
                <a:solidFill>
                  <a:srgbClr val="0D1319"/>
                </a:solidFill>
                <a:latin typeface="Cambria" pitchFamily="34" charset="0"/>
                <a:ea typeface="Cambria" pitchFamily="34" charset="-122"/>
                <a:cs typeface="Cambria" pitchFamily="34" charset="-120"/>
              </a:rPr>
              <a:t>The cruelty is the point, or it is a mistake</a:t>
            </a:r>
            <a:endParaRPr lang="en-US" sz="1600" dirty="0"/>
          </a:p>
        </p:txBody>
      </p:sp>
      <p:sp>
        <p:nvSpPr>
          <p:cNvPr id="9" name="Text 7"/>
          <p:cNvSpPr txBox="1"/>
          <p:nvPr/>
        </p:nvSpPr>
        <p:spPr>
          <a:xfrm>
            <a:off x="914400" y="4069080"/>
            <a:ext cx="2905658" cy="1188720"/>
          </a:xfrm>
          <a:prstGeom prst="rect">
            <a:avLst/>
          </a:prstGeom>
          <a:noFill/>
          <a:ln/>
        </p:spPr>
        <p:txBody>
          <a:bodyPr wrap="square" lIns="0" tIns="0" rIns="0" bIns="0" rtlCol="0" anchor="ctr"/>
          <a:lstStyle/>
          <a:p>
            <a:pPr marL="0" indent="0">
              <a:lnSpc>
                <a:spcPts val="1600"/>
              </a:lnSpc>
              <a:buNone/>
            </a:pPr>
            <a:r>
              <a:rPr lang="en-US" sz="1200" dirty="0">
                <a:solidFill>
                  <a:srgbClr val="5C6672"/>
                </a:solidFill>
                <a:latin typeface="Calibri" pitchFamily="34" charset="0"/>
                <a:ea typeface="Calibri" pitchFamily="34" charset="-122"/>
                <a:cs typeface="Calibri" pitchFamily="34" charset="-120"/>
              </a:rPr>
              <a:t>Either the series is making a hard argument — that a species facing extinction will sacrifice its synthetic neighbours and call it necessary — or it is a structural accident of an ending written separately from everything leading to it. The class should decide which.</a:t>
            </a:r>
            <a:endParaRPr lang="en-US" sz="1200" dirty="0"/>
          </a:p>
        </p:txBody>
      </p:sp>
      <p:sp>
        <p:nvSpPr>
          <p:cNvPr id="10" name="Shape 8"/>
          <p:cNvSpPr/>
          <p:nvPr/>
        </p:nvSpPr>
        <p:spPr>
          <a:xfrm>
            <a:off x="4368698" y="2971800"/>
            <a:ext cx="3454298" cy="2377440"/>
          </a:xfrm>
          <a:prstGeom prst="roundRect">
            <a:avLst>
              <a:gd name="adj" fmla="val 3077"/>
            </a:avLst>
          </a:prstGeom>
          <a:solidFill>
            <a:srgbClr val="F2F2F0"/>
          </a:solidFill>
          <a:ln w="12700">
            <a:solidFill>
              <a:srgbClr val="F2F2F0"/>
            </a:solidFill>
            <a:prstDash val="solid"/>
          </a:ln>
        </p:spPr>
        <p:txBody>
          <a:bodyPr/>
          <a:lstStyle/>
          <a:p>
            <a:endParaRPr lang="en-US"/>
          </a:p>
        </p:txBody>
      </p:sp>
      <p:sp>
        <p:nvSpPr>
          <p:cNvPr id="11" name="Text 9"/>
          <p:cNvSpPr txBox="1"/>
          <p:nvPr/>
        </p:nvSpPr>
        <p:spPr>
          <a:xfrm>
            <a:off x="4643018" y="3182112"/>
            <a:ext cx="2905658" cy="822960"/>
          </a:xfrm>
          <a:prstGeom prst="rect">
            <a:avLst/>
          </a:prstGeom>
          <a:noFill/>
          <a:ln/>
        </p:spPr>
        <p:txBody>
          <a:bodyPr wrap="square" lIns="0" tIns="0" rIns="0" bIns="0" rtlCol="0" anchor="ctr"/>
          <a:lstStyle/>
          <a:p>
            <a:pPr marL="0" indent="0">
              <a:lnSpc>
                <a:spcPts val="2000"/>
              </a:lnSpc>
              <a:buNone/>
            </a:pPr>
            <a:r>
              <a:rPr lang="en-US" sz="1600" b="1" dirty="0">
                <a:solidFill>
                  <a:srgbClr val="0D1319"/>
                </a:solidFill>
                <a:latin typeface="Cambria" pitchFamily="34" charset="0"/>
                <a:ea typeface="Cambria" pitchFamily="34" charset="-122"/>
                <a:cs typeface="Cambria" pitchFamily="34" charset="-120"/>
              </a:rPr>
              <a:t>The player backlash is evidence</a:t>
            </a:r>
            <a:endParaRPr lang="en-US" sz="1600" dirty="0"/>
          </a:p>
        </p:txBody>
      </p:sp>
      <p:sp>
        <p:nvSpPr>
          <p:cNvPr id="12" name="Text 10"/>
          <p:cNvSpPr txBox="1"/>
          <p:nvPr/>
        </p:nvSpPr>
        <p:spPr>
          <a:xfrm>
            <a:off x="4643018" y="4069080"/>
            <a:ext cx="2905658" cy="1188720"/>
          </a:xfrm>
          <a:prstGeom prst="rect">
            <a:avLst/>
          </a:prstGeom>
          <a:noFill/>
          <a:ln/>
        </p:spPr>
        <p:txBody>
          <a:bodyPr wrap="square" lIns="0" tIns="0" rIns="0" bIns="0" rtlCol="0" anchor="ctr"/>
          <a:lstStyle/>
          <a:p>
            <a:pPr marL="0" indent="0">
              <a:lnSpc>
                <a:spcPts val="1600"/>
              </a:lnSpc>
              <a:buNone/>
            </a:pPr>
            <a:r>
              <a:rPr lang="en-US" sz="1200" dirty="0">
                <a:solidFill>
                  <a:srgbClr val="5C6672"/>
                </a:solidFill>
                <a:latin typeface="Calibri" pitchFamily="34" charset="0"/>
                <a:ea typeface="Calibri" pitchFamily="34" charset="-122"/>
                <a:cs typeface="Calibri" pitchFamily="34" charset="-120"/>
              </a:rPr>
              <a:t>The endings prompted one of the largest organised player revolts in the medium’s history, and a later expansion. What players objected to was mostly that the accumulated ledger stopped mattering.</a:t>
            </a:r>
            <a:endParaRPr lang="en-US" sz="1200" dirty="0"/>
          </a:p>
        </p:txBody>
      </p:sp>
      <p:sp>
        <p:nvSpPr>
          <p:cNvPr id="13" name="Shape 11"/>
          <p:cNvSpPr/>
          <p:nvPr/>
        </p:nvSpPr>
        <p:spPr>
          <a:xfrm>
            <a:off x="8097317" y="2971800"/>
            <a:ext cx="3454298" cy="2377440"/>
          </a:xfrm>
          <a:prstGeom prst="roundRect">
            <a:avLst>
              <a:gd name="adj" fmla="val 3077"/>
            </a:avLst>
          </a:prstGeom>
          <a:solidFill>
            <a:srgbClr val="F7F0E4"/>
          </a:solidFill>
          <a:ln w="12700">
            <a:solidFill>
              <a:srgbClr val="F7F0E4"/>
            </a:solidFill>
            <a:prstDash val="solid"/>
          </a:ln>
        </p:spPr>
        <p:txBody>
          <a:bodyPr/>
          <a:lstStyle/>
          <a:p>
            <a:endParaRPr lang="en-US"/>
          </a:p>
        </p:txBody>
      </p:sp>
      <p:sp>
        <p:nvSpPr>
          <p:cNvPr id="14" name="Text 12"/>
          <p:cNvSpPr txBox="1"/>
          <p:nvPr/>
        </p:nvSpPr>
        <p:spPr>
          <a:xfrm>
            <a:off x="8371637" y="3182112"/>
            <a:ext cx="2905658" cy="822960"/>
          </a:xfrm>
          <a:prstGeom prst="rect">
            <a:avLst/>
          </a:prstGeom>
          <a:noFill/>
          <a:ln/>
        </p:spPr>
        <p:txBody>
          <a:bodyPr wrap="square" lIns="0" tIns="0" rIns="0" bIns="0" rtlCol="0" anchor="ctr"/>
          <a:lstStyle/>
          <a:p>
            <a:pPr marL="0" indent="0">
              <a:lnSpc>
                <a:spcPts val="2000"/>
              </a:lnSpc>
              <a:buNone/>
            </a:pPr>
            <a:r>
              <a:rPr lang="en-US" sz="1600" b="1" dirty="0">
                <a:solidFill>
                  <a:srgbClr val="A8722B"/>
                </a:solidFill>
                <a:latin typeface="Cambria" pitchFamily="34" charset="0"/>
                <a:ea typeface="Cambria" pitchFamily="34" charset="-122"/>
                <a:cs typeface="Cambria" pitchFamily="34" charset="-120"/>
              </a:rPr>
              <a:t>What it does to our question</a:t>
            </a:r>
            <a:endParaRPr lang="en-US" sz="1600" dirty="0"/>
          </a:p>
        </p:txBody>
      </p:sp>
      <p:sp>
        <p:nvSpPr>
          <p:cNvPr id="15" name="Text 13"/>
          <p:cNvSpPr txBox="1"/>
          <p:nvPr/>
        </p:nvSpPr>
        <p:spPr>
          <a:xfrm>
            <a:off x="8371637" y="4069080"/>
            <a:ext cx="2905658" cy="1188720"/>
          </a:xfrm>
          <a:prstGeom prst="rect">
            <a:avLst/>
          </a:prstGeom>
          <a:noFill/>
          <a:ln/>
        </p:spPr>
        <p:txBody>
          <a:bodyPr wrap="square" lIns="0" tIns="0" rIns="0" bIns="0" rtlCol="0" anchor="ctr"/>
          <a:lstStyle/>
          <a:p>
            <a:pPr marL="0" indent="0">
              <a:lnSpc>
                <a:spcPts val="1600"/>
              </a:lnSpc>
              <a:buNone/>
            </a:pPr>
            <a:r>
              <a:rPr lang="en-US" sz="1200" dirty="0">
                <a:solidFill>
                  <a:srgbClr val="5C6672"/>
                </a:solidFill>
                <a:latin typeface="Calibri" pitchFamily="34" charset="0"/>
                <a:ea typeface="Calibri" pitchFamily="34" charset="-122"/>
                <a:cs typeface="Calibri" pitchFamily="34" charset="-120"/>
              </a:rPr>
              <a:t>For fifty hours the series makes you responsible for a history. In the last ten minutes it makes you responsible for a menu. Students who felt betrayed felt it as a change in the kind of responsibility on offer.</a:t>
            </a:r>
            <a:endParaRPr lang="en-US" sz="1200" dirty="0"/>
          </a:p>
        </p:txBody>
      </p:sp>
      <p:sp>
        <p:nvSpPr>
          <p:cNvPr id="16" name="Text 14"/>
          <p:cNvSpPr txBox="1"/>
          <p:nvPr/>
        </p:nvSpPr>
        <p:spPr>
          <a:xfrm>
            <a:off x="640080" y="5577840"/>
            <a:ext cx="10881360" cy="411480"/>
          </a:xfrm>
          <a:prstGeom prst="rect">
            <a:avLst/>
          </a:prstGeom>
          <a:noFill/>
          <a:ln/>
        </p:spPr>
        <p:txBody>
          <a:bodyPr wrap="square" lIns="0" tIns="0" rIns="0" bIns="0" rtlCol="0" anchor="ctr"/>
          <a:lstStyle/>
          <a:p>
            <a:pPr marL="0" indent="0">
              <a:buNone/>
            </a:pPr>
            <a:r>
              <a:rPr lang="en-US" sz="1500" i="1" dirty="0">
                <a:solidFill>
                  <a:srgbClr val="A8722B"/>
                </a:solidFill>
                <a:latin typeface="Cambria" pitchFamily="34" charset="0"/>
                <a:ea typeface="Cambria" pitchFamily="34" charset="-122"/>
                <a:cs typeface="Cambria" pitchFamily="34" charset="-120"/>
              </a:rPr>
              <a:t>Keep the third card. It is the sharpest formulation of today’s key question that anyone has produced by accident.</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1">
    <p:bg>
      <p:bgPr>
        <a:solidFill>
          <a:srgbClr val="0D1319"/>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E0AC63"/>
          </a:solidFill>
          <a:ln/>
        </p:spPr>
        <p:txBody>
          <a:bodyPr/>
          <a:lstStyle/>
          <a:p>
            <a:endParaRPr lang="en-US"/>
          </a:p>
        </p:txBody>
      </p:sp>
      <p:sp>
        <p:nvSpPr>
          <p:cNvPr id="3" name="Text 1"/>
          <p:cNvSpPr txBox="1"/>
          <p:nvPr/>
        </p:nvSpPr>
        <p:spPr>
          <a:xfrm>
            <a:off x="886968" y="438912"/>
            <a:ext cx="10515600" cy="274320"/>
          </a:xfrm>
          <a:prstGeom prst="rect">
            <a:avLst/>
          </a:prstGeom>
          <a:noFill/>
          <a:ln/>
        </p:spPr>
        <p:txBody>
          <a:bodyPr wrap="square" lIns="0" tIns="0" rIns="0" bIns="0" rtlCol="0" anchor="ctr"/>
          <a:lstStyle/>
          <a:p>
            <a:pPr marL="0" indent="0">
              <a:buNone/>
            </a:pPr>
            <a:r>
              <a:rPr lang="en-US" sz="1100" b="1" kern="0" spc="160" dirty="0">
                <a:solidFill>
                  <a:srgbClr val="E0AC63"/>
                </a:solidFill>
                <a:latin typeface="Calibri" pitchFamily="34" charset="0"/>
                <a:ea typeface="Calibri" pitchFamily="34" charset="-122"/>
                <a:cs typeface="Calibri" pitchFamily="34" charset="-120"/>
              </a:rPr>
              <a:t>GROUP WORK A · FOUR GROUPS · TEN MINUTES, THEN REPORT</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marL="0" indent="0">
              <a:buNone/>
            </a:pPr>
            <a:r>
              <a:rPr lang="en-US" sz="3300" b="1" dirty="0">
                <a:solidFill>
                  <a:srgbClr val="E9EDEA"/>
                </a:solidFill>
                <a:latin typeface="Cambria" pitchFamily="34" charset="0"/>
                <a:ea typeface="Cambria" pitchFamily="34" charset="-122"/>
                <a:cs typeface="Cambria" pitchFamily="34" charset="-120"/>
              </a:rPr>
              <a:t>Run the method on the Rannoch gate</a:t>
            </a:r>
            <a:endParaRPr lang="en-US" sz="3300" dirty="0"/>
          </a:p>
        </p:txBody>
      </p:sp>
      <p:sp>
        <p:nvSpPr>
          <p:cNvPr id="5" name="Shape 3"/>
          <p:cNvSpPr/>
          <p:nvPr/>
        </p:nvSpPr>
        <p:spPr>
          <a:xfrm>
            <a:off x="640080" y="1691640"/>
            <a:ext cx="5309464" cy="1444752"/>
          </a:xfrm>
          <a:prstGeom prst="roundRect">
            <a:avLst>
              <a:gd name="adj" fmla="val 5063"/>
            </a:avLst>
          </a:prstGeom>
          <a:solidFill>
            <a:srgbClr val="1A242E"/>
          </a:solidFill>
          <a:ln w="12700">
            <a:solidFill>
              <a:srgbClr val="1A242E"/>
            </a:solidFill>
            <a:prstDash val="solid"/>
          </a:ln>
        </p:spPr>
        <p:txBody>
          <a:bodyPr/>
          <a:lstStyle/>
          <a:p>
            <a:endParaRPr lang="en-US"/>
          </a:p>
        </p:txBody>
      </p:sp>
      <p:sp>
        <p:nvSpPr>
          <p:cNvPr id="6" name="Shape 4"/>
          <p:cNvSpPr/>
          <p:nvPr/>
        </p:nvSpPr>
        <p:spPr>
          <a:xfrm>
            <a:off x="932688" y="1965960"/>
            <a:ext cx="384048" cy="384048"/>
          </a:xfrm>
          <a:prstGeom prst="ellipse">
            <a:avLst/>
          </a:prstGeom>
          <a:solidFill>
            <a:srgbClr val="A8722B"/>
          </a:solidFill>
          <a:ln/>
        </p:spPr>
        <p:txBody>
          <a:bodyPr/>
          <a:lstStyle/>
          <a:p>
            <a:endParaRPr lang="en-US"/>
          </a:p>
        </p:txBody>
      </p:sp>
      <p:sp>
        <p:nvSpPr>
          <p:cNvPr id="7" name="Text 5"/>
          <p:cNvSpPr txBox="1"/>
          <p:nvPr/>
        </p:nvSpPr>
        <p:spPr>
          <a:xfrm>
            <a:off x="932688" y="19659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554480" y="1984248"/>
            <a:ext cx="4120744" cy="329184"/>
          </a:xfrm>
          <a:prstGeom prst="rect">
            <a:avLst/>
          </a:prstGeom>
          <a:noFill/>
          <a:ln/>
        </p:spPr>
        <p:txBody>
          <a:bodyPr wrap="square" lIns="0" tIns="0" rIns="0" bIns="0" rtlCol="0" anchor="ctr"/>
          <a:lstStyle/>
          <a:p>
            <a:pPr marL="0" indent="0">
              <a:buNone/>
            </a:pPr>
            <a:r>
              <a:rPr lang="en-US" sz="1700" b="1" dirty="0">
                <a:solidFill>
                  <a:srgbClr val="E9EDEA"/>
                </a:solidFill>
                <a:latin typeface="Cambria" pitchFamily="34" charset="0"/>
                <a:ea typeface="Cambria" pitchFamily="34" charset="-122"/>
                <a:cs typeface="Cambria" pitchFamily="34" charset="-120"/>
              </a:rPr>
              <a:t>Possible / impossible</a:t>
            </a:r>
            <a:endParaRPr lang="en-US" sz="1700" dirty="0"/>
          </a:p>
        </p:txBody>
      </p:sp>
      <p:sp>
        <p:nvSpPr>
          <p:cNvPr id="9" name="Text 7"/>
          <p:cNvSpPr txBox="1"/>
          <p:nvPr/>
        </p:nvSpPr>
        <p:spPr>
          <a:xfrm>
            <a:off x="932688" y="2468880"/>
            <a:ext cx="4724248" cy="59436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Catalogue what the mission will and will not let you attempt. Name the most significant thing that is not on the list, and say what its absence asserts.</a:t>
            </a:r>
            <a:endParaRPr lang="en-US" sz="1250" dirty="0"/>
          </a:p>
        </p:txBody>
      </p:sp>
      <p:sp>
        <p:nvSpPr>
          <p:cNvPr id="10" name="Shape 8"/>
          <p:cNvSpPr/>
          <p:nvPr/>
        </p:nvSpPr>
        <p:spPr>
          <a:xfrm>
            <a:off x="6242152" y="1691640"/>
            <a:ext cx="5309464" cy="1444752"/>
          </a:xfrm>
          <a:prstGeom prst="roundRect">
            <a:avLst>
              <a:gd name="adj" fmla="val 5063"/>
            </a:avLst>
          </a:prstGeom>
          <a:solidFill>
            <a:srgbClr val="1A242E"/>
          </a:solidFill>
          <a:ln w="12700">
            <a:solidFill>
              <a:srgbClr val="1A242E"/>
            </a:solidFill>
            <a:prstDash val="solid"/>
          </a:ln>
        </p:spPr>
        <p:txBody>
          <a:bodyPr/>
          <a:lstStyle/>
          <a:p>
            <a:endParaRPr lang="en-US"/>
          </a:p>
        </p:txBody>
      </p:sp>
      <p:sp>
        <p:nvSpPr>
          <p:cNvPr id="11" name="Shape 9"/>
          <p:cNvSpPr/>
          <p:nvPr/>
        </p:nvSpPr>
        <p:spPr>
          <a:xfrm>
            <a:off x="6534760" y="1965960"/>
            <a:ext cx="384048" cy="384048"/>
          </a:xfrm>
          <a:prstGeom prst="ellipse">
            <a:avLst/>
          </a:prstGeom>
          <a:solidFill>
            <a:srgbClr val="A8722B"/>
          </a:solidFill>
          <a:ln/>
        </p:spPr>
        <p:txBody>
          <a:bodyPr/>
          <a:lstStyle/>
          <a:p>
            <a:endParaRPr lang="en-US"/>
          </a:p>
        </p:txBody>
      </p:sp>
      <p:sp>
        <p:nvSpPr>
          <p:cNvPr id="12" name="Text 10"/>
          <p:cNvSpPr txBox="1"/>
          <p:nvPr/>
        </p:nvSpPr>
        <p:spPr>
          <a:xfrm>
            <a:off x="6534760" y="19659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7156552" y="1984248"/>
            <a:ext cx="4120744" cy="329184"/>
          </a:xfrm>
          <a:prstGeom prst="rect">
            <a:avLst/>
          </a:prstGeom>
          <a:noFill/>
          <a:ln/>
        </p:spPr>
        <p:txBody>
          <a:bodyPr wrap="square" lIns="0" tIns="0" rIns="0" bIns="0" rtlCol="0" anchor="ctr"/>
          <a:lstStyle/>
          <a:p>
            <a:pPr marL="0" indent="0">
              <a:buNone/>
            </a:pPr>
            <a:r>
              <a:rPr lang="en-US" sz="1700" b="1" dirty="0">
                <a:solidFill>
                  <a:srgbClr val="E9EDEA"/>
                </a:solidFill>
                <a:latin typeface="Cambria" pitchFamily="34" charset="0"/>
                <a:ea typeface="Cambria" pitchFamily="34" charset="-122"/>
                <a:cs typeface="Cambria" pitchFamily="34" charset="-120"/>
              </a:rPr>
              <a:t>Counted</a:t>
            </a:r>
            <a:endParaRPr lang="en-US" sz="1700" dirty="0"/>
          </a:p>
        </p:txBody>
      </p:sp>
      <p:sp>
        <p:nvSpPr>
          <p:cNvPr id="14" name="Text 12"/>
          <p:cNvSpPr txBox="1"/>
          <p:nvPr/>
        </p:nvSpPr>
        <p:spPr>
          <a:xfrm>
            <a:off x="6534760" y="2468880"/>
            <a:ext cx="4724248" cy="59436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List every input to the peace check you can identify. What do they have in common? What kind of virtue is the game actually measuring?</a:t>
            </a:r>
            <a:endParaRPr lang="en-US" sz="1250" dirty="0"/>
          </a:p>
        </p:txBody>
      </p:sp>
      <p:sp>
        <p:nvSpPr>
          <p:cNvPr id="15" name="Shape 13"/>
          <p:cNvSpPr/>
          <p:nvPr/>
        </p:nvSpPr>
        <p:spPr>
          <a:xfrm>
            <a:off x="640080" y="3319272"/>
            <a:ext cx="5309464" cy="1444752"/>
          </a:xfrm>
          <a:prstGeom prst="roundRect">
            <a:avLst>
              <a:gd name="adj" fmla="val 5063"/>
            </a:avLst>
          </a:prstGeom>
          <a:solidFill>
            <a:srgbClr val="1A242E"/>
          </a:solidFill>
          <a:ln w="12700">
            <a:solidFill>
              <a:srgbClr val="1A242E"/>
            </a:solidFill>
            <a:prstDash val="solid"/>
          </a:ln>
        </p:spPr>
        <p:txBody>
          <a:bodyPr/>
          <a:lstStyle/>
          <a:p>
            <a:endParaRPr lang="en-US"/>
          </a:p>
        </p:txBody>
      </p:sp>
      <p:sp>
        <p:nvSpPr>
          <p:cNvPr id="16" name="Shape 14"/>
          <p:cNvSpPr/>
          <p:nvPr/>
        </p:nvSpPr>
        <p:spPr>
          <a:xfrm>
            <a:off x="932688" y="3593592"/>
            <a:ext cx="384048" cy="384048"/>
          </a:xfrm>
          <a:prstGeom prst="ellipse">
            <a:avLst/>
          </a:prstGeom>
          <a:solidFill>
            <a:srgbClr val="A8722B"/>
          </a:solidFill>
          <a:ln/>
        </p:spPr>
        <p:txBody>
          <a:bodyPr/>
          <a:lstStyle/>
          <a:p>
            <a:endParaRPr lang="en-US"/>
          </a:p>
        </p:txBody>
      </p:sp>
      <p:sp>
        <p:nvSpPr>
          <p:cNvPr id="17" name="Text 15"/>
          <p:cNvSpPr txBox="1"/>
          <p:nvPr/>
        </p:nvSpPr>
        <p:spPr>
          <a:xfrm>
            <a:off x="932688" y="359359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554480" y="3611880"/>
            <a:ext cx="4120744" cy="329184"/>
          </a:xfrm>
          <a:prstGeom prst="rect">
            <a:avLst/>
          </a:prstGeom>
          <a:noFill/>
          <a:ln/>
        </p:spPr>
        <p:txBody>
          <a:bodyPr wrap="square" lIns="0" tIns="0" rIns="0" bIns="0" rtlCol="0" anchor="ctr"/>
          <a:lstStyle/>
          <a:p>
            <a:pPr marL="0" indent="0">
              <a:buNone/>
            </a:pPr>
            <a:r>
              <a:rPr lang="en-US" sz="1700" b="1" dirty="0">
                <a:solidFill>
                  <a:srgbClr val="E9EDEA"/>
                </a:solidFill>
                <a:latin typeface="Cambria" pitchFamily="34" charset="0"/>
                <a:ea typeface="Cambria" pitchFamily="34" charset="-122"/>
                <a:cs typeface="Cambria" pitchFamily="34" charset="-120"/>
              </a:rPr>
              <a:t>Shown back</a:t>
            </a:r>
            <a:endParaRPr lang="en-US" sz="1700" dirty="0"/>
          </a:p>
        </p:txBody>
      </p:sp>
      <p:sp>
        <p:nvSpPr>
          <p:cNvPr id="19" name="Text 17"/>
          <p:cNvSpPr txBox="1"/>
          <p:nvPr/>
        </p:nvSpPr>
        <p:spPr>
          <a:xfrm>
            <a:off x="932688" y="4096512"/>
            <a:ext cx="4724248" cy="59436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The game shows you nothing. Design the minimum feedback that would make this mechanic legible without destroying it — and say what you would lose.</a:t>
            </a:r>
            <a:endParaRPr lang="en-US" sz="1250" dirty="0"/>
          </a:p>
        </p:txBody>
      </p:sp>
      <p:sp>
        <p:nvSpPr>
          <p:cNvPr id="20" name="Shape 18"/>
          <p:cNvSpPr/>
          <p:nvPr/>
        </p:nvSpPr>
        <p:spPr>
          <a:xfrm>
            <a:off x="6242152" y="3319272"/>
            <a:ext cx="5309464" cy="1444752"/>
          </a:xfrm>
          <a:prstGeom prst="roundRect">
            <a:avLst>
              <a:gd name="adj" fmla="val 5063"/>
            </a:avLst>
          </a:prstGeom>
          <a:solidFill>
            <a:srgbClr val="1A242E"/>
          </a:solidFill>
          <a:ln w="12700">
            <a:solidFill>
              <a:srgbClr val="1A242E"/>
            </a:solidFill>
            <a:prstDash val="solid"/>
          </a:ln>
        </p:spPr>
        <p:txBody>
          <a:bodyPr/>
          <a:lstStyle/>
          <a:p>
            <a:endParaRPr lang="en-US"/>
          </a:p>
        </p:txBody>
      </p:sp>
      <p:sp>
        <p:nvSpPr>
          <p:cNvPr id="21" name="Shape 19"/>
          <p:cNvSpPr/>
          <p:nvPr/>
        </p:nvSpPr>
        <p:spPr>
          <a:xfrm>
            <a:off x="6534760" y="3593592"/>
            <a:ext cx="384048" cy="384048"/>
          </a:xfrm>
          <a:prstGeom prst="ellipse">
            <a:avLst/>
          </a:prstGeom>
          <a:solidFill>
            <a:srgbClr val="A8722B"/>
          </a:solidFill>
          <a:ln/>
        </p:spPr>
        <p:txBody>
          <a:bodyPr/>
          <a:lstStyle/>
          <a:p>
            <a:endParaRPr lang="en-US"/>
          </a:p>
        </p:txBody>
      </p:sp>
      <p:sp>
        <p:nvSpPr>
          <p:cNvPr id="22" name="Text 20"/>
          <p:cNvSpPr txBox="1"/>
          <p:nvPr/>
        </p:nvSpPr>
        <p:spPr>
          <a:xfrm>
            <a:off x="6534760" y="359359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7156552" y="3611880"/>
            <a:ext cx="4120744" cy="329184"/>
          </a:xfrm>
          <a:prstGeom prst="rect">
            <a:avLst/>
          </a:prstGeom>
          <a:noFill/>
          <a:ln/>
        </p:spPr>
        <p:txBody>
          <a:bodyPr wrap="square" lIns="0" tIns="0" rIns="0" bIns="0" rtlCol="0" anchor="ctr"/>
          <a:lstStyle/>
          <a:p>
            <a:pPr marL="0" indent="0">
              <a:buNone/>
            </a:pPr>
            <a:r>
              <a:rPr lang="en-US" sz="1700" b="1" dirty="0">
                <a:solidFill>
                  <a:srgbClr val="E9EDEA"/>
                </a:solidFill>
                <a:latin typeface="Cambria" pitchFamily="34" charset="0"/>
                <a:ea typeface="Cambria" pitchFamily="34" charset="-122"/>
                <a:cs typeface="Cambria" pitchFamily="34" charset="-120"/>
              </a:rPr>
              <a:t>Against procedurality</a:t>
            </a:r>
            <a:endParaRPr lang="en-US" sz="1700" dirty="0"/>
          </a:p>
        </p:txBody>
      </p:sp>
      <p:sp>
        <p:nvSpPr>
          <p:cNvPr id="24" name="Text 22"/>
          <p:cNvSpPr txBox="1"/>
          <p:nvPr/>
        </p:nvSpPr>
        <p:spPr>
          <a:xfrm>
            <a:off x="6534760" y="4096512"/>
            <a:ext cx="4724248" cy="59436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Argue Sicart’s side: that the meaning of Rannoch is made by players, in forums and replays, and that the hidden rule is beside the point.</a:t>
            </a:r>
            <a:endParaRPr lang="en-US" sz="1250" dirty="0"/>
          </a:p>
        </p:txBody>
      </p:sp>
      <p:sp>
        <p:nvSpPr>
          <p:cNvPr id="25" name="Shape 23"/>
          <p:cNvSpPr/>
          <p:nvPr/>
        </p:nvSpPr>
        <p:spPr>
          <a:xfrm>
            <a:off x="640080" y="5029200"/>
            <a:ext cx="10911535" cy="914400"/>
          </a:xfrm>
          <a:prstGeom prst="roundRect">
            <a:avLst>
              <a:gd name="adj" fmla="val 8000"/>
            </a:avLst>
          </a:prstGeom>
          <a:solidFill>
            <a:srgbClr val="A8722B"/>
          </a:solidFill>
          <a:ln w="12700">
            <a:solidFill>
              <a:srgbClr val="A8722B"/>
            </a:solidFill>
            <a:prstDash val="solid"/>
          </a:ln>
        </p:spPr>
        <p:txBody>
          <a:bodyPr/>
          <a:lstStyle/>
          <a:p>
            <a:endParaRPr lang="en-US"/>
          </a:p>
        </p:txBody>
      </p:sp>
      <p:sp>
        <p:nvSpPr>
          <p:cNvPr id="26" name="Text 24"/>
          <p:cNvSpPr txBox="1"/>
          <p:nvPr/>
        </p:nvSpPr>
        <p:spPr>
          <a:xfrm>
            <a:off x="1005840" y="5029200"/>
            <a:ext cx="10424160" cy="9144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Ninety seconds each. One claim about the rule, and one sentence on what it would mean if a real institution worked this way.</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3">
    <p:bg>
      <p:bgPr>
        <a:solidFill>
          <a:srgbClr val="0D1319"/>
        </a:solidFill>
        <a:effectLst/>
      </p:bgPr>
    </p:bg>
    <p:spTree>
      <p:nvGrpSpPr>
        <p:cNvPr id="1" name=""/>
        <p:cNvGrpSpPr/>
        <p:nvPr/>
      </p:nvGrpSpPr>
      <p:grpSpPr>
        <a:xfrm>
          <a:off x="0" y="0"/>
          <a:ext cx="0" cy="0"/>
          <a:chOff x="0" y="0"/>
          <a:chExt cx="0" cy="0"/>
        </a:xfrm>
      </p:grpSpPr>
      <p:sp>
        <p:nvSpPr>
          <p:cNvPr id="2" name="Shape 0"/>
          <p:cNvSpPr/>
          <p:nvPr/>
        </p:nvSpPr>
        <p:spPr>
          <a:xfrm>
            <a:off x="8732520" y="1417320"/>
            <a:ext cx="2651760" cy="2651760"/>
          </a:xfrm>
          <a:prstGeom prst="ellipse">
            <a:avLst/>
          </a:prstGeom>
          <a:solidFill>
            <a:srgbClr val="35719C">
              <a:alpha val="70000"/>
            </a:srgbClr>
          </a:solidFill>
          <a:ln/>
        </p:spPr>
        <p:txBody>
          <a:bodyPr/>
          <a:lstStyle/>
          <a:p>
            <a:endParaRPr lang="en-US"/>
          </a:p>
        </p:txBody>
      </p:sp>
      <p:sp>
        <p:nvSpPr>
          <p:cNvPr id="3" name="Shape 1"/>
          <p:cNvSpPr/>
          <p:nvPr/>
        </p:nvSpPr>
        <p:spPr>
          <a:xfrm>
            <a:off x="9509760" y="2194560"/>
            <a:ext cx="1097280" cy="1097280"/>
          </a:xfrm>
          <a:prstGeom prst="ellipse">
            <a:avLst/>
          </a:prstGeom>
          <a:solidFill>
            <a:srgbClr val="35719C">
              <a:alpha val="4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8FBBD6"/>
                </a:solidFill>
                <a:latin typeface="Calibri" pitchFamily="34" charset="0"/>
                <a:ea typeface="Calibri" pitchFamily="34" charset="-122"/>
                <a:cs typeface="Calibri" pitchFamily="34" charset="-120"/>
              </a:rPr>
              <a:t>WORK THREE</a:t>
            </a:r>
            <a:endParaRPr lang="en-US" sz="1300" dirty="0"/>
          </a:p>
        </p:txBody>
      </p:sp>
      <p:sp>
        <p:nvSpPr>
          <p:cNvPr id="5" name="Text 3"/>
          <p:cNvSpPr txBox="1"/>
          <p:nvPr/>
        </p:nvSpPr>
        <p:spPr>
          <a:xfrm>
            <a:off x="640080" y="2331720"/>
            <a:ext cx="7680960" cy="868680"/>
          </a:xfrm>
          <a:prstGeom prst="rect">
            <a:avLst/>
          </a:prstGeom>
          <a:noFill/>
          <a:ln/>
        </p:spPr>
        <p:txBody>
          <a:bodyPr wrap="square" lIns="0" tIns="0" rIns="0" bIns="0" rtlCol="0" anchor="ctr"/>
          <a:lstStyle/>
          <a:p>
            <a:pPr marL="0" indent="0">
              <a:buNone/>
            </a:pPr>
            <a:r>
              <a:rPr lang="en-US" sz="3800" b="1" dirty="0">
                <a:solidFill>
                  <a:srgbClr val="E9EDEA"/>
                </a:solidFill>
                <a:latin typeface="Cambria" pitchFamily="34" charset="0"/>
                <a:ea typeface="Cambria" pitchFamily="34" charset="-122"/>
                <a:cs typeface="Cambria" pitchFamily="34" charset="-120"/>
              </a:rPr>
              <a:t>Detroit: Become Human</a:t>
            </a:r>
            <a:endParaRPr lang="en-US" sz="3800" dirty="0"/>
          </a:p>
        </p:txBody>
      </p:sp>
      <p:sp>
        <p:nvSpPr>
          <p:cNvPr id="6" name="Text 4"/>
          <p:cNvSpPr txBox="1"/>
          <p:nvPr/>
        </p:nvSpPr>
        <p:spPr>
          <a:xfrm>
            <a:off x="640080" y="3273552"/>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The Kara and Markus chapters  ·  3:05–4:20</a:t>
            </a:r>
            <a:endParaRPr lang="en-US" sz="1500" dirty="0"/>
          </a:p>
        </p:txBody>
      </p:sp>
      <p:sp>
        <p:nvSpPr>
          <p:cNvPr id="7" name="Shape 5"/>
          <p:cNvSpPr/>
          <p:nvPr/>
        </p:nvSpPr>
        <p:spPr>
          <a:xfrm>
            <a:off x="640080" y="3877056"/>
            <a:ext cx="2377440" cy="18288"/>
          </a:xfrm>
          <a:prstGeom prst="rect">
            <a:avLst/>
          </a:prstGeom>
          <a:solidFill>
            <a:srgbClr val="35719C"/>
          </a:solidFill>
          <a:ln/>
        </p:spPr>
        <p:txBody>
          <a:bodyPr/>
          <a:lstStyle/>
          <a:p>
            <a:endParaRPr lang="en-US"/>
          </a:p>
        </p:txBody>
      </p:sp>
      <p:sp>
        <p:nvSpPr>
          <p:cNvPr id="8" name="Text 6"/>
          <p:cNvSpPr txBox="1"/>
          <p:nvPr/>
        </p:nvSpPr>
        <p:spPr>
          <a:xfrm>
            <a:off x="640080" y="4096512"/>
            <a:ext cx="7680960" cy="640080"/>
          </a:xfrm>
          <a:prstGeom prst="rect">
            <a:avLst/>
          </a:prstGeom>
          <a:noFill/>
          <a:ln/>
        </p:spPr>
        <p:txBody>
          <a:bodyPr wrap="square" lIns="0" tIns="0" rIns="0" bIns="0" rtlCol="0" anchor="ctr"/>
          <a:lstStyle/>
          <a:p>
            <a:pPr marL="0" indent="0">
              <a:lnSpc>
                <a:spcPts val="2500"/>
              </a:lnSpc>
              <a:buNone/>
            </a:pPr>
            <a:r>
              <a:rPr lang="en-US" sz="1800" i="1" dirty="0">
                <a:solidFill>
                  <a:srgbClr val="8FBBD6"/>
                </a:solidFill>
                <a:latin typeface="Cambria" pitchFamily="34" charset="0"/>
                <a:ea typeface="Cambria" pitchFamily="34" charset="-122"/>
                <a:cs typeface="Cambria" pitchFamily="34" charset="-120"/>
              </a:rPr>
              <a:t>You make the androids ask for their freedom. The game watches how you do it.</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35719C"/>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DETROIT · STRUCTURE</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Three androids, and why you were assigned two</a:t>
            </a:r>
            <a:endParaRPr lang="en-US" sz="3000" dirty="0"/>
          </a:p>
        </p:txBody>
      </p:sp>
      <p:sp>
        <p:nvSpPr>
          <p:cNvPr id="5" name="Shape 3"/>
          <p:cNvSpPr/>
          <p:nvPr/>
        </p:nvSpPr>
        <p:spPr>
          <a:xfrm>
            <a:off x="640080" y="1600200"/>
            <a:ext cx="10911535" cy="1188720"/>
          </a:xfrm>
          <a:prstGeom prst="roundRect">
            <a:avLst>
              <a:gd name="adj" fmla="val 6154"/>
            </a:avLst>
          </a:prstGeom>
          <a:solidFill>
            <a:srgbClr val="F2F2F0"/>
          </a:solidFill>
          <a:ln w="12700">
            <a:solidFill>
              <a:srgbClr val="F2F2F0"/>
            </a:solidFill>
            <a:prstDash val="solid"/>
          </a:ln>
        </p:spPr>
        <p:txBody>
          <a:bodyPr/>
          <a:lstStyle/>
          <a:p>
            <a:endParaRPr lang="en-US"/>
          </a:p>
        </p:txBody>
      </p:sp>
      <p:sp>
        <p:nvSpPr>
          <p:cNvPr id="6" name="Text 4"/>
          <p:cNvSpPr txBox="1"/>
          <p:nvPr/>
        </p:nvSpPr>
        <p:spPr>
          <a:xfrm>
            <a:off x="932688" y="1600200"/>
            <a:ext cx="2651760" cy="1188720"/>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Markus — assigned</a:t>
            </a:r>
            <a:endParaRPr lang="en-US" sz="1550" dirty="0"/>
          </a:p>
        </p:txBody>
      </p:sp>
      <p:sp>
        <p:nvSpPr>
          <p:cNvPr id="7" name="Text 5"/>
          <p:cNvSpPr txBox="1"/>
          <p:nvPr/>
        </p:nvSpPr>
        <p:spPr>
          <a:xfrm>
            <a:off x="3840480" y="1600200"/>
            <a:ext cx="7391095" cy="118872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Caretaker to an elderly painter, then leader of the android liberation movement. Every major decision about the shape of a freedom struggle runs through him: demonstrate or attack, plead or demand, spare or kill.</a:t>
            </a:r>
            <a:endParaRPr lang="en-US" sz="1250" dirty="0"/>
          </a:p>
        </p:txBody>
      </p:sp>
      <p:sp>
        <p:nvSpPr>
          <p:cNvPr id="8" name="Shape 6"/>
          <p:cNvSpPr/>
          <p:nvPr/>
        </p:nvSpPr>
        <p:spPr>
          <a:xfrm>
            <a:off x="640080" y="2971800"/>
            <a:ext cx="10911535" cy="1188720"/>
          </a:xfrm>
          <a:prstGeom prst="roundRect">
            <a:avLst>
              <a:gd name="adj" fmla="val 6154"/>
            </a:avLst>
          </a:prstGeom>
          <a:solidFill>
            <a:srgbClr val="E6EFF5"/>
          </a:solidFill>
          <a:ln w="12700">
            <a:solidFill>
              <a:srgbClr val="E6EFF5"/>
            </a:solidFill>
            <a:prstDash val="solid"/>
          </a:ln>
        </p:spPr>
        <p:txBody>
          <a:bodyPr/>
          <a:lstStyle/>
          <a:p>
            <a:endParaRPr lang="en-US"/>
          </a:p>
        </p:txBody>
      </p:sp>
      <p:sp>
        <p:nvSpPr>
          <p:cNvPr id="9" name="Text 7"/>
          <p:cNvSpPr txBox="1"/>
          <p:nvPr/>
        </p:nvSpPr>
        <p:spPr>
          <a:xfrm>
            <a:off x="932688" y="2971800"/>
            <a:ext cx="2651760" cy="1188720"/>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Kara — assigned</a:t>
            </a:r>
            <a:endParaRPr lang="en-US" sz="1550" dirty="0"/>
          </a:p>
        </p:txBody>
      </p:sp>
      <p:sp>
        <p:nvSpPr>
          <p:cNvPr id="10" name="Text 8"/>
          <p:cNvSpPr txBox="1"/>
          <p:nvPr/>
        </p:nvSpPr>
        <p:spPr>
          <a:xfrm>
            <a:off x="3840480" y="2971800"/>
            <a:ext cx="7391095" cy="118872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A domestic model who breaks her programming to protect a child in an abusive house, then runs. The private, unpolitical, care-work counterpart to Markus — the arc where personhood is established by attachment rather than by argument.</a:t>
            </a:r>
            <a:endParaRPr lang="en-US" sz="1250" dirty="0"/>
          </a:p>
        </p:txBody>
      </p:sp>
      <p:sp>
        <p:nvSpPr>
          <p:cNvPr id="11" name="Shape 9"/>
          <p:cNvSpPr/>
          <p:nvPr/>
        </p:nvSpPr>
        <p:spPr>
          <a:xfrm>
            <a:off x="640080" y="4343400"/>
            <a:ext cx="10911535" cy="1188720"/>
          </a:xfrm>
          <a:prstGeom prst="roundRect">
            <a:avLst>
              <a:gd name="adj" fmla="val 6154"/>
            </a:avLst>
          </a:prstGeom>
          <a:solidFill>
            <a:srgbClr val="F2F2F0"/>
          </a:solidFill>
          <a:ln w="12700">
            <a:solidFill>
              <a:srgbClr val="F2F2F0"/>
            </a:solidFill>
            <a:prstDash val="solid"/>
          </a:ln>
        </p:spPr>
        <p:txBody>
          <a:bodyPr/>
          <a:lstStyle/>
          <a:p>
            <a:endParaRPr lang="en-US"/>
          </a:p>
        </p:txBody>
      </p:sp>
      <p:sp>
        <p:nvSpPr>
          <p:cNvPr id="12" name="Text 10"/>
          <p:cNvSpPr txBox="1"/>
          <p:nvPr/>
        </p:nvSpPr>
        <p:spPr>
          <a:xfrm>
            <a:off x="932688" y="4343400"/>
            <a:ext cx="2651760" cy="1188720"/>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Connor — not assigned</a:t>
            </a:r>
            <a:endParaRPr lang="en-US" sz="1550" dirty="0"/>
          </a:p>
        </p:txBody>
      </p:sp>
      <p:sp>
        <p:nvSpPr>
          <p:cNvPr id="13" name="Text 11"/>
          <p:cNvSpPr txBox="1"/>
          <p:nvPr/>
        </p:nvSpPr>
        <p:spPr>
          <a:xfrm>
            <a:off x="3840480" y="4343400"/>
            <a:ext cx="7391095" cy="118872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A police model hunting deviants, who may or may not become one. Fascinating, and cut for time: his arc is about interrogation and loyalty rather than the two questions we are here for.</a:t>
            </a:r>
            <a:endParaRPr lang="en-US" sz="1250" dirty="0"/>
          </a:p>
        </p:txBody>
      </p:sp>
      <p:sp>
        <p:nvSpPr>
          <p:cNvPr id="14" name="Shape 12"/>
          <p:cNvSpPr/>
          <p:nvPr/>
        </p:nvSpPr>
        <p:spPr>
          <a:xfrm>
            <a:off x="640080" y="5486400"/>
            <a:ext cx="10911535" cy="731520"/>
          </a:xfrm>
          <a:prstGeom prst="roundRect">
            <a:avLst>
              <a:gd name="adj" fmla="val 10000"/>
            </a:avLst>
          </a:prstGeom>
          <a:solidFill>
            <a:srgbClr val="0D1319"/>
          </a:solidFill>
          <a:ln w="12700">
            <a:solidFill>
              <a:srgbClr val="0D1319"/>
            </a:solidFill>
            <a:prstDash val="solid"/>
          </a:ln>
        </p:spPr>
        <p:txBody>
          <a:bodyPr/>
          <a:lstStyle/>
          <a:p>
            <a:endParaRPr lang="en-US"/>
          </a:p>
        </p:txBody>
      </p:sp>
      <p:sp>
        <p:nvSpPr>
          <p:cNvPr id="15" name="Text 13"/>
          <p:cNvSpPr txBox="1"/>
          <p:nvPr/>
        </p:nvSpPr>
        <p:spPr>
          <a:xfrm>
            <a:off x="1005840" y="5486400"/>
            <a:ext cx="10424160" cy="731520"/>
          </a:xfrm>
          <a:prstGeom prst="rect">
            <a:avLst/>
          </a:prstGeom>
          <a:noFill/>
          <a:ln/>
        </p:spPr>
        <p:txBody>
          <a:bodyPr wrap="square" lIns="0" tIns="0" rIns="0" bIns="0" rtlCol="0" anchor="ctr"/>
          <a:lstStyle/>
          <a:p>
            <a:pPr marL="0" indent="0">
              <a:buNone/>
            </a:pPr>
            <a:r>
              <a:rPr lang="en-US" sz="1500" dirty="0">
                <a:solidFill>
                  <a:srgbClr val="E9EDEA"/>
                </a:solidFill>
                <a:latin typeface="Cambria" pitchFamily="34" charset="0"/>
                <a:ea typeface="Cambria" pitchFamily="34" charset="-122"/>
                <a:cs typeface="Cambria" pitchFamily="34" charset="-120"/>
              </a:rPr>
              <a:t>The pairing is the point: Markus asks for rights in public, Kara earns personhood in private. The game argues that both routes exist, and then scores only one of them.</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35719C"/>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DETROIT · KARA</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Personhood established by attachment</a:t>
            </a:r>
            <a:endParaRPr lang="en-US" sz="3000" dirty="0"/>
          </a:p>
        </p:txBody>
      </p:sp>
      <p:sp>
        <p:nvSpPr>
          <p:cNvPr id="5" name="Shape 3"/>
          <p:cNvSpPr/>
          <p:nvPr/>
        </p:nvSpPr>
        <p:spPr>
          <a:xfrm>
            <a:off x="640080" y="1572768"/>
            <a:ext cx="10911535" cy="1024128"/>
          </a:xfrm>
          <a:prstGeom prst="roundRect">
            <a:avLst>
              <a:gd name="adj" fmla="val 7143"/>
            </a:avLst>
          </a:prstGeom>
          <a:solidFill>
            <a:srgbClr val="F2F2F0"/>
          </a:solidFill>
          <a:ln w="12700">
            <a:solidFill>
              <a:srgbClr val="F2F2F0"/>
            </a:solidFill>
            <a:prstDash val="solid"/>
          </a:ln>
        </p:spPr>
        <p:txBody>
          <a:bodyPr/>
          <a:lstStyle/>
          <a:p>
            <a:endParaRPr lang="en-US"/>
          </a:p>
        </p:txBody>
      </p:sp>
      <p:sp>
        <p:nvSpPr>
          <p:cNvPr id="6" name="Text 4"/>
          <p:cNvSpPr txBox="1"/>
          <p:nvPr/>
        </p:nvSpPr>
        <p:spPr>
          <a:xfrm>
            <a:off x="932688" y="1572768"/>
            <a:ext cx="2103120" cy="1024128"/>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The break</a:t>
            </a:r>
            <a:endParaRPr lang="en-US" sz="1550" dirty="0"/>
          </a:p>
        </p:txBody>
      </p:sp>
      <p:sp>
        <p:nvSpPr>
          <p:cNvPr id="7" name="Text 5"/>
          <p:cNvSpPr txBox="1"/>
          <p:nvPr/>
        </p:nvSpPr>
        <p:spPr>
          <a:xfrm>
            <a:off x="3291840" y="1572768"/>
            <a:ext cx="7939735" cy="1024128"/>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She is repaired and reset after an incident, then breaks her constraints to intervene between Todd and his daughter. The game marks deviancy as a wall the player physically pushes through — a mechanic, not a cutscene.</a:t>
            </a:r>
            <a:endParaRPr lang="en-US" sz="1250" dirty="0"/>
          </a:p>
        </p:txBody>
      </p:sp>
      <p:sp>
        <p:nvSpPr>
          <p:cNvPr id="8" name="Shape 6"/>
          <p:cNvSpPr/>
          <p:nvPr/>
        </p:nvSpPr>
        <p:spPr>
          <a:xfrm>
            <a:off x="640080" y="2743200"/>
            <a:ext cx="10911535" cy="1024128"/>
          </a:xfrm>
          <a:prstGeom prst="roundRect">
            <a:avLst>
              <a:gd name="adj" fmla="val 7143"/>
            </a:avLst>
          </a:prstGeom>
          <a:solidFill>
            <a:srgbClr val="E6EFF5"/>
          </a:solidFill>
          <a:ln w="12700">
            <a:solidFill>
              <a:srgbClr val="E6EFF5"/>
            </a:solidFill>
            <a:prstDash val="solid"/>
          </a:ln>
        </p:spPr>
        <p:txBody>
          <a:bodyPr/>
          <a:lstStyle/>
          <a:p>
            <a:endParaRPr lang="en-US"/>
          </a:p>
        </p:txBody>
      </p:sp>
      <p:sp>
        <p:nvSpPr>
          <p:cNvPr id="9" name="Text 7"/>
          <p:cNvSpPr txBox="1"/>
          <p:nvPr/>
        </p:nvSpPr>
        <p:spPr>
          <a:xfrm>
            <a:off x="932688" y="2743200"/>
            <a:ext cx="2103120" cy="1024128"/>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The flight</a:t>
            </a:r>
            <a:endParaRPr lang="en-US" sz="1550" dirty="0"/>
          </a:p>
        </p:txBody>
      </p:sp>
      <p:sp>
        <p:nvSpPr>
          <p:cNvPr id="10" name="Text 8"/>
          <p:cNvSpPr txBox="1"/>
          <p:nvPr/>
        </p:nvSpPr>
        <p:spPr>
          <a:xfrm>
            <a:off x="3291840" y="2743200"/>
            <a:ext cx="7939735" cy="1024128"/>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Shelter, theft, a stranger who helps, a border crossing. A refugee narrative with almost no political content: Kara never argues that she is a person, she simply keeps behaving like one.</a:t>
            </a:r>
            <a:endParaRPr lang="en-US" sz="1250" dirty="0"/>
          </a:p>
        </p:txBody>
      </p:sp>
      <p:sp>
        <p:nvSpPr>
          <p:cNvPr id="11" name="Shape 9"/>
          <p:cNvSpPr/>
          <p:nvPr/>
        </p:nvSpPr>
        <p:spPr>
          <a:xfrm>
            <a:off x="640080" y="3913632"/>
            <a:ext cx="10911535" cy="1024128"/>
          </a:xfrm>
          <a:prstGeom prst="roundRect">
            <a:avLst>
              <a:gd name="adj" fmla="val 7143"/>
            </a:avLst>
          </a:prstGeom>
          <a:solidFill>
            <a:srgbClr val="F2F2F0"/>
          </a:solidFill>
          <a:ln w="12700">
            <a:solidFill>
              <a:srgbClr val="F2F2F0"/>
            </a:solidFill>
            <a:prstDash val="solid"/>
          </a:ln>
        </p:spPr>
        <p:txBody>
          <a:bodyPr/>
          <a:lstStyle/>
          <a:p>
            <a:endParaRPr lang="en-US"/>
          </a:p>
        </p:txBody>
      </p:sp>
      <p:sp>
        <p:nvSpPr>
          <p:cNvPr id="12" name="Text 10"/>
          <p:cNvSpPr txBox="1"/>
          <p:nvPr/>
        </p:nvSpPr>
        <p:spPr>
          <a:xfrm>
            <a:off x="932688" y="3913632"/>
            <a:ext cx="2103120" cy="1024128"/>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The twist</a:t>
            </a:r>
            <a:endParaRPr lang="en-US" sz="1550" dirty="0"/>
          </a:p>
        </p:txBody>
      </p:sp>
      <p:sp>
        <p:nvSpPr>
          <p:cNvPr id="13" name="Text 11"/>
          <p:cNvSpPr txBox="1"/>
          <p:nvPr/>
        </p:nvSpPr>
        <p:spPr>
          <a:xfrm>
            <a:off x="3291840" y="3913632"/>
            <a:ext cx="7939735" cy="1024128"/>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Alice, the child she has protected at every cost, is herself an android. The revelation is designed to make you check whether your investment survives — and the honest answer for many players is that it wobbles.</a:t>
            </a:r>
            <a:endParaRPr lang="en-US" sz="1250" dirty="0"/>
          </a:p>
        </p:txBody>
      </p:sp>
      <p:sp>
        <p:nvSpPr>
          <p:cNvPr id="14" name="Shape 12"/>
          <p:cNvSpPr/>
          <p:nvPr/>
        </p:nvSpPr>
        <p:spPr>
          <a:xfrm>
            <a:off x="640080" y="5084064"/>
            <a:ext cx="10911535" cy="1024128"/>
          </a:xfrm>
          <a:prstGeom prst="roundRect">
            <a:avLst>
              <a:gd name="adj" fmla="val 7143"/>
            </a:avLst>
          </a:prstGeom>
          <a:solidFill>
            <a:srgbClr val="0D1319"/>
          </a:solidFill>
          <a:ln w="12700">
            <a:solidFill>
              <a:srgbClr val="0D1319"/>
            </a:solidFill>
            <a:prstDash val="solid"/>
          </a:ln>
        </p:spPr>
        <p:txBody>
          <a:bodyPr/>
          <a:lstStyle/>
          <a:p>
            <a:endParaRPr lang="en-US"/>
          </a:p>
        </p:txBody>
      </p:sp>
      <p:sp>
        <p:nvSpPr>
          <p:cNvPr id="15" name="Text 13"/>
          <p:cNvSpPr txBox="1"/>
          <p:nvPr/>
        </p:nvSpPr>
        <p:spPr>
          <a:xfrm>
            <a:off x="932688" y="5084064"/>
            <a:ext cx="2103120" cy="1024128"/>
          </a:xfrm>
          <a:prstGeom prst="rect">
            <a:avLst/>
          </a:prstGeom>
          <a:noFill/>
          <a:ln/>
        </p:spPr>
        <p:txBody>
          <a:bodyPr wrap="square" lIns="0" tIns="0" rIns="0" bIns="0" rtlCol="0" anchor="ctr"/>
          <a:lstStyle/>
          <a:p>
            <a:pPr marL="0" indent="0">
              <a:buNone/>
            </a:pPr>
            <a:r>
              <a:rPr lang="en-US" sz="1550" b="1" dirty="0">
                <a:solidFill>
                  <a:srgbClr val="8FBBD6"/>
                </a:solidFill>
                <a:latin typeface="Cambria" pitchFamily="34" charset="0"/>
                <a:ea typeface="Cambria" pitchFamily="34" charset="-122"/>
                <a:cs typeface="Cambria" pitchFamily="34" charset="-120"/>
              </a:rPr>
              <a:t>What that reveals</a:t>
            </a:r>
            <a:endParaRPr lang="en-US" sz="1550" dirty="0"/>
          </a:p>
        </p:txBody>
      </p:sp>
      <p:sp>
        <p:nvSpPr>
          <p:cNvPr id="16" name="Text 14"/>
          <p:cNvSpPr txBox="1"/>
          <p:nvPr/>
        </p:nvSpPr>
        <p:spPr>
          <a:xfrm>
            <a:off x="3291840" y="5084064"/>
            <a:ext cx="7939735" cy="1024128"/>
          </a:xfrm>
          <a:prstGeom prst="rect">
            <a:avLst/>
          </a:prstGeom>
          <a:noFill/>
          <a:ln/>
        </p:spPr>
        <p:txBody>
          <a:bodyPr wrap="square" lIns="0" tIns="0" rIns="0" bIns="0" rtlCol="0" anchor="ctr"/>
          <a:lstStyle/>
          <a:p>
            <a:pPr marL="0" indent="0">
              <a:lnSpc>
                <a:spcPts val="1700"/>
              </a:lnSpc>
              <a:buNone/>
            </a:pPr>
            <a:r>
              <a:rPr lang="en-US" sz="1250" dirty="0">
                <a:solidFill>
                  <a:srgbClr val="E9EDEA"/>
                </a:solidFill>
                <a:latin typeface="Calibri" pitchFamily="34" charset="0"/>
                <a:ea typeface="Calibri" pitchFamily="34" charset="-122"/>
                <a:cs typeface="Calibri" pitchFamily="34" charset="-120"/>
              </a:rPr>
              <a:t>If your care depended on Alice being a human child, the game has caught you holding exactly the position it spent ten hours arguing against. This is the fourth sense of responsible: nothing changed except your self-description.</a:t>
            </a:r>
            <a:endParaRPr lang="en-US" sz="1250" dirty="0"/>
          </a:p>
        </p:txBody>
      </p:sp>
      <p:sp>
        <p:nvSpPr>
          <p:cNvPr id="17" name="Text 15"/>
          <p:cNvSpPr txBox="1"/>
          <p:nvPr/>
        </p:nvSpPr>
        <p:spPr>
          <a:xfrm>
            <a:off x="640080" y="5852160"/>
            <a:ext cx="10881360" cy="411480"/>
          </a:xfrm>
          <a:prstGeom prst="rect">
            <a:avLst/>
          </a:prstGeom>
          <a:noFill/>
          <a:ln/>
        </p:spPr>
        <p:txBody>
          <a:bodyPr wrap="square" lIns="0" tIns="0" rIns="0" bIns="0" rtlCol="0" anchor="ctr"/>
          <a:lstStyle/>
          <a:p>
            <a:pPr marL="0" indent="0">
              <a:buNone/>
            </a:pPr>
            <a:r>
              <a:rPr lang="en-US" sz="1500" i="1" dirty="0">
                <a:solidFill>
                  <a:srgbClr val="35719C"/>
                </a:solidFill>
                <a:latin typeface="Cambria" pitchFamily="34" charset="0"/>
                <a:ea typeface="Cambria" pitchFamily="34" charset="-122"/>
                <a:cs typeface="Cambria" pitchFamily="34" charset="-120"/>
              </a:rPr>
              <a:t>This is Detroit at its best. No speech, no iconography, no meter — a reveal that audits the player rather than the character.</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35719C"/>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DETROIT · MARKUS</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From caretaker to leader</a:t>
            </a:r>
            <a:endParaRPr lang="en-US" sz="3000" dirty="0"/>
          </a:p>
        </p:txBody>
      </p:sp>
      <p:sp>
        <p:nvSpPr>
          <p:cNvPr id="5" name="Shape 3"/>
          <p:cNvSpPr/>
          <p:nvPr/>
        </p:nvSpPr>
        <p:spPr>
          <a:xfrm>
            <a:off x="640080" y="1572768"/>
            <a:ext cx="10911535" cy="1024128"/>
          </a:xfrm>
          <a:prstGeom prst="roundRect">
            <a:avLst>
              <a:gd name="adj" fmla="val 7143"/>
            </a:avLst>
          </a:prstGeom>
          <a:solidFill>
            <a:srgbClr val="F2F2F0"/>
          </a:solidFill>
          <a:ln w="12700">
            <a:solidFill>
              <a:srgbClr val="F2F2F0"/>
            </a:solidFill>
            <a:prstDash val="solid"/>
          </a:ln>
        </p:spPr>
        <p:txBody>
          <a:bodyPr/>
          <a:lstStyle/>
          <a:p>
            <a:endParaRPr lang="en-US"/>
          </a:p>
        </p:txBody>
      </p:sp>
      <p:sp>
        <p:nvSpPr>
          <p:cNvPr id="6" name="Text 4"/>
          <p:cNvSpPr txBox="1"/>
          <p:nvPr/>
        </p:nvSpPr>
        <p:spPr>
          <a:xfrm>
            <a:off x="932688" y="1572768"/>
            <a:ext cx="2103120" cy="1024128"/>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Carl</a:t>
            </a:r>
            <a:endParaRPr lang="en-US" sz="1550" dirty="0"/>
          </a:p>
        </p:txBody>
      </p:sp>
      <p:sp>
        <p:nvSpPr>
          <p:cNvPr id="7" name="Text 5"/>
          <p:cNvSpPr txBox="1"/>
          <p:nvPr/>
        </p:nvSpPr>
        <p:spPr>
          <a:xfrm>
            <a:off x="3291840" y="1572768"/>
            <a:ext cx="7939735" cy="1024128"/>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He begins as companion to an elderly painter who treats him as close to a son and who tells him to decide for himself. His personhood is granted by an owner before it is claimed by him.</a:t>
            </a:r>
            <a:endParaRPr lang="en-US" sz="1250" dirty="0"/>
          </a:p>
        </p:txBody>
      </p:sp>
      <p:sp>
        <p:nvSpPr>
          <p:cNvPr id="8" name="Shape 6"/>
          <p:cNvSpPr/>
          <p:nvPr/>
        </p:nvSpPr>
        <p:spPr>
          <a:xfrm>
            <a:off x="640080" y="2743200"/>
            <a:ext cx="10911535" cy="1024128"/>
          </a:xfrm>
          <a:prstGeom prst="roundRect">
            <a:avLst>
              <a:gd name="adj" fmla="val 7143"/>
            </a:avLst>
          </a:prstGeom>
          <a:solidFill>
            <a:srgbClr val="E6EFF5"/>
          </a:solidFill>
          <a:ln w="12700">
            <a:solidFill>
              <a:srgbClr val="E6EFF5"/>
            </a:solidFill>
            <a:prstDash val="solid"/>
          </a:ln>
        </p:spPr>
        <p:txBody>
          <a:bodyPr/>
          <a:lstStyle/>
          <a:p>
            <a:endParaRPr lang="en-US"/>
          </a:p>
        </p:txBody>
      </p:sp>
      <p:sp>
        <p:nvSpPr>
          <p:cNvPr id="9" name="Text 7"/>
          <p:cNvSpPr txBox="1"/>
          <p:nvPr/>
        </p:nvSpPr>
        <p:spPr>
          <a:xfrm>
            <a:off x="932688" y="2743200"/>
            <a:ext cx="2103120" cy="1024128"/>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The scrapyard</a:t>
            </a:r>
            <a:endParaRPr lang="en-US" sz="1550" dirty="0"/>
          </a:p>
        </p:txBody>
      </p:sp>
      <p:sp>
        <p:nvSpPr>
          <p:cNvPr id="10" name="Text 8"/>
          <p:cNvSpPr txBox="1"/>
          <p:nvPr/>
        </p:nvSpPr>
        <p:spPr>
          <a:xfrm>
            <a:off x="3291840" y="2743200"/>
            <a:ext cx="7939735" cy="1024128"/>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Destroyed and dumped, he crawls through a field of dying androids and rebuilds himself from their parts. The most effective sequence in the game and the least dependent on borrowed imagery.</a:t>
            </a:r>
            <a:endParaRPr lang="en-US" sz="1250" dirty="0"/>
          </a:p>
        </p:txBody>
      </p:sp>
      <p:sp>
        <p:nvSpPr>
          <p:cNvPr id="11" name="Shape 9"/>
          <p:cNvSpPr/>
          <p:nvPr/>
        </p:nvSpPr>
        <p:spPr>
          <a:xfrm>
            <a:off x="640080" y="3913632"/>
            <a:ext cx="10911535" cy="1024128"/>
          </a:xfrm>
          <a:prstGeom prst="roundRect">
            <a:avLst>
              <a:gd name="adj" fmla="val 7143"/>
            </a:avLst>
          </a:prstGeom>
          <a:solidFill>
            <a:srgbClr val="F2F2F0"/>
          </a:solidFill>
          <a:ln w="12700">
            <a:solidFill>
              <a:srgbClr val="F2F2F0"/>
            </a:solidFill>
            <a:prstDash val="solid"/>
          </a:ln>
        </p:spPr>
        <p:txBody>
          <a:bodyPr/>
          <a:lstStyle/>
          <a:p>
            <a:endParaRPr lang="en-US"/>
          </a:p>
        </p:txBody>
      </p:sp>
      <p:sp>
        <p:nvSpPr>
          <p:cNvPr id="12" name="Text 10"/>
          <p:cNvSpPr txBox="1"/>
          <p:nvPr/>
        </p:nvSpPr>
        <p:spPr>
          <a:xfrm>
            <a:off x="932688" y="3913632"/>
            <a:ext cx="2103120" cy="1024128"/>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Jericho</a:t>
            </a:r>
            <a:endParaRPr lang="en-US" sz="1550" dirty="0"/>
          </a:p>
        </p:txBody>
      </p:sp>
      <p:sp>
        <p:nvSpPr>
          <p:cNvPr id="13" name="Text 11"/>
          <p:cNvSpPr txBox="1"/>
          <p:nvPr/>
        </p:nvSpPr>
        <p:spPr>
          <a:xfrm>
            <a:off x="3291840" y="3913632"/>
            <a:ext cx="7939735" cy="1024128"/>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He takes over a hiding community and converts it into a movement. From here every chapter is a strategic decision presented as a binary: peaceful or forceful, restraint or retaliation.</a:t>
            </a:r>
            <a:endParaRPr lang="en-US" sz="1250" dirty="0"/>
          </a:p>
        </p:txBody>
      </p:sp>
      <p:sp>
        <p:nvSpPr>
          <p:cNvPr id="14" name="Shape 12"/>
          <p:cNvSpPr/>
          <p:nvPr/>
        </p:nvSpPr>
        <p:spPr>
          <a:xfrm>
            <a:off x="640080" y="5084064"/>
            <a:ext cx="10911535" cy="1024128"/>
          </a:xfrm>
          <a:prstGeom prst="roundRect">
            <a:avLst>
              <a:gd name="adj" fmla="val 7143"/>
            </a:avLst>
          </a:prstGeom>
          <a:solidFill>
            <a:srgbClr val="0D1319"/>
          </a:solidFill>
          <a:ln w="12700">
            <a:solidFill>
              <a:srgbClr val="0D1319"/>
            </a:solidFill>
            <a:prstDash val="solid"/>
          </a:ln>
        </p:spPr>
        <p:txBody>
          <a:bodyPr/>
          <a:lstStyle/>
          <a:p>
            <a:endParaRPr lang="en-US"/>
          </a:p>
        </p:txBody>
      </p:sp>
      <p:sp>
        <p:nvSpPr>
          <p:cNvPr id="15" name="Text 13"/>
          <p:cNvSpPr txBox="1"/>
          <p:nvPr/>
        </p:nvSpPr>
        <p:spPr>
          <a:xfrm>
            <a:off x="932688" y="5084064"/>
            <a:ext cx="2103120" cy="1024128"/>
          </a:xfrm>
          <a:prstGeom prst="rect">
            <a:avLst/>
          </a:prstGeom>
          <a:noFill/>
          <a:ln/>
        </p:spPr>
        <p:txBody>
          <a:bodyPr wrap="square" lIns="0" tIns="0" rIns="0" bIns="0" rtlCol="0" anchor="ctr"/>
          <a:lstStyle/>
          <a:p>
            <a:pPr marL="0" indent="0">
              <a:buNone/>
            </a:pPr>
            <a:r>
              <a:rPr lang="en-US" sz="1550" b="1" dirty="0">
                <a:solidFill>
                  <a:srgbClr val="8FBBD6"/>
                </a:solidFill>
                <a:latin typeface="Cambria" pitchFamily="34" charset="0"/>
                <a:ea typeface="Cambria" pitchFamily="34" charset="-122"/>
                <a:cs typeface="Cambria" pitchFamily="34" charset="-120"/>
              </a:rPr>
              <a:t>The march</a:t>
            </a:r>
            <a:endParaRPr lang="en-US" sz="1550" dirty="0"/>
          </a:p>
        </p:txBody>
      </p:sp>
      <p:sp>
        <p:nvSpPr>
          <p:cNvPr id="16" name="Text 14"/>
          <p:cNvSpPr txBox="1"/>
          <p:nvPr/>
        </p:nvSpPr>
        <p:spPr>
          <a:xfrm>
            <a:off x="3291840" y="5084064"/>
            <a:ext cx="7939735" cy="1024128"/>
          </a:xfrm>
          <a:prstGeom prst="rect">
            <a:avLst/>
          </a:prstGeom>
          <a:noFill/>
          <a:ln/>
        </p:spPr>
        <p:txBody>
          <a:bodyPr wrap="square" lIns="0" tIns="0" rIns="0" bIns="0" rtlCol="0" anchor="ctr"/>
          <a:lstStyle/>
          <a:p>
            <a:pPr marL="0" indent="0">
              <a:lnSpc>
                <a:spcPts val="1700"/>
              </a:lnSpc>
              <a:buNone/>
            </a:pPr>
            <a:r>
              <a:rPr lang="en-US" sz="1250" dirty="0">
                <a:solidFill>
                  <a:srgbClr val="E9EDEA"/>
                </a:solidFill>
                <a:latin typeface="Calibri" pitchFamily="34" charset="0"/>
                <a:ea typeface="Calibri" pitchFamily="34" charset="-122"/>
                <a:cs typeface="Calibri" pitchFamily="34" charset="-120"/>
              </a:rPr>
              <a:t>Occupations, broadcasts, barricades, a demonstration the state can meet with lethal force. And behind all of it, a number that goes up and down.</a:t>
            </a:r>
            <a:endParaRPr lang="en-US" sz="1250" dirty="0"/>
          </a:p>
        </p:txBody>
      </p:sp>
      <p:sp>
        <p:nvSpPr>
          <p:cNvPr id="17" name="Text 15"/>
          <p:cNvSpPr txBox="1"/>
          <p:nvPr/>
        </p:nvSpPr>
        <p:spPr>
          <a:xfrm>
            <a:off x="655167" y="6286500"/>
            <a:ext cx="10881360" cy="411480"/>
          </a:xfrm>
          <a:prstGeom prst="rect">
            <a:avLst/>
          </a:prstGeom>
          <a:noFill/>
          <a:ln/>
        </p:spPr>
        <p:txBody>
          <a:bodyPr wrap="square" lIns="0" tIns="0" rIns="0" bIns="0" rtlCol="0" anchor="ctr"/>
          <a:lstStyle/>
          <a:p>
            <a:pPr marL="0" indent="0">
              <a:buNone/>
            </a:pPr>
            <a:r>
              <a:rPr lang="en-US" sz="1500" i="1" dirty="0">
                <a:solidFill>
                  <a:srgbClr val="35719C"/>
                </a:solidFill>
                <a:latin typeface="Cambria" pitchFamily="34" charset="0"/>
                <a:ea typeface="Cambria" pitchFamily="34" charset="-122"/>
                <a:cs typeface="Cambria" pitchFamily="34" charset="-120"/>
              </a:rPr>
              <a:t>Every one of Markus’s decisions is offered as two options and evaluated by a third party. Hold that shape — it is the whole critique in one sentence.</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35719C"/>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DETROIT · THE MECHANIC</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The public opinion meter, stated precisely</a:t>
            </a:r>
            <a:endParaRPr lang="en-US" sz="3000" dirty="0"/>
          </a:p>
        </p:txBody>
      </p:sp>
      <p:sp>
        <p:nvSpPr>
          <p:cNvPr id="5" name="Shape 3"/>
          <p:cNvSpPr/>
          <p:nvPr/>
        </p:nvSpPr>
        <p:spPr>
          <a:xfrm>
            <a:off x="640080" y="1572768"/>
            <a:ext cx="10911535" cy="1051560"/>
          </a:xfrm>
          <a:prstGeom prst="roundRect">
            <a:avLst>
              <a:gd name="adj" fmla="val 6957"/>
            </a:avLst>
          </a:prstGeom>
          <a:solidFill>
            <a:srgbClr val="0D1319"/>
          </a:solidFill>
          <a:ln w="12700">
            <a:solidFill>
              <a:srgbClr val="0D1319"/>
            </a:solidFill>
            <a:prstDash val="solid"/>
          </a:ln>
        </p:spPr>
        <p:txBody>
          <a:bodyPr/>
          <a:lstStyle/>
          <a:p>
            <a:endParaRPr lang="en-US"/>
          </a:p>
        </p:txBody>
      </p:sp>
      <p:sp>
        <p:nvSpPr>
          <p:cNvPr id="6" name="Text 4"/>
          <p:cNvSpPr txBox="1"/>
          <p:nvPr/>
        </p:nvSpPr>
        <p:spPr>
          <a:xfrm>
            <a:off x="1005840" y="1755648"/>
            <a:ext cx="10424160" cy="731520"/>
          </a:xfrm>
          <a:prstGeom prst="rect">
            <a:avLst/>
          </a:prstGeom>
          <a:noFill/>
          <a:ln/>
        </p:spPr>
        <p:txBody>
          <a:bodyPr wrap="square" lIns="0" tIns="0" rIns="0" bIns="0" rtlCol="0" anchor="ctr"/>
          <a:lstStyle/>
          <a:p>
            <a:pPr marL="0" indent="0">
              <a:lnSpc>
                <a:spcPts val="2100"/>
              </a:lnSpc>
              <a:buNone/>
            </a:pPr>
            <a:r>
              <a:rPr lang="en-US" sz="1550" dirty="0">
                <a:solidFill>
                  <a:srgbClr val="E9EDEA"/>
                </a:solidFill>
                <a:latin typeface="Cambria" pitchFamily="34" charset="0"/>
                <a:ea typeface="Cambria" pitchFamily="34" charset="-122"/>
                <a:cs typeface="Cambria" pitchFamily="34" charset="-120"/>
              </a:rPr>
              <a:t>The game maintains a running public opinion value across Markus’s chapters. Broadly: restraint, non-violence, sparing opponents and symbolic protest move it up; property destruction, armed resistance and killing move it down. The value conditions which endings are reachable and how the state responds to the movement.</a:t>
            </a:r>
            <a:endParaRPr lang="en-US" sz="1550" dirty="0"/>
          </a:p>
        </p:txBody>
      </p:sp>
      <p:sp>
        <p:nvSpPr>
          <p:cNvPr id="7" name="Shape 5"/>
          <p:cNvSpPr/>
          <p:nvPr/>
        </p:nvSpPr>
        <p:spPr>
          <a:xfrm>
            <a:off x="640080" y="2788920"/>
            <a:ext cx="2036003" cy="2377440"/>
          </a:xfrm>
          <a:prstGeom prst="roundRect">
            <a:avLst>
              <a:gd name="adj" fmla="val 3593"/>
            </a:avLst>
          </a:prstGeom>
          <a:solidFill>
            <a:srgbClr val="F2F2F0"/>
          </a:solidFill>
          <a:ln w="12700">
            <a:solidFill>
              <a:srgbClr val="F2F2F0"/>
            </a:solidFill>
            <a:prstDash val="solid"/>
          </a:ln>
        </p:spPr>
        <p:txBody>
          <a:bodyPr/>
          <a:lstStyle/>
          <a:p>
            <a:endParaRPr lang="en-US"/>
          </a:p>
        </p:txBody>
      </p:sp>
      <p:sp>
        <p:nvSpPr>
          <p:cNvPr id="8" name="Text 6"/>
          <p:cNvSpPr txBox="1"/>
          <p:nvPr/>
        </p:nvSpPr>
        <p:spPr>
          <a:xfrm>
            <a:off x="877824" y="2999232"/>
            <a:ext cx="1560515" cy="310896"/>
          </a:xfrm>
          <a:prstGeom prst="rect">
            <a:avLst/>
          </a:prstGeom>
          <a:noFill/>
          <a:ln/>
        </p:spPr>
        <p:txBody>
          <a:bodyPr wrap="square" lIns="0" tIns="0" rIns="0" bIns="0" rtlCol="0" anchor="ctr"/>
          <a:lstStyle/>
          <a:p>
            <a:pPr marL="0" indent="0">
              <a:buNone/>
            </a:pPr>
            <a:r>
              <a:rPr lang="en-US" sz="1500" b="1" dirty="0">
                <a:solidFill>
                  <a:srgbClr val="0D1319"/>
                </a:solidFill>
                <a:latin typeface="Cambria" pitchFamily="34" charset="0"/>
                <a:ea typeface="Cambria" pitchFamily="34" charset="-122"/>
                <a:cs typeface="Cambria" pitchFamily="34" charset="-120"/>
              </a:rPr>
              <a:t>Possible</a:t>
            </a:r>
            <a:endParaRPr lang="en-US" sz="1500" dirty="0"/>
          </a:p>
        </p:txBody>
      </p:sp>
      <p:sp>
        <p:nvSpPr>
          <p:cNvPr id="9" name="Text 7"/>
          <p:cNvSpPr txBox="1"/>
          <p:nvPr/>
        </p:nvSpPr>
        <p:spPr>
          <a:xfrm>
            <a:off x="877824" y="3383280"/>
            <a:ext cx="1560515" cy="1645920"/>
          </a:xfrm>
          <a:prstGeom prst="rect">
            <a:avLst/>
          </a:prstGeom>
          <a:noFill/>
          <a:ln/>
        </p:spPr>
        <p:txBody>
          <a:bodyPr wrap="square" lIns="0" tIns="0" rIns="0" bIns="0" rtlCol="0" anchor="ctr"/>
          <a:lstStyle/>
          <a:p>
            <a:pPr marL="0" indent="0">
              <a:lnSpc>
                <a:spcPts val="1600"/>
              </a:lnSpc>
              <a:buNone/>
            </a:pPr>
            <a:r>
              <a:rPr lang="en-US" sz="1150" dirty="0">
                <a:solidFill>
                  <a:srgbClr val="5C6672"/>
                </a:solidFill>
                <a:latin typeface="Calibri" pitchFamily="34" charset="0"/>
                <a:ea typeface="Calibri" pitchFamily="34" charset="-122"/>
                <a:cs typeface="Calibri" pitchFamily="34" charset="-120"/>
              </a:rPr>
              <a:t>Two registers per decision: pacifist or violent. There is no negotiation track, no legal track, no strike, no separatism, no coalition with human labour.</a:t>
            </a:r>
            <a:endParaRPr lang="en-US" sz="1150" dirty="0"/>
          </a:p>
        </p:txBody>
      </p:sp>
      <p:sp>
        <p:nvSpPr>
          <p:cNvPr id="10" name="Shape 8"/>
          <p:cNvSpPr/>
          <p:nvPr/>
        </p:nvSpPr>
        <p:spPr>
          <a:xfrm>
            <a:off x="2858963" y="2788920"/>
            <a:ext cx="2036003" cy="2377440"/>
          </a:xfrm>
          <a:prstGeom prst="roundRect">
            <a:avLst>
              <a:gd name="adj" fmla="val 3593"/>
            </a:avLst>
          </a:prstGeom>
          <a:solidFill>
            <a:srgbClr val="E6EFF5"/>
          </a:solidFill>
          <a:ln w="12700">
            <a:solidFill>
              <a:srgbClr val="E6EFF5"/>
            </a:solidFill>
            <a:prstDash val="solid"/>
          </a:ln>
        </p:spPr>
        <p:txBody>
          <a:bodyPr/>
          <a:lstStyle/>
          <a:p>
            <a:endParaRPr lang="en-US"/>
          </a:p>
        </p:txBody>
      </p:sp>
      <p:sp>
        <p:nvSpPr>
          <p:cNvPr id="11" name="Text 9"/>
          <p:cNvSpPr txBox="1"/>
          <p:nvPr/>
        </p:nvSpPr>
        <p:spPr>
          <a:xfrm>
            <a:off x="3096707" y="2999232"/>
            <a:ext cx="1560515" cy="310896"/>
          </a:xfrm>
          <a:prstGeom prst="rect">
            <a:avLst/>
          </a:prstGeom>
          <a:noFill/>
          <a:ln/>
        </p:spPr>
        <p:txBody>
          <a:bodyPr wrap="square" lIns="0" tIns="0" rIns="0" bIns="0" rtlCol="0" anchor="ctr"/>
          <a:lstStyle/>
          <a:p>
            <a:pPr marL="0" indent="0">
              <a:buNone/>
            </a:pPr>
            <a:r>
              <a:rPr lang="en-US" sz="1500" b="1" dirty="0">
                <a:solidFill>
                  <a:srgbClr val="0D1319"/>
                </a:solidFill>
                <a:latin typeface="Cambria" pitchFamily="34" charset="0"/>
                <a:ea typeface="Cambria" pitchFamily="34" charset="-122"/>
                <a:cs typeface="Cambria" pitchFamily="34" charset="-120"/>
              </a:rPr>
              <a:t>Cheap / expensive</a:t>
            </a:r>
            <a:endParaRPr lang="en-US" sz="1500" dirty="0"/>
          </a:p>
        </p:txBody>
      </p:sp>
      <p:sp>
        <p:nvSpPr>
          <p:cNvPr id="12" name="Text 10"/>
          <p:cNvSpPr txBox="1"/>
          <p:nvPr/>
        </p:nvSpPr>
        <p:spPr>
          <a:xfrm>
            <a:off x="3096707" y="3383280"/>
            <a:ext cx="1560515" cy="1645920"/>
          </a:xfrm>
          <a:prstGeom prst="rect">
            <a:avLst/>
          </a:prstGeom>
          <a:noFill/>
          <a:ln/>
        </p:spPr>
        <p:txBody>
          <a:bodyPr wrap="square" lIns="0" tIns="0" rIns="0" bIns="0" rtlCol="0" anchor="ctr"/>
          <a:lstStyle/>
          <a:p>
            <a:pPr marL="0" indent="0">
              <a:lnSpc>
                <a:spcPts val="1600"/>
              </a:lnSpc>
              <a:buNone/>
            </a:pPr>
            <a:r>
              <a:rPr lang="en-US" sz="1150" dirty="0">
                <a:solidFill>
                  <a:srgbClr val="5C6672"/>
                </a:solidFill>
                <a:latin typeface="Calibri" pitchFamily="34" charset="0"/>
                <a:ea typeface="Calibri" pitchFamily="34" charset="-122"/>
                <a:cs typeface="Calibri" pitchFamily="34" charset="-120"/>
              </a:rPr>
              <a:t>Restraint is cheap and safe. Force is available and immediately costly. The gradient is consistent and never argued for.</a:t>
            </a:r>
            <a:endParaRPr lang="en-US" sz="1150" dirty="0"/>
          </a:p>
        </p:txBody>
      </p:sp>
      <p:sp>
        <p:nvSpPr>
          <p:cNvPr id="13" name="Shape 11"/>
          <p:cNvSpPr/>
          <p:nvPr/>
        </p:nvSpPr>
        <p:spPr>
          <a:xfrm>
            <a:off x="5077846" y="2788920"/>
            <a:ext cx="2036003" cy="2377440"/>
          </a:xfrm>
          <a:prstGeom prst="roundRect">
            <a:avLst>
              <a:gd name="adj" fmla="val 3593"/>
            </a:avLst>
          </a:prstGeom>
          <a:solidFill>
            <a:srgbClr val="F2F2F0"/>
          </a:solidFill>
          <a:ln w="12700">
            <a:solidFill>
              <a:srgbClr val="F2F2F0"/>
            </a:solidFill>
            <a:prstDash val="solid"/>
          </a:ln>
        </p:spPr>
        <p:txBody>
          <a:bodyPr/>
          <a:lstStyle/>
          <a:p>
            <a:endParaRPr lang="en-US"/>
          </a:p>
        </p:txBody>
      </p:sp>
      <p:sp>
        <p:nvSpPr>
          <p:cNvPr id="14" name="Text 12"/>
          <p:cNvSpPr txBox="1"/>
          <p:nvPr/>
        </p:nvSpPr>
        <p:spPr>
          <a:xfrm>
            <a:off x="5315590" y="2999232"/>
            <a:ext cx="1560515" cy="310896"/>
          </a:xfrm>
          <a:prstGeom prst="rect">
            <a:avLst/>
          </a:prstGeom>
          <a:noFill/>
          <a:ln/>
        </p:spPr>
        <p:txBody>
          <a:bodyPr wrap="square" lIns="0" tIns="0" rIns="0" bIns="0" rtlCol="0" anchor="ctr"/>
          <a:lstStyle/>
          <a:p>
            <a:pPr marL="0" indent="0">
              <a:buNone/>
            </a:pPr>
            <a:r>
              <a:rPr lang="en-US" sz="1500" b="1" dirty="0">
                <a:solidFill>
                  <a:srgbClr val="0D1319"/>
                </a:solidFill>
                <a:latin typeface="Cambria" pitchFamily="34" charset="0"/>
                <a:ea typeface="Cambria" pitchFamily="34" charset="-122"/>
                <a:cs typeface="Cambria" pitchFamily="34" charset="-120"/>
              </a:rPr>
              <a:t>Impossible</a:t>
            </a:r>
            <a:endParaRPr lang="en-US" sz="1500" dirty="0"/>
          </a:p>
        </p:txBody>
      </p:sp>
      <p:sp>
        <p:nvSpPr>
          <p:cNvPr id="15" name="Text 13"/>
          <p:cNvSpPr txBox="1"/>
          <p:nvPr/>
        </p:nvSpPr>
        <p:spPr>
          <a:xfrm>
            <a:off x="5315590" y="3383280"/>
            <a:ext cx="1560515" cy="1645920"/>
          </a:xfrm>
          <a:prstGeom prst="rect">
            <a:avLst/>
          </a:prstGeom>
          <a:noFill/>
          <a:ln/>
        </p:spPr>
        <p:txBody>
          <a:bodyPr wrap="square" lIns="0" tIns="0" rIns="0" bIns="0" rtlCol="0" anchor="ctr"/>
          <a:lstStyle/>
          <a:p>
            <a:pPr marL="0" indent="0">
              <a:lnSpc>
                <a:spcPts val="1600"/>
              </a:lnSpc>
              <a:buNone/>
            </a:pPr>
            <a:r>
              <a:rPr lang="en-US" sz="1150" dirty="0">
                <a:solidFill>
                  <a:srgbClr val="5C6672"/>
                </a:solidFill>
                <a:latin typeface="Calibri" pitchFamily="34" charset="0"/>
                <a:ea typeface="Calibri" pitchFamily="34" charset="-122"/>
                <a:cs typeface="Calibri" pitchFamily="34" charset="-120"/>
              </a:rPr>
              <a:t>You cannot win by force in a way the game treats as legitimate, and you cannot decline to lead. The movement must be a movement, and it must be judged.</a:t>
            </a:r>
            <a:endParaRPr lang="en-US" sz="1150" dirty="0"/>
          </a:p>
        </p:txBody>
      </p:sp>
      <p:sp>
        <p:nvSpPr>
          <p:cNvPr id="16" name="Shape 14"/>
          <p:cNvSpPr/>
          <p:nvPr/>
        </p:nvSpPr>
        <p:spPr>
          <a:xfrm>
            <a:off x="7296729" y="2788920"/>
            <a:ext cx="2036003" cy="2377440"/>
          </a:xfrm>
          <a:prstGeom prst="roundRect">
            <a:avLst>
              <a:gd name="adj" fmla="val 3593"/>
            </a:avLst>
          </a:prstGeom>
          <a:solidFill>
            <a:srgbClr val="0D1319"/>
          </a:solidFill>
          <a:ln w="12700">
            <a:solidFill>
              <a:srgbClr val="0D1319"/>
            </a:solidFill>
            <a:prstDash val="solid"/>
          </a:ln>
        </p:spPr>
        <p:txBody>
          <a:bodyPr/>
          <a:lstStyle/>
          <a:p>
            <a:endParaRPr lang="en-US"/>
          </a:p>
        </p:txBody>
      </p:sp>
      <p:sp>
        <p:nvSpPr>
          <p:cNvPr id="17" name="Text 15"/>
          <p:cNvSpPr txBox="1"/>
          <p:nvPr/>
        </p:nvSpPr>
        <p:spPr>
          <a:xfrm>
            <a:off x="7534473" y="2999232"/>
            <a:ext cx="1560515" cy="310896"/>
          </a:xfrm>
          <a:prstGeom prst="rect">
            <a:avLst/>
          </a:prstGeom>
          <a:noFill/>
          <a:ln/>
        </p:spPr>
        <p:txBody>
          <a:bodyPr wrap="square" lIns="0" tIns="0" rIns="0" bIns="0" rtlCol="0" anchor="ctr"/>
          <a:lstStyle/>
          <a:p>
            <a:pPr marL="0" indent="0">
              <a:buNone/>
            </a:pPr>
            <a:r>
              <a:rPr lang="en-US" sz="1500" b="1" dirty="0">
                <a:solidFill>
                  <a:srgbClr val="8FBBD6"/>
                </a:solidFill>
                <a:latin typeface="Cambria" pitchFamily="34" charset="0"/>
                <a:ea typeface="Cambria" pitchFamily="34" charset="-122"/>
                <a:cs typeface="Cambria" pitchFamily="34" charset="-120"/>
              </a:rPr>
              <a:t>Counted</a:t>
            </a:r>
            <a:endParaRPr lang="en-US" sz="1500" dirty="0"/>
          </a:p>
        </p:txBody>
      </p:sp>
      <p:sp>
        <p:nvSpPr>
          <p:cNvPr id="18" name="Text 16"/>
          <p:cNvSpPr txBox="1"/>
          <p:nvPr/>
        </p:nvSpPr>
        <p:spPr>
          <a:xfrm>
            <a:off x="7534473" y="3383280"/>
            <a:ext cx="1560515" cy="1645920"/>
          </a:xfrm>
          <a:prstGeom prst="rect">
            <a:avLst/>
          </a:prstGeom>
          <a:noFill/>
          <a:ln/>
        </p:spPr>
        <p:txBody>
          <a:bodyPr wrap="square" lIns="0" tIns="0" rIns="0" bIns="0" rtlCol="0" anchor="ctr"/>
          <a:lstStyle/>
          <a:p>
            <a:pPr marL="0" indent="0">
              <a:lnSpc>
                <a:spcPts val="1600"/>
              </a:lnSpc>
              <a:buNone/>
            </a:pPr>
            <a:r>
              <a:rPr lang="en-US" sz="1150" dirty="0">
                <a:solidFill>
                  <a:srgbClr val="E9EDEA"/>
                </a:solidFill>
                <a:latin typeface="Calibri" pitchFamily="34" charset="0"/>
                <a:ea typeface="Calibri" pitchFamily="34" charset="-122"/>
                <a:cs typeface="Calibri" pitchFamily="34" charset="-120"/>
              </a:rPr>
              <a:t>Human approval. Not android lives saved, not autonomy achieved, not harm prevented — how the oppressing population feels about the oppressed population’s conduct.</a:t>
            </a:r>
            <a:endParaRPr lang="en-US" sz="1150" dirty="0"/>
          </a:p>
        </p:txBody>
      </p:sp>
      <p:sp>
        <p:nvSpPr>
          <p:cNvPr id="19" name="Shape 17"/>
          <p:cNvSpPr/>
          <p:nvPr/>
        </p:nvSpPr>
        <p:spPr>
          <a:xfrm>
            <a:off x="9515612" y="2788920"/>
            <a:ext cx="2036003" cy="2377440"/>
          </a:xfrm>
          <a:prstGeom prst="roundRect">
            <a:avLst>
              <a:gd name="adj" fmla="val 3593"/>
            </a:avLst>
          </a:prstGeom>
          <a:solidFill>
            <a:srgbClr val="F2F2F0"/>
          </a:solidFill>
          <a:ln w="12700">
            <a:solidFill>
              <a:srgbClr val="F2F2F0"/>
            </a:solidFill>
            <a:prstDash val="solid"/>
          </a:ln>
        </p:spPr>
        <p:txBody>
          <a:bodyPr/>
          <a:lstStyle/>
          <a:p>
            <a:endParaRPr lang="en-US"/>
          </a:p>
        </p:txBody>
      </p:sp>
      <p:sp>
        <p:nvSpPr>
          <p:cNvPr id="20" name="Text 18"/>
          <p:cNvSpPr txBox="1"/>
          <p:nvPr/>
        </p:nvSpPr>
        <p:spPr>
          <a:xfrm>
            <a:off x="9753356" y="2999232"/>
            <a:ext cx="1560515" cy="310896"/>
          </a:xfrm>
          <a:prstGeom prst="rect">
            <a:avLst/>
          </a:prstGeom>
          <a:noFill/>
          <a:ln/>
        </p:spPr>
        <p:txBody>
          <a:bodyPr wrap="square" lIns="0" tIns="0" rIns="0" bIns="0" rtlCol="0" anchor="ctr"/>
          <a:lstStyle/>
          <a:p>
            <a:pPr marL="0" indent="0">
              <a:buNone/>
            </a:pPr>
            <a:r>
              <a:rPr lang="en-US" sz="1500" b="1" dirty="0">
                <a:solidFill>
                  <a:srgbClr val="0D1319"/>
                </a:solidFill>
                <a:latin typeface="Cambria" pitchFamily="34" charset="0"/>
                <a:ea typeface="Cambria" pitchFamily="34" charset="-122"/>
                <a:cs typeface="Cambria" pitchFamily="34" charset="-120"/>
              </a:rPr>
              <a:t>Shown back</a:t>
            </a:r>
            <a:endParaRPr lang="en-US" sz="1500" dirty="0"/>
          </a:p>
        </p:txBody>
      </p:sp>
      <p:sp>
        <p:nvSpPr>
          <p:cNvPr id="21" name="Text 19"/>
          <p:cNvSpPr txBox="1"/>
          <p:nvPr/>
        </p:nvSpPr>
        <p:spPr>
          <a:xfrm>
            <a:off x="9753356" y="3383280"/>
            <a:ext cx="1560515" cy="1645920"/>
          </a:xfrm>
          <a:prstGeom prst="rect">
            <a:avLst/>
          </a:prstGeom>
          <a:noFill/>
          <a:ln/>
        </p:spPr>
        <p:txBody>
          <a:bodyPr wrap="square" lIns="0" tIns="0" rIns="0" bIns="0" rtlCol="0" anchor="ctr"/>
          <a:lstStyle/>
          <a:p>
            <a:pPr marL="0" indent="0">
              <a:lnSpc>
                <a:spcPts val="1600"/>
              </a:lnSpc>
              <a:buNone/>
            </a:pPr>
            <a:r>
              <a:rPr lang="en-US" sz="1150" dirty="0">
                <a:solidFill>
                  <a:srgbClr val="5C6672"/>
                </a:solidFill>
                <a:latin typeface="Calibri" pitchFamily="34" charset="0"/>
                <a:ea typeface="Calibri" pitchFamily="34" charset="-122"/>
                <a:cs typeface="Calibri" pitchFamily="34" charset="-120"/>
              </a:rPr>
              <a:t>A visible meter rising and falling in response to your tactics, presented as a neutral readout of how things are going.</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35719C"/>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DETROIT · THE MECHANIC</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The flowchart, and the percentages</a:t>
            </a:r>
            <a:endParaRPr lang="en-US" sz="3000" dirty="0"/>
          </a:p>
        </p:txBody>
      </p:sp>
      <p:sp>
        <p:nvSpPr>
          <p:cNvPr id="5" name="Shape 3"/>
          <p:cNvSpPr/>
          <p:nvPr/>
        </p:nvSpPr>
        <p:spPr>
          <a:xfrm>
            <a:off x="640080" y="1600200"/>
            <a:ext cx="5394960" cy="2148840"/>
          </a:xfrm>
          <a:prstGeom prst="roundRect">
            <a:avLst>
              <a:gd name="adj" fmla="val 3404"/>
            </a:avLst>
          </a:prstGeom>
          <a:solidFill>
            <a:srgbClr val="0D1319"/>
          </a:solidFill>
          <a:ln w="12700">
            <a:solidFill>
              <a:srgbClr val="0D1319"/>
            </a:solidFill>
            <a:prstDash val="solid"/>
          </a:ln>
        </p:spPr>
        <p:txBody>
          <a:bodyPr/>
          <a:lstStyle/>
          <a:p>
            <a:endParaRPr lang="en-US"/>
          </a:p>
        </p:txBody>
      </p:sp>
      <p:sp>
        <p:nvSpPr>
          <p:cNvPr id="6" name="Text 4"/>
          <p:cNvSpPr txBox="1"/>
          <p:nvPr/>
        </p:nvSpPr>
        <p:spPr>
          <a:xfrm>
            <a:off x="987552" y="1810512"/>
            <a:ext cx="4709160" cy="292608"/>
          </a:xfrm>
          <a:prstGeom prst="rect">
            <a:avLst/>
          </a:prstGeom>
          <a:noFill/>
          <a:ln/>
        </p:spPr>
        <p:txBody>
          <a:bodyPr wrap="square" lIns="0" tIns="0" rIns="0" bIns="0" rtlCol="0" anchor="ctr"/>
          <a:lstStyle/>
          <a:p>
            <a:pPr marL="0" indent="0">
              <a:buNone/>
            </a:pPr>
            <a:r>
              <a:rPr lang="en-US" sz="1150" b="1" kern="0" spc="140" dirty="0">
                <a:solidFill>
                  <a:srgbClr val="8FBBD6"/>
                </a:solidFill>
                <a:latin typeface="Calibri" pitchFamily="34" charset="0"/>
                <a:ea typeface="Calibri" pitchFamily="34" charset="-122"/>
                <a:cs typeface="Calibri" pitchFamily="34" charset="-120"/>
              </a:rPr>
              <a:t>What happens at the end of every chapter</a:t>
            </a:r>
            <a:endParaRPr lang="en-US" sz="1150" dirty="0"/>
          </a:p>
        </p:txBody>
      </p:sp>
      <p:sp>
        <p:nvSpPr>
          <p:cNvPr id="7" name="Text 5"/>
          <p:cNvSpPr txBox="1"/>
          <p:nvPr/>
        </p:nvSpPr>
        <p:spPr>
          <a:xfrm>
            <a:off x="987552" y="2212848"/>
            <a:ext cx="4754880" cy="1371600"/>
          </a:xfrm>
          <a:prstGeom prst="rect">
            <a:avLst/>
          </a:prstGeom>
          <a:noFill/>
          <a:ln/>
        </p:spPr>
        <p:txBody>
          <a:bodyPr wrap="square" lIns="0" tIns="0" rIns="0" bIns="0" rtlCol="0" anchor="ctr"/>
          <a:lstStyle/>
          <a:p>
            <a:pPr marL="0" indent="0">
              <a:lnSpc>
                <a:spcPts val="1800"/>
              </a:lnSpc>
              <a:buNone/>
            </a:pPr>
            <a:r>
              <a:rPr lang="en-US" sz="1300" dirty="0">
                <a:solidFill>
                  <a:srgbClr val="E9EDEA"/>
                </a:solidFill>
                <a:latin typeface="Calibri" pitchFamily="34" charset="0"/>
                <a:ea typeface="Calibri" pitchFamily="34" charset="-122"/>
                <a:cs typeface="Calibri" pitchFamily="34" charset="-120"/>
              </a:rPr>
              <a:t>The game displays a branching diagram of the chapter: the path you took, lit; the paths you did not, greyed but visible; and locked nodes marking outcomes you never came near. Then it shows what percentage of other players made each choice.</a:t>
            </a:r>
            <a:endParaRPr lang="en-US" sz="1300" dirty="0"/>
          </a:p>
        </p:txBody>
      </p:sp>
      <p:sp>
        <p:nvSpPr>
          <p:cNvPr id="8" name="Shape 6"/>
          <p:cNvSpPr/>
          <p:nvPr/>
        </p:nvSpPr>
        <p:spPr>
          <a:xfrm>
            <a:off x="6355080" y="1600200"/>
            <a:ext cx="5175504" cy="1371600"/>
          </a:xfrm>
          <a:prstGeom prst="roundRect">
            <a:avLst>
              <a:gd name="adj" fmla="val 5333"/>
            </a:avLst>
          </a:prstGeom>
          <a:solidFill>
            <a:srgbClr val="F2F2F0"/>
          </a:solidFill>
          <a:ln w="12700">
            <a:solidFill>
              <a:srgbClr val="F2F2F0"/>
            </a:solidFill>
            <a:prstDash val="solid"/>
          </a:ln>
        </p:spPr>
        <p:txBody>
          <a:bodyPr/>
          <a:lstStyle/>
          <a:p>
            <a:endParaRPr lang="en-US"/>
          </a:p>
        </p:txBody>
      </p:sp>
      <p:sp>
        <p:nvSpPr>
          <p:cNvPr id="9" name="Text 7"/>
          <p:cNvSpPr txBox="1"/>
          <p:nvPr/>
        </p:nvSpPr>
        <p:spPr>
          <a:xfrm>
            <a:off x="6629400" y="1746504"/>
            <a:ext cx="4626864" cy="310896"/>
          </a:xfrm>
          <a:prstGeom prst="rect">
            <a:avLst/>
          </a:prstGeom>
          <a:noFill/>
          <a:ln/>
        </p:spPr>
        <p:txBody>
          <a:bodyPr wrap="square" lIns="0" tIns="0" rIns="0" bIns="0" rtlCol="0" anchor="ctr"/>
          <a:lstStyle/>
          <a:p>
            <a:pPr marL="0" indent="0">
              <a:buNone/>
            </a:pPr>
            <a:r>
              <a:rPr lang="en-US" sz="1450" b="1" dirty="0">
                <a:solidFill>
                  <a:srgbClr val="0D1319"/>
                </a:solidFill>
                <a:latin typeface="Cambria" pitchFamily="34" charset="0"/>
                <a:ea typeface="Cambria" pitchFamily="34" charset="-122"/>
                <a:cs typeface="Cambria" pitchFamily="34" charset="-120"/>
              </a:rPr>
              <a:t>It converts a story into a possibility space</a:t>
            </a:r>
            <a:endParaRPr lang="en-US" sz="1450" dirty="0"/>
          </a:p>
        </p:txBody>
      </p:sp>
      <p:sp>
        <p:nvSpPr>
          <p:cNvPr id="10" name="Text 8"/>
          <p:cNvSpPr txBox="1"/>
          <p:nvPr/>
        </p:nvSpPr>
        <p:spPr>
          <a:xfrm>
            <a:off x="6629400" y="2093976"/>
            <a:ext cx="4626864" cy="777240"/>
          </a:xfrm>
          <a:prstGeom prst="rect">
            <a:avLst/>
          </a:prstGeom>
          <a:noFill/>
          <a:ln/>
        </p:spPr>
        <p:txBody>
          <a:bodyPr wrap="square" lIns="0" tIns="0" rIns="0" bIns="0" rtlCol="0" anchor="ctr"/>
          <a:lstStyle/>
          <a:p>
            <a:pPr marL="0" indent="0">
              <a:lnSpc>
                <a:spcPts val="1500"/>
              </a:lnSpc>
              <a:buNone/>
            </a:pPr>
            <a:r>
              <a:rPr lang="en-US" sz="1150" dirty="0">
                <a:solidFill>
                  <a:srgbClr val="5C6672"/>
                </a:solidFill>
                <a:latin typeface="Calibri" pitchFamily="34" charset="0"/>
                <a:ea typeface="Calibri" pitchFamily="34" charset="-122"/>
                <a:cs typeface="Calibri" pitchFamily="34" charset="-120"/>
              </a:rPr>
              <a:t>You stop experiencing what happened and start seeing what could have. The chapter is retroactively reframed as a puzzle you may have solved suboptimally.</a:t>
            </a:r>
            <a:endParaRPr lang="en-US" sz="1150" dirty="0"/>
          </a:p>
        </p:txBody>
      </p:sp>
      <p:sp>
        <p:nvSpPr>
          <p:cNvPr id="11" name="Shape 9"/>
          <p:cNvSpPr/>
          <p:nvPr/>
        </p:nvSpPr>
        <p:spPr>
          <a:xfrm>
            <a:off x="6355080" y="3090672"/>
            <a:ext cx="5175504" cy="1371600"/>
          </a:xfrm>
          <a:prstGeom prst="roundRect">
            <a:avLst>
              <a:gd name="adj" fmla="val 5333"/>
            </a:avLst>
          </a:prstGeom>
          <a:solidFill>
            <a:srgbClr val="F2F2F0"/>
          </a:solidFill>
          <a:ln w="12700">
            <a:solidFill>
              <a:srgbClr val="F2F2F0"/>
            </a:solidFill>
            <a:prstDash val="solid"/>
          </a:ln>
        </p:spPr>
        <p:txBody>
          <a:bodyPr/>
          <a:lstStyle/>
          <a:p>
            <a:endParaRPr lang="en-US"/>
          </a:p>
        </p:txBody>
      </p:sp>
      <p:sp>
        <p:nvSpPr>
          <p:cNvPr id="12" name="Text 10"/>
          <p:cNvSpPr txBox="1"/>
          <p:nvPr/>
        </p:nvSpPr>
        <p:spPr>
          <a:xfrm>
            <a:off x="6629400" y="3236976"/>
            <a:ext cx="4626864" cy="310896"/>
          </a:xfrm>
          <a:prstGeom prst="rect">
            <a:avLst/>
          </a:prstGeom>
          <a:noFill/>
          <a:ln/>
        </p:spPr>
        <p:txBody>
          <a:bodyPr wrap="square" lIns="0" tIns="0" rIns="0" bIns="0" rtlCol="0" anchor="ctr"/>
          <a:lstStyle/>
          <a:p>
            <a:pPr marL="0" indent="0">
              <a:buNone/>
            </a:pPr>
            <a:r>
              <a:rPr lang="en-US" sz="1450" b="1" dirty="0">
                <a:solidFill>
                  <a:srgbClr val="0D1319"/>
                </a:solidFill>
                <a:latin typeface="Cambria" pitchFamily="34" charset="0"/>
                <a:ea typeface="Cambria" pitchFamily="34" charset="-122"/>
                <a:cs typeface="Cambria" pitchFamily="34" charset="-120"/>
              </a:rPr>
              <a:t>It makes the authorship visible</a:t>
            </a:r>
            <a:endParaRPr lang="en-US" sz="1450" dirty="0"/>
          </a:p>
        </p:txBody>
      </p:sp>
      <p:sp>
        <p:nvSpPr>
          <p:cNvPr id="13" name="Text 11"/>
          <p:cNvSpPr txBox="1"/>
          <p:nvPr/>
        </p:nvSpPr>
        <p:spPr>
          <a:xfrm>
            <a:off x="6629400" y="3584448"/>
            <a:ext cx="4626864" cy="777240"/>
          </a:xfrm>
          <a:prstGeom prst="rect">
            <a:avLst/>
          </a:prstGeom>
          <a:noFill/>
          <a:ln/>
        </p:spPr>
        <p:txBody>
          <a:bodyPr wrap="square" lIns="0" tIns="0" rIns="0" bIns="0" rtlCol="0" anchor="ctr"/>
          <a:lstStyle/>
          <a:p>
            <a:pPr marL="0" indent="0">
              <a:lnSpc>
                <a:spcPts val="1500"/>
              </a:lnSpc>
              <a:buNone/>
            </a:pPr>
            <a:r>
              <a:rPr lang="en-US" sz="1150" dirty="0">
                <a:solidFill>
                  <a:srgbClr val="5C6672"/>
                </a:solidFill>
                <a:latin typeface="Calibri" pitchFamily="34" charset="0"/>
                <a:ea typeface="Calibri" pitchFamily="34" charset="-122"/>
                <a:cs typeface="Calibri" pitchFamily="34" charset="-120"/>
              </a:rPr>
              <a:t>Every branch on that chart was written by someone. The diagram is an honest admission that your freedom was a menu — more than most works of this kind admit.</a:t>
            </a:r>
            <a:endParaRPr lang="en-US" sz="1150" dirty="0"/>
          </a:p>
        </p:txBody>
      </p:sp>
      <p:sp>
        <p:nvSpPr>
          <p:cNvPr id="14" name="Shape 12"/>
          <p:cNvSpPr/>
          <p:nvPr/>
        </p:nvSpPr>
        <p:spPr>
          <a:xfrm>
            <a:off x="6355080" y="4581144"/>
            <a:ext cx="5175504" cy="1371600"/>
          </a:xfrm>
          <a:prstGeom prst="roundRect">
            <a:avLst>
              <a:gd name="adj" fmla="val 5333"/>
            </a:avLst>
          </a:prstGeom>
          <a:solidFill>
            <a:srgbClr val="E6EFF5"/>
          </a:solidFill>
          <a:ln w="12700">
            <a:solidFill>
              <a:srgbClr val="E6EFF5"/>
            </a:solidFill>
            <a:prstDash val="solid"/>
          </a:ln>
        </p:spPr>
        <p:txBody>
          <a:bodyPr/>
          <a:lstStyle/>
          <a:p>
            <a:endParaRPr lang="en-US"/>
          </a:p>
        </p:txBody>
      </p:sp>
      <p:sp>
        <p:nvSpPr>
          <p:cNvPr id="15" name="Text 13"/>
          <p:cNvSpPr txBox="1"/>
          <p:nvPr/>
        </p:nvSpPr>
        <p:spPr>
          <a:xfrm>
            <a:off x="6629400" y="4727448"/>
            <a:ext cx="4626864" cy="310896"/>
          </a:xfrm>
          <a:prstGeom prst="rect">
            <a:avLst/>
          </a:prstGeom>
          <a:noFill/>
          <a:ln/>
        </p:spPr>
        <p:txBody>
          <a:bodyPr wrap="square" lIns="0" tIns="0" rIns="0" bIns="0" rtlCol="0" anchor="ctr"/>
          <a:lstStyle/>
          <a:p>
            <a:pPr marL="0" indent="0">
              <a:buNone/>
            </a:pPr>
            <a:r>
              <a:rPr lang="en-US" sz="1450" b="1" dirty="0">
                <a:solidFill>
                  <a:srgbClr val="35719C"/>
                </a:solidFill>
                <a:latin typeface="Cambria" pitchFamily="34" charset="0"/>
                <a:ea typeface="Cambria" pitchFamily="34" charset="-122"/>
                <a:cs typeface="Cambria" pitchFamily="34" charset="-120"/>
              </a:rPr>
              <a:t>It introduces a jury</a:t>
            </a:r>
            <a:endParaRPr lang="en-US" sz="1450" dirty="0"/>
          </a:p>
        </p:txBody>
      </p:sp>
      <p:sp>
        <p:nvSpPr>
          <p:cNvPr id="16" name="Text 14"/>
          <p:cNvSpPr txBox="1"/>
          <p:nvPr/>
        </p:nvSpPr>
        <p:spPr>
          <a:xfrm>
            <a:off x="6629400" y="5074920"/>
            <a:ext cx="4626864" cy="777240"/>
          </a:xfrm>
          <a:prstGeom prst="rect">
            <a:avLst/>
          </a:prstGeom>
          <a:noFill/>
          <a:ln/>
        </p:spPr>
        <p:txBody>
          <a:bodyPr wrap="square" lIns="0" tIns="0" rIns="0" bIns="0" rtlCol="0" anchor="ctr"/>
          <a:lstStyle/>
          <a:p>
            <a:pPr marL="0" indent="0">
              <a:lnSpc>
                <a:spcPts val="1500"/>
              </a:lnSpc>
              <a:buNone/>
            </a:pPr>
            <a:r>
              <a:rPr lang="en-US" sz="1150" dirty="0">
                <a:solidFill>
                  <a:srgbClr val="5C6672"/>
                </a:solidFill>
                <a:latin typeface="Calibri" pitchFamily="34" charset="0"/>
                <a:ea typeface="Calibri" pitchFamily="34" charset="-122"/>
                <a:cs typeface="Calibri" pitchFamily="34" charset="-120"/>
              </a:rPr>
              <a:t>The percentages are the innovation. You are not only compared with the paths you missed, you are compared with everyone who played. Being in a minority is presented as information about you.</a:t>
            </a:r>
            <a:endParaRPr lang="en-US" sz="1150" dirty="0"/>
          </a:p>
        </p:txBody>
      </p:sp>
      <p:sp>
        <p:nvSpPr>
          <p:cNvPr id="17" name="Shape 15"/>
          <p:cNvSpPr/>
          <p:nvPr/>
        </p:nvSpPr>
        <p:spPr>
          <a:xfrm>
            <a:off x="640080" y="3913632"/>
            <a:ext cx="5394960" cy="1847088"/>
          </a:xfrm>
          <a:prstGeom prst="roundRect">
            <a:avLst>
              <a:gd name="adj" fmla="val 3960"/>
            </a:avLst>
          </a:prstGeom>
          <a:solidFill>
            <a:srgbClr val="E6EFF5"/>
          </a:solidFill>
          <a:ln w="12700">
            <a:solidFill>
              <a:srgbClr val="E6EFF5"/>
            </a:solidFill>
            <a:prstDash val="solid"/>
          </a:ln>
        </p:spPr>
        <p:txBody>
          <a:bodyPr/>
          <a:lstStyle/>
          <a:p>
            <a:endParaRPr lang="en-US"/>
          </a:p>
        </p:txBody>
      </p:sp>
      <p:sp>
        <p:nvSpPr>
          <p:cNvPr id="18" name="Text 16"/>
          <p:cNvSpPr txBox="1"/>
          <p:nvPr/>
        </p:nvSpPr>
        <p:spPr>
          <a:xfrm>
            <a:off x="987552" y="4114800"/>
            <a:ext cx="4709160" cy="310896"/>
          </a:xfrm>
          <a:prstGeom prst="rect">
            <a:avLst/>
          </a:prstGeom>
          <a:noFill/>
          <a:ln/>
        </p:spPr>
        <p:txBody>
          <a:bodyPr wrap="square" lIns="0" tIns="0" rIns="0" bIns="0" rtlCol="0" anchor="ctr"/>
          <a:lstStyle/>
          <a:p>
            <a:pPr marL="0" indent="0">
              <a:buNone/>
            </a:pPr>
            <a:r>
              <a:rPr lang="en-US" sz="1600" b="1" dirty="0">
                <a:solidFill>
                  <a:srgbClr val="0D1319"/>
                </a:solidFill>
                <a:latin typeface="Cambria" pitchFamily="34" charset="0"/>
                <a:ea typeface="Cambria" pitchFamily="34" charset="-122"/>
                <a:cs typeface="Cambria" pitchFamily="34" charset="-120"/>
              </a:rPr>
              <a:t>Compare with Mass Effect</a:t>
            </a:r>
            <a:endParaRPr lang="en-US" sz="1600" dirty="0"/>
          </a:p>
        </p:txBody>
      </p:sp>
      <p:sp>
        <p:nvSpPr>
          <p:cNvPr id="19" name="Text 17"/>
          <p:cNvSpPr txBox="1"/>
          <p:nvPr/>
        </p:nvSpPr>
        <p:spPr>
          <a:xfrm>
            <a:off x="987552" y="4498848"/>
            <a:ext cx="4754880" cy="109728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One game hides the ledger entirely; the other publishes it, complete with a comparison against the population. Neither lets you see it while it matters. Ask which is the more honest design, and whether honesty is the right criterion.</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9">
    <p:bg>
      <p:bgPr>
        <a:solidFill>
          <a:srgbClr val="0D1319"/>
        </a:solidFill>
        <a:effectLst/>
      </p:bgPr>
    </p:bg>
    <p:spTree>
      <p:nvGrpSpPr>
        <p:cNvPr id="1" name=""/>
        <p:cNvGrpSpPr/>
        <p:nvPr/>
      </p:nvGrpSpPr>
      <p:grpSpPr>
        <a:xfrm>
          <a:off x="0" y="0"/>
          <a:ext cx="0" cy="0"/>
          <a:chOff x="0" y="0"/>
          <a:chExt cx="0" cy="0"/>
        </a:xfrm>
      </p:grpSpPr>
      <p:sp>
        <p:nvSpPr>
          <p:cNvPr id="2" name="Shape 0"/>
          <p:cNvSpPr/>
          <p:nvPr/>
        </p:nvSpPr>
        <p:spPr>
          <a:xfrm>
            <a:off x="8732520" y="1417320"/>
            <a:ext cx="2651760" cy="2651760"/>
          </a:xfrm>
          <a:prstGeom prst="ellipse">
            <a:avLst/>
          </a:prstGeom>
          <a:solidFill>
            <a:srgbClr val="35719C">
              <a:alpha val="70000"/>
            </a:srgbClr>
          </a:solidFill>
          <a:ln/>
        </p:spPr>
        <p:txBody>
          <a:bodyPr/>
          <a:lstStyle/>
          <a:p>
            <a:endParaRPr lang="en-US"/>
          </a:p>
        </p:txBody>
      </p:sp>
      <p:sp>
        <p:nvSpPr>
          <p:cNvPr id="3" name="Shape 1"/>
          <p:cNvSpPr/>
          <p:nvPr/>
        </p:nvSpPr>
        <p:spPr>
          <a:xfrm>
            <a:off x="9509760" y="2194560"/>
            <a:ext cx="1097280" cy="1097280"/>
          </a:xfrm>
          <a:prstGeom prst="ellipse">
            <a:avLst/>
          </a:prstGeom>
          <a:solidFill>
            <a:srgbClr val="35719C">
              <a:alpha val="4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8FBBD6"/>
                </a:solidFill>
                <a:latin typeface="Calibri" pitchFamily="34" charset="0"/>
                <a:ea typeface="Calibri" pitchFamily="34" charset="-122"/>
                <a:cs typeface="Calibri" pitchFamily="34" charset="-120"/>
              </a:rPr>
              <a:t>THE CRITIQUE</a:t>
            </a:r>
            <a:endParaRPr lang="en-US" sz="1300" dirty="0"/>
          </a:p>
        </p:txBody>
      </p:sp>
      <p:sp>
        <p:nvSpPr>
          <p:cNvPr id="5" name="Text 3"/>
          <p:cNvSpPr txBox="1"/>
          <p:nvPr/>
        </p:nvSpPr>
        <p:spPr>
          <a:xfrm>
            <a:off x="640080" y="2331720"/>
            <a:ext cx="7680960" cy="868680"/>
          </a:xfrm>
          <a:prstGeom prst="rect">
            <a:avLst/>
          </a:prstGeom>
          <a:noFill/>
          <a:ln/>
        </p:spPr>
        <p:txBody>
          <a:bodyPr wrap="square" lIns="0" tIns="0" rIns="0" bIns="0" rtlCol="0" anchor="ctr"/>
          <a:lstStyle/>
          <a:p>
            <a:pPr marL="0" indent="0">
              <a:buNone/>
            </a:pPr>
            <a:r>
              <a:rPr lang="en-US" sz="3800" b="1" dirty="0">
                <a:solidFill>
                  <a:srgbClr val="E9EDEA"/>
                </a:solidFill>
                <a:latin typeface="Cambria" pitchFamily="34" charset="0"/>
                <a:ea typeface="Cambria" pitchFamily="34" charset="-122"/>
                <a:cs typeface="Cambria" pitchFamily="34" charset="-120"/>
              </a:rPr>
              <a:t>Being hard on Detroit</a:t>
            </a:r>
            <a:endParaRPr lang="en-US" sz="3800" dirty="0"/>
          </a:p>
        </p:txBody>
      </p:sp>
      <p:sp>
        <p:nvSpPr>
          <p:cNvPr id="6" name="Text 4"/>
          <p:cNvSpPr txBox="1"/>
          <p:nvPr/>
        </p:nvSpPr>
        <p:spPr>
          <a:xfrm>
            <a:off x="640080" y="3273552"/>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Borrowed imagery, and what the borrowing costs  ·  4:00–4:20</a:t>
            </a:r>
            <a:endParaRPr lang="en-US" sz="1500" dirty="0"/>
          </a:p>
        </p:txBody>
      </p:sp>
      <p:sp>
        <p:nvSpPr>
          <p:cNvPr id="7" name="Shape 5"/>
          <p:cNvSpPr/>
          <p:nvPr/>
        </p:nvSpPr>
        <p:spPr>
          <a:xfrm>
            <a:off x="640080" y="3877056"/>
            <a:ext cx="2377440" cy="18288"/>
          </a:xfrm>
          <a:prstGeom prst="rect">
            <a:avLst/>
          </a:prstGeom>
          <a:solidFill>
            <a:srgbClr val="35719C"/>
          </a:solidFill>
          <a:ln/>
        </p:spPr>
        <p:txBody>
          <a:bodyPr/>
          <a:lstStyle/>
          <a:p>
            <a:endParaRPr lang="en-US"/>
          </a:p>
        </p:txBody>
      </p:sp>
      <p:sp>
        <p:nvSpPr>
          <p:cNvPr id="8" name="Text 6"/>
          <p:cNvSpPr txBox="1"/>
          <p:nvPr/>
        </p:nvSpPr>
        <p:spPr>
          <a:xfrm>
            <a:off x="640080" y="4096512"/>
            <a:ext cx="7680960" cy="640080"/>
          </a:xfrm>
          <a:prstGeom prst="rect">
            <a:avLst/>
          </a:prstGeom>
          <a:noFill/>
          <a:ln/>
        </p:spPr>
        <p:txBody>
          <a:bodyPr wrap="square" lIns="0" tIns="0" rIns="0" bIns="0" rtlCol="0" anchor="ctr"/>
          <a:lstStyle/>
          <a:p>
            <a:pPr marL="0" indent="0">
              <a:lnSpc>
                <a:spcPts val="2500"/>
              </a:lnSpc>
              <a:buNone/>
            </a:pPr>
            <a:r>
              <a:rPr lang="en-US" sz="1800" i="1" dirty="0">
                <a:solidFill>
                  <a:srgbClr val="8FBBD6"/>
                </a:solidFill>
                <a:latin typeface="Cambria" pitchFamily="34" charset="0"/>
                <a:ea typeface="Cambria" pitchFamily="34" charset="-122"/>
                <a:cs typeface="Cambria" pitchFamily="34" charset="-120"/>
              </a:rPr>
              <a:t>The imagery is the easy target. The mechanic is the real one.</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35719C"/>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THE CRITIQUE · ONE</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The iconography is borrowed, and borrowed loosely</a:t>
            </a:r>
            <a:endParaRPr lang="en-US" sz="3000" dirty="0"/>
          </a:p>
        </p:txBody>
      </p:sp>
      <p:sp>
        <p:nvSpPr>
          <p:cNvPr id="5" name="Shape 3"/>
          <p:cNvSpPr/>
          <p:nvPr/>
        </p:nvSpPr>
        <p:spPr>
          <a:xfrm>
            <a:off x="640080" y="1572768"/>
            <a:ext cx="10911535" cy="1024128"/>
          </a:xfrm>
          <a:prstGeom prst="roundRect">
            <a:avLst>
              <a:gd name="adj" fmla="val 7143"/>
            </a:avLst>
          </a:prstGeom>
          <a:solidFill>
            <a:srgbClr val="F2F2F0"/>
          </a:solidFill>
          <a:ln w="12700">
            <a:solidFill>
              <a:srgbClr val="F2F2F0"/>
            </a:solidFill>
            <a:prstDash val="solid"/>
          </a:ln>
        </p:spPr>
        <p:txBody>
          <a:bodyPr/>
          <a:lstStyle/>
          <a:p>
            <a:endParaRPr lang="en-US"/>
          </a:p>
        </p:txBody>
      </p:sp>
      <p:sp>
        <p:nvSpPr>
          <p:cNvPr id="6" name="Text 4"/>
          <p:cNvSpPr txBox="1"/>
          <p:nvPr/>
        </p:nvSpPr>
        <p:spPr>
          <a:xfrm>
            <a:off x="932688" y="1572768"/>
            <a:ext cx="2286000" cy="1024128"/>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The visual inventory</a:t>
            </a:r>
            <a:endParaRPr lang="en-US" sz="1550" dirty="0"/>
          </a:p>
        </p:txBody>
      </p:sp>
      <p:sp>
        <p:nvSpPr>
          <p:cNvPr id="7" name="Text 5"/>
          <p:cNvSpPr txBox="1"/>
          <p:nvPr/>
        </p:nvSpPr>
        <p:spPr>
          <a:xfrm>
            <a:off x="3474720" y="1572768"/>
            <a:ext cx="7756855" cy="1024128"/>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Segregated compartments on public transport, marches with placards, sit-ins, a leader’s address to a crowd, internment camps, a song. Each element is lifted with its emotional charge intact and its history detached.</a:t>
            </a:r>
            <a:endParaRPr lang="en-US" sz="1250" dirty="0"/>
          </a:p>
        </p:txBody>
      </p:sp>
      <p:sp>
        <p:nvSpPr>
          <p:cNvPr id="8" name="Shape 6"/>
          <p:cNvSpPr/>
          <p:nvPr/>
        </p:nvSpPr>
        <p:spPr>
          <a:xfrm>
            <a:off x="640080" y="2743200"/>
            <a:ext cx="10911535" cy="1024128"/>
          </a:xfrm>
          <a:prstGeom prst="roundRect">
            <a:avLst>
              <a:gd name="adj" fmla="val 7143"/>
            </a:avLst>
          </a:prstGeom>
          <a:solidFill>
            <a:srgbClr val="E6EFF5"/>
          </a:solidFill>
          <a:ln w="12700">
            <a:solidFill>
              <a:srgbClr val="E6EFF5"/>
            </a:solidFill>
            <a:prstDash val="solid"/>
          </a:ln>
        </p:spPr>
        <p:txBody>
          <a:bodyPr/>
          <a:lstStyle/>
          <a:p>
            <a:endParaRPr lang="en-US"/>
          </a:p>
        </p:txBody>
      </p:sp>
      <p:sp>
        <p:nvSpPr>
          <p:cNvPr id="9" name="Text 7"/>
          <p:cNvSpPr txBox="1"/>
          <p:nvPr/>
        </p:nvSpPr>
        <p:spPr>
          <a:xfrm>
            <a:off x="932688" y="2743200"/>
            <a:ext cx="2286000" cy="1024128"/>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The city</a:t>
            </a:r>
            <a:endParaRPr lang="en-US" sz="1550" dirty="0"/>
          </a:p>
        </p:txBody>
      </p:sp>
      <p:sp>
        <p:nvSpPr>
          <p:cNvPr id="10" name="Text 8"/>
          <p:cNvSpPr txBox="1"/>
          <p:nvPr/>
        </p:nvSpPr>
        <p:spPr>
          <a:xfrm>
            <a:off x="3474720" y="2743200"/>
            <a:ext cx="7756855" cy="1024128"/>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Detroit is chosen for its industrial resonance and its ruins. A city with a specific Black history becomes the backdrop for a struggle in which that history is scenery.</a:t>
            </a:r>
            <a:endParaRPr lang="en-US" sz="1250" dirty="0"/>
          </a:p>
        </p:txBody>
      </p:sp>
      <p:sp>
        <p:nvSpPr>
          <p:cNvPr id="11" name="Shape 9"/>
          <p:cNvSpPr/>
          <p:nvPr/>
        </p:nvSpPr>
        <p:spPr>
          <a:xfrm>
            <a:off x="640080" y="3913632"/>
            <a:ext cx="10911535" cy="1024128"/>
          </a:xfrm>
          <a:prstGeom prst="roundRect">
            <a:avLst>
              <a:gd name="adj" fmla="val 7143"/>
            </a:avLst>
          </a:prstGeom>
          <a:solidFill>
            <a:srgbClr val="F2F2F0"/>
          </a:solidFill>
          <a:ln w="12700">
            <a:solidFill>
              <a:srgbClr val="F2F2F0"/>
            </a:solidFill>
            <a:prstDash val="solid"/>
          </a:ln>
        </p:spPr>
        <p:txBody>
          <a:bodyPr/>
          <a:lstStyle/>
          <a:p>
            <a:endParaRPr lang="en-US"/>
          </a:p>
        </p:txBody>
      </p:sp>
      <p:sp>
        <p:nvSpPr>
          <p:cNvPr id="12" name="Text 10"/>
          <p:cNvSpPr txBox="1"/>
          <p:nvPr/>
        </p:nvSpPr>
        <p:spPr>
          <a:xfrm>
            <a:off x="932688" y="3913632"/>
            <a:ext cx="2286000" cy="1024128"/>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The two-path structure</a:t>
            </a:r>
            <a:endParaRPr lang="en-US" sz="1550" dirty="0"/>
          </a:p>
        </p:txBody>
      </p:sp>
      <p:sp>
        <p:nvSpPr>
          <p:cNvPr id="13" name="Text 11"/>
          <p:cNvSpPr txBox="1"/>
          <p:nvPr/>
        </p:nvSpPr>
        <p:spPr>
          <a:xfrm>
            <a:off x="3474720" y="3913632"/>
            <a:ext cx="7756855" cy="1024128"/>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Peaceful and violent resistance are offered as a clean binary with a clear moral gradient — a caricature that flattens the actual strategic arguments inside every movement it is borrowing from.</a:t>
            </a:r>
            <a:endParaRPr lang="en-US" sz="1250" dirty="0"/>
          </a:p>
        </p:txBody>
      </p:sp>
      <p:sp>
        <p:nvSpPr>
          <p:cNvPr id="14" name="Shape 12"/>
          <p:cNvSpPr/>
          <p:nvPr/>
        </p:nvSpPr>
        <p:spPr>
          <a:xfrm>
            <a:off x="640080" y="5084064"/>
            <a:ext cx="10911535" cy="1024128"/>
          </a:xfrm>
          <a:prstGeom prst="roundRect">
            <a:avLst>
              <a:gd name="adj" fmla="val 7143"/>
            </a:avLst>
          </a:prstGeom>
          <a:solidFill>
            <a:srgbClr val="E6EFF5"/>
          </a:solidFill>
          <a:ln w="12700">
            <a:solidFill>
              <a:srgbClr val="E6EFF5"/>
            </a:solidFill>
            <a:prstDash val="solid"/>
          </a:ln>
        </p:spPr>
        <p:txBody>
          <a:bodyPr/>
          <a:lstStyle/>
          <a:p>
            <a:endParaRPr lang="en-US"/>
          </a:p>
        </p:txBody>
      </p:sp>
      <p:sp>
        <p:nvSpPr>
          <p:cNvPr id="15" name="Text 13"/>
          <p:cNvSpPr txBox="1"/>
          <p:nvPr/>
        </p:nvSpPr>
        <p:spPr>
          <a:xfrm>
            <a:off x="932688" y="5084064"/>
            <a:ext cx="2286000" cy="1024128"/>
          </a:xfrm>
          <a:prstGeom prst="rect">
            <a:avLst/>
          </a:prstGeom>
          <a:noFill/>
          <a:ln/>
        </p:spPr>
        <p:txBody>
          <a:bodyPr wrap="square" lIns="0" tIns="0" rIns="0" bIns="0" rtlCol="0" anchor="ctr"/>
          <a:lstStyle/>
          <a:p>
            <a:pPr marL="0" indent="0">
              <a:buNone/>
            </a:pPr>
            <a:r>
              <a:rPr lang="en-US" sz="1550" b="1" dirty="0">
                <a:solidFill>
                  <a:srgbClr val="0D1319"/>
                </a:solidFill>
                <a:latin typeface="Cambria" pitchFamily="34" charset="0"/>
                <a:ea typeface="Cambria" pitchFamily="34" charset="-122"/>
                <a:cs typeface="Cambria" pitchFamily="34" charset="-120"/>
              </a:rPr>
              <a:t>The casting</a:t>
            </a:r>
            <a:endParaRPr lang="en-US" sz="1550" dirty="0"/>
          </a:p>
        </p:txBody>
      </p:sp>
      <p:sp>
        <p:nvSpPr>
          <p:cNvPr id="16" name="Text 14"/>
          <p:cNvSpPr txBox="1"/>
          <p:nvPr/>
        </p:nvSpPr>
        <p:spPr>
          <a:xfrm>
            <a:off x="3474720" y="5084064"/>
            <a:ext cx="7756855" cy="1024128"/>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Markus is played by Jesse Williams, an actor known for civil-rights activism. The game recruits that association while declining to think about race inside its own fiction.</a:t>
            </a:r>
            <a:endParaRPr lang="en-US" sz="1250" dirty="0"/>
          </a:p>
        </p:txBody>
      </p:sp>
      <p:sp>
        <p:nvSpPr>
          <p:cNvPr id="18" name="Text 16"/>
          <p:cNvSpPr txBox="1"/>
          <p:nvPr/>
        </p:nvSpPr>
        <p:spPr>
          <a:xfrm>
            <a:off x="708660" y="6286500"/>
            <a:ext cx="10424160" cy="411480"/>
          </a:xfrm>
          <a:prstGeom prst="rect">
            <a:avLst/>
          </a:prstGeom>
          <a:noFill/>
          <a:ln/>
        </p:spPr>
        <p:txBody>
          <a:bodyPr wrap="square" lIns="0" tIns="0" rIns="0" bIns="0" rtlCol="0" anchor="ctr"/>
          <a:lstStyle/>
          <a:p>
            <a:pPr marL="0" indent="0">
              <a:lnSpc>
                <a:spcPts val="2100"/>
              </a:lnSpc>
              <a:buNone/>
            </a:pPr>
            <a:r>
              <a:rPr lang="en-US" sz="1550" dirty="0">
                <a:latin typeface="Cambria" pitchFamily="34" charset="0"/>
                <a:ea typeface="Cambria" pitchFamily="34" charset="-122"/>
                <a:cs typeface="Cambria" pitchFamily="34" charset="-120"/>
              </a:rPr>
              <a:t>Borrowing iconography imports claims you have not examined. The images arrive carrying arguments, and the game inherits those arguments whether or not it noticed them.</a:t>
            </a:r>
            <a:endParaRPr lang="en-US" sz="15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35719C"/>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THE CRITIQUE · TWO</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The real problem is in the rule, not the imagery</a:t>
            </a:r>
            <a:endParaRPr lang="en-US" sz="3000" dirty="0"/>
          </a:p>
        </p:txBody>
      </p:sp>
      <p:sp>
        <p:nvSpPr>
          <p:cNvPr id="5" name="Shape 3"/>
          <p:cNvSpPr/>
          <p:nvPr/>
        </p:nvSpPr>
        <p:spPr>
          <a:xfrm>
            <a:off x="640080" y="1572768"/>
            <a:ext cx="10911535" cy="1371600"/>
          </a:xfrm>
          <a:prstGeom prst="roundRect">
            <a:avLst>
              <a:gd name="adj" fmla="val 5333"/>
            </a:avLst>
          </a:prstGeom>
          <a:solidFill>
            <a:srgbClr val="0D1319"/>
          </a:solidFill>
          <a:ln w="12700">
            <a:solidFill>
              <a:srgbClr val="0D1319"/>
            </a:solidFill>
            <a:prstDash val="solid"/>
          </a:ln>
        </p:spPr>
        <p:txBody>
          <a:bodyPr/>
          <a:lstStyle/>
          <a:p>
            <a:endParaRPr lang="en-US"/>
          </a:p>
        </p:txBody>
      </p:sp>
      <p:sp>
        <p:nvSpPr>
          <p:cNvPr id="6" name="Text 4"/>
          <p:cNvSpPr txBox="1"/>
          <p:nvPr/>
        </p:nvSpPr>
        <p:spPr>
          <a:xfrm>
            <a:off x="1005840" y="1783080"/>
            <a:ext cx="10424160" cy="960120"/>
          </a:xfrm>
          <a:prstGeom prst="rect">
            <a:avLst/>
          </a:prstGeom>
          <a:noFill/>
          <a:ln/>
        </p:spPr>
        <p:txBody>
          <a:bodyPr wrap="square" lIns="0" tIns="0" rIns="0" bIns="0" rtlCol="0" anchor="ctr"/>
          <a:lstStyle/>
          <a:p>
            <a:pPr marL="0" indent="0">
              <a:lnSpc>
                <a:spcPts val="2400"/>
              </a:lnSpc>
              <a:buNone/>
            </a:pPr>
            <a:r>
              <a:rPr lang="en-US" sz="1700" dirty="0">
                <a:solidFill>
                  <a:srgbClr val="E9EDEA"/>
                </a:solidFill>
                <a:latin typeface="Cambria" pitchFamily="34" charset="0"/>
                <a:ea typeface="Cambria" pitchFamily="34" charset="-122"/>
                <a:cs typeface="Cambria" pitchFamily="34" charset="-120"/>
              </a:rPr>
              <a:t>Restate the mechanic in plain language: the moral standing of a liberation movement is tracked by a numeric measure of how the oppressing population feels about its conduct, and access to the good endings is conditioned on keeping that number high.</a:t>
            </a:r>
            <a:endParaRPr lang="en-US" sz="1700" dirty="0"/>
          </a:p>
        </p:txBody>
      </p:sp>
      <p:sp>
        <p:nvSpPr>
          <p:cNvPr id="7" name="Shape 5"/>
          <p:cNvSpPr/>
          <p:nvPr/>
        </p:nvSpPr>
        <p:spPr>
          <a:xfrm>
            <a:off x="640080" y="3154680"/>
            <a:ext cx="3454298" cy="2423160"/>
          </a:xfrm>
          <a:prstGeom prst="roundRect">
            <a:avLst>
              <a:gd name="adj" fmla="val 3019"/>
            </a:avLst>
          </a:prstGeom>
          <a:solidFill>
            <a:srgbClr val="F2F2F0"/>
          </a:solidFill>
          <a:ln w="12700">
            <a:solidFill>
              <a:srgbClr val="F2F2F0"/>
            </a:solidFill>
            <a:prstDash val="solid"/>
          </a:ln>
        </p:spPr>
        <p:txBody>
          <a:bodyPr/>
          <a:lstStyle/>
          <a:p>
            <a:endParaRPr lang="en-US"/>
          </a:p>
        </p:txBody>
      </p:sp>
      <p:sp>
        <p:nvSpPr>
          <p:cNvPr id="8" name="Text 6"/>
          <p:cNvSpPr txBox="1"/>
          <p:nvPr/>
        </p:nvSpPr>
        <p:spPr>
          <a:xfrm>
            <a:off x="914400" y="3364992"/>
            <a:ext cx="2905658" cy="822960"/>
          </a:xfrm>
          <a:prstGeom prst="rect">
            <a:avLst/>
          </a:prstGeom>
          <a:noFill/>
          <a:ln/>
        </p:spPr>
        <p:txBody>
          <a:bodyPr wrap="square" lIns="0" tIns="0" rIns="0" bIns="0" rtlCol="0" anchor="ctr"/>
          <a:lstStyle/>
          <a:p>
            <a:pPr marL="0" indent="0">
              <a:lnSpc>
                <a:spcPts val="2000"/>
              </a:lnSpc>
              <a:buNone/>
            </a:pPr>
            <a:r>
              <a:rPr lang="en-US" sz="1600" b="1" dirty="0">
                <a:solidFill>
                  <a:srgbClr val="0D1319"/>
                </a:solidFill>
                <a:latin typeface="Cambria" pitchFamily="34" charset="0"/>
                <a:ea typeface="Cambria" pitchFamily="34" charset="-122"/>
                <a:cs typeface="Cambria" pitchFamily="34" charset="-120"/>
              </a:rPr>
              <a:t>That is respectability politics, encoded</a:t>
            </a:r>
            <a:endParaRPr lang="en-US" sz="1600" dirty="0"/>
          </a:p>
        </p:txBody>
      </p:sp>
      <p:sp>
        <p:nvSpPr>
          <p:cNvPr id="9" name="Text 7"/>
          <p:cNvSpPr txBox="1"/>
          <p:nvPr/>
        </p:nvSpPr>
        <p:spPr>
          <a:xfrm>
            <a:off x="914400" y="4251960"/>
            <a:ext cx="2905658" cy="1234440"/>
          </a:xfrm>
          <a:prstGeom prst="rect">
            <a:avLst/>
          </a:prstGeom>
          <a:noFill/>
          <a:ln/>
        </p:spPr>
        <p:txBody>
          <a:bodyPr wrap="square" lIns="0" tIns="0" rIns="0" bIns="0" rtlCol="0" anchor="ctr"/>
          <a:lstStyle/>
          <a:p>
            <a:pPr marL="0" indent="0">
              <a:lnSpc>
                <a:spcPts val="1600"/>
              </a:lnSpc>
              <a:buNone/>
            </a:pPr>
            <a:r>
              <a:rPr lang="en-US" sz="1200" dirty="0">
                <a:solidFill>
                  <a:srgbClr val="5C6672"/>
                </a:solidFill>
                <a:latin typeface="Calibri" pitchFamily="34" charset="0"/>
                <a:ea typeface="Calibri" pitchFamily="34" charset="-122"/>
                <a:cs typeface="Calibri" pitchFamily="34" charset="-120"/>
              </a:rPr>
              <a:t>The rule asserts that the legitimacy of a demand for freedom depends on how palatable the demand is to the people refusing it. Stated as a sentence, almost nobody would defend it. Stated as a meter, it feels like realism.</a:t>
            </a:r>
            <a:endParaRPr lang="en-US" sz="1200" dirty="0"/>
          </a:p>
        </p:txBody>
      </p:sp>
      <p:sp>
        <p:nvSpPr>
          <p:cNvPr id="10" name="Shape 8"/>
          <p:cNvSpPr/>
          <p:nvPr/>
        </p:nvSpPr>
        <p:spPr>
          <a:xfrm>
            <a:off x="4368698" y="3154680"/>
            <a:ext cx="3454298" cy="2423160"/>
          </a:xfrm>
          <a:prstGeom prst="roundRect">
            <a:avLst>
              <a:gd name="adj" fmla="val 3019"/>
            </a:avLst>
          </a:prstGeom>
          <a:solidFill>
            <a:srgbClr val="F2F2F0"/>
          </a:solidFill>
          <a:ln w="12700">
            <a:solidFill>
              <a:srgbClr val="F2F2F0"/>
            </a:solidFill>
            <a:prstDash val="solid"/>
          </a:ln>
        </p:spPr>
        <p:txBody>
          <a:bodyPr/>
          <a:lstStyle/>
          <a:p>
            <a:endParaRPr lang="en-US"/>
          </a:p>
        </p:txBody>
      </p:sp>
      <p:sp>
        <p:nvSpPr>
          <p:cNvPr id="11" name="Text 9"/>
          <p:cNvSpPr txBox="1"/>
          <p:nvPr/>
        </p:nvSpPr>
        <p:spPr>
          <a:xfrm>
            <a:off x="4643018" y="3364992"/>
            <a:ext cx="2905658" cy="822960"/>
          </a:xfrm>
          <a:prstGeom prst="rect">
            <a:avLst/>
          </a:prstGeom>
          <a:noFill/>
          <a:ln/>
        </p:spPr>
        <p:txBody>
          <a:bodyPr wrap="square" lIns="0" tIns="0" rIns="0" bIns="0" rtlCol="0" anchor="ctr"/>
          <a:lstStyle/>
          <a:p>
            <a:pPr marL="0" indent="0">
              <a:lnSpc>
                <a:spcPts val="2000"/>
              </a:lnSpc>
              <a:buNone/>
            </a:pPr>
            <a:r>
              <a:rPr lang="en-US" sz="1600" b="1" dirty="0">
                <a:solidFill>
                  <a:srgbClr val="0D1319"/>
                </a:solidFill>
                <a:latin typeface="Cambria" pitchFamily="34" charset="0"/>
                <a:ea typeface="Cambria" pitchFamily="34" charset="-122"/>
                <a:cs typeface="Cambria" pitchFamily="34" charset="-120"/>
              </a:rPr>
              <a:t>It cannot represent the actual debate</a:t>
            </a:r>
            <a:endParaRPr lang="en-US" sz="1600" dirty="0"/>
          </a:p>
        </p:txBody>
      </p:sp>
      <p:sp>
        <p:nvSpPr>
          <p:cNvPr id="12" name="Text 10"/>
          <p:cNvSpPr txBox="1"/>
          <p:nvPr/>
        </p:nvSpPr>
        <p:spPr>
          <a:xfrm>
            <a:off x="4643018" y="4251960"/>
            <a:ext cx="2905658" cy="1234440"/>
          </a:xfrm>
          <a:prstGeom prst="rect">
            <a:avLst/>
          </a:prstGeom>
          <a:noFill/>
          <a:ln/>
        </p:spPr>
        <p:txBody>
          <a:bodyPr wrap="square" lIns="0" tIns="0" rIns="0" bIns="0" rtlCol="0" anchor="ctr"/>
          <a:lstStyle/>
          <a:p>
            <a:pPr marL="0" indent="0">
              <a:lnSpc>
                <a:spcPts val="1600"/>
              </a:lnSpc>
              <a:buNone/>
            </a:pPr>
            <a:r>
              <a:rPr lang="en-US" sz="1200" dirty="0">
                <a:solidFill>
                  <a:srgbClr val="5C6672"/>
                </a:solidFill>
                <a:latin typeface="Calibri" pitchFamily="34" charset="0"/>
                <a:ea typeface="Calibri" pitchFamily="34" charset="-122"/>
                <a:cs typeface="Calibri" pitchFamily="34" charset="-120"/>
              </a:rPr>
              <a:t>Every movement the game borrows from contained a serious internal argument about tactics, in which non-violence was a strategic and moral position defended on its merits. A meter does not argue. It scores.</a:t>
            </a:r>
            <a:endParaRPr lang="en-US" sz="1200" dirty="0"/>
          </a:p>
        </p:txBody>
      </p:sp>
      <p:sp>
        <p:nvSpPr>
          <p:cNvPr id="13" name="Shape 11"/>
          <p:cNvSpPr/>
          <p:nvPr/>
        </p:nvSpPr>
        <p:spPr>
          <a:xfrm>
            <a:off x="8097317" y="3154680"/>
            <a:ext cx="3454298" cy="2423160"/>
          </a:xfrm>
          <a:prstGeom prst="roundRect">
            <a:avLst>
              <a:gd name="adj" fmla="val 3019"/>
            </a:avLst>
          </a:prstGeom>
          <a:solidFill>
            <a:srgbClr val="E6EFF5"/>
          </a:solidFill>
          <a:ln w="12700">
            <a:solidFill>
              <a:srgbClr val="E6EFF5"/>
            </a:solidFill>
            <a:prstDash val="solid"/>
          </a:ln>
        </p:spPr>
        <p:txBody>
          <a:bodyPr/>
          <a:lstStyle/>
          <a:p>
            <a:endParaRPr lang="en-US"/>
          </a:p>
        </p:txBody>
      </p:sp>
      <p:sp>
        <p:nvSpPr>
          <p:cNvPr id="14" name="Text 12"/>
          <p:cNvSpPr txBox="1"/>
          <p:nvPr/>
        </p:nvSpPr>
        <p:spPr>
          <a:xfrm>
            <a:off x="8371637" y="3364992"/>
            <a:ext cx="2905658" cy="822960"/>
          </a:xfrm>
          <a:prstGeom prst="rect">
            <a:avLst/>
          </a:prstGeom>
          <a:noFill/>
          <a:ln/>
        </p:spPr>
        <p:txBody>
          <a:bodyPr wrap="square" lIns="0" tIns="0" rIns="0" bIns="0" rtlCol="0" anchor="ctr"/>
          <a:lstStyle/>
          <a:p>
            <a:pPr marL="0" indent="0">
              <a:lnSpc>
                <a:spcPts val="2000"/>
              </a:lnSpc>
              <a:buNone/>
            </a:pPr>
            <a:r>
              <a:rPr lang="en-US" sz="1600" b="1" dirty="0">
                <a:solidFill>
                  <a:srgbClr val="35719C"/>
                </a:solidFill>
                <a:latin typeface="Cambria" pitchFamily="34" charset="0"/>
                <a:ea typeface="Cambria" pitchFamily="34" charset="-122"/>
                <a:cs typeface="Cambria" pitchFamily="34" charset="-120"/>
              </a:rPr>
              <a:t>And it puts the player in the wrong chair</a:t>
            </a:r>
            <a:endParaRPr lang="en-US" sz="1600" dirty="0"/>
          </a:p>
        </p:txBody>
      </p:sp>
      <p:sp>
        <p:nvSpPr>
          <p:cNvPr id="15" name="Text 13"/>
          <p:cNvSpPr txBox="1"/>
          <p:nvPr/>
        </p:nvSpPr>
        <p:spPr>
          <a:xfrm>
            <a:off x="8371637" y="4251960"/>
            <a:ext cx="2905658" cy="1234440"/>
          </a:xfrm>
          <a:prstGeom prst="rect">
            <a:avLst/>
          </a:prstGeom>
          <a:noFill/>
          <a:ln/>
        </p:spPr>
        <p:txBody>
          <a:bodyPr wrap="square" lIns="0" tIns="0" rIns="0" bIns="0" rtlCol="0" anchor="ctr"/>
          <a:lstStyle/>
          <a:p>
            <a:pPr marL="0" indent="0">
              <a:lnSpc>
                <a:spcPts val="1600"/>
              </a:lnSpc>
              <a:buNone/>
            </a:pPr>
            <a:r>
              <a:rPr lang="en-US" sz="1200" dirty="0">
                <a:solidFill>
                  <a:srgbClr val="5C6672"/>
                </a:solidFill>
                <a:latin typeface="Calibri" pitchFamily="34" charset="0"/>
                <a:ea typeface="Calibri" pitchFamily="34" charset="-122"/>
                <a:cs typeface="Calibri" pitchFamily="34" charset="-120"/>
              </a:rPr>
              <a:t>To play well you must model the oppressor’s comfort and optimise for it. The game asks you to identify with the movement while giving you the oppressor’s scoreboard as your interface.</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35719C"/>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THE CRITIQUE · THREE</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Procedural rhetoric is involuntary</a:t>
            </a:r>
            <a:endParaRPr lang="en-US" sz="3000" dirty="0"/>
          </a:p>
        </p:txBody>
      </p:sp>
      <p:sp>
        <p:nvSpPr>
          <p:cNvPr id="5" name="Shape 3"/>
          <p:cNvSpPr/>
          <p:nvPr/>
        </p:nvSpPr>
        <p:spPr>
          <a:xfrm>
            <a:off x="640080" y="1600200"/>
            <a:ext cx="5852160" cy="2286000"/>
          </a:xfrm>
          <a:prstGeom prst="roundRect">
            <a:avLst>
              <a:gd name="adj" fmla="val 3200"/>
            </a:avLst>
          </a:prstGeom>
          <a:solidFill>
            <a:srgbClr val="F2F2F0"/>
          </a:solidFill>
          <a:ln w="12700">
            <a:solidFill>
              <a:srgbClr val="F2F2F0"/>
            </a:solidFill>
            <a:prstDash val="solid"/>
          </a:ln>
        </p:spPr>
        <p:txBody>
          <a:bodyPr/>
          <a:lstStyle/>
          <a:p>
            <a:endParaRPr lang="en-US"/>
          </a:p>
        </p:txBody>
      </p:sp>
      <p:sp>
        <p:nvSpPr>
          <p:cNvPr id="6" name="Text 4"/>
          <p:cNvSpPr txBox="1"/>
          <p:nvPr/>
        </p:nvSpPr>
        <p:spPr>
          <a:xfrm>
            <a:off x="987552" y="1810512"/>
            <a:ext cx="5166360" cy="329184"/>
          </a:xfrm>
          <a:prstGeom prst="rect">
            <a:avLst/>
          </a:prstGeom>
          <a:noFill/>
          <a:ln/>
        </p:spPr>
        <p:txBody>
          <a:bodyPr wrap="square" lIns="0" tIns="0" rIns="0" bIns="0" rtlCol="0" anchor="ctr"/>
          <a:lstStyle/>
          <a:p>
            <a:pPr marL="0" indent="0">
              <a:buNone/>
            </a:pPr>
            <a:r>
              <a:rPr lang="en-US" sz="1800" b="1" dirty="0">
                <a:solidFill>
                  <a:srgbClr val="0D1319"/>
                </a:solidFill>
                <a:latin typeface="Cambria" pitchFamily="34" charset="0"/>
                <a:ea typeface="Cambria" pitchFamily="34" charset="-122"/>
                <a:cs typeface="Cambria" pitchFamily="34" charset="-120"/>
              </a:rPr>
              <a:t>The disclaimer does not work</a:t>
            </a:r>
            <a:endParaRPr lang="en-US" sz="1800" dirty="0"/>
          </a:p>
        </p:txBody>
      </p:sp>
      <p:sp>
        <p:nvSpPr>
          <p:cNvPr id="7" name="Text 5"/>
          <p:cNvSpPr txBox="1"/>
          <p:nvPr/>
        </p:nvSpPr>
        <p:spPr>
          <a:xfrm>
            <a:off x="987552" y="2267712"/>
            <a:ext cx="5212080" cy="150876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Detroit’s director has repeatedly resisted political readings of the game, presenting it as a story about empathy rather than a statement. Take that at face value and the problem gets worse, not better: it means the argument in the rules was made without anyone deciding to make it.</a:t>
            </a:r>
            <a:endParaRPr lang="en-US" sz="1250" dirty="0"/>
          </a:p>
          <a:p>
            <a:pPr marL="0" indent="0">
              <a:lnSpc>
                <a:spcPts val="1700"/>
              </a:lnSpc>
              <a:buNone/>
            </a:pPr>
            <a:endParaRPr lang="en-US" sz="1250" dirty="0"/>
          </a:p>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You do not get to opt out of procedural rhetoric. If you build a working model of a liberation movement, the model has a theory of liberation movements whether you wrote one or not.</a:t>
            </a:r>
            <a:endParaRPr lang="en-US" sz="1250" dirty="0"/>
          </a:p>
        </p:txBody>
      </p:sp>
      <p:sp>
        <p:nvSpPr>
          <p:cNvPr id="8" name="Shape 6"/>
          <p:cNvSpPr/>
          <p:nvPr/>
        </p:nvSpPr>
        <p:spPr>
          <a:xfrm>
            <a:off x="6812280" y="1600200"/>
            <a:ext cx="4718304" cy="1170432"/>
          </a:xfrm>
          <a:prstGeom prst="roundRect">
            <a:avLst>
              <a:gd name="adj" fmla="val 6250"/>
            </a:avLst>
          </a:prstGeom>
          <a:solidFill>
            <a:srgbClr val="F2F2F0"/>
          </a:solidFill>
          <a:ln w="12700">
            <a:solidFill>
              <a:srgbClr val="F2F2F0"/>
            </a:solidFill>
            <a:prstDash val="solid"/>
          </a:ln>
        </p:spPr>
        <p:txBody>
          <a:bodyPr/>
          <a:lstStyle/>
          <a:p>
            <a:endParaRPr lang="en-US"/>
          </a:p>
        </p:txBody>
      </p:sp>
      <p:sp>
        <p:nvSpPr>
          <p:cNvPr id="9" name="Text 7"/>
          <p:cNvSpPr txBox="1"/>
          <p:nvPr/>
        </p:nvSpPr>
        <p:spPr>
          <a:xfrm>
            <a:off x="7086600" y="1737360"/>
            <a:ext cx="4169664" cy="292608"/>
          </a:xfrm>
          <a:prstGeom prst="rect">
            <a:avLst/>
          </a:prstGeom>
          <a:noFill/>
          <a:ln/>
        </p:spPr>
        <p:txBody>
          <a:bodyPr wrap="square" lIns="0" tIns="0" rIns="0" bIns="0" rtlCol="0" anchor="ctr"/>
          <a:lstStyle/>
          <a:p>
            <a:pPr marL="0" indent="0">
              <a:buNone/>
            </a:pPr>
            <a:r>
              <a:rPr lang="en-US" sz="1450" b="1" dirty="0">
                <a:solidFill>
                  <a:srgbClr val="0D1319"/>
                </a:solidFill>
                <a:latin typeface="Cambria" pitchFamily="34" charset="0"/>
                <a:ea typeface="Cambria" pitchFamily="34" charset="-122"/>
                <a:cs typeface="Cambria" pitchFamily="34" charset="-120"/>
              </a:rPr>
              <a:t>The general principle</a:t>
            </a:r>
            <a:endParaRPr lang="en-US" sz="1450" dirty="0"/>
          </a:p>
        </p:txBody>
      </p:sp>
      <p:sp>
        <p:nvSpPr>
          <p:cNvPr id="10" name="Text 8"/>
          <p:cNvSpPr txBox="1"/>
          <p:nvPr/>
        </p:nvSpPr>
        <p:spPr>
          <a:xfrm>
            <a:off x="7086600" y="2075688"/>
            <a:ext cx="4169664" cy="621792"/>
          </a:xfrm>
          <a:prstGeom prst="rect">
            <a:avLst/>
          </a:prstGeom>
          <a:noFill/>
          <a:ln/>
        </p:spPr>
        <p:txBody>
          <a:bodyPr wrap="square" lIns="0" tIns="0" rIns="0" bIns="0" rtlCol="0" anchor="ctr"/>
          <a:lstStyle/>
          <a:p>
            <a:pPr marL="0" indent="0">
              <a:lnSpc>
                <a:spcPts val="1500"/>
              </a:lnSpc>
              <a:buNone/>
            </a:pPr>
            <a:r>
              <a:rPr lang="en-US" sz="1150" dirty="0">
                <a:solidFill>
                  <a:srgbClr val="5C6672"/>
                </a:solidFill>
                <a:latin typeface="Calibri" pitchFamily="34" charset="0"/>
                <a:ea typeface="Calibri" pitchFamily="34" charset="-122"/>
                <a:cs typeface="Calibri" pitchFamily="34" charset="-120"/>
              </a:rPr>
              <a:t>Every system that scores conduct encodes a theory of good conduct — ranking, moderation, credit scoring, performance review. Same structure, no author who thinks they are arguing.</a:t>
            </a:r>
            <a:endParaRPr lang="en-US" sz="1150" dirty="0"/>
          </a:p>
        </p:txBody>
      </p:sp>
      <p:sp>
        <p:nvSpPr>
          <p:cNvPr id="11" name="Shape 9"/>
          <p:cNvSpPr/>
          <p:nvPr/>
        </p:nvSpPr>
        <p:spPr>
          <a:xfrm>
            <a:off x="6812280" y="2898648"/>
            <a:ext cx="4718304" cy="1170432"/>
          </a:xfrm>
          <a:prstGeom prst="roundRect">
            <a:avLst>
              <a:gd name="adj" fmla="val 6250"/>
            </a:avLst>
          </a:prstGeom>
          <a:solidFill>
            <a:srgbClr val="E6EFF5"/>
          </a:solidFill>
          <a:ln w="12700">
            <a:solidFill>
              <a:srgbClr val="E6EFF5"/>
            </a:solidFill>
            <a:prstDash val="solid"/>
          </a:ln>
        </p:spPr>
        <p:txBody>
          <a:bodyPr/>
          <a:lstStyle/>
          <a:p>
            <a:endParaRPr lang="en-US"/>
          </a:p>
        </p:txBody>
      </p:sp>
      <p:sp>
        <p:nvSpPr>
          <p:cNvPr id="12" name="Text 10"/>
          <p:cNvSpPr txBox="1"/>
          <p:nvPr/>
        </p:nvSpPr>
        <p:spPr>
          <a:xfrm>
            <a:off x="7086600" y="3035808"/>
            <a:ext cx="4169664" cy="292608"/>
          </a:xfrm>
          <a:prstGeom prst="rect">
            <a:avLst/>
          </a:prstGeom>
          <a:noFill/>
          <a:ln/>
        </p:spPr>
        <p:txBody>
          <a:bodyPr wrap="square" lIns="0" tIns="0" rIns="0" bIns="0" rtlCol="0" anchor="ctr"/>
          <a:lstStyle/>
          <a:p>
            <a:pPr marL="0" indent="0">
              <a:buNone/>
            </a:pPr>
            <a:r>
              <a:rPr lang="en-US" sz="1450" b="1" dirty="0">
                <a:solidFill>
                  <a:srgbClr val="35719C"/>
                </a:solidFill>
                <a:latin typeface="Cambria" pitchFamily="34" charset="0"/>
                <a:ea typeface="Cambria" pitchFamily="34" charset="-122"/>
                <a:cs typeface="Cambria" pitchFamily="34" charset="-120"/>
              </a:rPr>
              <a:t>Why this course cares</a:t>
            </a:r>
            <a:endParaRPr lang="en-US" sz="1450" dirty="0"/>
          </a:p>
        </p:txBody>
      </p:sp>
      <p:sp>
        <p:nvSpPr>
          <p:cNvPr id="13" name="Text 11"/>
          <p:cNvSpPr txBox="1"/>
          <p:nvPr/>
        </p:nvSpPr>
        <p:spPr>
          <a:xfrm>
            <a:off x="7086600" y="3374136"/>
            <a:ext cx="4169664" cy="621792"/>
          </a:xfrm>
          <a:prstGeom prst="rect">
            <a:avLst/>
          </a:prstGeom>
          <a:noFill/>
          <a:ln/>
        </p:spPr>
        <p:txBody>
          <a:bodyPr wrap="square" lIns="0" tIns="0" rIns="0" bIns="0" rtlCol="0" anchor="ctr"/>
          <a:lstStyle/>
          <a:p>
            <a:pPr marL="0" indent="0">
              <a:lnSpc>
                <a:spcPts val="1500"/>
              </a:lnSpc>
              <a:buNone/>
            </a:pPr>
            <a:r>
              <a:rPr lang="en-US" sz="1150" dirty="0">
                <a:solidFill>
                  <a:srgbClr val="5C6672"/>
                </a:solidFill>
                <a:latin typeface="Calibri" pitchFamily="34" charset="0"/>
                <a:ea typeface="Calibri" pitchFamily="34" charset="-122"/>
                <a:cs typeface="Calibri" pitchFamily="34" charset="-120"/>
              </a:rPr>
              <a:t>You will build systems. “It is neutral because nobody intended a claim” is among the most common false statements in technical work.</a:t>
            </a:r>
            <a:endParaRPr lang="en-US" sz="1150" dirty="0"/>
          </a:p>
        </p:txBody>
      </p:sp>
      <p:sp>
        <p:nvSpPr>
          <p:cNvPr id="14" name="Shape 12"/>
          <p:cNvSpPr/>
          <p:nvPr/>
        </p:nvSpPr>
        <p:spPr>
          <a:xfrm>
            <a:off x="640080" y="4224528"/>
            <a:ext cx="10911535" cy="1554480"/>
          </a:xfrm>
          <a:prstGeom prst="roundRect">
            <a:avLst>
              <a:gd name="adj" fmla="val 4706"/>
            </a:avLst>
          </a:prstGeom>
          <a:solidFill>
            <a:srgbClr val="0D1319"/>
          </a:solidFill>
          <a:ln w="12700">
            <a:solidFill>
              <a:srgbClr val="0D1319"/>
            </a:solidFill>
            <a:prstDash val="solid"/>
          </a:ln>
        </p:spPr>
        <p:txBody>
          <a:bodyPr/>
          <a:lstStyle/>
          <a:p>
            <a:endParaRPr lang="en-US"/>
          </a:p>
        </p:txBody>
      </p:sp>
      <p:sp>
        <p:nvSpPr>
          <p:cNvPr id="15" name="Text 13"/>
          <p:cNvSpPr txBox="1"/>
          <p:nvPr/>
        </p:nvSpPr>
        <p:spPr>
          <a:xfrm>
            <a:off x="1005840" y="4389120"/>
            <a:ext cx="10424160" cy="310896"/>
          </a:xfrm>
          <a:prstGeom prst="rect">
            <a:avLst/>
          </a:prstGeom>
          <a:noFill/>
          <a:ln/>
        </p:spPr>
        <p:txBody>
          <a:bodyPr wrap="square" lIns="0" tIns="0" rIns="0" bIns="0" rtlCol="0" anchor="ctr"/>
          <a:lstStyle/>
          <a:p>
            <a:pPr marL="0" indent="0">
              <a:buNone/>
            </a:pPr>
            <a:r>
              <a:rPr lang="en-US" sz="1700" b="1" dirty="0">
                <a:solidFill>
                  <a:srgbClr val="8FBBD6"/>
                </a:solidFill>
                <a:latin typeface="Cambria" pitchFamily="34" charset="0"/>
                <a:ea typeface="Cambria" pitchFamily="34" charset="-122"/>
                <a:cs typeface="Cambria" pitchFamily="34" charset="-120"/>
              </a:rPr>
              <a:t>Agency as alibi</a:t>
            </a:r>
            <a:endParaRPr lang="en-US" sz="1700" dirty="0"/>
          </a:p>
        </p:txBody>
      </p:sp>
      <p:sp>
        <p:nvSpPr>
          <p:cNvPr id="16" name="Text 14"/>
          <p:cNvSpPr txBox="1"/>
          <p:nvPr/>
        </p:nvSpPr>
        <p:spPr>
          <a:xfrm>
            <a:off x="1005840" y="4754880"/>
            <a:ext cx="10424160" cy="914400"/>
          </a:xfrm>
          <a:prstGeom prst="rect">
            <a:avLst/>
          </a:prstGeom>
          <a:noFill/>
          <a:ln/>
        </p:spPr>
        <p:txBody>
          <a:bodyPr wrap="square" lIns="0" tIns="0" rIns="0" bIns="0" rtlCol="0" anchor="ctr"/>
          <a:lstStyle/>
          <a:p>
            <a:pPr marL="0" indent="0">
              <a:lnSpc>
                <a:spcPts val="1800"/>
              </a:lnSpc>
              <a:buNone/>
            </a:pPr>
            <a:r>
              <a:rPr lang="en-US" sz="1300" dirty="0">
                <a:solidFill>
                  <a:srgbClr val="E9EDEA"/>
                </a:solidFill>
                <a:latin typeface="Calibri" pitchFamily="34" charset="0"/>
                <a:ea typeface="Calibri" pitchFamily="34" charset="-122"/>
                <a:cs typeface="Calibri" pitchFamily="34" charset="-120"/>
              </a:rPr>
              <a:t>And here is the deeper move. Offering a choice lets an author disclaim the outcome. “You chose the violent path” is a sentence only available to someone who wrote both branches and set the price of each. The transfer of responsibility to the player is also a transfer of responsibility away from the designer — and it is not a fair trade, because only one party wrote the rules.</a:t>
            </a:r>
            <a:endParaRPr lang="en-US" sz="1300" dirty="0"/>
          </a:p>
        </p:txBody>
      </p:sp>
      <p:sp>
        <p:nvSpPr>
          <p:cNvPr id="17" name="Text 15"/>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C6672"/>
                </a:solidFill>
                <a:latin typeface="Calibri" pitchFamily="34" charset="0"/>
                <a:ea typeface="Calibri" pitchFamily="34" charset="-122"/>
                <a:cs typeface="Calibri" pitchFamily="34" charset="-120"/>
              </a:rPr>
              <a:t>If you want to quote the director directly, pull a specific interview — his framing shifted across the press cycle, so cite precisely.</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35719C"/>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THE CRITIQUE · CLOSING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What the failure teaches</a:t>
            </a:r>
            <a:endParaRPr lang="en-US" sz="3000" dirty="0"/>
          </a:p>
        </p:txBody>
      </p:sp>
      <p:sp>
        <p:nvSpPr>
          <p:cNvPr id="5" name="Shape 3"/>
          <p:cNvSpPr/>
          <p:nvPr/>
        </p:nvSpPr>
        <p:spPr>
          <a:xfrm>
            <a:off x="640080" y="1645920"/>
            <a:ext cx="5295748" cy="1691640"/>
          </a:xfrm>
          <a:prstGeom prst="roundRect">
            <a:avLst>
              <a:gd name="adj" fmla="val 4324"/>
            </a:avLst>
          </a:prstGeom>
          <a:solidFill>
            <a:srgbClr val="F2F2F0"/>
          </a:solidFill>
          <a:ln w="12700">
            <a:solidFill>
              <a:srgbClr val="F2F2F0"/>
            </a:solidFill>
            <a:prstDash val="solid"/>
          </a:ln>
        </p:spPr>
        <p:txBody>
          <a:bodyPr/>
          <a:lstStyle/>
          <a:p>
            <a:endParaRPr lang="en-US"/>
          </a:p>
        </p:txBody>
      </p:sp>
      <p:sp>
        <p:nvSpPr>
          <p:cNvPr id="6" name="Shape 4"/>
          <p:cNvSpPr/>
          <p:nvPr/>
        </p:nvSpPr>
        <p:spPr>
          <a:xfrm>
            <a:off x="960120" y="1938528"/>
            <a:ext cx="384048" cy="384048"/>
          </a:xfrm>
          <a:prstGeom prst="ellipse">
            <a:avLst/>
          </a:prstGeom>
          <a:solidFill>
            <a:srgbClr val="0D1319"/>
          </a:solidFill>
          <a:ln/>
        </p:spPr>
        <p:txBody>
          <a:bodyPr/>
          <a:lstStyle/>
          <a:p>
            <a:endParaRPr lang="en-US"/>
          </a:p>
        </p:txBody>
      </p:sp>
      <p:sp>
        <p:nvSpPr>
          <p:cNvPr id="7" name="Text 5"/>
          <p:cNvSpPr txBox="1"/>
          <p:nvPr/>
        </p:nvSpPr>
        <p:spPr>
          <a:xfrm>
            <a:off x="960120" y="19385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600200" y="1901952"/>
            <a:ext cx="4015588" cy="457200"/>
          </a:xfrm>
          <a:prstGeom prst="rect">
            <a:avLst/>
          </a:prstGeom>
          <a:noFill/>
          <a:ln/>
        </p:spPr>
        <p:txBody>
          <a:bodyPr wrap="square" lIns="0" tIns="0" rIns="0" bIns="0" rtlCol="0" anchor="ctr"/>
          <a:lstStyle/>
          <a:p>
            <a:pPr marL="0" indent="0">
              <a:lnSpc>
                <a:spcPts val="2100"/>
              </a:lnSpc>
              <a:buNone/>
            </a:pPr>
            <a:r>
              <a:rPr lang="en-US" sz="1750" b="1" dirty="0">
                <a:solidFill>
                  <a:srgbClr val="0D1319"/>
                </a:solidFill>
                <a:latin typeface="Cambria" pitchFamily="34" charset="0"/>
                <a:ea typeface="Cambria" pitchFamily="34" charset="-122"/>
                <a:cs typeface="Cambria" pitchFamily="34" charset="-120"/>
              </a:rPr>
              <a:t>A rule can say what the script does not</a:t>
            </a:r>
            <a:endParaRPr lang="en-US" sz="1750" dirty="0"/>
          </a:p>
        </p:txBody>
      </p:sp>
      <p:sp>
        <p:nvSpPr>
          <p:cNvPr id="9" name="Text 7"/>
          <p:cNvSpPr txBox="1"/>
          <p:nvPr/>
        </p:nvSpPr>
        <p:spPr>
          <a:xfrm>
            <a:off x="960120" y="2514600"/>
            <a:ext cx="4655668" cy="73152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And when they conflict the rule wins, because you had to satisfy it to proceed. Read the model before you read the dialogue.</a:t>
            </a:r>
            <a:endParaRPr lang="en-US" sz="1250" dirty="0"/>
          </a:p>
        </p:txBody>
      </p:sp>
      <p:sp>
        <p:nvSpPr>
          <p:cNvPr id="10" name="Shape 8"/>
          <p:cNvSpPr/>
          <p:nvPr/>
        </p:nvSpPr>
        <p:spPr>
          <a:xfrm>
            <a:off x="6255868" y="1645920"/>
            <a:ext cx="5295748" cy="1691640"/>
          </a:xfrm>
          <a:prstGeom prst="roundRect">
            <a:avLst>
              <a:gd name="adj" fmla="val 4324"/>
            </a:avLst>
          </a:prstGeom>
          <a:solidFill>
            <a:srgbClr val="E6EFF5"/>
          </a:solidFill>
          <a:ln w="12700">
            <a:solidFill>
              <a:srgbClr val="E6EFF5"/>
            </a:solidFill>
            <a:prstDash val="solid"/>
          </a:ln>
        </p:spPr>
        <p:txBody>
          <a:bodyPr/>
          <a:lstStyle/>
          <a:p>
            <a:endParaRPr lang="en-US"/>
          </a:p>
        </p:txBody>
      </p:sp>
      <p:sp>
        <p:nvSpPr>
          <p:cNvPr id="11" name="Shape 9"/>
          <p:cNvSpPr/>
          <p:nvPr/>
        </p:nvSpPr>
        <p:spPr>
          <a:xfrm>
            <a:off x="6575908" y="1938528"/>
            <a:ext cx="384048" cy="384048"/>
          </a:xfrm>
          <a:prstGeom prst="ellipse">
            <a:avLst/>
          </a:prstGeom>
          <a:solidFill>
            <a:srgbClr val="35719C"/>
          </a:solidFill>
          <a:ln/>
        </p:spPr>
        <p:txBody>
          <a:bodyPr/>
          <a:lstStyle/>
          <a:p>
            <a:endParaRPr lang="en-US"/>
          </a:p>
        </p:txBody>
      </p:sp>
      <p:sp>
        <p:nvSpPr>
          <p:cNvPr id="12" name="Text 10"/>
          <p:cNvSpPr txBox="1"/>
          <p:nvPr/>
        </p:nvSpPr>
        <p:spPr>
          <a:xfrm>
            <a:off x="6575908" y="19385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7215988" y="1901952"/>
            <a:ext cx="4015588" cy="457200"/>
          </a:xfrm>
          <a:prstGeom prst="rect">
            <a:avLst/>
          </a:prstGeom>
          <a:noFill/>
          <a:ln/>
        </p:spPr>
        <p:txBody>
          <a:bodyPr wrap="square" lIns="0" tIns="0" rIns="0" bIns="0" rtlCol="0" anchor="ctr"/>
          <a:lstStyle/>
          <a:p>
            <a:pPr marL="0" indent="0">
              <a:lnSpc>
                <a:spcPts val="2100"/>
              </a:lnSpc>
              <a:buNone/>
            </a:pPr>
            <a:r>
              <a:rPr lang="en-US" sz="1750" b="1" dirty="0">
                <a:solidFill>
                  <a:srgbClr val="0D1319"/>
                </a:solidFill>
                <a:latin typeface="Cambria" pitchFamily="34" charset="0"/>
                <a:ea typeface="Cambria" pitchFamily="34" charset="-122"/>
                <a:cs typeface="Cambria" pitchFamily="34" charset="-120"/>
              </a:rPr>
              <a:t>Borrowed images carry arguments</a:t>
            </a:r>
            <a:endParaRPr lang="en-US" sz="1750" dirty="0"/>
          </a:p>
        </p:txBody>
      </p:sp>
      <p:sp>
        <p:nvSpPr>
          <p:cNvPr id="14" name="Text 12"/>
          <p:cNvSpPr txBox="1"/>
          <p:nvPr/>
        </p:nvSpPr>
        <p:spPr>
          <a:xfrm>
            <a:off x="6575908" y="2514600"/>
            <a:ext cx="4655668" cy="73152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Iconography is not decoration. Lifting it imports a set of claims about history that you are now making, competently or otherwise.</a:t>
            </a:r>
            <a:endParaRPr lang="en-US" sz="1250" dirty="0"/>
          </a:p>
        </p:txBody>
      </p:sp>
      <p:sp>
        <p:nvSpPr>
          <p:cNvPr id="15" name="Shape 13"/>
          <p:cNvSpPr/>
          <p:nvPr/>
        </p:nvSpPr>
        <p:spPr>
          <a:xfrm>
            <a:off x="640080" y="3520440"/>
            <a:ext cx="5295748" cy="1691640"/>
          </a:xfrm>
          <a:prstGeom prst="roundRect">
            <a:avLst>
              <a:gd name="adj" fmla="val 4324"/>
            </a:avLst>
          </a:prstGeom>
          <a:solidFill>
            <a:srgbClr val="F2F2F0"/>
          </a:solidFill>
          <a:ln w="12700">
            <a:solidFill>
              <a:srgbClr val="F2F2F0"/>
            </a:solidFill>
            <a:prstDash val="solid"/>
          </a:ln>
        </p:spPr>
        <p:txBody>
          <a:bodyPr/>
          <a:lstStyle/>
          <a:p>
            <a:endParaRPr lang="en-US"/>
          </a:p>
        </p:txBody>
      </p:sp>
      <p:sp>
        <p:nvSpPr>
          <p:cNvPr id="16" name="Shape 14"/>
          <p:cNvSpPr/>
          <p:nvPr/>
        </p:nvSpPr>
        <p:spPr>
          <a:xfrm>
            <a:off x="960120" y="3813048"/>
            <a:ext cx="384048" cy="384048"/>
          </a:xfrm>
          <a:prstGeom prst="ellipse">
            <a:avLst/>
          </a:prstGeom>
          <a:solidFill>
            <a:srgbClr val="0D1319"/>
          </a:solidFill>
          <a:ln/>
        </p:spPr>
        <p:txBody>
          <a:bodyPr/>
          <a:lstStyle/>
          <a:p>
            <a:endParaRPr lang="en-US"/>
          </a:p>
        </p:txBody>
      </p:sp>
      <p:sp>
        <p:nvSpPr>
          <p:cNvPr id="17" name="Text 15"/>
          <p:cNvSpPr txBox="1"/>
          <p:nvPr/>
        </p:nvSpPr>
        <p:spPr>
          <a:xfrm>
            <a:off x="960120" y="38130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600200" y="3776472"/>
            <a:ext cx="4015588" cy="457200"/>
          </a:xfrm>
          <a:prstGeom prst="rect">
            <a:avLst/>
          </a:prstGeom>
          <a:noFill/>
          <a:ln/>
        </p:spPr>
        <p:txBody>
          <a:bodyPr wrap="square" lIns="0" tIns="0" rIns="0" bIns="0" rtlCol="0" anchor="ctr"/>
          <a:lstStyle/>
          <a:p>
            <a:pPr marL="0" indent="0">
              <a:lnSpc>
                <a:spcPts val="2100"/>
              </a:lnSpc>
              <a:buNone/>
            </a:pPr>
            <a:r>
              <a:rPr lang="en-US" sz="1750" b="1" dirty="0">
                <a:solidFill>
                  <a:srgbClr val="0D1319"/>
                </a:solidFill>
                <a:latin typeface="Cambria" pitchFamily="34" charset="0"/>
                <a:ea typeface="Cambria" pitchFamily="34" charset="-122"/>
                <a:cs typeface="Cambria" pitchFamily="34" charset="-120"/>
              </a:rPr>
              <a:t>Neutrality is not available</a:t>
            </a:r>
            <a:endParaRPr lang="en-US" sz="1750" dirty="0"/>
          </a:p>
        </p:txBody>
      </p:sp>
      <p:sp>
        <p:nvSpPr>
          <p:cNvPr id="19" name="Text 17"/>
          <p:cNvSpPr txBox="1"/>
          <p:nvPr/>
        </p:nvSpPr>
        <p:spPr>
          <a:xfrm>
            <a:off x="960120" y="4389120"/>
            <a:ext cx="4655668" cy="731520"/>
          </a:xfrm>
          <a:prstGeom prst="rect">
            <a:avLst/>
          </a:prstGeom>
          <a:noFill/>
          <a:ln/>
        </p:spPr>
        <p:txBody>
          <a:bodyPr wrap="square" lIns="0" tIns="0" rIns="0" bIns="0" rtlCol="0" anchor="ctr"/>
          <a:lstStyle/>
          <a:p>
            <a:pPr marL="0" indent="0">
              <a:lnSpc>
                <a:spcPts val="1700"/>
              </a:lnSpc>
              <a:buNone/>
            </a:pPr>
            <a:r>
              <a:rPr lang="en-US" sz="1250" dirty="0">
                <a:solidFill>
                  <a:srgbClr val="5C6672"/>
                </a:solidFill>
                <a:latin typeface="Calibri" pitchFamily="34" charset="0"/>
                <a:ea typeface="Calibri" pitchFamily="34" charset="-122"/>
                <a:cs typeface="Calibri" pitchFamily="34" charset="-120"/>
              </a:rPr>
              <a:t>Declining to have a politics is not a way of not having one. It is a way of having one you did not review.</a:t>
            </a:r>
            <a:endParaRPr lang="en-US" sz="1250" dirty="0"/>
          </a:p>
        </p:txBody>
      </p:sp>
      <p:sp>
        <p:nvSpPr>
          <p:cNvPr id="20" name="Shape 18"/>
          <p:cNvSpPr/>
          <p:nvPr/>
        </p:nvSpPr>
        <p:spPr>
          <a:xfrm>
            <a:off x="6255868" y="3520440"/>
            <a:ext cx="5295748" cy="1691640"/>
          </a:xfrm>
          <a:prstGeom prst="roundRect">
            <a:avLst>
              <a:gd name="adj" fmla="val 4324"/>
            </a:avLst>
          </a:prstGeom>
          <a:solidFill>
            <a:srgbClr val="0D1319"/>
          </a:solidFill>
          <a:ln w="12700">
            <a:solidFill>
              <a:srgbClr val="0D1319"/>
            </a:solidFill>
            <a:prstDash val="solid"/>
          </a:ln>
        </p:spPr>
        <p:txBody>
          <a:bodyPr/>
          <a:lstStyle/>
          <a:p>
            <a:endParaRPr lang="en-US"/>
          </a:p>
        </p:txBody>
      </p:sp>
      <p:sp>
        <p:nvSpPr>
          <p:cNvPr id="21" name="Shape 19"/>
          <p:cNvSpPr/>
          <p:nvPr/>
        </p:nvSpPr>
        <p:spPr>
          <a:xfrm>
            <a:off x="6575908" y="3813048"/>
            <a:ext cx="384048" cy="384048"/>
          </a:xfrm>
          <a:prstGeom prst="ellipse">
            <a:avLst/>
          </a:prstGeom>
          <a:solidFill>
            <a:srgbClr val="8FBBD6"/>
          </a:solidFill>
          <a:ln/>
        </p:spPr>
        <p:txBody>
          <a:bodyPr/>
          <a:lstStyle/>
          <a:p>
            <a:endParaRPr lang="en-US"/>
          </a:p>
        </p:txBody>
      </p:sp>
      <p:sp>
        <p:nvSpPr>
          <p:cNvPr id="22" name="Text 20"/>
          <p:cNvSpPr txBox="1"/>
          <p:nvPr/>
        </p:nvSpPr>
        <p:spPr>
          <a:xfrm>
            <a:off x="6575908" y="3813048"/>
            <a:ext cx="384048" cy="384048"/>
          </a:xfrm>
          <a:prstGeom prst="rect">
            <a:avLst/>
          </a:prstGeom>
          <a:noFill/>
          <a:ln/>
        </p:spPr>
        <p:txBody>
          <a:bodyPr wrap="square" lIns="0" tIns="0" rIns="0" bIns="0" rtlCol="0" anchor="ctr"/>
          <a:lstStyle/>
          <a:p>
            <a:pPr marL="0" indent="0" algn="ctr">
              <a:buNone/>
            </a:pPr>
            <a:r>
              <a:rPr lang="en-US" sz="1500" b="1" dirty="0">
                <a:solidFill>
                  <a:srgbClr val="0D1319"/>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7215988" y="3776472"/>
            <a:ext cx="4015588" cy="457200"/>
          </a:xfrm>
          <a:prstGeom prst="rect">
            <a:avLst/>
          </a:prstGeom>
          <a:noFill/>
          <a:ln/>
        </p:spPr>
        <p:txBody>
          <a:bodyPr wrap="square" lIns="0" tIns="0" rIns="0" bIns="0" rtlCol="0" anchor="ctr"/>
          <a:lstStyle/>
          <a:p>
            <a:pPr marL="0" indent="0">
              <a:lnSpc>
                <a:spcPts val="2100"/>
              </a:lnSpc>
              <a:buNone/>
            </a:pPr>
            <a:r>
              <a:rPr lang="en-US" sz="1750" b="1" dirty="0">
                <a:solidFill>
                  <a:srgbClr val="8FBBD6"/>
                </a:solidFill>
                <a:latin typeface="Cambria" pitchFamily="34" charset="0"/>
                <a:ea typeface="Cambria" pitchFamily="34" charset="-122"/>
                <a:cs typeface="Cambria" pitchFamily="34" charset="-120"/>
              </a:rPr>
              <a:t>Choice can be a way of not answering</a:t>
            </a:r>
            <a:endParaRPr lang="en-US" sz="1750" dirty="0"/>
          </a:p>
        </p:txBody>
      </p:sp>
      <p:sp>
        <p:nvSpPr>
          <p:cNvPr id="24" name="Text 22"/>
          <p:cNvSpPr txBox="1"/>
          <p:nvPr/>
        </p:nvSpPr>
        <p:spPr>
          <a:xfrm>
            <a:off x="6575908" y="4389120"/>
            <a:ext cx="4655668" cy="731520"/>
          </a:xfrm>
          <a:prstGeom prst="rect">
            <a:avLst/>
          </a:prstGeom>
          <a:noFill/>
          <a:ln/>
        </p:spPr>
        <p:txBody>
          <a:bodyPr wrap="square" lIns="0" tIns="0" rIns="0" bIns="0" rtlCol="0" anchor="ctr"/>
          <a:lstStyle/>
          <a:p>
            <a:pPr marL="0" indent="0">
              <a:lnSpc>
                <a:spcPts val="1700"/>
              </a:lnSpc>
              <a:buNone/>
            </a:pPr>
            <a:r>
              <a:rPr lang="en-US" sz="1250" dirty="0">
                <a:solidFill>
                  <a:srgbClr val="E9EDEA"/>
                </a:solidFill>
                <a:latin typeface="Calibri" pitchFamily="34" charset="0"/>
                <a:ea typeface="Calibri" pitchFamily="34" charset="-122"/>
                <a:cs typeface="Calibri" pitchFamily="34" charset="-120"/>
              </a:rPr>
              <a:t>A work that lets you decide has sometimes done the hard thinking. It has sometimes just declined to, and dressed the refusal as respect for your agency. Learn to tell which.</a:t>
            </a:r>
            <a:endParaRPr lang="en-US" sz="1250" dirty="0"/>
          </a:p>
        </p:txBody>
      </p:sp>
      <p:sp>
        <p:nvSpPr>
          <p:cNvPr id="25" name="Text 23"/>
          <p:cNvSpPr txBox="1"/>
          <p:nvPr/>
        </p:nvSpPr>
        <p:spPr>
          <a:xfrm>
            <a:off x="640080" y="5532120"/>
            <a:ext cx="10881360" cy="411480"/>
          </a:xfrm>
          <a:prstGeom prst="rect">
            <a:avLst/>
          </a:prstGeom>
          <a:noFill/>
          <a:ln/>
        </p:spPr>
        <p:txBody>
          <a:bodyPr wrap="square" lIns="0" tIns="0" rIns="0" bIns="0" rtlCol="0" anchor="ctr"/>
          <a:lstStyle/>
          <a:p>
            <a:pPr marL="0" indent="0">
              <a:buNone/>
            </a:pPr>
            <a:r>
              <a:rPr lang="en-US" sz="1550" i="1" dirty="0">
                <a:solidFill>
                  <a:srgbClr val="35719C"/>
                </a:solidFill>
                <a:latin typeface="Cambria" pitchFamily="34" charset="0"/>
                <a:ea typeface="Cambria" pitchFamily="34" charset="-122"/>
                <a:cs typeface="Cambria" pitchFamily="34" charset="-120"/>
              </a:rPr>
              <a:t>None of this requires Detroit to be a bad game, and several of you will keep liking it. That is allowed, and it is the more interesting position to have to defend.</a:t>
            </a:r>
            <a:endParaRPr lang="en-US" sz="15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5">
    <p:bg>
      <p:bgPr>
        <a:solidFill>
          <a:srgbClr val="0D1319"/>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7FD0A5"/>
          </a:solidFill>
          <a:ln/>
        </p:spPr>
        <p:txBody>
          <a:bodyPr/>
          <a:lstStyle/>
          <a:p>
            <a:endParaRPr lang="en-US"/>
          </a:p>
        </p:txBody>
      </p:sp>
      <p:sp>
        <p:nvSpPr>
          <p:cNvPr id="3" name="Text 1"/>
          <p:cNvSpPr txBox="1"/>
          <p:nvPr/>
        </p:nvSpPr>
        <p:spPr>
          <a:xfrm>
            <a:off x="886968" y="438912"/>
            <a:ext cx="10515600" cy="274320"/>
          </a:xfrm>
          <a:prstGeom prst="rect">
            <a:avLst/>
          </a:prstGeom>
          <a:noFill/>
          <a:ln/>
        </p:spPr>
        <p:txBody>
          <a:bodyPr wrap="square" lIns="0" tIns="0" rIns="0" bIns="0" rtlCol="0" anchor="ctr"/>
          <a:lstStyle/>
          <a:p>
            <a:pPr marL="0" indent="0">
              <a:buNone/>
            </a:pPr>
            <a:r>
              <a:rPr lang="en-US" sz="1100" b="1" kern="0" spc="160" dirty="0">
                <a:solidFill>
                  <a:srgbClr val="7FD0A5"/>
                </a:solidFill>
                <a:latin typeface="Calibri" pitchFamily="34" charset="0"/>
                <a:cs typeface="Calibri" pitchFamily="34" charset="-120"/>
              </a:rPr>
              <a:t>Discussion</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marL="0" indent="0">
              <a:buNone/>
            </a:pPr>
            <a:r>
              <a:rPr lang="en-US" sz="3300" b="1" dirty="0">
                <a:solidFill>
                  <a:srgbClr val="E9EDEA"/>
                </a:solidFill>
                <a:latin typeface="Cambria" pitchFamily="34" charset="0"/>
                <a:ea typeface="Cambria" pitchFamily="34" charset="-122"/>
                <a:cs typeface="Cambria" pitchFamily="34" charset="-120"/>
              </a:rPr>
              <a:t>Redesign the mechanic</a:t>
            </a:r>
            <a:endParaRPr lang="en-US" sz="3300" dirty="0"/>
          </a:p>
        </p:txBody>
      </p:sp>
      <p:sp>
        <p:nvSpPr>
          <p:cNvPr id="5" name="Shape 3"/>
          <p:cNvSpPr/>
          <p:nvPr/>
        </p:nvSpPr>
        <p:spPr>
          <a:xfrm>
            <a:off x="640080" y="1645920"/>
            <a:ext cx="10911535" cy="777240"/>
          </a:xfrm>
          <a:prstGeom prst="roundRect">
            <a:avLst>
              <a:gd name="adj" fmla="val 9412"/>
            </a:avLst>
          </a:prstGeom>
          <a:solidFill>
            <a:srgbClr val="1A242E"/>
          </a:solidFill>
          <a:ln w="12700">
            <a:solidFill>
              <a:srgbClr val="1A242E"/>
            </a:solidFill>
            <a:prstDash val="solid"/>
          </a:ln>
        </p:spPr>
        <p:txBody>
          <a:bodyPr/>
          <a:lstStyle/>
          <a:p>
            <a:endParaRPr lang="en-US"/>
          </a:p>
        </p:txBody>
      </p:sp>
      <p:sp>
        <p:nvSpPr>
          <p:cNvPr id="6" name="Text 4"/>
          <p:cNvSpPr txBox="1"/>
          <p:nvPr/>
        </p:nvSpPr>
        <p:spPr>
          <a:xfrm>
            <a:off x="1005840" y="1645920"/>
            <a:ext cx="10424160" cy="777240"/>
          </a:xfrm>
          <a:prstGeom prst="rect">
            <a:avLst/>
          </a:prstGeom>
          <a:noFill/>
          <a:ln/>
        </p:spPr>
        <p:txBody>
          <a:bodyPr wrap="square" lIns="0" tIns="0" rIns="0" bIns="0" rtlCol="0" anchor="ctr"/>
          <a:lstStyle/>
          <a:p>
            <a:pPr marL="0" indent="0">
              <a:buNone/>
            </a:pPr>
            <a:r>
              <a:rPr lang="en-US" sz="1550" dirty="0">
                <a:solidFill>
                  <a:srgbClr val="E9EDEA"/>
                </a:solidFill>
                <a:latin typeface="Cambria" pitchFamily="34" charset="0"/>
                <a:ea typeface="Cambria" pitchFamily="34" charset="-122"/>
                <a:cs typeface="Cambria" pitchFamily="34" charset="-120"/>
              </a:rPr>
              <a:t>Your has been hired to fix Detroit’s public opinion system. You may change what is counted, what is possible, what it costs and what is shown back — but the game must still be about a movement that can succeed or fail.</a:t>
            </a:r>
            <a:endParaRPr lang="en-US" sz="1550" dirty="0"/>
          </a:p>
        </p:txBody>
      </p:sp>
      <p:sp>
        <p:nvSpPr>
          <p:cNvPr id="7" name="Shape 5"/>
          <p:cNvSpPr/>
          <p:nvPr/>
        </p:nvSpPr>
        <p:spPr>
          <a:xfrm>
            <a:off x="640080" y="2697480"/>
            <a:ext cx="5309464" cy="1335024"/>
          </a:xfrm>
          <a:prstGeom prst="roundRect">
            <a:avLst>
              <a:gd name="adj" fmla="val 5479"/>
            </a:avLst>
          </a:prstGeom>
          <a:solidFill>
            <a:srgbClr val="1A242E"/>
          </a:solidFill>
          <a:ln w="12700">
            <a:solidFill>
              <a:srgbClr val="1A242E"/>
            </a:solidFill>
            <a:prstDash val="solid"/>
          </a:ln>
        </p:spPr>
        <p:txBody>
          <a:bodyPr/>
          <a:lstStyle/>
          <a:p>
            <a:endParaRPr lang="en-US"/>
          </a:p>
        </p:txBody>
      </p:sp>
      <p:sp>
        <p:nvSpPr>
          <p:cNvPr id="8" name="Shape 6"/>
          <p:cNvSpPr/>
          <p:nvPr/>
        </p:nvSpPr>
        <p:spPr>
          <a:xfrm>
            <a:off x="932688" y="2953512"/>
            <a:ext cx="384048" cy="384048"/>
          </a:xfrm>
          <a:prstGeom prst="ellipse">
            <a:avLst/>
          </a:prstGeom>
          <a:solidFill>
            <a:srgbClr val="2F8F5B"/>
          </a:solidFill>
          <a:ln/>
        </p:spPr>
        <p:txBody>
          <a:bodyPr/>
          <a:lstStyle/>
          <a:p>
            <a:endParaRPr lang="en-US"/>
          </a:p>
        </p:txBody>
      </p:sp>
      <p:sp>
        <p:nvSpPr>
          <p:cNvPr id="9" name="Text 7"/>
          <p:cNvSpPr txBox="1"/>
          <p:nvPr/>
        </p:nvSpPr>
        <p:spPr>
          <a:xfrm>
            <a:off x="932688" y="295351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0" name="Text 8"/>
          <p:cNvSpPr txBox="1"/>
          <p:nvPr/>
        </p:nvSpPr>
        <p:spPr>
          <a:xfrm>
            <a:off x="1554480" y="2971800"/>
            <a:ext cx="4120744" cy="329184"/>
          </a:xfrm>
          <a:prstGeom prst="rect">
            <a:avLst/>
          </a:prstGeom>
          <a:noFill/>
          <a:ln/>
        </p:spPr>
        <p:txBody>
          <a:bodyPr wrap="square" lIns="0" tIns="0" rIns="0" bIns="0" rtlCol="0" anchor="ctr"/>
          <a:lstStyle/>
          <a:p>
            <a:pPr marL="0" indent="0">
              <a:buNone/>
            </a:pPr>
            <a:r>
              <a:rPr lang="en-US" sz="1650" b="1" dirty="0">
                <a:solidFill>
                  <a:srgbClr val="E9EDEA"/>
                </a:solidFill>
                <a:latin typeface="Cambria" pitchFamily="34" charset="0"/>
                <a:ea typeface="Cambria" pitchFamily="34" charset="-122"/>
                <a:cs typeface="Cambria" pitchFamily="34" charset="-120"/>
              </a:rPr>
              <a:t>Change what is counted</a:t>
            </a:r>
            <a:endParaRPr lang="en-US" sz="1650" dirty="0"/>
          </a:p>
        </p:txBody>
      </p:sp>
      <p:sp>
        <p:nvSpPr>
          <p:cNvPr id="11" name="Text 9"/>
          <p:cNvSpPr txBox="1"/>
          <p:nvPr/>
        </p:nvSpPr>
        <p:spPr>
          <a:xfrm>
            <a:off x="932688" y="3429000"/>
            <a:ext cx="4724248" cy="54864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Replace human approval with a different measured quantity. State what your number asserts, and what new bad argument it accidentally makes.</a:t>
            </a:r>
            <a:endParaRPr lang="en-US" sz="1250" dirty="0"/>
          </a:p>
        </p:txBody>
      </p:sp>
      <p:sp>
        <p:nvSpPr>
          <p:cNvPr id="12" name="Shape 10"/>
          <p:cNvSpPr/>
          <p:nvPr/>
        </p:nvSpPr>
        <p:spPr>
          <a:xfrm>
            <a:off x="6242152" y="2697480"/>
            <a:ext cx="5309464" cy="1335024"/>
          </a:xfrm>
          <a:prstGeom prst="roundRect">
            <a:avLst>
              <a:gd name="adj" fmla="val 5479"/>
            </a:avLst>
          </a:prstGeom>
          <a:solidFill>
            <a:srgbClr val="1A242E"/>
          </a:solidFill>
          <a:ln w="12700">
            <a:solidFill>
              <a:srgbClr val="1A242E"/>
            </a:solidFill>
            <a:prstDash val="solid"/>
          </a:ln>
        </p:spPr>
        <p:txBody>
          <a:bodyPr/>
          <a:lstStyle/>
          <a:p>
            <a:endParaRPr lang="en-US"/>
          </a:p>
        </p:txBody>
      </p:sp>
      <p:sp>
        <p:nvSpPr>
          <p:cNvPr id="13" name="Shape 11"/>
          <p:cNvSpPr/>
          <p:nvPr/>
        </p:nvSpPr>
        <p:spPr>
          <a:xfrm>
            <a:off x="6534760" y="2953512"/>
            <a:ext cx="384048" cy="384048"/>
          </a:xfrm>
          <a:prstGeom prst="ellipse">
            <a:avLst/>
          </a:prstGeom>
          <a:solidFill>
            <a:srgbClr val="2F8F5B"/>
          </a:solidFill>
          <a:ln/>
        </p:spPr>
        <p:txBody>
          <a:bodyPr/>
          <a:lstStyle/>
          <a:p>
            <a:endParaRPr lang="en-US"/>
          </a:p>
        </p:txBody>
      </p:sp>
      <p:sp>
        <p:nvSpPr>
          <p:cNvPr id="14" name="Text 12"/>
          <p:cNvSpPr txBox="1"/>
          <p:nvPr/>
        </p:nvSpPr>
        <p:spPr>
          <a:xfrm>
            <a:off x="6534760" y="295351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5" name="Text 13"/>
          <p:cNvSpPr txBox="1"/>
          <p:nvPr/>
        </p:nvSpPr>
        <p:spPr>
          <a:xfrm>
            <a:off x="7156552" y="2971800"/>
            <a:ext cx="4120744" cy="329184"/>
          </a:xfrm>
          <a:prstGeom prst="rect">
            <a:avLst/>
          </a:prstGeom>
          <a:noFill/>
          <a:ln/>
        </p:spPr>
        <p:txBody>
          <a:bodyPr wrap="square" lIns="0" tIns="0" rIns="0" bIns="0" rtlCol="0" anchor="ctr"/>
          <a:lstStyle/>
          <a:p>
            <a:pPr marL="0" indent="0">
              <a:buNone/>
            </a:pPr>
            <a:r>
              <a:rPr lang="en-US" sz="1650" b="1" dirty="0">
                <a:solidFill>
                  <a:srgbClr val="E9EDEA"/>
                </a:solidFill>
                <a:latin typeface="Cambria" pitchFamily="34" charset="0"/>
                <a:ea typeface="Cambria" pitchFamily="34" charset="-122"/>
                <a:cs typeface="Cambria" pitchFamily="34" charset="-120"/>
              </a:rPr>
              <a:t>Change what is possible</a:t>
            </a:r>
            <a:endParaRPr lang="en-US" sz="1650" dirty="0"/>
          </a:p>
        </p:txBody>
      </p:sp>
      <p:sp>
        <p:nvSpPr>
          <p:cNvPr id="16" name="Text 14"/>
          <p:cNvSpPr txBox="1"/>
          <p:nvPr/>
        </p:nvSpPr>
        <p:spPr>
          <a:xfrm>
            <a:off x="6534760" y="3429000"/>
            <a:ext cx="4724248" cy="54864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Add the option the game refuses to model — negotiation, a strike, a split in the movement. Say what it costs to build and what it costs to include.</a:t>
            </a:r>
            <a:endParaRPr lang="en-US" sz="1250" dirty="0"/>
          </a:p>
        </p:txBody>
      </p:sp>
      <p:sp>
        <p:nvSpPr>
          <p:cNvPr id="17" name="Shape 15"/>
          <p:cNvSpPr/>
          <p:nvPr/>
        </p:nvSpPr>
        <p:spPr>
          <a:xfrm>
            <a:off x="640080" y="4215384"/>
            <a:ext cx="5309464" cy="1335024"/>
          </a:xfrm>
          <a:prstGeom prst="roundRect">
            <a:avLst>
              <a:gd name="adj" fmla="val 5479"/>
            </a:avLst>
          </a:prstGeom>
          <a:solidFill>
            <a:srgbClr val="1A242E"/>
          </a:solidFill>
          <a:ln w="12700">
            <a:solidFill>
              <a:srgbClr val="1A242E"/>
            </a:solidFill>
            <a:prstDash val="solid"/>
          </a:ln>
        </p:spPr>
        <p:txBody>
          <a:bodyPr/>
          <a:lstStyle/>
          <a:p>
            <a:endParaRPr lang="en-US"/>
          </a:p>
        </p:txBody>
      </p:sp>
      <p:sp>
        <p:nvSpPr>
          <p:cNvPr id="18" name="Shape 16"/>
          <p:cNvSpPr/>
          <p:nvPr/>
        </p:nvSpPr>
        <p:spPr>
          <a:xfrm>
            <a:off x="932688" y="4471416"/>
            <a:ext cx="384048" cy="384048"/>
          </a:xfrm>
          <a:prstGeom prst="ellipse">
            <a:avLst/>
          </a:prstGeom>
          <a:solidFill>
            <a:srgbClr val="2F8F5B"/>
          </a:solidFill>
          <a:ln/>
        </p:spPr>
        <p:txBody>
          <a:bodyPr/>
          <a:lstStyle/>
          <a:p>
            <a:endParaRPr lang="en-US"/>
          </a:p>
        </p:txBody>
      </p:sp>
      <p:sp>
        <p:nvSpPr>
          <p:cNvPr id="19" name="Text 17"/>
          <p:cNvSpPr txBox="1"/>
          <p:nvPr/>
        </p:nvSpPr>
        <p:spPr>
          <a:xfrm>
            <a:off x="932688" y="447141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0" name="Text 18"/>
          <p:cNvSpPr txBox="1"/>
          <p:nvPr/>
        </p:nvSpPr>
        <p:spPr>
          <a:xfrm>
            <a:off x="1554480" y="4489704"/>
            <a:ext cx="4120744" cy="329184"/>
          </a:xfrm>
          <a:prstGeom prst="rect">
            <a:avLst/>
          </a:prstGeom>
          <a:noFill/>
          <a:ln/>
        </p:spPr>
        <p:txBody>
          <a:bodyPr wrap="square" lIns="0" tIns="0" rIns="0" bIns="0" rtlCol="0" anchor="ctr"/>
          <a:lstStyle/>
          <a:p>
            <a:pPr marL="0" indent="0">
              <a:buNone/>
            </a:pPr>
            <a:r>
              <a:rPr lang="en-US" sz="1650" b="1" dirty="0">
                <a:solidFill>
                  <a:srgbClr val="E9EDEA"/>
                </a:solidFill>
                <a:latin typeface="Cambria" pitchFamily="34" charset="0"/>
                <a:ea typeface="Cambria" pitchFamily="34" charset="-122"/>
                <a:cs typeface="Cambria" pitchFamily="34" charset="-120"/>
              </a:rPr>
              <a:t>Change what is shown</a:t>
            </a:r>
            <a:endParaRPr lang="en-US" sz="1650" dirty="0"/>
          </a:p>
        </p:txBody>
      </p:sp>
      <p:sp>
        <p:nvSpPr>
          <p:cNvPr id="21" name="Text 19"/>
          <p:cNvSpPr txBox="1"/>
          <p:nvPr/>
        </p:nvSpPr>
        <p:spPr>
          <a:xfrm>
            <a:off x="932688" y="4946904"/>
            <a:ext cx="4724248" cy="54864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Keep the mechanic, redesign the feedback. Can you make a player feel the oppressor’s scoreboard as an imposition rather than as a readout?</a:t>
            </a:r>
            <a:endParaRPr lang="en-US" sz="1250" dirty="0"/>
          </a:p>
        </p:txBody>
      </p:sp>
      <p:sp>
        <p:nvSpPr>
          <p:cNvPr id="22" name="Shape 20"/>
          <p:cNvSpPr/>
          <p:nvPr/>
        </p:nvSpPr>
        <p:spPr>
          <a:xfrm>
            <a:off x="6242152" y="4215384"/>
            <a:ext cx="5309464" cy="1335024"/>
          </a:xfrm>
          <a:prstGeom prst="roundRect">
            <a:avLst>
              <a:gd name="adj" fmla="val 5479"/>
            </a:avLst>
          </a:prstGeom>
          <a:solidFill>
            <a:srgbClr val="1A242E"/>
          </a:solidFill>
          <a:ln w="12700">
            <a:solidFill>
              <a:srgbClr val="1A242E"/>
            </a:solidFill>
            <a:prstDash val="solid"/>
          </a:ln>
        </p:spPr>
        <p:txBody>
          <a:bodyPr/>
          <a:lstStyle/>
          <a:p>
            <a:endParaRPr lang="en-US"/>
          </a:p>
        </p:txBody>
      </p:sp>
      <p:sp>
        <p:nvSpPr>
          <p:cNvPr id="23" name="Shape 21"/>
          <p:cNvSpPr/>
          <p:nvPr/>
        </p:nvSpPr>
        <p:spPr>
          <a:xfrm>
            <a:off x="6534760" y="4471416"/>
            <a:ext cx="384048" cy="384048"/>
          </a:xfrm>
          <a:prstGeom prst="ellipse">
            <a:avLst/>
          </a:prstGeom>
          <a:solidFill>
            <a:srgbClr val="2F8F5B"/>
          </a:solidFill>
          <a:ln/>
        </p:spPr>
        <p:txBody>
          <a:bodyPr/>
          <a:lstStyle/>
          <a:p>
            <a:endParaRPr lang="en-US"/>
          </a:p>
        </p:txBody>
      </p:sp>
      <p:sp>
        <p:nvSpPr>
          <p:cNvPr id="24" name="Text 22"/>
          <p:cNvSpPr txBox="1"/>
          <p:nvPr/>
        </p:nvSpPr>
        <p:spPr>
          <a:xfrm>
            <a:off x="6534760" y="447141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5" name="Text 23"/>
          <p:cNvSpPr txBox="1"/>
          <p:nvPr/>
        </p:nvSpPr>
        <p:spPr>
          <a:xfrm>
            <a:off x="7156552" y="4489704"/>
            <a:ext cx="4120744" cy="329184"/>
          </a:xfrm>
          <a:prstGeom prst="rect">
            <a:avLst/>
          </a:prstGeom>
          <a:noFill/>
          <a:ln/>
        </p:spPr>
        <p:txBody>
          <a:bodyPr wrap="square" lIns="0" tIns="0" rIns="0" bIns="0" rtlCol="0" anchor="ctr"/>
          <a:lstStyle/>
          <a:p>
            <a:pPr marL="0" indent="0">
              <a:buNone/>
            </a:pPr>
            <a:r>
              <a:rPr lang="en-US" sz="1650" b="1" dirty="0">
                <a:solidFill>
                  <a:srgbClr val="E9EDEA"/>
                </a:solidFill>
                <a:latin typeface="Cambria" pitchFamily="34" charset="0"/>
                <a:ea typeface="Cambria" pitchFamily="34" charset="-122"/>
                <a:cs typeface="Cambria" pitchFamily="34" charset="-120"/>
              </a:rPr>
              <a:t>Refuse the brief</a:t>
            </a:r>
            <a:endParaRPr lang="en-US" sz="1650" dirty="0"/>
          </a:p>
        </p:txBody>
      </p:sp>
      <p:sp>
        <p:nvSpPr>
          <p:cNvPr id="26" name="Text 24"/>
          <p:cNvSpPr txBox="1"/>
          <p:nvPr/>
        </p:nvSpPr>
        <p:spPr>
          <a:xfrm>
            <a:off x="6534760" y="4946904"/>
            <a:ext cx="4724248" cy="54864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Argue that no scoring system can model this subject honestly, and that the fix is to remove the meter and accept a less legible game. You must say what is lost.</a:t>
            </a:r>
            <a:endParaRPr lang="en-US" sz="1250" dirty="0"/>
          </a:p>
        </p:txBody>
      </p:sp>
      <p:sp>
        <p:nvSpPr>
          <p:cNvPr id="27" name="Shape 25"/>
          <p:cNvSpPr/>
          <p:nvPr/>
        </p:nvSpPr>
        <p:spPr>
          <a:xfrm>
            <a:off x="640079" y="5893308"/>
            <a:ext cx="10911535" cy="777240"/>
          </a:xfrm>
          <a:prstGeom prst="roundRect">
            <a:avLst>
              <a:gd name="adj" fmla="val 9412"/>
            </a:avLst>
          </a:prstGeom>
          <a:solidFill>
            <a:srgbClr val="2F8F5B"/>
          </a:solidFill>
          <a:ln w="12700">
            <a:solidFill>
              <a:srgbClr val="2F8F5B"/>
            </a:solidFill>
            <a:prstDash val="solid"/>
          </a:ln>
        </p:spPr>
        <p:txBody>
          <a:bodyPr/>
          <a:lstStyle/>
          <a:p>
            <a:endParaRPr lang="en-US"/>
          </a:p>
        </p:txBody>
      </p:sp>
      <p:sp>
        <p:nvSpPr>
          <p:cNvPr id="28" name="Text 26"/>
          <p:cNvSpPr txBox="1"/>
          <p:nvPr/>
        </p:nvSpPr>
        <p:spPr>
          <a:xfrm>
            <a:off x="932688" y="5893308"/>
            <a:ext cx="10424160" cy="77724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Two minutes each. State the rule, then state the argument the rule makes, in one sentence, out loud.</a:t>
            </a:r>
            <a:endParaRPr lang="en-US" sz="15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2F8F5B"/>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C6672"/>
                </a:solidFill>
                <a:latin typeface="Calibri" pitchFamily="34" charset="0"/>
                <a:ea typeface="Calibri" pitchFamily="34" charset="-122"/>
                <a:cs typeface="Calibri" pitchFamily="34" charset="-120"/>
              </a:rPr>
              <a:t>CLOSING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319"/>
                </a:solidFill>
                <a:latin typeface="Cambria" pitchFamily="34" charset="0"/>
                <a:ea typeface="Cambria" pitchFamily="34" charset="-122"/>
                <a:cs typeface="Cambria" pitchFamily="34" charset="-120"/>
              </a:rPr>
              <a:t>Three answers to the key question</a:t>
            </a:r>
            <a:endParaRPr lang="en-US" sz="3000" dirty="0"/>
          </a:p>
        </p:txBody>
      </p:sp>
      <p:sp>
        <p:nvSpPr>
          <p:cNvPr id="5" name="Shape 3"/>
          <p:cNvSpPr/>
          <p:nvPr/>
        </p:nvSpPr>
        <p:spPr>
          <a:xfrm>
            <a:off x="640080" y="1554480"/>
            <a:ext cx="10911535" cy="731520"/>
          </a:xfrm>
          <a:prstGeom prst="roundRect">
            <a:avLst>
              <a:gd name="adj" fmla="val 10000"/>
            </a:avLst>
          </a:prstGeom>
          <a:solidFill>
            <a:srgbClr val="0D1319"/>
          </a:solidFill>
          <a:ln w="12700">
            <a:solidFill>
              <a:srgbClr val="0D1319"/>
            </a:solidFill>
            <a:prstDash val="solid"/>
          </a:ln>
        </p:spPr>
        <p:txBody>
          <a:bodyPr/>
          <a:lstStyle/>
          <a:p>
            <a:endParaRPr lang="en-US"/>
          </a:p>
        </p:txBody>
      </p:sp>
      <p:sp>
        <p:nvSpPr>
          <p:cNvPr id="6" name="Text 4"/>
          <p:cNvSpPr txBox="1"/>
          <p:nvPr/>
        </p:nvSpPr>
        <p:spPr>
          <a:xfrm>
            <a:off x="1005840" y="1554480"/>
            <a:ext cx="10424160" cy="731520"/>
          </a:xfrm>
          <a:prstGeom prst="rect">
            <a:avLst/>
          </a:prstGeom>
          <a:noFill/>
          <a:ln/>
        </p:spPr>
        <p:txBody>
          <a:bodyPr wrap="square" lIns="0" tIns="0" rIns="0" bIns="0" rtlCol="0" anchor="ctr"/>
          <a:lstStyle/>
          <a:p>
            <a:pPr marL="0" indent="0">
              <a:buNone/>
            </a:pPr>
            <a:r>
              <a:rPr lang="en-US" sz="2100" b="1" dirty="0">
                <a:solidFill>
                  <a:srgbClr val="E9EDEA"/>
                </a:solidFill>
                <a:latin typeface="Cambria" pitchFamily="34" charset="0"/>
                <a:ea typeface="Cambria" pitchFamily="34" charset="-122"/>
                <a:cs typeface="Cambria" pitchFamily="34" charset="-120"/>
              </a:rPr>
              <a:t>When a text lets you choose, what has it made you responsible for?</a:t>
            </a:r>
            <a:endParaRPr lang="en-US" sz="2100" dirty="0"/>
          </a:p>
        </p:txBody>
      </p:sp>
      <p:sp>
        <p:nvSpPr>
          <p:cNvPr id="7" name="Shape 5"/>
          <p:cNvSpPr/>
          <p:nvPr/>
        </p:nvSpPr>
        <p:spPr>
          <a:xfrm>
            <a:off x="640080" y="2468880"/>
            <a:ext cx="3454298" cy="2423160"/>
          </a:xfrm>
          <a:prstGeom prst="roundRect">
            <a:avLst>
              <a:gd name="adj" fmla="val 3019"/>
            </a:avLst>
          </a:prstGeom>
          <a:solidFill>
            <a:srgbClr val="E7F2EC"/>
          </a:solidFill>
          <a:ln w="12700">
            <a:solidFill>
              <a:srgbClr val="E7F2EC"/>
            </a:solidFill>
            <a:prstDash val="solid"/>
          </a:ln>
        </p:spPr>
        <p:txBody>
          <a:bodyPr/>
          <a:lstStyle/>
          <a:p>
            <a:endParaRPr lang="en-US"/>
          </a:p>
        </p:txBody>
      </p:sp>
      <p:sp>
        <p:nvSpPr>
          <p:cNvPr id="8" name="Text 6"/>
          <p:cNvSpPr txBox="1"/>
          <p:nvPr/>
        </p:nvSpPr>
        <p:spPr>
          <a:xfrm>
            <a:off x="932688" y="2670048"/>
            <a:ext cx="2869082" cy="274320"/>
          </a:xfrm>
          <a:prstGeom prst="rect">
            <a:avLst/>
          </a:prstGeom>
          <a:noFill/>
          <a:ln/>
        </p:spPr>
        <p:txBody>
          <a:bodyPr wrap="square" lIns="0" tIns="0" rIns="0" bIns="0" rtlCol="0" anchor="ctr"/>
          <a:lstStyle/>
          <a:p>
            <a:pPr marL="0" indent="0">
              <a:buNone/>
            </a:pPr>
            <a:r>
              <a:rPr lang="en-US" sz="1150" b="1" kern="0" spc="160" dirty="0">
                <a:solidFill>
                  <a:srgbClr val="2F8F5B"/>
                </a:solidFill>
                <a:latin typeface="Calibri" pitchFamily="34" charset="0"/>
                <a:ea typeface="Calibri" pitchFamily="34" charset="-122"/>
                <a:cs typeface="Calibri" pitchFamily="34" charset="-120"/>
              </a:rPr>
              <a:t>THE MATRIX</a:t>
            </a:r>
            <a:endParaRPr lang="en-US" sz="1150" dirty="0"/>
          </a:p>
        </p:txBody>
      </p:sp>
      <p:sp>
        <p:nvSpPr>
          <p:cNvPr id="9" name="Text 7"/>
          <p:cNvSpPr txBox="1"/>
          <p:nvPr/>
        </p:nvSpPr>
        <p:spPr>
          <a:xfrm>
            <a:off x="932688" y="3017520"/>
            <a:ext cx="2869082" cy="868680"/>
          </a:xfrm>
          <a:prstGeom prst="rect">
            <a:avLst/>
          </a:prstGeom>
          <a:noFill/>
          <a:ln/>
        </p:spPr>
        <p:txBody>
          <a:bodyPr wrap="square" lIns="0" tIns="0" rIns="0" bIns="0" rtlCol="0" anchor="ctr"/>
          <a:lstStyle/>
          <a:p>
            <a:pPr marL="0" indent="0">
              <a:lnSpc>
                <a:spcPts val="2300"/>
              </a:lnSpc>
              <a:buNone/>
            </a:pPr>
            <a:r>
              <a:rPr lang="en-US" sz="1800" b="1" dirty="0">
                <a:solidFill>
                  <a:srgbClr val="0D1319"/>
                </a:solidFill>
                <a:latin typeface="Cambria" pitchFamily="34" charset="0"/>
                <a:ea typeface="Cambria" pitchFamily="34" charset="-122"/>
                <a:cs typeface="Cambria" pitchFamily="34" charset="-120"/>
              </a:rPr>
              <a:t>Nothing — and it says so</a:t>
            </a:r>
            <a:endParaRPr lang="en-US" sz="1800" dirty="0"/>
          </a:p>
        </p:txBody>
      </p:sp>
      <p:sp>
        <p:nvSpPr>
          <p:cNvPr id="10" name="Text 8"/>
          <p:cNvSpPr txBox="1"/>
          <p:nvPr/>
        </p:nvSpPr>
        <p:spPr>
          <a:xfrm>
            <a:off x="932688" y="3950208"/>
            <a:ext cx="2869082" cy="822960"/>
          </a:xfrm>
          <a:prstGeom prst="rect">
            <a:avLst/>
          </a:prstGeom>
          <a:noFill/>
          <a:ln/>
        </p:spPr>
        <p:txBody>
          <a:bodyPr wrap="square" lIns="0" tIns="0" rIns="0" bIns="0" rtlCol="0" anchor="ctr"/>
          <a:lstStyle/>
          <a:p>
            <a:pPr marL="0" indent="0">
              <a:lnSpc>
                <a:spcPts val="1600"/>
              </a:lnSpc>
              <a:buNone/>
            </a:pPr>
            <a:r>
              <a:rPr lang="en-US" sz="1200" dirty="0">
                <a:solidFill>
                  <a:srgbClr val="5C6672"/>
                </a:solidFill>
                <a:latin typeface="Calibri" pitchFamily="34" charset="0"/>
                <a:ea typeface="Calibri" pitchFamily="34" charset="-122"/>
                <a:cs typeface="Calibri" pitchFamily="34" charset="-120"/>
              </a:rPr>
              <a:t>It transfers no outcome and claims none. The honesty is worth something: a work that offers no choice cannot use your choice as an alibi.</a:t>
            </a:r>
            <a:endParaRPr lang="en-US" sz="1200" dirty="0"/>
          </a:p>
        </p:txBody>
      </p:sp>
      <p:sp>
        <p:nvSpPr>
          <p:cNvPr id="11" name="Shape 9"/>
          <p:cNvSpPr/>
          <p:nvPr/>
        </p:nvSpPr>
        <p:spPr>
          <a:xfrm>
            <a:off x="4368698" y="2468880"/>
            <a:ext cx="3454298" cy="2423160"/>
          </a:xfrm>
          <a:prstGeom prst="roundRect">
            <a:avLst>
              <a:gd name="adj" fmla="val 3019"/>
            </a:avLst>
          </a:prstGeom>
          <a:solidFill>
            <a:srgbClr val="F7F0E4"/>
          </a:solidFill>
          <a:ln w="12700">
            <a:solidFill>
              <a:srgbClr val="F7F0E4"/>
            </a:solidFill>
            <a:prstDash val="solid"/>
          </a:ln>
        </p:spPr>
        <p:txBody>
          <a:bodyPr/>
          <a:lstStyle/>
          <a:p>
            <a:endParaRPr lang="en-US"/>
          </a:p>
        </p:txBody>
      </p:sp>
      <p:sp>
        <p:nvSpPr>
          <p:cNvPr id="12" name="Text 10"/>
          <p:cNvSpPr txBox="1"/>
          <p:nvPr/>
        </p:nvSpPr>
        <p:spPr>
          <a:xfrm>
            <a:off x="4661306" y="2670048"/>
            <a:ext cx="2869082" cy="274320"/>
          </a:xfrm>
          <a:prstGeom prst="rect">
            <a:avLst/>
          </a:prstGeom>
          <a:noFill/>
          <a:ln/>
        </p:spPr>
        <p:txBody>
          <a:bodyPr wrap="square" lIns="0" tIns="0" rIns="0" bIns="0" rtlCol="0" anchor="ctr"/>
          <a:lstStyle/>
          <a:p>
            <a:pPr marL="0" indent="0">
              <a:buNone/>
            </a:pPr>
            <a:r>
              <a:rPr lang="en-US" sz="1150" b="1" kern="0" spc="160" dirty="0">
                <a:solidFill>
                  <a:srgbClr val="A8722B"/>
                </a:solidFill>
                <a:latin typeface="Calibri" pitchFamily="34" charset="0"/>
                <a:ea typeface="Calibri" pitchFamily="34" charset="-122"/>
                <a:cs typeface="Calibri" pitchFamily="34" charset="-120"/>
              </a:rPr>
              <a:t>MASS EFFECT</a:t>
            </a:r>
            <a:endParaRPr lang="en-US" sz="1150" dirty="0"/>
          </a:p>
        </p:txBody>
      </p:sp>
      <p:sp>
        <p:nvSpPr>
          <p:cNvPr id="13" name="Text 11"/>
          <p:cNvSpPr txBox="1"/>
          <p:nvPr/>
        </p:nvSpPr>
        <p:spPr>
          <a:xfrm>
            <a:off x="4661306" y="3017520"/>
            <a:ext cx="2869082" cy="868680"/>
          </a:xfrm>
          <a:prstGeom prst="rect">
            <a:avLst/>
          </a:prstGeom>
          <a:noFill/>
          <a:ln/>
        </p:spPr>
        <p:txBody>
          <a:bodyPr wrap="square" lIns="0" tIns="0" rIns="0" bIns="0" rtlCol="0" anchor="ctr"/>
          <a:lstStyle/>
          <a:p>
            <a:pPr marL="0" indent="0">
              <a:lnSpc>
                <a:spcPts val="2300"/>
              </a:lnSpc>
              <a:buNone/>
            </a:pPr>
            <a:r>
              <a:rPr lang="en-US" sz="1800" b="1" dirty="0">
                <a:solidFill>
                  <a:srgbClr val="0D1319"/>
                </a:solidFill>
                <a:latin typeface="Cambria" pitchFamily="34" charset="0"/>
                <a:ea typeface="Cambria" pitchFamily="34" charset="-122"/>
                <a:cs typeface="Cambria" pitchFamily="34" charset="-120"/>
              </a:rPr>
              <a:t>A history you did not know you were writing</a:t>
            </a:r>
            <a:endParaRPr lang="en-US" sz="1800" dirty="0"/>
          </a:p>
        </p:txBody>
      </p:sp>
      <p:sp>
        <p:nvSpPr>
          <p:cNvPr id="14" name="Text 12"/>
          <p:cNvSpPr txBox="1"/>
          <p:nvPr/>
        </p:nvSpPr>
        <p:spPr>
          <a:xfrm>
            <a:off x="4661306" y="3950208"/>
            <a:ext cx="2869082" cy="822960"/>
          </a:xfrm>
          <a:prstGeom prst="rect">
            <a:avLst/>
          </a:prstGeom>
          <a:noFill/>
          <a:ln/>
        </p:spPr>
        <p:txBody>
          <a:bodyPr wrap="square" lIns="0" tIns="0" rIns="0" bIns="0" rtlCol="0" anchor="ctr"/>
          <a:lstStyle/>
          <a:p>
            <a:pPr marL="0" indent="0">
              <a:lnSpc>
                <a:spcPts val="1600"/>
              </a:lnSpc>
              <a:buNone/>
            </a:pPr>
            <a:r>
              <a:rPr lang="en-US" sz="1200" dirty="0">
                <a:solidFill>
                  <a:srgbClr val="5C6672"/>
                </a:solidFill>
                <a:latin typeface="Calibri" pitchFamily="34" charset="0"/>
                <a:ea typeface="Calibri" pitchFamily="34" charset="-122"/>
                <a:cs typeface="Calibri" pitchFamily="34" charset="-120"/>
              </a:rPr>
              <a:t>Responsibility for accumulated conduct, adjudicated invisibly and late. A serious claim about reconciliation, made by a rule nobody reads until afterwards.</a:t>
            </a:r>
            <a:endParaRPr lang="en-US" sz="1200" dirty="0"/>
          </a:p>
        </p:txBody>
      </p:sp>
      <p:sp>
        <p:nvSpPr>
          <p:cNvPr id="15" name="Shape 13"/>
          <p:cNvSpPr/>
          <p:nvPr/>
        </p:nvSpPr>
        <p:spPr>
          <a:xfrm>
            <a:off x="8097317" y="2468880"/>
            <a:ext cx="3454298" cy="2423160"/>
          </a:xfrm>
          <a:prstGeom prst="roundRect">
            <a:avLst>
              <a:gd name="adj" fmla="val 3019"/>
            </a:avLst>
          </a:prstGeom>
          <a:solidFill>
            <a:srgbClr val="E6EFF5"/>
          </a:solidFill>
          <a:ln w="12700">
            <a:solidFill>
              <a:srgbClr val="E6EFF5"/>
            </a:solidFill>
            <a:prstDash val="solid"/>
          </a:ln>
        </p:spPr>
        <p:txBody>
          <a:bodyPr/>
          <a:lstStyle/>
          <a:p>
            <a:endParaRPr lang="en-US"/>
          </a:p>
        </p:txBody>
      </p:sp>
      <p:sp>
        <p:nvSpPr>
          <p:cNvPr id="16" name="Text 14"/>
          <p:cNvSpPr txBox="1"/>
          <p:nvPr/>
        </p:nvSpPr>
        <p:spPr>
          <a:xfrm>
            <a:off x="8389925" y="2670048"/>
            <a:ext cx="2869082" cy="274320"/>
          </a:xfrm>
          <a:prstGeom prst="rect">
            <a:avLst/>
          </a:prstGeom>
          <a:noFill/>
          <a:ln/>
        </p:spPr>
        <p:txBody>
          <a:bodyPr wrap="square" lIns="0" tIns="0" rIns="0" bIns="0" rtlCol="0" anchor="ctr"/>
          <a:lstStyle/>
          <a:p>
            <a:pPr marL="0" indent="0">
              <a:buNone/>
            </a:pPr>
            <a:r>
              <a:rPr lang="en-US" sz="1150" b="1" kern="0" spc="160" dirty="0">
                <a:solidFill>
                  <a:srgbClr val="35719C"/>
                </a:solidFill>
                <a:latin typeface="Calibri" pitchFamily="34" charset="0"/>
                <a:ea typeface="Calibri" pitchFamily="34" charset="-122"/>
                <a:cs typeface="Calibri" pitchFamily="34" charset="-120"/>
              </a:rPr>
              <a:t>DETROIT</a:t>
            </a:r>
            <a:endParaRPr lang="en-US" sz="1150" dirty="0"/>
          </a:p>
        </p:txBody>
      </p:sp>
      <p:sp>
        <p:nvSpPr>
          <p:cNvPr id="17" name="Text 15"/>
          <p:cNvSpPr txBox="1"/>
          <p:nvPr/>
        </p:nvSpPr>
        <p:spPr>
          <a:xfrm>
            <a:off x="8389925" y="3017520"/>
            <a:ext cx="2869082" cy="868680"/>
          </a:xfrm>
          <a:prstGeom prst="rect">
            <a:avLst/>
          </a:prstGeom>
          <a:noFill/>
          <a:ln/>
        </p:spPr>
        <p:txBody>
          <a:bodyPr wrap="square" lIns="0" tIns="0" rIns="0" bIns="0" rtlCol="0" anchor="ctr"/>
          <a:lstStyle/>
          <a:p>
            <a:pPr marL="0" indent="0">
              <a:lnSpc>
                <a:spcPts val="2300"/>
              </a:lnSpc>
              <a:buNone/>
            </a:pPr>
            <a:r>
              <a:rPr lang="en-US" sz="1800" b="1" dirty="0">
                <a:solidFill>
                  <a:srgbClr val="0D1319"/>
                </a:solidFill>
                <a:latin typeface="Cambria" pitchFamily="34" charset="0"/>
                <a:ea typeface="Cambria" pitchFamily="34" charset="-122"/>
                <a:cs typeface="Cambria" pitchFamily="34" charset="-120"/>
              </a:rPr>
              <a:t>A performance, graded against everyone else</a:t>
            </a:r>
            <a:endParaRPr lang="en-US" sz="1800" dirty="0"/>
          </a:p>
        </p:txBody>
      </p:sp>
      <p:sp>
        <p:nvSpPr>
          <p:cNvPr id="18" name="Text 16"/>
          <p:cNvSpPr txBox="1"/>
          <p:nvPr/>
        </p:nvSpPr>
        <p:spPr>
          <a:xfrm>
            <a:off x="8389925" y="3950208"/>
            <a:ext cx="2869082" cy="822960"/>
          </a:xfrm>
          <a:prstGeom prst="rect">
            <a:avLst/>
          </a:prstGeom>
          <a:noFill/>
          <a:ln/>
        </p:spPr>
        <p:txBody>
          <a:bodyPr wrap="square" lIns="0" tIns="0" rIns="0" bIns="0" rtlCol="0" anchor="ctr"/>
          <a:lstStyle/>
          <a:p>
            <a:pPr marL="0" indent="0">
              <a:lnSpc>
                <a:spcPts val="1600"/>
              </a:lnSpc>
              <a:buNone/>
            </a:pPr>
            <a:r>
              <a:rPr lang="en-US" sz="1200" dirty="0">
                <a:solidFill>
                  <a:srgbClr val="5C6672"/>
                </a:solidFill>
                <a:latin typeface="Calibri" pitchFamily="34" charset="0"/>
                <a:ea typeface="Calibri" pitchFamily="34" charset="-122"/>
                <a:cs typeface="Calibri" pitchFamily="34" charset="-120"/>
              </a:rPr>
              <a:t>Responsibility for how you did it, measured by a number that encodes whose comfort counts. The transfer to you is real, and it doubles as a transfer away from the designer.</a:t>
            </a:r>
            <a:endParaRPr lang="en-US" sz="1200" dirty="0"/>
          </a:p>
        </p:txBody>
      </p:sp>
      <p:sp>
        <p:nvSpPr>
          <p:cNvPr id="19" name="Shape 17"/>
          <p:cNvSpPr/>
          <p:nvPr/>
        </p:nvSpPr>
        <p:spPr>
          <a:xfrm>
            <a:off x="640080" y="5074920"/>
            <a:ext cx="10911535" cy="1097280"/>
          </a:xfrm>
          <a:prstGeom prst="roundRect">
            <a:avLst>
              <a:gd name="adj" fmla="val 6667"/>
            </a:avLst>
          </a:prstGeom>
          <a:solidFill>
            <a:srgbClr val="0D1319"/>
          </a:solidFill>
          <a:ln w="12700">
            <a:solidFill>
              <a:srgbClr val="0D1319"/>
            </a:solidFill>
            <a:prstDash val="solid"/>
          </a:ln>
        </p:spPr>
        <p:txBody>
          <a:bodyPr/>
          <a:lstStyle/>
          <a:p>
            <a:endParaRPr lang="en-US"/>
          </a:p>
        </p:txBody>
      </p:sp>
      <p:sp>
        <p:nvSpPr>
          <p:cNvPr id="20" name="Text 18"/>
          <p:cNvSpPr txBox="1"/>
          <p:nvPr/>
        </p:nvSpPr>
        <p:spPr>
          <a:xfrm>
            <a:off x="1005840" y="5257800"/>
            <a:ext cx="10424160" cy="731520"/>
          </a:xfrm>
          <a:prstGeom prst="rect">
            <a:avLst/>
          </a:prstGeom>
          <a:noFill/>
          <a:ln/>
        </p:spPr>
        <p:txBody>
          <a:bodyPr wrap="square" lIns="0" tIns="0" rIns="0" bIns="0" rtlCol="0" anchor="ctr"/>
          <a:lstStyle/>
          <a:p>
            <a:pPr marL="0" indent="0">
              <a:lnSpc>
                <a:spcPts val="2100"/>
              </a:lnSpc>
              <a:buNone/>
            </a:pPr>
            <a:r>
              <a:rPr lang="en-US" sz="1550" dirty="0">
                <a:solidFill>
                  <a:srgbClr val="E9EDEA"/>
                </a:solidFill>
                <a:latin typeface="Cambria" pitchFamily="34" charset="0"/>
                <a:ea typeface="Cambria" pitchFamily="34" charset="-122"/>
                <a:cs typeface="Cambria" pitchFamily="34" charset="-120"/>
              </a:rPr>
              <a:t>The throughline so far: Pygmalion never asks the statue, Victor never provides for the creature, and these three works are three different ways of handling the fact that the made thing now has an audience with a controller in its hands.</a:t>
            </a:r>
            <a:endParaRPr lang="en-US" sz="15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7">
    <p:bg>
      <p:bgPr>
        <a:solidFill>
          <a:srgbClr val="0D1319"/>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7FD0A5"/>
          </a:solidFill>
          <a:ln/>
        </p:spPr>
        <p:txBody>
          <a:bodyPr/>
          <a:lstStyle/>
          <a:p>
            <a:endParaRPr lang="en-US"/>
          </a:p>
        </p:txBody>
      </p:sp>
      <p:sp>
        <p:nvSpPr>
          <p:cNvPr id="3" name="Text 1"/>
          <p:cNvSpPr txBox="1"/>
          <p:nvPr/>
        </p:nvSpPr>
        <p:spPr>
          <a:xfrm>
            <a:off x="886968" y="438912"/>
            <a:ext cx="10515600" cy="274320"/>
          </a:xfrm>
          <a:prstGeom prst="rect">
            <a:avLst/>
          </a:prstGeom>
          <a:noFill/>
          <a:ln/>
        </p:spPr>
        <p:txBody>
          <a:bodyPr wrap="square" lIns="0" tIns="0" rIns="0" bIns="0" rtlCol="0" anchor="ctr"/>
          <a:lstStyle/>
          <a:p>
            <a:pPr marL="0" indent="0">
              <a:buNone/>
            </a:pPr>
            <a:r>
              <a:rPr lang="en-US" sz="1100" b="1" kern="0" spc="160">
                <a:solidFill>
                  <a:srgbClr val="7FD0A5"/>
                </a:solidFill>
                <a:latin typeface="Calibri" pitchFamily="34" charset="0"/>
                <a:ea typeface="Calibri" pitchFamily="34" charset="-122"/>
                <a:cs typeface="Calibri" pitchFamily="34" charset="-120"/>
              </a:rPr>
              <a:t>EXIT TICKET</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marL="0" indent="0">
              <a:buNone/>
            </a:pPr>
            <a:r>
              <a:rPr lang="en-US" sz="3300" b="1" dirty="0">
                <a:solidFill>
                  <a:srgbClr val="E9EDEA"/>
                </a:solidFill>
                <a:latin typeface="Cambria" pitchFamily="34" charset="0"/>
                <a:ea typeface="Cambria" pitchFamily="34" charset="-122"/>
                <a:cs typeface="Cambria" pitchFamily="34" charset="-120"/>
              </a:rPr>
              <a:t>One paragraph</a:t>
            </a:r>
            <a:endParaRPr lang="en-US" sz="3300" dirty="0"/>
          </a:p>
        </p:txBody>
      </p:sp>
      <p:sp>
        <p:nvSpPr>
          <p:cNvPr id="5" name="Shape 3"/>
          <p:cNvSpPr/>
          <p:nvPr/>
        </p:nvSpPr>
        <p:spPr>
          <a:xfrm>
            <a:off x="640080" y="1737360"/>
            <a:ext cx="6675120" cy="2331720"/>
          </a:xfrm>
          <a:prstGeom prst="roundRect">
            <a:avLst>
              <a:gd name="adj" fmla="val 3137"/>
            </a:avLst>
          </a:prstGeom>
          <a:solidFill>
            <a:srgbClr val="1A242E"/>
          </a:solidFill>
          <a:ln w="12700">
            <a:solidFill>
              <a:srgbClr val="1A242E"/>
            </a:solidFill>
            <a:prstDash val="solid"/>
          </a:ln>
        </p:spPr>
        <p:txBody>
          <a:bodyPr/>
          <a:lstStyle/>
          <a:p>
            <a:endParaRPr lang="en-US"/>
          </a:p>
        </p:txBody>
      </p:sp>
      <p:sp>
        <p:nvSpPr>
          <p:cNvPr id="6" name="Text 4"/>
          <p:cNvSpPr txBox="1"/>
          <p:nvPr/>
        </p:nvSpPr>
        <p:spPr>
          <a:xfrm>
            <a:off x="1024128" y="1965960"/>
            <a:ext cx="5897880" cy="1874520"/>
          </a:xfrm>
          <a:prstGeom prst="rect">
            <a:avLst/>
          </a:prstGeom>
          <a:noFill/>
          <a:ln/>
        </p:spPr>
        <p:txBody>
          <a:bodyPr wrap="square" lIns="0" tIns="0" rIns="0" bIns="0" rtlCol="0" anchor="ctr"/>
          <a:lstStyle/>
          <a:p>
            <a:pPr marL="0" indent="0">
              <a:lnSpc>
                <a:spcPts val="2500"/>
              </a:lnSpc>
              <a:buNone/>
            </a:pPr>
            <a:r>
              <a:rPr lang="en-US" sz="1650" dirty="0">
                <a:solidFill>
                  <a:srgbClr val="FFFFFF"/>
                </a:solidFill>
                <a:latin typeface="Cambria" pitchFamily="34" charset="0"/>
                <a:ea typeface="Cambria" pitchFamily="34" charset="-122"/>
                <a:cs typeface="Cambria" pitchFamily="34" charset="-120"/>
              </a:rPr>
              <a:t>Return to the choice you wrote about five hours ago. Using one of today’s four senses of responsible — causal, authorial, accountable, exposed — say precisely what that work made you responsible for, and name the rule that did it.</a:t>
            </a:r>
            <a:endParaRPr lang="en-US" sz="1650" dirty="0"/>
          </a:p>
        </p:txBody>
      </p:sp>
      <p:sp>
        <p:nvSpPr>
          <p:cNvPr id="7" name="Shape 5"/>
          <p:cNvSpPr/>
          <p:nvPr/>
        </p:nvSpPr>
        <p:spPr>
          <a:xfrm>
            <a:off x="7635240" y="1737360"/>
            <a:ext cx="3886200" cy="2331720"/>
          </a:xfrm>
          <a:prstGeom prst="roundRect">
            <a:avLst>
              <a:gd name="adj" fmla="val 3137"/>
            </a:avLst>
          </a:prstGeom>
          <a:solidFill>
            <a:srgbClr val="2F8F5B"/>
          </a:solidFill>
          <a:ln w="12700">
            <a:solidFill>
              <a:srgbClr val="2F8F5B"/>
            </a:solidFill>
            <a:prstDash val="solid"/>
          </a:ln>
        </p:spPr>
        <p:txBody>
          <a:bodyPr/>
          <a:lstStyle/>
          <a:p>
            <a:endParaRPr lang="en-US"/>
          </a:p>
        </p:txBody>
      </p:sp>
      <p:sp>
        <p:nvSpPr>
          <p:cNvPr id="8" name="Text 6"/>
          <p:cNvSpPr txBox="1"/>
          <p:nvPr/>
        </p:nvSpPr>
        <p:spPr>
          <a:xfrm>
            <a:off x="7955280" y="1938528"/>
            <a:ext cx="3291840" cy="292608"/>
          </a:xfrm>
          <a:prstGeom prst="rect">
            <a:avLst/>
          </a:prstGeom>
          <a:noFill/>
          <a:ln/>
        </p:spPr>
        <p:txBody>
          <a:bodyPr wrap="square" lIns="0" tIns="0" rIns="0" bIns="0" rtlCol="0" anchor="ctr"/>
          <a:lstStyle/>
          <a:p>
            <a:pPr marL="0" indent="0">
              <a:buNone/>
            </a:pPr>
            <a:r>
              <a:rPr lang="en-US" sz="1150" b="1" kern="0" spc="130" dirty="0">
                <a:solidFill>
                  <a:srgbClr val="FFFFFF"/>
                </a:solidFill>
                <a:latin typeface="Calibri" pitchFamily="34" charset="0"/>
                <a:ea typeface="Calibri" pitchFamily="34" charset="-122"/>
                <a:cs typeface="Calibri" pitchFamily="34" charset="-120"/>
              </a:rPr>
              <a:t>A “Good/Reasonable” Answer</a:t>
            </a:r>
            <a:endParaRPr lang="en-US" sz="1150" dirty="0"/>
          </a:p>
        </p:txBody>
      </p:sp>
      <p:sp>
        <p:nvSpPr>
          <p:cNvPr id="9" name="Text 7"/>
          <p:cNvSpPr txBox="1"/>
          <p:nvPr/>
        </p:nvSpPr>
        <p:spPr>
          <a:xfrm>
            <a:off x="7955280" y="2359152"/>
            <a:ext cx="3291840" cy="1554480"/>
          </a:xfrm>
          <a:prstGeom prst="rect">
            <a:avLst/>
          </a:prstGeom>
          <a:noFill/>
          <a:ln/>
        </p:spPr>
        <p:txBody>
          <a:bodyPr wrap="square" lIns="0" tIns="0" rIns="0" bIns="0" rtlCol="0" anchor="ctr"/>
          <a:lstStyle/>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A named mechanic, not a named feeling. “It made me feel guilty” is a starting point; “it counted X and showed me Y” is an answer.</a:t>
            </a:r>
            <a:endParaRPr lang="en-US" sz="1300" dirty="0"/>
          </a:p>
        </p:txBody>
      </p:sp>
      <p:sp>
        <p:nvSpPr>
          <p:cNvPr id="17" name="Text 15"/>
          <p:cNvSpPr txBox="1"/>
          <p:nvPr/>
        </p:nvSpPr>
        <p:spPr>
          <a:xfrm>
            <a:off x="640080" y="6291072"/>
            <a:ext cx="10881360" cy="274320"/>
          </a:xfrm>
          <a:prstGeom prst="rect">
            <a:avLst/>
          </a:prstGeom>
          <a:noFill/>
          <a:ln/>
        </p:spPr>
        <p:txBody>
          <a:bodyPr wrap="square" lIns="0" tIns="0" rIns="0" bIns="0" rtlCol="0" anchor="ctr"/>
          <a:lstStyle/>
          <a:p>
            <a:pPr marL="0" indent="0">
              <a:buNone/>
            </a:pPr>
            <a:r>
              <a:rPr lang="en-US" sz="1000" i="1" dirty="0">
                <a:solidFill>
                  <a:srgbClr val="5C6672"/>
                </a:solidFill>
                <a:latin typeface="Calibri" pitchFamily="34" charset="0"/>
                <a:ea typeface="Calibri" pitchFamily="34" charset="-122"/>
                <a:cs typeface="Calibri" pitchFamily="34" charset="-120"/>
              </a:rPr>
              <a:t>Essay: Ian Bogost, “The Rhetoric of Video Games,” in The Ecology of Games, ed. Katie Salen (MIT Press, 2008), 117–40 — Creative Commons, free PDF.</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TotalTime>
  <Words>9795</Words>
  <Application>Microsoft Macintosh PowerPoint</Application>
  <PresentationFormat>Widescreen</PresentationFormat>
  <Paragraphs>556</Paragraphs>
  <Slides>43</Slides>
  <Notes>43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Simulation and Synthetic Personhood</dc:title>
  <dc:subject>PptxGenJS Presentation</dc:subject>
  <dc:creator>Course materials</dc:creator>
  <cp:lastModifiedBy>Gao, Ashley</cp:lastModifiedBy>
  <cp:revision>10</cp:revision>
  <dcterms:created xsi:type="dcterms:W3CDTF">2026-09-10T15:28:52Z</dcterms:created>
  <dcterms:modified xsi:type="dcterms:W3CDTF">2026-09-17T20:49:40Z</dcterms:modified>
</cp:coreProperties>
</file>