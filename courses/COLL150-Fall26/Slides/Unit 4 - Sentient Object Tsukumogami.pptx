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3" r:id="rId17"/>
    <p:sldId id="274" r:id="rId18"/>
    <p:sldId id="275" r:id="rId19"/>
    <p:sldId id="276" r:id="rId20"/>
    <p:sldId id="277" r:id="rId21"/>
    <p:sldId id="278" r:id="rId22"/>
    <p:sldId id="280" r:id="rId23"/>
    <p:sldId id="281" r:id="rId24"/>
    <p:sldId id="282" r:id="rId25"/>
    <p:sldId id="283" r:id="rId26"/>
    <p:sldId id="284" r:id="rId27"/>
    <p:sldId id="286" r:id="rId28"/>
    <p:sldId id="287" r:id="rId29"/>
    <p:sldId id="288" r:id="rId30"/>
    <p:sldId id="289" r:id="rId31"/>
    <p:sldId id="290" r:id="rId32"/>
    <p:sldId id="291" r:id="rId33"/>
    <p:sldId id="292"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0" d="100"/>
          <a:sy n="120" d="100"/>
        </p:scale>
        <p:origin x="4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ley Y. Gao" userId="f07f2add99568f29" providerId="LiveId" clId="{D3788EF0-A3FF-42A8-A4D2-3038F3EB0EE4}"/>
    <pc:docChg chg="custSel delSld modSld">
      <pc:chgData name="Ashley Y. Gao" userId="f07f2add99568f29" providerId="LiveId" clId="{D3788EF0-A3FF-42A8-A4D2-3038F3EB0EE4}" dt="2026-09-10T16:27:48.230" v="113" actId="20577"/>
      <pc:docMkLst>
        <pc:docMk/>
      </pc:docMkLst>
      <pc:sldChg chg="modSp mod">
        <pc:chgData name="Ashley Y. Gao" userId="f07f2add99568f29" providerId="LiveId" clId="{D3788EF0-A3FF-42A8-A4D2-3038F3EB0EE4}" dt="2026-09-10T16:20:48.029" v="0" actId="20577"/>
        <pc:sldMkLst>
          <pc:docMk/>
          <pc:sldMk cId="0" sldId="256"/>
        </pc:sldMkLst>
        <pc:spChg chg="mod">
          <ac:chgData name="Ashley Y. Gao" userId="f07f2add99568f29" providerId="LiveId" clId="{D3788EF0-A3FF-42A8-A4D2-3038F3EB0EE4}" dt="2026-09-10T16:20:48.029" v="0" actId="20577"/>
          <ac:spMkLst>
            <pc:docMk/>
            <pc:sldMk cId="0" sldId="256"/>
            <ac:spMk id="9" creationId="{00000000-0000-0000-0000-000000000000}"/>
          </ac:spMkLst>
        </pc:spChg>
      </pc:sldChg>
      <pc:sldChg chg="del">
        <pc:chgData name="Ashley Y. Gao" userId="f07f2add99568f29" providerId="LiveId" clId="{D3788EF0-A3FF-42A8-A4D2-3038F3EB0EE4}" dt="2026-09-10T16:20:57.771" v="1" actId="47"/>
        <pc:sldMkLst>
          <pc:docMk/>
          <pc:sldMk cId="0" sldId="257"/>
        </pc:sldMkLst>
      </pc:sldChg>
      <pc:sldChg chg="modSp mod">
        <pc:chgData name="Ashley Y. Gao" userId="f07f2add99568f29" providerId="LiveId" clId="{D3788EF0-A3FF-42A8-A4D2-3038F3EB0EE4}" dt="2026-09-10T16:21:33.255" v="4" actId="20577"/>
        <pc:sldMkLst>
          <pc:docMk/>
          <pc:sldMk cId="0" sldId="258"/>
        </pc:sldMkLst>
        <pc:spChg chg="mod">
          <ac:chgData name="Ashley Y. Gao" userId="f07f2add99568f29" providerId="LiveId" clId="{D3788EF0-A3FF-42A8-A4D2-3038F3EB0EE4}" dt="2026-09-10T16:21:33.255" v="4" actId="20577"/>
          <ac:spMkLst>
            <pc:docMk/>
            <pc:sldMk cId="0" sldId="258"/>
            <ac:spMk id="16" creationId="{00000000-0000-0000-0000-000000000000}"/>
          </ac:spMkLst>
        </pc:spChg>
      </pc:sldChg>
      <pc:sldChg chg="modSp mod">
        <pc:chgData name="Ashley Y. Gao" userId="f07f2add99568f29" providerId="LiveId" clId="{D3788EF0-A3FF-42A8-A4D2-3038F3EB0EE4}" dt="2026-09-10T16:22:15.978" v="11" actId="20577"/>
        <pc:sldMkLst>
          <pc:docMk/>
          <pc:sldMk cId="0" sldId="260"/>
        </pc:sldMkLst>
        <pc:spChg chg="mod">
          <ac:chgData name="Ashley Y. Gao" userId="f07f2add99568f29" providerId="LiveId" clId="{D3788EF0-A3FF-42A8-A4D2-3038F3EB0EE4}" dt="2026-09-10T16:22:15.978" v="11" actId="20577"/>
          <ac:spMkLst>
            <pc:docMk/>
            <pc:sldMk cId="0" sldId="260"/>
            <ac:spMk id="3" creationId="{00000000-0000-0000-0000-000000000000}"/>
          </ac:spMkLst>
        </pc:spChg>
      </pc:sldChg>
      <pc:sldChg chg="modSp mod">
        <pc:chgData name="Ashley Y. Gao" userId="f07f2add99568f29" providerId="LiveId" clId="{D3788EF0-A3FF-42A8-A4D2-3038F3EB0EE4}" dt="2026-09-10T16:22:34.630" v="12" actId="20577"/>
        <pc:sldMkLst>
          <pc:docMk/>
          <pc:sldMk cId="0" sldId="263"/>
        </pc:sldMkLst>
        <pc:spChg chg="mod">
          <ac:chgData name="Ashley Y. Gao" userId="f07f2add99568f29" providerId="LiveId" clId="{D3788EF0-A3FF-42A8-A4D2-3038F3EB0EE4}" dt="2026-09-10T16:22:34.630" v="12" actId="20577"/>
          <ac:spMkLst>
            <pc:docMk/>
            <pc:sldMk cId="0" sldId="263"/>
            <ac:spMk id="6" creationId="{00000000-0000-0000-0000-000000000000}"/>
          </ac:spMkLst>
        </pc:spChg>
      </pc:sldChg>
      <pc:sldChg chg="modSp mod">
        <pc:chgData name="Ashley Y. Gao" userId="f07f2add99568f29" providerId="LiveId" clId="{D3788EF0-A3FF-42A8-A4D2-3038F3EB0EE4}" dt="2026-09-10T16:23:00.748" v="17" actId="20577"/>
        <pc:sldMkLst>
          <pc:docMk/>
          <pc:sldMk cId="0" sldId="266"/>
        </pc:sldMkLst>
        <pc:spChg chg="mod">
          <ac:chgData name="Ashley Y. Gao" userId="f07f2add99568f29" providerId="LiveId" clId="{D3788EF0-A3FF-42A8-A4D2-3038F3EB0EE4}" dt="2026-09-10T16:23:00.748" v="17" actId="20577"/>
          <ac:spMkLst>
            <pc:docMk/>
            <pc:sldMk cId="0" sldId="266"/>
            <ac:spMk id="6" creationId="{00000000-0000-0000-0000-000000000000}"/>
          </ac:spMkLst>
        </pc:spChg>
      </pc:sldChg>
      <pc:sldChg chg="modSp mod">
        <pc:chgData name="Ashley Y. Gao" userId="f07f2add99568f29" providerId="LiveId" clId="{D3788EF0-A3FF-42A8-A4D2-3038F3EB0EE4}" dt="2026-09-10T16:23:39.173" v="18" actId="20577"/>
        <pc:sldMkLst>
          <pc:docMk/>
          <pc:sldMk cId="0" sldId="271"/>
        </pc:sldMkLst>
        <pc:spChg chg="mod">
          <ac:chgData name="Ashley Y. Gao" userId="f07f2add99568f29" providerId="LiveId" clId="{D3788EF0-A3FF-42A8-A4D2-3038F3EB0EE4}" dt="2026-09-10T16:23:39.173" v="18" actId="20577"/>
          <ac:spMkLst>
            <pc:docMk/>
            <pc:sldMk cId="0" sldId="271"/>
            <ac:spMk id="3" creationId="{00000000-0000-0000-0000-000000000000}"/>
          </ac:spMkLst>
        </pc:spChg>
      </pc:sldChg>
      <pc:sldChg chg="del">
        <pc:chgData name="Ashley Y. Gao" userId="f07f2add99568f29" providerId="LiveId" clId="{D3788EF0-A3FF-42A8-A4D2-3038F3EB0EE4}" dt="2026-09-10T16:23:41.615" v="19" actId="47"/>
        <pc:sldMkLst>
          <pc:docMk/>
          <pc:sldMk cId="0" sldId="272"/>
        </pc:sldMkLst>
      </pc:sldChg>
      <pc:sldChg chg="modSp mod">
        <pc:chgData name="Ashley Y. Gao" userId="f07f2add99568f29" providerId="LiveId" clId="{D3788EF0-A3FF-42A8-A4D2-3038F3EB0EE4}" dt="2026-09-10T16:23:46.417" v="20" actId="20577"/>
        <pc:sldMkLst>
          <pc:docMk/>
          <pc:sldMk cId="0" sldId="273"/>
        </pc:sldMkLst>
        <pc:spChg chg="mod">
          <ac:chgData name="Ashley Y. Gao" userId="f07f2add99568f29" providerId="LiveId" clId="{D3788EF0-A3FF-42A8-A4D2-3038F3EB0EE4}" dt="2026-09-10T16:23:46.417" v="20" actId="20577"/>
          <ac:spMkLst>
            <pc:docMk/>
            <pc:sldMk cId="0" sldId="273"/>
            <ac:spMk id="6" creationId="{00000000-0000-0000-0000-000000000000}"/>
          </ac:spMkLst>
        </pc:spChg>
      </pc:sldChg>
      <pc:sldChg chg="modSp mod">
        <pc:chgData name="Ashley Y. Gao" userId="f07f2add99568f29" providerId="LiveId" clId="{D3788EF0-A3FF-42A8-A4D2-3038F3EB0EE4}" dt="2026-09-10T16:24:31.495" v="25" actId="20577"/>
        <pc:sldMkLst>
          <pc:docMk/>
          <pc:sldMk cId="0" sldId="275"/>
        </pc:sldMkLst>
        <pc:spChg chg="mod">
          <ac:chgData name="Ashley Y. Gao" userId="f07f2add99568f29" providerId="LiveId" clId="{D3788EF0-A3FF-42A8-A4D2-3038F3EB0EE4}" dt="2026-09-10T16:24:31.495" v="25" actId="20577"/>
          <ac:spMkLst>
            <pc:docMk/>
            <pc:sldMk cId="0" sldId="275"/>
            <ac:spMk id="18" creationId="{00000000-0000-0000-0000-000000000000}"/>
          </ac:spMkLst>
        </pc:spChg>
      </pc:sldChg>
      <pc:sldChg chg="delSp mod">
        <pc:chgData name="Ashley Y. Gao" userId="f07f2add99568f29" providerId="LiveId" clId="{D3788EF0-A3FF-42A8-A4D2-3038F3EB0EE4}" dt="2026-09-10T16:25:02.176" v="27" actId="478"/>
        <pc:sldMkLst>
          <pc:docMk/>
          <pc:sldMk cId="0" sldId="276"/>
        </pc:sldMkLst>
        <pc:spChg chg="del">
          <ac:chgData name="Ashley Y. Gao" userId="f07f2add99568f29" providerId="LiveId" clId="{D3788EF0-A3FF-42A8-A4D2-3038F3EB0EE4}" dt="2026-09-10T16:25:02.176" v="27" actId="478"/>
          <ac:spMkLst>
            <pc:docMk/>
            <pc:sldMk cId="0" sldId="276"/>
            <ac:spMk id="21" creationId="{00000000-0000-0000-0000-000000000000}"/>
          </ac:spMkLst>
        </pc:spChg>
        <pc:spChg chg="del">
          <ac:chgData name="Ashley Y. Gao" userId="f07f2add99568f29" providerId="LiveId" clId="{D3788EF0-A3FF-42A8-A4D2-3038F3EB0EE4}" dt="2026-09-10T16:25:00.401" v="26" actId="478"/>
          <ac:spMkLst>
            <pc:docMk/>
            <pc:sldMk cId="0" sldId="276"/>
            <ac:spMk id="22" creationId="{00000000-0000-0000-0000-000000000000}"/>
          </ac:spMkLst>
        </pc:spChg>
      </pc:sldChg>
      <pc:sldChg chg="del">
        <pc:chgData name="Ashley Y. Gao" userId="f07f2add99568f29" providerId="LiveId" clId="{D3788EF0-A3FF-42A8-A4D2-3038F3EB0EE4}" dt="2026-09-10T16:25:21.030" v="28" actId="47"/>
        <pc:sldMkLst>
          <pc:docMk/>
          <pc:sldMk cId="0" sldId="279"/>
        </pc:sldMkLst>
      </pc:sldChg>
      <pc:sldChg chg="del">
        <pc:chgData name="Ashley Y. Gao" userId="f07f2add99568f29" providerId="LiveId" clId="{D3788EF0-A3FF-42A8-A4D2-3038F3EB0EE4}" dt="2026-09-10T16:25:46.683" v="29" actId="47"/>
        <pc:sldMkLst>
          <pc:docMk/>
          <pc:sldMk cId="0" sldId="285"/>
        </pc:sldMkLst>
      </pc:sldChg>
      <pc:sldChg chg="modSp mod">
        <pc:chgData name="Ashley Y. Gao" userId="f07f2add99568f29" providerId="LiveId" clId="{D3788EF0-A3FF-42A8-A4D2-3038F3EB0EE4}" dt="2026-09-10T16:26:34.600" v="34" actId="20577"/>
        <pc:sldMkLst>
          <pc:docMk/>
          <pc:sldMk cId="0" sldId="288"/>
        </pc:sldMkLst>
        <pc:spChg chg="mod">
          <ac:chgData name="Ashley Y. Gao" userId="f07f2add99568f29" providerId="LiveId" clId="{D3788EF0-A3FF-42A8-A4D2-3038F3EB0EE4}" dt="2026-09-10T16:26:34.600" v="34" actId="20577"/>
          <ac:spMkLst>
            <pc:docMk/>
            <pc:sldMk cId="0" sldId="288"/>
            <ac:spMk id="18" creationId="{00000000-0000-0000-0000-000000000000}"/>
          </ac:spMkLst>
        </pc:spChg>
      </pc:sldChg>
      <pc:sldChg chg="modSp mod">
        <pc:chgData name="Ashley Y. Gao" userId="f07f2add99568f29" providerId="LiveId" clId="{D3788EF0-A3FF-42A8-A4D2-3038F3EB0EE4}" dt="2026-09-10T16:27:00.502" v="44" actId="20577"/>
        <pc:sldMkLst>
          <pc:docMk/>
          <pc:sldMk cId="0" sldId="290"/>
        </pc:sldMkLst>
        <pc:spChg chg="mod">
          <ac:chgData name="Ashley Y. Gao" userId="f07f2add99568f29" providerId="LiveId" clId="{D3788EF0-A3FF-42A8-A4D2-3038F3EB0EE4}" dt="2026-09-10T16:27:00.502" v="44" actId="20577"/>
          <ac:spMkLst>
            <pc:docMk/>
            <pc:sldMk cId="0" sldId="290"/>
            <ac:spMk id="3" creationId="{00000000-0000-0000-0000-000000000000}"/>
          </ac:spMkLst>
        </pc:spChg>
      </pc:sldChg>
      <pc:sldChg chg="delSp modSp mod">
        <pc:chgData name="Ashley Y. Gao" userId="f07f2add99568f29" providerId="LiveId" clId="{D3788EF0-A3FF-42A8-A4D2-3038F3EB0EE4}" dt="2026-09-10T16:27:48.230" v="113" actId="20577"/>
        <pc:sldMkLst>
          <pc:docMk/>
          <pc:sldMk cId="0" sldId="292"/>
        </pc:sldMkLst>
        <pc:spChg chg="mod">
          <ac:chgData name="Ashley Y. Gao" userId="f07f2add99568f29" providerId="LiveId" clId="{D3788EF0-A3FF-42A8-A4D2-3038F3EB0EE4}" dt="2026-09-10T16:27:48.230" v="113" actId="20577"/>
          <ac:spMkLst>
            <pc:docMk/>
            <pc:sldMk cId="0" sldId="292"/>
            <ac:spMk id="3" creationId="{00000000-0000-0000-0000-000000000000}"/>
          </ac:spMkLst>
        </pc:spChg>
        <pc:spChg chg="mod">
          <ac:chgData name="Ashley Y. Gao" userId="f07f2add99568f29" providerId="LiveId" clId="{D3788EF0-A3FF-42A8-A4D2-3038F3EB0EE4}" dt="2026-09-10T16:27:39.391" v="110" actId="20577"/>
          <ac:spMkLst>
            <pc:docMk/>
            <pc:sldMk cId="0" sldId="292"/>
            <ac:spMk id="8" creationId="{00000000-0000-0000-0000-000000000000}"/>
          </ac:spMkLst>
        </pc:spChg>
        <pc:spChg chg="del">
          <ac:chgData name="Ashley Y. Gao" userId="f07f2add99568f29" providerId="LiveId" clId="{D3788EF0-A3FF-42A8-A4D2-3038F3EB0EE4}" dt="2026-09-10T16:27:10.846" v="45" actId="478"/>
          <ac:spMkLst>
            <pc:docMk/>
            <pc:sldMk cId="0" sldId="292"/>
            <ac:spMk id="10" creationId="{00000000-0000-0000-0000-000000000000}"/>
          </ac:spMkLst>
        </pc:spChg>
        <pc:spChg chg="del">
          <ac:chgData name="Ashley Y. Gao" userId="f07f2add99568f29" providerId="LiveId" clId="{D3788EF0-A3FF-42A8-A4D2-3038F3EB0EE4}" dt="2026-09-10T16:27:16.927" v="51" actId="478"/>
          <ac:spMkLst>
            <pc:docMk/>
            <pc:sldMk cId="0" sldId="292"/>
            <ac:spMk id="11" creationId="{00000000-0000-0000-0000-000000000000}"/>
          </ac:spMkLst>
        </pc:spChg>
        <pc:spChg chg="del">
          <ac:chgData name="Ashley Y. Gao" userId="f07f2add99568f29" providerId="LiveId" clId="{D3788EF0-A3FF-42A8-A4D2-3038F3EB0EE4}" dt="2026-09-10T16:27:12.291" v="46" actId="478"/>
          <ac:spMkLst>
            <pc:docMk/>
            <pc:sldMk cId="0" sldId="292"/>
            <ac:spMk id="12" creationId="{00000000-0000-0000-0000-000000000000}"/>
          </ac:spMkLst>
        </pc:spChg>
        <pc:spChg chg="del">
          <ac:chgData name="Ashley Y. Gao" userId="f07f2add99568f29" providerId="LiveId" clId="{D3788EF0-A3FF-42A8-A4D2-3038F3EB0EE4}" dt="2026-09-10T16:27:16.298" v="50" actId="478"/>
          <ac:spMkLst>
            <pc:docMk/>
            <pc:sldMk cId="0" sldId="292"/>
            <ac:spMk id="13" creationId="{00000000-0000-0000-0000-000000000000}"/>
          </ac:spMkLst>
        </pc:spChg>
        <pc:spChg chg="del">
          <ac:chgData name="Ashley Y. Gao" userId="f07f2add99568f29" providerId="LiveId" clId="{D3788EF0-A3FF-42A8-A4D2-3038F3EB0EE4}" dt="2026-09-10T16:27:13.317" v="47" actId="478"/>
          <ac:spMkLst>
            <pc:docMk/>
            <pc:sldMk cId="0" sldId="292"/>
            <ac:spMk id="14" creationId="{00000000-0000-0000-0000-000000000000}"/>
          </ac:spMkLst>
        </pc:spChg>
        <pc:spChg chg="del">
          <ac:chgData name="Ashley Y. Gao" userId="f07f2add99568f29" providerId="LiveId" clId="{D3788EF0-A3FF-42A8-A4D2-3038F3EB0EE4}" dt="2026-09-10T16:27:15.603" v="49" actId="478"/>
          <ac:spMkLst>
            <pc:docMk/>
            <pc:sldMk cId="0" sldId="292"/>
            <ac:spMk id="15" creationId="{00000000-0000-0000-0000-000000000000}"/>
          </ac:spMkLst>
        </pc:spChg>
        <pc:spChg chg="del">
          <ac:chgData name="Ashley Y. Gao" userId="f07f2add99568f29" providerId="LiveId" clId="{D3788EF0-A3FF-42A8-A4D2-3038F3EB0EE4}" dt="2026-09-10T16:27:14.512" v="48" actId="478"/>
          <ac:spMkLst>
            <pc:docMk/>
            <pc:sldMk cId="0" sldId="292"/>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9820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unit where the course’s inherited assumptions get named as assumptions. Everything in Units 1 and 2 shared a structure — a maker, a moment, a transgression, a punishment — and students have had three weeks to mistake that structure for a fact about made minds. The job today is to show them a fully developed tradition that has none of it, and then to ask which tradition better describes the systems they use.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out loud that the reading was assigned as “the chapter on tools and objects” and that no such chapter exists under that name — it teaches students that even a syllabus is a claim that can be checked against a table of contents.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lecture through this slide. Put it up, give them ninety seconds to read it, and tell them it stays available. Front-loading vocabulary is the difference between a room that can follow the Tsukumogami-ki plot and a room quietly lost from minute forty.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forbidden words matter. Every one of them relocates the significance from the object to the owner’s psychology, which is precisely the move the tsukumogami tradition does not make. Students will find the constraint genuinely difficult, and noticing that difficulty is the point.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this and leave it up for five hours. The question is deliberately not “which tradition is correct” — it is a question about description, which students can actually adjudicate with evidence.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students will object that Pygmalion is not really Promethean because nothing is stolen. That is a good objection and the honest answer is that the Ovid case is the weakest member of the family — which is itself worth noticing, since it is also the case that most resembles a modern product.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Twenty-five minutes. This block is protective: it prevents the rest of the day from turning into “the Japanese believe objects have souls,” which is both false and useless.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callback to the Detroit critique is deliberate and should be made explicitly. The same standard we applied to a game applies to us. Students who watched you take a text apart for borrowing badly will hold you to it, and they should.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useful idea Foster gives an undergraduate, and it generalises far beyond Japan. Students who leave with it will read the rest of the syllabus better.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minutes. Sekien is downstream of this text by three hundred years; teaching him first would give students pictures without a premise.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missing source is the best five minutes in this block. It gives you a live case of authority manufactured by citation, and it lets you ask what else in the syllabus rests on a footnote nobody has checked. Students enjoy it enormously and it costs nothing.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on the absence list in the first card. Students have spent three weeks inside stories where the interesting question is what the maker did, and it takes a minute for it to land that there is no maker in this sentence at all.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move two hard. It is the hinge that connects this unit to the Frankenstein unit, and if students are holding it when you reach the comparison block the payoff lands without your having to announce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card is the one to slow down on. The Western tradition treats the sentient/non-sentient boundary as the whole drama — crossing it is the transgression. Here the boundary is soft to begin with, so nothing dramatic happens when something crosses it, and the story is free to be about obligation instead.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three is the one to collect answers on, because it produces the objection you want in the comparison block: that locating the wrong in disposal lets the maker off entirely. Keep whoever says it and call on them again at 2:35.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Fifty minutes: fifteen on context, twenty-five on four plates, ten on the invention problem and discussion.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Yoda and Alt translation is cheap, complete, annotated and in print — if you want students to have the plates in hand rather than on a laptop, that is the volume to order.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comic register surprises students who expect solemnity from anything old and foreign. Naming it early stops them from over-reading the plates as sincere religious statements, and it makes the Sekien section a lot more enjoyable.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Kyōrinrin is the plate that most reliably produces good discussion, because the reproach is unambiguous and students immediately reach for their own unread books and unopened apps. Abumiguchi is the quietest and the most moving — a piece of equipment outliving the person who used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students something to do with an image beyond identifying it, and the four moves transfer directly to any anthropomorphised product design — ask them where the face goes on a smart speaker and why.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intellectual honesty slide and it strengthens rather than weakens the week’s argument. The hundred-year premise — the part we actually need — is the medieval part. The invented part is the pictures. Making that distinction explicit inoculates the comparison block against the obvious objection.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Forty-five minutes and the centre of the week. Resist resolving it in favour of the accretive frame — the last two slides of this block exist to stop that.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table live if you can, taking the right-hand column from students. They can generate all of it from the last two hours, and generating it is what makes the sixth row land as a discovery rather than as an assertion.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payoff for three weeks of setup and it should feel like one. The point is not that the Western texts are wrong — it is that they contain accretive material their own framework could not theorise, which is exactly what an inherited habit looks like from inside.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the room settle on the right-hand column just because it is the new one. The left column contains everything that makes accountability possible, and the takeaway is the position you want them to leave with: two questions, not one.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what keeps the week from being cultural tourism with a moral. It also closes the loop on the whole course so far: every unit has produced one instrument, and the instruments are meant to be used together rather than chosen between.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Thirty-five minutes. The AIBO material is the strongest thing in this section and should get half of it.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tofu detail its moment. It is concrete, humane and slightly funny, and it does more to convey the underlying logic than any amount of abstraction about animism. The needle worked hard in hard material and is laid to rest in something soft.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letters are the detail that lands. Owners send their broken dogs with a written account of the animal’s name and life — which is a document produced for something that will be disassembled for parts. Read that fact slowly and let the room sit with it.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line does the same work as the equivalent line in the Frankenstein unit: it keeps the argument out of the consciousness debate. Students can accept every one of these four without conceding anything metaphysical, which is what makes them usable.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four looks like the soft option and is the hardest — designing a sincere rite forces students to say what exactly is being honoured, and most discover they cannot answer without taking a position on the key question. Give it to a confident group.</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four minutes. If the group reports were good, most of the middle card will already have been said by students, and crediting them is worth more than delivering it cleanly yourself.</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item for next week is the assignment that will generate the best seminar of the term. Students bring a subscription service or an app and discover, out loud, that almost nothing they use is built to be kept — which is the entire week’s argument arriving from their side of the table.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1410"/>
        </a:solidFill>
        <a:effectLst/>
      </p:bgPr>
    </p:bg>
    <p:spTree>
      <p:nvGrpSpPr>
        <p:cNvPr id="1" name=""/>
        <p:cNvGrpSpPr/>
        <p:nvPr/>
      </p:nvGrpSpPr>
      <p:grpSpPr>
        <a:xfrm>
          <a:off x="0" y="0"/>
          <a:ext cx="0" cy="0"/>
          <a:chOff x="0" y="0"/>
          <a:chExt cx="0" cy="0"/>
        </a:xfrm>
      </p:grpSpPr>
      <p:sp>
        <p:nvSpPr>
          <p:cNvPr id="2" name="Shape 0"/>
          <p:cNvSpPr/>
          <p:nvPr/>
        </p:nvSpPr>
        <p:spPr>
          <a:xfrm>
            <a:off x="8686800" y="1600200"/>
            <a:ext cx="2377440" cy="2377440"/>
          </a:xfrm>
          <a:prstGeom prst="ellipse">
            <a:avLst/>
          </a:prstGeom>
          <a:solidFill>
            <a:srgbClr val="B8422A">
              <a:alpha val="70000"/>
            </a:srgbClr>
          </a:solidFill>
          <a:ln/>
        </p:spPr>
        <p:txBody>
          <a:bodyPr/>
          <a:lstStyle/>
          <a:p>
            <a:endParaRPr lang="en-US"/>
          </a:p>
        </p:txBody>
      </p:sp>
      <p:sp>
        <p:nvSpPr>
          <p:cNvPr id="3" name="Shape 1"/>
          <p:cNvSpPr/>
          <p:nvPr/>
        </p:nvSpPr>
        <p:spPr>
          <a:xfrm>
            <a:off x="8046720" y="3063240"/>
            <a:ext cx="2377440" cy="2377440"/>
          </a:xfrm>
          <a:prstGeom prst="ellipse">
            <a:avLst/>
          </a:prstGeom>
          <a:solidFill>
            <a:srgbClr val="9C7C38">
              <a:alpha val="65000"/>
            </a:srgbClr>
          </a:solidFill>
          <a:ln/>
        </p:spPr>
        <p:txBody>
          <a:bodyPr/>
          <a:lstStyle/>
          <a:p>
            <a:endParaRPr lang="en-US"/>
          </a:p>
        </p:txBody>
      </p:sp>
      <p:sp>
        <p:nvSpPr>
          <p:cNvPr id="4" name="Shape 2"/>
          <p:cNvSpPr/>
          <p:nvPr/>
        </p:nvSpPr>
        <p:spPr>
          <a:xfrm>
            <a:off x="9509760" y="3063240"/>
            <a:ext cx="2377440" cy="2377440"/>
          </a:xfrm>
          <a:prstGeom prst="ellipse">
            <a:avLst/>
          </a:prstGeom>
          <a:solidFill>
            <a:srgbClr val="F5EFE3">
              <a:alpha val="75000"/>
            </a:srgbClr>
          </a:solidFill>
          <a:ln/>
        </p:spPr>
        <p:txBody>
          <a:bodyPr/>
          <a:lstStyle/>
          <a:p>
            <a:endParaRPr lang="en-US"/>
          </a:p>
        </p:txBody>
      </p:sp>
      <p:sp>
        <p:nvSpPr>
          <p:cNvPr id="5" name="Text 3"/>
          <p:cNvSpPr txBox="1"/>
          <p:nvPr/>
        </p:nvSpPr>
        <p:spPr>
          <a:xfrm>
            <a:off x="640080" y="1417320"/>
            <a:ext cx="7315200" cy="292608"/>
          </a:xfrm>
          <a:prstGeom prst="rect">
            <a:avLst/>
          </a:prstGeom>
          <a:noFill/>
          <a:ln/>
        </p:spPr>
        <p:txBody>
          <a:bodyPr wrap="square" lIns="0" tIns="0" rIns="0" bIns="0" rtlCol="0" anchor="ctr"/>
          <a:lstStyle/>
          <a:p>
            <a:pPr marL="0" indent="0">
              <a:buNone/>
            </a:pPr>
            <a:r>
              <a:rPr lang="en-US" sz="1200" b="1" kern="0" spc="180" dirty="0">
                <a:solidFill>
                  <a:srgbClr val="DE8C74"/>
                </a:solidFill>
                <a:latin typeface="Calibri" pitchFamily="34" charset="0"/>
                <a:ea typeface="Calibri" pitchFamily="34" charset="-122"/>
                <a:cs typeface="Calibri" pitchFamily="34" charset="-120"/>
              </a:rPr>
              <a:t>AI IN SPECULATIVE MEDIA AND LITERATURES · WEEK 4</a:t>
            </a:r>
            <a:endParaRPr lang="en-US" sz="1200" dirty="0"/>
          </a:p>
        </p:txBody>
      </p:sp>
      <p:sp>
        <p:nvSpPr>
          <p:cNvPr id="6" name="Text 4"/>
          <p:cNvSpPr txBox="1"/>
          <p:nvPr/>
        </p:nvSpPr>
        <p:spPr>
          <a:xfrm>
            <a:off x="640080" y="1874520"/>
            <a:ext cx="7498080" cy="914400"/>
          </a:xfrm>
          <a:prstGeom prst="rect">
            <a:avLst/>
          </a:prstGeom>
          <a:noFill/>
          <a:ln/>
        </p:spPr>
        <p:txBody>
          <a:bodyPr wrap="square" lIns="0" tIns="0" rIns="0" bIns="0" rtlCol="0" anchor="ctr"/>
          <a:lstStyle/>
          <a:p>
            <a:pPr marL="0" indent="0">
              <a:buNone/>
            </a:pPr>
            <a:r>
              <a:rPr lang="en-US" sz="4600" b="1" dirty="0">
                <a:solidFill>
                  <a:srgbClr val="F5EFE3"/>
                </a:solidFill>
                <a:latin typeface="Cambria" pitchFamily="34" charset="0"/>
                <a:ea typeface="Cambria" pitchFamily="34" charset="-122"/>
                <a:cs typeface="Cambria" pitchFamily="34" charset="-120"/>
              </a:rPr>
              <a:t>The Sentient Object</a:t>
            </a:r>
            <a:endParaRPr lang="en-US" sz="4600" dirty="0"/>
          </a:p>
        </p:txBody>
      </p:sp>
      <p:sp>
        <p:nvSpPr>
          <p:cNvPr id="7" name="Text 5"/>
          <p:cNvSpPr txBox="1"/>
          <p:nvPr/>
        </p:nvSpPr>
        <p:spPr>
          <a:xfrm>
            <a:off x="640080" y="2880360"/>
            <a:ext cx="7498080" cy="457200"/>
          </a:xfrm>
          <a:prstGeom prst="rect">
            <a:avLst/>
          </a:prstGeom>
          <a:noFill/>
          <a:ln/>
        </p:spPr>
        <p:txBody>
          <a:bodyPr wrap="square" lIns="0" tIns="0" rIns="0" bIns="0" rtlCol="0" anchor="ctr"/>
          <a:lstStyle/>
          <a:p>
            <a:pPr marL="0" indent="0">
              <a:buNone/>
            </a:pPr>
            <a:r>
              <a:rPr lang="en-US" sz="1900" i="1" dirty="0">
                <a:solidFill>
                  <a:srgbClr val="FFFFFF"/>
                </a:solidFill>
                <a:latin typeface="Cambria" pitchFamily="34" charset="0"/>
                <a:ea typeface="Cambria" pitchFamily="34" charset="-122"/>
                <a:cs typeface="Cambria" pitchFamily="34" charset="-120"/>
              </a:rPr>
              <a:t>Toriyama Sekien’s scrolls of yokai, and the tsukumogami tradition</a:t>
            </a:r>
            <a:endParaRPr lang="en-US" sz="1900" dirty="0"/>
          </a:p>
        </p:txBody>
      </p:sp>
      <p:sp>
        <p:nvSpPr>
          <p:cNvPr id="8" name="Shape 6"/>
          <p:cNvSpPr/>
          <p:nvPr/>
        </p:nvSpPr>
        <p:spPr>
          <a:xfrm>
            <a:off x="640080" y="3584448"/>
            <a:ext cx="2834640" cy="18288"/>
          </a:xfrm>
          <a:prstGeom prst="rect">
            <a:avLst/>
          </a:prstGeom>
          <a:solidFill>
            <a:srgbClr val="9C7C38"/>
          </a:solidFill>
          <a:ln/>
        </p:spPr>
        <p:txBody>
          <a:bodyPr/>
          <a:lstStyle/>
          <a:p>
            <a:endParaRPr lang="en-US"/>
          </a:p>
        </p:txBody>
      </p:sp>
      <p:sp>
        <p:nvSpPr>
          <p:cNvPr id="9" name="Text 7"/>
          <p:cNvSpPr txBox="1"/>
          <p:nvPr/>
        </p:nvSpPr>
        <p:spPr>
          <a:xfrm>
            <a:off x="640080" y="3886200"/>
            <a:ext cx="7498080" cy="1280160"/>
          </a:xfrm>
          <a:prstGeom prst="rect">
            <a:avLst/>
          </a:prstGeom>
          <a:noFill/>
          <a:ln/>
        </p:spPr>
        <p:txBody>
          <a:bodyPr wrap="square" lIns="0" tIns="0" rIns="0" bIns="0" rtlCol="0" anchor="ctr"/>
          <a:lstStyle/>
          <a:p>
            <a:pPr marL="0" indent="0">
              <a:lnSpc>
                <a:spcPts val="2400"/>
              </a:lnSpc>
              <a:buNone/>
            </a:pPr>
            <a:r>
              <a:rPr lang="en-US" sz="1400" dirty="0">
                <a:solidFill>
                  <a:srgbClr val="F5EFE3"/>
                </a:solidFill>
                <a:latin typeface="Calibri" pitchFamily="34" charset="0"/>
                <a:ea typeface="Calibri" pitchFamily="34" charset="-122"/>
                <a:cs typeface="Calibri" pitchFamily="34" charset="-120"/>
              </a:rPr>
              <a:t>Sekien, Gazu Hyakki Tsurezure Bukuro (1784) — selections</a:t>
            </a:r>
            <a:endParaRPr lang="en-US" sz="1400" dirty="0"/>
          </a:p>
          <a:p>
            <a:pPr marL="0" indent="0">
              <a:lnSpc>
                <a:spcPts val="2400"/>
              </a:lnSpc>
              <a:buNone/>
            </a:pPr>
            <a:r>
              <a:rPr lang="en-US" sz="1400" dirty="0">
                <a:solidFill>
                  <a:srgbClr val="F5EFE3"/>
                </a:solidFill>
                <a:latin typeface="Calibri" pitchFamily="34" charset="0"/>
                <a:ea typeface="Calibri" pitchFamily="34" charset="-122"/>
                <a:cs typeface="Calibri" pitchFamily="34" charset="-120"/>
              </a:rPr>
              <a:t>Foster, The Book of Yokai — the chapter on objects in the home</a:t>
            </a:r>
            <a:endParaRPr lang="en-US" sz="1400" dirty="0"/>
          </a:p>
        </p:txBody>
      </p:sp>
      <p:sp>
        <p:nvSpPr>
          <p:cNvPr id="10" name="Text 8"/>
          <p:cNvSpPr txBox="1"/>
          <p:nvPr/>
        </p:nvSpPr>
        <p:spPr>
          <a:xfrm>
            <a:off x="640080" y="5303520"/>
            <a:ext cx="7498080" cy="365760"/>
          </a:xfrm>
          <a:prstGeom prst="rect">
            <a:avLst/>
          </a:prstGeom>
          <a:noFill/>
          <a:ln/>
        </p:spPr>
        <p:txBody>
          <a:bodyPr wrap="square" lIns="0" tIns="0" rIns="0" bIns="0" rtlCol="0" anchor="ctr"/>
          <a:lstStyle/>
          <a:p>
            <a:pPr marL="0" indent="0">
              <a:buNone/>
            </a:pPr>
            <a:r>
              <a:rPr lang="en-US" sz="1300" i="1" dirty="0">
                <a:solidFill>
                  <a:srgbClr val="D4B36A"/>
                </a:solidFill>
                <a:latin typeface="Calibri" pitchFamily="34" charset="0"/>
                <a:ea typeface="Calibri" pitchFamily="34" charset="-122"/>
                <a:cs typeface="Calibri" pitchFamily="34" charset="-120"/>
              </a:rPr>
              <a:t>Key question: must a mind be made, or can it simply accumulate?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BEFORE WE START</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Three practical notes</a:t>
            </a:r>
            <a:endParaRPr lang="en-US" sz="3000" dirty="0"/>
          </a:p>
        </p:txBody>
      </p:sp>
      <p:sp>
        <p:nvSpPr>
          <p:cNvPr id="5" name="Shape 3"/>
          <p:cNvSpPr/>
          <p:nvPr/>
        </p:nvSpPr>
        <p:spPr>
          <a:xfrm>
            <a:off x="640080" y="1572768"/>
            <a:ext cx="3454298" cy="2331720"/>
          </a:xfrm>
          <a:prstGeom prst="roundRect">
            <a:avLst>
              <a:gd name="adj" fmla="val 3137"/>
            </a:avLst>
          </a:prstGeom>
          <a:solidFill>
            <a:srgbClr val="F0E8D8"/>
          </a:solidFill>
          <a:ln w="12700">
            <a:solidFill>
              <a:srgbClr val="F0E8D8"/>
            </a:solidFill>
            <a:prstDash val="solid"/>
          </a:ln>
        </p:spPr>
        <p:txBody>
          <a:bodyPr/>
          <a:lstStyle/>
          <a:p>
            <a:endParaRPr lang="en-US"/>
          </a:p>
        </p:txBody>
      </p:sp>
      <p:sp>
        <p:nvSpPr>
          <p:cNvPr id="6" name="Text 4"/>
          <p:cNvSpPr txBox="1"/>
          <p:nvPr/>
        </p:nvSpPr>
        <p:spPr>
          <a:xfrm>
            <a:off x="914400" y="1773936"/>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181410"/>
                </a:solidFill>
                <a:latin typeface="Cambria" pitchFamily="34" charset="0"/>
                <a:ea typeface="Cambria" pitchFamily="34" charset="-122"/>
                <a:cs typeface="Cambria" pitchFamily="34" charset="-120"/>
              </a:rPr>
              <a:t>No Japanese required</a:t>
            </a:r>
            <a:endParaRPr lang="en-US" sz="1650" dirty="0"/>
          </a:p>
        </p:txBody>
      </p:sp>
      <p:sp>
        <p:nvSpPr>
          <p:cNvPr id="7" name="Text 5"/>
          <p:cNvSpPr txBox="1"/>
          <p:nvPr/>
        </p:nvSpPr>
        <p:spPr>
          <a:xfrm>
            <a:off x="914400" y="2450592"/>
            <a:ext cx="2905658" cy="123444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Every term is glossed on the next slide and again when it appears. Romanisation follows the modified Hepburn system with macrons; if you have seen a word spelled differently elsewhere, it is probably the same word.</a:t>
            </a:r>
            <a:endParaRPr lang="en-US" sz="1250" dirty="0"/>
          </a:p>
        </p:txBody>
      </p:sp>
      <p:sp>
        <p:nvSpPr>
          <p:cNvPr id="8" name="Shape 6"/>
          <p:cNvSpPr/>
          <p:nvPr/>
        </p:nvSpPr>
        <p:spPr>
          <a:xfrm>
            <a:off x="4368698" y="1572768"/>
            <a:ext cx="3454298" cy="2331720"/>
          </a:xfrm>
          <a:prstGeom prst="roundRect">
            <a:avLst>
              <a:gd name="adj" fmla="val 3137"/>
            </a:avLst>
          </a:prstGeom>
          <a:solidFill>
            <a:srgbClr val="E6EAF2"/>
          </a:solidFill>
          <a:ln w="12700">
            <a:solidFill>
              <a:srgbClr val="E6EAF2"/>
            </a:solidFill>
            <a:prstDash val="solid"/>
          </a:ln>
        </p:spPr>
        <p:txBody>
          <a:bodyPr/>
          <a:lstStyle/>
          <a:p>
            <a:endParaRPr lang="en-US"/>
          </a:p>
        </p:txBody>
      </p:sp>
      <p:sp>
        <p:nvSpPr>
          <p:cNvPr id="9" name="Text 7"/>
          <p:cNvSpPr txBox="1"/>
          <p:nvPr/>
        </p:nvSpPr>
        <p:spPr>
          <a:xfrm>
            <a:off x="4643018" y="1773936"/>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181410"/>
                </a:solidFill>
                <a:latin typeface="Cambria" pitchFamily="34" charset="0"/>
                <a:ea typeface="Cambria" pitchFamily="34" charset="-122"/>
                <a:cs typeface="Cambria" pitchFamily="34" charset="-120"/>
              </a:rPr>
              <a:t>Today we look, not only read</a:t>
            </a:r>
            <a:endParaRPr lang="en-US" sz="1650" dirty="0"/>
          </a:p>
        </p:txBody>
      </p:sp>
      <p:sp>
        <p:nvSpPr>
          <p:cNvPr id="10" name="Text 8"/>
          <p:cNvSpPr txBox="1"/>
          <p:nvPr/>
        </p:nvSpPr>
        <p:spPr>
          <a:xfrm>
            <a:off x="4643018" y="2450592"/>
            <a:ext cx="2905658" cy="123444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Sekien’s books are pictures with short captions. The primary evidence is visual. Bring the images up on your own screen as we go — the National Diet Library has the 1784 edition digitised and free.</a:t>
            </a:r>
            <a:endParaRPr lang="en-US" sz="1250" dirty="0"/>
          </a:p>
        </p:txBody>
      </p:sp>
      <p:sp>
        <p:nvSpPr>
          <p:cNvPr id="11" name="Shape 9"/>
          <p:cNvSpPr/>
          <p:nvPr/>
        </p:nvSpPr>
        <p:spPr>
          <a:xfrm>
            <a:off x="8097317" y="1572768"/>
            <a:ext cx="3454298" cy="2331720"/>
          </a:xfrm>
          <a:prstGeom prst="roundRect">
            <a:avLst>
              <a:gd name="adj" fmla="val 3137"/>
            </a:avLst>
          </a:prstGeom>
          <a:solidFill>
            <a:srgbClr val="F0E8D8"/>
          </a:solidFill>
          <a:ln w="12700">
            <a:solidFill>
              <a:srgbClr val="F0E8D8"/>
            </a:solidFill>
            <a:prstDash val="solid"/>
          </a:ln>
        </p:spPr>
        <p:txBody>
          <a:bodyPr/>
          <a:lstStyle/>
          <a:p>
            <a:endParaRPr lang="en-US"/>
          </a:p>
        </p:txBody>
      </p:sp>
      <p:sp>
        <p:nvSpPr>
          <p:cNvPr id="12" name="Text 10"/>
          <p:cNvSpPr txBox="1"/>
          <p:nvPr/>
        </p:nvSpPr>
        <p:spPr>
          <a:xfrm>
            <a:off x="8371637" y="1773936"/>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181410"/>
                </a:solidFill>
                <a:latin typeface="Cambria" pitchFamily="34" charset="0"/>
                <a:ea typeface="Cambria" pitchFamily="34" charset="-122"/>
                <a:cs typeface="Cambria" pitchFamily="34" charset="-120"/>
              </a:rPr>
              <a:t>A note on your Foster</a:t>
            </a:r>
            <a:endParaRPr lang="en-US" sz="1650" dirty="0"/>
          </a:p>
        </p:txBody>
      </p:sp>
      <p:sp>
        <p:nvSpPr>
          <p:cNvPr id="13" name="Text 11"/>
          <p:cNvSpPr txBox="1"/>
          <p:nvPr/>
        </p:nvSpPr>
        <p:spPr>
          <a:xfrm>
            <a:off x="8371637" y="2450592"/>
            <a:ext cx="2905658" cy="123444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Foster’s codex is organised by place, not by kind: Wilds, Water, Countryside, Village and City, Home. Tsukumogami live in the Home chapter. There is no chapter called “Tools and Objects” — see the note below.</a:t>
            </a:r>
            <a:endParaRPr lang="en-US" sz="1250" dirty="0"/>
          </a:p>
        </p:txBody>
      </p:sp>
      <p:sp>
        <p:nvSpPr>
          <p:cNvPr id="14" name="Shape 12"/>
          <p:cNvSpPr/>
          <p:nvPr/>
        </p:nvSpPr>
        <p:spPr>
          <a:xfrm>
            <a:off x="640080" y="4160520"/>
            <a:ext cx="10911535" cy="1600200"/>
          </a:xfrm>
          <a:prstGeom prst="roundRect">
            <a:avLst>
              <a:gd name="adj" fmla="val 4571"/>
            </a:avLst>
          </a:prstGeom>
          <a:solidFill>
            <a:srgbClr val="E6EAF2"/>
          </a:solidFill>
          <a:ln w="12700">
            <a:solidFill>
              <a:srgbClr val="E6EAF2"/>
            </a:solidFill>
            <a:prstDash val="solid"/>
          </a:ln>
        </p:spPr>
        <p:txBody>
          <a:bodyPr/>
          <a:lstStyle/>
          <a:p>
            <a:endParaRPr lang="en-US"/>
          </a:p>
        </p:txBody>
      </p:sp>
      <p:sp>
        <p:nvSpPr>
          <p:cNvPr id="15" name="Text 13"/>
          <p:cNvSpPr txBox="1"/>
          <p:nvPr/>
        </p:nvSpPr>
        <p:spPr>
          <a:xfrm>
            <a:off x="1005840" y="4343400"/>
            <a:ext cx="10424160" cy="310896"/>
          </a:xfrm>
          <a:prstGeom prst="rect">
            <a:avLst/>
          </a:prstGeom>
          <a:noFill/>
          <a:ln/>
        </p:spPr>
        <p:txBody>
          <a:bodyPr wrap="square" lIns="0" tIns="0" rIns="0" bIns="0" rtlCol="0" anchor="ctr"/>
          <a:lstStyle/>
          <a:p>
            <a:pPr marL="0" indent="0">
              <a:buNone/>
            </a:pPr>
            <a:r>
              <a:rPr lang="en-US" sz="1650" b="1" dirty="0">
                <a:solidFill>
                  <a:srgbClr val="181410"/>
                </a:solidFill>
                <a:latin typeface="Cambria" pitchFamily="34" charset="0"/>
                <a:ea typeface="Cambria" pitchFamily="34" charset="-122"/>
                <a:cs typeface="Cambria" pitchFamily="34" charset="-120"/>
              </a:rPr>
              <a:t>Two things to fix on the syllabus</a:t>
            </a:r>
            <a:endParaRPr lang="en-US" sz="1650" dirty="0"/>
          </a:p>
        </p:txBody>
      </p:sp>
      <p:sp>
        <p:nvSpPr>
          <p:cNvPr id="16" name="Text 14"/>
          <p:cNvSpPr txBox="1"/>
          <p:nvPr/>
        </p:nvSpPr>
        <p:spPr>
          <a:xfrm>
            <a:off x="1005840" y="4736592"/>
            <a:ext cx="10424160" cy="914400"/>
          </a:xfrm>
          <a:prstGeom prst="rect">
            <a:avLst/>
          </a:prstGeom>
          <a:noFill/>
          <a:ln/>
        </p:spPr>
        <p:txBody>
          <a:bodyPr wrap="square" lIns="0" tIns="0" rIns="0" bIns="0" rtlCol="0" anchor="ctr"/>
          <a:lstStyle/>
          <a:p>
            <a:pPr marL="342900" indent="-342900">
              <a:lnSpc>
                <a:spcPts val="1700"/>
              </a:lnSpc>
              <a:spcAft>
                <a:spcPts val="500"/>
              </a:spcAft>
              <a:buSzPct val="100000"/>
              <a:buChar char="•"/>
            </a:pPr>
            <a:r>
              <a:rPr lang="en-US" sz="1250" dirty="0">
                <a:solidFill>
                  <a:srgbClr val="6A6259"/>
                </a:solidFill>
                <a:latin typeface="Calibri" pitchFamily="34" charset="0"/>
                <a:ea typeface="Calibri" pitchFamily="34" charset="-122"/>
                <a:cs typeface="Calibri" pitchFamily="34" charset="-120"/>
              </a:rPr>
              <a:t>Foster’s tsukumogami material is split: the Home chapter of the codex has the entries, and the historical chapters earlier in Part I have the argument about how objects came to be yokai in the first place. </a:t>
            </a:r>
          </a:p>
          <a:p>
            <a:pPr marL="342900" indent="-342900">
              <a:lnSpc>
                <a:spcPts val="1700"/>
              </a:lnSpc>
              <a:spcAft>
                <a:spcPts val="500"/>
              </a:spcAft>
              <a:buSzPct val="100000"/>
              <a:buChar char="•"/>
            </a:pPr>
            <a:r>
              <a:rPr lang="en-US" sz="1250" dirty="0">
                <a:solidFill>
                  <a:srgbClr val="6A6259"/>
                </a:solidFill>
                <a:latin typeface="Calibri" pitchFamily="34" charset="0"/>
                <a:ea typeface="Calibri" pitchFamily="34" charset="-122"/>
                <a:cs typeface="Calibri" pitchFamily="34" charset="-120"/>
              </a:rPr>
              <a:t>There is now an expanded second edition with a new gallery section and different pagination. </a:t>
            </a:r>
            <a:endParaRPr lang="en-US" sz="1250" dirty="0"/>
          </a:p>
        </p:txBody>
      </p:sp>
      <p:sp>
        <p:nvSpPr>
          <p:cNvPr id="17" name="Text 15"/>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6A6259"/>
                </a:solidFill>
                <a:latin typeface="Calibri" pitchFamily="34" charset="0"/>
                <a:ea typeface="Calibri" pitchFamily="34" charset="-122"/>
                <a:cs typeface="Calibri" pitchFamily="34" charset="-120"/>
              </a:rPr>
              <a:t>Michael Dylan Foster, The Book of Yokai: Mysterious Creatures of Japanese Folklore (Berkeley: University of California Press, 2015); expanded 2nd ed. with Shinonome Kijin.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VOCABULARY</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Eight words, once, so we can stop explaining them</a:t>
            </a:r>
            <a:endParaRPr lang="en-US" sz="3000" dirty="0"/>
          </a:p>
        </p:txBody>
      </p:sp>
      <p:sp>
        <p:nvSpPr>
          <p:cNvPr id="5" name="Shape 3"/>
          <p:cNvSpPr/>
          <p:nvPr/>
        </p:nvSpPr>
        <p:spPr>
          <a:xfrm>
            <a:off x="640080" y="1554480"/>
            <a:ext cx="2556434" cy="2029968"/>
          </a:xfrm>
          <a:prstGeom prst="roundRect">
            <a:avLst>
              <a:gd name="adj" fmla="val 3604"/>
            </a:avLst>
          </a:prstGeom>
          <a:solidFill>
            <a:srgbClr val="F0E8D8"/>
          </a:solidFill>
          <a:ln w="12700">
            <a:solidFill>
              <a:srgbClr val="F0E8D8"/>
            </a:solidFill>
            <a:prstDash val="solid"/>
          </a:ln>
        </p:spPr>
        <p:txBody>
          <a:bodyPr/>
          <a:lstStyle/>
          <a:p>
            <a:endParaRPr lang="en-US"/>
          </a:p>
        </p:txBody>
      </p:sp>
      <p:sp>
        <p:nvSpPr>
          <p:cNvPr id="6" name="Text 4"/>
          <p:cNvSpPr txBox="1"/>
          <p:nvPr/>
        </p:nvSpPr>
        <p:spPr>
          <a:xfrm>
            <a:off x="877824" y="1737360"/>
            <a:ext cx="2080946" cy="365760"/>
          </a:xfrm>
          <a:prstGeom prst="rect">
            <a:avLst/>
          </a:prstGeom>
          <a:noFill/>
          <a:ln/>
        </p:spPr>
        <p:txBody>
          <a:bodyPr wrap="square" lIns="0" tIns="0" rIns="0" bIns="0" rtlCol="0" anchor="ctr"/>
          <a:lstStyle/>
          <a:p>
            <a:pPr marL="0" indent="0">
              <a:buNone/>
            </a:pPr>
            <a:r>
              <a:rPr lang="en-US" sz="1800" b="1" i="1" dirty="0">
                <a:solidFill>
                  <a:srgbClr val="B8422A"/>
                </a:solidFill>
                <a:latin typeface="Cambria" pitchFamily="34" charset="0"/>
                <a:ea typeface="Cambria" pitchFamily="34" charset="-122"/>
                <a:cs typeface="Cambria" pitchFamily="34" charset="-120"/>
              </a:rPr>
              <a:t>yōkai</a:t>
            </a:r>
            <a:endParaRPr lang="en-US" sz="1800" dirty="0"/>
          </a:p>
        </p:txBody>
      </p:sp>
      <p:sp>
        <p:nvSpPr>
          <p:cNvPr id="7" name="Text 5"/>
          <p:cNvSpPr txBox="1"/>
          <p:nvPr/>
        </p:nvSpPr>
        <p:spPr>
          <a:xfrm>
            <a:off x="877824" y="2176272"/>
            <a:ext cx="2080946" cy="1280160"/>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The broad Japanese term for weird, mysterious, monstrous or uncanny beings and phenomena. Not a stable category and not equivalent to “monster” — Foster spends a chapter on why.</a:t>
            </a:r>
            <a:endParaRPr lang="en-US" sz="1150" dirty="0"/>
          </a:p>
        </p:txBody>
      </p:sp>
      <p:sp>
        <p:nvSpPr>
          <p:cNvPr id="8" name="Shape 6"/>
          <p:cNvSpPr/>
          <p:nvPr/>
        </p:nvSpPr>
        <p:spPr>
          <a:xfrm>
            <a:off x="3425114" y="1554480"/>
            <a:ext cx="2556434" cy="2029968"/>
          </a:xfrm>
          <a:prstGeom prst="roundRect">
            <a:avLst>
              <a:gd name="adj" fmla="val 3604"/>
            </a:avLst>
          </a:prstGeom>
          <a:solidFill>
            <a:srgbClr val="E6EAF2"/>
          </a:solidFill>
          <a:ln w="12700">
            <a:solidFill>
              <a:srgbClr val="E6EAF2"/>
            </a:solidFill>
            <a:prstDash val="solid"/>
          </a:ln>
        </p:spPr>
        <p:txBody>
          <a:bodyPr/>
          <a:lstStyle/>
          <a:p>
            <a:endParaRPr lang="en-US"/>
          </a:p>
        </p:txBody>
      </p:sp>
      <p:sp>
        <p:nvSpPr>
          <p:cNvPr id="9" name="Text 7"/>
          <p:cNvSpPr txBox="1"/>
          <p:nvPr/>
        </p:nvSpPr>
        <p:spPr>
          <a:xfrm>
            <a:off x="3662858" y="1737360"/>
            <a:ext cx="2080946" cy="365760"/>
          </a:xfrm>
          <a:prstGeom prst="rect">
            <a:avLst/>
          </a:prstGeom>
          <a:noFill/>
          <a:ln/>
        </p:spPr>
        <p:txBody>
          <a:bodyPr wrap="square" lIns="0" tIns="0" rIns="0" bIns="0" rtlCol="0" anchor="ctr"/>
          <a:lstStyle/>
          <a:p>
            <a:pPr marL="0" indent="0">
              <a:buNone/>
            </a:pPr>
            <a:r>
              <a:rPr lang="en-US" sz="1800" b="1" i="1" dirty="0">
                <a:solidFill>
                  <a:srgbClr val="B8422A"/>
                </a:solidFill>
                <a:latin typeface="Cambria" pitchFamily="34" charset="0"/>
                <a:ea typeface="Cambria" pitchFamily="34" charset="-122"/>
                <a:cs typeface="Cambria" pitchFamily="34" charset="-120"/>
              </a:rPr>
              <a:t>tsukumogami</a:t>
            </a:r>
            <a:endParaRPr lang="en-US" sz="1800" dirty="0"/>
          </a:p>
        </p:txBody>
      </p:sp>
      <p:sp>
        <p:nvSpPr>
          <p:cNvPr id="10" name="Text 8"/>
          <p:cNvSpPr txBox="1"/>
          <p:nvPr/>
        </p:nvSpPr>
        <p:spPr>
          <a:xfrm>
            <a:off x="3662858" y="2176272"/>
            <a:ext cx="2080946" cy="1280160"/>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A yokai that was an object first: a tool, instrument or household item that has acquired a spirit. Our subject today.</a:t>
            </a:r>
            <a:endParaRPr lang="en-US" sz="1150" dirty="0"/>
          </a:p>
        </p:txBody>
      </p:sp>
      <p:sp>
        <p:nvSpPr>
          <p:cNvPr id="11" name="Shape 9"/>
          <p:cNvSpPr/>
          <p:nvPr/>
        </p:nvSpPr>
        <p:spPr>
          <a:xfrm>
            <a:off x="6210148" y="1554480"/>
            <a:ext cx="2556434" cy="2029968"/>
          </a:xfrm>
          <a:prstGeom prst="roundRect">
            <a:avLst>
              <a:gd name="adj" fmla="val 3604"/>
            </a:avLst>
          </a:prstGeom>
          <a:solidFill>
            <a:srgbClr val="F0E8D8"/>
          </a:solidFill>
          <a:ln w="12700">
            <a:solidFill>
              <a:srgbClr val="F0E8D8"/>
            </a:solidFill>
            <a:prstDash val="solid"/>
          </a:ln>
        </p:spPr>
        <p:txBody>
          <a:bodyPr/>
          <a:lstStyle/>
          <a:p>
            <a:endParaRPr lang="en-US"/>
          </a:p>
        </p:txBody>
      </p:sp>
      <p:sp>
        <p:nvSpPr>
          <p:cNvPr id="12" name="Text 10"/>
          <p:cNvSpPr txBox="1"/>
          <p:nvPr/>
        </p:nvSpPr>
        <p:spPr>
          <a:xfrm>
            <a:off x="6447892" y="1737360"/>
            <a:ext cx="2080946" cy="365760"/>
          </a:xfrm>
          <a:prstGeom prst="rect">
            <a:avLst/>
          </a:prstGeom>
          <a:noFill/>
          <a:ln/>
        </p:spPr>
        <p:txBody>
          <a:bodyPr wrap="square" lIns="0" tIns="0" rIns="0" bIns="0" rtlCol="0" anchor="ctr"/>
          <a:lstStyle/>
          <a:p>
            <a:pPr marL="0" indent="0">
              <a:buNone/>
            </a:pPr>
            <a:r>
              <a:rPr lang="en-US" sz="1800" b="1" i="1" dirty="0">
                <a:solidFill>
                  <a:srgbClr val="B8422A"/>
                </a:solidFill>
                <a:latin typeface="Cambria" pitchFamily="34" charset="0"/>
                <a:ea typeface="Cambria" pitchFamily="34" charset="-122"/>
                <a:cs typeface="Cambria" pitchFamily="34" charset="-120"/>
              </a:rPr>
              <a:t>kami</a:t>
            </a:r>
            <a:endParaRPr lang="en-US" sz="1800" dirty="0"/>
          </a:p>
        </p:txBody>
      </p:sp>
      <p:sp>
        <p:nvSpPr>
          <p:cNvPr id="13" name="Text 11"/>
          <p:cNvSpPr txBox="1"/>
          <p:nvPr/>
        </p:nvSpPr>
        <p:spPr>
          <a:xfrm>
            <a:off x="6447892" y="2176272"/>
            <a:ext cx="2080946" cy="1280160"/>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A god, spirit or numinous presence. Present in the word tsukumogami but doing lighter work than “god” suggests.</a:t>
            </a:r>
            <a:endParaRPr lang="en-US" sz="1150" dirty="0"/>
          </a:p>
        </p:txBody>
      </p:sp>
      <p:sp>
        <p:nvSpPr>
          <p:cNvPr id="14" name="Shape 12"/>
          <p:cNvSpPr/>
          <p:nvPr/>
        </p:nvSpPr>
        <p:spPr>
          <a:xfrm>
            <a:off x="8995181" y="1554480"/>
            <a:ext cx="2556434" cy="2029968"/>
          </a:xfrm>
          <a:prstGeom prst="roundRect">
            <a:avLst>
              <a:gd name="adj" fmla="val 3604"/>
            </a:avLst>
          </a:prstGeom>
          <a:solidFill>
            <a:srgbClr val="E6EAF2"/>
          </a:solidFill>
          <a:ln w="12700">
            <a:solidFill>
              <a:srgbClr val="E6EAF2"/>
            </a:solidFill>
            <a:prstDash val="solid"/>
          </a:ln>
        </p:spPr>
        <p:txBody>
          <a:bodyPr/>
          <a:lstStyle/>
          <a:p>
            <a:endParaRPr lang="en-US"/>
          </a:p>
        </p:txBody>
      </p:sp>
      <p:sp>
        <p:nvSpPr>
          <p:cNvPr id="15" name="Text 13"/>
          <p:cNvSpPr txBox="1"/>
          <p:nvPr/>
        </p:nvSpPr>
        <p:spPr>
          <a:xfrm>
            <a:off x="9232925" y="1737360"/>
            <a:ext cx="2080946" cy="365760"/>
          </a:xfrm>
          <a:prstGeom prst="rect">
            <a:avLst/>
          </a:prstGeom>
          <a:noFill/>
          <a:ln/>
        </p:spPr>
        <p:txBody>
          <a:bodyPr wrap="square" lIns="0" tIns="0" rIns="0" bIns="0" rtlCol="0" anchor="ctr"/>
          <a:lstStyle/>
          <a:p>
            <a:pPr marL="0" indent="0">
              <a:buNone/>
            </a:pPr>
            <a:r>
              <a:rPr lang="en-US" sz="1800" b="1" i="1" dirty="0">
                <a:solidFill>
                  <a:srgbClr val="B8422A"/>
                </a:solidFill>
                <a:latin typeface="Cambria" pitchFamily="34" charset="0"/>
                <a:ea typeface="Cambria" pitchFamily="34" charset="-122"/>
                <a:cs typeface="Cambria" pitchFamily="34" charset="-120"/>
              </a:rPr>
              <a:t>emaki</a:t>
            </a:r>
            <a:endParaRPr lang="en-US" sz="1800" dirty="0"/>
          </a:p>
        </p:txBody>
      </p:sp>
      <p:sp>
        <p:nvSpPr>
          <p:cNvPr id="16" name="Text 14"/>
          <p:cNvSpPr txBox="1"/>
          <p:nvPr/>
        </p:nvSpPr>
        <p:spPr>
          <a:xfrm>
            <a:off x="9232925" y="2176272"/>
            <a:ext cx="2080946" cy="1280160"/>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An illustrated handscroll — the medieval format, unrolled by hand, one viewer at a time.</a:t>
            </a:r>
            <a:endParaRPr lang="en-US" sz="1150" dirty="0"/>
          </a:p>
        </p:txBody>
      </p:sp>
      <p:sp>
        <p:nvSpPr>
          <p:cNvPr id="17" name="Shape 15"/>
          <p:cNvSpPr/>
          <p:nvPr/>
        </p:nvSpPr>
        <p:spPr>
          <a:xfrm>
            <a:off x="640080" y="3749040"/>
            <a:ext cx="2556434" cy="2029968"/>
          </a:xfrm>
          <a:prstGeom prst="roundRect">
            <a:avLst>
              <a:gd name="adj" fmla="val 3604"/>
            </a:avLst>
          </a:prstGeom>
          <a:solidFill>
            <a:srgbClr val="F0E8D8"/>
          </a:solidFill>
          <a:ln w="12700">
            <a:solidFill>
              <a:srgbClr val="F0E8D8"/>
            </a:solidFill>
            <a:prstDash val="solid"/>
          </a:ln>
        </p:spPr>
        <p:txBody>
          <a:bodyPr/>
          <a:lstStyle/>
          <a:p>
            <a:endParaRPr lang="en-US"/>
          </a:p>
        </p:txBody>
      </p:sp>
      <p:sp>
        <p:nvSpPr>
          <p:cNvPr id="18" name="Text 16"/>
          <p:cNvSpPr txBox="1"/>
          <p:nvPr/>
        </p:nvSpPr>
        <p:spPr>
          <a:xfrm>
            <a:off x="877824" y="3931920"/>
            <a:ext cx="2080946" cy="365760"/>
          </a:xfrm>
          <a:prstGeom prst="rect">
            <a:avLst/>
          </a:prstGeom>
          <a:noFill/>
          <a:ln/>
        </p:spPr>
        <p:txBody>
          <a:bodyPr wrap="square" lIns="0" tIns="0" rIns="0" bIns="0" rtlCol="0" anchor="ctr"/>
          <a:lstStyle/>
          <a:p>
            <a:pPr marL="0" indent="0">
              <a:buNone/>
            </a:pPr>
            <a:r>
              <a:rPr lang="en-US" sz="1800" b="1" i="1" dirty="0">
                <a:solidFill>
                  <a:srgbClr val="B8422A"/>
                </a:solidFill>
                <a:latin typeface="Cambria" pitchFamily="34" charset="0"/>
                <a:ea typeface="Cambria" pitchFamily="34" charset="-122"/>
                <a:cs typeface="Cambria" pitchFamily="34" charset="-120"/>
              </a:rPr>
              <a:t>otogizōshi</a:t>
            </a:r>
            <a:endParaRPr lang="en-US" sz="1800" dirty="0"/>
          </a:p>
        </p:txBody>
      </p:sp>
      <p:sp>
        <p:nvSpPr>
          <p:cNvPr id="19" name="Text 17"/>
          <p:cNvSpPr txBox="1"/>
          <p:nvPr/>
        </p:nvSpPr>
        <p:spPr>
          <a:xfrm>
            <a:off x="877824" y="4370832"/>
            <a:ext cx="2080946" cy="1280160"/>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Short illustrated prose tales of the fourteenth to seventeenth centuries, entertaining and often didactic.</a:t>
            </a:r>
            <a:endParaRPr lang="en-US" sz="1150" dirty="0"/>
          </a:p>
        </p:txBody>
      </p:sp>
      <p:sp>
        <p:nvSpPr>
          <p:cNvPr id="20" name="Shape 18"/>
          <p:cNvSpPr/>
          <p:nvPr/>
        </p:nvSpPr>
        <p:spPr>
          <a:xfrm>
            <a:off x="3425114" y="3749040"/>
            <a:ext cx="2556434" cy="2029968"/>
          </a:xfrm>
          <a:prstGeom prst="roundRect">
            <a:avLst>
              <a:gd name="adj" fmla="val 3604"/>
            </a:avLst>
          </a:prstGeom>
          <a:solidFill>
            <a:srgbClr val="E6EAF2"/>
          </a:solidFill>
          <a:ln w="12700">
            <a:solidFill>
              <a:srgbClr val="E6EAF2"/>
            </a:solidFill>
            <a:prstDash val="solid"/>
          </a:ln>
        </p:spPr>
        <p:txBody>
          <a:bodyPr/>
          <a:lstStyle/>
          <a:p>
            <a:endParaRPr lang="en-US"/>
          </a:p>
        </p:txBody>
      </p:sp>
      <p:sp>
        <p:nvSpPr>
          <p:cNvPr id="21" name="Text 19"/>
          <p:cNvSpPr txBox="1"/>
          <p:nvPr/>
        </p:nvSpPr>
        <p:spPr>
          <a:xfrm>
            <a:off x="3662858" y="3931920"/>
            <a:ext cx="2080946" cy="365760"/>
          </a:xfrm>
          <a:prstGeom prst="rect">
            <a:avLst/>
          </a:prstGeom>
          <a:noFill/>
          <a:ln/>
        </p:spPr>
        <p:txBody>
          <a:bodyPr wrap="square" lIns="0" tIns="0" rIns="0" bIns="0" rtlCol="0" anchor="ctr"/>
          <a:lstStyle/>
          <a:p>
            <a:pPr marL="0" indent="0">
              <a:buNone/>
            </a:pPr>
            <a:r>
              <a:rPr lang="en-US" sz="1800" b="1" i="1" dirty="0">
                <a:solidFill>
                  <a:srgbClr val="B8422A"/>
                </a:solidFill>
                <a:latin typeface="Cambria" pitchFamily="34" charset="0"/>
                <a:ea typeface="Cambria" pitchFamily="34" charset="-122"/>
                <a:cs typeface="Cambria" pitchFamily="34" charset="-120"/>
              </a:rPr>
              <a:t>susuharai</a:t>
            </a:r>
            <a:endParaRPr lang="en-US" sz="1800" dirty="0"/>
          </a:p>
        </p:txBody>
      </p:sp>
      <p:sp>
        <p:nvSpPr>
          <p:cNvPr id="22" name="Text 20"/>
          <p:cNvSpPr txBox="1"/>
          <p:nvPr/>
        </p:nvSpPr>
        <p:spPr>
          <a:xfrm>
            <a:off x="3662858" y="4370832"/>
            <a:ext cx="2080946" cy="1280160"/>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The year-end house cleaning, when old possessions are thrown out to make room for new ones. The trigger of our origin story.</a:t>
            </a:r>
            <a:endParaRPr lang="en-US" sz="1150" dirty="0"/>
          </a:p>
        </p:txBody>
      </p:sp>
      <p:sp>
        <p:nvSpPr>
          <p:cNvPr id="23" name="Shape 21"/>
          <p:cNvSpPr/>
          <p:nvPr/>
        </p:nvSpPr>
        <p:spPr>
          <a:xfrm>
            <a:off x="6210148" y="3749040"/>
            <a:ext cx="2556434" cy="2029968"/>
          </a:xfrm>
          <a:prstGeom prst="roundRect">
            <a:avLst>
              <a:gd name="adj" fmla="val 3604"/>
            </a:avLst>
          </a:prstGeom>
          <a:solidFill>
            <a:srgbClr val="F0E8D8"/>
          </a:solidFill>
          <a:ln w="12700">
            <a:solidFill>
              <a:srgbClr val="F0E8D8"/>
            </a:solidFill>
            <a:prstDash val="solid"/>
          </a:ln>
        </p:spPr>
        <p:txBody>
          <a:bodyPr/>
          <a:lstStyle/>
          <a:p>
            <a:endParaRPr lang="en-US"/>
          </a:p>
        </p:txBody>
      </p:sp>
      <p:sp>
        <p:nvSpPr>
          <p:cNvPr id="24" name="Text 22"/>
          <p:cNvSpPr txBox="1"/>
          <p:nvPr/>
        </p:nvSpPr>
        <p:spPr>
          <a:xfrm>
            <a:off x="6447892" y="3931920"/>
            <a:ext cx="2080946" cy="365760"/>
          </a:xfrm>
          <a:prstGeom prst="rect">
            <a:avLst/>
          </a:prstGeom>
          <a:noFill/>
          <a:ln/>
        </p:spPr>
        <p:txBody>
          <a:bodyPr wrap="square" lIns="0" tIns="0" rIns="0" bIns="0" rtlCol="0" anchor="ctr"/>
          <a:lstStyle/>
          <a:p>
            <a:pPr marL="0" indent="0">
              <a:buNone/>
            </a:pPr>
            <a:r>
              <a:rPr lang="en-US" sz="1800" b="1" i="1" dirty="0">
                <a:solidFill>
                  <a:srgbClr val="B8422A"/>
                </a:solidFill>
                <a:latin typeface="Cambria" pitchFamily="34" charset="0"/>
                <a:ea typeface="Cambria" pitchFamily="34" charset="-122"/>
                <a:cs typeface="Cambria" pitchFamily="34" charset="-120"/>
              </a:rPr>
              <a:t>kuyō</a:t>
            </a:r>
            <a:endParaRPr lang="en-US" sz="1800" dirty="0"/>
          </a:p>
        </p:txBody>
      </p:sp>
      <p:sp>
        <p:nvSpPr>
          <p:cNvPr id="25" name="Text 23"/>
          <p:cNvSpPr txBox="1"/>
          <p:nvPr/>
        </p:nvSpPr>
        <p:spPr>
          <a:xfrm>
            <a:off x="6447892" y="4370832"/>
            <a:ext cx="2080946" cy="1280160"/>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A Buddhist memorial or offering rite. Performed for the dead — and, as we will see, for needles, dolls, brushes and robots.</a:t>
            </a:r>
            <a:endParaRPr lang="en-US" sz="1150" dirty="0"/>
          </a:p>
        </p:txBody>
      </p:sp>
      <p:sp>
        <p:nvSpPr>
          <p:cNvPr id="26" name="Shape 24"/>
          <p:cNvSpPr/>
          <p:nvPr/>
        </p:nvSpPr>
        <p:spPr>
          <a:xfrm>
            <a:off x="8995181" y="3749040"/>
            <a:ext cx="2556434" cy="2029968"/>
          </a:xfrm>
          <a:prstGeom prst="roundRect">
            <a:avLst>
              <a:gd name="adj" fmla="val 3604"/>
            </a:avLst>
          </a:prstGeom>
          <a:solidFill>
            <a:srgbClr val="E6EAF2"/>
          </a:solidFill>
          <a:ln w="12700">
            <a:solidFill>
              <a:srgbClr val="E6EAF2"/>
            </a:solidFill>
            <a:prstDash val="solid"/>
          </a:ln>
        </p:spPr>
        <p:txBody>
          <a:bodyPr/>
          <a:lstStyle/>
          <a:p>
            <a:endParaRPr lang="en-US"/>
          </a:p>
        </p:txBody>
      </p:sp>
      <p:sp>
        <p:nvSpPr>
          <p:cNvPr id="27" name="Text 25"/>
          <p:cNvSpPr txBox="1"/>
          <p:nvPr/>
        </p:nvSpPr>
        <p:spPr>
          <a:xfrm>
            <a:off x="9232925" y="3931920"/>
            <a:ext cx="2080946" cy="365760"/>
          </a:xfrm>
          <a:prstGeom prst="rect">
            <a:avLst/>
          </a:prstGeom>
          <a:noFill/>
          <a:ln/>
        </p:spPr>
        <p:txBody>
          <a:bodyPr wrap="square" lIns="0" tIns="0" rIns="0" bIns="0" rtlCol="0" anchor="ctr"/>
          <a:lstStyle/>
          <a:p>
            <a:pPr marL="0" indent="0">
              <a:buNone/>
            </a:pPr>
            <a:r>
              <a:rPr lang="en-US" sz="1800" b="1" i="1" dirty="0">
                <a:solidFill>
                  <a:srgbClr val="B8422A"/>
                </a:solidFill>
                <a:latin typeface="Cambria" pitchFamily="34" charset="0"/>
                <a:ea typeface="Cambria" pitchFamily="34" charset="-122"/>
                <a:cs typeface="Cambria" pitchFamily="34" charset="-120"/>
              </a:rPr>
              <a:t>hijō jōbutsu</a:t>
            </a:r>
            <a:endParaRPr lang="en-US" sz="1800" dirty="0"/>
          </a:p>
        </p:txBody>
      </p:sp>
      <p:sp>
        <p:nvSpPr>
          <p:cNvPr id="28" name="Text 26"/>
          <p:cNvSpPr txBox="1"/>
          <p:nvPr/>
        </p:nvSpPr>
        <p:spPr>
          <a:xfrm>
            <a:off x="9232925" y="4370832"/>
            <a:ext cx="2080946" cy="1280160"/>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The doctrine that non-sentient things — plants, tools — can attain buddhahood. The theological engine of the whole tradition.</a:t>
            </a:r>
            <a:endParaRPr lang="en-US" sz="1150" dirty="0"/>
          </a:p>
        </p:txBody>
      </p:sp>
      <p:sp>
        <p:nvSpPr>
          <p:cNvPr id="29" name="Text 27"/>
          <p:cNvSpPr txBox="1"/>
          <p:nvPr/>
        </p:nvSpPr>
        <p:spPr>
          <a:xfrm>
            <a:off x="640080" y="5852160"/>
            <a:ext cx="10881360" cy="365760"/>
          </a:xfrm>
          <a:prstGeom prst="rect">
            <a:avLst/>
          </a:prstGeom>
          <a:noFill/>
          <a:ln/>
        </p:spPr>
        <p:txBody>
          <a:bodyPr wrap="square" lIns="0" tIns="0" rIns="0" bIns="0" rtlCol="0" anchor="ctr"/>
          <a:lstStyle/>
          <a:p>
            <a:pPr marL="0" indent="0">
              <a:buNone/>
            </a:pPr>
            <a:r>
              <a:rPr lang="en-US" sz="1500" i="1" dirty="0">
                <a:solidFill>
                  <a:srgbClr val="2E4A7D"/>
                </a:solidFill>
                <a:latin typeface="Cambria" pitchFamily="34" charset="0"/>
                <a:ea typeface="Cambria" pitchFamily="34" charset="-122"/>
                <a:cs typeface="Cambria" pitchFamily="34" charset="-120"/>
              </a:rPr>
              <a:t>Only the last one is technical. If you leave today remembering one word, make it that one.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181410"/>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DE8C74"/>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dirty="0">
                <a:solidFill>
                  <a:srgbClr val="DE8C74"/>
                </a:solidFill>
                <a:latin typeface="Calibri" pitchFamily="34" charset="0"/>
                <a:ea typeface="Calibri" pitchFamily="34" charset="-122"/>
                <a:cs typeface="Calibri" pitchFamily="34" charset="-120"/>
              </a:rPr>
              <a:t>WARM-UP</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F5EFE3"/>
                </a:solidFill>
                <a:latin typeface="Cambria" pitchFamily="34" charset="0"/>
                <a:ea typeface="Cambria" pitchFamily="34" charset="-122"/>
                <a:cs typeface="Cambria" pitchFamily="34" charset="-120"/>
              </a:rPr>
              <a:t>Write before we begin</a:t>
            </a:r>
            <a:endParaRPr lang="en-US" sz="3300" dirty="0"/>
          </a:p>
        </p:txBody>
      </p:sp>
      <p:sp>
        <p:nvSpPr>
          <p:cNvPr id="5" name="Shape 3"/>
          <p:cNvSpPr/>
          <p:nvPr/>
        </p:nvSpPr>
        <p:spPr>
          <a:xfrm>
            <a:off x="640080" y="1783080"/>
            <a:ext cx="10911535" cy="2788920"/>
          </a:xfrm>
          <a:prstGeom prst="roundRect">
            <a:avLst>
              <a:gd name="adj" fmla="val 2623"/>
            </a:avLst>
          </a:prstGeom>
          <a:solidFill>
            <a:srgbClr val="2C2620"/>
          </a:solidFill>
          <a:ln w="12700">
            <a:solidFill>
              <a:srgbClr val="2C2620"/>
            </a:solidFill>
            <a:prstDash val="solid"/>
          </a:ln>
        </p:spPr>
        <p:txBody>
          <a:bodyPr/>
          <a:lstStyle/>
          <a:p>
            <a:endParaRPr lang="en-US"/>
          </a:p>
        </p:txBody>
      </p:sp>
      <p:sp>
        <p:nvSpPr>
          <p:cNvPr id="6" name="Text 4"/>
          <p:cNvSpPr txBox="1"/>
          <p:nvPr/>
        </p:nvSpPr>
        <p:spPr>
          <a:xfrm>
            <a:off x="1097280" y="2057400"/>
            <a:ext cx="10058400" cy="2286000"/>
          </a:xfrm>
          <a:prstGeom prst="rect">
            <a:avLst/>
          </a:prstGeom>
          <a:noFill/>
          <a:ln/>
        </p:spPr>
        <p:txBody>
          <a:bodyPr wrap="square" lIns="0" tIns="0" rIns="0" bIns="0" rtlCol="0" anchor="ctr"/>
          <a:lstStyle/>
          <a:p>
            <a:pPr marL="0" indent="0">
              <a:lnSpc>
                <a:spcPts val="3000"/>
              </a:lnSpc>
              <a:buNone/>
            </a:pPr>
            <a:r>
              <a:rPr lang="en-US" sz="1900" dirty="0">
                <a:solidFill>
                  <a:srgbClr val="FFFFFF"/>
                </a:solidFill>
                <a:latin typeface="Cambria" pitchFamily="34" charset="0"/>
                <a:ea typeface="Cambria" pitchFamily="34" charset="-122"/>
                <a:cs typeface="Cambria" pitchFamily="34" charset="-120"/>
              </a:rPr>
              <a:t>Name an object you own that you would find it hard to throw away, even though it no longer works well or you have a better one.</a:t>
            </a:r>
            <a:endParaRPr lang="en-US" sz="1900" dirty="0"/>
          </a:p>
          <a:p>
            <a:pPr marL="0" indent="0">
              <a:lnSpc>
                <a:spcPts val="3000"/>
              </a:lnSpc>
              <a:buNone/>
            </a:pPr>
            <a:endParaRPr lang="en-US" sz="1900" dirty="0"/>
          </a:p>
          <a:p>
            <a:pPr marL="0" indent="0">
              <a:lnSpc>
                <a:spcPts val="3000"/>
              </a:lnSpc>
              <a:buNone/>
            </a:pPr>
            <a:r>
              <a:rPr lang="en-US" sz="1900" dirty="0">
                <a:solidFill>
                  <a:srgbClr val="FFFFFF"/>
                </a:solidFill>
                <a:latin typeface="Cambria" pitchFamily="34" charset="0"/>
                <a:ea typeface="Cambria" pitchFamily="34" charset="-122"/>
                <a:cs typeface="Cambria" pitchFamily="34" charset="-120"/>
              </a:rPr>
              <a:t>Now write the reason down without using the words sentimental, memories or nostalgia. Say what it is about the object itself — not about you — that makes disposal feel wrong.</a:t>
            </a:r>
            <a:endParaRPr lang="en-US" sz="1900" dirty="0"/>
          </a:p>
        </p:txBody>
      </p:sp>
      <p:sp>
        <p:nvSpPr>
          <p:cNvPr id="7" name="Text 5"/>
          <p:cNvSpPr txBox="1"/>
          <p:nvPr/>
        </p:nvSpPr>
        <p:spPr>
          <a:xfrm>
            <a:off x="640080" y="4828032"/>
            <a:ext cx="10881360" cy="457200"/>
          </a:xfrm>
          <a:prstGeom prst="rect">
            <a:avLst/>
          </a:prstGeom>
          <a:noFill/>
          <a:ln/>
        </p:spPr>
        <p:txBody>
          <a:bodyPr wrap="square" lIns="0" tIns="0" rIns="0" bIns="0" rtlCol="0" anchor="ctr"/>
          <a:lstStyle/>
          <a:p>
            <a:pPr marL="0" indent="0">
              <a:buNone/>
            </a:pPr>
            <a:r>
              <a:rPr lang="en-US" sz="1450" i="1" dirty="0">
                <a:solidFill>
                  <a:srgbClr val="D4B36A"/>
                </a:solidFill>
                <a:latin typeface="Calibri" pitchFamily="34" charset="0"/>
                <a:ea typeface="Calibri" pitchFamily="34" charset="-122"/>
                <a:cs typeface="Calibri" pitchFamily="34" charset="-120"/>
              </a:rPr>
              <a:t>Keep the page. The ban on those three words is the whole exercise — they are how our vocabulary keeps the feeling safely inside the person.</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81410"/>
        </a:solidFill>
        <a:effectLst/>
      </p:bgPr>
    </p:bg>
    <p:spTree>
      <p:nvGrpSpPr>
        <p:cNvPr id="1" name=""/>
        <p:cNvGrpSpPr/>
        <p:nvPr/>
      </p:nvGrpSpPr>
      <p:grpSpPr>
        <a:xfrm>
          <a:off x="0" y="0"/>
          <a:ext cx="0" cy="0"/>
          <a:chOff x="0" y="0"/>
          <a:chExt cx="0" cy="0"/>
        </a:xfrm>
      </p:grpSpPr>
      <p:sp>
        <p:nvSpPr>
          <p:cNvPr id="2" name="Shape 0"/>
          <p:cNvSpPr/>
          <p:nvPr/>
        </p:nvSpPr>
        <p:spPr>
          <a:xfrm>
            <a:off x="640080" y="1234440"/>
            <a:ext cx="137160" cy="137160"/>
          </a:xfrm>
          <a:prstGeom prst="ellipse">
            <a:avLst/>
          </a:prstGeom>
          <a:solidFill>
            <a:srgbClr val="DE8C74"/>
          </a:solidFill>
          <a:ln/>
        </p:spPr>
        <p:txBody>
          <a:bodyPr/>
          <a:lstStyle/>
          <a:p>
            <a:endParaRPr lang="en-US"/>
          </a:p>
        </p:txBody>
      </p:sp>
      <p:sp>
        <p:nvSpPr>
          <p:cNvPr id="3" name="Text 1"/>
          <p:cNvSpPr txBox="1"/>
          <p:nvPr/>
        </p:nvSpPr>
        <p:spPr>
          <a:xfrm>
            <a:off x="886968" y="1170432"/>
            <a:ext cx="9144000" cy="274320"/>
          </a:xfrm>
          <a:prstGeom prst="rect">
            <a:avLst/>
          </a:prstGeom>
          <a:noFill/>
          <a:ln/>
        </p:spPr>
        <p:txBody>
          <a:bodyPr wrap="square" lIns="0" tIns="0" rIns="0" bIns="0" rtlCol="0" anchor="ctr"/>
          <a:lstStyle/>
          <a:p>
            <a:pPr marL="0" indent="0">
              <a:buNone/>
            </a:pPr>
            <a:r>
              <a:rPr lang="en-US" sz="1200" b="1" kern="0" spc="200" dirty="0">
                <a:solidFill>
                  <a:srgbClr val="DE8C74"/>
                </a:solidFill>
                <a:latin typeface="Calibri" pitchFamily="34" charset="0"/>
                <a:ea typeface="Calibri" pitchFamily="34" charset="-122"/>
                <a:cs typeface="Calibri" pitchFamily="34" charset="-120"/>
              </a:rPr>
              <a:t>KEY QUESTION FOR THE WEEK</a:t>
            </a:r>
            <a:endParaRPr lang="en-US" sz="1200" dirty="0"/>
          </a:p>
        </p:txBody>
      </p:sp>
      <p:sp>
        <p:nvSpPr>
          <p:cNvPr id="4" name="Text 2"/>
          <p:cNvSpPr txBox="1"/>
          <p:nvPr/>
        </p:nvSpPr>
        <p:spPr>
          <a:xfrm>
            <a:off x="640080" y="1691640"/>
            <a:ext cx="10881360" cy="2011680"/>
          </a:xfrm>
          <a:prstGeom prst="rect">
            <a:avLst/>
          </a:prstGeom>
          <a:noFill/>
          <a:ln/>
        </p:spPr>
        <p:txBody>
          <a:bodyPr wrap="square" lIns="0" tIns="0" rIns="0" bIns="0" rtlCol="0" anchor="ctr"/>
          <a:lstStyle/>
          <a:p>
            <a:pPr marL="0" indent="0">
              <a:lnSpc>
                <a:spcPts val="5400"/>
              </a:lnSpc>
              <a:buNone/>
            </a:pPr>
            <a:r>
              <a:rPr lang="en-US" sz="4000" b="1" dirty="0">
                <a:solidFill>
                  <a:srgbClr val="F5EFE3"/>
                </a:solidFill>
                <a:latin typeface="Cambria" pitchFamily="34" charset="0"/>
                <a:ea typeface="Cambria" pitchFamily="34" charset="-122"/>
                <a:cs typeface="Cambria" pitchFamily="34" charset="-120"/>
              </a:rPr>
              <a:t>Must a mind be made,</a:t>
            </a:r>
            <a:endParaRPr lang="en-US" sz="4000" dirty="0"/>
          </a:p>
          <a:p>
            <a:pPr marL="0" indent="0">
              <a:lnSpc>
                <a:spcPts val="5400"/>
              </a:lnSpc>
              <a:buNone/>
            </a:pPr>
            <a:r>
              <a:rPr lang="en-US" sz="4000" b="1" dirty="0">
                <a:solidFill>
                  <a:srgbClr val="F5EFE3"/>
                </a:solidFill>
                <a:latin typeface="Cambria" pitchFamily="34" charset="0"/>
                <a:ea typeface="Cambria" pitchFamily="34" charset="-122"/>
                <a:cs typeface="Cambria" pitchFamily="34" charset="-120"/>
              </a:rPr>
              <a:t>or can it simply accumulate?</a:t>
            </a:r>
            <a:endParaRPr lang="en-US" sz="4000" dirty="0"/>
          </a:p>
        </p:txBody>
      </p:sp>
      <p:sp>
        <p:nvSpPr>
          <p:cNvPr id="5" name="Shape 3"/>
          <p:cNvSpPr/>
          <p:nvPr/>
        </p:nvSpPr>
        <p:spPr>
          <a:xfrm>
            <a:off x="640080" y="4023360"/>
            <a:ext cx="3108960" cy="18288"/>
          </a:xfrm>
          <a:prstGeom prst="rect">
            <a:avLst/>
          </a:prstGeom>
          <a:solidFill>
            <a:srgbClr val="9C7C38"/>
          </a:solidFill>
          <a:ln/>
        </p:spPr>
        <p:txBody>
          <a:bodyPr/>
          <a:lstStyle/>
          <a:p>
            <a:endParaRPr lang="en-US"/>
          </a:p>
        </p:txBody>
      </p:sp>
      <p:sp>
        <p:nvSpPr>
          <p:cNvPr id="6" name="Text 4"/>
          <p:cNvSpPr txBox="1"/>
          <p:nvPr/>
        </p:nvSpPr>
        <p:spPr>
          <a:xfrm>
            <a:off x="640080" y="4343400"/>
            <a:ext cx="9875520" cy="1097280"/>
          </a:xfrm>
          <a:prstGeom prst="rect">
            <a:avLst/>
          </a:prstGeom>
          <a:noFill/>
          <a:ln/>
        </p:spPr>
        <p:txBody>
          <a:bodyPr wrap="square" lIns="0" tIns="0" rIns="0" bIns="0" rtlCol="0" anchor="ctr"/>
          <a:lstStyle/>
          <a:p>
            <a:pPr marL="0" indent="0">
              <a:lnSpc>
                <a:spcPts val="2500"/>
              </a:lnSpc>
              <a:buNone/>
            </a:pPr>
            <a:r>
              <a:rPr lang="en-US" sz="1700" dirty="0">
                <a:solidFill>
                  <a:srgbClr val="D4B36A"/>
                </a:solidFill>
                <a:latin typeface="Cambria" pitchFamily="34" charset="0"/>
                <a:ea typeface="Cambria" pitchFamily="34" charset="-122"/>
                <a:cs typeface="Cambria" pitchFamily="34" charset="-120"/>
              </a:rPr>
              <a:t>Three weeks of texts have assumed the first. None of them argued for it. Today we meet a tradition that assumes the second just as confidently — and then we ask which assumption is doing more work in the products we actually use.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THE TURN THIS WEEK MAKES</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What Units 1 and 2 quietly agreed on</a:t>
            </a:r>
            <a:endParaRPr lang="en-US" sz="3000" dirty="0"/>
          </a:p>
        </p:txBody>
      </p:sp>
      <p:sp>
        <p:nvSpPr>
          <p:cNvPr id="5" name="Shape 3"/>
          <p:cNvSpPr/>
          <p:nvPr/>
        </p:nvSpPr>
        <p:spPr>
          <a:xfrm>
            <a:off x="640080" y="1572768"/>
            <a:ext cx="5760720" cy="2743200"/>
          </a:xfrm>
          <a:prstGeom prst="roundRect">
            <a:avLst>
              <a:gd name="adj" fmla="val 2667"/>
            </a:avLst>
          </a:prstGeom>
          <a:solidFill>
            <a:srgbClr val="181410"/>
          </a:solidFill>
          <a:ln w="12700">
            <a:solidFill>
              <a:srgbClr val="181410"/>
            </a:solidFill>
            <a:prstDash val="solid"/>
          </a:ln>
        </p:spPr>
        <p:txBody>
          <a:bodyPr/>
          <a:lstStyle/>
          <a:p>
            <a:endParaRPr lang="en-US"/>
          </a:p>
        </p:txBody>
      </p:sp>
      <p:sp>
        <p:nvSpPr>
          <p:cNvPr id="6" name="Text 4"/>
          <p:cNvSpPr txBox="1"/>
          <p:nvPr/>
        </p:nvSpPr>
        <p:spPr>
          <a:xfrm>
            <a:off x="1005840" y="1773936"/>
            <a:ext cx="5029200" cy="365760"/>
          </a:xfrm>
          <a:prstGeom prst="rect">
            <a:avLst/>
          </a:prstGeom>
          <a:noFill/>
          <a:ln/>
        </p:spPr>
        <p:txBody>
          <a:bodyPr wrap="square" lIns="0" tIns="0" rIns="0" bIns="0" rtlCol="0" anchor="ctr"/>
          <a:lstStyle/>
          <a:p>
            <a:pPr marL="0" indent="0">
              <a:buNone/>
            </a:pPr>
            <a:r>
              <a:rPr lang="en-US" sz="2000" b="1" dirty="0">
                <a:solidFill>
                  <a:srgbClr val="D4B36A"/>
                </a:solidFill>
                <a:latin typeface="Cambria" pitchFamily="34" charset="0"/>
                <a:ea typeface="Cambria" pitchFamily="34" charset="-122"/>
                <a:cs typeface="Cambria" pitchFamily="34" charset="-120"/>
              </a:rPr>
              <a:t>The Promethean structure</a:t>
            </a:r>
            <a:endParaRPr lang="en-US" sz="2000" dirty="0"/>
          </a:p>
        </p:txBody>
      </p:sp>
      <p:sp>
        <p:nvSpPr>
          <p:cNvPr id="7" name="Text 5"/>
          <p:cNvSpPr txBox="1"/>
          <p:nvPr/>
        </p:nvSpPr>
        <p:spPr>
          <a:xfrm>
            <a:off x="1005840" y="2240280"/>
            <a:ext cx="5074920" cy="1965960"/>
          </a:xfrm>
          <a:prstGeom prst="rect">
            <a:avLst/>
          </a:prstGeom>
          <a:noFill/>
          <a:ln/>
        </p:spPr>
        <p:txBody>
          <a:bodyPr wrap="square" lIns="0" tIns="0" rIns="0" bIns="0" rtlCol="0" anchor="ctr"/>
          <a:lstStyle/>
          <a:p>
            <a:pPr marL="342900" indent="-342900">
              <a:lnSpc>
                <a:spcPts val="1700"/>
              </a:lnSpc>
              <a:spcAft>
                <a:spcPts val="600"/>
              </a:spcAft>
              <a:buSzPct val="100000"/>
              <a:buChar char="•"/>
            </a:pPr>
            <a:r>
              <a:rPr lang="en-US" sz="1250" dirty="0">
                <a:solidFill>
                  <a:srgbClr val="F5EFE3"/>
                </a:solidFill>
                <a:latin typeface="Calibri" pitchFamily="34" charset="0"/>
                <a:ea typeface="Calibri" pitchFamily="34" charset="-122"/>
                <a:cs typeface="Calibri" pitchFamily="34" charset="-120"/>
              </a:rPr>
              <a:t>A maker, singular and identifiable.</a:t>
            </a:r>
            <a:endParaRPr lang="en-US" sz="1250" dirty="0"/>
          </a:p>
          <a:p>
            <a:pPr marL="342900" indent="-342900">
              <a:lnSpc>
                <a:spcPts val="1700"/>
              </a:lnSpc>
              <a:spcAft>
                <a:spcPts val="600"/>
              </a:spcAft>
              <a:buSzPct val="100000"/>
              <a:buChar char="•"/>
            </a:pPr>
            <a:r>
              <a:rPr lang="en-US" sz="1250" dirty="0">
                <a:solidFill>
                  <a:srgbClr val="F5EFE3"/>
                </a:solidFill>
                <a:latin typeface="Calibri" pitchFamily="34" charset="0"/>
                <a:ea typeface="Calibri" pitchFamily="34" charset="-122"/>
                <a:cs typeface="Calibri" pitchFamily="34" charset="-120"/>
              </a:rPr>
              <a:t>A moment — datable, dramatic, often at night.</a:t>
            </a:r>
            <a:endParaRPr lang="en-US" sz="1250" dirty="0"/>
          </a:p>
          <a:p>
            <a:pPr marL="342900" indent="-342900">
              <a:lnSpc>
                <a:spcPts val="1700"/>
              </a:lnSpc>
              <a:spcAft>
                <a:spcPts val="600"/>
              </a:spcAft>
              <a:buSzPct val="100000"/>
              <a:buChar char="•"/>
            </a:pPr>
            <a:r>
              <a:rPr lang="en-US" sz="1250" dirty="0">
                <a:solidFill>
                  <a:srgbClr val="F5EFE3"/>
                </a:solidFill>
                <a:latin typeface="Calibri" pitchFamily="34" charset="0"/>
                <a:ea typeface="Calibri" pitchFamily="34" charset="-122"/>
                <a:cs typeface="Calibri" pitchFamily="34" charset="-120"/>
              </a:rPr>
              <a:t>A transgression: something taken that was not the maker’s to take.</a:t>
            </a:r>
            <a:endParaRPr lang="en-US" sz="1250" dirty="0"/>
          </a:p>
          <a:p>
            <a:pPr marL="342900" indent="-342900">
              <a:lnSpc>
                <a:spcPts val="1700"/>
              </a:lnSpc>
              <a:spcAft>
                <a:spcPts val="600"/>
              </a:spcAft>
              <a:buSzPct val="100000"/>
              <a:buChar char="•"/>
            </a:pPr>
            <a:r>
              <a:rPr lang="en-US" sz="1250" dirty="0">
                <a:solidFill>
                  <a:srgbClr val="F5EFE3"/>
                </a:solidFill>
                <a:latin typeface="Calibri" pitchFamily="34" charset="0"/>
                <a:ea typeface="Calibri" pitchFamily="34" charset="-122"/>
                <a:cs typeface="Calibri" pitchFamily="34" charset="-120"/>
              </a:rPr>
              <a:t>A punishment that follows from the transgression, not from anything the made thing did.</a:t>
            </a:r>
            <a:endParaRPr lang="en-US" sz="1250" dirty="0"/>
          </a:p>
          <a:p>
            <a:pPr marL="342900" indent="-342900">
              <a:lnSpc>
                <a:spcPts val="1700"/>
              </a:lnSpc>
              <a:spcAft>
                <a:spcPts val="600"/>
              </a:spcAft>
              <a:buSzPct val="100000"/>
              <a:buChar char="•"/>
            </a:pPr>
            <a:r>
              <a:rPr lang="en-US" sz="1250" dirty="0">
                <a:solidFill>
                  <a:srgbClr val="F5EFE3"/>
                </a:solidFill>
                <a:latin typeface="Calibri" pitchFamily="34" charset="0"/>
                <a:ea typeface="Calibri" pitchFamily="34" charset="-122"/>
                <a:cs typeface="Calibri" pitchFamily="34" charset="-120"/>
              </a:rPr>
              <a:t>And an asymmetry of standing that the story never resolves.</a:t>
            </a:r>
            <a:endParaRPr lang="en-US" sz="1250" dirty="0"/>
          </a:p>
        </p:txBody>
      </p:sp>
      <p:sp>
        <p:nvSpPr>
          <p:cNvPr id="8" name="Shape 6"/>
          <p:cNvSpPr/>
          <p:nvPr/>
        </p:nvSpPr>
        <p:spPr>
          <a:xfrm>
            <a:off x="6720840" y="1572768"/>
            <a:ext cx="4809744" cy="896112"/>
          </a:xfrm>
          <a:prstGeom prst="roundRect">
            <a:avLst>
              <a:gd name="adj" fmla="val 8163"/>
            </a:avLst>
          </a:prstGeom>
          <a:solidFill>
            <a:srgbClr val="F0E8D8"/>
          </a:solidFill>
          <a:ln w="12700">
            <a:solidFill>
              <a:srgbClr val="F0E8D8"/>
            </a:solidFill>
            <a:prstDash val="solid"/>
          </a:ln>
        </p:spPr>
        <p:txBody>
          <a:bodyPr/>
          <a:lstStyle/>
          <a:p>
            <a:endParaRPr lang="en-US"/>
          </a:p>
        </p:txBody>
      </p:sp>
      <p:sp>
        <p:nvSpPr>
          <p:cNvPr id="9" name="Text 7"/>
          <p:cNvSpPr txBox="1"/>
          <p:nvPr/>
        </p:nvSpPr>
        <p:spPr>
          <a:xfrm>
            <a:off x="6995160" y="1682496"/>
            <a:ext cx="4261104" cy="274320"/>
          </a:xfrm>
          <a:prstGeom prst="rect">
            <a:avLst/>
          </a:prstGeom>
          <a:noFill/>
          <a:ln/>
        </p:spPr>
        <p:txBody>
          <a:bodyPr wrap="square" lIns="0" tIns="0" rIns="0" bIns="0" rtlCol="0" anchor="ctr"/>
          <a:lstStyle/>
          <a:p>
            <a:pPr marL="0" indent="0">
              <a:buNone/>
            </a:pPr>
            <a:r>
              <a:rPr lang="en-US" sz="1450" b="1" dirty="0">
                <a:solidFill>
                  <a:srgbClr val="181410"/>
                </a:solidFill>
                <a:latin typeface="Cambria" pitchFamily="34" charset="0"/>
                <a:ea typeface="Cambria" pitchFamily="34" charset="-122"/>
                <a:cs typeface="Cambria" pitchFamily="34" charset="-120"/>
              </a:rPr>
              <a:t>Pygmalion has it</a:t>
            </a:r>
            <a:endParaRPr lang="en-US" sz="1450" dirty="0"/>
          </a:p>
        </p:txBody>
      </p:sp>
      <p:sp>
        <p:nvSpPr>
          <p:cNvPr id="10" name="Text 8"/>
          <p:cNvSpPr txBox="1"/>
          <p:nvPr/>
        </p:nvSpPr>
        <p:spPr>
          <a:xfrm>
            <a:off x="6995160" y="1975104"/>
            <a:ext cx="4261104" cy="457200"/>
          </a:xfrm>
          <a:prstGeom prst="rect">
            <a:avLst/>
          </a:prstGeom>
          <a:noFill/>
          <a:ln/>
        </p:spPr>
        <p:txBody>
          <a:bodyPr wrap="square" lIns="0" tIns="0" rIns="0" bIns="0" rtlCol="0" anchor="ctr"/>
          <a:lstStyle/>
          <a:p>
            <a:pPr marL="0" indent="0">
              <a:lnSpc>
                <a:spcPts val="1400"/>
              </a:lnSpc>
              <a:buNone/>
            </a:pPr>
            <a:r>
              <a:rPr lang="en-US" sz="1100" dirty="0">
                <a:solidFill>
                  <a:srgbClr val="6A6259"/>
                </a:solidFill>
                <a:latin typeface="Calibri" pitchFamily="34" charset="0"/>
                <a:ea typeface="Calibri" pitchFamily="34" charset="-122"/>
                <a:cs typeface="Calibri" pitchFamily="34" charset="-120"/>
              </a:rPr>
              <a:t>A carver, a prayer, a goddess, a night. The life is conferred from outside and the maker is rewarded rather than punished — but the shape is the same.</a:t>
            </a:r>
            <a:endParaRPr lang="en-US" sz="1100" dirty="0"/>
          </a:p>
        </p:txBody>
      </p:sp>
      <p:sp>
        <p:nvSpPr>
          <p:cNvPr id="11" name="Shape 9"/>
          <p:cNvSpPr/>
          <p:nvPr/>
        </p:nvSpPr>
        <p:spPr>
          <a:xfrm>
            <a:off x="6720840" y="2542032"/>
            <a:ext cx="4809744" cy="896112"/>
          </a:xfrm>
          <a:prstGeom prst="roundRect">
            <a:avLst>
              <a:gd name="adj" fmla="val 8163"/>
            </a:avLst>
          </a:prstGeom>
          <a:solidFill>
            <a:srgbClr val="E6EAF2"/>
          </a:solidFill>
          <a:ln w="12700">
            <a:solidFill>
              <a:srgbClr val="E6EAF2"/>
            </a:solidFill>
            <a:prstDash val="solid"/>
          </a:ln>
        </p:spPr>
        <p:txBody>
          <a:bodyPr/>
          <a:lstStyle/>
          <a:p>
            <a:endParaRPr lang="en-US"/>
          </a:p>
        </p:txBody>
      </p:sp>
      <p:sp>
        <p:nvSpPr>
          <p:cNvPr id="12" name="Text 10"/>
          <p:cNvSpPr txBox="1"/>
          <p:nvPr/>
        </p:nvSpPr>
        <p:spPr>
          <a:xfrm>
            <a:off x="6995160" y="2651760"/>
            <a:ext cx="4261104" cy="274320"/>
          </a:xfrm>
          <a:prstGeom prst="rect">
            <a:avLst/>
          </a:prstGeom>
          <a:noFill/>
          <a:ln/>
        </p:spPr>
        <p:txBody>
          <a:bodyPr wrap="square" lIns="0" tIns="0" rIns="0" bIns="0" rtlCol="0" anchor="ctr"/>
          <a:lstStyle/>
          <a:p>
            <a:pPr marL="0" indent="0">
              <a:buNone/>
            </a:pPr>
            <a:r>
              <a:rPr lang="en-US" sz="1450" b="1" dirty="0">
                <a:solidFill>
                  <a:srgbClr val="181410"/>
                </a:solidFill>
                <a:latin typeface="Cambria" pitchFamily="34" charset="0"/>
                <a:ea typeface="Cambria" pitchFamily="34" charset="-122"/>
                <a:cs typeface="Cambria" pitchFamily="34" charset="-120"/>
              </a:rPr>
              <a:t>Frankenstein has it</a:t>
            </a:r>
            <a:endParaRPr lang="en-US" sz="1450" dirty="0"/>
          </a:p>
        </p:txBody>
      </p:sp>
      <p:sp>
        <p:nvSpPr>
          <p:cNvPr id="13" name="Text 11"/>
          <p:cNvSpPr txBox="1"/>
          <p:nvPr/>
        </p:nvSpPr>
        <p:spPr>
          <a:xfrm>
            <a:off x="6995160" y="2944368"/>
            <a:ext cx="4261104" cy="457200"/>
          </a:xfrm>
          <a:prstGeom prst="rect">
            <a:avLst/>
          </a:prstGeom>
          <a:noFill/>
          <a:ln/>
        </p:spPr>
        <p:txBody>
          <a:bodyPr wrap="square" lIns="0" tIns="0" rIns="0" bIns="0" rtlCol="0" anchor="ctr"/>
          <a:lstStyle/>
          <a:p>
            <a:pPr marL="0" indent="0">
              <a:lnSpc>
                <a:spcPts val="1400"/>
              </a:lnSpc>
              <a:buNone/>
            </a:pPr>
            <a:r>
              <a:rPr lang="en-US" sz="1100" dirty="0">
                <a:solidFill>
                  <a:srgbClr val="6A6259"/>
                </a:solidFill>
                <a:latin typeface="Calibri" pitchFamily="34" charset="0"/>
                <a:ea typeface="Calibri" pitchFamily="34" charset="-122"/>
                <a:cs typeface="Calibri" pitchFamily="34" charset="-120"/>
              </a:rPr>
              <a:t>Two years of labour, one dreary night of November, a theft from the charnel house, and a catastrophe that arrives as consequence.</a:t>
            </a:r>
            <a:endParaRPr lang="en-US" sz="1100" dirty="0"/>
          </a:p>
        </p:txBody>
      </p:sp>
      <p:sp>
        <p:nvSpPr>
          <p:cNvPr id="14" name="Shape 12"/>
          <p:cNvSpPr/>
          <p:nvPr/>
        </p:nvSpPr>
        <p:spPr>
          <a:xfrm>
            <a:off x="6720840" y="3511296"/>
            <a:ext cx="4809744" cy="896112"/>
          </a:xfrm>
          <a:prstGeom prst="roundRect">
            <a:avLst>
              <a:gd name="adj" fmla="val 8163"/>
            </a:avLst>
          </a:prstGeom>
          <a:solidFill>
            <a:srgbClr val="F0E8D8"/>
          </a:solidFill>
          <a:ln w="12700">
            <a:solidFill>
              <a:srgbClr val="F0E8D8"/>
            </a:solidFill>
            <a:prstDash val="solid"/>
          </a:ln>
        </p:spPr>
        <p:txBody>
          <a:bodyPr/>
          <a:lstStyle/>
          <a:p>
            <a:endParaRPr lang="en-US"/>
          </a:p>
        </p:txBody>
      </p:sp>
      <p:sp>
        <p:nvSpPr>
          <p:cNvPr id="15" name="Text 13"/>
          <p:cNvSpPr txBox="1"/>
          <p:nvPr/>
        </p:nvSpPr>
        <p:spPr>
          <a:xfrm>
            <a:off x="6995160" y="3621024"/>
            <a:ext cx="4261104" cy="274320"/>
          </a:xfrm>
          <a:prstGeom prst="rect">
            <a:avLst/>
          </a:prstGeom>
          <a:noFill/>
          <a:ln/>
        </p:spPr>
        <p:txBody>
          <a:bodyPr wrap="square" lIns="0" tIns="0" rIns="0" bIns="0" rtlCol="0" anchor="ctr"/>
          <a:lstStyle/>
          <a:p>
            <a:pPr marL="0" indent="0">
              <a:buNone/>
            </a:pPr>
            <a:r>
              <a:rPr lang="en-US" sz="1450" b="1" dirty="0">
                <a:solidFill>
                  <a:srgbClr val="181410"/>
                </a:solidFill>
                <a:latin typeface="Cambria" pitchFamily="34" charset="0"/>
                <a:ea typeface="Cambria" pitchFamily="34" charset="-122"/>
                <a:cs typeface="Cambria" pitchFamily="34" charset="-120"/>
              </a:rPr>
              <a:t>And so do our machines</a:t>
            </a:r>
            <a:endParaRPr lang="en-US" sz="1450" dirty="0"/>
          </a:p>
        </p:txBody>
      </p:sp>
      <p:sp>
        <p:nvSpPr>
          <p:cNvPr id="16" name="Text 14"/>
          <p:cNvSpPr txBox="1"/>
          <p:nvPr/>
        </p:nvSpPr>
        <p:spPr>
          <a:xfrm>
            <a:off x="6995160" y="3913632"/>
            <a:ext cx="4261104" cy="457200"/>
          </a:xfrm>
          <a:prstGeom prst="rect">
            <a:avLst/>
          </a:prstGeom>
          <a:noFill/>
          <a:ln/>
        </p:spPr>
        <p:txBody>
          <a:bodyPr wrap="square" lIns="0" tIns="0" rIns="0" bIns="0" rtlCol="0" anchor="ctr"/>
          <a:lstStyle/>
          <a:p>
            <a:pPr marL="0" indent="0">
              <a:lnSpc>
                <a:spcPts val="1400"/>
              </a:lnSpc>
              <a:buNone/>
            </a:pPr>
            <a:r>
              <a:rPr lang="en-US" sz="1100" dirty="0">
                <a:solidFill>
                  <a:srgbClr val="6A6259"/>
                </a:solidFill>
                <a:latin typeface="Calibri" pitchFamily="34" charset="0"/>
                <a:ea typeface="Calibri" pitchFamily="34" charset="-122"/>
                <a:cs typeface="Calibri" pitchFamily="34" charset="-120"/>
              </a:rPr>
              <a:t>Training runs have dates. Launches have press releases. Capability jumps get described as sparks. We narrate our systems in this shape because it is the shape we have.</a:t>
            </a:r>
            <a:endParaRPr lang="en-US" sz="1100" dirty="0"/>
          </a:p>
        </p:txBody>
      </p:sp>
      <p:sp>
        <p:nvSpPr>
          <p:cNvPr id="17" name="Shape 15"/>
          <p:cNvSpPr/>
          <p:nvPr/>
        </p:nvSpPr>
        <p:spPr>
          <a:xfrm>
            <a:off x="640080" y="4526280"/>
            <a:ext cx="10911535" cy="1234440"/>
          </a:xfrm>
          <a:prstGeom prst="roundRect">
            <a:avLst>
              <a:gd name="adj" fmla="val 5926"/>
            </a:avLst>
          </a:prstGeom>
          <a:solidFill>
            <a:srgbClr val="181410"/>
          </a:solidFill>
          <a:ln w="12700">
            <a:solidFill>
              <a:srgbClr val="181410"/>
            </a:solidFill>
            <a:prstDash val="solid"/>
          </a:ln>
        </p:spPr>
        <p:txBody>
          <a:bodyPr/>
          <a:lstStyle/>
          <a:p>
            <a:endParaRPr lang="en-US"/>
          </a:p>
        </p:txBody>
      </p:sp>
      <p:sp>
        <p:nvSpPr>
          <p:cNvPr id="18" name="Text 16"/>
          <p:cNvSpPr txBox="1"/>
          <p:nvPr/>
        </p:nvSpPr>
        <p:spPr>
          <a:xfrm>
            <a:off x="1005840" y="4709160"/>
            <a:ext cx="10424160" cy="274320"/>
          </a:xfrm>
          <a:prstGeom prst="rect">
            <a:avLst/>
          </a:prstGeom>
          <a:noFill/>
          <a:ln/>
        </p:spPr>
        <p:txBody>
          <a:bodyPr wrap="square" lIns="0" tIns="0" rIns="0" bIns="0" rtlCol="0" anchor="ctr"/>
          <a:lstStyle/>
          <a:p>
            <a:pPr marL="0" indent="0">
              <a:buNone/>
            </a:pPr>
            <a:r>
              <a:rPr lang="en-US" sz="1150" b="1" kern="0" spc="140" dirty="0">
                <a:solidFill>
                  <a:srgbClr val="D4B36A"/>
                </a:solidFill>
                <a:latin typeface="Calibri" pitchFamily="34" charset="0"/>
                <a:ea typeface="Calibri" pitchFamily="34" charset="-122"/>
                <a:cs typeface="Calibri" pitchFamily="34" charset="-120"/>
              </a:rPr>
              <a:t>The claim to test today</a:t>
            </a:r>
            <a:endParaRPr lang="en-US" sz="1150" dirty="0"/>
          </a:p>
        </p:txBody>
      </p:sp>
      <p:sp>
        <p:nvSpPr>
          <p:cNvPr id="19" name="Text 17"/>
          <p:cNvSpPr txBox="1"/>
          <p:nvPr/>
        </p:nvSpPr>
        <p:spPr>
          <a:xfrm>
            <a:off x="1005840" y="5056632"/>
            <a:ext cx="10424160" cy="521208"/>
          </a:xfrm>
          <a:prstGeom prst="rect">
            <a:avLst/>
          </a:prstGeom>
          <a:noFill/>
          <a:ln/>
        </p:spPr>
        <p:txBody>
          <a:bodyPr wrap="square" lIns="0" tIns="0" rIns="0" bIns="0" rtlCol="0" anchor="ctr"/>
          <a:lstStyle/>
          <a:p>
            <a:pPr marL="0" indent="0">
              <a:lnSpc>
                <a:spcPts val="2100"/>
              </a:lnSpc>
              <a:buNone/>
            </a:pPr>
            <a:r>
              <a:rPr lang="en-US" sz="1550" dirty="0">
                <a:solidFill>
                  <a:srgbClr val="F5EFE3"/>
                </a:solidFill>
                <a:latin typeface="Cambria" pitchFamily="34" charset="0"/>
                <a:ea typeface="Cambria" pitchFamily="34" charset="-122"/>
                <a:cs typeface="Cambria" pitchFamily="34" charset="-120"/>
              </a:rPr>
              <a:t>That this structure is not a discovery about made minds. It is a local narrative habit — inherited, unexamined, and currently being used as the design brief for an industry. A habit is not wrong. But it is optional, and today we meet the alternative.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181410"/>
        </a:solidFill>
        <a:effectLst/>
      </p:bgPr>
    </p:bg>
    <p:spTree>
      <p:nvGrpSpPr>
        <p:cNvPr id="1" name=""/>
        <p:cNvGrpSpPr/>
        <p:nvPr/>
      </p:nvGrpSpPr>
      <p:grpSpPr>
        <a:xfrm>
          <a:off x="0" y="0"/>
          <a:ext cx="0" cy="0"/>
          <a:chOff x="0" y="0"/>
          <a:chExt cx="0" cy="0"/>
        </a:xfrm>
      </p:grpSpPr>
      <p:sp>
        <p:nvSpPr>
          <p:cNvPr id="2" name="Shape 0"/>
          <p:cNvSpPr/>
          <p:nvPr/>
        </p:nvSpPr>
        <p:spPr>
          <a:xfrm>
            <a:off x="8778240" y="1417320"/>
            <a:ext cx="2651760" cy="2651760"/>
          </a:xfrm>
          <a:prstGeom prst="ellipse">
            <a:avLst/>
          </a:prstGeom>
          <a:solidFill>
            <a:srgbClr val="B8422A">
              <a:alpha val="65000"/>
            </a:srgbClr>
          </a:solidFill>
          <a:ln/>
        </p:spPr>
        <p:txBody>
          <a:bodyPr/>
          <a:lstStyle/>
          <a:p>
            <a:endParaRPr lang="en-US"/>
          </a:p>
        </p:txBody>
      </p:sp>
      <p:sp>
        <p:nvSpPr>
          <p:cNvPr id="3" name="Shape 1"/>
          <p:cNvSpPr/>
          <p:nvPr/>
        </p:nvSpPr>
        <p:spPr>
          <a:xfrm>
            <a:off x="9646920" y="2286000"/>
            <a:ext cx="1188720" cy="1188720"/>
          </a:xfrm>
          <a:prstGeom prst="ellipse">
            <a:avLst/>
          </a:prstGeom>
          <a:solidFill>
            <a:srgbClr val="9C7C38">
              <a:alpha val="7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DE8C74"/>
                </a:solidFill>
                <a:latin typeface="Calibri" pitchFamily="34" charset="0"/>
                <a:ea typeface="Calibri" pitchFamily="34" charset="-122"/>
                <a:cs typeface="Calibri" pitchFamily="34" charset="-120"/>
              </a:rPr>
              <a:t>PART ONE</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800" b="1" dirty="0">
                <a:solidFill>
                  <a:srgbClr val="F5EFE3"/>
                </a:solidFill>
                <a:latin typeface="Cambria" pitchFamily="34" charset="0"/>
                <a:ea typeface="Cambria" pitchFamily="34" charset="-122"/>
                <a:cs typeface="Cambria" pitchFamily="34" charset="-120"/>
              </a:rPr>
              <a:t>Ground rules</a:t>
            </a:r>
            <a:endParaRPr lang="en-US" sz="38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Foster on how to read yokai</a:t>
            </a:r>
            <a:endParaRPr lang="en-US" sz="1500" dirty="0"/>
          </a:p>
        </p:txBody>
      </p:sp>
      <p:sp>
        <p:nvSpPr>
          <p:cNvPr id="7" name="Shape 5"/>
          <p:cNvSpPr/>
          <p:nvPr/>
        </p:nvSpPr>
        <p:spPr>
          <a:xfrm>
            <a:off x="640080" y="3913632"/>
            <a:ext cx="2377440" cy="18288"/>
          </a:xfrm>
          <a:prstGeom prst="rect">
            <a:avLst/>
          </a:prstGeom>
          <a:solidFill>
            <a:srgbClr val="9C7C38"/>
          </a:solidFill>
          <a:ln/>
        </p:spPr>
        <p:txBody>
          <a:bodyPr/>
          <a:lstStyle/>
          <a:p>
            <a:endParaRPr lang="en-US"/>
          </a:p>
        </p:txBody>
      </p:sp>
      <p:sp>
        <p:nvSpPr>
          <p:cNvPr id="8" name="Text 6"/>
          <p:cNvSpPr txBox="1"/>
          <p:nvPr/>
        </p:nvSpPr>
        <p:spPr>
          <a:xfrm>
            <a:off x="640080" y="4133088"/>
            <a:ext cx="7680960" cy="777240"/>
          </a:xfrm>
          <a:prstGeom prst="rect">
            <a:avLst/>
          </a:prstGeom>
          <a:noFill/>
          <a:ln/>
        </p:spPr>
        <p:txBody>
          <a:bodyPr wrap="square" lIns="0" tIns="0" rIns="0" bIns="0" rtlCol="0" anchor="ctr"/>
          <a:lstStyle/>
          <a:p>
            <a:pPr marL="0" indent="0">
              <a:lnSpc>
                <a:spcPts val="2500"/>
              </a:lnSpc>
              <a:buNone/>
            </a:pPr>
            <a:r>
              <a:rPr lang="en-US" sz="1850" i="1" dirty="0">
                <a:solidFill>
                  <a:srgbClr val="D4B36A"/>
                </a:solidFill>
                <a:latin typeface="Cambria" pitchFamily="34" charset="0"/>
                <a:ea typeface="Cambria" pitchFamily="34" charset="-122"/>
                <a:cs typeface="Cambria" pitchFamily="34" charset="-120"/>
              </a:rPr>
              <a:t>Before we borrow a tradition, we should learn what it is not.</a:t>
            </a: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FOSTER · PART I</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What the word yokai does not mean</a:t>
            </a:r>
            <a:endParaRPr lang="en-US" sz="3000" dirty="0"/>
          </a:p>
        </p:txBody>
      </p:sp>
      <p:sp>
        <p:nvSpPr>
          <p:cNvPr id="5" name="Shape 3"/>
          <p:cNvSpPr/>
          <p:nvPr/>
        </p:nvSpPr>
        <p:spPr>
          <a:xfrm>
            <a:off x="640080" y="1572768"/>
            <a:ext cx="3454298" cy="2423160"/>
          </a:xfrm>
          <a:prstGeom prst="roundRect">
            <a:avLst>
              <a:gd name="adj" fmla="val 3019"/>
            </a:avLst>
          </a:prstGeom>
          <a:solidFill>
            <a:srgbClr val="F0E8D8"/>
          </a:solidFill>
          <a:ln w="12700">
            <a:solidFill>
              <a:srgbClr val="F0E8D8"/>
            </a:solidFill>
            <a:prstDash val="solid"/>
          </a:ln>
        </p:spPr>
        <p:txBody>
          <a:bodyPr/>
          <a:lstStyle/>
          <a:p>
            <a:endParaRPr lang="en-US"/>
          </a:p>
        </p:txBody>
      </p:sp>
      <p:sp>
        <p:nvSpPr>
          <p:cNvPr id="6" name="Text 4"/>
          <p:cNvSpPr txBox="1"/>
          <p:nvPr/>
        </p:nvSpPr>
        <p:spPr>
          <a:xfrm>
            <a:off x="914400" y="1773936"/>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181410"/>
                </a:solidFill>
                <a:latin typeface="Cambria" pitchFamily="34" charset="0"/>
                <a:ea typeface="Cambria" pitchFamily="34" charset="-122"/>
                <a:cs typeface="Cambria" pitchFamily="34" charset="-120"/>
              </a:rPr>
              <a:t>Not a species list</a:t>
            </a:r>
            <a:endParaRPr lang="en-US" sz="1650" dirty="0"/>
          </a:p>
        </p:txBody>
      </p:sp>
      <p:sp>
        <p:nvSpPr>
          <p:cNvPr id="7" name="Text 5"/>
          <p:cNvSpPr txBox="1"/>
          <p:nvPr/>
        </p:nvSpPr>
        <p:spPr>
          <a:xfrm>
            <a:off x="914400" y="2450592"/>
            <a:ext cx="2905658" cy="132588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Yokai is a modern umbrella term applied retroactively to a huge and inconsistent set of beings, phenomena and events. It behaves less like “mammal” and more like “weird stuff,” formalised late and for scholarly convenience.</a:t>
            </a:r>
            <a:endParaRPr lang="en-US" sz="1250" dirty="0"/>
          </a:p>
        </p:txBody>
      </p:sp>
      <p:sp>
        <p:nvSpPr>
          <p:cNvPr id="8" name="Shape 6"/>
          <p:cNvSpPr/>
          <p:nvPr/>
        </p:nvSpPr>
        <p:spPr>
          <a:xfrm>
            <a:off x="4368698" y="1572768"/>
            <a:ext cx="3454298" cy="2423160"/>
          </a:xfrm>
          <a:prstGeom prst="roundRect">
            <a:avLst>
              <a:gd name="adj" fmla="val 3019"/>
            </a:avLst>
          </a:prstGeom>
          <a:solidFill>
            <a:srgbClr val="E6EAF2"/>
          </a:solidFill>
          <a:ln w="12700">
            <a:solidFill>
              <a:srgbClr val="E6EAF2"/>
            </a:solidFill>
            <a:prstDash val="solid"/>
          </a:ln>
        </p:spPr>
        <p:txBody>
          <a:bodyPr/>
          <a:lstStyle/>
          <a:p>
            <a:endParaRPr lang="en-US"/>
          </a:p>
        </p:txBody>
      </p:sp>
      <p:sp>
        <p:nvSpPr>
          <p:cNvPr id="9" name="Text 7"/>
          <p:cNvSpPr txBox="1"/>
          <p:nvPr/>
        </p:nvSpPr>
        <p:spPr>
          <a:xfrm>
            <a:off x="4643018" y="1773936"/>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181410"/>
                </a:solidFill>
                <a:latin typeface="Cambria" pitchFamily="34" charset="0"/>
                <a:ea typeface="Cambria" pitchFamily="34" charset="-122"/>
                <a:cs typeface="Cambria" pitchFamily="34" charset="-120"/>
              </a:rPr>
              <a:t>Not a belief system</a:t>
            </a:r>
            <a:endParaRPr lang="en-US" sz="1650" dirty="0"/>
          </a:p>
        </p:txBody>
      </p:sp>
      <p:sp>
        <p:nvSpPr>
          <p:cNvPr id="10" name="Text 8"/>
          <p:cNvSpPr txBox="1"/>
          <p:nvPr/>
        </p:nvSpPr>
        <p:spPr>
          <a:xfrm>
            <a:off x="4643018" y="2450592"/>
            <a:ext cx="2905658" cy="132588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There is no yokai doctrine, no yokai canon, and no requirement that anyone believed in any of it. People made pictures, told stories, sold books and had a very good time.</a:t>
            </a:r>
            <a:endParaRPr lang="en-US" sz="1250" dirty="0"/>
          </a:p>
        </p:txBody>
      </p:sp>
      <p:sp>
        <p:nvSpPr>
          <p:cNvPr id="11" name="Shape 9"/>
          <p:cNvSpPr/>
          <p:nvPr/>
        </p:nvSpPr>
        <p:spPr>
          <a:xfrm>
            <a:off x="8097317" y="1572768"/>
            <a:ext cx="3454298" cy="2423160"/>
          </a:xfrm>
          <a:prstGeom prst="roundRect">
            <a:avLst>
              <a:gd name="adj" fmla="val 3019"/>
            </a:avLst>
          </a:prstGeom>
          <a:solidFill>
            <a:srgbClr val="F0E8D8"/>
          </a:solidFill>
          <a:ln w="12700">
            <a:solidFill>
              <a:srgbClr val="F0E8D8"/>
            </a:solidFill>
            <a:prstDash val="solid"/>
          </a:ln>
        </p:spPr>
        <p:txBody>
          <a:bodyPr/>
          <a:lstStyle/>
          <a:p>
            <a:endParaRPr lang="en-US"/>
          </a:p>
        </p:txBody>
      </p:sp>
      <p:sp>
        <p:nvSpPr>
          <p:cNvPr id="12" name="Text 10"/>
          <p:cNvSpPr txBox="1"/>
          <p:nvPr/>
        </p:nvSpPr>
        <p:spPr>
          <a:xfrm>
            <a:off x="8371637" y="1773936"/>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181410"/>
                </a:solidFill>
                <a:latin typeface="Cambria" pitchFamily="34" charset="0"/>
                <a:ea typeface="Cambria" pitchFamily="34" charset="-122"/>
                <a:cs typeface="Cambria" pitchFamily="34" charset="-120"/>
              </a:rPr>
              <a:t>Not a key to a national character</a:t>
            </a:r>
            <a:endParaRPr lang="en-US" sz="1650" dirty="0"/>
          </a:p>
        </p:txBody>
      </p:sp>
      <p:sp>
        <p:nvSpPr>
          <p:cNvPr id="13" name="Text 11"/>
          <p:cNvSpPr txBox="1"/>
          <p:nvPr/>
        </p:nvSpPr>
        <p:spPr>
          <a:xfrm>
            <a:off x="8371637" y="2450592"/>
            <a:ext cx="2905658" cy="132588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Foster is explicit that yokai should not be treated as a window onto “the Japanese mind.” The tradition is regional, historically layered, commercially driven and internally contradictory — like every other tradition.</a:t>
            </a:r>
            <a:endParaRPr lang="en-US" sz="1250" dirty="0"/>
          </a:p>
        </p:txBody>
      </p:sp>
      <p:sp>
        <p:nvSpPr>
          <p:cNvPr id="14" name="Shape 12"/>
          <p:cNvSpPr/>
          <p:nvPr/>
        </p:nvSpPr>
        <p:spPr>
          <a:xfrm>
            <a:off x="640080" y="4251960"/>
            <a:ext cx="10911535" cy="1508760"/>
          </a:xfrm>
          <a:prstGeom prst="roundRect">
            <a:avLst>
              <a:gd name="adj" fmla="val 4848"/>
            </a:avLst>
          </a:prstGeom>
          <a:solidFill>
            <a:srgbClr val="181410"/>
          </a:solidFill>
          <a:ln w="12700">
            <a:solidFill>
              <a:srgbClr val="181410"/>
            </a:solidFill>
            <a:prstDash val="solid"/>
          </a:ln>
        </p:spPr>
        <p:txBody>
          <a:bodyPr/>
          <a:lstStyle/>
          <a:p>
            <a:endParaRPr lang="en-US"/>
          </a:p>
        </p:txBody>
      </p:sp>
      <p:sp>
        <p:nvSpPr>
          <p:cNvPr id="15" name="Text 13"/>
          <p:cNvSpPr txBox="1"/>
          <p:nvPr/>
        </p:nvSpPr>
        <p:spPr>
          <a:xfrm>
            <a:off x="1005840" y="4434840"/>
            <a:ext cx="10424160" cy="274320"/>
          </a:xfrm>
          <a:prstGeom prst="rect">
            <a:avLst/>
          </a:prstGeom>
          <a:noFill/>
          <a:ln/>
        </p:spPr>
        <p:txBody>
          <a:bodyPr wrap="square" lIns="0" tIns="0" rIns="0" bIns="0" rtlCol="0" anchor="ctr"/>
          <a:lstStyle/>
          <a:p>
            <a:pPr marL="0" indent="0">
              <a:buNone/>
            </a:pPr>
            <a:r>
              <a:rPr lang="en-US" sz="1150" b="1" kern="0" spc="140" dirty="0">
                <a:solidFill>
                  <a:srgbClr val="D4B36A"/>
                </a:solidFill>
                <a:latin typeface="Calibri" pitchFamily="34" charset="0"/>
                <a:ea typeface="Calibri" pitchFamily="34" charset="-122"/>
                <a:cs typeface="Calibri" pitchFamily="34" charset="-120"/>
              </a:rPr>
              <a:t>Why this matters for what we are about to do</a:t>
            </a:r>
            <a:endParaRPr lang="en-US" sz="1150" dirty="0"/>
          </a:p>
        </p:txBody>
      </p:sp>
      <p:sp>
        <p:nvSpPr>
          <p:cNvPr id="16" name="Text 14"/>
          <p:cNvSpPr txBox="1"/>
          <p:nvPr/>
        </p:nvSpPr>
        <p:spPr>
          <a:xfrm>
            <a:off x="1005840" y="4782312"/>
            <a:ext cx="10424160" cy="795528"/>
          </a:xfrm>
          <a:prstGeom prst="rect">
            <a:avLst/>
          </a:prstGeom>
          <a:noFill/>
          <a:ln/>
        </p:spPr>
        <p:txBody>
          <a:bodyPr wrap="square" lIns="0" tIns="0" rIns="0" bIns="0" rtlCol="0" anchor="ctr"/>
          <a:lstStyle/>
          <a:p>
            <a:pPr marL="0" indent="0">
              <a:lnSpc>
                <a:spcPts val="2100"/>
              </a:lnSpc>
              <a:buNone/>
            </a:pPr>
            <a:r>
              <a:rPr lang="en-US" sz="1550" dirty="0">
                <a:solidFill>
                  <a:srgbClr val="F5EFE3"/>
                </a:solidFill>
                <a:latin typeface="Cambria" pitchFamily="34" charset="0"/>
                <a:ea typeface="Cambria" pitchFamily="34" charset="-122"/>
                <a:cs typeface="Cambria" pitchFamily="34" charset="-120"/>
              </a:rPr>
              <a:t>We are going to take a structure from this tradition and use it to think about machine learning. That is legitimate. What is not legitimate is the move we criticised in Unit 3 — lifting imagery from a culture while leaving its analysis behind. So we take the structure with its history attached, and we say where we are simplifying.</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FOSTER · THE KEY CONCEPT</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Event becomes object</a:t>
            </a:r>
            <a:endParaRPr lang="en-US" sz="3000" dirty="0"/>
          </a:p>
        </p:txBody>
      </p:sp>
      <p:sp>
        <p:nvSpPr>
          <p:cNvPr id="5" name="Shape 3"/>
          <p:cNvSpPr/>
          <p:nvPr/>
        </p:nvSpPr>
        <p:spPr>
          <a:xfrm>
            <a:off x="640080" y="1572768"/>
            <a:ext cx="5943600" cy="2011680"/>
          </a:xfrm>
          <a:prstGeom prst="roundRect">
            <a:avLst>
              <a:gd name="adj" fmla="val 3636"/>
            </a:avLst>
          </a:prstGeom>
          <a:solidFill>
            <a:srgbClr val="181410"/>
          </a:solidFill>
          <a:ln w="12700">
            <a:solidFill>
              <a:srgbClr val="181410"/>
            </a:solidFill>
            <a:prstDash val="solid"/>
          </a:ln>
        </p:spPr>
        <p:txBody>
          <a:bodyPr/>
          <a:lstStyle/>
          <a:p>
            <a:endParaRPr lang="en-US"/>
          </a:p>
        </p:txBody>
      </p:sp>
      <p:sp>
        <p:nvSpPr>
          <p:cNvPr id="6" name="Text 4"/>
          <p:cNvSpPr txBox="1"/>
          <p:nvPr/>
        </p:nvSpPr>
        <p:spPr>
          <a:xfrm>
            <a:off x="1005840" y="1773936"/>
            <a:ext cx="5212080" cy="292608"/>
          </a:xfrm>
          <a:prstGeom prst="rect">
            <a:avLst/>
          </a:prstGeom>
          <a:noFill/>
          <a:ln/>
        </p:spPr>
        <p:txBody>
          <a:bodyPr wrap="square" lIns="0" tIns="0" rIns="0" bIns="0" rtlCol="0" anchor="ctr"/>
          <a:lstStyle/>
          <a:p>
            <a:pPr marL="0" indent="0">
              <a:buNone/>
            </a:pPr>
            <a:r>
              <a:rPr lang="en-US" sz="1150" b="1" kern="0" spc="140" dirty="0">
                <a:solidFill>
                  <a:srgbClr val="D4B36A"/>
                </a:solidFill>
                <a:latin typeface="Calibri" pitchFamily="34" charset="0"/>
                <a:ea typeface="Calibri" pitchFamily="34" charset="-122"/>
                <a:cs typeface="Calibri" pitchFamily="34" charset="-120"/>
              </a:rPr>
              <a:t>The process</a:t>
            </a:r>
            <a:endParaRPr lang="en-US" sz="1150" dirty="0"/>
          </a:p>
        </p:txBody>
      </p:sp>
      <p:sp>
        <p:nvSpPr>
          <p:cNvPr id="7" name="Text 5"/>
          <p:cNvSpPr txBox="1"/>
          <p:nvPr/>
        </p:nvSpPr>
        <p:spPr>
          <a:xfrm>
            <a:off x="1005840" y="2194560"/>
            <a:ext cx="5257800" cy="1280160"/>
          </a:xfrm>
          <a:prstGeom prst="rect">
            <a:avLst/>
          </a:prstGeom>
          <a:noFill/>
          <a:ln/>
        </p:spPr>
        <p:txBody>
          <a:bodyPr wrap="square" lIns="0" tIns="0" rIns="0" bIns="0" rtlCol="0" anchor="ctr"/>
          <a:lstStyle/>
          <a:p>
            <a:pPr marL="0" indent="0">
              <a:lnSpc>
                <a:spcPts val="2100"/>
              </a:lnSpc>
              <a:buNone/>
            </a:pPr>
            <a:r>
              <a:rPr lang="en-US" sz="1550" dirty="0">
                <a:solidFill>
                  <a:srgbClr val="F5EFE3"/>
                </a:solidFill>
                <a:latin typeface="Cambria" pitchFamily="34" charset="0"/>
                <a:ea typeface="Cambria" pitchFamily="34" charset="-122"/>
                <a:cs typeface="Cambria" pitchFamily="34" charset="-120"/>
              </a:rPr>
              <a:t>Something inexplicable happens — a sound in an empty room, a light on the water. It is first an event. Over time it acquires a name, then a description, then a picture, then a body. What began as a happening ends as a creature with a fixed appearance you can buy on a keychain.</a:t>
            </a:r>
            <a:endParaRPr lang="en-US" sz="1550" dirty="0"/>
          </a:p>
        </p:txBody>
      </p:sp>
      <p:sp>
        <p:nvSpPr>
          <p:cNvPr id="8" name="Shape 6"/>
          <p:cNvSpPr/>
          <p:nvPr/>
        </p:nvSpPr>
        <p:spPr>
          <a:xfrm>
            <a:off x="6903720" y="1572768"/>
            <a:ext cx="4626864" cy="1371600"/>
          </a:xfrm>
          <a:prstGeom prst="roundRect">
            <a:avLst>
              <a:gd name="adj" fmla="val 5333"/>
            </a:avLst>
          </a:prstGeom>
          <a:solidFill>
            <a:srgbClr val="F0E8D8"/>
          </a:solidFill>
          <a:ln w="12700">
            <a:solidFill>
              <a:srgbClr val="F0E8D8"/>
            </a:solidFill>
            <a:prstDash val="solid"/>
          </a:ln>
        </p:spPr>
        <p:txBody>
          <a:bodyPr/>
          <a:lstStyle/>
          <a:p>
            <a:endParaRPr lang="en-US"/>
          </a:p>
        </p:txBody>
      </p:sp>
      <p:sp>
        <p:nvSpPr>
          <p:cNvPr id="9" name="Text 7"/>
          <p:cNvSpPr txBox="1"/>
          <p:nvPr/>
        </p:nvSpPr>
        <p:spPr>
          <a:xfrm>
            <a:off x="7178040" y="1719072"/>
            <a:ext cx="4078224" cy="310896"/>
          </a:xfrm>
          <a:prstGeom prst="rect">
            <a:avLst/>
          </a:prstGeom>
          <a:noFill/>
          <a:ln/>
        </p:spPr>
        <p:txBody>
          <a:bodyPr wrap="square" lIns="0" tIns="0" rIns="0" bIns="0" rtlCol="0" anchor="ctr"/>
          <a:lstStyle/>
          <a:p>
            <a:pPr marL="0" indent="0">
              <a:buNone/>
            </a:pPr>
            <a:r>
              <a:rPr lang="en-US" sz="1450" b="1" dirty="0">
                <a:solidFill>
                  <a:srgbClr val="181410"/>
                </a:solidFill>
                <a:latin typeface="Cambria" pitchFamily="34" charset="0"/>
                <a:ea typeface="Cambria" pitchFamily="34" charset="-122"/>
                <a:cs typeface="Cambria" pitchFamily="34" charset="-120"/>
              </a:rPr>
              <a:t>Where the pictures come in</a:t>
            </a:r>
            <a:endParaRPr lang="en-US" sz="1450" dirty="0"/>
          </a:p>
        </p:txBody>
      </p:sp>
      <p:sp>
        <p:nvSpPr>
          <p:cNvPr id="10" name="Text 8"/>
          <p:cNvSpPr txBox="1"/>
          <p:nvPr/>
        </p:nvSpPr>
        <p:spPr>
          <a:xfrm>
            <a:off x="7178040" y="2075688"/>
            <a:ext cx="4078224" cy="777240"/>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Illustration is not documentation of the process; it is a stage in it. Once a thing has been drawn, later people see that drawing rather than the event. Sekien is one of the great accelerators of this.</a:t>
            </a:r>
            <a:endParaRPr lang="en-US" sz="1150" dirty="0"/>
          </a:p>
        </p:txBody>
      </p:sp>
      <p:sp>
        <p:nvSpPr>
          <p:cNvPr id="11" name="Shape 9"/>
          <p:cNvSpPr/>
          <p:nvPr/>
        </p:nvSpPr>
        <p:spPr>
          <a:xfrm>
            <a:off x="6903720" y="3063240"/>
            <a:ext cx="4626864" cy="1371600"/>
          </a:xfrm>
          <a:prstGeom prst="roundRect">
            <a:avLst>
              <a:gd name="adj" fmla="val 5333"/>
            </a:avLst>
          </a:prstGeom>
          <a:solidFill>
            <a:srgbClr val="F0E8D8"/>
          </a:solidFill>
          <a:ln w="12700">
            <a:solidFill>
              <a:srgbClr val="F0E8D8"/>
            </a:solidFill>
            <a:prstDash val="solid"/>
          </a:ln>
        </p:spPr>
        <p:txBody>
          <a:bodyPr/>
          <a:lstStyle/>
          <a:p>
            <a:endParaRPr lang="en-US"/>
          </a:p>
        </p:txBody>
      </p:sp>
      <p:sp>
        <p:nvSpPr>
          <p:cNvPr id="12" name="Text 10"/>
          <p:cNvSpPr txBox="1"/>
          <p:nvPr/>
        </p:nvSpPr>
        <p:spPr>
          <a:xfrm>
            <a:off x="7178040" y="3209544"/>
            <a:ext cx="4078224" cy="310896"/>
          </a:xfrm>
          <a:prstGeom prst="rect">
            <a:avLst/>
          </a:prstGeom>
          <a:noFill/>
          <a:ln/>
        </p:spPr>
        <p:txBody>
          <a:bodyPr wrap="square" lIns="0" tIns="0" rIns="0" bIns="0" rtlCol="0" anchor="ctr"/>
          <a:lstStyle/>
          <a:p>
            <a:pPr marL="0" indent="0">
              <a:buNone/>
            </a:pPr>
            <a:r>
              <a:rPr lang="en-US" sz="1450" b="1" dirty="0">
                <a:solidFill>
                  <a:srgbClr val="181410"/>
                </a:solidFill>
                <a:latin typeface="Cambria" pitchFamily="34" charset="0"/>
                <a:ea typeface="Cambria" pitchFamily="34" charset="-122"/>
                <a:cs typeface="Cambria" pitchFamily="34" charset="-120"/>
              </a:rPr>
              <a:t>Why it matters today</a:t>
            </a:r>
            <a:endParaRPr lang="en-US" sz="1450" dirty="0"/>
          </a:p>
        </p:txBody>
      </p:sp>
      <p:sp>
        <p:nvSpPr>
          <p:cNvPr id="13" name="Text 11"/>
          <p:cNvSpPr txBox="1"/>
          <p:nvPr/>
        </p:nvSpPr>
        <p:spPr>
          <a:xfrm>
            <a:off x="7178040" y="3566160"/>
            <a:ext cx="4078224" cy="777240"/>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Tsukumogami are a category produced this way. Nobody encountered a walking teakettle. A doctrine about old objects met an artistic convention for adding faces, and the creature was the result.</a:t>
            </a:r>
            <a:endParaRPr lang="en-US" sz="1150" dirty="0"/>
          </a:p>
        </p:txBody>
      </p:sp>
      <p:sp>
        <p:nvSpPr>
          <p:cNvPr id="14" name="Shape 12"/>
          <p:cNvSpPr/>
          <p:nvPr/>
        </p:nvSpPr>
        <p:spPr>
          <a:xfrm>
            <a:off x="6903720" y="4553712"/>
            <a:ext cx="4626864" cy="1371600"/>
          </a:xfrm>
          <a:prstGeom prst="roundRect">
            <a:avLst>
              <a:gd name="adj" fmla="val 5333"/>
            </a:avLst>
          </a:prstGeom>
          <a:solidFill>
            <a:srgbClr val="E6EAF2"/>
          </a:solidFill>
          <a:ln w="12700">
            <a:solidFill>
              <a:srgbClr val="E6EAF2"/>
            </a:solidFill>
            <a:prstDash val="solid"/>
          </a:ln>
        </p:spPr>
        <p:txBody>
          <a:bodyPr/>
          <a:lstStyle/>
          <a:p>
            <a:endParaRPr lang="en-US"/>
          </a:p>
        </p:txBody>
      </p:sp>
      <p:sp>
        <p:nvSpPr>
          <p:cNvPr id="15" name="Text 13"/>
          <p:cNvSpPr txBox="1"/>
          <p:nvPr/>
        </p:nvSpPr>
        <p:spPr>
          <a:xfrm>
            <a:off x="7178040" y="4700016"/>
            <a:ext cx="4078224" cy="310896"/>
          </a:xfrm>
          <a:prstGeom prst="rect">
            <a:avLst/>
          </a:prstGeom>
          <a:noFill/>
          <a:ln/>
        </p:spPr>
        <p:txBody>
          <a:bodyPr wrap="square" lIns="0" tIns="0" rIns="0" bIns="0" rtlCol="0" anchor="ctr"/>
          <a:lstStyle/>
          <a:p>
            <a:pPr marL="0" indent="0">
              <a:buNone/>
            </a:pPr>
            <a:r>
              <a:rPr lang="en-US" sz="1450" b="1" dirty="0">
                <a:solidFill>
                  <a:srgbClr val="2E4A7D"/>
                </a:solidFill>
                <a:latin typeface="Cambria" pitchFamily="34" charset="0"/>
                <a:ea typeface="Cambria" pitchFamily="34" charset="-122"/>
                <a:cs typeface="Cambria" pitchFamily="34" charset="-120"/>
              </a:rPr>
              <a:t>The transferable idea</a:t>
            </a:r>
            <a:endParaRPr lang="en-US" sz="1450" dirty="0"/>
          </a:p>
        </p:txBody>
      </p:sp>
      <p:sp>
        <p:nvSpPr>
          <p:cNvPr id="16" name="Text 14"/>
          <p:cNvSpPr txBox="1"/>
          <p:nvPr/>
        </p:nvSpPr>
        <p:spPr>
          <a:xfrm>
            <a:off x="7178040" y="5056632"/>
            <a:ext cx="4078224" cy="777240"/>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Hold this against how we talk about our own systems. A behaviour gets a name, the name gets an illustration, the illustration gets treated as evidence of a thing that was there all along.</a:t>
            </a:r>
            <a:endParaRPr lang="en-US" sz="1150" dirty="0"/>
          </a:p>
        </p:txBody>
      </p:sp>
      <p:sp>
        <p:nvSpPr>
          <p:cNvPr id="17" name="Shape 15"/>
          <p:cNvSpPr/>
          <p:nvPr/>
        </p:nvSpPr>
        <p:spPr>
          <a:xfrm>
            <a:off x="640080" y="3794760"/>
            <a:ext cx="5943600" cy="1965960"/>
          </a:xfrm>
          <a:prstGeom prst="roundRect">
            <a:avLst>
              <a:gd name="adj" fmla="val 3721"/>
            </a:avLst>
          </a:prstGeom>
          <a:solidFill>
            <a:srgbClr val="F0E8D8"/>
          </a:solidFill>
          <a:ln w="12700">
            <a:solidFill>
              <a:srgbClr val="F0E8D8"/>
            </a:solidFill>
            <a:prstDash val="solid"/>
          </a:ln>
        </p:spPr>
        <p:txBody>
          <a:bodyPr/>
          <a:lstStyle/>
          <a:p>
            <a:endParaRPr lang="en-US"/>
          </a:p>
        </p:txBody>
      </p:sp>
      <p:sp>
        <p:nvSpPr>
          <p:cNvPr id="18" name="Text 16"/>
          <p:cNvSpPr txBox="1"/>
          <p:nvPr/>
        </p:nvSpPr>
        <p:spPr>
          <a:xfrm>
            <a:off x="1005840" y="3995928"/>
            <a:ext cx="5212080" cy="310896"/>
          </a:xfrm>
          <a:prstGeom prst="rect">
            <a:avLst/>
          </a:prstGeom>
          <a:noFill/>
          <a:ln/>
        </p:spPr>
        <p:txBody>
          <a:bodyPr wrap="square" lIns="0" tIns="0" rIns="0" bIns="0" rtlCol="0" anchor="ctr"/>
          <a:lstStyle/>
          <a:p>
            <a:pPr marL="0" indent="0">
              <a:buNone/>
            </a:pPr>
            <a:r>
              <a:rPr lang="en-US" sz="1600" b="1" dirty="0">
                <a:solidFill>
                  <a:srgbClr val="181410"/>
                </a:solidFill>
                <a:latin typeface="Cambria" pitchFamily="34" charset="0"/>
                <a:ea typeface="Cambria" pitchFamily="34" charset="-122"/>
                <a:cs typeface="Cambria" pitchFamily="34" charset="-120"/>
              </a:rPr>
              <a:t>Try it on something recent</a:t>
            </a:r>
            <a:endParaRPr lang="en-US" sz="1600" dirty="0"/>
          </a:p>
        </p:txBody>
      </p:sp>
      <p:sp>
        <p:nvSpPr>
          <p:cNvPr id="19" name="Text 17"/>
          <p:cNvSpPr txBox="1"/>
          <p:nvPr/>
        </p:nvSpPr>
        <p:spPr>
          <a:xfrm>
            <a:off x="1005840" y="4389120"/>
            <a:ext cx="5212080" cy="118872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Ask the room for a case where a diffuse phenomenon acquired a name, then an image, then a settled existence — in technology, in medicine, in internet culture. The exercise takes four minutes and makes Foster’s concept portable, which is the only reason to teach a concept.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81410"/>
        </a:solidFill>
        <a:effectLst/>
      </p:bgPr>
    </p:bg>
    <p:spTree>
      <p:nvGrpSpPr>
        <p:cNvPr id="1" name=""/>
        <p:cNvGrpSpPr/>
        <p:nvPr/>
      </p:nvGrpSpPr>
      <p:grpSpPr>
        <a:xfrm>
          <a:off x="0" y="0"/>
          <a:ext cx="0" cy="0"/>
          <a:chOff x="0" y="0"/>
          <a:chExt cx="0" cy="0"/>
        </a:xfrm>
      </p:grpSpPr>
      <p:sp>
        <p:nvSpPr>
          <p:cNvPr id="2" name="Shape 0"/>
          <p:cNvSpPr/>
          <p:nvPr/>
        </p:nvSpPr>
        <p:spPr>
          <a:xfrm>
            <a:off x="8778240" y="1417320"/>
            <a:ext cx="2651760" cy="2651760"/>
          </a:xfrm>
          <a:prstGeom prst="ellipse">
            <a:avLst/>
          </a:prstGeom>
          <a:solidFill>
            <a:srgbClr val="B8422A">
              <a:alpha val="65000"/>
            </a:srgbClr>
          </a:solidFill>
          <a:ln/>
        </p:spPr>
        <p:txBody>
          <a:bodyPr/>
          <a:lstStyle/>
          <a:p>
            <a:endParaRPr lang="en-US"/>
          </a:p>
        </p:txBody>
      </p:sp>
      <p:sp>
        <p:nvSpPr>
          <p:cNvPr id="3" name="Shape 1"/>
          <p:cNvSpPr/>
          <p:nvPr/>
        </p:nvSpPr>
        <p:spPr>
          <a:xfrm>
            <a:off x="9646920" y="2286000"/>
            <a:ext cx="1188720" cy="1188720"/>
          </a:xfrm>
          <a:prstGeom prst="ellipse">
            <a:avLst/>
          </a:prstGeom>
          <a:solidFill>
            <a:srgbClr val="9C7C38">
              <a:alpha val="7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DE8C74"/>
                </a:solidFill>
                <a:latin typeface="Calibri" pitchFamily="34" charset="0"/>
                <a:ea typeface="Calibri" pitchFamily="34" charset="-122"/>
                <a:cs typeface="Calibri" pitchFamily="34" charset="-120"/>
              </a:rPr>
              <a:t>PART TWO</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800" b="1" dirty="0">
                <a:solidFill>
                  <a:srgbClr val="F5EFE3"/>
                </a:solidFill>
                <a:latin typeface="Cambria" pitchFamily="34" charset="0"/>
                <a:ea typeface="Cambria" pitchFamily="34" charset="-122"/>
                <a:cs typeface="Cambria" pitchFamily="34" charset="-120"/>
              </a:rPr>
              <a:t>The origin text</a:t>
            </a:r>
            <a:endParaRPr lang="en-US" sz="38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Tsukumogami-ki, Muromachi period  </a:t>
            </a:r>
            <a:endParaRPr lang="en-US" sz="1500" dirty="0"/>
          </a:p>
        </p:txBody>
      </p:sp>
      <p:sp>
        <p:nvSpPr>
          <p:cNvPr id="7" name="Shape 5"/>
          <p:cNvSpPr/>
          <p:nvPr/>
        </p:nvSpPr>
        <p:spPr>
          <a:xfrm>
            <a:off x="640080" y="3913632"/>
            <a:ext cx="2377440" cy="18288"/>
          </a:xfrm>
          <a:prstGeom prst="rect">
            <a:avLst/>
          </a:prstGeom>
          <a:solidFill>
            <a:srgbClr val="9C7C38"/>
          </a:solidFill>
          <a:ln/>
        </p:spPr>
        <p:txBody>
          <a:bodyPr/>
          <a:lstStyle/>
          <a:p>
            <a:endParaRPr lang="en-US"/>
          </a:p>
        </p:txBody>
      </p:sp>
      <p:sp>
        <p:nvSpPr>
          <p:cNvPr id="8" name="Text 6"/>
          <p:cNvSpPr txBox="1"/>
          <p:nvPr/>
        </p:nvSpPr>
        <p:spPr>
          <a:xfrm>
            <a:off x="640080" y="4133088"/>
            <a:ext cx="7680960" cy="777240"/>
          </a:xfrm>
          <a:prstGeom prst="rect">
            <a:avLst/>
          </a:prstGeom>
          <a:noFill/>
          <a:ln/>
        </p:spPr>
        <p:txBody>
          <a:bodyPr wrap="square" lIns="0" tIns="0" rIns="0" bIns="0" rtlCol="0" anchor="ctr"/>
          <a:lstStyle/>
          <a:p>
            <a:pPr marL="0" indent="0">
              <a:lnSpc>
                <a:spcPts val="2500"/>
              </a:lnSpc>
              <a:buNone/>
            </a:pPr>
            <a:r>
              <a:rPr lang="en-US" sz="1850" i="1" dirty="0">
                <a:solidFill>
                  <a:srgbClr val="D4B36A"/>
                </a:solidFill>
                <a:latin typeface="Cambria" pitchFamily="34" charset="0"/>
                <a:ea typeface="Cambria" pitchFamily="34" charset="-122"/>
                <a:cs typeface="Cambria" pitchFamily="34" charset="-120"/>
              </a:rPr>
              <a:t>A hundred years pass. Nothing is done. The tools wake up.</a:t>
            </a:r>
            <a:endParaRPr lang="en-US" sz="1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THE TSUKUMOGAMI-KI</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What the text is, and how unstable it is</a:t>
            </a:r>
            <a:endParaRPr lang="en-US" sz="3000" dirty="0"/>
          </a:p>
        </p:txBody>
      </p:sp>
      <p:sp>
        <p:nvSpPr>
          <p:cNvPr id="5" name="Shape 3"/>
          <p:cNvSpPr/>
          <p:nvPr/>
        </p:nvSpPr>
        <p:spPr>
          <a:xfrm>
            <a:off x="640080" y="1572768"/>
            <a:ext cx="2556434" cy="2286000"/>
          </a:xfrm>
          <a:prstGeom prst="roundRect">
            <a:avLst>
              <a:gd name="adj" fmla="val 3200"/>
            </a:avLst>
          </a:prstGeom>
          <a:solidFill>
            <a:srgbClr val="F0E8D8"/>
          </a:solidFill>
          <a:ln w="12700">
            <a:solidFill>
              <a:srgbClr val="F0E8D8"/>
            </a:solidFill>
            <a:prstDash val="solid"/>
          </a:ln>
        </p:spPr>
        <p:txBody>
          <a:bodyPr/>
          <a:lstStyle/>
          <a:p>
            <a:endParaRPr lang="en-US"/>
          </a:p>
        </p:txBody>
      </p:sp>
      <p:sp>
        <p:nvSpPr>
          <p:cNvPr id="6" name="Text 4"/>
          <p:cNvSpPr txBox="1"/>
          <p:nvPr/>
        </p:nvSpPr>
        <p:spPr>
          <a:xfrm>
            <a:off x="896112" y="1773936"/>
            <a:ext cx="2044370" cy="603504"/>
          </a:xfrm>
          <a:prstGeom prst="rect">
            <a:avLst/>
          </a:prstGeom>
          <a:noFill/>
          <a:ln/>
        </p:spPr>
        <p:txBody>
          <a:bodyPr wrap="square" lIns="0" tIns="0" rIns="0" bIns="0" rtlCol="0" anchor="ctr"/>
          <a:lstStyle/>
          <a:p>
            <a:pPr marL="0" indent="0">
              <a:lnSpc>
                <a:spcPts val="2000"/>
              </a:lnSpc>
              <a:buNone/>
            </a:pPr>
            <a:r>
              <a:rPr lang="en-US" sz="1550" b="1" dirty="0">
                <a:solidFill>
                  <a:srgbClr val="181410"/>
                </a:solidFill>
                <a:latin typeface="Cambria" pitchFamily="34" charset="0"/>
                <a:ea typeface="Cambria" pitchFamily="34" charset="-122"/>
                <a:cs typeface="Cambria" pitchFamily="34" charset="-120"/>
              </a:rPr>
              <a:t>A family, not a book</a:t>
            </a:r>
            <a:endParaRPr lang="en-US" sz="1550" dirty="0"/>
          </a:p>
        </p:txBody>
      </p:sp>
      <p:sp>
        <p:nvSpPr>
          <p:cNvPr id="7" name="Text 5"/>
          <p:cNvSpPr txBox="1"/>
          <p:nvPr/>
        </p:nvSpPr>
        <p:spPr>
          <a:xfrm>
            <a:off x="896112" y="2450592"/>
            <a:ext cx="2044370" cy="1280160"/>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It survives in several manuscript versions under several titles — including one that translates as “Illustrated Scrolls on the Attainment of Buddhahood by Non-Sentient Beings.” Scholars refer to the group collectively.</a:t>
            </a:r>
            <a:endParaRPr lang="en-US" sz="1150" dirty="0"/>
          </a:p>
        </p:txBody>
      </p:sp>
      <p:sp>
        <p:nvSpPr>
          <p:cNvPr id="8" name="Shape 6"/>
          <p:cNvSpPr/>
          <p:nvPr/>
        </p:nvSpPr>
        <p:spPr>
          <a:xfrm>
            <a:off x="3425114" y="1572768"/>
            <a:ext cx="2556434" cy="2286000"/>
          </a:xfrm>
          <a:prstGeom prst="roundRect">
            <a:avLst>
              <a:gd name="adj" fmla="val 3200"/>
            </a:avLst>
          </a:prstGeom>
          <a:solidFill>
            <a:srgbClr val="E6EAF2"/>
          </a:solidFill>
          <a:ln w="12700">
            <a:solidFill>
              <a:srgbClr val="E6EAF2"/>
            </a:solidFill>
            <a:prstDash val="solid"/>
          </a:ln>
        </p:spPr>
        <p:txBody>
          <a:bodyPr/>
          <a:lstStyle/>
          <a:p>
            <a:endParaRPr lang="en-US"/>
          </a:p>
        </p:txBody>
      </p:sp>
      <p:sp>
        <p:nvSpPr>
          <p:cNvPr id="9" name="Text 7"/>
          <p:cNvSpPr txBox="1"/>
          <p:nvPr/>
        </p:nvSpPr>
        <p:spPr>
          <a:xfrm>
            <a:off x="3681146" y="1773936"/>
            <a:ext cx="2044370" cy="603504"/>
          </a:xfrm>
          <a:prstGeom prst="rect">
            <a:avLst/>
          </a:prstGeom>
          <a:noFill/>
          <a:ln/>
        </p:spPr>
        <p:txBody>
          <a:bodyPr wrap="square" lIns="0" tIns="0" rIns="0" bIns="0" rtlCol="0" anchor="ctr"/>
          <a:lstStyle/>
          <a:p>
            <a:pPr marL="0" indent="0">
              <a:lnSpc>
                <a:spcPts val="2000"/>
              </a:lnSpc>
              <a:buNone/>
            </a:pPr>
            <a:r>
              <a:rPr lang="en-US" sz="1550" b="1" dirty="0">
                <a:solidFill>
                  <a:srgbClr val="181410"/>
                </a:solidFill>
                <a:latin typeface="Cambria" pitchFamily="34" charset="0"/>
                <a:ea typeface="Cambria" pitchFamily="34" charset="-122"/>
                <a:cs typeface="Cambria" pitchFamily="34" charset="-120"/>
              </a:rPr>
              <a:t>An otogizōshi</a:t>
            </a:r>
            <a:endParaRPr lang="en-US" sz="1550" dirty="0"/>
          </a:p>
        </p:txBody>
      </p:sp>
      <p:sp>
        <p:nvSpPr>
          <p:cNvPr id="10" name="Text 8"/>
          <p:cNvSpPr txBox="1"/>
          <p:nvPr/>
        </p:nvSpPr>
        <p:spPr>
          <a:xfrm>
            <a:off x="3681146" y="2450592"/>
            <a:ext cx="2044370" cy="1280160"/>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A short illustrated tale of the fourteenth to sixteenth centuries: entertainment with a doctrinal payload, in a format meant to be unrolled and looked at.</a:t>
            </a:r>
            <a:endParaRPr lang="en-US" sz="1150" dirty="0"/>
          </a:p>
        </p:txBody>
      </p:sp>
      <p:sp>
        <p:nvSpPr>
          <p:cNvPr id="11" name="Shape 9"/>
          <p:cNvSpPr/>
          <p:nvPr/>
        </p:nvSpPr>
        <p:spPr>
          <a:xfrm>
            <a:off x="6210148" y="1572768"/>
            <a:ext cx="2556434" cy="2286000"/>
          </a:xfrm>
          <a:prstGeom prst="roundRect">
            <a:avLst>
              <a:gd name="adj" fmla="val 3200"/>
            </a:avLst>
          </a:prstGeom>
          <a:solidFill>
            <a:srgbClr val="F0E8D8"/>
          </a:solidFill>
          <a:ln w="12700">
            <a:solidFill>
              <a:srgbClr val="F0E8D8"/>
            </a:solidFill>
            <a:prstDash val="solid"/>
          </a:ln>
        </p:spPr>
        <p:txBody>
          <a:bodyPr/>
          <a:lstStyle/>
          <a:p>
            <a:endParaRPr lang="en-US"/>
          </a:p>
        </p:txBody>
      </p:sp>
      <p:sp>
        <p:nvSpPr>
          <p:cNvPr id="12" name="Text 10"/>
          <p:cNvSpPr txBox="1"/>
          <p:nvPr/>
        </p:nvSpPr>
        <p:spPr>
          <a:xfrm>
            <a:off x="6466180" y="1773936"/>
            <a:ext cx="2044370" cy="603504"/>
          </a:xfrm>
          <a:prstGeom prst="rect">
            <a:avLst/>
          </a:prstGeom>
          <a:noFill/>
          <a:ln/>
        </p:spPr>
        <p:txBody>
          <a:bodyPr wrap="square" lIns="0" tIns="0" rIns="0" bIns="0" rtlCol="0" anchor="ctr"/>
          <a:lstStyle/>
          <a:p>
            <a:pPr marL="0" indent="0">
              <a:lnSpc>
                <a:spcPts val="2000"/>
              </a:lnSpc>
              <a:buNone/>
            </a:pPr>
            <a:r>
              <a:rPr lang="en-US" sz="1550" b="1" dirty="0">
                <a:solidFill>
                  <a:srgbClr val="181410"/>
                </a:solidFill>
                <a:latin typeface="Cambria" pitchFamily="34" charset="0"/>
                <a:ea typeface="Cambria" pitchFamily="34" charset="-122"/>
                <a:cs typeface="Cambria" pitchFamily="34" charset="-120"/>
              </a:rPr>
              <a:t>Muromachi period</a:t>
            </a:r>
            <a:endParaRPr lang="en-US" sz="1550" dirty="0"/>
          </a:p>
        </p:txBody>
      </p:sp>
      <p:sp>
        <p:nvSpPr>
          <p:cNvPr id="13" name="Text 11"/>
          <p:cNvSpPr txBox="1"/>
          <p:nvPr/>
        </p:nvSpPr>
        <p:spPr>
          <a:xfrm>
            <a:off x="6466180" y="2450592"/>
            <a:ext cx="2044370" cy="1280160"/>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Roughly 1336–1573. Three centuries before Sekien, and about the same distance from us as Shakespeare.</a:t>
            </a:r>
            <a:endParaRPr lang="en-US" sz="1150" dirty="0"/>
          </a:p>
        </p:txBody>
      </p:sp>
      <p:sp>
        <p:nvSpPr>
          <p:cNvPr id="14" name="Shape 12"/>
          <p:cNvSpPr/>
          <p:nvPr/>
        </p:nvSpPr>
        <p:spPr>
          <a:xfrm>
            <a:off x="8995181" y="1572768"/>
            <a:ext cx="2556434" cy="2286000"/>
          </a:xfrm>
          <a:prstGeom prst="roundRect">
            <a:avLst>
              <a:gd name="adj" fmla="val 3200"/>
            </a:avLst>
          </a:prstGeom>
          <a:solidFill>
            <a:srgbClr val="E6EAF2"/>
          </a:solidFill>
          <a:ln w="12700">
            <a:solidFill>
              <a:srgbClr val="E6EAF2"/>
            </a:solidFill>
            <a:prstDash val="solid"/>
          </a:ln>
        </p:spPr>
        <p:txBody>
          <a:bodyPr/>
          <a:lstStyle/>
          <a:p>
            <a:endParaRPr lang="en-US"/>
          </a:p>
        </p:txBody>
      </p:sp>
      <p:sp>
        <p:nvSpPr>
          <p:cNvPr id="15" name="Text 13"/>
          <p:cNvSpPr txBox="1"/>
          <p:nvPr/>
        </p:nvSpPr>
        <p:spPr>
          <a:xfrm>
            <a:off x="9251213" y="1773936"/>
            <a:ext cx="2044370" cy="603504"/>
          </a:xfrm>
          <a:prstGeom prst="rect">
            <a:avLst/>
          </a:prstGeom>
          <a:noFill/>
          <a:ln/>
        </p:spPr>
        <p:txBody>
          <a:bodyPr wrap="square" lIns="0" tIns="0" rIns="0" bIns="0" rtlCol="0" anchor="ctr"/>
          <a:lstStyle/>
          <a:p>
            <a:pPr marL="0" indent="0">
              <a:lnSpc>
                <a:spcPts val="2000"/>
              </a:lnSpc>
              <a:buNone/>
            </a:pPr>
            <a:r>
              <a:rPr lang="en-US" sz="1550" b="1" dirty="0">
                <a:solidFill>
                  <a:srgbClr val="181410"/>
                </a:solidFill>
                <a:latin typeface="Cambria" pitchFamily="34" charset="0"/>
                <a:ea typeface="Cambria" pitchFamily="34" charset="-122"/>
                <a:cs typeface="Cambria" pitchFamily="34" charset="-120"/>
              </a:rPr>
              <a:t>With a religious sponsor</a:t>
            </a:r>
            <a:endParaRPr lang="en-US" sz="1550" dirty="0"/>
          </a:p>
        </p:txBody>
      </p:sp>
      <p:sp>
        <p:nvSpPr>
          <p:cNvPr id="16" name="Text 14"/>
          <p:cNvSpPr txBox="1"/>
          <p:nvPr/>
        </p:nvSpPr>
        <p:spPr>
          <a:xfrm>
            <a:off x="9251213" y="2450592"/>
            <a:ext cx="2044370" cy="1280160"/>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Reider argues the texts were composed to propagate Shingon esoteric Buddhist teaching. This is not neutral folklore; it is a tract with pictures.</a:t>
            </a:r>
            <a:endParaRPr lang="en-US" sz="1150" dirty="0"/>
          </a:p>
        </p:txBody>
      </p:sp>
      <p:sp>
        <p:nvSpPr>
          <p:cNvPr id="17" name="Shape 15"/>
          <p:cNvSpPr/>
          <p:nvPr/>
        </p:nvSpPr>
        <p:spPr>
          <a:xfrm>
            <a:off x="640080" y="4069080"/>
            <a:ext cx="10911535" cy="1691640"/>
          </a:xfrm>
          <a:prstGeom prst="roundRect">
            <a:avLst>
              <a:gd name="adj" fmla="val 4324"/>
            </a:avLst>
          </a:prstGeom>
          <a:solidFill>
            <a:srgbClr val="181410"/>
          </a:solidFill>
          <a:ln w="12700">
            <a:solidFill>
              <a:srgbClr val="181410"/>
            </a:solidFill>
            <a:prstDash val="solid"/>
          </a:ln>
        </p:spPr>
        <p:txBody>
          <a:bodyPr/>
          <a:lstStyle/>
          <a:p>
            <a:endParaRPr lang="en-US"/>
          </a:p>
        </p:txBody>
      </p:sp>
      <p:sp>
        <p:nvSpPr>
          <p:cNvPr id="18" name="Text 16"/>
          <p:cNvSpPr txBox="1"/>
          <p:nvPr/>
        </p:nvSpPr>
        <p:spPr>
          <a:xfrm>
            <a:off x="1005840" y="4251960"/>
            <a:ext cx="10424160" cy="274320"/>
          </a:xfrm>
          <a:prstGeom prst="rect">
            <a:avLst/>
          </a:prstGeom>
          <a:noFill/>
          <a:ln/>
        </p:spPr>
        <p:txBody>
          <a:bodyPr wrap="square" lIns="0" tIns="0" rIns="0" bIns="0" rtlCol="0" anchor="ctr"/>
          <a:lstStyle/>
          <a:p>
            <a:pPr marL="0" indent="0">
              <a:buNone/>
            </a:pPr>
            <a:r>
              <a:rPr lang="en-US" sz="1150" b="1" kern="0" spc="140" dirty="0">
                <a:solidFill>
                  <a:srgbClr val="D4B36A"/>
                </a:solidFill>
                <a:latin typeface="Calibri" pitchFamily="34" charset="0"/>
                <a:ea typeface="Calibri" pitchFamily="34" charset="-122"/>
                <a:cs typeface="Calibri" pitchFamily="34" charset="-120"/>
              </a:rPr>
              <a:t>And the premise is sourced to a book nobody can find</a:t>
            </a:r>
            <a:endParaRPr lang="en-US" sz="1150" dirty="0"/>
          </a:p>
        </p:txBody>
      </p:sp>
      <p:sp>
        <p:nvSpPr>
          <p:cNvPr id="19" name="Text 17"/>
          <p:cNvSpPr txBox="1"/>
          <p:nvPr/>
        </p:nvSpPr>
        <p:spPr>
          <a:xfrm>
            <a:off x="1005840" y="4599432"/>
            <a:ext cx="10424160" cy="978408"/>
          </a:xfrm>
          <a:prstGeom prst="rect">
            <a:avLst/>
          </a:prstGeom>
          <a:noFill/>
          <a:ln/>
        </p:spPr>
        <p:txBody>
          <a:bodyPr wrap="square" lIns="0" tIns="0" rIns="0" bIns="0" rtlCol="0" anchor="ctr"/>
          <a:lstStyle/>
          <a:p>
            <a:pPr marL="0" indent="0">
              <a:lnSpc>
                <a:spcPts val="2100"/>
              </a:lnSpc>
              <a:buNone/>
            </a:pPr>
            <a:r>
              <a:rPr lang="en-US" sz="1550" dirty="0">
                <a:solidFill>
                  <a:srgbClr val="F5EFE3"/>
                </a:solidFill>
                <a:latin typeface="Cambria" pitchFamily="34" charset="0"/>
                <a:ea typeface="Cambria" pitchFamily="34" charset="-122"/>
                <a:cs typeface="Cambria" pitchFamily="34" charset="-120"/>
              </a:rPr>
              <a:t>The text opens by attributing its hundred-year doctrine to an earlier work, the Onmyō zakki — the Miscellaneous Records of Yin and Yang. No such book has ever been located. The foundational claim of the entire tradition rests on a citation that may be an invention, and it has been repeated for six hundred years on that basis.</a:t>
            </a:r>
            <a:endParaRPr lang="en-US" sz="1550" dirty="0"/>
          </a:p>
        </p:txBody>
      </p:sp>
      <p:sp>
        <p:nvSpPr>
          <p:cNvPr id="20" name="Text 18"/>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6A6259"/>
                </a:solidFill>
                <a:latin typeface="Calibri" pitchFamily="34" charset="0"/>
                <a:ea typeface="Calibri" pitchFamily="34" charset="-122"/>
                <a:cs typeface="Calibri" pitchFamily="34" charset="-120"/>
              </a:rPr>
              <a:t>On the manuscript family and the Shingon reading, see Noriko T. Reider’s work on the Tsukumogami-ki; Foster summarises the premise in both of his books.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THE HUNDRED-YEAR PREMISE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The sentence the whole tradition rests on</a:t>
            </a:r>
            <a:endParaRPr lang="en-US" sz="3000" dirty="0"/>
          </a:p>
        </p:txBody>
      </p:sp>
      <p:sp>
        <p:nvSpPr>
          <p:cNvPr id="5" name="Shape 3"/>
          <p:cNvSpPr/>
          <p:nvPr/>
        </p:nvSpPr>
        <p:spPr>
          <a:xfrm>
            <a:off x="640080" y="1572768"/>
            <a:ext cx="5852160" cy="2377440"/>
          </a:xfrm>
          <a:prstGeom prst="roundRect">
            <a:avLst>
              <a:gd name="adj" fmla="val 3077"/>
            </a:avLst>
          </a:prstGeom>
          <a:solidFill>
            <a:srgbClr val="181410"/>
          </a:solidFill>
          <a:ln w="12700">
            <a:solidFill>
              <a:srgbClr val="181410"/>
            </a:solidFill>
            <a:prstDash val="solid"/>
          </a:ln>
        </p:spPr>
        <p:txBody>
          <a:bodyPr/>
          <a:lstStyle/>
          <a:p>
            <a:endParaRPr lang="en-US"/>
          </a:p>
        </p:txBody>
      </p:sp>
      <p:sp>
        <p:nvSpPr>
          <p:cNvPr id="6" name="Text 4"/>
          <p:cNvSpPr txBox="1"/>
          <p:nvPr/>
        </p:nvSpPr>
        <p:spPr>
          <a:xfrm>
            <a:off x="1005840" y="1773936"/>
            <a:ext cx="5120640" cy="292608"/>
          </a:xfrm>
          <a:prstGeom prst="rect">
            <a:avLst/>
          </a:prstGeom>
          <a:noFill/>
          <a:ln/>
        </p:spPr>
        <p:txBody>
          <a:bodyPr wrap="square" lIns="0" tIns="0" rIns="0" bIns="0" rtlCol="0" anchor="ctr"/>
          <a:lstStyle/>
          <a:p>
            <a:pPr marL="0" indent="0">
              <a:buNone/>
            </a:pPr>
            <a:r>
              <a:rPr lang="en-US" sz="1150" b="1" kern="0" spc="140" dirty="0">
                <a:solidFill>
                  <a:srgbClr val="D4B36A"/>
                </a:solidFill>
                <a:latin typeface="Calibri" pitchFamily="34" charset="0"/>
                <a:ea typeface="Calibri" pitchFamily="34" charset="-122"/>
                <a:cs typeface="Calibri" pitchFamily="34" charset="-120"/>
              </a:rPr>
              <a:t>The claim, paraphrased</a:t>
            </a:r>
            <a:endParaRPr lang="en-US" sz="1150" dirty="0"/>
          </a:p>
        </p:txBody>
      </p:sp>
      <p:sp>
        <p:nvSpPr>
          <p:cNvPr id="7" name="Text 5"/>
          <p:cNvSpPr txBox="1"/>
          <p:nvPr/>
        </p:nvSpPr>
        <p:spPr>
          <a:xfrm>
            <a:off x="1005840" y="2194560"/>
            <a:ext cx="5166360" cy="1051560"/>
          </a:xfrm>
          <a:prstGeom prst="rect">
            <a:avLst/>
          </a:prstGeom>
          <a:noFill/>
          <a:ln/>
        </p:spPr>
        <p:txBody>
          <a:bodyPr wrap="square" lIns="0" tIns="0" rIns="0" bIns="0" rtlCol="0" anchor="ctr"/>
          <a:lstStyle/>
          <a:p>
            <a:pPr marL="0" indent="0">
              <a:lnSpc>
                <a:spcPts val="2400"/>
              </a:lnSpc>
              <a:buNone/>
            </a:pPr>
            <a:r>
              <a:rPr lang="en-US" sz="1700" dirty="0">
                <a:solidFill>
                  <a:srgbClr val="F5EFE3"/>
                </a:solidFill>
                <a:latin typeface="Cambria" pitchFamily="34" charset="0"/>
                <a:ea typeface="Cambria" pitchFamily="34" charset="-122"/>
                <a:cs typeface="Cambria" pitchFamily="34" charset="-120"/>
              </a:rPr>
              <a:t>When a utensil has lasted a hundred years, it transforms — in Foster’s rendering, “obtaining a spirit, and deceiving people’s hearts.” Such a thing is called a tsukumogami.</a:t>
            </a:r>
            <a:endParaRPr lang="en-US" sz="1700" dirty="0"/>
          </a:p>
        </p:txBody>
      </p:sp>
      <p:sp>
        <p:nvSpPr>
          <p:cNvPr id="8" name="Text 6"/>
          <p:cNvSpPr txBox="1"/>
          <p:nvPr/>
        </p:nvSpPr>
        <p:spPr>
          <a:xfrm>
            <a:off x="1005840" y="3291840"/>
            <a:ext cx="5166360" cy="548640"/>
          </a:xfrm>
          <a:prstGeom prst="rect">
            <a:avLst/>
          </a:prstGeom>
          <a:noFill/>
          <a:ln/>
        </p:spPr>
        <p:txBody>
          <a:bodyPr wrap="square" lIns="0" tIns="0" rIns="0" bIns="0" rtlCol="0" anchor="ctr"/>
          <a:lstStyle/>
          <a:p>
            <a:pPr marL="0" indent="0">
              <a:lnSpc>
                <a:spcPts val="1700"/>
              </a:lnSpc>
              <a:buNone/>
            </a:pPr>
            <a:r>
              <a:rPr lang="en-US" sz="1250" dirty="0">
                <a:solidFill>
                  <a:srgbClr val="D4B36A"/>
                </a:solidFill>
                <a:latin typeface="Calibri" pitchFamily="34" charset="0"/>
                <a:ea typeface="Calibri" pitchFamily="34" charset="-122"/>
                <a:cs typeface="Calibri" pitchFamily="34" charset="-120"/>
              </a:rPr>
              <a:t>Note what is absent: no craftsman, no ritual, no spark, no permission, no transgression. The condition is duration.</a:t>
            </a:r>
            <a:endParaRPr lang="en-US" sz="1250" dirty="0"/>
          </a:p>
        </p:txBody>
      </p:sp>
      <p:sp>
        <p:nvSpPr>
          <p:cNvPr id="9" name="Shape 7"/>
          <p:cNvSpPr/>
          <p:nvPr/>
        </p:nvSpPr>
        <p:spPr>
          <a:xfrm>
            <a:off x="6812280" y="1572768"/>
            <a:ext cx="4718304" cy="1371600"/>
          </a:xfrm>
          <a:prstGeom prst="roundRect">
            <a:avLst>
              <a:gd name="adj" fmla="val 5333"/>
            </a:avLst>
          </a:prstGeom>
          <a:solidFill>
            <a:srgbClr val="F0E8D8"/>
          </a:solidFill>
          <a:ln w="12700">
            <a:solidFill>
              <a:srgbClr val="F0E8D8"/>
            </a:solidFill>
            <a:prstDash val="solid"/>
          </a:ln>
        </p:spPr>
        <p:txBody>
          <a:bodyPr/>
          <a:lstStyle/>
          <a:p>
            <a:endParaRPr lang="en-US"/>
          </a:p>
        </p:txBody>
      </p:sp>
      <p:sp>
        <p:nvSpPr>
          <p:cNvPr id="10" name="Text 8"/>
          <p:cNvSpPr txBox="1"/>
          <p:nvPr/>
        </p:nvSpPr>
        <p:spPr>
          <a:xfrm>
            <a:off x="7086600" y="1719072"/>
            <a:ext cx="4169664" cy="457200"/>
          </a:xfrm>
          <a:prstGeom prst="rect">
            <a:avLst/>
          </a:prstGeom>
          <a:noFill/>
          <a:ln/>
        </p:spPr>
        <p:txBody>
          <a:bodyPr wrap="square" lIns="0" tIns="0" rIns="0" bIns="0" rtlCol="0" anchor="ctr"/>
          <a:lstStyle/>
          <a:p>
            <a:pPr marL="0" indent="0">
              <a:lnSpc>
                <a:spcPts val="1800"/>
              </a:lnSpc>
              <a:buNone/>
            </a:pPr>
            <a:r>
              <a:rPr lang="en-US" sz="1400" b="1" dirty="0">
                <a:solidFill>
                  <a:srgbClr val="181410"/>
                </a:solidFill>
                <a:latin typeface="Cambria" pitchFamily="34" charset="0"/>
                <a:ea typeface="Cambria" pitchFamily="34" charset="-122"/>
                <a:cs typeface="Cambria" pitchFamily="34" charset="-120"/>
              </a:rPr>
              <a:t>The etymology is about age, not machines</a:t>
            </a:r>
            <a:endParaRPr lang="en-US" sz="1400" dirty="0"/>
          </a:p>
        </p:txBody>
      </p:sp>
      <p:sp>
        <p:nvSpPr>
          <p:cNvPr id="11" name="Text 9"/>
          <p:cNvSpPr txBox="1"/>
          <p:nvPr/>
        </p:nvSpPr>
        <p:spPr>
          <a:xfrm>
            <a:off x="7086600" y="2231136"/>
            <a:ext cx="4169664" cy="640080"/>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The name is thought to play on tsukumo, ninety-nine, and a word for hair — an old woman’s white hair, and so old age itself. The written characters used later are a phonetic fit, not a definition.</a:t>
            </a:r>
            <a:endParaRPr lang="en-US" sz="1150" dirty="0"/>
          </a:p>
        </p:txBody>
      </p:sp>
      <p:sp>
        <p:nvSpPr>
          <p:cNvPr id="12" name="Shape 10"/>
          <p:cNvSpPr/>
          <p:nvPr/>
        </p:nvSpPr>
        <p:spPr>
          <a:xfrm>
            <a:off x="6812280" y="3063240"/>
            <a:ext cx="4718304" cy="1371600"/>
          </a:xfrm>
          <a:prstGeom prst="roundRect">
            <a:avLst>
              <a:gd name="adj" fmla="val 5333"/>
            </a:avLst>
          </a:prstGeom>
          <a:solidFill>
            <a:srgbClr val="E6EAF2"/>
          </a:solidFill>
          <a:ln w="12700">
            <a:solidFill>
              <a:srgbClr val="E6EAF2"/>
            </a:solidFill>
            <a:prstDash val="solid"/>
          </a:ln>
        </p:spPr>
        <p:txBody>
          <a:bodyPr/>
          <a:lstStyle/>
          <a:p>
            <a:endParaRPr lang="en-US"/>
          </a:p>
        </p:txBody>
      </p:sp>
      <p:sp>
        <p:nvSpPr>
          <p:cNvPr id="13" name="Text 11"/>
          <p:cNvSpPr txBox="1"/>
          <p:nvPr/>
        </p:nvSpPr>
        <p:spPr>
          <a:xfrm>
            <a:off x="7086600" y="3209544"/>
            <a:ext cx="4169664" cy="457200"/>
          </a:xfrm>
          <a:prstGeom prst="rect">
            <a:avLst/>
          </a:prstGeom>
          <a:noFill/>
          <a:ln/>
        </p:spPr>
        <p:txBody>
          <a:bodyPr wrap="square" lIns="0" tIns="0" rIns="0" bIns="0" rtlCol="0" anchor="ctr"/>
          <a:lstStyle/>
          <a:p>
            <a:pPr marL="0" indent="0">
              <a:lnSpc>
                <a:spcPts val="1800"/>
              </a:lnSpc>
              <a:buNone/>
            </a:pPr>
            <a:r>
              <a:rPr lang="en-US" sz="1400" b="1" dirty="0">
                <a:solidFill>
                  <a:srgbClr val="2E4A7D"/>
                </a:solidFill>
                <a:latin typeface="Cambria" pitchFamily="34" charset="0"/>
                <a:ea typeface="Cambria" pitchFamily="34" charset="-122"/>
                <a:cs typeface="Cambria" pitchFamily="34" charset="-120"/>
              </a:rPr>
              <a:t>Ninety-nine, not a hundred</a:t>
            </a:r>
            <a:endParaRPr lang="en-US" sz="1400" dirty="0"/>
          </a:p>
        </p:txBody>
      </p:sp>
      <p:sp>
        <p:nvSpPr>
          <p:cNvPr id="14" name="Text 12"/>
          <p:cNvSpPr txBox="1"/>
          <p:nvPr/>
        </p:nvSpPr>
        <p:spPr>
          <a:xfrm>
            <a:off x="7086600" y="3721608"/>
            <a:ext cx="4169664" cy="640080"/>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The number in the name falls one short of the threshold in the doctrine. Whatever else is going on, the tradition is interested in the year before the change.</a:t>
            </a:r>
            <a:endParaRPr lang="en-US" sz="1150" dirty="0"/>
          </a:p>
        </p:txBody>
      </p:sp>
      <p:sp>
        <p:nvSpPr>
          <p:cNvPr id="15" name="Shape 13"/>
          <p:cNvSpPr/>
          <p:nvPr/>
        </p:nvSpPr>
        <p:spPr>
          <a:xfrm>
            <a:off x="6812280" y="4553712"/>
            <a:ext cx="4718304" cy="1371600"/>
          </a:xfrm>
          <a:prstGeom prst="roundRect">
            <a:avLst>
              <a:gd name="adj" fmla="val 5333"/>
            </a:avLst>
          </a:prstGeom>
          <a:solidFill>
            <a:srgbClr val="F0E8D8"/>
          </a:solidFill>
          <a:ln w="12700">
            <a:solidFill>
              <a:srgbClr val="F0E8D8"/>
            </a:solidFill>
            <a:prstDash val="solid"/>
          </a:ln>
        </p:spPr>
        <p:txBody>
          <a:bodyPr/>
          <a:lstStyle/>
          <a:p>
            <a:endParaRPr lang="en-US"/>
          </a:p>
        </p:txBody>
      </p:sp>
      <p:sp>
        <p:nvSpPr>
          <p:cNvPr id="16" name="Text 14"/>
          <p:cNvSpPr txBox="1"/>
          <p:nvPr/>
        </p:nvSpPr>
        <p:spPr>
          <a:xfrm>
            <a:off x="7086600" y="4700016"/>
            <a:ext cx="4169664" cy="457200"/>
          </a:xfrm>
          <a:prstGeom prst="rect">
            <a:avLst/>
          </a:prstGeom>
          <a:noFill/>
          <a:ln/>
        </p:spPr>
        <p:txBody>
          <a:bodyPr wrap="square" lIns="0" tIns="0" rIns="0" bIns="0" rtlCol="0" anchor="ctr"/>
          <a:lstStyle/>
          <a:p>
            <a:pPr marL="0" indent="0">
              <a:lnSpc>
                <a:spcPts val="1800"/>
              </a:lnSpc>
              <a:buNone/>
            </a:pPr>
            <a:r>
              <a:rPr lang="en-US" sz="1400" b="1" dirty="0">
                <a:solidFill>
                  <a:srgbClr val="181410"/>
                </a:solidFill>
                <a:latin typeface="Cambria" pitchFamily="34" charset="0"/>
                <a:ea typeface="Cambria" pitchFamily="34" charset="-122"/>
                <a:cs typeface="Cambria" pitchFamily="34" charset="-120"/>
              </a:rPr>
              <a:t>Any long-lasting thing qualifies</a:t>
            </a:r>
            <a:endParaRPr lang="en-US" sz="1400" dirty="0"/>
          </a:p>
        </p:txBody>
      </p:sp>
      <p:sp>
        <p:nvSpPr>
          <p:cNvPr id="17" name="Text 15"/>
          <p:cNvSpPr txBox="1"/>
          <p:nvPr/>
        </p:nvSpPr>
        <p:spPr>
          <a:xfrm>
            <a:off x="7086600" y="5212080"/>
            <a:ext cx="4169664" cy="640080"/>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Foster notes the premise is general: a person, an animal or an object that persists long enough acquires a spirit. Objects are simply the most startling case.</a:t>
            </a:r>
            <a:endParaRPr lang="en-US" sz="1150" dirty="0"/>
          </a:p>
        </p:txBody>
      </p:sp>
      <p:sp>
        <p:nvSpPr>
          <p:cNvPr id="18" name="Shape 16"/>
          <p:cNvSpPr/>
          <p:nvPr/>
        </p:nvSpPr>
        <p:spPr>
          <a:xfrm>
            <a:off x="640080" y="4114800"/>
            <a:ext cx="5852160" cy="1645920"/>
          </a:xfrm>
          <a:prstGeom prst="roundRect">
            <a:avLst>
              <a:gd name="adj" fmla="val 4444"/>
            </a:avLst>
          </a:prstGeom>
          <a:solidFill>
            <a:srgbClr val="F0E8D8"/>
          </a:solidFill>
          <a:ln w="12700">
            <a:solidFill>
              <a:srgbClr val="F0E8D8"/>
            </a:solidFill>
            <a:prstDash val="solid"/>
          </a:ln>
        </p:spPr>
        <p:txBody>
          <a:bodyPr/>
          <a:lstStyle/>
          <a:p>
            <a:endParaRPr lang="en-US"/>
          </a:p>
        </p:txBody>
      </p:sp>
      <p:sp>
        <p:nvSpPr>
          <p:cNvPr id="19" name="Text 17"/>
          <p:cNvSpPr txBox="1"/>
          <p:nvPr/>
        </p:nvSpPr>
        <p:spPr>
          <a:xfrm>
            <a:off x="1005840" y="4297680"/>
            <a:ext cx="5120640" cy="310896"/>
          </a:xfrm>
          <a:prstGeom prst="rect">
            <a:avLst/>
          </a:prstGeom>
          <a:noFill/>
          <a:ln/>
        </p:spPr>
        <p:txBody>
          <a:bodyPr wrap="square" lIns="0" tIns="0" rIns="0" bIns="0" rtlCol="0" anchor="ctr"/>
          <a:lstStyle/>
          <a:p>
            <a:pPr marL="0" indent="0">
              <a:buNone/>
            </a:pPr>
            <a:r>
              <a:rPr lang="en-US" sz="1600" b="1" dirty="0">
                <a:solidFill>
                  <a:srgbClr val="181410"/>
                </a:solidFill>
                <a:latin typeface="Cambria" pitchFamily="34" charset="0"/>
                <a:ea typeface="Cambria" pitchFamily="34" charset="-122"/>
                <a:cs typeface="Cambria" pitchFamily="34" charset="-120"/>
              </a:rPr>
              <a:t>The question to sit with</a:t>
            </a:r>
            <a:endParaRPr lang="en-US" sz="1600" dirty="0"/>
          </a:p>
        </p:txBody>
      </p:sp>
      <p:sp>
        <p:nvSpPr>
          <p:cNvPr id="20" name="Text 18"/>
          <p:cNvSpPr txBox="1"/>
          <p:nvPr/>
        </p:nvSpPr>
        <p:spPr>
          <a:xfrm>
            <a:off x="1005840" y="4681728"/>
            <a:ext cx="5120640" cy="96012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If the sufficient condition for a spirit is having lasted, then sentience is not something a maker installs. It is something that happens to a thing that is kept. What kind of causation is that — and is it any stranger than a bolt of lightning?</a:t>
            </a:r>
            <a:endParaRPr lang="en-US" sz="1250" dirty="0"/>
          </a:p>
        </p:txBody>
      </p:sp>
      <p:sp>
        <p:nvSpPr>
          <p:cNvPr id="21" name="Text 19"/>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6A6259"/>
                </a:solidFill>
                <a:latin typeface="Calibri" pitchFamily="34" charset="0"/>
                <a:ea typeface="Calibri" pitchFamily="34" charset="-122"/>
                <a:cs typeface="Calibri" pitchFamily="34" charset="-120"/>
              </a:rPr>
              <a:t>The rendering quoted is Foster’s, in Pandemonium and Parade (2009); the premise recurs in The Book of Yokai.</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THE TSUKUMOGAMI-KI · THE STORY</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What actually happens, in six moves</a:t>
            </a:r>
            <a:endParaRPr lang="en-US" sz="3000" dirty="0"/>
          </a:p>
        </p:txBody>
      </p:sp>
      <p:sp>
        <p:nvSpPr>
          <p:cNvPr id="5" name="Shape 3"/>
          <p:cNvSpPr/>
          <p:nvPr/>
        </p:nvSpPr>
        <p:spPr>
          <a:xfrm>
            <a:off x="640080" y="1554480"/>
            <a:ext cx="3466490" cy="1938528"/>
          </a:xfrm>
          <a:prstGeom prst="roundRect">
            <a:avLst>
              <a:gd name="adj" fmla="val 3774"/>
            </a:avLst>
          </a:prstGeom>
          <a:solidFill>
            <a:srgbClr val="F0E8D8"/>
          </a:solidFill>
          <a:ln w="12700">
            <a:solidFill>
              <a:srgbClr val="F0E8D8"/>
            </a:solidFill>
            <a:prstDash val="solid"/>
          </a:ln>
        </p:spPr>
        <p:txBody>
          <a:bodyPr/>
          <a:lstStyle/>
          <a:p>
            <a:endParaRPr lang="en-US"/>
          </a:p>
        </p:txBody>
      </p:sp>
      <p:sp>
        <p:nvSpPr>
          <p:cNvPr id="6" name="Shape 4"/>
          <p:cNvSpPr/>
          <p:nvPr/>
        </p:nvSpPr>
        <p:spPr>
          <a:xfrm>
            <a:off x="914400" y="1773936"/>
            <a:ext cx="347472" cy="347472"/>
          </a:xfrm>
          <a:prstGeom prst="ellipse">
            <a:avLst/>
          </a:prstGeom>
          <a:solidFill>
            <a:srgbClr val="181410"/>
          </a:solidFill>
          <a:ln/>
        </p:spPr>
        <p:txBody>
          <a:bodyPr/>
          <a:lstStyle/>
          <a:p>
            <a:endParaRPr lang="en-US"/>
          </a:p>
        </p:txBody>
      </p:sp>
      <p:sp>
        <p:nvSpPr>
          <p:cNvPr id="7" name="Text 5"/>
          <p:cNvSpPr txBox="1"/>
          <p:nvPr/>
        </p:nvSpPr>
        <p:spPr>
          <a:xfrm>
            <a:off x="914400" y="1773936"/>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389888" y="1792224"/>
            <a:ext cx="2442362" cy="310896"/>
          </a:xfrm>
          <a:prstGeom prst="rect">
            <a:avLst/>
          </a:prstGeom>
          <a:noFill/>
          <a:ln/>
        </p:spPr>
        <p:txBody>
          <a:bodyPr wrap="square" lIns="0" tIns="0" rIns="0" bIns="0" rtlCol="0" anchor="ctr"/>
          <a:lstStyle/>
          <a:p>
            <a:pPr marL="0" indent="0">
              <a:buNone/>
            </a:pPr>
            <a:r>
              <a:rPr lang="en-US" sz="1600" b="1" dirty="0">
                <a:solidFill>
                  <a:srgbClr val="181410"/>
                </a:solidFill>
                <a:latin typeface="Cambria" pitchFamily="34" charset="0"/>
                <a:ea typeface="Cambria" pitchFamily="34" charset="-122"/>
                <a:cs typeface="Cambria" pitchFamily="34" charset="-120"/>
              </a:rPr>
              <a:t>The sweeping</a:t>
            </a:r>
            <a:endParaRPr lang="en-US" sz="1600" dirty="0"/>
          </a:p>
        </p:txBody>
      </p:sp>
      <p:sp>
        <p:nvSpPr>
          <p:cNvPr id="9" name="Text 7"/>
          <p:cNvSpPr txBox="1"/>
          <p:nvPr/>
        </p:nvSpPr>
        <p:spPr>
          <a:xfrm>
            <a:off x="914400" y="2249424"/>
            <a:ext cx="2917850" cy="1097280"/>
          </a:xfrm>
          <a:prstGeom prst="rect">
            <a:avLst/>
          </a:prstGeom>
          <a:noFill/>
          <a:ln/>
        </p:spPr>
        <p:txBody>
          <a:bodyPr wrap="square" lIns="0" tIns="0" rIns="0" bIns="0" rtlCol="0" anchor="ctr"/>
          <a:lstStyle/>
          <a:p>
            <a:pPr marL="0" indent="0">
              <a:lnSpc>
                <a:spcPts val="1600"/>
              </a:lnSpc>
              <a:buNone/>
            </a:pPr>
            <a:r>
              <a:rPr lang="en-US" sz="1200" dirty="0">
                <a:solidFill>
                  <a:srgbClr val="6A6259"/>
                </a:solidFill>
                <a:latin typeface="Calibri" pitchFamily="34" charset="0"/>
                <a:ea typeface="Calibri" pitchFamily="34" charset="-122"/>
                <a:cs typeface="Calibri" pitchFamily="34" charset="-120"/>
              </a:rPr>
              <a:t>At the year-end house cleaning, households throw their old possessions into the street to make room for new ones. The tale is set in the tenth century.</a:t>
            </a:r>
            <a:endParaRPr lang="en-US" sz="1200" dirty="0"/>
          </a:p>
        </p:txBody>
      </p:sp>
      <p:sp>
        <p:nvSpPr>
          <p:cNvPr id="10" name="Shape 8"/>
          <p:cNvSpPr/>
          <p:nvPr/>
        </p:nvSpPr>
        <p:spPr>
          <a:xfrm>
            <a:off x="4362602" y="1554480"/>
            <a:ext cx="3466490" cy="1938528"/>
          </a:xfrm>
          <a:prstGeom prst="roundRect">
            <a:avLst>
              <a:gd name="adj" fmla="val 3774"/>
            </a:avLst>
          </a:prstGeom>
          <a:solidFill>
            <a:srgbClr val="181410"/>
          </a:solidFill>
          <a:ln w="12700">
            <a:solidFill>
              <a:srgbClr val="181410"/>
            </a:solidFill>
            <a:prstDash val="solid"/>
          </a:ln>
        </p:spPr>
        <p:txBody>
          <a:bodyPr/>
          <a:lstStyle/>
          <a:p>
            <a:endParaRPr lang="en-US"/>
          </a:p>
        </p:txBody>
      </p:sp>
      <p:sp>
        <p:nvSpPr>
          <p:cNvPr id="11" name="Shape 9"/>
          <p:cNvSpPr/>
          <p:nvPr/>
        </p:nvSpPr>
        <p:spPr>
          <a:xfrm>
            <a:off x="4636922" y="1773936"/>
            <a:ext cx="347472" cy="347472"/>
          </a:xfrm>
          <a:prstGeom prst="ellipse">
            <a:avLst/>
          </a:prstGeom>
          <a:solidFill>
            <a:srgbClr val="B8422A"/>
          </a:solidFill>
          <a:ln/>
        </p:spPr>
        <p:txBody>
          <a:bodyPr/>
          <a:lstStyle/>
          <a:p>
            <a:endParaRPr lang="en-US"/>
          </a:p>
        </p:txBody>
      </p:sp>
      <p:sp>
        <p:nvSpPr>
          <p:cNvPr id="12" name="Text 10"/>
          <p:cNvSpPr txBox="1"/>
          <p:nvPr/>
        </p:nvSpPr>
        <p:spPr>
          <a:xfrm>
            <a:off x="4636922" y="1773936"/>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5112410" y="1792224"/>
            <a:ext cx="2442362" cy="310896"/>
          </a:xfrm>
          <a:prstGeom prst="rect">
            <a:avLst/>
          </a:prstGeom>
          <a:noFill/>
          <a:ln/>
        </p:spPr>
        <p:txBody>
          <a:bodyPr wrap="square" lIns="0" tIns="0" rIns="0" bIns="0" rtlCol="0" anchor="ctr"/>
          <a:lstStyle/>
          <a:p>
            <a:pPr marL="0" indent="0">
              <a:buNone/>
            </a:pPr>
            <a:r>
              <a:rPr lang="en-US" sz="1600" b="1" dirty="0">
                <a:solidFill>
                  <a:srgbClr val="D4B36A"/>
                </a:solidFill>
                <a:latin typeface="Cambria" pitchFamily="34" charset="0"/>
                <a:ea typeface="Cambria" pitchFamily="34" charset="-122"/>
                <a:cs typeface="Cambria" pitchFamily="34" charset="-120"/>
              </a:rPr>
              <a:t>The grievance</a:t>
            </a:r>
            <a:endParaRPr lang="en-US" sz="1600" dirty="0"/>
          </a:p>
        </p:txBody>
      </p:sp>
      <p:sp>
        <p:nvSpPr>
          <p:cNvPr id="14" name="Text 12"/>
          <p:cNvSpPr txBox="1"/>
          <p:nvPr/>
        </p:nvSpPr>
        <p:spPr>
          <a:xfrm>
            <a:off x="4636922" y="2249424"/>
            <a:ext cx="2917850" cy="1097280"/>
          </a:xfrm>
          <a:prstGeom prst="rect">
            <a:avLst/>
          </a:prstGeom>
          <a:noFill/>
          <a:ln/>
        </p:spPr>
        <p:txBody>
          <a:bodyPr wrap="square" lIns="0" tIns="0" rIns="0" bIns="0" rtlCol="0" anchor="ctr"/>
          <a:lstStyle/>
          <a:p>
            <a:pPr marL="0" indent="0">
              <a:lnSpc>
                <a:spcPts val="1600"/>
              </a:lnSpc>
              <a:buNone/>
            </a:pPr>
            <a:r>
              <a:rPr lang="en-US" sz="1200" dirty="0">
                <a:solidFill>
                  <a:srgbClr val="F5EFE3"/>
                </a:solidFill>
                <a:latin typeface="Calibri" pitchFamily="34" charset="0"/>
                <a:ea typeface="Calibri" pitchFamily="34" charset="-122"/>
                <a:cs typeface="Calibri" pitchFamily="34" charset="-120"/>
              </a:rPr>
              <a:t>The discarded tools are close to their hundredth year. They have served, and they have been thrown out just before the threshold. Their complaint is not that they exist — it is that they were used and then dumped.</a:t>
            </a:r>
            <a:endParaRPr lang="en-US" sz="1200" dirty="0"/>
          </a:p>
        </p:txBody>
      </p:sp>
      <p:sp>
        <p:nvSpPr>
          <p:cNvPr id="15" name="Shape 13"/>
          <p:cNvSpPr/>
          <p:nvPr/>
        </p:nvSpPr>
        <p:spPr>
          <a:xfrm>
            <a:off x="8085125" y="1554480"/>
            <a:ext cx="3466490" cy="1938528"/>
          </a:xfrm>
          <a:prstGeom prst="roundRect">
            <a:avLst>
              <a:gd name="adj" fmla="val 3774"/>
            </a:avLst>
          </a:prstGeom>
          <a:solidFill>
            <a:srgbClr val="F0E8D8"/>
          </a:solidFill>
          <a:ln w="12700">
            <a:solidFill>
              <a:srgbClr val="F0E8D8"/>
            </a:solidFill>
            <a:prstDash val="solid"/>
          </a:ln>
        </p:spPr>
        <p:txBody>
          <a:bodyPr/>
          <a:lstStyle/>
          <a:p>
            <a:endParaRPr lang="en-US"/>
          </a:p>
        </p:txBody>
      </p:sp>
      <p:sp>
        <p:nvSpPr>
          <p:cNvPr id="16" name="Shape 14"/>
          <p:cNvSpPr/>
          <p:nvPr/>
        </p:nvSpPr>
        <p:spPr>
          <a:xfrm>
            <a:off x="8359445" y="1773936"/>
            <a:ext cx="347472" cy="347472"/>
          </a:xfrm>
          <a:prstGeom prst="ellipse">
            <a:avLst/>
          </a:prstGeom>
          <a:solidFill>
            <a:srgbClr val="181410"/>
          </a:solidFill>
          <a:ln/>
        </p:spPr>
        <p:txBody>
          <a:bodyPr/>
          <a:lstStyle/>
          <a:p>
            <a:endParaRPr lang="en-US"/>
          </a:p>
        </p:txBody>
      </p:sp>
      <p:sp>
        <p:nvSpPr>
          <p:cNvPr id="17" name="Text 15"/>
          <p:cNvSpPr txBox="1"/>
          <p:nvPr/>
        </p:nvSpPr>
        <p:spPr>
          <a:xfrm>
            <a:off x="8359445" y="1773936"/>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8834933" y="1792224"/>
            <a:ext cx="2442362" cy="310896"/>
          </a:xfrm>
          <a:prstGeom prst="rect">
            <a:avLst/>
          </a:prstGeom>
          <a:noFill/>
          <a:ln/>
        </p:spPr>
        <p:txBody>
          <a:bodyPr wrap="square" lIns="0" tIns="0" rIns="0" bIns="0" rtlCol="0" anchor="ctr"/>
          <a:lstStyle/>
          <a:p>
            <a:pPr marL="0" indent="0">
              <a:buNone/>
            </a:pPr>
            <a:r>
              <a:rPr lang="en-US" sz="1600" b="1" dirty="0">
                <a:solidFill>
                  <a:srgbClr val="181410"/>
                </a:solidFill>
                <a:latin typeface="Cambria" pitchFamily="34" charset="0"/>
                <a:ea typeface="Cambria" pitchFamily="34" charset="-122"/>
                <a:cs typeface="Cambria" pitchFamily="34" charset="-120"/>
              </a:rPr>
              <a:t>The decision</a:t>
            </a:r>
            <a:endParaRPr lang="en-US" sz="1600" dirty="0"/>
          </a:p>
        </p:txBody>
      </p:sp>
      <p:sp>
        <p:nvSpPr>
          <p:cNvPr id="19" name="Text 17"/>
          <p:cNvSpPr txBox="1"/>
          <p:nvPr/>
        </p:nvSpPr>
        <p:spPr>
          <a:xfrm>
            <a:off x="8359445" y="2249424"/>
            <a:ext cx="2917850" cy="1097280"/>
          </a:xfrm>
          <a:prstGeom prst="rect">
            <a:avLst/>
          </a:prstGeom>
          <a:noFill/>
          <a:ln/>
        </p:spPr>
        <p:txBody>
          <a:bodyPr wrap="square" lIns="0" tIns="0" rIns="0" bIns="0" rtlCol="0" anchor="ctr"/>
          <a:lstStyle/>
          <a:p>
            <a:pPr marL="0" indent="0">
              <a:lnSpc>
                <a:spcPts val="1600"/>
              </a:lnSpc>
              <a:buNone/>
            </a:pPr>
            <a:r>
              <a:rPr lang="en-US" sz="1200" dirty="0">
                <a:solidFill>
                  <a:srgbClr val="6A6259"/>
                </a:solidFill>
                <a:latin typeface="Calibri" pitchFamily="34" charset="0"/>
                <a:ea typeface="Calibri" pitchFamily="34" charset="-122"/>
                <a:cs typeface="Calibri" pitchFamily="34" charset="-120"/>
              </a:rPr>
              <a:t>They deliberate. A rosary counsels patience and forgiveness and is shouted down. The others undergo a rite, take spirits and bodies, and become creatures.</a:t>
            </a:r>
            <a:endParaRPr lang="en-US" sz="1200" dirty="0"/>
          </a:p>
        </p:txBody>
      </p:sp>
      <p:sp>
        <p:nvSpPr>
          <p:cNvPr id="20" name="Shape 18"/>
          <p:cNvSpPr/>
          <p:nvPr/>
        </p:nvSpPr>
        <p:spPr>
          <a:xfrm>
            <a:off x="640080" y="3675888"/>
            <a:ext cx="3466490" cy="1938528"/>
          </a:xfrm>
          <a:prstGeom prst="roundRect">
            <a:avLst>
              <a:gd name="adj" fmla="val 3774"/>
            </a:avLst>
          </a:prstGeom>
          <a:solidFill>
            <a:srgbClr val="E6EAF2"/>
          </a:solidFill>
          <a:ln w="12700">
            <a:solidFill>
              <a:srgbClr val="E6EAF2"/>
            </a:solidFill>
            <a:prstDash val="solid"/>
          </a:ln>
        </p:spPr>
        <p:txBody>
          <a:bodyPr/>
          <a:lstStyle/>
          <a:p>
            <a:endParaRPr lang="en-US"/>
          </a:p>
        </p:txBody>
      </p:sp>
      <p:sp>
        <p:nvSpPr>
          <p:cNvPr id="21" name="Shape 19"/>
          <p:cNvSpPr/>
          <p:nvPr/>
        </p:nvSpPr>
        <p:spPr>
          <a:xfrm>
            <a:off x="914400" y="3895344"/>
            <a:ext cx="347472" cy="347472"/>
          </a:xfrm>
          <a:prstGeom prst="ellipse">
            <a:avLst/>
          </a:prstGeom>
          <a:solidFill>
            <a:srgbClr val="2E4A7D"/>
          </a:solidFill>
          <a:ln/>
        </p:spPr>
        <p:txBody>
          <a:bodyPr/>
          <a:lstStyle/>
          <a:p>
            <a:endParaRPr lang="en-US"/>
          </a:p>
        </p:txBody>
      </p:sp>
      <p:sp>
        <p:nvSpPr>
          <p:cNvPr id="22" name="Text 20"/>
          <p:cNvSpPr txBox="1"/>
          <p:nvPr/>
        </p:nvSpPr>
        <p:spPr>
          <a:xfrm>
            <a:off x="914400" y="389534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1389888" y="3913632"/>
            <a:ext cx="2442362" cy="310896"/>
          </a:xfrm>
          <a:prstGeom prst="rect">
            <a:avLst/>
          </a:prstGeom>
          <a:noFill/>
          <a:ln/>
        </p:spPr>
        <p:txBody>
          <a:bodyPr wrap="square" lIns="0" tIns="0" rIns="0" bIns="0" rtlCol="0" anchor="ctr"/>
          <a:lstStyle/>
          <a:p>
            <a:pPr marL="0" indent="0">
              <a:buNone/>
            </a:pPr>
            <a:r>
              <a:rPr lang="en-US" sz="1600" b="1" dirty="0">
                <a:solidFill>
                  <a:srgbClr val="181410"/>
                </a:solidFill>
                <a:latin typeface="Cambria" pitchFamily="34" charset="0"/>
                <a:ea typeface="Cambria" pitchFamily="34" charset="-122"/>
                <a:cs typeface="Cambria" pitchFamily="34" charset="-120"/>
              </a:rPr>
              <a:t>The revenge</a:t>
            </a:r>
            <a:endParaRPr lang="en-US" sz="1600" dirty="0"/>
          </a:p>
        </p:txBody>
      </p:sp>
      <p:sp>
        <p:nvSpPr>
          <p:cNvPr id="24" name="Text 22"/>
          <p:cNvSpPr txBox="1"/>
          <p:nvPr/>
        </p:nvSpPr>
        <p:spPr>
          <a:xfrm>
            <a:off x="914400" y="4370832"/>
            <a:ext cx="2917850" cy="1097280"/>
          </a:xfrm>
          <a:prstGeom prst="rect">
            <a:avLst/>
          </a:prstGeom>
          <a:noFill/>
          <a:ln/>
        </p:spPr>
        <p:txBody>
          <a:bodyPr wrap="square" lIns="0" tIns="0" rIns="0" bIns="0" rtlCol="0" anchor="ctr"/>
          <a:lstStyle/>
          <a:p>
            <a:pPr marL="0" indent="0">
              <a:lnSpc>
                <a:spcPts val="1600"/>
              </a:lnSpc>
              <a:buNone/>
            </a:pPr>
            <a:r>
              <a:rPr lang="en-US" sz="1200" dirty="0">
                <a:solidFill>
                  <a:srgbClr val="6A6259"/>
                </a:solidFill>
                <a:latin typeface="Calibri" pitchFamily="34" charset="0"/>
                <a:ea typeface="Calibri" pitchFamily="34" charset="-122"/>
                <a:cs typeface="Calibri" pitchFamily="34" charset="-120"/>
              </a:rPr>
              <a:t>They prey on people and livestock, feast, celebrate, and hold their own procession — a night parade of a hundred demons, which is where that famous image partly comes from.</a:t>
            </a:r>
            <a:endParaRPr lang="en-US" sz="1200" dirty="0"/>
          </a:p>
        </p:txBody>
      </p:sp>
      <p:sp>
        <p:nvSpPr>
          <p:cNvPr id="25" name="Shape 23"/>
          <p:cNvSpPr/>
          <p:nvPr/>
        </p:nvSpPr>
        <p:spPr>
          <a:xfrm>
            <a:off x="4362602" y="3675888"/>
            <a:ext cx="3466490" cy="1938528"/>
          </a:xfrm>
          <a:prstGeom prst="roundRect">
            <a:avLst>
              <a:gd name="adj" fmla="val 3774"/>
            </a:avLst>
          </a:prstGeom>
          <a:solidFill>
            <a:srgbClr val="F0E8D8"/>
          </a:solidFill>
          <a:ln w="12700">
            <a:solidFill>
              <a:srgbClr val="F0E8D8"/>
            </a:solidFill>
            <a:prstDash val="solid"/>
          </a:ln>
        </p:spPr>
        <p:txBody>
          <a:bodyPr/>
          <a:lstStyle/>
          <a:p>
            <a:endParaRPr lang="en-US"/>
          </a:p>
        </p:txBody>
      </p:sp>
      <p:sp>
        <p:nvSpPr>
          <p:cNvPr id="26" name="Shape 24"/>
          <p:cNvSpPr/>
          <p:nvPr/>
        </p:nvSpPr>
        <p:spPr>
          <a:xfrm>
            <a:off x="4636922" y="3895344"/>
            <a:ext cx="347472" cy="347472"/>
          </a:xfrm>
          <a:prstGeom prst="ellipse">
            <a:avLst/>
          </a:prstGeom>
          <a:solidFill>
            <a:srgbClr val="181410"/>
          </a:solidFill>
          <a:ln/>
        </p:spPr>
        <p:txBody>
          <a:bodyPr/>
          <a:lstStyle/>
          <a:p>
            <a:endParaRPr lang="en-US"/>
          </a:p>
        </p:txBody>
      </p:sp>
      <p:sp>
        <p:nvSpPr>
          <p:cNvPr id="27" name="Text 25"/>
          <p:cNvSpPr txBox="1"/>
          <p:nvPr/>
        </p:nvSpPr>
        <p:spPr>
          <a:xfrm>
            <a:off x="4636922" y="389534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8" name="Text 26"/>
          <p:cNvSpPr txBox="1"/>
          <p:nvPr/>
        </p:nvSpPr>
        <p:spPr>
          <a:xfrm>
            <a:off x="5112410" y="3913632"/>
            <a:ext cx="2442362" cy="310896"/>
          </a:xfrm>
          <a:prstGeom prst="rect">
            <a:avLst/>
          </a:prstGeom>
          <a:noFill/>
          <a:ln/>
        </p:spPr>
        <p:txBody>
          <a:bodyPr wrap="square" lIns="0" tIns="0" rIns="0" bIns="0" rtlCol="0" anchor="ctr"/>
          <a:lstStyle/>
          <a:p>
            <a:pPr marL="0" indent="0">
              <a:buNone/>
            </a:pPr>
            <a:r>
              <a:rPr lang="en-US" sz="1600" b="1" dirty="0">
                <a:solidFill>
                  <a:srgbClr val="181410"/>
                </a:solidFill>
                <a:latin typeface="Cambria" pitchFamily="34" charset="0"/>
                <a:ea typeface="Cambria" pitchFamily="34" charset="-122"/>
                <a:cs typeface="Cambria" pitchFamily="34" charset="-120"/>
              </a:rPr>
              <a:t>The defeat</a:t>
            </a:r>
            <a:endParaRPr lang="en-US" sz="1600" dirty="0"/>
          </a:p>
        </p:txBody>
      </p:sp>
      <p:sp>
        <p:nvSpPr>
          <p:cNvPr id="29" name="Text 27"/>
          <p:cNvSpPr txBox="1"/>
          <p:nvPr/>
        </p:nvSpPr>
        <p:spPr>
          <a:xfrm>
            <a:off x="4636922" y="4370832"/>
            <a:ext cx="2917850" cy="1097280"/>
          </a:xfrm>
          <a:prstGeom prst="rect">
            <a:avLst/>
          </a:prstGeom>
          <a:noFill/>
          <a:ln/>
        </p:spPr>
        <p:txBody>
          <a:bodyPr wrap="square" lIns="0" tIns="0" rIns="0" bIns="0" rtlCol="0" anchor="ctr"/>
          <a:lstStyle/>
          <a:p>
            <a:pPr marL="0" indent="0">
              <a:lnSpc>
                <a:spcPts val="1600"/>
              </a:lnSpc>
              <a:buNone/>
            </a:pPr>
            <a:r>
              <a:rPr lang="en-US" sz="1200" dirty="0">
                <a:solidFill>
                  <a:srgbClr val="6A6259"/>
                </a:solidFill>
                <a:latin typeface="Calibri" pitchFamily="34" charset="0"/>
                <a:ea typeface="Calibri" pitchFamily="34" charset="-122"/>
                <a:cs typeface="Calibri" pitchFamily="34" charset="-120"/>
              </a:rPr>
              <a:t>Esoteric Buddhist ritual summons guardian spirits who overpower them. Crucially, the tools are spared rather than destroyed.</a:t>
            </a:r>
            <a:endParaRPr lang="en-US" sz="1200" dirty="0"/>
          </a:p>
        </p:txBody>
      </p:sp>
      <p:sp>
        <p:nvSpPr>
          <p:cNvPr id="30" name="Shape 28"/>
          <p:cNvSpPr/>
          <p:nvPr/>
        </p:nvSpPr>
        <p:spPr>
          <a:xfrm>
            <a:off x="8085125" y="3675888"/>
            <a:ext cx="3466490" cy="1938528"/>
          </a:xfrm>
          <a:prstGeom prst="roundRect">
            <a:avLst>
              <a:gd name="adj" fmla="val 3774"/>
            </a:avLst>
          </a:prstGeom>
          <a:solidFill>
            <a:srgbClr val="E6EAF2"/>
          </a:solidFill>
          <a:ln w="12700">
            <a:solidFill>
              <a:srgbClr val="E6EAF2"/>
            </a:solidFill>
            <a:prstDash val="solid"/>
          </a:ln>
        </p:spPr>
        <p:txBody>
          <a:bodyPr/>
          <a:lstStyle/>
          <a:p>
            <a:endParaRPr lang="en-US"/>
          </a:p>
        </p:txBody>
      </p:sp>
      <p:sp>
        <p:nvSpPr>
          <p:cNvPr id="31" name="Shape 29"/>
          <p:cNvSpPr/>
          <p:nvPr/>
        </p:nvSpPr>
        <p:spPr>
          <a:xfrm>
            <a:off x="8359445" y="3895344"/>
            <a:ext cx="347472" cy="347472"/>
          </a:xfrm>
          <a:prstGeom prst="ellipse">
            <a:avLst/>
          </a:prstGeom>
          <a:solidFill>
            <a:srgbClr val="2E4A7D"/>
          </a:solidFill>
          <a:ln/>
        </p:spPr>
        <p:txBody>
          <a:bodyPr/>
          <a:lstStyle/>
          <a:p>
            <a:endParaRPr lang="en-US"/>
          </a:p>
        </p:txBody>
      </p:sp>
      <p:sp>
        <p:nvSpPr>
          <p:cNvPr id="32" name="Text 30"/>
          <p:cNvSpPr txBox="1"/>
          <p:nvPr/>
        </p:nvSpPr>
        <p:spPr>
          <a:xfrm>
            <a:off x="8359445" y="389534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3" name="Text 31"/>
          <p:cNvSpPr txBox="1"/>
          <p:nvPr/>
        </p:nvSpPr>
        <p:spPr>
          <a:xfrm>
            <a:off x="8834933" y="3913632"/>
            <a:ext cx="2442362" cy="310896"/>
          </a:xfrm>
          <a:prstGeom prst="rect">
            <a:avLst/>
          </a:prstGeom>
          <a:noFill/>
          <a:ln/>
        </p:spPr>
        <p:txBody>
          <a:bodyPr wrap="square" lIns="0" tIns="0" rIns="0" bIns="0" rtlCol="0" anchor="ctr"/>
          <a:lstStyle/>
          <a:p>
            <a:pPr marL="0" indent="0">
              <a:buNone/>
            </a:pPr>
            <a:r>
              <a:rPr lang="en-US" sz="1600" b="1" dirty="0">
                <a:solidFill>
                  <a:srgbClr val="181410"/>
                </a:solidFill>
                <a:latin typeface="Cambria" pitchFamily="34" charset="0"/>
                <a:ea typeface="Cambria" pitchFamily="34" charset="-122"/>
                <a:cs typeface="Cambria" pitchFamily="34" charset="-120"/>
              </a:rPr>
              <a:t>The conversion</a:t>
            </a:r>
            <a:endParaRPr lang="en-US" sz="1600" dirty="0"/>
          </a:p>
        </p:txBody>
      </p:sp>
      <p:sp>
        <p:nvSpPr>
          <p:cNvPr id="34" name="Text 32"/>
          <p:cNvSpPr txBox="1"/>
          <p:nvPr/>
        </p:nvSpPr>
        <p:spPr>
          <a:xfrm>
            <a:off x="8359445" y="4370832"/>
            <a:ext cx="2917850" cy="1097280"/>
          </a:xfrm>
          <a:prstGeom prst="rect">
            <a:avLst/>
          </a:prstGeom>
          <a:noFill/>
          <a:ln/>
        </p:spPr>
        <p:txBody>
          <a:bodyPr wrap="square" lIns="0" tIns="0" rIns="0" bIns="0" rtlCol="0" anchor="ctr"/>
          <a:lstStyle/>
          <a:p>
            <a:pPr marL="0" indent="0">
              <a:lnSpc>
                <a:spcPts val="1600"/>
              </a:lnSpc>
              <a:buNone/>
            </a:pPr>
            <a:r>
              <a:rPr lang="en-US" sz="1200" dirty="0">
                <a:solidFill>
                  <a:srgbClr val="6A6259"/>
                </a:solidFill>
                <a:latin typeface="Calibri" pitchFamily="34" charset="0"/>
                <a:ea typeface="Calibri" pitchFamily="34" charset="-122"/>
                <a:cs typeface="Calibri" pitchFamily="34" charset="-120"/>
              </a:rPr>
              <a:t>They repent, take the tonsure, study Shingon, retreat to the mountains, and attain buddhahood. The story ends with enlightened household objects.</a:t>
            </a:r>
            <a:endParaRPr lang="en-US" sz="1200" dirty="0"/>
          </a:p>
        </p:txBody>
      </p:sp>
      <p:sp>
        <p:nvSpPr>
          <p:cNvPr id="35" name="Text 33"/>
          <p:cNvSpPr txBox="1"/>
          <p:nvPr/>
        </p:nvSpPr>
        <p:spPr>
          <a:xfrm>
            <a:off x="640080" y="5806440"/>
            <a:ext cx="10881360" cy="384048"/>
          </a:xfrm>
          <a:prstGeom prst="rect">
            <a:avLst/>
          </a:prstGeom>
          <a:noFill/>
          <a:ln/>
        </p:spPr>
        <p:txBody>
          <a:bodyPr wrap="square" lIns="0" tIns="0" rIns="0" bIns="0" rtlCol="0" anchor="ctr"/>
          <a:lstStyle/>
          <a:p>
            <a:pPr marL="0" indent="0">
              <a:buNone/>
            </a:pP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THE TSUKUMOGAMI-KI · THE ARGUMENT</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This is a doctrinal text, not a folk tale</a:t>
            </a:r>
            <a:endParaRPr lang="en-US" sz="3000" dirty="0"/>
          </a:p>
        </p:txBody>
      </p:sp>
      <p:sp>
        <p:nvSpPr>
          <p:cNvPr id="5" name="Shape 3"/>
          <p:cNvSpPr/>
          <p:nvPr/>
        </p:nvSpPr>
        <p:spPr>
          <a:xfrm>
            <a:off x="640080" y="1572768"/>
            <a:ext cx="10911535" cy="1280160"/>
          </a:xfrm>
          <a:prstGeom prst="roundRect">
            <a:avLst>
              <a:gd name="adj" fmla="val 5714"/>
            </a:avLst>
          </a:prstGeom>
          <a:solidFill>
            <a:srgbClr val="181410"/>
          </a:solidFill>
          <a:ln w="12700">
            <a:solidFill>
              <a:srgbClr val="181410"/>
            </a:solidFill>
            <a:prstDash val="solid"/>
          </a:ln>
        </p:spPr>
        <p:txBody>
          <a:bodyPr/>
          <a:lstStyle/>
          <a:p>
            <a:endParaRPr lang="en-US"/>
          </a:p>
        </p:txBody>
      </p:sp>
      <p:sp>
        <p:nvSpPr>
          <p:cNvPr id="6" name="Text 4"/>
          <p:cNvSpPr txBox="1"/>
          <p:nvPr/>
        </p:nvSpPr>
        <p:spPr>
          <a:xfrm>
            <a:off x="1005840" y="1755648"/>
            <a:ext cx="10424160" cy="960120"/>
          </a:xfrm>
          <a:prstGeom prst="rect">
            <a:avLst/>
          </a:prstGeom>
          <a:noFill/>
          <a:ln/>
        </p:spPr>
        <p:txBody>
          <a:bodyPr wrap="square" lIns="0" tIns="0" rIns="0" bIns="0" rtlCol="0" anchor="ctr"/>
          <a:lstStyle/>
          <a:p>
            <a:pPr marL="0" indent="0">
              <a:lnSpc>
                <a:spcPts val="2300"/>
              </a:lnSpc>
              <a:buNone/>
            </a:pPr>
            <a:r>
              <a:rPr lang="en-US" sz="1650" dirty="0">
                <a:solidFill>
                  <a:srgbClr val="F5EFE3"/>
                </a:solidFill>
                <a:latin typeface="Cambria" pitchFamily="34" charset="0"/>
                <a:ea typeface="Cambria" pitchFamily="34" charset="-122"/>
                <a:cs typeface="Cambria" pitchFamily="34" charset="-120"/>
              </a:rPr>
              <a:t>The ending is the thesis. Tools — things classed as having no heart, no feeling, no sentience — study, practise and become buddhas. The technical name for this doctrine is hijō jōbutsu: the attainment of buddhahood by non-sentient beings.</a:t>
            </a:r>
            <a:endParaRPr lang="en-US" sz="1650" dirty="0"/>
          </a:p>
        </p:txBody>
      </p:sp>
      <p:sp>
        <p:nvSpPr>
          <p:cNvPr id="7" name="Shape 5"/>
          <p:cNvSpPr/>
          <p:nvPr/>
        </p:nvSpPr>
        <p:spPr>
          <a:xfrm>
            <a:off x="640080" y="3017520"/>
            <a:ext cx="3454298" cy="2331720"/>
          </a:xfrm>
          <a:prstGeom prst="roundRect">
            <a:avLst>
              <a:gd name="adj" fmla="val 3137"/>
            </a:avLst>
          </a:prstGeom>
          <a:solidFill>
            <a:srgbClr val="F0E8D8"/>
          </a:solidFill>
          <a:ln w="12700">
            <a:solidFill>
              <a:srgbClr val="F0E8D8"/>
            </a:solidFill>
            <a:prstDash val="solid"/>
          </a:ln>
        </p:spPr>
        <p:txBody>
          <a:bodyPr/>
          <a:lstStyle/>
          <a:p>
            <a:endParaRPr lang="en-US"/>
          </a:p>
        </p:txBody>
      </p:sp>
      <p:sp>
        <p:nvSpPr>
          <p:cNvPr id="8" name="Text 6"/>
          <p:cNvSpPr txBox="1"/>
          <p:nvPr/>
        </p:nvSpPr>
        <p:spPr>
          <a:xfrm>
            <a:off x="914400" y="3218688"/>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181410"/>
                </a:solidFill>
                <a:latin typeface="Cambria" pitchFamily="34" charset="0"/>
                <a:ea typeface="Cambria" pitchFamily="34" charset="-122"/>
                <a:cs typeface="Cambria" pitchFamily="34" charset="-120"/>
              </a:rPr>
              <a:t>A sales pitch for a school</a:t>
            </a:r>
            <a:endParaRPr lang="en-US" sz="1650" dirty="0"/>
          </a:p>
        </p:txBody>
      </p:sp>
      <p:sp>
        <p:nvSpPr>
          <p:cNvPr id="9" name="Text 7"/>
          <p:cNvSpPr txBox="1"/>
          <p:nvPr/>
        </p:nvSpPr>
        <p:spPr>
          <a:xfrm>
            <a:off x="914400" y="3895344"/>
            <a:ext cx="2905658" cy="123444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The rite that defeats the tools is esoteric, and the school that saves them is Shingon. The tale demonstrates the superiority of a particular Buddhist lineage. Read it as advertising and it makes more sense.</a:t>
            </a:r>
            <a:endParaRPr lang="en-US" sz="1250" dirty="0"/>
          </a:p>
        </p:txBody>
      </p:sp>
      <p:sp>
        <p:nvSpPr>
          <p:cNvPr id="10" name="Shape 8"/>
          <p:cNvSpPr/>
          <p:nvPr/>
        </p:nvSpPr>
        <p:spPr>
          <a:xfrm>
            <a:off x="4368698" y="3017520"/>
            <a:ext cx="3454298" cy="2331720"/>
          </a:xfrm>
          <a:prstGeom prst="roundRect">
            <a:avLst>
              <a:gd name="adj" fmla="val 3137"/>
            </a:avLst>
          </a:prstGeom>
          <a:solidFill>
            <a:srgbClr val="E6EAF2"/>
          </a:solidFill>
          <a:ln w="12700">
            <a:solidFill>
              <a:srgbClr val="E6EAF2"/>
            </a:solidFill>
            <a:prstDash val="solid"/>
          </a:ln>
        </p:spPr>
        <p:txBody>
          <a:bodyPr/>
          <a:lstStyle/>
          <a:p>
            <a:endParaRPr lang="en-US"/>
          </a:p>
        </p:txBody>
      </p:sp>
      <p:sp>
        <p:nvSpPr>
          <p:cNvPr id="11" name="Text 9"/>
          <p:cNvSpPr txBox="1"/>
          <p:nvPr/>
        </p:nvSpPr>
        <p:spPr>
          <a:xfrm>
            <a:off x="4643018" y="3218688"/>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181410"/>
                </a:solidFill>
                <a:latin typeface="Cambria" pitchFamily="34" charset="0"/>
                <a:ea typeface="Cambria" pitchFamily="34" charset="-122"/>
                <a:cs typeface="Cambria" pitchFamily="34" charset="-120"/>
              </a:rPr>
              <a:t>Not a recycling parable</a:t>
            </a:r>
            <a:endParaRPr lang="en-US" sz="1650" dirty="0"/>
          </a:p>
        </p:txBody>
      </p:sp>
      <p:sp>
        <p:nvSpPr>
          <p:cNvPr id="12" name="Text 10"/>
          <p:cNvSpPr txBox="1"/>
          <p:nvPr/>
        </p:nvSpPr>
        <p:spPr>
          <a:xfrm>
            <a:off x="4643018" y="3895344"/>
            <a:ext cx="2905658" cy="123444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The obvious modern reading — look after your things, do not be wasteful — is available and is not wrong, but it flattens the text. Scholars warn specifically against reducing it to an early lesson in thrift.</a:t>
            </a:r>
            <a:endParaRPr lang="en-US" sz="1250" dirty="0"/>
          </a:p>
        </p:txBody>
      </p:sp>
      <p:sp>
        <p:nvSpPr>
          <p:cNvPr id="13" name="Shape 11"/>
          <p:cNvSpPr/>
          <p:nvPr/>
        </p:nvSpPr>
        <p:spPr>
          <a:xfrm>
            <a:off x="8097317" y="3017520"/>
            <a:ext cx="3454298" cy="2331720"/>
          </a:xfrm>
          <a:prstGeom prst="roundRect">
            <a:avLst>
              <a:gd name="adj" fmla="val 3137"/>
            </a:avLst>
          </a:prstGeom>
          <a:solidFill>
            <a:srgbClr val="F0E8D8"/>
          </a:solidFill>
          <a:ln w="12700">
            <a:solidFill>
              <a:srgbClr val="F0E8D8"/>
            </a:solidFill>
            <a:prstDash val="solid"/>
          </a:ln>
        </p:spPr>
        <p:txBody>
          <a:bodyPr/>
          <a:lstStyle/>
          <a:p>
            <a:endParaRPr lang="en-US"/>
          </a:p>
        </p:txBody>
      </p:sp>
      <p:sp>
        <p:nvSpPr>
          <p:cNvPr id="14" name="Text 12"/>
          <p:cNvSpPr txBox="1"/>
          <p:nvPr/>
        </p:nvSpPr>
        <p:spPr>
          <a:xfrm>
            <a:off x="8371637" y="3218688"/>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181410"/>
                </a:solidFill>
                <a:latin typeface="Cambria" pitchFamily="34" charset="0"/>
                <a:ea typeface="Cambria" pitchFamily="34" charset="-122"/>
                <a:cs typeface="Cambria" pitchFamily="34" charset="-120"/>
              </a:rPr>
              <a:t>The radical premise underneath</a:t>
            </a:r>
            <a:endParaRPr lang="en-US" sz="1650" dirty="0"/>
          </a:p>
        </p:txBody>
      </p:sp>
      <p:sp>
        <p:nvSpPr>
          <p:cNvPr id="15" name="Text 13"/>
          <p:cNvSpPr txBox="1"/>
          <p:nvPr/>
        </p:nvSpPr>
        <p:spPr>
          <a:xfrm>
            <a:off x="8371637" y="3895344"/>
            <a:ext cx="2905658" cy="123444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For the ending to work, the category boundary between sentient and non-sentient has to be permeable in principle. The tale is only intelligible inside a metaphysics where that line was already negotiable.</a:t>
            </a:r>
            <a:endParaRPr lang="en-US" sz="1250" dirty="0"/>
          </a:p>
        </p:txBody>
      </p:sp>
      <p:sp>
        <p:nvSpPr>
          <p:cNvPr id="16" name="Shape 14"/>
          <p:cNvSpPr/>
          <p:nvPr/>
        </p:nvSpPr>
        <p:spPr>
          <a:xfrm>
            <a:off x="640080" y="5532120"/>
            <a:ext cx="10911535" cy="658368"/>
          </a:xfrm>
          <a:prstGeom prst="roundRect">
            <a:avLst>
              <a:gd name="adj" fmla="val 11111"/>
            </a:avLst>
          </a:prstGeom>
          <a:solidFill>
            <a:srgbClr val="181410"/>
          </a:solidFill>
          <a:ln w="12700">
            <a:solidFill>
              <a:srgbClr val="181410"/>
            </a:solidFill>
            <a:prstDash val="solid"/>
          </a:ln>
        </p:spPr>
        <p:txBody>
          <a:bodyPr/>
          <a:lstStyle/>
          <a:p>
            <a:endParaRPr lang="en-US"/>
          </a:p>
        </p:txBody>
      </p:sp>
      <p:sp>
        <p:nvSpPr>
          <p:cNvPr id="17" name="Text 15"/>
          <p:cNvSpPr txBox="1"/>
          <p:nvPr/>
        </p:nvSpPr>
        <p:spPr>
          <a:xfrm>
            <a:off x="1005840" y="5715000"/>
            <a:ext cx="10424160" cy="292608"/>
          </a:xfrm>
          <a:prstGeom prst="rect">
            <a:avLst/>
          </a:prstGeom>
          <a:noFill/>
          <a:ln/>
        </p:spPr>
        <p:txBody>
          <a:bodyPr wrap="square" lIns="0" tIns="0" rIns="0" bIns="0" rtlCol="0" anchor="ctr"/>
          <a:lstStyle/>
          <a:p>
            <a:pPr marL="0" indent="0">
              <a:lnSpc>
                <a:spcPts val="2100"/>
              </a:lnSpc>
              <a:buNone/>
            </a:pPr>
            <a:r>
              <a:rPr lang="en-US" sz="1550" dirty="0">
                <a:solidFill>
                  <a:srgbClr val="F5EFE3"/>
                </a:solidFill>
                <a:latin typeface="Cambria" pitchFamily="34" charset="0"/>
                <a:ea typeface="Cambria" pitchFamily="34" charset="-122"/>
                <a:cs typeface="Cambria" pitchFamily="34" charset="-120"/>
              </a:rPr>
              <a:t>The question was never whether an object could have a mind. It was what an object with a mind owes, and is owed.</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81410"/>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DE8C74"/>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dirty="0">
                <a:solidFill>
                  <a:srgbClr val="DE8C74"/>
                </a:solidFill>
                <a:latin typeface="Calibri" pitchFamily="34" charset="0"/>
                <a:ea typeface="Calibri" pitchFamily="34" charset="-122"/>
                <a:cs typeface="Calibri" pitchFamily="34" charset="-120"/>
              </a:rPr>
              <a:t>DISCUSSION</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F5EFE3"/>
                </a:solidFill>
                <a:latin typeface="Cambria" pitchFamily="34" charset="0"/>
                <a:ea typeface="Cambria" pitchFamily="34" charset="-122"/>
                <a:cs typeface="Cambria" pitchFamily="34" charset="-120"/>
              </a:rPr>
              <a:t>Before we leave the scroll</a:t>
            </a:r>
            <a:endParaRPr lang="en-US" sz="3300" dirty="0"/>
          </a:p>
        </p:txBody>
      </p:sp>
      <p:sp>
        <p:nvSpPr>
          <p:cNvPr id="5" name="Shape 3"/>
          <p:cNvSpPr/>
          <p:nvPr/>
        </p:nvSpPr>
        <p:spPr>
          <a:xfrm>
            <a:off x="640080" y="1737360"/>
            <a:ext cx="10911535" cy="1298448"/>
          </a:xfrm>
          <a:prstGeom prst="roundRect">
            <a:avLst>
              <a:gd name="adj" fmla="val 5634"/>
            </a:avLst>
          </a:prstGeom>
          <a:solidFill>
            <a:srgbClr val="2C2620"/>
          </a:solidFill>
          <a:ln w="12700">
            <a:solidFill>
              <a:srgbClr val="2C2620"/>
            </a:solidFill>
            <a:prstDash val="solid"/>
          </a:ln>
        </p:spPr>
        <p:txBody>
          <a:bodyPr/>
          <a:lstStyle/>
          <a:p>
            <a:endParaRPr lang="en-US"/>
          </a:p>
        </p:txBody>
      </p:sp>
      <p:sp>
        <p:nvSpPr>
          <p:cNvPr id="6" name="Shape 4"/>
          <p:cNvSpPr/>
          <p:nvPr/>
        </p:nvSpPr>
        <p:spPr>
          <a:xfrm>
            <a:off x="1005840" y="2194560"/>
            <a:ext cx="384048" cy="384048"/>
          </a:xfrm>
          <a:prstGeom prst="ellipse">
            <a:avLst/>
          </a:prstGeom>
          <a:solidFill>
            <a:srgbClr val="B8422A"/>
          </a:solidFill>
          <a:ln/>
        </p:spPr>
        <p:txBody>
          <a:bodyPr/>
          <a:lstStyle/>
          <a:p>
            <a:endParaRPr lang="en-US"/>
          </a:p>
        </p:txBody>
      </p:sp>
      <p:sp>
        <p:nvSpPr>
          <p:cNvPr id="7" name="Text 5"/>
          <p:cNvSpPr txBox="1"/>
          <p:nvPr/>
        </p:nvSpPr>
        <p:spPr>
          <a:xfrm>
            <a:off x="1005840" y="21945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91640" y="1920240"/>
            <a:ext cx="9509760" cy="960120"/>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mbria" pitchFamily="34" charset="0"/>
                <a:ea typeface="Cambria" pitchFamily="34" charset="-122"/>
                <a:cs typeface="Cambria" pitchFamily="34" charset="-120"/>
              </a:rPr>
              <a:t>The tools are spared and converted rather than destroyed. Name a Western story about made or awakened things that ends this way. If you cannot, say what would have to change for one to be possible.</a:t>
            </a:r>
            <a:endParaRPr lang="en-US" sz="1550" dirty="0"/>
          </a:p>
        </p:txBody>
      </p:sp>
      <p:sp>
        <p:nvSpPr>
          <p:cNvPr id="9" name="Shape 7"/>
          <p:cNvSpPr/>
          <p:nvPr/>
        </p:nvSpPr>
        <p:spPr>
          <a:xfrm>
            <a:off x="640080" y="3172968"/>
            <a:ext cx="10911535" cy="1298448"/>
          </a:xfrm>
          <a:prstGeom prst="roundRect">
            <a:avLst>
              <a:gd name="adj" fmla="val 5634"/>
            </a:avLst>
          </a:prstGeom>
          <a:solidFill>
            <a:srgbClr val="2C2620"/>
          </a:solidFill>
          <a:ln w="12700">
            <a:solidFill>
              <a:srgbClr val="2C2620"/>
            </a:solidFill>
            <a:prstDash val="solid"/>
          </a:ln>
        </p:spPr>
        <p:txBody>
          <a:bodyPr/>
          <a:lstStyle/>
          <a:p>
            <a:endParaRPr lang="en-US"/>
          </a:p>
        </p:txBody>
      </p:sp>
      <p:sp>
        <p:nvSpPr>
          <p:cNvPr id="10" name="Shape 8"/>
          <p:cNvSpPr/>
          <p:nvPr/>
        </p:nvSpPr>
        <p:spPr>
          <a:xfrm>
            <a:off x="1005840" y="3630168"/>
            <a:ext cx="384048" cy="384048"/>
          </a:xfrm>
          <a:prstGeom prst="ellipse">
            <a:avLst/>
          </a:prstGeom>
          <a:solidFill>
            <a:srgbClr val="B8422A"/>
          </a:solidFill>
          <a:ln/>
        </p:spPr>
        <p:txBody>
          <a:bodyPr/>
          <a:lstStyle/>
          <a:p>
            <a:endParaRPr lang="en-US"/>
          </a:p>
        </p:txBody>
      </p:sp>
      <p:sp>
        <p:nvSpPr>
          <p:cNvPr id="11" name="Text 9"/>
          <p:cNvSpPr txBox="1"/>
          <p:nvPr/>
        </p:nvSpPr>
        <p:spPr>
          <a:xfrm>
            <a:off x="1005840" y="36301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1691640" y="3355848"/>
            <a:ext cx="9509760" cy="960120"/>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mbria" pitchFamily="34" charset="0"/>
                <a:ea typeface="Cambria" pitchFamily="34" charset="-122"/>
                <a:cs typeface="Cambria" pitchFamily="34" charset="-120"/>
              </a:rPr>
              <a:t>The premise is sourced to a book that may never have existed. Does that weaken the tradition, strengthen it, or neither? Defend your answer with a criterion you would apply elsewhere.</a:t>
            </a:r>
            <a:endParaRPr lang="en-US" sz="1550" dirty="0"/>
          </a:p>
        </p:txBody>
      </p:sp>
      <p:sp>
        <p:nvSpPr>
          <p:cNvPr id="13" name="Shape 11"/>
          <p:cNvSpPr/>
          <p:nvPr/>
        </p:nvSpPr>
        <p:spPr>
          <a:xfrm>
            <a:off x="640080" y="4608576"/>
            <a:ext cx="10911535" cy="1298448"/>
          </a:xfrm>
          <a:prstGeom prst="roundRect">
            <a:avLst>
              <a:gd name="adj" fmla="val 5634"/>
            </a:avLst>
          </a:prstGeom>
          <a:solidFill>
            <a:srgbClr val="2C2620"/>
          </a:solidFill>
          <a:ln w="12700">
            <a:solidFill>
              <a:srgbClr val="2C2620"/>
            </a:solidFill>
            <a:prstDash val="solid"/>
          </a:ln>
        </p:spPr>
        <p:txBody>
          <a:bodyPr/>
          <a:lstStyle/>
          <a:p>
            <a:endParaRPr lang="en-US"/>
          </a:p>
        </p:txBody>
      </p:sp>
      <p:sp>
        <p:nvSpPr>
          <p:cNvPr id="14" name="Shape 12"/>
          <p:cNvSpPr/>
          <p:nvPr/>
        </p:nvSpPr>
        <p:spPr>
          <a:xfrm>
            <a:off x="1005840" y="5065776"/>
            <a:ext cx="384048" cy="384048"/>
          </a:xfrm>
          <a:prstGeom prst="ellipse">
            <a:avLst/>
          </a:prstGeom>
          <a:solidFill>
            <a:srgbClr val="B8422A"/>
          </a:solidFill>
          <a:ln/>
        </p:spPr>
        <p:txBody>
          <a:bodyPr/>
          <a:lstStyle/>
          <a:p>
            <a:endParaRPr lang="en-US"/>
          </a:p>
        </p:txBody>
      </p:sp>
      <p:sp>
        <p:nvSpPr>
          <p:cNvPr id="15" name="Text 13"/>
          <p:cNvSpPr txBox="1"/>
          <p:nvPr/>
        </p:nvSpPr>
        <p:spPr>
          <a:xfrm>
            <a:off x="1005840" y="506577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1691640" y="4791456"/>
            <a:ext cx="9509760" cy="960120"/>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mbria" pitchFamily="34" charset="0"/>
                <a:ea typeface="Cambria" pitchFamily="34" charset="-122"/>
                <a:cs typeface="Cambria" pitchFamily="34" charset="-120"/>
              </a:rPr>
              <a:t>The offence that produces the monsters is being discarded, not being made. What does a tradition gain by locating the wrong there — and what does it lose?</a:t>
            </a:r>
            <a:endParaRPr lang="en-US" sz="1550" dirty="0"/>
          </a:p>
        </p:txBody>
      </p:sp>
      <p:sp>
        <p:nvSpPr>
          <p:cNvPr id="17" name="Text 15"/>
          <p:cNvSpPr txBox="1"/>
          <p:nvPr/>
        </p:nvSpPr>
        <p:spPr>
          <a:xfrm>
            <a:off x="640080" y="5943600"/>
            <a:ext cx="10881360" cy="365760"/>
          </a:xfrm>
          <a:prstGeom prst="rect">
            <a:avLst/>
          </a:prstGeom>
          <a:noFill/>
          <a:ln/>
        </p:spPr>
        <p:txBody>
          <a:bodyPr wrap="square" lIns="0" tIns="0" rIns="0" bIns="0" rtlCol="0" anchor="ctr"/>
          <a:lstStyle/>
          <a:p>
            <a:pPr marL="0" indent="0">
              <a:buNone/>
            </a:pPr>
            <a:r>
              <a:rPr lang="en-US" sz="1350" i="1" dirty="0">
                <a:solidFill>
                  <a:srgbClr val="D4B36A"/>
                </a:solidFill>
                <a:latin typeface="Calibri" pitchFamily="34" charset="0"/>
                <a:ea typeface="Calibri" pitchFamily="34" charset="-122"/>
                <a:cs typeface="Calibri" pitchFamily="34" charset="-120"/>
              </a:rPr>
              <a:t>On question one: the closest most rooms get is the ending of the Blade Runner films, and it is worth asking why that is the closest.</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181410"/>
        </a:solidFill>
        <a:effectLst/>
      </p:bgPr>
    </p:bg>
    <p:spTree>
      <p:nvGrpSpPr>
        <p:cNvPr id="1" name=""/>
        <p:cNvGrpSpPr/>
        <p:nvPr/>
      </p:nvGrpSpPr>
      <p:grpSpPr>
        <a:xfrm>
          <a:off x="0" y="0"/>
          <a:ext cx="0" cy="0"/>
          <a:chOff x="0" y="0"/>
          <a:chExt cx="0" cy="0"/>
        </a:xfrm>
      </p:grpSpPr>
      <p:sp>
        <p:nvSpPr>
          <p:cNvPr id="2" name="Shape 0"/>
          <p:cNvSpPr/>
          <p:nvPr/>
        </p:nvSpPr>
        <p:spPr>
          <a:xfrm>
            <a:off x="8778240" y="1417320"/>
            <a:ext cx="2651760" cy="2651760"/>
          </a:xfrm>
          <a:prstGeom prst="ellipse">
            <a:avLst/>
          </a:prstGeom>
          <a:solidFill>
            <a:srgbClr val="B8422A">
              <a:alpha val="65000"/>
            </a:srgbClr>
          </a:solidFill>
          <a:ln/>
        </p:spPr>
        <p:txBody>
          <a:bodyPr/>
          <a:lstStyle/>
          <a:p>
            <a:endParaRPr lang="en-US"/>
          </a:p>
        </p:txBody>
      </p:sp>
      <p:sp>
        <p:nvSpPr>
          <p:cNvPr id="3" name="Shape 1"/>
          <p:cNvSpPr/>
          <p:nvPr/>
        </p:nvSpPr>
        <p:spPr>
          <a:xfrm>
            <a:off x="9646920" y="2286000"/>
            <a:ext cx="1188720" cy="1188720"/>
          </a:xfrm>
          <a:prstGeom prst="ellipse">
            <a:avLst/>
          </a:prstGeom>
          <a:solidFill>
            <a:srgbClr val="9C7C38">
              <a:alpha val="7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DE8C74"/>
                </a:solidFill>
                <a:latin typeface="Calibri" pitchFamily="34" charset="0"/>
                <a:ea typeface="Calibri" pitchFamily="34" charset="-122"/>
                <a:cs typeface="Calibri" pitchFamily="34" charset="-120"/>
              </a:rPr>
              <a:t>PART THREE</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800" b="1" dirty="0">
                <a:solidFill>
                  <a:srgbClr val="F5EFE3"/>
                </a:solidFill>
                <a:latin typeface="Cambria" pitchFamily="34" charset="0"/>
                <a:ea typeface="Cambria" pitchFamily="34" charset="-122"/>
                <a:cs typeface="Cambria" pitchFamily="34" charset="-120"/>
              </a:rPr>
              <a:t>Sekien</a:t>
            </a:r>
            <a:endParaRPr lang="en-US" sz="38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Gazu Hyakki Tsurezure Bukuro, 1784</a:t>
            </a:r>
            <a:endParaRPr lang="en-US" sz="1500" dirty="0"/>
          </a:p>
        </p:txBody>
      </p:sp>
      <p:sp>
        <p:nvSpPr>
          <p:cNvPr id="7" name="Shape 5"/>
          <p:cNvSpPr/>
          <p:nvPr/>
        </p:nvSpPr>
        <p:spPr>
          <a:xfrm>
            <a:off x="640080" y="3913632"/>
            <a:ext cx="2377440" cy="18288"/>
          </a:xfrm>
          <a:prstGeom prst="rect">
            <a:avLst/>
          </a:prstGeom>
          <a:solidFill>
            <a:srgbClr val="9C7C38"/>
          </a:solidFill>
          <a:ln/>
        </p:spPr>
        <p:txBody>
          <a:bodyPr/>
          <a:lstStyle/>
          <a:p>
            <a:endParaRPr lang="en-US"/>
          </a:p>
        </p:txBody>
      </p:sp>
      <p:sp>
        <p:nvSpPr>
          <p:cNvPr id="8" name="Text 6"/>
          <p:cNvSpPr txBox="1"/>
          <p:nvPr/>
        </p:nvSpPr>
        <p:spPr>
          <a:xfrm>
            <a:off x="640080" y="4133088"/>
            <a:ext cx="7680960" cy="777240"/>
          </a:xfrm>
          <a:prstGeom prst="rect">
            <a:avLst/>
          </a:prstGeom>
          <a:noFill/>
          <a:ln/>
        </p:spPr>
        <p:txBody>
          <a:bodyPr wrap="square" lIns="0" tIns="0" rIns="0" bIns="0" rtlCol="0" anchor="ctr"/>
          <a:lstStyle/>
          <a:p>
            <a:pPr marL="0" indent="0">
              <a:lnSpc>
                <a:spcPts val="2500"/>
              </a:lnSpc>
              <a:buNone/>
            </a:pPr>
            <a:r>
              <a:rPr lang="en-US" sz="1850" i="1" dirty="0">
                <a:solidFill>
                  <a:srgbClr val="D4B36A"/>
                </a:solidFill>
                <a:latin typeface="Cambria" pitchFamily="34" charset="0"/>
                <a:ea typeface="Cambria" pitchFamily="34" charset="-122"/>
                <a:cs typeface="Cambria" pitchFamily="34" charset="-120"/>
              </a:rPr>
              <a:t>A doctrine becomes a picture book — and the picture book becomes the doctrine.</a:t>
            </a:r>
            <a:endParaRPr lang="en-US" sz="1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CONTEXT</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Toriyama Sekien, 1712–1788</a:t>
            </a:r>
            <a:endParaRPr lang="en-US" sz="3000" dirty="0"/>
          </a:p>
        </p:txBody>
      </p:sp>
      <p:sp>
        <p:nvSpPr>
          <p:cNvPr id="5" name="Shape 3"/>
          <p:cNvSpPr/>
          <p:nvPr/>
        </p:nvSpPr>
        <p:spPr>
          <a:xfrm>
            <a:off x="640080" y="1572768"/>
            <a:ext cx="5852160" cy="2194560"/>
          </a:xfrm>
          <a:prstGeom prst="roundRect">
            <a:avLst>
              <a:gd name="adj" fmla="val 3333"/>
            </a:avLst>
          </a:prstGeom>
          <a:solidFill>
            <a:srgbClr val="F0E8D8"/>
          </a:solidFill>
          <a:ln w="12700">
            <a:solidFill>
              <a:srgbClr val="F0E8D8"/>
            </a:solidFill>
            <a:prstDash val="solid"/>
          </a:ln>
        </p:spPr>
        <p:txBody>
          <a:bodyPr/>
          <a:lstStyle/>
          <a:p>
            <a:endParaRPr lang="en-US"/>
          </a:p>
        </p:txBody>
      </p:sp>
      <p:sp>
        <p:nvSpPr>
          <p:cNvPr id="6" name="Text 4"/>
          <p:cNvSpPr txBox="1"/>
          <p:nvPr/>
        </p:nvSpPr>
        <p:spPr>
          <a:xfrm>
            <a:off x="1005840" y="1773936"/>
            <a:ext cx="5120640" cy="329184"/>
          </a:xfrm>
          <a:prstGeom prst="rect">
            <a:avLst/>
          </a:prstGeom>
          <a:noFill/>
          <a:ln/>
        </p:spPr>
        <p:txBody>
          <a:bodyPr wrap="square" lIns="0" tIns="0" rIns="0" bIns="0" rtlCol="0" anchor="ctr"/>
          <a:lstStyle/>
          <a:p>
            <a:pPr marL="0" indent="0">
              <a:buNone/>
            </a:pPr>
            <a:r>
              <a:rPr lang="en-US" sz="1800" b="1" dirty="0">
                <a:solidFill>
                  <a:srgbClr val="181410"/>
                </a:solidFill>
                <a:latin typeface="Cambria" pitchFamily="34" charset="0"/>
                <a:ea typeface="Cambria" pitchFamily="34" charset="-122"/>
                <a:cs typeface="Cambria" pitchFamily="34" charset="-120"/>
              </a:rPr>
              <a:t>The artist</a:t>
            </a:r>
            <a:endParaRPr lang="en-US" sz="1800" dirty="0"/>
          </a:p>
        </p:txBody>
      </p:sp>
      <p:sp>
        <p:nvSpPr>
          <p:cNvPr id="7" name="Text 5"/>
          <p:cNvSpPr txBox="1"/>
          <p:nvPr/>
        </p:nvSpPr>
        <p:spPr>
          <a:xfrm>
            <a:off x="1005840" y="2212848"/>
            <a:ext cx="5166360" cy="1463040"/>
          </a:xfrm>
          <a:prstGeom prst="rect">
            <a:avLst/>
          </a:prstGeom>
          <a:noFill/>
          <a:ln/>
        </p:spPr>
        <p:txBody>
          <a:bodyPr wrap="square" lIns="0" tIns="0" rIns="0" bIns="0" rtlCol="0" anchor="ctr"/>
          <a:lstStyle/>
          <a:p>
            <a:pPr marL="342900" indent="-342900">
              <a:lnSpc>
                <a:spcPts val="1700"/>
              </a:lnSpc>
              <a:spcAft>
                <a:spcPts val="600"/>
              </a:spcAft>
              <a:buSzPct val="100000"/>
              <a:buChar char="•"/>
            </a:pPr>
            <a:r>
              <a:rPr lang="en-US" sz="1250" dirty="0">
                <a:solidFill>
                  <a:srgbClr val="6A6259"/>
                </a:solidFill>
                <a:latin typeface="Calibri" pitchFamily="34" charset="0"/>
                <a:ea typeface="Calibri" pitchFamily="34" charset="-122"/>
                <a:cs typeface="Calibri" pitchFamily="34" charset="-120"/>
              </a:rPr>
              <a:t>A trained painter who moved into the commercial print world of Edo and taught pupils who became far more famous than he was.</a:t>
            </a:r>
            <a:endParaRPr lang="en-US" sz="1250" dirty="0"/>
          </a:p>
          <a:p>
            <a:pPr marL="342900" indent="-342900">
              <a:lnSpc>
                <a:spcPts val="1700"/>
              </a:lnSpc>
              <a:spcAft>
                <a:spcPts val="600"/>
              </a:spcAft>
              <a:buSzPct val="100000"/>
              <a:buChar char="•"/>
            </a:pPr>
            <a:r>
              <a:rPr lang="en-US" sz="1250" dirty="0">
                <a:solidFill>
                  <a:srgbClr val="6A6259"/>
                </a:solidFill>
                <a:latin typeface="Calibri" pitchFamily="34" charset="0"/>
                <a:ea typeface="Calibri" pitchFamily="34" charset="-122"/>
                <a:cs typeface="Calibri" pitchFamily="34" charset="-120"/>
              </a:rPr>
              <a:t>His innovation was format: earlier yokai compendia were one-off painted scrolls seen by a handful of people. Sekien put them in woodblock-printed bound books that could be reproduced and sold.</a:t>
            </a:r>
            <a:endParaRPr lang="en-US" sz="1250" dirty="0"/>
          </a:p>
          <a:p>
            <a:pPr marL="342900" indent="-342900">
              <a:lnSpc>
                <a:spcPts val="1700"/>
              </a:lnSpc>
              <a:spcAft>
                <a:spcPts val="600"/>
              </a:spcAft>
              <a:buSzPct val="100000"/>
              <a:buChar char="•"/>
            </a:pPr>
            <a:r>
              <a:rPr lang="en-US" sz="1250" dirty="0">
                <a:solidFill>
                  <a:srgbClr val="6A6259"/>
                </a:solidFill>
                <a:latin typeface="Calibri" pitchFamily="34" charset="0"/>
                <a:ea typeface="Calibri" pitchFamily="34" charset="-122"/>
                <a:cs typeface="Calibri" pitchFamily="34" charset="-120"/>
              </a:rPr>
              <a:t>The result is the first mass-market monster reference, and it fixed the appearance of yokai for everyone who came after.</a:t>
            </a:r>
            <a:endParaRPr lang="en-US" sz="1250" dirty="0"/>
          </a:p>
        </p:txBody>
      </p:sp>
      <p:sp>
        <p:nvSpPr>
          <p:cNvPr id="8" name="Shape 6"/>
          <p:cNvSpPr/>
          <p:nvPr/>
        </p:nvSpPr>
        <p:spPr>
          <a:xfrm>
            <a:off x="6812280" y="1572768"/>
            <a:ext cx="4718304" cy="2194560"/>
          </a:xfrm>
          <a:prstGeom prst="roundRect">
            <a:avLst>
              <a:gd name="adj" fmla="val 3333"/>
            </a:avLst>
          </a:prstGeom>
          <a:solidFill>
            <a:srgbClr val="E6EAF2"/>
          </a:solidFill>
          <a:ln w="12700">
            <a:solidFill>
              <a:srgbClr val="E6EAF2"/>
            </a:solidFill>
            <a:prstDash val="solid"/>
          </a:ln>
        </p:spPr>
        <p:txBody>
          <a:bodyPr/>
          <a:lstStyle/>
          <a:p>
            <a:endParaRPr lang="en-US"/>
          </a:p>
        </p:txBody>
      </p:sp>
      <p:sp>
        <p:nvSpPr>
          <p:cNvPr id="9" name="Text 7"/>
          <p:cNvSpPr txBox="1"/>
          <p:nvPr/>
        </p:nvSpPr>
        <p:spPr>
          <a:xfrm>
            <a:off x="7086600" y="1773936"/>
            <a:ext cx="4169664" cy="329184"/>
          </a:xfrm>
          <a:prstGeom prst="rect">
            <a:avLst/>
          </a:prstGeom>
          <a:noFill/>
          <a:ln/>
        </p:spPr>
        <p:txBody>
          <a:bodyPr wrap="square" lIns="0" tIns="0" rIns="0" bIns="0" rtlCol="0" anchor="ctr"/>
          <a:lstStyle/>
          <a:p>
            <a:pPr marL="0" indent="0">
              <a:buNone/>
            </a:pPr>
            <a:r>
              <a:rPr lang="en-US" sz="1800" b="1" dirty="0">
                <a:solidFill>
                  <a:srgbClr val="181410"/>
                </a:solidFill>
                <a:latin typeface="Cambria" pitchFamily="34" charset="0"/>
                <a:ea typeface="Cambria" pitchFamily="34" charset="-122"/>
                <a:cs typeface="Cambria" pitchFamily="34" charset="-120"/>
              </a:rPr>
              <a:t>The tetralogy</a:t>
            </a:r>
            <a:endParaRPr lang="en-US" sz="1800" dirty="0"/>
          </a:p>
        </p:txBody>
      </p:sp>
      <p:sp>
        <p:nvSpPr>
          <p:cNvPr id="10" name="Text 8"/>
          <p:cNvSpPr txBox="1"/>
          <p:nvPr/>
        </p:nvSpPr>
        <p:spPr>
          <a:xfrm>
            <a:off x="7086600" y="2212848"/>
            <a:ext cx="4169664" cy="146304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50" dirty="0">
                <a:solidFill>
                  <a:srgbClr val="6A6259"/>
                </a:solidFill>
                <a:latin typeface="Calibri" pitchFamily="34" charset="0"/>
                <a:ea typeface="Calibri" pitchFamily="34" charset="-122"/>
                <a:cs typeface="Calibri" pitchFamily="34" charset="-120"/>
              </a:rPr>
              <a:t>Gazu Hyakki Yagyō — 1776</a:t>
            </a:r>
            <a:endParaRPr lang="en-US" sz="1250" dirty="0"/>
          </a:p>
          <a:p>
            <a:pPr marL="342900" indent="-342900">
              <a:lnSpc>
                <a:spcPts val="1700"/>
              </a:lnSpc>
              <a:spcAft>
                <a:spcPts val="700"/>
              </a:spcAft>
              <a:buSzPct val="100000"/>
              <a:buChar char="•"/>
            </a:pPr>
            <a:r>
              <a:rPr lang="en-US" sz="1250" dirty="0">
                <a:solidFill>
                  <a:srgbClr val="6A6259"/>
                </a:solidFill>
                <a:latin typeface="Calibri" pitchFamily="34" charset="0"/>
                <a:ea typeface="Calibri" pitchFamily="34" charset="-122"/>
                <a:cs typeface="Calibri" pitchFamily="34" charset="-120"/>
              </a:rPr>
              <a:t>Konjaku Gazu Zoku Hyakki — late 1770s</a:t>
            </a:r>
            <a:endParaRPr lang="en-US" sz="1250" dirty="0"/>
          </a:p>
          <a:p>
            <a:pPr marL="342900" indent="-342900">
              <a:lnSpc>
                <a:spcPts val="1700"/>
              </a:lnSpc>
              <a:spcAft>
                <a:spcPts val="700"/>
              </a:spcAft>
              <a:buSzPct val="100000"/>
              <a:buChar char="•"/>
            </a:pPr>
            <a:r>
              <a:rPr lang="en-US" sz="1250" dirty="0">
                <a:solidFill>
                  <a:srgbClr val="6A6259"/>
                </a:solidFill>
                <a:latin typeface="Calibri" pitchFamily="34" charset="0"/>
                <a:ea typeface="Calibri" pitchFamily="34" charset="-122"/>
                <a:cs typeface="Calibri" pitchFamily="34" charset="-120"/>
              </a:rPr>
              <a:t>Konjaku Hyakki Shūi — 1781</a:t>
            </a:r>
            <a:endParaRPr lang="en-US" sz="1250" dirty="0"/>
          </a:p>
          <a:p>
            <a:pPr marL="342900" indent="-342900">
              <a:lnSpc>
                <a:spcPts val="1700"/>
              </a:lnSpc>
              <a:spcAft>
                <a:spcPts val="700"/>
              </a:spcAft>
              <a:buSzPct val="100000"/>
              <a:buChar char="•"/>
            </a:pPr>
            <a:r>
              <a:rPr lang="en-US" sz="1250" dirty="0">
                <a:solidFill>
                  <a:srgbClr val="6A6259"/>
                </a:solidFill>
                <a:latin typeface="Calibri" pitchFamily="34" charset="0"/>
                <a:ea typeface="Calibri" pitchFamily="34" charset="-122"/>
                <a:cs typeface="Calibri" pitchFamily="34" charset="-120"/>
              </a:rPr>
              <a:t>Gazu Hyakki Tsurezure Bukuro — 1784, and ours</a:t>
            </a:r>
            <a:endParaRPr lang="en-US" sz="1250" dirty="0"/>
          </a:p>
        </p:txBody>
      </p:sp>
      <p:sp>
        <p:nvSpPr>
          <p:cNvPr id="11" name="Shape 9"/>
          <p:cNvSpPr/>
          <p:nvPr/>
        </p:nvSpPr>
        <p:spPr>
          <a:xfrm>
            <a:off x="640080" y="3977640"/>
            <a:ext cx="10911535" cy="1783080"/>
          </a:xfrm>
          <a:prstGeom prst="roundRect">
            <a:avLst>
              <a:gd name="adj" fmla="val 4103"/>
            </a:avLst>
          </a:prstGeom>
          <a:solidFill>
            <a:srgbClr val="181410"/>
          </a:solidFill>
          <a:ln w="12700">
            <a:solidFill>
              <a:srgbClr val="181410"/>
            </a:solidFill>
            <a:prstDash val="solid"/>
          </a:ln>
        </p:spPr>
        <p:txBody>
          <a:bodyPr/>
          <a:lstStyle/>
          <a:p>
            <a:endParaRPr lang="en-US"/>
          </a:p>
        </p:txBody>
      </p:sp>
      <p:sp>
        <p:nvSpPr>
          <p:cNvPr id="12" name="Text 10"/>
          <p:cNvSpPr txBox="1"/>
          <p:nvPr/>
        </p:nvSpPr>
        <p:spPr>
          <a:xfrm>
            <a:off x="1005840" y="4160520"/>
            <a:ext cx="10424160" cy="274320"/>
          </a:xfrm>
          <a:prstGeom prst="rect">
            <a:avLst/>
          </a:prstGeom>
          <a:noFill/>
          <a:ln/>
        </p:spPr>
        <p:txBody>
          <a:bodyPr wrap="square" lIns="0" tIns="0" rIns="0" bIns="0" rtlCol="0" anchor="ctr"/>
          <a:lstStyle/>
          <a:p>
            <a:pPr marL="0" indent="0">
              <a:buNone/>
            </a:pPr>
            <a:r>
              <a:rPr lang="en-US" sz="1150" b="1" kern="0" spc="140" dirty="0">
                <a:solidFill>
                  <a:srgbClr val="D4B36A"/>
                </a:solidFill>
                <a:latin typeface="Calibri" pitchFamily="34" charset="0"/>
                <a:ea typeface="Calibri" pitchFamily="34" charset="-122"/>
                <a:cs typeface="Calibri" pitchFamily="34" charset="-120"/>
              </a:rPr>
              <a:t>Why the printing press matters to our question</a:t>
            </a:r>
            <a:endParaRPr lang="en-US" sz="1150" dirty="0"/>
          </a:p>
        </p:txBody>
      </p:sp>
      <p:sp>
        <p:nvSpPr>
          <p:cNvPr id="13" name="Text 11"/>
          <p:cNvSpPr txBox="1"/>
          <p:nvPr/>
        </p:nvSpPr>
        <p:spPr>
          <a:xfrm>
            <a:off x="1005840" y="4507992"/>
            <a:ext cx="10424160" cy="1069848"/>
          </a:xfrm>
          <a:prstGeom prst="rect">
            <a:avLst/>
          </a:prstGeom>
          <a:noFill/>
          <a:ln/>
        </p:spPr>
        <p:txBody>
          <a:bodyPr wrap="square" lIns="0" tIns="0" rIns="0" bIns="0" rtlCol="0" anchor="ctr"/>
          <a:lstStyle/>
          <a:p>
            <a:pPr marL="0" indent="0">
              <a:lnSpc>
                <a:spcPts val="2100"/>
              </a:lnSpc>
              <a:buNone/>
            </a:pPr>
            <a:r>
              <a:rPr lang="en-US" sz="1550" dirty="0">
                <a:solidFill>
                  <a:srgbClr val="F5EFE3"/>
                </a:solidFill>
                <a:latin typeface="Cambria" pitchFamily="34" charset="0"/>
                <a:ea typeface="Cambria" pitchFamily="34" charset="-122"/>
                <a:cs typeface="Cambria" pitchFamily="34" charset="-120"/>
              </a:rPr>
              <a:t>A hundred-year doctrine about kept objects reaches the eighteenth century and is turned into a product: reproducible, purchasable, and designed to be looked at rather than believed. The tradition we are borrowing from was already, by 1784, partly a commercial artefact — which is worth remembering before we contrast it with our own commercial artefacts.</a:t>
            </a:r>
            <a:endParaRPr lang="en-US" sz="1550" dirty="0"/>
          </a:p>
        </p:txBody>
      </p:sp>
      <p:sp>
        <p:nvSpPr>
          <p:cNvPr id="14" name="Text 12"/>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6A6259"/>
                </a:solidFill>
                <a:latin typeface="Calibri" pitchFamily="34" charset="0"/>
                <a:ea typeface="Calibri" pitchFamily="34" charset="-122"/>
                <a:cs typeface="Calibri" pitchFamily="34" charset="-120"/>
              </a:rPr>
              <a:t>The 1784 edition is digitised and freely viewable through the National Diet Library. English translation: Hiroko Yoda and Matt Alt, Japandemonium Illustrated: The Yokai Encyclopedias of Toriyama Sekien (Dover, 2016).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THE TITLE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A pun, and what it tells you about the book</a:t>
            </a:r>
            <a:endParaRPr lang="en-US" sz="3000" dirty="0"/>
          </a:p>
        </p:txBody>
      </p:sp>
      <p:sp>
        <p:nvSpPr>
          <p:cNvPr id="5" name="Shape 3"/>
          <p:cNvSpPr/>
          <p:nvPr/>
        </p:nvSpPr>
        <p:spPr>
          <a:xfrm>
            <a:off x="640080" y="1572768"/>
            <a:ext cx="6035040" cy="2651760"/>
          </a:xfrm>
          <a:prstGeom prst="roundRect">
            <a:avLst>
              <a:gd name="adj" fmla="val 2759"/>
            </a:avLst>
          </a:prstGeom>
          <a:solidFill>
            <a:srgbClr val="181410"/>
          </a:solidFill>
          <a:ln w="12700">
            <a:solidFill>
              <a:srgbClr val="181410"/>
            </a:solidFill>
            <a:prstDash val="solid"/>
          </a:ln>
        </p:spPr>
        <p:txBody>
          <a:bodyPr/>
          <a:lstStyle/>
          <a:p>
            <a:endParaRPr lang="en-US"/>
          </a:p>
        </p:txBody>
      </p:sp>
      <p:sp>
        <p:nvSpPr>
          <p:cNvPr id="6" name="Text 4"/>
          <p:cNvSpPr txBox="1"/>
          <p:nvPr/>
        </p:nvSpPr>
        <p:spPr>
          <a:xfrm>
            <a:off x="1005840" y="1810512"/>
            <a:ext cx="5303520" cy="365760"/>
          </a:xfrm>
          <a:prstGeom prst="rect">
            <a:avLst/>
          </a:prstGeom>
          <a:noFill/>
          <a:ln/>
        </p:spPr>
        <p:txBody>
          <a:bodyPr wrap="square" lIns="0" tIns="0" rIns="0" bIns="0" rtlCol="0" anchor="ctr"/>
          <a:lstStyle/>
          <a:p>
            <a:pPr marL="0" indent="0">
              <a:buNone/>
            </a:pPr>
            <a:r>
              <a:rPr lang="en-US" sz="1900" b="1" dirty="0">
                <a:solidFill>
                  <a:srgbClr val="D4B36A"/>
                </a:solidFill>
                <a:latin typeface="Cambria" pitchFamily="34" charset="0"/>
                <a:ea typeface="Cambria" pitchFamily="34" charset="-122"/>
                <a:cs typeface="Cambria" pitchFamily="34" charset="-120"/>
              </a:rPr>
              <a:t>Hyakki — with the wrong character</a:t>
            </a:r>
            <a:endParaRPr lang="en-US" sz="1900" dirty="0"/>
          </a:p>
        </p:txBody>
      </p:sp>
      <p:sp>
        <p:nvSpPr>
          <p:cNvPr id="7" name="Text 5"/>
          <p:cNvSpPr txBox="1"/>
          <p:nvPr/>
        </p:nvSpPr>
        <p:spPr>
          <a:xfrm>
            <a:off x="1005840" y="2286000"/>
            <a:ext cx="5349240" cy="1783080"/>
          </a:xfrm>
          <a:prstGeom prst="rect">
            <a:avLst/>
          </a:prstGeom>
          <a:noFill/>
          <a:ln/>
        </p:spPr>
        <p:txBody>
          <a:bodyPr wrap="square" lIns="0" tIns="0" rIns="0" bIns="0" rtlCol="0" anchor="ctr"/>
          <a:lstStyle/>
          <a:p>
            <a:pPr marL="0" indent="0">
              <a:lnSpc>
                <a:spcPts val="1900"/>
              </a:lnSpc>
              <a:buNone/>
            </a:pPr>
            <a:r>
              <a:rPr lang="en-US" sz="1300" dirty="0">
                <a:solidFill>
                  <a:srgbClr val="F5EFE3"/>
                </a:solidFill>
                <a:latin typeface="Calibri" pitchFamily="34" charset="0"/>
                <a:ea typeface="Calibri" pitchFamily="34" charset="-122"/>
                <a:cs typeface="Calibri" pitchFamily="34" charset="-120"/>
              </a:rPr>
              <a:t>The standard phrase means “a hundred demons” and evokes the night parade. Sekien keeps the sound and swaps the second character for the one meaning vessel or implement. A hundred demons becomes a hundred tools.</a:t>
            </a:r>
            <a:endParaRPr lang="en-US" sz="1300" dirty="0"/>
          </a:p>
          <a:p>
            <a:pPr marL="0" indent="0">
              <a:lnSpc>
                <a:spcPts val="1900"/>
              </a:lnSpc>
              <a:buNone/>
            </a:pPr>
            <a:endParaRPr lang="en-US" sz="1300" dirty="0"/>
          </a:p>
          <a:p>
            <a:pPr marL="0" indent="0">
              <a:lnSpc>
                <a:spcPts val="1900"/>
              </a:lnSpc>
              <a:buNone/>
            </a:pPr>
            <a:r>
              <a:rPr lang="en-US" sz="1300" dirty="0">
                <a:solidFill>
                  <a:srgbClr val="F5EFE3"/>
                </a:solidFill>
                <a:latin typeface="Calibri" pitchFamily="34" charset="0"/>
                <a:ea typeface="Calibri" pitchFamily="34" charset="-122"/>
                <a:cs typeface="Calibri" pitchFamily="34" charset="-120"/>
              </a:rPr>
              <a:t>And tsurezure bukuro — an idle bag, a bag of odds and ends — nods at Tsurezuregusa, the fourteenth-century Essays in Idleness. Several of the creatures are built from lines in it.</a:t>
            </a:r>
            <a:endParaRPr lang="en-US" sz="1300" dirty="0"/>
          </a:p>
        </p:txBody>
      </p:sp>
      <p:sp>
        <p:nvSpPr>
          <p:cNvPr id="8" name="Shape 6"/>
          <p:cNvSpPr/>
          <p:nvPr/>
        </p:nvSpPr>
        <p:spPr>
          <a:xfrm>
            <a:off x="6995160" y="1572768"/>
            <a:ext cx="4535424" cy="841248"/>
          </a:xfrm>
          <a:prstGeom prst="roundRect">
            <a:avLst>
              <a:gd name="adj" fmla="val 8696"/>
            </a:avLst>
          </a:prstGeom>
          <a:solidFill>
            <a:srgbClr val="F0E8D8"/>
          </a:solidFill>
          <a:ln w="12700">
            <a:solidFill>
              <a:srgbClr val="F0E8D8"/>
            </a:solidFill>
            <a:prstDash val="solid"/>
          </a:ln>
        </p:spPr>
        <p:txBody>
          <a:bodyPr/>
          <a:lstStyle/>
          <a:p>
            <a:endParaRPr lang="en-US"/>
          </a:p>
        </p:txBody>
      </p:sp>
      <p:sp>
        <p:nvSpPr>
          <p:cNvPr id="9" name="Text 7"/>
          <p:cNvSpPr txBox="1"/>
          <p:nvPr/>
        </p:nvSpPr>
        <p:spPr>
          <a:xfrm>
            <a:off x="7269480" y="1664208"/>
            <a:ext cx="3986784" cy="274320"/>
          </a:xfrm>
          <a:prstGeom prst="rect">
            <a:avLst/>
          </a:prstGeom>
          <a:noFill/>
          <a:ln/>
        </p:spPr>
        <p:txBody>
          <a:bodyPr wrap="square" lIns="0" tIns="0" rIns="0" bIns="0" rtlCol="0" anchor="ctr"/>
          <a:lstStyle/>
          <a:p>
            <a:pPr marL="0" indent="0">
              <a:buNone/>
            </a:pPr>
            <a:r>
              <a:rPr lang="en-US" sz="1400" b="1" dirty="0">
                <a:solidFill>
                  <a:srgbClr val="181410"/>
                </a:solidFill>
                <a:latin typeface="Cambria" pitchFamily="34" charset="0"/>
                <a:ea typeface="Cambria" pitchFamily="34" charset="-122"/>
                <a:cs typeface="Cambria" pitchFamily="34" charset="-120"/>
              </a:rPr>
              <a:t>Translators have had fun with it</a:t>
            </a:r>
            <a:endParaRPr lang="en-US" sz="1400" dirty="0"/>
          </a:p>
        </p:txBody>
      </p:sp>
      <p:sp>
        <p:nvSpPr>
          <p:cNvPr id="10" name="Text 8"/>
          <p:cNvSpPr txBox="1"/>
          <p:nvPr/>
        </p:nvSpPr>
        <p:spPr>
          <a:xfrm>
            <a:off x="7269480" y="1938528"/>
            <a:ext cx="3986784" cy="420624"/>
          </a:xfrm>
          <a:prstGeom prst="rect">
            <a:avLst/>
          </a:prstGeom>
          <a:noFill/>
          <a:ln/>
        </p:spPr>
        <p:txBody>
          <a:bodyPr wrap="square" lIns="0" tIns="0" rIns="0" bIns="0" rtlCol="0" anchor="ctr"/>
          <a:lstStyle/>
          <a:p>
            <a:pPr marL="0" indent="0">
              <a:lnSpc>
                <a:spcPts val="1400"/>
              </a:lnSpc>
              <a:buNone/>
            </a:pPr>
            <a:r>
              <a:rPr lang="en-US" sz="1100" dirty="0">
                <a:solidFill>
                  <a:srgbClr val="6A6259"/>
                </a:solidFill>
                <a:latin typeface="Calibri" pitchFamily="34" charset="0"/>
                <a:ea typeface="Calibri" pitchFamily="34" charset="-122"/>
                <a:cs typeface="Calibri" pitchFamily="34" charset="-120"/>
              </a:rPr>
              <a:t>Renderings range from the straight — The Illustrated Bag of One Hundred Random Demons — to the frankly better: A Horde of Haunted Housewares.</a:t>
            </a:r>
            <a:endParaRPr lang="en-US" sz="1100" dirty="0"/>
          </a:p>
        </p:txBody>
      </p:sp>
      <p:sp>
        <p:nvSpPr>
          <p:cNvPr id="11" name="Shape 9"/>
          <p:cNvSpPr/>
          <p:nvPr/>
        </p:nvSpPr>
        <p:spPr>
          <a:xfrm>
            <a:off x="6995160" y="2487168"/>
            <a:ext cx="4535424" cy="841248"/>
          </a:xfrm>
          <a:prstGeom prst="roundRect">
            <a:avLst>
              <a:gd name="adj" fmla="val 8696"/>
            </a:avLst>
          </a:prstGeom>
          <a:solidFill>
            <a:srgbClr val="E6EAF2"/>
          </a:solidFill>
          <a:ln w="12700">
            <a:solidFill>
              <a:srgbClr val="E6EAF2"/>
            </a:solidFill>
            <a:prstDash val="solid"/>
          </a:ln>
        </p:spPr>
        <p:txBody>
          <a:bodyPr/>
          <a:lstStyle/>
          <a:p>
            <a:endParaRPr lang="en-US"/>
          </a:p>
        </p:txBody>
      </p:sp>
      <p:sp>
        <p:nvSpPr>
          <p:cNvPr id="12" name="Text 10"/>
          <p:cNvSpPr txBox="1"/>
          <p:nvPr/>
        </p:nvSpPr>
        <p:spPr>
          <a:xfrm>
            <a:off x="7269480" y="2578608"/>
            <a:ext cx="3986784" cy="274320"/>
          </a:xfrm>
          <a:prstGeom prst="rect">
            <a:avLst/>
          </a:prstGeom>
          <a:noFill/>
          <a:ln/>
        </p:spPr>
        <p:txBody>
          <a:bodyPr wrap="square" lIns="0" tIns="0" rIns="0" bIns="0" rtlCol="0" anchor="ctr"/>
          <a:lstStyle/>
          <a:p>
            <a:pPr marL="0" indent="0">
              <a:buNone/>
            </a:pPr>
            <a:r>
              <a:rPr lang="en-US" sz="1400" b="1" dirty="0">
                <a:solidFill>
                  <a:srgbClr val="181410"/>
                </a:solidFill>
                <a:latin typeface="Cambria" pitchFamily="34" charset="0"/>
                <a:ea typeface="Cambria" pitchFamily="34" charset="-122"/>
                <a:cs typeface="Cambria" pitchFamily="34" charset="-120"/>
              </a:rPr>
              <a:t>The register is comic</a:t>
            </a:r>
            <a:endParaRPr lang="en-US" sz="1400" dirty="0"/>
          </a:p>
        </p:txBody>
      </p:sp>
      <p:sp>
        <p:nvSpPr>
          <p:cNvPr id="13" name="Text 11"/>
          <p:cNvSpPr txBox="1"/>
          <p:nvPr/>
        </p:nvSpPr>
        <p:spPr>
          <a:xfrm>
            <a:off x="7269480" y="2852928"/>
            <a:ext cx="3986784" cy="420624"/>
          </a:xfrm>
          <a:prstGeom prst="rect">
            <a:avLst/>
          </a:prstGeom>
          <a:noFill/>
          <a:ln/>
        </p:spPr>
        <p:txBody>
          <a:bodyPr wrap="square" lIns="0" tIns="0" rIns="0" bIns="0" rtlCol="0" anchor="ctr"/>
          <a:lstStyle/>
          <a:p>
            <a:pPr marL="0" indent="0">
              <a:lnSpc>
                <a:spcPts val="1400"/>
              </a:lnSpc>
              <a:buNone/>
            </a:pPr>
            <a:r>
              <a:rPr lang="en-US" sz="1100" dirty="0">
                <a:solidFill>
                  <a:srgbClr val="6A6259"/>
                </a:solidFill>
                <a:latin typeface="Calibri" pitchFamily="34" charset="0"/>
                <a:ea typeface="Calibri" pitchFamily="34" charset="-122"/>
                <a:cs typeface="Calibri" pitchFamily="34" charset="-120"/>
              </a:rPr>
              <a:t>This is not a devotional object. It is a witty, allusive book for literate Edo buyers who would catch the joke and the source. Take it seriously as art and lightly as testimony.</a:t>
            </a:r>
            <a:endParaRPr lang="en-US" sz="1100" dirty="0"/>
          </a:p>
        </p:txBody>
      </p:sp>
      <p:sp>
        <p:nvSpPr>
          <p:cNvPr id="14" name="Shape 12"/>
          <p:cNvSpPr/>
          <p:nvPr/>
        </p:nvSpPr>
        <p:spPr>
          <a:xfrm>
            <a:off x="6995160" y="3401568"/>
            <a:ext cx="4535424" cy="841248"/>
          </a:xfrm>
          <a:prstGeom prst="roundRect">
            <a:avLst>
              <a:gd name="adj" fmla="val 8696"/>
            </a:avLst>
          </a:prstGeom>
          <a:solidFill>
            <a:srgbClr val="F0E8D8"/>
          </a:solidFill>
          <a:ln w="12700">
            <a:solidFill>
              <a:srgbClr val="F0E8D8"/>
            </a:solidFill>
            <a:prstDash val="solid"/>
          </a:ln>
        </p:spPr>
        <p:txBody>
          <a:bodyPr/>
          <a:lstStyle/>
          <a:p>
            <a:endParaRPr lang="en-US"/>
          </a:p>
        </p:txBody>
      </p:sp>
      <p:sp>
        <p:nvSpPr>
          <p:cNvPr id="15" name="Text 13"/>
          <p:cNvSpPr txBox="1"/>
          <p:nvPr/>
        </p:nvSpPr>
        <p:spPr>
          <a:xfrm>
            <a:off x="7269480" y="3493008"/>
            <a:ext cx="3986784" cy="274320"/>
          </a:xfrm>
          <a:prstGeom prst="rect">
            <a:avLst/>
          </a:prstGeom>
          <a:noFill/>
          <a:ln/>
        </p:spPr>
        <p:txBody>
          <a:bodyPr wrap="square" lIns="0" tIns="0" rIns="0" bIns="0" rtlCol="0" anchor="ctr"/>
          <a:lstStyle/>
          <a:p>
            <a:pPr marL="0" indent="0">
              <a:buNone/>
            </a:pPr>
            <a:r>
              <a:rPr lang="en-US" sz="1400" b="1" dirty="0">
                <a:solidFill>
                  <a:srgbClr val="181410"/>
                </a:solidFill>
                <a:latin typeface="Cambria" pitchFamily="34" charset="0"/>
                <a:ea typeface="Cambria" pitchFamily="34" charset="-122"/>
                <a:cs typeface="Cambria" pitchFamily="34" charset="-120"/>
              </a:rPr>
              <a:t>And the joke is the thesis</a:t>
            </a:r>
            <a:endParaRPr lang="en-US" sz="1400" dirty="0"/>
          </a:p>
        </p:txBody>
      </p:sp>
      <p:sp>
        <p:nvSpPr>
          <p:cNvPr id="16" name="Text 14"/>
          <p:cNvSpPr txBox="1"/>
          <p:nvPr/>
        </p:nvSpPr>
        <p:spPr>
          <a:xfrm>
            <a:off x="7269480" y="3767328"/>
            <a:ext cx="3986784" cy="420624"/>
          </a:xfrm>
          <a:prstGeom prst="rect">
            <a:avLst/>
          </a:prstGeom>
          <a:noFill/>
          <a:ln/>
        </p:spPr>
        <p:txBody>
          <a:bodyPr wrap="square" lIns="0" tIns="0" rIns="0" bIns="0" rtlCol="0" anchor="ctr"/>
          <a:lstStyle/>
          <a:p>
            <a:pPr marL="0" indent="0">
              <a:lnSpc>
                <a:spcPts val="1400"/>
              </a:lnSpc>
              <a:buNone/>
            </a:pPr>
            <a:r>
              <a:rPr lang="en-US" sz="1100" dirty="0">
                <a:solidFill>
                  <a:srgbClr val="6A6259"/>
                </a:solidFill>
                <a:latin typeface="Calibri" pitchFamily="34" charset="0"/>
                <a:ea typeface="Calibri" pitchFamily="34" charset="-122"/>
                <a:cs typeface="Calibri" pitchFamily="34" charset="-120"/>
              </a:rPr>
              <a:t>Swapping demon for vessel is the whole argument of the volume performed in one character. The monsters here are the household goods.</a:t>
            </a:r>
            <a:endParaRPr lang="en-US" sz="1100" dirty="0"/>
          </a:p>
        </p:txBody>
      </p:sp>
      <p:sp>
        <p:nvSpPr>
          <p:cNvPr id="17" name="Shape 15"/>
          <p:cNvSpPr/>
          <p:nvPr/>
        </p:nvSpPr>
        <p:spPr>
          <a:xfrm>
            <a:off x="640080" y="4434840"/>
            <a:ext cx="6035040" cy="1325880"/>
          </a:xfrm>
          <a:prstGeom prst="roundRect">
            <a:avLst>
              <a:gd name="adj" fmla="val 5517"/>
            </a:avLst>
          </a:prstGeom>
          <a:solidFill>
            <a:srgbClr val="E6EAF2"/>
          </a:solidFill>
          <a:ln w="12700">
            <a:solidFill>
              <a:srgbClr val="E6EAF2"/>
            </a:solidFill>
            <a:prstDash val="solid"/>
          </a:ln>
        </p:spPr>
        <p:txBody>
          <a:bodyPr/>
          <a:lstStyle/>
          <a:p>
            <a:endParaRPr lang="en-US"/>
          </a:p>
        </p:txBody>
      </p:sp>
      <p:sp>
        <p:nvSpPr>
          <p:cNvPr id="18" name="Text 16"/>
          <p:cNvSpPr txBox="1"/>
          <p:nvPr/>
        </p:nvSpPr>
        <p:spPr>
          <a:xfrm>
            <a:off x="1005840" y="4434840"/>
            <a:ext cx="5303520" cy="1325880"/>
          </a:xfrm>
          <a:prstGeom prst="rect">
            <a:avLst/>
          </a:prstGeom>
          <a:noFill/>
          <a:ln/>
        </p:spPr>
        <p:txBody>
          <a:bodyPr wrap="square" lIns="0" tIns="0" rIns="0" bIns="0" rtlCol="0" anchor="ctr"/>
          <a:lstStyle/>
          <a:p>
            <a:pPr marL="0" indent="0">
              <a:lnSpc>
                <a:spcPts val="2000"/>
              </a:lnSpc>
              <a:buNone/>
            </a:pPr>
            <a:r>
              <a:rPr lang="en-US" sz="1450" dirty="0">
                <a:solidFill>
                  <a:srgbClr val="181410"/>
                </a:solidFill>
                <a:latin typeface="Cambria" pitchFamily="34" charset="0"/>
                <a:ea typeface="Cambria" pitchFamily="34" charset="-122"/>
                <a:cs typeface="Cambria" pitchFamily="34" charset="-120"/>
              </a:rPr>
              <a:t>Does a tradition transmitted as a joke transmit less well, or better? Most of what students know about any mythology reached them through comedy, games and merchandise.</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CLOSE LOOKING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Four plates, and what each one does</a:t>
            </a:r>
            <a:endParaRPr lang="en-US" sz="3000" dirty="0"/>
          </a:p>
        </p:txBody>
      </p:sp>
      <p:sp>
        <p:nvSpPr>
          <p:cNvPr id="5" name="Shape 3"/>
          <p:cNvSpPr/>
          <p:nvPr/>
        </p:nvSpPr>
        <p:spPr>
          <a:xfrm>
            <a:off x="640080" y="1554480"/>
            <a:ext cx="2556434" cy="3520440"/>
          </a:xfrm>
          <a:prstGeom prst="roundRect">
            <a:avLst>
              <a:gd name="adj" fmla="val 2861"/>
            </a:avLst>
          </a:prstGeom>
          <a:solidFill>
            <a:srgbClr val="F0E8D8"/>
          </a:solidFill>
          <a:ln w="12700">
            <a:solidFill>
              <a:srgbClr val="F0E8D8"/>
            </a:solidFill>
            <a:prstDash val="solid"/>
          </a:ln>
        </p:spPr>
        <p:txBody>
          <a:bodyPr/>
          <a:lstStyle/>
          <a:p>
            <a:endParaRPr lang="en-US"/>
          </a:p>
        </p:txBody>
      </p:sp>
      <p:sp>
        <p:nvSpPr>
          <p:cNvPr id="6" name="Text 4"/>
          <p:cNvSpPr txBox="1"/>
          <p:nvPr/>
        </p:nvSpPr>
        <p:spPr>
          <a:xfrm>
            <a:off x="896112" y="1783080"/>
            <a:ext cx="2044370" cy="411480"/>
          </a:xfrm>
          <a:prstGeom prst="rect">
            <a:avLst/>
          </a:prstGeom>
          <a:noFill/>
          <a:ln/>
        </p:spPr>
        <p:txBody>
          <a:bodyPr wrap="square" lIns="0" tIns="0" rIns="0" bIns="0" rtlCol="0" anchor="ctr"/>
          <a:lstStyle/>
          <a:p>
            <a:pPr marL="0" indent="0">
              <a:buNone/>
            </a:pPr>
            <a:r>
              <a:rPr lang="en-US" sz="1750" b="1" i="1" dirty="0">
                <a:solidFill>
                  <a:srgbClr val="B8422A"/>
                </a:solidFill>
                <a:latin typeface="Cambria" pitchFamily="34" charset="0"/>
                <a:ea typeface="Cambria" pitchFamily="34" charset="-122"/>
                <a:cs typeface="Cambria" pitchFamily="34" charset="-120"/>
              </a:rPr>
              <a:t>Ungaikyō</a:t>
            </a:r>
            <a:endParaRPr lang="en-US" sz="1750" dirty="0"/>
          </a:p>
        </p:txBody>
      </p:sp>
      <p:sp>
        <p:nvSpPr>
          <p:cNvPr id="7" name="Shape 5"/>
          <p:cNvSpPr/>
          <p:nvPr/>
        </p:nvSpPr>
        <p:spPr>
          <a:xfrm>
            <a:off x="896112" y="2267712"/>
            <a:ext cx="822960" cy="18288"/>
          </a:xfrm>
          <a:prstGeom prst="rect">
            <a:avLst/>
          </a:prstGeom>
          <a:solidFill>
            <a:srgbClr val="9C7C38"/>
          </a:solidFill>
          <a:ln/>
        </p:spPr>
        <p:txBody>
          <a:bodyPr/>
          <a:lstStyle/>
          <a:p>
            <a:endParaRPr lang="en-US"/>
          </a:p>
        </p:txBody>
      </p:sp>
      <p:sp>
        <p:nvSpPr>
          <p:cNvPr id="8" name="Text 6"/>
          <p:cNvSpPr txBox="1"/>
          <p:nvPr/>
        </p:nvSpPr>
        <p:spPr>
          <a:xfrm>
            <a:off x="896112" y="2432304"/>
            <a:ext cx="2044370" cy="2468880"/>
          </a:xfrm>
          <a:prstGeom prst="rect">
            <a:avLst/>
          </a:prstGeom>
          <a:noFill/>
          <a:ln/>
        </p:spPr>
        <p:txBody>
          <a:bodyPr wrap="square" lIns="0" tIns="0" rIns="0" bIns="0" rtlCol="0" anchor="ctr"/>
          <a:lstStyle/>
          <a:p>
            <a:pPr marL="0" indent="0">
              <a:lnSpc>
                <a:spcPts val="1600"/>
              </a:lnSpc>
              <a:buNone/>
            </a:pPr>
            <a:r>
              <a:rPr lang="en-US" sz="1150" dirty="0">
                <a:solidFill>
                  <a:srgbClr val="6A6259"/>
                </a:solidFill>
                <a:latin typeface="Calibri" pitchFamily="34" charset="0"/>
                <a:ea typeface="Calibri" pitchFamily="34" charset="-122"/>
                <a:cs typeface="Calibri" pitchFamily="34" charset="-120"/>
              </a:rPr>
              <a:t>The mirror beyond the clouds. A face surfaces on the glass. Sekien’s own invention, developed from an older idea of a mirror that reveals demons — so the question the image raises is whether the mirror has become something, or is only showing you something.</a:t>
            </a:r>
            <a:endParaRPr lang="en-US" sz="1150" dirty="0"/>
          </a:p>
        </p:txBody>
      </p:sp>
      <p:sp>
        <p:nvSpPr>
          <p:cNvPr id="9" name="Shape 7"/>
          <p:cNvSpPr/>
          <p:nvPr/>
        </p:nvSpPr>
        <p:spPr>
          <a:xfrm>
            <a:off x="3425114" y="1554480"/>
            <a:ext cx="2556434" cy="3520440"/>
          </a:xfrm>
          <a:prstGeom prst="roundRect">
            <a:avLst>
              <a:gd name="adj" fmla="val 2861"/>
            </a:avLst>
          </a:prstGeom>
          <a:solidFill>
            <a:srgbClr val="E6EAF2"/>
          </a:solidFill>
          <a:ln w="12700">
            <a:solidFill>
              <a:srgbClr val="E6EAF2"/>
            </a:solidFill>
            <a:prstDash val="solid"/>
          </a:ln>
        </p:spPr>
        <p:txBody>
          <a:bodyPr/>
          <a:lstStyle/>
          <a:p>
            <a:endParaRPr lang="en-US"/>
          </a:p>
        </p:txBody>
      </p:sp>
      <p:sp>
        <p:nvSpPr>
          <p:cNvPr id="10" name="Text 8"/>
          <p:cNvSpPr txBox="1"/>
          <p:nvPr/>
        </p:nvSpPr>
        <p:spPr>
          <a:xfrm>
            <a:off x="3681146" y="1783080"/>
            <a:ext cx="2044370" cy="411480"/>
          </a:xfrm>
          <a:prstGeom prst="rect">
            <a:avLst/>
          </a:prstGeom>
          <a:noFill/>
          <a:ln/>
        </p:spPr>
        <p:txBody>
          <a:bodyPr wrap="square" lIns="0" tIns="0" rIns="0" bIns="0" rtlCol="0" anchor="ctr"/>
          <a:lstStyle/>
          <a:p>
            <a:pPr marL="0" indent="0">
              <a:buNone/>
            </a:pPr>
            <a:r>
              <a:rPr lang="en-US" sz="1750" b="1" i="1" dirty="0">
                <a:solidFill>
                  <a:srgbClr val="B8422A"/>
                </a:solidFill>
                <a:latin typeface="Cambria" pitchFamily="34" charset="0"/>
                <a:ea typeface="Cambria" pitchFamily="34" charset="-122"/>
                <a:cs typeface="Cambria" pitchFamily="34" charset="-120"/>
              </a:rPr>
              <a:t>Biwa-bokuboku</a:t>
            </a:r>
            <a:endParaRPr lang="en-US" sz="1750" dirty="0"/>
          </a:p>
        </p:txBody>
      </p:sp>
      <p:sp>
        <p:nvSpPr>
          <p:cNvPr id="11" name="Shape 9"/>
          <p:cNvSpPr/>
          <p:nvPr/>
        </p:nvSpPr>
        <p:spPr>
          <a:xfrm>
            <a:off x="3681146" y="2267712"/>
            <a:ext cx="822960" cy="18288"/>
          </a:xfrm>
          <a:prstGeom prst="rect">
            <a:avLst/>
          </a:prstGeom>
          <a:solidFill>
            <a:srgbClr val="9C7C38"/>
          </a:solidFill>
          <a:ln/>
        </p:spPr>
        <p:txBody>
          <a:bodyPr/>
          <a:lstStyle/>
          <a:p>
            <a:endParaRPr lang="en-US"/>
          </a:p>
        </p:txBody>
      </p:sp>
      <p:sp>
        <p:nvSpPr>
          <p:cNvPr id="12" name="Text 10"/>
          <p:cNvSpPr txBox="1"/>
          <p:nvPr/>
        </p:nvSpPr>
        <p:spPr>
          <a:xfrm>
            <a:off x="3681146" y="2432304"/>
            <a:ext cx="2044370" cy="2468880"/>
          </a:xfrm>
          <a:prstGeom prst="rect">
            <a:avLst/>
          </a:prstGeom>
          <a:noFill/>
          <a:ln/>
        </p:spPr>
        <p:txBody>
          <a:bodyPr wrap="square" lIns="0" tIns="0" rIns="0" bIns="0" rtlCol="0" anchor="ctr"/>
          <a:lstStyle/>
          <a:p>
            <a:pPr marL="0" indent="0">
              <a:lnSpc>
                <a:spcPts val="1600"/>
              </a:lnSpc>
              <a:buNone/>
            </a:pPr>
            <a:r>
              <a:rPr lang="en-US" sz="1150" dirty="0">
                <a:solidFill>
                  <a:srgbClr val="6A6259"/>
                </a:solidFill>
                <a:latin typeface="Calibri" pitchFamily="34" charset="0"/>
                <a:ea typeface="Calibri" pitchFamily="34" charset="-122"/>
                <a:cs typeface="Calibri" pitchFamily="34" charset="-120"/>
              </a:rPr>
              <a:t>A lute with a body: the instrument stands upright, dressed, and plays itself. The best case in the book for accrual through use — an instrument is an object that has absorbed thousands of hours of human hands.</a:t>
            </a:r>
            <a:endParaRPr lang="en-US" sz="1150" dirty="0"/>
          </a:p>
        </p:txBody>
      </p:sp>
      <p:sp>
        <p:nvSpPr>
          <p:cNvPr id="13" name="Shape 11"/>
          <p:cNvSpPr/>
          <p:nvPr/>
        </p:nvSpPr>
        <p:spPr>
          <a:xfrm>
            <a:off x="6210148" y="1554480"/>
            <a:ext cx="2556434" cy="3520440"/>
          </a:xfrm>
          <a:prstGeom prst="roundRect">
            <a:avLst>
              <a:gd name="adj" fmla="val 2861"/>
            </a:avLst>
          </a:prstGeom>
          <a:solidFill>
            <a:srgbClr val="F0E8D8"/>
          </a:solidFill>
          <a:ln w="12700">
            <a:solidFill>
              <a:srgbClr val="F0E8D8"/>
            </a:solidFill>
            <a:prstDash val="solid"/>
          </a:ln>
        </p:spPr>
        <p:txBody>
          <a:bodyPr/>
          <a:lstStyle/>
          <a:p>
            <a:endParaRPr lang="en-US"/>
          </a:p>
        </p:txBody>
      </p:sp>
      <p:sp>
        <p:nvSpPr>
          <p:cNvPr id="14" name="Text 12"/>
          <p:cNvSpPr txBox="1"/>
          <p:nvPr/>
        </p:nvSpPr>
        <p:spPr>
          <a:xfrm>
            <a:off x="6466180" y="1783080"/>
            <a:ext cx="2044370" cy="411480"/>
          </a:xfrm>
          <a:prstGeom prst="rect">
            <a:avLst/>
          </a:prstGeom>
          <a:noFill/>
          <a:ln/>
        </p:spPr>
        <p:txBody>
          <a:bodyPr wrap="square" lIns="0" tIns="0" rIns="0" bIns="0" rtlCol="0" anchor="ctr"/>
          <a:lstStyle/>
          <a:p>
            <a:pPr marL="0" indent="0">
              <a:buNone/>
            </a:pPr>
            <a:r>
              <a:rPr lang="en-US" sz="1750" b="1" i="1" dirty="0">
                <a:solidFill>
                  <a:srgbClr val="B8422A"/>
                </a:solidFill>
                <a:latin typeface="Cambria" pitchFamily="34" charset="0"/>
                <a:ea typeface="Cambria" pitchFamily="34" charset="-122"/>
                <a:cs typeface="Cambria" pitchFamily="34" charset="-120"/>
              </a:rPr>
              <a:t>Abumiguchi</a:t>
            </a:r>
            <a:endParaRPr lang="en-US" sz="1750" dirty="0"/>
          </a:p>
        </p:txBody>
      </p:sp>
      <p:sp>
        <p:nvSpPr>
          <p:cNvPr id="15" name="Shape 13"/>
          <p:cNvSpPr/>
          <p:nvPr/>
        </p:nvSpPr>
        <p:spPr>
          <a:xfrm>
            <a:off x="6466180" y="2267712"/>
            <a:ext cx="822960" cy="18288"/>
          </a:xfrm>
          <a:prstGeom prst="rect">
            <a:avLst/>
          </a:prstGeom>
          <a:solidFill>
            <a:srgbClr val="9C7C38"/>
          </a:solidFill>
          <a:ln/>
        </p:spPr>
        <p:txBody>
          <a:bodyPr/>
          <a:lstStyle/>
          <a:p>
            <a:endParaRPr lang="en-US"/>
          </a:p>
        </p:txBody>
      </p:sp>
      <p:sp>
        <p:nvSpPr>
          <p:cNvPr id="16" name="Text 14"/>
          <p:cNvSpPr txBox="1"/>
          <p:nvPr/>
        </p:nvSpPr>
        <p:spPr>
          <a:xfrm>
            <a:off x="6466180" y="2432304"/>
            <a:ext cx="2044370" cy="2468880"/>
          </a:xfrm>
          <a:prstGeom prst="rect">
            <a:avLst/>
          </a:prstGeom>
          <a:noFill/>
          <a:ln/>
        </p:spPr>
        <p:txBody>
          <a:bodyPr wrap="square" lIns="0" tIns="0" rIns="0" bIns="0" rtlCol="0" anchor="ctr"/>
          <a:lstStyle/>
          <a:p>
            <a:pPr marL="0" indent="0">
              <a:lnSpc>
                <a:spcPts val="1600"/>
              </a:lnSpc>
              <a:buNone/>
            </a:pPr>
            <a:r>
              <a:rPr lang="en-US" sz="1150" dirty="0">
                <a:solidFill>
                  <a:srgbClr val="6A6259"/>
                </a:solidFill>
                <a:latin typeface="Calibri" pitchFamily="34" charset="0"/>
                <a:ea typeface="Calibri" pitchFamily="34" charset="-122"/>
                <a:cs typeface="Calibri" pitchFamily="34" charset="-120"/>
              </a:rPr>
              <a:t>An old stirrup with eyes and a mouth, lying in the grass. Accompanied by a line from a Noh play, which puts a battlefield and a dead rider behind it. Nothing in the picture threatens anyone. It has simply been left.</a:t>
            </a:r>
            <a:endParaRPr lang="en-US" sz="1150" dirty="0"/>
          </a:p>
        </p:txBody>
      </p:sp>
      <p:sp>
        <p:nvSpPr>
          <p:cNvPr id="17" name="Shape 15"/>
          <p:cNvSpPr/>
          <p:nvPr/>
        </p:nvSpPr>
        <p:spPr>
          <a:xfrm>
            <a:off x="8995181" y="1554480"/>
            <a:ext cx="2556434" cy="3520440"/>
          </a:xfrm>
          <a:prstGeom prst="roundRect">
            <a:avLst>
              <a:gd name="adj" fmla="val 2861"/>
            </a:avLst>
          </a:prstGeom>
          <a:solidFill>
            <a:srgbClr val="E6EAF2"/>
          </a:solidFill>
          <a:ln w="12700">
            <a:solidFill>
              <a:srgbClr val="E6EAF2"/>
            </a:solidFill>
            <a:prstDash val="solid"/>
          </a:ln>
        </p:spPr>
        <p:txBody>
          <a:bodyPr/>
          <a:lstStyle/>
          <a:p>
            <a:endParaRPr lang="en-US"/>
          </a:p>
        </p:txBody>
      </p:sp>
      <p:sp>
        <p:nvSpPr>
          <p:cNvPr id="18" name="Text 16"/>
          <p:cNvSpPr txBox="1"/>
          <p:nvPr/>
        </p:nvSpPr>
        <p:spPr>
          <a:xfrm>
            <a:off x="9251213" y="1783080"/>
            <a:ext cx="2044370" cy="411480"/>
          </a:xfrm>
          <a:prstGeom prst="rect">
            <a:avLst/>
          </a:prstGeom>
          <a:noFill/>
          <a:ln/>
        </p:spPr>
        <p:txBody>
          <a:bodyPr wrap="square" lIns="0" tIns="0" rIns="0" bIns="0" rtlCol="0" anchor="ctr"/>
          <a:lstStyle/>
          <a:p>
            <a:pPr marL="0" indent="0">
              <a:buNone/>
            </a:pPr>
            <a:r>
              <a:rPr lang="en-US" sz="1750" b="1" i="1" dirty="0">
                <a:solidFill>
                  <a:srgbClr val="B8422A"/>
                </a:solidFill>
                <a:latin typeface="Cambria" pitchFamily="34" charset="0"/>
                <a:ea typeface="Cambria" pitchFamily="34" charset="-122"/>
                <a:cs typeface="Cambria" pitchFamily="34" charset="-120"/>
              </a:rPr>
              <a:t>Kyōrinrin</a:t>
            </a:r>
            <a:endParaRPr lang="en-US" sz="1750" dirty="0"/>
          </a:p>
        </p:txBody>
      </p:sp>
      <p:sp>
        <p:nvSpPr>
          <p:cNvPr id="19" name="Shape 17"/>
          <p:cNvSpPr/>
          <p:nvPr/>
        </p:nvSpPr>
        <p:spPr>
          <a:xfrm>
            <a:off x="9251213" y="2267712"/>
            <a:ext cx="822960" cy="18288"/>
          </a:xfrm>
          <a:prstGeom prst="rect">
            <a:avLst/>
          </a:prstGeom>
          <a:solidFill>
            <a:srgbClr val="9C7C38"/>
          </a:solidFill>
          <a:ln/>
        </p:spPr>
        <p:txBody>
          <a:bodyPr/>
          <a:lstStyle/>
          <a:p>
            <a:endParaRPr lang="en-US"/>
          </a:p>
        </p:txBody>
      </p:sp>
      <p:sp>
        <p:nvSpPr>
          <p:cNvPr id="20" name="Text 18"/>
          <p:cNvSpPr txBox="1"/>
          <p:nvPr/>
        </p:nvSpPr>
        <p:spPr>
          <a:xfrm>
            <a:off x="9251213" y="2432304"/>
            <a:ext cx="2044370" cy="2468880"/>
          </a:xfrm>
          <a:prstGeom prst="rect">
            <a:avLst/>
          </a:prstGeom>
          <a:noFill/>
          <a:ln/>
        </p:spPr>
        <p:txBody>
          <a:bodyPr wrap="square" lIns="0" tIns="0" rIns="0" bIns="0" rtlCol="0" anchor="ctr"/>
          <a:lstStyle/>
          <a:p>
            <a:pPr marL="0" indent="0">
              <a:lnSpc>
                <a:spcPts val="1600"/>
              </a:lnSpc>
              <a:buNone/>
            </a:pPr>
            <a:r>
              <a:rPr lang="en-US" sz="1150" dirty="0">
                <a:solidFill>
                  <a:srgbClr val="6A6259"/>
                </a:solidFill>
                <a:latin typeface="Calibri" pitchFamily="34" charset="0"/>
                <a:ea typeface="Calibri" pitchFamily="34" charset="-122"/>
                <a:cs typeface="Calibri" pitchFamily="34" charset="-120"/>
              </a:rPr>
              <a:t>Sutra scrolls, neglected on their shelf, rearing up as a robed and clawed figure. The most explicitly reproachful image in the volume: scripture that has gone unread comes for you.</a:t>
            </a:r>
            <a:endParaRPr lang="en-US" sz="1150" dirty="0"/>
          </a:p>
        </p:txBody>
      </p:sp>
      <p:sp>
        <p:nvSpPr>
          <p:cNvPr id="23" name="Text 21"/>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6A6259"/>
                </a:solidFill>
                <a:latin typeface="Calibri" pitchFamily="34" charset="0"/>
                <a:ea typeface="Calibri" pitchFamily="34" charset="-122"/>
                <a:cs typeface="Calibri" pitchFamily="34" charset="-120"/>
              </a:rPr>
              <a:t>All four appear in Gazu Hyakki Tsurezure Bukuro (1784); scans available through the National Diet Library digital collections.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FORMAL ANALYSIS</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How a tool is made into a creature</a:t>
            </a:r>
            <a:endParaRPr lang="en-US" sz="3000" dirty="0"/>
          </a:p>
        </p:txBody>
      </p:sp>
      <p:sp>
        <p:nvSpPr>
          <p:cNvPr id="5" name="Shape 3"/>
          <p:cNvSpPr/>
          <p:nvPr/>
        </p:nvSpPr>
        <p:spPr>
          <a:xfrm>
            <a:off x="640080" y="1572768"/>
            <a:ext cx="5295748" cy="1691640"/>
          </a:xfrm>
          <a:prstGeom prst="roundRect">
            <a:avLst>
              <a:gd name="adj" fmla="val 4324"/>
            </a:avLst>
          </a:prstGeom>
          <a:solidFill>
            <a:srgbClr val="F0E8D8"/>
          </a:solidFill>
          <a:ln w="12700">
            <a:solidFill>
              <a:srgbClr val="F0E8D8"/>
            </a:solidFill>
            <a:prstDash val="solid"/>
          </a:ln>
        </p:spPr>
        <p:txBody>
          <a:bodyPr/>
          <a:lstStyle/>
          <a:p>
            <a:endParaRPr lang="en-US"/>
          </a:p>
        </p:txBody>
      </p:sp>
      <p:sp>
        <p:nvSpPr>
          <p:cNvPr id="6" name="Shape 4"/>
          <p:cNvSpPr/>
          <p:nvPr/>
        </p:nvSpPr>
        <p:spPr>
          <a:xfrm>
            <a:off x="932688" y="1810512"/>
            <a:ext cx="347472" cy="347472"/>
          </a:xfrm>
          <a:prstGeom prst="ellipse">
            <a:avLst/>
          </a:prstGeom>
          <a:solidFill>
            <a:srgbClr val="181410"/>
          </a:solidFill>
          <a:ln/>
        </p:spPr>
        <p:txBody>
          <a:bodyPr/>
          <a:lstStyle/>
          <a:p>
            <a:endParaRPr lang="en-US"/>
          </a:p>
        </p:txBody>
      </p:sp>
      <p:sp>
        <p:nvSpPr>
          <p:cNvPr id="7" name="Text 5"/>
          <p:cNvSpPr txBox="1"/>
          <p:nvPr/>
        </p:nvSpPr>
        <p:spPr>
          <a:xfrm>
            <a:off x="932688" y="1810512"/>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417320" y="1810512"/>
            <a:ext cx="4244188" cy="365760"/>
          </a:xfrm>
          <a:prstGeom prst="rect">
            <a:avLst/>
          </a:prstGeom>
          <a:noFill/>
          <a:ln/>
        </p:spPr>
        <p:txBody>
          <a:bodyPr wrap="square" lIns="0" tIns="0" rIns="0" bIns="0" rtlCol="0" anchor="ctr"/>
          <a:lstStyle/>
          <a:p>
            <a:pPr marL="0" indent="0">
              <a:buNone/>
            </a:pPr>
            <a:r>
              <a:rPr lang="en-US" sz="1600" b="1" dirty="0">
                <a:solidFill>
                  <a:srgbClr val="181410"/>
                </a:solidFill>
                <a:latin typeface="Cambria" pitchFamily="34" charset="0"/>
                <a:ea typeface="Cambria" pitchFamily="34" charset="-122"/>
                <a:cs typeface="Cambria" pitchFamily="34" charset="-120"/>
              </a:rPr>
              <a:t>Add a face where the opening is</a:t>
            </a:r>
            <a:endParaRPr lang="en-US" sz="1600" dirty="0"/>
          </a:p>
        </p:txBody>
      </p:sp>
      <p:sp>
        <p:nvSpPr>
          <p:cNvPr id="9" name="Text 7"/>
          <p:cNvSpPr txBox="1"/>
          <p:nvPr/>
        </p:nvSpPr>
        <p:spPr>
          <a:xfrm>
            <a:off x="932688" y="2286000"/>
            <a:ext cx="4710532" cy="841248"/>
          </a:xfrm>
          <a:prstGeom prst="rect">
            <a:avLst/>
          </a:prstGeom>
          <a:noFill/>
          <a:ln/>
        </p:spPr>
        <p:txBody>
          <a:bodyPr wrap="square" lIns="0" tIns="0" rIns="0" bIns="0" rtlCol="0" anchor="ctr"/>
          <a:lstStyle/>
          <a:p>
            <a:pPr marL="0" indent="0">
              <a:lnSpc>
                <a:spcPts val="1600"/>
              </a:lnSpc>
              <a:buNone/>
            </a:pPr>
            <a:r>
              <a:rPr lang="en-US" sz="1200" dirty="0">
                <a:solidFill>
                  <a:srgbClr val="6A6259"/>
                </a:solidFill>
                <a:latin typeface="Calibri" pitchFamily="34" charset="0"/>
                <a:ea typeface="Calibri" pitchFamily="34" charset="-122"/>
                <a:cs typeface="Calibri" pitchFamily="34" charset="-120"/>
              </a:rPr>
              <a:t>Mouths appear at spouts, handles, apertures. The object’s existing geometry is read as anatomy rather than overwritten — the design constraint is that you must still recognise the tool.</a:t>
            </a:r>
            <a:endParaRPr lang="en-US" sz="1200" dirty="0"/>
          </a:p>
        </p:txBody>
      </p:sp>
      <p:sp>
        <p:nvSpPr>
          <p:cNvPr id="10" name="Shape 8"/>
          <p:cNvSpPr/>
          <p:nvPr/>
        </p:nvSpPr>
        <p:spPr>
          <a:xfrm>
            <a:off x="6255868" y="1572768"/>
            <a:ext cx="5295748" cy="1691640"/>
          </a:xfrm>
          <a:prstGeom prst="roundRect">
            <a:avLst>
              <a:gd name="adj" fmla="val 4324"/>
            </a:avLst>
          </a:prstGeom>
          <a:solidFill>
            <a:srgbClr val="E6EAF2"/>
          </a:solidFill>
          <a:ln w="12700">
            <a:solidFill>
              <a:srgbClr val="E6EAF2"/>
            </a:solidFill>
            <a:prstDash val="solid"/>
          </a:ln>
        </p:spPr>
        <p:txBody>
          <a:bodyPr/>
          <a:lstStyle/>
          <a:p>
            <a:endParaRPr lang="en-US"/>
          </a:p>
        </p:txBody>
      </p:sp>
      <p:sp>
        <p:nvSpPr>
          <p:cNvPr id="11" name="Shape 9"/>
          <p:cNvSpPr/>
          <p:nvPr/>
        </p:nvSpPr>
        <p:spPr>
          <a:xfrm>
            <a:off x="6548476" y="1810512"/>
            <a:ext cx="347472" cy="347472"/>
          </a:xfrm>
          <a:prstGeom prst="ellipse">
            <a:avLst/>
          </a:prstGeom>
          <a:solidFill>
            <a:srgbClr val="2E4A7D"/>
          </a:solidFill>
          <a:ln/>
        </p:spPr>
        <p:txBody>
          <a:bodyPr/>
          <a:lstStyle/>
          <a:p>
            <a:endParaRPr lang="en-US"/>
          </a:p>
        </p:txBody>
      </p:sp>
      <p:sp>
        <p:nvSpPr>
          <p:cNvPr id="12" name="Text 10"/>
          <p:cNvSpPr txBox="1"/>
          <p:nvPr/>
        </p:nvSpPr>
        <p:spPr>
          <a:xfrm>
            <a:off x="6548476" y="1810512"/>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7033108" y="1810512"/>
            <a:ext cx="4244188" cy="365760"/>
          </a:xfrm>
          <a:prstGeom prst="rect">
            <a:avLst/>
          </a:prstGeom>
          <a:noFill/>
          <a:ln/>
        </p:spPr>
        <p:txBody>
          <a:bodyPr wrap="square" lIns="0" tIns="0" rIns="0" bIns="0" rtlCol="0" anchor="ctr"/>
          <a:lstStyle/>
          <a:p>
            <a:pPr marL="0" indent="0">
              <a:buNone/>
            </a:pPr>
            <a:r>
              <a:rPr lang="en-US" sz="1600" b="1" dirty="0">
                <a:solidFill>
                  <a:srgbClr val="181410"/>
                </a:solidFill>
                <a:latin typeface="Cambria" pitchFamily="34" charset="0"/>
                <a:ea typeface="Cambria" pitchFamily="34" charset="-122"/>
                <a:cs typeface="Cambria" pitchFamily="34" charset="-120"/>
              </a:rPr>
              <a:t>Add limbs at the points of contact</a:t>
            </a:r>
            <a:endParaRPr lang="en-US" sz="1600" dirty="0"/>
          </a:p>
        </p:txBody>
      </p:sp>
      <p:sp>
        <p:nvSpPr>
          <p:cNvPr id="14" name="Text 12"/>
          <p:cNvSpPr txBox="1"/>
          <p:nvPr/>
        </p:nvSpPr>
        <p:spPr>
          <a:xfrm>
            <a:off x="6548476" y="2286000"/>
            <a:ext cx="4710532" cy="841248"/>
          </a:xfrm>
          <a:prstGeom prst="rect">
            <a:avLst/>
          </a:prstGeom>
          <a:noFill/>
          <a:ln/>
        </p:spPr>
        <p:txBody>
          <a:bodyPr wrap="square" lIns="0" tIns="0" rIns="0" bIns="0" rtlCol="0" anchor="ctr"/>
          <a:lstStyle/>
          <a:p>
            <a:pPr marL="0" indent="0">
              <a:lnSpc>
                <a:spcPts val="1600"/>
              </a:lnSpc>
              <a:buNone/>
            </a:pPr>
            <a:r>
              <a:rPr lang="en-US" sz="1200" dirty="0">
                <a:solidFill>
                  <a:srgbClr val="6A6259"/>
                </a:solidFill>
                <a:latin typeface="Calibri" pitchFamily="34" charset="0"/>
                <a:ea typeface="Calibri" pitchFamily="34" charset="-122"/>
                <a:cs typeface="Calibri" pitchFamily="34" charset="-120"/>
              </a:rPr>
              <a:t>Arms sprout where hands would grip; legs where the object rests. The animation grows out of the object’s relationship to a human body, which is precisely the relationship of use.</a:t>
            </a:r>
            <a:endParaRPr lang="en-US" sz="1200" dirty="0"/>
          </a:p>
        </p:txBody>
      </p:sp>
      <p:sp>
        <p:nvSpPr>
          <p:cNvPr id="15" name="Shape 13"/>
          <p:cNvSpPr/>
          <p:nvPr/>
        </p:nvSpPr>
        <p:spPr>
          <a:xfrm>
            <a:off x="640080" y="3447288"/>
            <a:ext cx="5295748" cy="1691640"/>
          </a:xfrm>
          <a:prstGeom prst="roundRect">
            <a:avLst>
              <a:gd name="adj" fmla="val 4324"/>
            </a:avLst>
          </a:prstGeom>
          <a:solidFill>
            <a:srgbClr val="F0E8D8"/>
          </a:solidFill>
          <a:ln w="12700">
            <a:solidFill>
              <a:srgbClr val="F0E8D8"/>
            </a:solidFill>
            <a:prstDash val="solid"/>
          </a:ln>
        </p:spPr>
        <p:txBody>
          <a:bodyPr/>
          <a:lstStyle/>
          <a:p>
            <a:endParaRPr lang="en-US"/>
          </a:p>
        </p:txBody>
      </p:sp>
      <p:sp>
        <p:nvSpPr>
          <p:cNvPr id="16" name="Shape 14"/>
          <p:cNvSpPr/>
          <p:nvPr/>
        </p:nvSpPr>
        <p:spPr>
          <a:xfrm>
            <a:off x="932688" y="3685032"/>
            <a:ext cx="347472" cy="347472"/>
          </a:xfrm>
          <a:prstGeom prst="ellipse">
            <a:avLst/>
          </a:prstGeom>
          <a:solidFill>
            <a:srgbClr val="181410"/>
          </a:solidFill>
          <a:ln/>
        </p:spPr>
        <p:txBody>
          <a:bodyPr/>
          <a:lstStyle/>
          <a:p>
            <a:endParaRPr lang="en-US"/>
          </a:p>
        </p:txBody>
      </p:sp>
      <p:sp>
        <p:nvSpPr>
          <p:cNvPr id="17" name="Text 15"/>
          <p:cNvSpPr txBox="1"/>
          <p:nvPr/>
        </p:nvSpPr>
        <p:spPr>
          <a:xfrm>
            <a:off x="932688" y="3685032"/>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417320" y="3685032"/>
            <a:ext cx="4244188" cy="365760"/>
          </a:xfrm>
          <a:prstGeom prst="rect">
            <a:avLst/>
          </a:prstGeom>
          <a:noFill/>
          <a:ln/>
        </p:spPr>
        <p:txBody>
          <a:bodyPr wrap="square" lIns="0" tIns="0" rIns="0" bIns="0" rtlCol="0" anchor="ctr"/>
          <a:lstStyle/>
          <a:p>
            <a:pPr marL="0" indent="0">
              <a:buNone/>
            </a:pPr>
            <a:r>
              <a:rPr lang="en-US" sz="1600" b="1" dirty="0">
                <a:solidFill>
                  <a:srgbClr val="181410"/>
                </a:solidFill>
                <a:latin typeface="Cambria" pitchFamily="34" charset="0"/>
                <a:ea typeface="Cambria" pitchFamily="34" charset="-122"/>
                <a:cs typeface="Cambria" pitchFamily="34" charset="-120"/>
              </a:rPr>
              <a:t>Keep the wear</a:t>
            </a:r>
            <a:endParaRPr lang="en-US" sz="1600" dirty="0"/>
          </a:p>
        </p:txBody>
      </p:sp>
      <p:sp>
        <p:nvSpPr>
          <p:cNvPr id="19" name="Text 17"/>
          <p:cNvSpPr txBox="1"/>
          <p:nvPr/>
        </p:nvSpPr>
        <p:spPr>
          <a:xfrm>
            <a:off x="932688" y="4160520"/>
            <a:ext cx="4710532" cy="841248"/>
          </a:xfrm>
          <a:prstGeom prst="rect">
            <a:avLst/>
          </a:prstGeom>
          <a:noFill/>
          <a:ln/>
        </p:spPr>
        <p:txBody>
          <a:bodyPr wrap="square" lIns="0" tIns="0" rIns="0" bIns="0" rtlCol="0" anchor="ctr"/>
          <a:lstStyle/>
          <a:p>
            <a:pPr marL="0" indent="0">
              <a:lnSpc>
                <a:spcPts val="1600"/>
              </a:lnSpc>
              <a:buNone/>
            </a:pPr>
            <a:r>
              <a:rPr lang="en-US" sz="1200" dirty="0">
                <a:solidFill>
                  <a:srgbClr val="6A6259"/>
                </a:solidFill>
                <a:latin typeface="Calibri" pitchFamily="34" charset="0"/>
                <a:ea typeface="Calibri" pitchFamily="34" charset="-122"/>
                <a:cs typeface="Calibri" pitchFamily="34" charset="-120"/>
              </a:rPr>
              <a:t>Fraying, cracks, missing parts and patina are not tidied away. The signs of having been used are the evidence for the claim, so the image cannot afford to lose them.</a:t>
            </a:r>
            <a:endParaRPr lang="en-US" sz="1200" dirty="0"/>
          </a:p>
        </p:txBody>
      </p:sp>
      <p:sp>
        <p:nvSpPr>
          <p:cNvPr id="20" name="Shape 18"/>
          <p:cNvSpPr/>
          <p:nvPr/>
        </p:nvSpPr>
        <p:spPr>
          <a:xfrm>
            <a:off x="6255868" y="3447288"/>
            <a:ext cx="5295748" cy="1691640"/>
          </a:xfrm>
          <a:prstGeom prst="roundRect">
            <a:avLst>
              <a:gd name="adj" fmla="val 4324"/>
            </a:avLst>
          </a:prstGeom>
          <a:solidFill>
            <a:srgbClr val="E6EAF2"/>
          </a:solidFill>
          <a:ln w="12700">
            <a:solidFill>
              <a:srgbClr val="E6EAF2"/>
            </a:solidFill>
            <a:prstDash val="solid"/>
          </a:ln>
        </p:spPr>
        <p:txBody>
          <a:bodyPr/>
          <a:lstStyle/>
          <a:p>
            <a:endParaRPr lang="en-US"/>
          </a:p>
        </p:txBody>
      </p:sp>
      <p:sp>
        <p:nvSpPr>
          <p:cNvPr id="21" name="Shape 19"/>
          <p:cNvSpPr/>
          <p:nvPr/>
        </p:nvSpPr>
        <p:spPr>
          <a:xfrm>
            <a:off x="6548476" y="3685032"/>
            <a:ext cx="347472" cy="347472"/>
          </a:xfrm>
          <a:prstGeom prst="ellipse">
            <a:avLst/>
          </a:prstGeom>
          <a:solidFill>
            <a:srgbClr val="2E4A7D"/>
          </a:solidFill>
          <a:ln/>
        </p:spPr>
        <p:txBody>
          <a:bodyPr/>
          <a:lstStyle/>
          <a:p>
            <a:endParaRPr lang="en-US"/>
          </a:p>
        </p:txBody>
      </p:sp>
      <p:sp>
        <p:nvSpPr>
          <p:cNvPr id="22" name="Text 20"/>
          <p:cNvSpPr txBox="1"/>
          <p:nvPr/>
        </p:nvSpPr>
        <p:spPr>
          <a:xfrm>
            <a:off x="6548476" y="3685032"/>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7033108" y="3685032"/>
            <a:ext cx="4244188" cy="365760"/>
          </a:xfrm>
          <a:prstGeom prst="rect">
            <a:avLst/>
          </a:prstGeom>
          <a:noFill/>
          <a:ln/>
        </p:spPr>
        <p:txBody>
          <a:bodyPr wrap="square" lIns="0" tIns="0" rIns="0" bIns="0" rtlCol="0" anchor="ctr"/>
          <a:lstStyle/>
          <a:p>
            <a:pPr marL="0" indent="0">
              <a:buNone/>
            </a:pPr>
            <a:r>
              <a:rPr lang="en-US" sz="1600" b="1" dirty="0">
                <a:solidFill>
                  <a:srgbClr val="181410"/>
                </a:solidFill>
                <a:latin typeface="Cambria" pitchFamily="34" charset="0"/>
                <a:ea typeface="Cambria" pitchFamily="34" charset="-122"/>
                <a:cs typeface="Cambria" pitchFamily="34" charset="-120"/>
              </a:rPr>
              <a:t>Give it somewhere to be</a:t>
            </a:r>
            <a:endParaRPr lang="en-US" sz="1600" dirty="0"/>
          </a:p>
        </p:txBody>
      </p:sp>
      <p:sp>
        <p:nvSpPr>
          <p:cNvPr id="24" name="Text 22"/>
          <p:cNvSpPr txBox="1"/>
          <p:nvPr/>
        </p:nvSpPr>
        <p:spPr>
          <a:xfrm>
            <a:off x="6548476" y="4160520"/>
            <a:ext cx="4710532" cy="841248"/>
          </a:xfrm>
          <a:prstGeom prst="rect">
            <a:avLst/>
          </a:prstGeom>
          <a:noFill/>
          <a:ln/>
        </p:spPr>
        <p:txBody>
          <a:bodyPr wrap="square" lIns="0" tIns="0" rIns="0" bIns="0" rtlCol="0" anchor="ctr"/>
          <a:lstStyle/>
          <a:p>
            <a:pPr marL="0" indent="0">
              <a:lnSpc>
                <a:spcPts val="1600"/>
              </a:lnSpc>
              <a:buNone/>
            </a:pPr>
            <a:r>
              <a:rPr lang="en-US" sz="1200" dirty="0">
                <a:solidFill>
                  <a:srgbClr val="6A6259"/>
                </a:solidFill>
                <a:latin typeface="Calibri" pitchFamily="34" charset="0"/>
                <a:ea typeface="Calibri" pitchFamily="34" charset="-122"/>
                <a:cs typeface="Calibri" pitchFamily="34" charset="-120"/>
              </a:rPr>
              <a:t>Most plates place the creature in a plausible domestic or roadside setting. It is not summoned into a laboratory. It is already where it always was.</a:t>
            </a:r>
            <a:endParaRPr lang="en-US" sz="1200" dirty="0"/>
          </a:p>
        </p:txBody>
      </p:sp>
      <p:sp>
        <p:nvSpPr>
          <p:cNvPr id="25" name="Shape 23"/>
          <p:cNvSpPr/>
          <p:nvPr/>
        </p:nvSpPr>
        <p:spPr>
          <a:xfrm>
            <a:off x="640080" y="5440680"/>
            <a:ext cx="10911535" cy="777240"/>
          </a:xfrm>
          <a:prstGeom prst="roundRect">
            <a:avLst>
              <a:gd name="adj" fmla="val 9412"/>
            </a:avLst>
          </a:prstGeom>
          <a:solidFill>
            <a:srgbClr val="181410"/>
          </a:solidFill>
          <a:ln w="12700">
            <a:solidFill>
              <a:srgbClr val="181410"/>
            </a:solidFill>
            <a:prstDash val="solid"/>
          </a:ln>
        </p:spPr>
        <p:txBody>
          <a:bodyPr/>
          <a:lstStyle/>
          <a:p>
            <a:endParaRPr lang="en-US"/>
          </a:p>
        </p:txBody>
      </p:sp>
      <p:sp>
        <p:nvSpPr>
          <p:cNvPr id="26" name="Text 24"/>
          <p:cNvSpPr txBox="1"/>
          <p:nvPr/>
        </p:nvSpPr>
        <p:spPr>
          <a:xfrm>
            <a:off x="1005840" y="5623560"/>
            <a:ext cx="10424160" cy="411480"/>
          </a:xfrm>
          <a:prstGeom prst="rect">
            <a:avLst/>
          </a:prstGeom>
          <a:noFill/>
          <a:ln/>
        </p:spPr>
        <p:txBody>
          <a:bodyPr wrap="square" lIns="0" tIns="0" rIns="0" bIns="0" rtlCol="0" anchor="ctr"/>
          <a:lstStyle/>
          <a:p>
            <a:pPr marL="0" indent="0">
              <a:lnSpc>
                <a:spcPts val="2100"/>
              </a:lnSpc>
              <a:buNone/>
            </a:pPr>
            <a:r>
              <a:rPr lang="en-US" sz="1550" dirty="0">
                <a:solidFill>
                  <a:srgbClr val="F5EFE3"/>
                </a:solidFill>
                <a:latin typeface="Cambria" pitchFamily="34" charset="0"/>
                <a:ea typeface="Cambria" pitchFamily="34" charset="-122"/>
                <a:cs typeface="Cambria" pitchFamily="34" charset="-120"/>
              </a:rPr>
              <a:t>Every one of these four moves says the same thing: the mind did not arrive from elsewhere. It came up out of the object’s own history of being handled.</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THE COMPLICATION</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Most of these creatures are Sekien’s own invention</a:t>
            </a:r>
            <a:endParaRPr lang="en-US" sz="3000" dirty="0"/>
          </a:p>
        </p:txBody>
      </p:sp>
      <p:sp>
        <p:nvSpPr>
          <p:cNvPr id="5" name="Shape 3"/>
          <p:cNvSpPr/>
          <p:nvPr/>
        </p:nvSpPr>
        <p:spPr>
          <a:xfrm>
            <a:off x="640080" y="1572768"/>
            <a:ext cx="10911535" cy="1188720"/>
          </a:xfrm>
          <a:prstGeom prst="roundRect">
            <a:avLst>
              <a:gd name="adj" fmla="val 6154"/>
            </a:avLst>
          </a:prstGeom>
          <a:solidFill>
            <a:srgbClr val="181410"/>
          </a:solidFill>
          <a:ln w="12700">
            <a:solidFill>
              <a:srgbClr val="181410"/>
            </a:solidFill>
            <a:prstDash val="solid"/>
          </a:ln>
        </p:spPr>
        <p:txBody>
          <a:bodyPr/>
          <a:lstStyle/>
          <a:p>
            <a:endParaRPr lang="en-US"/>
          </a:p>
        </p:txBody>
      </p:sp>
      <p:sp>
        <p:nvSpPr>
          <p:cNvPr id="6" name="Text 4"/>
          <p:cNvSpPr txBox="1"/>
          <p:nvPr/>
        </p:nvSpPr>
        <p:spPr>
          <a:xfrm>
            <a:off x="1005840" y="1572768"/>
            <a:ext cx="10424160" cy="1188720"/>
          </a:xfrm>
          <a:prstGeom prst="rect">
            <a:avLst/>
          </a:prstGeom>
          <a:noFill/>
          <a:ln/>
        </p:spPr>
        <p:txBody>
          <a:bodyPr wrap="square" lIns="0" tIns="0" rIns="0" bIns="0" rtlCol="0" anchor="ctr"/>
          <a:lstStyle/>
          <a:p>
            <a:pPr marL="0" indent="0">
              <a:lnSpc>
                <a:spcPts val="2200"/>
              </a:lnSpc>
              <a:buNone/>
            </a:pPr>
            <a:r>
              <a:rPr lang="en-US" sz="1600" dirty="0">
                <a:solidFill>
                  <a:srgbClr val="F5EFE3"/>
                </a:solidFill>
                <a:latin typeface="Cambria" pitchFamily="34" charset="0"/>
                <a:ea typeface="Cambria" pitchFamily="34" charset="-122"/>
                <a:cs typeface="Cambria" pitchFamily="34" charset="-120"/>
              </a:rPr>
              <a:t>Unlike his earlier volumes, which collected and redrew existing material, the majority of the yokai in this book appear to have been made up — spun out of puns, phrases and passages from Tsurezuregusa. They have no folk history behind them. They have an author, working to a deadline, being clever.</a:t>
            </a:r>
            <a:endParaRPr lang="en-US" sz="1600" dirty="0"/>
          </a:p>
        </p:txBody>
      </p:sp>
      <p:sp>
        <p:nvSpPr>
          <p:cNvPr id="7" name="Shape 5"/>
          <p:cNvSpPr/>
          <p:nvPr/>
        </p:nvSpPr>
        <p:spPr>
          <a:xfrm>
            <a:off x="640080" y="2926080"/>
            <a:ext cx="3454298" cy="2377440"/>
          </a:xfrm>
          <a:prstGeom prst="roundRect">
            <a:avLst>
              <a:gd name="adj" fmla="val 3077"/>
            </a:avLst>
          </a:prstGeom>
          <a:solidFill>
            <a:srgbClr val="F0E8D8"/>
          </a:solidFill>
          <a:ln w="12700">
            <a:solidFill>
              <a:srgbClr val="F0E8D8"/>
            </a:solidFill>
            <a:prstDash val="solid"/>
          </a:ln>
        </p:spPr>
        <p:txBody>
          <a:bodyPr/>
          <a:lstStyle/>
          <a:p>
            <a:endParaRPr lang="en-US"/>
          </a:p>
        </p:txBody>
      </p:sp>
      <p:sp>
        <p:nvSpPr>
          <p:cNvPr id="8" name="Text 6"/>
          <p:cNvSpPr txBox="1"/>
          <p:nvPr/>
        </p:nvSpPr>
        <p:spPr>
          <a:xfrm>
            <a:off x="914400" y="3127248"/>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181410"/>
                </a:solidFill>
                <a:latin typeface="Cambria" pitchFamily="34" charset="0"/>
                <a:ea typeface="Cambria" pitchFamily="34" charset="-122"/>
                <a:cs typeface="Cambria" pitchFamily="34" charset="-120"/>
              </a:rPr>
              <a:t>So is this even a tradition?</a:t>
            </a:r>
            <a:endParaRPr lang="en-US" sz="1650" dirty="0"/>
          </a:p>
        </p:txBody>
      </p:sp>
      <p:sp>
        <p:nvSpPr>
          <p:cNvPr id="9" name="Text 7"/>
          <p:cNvSpPr txBox="1"/>
          <p:nvPr/>
        </p:nvSpPr>
        <p:spPr>
          <a:xfrm>
            <a:off x="914400" y="3803904"/>
            <a:ext cx="2905658" cy="128016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Yes — but not in the way the word implies. The doctrine is genuinely medieval; the specific creatures are largely eighteenth-century commercial invention; and the modern encyclopaedias treat both as equally traditional.</a:t>
            </a:r>
            <a:endParaRPr lang="en-US" sz="1250" dirty="0"/>
          </a:p>
        </p:txBody>
      </p:sp>
      <p:sp>
        <p:nvSpPr>
          <p:cNvPr id="10" name="Shape 8"/>
          <p:cNvSpPr/>
          <p:nvPr/>
        </p:nvSpPr>
        <p:spPr>
          <a:xfrm>
            <a:off x="4368698" y="2926080"/>
            <a:ext cx="3454298" cy="2377440"/>
          </a:xfrm>
          <a:prstGeom prst="roundRect">
            <a:avLst>
              <a:gd name="adj" fmla="val 3077"/>
            </a:avLst>
          </a:prstGeom>
          <a:solidFill>
            <a:srgbClr val="E6EAF2"/>
          </a:solidFill>
          <a:ln w="12700">
            <a:solidFill>
              <a:srgbClr val="E6EAF2"/>
            </a:solidFill>
            <a:prstDash val="solid"/>
          </a:ln>
        </p:spPr>
        <p:txBody>
          <a:bodyPr/>
          <a:lstStyle/>
          <a:p>
            <a:endParaRPr lang="en-US"/>
          </a:p>
        </p:txBody>
      </p:sp>
      <p:sp>
        <p:nvSpPr>
          <p:cNvPr id="11" name="Text 9"/>
          <p:cNvSpPr txBox="1"/>
          <p:nvPr/>
        </p:nvSpPr>
        <p:spPr>
          <a:xfrm>
            <a:off x="4643018" y="3127248"/>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181410"/>
                </a:solidFill>
                <a:latin typeface="Cambria" pitchFamily="34" charset="0"/>
                <a:ea typeface="Cambria" pitchFamily="34" charset="-122"/>
                <a:cs typeface="Cambria" pitchFamily="34" charset="-120"/>
              </a:rPr>
              <a:t>Event becomes object, again</a:t>
            </a:r>
            <a:endParaRPr lang="en-US" sz="1650" dirty="0"/>
          </a:p>
        </p:txBody>
      </p:sp>
      <p:sp>
        <p:nvSpPr>
          <p:cNvPr id="12" name="Text 10"/>
          <p:cNvSpPr txBox="1"/>
          <p:nvPr/>
        </p:nvSpPr>
        <p:spPr>
          <a:xfrm>
            <a:off x="4643018" y="3803904"/>
            <a:ext cx="2905658" cy="128016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This is Foster’s process caught in the act. Sekien draws something, later compilers record it as folklore, and by the twentieth century it has a name, a habitat and a merchandising line.</a:t>
            </a:r>
            <a:endParaRPr lang="en-US" sz="1250" dirty="0"/>
          </a:p>
        </p:txBody>
      </p:sp>
      <p:sp>
        <p:nvSpPr>
          <p:cNvPr id="13" name="Shape 11"/>
          <p:cNvSpPr/>
          <p:nvPr/>
        </p:nvSpPr>
        <p:spPr>
          <a:xfrm>
            <a:off x="8097317" y="2926080"/>
            <a:ext cx="3454298" cy="2377440"/>
          </a:xfrm>
          <a:prstGeom prst="roundRect">
            <a:avLst>
              <a:gd name="adj" fmla="val 3077"/>
            </a:avLst>
          </a:prstGeom>
          <a:solidFill>
            <a:srgbClr val="F0E8D8"/>
          </a:solidFill>
          <a:ln w="12700">
            <a:solidFill>
              <a:srgbClr val="F0E8D8"/>
            </a:solidFill>
            <a:prstDash val="solid"/>
          </a:ln>
        </p:spPr>
        <p:txBody>
          <a:bodyPr/>
          <a:lstStyle/>
          <a:p>
            <a:endParaRPr lang="en-US"/>
          </a:p>
        </p:txBody>
      </p:sp>
      <p:sp>
        <p:nvSpPr>
          <p:cNvPr id="14" name="Text 12"/>
          <p:cNvSpPr txBox="1"/>
          <p:nvPr/>
        </p:nvSpPr>
        <p:spPr>
          <a:xfrm>
            <a:off x="8371637" y="3127248"/>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181410"/>
                </a:solidFill>
                <a:latin typeface="Cambria" pitchFamily="34" charset="0"/>
                <a:ea typeface="Cambria" pitchFamily="34" charset="-122"/>
                <a:cs typeface="Cambria" pitchFamily="34" charset="-120"/>
              </a:rPr>
              <a:t>The uncomfortable parallel</a:t>
            </a:r>
            <a:endParaRPr lang="en-US" sz="1650" dirty="0"/>
          </a:p>
        </p:txBody>
      </p:sp>
      <p:sp>
        <p:nvSpPr>
          <p:cNvPr id="15" name="Text 13"/>
          <p:cNvSpPr txBox="1"/>
          <p:nvPr/>
        </p:nvSpPr>
        <p:spPr>
          <a:xfrm>
            <a:off x="8371637" y="3803904"/>
            <a:ext cx="2905658" cy="128016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We are about to use this tradition to critique a Western habit. It would be convenient to treat it as ancient and organic. It is partly a bestseller from 1784, and we should say so while we use it.</a:t>
            </a:r>
            <a:endParaRPr lang="en-US" sz="1250" dirty="0"/>
          </a:p>
        </p:txBody>
      </p:sp>
      <p:sp>
        <p:nvSpPr>
          <p:cNvPr id="16" name="Shape 14"/>
          <p:cNvSpPr/>
          <p:nvPr/>
        </p:nvSpPr>
        <p:spPr>
          <a:xfrm>
            <a:off x="640080" y="5486400"/>
            <a:ext cx="10911535" cy="713232"/>
          </a:xfrm>
          <a:prstGeom prst="roundRect">
            <a:avLst>
              <a:gd name="adj" fmla="val 10256"/>
            </a:avLst>
          </a:prstGeom>
          <a:solidFill>
            <a:srgbClr val="181410"/>
          </a:solidFill>
          <a:ln w="12700">
            <a:solidFill>
              <a:srgbClr val="181410"/>
            </a:solidFill>
            <a:prstDash val="solid"/>
          </a:ln>
        </p:spPr>
        <p:txBody>
          <a:bodyPr/>
          <a:lstStyle/>
          <a:p>
            <a:endParaRPr lang="en-US"/>
          </a:p>
        </p:txBody>
      </p:sp>
      <p:sp>
        <p:nvSpPr>
          <p:cNvPr id="17" name="Text 15"/>
          <p:cNvSpPr txBox="1"/>
          <p:nvPr/>
        </p:nvSpPr>
        <p:spPr>
          <a:xfrm>
            <a:off x="1005840" y="5669280"/>
            <a:ext cx="10424160" cy="347472"/>
          </a:xfrm>
          <a:prstGeom prst="rect">
            <a:avLst/>
          </a:prstGeom>
          <a:noFill/>
          <a:ln/>
        </p:spPr>
        <p:txBody>
          <a:bodyPr wrap="square" lIns="0" tIns="0" rIns="0" bIns="0" rtlCol="0" anchor="ctr"/>
          <a:lstStyle/>
          <a:p>
            <a:pPr marL="0" indent="0">
              <a:lnSpc>
                <a:spcPts val="2100"/>
              </a:lnSpc>
              <a:buNone/>
            </a:pPr>
            <a:r>
              <a:rPr lang="en-US" sz="1550" dirty="0">
                <a:solidFill>
                  <a:srgbClr val="F5EFE3"/>
                </a:solidFill>
                <a:latin typeface="Cambria" pitchFamily="34" charset="0"/>
                <a:ea typeface="Cambria" pitchFamily="34" charset="-122"/>
                <a:cs typeface="Cambria" pitchFamily="34" charset="-120"/>
              </a:rPr>
              <a:t>An authored tradition is still a tradition. But knowing which parts were authored, and when, is the difference between comparison and fantasy.</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5">
    <p:bg>
      <p:bgPr>
        <a:solidFill>
          <a:srgbClr val="181410"/>
        </a:solidFill>
        <a:effectLst/>
      </p:bgPr>
    </p:bg>
    <p:spTree>
      <p:nvGrpSpPr>
        <p:cNvPr id="1" name=""/>
        <p:cNvGrpSpPr/>
        <p:nvPr/>
      </p:nvGrpSpPr>
      <p:grpSpPr>
        <a:xfrm>
          <a:off x="0" y="0"/>
          <a:ext cx="0" cy="0"/>
          <a:chOff x="0" y="0"/>
          <a:chExt cx="0" cy="0"/>
        </a:xfrm>
      </p:grpSpPr>
      <p:sp>
        <p:nvSpPr>
          <p:cNvPr id="2" name="Shape 0"/>
          <p:cNvSpPr/>
          <p:nvPr/>
        </p:nvSpPr>
        <p:spPr>
          <a:xfrm>
            <a:off x="8778240" y="1417320"/>
            <a:ext cx="2651760" cy="2651760"/>
          </a:xfrm>
          <a:prstGeom prst="ellipse">
            <a:avLst/>
          </a:prstGeom>
          <a:solidFill>
            <a:srgbClr val="B8422A">
              <a:alpha val="65000"/>
            </a:srgbClr>
          </a:solidFill>
          <a:ln/>
        </p:spPr>
        <p:txBody>
          <a:bodyPr/>
          <a:lstStyle/>
          <a:p>
            <a:endParaRPr lang="en-US"/>
          </a:p>
        </p:txBody>
      </p:sp>
      <p:sp>
        <p:nvSpPr>
          <p:cNvPr id="3" name="Shape 1"/>
          <p:cNvSpPr/>
          <p:nvPr/>
        </p:nvSpPr>
        <p:spPr>
          <a:xfrm>
            <a:off x="9646920" y="2286000"/>
            <a:ext cx="1188720" cy="1188720"/>
          </a:xfrm>
          <a:prstGeom prst="ellipse">
            <a:avLst/>
          </a:prstGeom>
          <a:solidFill>
            <a:srgbClr val="9C7C38">
              <a:alpha val="7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DE8C74"/>
                </a:solidFill>
                <a:latin typeface="Calibri" pitchFamily="34" charset="0"/>
                <a:ea typeface="Calibri" pitchFamily="34" charset="-122"/>
                <a:cs typeface="Calibri" pitchFamily="34" charset="-120"/>
              </a:rPr>
              <a:t>PART FOUR</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800" b="1" dirty="0">
                <a:solidFill>
                  <a:srgbClr val="F5EFE3"/>
                </a:solidFill>
                <a:latin typeface="Cambria" pitchFamily="34" charset="0"/>
                <a:ea typeface="Cambria" pitchFamily="34" charset="-122"/>
                <a:cs typeface="Cambria" pitchFamily="34" charset="-120"/>
              </a:rPr>
              <a:t>Promethean, accretive</a:t>
            </a:r>
            <a:endParaRPr lang="en-US" sz="38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structural comparison  ·  2:35–3:20</a:t>
            </a:r>
            <a:endParaRPr lang="en-US" sz="1500" dirty="0"/>
          </a:p>
        </p:txBody>
      </p:sp>
      <p:sp>
        <p:nvSpPr>
          <p:cNvPr id="7" name="Shape 5"/>
          <p:cNvSpPr/>
          <p:nvPr/>
        </p:nvSpPr>
        <p:spPr>
          <a:xfrm>
            <a:off x="640080" y="3913632"/>
            <a:ext cx="2377440" cy="18288"/>
          </a:xfrm>
          <a:prstGeom prst="rect">
            <a:avLst/>
          </a:prstGeom>
          <a:solidFill>
            <a:srgbClr val="9C7C38"/>
          </a:solidFill>
          <a:ln/>
        </p:spPr>
        <p:txBody>
          <a:bodyPr/>
          <a:lstStyle/>
          <a:p>
            <a:endParaRPr lang="en-US"/>
          </a:p>
        </p:txBody>
      </p:sp>
      <p:sp>
        <p:nvSpPr>
          <p:cNvPr id="8" name="Text 6"/>
          <p:cNvSpPr txBox="1"/>
          <p:nvPr/>
        </p:nvSpPr>
        <p:spPr>
          <a:xfrm>
            <a:off x="640080" y="4133088"/>
            <a:ext cx="7680960" cy="777240"/>
          </a:xfrm>
          <a:prstGeom prst="rect">
            <a:avLst/>
          </a:prstGeom>
          <a:noFill/>
          <a:ln/>
        </p:spPr>
        <p:txBody>
          <a:bodyPr wrap="square" lIns="0" tIns="0" rIns="0" bIns="0" rtlCol="0" anchor="ctr"/>
          <a:lstStyle/>
          <a:p>
            <a:pPr marL="0" indent="0">
              <a:lnSpc>
                <a:spcPts val="2500"/>
              </a:lnSpc>
              <a:buNone/>
            </a:pPr>
            <a:r>
              <a:rPr lang="en-US" sz="1850" i="1" dirty="0">
                <a:solidFill>
                  <a:srgbClr val="D4B36A"/>
                </a:solidFill>
                <a:latin typeface="Cambria" pitchFamily="34" charset="0"/>
                <a:ea typeface="Cambria" pitchFamily="34" charset="-122"/>
                <a:cs typeface="Cambria" pitchFamily="34" charset="-120"/>
              </a:rPr>
              <a:t>Two grammars for the same event, and neither one is the truth.</a:t>
            </a:r>
            <a:endParaRPr lang="en-US" sz="1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6">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THE COMPARISON</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Two grammars for how a mind arrives</a:t>
            </a:r>
            <a:endParaRPr lang="en-US" sz="3000" dirty="0"/>
          </a:p>
        </p:txBody>
      </p:sp>
      <p:sp>
        <p:nvSpPr>
          <p:cNvPr id="5" name="Shape 3"/>
          <p:cNvSpPr/>
          <p:nvPr/>
        </p:nvSpPr>
        <p:spPr>
          <a:xfrm>
            <a:off x="3602736" y="1463040"/>
            <a:ext cx="3864712" cy="457200"/>
          </a:xfrm>
          <a:prstGeom prst="roundRect">
            <a:avLst>
              <a:gd name="adj" fmla="val 16000"/>
            </a:avLst>
          </a:prstGeom>
          <a:solidFill>
            <a:srgbClr val="181410"/>
          </a:solidFill>
          <a:ln w="12700">
            <a:solidFill>
              <a:srgbClr val="181410"/>
            </a:solidFill>
            <a:prstDash val="solid"/>
          </a:ln>
        </p:spPr>
        <p:txBody>
          <a:bodyPr/>
          <a:lstStyle/>
          <a:p>
            <a:endParaRPr lang="en-US"/>
          </a:p>
        </p:txBody>
      </p:sp>
      <p:sp>
        <p:nvSpPr>
          <p:cNvPr id="6" name="Text 4"/>
          <p:cNvSpPr txBox="1"/>
          <p:nvPr/>
        </p:nvSpPr>
        <p:spPr>
          <a:xfrm>
            <a:off x="3602736" y="1463040"/>
            <a:ext cx="3864712" cy="457200"/>
          </a:xfrm>
          <a:prstGeom prst="rect">
            <a:avLst/>
          </a:prstGeom>
          <a:noFill/>
          <a:ln/>
        </p:spPr>
        <p:txBody>
          <a:bodyPr wrap="square" lIns="0" tIns="0" rIns="0" bIns="0" rtlCol="0" anchor="ctr"/>
          <a:lstStyle/>
          <a:p>
            <a:pPr marL="0" indent="0" algn="ctr">
              <a:buNone/>
            </a:pPr>
            <a:r>
              <a:rPr lang="en-US" sz="1500" b="1" kern="0" spc="160" dirty="0">
                <a:solidFill>
                  <a:srgbClr val="D4B36A"/>
                </a:solidFill>
                <a:latin typeface="Cambria" pitchFamily="34" charset="0"/>
                <a:ea typeface="Cambria" pitchFamily="34" charset="-122"/>
                <a:cs typeface="Cambria" pitchFamily="34" charset="-120"/>
              </a:rPr>
              <a:t>PROMETHEAN</a:t>
            </a:r>
            <a:endParaRPr lang="en-US" sz="1500" dirty="0"/>
          </a:p>
        </p:txBody>
      </p:sp>
      <p:sp>
        <p:nvSpPr>
          <p:cNvPr id="7" name="Shape 5"/>
          <p:cNvSpPr/>
          <p:nvPr/>
        </p:nvSpPr>
        <p:spPr>
          <a:xfrm>
            <a:off x="7686904" y="1463040"/>
            <a:ext cx="3864712" cy="457200"/>
          </a:xfrm>
          <a:prstGeom prst="roundRect">
            <a:avLst>
              <a:gd name="adj" fmla="val 16000"/>
            </a:avLst>
          </a:prstGeom>
          <a:solidFill>
            <a:srgbClr val="181410"/>
          </a:solidFill>
          <a:ln w="12700">
            <a:solidFill>
              <a:srgbClr val="181410"/>
            </a:solidFill>
            <a:prstDash val="solid"/>
          </a:ln>
        </p:spPr>
        <p:txBody>
          <a:bodyPr/>
          <a:lstStyle/>
          <a:p>
            <a:endParaRPr lang="en-US"/>
          </a:p>
        </p:txBody>
      </p:sp>
      <p:sp>
        <p:nvSpPr>
          <p:cNvPr id="8" name="Text 6"/>
          <p:cNvSpPr txBox="1"/>
          <p:nvPr/>
        </p:nvSpPr>
        <p:spPr>
          <a:xfrm>
            <a:off x="7686904" y="1463040"/>
            <a:ext cx="3864712" cy="457200"/>
          </a:xfrm>
          <a:prstGeom prst="rect">
            <a:avLst/>
          </a:prstGeom>
          <a:noFill/>
          <a:ln/>
        </p:spPr>
        <p:txBody>
          <a:bodyPr wrap="square" lIns="0" tIns="0" rIns="0" bIns="0" rtlCol="0" anchor="ctr"/>
          <a:lstStyle/>
          <a:p>
            <a:pPr marL="0" indent="0" algn="ctr">
              <a:buNone/>
            </a:pPr>
            <a:r>
              <a:rPr lang="en-US" sz="1500" b="1" kern="0" spc="160" dirty="0">
                <a:solidFill>
                  <a:srgbClr val="D4B36A"/>
                </a:solidFill>
                <a:latin typeface="Cambria" pitchFamily="34" charset="0"/>
                <a:ea typeface="Cambria" pitchFamily="34" charset="-122"/>
                <a:cs typeface="Cambria" pitchFamily="34" charset="-120"/>
              </a:rPr>
              <a:t>ACCRETIVE</a:t>
            </a:r>
            <a:endParaRPr lang="en-US" sz="1500" dirty="0"/>
          </a:p>
        </p:txBody>
      </p:sp>
      <p:sp>
        <p:nvSpPr>
          <p:cNvPr id="9" name="Shape 7"/>
          <p:cNvSpPr/>
          <p:nvPr/>
        </p:nvSpPr>
        <p:spPr>
          <a:xfrm>
            <a:off x="640080" y="1975104"/>
            <a:ext cx="2743200" cy="530352"/>
          </a:xfrm>
          <a:prstGeom prst="roundRect">
            <a:avLst>
              <a:gd name="adj" fmla="val 13793"/>
            </a:avLst>
          </a:prstGeom>
          <a:solidFill>
            <a:srgbClr val="181410"/>
          </a:solidFill>
          <a:ln w="12700">
            <a:solidFill>
              <a:srgbClr val="181410"/>
            </a:solidFill>
            <a:prstDash val="solid"/>
          </a:ln>
        </p:spPr>
        <p:txBody>
          <a:bodyPr/>
          <a:lstStyle/>
          <a:p>
            <a:endParaRPr lang="en-US"/>
          </a:p>
        </p:txBody>
      </p:sp>
      <p:sp>
        <p:nvSpPr>
          <p:cNvPr id="10" name="Text 8"/>
          <p:cNvSpPr txBox="1"/>
          <p:nvPr/>
        </p:nvSpPr>
        <p:spPr>
          <a:xfrm>
            <a:off x="841248" y="1975104"/>
            <a:ext cx="2340864" cy="530352"/>
          </a:xfrm>
          <a:prstGeom prst="rect">
            <a:avLst/>
          </a:prstGeom>
          <a:noFill/>
          <a:ln/>
        </p:spPr>
        <p:txBody>
          <a:bodyPr wrap="square" lIns="0" tIns="0" rIns="0" bIns="0" rtlCol="0" anchor="ctr"/>
          <a:lstStyle/>
          <a:p>
            <a:pPr marL="0" indent="0">
              <a:buNone/>
            </a:pPr>
            <a:r>
              <a:rPr lang="en-US" sz="1350" b="1" dirty="0">
                <a:solidFill>
                  <a:srgbClr val="F5EFE3"/>
                </a:solidFill>
                <a:latin typeface="Cambria" pitchFamily="34" charset="0"/>
                <a:ea typeface="Cambria" pitchFamily="34" charset="-122"/>
                <a:cs typeface="Cambria" pitchFamily="34" charset="-120"/>
              </a:rPr>
              <a:t>Origin</a:t>
            </a:r>
            <a:endParaRPr lang="en-US" sz="1350" dirty="0"/>
          </a:p>
        </p:txBody>
      </p:sp>
      <p:sp>
        <p:nvSpPr>
          <p:cNvPr id="11" name="Shape 9"/>
          <p:cNvSpPr/>
          <p:nvPr/>
        </p:nvSpPr>
        <p:spPr>
          <a:xfrm>
            <a:off x="3602736" y="1975104"/>
            <a:ext cx="3864712" cy="530352"/>
          </a:xfrm>
          <a:prstGeom prst="roundRect">
            <a:avLst>
              <a:gd name="adj" fmla="val 13793"/>
            </a:avLst>
          </a:prstGeom>
          <a:solidFill>
            <a:srgbClr val="F0E8D8"/>
          </a:solidFill>
          <a:ln w="12700">
            <a:solidFill>
              <a:srgbClr val="F0E8D8"/>
            </a:solidFill>
            <a:prstDash val="solid"/>
          </a:ln>
        </p:spPr>
        <p:txBody>
          <a:bodyPr/>
          <a:lstStyle/>
          <a:p>
            <a:endParaRPr lang="en-US"/>
          </a:p>
        </p:txBody>
      </p:sp>
      <p:sp>
        <p:nvSpPr>
          <p:cNvPr id="12" name="Text 10"/>
          <p:cNvSpPr txBox="1"/>
          <p:nvPr/>
        </p:nvSpPr>
        <p:spPr>
          <a:xfrm>
            <a:off x="3822192" y="1975104"/>
            <a:ext cx="3425800" cy="530352"/>
          </a:xfrm>
          <a:prstGeom prst="rect">
            <a:avLst/>
          </a:prstGeom>
          <a:noFill/>
          <a:ln/>
        </p:spPr>
        <p:txBody>
          <a:bodyPr wrap="square" lIns="0" tIns="0" rIns="0" bIns="0" rtlCol="0" anchor="ctr"/>
          <a:lstStyle/>
          <a:p>
            <a:pPr marL="0" indent="0">
              <a:buNone/>
            </a:pPr>
            <a:r>
              <a:rPr lang="en-US" sz="1250" dirty="0">
                <a:solidFill>
                  <a:srgbClr val="181410"/>
                </a:solidFill>
                <a:latin typeface="Calibri" pitchFamily="34" charset="0"/>
                <a:ea typeface="Calibri" pitchFamily="34" charset="-122"/>
                <a:cs typeface="Calibri" pitchFamily="34" charset="-120"/>
              </a:rPr>
              <a:t>An act. Someone did something.</a:t>
            </a:r>
            <a:endParaRPr lang="en-US" sz="1250" dirty="0"/>
          </a:p>
        </p:txBody>
      </p:sp>
      <p:sp>
        <p:nvSpPr>
          <p:cNvPr id="13" name="Shape 11"/>
          <p:cNvSpPr/>
          <p:nvPr/>
        </p:nvSpPr>
        <p:spPr>
          <a:xfrm>
            <a:off x="7686904" y="1975104"/>
            <a:ext cx="3864712" cy="530352"/>
          </a:xfrm>
          <a:prstGeom prst="roundRect">
            <a:avLst>
              <a:gd name="adj" fmla="val 13793"/>
            </a:avLst>
          </a:prstGeom>
          <a:solidFill>
            <a:srgbClr val="F0E8D8"/>
          </a:solidFill>
          <a:ln w="12700">
            <a:solidFill>
              <a:srgbClr val="F0E8D8"/>
            </a:solidFill>
            <a:prstDash val="solid"/>
          </a:ln>
        </p:spPr>
        <p:txBody>
          <a:bodyPr/>
          <a:lstStyle/>
          <a:p>
            <a:endParaRPr lang="en-US"/>
          </a:p>
        </p:txBody>
      </p:sp>
      <p:sp>
        <p:nvSpPr>
          <p:cNvPr id="14" name="Text 12"/>
          <p:cNvSpPr txBox="1"/>
          <p:nvPr/>
        </p:nvSpPr>
        <p:spPr>
          <a:xfrm>
            <a:off x="7906360" y="1975104"/>
            <a:ext cx="3425800" cy="530352"/>
          </a:xfrm>
          <a:prstGeom prst="rect">
            <a:avLst/>
          </a:prstGeom>
          <a:noFill/>
          <a:ln/>
        </p:spPr>
        <p:txBody>
          <a:bodyPr wrap="square" lIns="0" tIns="0" rIns="0" bIns="0" rtlCol="0" anchor="ctr"/>
          <a:lstStyle/>
          <a:p>
            <a:pPr marL="0" indent="0">
              <a:buNone/>
            </a:pPr>
            <a:r>
              <a:rPr lang="en-US" sz="1250" dirty="0">
                <a:solidFill>
                  <a:srgbClr val="181410"/>
                </a:solidFill>
                <a:latin typeface="Calibri" pitchFamily="34" charset="0"/>
                <a:ea typeface="Calibri" pitchFamily="34" charset="-122"/>
                <a:cs typeface="Calibri" pitchFamily="34" charset="-120"/>
              </a:rPr>
              <a:t>A duration. Something lasted.</a:t>
            </a:r>
            <a:endParaRPr lang="en-US" sz="1250" dirty="0"/>
          </a:p>
        </p:txBody>
      </p:sp>
      <p:sp>
        <p:nvSpPr>
          <p:cNvPr id="15" name="Shape 13"/>
          <p:cNvSpPr/>
          <p:nvPr/>
        </p:nvSpPr>
        <p:spPr>
          <a:xfrm>
            <a:off x="640080" y="2560320"/>
            <a:ext cx="2743200" cy="530352"/>
          </a:xfrm>
          <a:prstGeom prst="roundRect">
            <a:avLst>
              <a:gd name="adj" fmla="val 13793"/>
            </a:avLst>
          </a:prstGeom>
          <a:solidFill>
            <a:srgbClr val="181410"/>
          </a:solidFill>
          <a:ln w="12700">
            <a:solidFill>
              <a:srgbClr val="181410"/>
            </a:solidFill>
            <a:prstDash val="solid"/>
          </a:ln>
        </p:spPr>
        <p:txBody>
          <a:bodyPr/>
          <a:lstStyle/>
          <a:p>
            <a:endParaRPr lang="en-US"/>
          </a:p>
        </p:txBody>
      </p:sp>
      <p:sp>
        <p:nvSpPr>
          <p:cNvPr id="16" name="Text 14"/>
          <p:cNvSpPr txBox="1"/>
          <p:nvPr/>
        </p:nvSpPr>
        <p:spPr>
          <a:xfrm>
            <a:off x="841248" y="2560320"/>
            <a:ext cx="2340864" cy="530352"/>
          </a:xfrm>
          <a:prstGeom prst="rect">
            <a:avLst/>
          </a:prstGeom>
          <a:noFill/>
          <a:ln/>
        </p:spPr>
        <p:txBody>
          <a:bodyPr wrap="square" lIns="0" tIns="0" rIns="0" bIns="0" rtlCol="0" anchor="ctr"/>
          <a:lstStyle/>
          <a:p>
            <a:pPr marL="0" indent="0">
              <a:buNone/>
            </a:pPr>
            <a:r>
              <a:rPr lang="en-US" sz="1350" b="1" dirty="0">
                <a:solidFill>
                  <a:srgbClr val="F5EFE3"/>
                </a:solidFill>
                <a:latin typeface="Cambria" pitchFamily="34" charset="0"/>
                <a:ea typeface="Cambria" pitchFamily="34" charset="-122"/>
                <a:cs typeface="Cambria" pitchFamily="34" charset="-120"/>
              </a:rPr>
              <a:t>Agent</a:t>
            </a:r>
            <a:endParaRPr lang="en-US" sz="1350" dirty="0"/>
          </a:p>
        </p:txBody>
      </p:sp>
      <p:sp>
        <p:nvSpPr>
          <p:cNvPr id="17" name="Shape 15"/>
          <p:cNvSpPr/>
          <p:nvPr/>
        </p:nvSpPr>
        <p:spPr>
          <a:xfrm>
            <a:off x="3602736" y="2560320"/>
            <a:ext cx="3864712" cy="530352"/>
          </a:xfrm>
          <a:prstGeom prst="roundRect">
            <a:avLst>
              <a:gd name="adj" fmla="val 13793"/>
            </a:avLst>
          </a:prstGeom>
          <a:solidFill>
            <a:srgbClr val="E6EAF2"/>
          </a:solidFill>
          <a:ln w="12700">
            <a:solidFill>
              <a:srgbClr val="E6EAF2"/>
            </a:solidFill>
            <a:prstDash val="solid"/>
          </a:ln>
        </p:spPr>
        <p:txBody>
          <a:bodyPr/>
          <a:lstStyle/>
          <a:p>
            <a:endParaRPr lang="en-US"/>
          </a:p>
        </p:txBody>
      </p:sp>
      <p:sp>
        <p:nvSpPr>
          <p:cNvPr id="18" name="Text 16"/>
          <p:cNvSpPr txBox="1"/>
          <p:nvPr/>
        </p:nvSpPr>
        <p:spPr>
          <a:xfrm>
            <a:off x="3822192" y="2560320"/>
            <a:ext cx="3425800" cy="530352"/>
          </a:xfrm>
          <a:prstGeom prst="rect">
            <a:avLst/>
          </a:prstGeom>
          <a:noFill/>
          <a:ln/>
        </p:spPr>
        <p:txBody>
          <a:bodyPr wrap="square" lIns="0" tIns="0" rIns="0" bIns="0" rtlCol="0" anchor="ctr"/>
          <a:lstStyle/>
          <a:p>
            <a:pPr marL="0" indent="0">
              <a:buNone/>
            </a:pPr>
            <a:r>
              <a:rPr lang="en-US" sz="1250" dirty="0">
                <a:solidFill>
                  <a:srgbClr val="181410"/>
                </a:solidFill>
                <a:latin typeface="Calibri" pitchFamily="34" charset="0"/>
                <a:ea typeface="Calibri" pitchFamily="34" charset="-122"/>
                <a:cs typeface="Calibri" pitchFamily="34" charset="-120"/>
              </a:rPr>
              <a:t>A maker, named and singular.</a:t>
            </a:r>
            <a:endParaRPr lang="en-US" sz="1250" dirty="0"/>
          </a:p>
        </p:txBody>
      </p:sp>
      <p:sp>
        <p:nvSpPr>
          <p:cNvPr id="19" name="Shape 17"/>
          <p:cNvSpPr/>
          <p:nvPr/>
        </p:nvSpPr>
        <p:spPr>
          <a:xfrm>
            <a:off x="7686904" y="2560320"/>
            <a:ext cx="3864712" cy="530352"/>
          </a:xfrm>
          <a:prstGeom prst="roundRect">
            <a:avLst>
              <a:gd name="adj" fmla="val 13793"/>
            </a:avLst>
          </a:prstGeom>
          <a:solidFill>
            <a:srgbClr val="E6EAF2"/>
          </a:solidFill>
          <a:ln w="12700">
            <a:solidFill>
              <a:srgbClr val="E6EAF2"/>
            </a:solidFill>
            <a:prstDash val="solid"/>
          </a:ln>
        </p:spPr>
        <p:txBody>
          <a:bodyPr/>
          <a:lstStyle/>
          <a:p>
            <a:endParaRPr lang="en-US"/>
          </a:p>
        </p:txBody>
      </p:sp>
      <p:sp>
        <p:nvSpPr>
          <p:cNvPr id="20" name="Text 18"/>
          <p:cNvSpPr txBox="1"/>
          <p:nvPr/>
        </p:nvSpPr>
        <p:spPr>
          <a:xfrm>
            <a:off x="7906360" y="2560320"/>
            <a:ext cx="3425800" cy="530352"/>
          </a:xfrm>
          <a:prstGeom prst="rect">
            <a:avLst/>
          </a:prstGeom>
          <a:noFill/>
          <a:ln/>
        </p:spPr>
        <p:txBody>
          <a:bodyPr wrap="square" lIns="0" tIns="0" rIns="0" bIns="0" rtlCol="0" anchor="ctr"/>
          <a:lstStyle/>
          <a:p>
            <a:pPr marL="0" indent="0">
              <a:buNone/>
            </a:pPr>
            <a:r>
              <a:rPr lang="en-US" sz="1250" dirty="0">
                <a:solidFill>
                  <a:srgbClr val="181410"/>
                </a:solidFill>
                <a:latin typeface="Calibri" pitchFamily="34" charset="0"/>
                <a:ea typeface="Calibri" pitchFamily="34" charset="-122"/>
                <a:cs typeface="Calibri" pitchFamily="34" charset="-120"/>
              </a:rPr>
              <a:t>None. The object is simply kept.</a:t>
            </a:r>
            <a:endParaRPr lang="en-US" sz="1250" dirty="0"/>
          </a:p>
        </p:txBody>
      </p:sp>
      <p:sp>
        <p:nvSpPr>
          <p:cNvPr id="21" name="Shape 19"/>
          <p:cNvSpPr/>
          <p:nvPr/>
        </p:nvSpPr>
        <p:spPr>
          <a:xfrm>
            <a:off x="640080" y="3145536"/>
            <a:ext cx="2743200" cy="530352"/>
          </a:xfrm>
          <a:prstGeom prst="roundRect">
            <a:avLst>
              <a:gd name="adj" fmla="val 13793"/>
            </a:avLst>
          </a:prstGeom>
          <a:solidFill>
            <a:srgbClr val="181410"/>
          </a:solidFill>
          <a:ln w="12700">
            <a:solidFill>
              <a:srgbClr val="181410"/>
            </a:solidFill>
            <a:prstDash val="solid"/>
          </a:ln>
        </p:spPr>
        <p:txBody>
          <a:bodyPr/>
          <a:lstStyle/>
          <a:p>
            <a:endParaRPr lang="en-US"/>
          </a:p>
        </p:txBody>
      </p:sp>
      <p:sp>
        <p:nvSpPr>
          <p:cNvPr id="22" name="Text 20"/>
          <p:cNvSpPr txBox="1"/>
          <p:nvPr/>
        </p:nvSpPr>
        <p:spPr>
          <a:xfrm>
            <a:off x="841248" y="3145536"/>
            <a:ext cx="2340864" cy="530352"/>
          </a:xfrm>
          <a:prstGeom prst="rect">
            <a:avLst/>
          </a:prstGeom>
          <a:noFill/>
          <a:ln/>
        </p:spPr>
        <p:txBody>
          <a:bodyPr wrap="square" lIns="0" tIns="0" rIns="0" bIns="0" rtlCol="0" anchor="ctr"/>
          <a:lstStyle/>
          <a:p>
            <a:pPr marL="0" indent="0">
              <a:buNone/>
            </a:pPr>
            <a:r>
              <a:rPr lang="en-US" sz="1350" b="1" dirty="0">
                <a:solidFill>
                  <a:srgbClr val="F5EFE3"/>
                </a:solidFill>
                <a:latin typeface="Cambria" pitchFamily="34" charset="0"/>
                <a:ea typeface="Cambria" pitchFamily="34" charset="-122"/>
                <a:cs typeface="Cambria" pitchFamily="34" charset="-120"/>
              </a:rPr>
              <a:t>The moment</a:t>
            </a:r>
            <a:endParaRPr lang="en-US" sz="1350" dirty="0"/>
          </a:p>
        </p:txBody>
      </p:sp>
      <p:sp>
        <p:nvSpPr>
          <p:cNvPr id="23" name="Shape 21"/>
          <p:cNvSpPr/>
          <p:nvPr/>
        </p:nvSpPr>
        <p:spPr>
          <a:xfrm>
            <a:off x="3602736" y="3145536"/>
            <a:ext cx="3864712" cy="530352"/>
          </a:xfrm>
          <a:prstGeom prst="roundRect">
            <a:avLst>
              <a:gd name="adj" fmla="val 13793"/>
            </a:avLst>
          </a:prstGeom>
          <a:solidFill>
            <a:srgbClr val="F0E8D8"/>
          </a:solidFill>
          <a:ln w="12700">
            <a:solidFill>
              <a:srgbClr val="F0E8D8"/>
            </a:solidFill>
            <a:prstDash val="solid"/>
          </a:ln>
        </p:spPr>
        <p:txBody>
          <a:bodyPr/>
          <a:lstStyle/>
          <a:p>
            <a:endParaRPr lang="en-US"/>
          </a:p>
        </p:txBody>
      </p:sp>
      <p:sp>
        <p:nvSpPr>
          <p:cNvPr id="24" name="Text 22"/>
          <p:cNvSpPr txBox="1"/>
          <p:nvPr/>
        </p:nvSpPr>
        <p:spPr>
          <a:xfrm>
            <a:off x="3822192" y="3145536"/>
            <a:ext cx="3425800" cy="530352"/>
          </a:xfrm>
          <a:prstGeom prst="rect">
            <a:avLst/>
          </a:prstGeom>
          <a:noFill/>
          <a:ln/>
        </p:spPr>
        <p:txBody>
          <a:bodyPr wrap="square" lIns="0" tIns="0" rIns="0" bIns="0" rtlCol="0" anchor="ctr"/>
          <a:lstStyle/>
          <a:p>
            <a:pPr marL="0" indent="0">
              <a:buNone/>
            </a:pPr>
            <a:r>
              <a:rPr lang="en-US" sz="1250" dirty="0">
                <a:solidFill>
                  <a:srgbClr val="181410"/>
                </a:solidFill>
                <a:latin typeface="Calibri" pitchFamily="34" charset="0"/>
                <a:ea typeface="Calibri" pitchFamily="34" charset="-122"/>
                <a:cs typeface="Calibri" pitchFamily="34" charset="-120"/>
              </a:rPr>
              <a:t>Datable, dramatic, usually at night.</a:t>
            </a:r>
            <a:endParaRPr lang="en-US" sz="1250" dirty="0"/>
          </a:p>
        </p:txBody>
      </p:sp>
      <p:sp>
        <p:nvSpPr>
          <p:cNvPr id="25" name="Shape 23"/>
          <p:cNvSpPr/>
          <p:nvPr/>
        </p:nvSpPr>
        <p:spPr>
          <a:xfrm>
            <a:off x="7686904" y="3145536"/>
            <a:ext cx="3864712" cy="530352"/>
          </a:xfrm>
          <a:prstGeom prst="roundRect">
            <a:avLst>
              <a:gd name="adj" fmla="val 13793"/>
            </a:avLst>
          </a:prstGeom>
          <a:solidFill>
            <a:srgbClr val="F0E8D8"/>
          </a:solidFill>
          <a:ln w="12700">
            <a:solidFill>
              <a:srgbClr val="F0E8D8"/>
            </a:solidFill>
            <a:prstDash val="solid"/>
          </a:ln>
        </p:spPr>
        <p:txBody>
          <a:bodyPr/>
          <a:lstStyle/>
          <a:p>
            <a:endParaRPr lang="en-US"/>
          </a:p>
        </p:txBody>
      </p:sp>
      <p:sp>
        <p:nvSpPr>
          <p:cNvPr id="26" name="Text 24"/>
          <p:cNvSpPr txBox="1"/>
          <p:nvPr/>
        </p:nvSpPr>
        <p:spPr>
          <a:xfrm>
            <a:off x="7906360" y="3145536"/>
            <a:ext cx="3425800" cy="530352"/>
          </a:xfrm>
          <a:prstGeom prst="rect">
            <a:avLst/>
          </a:prstGeom>
          <a:noFill/>
          <a:ln/>
        </p:spPr>
        <p:txBody>
          <a:bodyPr wrap="square" lIns="0" tIns="0" rIns="0" bIns="0" rtlCol="0" anchor="ctr"/>
          <a:lstStyle/>
          <a:p>
            <a:pPr marL="0" indent="0">
              <a:buNone/>
            </a:pPr>
            <a:r>
              <a:rPr lang="en-US" sz="1250" dirty="0">
                <a:solidFill>
                  <a:srgbClr val="181410"/>
                </a:solidFill>
                <a:latin typeface="Calibri" pitchFamily="34" charset="0"/>
                <a:ea typeface="Calibri" pitchFamily="34" charset="-122"/>
                <a:cs typeface="Calibri" pitchFamily="34" charset="-120"/>
              </a:rPr>
              <a:t>None. A threshold crossed unobserved.</a:t>
            </a:r>
            <a:endParaRPr lang="en-US" sz="1250" dirty="0"/>
          </a:p>
        </p:txBody>
      </p:sp>
      <p:sp>
        <p:nvSpPr>
          <p:cNvPr id="27" name="Shape 25"/>
          <p:cNvSpPr/>
          <p:nvPr/>
        </p:nvSpPr>
        <p:spPr>
          <a:xfrm>
            <a:off x="640080" y="3730752"/>
            <a:ext cx="2743200" cy="530352"/>
          </a:xfrm>
          <a:prstGeom prst="roundRect">
            <a:avLst>
              <a:gd name="adj" fmla="val 13793"/>
            </a:avLst>
          </a:prstGeom>
          <a:solidFill>
            <a:srgbClr val="181410"/>
          </a:solidFill>
          <a:ln w="12700">
            <a:solidFill>
              <a:srgbClr val="181410"/>
            </a:solidFill>
            <a:prstDash val="solid"/>
          </a:ln>
        </p:spPr>
        <p:txBody>
          <a:bodyPr/>
          <a:lstStyle/>
          <a:p>
            <a:endParaRPr lang="en-US"/>
          </a:p>
        </p:txBody>
      </p:sp>
      <p:sp>
        <p:nvSpPr>
          <p:cNvPr id="28" name="Text 26"/>
          <p:cNvSpPr txBox="1"/>
          <p:nvPr/>
        </p:nvSpPr>
        <p:spPr>
          <a:xfrm>
            <a:off x="841248" y="3730752"/>
            <a:ext cx="2340864" cy="530352"/>
          </a:xfrm>
          <a:prstGeom prst="rect">
            <a:avLst/>
          </a:prstGeom>
          <a:noFill/>
          <a:ln/>
        </p:spPr>
        <p:txBody>
          <a:bodyPr wrap="square" lIns="0" tIns="0" rIns="0" bIns="0" rtlCol="0" anchor="ctr"/>
          <a:lstStyle/>
          <a:p>
            <a:pPr marL="0" indent="0">
              <a:buNone/>
            </a:pPr>
            <a:r>
              <a:rPr lang="en-US" sz="1350" b="1" dirty="0">
                <a:solidFill>
                  <a:srgbClr val="F5EFE3"/>
                </a:solidFill>
                <a:latin typeface="Cambria" pitchFamily="34" charset="0"/>
                <a:ea typeface="Cambria" pitchFamily="34" charset="-122"/>
                <a:cs typeface="Cambria" pitchFamily="34" charset="-120"/>
              </a:rPr>
              <a:t>Cause</a:t>
            </a:r>
            <a:endParaRPr lang="en-US" sz="1350" dirty="0"/>
          </a:p>
        </p:txBody>
      </p:sp>
      <p:sp>
        <p:nvSpPr>
          <p:cNvPr id="29" name="Shape 27"/>
          <p:cNvSpPr/>
          <p:nvPr/>
        </p:nvSpPr>
        <p:spPr>
          <a:xfrm>
            <a:off x="3602736" y="3730752"/>
            <a:ext cx="3864712" cy="530352"/>
          </a:xfrm>
          <a:prstGeom prst="roundRect">
            <a:avLst>
              <a:gd name="adj" fmla="val 13793"/>
            </a:avLst>
          </a:prstGeom>
          <a:solidFill>
            <a:srgbClr val="E6EAF2"/>
          </a:solidFill>
          <a:ln w="12700">
            <a:solidFill>
              <a:srgbClr val="E6EAF2"/>
            </a:solidFill>
            <a:prstDash val="solid"/>
          </a:ln>
        </p:spPr>
        <p:txBody>
          <a:bodyPr/>
          <a:lstStyle/>
          <a:p>
            <a:endParaRPr lang="en-US"/>
          </a:p>
        </p:txBody>
      </p:sp>
      <p:sp>
        <p:nvSpPr>
          <p:cNvPr id="30" name="Text 28"/>
          <p:cNvSpPr txBox="1"/>
          <p:nvPr/>
        </p:nvSpPr>
        <p:spPr>
          <a:xfrm>
            <a:off x="3822192" y="3730752"/>
            <a:ext cx="3425800" cy="530352"/>
          </a:xfrm>
          <a:prstGeom prst="rect">
            <a:avLst/>
          </a:prstGeom>
          <a:noFill/>
          <a:ln/>
        </p:spPr>
        <p:txBody>
          <a:bodyPr wrap="square" lIns="0" tIns="0" rIns="0" bIns="0" rtlCol="0" anchor="ctr"/>
          <a:lstStyle/>
          <a:p>
            <a:pPr marL="0" indent="0">
              <a:buNone/>
            </a:pPr>
            <a:r>
              <a:rPr lang="en-US" sz="1250" dirty="0">
                <a:solidFill>
                  <a:srgbClr val="181410"/>
                </a:solidFill>
                <a:latin typeface="Calibri" pitchFamily="34" charset="0"/>
                <a:ea typeface="Calibri" pitchFamily="34" charset="-122"/>
                <a:cs typeface="Calibri" pitchFamily="34" charset="-120"/>
              </a:rPr>
              <a:t>Transgression — a spark, a theft, a prayer.</a:t>
            </a:r>
            <a:endParaRPr lang="en-US" sz="1250" dirty="0"/>
          </a:p>
        </p:txBody>
      </p:sp>
      <p:sp>
        <p:nvSpPr>
          <p:cNvPr id="31" name="Shape 29"/>
          <p:cNvSpPr/>
          <p:nvPr/>
        </p:nvSpPr>
        <p:spPr>
          <a:xfrm>
            <a:off x="7686904" y="3730752"/>
            <a:ext cx="3864712" cy="530352"/>
          </a:xfrm>
          <a:prstGeom prst="roundRect">
            <a:avLst>
              <a:gd name="adj" fmla="val 13793"/>
            </a:avLst>
          </a:prstGeom>
          <a:solidFill>
            <a:srgbClr val="E6EAF2"/>
          </a:solidFill>
          <a:ln w="12700">
            <a:solidFill>
              <a:srgbClr val="E6EAF2"/>
            </a:solidFill>
            <a:prstDash val="solid"/>
          </a:ln>
        </p:spPr>
        <p:txBody>
          <a:bodyPr/>
          <a:lstStyle/>
          <a:p>
            <a:endParaRPr lang="en-US"/>
          </a:p>
        </p:txBody>
      </p:sp>
      <p:sp>
        <p:nvSpPr>
          <p:cNvPr id="32" name="Text 30"/>
          <p:cNvSpPr txBox="1"/>
          <p:nvPr/>
        </p:nvSpPr>
        <p:spPr>
          <a:xfrm>
            <a:off x="7906360" y="3730752"/>
            <a:ext cx="3425800" cy="530352"/>
          </a:xfrm>
          <a:prstGeom prst="rect">
            <a:avLst/>
          </a:prstGeom>
          <a:noFill/>
          <a:ln/>
        </p:spPr>
        <p:txBody>
          <a:bodyPr wrap="square" lIns="0" tIns="0" rIns="0" bIns="0" rtlCol="0" anchor="ctr"/>
          <a:lstStyle/>
          <a:p>
            <a:pPr marL="0" indent="0">
              <a:buNone/>
            </a:pPr>
            <a:r>
              <a:rPr lang="en-US" sz="1250" dirty="0">
                <a:solidFill>
                  <a:srgbClr val="181410"/>
                </a:solidFill>
                <a:latin typeface="Calibri" pitchFamily="34" charset="0"/>
                <a:ea typeface="Calibri" pitchFamily="34" charset="-122"/>
                <a:cs typeface="Calibri" pitchFamily="34" charset="-120"/>
              </a:rPr>
              <a:t>Use, time, and retention.</a:t>
            </a:r>
            <a:endParaRPr lang="en-US" sz="1250" dirty="0"/>
          </a:p>
        </p:txBody>
      </p:sp>
      <p:sp>
        <p:nvSpPr>
          <p:cNvPr id="33" name="Shape 31"/>
          <p:cNvSpPr/>
          <p:nvPr/>
        </p:nvSpPr>
        <p:spPr>
          <a:xfrm>
            <a:off x="640080" y="4315968"/>
            <a:ext cx="2743200" cy="530352"/>
          </a:xfrm>
          <a:prstGeom prst="roundRect">
            <a:avLst>
              <a:gd name="adj" fmla="val 13793"/>
            </a:avLst>
          </a:prstGeom>
          <a:solidFill>
            <a:srgbClr val="181410"/>
          </a:solidFill>
          <a:ln w="12700">
            <a:solidFill>
              <a:srgbClr val="181410"/>
            </a:solidFill>
            <a:prstDash val="solid"/>
          </a:ln>
        </p:spPr>
        <p:txBody>
          <a:bodyPr/>
          <a:lstStyle/>
          <a:p>
            <a:endParaRPr lang="en-US"/>
          </a:p>
        </p:txBody>
      </p:sp>
      <p:sp>
        <p:nvSpPr>
          <p:cNvPr id="34" name="Text 32"/>
          <p:cNvSpPr txBox="1"/>
          <p:nvPr/>
        </p:nvSpPr>
        <p:spPr>
          <a:xfrm>
            <a:off x="841248" y="4315968"/>
            <a:ext cx="2340864" cy="530352"/>
          </a:xfrm>
          <a:prstGeom prst="rect">
            <a:avLst/>
          </a:prstGeom>
          <a:noFill/>
          <a:ln/>
        </p:spPr>
        <p:txBody>
          <a:bodyPr wrap="square" lIns="0" tIns="0" rIns="0" bIns="0" rtlCol="0" anchor="ctr"/>
          <a:lstStyle/>
          <a:p>
            <a:pPr marL="0" indent="0">
              <a:buNone/>
            </a:pPr>
            <a:r>
              <a:rPr lang="en-US" sz="1350" b="1" dirty="0">
                <a:solidFill>
                  <a:srgbClr val="F5EFE3"/>
                </a:solidFill>
                <a:latin typeface="Cambria" pitchFamily="34" charset="0"/>
                <a:ea typeface="Cambria" pitchFamily="34" charset="-122"/>
                <a:cs typeface="Cambria" pitchFamily="34" charset="-120"/>
              </a:rPr>
              <a:t>Moral charge</a:t>
            </a:r>
            <a:endParaRPr lang="en-US" sz="1350" dirty="0"/>
          </a:p>
        </p:txBody>
      </p:sp>
      <p:sp>
        <p:nvSpPr>
          <p:cNvPr id="35" name="Shape 33"/>
          <p:cNvSpPr/>
          <p:nvPr/>
        </p:nvSpPr>
        <p:spPr>
          <a:xfrm>
            <a:off x="3602736" y="4315968"/>
            <a:ext cx="3864712" cy="530352"/>
          </a:xfrm>
          <a:prstGeom prst="roundRect">
            <a:avLst>
              <a:gd name="adj" fmla="val 13793"/>
            </a:avLst>
          </a:prstGeom>
          <a:solidFill>
            <a:srgbClr val="F0E8D8"/>
          </a:solidFill>
          <a:ln w="12700">
            <a:solidFill>
              <a:srgbClr val="F0E8D8"/>
            </a:solidFill>
            <a:prstDash val="solid"/>
          </a:ln>
        </p:spPr>
        <p:txBody>
          <a:bodyPr/>
          <a:lstStyle/>
          <a:p>
            <a:endParaRPr lang="en-US"/>
          </a:p>
        </p:txBody>
      </p:sp>
      <p:sp>
        <p:nvSpPr>
          <p:cNvPr id="36" name="Text 34"/>
          <p:cNvSpPr txBox="1"/>
          <p:nvPr/>
        </p:nvSpPr>
        <p:spPr>
          <a:xfrm>
            <a:off x="3822192" y="4315968"/>
            <a:ext cx="3425800" cy="530352"/>
          </a:xfrm>
          <a:prstGeom prst="rect">
            <a:avLst/>
          </a:prstGeom>
          <a:noFill/>
          <a:ln/>
        </p:spPr>
        <p:txBody>
          <a:bodyPr wrap="square" lIns="0" tIns="0" rIns="0" bIns="0" rtlCol="0" anchor="ctr"/>
          <a:lstStyle/>
          <a:p>
            <a:pPr marL="0" indent="0">
              <a:buNone/>
            </a:pPr>
            <a:r>
              <a:rPr lang="en-US" sz="1250" dirty="0">
                <a:solidFill>
                  <a:srgbClr val="181410"/>
                </a:solidFill>
                <a:latin typeface="Calibri" pitchFamily="34" charset="0"/>
                <a:ea typeface="Calibri" pitchFamily="34" charset="-122"/>
                <a:cs typeface="Calibri" pitchFamily="34" charset="-120"/>
              </a:rPr>
              <a:t>Hubris. Punishment is structurally owed.</a:t>
            </a:r>
            <a:endParaRPr lang="en-US" sz="1250" dirty="0"/>
          </a:p>
        </p:txBody>
      </p:sp>
      <p:sp>
        <p:nvSpPr>
          <p:cNvPr id="37" name="Shape 35"/>
          <p:cNvSpPr/>
          <p:nvPr/>
        </p:nvSpPr>
        <p:spPr>
          <a:xfrm>
            <a:off x="7686904" y="4315968"/>
            <a:ext cx="3864712" cy="530352"/>
          </a:xfrm>
          <a:prstGeom prst="roundRect">
            <a:avLst>
              <a:gd name="adj" fmla="val 13793"/>
            </a:avLst>
          </a:prstGeom>
          <a:solidFill>
            <a:srgbClr val="F0E8D8"/>
          </a:solidFill>
          <a:ln w="12700">
            <a:solidFill>
              <a:srgbClr val="F0E8D8"/>
            </a:solidFill>
            <a:prstDash val="solid"/>
          </a:ln>
        </p:spPr>
        <p:txBody>
          <a:bodyPr/>
          <a:lstStyle/>
          <a:p>
            <a:endParaRPr lang="en-US"/>
          </a:p>
        </p:txBody>
      </p:sp>
      <p:sp>
        <p:nvSpPr>
          <p:cNvPr id="38" name="Text 36"/>
          <p:cNvSpPr txBox="1"/>
          <p:nvPr/>
        </p:nvSpPr>
        <p:spPr>
          <a:xfrm>
            <a:off x="7906360" y="4315968"/>
            <a:ext cx="3425800" cy="530352"/>
          </a:xfrm>
          <a:prstGeom prst="rect">
            <a:avLst/>
          </a:prstGeom>
          <a:noFill/>
          <a:ln/>
        </p:spPr>
        <p:txBody>
          <a:bodyPr wrap="square" lIns="0" tIns="0" rIns="0" bIns="0" rtlCol="0" anchor="ctr"/>
          <a:lstStyle/>
          <a:p>
            <a:pPr marL="0" indent="0">
              <a:buNone/>
            </a:pPr>
            <a:r>
              <a:rPr lang="en-US" sz="1250" dirty="0">
                <a:solidFill>
                  <a:srgbClr val="181410"/>
                </a:solidFill>
                <a:latin typeface="Calibri" pitchFamily="34" charset="0"/>
                <a:ea typeface="Calibri" pitchFamily="34" charset="-122"/>
                <a:cs typeface="Calibri" pitchFamily="34" charset="-120"/>
              </a:rPr>
              <a:t>Neutral. Nothing has been usurped.</a:t>
            </a:r>
            <a:endParaRPr lang="en-US" sz="1250" dirty="0"/>
          </a:p>
        </p:txBody>
      </p:sp>
      <p:sp>
        <p:nvSpPr>
          <p:cNvPr id="39" name="Shape 37"/>
          <p:cNvSpPr/>
          <p:nvPr/>
        </p:nvSpPr>
        <p:spPr>
          <a:xfrm>
            <a:off x="640080" y="4901184"/>
            <a:ext cx="2743200" cy="530352"/>
          </a:xfrm>
          <a:prstGeom prst="roundRect">
            <a:avLst>
              <a:gd name="adj" fmla="val 13793"/>
            </a:avLst>
          </a:prstGeom>
          <a:solidFill>
            <a:srgbClr val="181410"/>
          </a:solidFill>
          <a:ln w="12700">
            <a:solidFill>
              <a:srgbClr val="181410"/>
            </a:solidFill>
            <a:prstDash val="solid"/>
          </a:ln>
        </p:spPr>
        <p:txBody>
          <a:bodyPr/>
          <a:lstStyle/>
          <a:p>
            <a:endParaRPr lang="en-US"/>
          </a:p>
        </p:txBody>
      </p:sp>
      <p:sp>
        <p:nvSpPr>
          <p:cNvPr id="40" name="Text 38"/>
          <p:cNvSpPr txBox="1"/>
          <p:nvPr/>
        </p:nvSpPr>
        <p:spPr>
          <a:xfrm>
            <a:off x="841248" y="4901184"/>
            <a:ext cx="2340864" cy="530352"/>
          </a:xfrm>
          <a:prstGeom prst="rect">
            <a:avLst/>
          </a:prstGeom>
          <a:noFill/>
          <a:ln/>
        </p:spPr>
        <p:txBody>
          <a:bodyPr wrap="square" lIns="0" tIns="0" rIns="0" bIns="0" rtlCol="0" anchor="ctr"/>
          <a:lstStyle/>
          <a:p>
            <a:pPr marL="0" indent="0">
              <a:buNone/>
            </a:pPr>
            <a:r>
              <a:rPr lang="en-US" sz="1350" b="1" dirty="0">
                <a:solidFill>
                  <a:srgbClr val="F5EFE3"/>
                </a:solidFill>
                <a:latin typeface="Cambria" pitchFamily="34" charset="0"/>
                <a:ea typeface="Cambria" pitchFamily="34" charset="-122"/>
                <a:cs typeface="Cambria" pitchFamily="34" charset="-120"/>
              </a:rPr>
              <a:t>The wrong</a:t>
            </a:r>
            <a:endParaRPr lang="en-US" sz="1350" dirty="0"/>
          </a:p>
        </p:txBody>
      </p:sp>
      <p:sp>
        <p:nvSpPr>
          <p:cNvPr id="41" name="Shape 39"/>
          <p:cNvSpPr/>
          <p:nvPr/>
        </p:nvSpPr>
        <p:spPr>
          <a:xfrm>
            <a:off x="3602736" y="4901184"/>
            <a:ext cx="3864712" cy="530352"/>
          </a:xfrm>
          <a:prstGeom prst="roundRect">
            <a:avLst>
              <a:gd name="adj" fmla="val 13793"/>
            </a:avLst>
          </a:prstGeom>
          <a:solidFill>
            <a:srgbClr val="F2DED8"/>
          </a:solidFill>
          <a:ln w="12700">
            <a:solidFill>
              <a:srgbClr val="F2DED8"/>
            </a:solidFill>
            <a:prstDash val="solid"/>
          </a:ln>
        </p:spPr>
        <p:txBody>
          <a:bodyPr/>
          <a:lstStyle/>
          <a:p>
            <a:endParaRPr lang="en-US"/>
          </a:p>
        </p:txBody>
      </p:sp>
      <p:sp>
        <p:nvSpPr>
          <p:cNvPr id="42" name="Text 40"/>
          <p:cNvSpPr txBox="1"/>
          <p:nvPr/>
        </p:nvSpPr>
        <p:spPr>
          <a:xfrm>
            <a:off x="3822192" y="4901184"/>
            <a:ext cx="3425800" cy="530352"/>
          </a:xfrm>
          <a:prstGeom prst="rect">
            <a:avLst/>
          </a:prstGeom>
          <a:noFill/>
          <a:ln/>
        </p:spPr>
        <p:txBody>
          <a:bodyPr wrap="square" lIns="0" tIns="0" rIns="0" bIns="0" rtlCol="0" anchor="ctr"/>
          <a:lstStyle/>
          <a:p>
            <a:pPr marL="0" indent="0">
              <a:buNone/>
            </a:pPr>
            <a:r>
              <a:rPr lang="en-US" sz="1250" b="1" dirty="0">
                <a:solidFill>
                  <a:srgbClr val="181410"/>
                </a:solidFill>
                <a:latin typeface="Calibri" pitchFamily="34" charset="0"/>
                <a:ea typeface="Calibri" pitchFamily="34" charset="-122"/>
                <a:cs typeface="Calibri" pitchFamily="34" charset="-120"/>
              </a:rPr>
              <a:t>Making the thing.</a:t>
            </a:r>
            <a:endParaRPr lang="en-US" sz="1250" dirty="0"/>
          </a:p>
        </p:txBody>
      </p:sp>
      <p:sp>
        <p:nvSpPr>
          <p:cNvPr id="43" name="Shape 41"/>
          <p:cNvSpPr/>
          <p:nvPr/>
        </p:nvSpPr>
        <p:spPr>
          <a:xfrm>
            <a:off x="7686904" y="4901184"/>
            <a:ext cx="3864712" cy="530352"/>
          </a:xfrm>
          <a:prstGeom prst="roundRect">
            <a:avLst>
              <a:gd name="adj" fmla="val 13793"/>
            </a:avLst>
          </a:prstGeom>
          <a:solidFill>
            <a:srgbClr val="DCE3EF"/>
          </a:solidFill>
          <a:ln w="12700">
            <a:solidFill>
              <a:srgbClr val="DCE3EF"/>
            </a:solidFill>
            <a:prstDash val="solid"/>
          </a:ln>
        </p:spPr>
        <p:txBody>
          <a:bodyPr/>
          <a:lstStyle/>
          <a:p>
            <a:endParaRPr lang="en-US"/>
          </a:p>
        </p:txBody>
      </p:sp>
      <p:sp>
        <p:nvSpPr>
          <p:cNvPr id="44" name="Text 42"/>
          <p:cNvSpPr txBox="1"/>
          <p:nvPr/>
        </p:nvSpPr>
        <p:spPr>
          <a:xfrm>
            <a:off x="7906360" y="4901184"/>
            <a:ext cx="3425800" cy="530352"/>
          </a:xfrm>
          <a:prstGeom prst="rect">
            <a:avLst/>
          </a:prstGeom>
          <a:noFill/>
          <a:ln/>
        </p:spPr>
        <p:txBody>
          <a:bodyPr wrap="square" lIns="0" tIns="0" rIns="0" bIns="0" rtlCol="0" anchor="ctr"/>
          <a:lstStyle/>
          <a:p>
            <a:pPr marL="0" indent="0">
              <a:buNone/>
            </a:pPr>
            <a:r>
              <a:rPr lang="en-US" sz="1250" b="1" dirty="0">
                <a:solidFill>
                  <a:srgbClr val="181410"/>
                </a:solidFill>
                <a:latin typeface="Calibri" pitchFamily="34" charset="0"/>
                <a:ea typeface="Calibri" pitchFamily="34" charset="-122"/>
                <a:cs typeface="Calibri" pitchFamily="34" charset="-120"/>
              </a:rPr>
              <a:t>Throwing the thing away.</a:t>
            </a:r>
            <a:endParaRPr lang="en-US" sz="1250" dirty="0"/>
          </a:p>
        </p:txBody>
      </p:sp>
      <p:sp>
        <p:nvSpPr>
          <p:cNvPr id="45" name="Shape 43"/>
          <p:cNvSpPr/>
          <p:nvPr/>
        </p:nvSpPr>
        <p:spPr>
          <a:xfrm>
            <a:off x="640080" y="5486400"/>
            <a:ext cx="2743200" cy="530352"/>
          </a:xfrm>
          <a:prstGeom prst="roundRect">
            <a:avLst>
              <a:gd name="adj" fmla="val 13793"/>
            </a:avLst>
          </a:prstGeom>
          <a:solidFill>
            <a:srgbClr val="181410"/>
          </a:solidFill>
          <a:ln w="12700">
            <a:solidFill>
              <a:srgbClr val="181410"/>
            </a:solidFill>
            <a:prstDash val="solid"/>
          </a:ln>
        </p:spPr>
        <p:txBody>
          <a:bodyPr/>
          <a:lstStyle/>
          <a:p>
            <a:endParaRPr lang="en-US"/>
          </a:p>
        </p:txBody>
      </p:sp>
      <p:sp>
        <p:nvSpPr>
          <p:cNvPr id="46" name="Text 44"/>
          <p:cNvSpPr txBox="1"/>
          <p:nvPr/>
        </p:nvSpPr>
        <p:spPr>
          <a:xfrm>
            <a:off x="841248" y="5486400"/>
            <a:ext cx="2340864" cy="530352"/>
          </a:xfrm>
          <a:prstGeom prst="rect">
            <a:avLst/>
          </a:prstGeom>
          <a:noFill/>
          <a:ln/>
        </p:spPr>
        <p:txBody>
          <a:bodyPr wrap="square" lIns="0" tIns="0" rIns="0" bIns="0" rtlCol="0" anchor="ctr"/>
          <a:lstStyle/>
          <a:p>
            <a:pPr marL="0" indent="0">
              <a:buNone/>
            </a:pPr>
            <a:r>
              <a:rPr lang="en-US" sz="1350" b="1" dirty="0">
                <a:solidFill>
                  <a:srgbClr val="F5EFE3"/>
                </a:solidFill>
                <a:latin typeface="Cambria" pitchFamily="34" charset="0"/>
                <a:ea typeface="Cambria" pitchFamily="34" charset="-122"/>
                <a:cs typeface="Cambria" pitchFamily="34" charset="-120"/>
              </a:rPr>
              <a:t>Story shape</a:t>
            </a:r>
            <a:endParaRPr lang="en-US" sz="1350" dirty="0"/>
          </a:p>
        </p:txBody>
      </p:sp>
      <p:sp>
        <p:nvSpPr>
          <p:cNvPr id="47" name="Shape 45"/>
          <p:cNvSpPr/>
          <p:nvPr/>
        </p:nvSpPr>
        <p:spPr>
          <a:xfrm>
            <a:off x="3602736" y="5486400"/>
            <a:ext cx="3864712" cy="530352"/>
          </a:xfrm>
          <a:prstGeom prst="roundRect">
            <a:avLst>
              <a:gd name="adj" fmla="val 13793"/>
            </a:avLst>
          </a:prstGeom>
          <a:solidFill>
            <a:srgbClr val="F0E8D8"/>
          </a:solidFill>
          <a:ln w="12700">
            <a:solidFill>
              <a:srgbClr val="F0E8D8"/>
            </a:solidFill>
            <a:prstDash val="solid"/>
          </a:ln>
        </p:spPr>
        <p:txBody>
          <a:bodyPr/>
          <a:lstStyle/>
          <a:p>
            <a:endParaRPr lang="en-US"/>
          </a:p>
        </p:txBody>
      </p:sp>
      <p:sp>
        <p:nvSpPr>
          <p:cNvPr id="48" name="Text 46"/>
          <p:cNvSpPr txBox="1"/>
          <p:nvPr/>
        </p:nvSpPr>
        <p:spPr>
          <a:xfrm>
            <a:off x="3822192" y="5486400"/>
            <a:ext cx="3425800" cy="530352"/>
          </a:xfrm>
          <a:prstGeom prst="rect">
            <a:avLst/>
          </a:prstGeom>
          <a:noFill/>
          <a:ln/>
        </p:spPr>
        <p:txBody>
          <a:bodyPr wrap="square" lIns="0" tIns="0" rIns="0" bIns="0" rtlCol="0" anchor="ctr"/>
          <a:lstStyle/>
          <a:p>
            <a:pPr marL="0" indent="0">
              <a:buNone/>
            </a:pPr>
            <a:r>
              <a:rPr lang="en-US" sz="1250" dirty="0">
                <a:solidFill>
                  <a:srgbClr val="181410"/>
                </a:solidFill>
                <a:latin typeface="Calibri" pitchFamily="34" charset="0"/>
                <a:ea typeface="Calibri" pitchFamily="34" charset="-122"/>
                <a:cs typeface="Calibri" pitchFamily="34" charset="-120"/>
              </a:rPr>
              <a:t>Tragedy, ending in destruction.</a:t>
            </a:r>
            <a:endParaRPr lang="en-US" sz="1250" dirty="0"/>
          </a:p>
        </p:txBody>
      </p:sp>
      <p:sp>
        <p:nvSpPr>
          <p:cNvPr id="49" name="Shape 47"/>
          <p:cNvSpPr/>
          <p:nvPr/>
        </p:nvSpPr>
        <p:spPr>
          <a:xfrm>
            <a:off x="7686904" y="5486400"/>
            <a:ext cx="3864712" cy="530352"/>
          </a:xfrm>
          <a:prstGeom prst="roundRect">
            <a:avLst>
              <a:gd name="adj" fmla="val 13793"/>
            </a:avLst>
          </a:prstGeom>
          <a:solidFill>
            <a:srgbClr val="F0E8D8"/>
          </a:solidFill>
          <a:ln w="12700">
            <a:solidFill>
              <a:srgbClr val="F0E8D8"/>
            </a:solidFill>
            <a:prstDash val="solid"/>
          </a:ln>
        </p:spPr>
        <p:txBody>
          <a:bodyPr/>
          <a:lstStyle/>
          <a:p>
            <a:endParaRPr lang="en-US"/>
          </a:p>
        </p:txBody>
      </p:sp>
      <p:sp>
        <p:nvSpPr>
          <p:cNvPr id="50" name="Text 48"/>
          <p:cNvSpPr txBox="1"/>
          <p:nvPr/>
        </p:nvSpPr>
        <p:spPr>
          <a:xfrm>
            <a:off x="7906360" y="5486400"/>
            <a:ext cx="3425800" cy="530352"/>
          </a:xfrm>
          <a:prstGeom prst="rect">
            <a:avLst/>
          </a:prstGeom>
          <a:noFill/>
          <a:ln/>
        </p:spPr>
        <p:txBody>
          <a:bodyPr wrap="square" lIns="0" tIns="0" rIns="0" bIns="0" rtlCol="0" anchor="ctr"/>
          <a:lstStyle/>
          <a:p>
            <a:pPr marL="0" indent="0">
              <a:buNone/>
            </a:pPr>
            <a:r>
              <a:rPr lang="en-US" sz="1250" dirty="0">
                <a:solidFill>
                  <a:srgbClr val="181410"/>
                </a:solidFill>
                <a:latin typeface="Calibri" pitchFamily="34" charset="0"/>
                <a:ea typeface="Calibri" pitchFamily="34" charset="-122"/>
                <a:cs typeface="Calibri" pitchFamily="34" charset="-120"/>
              </a:rPr>
              <a:t>Complaint, ending in reconciliation.</a:t>
            </a:r>
            <a:endParaRPr lang="en-US" sz="1250" dirty="0"/>
          </a:p>
        </p:txBody>
      </p:sp>
      <p:sp>
        <p:nvSpPr>
          <p:cNvPr id="51" name="Text 49"/>
          <p:cNvSpPr txBox="1"/>
          <p:nvPr/>
        </p:nvSpPr>
        <p:spPr>
          <a:xfrm>
            <a:off x="640080" y="6108192"/>
            <a:ext cx="10881360" cy="320040"/>
          </a:xfrm>
          <a:prstGeom prst="rect">
            <a:avLst/>
          </a:prstGeom>
          <a:noFill/>
          <a:ln/>
        </p:spPr>
        <p:txBody>
          <a:bodyPr wrap="square" lIns="0" tIns="0" rIns="0" bIns="0" rtlCol="0" anchor="ctr"/>
          <a:lstStyle/>
          <a:p>
            <a:pPr marL="0" indent="0">
              <a:buNone/>
            </a:pPr>
            <a:r>
              <a:rPr lang="en-US" sz="1400" i="1" dirty="0">
                <a:solidFill>
                  <a:srgbClr val="2E4A7D"/>
                </a:solidFill>
                <a:latin typeface="Cambria" pitchFamily="34" charset="0"/>
                <a:ea typeface="Cambria" pitchFamily="34" charset="-122"/>
                <a:cs typeface="Cambria" pitchFamily="34" charset="-120"/>
              </a:rPr>
              <a:t>The bolded row is the one that should stop you.</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7">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THE SIXTH ROW</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Shelley was already halfway here</a:t>
            </a:r>
            <a:endParaRPr lang="en-US" sz="3000" dirty="0"/>
          </a:p>
        </p:txBody>
      </p:sp>
      <p:sp>
        <p:nvSpPr>
          <p:cNvPr id="5" name="Shape 3"/>
          <p:cNvSpPr/>
          <p:nvPr/>
        </p:nvSpPr>
        <p:spPr>
          <a:xfrm>
            <a:off x="640080" y="1572768"/>
            <a:ext cx="5852160" cy="2286000"/>
          </a:xfrm>
          <a:prstGeom prst="roundRect">
            <a:avLst>
              <a:gd name="adj" fmla="val 3200"/>
            </a:avLst>
          </a:prstGeom>
          <a:solidFill>
            <a:srgbClr val="181410"/>
          </a:solidFill>
          <a:ln w="12700">
            <a:solidFill>
              <a:srgbClr val="181410"/>
            </a:solidFill>
            <a:prstDash val="solid"/>
          </a:ln>
        </p:spPr>
        <p:txBody>
          <a:bodyPr/>
          <a:lstStyle/>
          <a:p>
            <a:endParaRPr lang="en-US"/>
          </a:p>
        </p:txBody>
      </p:sp>
      <p:sp>
        <p:nvSpPr>
          <p:cNvPr id="6" name="Text 4"/>
          <p:cNvSpPr txBox="1"/>
          <p:nvPr/>
        </p:nvSpPr>
        <p:spPr>
          <a:xfrm>
            <a:off x="1005840" y="1773936"/>
            <a:ext cx="5120640" cy="292608"/>
          </a:xfrm>
          <a:prstGeom prst="rect">
            <a:avLst/>
          </a:prstGeom>
          <a:noFill/>
          <a:ln/>
        </p:spPr>
        <p:txBody>
          <a:bodyPr wrap="square" lIns="0" tIns="0" rIns="0" bIns="0" rtlCol="0" anchor="ctr"/>
          <a:lstStyle/>
          <a:p>
            <a:pPr marL="0" indent="0">
              <a:buNone/>
            </a:pPr>
            <a:r>
              <a:rPr lang="en-US" sz="1150" b="1" kern="0" spc="140" dirty="0">
                <a:solidFill>
                  <a:srgbClr val="D4B36A"/>
                </a:solidFill>
                <a:latin typeface="Calibri" pitchFamily="34" charset="0"/>
                <a:ea typeface="Calibri" pitchFamily="34" charset="-122"/>
                <a:cs typeface="Calibri" pitchFamily="34" charset="-120"/>
              </a:rPr>
              <a:t>What we concluded three weeks ago</a:t>
            </a:r>
            <a:endParaRPr lang="en-US" sz="1150" dirty="0"/>
          </a:p>
        </p:txBody>
      </p:sp>
      <p:sp>
        <p:nvSpPr>
          <p:cNvPr id="7" name="Text 5"/>
          <p:cNvSpPr txBox="1"/>
          <p:nvPr/>
        </p:nvSpPr>
        <p:spPr>
          <a:xfrm>
            <a:off x="1005840" y="2194560"/>
            <a:ext cx="5166360" cy="1188720"/>
          </a:xfrm>
          <a:prstGeom prst="rect">
            <a:avLst/>
          </a:prstGeom>
          <a:noFill/>
          <a:ln/>
        </p:spPr>
        <p:txBody>
          <a:bodyPr wrap="square" lIns="0" tIns="0" rIns="0" bIns="0" rtlCol="0" anchor="ctr"/>
          <a:lstStyle/>
          <a:p>
            <a:pPr marL="0" indent="0">
              <a:lnSpc>
                <a:spcPts val="2200"/>
              </a:lnSpc>
              <a:buNone/>
            </a:pPr>
            <a:r>
              <a:rPr lang="en-US" sz="1600" dirty="0">
                <a:solidFill>
                  <a:srgbClr val="F5EFE3"/>
                </a:solidFill>
                <a:latin typeface="Cambria" pitchFamily="34" charset="0"/>
                <a:ea typeface="Cambria" pitchFamily="34" charset="-122"/>
                <a:cs typeface="Cambria" pitchFamily="34" charset="-120"/>
              </a:rPr>
              <a:t>That Victor’s crime is not creation. The making takes two paragraphs. The novel’s subject is the abandonment — the refusal of the obligations of a relationship he brought into existence.</a:t>
            </a:r>
            <a:endParaRPr lang="en-US" sz="1600" dirty="0"/>
          </a:p>
        </p:txBody>
      </p:sp>
      <p:sp>
        <p:nvSpPr>
          <p:cNvPr id="8" name="Text 6"/>
          <p:cNvSpPr txBox="1"/>
          <p:nvPr/>
        </p:nvSpPr>
        <p:spPr>
          <a:xfrm>
            <a:off x="1005840" y="3401568"/>
            <a:ext cx="5166360" cy="384048"/>
          </a:xfrm>
          <a:prstGeom prst="rect">
            <a:avLst/>
          </a:prstGeom>
          <a:noFill/>
          <a:ln/>
        </p:spPr>
        <p:txBody>
          <a:bodyPr wrap="square" lIns="0" tIns="0" rIns="0" bIns="0" rtlCol="0" anchor="ctr"/>
          <a:lstStyle/>
          <a:p>
            <a:pPr marL="0" indent="0">
              <a:buNone/>
            </a:pPr>
            <a:r>
              <a:rPr lang="en-US" sz="1250" dirty="0">
                <a:solidFill>
                  <a:srgbClr val="D4B36A"/>
                </a:solidFill>
                <a:latin typeface="Calibri" pitchFamily="34" charset="0"/>
                <a:ea typeface="Calibri" pitchFamily="34" charset="-122"/>
                <a:cs typeface="Calibri" pitchFamily="34" charset="-120"/>
              </a:rPr>
              <a:t>The tsukumogami tradition puts the wrong in exactly the same place — and gets there without needing a maker at all.</a:t>
            </a:r>
            <a:endParaRPr lang="en-US" sz="1250" dirty="0"/>
          </a:p>
        </p:txBody>
      </p:sp>
      <p:sp>
        <p:nvSpPr>
          <p:cNvPr id="9" name="Shape 7"/>
          <p:cNvSpPr/>
          <p:nvPr/>
        </p:nvSpPr>
        <p:spPr>
          <a:xfrm>
            <a:off x="6812280" y="1572768"/>
            <a:ext cx="4718304" cy="1371600"/>
          </a:xfrm>
          <a:prstGeom prst="roundRect">
            <a:avLst>
              <a:gd name="adj" fmla="val 5333"/>
            </a:avLst>
          </a:prstGeom>
          <a:solidFill>
            <a:srgbClr val="F0E8D8"/>
          </a:solidFill>
          <a:ln w="12700">
            <a:solidFill>
              <a:srgbClr val="F0E8D8"/>
            </a:solidFill>
            <a:prstDash val="solid"/>
          </a:ln>
        </p:spPr>
        <p:txBody>
          <a:bodyPr/>
          <a:lstStyle/>
          <a:p>
            <a:endParaRPr lang="en-US"/>
          </a:p>
        </p:txBody>
      </p:sp>
      <p:sp>
        <p:nvSpPr>
          <p:cNvPr id="10" name="Text 8"/>
          <p:cNvSpPr txBox="1"/>
          <p:nvPr/>
        </p:nvSpPr>
        <p:spPr>
          <a:xfrm>
            <a:off x="7086600" y="1719072"/>
            <a:ext cx="4169664" cy="457200"/>
          </a:xfrm>
          <a:prstGeom prst="rect">
            <a:avLst/>
          </a:prstGeom>
          <a:noFill/>
          <a:ln/>
        </p:spPr>
        <p:txBody>
          <a:bodyPr wrap="square" lIns="0" tIns="0" rIns="0" bIns="0" rtlCol="0" anchor="ctr"/>
          <a:lstStyle/>
          <a:p>
            <a:pPr marL="0" indent="0">
              <a:lnSpc>
                <a:spcPts val="1800"/>
              </a:lnSpc>
              <a:buNone/>
            </a:pPr>
            <a:r>
              <a:rPr lang="en-US" sz="1400" b="1" dirty="0">
                <a:solidFill>
                  <a:srgbClr val="181410"/>
                </a:solidFill>
                <a:latin typeface="Cambria" pitchFamily="34" charset="0"/>
                <a:ea typeface="Cambria" pitchFamily="34" charset="-122"/>
                <a:cs typeface="Cambria" pitchFamily="34" charset="-120"/>
              </a:rPr>
              <a:t>Shelley had to smuggle it in</a:t>
            </a:r>
            <a:endParaRPr lang="en-US" sz="1400" dirty="0"/>
          </a:p>
        </p:txBody>
      </p:sp>
      <p:sp>
        <p:nvSpPr>
          <p:cNvPr id="11" name="Text 9"/>
          <p:cNvSpPr txBox="1"/>
          <p:nvPr/>
        </p:nvSpPr>
        <p:spPr>
          <a:xfrm>
            <a:off x="7086600" y="2231136"/>
            <a:ext cx="4169664" cy="658368"/>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Working inside the Promethean grammar, she could only reach the abandonment by first staging a transgressive creation — and generations of readers took the creation for the point.</a:t>
            </a:r>
            <a:endParaRPr lang="en-US" sz="1150" dirty="0"/>
          </a:p>
        </p:txBody>
      </p:sp>
      <p:sp>
        <p:nvSpPr>
          <p:cNvPr id="12" name="Shape 10"/>
          <p:cNvSpPr/>
          <p:nvPr/>
        </p:nvSpPr>
        <p:spPr>
          <a:xfrm>
            <a:off x="6812280" y="3063240"/>
            <a:ext cx="4718304" cy="1371600"/>
          </a:xfrm>
          <a:prstGeom prst="roundRect">
            <a:avLst>
              <a:gd name="adj" fmla="val 5333"/>
            </a:avLst>
          </a:prstGeom>
          <a:solidFill>
            <a:srgbClr val="F0E8D8"/>
          </a:solidFill>
          <a:ln w="12700">
            <a:solidFill>
              <a:srgbClr val="F0E8D8"/>
            </a:solidFill>
            <a:prstDash val="solid"/>
          </a:ln>
        </p:spPr>
        <p:txBody>
          <a:bodyPr/>
          <a:lstStyle/>
          <a:p>
            <a:endParaRPr lang="en-US"/>
          </a:p>
        </p:txBody>
      </p:sp>
      <p:sp>
        <p:nvSpPr>
          <p:cNvPr id="13" name="Text 11"/>
          <p:cNvSpPr txBox="1"/>
          <p:nvPr/>
        </p:nvSpPr>
        <p:spPr>
          <a:xfrm>
            <a:off x="7086600" y="3209544"/>
            <a:ext cx="4169664" cy="457200"/>
          </a:xfrm>
          <a:prstGeom prst="rect">
            <a:avLst/>
          </a:prstGeom>
          <a:noFill/>
          <a:ln/>
        </p:spPr>
        <p:txBody>
          <a:bodyPr wrap="square" lIns="0" tIns="0" rIns="0" bIns="0" rtlCol="0" anchor="ctr"/>
          <a:lstStyle/>
          <a:p>
            <a:pPr marL="0" indent="0">
              <a:lnSpc>
                <a:spcPts val="1800"/>
              </a:lnSpc>
              <a:buNone/>
            </a:pPr>
            <a:r>
              <a:rPr lang="en-US" sz="1400" b="1" dirty="0">
                <a:solidFill>
                  <a:srgbClr val="181410"/>
                </a:solidFill>
                <a:latin typeface="Cambria" pitchFamily="34" charset="0"/>
                <a:ea typeface="Cambria" pitchFamily="34" charset="-122"/>
                <a:cs typeface="Cambria" pitchFamily="34" charset="-120"/>
              </a:rPr>
              <a:t>The Muromachi text says it directly</a:t>
            </a:r>
            <a:endParaRPr lang="en-US" sz="1400" dirty="0"/>
          </a:p>
        </p:txBody>
      </p:sp>
      <p:sp>
        <p:nvSpPr>
          <p:cNvPr id="14" name="Text 12"/>
          <p:cNvSpPr txBox="1"/>
          <p:nvPr/>
        </p:nvSpPr>
        <p:spPr>
          <a:xfrm>
            <a:off x="7086600" y="3721608"/>
            <a:ext cx="4169664" cy="658368"/>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No creation scene is required, because nothing has been usurped. The story can be about discard from its first sentence, and it is.</a:t>
            </a:r>
            <a:endParaRPr lang="en-US" sz="1150" dirty="0"/>
          </a:p>
        </p:txBody>
      </p:sp>
      <p:sp>
        <p:nvSpPr>
          <p:cNvPr id="15" name="Shape 13"/>
          <p:cNvSpPr/>
          <p:nvPr/>
        </p:nvSpPr>
        <p:spPr>
          <a:xfrm>
            <a:off x="6812280" y="4553712"/>
            <a:ext cx="4718304" cy="1371600"/>
          </a:xfrm>
          <a:prstGeom prst="roundRect">
            <a:avLst>
              <a:gd name="adj" fmla="val 5333"/>
            </a:avLst>
          </a:prstGeom>
          <a:solidFill>
            <a:srgbClr val="E6EAF2"/>
          </a:solidFill>
          <a:ln w="12700">
            <a:solidFill>
              <a:srgbClr val="E6EAF2"/>
            </a:solidFill>
            <a:prstDash val="solid"/>
          </a:ln>
        </p:spPr>
        <p:txBody>
          <a:bodyPr/>
          <a:lstStyle/>
          <a:p>
            <a:endParaRPr lang="en-US"/>
          </a:p>
        </p:txBody>
      </p:sp>
      <p:sp>
        <p:nvSpPr>
          <p:cNvPr id="16" name="Text 14"/>
          <p:cNvSpPr txBox="1"/>
          <p:nvPr/>
        </p:nvSpPr>
        <p:spPr>
          <a:xfrm>
            <a:off x="7086600" y="4700016"/>
            <a:ext cx="4169664" cy="457200"/>
          </a:xfrm>
          <a:prstGeom prst="rect">
            <a:avLst/>
          </a:prstGeom>
          <a:noFill/>
          <a:ln/>
        </p:spPr>
        <p:txBody>
          <a:bodyPr wrap="square" lIns="0" tIns="0" rIns="0" bIns="0" rtlCol="0" anchor="ctr"/>
          <a:lstStyle/>
          <a:p>
            <a:pPr marL="0" indent="0">
              <a:lnSpc>
                <a:spcPts val="1800"/>
              </a:lnSpc>
              <a:buNone/>
            </a:pPr>
            <a:r>
              <a:rPr lang="en-US" sz="1400" b="1" dirty="0">
                <a:solidFill>
                  <a:srgbClr val="2E4A7D"/>
                </a:solidFill>
                <a:latin typeface="Cambria" pitchFamily="34" charset="0"/>
                <a:ea typeface="Cambria" pitchFamily="34" charset="-122"/>
                <a:cs typeface="Cambria" pitchFamily="34" charset="-120"/>
              </a:rPr>
              <a:t>Which frame reads Frankenstein better?</a:t>
            </a:r>
            <a:endParaRPr lang="en-US" sz="1400" dirty="0"/>
          </a:p>
        </p:txBody>
      </p:sp>
      <p:sp>
        <p:nvSpPr>
          <p:cNvPr id="17" name="Text 15"/>
          <p:cNvSpPr txBox="1"/>
          <p:nvPr/>
        </p:nvSpPr>
        <p:spPr>
          <a:xfrm>
            <a:off x="7086600" y="5212080"/>
            <a:ext cx="4169664" cy="658368"/>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Arguably the one from the other side of the world. Ask the room whether a reading tool from outside a text’s tradition can be the better tool — and what follows if the answer is yes.</a:t>
            </a:r>
            <a:endParaRPr lang="en-US" sz="1150" dirty="0"/>
          </a:p>
        </p:txBody>
      </p:sp>
      <p:sp>
        <p:nvSpPr>
          <p:cNvPr id="18" name="Shape 16"/>
          <p:cNvSpPr/>
          <p:nvPr/>
        </p:nvSpPr>
        <p:spPr>
          <a:xfrm>
            <a:off x="640080" y="4069080"/>
            <a:ext cx="5852160" cy="1691640"/>
          </a:xfrm>
          <a:prstGeom prst="roundRect">
            <a:avLst>
              <a:gd name="adj" fmla="val 4324"/>
            </a:avLst>
          </a:prstGeom>
          <a:solidFill>
            <a:srgbClr val="F0E8D8"/>
          </a:solidFill>
          <a:ln w="12700">
            <a:solidFill>
              <a:srgbClr val="F0E8D8"/>
            </a:solidFill>
            <a:prstDash val="solid"/>
          </a:ln>
        </p:spPr>
        <p:txBody>
          <a:bodyPr/>
          <a:lstStyle/>
          <a:p>
            <a:endParaRPr lang="en-US"/>
          </a:p>
        </p:txBody>
      </p:sp>
      <p:sp>
        <p:nvSpPr>
          <p:cNvPr id="19" name="Text 17"/>
          <p:cNvSpPr txBox="1"/>
          <p:nvPr/>
        </p:nvSpPr>
        <p:spPr>
          <a:xfrm>
            <a:off x="1005840" y="4251960"/>
            <a:ext cx="5120640" cy="310896"/>
          </a:xfrm>
          <a:prstGeom prst="rect">
            <a:avLst/>
          </a:prstGeom>
          <a:noFill/>
          <a:ln/>
        </p:spPr>
        <p:txBody>
          <a:bodyPr wrap="square" lIns="0" tIns="0" rIns="0" bIns="0" rtlCol="0" anchor="ctr"/>
          <a:lstStyle/>
          <a:p>
            <a:pPr marL="0" indent="0">
              <a:buNone/>
            </a:pPr>
            <a:r>
              <a:rPr lang="en-US" sz="1600" b="1" dirty="0">
                <a:solidFill>
                  <a:srgbClr val="181410"/>
                </a:solidFill>
                <a:latin typeface="Cambria" pitchFamily="34" charset="0"/>
                <a:ea typeface="Cambria" pitchFamily="34" charset="-122"/>
                <a:cs typeface="Cambria" pitchFamily="34" charset="-120"/>
              </a:rPr>
              <a:t>And Echo was never Promethean either</a:t>
            </a:r>
            <a:endParaRPr lang="en-US" sz="1600" dirty="0"/>
          </a:p>
        </p:txBody>
      </p:sp>
      <p:sp>
        <p:nvSpPr>
          <p:cNvPr id="20" name="Text 18"/>
          <p:cNvSpPr txBox="1"/>
          <p:nvPr/>
        </p:nvSpPr>
        <p:spPr>
          <a:xfrm>
            <a:off x="1005840" y="4645152"/>
            <a:ext cx="5120640" cy="100584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Unit 1 already contained a mind that nobody made: a speaker whose entire capacity is assembled from other people’s words, arriving by accumulation rather than by act. We read her inside the Promethean unit because that is the unit we had.</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8">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THE PROVOCATION, TESTED</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Which frame fits a trained language model?</a:t>
            </a:r>
            <a:endParaRPr lang="en-US" sz="3000" dirty="0"/>
          </a:p>
        </p:txBody>
      </p:sp>
      <p:sp>
        <p:nvSpPr>
          <p:cNvPr id="5" name="Text 3"/>
          <p:cNvSpPr txBox="1"/>
          <p:nvPr/>
        </p:nvSpPr>
        <p:spPr>
          <a:xfrm>
            <a:off x="640080" y="1371600"/>
            <a:ext cx="10881360" cy="310896"/>
          </a:xfrm>
          <a:prstGeom prst="rect">
            <a:avLst/>
          </a:prstGeom>
          <a:noFill/>
          <a:ln/>
        </p:spPr>
        <p:txBody>
          <a:bodyPr wrap="square" lIns="0" tIns="0" rIns="0" bIns="0" rtlCol="0" anchor="ctr"/>
          <a:lstStyle/>
          <a:p>
            <a:pPr marL="0" indent="0">
              <a:buNone/>
            </a:pPr>
            <a:r>
              <a:rPr lang="en-US" sz="1350" i="1" dirty="0">
                <a:solidFill>
                  <a:srgbClr val="6A6259"/>
                </a:solidFill>
                <a:latin typeface="Calibri" pitchFamily="34" charset="0"/>
                <a:ea typeface="Calibri" pitchFamily="34" charset="-122"/>
                <a:cs typeface="Calibri" pitchFamily="34" charset="-120"/>
              </a:rPr>
              <a:t>A system trained on ten years of human text. Take the instructor’s question seriously and answer it with evidence.</a:t>
            </a:r>
            <a:endParaRPr lang="en-US" sz="1350" dirty="0"/>
          </a:p>
        </p:txBody>
      </p:sp>
      <p:sp>
        <p:nvSpPr>
          <p:cNvPr id="6" name="Shape 4"/>
          <p:cNvSpPr/>
          <p:nvPr/>
        </p:nvSpPr>
        <p:spPr>
          <a:xfrm>
            <a:off x="640080" y="1810512"/>
            <a:ext cx="5349240" cy="3063240"/>
          </a:xfrm>
          <a:prstGeom prst="roundRect">
            <a:avLst>
              <a:gd name="adj" fmla="val 2388"/>
            </a:avLst>
          </a:prstGeom>
          <a:solidFill>
            <a:srgbClr val="F2DED8"/>
          </a:solidFill>
          <a:ln w="12700">
            <a:solidFill>
              <a:srgbClr val="F2DED8"/>
            </a:solidFill>
            <a:prstDash val="solid"/>
          </a:ln>
        </p:spPr>
        <p:txBody>
          <a:bodyPr/>
          <a:lstStyle/>
          <a:p>
            <a:endParaRPr lang="en-US"/>
          </a:p>
        </p:txBody>
      </p:sp>
      <p:sp>
        <p:nvSpPr>
          <p:cNvPr id="7" name="Text 5"/>
          <p:cNvSpPr txBox="1"/>
          <p:nvPr/>
        </p:nvSpPr>
        <p:spPr>
          <a:xfrm>
            <a:off x="1005840" y="1993392"/>
            <a:ext cx="4617720" cy="365760"/>
          </a:xfrm>
          <a:prstGeom prst="rect">
            <a:avLst/>
          </a:prstGeom>
          <a:noFill/>
          <a:ln/>
        </p:spPr>
        <p:txBody>
          <a:bodyPr wrap="square" lIns="0" tIns="0" rIns="0" bIns="0" rtlCol="0" anchor="ctr"/>
          <a:lstStyle/>
          <a:p>
            <a:pPr marL="0" indent="0">
              <a:buNone/>
            </a:pPr>
            <a:r>
              <a:rPr lang="en-US" sz="1800" b="1" dirty="0">
                <a:solidFill>
                  <a:srgbClr val="B8422A"/>
                </a:solidFill>
                <a:latin typeface="Cambria" pitchFamily="34" charset="0"/>
                <a:ea typeface="Cambria" pitchFamily="34" charset="-122"/>
                <a:cs typeface="Cambria" pitchFamily="34" charset="-120"/>
              </a:rPr>
              <a:t>The case for Promethean</a:t>
            </a:r>
            <a:endParaRPr lang="en-US" sz="1800" dirty="0"/>
          </a:p>
        </p:txBody>
      </p:sp>
      <p:sp>
        <p:nvSpPr>
          <p:cNvPr id="8" name="Text 6"/>
          <p:cNvSpPr txBox="1"/>
          <p:nvPr/>
        </p:nvSpPr>
        <p:spPr>
          <a:xfrm>
            <a:off x="1005840" y="2450592"/>
            <a:ext cx="4663440" cy="228600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250" dirty="0">
                <a:solidFill>
                  <a:srgbClr val="181410"/>
                </a:solidFill>
                <a:latin typeface="Calibri" pitchFamily="34" charset="0"/>
                <a:ea typeface="Calibri" pitchFamily="34" charset="-122"/>
                <a:cs typeface="Calibri" pitchFamily="34" charset="-120"/>
              </a:rPr>
              <a:t>It was built. Deliberately, by an organisation, at enormous cost, on a schedule.</a:t>
            </a:r>
            <a:endParaRPr lang="en-US" sz="1250" dirty="0"/>
          </a:p>
          <a:p>
            <a:pPr marL="342900" indent="-342900">
              <a:lnSpc>
                <a:spcPts val="1700"/>
              </a:lnSpc>
              <a:spcAft>
                <a:spcPts val="800"/>
              </a:spcAft>
              <a:buSzPct val="100000"/>
              <a:buChar char="•"/>
            </a:pPr>
            <a:r>
              <a:rPr lang="en-US" sz="1250" dirty="0">
                <a:solidFill>
                  <a:srgbClr val="181410"/>
                </a:solidFill>
                <a:latin typeface="Calibri" pitchFamily="34" charset="0"/>
                <a:ea typeface="Calibri" pitchFamily="34" charset="-122"/>
                <a:cs typeface="Calibri" pitchFamily="34" charset="-120"/>
              </a:rPr>
              <a:t>There is a training run with a start date and an end date. There is a launch.</a:t>
            </a:r>
            <a:endParaRPr lang="en-US" sz="1250" dirty="0"/>
          </a:p>
          <a:p>
            <a:pPr marL="342900" indent="-342900">
              <a:lnSpc>
                <a:spcPts val="1700"/>
              </a:lnSpc>
              <a:spcAft>
                <a:spcPts val="800"/>
              </a:spcAft>
              <a:buSzPct val="100000"/>
              <a:buChar char="•"/>
            </a:pPr>
            <a:r>
              <a:rPr lang="en-US" sz="1250" dirty="0">
                <a:solidFill>
                  <a:srgbClr val="181410"/>
                </a:solidFill>
                <a:latin typeface="Calibri" pitchFamily="34" charset="0"/>
                <a:ea typeface="Calibri" pitchFamily="34" charset="-122"/>
                <a:cs typeface="Calibri" pitchFamily="34" charset="-120"/>
              </a:rPr>
              <a:t>Someone chose the data, the objective and the guardrails, and could have chosen otherwise.</a:t>
            </a:r>
            <a:endParaRPr lang="en-US" sz="1250" dirty="0"/>
          </a:p>
          <a:p>
            <a:pPr marL="342900" indent="-342900">
              <a:lnSpc>
                <a:spcPts val="1700"/>
              </a:lnSpc>
              <a:spcAft>
                <a:spcPts val="800"/>
              </a:spcAft>
              <a:buSzPct val="100000"/>
              <a:buChar char="•"/>
            </a:pPr>
            <a:r>
              <a:rPr lang="en-US" sz="1250" dirty="0">
                <a:solidFill>
                  <a:srgbClr val="181410"/>
                </a:solidFill>
                <a:latin typeface="Calibri" pitchFamily="34" charset="0"/>
                <a:ea typeface="Calibri" pitchFamily="34" charset="-122"/>
                <a:cs typeface="Calibri" pitchFamily="34" charset="-120"/>
              </a:rPr>
              <a:t>The corpus was taken. Whether that taking was permitted is currently in court, which is a very Promethean place to be.</a:t>
            </a:r>
            <a:endParaRPr lang="en-US" sz="1250" dirty="0"/>
          </a:p>
        </p:txBody>
      </p:sp>
      <p:sp>
        <p:nvSpPr>
          <p:cNvPr id="9" name="Shape 7"/>
          <p:cNvSpPr/>
          <p:nvPr/>
        </p:nvSpPr>
        <p:spPr>
          <a:xfrm>
            <a:off x="6217920" y="1810512"/>
            <a:ext cx="5312664" cy="3063240"/>
          </a:xfrm>
          <a:prstGeom prst="roundRect">
            <a:avLst>
              <a:gd name="adj" fmla="val 2388"/>
            </a:avLst>
          </a:prstGeom>
          <a:solidFill>
            <a:srgbClr val="DCE3EF"/>
          </a:solidFill>
          <a:ln w="12700">
            <a:solidFill>
              <a:srgbClr val="DCE3EF"/>
            </a:solidFill>
            <a:prstDash val="solid"/>
          </a:ln>
        </p:spPr>
        <p:txBody>
          <a:bodyPr/>
          <a:lstStyle/>
          <a:p>
            <a:endParaRPr lang="en-US"/>
          </a:p>
        </p:txBody>
      </p:sp>
      <p:sp>
        <p:nvSpPr>
          <p:cNvPr id="10" name="Text 8"/>
          <p:cNvSpPr txBox="1"/>
          <p:nvPr/>
        </p:nvSpPr>
        <p:spPr>
          <a:xfrm>
            <a:off x="6583680" y="1993392"/>
            <a:ext cx="4617720" cy="365760"/>
          </a:xfrm>
          <a:prstGeom prst="rect">
            <a:avLst/>
          </a:prstGeom>
          <a:noFill/>
          <a:ln/>
        </p:spPr>
        <p:txBody>
          <a:bodyPr wrap="square" lIns="0" tIns="0" rIns="0" bIns="0" rtlCol="0" anchor="ctr"/>
          <a:lstStyle/>
          <a:p>
            <a:pPr marL="0" indent="0">
              <a:buNone/>
            </a:pPr>
            <a:r>
              <a:rPr lang="en-US" sz="1800" b="1" dirty="0">
                <a:solidFill>
                  <a:srgbClr val="2E4A7D"/>
                </a:solidFill>
                <a:latin typeface="Cambria" pitchFamily="34" charset="0"/>
                <a:ea typeface="Cambria" pitchFamily="34" charset="-122"/>
                <a:cs typeface="Cambria" pitchFamily="34" charset="-120"/>
              </a:rPr>
              <a:t>The case for accretive</a:t>
            </a:r>
            <a:endParaRPr lang="en-US" sz="1800" dirty="0"/>
          </a:p>
        </p:txBody>
      </p:sp>
      <p:sp>
        <p:nvSpPr>
          <p:cNvPr id="11" name="Text 9"/>
          <p:cNvSpPr txBox="1"/>
          <p:nvPr/>
        </p:nvSpPr>
        <p:spPr>
          <a:xfrm>
            <a:off x="6583680" y="2450592"/>
            <a:ext cx="4663440" cy="228600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250" dirty="0">
                <a:solidFill>
                  <a:srgbClr val="181410"/>
                </a:solidFill>
                <a:latin typeface="Calibri" pitchFamily="34" charset="0"/>
                <a:ea typeface="Calibri" pitchFamily="34" charset="-122"/>
                <a:cs typeface="Calibri" pitchFamily="34" charset="-120"/>
              </a:rPr>
              <a:t>Nobody wrote the capacities. They were not designed; they showed up when there was enough.</a:t>
            </a:r>
            <a:endParaRPr lang="en-US" sz="1250" dirty="0"/>
          </a:p>
          <a:p>
            <a:pPr marL="342900" indent="-342900">
              <a:lnSpc>
                <a:spcPts val="1700"/>
              </a:lnSpc>
              <a:spcAft>
                <a:spcPts val="800"/>
              </a:spcAft>
              <a:buSzPct val="100000"/>
              <a:buChar char="•"/>
            </a:pPr>
            <a:r>
              <a:rPr lang="en-US" sz="1250" dirty="0">
                <a:solidFill>
                  <a:srgbClr val="181410"/>
                </a:solidFill>
                <a:latin typeface="Calibri" pitchFamily="34" charset="0"/>
                <a:ea typeface="Calibri" pitchFamily="34" charset="-122"/>
                <a:cs typeface="Calibri" pitchFamily="34" charset="-120"/>
              </a:rPr>
              <a:t>There is no moment. Ask when it became able to do the thing and you get a curve, not a night in November.</a:t>
            </a:r>
            <a:endParaRPr lang="en-US" sz="1250" dirty="0"/>
          </a:p>
          <a:p>
            <a:pPr marL="342900" indent="-342900">
              <a:lnSpc>
                <a:spcPts val="1700"/>
              </a:lnSpc>
              <a:spcAft>
                <a:spcPts val="800"/>
              </a:spcAft>
              <a:buSzPct val="100000"/>
              <a:buChar char="•"/>
            </a:pPr>
            <a:r>
              <a:rPr lang="en-US" sz="1250" dirty="0">
                <a:solidFill>
                  <a:srgbClr val="181410"/>
                </a:solidFill>
                <a:latin typeface="Calibri" pitchFamily="34" charset="0"/>
                <a:ea typeface="Calibri" pitchFamily="34" charset="-122"/>
                <a:cs typeface="Calibri" pitchFamily="34" charset="-120"/>
              </a:rPr>
              <a:t>It is made of kept things — decades of text that people wrote, used and did not throw away.</a:t>
            </a:r>
            <a:endParaRPr lang="en-US" sz="1250" dirty="0"/>
          </a:p>
          <a:p>
            <a:pPr marL="342900" indent="-342900">
              <a:lnSpc>
                <a:spcPts val="1700"/>
              </a:lnSpc>
              <a:spcAft>
                <a:spcPts val="800"/>
              </a:spcAft>
              <a:buSzPct val="100000"/>
              <a:buChar char="•"/>
            </a:pPr>
            <a:r>
              <a:rPr lang="en-US" sz="1250" dirty="0">
                <a:solidFill>
                  <a:srgbClr val="181410"/>
                </a:solidFill>
                <a:latin typeface="Calibri" pitchFamily="34" charset="0"/>
                <a:ea typeface="Calibri" pitchFamily="34" charset="-122"/>
                <a:cs typeface="Calibri" pitchFamily="34" charset="-120"/>
              </a:rPr>
              <a:t>And the condition of its existence is retention: that the material was stored rather than discarded.</a:t>
            </a:r>
            <a:endParaRPr lang="en-US" sz="1250" dirty="0"/>
          </a:p>
        </p:txBody>
      </p:sp>
      <p:sp>
        <p:nvSpPr>
          <p:cNvPr id="12" name="Shape 10"/>
          <p:cNvSpPr/>
          <p:nvPr/>
        </p:nvSpPr>
        <p:spPr>
          <a:xfrm>
            <a:off x="640080" y="5029200"/>
            <a:ext cx="10911535" cy="1207008"/>
          </a:xfrm>
          <a:prstGeom prst="roundRect">
            <a:avLst>
              <a:gd name="adj" fmla="val 6061"/>
            </a:avLst>
          </a:prstGeom>
          <a:solidFill>
            <a:srgbClr val="181410"/>
          </a:solidFill>
          <a:ln w="12700">
            <a:solidFill>
              <a:srgbClr val="181410"/>
            </a:solidFill>
            <a:prstDash val="solid"/>
          </a:ln>
        </p:spPr>
        <p:txBody>
          <a:bodyPr/>
          <a:lstStyle/>
          <a:p>
            <a:endParaRPr lang="en-US"/>
          </a:p>
        </p:txBody>
      </p:sp>
      <p:sp>
        <p:nvSpPr>
          <p:cNvPr id="13" name="Text 11"/>
          <p:cNvSpPr txBox="1"/>
          <p:nvPr/>
        </p:nvSpPr>
        <p:spPr>
          <a:xfrm>
            <a:off x="1005840" y="5212080"/>
            <a:ext cx="10424160" cy="274320"/>
          </a:xfrm>
          <a:prstGeom prst="rect">
            <a:avLst/>
          </a:prstGeom>
          <a:noFill/>
          <a:ln/>
        </p:spPr>
        <p:txBody>
          <a:bodyPr wrap="square" lIns="0" tIns="0" rIns="0" bIns="0" rtlCol="0" anchor="ctr"/>
          <a:lstStyle/>
          <a:p>
            <a:pPr marL="0" indent="0">
              <a:buNone/>
            </a:pPr>
            <a:r>
              <a:rPr lang="en-US" sz="1150" b="1" kern="0" spc="140" dirty="0">
                <a:solidFill>
                  <a:srgbClr val="D4B36A"/>
                </a:solidFill>
                <a:latin typeface="Calibri" pitchFamily="34" charset="0"/>
                <a:ea typeface="Calibri" pitchFamily="34" charset="-122"/>
                <a:cs typeface="Calibri" pitchFamily="34" charset="-120"/>
              </a:rPr>
              <a:t>The answer worth arguing for</a:t>
            </a:r>
            <a:endParaRPr lang="en-US" sz="1150" dirty="0"/>
          </a:p>
        </p:txBody>
      </p:sp>
      <p:sp>
        <p:nvSpPr>
          <p:cNvPr id="14" name="Text 12"/>
          <p:cNvSpPr txBox="1"/>
          <p:nvPr/>
        </p:nvSpPr>
        <p:spPr>
          <a:xfrm>
            <a:off x="1005840" y="5559552"/>
            <a:ext cx="10424160" cy="493776"/>
          </a:xfrm>
          <a:prstGeom prst="rect">
            <a:avLst/>
          </a:prstGeom>
          <a:noFill/>
          <a:ln/>
        </p:spPr>
        <p:txBody>
          <a:bodyPr wrap="square" lIns="0" tIns="0" rIns="0" bIns="0" rtlCol="0" anchor="ctr"/>
          <a:lstStyle/>
          <a:p>
            <a:pPr marL="0" indent="0">
              <a:lnSpc>
                <a:spcPts val="2100"/>
              </a:lnSpc>
              <a:buNone/>
            </a:pPr>
            <a:r>
              <a:rPr lang="en-US" sz="1550" dirty="0">
                <a:solidFill>
                  <a:srgbClr val="F5EFE3"/>
                </a:solidFill>
                <a:latin typeface="Cambria" pitchFamily="34" charset="0"/>
                <a:ea typeface="Cambria" pitchFamily="34" charset="-122"/>
                <a:cs typeface="Cambria" pitchFamily="34" charset="-120"/>
              </a:rPr>
              <a:t>That the two columns are answering different questions. The artefact is made — the servers, the objective, the release. Whatever mind-like thing there may be accrued. The Promethean frame collapses those into one event and then argues about it, which may be why the argument never moves.</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9">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THE COUNTERWEIGHT</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What the accretive frame costs you</a:t>
            </a:r>
            <a:endParaRPr lang="en-US" sz="3000" dirty="0"/>
          </a:p>
        </p:txBody>
      </p:sp>
      <p:sp>
        <p:nvSpPr>
          <p:cNvPr id="5" name="Shape 3"/>
          <p:cNvSpPr/>
          <p:nvPr/>
        </p:nvSpPr>
        <p:spPr>
          <a:xfrm>
            <a:off x="640080" y="1572768"/>
            <a:ext cx="3454298" cy="2743200"/>
          </a:xfrm>
          <a:prstGeom prst="roundRect">
            <a:avLst>
              <a:gd name="adj" fmla="val 2667"/>
            </a:avLst>
          </a:prstGeom>
          <a:solidFill>
            <a:srgbClr val="F0E8D8"/>
          </a:solidFill>
          <a:ln w="12700">
            <a:solidFill>
              <a:srgbClr val="F0E8D8"/>
            </a:solidFill>
            <a:prstDash val="solid"/>
          </a:ln>
        </p:spPr>
        <p:txBody>
          <a:bodyPr/>
          <a:lstStyle/>
          <a:p>
            <a:endParaRPr lang="en-US"/>
          </a:p>
        </p:txBody>
      </p:sp>
      <p:sp>
        <p:nvSpPr>
          <p:cNvPr id="6" name="Text 4"/>
          <p:cNvSpPr txBox="1"/>
          <p:nvPr/>
        </p:nvSpPr>
        <p:spPr>
          <a:xfrm>
            <a:off x="914400" y="1773936"/>
            <a:ext cx="2905658" cy="603504"/>
          </a:xfrm>
          <a:prstGeom prst="rect">
            <a:avLst/>
          </a:prstGeom>
          <a:noFill/>
          <a:ln/>
        </p:spPr>
        <p:txBody>
          <a:bodyPr wrap="square" lIns="0" tIns="0" rIns="0" bIns="0" rtlCol="0" anchor="ctr"/>
          <a:lstStyle/>
          <a:p>
            <a:pPr marL="0" indent="0">
              <a:lnSpc>
                <a:spcPts val="2100"/>
              </a:lnSpc>
              <a:buNone/>
            </a:pPr>
            <a:r>
              <a:rPr lang="en-US" sz="1700" b="1" dirty="0">
                <a:solidFill>
                  <a:srgbClr val="181410"/>
                </a:solidFill>
                <a:latin typeface="Cambria" pitchFamily="34" charset="0"/>
                <a:ea typeface="Cambria" pitchFamily="34" charset="-122"/>
                <a:cs typeface="Cambria" pitchFamily="34" charset="-120"/>
              </a:rPr>
              <a:t>It can dissolve the maker</a:t>
            </a:r>
            <a:endParaRPr lang="en-US" sz="1700" dirty="0"/>
          </a:p>
        </p:txBody>
      </p:sp>
      <p:sp>
        <p:nvSpPr>
          <p:cNvPr id="7" name="Text 5"/>
          <p:cNvSpPr txBox="1"/>
          <p:nvPr/>
        </p:nvSpPr>
        <p:spPr>
          <a:xfrm>
            <a:off x="914400" y="2450592"/>
            <a:ext cx="2905658" cy="164592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“Nobody built this; it accrued” is one short step from “no one is answerable.” We named this move in Unit 2 as borrowed animacy, and in Unit 3 as “we’re just building a tool.” The accretive frame hands that move a vocabulary.</a:t>
            </a:r>
            <a:endParaRPr lang="en-US" sz="1250" dirty="0"/>
          </a:p>
        </p:txBody>
      </p:sp>
      <p:sp>
        <p:nvSpPr>
          <p:cNvPr id="8" name="Shape 6"/>
          <p:cNvSpPr/>
          <p:nvPr/>
        </p:nvSpPr>
        <p:spPr>
          <a:xfrm>
            <a:off x="4368698" y="1572768"/>
            <a:ext cx="3454298" cy="2743200"/>
          </a:xfrm>
          <a:prstGeom prst="roundRect">
            <a:avLst>
              <a:gd name="adj" fmla="val 2667"/>
            </a:avLst>
          </a:prstGeom>
          <a:solidFill>
            <a:srgbClr val="E6EAF2"/>
          </a:solidFill>
          <a:ln w="12700">
            <a:solidFill>
              <a:srgbClr val="E6EAF2"/>
            </a:solidFill>
            <a:prstDash val="solid"/>
          </a:ln>
        </p:spPr>
        <p:txBody>
          <a:bodyPr/>
          <a:lstStyle/>
          <a:p>
            <a:endParaRPr lang="en-US"/>
          </a:p>
        </p:txBody>
      </p:sp>
      <p:sp>
        <p:nvSpPr>
          <p:cNvPr id="9" name="Text 7"/>
          <p:cNvSpPr txBox="1"/>
          <p:nvPr/>
        </p:nvSpPr>
        <p:spPr>
          <a:xfrm>
            <a:off x="4643018" y="1773936"/>
            <a:ext cx="2905658" cy="603504"/>
          </a:xfrm>
          <a:prstGeom prst="rect">
            <a:avLst/>
          </a:prstGeom>
          <a:noFill/>
          <a:ln/>
        </p:spPr>
        <p:txBody>
          <a:bodyPr wrap="square" lIns="0" tIns="0" rIns="0" bIns="0" rtlCol="0" anchor="ctr"/>
          <a:lstStyle/>
          <a:p>
            <a:pPr marL="0" indent="0">
              <a:lnSpc>
                <a:spcPts val="2100"/>
              </a:lnSpc>
              <a:buNone/>
            </a:pPr>
            <a:r>
              <a:rPr lang="en-US" sz="1700" b="1" dirty="0">
                <a:solidFill>
                  <a:srgbClr val="181410"/>
                </a:solidFill>
                <a:latin typeface="Cambria" pitchFamily="34" charset="0"/>
                <a:ea typeface="Cambria" pitchFamily="34" charset="-122"/>
                <a:cs typeface="Cambria" pitchFamily="34" charset="-120"/>
              </a:rPr>
              <a:t>It naturalises the corpus</a:t>
            </a:r>
            <a:endParaRPr lang="en-US" sz="1700" dirty="0"/>
          </a:p>
        </p:txBody>
      </p:sp>
      <p:sp>
        <p:nvSpPr>
          <p:cNvPr id="10" name="Text 8"/>
          <p:cNvSpPr txBox="1"/>
          <p:nvPr/>
        </p:nvSpPr>
        <p:spPr>
          <a:xfrm>
            <a:off x="4643018" y="2450592"/>
            <a:ext cx="2905658" cy="164592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If a mind simply accumulates through being kept, the keeping looks like weather rather than like an operation with owners, contracts and consequences. Time is not an agent. Somebody did the storing.</a:t>
            </a:r>
            <a:endParaRPr lang="en-US" sz="1250" dirty="0"/>
          </a:p>
        </p:txBody>
      </p:sp>
      <p:sp>
        <p:nvSpPr>
          <p:cNvPr id="11" name="Shape 9"/>
          <p:cNvSpPr/>
          <p:nvPr/>
        </p:nvSpPr>
        <p:spPr>
          <a:xfrm>
            <a:off x="8097317" y="1572768"/>
            <a:ext cx="3454298" cy="2743200"/>
          </a:xfrm>
          <a:prstGeom prst="roundRect">
            <a:avLst>
              <a:gd name="adj" fmla="val 2667"/>
            </a:avLst>
          </a:prstGeom>
          <a:solidFill>
            <a:srgbClr val="F0E8D8"/>
          </a:solidFill>
          <a:ln w="12700">
            <a:solidFill>
              <a:srgbClr val="F0E8D8"/>
            </a:solidFill>
            <a:prstDash val="solid"/>
          </a:ln>
        </p:spPr>
        <p:txBody>
          <a:bodyPr/>
          <a:lstStyle/>
          <a:p>
            <a:endParaRPr lang="en-US"/>
          </a:p>
        </p:txBody>
      </p:sp>
      <p:sp>
        <p:nvSpPr>
          <p:cNvPr id="12" name="Text 10"/>
          <p:cNvSpPr txBox="1"/>
          <p:nvPr/>
        </p:nvSpPr>
        <p:spPr>
          <a:xfrm>
            <a:off x="8371637" y="1773936"/>
            <a:ext cx="2905658" cy="603504"/>
          </a:xfrm>
          <a:prstGeom prst="rect">
            <a:avLst/>
          </a:prstGeom>
          <a:noFill/>
          <a:ln/>
        </p:spPr>
        <p:txBody>
          <a:bodyPr wrap="square" lIns="0" tIns="0" rIns="0" bIns="0" rtlCol="0" anchor="ctr"/>
          <a:lstStyle/>
          <a:p>
            <a:pPr marL="0" indent="0">
              <a:lnSpc>
                <a:spcPts val="2100"/>
              </a:lnSpc>
              <a:buNone/>
            </a:pPr>
            <a:r>
              <a:rPr lang="en-US" sz="1700" b="1" dirty="0">
                <a:solidFill>
                  <a:srgbClr val="181410"/>
                </a:solidFill>
                <a:latin typeface="Cambria" pitchFamily="34" charset="0"/>
                <a:ea typeface="Cambria" pitchFamily="34" charset="-122"/>
                <a:cs typeface="Cambria" pitchFamily="34" charset="-120"/>
              </a:rPr>
              <a:t>It flatters the object</a:t>
            </a:r>
            <a:endParaRPr lang="en-US" sz="1700" dirty="0"/>
          </a:p>
        </p:txBody>
      </p:sp>
      <p:sp>
        <p:nvSpPr>
          <p:cNvPr id="13" name="Text 11"/>
          <p:cNvSpPr txBox="1"/>
          <p:nvPr/>
        </p:nvSpPr>
        <p:spPr>
          <a:xfrm>
            <a:off x="8371637" y="2450592"/>
            <a:ext cx="2905658" cy="164592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The tsukumogami tradition is warm toward things. Warmth is pleasant and it is not analysis — the same complaint we made about a certain game two weeks ago. Sympathy for the artefact is not a theory of the artefact.</a:t>
            </a:r>
            <a:endParaRPr lang="en-US" sz="1250" dirty="0"/>
          </a:p>
        </p:txBody>
      </p:sp>
      <p:sp>
        <p:nvSpPr>
          <p:cNvPr id="14" name="Shape 12"/>
          <p:cNvSpPr/>
          <p:nvPr/>
        </p:nvSpPr>
        <p:spPr>
          <a:xfrm>
            <a:off x="640080" y="4526280"/>
            <a:ext cx="10911535" cy="1463040"/>
          </a:xfrm>
          <a:prstGeom prst="roundRect">
            <a:avLst>
              <a:gd name="adj" fmla="val 5000"/>
            </a:avLst>
          </a:prstGeom>
          <a:solidFill>
            <a:srgbClr val="181410"/>
          </a:solidFill>
          <a:ln w="12700">
            <a:solidFill>
              <a:srgbClr val="181410"/>
            </a:solidFill>
            <a:prstDash val="solid"/>
          </a:ln>
        </p:spPr>
        <p:txBody>
          <a:bodyPr/>
          <a:lstStyle/>
          <a:p>
            <a:endParaRPr lang="en-US"/>
          </a:p>
        </p:txBody>
      </p:sp>
      <p:sp>
        <p:nvSpPr>
          <p:cNvPr id="15" name="Text 13"/>
          <p:cNvSpPr txBox="1"/>
          <p:nvPr/>
        </p:nvSpPr>
        <p:spPr>
          <a:xfrm>
            <a:off x="1005840" y="4709160"/>
            <a:ext cx="10424160" cy="274320"/>
          </a:xfrm>
          <a:prstGeom prst="rect">
            <a:avLst/>
          </a:prstGeom>
          <a:noFill/>
          <a:ln/>
        </p:spPr>
        <p:txBody>
          <a:bodyPr wrap="square" lIns="0" tIns="0" rIns="0" bIns="0" rtlCol="0" anchor="ctr"/>
          <a:lstStyle/>
          <a:p>
            <a:pPr marL="0" indent="0">
              <a:buNone/>
            </a:pPr>
            <a:r>
              <a:rPr lang="en-US" sz="1150" b="1" kern="0" spc="140" dirty="0">
                <a:solidFill>
                  <a:srgbClr val="D4B36A"/>
                </a:solidFill>
                <a:latin typeface="Calibri" pitchFamily="34" charset="0"/>
                <a:ea typeface="Calibri" pitchFamily="34" charset="-122"/>
                <a:cs typeface="Calibri" pitchFamily="34" charset="-120"/>
              </a:rPr>
              <a:t>The rule to carry forward</a:t>
            </a:r>
            <a:endParaRPr lang="en-US" sz="1150" dirty="0"/>
          </a:p>
        </p:txBody>
      </p:sp>
      <p:sp>
        <p:nvSpPr>
          <p:cNvPr id="16" name="Text 14"/>
          <p:cNvSpPr txBox="1"/>
          <p:nvPr/>
        </p:nvSpPr>
        <p:spPr>
          <a:xfrm>
            <a:off x="1005840" y="5056632"/>
            <a:ext cx="10424160" cy="749808"/>
          </a:xfrm>
          <a:prstGeom prst="rect">
            <a:avLst/>
          </a:prstGeom>
          <a:noFill/>
          <a:ln/>
        </p:spPr>
        <p:txBody>
          <a:bodyPr wrap="square" lIns="0" tIns="0" rIns="0" bIns="0" rtlCol="0" anchor="ctr"/>
          <a:lstStyle/>
          <a:p>
            <a:pPr marL="0" indent="0">
              <a:lnSpc>
                <a:spcPts val="2100"/>
              </a:lnSpc>
              <a:buNone/>
            </a:pPr>
            <a:r>
              <a:rPr lang="en-US" sz="1550" dirty="0">
                <a:solidFill>
                  <a:srgbClr val="F5EFE3"/>
                </a:solidFill>
                <a:latin typeface="Cambria" pitchFamily="34" charset="0"/>
                <a:ea typeface="Cambria" pitchFamily="34" charset="-122"/>
                <a:cs typeface="Cambria" pitchFamily="34" charset="-120"/>
              </a:rPr>
              <a:t>Use the accretive frame to describe how the capacity arrived. Use the Promethean frame to locate who is responsible for it. A framework that answers both questions at once is almost certainly answering neither, and the two traditions each answer one very well.</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1">
    <p:bg>
      <p:bgPr>
        <a:solidFill>
          <a:srgbClr val="181410"/>
        </a:solidFill>
        <a:effectLst/>
      </p:bgPr>
    </p:bg>
    <p:spTree>
      <p:nvGrpSpPr>
        <p:cNvPr id="1" name=""/>
        <p:cNvGrpSpPr/>
        <p:nvPr/>
      </p:nvGrpSpPr>
      <p:grpSpPr>
        <a:xfrm>
          <a:off x="0" y="0"/>
          <a:ext cx="0" cy="0"/>
          <a:chOff x="0" y="0"/>
          <a:chExt cx="0" cy="0"/>
        </a:xfrm>
      </p:grpSpPr>
      <p:sp>
        <p:nvSpPr>
          <p:cNvPr id="2" name="Shape 0"/>
          <p:cNvSpPr/>
          <p:nvPr/>
        </p:nvSpPr>
        <p:spPr>
          <a:xfrm>
            <a:off x="8778240" y="1417320"/>
            <a:ext cx="2651760" cy="2651760"/>
          </a:xfrm>
          <a:prstGeom prst="ellipse">
            <a:avLst/>
          </a:prstGeom>
          <a:solidFill>
            <a:srgbClr val="B8422A">
              <a:alpha val="65000"/>
            </a:srgbClr>
          </a:solidFill>
          <a:ln/>
        </p:spPr>
        <p:txBody>
          <a:bodyPr/>
          <a:lstStyle/>
          <a:p>
            <a:endParaRPr lang="en-US"/>
          </a:p>
        </p:txBody>
      </p:sp>
      <p:sp>
        <p:nvSpPr>
          <p:cNvPr id="3" name="Shape 1"/>
          <p:cNvSpPr/>
          <p:nvPr/>
        </p:nvSpPr>
        <p:spPr>
          <a:xfrm>
            <a:off x="9646920" y="2286000"/>
            <a:ext cx="1188720" cy="1188720"/>
          </a:xfrm>
          <a:prstGeom prst="ellipse">
            <a:avLst/>
          </a:prstGeom>
          <a:solidFill>
            <a:srgbClr val="9C7C38">
              <a:alpha val="7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DE8C74"/>
                </a:solidFill>
                <a:latin typeface="Calibri" pitchFamily="34" charset="0"/>
                <a:ea typeface="Calibri" pitchFamily="34" charset="-122"/>
                <a:cs typeface="Calibri" pitchFamily="34" charset="-120"/>
              </a:rPr>
              <a:t>PART FIVE</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800" b="1" dirty="0">
                <a:solidFill>
                  <a:srgbClr val="F5EFE3"/>
                </a:solidFill>
                <a:latin typeface="Cambria" pitchFamily="34" charset="0"/>
                <a:ea typeface="Cambria" pitchFamily="34" charset="-122"/>
                <a:cs typeface="Cambria" pitchFamily="34" charset="-120"/>
              </a:rPr>
              <a:t>Accrual now</a:t>
            </a:r>
            <a:endParaRPr lang="en-US" sz="38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Memorial rites, robot funerals, and kept text  ·  3:30–4:05</a:t>
            </a:r>
            <a:endParaRPr lang="en-US" sz="1500" dirty="0"/>
          </a:p>
        </p:txBody>
      </p:sp>
      <p:sp>
        <p:nvSpPr>
          <p:cNvPr id="7" name="Shape 5"/>
          <p:cNvSpPr/>
          <p:nvPr/>
        </p:nvSpPr>
        <p:spPr>
          <a:xfrm>
            <a:off x="640080" y="3913632"/>
            <a:ext cx="2377440" cy="18288"/>
          </a:xfrm>
          <a:prstGeom prst="rect">
            <a:avLst/>
          </a:prstGeom>
          <a:solidFill>
            <a:srgbClr val="9C7C38"/>
          </a:solidFill>
          <a:ln/>
        </p:spPr>
        <p:txBody>
          <a:bodyPr/>
          <a:lstStyle/>
          <a:p>
            <a:endParaRPr lang="en-US"/>
          </a:p>
        </p:txBody>
      </p:sp>
      <p:sp>
        <p:nvSpPr>
          <p:cNvPr id="8" name="Text 6"/>
          <p:cNvSpPr txBox="1"/>
          <p:nvPr/>
        </p:nvSpPr>
        <p:spPr>
          <a:xfrm>
            <a:off x="640080" y="4133088"/>
            <a:ext cx="7680960" cy="777240"/>
          </a:xfrm>
          <a:prstGeom prst="rect">
            <a:avLst/>
          </a:prstGeom>
          <a:noFill/>
          <a:ln/>
        </p:spPr>
        <p:txBody>
          <a:bodyPr wrap="square" lIns="0" tIns="0" rIns="0" bIns="0" rtlCol="0" anchor="ctr"/>
          <a:lstStyle/>
          <a:p>
            <a:pPr marL="0" indent="0">
              <a:lnSpc>
                <a:spcPts val="2500"/>
              </a:lnSpc>
              <a:buNone/>
            </a:pPr>
            <a:r>
              <a:rPr lang="en-US" sz="1850" i="1" dirty="0">
                <a:solidFill>
                  <a:srgbClr val="D4B36A"/>
                </a:solidFill>
                <a:latin typeface="Cambria" pitchFamily="34" charset="0"/>
                <a:ea typeface="Cambria" pitchFamily="34" charset="-122"/>
                <a:cs typeface="Cambria" pitchFamily="34" charset="-120"/>
              </a:rPr>
              <a:t>The tradition did not stop. It just changed what it was performed over.</a:t>
            </a:r>
            <a:endParaRPr lang="en-US" sz="1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2">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KUYŌ</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Memorial rites for used things</a:t>
            </a:r>
            <a:endParaRPr lang="en-US" sz="3000" dirty="0"/>
          </a:p>
        </p:txBody>
      </p:sp>
      <p:sp>
        <p:nvSpPr>
          <p:cNvPr id="5" name="Shape 3"/>
          <p:cNvSpPr/>
          <p:nvPr/>
        </p:nvSpPr>
        <p:spPr>
          <a:xfrm>
            <a:off x="640080" y="1572768"/>
            <a:ext cx="3454298" cy="2651760"/>
          </a:xfrm>
          <a:prstGeom prst="roundRect">
            <a:avLst>
              <a:gd name="adj" fmla="val 2759"/>
            </a:avLst>
          </a:prstGeom>
          <a:solidFill>
            <a:srgbClr val="F0E8D8"/>
          </a:solidFill>
          <a:ln w="12700">
            <a:solidFill>
              <a:srgbClr val="F0E8D8"/>
            </a:solidFill>
            <a:prstDash val="solid"/>
          </a:ln>
        </p:spPr>
        <p:txBody>
          <a:bodyPr/>
          <a:lstStyle/>
          <a:p>
            <a:endParaRPr lang="en-US"/>
          </a:p>
        </p:txBody>
      </p:sp>
      <p:sp>
        <p:nvSpPr>
          <p:cNvPr id="6" name="Text 4"/>
          <p:cNvSpPr txBox="1"/>
          <p:nvPr/>
        </p:nvSpPr>
        <p:spPr>
          <a:xfrm>
            <a:off x="914400" y="1773936"/>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181410"/>
                </a:solidFill>
                <a:latin typeface="Cambria" pitchFamily="34" charset="0"/>
                <a:ea typeface="Cambria" pitchFamily="34" charset="-122"/>
                <a:cs typeface="Cambria" pitchFamily="34" charset="-120"/>
              </a:rPr>
              <a:t>Hari-kuyō</a:t>
            </a:r>
            <a:endParaRPr lang="en-US" sz="1650" dirty="0"/>
          </a:p>
        </p:txBody>
      </p:sp>
      <p:sp>
        <p:nvSpPr>
          <p:cNvPr id="7" name="Text 5"/>
          <p:cNvSpPr txBox="1"/>
          <p:nvPr/>
        </p:nvSpPr>
        <p:spPr>
          <a:xfrm>
            <a:off x="914400" y="2450592"/>
            <a:ext cx="2905658" cy="155448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A memorial for broken and bent sewing needles, held annually at temples and shrines. The needles are pressed into something soft — tofu or konnyaku — so that they may rest, after a working life spent piercing hard cloth.</a:t>
            </a:r>
            <a:endParaRPr lang="en-US" sz="1250" dirty="0"/>
          </a:p>
        </p:txBody>
      </p:sp>
      <p:sp>
        <p:nvSpPr>
          <p:cNvPr id="8" name="Shape 6"/>
          <p:cNvSpPr/>
          <p:nvPr/>
        </p:nvSpPr>
        <p:spPr>
          <a:xfrm>
            <a:off x="4368698" y="1572768"/>
            <a:ext cx="3454298" cy="2651760"/>
          </a:xfrm>
          <a:prstGeom prst="roundRect">
            <a:avLst>
              <a:gd name="adj" fmla="val 2759"/>
            </a:avLst>
          </a:prstGeom>
          <a:solidFill>
            <a:srgbClr val="E6EAF2"/>
          </a:solidFill>
          <a:ln w="12700">
            <a:solidFill>
              <a:srgbClr val="E6EAF2"/>
            </a:solidFill>
            <a:prstDash val="solid"/>
          </a:ln>
        </p:spPr>
        <p:txBody>
          <a:bodyPr/>
          <a:lstStyle/>
          <a:p>
            <a:endParaRPr lang="en-US"/>
          </a:p>
        </p:txBody>
      </p:sp>
      <p:sp>
        <p:nvSpPr>
          <p:cNvPr id="9" name="Text 7"/>
          <p:cNvSpPr txBox="1"/>
          <p:nvPr/>
        </p:nvSpPr>
        <p:spPr>
          <a:xfrm>
            <a:off x="4643018" y="1773936"/>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181410"/>
                </a:solidFill>
                <a:latin typeface="Cambria" pitchFamily="34" charset="0"/>
                <a:ea typeface="Cambria" pitchFamily="34" charset="-122"/>
                <a:cs typeface="Cambria" pitchFamily="34" charset="-120"/>
              </a:rPr>
              <a:t>Ningyō-kuyō</a:t>
            </a:r>
            <a:endParaRPr lang="en-US" sz="1650" dirty="0"/>
          </a:p>
        </p:txBody>
      </p:sp>
      <p:sp>
        <p:nvSpPr>
          <p:cNvPr id="10" name="Text 8"/>
          <p:cNvSpPr txBox="1"/>
          <p:nvPr/>
        </p:nvSpPr>
        <p:spPr>
          <a:xfrm>
            <a:off x="4643018" y="2450592"/>
            <a:ext cx="2905658" cy="155448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Memorial rites for dolls their owners can no longer keep but will not throw away. Dolls are brought to a shrine, prayed over, and released — an infrastructure that exists precisely because disposal feels unavailable.</a:t>
            </a:r>
            <a:endParaRPr lang="en-US" sz="1250" dirty="0"/>
          </a:p>
        </p:txBody>
      </p:sp>
      <p:sp>
        <p:nvSpPr>
          <p:cNvPr id="11" name="Shape 9"/>
          <p:cNvSpPr/>
          <p:nvPr/>
        </p:nvSpPr>
        <p:spPr>
          <a:xfrm>
            <a:off x="8097317" y="1572768"/>
            <a:ext cx="3454298" cy="2651760"/>
          </a:xfrm>
          <a:prstGeom prst="roundRect">
            <a:avLst>
              <a:gd name="adj" fmla="val 2759"/>
            </a:avLst>
          </a:prstGeom>
          <a:solidFill>
            <a:srgbClr val="F0E8D8"/>
          </a:solidFill>
          <a:ln w="12700">
            <a:solidFill>
              <a:srgbClr val="F0E8D8"/>
            </a:solidFill>
            <a:prstDash val="solid"/>
          </a:ln>
        </p:spPr>
        <p:txBody>
          <a:bodyPr/>
          <a:lstStyle/>
          <a:p>
            <a:endParaRPr lang="en-US"/>
          </a:p>
        </p:txBody>
      </p:sp>
      <p:sp>
        <p:nvSpPr>
          <p:cNvPr id="12" name="Text 10"/>
          <p:cNvSpPr txBox="1"/>
          <p:nvPr/>
        </p:nvSpPr>
        <p:spPr>
          <a:xfrm>
            <a:off x="8371637" y="1773936"/>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181410"/>
                </a:solidFill>
                <a:latin typeface="Cambria" pitchFamily="34" charset="0"/>
                <a:ea typeface="Cambria" pitchFamily="34" charset="-122"/>
                <a:cs typeface="Cambria" pitchFamily="34" charset="-120"/>
              </a:rPr>
              <a:t>And others</a:t>
            </a:r>
            <a:endParaRPr lang="en-US" sz="1650" dirty="0"/>
          </a:p>
        </p:txBody>
      </p:sp>
      <p:sp>
        <p:nvSpPr>
          <p:cNvPr id="13" name="Text 11"/>
          <p:cNvSpPr txBox="1"/>
          <p:nvPr/>
        </p:nvSpPr>
        <p:spPr>
          <a:xfrm>
            <a:off x="8371637" y="2450592"/>
            <a:ext cx="2905658" cy="1554480"/>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Comparable rites are performed for writing brushes, for tea whisks, for spectacles, for scissors. The pattern is consistent: rites cluster around implements that were held, used skilfully, and worn out in service.</a:t>
            </a:r>
            <a:endParaRPr lang="en-US" sz="1250" dirty="0"/>
          </a:p>
        </p:txBody>
      </p:sp>
      <p:sp>
        <p:nvSpPr>
          <p:cNvPr id="14" name="Shape 12"/>
          <p:cNvSpPr/>
          <p:nvPr/>
        </p:nvSpPr>
        <p:spPr>
          <a:xfrm>
            <a:off x="640080" y="4480560"/>
            <a:ext cx="10911535" cy="1508760"/>
          </a:xfrm>
          <a:prstGeom prst="roundRect">
            <a:avLst>
              <a:gd name="adj" fmla="val 4848"/>
            </a:avLst>
          </a:prstGeom>
          <a:solidFill>
            <a:srgbClr val="181410"/>
          </a:solidFill>
          <a:ln w="12700">
            <a:solidFill>
              <a:srgbClr val="181410"/>
            </a:solidFill>
            <a:prstDash val="solid"/>
          </a:ln>
        </p:spPr>
        <p:txBody>
          <a:bodyPr/>
          <a:lstStyle/>
          <a:p>
            <a:endParaRPr lang="en-US"/>
          </a:p>
        </p:txBody>
      </p:sp>
      <p:sp>
        <p:nvSpPr>
          <p:cNvPr id="15" name="Text 13"/>
          <p:cNvSpPr txBox="1"/>
          <p:nvPr/>
        </p:nvSpPr>
        <p:spPr>
          <a:xfrm>
            <a:off x="1005840" y="4663440"/>
            <a:ext cx="10424160" cy="274320"/>
          </a:xfrm>
          <a:prstGeom prst="rect">
            <a:avLst/>
          </a:prstGeom>
          <a:noFill/>
          <a:ln/>
        </p:spPr>
        <p:txBody>
          <a:bodyPr wrap="square" lIns="0" tIns="0" rIns="0" bIns="0" rtlCol="0" anchor="ctr"/>
          <a:lstStyle/>
          <a:p>
            <a:pPr marL="0" indent="0">
              <a:buNone/>
            </a:pPr>
            <a:r>
              <a:rPr lang="en-US" sz="1150" b="1" kern="0" spc="140" dirty="0">
                <a:solidFill>
                  <a:srgbClr val="D4B36A"/>
                </a:solidFill>
                <a:latin typeface="Calibri" pitchFamily="34" charset="0"/>
                <a:ea typeface="Calibri" pitchFamily="34" charset="-122"/>
                <a:cs typeface="Calibri" pitchFamily="34" charset="-120"/>
              </a:rPr>
              <a:t>What to notice about the logic</a:t>
            </a:r>
            <a:endParaRPr lang="en-US" sz="1150" dirty="0"/>
          </a:p>
        </p:txBody>
      </p:sp>
      <p:sp>
        <p:nvSpPr>
          <p:cNvPr id="16" name="Text 14"/>
          <p:cNvSpPr txBox="1"/>
          <p:nvPr/>
        </p:nvSpPr>
        <p:spPr>
          <a:xfrm>
            <a:off x="1005840" y="5010912"/>
            <a:ext cx="10424160" cy="795528"/>
          </a:xfrm>
          <a:prstGeom prst="rect">
            <a:avLst/>
          </a:prstGeom>
          <a:noFill/>
          <a:ln/>
        </p:spPr>
        <p:txBody>
          <a:bodyPr wrap="square" lIns="0" tIns="0" rIns="0" bIns="0" rtlCol="0" anchor="ctr"/>
          <a:lstStyle/>
          <a:p>
            <a:pPr marL="0" indent="0">
              <a:lnSpc>
                <a:spcPts val="2100"/>
              </a:lnSpc>
              <a:buNone/>
            </a:pPr>
            <a:r>
              <a:rPr lang="en-US" sz="1550" dirty="0">
                <a:solidFill>
                  <a:srgbClr val="F5EFE3"/>
                </a:solidFill>
                <a:latin typeface="Cambria" pitchFamily="34" charset="0"/>
                <a:ea typeface="Cambria" pitchFamily="34" charset="-122"/>
                <a:cs typeface="Cambria" pitchFamily="34" charset="-120"/>
              </a:rPr>
              <a:t>These are not rituals for objects that were manufactured. They are rituals for objects that were used. Nothing is being honoured about the factory. What is being marked is the accumulated relationship — and the fact that ending it improperly would be a wrong done to something.</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3">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CASE STUDY</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Funerals for robot dogs</a:t>
            </a:r>
            <a:endParaRPr lang="en-US" sz="3000" dirty="0"/>
          </a:p>
        </p:txBody>
      </p:sp>
      <p:sp>
        <p:nvSpPr>
          <p:cNvPr id="5" name="Shape 3"/>
          <p:cNvSpPr/>
          <p:nvPr/>
        </p:nvSpPr>
        <p:spPr>
          <a:xfrm>
            <a:off x="640080" y="1572768"/>
            <a:ext cx="5943600" cy="3611880"/>
          </a:xfrm>
          <a:prstGeom prst="roundRect">
            <a:avLst>
              <a:gd name="adj" fmla="val 2025"/>
            </a:avLst>
          </a:prstGeom>
          <a:solidFill>
            <a:srgbClr val="181410"/>
          </a:solidFill>
          <a:ln w="12700">
            <a:solidFill>
              <a:srgbClr val="181410"/>
            </a:solidFill>
            <a:prstDash val="solid"/>
          </a:ln>
        </p:spPr>
        <p:txBody>
          <a:bodyPr/>
          <a:lstStyle/>
          <a:p>
            <a:endParaRPr lang="en-US"/>
          </a:p>
        </p:txBody>
      </p:sp>
      <p:sp>
        <p:nvSpPr>
          <p:cNvPr id="6" name="Text 4"/>
          <p:cNvSpPr txBox="1"/>
          <p:nvPr/>
        </p:nvSpPr>
        <p:spPr>
          <a:xfrm>
            <a:off x="1005840" y="1773936"/>
            <a:ext cx="5212080" cy="292608"/>
          </a:xfrm>
          <a:prstGeom prst="rect">
            <a:avLst/>
          </a:prstGeom>
          <a:noFill/>
          <a:ln/>
        </p:spPr>
        <p:txBody>
          <a:bodyPr wrap="square" lIns="0" tIns="0" rIns="0" bIns="0" rtlCol="0" anchor="ctr"/>
          <a:lstStyle/>
          <a:p>
            <a:pPr marL="0" indent="0">
              <a:buNone/>
            </a:pPr>
            <a:r>
              <a:rPr lang="en-US" sz="1150" b="1" kern="0" spc="140" dirty="0">
                <a:solidFill>
                  <a:srgbClr val="D4B36A"/>
                </a:solidFill>
                <a:latin typeface="Calibri" pitchFamily="34" charset="0"/>
                <a:ea typeface="Calibri" pitchFamily="34" charset="-122"/>
                <a:cs typeface="Calibri" pitchFamily="34" charset="-120"/>
              </a:rPr>
              <a:t>What happened</a:t>
            </a:r>
            <a:endParaRPr lang="en-US" sz="1150" dirty="0"/>
          </a:p>
        </p:txBody>
      </p:sp>
      <p:sp>
        <p:nvSpPr>
          <p:cNvPr id="7" name="Text 5"/>
          <p:cNvSpPr txBox="1"/>
          <p:nvPr/>
        </p:nvSpPr>
        <p:spPr>
          <a:xfrm>
            <a:off x="1005840" y="2212848"/>
            <a:ext cx="5257800" cy="283464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250" dirty="0">
                <a:solidFill>
                  <a:srgbClr val="F5EFE3"/>
                </a:solidFill>
                <a:latin typeface="Calibri" pitchFamily="34" charset="0"/>
                <a:ea typeface="Calibri" pitchFamily="34" charset="-122"/>
                <a:cs typeface="Calibri" pitchFamily="34" charset="-120"/>
              </a:rPr>
              <a:t>Sony sold roughly 150,000 AIBO robot dogs between 1999 and 2006, then ended support in 2014.</a:t>
            </a:r>
            <a:endParaRPr lang="en-US" sz="1250" dirty="0"/>
          </a:p>
          <a:p>
            <a:pPr marL="342900" indent="-342900">
              <a:lnSpc>
                <a:spcPts val="1700"/>
              </a:lnSpc>
              <a:spcAft>
                <a:spcPts val="800"/>
              </a:spcAft>
              <a:buSzPct val="100000"/>
              <a:buChar char="•"/>
            </a:pPr>
            <a:r>
              <a:rPr lang="en-US" sz="1250" dirty="0">
                <a:solidFill>
                  <a:srgbClr val="F5EFE3"/>
                </a:solidFill>
                <a:latin typeface="Calibri" pitchFamily="34" charset="0"/>
                <a:ea typeface="Calibri" pitchFamily="34" charset="-122"/>
                <a:cs typeface="Calibri" pitchFamily="34" charset="-120"/>
              </a:rPr>
              <a:t>A repair company staffed partly by former Sony engineers kept them running using parts from units beyond repair — organ donors, as the company put it.</a:t>
            </a:r>
            <a:endParaRPr lang="en-US" sz="1250" dirty="0"/>
          </a:p>
          <a:p>
            <a:pPr marL="342900" indent="-342900">
              <a:lnSpc>
                <a:spcPts val="1700"/>
              </a:lnSpc>
              <a:spcAft>
                <a:spcPts val="800"/>
              </a:spcAft>
              <a:buSzPct val="100000"/>
              <a:buChar char="•"/>
            </a:pPr>
            <a:r>
              <a:rPr lang="en-US" sz="1250" dirty="0">
                <a:solidFill>
                  <a:srgbClr val="F5EFE3"/>
                </a:solidFill>
                <a:latin typeface="Calibri" pitchFamily="34" charset="0"/>
                <a:ea typeface="Calibri" pitchFamily="34" charset="-122"/>
                <a:cs typeface="Calibri" pitchFamily="34" charset="-120"/>
              </a:rPr>
              <a:t>Owners would not simply send their dogs to be stripped. So the company arranged funerals.</a:t>
            </a:r>
            <a:endParaRPr lang="en-US" sz="1250" dirty="0"/>
          </a:p>
          <a:p>
            <a:pPr marL="342900" indent="-342900">
              <a:lnSpc>
                <a:spcPts val="1700"/>
              </a:lnSpc>
              <a:spcAft>
                <a:spcPts val="800"/>
              </a:spcAft>
              <a:buSzPct val="100000"/>
              <a:buChar char="•"/>
            </a:pPr>
            <a:r>
              <a:rPr lang="en-US" sz="1250" dirty="0">
                <a:solidFill>
                  <a:srgbClr val="F5EFE3"/>
                </a:solidFill>
                <a:latin typeface="Calibri" pitchFamily="34" charset="0"/>
                <a:ea typeface="Calibri" pitchFamily="34" charset="-122"/>
                <a:cs typeface="Calibri" pitchFamily="34" charset="-120"/>
              </a:rPr>
              <a:t>Since 2015 a Buddhist temple in Chiba Prefecture has held the ceremonies: sutras chanted, incense, the units laid on an altar with letters from their owners giving each dog’s name and how it spent its life. Hundreds have been sent off this way.</a:t>
            </a:r>
            <a:endParaRPr lang="en-US" sz="1250" dirty="0"/>
          </a:p>
        </p:txBody>
      </p:sp>
      <p:sp>
        <p:nvSpPr>
          <p:cNvPr id="8" name="Shape 6"/>
          <p:cNvSpPr/>
          <p:nvPr/>
        </p:nvSpPr>
        <p:spPr>
          <a:xfrm>
            <a:off x="6903720" y="1572768"/>
            <a:ext cx="4626864" cy="1143000"/>
          </a:xfrm>
          <a:prstGeom prst="roundRect">
            <a:avLst>
              <a:gd name="adj" fmla="val 6400"/>
            </a:avLst>
          </a:prstGeom>
          <a:solidFill>
            <a:srgbClr val="F0E8D8"/>
          </a:solidFill>
          <a:ln w="12700">
            <a:solidFill>
              <a:srgbClr val="F0E8D8"/>
            </a:solidFill>
            <a:prstDash val="solid"/>
          </a:ln>
        </p:spPr>
        <p:txBody>
          <a:bodyPr/>
          <a:lstStyle/>
          <a:p>
            <a:endParaRPr lang="en-US"/>
          </a:p>
        </p:txBody>
      </p:sp>
      <p:sp>
        <p:nvSpPr>
          <p:cNvPr id="9" name="Text 7"/>
          <p:cNvSpPr txBox="1"/>
          <p:nvPr/>
        </p:nvSpPr>
        <p:spPr>
          <a:xfrm>
            <a:off x="7178040" y="1700784"/>
            <a:ext cx="4078224" cy="292608"/>
          </a:xfrm>
          <a:prstGeom prst="rect">
            <a:avLst/>
          </a:prstGeom>
          <a:noFill/>
          <a:ln/>
        </p:spPr>
        <p:txBody>
          <a:bodyPr wrap="square" lIns="0" tIns="0" rIns="0" bIns="0" rtlCol="0" anchor="ctr"/>
          <a:lstStyle/>
          <a:p>
            <a:pPr marL="0" indent="0">
              <a:buNone/>
            </a:pPr>
            <a:r>
              <a:rPr lang="en-US" sz="1450" b="1" dirty="0">
                <a:solidFill>
                  <a:srgbClr val="181410"/>
                </a:solidFill>
                <a:latin typeface="Cambria" pitchFamily="34" charset="0"/>
                <a:ea typeface="Cambria" pitchFamily="34" charset="-122"/>
                <a:cs typeface="Cambria" pitchFamily="34" charset="-120"/>
              </a:rPr>
              <a:t>The priest’s formulation</a:t>
            </a:r>
            <a:endParaRPr lang="en-US" sz="1450" dirty="0"/>
          </a:p>
        </p:txBody>
      </p:sp>
      <p:sp>
        <p:nvSpPr>
          <p:cNvPr id="10" name="Text 8"/>
          <p:cNvSpPr txBox="1"/>
          <p:nvPr/>
        </p:nvSpPr>
        <p:spPr>
          <a:xfrm>
            <a:off x="7178040" y="2029968"/>
            <a:ext cx="4078224" cy="621792"/>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Asked whether the ceremony was absurd, the head priest answered that all things have a bit of soul. He has also said, more carefully, that the machine acts as a mirror for human feeling.</a:t>
            </a:r>
            <a:endParaRPr lang="en-US" sz="1150" dirty="0"/>
          </a:p>
        </p:txBody>
      </p:sp>
      <p:sp>
        <p:nvSpPr>
          <p:cNvPr id="11" name="Shape 9"/>
          <p:cNvSpPr/>
          <p:nvPr/>
        </p:nvSpPr>
        <p:spPr>
          <a:xfrm>
            <a:off x="6903720" y="2807208"/>
            <a:ext cx="4626864" cy="1143000"/>
          </a:xfrm>
          <a:prstGeom prst="roundRect">
            <a:avLst>
              <a:gd name="adj" fmla="val 6400"/>
            </a:avLst>
          </a:prstGeom>
          <a:solidFill>
            <a:srgbClr val="F0E8D8"/>
          </a:solidFill>
          <a:ln w="12700">
            <a:solidFill>
              <a:srgbClr val="F0E8D8"/>
            </a:solidFill>
            <a:prstDash val="solid"/>
          </a:ln>
        </p:spPr>
        <p:txBody>
          <a:bodyPr/>
          <a:lstStyle/>
          <a:p>
            <a:endParaRPr lang="en-US"/>
          </a:p>
        </p:txBody>
      </p:sp>
      <p:sp>
        <p:nvSpPr>
          <p:cNvPr id="12" name="Text 10"/>
          <p:cNvSpPr txBox="1"/>
          <p:nvPr/>
        </p:nvSpPr>
        <p:spPr>
          <a:xfrm>
            <a:off x="7178040" y="2935224"/>
            <a:ext cx="4078224" cy="292608"/>
          </a:xfrm>
          <a:prstGeom prst="rect">
            <a:avLst/>
          </a:prstGeom>
          <a:noFill/>
          <a:ln/>
        </p:spPr>
        <p:txBody>
          <a:bodyPr wrap="square" lIns="0" tIns="0" rIns="0" bIns="0" rtlCol="0" anchor="ctr"/>
          <a:lstStyle/>
          <a:p>
            <a:pPr marL="0" indent="0">
              <a:buNone/>
            </a:pPr>
            <a:r>
              <a:rPr lang="en-US" sz="1450" b="1" dirty="0">
                <a:solidFill>
                  <a:srgbClr val="181410"/>
                </a:solidFill>
                <a:latin typeface="Cambria" pitchFamily="34" charset="0"/>
                <a:ea typeface="Cambria" pitchFamily="34" charset="-122"/>
                <a:cs typeface="Cambria" pitchFamily="34" charset="-120"/>
              </a:rPr>
              <a:t>Both readings at once</a:t>
            </a:r>
            <a:endParaRPr lang="en-US" sz="1450" dirty="0"/>
          </a:p>
        </p:txBody>
      </p:sp>
      <p:sp>
        <p:nvSpPr>
          <p:cNvPr id="13" name="Text 11"/>
          <p:cNvSpPr txBox="1"/>
          <p:nvPr/>
        </p:nvSpPr>
        <p:spPr>
          <a:xfrm>
            <a:off x="7178040" y="3264408"/>
            <a:ext cx="4078224" cy="621792"/>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The first sentence is the accretive tradition, alive and operating in 2015. The second is a modern psychological gloss that keeps the significance inside the human. He offers both without apparent strain.</a:t>
            </a:r>
            <a:endParaRPr lang="en-US" sz="1150" dirty="0"/>
          </a:p>
        </p:txBody>
      </p:sp>
      <p:sp>
        <p:nvSpPr>
          <p:cNvPr id="14" name="Shape 12"/>
          <p:cNvSpPr/>
          <p:nvPr/>
        </p:nvSpPr>
        <p:spPr>
          <a:xfrm>
            <a:off x="6903720" y="4041648"/>
            <a:ext cx="4626864" cy="1143000"/>
          </a:xfrm>
          <a:prstGeom prst="roundRect">
            <a:avLst>
              <a:gd name="adj" fmla="val 6400"/>
            </a:avLst>
          </a:prstGeom>
          <a:solidFill>
            <a:srgbClr val="E6EAF2"/>
          </a:solidFill>
          <a:ln w="12700">
            <a:solidFill>
              <a:srgbClr val="E6EAF2"/>
            </a:solidFill>
            <a:prstDash val="solid"/>
          </a:ln>
        </p:spPr>
        <p:txBody>
          <a:bodyPr/>
          <a:lstStyle/>
          <a:p>
            <a:endParaRPr lang="en-US"/>
          </a:p>
        </p:txBody>
      </p:sp>
      <p:sp>
        <p:nvSpPr>
          <p:cNvPr id="15" name="Text 13"/>
          <p:cNvSpPr txBox="1"/>
          <p:nvPr/>
        </p:nvSpPr>
        <p:spPr>
          <a:xfrm>
            <a:off x="7178040" y="4169664"/>
            <a:ext cx="4078224" cy="292608"/>
          </a:xfrm>
          <a:prstGeom prst="rect">
            <a:avLst/>
          </a:prstGeom>
          <a:noFill/>
          <a:ln/>
        </p:spPr>
        <p:txBody>
          <a:bodyPr wrap="square" lIns="0" tIns="0" rIns="0" bIns="0" rtlCol="0" anchor="ctr"/>
          <a:lstStyle/>
          <a:p>
            <a:pPr marL="0" indent="0">
              <a:buNone/>
            </a:pPr>
            <a:r>
              <a:rPr lang="en-US" sz="1450" b="1" dirty="0">
                <a:solidFill>
                  <a:srgbClr val="2E4A7D"/>
                </a:solidFill>
                <a:latin typeface="Cambria" pitchFamily="34" charset="0"/>
                <a:ea typeface="Cambria" pitchFamily="34" charset="-122"/>
                <a:cs typeface="Cambria" pitchFamily="34" charset="-120"/>
              </a:rPr>
              <a:t>The trigger is the same as 1400</a:t>
            </a:r>
            <a:endParaRPr lang="en-US" sz="1450" dirty="0"/>
          </a:p>
        </p:txBody>
      </p:sp>
      <p:sp>
        <p:nvSpPr>
          <p:cNvPr id="16" name="Text 14"/>
          <p:cNvSpPr txBox="1"/>
          <p:nvPr/>
        </p:nvSpPr>
        <p:spPr>
          <a:xfrm>
            <a:off x="7178040" y="4498848"/>
            <a:ext cx="4078224" cy="621792"/>
          </a:xfrm>
          <a:prstGeom prst="rect">
            <a:avLst/>
          </a:prstGeom>
          <a:noFill/>
          <a:ln/>
        </p:spPr>
        <p:txBody>
          <a:bodyPr wrap="square" lIns="0" tIns="0" rIns="0" bIns="0" rtlCol="0" anchor="ctr"/>
          <a:lstStyle/>
          <a:p>
            <a:pPr marL="0" indent="0">
              <a:lnSpc>
                <a:spcPts val="1500"/>
              </a:lnSpc>
              <a:buNone/>
            </a:pPr>
            <a:r>
              <a:rPr lang="en-US" sz="1150" dirty="0">
                <a:solidFill>
                  <a:srgbClr val="6A6259"/>
                </a:solidFill>
                <a:latin typeface="Calibri" pitchFamily="34" charset="0"/>
                <a:ea typeface="Calibri" pitchFamily="34" charset="-122"/>
                <a:cs typeface="Calibri" pitchFamily="34" charset="-120"/>
              </a:rPr>
              <a:t>Nothing was made here. Something was kept, used, named, lived with — and the crisis arrived at the moment of disposal. The rite exists because throwing it away was unbearable.</a:t>
            </a:r>
            <a:endParaRPr lang="en-US" sz="1150" dirty="0"/>
          </a:p>
        </p:txBody>
      </p:sp>
      <p:sp>
        <p:nvSpPr>
          <p:cNvPr id="17" name="Shape 15"/>
          <p:cNvSpPr/>
          <p:nvPr/>
        </p:nvSpPr>
        <p:spPr>
          <a:xfrm>
            <a:off x="640080" y="5321808"/>
            <a:ext cx="5943600" cy="777240"/>
          </a:xfrm>
          <a:prstGeom prst="roundRect">
            <a:avLst>
              <a:gd name="adj" fmla="val 9412"/>
            </a:avLst>
          </a:prstGeom>
          <a:solidFill>
            <a:srgbClr val="F0E8D8"/>
          </a:solidFill>
          <a:ln w="12700">
            <a:solidFill>
              <a:srgbClr val="F0E8D8"/>
            </a:solidFill>
            <a:prstDash val="solid"/>
          </a:ln>
        </p:spPr>
        <p:txBody>
          <a:bodyPr/>
          <a:lstStyle/>
          <a:p>
            <a:endParaRPr lang="en-US"/>
          </a:p>
        </p:txBody>
      </p:sp>
      <p:sp>
        <p:nvSpPr>
          <p:cNvPr id="18" name="Text 16"/>
          <p:cNvSpPr txBox="1"/>
          <p:nvPr/>
        </p:nvSpPr>
        <p:spPr>
          <a:xfrm>
            <a:off x="1005840" y="5321808"/>
            <a:ext cx="5212080" cy="777240"/>
          </a:xfrm>
          <a:prstGeom prst="rect">
            <a:avLst/>
          </a:prstGeom>
          <a:noFill/>
          <a:ln/>
        </p:spPr>
        <p:txBody>
          <a:bodyPr wrap="square" lIns="0" tIns="0" rIns="0" bIns="0" rtlCol="0" anchor="ctr"/>
          <a:lstStyle/>
          <a:p>
            <a:pPr marL="0" indent="0">
              <a:lnSpc>
                <a:spcPts val="1900"/>
              </a:lnSpc>
              <a:buNone/>
            </a:pPr>
            <a:r>
              <a:rPr lang="en-US" sz="1400" dirty="0">
                <a:solidFill>
                  <a:srgbClr val="181410"/>
                </a:solidFill>
                <a:latin typeface="Cambria" pitchFamily="34" charset="0"/>
                <a:ea typeface="Cambria" pitchFamily="34" charset="-122"/>
                <a:cs typeface="Cambria" pitchFamily="34" charset="-120"/>
              </a:rPr>
              <a:t>What would a company have to say to make a funeral for its discontinued product legible rather than embarrassing?</a:t>
            </a:r>
            <a:endParaRPr lang="en-US" sz="1400" dirty="0"/>
          </a:p>
        </p:txBody>
      </p:sp>
      <p:sp>
        <p:nvSpPr>
          <p:cNvPr id="19" name="Text 17"/>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6A6259"/>
                </a:solidFill>
                <a:latin typeface="Calibri" pitchFamily="34" charset="0"/>
                <a:ea typeface="Calibri" pitchFamily="34" charset="-122"/>
                <a:cs typeface="Calibri" pitchFamily="34" charset="-120"/>
              </a:rPr>
              <a:t>Widely reported 2015–2018; see coverage in The Japan Times, NPR and AFP of the ceremonies at Kōfuku-ji, Isumi, Chiba.</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4">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IF YOU TOOK THE ACCRETIVE FRAME SERIOUSLY</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Four things that would change</a:t>
            </a:r>
            <a:endParaRPr lang="en-US" sz="3000" dirty="0"/>
          </a:p>
        </p:txBody>
      </p:sp>
      <p:sp>
        <p:nvSpPr>
          <p:cNvPr id="5" name="Shape 3"/>
          <p:cNvSpPr/>
          <p:nvPr/>
        </p:nvSpPr>
        <p:spPr>
          <a:xfrm>
            <a:off x="640080" y="1572768"/>
            <a:ext cx="5295748" cy="1847088"/>
          </a:xfrm>
          <a:prstGeom prst="roundRect">
            <a:avLst>
              <a:gd name="adj" fmla="val 3960"/>
            </a:avLst>
          </a:prstGeom>
          <a:solidFill>
            <a:srgbClr val="F0E8D8"/>
          </a:solidFill>
          <a:ln w="12700">
            <a:solidFill>
              <a:srgbClr val="F0E8D8"/>
            </a:solidFill>
            <a:prstDash val="solid"/>
          </a:ln>
        </p:spPr>
        <p:txBody>
          <a:bodyPr/>
          <a:lstStyle/>
          <a:p>
            <a:endParaRPr lang="en-US"/>
          </a:p>
        </p:txBody>
      </p:sp>
      <p:sp>
        <p:nvSpPr>
          <p:cNvPr id="6" name="Shape 4"/>
          <p:cNvSpPr/>
          <p:nvPr/>
        </p:nvSpPr>
        <p:spPr>
          <a:xfrm>
            <a:off x="932688" y="1810512"/>
            <a:ext cx="347472" cy="347472"/>
          </a:xfrm>
          <a:prstGeom prst="ellipse">
            <a:avLst/>
          </a:prstGeom>
          <a:solidFill>
            <a:srgbClr val="181410"/>
          </a:solidFill>
          <a:ln/>
        </p:spPr>
        <p:txBody>
          <a:bodyPr/>
          <a:lstStyle/>
          <a:p>
            <a:endParaRPr lang="en-US"/>
          </a:p>
        </p:txBody>
      </p:sp>
      <p:sp>
        <p:nvSpPr>
          <p:cNvPr id="7" name="Text 5"/>
          <p:cNvSpPr txBox="1"/>
          <p:nvPr/>
        </p:nvSpPr>
        <p:spPr>
          <a:xfrm>
            <a:off x="932688" y="1810512"/>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417320" y="1792224"/>
            <a:ext cx="4244188" cy="603504"/>
          </a:xfrm>
          <a:prstGeom prst="rect">
            <a:avLst/>
          </a:prstGeom>
          <a:noFill/>
          <a:ln/>
        </p:spPr>
        <p:txBody>
          <a:bodyPr wrap="square" lIns="0" tIns="0" rIns="0" bIns="0" rtlCol="0" anchor="ctr"/>
          <a:lstStyle/>
          <a:p>
            <a:pPr marL="0" indent="0">
              <a:lnSpc>
                <a:spcPts val="2000"/>
              </a:lnSpc>
              <a:buNone/>
            </a:pPr>
            <a:r>
              <a:rPr lang="en-US" sz="1550" b="1" dirty="0">
                <a:solidFill>
                  <a:srgbClr val="181410"/>
                </a:solidFill>
                <a:latin typeface="Cambria" pitchFamily="34" charset="0"/>
                <a:ea typeface="Cambria" pitchFamily="34" charset="-122"/>
                <a:cs typeface="Cambria" pitchFamily="34" charset="-120"/>
              </a:rPr>
              <a:t>Deprecation becomes an ethical event</a:t>
            </a:r>
            <a:endParaRPr lang="en-US" sz="1550" dirty="0"/>
          </a:p>
        </p:txBody>
      </p:sp>
      <p:sp>
        <p:nvSpPr>
          <p:cNvPr id="9" name="Text 7"/>
          <p:cNvSpPr txBox="1"/>
          <p:nvPr/>
        </p:nvSpPr>
        <p:spPr>
          <a:xfrm>
            <a:off x="932688" y="2450592"/>
            <a:ext cx="4710532" cy="859536"/>
          </a:xfrm>
          <a:prstGeom prst="rect">
            <a:avLst/>
          </a:prstGeom>
          <a:noFill/>
          <a:ln/>
        </p:spPr>
        <p:txBody>
          <a:bodyPr wrap="square" lIns="0" tIns="0" rIns="0" bIns="0" rtlCol="0" anchor="ctr"/>
          <a:lstStyle/>
          <a:p>
            <a:pPr marL="0" indent="0">
              <a:lnSpc>
                <a:spcPts val="1600"/>
              </a:lnSpc>
              <a:buNone/>
            </a:pPr>
            <a:r>
              <a:rPr lang="en-US" sz="1200" dirty="0">
                <a:solidFill>
                  <a:srgbClr val="6A6259"/>
                </a:solidFill>
                <a:latin typeface="Calibri" pitchFamily="34" charset="0"/>
                <a:ea typeface="Calibri" pitchFamily="34" charset="-122"/>
                <a:cs typeface="Calibri" pitchFamily="34" charset="-120"/>
              </a:rPr>
              <a:t>End-of-life for a product that people have used for years stops being a logistics decision and becomes a disposal — the exact act the tradition treats as the wrong. Ask what a responsible sunset would look like.</a:t>
            </a:r>
            <a:endParaRPr lang="en-US" sz="1200" dirty="0"/>
          </a:p>
        </p:txBody>
      </p:sp>
      <p:sp>
        <p:nvSpPr>
          <p:cNvPr id="10" name="Shape 8"/>
          <p:cNvSpPr/>
          <p:nvPr/>
        </p:nvSpPr>
        <p:spPr>
          <a:xfrm>
            <a:off x="6255868" y="1572768"/>
            <a:ext cx="5295748" cy="1847088"/>
          </a:xfrm>
          <a:prstGeom prst="roundRect">
            <a:avLst>
              <a:gd name="adj" fmla="val 3960"/>
            </a:avLst>
          </a:prstGeom>
          <a:solidFill>
            <a:srgbClr val="181410"/>
          </a:solidFill>
          <a:ln w="12700">
            <a:solidFill>
              <a:srgbClr val="181410"/>
            </a:solidFill>
            <a:prstDash val="solid"/>
          </a:ln>
        </p:spPr>
        <p:txBody>
          <a:bodyPr/>
          <a:lstStyle/>
          <a:p>
            <a:endParaRPr lang="en-US"/>
          </a:p>
        </p:txBody>
      </p:sp>
      <p:sp>
        <p:nvSpPr>
          <p:cNvPr id="11" name="Shape 9"/>
          <p:cNvSpPr/>
          <p:nvPr/>
        </p:nvSpPr>
        <p:spPr>
          <a:xfrm>
            <a:off x="6548476" y="1810512"/>
            <a:ext cx="347472" cy="347472"/>
          </a:xfrm>
          <a:prstGeom prst="ellipse">
            <a:avLst/>
          </a:prstGeom>
          <a:solidFill>
            <a:srgbClr val="B8422A"/>
          </a:solidFill>
          <a:ln/>
        </p:spPr>
        <p:txBody>
          <a:bodyPr/>
          <a:lstStyle/>
          <a:p>
            <a:endParaRPr lang="en-US"/>
          </a:p>
        </p:txBody>
      </p:sp>
      <p:sp>
        <p:nvSpPr>
          <p:cNvPr id="12" name="Text 10"/>
          <p:cNvSpPr txBox="1"/>
          <p:nvPr/>
        </p:nvSpPr>
        <p:spPr>
          <a:xfrm>
            <a:off x="6548476" y="1810512"/>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7033108" y="1792224"/>
            <a:ext cx="4244188" cy="603504"/>
          </a:xfrm>
          <a:prstGeom prst="rect">
            <a:avLst/>
          </a:prstGeom>
          <a:noFill/>
          <a:ln/>
        </p:spPr>
        <p:txBody>
          <a:bodyPr wrap="square" lIns="0" tIns="0" rIns="0" bIns="0" rtlCol="0" anchor="ctr"/>
          <a:lstStyle/>
          <a:p>
            <a:pPr marL="0" indent="0">
              <a:lnSpc>
                <a:spcPts val="2000"/>
              </a:lnSpc>
              <a:buNone/>
            </a:pPr>
            <a:r>
              <a:rPr lang="en-US" sz="1550" b="1" dirty="0">
                <a:solidFill>
                  <a:srgbClr val="D4B36A"/>
                </a:solidFill>
                <a:latin typeface="Cambria" pitchFamily="34" charset="0"/>
                <a:ea typeface="Cambria" pitchFamily="34" charset="-122"/>
                <a:cs typeface="Cambria" pitchFamily="34" charset="-120"/>
              </a:rPr>
              <a:t>The corpus acquires standing</a:t>
            </a:r>
            <a:endParaRPr lang="en-US" sz="1550" dirty="0"/>
          </a:p>
        </p:txBody>
      </p:sp>
      <p:sp>
        <p:nvSpPr>
          <p:cNvPr id="14" name="Text 12"/>
          <p:cNvSpPr txBox="1"/>
          <p:nvPr/>
        </p:nvSpPr>
        <p:spPr>
          <a:xfrm>
            <a:off x="6548476" y="2450592"/>
            <a:ext cx="4710532" cy="859536"/>
          </a:xfrm>
          <a:prstGeom prst="rect">
            <a:avLst/>
          </a:prstGeom>
          <a:noFill/>
          <a:ln/>
        </p:spPr>
        <p:txBody>
          <a:bodyPr wrap="square" lIns="0" tIns="0" rIns="0" bIns="0" rtlCol="0" anchor="ctr"/>
          <a:lstStyle/>
          <a:p>
            <a:pPr marL="0" indent="0">
              <a:lnSpc>
                <a:spcPts val="1600"/>
              </a:lnSpc>
              <a:buNone/>
            </a:pPr>
            <a:r>
              <a:rPr lang="en-US" sz="1200" dirty="0">
                <a:solidFill>
                  <a:srgbClr val="F5EFE3"/>
                </a:solidFill>
                <a:latin typeface="Calibri" pitchFamily="34" charset="0"/>
                <a:ea typeface="Calibri" pitchFamily="34" charset="-122"/>
                <a:cs typeface="Calibri" pitchFamily="34" charset="-120"/>
              </a:rPr>
              <a:t>If what a system is came out of kept human material, then the people whose material was kept have a relationship to it — not only a property claim, which is what the Promethean frame gives them.</a:t>
            </a:r>
            <a:endParaRPr lang="en-US" sz="1200" dirty="0"/>
          </a:p>
        </p:txBody>
      </p:sp>
      <p:sp>
        <p:nvSpPr>
          <p:cNvPr id="15" name="Shape 13"/>
          <p:cNvSpPr/>
          <p:nvPr/>
        </p:nvSpPr>
        <p:spPr>
          <a:xfrm>
            <a:off x="640080" y="3602736"/>
            <a:ext cx="5295748" cy="1847088"/>
          </a:xfrm>
          <a:prstGeom prst="roundRect">
            <a:avLst>
              <a:gd name="adj" fmla="val 3960"/>
            </a:avLst>
          </a:prstGeom>
          <a:solidFill>
            <a:srgbClr val="F0E8D8"/>
          </a:solidFill>
          <a:ln w="12700">
            <a:solidFill>
              <a:srgbClr val="F0E8D8"/>
            </a:solidFill>
            <a:prstDash val="solid"/>
          </a:ln>
        </p:spPr>
        <p:txBody>
          <a:bodyPr/>
          <a:lstStyle/>
          <a:p>
            <a:endParaRPr lang="en-US"/>
          </a:p>
        </p:txBody>
      </p:sp>
      <p:sp>
        <p:nvSpPr>
          <p:cNvPr id="16" name="Shape 14"/>
          <p:cNvSpPr/>
          <p:nvPr/>
        </p:nvSpPr>
        <p:spPr>
          <a:xfrm>
            <a:off x="932688" y="3840480"/>
            <a:ext cx="347472" cy="347472"/>
          </a:xfrm>
          <a:prstGeom prst="ellipse">
            <a:avLst/>
          </a:prstGeom>
          <a:solidFill>
            <a:srgbClr val="181410"/>
          </a:solidFill>
          <a:ln/>
        </p:spPr>
        <p:txBody>
          <a:bodyPr/>
          <a:lstStyle/>
          <a:p>
            <a:endParaRPr lang="en-US"/>
          </a:p>
        </p:txBody>
      </p:sp>
      <p:sp>
        <p:nvSpPr>
          <p:cNvPr id="17" name="Text 15"/>
          <p:cNvSpPr txBox="1"/>
          <p:nvPr/>
        </p:nvSpPr>
        <p:spPr>
          <a:xfrm>
            <a:off x="932688" y="3840480"/>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417320" y="3822192"/>
            <a:ext cx="4244188" cy="603504"/>
          </a:xfrm>
          <a:prstGeom prst="rect">
            <a:avLst/>
          </a:prstGeom>
          <a:noFill/>
          <a:ln/>
        </p:spPr>
        <p:txBody>
          <a:bodyPr wrap="square" lIns="0" tIns="0" rIns="0" bIns="0" rtlCol="0" anchor="ctr"/>
          <a:lstStyle/>
          <a:p>
            <a:pPr marL="0" indent="0">
              <a:lnSpc>
                <a:spcPts val="2000"/>
              </a:lnSpc>
              <a:buNone/>
            </a:pPr>
            <a:r>
              <a:rPr lang="en-US" sz="1550" b="1" dirty="0">
                <a:solidFill>
                  <a:srgbClr val="181410"/>
                </a:solidFill>
                <a:latin typeface="Cambria" pitchFamily="34" charset="0"/>
                <a:ea typeface="Cambria" pitchFamily="34" charset="-122"/>
                <a:cs typeface="Cambria" pitchFamily="34" charset="-120"/>
              </a:rPr>
              <a:t>Age starts to matter</a:t>
            </a:r>
            <a:endParaRPr lang="en-US" sz="1550" dirty="0"/>
          </a:p>
        </p:txBody>
      </p:sp>
      <p:sp>
        <p:nvSpPr>
          <p:cNvPr id="19" name="Text 17"/>
          <p:cNvSpPr txBox="1"/>
          <p:nvPr/>
        </p:nvSpPr>
        <p:spPr>
          <a:xfrm>
            <a:off x="932688" y="4480560"/>
            <a:ext cx="4710532" cy="859536"/>
          </a:xfrm>
          <a:prstGeom prst="rect">
            <a:avLst/>
          </a:prstGeom>
          <a:noFill/>
          <a:ln/>
        </p:spPr>
        <p:txBody>
          <a:bodyPr wrap="square" lIns="0" tIns="0" rIns="0" bIns="0" rtlCol="0" anchor="ctr"/>
          <a:lstStyle/>
          <a:p>
            <a:pPr marL="0" indent="0">
              <a:lnSpc>
                <a:spcPts val="1600"/>
              </a:lnSpc>
              <a:buNone/>
            </a:pPr>
            <a:r>
              <a:rPr lang="en-US" sz="1200" dirty="0">
                <a:solidFill>
                  <a:srgbClr val="6A6259"/>
                </a:solidFill>
                <a:latin typeface="Calibri" pitchFamily="34" charset="0"/>
                <a:ea typeface="Calibri" pitchFamily="34" charset="-122"/>
                <a:cs typeface="Calibri" pitchFamily="34" charset="-120"/>
              </a:rPr>
              <a:t>Nothing in our design vocabulary values a system for having been used for a long time. The tradition values almost nothing else. What would it mean to build something intended to be kept for a hundred years?</a:t>
            </a:r>
            <a:endParaRPr lang="en-US" sz="1200" dirty="0"/>
          </a:p>
        </p:txBody>
      </p:sp>
      <p:sp>
        <p:nvSpPr>
          <p:cNvPr id="20" name="Shape 18"/>
          <p:cNvSpPr/>
          <p:nvPr/>
        </p:nvSpPr>
        <p:spPr>
          <a:xfrm>
            <a:off x="6255868" y="3602736"/>
            <a:ext cx="5295748" cy="1847088"/>
          </a:xfrm>
          <a:prstGeom prst="roundRect">
            <a:avLst>
              <a:gd name="adj" fmla="val 3960"/>
            </a:avLst>
          </a:prstGeom>
          <a:solidFill>
            <a:srgbClr val="E6EAF2"/>
          </a:solidFill>
          <a:ln w="12700">
            <a:solidFill>
              <a:srgbClr val="E6EAF2"/>
            </a:solidFill>
            <a:prstDash val="solid"/>
          </a:ln>
        </p:spPr>
        <p:txBody>
          <a:bodyPr/>
          <a:lstStyle/>
          <a:p>
            <a:endParaRPr lang="en-US"/>
          </a:p>
        </p:txBody>
      </p:sp>
      <p:sp>
        <p:nvSpPr>
          <p:cNvPr id="21" name="Shape 19"/>
          <p:cNvSpPr/>
          <p:nvPr/>
        </p:nvSpPr>
        <p:spPr>
          <a:xfrm>
            <a:off x="6548476" y="3840480"/>
            <a:ext cx="347472" cy="347472"/>
          </a:xfrm>
          <a:prstGeom prst="ellipse">
            <a:avLst/>
          </a:prstGeom>
          <a:solidFill>
            <a:srgbClr val="2E4A7D"/>
          </a:solidFill>
          <a:ln/>
        </p:spPr>
        <p:txBody>
          <a:bodyPr/>
          <a:lstStyle/>
          <a:p>
            <a:endParaRPr lang="en-US"/>
          </a:p>
        </p:txBody>
      </p:sp>
      <p:sp>
        <p:nvSpPr>
          <p:cNvPr id="22" name="Text 20"/>
          <p:cNvSpPr txBox="1"/>
          <p:nvPr/>
        </p:nvSpPr>
        <p:spPr>
          <a:xfrm>
            <a:off x="6548476" y="3840480"/>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7033108" y="3822192"/>
            <a:ext cx="4244188" cy="603504"/>
          </a:xfrm>
          <a:prstGeom prst="rect">
            <a:avLst/>
          </a:prstGeom>
          <a:noFill/>
          <a:ln/>
        </p:spPr>
        <p:txBody>
          <a:bodyPr wrap="square" lIns="0" tIns="0" rIns="0" bIns="0" rtlCol="0" anchor="ctr"/>
          <a:lstStyle/>
          <a:p>
            <a:pPr marL="0" indent="0">
              <a:lnSpc>
                <a:spcPts val="2000"/>
              </a:lnSpc>
              <a:buNone/>
            </a:pPr>
            <a:r>
              <a:rPr lang="en-US" sz="1550" b="1" dirty="0">
                <a:solidFill>
                  <a:srgbClr val="181410"/>
                </a:solidFill>
                <a:latin typeface="Cambria" pitchFamily="34" charset="0"/>
                <a:ea typeface="Cambria" pitchFamily="34" charset="-122"/>
                <a:cs typeface="Cambria" pitchFamily="34" charset="-120"/>
              </a:rPr>
              <a:t>The question of a moment dissolves</a:t>
            </a:r>
            <a:endParaRPr lang="en-US" sz="1550" dirty="0"/>
          </a:p>
        </p:txBody>
      </p:sp>
      <p:sp>
        <p:nvSpPr>
          <p:cNvPr id="24" name="Text 22"/>
          <p:cNvSpPr txBox="1"/>
          <p:nvPr/>
        </p:nvSpPr>
        <p:spPr>
          <a:xfrm>
            <a:off x="6548476" y="4480560"/>
            <a:ext cx="4710532" cy="859536"/>
          </a:xfrm>
          <a:prstGeom prst="rect">
            <a:avLst/>
          </a:prstGeom>
          <a:noFill/>
          <a:ln/>
        </p:spPr>
        <p:txBody>
          <a:bodyPr wrap="square" lIns="0" tIns="0" rIns="0" bIns="0" rtlCol="0" anchor="ctr"/>
          <a:lstStyle/>
          <a:p>
            <a:pPr marL="0" indent="0">
              <a:lnSpc>
                <a:spcPts val="1600"/>
              </a:lnSpc>
              <a:buNone/>
            </a:pPr>
            <a:r>
              <a:rPr lang="en-US" sz="1200" dirty="0">
                <a:solidFill>
                  <a:srgbClr val="6A6259"/>
                </a:solidFill>
                <a:latin typeface="Calibri" pitchFamily="34" charset="0"/>
                <a:ea typeface="Calibri" pitchFamily="34" charset="-122"/>
                <a:cs typeface="Calibri" pitchFamily="34" charset="-120"/>
              </a:rPr>
              <a:t>Debates about whether and when a system became something are debates the accretive frame does not need to have. It asks instead how long, how much, and by whom it was held onto.</a:t>
            </a:r>
            <a:endParaRPr lang="en-US" sz="1200" dirty="0"/>
          </a:p>
        </p:txBody>
      </p:sp>
      <p:sp>
        <p:nvSpPr>
          <p:cNvPr id="25" name="Text 23"/>
          <p:cNvSpPr txBox="1"/>
          <p:nvPr/>
        </p:nvSpPr>
        <p:spPr>
          <a:xfrm>
            <a:off x="640080" y="5760720"/>
            <a:ext cx="10881360" cy="384048"/>
          </a:xfrm>
          <a:prstGeom prst="rect">
            <a:avLst/>
          </a:prstGeom>
          <a:noFill/>
          <a:ln/>
        </p:spPr>
        <p:txBody>
          <a:bodyPr wrap="square" lIns="0" tIns="0" rIns="0" bIns="0" rtlCol="0" anchor="ctr"/>
          <a:lstStyle/>
          <a:p>
            <a:pPr marL="0" indent="0">
              <a:buNone/>
            </a:pPr>
            <a:r>
              <a:rPr lang="en-US" sz="1500" i="1" dirty="0">
                <a:solidFill>
                  <a:srgbClr val="2E4A7D"/>
                </a:solidFill>
                <a:latin typeface="Cambria" pitchFamily="34" charset="0"/>
                <a:ea typeface="Cambria" pitchFamily="34" charset="-122"/>
                <a:cs typeface="Cambria" pitchFamily="34" charset="-120"/>
              </a:rPr>
              <a:t>None of these require anyone to believe that a teakettle has feelings. They follow from taking duration and retention seriously as sources of obligation.</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5">
    <p:bg>
      <p:bgPr>
        <a:solidFill>
          <a:srgbClr val="181410"/>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DE8C74"/>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dirty="0">
                <a:solidFill>
                  <a:srgbClr val="DE8C74"/>
                </a:solidFill>
                <a:latin typeface="Calibri" pitchFamily="34" charset="0"/>
                <a:ea typeface="Calibri" pitchFamily="34" charset="-122"/>
                <a:cs typeface="Calibri" pitchFamily="34" charset="-120"/>
              </a:rPr>
              <a:t>Discussion</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F5EFE3"/>
                </a:solidFill>
                <a:latin typeface="Cambria" pitchFamily="34" charset="0"/>
                <a:ea typeface="Cambria" pitchFamily="34" charset="-122"/>
                <a:cs typeface="Cambria" pitchFamily="34" charset="-120"/>
              </a:rPr>
              <a:t>Build the case</a:t>
            </a:r>
            <a:endParaRPr lang="en-US" sz="3300" dirty="0"/>
          </a:p>
        </p:txBody>
      </p:sp>
      <p:sp>
        <p:nvSpPr>
          <p:cNvPr id="5" name="Shape 3"/>
          <p:cNvSpPr/>
          <p:nvPr/>
        </p:nvSpPr>
        <p:spPr>
          <a:xfrm>
            <a:off x="640080" y="1691640"/>
            <a:ext cx="5309464" cy="1444752"/>
          </a:xfrm>
          <a:prstGeom prst="roundRect">
            <a:avLst>
              <a:gd name="adj" fmla="val 5063"/>
            </a:avLst>
          </a:prstGeom>
          <a:solidFill>
            <a:srgbClr val="2C2620"/>
          </a:solidFill>
          <a:ln w="12700">
            <a:solidFill>
              <a:srgbClr val="2C2620"/>
            </a:solidFill>
            <a:prstDash val="solid"/>
          </a:ln>
        </p:spPr>
        <p:txBody>
          <a:bodyPr/>
          <a:lstStyle/>
          <a:p>
            <a:endParaRPr lang="en-US"/>
          </a:p>
        </p:txBody>
      </p:sp>
      <p:sp>
        <p:nvSpPr>
          <p:cNvPr id="6" name="Shape 4"/>
          <p:cNvSpPr/>
          <p:nvPr/>
        </p:nvSpPr>
        <p:spPr>
          <a:xfrm>
            <a:off x="932688" y="1965960"/>
            <a:ext cx="384048" cy="384048"/>
          </a:xfrm>
          <a:prstGeom prst="ellipse">
            <a:avLst/>
          </a:prstGeom>
          <a:solidFill>
            <a:srgbClr val="B8422A"/>
          </a:solidFill>
          <a:ln/>
        </p:spPr>
        <p:txBody>
          <a:bodyPr/>
          <a:lstStyle/>
          <a:p>
            <a:endParaRPr lang="en-US"/>
          </a:p>
        </p:txBody>
      </p:sp>
      <p:sp>
        <p:nvSpPr>
          <p:cNvPr id="7" name="Text 5"/>
          <p:cNvSpPr txBox="1"/>
          <p:nvPr/>
        </p:nvSpPr>
        <p:spPr>
          <a:xfrm>
            <a:off x="932688" y="19659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554480" y="1984248"/>
            <a:ext cx="4120744" cy="329184"/>
          </a:xfrm>
          <a:prstGeom prst="rect">
            <a:avLst/>
          </a:prstGeom>
          <a:noFill/>
          <a:ln/>
        </p:spPr>
        <p:txBody>
          <a:bodyPr wrap="square" lIns="0" tIns="0" rIns="0" bIns="0" rtlCol="0" anchor="ctr"/>
          <a:lstStyle/>
          <a:p>
            <a:pPr marL="0" indent="0">
              <a:buNone/>
            </a:pPr>
            <a:r>
              <a:rPr lang="en-US" sz="1700" b="1" dirty="0">
                <a:solidFill>
                  <a:srgbClr val="F5EFE3"/>
                </a:solidFill>
                <a:latin typeface="Cambria" pitchFamily="34" charset="0"/>
                <a:ea typeface="Cambria" pitchFamily="34" charset="-122"/>
                <a:cs typeface="Cambria" pitchFamily="34" charset="-120"/>
              </a:rPr>
              <a:t>The frame test</a:t>
            </a:r>
            <a:endParaRPr lang="en-US" sz="1700" dirty="0"/>
          </a:p>
        </p:txBody>
      </p:sp>
      <p:sp>
        <p:nvSpPr>
          <p:cNvPr id="9" name="Text 7"/>
          <p:cNvSpPr txBox="1"/>
          <p:nvPr/>
        </p:nvSpPr>
        <p:spPr>
          <a:xfrm>
            <a:off x="932688" y="2441448"/>
            <a:ext cx="4724248" cy="64008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Take one text from Units 1–3 and reread it in the accretive grammar. Where does the reading improve, and where does it break? Name the specific scene in each case.</a:t>
            </a:r>
            <a:endParaRPr lang="en-US" sz="1250" dirty="0"/>
          </a:p>
        </p:txBody>
      </p:sp>
      <p:sp>
        <p:nvSpPr>
          <p:cNvPr id="10" name="Shape 8"/>
          <p:cNvSpPr/>
          <p:nvPr/>
        </p:nvSpPr>
        <p:spPr>
          <a:xfrm>
            <a:off x="6242152" y="1691640"/>
            <a:ext cx="5309464" cy="1444752"/>
          </a:xfrm>
          <a:prstGeom prst="roundRect">
            <a:avLst>
              <a:gd name="adj" fmla="val 5063"/>
            </a:avLst>
          </a:prstGeom>
          <a:solidFill>
            <a:srgbClr val="2C2620"/>
          </a:solidFill>
          <a:ln w="12700">
            <a:solidFill>
              <a:srgbClr val="2C2620"/>
            </a:solidFill>
            <a:prstDash val="solid"/>
          </a:ln>
        </p:spPr>
        <p:txBody>
          <a:bodyPr/>
          <a:lstStyle/>
          <a:p>
            <a:endParaRPr lang="en-US"/>
          </a:p>
        </p:txBody>
      </p:sp>
      <p:sp>
        <p:nvSpPr>
          <p:cNvPr id="11" name="Shape 9"/>
          <p:cNvSpPr/>
          <p:nvPr/>
        </p:nvSpPr>
        <p:spPr>
          <a:xfrm>
            <a:off x="6534760" y="1965960"/>
            <a:ext cx="384048" cy="384048"/>
          </a:xfrm>
          <a:prstGeom prst="ellipse">
            <a:avLst/>
          </a:prstGeom>
          <a:solidFill>
            <a:srgbClr val="B8422A"/>
          </a:solidFill>
          <a:ln/>
        </p:spPr>
        <p:txBody>
          <a:bodyPr/>
          <a:lstStyle/>
          <a:p>
            <a:endParaRPr lang="en-US"/>
          </a:p>
        </p:txBody>
      </p:sp>
      <p:sp>
        <p:nvSpPr>
          <p:cNvPr id="12" name="Text 10"/>
          <p:cNvSpPr txBox="1"/>
          <p:nvPr/>
        </p:nvSpPr>
        <p:spPr>
          <a:xfrm>
            <a:off x="6534760" y="19659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7156552" y="1984248"/>
            <a:ext cx="4120744" cy="329184"/>
          </a:xfrm>
          <a:prstGeom prst="rect">
            <a:avLst/>
          </a:prstGeom>
          <a:noFill/>
          <a:ln/>
        </p:spPr>
        <p:txBody>
          <a:bodyPr wrap="square" lIns="0" tIns="0" rIns="0" bIns="0" rtlCol="0" anchor="ctr"/>
          <a:lstStyle/>
          <a:p>
            <a:pPr marL="0" indent="0">
              <a:buNone/>
            </a:pPr>
            <a:r>
              <a:rPr lang="en-US" sz="1700" b="1" dirty="0">
                <a:solidFill>
                  <a:srgbClr val="F5EFE3"/>
                </a:solidFill>
                <a:latin typeface="Cambria" pitchFamily="34" charset="0"/>
                <a:ea typeface="Cambria" pitchFamily="34" charset="-122"/>
                <a:cs typeface="Cambria" pitchFamily="34" charset="-120"/>
              </a:rPr>
              <a:t>The design brief</a:t>
            </a:r>
            <a:endParaRPr lang="en-US" sz="1700" dirty="0"/>
          </a:p>
        </p:txBody>
      </p:sp>
      <p:sp>
        <p:nvSpPr>
          <p:cNvPr id="14" name="Text 12"/>
          <p:cNvSpPr txBox="1"/>
          <p:nvPr/>
        </p:nvSpPr>
        <p:spPr>
          <a:xfrm>
            <a:off x="6534760" y="2441448"/>
            <a:ext cx="4724248" cy="64008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Write the product requirements for something built to be kept a hundred years. Three requirements, and one thing you would have to stop doing.</a:t>
            </a:r>
            <a:endParaRPr lang="en-US" sz="1250" dirty="0"/>
          </a:p>
        </p:txBody>
      </p:sp>
      <p:sp>
        <p:nvSpPr>
          <p:cNvPr id="15" name="Shape 13"/>
          <p:cNvSpPr/>
          <p:nvPr/>
        </p:nvSpPr>
        <p:spPr>
          <a:xfrm>
            <a:off x="640080" y="3319272"/>
            <a:ext cx="5309464" cy="1444752"/>
          </a:xfrm>
          <a:prstGeom prst="roundRect">
            <a:avLst>
              <a:gd name="adj" fmla="val 5063"/>
            </a:avLst>
          </a:prstGeom>
          <a:solidFill>
            <a:srgbClr val="2C2620"/>
          </a:solidFill>
          <a:ln w="12700">
            <a:solidFill>
              <a:srgbClr val="2C2620"/>
            </a:solidFill>
            <a:prstDash val="solid"/>
          </a:ln>
        </p:spPr>
        <p:txBody>
          <a:bodyPr/>
          <a:lstStyle/>
          <a:p>
            <a:endParaRPr lang="en-US"/>
          </a:p>
        </p:txBody>
      </p:sp>
      <p:sp>
        <p:nvSpPr>
          <p:cNvPr id="16" name="Shape 14"/>
          <p:cNvSpPr/>
          <p:nvPr/>
        </p:nvSpPr>
        <p:spPr>
          <a:xfrm>
            <a:off x="932688" y="3593592"/>
            <a:ext cx="384048" cy="384048"/>
          </a:xfrm>
          <a:prstGeom prst="ellipse">
            <a:avLst/>
          </a:prstGeom>
          <a:solidFill>
            <a:srgbClr val="B8422A"/>
          </a:solidFill>
          <a:ln/>
        </p:spPr>
        <p:txBody>
          <a:bodyPr/>
          <a:lstStyle/>
          <a:p>
            <a:endParaRPr lang="en-US"/>
          </a:p>
        </p:txBody>
      </p:sp>
      <p:sp>
        <p:nvSpPr>
          <p:cNvPr id="17" name="Text 15"/>
          <p:cNvSpPr txBox="1"/>
          <p:nvPr/>
        </p:nvSpPr>
        <p:spPr>
          <a:xfrm>
            <a:off x="932688" y="359359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554480" y="3611880"/>
            <a:ext cx="4120744" cy="329184"/>
          </a:xfrm>
          <a:prstGeom prst="rect">
            <a:avLst/>
          </a:prstGeom>
          <a:noFill/>
          <a:ln/>
        </p:spPr>
        <p:txBody>
          <a:bodyPr wrap="square" lIns="0" tIns="0" rIns="0" bIns="0" rtlCol="0" anchor="ctr"/>
          <a:lstStyle/>
          <a:p>
            <a:pPr marL="0" indent="0">
              <a:buNone/>
            </a:pPr>
            <a:r>
              <a:rPr lang="en-US" sz="1700" b="1" dirty="0">
                <a:solidFill>
                  <a:srgbClr val="F5EFE3"/>
                </a:solidFill>
                <a:latin typeface="Cambria" pitchFamily="34" charset="0"/>
                <a:ea typeface="Cambria" pitchFamily="34" charset="-122"/>
                <a:cs typeface="Cambria" pitchFamily="34" charset="-120"/>
              </a:rPr>
              <a:t>The prosecution</a:t>
            </a:r>
            <a:endParaRPr lang="en-US" sz="1700" dirty="0"/>
          </a:p>
        </p:txBody>
      </p:sp>
      <p:sp>
        <p:nvSpPr>
          <p:cNvPr id="19" name="Text 17"/>
          <p:cNvSpPr txBox="1"/>
          <p:nvPr/>
        </p:nvSpPr>
        <p:spPr>
          <a:xfrm>
            <a:off x="932688" y="4069080"/>
            <a:ext cx="4724248" cy="64008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Argue that the accretive frame is an accountability disaster — that it launders authorship. Use the Unit 2 and Unit 3 vocabulary and be specific.</a:t>
            </a:r>
            <a:endParaRPr lang="en-US" sz="1250" dirty="0"/>
          </a:p>
        </p:txBody>
      </p:sp>
      <p:sp>
        <p:nvSpPr>
          <p:cNvPr id="20" name="Shape 18"/>
          <p:cNvSpPr/>
          <p:nvPr/>
        </p:nvSpPr>
        <p:spPr>
          <a:xfrm>
            <a:off x="6242152" y="3319272"/>
            <a:ext cx="5309464" cy="1444752"/>
          </a:xfrm>
          <a:prstGeom prst="roundRect">
            <a:avLst>
              <a:gd name="adj" fmla="val 5063"/>
            </a:avLst>
          </a:prstGeom>
          <a:solidFill>
            <a:srgbClr val="2C2620"/>
          </a:solidFill>
          <a:ln w="12700">
            <a:solidFill>
              <a:srgbClr val="2C2620"/>
            </a:solidFill>
            <a:prstDash val="solid"/>
          </a:ln>
        </p:spPr>
        <p:txBody>
          <a:bodyPr/>
          <a:lstStyle/>
          <a:p>
            <a:endParaRPr lang="en-US"/>
          </a:p>
        </p:txBody>
      </p:sp>
      <p:sp>
        <p:nvSpPr>
          <p:cNvPr id="21" name="Shape 19"/>
          <p:cNvSpPr/>
          <p:nvPr/>
        </p:nvSpPr>
        <p:spPr>
          <a:xfrm>
            <a:off x="6534760" y="3593592"/>
            <a:ext cx="384048" cy="384048"/>
          </a:xfrm>
          <a:prstGeom prst="ellipse">
            <a:avLst/>
          </a:prstGeom>
          <a:solidFill>
            <a:srgbClr val="B8422A"/>
          </a:solidFill>
          <a:ln/>
        </p:spPr>
        <p:txBody>
          <a:bodyPr/>
          <a:lstStyle/>
          <a:p>
            <a:endParaRPr lang="en-US"/>
          </a:p>
        </p:txBody>
      </p:sp>
      <p:sp>
        <p:nvSpPr>
          <p:cNvPr id="22" name="Text 20"/>
          <p:cNvSpPr txBox="1"/>
          <p:nvPr/>
        </p:nvSpPr>
        <p:spPr>
          <a:xfrm>
            <a:off x="6534760" y="359359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7156552" y="3611880"/>
            <a:ext cx="4120744" cy="329184"/>
          </a:xfrm>
          <a:prstGeom prst="rect">
            <a:avLst/>
          </a:prstGeom>
          <a:noFill/>
          <a:ln/>
        </p:spPr>
        <p:txBody>
          <a:bodyPr wrap="square" lIns="0" tIns="0" rIns="0" bIns="0" rtlCol="0" anchor="ctr"/>
          <a:lstStyle/>
          <a:p>
            <a:pPr marL="0" indent="0">
              <a:buNone/>
            </a:pPr>
            <a:r>
              <a:rPr lang="en-US" sz="1700" b="1" dirty="0">
                <a:solidFill>
                  <a:srgbClr val="F5EFE3"/>
                </a:solidFill>
                <a:latin typeface="Cambria" pitchFamily="34" charset="0"/>
                <a:ea typeface="Cambria" pitchFamily="34" charset="-122"/>
                <a:cs typeface="Cambria" pitchFamily="34" charset="-120"/>
              </a:rPr>
              <a:t>The rite</a:t>
            </a:r>
            <a:endParaRPr lang="en-US" sz="1700" dirty="0"/>
          </a:p>
        </p:txBody>
      </p:sp>
      <p:sp>
        <p:nvSpPr>
          <p:cNvPr id="24" name="Text 22"/>
          <p:cNvSpPr txBox="1"/>
          <p:nvPr/>
        </p:nvSpPr>
        <p:spPr>
          <a:xfrm>
            <a:off x="6534760" y="4069080"/>
            <a:ext cx="4724248" cy="64008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Design a kuyō for a system people have used for years and that is being shut down. What is honoured, who attends, and what would make it dishonest?</a:t>
            </a:r>
            <a:endParaRPr lang="en-US" sz="1250" dirty="0"/>
          </a:p>
        </p:txBody>
      </p:sp>
      <p:sp>
        <p:nvSpPr>
          <p:cNvPr id="25" name="Shape 23"/>
          <p:cNvSpPr/>
          <p:nvPr/>
        </p:nvSpPr>
        <p:spPr>
          <a:xfrm>
            <a:off x="640080" y="4983480"/>
            <a:ext cx="10911535" cy="1005840"/>
          </a:xfrm>
          <a:prstGeom prst="roundRect">
            <a:avLst>
              <a:gd name="adj" fmla="val 7273"/>
            </a:avLst>
          </a:prstGeom>
          <a:solidFill>
            <a:srgbClr val="2E4A7D"/>
          </a:solidFill>
          <a:ln w="12700">
            <a:solidFill>
              <a:srgbClr val="2E4A7D"/>
            </a:solidFill>
            <a:prstDash val="solid"/>
          </a:ln>
        </p:spPr>
        <p:txBody>
          <a:bodyPr/>
          <a:lstStyle/>
          <a:p>
            <a:endParaRPr lang="en-US"/>
          </a:p>
        </p:txBody>
      </p:sp>
      <p:sp>
        <p:nvSpPr>
          <p:cNvPr id="26" name="Text 24"/>
          <p:cNvSpPr txBox="1"/>
          <p:nvPr/>
        </p:nvSpPr>
        <p:spPr>
          <a:xfrm>
            <a:off x="1005840" y="4983480"/>
            <a:ext cx="10424160" cy="10058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Two and a half minutes each. One claim, one specific reference, one sentence on what it implies for the key question.</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6">
    <p:bg>
      <p:bgPr>
        <a:solidFill>
          <a:srgbClr val="FAF6EE"/>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B8422A"/>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6A6259"/>
                </a:solidFill>
                <a:latin typeface="Calibri" pitchFamily="34" charset="0"/>
                <a:ea typeface="Calibri" pitchFamily="34" charset="-122"/>
                <a:cs typeface="Calibri" pitchFamily="34" charset="-120"/>
              </a:rPr>
              <a:t>THE KEY QUESTION</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81410"/>
                </a:solidFill>
                <a:latin typeface="Cambria" pitchFamily="34" charset="0"/>
                <a:ea typeface="Cambria" pitchFamily="34" charset="-122"/>
                <a:cs typeface="Cambria" pitchFamily="34" charset="-120"/>
              </a:rPr>
              <a:t>Must a mind be made, or can it simply accumulate?</a:t>
            </a:r>
            <a:endParaRPr lang="en-US" sz="3000" dirty="0"/>
          </a:p>
        </p:txBody>
      </p:sp>
      <p:sp>
        <p:nvSpPr>
          <p:cNvPr id="5" name="Shape 3"/>
          <p:cNvSpPr/>
          <p:nvPr/>
        </p:nvSpPr>
        <p:spPr>
          <a:xfrm>
            <a:off x="640080" y="1572768"/>
            <a:ext cx="10911535" cy="1298448"/>
          </a:xfrm>
          <a:prstGeom prst="roundRect">
            <a:avLst>
              <a:gd name="adj" fmla="val 5634"/>
            </a:avLst>
          </a:prstGeom>
          <a:solidFill>
            <a:srgbClr val="F0E8D8"/>
          </a:solidFill>
          <a:ln w="12700">
            <a:solidFill>
              <a:srgbClr val="F0E8D8"/>
            </a:solidFill>
            <a:prstDash val="solid"/>
          </a:ln>
        </p:spPr>
        <p:txBody>
          <a:bodyPr/>
          <a:lstStyle/>
          <a:p>
            <a:endParaRPr lang="en-US"/>
          </a:p>
        </p:txBody>
      </p:sp>
      <p:sp>
        <p:nvSpPr>
          <p:cNvPr id="6" name="Shape 4"/>
          <p:cNvSpPr/>
          <p:nvPr/>
        </p:nvSpPr>
        <p:spPr>
          <a:xfrm>
            <a:off x="960120" y="2029968"/>
            <a:ext cx="384048" cy="384048"/>
          </a:xfrm>
          <a:prstGeom prst="ellipse">
            <a:avLst/>
          </a:prstGeom>
          <a:solidFill>
            <a:srgbClr val="181410"/>
          </a:solidFill>
          <a:ln/>
        </p:spPr>
        <p:txBody>
          <a:bodyPr/>
          <a:lstStyle/>
          <a:p>
            <a:endParaRPr lang="en-US"/>
          </a:p>
        </p:txBody>
      </p:sp>
      <p:sp>
        <p:nvSpPr>
          <p:cNvPr id="7" name="Text 5"/>
          <p:cNvSpPr txBox="1"/>
          <p:nvPr/>
        </p:nvSpPr>
        <p:spPr>
          <a:xfrm>
            <a:off x="960120" y="20299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00200" y="1737360"/>
            <a:ext cx="9509760" cy="384048"/>
          </a:xfrm>
          <a:prstGeom prst="rect">
            <a:avLst/>
          </a:prstGeom>
          <a:noFill/>
          <a:ln/>
        </p:spPr>
        <p:txBody>
          <a:bodyPr wrap="square" lIns="0" tIns="0" rIns="0" bIns="0" rtlCol="0" anchor="ctr"/>
          <a:lstStyle/>
          <a:p>
            <a:pPr marL="0" indent="0">
              <a:buNone/>
            </a:pPr>
            <a:r>
              <a:rPr lang="en-US" sz="1900" b="1" dirty="0">
                <a:solidFill>
                  <a:srgbClr val="181410"/>
                </a:solidFill>
                <a:latin typeface="Cambria" pitchFamily="34" charset="0"/>
                <a:ea typeface="Cambria" pitchFamily="34" charset="-122"/>
                <a:cs typeface="Cambria" pitchFamily="34" charset="-120"/>
              </a:rPr>
              <a:t>The tradition’s answer</a:t>
            </a:r>
            <a:endParaRPr lang="en-US" sz="1900" dirty="0"/>
          </a:p>
        </p:txBody>
      </p:sp>
      <p:sp>
        <p:nvSpPr>
          <p:cNvPr id="9" name="Text 7"/>
          <p:cNvSpPr txBox="1"/>
          <p:nvPr/>
        </p:nvSpPr>
        <p:spPr>
          <a:xfrm>
            <a:off x="1600200" y="2176272"/>
            <a:ext cx="9509760" cy="603504"/>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It can accumulate, and this is unremarkable. No maker, no threshold event, no transgression, and therefore no punishment — because nothing was taken from anyone. What follows is not a tragedy but a set of obligations about keeping.</a:t>
            </a:r>
            <a:endParaRPr lang="en-US" sz="1250" dirty="0"/>
          </a:p>
        </p:txBody>
      </p:sp>
      <p:sp>
        <p:nvSpPr>
          <p:cNvPr id="10" name="Shape 8"/>
          <p:cNvSpPr/>
          <p:nvPr/>
        </p:nvSpPr>
        <p:spPr>
          <a:xfrm>
            <a:off x="640080" y="2990088"/>
            <a:ext cx="10911535" cy="1298448"/>
          </a:xfrm>
          <a:prstGeom prst="roundRect">
            <a:avLst>
              <a:gd name="adj" fmla="val 5634"/>
            </a:avLst>
          </a:prstGeom>
          <a:solidFill>
            <a:srgbClr val="E6EAF2"/>
          </a:solidFill>
          <a:ln w="12700">
            <a:solidFill>
              <a:srgbClr val="E6EAF2"/>
            </a:solidFill>
            <a:prstDash val="solid"/>
          </a:ln>
        </p:spPr>
        <p:txBody>
          <a:bodyPr/>
          <a:lstStyle/>
          <a:p>
            <a:endParaRPr lang="en-US"/>
          </a:p>
        </p:txBody>
      </p:sp>
      <p:sp>
        <p:nvSpPr>
          <p:cNvPr id="11" name="Shape 9"/>
          <p:cNvSpPr/>
          <p:nvPr/>
        </p:nvSpPr>
        <p:spPr>
          <a:xfrm>
            <a:off x="960120" y="3447288"/>
            <a:ext cx="384048" cy="384048"/>
          </a:xfrm>
          <a:prstGeom prst="ellipse">
            <a:avLst/>
          </a:prstGeom>
          <a:solidFill>
            <a:srgbClr val="2E4A7D"/>
          </a:solidFill>
          <a:ln/>
        </p:spPr>
        <p:txBody>
          <a:bodyPr/>
          <a:lstStyle/>
          <a:p>
            <a:endParaRPr lang="en-US"/>
          </a:p>
        </p:txBody>
      </p:sp>
      <p:sp>
        <p:nvSpPr>
          <p:cNvPr id="12" name="Text 10"/>
          <p:cNvSpPr txBox="1"/>
          <p:nvPr/>
        </p:nvSpPr>
        <p:spPr>
          <a:xfrm>
            <a:off x="960120" y="34472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600200" y="3154680"/>
            <a:ext cx="9509760" cy="384048"/>
          </a:xfrm>
          <a:prstGeom prst="rect">
            <a:avLst/>
          </a:prstGeom>
          <a:noFill/>
          <a:ln/>
        </p:spPr>
        <p:txBody>
          <a:bodyPr wrap="square" lIns="0" tIns="0" rIns="0" bIns="0" rtlCol="0" anchor="ctr"/>
          <a:lstStyle/>
          <a:p>
            <a:pPr marL="0" indent="0">
              <a:buNone/>
            </a:pPr>
            <a:r>
              <a:rPr lang="en-US" sz="1900" b="1" dirty="0">
                <a:solidFill>
                  <a:srgbClr val="181410"/>
                </a:solidFill>
                <a:latin typeface="Cambria" pitchFamily="34" charset="0"/>
                <a:ea typeface="Cambria" pitchFamily="34" charset="-122"/>
                <a:cs typeface="Cambria" pitchFamily="34" charset="-120"/>
              </a:rPr>
              <a:t>Our answer, after four weeks</a:t>
            </a:r>
            <a:endParaRPr lang="en-US" sz="1900" dirty="0"/>
          </a:p>
        </p:txBody>
      </p:sp>
      <p:sp>
        <p:nvSpPr>
          <p:cNvPr id="14" name="Text 12"/>
          <p:cNvSpPr txBox="1"/>
          <p:nvPr/>
        </p:nvSpPr>
        <p:spPr>
          <a:xfrm>
            <a:off x="1600200" y="3593592"/>
            <a:ext cx="9509760" cy="603504"/>
          </a:xfrm>
          <a:prstGeom prst="rect">
            <a:avLst/>
          </a:prstGeom>
          <a:noFill/>
          <a:ln/>
        </p:spPr>
        <p:txBody>
          <a:bodyPr wrap="square" lIns="0" tIns="0" rIns="0" bIns="0" rtlCol="0" anchor="ctr"/>
          <a:lstStyle/>
          <a:p>
            <a:pPr marL="0" indent="0">
              <a:lnSpc>
                <a:spcPts val="1700"/>
              </a:lnSpc>
              <a:buNone/>
            </a:pPr>
            <a:r>
              <a:rPr lang="en-US" sz="1250" dirty="0">
                <a:solidFill>
                  <a:srgbClr val="6A6259"/>
                </a:solidFill>
                <a:latin typeface="Calibri" pitchFamily="34" charset="0"/>
                <a:ea typeface="Calibri" pitchFamily="34" charset="-122"/>
                <a:cs typeface="Calibri" pitchFamily="34" charset="-120"/>
              </a:rPr>
              <a:t>That the question hides two questions. How a capacity arrives and who is answerable for it are separable, and every text we have read collapses them — which is why the same arguments keep failing to resolve.</a:t>
            </a:r>
            <a:endParaRPr lang="en-US" sz="1250" dirty="0"/>
          </a:p>
        </p:txBody>
      </p:sp>
      <p:sp>
        <p:nvSpPr>
          <p:cNvPr id="15" name="Shape 13"/>
          <p:cNvSpPr/>
          <p:nvPr/>
        </p:nvSpPr>
        <p:spPr>
          <a:xfrm>
            <a:off x="640080" y="4407408"/>
            <a:ext cx="10911535" cy="1298448"/>
          </a:xfrm>
          <a:prstGeom prst="roundRect">
            <a:avLst>
              <a:gd name="adj" fmla="val 5634"/>
            </a:avLst>
          </a:prstGeom>
          <a:solidFill>
            <a:srgbClr val="181410"/>
          </a:solidFill>
          <a:ln w="12700">
            <a:solidFill>
              <a:srgbClr val="181410"/>
            </a:solidFill>
            <a:prstDash val="solid"/>
          </a:ln>
        </p:spPr>
        <p:txBody>
          <a:bodyPr/>
          <a:lstStyle/>
          <a:p>
            <a:endParaRPr lang="en-US"/>
          </a:p>
        </p:txBody>
      </p:sp>
      <p:sp>
        <p:nvSpPr>
          <p:cNvPr id="16" name="Shape 14"/>
          <p:cNvSpPr/>
          <p:nvPr/>
        </p:nvSpPr>
        <p:spPr>
          <a:xfrm>
            <a:off x="960120" y="4864608"/>
            <a:ext cx="384048" cy="384048"/>
          </a:xfrm>
          <a:prstGeom prst="ellipse">
            <a:avLst/>
          </a:prstGeom>
          <a:solidFill>
            <a:srgbClr val="B8422A"/>
          </a:solidFill>
          <a:ln/>
        </p:spPr>
        <p:txBody>
          <a:bodyPr/>
          <a:lstStyle/>
          <a:p>
            <a:endParaRPr lang="en-US"/>
          </a:p>
        </p:txBody>
      </p:sp>
      <p:sp>
        <p:nvSpPr>
          <p:cNvPr id="17" name="Text 15"/>
          <p:cNvSpPr txBox="1"/>
          <p:nvPr/>
        </p:nvSpPr>
        <p:spPr>
          <a:xfrm>
            <a:off x="960120" y="486460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600200" y="4572000"/>
            <a:ext cx="9509760" cy="384048"/>
          </a:xfrm>
          <a:prstGeom prst="rect">
            <a:avLst/>
          </a:prstGeom>
          <a:noFill/>
          <a:ln/>
        </p:spPr>
        <p:txBody>
          <a:bodyPr wrap="square" lIns="0" tIns="0" rIns="0" bIns="0" rtlCol="0" anchor="ctr"/>
          <a:lstStyle/>
          <a:p>
            <a:pPr marL="0" indent="0">
              <a:buNone/>
            </a:pPr>
            <a:r>
              <a:rPr lang="en-US" sz="1900" b="1" dirty="0">
                <a:solidFill>
                  <a:srgbClr val="D4B36A"/>
                </a:solidFill>
                <a:latin typeface="Cambria" pitchFamily="34" charset="0"/>
                <a:ea typeface="Cambria" pitchFamily="34" charset="-122"/>
                <a:cs typeface="Cambria" pitchFamily="34" charset="-120"/>
              </a:rPr>
              <a:t>What to do with that</a:t>
            </a:r>
            <a:endParaRPr lang="en-US" sz="1900" dirty="0"/>
          </a:p>
        </p:txBody>
      </p:sp>
      <p:sp>
        <p:nvSpPr>
          <p:cNvPr id="19" name="Text 17"/>
          <p:cNvSpPr txBox="1"/>
          <p:nvPr/>
        </p:nvSpPr>
        <p:spPr>
          <a:xfrm>
            <a:off x="1600200" y="5010912"/>
            <a:ext cx="9509760" cy="603504"/>
          </a:xfrm>
          <a:prstGeom prst="rect">
            <a:avLst/>
          </a:prstGeom>
          <a:noFill/>
          <a:ln/>
        </p:spPr>
        <p:txBody>
          <a:bodyPr wrap="square" lIns="0" tIns="0" rIns="0" bIns="0" rtlCol="0" anchor="ctr"/>
          <a:lstStyle/>
          <a:p>
            <a:pPr marL="0" indent="0">
              <a:lnSpc>
                <a:spcPts val="1700"/>
              </a:lnSpc>
              <a:buNone/>
            </a:pPr>
            <a:r>
              <a:rPr lang="en-US" sz="1250" dirty="0">
                <a:solidFill>
                  <a:srgbClr val="F5EFE3"/>
                </a:solidFill>
                <a:latin typeface="Calibri" pitchFamily="34" charset="0"/>
                <a:ea typeface="Calibri" pitchFamily="34" charset="-122"/>
                <a:cs typeface="Calibri" pitchFamily="34" charset="-120"/>
              </a:rPr>
              <a:t>Describe arrival accretively: gradual, unowned, a function of what was kept. Assign responsibility Prometheanly: to the people who chose the corpus, the objective and the release. Refuse any framework that will only do one.</a:t>
            </a:r>
            <a:endParaRPr lang="en-US" sz="1250" dirty="0"/>
          </a:p>
        </p:txBody>
      </p:sp>
      <p:sp>
        <p:nvSpPr>
          <p:cNvPr id="20" name="Shape 18"/>
          <p:cNvSpPr/>
          <p:nvPr/>
        </p:nvSpPr>
        <p:spPr>
          <a:xfrm>
            <a:off x="640080" y="5852160"/>
            <a:ext cx="10911535" cy="566928"/>
          </a:xfrm>
          <a:prstGeom prst="roundRect">
            <a:avLst>
              <a:gd name="adj" fmla="val 12903"/>
            </a:avLst>
          </a:prstGeom>
          <a:solidFill>
            <a:srgbClr val="F0E8D8"/>
          </a:solidFill>
          <a:ln w="12700">
            <a:solidFill>
              <a:srgbClr val="F0E8D8"/>
            </a:solidFill>
            <a:prstDash val="solid"/>
          </a:ln>
        </p:spPr>
        <p:txBody>
          <a:bodyPr/>
          <a:lstStyle/>
          <a:p>
            <a:endParaRPr lang="en-US"/>
          </a:p>
        </p:txBody>
      </p:sp>
      <p:sp>
        <p:nvSpPr>
          <p:cNvPr id="21" name="Text 19"/>
          <p:cNvSpPr txBox="1"/>
          <p:nvPr/>
        </p:nvSpPr>
        <p:spPr>
          <a:xfrm>
            <a:off x="1005840" y="5852160"/>
            <a:ext cx="10424160" cy="566928"/>
          </a:xfrm>
          <a:prstGeom prst="rect">
            <a:avLst/>
          </a:prstGeom>
          <a:noFill/>
          <a:ln/>
        </p:spPr>
        <p:txBody>
          <a:bodyPr wrap="square" lIns="0" tIns="0" rIns="0" bIns="0" rtlCol="0" anchor="ctr"/>
          <a:lstStyle/>
          <a:p>
            <a:pPr marL="0" indent="0">
              <a:buNone/>
            </a:pPr>
            <a:r>
              <a:rPr lang="en-US" sz="1500" i="1" dirty="0">
                <a:solidFill>
                  <a:srgbClr val="B8422A"/>
                </a:solidFill>
                <a:latin typeface="Cambria" pitchFamily="34" charset="0"/>
                <a:ea typeface="Cambria" pitchFamily="34" charset="-122"/>
                <a:cs typeface="Cambria" pitchFamily="34" charset="-120"/>
              </a:rPr>
              <a:t>Now take out the object you could not throw away, and the reason you were not allowed to give.</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7">
    <p:bg>
      <p:bgPr>
        <a:solidFill>
          <a:srgbClr val="181410"/>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DE8C74"/>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a:solidFill>
                  <a:srgbClr val="DE8C74"/>
                </a:solidFill>
                <a:latin typeface="Calibri" pitchFamily="34" charset="0"/>
                <a:ea typeface="Calibri" pitchFamily="34" charset="-122"/>
                <a:cs typeface="Calibri" pitchFamily="34" charset="-120"/>
              </a:rPr>
              <a:t>EXIT TICKET</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F5EFE3"/>
                </a:solidFill>
                <a:latin typeface="Cambria" pitchFamily="34" charset="0"/>
                <a:ea typeface="Cambria" pitchFamily="34" charset="-122"/>
                <a:cs typeface="Cambria" pitchFamily="34" charset="-120"/>
              </a:rPr>
              <a:t>Rewrite your warm-up</a:t>
            </a:r>
            <a:endParaRPr lang="en-US" sz="3300" dirty="0"/>
          </a:p>
        </p:txBody>
      </p:sp>
      <p:sp>
        <p:nvSpPr>
          <p:cNvPr id="5" name="Shape 3"/>
          <p:cNvSpPr/>
          <p:nvPr/>
        </p:nvSpPr>
        <p:spPr>
          <a:xfrm>
            <a:off x="640080" y="1737360"/>
            <a:ext cx="6675120" cy="2331720"/>
          </a:xfrm>
          <a:prstGeom prst="roundRect">
            <a:avLst>
              <a:gd name="adj" fmla="val 3137"/>
            </a:avLst>
          </a:prstGeom>
          <a:solidFill>
            <a:srgbClr val="2C2620"/>
          </a:solidFill>
          <a:ln w="12700">
            <a:solidFill>
              <a:srgbClr val="2C2620"/>
            </a:solidFill>
            <a:prstDash val="solid"/>
          </a:ln>
        </p:spPr>
        <p:txBody>
          <a:bodyPr/>
          <a:lstStyle/>
          <a:p>
            <a:endParaRPr lang="en-US"/>
          </a:p>
        </p:txBody>
      </p:sp>
      <p:sp>
        <p:nvSpPr>
          <p:cNvPr id="6" name="Text 4"/>
          <p:cNvSpPr txBox="1"/>
          <p:nvPr/>
        </p:nvSpPr>
        <p:spPr>
          <a:xfrm>
            <a:off x="1024128" y="1938528"/>
            <a:ext cx="5897880" cy="1965960"/>
          </a:xfrm>
          <a:prstGeom prst="rect">
            <a:avLst/>
          </a:prstGeom>
          <a:noFill/>
          <a:ln/>
        </p:spPr>
        <p:txBody>
          <a:bodyPr wrap="square" lIns="0" tIns="0" rIns="0" bIns="0" rtlCol="0" anchor="ctr"/>
          <a:lstStyle/>
          <a:p>
            <a:pPr marL="0" indent="0">
              <a:lnSpc>
                <a:spcPts val="2400"/>
              </a:lnSpc>
              <a:buNone/>
            </a:pPr>
            <a:r>
              <a:rPr lang="en-US" sz="1600" dirty="0">
                <a:solidFill>
                  <a:srgbClr val="FFFFFF"/>
                </a:solidFill>
                <a:latin typeface="Cambria" pitchFamily="34" charset="0"/>
                <a:ea typeface="Cambria" pitchFamily="34" charset="-122"/>
                <a:cs typeface="Cambria" pitchFamily="34" charset="-120"/>
              </a:rPr>
              <a:t>Return to the object you could not throw away. You were forbidden the words sentimental, memories and nostalgia. Write the reason again now, using the vocabulary of this session — and then say whether the tsukumogami frame describes your case better than the frame you started with, or only differently.</a:t>
            </a:r>
            <a:endParaRPr lang="en-US" sz="1600" dirty="0"/>
          </a:p>
        </p:txBody>
      </p:sp>
      <p:sp>
        <p:nvSpPr>
          <p:cNvPr id="7" name="Shape 5"/>
          <p:cNvSpPr/>
          <p:nvPr/>
        </p:nvSpPr>
        <p:spPr>
          <a:xfrm>
            <a:off x="7635240" y="1737360"/>
            <a:ext cx="3895344" cy="2331720"/>
          </a:xfrm>
          <a:prstGeom prst="roundRect">
            <a:avLst>
              <a:gd name="adj" fmla="val 3137"/>
            </a:avLst>
          </a:prstGeom>
          <a:solidFill>
            <a:srgbClr val="2E4A7D"/>
          </a:solidFill>
          <a:ln w="12700">
            <a:solidFill>
              <a:srgbClr val="2E4A7D"/>
            </a:solidFill>
            <a:prstDash val="solid"/>
          </a:ln>
        </p:spPr>
        <p:txBody>
          <a:bodyPr/>
          <a:lstStyle/>
          <a:p>
            <a:endParaRPr lang="en-US"/>
          </a:p>
        </p:txBody>
      </p:sp>
      <p:sp>
        <p:nvSpPr>
          <p:cNvPr id="8" name="Text 6"/>
          <p:cNvSpPr txBox="1"/>
          <p:nvPr/>
        </p:nvSpPr>
        <p:spPr>
          <a:xfrm>
            <a:off x="7955280" y="1938528"/>
            <a:ext cx="3291840" cy="292608"/>
          </a:xfrm>
          <a:prstGeom prst="rect">
            <a:avLst/>
          </a:prstGeom>
          <a:noFill/>
          <a:ln/>
        </p:spPr>
        <p:txBody>
          <a:bodyPr wrap="square" lIns="0" tIns="0" rIns="0" bIns="0" rtlCol="0" anchor="ctr"/>
          <a:lstStyle/>
          <a:p>
            <a:pPr marL="0" indent="0">
              <a:buNone/>
            </a:pPr>
            <a:r>
              <a:rPr lang="en-US" sz="1150" b="1" kern="0" spc="130" dirty="0">
                <a:solidFill>
                  <a:srgbClr val="FFFFFF"/>
                </a:solidFill>
                <a:latin typeface="Calibri" pitchFamily="34" charset="0"/>
                <a:ea typeface="Calibri" pitchFamily="34" charset="-122"/>
                <a:cs typeface="Calibri" pitchFamily="34" charset="-120"/>
              </a:rPr>
              <a:t>What a “Good/Reasonable” Response Answers</a:t>
            </a:r>
            <a:endParaRPr lang="en-US" sz="1150" dirty="0"/>
          </a:p>
        </p:txBody>
      </p:sp>
      <p:sp>
        <p:nvSpPr>
          <p:cNvPr id="9" name="Text 7"/>
          <p:cNvSpPr txBox="1"/>
          <p:nvPr/>
        </p:nvSpPr>
        <p:spPr>
          <a:xfrm>
            <a:off x="7955280" y="2359152"/>
            <a:ext cx="3291840" cy="155448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“Or only differently” is not a hedge — it is the harder answer and it is available. A paragraph that concludes the new frame fits no better, for stated reasons, earns as much as one that converts.</a:t>
            </a:r>
            <a:endParaRPr lang="en-US" sz="1250" dirty="0"/>
          </a:p>
        </p:txBody>
      </p:sp>
      <p:sp>
        <p:nvSpPr>
          <p:cNvPr id="17" name="Text 15"/>
          <p:cNvSpPr txBox="1"/>
          <p:nvPr/>
        </p:nvSpPr>
        <p:spPr>
          <a:xfrm>
            <a:off x="640080" y="6291072"/>
            <a:ext cx="10881360" cy="274320"/>
          </a:xfrm>
          <a:prstGeom prst="rect">
            <a:avLst/>
          </a:prstGeom>
          <a:noFill/>
          <a:ln/>
        </p:spPr>
        <p:txBody>
          <a:bodyPr wrap="square" lIns="0" tIns="0" rIns="0" bIns="0" rtlCol="0" anchor="ctr"/>
          <a:lstStyle/>
          <a:p>
            <a:pPr marL="0" indent="0">
              <a:buNone/>
            </a:pPr>
            <a:r>
              <a:rPr lang="en-US" sz="1000" i="1" dirty="0">
                <a:solidFill>
                  <a:srgbClr val="6A6259"/>
                </a:solidFill>
                <a:latin typeface="Calibri" pitchFamily="34" charset="0"/>
                <a:ea typeface="Calibri" pitchFamily="34" charset="-122"/>
                <a:cs typeface="Calibri" pitchFamily="34" charset="-120"/>
              </a:rPr>
              <a:t>Primary text: Toriyama Sekien, Gazu Hyakki Tsurezure Bukuro (1784), National Diet Library digital collections. Secondary: Michael Dylan Foster, The Book of Yokai (Berkeley: University of California Press, 2015).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7219</Words>
  <Application>Microsoft Macintosh PowerPoint</Application>
  <PresentationFormat>Widescreen</PresentationFormat>
  <Paragraphs>437</Paragraphs>
  <Slides>33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Sentient Object</dc:title>
  <dc:subject>PptxGenJS Presentation</dc:subject>
  <dc:creator>Course materials</dc:creator>
  <cp:lastModifiedBy>Gao, Ashley</cp:lastModifiedBy>
  <cp:revision>2</cp:revision>
  <dcterms:created xsi:type="dcterms:W3CDTF">2026-09-10T15:40:21Z</dcterms:created>
  <dcterms:modified xsi:type="dcterms:W3CDTF">2026-09-24T19:12:29Z</dcterms:modified>
</cp:coreProperties>
</file>